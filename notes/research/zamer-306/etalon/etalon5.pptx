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hyperlink" Target="https://doi.org/10.1001/jamanetworkopen.2024.40969" TargetMode="External"/><Relationship Id="rId4" Type="http://schemas.openxmlformats.org/officeDocument/2006/relationships/hyperlink" Target="https://commons.wikimedia.org/wiki/File:Clinical_Trial_Volunteer_Signs_Informed_Consent_Form_%2845116548901%29.jpg" TargetMode="Externa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hyperlink" Target="https://doi.org/10.1016/S1470-2045%2823%2900298-X" TargetMode="External"/><Relationship Id="rId4" Type="http://schemas.openxmlformats.org/officeDocument/2006/relationships/hyperlink" Target="https://doi.org/10.1016/S0140-6736%2825%2902464-X" TargetMode="Externa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Relationship Id="rId3" Type="http://schemas.openxmlformats.org/officeDocument/2006/relationships/hyperlink" Target="https://doi.org/10.17816/DD641703" TargetMode="Externa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Одно число я называю здесь и буду называть ещё трижды за вечер, потому что оно меряет четвёртый платёж — тот, который выглядит самым безобидным. Арбитраж дороже прежнего чтения, это разберём на скрининге; а вот сколько стоит сама проверка подсказки, измерено — одна целая девяносто девять сотых секунды по медиане. Базу назову сразу, потому что без неё число звучит сильнее, чем оно есть: замер лабораторный и снят он вне медицины — двадцать один программист, тысяча девяносто шесть показанных подсказок ассистента кода, поведенческая телеметрия. Это время, которое человек держит подсказку на экране ДО решения её принять. Рядом в той же работе есть вторая медиана, шесть целых сорок восемь сотых секунды, и путать их нельзя: она досчитывает проверку уже ПОСЛЕ принятия. На вопрос «успевает ли человек прочитать прежде, чем подписал» отвечает первая. Переносится это на врача по аналогии, и аналогию я называю аналогией.</a:t>
            </a:r>
          </a:p>
          <a:p>
            <a:r>
              <a:t/>
            </a:r>
          </a:p>
          <a:p>
            <a:r>
              <a:t>Чтение медицинских данных стало стоить три секунды и ноль рублей — против 48 секунд человеческого чтения в среднем и 25 по медиане. Единицы у этих двух величин разные: снимок грудной клетки и маммограмма читаются по-разному, поэтому сравнение годится только на разряд величины, и именно так оно на кадре и названо. Инструмент открывается в браузере, вычисление идёт на том же ноутбуке, снимок не уходит на сервер, барьера входа нет вообще. Дальше читается то, что у этого удешевления на другом конце, и адресов платежа четыре.</a:t>
            </a:r>
          </a:p>
          <a:p>
            <a:r>
              <a:t/>
            </a:r>
          </a:p>
          <a:p>
            <a:r>
              <a:t>Тройка на полосе плашек — это один замер, и назвать его надо целиком. Пятьдесят практикующих врачей читали письменные описания реальных случаев — жалобы, анамнез, уже готовые результаты исследований, — по пять случаев на врача и строили рассуждение: гипотезы, обоснование, какие проверки назначить. Оценивали их слепо по шкале структурированного рассуждения, и рандомизированы были два человеческих состояния: врач как обычно — семьдесят четыре из ста, врач поверх модели — семьдесят шесть. Разница в два пункта статистически незначима: p равно нулю целых шестидесяти сотым, то есть такая разница свободно получается случайно, и прибавкой её называть нельзя. Прогон модели в одиночку — девяносто два — рандомизированной ветвью не был и стоит ниже по силе свидетельства. Отсюда короткая формула, которой читается вся лекция: куплено девяносто два, работает семьдесят шесть, и в отчётности этой разницы нет. Причину нулевого результата испытание называет само: подсказка приходила в готовом виде, и никто не учил врачей, как её спрашивать и когда ей не верить. Инструмент выдали, процедуру работы с ним — нет.</a:t>
            </a:r>
          </a:p>
          <a:p>
            <a:r>
              <a:t/>
            </a:r>
          </a:p>
          <a:p>
            <a:r>
              <a:t>Внимание. Человек смотрит после модели, и его зрительный поиск сужается — это измерено движением глаз, причём в обе стороны: при верной подсказке охват снимка падает, и качество чтения при этом растёт; при подсказке, пропустившей находку, охват падает так же, а качество чтения обваливается.</a:t>
            </a:r>
          </a:p>
          <a:p>
            <a:r>
              <a:t/>
            </a:r>
          </a:p>
          <a:p>
            <a:r>
              <a:t>Навык. Человек перестаёт делать сам то, что делал годами. Измерено это отключением помощника: доля обнаружения в процедурах без него у тех, кто к нему привык, оказалась ниже, чем до его появления. Состав свидетельства здесь слабее остальных трёх, и его стоит назвать составом: на реальной работе следствие измерено один раз и спорно, то же явление измерено случайным распределением в учёбе, повторения на реальной работе нет ни одного.</a:t>
            </a:r>
          </a:p>
          <a:p>
            <a:r>
              <a:t/>
            </a:r>
          </a:p>
          <a:p>
            <a:r>
              <a:t>Подпись. Человек подтверждает решение, которого не читал. Требование, чтобы человек оставался последним звеном, у регулятора записано; проверку же этого требования нашли у 56 радиологических изделий из 717 — у восьми процентов.</a:t>
            </a:r>
          </a:p>
          <a:p>
            <a:r>
              <a:t/>
            </a:r>
          </a:p>
          <a:p>
            <a:r>
              <a:t>Арбитраж. Разбор одного расхождения дороже прежнего чтения: снимок занимает 48 секунд в среднем при медиане 25 — разбор расхождения — две минуты двенадцать секунд, то есть пять чтений. И когда первичных человеческих чтений стало вдвое меньше, объём арбитража вырос больше чем наполовину.</a:t>
            </a:r>
          </a:p>
          <a:p>
            <a:r>
              <a:t/>
            </a:r>
          </a:p>
          <a:p>
            <a:r>
              <a:t>Половина этой оси курсу знакома с прошлой лекции: подешевел шаг — платят на другом. Своё здесь одно, и ради него ось и объявлена — адрес платежа. Платят тем шагом, который делает человек, — ни деньгами, ни вычислительным временем.</a:t>
            </a:r>
          </a:p>
          <a:p>
            <a:r>
              <a:t/>
            </a:r>
          </a:p>
          <a:p>
            <a:r>
              <a:t>Теперь о том, как эти четыре слова живут дальше, потому что услышать их один раз мало. Словарь форм влияния на процесс курсу знаком с прошлой лекции, и девять его имён держат почти каждый разбор, который пойдёт дальше: «нагрузка переехала на другой шаг», «сменился исполнитель», «сместилась цена ошибки». Четыре адреса платежа этот словарь не отменяют и не повторяют — они отвечают на другой вопрос об одном и том же случае. Форма говорит, что сделалось с работой: где она теперь стоит, сколько её, чья рука её делает, чем кончается ошибка. Адрес говорит, на каком человеческом шаге это сделалось: смотрит он вторым, перестал ли делать сам, подписал ли непрочитанное, разбирает ли расхождение.</a:t>
            </a:r>
          </a:p>
          <a:p>
            <a:r>
              <a:t/>
            </a:r>
          </a:p>
          <a:p>
            <a:r>
              <a:t>Отсюда порядок, по которому идёт каждый разбор дальше. Каждый кончается формой — или названным отказом её присвоить, и отказ этот такой же вердикт, как имя. В сборке формы сводятся обратно к четырём адресам, и сводятся счётом: по каждому адресу стоит измерение с названным разрядом. Держать в голове надо обе половины: формой измеряется работа, адресом измеряется человек. Смешивать их нельзя: работа переезжает так, что ни один человеческий шаг этого не чувствует, и человек платит там, где работа осталась на месте.</a:t>
            </a:r>
          </a:p>
          <a:p>
            <a:r>
              <a:t/>
            </a:r>
          </a:p>
          <a:p>
            <a:r>
              <a:t>**Источники.** </a:t>
            </a:r>
            <a:r>
              <a:rPr u="sng">
                <a:solidFill>
                  <a:srgbClr val="065A82"/>
                </a:solidFill>
                <a:hlinkClick r:id="rId3"/>
              </a:rPr>
              <a:t>Goh E. и соавт., JAMA Network Open 2024;7(10):e2440969, 28 октября 2024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4"/>
              </a:rPr>
              <a:t>снимок: NIAID, Викисклад, CC BY 2.0</a:t>
            </a:r>
          </a:p>
          <a:p>
            <a:r>
              <a:t/>
            </a:r>
          </a:p>
          <a:p>
            <a:r>
              <a:t>У переезда работы девять форм, и весь перечень будет предъявлен на первом разборе.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Стадия названа, и теперь по шагам: из каких действий она сложена и кто каждое делает. Женщина с письмом, с которой началась лекция, пришла — и дальше про неё решает устройство, в котором она не участвует ни на одном шаге. На слайде семь действий этого устройства названы одной строкой, здесь — каждое.</a:t>
            </a:r>
          </a:p>
          <a:p>
            <a:r>
              <a:t/>
            </a:r>
          </a:p>
          <a:p>
            <a:r>
              <a:t>Назначить порог. Возраст, с которого зовут, и интервал между приглашениями записаны в документе органа здравоохранения. Их назначает не разработчик и не врач у монитора, а тот, кто решил, что хуже — пропустить или позвать лишнего.</a:t>
            </a:r>
          </a:p>
          <a:p>
            <a:r>
              <a:t/>
            </a:r>
          </a:p>
          <a:p>
            <a:r>
              <a:t>Позвать по списку. Письмо приходит человеку, который ни на что не жаловался: его выбрал признак группы — возраст, пол, профессия, прежний диагноз.</a:t>
            </a:r>
          </a:p>
          <a:p>
            <a:r>
              <a:t/>
            </a:r>
          </a:p>
          <a:p>
            <a:r>
              <a:t>Снять исследование. Снимок делает лаборант, и это отдельная квалификация, отдельное рабочее место и отдельная очередь.</a:t>
            </a:r>
          </a:p>
          <a:p>
            <a:r>
              <a:t/>
            </a:r>
          </a:p>
          <a:p>
            <a:r>
              <a:t>Прочесть двумя. Двойное чтение придумано до всякой автоматики и ради одного: чтобы ошибка одного человека не стала решением. Выигрыш даёт несовпадение ошибок — пропуски двух людей приходятся на разные снимки, и держится это на том, что второй не видит заключения первого.</a:t>
            </a:r>
          </a:p>
          <a:p>
            <a:r>
              <a:t/>
            </a:r>
          </a:p>
          <a:p>
            <a:r>
              <a:t>Разрешить расхождение. Третий читатель подключается только там, где двое разошлись, и разрешать расхождение должен тот, кто обоих заключений не писал.</a:t>
            </a:r>
          </a:p>
          <a:p>
            <a:r>
              <a:t/>
            </a:r>
          </a:p>
          <a:p>
            <a:r>
              <a:t>Сообщить исход. Письмо «норма» либо звонок с приглашением на дообследование — и недели ожидания между ними.</a:t>
            </a:r>
          </a:p>
          <a:p>
            <a:r>
              <a:t/>
            </a:r>
          </a:p>
          <a:p>
            <a:r>
              <a:t>Отсортировать пришедших без приглашения. Здесь решают, кого смотреть сегодня, а кого через две недели. Вошедшего в приёмное отделение относят к одной из пяти категорий тяжести: медсестра задаёт несколько вопросов, снимает несколько величин и сверяет с таблицей. Каждой категории назначено нормативное время до осмотра врачом. Недооценка — человек с развивающимся инфарктом сидит в очереди; переоценка — занят ресурс, которого не хватило кому-то другому. Обе ошибки платит одна смена.</a:t>
            </a:r>
          </a:p>
          <a:p>
            <a:r>
              <a:t/>
            </a:r>
          </a:p>
          <a:p>
            <a:r>
              <a:t>Теперь то же поле с моделью, и сказать надо точно, на каком шаге она включается в каждом из разборов этого раздела — иначе примеры и стадия живут двумя слоями. Третий ряд схемы называет это именами.</a:t>
            </a:r>
          </a:p>
          <a:p>
            <a:r>
              <a:t/>
            </a:r>
          </a:p>
          <a:p>
            <a:r>
              <a:t>Шаг «прочесть двоим» — шведская программа скрининга. Первое чтение остаётся человеческим, мимо радиолога не проходит ни одно исследование; модель ставит снимку оценку риска и по ней решает, нужно ли этому исследованию второе независимое чтение. Вторым читателем она не работает: для большинства потока шаг второго чтения просто снят.</a:t>
            </a:r>
          </a:p>
          <a:p>
            <a:r>
              <a:t/>
            </a:r>
          </a:p>
          <a:p>
            <a:r>
              <a:t>Шаг «сообщить исход» — съёмка глазного дна без офтальмолога. Там модель включается сразу после съёмки и берёт на себя и чтение, и исход: «направить или нет» выносится на месте, меньше чем за минуту, а шага арбитража в этом порядке нет вовсе.</a:t>
            </a:r>
          </a:p>
          <a:p>
            <a:r>
              <a:t/>
            </a:r>
          </a:p>
          <a:p>
            <a:r>
              <a:t>Шаг «отсортировать поток» — чат-бот первой линии. И здесь важная оговорка, которую схема сказать не может: чат-бот стоит на другом входе стадии. По списку туда никого не зовут — люди приходят сами, с жалобой, и место, которое занимает модель, прежде занимала телефонная линия сортировки с оператором по протоколу. Единого конвейера у стадии нет, и это не придирка: цена ошибки на безжалобном и жалобном входах разная, а устройство шага — то же.</a:t>
            </a:r>
          </a:p>
          <a:p>
            <a:r>
              <a:t/>
            </a:r>
          </a:p>
          <a:p>
            <a:r>
              <a:t>Чего модель не занимает. Порог она не назначает: за ним стоит цена обеих ошибок и подпись под ней. Приглашение, съёмку и арбитраж она не трогает. И один шаг она добавляет — добыть годный снимок: у специалиста такой операции не существовало, он компенсировал условия съёмки сам.</a:t>
            </a:r>
          </a:p>
          <a:p>
            <a:r>
              <a:t/>
            </a:r>
          </a:p>
          <a:p>
            <a:r>
              <a:t>За «нет» не следует ничего, и нигде не записано: события, которого не было, в карте нет.</a:t>
            </a:r>
          </a:p>
          <a:p>
            <a:r>
              <a:t/>
            </a:r>
          </a:p>
          <a:p>
            <a:r>
              <a:t>И свойство этой шкалы, которое встретится ещё не раз: веса в ней назначены людьми и опубликованы. Обученная модель на том же месте выдаёт тот же выход — категорию или приоритет — и весов своих не предъявляет. Сравнение с ней становится возможным только по результату.</a:t>
            </a:r>
          </a:p>
          <a:p>
            <a:r>
              <a:t/>
            </a:r>
          </a:p>
          <a:p>
            <a:r>
              <a:t>Путь той женщины внутри этого устройства выглядит так: снимок делает лаборант; читают двое рентгенологов, которые её не видели и между собой о ней не говорят; разошлись — снимок уходит третьему; через несколько недель приходит письмо «норма» либо звонок на дообследование. Ни на одном из этих шагов её не спрашивают.</a:t>
            </a:r>
          </a:p>
          <a:p>
            <a:r>
              <a:t/>
            </a:r>
          </a:p>
          <a:p>
            <a:r>
              <a:t>Женщина с письмом, с которой началась лекция, пришла — и дальше вокруг неё работает устройство, в котором она не участвует ни на одном шаге: снимок делает лаборант, читают двое рентгенологов, которые её не видели и между собой о ней не говорят, разошлись — снимок уходит третьему, через несколько недель приходит письмо «норма» либо звонок на дообследование.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Шведская программа зовёт на маммографию всех по возрасту и интервалу: приглашение шлёт программа, снимок читают двое, расхождение разбирает третий. Модели здесь нет вовсе, и посчитана программа в людях — на тысячу обследованных нашли 5,1 случая, 1,76 пропустили до следующего приглашения, 2,0 из ста вернули на второй снимок. Порог внутри программы назначен тем же решением, которым назначено её существование: кого зовут, с какого возраста и как часто. То есть и сама программа, и её порог приходят из одного места — из документа, а не из прибора.</a:t>
            </a:r>
          </a:p>
          <a:p>
            <a:r>
              <a:t/>
            </a:r>
          </a:p>
          <a:p>
            <a:r>
              <a:t>И одно историческое основание под это. Вопрос «когда скрининг вообще оправдан» формализован Всемирной организацией здравоохранения в 1968 году: Джеймс Уилсон и Гуннар Юнгнер сформулировали десять критериев, которые действуют до сих пор. У болезни должна быть распознаваемая ранняя стадия; должно существовать признанное лечение и мощности его провести; тест должен быть приемлем для населения; сам скрининг должен быть постоянным процессом, а не разовой кампанией. Ни один из этих десяти критериев не говорит о точности алгоритма — все десять написаны за десятилетия до первой обученной модели. Это и есть урок, который держит весь вечер: вопрос «оправдан ли скрининг» не сводится к вопросу «насколько точна модель внутри него», и первый был поставлен и решён задолго до второго. Откуда сама идея осматривать человека без жалоб: в двадцатые годы в США на одного врача приходилось около восьмисот человек, и осмотреть каждого было физически нечем; что скрытая болезнь есть у огромной доли людей, выглядящих здоровыми, показали призывные комиссии двух мировых войн — у сорока семи из ста двух с лишним миллионов призванных в Первую мировую нашли ни разу не поставленный до того диагноз; а первая организованная программа на целый город — массовая флюорография Глазго весной 1957 года, семьсот пятнадцать тысяч человек за пять недель, семьдесят шесть из ста взрослых города.</a:t>
            </a:r>
          </a:p>
          <a:p>
            <a:r>
              <a:t/>
            </a:r>
          </a:p>
          <a:p>
            <a:r>
              <a:t>Порог вмешательства — это документ. Возраст, с которого зовут. Интервал между приглашениями. Критерий, по которому человека отзывают на дообследование. Всё это записано в документе органа здравоохранения, и записано задолго до того, как кто-нибудь измерил точность какого-нибудь прибора. Разработчик модели порога не назначает; врач у монитора порога не назначает; его назначает тот, кто решил, что хуже — пропустить или позвать лишнего. С этого и начинается разбор любого случая: пока не названа цена обеих ошибок, никакая точность не читается.</a:t>
            </a:r>
          </a:p>
          <a:p>
            <a:r>
              <a:t/>
            </a:r>
          </a:p>
          <a:p>
            <a:r>
              <a:t>Цена пропуска в первом режиме считается долей рака, найденного между двумя приглашениями: программа его не поймала, поймал симптом. Единица честная, потому что считается она на тех же людях, которых программа смотрела, — один и семьдесят шесть сотых случая на тысячу обследованных за два года наблюдения. У этого числа есть вторая половина — столько же в плече с моделью, — и предъявляется она там, где разбирают чтение снимка, вместе с оговоркой о значимости: без неё улучшение читается сильнее, чем измерено.</a:t>
            </a:r>
          </a:p>
          <a:p>
            <a:r>
              <a:t/>
            </a:r>
          </a:p>
          <a:p>
            <a:r>
              <a:t>Цена ложного вызова — два человека из ста обследованных вызваны повторно. За этим стоит повторный снимок, иногда биопсия и несколько недель, которые человек живёт с открытым вопросом. Последнее в отчёты не ставят, и это тоже цена — её платит не программа и не поставщик, а тот, кого позвали.</a:t>
            </a:r>
          </a:p>
          <a:p>
            <a:r>
              <a:t/>
            </a:r>
          </a:p>
          <a:p>
            <a:r>
              <a:t>База у этих чисел одна, и называть её надо вместе с ними: контрольная группа шведской рандомизированной программы скрининга, пятьдесят две тысячи восемьсот семьдесят две женщины, двойное чтение без всякой модели, наблюдение два года. Сколько в этом порядке работы находят: пять случаев с десятой на тысячу обследованных — это число посчитано на другой, меньшей выборке той же программы, восьмидесяти тысячах тридцати трёх распределённых женщинах, и подписано ею на кадре отдельно. Дальше, на кадре с моделью, обе эти величины пойдут в тех же единицах, и сравнивать их можно будет прямо. Распределение по группам случайное, исходы написаны заранее — сильнее этого в лекции не будет ничего, и именно поэтому контрольная группа годится как точка отсчёта для всего остального.</a:t>
            </a:r>
          </a:p>
          <a:p>
            <a:r>
              <a:t/>
            </a:r>
          </a:p>
          <a:p>
            <a:r>
              <a:t>Второй классический режим — не делать ничего и ждать, пока человек придёт сам. Считать его труднее первого, потому что нулём он не работает: тот, кого не позвали, всё равно однажды придёт — позже и с другой стадией. Значит сравнивать надо не «нашли или не нашли», а когда нашли. Единственный момент, когда этот режим измеряли случайным распределением, — время, когда скрининг только вводили. Мальмёское испытание набирало участниц с середины семидесятых по середину восьмидесятых и распределяло приглашение случайно: две группы отличались ровно тем, позвали человека или нет. Доля стадии II и выше среди найденных случаев составила девяносто один случай из ста пятидесяти девяти в группе без приглашения — пятьдесят семь из ста — против шестидесяти двух из ста шестидесяти в приглашённой, то есть тридцати девяти из ста.</a:t>
            </a:r>
          </a:p>
          <a:p>
            <a:r>
              <a:t/>
            </a:r>
          </a:p>
          <a:p>
            <a:r>
              <a:t>Оговорка, без которой второе число нельзя употреблять. Испытание шло почти полвека назад: другой прибор, другое лечение, другая эпоха. Это измерение режима, а не свойств аппаратуры, и переносить его на сегодняшнюю технику нельзя. Складывать его с числами шведской программы тоже нельзя: две разные программы и две разные эпохи, и вместе они дают только одно — две стороны цены, назначенные до всякой модели. Сегодня такое сравнение не поставить вовсе, потому что программу не отменяют ради замера. Воспроизведение: по направлению эффекта — многократно, разными программами разных стран; по величине — нет, и от эпохи величина зависит сильно.</a:t>
            </a:r>
          </a:p>
          <a:p>
            <a:r>
              <a:t/>
            </a:r>
          </a:p>
          <a:p>
            <a:r>
              <a:t>Главное, что стоит унести с этого кадра: обе цены и оба режима назначены и посчитаны до всякой модели и без всякой модели. Когда дальше кто-то скажет «система снижает число пропусков на столько-то процентов», первый вопрос будет не про проценты, а про то, какую из двух цен эта система должна была уменьшать, кто это решил и с каким именно «раньше» её сравнили.</a:t>
            </a:r>
          </a:p>
          <a:p>
            <a:r>
              <a:t/>
            </a:r>
          </a:p>
          <a:p>
            <a:r>
              <a:t>Та женщина, которой пришло письмо, попала под первый режим целиком. В решении позвать её нет ни одного её собственного признака: ни жалобы, ни находки, ни наследственности — только год рождения и интервал, записанные в документе. Дальше лекция будет считать, что с её случаем делает модель; первое решение о ней принято без неё и до всякой модели. Порог — тоже решение, и подпись под ним стоит у организатора программы, а не у читателя снимка.</a:t>
            </a:r>
          </a:p>
          <a:p>
            <a:r>
              <a:t/>
            </a:r>
          </a:p>
          <a:p>
            <a:r>
              <a:t>Две оговорки, снятые с кадра, но обязательные к произнесению. Первая: два числа режимов взяты с разных программ и разных эпох — вместе они дают не сумму, а две стороны цены, назначенной до всякой модели. Вторая: доля поздних стадий среди найденных не зависит от того, сколько случаев нашли, — только от того, когда их нашли; поэтому она и годится для сравнения двух порядков работы, тогда как «сколько нашли» сравнивало бы заодно охват, мощность программы и численность групп.</a:t>
            </a:r>
          </a:p>
          <a:p>
            <a:r>
              <a:t/>
            </a:r>
          </a:p>
          <a:p>
            <a:r>
              <a:t>О чём спросить поставщика прямо на этом кадре: он сравнивает «с тем, как было раньше» — спрашивайте, какое именно «раньше» он посчитал.</a:t>
            </a:r>
          </a:p>
          <a:p>
            <a:r>
              <a:t/>
            </a:r>
          </a:p>
          <a:p>
            <a:r>
              <a:t>Единицы плашек названы полностью: ложный вызов — два человека из ста обследованных, повторно вызванные в контрольном плече шведской программы, где снимок читали двое людей без всякой модели и наблюдение шло два года. Поздние стадии — доля стадии II и выше среди найденных случаев в Мальмёском испытании, которое распределяло приглашение случайно.</a:t>
            </a:r>
          </a:p>
          <a:p>
            <a:r>
              <a:t/>
            </a:r>
          </a:p>
          <a:p>
            <a:r>
              <a:t>**Источники.** </a:t>
            </a:r>
            <a:r>
              <a:rPr u="sng">
                <a:solidFill>
                  <a:srgbClr val="065A82"/>
                </a:solidFill>
                <a:hlinkClick r:id="rId3"/>
              </a:rPr>
              <a:t>MASAI, анализ безопасности, Lancet Oncology 2023</a:t>
            </a:r>
            <a:r>
              <a:t> · </a:t>
            </a:r>
            <a:r>
              <a:rPr u="sng">
                <a:solidFill>
                  <a:srgbClr val="065A82"/>
                </a:solidFill>
                <a:hlinkClick r:id="rId4"/>
              </a:rPr>
              <a:t>MASAI, итоговый анализ, The Lancet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Пятьдесят пять профилактических снимков из ста в Москве уходят в медицинскую карту, не побывав у человека. Доля посчитана на опубликованной выборке — у Англии таких долей две, у Соединённых Штатов нет вовсе.</a:t>
            </a:r>
          </a:p>
          <a:p>
            <a:r>
              <a:t/>
            </a:r>
          </a:p>
          <a:p>
            <a:r>
              <a:t>Пятьдесят пять снимков из ста. Точнее — пятьдесят четыре и восемь десятых процента: с мая по сентябрь двадцать четвёртого года модель получила пятьсот семьдесят пять тысяч пятьсот сорок девять профилактических снимков грудной клетки, флюорограмм и рентгенограмм, и триста пятнадцать тысяч четыреста девяносто один из них отнесла к норме. Заключение по ним ушло прямо в электронную карту. Ни один врач этих снимков не открывал.</a:t>
            </a:r>
          </a:p>
          <a:p>
            <a:r>
              <a:t/>
            </a:r>
          </a:p>
          <a:p>
            <a:r>
              <a:t>Произнесу знаменатель отдельно, потому что без него число читается не так. Пятьсот семьдесят пять тысяч — это не весь лучевой поток города и не все снимки грудной клетки. Это профилактический поток: снимки, которые делают здоровым людям по плану, а не по жалобе. Отправлено в систему было шестьсот сорок две тысячи шестьсот восемьдесят одно исследование, в анализ вошли пятьсот семьдесят пять с половиной тысяч. На потоке по жалобе доля была бы другой, и сравнивать их нельзя.</a:t>
            </a:r>
          </a:p>
          <a:p>
            <a:r>
              <a:t/>
            </a:r>
          </a:p>
          <a:p>
            <a:r>
              <a:t>И сразу разграничение, без которого удар превращается в лозунг. Пятьдесят пять из ста — это объём, и только объём. Он не говорит ни что это хорошо, ни что это плохо. Он говорит, что решение «этот снимок человек не увидит» принимается в городе триста пятнадцать тысяч раз за пять месяцев, то есть примерно две тысячи раз в день, и принимает его не человек. Что за это заплачено — следующий кадр, и платёж там посчитан: двести девяносто клинически значимых пропусков и минус сорок три и семь десятых процента расходов по тарифам.</a:t>
            </a:r>
          </a:p>
          <a:p>
            <a:r>
              <a:t/>
            </a:r>
          </a:p>
          <a:p>
            <a:r>
              <a:t>Почему это ударом, а не строкой в разборе. Весь вечер держится на одном вопросе: что делает человек после модели. На третьей ступени участия — «смотрит только спорное» — ответ оказывается буквальным: на половине потока он не делает ничего, потому что до него эта половина не доходит. Число стоит отдельным кадром затем, чтобы зал услышал его прежде, чем начнёт разбираться в пороге срабатывания и в тарифах: сначала масштаб решения, потом его устройство.</a:t>
            </a:r>
          </a:p>
          <a:p>
            <a:r>
              <a:t/>
            </a:r>
          </a:p>
          <a:p>
            <a:r>
              <a:t>Одно замечание про сам приём, если кто-нибудь спросит, почему так настроили. Чувствительность выставлена на единицу сознательно: тревога поднимается на всём, что хоть немного похоже на отклонение, а специфичность объявлена незначимой. Это и есть то, из-за чего сорок пять снимков из ста уходят человеку, а пятьдесят пять — нет. Разбор этого решения — на следующем кадре; здесь важно только, что порог срабатывания здесь не настройка по умолчанию, а принятое и записанное решение.</a:t>
            </a:r>
          </a:p>
          <a:p>
            <a:r>
              <a:t/>
            </a:r>
          </a:p>
          <a:p>
            <a:r>
              <a:t>**Источники.** </a:t>
            </a:r>
            <a:r>
              <a:rPr u="sng">
                <a:solidFill>
                  <a:srgbClr val="065A82"/>
                </a:solidFill>
                <a:hlinkClick r:id="rId3"/>
              </a:rPr>
              <a:t>Васильев и соавт., *Digital Diagnostics* 2025;6(1):5–22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Шесть разборов стадии при одном и том же инструменте дали противоположные исходы, и расходится у них устройство процедуры — сохранена ли независимость двух мнений и в каком порядке предъявлена подсказка.</a:t>
            </a:r>
          </a:p>
          <a:p>
            <a:r>
              <a:t/>
            </a:r>
          </a:p>
          <a:p>
            <a:r>
              <a:t>Что получается. Второй взгляд на поток, который человеку не прочесть целиком: модель читает всё и не теряет чувствительность в пятницу вечером. Напоминание о редком диагнозе работает тем же механизмом, которым подсказка и вредит, — она дополняет состав списка, и строка, которой у усталого врача не появилось бы, появляется. И одно устройство процедуры, где пара измеренно сильнее обеих сторон: чувствительность восемьдесят с половиной против семидесяти трёх и восьми при одинаковой специфичности.</a:t>
            </a:r>
          </a:p>
          <a:p>
            <a:r>
              <a:t/>
            </a:r>
          </a:p>
          <a:p>
            <a:r>
              <a:t>Что не получается. Независимость теряется потому, что так устроен интерфейс; внимательность врача тут не причина. Избирательности не хватает процедуры: инструмента, позволяющего отличить верную подсказку от неверной, не получила ни одна группа, и ни одна с задачей не справилась. Объяснимость имеет измеренную цену: упрощённое объяснение неверной рекомендации роняет выбор ниже той линии, которую тот же врач даёт без модели вообще.</a:t>
            </a:r>
          </a:p>
          <a:p>
            <a:r>
              <a:t/>
            </a:r>
          </a:p>
          <a:p>
            <a:r>
              <a:t>Что стало с работой. Нагрузка на том же месте упала — у замера взгляда это было ценой, у обратного знака выигрышем; значит форма знака не несёт, знак задаёт правота подсказки. Сместилась цена ошибки: пропуск модели стал пропуском читателя, и подпись под ним ставит человек. Сменился исполнитель: вторым читателем стала модель, и падение объёма человеческого чтения — следствие этой смены; отдельным достижением оно не является.</a:t>
            </a:r>
          </a:p>
          <a:p>
            <a:r>
              <a:t/>
            </a:r>
          </a:p>
          <a:p>
            <a:r>
              <a:t>Что это держит. Порядок предъявления подсказки — управляемый параметр с измеренной ценой: интерфейс, показывающий отметку вместе со снимком, покупает скорость дорого. Арбитраж третьим читателем там, где человек и модель разошлись. И то, что нигде не записано: ступень участия человека. Неназначенная, под нагрузкой она сползает к подписи не глядя.</a:t>
            </a:r>
          </a:p>
          <a:p>
            <a:r>
              <a:t/>
            </a:r>
          </a:p>
          <a:p>
            <a:r>
              <a:t>И механизм входа, который этот раздел встретил сильнее всех остальных: «Якорение». Московский шестой разбор ставит подсказку модели НАВЕРХ рабочего экрана до того, как врач решил, — то есть выставляет порядок предъявления в самую рискованную позицию, какая на этой стадии возможна. Там же измерено, чем это кончается в единственном месте, где подсказка на что-то влияет: в той пятой части случаев, где врач и модель расходятся, прав ни один — врач в шестидесяти четырёх случаях из ста, модель в сорока пяти.</a:t>
            </a:r>
          </a:p>
          <a:p>
            <a:r>
              <a:t/>
            </a:r>
          </a:p>
          <a:p>
            <a:r>
              <a:t>Связку надо произнести: в разборе, где результат упал, и в контрольной линии, где он вырос, работала одна и та же система одного производителя.</a:t>
            </a:r>
          </a:p>
          <a:p>
            <a:r>
              <a:t/>
            </a:r>
          </a:p>
          <a:p>
            <a:r>
              <a:t>Число под строкой об объяснимости стоит назвать, потому что оно против интуиции. В опыте на виньетках с выбором антидепрессанта неверная рекомендация, поданная с упрощённым объяснением, уронила долю верных выборов с 35,7 до 26,2 из ста — то есть ниже той, что получалась вообще без всякой модели. Объяснение не помогло отличить плохой совет от хорошего; оно помогло плохому совету пройти.</a:t>
            </a:r>
          </a:p>
          <a:p>
            <a:r>
              <a:t/>
            </a:r>
          </a:p>
          <a:p>
            <a:r>
              <a:t>Держат эту нагрузку две вещи: порядок предъявления подсказки, у которого есть измеренная цена, и арбитраж третьим читателем — но только там, где человек и модель разошлись. Числа к четырём формам словаря не повторяем: каждое стояло на своём разборе, и повтор здесь сделал бы из вывода конспект раздела. Один и тот же инструмент уронил результат в одном разборе и поднял в контрольной линии — разошлось у них устройство процедуры, и это и есть вывод стадии.</a:t>
            </a:r>
          </a:p>
          <a:p>
            <a:r>
              <a:t/>
            </a:r>
          </a:p>
          <a:p>
            <a:r>
              <a:t>Как произносить четыре формы словаря, стоящие строкой. Нагрузка на том же месте упала — у замера взгляда, и знак этой формы задаёт правота подсказки: то же падение объёма осмотра в зеркальной работе оказалось выигрышем. Сместилась цена ошибки — пропуск модели стал пропуском читателя, подписанным человеком. Сменился исполнитель — вторым читателем стала модель, и объём человеческого чтения упал следом, как следствие смены, а не как самостоятельная цель. Исполнитель тот же, но стал хуже — у хирурга на септическом шоке при той же работе просело собственное преимущество; этой формы в словаре до раздела не было, её пришлось завести.</a:t>
            </a:r>
          </a:p>
          <a:p>
            <a:r>
              <a:t/>
            </a:r>
          </a:p>
          <a:p>
            <a:r>
              <a:t>И про полужирную строку. Ступень участия человека не записана нигде: ни в регламенте программы, ни в инструкции к изделию, ни в должностной инструкции читателя. Незаписанная ступень не остаётся нейтральной — она сползает вниз, к подписи не глядя, потому что это самый дешёвый способ закрыть требование «решение принимает человек». Счёт за это предъявляется в разделе о допуске, надзоре и ответственности, и предъявляется он не интерфейсу, а тому, кто ступень не назначил.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doi.org/10.1001/jamanetworkopen.2024.40969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gov.uk/guidance/breast-screening-programme-overview" TargetMode="Externa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16/S0140-6736%2825%2902464-X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7816/DD641703" TargetMode="Externa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Пример работы системы человек–ИИ: 50 врачей читают описания случаев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54380" y="2005998"/>
            <a:ext cx="6440119" cy="502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8620" y="209286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56070"/>
                </a:solidFill>
                <a:latin typeface="Arial"/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8739" y="209286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56070"/>
                </a:solidFill>
                <a:latin typeface="Arial"/>
              </a:rPr>
              <a:t>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" y="1925531"/>
            <a:ext cx="37033" cy="2112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0742" y="1925531"/>
            <a:ext cx="37033" cy="2112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640" y="1841406"/>
            <a:ext cx="50292" cy="1645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2612" y="1335024"/>
            <a:ext cx="2314346" cy="41494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92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Модель одна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2320" y="1841406"/>
            <a:ext cx="50292" cy="1645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293" y="1335024"/>
            <a:ext cx="2314346" cy="41494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74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Человек один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8133" y="2056290"/>
            <a:ext cx="50292" cy="1645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6106" y="2312322"/>
            <a:ext cx="2314346" cy="41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76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Человек поверх модели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36993"/>
            <a:ext cx="6943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медианный балл структурированного рассуждения, % от максимума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29601"/>
            <a:ext cx="6943039" cy="215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разница пары с одиноким человеком — 2 пункта, незначима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4" y="3436056"/>
            <a:ext cx="11441887" cy="2800151"/>
          </a:xfrm>
          <a:prstGeom prst="roundRect">
            <a:avLst>
              <a:gd name="adj" fmla="val 1088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" y="3527496"/>
            <a:ext cx="11112703" cy="2708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Три секунды и ноль рублей против 48 секунд человеческого чтения.</a:t>
            </a:r>
            <a:r>
              <a:rPr sz="1450" b="0" i="0">
                <a:solidFill>
                  <a:srgbClr val="21295C"/>
                </a:solidFill>
                <a:latin typeface="Arial"/>
              </a:rPr>
              <a:t> </a:t>
            </a:r>
            <a:r>
              <a:rPr sz="1450" b="0" i="1">
                <a:solidFill>
                  <a:srgbClr val="21295C"/>
                </a:solidFill>
                <a:latin typeface="Arial"/>
              </a:rPr>
              <a:t>Единицы разные — сравнение на разряд.</a:t>
            </a:r>
          </a:p>
          <a:p>
            <a:pPr algn="l">
              <a:lnSpc>
                <a:spcPct val="126000"/>
              </a:lnSpc>
              <a:spcBef>
                <a:spcPts val="720"/>
              </a:spcBef>
            </a:pPr>
            <a:r>
              <a:rPr sz="1450" b="0" i="0">
                <a:solidFill>
                  <a:srgbClr val="21295C"/>
                </a:solidFill>
                <a:latin typeface="Arial"/>
              </a:rPr>
              <a:t/>
            </a:r>
            <a:r>
              <a:rPr sz="1450" b="1" i="0">
                <a:solidFill>
                  <a:srgbClr val="21295C"/>
                </a:solidFill>
                <a:latin typeface="Arial"/>
              </a:rPr>
              <a:t>Как мерили.</a:t>
            </a:r>
            <a:r>
              <a:rPr sz="1450" b="0" i="0">
                <a:solidFill>
                  <a:srgbClr val="21295C"/>
                </a:solidFill>
                <a:latin typeface="Arial"/>
              </a:rPr>
              <a:t> Пятьдесят практикующих врачей читали по пять описаний реальных случаев и строили рассуждение: гипотезы, обоснование, какие проверки назначить. Оценивали слепо по шкале структурированного рассуждения. Два человеческих состояния разведены жребием; «модель одна» в жребий не входила.</a:t>
            </a:r>
          </a:p>
          <a:p>
            <a:pPr algn="l">
              <a:lnSpc>
                <a:spcPct val="126000"/>
              </a:lnSpc>
              <a:spcBef>
                <a:spcPts val="720"/>
              </a:spcBef>
            </a:pPr>
            <a:r>
              <a:rPr sz="1450" b="0" i="0">
                <a:solidFill>
                  <a:srgbClr val="21295C"/>
                </a:solidFill>
                <a:latin typeface="Arial"/>
              </a:rPr>
              <a:t/>
            </a:r>
            <a:r>
              <a:rPr sz="1450" b="1" i="0">
                <a:solidFill>
                  <a:srgbClr val="21295C"/>
                </a:solidFill>
                <a:latin typeface="Arial"/>
              </a:rPr>
              <a:t>Удешевили чтение данных — платят шагом, который делает человек.</a:t>
            </a:r>
          </a:p>
          <a:p>
            <a:pPr algn="l">
              <a:lnSpc>
                <a:spcPct val="126000"/>
              </a:lnSpc>
              <a:spcBef>
                <a:spcPts val="720"/>
              </a:spcBef>
            </a:pPr>
            <a:r>
              <a:rPr sz="1450" b="0" i="0">
                <a:solidFill>
                  <a:srgbClr val="21295C"/>
                </a:solidFill>
                <a:latin typeface="Arial"/>
              </a:rPr>
              <a:t/>
            </a:r>
            <a:r>
              <a:rPr sz="1450" b="1" i="0">
                <a:solidFill>
                  <a:srgbClr val="21295C"/>
                </a:solidFill>
                <a:latin typeface="Arial"/>
              </a:rPr>
              <a:t>Чем платят:</a:t>
            </a:r>
            <a:r>
              <a:rPr sz="1450" b="0" i="0">
                <a:solidFill>
                  <a:srgbClr val="21295C"/>
                </a:solidFill>
                <a:latin typeface="Arial"/>
              </a:rPr>
              <a:t> внимание — смотрит после модели · навык — перестаёт делать сам · подпись — ставят не читая · </a:t>
            </a:r>
            <a:r>
              <a:rPr sz="1450" b="1" i="0">
                <a:solidFill>
                  <a:srgbClr val="21295C"/>
                </a:solidFill>
                <a:latin typeface="Arial"/>
              </a:rPr>
              <a:t>арбитраж — дороже прежнего чтения</a:t>
            </a:r>
            <a:r>
              <a:rPr sz="1450" b="0" i="0">
                <a:solidFill>
                  <a:srgbClr val="21295C"/>
                </a:solidFill>
                <a:latin typeface="Arial"/>
              </a:rPr>
              <a:t>. А сама проверка подсказки замерена: </a:t>
            </a:r>
            <a:r>
              <a:rPr sz="1450" b="1" i="0">
                <a:solidFill>
                  <a:srgbClr val="21295C"/>
                </a:solidFill>
                <a:latin typeface="Arial"/>
              </a:rPr>
              <a:t>1,99 секунды</a:t>
            </a:r>
            <a:r>
              <a:rPr sz="1450" b="0" i="0">
                <a:solidFill>
                  <a:srgbClr val="21295C"/>
                </a:solidFill>
                <a:latin typeface="Arial"/>
              </a:rPr>
              <a:t> по медиане.</a:t>
            </a:r>
          </a:p>
          <a:p>
            <a:pPr algn="l">
              <a:lnSpc>
                <a:spcPct val="126000"/>
              </a:lnSpc>
              <a:spcBef>
                <a:spcPts val="720"/>
              </a:spcBef>
            </a:pPr>
            <a:r>
              <a:rPr sz="1450" b="0" i="0">
                <a:solidFill>
                  <a:srgbClr val="21295C"/>
                </a:solidFill>
                <a:latin typeface="Arial"/>
              </a:rPr>
              <a:t/>
            </a:r>
            <a:r>
              <a:rPr sz="1450" b="1" i="0">
                <a:solidFill>
                  <a:srgbClr val="21295C"/>
                </a:solidFill>
                <a:latin typeface="Arial"/>
              </a:rPr>
              <a:t>Модель посмотрела первой. Что теперь делает человек — и кто это измерял?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56855" y="1335024"/>
            <a:ext cx="3931920" cy="1823085"/>
          </a:xfrm>
          <a:prstGeom prst="roundRect">
            <a:avLst>
              <a:gd name="adj" fmla="val 167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s05-podpis-pod-soglasi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015" y="1472184"/>
            <a:ext cx="3657600" cy="154876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02920" y="82019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3459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 u="sng">
                <a:solidFill>
                  <a:srgbClr val="065A82"/>
                </a:solidFill>
                <a:latin typeface="Arial"/>
                <a:hlinkClick r:id="rId3"/>
              </a:rPr>
              <a:t>Goh и соавт., JAMA Network Open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Семь действий стадии скрининга — и три, на которых включается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07592" cy="877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Без модели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335024"/>
            <a:ext cx="1381429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02536" y="1380744"/>
            <a:ext cx="1216837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Назначить порог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47389" y="1741789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75989" y="1335024"/>
            <a:ext cx="1381429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8285" y="1380744"/>
            <a:ext cx="1216837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Позвать по списку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03139" y="1741789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31739" y="1335024"/>
            <a:ext cx="1381429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4035" y="1380744"/>
            <a:ext cx="1216837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Снять снимок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658889" y="1741789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87489" y="1335024"/>
            <a:ext cx="1381429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9785" y="1380744"/>
            <a:ext cx="1216837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Прочесть двоим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68594"/>
            <a:ext cx="1307592" cy="877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…и дальше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2432018"/>
            <a:ext cx="1933346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02536" y="2477738"/>
            <a:ext cx="1768754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Арбитраж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899306" y="283878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27906" y="2432018"/>
            <a:ext cx="1933346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0202" y="2477738"/>
            <a:ext cx="1768754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Сообщить исход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106972" y="283878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35572" y="2432018"/>
            <a:ext cx="1933346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7868" y="2477738"/>
            <a:ext cx="1768754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Отсортировать поток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65589"/>
            <a:ext cx="1307592" cy="877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Где включается модель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3529013"/>
            <a:ext cx="2018690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2536" y="3574733"/>
            <a:ext cx="1854098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Прочесть двоим</a:t>
            </a:r>
          </a:p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шведская программа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85234" y="3529013"/>
            <a:ext cx="2018690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7530" y="3574733"/>
            <a:ext cx="1854098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Сообщить исход</a:t>
            </a:r>
          </a:p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глазное дно на приёме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0228" y="3529013"/>
            <a:ext cx="2018690" cy="95069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2524" y="3574733"/>
            <a:ext cx="1854098" cy="85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Отсортировать поток</a:t>
            </a:r>
          </a:p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чат-бот первой линии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516280"/>
            <a:ext cx="7765999" cy="211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Семь действий стадии — и три шага, на которых включается модель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4904" y="4818963"/>
            <a:ext cx="11441887" cy="1417244"/>
          </a:xfrm>
          <a:prstGeom prst="roundRect">
            <a:avLst>
              <a:gd name="adj" fmla="val 2150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" y="4910403"/>
            <a:ext cx="11112703" cy="1325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Письмо, с которого началась лекция, вышло отсюда: программа берёт список жителей, отбирает по возрасту и полу и рассылает приглашения. Человек не обращался — его позвали.</a:t>
            </a:r>
          </a:p>
          <a:p>
            <a:pPr algn="l">
              <a:lnSpc>
                <a:spcPct val="126000"/>
              </a:lnSpc>
              <a:spcBef>
                <a:spcPts val="720"/>
              </a:spcBef>
            </a:pPr>
            <a:r>
              <a:rPr sz="1400" b="0" i="0">
                <a:solidFill>
                  <a:srgbClr val="21295C"/>
                </a:solidFill>
                <a:latin typeface="Arial"/>
              </a:rPr>
              <a:t/>
            </a:r>
            <a:r>
              <a:rPr sz="1400" b="1" i="0">
                <a:solidFill>
                  <a:srgbClr val="21295C"/>
                </a:solidFill>
                <a:latin typeface="Arial"/>
              </a:rPr>
              <a:t>Порог, приглашение, съёмка и арбитраж остались людям. Новый шаг — добыть годный снимок.</a:t>
            </a:r>
          </a:p>
          <a:p>
            <a:pPr algn="l">
              <a:lnSpc>
                <a:spcPct val="126000"/>
              </a:lnSpc>
              <a:spcBef>
                <a:spcPts val="720"/>
              </a:spcBef>
            </a:pPr>
            <a:r>
              <a:rPr sz="1400" b="0" i="0">
                <a:solidFill>
                  <a:srgbClr val="21295C"/>
                </a:solidFill>
                <a:latin typeface="Arial"/>
              </a:rPr>
              <a:t/>
            </a:r>
            <a:r>
              <a:rPr sz="1400" b="1" i="0">
                <a:solidFill>
                  <a:srgbClr val="21295C"/>
                </a:solidFill>
                <a:latin typeface="Arial"/>
              </a:rPr>
              <a:t>У кого в рабочем контуре стоит автоматический фильтр — и кто разбирает отфильтрованное?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79815" y="1335024"/>
            <a:ext cx="3108960" cy="2977878"/>
          </a:xfrm>
          <a:prstGeom prst="roundRect">
            <a:avLst>
              <a:gd name="adj" fmla="val 1023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s12-stranitsa-programmy-kogo-zov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975" y="1472184"/>
            <a:ext cx="2834640" cy="2703558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02920" y="82019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3459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 u="sng">
                <a:solidFill>
                  <a:srgbClr val="065A82"/>
                </a:solidFill>
                <a:latin typeface="Arial"/>
                <a:hlinkClick r:id="rId3"/>
              </a:rPr>
              <a:t>Программа скрининга NHS England, GOV.UK, снято 13 октября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Пример 1, без модели: шведская программа зовёт по возрасту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2673019" cy="1974891"/>
          </a:xfrm>
          <a:prstGeom prst="roundRect">
            <a:avLst>
              <a:gd name="adj" fmla="val 15433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2398699" cy="25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НАШЛИ НА ОБСЛЕДОВАНИИ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25375"/>
            <a:ext cx="2398699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5,1 на 1000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52374"/>
            <a:ext cx="2398699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Швеция, 80 033 женщины, двойное чтение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0531" y="1335024"/>
            <a:ext cx="2673019" cy="1974891"/>
          </a:xfrm>
          <a:prstGeom prst="roundRect">
            <a:avLst>
              <a:gd name="adj" fmla="val 15433"/>
            </a:avLst>
          </a:prstGeom>
          <a:solidFill>
            <a:srgbClr val="FFFFFF"/>
          </a:solidFill>
          <a:ln w="25400">
            <a:solidFill>
              <a:srgbClr val="F0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7691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ПРОПУСТИЛА ПРОГРАММА, НАШЁЛ СИМПТОМ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7691" y="1932846"/>
            <a:ext cx="2398699" cy="817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C7293"/>
                </a:solidFill>
                <a:latin typeface="Arial"/>
              </a:rPr>
              <a:t>1,76 на 1000 за два года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7691" y="2750268"/>
            <a:ext cx="2398699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контрольное плечо, 52 872 женщины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1335024"/>
            <a:ext cx="2673019" cy="1974891"/>
          </a:xfrm>
          <a:prstGeom prst="roundRect">
            <a:avLst>
              <a:gd name="adj" fmla="val 15433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303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ПОЗВАЛИ ЗРЯ: ВТОРОЙ СНИМОК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5303" y="1932846"/>
            <a:ext cx="2398699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2,0 из ста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5303" y="2359845"/>
            <a:ext cx="2398699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повторный снимок, иногда биопсия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755" y="1335024"/>
            <a:ext cx="2673019" cy="1974891"/>
          </a:xfrm>
          <a:prstGeom prst="roundRect">
            <a:avLst>
              <a:gd name="adj" fmla="val 15433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2915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ЖДУТ ЖАЛОБУ: ПОЗДНЯЯ СТАДИЯ У НАЙДЕННЫХ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2915" y="1932846"/>
            <a:ext cx="2398699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57 → 39 из ста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2915" y="2359845"/>
            <a:ext cx="2398699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Мальмё, 1976–1986, приглашение по жребию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4" y="3492795"/>
            <a:ext cx="11441887" cy="2513886"/>
          </a:xfrm>
          <a:prstGeom prst="roundRect">
            <a:avLst>
              <a:gd name="adj" fmla="val 1212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3584235"/>
            <a:ext cx="5373471" cy="265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Зовут всех по возрасту и интервалу.</a:t>
            </a:r>
            <a:r>
              <a:rPr sz="1500" b="0" i="0">
                <a:solidFill>
                  <a:srgbClr val="21295C"/>
                </a:solidFill>
                <a:latin typeface="Arial"/>
              </a:rPr>
              <a:t> Приглашение шлёт программа, снимок читают двое, расхождение разбирает третий. Модели здесь нет.</a:t>
            </a:r>
          </a:p>
          <a:p>
            <a:pPr algn="l">
              <a:lnSpc>
                <a:spcPct val="126000"/>
              </a:lnSpc>
              <a:spcBef>
                <a:spcPts val="3600"/>
              </a:spcBef>
            </a:pPr>
            <a:r>
              <a:rPr sz="1500" b="0" i="0">
                <a:solidFill>
                  <a:srgbClr val="21295C"/>
                </a:solidFill>
                <a:latin typeface="Arial"/>
              </a:rPr>
              <a:t/>
            </a:r>
            <a:r>
              <a:rPr sz="1500" b="1" i="0">
                <a:solidFill>
                  <a:srgbClr val="21295C"/>
                </a:solidFill>
                <a:latin typeface="Arial"/>
              </a:rPr>
              <a:t>Ждут жалобу — второй порядок, и он шире распространён.</a:t>
            </a:r>
            <a:r>
              <a:rPr sz="1500" b="0" i="0">
                <a:solidFill>
                  <a:srgbClr val="21295C"/>
                </a:solidFill>
                <a:latin typeface="Arial"/>
              </a:rPr>
              <a:t> Нулём он не работает: непозванный придёт сам, позже и стадией крупнее.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584235"/>
            <a:ext cx="5373471" cy="265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Порог — это документ:</a:t>
            </a:r>
            <a:r>
              <a:rPr sz="1500" b="0" i="0">
                <a:solidFill>
                  <a:srgbClr val="21295C"/>
                </a:solidFill>
                <a:latin typeface="Arial"/>
              </a:rPr>
              <a:t> возраст и интервал назначены раньше, чем кто-нибудь измерил точность прибора, — и назначены тем же решением, которым назначено, быть ли программе вообще.</a:t>
            </a:r>
          </a:p>
          <a:p>
            <a:pPr algn="l">
              <a:lnSpc>
                <a:spcPct val="126000"/>
              </a:lnSpc>
              <a:spcBef>
                <a:spcPts val="3600"/>
              </a:spcBef>
            </a:pPr>
            <a:r>
              <a:rPr sz="1500" b="0" i="0">
                <a:solidFill>
                  <a:srgbClr val="21295C"/>
                </a:solidFill>
                <a:latin typeface="Arial"/>
              </a:rPr>
              <a:t/>
            </a:r>
            <a:r>
              <a:rPr sz="1500" b="1" i="0">
                <a:solidFill>
                  <a:srgbClr val="21295C"/>
                </a:solidFill>
                <a:latin typeface="Arial"/>
              </a:rPr>
              <a:t>Женщину с письмом позвал первый порядок: только год рождения, ни одного её собственного признака.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1275" y="3584235"/>
            <a:ext cx="9144" cy="2239566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3459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 u="sng">
                <a:solidFill>
                  <a:srgbClr val="065A82"/>
                </a:solidFill>
                <a:latin typeface="Arial"/>
                <a:hlinkClick r:id="rId2"/>
              </a:rPr>
              <a:t>Шведская программа, контрольное плечо</a:t>
            </a:r>
            <a:r>
              <a:rPr sz="1200" b="0" i="1">
                <a:solidFill>
                  <a:srgbClr val="1C7293"/>
                </a:solidFill>
                <a:latin typeface="Arial"/>
              </a:rPr>
              <a:t> · </a:t>
            </a:r>
            <a:r>
              <a:rPr sz="1200" b="0" i="1">
                <a:solidFill>
                  <a:srgbClr val="1C7293"/>
                </a:solidFill>
                <a:latin typeface="Arial"/>
              </a:rPr>
              <a:t>Мальмёское испытание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968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Москва, профилактический поток: сколько снимков не открывает человек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43184"/>
            <a:ext cx="11185855" cy="4194693"/>
          </a:xfrm>
          <a:prstGeom prst="roundRect">
            <a:avLst>
              <a:gd name="adj" fmla="val 72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2245520"/>
            <a:ext cx="10381183" cy="19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2000" b="1" i="0">
                <a:solidFill>
                  <a:srgbClr val="21295C"/>
                </a:solidFill>
                <a:latin typeface="Arial"/>
              </a:rPr>
              <a:t>55 из ста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0007" y="4388801"/>
            <a:ext cx="2011680" cy="77724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4576253"/>
            <a:ext cx="10381183" cy="36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2000" b="1" i="0">
                <a:solidFill>
                  <a:srgbClr val="065A82"/>
                </a:solidFill>
                <a:latin typeface="Arial"/>
              </a:rPr>
              <a:t>профилактических снимков грудной клетки не открывает ни один врач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5032339"/>
            <a:ext cx="10381183" cy="2967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0" i="0">
                <a:solidFill>
                  <a:srgbClr val="21295C"/>
                </a:solidFill>
                <a:latin typeface="Arial"/>
              </a:rPr>
              <a:t>315 491 из 575 549 за пять месяцев 2024 года, Москва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5420526"/>
            <a:ext cx="10381183" cy="215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заключение модели уходит прямо в электронную карту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459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 u="sng">
                <a:solidFill>
                  <a:srgbClr val="065A82"/>
                </a:solidFill>
                <a:latin typeface="Arial"/>
                <a:hlinkClick r:id="rId2"/>
              </a:rPr>
              <a:t>Васильев и соавт., Digital Diagnostics 2025;6(1):5–22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Вывод раздела: инструмент один, исходы противоположные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5437479" cy="2623525"/>
          </a:xfrm>
          <a:prstGeom prst="roundRect">
            <a:avLst>
              <a:gd name="adj" fmla="val 11617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490472"/>
            <a:ext cx="5108295" cy="246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получается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846650"/>
            <a:ext cx="5108295" cy="1956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второй взгляд на поток целиком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напоминание о редком диагнозе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пара сильнее обеих сторон — при одном устройстве процедуры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арбитраж только на расхождениях: весь поток к нему не идёт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1295" y="1335024"/>
            <a:ext cx="5437479" cy="2623525"/>
          </a:xfrm>
          <a:prstGeom prst="roundRect">
            <a:avLst>
              <a:gd name="adj" fmla="val 11617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5887" y="1490472"/>
            <a:ext cx="5108295" cy="246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Что не получается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1846650"/>
            <a:ext cx="5108295" cy="1956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сохранить независимость двух мнений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удержать преимущество там, где человек сильнее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заметить, что распределение входов сдвинулось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назначить ступень участия: её не записывает никто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" y="4049989"/>
            <a:ext cx="11441887" cy="2186218"/>
          </a:xfrm>
          <a:prstGeom prst="roundRect">
            <a:avLst>
              <a:gd name="adj" fmla="val 1394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4141429"/>
            <a:ext cx="11112703" cy="20947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Шесть разборов стадии дали противоположные исходы при одном инструменте.</a:t>
            </a:r>
            <a:r>
              <a:rPr sz="1300" b="0" i="0">
                <a:solidFill>
                  <a:srgbClr val="21295C"/>
                </a:solidFill>
                <a:latin typeface="Arial"/>
              </a:rPr>
              <a:t> Шведское испытание: одно человеческое чтение поверх модели сильнее двойного. Хирурги: та же пара ниже обоих. Расходится устройство процедуры: сохранена ли независимость мнений и порядок предъявления подсказки.</a:t>
            </a:r>
          </a:p>
          <a:p>
            <a:pPr algn="l">
              <a:lnSpc>
                <a:spcPct val="126000"/>
              </a:lnSpc>
              <a:spcBef>
                <a:spcPts val="720"/>
              </a:spcBef>
            </a:pPr>
            <a:r>
              <a:rPr sz="1300" b="0" i="0">
                <a:solidFill>
                  <a:srgbClr val="21295C"/>
                </a:solidFill>
                <a:latin typeface="Arial"/>
              </a:rPr>
              <a:t/>
            </a:r>
            <a:r>
              <a:rPr sz="1300" b="1" i="0">
                <a:solidFill>
                  <a:srgbClr val="21295C"/>
                </a:solidFill>
                <a:latin typeface="Arial"/>
              </a:rPr>
              <a:t>Держат это</a:t>
            </a:r>
            <a:r>
              <a:rPr sz="1300" b="0" i="0">
                <a:solidFill>
                  <a:srgbClr val="21295C"/>
                </a:solidFill>
                <a:latin typeface="Arial"/>
              </a:rPr>
              <a:t> порог под цену обеих ошибок и арбитраж на расхождениях.</a:t>
            </a:r>
          </a:p>
          <a:p>
            <a:pPr algn="l">
              <a:lnSpc>
                <a:spcPct val="126000"/>
              </a:lnSpc>
              <a:spcBef>
                <a:spcPts val="720"/>
              </a:spcBef>
            </a:pPr>
            <a:r>
              <a:rPr sz="1300" b="0" i="0">
                <a:solidFill>
                  <a:srgbClr val="21295C"/>
                </a:solidFill>
                <a:latin typeface="Arial"/>
              </a:rPr>
              <a:t/>
            </a:r>
            <a:r>
              <a:rPr sz="1300" b="1" i="0">
                <a:solidFill>
                  <a:srgbClr val="21295C"/>
                </a:solidFill>
                <a:latin typeface="Arial"/>
              </a:rPr>
              <a:t>Ступень участия нигде не записана. Неназначенная сползает к подписи не глядя.</a:t>
            </a:r>
          </a:p>
          <a:p>
            <a:pPr algn="l">
              <a:lnSpc>
                <a:spcPct val="126000"/>
              </a:lnSpc>
              <a:spcBef>
                <a:spcPts val="720"/>
              </a:spcBef>
            </a:pPr>
            <a:r>
              <a:rPr sz="1300" b="0" i="0">
                <a:solidFill>
                  <a:srgbClr val="21295C"/>
                </a:solidFill>
                <a:latin typeface="Arial"/>
              </a:rPr>
              <a:t/>
            </a:r>
            <a:r>
              <a:rPr sz="1300" b="1" i="0">
                <a:solidFill>
                  <a:srgbClr val="21295C"/>
                </a:solidFill>
                <a:latin typeface="Arial"/>
              </a:rPr>
              <a:t>Из шести искажений входа раздел встретил четыре:</a:t>
            </a:r>
            <a:r>
              <a:rPr sz="1300" b="0" i="0">
                <a:solidFill>
                  <a:srgbClr val="21295C"/>
                </a:solidFill>
                <a:latin typeface="Arial"/>
              </a:rPr>
              <a:t> якорение на неверной расшифровке · сужение · поток тревог · несогласие штатным шагом.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