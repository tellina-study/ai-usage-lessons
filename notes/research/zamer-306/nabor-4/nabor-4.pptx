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Пример 1, без модели: шведская программа зовёт по возрасту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2673019" cy="2359656"/>
          </a:xfrm>
          <a:prstGeom prst="roundRect">
            <a:avLst>
              <a:gd name="adj" fmla="val 12917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НАХОДЯТ НА ОБСЛЕДОВАНИИ (НА 1000)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2846"/>
            <a:ext cx="2398699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5,1 случая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59845"/>
            <a:ext cx="2398699" cy="6337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Шведская программа, двойное чтение снимка, выборка 80 033 женщины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0531" y="1335024"/>
            <a:ext cx="2673019" cy="2359656"/>
          </a:xfrm>
          <a:prstGeom prst="roundRect">
            <a:avLst>
              <a:gd name="adj" fmla="val 12917"/>
            </a:avLst>
          </a:prstGeom>
          <a:solidFill>
            <a:srgbClr val="FFFFFF"/>
          </a:solidFill>
          <a:ln w="25400">
            <a:solidFill>
              <a:srgbClr val="F0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7691" y="1472184"/>
            <a:ext cx="2398699" cy="668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ПРОПУСКАЕТ МЕЖДУ ПРИГЛАШЕНИЯМИ (НА 1000, ЗА 2 ГОДА)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7691" y="2140317"/>
            <a:ext cx="2398699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C7293"/>
                </a:solidFill>
                <a:latin typeface="Arial"/>
              </a:rPr>
              <a:t>1,76 случая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7691" y="2567316"/>
            <a:ext cx="2398699" cy="6337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Находит симптом, не программа; контрольное плечо, 52 872 женщины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1335024"/>
            <a:ext cx="2673019" cy="2359656"/>
          </a:xfrm>
          <a:prstGeom prst="roundRect">
            <a:avLst>
              <a:gd name="adj" fmla="val 12917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303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ЗРЯ ПОЗВАЛИ НА ДООБСЛЕДОВАНИЕ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5303" y="1932846"/>
            <a:ext cx="2398699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2,0 из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5303" y="2359845"/>
            <a:ext cx="2398699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Повторный снимок, иногда биопсия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755" y="1335024"/>
            <a:ext cx="2673019" cy="2359656"/>
          </a:xfrm>
          <a:prstGeom prst="roundRect">
            <a:avLst>
              <a:gd name="adj" fmla="val 12917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2915" y="1472184"/>
            <a:ext cx="2398699" cy="668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ДОЛЯ ПОЗДНЕЙ СТАДИИ: БЕЗ ПРИГЛАШЕНИЯ / ПО ПРОГРАММЕ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2915" y="2140317"/>
            <a:ext cx="2398699" cy="783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57 из 100 против 39 из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2915" y="2923790"/>
            <a:ext cx="2398699" cy="6337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Мальмёское испытание 1976–1986, приглашение по жребию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Пример работы системы человек–ИИ: 50 врачей читают описания случаев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54380" y="2005998"/>
            <a:ext cx="10682935" cy="502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8620" y="209286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56070"/>
                </a:solidFill>
                <a:latin typeface="Arial"/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1555" y="209286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56070"/>
                </a:solidFill>
                <a:latin typeface="Arial"/>
              </a:rPr>
              <a:t>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" y="1925531"/>
            <a:ext cx="37033" cy="2112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0742" y="1925531"/>
            <a:ext cx="37033" cy="2112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46038" y="1841406"/>
            <a:ext cx="50292" cy="1645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6875" y="1335024"/>
            <a:ext cx="3728618" cy="41494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92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Модель одна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8029" y="1841406"/>
            <a:ext cx="50292" cy="1645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866" y="1335024"/>
            <a:ext cx="3728618" cy="41494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74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Человек один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6697" y="2056290"/>
            <a:ext cx="50292" cy="1645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7533" y="2312322"/>
            <a:ext cx="3728618" cy="41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76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Человек поверх модели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36993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Медианный балл структурированного рассуждения, % от максимума возможного балла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29601"/>
            <a:ext cx="11185855" cy="215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Разница пары «человек + модель» (76) с одиноким человеком (74) — два пункта шкалы, статистически незначима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82019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Вывод раздела: инструмент один, исходы противоположные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5437479" cy="3108960"/>
          </a:xfrm>
          <a:prstGeom prst="roundRect">
            <a:avLst>
              <a:gd name="adj" fmla="val 980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490472"/>
            <a:ext cx="5108295" cy="246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получается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846650"/>
            <a:ext cx="5108295" cy="2441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Второй взгляд на весь поток случаев, который один человек не способен прочесть целиком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Напоминание о редком диагнозе, который легко упустить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На одном из разобранных случаев пара «человек + модель» измеренно сильнее каждой стороны по отдельности — при том же устройстве процедуры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Арбитраж подключается только на случаях расхождения — не весь поток идёт через третьего читателя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1295" y="1335024"/>
            <a:ext cx="5437479" cy="3108960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5887" y="1490472"/>
            <a:ext cx="5108295" cy="246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Что не получается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1846650"/>
            <a:ext cx="5108295" cy="2441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Не замечает, что распределение входящих случаев сместилось со временем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Не удерживает преимущество там, где человек объективно сильнее читающего в одиночку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Не сохраняет независимость двух мнений — интерфейс устроен так, что второй читатель видит вывод первого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Никто не назначает и не фиксирует, на какой ступени участия человека стоит процедура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Семь действий стадии скрининга — и три, на которых включается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07592" cy="877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Действия 1–4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335024"/>
            <a:ext cx="2236393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02536" y="1380744"/>
            <a:ext cx="2071801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Назначить порог вмешательства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02353" y="1741789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0953" y="1335024"/>
            <a:ext cx="2236393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3249" y="1380744"/>
            <a:ext cx="2071801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Позвать по списку (возраст, пол, прежний диагноз)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13067" y="1741789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1667" y="1335024"/>
            <a:ext cx="2236393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3963" y="1380744"/>
            <a:ext cx="2071801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Снять исследование (сделать снимок)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23781" y="1741789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52381" y="1335024"/>
            <a:ext cx="2236393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4677" y="1380744"/>
            <a:ext cx="2071801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Прочесть двумя независимыми читателями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68594"/>
            <a:ext cx="1307592" cy="877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Действия 5–7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2432018"/>
            <a:ext cx="3073298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02536" y="2477738"/>
            <a:ext cx="2908706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Разрешить расхождение арбитражем третьего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39258" y="283878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67858" y="2432018"/>
            <a:ext cx="3073298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0154" y="2477738"/>
            <a:ext cx="2908706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Сообщить исход (норма либо направление на дообследование)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86876" y="283878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15476" y="2432018"/>
            <a:ext cx="3073298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7772" y="2477738"/>
            <a:ext cx="2908706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Отсортировать пришедших без приглашения по тяжести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65589"/>
            <a:ext cx="1307592" cy="877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Где стоит модель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3529013"/>
            <a:ext cx="3158642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2536" y="3574733"/>
            <a:ext cx="2994050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Прочесть двумя → свой разбор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25186" y="3529013"/>
            <a:ext cx="3158642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7482" y="3574733"/>
            <a:ext cx="2994050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Сообщить исход → другой разбор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30132" y="3529013"/>
            <a:ext cx="3158642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2428" y="3574733"/>
            <a:ext cx="2994050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Отсортировать поток (другой вход) → третий разбор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516280"/>
            <a:ext cx="11185855" cy="211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Семь действий стадии скрининга без модели — и сопоставление: на каких трёх действиях эта модель стоит в деке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82019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Москва, профилактический поток: сколько снимков не открывает человек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11185855" cy="3434729"/>
          </a:xfrm>
          <a:prstGeom prst="roundRect">
            <a:avLst>
              <a:gd name="adj" fmla="val 887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37215" cy="1539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9600" b="1" i="0">
                <a:solidFill>
                  <a:srgbClr val="21295C"/>
                </a:solidFill>
                <a:latin typeface="Arial"/>
              </a:rPr>
              <a:t>55 из 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4327" y="3367859"/>
            <a:ext cx="1463040" cy="6858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546167"/>
            <a:ext cx="10637215" cy="291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600" b="1" i="0">
                <a:solidFill>
                  <a:srgbClr val="065A82"/>
                </a:solidFill>
                <a:latin typeface="Arial"/>
              </a:rPr>
              <a:t>Профилактических снимков грудной клетки в потоке одного города не открывает ни один врач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29324"/>
            <a:ext cx="10637215" cy="2596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315 491 снимок из 575 549 за пять месяцев 2024 года, Москва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80418"/>
            <a:ext cx="10637215" cy="215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Заключение модели уходит прямо в электронную медицинскую карту, без участия человека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82019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