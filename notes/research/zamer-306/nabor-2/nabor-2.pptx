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Замер issue #306.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Пример 1, без модели: шведская программа зовёт по возрасту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2673019" cy="1974891"/>
          </a:xfrm>
          <a:prstGeom prst="roundRect">
            <a:avLst>
              <a:gd name="adj" fmla="val 15433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72184"/>
            <a:ext cx="2398699" cy="25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НАШЛИ НА ОБСЛЕДОВАНИИ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25375"/>
            <a:ext cx="2398699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5,1 на 1000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52374"/>
            <a:ext cx="2398699" cy="422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Швеция, 80 033 женщины, двойное чтение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40531" y="1335024"/>
            <a:ext cx="2673019" cy="1974891"/>
          </a:xfrm>
          <a:prstGeom prst="roundRect">
            <a:avLst>
              <a:gd name="adj" fmla="val 15433"/>
            </a:avLst>
          </a:prstGeom>
          <a:solidFill>
            <a:srgbClr val="FFFFFF"/>
          </a:solidFill>
          <a:ln w="25400">
            <a:solidFill>
              <a:srgbClr val="F0AB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7691" y="1472184"/>
            <a:ext cx="2398699" cy="46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ПРОПУСТИЛА ПРОГРАММА, НАШЁЛ СИМПТОМ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7691" y="1932846"/>
            <a:ext cx="2398699" cy="81742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1C7293"/>
                </a:solidFill>
                <a:latin typeface="Arial"/>
              </a:rPr>
              <a:t>1,76 на 1000 за два года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7691" y="2750268"/>
            <a:ext cx="2398699" cy="422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контрольное плечо, 52 872 женщины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8143" y="1335024"/>
            <a:ext cx="2673019" cy="1974891"/>
          </a:xfrm>
          <a:prstGeom prst="roundRect">
            <a:avLst>
              <a:gd name="adj" fmla="val 15433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15303" y="1472184"/>
            <a:ext cx="2398699" cy="46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ПОЗВАЛИ ЗРЯ: ВТОРОЙ СНИМОК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15303" y="1932846"/>
            <a:ext cx="2398699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2,0 из ста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5303" y="2359845"/>
            <a:ext cx="2398699" cy="422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повторный снимок, иногда биопсия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5755" y="1335024"/>
            <a:ext cx="2673019" cy="1974891"/>
          </a:xfrm>
          <a:prstGeom prst="roundRect">
            <a:avLst>
              <a:gd name="adj" fmla="val 15433"/>
            </a:avLst>
          </a:prstGeom>
          <a:solidFill>
            <a:srgbClr val="F4F7FA"/>
          </a:solidFill>
          <a:ln w="1524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52915" y="1472184"/>
            <a:ext cx="2398699" cy="4606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C7293"/>
                </a:solidFill>
                <a:latin typeface="Arial"/>
              </a:rPr>
              <a:t>ЖДУТ ЖАЛОБУ: ПОЗДНЯЯ СТАДИЯ У НАЙДЕННЫХ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2915" y="1932846"/>
            <a:ext cx="2398699" cy="426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57 → 39 из ста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2915" y="2359845"/>
            <a:ext cx="2398699" cy="42248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Мальмё, 1976–1986, приглашение по жребию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Пример работы системы человек–ИИ: 50 врачей читают описания случаев</a:t>
            </a:r>
          </a:p>
        </p:txBody>
      </p:sp>
      <p:sp>
        <p:nvSpPr>
          <p:cNvPr id="4" name="Rectangle 3"/>
          <p:cNvSpPr/>
          <p:nvPr/>
        </p:nvSpPr>
        <p:spPr>
          <a:xfrm>
            <a:off x="754380" y="2005998"/>
            <a:ext cx="10682935" cy="502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8620" y="209286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56070"/>
                </a:solidFill>
                <a:latin typeface="Arial"/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71555" y="2092866"/>
            <a:ext cx="731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56070"/>
                </a:solidFill>
                <a:latin typeface="Arial"/>
              </a:rPr>
              <a:t>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836676" y="1925531"/>
            <a:ext cx="37033" cy="2112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0742" y="1925531"/>
            <a:ext cx="37033" cy="2112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38029" y="1841406"/>
            <a:ext cx="50292" cy="1645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866" y="1335024"/>
            <a:ext cx="3728618" cy="41494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74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Человек один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6697" y="2056290"/>
            <a:ext cx="50292" cy="1645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7533" y="2312322"/>
            <a:ext cx="3728618" cy="414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76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Человек поверх модели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6038" y="1841406"/>
            <a:ext cx="50292" cy="1645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6875" y="1335024"/>
            <a:ext cx="3728618" cy="414942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92</a:t>
            </a:r>
          </a:p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21295C"/>
                </a:solidFill>
                <a:latin typeface="Arial"/>
              </a:rPr>
              <a:t>Модель одна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36993"/>
            <a:ext cx="11185855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медианный балл структурированного рассуждения, % от максимума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129601"/>
            <a:ext cx="11185855" cy="215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разница пары с одиноким человеком — 2 пункта, незначима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820191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21295C"/>
                </a:solidFill>
                <a:latin typeface="Arial"/>
              </a:rPr>
              <a:t>Вывод раздела: инструмент один, исходы противоположные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5437479" cy="3108960"/>
          </a:xfrm>
          <a:prstGeom prst="roundRect">
            <a:avLst>
              <a:gd name="adj" fmla="val 9803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1490472"/>
            <a:ext cx="5108295" cy="246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65A82"/>
                </a:solidFill>
                <a:latin typeface="Arial"/>
              </a:rPr>
              <a:t>Что получается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846650"/>
            <a:ext cx="5108295" cy="2441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второй взгляд на поток целиком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напоминание о редком диагнозе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пара сильнее обеих сторон — при одном устройстве процедуры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арбитраж только на расхождениях: весь поток к нему не идёт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51295" y="1335024"/>
            <a:ext cx="5437479" cy="3108960"/>
          </a:xfrm>
          <a:prstGeom prst="roundRect">
            <a:avLst>
              <a:gd name="adj" fmla="val 9803"/>
            </a:avLst>
          </a:prstGeom>
          <a:solidFill>
            <a:srgbClr val="FFFFFF"/>
          </a:solidFill>
          <a:ln w="19050">
            <a:solidFill>
              <a:srgbClr val="02809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5887" y="1490472"/>
            <a:ext cx="5108295" cy="246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1" i="0">
                <a:solidFill>
                  <a:srgbClr val="028090"/>
                </a:solidFill>
                <a:latin typeface="Arial"/>
              </a:rPr>
              <a:t>Что не получается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5887" y="1846650"/>
            <a:ext cx="5108295" cy="2441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сохранить независимость двух мнений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удержать преимущество там, где человек сильнее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заметить, что распределение входящих случаев сдвинулось</a:t>
            </a:r>
          </a:p>
          <a:p>
            <a:pPr algn="l">
              <a:lnSpc>
                <a:spcPct val="126000"/>
              </a:lnSpc>
            </a:pPr>
            <a:r>
              <a:rPr sz="1450" b="0" i="0">
                <a:solidFill>
                  <a:srgbClr val="21295C"/>
                </a:solidFill>
                <a:latin typeface="Arial"/>
              </a:rPr>
              <a:t>• назначить ступень участия: её не записывает никто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888090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Семь действий стадии скрининга — и три, на которых включается модель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307592" cy="6398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Без модели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0240" y="1335024"/>
            <a:ext cx="2236393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02536" y="1380744"/>
            <a:ext cx="2071801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Назначить порог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202353" y="1622964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30953" y="1335024"/>
            <a:ext cx="2236393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13249" y="1380744"/>
            <a:ext cx="2071801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Позвать по списку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713067" y="1622964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941667" y="1335024"/>
            <a:ext cx="2236393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23963" y="1380744"/>
            <a:ext cx="2071801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Снять снимок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223781" y="1622964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52381" y="1335024"/>
            <a:ext cx="2236393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34677" y="1380744"/>
            <a:ext cx="2071801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Прочесть двоим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2230945"/>
            <a:ext cx="1307592" cy="6398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…и дальше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20240" y="2194369"/>
            <a:ext cx="3073298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02536" y="2240089"/>
            <a:ext cx="2908706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Арбитраж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039258" y="2482310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267858" y="2194369"/>
            <a:ext cx="3073298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50154" y="2240089"/>
            <a:ext cx="2908706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Сообщить исход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386876" y="2482310"/>
            <a:ext cx="182880" cy="137160"/>
          </a:xfrm>
          <a:prstGeom prst="rightArrow">
            <a:avLst/>
          </a:prstGeom>
          <a:solidFill>
            <a:srgbClr val="1C729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615476" y="2194369"/>
            <a:ext cx="3073298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97772" y="2240089"/>
            <a:ext cx="2908706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Отсортировать поток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090291"/>
            <a:ext cx="1307592" cy="63988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065A82"/>
                </a:solidFill>
                <a:latin typeface="Arial"/>
              </a:rPr>
              <a:t>Где включается модель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20240" y="3053715"/>
            <a:ext cx="3158642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2536" y="3099435"/>
            <a:ext cx="2994050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Прочесть двоим — шведская программа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225186" y="3053715"/>
            <a:ext cx="3158642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07482" y="3099435"/>
            <a:ext cx="2994050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Сообщить исход — глазное дно на приёме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30132" y="3053715"/>
            <a:ext cx="3158642" cy="713041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651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12428" y="3099435"/>
            <a:ext cx="2994050" cy="62160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0" i="0">
                <a:solidFill>
                  <a:srgbClr val="21295C"/>
                </a:solidFill>
                <a:latin typeface="Arial"/>
              </a:rPr>
              <a:t>Отсортировать поток — чат-бот первой линии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3803333"/>
            <a:ext cx="11185855" cy="2112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Семь действий стадии — и три шага, на которых включается модель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820191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65760"/>
            <a:ext cx="11185855" cy="8412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300" b="1" i="0">
                <a:solidFill>
                  <a:srgbClr val="21295C"/>
                </a:solidFill>
                <a:latin typeface="Arial"/>
              </a:rPr>
              <a:t>Москва, профилактический поток: сколько снимков не открывает человек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335024"/>
            <a:ext cx="11185855" cy="3434729"/>
          </a:xfrm>
          <a:prstGeom prst="roundRect">
            <a:avLst>
              <a:gd name="adj" fmla="val 8874"/>
            </a:avLst>
          </a:prstGeom>
          <a:solidFill>
            <a:srgbClr val="F4F7FA"/>
          </a:solidFill>
          <a:ln w="19050">
            <a:solidFill>
              <a:srgbClr val="1C729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9344"/>
            <a:ext cx="10637215" cy="153905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9600" b="1" i="0">
                <a:solidFill>
                  <a:srgbClr val="21295C"/>
                </a:solidFill>
                <a:latin typeface="Arial"/>
              </a:rPr>
              <a:t>55 из ста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5364327" y="3367859"/>
            <a:ext cx="1463040" cy="68580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546167"/>
            <a:ext cx="10637215" cy="2917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</a:pPr>
            <a:r>
              <a:rPr sz="1600" b="1" i="0">
                <a:solidFill>
                  <a:srgbClr val="065A82"/>
                </a:solidFill>
                <a:latin typeface="Arial"/>
              </a:rPr>
              <a:t>профилактических снимков грудной клетки не открывает ни один врач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29324"/>
            <a:ext cx="10637215" cy="25965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8000"/>
              </a:lnSpc>
            </a:pPr>
            <a:r>
              <a:rPr sz="1400" b="0" i="0">
                <a:solidFill>
                  <a:srgbClr val="21295C"/>
                </a:solidFill>
                <a:latin typeface="Arial"/>
              </a:rPr>
              <a:t>315 491 из 575 549 за пять месяцев 2024 года, Москва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280418"/>
            <a:ext cx="10637215" cy="215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4000"/>
              </a:lnSpc>
            </a:pPr>
            <a:r>
              <a:rPr sz="1200" b="0" i="1">
                <a:solidFill>
                  <a:srgbClr val="1C7293"/>
                </a:solidFill>
                <a:latin typeface="Arial"/>
              </a:rPr>
              <a:t>заключение модели уходит прямо в электронную карту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820191"/>
            <a:ext cx="960120" cy="50292"/>
          </a:xfrm>
          <a:prstGeom prst="rect">
            <a:avLst/>
          </a:prstGeom>
          <a:solidFill>
            <a:srgbClr val="F0A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