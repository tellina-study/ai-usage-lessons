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Представьте обычный понедельник мая 2026 года. Аналитик утром открывает сводку Maxar Sentry и видит около двух десятков аномалий, которые система автоматически пометила за прошедшую ночь. Среди них — пара зданий в новом порту в Африке, появившихся между съёмками с интервалом в восемь часов.</a:t>
            </a:r>
          </a:p>
          <a:p/>
          <a:p>
            <a:r>
              <a:t>Что важно в этой картинке для нас, инженеров? Во-первых, аналитика была сделана не глазами человека. Maxar Sentry обучен на архиве объёмом около 250 петабайт спутниковых снимков высокого разрешения за два десятилетия, и его конвейер постоянно сравнивает свежие снимки с базовой линией. Во-вторых, человек всё ещё в петле: он смотрит на «before/after», подтверждает или отвергает гипотезу. AI ускорил Sense, но Decide и Act остались на людях. И в-третьих — это работает в часах от съёмки до сводки, а не в днях.</a:t>
            </a:r>
          </a:p>
          <a:p/>
          <a:p>
            <a:r>
              <a:t>Этот кадр — не победа AI и не его поражение. Это маленький фрагмент длинной цепи, в которой одни звенья AI отдают людям, а в других звеньях люди сознательно оставляют контроль за собой. Именно эту цепь мы сейчас разложим как карту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 9 — седьмой отраслевой в нашем курсе и одной из двух (вместе с медициной), где цена единственной ошибки модели может измеряться не деньгами, а жизнями. В отличие от медицины, где регулятор единый — FDA или EU AI Act — в аэрокосмосе и обороне инженер одновременно встроен в три рамки: гражданская сертификация авиационного ПО, оборонная политика отдельной страны и международное право. Эти три рамки иногда совпадают, иногда конкурируют, и навык находить свой путь между ними — отдельная инженерная компетенция, которую мы будем тренировать сегодня. Тон лекции — trust-but-verify: не евангелизм и не диссидентство. Мы разбираем, что именно работает, где именно ломается и где именно проходит граница, которую инженер не пересекает по решению вендора, а только по решению государства и международного сообщества.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Структура лекции повторяет цепь OODA с одним важным добавлением: там, где звено Act обрезано регулированием, мы посвящаем отдельный раздел. Первый раздел — Sense. Это место, где AI работает лучше всего: данных много, ground truth относительно доступна, цена ложного срабатывания терпима. Здесь разберём спутниковую аналитику Maxar и BlackSky, edge-AI на орбите, predictive maintenance Rolls-Royce и Airbus Skywise, российский слой ТЕРРА ТЕХ и СКАНЭКС — а также три провала. Второй — Decide. Это самое тонкое звено: спрос на ускорение огромен, но галлюцинации больших языковых моделей и automation bias превращаются здесь из лабораторных феноменов в решения о жизнях людей. Здесь Palantir MSS, Scale Donovan, Helsing, Anthropic-Palantir partnership — и канонический разбор Lavender как «accuracy — не та метрика». Третий — Act. Хайп далеко впереди реальности. CCA, X-62A, Saker Scout, Geran-2 — реальные кейсы; MCAS как анти-паттерн safety-critical. Четвёртый — граница и регулирование. Лестница L1-L5, UN GGE, ICRC, Maven walkout и big-tech возврат, триада HITL/HOOL/HOTL. Пятый — сборка: семь критериев, карьерный угол, чтение, замыкание. Центральный вопрос внизу — держите его в голове по ходу всей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этой лекции мы пользуемся шестью ключевыми аббревиатурами на каждом шагу. Этот слайд — не для запоминания наизусть; он работает как табличка-якорь. SAR — это радар с синтезированной апертурой; он формирует изображение по принципу пересчёта эха со множества положений антенны. Это главная альтернатива оптической съёмке для всепогодного мониторинга. ATR — автоматическое распознавание целей; это ML-классификатор, который по сенсорному изображению определяет тип и идентичность объекта. Главный «декорированный» термин в военной AI-рекламе. ISR — зонтичный термин для разведзадач: спутниковая, воздушная, наземная разведка плюс долгосрочное наблюдение. EW — радиоэлектронная борьба, класс действий по подавлению, обману или перехвату сигналов противника; именно EW обычно атакует AI-системы через сенсорный вход. LAWS — летальные автономные системы оружия; термин, вокруг которого идут переговоры в UN GGE. OODA — цикл Боуда, на котором построена вся эта глава. Остальные аббревиатуры — HITL, HOOL, HOTL, CCA, MCAS, IFF, AMRAAM, V-BAT, GNSS, FedRAMP, ROE, IHL — будут расшифрованы по первому упоминанию.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Любая аэрокосмическая или оборонная задача — будь то перехват ракеты, корректировка курса по погоде, мониторинг изменений на территории — может быть разложена на одну и ту же цепочку шагов. Сначала надо увидеть: собрать сигналы из мира с сенсоров, камер, радаров, открытых источников. Это Sense. Затем эти сигналы надо проинтерпретировать и решить: классифицировать объект, оценить угрозу, выбрать вариант реакции. Это Decide. И наконец что-то сделать: дать команду оператору, развернуть систему ПВО, спустить дрон. Это Act.</a:t>
            </a:r>
          </a:p>
          <a:p/>
          <a:p>
            <a:r>
              <a:t>Эту трёхзвенную модель в 1976 году сформулировал американский военный лётчик и теоретик полковник Джон Бойд. Полная аббревиатура — OODA: Observe — Orient — Decide — Act. Мы её используем как несущую ось всей лекции, упростив до трёх звеньев: Sense, Decide, Act.</a:t>
            </a:r>
          </a:p>
          <a:p/>
          <a:p>
            <a:r>
              <a:t>Главное, что нужно унести с этого слайда: AI входит в каждое звено по-разному, и провалы случаются преимущественно на стыках звеньев. В Sense AI работает лучше всего — данных много, ground truth доступна, цена ошибки терпима. В Decide AI работает как ускоритель аналитика, но плохо как замена; здесь LLM-галлюцинации и automation bias масштабируются в крупные ошибки. В Act AI работает в узких сценариях с supervised pilots overhead, но полная автономия в бою в 2026 году — это маркетинг и переговорный концепт, не развёрнутая практика.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Sense в нашей цепи — это сбор и первичная интерпретация сигналов о внешнем мире. В аэрокосмическом и оборонном контексте «сигнал» имеет четыре основных типа. Первый — спутниковая съёмка: оптика, мультиспектр, инфракрасное, радар с синтезированной апертурой. Второй — телеметрия с собственных платформ: данные с двигателей, бортовых систем, расход топлива, виброметрия. Третий — радиосигналы противника: перехват сообщений и анализ электромагнитной обстановки. Четвёртый — открытые источники: социальные сети, новости, коммерческие AIS-данные о судах.</a:t>
            </a:r>
          </a:p>
          <a:p/>
          <a:p>
            <a:r>
              <a:t>Почему Sense — самое благополучное звено? Три причины, которые надо запомнить. Доступная ground truth: снимки спутников можно верифицировать полевым выездом или вторым сенсором; аномалии двигателей — послеполётным досмотром. Терпимая FP-цена: лишний alert на спутниковой аналитике — это потерянное время аналитика, не жизнь. И множество сенсоров: можно строить fusion — слияние нескольких источников, что снижает индивидуальную хрупкость каждой модели. Multi-sensor fusion — это структурное преимущество Sense над Decide и Act, к которому мы будем возвращаться весь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2026 году в коммерческой спутниковой аналитике сложилась устойчивая четвёрка игроков. Maxar Sentry — самый яркий из них. Sentry запущен 25 июня 2025 года как «predictive intelligence suite». Под капотом — ML-модели над архивом около 250 петабайт снимков плюс мульти-сенсорное cross-cueing: электро-оптика, радар с синтезированной апертурой и автоматическая идентификационная система судов. Главный контракт — NGA, программа Luno A D01, в рамках которой Maxar обязан выдавать AI-генерируемые детекции самолётов, кораблей и техники в часах после съёмки. Anti-hype оговорка важна для инженерного слуха. Бренд «AI-derived detection» часто означает не один LLM-class model, а оркестрацию из классических методов компьютерного зрения, change detection и multi-sensor tipping. Это нормально и инженерно правильно — маркетинговый язык опережает технический. Когда вы будете оценивать вакансию или предложение от подобного вендора, помните: за словом «AI» может стоять и foundation model, и хорошо отлаженный pipeline классических методов. Это разные инженерные стеки.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Четвёрка коммерческих игроков формирует рынок 2026 года, и у каждого свой стратегический подход. BlackSky сделал ставку на малые спутники с высокой частотой revisit. Их Gen-3 спутники работают со Spectra AI, который делает CNN-классификацию и change detection. Planet Labs — самая массовая сеть с сотнями малых спутников Dove и ежедневным глобальным покрытием. Главный контракт — NRO EOCL. Capella Space и ICEYE — SAR-операторы. Преимущество SAR — всепогодная съёмка, способность видеть сквозь облака и ночью. Главное применение — морское наблюдение, отслеживание «теневого флота», мониторинг военной инфраструктуры. Capella сотрудничает с NGA, ICEYE — финский оператор с активными контрактами в Украине и НАТО. Структурный takeaway: вы не выбираете «лучшего» вендора. Вы выбираете правильный сенсор и правильную частоту покрытия для вашей задачи. AI работает поверх этого выбора, а не вместо него.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большой коммерческой аналитикой развивается отдельная линия — edge AI on-orbit. Это ML-вычисления прямо на спутнике, без передачи сырого сигнала на землю. Цель — снизить латентность и ширину канала: вместо мегабайтов сырого изображения передаётся килобайт сводки «вот тут изменение».</a:t>
            </a:r>
          </a:p>
          <a:p/>
          <a:p>
            <a:r>
              <a:t>Программы 2024-2026 года группируются в четыре категории. Демонстраторы: ESA Φ-sat-2 — европейский demonstration satellite с remote-upgradable ML-моделями. После запуска модель можно дообучить и заменить новым весом по телекомандам, без замены оборудования. AI-eXpress 1+ от Planetek Italia — серия европейских edge-computing спутников на NVIDIA Jetson Orin NX.</a:t>
            </a:r>
          </a:p>
          <a:p/>
          <a:p>
            <a:r>
              <a:t>Production telemetry: Lockheed Pony Express 2 + T-TAURI — американский военный production-аналог. Это уже не demo, это инфраструктура. SDA tracking: Slingshot Agatha + TALOS — 204 сенсора в 21 локации на 5 континентах плюс ML-«отпечатки» спутников по фотометрическому паттерну. Это не ISR в смысле наблюдения за землёй, это наблюдение за самим космосом.</a:t>
            </a:r>
          </a:p>
          <a:p/>
          <a:p>
            <a:r>
              <a:t>Commercial archive: TerraTech от Роскосмоса — гражданская коммерческая edge-аналитика. Adoption-направление по Sense — растёт быстро.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российском контексте Sense развивается тремя путями, и публичная часть из этих путей — гражданская спутниковая аналитика.</a:t>
            </a:r>
          </a:p>
          <a:p/>
          <a:p>
            <a:r>
              <a:t>ТЕРРА ТЕХ — дочерняя структура Роскосмоса, основана в 2017 году. Предоставляет digital services на пространственных данных. Главный публичный кейс — мониторинг сельскохозяйственных земель в странах БРИКС по соглашению 2024 года. Точный объём и эффективность не публикуются — это не PR в смысле «ничего нет», но и не полная transparency.</a:t>
            </a:r>
          </a:p>
          <a:p/>
          <a:p>
            <a:r>
              <a:t>СКАНЭКС — единственная компания в РФ и СНГ, напрямую принимающая данные дистанционного зондирования Земли на собственные наземные станции. Архив — три с половиной миллиона снимков; эксклюзивный поставщик для Яндекс.Карт. Московский суд ограничил распространение снимков разрешением выше 2 метров — security restriction 2014 года.</a:t>
            </a:r>
          </a:p>
          <a:p/>
          <a:p>
            <a:r>
              <a:t>СПУТНИКС — более 100 кубсатов с 2013 года. Главная констелляция — Зоркий-2М: три спутника на орбите плюс ещё три, мультиспектральная камера 2,5 метра и 4 спектральных канала. Sitronics Group развернул в 2024 году 45 коммерческих кубсатов — 53% всех российских развёртываний этого года.</a:t>
            </a:r>
          </a:p>
          <a:p/>
          <a:p>
            <a:r>
              <a:t>В оборонном Sense российских открытых данных мало. Российский гражданский слой Sense ассимметричен западному: вендоров меньше, объём публикуемых метрик меньше, но реальные операционные кейсы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Помимо разведки, AI в Sense массово работает на собственных аппаратах. Predictive maintenance — это семейство задач: по телеметрии двигателей, систем, бортового оборудования предсказать отказ компонента до того, как он случится, и заменить его на плановом обслуживании, а не на аварийной посадке.</a:t>
            </a:r>
          </a:p>
          <a:p/>
          <a:p>
            <a:r>
              <a:t>Rolls-Royce IntelligentEngine плюс TotalCare работает с 2018 года и сейчас представляет собой digital twin каждого летающего двигателя плюс ML-конвейеры на телеметрии. Стек публичный: Microsoft Azure data lake, поверх него Databricks lakehouse, далее ML pipelines. Главная метрика — около 400 непланированных событий обслуживания предотвращаются в год.</a:t>
            </a:r>
          </a:p>
          <a:p/>
          <a:p>
            <a:r>
              <a:t>Airbus Skywise — более широкая платформа. К концу 2024 года к платформе подключены около 11 600 самолётов; около 40 авиакомпаний на расширенной подписке SFP+, что покрывает около 1 500 ВС. easyJet с использованием Skywise сообщил об экономии топлива около 8,1 тонны на ВС в год и о 44 предотвращённых отменах рейсов.</a:t>
            </a:r>
          </a:p>
          <a:p/>
          <a:p>
            <a:r>
              <a:t>Что важно для нашего инженерного слуха: это не пилот, это не лаборатория, это рабочая инфраструктура, которая обслуживает каждый день тысячи коммерческих самолётов. В оборонном секторе аналог — F-35 ALIS, и его преемник ODIN. О том, почему ALIS не сработал —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F-35 ALIS — система предиктивного обслуживания истребителя F-35. К концу 2010-х превратился в источник проблем. Высокая ложноположительная активность: ALIS помечал самолёт как «no-fly» когда никакой реальной проблемы не было. Неточные данные: GAO в отчёте 2020 года сообщал — «Inaccurate and missing data have at times resulted in the system signalling that an F-35 should not be flown — even though aircraft had no issues». Adversarial UX: пользоваться ALIS было настолько сложно, что персонал систематически обходил систему. Cost-per-flight-hour к пику — $42-44 тысячи, выше чем у F-22.</a:t>
            </a:r>
          </a:p>
          <a:p/>
          <a:p>
            <a:r>
              <a:t>Финальная версия ALIS — июнь 2024, начался переход на ODIN — government-owned, с явно отделённой flight-clearance authority, с disconnected mode.</a:t>
            </a:r>
          </a:p>
          <a:p/>
          <a:p>
            <a:r>
              <a:t>Урок номер один. Predictive maintenance в безопасностно-критичной области работает только при выполнении трёх условий: быстрый feedback loop, доступная ground truth, FP-cost меньше или равно FN-cost. ALIS нарушил все три. ODIN строится в явной осведомлённости об этом нарушении. Урок номер два. Тот же триплет применим к любой predictive-системе — от мониторинга турбин до диагностики промышленных линий.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провальный кейс Sense — adversarial-атаки на SAR ATR. Идея проста: classifier обучен распознавать танки и пусковые установки по SAR-снимкам; противник размещает на технике дешёвые металлические рассеиватели в специальной геометрии, и classifier начинает неправильно классифицировать объекты. Урок. Стандартный benchmark accuracy обманчив для adversarial-доменов. Защита требует трёх вещей одновременно: Bayesian uncertainty estimates, adversarial training, и abstention pathway — модель эскалирует к человеку, а не выбирает «наиболее вероятный» класс.</a:t>
            </a:r>
          </a:p>
          <a:p/>
          <a:p>
            <a:r>
              <a:t>Третий провальный кейс Sense — GPS-spoofing гражданской авиации. AI как таковой ни при чём — но кейс демонстрирует фундаментальную хрупкость GNSS-зависимых систем. По данным Латвии, в 2024 году зарегистрировано 820 случаев интерференции против 26 в 2022 — тридцатидвухкратный рост. Атрибуция к российским средствам РЭБ — Krasukha-4, Borisoglebsk-2; зона включает Чёрное море и Восточную Европу.</a:t>
            </a:r>
          </a:p>
          <a:p/>
          <a:p>
            <a:r>
              <a:t>Урок. GNSS-only — это single point of failure. Защита — multi-GNSS, INS-fallback, eLORAN. Spillover-проблема: военный РЭБ-эффект распространяется на не-комбатантов: гражданские самолёты регулярно попадают в зоны искажённого GPS. Защита GNSS — collective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разобранных провалов извлекаем два критерия для звена Sense. Это первые два из общей нумерации матрицы Раздела 5.</a:t>
            </a:r>
          </a:p>
          <a:p/>
          <a:p>
            <a:r>
              <a:t>Критерий первый — распределение. Низкая плотность данных или неминуемый distribution shift. Если домен редкий или входное распределение меняется в полёте, ML-классификатор не успеет выучить. Классическая обработка сигналов плюс multi-sensor fusion стоит дешевле и даёт больше предсказуемости.</a:t>
            </a:r>
          </a:p>
          <a:p/>
          <a:p>
            <a:r>
              <a:t>Критерий второй — single-sensor. High-stakes single-sensor decision без избыточности. Если решение принимается на одном сенсоре и его стоимость ошибки высокая, AI на этом сенсоре — это single point of failure. Минимум — независимый второй канал. Канонический контрпример — ALIS без HITL для flight authorisation.</a:t>
            </a:r>
          </a:p>
          <a:p/>
          <a:p>
            <a:r>
              <a:t>Подытог раздела Sense. Самое благополучное звено OODA для AI. В коммерческой спутниковой аналитике AI уже работает в часах от съёмки до сводки; в predictive maintenance гражданской авиации AI обслуживает тысячи самолётов. Дальше переходим к самому тонкому звену цепи —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Decide в OODA — это переход от наблюдения к выбору действия. Семейство задач: mission planning, target identification, multi-source fusion, decision support для командира.</a:t>
            </a:r>
          </a:p>
          <a:p/>
          <a:p>
            <a:r>
              <a:t>В отличие от Sense, где ML опирается на сенсорные features, в Decide LLM и foundation models обрабатывают смешанный input: текстовые отчёты, изображения, тактические карты, бортовые телеметрии. Это территория multi-modal foundation models — Anthropic, OpenAI, DeepSeek, Qwen, Palantir, Scale, Helsing.</a:t>
            </a:r>
          </a:p>
          <a:p/>
          <a:p>
            <a:r>
              <a:t>Главный для нашего слуха момент я хочу проиллюстрировать одним числом: 10 процентов от 37 тысяч — это 3 700. Эта арифметика — это пред-просмотр канонического разбора Lavender. Если модель ошибается в 10 процентах случаев и применяется к 37 тысячам человек, ошибка масштабируется в тысячи людей. «Accuracy» как метрика проектировалась под симметрию FP и FN. В life-and-death это никогда не правда. FP — это жизнь невинного человека, и эта жизнь дороже, чем «упустить оперативника». Метрика «accuracy» обнуляется в этом контексте.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американский decision-support флагман — Palantir Maven Smart System. История начинается с Project Maven в 2017 году — программа DoD по анализу drone footage. В марте 2018 года через утечку стало известно, что Google помогает; к июню 2018 контракт с Google не был продлён под давлением сотрудников. Программа была подхвачена Anduril, Palantir и Scale.</a:t>
            </a:r>
          </a:p>
          <a:p/>
          <a:p>
            <a:r>
              <a:t>MSS — UI-orchestration layer Palantir над Maven AI. Контракты: первый IDIQ на 480 миллионов в мае 2024 года; дополнение на 99,8 миллиона в сентябре 2024 года; увеличение потолка на 795 миллионов в мае 2025 года. Суммарный потолок — около 1,3 миллиарда долларов до 2029 года.</a:t>
            </a:r>
          </a:p>
          <a:p/>
          <a:p>
            <a:r>
              <a:t>Capability — fusion мульти-источниковой разведки, AI-assisted target nomination, дашборды. Уровень автономии — L1, Assistive. AI выдаёт детекции и сводки, командир решает. Никаких kinetic engagements MSS сам не делает.</a:t>
            </a:r>
          </a:p>
          <a:p/>
          <a:p>
            <a:r>
              <a:t>Что инженеру важно: Palantir выиграл рынок не только моделями, но инфраструктурным стеком — FedRAMP HIGH, авторизация на нескольких уровнях classified networks. Когда оцениваете defense-AI вендора, разделяйте две оси: AI capability и authorization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Помимо Palantir в decision-support сегменте 2026 года ещё два крупных игрока. Первый — Scale AI. Три продукта в одной линии — это эволюция. Donovan — decision-support LLM на classified networks, развёрнутый в XVIII Airborne Corps в 2022-2023 годах. 100 тысяч плюс страниц orders, SitReps, intel прошли через него. Donovan был первым LLM, развёрнутым в US classified network. В ноябре 2024 — Defense Llama, fine-tuned Llama 3 на defense corpus. И в марте 2025 — Thunderforge: wargaming плюс COA generation, используется в CENTCOM и INDOPACOM. Авторизация — FedRAMP HIGH, развёртывание на трёх уровнях classified networks.</a:t>
            </a:r>
          </a:p>
          <a:p/>
          <a:p>
            <a:r>
              <a:t>Второй — Helsing. Главный европейский игрок в defense-AI. Altra — fusion ISR-дронов плюс наблюдателей-spotters для land combat. Параллельно Helsing развивает Centaur — AI-пилота; в июне 2025 года успешно прошли испытания на Saab Gripen E. Финансы — 600 миллионов евро раунд D в июне 2025, оценка — 12 миллиардов евро. Главный инвестор — Prima Materia под управлением Дэниэла Эка, со-основателя Spotify.</a:t>
            </a:r>
          </a:p>
          <a:p/>
          <a:p>
            <a:r>
              <a:t>Если ваш карьерный интерес — европейская defense-AI индустрия, Helsing и UK Ministry of Defence — главные адреса.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 — Anthropic-Palantir-AWS partnership от 7 ноября 2024. Anthropic вывел свои модели Claude 3 и 3.5 на IL6 — Impact Level 6, высший US gov-cloud уровень секретности — через Palantir и AWS GovCloud. Use cases: complex data processing, pattern identification, time-sensitive decisions. Это точка инфлексии в industry posture — между Maven walkout 2018 и этим partnership всего шесть лет, и AI-индустрия прошла полный цикл. Разбор в Разделе 4.5.</a:t>
            </a:r>
          </a:p>
          <a:p/>
          <a:p>
            <a:r>
              <a:t>Пятый кейс — российский C2. По CSIS Bondar апрель 2026, Россия строит экосистему network-centric warfare. Svod Tactical Situational Awareness Complex — объявлен в августе 2025, разработка с 2024, экспериментальное развёртывание с осени 2025. Glaz — приложения для операторов дронов. Groza — fire-control и mission management. ZOV Maps — геопространственная платформа.</a:t>
            </a:r>
          </a:p>
          <a:p/>
          <a:p>
            <a:r>
              <a:t>Caveat single-source. Information поступает из двух источников: Russian official press и CSIS-аналитика. Independent western verification отсутствует. Effectiveness — uneven. Мы упоминаем эти системы потому, что они существуют как попытка. Не упоминать был бы перекос; некритично сообщать как success — была бы пропаганда. Мы выбираем промежуточный путь: упомянуть с явной оговоркой. Это лучший паттерн работы с непроверяемыми данными вообще — не «верить» и не «отвергать», а явно маркировать уровень доказательности.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педагогический провал звена Decide — IDF Lavender, AI-система массовой идентификации целей в Газе 2023-2024.</a:t>
            </a:r>
          </a:p>
          <a:p/>
          <a:p>
            <a:r>
              <a:t>Что произошло. Lavender — AI-database, помечающая палестинских мужчин как «подозреваемых» по паттернам коммуникации. Около 37 000 человек помечено. По собственному признанию ЦАХАЛ, точность около 90% — то есть около 3 700 человек false positive. Среднее время review одной цели — около 20 секунд. Авторизованный «сопутствующий ущерб» — до 15-20 гражданских жертв на одного оперативника низшего звена.</a:t>
            </a:r>
          </a:p>
          <a:p/>
          <a:p>
            <a:r>
              <a:t>Уроки три.</a:t>
            </a:r>
          </a:p>
          <a:p/>
          <a:p>
            <a:r>
              <a:t>Урок первый. «Accuracy %» — не та метрика для life-and-death. Правильная метрика — false positive consequence × population × frequency. В медицине false negative дороже false positive — система настраивается на высокую sensitivity. В Lavender — наоборот: FP — жизнь невинного человека. Но система проектировалась под симметрию.</a:t>
            </a:r>
          </a:p>
          <a:p/>
          <a:p>
            <a:r>
              <a:t>Урок второй. AI снимает фрикцию decision-making → темпы вырастают → качество deliberation падает. Снимая фрикцию, AI масштабирует не качество решения, а его скорость. В life-and-death катастрофично.</a:t>
            </a:r>
          </a:p>
          <a:p/>
          <a:p>
            <a:r>
              <a:t>Урок третий. Human-in-the-loop не равно human-in-the-decision. 20 секунд проверки — это не review, это формальное подтверждение. Если HITL вырождается в подпись без осмысления, это HOTL под маской HITL. Engineering decision «сколько времени у оператора» — это формальная категоризация системы.</a:t>
            </a:r>
          </a:p>
          <a:p/>
          <a:p>
            <a:r>
              <a:t>Альтернатива не «давайте сделаем Lavender точнее». Альтернатива — изменение архитектуры: AI ассистирует triage, human keeps authority с реальным временем на review. AI — accelerator, не decision-maker.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звена Decide — Russian Lancet ATR rollback, 2022-2024. Канонический кейс для LO2: отличить демо от продакшена.</a:t>
            </a:r>
          </a:p>
          <a:p/>
          <a:p>
            <a:r>
              <a:t>Маркетинг 2022-23: «autonomously find and hit target», видео с интерфейсом «Target Locked». Анализ CSIS / MWI 2024: AI-guidance off после первоначальных развёртываний. Последние video drops без autonomous-locking UI. Гипотеза: premature product rollout с последующим recall. ATR работал в demo-conditions, но не в реальных: пыль, дым, EW, новые маскировки. Это урок не Lancet-specific. ML performance в narrow distribution не переносится на full battlefield. Применимо ко всем ATR-системам, drone autonomy claims, autonomous targeting рекламам.</a:t>
            </a:r>
          </a:p>
          <a:p/>
          <a:p>
            <a:r>
              <a:t>Третий провал — USS Vincennes 1988. 3 июля крейсер сбил иранский гражданский Airbus A300, погибли 290 человек. Aegis-система корректно записала track как climbing — характеристика гражданского самолёта. Операторы под стрессом доложили «descending into attack». Не баг алгоритма — automation выполнил работу. Сбой на интерфейсе под combat stress.</a:t>
            </a:r>
          </a:p>
          <a:p/>
          <a:p>
            <a:r>
              <a:t>Почему это про LLM. В современных LLM-системах структурно похожая проблема: LLM выдаёт fluent confident output — текст хорошо написан и звучит уверенно, — и оператор под временным давлением склонен принять его, не верифицируя источники. Confident BS = high-risk confident BS в high-stakes. Урок 1988 года прямо применим к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разобранных провалов извлекаем два критерия для звена Decide — критерии 3 и 4.</a:t>
            </a:r>
          </a:p>
          <a:p/>
          <a:p>
            <a:r>
              <a:t>Критерий третий — long-tail. Long-tail edge cases с низкой ML confidence. Если задача — decision в области, где модель часто встречается с примерами вне обучающего распределения, automation bias масштабирует ошибки. Здесь нужен structured abstention: AI говорит «не знаю» и эскалирует. Engineering: calibrated uncertainty, explicit threshold для эскалации, UI который показывает неуверенность.</a:t>
            </a:r>
          </a:p>
          <a:p/>
          <a:p>
            <a:r>
              <a:t>Критерий четвёртый — life-and-death без HITL. Cost-asymmetry FP↔FN слишком велика для чисто статистического решения. Lavender — канонический контрпример. Формальный HITL обязателен — и должен быть реальным, не вырожденным в 20-сек подпись.</a:t>
            </a:r>
          </a:p>
          <a:p/>
          <a:p>
            <a:r>
              <a:t>Подытог Раздела 2. Decide — звено, где LLM-хайп опаснее всего. Доступны мощные инструменты — MSS, Donovan, Defense Llama, Helsing, Anthropic IL6. Параллельно — Lavender показывает wrong metric; Lancet — demo ≠ production; Vincennes — UI под стрессом и confident BS. Два критерия — long-tail и life-and-death без real HITL.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 в OODA — это последнее звено: AI исполняет действие, не только наблюдает или рекомендует. Pilot-class autonomy, swarm coordination, counter-drone autonomy, industrial robotics.</a:t>
            </a:r>
          </a:p>
          <a:p/>
          <a:p>
            <a:r>
              <a:t>Adoption растёт быстро по числу платформ, но большая часть combat-strikes остаётся operator-in-loop или semi-auto terminal guidance. «AI заменит пилотов» — overhyped; «AI заменит наводчиков» — overhyped; «AI заменит командиров» — overhyped. Реальность — collaborative pilots с supervised AI.</a:t>
            </a:r>
          </a:p>
          <a:p/>
          <a:p>
            <a:r>
              <a:t>Особое место в Act — counter-drone autonomy. Главная причина роста — асимметрия: 300-долларовый дрон против 3-миллионной зенитной ракеты Patriot. Заменить три миллиона на сравнимый по цене AI-perimeter-defence — это инженерная и экономическая необходимость, и это пространство explosive growth в 2026.</a:t>
            </a:r>
          </a:p>
          <a:p/>
          <a:p>
            <a:r>
              <a:t>Когда вы оцениваете defense-AI вакансию или продукт, держите в голове эту cost-asymmetry. Если экономика боя сместилась в сторону «дешёвый attacker против дорогой defence», AI оказывается основным механизмом перестройки.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Anduril Fury YFQ-44A — Beautiful poster child современной американской ставки на автономию. CCA — Collaborative Combat Aircraft — программа ВВС США по созданию беспилотных wingmen, летающих рядом с пилотируемыми истребителями. Fury YFQ-44A — Increment 1.</a:t>
            </a:r>
          </a:p>
          <a:p/>
          <a:p>
            <a:r>
              <a:t>Спецификации: высота до 50 000 футов, скорость 0,95 Маха, перегрузка 9g, двигатель Williams FJ44-4M на 4 000 фунтов тяги. Главное вооружение — AIM-120 AMRAAM. Первый полёт состоялся 31 октября 2025. Серийное производство стартовало 23 марта 2026 на новом заводе Arsenal-1 в Огайо — миллиард долларов инвестиций.</a:t>
            </a:r>
          </a:p>
          <a:p/>
          <a:p>
            <a:r>
              <a:t>Управляется Fury стеком: Hivemind (Shield AI autonomy stack) плюс Lattice (Anduril proprietary OS для autonomous mesh-coordination). Уровень автономии — L3, Supervised autonomy: AI executes в pre-authorised envelope, wingman сверху supervises.</a:t>
            </a:r>
          </a:p>
          <a:p/>
          <a:p>
            <a:r>
              <a:t>Что вынести: 2026 год — первый год CCA serial production. Стандартом для defense-AI в воздушных платформах становится L3 Supervised: AI делает работу, человек сверху смотрит, человек авторизует key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DARPA ACE X-62A VISTA — первый в мире AI-vs-человек воздушный бой в реальном времени. Хронология: декабрь 2022 — начало испытаний; февраль 2023 — 12 полётов в Эдвардсе; сентябрь 2023 — первый AI-vs-manned F-16 dogfight: 2 000 футов nose-to-nose на 1 200 миль/ч; май 2024 — секретарь USAF Кендалл лично летал в AI-управляемом X-62A. 100 000+ строк flight-critical software; 21 испытательный полёт.</a:t>
            </a:r>
          </a:p>
          <a:p/>
          <a:p>
            <a:r>
              <a:t>Anti-hype: X-62A — narrow scripted scenario. Один-на-один dogfight в известной зоне, BVR-критерии исключены, fuel management не покрыт, ROE не учитывался. «AI заменит пилотов» в 2026 — маркетинговая экстраполяция от узкого demo. Реальность ближе к collaborative supervised CCA (Fury) — wingman, не replacement.</a:t>
            </a:r>
          </a:p>
          <a:p/>
          <a:p>
            <a:r>
              <a:t>Saker Scout — один из combat-tested AI-loitering munitions. Идентифицирует до 64 целей; дальность около 10 км; CV-классификация для target ID; EW-resistant. Часть Brave1 — государственной платформы Украины (300+ AI dev). Первый полностью unmanned ground operation — декабрь 2024 (UGV + FPV без пехоты). В 2025 — AI-mother-drone, доставляющая 2 AI-FPV strike дрона за 300 км.</a:t>
            </a:r>
          </a:p>
          <a:p/>
          <a:p>
            <a:r>
              <a:t>Уровень — L2, Semi-auto perception. AI рекомендует target lock, оператор подтверждает. Именно Saker, а не X-62A, представляет настоящее лицо Act-автономии в 2026 году: L2, не L4-L5.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Geran-2 — российская модификация иранского Shahed-136, производится на Алабугской ОЭЗ. К концу 2025 — около 2 700-3 000 в месяц. Общий объём &gt;26 000 к поздней весне 2025, план &gt;40 000 к концу года. Эти цифры — [VFY-day-of].</a:t>
            </a:r>
          </a:p>
          <a:p/>
          <a:p>
            <a:r>
              <a:t>AI-эволюция: wreckage-анализ показывает NVIDIA Jetson onboard, high-res камеры, тепловизионные модули, FPGA для EW-resistance. В 2026 появился anti-radiation seeker.</a:t>
            </a:r>
          </a:p>
          <a:p/>
          <a:p>
            <a:r>
              <a:t>Caveat по «автономии». Wreckage подтверждает onboard ML, но реальная роль autonomous decision quality vs operator override — unclear. Большая часть strikes — operator-guided + GPS-guided. «Autonomy» в смысле «решает сама» — overstated.</a:t>
            </a:r>
          </a:p>
          <a:p/>
          <a:p>
            <a:r>
              <a:t>Supply-chain каверз. 1 111 серверов Dell PowerEdge XE9680 через индийскую Shreya Life Sciences в апреле-августе 2024. Это и риск для адверсаров, и инженерный урок: hardware supply-chain — strategic risk.</a:t>
            </a:r>
          </a:p>
          <a:p/>
          <a:p>
            <a:r>
              <a:t>Cognitive Pilot — civilian dual-use balance. JV Сбер плюс Cognitive Technologies. Применения: КАМАЗ-комбайны, тракторы СберАгро, городской транспорт, железная дорога. Stack: CV + радар + LiDAR. План — до 50 000 систем/год. НЕ identified as defense supplier. Те же стеки работают в CAD/CAM (Лекция 6) и в промышленной автоматизации (Лекция 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 канонический провал Act — Boeing 737 MAX MCAS. Два крушения: Lion Air 610 (29 октября 2018, 189 KIA) и Ethiopian Airlines 302 (10 марта 2019, 157 KIA). Суммарно 346 погибших. 20-месячная остановка эксплуатации в США; международная un-grounding до 2022.</a:t>
            </a:r>
          </a:p>
          <a:p/>
          <a:p>
            <a:r>
              <a:t>Что произошло. Boeing 737 MAX получил большие двигатели, что сместило аэродинамический центр. Решение Boeing — программное: MCAS, автоматически корректирующая trim вниз. MCAS активировался по одному AoA-сенсору, без резервирования. Когда сенсор давал ложное показание, пилот не мог override — не было ни тренировок, ни понимания, что система делает.</a:t>
            </a:r>
          </a:p>
          <a:p/>
          <a:p>
            <a:r>
              <a:t>Строго говоря, MCAS — не AI: это classical control с if-then логикой. Но pedagogically — canonical anti-pattern для всех safety-critical AI.</a:t>
            </a:r>
          </a:p>
          <a:p/>
          <a:p>
            <a:r>
              <a:t>Уроки. Один: redundancy — никогда не делать safety-critical системы зависимыми от single sensor. Второй: transparency — operator должен знать, что система делает. Третий: SPOF analysis обязателен в FMEA/FTA. Четвёртый: software cannot solve hardware shortfalls.</a:t>
            </a:r>
          </a:p>
          <a:p/>
          <a:p>
            <a:r>
              <a:t>Patriot mini-callback. Friendly fire 2003 (RAF Tornado + USN F/A-18C, оба сбиты собственными Patriot) и украинский F-16 2024. Automation bias: когда система «лучше человека» по статистике, операторы перестают активно мониторить. Mitigation — системный подход, не single ML upgrade.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разобранных провалов извлекаем два критерия для звена Act — критерии 5 и 6.</a:t>
            </a:r>
          </a:p>
          <a:p/>
          <a:p>
            <a:r>
              <a:t>Критерий пятый — автономия не нужна. Канонический контрпример — MCAS: автоматическая корректировка триммирования была «решением» проблемы, которой могло не быть в первую очередь. Если ваша задача — auto-correct физическую проблему, сначала пересмотрите hardware. Software для compensation hardware shortfall — индикатор более глубокой проблемы.</a:t>
            </a:r>
          </a:p>
          <a:p/>
          <a:p>
            <a:r>
              <a:t>Критерий шестой — COTS sensor дешевле. COTS — Commercial Off-The-Shelf. Если проблема решается hardware redundancy, не делайте ML на проблеме, которая решается железом. Второй AoA-сенсор на 737 MAX стоил бы порядки меньше.</a:t>
            </a:r>
          </a:p>
          <a:p/>
          <a:p>
            <a:r>
              <a:t>Подытог Раздела 3. Act — звено, где hype далеко впереди реальности. Программы автономии растут быстро. Но большинство strikes остаётся operator-in-loop. Дальше — мета-уровень: где звено Act обрезано регулированием.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границе «где можно, где нельзя», нужна общая шкала. В индустрии используется лестница L1-L5 — концептуальный аналог SAE-уровней для cars. К 2026 году L1-L5 сложилась как наиболее цитируемая операциональная шкала.</a:t>
            </a:r>
          </a:p>
          <a:p/>
          <a:p>
            <a:r>
              <a:t>Ключ — на каждом уровне явно сказано, что делает AI и что делает человек. Без этого «уровень» — пустое слово.</a:t>
            </a:r>
          </a:p>
          <a:p/>
          <a:p>
            <a:r>
              <a:t>L1 Assistive — AI выдаёт information, человек решает. Palantir MSS. ms-to-intervention — минуты-часы. L2 Semi-auto — AI рекомендует, человек авторизует. Saker Scout. Секунды. L3 Supervised — AI executes в pre-authorised envelope, человек supervises. Anduril Fury. 100-1000 ms. L4 Pre-authorised — AI engages по pre-set ROE, человек может intervene но не required. Patriot auto, S-400 auto. &lt;100 ms. L5 Full LAWS — AI executes lethal без human authorisation. Currently debated, not deployed.</a:t>
            </a:r>
          </a:p>
          <a:p/>
          <a:p>
            <a:r>
              <a:t>Две границы. L3 ↔ L4 — место инженерного спора. Pre-authorisation envelope насколько узок? L4 ↔ L5 — место юридического спора в UN GGE. Даже Lavender формально требует human approval — 20-сек, — то есть формально L4-edge, не L5.</a:t>
            </a:r>
          </a:p>
          <a:p/>
          <a:p>
            <a:r>
              <a:t>Студент должен уметь сказать про систему: «эта система L3, с envelope шириной X». Это профессиональный язык в этой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GGE on LAWS — основной международный форум переговоров по LAWS. Создан в 2016. За последние три года произошёл сдвиг от «обсуждаем» к «работаем над текстом».</a:t>
            </a:r>
          </a:p>
          <a:p/>
          <a:p>
            <a:r>
              <a:t>Хронология. 5 ноября 2024 — Первый комитет UNGA: 161 за, 3 против, 13 воздержавшихся. Против — Беларусь, КНДР, Россия. 2 декабря 2024 — резолюция 79/62 на пленарном: 166 / 3 / 15. Сентябрь 2025 — UN GGE: 42 государства joint statement; rolling text объявлен достаточной основой. 6 ноября 2025 — Первый комитет, третья подряд: 164 / 6 / 7 по UN press; 156 / 5 / 8 по Stop Killer Robots. Против — Беларусь, Бурунди, КНДР, Израиль, Россия, и теперь США. Это значимый сдвиг.</a:t>
            </a:r>
          </a:p>
          <a:p/>
          <a:p>
            <a:r>
              <a:t>DoD Directive 3000.09. Autonomy in Weapon Systems, 2012, updated 2023. US policy требует HITL для kinetic в большинстве сценариев. Системы по умолчанию в L1-L3, с явным waiver-процессом для L4. US не противник договора в принципе, но опасается жёстких ограничений.</a:t>
            </a:r>
          </a:p>
          <a:p/>
          <a:p>
            <a:r>
              <a:t>Цель Генсека ООН — договор к 2026. Если ваша система проектируется на горизонте 5-10 лет, она почти наверняка будет работать в рамках какого-то ограничения.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Помимо государств, важны два игрока non-state. ICRC — главный международный авторитет по применению международного гуманитарного права. Stop Killer Robots — коалиция 270 НКО из 70 стран.</a:t>
            </a:r>
          </a:p>
          <a:p/>
          <a:p>
            <a:r>
              <a:t>Позиция ICRC. Prohibit: непредсказуемые AWS; AWS против людей. Restrict: все остальные AWS.</a:t>
            </a:r>
          </a:p>
          <a:p/>
          <a:p>
            <a:r>
              <a:t>Этическое ядро: «Ceding life-and-death decisions to machine sensors and software is a dehumanizing process». Делегирование решений о жизни и смерти сенсорам и софту — дегуманизирующий процесс.</a:t>
            </a:r>
          </a:p>
          <a:p/>
          <a:p>
            <a:r>
              <a:t>Процедурное ядро: «It is not the weapon system that must comply with IHL, but the humans using it». Это не оружейная система должна соответствовать международному гуманитарному праву — это люди, использующие её. Я хочу, чтобы вы вынесли эту мысль в карман.</a:t>
            </a:r>
          </a:p>
          <a:p/>
          <a:p>
            <a:r>
              <a:t>Stop Killer Robots. К 2025 — 30 стран явно поддерживают полный запрет: страны Латинской Америки, Африки, ряд арабских, Святой Престол, Китай. Эти две организации — основное non-state pressure. Их goal — fast-track к binding treaty.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 2018 по 2026 произошёл сдвиг в позиции big-tech AI labs относительно оборонной работы. Короткая, но критически важная нарративная арка.</a:t>
            </a:r>
          </a:p>
          <a:p/>
          <a:p>
            <a:r>
              <a:t>Эра 1 — Maven walkout 2018. Google leak март 2018: помогает Пентагону. 4 000+ подписей; ~12 резигнаций; staged walkouts. К июню 2018 Google не продлевает контракт.</a:t>
            </a:r>
          </a:p>
          <a:p/>
          <a:p>
            <a:r>
              <a:t>Эра 2 — vendor replacement 2018-2024. Anduril, Palantir, Scale, Helsing набирают вес. Маркетинговая позиция — «patriotic alternative». Anduril оценен в $30,5B; Palantir — $60B капитализация.</a:t>
            </a:r>
          </a:p>
          <a:p/>
          <a:p>
            <a:r>
              <a:t>Эра 3 — big-tech возврат 2024-2025. Январь 2024 — OpenAI тихо удалил ban на military use. Ноябрь 2024 — Anthropic-Palantir-AWS, Claude IL6. Сентябрь 2025 — Google возвращается через Google Cloud.</a:t>
            </a:r>
          </a:p>
          <a:p/>
          <a:p>
            <a:r>
              <a:t>Урок 1. Personal ethics не равно industry regulation. Внутренние этические policy одной фирмы не блокируют adoption military-AI на indust-level — только legal regulation может. Урок 2. «Не работать на DoD» теперь редкая роскошь. Студент 2026 года столкнётся с этим выбором и должен решать его осознанно.</a:t>
            </a:r>
          </a:p>
          <a:p/>
          <a:p>
            <a:r>
              <a:t>Между Maven walkout и Anthropic IL6 — всего 6 лет, и AI-индустрия прошла полный цикл от «отказа как принцип» до «военные контракты — критический revenue stream».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Самая важная mental model этого раздела — триада уровней человеческого контроля. Та же лестница L1-L5, но взгляд с противоположной стороны: что делает не AI, а человек.</a:t>
            </a:r>
          </a:p>
          <a:p/>
          <a:p>
            <a:r>
              <a:t>HITL — Human-In-The-Loop. Человек в каждой decision-point. AI не действует без явной authorisation. Mapping: L1, L2. Примеры: Palantir MSS, Saker Scout operator. HOOL — Human-On-The-Loop. Человек supervises, может intervene, но не required в каждой точке. Mapping: L3, L4. Fury CCA wingman, Patriot auto. HOTL — Human-Out-of-The-Loop. Человек вне execution-loop, нет real-time intervention. Mapping: L5.</a:t>
            </a:r>
          </a:p>
          <a:p/>
          <a:p>
            <a:r>
              <a:t>Что важно для инженера. Граница HOOL → HOTL — это место, на которое заточены DoD Directive 3000.09 + UN GGE + ICRC. Граница формально определяется engineering decision: сколько ms у оператора на intervention. 10 секунд — HOOL. 200 мс — формально HOOL, фактически HOTL. 5 мс — инженерно HOTL.</a:t>
            </a:r>
          </a:p>
          <a:p/>
          <a:p>
            <a:r>
              <a:t>Engineering takeaway. «Сколько ms на intervention» — формальная категоризация системы с правовыми последствиями. Ответ должен быть зафиксирован в системных требованиях, не в маркетинге.</a:t>
            </a:r>
          </a:p>
          <a:p/>
          <a:p>
            <a:r>
              <a:t>Mitigation: calibrated uncertainty, abstention pathways, structured outputs, mandatory human gates для kinetic. Связь с провалами: Lavender — вырожденный HITL (20 сек → HOTL); MCAS — отсутствие meaningful override.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Геополитический контекст для российского студента-инженера. Россия — одна из стран против резолюций UN LAWS. Ноябрь 2024: 161/3/13; против — Беларусь, КНДР, Россия. Ноябрь 2025: 164/6/7; против — Беларусь, Бурунди, КНДР, Израиль, Россия, США. Россия в позиции «против» с 2018. Лагерь «против» в 2025 — больше 3 стран, состав политически разнообразен.</a:t>
            </a:r>
          </a:p>
          <a:p/>
          <a:p>
            <a:r>
              <a:t>Мы не предписываем студенту политическую позицию — это его выбор. Но обязаны дать ландшафт.</a:t>
            </a:r>
          </a:p>
          <a:p/>
          <a:p>
            <a:r>
              <a:t>Первое — знать ландшафт. UN GGE, ICRC, голоса UNGA, DoD Directive — базовая профессиональная грамотность, как FAR для civil aviation engineer. Второе — знать, что критерии HITL/HOOL/HOTL и L1-L5 применимы независимо от geopolitical alignment. Engineering design определяется одинаково. Третье — делать осознанный выбор. Можно работать в гражданском dual-use, в обороне L1-L2, в обороне L3-L4. Каждый — правомерный, но разный.</a:t>
            </a:r>
          </a:p>
          <a:p/>
          <a:p>
            <a:r>
              <a:t>Это мысль, которую хотим донести: в этой области инженер не остаётся нейтральным — он внутри рамок, и профессионализм проявляется в том, насколько осознанно он эти рамки чувствует.</a:t>
            </a:r>
          </a:p>
          <a:p/>
          <a:p>
            <a:r>
              <a:t>Критерий 7, cross-cutting. Граница HOOL → HOTL — treaty-territory, не engineering. Когда проектируете систему рядом с этой границей, выходите за рамки чистой инженерии в зону международного права.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в одну матрицу все шесть критериев плюс один cross-cutting — итого семь критериев «когда не AI» для аэрокосмической и оборонной области.</a:t>
            </a:r>
          </a:p>
          <a:p/>
          <a:p>
            <a:r>
              <a:t>В Sense — два. Первый: low-data domain или distribution shift. Иллюстрация — adversarial SAR ATR. Второй: high-stakes single-sensor без избыточности. Иллюстрация — F-35 ALIS без HITL.</a:t>
            </a:r>
          </a:p>
          <a:p/>
          <a:p>
            <a:r>
              <a:t>В Decide — два. Третий: long-tail edge cases с low ML confidence — нужна abstention. Четвёртый: high-stakes life-and-death без HITL. Канонический контрпример — Lavender.</a:t>
            </a:r>
          </a:p>
          <a:p/>
          <a:p>
            <a:r>
              <a:t>В Act — два. Пятый: автономия не нужна, человек медленнее. Канонический пример — 737 MAX MCAS как «решение проблемы, которой не было». Шестой: COTS sensor дешевле и надёжнее.</a:t>
            </a:r>
          </a:p>
          <a:p/>
          <a:p>
            <a:r>
              <a:t>Один cross-cutting, седьмой: граница HOOL → HOTL — это treaty-territory, не engineering. Это про LAWS и UN GGE.</a:t>
            </a:r>
          </a:p>
          <a:p/>
          <a:p>
            <a:r>
              <a:t>Главное в матрице — она инструмент. Прогоните предлагаемое AI-решение через эти семь критериев. Если хоть один срабатывает — это не «нельзя», это «нужен redesign». Если несколько — пересмотр фундаментального подхода. Эта матрица — не догма; она работает в 2026 с теми данными, которые есть. Рабочий инструмент.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 агитации — где в этой области реальные карьерные пути.</a:t>
            </a:r>
          </a:p>
          <a:p/>
          <a:p>
            <a:r>
              <a:t>Пять инженерных профилей. CV/DL specialist — спутниковая аналитика (Maxar/BlackSky), defense ML (Palantir, Helsing), perception для drones (Shield AI). ML/RL — autonomous platforms (CCA), drone swarms, gen design для aerospace components. Embedded/edge — on-orbit ML, drone autonomy, on-platform inference. Systems/safety — certification под DO-178C и ARP4754A, FMEA/FTA, redundancy design. Ethics/policy — UN GGE process, ICRC engineering, AI policy.</a:t>
            </a:r>
          </a:p>
          <a:p/>
          <a:p>
            <a:r>
              <a:t>Три контура. Российский dual-use: Cognitive Pilot, VisionLabs (под санкциями), ТЕРРА ТЕХ / СКАНЭКС / СПУТНИКС. Глобальный: Boeing, Airbus, NASA, ESA, Lockheed, Northrop, RTX; Anduril, Palantir, Helsing, Shield AI, Scale. Гражданский без оборонной нагрузки: Wisk Aero, Joby Aviation, Maxar, Planet, BlackSky.</a:t>
            </a:r>
          </a:p>
          <a:p/>
          <a:p>
            <a:r>
              <a:t>Главное — выбор есть, и он не сводится к «либо военная индустрия, либо ничего». Гражданская аэрокосмическая отрасль — полноценное профессиональное поле.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тех, кто хочет идти дальше — семь источников.</a:t>
            </a:r>
          </a:p>
          <a:p/>
          <a:p>
            <a:r>
              <a:t>Первый — книга Пола Скэра «Army of None» 2018, W. W. Norton. Базовая книга по LAWS, доступна на русском. Автор — директор CNAS.</a:t>
            </a:r>
          </a:p>
          <a:p/>
          <a:p>
            <a:r>
              <a:t>Второй — CSIS Bondar апрель 2026: «How Russia is Building a Sovereign Drone Ecosystem». Главный академический разбор. Открытый доступ.</a:t>
            </a:r>
          </a:p>
          <a:p/>
          <a:p>
            <a:r>
              <a:t>Третий — Abraham, +972 / Local Call 2024: «Lavender: The AI machine directing Israel's bombing spree in Gaza».</a:t>
            </a:r>
          </a:p>
          <a:p/>
          <a:p>
            <a:r>
              <a:t>Четвёртый — ICRC Position Paper on AWS 2024.</a:t>
            </a:r>
          </a:p>
          <a:p/>
          <a:p>
            <a:r>
              <a:t>Пятый — DARPA ACE Program briefings 2023-2024. Что реально умеет AI-pilot.</a:t>
            </a:r>
          </a:p>
          <a:p/>
          <a:p>
            <a:r>
              <a:t>Шестой — GAO-20-316 по F-35 ALIS и GAO-22-105943 по ODIN transition.</a:t>
            </a:r>
          </a:p>
          <a:p/>
          <a:p>
            <a:r>
              <a:t>Седьмой — Stop Killer Robots briefs 2025. Регулярные сводки.</a:t>
            </a:r>
          </a:p>
          <a:p/>
          <a:p>
            <a:r>
              <a:t>Все 104 источника главы — в разделе «Источники» в chapter.md, сгруппированы по разделам.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мысль, с которой мы хотим оставить студента: цепь по-прежнему держит инженер. AI вошёл в каждое звено, но он не заменил человека.</a:t>
            </a:r>
          </a:p>
          <a:p/>
          <a:p>
            <a:r>
              <a:t>Он ускорил Sense — но Sense без человеческой проверки не работает: ALIS, GPS-spoofing. Он ускорил Decide — но Decide без real HITL превращается в Lavender. Он расширил Act — но Act без supervised pilots overhead не выходит из demo-stage: X-62A, Lancet rollback.</a:t>
            </a:r>
          </a:p>
          <a:p/>
          <a:p>
            <a:r>
              <a:t>Те же CV/ML-pipelines, те же сенсорные стеки работают и в гражданской аэрокосмосе, и в обороне; инженер выбирает контур.</a:t>
            </a:r>
          </a:p>
          <a:p/>
          <a:p>
            <a:r>
              <a:t>Это не значит, что AI «маленький» или «обманчивый». Это значит, что в high-stakes отрасли AI — это инструмент в инженерных руках, а не автономный субъект. Профессионализм инженера в этой области — это умение сказать «да» там, где AI действительно даёт измеримое преимущество, и умение сказать «нет» там, где AI создаёт риск, который не закрывается одной моделью.</a:t>
            </a:r>
          </a:p>
          <a:p/>
          <a:p>
            <a:r>
              <a:t>Курс продолжается. В Лекции 10 — энергетика; в Лекции 11 — транспорт и логистика. И в каждой из них вы будете узнавать паттерны из этой главы — потому что цепь Sense → Decide → Act работает везде.</a:t>
            </a:r>
          </a:p>
          <a:p/>
          <a:p>
            <a:r>
              <a:t>Спасибо. Дальше —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Открываем Q&amp;A. У меня в запасе три типичных вопроса, которые могут возникнуть.</a:t>
            </a:r>
          </a:p>
          <a:p/>
          <a:p>
            <a:r>
              <a:t>Первый — про политический ландшафт. «Если ICRC и UN GGE так озабочены LAWS, почему США, Россия и Китай не подписывают договор?» Три причины. Военная — каждая инвестирует в автономию как стратегическое преимущество. Дипломатическая — в UN GGE нет single agreed determination LAWS. Техническая — даже если договор подписан, как проверить?</a:t>
            </a:r>
          </a:p>
          <a:p/>
          <a:p>
            <a:r>
              <a:t>Второй — критический. «Lavender обсуждается с осуждением. А что насчёт критики +972 — может, они преувеличили?» ЦАХАЛ официально опровергает. Сторона +972 опирается на 6 IDF intelligence officers. Independent reproducibility невозможна. Но ICRC и Lieber Institute разобрали кейс и нашли его серьёзным. Даже при максимально консервативной оценке — серьёзный кейс. Мы делаем engineering judgment на pattern «accuracy% as wrong metric» — pattern не зависит от того, кто делал ошибку.</a:t>
            </a:r>
          </a:p>
          <a:p/>
          <a:p>
            <a:r>
              <a:t>Третий — практический. «Куда идти работать без оборонной нагрузки?» Три направления: гражданская спутниковая аналитика (ТЕРРА ТЕХ, СКАНЭКС в РФ; Maxar, Planet в мире); гражданская авиация (Боинг, Airbus, eVTOL); гражданский dual-use транспорт (Cognitive Pilot, eVTOL).</a:t>
            </a:r>
          </a:p>
          <a:p/>
          <a:p>
            <a:r>
              <a:t>Открыт для ваших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45.png"/><Relationship Id="rId4" Type="http://schemas.openxmlformats.org/officeDocument/2006/relationships/image" Target="../media/image23.png"/><Relationship Id="rId5" Type="http://schemas.openxmlformats.org/officeDocument/2006/relationships/image" Target="../media/image32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33.png"/><Relationship Id="rId9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AI-аналитика спутниковой съёмки превращает 250 ПБ архива Maxar
в детекции за часы — то, что раньше требовало дней.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28800"/>
            <a:ext cx="685800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1C7293"/>
                </a:solidFill>
                <a:latin typeface="Arial"/>
              </a:rPr>
              <a:t>BEFORE · 22 мая 03:00 UTC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6492240" cy="15544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Wave 5"/>
          <p:cNvSpPr/>
          <p:nvPr/>
        </p:nvSpPr>
        <p:spPr>
          <a:xfrm>
            <a:off x="777240" y="3108960"/>
            <a:ext cx="6309360" cy="457200"/>
          </a:xfrm>
          <a:prstGeom prst="wave">
            <a:avLst/>
          </a:prstGeom>
          <a:solidFill>
            <a:srgbClr val="E6EEF4"/>
          </a:solidFill>
          <a:ln w="127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1C7293"/>
                </a:solidFill>
                <a:latin typeface="Arial"/>
              </a:rPr>
              <a:t>AFTER · 22 мая 11:00 UTC (+8h)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389120"/>
            <a:ext cx="6492240" cy="15544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ve 8"/>
          <p:cNvSpPr/>
          <p:nvPr/>
        </p:nvSpPr>
        <p:spPr>
          <a:xfrm>
            <a:off x="777240" y="5120640"/>
            <a:ext cx="6309360" cy="457200"/>
          </a:xfrm>
          <a:prstGeom prst="wave">
            <a:avLst/>
          </a:prstGeom>
          <a:solidFill>
            <a:srgbClr val="E6EEF4"/>
          </a:solidFill>
          <a:ln w="127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4572000"/>
            <a:ext cx="640080" cy="457200"/>
          </a:xfrm>
          <a:prstGeom prst="rect">
            <a:avLst/>
          </a:prstGeom>
          <a:noFill/>
          <a:ln w="31750">
            <a:solidFill>
              <a:srgbClr val="F0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4617720"/>
            <a:ext cx="457200" cy="365760"/>
          </a:xfrm>
          <a:prstGeom prst="rect">
            <a:avLst/>
          </a:prstGeom>
          <a:noFill/>
          <a:ln w="31750">
            <a:solidFill>
              <a:srgbClr val="F0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50749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F0AB00"/>
                </a:solidFill>
                <a:latin typeface="Arial"/>
              </a:rPr>
              <a:t>new 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828800"/>
            <a:ext cx="3931920" cy="4206240"/>
          </a:xfrm>
          <a:prstGeom prst="roundRect">
            <a:avLst>
              <a:gd name="adj" fmla="val 7751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20116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Maxar Sentry ·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246888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Predictive intelligence suite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1000" y="2880360"/>
            <a:ext cx="3383280" cy="0"/>
          </a:xfrm>
          <a:prstGeom prst="line">
            <a:avLst/>
          </a:prstGeom>
          <a:ln w="95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01000" y="30175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0AB00"/>
                </a:solidFill>
                <a:latin typeface="Arial"/>
              </a:rPr>
              <a:t>250 ПБ</a:t>
            </a:r>
          </a:p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архив спутниковых снимков, 20+ лет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93192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3 сенсора</a:t>
            </a:r>
          </a:p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EO + SAR + AIS · cross-cueing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46634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Часы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после съёмки</a:t>
            </a:r>
          </a:p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не дни, как было до 2022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4406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Контракт NGA Luno A D01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Defense One, июнь 2025 · BusinessWire 20250625 · Military Aerospace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5943600" cy="640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0" y="13716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Лекция 9 · AI в инженерных задачах · 3 курс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2103120"/>
            <a:ext cx="62179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AI в авиакосмической отрасли
и оборонном комплексе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21208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75 минут · Q&amp;A</a:t>
            </a:r>
          </a:p>
        </p:txBody>
      </p:sp>
      <p:pic>
        <p:nvPicPr>
          <p:cNvPr id="6" name="Picture 5" descr="radar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760720"/>
            <a:ext cx="822960" cy="822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48484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48484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Sense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9768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39768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Decide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1052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31052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2336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22336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Граница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1362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1362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Сборка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Карта лекции — 4 содержательных раздела плюс граница и сборка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0. Открытие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Hook + keystone OODA + glossary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783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1. Sense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Глаза в небе и на земле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834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12 мин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783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2. Decide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3317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От наблюдения к решению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834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14 мин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6118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3.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Автономия на платформе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14 мин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4747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36118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4. Граница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1605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и регулирование (LAWS, UN GGE)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663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15 мин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4747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36118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5. Сборка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1605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критерии, карьера, замыкание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4663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6 мин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12080"/>
            <a:ext cx="11091672" cy="10058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285232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4A556B"/>
                </a:solidFill>
                <a:latin typeface="Arial"/>
              </a:rPr>
              <a:t>Центральный вопрос лекции: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05272"/>
            <a:ext cx="106344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Где в цепи Sense → Decide → Act AI даёт измеримое преимущество — и где он становится опасной автоматизацией?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Шесть аббревиатур, без которых дальше не пройти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91639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Synthetic Aperture Radar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Активный радар, видит сквозь облака и ночью.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544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91639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Automatic Target Recognition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ML-классификатор объектов по сенсорному образу.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546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ISR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383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Intelligence, Surveillance, Reconnaissance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Зонтичный термин для разведзадач.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546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2918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383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Electronic Warfare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404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Радиоэлектронная борьба: подавление, обман, перехват.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LAWS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4983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Lethal Autonomous Weapon Systems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06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Летальные автономные системы, предмет UN GGE.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548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OODA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983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Observe-Orient-Decide-Act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4406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Цикл принятия решения Boyd 1976.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Остальные аббревиатуры (HITL, HOOL, HOTL, CCA, MCAS, IFF и др.) — расшифровка при первом упоминании по ходу лекции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Три звена цепи. AI входит в каждое — но по-разному.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08760"/>
            <a:ext cx="11091672" cy="27432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167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Гражданское ↔ Военное · dual-use одни модели, два контура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635" y="2011680"/>
            <a:ext cx="338328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y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795" y="2286000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9515" y="32461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C7293"/>
                </a:solidFill>
                <a:latin typeface="Arial"/>
              </a:rPr>
              <a:t>Sense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5" y="38404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AI работает лучше всего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5" y="42976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Доступная ground truth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5" y="47548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Терпимая FP-цена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45635" y="3474720"/>
            <a:ext cx="41148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02836" y="2011680"/>
            <a:ext cx="338328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rain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6" y="2286000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85716" y="32461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7155" y="38404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AI = ускоритель аналитика — хорошо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7155" y="42976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0AB00"/>
                </a:solidFill>
                <a:latin typeface="Arial"/>
              </a:rPr>
              <a:t>• AI = замена аналитика — плохо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7155" y="47548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LLM-хайп опаснее всего здесь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31836" y="3474720"/>
            <a:ext cx="41148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89036" y="2011680"/>
            <a:ext cx="338328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lane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9196" y="2286000"/>
            <a:ext cx="822960" cy="8229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71915" y="32461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3356" y="38404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Узкие сценарии с supervised pilots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3356" y="42976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Полная автономия — маркетинг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3356" y="47548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Большинство strikes — operator-in-loop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Boyd, USAF, 1976 — изначально модель воздушного боя; теперь универсальная decision-loop рамка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Sense — глаза в небе и на земле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39319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Где AI работает лучше всего — и где он ломается даже здесь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12 минут · 5 рабочих кейсов · 3 провала · 2 критерия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8484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8484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9768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9768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Decide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1052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1052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2336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Граница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1362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1362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Сборка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Sense — самое благополучное звено OODA: ground truth, FP-цена,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Четыре типа сигнала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3200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tellite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79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19" y="22402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Спутниковая съёмка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39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оптика · мультиспектр · IR · SAR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13632" y="1965960"/>
            <a:ext cx="3200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auge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2240279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2312" y="22402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Телеметрия платформ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7952" y="2834639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двигатели · бортовые системы · вибро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22191"/>
            <a:ext cx="3200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dio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096511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17319" y="4096511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Радиосигналы противника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690872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SIGINT · ELINT · COMINT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13632" y="3822191"/>
            <a:ext cx="3200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lobe-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6512" y="4096511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82312" y="4096511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Открытые источники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4690872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соцсети · новости · AIS commercial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14630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Почему здесь AI работает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1965960"/>
            <a:ext cx="39319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2148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1305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Доступная ground truth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51460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Снимки верифицируются полевым выездом и историей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3383279"/>
            <a:ext cx="39319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3566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5478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Терпимая FP-цена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9319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Лишний alert — время аналитика, не жизнь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4800600"/>
            <a:ext cx="39319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09560" y="4983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96519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Множество сенсоров → fusion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53492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Снижает индивидуальную хрупкость моделей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Maxar Sentry — predictive intelligence в часах, не днях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6858000" cy="4389120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065A82"/>
                </a:solidFill>
                <a:latin typeface="Arial"/>
              </a:rPr>
              <a:t>BEFORE/AFTER · change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6400800" cy="169164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023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+ 8 часов после съёмки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389120"/>
            <a:ext cx="6400800" cy="141732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4572000"/>
            <a:ext cx="457200" cy="365760"/>
          </a:xfrm>
          <a:prstGeom prst="rect">
            <a:avLst/>
          </a:prstGeom>
          <a:noFill/>
          <a:ln w="25400">
            <a:solidFill>
              <a:srgbClr val="F0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4754880"/>
            <a:ext cx="548640" cy="365760"/>
          </a:xfrm>
          <a:prstGeom prst="rect">
            <a:avLst/>
          </a:prstGeom>
          <a:noFill/>
          <a:ln w="25400">
            <a:solidFill>
              <a:srgbClr val="F0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4663440"/>
            <a:ext cx="365760" cy="411480"/>
          </a:xfrm>
          <a:prstGeom prst="rect">
            <a:avLst/>
          </a:prstGeom>
          <a:noFill/>
          <a:ln w="25400">
            <a:solidFill>
              <a:srgbClr val="F0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50749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F0AB00"/>
                </a:solidFill>
                <a:latin typeface="Arial"/>
              </a:rPr>
              <a:t>new structures (3)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45920"/>
            <a:ext cx="393192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755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250 ПБ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21945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архив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19202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20+ лет данных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2788920"/>
            <a:ext cx="3931920" cy="105156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NGA Luno A D01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3375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главный контракт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3063239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AI-derived detections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3931920"/>
            <a:ext cx="3931920" cy="105156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4041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3 сенсора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48055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fusion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42062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EO + SAR + 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5074920"/>
            <a:ext cx="393192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5184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Часы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562355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после съёмки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53492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не дни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Anti-hype: «AI-derived» в маркетинге = оркестрация классической CV + change detection + multi-sensor tipping, не одна foundation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Defense One июнь 2025 · BusinessWire 20250625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BlackSky + Planet + Capella + ICEYE — четыре комплементарных подхода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27432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Игрок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828800"/>
            <a:ext cx="25603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874519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Подход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59" y="1828800"/>
            <a:ext cx="146304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599" y="1874519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Контракт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828800"/>
            <a:ext cx="100584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1874519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Тип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86000"/>
            <a:ext cx="2743200" cy="7315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77440"/>
            <a:ext cx="252374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BlackSky Gen-3 + Spectra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286000"/>
            <a:ext cx="2560320" cy="7315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1568" y="2377440"/>
            <a:ext cx="234086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Малые сат, частая revisit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59" y="2286000"/>
            <a:ext cx="1463040" cy="7315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61888" y="2377440"/>
            <a:ext cx="124358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$100M+ subscription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2286000"/>
            <a:ext cx="1005840" cy="7315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4927" y="2377440"/>
            <a:ext cx="78638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EO + CV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017520"/>
            <a:ext cx="2743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108960"/>
            <a:ext cx="252374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Planet Labs Dove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017520"/>
            <a:ext cx="25603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01568" y="3108960"/>
            <a:ext cx="234086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Сотни сат, ежедневное покрытие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59" y="3017520"/>
            <a:ext cx="14630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61888" y="3108960"/>
            <a:ext cx="124358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NRO EOCL $146M+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3017520"/>
            <a:ext cx="1005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4927" y="3108960"/>
            <a:ext cx="78638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EO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749039"/>
            <a:ext cx="2743200" cy="7315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840479"/>
            <a:ext cx="252374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Capella Space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3749039"/>
            <a:ext cx="2560320" cy="7315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01568" y="3840479"/>
            <a:ext cx="234086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SAR — всепогодный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2159" y="3749039"/>
            <a:ext cx="1463040" cy="7315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1888" y="3840479"/>
            <a:ext cx="124358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NGA partnership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3749039"/>
            <a:ext cx="1005840" cy="7315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24927" y="3840479"/>
            <a:ext cx="78638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SAR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480560"/>
            <a:ext cx="2743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4572000"/>
            <a:ext cx="252374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ICEYE (Финляндия)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91840" y="4480560"/>
            <a:ext cx="25603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572000"/>
            <a:ext cx="234086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SAR коммерческий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59" y="4480560"/>
            <a:ext cx="14630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61888" y="4572000"/>
            <a:ext cx="124358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Украина + НАТО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4480560"/>
            <a:ext cx="1005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24927" y="4572000"/>
            <a:ext cx="78638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SAR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95360" y="1828800"/>
            <a:ext cx="3108960" cy="338328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32520" y="19659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Орбитальный микс</a:t>
            </a:r>
          </a:p>
        </p:txBody>
      </p:sp>
      <p:sp>
        <p:nvSpPr>
          <p:cNvPr id="45" name="Oval 44"/>
          <p:cNvSpPr/>
          <p:nvPr/>
        </p:nvSpPr>
        <p:spPr>
          <a:xfrm>
            <a:off x="9646920" y="3246120"/>
            <a:ext cx="1005840" cy="1005840"/>
          </a:xfrm>
          <a:prstGeom prst="ellipse">
            <a:avLst/>
          </a:prstGeom>
          <a:solidFill>
            <a:srgbClr val="F4F7FA"/>
          </a:solidFill>
          <a:ln w="1905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46920" y="3246120"/>
            <a:ext cx="1005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Earth</a:t>
            </a:r>
          </a:p>
        </p:txBody>
      </p:sp>
      <p:sp>
        <p:nvSpPr>
          <p:cNvPr id="47" name="Oval 46"/>
          <p:cNvSpPr/>
          <p:nvPr/>
        </p:nvSpPr>
        <p:spPr>
          <a:xfrm>
            <a:off x="9052560" y="429768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058400" y="4160520"/>
            <a:ext cx="274320" cy="27432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961120" y="6126480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149840" y="626364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925312"/>
            <a:ext cx="106344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Главное преимущество SAR — видит сквозь облака и ночью. ICEYE активен в Украине с 2022.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Edge AI on-orbit: ML на спутнике, не на земле. ESA Φ-sat-2 — remote-upgradable.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28800"/>
            <a:ext cx="5431536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ask-conical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19" y="2057400"/>
            <a:ext cx="44256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Demonstrators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49743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ESA Φ-sat-2 (август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926080"/>
            <a:ext cx="49743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Planetek AI-eXpress на Jetson Orin NX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8776" y="1828800"/>
            <a:ext cx="5431536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ity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2057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77456" y="2057400"/>
            <a:ext cx="44256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Production 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606040"/>
            <a:ext cx="49743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Lockheed Pony Express 2 + T-TAURI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926080"/>
            <a:ext cx="49743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Onboard ML аномалии телеметрии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69080"/>
            <a:ext cx="5431536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adar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2976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17319" y="4297680"/>
            <a:ext cx="44256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SDA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846320"/>
            <a:ext cx="49743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Slingshot Agatha + TALOS · июль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166359"/>
            <a:ext cx="49743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204 сенсора · 21 локация · 5 континентов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069080"/>
            <a:ext cx="5431536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atabase-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2976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077456" y="4297680"/>
            <a:ext cx="44256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Commercial archive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4846320"/>
            <a:ext cx="49743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TerraTech / Роскосмос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5166359"/>
            <a:ext cx="49743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Гражданская onboard-классификация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Adoption: от «AI-derived detection in hours» к «predictive intelligence before event». Сценарий 2026-2028.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Российский слой Sense — ТЕРРА ТЕХ, СКАНЭКС, СПУТНИКС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28800"/>
            <a:ext cx="3544824" cy="4114800"/>
          </a:xfrm>
          <a:prstGeom prst="roundRect">
            <a:avLst>
              <a:gd name="adj" fmla="val 859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292" y="2103120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971800"/>
            <a:ext cx="31790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ТЕРРА ТЕХ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1188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Дочерняя структура Роскосмоса (2017)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BRICS agriculture monitoring (2024)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3484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Spatial data + ML-классификация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Caveat: объём метрик не публикуется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1828800"/>
            <a:ext cx="3544824" cy="4114800"/>
          </a:xfrm>
          <a:prstGeom prst="roundRect">
            <a:avLst>
              <a:gd name="adj" fmla="val 859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atellite-dish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103120"/>
            <a:ext cx="73152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04944" y="2971800"/>
            <a:ext cx="31790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СКАНЭКС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664" y="361188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Единственная direct-receiving в РФ/СНГ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0664" y="402336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3,5М+ архив снимков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0664" y="443484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Эксклюзив для Яндекс.Карт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0664" y="484632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Court ban на &gt;2м distribution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828800"/>
            <a:ext cx="3544824" cy="4114800"/>
          </a:xfrm>
          <a:prstGeom prst="roundRect">
            <a:avLst>
              <a:gd name="adj" fmla="val 859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atellite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2140" y="2103120"/>
            <a:ext cx="731520" cy="731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8367" y="2971800"/>
            <a:ext cx="31790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СПУТНИКС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4088" y="361188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100+ кубсатов с 2013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088" y="402336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Zorkiy-2M · 2,5м · 4 спектр канала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088" y="443484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Sitronics 45 cubsats 2024 (53% RU)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Оборонный Russian Sense — открытых данных мало. Geran-2 — Раздел 3; российский C2 — Раздел 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Predictive maintenance — массовая гражданская AI-инфраструктура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28800"/>
            <a:ext cx="594360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12-skywise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5669280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846320"/>
            <a:ext cx="5486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easyJet: 8,1 тонны топлива/ВС/год сэкономлено; 44 предотвращённые отмены рейсов (июль 2024)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4937760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9659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Rolls-Royce IntelligentEngine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4231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 2018 · digital twin каждого двигателя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834640"/>
            <a:ext cx="4572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~400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предотвращённых событий</a:t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обслуживания в год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4023360"/>
            <a:ext cx="4937760" cy="1783080"/>
          </a:xfrm>
          <a:prstGeom prst="roundRect">
            <a:avLst>
              <a:gd name="adj" fmla="val 17094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4160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Стек публичный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Microsoft Azure data lake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48920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Databricks lakehouse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52578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ML pipelines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 обороне аналог — F-35 ALIS → ODIN. См. следующий слайд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F-35 ALIS нарушил все три условия predictive maintenance — списан в июне 2024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6217920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94767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1. Быстрый feedback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377440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Drift детектируется в годы, не дни. Модель устаревает раньше, чем ошибки видны.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54680"/>
            <a:ext cx="6217920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520440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1927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2. Доступная ground truth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749040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Нет способа верифицировать каждый alert. Ложные тревоги накапливаются → доверие падает.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80"/>
            <a:ext cx="6217920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892040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9087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3. FP-cost ≤ FN-cost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20640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Adversarial UX — персонал обходит через Excel. High false-positive — экипаж теряет время на инспекции.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783080"/>
            <a:ext cx="470916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13-f35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526280" cy="228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40880" y="406908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F-35 дороже более сложного F-22 — индикатор системной проблемы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4617720"/>
            <a:ext cx="4709160" cy="1371600"/>
          </a:xfrm>
          <a:prstGeom prst="roundRect">
            <a:avLst>
              <a:gd name="adj" fmla="val 22222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470916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ODIN — другой подход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5074920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Government-owned (no vendor lock)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5276088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Меньший охват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5477256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Явный HITL для flight-authorisation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5678424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Disconnected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GAO-20-316 · GAO-22-105128 · Air &amp; Space Forces 2024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Adversarial SAR ATR + GPS-spoofing — accuracy обманчив, single-source хрупок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Adversarial SAR ATR</a:t>
            </a:r>
          </a:p>
        </p:txBody>
      </p:sp>
      <p:pic>
        <p:nvPicPr>
          <p:cNvPr id="5" name="Picture 4" descr="triangle-alert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92024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3774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Дешёвые металлические рассеиватели в специальной геометрии обманывают classifier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17520"/>
            <a:ext cx="1554480" cy="9144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15468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Танк +
рассеиватели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77440" y="3337560"/>
            <a:ext cx="13716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60320" y="3017520"/>
            <a:ext cx="1554480" cy="9144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315468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SAR
classifier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0520" y="3337560"/>
            <a:ext cx="13716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3017520"/>
            <a:ext cx="1554480" cy="9144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315468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Wrong
label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Защита: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34840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Bayesian uncertainty estimates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9159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Adversarial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983479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Abstention pathway → human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Source: Du et al. 2024 (arXiv:2312.02912)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83080"/>
            <a:ext cx="544068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GPS-spoofing civil aviation</a:t>
            </a:r>
          </a:p>
        </p:txBody>
      </p:sp>
      <p:pic>
        <p:nvPicPr>
          <p:cNvPr id="22" name="Picture 21" descr="radio-tower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920240"/>
            <a:ext cx="502920" cy="502920"/>
          </a:xfrm>
          <a:prstGeom prst="rect">
            <a:avLst/>
          </a:prstGeom>
        </p:spPr>
      </p:pic>
      <p:pic>
        <p:nvPicPr>
          <p:cNvPr id="23" name="Picture 22" descr="c14-gps-spo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423160"/>
            <a:ext cx="3200400" cy="1828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92640" y="269748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32× рост
за 2 года
(Латвия)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43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Российские РЭБ (Krasukha-4, Borisoglebsk-2). Чёрное море, Восточная Европа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846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Защита: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16636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Multi-GNSS (GPS+GLONASS+Galileo+BeiDou)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44068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INS-fallback (инерциальная)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71500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eLORAN наземная радионавигация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6172200"/>
            <a:ext cx="11091672" cy="4114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217920"/>
            <a:ext cx="10634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Spillover: военный РЭБ-эффект распространяется на не-комбатантов. Защита GNSS — collective good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Sense — когда не AI: 2 критерия. Distribution shift + single-sensor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54406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59" y="1874519"/>
            <a:ext cx="640080" cy="6400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#1</a:t>
            </a:r>
          </a:p>
        </p:txBody>
      </p:sp>
      <p:pic>
        <p:nvPicPr>
          <p:cNvPr id="6" name="Picture 5" descr="chart-no-axes-column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874519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59" y="2743200"/>
            <a:ext cx="4892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Low-data domain или distribution shift inevitable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520440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Если домен редкий или входное распределение меняется (новые маскировки, новые условия) — ML не выучит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59" y="4617720"/>
            <a:ext cx="4892041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59" y="47091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1">
                <a:solidFill>
                  <a:srgbClr val="028090"/>
                </a:solidFill>
                <a:latin typeface="Arial"/>
              </a:rPr>
              <a:t>→ Альтернатива: классическая обработка сигналов + multi-sensor fusion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4406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0" y="1874519"/>
            <a:ext cx="640080" cy="6400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#2</a:t>
            </a:r>
          </a:p>
        </p:txBody>
      </p:sp>
      <p:pic>
        <p:nvPicPr>
          <p:cNvPr id="14" name="Picture 13" descr="unplug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1874519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2240" y="2743200"/>
            <a:ext cx="4892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High-stakes single-sensor decision без избыточности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Если решение на одном сенсоре и стоимость ошибки высокая — AI = single point of failure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92240" y="4617720"/>
            <a:ext cx="489204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92240" y="47091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1">
                <a:solidFill>
                  <a:srgbClr val="028090"/>
                </a:solidFill>
                <a:latin typeface="Arial"/>
              </a:rPr>
              <a:t>→ Канонический контрпример: F-35 ALIS без HITL для flight authorisation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06440"/>
            <a:ext cx="11091672" cy="5943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879592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Sense — звено благополучное. Multi-sensor fusion + HITL gate — рабочая архитектура.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Decide — от наблюдения к решению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39319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Где LLM-хайп опасен, и почему «accuracy» — не та метрика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14 минут · 5 кейсов · 3 провала (Lavender / Lancet / Vincennes) · 2 критерия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8484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8484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9768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9768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Decide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1052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1052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2336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Граница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1362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1362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Сборка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Decide — звено, где LLM-хайп опаснее всего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«Accuracy 90%» звучит хорошо до момента, когда 10% — это тысячи человек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Decide stack: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1828800" cy="9601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wspaper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11480" cy="411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8719" y="2834640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Text reports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2651760"/>
            <a:ext cx="1828800" cy="9601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an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78892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154680" y="2834640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Image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651760"/>
            <a:ext cx="1828800" cy="9601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ap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788920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20640" y="2834640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19" y="2651760"/>
            <a:ext cx="1828800" cy="9601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ctivity-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79" y="2788920"/>
            <a:ext cx="41148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86599" y="2834640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Telemetry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503920" y="2971800"/>
            <a:ext cx="274320" cy="32004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0" y="2651760"/>
            <a:ext cx="1371600" cy="960120"/>
          </a:xfrm>
          <a:prstGeom prst="roundRect">
            <a:avLst>
              <a:gd name="adj" fmla="val 25000"/>
            </a:avLst>
          </a:prstGeom>
          <a:solidFill>
            <a:srgbClr val="065A82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2651760"/>
            <a:ext cx="13716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Fusion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332720" y="2971800"/>
            <a:ext cx="274320" cy="32004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698480" y="2651760"/>
            <a:ext cx="1005840" cy="9601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0" y="2651760"/>
            <a:ext cx="1005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COA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114800"/>
            <a:ext cx="11091672" cy="2011680"/>
          </a:xfrm>
          <a:prstGeom prst="roundRect">
            <a:avLst>
              <a:gd name="adj" fmla="val 1515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297680"/>
            <a:ext cx="10634472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>
                <a:solidFill>
                  <a:srgbClr val="21295C"/>
                </a:solidFill>
                <a:latin typeface="Arial"/>
              </a:rPr>
              <a:t>10% × 37 000 = </a:t>
            </a:r>
            <a:r>
              <a:rPr sz="6000" b="1" i="0">
                <a:solidFill>
                  <a:srgbClr val="F0AB00"/>
                </a:solidFill>
                <a:latin typeface="Arial"/>
              </a:rPr>
              <a:t>3 700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Lavender, Газа 2023-24. 90% accuracy в life-and-death = 3 700 человек, помеченных по ошибке. Метрика была не той.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Если потенциальная цена ошибки — человеческая жизнь, «accuracy %» — это показатель количества кошмаров, которые вы готовы принять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Palantir MSS — главный американский decision-support флагман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68580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Контрактные milestones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606040"/>
            <a:ext cx="228600" cy="22860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4688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Май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468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$480M IDIQ Army contract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383280"/>
            <a:ext cx="228600" cy="22860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2461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Сентябрь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461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+$99,8M · расширение все рода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160520"/>
            <a:ext cx="228600" cy="228600"/>
          </a:xfrm>
          <a:prstGeom prst="ellipse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0233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Май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023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+$795M ceiling increase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37760"/>
            <a:ext cx="228600" cy="228600"/>
          </a:xfrm>
          <a:prstGeom prst="ellipse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8006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До 2029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800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~$1,3 миллиарда потолок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Capability: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064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Fusion multi-источниковой разведки · AI-assisted target nomination · Дашборды для командиров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783080"/>
            <a:ext cx="4023360" cy="4297680"/>
          </a:xfrm>
          <a:prstGeom prst="roundRect">
            <a:avLst>
              <a:gd name="adj" fmla="val 757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201168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7200" b="1" i="0">
                <a:solidFill>
                  <a:srgbClr val="F0AB00"/>
                </a:solidFill>
                <a:latin typeface="Arial"/>
              </a:rPr>
              <a:t>L1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1089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21295C"/>
                </a:solidFill>
                <a:latin typeface="Arial"/>
              </a:rPr>
              <a:t>Assistive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55279" y="3703320"/>
            <a:ext cx="3474721" cy="0"/>
          </a:xfrm>
          <a:prstGeom prst="line">
            <a:avLst/>
          </a:prstGeom>
          <a:ln w="127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955279" y="388620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AI выдаёт детекции и сводки.
Командир решает.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2120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Никаких kinetic engagements MSS не делает — решение за человеком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История Maven 2017: Google leak март 2018 → 4000+ подписей → контракт не продлён июнь 2018 → подхвачен Palantir, Anduril, Scale (см. Раздел 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DefenseScoop 2024-2025 · GovConWire 2024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Scale AI эволюция + Helsing Altra — другие ключевые игроки Decide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64008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035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Scale AI · evolution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603504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Donovan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25603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2022-23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XVIII Airborne Corps · 100k+ страниц · classified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603504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Defense Llama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474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Nov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Fine-tuned Llama 3 · ops planning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6035040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Thunderforge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43891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Mar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CENTCOM + INDOPACOM · COA wargaming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Авторизация: FedRAMP HIGH · SC2S · SIPR · DISA IL4 · JWICS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1783080"/>
            <a:ext cx="4480560" cy="4297680"/>
          </a:xfrm>
          <a:prstGeom prst="roundRect">
            <a:avLst>
              <a:gd name="adj" fmla="val 7092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920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Helsing (Europe)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2860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Главный европейский игрок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74320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€12 млрд</a:t>
            </a:r>
          </a:p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оценка после Series D (июнь 2025)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06640" y="3886200"/>
            <a:ext cx="411480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0" y="40233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Altra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43891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ISR fusion + spotters для land combat targeting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48006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Centaur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1663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AI-пилот · Saab Gripen E test June 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56692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Главный инвестор — Prima Materia / Daniel Ek (Spotify)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BusinessWire 2023 · DefenseScoop 2024 · Helsing IR 2025 · CNBC 2025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Anthropic IL6 (ноябрь 2024) + Russian C2 (Svod/Glaz-Groza) — две разные карты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Anthropic + Palantir +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7 ноября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Claude 3 + 3.5</a:t>
            </a:r>
            <a:r>
              <a:rPr sz="1400" b="0" i="0">
                <a:solidFill>
                  <a:srgbClr val="065A82"/>
                </a:solidFill>
                <a:latin typeface="Arial"/>
              </a:rPr>
              <a:t> на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IL6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Высший US gov-cloud уровень секретности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4023360"/>
            <a:ext cx="4937760" cy="0"/>
          </a:xfrm>
          <a:prstGeom prst="line">
            <a:avLst/>
          </a:prstGeom>
          <a:ln w="9525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4160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Complex data 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80559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Pattern identification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8006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Time-sensitive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4A556B"/>
                </a:solidFill>
                <a:latin typeface="Arial"/>
              </a:rPr>
              <a:t>Точка инфлексии в industry posture (см. Раздел 4.5)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83080"/>
            <a:ext cx="5394960" cy="4297680"/>
          </a:xfrm>
          <a:prstGeom prst="roundRect">
            <a:avLst>
              <a:gd name="adj" fmla="val 7092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Russian C2: Svod / Glaz-Groza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028090"/>
                </a:solidFill>
                <a:latin typeface="Arial"/>
              </a:rPr>
              <a:t>Caveat: single-source attribution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8346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Svod Tactical Situational Awareness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Anонс авг 2025, разработка с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474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Glaz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7673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Приложения для операторов дронов (геомэппинг)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114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Groza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0740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Fire-control + mission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754879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ZOV Maps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4748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Геопространственная платформа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4406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028090"/>
                </a:solidFill>
                <a:latin typeface="Arial"/>
              </a:rPr>
              <a:t>Independent western verification отсутствует. Effectiveness — uneven (CSIS)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Не упоминать был бы перекос. Некритично сообщать как success — была бы пропаганда. Промежуточный путь — упомянуть с явной оговоркой источников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IDF Lavender — 37 000 помечены, 90% accuracy → 3 700 false positives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676656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21-lavender-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58368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2356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20 секунд review per target · 15-20 civilian casualties auth'd per junior operative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783080"/>
            <a:ext cx="4297680" cy="1325880"/>
          </a:xfrm>
          <a:prstGeom prst="roundRect">
            <a:avLst>
              <a:gd name="adj" fmla="val 2298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92024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Урок 1: «Accuracy» — wrong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331720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FP consequence × population × frequency.
Cost-asymmetry FP↔FN неприемлемо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3218687"/>
            <a:ext cx="4297680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3355847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Урок 2: AI снимает фрикцию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767327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Темпы вырастают → качество deliberation падает.
В life-and-death катастрофично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654296"/>
            <a:ext cx="4297680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79145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Урок 3: HITL ≠ Human-In-Decision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5202936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20 sec review = формальный HITL,
функциональный HOTL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Abraham, +972 / Local Call (апрель 2024); ICRC, Lieber Institute, AOAV — academic разборы; IDF опровергает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Lancet rollback (демо ≠ продакшен) + Vincennes 1988 (UI под стрессом → LLM)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Russian Lancet ATR rollback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2022-2024 · LO2 canonical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2022-23: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788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«autonomously find and hit target» + videos с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2024: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2461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CSIS / MWI: AI-guidance off · videos без autonomous-locking UI</a:t>
            </a:r>
          </a:p>
        </p:txBody>
      </p:sp>
      <p:pic>
        <p:nvPicPr>
          <p:cNvPr id="10" name="Picture 9" descr="triangle-alert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74519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38404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Edge cases — это БОЛЬШАЯ ЧАСТЬ реального поля боя: пыль, дым, EW, новые маскировки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434840"/>
            <a:ext cx="493776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262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Альтернатива: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Operator-in-the-loop + automated tracking-assist. Не autonomous engage до production hardening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ML perf в narrow distribution не переносится на full battlefield variance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783080"/>
            <a:ext cx="544068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USS Vincennes / Iran Air 655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860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C0392B"/>
                </a:solidFill>
                <a:latin typeface="Arial"/>
              </a:rPr>
              <a:t>3 июля 1988 · 290 KIA</a:t>
            </a:r>
          </a:p>
        </p:txBody>
      </p:sp>
      <p:pic>
        <p:nvPicPr>
          <p:cNvPr id="19" name="Picture 18" descr="eye-off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874519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4652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7432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Aegis записал track как climbing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246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246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Экипаж под стрессом доложил «descending into attack»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749039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2 ракеты SM-2 → 290 KIA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0" y="4343400"/>
            <a:ext cx="502920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00800" y="4480560"/>
            <a:ext cx="5029200" cy="1325880"/>
          </a:xfrm>
          <a:prstGeom prst="roundRect">
            <a:avLst>
              <a:gd name="adj" fmla="val 22988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5720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Bridge to LLM: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89204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LLM выдаёт fluent confident output → оператор под давлением склонен принять. Confident BS = high-risk confident BS в high-stakes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CSIS 2025 Lancet · USNI Proceedings Jul 2018 · Foreign Affairs 2024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Decide — когда не AI: 2 критерия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54406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59" y="1874519"/>
            <a:ext cx="640080" cy="6400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#3</a:t>
            </a:r>
          </a:p>
        </p:txBody>
      </p:sp>
      <p:pic>
        <p:nvPicPr>
          <p:cNvPr id="6" name="Picture 5" descr="circle-help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874519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59" y="2743200"/>
            <a:ext cx="4892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Long-tail edge cases с low ML confidence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520440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Automation bias масштабирует ошибки. Нужен structured abstention — AI говорит «не знаю» и эскалирует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59" y="4617720"/>
            <a:ext cx="4892041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59" y="47091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1">
                <a:solidFill>
                  <a:srgbClr val="028090"/>
                </a:solidFill>
                <a:latin typeface="Arial"/>
              </a:rPr>
              <a:t>→ Calibrated uncertainty + explicit threshold +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4406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0" y="1874519"/>
            <a:ext cx="640080" cy="6400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#4</a:t>
            </a:r>
          </a:p>
        </p:txBody>
      </p:sp>
      <p:pic>
        <p:nvPicPr>
          <p:cNvPr id="14" name="Picture 13" descr="shield-alert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1874519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2240" y="2743200"/>
            <a:ext cx="4892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High-stakes life-and-death без HITL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Cost-asymmetry FP↔FN слишком велика для статистики. Lavender — канонический контрпример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92240" y="4617720"/>
            <a:ext cx="489204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92240" y="47091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1">
                <a:solidFill>
                  <a:srgbClr val="028090"/>
                </a:solidFill>
                <a:latin typeface="Arial"/>
              </a:rPr>
              <a:t>→ Real HITL — не 20-сек подпись. ms-на-review = формальная категоризация системы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06440"/>
            <a:ext cx="11091672" cy="5943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879592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Decide — звено самое тонкое. LLM-hype опаснее всего. AI — accelerator, не decision-maker.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Act — автономия на платформе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39319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Где hype далеко впереди реальности — но adoption всё-таки растёт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14 минут · 6 кейсов · 3 провала (MCAS / Patriot / Replicator) · 2 критерия · RU dual-use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8484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8484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9768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9768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Decide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1052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1052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2336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Граница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1362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1362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Сборка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Act — звено, где hype далеко впереди реальности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Большая часть combat-strikes — operator-in-loop или semi-auto, не fully-autonomous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Лестница автономии (preview):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2103120" cy="10058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97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L1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Assistive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651760"/>
            <a:ext cx="2103120" cy="10058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2697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L2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154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Semi-auto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199" y="2651760"/>
            <a:ext cx="2103120" cy="10058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199" y="2697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L3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9" y="3154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Supervised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79" y="2651760"/>
            <a:ext cx="2103120" cy="10058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79" y="2697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L4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9" y="3154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Pre-authorised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59" y="2651760"/>
            <a:ext cx="2103120" cy="10058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59" y="2697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C0392B"/>
                </a:solidFill>
                <a:latin typeface="Arial"/>
              </a:rPr>
              <a:t>L5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59" y="3154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Full LAWS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Большая часть Act в 2026 — L2-L3, не L4-L5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97680"/>
            <a:ext cx="11091672" cy="2011680"/>
          </a:xfrm>
          <a:prstGeom prst="roundRect">
            <a:avLst>
              <a:gd name="adj" fmla="val 1515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484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200" b="1" i="0">
                <a:solidFill>
                  <a:srgbClr val="028090"/>
                </a:solidFill>
                <a:latin typeface="Arial"/>
              </a:rPr>
              <a:t>$300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526280"/>
            <a:ext cx="548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65A82"/>
                </a:solidFill>
                <a:latin typeface="Arial"/>
              </a:rPr>
              <a:t>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434840"/>
            <a:ext cx="24688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0AB00"/>
                </a:solidFill>
                <a:latin typeface="Arial"/>
              </a:rPr>
              <a:t>$3M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623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Counter-drone asymmetry — дешёвый дрон против Patriot. Замена $3M на AI-perimeter-defence — explosive growth Act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Anduril Fury YFQ-44A — CCA Increment 1, L3 Supervised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68580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YFQ-44A · Fury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Anduril CCA Increment 1 · first flight 31 Oct 2025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108960"/>
            <a:ext cx="4572000" cy="640080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5852160" y="3154680"/>
            <a:ext cx="548640" cy="548640"/>
          </a:xfrm>
          <a:prstGeom prst="rtTriangl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Triangle 7"/>
          <p:cNvSpPr/>
          <p:nvPr/>
        </p:nvSpPr>
        <p:spPr>
          <a:xfrm>
            <a:off x="2286000" y="2788920"/>
            <a:ext cx="1828800" cy="365760"/>
          </a:xfrm>
          <a:prstGeom prst="rtTriangl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Triangle 8"/>
          <p:cNvSpPr/>
          <p:nvPr/>
        </p:nvSpPr>
        <p:spPr>
          <a:xfrm rot="10800000">
            <a:off x="2286000" y="3703320"/>
            <a:ext cx="1828800" cy="365760"/>
          </a:xfrm>
          <a:prstGeom prst="rtTriangl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Triangle 9"/>
          <p:cNvSpPr/>
          <p:nvPr/>
        </p:nvSpPr>
        <p:spPr>
          <a:xfrm rot="5400000">
            <a:off x="1097280" y="2743200"/>
            <a:ext cx="457200" cy="457200"/>
          </a:xfrm>
          <a:prstGeom prst="rtTriangl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6634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Спецификации: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29200"/>
            <a:ext cx="6217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Высота: до 50 000 футов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303520"/>
            <a:ext cx="6217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Скорость: M 0.95 · Перегрузка 9g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577840"/>
            <a:ext cx="6217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Двигатель: Williams FJ44-4M (4 000 фунтов тяги)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852160"/>
            <a:ext cx="6217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Вооружение: AIM-120 AMRAAM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1783080"/>
            <a:ext cx="4023360" cy="2011680"/>
          </a:xfrm>
          <a:prstGeom prst="roundRect">
            <a:avLst>
              <a:gd name="adj" fmla="val 1515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1874519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7200" b="1" i="0">
                <a:solidFill>
                  <a:srgbClr val="F0AB00"/>
                </a:solidFill>
                <a:latin typeface="Arial"/>
              </a:rPr>
              <a:t>L3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8803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Supervised autonomy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2918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AI executes в pre-authorised envelope; пилотируемый wingman supervises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3931920"/>
            <a:ext cx="4023360" cy="96012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40233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23 марта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3434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Arsenal-1, Огайо · $1 млрд инвестиций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5029200"/>
            <a:ext cx="4023360" cy="105156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8120" y="512064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Autonomy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48640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Hivemind (Shield AI) + Lattice (Anduril 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Wikipedia YFQ-44 · Air &amp; Space Forces 2026 · The Aviationist March 24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X-62A VISTA (Sep 2023 dogfight) + Saker Scout (Ukraine combat-tested)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DARPA X-62A VISTA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Модифицированный F-16 · AI-agent управляет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743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Начало испытаний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Feb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31272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12 полётов в Эдвардсе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112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Sep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51129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Первый AI-vs-manned dogfight · 2 000 ft @ 1 200 mph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9534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May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389534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USAF Secretary Kendall летал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348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Объём: 100 000+ строк FCS changes · 21 полёт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5074920" cy="11430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Anti-hype: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25780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Narrow scripted scenario · 1-на-1 dogfight · BVR исключён · fuel mgmt не покрыт · ROE не учитывался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783080"/>
            <a:ext cx="544068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Saker Scout (Украина)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286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Combat-tested · L2 Semi-auto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743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7889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автономных целей идентифицирует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2461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~10 км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329183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дальность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EW-resistant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79475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CV-классификация target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251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Brave1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2976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300+ AI dev · 70+ AI/CV в combat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0" y="4846320"/>
            <a:ext cx="502920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0" y="4937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Пивот 2024-25: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25780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Dec 2024: первый unmanned ground op (UGV + FPV)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53212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2025: AI-mother-drone · 2 AI-FPV strike · 300 км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DARPA 2024 · The Aviationist 2024 · MWI 2025 · CSIS 2025 · Kyiv Independent 2025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Russian Act — Geran-2 (defense) + Cognitive Pilot (civilian dual-use)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Geran-2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Алабуга ОЭЗ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40487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Производство в Татарстане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~2 700-3 000 / мес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8163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К концу 2025 [VFY-day-of]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&gt;26 000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22783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произведено к поздней весне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118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&gt;40 000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6393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план к концу 2025 [VFY]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114800"/>
            <a:ext cx="493776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20624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AI-stack (wreckage analysis):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26280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NVIDIA Jetson onboard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54880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High-res камеры + thermal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FPGA для EW-resistance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12080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2026 — anti-radiation seeker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486400"/>
            <a:ext cx="5074920" cy="6400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7784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Supply-chain caveat: 1 111 Dell PowerEdge XE9680 через Shreya Life Sciences (India) → Russia, Apr-Aug 2024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5440680" cy="4297680"/>
          </a:xfrm>
          <a:prstGeom prst="roundRect">
            <a:avLst>
              <a:gd name="adj" fmla="val 7092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Cognitive Pilot · civilian dual-use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286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JV Сбер + Cognitive Technologies (Москва)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Stack: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063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CV + радар + LiDAR (автономия без GNSS)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5204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Применения: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840480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КАМАЗ-комбайны, тракторы СберАгро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096512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Городской транспорт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352544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Железная дорога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608576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Снегоуборочная техника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02920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До 50 000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систем/год (план)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62356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НЕ identified as defense supplier в открытых источниках. Те же CV+LiDAR — в CAD/CAM (Лек 6) и пром автоматизации (Лек 14)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CSIS Bondar 2026 · Tom's Hardware 2024 · Fortune 2026 · TASS 2024 · Cognitive Pilot 2025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Boeing 737 MAX MCAS — canonical anti-pattern safety-critical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3200400" cy="1737360"/>
          </a:xfrm>
          <a:prstGeom prst="roundRect">
            <a:avLst>
              <a:gd name="adj" fmla="val 1754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Single-point-of-failure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231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Одна модель, один сенсор, одно решение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1783080"/>
            <a:ext cx="3200400" cy="1737360"/>
          </a:xfrm>
          <a:prstGeom prst="roundRect">
            <a:avLst>
              <a:gd name="adj" fmla="val 1754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0" y="1920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96596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Opacity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4231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Пилоты НЕ знали о MCAS · нет override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3200400" cy="1737360"/>
          </a:xfrm>
          <a:prstGeom prst="roundRect">
            <a:avLst>
              <a:gd name="adj" fmla="val 1754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94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4048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Software cures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29768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MCAS компенсировал hardware shortfall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6200" y="3657600"/>
            <a:ext cx="3200400" cy="1737360"/>
          </a:xfrm>
          <a:prstGeom prst="roundRect">
            <a:avLst>
              <a:gd name="adj" fmla="val 1754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3794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84048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FMEA / FTA не пройден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29768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SPOF должен быть пойман на анализе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783080"/>
            <a:ext cx="4572000" cy="36576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87451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Crash timeline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33172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29 окт 2018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6517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Lion Air 610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92607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→ 189 KIA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154679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10 мар 2019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747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Ethiopian Airlines 302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74903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→ 157 KIA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3977639"/>
            <a:ext cx="4206240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→ 346 KIA total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38912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20 мес остановки в США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5532120"/>
            <a:ext cx="4572000" cy="91440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radar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5623560"/>
            <a:ext cx="457200" cy="457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772400" y="557784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Patriot mini-callback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85216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2003 (RAF Tornado + USN F/A-18) + 2024 (Ukr F-16). Automation bias.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PMC 2020 · ThinkReliability 2019 · Trenchart 2018 · SOFREP 2003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Act — когда не AI: 2 критерия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54406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59" y="1874519"/>
            <a:ext cx="640080" cy="6400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#5</a:t>
            </a:r>
          </a:p>
        </p:txBody>
      </p:sp>
      <p:pic>
        <p:nvPicPr>
          <p:cNvPr id="6" name="Picture 5" descr="user-check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874519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59" y="2743200"/>
            <a:ext cx="4892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Автономия не нужна; человек медленнее, но безопаснее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520440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MCAS — canonical контрпример. Auto-trim был «решением» проблемы, которой могло не быть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59" y="4617720"/>
            <a:ext cx="4892041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59" y="4709160"/>
            <a:ext cx="4892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028090"/>
                </a:solidFill>
                <a:latin typeface="Arial"/>
              </a:rPr>
              <a:t>→ СНАЧАЛА пересмотрите hardware. Software для compensation hardware shortfall — индикатор более глубокой проблемы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4406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0" y="1874519"/>
            <a:ext cx="640080" cy="6400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#6</a:t>
            </a:r>
          </a:p>
        </p:txBody>
      </p:sp>
      <p:pic>
        <p:nvPicPr>
          <p:cNvPr id="14" name="Picture 13" descr="hard-drive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1874519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2240" y="2743200"/>
            <a:ext cx="4892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COTS sensor дешевле и надёжнее, чем ML на одном sensor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COTS = Commercial Off-The-Shelf. Не делайте ML на проблеме, решающейся hardware redundancy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92240" y="4617720"/>
            <a:ext cx="489204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92240" y="4709160"/>
            <a:ext cx="4892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028090"/>
                </a:solidFill>
                <a:latin typeface="Arial"/>
              </a:rPr>
              <a:t>→ Второй AoA-сенсор на 737 MAX стоил бы порядки меньше всех trim-AI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06440"/>
            <a:ext cx="11091672" cy="5943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879592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Act — звено, где hype далеко впереди реальности. Большинство strikes — operator-in-loop. Не путайте L3 с L5.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Граница и регулирование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39319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Где звено Act обрезано международным правом и государственной политикой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15 минут · L1-L5 + UN GGE + ICRC + Maven shift + HITL/HOOL/HOTL · целиком strict-in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8484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8484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9768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9768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Decide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1052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1052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2336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Граница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1362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1362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Сборка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Лестница автономии L1-L5: что делает AI / что делает человек / ms-to-intervention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691640"/>
            <a:ext cx="640080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737360"/>
            <a:ext cx="49377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19" y="1691640"/>
            <a:ext cx="2011680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1872" y="1737360"/>
            <a:ext cx="18653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691640"/>
            <a:ext cx="3840480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3552" y="1737360"/>
            <a:ext cx="36941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AI / Человек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0" y="1691640"/>
            <a:ext cx="2743200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737360"/>
            <a:ext cx="25968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Пример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0" y="1691640"/>
            <a:ext cx="1371600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57232" y="1737360"/>
            <a:ext cx="12252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ms-intervention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75688"/>
            <a:ext cx="640080" cy="713232"/>
          </a:xfrm>
          <a:prstGeom prst="rect">
            <a:avLst/>
          </a:prstGeom>
          <a:solidFill>
            <a:srgbClr val="1C729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48840"/>
            <a:ext cx="457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L1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19" y="2075688"/>
            <a:ext cx="20116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14884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Assistive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075688"/>
            <a:ext cx="38404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21488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AI: выдаёт detections · Человек: решает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2075688"/>
            <a:ext cx="27432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0" y="214884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Palantir MSS analyst surface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2075688"/>
            <a:ext cx="13716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19" y="214884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минуты-часы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788920"/>
            <a:ext cx="640080" cy="713232"/>
          </a:xfrm>
          <a:prstGeom prst="rect">
            <a:avLst/>
          </a:prstGeom>
          <a:solidFill>
            <a:srgbClr val="1C729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862072"/>
            <a:ext cx="457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L2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19" y="2788920"/>
            <a:ext cx="20116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28620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Semi-auto perception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2788920"/>
            <a:ext cx="38404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0" y="2862072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AI: рекомендует action · Человек: авторизует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2788920"/>
            <a:ext cx="27432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0" y="286207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Saker Scout target lock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80" y="2788920"/>
            <a:ext cx="13716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19" y="2862072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seconds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502152"/>
            <a:ext cx="640080" cy="713232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575304"/>
            <a:ext cx="457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L3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88719" y="3502152"/>
            <a:ext cx="20116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3575304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Supervised autonomy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3502152"/>
            <a:ext cx="38404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1840" y="3575304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AI: executes в envelope · Человек: supervises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40880" y="3502152"/>
            <a:ext cx="27432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0" y="35753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Anduril Fury wingman (CCA)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84080" y="3502152"/>
            <a:ext cx="13716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75519" y="3575304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100-1000 ms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215383"/>
            <a:ext cx="640080" cy="713232"/>
          </a:xfrm>
          <a:prstGeom prst="rect">
            <a:avLst/>
          </a:prstGeom>
          <a:solidFill>
            <a:srgbClr val="02809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4288536"/>
            <a:ext cx="457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L4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88719" y="4215383"/>
            <a:ext cx="2011680" cy="713232"/>
          </a:xfrm>
          <a:prstGeom prst="rect">
            <a:avLst/>
          </a:prstGeom>
          <a:solidFill>
            <a:srgbClr val="E6F2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80160" y="4288536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Pre-authorised auto-engage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4215383"/>
            <a:ext cx="3840480" cy="713232"/>
          </a:xfrm>
          <a:prstGeom prst="rect">
            <a:avLst/>
          </a:prstGeom>
          <a:solidFill>
            <a:srgbClr val="E6F2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91840" y="4288536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AI: engages по ROE · Человек: может intervene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40880" y="4215383"/>
            <a:ext cx="2743200" cy="713232"/>
          </a:xfrm>
          <a:prstGeom prst="rect">
            <a:avLst/>
          </a:prstGeom>
          <a:solidFill>
            <a:srgbClr val="E6F2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0" y="42885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Patriot auto, S-400 auto ROE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784080" y="4215383"/>
            <a:ext cx="1371600" cy="713232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75519" y="428853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&lt;100 ms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928616"/>
            <a:ext cx="640080" cy="713232"/>
          </a:xfrm>
          <a:prstGeom prst="rect">
            <a:avLst/>
          </a:prstGeom>
          <a:solidFill>
            <a:srgbClr val="C0392B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001768"/>
            <a:ext cx="457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L5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88719" y="4928616"/>
            <a:ext cx="2011680" cy="713232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80160" y="5001768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Full LAWS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4928616"/>
            <a:ext cx="3840480" cy="713232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91840" y="5001768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AI: lethal без human · Человек: вне loop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40880" y="4928616"/>
            <a:ext cx="2743200" cy="713232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32320" y="500176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Currently debated, not deployed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784080" y="4928616"/>
            <a:ext cx="1371600" cy="713232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75519" y="500176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N/A — вне loop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247120" y="3502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1">
                <a:solidFill>
                  <a:srgbClr val="065A82"/>
                </a:solidFill>
                <a:latin typeface="Arial"/>
              </a:rPr>
              <a:t>← L3↔L4
engineering
debate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47120" y="4928616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1">
                <a:solidFill>
                  <a:srgbClr val="F0AB00"/>
                </a:solidFill>
                <a:latin typeface="Arial"/>
              </a:rPr>
              <a:t>← L4↔L5
treaty
debate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40080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Студент-инженер: сказать про конкретную систему НА КАКОМ УРОВНЕ. Не «автономная» — а «L3 с envelope шириной X»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UN GGE on LAWS — третья подряд резолюция 2025 (164/6/7 UN press)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713232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Хронология 2024-2025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514600"/>
            <a:ext cx="228600" cy="22860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5 Nov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2377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First Committee UNGA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3774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161 / 3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788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Против: Беларусь · КНДР · Россия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429000"/>
            <a:ext cx="228600" cy="22860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2918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 Dec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918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Pleno UNGA · Резолюция 79/62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2918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166 / 3 / 15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43400"/>
            <a:ext cx="228600" cy="22860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2062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Sep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UN GGE — 42 states joint statement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42062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rolling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617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объявлен достаточной основой для переговоров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257800"/>
            <a:ext cx="228600" cy="228600"/>
          </a:xfrm>
          <a:prstGeom prst="ellipse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51206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6 Nov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5120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First Committee · третья подряд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51206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164 / 6 /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5321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Против: Беларусь · Бурунди · КНДР · Израиль · Россия · США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1783080"/>
            <a:ext cx="3931920" cy="4297680"/>
          </a:xfrm>
          <a:prstGeom prst="roundRect">
            <a:avLst>
              <a:gd name="adj" fmla="val 7751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9202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DoD Directive 3000.09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23317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«Autonomy in Weapon Systems»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2697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2012, updated 2023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55279" y="3108960"/>
            <a:ext cx="3474721" cy="0"/>
          </a:xfrm>
          <a:prstGeom prst="line">
            <a:avLst/>
          </a:prstGeom>
          <a:ln w="635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55279" y="32461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US policy формально требует HITL для kinetic engagement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Системы по умолчанию: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2519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L1-L3</a:t>
            </a:r>
            <a:r>
              <a:rPr sz="1200" b="0" i="0">
                <a:solidFill>
                  <a:srgbClr val="21295C"/>
                </a:solidFill>
                <a:latin typeface="Arial"/>
              </a:rPr>
              <a:t>, waiver для L4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502920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US не противник договора в принципе, но опасается жёстких ограничений. Сдвиг 2024→2025: «за» → «против»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6263640"/>
            <a:ext cx="11091672" cy="3657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6291072"/>
            <a:ext cx="10634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Цель Генсека ООН: договор к 2026 [VFY-day-of]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ICRC + Stop Killer Robots — non-state давление на переговоры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ield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0160" y="1965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ICRC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331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International Committee of the Red Cross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Prohibit (полный запрет):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08960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непредсказуемые автономные системы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83279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AWS против людей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Restrict (ограничения): остальные AWS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114800"/>
            <a:ext cx="493776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" y="4251960"/>
            <a:ext cx="507492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4340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«Ceding life-and-death decisions to machines is dehumanizing»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5074920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«It is not the weapon system that must comply with IHL, but the humans using it»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783080"/>
            <a:ext cx="544068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2024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49440" y="1965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Stop Killer Robots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331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Coalition · 270 NGOs · 70 countries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8892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30 стран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явно поддерживают</a:t>
            </a:r>
          </a:p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полный запрет на fully autonomous weapons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57600"/>
            <a:ext cx="507492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Алжир · Аргентина · Австрия · Боливия · Бразилия · Чили · Китай · Колумбия · Коста-Рика · Куба · Джибути · Эквадор · Египет · Эль-Сальвадор · Гана · Гватемала · Святой Престол · Ирак · Иордания · Мексика · Марокко · Намибия · Никарагуа · Пакистан · Панама · Перу · Палестина · Уганда · Венесуэла · Зимбабве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53212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028090"/>
                </a:solidFill>
                <a:latin typeface="Arial"/>
              </a:rPr>
              <a:t>Leverage: public awareness · Slaughterbots video · правозащитная аналитика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ICRC 2024 position paper · Vienna Conference 2024 · HRW 2020-2025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Maven walkout 2018 → vendor replacement → big-tech возврат 2024-2026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oor-open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0160" y="19659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ERA 1: Maven walkout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C7293"/>
                </a:solidFill>
                <a:latin typeface="Arial"/>
              </a:rPr>
              <a:t>2018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743200"/>
            <a:ext cx="329184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2880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Март 2018: Google leak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4 000+ подписей · ~12 резигнаций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862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Июнь 2018: Google не продлевает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51959" y="3474720"/>
            <a:ext cx="91440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78308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uilding-2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19202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199" y="19659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ERA 2: Vendor replacement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199" y="22860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2018-2024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80559" y="2743200"/>
            <a:ext cx="3291841" cy="0"/>
          </a:xfrm>
          <a:prstGeom prst="line">
            <a:avLst/>
          </a:prstGeom>
          <a:ln w="635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26279" y="2880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Anduril $30,5 млрд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33832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Palantir $60B капитализация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38862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Scale, Helsing — растут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00999" y="3474720"/>
            <a:ext cx="91440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19" y="178308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efresh-ccw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599" y="192024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78240" y="19659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ERA 3: Big-tech возврат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2860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2024-2026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599" y="2743200"/>
            <a:ext cx="3291840" cy="0"/>
          </a:xfrm>
          <a:prstGeom prst="line">
            <a:avLst/>
          </a:prstGeom>
          <a:ln w="635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75319" y="2880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Jan 2024: OpenAI · ban removed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33832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Nov 2024: Anthropic IL6 (pivot)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38862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Sep 2025: Google возвращается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97880"/>
            <a:ext cx="11091672" cy="5943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943600"/>
            <a:ext cx="106344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Personal ethics ≠ industry regulation. Только legal regulation (treaty) может блокировать adoption на indust-level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TechPolicy Press 2018 · Intercept 2024 · BusinessWire 2024 · CNBC 2025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HITL / HOOL / HOTL — триада. Граница HOOL→HOTL = engineering decision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 i="0">
                <a:solidFill>
                  <a:srgbClr val="1C7293"/>
                </a:solidFill>
                <a:latin typeface="Arial"/>
              </a:rPr>
              <a:t>HITL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Human-In-The-Loop</a:t>
            </a:r>
          </a:p>
        </p:txBody>
      </p:sp>
      <p:sp>
        <p:nvSpPr>
          <p:cNvPr id="6" name="Oval 5"/>
          <p:cNvSpPr/>
          <p:nvPr/>
        </p:nvSpPr>
        <p:spPr>
          <a:xfrm>
            <a:off x="2011680" y="2926080"/>
            <a:ext cx="731520" cy="731520"/>
          </a:xfrm>
          <a:prstGeom prst="ellipse">
            <a:avLst/>
          </a:prstGeom>
          <a:noFill/>
          <a:ln w="1905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AI
loop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3108960"/>
            <a:ext cx="182880" cy="18288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731520" y="3794760"/>
            <a:ext cx="329184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93192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 в КАЖДОЙ decision-point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434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AI не действует без явной authorisation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L1-L5: </a:t>
            </a:r>
            <a:r>
              <a:rPr sz="1300" b="1" i="0">
                <a:solidFill>
                  <a:srgbClr val="1C7293"/>
                </a:solidFill>
                <a:latin typeface="Arial"/>
              </a:rPr>
              <a:t>L1, L2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66360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Palantir MSS analyst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413248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Saker Scout operator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69164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79" y="1828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 i="0">
                <a:solidFill>
                  <a:srgbClr val="065A82"/>
                </a:solidFill>
                <a:latin typeface="Arial"/>
              </a:rPr>
              <a:t>HOOL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2468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Human-On-The-Loop</a:t>
            </a:r>
          </a:p>
        </p:txBody>
      </p:sp>
      <p:sp>
        <p:nvSpPr>
          <p:cNvPr id="18" name="Oval 17"/>
          <p:cNvSpPr/>
          <p:nvPr/>
        </p:nvSpPr>
        <p:spPr>
          <a:xfrm>
            <a:off x="5760719" y="2926080"/>
            <a:ext cx="731520" cy="731520"/>
          </a:xfrm>
          <a:prstGeom prst="ellipse">
            <a:avLst/>
          </a:prstGeom>
          <a:noFill/>
          <a:ln w="1905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79" y="2971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AI
loop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2697480"/>
            <a:ext cx="182880" cy="18288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480559" y="3794760"/>
            <a:ext cx="3291841" cy="0"/>
          </a:xfrm>
          <a:prstGeom prst="line">
            <a:avLst/>
          </a:prstGeom>
          <a:ln w="635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559" y="393192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 SUPERVISES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43434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Может intervene, но не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800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L1-L5: </a:t>
            </a:r>
            <a:r>
              <a:rPr sz="1300" b="1" i="0">
                <a:solidFill>
                  <a:srgbClr val="065A82"/>
                </a:solidFill>
                <a:latin typeface="Arial"/>
              </a:rPr>
              <a:t>L3, L4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5166360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Fury CCA wingman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5413248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Patriot auto ROE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169164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FEF5E0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19" y="1828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 i="0">
                <a:solidFill>
                  <a:srgbClr val="C0392B"/>
                </a:solidFill>
                <a:latin typeface="Arial"/>
              </a:rPr>
              <a:t>HOTL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2468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Human-Out-of-The-Loop</a:t>
            </a:r>
          </a:p>
        </p:txBody>
      </p:sp>
      <p:sp>
        <p:nvSpPr>
          <p:cNvPr id="30" name="Oval 29"/>
          <p:cNvSpPr/>
          <p:nvPr/>
        </p:nvSpPr>
        <p:spPr>
          <a:xfrm>
            <a:off x="9509759" y="2926080"/>
            <a:ext cx="731520" cy="731520"/>
          </a:xfrm>
          <a:prstGeom prst="ellipse">
            <a:avLst/>
          </a:prstGeom>
          <a:noFill/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2971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1">
                <a:solidFill>
                  <a:srgbClr val="C0392B"/>
                </a:solidFill>
                <a:latin typeface="Arial"/>
              </a:rPr>
              <a:t>AI
loop</a:t>
            </a:r>
          </a:p>
        </p:txBody>
      </p:sp>
      <p:sp>
        <p:nvSpPr>
          <p:cNvPr id="32" name="Oval 31"/>
          <p:cNvSpPr/>
          <p:nvPr/>
        </p:nvSpPr>
        <p:spPr>
          <a:xfrm>
            <a:off x="8412480" y="3200400"/>
            <a:ext cx="182880" cy="18288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229599" y="3794760"/>
            <a:ext cx="3291840" cy="0"/>
          </a:xfrm>
          <a:prstGeom prst="line">
            <a:avLst/>
          </a:prstGeom>
          <a:ln w="63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599" y="393192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 ВНЕ execution-loop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9" y="43434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Нет real-time intervention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9" y="4800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L1-L5: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5166360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Treaty-discussion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19" y="5413248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Currently не deployed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852160"/>
            <a:ext cx="11091672" cy="6858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925312"/>
            <a:ext cx="10634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Engineering takeaway: «сколько ms у оператора на intervention» = ФОРМАЛЬНАЯ категоризация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634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10 сек = HOOL · 200 мс = формально HOOL, фактически HOTL · 5 мс = инженерно HOTL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Россия против UN LAWS — инженер делает свой выбор внутри рамок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Voting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Ноябрь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4688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161 / 3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Против: Беларусь · КНДР · Россия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8862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Ноябрь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8862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164 / 6 /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Против: + Бурунди · Израиль · США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Россия — в позиции «против» с 2018. Лагерь «против» в 2025 — больше 3 стран, политически разнообразен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Что делает инженер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94560"/>
            <a:ext cx="5394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ook-open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33172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2331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1. Знать ландшафт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UN GGE, ICRC, голоса UNGA, DoD 3000.09. Как FAR для civil aviation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383280"/>
            <a:ext cx="5394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ale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52044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86600" y="3520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2. Знать engineering определения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8862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HITL/HOOL/HOTL + L1-L5 применимы независимо от geopolitical alignment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572000"/>
            <a:ext cx="5394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pass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70916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86600" y="47091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3. Делать осознанный выбор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Civilian dual-use / оборона L1-L2 / оборона L3-L4 — каждый правомерный, но РАЗНЫЙ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989320"/>
            <a:ext cx="11091672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53328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В этой области инженер не остаётся нейтральным — он внутри рамок. Профессионализм — насколько осознанно их чувствует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Сборка: критерии, карьера, чтение, замыкание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39319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Семь критериев, карьерный угол, чтение, замыкание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6 минут · 7 критериев · 5 профилей · 7 источников · замыкание к keystone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8484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8484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9768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9768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Decide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1052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1052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2336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Граница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1362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1362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5. Сборка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Семь критериев «когда AI плохая идея» — рабочая матрица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691640"/>
            <a:ext cx="457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691640"/>
            <a:ext cx="164592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Звено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691640"/>
            <a:ext cx="5029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737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Критерий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7373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Иллюстрация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57400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3055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57400"/>
            <a:ext cx="1645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13055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Sense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057400"/>
            <a:ext cx="5029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1488" y="213055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Low-data domain или distribution shift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05740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0688" y="213055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Adversarial SAR ATR · новые цели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60320"/>
            <a:ext cx="4572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63347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2560320"/>
            <a:ext cx="164592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263347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Sense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560320"/>
            <a:ext cx="50292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263347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High-stakes single-sensor без избыточности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2560320"/>
            <a:ext cx="36576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8" y="263347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F-35 ALIS без HITL flight gate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63240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13639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3063240"/>
            <a:ext cx="1645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5568" y="313639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Decide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51760" y="3063240"/>
            <a:ext cx="5029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61488" y="313639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Long-tail edge cases с low ML confidence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306324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8" y="313639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Mission planning под новые ROE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566160"/>
            <a:ext cx="4572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63931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5840" y="3566160"/>
            <a:ext cx="164592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5568" y="363931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Decide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51760" y="3566160"/>
            <a:ext cx="50292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61488" y="363931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High-stakes life-and-death без HITL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3566160"/>
            <a:ext cx="36576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90688" y="363931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Lavender canonical anti-example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069080"/>
            <a:ext cx="4572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414223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4069080"/>
            <a:ext cx="164592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5568" y="414223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51760" y="4069080"/>
            <a:ext cx="50292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61488" y="414223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Автономия не нужна, человек медленнее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4069080"/>
            <a:ext cx="36576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90688" y="414223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737 MAX MCAS — «решение не было нужно»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4572000"/>
            <a:ext cx="4572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464515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05840" y="4572000"/>
            <a:ext cx="164592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15568" y="464515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51760" y="4572000"/>
            <a:ext cx="50292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61488" y="464515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COTS sensor дешевле + reliable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572000"/>
            <a:ext cx="36576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90688" y="464515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AoA-redundancy на 737 MAX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" y="5074920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14807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05840" y="5074920"/>
            <a:ext cx="1645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5568" y="514807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Cross-cutting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51760" y="5074920"/>
            <a:ext cx="5029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61488" y="514807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HOOL → HOTL = treaty-territory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80960" y="507492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90688" y="514807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LAWS · UN GGE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48640" y="6035040"/>
            <a:ext cx="11091672" cy="45720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77240" y="6080760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Главное в матрице — она ИНСТРУМЕНТ. Один срабатывает → redesign; несколько → пересмотр подхода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Карьерный угол — 5 инженерных профилей × 3 контура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2194560" cy="233172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82880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7432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CV / DL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0040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Спутниковая аналитика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7472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Defense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49039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Perception для drones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691640"/>
            <a:ext cx="2194560" cy="233172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pu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1828800"/>
            <a:ext cx="8229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834640" y="27432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ML / 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320040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Autonomous platforms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47472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Drone swarms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749039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Gen design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1691640"/>
            <a:ext cx="2194560" cy="233172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icrochip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1828800"/>
            <a:ext cx="822960" cy="822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20640" y="27432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Embedded / 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20040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On-orbit 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47472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Drone autonomy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49039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On-platform inference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1691640"/>
            <a:ext cx="2194560" cy="233172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hield-check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828800"/>
            <a:ext cx="822960" cy="8229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06640" y="27432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Safety eng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320040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DO-178C / ARP4754A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347472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FMEA / FTA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3749039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Redundancy design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1691640"/>
            <a:ext cx="2194560" cy="233172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cale-9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828800"/>
            <a:ext cx="822960" cy="8229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692640" y="27432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Ethics / policy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320040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UN GGE process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347472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ICRC engineering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749039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AI policy в orgs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25196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Три контура работы: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663440"/>
            <a:ext cx="3657600" cy="1371600"/>
          </a:xfrm>
          <a:prstGeom prst="roundRect">
            <a:avLst>
              <a:gd name="adj" fmla="val 22222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7548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Российский dual-use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1663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Cognitive Pilot · VisionLabs · ТЕРРА ТЕХ · СКАНЭКС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79" y="4663440"/>
            <a:ext cx="3657600" cy="1371600"/>
          </a:xfrm>
          <a:prstGeom prst="roundRect">
            <a:avLst>
              <a:gd name="adj" fmla="val 22222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80559" y="47548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Глобальный контур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59" y="51663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Boeing · Airbus · NASA · Anduril · Palantir · Helsing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19" y="4663440"/>
            <a:ext cx="3657600" cy="1371600"/>
          </a:xfrm>
          <a:prstGeom prst="roundRect">
            <a:avLst>
              <a:gd name="adj" fmla="val 22222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599" y="47548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Гражданский без оборонной нагрузки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599" y="51663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Wisk Aero · Joby · Maxar · Planet · BlackSky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2179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Выбор есть — и он НЕ сводится к «либо военная индустрия, либо ничего»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Семь источников для тех, кто идёт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5440680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ok-open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411480" cy="411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80136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1. Scharre, P. (2018). Army of None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1945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W. W. Norton. Базовая книга по LAWS. На русском доступна. CNAS Director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5440680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le-text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80360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34440" y="285292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2. CSIS / Bondar (Apr 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24612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How Russia is Building a Sovereign Drone Ecosystem with AI-Driven Autonomy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94760"/>
            <a:ext cx="5440680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ewspaper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31920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34440" y="390448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3. Abraham, Y. (2024). Lavender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29768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+972 / Local Call. Главная первичная публикация по Lavender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46320"/>
            <a:ext cx="5440680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83480"/>
            <a:ext cx="411480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34440" y="495604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4. ICRC Position Paper (2024)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34924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Autonomous Weapons Systems. Главный non-state документ. icrc.org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691640"/>
            <a:ext cx="5440680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lane-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828800"/>
            <a:ext cx="41148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03720" y="180136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5. DARPA ACE briefings 2023-2024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1945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Публичные материалы по X-62A VISTA. Что реально умеет AI-pilot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743200"/>
            <a:ext cx="5440680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roll-4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2880360"/>
            <a:ext cx="411480" cy="411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03720" y="285292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6. GAO-20-316 + GAO-22-105943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24612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F-35 ALIS / ODIN transition. US audit-документы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440680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users-4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5080" y="3931920"/>
            <a:ext cx="411480" cy="411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903720" y="390448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7. Stop Killer Robots briefs 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429768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Сводки по UN GGE и UNGA голосованиям. stopkillerrobots.org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Все 104 источника главы — в разделе «Источники» в lec-09/chapter.md, сгруппированы по разделам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Цепь по-прежнему держит инженер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11091672" cy="22860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Гражданское ↔ Военное · те же стеки, два контура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635" y="1920240"/>
            <a:ext cx="338328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y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235" y="2148840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6635" y="28803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Sense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5" y="33832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AI ускоряет → человек верифицирует ground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5" y="3977639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(ALIS)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45635" y="2971800"/>
            <a:ext cx="41148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2836" y="1920240"/>
            <a:ext cx="338328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ain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436" y="2148840"/>
            <a:ext cx="640080" cy="64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02836" y="28803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Decide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5716" y="33832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AI ассистирует → человек удерживает authority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716" y="3977639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(Lavender — анти-пример)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31836" y="2971800"/>
            <a:ext cx="41148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9036" y="1920240"/>
            <a:ext cx="338328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lane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0636" y="214884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89036" y="28803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1915" y="33832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AI исполняет в envelope → человек supervises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1915" y="3977639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(CCA wingman, не replacement)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17720"/>
            <a:ext cx="11091672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21295C"/>
                </a:solidFill>
                <a:latin typeface="Arial"/>
              </a:rPr>
              <a:t>Цепь по-прежнему держит инженер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106344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AI — инструмент в инженерных руках, не автономный субъект. Профессионализм — умение сказать «да» и «нет»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Следующие лекции: 10 — энергетика; 11 — транспорт и логистика. Цепь Sense → Decide → Act работает везде, где есть инженерное решение и физический мир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0" b="1" i="0">
                <a:solidFill>
                  <a:srgbClr val="21295C"/>
                </a:solidFill>
                <a:latin typeface="Arial"/>
              </a:rPr>
              <a:t>Q&amp;A?</a:t>
            </a:r>
          </a:p>
        </p:txBody>
      </p:sp>
      <p:pic>
        <p:nvPicPr>
          <p:cNvPr id="3" name="Picture 2" descr="message-circle-question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367" y="425196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4924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1C7293"/>
                </a:solidFill>
                <a:latin typeface="Arial"/>
              </a:rPr>
              <a:t>Backup prompts (на случай, если зал молчит):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760720"/>
            <a:ext cx="3657600" cy="6400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8521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Почему США, Россия и Китай не подписывают LAWS-договор?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5760720"/>
            <a:ext cx="3657600" cy="6400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58521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+972 преувеличил про Lavender?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5760720"/>
            <a:ext cx="3657600" cy="6400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58521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Куда идти работать без оборонной нагрузки?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