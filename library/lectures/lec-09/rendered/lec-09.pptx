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Представьте обычный понедельник мая 2026 года. Аналитик утром открывает сводку Maxar Sentry и видит около двух десятков аномалий, которые система автоматически пометила за прошедшую ночь. Среди них — пара зданий в новом порту в Африке, появившихся между съёмками с интервалом в восемь часов.</a:t>
            </a:r>
          </a:p>
          <a:p/>
          <a:p>
            <a:r>
              <a:t>Что важно в этой картинке для нас, инженеров? Во-первых, аналитика была сделана не глазами человека. Maxar Sentry обучен на архиве объёмом около 250 петабайт спутниковых снимков высокого разрешения за два десятилетия, и его конвейер постоянно сравнивает свежие снимки с базовой линией. Во-вторых, человек всё ещё в петле: он смотрит на «before/after», подтверждает или отвергает гипотезу. AI ускорил Sense, но Decide и Act остались на людях. И в-третьих — это работает в часах от съёмки до сводки, а не в днях.</a:t>
            </a:r>
          </a:p>
          <a:p/>
          <a:p>
            <a:r>
              <a:t>Этот кадр — не победа AI и не его поражение. Это маленький фрагмент длинной цепи, в которой одни звенья AI отдают людям, а в других звеньях люди сознательно оставляют контроль за собой. Именно эту цепь мы сейчас разложим как карту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титульный слайд лекции 9 — седьмой отраслевой в нашем курсе и одной из двух (вместе с медициной), где цена единственной ошибки модели может измеряться не деньгами, а жизнями. В отличие от медицины, где регулятор единый — FDA или EU AI Act — в аэрокосмосе и обороне инженер одновременно встроен в три рамки: гражданская сертификация авиационного ПО, оборонная политика отдельной страны и международное право. Эти три рамки иногда совпадают, иногда конкурируют, и навык находить свой путь между ними — отдельная инженерная компетенция, которую мы будем тренировать сегодня. Тон лекции — trust-but-verify: не евангелизм и не диссидентство. Мы разбираем, что именно работает, где именно ломается и где именно проходит граница, которую инженер не пересекает по решению вендора, а только по решению государства и международного сообщества.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Структура лекции повторяет цепь OODA с одним важным добавлением: там, где звено Act обрезано регулированием, мы посвящаем отдельный раздел. Первый раздел — Sense. Это место, где AI работает лучше всего: данных много, ground truth относительно доступна, цена ложного срабатывания терпима. Здесь разберём спутниковую аналитику Maxar и BlackSky, edge-AI на орбите, predictive maintenance Rolls-Royce и Airbus Skywise, российский слой ТЕРРА ТЕХ и СКАНЭКС — а также три провала. Второй — Decide. Это самое тонкое звено: спрос на ускорение огромен, но галлюцинации больших языковых моделей и automation bias превращаются здесь из лабораторных феноменов в решения о жизнях людей. Здесь Palantir MSS, Scale Donovan, Helsing, Anthropic-Palantir partnership — и канонический разбор Lavender как «accuracy — не та метрика». Третий — Act. Хайп далеко впереди реальности. CCA, X-62A, Saker Scout, Geran-2 — реальные кейсы; MCAS как анти-паттерн safety-critical. Четвёртый — граница и регулирование. Лестница L1-L5, UN GGE, ICRC, Maven walkout и big-tech возврат, триада HITL/HOOL/HOTL. Пятый — сборка: семь критериев, карьерный угол, чтение, замыкание. Центральный вопрос внизу — держите его в голове по ходу всей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этой лекции мы пользуемся шестью ключевыми аббревиатурами на каждом шагу. Этот слайд — не для запоминания наизусть; он работает как табличка-якорь. SAR — это радар с синтезированной апертурой; он формирует изображение по принципу пересчёта эха со множества положений антенны. Это главная альтернатива оптической съёмке для всепогодного мониторинга. ATR — автоматическое распознавание целей; это ML-классификатор, который по сенсорному изображению определяет тип и идентичность объекта. Главный «декорированный» термин в военной AI-рекламе. ISR — зонтичный термин для разведзадач: спутниковая, воздушная, наземная разведка плюс долгосрочное наблюдение. EW — радиоэлектронная борьба, класс действий по подавлению, обману или перехвату сигналов противника; именно EW обычно атакует AI-системы через сенсорный вход. LAWS — летальные автономные системы оружия; термин, вокруг которого идут переговоры в UN GGE. OODA — цикл Боуда, на котором построена вся эта глава. Остальные аббревиатуры — HITL, HOOL, HOTL, CCA, MCAS, IFF, AMRAAM, V-BAT, GNSS, FedRAMP, ROE, IHL — будут расшифрованы по первому упоминанию.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Любая аэрокосмическая или оборонная задача — будь то перехват ракеты, корректировка курса по погоде, мониторинг изменений на территории — может быть разложена на одну и ту же цепочку шагов. Сначала надо увидеть: собрать сигналы из мира с сенсоров, камер, радаров, открытых источников. Это Sense. Затем эти сигналы надо проинтерпретировать и решить: классифицировать объект, оценить угрозу, выбрать вариант реакции. Это Decide. И наконец что-то сделать: дать команду оператору, развернуть систему ПВО, спустить дрон. Это Act.</a:t>
            </a:r>
          </a:p>
          <a:p/>
          <a:p>
            <a:r>
              <a:t>Эту трёхзвенную модель в 1976 году сформулировал американский военный лётчик и теоретик полковник Джон Бойд. Полная аббревиатура — OODA: Observe — Orient — Decide — Act. Мы её используем как несущую ось всей лекции, упростив до трёх звеньев: Sense, Decide, Act.</a:t>
            </a:r>
          </a:p>
          <a:p/>
          <a:p>
            <a:r>
              <a:t>Главное, что нужно унести с этого слайда: AI входит в каждое звено по-разному, и провалы случаются преимущественно на стыках звеньев. В Sense AI работает лучше всего — данных много, ground truth доступна, цена ошибки терпима. В Decide AI работает как ускоритель аналитика, но плохо как замена; здесь LLM-галлюцинации и automation bias масштабируются в крупные ошибки. В Act AI работает в узких сценариях с supervised pilots overhead, но полная автономия в бою в 2026 году — это маркетинг и переговорный концепт, не развёрнутая практика.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Sense в нашей цепи — это сбор и первичная интерпретация сигналов о внешнем мире. В аэрокосмическом и оборонном контексте «сигнал» имеет четыре основных типа. Первый — спутниковая съёмка: оптика, мультиспектр, инфракрасное, радар с синтезированной апертурой. Второй — телеметрия с собственных платформ: данные с двигателей, бортовых систем, расход топлива, виброметрия. Третий — радиосигналы противника: перехват сообщений и анализ электромагнитной обстановки. Четвёртый — открытые источники: социальные сети, новости, коммерческие AIS-данные о судах.</a:t>
            </a:r>
          </a:p>
          <a:p/>
          <a:p>
            <a:r>
              <a:t>Почему Sense — самое благополучное звено? Три причины, которые надо запомнить. Доступная ground truth: снимки спутников можно верифицировать полевым выездом или вторым сенсором; аномалии двигателей — послеполётным досмотром. Терпимая FP-цена: лишний alert на спутниковой аналитике — это потерянное время аналитика, не жизнь. И множество сенсоров: можно строить fusion — слияние нескольких источников, что снижает индивидуальную хрупкость каждой модели. Multi-sensor fusion — это структурное преимущество Sense над Decide и Act, к которому мы будем возвращаться весь раздел.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 2026 году в коммерческой спутниковой аналитике сложилась устойчивая четвёрка игроков. Maxar Sentry — самый яркий из них. Sentry запущен 25 июня 2025 года как «predictive intelligence suite». Под капотом — ML-модели над архивом около 250 петабайт снимков плюс мульти-сенсорное cross-cueing: электро-оптика, радар с синтезированной апертурой и автоматическая идентификационная система судов. Главный контракт — NGA, программа Luno A D01, в рамках которой Maxar обязан выдавать AI-генерируемые детекции самолётов, кораблей и техники в часах после съёмки. Anti-hype оговорка важна для инженерного слуха. Бренд «AI-derived detection» часто означает не один LLM-class model, а оркестрацию из классических методов компьютерного зрения, change detection и multi-sensor tipping. Это нормально и инженерно правильно — маркетинговый язык опережает технический. Когда вы будете оценивать вакансию или предложение от подобного вендора, помните: за словом «AI» может стоять и foundation model, и хорошо отлаженный pipeline классических методов. Это разные инженерные стеки.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Коммерческий рынок 2026 года формируют четыре игрока — BlackSky, Planet, Capella и ICEYE — с двумя разными классами сенсоров. BlackSky сделал ставку на малые спутники с высокой частотой повторной съёмки. Их Gen-3 спутники работают со Spectra AI — это свёрточная классификация и обнаружение изменений. Planet Labs — самая массовая сеть с сотнями малых спутников Dove и ежедневным глобальным покрытием. Главный контракт — NRO EOCL.</a:t>
            </a:r>
          </a:p>
          <a:p/>
          <a:p>
            <a:r>
              <a:t>Capella Space и ICEYE — операторы радара с синтезированной апертурой. Преимущество радара — всепогодная съёмка, способность видеть сквозь облака и ночью. Главное применение — морское наблюдение, отслеживание «теневого флота», мониторинг военной инфраструктуры. Capella работает с NGA, ICEYE — финский оператор с активными контрактами в Украине и НАТО.</a:t>
            </a:r>
          </a:p>
          <a:p/>
          <a:p>
            <a:r>
              <a:t>Структурный вывод: вы не выбираете «лучшего» вендора. Вы выбираете правильный сенсор и правильную частоту покрытия для вашей задачи. AI работает поверх этого выбора, а не вместо него.</a:t>
            </a:r>
          </a:p>
          <a:p/>
          <a:p>
            <a:r>
              <a:t>Параллельно с большой коммерческой аналитикой развивается отдельная линия — машинное обучение прямо на спутнике, без передачи сырого сигнала на землю. Цель — снизить задержку и ширину канала: вместо мегабайтов сырого изображения передаётся килобайт сводки «вот тут изменение». Программы 2024-2026 года группируются в четыре категории. Демонстраторы: ESA Φ-sat-2 — европейский спутник с моделями, обновляемыми по телекомандам. Промышленная телеметрия: Lockheed Pony Express 2 — американский военный аналог. Слежение за космосом: Slingshot Agatha с ТАЛОС — 204 сенсора в 21 локации, наблюдение за самими спутниками. Гражданская аналитика: ТЕРРА ТЕХ от Роскосмоса — аграрный и инфраструктурный мониторинг.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российском контексте Sense развивается тремя путями, и публичная часть из этих путей — гражданская спутниковая аналитика.</a:t>
            </a:r>
          </a:p>
          <a:p/>
          <a:p>
            <a:r>
              <a:t>ТЕРРА ТЕХ — дочерняя структура Роскосмоса, основана в 2017 году. Предоставляет digital services на пространственных данных. Главный публичный кейс — мониторинг сельскохозяйственных земель в странах БРИКС по соглашению 2024 года. Точный объём и эффективность не публикуются — это не PR в смысле «ничего нет», но и не полная transparency.</a:t>
            </a:r>
          </a:p>
          <a:p/>
          <a:p>
            <a:r>
              <a:t>СКАНЭКС — единственная компания в РФ и СНГ, напрямую принимающая данные дистанционного зондирования Земли на собственные наземные станции. Архив — три с половиной миллиона снимков; эксклюзивный поставщик для Яндекс.Карт. Московский суд ограничил распространение снимков разрешением выше 2 метров — security restriction 2014 года.</a:t>
            </a:r>
          </a:p>
          <a:p/>
          <a:p>
            <a:r>
              <a:t>СПУТНИКС — более 100 кубсатов с 2013 года. Главная констелляция — Зоркий-2М: три спутника на орбите плюс ещё три, мультиспектральная камера 2,5 метра и 4 спектральных канала. Sitronics Group развернул в 2024 году 45 коммерческих кубсатов — 53% всех российских развёртываний этого года.</a:t>
            </a:r>
          </a:p>
          <a:p/>
          <a:p>
            <a:r>
              <a:t>В оборонном Sense российских открытых данных мало. Российский гражданский слой Sense ассимметричен западному: вендоров меньше, объём публикуемых метрик меньше, но реальные операционные кейсы есть.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Прогностическое обслуживание — это семейство задач: по телеметрии двигателей и систем предсказать отказ компонента и заменить его на плановом обслуживании, а не на аварийной посадке. В гражданской авиации это рабочая инфраструктура. Rolls-Royce IntelligentEngine вместе с TotalCare работает с 2018 года — это цифровой двойник каждого летающего двигателя плюс модели машинного обучения на телеметрии. Главная метрика — около 400 непланированных событий обслуживания предотвращаются в год. Airbus Skywise — более широкая платформа. К концу 2024 года к ней подключены около 11 600 самолётов. easyJet с использованием Skywise сообщил об экономии топлива около 8,1 тонны на ВС в год и о 44 предотвращённых отменах рейсов.</a:t>
            </a:r>
          </a:p>
          <a:p/>
          <a:p>
            <a:r>
              <a:t>В оборонном секторе аналог — F-35 ALIS, и здесь история другая. К концу 2010-х ALIS превратился в источник проблем. Высокая ложноположительная активность: ALIS помечал самолёт как «нельзя лететь», когда никакой реальной проблемы не было. GAO в отчёте 2020 года сообщал, что неточные данные приводили к тому, что система сигнализировала о запрете полётов исправных самолётов. Враждебный интерфейс: пользоваться ALIS было настолько сложно, что персонал систематически обходил систему через Excel. Стоимость лётного часа к пику — 42–44 тысячи долларов, выше чем у F-22. Финальная версия ALIS вышла в июне 2024 года, начался переход на ODIN — государственное решение, с явно отделённой авторизацией полётов, с автономным режимом.</a:t>
            </a:r>
          </a:p>
          <a:p/>
          <a:p>
            <a:r>
              <a:t>Урок номер один: прогностическое обслуживание в безопасностно-критичной области работает только при выполнении трёх условий: быстрая обратная связь, доступная эталонная разметка, цена ложной тревоги не выше цены пропуска. ALIS нарушил все три. ODIN строится в явной осведомлённости об этом нарушении. Урок номер два: тот же триплет применим к любой прогностической системе — от мониторинга турбин до диагностики промышленных линий.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провальный кейс Sense — adversarial-атаки на SAR ATR. Идея проста: classifier обучен распознавать танки и пусковые установки по SAR-снимкам; противник размещает на технике дешёвые металлические рассеиватели в специальной геометрии, и classifier начинает неправильно классифицировать объекты. Урок. Стандартный benchmark accuracy обманчив для adversarial-доменов. Защита требует трёх вещей одновременно: Bayesian uncertainty estimates, adversarial training, и abstention pathway — модель эскалирует к человеку, а не выбирает «наиболее вероятный» класс.</a:t>
            </a:r>
          </a:p>
          <a:p/>
          <a:p>
            <a:r>
              <a:t>Третий провальный кейс Sense — GPS-spoofing гражданской авиации. AI как таковой ни при чём — но кейс демонстрирует фундаментальную хрупкость GNSS-зависимых систем. По данным Латвии, в 2024 году зарегистрировано 820 случаев интерференции против 26 в 2022 — тридцатидвухкратный рост. Атрибуция к российским средствам РЭБ — Krasukha-4, Borisoglebsk-2; зона включает Чёрное море и Восточную Европу.</a:t>
            </a:r>
          </a:p>
          <a:p/>
          <a:p>
            <a:r>
              <a:t>Урок. GNSS-only — это single point of failure. Защита — multi-GNSS, INS-fallback, eLORAN. Spillover-проблема: военный РЭБ-эффект распространяется на не-комбатантов: гражданские самолёты регулярно попадают в зоны искажённого GPS. Защита GNSS — collective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Decide в OODA — это переход от наблюдения к выбору действия. Семейство задач: mission planning, target identification, multi-source fusion, decision support для командира.</a:t>
            </a:r>
          </a:p>
          <a:p/>
          <a:p>
            <a:r>
              <a:t>В отличие от Sense, где ML опирается на сенсорные features, в Decide LLM и foundation models обрабатывают смешанный input: текстовые отчёты, изображения, тактические карты, бортовые телеметрии. Это территория multi-modal foundation models — Anthropic, OpenAI, DeepSeek, Qwen, Palantir, Scale, Helsing.</a:t>
            </a:r>
          </a:p>
          <a:p/>
          <a:p>
            <a:r>
              <a:t>Главный для нашего слуха момент я хочу проиллюстрировать одним числом: 10 процентов от 37 тысяч — это 3 700. Эта арифметика — это пред-просмотр канонического разбора Lavender. Если модель ошибается в 10 процентах случаев и применяется к 37 тысячам человек, ошибка масштабируется в тысячи людей. «Accuracy» как метрика проектировалась под симметрию FP и FN. В life-and-death это никогда не правда. FP — это жизнь невинного человека, и эта жизнь дороже, чем «упустить оперативника». Метрика «accuracy» обнуляется в этом контексте.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Декабрь 2024 — май 2026. На рынок систем поддержки принятия решений в обороне вышли четыре крупных игрока, и важно понимать ландшафт целиком, а не каждого по отдельности.</a:t>
            </a:r>
          </a:p>
          <a:p/>
          <a:p>
            <a:r>
              <a:t>Palantir Maven Smart System — главный американский флагман. История начинается с Project Maven в 2017 году: программа анализа видео с БПЛА. В марте 2018 года утечка показала, что Google помогает программе; к июню 2018 года контракт с Google не был продлён под давлением сотрудников — подробнее в Разделе 4. Программа была подхвачена Palantir, Anduril и Scale. Контракты MSS: первый IDIQ на 480 миллионов в мае 2024 года; дополнение на 99,8 миллиона в сентябре 2024; увеличение потолка на 795 миллионов в мае 2025. Суммарный потолок — около 1,3 миллиарда долларов до 2029 года. Уровень автономии — L1, ассистирующий: ИИ выдаёт детекции и сводки, командир решает.</a:t>
            </a:r>
          </a:p>
          <a:p/>
          <a:p>
            <a:r>
              <a:t>Scale AI прошёл эволюцию из трёх продуктов: Donovan на классифицированных сетях XVIII Airborne Corps (2022–23) → Defense Llama, дообученная на оборонном корпусе (ноябрь 2024) → Thunderforge для CENTCOM и INDOPACOM (март 2025) — это уже планирование вариантов действий, движения войск, кораблей.</a:t>
            </a:r>
          </a:p>
          <a:p/>
          <a:p>
            <a:r>
              <a:t>Helsing — главный европейский игрок. Altra: слияние данных с БПЛА и наблюдателей для наземного боя. Centaur: ИИ-пилот, испытания на Saab Gripen E в июне 2025. Оценка после раунда D — 12 миллиардов евро, главный инвестор — Prima Materia под управлением Дэниэла Эка из Spotify.</a:t>
            </a:r>
          </a:p>
          <a:p/>
          <a:p>
            <a:r>
              <a:t>Anthropic-Palantir-AWS — поворотная точка ноября 2024. Claude 3 и 3.5 выведены на Impact Level 6 — высший уровень секретности облака для американского правительства. Между Maven walkout 2018 года и этим партнёрством — шесть лет, и индустрия прошла полный цикл.</a:t>
            </a:r>
          </a:p>
          <a:p/>
          <a:p>
            <a:r>
              <a:t>Российский слой — Svod, Glaz, Groza, ZOV Maps. Это система оперативного управления и геопространственная платформа, экспериментальное развёртывание с осени 2025. Источники: CSIS Bondar и российская пресса. Независимая западная верификация ограничена, поэтому мы упоминаем с явной оговоркой — не «верить» и не «отвергать», а маркировать уровень доказательности.</a:t>
            </a:r>
          </a:p>
          <a:p/>
          <a:p>
            <a:r>
              <a:t>Главный инженерный вывод: оценивая оборонного ИИ-вендора, разделяйте две оси — возможности ИИ и уровни допуска (FedRAMP HIGH, IL6, SCIF). Это разные инженерные компетенции, обе важны.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педагогический провал звена Decide — IDF Lavender, AI-система массовой идентификации целей в Газе 2023-2024.</a:t>
            </a:r>
          </a:p>
          <a:p/>
          <a:p>
            <a:r>
              <a:t>Что произошло. Lavender — AI-database, помечающая палестинских мужчин как «подозреваемых» по паттернам коммуникации. Около 37 000 человек помечено. По собственному признанию ЦАХАЛ, точность около 90% — то есть около 3 700 человек false positive. Среднее время review одной цели — около 20 секунд. Авторизованный «сопутствующий ущерб» — до 15-20 гражданских жертв на одного оперативника низшего звена.</a:t>
            </a:r>
          </a:p>
          <a:p/>
          <a:p>
            <a:r>
              <a:t>Уроки три.</a:t>
            </a:r>
          </a:p>
          <a:p/>
          <a:p>
            <a:r>
              <a:t>Урок первый. «Accuracy %» — не та метрика для life-and-death. Правильная метрика — false positive consequence × population × frequency. В медицине false negative дороже false positive — система настраивается на высокую sensitivity. В Lavender — наоборот: FP — жизнь невинного человека. Но система проектировалась под симметрию.</a:t>
            </a:r>
          </a:p>
          <a:p/>
          <a:p>
            <a:r>
              <a:t>Урок второй. AI снимает фрикцию decision-making → темпы вырастают → качество deliberation падает. Снимая фрикцию, AI масштабирует не качество решения, а его скорость. В life-and-death катастрофично.</a:t>
            </a:r>
          </a:p>
          <a:p/>
          <a:p>
            <a:r>
              <a:t>Урок третий. Human-in-the-loop не равно human-in-the-decision. 20 секунд проверки — это не review, это формальное подтверждение. Если HITL вырождается в подпись без осмысления, это HOTL под маской HITL. Engineering decision «сколько времени у оператора» — это формальная категоризация системы.</a:t>
            </a:r>
          </a:p>
          <a:p/>
          <a:p>
            <a:r>
              <a:t>Альтернатива не «давайте сделаем Lavender точнее». Альтернатива — изменение архитектуры: AI ассистирует triage, human keeps authority с реальным временем на review. AI — accelerator, не decision-maker.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Второй провал звена Decide — Russian Lancet ATR rollback, 2022-2024. Канонический кейс для LO2: отличить демо от продакшена.</a:t>
            </a:r>
          </a:p>
          <a:p/>
          <a:p>
            <a:r>
              <a:t>Маркетинг 2022-23: «autonomously find and hit target», видео с интерфейсом «Target Locked». Анализ CSIS / MWI 2024: AI-guidance off после первоначальных развёртываний. Последние video drops без autonomous-locking UI. Гипотеза: premature product rollout с последующим recall. ATR работал в demo-conditions, но не в реальных: пыль, дым, EW, новые маскировки. Это урок не Lancet-specific. ML performance в narrow distribution не переносится на full battlefield. Применимо ко всем ATR-системам, drone autonomy claims, autonomous targeting рекламам.</a:t>
            </a:r>
          </a:p>
          <a:p/>
          <a:p>
            <a:r>
              <a:t>Третий провал — USS Vincennes 1988. 3 июля крейсер сбил иранский гражданский Airbus A300, погибли 290 человек. Aegis-система корректно записала track как climbing — характеристика гражданского самолёта. Операторы под стрессом доложили «descending into attack». Не баг алгоритма — automation выполнил работу. Сбой на интерфейсе под combat stress.</a:t>
            </a:r>
          </a:p>
          <a:p/>
          <a:p>
            <a:r>
              <a:t>Почему это про LLM. В современных LLM-системах структурно похожая проблема: LLM выдаёт fluent confident output — текст хорошо написан и звучит уверенно, — и оператор под временным давлением склонен принять его, не верифицируя источники. Confident BS = high-risk confident BS в high-stakes. Урок 1988 года прямо применим к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в OODA — это последнее звено: AI исполняет действие, не только наблюдает или рекомендует. Pilot-class autonomy, swarm coordination, counter-drone autonomy, industrial robotics.</a:t>
            </a:r>
          </a:p>
          <a:p/>
          <a:p>
            <a:r>
              <a:t>Adoption растёт быстро по числу платформ, но большая часть combat-strikes остаётся operator-in-loop или semi-auto terminal guidance. «AI заменит пилотов» — overhyped; «AI заменит наводчиков» — overhyped; «AI заменит командиров» — overhyped. Реальность — collaborative pilots с supervised AI.</a:t>
            </a:r>
          </a:p>
          <a:p/>
          <a:p>
            <a:r>
              <a:t>Особое место в Act — counter-drone autonomy. Главная причина роста — асимметрия: 300-долларовый дрон против 3-миллионной зенитной ракеты Patriot. Заменить три миллиона на сравнимый по цене AI-perimeter-defence — это инженерная и экономическая необходимость, и это пространство explosive growth в 2026.</a:t>
            </a:r>
          </a:p>
          <a:p/>
          <a:p>
            <a:r>
              <a:t>Когда вы оцениваете defense-AI вакансию или продукт, держите в голове эту cost-asymmetry. Если экономика боя сместилась в сторону «дешёвый attacker против дорогой defence», AI оказывается основным механизмом перестройки.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Anduril Fury YFQ-44A — Beautiful poster child современной американской ставки на автономию. CCA — Collaborative Combat Aircraft — программа ВВС США по созданию беспилотных wingmen, летающих рядом с пилотируемыми истребителями. Fury YFQ-44A — Increment 1.</a:t>
            </a:r>
          </a:p>
          <a:p/>
          <a:p>
            <a:r>
              <a:t>Спецификации: высота до 50 000 футов, скорость 0,95 Маха, перегрузка 9g, двигатель Williams FJ44-4M на 4 000 фунтов тяги. Главное вооружение — AIM-120 AMRAAM. Первый полёт состоялся 31 октября 2025. Серийное производство стартовало 23 марта 2026 на новом заводе Arsenal-1 в Огайо — миллиард долларов инвестиций.</a:t>
            </a:r>
          </a:p>
          <a:p/>
          <a:p>
            <a:r>
              <a:t>Управляется Fury стеком: Hivemind (Shield AI autonomy stack) плюс Lattice (Anduril proprietary OS для autonomous mesh-coordination). Уровень автономии — L3, Supervised autonomy: AI executes в pre-authorised envelope, wingman сверху supervises.</a:t>
            </a:r>
          </a:p>
          <a:p/>
          <a:p>
            <a:r>
              <a:t>Что вынести: 2026 год — первый год CCA serial production. Стандартом для defense-AI в воздушных платформах становится L3 Supervised: AI делает работу, человек сверху смотрит, человек авторизует key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DARPA ACE X-62A VISTA — первый в мире AI-vs-человек воздушный бой в реальном времени. Хронология: декабрь 2022 — начало испытаний; февраль 2023 — 12 полётов в Эдвардсе; сентябрь 2023 — первый AI-vs-manned F-16 dogfight: 2 000 футов nose-to-nose на 1 200 миль/ч; май 2024 — секретарь USAF Кендалл лично летал в AI-управляемом X-62A. 100 000+ строк flight-critical software; 21 испытательный полёт.</a:t>
            </a:r>
          </a:p>
          <a:p/>
          <a:p>
            <a:r>
              <a:t>Anti-hype: X-62A — narrow scripted scenario. Один-на-один dogfight в известной зоне, BVR-критерии исключены, fuel management не покрыт, ROE не учитывался. «AI заменит пилотов» в 2026 — маркетинговая экстраполяция от узкого demo. Реальность ближе к collaborative supervised CCA (Fury) — wingman, не replacement.</a:t>
            </a:r>
          </a:p>
          <a:p/>
          <a:p>
            <a:r>
              <a:t>Saker Scout — один из combat-tested AI-loitering munitions. Идентифицирует до 64 целей; дальность около 10 км; CV-классификация для target ID; EW-resistant. Часть Brave1 — государственной платформы Украины (300+ AI dev). Первый полностью unmanned ground operation — декабрь 2024 (UGV + FPV без пехоты). В 2025 — AI-mother-drone, доставляющая 2 AI-FPV strike дрона за 300 км.</a:t>
            </a:r>
          </a:p>
          <a:p/>
          <a:p>
            <a:r>
              <a:t>Уровень — L2, Semi-auto perception. AI рекомендует target lock, оператор подтверждает. Именно Saker, а не X-62A, представляет настоящее лицо Act-автономии в 2026 году: L2, не L4-L5.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Geran-2 — российская модификация иранского Shahed-136, производится на Алабугской ОЭЗ. К концу 2025 — около 2 700-3 000 в месяц. Общий объём &gt;26 000 к поздней весне 2025, план &gt;40 000 к концу года. Эти цифры — [VFY-day-of].</a:t>
            </a:r>
          </a:p>
          <a:p/>
          <a:p>
            <a:r>
              <a:t>AI-эволюция: wreckage-анализ показывает NVIDIA Jetson onboard, high-res камеры, тепловизионные модули, FPGA для EW-resistance. В 2026 появился anti-radiation seeker.</a:t>
            </a:r>
          </a:p>
          <a:p/>
          <a:p>
            <a:r>
              <a:t>Caveat по «автономии». Wreckage подтверждает onboard ML, но реальная роль autonomous decision quality vs operator override — unclear. Большая часть strikes — operator-guided + GPS-guided. «Autonomy» в смысле «решает сама» — overstated.</a:t>
            </a:r>
          </a:p>
          <a:p/>
          <a:p>
            <a:r>
              <a:t>Supply-chain каверз. 1 111 серверов Dell PowerEdge XE9680 через индийскую Shreya Life Sciences в апреле-августе 2024. Это и риск для адверсаров, и инженерный урок: hardware supply-chain — strategic risk.</a:t>
            </a:r>
          </a:p>
          <a:p/>
          <a:p>
            <a:r>
              <a:t>Cognitive Pilot — civilian dual-use balance. JV Сбер плюс Cognitive Technologies. Применения: КАМАЗ-комбайны, тракторы СберАгро, городской транспорт, железная дорога. Stack: CV + радар + LiDAR. План — до 50 000 систем/год. НЕ identified as defense supplier. Те же стеки работают в CAD/CAM (Лекция 6) и в промышленной автоматизации (Лекция 14).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и канонический провал Act — Boeing 737 MAX MCAS. Два крушения: Lion Air 610 (29 октября 2018, 189 KIA) и Ethiopian Airlines 302 (10 марта 2019, 157 KIA). Суммарно 346 погибших. 20-месячная остановка эксплуатации в США; международная un-grounding до 2022.</a:t>
            </a:r>
          </a:p>
          <a:p/>
          <a:p>
            <a:r>
              <a:t>Что произошло. Boeing 737 MAX получил большие двигатели, что сместило аэродинамический центр. Решение Boeing — программное: MCAS, автоматически корректирующая trim вниз. MCAS активировался по одному AoA-сенсору, без резервирования. Когда сенсор давал ложное показание, пилот не мог override — не было ни тренировок, ни понимания, что система делает.</a:t>
            </a:r>
          </a:p>
          <a:p/>
          <a:p>
            <a:r>
              <a:t>Строго говоря, MCAS — не AI: это classical control с if-then логикой. Но pedagogically — canonical anti-pattern для всех safety-critical AI.</a:t>
            </a:r>
          </a:p>
          <a:p/>
          <a:p>
            <a:r>
              <a:t>Уроки. Один: redundancy — никогда не делать safety-critical системы зависимыми от single sensor. Второй: transparency — operator должен знать, что система делает. Третий: SPOF analysis обязателен в FMEA/FTA. Четвёртый: software cannot solve hardware shortfalls.</a:t>
            </a:r>
          </a:p>
          <a:p/>
          <a:p>
            <a:r>
              <a:t>Patriot mini-callback. Friendly fire 2003 (RAF Tornado + USN F/A-18C, оба сбиты собственными Patriot) и украинский F-16 2024. Automation bias: когда система «лучше человека» по статистике, операторы перестают активно мониторить. Mitigation — системный подход, не single ML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говорить о границе «где можно, где нельзя», нужна общая шкала. В индустрии используется лестница L1-L5 — концептуальный аналог SAE-уровней для cars. К 2026 году L1-L5 сложилась как наиболее цитируемая операциональная шкала.</a:t>
            </a:r>
          </a:p>
          <a:p/>
          <a:p>
            <a:r>
              <a:t>Ключ — на каждом уровне явно сказано, что делает AI и что делает человек. Без этого «уровень» — пустое слово.</a:t>
            </a:r>
          </a:p>
          <a:p/>
          <a:p>
            <a:r>
              <a:t>L1 Assistive — AI выдаёт information, человек решает. Palantir MSS. ms-to-intervention — минуты-часы. L2 Semi-auto — AI рекомендует, человек авторизует. Saker Scout. Секунды. L3 Supervised — AI executes в pre-authorised envelope, человек supervises. Anduril Fury. 100-1000 ms. L4 Pre-authorised — AI engages по pre-set ROE, человек может intervene но не required. Patriot auto, S-400 auto. &lt;100 ms. L5 Full LAWS — AI executes lethal без human authorisation. Currently debated, not deployed.</a:t>
            </a:r>
          </a:p>
          <a:p/>
          <a:p>
            <a:r>
              <a:t>Две границы. L3 ↔ L4 — место инженерного спора. Pre-authorisation envelope насколько узок? L4 ↔ L5 — место юридического спора в UN GGE. Даже Lavender формально требует human approval — 20-сек, — то есть формально L4-edge, не L5.</a:t>
            </a:r>
          </a:p>
          <a:p/>
          <a:p>
            <a:r>
              <a:t>Студент должен уметь сказать про систему: «эта система L3, с envelope шириной X». Это профессиональный язык в этой области.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GGE on LAWS — основной международный форум переговоров по LAWS. Создан в 2016. За последние три года произошёл сдвиг от «обсуждаем» к «работаем над текстом».</a:t>
            </a:r>
          </a:p>
          <a:p/>
          <a:p>
            <a:r>
              <a:t>Хронология. 5 ноября 2024 — Первый комитет UNGA: 161 за, 3 против, 13 воздержавшихся. Против — Беларусь, КНДР, Россия. 2 декабря 2024 — резолюция 79/62 на пленарном: 166 / 3 / 15. Сентябрь 2025 — UN GGE: 42 государства joint statement; rolling text объявлен достаточной основой. 6 ноября 2025 — Первый комитет, третья подряд: 164 / 6 / 7 по UN press; 156 / 5 / 8 по Stop Killer Robots. Против — Беларусь, Бурунди, КНДР, Израиль, Россия, и теперь США. Это значимый сдвиг.</a:t>
            </a:r>
          </a:p>
          <a:p/>
          <a:p>
            <a:r>
              <a:t>DoD Directive 3000.09. Autonomy in Weapon Systems, 2012, updated 2023. US policy требует HITL для kinetic в большинстве сценариев. Системы по умолчанию в L1-L3, с явным waiver-процессом для L4. US не противник договора в принципе, но опасается жёстких ограничений.</a:t>
            </a:r>
          </a:p>
          <a:p/>
          <a:p>
            <a:r>
              <a:t>Цель Генсека ООН — договор к 2026. Если ваша система проектируется на горизонте 5-10 лет, она почти наверняка будет работать в рамках какого-то ограничения.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 2018 по 2026 произошёл сдвиг в позиции big-tech AI labs относительно оборонной работы. Короткая, но критически важная нарративная арка.</a:t>
            </a:r>
          </a:p>
          <a:p/>
          <a:p>
            <a:r>
              <a:t>Эра 1 — Maven walkout 2018. Google leak март 2018: помогает Пентагону. 4 000+ подписей; ~12 резигнаций; staged walkouts. К июню 2018 Google не продлевает контракт.</a:t>
            </a:r>
          </a:p>
          <a:p/>
          <a:p>
            <a:r>
              <a:t>Эра 2 — vendor replacement 2018-2024. Anduril, Palantir, Scale, Helsing набирают вес. Маркетинговая позиция — «patriotic alternative». Anduril оценен в $30,5B; Palantir — $60B капитализация.</a:t>
            </a:r>
          </a:p>
          <a:p/>
          <a:p>
            <a:r>
              <a:t>Эра 3 — big-tech возврат 2024-2025. Январь 2024 — OpenAI тихо удалил ban на military use. Ноябрь 2024 — Anthropic-Palantir-AWS, Claude IL6. Сентябрь 2025 — Google возвращается через Google Cloud.</a:t>
            </a:r>
          </a:p>
          <a:p/>
          <a:p>
            <a:r>
              <a:t>Урок 1. Personal ethics не равно industry regulation. Внутренние этические policy одной фирмы не блокируют adoption military-AI на indust-level — только legal regulation может. Урок 2. «Не работать на DoD» теперь редкая роскошь. Студент 2026 года столкнётся с этим выбором и должен решать его осознанно.</a:t>
            </a:r>
          </a:p>
          <a:p/>
          <a:p>
            <a:r>
              <a:t>Между Maven walkout и Anthropic IL6 — всего 6 лет, и AI-индустрия прошла полный цикл от «отказа как принцип» до «военные контракты — критический revenue stream».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Самая важная mental model этого раздела — триада уровней человеческого контроля. Та же лестница L1-L5, но взгляд с противоположной стороны: что делает не AI, а человек.</a:t>
            </a:r>
          </a:p>
          <a:p/>
          <a:p>
            <a:r>
              <a:t>HITL — Human-In-The-Loop. Человек в каждой decision-point. AI не действует без явной authorisation. Mapping: L1, L2. Примеры: Palantir MSS, Saker Scout operator. HOOL — Human-On-The-Loop. Человек supervises, может intervene, но не required в каждой точке. Mapping: L3, L4. Fury CCA wingman, Patriot auto. HOTL — Human-Out-of-The-Loop. Человек вне execution-loop, нет real-time intervention. Mapping: L5.</a:t>
            </a:r>
          </a:p>
          <a:p/>
          <a:p>
            <a:r>
              <a:t>Что важно для инженера. Граница HOOL → HOTL — это место, на которое заточены DoD Directive 3000.09 + UN GGE + ICRC. Граница формально определяется engineering decision: сколько ms у оператора на intervention. 10 секунд — HOOL. 200 мс — формально HOOL, фактически HOTL. 5 мс — инженерно HOTL.</a:t>
            </a:r>
          </a:p>
          <a:p/>
          <a:p>
            <a:r>
              <a:t>Engineering takeaway. «Сколько ms на intervention» — формальная категоризация системы с правовыми последствиями. Ответ должен быть зафиксирован в системных требованиях, не в маркетинге.</a:t>
            </a:r>
          </a:p>
          <a:p/>
          <a:p>
            <a:r>
              <a:t>Mitigation: calibrated uncertainty, abstention pathways, structured outputs, mandatory human gates для kinetic. Связь с провалами: Lavender — вырожденный HITL (20 сек → HOTL); MCAS — отсутствие meaningful override.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Геополитический контекст для российского студента-инженера. Россия — одна из стран против резолюций UN LAWS. Ноябрь 2024: 161/3/13; против — Беларусь, КНДР, Россия. Ноябрь 2025: 164/6/7; против — Беларусь, Бурунди, КНДР, Израиль, Россия, США. Россия в позиции «против» с 2018. Лагерь «против» в 2025 — больше 3 стран, состав политически разнообразен.</a:t>
            </a:r>
          </a:p>
          <a:p/>
          <a:p>
            <a:r>
              <a:t>Мы не предписываем студенту политическую позицию — это его выбор. Но обязаны дать ландшафт.</a:t>
            </a:r>
          </a:p>
          <a:p/>
          <a:p>
            <a:r>
              <a:t>Первое — знать ландшафт. UN GGE, ICRC, голоса UNGA, DoD Directive — базовая профессиональная грамотность, как FAR для civil aviation engineer. Второе — знать, что критерии HITL/HOOL/HOTL и L1-L5 применимы независимо от geopolitical alignment. Engineering design определяется одинаково. Третье — делать осознанный выбор. Можно работать в гражданском dual-use, в обороне L1-L2, в обороне L3-L4. Каждый — правомерный, но разный.</a:t>
            </a:r>
          </a:p>
          <a:p/>
          <a:p>
            <a:r>
              <a:t>Это мысль, которую хотим донести: в этой области инженер не остаётся нейтральным — он внутри рамок, и профессионализм проявляется в том, насколько осознанно он эти рамки чувствует.</a:t>
            </a:r>
          </a:p>
          <a:p/>
          <a:p>
            <a:r>
              <a:t>Критерий 7, cross-cutting. Граница HOOL → HOTL — treaty-territory, не engineering. Когда проектируете систему рядом с этой границей, выходите за рамки чистой инженерии в зону международного 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Соберём в одну матрицу все шесть критериев плюс один cross-cutting — итого семь критериев «когда не AI» для аэрокосмической и оборонной области.</a:t>
            </a:r>
          </a:p>
          <a:p/>
          <a:p>
            <a:r>
              <a:t>В Sense — два. Первый: low-data domain или distribution shift. Иллюстрация — adversarial SAR ATR. Второй: high-stakes single-sensor без избыточности. Иллюстрация — F-35 ALIS без HITL.</a:t>
            </a:r>
          </a:p>
          <a:p/>
          <a:p>
            <a:r>
              <a:t>В Decide — два. Третий: long-tail edge cases с low ML confidence — нужна abstention. Четвёртый: high-stakes life-and-death без HITL. Канонический контрпример — Lavender.</a:t>
            </a:r>
          </a:p>
          <a:p/>
          <a:p>
            <a:r>
              <a:t>В Act — два. Пятый: автономия не нужна, человек медленнее. Канонический пример — 737 MAX MCAS как «решение проблемы, которой не было». Шестой: COTS sensor дешевле и надёжнее.</a:t>
            </a:r>
          </a:p>
          <a:p/>
          <a:p>
            <a:r>
              <a:t>Один cross-cutting, седьмой: граница HOOL → HOTL — это treaty-territory, не engineering. Это про LAWS и UN GGE.</a:t>
            </a:r>
          </a:p>
          <a:p/>
          <a:p>
            <a:r>
              <a:t>Главное в матрице — она инструмент. Прогоните предлагаемое AI-решение через эти семь критериев. Если хоть один срабатывает — это не «нельзя», это «нужен redesign». Если несколько — пересмотр фундаментального подхода. Эта матрица — не догма; она работает в 2026 с теми данными, которые есть. Рабочий инструмент.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Без агитации — где в этой области реальные карьерные пути и куда идти за более глубоким пониманием.</a:t>
            </a:r>
          </a:p>
          <a:p/>
          <a:p>
            <a:r>
              <a:t>Пять инженерных профилей. Специалист по компьютерному зрению и глубокому обучению — спутниковая аналитика (Maxar, BlackSky), оборонное ML (Palantir, Helsing), восприятие для дронов (Shield AI). Специалист по ML и обучению с подкреплением — автономные платформы (CCA), рои дронов, генеративный дизайн для аэрокосмических компонентов. Специалист по встраиваемым системам и edge-вычислениям — ML на орбите, автономия дрона, инференс на самом объекте. Системный инженер безопасности — сертификация по DO-178C и ARP4754A, FMEA и FTA, проектирование резервирования. Этика и политика — процесс UN GGE, инженерное взаимодействие с МККК, политика ИИ в организациях.</a:t>
            </a:r>
          </a:p>
          <a:p/>
          <a:p>
            <a:r>
              <a:t>Три контура работы. Российский dual-use: Cognitive Pilot, VisionLabs (под санкциями), ТЕРРА ТЕХ, СКАНЭКС, СПУТНИКС. Глобальный контур: Boeing, Airbus, NASA, ESA, Lockheed, Northrop, RTX; Anduril, Palantir, Helsing, Shield AI, Scale. Гражданский без оборонной нагрузки: Wisk Aero, Joby Aviation, Maxar, Planet Labs, BlackSky.</a:t>
            </a:r>
          </a:p>
          <a:p/>
          <a:p>
            <a:r>
              <a:t>Для тех, кто хочет идти дальше — пять ключевых источников. Книга Пола Скэра «Army of None» 2018 года — базовая книга по LAWS, доступна на русском. CSIS Bondar апрель 2026 — главный академический разбор российской экосистемы дронов. Abraham, +972 / Local Call 2024 — первичная публикация по Lavender. ICRC Position Paper 2024 — главный негосударственный документ. Stop Killer Robots briefs 2025 — регулярные сводки. Все 104 источника главы — в разделе «Источники» в chapter.md.</a:t>
            </a:r>
          </a:p>
          <a:p/>
          <a:p>
            <a:r>
              <a:t>Главное — выбор есть, и он не сводится к «либо военная индустрия, либо ничего». Гражданская аэрокосмическая отрасль — полноценное профессиональное поле.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мысль, с которой мы хотим оставить студента: цепь по-прежнему держит инженер. AI вошёл в каждое звено, но он не заменил человека.</a:t>
            </a:r>
          </a:p>
          <a:p/>
          <a:p>
            <a:r>
              <a:t>Он ускорил Sense — но Sense без человеческой проверки не работает: ALIS, GPS-spoofing. Он ускорил Decide — но Decide без real HITL превращается в Lavender. Он расширил Act — но Act без supervised pilots overhead не выходит из demo-stage: X-62A, Lancet rollback.</a:t>
            </a:r>
          </a:p>
          <a:p/>
          <a:p>
            <a:r>
              <a:t>Те же CV/ML-pipelines, те же сенсорные стеки работают и в гражданской аэрокосмосе, и в обороне; инженер выбирает контур.</a:t>
            </a:r>
          </a:p>
          <a:p/>
          <a:p>
            <a:r>
              <a:t>Это не значит, что AI «маленький» или «обманчивый». Это значит, что в high-stakes отрасли AI — это инструмент в инженерных руках, а не автономный субъект. Профессионализм инженера в этой области — это умение сказать «да» там, где AI действительно даёт измеримое преимущество, и умение сказать «нет» там, где AI создаёт риск, который не закрывается одной моделью.</a:t>
            </a:r>
          </a:p>
          <a:p/>
          <a:p>
            <a:r>
              <a:t>Курс продолжается. В Лекции 10 — энергетика; в Лекции 11 — транспорт и логистика. И в каждой из них вы будете узнавать паттерны из этой главы — потому что цепь Sense → Decide → Act работает везде.</a:t>
            </a:r>
          </a:p>
          <a:p/>
          <a:p>
            <a:r>
              <a:t>Спасибо. Дальше —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Открываем Q&amp;A. У меня в запасе три типичных вопроса, которые могут возникнуть.</a:t>
            </a:r>
          </a:p>
          <a:p/>
          <a:p>
            <a:r>
              <a:t>Первый — про политический ландшафт. «Если ICRC и UN GGE так озабочены LAWS, почему США, Россия и Китай не подписывают договор?» Три причины. Военная — каждая инвестирует в автономию как стратегическое преимущество. Дипломатическая — в UN GGE нет single agreed determination LAWS. Техническая — даже если договор подписан, как проверить?</a:t>
            </a:r>
          </a:p>
          <a:p/>
          <a:p>
            <a:r>
              <a:t>Второй — критический. «Lavender обсуждается с осуждением. А что насчёт критики +972 — может, они преувеличили?» ЦАХАЛ официально опровергает. Сторона +972 опирается на 6 IDF intelligence officers. Independent reproducibility невозможна. Но ICRC и Lieber Institute разобрали кейс и нашли его серьёзным. Даже при максимально консервативной оценке — серьёзный кейс. Мы делаем engineering judgment на pattern «accuracy% as wrong metric» — pattern не зависит от того, кто делал ошибку.</a:t>
            </a:r>
          </a:p>
          <a:p/>
          <a:p>
            <a:r>
              <a:t>Третий — практический. «Куда идти работать без оборонной нагрузки?» Три направления: гражданская спутниковая аналитика (ТЕРРА ТЕХ, СКАНЭКС в РФ; Maxar, Planet в мире); гражданская авиация (Боинг, Airbus, eVTOL); гражданский dual-use транспорт (Cognitive Pilot, eVTOL).</a:t>
            </a:r>
          </a:p>
          <a:p/>
          <a:p>
            <a:r>
              <a:t>Открыт для ваших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24.jpg"/><Relationship Id="rId4" Type="http://schemas.openxmlformats.org/officeDocument/2006/relationships/image" Target="../media/image25.png"/><Relationship Id="rId5" Type="http://schemas.openxmlformats.org/officeDocument/2006/relationships/image" Target="../media/image26.jpg"/><Relationship Id="rId6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38.png"/><Relationship Id="rId7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ИИ-аналитика спутниковой съёмки превращает 250 ПБ архива Maxar
в детекции за часы — то, что раньше требовало дней.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6858000" cy="4206240"/>
          </a:xfrm>
          <a:prstGeom prst="roundRect">
            <a:avLst>
              <a:gd name="adj" fmla="val 724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01-sat-image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6492240" cy="3657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60320" y="3383280"/>
            <a:ext cx="1371600" cy="822960"/>
          </a:xfrm>
          <a:prstGeom prst="rect">
            <a:avLst/>
          </a:prstGeom>
          <a:noFill/>
          <a:ln w="31750">
            <a:solidFill>
              <a:srgbClr val="F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425196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 i="1">
                <a:solidFill>
                  <a:srgbClr val="F0AB00"/>
                </a:solidFill>
                <a:latin typeface="Arial"/>
              </a:rPr>
              <a:t>обнаруженное
изменение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7607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Sentinel-2 (ESA, Wikimedia Commons CC-BY-SA) — иллюстрация формата спутниковых данных, на которых работает Maxar Sentry.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3931920" cy="4206240"/>
          </a:xfrm>
          <a:prstGeom prst="roundRect">
            <a:avLst>
              <a:gd name="adj" fmla="val 7751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Maxar Sentry ·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46888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Платформа упреждающей разведки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01000" y="2880360"/>
            <a:ext cx="3383280" cy="0"/>
          </a:xfrm>
          <a:prstGeom prst="line">
            <a:avLst/>
          </a:prstGeom>
          <a:ln w="9525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01000" y="30175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0AB00"/>
                </a:solidFill>
                <a:latin typeface="Arial"/>
              </a:rPr>
              <a:t>250 ПБ</a:t>
            </a:r>
          </a:p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архив спутниковых снимков, 20+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393192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3 сенсора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оптика + радар + AIS судов · перекрёстное наведение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663440"/>
            <a:ext cx="3474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0AB00"/>
                </a:solidFill>
                <a:latin typeface="Arial"/>
              </a:rPr>
              <a:t>Часы</a:t>
            </a:r>
            <a:r>
              <a:rPr sz="1400" b="0" i="0">
                <a:solidFill>
                  <a:srgbClr val="21295C"/>
                </a:solidFill>
                <a:latin typeface="Arial"/>
              </a:rPr>
              <a:t> после съёмки</a:t>
            </a:r>
          </a:p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не дни, как было до 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5440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Контракт NGA Luno A D01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Defense One, июнь 2025 · BusinessWire 20250625 · Military Aerospace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5943600" cy="6400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0" y="137160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Лекция 9 · AI в инженерных задачах · 3 курс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103120"/>
            <a:ext cx="62179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AI в авиакосмической отрасли
и оборонном комплексе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521208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C7293"/>
                </a:solidFill>
                <a:latin typeface="Arial"/>
              </a:rPr>
              <a:t>75 минут · Q&amp;A</a:t>
            </a:r>
          </a:p>
        </p:txBody>
      </p:sp>
      <p:pic>
        <p:nvPicPr>
          <p:cNvPr id="6" name="Picture 5" descr="radar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5760720"/>
            <a:ext cx="822960" cy="822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8484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8484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Sense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39768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9768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Decide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1052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2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Act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2336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2336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Граница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1362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1362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Сборка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Карта лекции — 4 содержательных раздела плюс граница и сборка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365760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0. Открытие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Hook + keystone OODA + glossary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65760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1. 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Глаза в небе и на земле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834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12 мин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65760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2.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3317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От наблюдения к решению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8346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14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365760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6118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3.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Автономия на платформе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14 мин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65760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6118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4. Граница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и регулирование (LAWS, UN GGE)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15 мин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474720"/>
            <a:ext cx="3657600" cy="1645920"/>
          </a:xfrm>
          <a:prstGeom prst="roundRect">
            <a:avLst>
              <a:gd name="adj" fmla="val 185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36118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5. Сборка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1605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065A82"/>
                </a:solidFill>
                <a:latin typeface="Arial"/>
              </a:rPr>
              <a:t>критерии, карьера, замыкание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663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6 мин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285232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4A556B"/>
                </a:solidFill>
                <a:latin typeface="Arial"/>
              </a:rPr>
              <a:t>Центральный вопрос лекции: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605272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Где в цепи Sense → Decide → Act AI даёт измеримое преимущество — и где он становится опасной автоматизацией?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Шесть аббревиатур, без которых дальше не пройти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4406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39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Synthetic Aperture Radar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Активный радар, видит сквозь облака и ночью.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4406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39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ATR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783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Automatic Target Recognition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4028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ML-классификатор объектов по сенсорному образу.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54406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ISR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Intelligence, Surveillance, Reconnaissance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Зонтичный термин для разведзадач.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54680"/>
            <a:ext cx="54406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2918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383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Electronic Warfare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Радиоэлектронная борьба: подавление, обман, перехват.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LAWS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Lethal Autonomous Weapon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4068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Летальные автономные системы, предмет UN GGE.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754880"/>
            <a:ext cx="5440680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OODA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Observe-Orient-Decide-Act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4983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065A82"/>
                </a:solidFill>
                <a:latin typeface="Arial"/>
              </a:rPr>
              <a:t>Цикл принятия решения Boyd 1976.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Остальные аббревиатуры (HITL, HOOL, HOTL, CCA, MCAS, IFF и др.) — расшифровка при первом упоминании по ходу лекции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Три звена цепи. ИИ входит в каждое — но по-разному.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11091672" cy="27432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16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4A556B"/>
                </a:solidFill>
                <a:latin typeface="Arial"/>
              </a:rPr>
              <a:t>Гражданское ↔ Военное · одни модели, два контура применения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5" y="2011680"/>
            <a:ext cx="3383280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ye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95" y="228600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9515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1C7293"/>
                </a:solidFill>
                <a:latin typeface="Arial"/>
              </a:rP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5" y="38404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• ИИ работает лучше всего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5" y="42976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• Эталонная разметка доступна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5" y="47548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• Терпимая цена ложной тревоги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45635" y="3474720"/>
            <a:ext cx="41148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02836" y="2011680"/>
            <a:ext cx="3383280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rain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6" y="2286000"/>
            <a:ext cx="822960" cy="822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5716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65A82"/>
                </a:solidFill>
                <a:latin typeface="Arial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5" y="38404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• ИИ как ускоритель аналитика — хорошо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7155" y="42976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0AB00"/>
                </a:solidFill>
                <a:latin typeface="Arial"/>
              </a:rPr>
              <a:t>• ИИ как замена аналитика — плохо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7155" y="47548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• Здесь LLM-хайп опаснее всего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31836" y="3474720"/>
            <a:ext cx="41148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89036" y="2011680"/>
            <a:ext cx="3383280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ne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196" y="2286000"/>
            <a:ext cx="822960" cy="822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71915" y="324612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21295C"/>
                </a:solidFill>
                <a:latin typeface="Arial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3356" y="38404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• Узкие сценарии с пилотом-наблюдателем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3356" y="42976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• Полная автономия — маркетинг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3356" y="4754880"/>
            <a:ext cx="2834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• Большинство ударов — с оператором в петле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Бойд, ВВС США, 1976 — изначально модель воздушного боя; теперь универсальная рамка цикла принятия решений.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Sense — глаза в небе и на земле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3931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Где AI работает лучше всего — и где он ломается даже здесь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12 минут · 5 рабочих кейсов · 3 провала · 2 критерия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8484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8484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1. 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9768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9768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1052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1052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Граница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1362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362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Сборка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Sense — самое благополучное звено OODA: эталон есть, цена FP мала, слияние работает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65A82"/>
                </a:solidFill>
                <a:latin typeface="Arial"/>
              </a:rPr>
              <a:t>Четыре типа сигнала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320040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atellit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79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19" y="224027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Спутниковая съёмка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83463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оптика · мультиспектр · IR · SAR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13632" y="1965960"/>
            <a:ext cx="320040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auge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512" y="2240279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82312" y="2240279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Телеметрия платформ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283463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двигатели · бортовые системы · вибро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22191"/>
            <a:ext cx="320040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dio-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96511"/>
            <a:ext cx="502920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17319" y="4096511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Радиосигналы противника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4690872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SIGINT · ELINT · COMINT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13632" y="3822191"/>
            <a:ext cx="3200400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obe-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512" y="4096511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82312" y="4096511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Открытые источники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87952" y="4690872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соцсети · новости · AIS commercial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146304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65A82"/>
                </a:solidFill>
                <a:latin typeface="Arial"/>
              </a:rPr>
              <a:t>Почему здесь AI работает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965960"/>
            <a:ext cx="39319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148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065A82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305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Доступная эталонная разметка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51460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Снимки проверяются полевым выездом и историей.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3383279"/>
            <a:ext cx="39319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35661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065A82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5478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Терпимая цена ложной тревоги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93192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Лишний сигнал — время аналитика, не жизнь.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4800600"/>
            <a:ext cx="3931920" cy="1280160"/>
          </a:xfrm>
          <a:prstGeom prst="roundRect">
            <a:avLst>
              <a:gd name="adj" fmla="val 2380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4983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F0AB00"/>
                </a:solidFill>
                <a:latin typeface="Arial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9651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Слияние нескольких сенсоров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349240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Снижает индивидуальную хрупкость моделей.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Maxar Sentry — упреждающая разведка в часах, не днях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6858000" cy="4389120"/>
          </a:xfrm>
          <a:prstGeom prst="roundRect">
            <a:avLst>
              <a:gd name="adj" fmla="val 694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065A82"/>
                </a:solidFill>
                <a:latin typeface="Arial"/>
              </a:rPr>
              <a:t>Спутниковая съёмка + обнаружение изменений</a:t>
            </a:r>
          </a:p>
        </p:txBody>
      </p:sp>
      <p:pic>
        <p:nvPicPr>
          <p:cNvPr id="5" name="Picture 4" descr="p01-sat-image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640080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235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Sentinel-2 (ESA, Wikimedia Commons CC-BY-SA) — иллюстрация класса данных.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3931920" cy="10515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755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250 ПБ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архив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920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20+ лет данных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788920"/>
            <a:ext cx="3931920" cy="105156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2898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NGA Luno A D01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3375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главный контракт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3063239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Детекции от 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931920"/>
            <a:ext cx="3931920" cy="105156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4041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3 сенсора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4805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слияние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4206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оптика + радар + AIS судов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5074920"/>
            <a:ext cx="3931920" cy="10515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18464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Часы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623559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после съёмки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534924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не дни, не недели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Анти-хайп: «AI-derived» в маркетинге означает оркестрацию классических CV-методов + change detection + multi-sensor tipping, а не одну foundation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Defense One июнь 2025 · BusinessWire 20250625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Спутниковая аналитика: четвёрка вендоров + ML прямо на орбите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5943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Четыре коммерческих вендора: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57400"/>
            <a:ext cx="210312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2093976"/>
            <a:ext cx="19568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Игрок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057400"/>
            <a:ext cx="301752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24912" y="2093976"/>
            <a:ext cx="287121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Подход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2057400"/>
            <a:ext cx="822960" cy="4114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42431" y="2093976"/>
            <a:ext cx="67665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Тип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21031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23744"/>
            <a:ext cx="19202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BlackSky Gen-3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468880"/>
            <a:ext cx="30175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23744"/>
            <a:ext cx="28346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Малые спутники · частая ревизия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79" y="2468880"/>
            <a:ext cx="82296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19" y="2523744"/>
            <a:ext cx="640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EO + 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7180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26664"/>
            <a:ext cx="19202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Planet Labs Dove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297180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0" y="3026664"/>
            <a:ext cx="28346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Сотни спутников · ежедневное покрытие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79" y="297180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19" y="3026664"/>
            <a:ext cx="640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EO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74720"/>
            <a:ext cx="21031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529584"/>
            <a:ext cx="19202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Capella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3474720"/>
            <a:ext cx="30175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3529584"/>
            <a:ext cx="28346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Радар — всепогодный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79" y="3474720"/>
            <a:ext cx="82296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19" y="3529584"/>
            <a:ext cx="640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SAR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9776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32504"/>
            <a:ext cx="19202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ICEYE (Финляндия)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51760" y="3977640"/>
            <a:ext cx="3017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4032504"/>
            <a:ext cx="2834639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Радар коммерческий · Украина с 2022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79" y="3977640"/>
            <a:ext cx="822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19" y="4032504"/>
            <a:ext cx="6400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SAR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6177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28090"/>
                </a:solidFill>
                <a:latin typeface="Arial"/>
              </a:rPr>
              <a:t>Радар видит сквозь облака и ночью — структурное преимущество.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1691640"/>
            <a:ext cx="5074920" cy="228600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p09-senti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28800"/>
            <a:ext cx="4800600" cy="20116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812280" y="3703320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Sentinel-1 (ESA, фото — Wikimedia Commons CC-BY-SA)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663440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ML прямо на борту спутника (без передачи сырого сигнала на землю):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074920"/>
            <a:ext cx="2594610" cy="11887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24117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Демонстраторы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241172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Φ-sat-2 (ESA) ·
авг. 2024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17570" y="5074920"/>
            <a:ext cx="2594610" cy="11887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9010" y="5166360"/>
            <a:ext cx="24117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Промышленная телеметрия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9010" y="5440680"/>
            <a:ext cx="241172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Lockheed
Pony Express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86499" y="5074920"/>
            <a:ext cx="2594610" cy="11887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7939" y="5166360"/>
            <a:ext cx="24117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Слежение за космосом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7939" y="5440680"/>
            <a:ext cx="241172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Slingshot Agatha
ТАЛОС · 2025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55430" y="5074920"/>
            <a:ext cx="2594610" cy="11887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46869" y="5166360"/>
            <a:ext cx="241172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Гражданская аналитика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46869" y="5440680"/>
            <a:ext cx="241172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ТЕРРА ТЕХ /
Роскосмос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Сценарий 2026-2028 — от «детекций за часы» к «упреждению до события». Источники: BlackSky 8-K 2024, Planet IR 2024, ESA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Российский слой Sense — ТЕРРА ТЕХ, СКАНЭКС, СПУТНИКС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3544824" cy="4114800"/>
          </a:xfrm>
          <a:prstGeom prst="roundRect">
            <a:avLst>
              <a:gd name="adj" fmla="val 859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lobe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292" y="2103120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971800"/>
            <a:ext cx="3179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0AB00"/>
                </a:solidFill>
                <a:latin typeface="Arial"/>
              </a:rPr>
              <a:t>ТЕРРА ТЕХ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Дочерняя Роскосмоса (2017)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2336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Агромониторинг в странах БРИКС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Пространственные данные +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Оговорка: метрики не публикуются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828800"/>
            <a:ext cx="3544824" cy="4114800"/>
          </a:xfrm>
          <a:prstGeom prst="roundRect">
            <a:avLst>
              <a:gd name="adj" fmla="val 859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atellite-dish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103120"/>
            <a:ext cx="731520" cy="731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04944" y="2971800"/>
            <a:ext cx="3179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065A82"/>
                </a:solidFill>
                <a:latin typeface="Arial"/>
              </a:rPr>
              <a:t>СКАНЭКС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361188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Единственный прямой приём в РФ/СНГ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0664" y="402336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Архив 3,5 млн+ снимков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64" y="443484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Эксклюзив для Яндекс.Карт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0664" y="484632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Суд ограничил снимки &gt;2 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828800"/>
            <a:ext cx="3544824" cy="4114800"/>
          </a:xfrm>
          <a:prstGeom prst="roundRect">
            <a:avLst>
              <a:gd name="adj" fmla="val 859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atellite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2140" y="2103120"/>
            <a:ext cx="731520" cy="7315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78367" y="2971800"/>
            <a:ext cx="31790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C7293"/>
                </a:solidFill>
                <a:latin typeface="Arial"/>
              </a:rPr>
              <a:t>СПУТНИКС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4088" y="361188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100+ кубсатов с 2013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4088" y="402336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Зоркий-2М · 2,5 м · 4 спектр. канала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088" y="4434840"/>
            <a:ext cx="30876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Sitronics 45 кубсатов 2024 (53% от РФ)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Оборонный российский Sense — открытых данных мало. Geran-2 — в Разделе 3; российский C2 — в Разделе 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Прогностическое обслуживание — гражданский успех vs. оборонный провал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548640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Гражданская авиация —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Skywise (Airbus): 11 600 самолётов подключены.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0AB00"/>
                </a:solidFill>
                <a:latin typeface="Arial"/>
              </a:rPr>
              <a:t>~400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06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событий/год предотвращены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у Rolls-Royce IntelligentEngine (цифровой двойник двигателя с 2018).</a:t>
            </a:r>
          </a:p>
        </p:txBody>
      </p:sp>
      <p:pic>
        <p:nvPicPr>
          <p:cNvPr id="9" name="Picture 8" descr="p12-skywi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29000"/>
            <a:ext cx="512064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571500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easyJet: −8,1 тонны топлива/ВС/год + 44 отменённых рейса предотвращены (2024).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91640"/>
            <a:ext cx="5532120" cy="4572000"/>
          </a:xfrm>
          <a:prstGeom prst="roundRect">
            <a:avLst>
              <a:gd name="adj" fmla="val 6666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83080"/>
            <a:ext cx="5166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Оборонная авиация — провал F-35 ALIS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Списан июнь 2024 — нарушил все три условия: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146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5146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Быстрая обратная связь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78892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Сдвиг распределения видно за годы, не дни.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10896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Доступная разметка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38327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Нет способа верифицировать тревоги — доверие падает.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0332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70332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Цена FP ≤ цена 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77639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Ложные тревоги → персонал обходит через Excel.</a:t>
            </a:r>
          </a:p>
        </p:txBody>
      </p:sp>
      <p:pic>
        <p:nvPicPr>
          <p:cNvPr id="23" name="Picture 22" descr="p13-f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526280"/>
            <a:ext cx="2286000" cy="13258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78240" y="4572000"/>
            <a:ext cx="2788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0AB00"/>
                </a:solidFill>
                <a:latin typeface="Arial"/>
              </a:rPr>
              <a:t>$42–44 тыс./час</a:t>
            </a:r>
          </a:p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у F-35 — выше, чем у более сложного F-22 (~$33 тыс./час).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94360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Преемник ALIS — ODIN: автономный режим + явный HITL для допуска полётов.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Airbus 2024, Rolls-Royce 2024, GAO-20-316, GAO-22-105128, Air &amp; Space Forces 2024.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Атаки на SAR-классификатор + помехи GPS — точность обманчива, один источник хрупок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Атаки на SAR-классификатор</a:t>
            </a:r>
          </a:p>
        </p:txBody>
      </p:sp>
      <p:pic>
        <p:nvPicPr>
          <p:cNvPr id="5" name="Picture 4" descr="triangle-alert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92024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774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Дешёвые металлические уголковые отражатели в специальной геометрии обманывают классификатор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1752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Танк +
отражатели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77440" y="3337560"/>
            <a:ext cx="13716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301752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3154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SAR-
классификатор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0520" y="3337560"/>
            <a:ext cx="137160" cy="27432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3017520"/>
            <a:ext cx="1554480" cy="9144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3154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Неверная
метка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Защита: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Байесовская оценка неуверенности 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59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Обучение на состязательных примерах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83479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Маршрут отказа → передача человеку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Источник: Du et al. 2024 (arXiv:2312.02912)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783080"/>
            <a:ext cx="544068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Подмена GPS на гражданской авиации</a:t>
            </a:r>
          </a:p>
        </p:txBody>
      </p:sp>
      <p:pic>
        <p:nvPicPr>
          <p:cNvPr id="22" name="Picture 21" descr="radio-tower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1920240"/>
            <a:ext cx="502920" cy="502920"/>
          </a:xfrm>
          <a:prstGeom prst="rect">
            <a:avLst/>
          </a:prstGeom>
        </p:spPr>
      </p:pic>
      <p:pic>
        <p:nvPicPr>
          <p:cNvPr id="23" name="Picture 22" descr="c14-gps-spoo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423160"/>
            <a:ext cx="3200400" cy="1828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0" y="2697480"/>
            <a:ext cx="1920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32× рост
за 2 года
(Латвия)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43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Российские средства РЭБ («Красуха-4», «Борисоглебск-2»). Чёрное море, Восточная Европа.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8463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Защита: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16636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Несколько систем (GPS+ГЛОНАСС+Galileo+BeiDou)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4068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Инерциальная навигация как резерв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71500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65A82"/>
                </a:solidFill>
                <a:latin typeface="Arial"/>
              </a:rPr>
              <a:t>• eLORAN — наземная радионавигация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72200"/>
            <a:ext cx="11091672" cy="41148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217920"/>
            <a:ext cx="10634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Побочный эффект: военный РЭБ распространяется на не-боевые цели. Защита спутниковой навигации — общее благо.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Decide — от наблюдения к решению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3931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Где LLM-хайп опасен, и почему «точность» — не та метрика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14 минут · 5 кейсов · 3 провала (Lavender / Lancet / Vincennes) · 2 критерия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8484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8484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9768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9768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2.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1052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1052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Граница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1362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362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Сборка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Decide — звено, где LLM-хайп опаснее всего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065A82"/>
                </a:solidFill>
                <a:latin typeface="Arial"/>
              </a:rPr>
              <a:t>«Точность 90 %» звучит хорошо до момента, когда 10 % — это тысячи человек.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Поток данных в Decide: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1828800" cy="9601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ewspaper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19" y="28346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Текст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651760"/>
            <a:ext cx="1828800" cy="9601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an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788920"/>
            <a:ext cx="41148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54680" y="28346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Снимок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651760"/>
            <a:ext cx="1828800" cy="9601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ap-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788920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20640" y="28346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Карта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19" y="2651760"/>
            <a:ext cx="1828800" cy="9601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ctivity-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79" y="2788920"/>
            <a:ext cx="41148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86599" y="2834640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Телеметрия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20" y="2971800"/>
            <a:ext cx="274320" cy="32004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69680" y="2651760"/>
            <a:ext cx="1371600" cy="96012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65176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Слияние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332720" y="2971800"/>
            <a:ext cx="274320" cy="320040"/>
          </a:xfrm>
          <a:prstGeom prst="rightArrow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698480" y="2651760"/>
            <a:ext cx="1005840" cy="960120"/>
          </a:xfrm>
          <a:prstGeom prst="roundRect">
            <a:avLst>
              <a:gd name="adj" fmla="val 25000"/>
            </a:avLst>
          </a:prstGeom>
          <a:solidFill>
            <a:srgbClr val="F0AB00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2651760"/>
            <a:ext cx="1005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План
действий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11091672" cy="2011680"/>
          </a:xfrm>
          <a:prstGeom prst="roundRect">
            <a:avLst>
              <a:gd name="adj" fmla="val 15151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97680"/>
            <a:ext cx="10634472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>
                <a:solidFill>
                  <a:srgbClr val="21295C"/>
                </a:solidFill>
                <a:latin typeface="Arial"/>
              </a:rPr>
              <a:t>10 % × 37 000 = </a:t>
            </a:r>
            <a:r>
              <a:rPr sz="6000" b="1" i="0">
                <a:solidFill>
                  <a:srgbClr val="F0AB00"/>
                </a:solidFill>
                <a:latin typeface="Arial"/>
              </a:rPr>
              <a:t>3 700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Lavender, Газа 2023–24. 90 % точности в задачах жизни и смерти = 3 700 человек, помеченных по ошибке. Метрика была не той.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Если потенциальная цена ошибки — человеческая жизнь, «точность %» — это показатель количества кошмаров, которые вы готовы принять.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Decide — ландшафт вендоров: США, Европа, Россия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Главные игроки рынка систем поддержки принятия решений в 2026: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408676" cy="2057400"/>
          </a:xfrm>
          <a:prstGeom prst="roundRect">
            <a:avLst>
              <a:gd name="adj" fmla="val 148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429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Palantir Maven Smart System (MSS)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F0AB00"/>
                </a:solidFill>
                <a:latin typeface="Arial"/>
              </a:rPr>
              <a:t>США · уровень L1 · поддержка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50429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$1,3 млрд</a:t>
            </a:r>
            <a:r>
              <a:rPr sz="1100" b="0" i="0">
                <a:solidFill>
                  <a:srgbClr val="065A82"/>
                </a:solidFill>
                <a:latin typeface="Arial"/>
              </a:rPr>
              <a:t> — </a:t>
            </a:r>
            <a:r>
              <a:rPr sz="1100" b="0" i="1">
                <a:solidFill>
                  <a:srgbClr val="065A82"/>
                </a:solidFill>
                <a:latin typeface="Arial"/>
              </a:rPr>
              <a:t>потолок до 2029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429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Главный американский флагман. Слияние разведки + сводки для командиров. Человек решает.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2103120"/>
            <a:ext cx="5408676" cy="2057400"/>
          </a:xfrm>
          <a:prstGeom prst="roundRect">
            <a:avLst>
              <a:gd name="adj" fmla="val 148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2194560"/>
            <a:ext cx="50429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Scale AI: Donovan → Defense Llama → Thunderforge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56032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США · уровень L1–L2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4516" y="2971800"/>
            <a:ext cx="50429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Mar 2025</a:t>
            </a:r>
            <a:r>
              <a:rPr sz="1100" b="0" i="0">
                <a:solidFill>
                  <a:srgbClr val="065A82"/>
                </a:solidFill>
                <a:latin typeface="Arial"/>
              </a:rPr>
              <a:t> — </a:t>
            </a:r>
            <a:r>
              <a:rPr sz="1100" b="0" i="1">
                <a:solidFill>
                  <a:srgbClr val="065A82"/>
                </a:solidFill>
                <a:latin typeface="Arial"/>
              </a:rPr>
              <a:t>Thunderforge для CENTCOM/INDOPACOM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516" y="3566160"/>
            <a:ext cx="50429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Эволюционная линия LLM на закрытых сетях. От текстовой поддержки к планированию операций.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5408676" cy="2057400"/>
          </a:xfrm>
          <a:prstGeom prst="roundRect">
            <a:avLst>
              <a:gd name="adj" fmla="val 148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0429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Helsing (Германия) — Altra + Centaur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1C7293"/>
                </a:solidFill>
                <a:latin typeface="Arial"/>
              </a:rPr>
              <a:t>Европа · уровень 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12080"/>
            <a:ext cx="50429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€12 млрд</a:t>
            </a:r>
            <a:r>
              <a:rPr sz="1100" b="0" i="0">
                <a:solidFill>
                  <a:srgbClr val="065A82"/>
                </a:solidFill>
                <a:latin typeface="Arial"/>
              </a:rPr>
              <a:t> — </a:t>
            </a:r>
            <a:r>
              <a:rPr sz="1100" b="0" i="1">
                <a:solidFill>
                  <a:srgbClr val="065A82"/>
                </a:solidFill>
                <a:latin typeface="Arial"/>
              </a:rPr>
              <a:t>оценка после Series D (июнь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06440"/>
            <a:ext cx="50429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Главный европейский игрок. Altra: слияние БПЛА + наблюдателей. Centaur: ИИ-пилот на Gripen 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4343400"/>
            <a:ext cx="5408676" cy="2057400"/>
          </a:xfrm>
          <a:prstGeom prst="roundRect">
            <a:avLst>
              <a:gd name="adj" fmla="val 148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4516" y="4434840"/>
            <a:ext cx="50429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Anthropic + Palantir + AWS на IL6 (ноябрь 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4800600"/>
            <a:ext cx="50429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США · уровень L1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5212080"/>
            <a:ext cx="50429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28090"/>
                </a:solidFill>
                <a:latin typeface="Arial"/>
              </a:rPr>
              <a:t>IL6</a:t>
            </a:r>
            <a:r>
              <a:rPr sz="1100" b="0" i="0">
                <a:solidFill>
                  <a:srgbClr val="065A82"/>
                </a:solidFill>
                <a:latin typeface="Arial"/>
              </a:rPr>
              <a:t> — </a:t>
            </a:r>
            <a:r>
              <a:rPr sz="1100" b="0" i="1">
                <a:solidFill>
                  <a:srgbClr val="065A82"/>
                </a:solidFill>
                <a:latin typeface="Arial"/>
              </a:rPr>
              <a:t>высший уровень секретности US-облака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5806440"/>
            <a:ext cx="50429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Claude 3/3.5 на Impact Level 6. Поворотная точка: индустрия вернулась в оборону.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35508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400800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Российский C2: </a:t>
            </a:r>
            <a:r>
              <a:rPr sz="1100" b="0" i="0">
                <a:solidFill>
                  <a:srgbClr val="065A82"/>
                </a:solidFill>
                <a:latin typeface="Arial"/>
              </a:rPr>
              <a:t>Svod / Glaz / Groza — система оперативного управления, развёртывание с осени 2025. </a:t>
            </a:r>
            <a:r>
              <a:rPr sz="1100" b="1" i="0">
                <a:solidFill>
                  <a:srgbClr val="028090"/>
                </a:solidFill>
                <a:latin typeface="Arial"/>
              </a:rPr>
              <a:t>Оговорка: </a:t>
            </a:r>
            <a:r>
              <a:rPr sz="1100" b="0" i="1">
                <a:solidFill>
                  <a:srgbClr val="065A82"/>
                </a:solidFill>
                <a:latin typeface="Arial"/>
              </a:rPr>
              <a:t>независимая западная верификация ограничена (CSIS + российская пресса).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DefenseScoop 2024–2025 · BusinessWire 2023 · Helsing IR 2025 · Anthropic press 2024 · CSIS Bondar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IDF Lavender — 37 000 помечены, точность 90 % → 3 700 ложноположительных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676656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21-lavender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58368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235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20 секунд проверки на одну цель · до 15–20 гражданских жертв на одного младшего оператора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783080"/>
            <a:ext cx="4297680" cy="1325880"/>
          </a:xfrm>
          <a:prstGeom prst="roundRect">
            <a:avLst>
              <a:gd name="adj" fmla="val 22988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92024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Урок 1: «Точность» — не та метрика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331720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Цена FP × популяция × частота применения.
Асимметрия FP/FN неприемлема.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218687"/>
            <a:ext cx="4297680" cy="1325880"/>
          </a:xfrm>
          <a:prstGeom prst="roundRect">
            <a:avLst>
              <a:gd name="adj" fmla="val 229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355847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Урок 2: ИИ снимает трение принятия решений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767327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Темпы вырастают → качество обдумывания падает.
В задачах жизни и смерти катастрофично.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4654296"/>
            <a:ext cx="4297680" cy="1325880"/>
          </a:xfrm>
          <a:prstGeom prst="roundRect">
            <a:avLst>
              <a:gd name="adj" fmla="val 2298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79145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Урок 3: «Человек в петле» ≠ «человек в решении»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202936"/>
            <a:ext cx="3931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20-секундная проверка = формальный HITL,
функциональный HOTL.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Abraham, +972 / Local Call (апрель 2024); ICRC, Lieber Institute, AOAV — academic разборы; IDF опровергает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Откат Lancet (демо ≠ продакшен) + Vincennes 1988 (интерфейс под стрессом → LLM)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Российский «Ланцет»: откат автономии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2022–2024 · канонический разбор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2022–23: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«сам найдёт и поразит цель» + ролики с подписью «захват»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2024: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461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Анализ CSIS / MWI: ИИ-наведение отключено в новых роликах</a:t>
            </a:r>
          </a:p>
        </p:txBody>
      </p:sp>
      <p:pic>
        <p:nvPicPr>
          <p:cNvPr id="10" name="Picture 9" descr="triangle-alert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874519"/>
            <a:ext cx="502920" cy="502920"/>
          </a:xfrm>
          <a:prstGeom prst="rect">
            <a:avLst/>
          </a:prstGeom>
        </p:spPr>
      </p:pic>
      <p:pic>
        <p:nvPicPr>
          <p:cNvPr id="11" name="Picture 10" descr="p28-lanc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18288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51760" y="3840480"/>
            <a:ext cx="3200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Редкие случаи в обучающей выборке — это БОЛЬШАЯ ЧАСТЬ реального поля боя: пыль, дым, РЭБ, новые маскировки.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846320"/>
            <a:ext cx="4937760" cy="0"/>
          </a:xfrm>
          <a:prstGeom prst="line">
            <a:avLst/>
          </a:prstGeom>
          <a:ln w="63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937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Альтернатива: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80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28090"/>
                </a:solidFill>
                <a:latin typeface="Arial"/>
              </a:rPr>
              <a:t>Оператор в петле + автоматизированное удержание цели. Без полной автономии до боевого подтверждения.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1">
                <a:solidFill>
                  <a:srgbClr val="21295C"/>
                </a:solidFill>
                <a:latin typeface="Arial"/>
              </a:rPr>
              <a:t>Производительность модели в узком распределении не переносится на полную изменчивость боя.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783080"/>
            <a:ext cx="544068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Крейсер «Vincennes» / Iran Air 655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C0392B"/>
                </a:solidFill>
                <a:latin typeface="Arial"/>
              </a:rPr>
              <a:t>3 июля 1988 · 290 погибших</a:t>
            </a:r>
          </a:p>
        </p:txBody>
      </p:sp>
      <p:pic>
        <p:nvPicPr>
          <p:cNvPr id="20" name="Picture 19" descr="eye-off-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1874519"/>
            <a:ext cx="502920" cy="5029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4652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28090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432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Aegis зафиксировал траекторию как «набор высоты»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4612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Экипаж под стрессом доложил «снижается на нас»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749039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2 ракеты SM-2 → 290 погибших</a:t>
            </a:r>
          </a:p>
        </p:txBody>
      </p:sp>
      <p:pic>
        <p:nvPicPr>
          <p:cNvPr id="26" name="Picture 25" descr="p22-iran-ai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97680"/>
            <a:ext cx="2194560" cy="82296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732520" y="4297680"/>
            <a:ext cx="2834640" cy="1554480"/>
          </a:xfrm>
          <a:prstGeom prst="roundRect">
            <a:avLst>
              <a:gd name="adj" fmla="val 19607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43891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Мостик к LLM: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663440"/>
            <a:ext cx="2697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LLM выдаёт уверенный гладкий текст → оператор под давлением склонен принять. Уверенная чепуха в задачах с высокой ценой ошибки.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CSIS 2025 Lancet · USNI Proceedings Jul 2018 · Foreign Affairs 2024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Act — автономия на платформе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3931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Где хайп далеко впереди реальности — но применение всё-таки растёт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14 минут · 6 кейсов · 3 провала (MCAS / Patriot / Replicator) · 2 критерия · российское двойное применение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8484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8484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9768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9768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1052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1052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3.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Граница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1362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362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Сборка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Act — звено, где хайп далеко впереди реальности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065A82"/>
                </a:solidFill>
                <a:latin typeface="Arial"/>
              </a:rPr>
              <a:t>Большая часть боевых применений — с оператором в петле или с полу-автоматикой, не полностью автономно.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Лестница автономии (предварительный обзор):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103120" cy="10058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Помогающий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2651760"/>
            <a:ext cx="2103120" cy="10058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2697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C7293"/>
                </a:solidFill>
                <a:latin typeface="Arial"/>
              </a:rPr>
              <a:t>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154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Полу-автомат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199" y="2651760"/>
            <a:ext cx="2103120" cy="10058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2697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0AB00"/>
                </a:solidFill>
                <a:latin typeface="Arial"/>
              </a:rPr>
              <a:t>L3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3154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Под надзором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79" y="2651760"/>
            <a:ext cx="2103120" cy="10058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697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65A82"/>
                </a:solidFill>
                <a:latin typeface="Arial"/>
              </a:rPr>
              <a:t>L4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3154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Авто-применение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59" y="2651760"/>
            <a:ext cx="2103120" cy="100584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59" y="2697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C0392B"/>
                </a:solidFill>
                <a:latin typeface="Arial"/>
              </a:rPr>
              <a:t>L5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31546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Полная LAWS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49039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Большая часть Act в 2026 — L2–L3, не L4–L5.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97680"/>
            <a:ext cx="11091672" cy="2011680"/>
          </a:xfrm>
          <a:prstGeom prst="roundRect">
            <a:avLst>
              <a:gd name="adj" fmla="val 15151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200" b="1" i="0">
                <a:solidFill>
                  <a:srgbClr val="028090"/>
                </a:solidFill>
                <a:latin typeface="Arial"/>
              </a:rPr>
              <a:t>$300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526280"/>
            <a:ext cx="5486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065A82"/>
                </a:solidFill>
                <a:latin typeface="Arial"/>
              </a:rP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434840"/>
            <a:ext cx="41148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F0AB00"/>
                </a:solidFill>
                <a:latin typeface="Arial"/>
              </a:rPr>
              <a:t>$3 млн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Асимметрия противодействия дронам — дешёвый БПЛА против Patriot. Замена ракеты за $3 млн на ИИ-защиту периметра — взрывной рост Act в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Anduril Fury YFQ-44A — CCA Increment 1, уровень L3 (под надзором)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685800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295C"/>
                </a:solidFill>
                <a:latin typeface="Arial"/>
              </a:rPr>
              <a:t>YFQ-44A · Fury (ОТА Anduril)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6492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Anduril CCA Increment 1 · первый полёт 31 октября 2025</a:t>
            </a:r>
          </a:p>
        </p:txBody>
      </p:sp>
      <p:pic>
        <p:nvPicPr>
          <p:cNvPr id="6" name="Picture 5" descr="p26-anduril-sent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97480"/>
            <a:ext cx="6492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466344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1C7293"/>
                </a:solidFill>
                <a:latin typeface="Arial"/>
              </a:rPr>
              <a:t>На фото — Anduril Sentry (Wikimedia Commons, CC-BY-SA). YFQ-44A фотографий в публичном доступе мало.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Характеристики: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Высота: до 50 000 футов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04688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Скорость: 0,95 Маха · перегрузка 9g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705856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Двигатель: Williams FJ44-4M (4 000 фунтов тяги)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907024"/>
            <a:ext cx="6217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Вооружение: AIM-120 AMRAAM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4023360" cy="2011680"/>
          </a:xfrm>
          <a:prstGeom prst="roundRect">
            <a:avLst>
              <a:gd name="adj" fmla="val 15151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874519"/>
            <a:ext cx="4023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7200" b="1" i="0">
                <a:solidFill>
                  <a:srgbClr val="F0AB00"/>
                </a:solidFill>
                <a:latin typeface="Arial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8803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Автономия под надзором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291840"/>
            <a:ext cx="3657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ИИ исполняет внутри заранее заданных границ; пилотируемый ведущий — на надзоре.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3931920"/>
            <a:ext cx="4023360" cy="96012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402336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23 марта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434340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Arsenal-1, Огайо · $1 млрд инвестиций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5029200"/>
            <a:ext cx="4023360" cy="105156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12064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Стек автономии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54864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Hivemind (Shield AI) + Lattice (Anduril 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Wikipedia YFQ-44 · Air &amp; Space Forces 2026 · The Aviationist March 24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X-62A VISTA (сент. 2023, дуэль) + Saker Scout (Украина, боевой опыт)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DARPA X-62A VISTA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Модифицированный F-16 · управляет ИИ-агент</a:t>
            </a:r>
          </a:p>
        </p:txBody>
      </p:sp>
      <p:pic>
        <p:nvPicPr>
          <p:cNvPr id="6" name="Picture 5" descr="p27-x62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5120640" cy="1554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42976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Дек.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4297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Начало испытаний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902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Сент.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45902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Первая ИИ-дуэль с F-16: 600 м @ 1 200 миль/ч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88289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Май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88289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Секретарь USAF Кендалл летал в ИИ-X-62A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5074920" cy="82296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Анти-хайп: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321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Узкий сценарий, дуэль 1-на-1, бой вне визуального диапазона исключён, расход топлива и правила открытия огня не учитывались.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544068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Saker Scout (Украина)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Боевой опыт · уровень L2 «полу-автомат»</a:t>
            </a:r>
          </a:p>
        </p:txBody>
      </p:sp>
      <p:pic>
        <p:nvPicPr>
          <p:cNvPr id="19" name="Picture 18" descr="p27-bayrakt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1760"/>
            <a:ext cx="5029200" cy="1554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420624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1C7293"/>
                </a:solidFill>
                <a:latin typeface="Arial"/>
              </a:rPr>
              <a:t>На фото — Bayraktar TB2 (Wikimedia CC-BY-SA) как иллюстрация класса.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5445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автономно идентифицируемых цели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188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~10 км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3717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дальность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1114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Brave1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129783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300+ AI-разработчиков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4864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Декабрь 2024 — первая полностью беспилотная наземная операция; 2025 — БПЛА-носитель с 2 FPV на 300 км.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DARPA 2024 · The Aviationist 2024 · MWI 2025 · CSIS 2025 · Kyiv Independent 2025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Российский Act — Geran-2 (оборона) + Cognitive Pilot (гражданское двойное)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Geran-2 — эволюция</a:t>
            </a:r>
          </a:p>
        </p:txBody>
      </p:sp>
      <p:pic>
        <p:nvPicPr>
          <p:cNvPr id="5" name="Picture 4" descr="p28-shah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31720"/>
            <a:ext cx="2377440" cy="1371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749039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1C7293"/>
                </a:solidFill>
                <a:latin typeface="Arial"/>
              </a:rPr>
              <a:t>Shahed-136 (исходник для Geran-2)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3774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~2 700–3 000 / мес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к концу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76148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&gt;26 000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035808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произведено к весне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4553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&gt;40 000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419856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план к концу 2025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114800"/>
            <a:ext cx="4937760" cy="0"/>
          </a:xfrm>
          <a:prstGeom prst="line">
            <a:avLst/>
          </a:prstGeom>
          <a:ln w="63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206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Бортовой стек (по анализу обломков):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4754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NVIDIA Jetson — бортовой компьютер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4754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Камеры высокого разрешения + тепловизор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4754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FPGA для защиты от помех РЭБ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12080"/>
            <a:ext cx="4754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2026 — головка наведения на радиоизлучение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5074920" cy="6400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77840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Цепочка поставок: 1 111 серверов Dell PowerEdge XE9680 через индийскую Shreya Life Sciences в апреле–августе 2024.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783080"/>
            <a:ext cx="5440680" cy="4297680"/>
          </a:xfrm>
          <a:prstGeom prst="roundRect">
            <a:avLst>
              <a:gd name="adj" fmla="val 7092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Cognitive Pilot — гражданское применение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СП Сбера + Cognitive Technologies (Москва)</a:t>
            </a:r>
          </a:p>
        </p:txBody>
      </p:sp>
      <p:pic>
        <p:nvPicPr>
          <p:cNvPr id="24" name="Picture 23" descr="p28-kamaz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51760"/>
            <a:ext cx="5029200" cy="1508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0" y="41605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1C7293"/>
                </a:solidFill>
                <a:latin typeface="Arial"/>
              </a:rPr>
              <a:t>КАМАЗ — целевая платформа Cognitive Pilot для агро- и грузоперевозок.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Применения: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709160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КАМАЗ-комбайны, тракторы СберАгро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96519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Городской транспорт · железная дорога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25780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0AB00"/>
                </a:solidFill>
                <a:latin typeface="Arial"/>
              </a:rPr>
              <a:t>До 50 000</a:t>
            </a:r>
            <a:r>
              <a:rPr sz="1200" b="0" i="0">
                <a:solidFill>
                  <a:srgbClr val="21295C"/>
                </a:solidFill>
                <a:latin typeface="Arial"/>
              </a:rPr>
              <a:t> систем/год (план)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715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028090"/>
                </a:solidFill>
                <a:latin typeface="Arial"/>
              </a:rPr>
              <a:t>Не указан как оборонный поставщик в открытых источниках. Те же CV+LiDAR — в CAD/CAM (Лек 6) и в промавтоматизации (Лек 14).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CSIS Bondar 2026 · Tom's Hardware 2024 · Fortune 2026 · TASS 2024 · Cognitive Pilot 2025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Boeing 737 MAX MCAS — канонический анти-паттерн критичной к безопасности автоматики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3200400" cy="1737360"/>
          </a:xfrm>
          <a:prstGeom prst="roundRect">
            <a:avLst>
              <a:gd name="adj" fmla="val 1754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96596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Единая точка отказа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Одна модель, один сенсор, одно решение.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783080"/>
            <a:ext cx="3200400" cy="1737360"/>
          </a:xfrm>
          <a:prstGeom prst="roundRect">
            <a:avLst>
              <a:gd name="adj" fmla="val 1754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Непрозрачность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2316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Пилоты не знали о существовании MCAS, не было ручного выключения.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3200400" cy="1737360"/>
          </a:xfrm>
          <a:prstGeom prst="roundRect">
            <a:avLst>
              <a:gd name="adj" fmla="val 1754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8404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Софт лечит железо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2976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MCAS компенсировал физическую особенность планера.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657600"/>
            <a:ext cx="3200400" cy="1737360"/>
          </a:xfrm>
          <a:prstGeom prst="roundRect">
            <a:avLst>
              <a:gd name="adj" fmla="val 1754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3794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C0392B"/>
                </a:solidFill>
                <a:latin typeface="Arial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840480"/>
            <a:ext cx="2514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Анализ FMEA / FTA не пройден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9768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Единая точка отказа должна быть поймана на этапе анализа отказов.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783080"/>
            <a:ext cx="4572000" cy="461772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87451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Хронология крушений</a:t>
            </a:r>
          </a:p>
        </p:txBody>
      </p:sp>
      <p:pic>
        <p:nvPicPr>
          <p:cNvPr id="21" name="Picture 20" descr="p29-737ma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86000"/>
            <a:ext cx="4206240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315200" y="338328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29 окт 2018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383280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Lion Air 610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63016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C0392B"/>
                </a:solidFill>
                <a:latin typeface="Arial"/>
              </a:rPr>
              <a:t>→ 189 погибших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88620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10 мар 2019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886200"/>
            <a:ext cx="27432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Ethiopian Airlines 302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4133087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C0392B"/>
                </a:solidFill>
                <a:latin typeface="Arial"/>
              </a:rPr>
              <a:t>→ 157 погибших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4389120"/>
            <a:ext cx="4206240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438912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→ 346 погибших всего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645152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21295C"/>
                </a:solidFill>
                <a:latin typeface="Arial"/>
              </a:rPr>
              <a:t>20 мес. остановки в США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532120"/>
            <a:ext cx="6446520" cy="91440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p29-patri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23560"/>
            <a:ext cx="1371600" cy="7315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103120" y="55778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Patriot — параллельный урок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85216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2003 (RAF Tornado + ВМС США F/A-18) + 2024 (украинский F-16). Склонность доверять автомату.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PMC 2020 · ThinkReliability 2019 · Trenchart 2018 · SOFREP 2003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Граница и регулирование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3931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Где звено Act обрезано международным правом и государственной политикой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15 минут · L1–L5 + UN GGE + МККК + сдвиг Maven + HITL/HOOL/HOTL · целиком про границы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8484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8484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9768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9768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1052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1052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4. Граница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1362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362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5. Сборка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Лестница автономии L1–L5: что делает ИИ / что делает человек / время на вмешательство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91640"/>
            <a:ext cx="64008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737360"/>
            <a:ext cx="493775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19" y="1691640"/>
            <a:ext cx="201168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1872" y="1737360"/>
            <a:ext cx="18653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Уровень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691640"/>
            <a:ext cx="384048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73552" y="1737360"/>
            <a:ext cx="36941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ИИ / Человек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0" y="1691640"/>
            <a:ext cx="274320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14032" y="1737360"/>
            <a:ext cx="25968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Пример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84080" y="1691640"/>
            <a:ext cx="1371600" cy="38404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57232" y="1737360"/>
            <a:ext cx="122529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Время вмешательства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75688"/>
            <a:ext cx="640080" cy="713232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457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8719" y="2075688"/>
            <a:ext cx="201168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148840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Помогающий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075688"/>
            <a:ext cx="384048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148840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ИИ: выдаёт детекции · Человек: решает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2075688"/>
            <a:ext cx="274320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2148840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Palantir MSS — обзор для аналитика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075688"/>
            <a:ext cx="137160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2148840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минуты — часы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88920"/>
            <a:ext cx="640080" cy="713232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862072"/>
            <a:ext cx="457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19" y="2788920"/>
            <a:ext cx="201168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286207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Полу-автомат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788920"/>
            <a:ext cx="384048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2862072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ИИ: рекомендует действие · Человек: авторизует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2788920"/>
            <a:ext cx="274320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862072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Saker Scout — захват цели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788920"/>
            <a:ext cx="137160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19" y="2862072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секунды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02152"/>
            <a:ext cx="640080" cy="713232"/>
          </a:xfrm>
          <a:prstGeom prst="rect">
            <a:avLst/>
          </a:prstGeom>
          <a:solidFill>
            <a:srgbClr val="065A82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575304"/>
            <a:ext cx="457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88719" y="3502152"/>
            <a:ext cx="201168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3575304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Под надзором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3502152"/>
            <a:ext cx="384048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3575304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ИИ: исполняет в заданных границах · Человек: следит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40880" y="3502152"/>
            <a:ext cx="274320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3575304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Anduril Fury — ведомый (CCA)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84080" y="3502152"/>
            <a:ext cx="1371600" cy="713232"/>
          </a:xfrm>
          <a:prstGeom prst="rect">
            <a:avLst/>
          </a:prstGeom>
          <a:solidFill>
            <a:srgbClr val="E6EE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19" y="3575304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100–1000 мс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215383"/>
            <a:ext cx="640080" cy="713232"/>
          </a:xfrm>
          <a:prstGeom prst="rect">
            <a:avLst/>
          </a:prstGeom>
          <a:solidFill>
            <a:srgbClr val="02809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88536"/>
            <a:ext cx="457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88719" y="4215383"/>
            <a:ext cx="2011680" cy="713232"/>
          </a:xfrm>
          <a:prstGeom prst="rect">
            <a:avLst/>
          </a:prstGeom>
          <a:solidFill>
            <a:srgbClr val="E6F2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0160" y="4288536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Авто-применение по правилам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215383"/>
            <a:ext cx="3840480" cy="713232"/>
          </a:xfrm>
          <a:prstGeom prst="rect">
            <a:avLst/>
          </a:prstGeom>
          <a:solidFill>
            <a:srgbClr val="E6F2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4288536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ИИ: применяет по правилам открытия огня · Человек: может вмешаться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040880" y="4215383"/>
            <a:ext cx="2743200" cy="713232"/>
          </a:xfrm>
          <a:prstGeom prst="rect">
            <a:avLst/>
          </a:prstGeom>
          <a:solidFill>
            <a:srgbClr val="E6F2F4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0" y="4288536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Patriot auto, С-400 auto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84080" y="4215383"/>
            <a:ext cx="1371600" cy="713232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75519" y="4288536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&lt;100 мс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928616"/>
            <a:ext cx="640080" cy="713232"/>
          </a:xfrm>
          <a:prstGeom prst="rect">
            <a:avLst/>
          </a:prstGeom>
          <a:solidFill>
            <a:srgbClr val="C0392B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001768"/>
            <a:ext cx="45719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88719" y="4928616"/>
            <a:ext cx="2011680" cy="713232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80160" y="5001768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Полная LAWS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0" y="4928616"/>
            <a:ext cx="3840480" cy="713232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91840" y="5001768"/>
            <a:ext cx="36576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ИИ: применяет силу без человека · Человек: вне петли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880" y="4928616"/>
            <a:ext cx="2743200" cy="713232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0" y="5001768"/>
            <a:ext cx="2560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Сейчас обсуждается, не развёрнуто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84080" y="4928616"/>
            <a:ext cx="1371600" cy="713232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875519" y="5001768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Нет — вне петли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47120" y="350215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065A82"/>
                </a:solidFill>
                <a:latin typeface="Arial"/>
              </a:rPr>
              <a:t>← L3↔L4
инженерный
спор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47120" y="492861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F0AB00"/>
                </a:solidFill>
                <a:latin typeface="Arial"/>
              </a:rPr>
              <a:t>← L4↔L5
спор о
договоре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640080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Инженерное правило: про конкретную систему говорите «L3 с границами шириной X», а не «автономная».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UN GGE on LAWS — три подряд резолюции; ICRC + Stop Killer Robots — давление НКО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760720" cy="4846320"/>
          </a:xfrm>
          <a:prstGeom prst="roundRect">
            <a:avLst>
              <a:gd name="adj" fmla="val 628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UN GGE — хронология 2024–2025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40280"/>
            <a:ext cx="182880" cy="1828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Нояб.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488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Первый комитет UNGA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21488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161 / 3 / 13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34640"/>
            <a:ext cx="182880" cy="1828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432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65A82"/>
                </a:solidFill>
                <a:latin typeface="Arial"/>
              </a:rPr>
              <a:t>Дек.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432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Резолюция 79/62 пленумa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7432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65A82"/>
                </a:solidFill>
                <a:latin typeface="Arial"/>
              </a:rPr>
              <a:t>166 / 3 / 15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3429000"/>
            <a:ext cx="182880" cy="1828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3375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C7293"/>
                </a:solidFill>
                <a:latin typeface="Arial"/>
              </a:rPr>
              <a:t>Сент.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37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42 страны — общее заявление UN GGE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337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1C7293"/>
                </a:solidFill>
                <a:latin typeface="Arial"/>
              </a:rPr>
              <a:t>rolling text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023360"/>
            <a:ext cx="182880" cy="182880"/>
          </a:xfrm>
          <a:prstGeom prst="ellipse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931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0AB00"/>
                </a:solidFill>
                <a:latin typeface="Arial"/>
              </a:rPr>
              <a:t>Нояб.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31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Третья подряд резолюция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9319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164 / 6 /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Против в 2025: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920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Беларусь · Бурунди · КНДР · Израиль · Россия · США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5394960" cy="91440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4406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DoD Directive 3000.09 (2012, обнов. 2023)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6072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Системы по умолчанию </a:t>
            </a:r>
            <a:r>
              <a:rPr sz="1400" b="1" i="0">
                <a:solidFill>
                  <a:srgbClr val="F0AB00"/>
                </a:solidFill>
                <a:latin typeface="Arial"/>
              </a:rPr>
              <a:t>L1–L3</a:t>
            </a:r>
            <a:r>
              <a:rPr sz="1000" b="0" i="1">
                <a:solidFill>
                  <a:srgbClr val="065A82"/>
                </a:solidFill>
                <a:latin typeface="Arial"/>
              </a:rPr>
              <a:t>, допуск для L4. Политика США требует HITL для применения силы.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1554480"/>
            <a:ext cx="5257800" cy="4846320"/>
          </a:xfrm>
          <a:prstGeom prst="roundRect">
            <a:avLst>
              <a:gd name="adj" fmla="val 628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691640"/>
            <a:ext cx="4892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Гражданское общество — давление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2148840"/>
            <a:ext cx="4892040" cy="1417320"/>
          </a:xfrm>
          <a:prstGeom prst="roundRect">
            <a:avLst>
              <a:gd name="adj" fmla="val 21505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24028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МККК (ICRC) — главное: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514600"/>
            <a:ext cx="4709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1">
                <a:solidFill>
                  <a:srgbClr val="21295C"/>
                </a:solidFill>
                <a:latin typeface="Arial"/>
              </a:rPr>
              <a:t>«Не оружейная система должна соответствовать международному гуманитарному праву — это люди, использующие её.»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65760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Полный запрет МККК предлагает на: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93192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непредсказуемые автономные системы оружия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160520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65A82"/>
                </a:solidFill>
                <a:latin typeface="Arial"/>
              </a:rPr>
              <a:t>• оружие, применяющее силу против людей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29400" y="4480560"/>
            <a:ext cx="4709160" cy="0"/>
          </a:xfrm>
          <a:prstGeom prst="line">
            <a:avLst/>
          </a:prstGeom>
          <a:ln w="63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629400" y="4572000"/>
            <a:ext cx="4892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Stop Killer Robots: </a:t>
            </a:r>
            <a:r>
              <a:rPr sz="1800" b="1" i="0">
                <a:solidFill>
                  <a:srgbClr val="F0AB00"/>
                </a:solidFill>
                <a:latin typeface="Arial"/>
              </a:rPr>
              <a:t>30 стран</a:t>
            </a:r>
            <a:r>
              <a:rPr sz="1100" b="0" i="0">
                <a:solidFill>
                  <a:srgbClr val="065A82"/>
                </a:solidFill>
                <a:latin typeface="Arial"/>
              </a:rPr>
              <a:t> за полный запрет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074920"/>
            <a:ext cx="4892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Коалиция 270 НКО из 70 стран — главный негосударственный игрок.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486400"/>
            <a:ext cx="4892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Включая Австрию, Бразилию, Китай, Эквадор, Святой Престол, Мексику, Пакистан, Палестину, Венесуэлу.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SKR briefs 2024–2025 · UN press GA12736 · DoD 3000.09 · ICRC 2024 position · HRW 2020–2025.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Maven 2018 → замена вендоров → возврат больших ИИ-компаний 2024–2026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3657600" cy="4023360"/>
          </a:xfrm>
          <a:prstGeom prst="roundRect">
            <a:avLst>
              <a:gd name="adj" fmla="val 8333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or-open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80160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Эра 1: уход из Maven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1C7293"/>
                </a:solidFill>
                <a:latin typeface="Arial"/>
              </a:rPr>
              <a:t>2018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743200"/>
            <a:ext cx="3291840" cy="0"/>
          </a:xfrm>
          <a:prstGeom prst="line">
            <a:avLst/>
          </a:prstGeom>
          <a:ln w="63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28803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Март 2018: утечка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4 000+ подписей · ~12 увольнений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Июнь 2018: Google не продлевает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51959" y="3474720"/>
            <a:ext cx="91440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783080"/>
            <a:ext cx="3657600" cy="4023360"/>
          </a:xfrm>
          <a:prstGeom prst="roundRect">
            <a:avLst>
              <a:gd name="adj" fmla="val 8333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uilding-2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59" y="192024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199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Эра 2: замена вендоров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2286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65A82"/>
                </a:solidFill>
                <a:latin typeface="Arial"/>
              </a:rPr>
              <a:t>2018–2024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59" y="2743200"/>
            <a:ext cx="3291841" cy="0"/>
          </a:xfrm>
          <a:prstGeom prst="line">
            <a:avLst/>
          </a:prstGeom>
          <a:ln w="635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26279" y="28803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Anduril — $30,5 млрд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383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Palantir — $60 млрд капитализация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8862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Scale, Helsing — растут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00999" y="3474720"/>
            <a:ext cx="91440" cy="365760"/>
          </a:xfrm>
          <a:prstGeom prst="right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19" y="1783080"/>
            <a:ext cx="3657600" cy="4023360"/>
          </a:xfrm>
          <a:prstGeom prst="roundRect">
            <a:avLst>
              <a:gd name="adj" fmla="val 8333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fresh-ccw-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9" y="1920240"/>
            <a:ext cx="457200" cy="457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78240" y="196596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Эра 3: возврат больших ИИ-компаний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286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F0AB00"/>
                </a:solidFill>
                <a:latin typeface="Arial"/>
              </a:rPr>
              <a:t>2024–2026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599" y="2743200"/>
            <a:ext cx="3291840" cy="0"/>
          </a:xfrm>
          <a:prstGeom prst="line">
            <a:avLst/>
          </a:prstGeom>
          <a:ln w="6350">
            <a:solidFill>
              <a:srgbClr val="F0A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75319" y="288036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Янв. 2024: OpenAI снимает запрет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38328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Нояб. 2024: Anthropic IL6 (поворот)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9" y="38862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• Сент. 2025: Google возвращается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897880"/>
            <a:ext cx="11091672" cy="59436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943600"/>
            <a:ext cx="106344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Личная этика ≠ отраслевое регулирование. Только государственный закон или договор могут заблокировать применение на уровне отрасли.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Источники: TechPolicy Press 2018 · Intercept 2024 · BusinessWire 2024 · CNBC 2025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HITL / HOOL / HOTL — триада. Граница HOOL → HOTL = инженерное решение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3657600" cy="4023360"/>
          </a:xfrm>
          <a:prstGeom prst="roundRect">
            <a:avLst>
              <a:gd name="adj" fmla="val 8333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C7293"/>
                </a:solidFill>
                <a:latin typeface="Arial"/>
              </a:rPr>
              <a:t>HITL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Человек В петле</a:t>
            </a:r>
          </a:p>
        </p:txBody>
      </p:sp>
      <p:sp>
        <p:nvSpPr>
          <p:cNvPr id="6" name="Oval 5"/>
          <p:cNvSpPr/>
          <p:nvPr/>
        </p:nvSpPr>
        <p:spPr>
          <a:xfrm>
            <a:off x="2011680" y="2926080"/>
            <a:ext cx="731520" cy="731520"/>
          </a:xfrm>
          <a:prstGeom prst="ellipse">
            <a:avLst/>
          </a:prstGeom>
          <a:noFill/>
          <a:ln w="190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петля</a:t>
            </a:r>
          </a:p>
        </p:txBody>
      </p:sp>
      <p:sp>
        <p:nvSpPr>
          <p:cNvPr id="8" name="Oval 7"/>
          <p:cNvSpPr/>
          <p:nvPr/>
        </p:nvSpPr>
        <p:spPr>
          <a:xfrm>
            <a:off x="2286000" y="3108960"/>
            <a:ext cx="182880" cy="1828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731520" y="3794760"/>
            <a:ext cx="3291840" cy="0"/>
          </a:xfrm>
          <a:prstGeom prst="line">
            <a:avLst/>
          </a:prstGeom>
          <a:ln w="635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9319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Человек в КАЖДОЙ точке решения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ИИ не действует без явной авторизации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L1–L5: </a:t>
            </a:r>
            <a:r>
              <a:rPr sz="1300" b="1" i="0">
                <a:solidFill>
                  <a:srgbClr val="1C7293"/>
                </a:solidFill>
                <a:latin typeface="Arial"/>
              </a:rPr>
              <a:t>L1, 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16636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• Palantir MSS — аналитик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1324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• Saker Scout — оператор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91640"/>
            <a:ext cx="3657600" cy="4023360"/>
          </a:xfrm>
          <a:prstGeom prst="roundRect">
            <a:avLst>
              <a:gd name="adj" fmla="val 8333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065A82"/>
                </a:solidFill>
                <a:latin typeface="Arial"/>
              </a:rPr>
              <a:t>HOOL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79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Человек НАД петлёй</a:t>
            </a:r>
          </a:p>
        </p:txBody>
      </p:sp>
      <p:sp>
        <p:nvSpPr>
          <p:cNvPr id="18" name="Oval 17"/>
          <p:cNvSpPr/>
          <p:nvPr/>
        </p:nvSpPr>
        <p:spPr>
          <a:xfrm>
            <a:off x="5760719" y="2926080"/>
            <a:ext cx="731520" cy="731520"/>
          </a:xfrm>
          <a:prstGeom prst="ellipse">
            <a:avLst/>
          </a:prstGeom>
          <a:noFill/>
          <a:ln w="190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79" y="2971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1">
                <a:solidFill>
                  <a:srgbClr val="065A82"/>
                </a:solidFill>
                <a:latin typeface="Arial"/>
              </a:rPr>
              <a:t>петля</a:t>
            </a:r>
          </a:p>
        </p:txBody>
      </p:sp>
      <p:sp>
        <p:nvSpPr>
          <p:cNvPr id="20" name="Oval 19"/>
          <p:cNvSpPr/>
          <p:nvPr/>
        </p:nvSpPr>
        <p:spPr>
          <a:xfrm>
            <a:off x="6035040" y="2697480"/>
            <a:ext cx="182880" cy="1828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480559" y="3794760"/>
            <a:ext cx="3291841" cy="0"/>
          </a:xfrm>
          <a:prstGeom prst="line">
            <a:avLst/>
          </a:prstGeom>
          <a:ln w="6350">
            <a:solidFill>
              <a:srgbClr val="065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480559" y="39319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Человек НАБЛЮДАЕТ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Может вмешаться, но не обязан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L1–L5: </a:t>
            </a:r>
            <a:r>
              <a:rPr sz="1300" b="1" i="0">
                <a:solidFill>
                  <a:srgbClr val="065A82"/>
                </a:solidFill>
                <a:latin typeface="Arial"/>
              </a:rPr>
              <a:t>L3, L4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516636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• Fury — пилотируемый ведущий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79" y="541324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• Patriot — автоматический режим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1691640"/>
            <a:ext cx="3657600" cy="4023360"/>
          </a:xfrm>
          <a:prstGeom prst="roundRect">
            <a:avLst>
              <a:gd name="adj" fmla="val 8333"/>
            </a:avLst>
          </a:prstGeom>
          <a:solidFill>
            <a:srgbClr val="FEF5E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1828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C0392B"/>
                </a:solidFill>
                <a:latin typeface="Arial"/>
              </a:rPr>
              <a:t>HOTL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19" y="2468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Человек ВНЕ петли</a:t>
            </a:r>
          </a:p>
        </p:txBody>
      </p:sp>
      <p:sp>
        <p:nvSpPr>
          <p:cNvPr id="30" name="Oval 29"/>
          <p:cNvSpPr/>
          <p:nvPr/>
        </p:nvSpPr>
        <p:spPr>
          <a:xfrm>
            <a:off x="9509759" y="2926080"/>
            <a:ext cx="731520" cy="731520"/>
          </a:xfrm>
          <a:prstGeom prst="ellipse">
            <a:avLst/>
          </a:prstGeom>
          <a:noFill/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29718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1">
                <a:solidFill>
                  <a:srgbClr val="C0392B"/>
                </a:solidFill>
                <a:latin typeface="Arial"/>
              </a:rPr>
              <a:t>петля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0" y="3200400"/>
            <a:ext cx="182880" cy="182880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8229599" y="3794760"/>
            <a:ext cx="3291840" cy="0"/>
          </a:xfrm>
          <a:prstGeom prst="line">
            <a:avLst/>
          </a:prstGeom>
          <a:ln w="63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599" y="393192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Человек ВНЕ цикла исполнения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43434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Нет вмешательства в реальном времени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9" y="4800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L1–L5: </a:t>
            </a:r>
            <a:r>
              <a:rPr sz="1300" b="1" i="0">
                <a:solidFill>
                  <a:srgbClr val="C0392B"/>
                </a:solidFill>
                <a:latin typeface="Arial"/>
              </a:rPr>
              <a:t>L5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5166360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• Сейчас в стадии договоров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5413248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• Не развёрнуто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52160"/>
            <a:ext cx="11091672" cy="68580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925312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Инженерный вывод: «сколько миллисекунд у оператора на вмешательство» — это формальная категоризация системы.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6199632"/>
            <a:ext cx="10634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10 с = HOOL · 200 мс = формально HOOL, фактически HOTL · 5 мс = инженерно HOTL.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Россия против UN LAWS — инженер делает свой выбор внутри рамок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Голосования по UN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Ноябрь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4688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161 /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2608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Против: Беларусь · КНДР · Россия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862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AB00"/>
                </a:solidFill>
                <a:latin typeface="Arial"/>
              </a:rPr>
              <a:t>Ноябрь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388620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164 / 6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4937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Против: + Бурунди · Израиль · США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4924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21295C"/>
                </a:solidFill>
                <a:latin typeface="Arial"/>
              </a:rPr>
              <a:t>Россия — в позиции «против» с 2018. Лагерь «против» в 2025 — больше 3 стран, политически разнообразен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21295C"/>
                </a:solidFill>
                <a:latin typeface="Arial"/>
              </a:rPr>
              <a:t>Что делает инженер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539496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ok-open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86600" y="2331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1. Знать ландшафт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697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UN GGE, МККК, голоса UNGA, DoD 3000.09 — базовая профессиональная грамотность.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383280"/>
            <a:ext cx="539496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520440"/>
            <a:ext cx="502920" cy="5029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86600" y="3520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2. Знать инженерные определения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8862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HITL / HOOL / HOTL и L1–L5 применимы одинаково независимо от политического выбора страны.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72000"/>
            <a:ext cx="5394960" cy="105156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mpass-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70916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86600" y="47091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3. Делать осознанный выбор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5074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Гражданское двойное / оборона L1–L2 / оборона L3–L4 — каждый правомерный, но РАЗНЫЙ.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989320"/>
            <a:ext cx="11091672" cy="5029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53328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В этой области инженер не остаётся нейтральным — он внутри рамок. Профессионализм — насколько осознанно их чувствует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4008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40000" b="1" i="0">
                <a:solidFill>
                  <a:srgbClr val="D9E2EC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0" y="228600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21295C"/>
                </a:solidFill>
                <a:latin typeface="Arial"/>
              </a:rPr>
              <a:t>Сборка: критерии, карьера, чтение, замыкание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39319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Семь критериев, карьерный угол, чтение, замыкание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6 минут · 7 критериев · 5 профилей · 5 источников · замыкание к OODA-цепи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0. Открытие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8484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48484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1. Sense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39768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39768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2. Decide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1052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31052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3. 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2336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C7293"/>
                </a:solidFill>
                <a:latin typeface="Arial"/>
              </a:rPr>
              <a:t>4. Граница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13620" y="6355080"/>
            <a:ext cx="1818132" cy="292608"/>
          </a:xfrm>
          <a:prstGeom prst="roundRect">
            <a:avLst>
              <a:gd name="adj" fmla="val 16666"/>
            </a:avLst>
          </a:prstGeom>
          <a:solidFill>
            <a:srgbClr val="F0AB00"/>
          </a:solidFill>
          <a:ln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13620" y="6391656"/>
            <a:ext cx="181813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1295C"/>
                </a:solidFill>
                <a:latin typeface="Arial"/>
              </a:rPr>
              <a:t>5. Сборка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Семь критериев «когда AI — плохая идея». Рабочая матрица.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691640"/>
            <a:ext cx="4572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#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91640"/>
            <a:ext cx="164592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Звено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91640"/>
            <a:ext cx="50292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Критерий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Иллюстрация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3055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57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13055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Sense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05740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61488" y="213055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Редкий домен или сдвиг распределения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05740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13055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Атаки на SAR-классификатор · новые цели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45720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63347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2560320"/>
            <a:ext cx="16459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263347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Sense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2560320"/>
            <a:ext cx="502920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263347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Один сенсор без резервирования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0" y="2560320"/>
            <a:ext cx="365760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0688" y="263347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F-35 ALIS без HITL для допуска полётов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063240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313639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0632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313639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Decide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06324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61488" y="313639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Редкие случаи с низкой уверенностью модели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06324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90688" y="313639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Планирование под новые правила открытия огня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63931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0" y="3566160"/>
            <a:ext cx="164592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363931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Decide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3566160"/>
            <a:ext cx="502920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363931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Жизнь и смерть без реального HITL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80960" y="3566160"/>
            <a:ext cx="365760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90688" y="363931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Lavender — канонический контрпример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069080"/>
            <a:ext cx="45720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14223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AB00"/>
                </a:solidFill>
                <a:latin typeface="Arial"/>
              </a:rPr>
              <a:t>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" y="4069080"/>
            <a:ext cx="164592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5568" y="414223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Act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4069080"/>
            <a:ext cx="502920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61488" y="414223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Автономия не нужна, человек медленнее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80960" y="4069080"/>
            <a:ext cx="3657600" cy="502920"/>
          </a:xfrm>
          <a:prstGeom prst="rect">
            <a:avLst/>
          </a:prstGeom>
          <a:solidFill>
            <a:srgbClr val="FEF5E0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90688" y="414223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737 MAX MCAS — «решение не было нужно»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572000"/>
            <a:ext cx="45720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464515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28090"/>
                </a:solidFill>
                <a:latin typeface="Arial"/>
              </a:rPr>
              <a:t>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5840" y="4572000"/>
            <a:ext cx="164592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5568" y="464515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Act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51760" y="4572000"/>
            <a:ext cx="502920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61488" y="464515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Готовый сенсор дешевле и надёжнее ML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80960" y="4572000"/>
            <a:ext cx="3657600" cy="502920"/>
          </a:xfrm>
          <a:prstGeom prst="rect">
            <a:avLst/>
          </a:prstGeom>
          <a:solidFill>
            <a:srgbClr val="F4F7FA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90688" y="464515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Резервирование AoA на 737 MAX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074920"/>
            <a:ext cx="457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5148072"/>
            <a:ext cx="237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0392B"/>
                </a:solidFill>
                <a:latin typeface="Arial"/>
              </a:rPr>
              <a:t>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" y="507492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15568" y="5148072"/>
            <a:ext cx="14264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1295C"/>
                </a:solidFill>
                <a:latin typeface="Arial"/>
              </a:rPr>
              <a:t>Cross-cutting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51760" y="5074920"/>
            <a:ext cx="5029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61488" y="5148072"/>
            <a:ext cx="48097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65A82"/>
                </a:solidFill>
                <a:latin typeface="Arial"/>
              </a:rPr>
              <a:t>Граница HOOL → HOTL = территория договоров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80960" y="507492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90688" y="5148072"/>
            <a:ext cx="343814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65A82"/>
                </a:solidFill>
                <a:latin typeface="Arial"/>
              </a:rPr>
              <a:t>LAWS · UN GGE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" y="6035040"/>
            <a:ext cx="11091672" cy="45720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1">
                <a:solidFill>
                  <a:srgbClr val="21295C"/>
                </a:solidFill>
                <a:latin typeface="Arial"/>
              </a:rPr>
              <a:t>Главное в матрице — она ИНСТРУМЕНТ. Один срабатывает → redesign; несколько → пересмотр подхода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Дальнейший путь — 5 профилей × 3 контура × 5 источников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Пять инженерных профилей: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57607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n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76272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" y="2148839"/>
            <a:ext cx="5166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Компьютерное зрение / DL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39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Спутниковая аналитика, distance 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70048"/>
            <a:ext cx="57607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pu-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4320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2715768"/>
            <a:ext cx="5166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ML / обучение с подкреплением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Autonomous platforms, рои дронов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36976"/>
            <a:ext cx="57607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icrochip-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10128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282696"/>
            <a:ext cx="5166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Встраиваемые системы / edge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ML на спутнике, на дроне, на борту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03904"/>
            <a:ext cx="57607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check-4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77056"/>
            <a:ext cx="365760" cy="3657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7280" y="3849624"/>
            <a:ext cx="5166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Инженерия безопасности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78224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DO-178C / ARP4754A, FMEA / FTA, резервирование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370831"/>
            <a:ext cx="5760720" cy="50292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cale-4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43983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97280" y="4416551"/>
            <a:ext cx="5166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Этика / политика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45151"/>
            <a:ext cx="5166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Процесс UN GGE, политика ИИ в компаниях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91640"/>
            <a:ext cx="5257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Пять источников для дальнейшего чтения: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10312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1. </a:t>
            </a:r>
            <a:r>
              <a:rPr sz="1100" b="1" i="0">
                <a:solidFill>
                  <a:srgbClr val="21295C"/>
                </a:solidFill>
                <a:latin typeface="Arial"/>
              </a:rPr>
              <a:t>Scharre, «Army of None» (2018)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    базовая книга по LAWS — на русском есть перевод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56032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2. </a:t>
            </a:r>
            <a:r>
              <a:rPr sz="1100" b="1" i="0">
                <a:solidFill>
                  <a:srgbClr val="21295C"/>
                </a:solidFill>
                <a:latin typeface="Arial"/>
              </a:rPr>
              <a:t>CSIS / Bondar (апрель 2026)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    разбор российской экосистемы дронов с 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01752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3. </a:t>
            </a:r>
            <a:r>
              <a:rPr sz="1100" b="1" i="0">
                <a:solidFill>
                  <a:srgbClr val="21295C"/>
                </a:solidFill>
                <a:latin typeface="Arial"/>
              </a:rPr>
              <a:t>Abraham, +972 (2024)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    первичная публикация по Lavender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47472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4. </a:t>
            </a:r>
            <a:r>
              <a:rPr sz="1100" b="1" i="0">
                <a:solidFill>
                  <a:srgbClr val="21295C"/>
                </a:solidFill>
                <a:latin typeface="Arial"/>
              </a:rPr>
              <a:t>ICRC Position Paper (2024)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    главный негосударственный документ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31920"/>
            <a:ext cx="5257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5. </a:t>
            </a:r>
            <a:r>
              <a:rPr sz="1100" b="1" i="0">
                <a:solidFill>
                  <a:srgbClr val="21295C"/>
                </a:solidFill>
                <a:latin typeface="Arial"/>
              </a:rPr>
              <a:t>Stop Killer Robots briefs 2025</a:t>
            </a:r>
          </a:p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65A82"/>
                </a:solidFill>
                <a:latin typeface="Arial"/>
              </a:rPr>
              <a:t>    сводки по UN GGE и UNGA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11201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Три контура работы: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394960"/>
            <a:ext cx="3642359" cy="9144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458968"/>
            <a:ext cx="3368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Российский dual-use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733288"/>
            <a:ext cx="3368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Cognitive Pilot · VisionLabs · ТЕРРА ТЕХ · СКАНЭКС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8159" y="5394960"/>
            <a:ext cx="3642359" cy="91440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5320" y="5458968"/>
            <a:ext cx="3368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Глобальный контур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5320" y="5733288"/>
            <a:ext cx="3368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Boeing · Airbus · NASA · Anduril · Palantir · Helsing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7679" y="5394960"/>
            <a:ext cx="3642359" cy="914400"/>
          </a:xfrm>
          <a:prstGeom prst="roundRect">
            <a:avLst>
              <a:gd name="adj" fmla="val 25000"/>
            </a:avLst>
          </a:prstGeom>
          <a:solidFill>
            <a:srgbClr val="E6F2F4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44839" y="5458968"/>
            <a:ext cx="3368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1295C"/>
                </a:solidFill>
                <a:latin typeface="Arial"/>
              </a:rPr>
              <a:t>Гражданский без оборонной нагрузки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44839" y="5733288"/>
            <a:ext cx="3368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1">
                <a:solidFill>
                  <a:srgbClr val="065A82"/>
                </a:solidFill>
                <a:latin typeface="Arial"/>
              </a:rPr>
              <a:t>Wisk Aero · Joby · Maxar · Planet · BlackSky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Все 104 источника главы — в разделе «Источники» chapter.md. Выбор есть — он не сводится к «либо военная индустрия, либо ничего».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Цепь по-прежнему держит инженер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91672" cy="228600"/>
          </a:xfrm>
          <a:prstGeom prst="rect">
            <a:avLst/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9167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A556B"/>
                </a:solidFill>
                <a:latin typeface="Arial"/>
              </a:rPr>
              <a:t>Гражданское ↔ Военное · те же стеки, два контура применения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635" y="1920240"/>
            <a:ext cx="3383280" cy="2468880"/>
          </a:xfrm>
          <a:prstGeom prst="roundRect">
            <a:avLst>
              <a:gd name="adj" fmla="val 1234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ye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235" y="2148840"/>
            <a:ext cx="64008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5" y="2880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Sense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5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ИИ ускоряет → человек проверяет эталонной разметкой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5" y="39776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(ALIS — где не сработало)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45635" y="2971800"/>
            <a:ext cx="41148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2836" y="1920240"/>
            <a:ext cx="3383280" cy="2468880"/>
          </a:xfrm>
          <a:prstGeom prst="roundRect">
            <a:avLst>
              <a:gd name="adj" fmla="val 1234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rain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2148840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02836" y="2880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ИИ ассистирует → человек удерживает право решения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5716" y="39776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(Lavender — анти-пример)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31836" y="2971800"/>
            <a:ext cx="411480" cy="3657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89036" y="1920240"/>
            <a:ext cx="3383280" cy="2468880"/>
          </a:xfrm>
          <a:prstGeom prst="roundRect">
            <a:avLst>
              <a:gd name="adj" fmla="val 12345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lane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6" y="2148840"/>
            <a:ext cx="640080" cy="640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9036" y="28803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1915" y="33832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065A82"/>
                </a:solidFill>
                <a:latin typeface="Arial"/>
              </a:rPr>
              <a:t>ИИ исполняет в заданных границах → человек следит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1915" y="3977639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1">
                <a:solidFill>
                  <a:srgbClr val="1C7293"/>
                </a:solidFill>
                <a:latin typeface="Arial"/>
              </a:rPr>
              <a:t>(Fury — ведомый, не замена пилота)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11091672" cy="1234440"/>
          </a:xfrm>
          <a:prstGeom prst="roundRect">
            <a:avLst>
              <a:gd name="adj" fmla="val 24691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21295C"/>
                </a:solidFill>
                <a:latin typeface="Arial"/>
              </a:rPr>
              <a:t>Цепь по-прежнему держит инженер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63447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21295C"/>
                </a:solidFill>
                <a:latin typeface="Arial"/>
              </a:rPr>
              <a:t>ИИ — инструмент в инженерных руках, не автономный субъект. Профессионализм — умение сказать «да» и «нет».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1C7293"/>
                </a:solidFill>
                <a:latin typeface="Arial"/>
              </a:rPr>
              <a:t>Следующие лекции: 10 — энергетика; 11 — транспорт и логистика. Цепь Sense → Decide → Act работает везде, где есть инженерное решение и физический мир.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11091672" cy="274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0" b="1" i="0">
                <a:solidFill>
                  <a:srgbClr val="21295C"/>
                </a:solidFill>
                <a:latin typeface="Arial"/>
              </a:rPr>
              <a:t>Q&amp;A?</a:t>
            </a:r>
          </a:p>
        </p:txBody>
      </p:sp>
      <p:pic>
        <p:nvPicPr>
          <p:cNvPr id="3" name="Picture 2" descr="message-circle-question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367" y="425196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34924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1">
                <a:solidFill>
                  <a:srgbClr val="1C7293"/>
                </a:solidFill>
                <a:latin typeface="Arial"/>
              </a:rPr>
              <a:t>Backup prompts (на случай, если зал молчит):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760720"/>
            <a:ext cx="3657600" cy="6400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852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Почему США, Россия и Китай не подписывают LAWS-договор?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5760720"/>
            <a:ext cx="3657600" cy="6400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5852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+972 преувеличил про Lavender?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5760720"/>
            <a:ext cx="3657600" cy="640080"/>
          </a:xfrm>
          <a:prstGeom prst="roundRect">
            <a:avLst>
              <a:gd name="adj" fmla="val 25000"/>
            </a:avLst>
          </a:prstGeom>
          <a:solidFill>
            <a:srgbClr val="E6EEF4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58521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1">
                <a:solidFill>
                  <a:srgbClr val="21295C"/>
                </a:solidFill>
                <a:latin typeface="Arial"/>
              </a:rPr>
              <a:t>Куда идти работать без оборонной нагрузки?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