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not with excitement and not with a warning, but with a single date and a single number. In November 2021, Zillow — the largest real-estate listings platform in the United States — shut down an entire line of business, Zillow Offers. This was algorithmic iBuying: a computer model forecast the future price of a specific home, and based on that forecast Zillow automatically bought the home, did cosmetic repairs, and resold it. The idea is elegant: remove the human appraiser, scale up home buying to thousands of homes in dozens of cities at once. In practice the model systematically overvalued the properties; the company bought homes for more than it could sell them for.</a:t>
            </a:r>
          </a:p>
          <a:p/>
          <a:p>
            <a:r>
              <a:t>The outcome was severe: an inventory write-down of more than three hundred million dollars in a single quarter, cumulative losses for the line of business estimated at half a billion and more, layoffs of roughly a quarter of the workforce — about two thousand people, and a stock drop of about a quarter in a matter of days. An entire line of business at a large public company was shut down because of the errors of a single predictive model.</a:t>
            </a:r>
          </a:p>
          <a:p/>
          <a:p>
            <a:r>
              <a:t>This is worth pausing on. This was not ChatGPT and not "artificial intelligence that can do everything" — it was a predictive model estimating a numeric value from tabular and geographic data. A large language model was not used here and could not be used: the task is not a text task. And the forecast error itself is a normal phenomenon — every model makes errors. The business collapsed not because of the fact of the error, but because of where that error was wired in: to an automatic, irreversible, capital-intensive action at the scale of thousands of homes, with no human in the loop. Think for thirty seconds: what type of AI was this — and why did an ordinary error become a business loss? We will return to the full analysis in the first section.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course's second industry lecture. In Lecture 4 we examined how artificial intelligence enters software development — there it was essentially a single type of AI, a generative coder model, but examined in depth up the ladder of autonomy. Today the picture is fundamentally different. Finance and retail are the industries with the deepest and most varied AI adoption, and here a whole palette of different types works for different tasks: demand forecasting, fraud detection, credit scoring, recommendations, computer vision at the checkout. Most of the value comes from something other than a language model.</a:t>
            </a:r>
          </a:p>
          <a:p/>
          <a:p>
            <a:r>
              <a:t>The lecture is built as a route through six substantive sections. After the opening we will go through time-series forecasting, anomaly detection, credit scoring, language models in finance, recommender systems and dynamic pricing, and finish by assembling everything into a single framework for choosing the type of AI and for data safety. The bar of sections at the bottom is our map: on each divider you will see where we are on the route. The through-line of the lecture is one: a different task requires a different type of AI, a language model is not a universal hammer, and the value of an engineer is not in the ability to launch AI, but in the ability to choose the right type for the task and to understand in advance exactly where that type breaks and who is responsible for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stands on the foundation of the overview Module 1 and the first industry Lecture 4, so first let's fix what carries over ready-made and is not re-explained. From Lecture 2 we take the "which AI" tree: the distinction between classical machine learning, deep learning, and large language models, and the fact that a language model generates the next token of text. This distinction will underpin the entire "why not an LLM" argument in the sections on forecasting and scoring. From Lecture 4 we take the frame "the task determines the type of AI" and the principle that responsibility is not delegated. The contrast matters: there it was one type of AI in depth, here it is a palette of types for a palette of tasks.</a:t>
            </a:r>
          </a:p>
          <a:p/>
          <a:p>
            <a:r>
              <a:t>Five types that we will go through: time-series forecasting, anomaly detection, classical tabular scoring, language models in support, recommender systems. As a sixth, through-going layer, we will cover computer vision in retail and in customer verification. Most of the value in finance and retail comes from something other than a language model, and applying an LLM everywhere would be an engineering mistake — this is the lecture's thesis in one phrase.</a:t>
            </a:r>
          </a:p>
          <a:p/>
          <a:p>
            <a:r>
              <a:t>And an important methodological caveat. Four concepts this lecture introduces from scratch, because in the order of the course you see them here for the first time: the concepts of the false positive and false negative error and the confusion matrix, the mechanism of proxy bias, distribution shift. Lecture 7 will formally deepen this apparatus on medical material, but it comes after ours, so here this is a first, self-contained, but compact introduction — without the medical depth.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formulate the central question that the lecture will return to in every section — five explicit points of return. Finance and retail are the industries of the deepest AI adoption; the engineer's question here is not "can AI be applied", but for which task which type of AI, why exactly that one rather than a language model everywhere, and where this specific type breaks.</a:t>
            </a:r>
          </a:p>
          <a:p/>
          <a:p>
            <a:r>
              <a:t>The first part of the question — "which type and why exactly that one" — is analyzed in each of the five substantive sections through a unified card pattern. This is a five-step frame through which we analyze each type in the same way: what is the task, what type of AI and why exactly that one, a real example from Russia and the world, where it breaks with a documented failure, and what the correct alternative is with a criterion for inapplicability. The second part of the question — "where it breaks" — is through-going: each section ends with an analysis of a real failure of exactly this type of AI, with a lesson learned and a criterion.</a:t>
            </a:r>
          </a:p>
          <a:p/>
          <a:p>
            <a:r>
              <a:t>An important disclaimer. This unified card pattern is a didactic construct of the lecture, an analog of the ladder of autonomy from Lecture 4: a way to organize the material so that five different types do not turn into a list of technologies, but come together into an apparatus of judgment. It is not an industry standard. The map of five types that we will go through, plus the through-going layer of computer vision — it does not need to be understood all at once. Each type is analyzed by one and the same scheme, and by the end of the lecture the scheme will become your working tool for making the choice. The answer will not be "AI is good" and not "AI is bad", but an apparatus with which, for a specific task, you name the appropriate type, justify the choice, and see in advance the point of mandatory human control.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most common task in retail — and immediately with a type of AI that is not a language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Time-series forecasting is the prediction of future values of a numeric quantity that is measured regularly over time: how much milk a store will sell next Tuesday, what the inflow of money into an account will be next month, how many customers will churn next quarter. The key word is series: a time-ordered sequence of numbers in which there is a trend (a long-term direction), seasonality (a repeating cycle), and noise (random fluctuations). The type of AI for this task is classical statistics and tabular machine learning: the ARIMA family of models, gradient boosting on features. This is not a generative model and not a language model.</a:t>
            </a:r>
          </a:p>
          <a:p/>
          <a:p>
            <a:r>
              <a:t>Here it is worth unfolding the "why not an LLM" argument, because after Lectures 1–4 you develop the reflex "AI is ChatGPT". Let's break it down plainly. First: a language model is built to predict the next token of text — the most plausible continuation of a sequence of words. A series forecast is the prediction of the next number in a sequence of numbers with trend and seasonality. These are structurally different tasks: a language model in principle has no internal notion of "sales seasonality" — it has not seen your series as a series, it has seen texts about sales. Second: a forecast needs not the plausibility of the wording, but numeric accuracy and calibrated uncertainty. Third: what breaks with the wrong choice? Hand "forecast the demand" to a text model — it will produce a plausible-sounding number with no connection to the actual seasonality, and detecting that error is harder than detecting an obvious one. The intuition-conclusion: for a series of numbers over time you need a tool that can handle a series of numbers over time; the correct type of AI is determined by the structure of the task, not by what is currently on everyone's lips.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make the task concrete and take the choice argument all the way to an unfolded criterion. In retail, demand forecasting is the basis of the entire operational chain: how much product to order, how much to hold in the warehouse, when to launch a promotion. An error in one direction — an empty shelf and a lost sale; in the other — an overflowing warehouse and the write-off of expired goods. In finance the analog is forecasting the inflow and outflow of money to manage liquidity, and forecasting customer churn: who is highly likely to leave in the coming months, so there is time to retain them.</a:t>
            </a:r>
          </a:p>
          <a:p/>
          <a:p>
            <a:r>
              <a:t>The unfolded criterion of why classical statistics and tabular ML, and not a language model, requires at least three arguments, not one caveat. First — data structure: this is tabular numeric series with a date, point of sale, product, quantity, and features like day of week, holiday, promotion. Models for series are designed to extract trend and seasonality from this; converting the series into text to feed a language model loses exactly the structure that needs to be used. Second — measurability and calibration: a forecast needs a numeric error metric and a confidence interval, because the decision about the order size and safety stock is built on these numbers; classical models give this out of the box, a language model does not. Third — what breaks with the wrong choice: if you choose an LLM, you get a plausible number with no justified uncertainty, and the ordering decision on that number still has to be made, and the cost of a systematic error is multiplied by the volume of orders — exactly the Zillow mechanism. The correct alternative is a tabular predictive model with a measurable error; the criterion under which even it is not enough is a non-stationary environment without human control over a capital action.</a:t>
            </a:r>
          </a:p>
          <a:p/>
          <a:p>
            <a:r>
              <a:t>Separately — the through-going theme of data safety. If the series contain personal data of citizens of Russia, their processing is regulated by the personal-data law; sending such series to a public cloud service of a language model is not only a methodologically wrong choice of type of AI, but also a potential violation of localization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move to a real example from Russia. X5 Group, the Pyaterochka and Perekrestok chains, has been developing its own demand-forecasting algorithms since 2019. Per company data and industry reviews, forecast accuracy exceeds seventy percent; by the end of 2023, ML tools had brought in about five billion rubles in additional revenue and reduced write-offs of expired goods by about two percent. What this means for the engineer in essence: the forecast is not an end in itself, it is wired to the decision about ordering and shelf replenishment; forecast accuracy converts directly into money — fewer write-offs, fewer lost sales.</a:t>
            </a:r>
          </a:p>
          <a:p/>
          <a:p>
            <a:r>
              <a:t>The second example is especially instructive in the Russian context. Before 2022, Magnit used forecasting-and-logistics systems from foreign vendors of the SAP and Blue Yonder class. After their departure from the Russian market, since the autumn of 2024 the company has been developing its own demand-forecasting and auto-ordering system: the pilot started at a distribution center, and per the company's statement it planned to migrate thousands of product items to the new system. The pedagogical conclusion: the departure of foreign vendors made import substitution of forecasting systems not a theoretical but a direct engineering task for the Russian industry — this is the context in which you will work.</a:t>
            </a:r>
          </a:p>
          <a:p/>
          <a:p>
            <a:r>
              <a:t>And note the main point: neither X5 nor Magnit solves this task with a language model. They build specialized forecasting systems, because the type of AI is dictated by the structure of the task, not by which tool is currently on everyone's lips. This is the thesis of the lecture, confirmed at the scale of the country's largest retail chains.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the type of AI does not remain a black box with a name, let's explain the mechanics of a series forecast through a vivid analogy, without formulas. Imagine a sales chart of a single product over two years — a broken line of daily points. The human eye almost immediately sees three things in it: a general slope, sales are growing overall — this is the trend; a regular comb, a peak every Saturday, a dip every Tuesday, and a big annual hump toward December — this is seasonality; and small trembling around it, random fluctuations — this is noise. A forecasting model does essentially the same, but numerically: it decomposes history into trend, seasonality, and noise, learns on regular patterns and extends them into the future, adding corrections for known events like a promotion or a holiday. Then the forecast turns into an action: demand for next week is about so many units, which means order so many plus safety stock. The anchor analogy: a forecasting model is like an experienced buyer who, looking at the sales history, says "take more for the weekend, much more before New Year's", only it does this for millions of "store-by-product" pairs at once and numerically.</a:t>
            </a:r>
          </a:p>
          <a:p/>
          <a:p>
            <a:r>
              <a:t>Here too let's fix the built-in vulnerability of this type of AI, which will become the key to the next case. A forecast extends the patterns of the past into the future. As long as tomorrow resembles yesterday, this works beautifully. But if the environment changes qualitatively — a new market regime, a demand shock, a structural shift — the model keeps confidently extrapolating the old patterns that no longer exist. It does not understand that the world has changed — it sees only numbers and extends the regularity. This characteristic is not a defect of a specific implementation, but a property of the approach itself: a forecast is strong exactly to the degree that the future is statistically similar to the training past. Remember this idea — in a minute it will explain the half-billion-dollar failure.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central question returns edge-on for the first time, and we reveal what we started with. Zillow Offers was algorithmic iBuying based on home-value estimation models. The model forecast the future price of a home; based on the forecast, Zillow automatically made offers and bought homes across dozens of regions. In 2020–2021 the U.S. housing market went through anomalous volatility. The model, trained on a relatively stable preceding market, systematically overvalued the properties. The type of AI is a predictive regression model on tabular and geo data, not a language model.</a:t>
            </a:r>
          </a:p>
          <a:p/>
          <a:p>
            <a:r>
              <a:t>Let's introduce here from scratch the load-bearing term of the entire line of failures. Distribution shift is when the data on which the model operates in reality stops resembling the data on which it was trained: the environment changed its regime faster than the model could adapt. The model learned on one world and works in another. But drift by itself does not bankrupt a company — models drift constantly. What ruined Zillow was what its output was wired to. Let's formulate the key concept: the asymmetry of the error cost. A forecast error in a recommendation costs about zero. The same-magnitude forecast error, on which a real home is automatically bought, costs tens of thousands of dollars and is irreversible. Zillow combined three things: an irreversible capital-intensive action, triggered automatically, in a non-stationary environment without a kill switch.</a:t>
            </a:r>
          </a:p>
          <a:p/>
          <a:p>
            <a:r>
              <a:t>Here a brief return to Knight Capital is apt: in 2012 a trading firm lost four hundred forty million in forty-five minutes on a deterministic algorithm — not AI, but the same class of error: automation of an irreversible action without a kill switch. And the most instructive part: the competitor Opendoor survived the same period on the same type of AI thanks to a more conservative risk design. The same tool, a different judgment about what surrounds it. The lesson: a predictive model with an ordinary error, multiplied by an irreversible action without a kill switch, turns a routine inaccuracy into the loss of a line of business. Think for thirty seconds: where else is an irreversible auto-action on a forecast dangerous — name your own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Forecasting is about the future; now about the present: catch an anomalous transaction in milliseconds, while the payment has not yet gone through. This is a different task and a different type of 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of this section is the detection of fraudulent transactions in real time: a stolen card, an atypical payment, an attempt to withdraw funds — in a stream where the overwhelming majority of operations are legitimate, and the share of fraud is extremely small. The type of AI for this task is anomaly detection: the model builds a representation of normal behavior, how this customer usually pays by amounts, geography, time, merchants, and flags deviations. This is not series forecasting, because we are not predicting a future value, and not generation, because we are not producing anything; this is the calibration of the boundary "normal or anomalous".</a:t>
            </a:r>
          </a:p>
          <a:p/>
          <a:p>
            <a:r>
              <a:t>Let's fix why exactly anomaly detection and not another type — this is an important fork. Why not ordinary classification "fraud or not fraud" trained on labeled examples? Because fraud is by definition rare and constantly changes its form: labeled examples are few, and they go stale as soon as the fraudster invents a new scheme. Learning "what fraud looks like" is fragile, because fraud is a moving target. Anomaly detection flips the task: learn not "what fraud looks like", but "what this customer's normal looks like", for which there is plenty of data — his entire legitimate history — and catch deviations. Why not series forecasting? Forecasting answers "what will the next value be", but here the question is different — "how much this specific operation does not resemble the norm". Why not a language model? A transaction is a structured record, not text; the task is geometric — how far the point is from the cloud of the norm — not linguistic.</a:t>
            </a:r>
          </a:p>
          <a:p/>
          <a:p>
            <a:r>
              <a:t>In one line — about anti-money-laundering. From the standpoint of the type of AI it is a subset of the same anomaly-detection task, not a separate type; the fundamental difference is that part of the requirements are hard legislative thresholds, and they are implemented by deterministic rules, not by a probabilistic model. An analogy for the mechanics: imagine a cloud of points — a customer's ordinary transactions cluster together; the model outlines the cloud, and an operation that has fallen far beyond its edge is a candidate for an anomaly. The model does not know that this is fraud; it knows that this does not resemble the norm.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examples. Stripe Radar, the anti-fraud of the Stripe payment platform, per company data reduces fraud on average by about thirty-two percent at a legitimate-operation approval rate above ninety-nine percent, blocking billions of dollars of fraudulent operations a year. JPMorgan reports a reduction of false positives by about thirty percent and a shortening of the time to review flags after deploying an AI system. Visa reported preventing on the order of forty billion dollars of fraudulent operations for fiscal year 2023, almost double the figure a year earlier. In Russia, anomaly detection in transactions is standard practice for large banks; per Bank of Russia materials, traditional AI is widely used in anti-fraud and risk management. What this means for the engineer: anti-fraud is the protection of payments in real time, and it is directly tied to the type of AI that can handle norm and deviation, not to generation or forecasting.</a:t>
            </a:r>
          </a:p>
          <a:p/>
          <a:p>
            <a:r>
              <a:t>Pay special attention to the wording of all these numbers: a reduction of false positives by such-and-such a percent. This is a hint that the key metric of anti-fraud is not accuracy overall, but the ratio of the two types of error. Why "accuracy of ninety-nine point nine" in anti-fraud is a deceptive and even dangerous number, we will break down on the next slide; for that we need the apparatus of the confusion matrix, and we will introduce it from scratch. For now, remember: behind a nice percentage of reduction there is almost always the question — which error exactly became rarer, and at what cost.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appearance of the confusion matrix in the course, so we introduce it from scratch and plainly, without the medical depth. Any system that divides events into two classes — fraud or not fraud, block or pass — can err in two different ways, and these ways are not equivalent. Let's break all outcomes into four cells. True positive: the operation was fraud, the system caught it — good. True negative: the operation was legitimate, the system passed it — good. False positive: the operation was legitimate, but the system mistakenly marked it as fraud and blocked it — this is a type I error, an honest customer suffered, their card was blocked. False negative: the operation was fraud, but the system passed it — this is a type II error, the money went to the fraudster.</a:t>
            </a:r>
          </a:p>
          <a:p/>
          <a:p>
            <a:r>
              <a:t>Now, why accuracy lies under imbalance. Accuracy is the share of correct answers. Imagine a stream of a million transactions, of which a thousand — one tenth of a percent — are fraud. A model that does nothing at all and says "everything is legitimate" gives an accuracy of ninety-nine point nine percent — because it guessed almost a million legitimate ones, and the thousand fraud cases barely move the overall share. That is, a completely useless model shows excellent accuracy. The conclusion: under strong class imbalance, accuracy measures mainly the size of the larger class, not the ability to catch the rare important event.</a:t>
            </a:r>
          </a:p>
          <a:p/>
          <a:p>
            <a:r>
              <a:t>Next — the key engineering idea: cost-sensitive evaluation. The false positive and false negative errors differ not only in meaning, but also in cost, and that cost is in money and trust. The cost of missed fraud is the sum of money gone plus regulatory liability. The cost of a false block is a blocked honest customer, a spoiled experience, in the worst case a departure to a competitor. The correct problem formulation is not to maximize accuracy, but to minimize the total expected cost of errors, where both errors are weighted by real costs. The formal apparatus of these concepts will be built in Lecture 7 on medical material; here a working intuition is enough.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question returns edge-on for the second time. Anti-fraud vendors report reductions of false positives by percentages — but the failure side is pedagogically more important. Take the optimistic picture: the share of false positives at a good system is a fraction of a percent, approval of legitimate operations above ninety-nine percent. Seems excellent. But multiply a fraction of a percent by the scale: billions of transactions a year, even half a percent false positives is tens of millions of blocked legitimate operations. Behind each — a specific person: a blocked card on vacation, a rejected payment for treatment, a stopped transfer for a child's education. The scale of the harm grows together with the scale of the system, not diminishes.</a:t>
            </a:r>
          </a:p>
          <a:p/>
          <a:p>
            <a:r>
              <a:t>Why can this not be removed by tuning? Here the fundamental precision-recall trade-off is at work, and it is not canceled by a better model. To catch more fraud, you need to make the model more suspicious — but then it blocks more legitimate operations. To touch honest customers less often, you need to make the model more tolerant — but then more fraud gets through. This is not a defect, it is a structural property: you cannot arbitrarily reduce both types of error at once, you can only choose a point of trade-off. A better model shifts the whole curve, but the point is still chosen by the engineer according to the cost of the error.</a:t>
            </a:r>
          </a:p>
          <a:p/>
          <a:p>
            <a:r>
              <a:t>Let's take the cost to a concrete level. Compare two false positives. First: a blocked coffee purchase of five dollars, the customer retried the payment, forgot within an hour — the cost is close to zero, reversible. Second: a blocked payment of five thousand dollars for an urgent medical procedure in a foreign country — the customer cannot pay for the treatment, it is hard to get through, time is critical. This is the same class of error, but the cost differs by orders of magnitude, and the second case is irreversible in its consequences. Here too — the second return to Knight Capital: an automatic block of a large irreversible payment without a human gate — the same class of error as Zillow and Knight. The criterion: an automatic hard block is admissible only for reversible or small operations; for large ones the correct reaction is not a flat refusal, but a soft request for confirmation plus a fast human channel. And hard regulatory thresholds are implemented by deterministic rules, not by a model. A twenty-second vote: to block a five-thousand payment for treatment on a triggered anomaly — is that your threshold?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anomaly is found; now — a decision that changes the customer's life: grant a loan or refuse. And here a "black box" is fundamentally not allowed — let's break down why.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 scoring is the assessment of a borrower's creditworthiness: from data about the customer the system produces a default-risk score, and on its basis a decision about issuance, limit, and rate is made. The type of AI for this task in the industry is classical tabular ML: gradient boosting, logistic regression, scorecards. This is deliberately not a deep neural network and not a language model, and the reason is not that neural networks compute worse, but the requirements of the task itself. Let's unfold this as a full criterion of four arguments.</a:t>
            </a:r>
          </a:p>
          <a:p/>
          <a:p>
            <a:r>
              <a:t>First: explainability is a regulatory requirement, not a wish. A credit decision is regulated. A customer who has been refused is by law owed an understandable explanation of the reason — so-called reason codes: high debt burden, short credit history. The answer "the algorithm decided so" is legally and reputationally inadmissible. A model from which the reason cannot be extracted is inapplicable in principle in this task — not less convenient, but inapplicable. Second: the data is tabular, not text and not image; deep networks give an advantage on unstructured data, but on tabular data gradient boosting is steadily competitive at incomparably greater interpretability. Third: audit and stability matter more than one percent of accuracy; the regulator must be able to reproduce the decision and verify the absence of discrimination. Fourth: what breaks with the wrong choice — an opaque network cannot be explained to the customer, cannot be audited for bias, cannot be stably reproduced and defended before the regulator.</a:t>
            </a:r>
          </a:p>
          <a:p/>
          <a:p>
            <a:r>
              <a:t>So that this does not remain a label, an analogy. An interpretable scoring model is like a credit inspector who does not just say "no", but shows their calculation line by line: which feature shifted the decision by how much — these are exactly the reason codes, and from gradient boosting they are extracted by the standard SHAP method. A black box is like an inspector who says "no" and refuses to explain. In a regulated industry the second is inadmissible by law. The reflex "new means a neural network, means better" here is a direct structural error: the correct type of AI is determined by the structure of the data and the hard constraints of the task, and explainability here is a condition of lawfulness, not a bonus.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example from Russia. Since March 2024 Sberbank has made credit decisions on individuals almost entirely with AI; the scoring model takes into account up to five thousand parameters of the client; the bank estimated the additional effect from applying AI across all lines of business at roughly three hundred and fifty billion rubles for 2023. Per Bank of Russia materials, the degree of AI autonomy in scoring individuals and small businesses at systemically important banks is approaching one hundred percent, with issuance and review largely automated. An important detail for the through-line theme of «human or AI»: per the same document, over eighty percent of financial institutions that consistently apply AI give the client the ability to decline AI processing and switch to an employee. This is not cosmetics but an engineering-and-ethical principle: automating a decision must not close off the human channel.</a:t>
            </a:r>
          </a:p>
          <a:p/>
          <a:p>
            <a:r>
              <a:t>This is worth sharpening. One hundred percent of decisions being made by AI in Russia does not mean that a black-box neural network decides the client's fate uncontrolled. It means a high degree of pipeline automation on interpretable models with reason codes, regulatory oversight by the Bank of Russia, and a preserved client right to a human. The AI type is tabular ML, chosen precisely because of its explainability and auditability, not despite them. This illustrates the lecture's thesis at the scale of the country's largest bank: the right type of AI is dictated by the task and the regulation, not by trendiness. When you hear «the bank automated one hundred percent of decisions», the right engineering question is not «isn't that scary» but «what harness is built around that automation»: reason codes, oversight, the right to a human, a bias audit.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question returns sharply for the third time. The case — Apple Card and Goldman Sachs, November 2019. The precise facts must not be oversimplified. A developer published a viral thread: he was approved for a credit limit roughly twenty times higher than his wife's, despite a joint tax filing and a higher credit score for the wife; similar complaints appeared. The New York State regulator opened an investigation. And here is the critically important nuance of the outcome: in March 2021, after analyzing data on about four hundred thousand applicants, the regulator did not find a violation of fair-lending laws — the decisions were explained by credit policy and were not deemed unlawful discrimination by sex. To claim «Apple Card provably discriminated against women» is factually incorrect. But the regulator explicitly pointed to opacity: clients could not obtain an explanation of a decision, and the answer «the algorithm decided so» undermined trust. That is, the failure is not proven discrimination but a regulatory-reputational crisis due to unexplainability.</a:t>
            </a:r>
          </a:p>
          <a:p/>
          <a:p>
            <a:r>
              <a:t>Now let us introduce, from scratch, the mechanism that makes this class of failures dangerous even without malicious intent — proxy bias. Suppose an engineer deliberately does not feed the forbidden features — sex, race — into the model. Discrimination seems ruled out. But the data still contains features that correlate with the forbidden ones: ZIP code, the structure and history of spending, employment type. The model, optimizing accuracy, indirectly reconstructs the forbidden feature through these proxy variables and begins to treat groups systematically differently while formally not seeing them. An analogy: you removed the «sex» field from the form but kept a dozen fields that together make the sex almost unambiguously guessable. Therefore «we do not use protected features» is not proof of the absence of bias; the only proof is a direct audit of the model's outcomes across protected groups. The criterion: a regulated credit decision requires simultaneously reason codes, a human appeal path, and a bias audit of outcomes before production, not after the scandal. The canonical analysis of the mechanism will come in Lecture 7 on a medical case.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assemble a through-line criterion for recognizing this class of error out of three sections. We saw one and the same class of error across three AI types: Zillow — a forecast that triggered automatic irreversible buying; a false-positive fraud auto-block — an anomaly that triggered automatic irreversible blocking; and Knight Capital — a deterministic algorithm that placed automatic irreversible orders. Scoring in Russia is automated almost one hundred percent, which means this criterion applies to it directly and acutely.</a:t>
            </a:r>
          </a:p>
          <a:p/>
          <a:p>
            <a:r>
              <a:t>Let us state the generalization as a criterion-conclusion, not as yet another failure analysis — Knight has already been analyzed as a through-line return. Automation that executes irreversible financial actions in an open loop without a kill switch, without limits on budget and position, without a circuit breaker on anomalies, and without a verified deployment, turns an ordinary model error into the speed of ruin. The higher the autonomy — and one hundred percent of scoring is high autonomy — the stricter and more explicit the human or deterministic gate around it must be.</a:t>
            </a:r>
          </a:p>
          <a:p/>
          <a:p>
            <a:r>
              <a:t>What this means for scoring specifically. One hundred percent of decisions made by AI is acceptable only within a harness: reason codes on every decision, a preserved human channel, a bias audit of outcomes on a regular basis, monitoring of distribution shift in the applicant pool, regulatory oversight. Remove the harness — and one hundred percent automation turns from efficiency into Apple Card at the scale of a bank. The alternative is stated positively: verifiable deployment plus an explicit human gate on the disputed and borderline cases plus a circuit breaker on an anomalous shift in approvals plus an audit. High autonomy is not a goal, nor an evil in itself; the goal is autonomy surrounded by paid-for gates proportional to the cost of the error and the irreversibility of the action. This is the through-line engineering conclusion of the three sections.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 to now — deliberately not a language model: forecast, anomalies, scoring. Now — an LLM, and immediately about its limits in a regulated industry.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task where a language model really fits in a bank: client support with answers to routine questions, a voice assistant that recognizes a request and walks through the script, assistance to an employee in the form of summarizing an inquiry and suggesting the regulation, explaining a product in plain language. These are text-and-dialogue tasks — exactly what a language model was designed for, unlike forecasting, anomalies, and scoring. Scale: the client's first contact with the bank is increasingly automated. Per verified data, the T-Bank chatbot handles over forty percent of client inquiries, and around seventy percent of banks planned to launch voice assistants by 2025.</a:t>
            </a:r>
          </a:p>
          <a:p/>
          <a:p>
            <a:r>
              <a:t>Here is an important caveat about reliability, and it is also an illustration of the lecture's theme. The course's normative materials contain the wording «voice assistants handle more than ninety percent of banks' inquiries». The figure of around ninety percent exists somewhere — but it refers to the share of calls handled by a voice assistant in one bank's call center, not to the share of banks' inquiries overall. This is a classic base substitution: a real metric about calls in one bank's call center is expanded to an incorrect industry-wide wording. Therefore in the lecture we use only the verified wording with attribution and a date, not an unconfirmed figure. This is not pedantry: the lecture teaches fact-checking — building an assertion on a figure with a substituted base would violate the very principle it teaches.</a:t>
            </a:r>
          </a:p>
          <a:p/>
          <a:p>
            <a:r>
              <a:t>And let us underscore the symmetry. In forecasting, anomalies, and scoring, a language model is the wrong type, because the tasks are not textual. In support and explanation it is the right type, because the task is precisely text-and-dialogue. The lecture's thesis is symmetric: «a different task — a different type of AI» means not «the LLM is bad» but «the LLM is good exactly where the task is text-and-dialogue, and bad where it is not».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through-line pattern of the whole lecture: fact-checking. Let us state it as an unfolded criterion, of when a language model is not the source of truth, with three arguments and an alternative. The thesis: in finance, a model's answer about numbers, rates, conditions, a client's rights must rest on a verifiable primary source and be verifiable; the model here is not the source of truth but an interface to the source of truth.</a:t>
            </a:r>
          </a:p>
          <a:p/>
          <a:p>
            <a:r>
              <a:t>The first argument — the hallucination mechanism: the model generates a plausible continuation of text, it does not retrieve a verified fact; plausible is not equal to correct. Ask about the exact rate on a specific deposit — the model may produce a confidently sounding but wrong number, because its task is coherence, not truth. The second argument — the cost of error in finance is legal: an incorrectly named rate or condition is a potential violation and direct harm to the client, for which the organization is liable. The third — what breaks: if you allow the model to freely generate answers about regulated facts, you get a scalable generator of plausible misinformation with the bank's legal liability for every answer. The alternative and the criterion: for fixed facts, the answer is built by deterministic retrieval from a system or a document, the model phrases what was found in human language but does not invent the number itself.</a:t>
            </a:r>
          </a:p>
          <a:p/>
          <a:p>
            <a:r>
              <a:t>To make «recognize the class of error» an operational skill, let us break down the typical classes. Class one — fact hallucination: a specific number without a reference to a source; the principle — cross-check against the primary source. Class two — stale data: a figure in a volatile area without a date; the principle — check currency. Class three — bias through a proxy in a conclusion about a group of people; the principle — remember that an audit of outcomes is needed. Class four — deception by a metric: accuracy without a base and a cost of error; the principle — ask for false positives and false negatives separately and in money. Class five — base substitution: a loud share without precise wording, exactly like «voice assistants over ninety percent». An analogy for grounding: a model without a grounding on a source is like a student who does not remember a figure but confidently pronounces it; a model with grounding first opens the reference book, reads the exact value, and only then phrases it. In the lecture you are required to recognize the class and name the principle; independent verification against primary sources — that is Seminar 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question returns sharply for the fourth time — through two connected cases. The first — Air Canada, as a return to the material of Lecture 3, not its duplicate. Briefly: the airline's chatbot reported a nonexistent refund policy to a passenger; the passenger acted on the bot's answer; in February 2024 a Canadian tribunal ruled that the company is liable for the information its chatbot provides, and ordered it to pay compensation. The class of error: hallucination of a financially significant fact equals the organization's legal liability. The transfer to a bank is direct: a chatbot that named a wrong rate or condition creates exactly the same liability — this is an illustration of the previous slide in the form of a court precedent, not a hypothesis.</a:t>
            </a:r>
          </a:p>
          <a:p/>
          <a:p>
            <a:r>
              <a:t>The second — Klarna, an arc from 2023 to 2025. The fintech deployed a language support assistant: it closed about two thirds of inquiries, cut the average resolution time from roughly eleven minutes to under two, with claimed savings of around forty million dollars a year. In 2024 this was presented as proof that AI replaces support, and many publications cited precisely this half of the story. The denouement: by mid-2025 Klarna recorded a drop in customer satisfaction and returned to hiring people. Let us analyze why this is not «AI turned out to be bad» but a subtler lesson. The assistant really did work: two thirds of inquiries were closed, time fell severalfold, the savings are real. The failure is in a categorical error: the task «answer inquiries» was confused with the system «customer service». Service is also the rare, emotionally charged, disputed cases, where trust and retention are at stake. They are few in number but disproportionately weighty. Full replacement of people optimized the average cost of a contact and collapsed quality in the hard tail.</a:t>
            </a:r>
          </a:p>
          <a:p/>
          <a:p>
            <a:r>
              <a:t>The lesson is twofold: hallucination of a financial fact equals legal liability, therefore regulated facts must be grounded; full auto-replacement of human support is not durable, and the right role of the model is augmentation, not replacement. Think for thirty seconds: a bank's chatbot named you a rate — how do you recognize the risk of a hallucination without checking the rate itself?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make a turning point — not a summary, the summary will come at the finale, but a bridge into the last section. We covered four structurally different AI types — time-series forecasting, anomaly detection, tabular scoring, a dialogue language model — and in each the failure had the same shape: the AI type was chosen correctly for the structure of the task, and what broke was not the type but the harness around it — on the irreversible action at Zillow, on the large block in fraud, on the regulated decision at Apple Card, on the binding fact at Air Canada.</a:t>
            </a:r>
          </a:p>
          <a:p/>
          <a:p>
            <a:r>
              <a:t>From this comes a two-level conclusion. The first half of the central question — which AI type and why this one — is resolved by the structure of the task, most often unambiguously: a series of numbers requires forecasting, norm and deviation require anomaly detection, a tabular regulated decision requires explainable ML, dialogue requires a language model. The second half — what stands around the AI at the cost of the error — is not derived from the choice of type and is designed separately for each task. The right choice of type is necessary but not sufficient. An engineer who has grasped only the first half will correctly name the AI type — and still build systems of the Zillow and Apple Card class, because the right type without a harness gives exactly these failures.</a:t>
            </a:r>
          </a:p>
          <a:p/>
          <a:p>
            <a:r>
              <a:t>And here — the transition to the last type. Up to now all the types concerned actions with an obviously high cost of error: money, credit, a legal fact. The last type — recommender systems and dynamic pricing — seems the most harmless: so it recommended the wrong movie, the cost of error is near zero. Precisely for that reason it is more dangerous than it seems: a low visible cost of error lulls you, while the pathologies of this type are the subtlest. In forecasting or scoring the failure is loud — half a billion, a regulator; in recommendations the failure is quiet: the system reports success by its own metric exactly when it destroys what did not make it into the metric. This is what makes the harmless AI type insidious.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type — the most harmless by visible cost of error, but with the subtlest pathologies. Let us give it room: we introduce the mechanics from scratch, calmly, without formulas.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of this section is personalization: what else to buy or watch, ranking the feed, the search results, the home page. The AI type is recommender systems. You are seeing this concept for the first time, so let us unfold the two basic approaches in plain terms, as the core of the section.</a:t>
            </a:r>
          </a:p>
          <a:p/>
          <a:p>
            <a:r>
              <a:t>The first approach — collaborative filtering. The idea in one phrase: people similar to you by behavior bought or watched something, so you will probably like it too. The system builds a large table «user by item» — who bought or rated what — and looks for similar rows in it. Important: it does not know what the item is, only who interacted with what. Strength: it catches unexpected, non-obvious connections — drill buyers often take precisely these gloves, and the system sees this even without knowing what a drill is. Weaknesses that must be named right away: cold-start — for a new item or a new user there is no history, nothing to recommend on; and popularity bias — the system tends to recommend what is already popular, because there is the most data on it.</a:t>
            </a:r>
          </a:p>
          <a:p/>
          <a:p>
            <a:r>
              <a:t>The second approach — content-based filtering. The idea: this item is similar by its features to what you already liked. The system uses item attributes — genre, brand, category, price — and recommends the similar. Strength: no cold-start problem for a new item — as soon as an item has attributes, it can be recommended. Weakness: over-specialization — the system locks the user into a narrow niche of «more of the same», not opening anything beyond already known preferences. An analogy that separates the two approaches: collaborative — ask people similar to you what they took; content-based — take another item similar by description to your favorite. The first risks drowning you in the popular, the second — locking you into a niche. Here it is enough to remember what these approaches are and which weakness by name each has; the mechanism itself we will analyze later on a concrete matrix.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approach — a hybrid recommender system. Most real industrial systems are hybrids: a collaborative and a content part plus context such as time, device, session history, combined so that the strengths of one compensate for the weaknesses of the other. The content part closes cold-start, the collaborative part breaks over-specialization. This is not a third separate algorithm but an engineering composition of the first two for a specific product.</a:t>
            </a:r>
          </a:p>
          <a:p/>
          <a:p>
            <a:r>
              <a:t>Let us introduce from scratch two pathology-concepts. The filter bubble is an effect in which a recommender system, optimizing relevance to already manifested preferences, narrows the diversity of what the user sees: the model shows the similar, the user interacts with the similar, the model learns to show even more similar. This is not malicious intent but a direct consequence of optimizing for short-term relevance. Dynamic pricing is the automatic adjustment of price to demand, time, competitor, context. Let us fix the engineering-and-ethical boundary right away: the perception of price fairness and regulatory constraints are constraints of the task, not optimizable variables; an attempt to optimize price head-on, ignoring them, is the classic error «proxy instead of goal».</a:t>
            </a:r>
          </a:p>
          <a:p/>
          <a:p>
            <a:r>
              <a:t>And separately — with the fact-checking discipline that the previous section taught. It is widely cited that around thirty-five percent of Amazon's revenue comes from recommendations, and about seventy-five percent of Netflix's views. These figures must be presented correctly: they are historically cited classic estimates, both tracing back to one source around 2013, not fresh verified metrics. Using them as a current fact today is exactly the error the previous section warned against. In Russia Ozon and Wildberries actively use recommendations, but the specific share of revenue from them could not be confirmed against a primary source — so the Amazon figure cannot be transferred here; the correct wording: recommendations are a key driver of conversion, the companies do not disclose the exact share.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question returns sharply for the fifth and last time. The failure of this AI type is subtler than the previous ones, and precisely for that reason it is easy to underestimate. The root — a proxy instead of the goal. A recommender system optimizes what is measurable in the moment: clicks, viewing time, conversion. But this is a proxy, not the true goal — the long-term value and well-being of the user, their trust, the diversity of choice. When the proxy diverges from the goal, the system honestly maximizes the proxy and gets pathologies: a filter bubble, dark patterns, homogenization.</a:t>
            </a:r>
          </a:p>
          <a:p/>
          <a:p>
            <a:r>
              <a:t>The case — Wendy's, February 2024. The fast-food chain announced an investment of around twenty million dollars in digital menu boards with a dynamic-pricing capability. The media interpreted this as surge pricing — the price rises during peak hours, as with taxis; a public scandal erupted, a competitor beat it in an ad. Within a few days the company was forced to publicly roll back the wording. The money had been invested, the technology was available — what failed was not IT but the ignoring of the fact that the perception of price fairness is a constraint, not an optimizable variable. Technically, surge pricing is a solvable optimization task: the model maximizes revenue by adjusting price to demand. If you frame the task that way, the optimizer will honestly solve it — and lead to exactly what caused the boycott. The error is not in the model but in the framing: fairness and loyalty were implicitly discarded because they are poorly measurable.</a:t>
            </a:r>
          </a:p>
          <a:p/>
          <a:p>
            <a:r>
              <a:t>Compare it with the filter bubble — the same mechanism: there the proxy is the click, the goal is long-term value; here the proxy is revenue per shift, the goal is trust in the brand over years. And in both cases the pathology does not look like a malfunction: the model works perfectly by its metric, the graphs rise, the failure is visible only if you look at what did not make it into the metric. This is one class of error across the whole lecture — deception by an accuracy metric, scoring proxy bias, Klarna, the bubble: the optimizer maximizes a proxy that diverges from the goal. The criterion: build in a deliberate share of unexpected recommendations and explainability, an audit for discrimination; pricing policy is a decision of a human within a legal frame. Think for thirty seconds: where in a service familiar to you have you noticed a bubble or an unfair price — and what was the proxy, and what was the goal?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assemble five sections into one apparatus — this is the answer to the central question and the core of the skill of choosing an AI type. The matrix: a row is a task, the columns are the right AI type and why this one, and the typical failure. This is a compact packaging of five facts already proven in the lecture, not new material.</a:t>
            </a:r>
          </a:p>
          <a:p/>
          <a:p>
            <a:r>
              <a:t>Forecasting demand, cash inflow, churn — the AI type is time-series forecasting, because these are numbers with a trend and seasonality, not text; the typical failure is distribution shift multiplied by an irreversible automatic action, as at Zillow. Fraud and anti-money-laundering in real time — anomaly detection plus deterministic rules, because the task is about norm and deviation, and the laundering threshold is law; the typical failure is false positives at scale and deception by an accuracy metric under imbalance. Credit scoring — classic tabular ML, because explainability is a regulatory requirement; the typical failure is bias through a proxy and opacity, as at Apple Card. Support, voice, explanation — a language model grounded on a source, because the task is text-and-dialogue; the typical failure is hallucination of a financial fact as legal liability, as at Air Canada. Recommendations and pricing — a recommender system, and price is an optimizer within a human frame; the typical failure is proxy is not equal to goal, a filter bubble, as at Wendy's.</a:t>
            </a:r>
          </a:p>
          <a:p/>
          <a:p>
            <a:r>
              <a:t>The bottom row is deliberate. It answers the course's through-line question «when not AI at all» — a direct transfer of the principle of Lectures 3 and 4: if the task is executing a hard verifiable regulatory rule, the right tool is not AI, but deterministic code; AI here does not «not hurt» but would add nondeterminism and an error surface where precision and an audit are required. The matrix is not «pick a fashionable model» but naming the type by the structure of the task, and sometimes the right type is not AI at all. This is exactly the apparatus you must carry away from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assemble from five sections a through-line criterion «when AI is not needed or dangerous» — this is the answer to the question of applicability and risks. This is not five different warnings but one principle in five manifestations: the right choice of AI type is necessary but not sufficient; AI is dangerous where its output is wired to an action whose cost of error is not paid for by a harness.</a:t>
            </a:r>
          </a:p>
          <a:p/>
          <a:p>
            <a:r>
              <a:t>The first manifestation — an irreversible automatic action without a gate, as at Zillow and Knight: a forecast or a signal that triggers an irreversible capital or trading action automatically in a nonstationary environment without a circuit breaker. The measure — a human gate, a narrow segment, live monitoring of the error. The second — a regulated decision without explainability, as at Apple Card: credit or denial without reason codes, without an appeal path, without a bias audit. The measure — an explainable model, a human on escalation, an audit of outcomes. The third — a financial fact without a grounding on a source, as at Air Canada: a fact binding on the client, generated freely. The measure — grounding, verifiability, a path to a human. The fourth — full replacement of people in service, as at Klarna: removing the human channel on the emotional and disputed tail for the sake of average efficiency. The measure — augmentation with guaranteed escalation. The fifth — price discrimination without a legal frame, as at Wendy's: an optimizer into whose goal the fairness constraint was mixed. The measure — price is decided by a human within a legal frame, and the optimizer works only inside the bounds.</a:t>
            </a:r>
          </a:p>
          <a:p/>
          <a:p>
            <a:r>
              <a:t>Notice: in none of the five cases is the fix a better model. In all of them it is better judgment about what stands around the AI at the cost of the error. This is exactly the substantive answer to the central question: where it breaks is not in the AI type, which was chosen correctly, but in the absence of a harness proportional to the irreversibility and the regulated nature of the action.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course's through-line theme — data security — is sharper in finance and retail than anywhere else: this is where financial data, personal data, and biometrics are processed. The law on personal data sets requirements for processing the data of Russian citizens: in particular, the localization requirement — storage and processing on servers in Russia — and biometric data have a separate, stricter regime. The practical engineering conclusion: financial data, personal data, and biometrics must not be sent into a public uncontrolled cloud language-model service — this is both a methodologically wrong choice of AI type and a potential violation of localization requirements. A public cloud has three structural drawbacks that cannot be configured away: the data leaves the organization's perimeter, you do not control what the provider does with the transferred data, and auditability falls. The engineering criterion for the choice is by the sensitivity of the data and the regulatory regime, not by the power of the model.</a:t>
            </a:r>
          </a:p>
          <a:p/>
          <a:p>
            <a:r>
              <a:t>The second block — computer vision, which we cover illustratively. Verifying a client during digital onboarding often includes a liveness check — that in front of the camera is a real human, not a photo, a mask, or a deepfake — and matching the face against a document. This is biometrics, that is, the strict regime of the law. Let us set out the key principle in a separate sentence: a biometric feature is irreversibly compromised on a leak — a password can be changed, a face and a fingerprint cannot. Therefore the cost of error in protecting biometrics is asymmetric in the same way as the cost of a forecasting error at Zillow.</a:t>
            </a:r>
          </a:p>
          <a:p/>
          <a:p>
            <a:r>
              <a:t>And one more lesson — hidden human labor. Amazon's cashierless-store technology Just Walk Out was wound down from a number of formats in April 2024; by reports, the autonomous checkout relied on over a thousand human reviewers in India who processed problematic transactions, although Amazon disputed such an interpretation of the scale. The lesson: before automating a vision task, assess the real share of manual processing and the total cost of ownership — «fully autonomous» in marketing is a hypothesis to check, not a fact. Computer-vision bias across groups is deepened in Lecture 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sections fold into a working checklist that is applied to a financial or retail task before choosing AI. Which AI type does the structure of the task dictate: a series of numbers over time — forecasting, norm and deviation — anomaly detection, a tabular regulated decision — explainable ML, dialogue — a language model, personalization — recommendations, vision — computer vision. Why not a language model here — state at least one structural reason; if you cannot, you may be taking a hammer to the wrong nail. Can it be solved without AI at all — a hard verifiable rule is solved by deterministic code. Is the action on the model's output reversible — the irreversible requires a human or deterministic gate. How to verify the fact the AI produces — recognize the class of possible error and name the principle of verification. Is the decision regulated — credit, price, a binding fact require reason codes, a legal frame, an appeal path. Who is liable and where is a human mandatory — name the point of accountability before launch. Is there personal or financial data, biometrics — if yes, not into a public cloud.</a:t>
            </a:r>
          </a:p>
          <a:p/>
          <a:p>
            <a:r>
              <a:t>The assignment — Seminar 5. Teams in thirty minutes verify five real claims about AI in Russian banks and retail against the primary sources of the Bank of Russia and VCIOM, mark them true, partial, or false, and explain the type of error. The boundary is strict: the lecture teaches recognizing the class of error and naming the principle of verification — this is the level of understanding; the seminar — independently verifying, this is the level of application. The lecture deliberately does not do the seminar's work, it prepares for it.</a:t>
            </a:r>
          </a:p>
          <a:p/>
          <a:p>
            <a:r>
              <a:t>This lecture is the second industry lecture. The unified pattern of the AI-type card, the matrix, and the checklist — this is a lens for all the subsequent industry lectures: in each industry the same question will return — here is a task, which AI type and why this one, where it breaks, and who is liable. Thank you for your attention. Now —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16.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9.png"/><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10058400" cy="877824"/>
          </a:xfrm>
          <a:prstGeom prst="rect">
            <a:avLst/>
          </a:prstGeom>
          <a:noFill/>
        </p:spPr>
        <p:txBody>
          <a:bodyPr wrap="square" lIns="0" rIns="0" tIns="0" bIns="0" anchor="t">
            <a:spAutoFit/>
          </a:bodyPr>
          <a:lstStyle/>
          <a:p>
            <a:pPr algn="l">
              <a:lnSpc>
                <a:spcPct val="110000"/>
              </a:lnSpc>
            </a:pPr>
            <a:r>
              <a:rPr sz="2300" b="1" i="0">
                <a:solidFill>
                  <a:srgbClr val="21295C"/>
                </a:solidFill>
                <a:latin typeface="Arial"/>
              </a:rPr>
              <a:t>A single predictive model shut down an entire business line of a major company.</a:t>
            </a:r>
          </a:p>
        </p:txBody>
      </p:sp>
      <p:pic>
        <p:nvPicPr>
          <p:cNvPr id="3" name="Picture 2" descr="landmark-mid.png"/>
          <p:cNvPicPr>
            <a:picLocks noChangeAspect="1"/>
          </p:cNvPicPr>
          <p:nvPr/>
        </p:nvPicPr>
        <p:blipFill>
          <a:blip r:embed="rId2"/>
          <a:stretch>
            <a:fillRect/>
          </a:stretch>
        </p:blipFill>
        <p:spPr>
          <a:xfrm>
            <a:off x="11018520" y="384048"/>
            <a:ext cx="676656" cy="676656"/>
          </a:xfrm>
          <a:prstGeom prst="rect">
            <a:avLst/>
          </a:prstGeom>
        </p:spPr>
      </p:pic>
      <p:sp>
        <p:nvSpPr>
          <p:cNvPr id="4" name="Rounded Rectangle 3"/>
          <p:cNvSpPr/>
          <p:nvPr/>
        </p:nvSpPr>
        <p:spPr>
          <a:xfrm>
            <a:off x="502920" y="1335024"/>
            <a:ext cx="6446520" cy="4160520"/>
          </a:xfrm>
          <a:prstGeom prst="roundRect">
            <a:avLst>
              <a:gd name="adj" fmla="val 73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99616"/>
            <a:ext cx="5897880" cy="27432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Zillow Offers · iBuying · November 2021</a:t>
            </a:r>
          </a:p>
        </p:txBody>
      </p:sp>
      <p:sp>
        <p:nvSpPr>
          <p:cNvPr id="6" name="Rounded Rectangle 5"/>
          <p:cNvSpPr/>
          <p:nvPr/>
        </p:nvSpPr>
        <p:spPr>
          <a:xfrm>
            <a:off x="777240" y="1828800"/>
            <a:ext cx="5897880" cy="1627632"/>
          </a:xfrm>
          <a:prstGeom prst="roundRect">
            <a:avLst>
              <a:gd name="adj" fmla="val 8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38528"/>
            <a:ext cx="5532120" cy="932688"/>
          </a:xfrm>
          <a:prstGeom prst="rect">
            <a:avLst/>
          </a:prstGeom>
          <a:noFill/>
        </p:spPr>
        <p:txBody>
          <a:bodyPr wrap="square" lIns="0" rIns="0" tIns="0" bIns="0" anchor="ctr">
            <a:spAutoFit/>
          </a:bodyPr>
          <a:lstStyle/>
          <a:p>
            <a:pPr algn="l">
              <a:lnSpc>
                <a:spcPct val="115000"/>
              </a:lnSpc>
            </a:pPr>
            <a:r>
              <a:rPr sz="6800" b="1" i="0">
                <a:solidFill>
                  <a:srgbClr val="F0AB00"/>
                </a:solidFill>
                <a:latin typeface="Arial"/>
              </a:rPr>
              <a:t>$500M+</a:t>
            </a:r>
          </a:p>
        </p:txBody>
      </p:sp>
      <p:sp>
        <p:nvSpPr>
          <p:cNvPr id="8" name="TextBox 7"/>
          <p:cNvSpPr txBox="1"/>
          <p:nvPr/>
        </p:nvSpPr>
        <p:spPr>
          <a:xfrm>
            <a:off x="960120" y="2889504"/>
            <a:ext cx="5532120" cy="475488"/>
          </a:xfrm>
          <a:prstGeom prst="rect">
            <a:avLst/>
          </a:prstGeom>
          <a:noFill/>
        </p:spPr>
        <p:txBody>
          <a:bodyPr wrap="square" lIns="0" rIns="0" tIns="0" bIns="0" anchor="ctr">
            <a:spAutoFit/>
          </a:bodyPr>
          <a:lstStyle/>
          <a:p>
            <a:pPr algn="l">
              <a:lnSpc>
                <a:spcPct val="115000"/>
              </a:lnSpc>
            </a:pPr>
            <a:r>
              <a:rPr sz="1500" b="1" i="0">
                <a:solidFill>
                  <a:srgbClr val="21295C"/>
                </a:solidFill>
                <a:latin typeface="Arial"/>
              </a:rPr>
              <a:t>total losses — an entire business line shut down</a:t>
            </a:r>
          </a:p>
        </p:txBody>
      </p:sp>
      <p:sp>
        <p:nvSpPr>
          <p:cNvPr id="9" name="Rounded Rectangle 8"/>
          <p:cNvSpPr/>
          <p:nvPr/>
        </p:nvSpPr>
        <p:spPr>
          <a:xfrm>
            <a:off x="777240" y="3621024"/>
            <a:ext cx="1856231" cy="859536"/>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3694176"/>
            <a:ext cx="1746503" cy="384048"/>
          </a:xfrm>
          <a:prstGeom prst="rect">
            <a:avLst/>
          </a:prstGeom>
          <a:noFill/>
        </p:spPr>
        <p:txBody>
          <a:bodyPr wrap="square" lIns="0" rIns="0" tIns="0" bIns="0" anchor="ctr">
            <a:spAutoFit/>
          </a:bodyPr>
          <a:lstStyle/>
          <a:p>
            <a:pPr algn="ctr">
              <a:lnSpc>
                <a:spcPct val="115000"/>
              </a:lnSpc>
            </a:pPr>
            <a:r>
              <a:rPr sz="2100" b="1" i="0">
                <a:solidFill>
                  <a:srgbClr val="21295C"/>
                </a:solidFill>
                <a:latin typeface="Arial"/>
              </a:rPr>
              <a:t>$300M+</a:t>
            </a:r>
          </a:p>
        </p:txBody>
      </p:sp>
      <p:sp>
        <p:nvSpPr>
          <p:cNvPr id="11" name="TextBox 10"/>
          <p:cNvSpPr txBox="1"/>
          <p:nvPr/>
        </p:nvSpPr>
        <p:spPr>
          <a:xfrm>
            <a:off x="832104" y="4078224"/>
            <a:ext cx="1746503" cy="347472"/>
          </a:xfrm>
          <a:prstGeom prst="rect">
            <a:avLst/>
          </a:prstGeom>
          <a:noFill/>
        </p:spPr>
        <p:txBody>
          <a:bodyPr wrap="square" lIns="0" rIns="0" tIns="0" bIns="0" anchor="ctr">
            <a:spAutoFit/>
          </a:bodyPr>
          <a:lstStyle/>
          <a:p>
            <a:pPr algn="ctr">
              <a:lnSpc>
                <a:spcPct val="100000"/>
              </a:lnSpc>
            </a:pPr>
            <a:r>
              <a:rPr sz="1100" b="0" i="0">
                <a:solidFill>
                  <a:srgbClr val="065A82"/>
                </a:solidFill>
                <a:latin typeface="Arial"/>
              </a:rPr>
              <a:t>write-down for the quarter</a:t>
            </a:r>
          </a:p>
        </p:txBody>
      </p:sp>
      <p:sp>
        <p:nvSpPr>
          <p:cNvPr id="12" name="Rounded Rectangle 11"/>
          <p:cNvSpPr/>
          <p:nvPr/>
        </p:nvSpPr>
        <p:spPr>
          <a:xfrm>
            <a:off x="2798064" y="3621024"/>
            <a:ext cx="1856231" cy="859536"/>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2928" y="3694176"/>
            <a:ext cx="1746503" cy="384048"/>
          </a:xfrm>
          <a:prstGeom prst="rect">
            <a:avLst/>
          </a:prstGeom>
          <a:noFill/>
        </p:spPr>
        <p:txBody>
          <a:bodyPr wrap="square" lIns="0" rIns="0" tIns="0" bIns="0" anchor="ctr">
            <a:spAutoFit/>
          </a:bodyPr>
          <a:lstStyle/>
          <a:p>
            <a:pPr algn="ctr">
              <a:lnSpc>
                <a:spcPct val="115000"/>
              </a:lnSpc>
            </a:pPr>
            <a:r>
              <a:rPr sz="2100" b="1" i="0">
                <a:solidFill>
                  <a:srgbClr val="21295C"/>
                </a:solidFill>
                <a:latin typeface="Arial"/>
              </a:rPr>
              <a:t>~2000</a:t>
            </a:r>
          </a:p>
        </p:txBody>
      </p:sp>
      <p:sp>
        <p:nvSpPr>
          <p:cNvPr id="14" name="TextBox 13"/>
          <p:cNvSpPr txBox="1"/>
          <p:nvPr/>
        </p:nvSpPr>
        <p:spPr>
          <a:xfrm>
            <a:off x="2852928" y="4078224"/>
            <a:ext cx="1746503" cy="347472"/>
          </a:xfrm>
          <a:prstGeom prst="rect">
            <a:avLst/>
          </a:prstGeom>
          <a:noFill/>
        </p:spPr>
        <p:txBody>
          <a:bodyPr wrap="square" lIns="0" rIns="0" tIns="0" bIns="0" anchor="ctr">
            <a:spAutoFit/>
          </a:bodyPr>
          <a:lstStyle/>
          <a:p>
            <a:pPr algn="ctr">
              <a:lnSpc>
                <a:spcPct val="100000"/>
              </a:lnSpc>
            </a:pPr>
            <a:r>
              <a:rPr sz="1100" b="0" i="0">
                <a:solidFill>
                  <a:srgbClr val="065A82"/>
                </a:solidFill>
                <a:latin typeface="Arial"/>
              </a:rPr>
              <a:t>laid off (≈25%)</a:t>
            </a:r>
          </a:p>
        </p:txBody>
      </p:sp>
      <p:sp>
        <p:nvSpPr>
          <p:cNvPr id="15" name="Rounded Rectangle 14"/>
          <p:cNvSpPr/>
          <p:nvPr/>
        </p:nvSpPr>
        <p:spPr>
          <a:xfrm>
            <a:off x="4818888" y="3621024"/>
            <a:ext cx="1856231" cy="859536"/>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73751" y="3694176"/>
            <a:ext cx="1746503" cy="384048"/>
          </a:xfrm>
          <a:prstGeom prst="rect">
            <a:avLst/>
          </a:prstGeom>
          <a:noFill/>
        </p:spPr>
        <p:txBody>
          <a:bodyPr wrap="square" lIns="0" rIns="0" tIns="0" bIns="0" anchor="ctr">
            <a:spAutoFit/>
          </a:bodyPr>
          <a:lstStyle/>
          <a:p>
            <a:pPr algn="ctr">
              <a:lnSpc>
                <a:spcPct val="115000"/>
              </a:lnSpc>
            </a:pPr>
            <a:r>
              <a:rPr sz="2100" b="1" i="0">
                <a:solidFill>
                  <a:srgbClr val="21295C"/>
                </a:solidFill>
                <a:latin typeface="Arial"/>
              </a:rPr>
              <a:t>−25%</a:t>
            </a:r>
          </a:p>
        </p:txBody>
      </p:sp>
      <p:sp>
        <p:nvSpPr>
          <p:cNvPr id="17" name="TextBox 16"/>
          <p:cNvSpPr txBox="1"/>
          <p:nvPr/>
        </p:nvSpPr>
        <p:spPr>
          <a:xfrm>
            <a:off x="4873751" y="4078224"/>
            <a:ext cx="1746503" cy="347472"/>
          </a:xfrm>
          <a:prstGeom prst="rect">
            <a:avLst/>
          </a:prstGeom>
          <a:noFill/>
        </p:spPr>
        <p:txBody>
          <a:bodyPr wrap="square" lIns="0" rIns="0" tIns="0" bIns="0" anchor="ctr">
            <a:spAutoFit/>
          </a:bodyPr>
          <a:lstStyle/>
          <a:p>
            <a:pPr algn="ctr">
              <a:lnSpc>
                <a:spcPct val="100000"/>
              </a:lnSpc>
            </a:pPr>
            <a:r>
              <a:rPr sz="1100" b="0" i="0">
                <a:solidFill>
                  <a:srgbClr val="065A82"/>
                </a:solidFill>
                <a:latin typeface="Arial"/>
              </a:rPr>
              <a:t>stock in days</a:t>
            </a:r>
          </a:p>
        </p:txBody>
      </p:sp>
      <p:sp>
        <p:nvSpPr>
          <p:cNvPr id="18" name="TextBox 17"/>
          <p:cNvSpPr txBox="1"/>
          <p:nvPr/>
        </p:nvSpPr>
        <p:spPr>
          <a:xfrm>
            <a:off x="777240" y="4645152"/>
            <a:ext cx="5897880" cy="713232"/>
          </a:xfrm>
          <a:prstGeom prst="rect">
            <a:avLst/>
          </a:prstGeom>
          <a:noFill/>
        </p:spPr>
        <p:txBody>
          <a:bodyPr wrap="square" lIns="0" rIns="0" tIns="0" bIns="0" anchor="t">
            <a:spAutoFit/>
          </a:bodyPr>
          <a:lstStyle/>
          <a:p>
            <a:pPr algn="l">
              <a:lnSpc>
                <a:spcPct val="116000"/>
              </a:lnSpc>
            </a:pPr>
            <a:r>
              <a:rPr sz="1150" b="0" i="0">
                <a:solidFill>
                  <a:srgbClr val="5B6678"/>
                </a:solidFill>
                <a:latin typeface="Arial"/>
              </a:rPr>
              <a:t>The model forecast the price of a house · Zillow automatically bought, renovated, and resold thousands of houses · systematically overvalued them</a:t>
            </a:r>
          </a:p>
        </p:txBody>
      </p:sp>
      <p:sp>
        <p:nvSpPr>
          <p:cNvPr id="19" name="Rounded Rectangle 18"/>
          <p:cNvSpPr/>
          <p:nvPr/>
        </p:nvSpPr>
        <p:spPr>
          <a:xfrm>
            <a:off x="7132320" y="1335024"/>
            <a:ext cx="4572000" cy="2103120"/>
          </a:xfrm>
          <a:prstGeom prst="roundRect">
            <a:avLst>
              <a:gd name="adj" fmla="val 14492"/>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help-teal.png"/>
          <p:cNvPicPr>
            <a:picLocks noChangeAspect="1"/>
          </p:cNvPicPr>
          <p:nvPr/>
        </p:nvPicPr>
        <p:blipFill>
          <a:blip r:embed="rId3"/>
          <a:stretch>
            <a:fillRect/>
          </a:stretch>
        </p:blipFill>
        <p:spPr>
          <a:xfrm>
            <a:off x="7388352" y="1554480"/>
            <a:ext cx="457200" cy="457200"/>
          </a:xfrm>
          <a:prstGeom prst="rect">
            <a:avLst/>
          </a:prstGeom>
        </p:spPr>
      </p:pic>
      <p:sp>
        <p:nvSpPr>
          <p:cNvPr id="21" name="TextBox 20"/>
          <p:cNvSpPr txBox="1"/>
          <p:nvPr/>
        </p:nvSpPr>
        <p:spPr>
          <a:xfrm>
            <a:off x="7973568" y="1591056"/>
            <a:ext cx="3566160" cy="384048"/>
          </a:xfrm>
          <a:prstGeom prst="rect">
            <a:avLst/>
          </a:prstGeom>
          <a:noFill/>
        </p:spPr>
        <p:txBody>
          <a:bodyPr wrap="square" lIns="0" rIns="0" tIns="0" bIns="0" anchor="ctr">
            <a:spAutoFit/>
          </a:bodyPr>
          <a:lstStyle/>
          <a:p>
            <a:pPr algn="l">
              <a:lnSpc>
                <a:spcPct val="115000"/>
              </a:lnSpc>
            </a:pPr>
            <a:r>
              <a:rPr sz="1700" b="1" i="0">
                <a:solidFill>
                  <a:srgbClr val="028090"/>
                </a:solidFill>
                <a:latin typeface="Arial"/>
              </a:rPr>
              <a:t>This was not ChatGPT</a:t>
            </a:r>
          </a:p>
        </p:txBody>
      </p:sp>
      <p:sp>
        <p:nvSpPr>
          <p:cNvPr id="22" name="TextBox 21"/>
          <p:cNvSpPr txBox="1"/>
          <p:nvPr/>
        </p:nvSpPr>
        <p:spPr>
          <a:xfrm>
            <a:off x="7388352" y="2157984"/>
            <a:ext cx="4059935" cy="1170432"/>
          </a:xfrm>
          <a:prstGeom prst="rect">
            <a:avLst/>
          </a:prstGeom>
          <a:noFill/>
        </p:spPr>
        <p:txBody>
          <a:bodyPr wrap="square" lIns="0" rIns="0" tIns="0" bIns="0" anchor="t">
            <a:spAutoFit/>
          </a:bodyPr>
          <a:lstStyle/>
          <a:p>
            <a:pPr algn="l">
              <a:lnSpc>
                <a:spcPct val="120000"/>
              </a:lnSpc>
            </a:pPr>
            <a:r>
              <a:rPr sz="1350" b="0" i="0">
                <a:solidFill>
                  <a:srgbClr val="21295C"/>
                </a:solidFill>
                <a:latin typeface="Arial"/>
              </a:rPr>
              <a:t>A predictive model estimated a number (a price) from tabular and geo-data. An LLM was not — and could not be — used here: the task is not textual.</a:t>
            </a:r>
          </a:p>
        </p:txBody>
      </p:sp>
      <p:sp>
        <p:nvSpPr>
          <p:cNvPr id="23" name="Rounded Rectangle 22"/>
          <p:cNvSpPr/>
          <p:nvPr/>
        </p:nvSpPr>
        <p:spPr>
          <a:xfrm>
            <a:off x="7132320" y="3584448"/>
            <a:ext cx="4572000" cy="1911095"/>
          </a:xfrm>
          <a:prstGeom prst="roundRect">
            <a:avLst>
              <a:gd name="adj" fmla="val 1594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70064" y="3730752"/>
            <a:ext cx="4096512" cy="1645920"/>
          </a:xfrm>
          <a:prstGeom prst="rect">
            <a:avLst/>
          </a:prstGeom>
          <a:noFill/>
        </p:spPr>
        <p:txBody>
          <a:bodyPr wrap="square" lIns="0" rIns="0" tIns="0" bIns="0" anchor="ctr">
            <a:spAutoFit/>
          </a:bodyPr>
          <a:lstStyle/>
          <a:p>
            <a:pPr algn="l">
              <a:lnSpc>
                <a:spcPct val="122000"/>
              </a:lnSpc>
            </a:pPr>
            <a:r>
              <a:rPr sz="1450" b="0" i="1">
                <a:solidFill>
                  <a:srgbClr val="065A82"/>
                </a:solidFill>
                <a:latin typeface="Arial"/>
              </a:rPr>
              <a:t>What type of AI was this — and why did an ordinary model error become a business loss, rather than a minor inaccuracy?</a:t>
            </a:r>
          </a:p>
        </p:txBody>
      </p:sp>
      <p:sp>
        <p:nvSpPr>
          <p:cNvPr id="25" name="Rounded Rectangle 24"/>
          <p:cNvSpPr/>
          <p:nvPr/>
        </p:nvSpPr>
        <p:spPr>
          <a:xfrm>
            <a:off x="502920" y="5669280"/>
            <a:ext cx="11201400" cy="60350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5724144"/>
            <a:ext cx="10762488" cy="493776"/>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A forecast error is normal. The business collapsed because of WHERE it was wired: to an automated, irreversible action at the scale of thousands of houses.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040880" y="868680"/>
            <a:ext cx="5212080" cy="4754880"/>
          </a:xfrm>
          <a:prstGeom prst="rect">
            <a:avLst/>
          </a:prstGeom>
          <a:noFill/>
        </p:spPr>
        <p:txBody>
          <a:bodyPr wrap="square" lIns="0" rIns="0" tIns="0" bIns="0" anchor="t">
            <a:spAutoFit/>
          </a:bodyPr>
          <a:lstStyle/>
          <a:p>
            <a:pPr algn="l">
              <a:lnSpc>
                <a:spcPct val="100000"/>
              </a:lnSpc>
            </a:pPr>
            <a:r>
              <a:rPr sz="30000" b="1" i="0">
                <a:solidFill>
                  <a:srgbClr val="D9E2EC"/>
                </a:solidFill>
                <a:latin typeface="Arial"/>
              </a:rPr>
              <a:t>05</a:t>
            </a:r>
          </a:p>
        </p:txBody>
      </p:sp>
      <p:sp>
        <p:nvSpPr>
          <p:cNvPr id="3" name="TextBox 2"/>
          <p:cNvSpPr txBox="1"/>
          <p:nvPr/>
        </p:nvSpPr>
        <p:spPr>
          <a:xfrm>
            <a:off x="685800" y="1325880"/>
            <a:ext cx="6035040" cy="45720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LECTURE 5</a:t>
            </a:r>
          </a:p>
        </p:txBody>
      </p:sp>
      <p:sp>
        <p:nvSpPr>
          <p:cNvPr id="4" name="Rectangle 3"/>
          <p:cNvSpPr/>
          <p:nvPr/>
        </p:nvSpPr>
        <p:spPr>
          <a:xfrm>
            <a:off x="713232" y="1847088"/>
            <a:ext cx="640080" cy="45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212848"/>
            <a:ext cx="7040880" cy="2286000"/>
          </a:xfrm>
          <a:prstGeom prst="rect">
            <a:avLst/>
          </a:prstGeom>
          <a:noFill/>
        </p:spPr>
        <p:txBody>
          <a:bodyPr wrap="square" lIns="0" rIns="0" tIns="0" bIns="0" anchor="t">
            <a:spAutoFit/>
          </a:bodyPr>
          <a:lstStyle/>
          <a:p>
            <a:pPr algn="l">
              <a:lnSpc>
                <a:spcPct val="110000"/>
              </a:lnSpc>
            </a:pPr>
            <a:r>
              <a:rPr sz="4400" b="1" i="0">
                <a:solidFill>
                  <a:srgbClr val="21295C"/>
                </a:solidFill>
                <a:latin typeface="Arial"/>
              </a:rPr>
              <a:t>AI in Finance
and Retail</a:t>
            </a:r>
          </a:p>
        </p:txBody>
      </p:sp>
      <p:sp>
        <p:nvSpPr>
          <p:cNvPr id="6" name="Rectangle 5"/>
          <p:cNvSpPr/>
          <p:nvPr/>
        </p:nvSpPr>
        <p:spPr>
          <a:xfrm>
            <a:off x="713232" y="4736592"/>
            <a:ext cx="45720" cy="51206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4718304"/>
            <a:ext cx="6949440" cy="566928"/>
          </a:xfrm>
          <a:prstGeom prst="rect">
            <a:avLst/>
          </a:prstGeom>
          <a:noFill/>
        </p:spPr>
        <p:txBody>
          <a:bodyPr wrap="square" lIns="0" rIns="0" tIns="0" bIns="0" anchor="t">
            <a:spAutoFit/>
          </a:bodyPr>
          <a:lstStyle/>
          <a:p>
            <a:pPr algn="l">
              <a:lnSpc>
                <a:spcPct val="118000"/>
              </a:lnSpc>
            </a:pPr>
            <a:r>
              <a:rPr sz="1800" b="0" i="0">
                <a:solidFill>
                  <a:srgbClr val="065A82"/>
                </a:solidFill>
                <a:latin typeface="Arial"/>
              </a:rPr>
              <a:t>For which task — which type of AI,
why that one, and where it breaks</a:t>
            </a:r>
          </a:p>
        </p:txBody>
      </p:sp>
      <p:sp>
        <p:nvSpPr>
          <p:cNvPr id="8" name="Rounded Rectangle 7"/>
          <p:cNvSpPr/>
          <p:nvPr/>
        </p:nvSpPr>
        <p:spPr>
          <a:xfrm>
            <a:off x="502920" y="5943600"/>
            <a:ext cx="1506147" cy="548640"/>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 y="6007608"/>
            <a:ext cx="1432995" cy="201168"/>
          </a:xfrm>
          <a:prstGeom prst="rect">
            <a:avLst/>
          </a:prstGeom>
          <a:noFill/>
        </p:spPr>
        <p:txBody>
          <a:bodyPr wrap="square" lIns="0" rIns="0" tIns="0" bIns="0" anchor="t">
            <a:spAutoFit/>
          </a:bodyPr>
          <a:lstStyle/>
          <a:p>
            <a:pPr algn="ctr">
              <a:lnSpc>
                <a:spcPct val="115000"/>
              </a:lnSpc>
            </a:pPr>
            <a:r>
              <a:rPr sz="1000" b="1" i="0">
                <a:solidFill>
                  <a:srgbClr val="21295C"/>
                </a:solidFill>
                <a:latin typeface="Arial"/>
              </a:rPr>
              <a:t>Section 0</a:t>
            </a:r>
          </a:p>
        </p:txBody>
      </p:sp>
      <p:sp>
        <p:nvSpPr>
          <p:cNvPr id="10" name="TextBox 9"/>
          <p:cNvSpPr txBox="1"/>
          <p:nvPr/>
        </p:nvSpPr>
        <p:spPr>
          <a:xfrm>
            <a:off x="539496" y="6217920"/>
            <a:ext cx="1432995" cy="237744"/>
          </a:xfrm>
          <a:prstGeom prst="rect">
            <a:avLst/>
          </a:prstGeom>
          <a:noFill/>
        </p:spPr>
        <p:txBody>
          <a:bodyPr wrap="square" lIns="0" rIns="0" tIns="0" bIns="0" anchor="t">
            <a:spAutoFit/>
          </a:bodyPr>
          <a:lstStyle/>
          <a:p>
            <a:pPr algn="ctr">
              <a:lnSpc>
                <a:spcPct val="95000"/>
              </a:lnSpc>
            </a:pPr>
            <a:r>
              <a:rPr sz="1050" b="1" i="0">
                <a:solidFill>
                  <a:srgbClr val="21295C"/>
                </a:solidFill>
                <a:latin typeface="Arial"/>
              </a:rPr>
              <a:t>Opening</a:t>
            </a:r>
          </a:p>
        </p:txBody>
      </p:sp>
      <p:sp>
        <p:nvSpPr>
          <p:cNvPr id="11" name="Rounded Rectangle 10"/>
          <p:cNvSpPr/>
          <p:nvPr/>
        </p:nvSpPr>
        <p:spPr>
          <a:xfrm>
            <a:off x="2118795"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55371"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1</a:t>
            </a:r>
          </a:p>
        </p:txBody>
      </p:sp>
      <p:sp>
        <p:nvSpPr>
          <p:cNvPr id="13" name="TextBox 12"/>
          <p:cNvSpPr txBox="1"/>
          <p:nvPr/>
        </p:nvSpPr>
        <p:spPr>
          <a:xfrm>
            <a:off x="2155371"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Forecast</a:t>
            </a:r>
          </a:p>
        </p:txBody>
      </p:sp>
      <p:sp>
        <p:nvSpPr>
          <p:cNvPr id="14" name="Rounded Rectangle 13"/>
          <p:cNvSpPr/>
          <p:nvPr/>
        </p:nvSpPr>
        <p:spPr>
          <a:xfrm>
            <a:off x="3734670"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71246"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2</a:t>
            </a:r>
          </a:p>
        </p:txBody>
      </p:sp>
      <p:sp>
        <p:nvSpPr>
          <p:cNvPr id="16" name="TextBox 15"/>
          <p:cNvSpPr txBox="1"/>
          <p:nvPr/>
        </p:nvSpPr>
        <p:spPr>
          <a:xfrm>
            <a:off x="3771246"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Anomalies</a:t>
            </a:r>
          </a:p>
        </p:txBody>
      </p:sp>
      <p:sp>
        <p:nvSpPr>
          <p:cNvPr id="17" name="Rounded Rectangle 16"/>
          <p:cNvSpPr/>
          <p:nvPr/>
        </p:nvSpPr>
        <p:spPr>
          <a:xfrm>
            <a:off x="5350546"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87122"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3</a:t>
            </a:r>
          </a:p>
        </p:txBody>
      </p:sp>
      <p:sp>
        <p:nvSpPr>
          <p:cNvPr id="19" name="TextBox 18"/>
          <p:cNvSpPr txBox="1"/>
          <p:nvPr/>
        </p:nvSpPr>
        <p:spPr>
          <a:xfrm>
            <a:off x="5387122"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Scoring</a:t>
            </a:r>
          </a:p>
        </p:txBody>
      </p:sp>
      <p:sp>
        <p:nvSpPr>
          <p:cNvPr id="20" name="Rounded Rectangle 19"/>
          <p:cNvSpPr/>
          <p:nvPr/>
        </p:nvSpPr>
        <p:spPr>
          <a:xfrm>
            <a:off x="6966421"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02997"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4</a:t>
            </a:r>
          </a:p>
        </p:txBody>
      </p:sp>
      <p:sp>
        <p:nvSpPr>
          <p:cNvPr id="22" name="TextBox 21"/>
          <p:cNvSpPr txBox="1"/>
          <p:nvPr/>
        </p:nvSpPr>
        <p:spPr>
          <a:xfrm>
            <a:off x="7002997"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LLM</a:t>
            </a:r>
          </a:p>
        </p:txBody>
      </p:sp>
      <p:sp>
        <p:nvSpPr>
          <p:cNvPr id="23" name="Rounded Rectangle 22"/>
          <p:cNvSpPr/>
          <p:nvPr/>
        </p:nvSpPr>
        <p:spPr>
          <a:xfrm>
            <a:off x="8582297"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18873"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5</a:t>
            </a:r>
          </a:p>
        </p:txBody>
      </p:sp>
      <p:sp>
        <p:nvSpPr>
          <p:cNvPr id="25" name="TextBox 24"/>
          <p:cNvSpPr txBox="1"/>
          <p:nvPr/>
        </p:nvSpPr>
        <p:spPr>
          <a:xfrm>
            <a:off x="8618873"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Recomm.</a:t>
            </a:r>
          </a:p>
        </p:txBody>
      </p:sp>
      <p:sp>
        <p:nvSpPr>
          <p:cNvPr id="26" name="Rounded Rectangle 25"/>
          <p:cNvSpPr/>
          <p:nvPr/>
        </p:nvSpPr>
        <p:spPr>
          <a:xfrm>
            <a:off x="10198172"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34748"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6</a:t>
            </a:r>
          </a:p>
        </p:txBody>
      </p:sp>
      <p:sp>
        <p:nvSpPr>
          <p:cNvPr id="28" name="TextBox 27"/>
          <p:cNvSpPr txBox="1"/>
          <p:nvPr/>
        </p:nvSpPr>
        <p:spPr>
          <a:xfrm>
            <a:off x="10234748"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Framework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201400" cy="512064"/>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One type of AI in depth (L4) → a palette of types for a palette of tasks (L5).</a:t>
            </a:r>
          </a:p>
        </p:txBody>
      </p:sp>
      <p:sp>
        <p:nvSpPr>
          <p:cNvPr id="3" name="Rounded Rectangle 2"/>
          <p:cNvSpPr/>
          <p:nvPr/>
        </p:nvSpPr>
        <p:spPr>
          <a:xfrm>
            <a:off x="502920" y="896112"/>
            <a:ext cx="11201400" cy="106070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1042415"/>
            <a:ext cx="5074920" cy="365760"/>
          </a:xfrm>
          <a:prstGeom prst="rect">
            <a:avLst/>
          </a:prstGeom>
          <a:noFill/>
        </p:spPr>
        <p:txBody>
          <a:bodyPr wrap="square" lIns="0" rIns="0" tIns="0" bIns="0" anchor="ctr">
            <a:spAutoFit/>
          </a:bodyPr>
          <a:lstStyle/>
          <a:p>
            <a:pPr algn="l">
              <a:lnSpc>
                <a:spcPct val="100000"/>
              </a:lnSpc>
            </a:pPr>
            <a:r>
              <a:rPr sz="1150" b="0" i="0">
                <a:solidFill>
                  <a:srgbClr val="5B6678"/>
                </a:solidFill>
                <a:latin typeface="Arial"/>
              </a:rPr>
              <a:t>L2: the «which AI» tree — ML / deep learning / LLM</a:t>
            </a:r>
          </a:p>
        </p:txBody>
      </p:sp>
      <p:sp>
        <p:nvSpPr>
          <p:cNvPr id="5" name="TextBox 4"/>
          <p:cNvSpPr txBox="1"/>
          <p:nvPr/>
        </p:nvSpPr>
        <p:spPr>
          <a:xfrm>
            <a:off x="5861304" y="1097280"/>
            <a:ext cx="310896" cy="274320"/>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a:t>
            </a:r>
          </a:p>
        </p:txBody>
      </p:sp>
      <p:sp>
        <p:nvSpPr>
          <p:cNvPr id="6" name="TextBox 5"/>
          <p:cNvSpPr txBox="1"/>
          <p:nvPr/>
        </p:nvSpPr>
        <p:spPr>
          <a:xfrm>
            <a:off x="6227064" y="1042415"/>
            <a:ext cx="5239512" cy="365760"/>
          </a:xfrm>
          <a:prstGeom prst="rect">
            <a:avLst/>
          </a:prstGeom>
          <a:noFill/>
        </p:spPr>
        <p:txBody>
          <a:bodyPr wrap="square" lIns="0" rIns="0" tIns="0" bIns="0" anchor="ctr">
            <a:spAutoFit/>
          </a:bodyPr>
          <a:lstStyle/>
          <a:p>
            <a:pPr algn="l">
              <a:lnSpc>
                <a:spcPct val="100000"/>
              </a:lnSpc>
            </a:pPr>
            <a:r>
              <a:rPr sz="1150" b="1" i="0">
                <a:solidFill>
                  <a:srgbClr val="21295C"/>
                </a:solidFill>
                <a:latin typeface="Arial"/>
              </a:rPr>
              <a:t>L5: five structurally different types for different tasks</a:t>
            </a:r>
          </a:p>
        </p:txBody>
      </p:sp>
      <p:sp>
        <p:nvSpPr>
          <p:cNvPr id="7" name="TextBox 6"/>
          <p:cNvSpPr txBox="1"/>
          <p:nvPr/>
        </p:nvSpPr>
        <p:spPr>
          <a:xfrm>
            <a:off x="740664" y="1444751"/>
            <a:ext cx="5074920" cy="365760"/>
          </a:xfrm>
          <a:prstGeom prst="rect">
            <a:avLst/>
          </a:prstGeom>
          <a:noFill/>
        </p:spPr>
        <p:txBody>
          <a:bodyPr wrap="square" lIns="0" rIns="0" tIns="0" bIns="0" anchor="ctr">
            <a:spAutoFit/>
          </a:bodyPr>
          <a:lstStyle/>
          <a:p>
            <a:pPr algn="l">
              <a:lnSpc>
                <a:spcPct val="100000"/>
              </a:lnSpc>
            </a:pPr>
            <a:r>
              <a:rPr sz="1150" b="0" i="0">
                <a:solidFill>
                  <a:srgbClr val="5B6678"/>
                </a:solidFill>
                <a:latin typeface="Arial"/>
              </a:rPr>
              <a:t>L4: one type (LLM coder) in depth along autonomy</a:t>
            </a:r>
          </a:p>
        </p:txBody>
      </p:sp>
      <p:sp>
        <p:nvSpPr>
          <p:cNvPr id="8" name="TextBox 7"/>
          <p:cNvSpPr txBox="1"/>
          <p:nvPr/>
        </p:nvSpPr>
        <p:spPr>
          <a:xfrm>
            <a:off x="5861304" y="1499616"/>
            <a:ext cx="310896" cy="274320"/>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a:t>
            </a:r>
          </a:p>
        </p:txBody>
      </p:sp>
      <p:sp>
        <p:nvSpPr>
          <p:cNvPr id="9" name="TextBox 8"/>
          <p:cNvSpPr txBox="1"/>
          <p:nvPr/>
        </p:nvSpPr>
        <p:spPr>
          <a:xfrm>
            <a:off x="6227064" y="1444751"/>
            <a:ext cx="5239512" cy="365760"/>
          </a:xfrm>
          <a:prstGeom prst="rect">
            <a:avLst/>
          </a:prstGeom>
          <a:noFill/>
        </p:spPr>
        <p:txBody>
          <a:bodyPr wrap="square" lIns="0" rIns="0" tIns="0" bIns="0" anchor="ctr">
            <a:spAutoFit/>
          </a:bodyPr>
          <a:lstStyle/>
          <a:p>
            <a:pPr algn="l">
              <a:lnSpc>
                <a:spcPct val="100000"/>
              </a:lnSpc>
            </a:pPr>
            <a:r>
              <a:rPr sz="1150" b="1" i="0">
                <a:solidFill>
                  <a:srgbClr val="21295C"/>
                </a:solidFill>
                <a:latin typeface="Arial"/>
              </a:rPr>
              <a:t>L5: a palette of types for a palette of tasks in one industry</a:t>
            </a:r>
          </a:p>
        </p:txBody>
      </p:sp>
      <p:sp>
        <p:nvSpPr>
          <p:cNvPr id="10" name="TextBox 9"/>
          <p:cNvSpPr txBox="1"/>
          <p:nvPr/>
        </p:nvSpPr>
        <p:spPr>
          <a:xfrm>
            <a:off x="502920" y="2139696"/>
            <a:ext cx="11201400" cy="310896"/>
          </a:xfrm>
          <a:prstGeom prst="rect">
            <a:avLst/>
          </a:prstGeom>
          <a:noFill/>
        </p:spPr>
        <p:txBody>
          <a:bodyPr wrap="square" lIns="0" rIns="0" tIns="0" bIns="0" anchor="t">
            <a:spAutoFit/>
          </a:bodyPr>
          <a:lstStyle/>
          <a:p>
            <a:pPr algn="l">
              <a:lnSpc>
                <a:spcPct val="115000"/>
              </a:lnSpc>
            </a:pPr>
            <a:r>
              <a:rPr sz="1500" b="1" i="0">
                <a:solidFill>
                  <a:srgbClr val="065A82"/>
                </a:solidFill>
                <a:latin typeface="Arial"/>
              </a:rPr>
              <a:t>Map of five AI types for five different tasks (+ a cross-cutting CV layer):</a:t>
            </a:r>
          </a:p>
        </p:txBody>
      </p:sp>
      <p:sp>
        <p:nvSpPr>
          <p:cNvPr id="11" name="Rounded Rectangle 10"/>
          <p:cNvSpPr/>
          <p:nvPr/>
        </p:nvSpPr>
        <p:spPr>
          <a:xfrm>
            <a:off x="502920" y="2542032"/>
            <a:ext cx="2079345" cy="1883664"/>
          </a:xfrm>
          <a:prstGeom prst="roundRect">
            <a:avLst>
              <a:gd name="adj" fmla="val 1618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ending-up-mid.png"/>
          <p:cNvPicPr>
            <a:picLocks noChangeAspect="1"/>
          </p:cNvPicPr>
          <p:nvPr/>
        </p:nvPicPr>
        <p:blipFill>
          <a:blip r:embed="rId2"/>
          <a:stretch>
            <a:fillRect/>
          </a:stretch>
        </p:blipFill>
        <p:spPr>
          <a:xfrm>
            <a:off x="1213408" y="2816351"/>
            <a:ext cx="658368" cy="658368"/>
          </a:xfrm>
          <a:prstGeom prst="rect">
            <a:avLst/>
          </a:prstGeom>
        </p:spPr>
      </p:pic>
      <p:sp>
        <p:nvSpPr>
          <p:cNvPr id="13" name="TextBox 12"/>
          <p:cNvSpPr txBox="1"/>
          <p:nvPr/>
        </p:nvSpPr>
        <p:spPr>
          <a:xfrm>
            <a:off x="539496" y="3621024"/>
            <a:ext cx="2006193" cy="329184"/>
          </a:xfrm>
          <a:prstGeom prst="rect">
            <a:avLst/>
          </a:prstGeom>
          <a:noFill/>
        </p:spPr>
        <p:txBody>
          <a:bodyPr wrap="square" lIns="0" rIns="0" tIns="0" bIns="0" anchor="ctr">
            <a:spAutoFit/>
          </a:bodyPr>
          <a:lstStyle/>
          <a:p>
            <a:pPr algn="ctr">
              <a:lnSpc>
                <a:spcPct val="100000"/>
              </a:lnSpc>
            </a:pPr>
            <a:r>
              <a:rPr sz="1400" b="1" i="0">
                <a:solidFill>
                  <a:srgbClr val="21295C"/>
                </a:solidFill>
                <a:latin typeface="Arial"/>
              </a:rPr>
              <a:t>Time-series</a:t>
            </a:r>
          </a:p>
        </p:txBody>
      </p:sp>
      <p:sp>
        <p:nvSpPr>
          <p:cNvPr id="14" name="TextBox 13"/>
          <p:cNvSpPr txBox="1"/>
          <p:nvPr/>
        </p:nvSpPr>
        <p:spPr>
          <a:xfrm>
            <a:off x="539496" y="3950208"/>
            <a:ext cx="2006193" cy="329184"/>
          </a:xfrm>
          <a:prstGeom prst="rect">
            <a:avLst/>
          </a:prstGeom>
          <a:noFill/>
        </p:spPr>
        <p:txBody>
          <a:bodyPr wrap="square" lIns="0" rIns="0" tIns="0" bIns="0" anchor="ctr">
            <a:spAutoFit/>
          </a:bodyPr>
          <a:lstStyle/>
          <a:p>
            <a:pPr algn="ctr">
              <a:lnSpc>
                <a:spcPct val="100000"/>
              </a:lnSpc>
            </a:pPr>
            <a:r>
              <a:rPr sz="1400" b="1" i="0">
                <a:solidFill>
                  <a:srgbClr val="21295C"/>
                </a:solidFill>
                <a:latin typeface="Arial"/>
              </a:rPr>
              <a:t>forecasting</a:t>
            </a:r>
          </a:p>
        </p:txBody>
      </p:sp>
      <p:sp>
        <p:nvSpPr>
          <p:cNvPr id="15" name="Rounded Rectangle 14"/>
          <p:cNvSpPr/>
          <p:nvPr/>
        </p:nvSpPr>
        <p:spPr>
          <a:xfrm>
            <a:off x="2783433" y="2542032"/>
            <a:ext cx="2079345" cy="1883664"/>
          </a:xfrm>
          <a:prstGeom prst="roundRect">
            <a:avLst>
              <a:gd name="adj" fmla="val 1618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radar-mid.png"/>
          <p:cNvPicPr>
            <a:picLocks noChangeAspect="1"/>
          </p:cNvPicPr>
          <p:nvPr/>
        </p:nvPicPr>
        <p:blipFill>
          <a:blip r:embed="rId3"/>
          <a:stretch>
            <a:fillRect/>
          </a:stretch>
        </p:blipFill>
        <p:spPr>
          <a:xfrm>
            <a:off x="3493922" y="2816351"/>
            <a:ext cx="658368" cy="658368"/>
          </a:xfrm>
          <a:prstGeom prst="rect">
            <a:avLst/>
          </a:prstGeom>
        </p:spPr>
      </p:pic>
      <p:sp>
        <p:nvSpPr>
          <p:cNvPr id="17" name="TextBox 16"/>
          <p:cNvSpPr txBox="1"/>
          <p:nvPr/>
        </p:nvSpPr>
        <p:spPr>
          <a:xfrm>
            <a:off x="2820009" y="3621024"/>
            <a:ext cx="2006193" cy="329184"/>
          </a:xfrm>
          <a:prstGeom prst="rect">
            <a:avLst/>
          </a:prstGeom>
          <a:noFill/>
        </p:spPr>
        <p:txBody>
          <a:bodyPr wrap="square" lIns="0" rIns="0" tIns="0" bIns="0" anchor="ctr">
            <a:spAutoFit/>
          </a:bodyPr>
          <a:lstStyle/>
          <a:p>
            <a:pPr algn="ctr">
              <a:lnSpc>
                <a:spcPct val="100000"/>
              </a:lnSpc>
            </a:pPr>
            <a:r>
              <a:rPr sz="1400" b="1" i="0">
                <a:solidFill>
                  <a:srgbClr val="21295C"/>
                </a:solidFill>
                <a:latin typeface="Arial"/>
              </a:rPr>
              <a:t>Anomaly</a:t>
            </a:r>
          </a:p>
        </p:txBody>
      </p:sp>
      <p:sp>
        <p:nvSpPr>
          <p:cNvPr id="18" name="TextBox 17"/>
          <p:cNvSpPr txBox="1"/>
          <p:nvPr/>
        </p:nvSpPr>
        <p:spPr>
          <a:xfrm>
            <a:off x="2820009" y="3950208"/>
            <a:ext cx="2006193" cy="329184"/>
          </a:xfrm>
          <a:prstGeom prst="rect">
            <a:avLst/>
          </a:prstGeom>
          <a:noFill/>
        </p:spPr>
        <p:txBody>
          <a:bodyPr wrap="square" lIns="0" rIns="0" tIns="0" bIns="0" anchor="ctr">
            <a:spAutoFit/>
          </a:bodyPr>
          <a:lstStyle/>
          <a:p>
            <a:pPr algn="ctr">
              <a:lnSpc>
                <a:spcPct val="100000"/>
              </a:lnSpc>
            </a:pPr>
            <a:r>
              <a:rPr sz="1400" b="1" i="0">
                <a:solidFill>
                  <a:srgbClr val="21295C"/>
                </a:solidFill>
                <a:latin typeface="Arial"/>
              </a:rPr>
              <a:t>detection</a:t>
            </a:r>
          </a:p>
        </p:txBody>
      </p:sp>
      <p:sp>
        <p:nvSpPr>
          <p:cNvPr id="19" name="Rounded Rectangle 18"/>
          <p:cNvSpPr/>
          <p:nvPr/>
        </p:nvSpPr>
        <p:spPr>
          <a:xfrm>
            <a:off x="5063947" y="2542032"/>
            <a:ext cx="2079345" cy="1883664"/>
          </a:xfrm>
          <a:prstGeom prst="roundRect">
            <a:avLst>
              <a:gd name="adj" fmla="val 1618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cale-mid.png"/>
          <p:cNvPicPr>
            <a:picLocks noChangeAspect="1"/>
          </p:cNvPicPr>
          <p:nvPr/>
        </p:nvPicPr>
        <p:blipFill>
          <a:blip r:embed="rId4"/>
          <a:stretch>
            <a:fillRect/>
          </a:stretch>
        </p:blipFill>
        <p:spPr>
          <a:xfrm>
            <a:off x="5774436" y="2816351"/>
            <a:ext cx="658368" cy="658368"/>
          </a:xfrm>
          <a:prstGeom prst="rect">
            <a:avLst/>
          </a:prstGeom>
        </p:spPr>
      </p:pic>
      <p:sp>
        <p:nvSpPr>
          <p:cNvPr id="21" name="TextBox 20"/>
          <p:cNvSpPr txBox="1"/>
          <p:nvPr/>
        </p:nvSpPr>
        <p:spPr>
          <a:xfrm>
            <a:off x="5100523" y="3621024"/>
            <a:ext cx="2006193" cy="329184"/>
          </a:xfrm>
          <a:prstGeom prst="rect">
            <a:avLst/>
          </a:prstGeom>
          <a:noFill/>
        </p:spPr>
        <p:txBody>
          <a:bodyPr wrap="square" lIns="0" rIns="0" tIns="0" bIns="0" anchor="ctr">
            <a:spAutoFit/>
          </a:bodyPr>
          <a:lstStyle/>
          <a:p>
            <a:pPr algn="ctr">
              <a:lnSpc>
                <a:spcPct val="100000"/>
              </a:lnSpc>
            </a:pPr>
            <a:r>
              <a:rPr sz="1400" b="1" i="0">
                <a:solidFill>
                  <a:srgbClr val="21295C"/>
                </a:solidFill>
                <a:latin typeface="Arial"/>
              </a:rPr>
              <a:t>ML</a:t>
            </a:r>
          </a:p>
        </p:txBody>
      </p:sp>
      <p:sp>
        <p:nvSpPr>
          <p:cNvPr id="22" name="TextBox 21"/>
          <p:cNvSpPr txBox="1"/>
          <p:nvPr/>
        </p:nvSpPr>
        <p:spPr>
          <a:xfrm>
            <a:off x="5100523" y="3950208"/>
            <a:ext cx="2006193" cy="329184"/>
          </a:xfrm>
          <a:prstGeom prst="rect">
            <a:avLst/>
          </a:prstGeom>
          <a:noFill/>
        </p:spPr>
        <p:txBody>
          <a:bodyPr wrap="square" lIns="0" rIns="0" tIns="0" bIns="0" anchor="ctr">
            <a:spAutoFit/>
          </a:bodyPr>
          <a:lstStyle/>
          <a:p>
            <a:pPr algn="ctr">
              <a:lnSpc>
                <a:spcPct val="100000"/>
              </a:lnSpc>
            </a:pPr>
            <a:r>
              <a:rPr sz="1400" b="1" i="0">
                <a:solidFill>
                  <a:srgbClr val="21295C"/>
                </a:solidFill>
                <a:latin typeface="Arial"/>
              </a:rPr>
              <a:t>scoring</a:t>
            </a:r>
          </a:p>
        </p:txBody>
      </p:sp>
      <p:sp>
        <p:nvSpPr>
          <p:cNvPr id="23" name="Rounded Rectangle 22"/>
          <p:cNvSpPr/>
          <p:nvPr/>
        </p:nvSpPr>
        <p:spPr>
          <a:xfrm>
            <a:off x="7344460" y="2542032"/>
            <a:ext cx="2079345" cy="1883664"/>
          </a:xfrm>
          <a:prstGeom prst="roundRect">
            <a:avLst>
              <a:gd name="adj" fmla="val 1618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message-circle-mid.png"/>
          <p:cNvPicPr>
            <a:picLocks noChangeAspect="1"/>
          </p:cNvPicPr>
          <p:nvPr/>
        </p:nvPicPr>
        <p:blipFill>
          <a:blip r:embed="rId5"/>
          <a:stretch>
            <a:fillRect/>
          </a:stretch>
        </p:blipFill>
        <p:spPr>
          <a:xfrm>
            <a:off x="8054949" y="2816351"/>
            <a:ext cx="658368" cy="658368"/>
          </a:xfrm>
          <a:prstGeom prst="rect">
            <a:avLst/>
          </a:prstGeom>
        </p:spPr>
      </p:pic>
      <p:sp>
        <p:nvSpPr>
          <p:cNvPr id="25" name="TextBox 24"/>
          <p:cNvSpPr txBox="1"/>
          <p:nvPr/>
        </p:nvSpPr>
        <p:spPr>
          <a:xfrm>
            <a:off x="7381036" y="3621024"/>
            <a:ext cx="2006193" cy="329184"/>
          </a:xfrm>
          <a:prstGeom prst="rect">
            <a:avLst/>
          </a:prstGeom>
          <a:noFill/>
        </p:spPr>
        <p:txBody>
          <a:bodyPr wrap="square" lIns="0" rIns="0" tIns="0" bIns="0" anchor="ctr">
            <a:spAutoFit/>
          </a:bodyPr>
          <a:lstStyle/>
          <a:p>
            <a:pPr algn="ctr">
              <a:lnSpc>
                <a:spcPct val="100000"/>
              </a:lnSpc>
            </a:pPr>
            <a:r>
              <a:rPr sz="1400" b="1" i="0">
                <a:solidFill>
                  <a:srgbClr val="21295C"/>
                </a:solidFill>
                <a:latin typeface="Arial"/>
              </a:rPr>
              <a:t>LLM</a:t>
            </a:r>
          </a:p>
        </p:txBody>
      </p:sp>
      <p:sp>
        <p:nvSpPr>
          <p:cNvPr id="26" name="TextBox 25"/>
          <p:cNvSpPr txBox="1"/>
          <p:nvPr/>
        </p:nvSpPr>
        <p:spPr>
          <a:xfrm>
            <a:off x="7381036" y="3950208"/>
            <a:ext cx="2006193" cy="329184"/>
          </a:xfrm>
          <a:prstGeom prst="rect">
            <a:avLst/>
          </a:prstGeom>
          <a:noFill/>
        </p:spPr>
        <p:txBody>
          <a:bodyPr wrap="square" lIns="0" rIns="0" tIns="0" bIns="0" anchor="ctr">
            <a:spAutoFit/>
          </a:bodyPr>
          <a:lstStyle/>
          <a:p>
            <a:pPr algn="ctr">
              <a:lnSpc>
                <a:spcPct val="100000"/>
              </a:lnSpc>
            </a:pPr>
            <a:r>
              <a:rPr sz="1400" b="1" i="0">
                <a:solidFill>
                  <a:srgbClr val="21295C"/>
                </a:solidFill>
                <a:latin typeface="Arial"/>
              </a:rPr>
              <a:t>assistants</a:t>
            </a:r>
          </a:p>
        </p:txBody>
      </p:sp>
      <p:sp>
        <p:nvSpPr>
          <p:cNvPr id="27" name="Rounded Rectangle 26"/>
          <p:cNvSpPr/>
          <p:nvPr/>
        </p:nvSpPr>
        <p:spPr>
          <a:xfrm>
            <a:off x="9624974" y="2542032"/>
            <a:ext cx="2079345" cy="1883664"/>
          </a:xfrm>
          <a:prstGeom prst="roundRect">
            <a:avLst>
              <a:gd name="adj" fmla="val 1618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hopping-cart-mid.png"/>
          <p:cNvPicPr>
            <a:picLocks noChangeAspect="1"/>
          </p:cNvPicPr>
          <p:nvPr/>
        </p:nvPicPr>
        <p:blipFill>
          <a:blip r:embed="rId6"/>
          <a:stretch>
            <a:fillRect/>
          </a:stretch>
        </p:blipFill>
        <p:spPr>
          <a:xfrm>
            <a:off x="10335463" y="2816351"/>
            <a:ext cx="658368" cy="658368"/>
          </a:xfrm>
          <a:prstGeom prst="rect">
            <a:avLst/>
          </a:prstGeom>
        </p:spPr>
      </p:pic>
      <p:sp>
        <p:nvSpPr>
          <p:cNvPr id="29" name="TextBox 28"/>
          <p:cNvSpPr txBox="1"/>
          <p:nvPr/>
        </p:nvSpPr>
        <p:spPr>
          <a:xfrm>
            <a:off x="9661550" y="3621024"/>
            <a:ext cx="2006193" cy="329184"/>
          </a:xfrm>
          <a:prstGeom prst="rect">
            <a:avLst/>
          </a:prstGeom>
          <a:noFill/>
        </p:spPr>
        <p:txBody>
          <a:bodyPr wrap="square" lIns="0" rIns="0" tIns="0" bIns="0" anchor="ctr">
            <a:spAutoFit/>
          </a:bodyPr>
          <a:lstStyle/>
          <a:p>
            <a:pPr algn="ctr">
              <a:lnSpc>
                <a:spcPct val="100000"/>
              </a:lnSpc>
            </a:pPr>
            <a:r>
              <a:rPr sz="1400" b="1" i="0">
                <a:solidFill>
                  <a:srgbClr val="21295C"/>
                </a:solidFill>
                <a:latin typeface="Arial"/>
              </a:rPr>
              <a:t>Recommendations</a:t>
            </a:r>
          </a:p>
        </p:txBody>
      </p:sp>
      <p:sp>
        <p:nvSpPr>
          <p:cNvPr id="30" name="TextBox 29"/>
          <p:cNvSpPr txBox="1"/>
          <p:nvPr/>
        </p:nvSpPr>
        <p:spPr>
          <a:xfrm>
            <a:off x="9661550" y="3950208"/>
            <a:ext cx="2006193" cy="329184"/>
          </a:xfrm>
          <a:prstGeom prst="rect">
            <a:avLst/>
          </a:prstGeom>
          <a:noFill/>
        </p:spPr>
        <p:txBody>
          <a:bodyPr wrap="square" lIns="0" rIns="0" tIns="0" bIns="0" anchor="ctr">
            <a:spAutoFit/>
          </a:bodyPr>
          <a:lstStyle/>
          <a:p>
            <a:pPr algn="ctr">
              <a:lnSpc>
                <a:spcPct val="100000"/>
              </a:lnSpc>
            </a:pPr>
            <a:r>
              <a:rPr sz="1400" b="1" i="0">
                <a:solidFill>
                  <a:srgbClr val="21295C"/>
                </a:solidFill>
                <a:latin typeface="Arial"/>
              </a:rPr>
              <a:t>and pricing</a:t>
            </a:r>
          </a:p>
        </p:txBody>
      </p:sp>
      <p:sp>
        <p:nvSpPr>
          <p:cNvPr id="31" name="Rounded Rectangle 30"/>
          <p:cNvSpPr/>
          <p:nvPr/>
        </p:nvSpPr>
        <p:spPr>
          <a:xfrm>
            <a:off x="502920" y="4663440"/>
            <a:ext cx="11201400" cy="151790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 y="4718303"/>
            <a:ext cx="10762488" cy="1408176"/>
          </a:xfrm>
          <a:prstGeom prst="rect">
            <a:avLst/>
          </a:prstGeom>
          <a:noFill/>
        </p:spPr>
        <p:txBody>
          <a:bodyPr wrap="square" lIns="0" rIns="0" tIns="0" bIns="0" anchor="ctr">
            <a:spAutoFit/>
          </a:bodyPr>
          <a:lstStyle/>
          <a:p>
            <a:pPr algn="l">
              <a:lnSpc>
                <a:spcPct val="120000"/>
              </a:lnSpc>
            </a:pPr>
            <a:r>
              <a:rPr sz="1600" b="1" i="0">
                <a:solidFill>
                  <a:srgbClr val="21295C"/>
                </a:solidFill>
                <a:latin typeface="Arial"/>
              </a:rPr>
              <a:t>Most of the value here comes NOT from a language model. The LLM is not a universal hammer: a different task requires a different type of AI. That is exactly «a palette of types for a palette of tasks».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686800" cy="530352"/>
          </a:xfrm>
          <a:prstGeom prst="rect">
            <a:avLst/>
          </a:prstGeom>
          <a:noFill/>
        </p:spPr>
        <p:txBody>
          <a:bodyPr wrap="square" lIns="0" rIns="0" tIns="0" bIns="0" anchor="t">
            <a:spAutoFit/>
          </a:bodyPr>
          <a:lstStyle/>
          <a:p>
            <a:pPr algn="l">
              <a:lnSpc>
                <a:spcPct val="110000"/>
              </a:lnSpc>
            </a:pPr>
            <a:r>
              <a:rPr sz="2700" b="1" i="0">
                <a:solidFill>
                  <a:srgbClr val="21295C"/>
                </a:solidFill>
                <a:latin typeface="Arial"/>
              </a:rPr>
              <a:t>The central question of the lecture.</a:t>
            </a:r>
          </a:p>
        </p:txBody>
      </p:sp>
      <p:pic>
        <p:nvPicPr>
          <p:cNvPr id="3" name="Picture 2" descr="target-gold.png"/>
          <p:cNvPicPr>
            <a:picLocks noChangeAspect="1"/>
          </p:cNvPicPr>
          <p:nvPr/>
        </p:nvPicPr>
        <p:blipFill>
          <a:blip r:embed="rId2"/>
          <a:stretch>
            <a:fillRect/>
          </a:stretch>
        </p:blipFill>
        <p:spPr>
          <a:xfrm>
            <a:off x="11018520" y="329184"/>
            <a:ext cx="713232" cy="713232"/>
          </a:xfrm>
          <a:prstGeom prst="rect">
            <a:avLst/>
          </a:prstGeom>
        </p:spPr>
      </p:pic>
      <p:sp>
        <p:nvSpPr>
          <p:cNvPr id="4" name="Rounded Rectangle 3"/>
          <p:cNvSpPr/>
          <p:nvPr/>
        </p:nvSpPr>
        <p:spPr>
          <a:xfrm>
            <a:off x="502920" y="1078992"/>
            <a:ext cx="11201400" cy="1481328"/>
          </a:xfrm>
          <a:prstGeom prst="roundRect">
            <a:avLst>
              <a:gd name="adj" fmla="val 20576"/>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243584"/>
            <a:ext cx="10469880" cy="1152144"/>
          </a:xfrm>
          <a:prstGeom prst="rect">
            <a:avLst/>
          </a:prstGeom>
          <a:noFill/>
        </p:spPr>
        <p:txBody>
          <a:bodyPr wrap="square" lIns="0" rIns="0" tIns="0" bIns="0" anchor="ctr">
            <a:spAutoFit/>
          </a:bodyPr>
          <a:lstStyle/>
          <a:p>
            <a:pPr algn="ctr">
              <a:lnSpc>
                <a:spcPct val="116000"/>
              </a:lnSpc>
            </a:pPr>
            <a:r>
              <a:rPr sz="2000" b="1" i="0">
                <a:solidFill>
                  <a:srgbClr val="21295C"/>
                </a:solidFill>
                <a:latin typeface="Arial"/>
              </a:rPr>
              <a:t>«Finance and retail are the industries with the highest AI adoption. For which task — which type of AI, why that one (and not LLM everywhere), and where does this type break?»</a:t>
            </a:r>
          </a:p>
        </p:txBody>
      </p:sp>
      <p:sp>
        <p:nvSpPr>
          <p:cNvPr id="6" name="TextBox 5"/>
          <p:cNvSpPr txBox="1"/>
          <p:nvPr/>
        </p:nvSpPr>
        <p:spPr>
          <a:xfrm>
            <a:off x="502920" y="2706624"/>
            <a:ext cx="11201400" cy="27432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We examine each type by one scheme (5 steps):</a:t>
            </a:r>
          </a:p>
        </p:txBody>
      </p:sp>
      <p:sp>
        <p:nvSpPr>
          <p:cNvPr id="7" name="Rounded Rectangle 6"/>
          <p:cNvSpPr/>
          <p:nvPr/>
        </p:nvSpPr>
        <p:spPr>
          <a:xfrm>
            <a:off x="502920" y="3017520"/>
            <a:ext cx="2108606" cy="841248"/>
          </a:xfrm>
          <a:prstGeom prst="roundRect">
            <a:avLst>
              <a:gd name="adj" fmla="val 1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3017520"/>
            <a:ext cx="1998878" cy="841248"/>
          </a:xfrm>
          <a:prstGeom prst="rect">
            <a:avLst/>
          </a:prstGeom>
          <a:noFill/>
        </p:spPr>
        <p:txBody>
          <a:bodyPr wrap="square" lIns="0" rIns="0" tIns="0" bIns="0" anchor="ctr">
            <a:spAutoFit/>
          </a:bodyPr>
          <a:lstStyle/>
          <a:p>
            <a:pPr algn="ctr">
              <a:lnSpc>
                <a:spcPct val="102000"/>
              </a:lnSpc>
            </a:pPr>
            <a:r>
              <a:rPr sz="1200" b="1" i="0">
                <a:solidFill>
                  <a:srgbClr val="21295C"/>
                </a:solidFill>
                <a:latin typeface="Arial"/>
              </a:rPr>
              <a:t>1. task</a:t>
            </a:r>
          </a:p>
        </p:txBody>
      </p:sp>
      <p:sp>
        <p:nvSpPr>
          <p:cNvPr id="9" name="TextBox 8"/>
          <p:cNvSpPr txBox="1"/>
          <p:nvPr/>
        </p:nvSpPr>
        <p:spPr>
          <a:xfrm>
            <a:off x="2593238" y="3017520"/>
            <a:ext cx="182880" cy="841248"/>
          </a:xfrm>
          <a:prstGeom prst="rect">
            <a:avLst/>
          </a:prstGeom>
          <a:noFill/>
        </p:spPr>
        <p:txBody>
          <a:bodyPr wrap="square" lIns="0" rIns="0" tIns="0" bIns="0" anchor="ctr">
            <a:spAutoFit/>
          </a:bodyPr>
          <a:lstStyle/>
          <a:p>
            <a:pPr algn="ctr">
              <a:lnSpc>
                <a:spcPct val="115000"/>
              </a:lnSpc>
            </a:pPr>
            <a:r>
              <a:rPr sz="1600" b="1" i="0">
                <a:solidFill>
                  <a:srgbClr val="028090"/>
                </a:solidFill>
                <a:latin typeface="Arial"/>
              </a:rPr>
              <a:t>→</a:t>
            </a:r>
          </a:p>
        </p:txBody>
      </p:sp>
      <p:sp>
        <p:nvSpPr>
          <p:cNvPr id="10" name="Rounded Rectangle 9"/>
          <p:cNvSpPr/>
          <p:nvPr/>
        </p:nvSpPr>
        <p:spPr>
          <a:xfrm>
            <a:off x="2776118" y="3017520"/>
            <a:ext cx="2108606" cy="841248"/>
          </a:xfrm>
          <a:prstGeom prst="roundRect">
            <a:avLst>
              <a:gd name="adj" fmla="val 1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0982" y="3017520"/>
            <a:ext cx="1998878" cy="841248"/>
          </a:xfrm>
          <a:prstGeom prst="rect">
            <a:avLst/>
          </a:prstGeom>
          <a:noFill/>
        </p:spPr>
        <p:txBody>
          <a:bodyPr wrap="square" lIns="0" rIns="0" tIns="0" bIns="0" anchor="ctr">
            <a:spAutoFit/>
          </a:bodyPr>
          <a:lstStyle/>
          <a:p>
            <a:pPr algn="ctr">
              <a:lnSpc>
                <a:spcPct val="102000"/>
              </a:lnSpc>
            </a:pPr>
            <a:r>
              <a:rPr sz="1200" b="1" i="0">
                <a:solidFill>
                  <a:srgbClr val="21295C"/>
                </a:solidFill>
                <a:latin typeface="Arial"/>
              </a:rPr>
              <a:t>2. type of AI
and why it</a:t>
            </a:r>
          </a:p>
        </p:txBody>
      </p:sp>
      <p:sp>
        <p:nvSpPr>
          <p:cNvPr id="12" name="TextBox 11"/>
          <p:cNvSpPr txBox="1"/>
          <p:nvPr/>
        </p:nvSpPr>
        <p:spPr>
          <a:xfrm>
            <a:off x="4866436" y="3017520"/>
            <a:ext cx="182880" cy="841248"/>
          </a:xfrm>
          <a:prstGeom prst="rect">
            <a:avLst/>
          </a:prstGeom>
          <a:noFill/>
        </p:spPr>
        <p:txBody>
          <a:bodyPr wrap="square" lIns="0" rIns="0" tIns="0" bIns="0" anchor="ctr">
            <a:spAutoFit/>
          </a:bodyPr>
          <a:lstStyle/>
          <a:p>
            <a:pPr algn="ctr">
              <a:lnSpc>
                <a:spcPct val="115000"/>
              </a:lnSpc>
            </a:pPr>
            <a:r>
              <a:rPr sz="1600" b="1" i="0">
                <a:solidFill>
                  <a:srgbClr val="028090"/>
                </a:solidFill>
                <a:latin typeface="Arial"/>
              </a:rPr>
              <a:t>→</a:t>
            </a:r>
          </a:p>
        </p:txBody>
      </p:sp>
      <p:sp>
        <p:nvSpPr>
          <p:cNvPr id="13" name="Rounded Rectangle 12"/>
          <p:cNvSpPr/>
          <p:nvPr/>
        </p:nvSpPr>
        <p:spPr>
          <a:xfrm>
            <a:off x="5049316" y="3017520"/>
            <a:ext cx="2108606" cy="841248"/>
          </a:xfrm>
          <a:prstGeom prst="roundRect">
            <a:avLst>
              <a:gd name="adj" fmla="val 1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04180" y="3017520"/>
            <a:ext cx="1998878" cy="841248"/>
          </a:xfrm>
          <a:prstGeom prst="rect">
            <a:avLst/>
          </a:prstGeom>
          <a:noFill/>
        </p:spPr>
        <p:txBody>
          <a:bodyPr wrap="square" lIns="0" rIns="0" tIns="0" bIns="0" anchor="ctr">
            <a:spAutoFit/>
          </a:bodyPr>
          <a:lstStyle/>
          <a:p>
            <a:pPr algn="ctr">
              <a:lnSpc>
                <a:spcPct val="102000"/>
              </a:lnSpc>
            </a:pPr>
            <a:r>
              <a:rPr sz="1200" b="1" i="0">
                <a:solidFill>
                  <a:srgbClr val="21295C"/>
                </a:solidFill>
                <a:latin typeface="Arial"/>
              </a:rPr>
              <a:t>3. real
example</a:t>
            </a:r>
          </a:p>
        </p:txBody>
      </p:sp>
      <p:sp>
        <p:nvSpPr>
          <p:cNvPr id="15" name="TextBox 14"/>
          <p:cNvSpPr txBox="1"/>
          <p:nvPr/>
        </p:nvSpPr>
        <p:spPr>
          <a:xfrm>
            <a:off x="7139635" y="3017520"/>
            <a:ext cx="182880" cy="841248"/>
          </a:xfrm>
          <a:prstGeom prst="rect">
            <a:avLst/>
          </a:prstGeom>
          <a:noFill/>
        </p:spPr>
        <p:txBody>
          <a:bodyPr wrap="square" lIns="0" rIns="0" tIns="0" bIns="0" anchor="ctr">
            <a:spAutoFit/>
          </a:bodyPr>
          <a:lstStyle/>
          <a:p>
            <a:pPr algn="ctr">
              <a:lnSpc>
                <a:spcPct val="115000"/>
              </a:lnSpc>
            </a:pPr>
            <a:r>
              <a:rPr sz="1600" b="1" i="0">
                <a:solidFill>
                  <a:srgbClr val="028090"/>
                </a:solidFill>
                <a:latin typeface="Arial"/>
              </a:rPr>
              <a:t>→</a:t>
            </a:r>
          </a:p>
        </p:txBody>
      </p:sp>
      <p:sp>
        <p:nvSpPr>
          <p:cNvPr id="16" name="Rounded Rectangle 15"/>
          <p:cNvSpPr/>
          <p:nvPr/>
        </p:nvSpPr>
        <p:spPr>
          <a:xfrm>
            <a:off x="7322515" y="3017520"/>
            <a:ext cx="2108606" cy="841248"/>
          </a:xfrm>
          <a:prstGeom prst="roundRect">
            <a:avLst>
              <a:gd name="adj" fmla="val 1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77379" y="3017520"/>
            <a:ext cx="1998878" cy="841248"/>
          </a:xfrm>
          <a:prstGeom prst="rect">
            <a:avLst/>
          </a:prstGeom>
          <a:noFill/>
        </p:spPr>
        <p:txBody>
          <a:bodyPr wrap="square" lIns="0" rIns="0" tIns="0" bIns="0" anchor="ctr">
            <a:spAutoFit/>
          </a:bodyPr>
          <a:lstStyle/>
          <a:p>
            <a:pPr algn="ctr">
              <a:lnSpc>
                <a:spcPct val="102000"/>
              </a:lnSpc>
            </a:pPr>
            <a:r>
              <a:rPr sz="1200" b="1" i="0">
                <a:solidFill>
                  <a:srgbClr val="21295C"/>
                </a:solidFill>
                <a:latin typeface="Arial"/>
              </a:rPr>
              <a:t>4. where it
breaks</a:t>
            </a:r>
          </a:p>
        </p:txBody>
      </p:sp>
      <p:sp>
        <p:nvSpPr>
          <p:cNvPr id="18" name="TextBox 17"/>
          <p:cNvSpPr txBox="1"/>
          <p:nvPr/>
        </p:nvSpPr>
        <p:spPr>
          <a:xfrm>
            <a:off x="9412833" y="3017520"/>
            <a:ext cx="182880" cy="841248"/>
          </a:xfrm>
          <a:prstGeom prst="rect">
            <a:avLst/>
          </a:prstGeom>
          <a:noFill/>
        </p:spPr>
        <p:txBody>
          <a:bodyPr wrap="square" lIns="0" rIns="0" tIns="0" bIns="0" anchor="ctr">
            <a:spAutoFit/>
          </a:bodyPr>
          <a:lstStyle/>
          <a:p>
            <a:pPr algn="ctr">
              <a:lnSpc>
                <a:spcPct val="115000"/>
              </a:lnSpc>
            </a:pPr>
            <a:r>
              <a:rPr sz="1600" b="1" i="0">
                <a:solidFill>
                  <a:srgbClr val="028090"/>
                </a:solidFill>
                <a:latin typeface="Arial"/>
              </a:rPr>
              <a:t>→</a:t>
            </a:r>
          </a:p>
        </p:txBody>
      </p:sp>
      <p:sp>
        <p:nvSpPr>
          <p:cNvPr id="19" name="Rounded Rectangle 18"/>
          <p:cNvSpPr/>
          <p:nvPr/>
        </p:nvSpPr>
        <p:spPr>
          <a:xfrm>
            <a:off x="9595713" y="3017520"/>
            <a:ext cx="2108606" cy="841248"/>
          </a:xfrm>
          <a:prstGeom prst="roundRect">
            <a:avLst>
              <a:gd name="adj" fmla="val 1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50577" y="3017520"/>
            <a:ext cx="1998878" cy="841248"/>
          </a:xfrm>
          <a:prstGeom prst="rect">
            <a:avLst/>
          </a:prstGeom>
          <a:noFill/>
        </p:spPr>
        <p:txBody>
          <a:bodyPr wrap="square" lIns="0" rIns="0" tIns="0" bIns="0" anchor="ctr">
            <a:spAutoFit/>
          </a:bodyPr>
          <a:lstStyle/>
          <a:p>
            <a:pPr algn="ctr">
              <a:lnSpc>
                <a:spcPct val="102000"/>
              </a:lnSpc>
            </a:pPr>
            <a:r>
              <a:rPr sz="1200" b="1" i="0">
                <a:solidFill>
                  <a:srgbClr val="21295C"/>
                </a:solidFill>
                <a:latin typeface="Arial"/>
              </a:rPr>
              <a:t>5. alternative
and criterion</a:t>
            </a:r>
          </a:p>
        </p:txBody>
      </p:sp>
      <p:sp>
        <p:nvSpPr>
          <p:cNvPr id="21" name="Rounded Rectangle 20"/>
          <p:cNvSpPr/>
          <p:nvPr/>
        </p:nvSpPr>
        <p:spPr>
          <a:xfrm>
            <a:off x="502920" y="4041648"/>
            <a:ext cx="11201400" cy="603504"/>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4096511"/>
            <a:ext cx="10762488" cy="493776"/>
          </a:xfrm>
          <a:prstGeom prst="rect">
            <a:avLst/>
          </a:prstGeom>
          <a:noFill/>
        </p:spPr>
        <p:txBody>
          <a:bodyPr wrap="square" lIns="0" rIns="0" tIns="0" bIns="0" anchor="ctr">
            <a:spAutoFit/>
          </a:bodyPr>
          <a:lstStyle/>
          <a:p>
            <a:pPr algn="l">
              <a:lnSpc>
                <a:spcPct val="118000"/>
              </a:lnSpc>
            </a:pPr>
            <a:r>
              <a:rPr sz="1350" b="1" i="0">
                <a:solidFill>
                  <a:srgbClr val="21295C"/>
                </a:solidFill>
                <a:latin typeface="Arial"/>
              </a:rPr>
              <a:t>The map is the structure of the lecture, not a requirement to understand everything now. Forecasting · anomalies · scoring · LLM · recommendations (+ a cross-cutting CV).</a:t>
            </a:r>
          </a:p>
        </p:txBody>
      </p:sp>
      <p:sp>
        <p:nvSpPr>
          <p:cNvPr id="23" name="Rounded Rectangle 22"/>
          <p:cNvSpPr/>
          <p:nvPr/>
        </p:nvSpPr>
        <p:spPr>
          <a:xfrm>
            <a:off x="502920" y="4809744"/>
            <a:ext cx="11201400" cy="137160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4864607"/>
            <a:ext cx="10762488" cy="1261872"/>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The answer is not «AI is good» and not «AI is bad», but an apparatus: name the appropriate type, justify the choice, and see in advance the point where a human is mandatory. By the end this scheme will become your tool of choice.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726679" y="274320"/>
            <a:ext cx="4206240" cy="5486400"/>
          </a:xfrm>
          <a:prstGeom prst="rect">
            <a:avLst/>
          </a:prstGeom>
          <a:noFill/>
        </p:spPr>
        <p:txBody>
          <a:bodyPr wrap="square" lIns="0" rIns="0" tIns="0" bIns="0" anchor="ctr">
            <a:spAutoFit/>
          </a:bodyPr>
          <a:lstStyle/>
          <a:p>
            <a:pPr algn="ctr">
              <a:lnSpc>
                <a:spcPct val="100000"/>
              </a:lnSpc>
            </a:pPr>
            <a:r>
              <a:rPr sz="40000" b="1" i="0">
                <a:solidFill>
                  <a:srgbClr val="D9E2EC"/>
                </a:solidFill>
                <a:latin typeface="Arial"/>
              </a:rPr>
              <a:t>1</a:t>
            </a:r>
          </a:p>
        </p:txBody>
      </p:sp>
      <p:sp>
        <p:nvSpPr>
          <p:cNvPr id="3" name="TextBox 2"/>
          <p:cNvSpPr txBox="1"/>
          <p:nvPr/>
        </p:nvSpPr>
        <p:spPr>
          <a:xfrm>
            <a:off x="685800" y="1417320"/>
            <a:ext cx="676656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SECTION 1</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6949440" cy="1691640"/>
          </a:xfrm>
          <a:prstGeom prst="rect">
            <a:avLst/>
          </a:prstGeom>
          <a:noFill/>
        </p:spPr>
        <p:txBody>
          <a:bodyPr wrap="square" lIns="0" rIns="0" tIns="0" bIns="0" anchor="t">
            <a:spAutoFit/>
          </a:bodyPr>
          <a:lstStyle/>
          <a:p>
            <a:pPr algn="l">
              <a:lnSpc>
                <a:spcPct val="108000"/>
              </a:lnSpc>
            </a:pPr>
            <a:r>
              <a:rPr sz="3600" b="1" i="0">
                <a:solidFill>
                  <a:srgbClr val="21295C"/>
                </a:solidFill>
                <a:latin typeface="Arial"/>
              </a:rPr>
              <a:t>Forecasting:
demand, sales, churn</a:t>
            </a:r>
          </a:p>
        </p:txBody>
      </p:sp>
      <p:sp>
        <p:nvSpPr>
          <p:cNvPr id="6" name="TextBox 5"/>
          <p:cNvSpPr txBox="1"/>
          <p:nvPr/>
        </p:nvSpPr>
        <p:spPr>
          <a:xfrm>
            <a:off x="713232" y="4224528"/>
            <a:ext cx="6858000" cy="1417320"/>
          </a:xfrm>
          <a:prstGeom prst="rect">
            <a:avLst/>
          </a:prstGeom>
          <a:noFill/>
        </p:spPr>
        <p:txBody>
          <a:bodyPr wrap="square" lIns="0" rIns="0" tIns="0" bIns="0" anchor="t">
            <a:spAutoFit/>
          </a:bodyPr>
          <a:lstStyle/>
          <a:p>
            <a:pPr algn="l">
              <a:lnSpc>
                <a:spcPct val="122000"/>
              </a:lnSpc>
            </a:pPr>
            <a:r>
              <a:rPr sz="1800" b="0" i="1">
                <a:solidFill>
                  <a:srgbClr val="1C7293"/>
                </a:solidFill>
                <a:latin typeface="Arial"/>
              </a:rPr>
              <a:t>We start with retail's most widespread task — and right away with a type of AI that is NOT an LLM.</a:t>
            </a:r>
          </a:p>
        </p:txBody>
      </p:sp>
      <p:sp>
        <p:nvSpPr>
          <p:cNvPr id="7" name="Rounded Rectangle 6"/>
          <p:cNvSpPr/>
          <p:nvPr/>
        </p:nvSpPr>
        <p:spPr>
          <a:xfrm>
            <a:off x="502920"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9496"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0</a:t>
            </a:r>
          </a:p>
        </p:txBody>
      </p:sp>
      <p:sp>
        <p:nvSpPr>
          <p:cNvPr id="9" name="TextBox 8"/>
          <p:cNvSpPr txBox="1"/>
          <p:nvPr/>
        </p:nvSpPr>
        <p:spPr>
          <a:xfrm>
            <a:off x="539496"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Opening</a:t>
            </a:r>
          </a:p>
        </p:txBody>
      </p:sp>
      <p:sp>
        <p:nvSpPr>
          <p:cNvPr id="10" name="Rounded Rectangle 9"/>
          <p:cNvSpPr/>
          <p:nvPr/>
        </p:nvSpPr>
        <p:spPr>
          <a:xfrm>
            <a:off x="2118795" y="5943600"/>
            <a:ext cx="1506147" cy="548640"/>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5371" y="6007608"/>
            <a:ext cx="1432995" cy="201168"/>
          </a:xfrm>
          <a:prstGeom prst="rect">
            <a:avLst/>
          </a:prstGeom>
          <a:noFill/>
        </p:spPr>
        <p:txBody>
          <a:bodyPr wrap="square" lIns="0" rIns="0" tIns="0" bIns="0" anchor="t">
            <a:spAutoFit/>
          </a:bodyPr>
          <a:lstStyle/>
          <a:p>
            <a:pPr algn="ctr">
              <a:lnSpc>
                <a:spcPct val="115000"/>
              </a:lnSpc>
            </a:pPr>
            <a:r>
              <a:rPr sz="1000" b="1" i="0">
                <a:solidFill>
                  <a:srgbClr val="21295C"/>
                </a:solidFill>
                <a:latin typeface="Arial"/>
              </a:rPr>
              <a:t>Section 1</a:t>
            </a:r>
          </a:p>
        </p:txBody>
      </p:sp>
      <p:sp>
        <p:nvSpPr>
          <p:cNvPr id="12" name="TextBox 11"/>
          <p:cNvSpPr txBox="1"/>
          <p:nvPr/>
        </p:nvSpPr>
        <p:spPr>
          <a:xfrm>
            <a:off x="2155371" y="6217920"/>
            <a:ext cx="1432995" cy="237744"/>
          </a:xfrm>
          <a:prstGeom prst="rect">
            <a:avLst/>
          </a:prstGeom>
          <a:noFill/>
        </p:spPr>
        <p:txBody>
          <a:bodyPr wrap="square" lIns="0" rIns="0" tIns="0" bIns="0" anchor="t">
            <a:spAutoFit/>
          </a:bodyPr>
          <a:lstStyle/>
          <a:p>
            <a:pPr algn="ctr">
              <a:lnSpc>
                <a:spcPct val="95000"/>
              </a:lnSpc>
            </a:pPr>
            <a:r>
              <a:rPr sz="1050" b="1" i="0">
                <a:solidFill>
                  <a:srgbClr val="21295C"/>
                </a:solidFill>
                <a:latin typeface="Arial"/>
              </a:rPr>
              <a:t>Forecast</a:t>
            </a:r>
          </a:p>
        </p:txBody>
      </p:sp>
      <p:sp>
        <p:nvSpPr>
          <p:cNvPr id="13" name="Rounded Rectangle 12"/>
          <p:cNvSpPr/>
          <p:nvPr/>
        </p:nvSpPr>
        <p:spPr>
          <a:xfrm>
            <a:off x="3734670"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1246"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2</a:t>
            </a:r>
          </a:p>
        </p:txBody>
      </p:sp>
      <p:sp>
        <p:nvSpPr>
          <p:cNvPr id="15" name="TextBox 14"/>
          <p:cNvSpPr txBox="1"/>
          <p:nvPr/>
        </p:nvSpPr>
        <p:spPr>
          <a:xfrm>
            <a:off x="3771246"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Anomalies</a:t>
            </a:r>
          </a:p>
        </p:txBody>
      </p:sp>
      <p:sp>
        <p:nvSpPr>
          <p:cNvPr id="16" name="Rounded Rectangle 15"/>
          <p:cNvSpPr/>
          <p:nvPr/>
        </p:nvSpPr>
        <p:spPr>
          <a:xfrm>
            <a:off x="5350546"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87122"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3</a:t>
            </a:r>
          </a:p>
        </p:txBody>
      </p:sp>
      <p:sp>
        <p:nvSpPr>
          <p:cNvPr id="18" name="TextBox 17"/>
          <p:cNvSpPr txBox="1"/>
          <p:nvPr/>
        </p:nvSpPr>
        <p:spPr>
          <a:xfrm>
            <a:off x="5387122"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Scoring</a:t>
            </a:r>
          </a:p>
        </p:txBody>
      </p:sp>
      <p:sp>
        <p:nvSpPr>
          <p:cNvPr id="19" name="Rounded Rectangle 18"/>
          <p:cNvSpPr/>
          <p:nvPr/>
        </p:nvSpPr>
        <p:spPr>
          <a:xfrm>
            <a:off x="6966421"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02997"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4</a:t>
            </a:r>
          </a:p>
        </p:txBody>
      </p:sp>
      <p:sp>
        <p:nvSpPr>
          <p:cNvPr id="21" name="TextBox 20"/>
          <p:cNvSpPr txBox="1"/>
          <p:nvPr/>
        </p:nvSpPr>
        <p:spPr>
          <a:xfrm>
            <a:off x="7002997"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LLM</a:t>
            </a:r>
          </a:p>
        </p:txBody>
      </p:sp>
      <p:sp>
        <p:nvSpPr>
          <p:cNvPr id="22" name="Rounded Rectangle 21"/>
          <p:cNvSpPr/>
          <p:nvPr/>
        </p:nvSpPr>
        <p:spPr>
          <a:xfrm>
            <a:off x="8582297"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8873"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5</a:t>
            </a:r>
          </a:p>
        </p:txBody>
      </p:sp>
      <p:sp>
        <p:nvSpPr>
          <p:cNvPr id="24" name="TextBox 23"/>
          <p:cNvSpPr txBox="1"/>
          <p:nvPr/>
        </p:nvSpPr>
        <p:spPr>
          <a:xfrm>
            <a:off x="8618873"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Recomm.</a:t>
            </a:r>
          </a:p>
        </p:txBody>
      </p:sp>
      <p:sp>
        <p:nvSpPr>
          <p:cNvPr id="25" name="Rounded Rectangle 24"/>
          <p:cNvSpPr/>
          <p:nvPr/>
        </p:nvSpPr>
        <p:spPr>
          <a:xfrm>
            <a:off x="10198172"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4748"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6</a:t>
            </a:r>
          </a:p>
        </p:txBody>
      </p:sp>
      <p:sp>
        <p:nvSpPr>
          <p:cNvPr id="27" name="TextBox 26"/>
          <p:cNvSpPr txBox="1"/>
          <p:nvPr/>
        </p:nvSpPr>
        <p:spPr>
          <a:xfrm>
            <a:off x="10234748"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Framework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66928"/>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Time-series forecasting and a language model solve structurally different tasks.</a:t>
            </a:r>
          </a:p>
        </p:txBody>
      </p:sp>
      <p:sp>
        <p:nvSpPr>
          <p:cNvPr id="3" name="Rounded Rectangle 2"/>
          <p:cNvSpPr/>
          <p:nvPr/>
        </p:nvSpPr>
        <p:spPr>
          <a:xfrm>
            <a:off x="502920" y="1097280"/>
            <a:ext cx="11201400" cy="3108960"/>
          </a:xfrm>
          <a:prstGeom prst="roundRect">
            <a:avLst>
              <a:gd name="adj" fmla="val 98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261872"/>
            <a:ext cx="5303520" cy="438912"/>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261872"/>
            <a:ext cx="5303520" cy="438912"/>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Language model (LLM)</a:t>
            </a:r>
          </a:p>
        </p:txBody>
      </p:sp>
      <p:sp>
        <p:nvSpPr>
          <p:cNvPr id="6" name="Rectangle 5"/>
          <p:cNvSpPr/>
          <p:nvPr/>
        </p:nvSpPr>
        <p:spPr>
          <a:xfrm>
            <a:off x="6172200" y="1261872"/>
            <a:ext cx="5349240" cy="438912"/>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72200" y="1261872"/>
            <a:ext cx="5349240" cy="438912"/>
          </a:xfrm>
          <a:prstGeom prst="rect">
            <a:avLst/>
          </a:prstGeom>
          <a:noFill/>
        </p:spPr>
        <p:txBody>
          <a:bodyPr wrap="square" lIns="0" rIns="0" tIns="0" bIns="0" anchor="ctr">
            <a:spAutoFit/>
          </a:bodyPr>
          <a:lstStyle/>
          <a:p>
            <a:pPr algn="ctr">
              <a:lnSpc>
                <a:spcPct val="115000"/>
              </a:lnSpc>
            </a:pPr>
            <a:r>
              <a:rPr sz="1500" b="1" i="0">
                <a:solidFill>
                  <a:srgbClr val="FFFFFF"/>
                </a:solidFill>
                <a:latin typeface="Arial"/>
              </a:rPr>
              <a:t>Time-series forecasting</a:t>
            </a:r>
          </a:p>
        </p:txBody>
      </p:sp>
      <p:sp>
        <p:nvSpPr>
          <p:cNvPr id="8" name="Rectangle 7"/>
          <p:cNvSpPr/>
          <p:nvPr/>
        </p:nvSpPr>
        <p:spPr>
          <a:xfrm>
            <a:off x="685800" y="1810512"/>
            <a:ext cx="5303520" cy="530352"/>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1810512"/>
            <a:ext cx="5102352" cy="530352"/>
          </a:xfrm>
          <a:prstGeom prst="rect">
            <a:avLst/>
          </a:prstGeom>
          <a:noFill/>
        </p:spPr>
        <p:txBody>
          <a:bodyPr wrap="square" lIns="0" rIns="0" tIns="0" bIns="0" anchor="ctr">
            <a:spAutoFit/>
          </a:bodyPr>
          <a:lstStyle/>
          <a:p>
            <a:pPr algn="l">
              <a:lnSpc>
                <a:spcPct val="105000"/>
              </a:lnSpc>
            </a:pPr>
            <a:r>
              <a:rPr sz="1200" b="0" i="0">
                <a:solidFill>
                  <a:srgbClr val="21295C"/>
                </a:solidFill>
                <a:latin typeface="Arial"/>
              </a:rPr>
              <a:t>predicts the next TOKEN of text</a:t>
            </a:r>
          </a:p>
        </p:txBody>
      </p:sp>
      <p:sp>
        <p:nvSpPr>
          <p:cNvPr id="10" name="Rectangle 9"/>
          <p:cNvSpPr/>
          <p:nvPr/>
        </p:nvSpPr>
        <p:spPr>
          <a:xfrm>
            <a:off x="6172200" y="1810512"/>
            <a:ext cx="5349240" cy="530352"/>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1810512"/>
            <a:ext cx="5148072" cy="530352"/>
          </a:xfrm>
          <a:prstGeom prst="rect">
            <a:avLst/>
          </a:prstGeom>
          <a:noFill/>
        </p:spPr>
        <p:txBody>
          <a:bodyPr wrap="square" lIns="0" rIns="0" tIns="0" bIns="0" anchor="ctr">
            <a:spAutoFit/>
          </a:bodyPr>
          <a:lstStyle/>
          <a:p>
            <a:pPr algn="l">
              <a:lnSpc>
                <a:spcPct val="105000"/>
              </a:lnSpc>
            </a:pPr>
            <a:r>
              <a:rPr sz="1200" b="0" i="0">
                <a:solidFill>
                  <a:srgbClr val="21295C"/>
                </a:solidFill>
                <a:latin typeface="Arial"/>
              </a:rPr>
              <a:t>predicts the next NUMBER in the series</a:t>
            </a:r>
          </a:p>
        </p:txBody>
      </p:sp>
      <p:sp>
        <p:nvSpPr>
          <p:cNvPr id="12" name="Rectangle 11"/>
          <p:cNvSpPr/>
          <p:nvPr/>
        </p:nvSpPr>
        <p:spPr>
          <a:xfrm>
            <a:off x="685800" y="2377440"/>
            <a:ext cx="5303520" cy="530352"/>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377440"/>
            <a:ext cx="5102352" cy="530352"/>
          </a:xfrm>
          <a:prstGeom prst="rect">
            <a:avLst/>
          </a:prstGeom>
          <a:noFill/>
        </p:spPr>
        <p:txBody>
          <a:bodyPr wrap="square" lIns="0" rIns="0" tIns="0" bIns="0" anchor="ctr">
            <a:spAutoFit/>
          </a:bodyPr>
          <a:lstStyle/>
          <a:p>
            <a:pPr algn="l">
              <a:lnSpc>
                <a:spcPct val="105000"/>
              </a:lnSpc>
            </a:pPr>
            <a:r>
              <a:rPr sz="1200" b="0" i="0">
                <a:solidFill>
                  <a:srgbClr val="21295C"/>
                </a:solidFill>
                <a:latin typeface="Arial"/>
              </a:rPr>
              <a:t>optimized for the plausibility of the wording</a:t>
            </a:r>
          </a:p>
        </p:txBody>
      </p:sp>
      <p:sp>
        <p:nvSpPr>
          <p:cNvPr id="14" name="Rectangle 13"/>
          <p:cNvSpPr/>
          <p:nvPr/>
        </p:nvSpPr>
        <p:spPr>
          <a:xfrm>
            <a:off x="6172200" y="2377440"/>
            <a:ext cx="5349240" cy="530352"/>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2377440"/>
            <a:ext cx="5148072" cy="530352"/>
          </a:xfrm>
          <a:prstGeom prst="rect">
            <a:avLst/>
          </a:prstGeom>
          <a:noFill/>
        </p:spPr>
        <p:txBody>
          <a:bodyPr wrap="square" lIns="0" rIns="0" tIns="0" bIns="0" anchor="ctr">
            <a:spAutoFit/>
          </a:bodyPr>
          <a:lstStyle/>
          <a:p>
            <a:pPr algn="l">
              <a:lnSpc>
                <a:spcPct val="105000"/>
              </a:lnSpc>
            </a:pPr>
            <a:r>
              <a:rPr sz="1200" b="0" i="0">
                <a:solidFill>
                  <a:srgbClr val="21295C"/>
                </a:solidFill>
                <a:latin typeface="Arial"/>
              </a:rPr>
              <a:t>needs numeric accuracy + calibrated uncertainty</a:t>
            </a:r>
          </a:p>
        </p:txBody>
      </p:sp>
      <p:sp>
        <p:nvSpPr>
          <p:cNvPr id="16" name="Rectangle 15"/>
          <p:cNvSpPr/>
          <p:nvPr/>
        </p:nvSpPr>
        <p:spPr>
          <a:xfrm>
            <a:off x="685800" y="2944368"/>
            <a:ext cx="5303520" cy="530352"/>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2944368"/>
            <a:ext cx="5102352" cy="530352"/>
          </a:xfrm>
          <a:prstGeom prst="rect">
            <a:avLst/>
          </a:prstGeom>
          <a:noFill/>
        </p:spPr>
        <p:txBody>
          <a:bodyPr wrap="square" lIns="0" rIns="0" tIns="0" bIns="0" anchor="ctr">
            <a:spAutoFit/>
          </a:bodyPr>
          <a:lstStyle/>
          <a:p>
            <a:pPr algn="l">
              <a:lnSpc>
                <a:spcPct val="105000"/>
              </a:lnSpc>
            </a:pPr>
            <a:r>
              <a:rPr sz="1200" b="0" i="0">
                <a:solidFill>
                  <a:srgbClr val="21295C"/>
                </a:solidFill>
                <a:latin typeface="Arial"/>
              </a:rPr>
              <a:t>has no internal notion of «seasonality» / «trend»</a:t>
            </a:r>
          </a:p>
        </p:txBody>
      </p:sp>
      <p:sp>
        <p:nvSpPr>
          <p:cNvPr id="18" name="Rectangle 17"/>
          <p:cNvSpPr/>
          <p:nvPr/>
        </p:nvSpPr>
        <p:spPr>
          <a:xfrm>
            <a:off x="6172200" y="2944368"/>
            <a:ext cx="5349240" cy="530352"/>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18504" y="2944368"/>
            <a:ext cx="5148072" cy="530352"/>
          </a:xfrm>
          <a:prstGeom prst="rect">
            <a:avLst/>
          </a:prstGeom>
          <a:noFill/>
        </p:spPr>
        <p:txBody>
          <a:bodyPr wrap="square" lIns="0" rIns="0" tIns="0" bIns="0" anchor="ctr">
            <a:spAutoFit/>
          </a:bodyPr>
          <a:lstStyle/>
          <a:p>
            <a:pPr algn="l">
              <a:lnSpc>
                <a:spcPct val="105000"/>
              </a:lnSpc>
            </a:pPr>
            <a:r>
              <a:rPr sz="1200" b="0" i="0">
                <a:solidFill>
                  <a:srgbClr val="21295C"/>
                </a:solidFill>
                <a:latin typeface="Arial"/>
              </a:rPr>
              <a:t>series = trend + seasonality + noise</a:t>
            </a:r>
          </a:p>
        </p:txBody>
      </p:sp>
      <p:sp>
        <p:nvSpPr>
          <p:cNvPr id="20" name="Rectangle 19"/>
          <p:cNvSpPr/>
          <p:nvPr/>
        </p:nvSpPr>
        <p:spPr>
          <a:xfrm>
            <a:off x="685800" y="3511296"/>
            <a:ext cx="5303520" cy="530352"/>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 y="3511296"/>
            <a:ext cx="5102352" cy="530352"/>
          </a:xfrm>
          <a:prstGeom prst="rect">
            <a:avLst/>
          </a:prstGeom>
          <a:noFill/>
        </p:spPr>
        <p:txBody>
          <a:bodyPr wrap="square" lIns="0" rIns="0" tIns="0" bIns="0" anchor="ctr">
            <a:spAutoFit/>
          </a:bodyPr>
          <a:lstStyle/>
          <a:p>
            <a:pPr algn="l">
              <a:lnSpc>
                <a:spcPct val="105000"/>
              </a:lnSpc>
            </a:pPr>
            <a:r>
              <a:rPr sz="1200" b="0" i="0">
                <a:solidFill>
                  <a:srgbClr val="21295C"/>
                </a:solidFill>
                <a:latin typeface="Arial"/>
              </a:rPr>
              <a:t>has seen texts ABOUT sales</a:t>
            </a:r>
          </a:p>
        </p:txBody>
      </p:sp>
      <p:sp>
        <p:nvSpPr>
          <p:cNvPr id="22" name="Rectangle 21"/>
          <p:cNvSpPr/>
          <p:nvPr/>
        </p:nvSpPr>
        <p:spPr>
          <a:xfrm>
            <a:off x="6172200" y="3511296"/>
            <a:ext cx="5349240" cy="530352"/>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8504" y="3511296"/>
            <a:ext cx="5148072" cy="530352"/>
          </a:xfrm>
          <a:prstGeom prst="rect">
            <a:avLst/>
          </a:prstGeom>
          <a:noFill/>
        </p:spPr>
        <p:txBody>
          <a:bodyPr wrap="square" lIns="0" rIns="0" tIns="0" bIns="0" anchor="ctr">
            <a:spAutoFit/>
          </a:bodyPr>
          <a:lstStyle/>
          <a:p>
            <a:pPr algn="l">
              <a:lnSpc>
                <a:spcPct val="105000"/>
              </a:lnSpc>
            </a:pPr>
            <a:r>
              <a:rPr sz="1200" b="0" i="0">
                <a:solidFill>
                  <a:srgbClr val="21295C"/>
                </a:solidFill>
                <a:latin typeface="Arial"/>
              </a:rPr>
              <a:t>sees the sales series itself as a series</a:t>
            </a:r>
          </a:p>
        </p:txBody>
      </p:sp>
      <p:sp>
        <p:nvSpPr>
          <p:cNvPr id="24" name="Rounded Rectangle 23"/>
          <p:cNvSpPr/>
          <p:nvPr/>
        </p:nvSpPr>
        <p:spPr>
          <a:xfrm>
            <a:off x="502920" y="4334256"/>
            <a:ext cx="11201400" cy="566928"/>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4389120"/>
            <a:ext cx="10762488" cy="457200"/>
          </a:xfrm>
          <a:prstGeom prst="rect">
            <a:avLst/>
          </a:prstGeom>
          <a:noFill/>
        </p:spPr>
        <p:txBody>
          <a:bodyPr wrap="square" lIns="0" rIns="0" tIns="0" bIns="0" anchor="ctr">
            <a:spAutoFit/>
          </a:bodyPr>
          <a:lstStyle/>
          <a:p>
            <a:pPr algn="l">
              <a:lnSpc>
                <a:spcPct val="118000"/>
              </a:lnSpc>
            </a:pPr>
            <a:r>
              <a:rPr sz="1350" b="1" i="0">
                <a:solidFill>
                  <a:srgbClr val="21295C"/>
                </a:solidFill>
                <a:latin typeface="Arial"/>
              </a:rPr>
              <a:t>Type of AI for forecasting: classical statistics and tabular ML — the ARIMA family, gradient boosting. NOT a generative model, NOT an LLM.</a:t>
            </a:r>
          </a:p>
        </p:txBody>
      </p:sp>
      <p:sp>
        <p:nvSpPr>
          <p:cNvPr id="26" name="Rounded Rectangle 25"/>
          <p:cNvSpPr/>
          <p:nvPr/>
        </p:nvSpPr>
        <p:spPr>
          <a:xfrm>
            <a:off x="502920" y="5047488"/>
            <a:ext cx="11201400" cy="115214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 y="5102351"/>
            <a:ext cx="10762488" cy="1042416"/>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Hand «forecast the demand» to a text model — it will produce a plausible number with no connection to seasonality: a hallucination in a numeric wrapper. The type of AI is determined by the STRUCTURE of the task, not by the trendiness of the tool.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Why a tabular model here, not an LLM — three arguments, not a caveat.</a:t>
            </a:r>
          </a:p>
        </p:txBody>
      </p:sp>
      <p:sp>
        <p:nvSpPr>
          <p:cNvPr id="3" name="Rounded Rectangle 2"/>
          <p:cNvSpPr/>
          <p:nvPr/>
        </p:nvSpPr>
        <p:spPr>
          <a:xfrm>
            <a:off x="502920" y="1115568"/>
            <a:ext cx="3575304" cy="2505456"/>
          </a:xfrm>
          <a:prstGeom prst="roundRect">
            <a:avLst>
              <a:gd name="adj" fmla="val 1216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tabase-mid.png"/>
          <p:cNvPicPr>
            <a:picLocks noChangeAspect="1"/>
          </p:cNvPicPr>
          <p:nvPr/>
        </p:nvPicPr>
        <p:blipFill>
          <a:blip r:embed="rId2"/>
          <a:stretch>
            <a:fillRect/>
          </a:stretch>
        </p:blipFill>
        <p:spPr>
          <a:xfrm>
            <a:off x="722376" y="1316736"/>
            <a:ext cx="457200" cy="457200"/>
          </a:xfrm>
          <a:prstGeom prst="rect">
            <a:avLst/>
          </a:prstGeom>
        </p:spPr>
      </p:pic>
      <p:sp>
        <p:nvSpPr>
          <p:cNvPr id="5" name="TextBox 4"/>
          <p:cNvSpPr txBox="1"/>
          <p:nvPr/>
        </p:nvSpPr>
        <p:spPr>
          <a:xfrm>
            <a:off x="1289304" y="1353312"/>
            <a:ext cx="2615184" cy="457200"/>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1. Data structure</a:t>
            </a:r>
          </a:p>
        </p:txBody>
      </p:sp>
      <p:sp>
        <p:nvSpPr>
          <p:cNvPr id="6" name="TextBox 5"/>
          <p:cNvSpPr txBox="1"/>
          <p:nvPr/>
        </p:nvSpPr>
        <p:spPr>
          <a:xfrm>
            <a:off x="740664" y="1938528"/>
            <a:ext cx="3099816" cy="1572768"/>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tabular numeric series (date, point, product, price, features). Series models extract trend and seasonality; turning a series into text for an LLM loses exactly this structure.</a:t>
            </a:r>
          </a:p>
        </p:txBody>
      </p:sp>
      <p:sp>
        <p:nvSpPr>
          <p:cNvPr id="7" name="Rounded Rectangle 6"/>
          <p:cNvSpPr/>
          <p:nvPr/>
        </p:nvSpPr>
        <p:spPr>
          <a:xfrm>
            <a:off x="4315968" y="1115568"/>
            <a:ext cx="3575304" cy="2505456"/>
          </a:xfrm>
          <a:prstGeom prst="roundRect">
            <a:avLst>
              <a:gd name="adj" fmla="val 1216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ctivity-mid.png"/>
          <p:cNvPicPr>
            <a:picLocks noChangeAspect="1"/>
          </p:cNvPicPr>
          <p:nvPr/>
        </p:nvPicPr>
        <p:blipFill>
          <a:blip r:embed="rId3"/>
          <a:stretch>
            <a:fillRect/>
          </a:stretch>
        </p:blipFill>
        <p:spPr>
          <a:xfrm>
            <a:off x="4535424" y="1316736"/>
            <a:ext cx="457200" cy="457200"/>
          </a:xfrm>
          <a:prstGeom prst="rect">
            <a:avLst/>
          </a:prstGeom>
        </p:spPr>
      </p:pic>
      <p:sp>
        <p:nvSpPr>
          <p:cNvPr id="9" name="TextBox 8"/>
          <p:cNvSpPr txBox="1"/>
          <p:nvPr/>
        </p:nvSpPr>
        <p:spPr>
          <a:xfrm>
            <a:off x="5102352" y="1353312"/>
            <a:ext cx="2615184" cy="457200"/>
          </a:xfrm>
          <a:prstGeom prst="rect">
            <a:avLst/>
          </a:prstGeom>
          <a:noFill/>
        </p:spPr>
        <p:txBody>
          <a:bodyPr wrap="square" lIns="0" rIns="0" tIns="0" bIns="0" anchor="ctr">
            <a:spAutoFit/>
          </a:bodyPr>
          <a:lstStyle/>
          <a:p>
            <a:pPr algn="l">
              <a:lnSpc>
                <a:spcPct val="115000"/>
              </a:lnSpc>
            </a:pPr>
            <a:r>
              <a:rPr sz="1500" b="1" i="0">
                <a:solidFill>
                  <a:srgbClr val="065A82"/>
                </a:solidFill>
                <a:latin typeface="Arial"/>
              </a:rPr>
              <a:t>2. Measurability and calibration</a:t>
            </a:r>
          </a:p>
        </p:txBody>
      </p:sp>
      <p:sp>
        <p:nvSpPr>
          <p:cNvPr id="10" name="TextBox 9"/>
          <p:cNvSpPr txBox="1"/>
          <p:nvPr/>
        </p:nvSpPr>
        <p:spPr>
          <a:xfrm>
            <a:off x="4553712" y="1938528"/>
            <a:ext cx="3099816" cy="1572768"/>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the decision about order size is built on a numeric error metric + a confidence interval. Classical models give this out of the box; an LLM does not.</a:t>
            </a:r>
          </a:p>
        </p:txBody>
      </p:sp>
      <p:sp>
        <p:nvSpPr>
          <p:cNvPr id="11" name="Rounded Rectangle 10"/>
          <p:cNvSpPr/>
          <p:nvPr/>
        </p:nvSpPr>
        <p:spPr>
          <a:xfrm>
            <a:off x="8129016" y="1115568"/>
            <a:ext cx="3575304" cy="2505456"/>
          </a:xfrm>
          <a:prstGeom prst="roundRect">
            <a:avLst>
              <a:gd name="adj" fmla="val 12165"/>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riangle-alert-gold.png"/>
          <p:cNvPicPr>
            <a:picLocks noChangeAspect="1"/>
          </p:cNvPicPr>
          <p:nvPr/>
        </p:nvPicPr>
        <p:blipFill>
          <a:blip r:embed="rId4"/>
          <a:stretch>
            <a:fillRect/>
          </a:stretch>
        </p:blipFill>
        <p:spPr>
          <a:xfrm>
            <a:off x="8348472" y="1316736"/>
            <a:ext cx="457200" cy="457200"/>
          </a:xfrm>
          <a:prstGeom prst="rect">
            <a:avLst/>
          </a:prstGeom>
        </p:spPr>
      </p:pic>
      <p:sp>
        <p:nvSpPr>
          <p:cNvPr id="13" name="TextBox 12"/>
          <p:cNvSpPr txBox="1"/>
          <p:nvPr/>
        </p:nvSpPr>
        <p:spPr>
          <a:xfrm>
            <a:off x="8915400" y="1353312"/>
            <a:ext cx="2615184" cy="457200"/>
          </a:xfrm>
          <a:prstGeom prst="rect">
            <a:avLst/>
          </a:prstGeom>
          <a:noFill/>
        </p:spPr>
        <p:txBody>
          <a:bodyPr wrap="square" lIns="0" rIns="0" tIns="0" bIns="0" anchor="ctr">
            <a:spAutoFit/>
          </a:bodyPr>
          <a:lstStyle/>
          <a:p>
            <a:pPr algn="l">
              <a:lnSpc>
                <a:spcPct val="115000"/>
              </a:lnSpc>
            </a:pPr>
            <a:r>
              <a:rPr sz="1500" b="1" i="0">
                <a:solidFill>
                  <a:srgbClr val="21295C"/>
                </a:solidFill>
                <a:latin typeface="Arial"/>
              </a:rPr>
              <a:t>3. What will break</a:t>
            </a:r>
          </a:p>
        </p:txBody>
      </p:sp>
      <p:sp>
        <p:nvSpPr>
          <p:cNvPr id="14" name="TextBox 13"/>
          <p:cNvSpPr txBox="1"/>
          <p:nvPr/>
        </p:nvSpPr>
        <p:spPr>
          <a:xfrm>
            <a:off x="8366760" y="1938528"/>
            <a:ext cx="3099816" cy="1572768"/>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an LLM will give a plausible number with no grounded uncertainty — and the decision still has to be made, and the cost of a systematic error × volume (the Zillow mechanism).</a:t>
            </a:r>
          </a:p>
        </p:txBody>
      </p:sp>
      <p:sp>
        <p:nvSpPr>
          <p:cNvPr id="15" name="Rounded Rectangle 14"/>
          <p:cNvSpPr/>
          <p:nvPr/>
        </p:nvSpPr>
        <p:spPr>
          <a:xfrm>
            <a:off x="502920" y="3767328"/>
            <a:ext cx="11201400" cy="768096"/>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3822191"/>
            <a:ext cx="10762488" cy="658368"/>
          </a:xfrm>
          <a:prstGeom prst="rect">
            <a:avLst/>
          </a:prstGeom>
          <a:noFill/>
        </p:spPr>
        <p:txBody>
          <a:bodyPr wrap="square" lIns="0" rIns="0" tIns="0" bIns="0" anchor="ctr">
            <a:spAutoFit/>
          </a:bodyPr>
          <a:lstStyle/>
          <a:p>
            <a:pPr algn="l">
              <a:lnSpc>
                <a:spcPct val="118000"/>
              </a:lnSpc>
            </a:pPr>
            <a:r>
              <a:rPr sz="1350" b="1" i="0">
                <a:solidFill>
                  <a:srgbClr val="21295C"/>
                </a:solidFill>
                <a:latin typeface="Arial"/>
              </a:rPr>
              <a:t>Alternative and criterion: the right tool is a tabular predictive model with a measurable error. Even it is not enough under a non-stationary environment + an irreversible capital action without human control.</a:t>
            </a:r>
          </a:p>
        </p:txBody>
      </p:sp>
      <p:sp>
        <p:nvSpPr>
          <p:cNvPr id="17" name="Rounded Rectangle 16"/>
          <p:cNvSpPr/>
          <p:nvPr/>
        </p:nvSpPr>
        <p:spPr>
          <a:xfrm>
            <a:off x="502920" y="4645152"/>
            <a:ext cx="11201400"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4700016"/>
            <a:ext cx="10762488" cy="676656"/>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Tasks: demand forecasting (shelf / procurement), cash-flow (liquidity), customer churn (whom to retain).</a:t>
            </a:r>
          </a:p>
        </p:txBody>
      </p:sp>
      <p:sp>
        <p:nvSpPr>
          <p:cNvPr id="19" name="TextBox 18"/>
          <p:cNvSpPr txBox="1"/>
          <p:nvPr/>
        </p:nvSpPr>
        <p:spPr>
          <a:xfrm>
            <a:off x="502920" y="6437376"/>
            <a:ext cx="11201400" cy="310896"/>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If the series contain PII of Russian citizens, sending them to a public cloud LLM violates localization requirements (Federal Law 152-FZ); a tabular model is deployed on-premise.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The forecast is dictated by the task: neither X5 nor Magnit chose an LLM.</a:t>
            </a:r>
          </a:p>
        </p:txBody>
      </p:sp>
      <p:sp>
        <p:nvSpPr>
          <p:cNvPr id="3" name="Rounded Rectangle 2"/>
          <p:cNvSpPr/>
          <p:nvPr/>
        </p:nvSpPr>
        <p:spPr>
          <a:xfrm>
            <a:off x="502920" y="1188720"/>
            <a:ext cx="5577840" cy="3611880"/>
          </a:xfrm>
          <a:prstGeom prst="roundRect">
            <a:avLst>
              <a:gd name="adj" fmla="val 843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1335024"/>
            <a:ext cx="5102352" cy="310896"/>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X5 Group · «Pyaterochka», «Perekrestok»</a:t>
            </a:r>
          </a:p>
        </p:txBody>
      </p:sp>
      <p:sp>
        <p:nvSpPr>
          <p:cNvPr id="5" name="Rounded Rectangle 4"/>
          <p:cNvSpPr/>
          <p:nvPr/>
        </p:nvSpPr>
        <p:spPr>
          <a:xfrm>
            <a:off x="740664" y="1719072"/>
            <a:ext cx="5102352" cy="87782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5256" y="1810512"/>
            <a:ext cx="3474720" cy="694944"/>
          </a:xfrm>
          <a:prstGeom prst="rect">
            <a:avLst/>
          </a:prstGeom>
          <a:noFill/>
        </p:spPr>
        <p:txBody>
          <a:bodyPr wrap="square" lIns="0" rIns="0" tIns="0" bIns="0" anchor="ctr">
            <a:spAutoFit/>
          </a:bodyPr>
          <a:lstStyle/>
          <a:p>
            <a:pPr algn="l">
              <a:lnSpc>
                <a:spcPct val="105000"/>
              </a:lnSpc>
            </a:pPr>
            <a:r>
              <a:rPr sz="1250" b="1" i="0">
                <a:solidFill>
                  <a:srgbClr val="065A82"/>
                </a:solidFill>
                <a:latin typeface="Arial"/>
              </a:rPr>
              <a:t>Demand forecast accuracy</a:t>
            </a:r>
          </a:p>
        </p:txBody>
      </p:sp>
      <p:sp>
        <p:nvSpPr>
          <p:cNvPr id="7" name="TextBox 6"/>
          <p:cNvSpPr txBox="1"/>
          <p:nvPr/>
        </p:nvSpPr>
        <p:spPr>
          <a:xfrm>
            <a:off x="4206240" y="1773936"/>
            <a:ext cx="1517904" cy="768096"/>
          </a:xfrm>
          <a:prstGeom prst="rect">
            <a:avLst/>
          </a:prstGeom>
          <a:noFill/>
        </p:spPr>
        <p:txBody>
          <a:bodyPr wrap="square" lIns="0" rIns="0" tIns="0" bIns="0" anchor="ctr">
            <a:spAutoFit/>
          </a:bodyPr>
          <a:lstStyle/>
          <a:p>
            <a:pPr algn="r">
              <a:lnSpc>
                <a:spcPct val="115000"/>
              </a:lnSpc>
            </a:pPr>
            <a:r>
              <a:rPr sz="2200" b="1" i="0">
                <a:solidFill>
                  <a:srgbClr val="21295C"/>
                </a:solidFill>
                <a:latin typeface="Arial"/>
              </a:rPr>
              <a:t>&gt; 70%</a:t>
            </a:r>
          </a:p>
        </p:txBody>
      </p:sp>
      <p:sp>
        <p:nvSpPr>
          <p:cNvPr id="8" name="Rounded Rectangle 7"/>
          <p:cNvSpPr/>
          <p:nvPr/>
        </p:nvSpPr>
        <p:spPr>
          <a:xfrm>
            <a:off x="740664" y="2670048"/>
            <a:ext cx="5102352" cy="87782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761488"/>
            <a:ext cx="3474720" cy="694944"/>
          </a:xfrm>
          <a:prstGeom prst="rect">
            <a:avLst/>
          </a:prstGeom>
          <a:noFill/>
        </p:spPr>
        <p:txBody>
          <a:bodyPr wrap="square" lIns="0" rIns="0" tIns="0" bIns="0" anchor="ctr">
            <a:spAutoFit/>
          </a:bodyPr>
          <a:lstStyle/>
          <a:p>
            <a:pPr algn="l">
              <a:lnSpc>
                <a:spcPct val="105000"/>
              </a:lnSpc>
            </a:pPr>
            <a:r>
              <a:rPr sz="1250" b="1" i="0">
                <a:solidFill>
                  <a:srgbClr val="065A82"/>
                </a:solidFill>
                <a:latin typeface="Arial"/>
              </a:rPr>
              <a:t>Extra revenue from ML tools</a:t>
            </a:r>
          </a:p>
        </p:txBody>
      </p:sp>
      <p:sp>
        <p:nvSpPr>
          <p:cNvPr id="10" name="TextBox 9"/>
          <p:cNvSpPr txBox="1"/>
          <p:nvPr/>
        </p:nvSpPr>
        <p:spPr>
          <a:xfrm>
            <a:off x="4206240" y="2724912"/>
            <a:ext cx="1517904" cy="768096"/>
          </a:xfrm>
          <a:prstGeom prst="rect">
            <a:avLst/>
          </a:prstGeom>
          <a:noFill/>
        </p:spPr>
        <p:txBody>
          <a:bodyPr wrap="square" lIns="0" rIns="0" tIns="0" bIns="0" anchor="ctr">
            <a:spAutoFit/>
          </a:bodyPr>
          <a:lstStyle/>
          <a:p>
            <a:pPr algn="r">
              <a:lnSpc>
                <a:spcPct val="115000"/>
              </a:lnSpc>
            </a:pPr>
            <a:r>
              <a:rPr sz="2200" b="1" i="0">
                <a:solidFill>
                  <a:srgbClr val="F0AB00"/>
                </a:solidFill>
                <a:latin typeface="Arial"/>
              </a:rPr>
              <a:t>+5 bn ₽</a:t>
            </a:r>
          </a:p>
        </p:txBody>
      </p:sp>
      <p:sp>
        <p:nvSpPr>
          <p:cNvPr id="11" name="Rounded Rectangle 10"/>
          <p:cNvSpPr/>
          <p:nvPr/>
        </p:nvSpPr>
        <p:spPr>
          <a:xfrm>
            <a:off x="740664" y="3621024"/>
            <a:ext cx="5102352" cy="87782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3712463"/>
            <a:ext cx="3474720" cy="694944"/>
          </a:xfrm>
          <a:prstGeom prst="rect">
            <a:avLst/>
          </a:prstGeom>
          <a:noFill/>
        </p:spPr>
        <p:txBody>
          <a:bodyPr wrap="square" lIns="0" rIns="0" tIns="0" bIns="0" anchor="ctr">
            <a:spAutoFit/>
          </a:bodyPr>
          <a:lstStyle/>
          <a:p>
            <a:pPr algn="l">
              <a:lnSpc>
                <a:spcPct val="105000"/>
              </a:lnSpc>
            </a:pPr>
            <a:r>
              <a:rPr sz="1250" b="1" i="0">
                <a:solidFill>
                  <a:srgbClr val="065A82"/>
                </a:solidFill>
                <a:latin typeface="Arial"/>
              </a:rPr>
              <a:t>Expiry write-offs</a:t>
            </a:r>
          </a:p>
        </p:txBody>
      </p:sp>
      <p:sp>
        <p:nvSpPr>
          <p:cNvPr id="13" name="TextBox 12"/>
          <p:cNvSpPr txBox="1"/>
          <p:nvPr/>
        </p:nvSpPr>
        <p:spPr>
          <a:xfrm>
            <a:off x="4206240" y="3675887"/>
            <a:ext cx="1517904" cy="768096"/>
          </a:xfrm>
          <a:prstGeom prst="rect">
            <a:avLst/>
          </a:prstGeom>
          <a:noFill/>
        </p:spPr>
        <p:txBody>
          <a:bodyPr wrap="square" lIns="0" rIns="0" tIns="0" bIns="0" anchor="ctr">
            <a:spAutoFit/>
          </a:bodyPr>
          <a:lstStyle/>
          <a:p>
            <a:pPr algn="r">
              <a:lnSpc>
                <a:spcPct val="115000"/>
              </a:lnSpc>
            </a:pPr>
            <a:r>
              <a:rPr sz="2200" b="1" i="0">
                <a:solidFill>
                  <a:srgbClr val="21295C"/>
                </a:solidFill>
                <a:latin typeface="Arial"/>
              </a:rPr>
              <a:t>−2%</a:t>
            </a:r>
          </a:p>
        </p:txBody>
      </p:sp>
      <p:sp>
        <p:nvSpPr>
          <p:cNvPr id="14" name="Rounded Rectangle 13"/>
          <p:cNvSpPr/>
          <p:nvPr/>
        </p:nvSpPr>
        <p:spPr>
          <a:xfrm>
            <a:off x="6263640" y="1188720"/>
            <a:ext cx="5440680" cy="3611880"/>
          </a:xfrm>
          <a:prstGeom prst="roundRect">
            <a:avLst>
              <a:gd name="adj" fmla="val 843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3" y="1335024"/>
            <a:ext cx="4965192" cy="310896"/>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Magnit — import substitution of forecasting systems</a:t>
            </a:r>
          </a:p>
        </p:txBody>
      </p:sp>
      <p:sp>
        <p:nvSpPr>
          <p:cNvPr id="16" name="TextBox 15"/>
          <p:cNvSpPr txBox="1"/>
          <p:nvPr/>
        </p:nvSpPr>
        <p:spPr>
          <a:xfrm>
            <a:off x="6501383" y="1755648"/>
            <a:ext cx="1417320" cy="603504"/>
          </a:xfrm>
          <a:prstGeom prst="rect">
            <a:avLst/>
          </a:prstGeom>
          <a:noFill/>
        </p:spPr>
        <p:txBody>
          <a:bodyPr wrap="square" lIns="0" rIns="0" tIns="0" bIns="0" anchor="ctr">
            <a:spAutoFit/>
          </a:bodyPr>
          <a:lstStyle/>
          <a:p>
            <a:pPr algn="l">
              <a:lnSpc>
                <a:spcPct val="115000"/>
              </a:lnSpc>
            </a:pPr>
            <a:r>
              <a:rPr sz="1250" b="1" i="0">
                <a:solidFill>
                  <a:srgbClr val="028090"/>
                </a:solidFill>
                <a:latin typeface="Arial"/>
              </a:rPr>
              <a:t>Before 2022:</a:t>
            </a:r>
          </a:p>
        </p:txBody>
      </p:sp>
      <p:sp>
        <p:nvSpPr>
          <p:cNvPr id="17" name="TextBox 16"/>
          <p:cNvSpPr txBox="1"/>
          <p:nvPr/>
        </p:nvSpPr>
        <p:spPr>
          <a:xfrm>
            <a:off x="7964423" y="1755648"/>
            <a:ext cx="3502152" cy="603504"/>
          </a:xfrm>
          <a:prstGeom prst="rect">
            <a:avLst/>
          </a:prstGeom>
          <a:noFill/>
        </p:spPr>
        <p:txBody>
          <a:bodyPr wrap="square" lIns="0" rIns="0" tIns="0" bIns="0" anchor="ctr">
            <a:spAutoFit/>
          </a:bodyPr>
          <a:lstStyle/>
          <a:p>
            <a:pPr algn="l">
              <a:lnSpc>
                <a:spcPct val="105000"/>
              </a:lnSpc>
            </a:pPr>
            <a:r>
              <a:rPr sz="1250" b="0" i="0">
                <a:solidFill>
                  <a:srgbClr val="21295C"/>
                </a:solidFill>
                <a:latin typeface="Arial"/>
              </a:rPr>
              <a:t>foreign vendors of the SAP / Blue Yonder class</a:t>
            </a:r>
          </a:p>
        </p:txBody>
      </p:sp>
      <p:sp>
        <p:nvSpPr>
          <p:cNvPr id="18" name="TextBox 17"/>
          <p:cNvSpPr txBox="1"/>
          <p:nvPr/>
        </p:nvSpPr>
        <p:spPr>
          <a:xfrm>
            <a:off x="6501383" y="2432304"/>
            <a:ext cx="1417320" cy="603504"/>
          </a:xfrm>
          <a:prstGeom prst="rect">
            <a:avLst/>
          </a:prstGeom>
          <a:noFill/>
        </p:spPr>
        <p:txBody>
          <a:bodyPr wrap="square" lIns="0" rIns="0" tIns="0" bIns="0" anchor="ctr">
            <a:spAutoFit/>
          </a:bodyPr>
          <a:lstStyle/>
          <a:p>
            <a:pPr algn="l">
              <a:lnSpc>
                <a:spcPct val="115000"/>
              </a:lnSpc>
            </a:pPr>
            <a:r>
              <a:rPr sz="1250" b="1" i="0">
                <a:solidFill>
                  <a:srgbClr val="028090"/>
                </a:solidFill>
                <a:latin typeface="Arial"/>
              </a:rPr>
              <a:t>After they left:</a:t>
            </a:r>
          </a:p>
        </p:txBody>
      </p:sp>
      <p:sp>
        <p:nvSpPr>
          <p:cNvPr id="19" name="TextBox 18"/>
          <p:cNvSpPr txBox="1"/>
          <p:nvPr/>
        </p:nvSpPr>
        <p:spPr>
          <a:xfrm>
            <a:off x="7964423" y="2432304"/>
            <a:ext cx="3502152" cy="603504"/>
          </a:xfrm>
          <a:prstGeom prst="rect">
            <a:avLst/>
          </a:prstGeom>
          <a:noFill/>
        </p:spPr>
        <p:txBody>
          <a:bodyPr wrap="square" lIns="0" rIns="0" tIns="0" bIns="0" anchor="ctr">
            <a:spAutoFit/>
          </a:bodyPr>
          <a:lstStyle/>
          <a:p>
            <a:pPr algn="l">
              <a:lnSpc>
                <a:spcPct val="105000"/>
              </a:lnSpc>
            </a:pPr>
            <a:r>
              <a:rPr sz="1250" b="0" i="0">
                <a:solidFill>
                  <a:srgbClr val="21295C"/>
                </a:solidFill>
                <a:latin typeface="Arial"/>
              </a:rPr>
              <a:t>own forecasting + auto-ordering system (F&amp;R)</a:t>
            </a:r>
          </a:p>
        </p:txBody>
      </p:sp>
      <p:sp>
        <p:nvSpPr>
          <p:cNvPr id="20" name="TextBox 19"/>
          <p:cNvSpPr txBox="1"/>
          <p:nvPr/>
        </p:nvSpPr>
        <p:spPr>
          <a:xfrm>
            <a:off x="6501383" y="3108960"/>
            <a:ext cx="1417320" cy="603504"/>
          </a:xfrm>
          <a:prstGeom prst="rect">
            <a:avLst/>
          </a:prstGeom>
          <a:noFill/>
        </p:spPr>
        <p:txBody>
          <a:bodyPr wrap="square" lIns="0" rIns="0" tIns="0" bIns="0" anchor="ctr">
            <a:spAutoFit/>
          </a:bodyPr>
          <a:lstStyle/>
          <a:p>
            <a:pPr algn="l">
              <a:lnSpc>
                <a:spcPct val="115000"/>
              </a:lnSpc>
            </a:pPr>
            <a:r>
              <a:rPr sz="1250" b="1" i="0">
                <a:solidFill>
                  <a:srgbClr val="028090"/>
                </a:solidFill>
                <a:latin typeface="Arial"/>
              </a:rPr>
              <a:t>Status:</a:t>
            </a:r>
          </a:p>
        </p:txBody>
      </p:sp>
      <p:sp>
        <p:nvSpPr>
          <p:cNvPr id="21" name="TextBox 20"/>
          <p:cNvSpPr txBox="1"/>
          <p:nvPr/>
        </p:nvSpPr>
        <p:spPr>
          <a:xfrm>
            <a:off x="7964423" y="3108960"/>
            <a:ext cx="3502152" cy="603504"/>
          </a:xfrm>
          <a:prstGeom prst="rect">
            <a:avLst/>
          </a:prstGeom>
          <a:noFill/>
        </p:spPr>
        <p:txBody>
          <a:bodyPr wrap="square" lIns="0" rIns="0" tIns="0" bIns="0" anchor="ctr">
            <a:spAutoFit/>
          </a:bodyPr>
          <a:lstStyle/>
          <a:p>
            <a:pPr algn="l">
              <a:lnSpc>
                <a:spcPct val="105000"/>
              </a:lnSpc>
            </a:pPr>
            <a:r>
              <a:rPr sz="1250" b="0" i="0">
                <a:solidFill>
                  <a:srgbClr val="21295C"/>
                </a:solidFill>
                <a:latin typeface="Arial"/>
              </a:rPr>
              <a:t>pilot at a distribution center (2024–2025)</a:t>
            </a:r>
          </a:p>
        </p:txBody>
      </p:sp>
      <p:sp>
        <p:nvSpPr>
          <p:cNvPr id="22" name="Rounded Rectangle 21"/>
          <p:cNvSpPr/>
          <p:nvPr/>
        </p:nvSpPr>
        <p:spPr>
          <a:xfrm>
            <a:off x="6263640" y="3858768"/>
            <a:ext cx="5440680" cy="82296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3096" y="3913631"/>
            <a:ext cx="5001768" cy="713232"/>
          </a:xfrm>
          <a:prstGeom prst="rect">
            <a:avLst/>
          </a:prstGeom>
          <a:noFill/>
        </p:spPr>
        <p:txBody>
          <a:bodyPr wrap="square" lIns="0" rIns="0" tIns="0" bIns="0" anchor="ctr">
            <a:spAutoFit/>
          </a:bodyPr>
          <a:lstStyle/>
          <a:p>
            <a:pPr algn="l">
              <a:lnSpc>
                <a:spcPct val="118000"/>
              </a:lnSpc>
            </a:pPr>
            <a:r>
              <a:rPr sz="1250" b="0" i="0">
                <a:solidFill>
                  <a:srgbClr val="21295C"/>
                </a:solidFill>
                <a:latin typeface="Arial"/>
              </a:rPr>
              <a:t>The departure of foreign vendors made import substitution of forecasting systems a direct engineering task for the industry.</a:t>
            </a:r>
          </a:p>
        </p:txBody>
      </p:sp>
      <p:sp>
        <p:nvSpPr>
          <p:cNvPr id="24" name="Rounded Rectangle 23"/>
          <p:cNvSpPr/>
          <p:nvPr/>
        </p:nvSpPr>
        <p:spPr>
          <a:xfrm>
            <a:off x="502920" y="4937760"/>
            <a:ext cx="11201400" cy="80467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4992624"/>
            <a:ext cx="10762488" cy="694944"/>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Neither X5 nor Magnit solves the task with a language model — they build specialized forecasting systems, because the TYPE OF AI IS DICTATED BY THE TASK.</a:t>
            </a:r>
          </a:p>
        </p:txBody>
      </p:sp>
      <p:sp>
        <p:nvSpPr>
          <p:cNvPr id="26" name="TextBox 25"/>
          <p:cNvSpPr txBox="1"/>
          <p:nvPr/>
        </p:nvSpPr>
        <p:spPr>
          <a:xfrm>
            <a:off x="502920" y="6437376"/>
            <a:ext cx="11201400" cy="310896"/>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Per company data and industry reviews (X5/TAdviser 2023; shoppers.media/TAdviser 2024–2025); the numbers are as claimed by the companies, verified on the day of the lecture.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300" b="1" i="0">
                <a:solidFill>
                  <a:srgbClr val="21295C"/>
                </a:solidFill>
                <a:latin typeface="Arial"/>
              </a:rPr>
              <a:t>A forecast extends the patterns of the past — here lie both its strength and its vulnerability.</a:t>
            </a:r>
          </a:p>
        </p:txBody>
      </p:sp>
      <p:sp>
        <p:nvSpPr>
          <p:cNvPr id="3" name="Rounded Rectangle 2"/>
          <p:cNvSpPr/>
          <p:nvPr/>
        </p:nvSpPr>
        <p:spPr>
          <a:xfrm>
            <a:off x="502920" y="1115568"/>
            <a:ext cx="6675120" cy="3611880"/>
          </a:xfrm>
          <a:prstGeom prst="roundRect">
            <a:avLst>
              <a:gd name="adj" fmla="val 843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08-timeseries-decomp.png"/>
          <p:cNvPicPr>
            <a:picLocks noChangeAspect="1"/>
          </p:cNvPicPr>
          <p:nvPr/>
        </p:nvPicPr>
        <p:blipFill>
          <a:blip r:embed="rId2"/>
          <a:stretch>
            <a:fillRect/>
          </a:stretch>
        </p:blipFill>
        <p:spPr>
          <a:xfrm>
            <a:off x="685800" y="1463451"/>
            <a:ext cx="6309359" cy="2641793"/>
          </a:xfrm>
          <a:prstGeom prst="rect">
            <a:avLst/>
          </a:prstGeom>
        </p:spPr>
      </p:pic>
      <p:sp>
        <p:nvSpPr>
          <p:cNvPr id="5" name="TextBox 4"/>
          <p:cNvSpPr txBox="1"/>
          <p:nvPr/>
        </p:nvSpPr>
        <p:spPr>
          <a:xfrm>
            <a:off x="722376" y="4343400"/>
            <a:ext cx="6236208" cy="310896"/>
          </a:xfrm>
          <a:prstGeom prst="rect">
            <a:avLst/>
          </a:prstGeom>
          <a:noFill/>
        </p:spPr>
        <p:txBody>
          <a:bodyPr wrap="square" lIns="0" rIns="0" tIns="0" bIns="0" anchor="ctr">
            <a:spAutoFit/>
          </a:bodyPr>
          <a:lstStyle/>
          <a:p>
            <a:pPr algn="l">
              <a:lnSpc>
                <a:spcPct val="105000"/>
              </a:lnSpc>
            </a:pPr>
            <a:r>
              <a:rPr sz="1050" b="0" i="1">
                <a:solidFill>
                  <a:srgbClr val="5B6678"/>
                </a:solidFill>
                <a:latin typeface="Arial"/>
              </a:rPr>
              <a:t>Any sales series = trend + seasonality + noise; the model extends the regular part.</a:t>
            </a:r>
          </a:p>
        </p:txBody>
      </p:sp>
      <p:sp>
        <p:nvSpPr>
          <p:cNvPr id="6" name="Rounded Rectangle 5"/>
          <p:cNvSpPr/>
          <p:nvPr/>
        </p:nvSpPr>
        <p:spPr>
          <a:xfrm>
            <a:off x="7360920" y="1115568"/>
            <a:ext cx="4343400" cy="3611880"/>
          </a:xfrm>
          <a:prstGeom prst="roundRect">
            <a:avLst>
              <a:gd name="adj" fmla="val 843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0376" y="1261872"/>
            <a:ext cx="3904487" cy="274320"/>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What the model does — numerically</a:t>
            </a:r>
          </a:p>
        </p:txBody>
      </p:sp>
      <p:sp>
        <p:nvSpPr>
          <p:cNvPr id="8" name="Oval 7"/>
          <p:cNvSpPr/>
          <p:nvPr/>
        </p:nvSpPr>
        <p:spPr>
          <a:xfrm>
            <a:off x="7598664" y="1655064"/>
            <a:ext cx="109728" cy="1097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36408" y="1609344"/>
            <a:ext cx="3630168" cy="512064"/>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decomposes history into trend + seasonality + noise</a:t>
            </a:r>
          </a:p>
        </p:txBody>
      </p:sp>
      <p:sp>
        <p:nvSpPr>
          <p:cNvPr id="10" name="Oval 9"/>
          <p:cNvSpPr/>
          <p:nvPr/>
        </p:nvSpPr>
        <p:spPr>
          <a:xfrm>
            <a:off x="7598664" y="2185415"/>
            <a:ext cx="109728" cy="1097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36408" y="2139696"/>
            <a:ext cx="3630168" cy="512064"/>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learns the regular patterns and extends them</a:t>
            </a:r>
          </a:p>
        </p:txBody>
      </p:sp>
      <p:sp>
        <p:nvSpPr>
          <p:cNvPr id="12" name="Oval 11"/>
          <p:cNvSpPr/>
          <p:nvPr/>
        </p:nvSpPr>
        <p:spPr>
          <a:xfrm>
            <a:off x="7598664" y="2715768"/>
            <a:ext cx="109728" cy="1097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36408" y="2670048"/>
            <a:ext cx="3630168" cy="512064"/>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adds corrections for promo / holiday</a:t>
            </a:r>
          </a:p>
        </p:txBody>
      </p:sp>
      <p:sp>
        <p:nvSpPr>
          <p:cNvPr id="14" name="TextBox 13"/>
          <p:cNvSpPr txBox="1"/>
          <p:nvPr/>
        </p:nvSpPr>
        <p:spPr>
          <a:xfrm>
            <a:off x="7580376" y="3255264"/>
            <a:ext cx="3904487" cy="420624"/>
          </a:xfrm>
          <a:prstGeom prst="rect">
            <a:avLst/>
          </a:prstGeom>
          <a:noFill/>
        </p:spPr>
        <p:txBody>
          <a:bodyPr wrap="square" lIns="0" rIns="0" tIns="0" bIns="0" anchor="t">
            <a:spAutoFit/>
          </a:bodyPr>
          <a:lstStyle/>
          <a:p>
            <a:pPr algn="l">
              <a:lnSpc>
                <a:spcPct val="108000"/>
              </a:lnSpc>
            </a:pPr>
            <a:r>
              <a:rPr sz="1200" b="1" i="0">
                <a:solidFill>
                  <a:srgbClr val="028090"/>
                </a:solidFill>
                <a:latin typeface="Arial"/>
              </a:rPr>
              <a:t>Forecast → action: «demand ≈ N» → «order N + buffer»</a:t>
            </a:r>
          </a:p>
        </p:txBody>
      </p:sp>
      <p:sp>
        <p:nvSpPr>
          <p:cNvPr id="15" name="TextBox 14"/>
          <p:cNvSpPr txBox="1"/>
          <p:nvPr/>
        </p:nvSpPr>
        <p:spPr>
          <a:xfrm>
            <a:off x="7580376" y="3767328"/>
            <a:ext cx="3904487" cy="914400"/>
          </a:xfrm>
          <a:prstGeom prst="rect">
            <a:avLst/>
          </a:prstGeom>
          <a:noFill/>
        </p:spPr>
        <p:txBody>
          <a:bodyPr wrap="square" lIns="0" rIns="0" tIns="0" bIns="0" anchor="t">
            <a:spAutoFit/>
          </a:bodyPr>
          <a:lstStyle/>
          <a:p>
            <a:pPr algn="l">
              <a:lnSpc>
                <a:spcPct val="116000"/>
              </a:lnSpc>
            </a:pPr>
            <a:r>
              <a:rPr sz="1150" b="0" i="1">
                <a:solidFill>
                  <a:srgbClr val="5B6678"/>
                </a:solidFill>
                <a:latin typeface="Arial"/>
              </a:rPr>
              <a:t>Analogy: a forecasting model is like an experienced buyer «stock up more for the weekend», but for millions of store × product pairs at once.</a:t>
            </a:r>
          </a:p>
        </p:txBody>
      </p:sp>
      <p:sp>
        <p:nvSpPr>
          <p:cNvPr id="16" name="Rounded Rectangle 15"/>
          <p:cNvSpPr/>
          <p:nvPr/>
        </p:nvSpPr>
        <p:spPr>
          <a:xfrm>
            <a:off x="502920" y="4864608"/>
            <a:ext cx="11201400" cy="87782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4919472"/>
            <a:ext cx="10762488" cy="768096"/>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Built-in vulnerability: a forecast is strong exactly as long as TOMORROW RESEMBLES YESTERDAY. When the environment changes qualitatively — the model confidently extrapolates patterns that no longer exist. The key to the next slide.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What ruined Zillow was not model drift, but what its output was wired to.</a:t>
            </a:r>
          </a:p>
        </p:txBody>
      </p:sp>
      <p:sp>
        <p:nvSpPr>
          <p:cNvPr id="3" name="Rounded Rectangle 2"/>
          <p:cNvSpPr/>
          <p:nvPr/>
        </p:nvSpPr>
        <p:spPr>
          <a:xfrm>
            <a:off x="502920" y="1060704"/>
            <a:ext cx="6446520" cy="3749039"/>
          </a:xfrm>
          <a:prstGeom prst="roundRect">
            <a:avLst>
              <a:gd name="adj" fmla="val 81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1243584"/>
            <a:ext cx="5971031" cy="256032"/>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distribution shift</a:t>
            </a:r>
          </a:p>
        </p:txBody>
      </p:sp>
      <p:sp>
        <p:nvSpPr>
          <p:cNvPr id="5" name="TextBox 4"/>
          <p:cNvSpPr txBox="1"/>
          <p:nvPr/>
        </p:nvSpPr>
        <p:spPr>
          <a:xfrm>
            <a:off x="740664" y="1517904"/>
            <a:ext cx="5971031" cy="548640"/>
          </a:xfrm>
          <a:prstGeom prst="rect">
            <a:avLst/>
          </a:prstGeom>
          <a:noFill/>
        </p:spPr>
        <p:txBody>
          <a:bodyPr wrap="square" lIns="0" rIns="0" tIns="0" bIns="0" anchor="t">
            <a:spAutoFit/>
          </a:bodyPr>
          <a:lstStyle/>
          <a:p>
            <a:pPr algn="l">
              <a:lnSpc>
                <a:spcPct val="112000"/>
              </a:lnSpc>
            </a:pPr>
            <a:r>
              <a:rPr sz="1200" b="0" i="0">
                <a:solidFill>
                  <a:srgbClr val="21295C"/>
                </a:solidFill>
                <a:latin typeface="Arial"/>
              </a:rPr>
              <a:t>the real data stopped resembling the training data — the housing market of 2020–2021 became statistically different</a:t>
            </a:r>
          </a:p>
        </p:txBody>
      </p:sp>
      <p:sp>
        <p:nvSpPr>
          <p:cNvPr id="6" name="TextBox 5"/>
          <p:cNvSpPr txBox="1"/>
          <p:nvPr/>
        </p:nvSpPr>
        <p:spPr>
          <a:xfrm>
            <a:off x="740664" y="2176272"/>
            <a:ext cx="5971031" cy="256032"/>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asymmetry of the cost of error</a:t>
            </a:r>
          </a:p>
        </p:txBody>
      </p:sp>
      <p:sp>
        <p:nvSpPr>
          <p:cNvPr id="7" name="TextBox 6"/>
          <p:cNvSpPr txBox="1"/>
          <p:nvPr/>
        </p:nvSpPr>
        <p:spPr>
          <a:xfrm>
            <a:off x="740664" y="2450591"/>
            <a:ext cx="5971031" cy="548640"/>
          </a:xfrm>
          <a:prstGeom prst="rect">
            <a:avLst/>
          </a:prstGeom>
          <a:noFill/>
        </p:spPr>
        <p:txBody>
          <a:bodyPr wrap="square" lIns="0" rIns="0" tIns="0" bIns="0" anchor="t">
            <a:spAutoFit/>
          </a:bodyPr>
          <a:lstStyle/>
          <a:p>
            <a:pPr algn="l">
              <a:lnSpc>
                <a:spcPct val="112000"/>
              </a:lnSpc>
            </a:pPr>
            <a:r>
              <a:rPr sz="1200" b="0" i="0">
                <a:solidFill>
                  <a:srgbClr val="21295C"/>
                </a:solidFill>
                <a:latin typeface="Arial"/>
              </a:rPr>
              <a:t>a recommendation error ≈ 0 · the same error on which a house is bought = tens of thousands of $ × N, and IRREVERSIBLE</a:t>
            </a:r>
          </a:p>
        </p:txBody>
      </p:sp>
      <p:sp>
        <p:nvSpPr>
          <p:cNvPr id="8" name="TextBox 7"/>
          <p:cNvSpPr txBox="1"/>
          <p:nvPr/>
        </p:nvSpPr>
        <p:spPr>
          <a:xfrm>
            <a:off x="740664" y="3108960"/>
            <a:ext cx="5971031" cy="256032"/>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Three things together = fatal</a:t>
            </a:r>
          </a:p>
        </p:txBody>
      </p:sp>
      <p:sp>
        <p:nvSpPr>
          <p:cNvPr id="9" name="TextBox 8"/>
          <p:cNvSpPr txBox="1"/>
          <p:nvPr/>
        </p:nvSpPr>
        <p:spPr>
          <a:xfrm>
            <a:off x="740664" y="3383279"/>
            <a:ext cx="5971031" cy="548640"/>
          </a:xfrm>
          <a:prstGeom prst="rect">
            <a:avLst/>
          </a:prstGeom>
          <a:noFill/>
        </p:spPr>
        <p:txBody>
          <a:bodyPr wrap="square" lIns="0" rIns="0" tIns="0" bIns="0" anchor="t">
            <a:spAutoFit/>
          </a:bodyPr>
          <a:lstStyle/>
          <a:p>
            <a:pPr algn="l">
              <a:lnSpc>
                <a:spcPct val="112000"/>
              </a:lnSpc>
            </a:pPr>
            <a:r>
              <a:rPr sz="1200" b="0" i="0">
                <a:solidFill>
                  <a:srgbClr val="21295C"/>
                </a:solidFill>
                <a:latin typeface="Arial"/>
              </a:rPr>
              <a:t>irreversible action × automated on the model's output × a non-stationary environment without a circuit-breaker (auto-stop on anomaly)</a:t>
            </a:r>
          </a:p>
        </p:txBody>
      </p:sp>
      <p:sp>
        <p:nvSpPr>
          <p:cNvPr id="10" name="Rounded Rectangle 9"/>
          <p:cNvSpPr/>
          <p:nvPr/>
        </p:nvSpPr>
        <p:spPr>
          <a:xfrm>
            <a:off x="740664" y="4078224"/>
            <a:ext cx="5971031" cy="566928"/>
          </a:xfrm>
          <a:prstGeom prst="roundRect">
            <a:avLst>
              <a:gd name="adj" fmla="val 14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4078224"/>
            <a:ext cx="5678424" cy="566928"/>
          </a:xfrm>
          <a:prstGeom prst="rect">
            <a:avLst/>
          </a:prstGeom>
          <a:noFill/>
        </p:spPr>
        <p:txBody>
          <a:bodyPr wrap="square" lIns="0" rIns="0" tIns="0" bIns="0" anchor="ctr">
            <a:spAutoFit/>
          </a:bodyPr>
          <a:lstStyle/>
          <a:p>
            <a:pPr algn="l">
              <a:lnSpc>
                <a:spcPct val="105000"/>
              </a:lnSpc>
            </a:pPr>
            <a:r>
              <a:rPr sz="1150" b="1" i="0">
                <a:solidFill>
                  <a:srgbClr val="028090"/>
                </a:solidFill>
                <a:latin typeface="Arial"/>
              </a:rPr>
              <a:t>Knight Capital, 2012: $440M / ~45 min on a deterministic algorithm — the same class of error</a:t>
            </a:r>
          </a:p>
        </p:txBody>
      </p:sp>
      <p:sp>
        <p:nvSpPr>
          <p:cNvPr id="12" name="Rounded Rectangle 11"/>
          <p:cNvSpPr/>
          <p:nvPr/>
        </p:nvSpPr>
        <p:spPr>
          <a:xfrm>
            <a:off x="7132320" y="1060704"/>
            <a:ext cx="457200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0064" y="1188719"/>
            <a:ext cx="4096512" cy="27432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Zillow vs Opendoor</a:t>
            </a:r>
          </a:p>
        </p:txBody>
      </p:sp>
      <p:sp>
        <p:nvSpPr>
          <p:cNvPr id="14" name="TextBox 13"/>
          <p:cNvSpPr txBox="1"/>
          <p:nvPr/>
        </p:nvSpPr>
        <p:spPr>
          <a:xfrm>
            <a:off x="7370064" y="1499616"/>
            <a:ext cx="4096512" cy="932688"/>
          </a:xfrm>
          <a:prstGeom prst="rect">
            <a:avLst/>
          </a:prstGeom>
          <a:noFill/>
        </p:spPr>
        <p:txBody>
          <a:bodyPr wrap="square" lIns="0" rIns="0" tIns="0" bIns="0" anchor="t">
            <a:spAutoFit/>
          </a:bodyPr>
          <a:lstStyle/>
          <a:p>
            <a:pPr algn="l">
              <a:lnSpc>
                <a:spcPct val="116000"/>
              </a:lnSpc>
            </a:pPr>
            <a:r>
              <a:rPr sz="1250" b="0" i="0">
                <a:solidFill>
                  <a:srgbClr val="21295C"/>
                </a:solidFill>
                <a:latin typeface="Arial"/>
              </a:rPr>
              <a:t>The same type of AI, the same period. Opendoor survived thanks to a more conservative spread and risk design.</a:t>
            </a:r>
          </a:p>
        </p:txBody>
      </p:sp>
      <p:sp>
        <p:nvSpPr>
          <p:cNvPr id="15" name="Rounded Rectangle 14"/>
          <p:cNvSpPr/>
          <p:nvPr/>
        </p:nvSpPr>
        <p:spPr>
          <a:xfrm>
            <a:off x="7132320" y="2688336"/>
            <a:ext cx="4572000" cy="2121408"/>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51775" y="2743200"/>
            <a:ext cx="4133087" cy="2011679"/>
          </a:xfrm>
          <a:prstGeom prst="rect">
            <a:avLst/>
          </a:prstGeom>
          <a:noFill/>
        </p:spPr>
        <p:txBody>
          <a:bodyPr wrap="square" lIns="0" rIns="0" tIns="0" bIns="0" anchor="ctr">
            <a:spAutoFit/>
          </a:bodyPr>
          <a:lstStyle/>
          <a:p>
            <a:pPr algn="l">
              <a:lnSpc>
                <a:spcPct val="118000"/>
              </a:lnSpc>
            </a:pPr>
            <a:r>
              <a:rPr sz="1200" b="0" i="0">
                <a:solidFill>
                  <a:srgbClr val="21295C"/>
                </a:solidFill>
                <a:latin typeface="Arial"/>
              </a:rPr>
              <a:t>It is dangerous when simultaneously: (a) the output triggers a large irreversible action automatically, (b) the environment is non-stationary, (c) there is no circuit-breaker.
Alternative: a narrow segment + human-gate + live error-monitoring + circuit-breaker.</a:t>
            </a:r>
          </a:p>
        </p:txBody>
      </p:sp>
      <p:sp>
        <p:nvSpPr>
          <p:cNvPr id="17" name="Rounded Rectangle 16"/>
          <p:cNvSpPr/>
          <p:nvPr/>
        </p:nvSpPr>
        <p:spPr>
          <a:xfrm>
            <a:off x="502920" y="4937760"/>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4992624"/>
            <a:ext cx="10762488" cy="713232"/>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The model did exactly what it was meant for. The error was the engineering decision of WHERE to wire its output. The same AI, a different judgment → bankruptcy vs survival.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726679" y="274320"/>
            <a:ext cx="4206240" cy="5486400"/>
          </a:xfrm>
          <a:prstGeom prst="rect">
            <a:avLst/>
          </a:prstGeom>
          <a:noFill/>
        </p:spPr>
        <p:txBody>
          <a:bodyPr wrap="square" lIns="0" rIns="0" tIns="0" bIns="0" anchor="ctr">
            <a:spAutoFit/>
          </a:bodyPr>
          <a:lstStyle/>
          <a:p>
            <a:pPr algn="ctr">
              <a:lnSpc>
                <a:spcPct val="100000"/>
              </a:lnSpc>
            </a:pPr>
            <a:r>
              <a:rPr sz="40000" b="1" i="0">
                <a:solidFill>
                  <a:srgbClr val="D9E2EC"/>
                </a:solidFill>
                <a:latin typeface="Arial"/>
              </a:rPr>
              <a:t>2</a:t>
            </a:r>
          </a:p>
        </p:txBody>
      </p:sp>
      <p:sp>
        <p:nvSpPr>
          <p:cNvPr id="3" name="TextBox 2"/>
          <p:cNvSpPr txBox="1"/>
          <p:nvPr/>
        </p:nvSpPr>
        <p:spPr>
          <a:xfrm>
            <a:off x="685800" y="1417320"/>
            <a:ext cx="676656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SECTION 2</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6949440" cy="1691640"/>
          </a:xfrm>
          <a:prstGeom prst="rect">
            <a:avLst/>
          </a:prstGeom>
          <a:noFill/>
        </p:spPr>
        <p:txBody>
          <a:bodyPr wrap="square" lIns="0" rIns="0" tIns="0" bIns="0" anchor="t">
            <a:spAutoFit/>
          </a:bodyPr>
          <a:lstStyle/>
          <a:p>
            <a:pPr algn="l">
              <a:lnSpc>
                <a:spcPct val="108000"/>
              </a:lnSpc>
            </a:pPr>
            <a:r>
              <a:rPr sz="3600" b="1" i="0">
                <a:solidFill>
                  <a:srgbClr val="21295C"/>
                </a:solidFill>
                <a:latin typeface="Arial"/>
              </a:rPr>
              <a:t>Anomaly detection:
fraud and AML</a:t>
            </a:r>
          </a:p>
        </p:txBody>
      </p:sp>
      <p:sp>
        <p:nvSpPr>
          <p:cNvPr id="6" name="TextBox 5"/>
          <p:cNvSpPr txBox="1"/>
          <p:nvPr/>
        </p:nvSpPr>
        <p:spPr>
          <a:xfrm>
            <a:off x="713232" y="4224528"/>
            <a:ext cx="6858000" cy="1417320"/>
          </a:xfrm>
          <a:prstGeom prst="rect">
            <a:avLst/>
          </a:prstGeom>
          <a:noFill/>
        </p:spPr>
        <p:txBody>
          <a:bodyPr wrap="square" lIns="0" rIns="0" tIns="0" bIns="0" anchor="t">
            <a:spAutoFit/>
          </a:bodyPr>
          <a:lstStyle/>
          <a:p>
            <a:pPr algn="l">
              <a:lnSpc>
                <a:spcPct val="122000"/>
              </a:lnSpc>
            </a:pPr>
            <a:r>
              <a:rPr sz="1800" b="0" i="1">
                <a:solidFill>
                  <a:srgbClr val="1C7293"/>
                </a:solidFill>
                <a:latin typeface="Arial"/>
              </a:rPr>
              <a:t>Forecasting is about the future; now about the present — catch an anomaly within milliseconds, while the payment has not yet gone through.</a:t>
            </a:r>
          </a:p>
        </p:txBody>
      </p:sp>
      <p:sp>
        <p:nvSpPr>
          <p:cNvPr id="7" name="Rounded Rectangle 6"/>
          <p:cNvSpPr/>
          <p:nvPr/>
        </p:nvSpPr>
        <p:spPr>
          <a:xfrm>
            <a:off x="502920"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9496"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0</a:t>
            </a:r>
          </a:p>
        </p:txBody>
      </p:sp>
      <p:sp>
        <p:nvSpPr>
          <p:cNvPr id="9" name="TextBox 8"/>
          <p:cNvSpPr txBox="1"/>
          <p:nvPr/>
        </p:nvSpPr>
        <p:spPr>
          <a:xfrm>
            <a:off x="539496"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Opening</a:t>
            </a:r>
          </a:p>
        </p:txBody>
      </p:sp>
      <p:sp>
        <p:nvSpPr>
          <p:cNvPr id="10" name="Rounded Rectangle 9"/>
          <p:cNvSpPr/>
          <p:nvPr/>
        </p:nvSpPr>
        <p:spPr>
          <a:xfrm>
            <a:off x="2118795"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5371"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1</a:t>
            </a:r>
          </a:p>
        </p:txBody>
      </p:sp>
      <p:sp>
        <p:nvSpPr>
          <p:cNvPr id="12" name="TextBox 11"/>
          <p:cNvSpPr txBox="1"/>
          <p:nvPr/>
        </p:nvSpPr>
        <p:spPr>
          <a:xfrm>
            <a:off x="2155371"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Forecast</a:t>
            </a:r>
          </a:p>
        </p:txBody>
      </p:sp>
      <p:sp>
        <p:nvSpPr>
          <p:cNvPr id="13" name="Rounded Rectangle 12"/>
          <p:cNvSpPr/>
          <p:nvPr/>
        </p:nvSpPr>
        <p:spPr>
          <a:xfrm>
            <a:off x="3734670" y="5943600"/>
            <a:ext cx="1506147" cy="548640"/>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1246" y="6007608"/>
            <a:ext cx="1432995" cy="201168"/>
          </a:xfrm>
          <a:prstGeom prst="rect">
            <a:avLst/>
          </a:prstGeom>
          <a:noFill/>
        </p:spPr>
        <p:txBody>
          <a:bodyPr wrap="square" lIns="0" rIns="0" tIns="0" bIns="0" anchor="t">
            <a:spAutoFit/>
          </a:bodyPr>
          <a:lstStyle/>
          <a:p>
            <a:pPr algn="ctr">
              <a:lnSpc>
                <a:spcPct val="115000"/>
              </a:lnSpc>
            </a:pPr>
            <a:r>
              <a:rPr sz="1000" b="1" i="0">
                <a:solidFill>
                  <a:srgbClr val="21295C"/>
                </a:solidFill>
                <a:latin typeface="Arial"/>
              </a:rPr>
              <a:t>Section 2</a:t>
            </a:r>
          </a:p>
        </p:txBody>
      </p:sp>
      <p:sp>
        <p:nvSpPr>
          <p:cNvPr id="15" name="TextBox 14"/>
          <p:cNvSpPr txBox="1"/>
          <p:nvPr/>
        </p:nvSpPr>
        <p:spPr>
          <a:xfrm>
            <a:off x="3771246" y="6217920"/>
            <a:ext cx="1432995" cy="237744"/>
          </a:xfrm>
          <a:prstGeom prst="rect">
            <a:avLst/>
          </a:prstGeom>
          <a:noFill/>
        </p:spPr>
        <p:txBody>
          <a:bodyPr wrap="square" lIns="0" rIns="0" tIns="0" bIns="0" anchor="t">
            <a:spAutoFit/>
          </a:bodyPr>
          <a:lstStyle/>
          <a:p>
            <a:pPr algn="ctr">
              <a:lnSpc>
                <a:spcPct val="95000"/>
              </a:lnSpc>
            </a:pPr>
            <a:r>
              <a:rPr sz="1050" b="1" i="0">
                <a:solidFill>
                  <a:srgbClr val="21295C"/>
                </a:solidFill>
                <a:latin typeface="Arial"/>
              </a:rPr>
              <a:t>Anomalies</a:t>
            </a:r>
          </a:p>
        </p:txBody>
      </p:sp>
      <p:sp>
        <p:nvSpPr>
          <p:cNvPr id="16" name="Rounded Rectangle 15"/>
          <p:cNvSpPr/>
          <p:nvPr/>
        </p:nvSpPr>
        <p:spPr>
          <a:xfrm>
            <a:off x="5350546"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87122"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3</a:t>
            </a:r>
          </a:p>
        </p:txBody>
      </p:sp>
      <p:sp>
        <p:nvSpPr>
          <p:cNvPr id="18" name="TextBox 17"/>
          <p:cNvSpPr txBox="1"/>
          <p:nvPr/>
        </p:nvSpPr>
        <p:spPr>
          <a:xfrm>
            <a:off x="5387122"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Scoring</a:t>
            </a:r>
          </a:p>
        </p:txBody>
      </p:sp>
      <p:sp>
        <p:nvSpPr>
          <p:cNvPr id="19" name="Rounded Rectangle 18"/>
          <p:cNvSpPr/>
          <p:nvPr/>
        </p:nvSpPr>
        <p:spPr>
          <a:xfrm>
            <a:off x="6966421"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02997"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4</a:t>
            </a:r>
          </a:p>
        </p:txBody>
      </p:sp>
      <p:sp>
        <p:nvSpPr>
          <p:cNvPr id="21" name="TextBox 20"/>
          <p:cNvSpPr txBox="1"/>
          <p:nvPr/>
        </p:nvSpPr>
        <p:spPr>
          <a:xfrm>
            <a:off x="7002997"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LLM</a:t>
            </a:r>
          </a:p>
        </p:txBody>
      </p:sp>
      <p:sp>
        <p:nvSpPr>
          <p:cNvPr id="22" name="Rounded Rectangle 21"/>
          <p:cNvSpPr/>
          <p:nvPr/>
        </p:nvSpPr>
        <p:spPr>
          <a:xfrm>
            <a:off x="8582297"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8873"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5</a:t>
            </a:r>
          </a:p>
        </p:txBody>
      </p:sp>
      <p:sp>
        <p:nvSpPr>
          <p:cNvPr id="24" name="TextBox 23"/>
          <p:cNvSpPr txBox="1"/>
          <p:nvPr/>
        </p:nvSpPr>
        <p:spPr>
          <a:xfrm>
            <a:off x="8618873"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Recomm.</a:t>
            </a:r>
          </a:p>
        </p:txBody>
      </p:sp>
      <p:sp>
        <p:nvSpPr>
          <p:cNvPr id="25" name="Rounded Rectangle 24"/>
          <p:cNvSpPr/>
          <p:nvPr/>
        </p:nvSpPr>
        <p:spPr>
          <a:xfrm>
            <a:off x="10198172"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4748"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6</a:t>
            </a:r>
          </a:p>
        </p:txBody>
      </p:sp>
      <p:sp>
        <p:nvSpPr>
          <p:cNvPr id="27" name="TextBox 26"/>
          <p:cNvSpPr txBox="1"/>
          <p:nvPr/>
        </p:nvSpPr>
        <p:spPr>
          <a:xfrm>
            <a:off x="10234748"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Framework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Learn the «customer's norm» and catch the deviation — not learn «what fraud looks like».</a:t>
            </a:r>
          </a:p>
        </p:txBody>
      </p:sp>
      <p:sp>
        <p:nvSpPr>
          <p:cNvPr id="3" name="Rounded Rectangle 2"/>
          <p:cNvSpPr/>
          <p:nvPr/>
        </p:nvSpPr>
        <p:spPr>
          <a:xfrm>
            <a:off x="502920" y="1097280"/>
            <a:ext cx="507492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11-anomaly-cloud.png"/>
          <p:cNvPicPr>
            <a:picLocks noChangeAspect="1"/>
          </p:cNvPicPr>
          <p:nvPr/>
        </p:nvPicPr>
        <p:blipFill>
          <a:blip r:embed="rId2"/>
          <a:stretch>
            <a:fillRect/>
          </a:stretch>
        </p:blipFill>
        <p:spPr>
          <a:xfrm>
            <a:off x="750787" y="1261872"/>
            <a:ext cx="4579185" cy="3374136"/>
          </a:xfrm>
          <a:prstGeom prst="rect">
            <a:avLst/>
          </a:prstGeom>
        </p:spPr>
      </p:pic>
      <p:sp>
        <p:nvSpPr>
          <p:cNvPr id="5" name="Rounded Rectangle 4"/>
          <p:cNvSpPr/>
          <p:nvPr/>
        </p:nvSpPr>
        <p:spPr>
          <a:xfrm>
            <a:off x="5760720" y="1097280"/>
            <a:ext cx="594360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98464" y="1243584"/>
            <a:ext cx="5468112" cy="566928"/>
          </a:xfrm>
          <a:prstGeom prst="rect">
            <a:avLst/>
          </a:prstGeom>
          <a:noFill/>
        </p:spPr>
        <p:txBody>
          <a:bodyPr wrap="square" lIns="0" rIns="0" tIns="0" bIns="0" anchor="t">
            <a:spAutoFit/>
          </a:bodyPr>
          <a:lstStyle/>
          <a:p>
            <a:pPr algn="l">
              <a:lnSpc>
                <a:spcPct val="114000"/>
              </a:lnSpc>
            </a:pPr>
            <a:r>
              <a:rPr sz="1300" b="1" i="0">
                <a:solidFill>
                  <a:srgbClr val="065A82"/>
                </a:solidFill>
                <a:latin typeface="Arial"/>
              </a:rPr>
              <a:t>Task: catch a fraudulent transaction in real time, where almost everything is legitimate and the share of fraud is extremely small.</a:t>
            </a:r>
          </a:p>
        </p:txBody>
      </p:sp>
      <p:sp>
        <p:nvSpPr>
          <p:cNvPr id="7" name="TextBox 6"/>
          <p:cNvSpPr txBox="1"/>
          <p:nvPr/>
        </p:nvSpPr>
        <p:spPr>
          <a:xfrm>
            <a:off x="5998464" y="1883664"/>
            <a:ext cx="5468112" cy="51206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Type of AI — anomaly detection: the model builds the customer's «norm» and signals deviations.</a:t>
            </a:r>
          </a:p>
        </p:txBody>
      </p:sp>
      <p:sp>
        <p:nvSpPr>
          <p:cNvPr id="8" name="TextBox 7"/>
          <p:cNvSpPr txBox="1"/>
          <p:nvPr/>
        </p:nvSpPr>
        <p:spPr>
          <a:xfrm>
            <a:off x="5998464" y="2487168"/>
            <a:ext cx="1691640" cy="512064"/>
          </a:xfrm>
          <a:prstGeom prst="rect">
            <a:avLst/>
          </a:prstGeom>
          <a:noFill/>
        </p:spPr>
        <p:txBody>
          <a:bodyPr wrap="square" lIns="0" rIns="0" tIns="0" bIns="0" anchor="ctr">
            <a:spAutoFit/>
          </a:bodyPr>
          <a:lstStyle/>
          <a:p>
            <a:pPr algn="l">
              <a:lnSpc>
                <a:spcPct val="115000"/>
              </a:lnSpc>
            </a:pPr>
            <a:r>
              <a:rPr sz="1250" b="1" i="0">
                <a:solidFill>
                  <a:srgbClr val="028090"/>
                </a:solidFill>
                <a:latin typeface="Arial"/>
              </a:rPr>
              <a:t>not classification</a:t>
            </a:r>
          </a:p>
        </p:txBody>
      </p:sp>
      <p:sp>
        <p:nvSpPr>
          <p:cNvPr id="9" name="TextBox 8"/>
          <p:cNvSpPr txBox="1"/>
          <p:nvPr/>
        </p:nvSpPr>
        <p:spPr>
          <a:xfrm>
            <a:off x="7735824" y="2487168"/>
            <a:ext cx="3730752" cy="512064"/>
          </a:xfrm>
          <a:prstGeom prst="rect">
            <a:avLst/>
          </a:prstGeom>
          <a:noFill/>
        </p:spPr>
        <p:txBody>
          <a:bodyPr wrap="square" lIns="0" rIns="0" tIns="0" bIns="0" anchor="ctr">
            <a:spAutoFit/>
          </a:bodyPr>
          <a:lstStyle/>
          <a:p>
            <a:pPr algn="l">
              <a:lnSpc>
                <a:spcPct val="105000"/>
              </a:lnSpc>
            </a:pPr>
            <a:r>
              <a:rPr sz="1200" b="0" i="0">
                <a:solidFill>
                  <a:srgbClr val="21295C"/>
                </a:solidFill>
                <a:latin typeface="Arial"/>
              </a:rPr>
              <a:t>fraud is rare and constantly changes its form (a moving target)</a:t>
            </a:r>
          </a:p>
        </p:txBody>
      </p:sp>
      <p:sp>
        <p:nvSpPr>
          <p:cNvPr id="10" name="TextBox 9"/>
          <p:cNvSpPr txBox="1"/>
          <p:nvPr/>
        </p:nvSpPr>
        <p:spPr>
          <a:xfrm>
            <a:off x="5998464" y="3035808"/>
            <a:ext cx="1691640" cy="512064"/>
          </a:xfrm>
          <a:prstGeom prst="rect">
            <a:avLst/>
          </a:prstGeom>
          <a:noFill/>
        </p:spPr>
        <p:txBody>
          <a:bodyPr wrap="square" lIns="0" rIns="0" tIns="0" bIns="0" anchor="ctr">
            <a:spAutoFit/>
          </a:bodyPr>
          <a:lstStyle/>
          <a:p>
            <a:pPr algn="l">
              <a:lnSpc>
                <a:spcPct val="115000"/>
              </a:lnSpc>
            </a:pPr>
            <a:r>
              <a:rPr sz="1250" b="1" i="0">
                <a:solidFill>
                  <a:srgbClr val="028090"/>
                </a:solidFill>
                <a:latin typeface="Arial"/>
              </a:rPr>
              <a:t>not time-series forecasting</a:t>
            </a:r>
          </a:p>
        </p:txBody>
      </p:sp>
      <p:sp>
        <p:nvSpPr>
          <p:cNvPr id="11" name="TextBox 10"/>
          <p:cNvSpPr txBox="1"/>
          <p:nvPr/>
        </p:nvSpPr>
        <p:spPr>
          <a:xfrm>
            <a:off x="7735824" y="3035808"/>
            <a:ext cx="3730752" cy="512064"/>
          </a:xfrm>
          <a:prstGeom prst="rect">
            <a:avLst/>
          </a:prstGeom>
          <a:noFill/>
        </p:spPr>
        <p:txBody>
          <a:bodyPr wrap="square" lIns="0" rIns="0" tIns="0" bIns="0" anchor="ctr">
            <a:spAutoFit/>
          </a:bodyPr>
          <a:lstStyle/>
          <a:p>
            <a:pPr algn="l">
              <a:lnSpc>
                <a:spcPct val="105000"/>
              </a:lnSpc>
            </a:pPr>
            <a:r>
              <a:rPr sz="1200" b="0" i="0">
                <a:solidFill>
                  <a:srgbClr val="21295C"/>
                </a:solidFill>
                <a:latin typeface="Arial"/>
              </a:rPr>
              <a:t>the question is not «the next value», but «how unlike the norm»</a:t>
            </a:r>
          </a:p>
        </p:txBody>
      </p:sp>
      <p:sp>
        <p:nvSpPr>
          <p:cNvPr id="12" name="TextBox 11"/>
          <p:cNvSpPr txBox="1"/>
          <p:nvPr/>
        </p:nvSpPr>
        <p:spPr>
          <a:xfrm>
            <a:off x="5998464" y="3584448"/>
            <a:ext cx="1691640" cy="512064"/>
          </a:xfrm>
          <a:prstGeom prst="rect">
            <a:avLst/>
          </a:prstGeom>
          <a:noFill/>
        </p:spPr>
        <p:txBody>
          <a:bodyPr wrap="square" lIns="0" rIns="0" tIns="0" bIns="0" anchor="ctr">
            <a:spAutoFit/>
          </a:bodyPr>
          <a:lstStyle/>
          <a:p>
            <a:pPr algn="l">
              <a:lnSpc>
                <a:spcPct val="115000"/>
              </a:lnSpc>
            </a:pPr>
            <a:r>
              <a:rPr sz="1250" b="1" i="0">
                <a:solidFill>
                  <a:srgbClr val="028090"/>
                </a:solidFill>
                <a:latin typeface="Arial"/>
              </a:rPr>
              <a:t>not an LLM</a:t>
            </a:r>
          </a:p>
        </p:txBody>
      </p:sp>
      <p:sp>
        <p:nvSpPr>
          <p:cNvPr id="13" name="TextBox 12"/>
          <p:cNvSpPr txBox="1"/>
          <p:nvPr/>
        </p:nvSpPr>
        <p:spPr>
          <a:xfrm>
            <a:off x="7735824" y="3584448"/>
            <a:ext cx="3730752" cy="512064"/>
          </a:xfrm>
          <a:prstGeom prst="rect">
            <a:avLst/>
          </a:prstGeom>
          <a:noFill/>
        </p:spPr>
        <p:txBody>
          <a:bodyPr wrap="square" lIns="0" rIns="0" tIns="0" bIns="0" anchor="ctr">
            <a:spAutoFit/>
          </a:bodyPr>
          <a:lstStyle/>
          <a:p>
            <a:pPr algn="l">
              <a:lnSpc>
                <a:spcPct val="105000"/>
              </a:lnSpc>
            </a:pPr>
            <a:r>
              <a:rPr sz="1200" b="0" i="0">
                <a:solidFill>
                  <a:srgbClr val="21295C"/>
                </a:solidFill>
                <a:latin typeface="Arial"/>
              </a:rPr>
              <a:t>the transaction is structured; the task is geometric, not linguistic</a:t>
            </a:r>
          </a:p>
        </p:txBody>
      </p:sp>
      <p:sp>
        <p:nvSpPr>
          <p:cNvPr id="14" name="Rounded Rectangle 13"/>
          <p:cNvSpPr/>
          <p:nvPr/>
        </p:nvSpPr>
        <p:spPr>
          <a:xfrm>
            <a:off x="5998464" y="4187951"/>
            <a:ext cx="5468112" cy="566928"/>
          </a:xfrm>
          <a:prstGeom prst="roundRect">
            <a:avLst>
              <a:gd name="adj" fmla="val 12000"/>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4187951"/>
            <a:ext cx="5212080" cy="566928"/>
          </a:xfrm>
          <a:prstGeom prst="rect">
            <a:avLst/>
          </a:prstGeom>
          <a:noFill/>
        </p:spPr>
        <p:txBody>
          <a:bodyPr wrap="square" lIns="0" rIns="0" tIns="0" bIns="0" anchor="ctr">
            <a:spAutoFit/>
          </a:bodyPr>
          <a:lstStyle/>
          <a:p>
            <a:pPr algn="l">
              <a:lnSpc>
                <a:spcPct val="105000"/>
              </a:lnSpc>
            </a:pPr>
            <a:r>
              <a:rPr sz="1100" b="0" i="1">
                <a:solidFill>
                  <a:srgbClr val="5B6678"/>
                </a:solidFill>
                <a:latin typeface="Arial"/>
              </a:rPr>
              <a:t>AML is a subset of the same task; hard statutory thresholds = deterministic rules, not a model.</a:t>
            </a:r>
          </a:p>
        </p:txBody>
      </p:sp>
      <p:sp>
        <p:nvSpPr>
          <p:cNvPr id="16" name="Rounded Rectangle 15"/>
          <p:cNvSpPr/>
          <p:nvPr/>
        </p:nvSpPr>
        <p:spPr>
          <a:xfrm>
            <a:off x="502920" y="4901184"/>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4956048"/>
            <a:ext cx="10762488" cy="731520"/>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The model does not «know» that this is fraud — it knows that this is NOT LIKE THE NORM, and raises a flag for review.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300" b="1" i="0">
                <a:solidFill>
                  <a:srgbClr val="21295C"/>
                </a:solidFill>
                <a:latin typeface="Arial"/>
              </a:rPr>
              <a:t>Anti-fraud is «norm / deviation» in real time, not generation.</a:t>
            </a:r>
          </a:p>
        </p:txBody>
      </p:sp>
      <p:sp>
        <p:nvSpPr>
          <p:cNvPr id="3" name="TextBox 2"/>
          <p:cNvSpPr txBox="1"/>
          <p:nvPr/>
        </p:nvSpPr>
        <p:spPr>
          <a:xfrm>
            <a:off x="502920" y="1060704"/>
            <a:ext cx="11201400" cy="274320"/>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What anomaly detection delivers in anti-fraud — each metric in its own units:</a:t>
            </a:r>
          </a:p>
        </p:txBody>
      </p:sp>
      <p:sp>
        <p:nvSpPr>
          <p:cNvPr id="4" name="Rounded Rectangle 3"/>
          <p:cNvSpPr/>
          <p:nvPr/>
        </p:nvSpPr>
        <p:spPr>
          <a:xfrm>
            <a:off x="502920" y="1408176"/>
            <a:ext cx="3587496" cy="1975104"/>
          </a:xfrm>
          <a:prstGeom prst="roundRect">
            <a:avLst>
              <a:gd name="adj" fmla="val 1543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91056"/>
            <a:ext cx="3221736" cy="310896"/>
          </a:xfrm>
          <a:prstGeom prst="rect">
            <a:avLst/>
          </a:prstGeom>
          <a:noFill/>
        </p:spPr>
        <p:txBody>
          <a:bodyPr wrap="square" lIns="0" rIns="0" tIns="0" bIns="0" anchor="ctr">
            <a:spAutoFit/>
          </a:bodyPr>
          <a:lstStyle/>
          <a:p>
            <a:pPr algn="ctr">
              <a:lnSpc>
                <a:spcPct val="115000"/>
              </a:lnSpc>
            </a:pPr>
            <a:r>
              <a:rPr sz="1400" b="1" i="0">
                <a:solidFill>
                  <a:srgbClr val="065A82"/>
                </a:solidFill>
                <a:latin typeface="Arial"/>
              </a:rPr>
              <a:t>Stripe Radar</a:t>
            </a:r>
          </a:p>
        </p:txBody>
      </p:sp>
      <p:sp>
        <p:nvSpPr>
          <p:cNvPr id="6" name="TextBox 5"/>
          <p:cNvSpPr txBox="1"/>
          <p:nvPr/>
        </p:nvSpPr>
        <p:spPr>
          <a:xfrm>
            <a:off x="649224" y="1975104"/>
            <a:ext cx="3294888" cy="713232"/>
          </a:xfrm>
          <a:prstGeom prst="rect">
            <a:avLst/>
          </a:prstGeom>
          <a:noFill/>
        </p:spPr>
        <p:txBody>
          <a:bodyPr wrap="square" lIns="0" rIns="0" tIns="0" bIns="0" anchor="ctr">
            <a:spAutoFit/>
          </a:bodyPr>
          <a:lstStyle/>
          <a:p>
            <a:pPr algn="ctr">
              <a:lnSpc>
                <a:spcPct val="115000"/>
              </a:lnSpc>
            </a:pPr>
            <a:r>
              <a:rPr sz="3300" b="1" i="0">
                <a:solidFill>
                  <a:srgbClr val="21295C"/>
                </a:solidFill>
                <a:latin typeface="Arial"/>
              </a:rPr>
              <a:t>−32% fraud</a:t>
            </a:r>
          </a:p>
        </p:txBody>
      </p:sp>
      <p:sp>
        <p:nvSpPr>
          <p:cNvPr id="7" name="TextBox 6"/>
          <p:cNvSpPr txBox="1"/>
          <p:nvPr/>
        </p:nvSpPr>
        <p:spPr>
          <a:xfrm>
            <a:off x="685800" y="2743200"/>
            <a:ext cx="3221736" cy="530352"/>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while approving legitimate &gt; 99%</a:t>
            </a:r>
          </a:p>
        </p:txBody>
      </p:sp>
      <p:sp>
        <p:nvSpPr>
          <p:cNvPr id="8" name="Rounded Rectangle 7"/>
          <p:cNvSpPr/>
          <p:nvPr/>
        </p:nvSpPr>
        <p:spPr>
          <a:xfrm>
            <a:off x="4309872" y="1408176"/>
            <a:ext cx="3587496" cy="1975104"/>
          </a:xfrm>
          <a:prstGeom prst="roundRect">
            <a:avLst>
              <a:gd name="adj" fmla="val 1543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92752" y="1591056"/>
            <a:ext cx="3221736" cy="310896"/>
          </a:xfrm>
          <a:prstGeom prst="rect">
            <a:avLst/>
          </a:prstGeom>
          <a:noFill/>
        </p:spPr>
        <p:txBody>
          <a:bodyPr wrap="square" lIns="0" rIns="0" tIns="0" bIns="0" anchor="ctr">
            <a:spAutoFit/>
          </a:bodyPr>
          <a:lstStyle/>
          <a:p>
            <a:pPr algn="ctr">
              <a:lnSpc>
                <a:spcPct val="115000"/>
              </a:lnSpc>
            </a:pPr>
            <a:r>
              <a:rPr sz="1400" b="1" i="0">
                <a:solidFill>
                  <a:srgbClr val="065A82"/>
                </a:solidFill>
                <a:latin typeface="Arial"/>
              </a:rPr>
              <a:t>JPMorgan</a:t>
            </a:r>
          </a:p>
        </p:txBody>
      </p:sp>
      <p:sp>
        <p:nvSpPr>
          <p:cNvPr id="10" name="TextBox 9"/>
          <p:cNvSpPr txBox="1"/>
          <p:nvPr/>
        </p:nvSpPr>
        <p:spPr>
          <a:xfrm>
            <a:off x="4456176" y="1975104"/>
            <a:ext cx="3294888" cy="713232"/>
          </a:xfrm>
          <a:prstGeom prst="rect">
            <a:avLst/>
          </a:prstGeom>
          <a:noFill/>
        </p:spPr>
        <p:txBody>
          <a:bodyPr wrap="square" lIns="0" rIns="0" tIns="0" bIns="0" anchor="ctr">
            <a:spAutoFit/>
          </a:bodyPr>
          <a:lstStyle/>
          <a:p>
            <a:pPr algn="ctr">
              <a:lnSpc>
                <a:spcPct val="115000"/>
              </a:lnSpc>
            </a:pPr>
            <a:r>
              <a:rPr sz="3300" b="1" i="0">
                <a:solidFill>
                  <a:srgbClr val="21295C"/>
                </a:solidFill>
                <a:latin typeface="Arial"/>
              </a:rPr>
              <a:t>−30% false</a:t>
            </a:r>
          </a:p>
        </p:txBody>
      </p:sp>
      <p:sp>
        <p:nvSpPr>
          <p:cNvPr id="11" name="TextBox 10"/>
          <p:cNvSpPr txBox="1"/>
          <p:nvPr/>
        </p:nvSpPr>
        <p:spPr>
          <a:xfrm>
            <a:off x="4492752" y="2743200"/>
            <a:ext cx="3221736" cy="530352"/>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fewer false positives</a:t>
            </a:r>
          </a:p>
        </p:txBody>
      </p:sp>
      <p:sp>
        <p:nvSpPr>
          <p:cNvPr id="12" name="Rounded Rectangle 11"/>
          <p:cNvSpPr/>
          <p:nvPr/>
        </p:nvSpPr>
        <p:spPr>
          <a:xfrm>
            <a:off x="8116823" y="1408176"/>
            <a:ext cx="3587496" cy="1975104"/>
          </a:xfrm>
          <a:prstGeom prst="roundRect">
            <a:avLst>
              <a:gd name="adj" fmla="val 15432"/>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9703" y="1591056"/>
            <a:ext cx="3221736" cy="310896"/>
          </a:xfrm>
          <a:prstGeom prst="rect">
            <a:avLst/>
          </a:prstGeom>
          <a:noFill/>
        </p:spPr>
        <p:txBody>
          <a:bodyPr wrap="square" lIns="0" rIns="0" tIns="0" bIns="0" anchor="ctr">
            <a:spAutoFit/>
          </a:bodyPr>
          <a:lstStyle/>
          <a:p>
            <a:pPr algn="ctr">
              <a:lnSpc>
                <a:spcPct val="115000"/>
              </a:lnSpc>
            </a:pPr>
            <a:r>
              <a:rPr sz="1400" b="1" i="0">
                <a:solidFill>
                  <a:srgbClr val="065A82"/>
                </a:solidFill>
                <a:latin typeface="Arial"/>
              </a:rPr>
              <a:t>Visa · prevented</a:t>
            </a:r>
          </a:p>
        </p:txBody>
      </p:sp>
      <p:sp>
        <p:nvSpPr>
          <p:cNvPr id="14" name="TextBox 13"/>
          <p:cNvSpPr txBox="1"/>
          <p:nvPr/>
        </p:nvSpPr>
        <p:spPr>
          <a:xfrm>
            <a:off x="8263127" y="1975104"/>
            <a:ext cx="3294888" cy="713232"/>
          </a:xfrm>
          <a:prstGeom prst="rect">
            <a:avLst/>
          </a:prstGeom>
          <a:noFill/>
        </p:spPr>
        <p:txBody>
          <a:bodyPr wrap="square" lIns="0" rIns="0" tIns="0" bIns="0" anchor="ctr">
            <a:spAutoFit/>
          </a:bodyPr>
          <a:lstStyle/>
          <a:p>
            <a:pPr algn="ctr">
              <a:lnSpc>
                <a:spcPct val="115000"/>
              </a:lnSpc>
            </a:pPr>
            <a:r>
              <a:rPr sz="3300" b="1" i="0">
                <a:solidFill>
                  <a:srgbClr val="F0AB00"/>
                </a:solidFill>
                <a:latin typeface="Arial"/>
              </a:rPr>
              <a:t>~$40 bn</a:t>
            </a:r>
          </a:p>
        </p:txBody>
      </p:sp>
      <p:sp>
        <p:nvSpPr>
          <p:cNvPr id="15" name="TextBox 14"/>
          <p:cNvSpPr txBox="1"/>
          <p:nvPr/>
        </p:nvSpPr>
        <p:spPr>
          <a:xfrm>
            <a:off x="8299703" y="2743200"/>
            <a:ext cx="3221736" cy="530352"/>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of fraudulent transactions (FY2023)</a:t>
            </a:r>
          </a:p>
        </p:txBody>
      </p:sp>
      <p:sp>
        <p:nvSpPr>
          <p:cNvPr id="16" name="Rounded Rectangle 15"/>
          <p:cNvSpPr/>
          <p:nvPr/>
        </p:nvSpPr>
        <p:spPr>
          <a:xfrm>
            <a:off x="502920" y="3584448"/>
            <a:ext cx="5486400" cy="95097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3694176"/>
            <a:ext cx="5047488" cy="256032"/>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Russia</a:t>
            </a:r>
          </a:p>
        </p:txBody>
      </p:sp>
      <p:sp>
        <p:nvSpPr>
          <p:cNvPr id="18" name="TextBox 17"/>
          <p:cNvSpPr txBox="1"/>
          <p:nvPr/>
        </p:nvSpPr>
        <p:spPr>
          <a:xfrm>
            <a:off x="722376" y="3968496"/>
            <a:ext cx="5047488" cy="512064"/>
          </a:xfrm>
          <a:prstGeom prst="rect">
            <a:avLst/>
          </a:prstGeom>
          <a:noFill/>
        </p:spPr>
        <p:txBody>
          <a:bodyPr wrap="square" lIns="0" rIns="0" tIns="0" bIns="0" anchor="t">
            <a:spAutoFit/>
          </a:bodyPr>
          <a:lstStyle/>
          <a:p>
            <a:pPr algn="l">
              <a:lnSpc>
                <a:spcPct val="112000"/>
              </a:lnSpc>
            </a:pPr>
            <a:r>
              <a:rPr sz="1150" b="0" i="0">
                <a:solidFill>
                  <a:srgbClr val="21295C"/>
                </a:solidFill>
                <a:latin typeface="Arial"/>
              </a:rPr>
              <a:t>Anomaly detection is standard practice at major banks (per Bank of Russia materials, 20.11.2025).</a:t>
            </a:r>
          </a:p>
        </p:txBody>
      </p:sp>
      <p:sp>
        <p:nvSpPr>
          <p:cNvPr id="19" name="Rounded Rectangle 18"/>
          <p:cNvSpPr/>
          <p:nvPr/>
        </p:nvSpPr>
        <p:spPr>
          <a:xfrm>
            <a:off x="6217920" y="3584448"/>
            <a:ext cx="5486400" cy="950976"/>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3639312"/>
            <a:ext cx="5047488" cy="841248"/>
          </a:xfrm>
          <a:prstGeom prst="rect">
            <a:avLst/>
          </a:prstGeom>
          <a:noFill/>
        </p:spPr>
        <p:txBody>
          <a:bodyPr wrap="square" lIns="0" rIns="0" tIns="0" bIns="0" anchor="ctr">
            <a:spAutoFit/>
          </a:bodyPr>
          <a:lstStyle/>
          <a:p>
            <a:pPr algn="l">
              <a:lnSpc>
                <a:spcPct val="118000"/>
              </a:lnSpc>
            </a:pPr>
            <a:r>
              <a:rPr sz="1150" b="0" i="0">
                <a:solidFill>
                  <a:srgbClr val="21295C"/>
                </a:solidFill>
                <a:latin typeface="Arial"/>
              </a:rPr>
              <a:t>Notice: «reduction of FALSE positives» — the key metric of anti-fraud is NOT «accuracy in general», but the ratio of the two types of error. We will examine this further.</a:t>
            </a:r>
          </a:p>
        </p:txBody>
      </p:sp>
      <p:sp>
        <p:nvSpPr>
          <p:cNvPr id="21" name="Rounded Rectangle 20"/>
          <p:cNvSpPr/>
          <p:nvPr/>
        </p:nvSpPr>
        <p:spPr>
          <a:xfrm>
            <a:off x="502920" y="4681728"/>
            <a:ext cx="11201400"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4736592"/>
            <a:ext cx="10762488" cy="676656"/>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Different units — NOT one scale: % reduction, % false, bn $. And still the main metric is not «accuracy», but FP / FN separately.</a:t>
            </a:r>
          </a:p>
        </p:txBody>
      </p:sp>
      <p:sp>
        <p:nvSpPr>
          <p:cNvPr id="23" name="TextBox 22"/>
          <p:cNvSpPr txBox="1"/>
          <p:nvPr/>
        </p:nvSpPr>
        <p:spPr>
          <a:xfrm>
            <a:off x="502920" y="6437376"/>
            <a:ext cx="11201400" cy="310896"/>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Stripe/JPMorgan/Visa — as claimed by the companies; Visa — per Reuters/CNBC reports, July 2024; Russia — per Bank of Russia materials, 20.11.2025; the numbers are verified on the day of the lecture.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400" b="1" i="0">
                <a:solidFill>
                  <a:srgbClr val="21295C"/>
                </a:solidFill>
                <a:latin typeface="Arial"/>
              </a:rPr>
              <a:t>«99.9% accuracy» under strong imbalance is deceptive.</a:t>
            </a:r>
          </a:p>
        </p:txBody>
      </p:sp>
      <p:sp>
        <p:nvSpPr>
          <p:cNvPr id="3" name="Rounded Rectangle 2"/>
          <p:cNvSpPr/>
          <p:nvPr/>
        </p:nvSpPr>
        <p:spPr>
          <a:xfrm>
            <a:off x="502920" y="1078992"/>
            <a:ext cx="6903720" cy="2834640"/>
          </a:xfrm>
          <a:prstGeom prst="roundRect">
            <a:avLst>
              <a:gd name="adj" fmla="val 1075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783080" y="1280160"/>
            <a:ext cx="3017520" cy="237744"/>
          </a:xfrm>
          <a:prstGeom prst="rect">
            <a:avLst/>
          </a:prstGeom>
          <a:noFill/>
        </p:spPr>
        <p:txBody>
          <a:bodyPr wrap="square" lIns="0" rIns="0" tIns="0" bIns="0" anchor="t">
            <a:spAutoFit/>
          </a:bodyPr>
          <a:lstStyle/>
          <a:p>
            <a:pPr algn="ctr">
              <a:lnSpc>
                <a:spcPct val="115000"/>
              </a:lnSpc>
            </a:pPr>
            <a:r>
              <a:rPr sz="1150" b="1" i="0">
                <a:solidFill>
                  <a:srgbClr val="065A82"/>
                </a:solidFill>
                <a:latin typeface="Arial"/>
              </a:rPr>
              <a:t>Was fraud</a:t>
            </a:r>
          </a:p>
        </p:txBody>
      </p:sp>
      <p:sp>
        <p:nvSpPr>
          <p:cNvPr id="5" name="TextBox 4"/>
          <p:cNvSpPr txBox="1"/>
          <p:nvPr/>
        </p:nvSpPr>
        <p:spPr>
          <a:xfrm>
            <a:off x="4800600" y="1280160"/>
            <a:ext cx="3017520" cy="237744"/>
          </a:xfrm>
          <a:prstGeom prst="rect">
            <a:avLst/>
          </a:prstGeom>
          <a:noFill/>
        </p:spPr>
        <p:txBody>
          <a:bodyPr wrap="square" lIns="0" rIns="0" tIns="0" bIns="0" anchor="t">
            <a:spAutoFit/>
          </a:bodyPr>
          <a:lstStyle/>
          <a:p>
            <a:pPr algn="ctr">
              <a:lnSpc>
                <a:spcPct val="115000"/>
              </a:lnSpc>
            </a:pPr>
            <a:r>
              <a:rPr sz="1150" b="1" i="0">
                <a:solidFill>
                  <a:srgbClr val="065A82"/>
                </a:solidFill>
                <a:latin typeface="Arial"/>
              </a:rPr>
              <a:t>Was legitimate</a:t>
            </a:r>
          </a:p>
        </p:txBody>
      </p:sp>
      <p:sp>
        <p:nvSpPr>
          <p:cNvPr id="6" name="TextBox 5"/>
          <p:cNvSpPr txBox="1"/>
          <p:nvPr/>
        </p:nvSpPr>
        <p:spPr>
          <a:xfrm>
            <a:off x="740664" y="1572768"/>
            <a:ext cx="960120" cy="1005840"/>
          </a:xfrm>
          <a:prstGeom prst="rect">
            <a:avLst/>
          </a:prstGeom>
          <a:noFill/>
        </p:spPr>
        <p:txBody>
          <a:bodyPr wrap="square" lIns="0" rIns="0" tIns="0" bIns="0" anchor="ctr">
            <a:spAutoFit/>
          </a:bodyPr>
          <a:lstStyle/>
          <a:p>
            <a:pPr algn="ctr">
              <a:lnSpc>
                <a:spcPct val="100000"/>
              </a:lnSpc>
            </a:pPr>
            <a:r>
              <a:rPr sz="1100" b="1" i="0">
                <a:solidFill>
                  <a:srgbClr val="065A82"/>
                </a:solidFill>
                <a:latin typeface="Arial"/>
              </a:rPr>
              <a:t>System:
fraud</a:t>
            </a:r>
          </a:p>
        </p:txBody>
      </p:sp>
      <p:sp>
        <p:nvSpPr>
          <p:cNvPr id="7" name="Rounded Rectangle 6"/>
          <p:cNvSpPr/>
          <p:nvPr/>
        </p:nvSpPr>
        <p:spPr>
          <a:xfrm>
            <a:off x="1783080" y="1572768"/>
            <a:ext cx="3017520" cy="1005840"/>
          </a:xfrm>
          <a:prstGeom prst="roundRect">
            <a:avLst>
              <a:gd name="adj" fmla="val 8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92808" y="1645920"/>
            <a:ext cx="2816351" cy="292608"/>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TP</a:t>
            </a:r>
          </a:p>
        </p:txBody>
      </p:sp>
      <p:sp>
        <p:nvSpPr>
          <p:cNvPr id="9" name="TextBox 8"/>
          <p:cNvSpPr txBox="1"/>
          <p:nvPr/>
        </p:nvSpPr>
        <p:spPr>
          <a:xfrm>
            <a:off x="1892808" y="1975104"/>
            <a:ext cx="2816351" cy="530352"/>
          </a:xfrm>
          <a:prstGeom prst="rect">
            <a:avLst/>
          </a:prstGeom>
          <a:noFill/>
        </p:spPr>
        <p:txBody>
          <a:bodyPr wrap="square" lIns="0" rIns="0" tIns="0" bIns="0" anchor="t">
            <a:spAutoFit/>
          </a:bodyPr>
          <a:lstStyle/>
          <a:p>
            <a:pPr algn="l">
              <a:lnSpc>
                <a:spcPct val="105000"/>
              </a:lnSpc>
            </a:pPr>
            <a:r>
              <a:rPr sz="1100" b="0" i="0">
                <a:solidFill>
                  <a:srgbClr val="21295C"/>
                </a:solidFill>
                <a:latin typeface="Arial"/>
              </a:rPr>
              <a:t>caught (good)</a:t>
            </a:r>
          </a:p>
        </p:txBody>
      </p:sp>
      <p:sp>
        <p:nvSpPr>
          <p:cNvPr id="10" name="Rounded Rectangle 9"/>
          <p:cNvSpPr/>
          <p:nvPr/>
        </p:nvSpPr>
        <p:spPr>
          <a:xfrm>
            <a:off x="4846320" y="1572768"/>
            <a:ext cx="3017520" cy="1005840"/>
          </a:xfrm>
          <a:prstGeom prst="roundRect">
            <a:avLst>
              <a:gd name="adj" fmla="val 8000"/>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56048" y="1645920"/>
            <a:ext cx="2816351" cy="292608"/>
          </a:xfrm>
          <a:prstGeom prst="rect">
            <a:avLst/>
          </a:prstGeom>
          <a:noFill/>
        </p:spPr>
        <p:txBody>
          <a:bodyPr wrap="square" lIns="0" rIns="0" tIns="0" bIns="0" anchor="t">
            <a:spAutoFit/>
          </a:bodyPr>
          <a:lstStyle/>
          <a:p>
            <a:pPr algn="l">
              <a:lnSpc>
                <a:spcPct val="115000"/>
              </a:lnSpc>
            </a:pPr>
            <a:r>
              <a:rPr sz="1600" b="1" i="0">
                <a:solidFill>
                  <a:srgbClr val="F0AB00"/>
                </a:solidFill>
                <a:latin typeface="Arial"/>
              </a:rPr>
              <a:t>FP</a:t>
            </a:r>
          </a:p>
        </p:txBody>
      </p:sp>
      <p:sp>
        <p:nvSpPr>
          <p:cNvPr id="12" name="TextBox 11"/>
          <p:cNvSpPr txBox="1"/>
          <p:nvPr/>
        </p:nvSpPr>
        <p:spPr>
          <a:xfrm>
            <a:off x="4956048" y="1975104"/>
            <a:ext cx="2816351" cy="530352"/>
          </a:xfrm>
          <a:prstGeom prst="rect">
            <a:avLst/>
          </a:prstGeom>
          <a:noFill/>
        </p:spPr>
        <p:txBody>
          <a:bodyPr wrap="square" lIns="0" rIns="0" tIns="0" bIns="0" anchor="t">
            <a:spAutoFit/>
          </a:bodyPr>
          <a:lstStyle/>
          <a:p>
            <a:pPr algn="l">
              <a:lnSpc>
                <a:spcPct val="105000"/>
              </a:lnSpc>
            </a:pPr>
            <a:r>
              <a:rPr sz="1100" b="0" i="0">
                <a:solidFill>
                  <a:srgbClr val="21295C"/>
                </a:solidFill>
                <a:latin typeface="Arial"/>
              </a:rPr>
              <a:t>honest customer blocked
(type I error)</a:t>
            </a:r>
          </a:p>
        </p:txBody>
      </p:sp>
      <p:sp>
        <p:nvSpPr>
          <p:cNvPr id="13" name="TextBox 12"/>
          <p:cNvSpPr txBox="1"/>
          <p:nvPr/>
        </p:nvSpPr>
        <p:spPr>
          <a:xfrm>
            <a:off x="740664" y="2688336"/>
            <a:ext cx="960120" cy="1005840"/>
          </a:xfrm>
          <a:prstGeom prst="rect">
            <a:avLst/>
          </a:prstGeom>
          <a:noFill/>
        </p:spPr>
        <p:txBody>
          <a:bodyPr wrap="square" lIns="0" rIns="0" tIns="0" bIns="0" anchor="ctr">
            <a:spAutoFit/>
          </a:bodyPr>
          <a:lstStyle/>
          <a:p>
            <a:pPr algn="ctr">
              <a:lnSpc>
                <a:spcPct val="100000"/>
              </a:lnSpc>
            </a:pPr>
            <a:r>
              <a:rPr sz="1100" b="1" i="0">
                <a:solidFill>
                  <a:srgbClr val="065A82"/>
                </a:solidFill>
                <a:latin typeface="Arial"/>
              </a:rPr>
              <a:t>System:
pass</a:t>
            </a:r>
          </a:p>
        </p:txBody>
      </p:sp>
      <p:sp>
        <p:nvSpPr>
          <p:cNvPr id="14" name="Rounded Rectangle 13"/>
          <p:cNvSpPr/>
          <p:nvPr/>
        </p:nvSpPr>
        <p:spPr>
          <a:xfrm>
            <a:off x="1783080" y="2688336"/>
            <a:ext cx="3017520" cy="1005840"/>
          </a:xfrm>
          <a:prstGeom prst="roundRect">
            <a:avLst>
              <a:gd name="adj" fmla="val 8000"/>
            </a:avLst>
          </a:prstGeom>
          <a:solidFill>
            <a:srgbClr val="E6E9F2"/>
          </a:solidFill>
          <a:ln w="1524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92808" y="2761488"/>
            <a:ext cx="2816351" cy="292608"/>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FN</a:t>
            </a:r>
          </a:p>
        </p:txBody>
      </p:sp>
      <p:sp>
        <p:nvSpPr>
          <p:cNvPr id="16" name="TextBox 15"/>
          <p:cNvSpPr txBox="1"/>
          <p:nvPr/>
        </p:nvSpPr>
        <p:spPr>
          <a:xfrm>
            <a:off x="1892808" y="3090672"/>
            <a:ext cx="2816351" cy="530352"/>
          </a:xfrm>
          <a:prstGeom prst="rect">
            <a:avLst/>
          </a:prstGeom>
          <a:noFill/>
        </p:spPr>
        <p:txBody>
          <a:bodyPr wrap="square" lIns="0" rIns="0" tIns="0" bIns="0" anchor="t">
            <a:spAutoFit/>
          </a:bodyPr>
          <a:lstStyle/>
          <a:p>
            <a:pPr algn="l">
              <a:lnSpc>
                <a:spcPct val="105000"/>
              </a:lnSpc>
            </a:pPr>
            <a:r>
              <a:rPr sz="1100" b="0" i="0">
                <a:solidFill>
                  <a:srgbClr val="21295C"/>
                </a:solidFill>
                <a:latin typeface="Arial"/>
              </a:rPr>
              <a:t>money went to the fraudster
(type II error)</a:t>
            </a:r>
          </a:p>
        </p:txBody>
      </p:sp>
      <p:sp>
        <p:nvSpPr>
          <p:cNvPr id="17" name="Rounded Rectangle 16"/>
          <p:cNvSpPr/>
          <p:nvPr/>
        </p:nvSpPr>
        <p:spPr>
          <a:xfrm>
            <a:off x="4846320" y="2688336"/>
            <a:ext cx="3017520" cy="1005840"/>
          </a:xfrm>
          <a:prstGeom prst="roundRect">
            <a:avLst>
              <a:gd name="adj" fmla="val 8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56048" y="2761488"/>
            <a:ext cx="2816351" cy="292608"/>
          </a:xfrm>
          <a:prstGeom prst="rect">
            <a:avLst/>
          </a:prstGeom>
          <a:noFill/>
        </p:spPr>
        <p:txBody>
          <a:bodyPr wrap="square" lIns="0" rIns="0" tIns="0" bIns="0" anchor="t">
            <a:spAutoFit/>
          </a:bodyPr>
          <a:lstStyle/>
          <a:p>
            <a:pPr algn="l">
              <a:lnSpc>
                <a:spcPct val="115000"/>
              </a:lnSpc>
            </a:pPr>
            <a:r>
              <a:rPr sz="1600" b="1" i="0">
                <a:solidFill>
                  <a:srgbClr val="028090"/>
                </a:solidFill>
                <a:latin typeface="Arial"/>
              </a:rPr>
              <a:t>TN</a:t>
            </a:r>
          </a:p>
        </p:txBody>
      </p:sp>
      <p:sp>
        <p:nvSpPr>
          <p:cNvPr id="19" name="TextBox 18"/>
          <p:cNvSpPr txBox="1"/>
          <p:nvPr/>
        </p:nvSpPr>
        <p:spPr>
          <a:xfrm>
            <a:off x="4956048" y="3090672"/>
            <a:ext cx="2816351" cy="530352"/>
          </a:xfrm>
          <a:prstGeom prst="rect">
            <a:avLst/>
          </a:prstGeom>
          <a:noFill/>
        </p:spPr>
        <p:txBody>
          <a:bodyPr wrap="square" lIns="0" rIns="0" tIns="0" bIns="0" anchor="t">
            <a:spAutoFit/>
          </a:bodyPr>
          <a:lstStyle/>
          <a:p>
            <a:pPr algn="l">
              <a:lnSpc>
                <a:spcPct val="105000"/>
              </a:lnSpc>
            </a:pPr>
            <a:r>
              <a:rPr sz="1100" b="0" i="0">
                <a:solidFill>
                  <a:srgbClr val="21295C"/>
                </a:solidFill>
                <a:latin typeface="Arial"/>
              </a:rPr>
              <a:t>correctly passed
(good)</a:t>
            </a:r>
          </a:p>
        </p:txBody>
      </p:sp>
      <p:sp>
        <p:nvSpPr>
          <p:cNvPr id="20" name="Rounded Rectangle 19"/>
          <p:cNvSpPr/>
          <p:nvPr/>
        </p:nvSpPr>
        <p:spPr>
          <a:xfrm>
            <a:off x="7589520" y="1078992"/>
            <a:ext cx="4114800" cy="2834640"/>
          </a:xfrm>
          <a:prstGeom prst="roundRect">
            <a:avLst>
              <a:gd name="adj" fmla="val 1075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08976" y="1225295"/>
            <a:ext cx="3675887" cy="274320"/>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Why accuracy lies</a:t>
            </a:r>
          </a:p>
        </p:txBody>
      </p:sp>
      <p:sp>
        <p:nvSpPr>
          <p:cNvPr id="22" name="TextBox 21"/>
          <p:cNvSpPr txBox="1"/>
          <p:nvPr/>
        </p:nvSpPr>
        <p:spPr>
          <a:xfrm>
            <a:off x="7808976" y="1554480"/>
            <a:ext cx="3675887" cy="1005840"/>
          </a:xfrm>
          <a:prstGeom prst="rect">
            <a:avLst/>
          </a:prstGeom>
          <a:noFill/>
        </p:spPr>
        <p:txBody>
          <a:bodyPr wrap="square" lIns="0" rIns="0" tIns="0" bIns="0" anchor="t">
            <a:spAutoFit/>
          </a:bodyPr>
          <a:lstStyle/>
          <a:p>
            <a:pPr algn="l">
              <a:lnSpc>
                <a:spcPct val="118000"/>
              </a:lnSpc>
            </a:pPr>
            <a:r>
              <a:rPr sz="1200" b="0" i="0">
                <a:solidFill>
                  <a:srgbClr val="21295C"/>
                </a:solidFill>
                <a:latin typeface="Arial"/>
              </a:rPr>
              <a:t>A stream of 1,000,000, fraud 1000 (0.1%). A model that says «everything is legitimate» gives 99.9% accuracy — and is completely useless.</a:t>
            </a:r>
          </a:p>
        </p:txBody>
      </p:sp>
      <p:sp>
        <p:nvSpPr>
          <p:cNvPr id="23" name="Rectangle 22"/>
          <p:cNvSpPr/>
          <p:nvPr/>
        </p:nvSpPr>
        <p:spPr>
          <a:xfrm>
            <a:off x="7808976" y="2596896"/>
            <a:ext cx="3675887" cy="18288"/>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08976" y="2706624"/>
            <a:ext cx="3675887" cy="274320"/>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cost-sensitive</a:t>
            </a:r>
          </a:p>
        </p:txBody>
      </p:sp>
      <p:sp>
        <p:nvSpPr>
          <p:cNvPr id="25" name="TextBox 24"/>
          <p:cNvSpPr txBox="1"/>
          <p:nvPr/>
        </p:nvSpPr>
        <p:spPr>
          <a:xfrm>
            <a:off x="7808976" y="3017520"/>
            <a:ext cx="3675887" cy="822960"/>
          </a:xfrm>
          <a:prstGeom prst="rect">
            <a:avLst/>
          </a:prstGeom>
          <a:noFill/>
        </p:spPr>
        <p:txBody>
          <a:bodyPr wrap="square" lIns="0" rIns="0" tIns="0" bIns="0" anchor="t">
            <a:spAutoFit/>
          </a:bodyPr>
          <a:lstStyle/>
          <a:p>
            <a:pPr algn="l">
              <a:lnSpc>
                <a:spcPct val="118000"/>
              </a:lnSpc>
            </a:pPr>
            <a:r>
              <a:rPr sz="1200" b="0" i="0">
                <a:solidFill>
                  <a:srgbClr val="21295C"/>
                </a:solidFill>
                <a:latin typeface="Arial"/>
              </a:rPr>
              <a:t>FP and FN differ in COST (money, trust). Minimize the total expected cost, not a «pretty» accuracy.</a:t>
            </a:r>
          </a:p>
        </p:txBody>
      </p:sp>
      <p:sp>
        <p:nvSpPr>
          <p:cNvPr id="26" name="TextBox 25"/>
          <p:cNvSpPr txBox="1"/>
          <p:nvPr/>
        </p:nvSpPr>
        <p:spPr>
          <a:xfrm>
            <a:off x="502920" y="4023360"/>
            <a:ext cx="11201400" cy="237744"/>
          </a:xfrm>
          <a:prstGeom prst="rect">
            <a:avLst/>
          </a:prstGeom>
          <a:noFill/>
        </p:spPr>
        <p:txBody>
          <a:bodyPr wrap="square" lIns="0" rIns="0" tIns="0" bIns="0" anchor="t">
            <a:spAutoFit/>
          </a:bodyPr>
          <a:lstStyle/>
          <a:p>
            <a:pPr algn="l">
              <a:lnSpc>
                <a:spcPct val="115000"/>
              </a:lnSpc>
            </a:pPr>
            <a:r>
              <a:rPr sz="1100" b="0" i="1">
                <a:solidFill>
                  <a:srgbClr val="5B6678"/>
                </a:solidFill>
                <a:latin typeface="Arial"/>
              </a:rPr>
              <a:t>The formal apparatus (sensitivity / specificity) is built in Lecture 7 on a medical example; here — the working intuition.</a:t>
            </a:r>
          </a:p>
        </p:txBody>
      </p:sp>
      <p:sp>
        <p:nvSpPr>
          <p:cNvPr id="27" name="Rounded Rectangle 26"/>
          <p:cNvSpPr/>
          <p:nvPr/>
        </p:nvSpPr>
        <p:spPr>
          <a:xfrm>
            <a:off x="502920" y="4370832"/>
            <a:ext cx="11201400" cy="7315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 y="4425696"/>
            <a:ext cx="10762488" cy="621792"/>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The first question to any anti-fraud number is NOT «what is the accuracy», but «what are the FP and FN separately, and at what cost».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«We cut FP by 25%» averages a penny FP and a catastrophic FP.</a:t>
            </a:r>
          </a:p>
        </p:txBody>
      </p:sp>
      <p:sp>
        <p:nvSpPr>
          <p:cNvPr id="3" name="Rounded Rectangle 2"/>
          <p:cNvSpPr/>
          <p:nvPr/>
        </p:nvSpPr>
        <p:spPr>
          <a:xfrm>
            <a:off x="502920" y="1078992"/>
            <a:ext cx="6446520" cy="3749039"/>
          </a:xfrm>
          <a:prstGeom prst="roundRect">
            <a:avLst>
              <a:gd name="adj" fmla="val 81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1225295"/>
            <a:ext cx="5971031" cy="274320"/>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The same class of error — cost differs by orders of magnitude</a:t>
            </a:r>
          </a:p>
        </p:txBody>
      </p:sp>
      <p:sp>
        <p:nvSpPr>
          <p:cNvPr id="5" name="Rounded Rectangle 4"/>
          <p:cNvSpPr/>
          <p:nvPr/>
        </p:nvSpPr>
        <p:spPr>
          <a:xfrm>
            <a:off x="740664" y="1554480"/>
            <a:ext cx="5971031" cy="786384"/>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627632"/>
            <a:ext cx="5678424"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FP #1 · $5 for coffee</a:t>
            </a:r>
          </a:p>
        </p:txBody>
      </p:sp>
      <p:sp>
        <p:nvSpPr>
          <p:cNvPr id="7" name="TextBox 6"/>
          <p:cNvSpPr txBox="1"/>
          <p:nvPr/>
        </p:nvSpPr>
        <p:spPr>
          <a:xfrm>
            <a:off x="886968" y="1920240"/>
            <a:ext cx="5678424" cy="384048"/>
          </a:xfrm>
          <a:prstGeom prst="rect">
            <a:avLst/>
          </a:prstGeom>
          <a:noFill/>
        </p:spPr>
        <p:txBody>
          <a:bodyPr wrap="square" lIns="0" rIns="0" tIns="0" bIns="0" anchor="t">
            <a:spAutoFit/>
          </a:bodyPr>
          <a:lstStyle/>
          <a:p>
            <a:pPr algn="l">
              <a:lnSpc>
                <a:spcPct val="105000"/>
              </a:lnSpc>
            </a:pPr>
            <a:r>
              <a:rPr sz="1100" b="0" i="0">
                <a:solidFill>
                  <a:srgbClr val="21295C"/>
                </a:solidFill>
                <a:latin typeface="Arial"/>
              </a:rPr>
              <a:t>the customer retried, forgot within an hour → cost ≈ 0, REVERSIBLE</a:t>
            </a:r>
          </a:p>
        </p:txBody>
      </p:sp>
      <p:sp>
        <p:nvSpPr>
          <p:cNvPr id="8" name="Rounded Rectangle 7"/>
          <p:cNvSpPr/>
          <p:nvPr/>
        </p:nvSpPr>
        <p:spPr>
          <a:xfrm>
            <a:off x="740664" y="2414015"/>
            <a:ext cx="5971031"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487168"/>
            <a:ext cx="5678424"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FP #2 · $5000 for treatment abroad</a:t>
            </a:r>
          </a:p>
        </p:txBody>
      </p:sp>
      <p:sp>
        <p:nvSpPr>
          <p:cNvPr id="10" name="TextBox 9"/>
          <p:cNvSpPr txBox="1"/>
          <p:nvPr/>
        </p:nvSpPr>
        <p:spPr>
          <a:xfrm>
            <a:off x="886968" y="2779775"/>
            <a:ext cx="5678424" cy="384048"/>
          </a:xfrm>
          <a:prstGeom prst="rect">
            <a:avLst/>
          </a:prstGeom>
          <a:noFill/>
        </p:spPr>
        <p:txBody>
          <a:bodyPr wrap="square" lIns="0" rIns="0" tIns="0" bIns="0" anchor="t">
            <a:spAutoFit/>
          </a:bodyPr>
          <a:lstStyle/>
          <a:p>
            <a:pPr algn="l">
              <a:lnSpc>
                <a:spcPct val="105000"/>
              </a:lnSpc>
            </a:pPr>
            <a:r>
              <a:rPr sz="1100" b="0" i="0">
                <a:solidFill>
                  <a:srgbClr val="21295C"/>
                </a:solidFill>
                <a:latin typeface="Arial"/>
              </a:rPr>
              <a:t>hard to get through, time is critical → IRREVERSIBLE in its consequences</a:t>
            </a:r>
          </a:p>
        </p:txBody>
      </p:sp>
      <p:sp>
        <p:nvSpPr>
          <p:cNvPr id="11" name="TextBox 10"/>
          <p:cNvSpPr txBox="1"/>
          <p:nvPr/>
        </p:nvSpPr>
        <p:spPr>
          <a:xfrm>
            <a:off x="740664" y="3310127"/>
            <a:ext cx="5971031" cy="676656"/>
          </a:xfrm>
          <a:prstGeom prst="rect">
            <a:avLst/>
          </a:prstGeom>
          <a:noFill/>
        </p:spPr>
        <p:txBody>
          <a:bodyPr wrap="square" lIns="0" rIns="0" tIns="0" bIns="0" anchor="t">
            <a:spAutoFit/>
          </a:bodyPr>
          <a:lstStyle/>
          <a:p>
            <a:pPr algn="l">
              <a:lnSpc>
                <a:spcPct val="112000"/>
              </a:lnSpc>
            </a:pPr>
            <a:r>
              <a:rPr sz="1150" b="1" i="0">
                <a:solidFill>
                  <a:srgbClr val="028090"/>
                </a:solidFill>
                <a:latin typeface="Arial"/>
              </a:rPr>
              <a:t>precision ↔ recall — a TRADE-OFF, not a task of «both to zero». A better model shifts the curve; the point is chosen by the engineer per the cost of error.</a:t>
            </a:r>
          </a:p>
        </p:txBody>
      </p:sp>
      <p:sp>
        <p:nvSpPr>
          <p:cNvPr id="12" name="Rounded Rectangle 11"/>
          <p:cNvSpPr/>
          <p:nvPr/>
        </p:nvSpPr>
        <p:spPr>
          <a:xfrm>
            <a:off x="740664" y="4041648"/>
            <a:ext cx="5971031" cy="420624"/>
          </a:xfrm>
          <a:prstGeom prst="roundRect">
            <a:avLst>
              <a:gd name="adj" fmla="val 16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041648"/>
            <a:ext cx="5715000" cy="420624"/>
          </a:xfrm>
          <a:prstGeom prst="rect">
            <a:avLst/>
          </a:prstGeom>
          <a:noFill/>
        </p:spPr>
        <p:txBody>
          <a:bodyPr wrap="square" lIns="0" rIns="0" tIns="0" bIns="0" anchor="ctr">
            <a:spAutoFit/>
          </a:bodyPr>
          <a:lstStyle/>
          <a:p>
            <a:pPr algn="l">
              <a:lnSpc>
                <a:spcPct val="115000"/>
              </a:lnSpc>
            </a:pPr>
            <a:r>
              <a:rPr sz="1100" b="1" i="0">
                <a:solidFill>
                  <a:srgbClr val="028090"/>
                </a:solidFill>
                <a:latin typeface="Arial"/>
              </a:rPr>
              <a:t>Auto-block of the irreversible without a gate — the Zillow / Knight class</a:t>
            </a:r>
          </a:p>
        </p:txBody>
      </p:sp>
      <p:sp>
        <p:nvSpPr>
          <p:cNvPr id="14" name="Rounded Rectangle 13"/>
          <p:cNvSpPr/>
          <p:nvPr/>
        </p:nvSpPr>
        <p:spPr>
          <a:xfrm>
            <a:off x="7132320" y="1078992"/>
            <a:ext cx="4572000" cy="3749039"/>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51775" y="1133856"/>
            <a:ext cx="4133087" cy="3639311"/>
          </a:xfrm>
          <a:prstGeom prst="rect">
            <a:avLst/>
          </a:prstGeom>
          <a:noFill/>
        </p:spPr>
        <p:txBody>
          <a:bodyPr wrap="square" lIns="0" rIns="0" tIns="0" bIns="0" anchor="ctr">
            <a:spAutoFit/>
          </a:bodyPr>
          <a:lstStyle/>
          <a:p>
            <a:pPr algn="l">
              <a:lnSpc>
                <a:spcPct val="118000"/>
              </a:lnSpc>
            </a:pPr>
            <a:r>
              <a:rPr sz="1300" b="0" i="0">
                <a:solidFill>
                  <a:srgbClr val="21295C"/>
                </a:solidFill>
                <a:latin typeface="Arial"/>
              </a:rPr>
              <a:t>Criterion:
• auto-hard block — only for the reversible / small
• large / irreversible → a soft challenge (3DS, call, push) + a fast human channel for unblocking
• a hard AML threshold — a rules-engine (law, not «with probability 0.97»)
The cost of FP averages the penny and the catastrophic — measure them separately.</a:t>
            </a:r>
          </a:p>
        </p:txBody>
      </p:sp>
      <p:sp>
        <p:nvSpPr>
          <p:cNvPr id="16" name="Rounded Rectangle 15"/>
          <p:cNvSpPr/>
          <p:nvPr/>
        </p:nvSpPr>
        <p:spPr>
          <a:xfrm>
            <a:off x="502920" y="4937760"/>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4992624"/>
            <a:ext cx="10762488" cy="713232"/>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Scale does not reduce harm: 0.5% false of billions = tens of millions of blocked legitimate transactions. Behind each one — a specific person.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726679" y="274320"/>
            <a:ext cx="4206240" cy="5486400"/>
          </a:xfrm>
          <a:prstGeom prst="rect">
            <a:avLst/>
          </a:prstGeom>
          <a:noFill/>
        </p:spPr>
        <p:txBody>
          <a:bodyPr wrap="square" lIns="0" rIns="0" tIns="0" bIns="0" anchor="ctr">
            <a:spAutoFit/>
          </a:bodyPr>
          <a:lstStyle/>
          <a:p>
            <a:pPr algn="ctr">
              <a:lnSpc>
                <a:spcPct val="100000"/>
              </a:lnSpc>
            </a:pPr>
            <a:r>
              <a:rPr sz="40000" b="1" i="0">
                <a:solidFill>
                  <a:srgbClr val="D9E2EC"/>
                </a:solidFill>
                <a:latin typeface="Arial"/>
              </a:rPr>
              <a:t>3</a:t>
            </a:r>
          </a:p>
        </p:txBody>
      </p:sp>
      <p:sp>
        <p:nvSpPr>
          <p:cNvPr id="3" name="TextBox 2"/>
          <p:cNvSpPr txBox="1"/>
          <p:nvPr/>
        </p:nvSpPr>
        <p:spPr>
          <a:xfrm>
            <a:off x="685800" y="1417320"/>
            <a:ext cx="676656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SECTION 3</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6949440" cy="1691640"/>
          </a:xfrm>
          <a:prstGeom prst="rect">
            <a:avLst/>
          </a:prstGeom>
          <a:noFill/>
        </p:spPr>
        <p:txBody>
          <a:bodyPr wrap="square" lIns="0" rIns="0" tIns="0" bIns="0" anchor="t">
            <a:spAutoFit/>
          </a:bodyPr>
          <a:lstStyle/>
          <a:p>
            <a:pPr algn="l">
              <a:lnSpc>
                <a:spcPct val="108000"/>
              </a:lnSpc>
            </a:pPr>
            <a:r>
              <a:rPr sz="3600" b="1" i="0">
                <a:solidFill>
                  <a:srgbClr val="21295C"/>
                </a:solidFill>
                <a:latin typeface="Arial"/>
              </a:rPr>
              <a:t>Credit scoring:
why NOT a neural network</a:t>
            </a:r>
          </a:p>
        </p:txBody>
      </p:sp>
      <p:sp>
        <p:nvSpPr>
          <p:cNvPr id="6" name="TextBox 5"/>
          <p:cNvSpPr txBox="1"/>
          <p:nvPr/>
        </p:nvSpPr>
        <p:spPr>
          <a:xfrm>
            <a:off x="713232" y="4224528"/>
            <a:ext cx="6858000" cy="1417320"/>
          </a:xfrm>
          <a:prstGeom prst="rect">
            <a:avLst/>
          </a:prstGeom>
          <a:noFill/>
        </p:spPr>
        <p:txBody>
          <a:bodyPr wrap="square" lIns="0" rIns="0" tIns="0" bIns="0" anchor="t">
            <a:spAutoFit/>
          </a:bodyPr>
          <a:lstStyle/>
          <a:p>
            <a:pPr algn="l">
              <a:lnSpc>
                <a:spcPct val="122000"/>
              </a:lnSpc>
            </a:pPr>
            <a:r>
              <a:rPr sz="1800" b="0" i="1">
                <a:solidFill>
                  <a:srgbClr val="1C7293"/>
                </a:solidFill>
                <a:latin typeface="Arial"/>
              </a:rPr>
              <a:t>The anomaly has been found; now a decision that changes the customer's life — and why a black box is not allowed here.</a:t>
            </a:r>
          </a:p>
        </p:txBody>
      </p:sp>
      <p:sp>
        <p:nvSpPr>
          <p:cNvPr id="7" name="Rounded Rectangle 6"/>
          <p:cNvSpPr/>
          <p:nvPr/>
        </p:nvSpPr>
        <p:spPr>
          <a:xfrm>
            <a:off x="502920"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9496"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0</a:t>
            </a:r>
          </a:p>
        </p:txBody>
      </p:sp>
      <p:sp>
        <p:nvSpPr>
          <p:cNvPr id="9" name="TextBox 8"/>
          <p:cNvSpPr txBox="1"/>
          <p:nvPr/>
        </p:nvSpPr>
        <p:spPr>
          <a:xfrm>
            <a:off x="539496"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Opening</a:t>
            </a:r>
          </a:p>
        </p:txBody>
      </p:sp>
      <p:sp>
        <p:nvSpPr>
          <p:cNvPr id="10" name="Rounded Rectangle 9"/>
          <p:cNvSpPr/>
          <p:nvPr/>
        </p:nvSpPr>
        <p:spPr>
          <a:xfrm>
            <a:off x="2118795"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5371"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1</a:t>
            </a:r>
          </a:p>
        </p:txBody>
      </p:sp>
      <p:sp>
        <p:nvSpPr>
          <p:cNvPr id="12" name="TextBox 11"/>
          <p:cNvSpPr txBox="1"/>
          <p:nvPr/>
        </p:nvSpPr>
        <p:spPr>
          <a:xfrm>
            <a:off x="2155371"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Forecast</a:t>
            </a:r>
          </a:p>
        </p:txBody>
      </p:sp>
      <p:sp>
        <p:nvSpPr>
          <p:cNvPr id="13" name="Rounded Rectangle 12"/>
          <p:cNvSpPr/>
          <p:nvPr/>
        </p:nvSpPr>
        <p:spPr>
          <a:xfrm>
            <a:off x="3734670"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1246"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2</a:t>
            </a:r>
          </a:p>
        </p:txBody>
      </p:sp>
      <p:sp>
        <p:nvSpPr>
          <p:cNvPr id="15" name="TextBox 14"/>
          <p:cNvSpPr txBox="1"/>
          <p:nvPr/>
        </p:nvSpPr>
        <p:spPr>
          <a:xfrm>
            <a:off x="3771246"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Anomalies</a:t>
            </a:r>
          </a:p>
        </p:txBody>
      </p:sp>
      <p:sp>
        <p:nvSpPr>
          <p:cNvPr id="16" name="Rounded Rectangle 15"/>
          <p:cNvSpPr/>
          <p:nvPr/>
        </p:nvSpPr>
        <p:spPr>
          <a:xfrm>
            <a:off x="5350546" y="5943600"/>
            <a:ext cx="1506147" cy="548640"/>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87122" y="6007608"/>
            <a:ext cx="1432995" cy="201168"/>
          </a:xfrm>
          <a:prstGeom prst="rect">
            <a:avLst/>
          </a:prstGeom>
          <a:noFill/>
        </p:spPr>
        <p:txBody>
          <a:bodyPr wrap="square" lIns="0" rIns="0" tIns="0" bIns="0" anchor="t">
            <a:spAutoFit/>
          </a:bodyPr>
          <a:lstStyle/>
          <a:p>
            <a:pPr algn="ctr">
              <a:lnSpc>
                <a:spcPct val="115000"/>
              </a:lnSpc>
            </a:pPr>
            <a:r>
              <a:rPr sz="1000" b="1" i="0">
                <a:solidFill>
                  <a:srgbClr val="21295C"/>
                </a:solidFill>
                <a:latin typeface="Arial"/>
              </a:rPr>
              <a:t>Section 3</a:t>
            </a:r>
          </a:p>
        </p:txBody>
      </p:sp>
      <p:sp>
        <p:nvSpPr>
          <p:cNvPr id="18" name="TextBox 17"/>
          <p:cNvSpPr txBox="1"/>
          <p:nvPr/>
        </p:nvSpPr>
        <p:spPr>
          <a:xfrm>
            <a:off x="5387122" y="6217920"/>
            <a:ext cx="1432995" cy="237744"/>
          </a:xfrm>
          <a:prstGeom prst="rect">
            <a:avLst/>
          </a:prstGeom>
          <a:noFill/>
        </p:spPr>
        <p:txBody>
          <a:bodyPr wrap="square" lIns="0" rIns="0" tIns="0" bIns="0" anchor="t">
            <a:spAutoFit/>
          </a:bodyPr>
          <a:lstStyle/>
          <a:p>
            <a:pPr algn="ctr">
              <a:lnSpc>
                <a:spcPct val="95000"/>
              </a:lnSpc>
            </a:pPr>
            <a:r>
              <a:rPr sz="1050" b="1" i="0">
                <a:solidFill>
                  <a:srgbClr val="21295C"/>
                </a:solidFill>
                <a:latin typeface="Arial"/>
              </a:rPr>
              <a:t>Scoring</a:t>
            </a:r>
          </a:p>
        </p:txBody>
      </p:sp>
      <p:sp>
        <p:nvSpPr>
          <p:cNvPr id="19" name="Rounded Rectangle 18"/>
          <p:cNvSpPr/>
          <p:nvPr/>
        </p:nvSpPr>
        <p:spPr>
          <a:xfrm>
            <a:off x="6966421"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02997"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4</a:t>
            </a:r>
          </a:p>
        </p:txBody>
      </p:sp>
      <p:sp>
        <p:nvSpPr>
          <p:cNvPr id="21" name="TextBox 20"/>
          <p:cNvSpPr txBox="1"/>
          <p:nvPr/>
        </p:nvSpPr>
        <p:spPr>
          <a:xfrm>
            <a:off x="7002997"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LLM</a:t>
            </a:r>
          </a:p>
        </p:txBody>
      </p:sp>
      <p:sp>
        <p:nvSpPr>
          <p:cNvPr id="22" name="Rounded Rectangle 21"/>
          <p:cNvSpPr/>
          <p:nvPr/>
        </p:nvSpPr>
        <p:spPr>
          <a:xfrm>
            <a:off x="8582297"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8873"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5</a:t>
            </a:r>
          </a:p>
        </p:txBody>
      </p:sp>
      <p:sp>
        <p:nvSpPr>
          <p:cNvPr id="24" name="TextBox 23"/>
          <p:cNvSpPr txBox="1"/>
          <p:nvPr/>
        </p:nvSpPr>
        <p:spPr>
          <a:xfrm>
            <a:off x="8618873"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Recomm.</a:t>
            </a:r>
          </a:p>
        </p:txBody>
      </p:sp>
      <p:sp>
        <p:nvSpPr>
          <p:cNvPr id="25" name="Rounded Rectangle 24"/>
          <p:cNvSpPr/>
          <p:nvPr/>
        </p:nvSpPr>
        <p:spPr>
          <a:xfrm>
            <a:off x="10198172"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4748"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6</a:t>
            </a:r>
          </a:p>
        </p:txBody>
      </p:sp>
      <p:sp>
        <p:nvSpPr>
          <p:cNvPr id="27" name="TextBox 26"/>
          <p:cNvSpPr txBox="1"/>
          <p:nvPr/>
        </p:nvSpPr>
        <p:spPr>
          <a:xfrm>
            <a:off x="10234748"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Framework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300" b="1" i="0">
                <a:solidFill>
                  <a:srgbClr val="21295C"/>
                </a:solidFill>
                <a:latin typeface="Arial"/>
              </a:rPr>
              <a:t>A black box in scoring is inapplicable in principle — not «less convenient».</a:t>
            </a:r>
          </a:p>
        </p:txBody>
      </p:sp>
      <p:sp>
        <p:nvSpPr>
          <p:cNvPr id="3" name="Rounded Rectangle 2"/>
          <p:cNvSpPr/>
          <p:nvPr/>
        </p:nvSpPr>
        <p:spPr>
          <a:xfrm>
            <a:off x="502920" y="1060704"/>
            <a:ext cx="5440680" cy="87782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vel-mid.png"/>
          <p:cNvPicPr>
            <a:picLocks noChangeAspect="1"/>
          </p:cNvPicPr>
          <p:nvPr/>
        </p:nvPicPr>
        <p:blipFill>
          <a:blip r:embed="rId2"/>
          <a:stretch>
            <a:fillRect/>
          </a:stretch>
        </p:blipFill>
        <p:spPr>
          <a:xfrm>
            <a:off x="667512" y="1335024"/>
            <a:ext cx="329184" cy="329184"/>
          </a:xfrm>
          <a:prstGeom prst="rect">
            <a:avLst/>
          </a:prstGeom>
        </p:spPr>
      </p:pic>
      <p:sp>
        <p:nvSpPr>
          <p:cNvPr id="5" name="TextBox 4"/>
          <p:cNvSpPr txBox="1"/>
          <p:nvPr/>
        </p:nvSpPr>
        <p:spPr>
          <a:xfrm>
            <a:off x="1106424" y="1152144"/>
            <a:ext cx="4672584"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1. Explainability = law</a:t>
            </a:r>
          </a:p>
        </p:txBody>
      </p:sp>
      <p:sp>
        <p:nvSpPr>
          <p:cNvPr id="6" name="TextBox 5"/>
          <p:cNvSpPr txBox="1"/>
          <p:nvPr/>
        </p:nvSpPr>
        <p:spPr>
          <a:xfrm>
            <a:off x="1106424" y="1426464"/>
            <a:ext cx="4672584" cy="438912"/>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a customer who is declined is legally owed an explanation (reason codes: «high debt burden»). «The algorithm decided so» is impermissible.</a:t>
            </a:r>
          </a:p>
        </p:txBody>
      </p:sp>
      <p:sp>
        <p:nvSpPr>
          <p:cNvPr id="7" name="Rounded Rectangle 6"/>
          <p:cNvSpPr/>
          <p:nvPr/>
        </p:nvSpPr>
        <p:spPr>
          <a:xfrm>
            <a:off x="502920" y="2066543"/>
            <a:ext cx="5440680" cy="87782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atabase-mid.png"/>
          <p:cNvPicPr>
            <a:picLocks noChangeAspect="1"/>
          </p:cNvPicPr>
          <p:nvPr/>
        </p:nvPicPr>
        <p:blipFill>
          <a:blip r:embed="rId3"/>
          <a:stretch>
            <a:fillRect/>
          </a:stretch>
        </p:blipFill>
        <p:spPr>
          <a:xfrm>
            <a:off x="667512" y="2340863"/>
            <a:ext cx="329184" cy="329184"/>
          </a:xfrm>
          <a:prstGeom prst="rect">
            <a:avLst/>
          </a:prstGeom>
        </p:spPr>
      </p:pic>
      <p:sp>
        <p:nvSpPr>
          <p:cNvPr id="9" name="TextBox 8"/>
          <p:cNvSpPr txBox="1"/>
          <p:nvPr/>
        </p:nvSpPr>
        <p:spPr>
          <a:xfrm>
            <a:off x="1106424" y="2157984"/>
            <a:ext cx="4672584"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2. The data is tabular</a:t>
            </a:r>
          </a:p>
        </p:txBody>
      </p:sp>
      <p:sp>
        <p:nvSpPr>
          <p:cNvPr id="10" name="TextBox 9"/>
          <p:cNvSpPr txBox="1"/>
          <p:nvPr/>
        </p:nvSpPr>
        <p:spPr>
          <a:xfrm>
            <a:off x="1106424" y="2432303"/>
            <a:ext cx="4672584" cy="438912"/>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deep networks are strong on text/audio/image; on tabular data, boosting is competitive at incomparably greater interpretability.</a:t>
            </a:r>
          </a:p>
        </p:txBody>
      </p:sp>
      <p:sp>
        <p:nvSpPr>
          <p:cNvPr id="11" name="Rounded Rectangle 10"/>
          <p:cNvSpPr/>
          <p:nvPr/>
        </p:nvSpPr>
        <p:spPr>
          <a:xfrm>
            <a:off x="502920" y="3072384"/>
            <a:ext cx="5440680" cy="87782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adge-check-mid.png"/>
          <p:cNvPicPr>
            <a:picLocks noChangeAspect="1"/>
          </p:cNvPicPr>
          <p:nvPr/>
        </p:nvPicPr>
        <p:blipFill>
          <a:blip r:embed="rId4"/>
          <a:stretch>
            <a:fillRect/>
          </a:stretch>
        </p:blipFill>
        <p:spPr>
          <a:xfrm>
            <a:off x="667512" y="3346704"/>
            <a:ext cx="329184" cy="329184"/>
          </a:xfrm>
          <a:prstGeom prst="rect">
            <a:avLst/>
          </a:prstGeom>
        </p:spPr>
      </p:pic>
      <p:sp>
        <p:nvSpPr>
          <p:cNvPr id="13" name="TextBox 12"/>
          <p:cNvSpPr txBox="1"/>
          <p:nvPr/>
        </p:nvSpPr>
        <p:spPr>
          <a:xfrm>
            <a:off x="1106424" y="3163824"/>
            <a:ext cx="4672584"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3. Audit &gt; +1% accuracy</a:t>
            </a:r>
          </a:p>
        </p:txBody>
      </p:sp>
      <p:sp>
        <p:nvSpPr>
          <p:cNvPr id="14" name="TextBox 13"/>
          <p:cNvSpPr txBox="1"/>
          <p:nvPr/>
        </p:nvSpPr>
        <p:spPr>
          <a:xfrm>
            <a:off x="1106424" y="3438144"/>
            <a:ext cx="4672584" cy="438912"/>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the regulator must reproduce the decision, verify the absence of discrimination. A stable, explainable one matters more than an opaque, more accurate one.</a:t>
            </a:r>
          </a:p>
        </p:txBody>
      </p:sp>
      <p:sp>
        <p:nvSpPr>
          <p:cNvPr id="15" name="Rounded Rectangle 14"/>
          <p:cNvSpPr/>
          <p:nvPr/>
        </p:nvSpPr>
        <p:spPr>
          <a:xfrm>
            <a:off x="502920" y="4078224"/>
            <a:ext cx="5440680" cy="877824"/>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iangle-alert-gold.png"/>
          <p:cNvPicPr>
            <a:picLocks noChangeAspect="1"/>
          </p:cNvPicPr>
          <p:nvPr/>
        </p:nvPicPr>
        <p:blipFill>
          <a:blip r:embed="rId5"/>
          <a:stretch>
            <a:fillRect/>
          </a:stretch>
        </p:blipFill>
        <p:spPr>
          <a:xfrm>
            <a:off x="667512" y="4352544"/>
            <a:ext cx="329184" cy="329184"/>
          </a:xfrm>
          <a:prstGeom prst="rect">
            <a:avLst/>
          </a:prstGeom>
        </p:spPr>
      </p:pic>
      <p:sp>
        <p:nvSpPr>
          <p:cNvPr id="17" name="TextBox 16"/>
          <p:cNvSpPr txBox="1"/>
          <p:nvPr/>
        </p:nvSpPr>
        <p:spPr>
          <a:xfrm>
            <a:off x="1106424" y="4169663"/>
            <a:ext cx="4672584" cy="274320"/>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4. What breaks with a black box</a:t>
            </a:r>
          </a:p>
        </p:txBody>
      </p:sp>
      <p:sp>
        <p:nvSpPr>
          <p:cNvPr id="18" name="TextBox 17"/>
          <p:cNvSpPr txBox="1"/>
          <p:nvPr/>
        </p:nvSpPr>
        <p:spPr>
          <a:xfrm>
            <a:off x="1106424" y="4443984"/>
            <a:ext cx="4672584" cy="438912"/>
          </a:xfrm>
          <a:prstGeom prst="rect">
            <a:avLst/>
          </a:prstGeom>
          <a:noFill/>
        </p:spPr>
        <p:txBody>
          <a:bodyPr wrap="square" lIns="0" rIns="0" tIns="0" bIns="0" anchor="t">
            <a:spAutoFit/>
          </a:bodyPr>
          <a:lstStyle/>
          <a:p>
            <a:pPr algn="l">
              <a:lnSpc>
                <a:spcPct val="108000"/>
              </a:lnSpc>
            </a:pPr>
            <a:r>
              <a:rPr sz="1050" b="0" i="0">
                <a:solidFill>
                  <a:srgbClr val="21295C"/>
                </a:solidFill>
                <a:latin typeface="Arial"/>
              </a:rPr>
              <a:t>cannot be explained → a violation · cannot be audited for bias → a crisis (Apple Card) · unstable → cannot be defended before the regulator.</a:t>
            </a:r>
          </a:p>
        </p:txBody>
      </p:sp>
      <p:sp>
        <p:nvSpPr>
          <p:cNvPr id="19" name="Rounded Rectangle 18"/>
          <p:cNvSpPr/>
          <p:nvPr/>
        </p:nvSpPr>
        <p:spPr>
          <a:xfrm>
            <a:off x="6126480" y="1060704"/>
            <a:ext cx="5577840" cy="4151376"/>
          </a:xfrm>
          <a:prstGeom prst="roundRect">
            <a:avLst>
              <a:gd name="adj" fmla="val 734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1188719"/>
            <a:ext cx="5138927" cy="274320"/>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Anchor analogy: a credit inspector</a:t>
            </a:r>
          </a:p>
        </p:txBody>
      </p:sp>
      <p:pic>
        <p:nvPicPr>
          <p:cNvPr id="21" name="Picture 20" descr="d16-inspector-reason-codes.png"/>
          <p:cNvPicPr>
            <a:picLocks noChangeAspect="1"/>
          </p:cNvPicPr>
          <p:nvPr/>
        </p:nvPicPr>
        <p:blipFill>
          <a:blip r:embed="rId6"/>
          <a:stretch>
            <a:fillRect/>
          </a:stretch>
        </p:blipFill>
        <p:spPr>
          <a:xfrm>
            <a:off x="6291072" y="1952611"/>
            <a:ext cx="5248655" cy="2093240"/>
          </a:xfrm>
          <a:prstGeom prst="rect">
            <a:avLst/>
          </a:prstGeom>
        </p:spPr>
      </p:pic>
      <p:sp>
        <p:nvSpPr>
          <p:cNvPr id="22" name="TextBox 21"/>
          <p:cNvSpPr txBox="1"/>
          <p:nvPr/>
        </p:nvSpPr>
        <p:spPr>
          <a:xfrm>
            <a:off x="6345936" y="4535424"/>
            <a:ext cx="5138927" cy="566928"/>
          </a:xfrm>
          <a:prstGeom prst="rect">
            <a:avLst/>
          </a:prstGeom>
          <a:noFill/>
        </p:spPr>
        <p:txBody>
          <a:bodyPr wrap="square" lIns="0" rIns="0" tIns="0" bIns="0" anchor="t">
            <a:spAutoFit/>
          </a:bodyPr>
          <a:lstStyle/>
          <a:p>
            <a:pPr algn="l">
              <a:lnSpc>
                <a:spcPct val="110000"/>
              </a:lnSpc>
            </a:pPr>
            <a:r>
              <a:rPr sz="1050" b="0" i="1">
                <a:solidFill>
                  <a:srgbClr val="5B6678"/>
                </a:solidFill>
                <a:latin typeface="Arial"/>
              </a:rPr>
              <a:t>An interpretable model shows the calculation line by line (reason codes); a black box refuses to explain.</a:t>
            </a:r>
          </a:p>
        </p:txBody>
      </p:sp>
      <p:sp>
        <p:nvSpPr>
          <p:cNvPr id="23" name="Rounded Rectangle 22"/>
          <p:cNvSpPr/>
          <p:nvPr/>
        </p:nvSpPr>
        <p:spPr>
          <a:xfrm>
            <a:off x="502920" y="5358384"/>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5413248"/>
            <a:ext cx="10762488" cy="731520"/>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«New = a neural network, so better» in scoring is a structural error: explainability here is not a bonus, but a CONDITION OF LEGALITY.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300" b="1" i="0">
                <a:solidFill>
                  <a:srgbClr val="21295C"/>
                </a:solidFill>
                <a:latin typeface="Arial"/>
              </a:rPr>
              <a:t>«100% AI decisions» in Russia ≠ a neural-network black box out of control.</a:t>
            </a:r>
          </a:p>
        </p:txBody>
      </p:sp>
      <p:sp>
        <p:nvSpPr>
          <p:cNvPr id="3" name="Rounded Rectangle 2"/>
          <p:cNvSpPr/>
          <p:nvPr/>
        </p:nvSpPr>
        <p:spPr>
          <a:xfrm>
            <a:off x="502920" y="1188720"/>
            <a:ext cx="5074920" cy="3611880"/>
          </a:xfrm>
          <a:prstGeom prst="roundRect">
            <a:avLst>
              <a:gd name="adj" fmla="val 843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1335024"/>
            <a:ext cx="4599431" cy="292608"/>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Sberbank · since February–March 2024</a:t>
            </a:r>
          </a:p>
        </p:txBody>
      </p:sp>
      <p:sp>
        <p:nvSpPr>
          <p:cNvPr id="5" name="Rounded Rectangle 4"/>
          <p:cNvSpPr/>
          <p:nvPr/>
        </p:nvSpPr>
        <p:spPr>
          <a:xfrm>
            <a:off x="740664" y="1700784"/>
            <a:ext cx="4599431" cy="914400"/>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792224"/>
            <a:ext cx="4306824" cy="384048"/>
          </a:xfrm>
          <a:prstGeom prst="rect">
            <a:avLst/>
          </a:prstGeom>
          <a:noFill/>
        </p:spPr>
        <p:txBody>
          <a:bodyPr wrap="square" lIns="0" rIns="0" tIns="0" bIns="0" anchor="t">
            <a:spAutoFit/>
          </a:bodyPr>
          <a:lstStyle/>
          <a:p>
            <a:pPr algn="l">
              <a:lnSpc>
                <a:spcPct val="105000"/>
              </a:lnSpc>
            </a:pPr>
            <a:r>
              <a:rPr sz="1200" b="1" i="0">
                <a:solidFill>
                  <a:srgbClr val="065A82"/>
                </a:solidFill>
                <a:latin typeface="Arial"/>
              </a:rPr>
              <a:t>Decisions on individuals</a:t>
            </a:r>
          </a:p>
        </p:txBody>
      </p:sp>
      <p:sp>
        <p:nvSpPr>
          <p:cNvPr id="7" name="TextBox 6"/>
          <p:cNvSpPr txBox="1"/>
          <p:nvPr/>
        </p:nvSpPr>
        <p:spPr>
          <a:xfrm>
            <a:off x="886968" y="2157984"/>
            <a:ext cx="4306824" cy="402336"/>
          </a:xfrm>
          <a:prstGeom prst="rect">
            <a:avLst/>
          </a:prstGeom>
          <a:noFill/>
        </p:spPr>
        <p:txBody>
          <a:bodyPr wrap="square" lIns="0" rIns="0" tIns="0" bIns="0" anchor="t">
            <a:spAutoFit/>
          </a:bodyPr>
          <a:lstStyle/>
          <a:p>
            <a:pPr algn="l">
              <a:lnSpc>
                <a:spcPct val="115000"/>
              </a:lnSpc>
            </a:pPr>
            <a:r>
              <a:rPr sz="2000" b="1" i="0">
                <a:solidFill>
                  <a:srgbClr val="21295C"/>
                </a:solidFill>
                <a:latin typeface="Arial"/>
              </a:rPr>
              <a:t>~100% AI</a:t>
            </a:r>
          </a:p>
        </p:txBody>
      </p:sp>
      <p:sp>
        <p:nvSpPr>
          <p:cNvPr id="8" name="Rounded Rectangle 7"/>
          <p:cNvSpPr/>
          <p:nvPr/>
        </p:nvSpPr>
        <p:spPr>
          <a:xfrm>
            <a:off x="740664" y="2688336"/>
            <a:ext cx="4599431" cy="914400"/>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779776"/>
            <a:ext cx="4306824" cy="384048"/>
          </a:xfrm>
          <a:prstGeom prst="rect">
            <a:avLst/>
          </a:prstGeom>
          <a:noFill/>
        </p:spPr>
        <p:txBody>
          <a:bodyPr wrap="square" lIns="0" rIns="0" tIns="0" bIns="0" anchor="t">
            <a:spAutoFit/>
          </a:bodyPr>
          <a:lstStyle/>
          <a:p>
            <a:pPr algn="l">
              <a:lnSpc>
                <a:spcPct val="105000"/>
              </a:lnSpc>
            </a:pPr>
            <a:r>
              <a:rPr sz="1200" b="1" i="0">
                <a:solidFill>
                  <a:srgbClr val="065A82"/>
                </a:solidFill>
                <a:latin typeface="Arial"/>
              </a:rPr>
              <a:t>Scoring model</a:t>
            </a:r>
          </a:p>
        </p:txBody>
      </p:sp>
      <p:sp>
        <p:nvSpPr>
          <p:cNvPr id="10" name="TextBox 9"/>
          <p:cNvSpPr txBox="1"/>
          <p:nvPr/>
        </p:nvSpPr>
        <p:spPr>
          <a:xfrm>
            <a:off x="886968" y="3145536"/>
            <a:ext cx="4306824" cy="402336"/>
          </a:xfrm>
          <a:prstGeom prst="rect">
            <a:avLst/>
          </a:prstGeom>
          <a:noFill/>
        </p:spPr>
        <p:txBody>
          <a:bodyPr wrap="square" lIns="0" rIns="0" tIns="0" bIns="0" anchor="t">
            <a:spAutoFit/>
          </a:bodyPr>
          <a:lstStyle/>
          <a:p>
            <a:pPr algn="l">
              <a:lnSpc>
                <a:spcPct val="115000"/>
              </a:lnSpc>
            </a:pPr>
            <a:r>
              <a:rPr sz="2000" b="1" i="0">
                <a:solidFill>
                  <a:srgbClr val="21295C"/>
                </a:solidFill>
                <a:latin typeface="Arial"/>
              </a:rPr>
              <a:t>up to 5000 parameters</a:t>
            </a:r>
          </a:p>
        </p:txBody>
      </p:sp>
      <p:sp>
        <p:nvSpPr>
          <p:cNvPr id="11" name="Rounded Rectangle 10"/>
          <p:cNvSpPr/>
          <p:nvPr/>
        </p:nvSpPr>
        <p:spPr>
          <a:xfrm>
            <a:off x="740664" y="3675888"/>
            <a:ext cx="4599431" cy="91440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767328"/>
            <a:ext cx="4306824" cy="384048"/>
          </a:xfrm>
          <a:prstGeom prst="rect">
            <a:avLst/>
          </a:prstGeom>
          <a:noFill/>
        </p:spPr>
        <p:txBody>
          <a:bodyPr wrap="square" lIns="0" rIns="0" tIns="0" bIns="0" anchor="t">
            <a:spAutoFit/>
          </a:bodyPr>
          <a:lstStyle/>
          <a:p>
            <a:pPr algn="l">
              <a:lnSpc>
                <a:spcPct val="105000"/>
              </a:lnSpc>
            </a:pPr>
            <a:r>
              <a:rPr sz="1200" b="1" i="0">
                <a:solidFill>
                  <a:srgbClr val="065A82"/>
                </a:solidFill>
                <a:latin typeface="Arial"/>
              </a:rPr>
              <a:t>AI effect across all lines, 2023</a:t>
            </a:r>
          </a:p>
        </p:txBody>
      </p:sp>
      <p:sp>
        <p:nvSpPr>
          <p:cNvPr id="13" name="TextBox 12"/>
          <p:cNvSpPr txBox="1"/>
          <p:nvPr/>
        </p:nvSpPr>
        <p:spPr>
          <a:xfrm>
            <a:off x="886968" y="4133088"/>
            <a:ext cx="4306824" cy="402336"/>
          </a:xfrm>
          <a:prstGeom prst="rect">
            <a:avLst/>
          </a:prstGeom>
          <a:noFill/>
        </p:spPr>
        <p:txBody>
          <a:bodyPr wrap="square" lIns="0" rIns="0" tIns="0" bIns="0" anchor="t">
            <a:spAutoFit/>
          </a:bodyPr>
          <a:lstStyle/>
          <a:p>
            <a:pPr algn="l">
              <a:lnSpc>
                <a:spcPct val="115000"/>
              </a:lnSpc>
            </a:pPr>
            <a:r>
              <a:rPr sz="2000" b="1" i="0">
                <a:solidFill>
                  <a:srgbClr val="F0AB00"/>
                </a:solidFill>
                <a:latin typeface="Arial"/>
              </a:rPr>
              <a:t>+350 bn ₽</a:t>
            </a:r>
          </a:p>
        </p:txBody>
      </p:sp>
      <p:sp>
        <p:nvSpPr>
          <p:cNvPr id="14" name="Rounded Rectangle 13"/>
          <p:cNvSpPr/>
          <p:nvPr/>
        </p:nvSpPr>
        <p:spPr>
          <a:xfrm>
            <a:off x="5760720" y="1188720"/>
            <a:ext cx="5943600" cy="3611880"/>
          </a:xfrm>
          <a:prstGeom prst="roundRect">
            <a:avLst>
              <a:gd name="adj" fmla="val 843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98464" y="1316736"/>
            <a:ext cx="5468112" cy="256032"/>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«100% AI» actually means:</a:t>
            </a:r>
          </a:p>
        </p:txBody>
      </p:sp>
      <p:sp>
        <p:nvSpPr>
          <p:cNvPr id="16" name="Oval 15"/>
          <p:cNvSpPr/>
          <p:nvPr/>
        </p:nvSpPr>
        <p:spPr>
          <a:xfrm>
            <a:off x="6035040" y="1746504"/>
            <a:ext cx="109728" cy="1097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2783" y="1627632"/>
            <a:ext cx="5193792" cy="475488"/>
          </a:xfrm>
          <a:prstGeom prst="rect">
            <a:avLst/>
          </a:prstGeom>
          <a:noFill/>
        </p:spPr>
        <p:txBody>
          <a:bodyPr wrap="square" lIns="0" rIns="0" tIns="0" bIns="0" anchor="ctr">
            <a:spAutoFit/>
          </a:bodyPr>
          <a:lstStyle/>
          <a:p>
            <a:pPr algn="l">
              <a:lnSpc>
                <a:spcPct val="110000"/>
              </a:lnSpc>
            </a:pPr>
            <a:r>
              <a:rPr sz="1200" b="0" i="0">
                <a:solidFill>
                  <a:srgbClr val="21295C"/>
                </a:solidFill>
                <a:latin typeface="Arial"/>
              </a:rPr>
              <a:t>high automation of the pipeline on interpretable models</a:t>
            </a:r>
          </a:p>
        </p:txBody>
      </p:sp>
      <p:sp>
        <p:nvSpPr>
          <p:cNvPr id="18" name="Oval 17"/>
          <p:cNvSpPr/>
          <p:nvPr/>
        </p:nvSpPr>
        <p:spPr>
          <a:xfrm>
            <a:off x="6035040" y="2350008"/>
            <a:ext cx="109728" cy="1097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72783" y="2231136"/>
            <a:ext cx="5193792" cy="475488"/>
          </a:xfrm>
          <a:prstGeom prst="rect">
            <a:avLst/>
          </a:prstGeom>
          <a:noFill/>
        </p:spPr>
        <p:txBody>
          <a:bodyPr wrap="square" lIns="0" rIns="0" tIns="0" bIns="0" anchor="ctr">
            <a:spAutoFit/>
          </a:bodyPr>
          <a:lstStyle/>
          <a:p>
            <a:pPr algn="l">
              <a:lnSpc>
                <a:spcPct val="110000"/>
              </a:lnSpc>
            </a:pPr>
            <a:r>
              <a:rPr sz="1200" b="0" i="0">
                <a:solidFill>
                  <a:srgbClr val="21295C"/>
                </a:solidFill>
                <a:latin typeface="Arial"/>
              </a:rPr>
              <a:t>reason codes on every decision</a:t>
            </a:r>
          </a:p>
        </p:txBody>
      </p:sp>
      <p:sp>
        <p:nvSpPr>
          <p:cNvPr id="20" name="Oval 19"/>
          <p:cNvSpPr/>
          <p:nvPr/>
        </p:nvSpPr>
        <p:spPr>
          <a:xfrm>
            <a:off x="6035040" y="2953512"/>
            <a:ext cx="109728" cy="10972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72783" y="2834640"/>
            <a:ext cx="5193792" cy="475488"/>
          </a:xfrm>
          <a:prstGeom prst="rect">
            <a:avLst/>
          </a:prstGeom>
          <a:noFill/>
        </p:spPr>
        <p:txBody>
          <a:bodyPr wrap="square" lIns="0" rIns="0" tIns="0" bIns="0" anchor="ctr">
            <a:spAutoFit/>
          </a:bodyPr>
          <a:lstStyle/>
          <a:p>
            <a:pPr algn="l">
              <a:lnSpc>
                <a:spcPct val="110000"/>
              </a:lnSpc>
            </a:pPr>
            <a:r>
              <a:rPr sz="1200" b="0" i="0">
                <a:solidFill>
                  <a:srgbClr val="21295C"/>
                </a:solidFill>
                <a:latin typeface="Arial"/>
              </a:rPr>
              <a:t>regulatory supervision by the Bank of Russia</a:t>
            </a:r>
          </a:p>
        </p:txBody>
      </p:sp>
      <p:sp>
        <p:nvSpPr>
          <p:cNvPr id="22" name="Rounded Rectangle 21"/>
          <p:cNvSpPr/>
          <p:nvPr/>
        </p:nvSpPr>
        <p:spPr>
          <a:xfrm>
            <a:off x="5943600" y="3438144"/>
            <a:ext cx="5577840" cy="676656"/>
          </a:xfrm>
          <a:prstGeom prst="roundRect">
            <a:avLst>
              <a:gd name="adj" fmla="val 12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108192" y="3721608"/>
            <a:ext cx="118872" cy="118872"/>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4224" y="3438144"/>
            <a:ext cx="5102352" cy="676656"/>
          </a:xfrm>
          <a:prstGeom prst="rect">
            <a:avLst/>
          </a:prstGeom>
          <a:noFill/>
        </p:spPr>
        <p:txBody>
          <a:bodyPr wrap="square" lIns="0" rIns="0" tIns="0" bIns="0" anchor="ctr">
            <a:spAutoFit/>
          </a:bodyPr>
          <a:lstStyle/>
          <a:p>
            <a:pPr algn="l">
              <a:lnSpc>
                <a:spcPct val="112000"/>
              </a:lnSpc>
            </a:pPr>
            <a:r>
              <a:rPr sz="1200" b="1" i="0">
                <a:solidFill>
                  <a:srgbClr val="21295C"/>
                </a:solidFill>
                <a:latin typeface="Arial"/>
              </a:rPr>
              <a:t>the customer's retained right to a human: &gt; 80% of financial organizations offer a human opt-out</a:t>
            </a:r>
          </a:p>
        </p:txBody>
      </p:sp>
      <p:sp>
        <p:nvSpPr>
          <p:cNvPr id="25" name="Rounded Rectangle 24"/>
          <p:cNvSpPr/>
          <p:nvPr/>
        </p:nvSpPr>
        <p:spPr>
          <a:xfrm>
            <a:off x="5760720" y="4151376"/>
            <a:ext cx="5943600" cy="54864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6" y="4206240"/>
            <a:ext cx="5504688" cy="438912"/>
          </a:xfrm>
          <a:prstGeom prst="rect">
            <a:avLst/>
          </a:prstGeom>
          <a:noFill/>
        </p:spPr>
        <p:txBody>
          <a:bodyPr wrap="square" lIns="0" rIns="0" tIns="0" bIns="0" anchor="ctr">
            <a:spAutoFit/>
          </a:bodyPr>
          <a:lstStyle/>
          <a:p>
            <a:pPr algn="l">
              <a:lnSpc>
                <a:spcPct val="118000"/>
              </a:lnSpc>
            </a:pPr>
            <a:r>
              <a:rPr sz="1150" b="0" i="0">
                <a:solidFill>
                  <a:srgbClr val="21295C"/>
                </a:solidFill>
                <a:latin typeface="Arial"/>
              </a:rPr>
              <a:t>The type of AI — tabular ML, chosen because of explainability, not in spite of it. The lecture's thesis at the scale of the largest bank.</a:t>
            </a:r>
          </a:p>
        </p:txBody>
      </p:sp>
      <p:sp>
        <p:nvSpPr>
          <p:cNvPr id="27" name="TextBox 26"/>
          <p:cNvSpPr txBox="1"/>
          <p:nvPr/>
        </p:nvSpPr>
        <p:spPr>
          <a:xfrm>
            <a:off x="502920" y="6437376"/>
            <a:ext cx="11201400" cy="310896"/>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Per the bank's statements (TAdviser/AdIndex/Interfax, 2024) and Bank of Russia materials (20.11.2025); the numbers are verified on the day of the lecture.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300" b="1" i="0">
                <a:solidFill>
                  <a:srgbClr val="21295C"/>
                </a:solidFill>
                <a:latin typeface="Arial"/>
              </a:rPr>
              <a:t>Even a formally lawful model without explainability creates a crisis.</a:t>
            </a:r>
          </a:p>
        </p:txBody>
      </p:sp>
      <p:sp>
        <p:nvSpPr>
          <p:cNvPr id="3" name="Rounded Rectangle 2"/>
          <p:cNvSpPr/>
          <p:nvPr/>
        </p:nvSpPr>
        <p:spPr>
          <a:xfrm>
            <a:off x="502920" y="1078992"/>
            <a:ext cx="580644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1225295"/>
            <a:ext cx="5330952" cy="292608"/>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Apple Card / Goldman Sachs · 2019–2021</a:t>
            </a:r>
          </a:p>
        </p:txBody>
      </p:sp>
      <p:sp>
        <p:nvSpPr>
          <p:cNvPr id="5" name="Oval 4"/>
          <p:cNvSpPr/>
          <p:nvPr/>
        </p:nvSpPr>
        <p:spPr>
          <a:xfrm>
            <a:off x="740664" y="1627632"/>
            <a:ext cx="118872" cy="118872"/>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1572768"/>
            <a:ext cx="5093207" cy="676656"/>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Nov 2019: a viral thread — the limit is ×20 higher for the husband (while the wife's credit rating is higher)</a:t>
            </a:r>
          </a:p>
        </p:txBody>
      </p:sp>
      <p:sp>
        <p:nvSpPr>
          <p:cNvPr id="7" name="Oval 6"/>
          <p:cNvSpPr/>
          <p:nvPr/>
        </p:nvSpPr>
        <p:spPr>
          <a:xfrm>
            <a:off x="740664" y="2359152"/>
            <a:ext cx="118872" cy="118872"/>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304288"/>
            <a:ext cx="5093207" cy="676656"/>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NYDFS opened an investigation (~400,000 applicants)</a:t>
            </a:r>
          </a:p>
        </p:txBody>
      </p:sp>
      <p:sp>
        <p:nvSpPr>
          <p:cNvPr id="9" name="Oval 8"/>
          <p:cNvSpPr/>
          <p:nvPr/>
        </p:nvSpPr>
        <p:spPr>
          <a:xfrm>
            <a:off x="740664" y="3090672"/>
            <a:ext cx="118872" cy="118872"/>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3035808"/>
            <a:ext cx="5093207" cy="676656"/>
          </a:xfrm>
          <a:prstGeom prst="rect">
            <a:avLst/>
          </a:prstGeom>
          <a:noFill/>
        </p:spPr>
        <p:txBody>
          <a:bodyPr wrap="square" lIns="0" rIns="0" tIns="0" bIns="0" anchor="t">
            <a:spAutoFit/>
          </a:bodyPr>
          <a:lstStyle/>
          <a:p>
            <a:pPr algn="l">
              <a:lnSpc>
                <a:spcPct val="110000"/>
              </a:lnSpc>
            </a:pPr>
            <a:r>
              <a:rPr sz="1150" b="1" i="0">
                <a:solidFill>
                  <a:srgbClr val="21295C"/>
                </a:solidFill>
                <a:latin typeface="Arial"/>
              </a:rPr>
              <a:t>March 2021: NYDFS found NO violation of the law</a:t>
            </a:r>
          </a:p>
        </p:txBody>
      </p:sp>
      <p:sp>
        <p:nvSpPr>
          <p:cNvPr id="11" name="Oval 10"/>
          <p:cNvSpPr/>
          <p:nvPr/>
        </p:nvSpPr>
        <p:spPr>
          <a:xfrm>
            <a:off x="740664" y="3822191"/>
            <a:ext cx="118872" cy="118872"/>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3767328"/>
            <a:ext cx="5093207" cy="676656"/>
          </a:xfrm>
          <a:prstGeom prst="rect">
            <a:avLst/>
          </a:prstGeom>
          <a:noFill/>
        </p:spPr>
        <p:txBody>
          <a:bodyPr wrap="square" lIns="0" rIns="0" tIns="0" bIns="0" anchor="t">
            <a:spAutoFit/>
          </a:bodyPr>
          <a:lstStyle/>
          <a:p>
            <a:pPr algn="l">
              <a:lnSpc>
                <a:spcPct val="110000"/>
              </a:lnSpc>
            </a:pPr>
            <a:r>
              <a:rPr sz="1150" b="0" i="0">
                <a:solidFill>
                  <a:srgbClr val="21295C"/>
                </a:solidFill>
                <a:latin typeface="Arial"/>
              </a:rPr>
              <a:t>BUT: customers received no explanations → a regulatory-reputational crisis</a:t>
            </a:r>
          </a:p>
        </p:txBody>
      </p:sp>
      <p:sp>
        <p:nvSpPr>
          <p:cNvPr id="13" name="TextBox 12"/>
          <p:cNvSpPr txBox="1"/>
          <p:nvPr/>
        </p:nvSpPr>
        <p:spPr>
          <a:xfrm>
            <a:off x="740664" y="4517136"/>
            <a:ext cx="5330952" cy="365760"/>
          </a:xfrm>
          <a:prstGeom prst="rect">
            <a:avLst/>
          </a:prstGeom>
          <a:noFill/>
        </p:spPr>
        <p:txBody>
          <a:bodyPr wrap="square" lIns="0" rIns="0" tIns="0" bIns="0" anchor="t">
            <a:spAutoFit/>
          </a:bodyPr>
          <a:lstStyle/>
          <a:p>
            <a:pPr algn="l">
              <a:lnSpc>
                <a:spcPct val="105000"/>
              </a:lnSpc>
            </a:pPr>
            <a:r>
              <a:rPr sz="1100" b="0" i="1">
                <a:solidFill>
                  <a:srgbClr val="5B6678"/>
                </a:solidFill>
                <a:latin typeface="Arial"/>
              </a:rPr>
              <a:t>To claim «discrimination was proven» is factually incorrect.</a:t>
            </a:r>
          </a:p>
        </p:txBody>
      </p:sp>
      <p:sp>
        <p:nvSpPr>
          <p:cNvPr id="14" name="Rounded Rectangle 13"/>
          <p:cNvSpPr/>
          <p:nvPr/>
        </p:nvSpPr>
        <p:spPr>
          <a:xfrm>
            <a:off x="6492240" y="1078992"/>
            <a:ext cx="5212080" cy="2121408"/>
          </a:xfrm>
          <a:prstGeom prst="roundRect">
            <a:avLst>
              <a:gd name="adj" fmla="val 1436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11696" y="1207007"/>
            <a:ext cx="4773168" cy="274320"/>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Proxy bias «in plain terms»</a:t>
            </a:r>
          </a:p>
        </p:txBody>
      </p:sp>
      <p:sp>
        <p:nvSpPr>
          <p:cNvPr id="16" name="TextBox 15"/>
          <p:cNvSpPr txBox="1"/>
          <p:nvPr/>
        </p:nvSpPr>
        <p:spPr>
          <a:xfrm>
            <a:off x="6711696" y="1517904"/>
            <a:ext cx="4773168" cy="1572768"/>
          </a:xfrm>
          <a:prstGeom prst="rect">
            <a:avLst/>
          </a:prstGeom>
          <a:noFill/>
        </p:spPr>
        <p:txBody>
          <a:bodyPr wrap="square" lIns="0" rIns="0" tIns="0" bIns="0" anchor="t">
            <a:spAutoFit/>
          </a:bodyPr>
          <a:lstStyle/>
          <a:p>
            <a:pPr algn="l">
              <a:lnSpc>
                <a:spcPct val="118000"/>
              </a:lnSpc>
            </a:pPr>
            <a:r>
              <a:rPr sz="1200" b="0" i="0">
                <a:solidFill>
                  <a:srgbClr val="21295C"/>
                </a:solidFill>
                <a:latin typeface="Arial"/>
              </a:rPr>
              <a:t>The engineer does not feed in gender/race. But features remain that CORRELATE with them: postal code, spending history, employment. The model, optimizing accuracy, INDIRECTLY reconstructs the forbidden attribute through a proxy — without any intent.</a:t>
            </a:r>
          </a:p>
        </p:txBody>
      </p:sp>
      <p:sp>
        <p:nvSpPr>
          <p:cNvPr id="17" name="Rounded Rectangle 16"/>
          <p:cNvSpPr/>
          <p:nvPr/>
        </p:nvSpPr>
        <p:spPr>
          <a:xfrm>
            <a:off x="6492240" y="3346704"/>
            <a:ext cx="5212080" cy="100584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11696" y="3401568"/>
            <a:ext cx="4773168" cy="896112"/>
          </a:xfrm>
          <a:prstGeom prst="rect">
            <a:avLst/>
          </a:prstGeom>
          <a:noFill/>
        </p:spPr>
        <p:txBody>
          <a:bodyPr wrap="square" lIns="0" rIns="0" tIns="0" bIns="0" anchor="ctr">
            <a:spAutoFit/>
          </a:bodyPr>
          <a:lstStyle/>
          <a:p>
            <a:pPr algn="l">
              <a:lnSpc>
                <a:spcPct val="118000"/>
              </a:lnSpc>
            </a:pPr>
            <a:r>
              <a:rPr sz="1200" b="0" i="0">
                <a:solidFill>
                  <a:srgbClr val="21295C"/>
                </a:solidFill>
                <a:latin typeface="Arial"/>
              </a:rPr>
              <a:t>Criterion: a regulated decision requires simultaneously reason codes + an appeal path (a human on the contested one) + a bias audit of outcomes BEFORE production.</a:t>
            </a:r>
          </a:p>
        </p:txBody>
      </p:sp>
      <p:sp>
        <p:nvSpPr>
          <p:cNvPr id="19" name="TextBox 18"/>
          <p:cNvSpPr txBox="1"/>
          <p:nvPr/>
        </p:nvSpPr>
        <p:spPr>
          <a:xfrm>
            <a:off x="6528816" y="4425696"/>
            <a:ext cx="5212080" cy="329184"/>
          </a:xfrm>
          <a:prstGeom prst="rect">
            <a:avLst/>
          </a:prstGeom>
          <a:noFill/>
        </p:spPr>
        <p:txBody>
          <a:bodyPr wrap="square" lIns="0" rIns="0" tIns="0" bIns="0" anchor="t">
            <a:spAutoFit/>
          </a:bodyPr>
          <a:lstStyle/>
          <a:p>
            <a:pPr algn="l">
              <a:lnSpc>
                <a:spcPct val="115000"/>
              </a:lnSpc>
            </a:pPr>
            <a:r>
              <a:rPr sz="1050" b="0" i="1">
                <a:solidFill>
                  <a:srgbClr val="5B6678"/>
                </a:solidFill>
                <a:latin typeface="Arial"/>
              </a:rPr>
              <a:t>The canonical analysis of the mechanism (Obermeyer/Optum) — Lecture 7.</a:t>
            </a:r>
          </a:p>
        </p:txBody>
      </p:sp>
      <p:sp>
        <p:nvSpPr>
          <p:cNvPr id="20" name="Rounded Rectangle 19"/>
          <p:cNvSpPr/>
          <p:nvPr/>
        </p:nvSpPr>
        <p:spPr>
          <a:xfrm>
            <a:off x="502920" y="4901184"/>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4956048"/>
            <a:ext cx="10762488" cy="731520"/>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«We do not use protected attributes» is a NECESSARY but wholly insufficient condition. The only proof is a direct audit of outcomes by group.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300" b="1" i="0">
                <a:solidFill>
                  <a:srgbClr val="21295C"/>
                </a:solidFill>
                <a:latin typeface="Arial"/>
              </a:rPr>
              <a:t>The higher the autonomy, the stricter the gate around it must be.</a:t>
            </a:r>
          </a:p>
        </p:txBody>
      </p:sp>
      <p:sp>
        <p:nvSpPr>
          <p:cNvPr id="3" name="Rounded Rectangle 2"/>
          <p:cNvSpPr/>
          <p:nvPr/>
        </p:nvSpPr>
        <p:spPr>
          <a:xfrm>
            <a:off x="502920" y="1097280"/>
            <a:ext cx="11201400" cy="1463040"/>
          </a:xfrm>
          <a:prstGeom prst="roundRect">
            <a:avLst>
              <a:gd name="adj" fmla="val 208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1225295"/>
            <a:ext cx="10725912" cy="27432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One class of error — three different types of AI:</a:t>
            </a:r>
          </a:p>
        </p:txBody>
      </p:sp>
      <p:sp>
        <p:nvSpPr>
          <p:cNvPr id="5" name="Rounded Rectangle 4"/>
          <p:cNvSpPr/>
          <p:nvPr/>
        </p:nvSpPr>
        <p:spPr>
          <a:xfrm>
            <a:off x="740664" y="1572768"/>
            <a:ext cx="3453384" cy="859536"/>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1645919"/>
            <a:ext cx="3233928" cy="274320"/>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Zillow</a:t>
            </a:r>
          </a:p>
        </p:txBody>
      </p:sp>
      <p:sp>
        <p:nvSpPr>
          <p:cNvPr id="7" name="TextBox 6"/>
          <p:cNvSpPr txBox="1"/>
          <p:nvPr/>
        </p:nvSpPr>
        <p:spPr>
          <a:xfrm>
            <a:off x="850392" y="1920240"/>
            <a:ext cx="3233928" cy="457200"/>
          </a:xfrm>
          <a:prstGeom prst="rect">
            <a:avLst/>
          </a:prstGeom>
          <a:noFill/>
        </p:spPr>
        <p:txBody>
          <a:bodyPr wrap="square" lIns="0" rIns="0" tIns="0" bIns="0" anchor="t">
            <a:spAutoFit/>
          </a:bodyPr>
          <a:lstStyle/>
          <a:p>
            <a:pPr algn="l">
              <a:lnSpc>
                <a:spcPct val="105000"/>
              </a:lnSpc>
            </a:pPr>
            <a:r>
              <a:rPr sz="1100" b="0" i="0">
                <a:solidFill>
                  <a:srgbClr val="21295C"/>
                </a:solidFill>
                <a:latin typeface="Arial"/>
              </a:rPr>
              <a:t>forecast → automated irreversible buying spree</a:t>
            </a:r>
          </a:p>
        </p:txBody>
      </p:sp>
      <p:sp>
        <p:nvSpPr>
          <p:cNvPr id="8" name="Rounded Rectangle 7"/>
          <p:cNvSpPr/>
          <p:nvPr/>
        </p:nvSpPr>
        <p:spPr>
          <a:xfrm>
            <a:off x="4376928" y="1572768"/>
            <a:ext cx="3453384" cy="859536"/>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6656" y="1645919"/>
            <a:ext cx="3233928" cy="274320"/>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fraud auto-block</a:t>
            </a:r>
          </a:p>
        </p:txBody>
      </p:sp>
      <p:sp>
        <p:nvSpPr>
          <p:cNvPr id="10" name="TextBox 9"/>
          <p:cNvSpPr txBox="1"/>
          <p:nvPr/>
        </p:nvSpPr>
        <p:spPr>
          <a:xfrm>
            <a:off x="4486656" y="1920240"/>
            <a:ext cx="3233928" cy="457200"/>
          </a:xfrm>
          <a:prstGeom prst="rect">
            <a:avLst/>
          </a:prstGeom>
          <a:noFill/>
        </p:spPr>
        <p:txBody>
          <a:bodyPr wrap="square" lIns="0" rIns="0" tIns="0" bIns="0" anchor="t">
            <a:spAutoFit/>
          </a:bodyPr>
          <a:lstStyle/>
          <a:p>
            <a:pPr algn="l">
              <a:lnSpc>
                <a:spcPct val="105000"/>
              </a:lnSpc>
            </a:pPr>
            <a:r>
              <a:rPr sz="1100" b="0" i="0">
                <a:solidFill>
                  <a:srgbClr val="21295C"/>
                </a:solidFill>
                <a:latin typeface="Arial"/>
              </a:rPr>
              <a:t>anomaly → automated irreversible block</a:t>
            </a:r>
          </a:p>
        </p:txBody>
      </p:sp>
      <p:sp>
        <p:nvSpPr>
          <p:cNvPr id="11" name="Rounded Rectangle 10"/>
          <p:cNvSpPr/>
          <p:nvPr/>
        </p:nvSpPr>
        <p:spPr>
          <a:xfrm>
            <a:off x="8013192" y="1572768"/>
            <a:ext cx="3453384" cy="859536"/>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2920" y="1645919"/>
            <a:ext cx="3233928" cy="274320"/>
          </a:xfrm>
          <a:prstGeom prst="rect">
            <a:avLst/>
          </a:prstGeom>
          <a:noFill/>
        </p:spPr>
        <p:txBody>
          <a:bodyPr wrap="square" lIns="0" rIns="0" tIns="0" bIns="0" anchor="t">
            <a:spAutoFit/>
          </a:bodyPr>
          <a:lstStyle/>
          <a:p>
            <a:pPr algn="l">
              <a:lnSpc>
                <a:spcPct val="115000"/>
              </a:lnSpc>
            </a:pPr>
            <a:r>
              <a:rPr sz="1300" b="1" i="0">
                <a:solidFill>
                  <a:srgbClr val="028090"/>
                </a:solidFill>
                <a:latin typeface="Arial"/>
              </a:rPr>
              <a:t>Knight Capital</a:t>
            </a:r>
          </a:p>
        </p:txBody>
      </p:sp>
      <p:sp>
        <p:nvSpPr>
          <p:cNvPr id="13" name="TextBox 12"/>
          <p:cNvSpPr txBox="1"/>
          <p:nvPr/>
        </p:nvSpPr>
        <p:spPr>
          <a:xfrm>
            <a:off x="8122920" y="1920240"/>
            <a:ext cx="3233928" cy="457200"/>
          </a:xfrm>
          <a:prstGeom prst="rect">
            <a:avLst/>
          </a:prstGeom>
          <a:noFill/>
        </p:spPr>
        <p:txBody>
          <a:bodyPr wrap="square" lIns="0" rIns="0" tIns="0" bIns="0" anchor="t">
            <a:spAutoFit/>
          </a:bodyPr>
          <a:lstStyle/>
          <a:p>
            <a:pPr algn="l">
              <a:lnSpc>
                <a:spcPct val="105000"/>
              </a:lnSpc>
            </a:pPr>
            <a:r>
              <a:rPr sz="1100" b="0" i="0">
                <a:solidFill>
                  <a:srgbClr val="21295C"/>
                </a:solidFill>
                <a:latin typeface="Arial"/>
              </a:rPr>
              <a:t>deterministic algorithm → automated irreversible orders</a:t>
            </a:r>
          </a:p>
        </p:txBody>
      </p:sp>
      <p:sp>
        <p:nvSpPr>
          <p:cNvPr id="14" name="Rounded Rectangle 13"/>
          <p:cNvSpPr/>
          <p:nvPr/>
        </p:nvSpPr>
        <p:spPr>
          <a:xfrm>
            <a:off x="502920" y="2743200"/>
            <a:ext cx="11201400" cy="12984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2798064"/>
            <a:ext cx="10762488" cy="1188719"/>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Automation executing irreversible financial actions in an open loop without a kill switch (a manual «stop everything»), without limits on volume/position, without a circuit-breaker (auto-stop on anomaly), and without verified deployment, turns an ordinary model error into the SPEED OF RUIN.</a:t>
            </a:r>
          </a:p>
        </p:txBody>
      </p:sp>
      <p:sp>
        <p:nvSpPr>
          <p:cNvPr id="16" name="Rounded Rectangle 15"/>
          <p:cNvSpPr/>
          <p:nvPr/>
        </p:nvSpPr>
        <p:spPr>
          <a:xfrm>
            <a:off x="502920" y="4078224"/>
            <a:ext cx="11201400" cy="118872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4133087"/>
            <a:ext cx="10762488" cy="1078992"/>
          </a:xfrm>
          <a:prstGeom prst="rect">
            <a:avLst/>
          </a:prstGeom>
          <a:noFill/>
        </p:spPr>
        <p:txBody>
          <a:bodyPr wrap="square" lIns="0" rIns="0" tIns="0" bIns="0" anchor="ctr">
            <a:spAutoFit/>
          </a:bodyPr>
          <a:lstStyle/>
          <a:p>
            <a:pPr algn="l">
              <a:lnSpc>
                <a:spcPct val="118000"/>
              </a:lnSpc>
            </a:pPr>
            <a:r>
              <a:rPr sz="1300" b="0" i="0">
                <a:solidFill>
                  <a:srgbClr val="21295C"/>
                </a:solidFill>
                <a:latin typeface="Arial"/>
              </a:rPr>
              <a:t>Scoring in Russia is ~100% automated → the criterion applies acutely. «100% AI» is acceptable ONLY within a harness: reason codes + a human channel + a bias audit + drift monitoring + supervision. Remove the harness — and it is Apple Card at the scale of a bank.</a:t>
            </a:r>
          </a:p>
        </p:txBody>
      </p:sp>
      <p:sp>
        <p:nvSpPr>
          <p:cNvPr id="18" name="TextBox 17"/>
          <p:cNvSpPr txBox="1"/>
          <p:nvPr/>
        </p:nvSpPr>
        <p:spPr>
          <a:xfrm>
            <a:off x="502920" y="5413248"/>
            <a:ext cx="11201400" cy="768096"/>
          </a:xfrm>
          <a:prstGeom prst="rect">
            <a:avLst/>
          </a:prstGeom>
          <a:noFill/>
        </p:spPr>
        <p:txBody>
          <a:bodyPr wrap="square" lIns="0" rIns="0" tIns="0" bIns="0" anchor="t">
            <a:spAutoFit/>
          </a:bodyPr>
          <a:lstStyle/>
          <a:p>
            <a:pPr algn="l">
              <a:lnSpc>
                <a:spcPct val="115000"/>
              </a:lnSpc>
            </a:pPr>
            <a:r>
              <a:rPr sz="1300" b="0" i="1">
                <a:solidFill>
                  <a:srgbClr val="065A82"/>
                </a:solidFill>
                <a:latin typeface="Arial"/>
              </a:rPr>
              <a:t>High autonomy is neither the goal nor evil in itself. The goal is autonomy surrounded by paid-for gates, proportional to the cost of error and the irreversibility of the action.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726679" y="274320"/>
            <a:ext cx="4206240" cy="5486400"/>
          </a:xfrm>
          <a:prstGeom prst="rect">
            <a:avLst/>
          </a:prstGeom>
          <a:noFill/>
        </p:spPr>
        <p:txBody>
          <a:bodyPr wrap="square" lIns="0" rIns="0" tIns="0" bIns="0" anchor="ctr">
            <a:spAutoFit/>
          </a:bodyPr>
          <a:lstStyle/>
          <a:p>
            <a:pPr algn="ctr">
              <a:lnSpc>
                <a:spcPct val="100000"/>
              </a:lnSpc>
            </a:pPr>
            <a:r>
              <a:rPr sz="40000" b="1" i="0">
                <a:solidFill>
                  <a:srgbClr val="D9E2EC"/>
                </a:solidFill>
                <a:latin typeface="Arial"/>
              </a:rPr>
              <a:t>4</a:t>
            </a:r>
          </a:p>
        </p:txBody>
      </p:sp>
      <p:sp>
        <p:nvSpPr>
          <p:cNvPr id="3" name="TextBox 2"/>
          <p:cNvSpPr txBox="1"/>
          <p:nvPr/>
        </p:nvSpPr>
        <p:spPr>
          <a:xfrm>
            <a:off x="685800" y="1417320"/>
            <a:ext cx="676656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SECTION 4</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6949440" cy="1691640"/>
          </a:xfrm>
          <a:prstGeom prst="rect">
            <a:avLst/>
          </a:prstGeom>
          <a:noFill/>
        </p:spPr>
        <p:txBody>
          <a:bodyPr wrap="square" lIns="0" rIns="0" tIns="0" bIns="0" anchor="t">
            <a:spAutoFit/>
          </a:bodyPr>
          <a:lstStyle/>
          <a:p>
            <a:pPr algn="l">
              <a:lnSpc>
                <a:spcPct val="108000"/>
              </a:lnSpc>
            </a:pPr>
            <a:r>
              <a:rPr sz="3600" b="1" i="0">
                <a:solidFill>
                  <a:srgbClr val="21295C"/>
                </a:solidFill>
                <a:latin typeface="Arial"/>
              </a:rPr>
              <a:t>LLMs in finance:
assistants and fact-checking</a:t>
            </a:r>
          </a:p>
        </p:txBody>
      </p:sp>
      <p:sp>
        <p:nvSpPr>
          <p:cNvPr id="6" name="TextBox 5"/>
          <p:cNvSpPr txBox="1"/>
          <p:nvPr/>
        </p:nvSpPr>
        <p:spPr>
          <a:xfrm>
            <a:off x="713232" y="4224528"/>
            <a:ext cx="6858000" cy="1417320"/>
          </a:xfrm>
          <a:prstGeom prst="rect">
            <a:avLst/>
          </a:prstGeom>
          <a:noFill/>
        </p:spPr>
        <p:txBody>
          <a:bodyPr wrap="square" lIns="0" rIns="0" tIns="0" bIns="0" anchor="t">
            <a:spAutoFit/>
          </a:bodyPr>
          <a:lstStyle/>
          <a:p>
            <a:pPr algn="l">
              <a:lnSpc>
                <a:spcPct val="122000"/>
              </a:lnSpc>
            </a:pPr>
            <a:r>
              <a:rPr sz="1800" b="0" i="1">
                <a:solidFill>
                  <a:srgbClr val="1C7293"/>
                </a:solidFill>
                <a:latin typeface="Arial"/>
              </a:rPr>
              <a:t>Until now — deliberately NOT an LLM. Now the LLM — and right away about its limits in a regulated industry.</a:t>
            </a:r>
          </a:p>
        </p:txBody>
      </p:sp>
      <p:sp>
        <p:nvSpPr>
          <p:cNvPr id="7" name="Rounded Rectangle 6"/>
          <p:cNvSpPr/>
          <p:nvPr/>
        </p:nvSpPr>
        <p:spPr>
          <a:xfrm>
            <a:off x="502920"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9496"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0</a:t>
            </a:r>
          </a:p>
        </p:txBody>
      </p:sp>
      <p:sp>
        <p:nvSpPr>
          <p:cNvPr id="9" name="TextBox 8"/>
          <p:cNvSpPr txBox="1"/>
          <p:nvPr/>
        </p:nvSpPr>
        <p:spPr>
          <a:xfrm>
            <a:off x="539496"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Opening</a:t>
            </a:r>
          </a:p>
        </p:txBody>
      </p:sp>
      <p:sp>
        <p:nvSpPr>
          <p:cNvPr id="10" name="Rounded Rectangle 9"/>
          <p:cNvSpPr/>
          <p:nvPr/>
        </p:nvSpPr>
        <p:spPr>
          <a:xfrm>
            <a:off x="2118795"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5371"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1</a:t>
            </a:r>
          </a:p>
        </p:txBody>
      </p:sp>
      <p:sp>
        <p:nvSpPr>
          <p:cNvPr id="12" name="TextBox 11"/>
          <p:cNvSpPr txBox="1"/>
          <p:nvPr/>
        </p:nvSpPr>
        <p:spPr>
          <a:xfrm>
            <a:off x="2155371"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Forecast</a:t>
            </a:r>
          </a:p>
        </p:txBody>
      </p:sp>
      <p:sp>
        <p:nvSpPr>
          <p:cNvPr id="13" name="Rounded Rectangle 12"/>
          <p:cNvSpPr/>
          <p:nvPr/>
        </p:nvSpPr>
        <p:spPr>
          <a:xfrm>
            <a:off x="3734670"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1246"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2</a:t>
            </a:r>
          </a:p>
        </p:txBody>
      </p:sp>
      <p:sp>
        <p:nvSpPr>
          <p:cNvPr id="15" name="TextBox 14"/>
          <p:cNvSpPr txBox="1"/>
          <p:nvPr/>
        </p:nvSpPr>
        <p:spPr>
          <a:xfrm>
            <a:off x="3771246"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Anomalies</a:t>
            </a:r>
          </a:p>
        </p:txBody>
      </p:sp>
      <p:sp>
        <p:nvSpPr>
          <p:cNvPr id="16" name="Rounded Rectangle 15"/>
          <p:cNvSpPr/>
          <p:nvPr/>
        </p:nvSpPr>
        <p:spPr>
          <a:xfrm>
            <a:off x="5350546"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87122"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3</a:t>
            </a:r>
          </a:p>
        </p:txBody>
      </p:sp>
      <p:sp>
        <p:nvSpPr>
          <p:cNvPr id="18" name="TextBox 17"/>
          <p:cNvSpPr txBox="1"/>
          <p:nvPr/>
        </p:nvSpPr>
        <p:spPr>
          <a:xfrm>
            <a:off x="5387122"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Scoring</a:t>
            </a:r>
          </a:p>
        </p:txBody>
      </p:sp>
      <p:sp>
        <p:nvSpPr>
          <p:cNvPr id="19" name="Rounded Rectangle 18"/>
          <p:cNvSpPr/>
          <p:nvPr/>
        </p:nvSpPr>
        <p:spPr>
          <a:xfrm>
            <a:off x="6966421" y="5943600"/>
            <a:ext cx="1506147" cy="548640"/>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02997" y="6007608"/>
            <a:ext cx="1432995" cy="201168"/>
          </a:xfrm>
          <a:prstGeom prst="rect">
            <a:avLst/>
          </a:prstGeom>
          <a:noFill/>
        </p:spPr>
        <p:txBody>
          <a:bodyPr wrap="square" lIns="0" rIns="0" tIns="0" bIns="0" anchor="t">
            <a:spAutoFit/>
          </a:bodyPr>
          <a:lstStyle/>
          <a:p>
            <a:pPr algn="ctr">
              <a:lnSpc>
                <a:spcPct val="115000"/>
              </a:lnSpc>
            </a:pPr>
            <a:r>
              <a:rPr sz="1000" b="1" i="0">
                <a:solidFill>
                  <a:srgbClr val="21295C"/>
                </a:solidFill>
                <a:latin typeface="Arial"/>
              </a:rPr>
              <a:t>Section 4</a:t>
            </a:r>
          </a:p>
        </p:txBody>
      </p:sp>
      <p:sp>
        <p:nvSpPr>
          <p:cNvPr id="21" name="TextBox 20"/>
          <p:cNvSpPr txBox="1"/>
          <p:nvPr/>
        </p:nvSpPr>
        <p:spPr>
          <a:xfrm>
            <a:off x="7002997" y="6217920"/>
            <a:ext cx="1432995" cy="237744"/>
          </a:xfrm>
          <a:prstGeom prst="rect">
            <a:avLst/>
          </a:prstGeom>
          <a:noFill/>
        </p:spPr>
        <p:txBody>
          <a:bodyPr wrap="square" lIns="0" rIns="0" tIns="0" bIns="0" anchor="t">
            <a:spAutoFit/>
          </a:bodyPr>
          <a:lstStyle/>
          <a:p>
            <a:pPr algn="ctr">
              <a:lnSpc>
                <a:spcPct val="95000"/>
              </a:lnSpc>
            </a:pPr>
            <a:r>
              <a:rPr sz="1050" b="1" i="0">
                <a:solidFill>
                  <a:srgbClr val="21295C"/>
                </a:solidFill>
                <a:latin typeface="Arial"/>
              </a:rPr>
              <a:t>LLM</a:t>
            </a:r>
          </a:p>
        </p:txBody>
      </p:sp>
      <p:sp>
        <p:nvSpPr>
          <p:cNvPr id="22" name="Rounded Rectangle 21"/>
          <p:cNvSpPr/>
          <p:nvPr/>
        </p:nvSpPr>
        <p:spPr>
          <a:xfrm>
            <a:off x="8582297"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8873"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5</a:t>
            </a:r>
          </a:p>
        </p:txBody>
      </p:sp>
      <p:sp>
        <p:nvSpPr>
          <p:cNvPr id="24" name="TextBox 23"/>
          <p:cNvSpPr txBox="1"/>
          <p:nvPr/>
        </p:nvSpPr>
        <p:spPr>
          <a:xfrm>
            <a:off x="8618873"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Recomm.</a:t>
            </a:r>
          </a:p>
        </p:txBody>
      </p:sp>
      <p:sp>
        <p:nvSpPr>
          <p:cNvPr id="25" name="Rounded Rectangle 24"/>
          <p:cNvSpPr/>
          <p:nvPr/>
        </p:nvSpPr>
        <p:spPr>
          <a:xfrm>
            <a:off x="10198172"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4748"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6</a:t>
            </a:r>
          </a:p>
        </p:txBody>
      </p:sp>
      <p:sp>
        <p:nvSpPr>
          <p:cNvPr id="27" name="TextBox 26"/>
          <p:cNvSpPr txBox="1"/>
          <p:nvPr/>
        </p:nvSpPr>
        <p:spPr>
          <a:xfrm>
            <a:off x="10234748"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Framework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An LLM is good exactly where the task is textual-conversational — and bad where it is not.</a:t>
            </a:r>
          </a:p>
        </p:txBody>
      </p:sp>
      <p:sp>
        <p:nvSpPr>
          <p:cNvPr id="3" name="Rounded Rectangle 2"/>
          <p:cNvSpPr/>
          <p:nvPr/>
        </p:nvSpPr>
        <p:spPr>
          <a:xfrm>
            <a:off x="502920" y="1097280"/>
            <a:ext cx="580644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1243584"/>
            <a:ext cx="5330952" cy="274320"/>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Where an LLM is the right type in a bank:</a:t>
            </a:r>
          </a:p>
        </p:txBody>
      </p:sp>
      <p:sp>
        <p:nvSpPr>
          <p:cNvPr id="5" name="Oval 4"/>
          <p:cNvSpPr/>
          <p:nvPr/>
        </p:nvSpPr>
        <p:spPr>
          <a:xfrm>
            <a:off x="740664" y="1618488"/>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1572768"/>
            <a:ext cx="5093207" cy="512064"/>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customer support — answers to typical questions</a:t>
            </a:r>
          </a:p>
        </p:txBody>
      </p:sp>
      <p:sp>
        <p:nvSpPr>
          <p:cNvPr id="7" name="Oval 6"/>
          <p:cNvSpPr/>
          <p:nvPr/>
        </p:nvSpPr>
        <p:spPr>
          <a:xfrm>
            <a:off x="740664" y="2148839"/>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103120"/>
            <a:ext cx="5093207" cy="512064"/>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voice assistant — recognize the request, guide through the flow</a:t>
            </a:r>
          </a:p>
        </p:txBody>
      </p:sp>
      <p:sp>
        <p:nvSpPr>
          <p:cNvPr id="9" name="Oval 8"/>
          <p:cNvSpPr/>
          <p:nvPr/>
        </p:nvSpPr>
        <p:spPr>
          <a:xfrm>
            <a:off x="740664" y="2679191"/>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633472"/>
            <a:ext cx="5093207" cy="512064"/>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help for an employee — summarize an inquiry, suggest the regulation</a:t>
            </a:r>
          </a:p>
        </p:txBody>
      </p:sp>
      <p:sp>
        <p:nvSpPr>
          <p:cNvPr id="11" name="Oval 10"/>
          <p:cNvSpPr/>
          <p:nvPr/>
        </p:nvSpPr>
        <p:spPr>
          <a:xfrm>
            <a:off x="740664" y="3209544"/>
            <a:ext cx="109728" cy="1097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3163824"/>
            <a:ext cx="5093207" cy="512064"/>
          </a:xfrm>
          <a:prstGeom prst="rect">
            <a:avLst/>
          </a:prstGeom>
          <a:noFill/>
        </p:spPr>
        <p:txBody>
          <a:bodyPr wrap="square" lIns="0" rIns="0" tIns="0" bIns="0" anchor="t">
            <a:spAutoFit/>
          </a:bodyPr>
          <a:lstStyle/>
          <a:p>
            <a:pPr algn="l">
              <a:lnSpc>
                <a:spcPct val="110000"/>
              </a:lnSpc>
            </a:pPr>
            <a:r>
              <a:rPr sz="1200" b="0" i="0">
                <a:solidFill>
                  <a:srgbClr val="21295C"/>
                </a:solidFill>
                <a:latin typeface="Arial"/>
              </a:rPr>
              <a:t>explaining a product in plain language</a:t>
            </a:r>
          </a:p>
        </p:txBody>
      </p:sp>
      <p:sp>
        <p:nvSpPr>
          <p:cNvPr id="13" name="TextBox 12"/>
          <p:cNvSpPr txBox="1"/>
          <p:nvPr/>
        </p:nvSpPr>
        <p:spPr>
          <a:xfrm>
            <a:off x="740664" y="3730752"/>
            <a:ext cx="5330952" cy="310896"/>
          </a:xfrm>
          <a:prstGeom prst="rect">
            <a:avLst/>
          </a:prstGeom>
          <a:noFill/>
        </p:spPr>
        <p:txBody>
          <a:bodyPr wrap="square" lIns="0" rIns="0" tIns="0" bIns="0" anchor="t">
            <a:spAutoFit/>
          </a:bodyPr>
          <a:lstStyle/>
          <a:p>
            <a:pPr algn="l">
              <a:lnSpc>
                <a:spcPct val="105000"/>
              </a:lnSpc>
            </a:pPr>
            <a:r>
              <a:rPr sz="1100" b="0" i="1">
                <a:solidFill>
                  <a:srgbClr val="5B6678"/>
                </a:solidFill>
                <a:latin typeface="Arial"/>
              </a:rPr>
              <a:t>This is exactly what an LLM is designed for (unlike Sections 1–3).</a:t>
            </a:r>
          </a:p>
        </p:txBody>
      </p:sp>
      <p:sp>
        <p:nvSpPr>
          <p:cNvPr id="14" name="Rounded Rectangle 13"/>
          <p:cNvSpPr/>
          <p:nvPr/>
        </p:nvSpPr>
        <p:spPr>
          <a:xfrm>
            <a:off x="740664" y="4114800"/>
            <a:ext cx="5330952" cy="713232"/>
          </a:xfrm>
          <a:prstGeom prst="roundRect">
            <a:avLst>
              <a:gd name="adj" fmla="val 10000"/>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4114800"/>
            <a:ext cx="5038344" cy="713232"/>
          </a:xfrm>
          <a:prstGeom prst="rect">
            <a:avLst/>
          </a:prstGeom>
          <a:noFill/>
        </p:spPr>
        <p:txBody>
          <a:bodyPr wrap="square" lIns="0" rIns="0" tIns="0" bIns="0" anchor="ctr">
            <a:spAutoFit/>
          </a:bodyPr>
          <a:lstStyle/>
          <a:p>
            <a:pPr algn="l">
              <a:lnSpc>
                <a:spcPct val="108000"/>
              </a:lnSpc>
            </a:pPr>
            <a:r>
              <a:rPr sz="1150" b="1" i="0">
                <a:solidFill>
                  <a:srgbClr val="065A82"/>
                </a:solidFill>
                <a:latin typeface="Arial"/>
              </a:rPr>
              <a:t>Scale (verified): T-Bank's chatbot &gt; 40% of inquiries; ~70% of banks planned voice by 2025.</a:t>
            </a:r>
          </a:p>
        </p:txBody>
      </p:sp>
      <p:sp>
        <p:nvSpPr>
          <p:cNvPr id="16" name="Rounded Rectangle 15"/>
          <p:cNvSpPr/>
          <p:nvPr/>
        </p:nvSpPr>
        <p:spPr>
          <a:xfrm>
            <a:off x="6492240" y="1097280"/>
            <a:ext cx="5212080" cy="3703320"/>
          </a:xfrm>
          <a:prstGeom prst="roundRect">
            <a:avLst>
              <a:gd name="adj" fmla="val 8230"/>
            </a:avLst>
          </a:prstGeom>
          <a:solidFill>
            <a:srgbClr val="E4F1F2"/>
          </a:solidFill>
          <a:ln w="254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9983" y="1261872"/>
            <a:ext cx="4736592" cy="274320"/>
          </a:xfrm>
          <a:prstGeom prst="rect">
            <a:avLst/>
          </a:prstGeom>
          <a:noFill/>
        </p:spPr>
        <p:txBody>
          <a:bodyPr wrap="square" lIns="0" rIns="0" tIns="0" bIns="0" anchor="t">
            <a:spAutoFit/>
          </a:bodyPr>
          <a:lstStyle/>
          <a:p>
            <a:pPr algn="l">
              <a:lnSpc>
                <a:spcPct val="115000"/>
              </a:lnSpc>
            </a:pPr>
            <a:r>
              <a:rPr sz="1400" b="1" i="0">
                <a:solidFill>
                  <a:srgbClr val="028090"/>
                </a:solidFill>
                <a:latin typeface="Arial"/>
              </a:rPr>
              <a:t>Why NOT «&gt; 90% of banks' inquiries»</a:t>
            </a:r>
          </a:p>
        </p:txBody>
      </p:sp>
      <p:sp>
        <p:nvSpPr>
          <p:cNvPr id="18" name="TextBox 17"/>
          <p:cNvSpPr txBox="1"/>
          <p:nvPr/>
        </p:nvSpPr>
        <p:spPr>
          <a:xfrm>
            <a:off x="6729983" y="1627631"/>
            <a:ext cx="4736592" cy="1591056"/>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The ~90% figure is real — but it is the share of calls handled by a voice assistant IN ONE BANK'S CALL CENTER, not the share of banks' inquiries overall. This is BASE SUBSTITUTION (fact-checking class 5).</a:t>
            </a:r>
          </a:p>
        </p:txBody>
      </p:sp>
      <p:sp>
        <p:nvSpPr>
          <p:cNvPr id="19" name="TextBox 18"/>
          <p:cNvSpPr txBox="1"/>
          <p:nvPr/>
        </p:nvSpPr>
        <p:spPr>
          <a:xfrm>
            <a:off x="6729983" y="3346704"/>
            <a:ext cx="4736592" cy="1371600"/>
          </a:xfrm>
          <a:prstGeom prst="rect">
            <a:avLst/>
          </a:prstGeom>
          <a:noFill/>
        </p:spPr>
        <p:txBody>
          <a:bodyPr wrap="square" lIns="0" rIns="0" tIns="0" bIns="0" anchor="t">
            <a:spAutoFit/>
          </a:bodyPr>
          <a:lstStyle/>
          <a:p>
            <a:pPr algn="l">
              <a:lnSpc>
                <a:spcPct val="120000"/>
              </a:lnSpc>
            </a:pPr>
            <a:r>
              <a:rPr sz="1250" b="0" i="1">
                <a:solidFill>
                  <a:srgbClr val="065A82"/>
                </a:solidFill>
                <a:latin typeface="Arial"/>
              </a:rPr>
              <a:t>The lecture teaches fact-checking — building an assertion on a figure with a substituted base would violate exactly the principle it teaches. A precise modest figure is worth more than a loud one.</a:t>
            </a:r>
          </a:p>
        </p:txBody>
      </p:sp>
      <p:sp>
        <p:nvSpPr>
          <p:cNvPr id="20" name="Rounded Rectangle 19"/>
          <p:cNvSpPr/>
          <p:nvPr/>
        </p:nvSpPr>
        <p:spPr>
          <a:xfrm>
            <a:off x="502920" y="4901184"/>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4956048"/>
            <a:ext cx="10762488" cy="731520"/>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Symmetry with Sections 1–3: «different task — different type of AI» means not «LLM is bad», but «an LLM is good exactly where the task is textual-conversational, and bad where it is not».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300" b="1" i="0">
                <a:solidFill>
                  <a:srgbClr val="21295C"/>
                </a:solidFill>
                <a:latin typeface="Arial"/>
              </a:rPr>
              <a:t>Here an LLM is not a source of truth, but an interface to a source of truth.</a:t>
            </a:r>
          </a:p>
        </p:txBody>
      </p:sp>
      <p:sp>
        <p:nvSpPr>
          <p:cNvPr id="3" name="Rounded Rectangle 2"/>
          <p:cNvSpPr/>
          <p:nvPr/>
        </p:nvSpPr>
        <p:spPr>
          <a:xfrm>
            <a:off x="502920" y="1024128"/>
            <a:ext cx="5577840" cy="2212848"/>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133856"/>
            <a:ext cx="5138927" cy="256032"/>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When an LLM is NOT a source of truth — 3 arguments</a:t>
            </a:r>
          </a:p>
        </p:txBody>
      </p:sp>
      <p:sp>
        <p:nvSpPr>
          <p:cNvPr id="5" name="TextBox 4"/>
          <p:cNvSpPr txBox="1"/>
          <p:nvPr/>
        </p:nvSpPr>
        <p:spPr>
          <a:xfrm>
            <a:off x="722376" y="1444752"/>
            <a:ext cx="1417320" cy="566928"/>
          </a:xfrm>
          <a:prstGeom prst="rect">
            <a:avLst/>
          </a:prstGeom>
          <a:noFill/>
        </p:spPr>
        <p:txBody>
          <a:bodyPr wrap="square" lIns="0" rIns="0" tIns="0" bIns="0" anchor="ctr">
            <a:spAutoFit/>
          </a:bodyPr>
          <a:lstStyle/>
          <a:p>
            <a:pPr algn="l">
              <a:lnSpc>
                <a:spcPct val="100000"/>
              </a:lnSpc>
            </a:pPr>
            <a:r>
              <a:rPr sz="1150" b="1" i="0">
                <a:solidFill>
                  <a:srgbClr val="028090"/>
                </a:solidFill>
                <a:latin typeface="Arial"/>
              </a:rPr>
              <a:t>mechanism</a:t>
            </a:r>
          </a:p>
        </p:txBody>
      </p:sp>
      <p:sp>
        <p:nvSpPr>
          <p:cNvPr id="6" name="TextBox 5"/>
          <p:cNvSpPr txBox="1"/>
          <p:nvPr/>
        </p:nvSpPr>
        <p:spPr>
          <a:xfrm>
            <a:off x="2167128" y="1444752"/>
            <a:ext cx="3694175" cy="566928"/>
          </a:xfrm>
          <a:prstGeom prst="rect">
            <a:avLst/>
          </a:prstGeom>
          <a:noFill/>
        </p:spPr>
        <p:txBody>
          <a:bodyPr wrap="square" lIns="0" rIns="0" tIns="0" bIns="0" anchor="ctr">
            <a:spAutoFit/>
          </a:bodyPr>
          <a:lstStyle/>
          <a:p>
            <a:pPr algn="l">
              <a:lnSpc>
                <a:spcPct val="108000"/>
              </a:lnSpc>
            </a:pPr>
            <a:r>
              <a:rPr sz="1050" b="0" i="0">
                <a:solidFill>
                  <a:srgbClr val="21295C"/>
                </a:solidFill>
                <a:latin typeface="Arial"/>
              </a:rPr>
              <a:t>generates the plausible, does not retrieve a fact («plausible» ≠ «correct»)</a:t>
            </a:r>
          </a:p>
        </p:txBody>
      </p:sp>
      <p:sp>
        <p:nvSpPr>
          <p:cNvPr id="7" name="TextBox 6"/>
          <p:cNvSpPr txBox="1"/>
          <p:nvPr/>
        </p:nvSpPr>
        <p:spPr>
          <a:xfrm>
            <a:off x="722376" y="2029968"/>
            <a:ext cx="1417320" cy="566928"/>
          </a:xfrm>
          <a:prstGeom prst="rect">
            <a:avLst/>
          </a:prstGeom>
          <a:noFill/>
        </p:spPr>
        <p:txBody>
          <a:bodyPr wrap="square" lIns="0" rIns="0" tIns="0" bIns="0" anchor="ctr">
            <a:spAutoFit/>
          </a:bodyPr>
          <a:lstStyle/>
          <a:p>
            <a:pPr algn="l">
              <a:lnSpc>
                <a:spcPct val="100000"/>
              </a:lnSpc>
            </a:pPr>
            <a:r>
              <a:rPr sz="1150" b="1" i="0">
                <a:solidFill>
                  <a:srgbClr val="028090"/>
                </a:solidFill>
                <a:latin typeface="Arial"/>
              </a:rPr>
              <a:t>cost</a:t>
            </a:r>
          </a:p>
        </p:txBody>
      </p:sp>
      <p:sp>
        <p:nvSpPr>
          <p:cNvPr id="8" name="TextBox 7"/>
          <p:cNvSpPr txBox="1"/>
          <p:nvPr/>
        </p:nvSpPr>
        <p:spPr>
          <a:xfrm>
            <a:off x="2167128" y="2029968"/>
            <a:ext cx="3694175" cy="566928"/>
          </a:xfrm>
          <a:prstGeom prst="rect">
            <a:avLst/>
          </a:prstGeom>
          <a:noFill/>
        </p:spPr>
        <p:txBody>
          <a:bodyPr wrap="square" lIns="0" rIns="0" tIns="0" bIns="0" anchor="ctr">
            <a:spAutoFit/>
          </a:bodyPr>
          <a:lstStyle/>
          <a:p>
            <a:pPr algn="l">
              <a:lnSpc>
                <a:spcPct val="108000"/>
              </a:lnSpc>
            </a:pPr>
            <a:r>
              <a:rPr sz="1050" b="0" i="0">
                <a:solidFill>
                  <a:srgbClr val="21295C"/>
                </a:solidFill>
                <a:latin typeface="Arial"/>
              </a:rPr>
              <a:t>a wrong rate/term = a violation, the organization is liable</a:t>
            </a:r>
          </a:p>
        </p:txBody>
      </p:sp>
      <p:sp>
        <p:nvSpPr>
          <p:cNvPr id="9" name="TextBox 8"/>
          <p:cNvSpPr txBox="1"/>
          <p:nvPr/>
        </p:nvSpPr>
        <p:spPr>
          <a:xfrm>
            <a:off x="722376" y="2615184"/>
            <a:ext cx="1417320" cy="566928"/>
          </a:xfrm>
          <a:prstGeom prst="rect">
            <a:avLst/>
          </a:prstGeom>
          <a:noFill/>
        </p:spPr>
        <p:txBody>
          <a:bodyPr wrap="square" lIns="0" rIns="0" tIns="0" bIns="0" anchor="ctr">
            <a:spAutoFit/>
          </a:bodyPr>
          <a:lstStyle/>
          <a:p>
            <a:pPr algn="l">
              <a:lnSpc>
                <a:spcPct val="100000"/>
              </a:lnSpc>
            </a:pPr>
            <a:r>
              <a:rPr sz="1150" b="1" i="0">
                <a:solidFill>
                  <a:srgbClr val="028090"/>
                </a:solidFill>
                <a:latin typeface="Arial"/>
              </a:rPr>
              <a:t>what will break</a:t>
            </a:r>
          </a:p>
        </p:txBody>
      </p:sp>
      <p:sp>
        <p:nvSpPr>
          <p:cNvPr id="10" name="TextBox 9"/>
          <p:cNvSpPr txBox="1"/>
          <p:nvPr/>
        </p:nvSpPr>
        <p:spPr>
          <a:xfrm>
            <a:off x="2167128" y="2615184"/>
            <a:ext cx="3694175" cy="566928"/>
          </a:xfrm>
          <a:prstGeom prst="rect">
            <a:avLst/>
          </a:prstGeom>
          <a:noFill/>
        </p:spPr>
        <p:txBody>
          <a:bodyPr wrap="square" lIns="0" rIns="0" tIns="0" bIns="0" anchor="ctr">
            <a:spAutoFit/>
          </a:bodyPr>
          <a:lstStyle/>
          <a:p>
            <a:pPr algn="l">
              <a:lnSpc>
                <a:spcPct val="108000"/>
              </a:lnSpc>
            </a:pPr>
            <a:r>
              <a:rPr sz="1050" b="0" i="0">
                <a:solidFill>
                  <a:srgbClr val="21295C"/>
                </a:solidFill>
                <a:latin typeface="Arial"/>
              </a:rPr>
              <a:t>free generation about facts = a generator of disinformation with legal liability</a:t>
            </a:r>
          </a:p>
        </p:txBody>
      </p:sp>
      <p:sp>
        <p:nvSpPr>
          <p:cNvPr id="11" name="Rounded Rectangle 10"/>
          <p:cNvSpPr/>
          <p:nvPr/>
        </p:nvSpPr>
        <p:spPr>
          <a:xfrm>
            <a:off x="6217920" y="1024128"/>
            <a:ext cx="5486400" cy="2212848"/>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133856"/>
            <a:ext cx="5047488" cy="256032"/>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Five classes of error in an AI claim</a:t>
            </a:r>
          </a:p>
        </p:txBody>
      </p:sp>
      <p:sp>
        <p:nvSpPr>
          <p:cNvPr id="13" name="TextBox 12"/>
          <p:cNvSpPr txBox="1"/>
          <p:nvPr/>
        </p:nvSpPr>
        <p:spPr>
          <a:xfrm>
            <a:off x="6455664" y="1426464"/>
            <a:ext cx="5029200" cy="347472"/>
          </a:xfrm>
          <a:prstGeom prst="rect">
            <a:avLst/>
          </a:prstGeom>
          <a:noFill/>
        </p:spPr>
        <p:txBody>
          <a:bodyPr wrap="square" lIns="0" rIns="0" tIns="0" bIns="0" anchor="ctr">
            <a:spAutoFit/>
          </a:bodyPr>
          <a:lstStyle/>
          <a:p>
            <a:pPr algn="l">
              <a:lnSpc>
                <a:spcPct val="100000"/>
              </a:lnSpc>
            </a:pPr>
            <a:r>
              <a:rPr sz="1100" b="0" i="0">
                <a:solidFill>
                  <a:srgbClr val="21295C"/>
                </a:solidFill>
                <a:latin typeface="Arial"/>
              </a:rPr>
              <a:t>1. hallucinated fact → check against the primary source</a:t>
            </a:r>
          </a:p>
        </p:txBody>
      </p:sp>
      <p:sp>
        <p:nvSpPr>
          <p:cNvPr id="14" name="TextBox 13"/>
          <p:cNvSpPr txBox="1"/>
          <p:nvPr/>
        </p:nvSpPr>
        <p:spPr>
          <a:xfrm>
            <a:off x="6455664" y="1773936"/>
            <a:ext cx="5029200" cy="347472"/>
          </a:xfrm>
          <a:prstGeom prst="rect">
            <a:avLst/>
          </a:prstGeom>
          <a:noFill/>
        </p:spPr>
        <p:txBody>
          <a:bodyPr wrap="square" lIns="0" rIns="0" tIns="0" bIns="0" anchor="ctr">
            <a:spAutoFit/>
          </a:bodyPr>
          <a:lstStyle/>
          <a:p>
            <a:pPr algn="l">
              <a:lnSpc>
                <a:spcPct val="100000"/>
              </a:lnSpc>
            </a:pPr>
            <a:r>
              <a:rPr sz="1100" b="0" i="0">
                <a:solidFill>
                  <a:srgbClr val="21295C"/>
                </a:solidFill>
                <a:latin typeface="Arial"/>
              </a:rPr>
              <a:t>2. outdated data → check the date/currency</a:t>
            </a:r>
          </a:p>
        </p:txBody>
      </p:sp>
      <p:sp>
        <p:nvSpPr>
          <p:cNvPr id="15" name="TextBox 14"/>
          <p:cNvSpPr txBox="1"/>
          <p:nvPr/>
        </p:nvSpPr>
        <p:spPr>
          <a:xfrm>
            <a:off x="6455664" y="2121408"/>
            <a:ext cx="5029200" cy="347472"/>
          </a:xfrm>
          <a:prstGeom prst="rect">
            <a:avLst/>
          </a:prstGeom>
          <a:noFill/>
        </p:spPr>
        <p:txBody>
          <a:bodyPr wrap="square" lIns="0" rIns="0" tIns="0" bIns="0" anchor="ctr">
            <a:spAutoFit/>
          </a:bodyPr>
          <a:lstStyle/>
          <a:p>
            <a:pPr algn="l">
              <a:lnSpc>
                <a:spcPct val="100000"/>
              </a:lnSpc>
            </a:pPr>
            <a:r>
              <a:rPr sz="1100" b="0" i="0">
                <a:solidFill>
                  <a:srgbClr val="21295C"/>
                </a:solidFill>
                <a:latin typeface="Arial"/>
              </a:rPr>
              <a:t>3. proxy bias in the output → audit outcomes, not inputs</a:t>
            </a:r>
          </a:p>
        </p:txBody>
      </p:sp>
      <p:sp>
        <p:nvSpPr>
          <p:cNvPr id="16" name="TextBox 15"/>
          <p:cNvSpPr txBox="1"/>
          <p:nvPr/>
        </p:nvSpPr>
        <p:spPr>
          <a:xfrm>
            <a:off x="6455664" y="2468879"/>
            <a:ext cx="5029200" cy="347472"/>
          </a:xfrm>
          <a:prstGeom prst="rect">
            <a:avLst/>
          </a:prstGeom>
          <a:noFill/>
        </p:spPr>
        <p:txBody>
          <a:bodyPr wrap="square" lIns="0" rIns="0" tIns="0" bIns="0" anchor="ctr">
            <a:spAutoFit/>
          </a:bodyPr>
          <a:lstStyle/>
          <a:p>
            <a:pPr algn="l">
              <a:lnSpc>
                <a:spcPct val="100000"/>
              </a:lnSpc>
            </a:pPr>
            <a:r>
              <a:rPr sz="1100" b="0" i="0">
                <a:solidFill>
                  <a:srgbClr val="21295C"/>
                </a:solidFill>
                <a:latin typeface="Arial"/>
              </a:rPr>
              <a:t>4. deception by metric → FP/FN separately in money</a:t>
            </a:r>
          </a:p>
        </p:txBody>
      </p:sp>
      <p:sp>
        <p:nvSpPr>
          <p:cNvPr id="17" name="TextBox 16"/>
          <p:cNvSpPr txBox="1"/>
          <p:nvPr/>
        </p:nvSpPr>
        <p:spPr>
          <a:xfrm>
            <a:off x="6455664" y="2816351"/>
            <a:ext cx="5029200" cy="347472"/>
          </a:xfrm>
          <a:prstGeom prst="rect">
            <a:avLst/>
          </a:prstGeom>
          <a:noFill/>
        </p:spPr>
        <p:txBody>
          <a:bodyPr wrap="square" lIns="0" rIns="0" tIns="0" bIns="0" anchor="ctr">
            <a:spAutoFit/>
          </a:bodyPr>
          <a:lstStyle/>
          <a:p>
            <a:pPr algn="l">
              <a:lnSpc>
                <a:spcPct val="100000"/>
              </a:lnSpc>
            </a:pPr>
            <a:r>
              <a:rPr sz="1100" b="0" i="0">
                <a:solidFill>
                  <a:srgbClr val="21295C"/>
                </a:solidFill>
                <a:latin typeface="Arial"/>
              </a:rPr>
              <a:t>5. base substitution → ask «share of what out of what»</a:t>
            </a:r>
          </a:p>
        </p:txBody>
      </p:sp>
      <p:sp>
        <p:nvSpPr>
          <p:cNvPr id="18" name="Rounded Rectangle 17"/>
          <p:cNvSpPr/>
          <p:nvPr/>
        </p:nvSpPr>
        <p:spPr>
          <a:xfrm>
            <a:off x="502920" y="3383280"/>
            <a:ext cx="1120140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 y="3493008"/>
            <a:ext cx="10725912" cy="237744"/>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Grounding anchor analogy: a student guesses in a confident tone vs first opens the reference book</a:t>
            </a:r>
          </a:p>
        </p:txBody>
      </p:sp>
      <p:pic>
        <p:nvPicPr>
          <p:cNvPr id="20" name="Picture 19" descr="d22-grounding-student.png"/>
          <p:cNvPicPr>
            <a:picLocks noChangeAspect="1"/>
          </p:cNvPicPr>
          <p:nvPr/>
        </p:nvPicPr>
        <p:blipFill>
          <a:blip r:embed="rId2"/>
          <a:stretch>
            <a:fillRect/>
          </a:stretch>
        </p:blipFill>
        <p:spPr>
          <a:xfrm>
            <a:off x="4750605" y="3767328"/>
            <a:ext cx="2706030" cy="987552"/>
          </a:xfrm>
          <a:prstGeom prst="rect">
            <a:avLst/>
          </a:prstGeom>
        </p:spPr>
      </p:pic>
      <p:sp>
        <p:nvSpPr>
          <p:cNvPr id="21" name="Rounded Rectangle 20"/>
          <p:cNvSpPr/>
          <p:nvPr/>
        </p:nvSpPr>
        <p:spPr>
          <a:xfrm>
            <a:off x="502920" y="5047488"/>
            <a:ext cx="11201400" cy="113385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5102351"/>
            <a:ext cx="10762488" cy="1024128"/>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Alternative: a fixed fact → deterministic retrieval (grounded RAG), not generation. In the lecture — recognize the class (Understand); verify 5 claims against primary sources — Seminar 5 (Apply).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100" b="1" i="0">
                <a:solidFill>
                  <a:srgbClr val="21295C"/>
                </a:solidFill>
                <a:latin typeface="Arial"/>
              </a:rPr>
              <a:t>The right type of AI without grounding and a human exit = Air Canada / Klarna.</a:t>
            </a:r>
          </a:p>
        </p:txBody>
      </p:sp>
      <p:sp>
        <p:nvSpPr>
          <p:cNvPr id="3" name="Rounded Rectangle 2"/>
          <p:cNvSpPr/>
          <p:nvPr/>
        </p:nvSpPr>
        <p:spPr>
          <a:xfrm>
            <a:off x="502920" y="1078992"/>
            <a:ext cx="11201400" cy="3017520"/>
          </a:xfrm>
          <a:prstGeom prst="roundRect">
            <a:avLst>
              <a:gd name="adj" fmla="val 101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1243584"/>
            <a:ext cx="5303520" cy="42062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243584"/>
            <a:ext cx="5303520" cy="420624"/>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Case E — Air Canada (callback)</a:t>
            </a:r>
          </a:p>
        </p:txBody>
      </p:sp>
      <p:sp>
        <p:nvSpPr>
          <p:cNvPr id="6" name="Oval 5"/>
          <p:cNvSpPr/>
          <p:nvPr/>
        </p:nvSpPr>
        <p:spPr>
          <a:xfrm>
            <a:off x="795528" y="1847088"/>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792224"/>
            <a:ext cx="4974336" cy="512064"/>
          </a:xfrm>
          <a:prstGeom prst="rect">
            <a:avLst/>
          </a:prstGeom>
          <a:noFill/>
        </p:spPr>
        <p:txBody>
          <a:bodyPr wrap="square" lIns="0" rIns="0" tIns="0" bIns="0" anchor="t">
            <a:spAutoFit/>
          </a:bodyPr>
          <a:lstStyle/>
          <a:p>
            <a:pPr algn="l">
              <a:lnSpc>
                <a:spcPct val="108000"/>
              </a:lnSpc>
            </a:pPr>
            <a:r>
              <a:rPr sz="1150" b="0" i="0">
                <a:solidFill>
                  <a:srgbClr val="21295C"/>
                </a:solidFill>
                <a:latin typeface="Arial"/>
              </a:rPr>
              <a:t>the chatbot stated a nonexistent refund policy</a:t>
            </a:r>
          </a:p>
        </p:txBody>
      </p:sp>
      <p:sp>
        <p:nvSpPr>
          <p:cNvPr id="8" name="Oval 7"/>
          <p:cNvSpPr/>
          <p:nvPr/>
        </p:nvSpPr>
        <p:spPr>
          <a:xfrm>
            <a:off x="795528" y="2395728"/>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40864"/>
            <a:ext cx="4974336" cy="512064"/>
          </a:xfrm>
          <a:prstGeom prst="rect">
            <a:avLst/>
          </a:prstGeom>
          <a:noFill/>
        </p:spPr>
        <p:txBody>
          <a:bodyPr wrap="square" lIns="0" rIns="0" tIns="0" bIns="0" anchor="t">
            <a:spAutoFit/>
          </a:bodyPr>
          <a:lstStyle/>
          <a:p>
            <a:pPr algn="l">
              <a:lnSpc>
                <a:spcPct val="108000"/>
              </a:lnSpc>
            </a:pPr>
            <a:r>
              <a:rPr sz="1150" b="0" i="0">
                <a:solidFill>
                  <a:srgbClr val="21295C"/>
                </a:solidFill>
                <a:latin typeface="Arial"/>
              </a:rPr>
              <a:t>the passenger acted on the answer</a:t>
            </a:r>
          </a:p>
        </p:txBody>
      </p:sp>
      <p:sp>
        <p:nvSpPr>
          <p:cNvPr id="10" name="Oval 9"/>
          <p:cNvSpPr/>
          <p:nvPr/>
        </p:nvSpPr>
        <p:spPr>
          <a:xfrm>
            <a:off x="795528" y="2944368"/>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2889504"/>
            <a:ext cx="4974336" cy="512064"/>
          </a:xfrm>
          <a:prstGeom prst="rect">
            <a:avLst/>
          </a:prstGeom>
          <a:noFill/>
        </p:spPr>
        <p:txBody>
          <a:bodyPr wrap="square" lIns="0" rIns="0" tIns="0" bIns="0" anchor="t">
            <a:spAutoFit/>
          </a:bodyPr>
          <a:lstStyle/>
          <a:p>
            <a:pPr algn="l">
              <a:lnSpc>
                <a:spcPct val="108000"/>
              </a:lnSpc>
            </a:pPr>
            <a:r>
              <a:rPr sz="1150" b="0" i="0">
                <a:solidFill>
                  <a:srgbClr val="21295C"/>
                </a:solidFill>
                <a:latin typeface="Arial"/>
              </a:rPr>
              <a:t>Feb 2024: the court — the company IS liable for the info of its chatbot, ordered to pay compensation</a:t>
            </a:r>
          </a:p>
        </p:txBody>
      </p:sp>
      <p:sp>
        <p:nvSpPr>
          <p:cNvPr id="12" name="Oval 11"/>
          <p:cNvSpPr/>
          <p:nvPr/>
        </p:nvSpPr>
        <p:spPr>
          <a:xfrm>
            <a:off x="795528" y="3493008"/>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438144"/>
            <a:ext cx="4974336" cy="512064"/>
          </a:xfrm>
          <a:prstGeom prst="rect">
            <a:avLst/>
          </a:prstGeom>
          <a:noFill/>
        </p:spPr>
        <p:txBody>
          <a:bodyPr wrap="square" lIns="0" rIns="0" tIns="0" bIns="0" anchor="t">
            <a:spAutoFit/>
          </a:bodyPr>
          <a:lstStyle/>
          <a:p>
            <a:pPr algn="l">
              <a:lnSpc>
                <a:spcPct val="108000"/>
              </a:lnSpc>
            </a:pPr>
            <a:r>
              <a:rPr sz="1150" b="0" i="0">
                <a:solidFill>
                  <a:srgbClr val="21295C"/>
                </a:solidFill>
                <a:latin typeface="Arial"/>
              </a:rPr>
              <a:t>class: hallucinated financial fact = legal liability</a:t>
            </a:r>
          </a:p>
        </p:txBody>
      </p:sp>
      <p:sp>
        <p:nvSpPr>
          <p:cNvPr id="14" name="Rectangle 13"/>
          <p:cNvSpPr/>
          <p:nvPr/>
        </p:nvSpPr>
        <p:spPr>
          <a:xfrm>
            <a:off x="6281927" y="1243584"/>
            <a:ext cx="5303520" cy="42062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81927" y="1243584"/>
            <a:ext cx="5303520" cy="420624"/>
          </a:xfrm>
          <a:prstGeom prst="rect">
            <a:avLst/>
          </a:prstGeom>
          <a:noFill/>
        </p:spPr>
        <p:txBody>
          <a:bodyPr wrap="square" lIns="0" rIns="0" tIns="0" bIns="0" anchor="ctr">
            <a:spAutoFit/>
          </a:bodyPr>
          <a:lstStyle/>
          <a:p>
            <a:pPr algn="ctr">
              <a:lnSpc>
                <a:spcPct val="115000"/>
              </a:lnSpc>
            </a:pPr>
            <a:r>
              <a:rPr sz="1300" b="1" i="0">
                <a:solidFill>
                  <a:srgbClr val="FFFFFF"/>
                </a:solidFill>
                <a:latin typeface="Arial"/>
              </a:rPr>
              <a:t>Case F — Klarna (the 2023 → 2025 arc)</a:t>
            </a:r>
          </a:p>
        </p:txBody>
      </p:sp>
      <p:sp>
        <p:nvSpPr>
          <p:cNvPr id="16" name="Oval 15"/>
          <p:cNvSpPr/>
          <p:nvPr/>
        </p:nvSpPr>
        <p:spPr>
          <a:xfrm>
            <a:off x="6373367" y="1847088"/>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74536" y="1792224"/>
            <a:ext cx="4974336" cy="512064"/>
          </a:xfrm>
          <a:prstGeom prst="rect">
            <a:avLst/>
          </a:prstGeom>
          <a:noFill/>
        </p:spPr>
        <p:txBody>
          <a:bodyPr wrap="square" lIns="0" rIns="0" tIns="0" bIns="0" anchor="t">
            <a:spAutoFit/>
          </a:bodyPr>
          <a:lstStyle/>
          <a:p>
            <a:pPr algn="l">
              <a:lnSpc>
                <a:spcPct val="108000"/>
              </a:lnSpc>
            </a:pPr>
            <a:r>
              <a:rPr sz="1150" b="0" i="0">
                <a:solidFill>
                  <a:srgbClr val="21295C"/>
                </a:solidFill>
                <a:latin typeface="Arial"/>
              </a:rPr>
              <a:t>LLM assistant: ~2/3 of inquiries, ~11 min → &lt; 2 min</a:t>
            </a:r>
          </a:p>
        </p:txBody>
      </p:sp>
      <p:sp>
        <p:nvSpPr>
          <p:cNvPr id="18" name="Oval 17"/>
          <p:cNvSpPr/>
          <p:nvPr/>
        </p:nvSpPr>
        <p:spPr>
          <a:xfrm>
            <a:off x="6373367" y="2395728"/>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36" y="2340864"/>
            <a:ext cx="4974336" cy="512064"/>
          </a:xfrm>
          <a:prstGeom prst="rect">
            <a:avLst/>
          </a:prstGeom>
          <a:noFill/>
        </p:spPr>
        <p:txBody>
          <a:bodyPr wrap="square" lIns="0" rIns="0" tIns="0" bIns="0" anchor="t">
            <a:spAutoFit/>
          </a:bodyPr>
          <a:lstStyle/>
          <a:p>
            <a:pPr algn="l">
              <a:lnSpc>
                <a:spcPct val="108000"/>
              </a:lnSpc>
            </a:pPr>
            <a:r>
              <a:rPr sz="1150" b="0" i="0">
                <a:solidFill>
                  <a:srgbClr val="21295C"/>
                </a:solidFill>
                <a:latin typeface="Arial"/>
              </a:rPr>
              <a:t>claimed savings ~$40M/year (Klarna, 2024)</a:t>
            </a:r>
          </a:p>
        </p:txBody>
      </p:sp>
      <p:sp>
        <p:nvSpPr>
          <p:cNvPr id="20" name="Oval 19"/>
          <p:cNvSpPr/>
          <p:nvPr/>
        </p:nvSpPr>
        <p:spPr>
          <a:xfrm>
            <a:off x="6373367" y="2944368"/>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74536" y="2889504"/>
            <a:ext cx="4974336" cy="512064"/>
          </a:xfrm>
          <a:prstGeom prst="rect">
            <a:avLst/>
          </a:prstGeom>
          <a:noFill/>
        </p:spPr>
        <p:txBody>
          <a:bodyPr wrap="square" lIns="0" rIns="0" tIns="0" bIns="0" anchor="t">
            <a:spAutoFit/>
          </a:bodyPr>
          <a:lstStyle/>
          <a:p>
            <a:pPr algn="l">
              <a:lnSpc>
                <a:spcPct val="108000"/>
              </a:lnSpc>
            </a:pPr>
            <a:r>
              <a:rPr sz="1150" b="0" i="0">
                <a:solidFill>
                  <a:srgbClr val="21295C"/>
                </a:solidFill>
                <a:latin typeface="Arial"/>
              </a:rPr>
              <a:t>2024: framed as «AI replaces support»</a:t>
            </a:r>
          </a:p>
        </p:txBody>
      </p:sp>
      <p:sp>
        <p:nvSpPr>
          <p:cNvPr id="22" name="Oval 21"/>
          <p:cNvSpPr/>
          <p:nvPr/>
        </p:nvSpPr>
        <p:spPr>
          <a:xfrm>
            <a:off x="6373367" y="3493008"/>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74536" y="3438144"/>
            <a:ext cx="4974336" cy="512064"/>
          </a:xfrm>
          <a:prstGeom prst="rect">
            <a:avLst/>
          </a:prstGeom>
          <a:noFill/>
        </p:spPr>
        <p:txBody>
          <a:bodyPr wrap="square" lIns="0" rIns="0" tIns="0" bIns="0" anchor="t">
            <a:spAutoFit/>
          </a:bodyPr>
          <a:lstStyle/>
          <a:p>
            <a:pPr algn="l">
              <a:lnSpc>
                <a:spcPct val="108000"/>
              </a:lnSpc>
            </a:pPr>
            <a:r>
              <a:rPr sz="1150" b="0" i="0">
                <a:solidFill>
                  <a:srgbClr val="21295C"/>
                </a:solidFill>
                <a:latin typeface="Arial"/>
              </a:rPr>
              <a:t>mid-2025: CSAT↓ → returned to hiring people</a:t>
            </a:r>
          </a:p>
        </p:txBody>
      </p:sp>
      <p:sp>
        <p:nvSpPr>
          <p:cNvPr id="24" name="Rounded Rectangle 23"/>
          <p:cNvSpPr/>
          <p:nvPr/>
        </p:nvSpPr>
        <p:spPr>
          <a:xfrm>
            <a:off x="502920" y="4224528"/>
            <a:ext cx="11201400" cy="73152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4279392"/>
            <a:ext cx="10762488" cy="621792"/>
          </a:xfrm>
          <a:prstGeom prst="rect">
            <a:avLst/>
          </a:prstGeom>
          <a:noFill/>
        </p:spPr>
        <p:txBody>
          <a:bodyPr wrap="square" lIns="0" rIns="0" tIns="0" bIns="0" anchor="ctr">
            <a:spAutoFit/>
          </a:bodyPr>
          <a:lstStyle/>
          <a:p>
            <a:pPr algn="l">
              <a:lnSpc>
                <a:spcPct val="118000"/>
              </a:lnSpc>
            </a:pPr>
            <a:r>
              <a:rPr sz="1300" b="0" i="0">
                <a:solidFill>
                  <a:srgbClr val="21295C"/>
                </a:solidFill>
                <a:latin typeface="Arial"/>
              </a:rPr>
              <a:t>Criterion: a fixed policy/tariff/right → deterministic retrieval/grounded, not free generation; and in any scenario a path to a human is guaranteed.</a:t>
            </a:r>
          </a:p>
        </p:txBody>
      </p:sp>
      <p:sp>
        <p:nvSpPr>
          <p:cNvPr id="26" name="Rounded Rectangle 25"/>
          <p:cNvSpPr/>
          <p:nvPr/>
        </p:nvSpPr>
        <p:spPr>
          <a:xfrm>
            <a:off x="502920" y="5084064"/>
            <a:ext cx="11201400" cy="10972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 y="5138927"/>
            <a:ext cx="10762488" cy="987552"/>
          </a:xfrm>
          <a:prstGeom prst="rect">
            <a:avLst/>
          </a:prstGeom>
          <a:noFill/>
        </p:spPr>
        <p:txBody>
          <a:bodyPr wrap="square" lIns="0" rIns="0" tIns="0" bIns="0" anchor="ctr">
            <a:spAutoFit/>
          </a:bodyPr>
          <a:lstStyle/>
          <a:p>
            <a:pPr algn="l">
              <a:lnSpc>
                <a:spcPct val="120000"/>
              </a:lnSpc>
            </a:pPr>
            <a:r>
              <a:rPr sz="1500" b="1" i="0">
                <a:solidFill>
                  <a:srgbClr val="21295C"/>
                </a:solidFill>
                <a:latin typeface="Arial"/>
              </a:rPr>
              <a:t>What is sustainable is not replacement, but AUGMENTATION: AI on the mass routine + guaranteed human escalation on the emotional / disputed / non-standard tail.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Checkpoint: 4 of 5 types covered — a turn toward «human + harness».</a:t>
            </a:r>
          </a:p>
        </p:txBody>
      </p:sp>
      <p:sp>
        <p:nvSpPr>
          <p:cNvPr id="3" name="Rounded Rectangle 2"/>
          <p:cNvSpPr/>
          <p:nvPr/>
        </p:nvSpPr>
        <p:spPr>
          <a:xfrm>
            <a:off x="502920" y="1078992"/>
            <a:ext cx="11201400" cy="133502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1188719"/>
            <a:ext cx="10725912" cy="256032"/>
          </a:xfrm>
          <a:prstGeom prst="rect">
            <a:avLst/>
          </a:prstGeom>
          <a:noFill/>
        </p:spPr>
        <p:txBody>
          <a:bodyPr wrap="square" lIns="0" rIns="0" tIns="0" bIns="0" anchor="t">
            <a:spAutoFit/>
          </a:bodyPr>
          <a:lstStyle/>
          <a:p>
            <a:pPr algn="l">
              <a:lnSpc>
                <a:spcPct val="115000"/>
              </a:lnSpc>
            </a:pPr>
            <a:r>
              <a:rPr sz="1350" b="1" i="0">
                <a:solidFill>
                  <a:srgbClr val="065A82"/>
                </a:solidFill>
                <a:latin typeface="Arial"/>
              </a:rPr>
              <a:t>Progress across the 5 types — for all 4 covered, a failure of one form:</a:t>
            </a:r>
          </a:p>
        </p:txBody>
      </p:sp>
      <p:sp>
        <p:nvSpPr>
          <p:cNvPr id="5" name="Rounded Rectangle 4"/>
          <p:cNvSpPr/>
          <p:nvPr/>
        </p:nvSpPr>
        <p:spPr>
          <a:xfrm>
            <a:off x="740664" y="1517904"/>
            <a:ext cx="2028139" cy="74980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572768"/>
            <a:ext cx="1918411" cy="274320"/>
          </a:xfrm>
          <a:prstGeom prst="rect">
            <a:avLst/>
          </a:prstGeom>
          <a:noFill/>
        </p:spPr>
        <p:txBody>
          <a:bodyPr wrap="square" lIns="0" rIns="0" tIns="0" bIns="0" anchor="t">
            <a:spAutoFit/>
          </a:bodyPr>
          <a:lstStyle/>
          <a:p>
            <a:pPr algn="ctr">
              <a:lnSpc>
                <a:spcPct val="115000"/>
              </a:lnSpc>
            </a:pPr>
            <a:r>
              <a:rPr sz="1250" b="1" i="0">
                <a:solidFill>
                  <a:srgbClr val="028090"/>
                </a:solidFill>
                <a:latin typeface="Arial"/>
              </a:rPr>
              <a:t>✓ Forecast</a:t>
            </a:r>
          </a:p>
        </p:txBody>
      </p:sp>
      <p:sp>
        <p:nvSpPr>
          <p:cNvPr id="7" name="TextBox 6"/>
          <p:cNvSpPr txBox="1"/>
          <p:nvPr/>
        </p:nvSpPr>
        <p:spPr>
          <a:xfrm>
            <a:off x="795528" y="1865376"/>
            <a:ext cx="1918411" cy="329184"/>
          </a:xfrm>
          <a:prstGeom prst="rect">
            <a:avLst/>
          </a:prstGeom>
          <a:noFill/>
        </p:spPr>
        <p:txBody>
          <a:bodyPr wrap="square" lIns="0" rIns="0" tIns="0" bIns="0" anchor="t">
            <a:spAutoFit/>
          </a:bodyPr>
          <a:lstStyle/>
          <a:p>
            <a:pPr algn="ctr">
              <a:lnSpc>
                <a:spcPct val="100000"/>
              </a:lnSpc>
            </a:pPr>
            <a:r>
              <a:rPr sz="1000" b="0" i="0">
                <a:solidFill>
                  <a:srgbClr val="21295C"/>
                </a:solidFill>
                <a:latin typeface="Arial"/>
              </a:rPr>
              <a:t>Zillow</a:t>
            </a:r>
          </a:p>
        </p:txBody>
      </p:sp>
      <p:sp>
        <p:nvSpPr>
          <p:cNvPr id="8" name="Rounded Rectangle 7"/>
          <p:cNvSpPr/>
          <p:nvPr/>
        </p:nvSpPr>
        <p:spPr>
          <a:xfrm>
            <a:off x="2915107" y="1517904"/>
            <a:ext cx="2028139" cy="74980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69971" y="1572768"/>
            <a:ext cx="1918411" cy="274320"/>
          </a:xfrm>
          <a:prstGeom prst="rect">
            <a:avLst/>
          </a:prstGeom>
          <a:noFill/>
        </p:spPr>
        <p:txBody>
          <a:bodyPr wrap="square" lIns="0" rIns="0" tIns="0" bIns="0" anchor="t">
            <a:spAutoFit/>
          </a:bodyPr>
          <a:lstStyle/>
          <a:p>
            <a:pPr algn="ctr">
              <a:lnSpc>
                <a:spcPct val="115000"/>
              </a:lnSpc>
            </a:pPr>
            <a:r>
              <a:rPr sz="1250" b="1" i="0">
                <a:solidFill>
                  <a:srgbClr val="028090"/>
                </a:solidFill>
                <a:latin typeface="Arial"/>
              </a:rPr>
              <a:t>✓ Anomalies</a:t>
            </a:r>
          </a:p>
        </p:txBody>
      </p:sp>
      <p:sp>
        <p:nvSpPr>
          <p:cNvPr id="10" name="TextBox 9"/>
          <p:cNvSpPr txBox="1"/>
          <p:nvPr/>
        </p:nvSpPr>
        <p:spPr>
          <a:xfrm>
            <a:off x="2969971" y="1865376"/>
            <a:ext cx="1918411" cy="329184"/>
          </a:xfrm>
          <a:prstGeom prst="rect">
            <a:avLst/>
          </a:prstGeom>
          <a:noFill/>
        </p:spPr>
        <p:txBody>
          <a:bodyPr wrap="square" lIns="0" rIns="0" tIns="0" bIns="0" anchor="t">
            <a:spAutoFit/>
          </a:bodyPr>
          <a:lstStyle/>
          <a:p>
            <a:pPr algn="ctr">
              <a:lnSpc>
                <a:spcPct val="100000"/>
              </a:lnSpc>
            </a:pPr>
            <a:r>
              <a:rPr sz="1000" b="0" i="0">
                <a:solidFill>
                  <a:srgbClr val="21295C"/>
                </a:solidFill>
                <a:latin typeface="Arial"/>
              </a:rPr>
              <a:t>fraud-FP</a:t>
            </a:r>
          </a:p>
        </p:txBody>
      </p:sp>
      <p:sp>
        <p:nvSpPr>
          <p:cNvPr id="11" name="Rounded Rectangle 10"/>
          <p:cNvSpPr/>
          <p:nvPr/>
        </p:nvSpPr>
        <p:spPr>
          <a:xfrm>
            <a:off x="5089550" y="1517904"/>
            <a:ext cx="2028139" cy="74980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4414" y="1572768"/>
            <a:ext cx="1918411" cy="274320"/>
          </a:xfrm>
          <a:prstGeom prst="rect">
            <a:avLst/>
          </a:prstGeom>
          <a:noFill/>
        </p:spPr>
        <p:txBody>
          <a:bodyPr wrap="square" lIns="0" rIns="0" tIns="0" bIns="0" anchor="t">
            <a:spAutoFit/>
          </a:bodyPr>
          <a:lstStyle/>
          <a:p>
            <a:pPr algn="ctr">
              <a:lnSpc>
                <a:spcPct val="115000"/>
              </a:lnSpc>
            </a:pPr>
            <a:r>
              <a:rPr sz="1250" b="1" i="0">
                <a:solidFill>
                  <a:srgbClr val="028090"/>
                </a:solidFill>
                <a:latin typeface="Arial"/>
              </a:rPr>
              <a:t>✓ Scoring</a:t>
            </a:r>
          </a:p>
        </p:txBody>
      </p:sp>
      <p:sp>
        <p:nvSpPr>
          <p:cNvPr id="13" name="TextBox 12"/>
          <p:cNvSpPr txBox="1"/>
          <p:nvPr/>
        </p:nvSpPr>
        <p:spPr>
          <a:xfrm>
            <a:off x="5144414" y="1865376"/>
            <a:ext cx="1918411" cy="329184"/>
          </a:xfrm>
          <a:prstGeom prst="rect">
            <a:avLst/>
          </a:prstGeom>
          <a:noFill/>
        </p:spPr>
        <p:txBody>
          <a:bodyPr wrap="square" lIns="0" rIns="0" tIns="0" bIns="0" anchor="t">
            <a:spAutoFit/>
          </a:bodyPr>
          <a:lstStyle/>
          <a:p>
            <a:pPr algn="ctr">
              <a:lnSpc>
                <a:spcPct val="100000"/>
              </a:lnSpc>
            </a:pPr>
            <a:r>
              <a:rPr sz="1000" b="0" i="0">
                <a:solidFill>
                  <a:srgbClr val="21295C"/>
                </a:solidFill>
                <a:latin typeface="Arial"/>
              </a:rPr>
              <a:t>Apple Card</a:t>
            </a:r>
          </a:p>
        </p:txBody>
      </p:sp>
      <p:sp>
        <p:nvSpPr>
          <p:cNvPr id="14" name="Rounded Rectangle 13"/>
          <p:cNvSpPr/>
          <p:nvPr/>
        </p:nvSpPr>
        <p:spPr>
          <a:xfrm>
            <a:off x="7263993" y="1517904"/>
            <a:ext cx="2028139" cy="749808"/>
          </a:xfrm>
          <a:prstGeom prst="roundRect">
            <a:avLst>
              <a:gd name="adj" fmla="val 10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8857" y="1572768"/>
            <a:ext cx="1918411" cy="274320"/>
          </a:xfrm>
          <a:prstGeom prst="rect">
            <a:avLst/>
          </a:prstGeom>
          <a:noFill/>
        </p:spPr>
        <p:txBody>
          <a:bodyPr wrap="square" lIns="0" rIns="0" tIns="0" bIns="0" anchor="t">
            <a:spAutoFit/>
          </a:bodyPr>
          <a:lstStyle/>
          <a:p>
            <a:pPr algn="ctr">
              <a:lnSpc>
                <a:spcPct val="115000"/>
              </a:lnSpc>
            </a:pPr>
            <a:r>
              <a:rPr sz="1250" b="1" i="0">
                <a:solidFill>
                  <a:srgbClr val="028090"/>
                </a:solidFill>
                <a:latin typeface="Arial"/>
              </a:rPr>
              <a:t>✓ LLM</a:t>
            </a:r>
          </a:p>
        </p:txBody>
      </p:sp>
      <p:sp>
        <p:nvSpPr>
          <p:cNvPr id="16" name="TextBox 15"/>
          <p:cNvSpPr txBox="1"/>
          <p:nvPr/>
        </p:nvSpPr>
        <p:spPr>
          <a:xfrm>
            <a:off x="7318857" y="1865376"/>
            <a:ext cx="1918411" cy="329184"/>
          </a:xfrm>
          <a:prstGeom prst="rect">
            <a:avLst/>
          </a:prstGeom>
          <a:noFill/>
        </p:spPr>
        <p:txBody>
          <a:bodyPr wrap="square" lIns="0" rIns="0" tIns="0" bIns="0" anchor="t">
            <a:spAutoFit/>
          </a:bodyPr>
          <a:lstStyle/>
          <a:p>
            <a:pPr algn="ctr">
              <a:lnSpc>
                <a:spcPct val="100000"/>
              </a:lnSpc>
            </a:pPr>
            <a:r>
              <a:rPr sz="1000" b="0" i="0">
                <a:solidFill>
                  <a:srgbClr val="21295C"/>
                </a:solidFill>
                <a:latin typeface="Arial"/>
              </a:rPr>
              <a:t>Air Canada</a:t>
            </a:r>
          </a:p>
        </p:txBody>
      </p:sp>
      <p:sp>
        <p:nvSpPr>
          <p:cNvPr id="17" name="Rounded Rectangle 16"/>
          <p:cNvSpPr/>
          <p:nvPr/>
        </p:nvSpPr>
        <p:spPr>
          <a:xfrm>
            <a:off x="9438436" y="1517904"/>
            <a:ext cx="2028139" cy="74980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93300" y="1572768"/>
            <a:ext cx="1918411" cy="274320"/>
          </a:xfrm>
          <a:prstGeom prst="rect">
            <a:avLst/>
          </a:prstGeom>
          <a:noFill/>
        </p:spPr>
        <p:txBody>
          <a:bodyPr wrap="square" lIns="0" rIns="0" tIns="0" bIns="0" anchor="t">
            <a:spAutoFit/>
          </a:bodyPr>
          <a:lstStyle/>
          <a:p>
            <a:pPr algn="ctr">
              <a:lnSpc>
                <a:spcPct val="115000"/>
              </a:lnSpc>
            </a:pPr>
            <a:r>
              <a:rPr sz="1250" b="1" i="0">
                <a:solidFill>
                  <a:srgbClr val="F0AB00"/>
                </a:solidFill>
                <a:latin typeface="Arial"/>
              </a:rPr>
              <a:t>→ Recsys</a:t>
            </a:r>
          </a:p>
        </p:txBody>
      </p:sp>
      <p:sp>
        <p:nvSpPr>
          <p:cNvPr id="19" name="TextBox 18"/>
          <p:cNvSpPr txBox="1"/>
          <p:nvPr/>
        </p:nvSpPr>
        <p:spPr>
          <a:xfrm>
            <a:off x="9493300" y="1865376"/>
            <a:ext cx="1918411" cy="329184"/>
          </a:xfrm>
          <a:prstGeom prst="rect">
            <a:avLst/>
          </a:prstGeom>
          <a:noFill/>
        </p:spPr>
        <p:txBody>
          <a:bodyPr wrap="square" lIns="0" rIns="0" tIns="0" bIns="0" anchor="t">
            <a:spAutoFit/>
          </a:bodyPr>
          <a:lstStyle/>
          <a:p>
            <a:pPr algn="ctr">
              <a:lnSpc>
                <a:spcPct val="100000"/>
              </a:lnSpc>
            </a:pPr>
            <a:r>
              <a:rPr sz="1000" b="0" i="0">
                <a:solidFill>
                  <a:srgbClr val="21295C"/>
                </a:solidFill>
                <a:latin typeface="Arial"/>
              </a:rPr>
              <a:t>next</a:t>
            </a:r>
          </a:p>
        </p:txBody>
      </p:sp>
      <p:sp>
        <p:nvSpPr>
          <p:cNvPr id="20" name="Rounded Rectangle 19"/>
          <p:cNvSpPr/>
          <p:nvPr/>
        </p:nvSpPr>
        <p:spPr>
          <a:xfrm>
            <a:off x="502920" y="2560320"/>
            <a:ext cx="11201400" cy="1060704"/>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2615184"/>
            <a:ext cx="10762488" cy="950976"/>
          </a:xfrm>
          <a:prstGeom prst="rect">
            <a:avLst/>
          </a:prstGeom>
          <a:noFill/>
        </p:spPr>
        <p:txBody>
          <a:bodyPr wrap="square" lIns="0" rIns="0" tIns="0" bIns="0" anchor="ctr">
            <a:spAutoFit/>
          </a:bodyPr>
          <a:lstStyle/>
          <a:p>
            <a:pPr algn="l">
              <a:lnSpc>
                <a:spcPct val="118000"/>
              </a:lnSpc>
            </a:pPr>
            <a:r>
              <a:rPr sz="1350" b="1" i="0">
                <a:solidFill>
                  <a:srgbClr val="21295C"/>
                </a:solidFill>
                <a:latin typeface="Arial"/>
              </a:rPr>
              <a:t>Level 1 «which type of AI» — resolved by the structure of the task, often unambiguously. Level 2 «what surrounds the AI at the cost of error» — is designed separately. The lecture's turn: from here on, attention moves from the type to the harness.</a:t>
            </a:r>
          </a:p>
        </p:txBody>
      </p:sp>
      <p:sp>
        <p:nvSpPr>
          <p:cNvPr id="22" name="Rounded Rectangle 21"/>
          <p:cNvSpPr/>
          <p:nvPr/>
        </p:nvSpPr>
        <p:spPr>
          <a:xfrm>
            <a:off x="502920" y="3767328"/>
            <a:ext cx="11201400" cy="1060704"/>
          </a:xfrm>
          <a:prstGeom prst="roundRect">
            <a:avLst>
              <a:gd name="adj" fmla="val 7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hopping-cart-mid.png"/>
          <p:cNvPicPr>
            <a:picLocks noChangeAspect="1"/>
          </p:cNvPicPr>
          <p:nvPr/>
        </p:nvPicPr>
        <p:blipFill>
          <a:blip r:embed="rId2"/>
          <a:stretch>
            <a:fillRect/>
          </a:stretch>
        </p:blipFill>
        <p:spPr>
          <a:xfrm>
            <a:off x="777240" y="4078224"/>
            <a:ext cx="438912" cy="438912"/>
          </a:xfrm>
          <a:prstGeom prst="rect">
            <a:avLst/>
          </a:prstGeom>
        </p:spPr>
      </p:pic>
      <p:sp>
        <p:nvSpPr>
          <p:cNvPr id="24" name="TextBox 23"/>
          <p:cNvSpPr txBox="1"/>
          <p:nvPr/>
        </p:nvSpPr>
        <p:spPr>
          <a:xfrm>
            <a:off x="1417320" y="3858768"/>
            <a:ext cx="10058400" cy="89611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The last type — recsys / pricing — seems the most HARMLESS: the cost of error is near zero. That is exactly why it is more dangerous than the rest: the failure is SILENT — the system reports success by its own metric.</a:t>
            </a:r>
          </a:p>
        </p:txBody>
      </p:sp>
      <p:sp>
        <p:nvSpPr>
          <p:cNvPr id="25" name="Rounded Rectangle 24"/>
          <p:cNvSpPr/>
          <p:nvPr/>
        </p:nvSpPr>
        <p:spPr>
          <a:xfrm>
            <a:off x="502920" y="4992624"/>
            <a:ext cx="11201400" cy="11887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5047488"/>
            <a:ext cx="10762488" cy="1078992"/>
          </a:xfrm>
          <a:prstGeom prst="rect">
            <a:avLst/>
          </a:prstGeom>
          <a:noFill/>
        </p:spPr>
        <p:txBody>
          <a:bodyPr wrap="square" lIns="0" rIns="0" tIns="0" bIns="0" anchor="ctr">
            <a:spAutoFit/>
          </a:bodyPr>
          <a:lstStyle/>
          <a:p>
            <a:pPr algn="l">
              <a:lnSpc>
                <a:spcPct val="120000"/>
              </a:lnSpc>
            </a:pPr>
            <a:r>
              <a:rPr sz="1500" b="1" i="0">
                <a:solidFill>
                  <a:srgbClr val="21295C"/>
                </a:solidFill>
                <a:latin typeface="Arial"/>
              </a:rPr>
              <a:t>The question for the remaining section is NOT «which type», but «why can the type most harmless by cost of error turn out to be more dangerous than the loud failures?»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726679" y="274320"/>
            <a:ext cx="4206240" cy="5486400"/>
          </a:xfrm>
          <a:prstGeom prst="rect">
            <a:avLst/>
          </a:prstGeom>
          <a:noFill/>
        </p:spPr>
        <p:txBody>
          <a:bodyPr wrap="square" lIns="0" rIns="0" tIns="0" bIns="0" anchor="ctr">
            <a:spAutoFit/>
          </a:bodyPr>
          <a:lstStyle/>
          <a:p>
            <a:pPr algn="ctr">
              <a:lnSpc>
                <a:spcPct val="100000"/>
              </a:lnSpc>
            </a:pPr>
            <a:r>
              <a:rPr sz="40000" b="1" i="0">
                <a:solidFill>
                  <a:srgbClr val="D9E2EC"/>
                </a:solidFill>
                <a:latin typeface="Arial"/>
              </a:rPr>
              <a:t>5</a:t>
            </a:r>
          </a:p>
        </p:txBody>
      </p:sp>
      <p:sp>
        <p:nvSpPr>
          <p:cNvPr id="3" name="TextBox 2"/>
          <p:cNvSpPr txBox="1"/>
          <p:nvPr/>
        </p:nvSpPr>
        <p:spPr>
          <a:xfrm>
            <a:off x="685800" y="1417320"/>
            <a:ext cx="676656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Arial"/>
              </a:rPr>
              <a:t>SECTION 5</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6949440" cy="1691640"/>
          </a:xfrm>
          <a:prstGeom prst="rect">
            <a:avLst/>
          </a:prstGeom>
          <a:noFill/>
        </p:spPr>
        <p:txBody>
          <a:bodyPr wrap="square" lIns="0" rIns="0" tIns="0" bIns="0" anchor="t">
            <a:spAutoFit/>
          </a:bodyPr>
          <a:lstStyle/>
          <a:p>
            <a:pPr algn="l">
              <a:lnSpc>
                <a:spcPct val="108000"/>
              </a:lnSpc>
            </a:pPr>
            <a:r>
              <a:rPr sz="3600" b="1" i="0">
                <a:solidFill>
                  <a:srgbClr val="21295C"/>
                </a:solidFill>
                <a:latin typeface="Arial"/>
              </a:rPr>
              <a:t>Recommendations and
dynamic pricing</a:t>
            </a:r>
          </a:p>
        </p:txBody>
      </p:sp>
      <p:sp>
        <p:nvSpPr>
          <p:cNvPr id="6" name="TextBox 5"/>
          <p:cNvSpPr txBox="1"/>
          <p:nvPr/>
        </p:nvSpPr>
        <p:spPr>
          <a:xfrm>
            <a:off x="713232" y="4224528"/>
            <a:ext cx="6858000" cy="1417320"/>
          </a:xfrm>
          <a:prstGeom prst="rect">
            <a:avLst/>
          </a:prstGeom>
          <a:noFill/>
        </p:spPr>
        <p:txBody>
          <a:bodyPr wrap="square" lIns="0" rIns="0" tIns="0" bIns="0" anchor="t">
            <a:spAutoFit/>
          </a:bodyPr>
          <a:lstStyle/>
          <a:p>
            <a:pPr algn="l">
              <a:lnSpc>
                <a:spcPct val="122000"/>
              </a:lnSpc>
            </a:pPr>
            <a:r>
              <a:rPr sz="1800" b="0" i="1">
                <a:solidFill>
                  <a:srgbClr val="1C7293"/>
                </a:solidFill>
                <a:latin typeface="Arial"/>
              </a:rPr>
              <a:t>The last type — the most «harmless» by cost of error, but with the subtlest pathologies.</a:t>
            </a:r>
          </a:p>
        </p:txBody>
      </p:sp>
      <p:sp>
        <p:nvSpPr>
          <p:cNvPr id="7" name="Rounded Rectangle 6"/>
          <p:cNvSpPr/>
          <p:nvPr/>
        </p:nvSpPr>
        <p:spPr>
          <a:xfrm>
            <a:off x="502920"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9496"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0</a:t>
            </a:r>
          </a:p>
        </p:txBody>
      </p:sp>
      <p:sp>
        <p:nvSpPr>
          <p:cNvPr id="9" name="TextBox 8"/>
          <p:cNvSpPr txBox="1"/>
          <p:nvPr/>
        </p:nvSpPr>
        <p:spPr>
          <a:xfrm>
            <a:off x="539496"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Opening</a:t>
            </a:r>
          </a:p>
        </p:txBody>
      </p:sp>
      <p:sp>
        <p:nvSpPr>
          <p:cNvPr id="10" name="Rounded Rectangle 9"/>
          <p:cNvSpPr/>
          <p:nvPr/>
        </p:nvSpPr>
        <p:spPr>
          <a:xfrm>
            <a:off x="2118795"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5371"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1</a:t>
            </a:r>
          </a:p>
        </p:txBody>
      </p:sp>
      <p:sp>
        <p:nvSpPr>
          <p:cNvPr id="12" name="TextBox 11"/>
          <p:cNvSpPr txBox="1"/>
          <p:nvPr/>
        </p:nvSpPr>
        <p:spPr>
          <a:xfrm>
            <a:off x="2155371"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Forecast</a:t>
            </a:r>
          </a:p>
        </p:txBody>
      </p:sp>
      <p:sp>
        <p:nvSpPr>
          <p:cNvPr id="13" name="Rounded Rectangle 12"/>
          <p:cNvSpPr/>
          <p:nvPr/>
        </p:nvSpPr>
        <p:spPr>
          <a:xfrm>
            <a:off x="3734670"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1246"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2</a:t>
            </a:r>
          </a:p>
        </p:txBody>
      </p:sp>
      <p:sp>
        <p:nvSpPr>
          <p:cNvPr id="15" name="TextBox 14"/>
          <p:cNvSpPr txBox="1"/>
          <p:nvPr/>
        </p:nvSpPr>
        <p:spPr>
          <a:xfrm>
            <a:off x="3771246"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Anomalies</a:t>
            </a:r>
          </a:p>
        </p:txBody>
      </p:sp>
      <p:sp>
        <p:nvSpPr>
          <p:cNvPr id="16" name="Rounded Rectangle 15"/>
          <p:cNvSpPr/>
          <p:nvPr/>
        </p:nvSpPr>
        <p:spPr>
          <a:xfrm>
            <a:off x="5350546"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87122"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3</a:t>
            </a:r>
          </a:p>
        </p:txBody>
      </p:sp>
      <p:sp>
        <p:nvSpPr>
          <p:cNvPr id="18" name="TextBox 17"/>
          <p:cNvSpPr txBox="1"/>
          <p:nvPr/>
        </p:nvSpPr>
        <p:spPr>
          <a:xfrm>
            <a:off x="5387122"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Scoring</a:t>
            </a:r>
          </a:p>
        </p:txBody>
      </p:sp>
      <p:sp>
        <p:nvSpPr>
          <p:cNvPr id="19" name="Rounded Rectangle 18"/>
          <p:cNvSpPr/>
          <p:nvPr/>
        </p:nvSpPr>
        <p:spPr>
          <a:xfrm>
            <a:off x="6966421"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02997"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4</a:t>
            </a:r>
          </a:p>
        </p:txBody>
      </p:sp>
      <p:sp>
        <p:nvSpPr>
          <p:cNvPr id="21" name="TextBox 20"/>
          <p:cNvSpPr txBox="1"/>
          <p:nvPr/>
        </p:nvSpPr>
        <p:spPr>
          <a:xfrm>
            <a:off x="7002997"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LLM</a:t>
            </a:r>
          </a:p>
        </p:txBody>
      </p:sp>
      <p:sp>
        <p:nvSpPr>
          <p:cNvPr id="22" name="Rounded Rectangle 21"/>
          <p:cNvSpPr/>
          <p:nvPr/>
        </p:nvSpPr>
        <p:spPr>
          <a:xfrm>
            <a:off x="8582297" y="5943600"/>
            <a:ext cx="1506147" cy="548640"/>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8873" y="6007608"/>
            <a:ext cx="1432995" cy="201168"/>
          </a:xfrm>
          <a:prstGeom prst="rect">
            <a:avLst/>
          </a:prstGeom>
          <a:noFill/>
        </p:spPr>
        <p:txBody>
          <a:bodyPr wrap="square" lIns="0" rIns="0" tIns="0" bIns="0" anchor="t">
            <a:spAutoFit/>
          </a:bodyPr>
          <a:lstStyle/>
          <a:p>
            <a:pPr algn="ctr">
              <a:lnSpc>
                <a:spcPct val="115000"/>
              </a:lnSpc>
            </a:pPr>
            <a:r>
              <a:rPr sz="1000" b="1" i="0">
                <a:solidFill>
                  <a:srgbClr val="21295C"/>
                </a:solidFill>
                <a:latin typeface="Arial"/>
              </a:rPr>
              <a:t>Section 5</a:t>
            </a:r>
          </a:p>
        </p:txBody>
      </p:sp>
      <p:sp>
        <p:nvSpPr>
          <p:cNvPr id="24" name="TextBox 23"/>
          <p:cNvSpPr txBox="1"/>
          <p:nvPr/>
        </p:nvSpPr>
        <p:spPr>
          <a:xfrm>
            <a:off x="8618873" y="6217920"/>
            <a:ext cx="1432995" cy="237744"/>
          </a:xfrm>
          <a:prstGeom prst="rect">
            <a:avLst/>
          </a:prstGeom>
          <a:noFill/>
        </p:spPr>
        <p:txBody>
          <a:bodyPr wrap="square" lIns="0" rIns="0" tIns="0" bIns="0" anchor="t">
            <a:spAutoFit/>
          </a:bodyPr>
          <a:lstStyle/>
          <a:p>
            <a:pPr algn="ctr">
              <a:lnSpc>
                <a:spcPct val="95000"/>
              </a:lnSpc>
            </a:pPr>
            <a:r>
              <a:rPr sz="1050" b="1" i="0">
                <a:solidFill>
                  <a:srgbClr val="21295C"/>
                </a:solidFill>
                <a:latin typeface="Arial"/>
              </a:rPr>
              <a:t>Recomm.</a:t>
            </a:r>
          </a:p>
        </p:txBody>
      </p:sp>
      <p:sp>
        <p:nvSpPr>
          <p:cNvPr id="25" name="Rounded Rectangle 24"/>
          <p:cNvSpPr/>
          <p:nvPr/>
        </p:nvSpPr>
        <p:spPr>
          <a:xfrm>
            <a:off x="10198172" y="5943600"/>
            <a:ext cx="1506147" cy="548640"/>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34748" y="6007608"/>
            <a:ext cx="1432995" cy="201168"/>
          </a:xfrm>
          <a:prstGeom prst="rect">
            <a:avLst/>
          </a:prstGeom>
          <a:noFill/>
        </p:spPr>
        <p:txBody>
          <a:bodyPr wrap="square" lIns="0" rIns="0" tIns="0" bIns="0" anchor="t">
            <a:spAutoFit/>
          </a:bodyPr>
          <a:lstStyle/>
          <a:p>
            <a:pPr algn="ctr">
              <a:lnSpc>
                <a:spcPct val="115000"/>
              </a:lnSpc>
            </a:pPr>
            <a:r>
              <a:rPr sz="1000" b="1" i="0">
                <a:solidFill>
                  <a:srgbClr val="1C7293"/>
                </a:solidFill>
                <a:latin typeface="Arial"/>
              </a:rPr>
              <a:t>Section 6</a:t>
            </a:r>
          </a:p>
        </p:txBody>
      </p:sp>
      <p:sp>
        <p:nvSpPr>
          <p:cNvPr id="27" name="TextBox 26"/>
          <p:cNvSpPr txBox="1"/>
          <p:nvPr/>
        </p:nvSpPr>
        <p:spPr>
          <a:xfrm>
            <a:off x="10234748" y="6217920"/>
            <a:ext cx="1432995" cy="237744"/>
          </a:xfrm>
          <a:prstGeom prst="rect">
            <a:avLst/>
          </a:prstGeom>
          <a:noFill/>
        </p:spPr>
        <p:txBody>
          <a:bodyPr wrap="square" lIns="0" rIns="0" tIns="0" bIns="0" anchor="t">
            <a:spAutoFit/>
          </a:bodyPr>
          <a:lstStyle/>
          <a:p>
            <a:pPr algn="ctr">
              <a:lnSpc>
                <a:spcPct val="95000"/>
              </a:lnSpc>
            </a:pPr>
            <a:r>
              <a:rPr sz="1050" b="0" i="0">
                <a:solidFill>
                  <a:srgbClr val="5B6678"/>
                </a:solidFill>
                <a:latin typeface="Arial"/>
              </a:rPr>
              <a:t>Framework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300" b="1" i="0">
                <a:solidFill>
                  <a:srgbClr val="21295C"/>
                </a:solidFill>
                <a:latin typeface="Arial"/>
              </a:rPr>
              <a:t>Two basic approaches to recommendations — and each with a weakness by name.</a:t>
            </a:r>
          </a:p>
        </p:txBody>
      </p:sp>
      <p:sp>
        <p:nvSpPr>
          <p:cNvPr id="3" name="Rounded Rectangle 2"/>
          <p:cNvSpPr/>
          <p:nvPr/>
        </p:nvSpPr>
        <p:spPr>
          <a:xfrm>
            <a:off x="502920" y="1024128"/>
            <a:ext cx="11201400" cy="1737360"/>
          </a:xfrm>
          <a:prstGeom prst="roundRect">
            <a:avLst>
              <a:gd name="adj" fmla="val 1754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170432"/>
            <a:ext cx="5326380" cy="38404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70432"/>
            <a:ext cx="5326380" cy="384048"/>
          </a:xfrm>
          <a:prstGeom prst="rect">
            <a:avLst/>
          </a:prstGeom>
          <a:noFill/>
        </p:spPr>
        <p:txBody>
          <a:bodyPr wrap="square" lIns="0" rIns="0" tIns="0" bIns="0" anchor="ctr">
            <a:spAutoFit/>
          </a:bodyPr>
          <a:lstStyle/>
          <a:p>
            <a:pPr algn="ctr">
              <a:lnSpc>
                <a:spcPct val="115000"/>
              </a:lnSpc>
            </a:pPr>
            <a:r>
              <a:rPr sz="1250" b="1" i="0">
                <a:solidFill>
                  <a:srgbClr val="FFFFFF"/>
                </a:solidFill>
                <a:latin typeface="Arial"/>
              </a:rPr>
              <a:t>Collaborative — «ask those similar to you»</a:t>
            </a:r>
          </a:p>
        </p:txBody>
      </p:sp>
      <p:sp>
        <p:nvSpPr>
          <p:cNvPr id="6" name="Rectangle 5"/>
          <p:cNvSpPr/>
          <p:nvPr/>
        </p:nvSpPr>
        <p:spPr>
          <a:xfrm>
            <a:off x="6103620" y="1170432"/>
            <a:ext cx="5326380" cy="38404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03620" y="1170432"/>
            <a:ext cx="5326380" cy="384048"/>
          </a:xfrm>
          <a:prstGeom prst="rect">
            <a:avLst/>
          </a:prstGeom>
          <a:noFill/>
        </p:spPr>
        <p:txBody>
          <a:bodyPr wrap="square" lIns="0" rIns="0" tIns="0" bIns="0" anchor="ctr">
            <a:spAutoFit/>
          </a:bodyPr>
          <a:lstStyle/>
          <a:p>
            <a:pPr algn="ctr">
              <a:lnSpc>
                <a:spcPct val="115000"/>
              </a:lnSpc>
            </a:pPr>
            <a:r>
              <a:rPr sz="1250" b="1" i="0">
                <a:solidFill>
                  <a:srgbClr val="FFFFFF"/>
                </a:solidFill>
                <a:latin typeface="Arial"/>
              </a:rPr>
              <a:t>Content-based — «more like it, by description»</a:t>
            </a:r>
          </a:p>
        </p:txBody>
      </p:sp>
      <p:sp>
        <p:nvSpPr>
          <p:cNvPr id="8" name="Rounded Rectangle 7"/>
          <p:cNvSpPr/>
          <p:nvPr/>
        </p:nvSpPr>
        <p:spPr>
          <a:xfrm>
            <a:off x="685800" y="1591056"/>
            <a:ext cx="5326380" cy="365760"/>
          </a:xfrm>
          <a:prstGeom prst="roundRect">
            <a:avLst>
              <a:gd name="adj" fmla="val 14000"/>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591056"/>
            <a:ext cx="5088636" cy="365760"/>
          </a:xfrm>
          <a:prstGeom prst="rect">
            <a:avLst/>
          </a:prstGeom>
          <a:noFill/>
        </p:spPr>
        <p:txBody>
          <a:bodyPr wrap="square" lIns="0" rIns="0" tIns="0" bIns="0" anchor="ctr">
            <a:spAutoFit/>
          </a:bodyPr>
          <a:lstStyle/>
          <a:p>
            <a:pPr algn="l">
              <a:lnSpc>
                <a:spcPct val="100000"/>
              </a:lnSpc>
            </a:pPr>
            <a:r>
              <a:rPr sz="1100" b="0" i="0">
                <a:solidFill>
                  <a:srgbClr val="21295C"/>
                </a:solidFill>
                <a:latin typeface="Arial"/>
              </a:rPr>
              <a:t>user × item matrix</a:t>
            </a:r>
          </a:p>
        </p:txBody>
      </p:sp>
      <p:sp>
        <p:nvSpPr>
          <p:cNvPr id="10" name="Rounded Rectangle 9"/>
          <p:cNvSpPr/>
          <p:nvPr/>
        </p:nvSpPr>
        <p:spPr>
          <a:xfrm>
            <a:off x="6103620" y="1591056"/>
            <a:ext cx="5326380" cy="365760"/>
          </a:xfrm>
          <a:prstGeom prst="roundRect">
            <a:avLst>
              <a:gd name="adj" fmla="val 14000"/>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8212" y="1591056"/>
            <a:ext cx="5088636" cy="365760"/>
          </a:xfrm>
          <a:prstGeom prst="rect">
            <a:avLst/>
          </a:prstGeom>
          <a:noFill/>
        </p:spPr>
        <p:txBody>
          <a:bodyPr wrap="square" lIns="0" rIns="0" tIns="0" bIns="0" anchor="ctr">
            <a:spAutoFit/>
          </a:bodyPr>
          <a:lstStyle/>
          <a:p>
            <a:pPr algn="l">
              <a:lnSpc>
                <a:spcPct val="100000"/>
              </a:lnSpc>
            </a:pPr>
            <a:r>
              <a:rPr sz="1100" b="0" i="0">
                <a:solidFill>
                  <a:srgbClr val="21295C"/>
                </a:solidFill>
                <a:latin typeface="Arial"/>
              </a:rPr>
              <a:t>product attributes (genre, brand)</a:t>
            </a:r>
          </a:p>
        </p:txBody>
      </p:sp>
      <p:sp>
        <p:nvSpPr>
          <p:cNvPr id="12" name="Rounded Rectangle 11"/>
          <p:cNvSpPr/>
          <p:nvPr/>
        </p:nvSpPr>
        <p:spPr>
          <a:xfrm>
            <a:off x="685800" y="1975104"/>
            <a:ext cx="5326380" cy="365760"/>
          </a:xfrm>
          <a:prstGeom prst="roundRect">
            <a:avLst>
              <a:gd name="adj" fmla="val 14000"/>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1975104"/>
            <a:ext cx="5088636" cy="365760"/>
          </a:xfrm>
          <a:prstGeom prst="rect">
            <a:avLst/>
          </a:prstGeom>
          <a:noFill/>
        </p:spPr>
        <p:txBody>
          <a:bodyPr wrap="square" lIns="0" rIns="0" tIns="0" bIns="0" anchor="ctr">
            <a:spAutoFit/>
          </a:bodyPr>
          <a:lstStyle/>
          <a:p>
            <a:pPr algn="l">
              <a:lnSpc>
                <a:spcPct val="100000"/>
              </a:lnSpc>
            </a:pPr>
            <a:r>
              <a:rPr sz="1100" b="0" i="0">
                <a:solidFill>
                  <a:srgbClr val="21295C"/>
                </a:solidFill>
                <a:latin typeface="Arial"/>
              </a:rPr>
              <a:t>⊕ catches unexpected connections</a:t>
            </a:r>
          </a:p>
        </p:txBody>
      </p:sp>
      <p:sp>
        <p:nvSpPr>
          <p:cNvPr id="14" name="Rounded Rectangle 13"/>
          <p:cNvSpPr/>
          <p:nvPr/>
        </p:nvSpPr>
        <p:spPr>
          <a:xfrm>
            <a:off x="6103620" y="1975104"/>
            <a:ext cx="5326380" cy="365760"/>
          </a:xfrm>
          <a:prstGeom prst="roundRect">
            <a:avLst>
              <a:gd name="adj" fmla="val 14000"/>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8212" y="1975104"/>
            <a:ext cx="5088636" cy="365760"/>
          </a:xfrm>
          <a:prstGeom prst="rect">
            <a:avLst/>
          </a:prstGeom>
          <a:noFill/>
        </p:spPr>
        <p:txBody>
          <a:bodyPr wrap="square" lIns="0" rIns="0" tIns="0" bIns="0" anchor="ctr">
            <a:spAutoFit/>
          </a:bodyPr>
          <a:lstStyle/>
          <a:p>
            <a:pPr algn="l">
              <a:lnSpc>
                <a:spcPct val="100000"/>
              </a:lnSpc>
            </a:pPr>
            <a:r>
              <a:rPr sz="1100" b="0" i="0">
                <a:solidFill>
                  <a:srgbClr val="21295C"/>
                </a:solidFill>
                <a:latin typeface="Arial"/>
              </a:rPr>
              <a:t>⊕ no cold-start for a new product</a:t>
            </a:r>
          </a:p>
        </p:txBody>
      </p:sp>
      <p:sp>
        <p:nvSpPr>
          <p:cNvPr id="16" name="Rounded Rectangle 15"/>
          <p:cNvSpPr/>
          <p:nvPr/>
        </p:nvSpPr>
        <p:spPr>
          <a:xfrm>
            <a:off x="685800" y="2359152"/>
            <a:ext cx="5326380" cy="365760"/>
          </a:xfrm>
          <a:prstGeom prst="roundRect">
            <a:avLst>
              <a:gd name="adj" fmla="val 14000"/>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2359152"/>
            <a:ext cx="5088636" cy="365760"/>
          </a:xfrm>
          <a:prstGeom prst="rect">
            <a:avLst/>
          </a:prstGeom>
          <a:noFill/>
        </p:spPr>
        <p:txBody>
          <a:bodyPr wrap="square" lIns="0" rIns="0" tIns="0" bIns="0" anchor="ctr">
            <a:spAutoFit/>
          </a:bodyPr>
          <a:lstStyle/>
          <a:p>
            <a:pPr algn="l">
              <a:lnSpc>
                <a:spcPct val="100000"/>
              </a:lnSpc>
            </a:pPr>
            <a:r>
              <a:rPr sz="1100" b="0" i="0">
                <a:solidFill>
                  <a:srgbClr val="21295C"/>
                </a:solidFill>
                <a:latin typeface="Arial"/>
              </a:rPr>
              <a:t>⊖ cold-start + popularity bias</a:t>
            </a:r>
          </a:p>
        </p:txBody>
      </p:sp>
      <p:sp>
        <p:nvSpPr>
          <p:cNvPr id="18" name="Rounded Rectangle 17"/>
          <p:cNvSpPr/>
          <p:nvPr/>
        </p:nvSpPr>
        <p:spPr>
          <a:xfrm>
            <a:off x="6103620" y="2359152"/>
            <a:ext cx="5326380" cy="365760"/>
          </a:xfrm>
          <a:prstGeom prst="roundRect">
            <a:avLst>
              <a:gd name="adj" fmla="val 14000"/>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8212" y="2359152"/>
            <a:ext cx="5088636" cy="365760"/>
          </a:xfrm>
          <a:prstGeom prst="rect">
            <a:avLst/>
          </a:prstGeom>
          <a:noFill/>
        </p:spPr>
        <p:txBody>
          <a:bodyPr wrap="square" lIns="0" rIns="0" tIns="0" bIns="0" anchor="ctr">
            <a:spAutoFit/>
          </a:bodyPr>
          <a:lstStyle/>
          <a:p>
            <a:pPr algn="l">
              <a:lnSpc>
                <a:spcPct val="100000"/>
              </a:lnSpc>
            </a:pPr>
            <a:r>
              <a:rPr sz="1100" b="0" i="0">
                <a:solidFill>
                  <a:srgbClr val="21295C"/>
                </a:solidFill>
                <a:latin typeface="Arial"/>
              </a:rPr>
              <a:t>⊖ over-specialization (niche)</a:t>
            </a:r>
          </a:p>
        </p:txBody>
      </p:sp>
      <p:sp>
        <p:nvSpPr>
          <p:cNvPr id="20" name="Rounded Rectangle 19"/>
          <p:cNvSpPr/>
          <p:nvPr/>
        </p:nvSpPr>
        <p:spPr>
          <a:xfrm>
            <a:off x="502920" y="2889504"/>
            <a:ext cx="11201400" cy="1627632"/>
          </a:xfrm>
          <a:prstGeom prst="roundRect">
            <a:avLst>
              <a:gd name="adj" fmla="val 1872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 y="2980944"/>
            <a:ext cx="10725912" cy="237744"/>
          </a:xfrm>
          <a:prstGeom prst="rect">
            <a:avLst/>
          </a:prstGeom>
          <a:noFill/>
        </p:spPr>
        <p:txBody>
          <a:bodyPr wrap="square" lIns="0" rIns="0" tIns="0" bIns="0" anchor="t">
            <a:spAutoFit/>
          </a:bodyPr>
          <a:lstStyle/>
          <a:p>
            <a:pPr algn="l">
              <a:lnSpc>
                <a:spcPct val="115000"/>
              </a:lnSpc>
            </a:pPr>
            <a:r>
              <a:rPr sz="1200" b="1" i="0">
                <a:solidFill>
                  <a:srgbClr val="065A82"/>
                </a:solidFill>
                <a:latin typeface="Arial"/>
              </a:rPr>
              <a:t>Anchor analogy: three sellers (collaborative · content · hybrid)</a:t>
            </a:r>
          </a:p>
        </p:txBody>
      </p:sp>
      <p:pic>
        <p:nvPicPr>
          <p:cNvPr id="22" name="Picture 21" descr="d26b-three-sellers.png"/>
          <p:cNvPicPr>
            <a:picLocks noChangeAspect="1"/>
          </p:cNvPicPr>
          <p:nvPr/>
        </p:nvPicPr>
        <p:blipFill>
          <a:blip r:embed="rId2"/>
          <a:stretch>
            <a:fillRect/>
          </a:stretch>
        </p:blipFill>
        <p:spPr>
          <a:xfrm>
            <a:off x="4219018" y="3255264"/>
            <a:ext cx="3769202" cy="1152144"/>
          </a:xfrm>
          <a:prstGeom prst="rect">
            <a:avLst/>
          </a:prstGeom>
        </p:spPr>
      </p:pic>
      <p:sp>
        <p:nvSpPr>
          <p:cNvPr id="23" name="Rounded Rectangle 22"/>
          <p:cNvSpPr/>
          <p:nvPr/>
        </p:nvSpPr>
        <p:spPr>
          <a:xfrm>
            <a:off x="502920" y="4681728"/>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4736592"/>
            <a:ext cx="10762488" cy="731520"/>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Remember: WHAT these approaches are and WHICH weakness by name each has — collaborative (behavior pattern) vs content (the essence of the product).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A hybrid softens the weaknesses — but without explicit diversity it does not cancel the bubble.</a:t>
            </a:r>
          </a:p>
        </p:txBody>
      </p:sp>
      <p:sp>
        <p:nvSpPr>
          <p:cNvPr id="3" name="Rounded Rectangle 2"/>
          <p:cNvSpPr/>
          <p:nvPr/>
        </p:nvSpPr>
        <p:spPr>
          <a:xfrm>
            <a:off x="502920" y="1078992"/>
            <a:ext cx="580644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1207007"/>
            <a:ext cx="5330952" cy="256032"/>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Hybrid recommender</a:t>
            </a:r>
          </a:p>
        </p:txBody>
      </p:sp>
      <p:sp>
        <p:nvSpPr>
          <p:cNvPr id="5" name="TextBox 4"/>
          <p:cNvSpPr txBox="1"/>
          <p:nvPr/>
        </p:nvSpPr>
        <p:spPr>
          <a:xfrm>
            <a:off x="740664" y="1499616"/>
            <a:ext cx="5330952" cy="713232"/>
          </a:xfrm>
          <a:prstGeom prst="rect">
            <a:avLst/>
          </a:prstGeom>
          <a:noFill/>
        </p:spPr>
        <p:txBody>
          <a:bodyPr wrap="square" lIns="0" rIns="0" tIns="0" bIns="0" anchor="t">
            <a:spAutoFit/>
          </a:bodyPr>
          <a:lstStyle/>
          <a:p>
            <a:pPr algn="l">
              <a:lnSpc>
                <a:spcPct val="114000"/>
              </a:lnSpc>
            </a:pPr>
            <a:r>
              <a:rPr sz="1150" b="0" i="0">
                <a:solidFill>
                  <a:srgbClr val="21295C"/>
                </a:solidFill>
                <a:latin typeface="Arial"/>
              </a:rPr>
              <a:t>collaborative + content-based + context. The content part closes cold-start, the collaborative one breaks over-specialization. Most production systems.</a:t>
            </a:r>
          </a:p>
        </p:txBody>
      </p:sp>
      <p:sp>
        <p:nvSpPr>
          <p:cNvPr id="6" name="Rounded Rectangle 5"/>
          <p:cNvSpPr/>
          <p:nvPr/>
        </p:nvSpPr>
        <p:spPr>
          <a:xfrm>
            <a:off x="740664" y="2304288"/>
            <a:ext cx="2574036" cy="1335024"/>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 y="2395728"/>
            <a:ext cx="2391156" cy="256032"/>
          </a:xfrm>
          <a:prstGeom prst="rect">
            <a:avLst/>
          </a:prstGeom>
          <a:noFill/>
        </p:spPr>
        <p:txBody>
          <a:bodyPr wrap="square" lIns="0" rIns="0" tIns="0" bIns="0" anchor="ctr">
            <a:spAutoFit/>
          </a:bodyPr>
          <a:lstStyle/>
          <a:p>
            <a:pPr algn="ctr">
              <a:lnSpc>
                <a:spcPct val="115000"/>
              </a:lnSpc>
            </a:pPr>
            <a:r>
              <a:rPr sz="1250" b="1" i="0">
                <a:solidFill>
                  <a:srgbClr val="065A82"/>
                </a:solidFill>
                <a:latin typeface="Arial"/>
              </a:rPr>
              <a:t>Amazon</a:t>
            </a:r>
          </a:p>
        </p:txBody>
      </p:sp>
      <p:sp>
        <p:nvSpPr>
          <p:cNvPr id="8" name="TextBox 7"/>
          <p:cNvSpPr txBox="1"/>
          <p:nvPr/>
        </p:nvSpPr>
        <p:spPr>
          <a:xfrm>
            <a:off x="795528" y="2670048"/>
            <a:ext cx="2464308" cy="566928"/>
          </a:xfrm>
          <a:prstGeom prst="rect">
            <a:avLst/>
          </a:prstGeom>
          <a:noFill/>
        </p:spPr>
        <p:txBody>
          <a:bodyPr wrap="square" lIns="0" rIns="0" tIns="0" bIns="0" anchor="ctr">
            <a:spAutoFit/>
          </a:bodyPr>
          <a:lstStyle/>
          <a:p>
            <a:pPr algn="ctr">
              <a:lnSpc>
                <a:spcPct val="115000"/>
              </a:lnSpc>
            </a:pPr>
            <a:r>
              <a:rPr sz="3000" b="1" i="0">
                <a:solidFill>
                  <a:srgbClr val="21295C"/>
                </a:solidFill>
                <a:latin typeface="Arial"/>
              </a:rPr>
              <a:t>~35%</a:t>
            </a:r>
          </a:p>
        </p:txBody>
      </p:sp>
      <p:sp>
        <p:nvSpPr>
          <p:cNvPr id="9" name="TextBox 8"/>
          <p:cNvSpPr txBox="1"/>
          <p:nvPr/>
        </p:nvSpPr>
        <p:spPr>
          <a:xfrm>
            <a:off x="832104" y="3236976"/>
            <a:ext cx="2391156" cy="347472"/>
          </a:xfrm>
          <a:prstGeom prst="rect">
            <a:avLst/>
          </a:prstGeom>
          <a:noFill/>
        </p:spPr>
        <p:txBody>
          <a:bodyPr wrap="square" lIns="0" rIns="0" tIns="0" bIns="0" anchor="ctr">
            <a:spAutoFit/>
          </a:bodyPr>
          <a:lstStyle/>
          <a:p>
            <a:pPr algn="ctr">
              <a:lnSpc>
                <a:spcPct val="100000"/>
              </a:lnSpc>
            </a:pPr>
            <a:r>
              <a:rPr sz="1050" b="0" i="0">
                <a:solidFill>
                  <a:srgbClr val="21295C"/>
                </a:solidFill>
                <a:latin typeface="Arial"/>
              </a:rPr>
              <a:t>of revenue — from recommendations</a:t>
            </a:r>
          </a:p>
        </p:txBody>
      </p:sp>
      <p:sp>
        <p:nvSpPr>
          <p:cNvPr id="10" name="Rounded Rectangle 9"/>
          <p:cNvSpPr/>
          <p:nvPr/>
        </p:nvSpPr>
        <p:spPr>
          <a:xfrm>
            <a:off x="3497580" y="2304288"/>
            <a:ext cx="2574036" cy="1335024"/>
          </a:xfrm>
          <a:prstGeom prst="roundRect">
            <a:avLst>
              <a:gd name="adj" fmla="val 10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9020" y="2395728"/>
            <a:ext cx="2391156" cy="256032"/>
          </a:xfrm>
          <a:prstGeom prst="rect">
            <a:avLst/>
          </a:prstGeom>
          <a:noFill/>
        </p:spPr>
        <p:txBody>
          <a:bodyPr wrap="square" lIns="0" rIns="0" tIns="0" bIns="0" anchor="ctr">
            <a:spAutoFit/>
          </a:bodyPr>
          <a:lstStyle/>
          <a:p>
            <a:pPr algn="ctr">
              <a:lnSpc>
                <a:spcPct val="115000"/>
              </a:lnSpc>
            </a:pPr>
            <a:r>
              <a:rPr sz="1250" b="1" i="0">
                <a:solidFill>
                  <a:srgbClr val="065A82"/>
                </a:solidFill>
                <a:latin typeface="Arial"/>
              </a:rPr>
              <a:t>Netflix</a:t>
            </a:r>
          </a:p>
        </p:txBody>
      </p:sp>
      <p:sp>
        <p:nvSpPr>
          <p:cNvPr id="12" name="TextBox 11"/>
          <p:cNvSpPr txBox="1"/>
          <p:nvPr/>
        </p:nvSpPr>
        <p:spPr>
          <a:xfrm>
            <a:off x="3552444" y="2670048"/>
            <a:ext cx="2464308" cy="566928"/>
          </a:xfrm>
          <a:prstGeom prst="rect">
            <a:avLst/>
          </a:prstGeom>
          <a:noFill/>
        </p:spPr>
        <p:txBody>
          <a:bodyPr wrap="square" lIns="0" rIns="0" tIns="0" bIns="0" anchor="ctr">
            <a:spAutoFit/>
          </a:bodyPr>
          <a:lstStyle/>
          <a:p>
            <a:pPr algn="ctr">
              <a:lnSpc>
                <a:spcPct val="115000"/>
              </a:lnSpc>
            </a:pPr>
            <a:r>
              <a:rPr sz="3000" b="1" i="0">
                <a:solidFill>
                  <a:srgbClr val="21295C"/>
                </a:solidFill>
                <a:latin typeface="Arial"/>
              </a:rPr>
              <a:t>~75%</a:t>
            </a:r>
          </a:p>
        </p:txBody>
      </p:sp>
      <p:sp>
        <p:nvSpPr>
          <p:cNvPr id="13" name="TextBox 12"/>
          <p:cNvSpPr txBox="1"/>
          <p:nvPr/>
        </p:nvSpPr>
        <p:spPr>
          <a:xfrm>
            <a:off x="3589020" y="3236976"/>
            <a:ext cx="2391156" cy="347472"/>
          </a:xfrm>
          <a:prstGeom prst="rect">
            <a:avLst/>
          </a:prstGeom>
          <a:noFill/>
        </p:spPr>
        <p:txBody>
          <a:bodyPr wrap="square" lIns="0" rIns="0" tIns="0" bIns="0" anchor="ctr">
            <a:spAutoFit/>
          </a:bodyPr>
          <a:lstStyle/>
          <a:p>
            <a:pPr algn="ctr">
              <a:lnSpc>
                <a:spcPct val="100000"/>
              </a:lnSpc>
            </a:pPr>
            <a:r>
              <a:rPr sz="1050" b="0" i="0">
                <a:solidFill>
                  <a:srgbClr val="21295C"/>
                </a:solidFill>
                <a:latin typeface="Arial"/>
              </a:rPr>
              <a:t>of viewing — from recommendations</a:t>
            </a:r>
          </a:p>
        </p:txBody>
      </p:sp>
      <p:sp>
        <p:nvSpPr>
          <p:cNvPr id="14" name="TextBox 13"/>
          <p:cNvSpPr txBox="1"/>
          <p:nvPr/>
        </p:nvSpPr>
        <p:spPr>
          <a:xfrm>
            <a:off x="740664" y="3749039"/>
            <a:ext cx="5330952" cy="896112"/>
          </a:xfrm>
          <a:prstGeom prst="rect">
            <a:avLst/>
          </a:prstGeom>
          <a:noFill/>
        </p:spPr>
        <p:txBody>
          <a:bodyPr wrap="square" lIns="0" rIns="0" tIns="0" bIns="0" anchor="t">
            <a:spAutoFit/>
          </a:bodyPr>
          <a:lstStyle/>
          <a:p>
            <a:pPr algn="l">
              <a:lnSpc>
                <a:spcPct val="112000"/>
              </a:lnSpc>
            </a:pPr>
            <a:r>
              <a:rPr sz="1050" b="0" i="1">
                <a:solidFill>
                  <a:srgbClr val="5B6678"/>
                </a:solidFill>
                <a:latin typeface="Arial"/>
              </a:rPr>
              <a:t>A historical estimate (dating back to McKinsey ~2013), NOT a fresh verified figure — hence a number, not a chart-«fact».</a:t>
            </a:r>
          </a:p>
        </p:txBody>
      </p:sp>
      <p:sp>
        <p:nvSpPr>
          <p:cNvPr id="15" name="Rounded Rectangle 14"/>
          <p:cNvSpPr/>
          <p:nvPr/>
        </p:nvSpPr>
        <p:spPr>
          <a:xfrm>
            <a:off x="6492240" y="1078992"/>
            <a:ext cx="5212080" cy="1755648"/>
          </a:xfrm>
          <a:prstGeom prst="roundRect">
            <a:avLst>
              <a:gd name="adj" fmla="val 1736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11696" y="1207007"/>
            <a:ext cx="4773168" cy="256032"/>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Filter bubble</a:t>
            </a:r>
          </a:p>
        </p:txBody>
      </p:sp>
      <p:sp>
        <p:nvSpPr>
          <p:cNvPr id="17" name="TextBox 16"/>
          <p:cNvSpPr txBox="1"/>
          <p:nvPr/>
        </p:nvSpPr>
        <p:spPr>
          <a:xfrm>
            <a:off x="6711696" y="1499616"/>
            <a:ext cx="4773168" cy="1243584"/>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showed something similar → the user interacts with the similar → the model shows something even more similar. The narrowing of diversity is NOT malicious intent, but a consequence of optimizing for short-term relevance.</a:t>
            </a:r>
          </a:p>
        </p:txBody>
      </p:sp>
      <p:sp>
        <p:nvSpPr>
          <p:cNvPr id="18" name="Rounded Rectangle 17"/>
          <p:cNvSpPr/>
          <p:nvPr/>
        </p:nvSpPr>
        <p:spPr>
          <a:xfrm>
            <a:off x="6492240" y="2980944"/>
            <a:ext cx="5212080" cy="1801368"/>
          </a:xfrm>
          <a:prstGeom prst="roundRect">
            <a:avLst>
              <a:gd name="adj" fmla="val 1692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11696" y="3108960"/>
            <a:ext cx="4773168" cy="256032"/>
          </a:xfrm>
          <a:prstGeom prst="rect">
            <a:avLst/>
          </a:prstGeom>
          <a:noFill/>
        </p:spPr>
        <p:txBody>
          <a:bodyPr wrap="square" lIns="0" rIns="0" tIns="0" bIns="0" anchor="t">
            <a:spAutoFit/>
          </a:bodyPr>
          <a:lstStyle/>
          <a:p>
            <a:pPr algn="l">
              <a:lnSpc>
                <a:spcPct val="115000"/>
              </a:lnSpc>
            </a:pPr>
            <a:r>
              <a:rPr sz="1300" b="1" i="0">
                <a:solidFill>
                  <a:srgbClr val="065A82"/>
                </a:solidFill>
                <a:latin typeface="Arial"/>
              </a:rPr>
              <a:t>Dynamic pricing</a:t>
            </a:r>
          </a:p>
        </p:txBody>
      </p:sp>
      <p:sp>
        <p:nvSpPr>
          <p:cNvPr id="20" name="TextBox 19"/>
          <p:cNvSpPr txBox="1"/>
          <p:nvPr/>
        </p:nvSpPr>
        <p:spPr>
          <a:xfrm>
            <a:off x="6711696" y="3401568"/>
            <a:ext cx="4773168" cy="1298448"/>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auto-adjustment of price to demand/time/context. The perception of fairness and the law are CONSTRAINTS of the task, NOT variables to optimize.</a:t>
            </a:r>
          </a:p>
        </p:txBody>
      </p:sp>
      <p:sp>
        <p:nvSpPr>
          <p:cNvPr id="21" name="Rounded Rectangle 20"/>
          <p:cNvSpPr/>
          <p:nvPr/>
        </p:nvSpPr>
        <p:spPr>
          <a:xfrm>
            <a:off x="502920" y="4901184"/>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4956048"/>
            <a:ext cx="10762488" cy="731520"/>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The filter bubble arises without any intent — a direct consequence of «guess what you'll buy now». A hybrid does NOT automatically cancel this narrowing.</a:t>
            </a:r>
          </a:p>
        </p:txBody>
      </p:sp>
      <p:sp>
        <p:nvSpPr>
          <p:cNvPr id="23" name="TextBox 22"/>
          <p:cNvSpPr txBox="1"/>
          <p:nvPr/>
        </p:nvSpPr>
        <p:spPr>
          <a:xfrm>
            <a:off x="502920" y="6437376"/>
            <a:ext cx="11201400" cy="310896"/>
          </a:xfrm>
          <a:prstGeom prst="rect">
            <a:avLst/>
          </a:prstGeom>
          <a:noFill/>
        </p:spPr>
        <p:txBody>
          <a:bodyPr wrap="square" lIns="0" rIns="0" tIns="0" bIns="0" anchor="t">
            <a:spAutoFit/>
          </a:bodyPr>
          <a:lstStyle/>
          <a:p>
            <a:pPr algn="l">
              <a:lnSpc>
                <a:spcPct val="100000"/>
              </a:lnSpc>
            </a:pPr>
            <a:r>
              <a:rPr sz="1200" b="0" i="1">
                <a:solidFill>
                  <a:srgbClr val="1C7293"/>
                </a:solidFill>
                <a:latin typeface="Arial"/>
              </a:rPr>
              <a:t>Amazon ~35% / Netflix ~75% — a historical estimate (McKinsey ~2013), NOT a fresh figure; Ozon/WB — the companies do not disclose the exact share.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30352"/>
          </a:xfrm>
          <a:prstGeom prst="rect">
            <a:avLst/>
          </a:prstGeom>
          <a:noFill/>
        </p:spPr>
        <p:txBody>
          <a:bodyPr wrap="square" lIns="0" rIns="0" tIns="0" bIns="0" anchor="t">
            <a:spAutoFit/>
          </a:bodyPr>
          <a:lstStyle/>
          <a:p>
            <a:pPr algn="l">
              <a:lnSpc>
                <a:spcPct val="110000"/>
              </a:lnSpc>
            </a:pPr>
            <a:r>
              <a:rPr sz="2100" b="1" i="0">
                <a:solidFill>
                  <a:srgbClr val="21295C"/>
                </a:solidFill>
                <a:latin typeface="Arial"/>
              </a:rPr>
              <a:t>The system reports success by its own metric — while destroying what did not make it into the metric.</a:t>
            </a:r>
          </a:p>
        </p:txBody>
      </p:sp>
      <p:sp>
        <p:nvSpPr>
          <p:cNvPr id="3" name="Rounded Rectangle 2"/>
          <p:cNvSpPr/>
          <p:nvPr/>
        </p:nvSpPr>
        <p:spPr>
          <a:xfrm>
            <a:off x="502920" y="1078992"/>
            <a:ext cx="644652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1207007"/>
            <a:ext cx="5971031" cy="256032"/>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The root — proxy ≠ goal</a:t>
            </a:r>
          </a:p>
        </p:txBody>
      </p:sp>
      <p:sp>
        <p:nvSpPr>
          <p:cNvPr id="5" name="TextBox 4"/>
          <p:cNvSpPr txBox="1"/>
          <p:nvPr/>
        </p:nvSpPr>
        <p:spPr>
          <a:xfrm>
            <a:off x="740664" y="1499616"/>
            <a:ext cx="5971031" cy="859536"/>
          </a:xfrm>
          <a:prstGeom prst="rect">
            <a:avLst/>
          </a:prstGeom>
          <a:noFill/>
        </p:spPr>
        <p:txBody>
          <a:bodyPr wrap="square" lIns="0" rIns="0" tIns="0" bIns="0" anchor="t">
            <a:spAutoFit/>
          </a:bodyPr>
          <a:lstStyle/>
          <a:p>
            <a:pPr algn="l">
              <a:lnSpc>
                <a:spcPct val="116000"/>
              </a:lnSpc>
            </a:pPr>
            <a:r>
              <a:rPr sz="1150" b="0" i="0">
                <a:solidFill>
                  <a:srgbClr val="21295C"/>
                </a:solidFill>
                <a:latin typeface="Arial"/>
              </a:rPr>
              <a:t>the system optimizes what is measurable in the moment (the PROXY: clicks, time, margin) ≠ the real goal (trust, well-being). The divergence → filter bubble, dark patterns, homogenization.</a:t>
            </a:r>
          </a:p>
        </p:txBody>
      </p:sp>
      <p:sp>
        <p:nvSpPr>
          <p:cNvPr id="6" name="Rounded Rectangle 5"/>
          <p:cNvSpPr/>
          <p:nvPr/>
        </p:nvSpPr>
        <p:spPr>
          <a:xfrm>
            <a:off x="740664" y="2450591"/>
            <a:ext cx="5971031" cy="310896"/>
          </a:xfrm>
          <a:prstGeom prst="roundRect">
            <a:avLst>
              <a:gd name="adj" fmla="val 20000"/>
            </a:avLst>
          </a:prstGeom>
          <a:solidFill>
            <a:srgbClr val="FDF3DC"/>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450591"/>
            <a:ext cx="5715000" cy="310896"/>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Case G — Wendy's, February 2024</a:t>
            </a:r>
          </a:p>
        </p:txBody>
      </p:sp>
      <p:sp>
        <p:nvSpPr>
          <p:cNvPr id="8" name="TextBox 7"/>
          <p:cNvSpPr txBox="1"/>
          <p:nvPr/>
        </p:nvSpPr>
        <p:spPr>
          <a:xfrm>
            <a:off x="740664" y="2852928"/>
            <a:ext cx="5971031" cy="1792224"/>
          </a:xfrm>
          <a:prstGeom prst="rect">
            <a:avLst/>
          </a:prstGeom>
          <a:noFill/>
        </p:spPr>
        <p:txBody>
          <a:bodyPr wrap="square" lIns="0" rIns="0" tIns="0" bIns="0" anchor="t">
            <a:spAutoFit/>
          </a:bodyPr>
          <a:lstStyle/>
          <a:p>
            <a:pPr algn="l">
              <a:lnSpc>
                <a:spcPct val="118000"/>
              </a:lnSpc>
            </a:pPr>
            <a:r>
              <a:rPr sz="1150" b="0" i="0">
                <a:solidFill>
                  <a:srgbClr val="21295C"/>
                </a:solidFill>
                <a:latin typeface="Arial"/>
              </a:rPr>
              <a:t>~$20M into digital menu boards with dynamic pricing → the media read it as surge-pricing → #BoycottWendys, a competitor outplayed it in advertising → rollback within days. The money was invested, the technology was available — what failed was ignoring that perceived fairness = a CONSTRAINT, not a variable.</a:t>
            </a:r>
          </a:p>
        </p:txBody>
      </p:sp>
      <p:sp>
        <p:nvSpPr>
          <p:cNvPr id="9" name="Rounded Rectangle 8"/>
          <p:cNvSpPr/>
          <p:nvPr/>
        </p:nvSpPr>
        <p:spPr>
          <a:xfrm>
            <a:off x="7132320" y="1078992"/>
            <a:ext cx="4572000" cy="1773936"/>
          </a:xfrm>
          <a:prstGeom prst="roundRect">
            <a:avLst>
              <a:gd name="adj" fmla="val 1718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33488" y="1188719"/>
            <a:ext cx="4169663" cy="237744"/>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Why the failure is SILENT:</a:t>
            </a:r>
          </a:p>
        </p:txBody>
      </p:sp>
      <p:cxnSp>
        <p:nvCxnSpPr>
          <p:cNvPr id="11" name="Connector 10"/>
          <p:cNvCxnSpPr/>
          <p:nvPr/>
        </p:nvCxnSpPr>
        <p:spPr>
          <a:xfrm flipV="1">
            <a:off x="7406640" y="1554480"/>
            <a:ext cx="0" cy="1005840"/>
          </a:xfrm>
          <a:prstGeom prst="line">
            <a:avLst/>
          </a:prstGeom>
          <a:ln w="15240">
            <a:solidFill>
              <a:srgbClr val="5B66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406640" y="2560320"/>
            <a:ext cx="4023360" cy="0"/>
          </a:xfrm>
          <a:prstGeom prst="line">
            <a:avLst/>
          </a:prstGeom>
          <a:ln w="15240">
            <a:solidFill>
              <a:srgbClr val="5B66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406640" y="1645919"/>
            <a:ext cx="4023360" cy="731520"/>
          </a:xfrm>
          <a:prstGeom prst="line">
            <a:avLst/>
          </a:prstGeom>
          <a:ln w="38100">
            <a:solidFill>
              <a:srgbClr val="F0AB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06640" y="2103120"/>
            <a:ext cx="4023360" cy="164592"/>
          </a:xfrm>
          <a:prstGeom prst="line">
            <a:avLst/>
          </a:prstGeom>
          <a:ln w="38100">
            <a:solidFill>
              <a:srgbClr val="028090"/>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875520" y="1536192"/>
            <a:ext cx="1554480" cy="237744"/>
          </a:xfrm>
          <a:prstGeom prst="rect">
            <a:avLst/>
          </a:prstGeom>
          <a:noFill/>
        </p:spPr>
        <p:txBody>
          <a:bodyPr wrap="square" lIns="0" rIns="0" tIns="0" bIns="0" anchor="t">
            <a:spAutoFit/>
          </a:bodyPr>
          <a:lstStyle/>
          <a:p>
            <a:pPr algn="r">
              <a:lnSpc>
                <a:spcPct val="115000"/>
              </a:lnSpc>
            </a:pPr>
            <a:r>
              <a:rPr sz="1000" b="1" i="0">
                <a:solidFill>
                  <a:srgbClr val="F0AB00"/>
                </a:solidFill>
                <a:latin typeface="Arial"/>
              </a:rPr>
              <a:t>proxy metric ↑</a:t>
            </a:r>
          </a:p>
        </p:txBody>
      </p:sp>
      <p:sp>
        <p:nvSpPr>
          <p:cNvPr id="16" name="TextBox 15"/>
          <p:cNvSpPr txBox="1"/>
          <p:nvPr/>
        </p:nvSpPr>
        <p:spPr>
          <a:xfrm>
            <a:off x="9875520" y="2267712"/>
            <a:ext cx="1554480" cy="237744"/>
          </a:xfrm>
          <a:prstGeom prst="rect">
            <a:avLst/>
          </a:prstGeom>
          <a:noFill/>
        </p:spPr>
        <p:txBody>
          <a:bodyPr wrap="square" lIns="0" rIns="0" tIns="0" bIns="0" anchor="t">
            <a:spAutoFit/>
          </a:bodyPr>
          <a:lstStyle/>
          <a:p>
            <a:pPr algn="r">
              <a:lnSpc>
                <a:spcPct val="115000"/>
              </a:lnSpc>
            </a:pPr>
            <a:r>
              <a:rPr sz="1000" b="1" i="0">
                <a:solidFill>
                  <a:srgbClr val="028090"/>
                </a:solidFill>
                <a:latin typeface="Arial"/>
              </a:rPr>
              <a:t>true goal →</a:t>
            </a:r>
          </a:p>
        </p:txBody>
      </p:sp>
      <p:sp>
        <p:nvSpPr>
          <p:cNvPr id="17" name="TextBox 16"/>
          <p:cNvSpPr txBox="1"/>
          <p:nvPr/>
        </p:nvSpPr>
        <p:spPr>
          <a:xfrm>
            <a:off x="7333488" y="2596896"/>
            <a:ext cx="4169663" cy="219456"/>
          </a:xfrm>
          <a:prstGeom prst="rect">
            <a:avLst/>
          </a:prstGeom>
          <a:noFill/>
        </p:spPr>
        <p:txBody>
          <a:bodyPr wrap="square" lIns="0" rIns="0" tIns="0" bIns="0" anchor="t">
            <a:spAutoFit/>
          </a:bodyPr>
          <a:lstStyle/>
          <a:p>
            <a:pPr algn="l">
              <a:lnSpc>
                <a:spcPct val="115000"/>
              </a:lnSpc>
            </a:pPr>
            <a:r>
              <a:rPr sz="1000" b="0" i="1">
                <a:solidFill>
                  <a:srgbClr val="5B6678"/>
                </a:solidFill>
                <a:latin typeface="Arial"/>
              </a:rPr>
              <a:t>dashboard green, trust falling</a:t>
            </a:r>
          </a:p>
        </p:txBody>
      </p:sp>
      <p:sp>
        <p:nvSpPr>
          <p:cNvPr id="18" name="Rounded Rectangle 17"/>
          <p:cNvSpPr/>
          <p:nvPr/>
        </p:nvSpPr>
        <p:spPr>
          <a:xfrm>
            <a:off x="7132320" y="2999232"/>
            <a:ext cx="4572000" cy="1783080"/>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51775" y="3054096"/>
            <a:ext cx="4133087" cy="1673352"/>
          </a:xfrm>
          <a:prstGeom prst="rect">
            <a:avLst/>
          </a:prstGeom>
          <a:noFill/>
        </p:spPr>
        <p:txBody>
          <a:bodyPr wrap="square" lIns="0" rIns="0" tIns="0" bIns="0" anchor="ctr">
            <a:spAutoFit/>
          </a:bodyPr>
          <a:lstStyle/>
          <a:p>
            <a:pPr algn="l">
              <a:lnSpc>
                <a:spcPct val="118000"/>
              </a:lnSpc>
            </a:pPr>
            <a:r>
              <a:rPr sz="1200" b="0" i="0">
                <a:solidFill>
                  <a:srgbClr val="21295C"/>
                </a:solidFill>
                <a:latin typeface="Arial"/>
              </a:rPr>
              <a:t>Criterion:
• proxy ≠ goal → serendipity + explainability + an audit for discrimination
• the cost is a decision of a HUMAN IN A LEGAL FRAME, not the output of the optimizer</a:t>
            </a:r>
          </a:p>
        </p:txBody>
      </p:sp>
      <p:sp>
        <p:nvSpPr>
          <p:cNvPr id="20" name="Rounded Rectangle 19"/>
          <p:cNvSpPr/>
          <p:nvPr/>
        </p:nvSpPr>
        <p:spPr>
          <a:xfrm>
            <a:off x="502920" y="4901184"/>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4956048"/>
            <a:ext cx="10762488" cy="731520"/>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One class runs through the whole lecture: accuracy deception, proxy bias in scoring, Klarna, filter bubble — PROXY ≠ GOAL. The more powerful the optimizer, the costlier the divergence. The failure is silent.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201400" cy="512064"/>
          </a:xfrm>
          <a:prstGeom prst="rect">
            <a:avLst/>
          </a:prstGeom>
          <a:noFill/>
        </p:spPr>
        <p:txBody>
          <a:bodyPr wrap="square" lIns="0" rIns="0" tIns="0" bIns="0" anchor="t">
            <a:spAutoFit/>
          </a:bodyPr>
          <a:lstStyle/>
          <a:p>
            <a:pPr algn="l">
              <a:lnSpc>
                <a:spcPct val="110000"/>
              </a:lnSpc>
            </a:pPr>
            <a:r>
              <a:rPr sz="2200" b="1" i="0">
                <a:solidFill>
                  <a:srgbClr val="21295C"/>
                </a:solidFill>
                <a:latin typeface="Arial"/>
              </a:rPr>
              <a:t>Name the type for the structure of the task — and sometimes the right type is not AI.</a:t>
            </a:r>
          </a:p>
        </p:txBody>
      </p:sp>
      <p:sp>
        <p:nvSpPr>
          <p:cNvPr id="3" name="Rounded Rectangle 2"/>
          <p:cNvSpPr/>
          <p:nvPr/>
        </p:nvSpPr>
        <p:spPr>
          <a:xfrm>
            <a:off x="365760" y="914400"/>
            <a:ext cx="11475720" cy="4389120"/>
          </a:xfrm>
          <a:prstGeom prst="roundRect">
            <a:avLst>
              <a:gd name="adj" fmla="val 694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12064" y="1042416"/>
            <a:ext cx="2788920" cy="42062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4" y="1042416"/>
            <a:ext cx="2624327" cy="420624"/>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Task</a:t>
            </a:r>
          </a:p>
        </p:txBody>
      </p:sp>
      <p:sp>
        <p:nvSpPr>
          <p:cNvPr id="6" name="Rectangle 5"/>
          <p:cNvSpPr/>
          <p:nvPr/>
        </p:nvSpPr>
        <p:spPr>
          <a:xfrm>
            <a:off x="3300984" y="1042416"/>
            <a:ext cx="4526280" cy="42062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92424" y="1042416"/>
            <a:ext cx="4361688" cy="420624"/>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Type of AI · why that one</a:t>
            </a:r>
          </a:p>
        </p:txBody>
      </p:sp>
      <p:sp>
        <p:nvSpPr>
          <p:cNvPr id="8" name="Rectangle 7"/>
          <p:cNvSpPr/>
          <p:nvPr/>
        </p:nvSpPr>
        <p:spPr>
          <a:xfrm>
            <a:off x="7827264" y="1042416"/>
            <a:ext cx="3867912" cy="42062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18704" y="1042416"/>
            <a:ext cx="3703320" cy="420624"/>
          </a:xfrm>
          <a:prstGeom prst="rect">
            <a:avLst/>
          </a:prstGeom>
          <a:noFill/>
        </p:spPr>
        <p:txBody>
          <a:bodyPr wrap="square" lIns="0" rIns="0" tIns="0" bIns="0" anchor="ctr">
            <a:spAutoFit/>
          </a:bodyPr>
          <a:lstStyle/>
          <a:p>
            <a:pPr algn="l">
              <a:lnSpc>
                <a:spcPct val="115000"/>
              </a:lnSpc>
            </a:pPr>
            <a:r>
              <a:rPr sz="1250" b="1" i="0">
                <a:solidFill>
                  <a:srgbClr val="FFFFFF"/>
                </a:solidFill>
                <a:latin typeface="Arial"/>
              </a:rPr>
              <a:t>Typical failure</a:t>
            </a:r>
          </a:p>
        </p:txBody>
      </p:sp>
      <p:sp>
        <p:nvSpPr>
          <p:cNvPr id="10" name="Rectangle 9"/>
          <p:cNvSpPr/>
          <p:nvPr/>
        </p:nvSpPr>
        <p:spPr>
          <a:xfrm>
            <a:off x="512064" y="1463040"/>
            <a:ext cx="2788920"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rending-up-mid.png"/>
          <p:cNvPicPr>
            <a:picLocks noChangeAspect="1"/>
          </p:cNvPicPr>
          <p:nvPr/>
        </p:nvPicPr>
        <p:blipFill>
          <a:blip r:embed="rId2"/>
          <a:stretch>
            <a:fillRect/>
          </a:stretch>
        </p:blipFill>
        <p:spPr>
          <a:xfrm>
            <a:off x="603504" y="1609344"/>
            <a:ext cx="274320" cy="274320"/>
          </a:xfrm>
          <a:prstGeom prst="rect">
            <a:avLst/>
          </a:prstGeom>
        </p:spPr>
      </p:pic>
      <p:sp>
        <p:nvSpPr>
          <p:cNvPr id="12" name="TextBox 11"/>
          <p:cNvSpPr txBox="1"/>
          <p:nvPr/>
        </p:nvSpPr>
        <p:spPr>
          <a:xfrm>
            <a:off x="950976" y="1463040"/>
            <a:ext cx="2276856" cy="566928"/>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Demand forecasting / cash-flow / churn</a:t>
            </a:r>
          </a:p>
        </p:txBody>
      </p:sp>
      <p:sp>
        <p:nvSpPr>
          <p:cNvPr id="13" name="Rectangle 12"/>
          <p:cNvSpPr/>
          <p:nvPr/>
        </p:nvSpPr>
        <p:spPr>
          <a:xfrm>
            <a:off x="3300984" y="1463040"/>
            <a:ext cx="4526280"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10712" y="1463040"/>
            <a:ext cx="4325112" cy="566928"/>
          </a:xfrm>
          <a:prstGeom prst="rect">
            <a:avLst/>
          </a:prstGeom>
          <a:noFill/>
        </p:spPr>
        <p:txBody>
          <a:bodyPr wrap="square" lIns="0" rIns="0" tIns="0" bIns="0" anchor="ctr">
            <a:spAutoFit/>
          </a:bodyPr>
          <a:lstStyle/>
          <a:p>
            <a:pPr algn="l">
              <a:lnSpc>
                <a:spcPct val="102000"/>
              </a:lnSpc>
            </a:pPr>
            <a:r>
              <a:rPr sz="1050" b="0" i="0">
                <a:solidFill>
                  <a:srgbClr val="21295C"/>
                </a:solidFill>
                <a:latin typeface="Arial"/>
              </a:rPr>
              <a:t>Time-series forecasting (ARIMA/boosting) — numbers with a trend, not text</a:t>
            </a:r>
          </a:p>
        </p:txBody>
      </p:sp>
      <p:sp>
        <p:nvSpPr>
          <p:cNvPr id="15" name="Rectangle 14"/>
          <p:cNvSpPr/>
          <p:nvPr/>
        </p:nvSpPr>
        <p:spPr>
          <a:xfrm>
            <a:off x="7827264" y="1463040"/>
            <a:ext cx="3867912"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1463040"/>
            <a:ext cx="3666744" cy="566928"/>
          </a:xfrm>
          <a:prstGeom prst="rect">
            <a:avLst/>
          </a:prstGeom>
          <a:noFill/>
        </p:spPr>
        <p:txBody>
          <a:bodyPr wrap="square" lIns="0" rIns="0" tIns="0" bIns="0" anchor="ctr">
            <a:spAutoFit/>
          </a:bodyPr>
          <a:lstStyle/>
          <a:p>
            <a:pPr algn="l">
              <a:lnSpc>
                <a:spcPct val="102000"/>
              </a:lnSpc>
            </a:pPr>
            <a:r>
              <a:rPr sz="1050" b="0" i="0">
                <a:solidFill>
                  <a:srgbClr val="21295C"/>
                </a:solidFill>
                <a:latin typeface="Arial"/>
              </a:rPr>
              <a:t>distribution shift × irreversible automation (Zillow)</a:t>
            </a:r>
          </a:p>
        </p:txBody>
      </p:sp>
      <p:sp>
        <p:nvSpPr>
          <p:cNvPr id="17" name="Rectangle 16"/>
          <p:cNvSpPr/>
          <p:nvPr/>
        </p:nvSpPr>
        <p:spPr>
          <a:xfrm>
            <a:off x="512064" y="2029968"/>
            <a:ext cx="2788920" cy="566928"/>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radar-mid.png"/>
          <p:cNvPicPr>
            <a:picLocks noChangeAspect="1"/>
          </p:cNvPicPr>
          <p:nvPr/>
        </p:nvPicPr>
        <p:blipFill>
          <a:blip r:embed="rId3"/>
          <a:stretch>
            <a:fillRect/>
          </a:stretch>
        </p:blipFill>
        <p:spPr>
          <a:xfrm>
            <a:off x="603504" y="2176272"/>
            <a:ext cx="274320" cy="274320"/>
          </a:xfrm>
          <a:prstGeom prst="rect">
            <a:avLst/>
          </a:prstGeom>
        </p:spPr>
      </p:pic>
      <p:sp>
        <p:nvSpPr>
          <p:cNvPr id="19" name="TextBox 18"/>
          <p:cNvSpPr txBox="1"/>
          <p:nvPr/>
        </p:nvSpPr>
        <p:spPr>
          <a:xfrm>
            <a:off x="950976" y="2029968"/>
            <a:ext cx="2276856" cy="566928"/>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Real-time fraud / AML</a:t>
            </a:r>
          </a:p>
        </p:txBody>
      </p:sp>
      <p:sp>
        <p:nvSpPr>
          <p:cNvPr id="20" name="Rectangle 19"/>
          <p:cNvSpPr/>
          <p:nvPr/>
        </p:nvSpPr>
        <p:spPr>
          <a:xfrm>
            <a:off x="3300984" y="2029968"/>
            <a:ext cx="4526280" cy="566928"/>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10712" y="2029968"/>
            <a:ext cx="4325112" cy="566928"/>
          </a:xfrm>
          <a:prstGeom prst="rect">
            <a:avLst/>
          </a:prstGeom>
          <a:noFill/>
        </p:spPr>
        <p:txBody>
          <a:bodyPr wrap="square" lIns="0" rIns="0" tIns="0" bIns="0" anchor="ctr">
            <a:spAutoFit/>
          </a:bodyPr>
          <a:lstStyle/>
          <a:p>
            <a:pPr algn="l">
              <a:lnSpc>
                <a:spcPct val="102000"/>
              </a:lnSpc>
            </a:pPr>
            <a:r>
              <a:rPr sz="1050" b="0" i="0">
                <a:solidFill>
                  <a:srgbClr val="21295C"/>
                </a:solidFill>
                <a:latin typeface="Arial"/>
              </a:rPr>
              <a:t>Anomaly detection + rules-engine — norm/deviation</a:t>
            </a:r>
          </a:p>
        </p:txBody>
      </p:sp>
      <p:sp>
        <p:nvSpPr>
          <p:cNvPr id="22" name="Rectangle 21"/>
          <p:cNvSpPr/>
          <p:nvPr/>
        </p:nvSpPr>
        <p:spPr>
          <a:xfrm>
            <a:off x="7827264" y="2029968"/>
            <a:ext cx="3867912" cy="566928"/>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36992" y="2029968"/>
            <a:ext cx="3666744" cy="566928"/>
          </a:xfrm>
          <a:prstGeom prst="rect">
            <a:avLst/>
          </a:prstGeom>
          <a:noFill/>
        </p:spPr>
        <p:txBody>
          <a:bodyPr wrap="square" lIns="0" rIns="0" tIns="0" bIns="0" anchor="ctr">
            <a:spAutoFit/>
          </a:bodyPr>
          <a:lstStyle/>
          <a:p>
            <a:pPr algn="l">
              <a:lnSpc>
                <a:spcPct val="102000"/>
              </a:lnSpc>
            </a:pPr>
            <a:r>
              <a:rPr sz="1050" b="0" i="0">
                <a:solidFill>
                  <a:srgbClr val="21295C"/>
                </a:solidFill>
                <a:latin typeface="Arial"/>
              </a:rPr>
              <a:t>FP at scale; accuracy lies under imbalance</a:t>
            </a:r>
          </a:p>
        </p:txBody>
      </p:sp>
      <p:sp>
        <p:nvSpPr>
          <p:cNvPr id="24" name="Rectangle 23"/>
          <p:cNvSpPr/>
          <p:nvPr/>
        </p:nvSpPr>
        <p:spPr>
          <a:xfrm>
            <a:off x="512064" y="2596896"/>
            <a:ext cx="2788920"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cale-mid.png"/>
          <p:cNvPicPr>
            <a:picLocks noChangeAspect="1"/>
          </p:cNvPicPr>
          <p:nvPr/>
        </p:nvPicPr>
        <p:blipFill>
          <a:blip r:embed="rId4"/>
          <a:stretch>
            <a:fillRect/>
          </a:stretch>
        </p:blipFill>
        <p:spPr>
          <a:xfrm>
            <a:off x="603504" y="2743200"/>
            <a:ext cx="274320" cy="274320"/>
          </a:xfrm>
          <a:prstGeom prst="rect">
            <a:avLst/>
          </a:prstGeom>
        </p:spPr>
      </p:pic>
      <p:sp>
        <p:nvSpPr>
          <p:cNvPr id="26" name="TextBox 25"/>
          <p:cNvSpPr txBox="1"/>
          <p:nvPr/>
        </p:nvSpPr>
        <p:spPr>
          <a:xfrm>
            <a:off x="950976" y="2596896"/>
            <a:ext cx="2276856" cy="566928"/>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Credit scoring</a:t>
            </a:r>
          </a:p>
        </p:txBody>
      </p:sp>
      <p:sp>
        <p:nvSpPr>
          <p:cNvPr id="27" name="Rectangle 26"/>
          <p:cNvSpPr/>
          <p:nvPr/>
        </p:nvSpPr>
        <p:spPr>
          <a:xfrm>
            <a:off x="3300984" y="2596896"/>
            <a:ext cx="4526280"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10712" y="2596896"/>
            <a:ext cx="4325112" cy="566928"/>
          </a:xfrm>
          <a:prstGeom prst="rect">
            <a:avLst/>
          </a:prstGeom>
          <a:noFill/>
        </p:spPr>
        <p:txBody>
          <a:bodyPr wrap="square" lIns="0" rIns="0" tIns="0" bIns="0" anchor="ctr">
            <a:spAutoFit/>
          </a:bodyPr>
          <a:lstStyle/>
          <a:p>
            <a:pPr algn="l">
              <a:lnSpc>
                <a:spcPct val="102000"/>
              </a:lnSpc>
            </a:pPr>
            <a:r>
              <a:rPr sz="1050" b="0" i="0">
                <a:solidFill>
                  <a:srgbClr val="21295C"/>
                </a:solidFill>
                <a:latin typeface="Arial"/>
              </a:rPr>
              <a:t>Tabular ML (logreg/GBM+SHAP) — explainability = law</a:t>
            </a:r>
          </a:p>
        </p:txBody>
      </p:sp>
      <p:sp>
        <p:nvSpPr>
          <p:cNvPr id="29" name="Rectangle 28"/>
          <p:cNvSpPr/>
          <p:nvPr/>
        </p:nvSpPr>
        <p:spPr>
          <a:xfrm>
            <a:off x="7827264" y="2596896"/>
            <a:ext cx="3867912"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36992" y="2596896"/>
            <a:ext cx="3666744" cy="566928"/>
          </a:xfrm>
          <a:prstGeom prst="rect">
            <a:avLst/>
          </a:prstGeom>
          <a:noFill/>
        </p:spPr>
        <p:txBody>
          <a:bodyPr wrap="square" lIns="0" rIns="0" tIns="0" bIns="0" anchor="ctr">
            <a:spAutoFit/>
          </a:bodyPr>
          <a:lstStyle/>
          <a:p>
            <a:pPr algn="l">
              <a:lnSpc>
                <a:spcPct val="102000"/>
              </a:lnSpc>
            </a:pPr>
            <a:r>
              <a:rPr sz="1050" b="0" i="0">
                <a:solidFill>
                  <a:srgbClr val="21295C"/>
                </a:solidFill>
                <a:latin typeface="Arial"/>
              </a:rPr>
              <a:t>proxy bias + opacity (Apple Card)</a:t>
            </a:r>
          </a:p>
        </p:txBody>
      </p:sp>
      <p:sp>
        <p:nvSpPr>
          <p:cNvPr id="31" name="Rectangle 30"/>
          <p:cNvSpPr/>
          <p:nvPr/>
        </p:nvSpPr>
        <p:spPr>
          <a:xfrm>
            <a:off x="512064" y="3163824"/>
            <a:ext cx="2788920" cy="566928"/>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message-circle-mid.png"/>
          <p:cNvPicPr>
            <a:picLocks noChangeAspect="1"/>
          </p:cNvPicPr>
          <p:nvPr/>
        </p:nvPicPr>
        <p:blipFill>
          <a:blip r:embed="rId5"/>
          <a:stretch>
            <a:fillRect/>
          </a:stretch>
        </p:blipFill>
        <p:spPr>
          <a:xfrm>
            <a:off x="603504" y="3310128"/>
            <a:ext cx="274320" cy="274320"/>
          </a:xfrm>
          <a:prstGeom prst="rect">
            <a:avLst/>
          </a:prstGeom>
        </p:spPr>
      </p:pic>
      <p:sp>
        <p:nvSpPr>
          <p:cNvPr id="33" name="TextBox 32"/>
          <p:cNvSpPr txBox="1"/>
          <p:nvPr/>
        </p:nvSpPr>
        <p:spPr>
          <a:xfrm>
            <a:off x="950976" y="3163824"/>
            <a:ext cx="2276856" cy="566928"/>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Support / voice / explanation</a:t>
            </a:r>
          </a:p>
        </p:txBody>
      </p:sp>
      <p:sp>
        <p:nvSpPr>
          <p:cNvPr id="34" name="Rectangle 33"/>
          <p:cNvSpPr/>
          <p:nvPr/>
        </p:nvSpPr>
        <p:spPr>
          <a:xfrm>
            <a:off x="3300984" y="3163824"/>
            <a:ext cx="4526280" cy="566928"/>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10712" y="3163824"/>
            <a:ext cx="4325112" cy="566928"/>
          </a:xfrm>
          <a:prstGeom prst="rect">
            <a:avLst/>
          </a:prstGeom>
          <a:noFill/>
        </p:spPr>
        <p:txBody>
          <a:bodyPr wrap="square" lIns="0" rIns="0" tIns="0" bIns="0" anchor="ctr">
            <a:spAutoFit/>
          </a:bodyPr>
          <a:lstStyle/>
          <a:p>
            <a:pPr algn="l">
              <a:lnSpc>
                <a:spcPct val="102000"/>
              </a:lnSpc>
            </a:pPr>
            <a:r>
              <a:rPr sz="1050" b="0" i="0">
                <a:solidFill>
                  <a:srgbClr val="21295C"/>
                </a:solidFill>
                <a:latin typeface="Arial"/>
              </a:rPr>
              <a:t>LLM (grounded) — a textual-conversational task</a:t>
            </a:r>
          </a:p>
        </p:txBody>
      </p:sp>
      <p:sp>
        <p:nvSpPr>
          <p:cNvPr id="36" name="Rectangle 35"/>
          <p:cNvSpPr/>
          <p:nvPr/>
        </p:nvSpPr>
        <p:spPr>
          <a:xfrm>
            <a:off x="7827264" y="3163824"/>
            <a:ext cx="3867912" cy="566928"/>
          </a:xfrm>
          <a:prstGeom prst="rect">
            <a:avLst/>
          </a:prstGeom>
          <a:solidFill>
            <a:srgbClr val="F4F7FA"/>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36992" y="3163824"/>
            <a:ext cx="3666744" cy="566928"/>
          </a:xfrm>
          <a:prstGeom prst="rect">
            <a:avLst/>
          </a:prstGeom>
          <a:noFill/>
        </p:spPr>
        <p:txBody>
          <a:bodyPr wrap="square" lIns="0" rIns="0" tIns="0" bIns="0" anchor="ctr">
            <a:spAutoFit/>
          </a:bodyPr>
          <a:lstStyle/>
          <a:p>
            <a:pPr algn="l">
              <a:lnSpc>
                <a:spcPct val="102000"/>
              </a:lnSpc>
            </a:pPr>
            <a:r>
              <a:rPr sz="1050" b="0" i="0">
                <a:solidFill>
                  <a:srgbClr val="21295C"/>
                </a:solidFill>
                <a:latin typeface="Arial"/>
              </a:rPr>
              <a:t>hallucinated financial fact = legal liability (Air Canada)</a:t>
            </a:r>
          </a:p>
        </p:txBody>
      </p:sp>
      <p:sp>
        <p:nvSpPr>
          <p:cNvPr id="38" name="Rectangle 37"/>
          <p:cNvSpPr/>
          <p:nvPr/>
        </p:nvSpPr>
        <p:spPr>
          <a:xfrm>
            <a:off x="512064" y="3730752"/>
            <a:ext cx="2788920"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shopping-cart-mid.png"/>
          <p:cNvPicPr>
            <a:picLocks noChangeAspect="1"/>
          </p:cNvPicPr>
          <p:nvPr/>
        </p:nvPicPr>
        <p:blipFill>
          <a:blip r:embed="rId6"/>
          <a:stretch>
            <a:fillRect/>
          </a:stretch>
        </p:blipFill>
        <p:spPr>
          <a:xfrm>
            <a:off x="603504" y="3877056"/>
            <a:ext cx="274320" cy="274320"/>
          </a:xfrm>
          <a:prstGeom prst="rect">
            <a:avLst/>
          </a:prstGeom>
        </p:spPr>
      </p:pic>
      <p:sp>
        <p:nvSpPr>
          <p:cNvPr id="40" name="TextBox 39"/>
          <p:cNvSpPr txBox="1"/>
          <p:nvPr/>
        </p:nvSpPr>
        <p:spPr>
          <a:xfrm>
            <a:off x="950976" y="3730752"/>
            <a:ext cx="2276856" cy="566928"/>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Recommendations / pricing</a:t>
            </a:r>
          </a:p>
        </p:txBody>
      </p:sp>
      <p:sp>
        <p:nvSpPr>
          <p:cNvPr id="41" name="Rectangle 40"/>
          <p:cNvSpPr/>
          <p:nvPr/>
        </p:nvSpPr>
        <p:spPr>
          <a:xfrm>
            <a:off x="3300984" y="3730752"/>
            <a:ext cx="4526280"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10712" y="3730752"/>
            <a:ext cx="4325112" cy="566928"/>
          </a:xfrm>
          <a:prstGeom prst="rect">
            <a:avLst/>
          </a:prstGeom>
          <a:noFill/>
        </p:spPr>
        <p:txBody>
          <a:bodyPr wrap="square" lIns="0" rIns="0" tIns="0" bIns="0" anchor="ctr">
            <a:spAutoFit/>
          </a:bodyPr>
          <a:lstStyle/>
          <a:p>
            <a:pPr algn="l">
              <a:lnSpc>
                <a:spcPct val="102000"/>
              </a:lnSpc>
            </a:pPr>
            <a:r>
              <a:rPr sz="1050" b="0" i="0">
                <a:solidFill>
                  <a:srgbClr val="21295C"/>
                </a:solidFill>
                <a:latin typeface="Arial"/>
              </a:rPr>
              <a:t>Recsys; pricing — an optimizer within a frame</a:t>
            </a:r>
          </a:p>
        </p:txBody>
      </p:sp>
      <p:sp>
        <p:nvSpPr>
          <p:cNvPr id="43" name="Rectangle 42"/>
          <p:cNvSpPr/>
          <p:nvPr/>
        </p:nvSpPr>
        <p:spPr>
          <a:xfrm>
            <a:off x="7827264" y="3730752"/>
            <a:ext cx="3867912" cy="566928"/>
          </a:xfrm>
          <a:prstGeom prst="rect">
            <a:avLst/>
          </a:prstGeom>
          <a:solidFill>
            <a:srgbClr val="FFFFFF"/>
          </a:solidFill>
          <a:ln w="9525">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36992" y="3730752"/>
            <a:ext cx="3666744" cy="566928"/>
          </a:xfrm>
          <a:prstGeom prst="rect">
            <a:avLst/>
          </a:prstGeom>
          <a:noFill/>
        </p:spPr>
        <p:txBody>
          <a:bodyPr wrap="square" lIns="0" rIns="0" tIns="0" bIns="0" anchor="ctr">
            <a:spAutoFit/>
          </a:bodyPr>
          <a:lstStyle/>
          <a:p>
            <a:pPr algn="l">
              <a:lnSpc>
                <a:spcPct val="102000"/>
              </a:lnSpc>
            </a:pPr>
            <a:r>
              <a:rPr sz="1050" b="0" i="0">
                <a:solidFill>
                  <a:srgbClr val="21295C"/>
                </a:solidFill>
                <a:latin typeface="Arial"/>
              </a:rPr>
              <a:t>proxy≠goal: filter bubble (Wendy's)</a:t>
            </a:r>
          </a:p>
        </p:txBody>
      </p:sp>
      <p:sp>
        <p:nvSpPr>
          <p:cNvPr id="45" name="Rectangle 44"/>
          <p:cNvSpPr/>
          <p:nvPr/>
        </p:nvSpPr>
        <p:spPr>
          <a:xfrm>
            <a:off x="512064" y="4297680"/>
            <a:ext cx="2788920" cy="566928"/>
          </a:xfrm>
          <a:prstGeom prst="rect">
            <a:avLst/>
          </a:prstGeom>
          <a:solidFill>
            <a:srgbClr val="FDF3DC"/>
          </a:solidFill>
          <a:ln w="1651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circle-slash-gold.png"/>
          <p:cNvPicPr>
            <a:picLocks noChangeAspect="1"/>
          </p:cNvPicPr>
          <p:nvPr/>
        </p:nvPicPr>
        <p:blipFill>
          <a:blip r:embed="rId7"/>
          <a:stretch>
            <a:fillRect/>
          </a:stretch>
        </p:blipFill>
        <p:spPr>
          <a:xfrm>
            <a:off x="603504" y="4443984"/>
            <a:ext cx="274320" cy="274320"/>
          </a:xfrm>
          <a:prstGeom prst="rect">
            <a:avLst/>
          </a:prstGeom>
        </p:spPr>
      </p:pic>
      <p:sp>
        <p:nvSpPr>
          <p:cNvPr id="47" name="TextBox 46"/>
          <p:cNvSpPr txBox="1"/>
          <p:nvPr/>
        </p:nvSpPr>
        <p:spPr>
          <a:xfrm>
            <a:off x="950976" y="4297680"/>
            <a:ext cx="2276856" cy="566928"/>
          </a:xfrm>
          <a:prstGeom prst="rect">
            <a:avLst/>
          </a:prstGeom>
          <a:noFill/>
        </p:spPr>
        <p:txBody>
          <a:bodyPr wrap="square" lIns="0" rIns="0" tIns="0" bIns="0" anchor="ctr">
            <a:spAutoFit/>
          </a:bodyPr>
          <a:lstStyle/>
          <a:p>
            <a:pPr algn="l">
              <a:lnSpc>
                <a:spcPct val="100000"/>
              </a:lnSpc>
            </a:pPr>
            <a:r>
              <a:rPr sz="1050" b="1" i="0">
                <a:solidFill>
                  <a:srgbClr val="21295C"/>
                </a:solidFill>
                <a:latin typeface="Arial"/>
              </a:rPr>
              <a:t>A deterministic regulatory task (a hard AML threshold)</a:t>
            </a:r>
          </a:p>
        </p:txBody>
      </p:sp>
      <p:sp>
        <p:nvSpPr>
          <p:cNvPr id="48" name="Rectangle 47"/>
          <p:cNvSpPr/>
          <p:nvPr/>
        </p:nvSpPr>
        <p:spPr>
          <a:xfrm>
            <a:off x="3300984" y="4297680"/>
            <a:ext cx="4526280" cy="566928"/>
          </a:xfrm>
          <a:prstGeom prst="rect">
            <a:avLst/>
          </a:prstGeom>
          <a:solidFill>
            <a:srgbClr val="FDF3DC"/>
          </a:solidFill>
          <a:ln w="1651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10712" y="4297680"/>
            <a:ext cx="4325112" cy="566928"/>
          </a:xfrm>
          <a:prstGeom prst="rect">
            <a:avLst/>
          </a:prstGeom>
          <a:noFill/>
        </p:spPr>
        <p:txBody>
          <a:bodyPr wrap="square" lIns="0" rIns="0" tIns="0" bIns="0" anchor="ctr">
            <a:spAutoFit/>
          </a:bodyPr>
          <a:lstStyle/>
          <a:p>
            <a:pPr algn="l">
              <a:lnSpc>
                <a:spcPct val="102000"/>
              </a:lnSpc>
            </a:pPr>
            <a:r>
              <a:rPr sz="1050" b="1" i="0">
                <a:solidFill>
                  <a:srgbClr val="21295C"/>
                </a:solidFill>
                <a:latin typeface="Arial"/>
              </a:rPr>
              <a:t>Ordinary code / rules-engine — NOT AI; law ≠ probability</a:t>
            </a:r>
          </a:p>
        </p:txBody>
      </p:sp>
      <p:sp>
        <p:nvSpPr>
          <p:cNvPr id="50" name="Rectangle 49"/>
          <p:cNvSpPr/>
          <p:nvPr/>
        </p:nvSpPr>
        <p:spPr>
          <a:xfrm>
            <a:off x="7827264" y="4297680"/>
            <a:ext cx="3867912" cy="566928"/>
          </a:xfrm>
          <a:prstGeom prst="rect">
            <a:avLst/>
          </a:prstGeom>
          <a:solidFill>
            <a:srgbClr val="FDF3DC"/>
          </a:solidFill>
          <a:ln w="1651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936992" y="4297680"/>
            <a:ext cx="3666744" cy="566928"/>
          </a:xfrm>
          <a:prstGeom prst="rect">
            <a:avLst/>
          </a:prstGeom>
          <a:noFill/>
        </p:spPr>
        <p:txBody>
          <a:bodyPr wrap="square" lIns="0" rIns="0" tIns="0" bIns="0" anchor="ctr">
            <a:spAutoFit/>
          </a:bodyPr>
          <a:lstStyle/>
          <a:p>
            <a:pPr algn="l">
              <a:lnSpc>
                <a:spcPct val="102000"/>
              </a:lnSpc>
            </a:pPr>
            <a:r>
              <a:rPr sz="1050" b="0" i="0">
                <a:solidFill>
                  <a:srgbClr val="21295C"/>
                </a:solidFill>
                <a:latin typeface="Arial"/>
              </a:rPr>
              <a:t>AI would add non-determinism + an error surface</a:t>
            </a:r>
          </a:p>
        </p:txBody>
      </p:sp>
      <p:sp>
        <p:nvSpPr>
          <p:cNvPr id="52" name="Rounded Rectangle 51"/>
          <p:cNvSpPr/>
          <p:nvPr/>
        </p:nvSpPr>
        <p:spPr>
          <a:xfrm>
            <a:off x="502920" y="5413248"/>
            <a:ext cx="11201400"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2376" y="5468112"/>
            <a:ext cx="10762488" cy="676656"/>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The bottom row — deliberately. A hard, verifiable regulatory rule → deterministic code, NOT AI: AI would add non-determinism where accuracy and auditability are needed.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201400" cy="512064"/>
          </a:xfrm>
          <a:prstGeom prst="rect">
            <a:avLst/>
          </a:prstGeom>
          <a:noFill/>
        </p:spPr>
        <p:txBody>
          <a:bodyPr wrap="square" lIns="0" rIns="0" tIns="0" bIns="0" anchor="t">
            <a:spAutoFit/>
          </a:bodyPr>
          <a:lstStyle/>
          <a:p>
            <a:pPr algn="l">
              <a:lnSpc>
                <a:spcPct val="110000"/>
              </a:lnSpc>
            </a:pPr>
            <a:r>
              <a:rPr sz="2300" b="1" i="0">
                <a:solidFill>
                  <a:srgbClr val="21295C"/>
                </a:solidFill>
                <a:latin typeface="Arial"/>
              </a:rPr>
              <a:t>The substantive answer to the central question of the lecture.</a:t>
            </a:r>
          </a:p>
        </p:txBody>
      </p:sp>
      <p:sp>
        <p:nvSpPr>
          <p:cNvPr id="3" name="Rounded Rectangle 2"/>
          <p:cNvSpPr/>
          <p:nvPr/>
        </p:nvSpPr>
        <p:spPr>
          <a:xfrm>
            <a:off x="502920" y="969264"/>
            <a:ext cx="11201400" cy="1682496"/>
          </a:xfrm>
          <a:prstGeom prst="roundRect">
            <a:avLst>
              <a:gd name="adj" fmla="val 18115"/>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152144"/>
            <a:ext cx="10287000" cy="1316736"/>
          </a:xfrm>
          <a:prstGeom prst="rect">
            <a:avLst/>
          </a:prstGeom>
          <a:noFill/>
        </p:spPr>
        <p:txBody>
          <a:bodyPr wrap="square" lIns="0" rIns="0" tIns="0" bIns="0" anchor="ctr">
            <a:spAutoFit/>
          </a:bodyPr>
          <a:lstStyle/>
          <a:p>
            <a:pPr algn="ctr">
              <a:lnSpc>
                <a:spcPct val="120000"/>
              </a:lnSpc>
            </a:pPr>
            <a:r>
              <a:rPr sz="2100" b="1" i="0">
                <a:solidFill>
                  <a:srgbClr val="21295C"/>
                </a:solidFill>
                <a:latin typeface="Arial"/>
              </a:rPr>
              <a:t>In none of the five failures is the fix «a better model». In all of them — a better JUDGMENT about what stands around the AI at the cost of error.</a:t>
            </a:r>
          </a:p>
        </p:txBody>
      </p:sp>
      <p:sp>
        <p:nvSpPr>
          <p:cNvPr id="5" name="TextBox 4"/>
          <p:cNvSpPr txBox="1"/>
          <p:nvPr/>
        </p:nvSpPr>
        <p:spPr>
          <a:xfrm>
            <a:off x="502920" y="2798064"/>
            <a:ext cx="11201400" cy="256032"/>
          </a:xfrm>
          <a:prstGeom prst="rect">
            <a:avLst/>
          </a:prstGeom>
          <a:noFill/>
        </p:spPr>
        <p:txBody>
          <a:bodyPr wrap="square" lIns="0" rIns="0" tIns="0" bIns="0" anchor="t">
            <a:spAutoFit/>
          </a:bodyPr>
          <a:lstStyle/>
          <a:p>
            <a:pPr algn="l">
              <a:lnSpc>
                <a:spcPct val="115000"/>
              </a:lnSpc>
            </a:pPr>
            <a:r>
              <a:rPr sz="1250" b="1" i="0">
                <a:solidFill>
                  <a:srgbClr val="065A82"/>
                </a:solidFill>
                <a:latin typeface="Arial"/>
              </a:rPr>
              <a:t>Five cases from the lecture — one and the same remedy (NOT a model):</a:t>
            </a:r>
          </a:p>
        </p:txBody>
      </p:sp>
      <p:sp>
        <p:nvSpPr>
          <p:cNvPr id="6" name="Rounded Rectangle 5"/>
          <p:cNvSpPr/>
          <p:nvPr/>
        </p:nvSpPr>
        <p:spPr>
          <a:xfrm>
            <a:off x="502920" y="3127248"/>
            <a:ext cx="2108606" cy="133502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 y="3273552"/>
            <a:ext cx="1962302" cy="310896"/>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Zillow</a:t>
            </a:r>
          </a:p>
        </p:txBody>
      </p:sp>
      <p:sp>
        <p:nvSpPr>
          <p:cNvPr id="8" name="TextBox 7"/>
          <p:cNvSpPr txBox="1"/>
          <p:nvPr/>
        </p:nvSpPr>
        <p:spPr>
          <a:xfrm>
            <a:off x="1465783" y="3621024"/>
            <a:ext cx="182880" cy="237744"/>
          </a:xfrm>
          <a:prstGeom prst="rect">
            <a:avLst/>
          </a:prstGeom>
          <a:noFill/>
        </p:spPr>
        <p:txBody>
          <a:bodyPr wrap="square" lIns="0" rIns="0" tIns="0" bIns="0" anchor="t">
            <a:spAutoFit/>
          </a:bodyPr>
          <a:lstStyle/>
          <a:p>
            <a:pPr algn="ctr">
              <a:lnSpc>
                <a:spcPct val="115000"/>
              </a:lnSpc>
            </a:pPr>
            <a:r>
              <a:rPr sz="1500" b="1" i="0">
                <a:solidFill>
                  <a:srgbClr val="1C7293"/>
                </a:solidFill>
                <a:latin typeface="Arial"/>
              </a:rPr>
              <a:t>↓</a:t>
            </a:r>
          </a:p>
        </p:txBody>
      </p:sp>
      <p:sp>
        <p:nvSpPr>
          <p:cNvPr id="9" name="Rounded Rectangle 8"/>
          <p:cNvSpPr/>
          <p:nvPr/>
        </p:nvSpPr>
        <p:spPr>
          <a:xfrm>
            <a:off x="630936" y="3877056"/>
            <a:ext cx="1852574" cy="457200"/>
          </a:xfrm>
          <a:prstGeom prst="roundRect">
            <a:avLst>
              <a:gd name="adj" fmla="val 16000"/>
            </a:avLst>
          </a:prstGeom>
          <a:solidFill>
            <a:srgbClr val="E4F1F2"/>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77056"/>
            <a:ext cx="1779422" cy="457200"/>
          </a:xfrm>
          <a:prstGeom prst="rect">
            <a:avLst/>
          </a:prstGeom>
          <a:noFill/>
        </p:spPr>
        <p:txBody>
          <a:bodyPr wrap="square" lIns="0" rIns="0" tIns="0" bIns="0" anchor="ctr">
            <a:spAutoFit/>
          </a:bodyPr>
          <a:lstStyle/>
          <a:p>
            <a:pPr algn="ctr">
              <a:lnSpc>
                <a:spcPct val="100000"/>
              </a:lnSpc>
            </a:pPr>
            <a:r>
              <a:rPr sz="1050" b="1" i="0">
                <a:solidFill>
                  <a:srgbClr val="21295C"/>
                </a:solidFill>
                <a:latin typeface="Arial"/>
              </a:rPr>
              <a:t>human-gate</a:t>
            </a:r>
          </a:p>
        </p:txBody>
      </p:sp>
      <p:sp>
        <p:nvSpPr>
          <p:cNvPr id="11" name="Rounded Rectangle 10"/>
          <p:cNvSpPr/>
          <p:nvPr/>
        </p:nvSpPr>
        <p:spPr>
          <a:xfrm>
            <a:off x="2776118" y="3127248"/>
            <a:ext cx="2108606" cy="133502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49270" y="3273552"/>
            <a:ext cx="1962302" cy="310896"/>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Apple Card</a:t>
            </a:r>
          </a:p>
        </p:txBody>
      </p:sp>
      <p:sp>
        <p:nvSpPr>
          <p:cNvPr id="13" name="TextBox 12"/>
          <p:cNvSpPr txBox="1"/>
          <p:nvPr/>
        </p:nvSpPr>
        <p:spPr>
          <a:xfrm>
            <a:off x="3738981" y="3621024"/>
            <a:ext cx="182880" cy="237744"/>
          </a:xfrm>
          <a:prstGeom prst="rect">
            <a:avLst/>
          </a:prstGeom>
          <a:noFill/>
        </p:spPr>
        <p:txBody>
          <a:bodyPr wrap="square" lIns="0" rIns="0" tIns="0" bIns="0" anchor="t">
            <a:spAutoFit/>
          </a:bodyPr>
          <a:lstStyle/>
          <a:p>
            <a:pPr algn="ctr">
              <a:lnSpc>
                <a:spcPct val="115000"/>
              </a:lnSpc>
            </a:pPr>
            <a:r>
              <a:rPr sz="1500" b="1" i="0">
                <a:solidFill>
                  <a:srgbClr val="1C7293"/>
                </a:solidFill>
                <a:latin typeface="Arial"/>
              </a:rPr>
              <a:t>↓</a:t>
            </a:r>
          </a:p>
        </p:txBody>
      </p:sp>
      <p:sp>
        <p:nvSpPr>
          <p:cNvPr id="14" name="Rounded Rectangle 13"/>
          <p:cNvSpPr/>
          <p:nvPr/>
        </p:nvSpPr>
        <p:spPr>
          <a:xfrm>
            <a:off x="2904134" y="3877056"/>
            <a:ext cx="1852574" cy="457200"/>
          </a:xfrm>
          <a:prstGeom prst="roundRect">
            <a:avLst>
              <a:gd name="adj" fmla="val 16000"/>
            </a:avLst>
          </a:prstGeom>
          <a:solidFill>
            <a:srgbClr val="E4F1F2"/>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40710" y="3877056"/>
            <a:ext cx="1779422" cy="457200"/>
          </a:xfrm>
          <a:prstGeom prst="rect">
            <a:avLst/>
          </a:prstGeom>
          <a:noFill/>
        </p:spPr>
        <p:txBody>
          <a:bodyPr wrap="square" lIns="0" rIns="0" tIns="0" bIns="0" anchor="ctr">
            <a:spAutoFit/>
          </a:bodyPr>
          <a:lstStyle/>
          <a:p>
            <a:pPr algn="ctr">
              <a:lnSpc>
                <a:spcPct val="100000"/>
              </a:lnSpc>
            </a:pPr>
            <a:r>
              <a:rPr sz="1050" b="1" i="0">
                <a:solidFill>
                  <a:srgbClr val="21295C"/>
                </a:solidFill>
                <a:latin typeface="Arial"/>
              </a:rPr>
              <a:t>explainability + audit</a:t>
            </a:r>
          </a:p>
        </p:txBody>
      </p:sp>
      <p:sp>
        <p:nvSpPr>
          <p:cNvPr id="16" name="Rounded Rectangle 15"/>
          <p:cNvSpPr/>
          <p:nvPr/>
        </p:nvSpPr>
        <p:spPr>
          <a:xfrm>
            <a:off x="5049316" y="3127248"/>
            <a:ext cx="2108606" cy="133502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2468" y="3273552"/>
            <a:ext cx="1962302" cy="310896"/>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Air Canada</a:t>
            </a:r>
          </a:p>
        </p:txBody>
      </p:sp>
      <p:sp>
        <p:nvSpPr>
          <p:cNvPr id="18" name="TextBox 17"/>
          <p:cNvSpPr txBox="1"/>
          <p:nvPr/>
        </p:nvSpPr>
        <p:spPr>
          <a:xfrm>
            <a:off x="6012180" y="3621024"/>
            <a:ext cx="182880" cy="237744"/>
          </a:xfrm>
          <a:prstGeom prst="rect">
            <a:avLst/>
          </a:prstGeom>
          <a:noFill/>
        </p:spPr>
        <p:txBody>
          <a:bodyPr wrap="square" lIns="0" rIns="0" tIns="0" bIns="0" anchor="t">
            <a:spAutoFit/>
          </a:bodyPr>
          <a:lstStyle/>
          <a:p>
            <a:pPr algn="ctr">
              <a:lnSpc>
                <a:spcPct val="115000"/>
              </a:lnSpc>
            </a:pPr>
            <a:r>
              <a:rPr sz="1500" b="1" i="0">
                <a:solidFill>
                  <a:srgbClr val="1C7293"/>
                </a:solidFill>
                <a:latin typeface="Arial"/>
              </a:rPr>
              <a:t>↓</a:t>
            </a:r>
          </a:p>
        </p:txBody>
      </p:sp>
      <p:sp>
        <p:nvSpPr>
          <p:cNvPr id="19" name="Rounded Rectangle 18"/>
          <p:cNvSpPr/>
          <p:nvPr/>
        </p:nvSpPr>
        <p:spPr>
          <a:xfrm>
            <a:off x="5177332" y="3877056"/>
            <a:ext cx="1852574" cy="457200"/>
          </a:xfrm>
          <a:prstGeom prst="roundRect">
            <a:avLst>
              <a:gd name="adj" fmla="val 16000"/>
            </a:avLst>
          </a:prstGeom>
          <a:solidFill>
            <a:srgbClr val="E4F1F2"/>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3908" y="3877056"/>
            <a:ext cx="1779422" cy="457200"/>
          </a:xfrm>
          <a:prstGeom prst="rect">
            <a:avLst/>
          </a:prstGeom>
          <a:noFill/>
        </p:spPr>
        <p:txBody>
          <a:bodyPr wrap="square" lIns="0" rIns="0" tIns="0" bIns="0" anchor="ctr">
            <a:spAutoFit/>
          </a:bodyPr>
          <a:lstStyle/>
          <a:p>
            <a:pPr algn="ctr">
              <a:lnSpc>
                <a:spcPct val="100000"/>
              </a:lnSpc>
            </a:pPr>
            <a:r>
              <a:rPr sz="1050" b="1" i="0">
                <a:solidFill>
                  <a:srgbClr val="21295C"/>
                </a:solidFill>
                <a:latin typeface="Arial"/>
              </a:rPr>
              <a:t>grounding</a:t>
            </a:r>
          </a:p>
        </p:txBody>
      </p:sp>
      <p:sp>
        <p:nvSpPr>
          <p:cNvPr id="21" name="Rounded Rectangle 20"/>
          <p:cNvSpPr/>
          <p:nvPr/>
        </p:nvSpPr>
        <p:spPr>
          <a:xfrm>
            <a:off x="7322515" y="3127248"/>
            <a:ext cx="2108606" cy="133502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95667" y="3273552"/>
            <a:ext cx="1962302" cy="310896"/>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Klarna</a:t>
            </a:r>
          </a:p>
        </p:txBody>
      </p:sp>
      <p:sp>
        <p:nvSpPr>
          <p:cNvPr id="23" name="TextBox 22"/>
          <p:cNvSpPr txBox="1"/>
          <p:nvPr/>
        </p:nvSpPr>
        <p:spPr>
          <a:xfrm>
            <a:off x="8285378" y="3621024"/>
            <a:ext cx="182880" cy="237744"/>
          </a:xfrm>
          <a:prstGeom prst="rect">
            <a:avLst/>
          </a:prstGeom>
          <a:noFill/>
        </p:spPr>
        <p:txBody>
          <a:bodyPr wrap="square" lIns="0" rIns="0" tIns="0" bIns="0" anchor="t">
            <a:spAutoFit/>
          </a:bodyPr>
          <a:lstStyle/>
          <a:p>
            <a:pPr algn="ctr">
              <a:lnSpc>
                <a:spcPct val="115000"/>
              </a:lnSpc>
            </a:pPr>
            <a:r>
              <a:rPr sz="1500" b="1" i="0">
                <a:solidFill>
                  <a:srgbClr val="1C7293"/>
                </a:solidFill>
                <a:latin typeface="Arial"/>
              </a:rPr>
              <a:t>↓</a:t>
            </a:r>
          </a:p>
        </p:txBody>
      </p:sp>
      <p:sp>
        <p:nvSpPr>
          <p:cNvPr id="24" name="Rounded Rectangle 23"/>
          <p:cNvSpPr/>
          <p:nvPr/>
        </p:nvSpPr>
        <p:spPr>
          <a:xfrm>
            <a:off x="7450531" y="3877056"/>
            <a:ext cx="1852574" cy="457200"/>
          </a:xfrm>
          <a:prstGeom prst="roundRect">
            <a:avLst>
              <a:gd name="adj" fmla="val 16000"/>
            </a:avLst>
          </a:prstGeom>
          <a:solidFill>
            <a:srgbClr val="E4F1F2"/>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87107" y="3877056"/>
            <a:ext cx="1779422" cy="457200"/>
          </a:xfrm>
          <a:prstGeom prst="rect">
            <a:avLst/>
          </a:prstGeom>
          <a:noFill/>
        </p:spPr>
        <p:txBody>
          <a:bodyPr wrap="square" lIns="0" rIns="0" tIns="0" bIns="0" anchor="ctr">
            <a:spAutoFit/>
          </a:bodyPr>
          <a:lstStyle/>
          <a:p>
            <a:pPr algn="ctr">
              <a:lnSpc>
                <a:spcPct val="100000"/>
              </a:lnSpc>
            </a:pPr>
            <a:r>
              <a:rPr sz="1050" b="1" i="0">
                <a:solidFill>
                  <a:srgbClr val="21295C"/>
                </a:solidFill>
                <a:latin typeface="Arial"/>
              </a:rPr>
              <a:t>augmentation</a:t>
            </a:r>
          </a:p>
        </p:txBody>
      </p:sp>
      <p:sp>
        <p:nvSpPr>
          <p:cNvPr id="26" name="Rounded Rectangle 25"/>
          <p:cNvSpPr/>
          <p:nvPr/>
        </p:nvSpPr>
        <p:spPr>
          <a:xfrm>
            <a:off x="9595713" y="3127248"/>
            <a:ext cx="2108606" cy="133502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68865" y="3273552"/>
            <a:ext cx="1962302" cy="310896"/>
          </a:xfrm>
          <a:prstGeom prst="rect">
            <a:avLst/>
          </a:prstGeom>
          <a:noFill/>
        </p:spPr>
        <p:txBody>
          <a:bodyPr wrap="square" lIns="0" rIns="0" tIns="0" bIns="0" anchor="ctr">
            <a:spAutoFit/>
          </a:bodyPr>
          <a:lstStyle/>
          <a:p>
            <a:pPr algn="ctr">
              <a:lnSpc>
                <a:spcPct val="115000"/>
              </a:lnSpc>
            </a:pPr>
            <a:r>
              <a:rPr sz="1300" b="1" i="0">
                <a:solidFill>
                  <a:srgbClr val="21295C"/>
                </a:solidFill>
                <a:latin typeface="Arial"/>
              </a:rPr>
              <a:t>Wendy's</a:t>
            </a:r>
          </a:p>
        </p:txBody>
      </p:sp>
      <p:sp>
        <p:nvSpPr>
          <p:cNvPr id="28" name="TextBox 27"/>
          <p:cNvSpPr txBox="1"/>
          <p:nvPr/>
        </p:nvSpPr>
        <p:spPr>
          <a:xfrm>
            <a:off x="10558576" y="3621024"/>
            <a:ext cx="182880" cy="237744"/>
          </a:xfrm>
          <a:prstGeom prst="rect">
            <a:avLst/>
          </a:prstGeom>
          <a:noFill/>
        </p:spPr>
        <p:txBody>
          <a:bodyPr wrap="square" lIns="0" rIns="0" tIns="0" bIns="0" anchor="t">
            <a:spAutoFit/>
          </a:bodyPr>
          <a:lstStyle/>
          <a:p>
            <a:pPr algn="ctr">
              <a:lnSpc>
                <a:spcPct val="115000"/>
              </a:lnSpc>
            </a:pPr>
            <a:r>
              <a:rPr sz="1500" b="1" i="0">
                <a:solidFill>
                  <a:srgbClr val="1C7293"/>
                </a:solidFill>
                <a:latin typeface="Arial"/>
              </a:rPr>
              <a:t>↓</a:t>
            </a:r>
          </a:p>
        </p:txBody>
      </p:sp>
      <p:sp>
        <p:nvSpPr>
          <p:cNvPr id="29" name="Rounded Rectangle 28"/>
          <p:cNvSpPr/>
          <p:nvPr/>
        </p:nvSpPr>
        <p:spPr>
          <a:xfrm>
            <a:off x="9723729" y="3877056"/>
            <a:ext cx="1852574" cy="457200"/>
          </a:xfrm>
          <a:prstGeom prst="roundRect">
            <a:avLst>
              <a:gd name="adj" fmla="val 16000"/>
            </a:avLst>
          </a:prstGeom>
          <a:solidFill>
            <a:srgbClr val="E4F1F2"/>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60305" y="3877056"/>
            <a:ext cx="1779422" cy="457200"/>
          </a:xfrm>
          <a:prstGeom prst="rect">
            <a:avLst/>
          </a:prstGeom>
          <a:noFill/>
        </p:spPr>
        <p:txBody>
          <a:bodyPr wrap="square" lIns="0" rIns="0" tIns="0" bIns="0" anchor="ctr">
            <a:spAutoFit/>
          </a:bodyPr>
          <a:lstStyle/>
          <a:p>
            <a:pPr algn="ctr">
              <a:lnSpc>
                <a:spcPct val="100000"/>
              </a:lnSpc>
            </a:pPr>
            <a:r>
              <a:rPr sz="1050" b="1" i="0">
                <a:solidFill>
                  <a:srgbClr val="21295C"/>
                </a:solidFill>
                <a:latin typeface="Arial"/>
              </a:rPr>
              <a:t>legal frame</a:t>
            </a:r>
          </a:p>
        </p:txBody>
      </p:sp>
      <p:sp>
        <p:nvSpPr>
          <p:cNvPr id="31" name="Rounded Rectangle 30"/>
          <p:cNvSpPr/>
          <p:nvPr/>
        </p:nvSpPr>
        <p:spPr>
          <a:xfrm>
            <a:off x="502920" y="4626864"/>
            <a:ext cx="11201400" cy="91440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 y="4681727"/>
            <a:ext cx="10762488" cy="804672"/>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This is the answer: not «AI is good/bad», but «name the type, justify the choice, and design the harness for the cost of error».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201400" cy="512064"/>
          </a:xfrm>
          <a:prstGeom prst="rect">
            <a:avLst/>
          </a:prstGeom>
          <a:noFill/>
        </p:spPr>
        <p:txBody>
          <a:bodyPr wrap="square" lIns="0" rIns="0" tIns="0" bIns="0" anchor="t">
            <a:spAutoFit/>
          </a:bodyPr>
          <a:lstStyle/>
          <a:p>
            <a:pPr algn="l">
              <a:lnSpc>
                <a:spcPct val="110000"/>
              </a:lnSpc>
            </a:pPr>
            <a:r>
              <a:rPr sz="2100" b="1" i="0">
                <a:solidFill>
                  <a:srgbClr val="21295C"/>
                </a:solidFill>
                <a:latin typeface="Arial"/>
              </a:rPr>
              <a:t>Financial data, PII (personal data), and biometrics must not go into a public LLM.</a:t>
            </a:r>
          </a:p>
        </p:txBody>
      </p:sp>
      <p:sp>
        <p:nvSpPr>
          <p:cNvPr id="3" name="Rounded Rectangle 2"/>
          <p:cNvSpPr/>
          <p:nvPr/>
        </p:nvSpPr>
        <p:spPr>
          <a:xfrm>
            <a:off x="502920" y="969264"/>
            <a:ext cx="5486400" cy="2542032"/>
          </a:xfrm>
          <a:prstGeom prst="roundRect">
            <a:avLst>
              <a:gd name="adj" fmla="val 119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969264"/>
            <a:ext cx="5486400" cy="457200"/>
          </a:xfrm>
          <a:prstGeom prst="roundRect">
            <a:avLst>
              <a:gd name="adj" fmla="val 6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ck-white.png"/>
          <p:cNvPicPr>
            <a:picLocks noChangeAspect="1"/>
          </p:cNvPicPr>
          <p:nvPr/>
        </p:nvPicPr>
        <p:blipFill>
          <a:blip r:embed="rId2"/>
          <a:stretch>
            <a:fillRect/>
          </a:stretch>
        </p:blipFill>
        <p:spPr>
          <a:xfrm>
            <a:off x="704088" y="1033272"/>
            <a:ext cx="329184" cy="329184"/>
          </a:xfrm>
          <a:prstGeom prst="rect">
            <a:avLst/>
          </a:prstGeom>
        </p:spPr>
      </p:pic>
      <p:sp>
        <p:nvSpPr>
          <p:cNvPr id="6" name="TextBox 5"/>
          <p:cNvSpPr txBox="1"/>
          <p:nvPr/>
        </p:nvSpPr>
        <p:spPr>
          <a:xfrm>
            <a:off x="1143000" y="969264"/>
            <a:ext cx="4663440" cy="457200"/>
          </a:xfrm>
          <a:prstGeom prst="rect">
            <a:avLst/>
          </a:prstGeom>
          <a:noFill/>
        </p:spPr>
        <p:txBody>
          <a:bodyPr wrap="square" lIns="0" rIns="0" tIns="0" bIns="0" anchor="ctr">
            <a:spAutoFit/>
          </a:bodyPr>
          <a:lstStyle/>
          <a:p>
            <a:pPr algn="l">
              <a:lnSpc>
                <a:spcPct val="115000"/>
              </a:lnSpc>
            </a:pPr>
            <a:r>
              <a:rPr sz="1300" b="1" i="0">
                <a:solidFill>
                  <a:srgbClr val="FFFFFF"/>
                </a:solidFill>
                <a:latin typeface="Arial"/>
              </a:rPr>
              <a:t>(A) Data and the law: 152-FZ / PII</a:t>
            </a:r>
          </a:p>
        </p:txBody>
      </p:sp>
      <p:sp>
        <p:nvSpPr>
          <p:cNvPr id="7" name="Oval 6"/>
          <p:cNvSpPr/>
          <p:nvPr/>
        </p:nvSpPr>
        <p:spPr>
          <a:xfrm>
            <a:off x="722376" y="1581912"/>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536192"/>
            <a:ext cx="4828032" cy="640080"/>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financial data + PII + biometrics = sensitive; Federal Law 152-FZ — localization of personal data of Russian citizens, biometrics = a strict regime</a:t>
            </a:r>
          </a:p>
        </p:txBody>
      </p:sp>
      <p:sp>
        <p:nvSpPr>
          <p:cNvPr id="9" name="Oval 8"/>
          <p:cNvSpPr/>
          <p:nvPr/>
        </p:nvSpPr>
        <p:spPr>
          <a:xfrm>
            <a:off x="722376" y="2240280"/>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194560"/>
            <a:ext cx="4828032" cy="640080"/>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public cloud: the data leaves the loop · no control of retention · auditability drops</a:t>
            </a:r>
          </a:p>
        </p:txBody>
      </p:sp>
      <p:sp>
        <p:nvSpPr>
          <p:cNvPr id="11" name="Oval 10"/>
          <p:cNvSpPr/>
          <p:nvPr/>
        </p:nvSpPr>
        <p:spPr>
          <a:xfrm>
            <a:off x="722376" y="2898648"/>
            <a:ext cx="100584" cy="1005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2852928"/>
            <a:ext cx="4828032" cy="640080"/>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the criterion is by data sensitivity and regime, NOT by the strength of the model</a:t>
            </a:r>
          </a:p>
        </p:txBody>
      </p:sp>
      <p:sp>
        <p:nvSpPr>
          <p:cNvPr id="13" name="Rectangle 12"/>
          <p:cNvSpPr/>
          <p:nvPr/>
        </p:nvSpPr>
        <p:spPr>
          <a:xfrm>
            <a:off x="6053328" y="969264"/>
            <a:ext cx="54864" cy="254203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0" y="969264"/>
            <a:ext cx="5486400" cy="2542032"/>
          </a:xfrm>
          <a:prstGeom prst="roundRect">
            <a:avLst>
              <a:gd name="adj" fmla="val 119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969264"/>
            <a:ext cx="5486400" cy="457200"/>
          </a:xfrm>
          <a:prstGeom prst="roundRect">
            <a:avLst>
              <a:gd name="adj" fmla="val 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can-face-white.png"/>
          <p:cNvPicPr>
            <a:picLocks noChangeAspect="1"/>
          </p:cNvPicPr>
          <p:nvPr/>
        </p:nvPicPr>
        <p:blipFill>
          <a:blip r:embed="rId3"/>
          <a:stretch>
            <a:fillRect/>
          </a:stretch>
        </p:blipFill>
        <p:spPr>
          <a:xfrm>
            <a:off x="6419088" y="1033272"/>
            <a:ext cx="329184" cy="329184"/>
          </a:xfrm>
          <a:prstGeom prst="rect">
            <a:avLst/>
          </a:prstGeom>
        </p:spPr>
      </p:pic>
      <p:sp>
        <p:nvSpPr>
          <p:cNvPr id="17" name="TextBox 16"/>
          <p:cNvSpPr txBox="1"/>
          <p:nvPr/>
        </p:nvSpPr>
        <p:spPr>
          <a:xfrm>
            <a:off x="6858000" y="969264"/>
            <a:ext cx="4663440" cy="457200"/>
          </a:xfrm>
          <a:prstGeom prst="rect">
            <a:avLst/>
          </a:prstGeom>
          <a:noFill/>
        </p:spPr>
        <p:txBody>
          <a:bodyPr wrap="square" lIns="0" rIns="0" tIns="0" bIns="0" anchor="ctr">
            <a:spAutoFit/>
          </a:bodyPr>
          <a:lstStyle/>
          <a:p>
            <a:pPr algn="l">
              <a:lnSpc>
                <a:spcPct val="115000"/>
              </a:lnSpc>
            </a:pPr>
            <a:r>
              <a:rPr sz="1300" b="1" i="0">
                <a:solidFill>
                  <a:srgbClr val="FFFFFF"/>
                </a:solidFill>
                <a:latin typeface="Arial"/>
              </a:rPr>
              <a:t>(B) The CV layer: KYC, biometrics, hidden labor</a:t>
            </a:r>
          </a:p>
        </p:txBody>
      </p:sp>
      <p:sp>
        <p:nvSpPr>
          <p:cNvPr id="18" name="Oval 17"/>
          <p:cNvSpPr/>
          <p:nvPr/>
        </p:nvSpPr>
        <p:spPr>
          <a:xfrm>
            <a:off x="6437376" y="1581912"/>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1" y="1536192"/>
            <a:ext cx="4828032" cy="640080"/>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KYC = identifying the customer; liveness — a live human in front of the camera, not a photo/mask/deepfake (a strict regime)</a:t>
            </a:r>
          </a:p>
        </p:txBody>
      </p:sp>
      <p:sp>
        <p:nvSpPr>
          <p:cNvPr id="20" name="Oval 19"/>
          <p:cNvSpPr/>
          <p:nvPr/>
        </p:nvSpPr>
        <p:spPr>
          <a:xfrm>
            <a:off x="6437376" y="2240280"/>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6831" y="2194560"/>
            <a:ext cx="4828032" cy="640080"/>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Just Walk Out (Amazon) shut down in 2024: the «autonomous» checkout relied on &gt; 1000 reviewers in India — hidden labor</a:t>
            </a:r>
          </a:p>
        </p:txBody>
      </p:sp>
      <p:sp>
        <p:nvSpPr>
          <p:cNvPr id="22" name="Oval 21"/>
          <p:cNvSpPr/>
          <p:nvPr/>
        </p:nvSpPr>
        <p:spPr>
          <a:xfrm>
            <a:off x="6437376" y="2898648"/>
            <a:ext cx="100584" cy="100584"/>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56831" y="2852928"/>
            <a:ext cx="4828032" cy="640080"/>
          </a:xfrm>
          <a:prstGeom prst="rect">
            <a:avLst/>
          </a:prstGeom>
          <a:noFill/>
        </p:spPr>
        <p:txBody>
          <a:bodyPr wrap="square" lIns="0" rIns="0" tIns="0" bIns="0" anchor="t">
            <a:spAutoFit/>
          </a:bodyPr>
          <a:lstStyle/>
          <a:p>
            <a:pPr algn="l">
              <a:lnSpc>
                <a:spcPct val="110000"/>
              </a:lnSpc>
            </a:pPr>
            <a:r>
              <a:rPr sz="1100" b="0" i="0">
                <a:solidFill>
                  <a:srgbClr val="21295C"/>
                </a:solidFill>
                <a:latin typeface="Arial"/>
              </a:rPr>
              <a:t>Computer-vision bias is deepened in Lecture 7.</a:t>
            </a:r>
          </a:p>
        </p:txBody>
      </p:sp>
      <p:sp>
        <p:nvSpPr>
          <p:cNvPr id="24" name="Rounded Rectangle 23"/>
          <p:cNvSpPr/>
          <p:nvPr/>
        </p:nvSpPr>
        <p:spPr>
          <a:xfrm>
            <a:off x="502920" y="3621024"/>
            <a:ext cx="11201400" cy="1810512"/>
          </a:xfrm>
          <a:prstGeom prst="roundRect">
            <a:avLst>
              <a:gd name="adj" fmla="val 5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 y="3767328"/>
            <a:ext cx="3611880" cy="1517904"/>
          </a:xfrm>
          <a:prstGeom prst="rect">
            <a:avLst/>
          </a:prstGeom>
          <a:noFill/>
        </p:spPr>
        <p:txBody>
          <a:bodyPr wrap="square" lIns="0" rIns="0" tIns="0" bIns="0" anchor="ctr">
            <a:spAutoFit/>
          </a:bodyPr>
          <a:lstStyle/>
          <a:p>
            <a:pPr algn="l">
              <a:lnSpc>
                <a:spcPct val="116000"/>
              </a:lnSpc>
            </a:pPr>
            <a:r>
              <a:rPr sz="1400" b="1" i="0">
                <a:solidFill>
                  <a:srgbClr val="21295C"/>
                </a:solidFill>
                <a:latin typeface="Arial"/>
              </a:rPr>
              <a:t>Biometrics are irreversibly
compromised on a
leak — the same
logic «irreversible →
a strict gate» that
ran through the whole
lecture.</a:t>
            </a:r>
          </a:p>
        </p:txBody>
      </p:sp>
      <p:pic>
        <p:nvPicPr>
          <p:cNvPr id="26" name="Picture 25" descr="d31-password-vs-face.png"/>
          <p:cNvPicPr>
            <a:picLocks noChangeAspect="1"/>
          </p:cNvPicPr>
          <p:nvPr/>
        </p:nvPicPr>
        <p:blipFill>
          <a:blip r:embed="rId4"/>
          <a:stretch>
            <a:fillRect/>
          </a:stretch>
        </p:blipFill>
        <p:spPr>
          <a:xfrm>
            <a:off x="4789518" y="3749039"/>
            <a:ext cx="6377243" cy="1554480"/>
          </a:xfrm>
          <a:prstGeom prst="rect">
            <a:avLst/>
          </a:prstGeom>
        </p:spPr>
      </p:pic>
      <p:sp>
        <p:nvSpPr>
          <p:cNvPr id="27" name="Rounded Rectangle 26"/>
          <p:cNvSpPr/>
          <p:nvPr/>
        </p:nvSpPr>
        <p:spPr>
          <a:xfrm>
            <a:off x="502920" y="5559552"/>
            <a:ext cx="1120140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 y="5614416"/>
            <a:ext cx="10762488" cy="603504"/>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«Fully autonomous» in marketing is a hypothesis to be tested, not a fact (Amazon disputed the scale).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02920" y="411480"/>
            <a:ext cx="11201400" cy="2468880"/>
          </a:xfrm>
          <a:prstGeom prst="roundRect">
            <a:avLst>
              <a:gd name="adj" fmla="val 1234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0664" y="539496"/>
            <a:ext cx="10725912" cy="274320"/>
          </a:xfrm>
          <a:prstGeom prst="rect">
            <a:avLst/>
          </a:prstGeom>
          <a:noFill/>
        </p:spPr>
        <p:txBody>
          <a:bodyPr wrap="square" lIns="0" rIns="0" tIns="0" bIns="0" anchor="t">
            <a:spAutoFit/>
          </a:bodyPr>
          <a:lstStyle/>
          <a:p>
            <a:pPr algn="l">
              <a:lnSpc>
                <a:spcPct val="115000"/>
              </a:lnSpc>
            </a:pPr>
            <a:r>
              <a:rPr sz="1400" b="1" i="0">
                <a:solidFill>
                  <a:srgbClr val="065A82"/>
                </a:solidFill>
                <a:latin typeface="Arial"/>
              </a:rPr>
              <a:t>Before applying AI to a financial / retail task:</a:t>
            </a:r>
          </a:p>
        </p:txBody>
      </p:sp>
      <p:sp>
        <p:nvSpPr>
          <p:cNvPr id="4" name="TextBox 3"/>
          <p:cNvSpPr txBox="1"/>
          <p:nvPr/>
        </p:nvSpPr>
        <p:spPr>
          <a:xfrm>
            <a:off x="740664" y="886968"/>
            <a:ext cx="5216652" cy="438912"/>
          </a:xfrm>
          <a:prstGeom prst="rect">
            <a:avLst/>
          </a:prstGeom>
          <a:noFill/>
        </p:spPr>
        <p:txBody>
          <a:bodyPr wrap="square" lIns="0" rIns="0" tIns="0" bIns="0" anchor="ctr">
            <a:spAutoFit/>
          </a:bodyPr>
          <a:lstStyle/>
          <a:p>
            <a:pPr algn="l">
              <a:lnSpc>
                <a:spcPct val="100000"/>
              </a:lnSpc>
            </a:pPr>
            <a:r>
              <a:rPr sz="1200" b="0" i="0">
                <a:solidFill>
                  <a:srgbClr val="21295C"/>
                </a:solidFill>
                <a:latin typeface="Arial"/>
              </a:rPr>
              <a:t>1. Which type of AI does the structure of the task dictate?</a:t>
            </a:r>
          </a:p>
        </p:txBody>
      </p:sp>
      <p:sp>
        <p:nvSpPr>
          <p:cNvPr id="5" name="TextBox 4"/>
          <p:cNvSpPr txBox="1"/>
          <p:nvPr/>
        </p:nvSpPr>
        <p:spPr>
          <a:xfrm>
            <a:off x="6103620" y="886968"/>
            <a:ext cx="5216652" cy="438912"/>
          </a:xfrm>
          <a:prstGeom prst="rect">
            <a:avLst/>
          </a:prstGeom>
          <a:noFill/>
        </p:spPr>
        <p:txBody>
          <a:bodyPr wrap="square" lIns="0" rIns="0" tIns="0" bIns="0" anchor="ctr">
            <a:spAutoFit/>
          </a:bodyPr>
          <a:lstStyle/>
          <a:p>
            <a:pPr algn="l">
              <a:lnSpc>
                <a:spcPct val="100000"/>
              </a:lnSpc>
            </a:pPr>
            <a:r>
              <a:rPr sz="1200" b="0" i="0">
                <a:solidFill>
                  <a:srgbClr val="21295C"/>
                </a:solidFill>
                <a:latin typeface="Arial"/>
              </a:rPr>
              <a:t>2. Why NOT an LLM here? (≥1 structural reason)</a:t>
            </a:r>
          </a:p>
        </p:txBody>
      </p:sp>
      <p:sp>
        <p:nvSpPr>
          <p:cNvPr id="6" name="TextBox 5"/>
          <p:cNvSpPr txBox="1"/>
          <p:nvPr/>
        </p:nvSpPr>
        <p:spPr>
          <a:xfrm>
            <a:off x="740664" y="1362456"/>
            <a:ext cx="5216652" cy="438912"/>
          </a:xfrm>
          <a:prstGeom prst="rect">
            <a:avLst/>
          </a:prstGeom>
          <a:noFill/>
        </p:spPr>
        <p:txBody>
          <a:bodyPr wrap="square" lIns="0" rIns="0" tIns="0" bIns="0" anchor="ctr">
            <a:spAutoFit/>
          </a:bodyPr>
          <a:lstStyle/>
          <a:p>
            <a:pPr algn="l">
              <a:lnSpc>
                <a:spcPct val="100000"/>
              </a:lnSpc>
            </a:pPr>
            <a:r>
              <a:rPr sz="1200" b="0" i="0">
                <a:solidFill>
                  <a:srgbClr val="21295C"/>
                </a:solidFill>
                <a:latin typeface="Arial"/>
              </a:rPr>
              <a:t>3. Can it be solved without AI at all? (rule → code)</a:t>
            </a:r>
          </a:p>
        </p:txBody>
      </p:sp>
      <p:sp>
        <p:nvSpPr>
          <p:cNvPr id="7" name="TextBox 6"/>
          <p:cNvSpPr txBox="1"/>
          <p:nvPr/>
        </p:nvSpPr>
        <p:spPr>
          <a:xfrm>
            <a:off x="6103620" y="1362456"/>
            <a:ext cx="5216652" cy="438912"/>
          </a:xfrm>
          <a:prstGeom prst="rect">
            <a:avLst/>
          </a:prstGeom>
          <a:noFill/>
        </p:spPr>
        <p:txBody>
          <a:bodyPr wrap="square" lIns="0" rIns="0" tIns="0" bIns="0" anchor="ctr">
            <a:spAutoFit/>
          </a:bodyPr>
          <a:lstStyle/>
          <a:p>
            <a:pPr algn="l">
              <a:lnSpc>
                <a:spcPct val="100000"/>
              </a:lnSpc>
            </a:pPr>
            <a:r>
              <a:rPr sz="1200" b="0" i="0">
                <a:solidFill>
                  <a:srgbClr val="21295C"/>
                </a:solidFill>
                <a:latin typeface="Arial"/>
              </a:rPr>
              <a:t>4. Is the action at the output reversible? (irreversible → gate)</a:t>
            </a:r>
          </a:p>
        </p:txBody>
      </p:sp>
      <p:sp>
        <p:nvSpPr>
          <p:cNvPr id="8" name="TextBox 7"/>
          <p:cNvSpPr txBox="1"/>
          <p:nvPr/>
        </p:nvSpPr>
        <p:spPr>
          <a:xfrm>
            <a:off x="740664" y="1837943"/>
            <a:ext cx="5216652" cy="438912"/>
          </a:xfrm>
          <a:prstGeom prst="rect">
            <a:avLst/>
          </a:prstGeom>
          <a:noFill/>
        </p:spPr>
        <p:txBody>
          <a:bodyPr wrap="square" lIns="0" rIns="0" tIns="0" bIns="0" anchor="ctr">
            <a:spAutoFit/>
          </a:bodyPr>
          <a:lstStyle/>
          <a:p>
            <a:pPr algn="l">
              <a:lnSpc>
                <a:spcPct val="100000"/>
              </a:lnSpc>
            </a:pPr>
            <a:r>
              <a:rPr sz="1200" b="0" i="0">
                <a:solidFill>
                  <a:srgbClr val="21295C"/>
                </a:solidFill>
                <a:latin typeface="Arial"/>
              </a:rPr>
              <a:t>5. How to verify the fact? (class of error + principle)</a:t>
            </a:r>
          </a:p>
        </p:txBody>
      </p:sp>
      <p:sp>
        <p:nvSpPr>
          <p:cNvPr id="9" name="TextBox 8"/>
          <p:cNvSpPr txBox="1"/>
          <p:nvPr/>
        </p:nvSpPr>
        <p:spPr>
          <a:xfrm>
            <a:off x="6103620" y="1837943"/>
            <a:ext cx="5216652" cy="438912"/>
          </a:xfrm>
          <a:prstGeom prst="rect">
            <a:avLst/>
          </a:prstGeom>
          <a:noFill/>
        </p:spPr>
        <p:txBody>
          <a:bodyPr wrap="square" lIns="0" rIns="0" tIns="0" bIns="0" anchor="ctr">
            <a:spAutoFit/>
          </a:bodyPr>
          <a:lstStyle/>
          <a:p>
            <a:pPr algn="l">
              <a:lnSpc>
                <a:spcPct val="100000"/>
              </a:lnSpc>
            </a:pPr>
            <a:r>
              <a:rPr sz="1200" b="0" i="0">
                <a:solidFill>
                  <a:srgbClr val="21295C"/>
                </a:solidFill>
                <a:latin typeface="Arial"/>
              </a:rPr>
              <a:t>6. Is the decision regulated? (reason codes / appeal)</a:t>
            </a:r>
          </a:p>
        </p:txBody>
      </p:sp>
      <p:sp>
        <p:nvSpPr>
          <p:cNvPr id="10" name="TextBox 9"/>
          <p:cNvSpPr txBox="1"/>
          <p:nvPr/>
        </p:nvSpPr>
        <p:spPr>
          <a:xfrm>
            <a:off x="740664" y="2313432"/>
            <a:ext cx="5216652" cy="438912"/>
          </a:xfrm>
          <a:prstGeom prst="rect">
            <a:avLst/>
          </a:prstGeom>
          <a:noFill/>
        </p:spPr>
        <p:txBody>
          <a:bodyPr wrap="square" lIns="0" rIns="0" tIns="0" bIns="0" anchor="ctr">
            <a:spAutoFit/>
          </a:bodyPr>
          <a:lstStyle/>
          <a:p>
            <a:pPr algn="l">
              <a:lnSpc>
                <a:spcPct val="100000"/>
              </a:lnSpc>
            </a:pPr>
            <a:r>
              <a:rPr sz="1200" b="0" i="0">
                <a:solidFill>
                  <a:srgbClr val="21295C"/>
                </a:solidFill>
                <a:latin typeface="Arial"/>
              </a:rPr>
              <a:t>7. Who is liable and where is a human mandatory?</a:t>
            </a:r>
          </a:p>
        </p:txBody>
      </p:sp>
      <p:sp>
        <p:nvSpPr>
          <p:cNvPr id="11" name="TextBox 10"/>
          <p:cNvSpPr txBox="1"/>
          <p:nvPr/>
        </p:nvSpPr>
        <p:spPr>
          <a:xfrm>
            <a:off x="6103620" y="2313432"/>
            <a:ext cx="5216652" cy="438912"/>
          </a:xfrm>
          <a:prstGeom prst="rect">
            <a:avLst/>
          </a:prstGeom>
          <a:noFill/>
        </p:spPr>
        <p:txBody>
          <a:bodyPr wrap="square" lIns="0" rIns="0" tIns="0" bIns="0" anchor="ctr">
            <a:spAutoFit/>
          </a:bodyPr>
          <a:lstStyle/>
          <a:p>
            <a:pPr algn="l">
              <a:lnSpc>
                <a:spcPct val="100000"/>
              </a:lnSpc>
            </a:pPr>
            <a:r>
              <a:rPr sz="1200" b="0" i="0">
                <a:solidFill>
                  <a:srgbClr val="21295C"/>
                </a:solidFill>
                <a:latin typeface="Arial"/>
              </a:rPr>
              <a:t>8. Is there PII / financial data / biometrics? → not into an LLM; 152-FZ</a:t>
            </a:r>
          </a:p>
        </p:txBody>
      </p:sp>
      <p:sp>
        <p:nvSpPr>
          <p:cNvPr id="12" name="Rounded Rectangle 11"/>
          <p:cNvSpPr/>
          <p:nvPr/>
        </p:nvSpPr>
        <p:spPr>
          <a:xfrm>
            <a:off x="502920" y="3017520"/>
            <a:ext cx="11201400" cy="1188720"/>
          </a:xfrm>
          <a:prstGeom prst="roundRect">
            <a:avLst>
              <a:gd name="adj" fmla="val 2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127248"/>
            <a:ext cx="10652760" cy="310896"/>
          </a:xfrm>
          <a:prstGeom prst="rect">
            <a:avLst/>
          </a:prstGeom>
          <a:noFill/>
        </p:spPr>
        <p:txBody>
          <a:bodyPr wrap="square" lIns="0" rIns="0" tIns="0" bIns="0" anchor="t">
            <a:spAutoFit/>
          </a:bodyPr>
          <a:lstStyle/>
          <a:p>
            <a:pPr algn="l">
              <a:lnSpc>
                <a:spcPct val="115000"/>
              </a:lnSpc>
            </a:pPr>
            <a:r>
              <a:rPr sz="1400" b="1" i="0">
                <a:solidFill>
                  <a:srgbClr val="21295C"/>
                </a:solidFill>
                <a:latin typeface="Arial"/>
              </a:rPr>
              <a:t>Assignment — Seminar 5 «Fact-checking AI on financial data»</a:t>
            </a:r>
          </a:p>
        </p:txBody>
      </p:sp>
      <p:sp>
        <p:nvSpPr>
          <p:cNvPr id="14" name="TextBox 13"/>
          <p:cNvSpPr txBox="1"/>
          <p:nvPr/>
        </p:nvSpPr>
        <p:spPr>
          <a:xfrm>
            <a:off x="777240" y="3456432"/>
            <a:ext cx="10652760" cy="658368"/>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In ~30 min, teams verify 5 real claims against primary sources themselves (Bank of Russia / VCIOM), marking them true/partial/false. The lecture teaches recognizing the class (Understand); the seminar — verifying independently (Apply).</a:t>
            </a:r>
          </a:p>
        </p:txBody>
      </p:sp>
      <p:sp>
        <p:nvSpPr>
          <p:cNvPr id="15" name="TextBox 14"/>
          <p:cNvSpPr txBox="1"/>
          <p:nvPr/>
        </p:nvSpPr>
        <p:spPr>
          <a:xfrm>
            <a:off x="502920" y="4370832"/>
            <a:ext cx="11201400" cy="1325880"/>
          </a:xfrm>
          <a:prstGeom prst="rect">
            <a:avLst/>
          </a:prstGeom>
          <a:noFill/>
        </p:spPr>
        <p:txBody>
          <a:bodyPr wrap="square" lIns="0" rIns="0" tIns="0" bIns="0" anchor="ctr">
            <a:spAutoFit/>
          </a:bodyPr>
          <a:lstStyle/>
          <a:p>
            <a:pPr algn="ctr">
              <a:lnSpc>
                <a:spcPct val="100000"/>
              </a:lnSpc>
            </a:pPr>
            <a:r>
              <a:rPr sz="9200" b="1" i="0">
                <a:solidFill>
                  <a:srgbClr val="21295C"/>
                </a:solidFill>
                <a:latin typeface="Arial"/>
              </a:rPr>
              <a:t>Questions</a:t>
            </a:r>
          </a:p>
        </p:txBody>
      </p:sp>
      <p:sp>
        <p:nvSpPr>
          <p:cNvPr id="16" name="TextBox 15"/>
          <p:cNvSpPr txBox="1"/>
          <p:nvPr/>
        </p:nvSpPr>
        <p:spPr>
          <a:xfrm>
            <a:off x="502920" y="5760720"/>
            <a:ext cx="11201400" cy="457200"/>
          </a:xfrm>
          <a:prstGeom prst="rect">
            <a:avLst/>
          </a:prstGeom>
          <a:noFill/>
        </p:spPr>
        <p:txBody>
          <a:bodyPr wrap="square" lIns="0" rIns="0" tIns="0" bIns="0" anchor="ctr">
            <a:spAutoFit/>
          </a:bodyPr>
          <a:lstStyle/>
          <a:p>
            <a:pPr algn="ctr">
              <a:lnSpc>
                <a:spcPct val="115000"/>
              </a:lnSpc>
            </a:pPr>
            <a:r>
              <a:rPr sz="1500" b="0" i="1">
                <a:solidFill>
                  <a:srgbClr val="1C7293"/>
                </a:solidFill>
                <a:latin typeface="Arial"/>
              </a:rPr>
              <a:t>The palette of types — a lens for all the industry lectures ahead.  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