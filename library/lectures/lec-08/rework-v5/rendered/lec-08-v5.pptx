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там и прогнозы</a:t>
            </a:r>
          </a:p>
          <a:p>
            <a:r>
              <a:t>занятости с разбором того, какие из них не подтвердились прямой проверкой первоисточников, и</a:t>
            </a:r>
          </a:p>
          <a:p>
            <a:r>
              <a:t>правовая картина по странам в подробностях. Причина, по которой этого нет на кадрах,</a:t>
            </a:r>
          </a:p>
          <a:p>
            <a:r>
              <a:t>арифметическая: пласт цены занимает примерно пятую часть вечера, а правовой ландшафт по странам</a:t>
            </a:r>
          </a:p>
          <a:p>
            <a:r>
              <a:t>в такой объём не укладывается, не вытеснив разговор о возможностях. Поэтому право здесь</a:t>
            </a:r>
          </a:p>
          <a:p>
            <a:r>
              <a:t>предъявлено двумя кадрами — одним подробным разбором судебного решения и одним списком из</a:t>
            </a:r>
          </a:p>
          <a:p>
            <a:r>
              <a:t>восьми строк, где у каждой строки стоит статус, — 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а список снятого лежит в главе рабочим примером того, сколько именно уходит в</a:t>
            </a:r>
          </a:p>
          <a:p>
            <a:r>
              <a:t>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ничего не сообщает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причина практическая: сто концептов стоят</a:t>
            </a:r>
          </a:p>
          <a:p>
            <a:r>
              <a:t>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и дело тут в арифметике ошибки: ошибка здесь дёшево</a:t>
            </a:r>
          </a:p>
          <a:p>
            <a:r>
              <a:t>исправляется и дорого обходится, если её пропустить дальше по циклу.</a:t>
            </a:r>
          </a:p>
          <a:p>
            <a:r>
              <a:t/>
            </a:r>
          </a:p>
          <a:p>
            <a:r>
              <a:t>И отсюда наблюдение, из которого вырастет весь раздел. Вся экономика этой стадии держится на</a:t>
            </a:r>
          </a:p>
          <a:p>
            <a:r>
              <a:t>одном отношении: сколько вариантов мы можем позволить себе посмотреть, прежде чем выбрать</a:t>
            </a:r>
          </a:p>
          <a:p>
            <a:r>
              <a:t>один. До 2022 года это отношение задавалось ценой одного варианта, и потому было небольшим —</a:t>
            </a:r>
          </a:p>
          <a:p>
            <a:r>
              <a:t>три-четыре эскиза, редко больше. Генеративная модель ударила по этой модальности первой и</a:t>
            </a:r>
          </a:p>
          <a:p>
            <a:r>
              <a:t>сильнее всего не потому, что она хорошо рисует, а потому, что она изменила ровно ту величину,</a:t>
            </a:r>
          </a:p>
          <a:p>
            <a:r>
              <a:t>вокруг которой стадия была устроена. Стадия, которая раньше была самой экономной по числу</a:t>
            </a:r>
          </a:p>
          <a:p>
            <a:r>
              <a:t>проб во всём производстве, стала самой щедрой, — и это перестроило не инструмент, а порядок</a:t>
            </a:r>
          </a:p>
          <a:p>
            <a:r>
              <a:t>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Выбор базы делается внутри самой классики, и он меняет любой будущий разрыв на два порядка: от того, какую из пяти ставок взяли за точку отсчёта, зависит, выйдет ли «в семьдесят раз дешевле» или «в четырнадцать тысяч».</a:t>
            </a:r>
          </a:p>
          <a:p>
            <a:r>
              <a:t/>
            </a:r>
          </a:p>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историческим</a:t>
            </a:r>
          </a:p>
          <a:p>
            <a:r>
              <a:t>контрапунктом: обвал цены единицы изображения на три порядка в этой отрасли уже происходил один</a:t>
            </a:r>
          </a:p>
          <a:p>
            <a:r>
              <a:t>раз, двадцать лет назад, и рынок после него уцелел, разделившись на «дёшево и много» и «дорого</a:t>
            </a:r>
          </a:p>
          <a:p>
            <a:r>
              <a:t>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готовое из стоковой библиотеки — интереснее остальных, потому что</a:t>
            </a:r>
          </a:p>
          <a:p>
            <a:r>
              <a:t>ломается изнутри, без всякого участия генеративных моделей. Розничная лицензия на одно</a:t>
            </a:r>
          </a:p>
          <a:p>
            <a:r>
              <a:t>изображение стоит сто тридцать — четыреста девяносто девять долларов. По подписке, оптом, то же</a:t>
            </a:r>
          </a:p>
          <a:p>
            <a:r>
              <a:t>самое изображение обходится примерно в два доллара пятьдесят центов. Это один товар, один</a:t>
            </a:r>
          </a:p>
          <a:p>
            <a:r>
              <a:t>поставщик, один прейскурант — и разница между двумя строками в нём составляет от пятидесяти до</a:t>
            </a:r>
          </a:p>
          <a:p>
            <a:r>
              <a:t>двухсот раз.</a:t>
            </a:r>
          </a:p>
          <a:p>
            <a:r>
              <a:t/>
            </a:r>
          </a:p>
          <a:p>
            <a:r>
              <a:t>Разница эта не аномалия и не ошибка счёта: это два разных способа покупать. Розницу берут</a:t>
            </a:r>
          </a:p>
          <a:p>
            <a:r>
              <a:t>разово, под конкретный материал, когда нужна именно эта фотография и нужна сегодня. Опт берут</a:t>
            </a:r>
          </a:p>
          <a:p>
            <a:r>
              <a:t>потоком, под поток задач, когда заранее известно, что в месяц уйдёт несколько десятков</a:t>
            </a:r>
          </a:p>
          <a:p>
            <a:r>
              <a:t>изображений и какие именно — неважно. Разные покупатели, разные договоры, разные отделы внутри</a:t>
            </a:r>
          </a:p>
          <a:p>
            <a:r>
              <a:t>покупающей компании.</a:t>
            </a:r>
          </a:p>
          <a:p>
            <a:r>
              <a:t/>
            </a:r>
          </a:p>
          <a:p>
            <a:r>
              <a:t>Практическое следствие прямое, и уносить из раздела стоит именно его. Любое сравнение вида «во</a:t>
            </a:r>
          </a:p>
          <a:p>
            <a:r>
              <a:t>столько-то раз дешевле» зависит от того, какую из этих двух цен взяли базой, и зависит на два</a:t>
            </a:r>
          </a:p>
          <a:p>
            <a:r>
              <a:t>порядка. Человек, которому нужен определённый вывод, получит любой, просто выбрав удобную</a:t>
            </a:r>
          </a:p>
          <a:p>
            <a:r>
              <a:t>строку прейскуранта: взяв розницу, он покажет разрыв в четырнадцать тысяч раз, взяв опт — в</a:t>
            </a:r>
          </a:p>
          <a:p>
            <a:r>
              <a:t>семьдесят три. Оба числа верны арифметически, и оба посчитаны от настоящего тарифа настоящего</a:t>
            </a:r>
          </a:p>
          <a:p>
            <a:r>
              <a:t>поставщика. Ошибка в такой паре — умолчание о том, что база была выбрана.</a:t>
            </a:r>
          </a:p>
          <a:p>
            <a:r>
              <a:t/>
            </a:r>
          </a:p>
          <a:p>
            <a:r>
              <a:t>Отсюда привычка, которую стоит завести до того, как читать любой отраслевой обзор: услышав «в</a:t>
            </a:r>
          </a:p>
          <a:p>
            <a:r>
              <a:t>тысячу раз дешевле», спрашивайте не про генерацию, а про то, какую именно классику взяли базой.</a:t>
            </a:r>
          </a:p>
          <a:p>
            <a:r>
              <a:t>Вопрос короткий, задаётся за секунду и отсеивает большинство громких сравнений — в них база либо</a:t>
            </a:r>
          </a:p>
          <a:p>
            <a:r>
              <a:t>не названа вовсе, либо названа общим словом вроде «стоковое изображение», за которым, как теперь</a:t>
            </a:r>
          </a:p>
          <a:p>
            <a:r>
              <a:t>видно, скрываются два тарифа, отличающиеся на два порядка.</a:t>
            </a:r>
          </a:p>
          <a:p>
            <a:r>
              <a:t/>
            </a:r>
          </a:p>
          <a:p>
            <a:r>
              <a:t>То же самое правило работает и в обратную сторону, и это важнее. Собирая собственный счёт,</a:t>
            </a:r>
          </a:p>
          <a:p>
            <a:r>
              <a:t>назовите базу первым: не «генерация дешевле в столько-то раз», а «мы сравниваем с оптовой</a:t>
            </a:r>
          </a:p>
          <a:p>
            <a:r>
              <a:t>подпиской, по которой закупали в прошлом году, — вот её тариф, вот наш объём». Тогда число</a:t>
            </a:r>
          </a:p>
          <a:p>
            <a:r>
              <a:t>читается, проверяется и переживает спор; без названной базы оно не переживает первого же</a:t>
            </a:r>
          </a:p>
          <a:p>
            <a:r>
              <a:t>вопроса.</a:t>
            </a:r>
          </a:p>
          <a:p>
            <a:r>
              <a:t/>
            </a:r>
          </a:p>
          <a:p>
            <a:r>
              <a:t>И последнее — про то, что этот разброс говорит о самой отрасли. Два порядка между розницей и</a:t>
            </a:r>
          </a:p>
          <a:p>
            <a:r>
              <a:t>оптом существовали задолго до всяких моделей и держались на том, что у изображения нет</a:t>
            </a:r>
          </a:p>
          <a:p>
            <a:r>
              <a:t>себестоимости копии: вторая продажа той же фотографии стоит поставщику ноль. Ровно это свойство</a:t>
            </a:r>
          </a:p>
          <a:p>
            <a:r>
              <a:t>и сделало возможным микросток двухтысячных, а потом — обвал, который разбирается дальше в</a:t>
            </a:r>
          </a:p>
          <a:p>
            <a:r>
              <a:t>разделе. Когда себестоимость копии равна нулю, цена определяется не издержками, а тем, во</a:t>
            </a:r>
          </a:p>
          <a:p>
            <a:r>
              <a:t>сколько покупателю обходится альтернатива. Генерация изменила именно альтернативу, и поэтому</a:t>
            </a:r>
          </a:p>
          <a:p>
            <a:r>
              <a:t>удар пришёлся по всему прейскуранту сразу.</a:t>
            </a:r>
          </a:p>
          <a:p>
            <a:r>
              <a:t/>
            </a:r>
          </a:p>
          <a:p>
            <a:r>
              <a:t>Полезно заодно знать, откуда берётся сама вилка в пятьдесят—двести раз, а не только её величина.</a:t>
            </a:r>
          </a:p>
          <a:p>
            <a:r>
              <a:t>Розничная цена платится за право использовать снимок в одном конкретном материале, часто с</a:t>
            </a:r>
          </a:p>
          <a:p>
            <a:r>
              <a:t>расширенными условиями: тираж, территория, срок, возможность перепродажи готового макета. Оптовая</a:t>
            </a:r>
          </a:p>
          <a:p>
            <a:r>
              <a:t>подписка продаёт то же изображение на стандартных условиях и на поток, и покупатель заранее</a:t>
            </a:r>
          </a:p>
          <a:p>
            <a:r>
              <a:t>соглашается, что снимок увидят на сотне других сайтов. То есть платят здесь за эксклюзивность и</a:t>
            </a:r>
          </a:p>
          <a:p>
            <a:r>
              <a:t>объём прав, а файл в обеих строках один и тот же. Это стоит произнести вслух, потому что при</a:t>
            </a:r>
          </a:p>
          <a:p>
            <a:r>
              <a:t>сравнении с генерацией объём прав обычно вообще не упоминают, хотя именно он и отличает две</a:t>
            </a:r>
          </a:p>
          <a:p>
            <a:r>
              <a:t>строки прейскуранта друг от друга сильнее, чем что-либо ещё.</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от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только заметна она меньше.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 В</a:t>
            </a:r>
          </a:p>
          <a:p>
            <a:r>
              <a:t>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в одном из этих расчётов нет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переводится в топливо и в выбросы.</a:t>
            </a:r>
          </a:p>
          <a:p>
            <a:r>
              <a:t>Цена ошибки поэтому считается не в рублях за эскиз, а в тоннах топлива за срок службы машины, и</a:t>
            </a:r>
          </a:p>
          <a:p>
            <a:r>
              <a:t>это первая причина, по которой случай вообще попал в лекцию про творческое производство: он</a:t>
            </a:r>
          </a:p>
          <a:p>
            <a:r>
              <a:t>показывает, как выглядит та же форма разбора, когда единица измерения взята из инженерии.</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a:t>
            </a:r>
          </a:p>
          <a:p>
            <a:r>
              <a:t>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 Это</a:t>
            </a:r>
          </a:p>
          <a:p>
            <a:r>
              <a:t>и есть предъявляемая подмена, названная одной строкой. Стоит заметить и обратное: порождающее</a:t>
            </a:r>
          </a:p>
          <a:p>
            <a:r>
              <a:t>проектирование не стало от этого слабее. Оно действительно дало сорок пять процентов массы, и</a:t>
            </a:r>
          </a:p>
          <a:p>
            <a:r>
              <a:t>дало их средствами, которые инженер в состоянии проверить расчётом, — именно эта проверяемость</a:t>
            </a:r>
          </a:p>
          <a:p>
            <a:r>
              <a:t>и делает случай удобным образцом того, как читается всякий отраслевой обзор.</a:t>
            </a:r>
          </a:p>
          <a:p>
            <a:r>
              <a:t/>
            </a:r>
          </a:p>
          <a:p>
            <a:r>
              <a:t>Связка, которой на самом кадре места не нашлось, стоит того, чтобы её произнести: критерий</a:t>
            </a:r>
          </a:p>
          <a:p>
            <a:r>
              <a:t>отбора здесь задан физикой — держать нагрузку при минимальной массе — условие проверяемое, а не</a:t>
            </a:r>
          </a:p>
          <a:p>
            <a:r>
              <a:t>вкусовое суждение. Именно поэтому альтернатива ровно одна и посчитана в той же единице, и</a:t>
            </a:r>
          </a:p>
          <a:p>
            <a:r>
              <a:t>именно поэтому разбор переворачивается на третьем шаге. Следующий кадр разбирает условие отбора</a:t>
            </a:r>
          </a:p>
          <a:p>
            <a:r>
              <a:t>отдельно, потому что применяется оно ко всем случаям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пятый шаг предыдущего разбора, вынесенный отдельно, потому что он применяется не к одному</a:t>
            </a:r>
          </a:p>
          <a:p>
            <a:r>
              <a:t>случаю, а ко всем. Условие простое: изменение должно быть вызвано именно обученной моделью.</a:t>
            </a:r>
          </a:p>
          <a:p>
            <a:r>
              <a:t>Уберите модель мысленно — если остальное продолжает работать, случай не засчитывается.</a:t>
            </a:r>
          </a:p>
          <a:p>
            <a:r>
              <a:t/>
            </a:r>
          </a:p>
          <a:p>
            <a:r>
              <a:t>Проверим на перегородке. Уберите обученную модель — перебор по критерию остаётся, расчёт</a:t>
            </a:r>
          </a:p>
          <a:p>
            <a:r>
              <a:t>прочности остаётся, печать из сплава остаётся, выигрыш в сорок пять процентов массы остаётся.</a:t>
            </a:r>
          </a:p>
          <a:p>
            <a:r>
              <a:t>Не остаётся ничего, что исчезло бы вместе с моделью, потому что модели в контуре не было.</a:t>
            </a:r>
          </a:p>
          <a:p>
            <a:r>
              <a:t>Условие отбора не проходит, и это не придирка к словам: вся экономия здесь произведена</a:t>
            </a:r>
          </a:p>
          <a:p>
            <a:r>
              <a:t>оптимизацией под заданный критерий, то есть инструментом, который существовал задолго до</a:t>
            </a:r>
          </a:p>
          <a:p>
            <a:r>
              <a:t>генеративных моделей и работает по понятному человеку правилу.</a:t>
            </a:r>
          </a:p>
          <a:p>
            <a:r>
              <a:t/>
            </a:r>
          </a:p>
          <a:p>
            <a:r>
              <a:t>Теперь проверим на соседнем разборе, где редакция дообучала модель на сорока картинках.</a:t>
            </a:r>
          </a:p>
          <a:p>
            <a:r>
              <a:t>Уберите обученную модель — останутся сорок картинок и ноутбук, но сорока шести уникальных</a:t>
            </a:r>
          </a:p>
          <a:p>
            <a:r>
              <a:t>плакатов за февраль не останется. Останется ровно то, что было до неё: дизайнер, срок и</a:t>
            </a:r>
          </a:p>
          <a:p>
            <a:r>
              <a:t>стоимость, которых публикация, правда, не называет. Условие отбора проходит, и случай</a:t>
            </a:r>
          </a:p>
          <a:p>
            <a:r>
              <a:t>засчитывается — даже при том, что классическая сторона в нём не посчитана.</a:t>
            </a:r>
          </a:p>
          <a:p>
            <a:r>
              <a:t/>
            </a:r>
          </a:p>
          <a:p>
            <a:r>
              <a:t>Сравнение двух проверок рядом даёт то, ради чего условие вообще заведено. Оно отделяет случаи,</a:t>
            </a:r>
          </a:p>
          <a:p>
            <a:r>
              <a:t>где модель что-то изменила, от случаев, где она просто присутствовала в рассказе. Третий класс,</a:t>
            </a:r>
          </a:p>
          <a:p>
            <a:r>
              <a:t>самый частый в отраслевых обзорах, — случаи, где модели не было вовсе, а слово «искусственный</a:t>
            </a:r>
          </a:p>
          <a:p>
            <a:r>
              <a:t>интеллект» появилось в пересказе. Перегородка Airbus попала во второй; обзор, который про неё</a:t>
            </a:r>
          </a:p>
          <a:p>
            <a:r>
              <a:t>пишет «ИИ спроектировал деталь самолёта», создал третий.</a:t>
            </a:r>
          </a:p>
          <a:p>
            <a:r>
              <a:t/>
            </a:r>
          </a:p>
          <a:p>
            <a:r>
              <a:t>Что уехало вправо, и почему разбор стоит именно в разделе про изображение. Переехал критерий</a:t>
            </a:r>
          </a:p>
          <a:p>
            <a:r>
              <a:t>отбора, и в этом урок. Там, где критерий задан физикой, спора об авторстве не возникает вовсе:</a:t>
            </a:r>
          </a:p>
          <a:p>
            <a:r>
              <a:t>никто не спрашивает, кому принадлежит перегородка, потому что ответ «той, что весит тридцать</a:t>
            </a:r>
          </a:p>
          <a:p>
            <a:r>
              <a:t>пять килограммов и проходит расчёт» устраивает всех. Спор появляется ровно там, где критерий</a:t>
            </a:r>
          </a:p>
          <a:p>
            <a:r>
              <a:t>вкусовой, — и весь остальной вечер именно про это. Концепт, иллюстрация, ключевой кадр, голос,</a:t>
            </a:r>
          </a:p>
          <a:p>
            <a:r>
              <a:t>лицо, музыкальный трек: во всех этих задачах нет проверяемого предиката, по которому можно</a:t>
            </a:r>
          </a:p>
          <a:p>
            <a:r>
              <a:t>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она занимает одну минуту и не требует ни доступа к системе, ни разговора с</a:t>
            </a:r>
          </a:p>
          <a:p>
            <a:r>
              <a:t>поставщиком, — а отсеивает она ту самую долю отраслевых обзоров, на которой строятся неверные</a:t>
            </a:r>
          </a:p>
          <a:p>
            <a:r>
              <a:t>решения о собственном проекте. И работает она в обе стороны: там, где после мысленного удаления</a:t>
            </a:r>
          </a:p>
          <a:p>
            <a:r>
              <a:t>модели не остаётся ничего, случай стоит разбирать всерьёз и искать у него вторую сторону счёта.</a:t>
            </a:r>
          </a:p>
          <a:p>
            <a:r>
              <a:t/>
            </a:r>
          </a:p>
          <a:p>
            <a:r>
              <a:t>Полезно заранее знать и типичные возражения, потому что условие кажется слишком строгим, пока</a:t>
            </a:r>
          </a:p>
          <a:p>
            <a:r>
              <a:t>его не применишь. Первое: «но ведь порождающее проектирование тоже называют генеративным».</a:t>
            </a:r>
          </a:p>
          <a:p>
            <a:r>
              <a:t>Называют, и путаница не случайна — слово одно, а классы инструментов разные: в одном случае</a:t>
            </a:r>
          </a:p>
          <a:p>
            <a:r>
              <a:t>алгоритм перебирает варианты по заданной человеком целевой функции, в другом сеть выдаёт выход</a:t>
            </a:r>
          </a:p>
          <a:p>
            <a:r>
              <a:t>из выученного на данных распределения. Развести их просто: спросите, на чём инструмент обучен.</a:t>
            </a:r>
          </a:p>
          <a:p>
            <a:r>
              <a:t>Если ответ «ни на чём, он считает» — и работа при этом идёт, — перед вами оптимизация.</a:t>
            </a:r>
          </a:p>
          <a:p>
            <a:r>
              <a:t/>
            </a:r>
          </a:p>
          <a:p>
            <a:r>
              <a:t>Второе возражение: «какая разница, если результат получен». Разница появляется ровно тогда,</a:t>
            </a:r>
          </a:p>
          <a:p>
            <a:r>
              <a:t>когда результат пытаются повторить в другом проекте. Оптимизация переносится правилом: опишите</a:t>
            </a:r>
          </a:p>
          <a:p>
            <a:r>
              <a:t>критерий и граничные условия — инструмент сработает так же. Обученная модель переносится</a:t>
            </a:r>
          </a:p>
          <a:p>
            <a:r>
              <a:t>данными: без набора, похожего на тот, на котором она училась, результат не воспроизводится. Это</a:t>
            </a:r>
          </a:p>
          <a:p>
            <a:r>
              <a:t>два разных плана работ, два разных бюджета и два разных перечня рисков, и выбор между ними</a:t>
            </a:r>
          </a:p>
          <a:p>
            <a:r>
              <a:t>делается в самом начале, когда сменить решение дёшево.</a:t>
            </a:r>
          </a:p>
          <a:p>
            <a:r>
              <a:t/>
            </a:r>
          </a:p>
          <a:p>
            <a:r>
              <a:t>Третье возражение: «условие отсекает слишком много случаев». Отсекает, и это его работа. Из</a:t>
            </a:r>
          </a:p>
          <a:p>
            <a:r>
              <a:t>трёх подробных разборов раздела условие проходит полтора: случай редакции проходит целиком,</a:t>
            </a:r>
          </a:p>
          <a:p>
            <a:r>
              <a:t>случай обвала цены единицы проходит по модели и не проходит по полноте счёта, перегородка не</a:t>
            </a:r>
          </a:p>
          <a:p>
            <a:r>
              <a:t>проходит вовсе. Такая пропорция и есть честная картина отрасли на сегодня, 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структурное: текст дискретен,</a:t>
            </a:r>
          </a:p>
          <a:p>
            <a:r>
              <a:t>изображение непрерывно. Текст уже разбит на конечный словарь, по нему естественно считать</a:t>
            </a:r>
          </a:p>
          <a:p>
            <a:r>
              <a:t>вероятности. Изображение — непрерывный сигнал, и попытки квантовать его в словарь работали, но</a:t>
            </a:r>
          </a:p>
          <a:p>
            <a:r>
              <a:t>проигрывали по качеству деталей.</a:t>
            </a:r>
          </a:p>
          <a:p>
            <a:r>
              <a:t/>
            </a:r>
          </a:p>
          <a:p>
            <a:r>
              <a:t>И граница размывается с обеих сторон — это надо сказать, иначе «два семейства» превратятся в</a:t>
            </a:r>
          </a:p>
          <a:p>
            <a:r>
              <a:t>догму. Авторегрессия вернулась в изображения: современные мультимодальные модели генерируют</a:t>
            </a:r>
          </a:p>
          <a:p>
            <a:r>
              <a:t>картинку токенами в той же сети, что пишет текст, — отсюда их заметно лучшее понимание сложных</a:t>
            </a:r>
          </a:p>
          <a:p>
            <a:r>
              <a:t>инструкций и текста внутри кадра, и отсюда же их заметно бо́льшая цена за кадр. Расшумление</a:t>
            </a:r>
          </a:p>
          <a:p>
            <a:r>
              <a:t>пришло в текст: диффузионные языковые модели генерируют его расшумлением всего блока сразу,</a:t>
            </a:r>
          </a:p>
          <a:p>
            <a:r>
              <a:t>ради скорости; направление молодое, и продуктовая зрелость на 2026 год не доказана. А посередине</a:t>
            </a:r>
          </a:p>
          <a:p>
            <a:r>
              <a:t>живёт спрямлённый поток, который формально уже не диффузия, и индустрия последних двух лет ушла</a:t>
            </a:r>
          </a:p>
          <a:p>
            <a:r>
              <a:t>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Технический блок этого раздела разбирает генератор по частям: два семейства генерации, прямой и обратный процесс, лестницу числа шагов, латентный патч, обусловливание описанием, направляющий коэффициент CFG, смену архитектур, адаптеры. Каждая часть по отдельности понятна. Этот кадр нужен затем, чтобы они сошлись в одну картину — от строки описания на входе до файла на выходе.</a:t>
            </a:r>
          </a:p>
          <a:p>
            <a:r>
              <a:t/>
            </a:r>
          </a:p>
          <a:p>
            <a:r>
              <a:t>Путь начинается ещё до диффузионной сети. Описание словами в неё не попадает вовсе: сначала его читает отдельная текстовая модель — замороженная, обученная кем-то другим и раньше. Генератор получает последовательность векторов, которую эта модель выдала; самих слов он не видит. У SD3 таких текстовых кодировщиков три, у FLUX.1 — два. Структурно это значит вот что: часть качества генератора вам не принадлежит, она пришла вместе с чужой моделью. Измерение здесь прямое и для интуиции неудобное — увеличение текстового кодировщика даёт больший прирост, чем увеличение самой диффузионной сети. Самый крупный из них, T5-XXL, оплачивает ровно две вещи: длинные сложные инструкции и текст внутри картинки.</a:t>
            </a:r>
          </a:p>
          <a:p>
            <a:r>
              <a:t/>
            </a:r>
          </a:p>
          <a:p>
            <a:r>
              <a:t>Дальше идёт то, что обычно и называют «моделью». Работа ведётся в латенте — сжатом представлении картинки размером 128×128×16, то есть 262 144 числа; точек растра, которых у картинки 3 145 728, сеть расшумления не видит вовсе. Стартовое содержимое латента — чистый шум, и порождает его генератор псевдослучайных чисел. Именно стартовый шум, а не какая-либо настройка «температуры», отвечает за то, насколько разными выйдут картинки по одному и тому же описанию. На каждом проходе сеть смотрит на весь латент целиком и говорит, какой шум она в нём видит. Этот шум вычитают, получают латент чуть ближе к картинке, и повторяют. Число проходов назначает сэмплер — от одного до пятидесяти, — и оно не зависит от размера выхода. Описание всё это время стоит неподвижно: оно условие, одинаковое на первом проходе и на последнем. Истории нет, накопления нет, места «рядом с вопросом» нет — отсюда растёт всё, что раздел дальше говорит о невозможности подложить в генерацию источник истины.</a:t>
            </a:r>
          </a:p>
          <a:p>
            <a:r>
              <a:t/>
            </a:r>
          </a:p>
          <a:p>
            <a:r>
              <a:t>Выход — третья часть. Латент разворачивает в точки растра декодировщик того же автокодировщика, который латент и определил. Это снова отдельно обученная модель, и у неё есть измеренный потолок: восстановление на четырёхканальном латенте даёт 25,12 дБ против 28,62 дБ на шестнадцатиканальном. Читать это надо так: даже если сеть расшумления сработает идеально, картинка всё равно пройдёт через декодировщик, и то, что он размыл, обратно не появится. Буква — высокочастотная структура, где важна каждая линия, и страдает она первой. Поэтому вопрос «почему на картинке псевдобуквы» решается выбором автокодировщика; подбор описания здесь бессилен.</a:t>
            </a:r>
          </a:p>
          <a:p>
            <a:r>
              <a:t/>
            </a:r>
          </a:p>
          <a:p>
            <a:r>
              <a:t>Главное, что стоит унести с кадра, — конвейер собран из частей, обученных порознь. Это то самое свойство, из которого дальше выводится почти всё, и к частности реализации оно не сводится. Из него следует, что части меняют по отдельности: один и тот же автокодировщик живёт под разными диффузионными сетями, один и тот же текстовый кодировщик — под разными генераторами. Из него же следует, что странное поведение на стыке частей есть системное свойство такой сборки, и чинить его в своей интеграции бесполезно. И из него следует практическое правило выбора: прежде чем спрашивать, насколько велика модель, спросите, какой у неё автокодировщик и какой текстовый кодировщик. Главный рычаг — токенизатор; размер модели здесь вторичен.</a:t>
            </a:r>
          </a:p>
          <a:p>
            <a:r>
              <a:t/>
            </a:r>
          </a:p>
          <a:p>
            <a:r>
              <a:t>Отдельно стоит заметить, чего в этой схеме нет совсем. Нет словаря — ни на входе сети расшумления, ни на её выходе: там непрерывные векторы, идентификаторов из конечного списка нет. Нет нормировки и вероятности — сеть выдаёт вектор той же формы, какую приняла, и спросить её «насколько ты уверена» попросту нечем. Нет кэша ключей и значений — на каждом проходе меняются все токены латента сразу, кэшировать нечего. Нет переменной длины выхода — размер картинки задан до запуска, и остановиться раньше нельзя. Каждое из этих отсутствий дальше в разделе превращается в конкретное ограничение инструмента, и ни одно не исчезнет в следующей версии модели: все четыре следуют из устройства, которое на этом кадре нарисовано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следствие, которое и объясняет экономику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 — как сила подмешиваемого шума меняется с номером шага: это называется расписанием</a:t>
            </a:r>
          </a:p>
          <a:p>
            <a:r>
              <a:t>шума, и это часть постановки задачи, а не гиперпараметр на вкус. Здесь есть хороший пример</a:t>
            </a:r>
          </a:p>
          <a:p>
            <a:r>
              <a:t>инженерной ошибки, которую нашли не сразу. Чем больше картинка, тем больше в ней избыточности</a:t>
            </a:r>
          </a:p>
          <a:p>
            <a:r>
              <a:t>между соседними точками и тем меньше шума нужно, чтобы разрушить содержание. Расписание,</a:t>
            </a:r>
          </a:p>
          <a:p>
            <a:r>
              <a:t>настроенное на маленькое разрешение, на большом оставляет картинку недоразрушенной: на последнем</a:t>
            </a:r>
          </a:p>
          <a:p>
            <a:r>
              <a:t>шаге она всё ещё узнаваема, и модель никогда не учится строить композицию с нуля. Это явно</a:t>
            </a:r>
          </a:p>
          <a:p>
            <a:r>
              <a:t>сформулировали и исправили в 2024 году, введя сдвиг временной шкалы в зависимости от разрешения;</a:t>
            </a:r>
          </a:p>
          <a:p>
            <a:r>
              <a:t>то, что в интерфейсах называется сдвигом, — это оно. Диагностически полезное следствие: если у</a:t>
            </a:r>
          </a:p>
          <a:p>
            <a:r>
              <a:t>модели нормальные текстуры и разваливающаяся компоновка, смотреть 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И это надо проговорить вслух: все эти сэмплеры работают с одной и той же обученной сетью.</a:t>
            </a:r>
          </a:p>
          <a:p>
            <a:r>
              <a:t>Переключение сэмплера — смена численного метода, веса при этом не трогаются. Инженеру отсюда</a:t>
            </a:r>
          </a:p>
          <a:p>
            <a:r>
              <a:t>прямая польза: «качество выросло после смены сэмплера» означает, что вы уменьшили ошибку</a:t>
            </a:r>
          </a:p>
          <a:p>
            <a:r>
              <a:t>дискретизации, и обратно — сэмплер нельзя дообучить, у него нет параметров, кроме числа шагов и</a:t>
            </a:r>
          </a:p>
          <a:p>
            <a:r>
              <a:t>пары коэффициентов. И второе следствие, которое экономит деньги: больше шагов не значит лучше.</a:t>
            </a:r>
          </a:p>
          <a:p>
            <a:r>
              <a:t>После тридцати—пятидесяти шагов у современных моделей прирост уходит в шум, а время растёт</a:t>
            </a:r>
          </a:p>
          <a:p>
            <a:r>
              <a:t>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тут видно, почему этот обмен нельзя оценивать вообще, в отрыве от задачи. Для продуктового</a:t>
            </a:r>
          </a:p>
          <a:p>
            <a:r>
              <a:t>конвейера, где нужен один приличный кадр за секунду, обмен выгодный: разнообразие там не нужно,</a:t>
            </a:r>
          </a:p>
          <a:p>
            <a:r>
              <a:t>нужна скорость и предсказуемость. Для творческого перебора вариантов — потеря ровно того, ради</a:t>
            </a:r>
          </a:p>
          <a:p>
            <a:r>
              <a:t>чего вечер и собран: перебор и есть весь выигрыш. Модель, дистиллированная до четырёх шагов,</a:t>
            </a:r>
          </a:p>
          <a:p>
            <a:r>
              <a:t>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Для инженера это означает прямо: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несущее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 выдала,</a:t>
            </a:r>
          </a:p>
          <a:p>
            <a:r>
              <a:t>и при коэффициенте семь итоговый вектор лежит там, где модель не предсказывала ничего. Второе —</a:t>
            </a:r>
          </a:p>
          <a:p>
            <a:r>
              <a:t>направление эффекта, и оно противоположное: рост температуры даёт больше случайности и меньше</a:t>
            </a:r>
          </a:p>
          <a:p>
            <a:r>
              <a:t>предсказуемости, рост CFG даёт меньше разнообразия и более жёсткое следование описанию. Третье —</a:t>
            </a:r>
          </a:p>
          <a:p>
            <a:r>
              <a:t>цена: у температуры ноль, одно деление над готовыми логитами; у CFG два прохода сети на каждом</a:t>
            </a:r>
          </a:p>
          <a:p>
            <a:r>
              <a:t>шаге. Четвёртое — где сидит случайность: у языковой модели в работе сэмплера, на каждом шаге;</a:t>
            </a:r>
          </a:p>
          <a:p>
            <a:r>
              <a:t>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a:p>
            <a:r>
              <a:t/>
            </a:r>
          </a:p>
          <a:p>
            <a:r>
              <a:t>Связка, которой на самом кадре места не нашлось: негативное описание ничего не запрещает — это</a:t>
            </a:r>
          </a:p>
          <a:p>
            <a:r>
              <a:t>вторая точка опоры, от которой отталкиваются, а не проверка «нет ли лишних пальцев». И общее у</a:t>
            </a:r>
          </a:p>
          <a:p>
            <a:r>
              <a:t>двух параметров всё же есть: оба — единственная «ручка творчества» при запуске, оба не меняют</a:t>
            </a:r>
          </a:p>
          <a:p>
            <a:r>
              <a:t>веса и не добавляют знаний, и у обоих есть рабочий диапазон, за которым выход деградирует.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вот почему. Свёрточный каркас несёт встроенные допущения о структуре</a:t>
            </a:r>
          </a:p>
          <a:p>
            <a:r>
              <a:t>картинки — локальность, инвариантность к сдвигу, — и эти допущения помогают на малых</a:t>
            </a:r>
          </a:p>
          <a:p>
            <a:r>
              <a:t>данных и мешают на больших: сеть перестаёт масштабироваться предсказуемо. Про</a:t>
            </a:r>
          </a:p>
          <a:p>
            <a:r>
              <a:t>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надо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Замер назван полностью: стандартный</a:t>
            </a:r>
          </a:p>
          <a:p>
            <a:r>
              <a:t>vLLM, тысяча запусков одного запроса при нулевой температуре — восемьдесят разных ответов;</a:t>
            </a:r>
          </a:p>
          <a:p>
            <a:r>
              <a:t>работа Thinking Machines Lab «Defeating Nondeterminism in LLM Inference», сентябрь 2025 года,</a:t>
            </a:r>
          </a:p>
          <a:p>
            <a:r>
              <a:t>модель Qwen3-235B-A22B. Виновата зависимость вычислительных ядер от</a:t>
            </a:r>
          </a:p>
          <a:p>
            <a:r>
              <a:t>размера пакета: сервер складывает ваш запрос с чужими, размер пакета меняет порядок</a:t>
            </a:r>
          </a:p>
          <a:p>
            <a:r>
              <a:t>суммирования, младший разряд решает выбор токена. Плавающая арифметика сама по себе здесь ни</a:t>
            </a:r>
          </a:p>
          <a:p>
            <a:r>
              <a:t>при чём.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Довески складываются буквально: на одну замороженную базу одновременно вешают адаптер стиля, структурное условие позы и образец лица — и все три работают вместе, не мешая друг другу.</a:t>
            </a:r>
          </a:p>
          <a:p>
            <a:r>
              <a:t/>
            </a:r>
          </a:p>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Структурный тезис тот же, что курс уже сформулировал: база заморожена, учится маленький</a:t>
            </a:r>
          </a:p>
          <a:p>
            <a:r>
              <a:t>довесок, довески модульны и складываются. Складываются они здесь буквально: на одну базовую</a:t>
            </a:r>
          </a:p>
          <a:p>
            <a:r>
              <a:t>модель одновременно вешают адаптер стиля, структурное условие позы и образец лица. Именно эта</a:t>
            </a:r>
          </a:p>
          <a:p>
            <a:r>
              <a:t>складываемость сделала открытые веса рабочим инструментом в производстве: можно собрать под</a:t>
            </a:r>
          </a:p>
          <a:p>
            <a:r>
              <a:t>свою задачу конфигурацию из 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 то, ради чего этот кадр вообще стоит в техническом блоке. Здесь параллель с</a:t>
            </a:r>
          </a:p>
          <a:p>
            <a:r>
              <a:t>языковыми моделями работает полностью, и это надо назвать совпадением вслух. В блоке было уже</a:t>
            </a:r>
          </a:p>
          <a:p>
            <a:r>
              <a:t>несколько мест, где перенос знания оказывался ложным: температура и направляющий коэффициент</a:t>
            </a:r>
          </a:p>
          <a:p>
            <a:r>
              <a:t>управляют разными вещами; кэш, на котором стоит вся экономика языковых моделей, здесь</a:t>
            </a:r>
          </a:p>
          <a:p>
            <a:r>
              <a:t>невозможен; подкладывания источника истины не существует. На этом фоне легко прийти к выводу,</a:t>
            </a:r>
          </a:p>
          <a:p>
            <a:r>
              <a:t>что переносить нельзя ничего, — и это была бы вторая ошибка, зеркальная первой. Дообучение</a:t>
            </a:r>
          </a:p>
          <a:p>
            <a:r>
              <a:t>адаптером переносится без поправок: та же идея, та же экономика, те же размеры довесков, тот</a:t>
            </a:r>
          </a:p>
          <a:p>
            <a:r>
              <a:t>же выбор между «разместить знание» и «закодировать поведение».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половина сводной таблицы всего технического блока. Каждая её строка опирается на</a:t>
            </a:r>
          </a:p>
          <a:p>
            <a:r>
              <a:t>термин, который курс уже ввёл для языковых моделей, и показывает, во что он превращается в</a:t>
            </a:r>
          </a:p>
          <a:p>
            <a:r>
              <a:t>медиа-модели или почему исчезает по построению. Второе интереснее первого: исчезновение всегда</a:t>
            </a:r>
          </a:p>
          <a:p>
            <a:r>
              <a:t>показывает механизм, тогда как превращение можно принять за перемену названия.</a:t>
            </a:r>
          </a:p>
          <a:p>
            <a:r>
              <a:t/>
            </a:r>
          </a:p>
          <a:p>
            <a:r>
              <a:t>Первая строка — единица данных, и из неё следует почти всё остальное. У языковой модели это</a:t>
            </a:r>
          </a:p>
          <a:p>
            <a:r>
              <a:t>токен: идентификатор из словаря примерно в двести тысяч позиций, причём словарь зафиксирован до</a:t>
            </a:r>
          </a:p>
          <a:p>
            <a:r>
              <a:t>обучения и после него не меняется. У медиа-модели единица — латентный патч: квадрат два на два</a:t>
            </a:r>
          </a:p>
          <a:p>
            <a:r>
              <a:t>ячейки латента по шестнадцать каналов, то есть шестьдесят четыре числа, и это непрерывный</a:t>
            </a:r>
          </a:p>
          <a:p>
            <a:r>
              <a:t>вектор, а не номер в списке. Словаря нет вовсе. Отсюда прямое следствие, к которому курс</a:t>
            </a:r>
          </a:p>
          <a:p>
            <a:r>
              <a:t>вернётся ещё дважды: маскировать нечего, запрещать нечему. Все приёмы, которые в работе с</a:t>
            </a:r>
          </a:p>
          <a:p>
            <a:r>
              <a:t>языковой моделью опираются на то, что список допустимых продолжений конечен, здесь не имеют</a:t>
            </a:r>
          </a:p>
          <a:p>
            <a:r>
              <a:t>предмета.</a:t>
            </a:r>
          </a:p>
          <a:p>
            <a:r>
              <a:t/>
            </a:r>
          </a:p>
          <a:p>
            <a:r>
              <a:t>Вторая строка — сколько этих единиц. У языковой модели число единиц задаётся длиной описания</a:t>
            </a:r>
          </a:p>
          <a:p>
            <a:r>
              <a:t>плюс длиной ответа и ограничено окном в сто двадцать восемь тысяч — миллион. У медиа-модели оно</a:t>
            </a:r>
          </a:p>
          <a:p>
            <a:r>
              <a:t>задано размером выхода и известно до запуска: картинка тысяча двадцать четыре на тысячу двадцать</a:t>
            </a:r>
          </a:p>
          <a:p>
            <a:r>
              <a:t>четыре — это ровно четыре тысячи девяносто шесть токенов, ни больше ни меньше. Величина не</a:t>
            </a:r>
          </a:p>
          <a:p>
            <a:r>
              <a:t>переменная, а параметр.</a:t>
            </a:r>
          </a:p>
          <a:p>
            <a:r>
              <a:t/>
            </a:r>
          </a:p>
          <a:p>
            <a:r>
              <a:t>Третья строка — что именно предсказывается. У языковой модели это распределение вероятностей на</a:t>
            </a:r>
          </a:p>
          <a:p>
            <a:r>
              <a:t>весь словарь, и сумма его равна единице: у каждого кандидата есть число, которое можно прочесть,</a:t>
            </a:r>
          </a:p>
          <a:p>
            <a:r>
              <a:t>сравнить и использовать как меру уверенности. У медиа-модели на выходе вектор той же формы, что</a:t>
            </a:r>
          </a:p>
          <a:p>
            <a:r>
              <a:t>вход. Нормировки нет, вероятности нет. Это и есть то место, где кончается перенос привычки</a:t>
            </a:r>
          </a:p>
          <a:p>
            <a:r>
              <a:t>«посмотреть, насколько модель уверена»: смотреть не на что, и не потому, что поставщик не</a:t>
            </a:r>
          </a:p>
          <a:p>
            <a:r>
              <a:t>показывает, а потому, что величины не существует.</a:t>
            </a:r>
          </a:p>
          <a:p>
            <a:r>
              <a:t/>
            </a:r>
          </a:p>
          <a:p>
            <a:r>
              <a:t>Четвёртая строка — роль контекста. У языковой модели вся история служит условием для каждого</a:t>
            </a:r>
          </a:p>
          <a:p>
            <a:r>
              <a:t>следующего токена и растёт по ходу работы. У медиа-модели описание — постоянное условие,</a:t>
            </a:r>
          </a:p>
          <a:p>
            <a:r>
              <a:t>неизменное на всех пятидесяти шагах; истории нет вообще. Эта разница кажется мелкой, пока не</a:t>
            </a:r>
          </a:p>
          <a:p>
            <a:r>
              <a:t>доходит до вопроса, куда подложить источник истины: места «рядом с вопросом» здесь нет.</a:t>
            </a:r>
          </a:p>
          <a:p>
            <a:r>
              <a:t/>
            </a:r>
          </a:p>
          <a:p>
            <a:r>
              <a:t>Пятая строка — число проходов сети. У языковой модели N проходов на N токенов: длинный ответ</a:t>
            </a:r>
          </a:p>
          <a:p>
            <a:r>
              <a:t>дороже короткого ровно во столько раз, во сколько он длиннее. У медиа-модели проходов столько,</a:t>
            </a:r>
          </a:p>
          <a:p>
            <a:r>
              <a:t>сколько назначил сэмплер, от одного до пятидесяти, и от размера выхода это число не зависит</a:t>
            </a:r>
          </a:p>
          <a:p>
            <a:r>
              <a:t>вовсе.</a:t>
            </a:r>
          </a:p>
          <a:p>
            <a:r>
              <a:t/>
            </a:r>
          </a:p>
          <a:p>
            <a:r>
              <a:t>Шестая строка — кэш, и её недооценивают чаще прочих. Вокруг того, что ключи и значения</a:t>
            </a:r>
          </a:p>
          <a:p>
            <a:r>
              <a:t>кэшируемы, а запрос нет, построена целая экономика: отсюда асимметрия предзаполнения и</a:t>
            </a:r>
          </a:p>
          <a:p>
            <a:r>
              <a:t>генерации, отсюда тарифы на кэширование описания, отсюда совет держать стабильный префикс. В</a:t>
            </a:r>
          </a:p>
          <a:p>
            <a:r>
              <a:t>медиа-модели от этой экономики не остаётся ничего, и реализация тут ни при чём. Кэш работает,</a:t>
            </a:r>
          </a:p>
          <a:p>
            <a:r>
              <a:t>пока ключи и значения относятся к уже обработанному и больше не меняющемуся контексту;</a:t>
            </a:r>
          </a:p>
          <a:p>
            <a:r>
              <a:t>расшумление на каждом шаге переписывает все четыре тысячи девяносто шесть токенов сразу, то</a:t>
            </a:r>
          </a:p>
          <a:p>
            <a:r>
              <a:t>есть неизменного контекста здесь нет. Это напрямую объясняет, почему одна картинка стоит как</a:t>
            </a:r>
          </a:p>
          <a:p>
            <a:r>
              <a:t>тысячи токенов текста: у языковой модели каждый следующий токен дешевеет за счёт кэша, у</a:t>
            </a:r>
          </a:p>
          <a:p>
            <a:r>
              <a:t>медиа-модели каждый следующий шаг стоит ровно столько же, сколько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сводной таблицы собирает то, что инженер переносит на новый инструмент охотнее</a:t>
            </a:r>
          </a:p>
          <a:p>
            <a:r>
              <a:t>всего, — рычаги управления и привычку чинить ошибку. Именно здесь перенос ломается чаще, чем в</a:t>
            </a:r>
          </a:p>
          <a:p>
            <a:r>
              <a:t>устройстве, и ломается тише: рычаг с тем же названием существует, но делает другое.</a:t>
            </a:r>
          </a:p>
          <a:p>
            <a:r>
              <a:t/>
            </a:r>
          </a:p>
          <a:p>
            <a:r>
              <a:t>Про гарантии формы. Курс показал красивый механизм: грамматика схемы маскирует невалидные токены,</a:t>
            </a:r>
          </a:p>
          <a:p>
            <a:r>
              <a:t>и невалидный формат физически не может быть сгенерирован — именно не может, а не «обычно не</a:t>
            </a:r>
          </a:p>
          <a:p>
            <a:r>
              <a:t>генерируется». Инженер к этому привыкает: формат гарантируется на уровне декодирования, и это</a:t>
            </a:r>
          </a:p>
          <a:p>
            <a:r>
              <a:t>ощущается как базовое свойство инструмента. В медиа-моделях такого рычага нет ни одного. «Ровно</a:t>
            </a:r>
          </a:p>
          <a:p>
            <a:r>
              <a:t>три объекта», «логотип в соотношении шестнадцать к девяти с полем в десять процентов», «шрифт не</a:t>
            </a:r>
          </a:p>
          <a:p>
            <a:r>
              <a:t>меняется между кадрами» — всё это просьбы, а не ограничения. Проверка остаётся снаружи модели, в</a:t>
            </a:r>
          </a:p>
          <a:p>
            <a:r>
              <a:t>конвейере, и это архитектурное требование, а не рекомендация. Отсюда же разница в том, как</a:t>
            </a:r>
          </a:p>
          <a:p>
            <a:r>
              <a:t>читается список рычагов: температура, отсечение по вероятности и маскирование логитов работают</a:t>
            </a:r>
          </a:p>
          <a:p>
            <a:r>
              <a:t>над посчитанным распределением, а CFG, негативное описание и адаптеры работают над непрерывным</a:t>
            </a:r>
          </a:p>
          <a:p>
            <a:r>
              <a:t>вектором, у которого распределения нет.</a:t>
            </a:r>
          </a:p>
          <a:p>
            <a:r>
              <a:t/>
            </a:r>
          </a:p>
          <a:p>
            <a:r>
              <a:t>Про галлюцинацию. Разница лежит в природе ошибки, и из неё следует, чем ошибку лечить.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по источнику, и на этом стоит весь поиск</a:t>
            </a:r>
          </a:p>
          <a:p>
            <a:r>
              <a:t>по документам. Ошибка медиа-модели другая: это правдоподобная невозможность. Шесть пальцев,</a:t>
            </a:r>
          </a:p>
          <a:p>
            <a:r>
              <a:t>тень не от того источника света, отражение без оригинала, резьба без шага, разъём с лишним</a:t>
            </a:r>
          </a:p>
          <a:p>
            <a:r>
              <a:t>контактом. Проверяется по физике и геометрии, и источника, который можно подложить, не</a:t>
            </a:r>
          </a:p>
          <a:p>
            <a:r>
              <a:t>существует.</a:t>
            </a:r>
          </a:p>
          <a:p>
            <a:r>
              <a:t/>
            </a:r>
          </a:p>
          <a:p>
            <a:r>
              <a:t>Классы таких ошибок чинятся по-разному, и различать их практически полезно. Анатомия и счёт — у</a:t>
            </a:r>
          </a:p>
          <a:p>
            <a:r>
              <a:t>модели нет понятия дискретного объекта, лечится обусловливанием позой, перегенерацией или ручной</a:t>
            </a:r>
          </a:p>
          <a:p>
            <a:r>
              <a:t>правкой. Физика и свет — модель выучила корреляции внешнего вида, и внутри модели это не лечится</a:t>
            </a:r>
          </a:p>
          <a:p>
            <a:r>
              <a:t>вовсе. Текст — потеря высоких частот в автокодировщике плюс слабый текстовый кодировщик, лечится</a:t>
            </a:r>
          </a:p>
          <a:p>
            <a:r>
              <a:t>шестнадцатиканальным автокодировщиком и большой языковой моделью на входе, а надёжно — вставкой</a:t>
            </a:r>
          </a:p>
          <a:p>
            <a:r>
              <a:t>текста отдельным слоем вне генератора. Техническая невозможность — модель не знает технических</a:t>
            </a:r>
          </a:p>
          <a:p>
            <a:r>
              <a:t>характеристик и не считает размеров, и правильный вывод здесь, что генератор не тот инструмент.</a:t>
            </a:r>
          </a:p>
          <a:p>
            <a:r>
              <a:t>Непостоянство между кадрами — между кадрами нет объекта, который «тот же»; лечится</a:t>
            </a:r>
          </a:p>
          <a:p>
            <a:r>
              <a:t>обусловливанием и образцами, полностью не решено. Воспроизведение обучающего примера — следствие</a:t>
            </a:r>
          </a:p>
          <a:p>
            <a:r>
              <a:t>дубликатов в корпусе, лечится дедупликацией корпуса и фильтрами на выходе.</a:t>
            </a:r>
          </a:p>
          <a:p>
            <a:r>
              <a:t/>
            </a:r>
          </a:p>
          <a:p>
            <a:r>
              <a:t>Две последние строки короткие, но дорогие. Длина выхода у языковой модели переменная и решается</a:t>
            </a:r>
          </a:p>
          <a:p>
            <a:r>
              <a:t>по ходу стоп-токеном; у медиа-модели она задана до запуска, и остановиться раньше нельзя —</a:t>
            </a:r>
          </a:p>
          <a:p>
            <a:r>
              <a:t>картинка либо готова целиком, либо не готова. Провенанс: у ответа с поиском по документам есть</a:t>
            </a:r>
          </a:p>
          <a:p>
            <a:r>
              <a:t>ссылка на документ, у сгенерированного кадра её нет и не может быть, потому что вклад каждого</a:t>
            </a:r>
          </a:p>
          <a:p>
            <a:r>
              <a:t>обучающего примера размазан по миллиардам весов.</a:t>
            </a:r>
          </a:p>
          <a:p>
            <a:r>
              <a:t/>
            </a:r>
          </a:p>
          <a:p>
            <a:r>
              <a:t>И последнее — уже про то, как пользоваться обеими половинами таблицы. Она не доказывает, что</a:t>
            </a:r>
          </a:p>
          <a:p>
            <a:r>
              <a:t>медиа-модель хуже языковой или наоборот. Она показывает, какие именно привычки переносятся, а</a:t>
            </a:r>
          </a:p>
          <a:p>
            <a:r>
              <a:t>какие нет, и это полезнее любого сравнения качества, потому что качество меняется с каждым</a:t>
            </a:r>
          </a:p>
          <a:p>
            <a:r>
              <a:t>поколением моделей, а перечисленные различия следуют из постановки задачи и не изменятся.</a:t>
            </a:r>
          </a:p>
          <a:p>
            <a:r>
              <a:t>Непрерывный выход не станет дискретным; условие, неизменное на всех шагах, не станет растущей</a:t>
            </a:r>
          </a:p>
          <a:p>
            <a:r>
              <a:t>историей; провенанс, которого нет в весах, не появится в следующей версии. Строки этой таблицы</a:t>
            </a:r>
          </a:p>
          <a:p>
            <a:r>
              <a:t>останутся верными, когда все названные сегодня продукты сменятся.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этой аудитории кадр контринтуитивен, и он весь построен на измеренных числах.</a:t>
            </a:r>
          </a:p>
          <a:p>
            <a:r>
              <a:t/>
            </a:r>
          </a:p>
          <a:p>
            <a:r>
              <a:t>Четыре верхние строки и три нижние смотрят в разные стороны. Выглядит парадоксом; на деле —</a:t>
            </a:r>
          </a:p>
          <a:p>
            <a:r>
              <a:t>следствие устройства, разобранного предыдущими кадрами. Обучить картиночную модель в</a:t>
            </a:r>
          </a:p>
          <a:p>
            <a:r>
              <a:t>двести—четыреста раз дешевле, чем передовую языковую, — и каждый её запуск в сорок—шестьдесят</a:t>
            </a:r>
          </a:p>
          <a:p>
            <a:r>
              <a:t>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за минуту из чисел предыдущих кадров,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наблюдение кадра: картиночные модели перестали расти. Stable Diffusion первой версии в 2022</a:t>
            </a:r>
          </a:p>
          <a:p>
            <a:r>
              <a:t>году и SD3 в 2024-м потратили на обучение одно и то же число операций, и это названо прямо в</a:t>
            </a:r>
          </a:p>
          <a:p>
            <a:r>
              <a:t>их собственной статье. За те же два года вычисления передовых языковых моделей росли в</a:t>
            </a:r>
          </a:p>
          <a:p>
            <a:r>
              <a:t>четыре—пять раз в год, а амортизированная стоимость — в два и четыре десятых раза в год</a:t>
            </a:r>
          </a:p>
          <a:p>
            <a:r>
              <a:t>начиная с 2016-го. Содержательный тезис: разрыв увеличивается не потому, что картинки</a:t>
            </a:r>
          </a:p>
          <a:p>
            <a:r>
              <a:t>дешевеют, а потому, что языковые модели дорожают. Прямое следствие, видимое на рынке: базовых</a:t>
            </a:r>
          </a:p>
          <a:p>
            <a:r>
              <a:t>языковых моделей переднего края — единицы, а серьёзных базовых генераторов изображений и видео</a:t>
            </a:r>
          </a:p>
          <a:p>
            <a:r>
              <a:t>—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Счёт здесь</a:t>
            </a:r>
          </a:p>
          <a:p>
            <a:r>
              <a:t>простой: из пяти картиночных моделей, по которым эта лекция вообще считает обучение, числа</a:t>
            </a:r>
          </a:p>
          <a:p>
            <a:r>
              <a:t>раскрыты только по двум — Stable Diffusion первой версии и SD3. По остальным трём — SDXL,</a:t>
            </a:r>
          </a:p>
          <a:p>
            <a:r>
              <a:t>FLUX.1 и DALL·E 3 — не раскрыты ни часы видеокарт, ни стоимость, ни объём вычислений: у</a:t>
            </a:r>
          </a:p>
          <a:p>
            <a:r>
              <a:t>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Напоминание: «открытая модель» и</a:t>
            </a:r>
          </a:p>
          <a:p>
            <a:r>
              <a:t>«прозрачная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ей и положено по устройству: длинные строки, мелкий кегль, нелатинские письменности, кириллица</a:t>
            </a:r>
          </a:p>
          <a:p>
            <a:r>
              <a:t>остаются ненадёжными. Эта позиция списка меняется быстрее прочих, и в день чтения её стоит</a:t>
            </a:r>
          </a:p>
          <a:p>
            <a:r>
              <a:t>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аргумент здесь</a:t>
            </a:r>
          </a:p>
          <a:p>
            <a:r>
              <a:t>экономический,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a:t>
            </a:r>
          </a:p>
          <a:p>
            <a:r>
              <a:t/>
            </a:r>
          </a:p>
          <a:p>
            <a:r>
              <a:t>Причина лежит ровно в том, что предсказывает сеть. Модель не считает объекты — она предсказывает</a:t>
            </a:r>
          </a:p>
          <a:p>
            <a:r>
              <a:t>числа в ячейках латента. Слово «три» в описании это токен, который влияет на распределение весов</a:t>
            </a:r>
          </a:p>
          <a:p>
            <a:r>
              <a:t>внимания, а вовсе не счётчик, который кто-то уменьшает. Понятия дискретного объекта в механизме</a:t>
            </a:r>
          </a:p>
          <a:p>
            <a:r>
              <a:t>нет ни в каком виде: нет ни идентификаторов, ни слоёв сцены, ни состояния, которое переносилось</a:t>
            </a:r>
          </a:p>
          <a:p>
            <a:r>
              <a:t>бы между частями изображения. Природа здесь ровно та же, что у «слепоты к буквам», разобранной</a:t>
            </a:r>
          </a:p>
          <a:p>
            <a:r>
              <a:t>курсом применительно к языковым моделям: у механизма нет доступа к той сущности, о которой</a:t>
            </a:r>
          </a:p>
          <a:p>
            <a:r>
              <a:t>спрашивают. И лечится это так же — внешней проверкой: детектор объектов посчитал, число не</a:t>
            </a:r>
          </a:p>
          <a:p>
            <a:r>
              <a:t>сошлось, перегенерировали. Навыком счёта это не лечится, потому что считать нечему.</a:t>
            </a:r>
          </a:p>
          <a:p>
            <a:r>
              <a:t/>
            </a:r>
          </a:p>
          <a:p>
            <a:r>
              <a:t>Отказ третий — следствие второго, и он окажется самым дорогим в разделе про видео. Раз понятия</a:t>
            </a:r>
          </a:p>
          <a:p>
            <a:r>
              <a:t>объекта нет, то и «вот этот стул — тот же самый стул» между двумя генерациями не существует.</a:t>
            </a:r>
          </a:p>
          <a:p>
            <a:r>
              <a:t>Согласованность достигается статистически — общим стартовым шумом, образцом лица, адаптером, —</a:t>
            </a:r>
          </a:p>
          <a:p>
            <a:r>
              <a:t>и поэтому она вероятностна и деградирует с длиной серии. Любой конвейер, которому нужен один и</a:t>
            </a:r>
          </a:p>
          <a:p>
            <a:r>
              <a:t>тот же персонаж, товар или интерфейс в серии кадров, обязан держать идентичность снаружи</a:t>
            </a:r>
          </a:p>
          <a:p>
            <a:r>
              <a:t>модели.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Все три отказа — следствие</a:t>
            </a:r>
          </a:p>
          <a:p>
            <a:r>
              <a:t>одного и того же свойства: картинка сжата в компактное непрерывное представление без словаря.</a:t>
            </a:r>
          </a:p>
          <a:p>
            <a:r>
              <a:t>Ровно это свойство кадром раньше давало выигрыш — полтора порядка вычислений на каждом шаге,</a:t>
            </a:r>
          </a:p>
          <a:p>
            <a:r>
              <a:t>генерация на потребительской видеокарте, цена попытки в три цента. Одно и то же решение,</a:t>
            </a:r>
          </a:p>
          <a:p>
            <a:r>
              <a:t>прочитанное с двух сторон: оно сделало попытку бесплатной и оно же сделало букву ненадёжной.</a:t>
            </a:r>
          </a:p>
          <a:p>
            <a:r>
              <a:t>Это не компромисс, который кто-то выбрал по небрежности, — это одна вещь, у которой две</a:t>
            </a:r>
          </a:p>
          <a:p>
            <a:r>
              <a:t>стороны, и инженерная зрелость — видеть обе сразу.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отдельно, потому что он про способ думать, а не про ещё один отказ. Три</a:t>
            </a:r>
          </a:p>
          <a:p>
            <a:r>
              <a:t>ограничения, разобранные кадром раньше, обычно читают как список недостатков, который следующая</a:t>
            </a:r>
          </a:p>
          <a:p>
            <a:r>
              <a:t>версия модели закроет. Это неверно, и неверно проверяемым образом: все три следуют из того же</a:t>
            </a:r>
          </a:p>
          <a:p>
            <a:r>
              <a:t>свойства, которое дало выигрыш, и закрыть их, не отменив выигрыш, нельзя.</a:t>
            </a:r>
          </a:p>
          <a:p>
            <a:r>
              <a:t/>
            </a:r>
          </a:p>
          <a:p>
            <a:r>
              <a:t>Свойство одно — сжатие в сорок восемь раз, которое превратило три миллиона сто сорок пять тысяч</a:t>
            </a:r>
          </a:p>
          <a:p>
            <a:r>
              <a:t>семьсот двадцать восемь чисел в четыре тысячи девяносто шесть токенов. Что оно дало: полтора</a:t>
            </a:r>
          </a:p>
          <a:p>
            <a:r>
              <a:t>порядка вычислений — на каждом из десятков шагов расшумления. Отсюда генерация на карте с</a:t>
            </a:r>
          </a:p>
          <a:p>
            <a:r>
              <a:t>шестью—восемью гигабайтами памяти в августе две тысячи двадцать второго, отсюда открытые веса</a:t>
            </a:r>
          </a:p>
          <a:p>
            <a:r>
              <a:t>как рабочий инструмент, отсюда цена одной попытки в три-четыре сотых доллара против</a:t>
            </a:r>
          </a:p>
          <a:p>
            <a:r>
              <a:t>пятидесяти—ста пятидесяти за заказ. Весь первый разбор раздела стоит на этом свойстве.</a:t>
            </a:r>
          </a:p>
          <a:p>
            <a:r>
              <a:t/>
            </a:r>
          </a:p>
          <a:p>
            <a:r>
              <a:t>Что оно забрало, читается по той же строке. Буква — высокочастотная структура, в которой значима</a:t>
            </a:r>
          </a:p>
          <a:p>
            <a:r>
              <a:t>каждая линия, и сжатие размывает её ещё до того, как к картинке притронется генеративная сеть:</a:t>
            </a:r>
          </a:p>
          <a:p>
            <a:r>
              <a:t>измеренная потеря качества восстановления составляет двадцать пять и двенадцать сотых децибела</a:t>
            </a:r>
          </a:p>
          <a:p>
            <a:r>
              <a:t>на четырёх каналах против двадцати восьми и шестидесяти двух сотых на шестнадцати. Лицо на</a:t>
            </a:r>
          </a:p>
          <a:p>
            <a:r>
              <a:t>дальнем плане занимает единицы ячеек латента — восстанавливать в нём нечего. Понятия дискретного</a:t>
            </a:r>
          </a:p>
          <a:p>
            <a:r>
              <a:t>объекта в механизме нет вовсе, поэтому считать объекты не то чтобы трудно: считать нечему.</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Сжатие всегда что-то выбрасывает, и выброшенное</a:t>
            </a:r>
          </a:p>
          <a:p>
            <a:r>
              <a:t>всегда оказывается тем, что значимо в какой-то задаче; вопрос только в том, ваша ли это задача.</a:t>
            </a:r>
          </a:p>
          <a:p>
            <a:r>
              <a:t/>
            </a:r>
          </a:p>
          <a:p>
            <a:r>
              <a:t>Отсюда же и практический вывод по надписям, который стоит унести дословно: надписи в</a:t>
            </a:r>
          </a:p>
          <a:p>
            <a:r>
              <a:t>производственных материалах не генерируют, их накладывают — отдельным слоем, настоящим шрифтом,</a:t>
            </a:r>
          </a:p>
          <a:p>
            <a:r>
              <a:t>вне генератора. У этого способа неудачных попыток нет вовсе, он не требует ни перегенерации, ни</a:t>
            </a:r>
          </a:p>
          <a:p>
            <a:r>
              <a:t>проверки, и он дешевле любой попытки добиться читаемой надписи от модели. Решение здесь — вынести</a:t>
            </a:r>
          </a:p>
          <a:p>
            <a:r>
              <a:t>задачу из модели наружу.</a:t>
            </a:r>
          </a:p>
          <a:p>
            <a:r>
              <a:t/>
            </a:r>
          </a:p>
          <a:p>
            <a:r>
              <a:t>И последнее, уже про чтение обзоров. Когда в обзоре написано «новая версия наконец научилась</a:t>
            </a:r>
          </a:p>
          <a:p>
            <a:r>
              <a:t>рисовать текст», полезно спросить, за счёт чего. Обычно ответ — шестнадцатиканальный</a:t>
            </a:r>
          </a:p>
          <a:p>
            <a:r>
              <a:t>автокодировщик вместо четырёхканального, то есть меньшее сжатие, то есть больше вычислений на</a:t>
            </a:r>
          </a:p>
          <a:p>
            <a:r>
              <a:t>каждом шаге. Ограничение не исчезло — качество куплено за ту самую величину, экономия которой и</a:t>
            </a:r>
          </a:p>
          <a:p>
            <a:r>
              <a:t>сделала метод дешёвым. Выигрыш и отказ ходят парой, и знать, какой именно размен сделан в вашей</a:t>
            </a:r>
          </a:p>
          <a:p>
            <a:r>
              <a:t>версии, полезнее, чем знать список новых возможностей.</a:t>
            </a:r>
          </a:p>
          <a:p>
            <a:r>
              <a:t/>
            </a:r>
          </a:p>
          <a:p>
            <a:r>
              <a:t>У того же правила есть обратная сторона, иначе оно читается как совет не пользоваться</a:t>
            </a:r>
          </a:p>
          <a:p>
            <a:r>
              <a:t>инструментом. Сжатие выбрасывает высокие частоты и мелкие детали — и ровно поэтому генерация</a:t>
            </a:r>
          </a:p>
          <a:p>
            <a:r>
              <a:t>отлично работает там, где значима композиция, цвет, настроение и общая форма, то есть на</a:t>
            </a:r>
          </a:p>
          <a:p>
            <a:r>
              <a:t>стадии, где облик ещё ищут. Отказы и выигрыш распределены по стадиям производства, а не по</a:t>
            </a:r>
          </a:p>
          <a:p>
            <a:r>
              <a:t>качеству модели: на поиске облика свойство работает на вас, на выпуске готового материала —</a:t>
            </a:r>
          </a:p>
          <a:p>
            <a:r>
              <a:t>против. Знание границы избавляет от выбора между «пользоваться» и «не пользоваться»: инструмент</a:t>
            </a:r>
          </a:p>
          <a:p>
            <a:r>
              <a:t>расставляют по стадиям, и это куда более инженерный ответ, чем оба крайних.</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Здесь стоит остановиться: это и есть опасная часть. Непроверенная конструкция</a:t>
            </a:r>
          </a:p>
          <a:p>
            <a:r>
              <a:t>выглядит ровно так же, как прошедшая проверку. У ошибки нет внешнего признака, по которому её</a:t>
            </a:r>
          </a:p>
          <a:p>
            <a:r>
              <a:t>поймал бы беглый взгляд или согласование. Именно это делает ограничение опасным, а не просто</a:t>
            </a:r>
          </a:p>
          <a:p>
            <a:r>
              <a:t>неудобным: неудобное ограничение заставляет делать лишнюю работу, опасное позволяет не делать</a:t>
            </a:r>
          </a:p>
          <a:p>
            <a:r>
              <a:t>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Там выигрыш в сорок пять</a:t>
            </a:r>
          </a:p>
          <a:p>
            <a:r>
              <a:t>процентов массы дала оптимизация под физический критерий, а обученной модели в контуре не было</a:t>
            </a:r>
          </a:p>
          <a:p>
            <a:r>
              <a:t>вовсе — и ошибка состояла в том, что выигрыш ей приписали. Здесь ровно тот же сюжет с другого</a:t>
            </a:r>
          </a:p>
          <a:p>
            <a:r>
              <a:t>конца: там выигрыш приписали модели задним числом, здесь модель пытаются поставить туда, где</a:t>
            </a:r>
          </a:p>
          <a:p>
            <a:r>
              <a:t>нужен решатель, заранее. Обе ошибки — одного класса, и обе ловятся одним вопросом: что в этой</a:t>
            </a:r>
          </a:p>
          <a:p>
            <a:r>
              <a:t>задаче критерий и можно ли его проверить вычислением. Если можно — нужен инструмент, который</a:t>
            </a:r>
          </a:p>
          <a:p>
            <a:r>
              <a:t>считает. Если критерий вкусовой — тогда генератор, и тогда же появляются отбор, права и спор</a:t>
            </a:r>
          </a:p>
          <a:p>
            <a:r>
              <a:t>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расшумлении. Контекста в том смысле, в каком курс о нём</a:t>
            </a:r>
          </a:p>
          <a:p>
            <a:r>
              <a:t>говорил, здесь нет вовсе. Описание — постоянное условие, неизменное на всех пятидесяти шагах, и</a:t>
            </a:r>
          </a:p>
          <a:p>
            <a:r>
              <a:t>оно входит в сеть как набор векторов, смещающих внимание. Истории нет, накопления нет, места</a:t>
            </a:r>
          </a:p>
          <a:p>
            <a:r>
              <a:t>«рядом с вопросом» нет. Положить документ некуда: единственный вход, кроме стартового шума, —</a:t>
            </a:r>
          </a:p>
          <a:p>
            <a:r>
              <a:t>это каналы обусловливания, и все они передают геометрию и стиль, а не утверждения.</a:t>
            </a:r>
          </a:p>
          <a:p>
            <a:r>
              <a:t/>
            </a:r>
          </a:p>
          <a:p>
            <a:r>
              <a:t>Шаг третий: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четвёртый: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Различать это обязательно: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читать это надо именно так,</a:t>
            </a:r>
          </a:p>
          <a:p>
            <a:r>
              <a:t>а не как дополнительную удобную функцию.</a:t>
            </a:r>
          </a:p>
          <a:p>
            <a:r>
              <a:t/>
            </a:r>
          </a:p>
          <a:p>
            <a:r>
              <a:t>И финальное обобщение, которое, вероятно, и есть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становится</a:t>
            </a:r>
          </a:p>
          <a:p>
            <a:r>
              <a:t>ограничением, которое нельзя нарушить.</a:t>
            </a:r>
          </a:p>
          <a:p>
            <a:r>
              <a:t/>
            </a:r>
          </a:p>
          <a:p>
            <a:r>
              <a:t>Контраст здесь резкий, и назвать его надо прямо. Курс показал механизм, который ограничением</a:t>
            </a:r>
          </a:p>
          <a:p>
            <a:r>
              <a:t>является: грамматика схемы маскирует невалидные токены при декодировании, и невалидный формат</a:t>
            </a:r>
          </a:p>
          <a:p>
            <a:r>
              <a:t>физически не может быть сгенерирован — именно не может, и «обычно не генерируется» тут</a:t>
            </a:r>
          </a:p>
          <a:p>
            <a:r>
              <a:t>слишком слабая формулировка. Инженер к этому привыкает и переносит ожидание на новое</a:t>
            </a:r>
          </a:p>
          <a:p>
            <a:r>
              <a:t>семейство. Аналога здесь нет, и он не появится, пока выход непрерывен: маскировать нечего,</a:t>
            </a:r>
          </a:p>
          <a:p>
            <a:r>
              <a:t>запрещать нечему, непрерывную величину нельзя вычеркнуть из словаря, которого не 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 назвать его надо прежде, чем читать остальное: он объясняет, почему</a:t>
            </a:r>
          </a:p>
          <a:p>
            <a:r>
              <a:t>кадр устроен именно так. Измеренного ряда ставки самого иллюстратора год к году — то есть</a:t>
            </a:r>
          </a:p>
          <a:p>
            <a:r>
              <a:t>ответа на вопрос «сколько она была в 2021-м и сколько стала в 2026-м» — в источниках нет.</a:t>
            </a:r>
          </a:p>
          <a:p>
            <a:r>
              <a:t>Уровень классических ставок известен, динамика не измерена. Подставлять сюда оценку или</a:t>
            </a:r>
          </a:p>
          <a:p>
            <a:r>
              <a:t>чьё-нибудь впечатление нельзя: курс этого не принимает, и здесь правило работает против</a:t>
            </a:r>
          </a:p>
          <a:p>
            <a:r>
              <a:t>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звучать это должно иначе — попытка</a:t>
            </a:r>
          </a:p>
          <a:p>
            <a:r>
              <a:t>защититься не сработала. Это частный случай того, как отраслевая аналитика устаревает:</a:t>
            </a:r>
          </a:p>
          <a:p>
            <a:r>
              <a:t>утверждение было верным в момент объявления сделки и перестало быть верным через год, а</a:t>
            </a:r>
          </a:p>
          <a:p>
            <a:r>
              <a:t>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манёвра одного и того же игрока с разницей в двадцать лет; польза разбора — в их сравнении.</a:t>
            </a:r>
          </a:p>
          <a:p>
            <a:r>
              <a:t>В обоих случаях владелец дорогой библиотеки видит, что цена единицы его товара обрушилась, и в</a:t>
            </a:r>
          </a:p>
          <a:p>
            <a:r>
              <a:t>обоих случаях отвечает покупкой. В первом случае манёвр сработал, во втором не прошёл, и</a:t>
            </a:r>
          </a:p>
          <a:p>
            <a:r>
              <a:t>причина различия не в исполнении.</a:t>
            </a:r>
          </a:p>
          <a:p>
            <a:r>
              <a:t/>
            </a:r>
          </a:p>
          <a:p>
            <a:r>
              <a:t>Две тысячи шестой год. Классические агентства продавали изображение по цене от нескольких сотен</a:t>
            </a:r>
          </a:p>
          <a:p>
            <a:r>
              <a:t>до нескольких тысяч долларов; микросток продавал то же самое по двадцать пять центов — доллару</a:t>
            </a:r>
          </a:p>
          <a:p>
            <a:r>
              <a:t>за штуку. Владелец дорогой библиотеки купил микросток, то есть собственного разрушителя цены.</a:t>
            </a:r>
          </a:p>
          <a:p>
            <a:r>
              <a:t>Рынок после этого разделился на «дёшево и много» и «дорого и именно это», верхний сегмент выжил,</a:t>
            </a:r>
          </a:p>
          <a:p>
            <a:r>
              <a:t>и покупатель остался в нём главным. Манёвр сработал, потому что микросток был новым КАНАЛОМ</a:t>
            </a:r>
          </a:p>
          <a:p>
            <a:r>
              <a:t>продажи той же самой вещи — фотографии, снятой человеком. Канал можно купить: у него есть</a:t>
            </a:r>
          </a:p>
          <a:p>
            <a:r>
              <a:t>владелец, есть договор, есть цена.</a:t>
            </a:r>
          </a:p>
          <a:p>
            <a:r>
              <a:t/>
            </a:r>
          </a:p>
          <a:p>
            <a:r>
              <a:t>Две тысячи двадцать шестой год. Тот же игрок пытается объединиться с конкурентом. Слияние</a:t>
            </a:r>
          </a:p>
          <a:p>
            <a:r>
              <a:t>расторгнуто седьмого июля после условия регулятора продать весь редакционный бизнес; торги</a:t>
            </a:r>
          </a:p>
          <a:p>
            <a:r>
              <a:t>остановлены двадцать девятого сентября; заранее согласованное банкротство подано двенадцатого —</a:t>
            </a:r>
          </a:p>
          <a:p>
            <a:r>
              <a:t>тринадцатого октября. Манёвр не прошёл, и регулятор здесь ни при чём: даже состоявшееся слияние</a:t>
            </a:r>
          </a:p>
          <a:p>
            <a:r>
              <a:t>двух продавцов фотографий не вернуло бы цену единицы, потому что обесценилась не их доля рынка,</a:t>
            </a:r>
          </a:p>
          <a:p>
            <a:r>
              <a:t>а сам товар.</a:t>
            </a:r>
          </a:p>
          <a:p>
            <a:r>
              <a:t/>
            </a:r>
          </a:p>
          <a:p>
            <a:r>
              <a:t>Разница между двумя случаями формулируется одной строкой, и строку эту стоит унести целиком.</a:t>
            </a:r>
          </a:p>
          <a:p>
            <a:r>
              <a:t>Генерация — это ОТСУТСТВИЕ ВЕЩИ, которую нужно лицензировать. Купить её владельца невозможно,</a:t>
            </a:r>
          </a:p>
          <a:p>
            <a:r>
              <a:t>потому что владельца нет: нет компании, у которой можно приобрести право на то, чтобы люди</a:t>
            </a:r>
          </a:p>
          <a:p>
            <a:r>
              <a:t>перестали генерировать картинки, и нет договора, который это право оформил бы. Когда дешевеет</a:t>
            </a:r>
          </a:p>
          <a:p>
            <a:r>
              <a:t>канал, выживает тот, кто канал купит. Когда обесценивается сама единица, покупать нечего.</a:t>
            </a:r>
          </a:p>
          <a:p>
            <a:r>
              <a:t/>
            </a:r>
          </a:p>
          <a:p>
            <a:r>
              <a:t>Отдельно стоит снять прежнюю формулировку, которая ходила по обзорам в начале две тысячи</a:t>
            </a:r>
          </a:p>
          <a:p>
            <a:r>
              <a:t>двадцать шестого: «продавцы изображений консолидируются в ответ на искусственный интеллект».</a:t>
            </a:r>
          </a:p>
          <a:p>
            <a:r>
              <a:t>Звучит она как стратегия, а описывает попытку защититься, которая не сработала. Разница между</a:t>
            </a:r>
          </a:p>
          <a:p>
            <a:r>
              <a:t>«отрасль консолидируется» и «попытка защититься провалилась» практическая: на первом</a:t>
            </a:r>
          </a:p>
          <a:p>
            <a:r>
              <a:t>утверждении можно строить прогноз, на втором — только вывод о том, что прогнозировать рано.</a:t>
            </a:r>
          </a:p>
          <a:p>
            <a:r>
              <a:t/>
            </a:r>
          </a:p>
          <a:p>
            <a:r>
              <a:t>Что отсюда уносит инженер, а не биржевой обозреватель. Прежде чем планировать ответ на</a:t>
            </a:r>
          </a:p>
          <a:p>
            <a:r>
              <a:t>удешевление, спросите, что именно подешевело: канал доставки вашего товара или сам товар. Это</a:t>
            </a:r>
          </a:p>
          <a:p>
            <a:r>
              <a:t>разные положения, и лечатся они по-разному. Подешевевший канал покупают, перехватывают или</a:t>
            </a:r>
          </a:p>
          <a:p>
            <a:r>
              <a:t>обходят — он чей-то, и с ним можно договориться. Обесценившаяся единица не лечится покупкой</a:t>
            </a:r>
          </a:p>
          <a:p>
            <a:r>
              <a:t>вовсе: единственный ход здесь — найти, что в вашей работе не является этой единицей, и перенести</a:t>
            </a:r>
          </a:p>
          <a:p>
            <a:r>
              <a:t>туда цену. Для продавца изображений таким остатком оказался редакционный архив, то есть снимки</a:t>
            </a:r>
          </a:p>
          <a:p>
            <a:r>
              <a:t>конкретных событий, которых не существует в сгенерированном виде по определению, — и показательно,</a:t>
            </a:r>
          </a:p>
          <a:p>
            <a:r>
              <a:t>что именно его регулятор потребовал продать, а сделка на этом и рассыпалась.</a:t>
            </a:r>
          </a:p>
          <a:p>
            <a:r>
              <a:t/>
            </a:r>
          </a:p>
          <a:p>
            <a:r>
              <a:t>И последнее — про то, как эта пара случаев читается в собственной работе. Проверка занимает одну</a:t>
            </a:r>
          </a:p>
          <a:p>
            <a:r>
              <a:t>минуту: выпишите, за что именно вам платят, и спросите по каждой строке, существует ли у неё</a:t>
            </a:r>
          </a:p>
          <a:p>
            <a:r>
              <a:t>владелец. Там, где владелец есть, удешевление проходит как смена поставщика, и к нему можно</a:t>
            </a:r>
          </a:p>
          <a:p>
            <a:r>
              <a:t>подготовиться договором. Там, где владельца нет, договариваться не с кем, и единственный честный</a:t>
            </a:r>
          </a:p>
          <a:p>
            <a:r>
              <a:t>план — заранее знать, какая часть работы останется, когда единица обесценится до нуля. Для</a:t>
            </a:r>
          </a:p>
          <a:p>
            <a:r>
              <a:t>продавца изображений такой частью оказался архив конкретных событий; для исполнителя, скорее</a:t>
            </a:r>
          </a:p>
          <a:p>
            <a:r>
              <a:t>всего, ею окажется отбор и ответственность за выпуск, то есть ровно то, что весь вечер уезжает</a:t>
            </a:r>
          </a:p>
          <a:p>
            <a:r>
              <a:t>вправо.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Деталь эта кажется технической, а она и есть инженерный вывод кадра: выиграть удалось ровно по</a:t>
            </a:r>
          </a:p>
          <a:p>
            <a:r>
              <a:t>тому каналу, где нарушение видно на выходе, то есть там, где внешняя проверка результата</a:t>
            </a:r>
          </a:p>
          <a:p>
            <a:r>
              <a:t>вообще возможна.</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нет доктрины</a:t>
            </a:r>
          </a:p>
          <a:p>
            <a:r>
              <a:t>добросовестного использования в американском смысле; есть узкие исключения, в которые обучение</a:t>
            </a:r>
          </a:p>
          <a:p>
            <a:r>
              <a:t>коммерческой модели не укладывается. Отсюда вывод разбора: один и тот же спор в двух</a:t>
            </a:r>
          </a:p>
          <a:p>
            <a:r>
              <a:t>юрисдикциях проигрывают двумя разными способами — в США потому, что обучение на законно</a:t>
            </a:r>
          </a:p>
          <a:p>
            <a:r>
              <a:t>приобретённых материалах признают преобразующим использованием, в Великобритании потому, что</a:t>
            </a:r>
          </a:p>
          <a:p>
            <a:r>
              <a:t>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 Проверять эту разницу приходится почти в каждом правовом заголовке, и приём тут один:</a:t>
            </a:r>
          </a:p>
          <a:p>
            <a:r>
              <a:t>найти, по какому требованию вынесено решение, и сверить его с тем, о чём написан заголовок.</a:t>
            </a:r>
          </a:p>
          <a:p>
            <a:r>
              <a:t/>
            </a:r>
          </a:p>
          <a:p>
            <a:r>
              <a:t>Что отсюда уносит инженер, а не юрист. Первое: веса модели и обучающий набор — разные объекты</a:t>
            </a:r>
          </a:p>
          <a:p>
            <a:r>
              <a:t>права, и суд в этом деле разделил их явно. Второе: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a:t>
            </a:r>
          </a:p>
          <a:p>
            <a:r>
              <a:t/>
            </a:r>
          </a:p>
          <a:p>
            <a:r>
              <a:t>Третье, практическое: читая правовую новость, различайте пять статусов — иск подан, решение</a:t>
            </a:r>
          </a:p>
          <a:p>
            <a:r>
              <a:t>вынесено, мировое без признания вины, закон принят, закон вступил в силу. Это дело даёт сразу</a:t>
            </a:r>
          </a:p>
          <a:p>
            <a:r>
              <a:t>два из них: по весам — решение вынесено и обжаловано, по обучению — ничего, то есть статуса</a:t>
            </a:r>
          </a:p>
          <a:p>
            <a:r>
              <a:t>нет вовсе. Строить проект на «решении, которого нет», — самая дешёвая и частая ошибка в этой</a:t>
            </a:r>
          </a:p>
          <a:p>
            <a:r>
              <a:t>области, и стоит она ровно столько, сколько стоит переделка, когда апелляция решит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Экономика, которая стоит рядом с судебным решением, полезна как упражнение в счёте, и считать</a:t>
            </a:r>
          </a:p>
          <a:p>
            <a:r>
              <a:t>её надо вместе с залом. Внутри обучающего корпуса оказалось двенадцать миллионов триста тысяч</a:t>
            </a:r>
          </a:p>
          <a:p>
            <a:r>
              <a:t>изображений истца из примерно пяти миллиардов восьмисот пятидесяти миллионов пар. То есть доля</a:t>
            </a:r>
          </a:p>
          <a:p>
            <a:r>
              <a:t>истца в корпусе — около двух десятых процента; это первое число, и оно само по себе мало о чём</a:t>
            </a:r>
          </a:p>
          <a:p>
            <a:r>
              <a:t>говорит, пока к нему не приложен тариф.</a:t>
            </a:r>
          </a:p>
          <a:p>
            <a:r>
              <a:t/>
            </a:r>
          </a:p>
          <a:p>
            <a:r>
              <a:t>Дальше начинается то, ради чего кадр и стоит. По оптовому тарифу в два доллара пятьдесят центов</a:t>
            </a:r>
          </a:p>
          <a:p>
            <a:r>
              <a:t>за изображение двенадцать миллионов триста тысяч дают около тридцати миллионов семисот</a:t>
            </a:r>
          </a:p>
          <a:p>
            <a:r>
              <a:t>пятидесяти тысяч долларов. По розничному тарифу в сто тридцать долларов те же двенадцать</a:t>
            </a:r>
          </a:p>
          <a:p>
            <a:r>
              <a:t>миллионов триста тысяч дают около миллиарда шестисот миллионов. Разброс в пятьдесят раз</a:t>
            </a:r>
          </a:p>
          <a:p>
            <a:r>
              <a:t>получается от одного только выбора тарифа внутри классического режима — то есть никакой</a:t>
            </a:r>
          </a:p>
          <a:p>
            <a:r>
              <a:t>генерации, никакой новой технологии, одна строка прейскуранта. Это ровно то же наблюдение,</a:t>
            </a:r>
          </a:p>
          <a:p>
            <a:r>
              <a:t>которым открывался раздел, когда речь шла о цене одной годной картинки, и здесь оно возвращается</a:t>
            </a:r>
          </a:p>
          <a:p>
            <a:r>
              <a:t>в правовой рамке: выбирая базу, человек выбирает вывод.</a:t>
            </a:r>
          </a:p>
          <a:p>
            <a:r>
              <a:t/>
            </a:r>
          </a:p>
          <a:p>
            <a:r>
              <a:t>Третья величина рядом — та, по которой рынок договорился на самом деле. В музыке после</a:t>
            </a:r>
          </a:p>
          <a:p>
            <a:r>
              <a:t>урегулирований согласованная ставка составила две десятых — пять десятых цента за генерацию,</a:t>
            </a:r>
          </a:p>
          <a:p>
            <a:r>
              <a:t>то есть на три-четыре порядка ниже стокового тарифа за единицу. Сравнивать её с тарифом за</a:t>
            </a:r>
          </a:p>
          <a:p>
            <a:r>
              <a:t>изображение напрямую нельзя: это разные модальности и разные единицы, — но порядок величины</a:t>
            </a:r>
          </a:p>
          <a:p>
            <a:r>
              <a:t>говорит о том, во что рынок оценивает одно обращение к модели, когда платит добровольно и</a:t>
            </a:r>
          </a:p>
          <a:p>
            <a:r>
              <a:t>заранее, а не по решению суда.</a:t>
            </a:r>
          </a:p>
          <a:p>
            <a:r>
              <a:t/>
            </a:r>
          </a:p>
          <a:p>
            <a:r>
              <a:t>Четвёртая величина — статутный потолок: ставка за произведение, умноженная на число</a:t>
            </a:r>
          </a:p>
          <a:p>
            <a:r>
              <a:t>произведений, даёт свыше девяти миллиардов. Это арифметика, а не требование: такой суммы никто</a:t>
            </a:r>
          </a:p>
          <a:p>
            <a:r>
              <a:t>не присуждал и, по всему судя, не присудит. Встречая её в заголовке, помните, из чего она</a:t>
            </a:r>
          </a:p>
          <a:p>
            <a:r>
              <a:t>получена, — и это общий навык чтения правовых новостей, а не частность одного дела.</a:t>
            </a:r>
          </a:p>
          <a:p>
            <a:r>
              <a:t/>
            </a:r>
          </a:p>
          <a:p>
            <a:r>
              <a:t>Что отсюда уносит инженер. Первое: прежде чем повторять сумму иска, спросите, по какому тарифу она</a:t>
            </a:r>
          </a:p>
          <a:p>
            <a:r>
              <a:t>посчитана и кто этот тариф выбрал. Между оптом и розницей внутри одного прейскуранта лежат два</a:t>
            </a:r>
          </a:p>
          <a:p>
            <a:r>
              <a:t>порядка, и человек, которому нужен определённый вывод, получит его, просто взяв удобную строку.</a:t>
            </a:r>
          </a:p>
          <a:p>
            <a:r>
              <a:t>Второе: узкая победа в этом деле пришла по товарному знаку, то есть по единственному каналу, где</a:t>
            </a:r>
          </a:p>
          <a:p>
            <a:r>
              <a:t>нарушение видно на выходе — водяной знак воспроизвёлся в кадре. Это прямое следствие того, что</a:t>
            </a:r>
          </a:p>
          <a:p>
            <a:r>
              <a:t>провенанса у кадра не существует: проверка возможна только снаружи, по содержимому результата, и</a:t>
            </a:r>
          </a:p>
          <a:p>
            <a:r>
              <a:t>выиграть удалось ровно там, где такая внешняя проверка сработала. Третье, прикладное: если в вашем</a:t>
            </a:r>
          </a:p>
          <a:p>
            <a:r>
              <a:t>проекте есть риск воспроизведения чужой охраняемой работы, единственный работающий механизм</a:t>
            </a:r>
          </a:p>
          <a:p>
            <a:r>
              <a:t>контроля — внешний, то есть обратный поиск по изображению на выпуске, а не настройка внутри</a:t>
            </a:r>
          </a:p>
          <a:p>
            <a:r>
              <a:t>модели.</a:t>
            </a:r>
          </a:p>
          <a:p>
            <a:r>
              <a:t/>
            </a:r>
          </a:p>
          <a:p>
            <a:r>
              <a:t>И последнее — про то, чего в этом счёте нет вовсе. Ни одна из четырёх величин не отвечает на</a:t>
            </a:r>
          </a:p>
          <a:p>
            <a:r>
              <a:t>вопрос, сколько потерял конкретный автор, чьё изображение попало в корпус. Доля в корпусе — это</a:t>
            </a:r>
          </a:p>
          <a:p>
            <a:r>
              <a:t>не доля во вкладе: двенадцать миллионов изображений одного поставщика влияют на веса в</a:t>
            </a:r>
          </a:p>
          <a:p>
            <a:r>
              <a:t>зависимости от того, сколько среди них дубликатов и насколько они отличаются от остального</a:t>
            </a:r>
          </a:p>
          <a:p>
            <a:r>
              <a:t>корпуса. Измеренного способа посчитать вклад одного примера в обученную модель на сегодня нет,</a:t>
            </a:r>
          </a:p>
          <a:p>
            <a:r>
              <a:t>и это не пробел конкретного дела, а свойство предмета. Поэтому все суммы, которые называются в</a:t>
            </a:r>
          </a:p>
          <a:p>
            <a:r>
              <a:t>исках, считаются по тарифам за доступ к произведению, а не за его вклад, — и об этом нельзя</a:t>
            </a:r>
          </a:p>
          <a:p>
            <a:r>
              <a:t>забывать, когда очередной обзор переводит такую сумму в «ущерб авторам».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Рядом хорошо работает вспомогательное</a:t>
            </a:r>
          </a:p>
          <a:p>
            <a:r>
              <a:t>наблюдение: репозиторий одних только ссылок и подписей, без единой картинки, весит четыреста</a:t>
            </a:r>
          </a:p>
          <a:p>
            <a:r>
              <a:t>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a:t>
            </a:r>
          </a:p>
          <a:p>
            <a:r>
              <a:t>составляют примерно один на миллион обучающих. Карточка модели подтверждает это с другой</a:t>
            </a:r>
          </a:p>
          <a:p>
            <a:r>
              <a:t>стороны: никаких мер по дедупликации набора данных не применялось, и запоминание изображений,</a:t>
            </a:r>
          </a:p>
          <a:p>
            <a:r>
              <a:t>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ничего, кроме того, что оно существует.</a:t>
            </a:r>
          </a:p>
          <a:p>
            <a:r>
              <a:t/>
            </a:r>
          </a:p>
          <a:p>
            <a:r>
              <a:t>Различать статусы обязательно — смешение превращает незавершённый спор в свершившийся</a:t>
            </a:r>
          </a:p>
          <a:p>
            <a:r>
              <a:t>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 дать техническую возможность.</a:t>
            </a:r>
          </a:p>
          <a:p>
            <a:r>
              <a:t/>
            </a:r>
          </a:p>
          <a:p>
            <a:r>
              <a:t>Но прикладной смысл этой строки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У этого раздела адрес двойной: отбор — все три подробных</a:t>
            </a:r>
          </a:p>
          <a:p>
            <a:r>
              <a:t>разбора, и права — правовой разбор и три упоминания. Узнавание в разделе не звучит ни разу, и</a:t>
            </a:r>
          </a:p>
          <a:p>
            <a:r>
              <a:t>это свойство модальности: у неподвижного изображения нет подписи, которая подтверждалась бы</a:t>
            </a:r>
          </a:p>
          <a:p>
            <a:r>
              <a:t>сама собой. В разделе про голос 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задаёт всю стадию: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открыла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этой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описания стадии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генерации с партитурой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стадий стоит держать целиком, и причина одна: все восемь способов получить изображение сосуществуют, и ни один из семи прежних не отменён восьмым.</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восьмой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восьми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технического блока —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статья так и называется: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оценка.</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даётся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само это умолчание — уже сведение о модели: вам показали множитель, который легче объяснить, и обошли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ролик длиной 66 секунд.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ассета состоит из девяти стадий, и назвать их по именам важно по одной причине —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a:p>
            <a:r>
              <a:t/>
            </a:r>
          </a:p>
          <a:p>
            <a:r>
              <a:t>Перечислить девять стадий по именам надо целиком: без имён эту границу негде будет провести. Первый участок — поиск облика. Концепт: изображение или набросок, по которому принимается решение «делаем или не делаем». Блокинг: грубая форма из коробок, цилиндров и сфер, на которой проверяют силуэт и пропорции. Скульптинг: доведение формы до миллионов треугольников, когда появляются складки, поры и мелкий рельеф.</a:t>
            </a:r>
          </a:p>
          <a:p>
            <a:r>
              <a:t/>
            </a:r>
          </a:p>
          <a:p>
            <a:r>
              <a:t>Второй участок — подготовка к производству, и он самый дорогой. Ретопология: поверх вылепленной формы строится заново чистая сетка — та, по которой потом можно будет анимировать, с петлями рёбер вокруг суставов, рта и века. Развёртка: поверхность разрезается по спланированным швам и раскладывается в плоскость, чтобы на неё можно было нанести рисунок без искажений и без видимых стыков. Текстурирование: по этой развёртке рисуются карты цвета, шероховатости, отражения и микрорельефа. Риггинг: внутрь ставится скелет, вершины привязываются к костям с весами, сверху собираются управляющие элементы, которыми объект потом двигают.</a:t>
            </a:r>
          </a:p>
          <a:p>
            <a:r>
              <a:t/>
            </a:r>
          </a:p>
          <a:p>
            <a:r>
              <a:t>Третий участок — использование. Анимация и расчёт ткани: форма деформируется по костям, ткань и волосы считаются физикой. Рендер и сборка: из сцены получается изображение, которое пойдёт в монтаж.</a:t>
            </a:r>
          </a:p>
          <a:p>
            <a:r>
              <a:t/>
            </a:r>
          </a:p>
          <a:p>
            <a:r>
              <a:t>Девять стадий, собранные в три участка, — это и есть «как это делали без модели», и делали так тридцать лет. Внутри каждого участка стоимость отказа разная, и разница эта не косметическая: выбросить неудачный замысел на блокинге стоит часов, на стадии анимации — недель. Весь порядок конвейера построен ровно на этой арифметике: сначала дешёвые решения о форме, потом дорогие вложения в неё. Когда дальше в разделе речь пойдёт о том, что генератор «выдаёт ассет за восемь секунд», держите этот список перед глазами и спрашивайте, какие именно из девяти стадий он закрывает. Ответ окажется неожиданно скромным, и он виден прямо из устройства метода, а не из чьих-то оценок.</a:t>
            </a:r>
          </a:p>
          <a:p>
            <a:r>
              <a:t/>
            </a:r>
          </a:p>
          <a:p>
            <a:r>
              <a:t>Из этого же списка видно, почему автоматический скелет, которым хвалятся генераторы с 2026 года, не закрывает риггинг. Скелет ставится поверх той сетки, которая есть; если сетка построена не по анатомии, кости окажутся в ней там, где удобно алгоритму, а не там, где у объекта сгибается сустав. Деформация при этом будет считаться честно — и честно давать смятую поверхность на каждом сгибе.</a:t>
            </a:r>
          </a:p>
          <a:p>
            <a:r>
              <a:t/>
            </a:r>
          </a:p>
          <a:p>
            <a:r>
              <a:t>И последнее, что стоит унести с этого кадра. Конвейер из девяти стадий — не бюрократия и не наследие: это порядок, в котором дешёвые решения принимаются раньше дорогих. Любая технология, которая обещает «пропустить середину», обязана ответить, кто теперь принимает те решения, которые принимались на пропущенных стадиях, и за чей счёт исправляются ошибки, которые на них ловились. Это вопрос, который стоит задавать не только про трёхмерную графику.</a:t>
            </a:r>
          </a:p>
          <a:p>
            <a:r>
              <a:t/>
            </a:r>
          </a:p>
          <a:p>
            <a:r>
              <a:t>Стоит назвать и единицу, в которой этот конвейер меряют в производстве. Она человеко-центричная: не «миллионы треугольников», а человеко-дни на ассет и число кругов правок до приёмки. В этой единице три стадии второго участка — ретопология, развёртка и риггинг — и оказываются самыми дорогими: они требуют не вкуса, а знания анатомии, знания того, как объект будет двигаться, и дисциплины. Именно поэтому их отдают отдельным специалистам, а не художнику, который вылепил форму.</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Остальные четыре способа стоит назвать так же подробно. Лазерное сканирование: прибор измеряет расстояние до поверхности и строит облако точек напрямую — точнее фотограмметрии по геометрии и беднее по цвету. Ручное моделирование в редакторе: единственный способ получить объект, которого в природе не существует, и до 2022 года единственный способ вообще. Захват движения: даёт не форму, а изменение формы во времени — то, как объект двигается. Покупка готового ассета из каталога: самый дешёвый путь и самый узкий, потому что берёте вы то, что кто-то уже сделал, а не то, что вам нужно.</a:t>
            </a:r>
          </a:p>
          <a:p>
            <a:r>
              <a:t/>
            </a:r>
          </a:p>
          <a:p>
            <a:r>
              <a:t>Теперь то, ради чего список приведён полностью. Обученная модель добавила к этим пяти шестой вход — текстовое описание. Это новый способ, которого не было вовсе: раньше, чтобы получить объект, нужно было либо снять существующий, либо вылепить несуществующий руками. Кроме того, модель заметно удешевила первый способ: набор снимков превращается в пригодную сцену за минуты вместо суток, и дальше в разделе это будет показано числами. Остальные четыре способа она оставила ровно такими, какими они были.</a:t>
            </a:r>
          </a:p>
          <a:p>
            <a:r>
              <a:t/>
            </a:r>
          </a:p>
          <a:p>
            <a:r>
              <a:t>Отдельно стоит задержаться на лазерном сканере, и задержаться не ради полноты списка. Сканер как мерил размеры, так и мерит: его выход — это координаты в метрах, с погрешностью, которую можно назвать. Ни один из входов, появившихся вместе с обученной моделью, размеров не даёт и дать не может, и через несколько кадров раздел покажет, почему это ограничение не закрывается следующей версией модели, а следует из устройства метода. Запомните эту асимметрию: приборные способы получения данных измеряют, порождающие — правдоподобно выглядят. Для инженера это ровно та развилка, по которой выбирают инструмент: если результат пойдёт в чертёж, на станок или в расчёт, вам нужен способ, который меряет, а не способ, который угадывает.</a:t>
            </a:r>
          </a:p>
          <a:p>
            <a:r>
              <a:t/>
            </a:r>
          </a:p>
          <a:p>
            <a:r>
              <a:t>Полезно заметить и то, чего в этом списке нет ни у одного из шести входов. Ни фотограмметрия, ни сканирование, ни захват движения, ни каталог, ни ручное моделирование, ни текстовое описание не дают ответа на вопрос «кто автор исходных данных и на каких условиях их можно использовать». У первых четырёх ответ известен из обстоятельств съёмки или из договора на каталог; у шестого его нет нигде, потому что форма получена снятием шума, а не взята из одного обучающего примера. Эта строка — «ответить кто отвечает» — останется пустой в накопительной карте вечера и у трёхмерного, и у всех остальных порождающих модальностей.</a:t>
            </a:r>
          </a:p>
          <a:p>
            <a:r>
              <a:t/>
            </a:r>
          </a:p>
          <a:p>
            <a:r>
              <a:t>Для практики из всего этого следует простая проверка, которую можно сделать до того, как выбирать инструмент. Выпишите, что у вас на входе: снимки существующего объекта, прибор, который его меряет, запись движения, каталог или одно только описание словами. Вход определяет задачу, задача определяет, есть ли у результата проверяемый ответ, а наличие проверяемого ответа определяет, можно ли вообще оценивать работу числом. Там, где на входе снимки, у вас есть отложенный кадр и мера совпадения. Там, где на входе только слова, меры не существует — и всякий, кто называет вам в этом случае процент качества, считает его от чего-то, чего он вам не показал.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Наблюдается постоянство объектов: покрашенная стена остаётся покрашенной после того, как пользователь ушёл и вернулся, — свойство, отсутствие которого в разделе про видео было названо главным ограничением модальности.</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тем, что покрашенная стена остаётся покрашенной после того, как пользователь ушёл и вернулся: связность среды держится несколько минут против десяти-двадцати секунд у предшественников того же класса. Случаев промышленного применения с посчитанным исходом у направления нет ни одного, и сведений о стоимости вывода тоже.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Регуляризации в методе нет вовсе — ничто не мешает ему описывать сцену средствами, физически бессмысленными, лишь бы совпали исходные снимки.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Сравнение двух устройств полезно свести в одну строку, потому что именно из устройства, а не из размера модели, берутся все четыре измеренные величины. Поле излучения хранит сцену как функцию: спрашиваешь точку и направление — получаешь плотность и цвет. Чтобы получить пиксель, надо опросить эту функцию десятки раз вдоль луча, а лучей столько, сколько пикселей. Отсюда сто пятьдесят-двести миллионов запросов сети на один кадр и тридцать секунд на кадр. Гауссово спрыскивание хранит сцену как список объектов: у каждой кляксы есть положение, форма, ориентация, непрозрачность и цвет, зависящий от направления взгляда. Чтобы получить кадр, надо спроецировать каждую кляксу на экран и смешать их в правильном порядке — ровно та операция, под которую видеокарты проектировались тридцать лет.</a:t>
            </a:r>
          </a:p>
          <a:p>
            <a:r>
              <a:t/>
            </a:r>
          </a:p>
          <a:p>
            <a:r>
              <a:t>Поэтому разница и получилась такая большая. Две тысячи двести раз по скорости показа — это не ускорение одного и того же счёта, это замена счёта другим счётом.</a:t>
            </a:r>
          </a:p>
          <a:p>
            <a:r>
              <a:t/>
            </a:r>
          </a:p>
          <a:p>
            <a:r>
              <a:t>Одно обстоятельство в устройстве второго метода часто теряется в пересказах. Спрыскивание начинает с того самого разреженного облака точек, которое и так остаётся после калибровки камер по движению. То есть бесплатный побочный продукт классической фотограмметрии оказался хорошей стартовой точкой для обученного метода. Дальше чередуются оптимизация параметров клякс и управление их плотностью: кляксы клонируются там, где деталей не хватает, разделяются там, где одна пытается описать слишком много, и удаляются там, где ничего не дают. Типичная сцена после тридцати тысяч шагов — от двухсот до пятисот тысяч гауссиан.</a:t>
            </a:r>
          </a:p>
          <a:p>
            <a:r>
              <a:t/>
            </a:r>
          </a:p>
          <a:p>
            <a:r>
              <a:t>И честный список дефектов изображения, названный авторами: вытянутые пятнистые кляксы в плохо просмотренных областях сцены, внезапные переключения порядка смешивания при движении камеры и полное отсутствие регуляризации. Последнее определяет границу применимости: метод не обязан описывать сцену физически осмысленно, он обязан воспроизвести снимки. Там, где от восстановленной сцены потребуется что-то, кроме внешнего вида с просмотренных ракурсов, это ограничение проявится сразу.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разменной монетой не было.</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уже не про графику. У вопроса «что за это заплачено» ответ есть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Отдельный вопрос — кто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решающей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a:p>
            <a:r>
              <a:t/>
            </a:r>
          </a:p>
          <a:p>
            <a:r>
              <a:t>И вторая половина ответа, которую легко потерять. Заплачено не качеством: разница меньше полудецибела, на интерьерном наборе счёт поровну. Заплачено и не временем обучения: оно тоже упало — с 48 часов до 41 минуты 33 секунд на ту же сцену и том же ускорителе. Три величины из четырёх улучшились, и ровно поэтому четвёртую — размер сцены, выросший примерно в 85 раз, — так легко не заметить, если её не искать специально.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решало: трёхмерных корпусов нужного масштаба попросту не существовало.</a:t>
            </a:r>
          </a:p>
          <a:p>
            <a:r>
              <a:t/>
            </a:r>
          </a:p>
          <a:p>
            <a:r>
              <a:t>Цена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Поставьте два устройства рядом и посмотрите, что в них общего и чем они различаются. Общее: оба получают объект, которого в природе нет, и ни у одного из них нет отложенного снимка, с которым результат можно сверить. Значит, у обоих нет меры правильности — есть только пригодность, и судит её человек.</a:t>
            </a:r>
          </a:p>
          <a:p>
            <a:r>
              <a:t/>
            </a:r>
          </a:p>
          <a:p>
            <a:r>
              <a:t>Различие — в том, где лежит знание о трёхмерном. У первого способа его нет нигде: плоская модель знает только, как выглядят картинки, и трёхмерность возникает из требования «нравиться этой модели со всех случайных ракурсов сразу». Отсюда и его известные дефекты: объект, который со всех сторон похож на лицо, может оказаться лицом с обеих сторон головы, потому что плоскому судье такой ракурс нравится ничуть не меньше. У второго способа знание о трёхмерном лежит в корпусе: полмиллиона объектов, на которых генератор видел, как устроены настоящие формы.</a:t>
            </a:r>
          </a:p>
          <a:p>
            <a:r>
              <a:t/>
            </a:r>
          </a:p>
          <a:p>
            <a:r>
              <a:t>Отсюда и практическая развилка, которая переживёт обе конкретные работы. Метод без трёхмерных данных применим там, где таких данных нет вовсе, — и платит временем и дефектами геометрии. Метод с корпусом быстр и устойчив внутри того, что в корпусе было, и выдаёт правдоподобную чепуху за пределами. Вопрос «на чём обучено» здесь не формальность для юриста: это прямое описание границы, за которой инструмент перестаёт работать, и задавать его надо до внедрения, а не после.</a:t>
            </a:r>
          </a:p>
          <a:p>
            <a:r>
              <a:t/>
            </a:r>
          </a:p>
          <a:p>
            <a:r>
              <a:t>Напоследок — деталь, которая показывает, насколько разные у этих двух устройств требования к инфраструктуре. Первому нужна одна машина и полтора часа на каждый объект, и больше ничего: ни корпуса, ни обучения, ни хранения весов. Второму нужны шестьдесят четыре ускорителя, четыреста тысяч шагов обучения и полмиллиона размеченных объектов — один раз, после чего каждый следующий объект стоит десять секунд. Это две разные экономики, и выбор между ними зависит не от того, какая технология новее, а от того, сколько объектов вам нужно.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Чего у него нет, надо сказать так же отчётливо: ни одного случая промышленного применения с посчитанным исходом, ни сведений о стоимости вывода, ни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как именно выдерживают этот бюджет: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Список «чего не умеет» здесь — половина содержания, и вот почему. Каждый из названных случаев следует из устройства метода, а не из недоработки версии. Интерфейс не имеет векторов движения — их просто неоткуда взять, потому что интерфейс не часть трёхмерной сцены. Для бликов и отражений векторы движения неверны по построению: отражение движется не так, как движется отражающая поверхность. Для частиц, лучей и полупрозрачности неверен буфер глубины — у полупрозрачного пикселя нет одной глубины. Разработчик сам отмечает, что такие эффекты «склонны доминировать в восприятии, хотя их доля в пикселях мала»: глаз цепляется именно за них, и артефакт там заметнее, чем на любой стене.</a:t>
            </a:r>
          </a:p>
          <a:p>
            <a:r>
              <a:t/>
            </a:r>
          </a:p>
          <a:p>
            <a:r>
              <a:t>Отдельно про задержку ввода, потому что это самая частая подмена в разговоре о достройке кадров. Достройка показывает игроку больше кадров, но не ускоряет реакцию системы на его действие ни на миллисекунду: промежуточный кадр синтезирован между двумя уже отрисованными, то есть он показывает прошлое, а не будущее. Число кадров в секунду выросло, отзывчивость — нет. Это ровно тот случай, когда улучшилась метрика, а не то, ради чего метрику вводили, и он стоит того, чтобы запомнить его как образец.</a:t>
            </a:r>
          </a:p>
          <a:p>
            <a:r>
              <a:t/>
            </a:r>
          </a:p>
          <a:p>
            <a:r>
              <a:t>Для инженера отсюда следует проверяемое правило, которое шире графики.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И последнее — о единице, в которой всё это считается. 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a:p>
            <a:r>
              <a:t/>
            </a:r>
          </a:p>
          <a:p>
            <a:r>
              <a:t>Для рабочего решения из этого следует проверяемый критерий, и формулируется он одной строкой. Если объект будет анимироваться, попадёт в крупный план или на него нужно нанести рисунок с заданным масштабом — генератор закрывает только поиск облика, а подготовка к производству остаётся в смете целиком. Если объект стоит в фоне, не двигается и не рассматривается вблизи — генератор закрывает работу от начала до конца. Между этими двумя случаями разница — в том, какие стадии конвейера за ней последуют, и решается она до запуска генератора, а не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Разложим эти три стадии по именам ещё раз, теперь с точки зрения того, кто их делает и почему их нельзя пропустить.</a:t>
            </a:r>
          </a:p>
          <a:p>
            <a:r>
              <a:t/>
            </a:r>
          </a:p>
          <a:p>
            <a:r>
              <a:t>Ретопология. Поверх полученной от генератора плотной сетки строится заново чистая: с равномерным по смыслу, а не по шагу решётки распределением многоугольников, с петлями рёбер вокруг суставов, рта и века. Делает это человек, который знает, как объект будет двигаться. Пропустить стадию нельзя не из педантизма: по сетке без петель деформация считается честно и честно даёт смятую поверхность на каждом сгибе.</a:t>
            </a:r>
          </a:p>
          <a:p>
            <a:r>
              <a:t/>
            </a:r>
          </a:p>
          <a:p>
            <a:r>
              <a:t>Развёртка. Поверхность разрезается по спланированным швам и раскладывается в плоскость. Швы планируют там, где их не будет видно, и так, чтобы масштаб рисунка на разных частях объекта совпадал. Автоматическое разрезание кладёт швы где придётся и масштаб не держит; на фоновом объекте это незаметно, на крупном плане — заметно сразу.</a:t>
            </a:r>
          </a:p>
          <a:p>
            <a:r>
              <a:t/>
            </a:r>
          </a:p>
          <a:p>
            <a:r>
              <a:t>Риггинг. Внутрь ставится скелет, вершины привязываются к костям с весами, сверху собираются управляющие элементы. Автоматический скелет, который генераторы ставят с 2026 года и на человекоподобные, и на четвероногие, и на птичьи формы, этой стадии не отменяет: он ставит кости поверх той сетки, которая есть, со всеми её свойствами.</a:t>
            </a:r>
          </a:p>
          <a:p>
            <a:r>
              <a:t/>
            </a:r>
          </a:p>
          <a:p>
            <a:r>
              <a:t>Отсюда и практическая формулировка, которая не зависит от версии генератора. «Ассет за восемь секунд» и «ассет, готовый к работе» — разные вещи, и разница между ними не в качестве выдачи, а в том, какие стадии конвейера выдача закрывает. Генератор закрывает поиск облика — то место, где нужно быстро посмотреть двадцать вариантов и выбросить девятнадцать, — и закрывает фоновые объекты, которые не анимируются и не попадают в крупный план. Подготовка к производству остаётся людям целиком, и это три самые дорогие стадии из девяти.</a:t>
            </a:r>
          </a:p>
          <a:p>
            <a:r>
              <a:t/>
            </a:r>
          </a:p>
          <a:p>
            <a:r>
              <a:t>Откуда берётся сама неизбежность. Геометрия в трёхмерной диффузии рождается как поле: модель выдаёт для каждой точки пространства расстояние до поверхности либо плотность, и поверхность — это множество точек, где поле принимает заданное значение. Чтобы получить из такого поля многоугольники, по пространству проходят регулярной решёткой и в каждой её ячейке строят кусочек поверхности. Решётка регулярна — значит, многоугольники распределяются по шагу решётки, а не по сложности формы: на ровной стене их столько же, сколько на сложенном пальце.</a:t>
            </a:r>
          </a:p>
          <a:p>
            <a:r>
              <a:t/>
            </a:r>
          </a:p>
          <a:p>
            <a:r>
              <a:t>Авторы коммерческого генератора пишут это про собственное изделие, а не про чужое: «сетки затем извлекаются алгоритмами изоповерхности, что неизбежно приводит к неструктурированным плотным сеткам». Когда ограничение называет продавец, а не критик, спорить с ним незачем — его можно прямо класть в требования к процессу.</a:t>
            </a:r>
          </a:p>
          <a:p>
            <a:r>
              <a:t/>
            </a:r>
          </a:p>
          <a:p>
            <a:r>
              <a:t>И ещё одно, что стоит держать в голове при чтении любых обещаний автоматизации конвейера. Генератор не «ускоряет» девять стадий — он закрывает некоторые из них целиком и не касается остальных. Разница существенна: ускорение можно масштабировать деньгами, а незакрытая стадия остаётся в смете в полном объёме, сколько бы вы ни потратили на генератор.</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a:p>
            <a:r>
              <a:t/>
            </a:r>
          </a:p>
          <a:p>
            <a:r>
              <a:t>Про вторую половину этой картины забывать не стоит: генератор формы даёт двадцать вариантов облика за полчаса там, где раньше был один набросок за полдня, и даёт объект, которого в природе нет, — без единого снимка на входе. Выданная форма вполне пригодна к просмотру и к постановке в фон. Запрета на инструмент тут нет; есть точное место, где он кончается.</a:t>
            </a:r>
          </a:p>
          <a:p>
            <a:r>
              <a:t/>
            </a:r>
          </a:p>
          <a:p>
            <a:r>
              <a:t>Кончается он на связях между параметрами. В системе автоматизированного проектирования модель — это зависимости: изменил диаметр, пересчиталась посадка, изменился допуск. У выданной поверхности менять нечего, потому что связей в ней не записано. И критерий отбора остаётся снаружи, у человека, — причём в трёхмерном этот человек вдобавок обязан назначить масштаб, которого в выдаче нет.</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Теперь о том,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И последнее про порядок. Эта стадия стоит в вечере последней не из вежливости к остальным: она работает с готовым артефактом, то есть с тем, что четыре предыдущих модальности произвели. Чем дешевле становилось производство, тем дороже становилось её собственное решение, и в этом вся сюжетная связь раздела с предыдущими.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a:t>
            </a:r>
          </a:p>
          <a:p>
            <a:r>
              <a:t/>
            </a:r>
          </a:p>
          <a:p>
            <a:r>
              <a:t>Именно из этой необратимости следует, почему здесь так важна норма времени на проверку, а не только точность инструмента. Любая система, ускоряющая выпуск, смещает соотношение между скоростью конвейера и скоростью проверки; если второе не выросло, разрыв заполняется ошибками, и заполняется молча.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«что здесь изображено или написано» — у задачи есть проверяемый ответ, значит можно требовать число и мерить его на своих данных. Если на второй — «как это сделано»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«кто за это отвечает» — техника вам поможет только частично, потому что это вопрос про людей, договоры и процедуры, и обученная модель в него не входит и войти не может.</a:t>
            </a:r>
          </a:p>
          <a:p>
            <a:r>
              <a:t/>
            </a:r>
          </a:p>
          <a:p>
            <a:r>
              <a:t>И заметьте, куда обученная модель в эту раскладку вошла, а куда нет. В первое семейство — физические методы — она вошла как способ прочесть то, что уже измерили приборы: томограф даёт плотности, распознаватель отвечает, где в них чернила. Во второе — цифровые следы — она вошла как распознаватель происхождения. В третье — редакционные и экспертные процедуры — не вошла и войти не может: звонок источнику, второй независимый источник, сверка с первичным документом и ответственный редактор не заменяются вычислением, потому что их содержание — это чья-то персональная ответственность, а не признак в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a:t>
            </a:r>
          </a:p>
          <a:p>
            <a:r>
              <a:t/>
            </a:r>
          </a:p>
          <a:p>
            <a:r>
              <a:t>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На выходе — объём, в котором видно, что внутри угольного цилиндра есть слои.</a:t>
            </a:r>
          </a:p>
          <a:p>
            <a:r>
              <a:t/>
            </a:r>
          </a:p>
          <a:p>
            <a:r>
              <a:t>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a:t>
            </a:r>
          </a:p>
          <a:p>
            <a:r>
              <a:t/>
            </a:r>
          </a:p>
          <a:p>
            <a:r>
              <a:t>Шаг третий — тот, ради которого понадобилась обученная модель. Античные чернила углеродные, и на обугленном папирусе они по плотности почти не отличаются от основы. Глаз на томограмме этой разницы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a:t>
            </a:r>
          </a:p>
          <a:p>
            <a:r>
              <a:t/>
            </a:r>
          </a:p>
          <a:p>
            <a:r>
              <a:t>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форма застёжки на пальто не взята ни из какого конкретного обучающего изображения, она получена снятием шума, и проверить её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a:t>
            </a:r>
          </a:p>
          <a:p>
            <a:r>
              <a:t/>
            </a:r>
          </a:p>
          <a:p>
            <a:r>
              <a:t>Отсюда и общее правило выбора, которое стоит унести далеко за пределы античных папирусов.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Стоит задержаться на устройстве этой работы, потому что оно само по себе инженерный урок. Задачу решили открытым соревнованием с денежными призами: оцифрованные томограммы выложили публично, назначили награды за проверяемые достижения — первое слово, первые связные отрывки, первый прочитанный свиток — и приняли решения от кого угодно. Первое слово прочёл двадцатиоднолетний студент. Бо́льшую часть команды, дочитавшей свиток до конца, составляют бывшие участники конкурса.</a:t>
            </a:r>
          </a:p>
          <a:p>
            <a:r>
              <a:t/>
            </a:r>
          </a:p>
          <a:p>
            <a:r>
              <a:t>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И про даты. Между первым словом в октябре 2023 года и целиком прочитанным свитком в июне 2026-го прошло меньше трёх лет — срок, за который в этой области успевает смениться поколение моделей. Промежуточные вехи важны не меньше итога: несколько связных отрывков в феврале 2024-го, опознание сочинений Филодема и первый найденный заголовок. Каждая веха — проверяемая, объявленная заранее и оплаченная.</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a:t>
            </a:r>
          </a:p>
          <a:p>
            <a:r>
              <a:t/>
            </a:r>
          </a:p>
          <a:p>
            <a:r>
              <a:t>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 Это не аргумент против лабораторий; это наблюдение о том, какой тип задачи хорошо разбирается на проверяемые куски и распараллеливается между незнакомыми людьми.</a:t>
            </a:r>
          </a:p>
          <a:p>
            <a:r>
              <a:t/>
            </a:r>
          </a:p>
          <a:p>
            <a:r>
              <a:t>И одно наблюдение про то, как вообще устроены такие хронологии. От первой публикации метода до первого практического результата здесь прошли годы работы с томограммами, которые лежали оцифрованными задолго до того. Данные были, инструмент появился позже, а соединил их формат, который позволил попробовать многим. Это обычный порядок: узкое место редко бывает в данных и редко в модели — чаще оно в том, кому разрешено попробовать.</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 Знаменатель и здесь надо назвать: это оценочные продажи игр, вышедших за тот же период, а не вся выручка магазина и не продажи всего каталога, и величина оценочная, а не аудированная отчётность.</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Единицу надо произносить целиком: это доля времени просмотра, и доля зрителей так никогда не считалась; язык в формулировке площадки — «не основной для конкретного ролика», слово «неанглийский» появилось в пересказах. Сколько это каналов, площадка не раскрыла, и знаменатель остаётся без числа.</a:t>
            </a:r>
          </a:p>
          <a:p>
            <a:r>
              <a:t/>
            </a:r>
          </a:p>
          <a:p>
            <a:r>
              <a:t>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 Охват программы в авторах придётся сверять: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a:p>
            <a:r>
              <a:t/>
            </a:r>
          </a:p>
          <a:p>
            <a:r>
              <a:t>Три вещи совпадают у распознавателя с порождающей моделью буквально. Те же блоки внимания с теми же запросами, ключами и значениями. Тот же механизм эмбеддинга и то же дообучение низкоранговыми адаптерами. И та же развязка «представление входа отдельно, модель отдельно»: патч здесь — ровно то же, чем токен был в тексте, и способ нарезки входа решает больше, чем размер самой сети.</a:t>
            </a:r>
          </a:p>
          <a:p>
            <a:r>
              <a:t/>
            </a:r>
          </a:p>
          <a:p>
            <a:r>
              <a:t>Отдельно стоит запомнить, что масштаб обучения бьёт встроенное знание о локальности. Свёрточная сеть устроена так, что соседние пиксели для неё заведомо связаны, и на малых наборах данных это даёт ей преимущество. На сотнях миллионов изображений преимущество исчезает: модель зрения на патчах, у которой такого встроенного знания нет вовсе, выходит на 88,55 процента верных ответов и обходит свёрточные сети. Это то же наблюдение, что и в тексте, — достаточно большой корпус заменяет встроенные допущения о строении данных.</a:t>
            </a:r>
          </a:p>
          <a:p>
            <a:r>
              <a:t/>
            </a:r>
          </a:p>
          <a:p>
            <a:r>
              <a:t>Практический вывод из всей этой пары: там, где задача формулируется как «найти среди существующего», генератор — неправильный инструмент, и правильный стоит рядом. Дешевизна прямого прохода означает, что модерацию каждого загружаемого файла и разметку всего архива можно ставить на поток; десятки шагов снятия шума на каждую единицу выхода такой возможности не дают.</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a:p>
            <a:r>
              <a:t/>
            </a:r>
          </a:p>
          <a:p>
            <a:r>
              <a:t>Отдельно стоит произнести вывод авторов работы дословно, потому что он сильнее любого пересказа: «мы по-прежнему не можем надёжно детектировать изображения с артефактами, существенно отличными от виденных при обучении». Это сказано не критиками метода, а теми, кто его измерял.</a:t>
            </a:r>
          </a:p>
          <a:p>
            <a:r>
              <a:t/>
            </a:r>
          </a:p>
          <a:p>
            <a:r>
              <a:t>Починка, о которой идёт речь в последней строке кадра, складывается из трёх приёмов разом: дообучения, слияния нового распознавателя с прежним и калибровки по двум примерам на каждую модель. Среднее по тем же двенадцати генераторам поднимается с 75,8 до 87,8 процента — и это настоящий прогресс. Но DALL·E 2 после всей починки остаётся на 66,9, а ADM на 70,8: до рабочего качества приёмки не дотягивает ни один из двух.</a:t>
            </a:r>
          </a:p>
          <a:p>
            <a:r>
              <a:t/>
            </a:r>
          </a:p>
          <a:p>
            <a:r>
              <a:t>И третий вывод той же таблицы, который легко потерять за первыми двумя: обычная обработка ломает распознаватель там, где он работал. На StyleGAN2 он давал 98,1 процента; после обрезки, изменения размера и пережатия — 63,3. То есть соцсеть, которая просто пережимает загруженную картинку, ломает распознаватель, не имея такого намерения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идеален для курса ровно потому, что в нём ничего не сломалось технически.</a:t>
            </a:r>
          </a:p>
          <a:p>
            <a:r>
              <a:t/>
            </a:r>
          </a:p>
          <a:p>
            <a:r>
              <a:t>Хронология короткая. В августе 2025 года производитель фотокамер добавил поддержку криптографических удостоверений содержимого в прошивку профессиональной модели — двадцать седьмого числа. Через несколько дней исследователь показал,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подтвердил неисправность и приостановил сервис подлинности; двадцать первого сентября отозвал все выданные сертификаты — через двадцать пять дней после запуска. И добивающая деталь: распространённые проверяющие программы по умолчанию не проверяют отзыв, поэтому снимок с отозванным сертификатом продолжает проходить проверку до сих пор.</a:t>
            </a:r>
          </a:p>
          <a:p>
            <a:r>
              <a:t/>
            </a:r>
          </a:p>
          <a:p>
            <a:r>
              <a:t>Происхождение удостоверяют двумя противоположными способами, и разобрать их стоит до разбора самого случая, потому что провалился здесь ровно один из двух.</a:t>
            </a:r>
          </a:p>
          <a:p>
            <a:r>
              <a:t/>
            </a:r>
          </a:p>
          <a:p>
            <a:r>
              <a:t>Подпись снаружи. В файл встраивается манифест: кто автор, чем создано, что применялось при обработке, — и всё это подписывается сертификатом. Привязка хрупкая по построению: снимок экрана, пересжатие, срезанные площадкой служебные поля — и манифеста нет. Подпись живёт рядом с изображением, а не внутри него.</a:t>
            </a:r>
          </a:p>
          <a:p>
            <a:r>
              <a:t/>
            </a:r>
          </a:p>
          <a:p>
            <a:r>
              <a:t>Знак внутри. Две сети обучаются вместе: одна вставляет в изображение незаметный знак, другая его находит. Знак живёт в пикселях, поэтому переживает потерю служебных полей, пересохранение и снимок экрана. У текста такой знак живёт на энтропии выбора следующего слова — и слабеет ровно там, где нужен больше всего: короткий текст, низкая температура, код и фактические ответы маркируются плохо, потому что выбирать не из чего.</a:t>
            </a:r>
          </a:p>
          <a:p>
            <a:r>
              <a:t/>
            </a:r>
          </a:p>
          <a:p>
            <a:r>
              <a:t>Случай Nikon — про первый способ. Механизм в нём устоял целиком; рухнуло допущение, на котором он держался.</a:t>
            </a:r>
          </a:p>
          <a:p>
            <a:r>
              <a:t/>
            </a:r>
          </a:p>
          <a:p>
            <a:r>
              <a:t>Что именно здесь произошло. Криптография отработала безупречно: подпись подлинная, сертификат валидный на момент подписания, хеш сходится, цепочка не нарушена — механизм выполнил ровно то, что обещал. Провалилась система доверия, и провалилась в единственном месте, которое криптография не покрывает: подписывающая сторона подписала то, чего не снимала.</a:t>
            </a:r>
          </a:p>
          <a:p>
            <a:r>
              <a:t/>
            </a:r>
          </a:p>
          <a:p>
            <a:r>
              <a:t>Отсюда формулировка, которую стоит унести из раздела целиком: подпись удостоверяет, кто подписал, а не что происходило перед объективом. Это тот же класс ошибки, который курс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ровно один вопрос: какое именно утверждение оно делает проверяемым. Здесь проверяемым становится утверждение «это подписано вот этой камерой с вот этим серийным номером», и оно действительно проверяемо; утверждение «это было перед объективом» не становится проверяемым ни в какой мере.</a:t>
            </a:r>
          </a:p>
          <a:p>
            <a:r>
              <a:t/>
            </a:r>
          </a:p>
          <a:p>
            <a:r>
              <a:t>Хронологию стоит держать в голове целиком, потому что её сжатость — часть содержания. Двадцать седьмого августа 2025 года производитель добавляет поддержку криптографических удостоверений содержимого в прошивку профессиональной камеры. Через несколько дней независимый исследователь показывает,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подтверждает неисправность и приостанавливает сервис подлинности. Двадцать первого сентября отзывает все выданные сертификаты. Двадцать пять дней от запуска до полного отзыва.</a:t>
            </a:r>
          </a:p>
          <a:p>
            <a:r>
              <a:t/>
            </a:r>
          </a:p>
          <a:p>
            <a:r>
              <a:t>Скорость здесь работает в обе стороны. С одной — производитель отреагировал честно и быстро. С другой — двадцати пяти дней хватило, чтобы в обращение попали подписанные файлы, которые проверяющие программы по умолчанию до сих пор принимают, потому что отзыв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Общая мысль, которой закрываются обе половины раздела. Граница между снятым и синтезированным размылась штатным рабочим конвейером, а не атакой злоумышленника.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Снимок с мультиэкспозицией подписан настоящей камерой настоящим сертификатом и изображает то, чего не было, — и это тоже штатный режим съёмки, существовавший задолго до генеративных моделей. Инструменты, которые строятся против злоумышленника, против такого размывания не работают, потому что злоумышленника здесь нет.</a:t>
            </a:r>
          </a:p>
          <a:p>
            <a:r>
              <a:t/>
            </a:r>
          </a:p>
          <a:p>
            <a:r>
              <a:t>Повторю, что именно здесь сломалось. Не сломалась криптография: подпись подлинная, сертификат на момент подписания валидный, хеш сходится, цепочка цела, механизм выполнил ровно то, что обещал. Сломалось допущение, которое все вокруг механизма держали в голове и никто не записал: «если подписала камера, значит снято камерой». Режим мультиэкспозиции — штатная функция, существующая десятилетиями, — это допущение опровергает, и опровергает без всякого злого умысла.</a:t>
            </a:r>
          </a:p>
          <a:p>
            <a:r>
              <a:t/>
            </a:r>
          </a:p>
          <a:p>
            <a:r>
              <a:t>Добивающая деталь, которая делает случай ещё полезнее: распространённые проверяющие программы по умолчанию не проверяют отзыв сертификата. То есть производитель отозвал все выданные сертификаты двадцать первого сентября, а снимок с отозванным сертификатом продолжает проходить проверку до сих пор. Отзыв существует в реестре и не существует в поведении проверяющих — классическая болезнь всякой инфраструктуры доверия, и она не про камеры.</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подписал; интересует — что происходило перед объективом; связывает их допущение, которое камера нарушает штатно.</a:t>
            </a:r>
          </a:p>
          <a:p>
            <a:r>
              <a:t/>
            </a:r>
          </a:p>
          <a:p>
            <a:r>
              <a:t>Последнее, что замыкает обе половины раздела. Границу между снятым и синтезированным размыл штатный рабочий конвейер. Кадр, вышедший из нейросетевой графики реального времени, не снимал и не рисовал никто: пятнадцать пикселей из шестнадцати сгенерированы сетью, и это штатный режим работы видеокарты. Снимок с мультиэкспозицией подписан настоящей камерой настоящим сертификатом и изображает то, чего перед объективом не было. Ни в одном из двух случаев нет обмана; в обоих есть расхождение между тем, что система удостоверяет, и тем, что человек из её удостоверения вычитывает.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В этом шаге существенно одно: заявленная редакционная проверка существовала. Человек в контуре был, и именно этот контур пропустил сорок один материал.</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a:p>
            <a:r>
              <a:t/>
            </a:r>
          </a:p>
          <a:p>
            <a:r>
              <a:t>Теперь — что общего у всех четырёх норм. Ни одна не запрещает применение модели и ни одна не вводит порога качества.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То есть отрасль ответила назначением ответственного — ровно потому, что провал был не техническим.</a:t>
            </a:r>
          </a:p>
          <a:p>
            <a:r>
              <a:t/>
            </a:r>
          </a:p>
          <a:p>
            <a:r>
              <a:t>Для инженера это образец того, как вообще чинятся такие провалы. Когда конвейер ускорился, а норма проверки осталась прежней, добавление ещё одной модели в конвейер разрыва не закрывает. Закрывает его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a:p>
            <a:r>
              <a:t/>
            </a:r>
          </a:p>
          <a:p>
            <a:r>
              <a:t>И измеренный отклик аудитории, который стоит рядом с нормами: опрос шести стран, около двенадцати тысяч респондентов, показал устойчивое требование помечать материал, созданный с участием модели, и одновременно — готовность читать такой материал, если он помечен. То есть требование аудитории адресовано раскрытию: не «не применяйте», а «скажите, что применили».</a:t>
            </a:r>
          </a:p>
          <a:p>
            <a:r>
              <a:t/>
            </a:r>
          </a:p>
          <a:p>
            <a:r>
              <a:t>Наконец, стоит произнести вслух то, чего ни одна из четырёх норм не содержит, — порога точности. Никто не написал «модель допускается, если доля ошибок ниже такой-то».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a:p>
            <a:r>
              <a:t/>
            </a:r>
          </a:p>
          <a:p>
            <a:r>
              <a:t>Разрез выборки по эшелонам изданий показывает, что доля распределена неравномерно: у федеральных изданий она около десяти процентов, у второго эшелона двадцать три — двадцать пять, у местных и нишевых семь и девять десятых. По темам больше всего затронуты дом, еда и здоровье; меньше всего политика и происшествия — там не более двух и восьми десятых процента. Чем выше цена ошибки в теме, тем реже редакция доверяет её машине, и это распределение само по себе читается как отраслевая оценка риска.</a:t>
            </a:r>
          </a:p>
          <a:p>
            <a:r>
              <a:t/>
            </a:r>
          </a:p>
          <a:p>
            <a:r>
              <a:t>Про методику счёта стоит знать ещё одну деталь. Статья относилась к машинным при среднем балле двух открытых распознавателей не ниже половины, с дополнительной сверкой третьим распознавателем. Это разумная процедура, и у неё есть ровно тот же предел, который разбирался кадром раньше: распознаватель, обученный на одном семействе генераторов, на чужом работает хуже. Поэтому восемнадцать процентов — нижняя граница, а не точное значение.</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 первым наблюдением стоит измерение, у которого знак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остановили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куда угодно: зависимость от чужого сервиса — проектный риск, и место ему в плане рядом с прочими рисками. Два разбора этой лекции построены на инструменте, который закрылся.</a:t>
            </a:r>
          </a:p>
          <a:p>
            <a:r>
              <a:t/>
            </a:r>
          </a:p>
          <a:p>
            <a:r>
              <a:t>Повторю первое наблюдение в одной строке, потому что оно и есть сквозной припев вечера, произносимый здесь в четвёртый и последний раз: главный рычаг — токенизатор; размер модели здесь вторичен. Прогресс в картиночных моделях за два года шёл не вычислениями на обучение, а представлением данных — шестнадцать каналов латентного представления вместо четырёх, диффузионный трансформер вместо прежней архитектуры, спрямлённый поток, дистилляция с тысячи шагов до четырёх. Каждый из этих шагов меняет то, в каком виде модель видит картинку, а не то, сколько в ней весов.</a:t>
            </a:r>
          </a:p>
          <a:p>
            <a:r>
              <a:t/>
            </a:r>
          </a:p>
          <a:p>
            <a:r>
              <a:t>И следствие для входа на рынок, которое из первого наблюдения вытекает прямо. Обучить модель изображения в двести-четыреста раз дешевле, чем передовую языковую, — порог входа в эту модальность заметно ниже. Зато каждый её запуск дороже в сорок-шестьдесят раз: кэша нет и быть не может, потому что расшумление на каждом шаге переписывает все четыре тысячи девяносто шесть токенов разом, и переиспользовать прошлый шаг нечего. Экономика здесь обратная языковой: дёшево войти, дорого работать.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наблюдается постоянство объектов: покрашенная стена остаётся покрашенной после ухода и возвращения — ровно то свойство, отсутствие которого в разделе про видео названо главным ограничением.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a:p>
            <a:r>
              <a:t/>
            </a:r>
          </a:p>
          <a:p>
            <a:r>
              <a:t>Три эти величины стоит держать вместе, потому что ни одна из них не меняется с номером версии. Право на обучающий материал держится годами и меняется решениями судов и переговорами правообладателей. Класс задачи — порождает модель запись или порождает пространство, в котором можно находиться, — это свойство устройства, а не настройки. Граница рынка — то, что считают рынком, — вообще определение, и именно поэтому четыре оценки одного и того же 2026 года разошлись в шесть раз: от 3,16 миллиарда долларов до 19,2 миллиарда. Согласны все четыре только в темпе: от четырнадцати до тридцати четырёх процентов в год.</a:t>
            </a:r>
          </a:p>
          <a:p>
            <a:r>
              <a:t/>
            </a:r>
          </a:p>
          <a:p>
            <a:r>
              <a:t>Отсюда и практическое правило чтения отраслевых прогнозов. Размеру рынка в них верить нельзя — он получен из определения, которого вы не видели. Темпу верить можно осторожнее: он устойчив между оценками, то есть его не придумывали, а считали по одним и тем же наблюдаемым рядам. А надёжнее всего в таких обзорах перечисление того, что игроки считают предметом конкуренции: оно меняется медленно и говорит об устройстве отрасли больше, чем любой миллиард.</a:t>
            </a:r>
          </a:p>
          <a:p>
            <a:r>
              <a:t/>
            </a:r>
          </a:p>
          <a:p>
            <a:r>
              <a:t>И короткое замечание о том, почему этот кадр стоит в Сборке, а не в техническом разделе. Инженеру, который решает, вкладываться ли в направление, номер версии не говорит ничего: он меняется каждые несколько недель и каждый раз обещает прорыв. Устройство рынка — кто платит, за что платит и чем ограничен — держится годами и предсказывает, что будет доступно через год, 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a:p>
            <a:r>
              <a:t/>
            </a:r>
          </a:p>
          <a:p>
            <a:r>
              <a:t>Авторы опыта METR сами перечислили, чего он не доказывает, и эту оговорку стоит произносить вместе с числом. Он не доказывает, что модели не ускоряют большинство разработчиков. Он не доказывает, что вывод переносится за пределы опытных разработчиков открытого кода. И он не доказывает, что через год будет так же.</a:t>
            </a:r>
          </a:p>
          <a:p>
            <a:r>
              <a:t/>
            </a:r>
          </a:p>
          <a:p>
            <a:r>
              <a:t>Две величины из того же замера объясняют, куда девается время. В зрелой базе принимается меньше сорока четырёх процентов предложений модели — знаменатель здесь предложения, которые участник принимает или отклоняет прямо в редакторе, счёт по тринадцати участникам из шестнадцати. И около девяти процентов рабочего времени уходит на чтение и чистку выданного: это замер по сорока четырём задачам из двухсот сорока шести, у которых была размеченная видеозапись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t-j.ru/marketing-ai/"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hyperlink" Target="https://www.thesphere.com/"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hyperlink" Target="https://arxiv.org/abs/2308.04079"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hyperlink" Target="https://arxiv.org/abs/2412.01506"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hyperlink" Target="https://arxiv.org/abs/2509.21420"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hyperlink" Target="https://scrollprize.org/" TargetMode="Externa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TextBox 15"/>
          <p:cNvSpPr txBox="1"/>
          <p:nvPr/>
        </p:nvSpPr>
        <p:spPr>
          <a:xfrm>
            <a:off x="502920" y="328795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19" name="Right Arrow 18"/>
          <p:cNvSpPr/>
          <p:nvPr/>
        </p:nvSpPr>
        <p:spPr>
          <a:xfrm>
            <a:off x="5039258" y="3539315"/>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проба стоит как результат: $50–150 и 1–3 дня</a:t>
            </a:r>
          </a:p>
        </p:txBody>
      </p:sp>
      <p:sp>
        <p:nvSpPr>
          <p:cNvPr id="22" name="Right Arrow 21"/>
          <p:cNvSpPr/>
          <p:nvPr/>
        </p:nvSpPr>
        <p:spPr>
          <a:xfrm>
            <a:off x="8386876" y="353931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два-три варианта</a:t>
            </a:r>
          </a:p>
        </p:txBody>
      </p:sp>
      <p:sp>
        <p:nvSpPr>
          <p:cNvPr id="25" name="TextBox 24"/>
          <p:cNvSpPr txBox="1"/>
          <p:nvPr/>
        </p:nvSpPr>
        <p:spPr>
          <a:xfrm>
            <a:off x="502920" y="414729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28" name="Right Arrow 27"/>
          <p:cNvSpPr/>
          <p:nvPr/>
        </p:nvSpPr>
        <p:spPr>
          <a:xfrm>
            <a:off x="5039258" y="439866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1072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15644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проба стоит $0,034–0,05 и секунды</a:t>
            </a:r>
          </a:p>
        </p:txBody>
      </p:sp>
      <p:sp>
        <p:nvSpPr>
          <p:cNvPr id="31" name="Right Arrow 30"/>
          <p:cNvSpPr/>
          <p:nvPr/>
        </p:nvSpPr>
        <p:spPr>
          <a:xfrm>
            <a:off x="8386876" y="439866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сотни — выбирать их некому</a:t>
            </a:r>
          </a:p>
        </p:txBody>
      </p:sp>
      <p:sp>
        <p:nvSpPr>
          <p:cNvPr id="34" name="Rounded Rectangle 33"/>
          <p:cNvSpPr/>
          <p:nvPr/>
        </p:nvSpPr>
        <p:spPr>
          <a:xfrm>
            <a:off x="374904" y="4915202"/>
            <a:ext cx="11441887" cy="1321005"/>
          </a:xfrm>
          <a:prstGeom prst="roundRect">
            <a:avLst>
              <a:gd name="adj" fmla="val 23073"/>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06642"/>
            <a:ext cx="11112703" cy="1229565"/>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a:p>
            <a:pPr algn="l">
              <a:lnSpc>
                <a:spcPct val="126000"/>
              </a:lnSpc>
              <a:spcBef>
                <a:spcPts val="700"/>
              </a:spcBef>
            </a:pPr>
            <a:r>
              <a:rPr sz="1150" b="0" i="0">
                <a:solidFill>
                  <a:srgbClr val="21295C"/>
                </a:solidFill>
                <a:latin typeface="Arial"/>
              </a:rPr>
              <a:t/>
            </a:r>
            <a:r>
              <a:rPr sz="115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Подешевело не исполнение. Подешевела неудачная попытка — а выбирать по-прежнему некому.</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a:t>
            </a:r>
          </a:p>
        </p:txBody>
      </p:sp>
      <p:sp>
        <p:nvSpPr>
          <p:cNvPr id="7" name="TextBox 6"/>
          <p:cNvSpPr txBox="1"/>
          <p:nvPr/>
        </p:nvSpPr>
        <p:spPr>
          <a:xfrm>
            <a:off x="640080" y="2257996"/>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2188387"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25547"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2325547"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$0,03–0,072</a:t>
            </a:r>
          </a:p>
        </p:txBody>
      </p:sp>
      <p:sp>
        <p:nvSpPr>
          <p:cNvPr id="11" name="TextBox 10"/>
          <p:cNvSpPr txBox="1"/>
          <p:nvPr/>
        </p:nvSpPr>
        <p:spPr>
          <a:xfrm>
            <a:off x="2325547" y="2257996"/>
            <a:ext cx="12465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3873855"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11015"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4011015" y="1932846"/>
            <a:ext cx="124655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4011015" y="2750268"/>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5559323" y="1335024"/>
            <a:ext cx="1520875" cy="3242352"/>
          </a:xfrm>
          <a:prstGeom prst="roundRect">
            <a:avLst>
              <a:gd name="adj" fmla="val 2004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696483"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5696483" y="1932846"/>
            <a:ext cx="1246555" cy="1258770"/>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×10–20 у самого дорогого, ×1 000–4 500 у самого дешёвого</a:t>
            </a:r>
          </a:p>
        </p:txBody>
      </p:sp>
      <p:sp>
        <p:nvSpPr>
          <p:cNvPr id="19" name="TextBox 18"/>
          <p:cNvSpPr txBox="1"/>
          <p:nvPr/>
        </p:nvSpPr>
        <p:spPr>
          <a:xfrm>
            <a:off x="5696483" y="3191616"/>
            <a:ext cx="12465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4668816"/>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60256"/>
            <a:ext cx="11112703" cy="14759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ounded Rectangle 21"/>
          <p:cNvSpPr/>
          <p:nvPr/>
        </p:nvSpPr>
        <p:spPr>
          <a:xfrm>
            <a:off x="7391095" y="1335024"/>
            <a:ext cx="4297680" cy="2121781"/>
          </a:xfrm>
          <a:prstGeom prst="roundRect">
            <a:avLst>
              <a:gd name="adj" fmla="val 14365"/>
            </a:avLst>
          </a:prstGeom>
          <a:solidFill>
            <a:srgbClr val="F4F7FA"/>
          </a:solidFill>
          <a:ln w="19050">
            <a:solidFill>
              <a:srgbClr val="1C7293"/>
            </a:solidFill>
          </a:ln>
          <a:effectLst/>
        </p:spPr>
        <p:txBody>
          <a:bodyPr rtlCol="0" anchor="ctr"/>
          <a:lstStyle/>
          <a:p>
            <a:pPr algn="ctr"/>
          </a:p>
        </p:txBody>
      </p:sp>
      <p:pic>
        <p:nvPicPr>
          <p:cNvPr id="23" name="Picture 22" descr="s04-tsena-proby.png"/>
          <p:cNvPicPr>
            <a:picLocks noChangeAspect="1"/>
          </p:cNvPicPr>
          <p:nvPr/>
        </p:nvPicPr>
        <p:blipFill>
          <a:blip r:embed="rId2"/>
          <a:stretch>
            <a:fillRect/>
          </a:stretch>
        </p:blipFill>
        <p:spPr>
          <a:xfrm>
            <a:off x="7528255" y="1472184"/>
            <a:ext cx="4023360" cy="184746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разговоре о безопасности та же модель — инструмент телефонного мошенничества. Обе рамки верны одновременно, и разбирать их вперемешку нельзя.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08-planshet-eskizy.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1. Неподвижное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договориться об облике, наружу не выходит</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язык всей кампании</a:t>
            </a:r>
          </a:p>
        </p:txBody>
      </p:sp>
      <p:sp>
        <p:nvSpPr>
          <p:cNvPr id="15" name="TextBox 14"/>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6" name="Rounded Rectangle 15"/>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a:t>
            </a:r>
          </a:p>
        </p:txBody>
      </p:sp>
      <p:sp>
        <p:nvSpPr>
          <p:cNvPr id="18" name="Rounded Rectangle 17"/>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a:t>
            </a:r>
          </a:p>
        </p:txBody>
      </p:sp>
      <p:sp>
        <p:nvSpPr>
          <p:cNvPr id="20" name="Rounded Rectangle 19"/>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a:t>
            </a:r>
          </a:p>
        </p:txBody>
      </p:sp>
      <p:sp>
        <p:nvSpPr>
          <p:cNvPr id="22" name="Rounded Rectangle 21"/>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файлу</a:t>
            </a:r>
          </a:p>
        </p:txBody>
      </p:sp>
      <p:sp>
        <p:nvSpPr>
          <p:cNvPr id="24" name="TextBox 23"/>
          <p:cNvSpPr txBox="1"/>
          <p:nvPr/>
        </p:nvSpPr>
        <p:spPr>
          <a:xfrm>
            <a:off x="502920" y="443892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получают</a:t>
            </a:r>
          </a:p>
        </p:txBody>
      </p:sp>
      <p:sp>
        <p:nvSpPr>
          <p:cNvPr id="25" name="Rounded Rectangle 24"/>
          <p:cNvSpPr/>
          <p:nvPr/>
        </p:nvSpPr>
        <p:spPr>
          <a:xfrm>
            <a:off x="1920240"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27" name="Rounded Rectangle 26"/>
          <p:cNvSpPr/>
          <p:nvPr/>
        </p:nvSpPr>
        <p:spPr>
          <a:xfrm>
            <a:off x="439894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8124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библиотеки</a:t>
            </a:r>
          </a:p>
        </p:txBody>
      </p:sp>
      <p:sp>
        <p:nvSpPr>
          <p:cNvPr id="29" name="Rounded Rectangle 28"/>
          <p:cNvSpPr/>
          <p:nvPr/>
        </p:nvSpPr>
        <p:spPr>
          <a:xfrm>
            <a:off x="687765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695995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съёмка под каталог</a:t>
            </a:r>
          </a:p>
        </p:txBody>
      </p:sp>
      <p:sp>
        <p:nvSpPr>
          <p:cNvPr id="31" name="Rounded Rectangle 30"/>
          <p:cNvSpPr/>
          <p:nvPr/>
        </p:nvSpPr>
        <p:spPr>
          <a:xfrm>
            <a:off x="935636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43866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в редакторе</a:t>
            </a:r>
          </a:p>
        </p:txBody>
      </p:sp>
      <p:sp>
        <p:nvSpPr>
          <p:cNvPr id="33" name="TextBox 32"/>
          <p:cNvSpPr txBox="1"/>
          <p:nvPr/>
        </p:nvSpPr>
        <p:spPr>
          <a:xfrm>
            <a:off x="502920" y="51519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и чем. Внутри ряда порядка нет — это перечни</a:t>
            </a:r>
          </a:p>
        </p:txBody>
      </p:sp>
      <p:sp>
        <p:nvSpPr>
          <p:cNvPr id="34" name="Rounded Rectangle 33"/>
          <p:cNvSpPr/>
          <p:nvPr/>
        </p:nvSpPr>
        <p:spPr>
          <a:xfrm>
            <a:off x="374904" y="5454650"/>
            <a:ext cx="11441887" cy="78155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546090"/>
            <a:ext cx="11112703" cy="6901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Вся её экономика держится на одном отношении — сколько вариантов можно позволить себе посмотреть, прежде чем выбрать один.</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932846"/>
            <a:ext cx="1831177"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$50–150 за задание, 1–3 дня</a:t>
            </a:r>
          </a:p>
        </p:txBody>
      </p:sp>
      <p:sp>
        <p:nvSpPr>
          <p:cNvPr id="7" name="TextBox 6"/>
          <p:cNvSpPr txBox="1"/>
          <p:nvPr/>
        </p:nvSpPr>
        <p:spPr>
          <a:xfrm>
            <a:off x="640080" y="2529594"/>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2773009"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2910169" y="256731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504309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518025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5180258"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731318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7450348"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9583277" y="1335024"/>
            <a:ext cx="2105497" cy="285004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9720437" y="1725375"/>
            <a:ext cx="1831177"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цены нет — есть зарплата и загрузка</a:t>
            </a:r>
          </a:p>
        </p:txBody>
      </p:sp>
      <p:sp>
        <p:nvSpPr>
          <p:cNvPr id="23" name="TextBox 22"/>
          <p:cNvSpPr txBox="1"/>
          <p:nvPr/>
        </p:nvSpPr>
        <p:spPr>
          <a:xfrm>
            <a:off x="9720437" y="278044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TextBox 23"/>
          <p:cNvSpPr txBox="1"/>
          <p:nvPr/>
        </p:nvSpPr>
        <p:spPr>
          <a:xfrm>
            <a:off x="502920" y="440452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Заказать</a:t>
            </a:r>
          </a:p>
        </p:txBody>
      </p:sp>
      <p:sp>
        <p:nvSpPr>
          <p:cNvPr id="25" name="Rounded Rectangle 24"/>
          <p:cNvSpPr/>
          <p:nvPr/>
        </p:nvSpPr>
        <p:spPr>
          <a:xfrm>
            <a:off x="2011680" y="436794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исполнитель $50–150</a:t>
            </a:r>
          </a:p>
        </p:txBody>
      </p:sp>
      <p:sp>
        <p:nvSpPr>
          <p:cNvPr id="28" name="Rounded Rectangle 27"/>
          <p:cNvSpPr/>
          <p:nvPr/>
        </p:nvSpPr>
        <p:spPr>
          <a:xfrm>
            <a:off x="5298338"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стиль $300–5 000</a:t>
            </a:r>
          </a:p>
        </p:txBody>
      </p:sp>
      <p:sp>
        <p:nvSpPr>
          <p:cNvPr id="30" name="Rounded Rectangle 29"/>
          <p:cNvSpPr/>
          <p:nvPr/>
        </p:nvSpPr>
        <p:spPr>
          <a:xfrm>
            <a:off x="8493556"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съёмка — сотни $</a:t>
            </a:r>
          </a:p>
        </p:txBody>
      </p:sp>
      <p:sp>
        <p:nvSpPr>
          <p:cNvPr id="32" name="TextBox 31"/>
          <p:cNvSpPr txBox="1"/>
          <p:nvPr/>
        </p:nvSpPr>
        <p:spPr>
          <a:xfrm>
            <a:off x="502920" y="502631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Взять готовое</a:t>
            </a:r>
          </a:p>
        </p:txBody>
      </p:sp>
      <p:sp>
        <p:nvSpPr>
          <p:cNvPr id="33" name="Rounded Rectangle 32"/>
          <p:cNvSpPr/>
          <p:nvPr/>
        </p:nvSpPr>
        <p:spPr>
          <a:xfrm>
            <a:off x="2011680" y="4989739"/>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розница $130–499</a:t>
            </a:r>
          </a:p>
        </p:txBody>
      </p:sp>
      <p:sp>
        <p:nvSpPr>
          <p:cNvPr id="36" name="Rounded Rectangle 35"/>
          <p:cNvSpPr/>
          <p:nvPr/>
        </p:nvSpPr>
        <p:spPr>
          <a:xfrm>
            <a:off x="5298338"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опт ≈$2,50</a:t>
            </a:r>
          </a:p>
        </p:txBody>
      </p:sp>
      <p:sp>
        <p:nvSpPr>
          <p:cNvPr id="38" name="Rounded Rectangle 37"/>
          <p:cNvSpPr/>
          <p:nvPr/>
        </p:nvSpPr>
        <p:spPr>
          <a:xfrm>
            <a:off x="8493556"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микросток $0,25–1</a:t>
            </a:r>
          </a:p>
        </p:txBody>
      </p:sp>
      <p:sp>
        <p:nvSpPr>
          <p:cNvPr id="40" name="TextBox 39"/>
          <p:cNvSpPr txBox="1"/>
          <p:nvPr/>
        </p:nvSpPr>
        <p:spPr>
          <a:xfrm>
            <a:off x="502920" y="564810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Своими силами</a:t>
            </a:r>
          </a:p>
        </p:txBody>
      </p:sp>
      <p:sp>
        <p:nvSpPr>
          <p:cNvPr id="41" name="Rounded Rectangle 40"/>
          <p:cNvSpPr/>
          <p:nvPr/>
        </p:nvSpPr>
        <p:spPr>
          <a:xfrm>
            <a:off x="2011680" y="561153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42" name="Rounded Rectangle 41"/>
          <p:cNvSpPr/>
          <p:nvPr/>
        </p:nvSpPr>
        <p:spPr>
          <a:xfrm>
            <a:off x="2103120" y="5638963"/>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2185416" y="5684683"/>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штатный дизайнер — цены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сток, две цены за одно изображение</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520</a:t>
            </a:r>
          </a:p>
        </p:txBody>
      </p:sp>
      <p:sp>
        <p:nvSpPr>
          <p:cNvPr id="7" name="Rectangle 6"/>
          <p:cNvSpPr/>
          <p:nvPr/>
        </p:nvSpPr>
        <p:spPr>
          <a:xfrm>
            <a:off x="1029636" y="1841406"/>
            <a:ext cx="50292" cy="164592"/>
          </a:xfrm>
          <a:prstGeom prst="rect">
            <a:avLst/>
          </a:prstGeom>
          <a:solidFill>
            <a:srgbClr val="F0AB00"/>
          </a:solidFill>
          <a:ln>
            <a:noFill/>
          </a:ln>
          <a:effectLst/>
        </p:spPr>
        <p:txBody>
          <a:bodyPr rtlCol="0" anchor="ctr"/>
          <a:lstStyle/>
          <a:p>
            <a:pPr algn="ctr"/>
          </a:p>
        </p:txBody>
      </p:sp>
      <p:sp>
        <p:nvSpPr>
          <p:cNvPr id="8" name="TextBox 7"/>
          <p:cNvSpPr txBox="1"/>
          <p:nvPr/>
        </p:nvSpPr>
        <p:spPr>
          <a:xfrm>
            <a:off x="-80952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2.5</a:t>
            </a:r>
          </a:p>
          <a:p>
            <a:pPr algn="ctr">
              <a:lnSpc>
                <a:spcPct val="110000"/>
              </a:lnSpc>
            </a:pPr>
            <a:r>
              <a:rPr sz="1200" b="0" i="0">
                <a:solidFill>
                  <a:srgbClr val="21295C"/>
                </a:solidFill>
                <a:latin typeface="Arial"/>
              </a:rPr>
              <a:t>подписка, оптом</a:t>
            </a:r>
          </a:p>
        </p:txBody>
      </p:sp>
      <p:sp>
        <p:nvSpPr>
          <p:cNvPr id="9" name="Rectangle 8"/>
          <p:cNvSpPr/>
          <p:nvPr/>
        </p:nvSpPr>
        <p:spPr>
          <a:xfrm>
            <a:off x="3525697"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686534"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130</a:t>
            </a:r>
          </a:p>
          <a:p>
            <a:pPr algn="ctr">
              <a:lnSpc>
                <a:spcPct val="110000"/>
              </a:lnSpc>
            </a:pPr>
            <a:r>
              <a:rPr sz="1200" b="0" i="0">
                <a:solidFill>
                  <a:srgbClr val="21295C"/>
                </a:solidFill>
                <a:latin typeface="Arial"/>
              </a:rPr>
              <a:t>розничная лицензия, нижняя граница</a:t>
            </a:r>
          </a:p>
        </p:txBody>
      </p:sp>
      <p:sp>
        <p:nvSpPr>
          <p:cNvPr id="11" name="Rectangle 10"/>
          <p:cNvSpPr/>
          <p:nvPr/>
        </p:nvSpPr>
        <p:spPr>
          <a:xfrm>
            <a:off x="10749593"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910430"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499</a:t>
            </a:r>
          </a:p>
          <a:p>
            <a:pPr algn="ctr">
              <a:lnSpc>
                <a:spcPct val="110000"/>
              </a:lnSpc>
            </a:pPr>
            <a:r>
              <a:rPr sz="1200" b="0" i="0">
                <a:solidFill>
                  <a:srgbClr val="21295C"/>
                </a:solidFill>
                <a:latin typeface="Arial"/>
              </a:rPr>
              <a:t>розничная лицензия, верхняя граница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доллар за одно изображение · одно и то же изображение у одного и того же поставщика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засечки — цены одного режима. Левая прижата к нулю не потому, что мала, а потому, что правая в полтораста раз дальше</a:t>
            </a:r>
          </a:p>
        </p:txBody>
      </p:sp>
      <p:sp>
        <p:nvSpPr>
          <p:cNvPr id="15" name="Rounded Rectangle 14"/>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Розничная лицензия</a:t>
            </a:r>
          </a:p>
        </p:txBody>
      </p:sp>
      <p:sp>
        <p:nvSpPr>
          <p:cNvPr id="17" name="TextBox 16"/>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18" name="Rounded Rectangle 17"/>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Та же картинка по подписке, оптом</a:t>
            </a:r>
          </a:p>
        </p:txBody>
      </p:sp>
      <p:sp>
        <p:nvSpPr>
          <p:cNvPr id="20" name="TextBox 19"/>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21" name="Rounded Rectangle 20"/>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Разница внутри одного режима — в пятьдесят–двести раз.</a:t>
            </a:r>
            <a:r>
              <a:rPr sz="1450" b="0" i="0">
                <a:solidFill>
                  <a:srgbClr val="21295C"/>
                </a:solidFill>
                <a:latin typeface="Arial"/>
              </a:rPr>
              <a:t> Услышав «в тысячу раз дешевле», спрашивайте про базу: какую именно классику взяли для сравнения.</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стоковых агентств: розничная лицензия и подписка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1961 · ксерография</a:t>
            </a:r>
          </a:p>
        </p:txBody>
      </p:sp>
      <p:sp>
        <p:nvSpPr>
          <p:cNvPr id="9" name="Rounded Rectangle 8"/>
          <p:cNvSpPr/>
          <p:nvPr/>
        </p:nvSpPr>
        <p:spPr>
          <a:xfrm>
            <a:off x="1920240"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исчезла обводка тушью</a:t>
            </a:r>
          </a:p>
        </p:txBody>
      </p:sp>
      <p:sp>
        <p:nvSpPr>
          <p:cNvPr id="11" name="Rounded Rectangle 10"/>
          <p:cNvSpPr/>
          <p:nvPr/>
        </p:nvSpPr>
        <p:spPr>
          <a:xfrm>
            <a:off x="439894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48124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штат ×0,5 к 1959 году</a:t>
            </a:r>
          </a:p>
        </p:txBody>
      </p:sp>
      <p:sp>
        <p:nvSpPr>
          <p:cNvPr id="13" name="Rounded Rectangle 12"/>
          <p:cNvSpPr/>
          <p:nvPr/>
        </p:nvSpPr>
        <p:spPr>
          <a:xfrm>
            <a:off x="687765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695995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аниматор остался</a:t>
            </a:r>
          </a:p>
        </p:txBody>
      </p:sp>
      <p:sp>
        <p:nvSpPr>
          <p:cNvPr id="15" name="Rounded Rectangle 14"/>
          <p:cNvSpPr/>
          <p:nvPr/>
        </p:nvSpPr>
        <p:spPr>
          <a:xfrm>
            <a:off x="935636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943866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«неряшливая» линия</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1990 · Photoshop 1.0</a:t>
            </a:r>
          </a:p>
        </p:txBody>
      </p:sp>
      <p:sp>
        <p:nvSpPr>
          <p:cNvPr id="18" name="Rounded Rectangle 17"/>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 допечатный цех</a:t>
            </a:r>
          </a:p>
        </p:txBody>
      </p:sp>
      <p:sp>
        <p:nvSpPr>
          <p:cNvPr id="20" name="Rounded Rectangle 19"/>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$300 за час против $895 навсегда</a:t>
            </a:r>
          </a:p>
        </p:txBody>
      </p:sp>
      <p:sp>
        <p:nvSpPr>
          <p:cNvPr id="22" name="Rounded Rectangle 21"/>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ретушёр остался</a:t>
            </a:r>
          </a:p>
        </p:txBody>
      </p:sp>
      <p:sp>
        <p:nvSpPr>
          <p:cNvPr id="24" name="Rounded Rectangle 23"/>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спор о достоверности</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точки одной модальности; внутри точки порядка нет</a:t>
            </a:r>
          </a:p>
        </p:txBody>
      </p:sp>
      <p:sp>
        <p:nvSpPr>
          <p:cNvPr id="27" name="Rounded Rectangle 26"/>
          <p:cNvSpPr/>
          <p:nvPr/>
        </p:nvSpPr>
        <p:spPr>
          <a:xfrm>
            <a:off x="374904" y="459530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 точки — исчезнувшая операция-посредник, а не новая возможность.</a:t>
            </a:r>
            <a:r>
              <a:rPr sz="1500" b="0" i="0">
                <a:solidFill>
                  <a:srgbClr val="21295C"/>
                </a:solidFill>
                <a:latin typeface="Arial"/>
              </a:rPr>
              <a:t> Профессия в обоих случаях осталась и пересела на другой инструмент, а объём произведённого вырос сильнее, чем упала цена.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ounded Rectangle 3"/>
          <p:cNvSpPr/>
          <p:nvPr/>
        </p:nvSpPr>
        <p:spPr>
          <a:xfrm>
            <a:off x="50292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ЗАКАЗ У ИСПОЛНИТЕЛЯ</a:t>
            </a:r>
          </a:p>
        </p:txBody>
      </p:sp>
      <p:sp>
        <p:nvSpPr>
          <p:cNvPr id="6" name="TextBox 5"/>
          <p:cNvSpPr txBox="1"/>
          <p:nvPr/>
        </p:nvSpPr>
        <p:spPr>
          <a:xfrm>
            <a:off x="640080" y="1932846"/>
            <a:ext cx="156453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$50–150 за задание, 1–3 дня</a:t>
            </a:r>
          </a:p>
        </p:txBody>
      </p:sp>
      <p:sp>
        <p:nvSpPr>
          <p:cNvPr id="7" name="TextBox 6"/>
          <p:cNvSpPr txBox="1"/>
          <p:nvPr/>
        </p:nvSpPr>
        <p:spPr>
          <a:xfrm>
            <a:off x="640080" y="2444720"/>
            <a:ext cx="15645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 от 3 860 ₽ за цифровую иллюстрацию</a:t>
            </a:r>
          </a:p>
        </p:txBody>
      </p:sp>
      <p:sp>
        <p:nvSpPr>
          <p:cNvPr id="8" name="Rounded Rectangle 7"/>
          <p:cNvSpPr/>
          <p:nvPr/>
        </p:nvSpPr>
        <p:spPr>
          <a:xfrm>
            <a:off x="250637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4353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ГОТОВОЕ ИЗ БИБЛИОТЕКИ</a:t>
            </a:r>
          </a:p>
        </p:txBody>
      </p:sp>
      <p:sp>
        <p:nvSpPr>
          <p:cNvPr id="10" name="TextBox 9"/>
          <p:cNvSpPr txBox="1"/>
          <p:nvPr/>
        </p:nvSpPr>
        <p:spPr>
          <a:xfrm>
            <a:off x="2643530" y="1932846"/>
            <a:ext cx="1564538"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$130–499 розница · ≈$2,50 опт</a:t>
            </a:r>
          </a:p>
        </p:txBody>
      </p:sp>
      <p:sp>
        <p:nvSpPr>
          <p:cNvPr id="11" name="TextBox 10"/>
          <p:cNvSpPr txBox="1"/>
          <p:nvPr/>
        </p:nvSpPr>
        <p:spPr>
          <a:xfrm>
            <a:off x="2643530" y="2427745"/>
            <a:ext cx="15645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микросток 2000-х — $0,25–1</a:t>
            </a:r>
          </a:p>
        </p:txBody>
      </p:sp>
      <p:sp>
        <p:nvSpPr>
          <p:cNvPr id="12" name="Rounded Rectangle 11"/>
          <p:cNvSpPr/>
          <p:nvPr/>
        </p:nvSpPr>
        <p:spPr>
          <a:xfrm>
            <a:off x="450982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4698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ГЕНЕРАЦИЯ</a:t>
            </a:r>
          </a:p>
        </p:txBody>
      </p:sp>
      <p:sp>
        <p:nvSpPr>
          <p:cNvPr id="14" name="TextBox 13"/>
          <p:cNvSpPr txBox="1"/>
          <p:nvPr/>
        </p:nvSpPr>
        <p:spPr>
          <a:xfrm>
            <a:off x="4646980" y="1932846"/>
            <a:ext cx="1564538"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 за изображение</a:t>
            </a:r>
          </a:p>
        </p:txBody>
      </p:sp>
      <p:sp>
        <p:nvSpPr>
          <p:cNvPr id="15" name="TextBox 14"/>
          <p:cNvSpPr txBox="1"/>
          <p:nvPr/>
        </p:nvSpPr>
        <p:spPr>
          <a:xfrm>
            <a:off x="4646980" y="2546569"/>
            <a:ext cx="15645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1024×1024; 4K у того же поставщика — $0,113</a:t>
            </a:r>
          </a:p>
        </p:txBody>
      </p:sp>
      <p:sp>
        <p:nvSpPr>
          <p:cNvPr id="16" name="Rounded Rectangle 15"/>
          <p:cNvSpPr/>
          <p:nvPr/>
        </p:nvSpPr>
        <p:spPr>
          <a:xfrm>
            <a:off x="502920" y="3482052"/>
            <a:ext cx="2840583"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19212"/>
            <a:ext cx="256626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 ТРИ ЧИСЛА СРАЗУ, ОТ ТРЁХ РАЗНЫХ БАЗ</a:t>
            </a:r>
          </a:p>
        </p:txBody>
      </p:sp>
      <p:sp>
        <p:nvSpPr>
          <p:cNvPr id="18" name="TextBox 17"/>
          <p:cNvSpPr txBox="1"/>
          <p:nvPr/>
        </p:nvSpPr>
        <p:spPr>
          <a:xfrm>
            <a:off x="640080" y="4079874"/>
            <a:ext cx="2566263" cy="545823"/>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×1 000–4 500 к заказу · ×73 к опту · ×14 700 к рознице</a:t>
            </a:r>
          </a:p>
        </p:txBody>
      </p:sp>
      <p:sp>
        <p:nvSpPr>
          <p:cNvPr id="19" name="TextBox 18"/>
          <p:cNvSpPr txBox="1"/>
          <p:nvPr/>
        </p:nvSpPr>
        <p:spPr>
          <a:xfrm>
            <a:off x="640080" y="4625698"/>
            <a:ext cx="256626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называть надо все три: одно число делает вывод за слушателя</a:t>
            </a:r>
          </a:p>
        </p:txBody>
      </p:sp>
      <p:sp>
        <p:nvSpPr>
          <p:cNvPr id="20" name="Rounded Rectangle 19"/>
          <p:cNvSpPr/>
          <p:nvPr/>
        </p:nvSpPr>
        <p:spPr>
          <a:xfrm>
            <a:off x="3508095" y="3482052"/>
            <a:ext cx="2840583"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645255" y="3619212"/>
            <a:ext cx="25662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СВОЯ ВИДЕОКАРТА В АРЕНДУ</a:t>
            </a:r>
          </a:p>
        </p:txBody>
      </p:sp>
      <p:sp>
        <p:nvSpPr>
          <p:cNvPr id="22" name="TextBox 21"/>
          <p:cNvSpPr txBox="1"/>
          <p:nvPr/>
        </p:nvSpPr>
        <p:spPr>
          <a:xfrm>
            <a:off x="3645255" y="3872403"/>
            <a:ext cx="2566263"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≈$0,64 за тысячу изображений против $33,6 у программного доступа</a:t>
            </a:r>
          </a:p>
        </p:txBody>
      </p:sp>
      <p:sp>
        <p:nvSpPr>
          <p:cNvPr id="23" name="TextBox 22"/>
          <p:cNvSpPr txBox="1"/>
          <p:nvPr/>
        </p:nvSpPr>
        <p:spPr>
          <a:xfrm>
            <a:off x="3645255" y="4520076"/>
            <a:ext cx="25662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30–50 раз дешевле — и три цены этой дешевизны в прейскурант не попадают</a:t>
            </a:r>
          </a:p>
        </p:txBody>
      </p:sp>
      <p:sp>
        <p:nvSpPr>
          <p:cNvPr id="24" name="Rounded Rectangle 23"/>
          <p:cNvSpPr/>
          <p:nvPr/>
        </p:nvSpPr>
        <p:spPr>
          <a:xfrm>
            <a:off x="374904" y="5382407"/>
            <a:ext cx="11441887" cy="8538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73847"/>
            <a:ext cx="11112703" cy="76236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Цена обеих ошибок.</a:t>
            </a:r>
            <a:r>
              <a:rPr sz="11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100" b="0" i="0">
                <a:solidFill>
                  <a:srgbClr val="21295C"/>
                </a:solidFill>
                <a:latin typeface="Arial"/>
              </a:rPr>
              <a:t/>
            </a:r>
            <a:r>
              <a:rPr sz="11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26" name="Rounded Rectangle 25"/>
          <p:cNvSpPr/>
          <p:nvPr/>
        </p:nvSpPr>
        <p:spPr>
          <a:xfrm>
            <a:off x="6659575" y="1335024"/>
            <a:ext cx="5029200" cy="2948940"/>
          </a:xfrm>
          <a:prstGeom prst="roundRect">
            <a:avLst>
              <a:gd name="adj" fmla="val 10335"/>
            </a:avLst>
          </a:prstGeom>
          <a:solidFill>
            <a:srgbClr val="F4F7FA"/>
          </a:solidFill>
          <a:ln w="19050">
            <a:solidFill>
              <a:srgbClr val="1C7293"/>
            </a:solidFill>
          </a:ln>
          <a:effectLst/>
        </p:spPr>
        <p:txBody>
          <a:bodyPr rtlCol="0" anchor="ctr"/>
          <a:lstStyle/>
          <a:p>
            <a:pPr algn="ctr"/>
          </a:p>
        </p:txBody>
      </p:sp>
      <p:pic>
        <p:nvPicPr>
          <p:cNvPr id="27" name="Picture 26" descr="s12-toys-r-us-sora-kadr.jpg"/>
          <p:cNvPicPr>
            <a:picLocks noChangeAspect="1"/>
          </p:cNvPicPr>
          <p:nvPr/>
        </p:nvPicPr>
        <p:blipFill>
          <a:blip r:embed="rId2"/>
          <a:stretch>
            <a:fillRect/>
          </a:stretch>
        </p:blipFill>
        <p:spPr>
          <a:xfrm>
            <a:off x="6796735" y="1472184"/>
            <a:ext cx="4754880" cy="2674620"/>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7169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373048"/>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65877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9593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795930" y="1725375"/>
            <a:ext cx="171693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795930" y="2169349"/>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48146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9517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4951780" y="1725375"/>
            <a:ext cx="171693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4951780" y="2576747"/>
            <a:ext cx="17169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519774"/>
            <a:ext cx="306918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3910125"/>
            <a:ext cx="27948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837884"/>
            <a:ext cx="27948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3736695" y="3519774"/>
            <a:ext cx="306918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873855"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3873855" y="391012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873855" y="4337124"/>
            <a:ext cx="27948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374904" y="5700215"/>
            <a:ext cx="11441887" cy="535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791655"/>
            <a:ext cx="11112703" cy="444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Снято до разбора.</a:t>
            </a:r>
            <a:r>
              <a:rPr sz="1100" b="0" i="0">
                <a:solidFill>
                  <a:srgbClr val="21295C"/>
                </a:solidFill>
                <a:latin typeface="Arial"/>
              </a:rPr>
              <a:t> Отраслевой обзор утверждает, что редакция отказалась от стоков в пользу Kandinsky. В публикации нет ни того, ни другого: названы Midjourney и Stable Diffusion, и речь о баннерах.</a:t>
            </a:r>
          </a:p>
        </p:txBody>
      </p:sp>
      <p:sp>
        <p:nvSpPr>
          <p:cNvPr id="26" name="Rounded Rectangle 25"/>
          <p:cNvSpPr/>
          <p:nvPr/>
        </p:nvSpPr>
        <p:spPr>
          <a:xfrm>
            <a:off x="7116775" y="1335024"/>
            <a:ext cx="4572000" cy="2554477"/>
          </a:xfrm>
          <a:prstGeom prst="roundRect">
            <a:avLst>
              <a:gd name="adj" fmla="val 11931"/>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7253935" y="1472184"/>
            <a:ext cx="4297680" cy="228015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153405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247589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1305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61305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613050" y="2982259"/>
            <a:ext cx="153405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4448860" y="1335024"/>
            <a:ext cx="1808378" cy="3613914"/>
          </a:xfrm>
          <a:prstGeom prst="roundRect">
            <a:avLst>
              <a:gd name="adj" fmla="val 168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586020" y="1472184"/>
            <a:ext cx="153405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4586020" y="2347789"/>
            <a:ext cx="153405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до 465 000 тонн CO₂ в год</a:t>
            </a:r>
          </a:p>
        </p:txBody>
      </p:sp>
      <p:sp>
        <p:nvSpPr>
          <p:cNvPr id="15" name="TextBox 14"/>
          <p:cNvSpPr txBox="1"/>
          <p:nvPr/>
        </p:nvSpPr>
        <p:spPr>
          <a:xfrm>
            <a:off x="4586020" y="2910587"/>
            <a:ext cx="1534058"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374904" y="50403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131818"/>
            <a:ext cx="11112703" cy="1104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 проверяемое условие. Поэтому альтернатива ровно одна, и она посчитана в той же единице.</a:t>
            </a:r>
          </a:p>
        </p:txBody>
      </p:sp>
      <p:sp>
        <p:nvSpPr>
          <p:cNvPr id="18" name="Rounded Rectangle 17"/>
          <p:cNvSpPr/>
          <p:nvPr/>
        </p:nvSpPr>
        <p:spPr>
          <a:xfrm>
            <a:off x="6568135" y="1335024"/>
            <a:ext cx="5120640" cy="3509342"/>
          </a:xfrm>
          <a:prstGeom prst="roundRect">
            <a:avLst>
              <a:gd name="adj" fmla="val 8685"/>
            </a:avLst>
          </a:prstGeom>
          <a:solidFill>
            <a:srgbClr val="F4F7FA"/>
          </a:solidFill>
          <a:ln w="19050">
            <a:solidFill>
              <a:srgbClr val="1C7293"/>
            </a:solidFill>
          </a:ln>
          <a:effectLst/>
        </p:spPr>
        <p:txBody>
          <a:bodyPr rtlCol="0" anchor="ctr"/>
          <a:lstStyle/>
          <a:p>
            <a:pPr algn="ctr"/>
          </a:p>
        </p:txBody>
      </p:sp>
      <p:pic>
        <p:nvPicPr>
          <p:cNvPr id="19" name="Picture 18" descr="s14-airbus-peregorodka.jpg"/>
          <p:cNvPicPr>
            <a:picLocks noChangeAspect="1"/>
          </p:cNvPicPr>
          <p:nvPr/>
        </p:nvPicPr>
        <p:blipFill>
          <a:blip r:embed="rId2"/>
          <a:stretch>
            <a:fillRect/>
          </a:stretch>
        </p:blipFill>
        <p:spPr>
          <a:xfrm>
            <a:off x="6705295" y="1472184"/>
            <a:ext cx="4846320" cy="3235022"/>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Условие отбора: уберите обученную модель и посмотрите, что останется</a:t>
            </a:r>
          </a:p>
        </p:txBody>
      </p:sp>
      <p:sp>
        <p:nvSpPr>
          <p:cNvPr id="4" name="Rounded Rectangle 3"/>
          <p:cNvSpPr/>
          <p:nvPr/>
        </p:nvSpPr>
        <p:spPr>
          <a:xfrm>
            <a:off x="502920" y="1335024"/>
            <a:ext cx="566287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3885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ОБУЧЕННОЙ МОДЕЛИ В КОНТУРЕ</a:t>
            </a:r>
          </a:p>
        </p:txBody>
      </p:sp>
      <p:sp>
        <p:nvSpPr>
          <p:cNvPr id="6" name="TextBox 5"/>
          <p:cNvSpPr txBox="1"/>
          <p:nvPr/>
        </p:nvSpPr>
        <p:spPr>
          <a:xfrm>
            <a:off x="640080" y="1725375"/>
            <a:ext cx="538855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вовсе</a:t>
            </a:r>
          </a:p>
        </p:txBody>
      </p:sp>
      <p:sp>
        <p:nvSpPr>
          <p:cNvPr id="7" name="TextBox 6"/>
          <p:cNvSpPr txBox="1"/>
          <p:nvPr/>
        </p:nvSpPr>
        <p:spPr>
          <a:xfrm>
            <a:off x="640080" y="2152374"/>
            <a:ext cx="538855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перебор десятков тысяч вариантов геометрии по заданному критерию — это оптимизация, а не обученная модель</a:t>
            </a:r>
          </a:p>
        </p:txBody>
      </p:sp>
      <p:sp>
        <p:nvSpPr>
          <p:cNvPr id="8" name="Rounded Rectangle 7"/>
          <p:cNvSpPr/>
          <p:nvPr/>
        </p:nvSpPr>
        <p:spPr>
          <a:xfrm>
            <a:off x="502920" y="2894901"/>
            <a:ext cx="2675991" cy="2570368"/>
          </a:xfrm>
          <a:prstGeom prst="roundRect">
            <a:avLst>
              <a:gd name="adj" fmla="val 118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050349"/>
            <a:ext cx="234680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останется здесь</a:t>
            </a:r>
          </a:p>
        </p:txBody>
      </p:sp>
      <p:sp>
        <p:nvSpPr>
          <p:cNvPr id="10" name="TextBox 9"/>
          <p:cNvSpPr txBox="1"/>
          <p:nvPr/>
        </p:nvSpPr>
        <p:spPr>
          <a:xfrm>
            <a:off x="667512" y="3406528"/>
            <a:ext cx="2346807" cy="190329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перебор по критерию — останется</a:t>
            </a:r>
          </a:p>
          <a:p>
            <a:pPr algn="l">
              <a:lnSpc>
                <a:spcPct val="126000"/>
              </a:lnSpc>
            </a:pPr>
            <a:r>
              <a:rPr sz="1250" b="0" i="0">
                <a:solidFill>
                  <a:srgbClr val="21295C"/>
                </a:solidFill>
                <a:latin typeface="Arial"/>
              </a:rPr>
              <a:t>• расчёт прочности — останется</a:t>
            </a:r>
          </a:p>
          <a:p>
            <a:pPr algn="l">
              <a:lnSpc>
                <a:spcPct val="126000"/>
              </a:lnSpc>
            </a:pPr>
            <a:r>
              <a:rPr sz="1250" b="0" i="0">
                <a:solidFill>
                  <a:srgbClr val="21295C"/>
                </a:solidFill>
                <a:latin typeface="Arial"/>
              </a:rPr>
              <a:t>• печать из сплава — останется</a:t>
            </a:r>
          </a:p>
          <a:p>
            <a:pPr algn="l">
              <a:lnSpc>
                <a:spcPct val="126000"/>
              </a:lnSpc>
            </a:pPr>
            <a:r>
              <a:rPr sz="1250" b="0" i="0">
                <a:solidFill>
                  <a:srgbClr val="21295C"/>
                </a:solidFill>
                <a:latin typeface="Arial"/>
              </a:rPr>
              <a:t>• выигрыш −45% массы — останется</a:t>
            </a:r>
          </a:p>
        </p:txBody>
      </p:sp>
      <p:sp>
        <p:nvSpPr>
          <p:cNvPr id="11" name="Rounded Rectangle 10"/>
          <p:cNvSpPr/>
          <p:nvPr/>
        </p:nvSpPr>
        <p:spPr>
          <a:xfrm>
            <a:off x="3489807" y="2894901"/>
            <a:ext cx="2675991" cy="2570368"/>
          </a:xfrm>
          <a:prstGeom prst="roundRect">
            <a:avLst>
              <a:gd name="adj" fmla="val 11858"/>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3654399" y="3050349"/>
            <a:ext cx="2346807" cy="739352"/>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останется в соседнем разборе, где редакция дообучала модель</a:t>
            </a:r>
          </a:p>
        </p:txBody>
      </p:sp>
      <p:sp>
        <p:nvSpPr>
          <p:cNvPr id="13" name="TextBox 12"/>
          <p:cNvSpPr txBox="1"/>
          <p:nvPr/>
        </p:nvSpPr>
        <p:spPr>
          <a:xfrm>
            <a:off x="3654399" y="3899429"/>
            <a:ext cx="2346807" cy="141039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сорок картинок — останутся</a:t>
            </a:r>
          </a:p>
          <a:p>
            <a:pPr algn="l">
              <a:lnSpc>
                <a:spcPct val="126000"/>
              </a:lnSpc>
            </a:pPr>
            <a:r>
              <a:rPr sz="1300" b="0" i="0">
                <a:solidFill>
                  <a:srgbClr val="21295C"/>
                </a:solidFill>
                <a:latin typeface="Arial"/>
              </a:rPr>
              <a:t>• ноутбук — останется</a:t>
            </a:r>
          </a:p>
          <a:p>
            <a:pPr algn="l">
              <a:lnSpc>
                <a:spcPct val="126000"/>
              </a:lnSpc>
            </a:pPr>
            <a:r>
              <a:rPr sz="1300" b="0" i="0">
                <a:solidFill>
                  <a:srgbClr val="21295C"/>
                </a:solidFill>
                <a:latin typeface="Arial"/>
              </a:rPr>
              <a:t>• а 46 плакатов за месяц — нет</a:t>
            </a:r>
          </a:p>
          <a:p>
            <a:pPr algn="l">
              <a:lnSpc>
                <a:spcPct val="126000"/>
              </a:lnSpc>
            </a:pPr>
            <a:r>
              <a:rPr sz="1300" b="0" i="0">
                <a:solidFill>
                  <a:srgbClr val="21295C"/>
                </a:solidFill>
                <a:latin typeface="Arial"/>
              </a:rPr>
              <a:t>• условие отбора проходит</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Условие отбора: уберите обученную модель — если остальное продолжает работать, случай не засчитывается.</a:t>
            </a:r>
            <a:r>
              <a:rPr sz="1450" b="0" i="0">
                <a:solidFill>
                  <a:srgbClr val="21295C"/>
                </a:solidFill>
                <a:latin typeface="Arial"/>
              </a:rPr>
              <a:t> Там, где критерий задан физикой, спора об авторстве не возникает вовсе.</a:t>
            </a:r>
          </a:p>
        </p:txBody>
      </p:sp>
      <p:sp>
        <p:nvSpPr>
          <p:cNvPr id="16" name="Rounded Rectangle 15"/>
          <p:cNvSpPr/>
          <p:nvPr/>
        </p:nvSpPr>
        <p:spPr>
          <a:xfrm>
            <a:off x="6476695" y="1335024"/>
            <a:ext cx="5212080" cy="2797515"/>
          </a:xfrm>
          <a:prstGeom prst="roundRect">
            <a:avLst>
              <a:gd name="adj" fmla="val 10895"/>
            </a:avLst>
          </a:prstGeom>
          <a:solidFill>
            <a:srgbClr val="F4F7FA"/>
          </a:solidFill>
          <a:ln w="19050">
            <a:solidFill>
              <a:srgbClr val="1C7293"/>
            </a:solidFill>
          </a:ln>
          <a:effectLst/>
        </p:spPr>
        <p:txBody>
          <a:bodyPr rtlCol="0" anchor="ctr"/>
          <a:lstStyle/>
          <a:p>
            <a:pPr algn="ctr"/>
          </a:p>
        </p:txBody>
      </p:sp>
      <p:pic>
        <p:nvPicPr>
          <p:cNvPr id="17" name="Picture 16" descr="s14a-topologicheskaya-optimizatsiya.png"/>
          <p:cNvPicPr>
            <a:picLocks noChangeAspect="1"/>
          </p:cNvPicPr>
          <p:nvPr/>
        </p:nvPicPr>
        <p:blipFill>
          <a:blip r:embed="rId2"/>
          <a:stretch>
            <a:fillRect/>
          </a:stretch>
        </p:blipFill>
        <p:spPr>
          <a:xfrm>
            <a:off x="6613855" y="1472184"/>
            <a:ext cx="4937760" cy="2523195"/>
          </a:xfrm>
          <a:prstGeom prst="rect">
            <a:avLst/>
          </a:prstGeom>
        </p:spPr>
      </p:pic>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694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932846"/>
            <a:ext cx="126941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461 у Kandinsky 6.0 Pro против 622 299 у FLUX.1-dev</a:t>
            </a:r>
          </a:p>
        </p:txBody>
      </p:sp>
      <p:sp>
        <p:nvSpPr>
          <p:cNvPr id="7" name="TextBox 6"/>
          <p:cNvSpPr txBox="1"/>
          <p:nvPr/>
        </p:nvSpPr>
        <p:spPr>
          <a:xfrm>
            <a:off x="640080" y="2784218"/>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2211247"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48407"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2348407" y="2555260"/>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FRIDA 597 351 · GigaAM v3 426 500</a:t>
            </a:r>
          </a:p>
        </p:txBody>
      </p:sp>
      <p:sp>
        <p:nvSpPr>
          <p:cNvPr id="11" name="TextBox 10"/>
          <p:cNvSpPr txBox="1"/>
          <p:nvPr/>
        </p:nvSpPr>
        <p:spPr>
          <a:xfrm>
            <a:off x="2348407" y="3202933"/>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3919575"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56735" y="1472184"/>
            <a:ext cx="12694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4056735" y="2140317"/>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196,42 ₽/$ против 80,49 у Центробанка</a:t>
            </a:r>
          </a:p>
        </p:txBody>
      </p:sp>
      <p:sp>
        <p:nvSpPr>
          <p:cNvPr id="15" name="TextBox 14"/>
          <p:cNvSpPr txBox="1"/>
          <p:nvPr/>
        </p:nvSpPr>
        <p:spPr>
          <a:xfrm>
            <a:off x="4056735" y="2787990"/>
            <a:ext cx="12694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5627903" y="1335024"/>
            <a:ext cx="1543735" cy="3263099"/>
          </a:xfrm>
          <a:prstGeom prst="roundRect">
            <a:avLst>
              <a:gd name="adj" fmla="val 1974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765063"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5765063" y="2555260"/>
            <a:ext cx="126941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5765063" y="2982259"/>
            <a:ext cx="12694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4689563"/>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81003"/>
            <a:ext cx="11112703" cy="1455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ounded Rectangle 21"/>
          <p:cNvSpPr/>
          <p:nvPr/>
        </p:nvSpPr>
        <p:spPr>
          <a:xfrm>
            <a:off x="7482535" y="1335024"/>
            <a:ext cx="4206240" cy="2079793"/>
          </a:xfrm>
          <a:prstGeom prst="roundRect">
            <a:avLst>
              <a:gd name="adj" fmla="val 14655"/>
            </a:avLst>
          </a:prstGeom>
          <a:solidFill>
            <a:srgbClr val="F4F7FA"/>
          </a:solidFill>
          <a:ln w="19050">
            <a:solidFill>
              <a:srgbClr val="1C7293"/>
            </a:solidFill>
          </a:ln>
          <a:effectLst/>
        </p:spPr>
        <p:txBody>
          <a:bodyPr rtlCol="0" anchor="ctr"/>
          <a:lstStyle/>
          <a:p>
            <a:pPr algn="ctr"/>
          </a:p>
        </p:txBody>
      </p:sp>
      <p:pic>
        <p:nvPicPr>
          <p:cNvPr id="23" name="Picture 22" descr="s15-skachivaniya.png"/>
          <p:cNvPicPr>
            <a:picLocks noChangeAspect="1"/>
          </p:cNvPicPr>
          <p:nvPr/>
        </p:nvPicPr>
        <p:blipFill>
          <a:blip r:embed="rId2"/>
          <a:stretch>
            <a:fillRect/>
          </a:stretch>
        </p:blipFill>
        <p:spPr>
          <a:xfrm>
            <a:off x="7619695" y="1472184"/>
            <a:ext cx="3931919" cy="180547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текст дискретен, изображение непрерывно</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конечному словарю естественно считать вероятности; непрерывный сигнал квантовать в словарь пробовали — проигрывало по качеству деталей</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1904572" cy="40161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161196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15" name="Rectangle 14"/>
          <p:cNvSpPr/>
          <p:nvPr/>
        </p:nvSpPr>
        <p:spPr>
          <a:xfrm>
            <a:off x="2444068" y="3496568"/>
            <a:ext cx="4947254" cy="40161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90372" y="3496568"/>
            <a:ext cx="46546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Авторегрессия</a:t>
            </a:r>
          </a:p>
        </p:txBody>
      </p:sp>
      <p:sp>
        <p:nvSpPr>
          <p:cNvPr id="17" name="Rectangle 16"/>
          <p:cNvSpPr/>
          <p:nvPr/>
        </p:nvSpPr>
        <p:spPr>
          <a:xfrm>
            <a:off x="7391322" y="3496568"/>
            <a:ext cx="4260876" cy="40161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37626" y="3496568"/>
            <a:ext cx="396826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Расшумление</a:t>
            </a:r>
          </a:p>
        </p:txBody>
      </p:sp>
      <p:sp>
        <p:nvSpPr>
          <p:cNvPr id="19" name="Rectangle 18"/>
          <p:cNvSpPr/>
          <p:nvPr/>
        </p:nvSpPr>
        <p:spPr>
          <a:xfrm>
            <a:off x="539496" y="3898180"/>
            <a:ext cx="1904572" cy="63863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98180"/>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Что предсказывает</a:t>
            </a:r>
          </a:p>
        </p:txBody>
      </p:sp>
      <p:sp>
        <p:nvSpPr>
          <p:cNvPr id="21" name="Rectangle 20"/>
          <p:cNvSpPr/>
          <p:nvPr/>
        </p:nvSpPr>
        <p:spPr>
          <a:xfrm>
            <a:off x="2444068" y="3898180"/>
            <a:ext cx="4947254" cy="638632"/>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2590372" y="3898180"/>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следующий токен — распределение на словаре ~200 тыс.</a:t>
            </a:r>
          </a:p>
        </p:txBody>
      </p:sp>
      <p:sp>
        <p:nvSpPr>
          <p:cNvPr id="23" name="Rectangle 22"/>
          <p:cNvSpPr/>
          <p:nvPr/>
        </p:nvSpPr>
        <p:spPr>
          <a:xfrm>
            <a:off x="7391322" y="3898180"/>
            <a:ext cx="4260876"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37626" y="3898180"/>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шум — вектор той же формы, что вход</a:t>
            </a:r>
          </a:p>
        </p:txBody>
      </p:sp>
      <p:sp>
        <p:nvSpPr>
          <p:cNvPr id="25" name="Rectangle 24"/>
          <p:cNvSpPr/>
          <p:nvPr/>
        </p:nvSpPr>
        <p:spPr>
          <a:xfrm>
            <a:off x="539496" y="4536812"/>
            <a:ext cx="1904572" cy="63863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536812"/>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Сколько проходов</a:t>
            </a:r>
          </a:p>
        </p:txBody>
      </p:sp>
      <p:sp>
        <p:nvSpPr>
          <p:cNvPr id="27" name="Rectangle 26"/>
          <p:cNvSpPr/>
          <p:nvPr/>
        </p:nvSpPr>
        <p:spPr>
          <a:xfrm>
            <a:off x="2444068" y="4536812"/>
            <a:ext cx="4947254" cy="63863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590372" y="4536812"/>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столько, какова длина выхода</a:t>
            </a:r>
          </a:p>
        </p:txBody>
      </p:sp>
      <p:sp>
        <p:nvSpPr>
          <p:cNvPr id="29" name="Rectangle 28"/>
          <p:cNvSpPr/>
          <p:nvPr/>
        </p:nvSpPr>
        <p:spPr>
          <a:xfrm>
            <a:off x="7391322" y="4536812"/>
            <a:ext cx="4260876" cy="63863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37626" y="4536812"/>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сколько назначил сэмплер: от 1 до 50</a:t>
            </a:r>
          </a:p>
        </p:txBody>
      </p:sp>
      <p:sp>
        <p:nvSpPr>
          <p:cNvPr id="31" name="Rectangle 30"/>
          <p:cNvSpPr/>
          <p:nvPr/>
        </p:nvSpPr>
        <p:spPr>
          <a:xfrm>
            <a:off x="539496" y="5175445"/>
            <a:ext cx="1904572" cy="63863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5175445"/>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Умеет</a:t>
            </a:r>
          </a:p>
        </p:txBody>
      </p:sp>
      <p:sp>
        <p:nvSpPr>
          <p:cNvPr id="33" name="Rectangle 32"/>
          <p:cNvSpPr/>
          <p:nvPr/>
        </p:nvSpPr>
        <p:spPr>
          <a:xfrm>
            <a:off x="2444068" y="5175445"/>
            <a:ext cx="4947254" cy="63863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2590372" y="5175445"/>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произвольная длина, точная вероятность шага</a:t>
            </a:r>
          </a:p>
        </p:txBody>
      </p:sp>
      <p:sp>
        <p:nvSpPr>
          <p:cNvPr id="35" name="Rectangle 34"/>
          <p:cNvSpPr/>
          <p:nvPr/>
        </p:nvSpPr>
        <p:spPr>
          <a:xfrm>
            <a:off x="7391322" y="5175445"/>
            <a:ext cx="4260876" cy="63863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37626" y="5175445"/>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глобальная согласованность: видит весь объект</a:t>
            </a:r>
          </a:p>
        </p:txBody>
      </p:sp>
      <p:sp>
        <p:nvSpPr>
          <p:cNvPr id="37" name="Rectangle 36"/>
          <p:cNvSpPr/>
          <p:nvPr/>
        </p:nvSpPr>
        <p:spPr>
          <a:xfrm>
            <a:off x="539496" y="5814077"/>
            <a:ext cx="190457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5814077"/>
            <a:ext cx="161196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Не умеет</a:t>
            </a:r>
          </a:p>
        </p:txBody>
      </p:sp>
      <p:sp>
        <p:nvSpPr>
          <p:cNvPr id="39" name="Rectangle 38"/>
          <p:cNvSpPr/>
          <p:nvPr/>
        </p:nvSpPr>
        <p:spPr>
          <a:xfrm>
            <a:off x="2444068" y="5814077"/>
            <a:ext cx="4947254"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0372" y="5814077"/>
            <a:ext cx="465464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исправлять уже написанное</a:t>
            </a:r>
          </a:p>
        </p:txBody>
      </p:sp>
      <p:sp>
        <p:nvSpPr>
          <p:cNvPr id="41" name="Rectangle 40"/>
          <p:cNvSpPr/>
          <p:nvPr/>
        </p:nvSpPr>
        <p:spPr>
          <a:xfrm>
            <a:off x="7391322" y="5814077"/>
            <a:ext cx="4260876"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37626" y="5814077"/>
            <a:ext cx="396826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выдать вероятность конкретной картинки</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Генератор изображения целиком: три части, обученные порознь</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 ТЕКСТОВЫЙ КОДИРОВЩИК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увеличение кодировщика даёт больший прирост, чем увеличение диффузионной сети</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 АВТОКОДИРОВЩИК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против 28,62 дБ</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восстановление на 4 каналах против 16: размытое декодировщиком не вернётся</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ОТСЮДА СЛЕДУЕТ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части обучены порознь</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их меняют по отдельности; главный рычаг — токенизатор, размер модели здесь вторичен</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Вход</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словами</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текстовый кодировщик — чужая модель</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условие на всех шагах сразу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Работа</a:t>
            </a:r>
          </a:p>
        </p:txBody>
      </p:sp>
      <p:sp>
        <p:nvSpPr>
          <p:cNvPr id="26" name="Rounded Rectangle 25"/>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шум в латенте 128×128×16</a:t>
            </a:r>
          </a:p>
        </p:txBody>
      </p:sp>
      <p:sp>
        <p:nvSpPr>
          <p:cNvPr id="28" name="Right Arrow 27"/>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сеть расшумления</a:t>
            </a:r>
          </a:p>
        </p:txBody>
      </p:sp>
      <p:sp>
        <p:nvSpPr>
          <p:cNvPr id="31" name="Right Arrow 30"/>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S проходов, от 1 до 50</a:t>
            </a:r>
          </a:p>
        </p:txBody>
      </p:sp>
      <p:sp>
        <p:nvSpPr>
          <p:cNvPr id="34" name="Right Arrow 33"/>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картинки</a:t>
            </a:r>
          </a:p>
        </p:txBody>
      </p:sp>
      <p:sp>
        <p:nvSpPr>
          <p:cNvPr id="37" name="TextBox 36"/>
          <p:cNvSpPr txBox="1"/>
          <p:nvPr/>
        </p:nvSpPr>
        <p:spPr>
          <a:xfrm>
            <a:off x="502920" y="525183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Выход</a:t>
            </a:r>
          </a:p>
        </p:txBody>
      </p:sp>
      <p:sp>
        <p:nvSpPr>
          <p:cNvPr id="38" name="Rounded Rectangle 37"/>
          <p:cNvSpPr/>
          <p:nvPr/>
        </p:nvSpPr>
        <p:spPr>
          <a:xfrm>
            <a:off x="1920240"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автокодировщика</a:t>
            </a:r>
          </a:p>
        </p:txBody>
      </p:sp>
      <p:sp>
        <p:nvSpPr>
          <p:cNvPr id="40" name="Right Arrow 39"/>
          <p:cNvSpPr/>
          <p:nvPr/>
        </p:nvSpPr>
        <p:spPr>
          <a:xfrm>
            <a:off x="5039258" y="5503200"/>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5267858"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5350154"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точки растра 1024×1024</a:t>
            </a:r>
          </a:p>
        </p:txBody>
      </p:sp>
      <p:sp>
        <p:nvSpPr>
          <p:cNvPr id="43" name="Right Arrow 42"/>
          <p:cNvSpPr/>
          <p:nvPr/>
        </p:nvSpPr>
        <p:spPr>
          <a:xfrm>
            <a:off x="8386876" y="5503200"/>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615476"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8697772"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потолок качества ставит он</a:t>
            </a:r>
          </a:p>
        </p:txBody>
      </p:sp>
      <p:sp>
        <p:nvSpPr>
          <p:cNvPr id="46" name="TextBox 45"/>
          <p:cNvSpPr txBox="1"/>
          <p:nvPr/>
        </p:nvSpPr>
        <p:spPr>
          <a:xfrm>
            <a:off x="502920" y="5964877"/>
            <a:ext cx="1118585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путь одной генерации. Золотом — единственная часть, которую обычно и называют «моделью»; то, что размыли соседи, она вернуть не может</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Imagen,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71259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8515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68515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68515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3219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 портит</a:t>
            </a:r>
          </a:p>
        </p:txBody>
      </p:sp>
      <p:sp>
        <p:nvSpPr>
          <p:cNvPr id="9" name="Rounded Rectangle 8"/>
          <p:cNvSpPr/>
          <p:nvPr/>
        </p:nvSpPr>
        <p:spPr>
          <a:xfrm>
            <a:off x="1920240"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настоящая картинка</a:t>
            </a:r>
          </a:p>
        </p:txBody>
      </p:sp>
      <p:sp>
        <p:nvSpPr>
          <p:cNvPr id="11" name="Right Arrow 10"/>
          <p:cNvSpPr/>
          <p:nvPr/>
        </p:nvSpPr>
        <p:spPr>
          <a:xfrm>
            <a:off x="3187369" y="3652481"/>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41596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9826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немного шума</a:t>
            </a:r>
          </a:p>
        </p:txBody>
      </p:sp>
      <p:sp>
        <p:nvSpPr>
          <p:cNvPr id="14" name="Right Arrow 13"/>
          <p:cNvSpPr/>
          <p:nvPr/>
        </p:nvSpPr>
        <p:spPr>
          <a:xfrm>
            <a:off x="4683099" y="3652481"/>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91169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9399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ещё</a:t>
            </a:r>
          </a:p>
        </p:txBody>
      </p:sp>
      <p:sp>
        <p:nvSpPr>
          <p:cNvPr id="17" name="Right Arrow 16"/>
          <p:cNvSpPr/>
          <p:nvPr/>
        </p:nvSpPr>
        <p:spPr>
          <a:xfrm>
            <a:off x="6178829" y="3652481"/>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40742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48972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0" name="TextBox 19"/>
          <p:cNvSpPr txBox="1"/>
          <p:nvPr/>
        </p:nvSpPr>
        <p:spPr>
          <a:xfrm>
            <a:off x="502920" y="4339679"/>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убирает шум</a:t>
            </a:r>
          </a:p>
        </p:txBody>
      </p:sp>
      <p:sp>
        <p:nvSpPr>
          <p:cNvPr id="21" name="Rounded Rectangle 20"/>
          <p:cNvSpPr/>
          <p:nvPr/>
        </p:nvSpPr>
        <p:spPr>
          <a:xfrm>
            <a:off x="1920240"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3" name="Right Arrow 22"/>
          <p:cNvSpPr/>
          <p:nvPr/>
        </p:nvSpPr>
        <p:spPr>
          <a:xfrm>
            <a:off x="3187369" y="467026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341596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349826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сеть: «вот этот шум я тут вижу»</a:t>
            </a:r>
          </a:p>
        </p:txBody>
      </p:sp>
      <p:sp>
        <p:nvSpPr>
          <p:cNvPr id="26" name="Right Arrow 25"/>
          <p:cNvSpPr/>
          <p:nvPr/>
        </p:nvSpPr>
        <p:spPr>
          <a:xfrm>
            <a:off x="4683099" y="467026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91169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99399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вычли, получили приближение</a:t>
            </a:r>
          </a:p>
        </p:txBody>
      </p:sp>
      <p:sp>
        <p:nvSpPr>
          <p:cNvPr id="29" name="Right Arrow 28"/>
          <p:cNvSpPr/>
          <p:nvPr/>
        </p:nvSpPr>
        <p:spPr>
          <a:xfrm>
            <a:off x="6178829" y="467026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40742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48972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картинка</a:t>
            </a:r>
          </a:p>
        </p:txBody>
      </p:sp>
      <p:sp>
        <p:nvSpPr>
          <p:cNvPr id="32" name="TextBox 31"/>
          <p:cNvSpPr txBox="1"/>
          <p:nvPr/>
        </p:nvSpPr>
        <p:spPr>
          <a:xfrm>
            <a:off x="502920" y="5211153"/>
            <a:ext cx="71259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 До любого шага прямого процесса можно прыгнуть сразу: обучаемых параметров в нём ноль</a:t>
            </a:r>
          </a:p>
        </p:txBody>
      </p:sp>
      <p:sp>
        <p:nvSpPr>
          <p:cNvPr id="33" name="Rounded Rectangle 32"/>
          <p:cNvSpPr/>
          <p:nvPr/>
        </p:nvSpPr>
        <p:spPr>
          <a:xfrm>
            <a:off x="374904" y="5725080"/>
            <a:ext cx="11441887" cy="5111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816520"/>
            <a:ext cx="11112703" cy="41968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Что именно предсказывает сеть — три варианта, и их названия встречаются в настройках любого открытого инструмента.</a:t>
            </a:r>
            <a:r>
              <a:rPr sz="1050" b="0" i="0">
                <a:solidFill>
                  <a:srgbClr val="21295C"/>
                </a:solidFill>
                <a:latin typeface="Arial"/>
              </a:rPr>
              <a:t> Шум — вырождается на малом шуме. Исходную картинку — вырождается на большом. Скорость — комбинация обоих, содержательная цель на всём диапазоне, и поэтому победила.</a:t>
            </a:r>
          </a:p>
        </p:txBody>
      </p:sp>
      <p:sp>
        <p:nvSpPr>
          <p:cNvPr id="35" name="Rounded Rectangle 34"/>
          <p:cNvSpPr/>
          <p:nvPr/>
        </p:nvSpPr>
        <p:spPr>
          <a:xfrm>
            <a:off x="7939735" y="1335024"/>
            <a:ext cx="3749039" cy="940308"/>
          </a:xfrm>
          <a:prstGeom prst="roundRect">
            <a:avLst>
              <a:gd name="adj" fmla="val 25000"/>
            </a:avLst>
          </a:prstGeom>
          <a:solidFill>
            <a:srgbClr val="F4F7FA"/>
          </a:solidFill>
          <a:ln w="19050">
            <a:solidFill>
              <a:srgbClr val="1C7293"/>
            </a:solidFill>
          </a:ln>
          <a:effectLst/>
        </p:spPr>
        <p:txBody>
          <a:bodyPr rtlCol="0" anchor="ctr"/>
          <a:lstStyle/>
          <a:p>
            <a:pPr algn="ctr"/>
          </a:p>
        </p:txBody>
      </p:sp>
      <p:pic>
        <p:nvPicPr>
          <p:cNvPr id="36" name="Picture 35" descr="s17-shagi-rasshumleniya.png"/>
          <p:cNvPicPr>
            <a:picLocks noChangeAspect="1"/>
          </p:cNvPicPr>
          <p:nvPr/>
        </p:nvPicPr>
        <p:blipFill>
          <a:blip r:embed="rId2"/>
          <a:stretch>
            <a:fillRect/>
          </a:stretch>
        </p:blipFill>
        <p:spPr>
          <a:xfrm>
            <a:off x="8076895" y="1472184"/>
            <a:ext cx="3474720" cy="665988"/>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502920" y="4047309"/>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94360" y="4093029"/>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1000 — DDPM, 2020</a:t>
            </a:r>
          </a:p>
        </p:txBody>
      </p:sp>
      <p:sp>
        <p:nvSpPr>
          <p:cNvPr id="22" name="Rounded Rectangle 21"/>
          <p:cNvSpPr/>
          <p:nvPr/>
        </p:nvSpPr>
        <p:spPr>
          <a:xfrm>
            <a:off x="2762036" y="4248477"/>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853476" y="4294197"/>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20–100 — DDIM, 2020</a:t>
            </a:r>
          </a:p>
        </p:txBody>
      </p:sp>
      <p:sp>
        <p:nvSpPr>
          <p:cNvPr id="24" name="Rounded Rectangle 23"/>
          <p:cNvSpPr/>
          <p:nvPr/>
        </p:nvSpPr>
        <p:spPr>
          <a:xfrm>
            <a:off x="5021153" y="4449645"/>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112593" y="449536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10–20 — DPM-Solver, 2022</a:t>
            </a:r>
          </a:p>
        </p:txBody>
      </p:sp>
      <p:sp>
        <p:nvSpPr>
          <p:cNvPr id="26" name="Rounded Rectangle 25"/>
          <p:cNvSpPr/>
          <p:nvPr/>
        </p:nvSpPr>
        <p:spPr>
          <a:xfrm>
            <a:off x="7280269" y="4650813"/>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371709" y="4696533"/>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2–4 — согласованность</a:t>
            </a:r>
          </a:p>
        </p:txBody>
      </p:sp>
      <p:sp>
        <p:nvSpPr>
          <p:cNvPr id="28" name="Rounded Rectangle 27"/>
          <p:cNvSpPr/>
          <p:nvPr/>
        </p:nvSpPr>
        <p:spPr>
          <a:xfrm>
            <a:off x="9539386" y="4851981"/>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9630826" y="4897701"/>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1–4 — состязательная</a:t>
            </a:r>
          </a:p>
        </p:txBody>
      </p:sp>
      <p:sp>
        <p:nvSpPr>
          <p:cNvPr id="30" name="Rounded Rectangle 29"/>
          <p:cNvSpPr/>
          <p:nvPr/>
        </p:nvSpPr>
        <p:spPr>
          <a:xfrm>
            <a:off x="374904" y="563817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29615"/>
            <a:ext cx="11112703" cy="50659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Первые три ступени не трогают веса — это смена численного метода. Последние две меняют.</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TextBox 15"/>
          <p:cNvSpPr txBox="1"/>
          <p:nvPr/>
        </p:nvSpPr>
        <p:spPr>
          <a:xfrm>
            <a:off x="502920" y="415933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17" name="Rounded Rectangle 16"/>
          <p:cNvSpPr/>
          <p:nvPr/>
        </p:nvSpPr>
        <p:spPr>
          <a:xfrm>
            <a:off x="1920240"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19" name="Rounded Rectangle 18"/>
          <p:cNvSpPr/>
          <p:nvPr/>
        </p:nvSpPr>
        <p:spPr>
          <a:xfrm>
            <a:off x="439894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8124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21" name="Rounded Rectangle 20"/>
          <p:cNvSpPr/>
          <p:nvPr/>
        </p:nvSpPr>
        <p:spPr>
          <a:xfrm>
            <a:off x="687765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95995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23" name="Rounded Rectangle 22"/>
          <p:cNvSpPr/>
          <p:nvPr/>
        </p:nvSpPr>
        <p:spPr>
          <a:xfrm>
            <a:off x="935636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43866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25" name="TextBox 24"/>
          <p:cNvSpPr txBox="1"/>
          <p:nvPr/>
        </p:nvSpPr>
        <p:spPr>
          <a:xfrm>
            <a:off x="502920" y="501867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26" name="Rounded Rectangle 25"/>
          <p:cNvSpPr/>
          <p:nvPr/>
        </p:nvSpPr>
        <p:spPr>
          <a:xfrm>
            <a:off x="1920240"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28" name="Rounded Rectangle 27"/>
          <p:cNvSpPr/>
          <p:nvPr/>
        </p:nvSpPr>
        <p:spPr>
          <a:xfrm>
            <a:off x="439894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48124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30" name="Rounded Rectangle 29"/>
          <p:cNvSpPr/>
          <p:nvPr/>
        </p:nvSpPr>
        <p:spPr>
          <a:xfrm>
            <a:off x="687765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32" name="Rounded Rectangle 31"/>
          <p:cNvSpPr/>
          <p:nvPr/>
        </p:nvSpPr>
        <p:spPr>
          <a:xfrm>
            <a:off x="935636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943866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34" name="Rounded Rectangle 33"/>
          <p:cNvSpPr/>
          <p:nvPr/>
        </p:nvSpPr>
        <p:spPr>
          <a:xfrm>
            <a:off x="374904" y="5786581"/>
            <a:ext cx="11441887" cy="4496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78021"/>
            <a:ext cx="11112703" cy="35818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механизм Q/K/V: «Q про текущий шаг, K и V про контекст» превращается в «Q про картинку, K и V про текст».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2141745"/>
          </a:xfrm>
          <a:prstGeom prst="roundRect">
            <a:avLst>
              <a:gd name="adj" fmla="val 142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18" name="TextBox 17"/>
          <p:cNvSpPr txBox="1"/>
          <p:nvPr/>
        </p:nvSpPr>
        <p:spPr>
          <a:xfrm>
            <a:off x="667512" y="4606089"/>
            <a:ext cx="5108295" cy="147467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200" b="0" i="0">
                <a:solidFill>
                  <a:srgbClr val="21295C"/>
                </a:solidFill>
                <a:latin typeface="Arial"/>
              </a:rPr>
              <a:t>• Направление: рост → больше случайности, меньше предсказуемости</a:t>
            </a:r>
          </a:p>
          <a:p>
            <a:pPr algn="l">
              <a:lnSpc>
                <a:spcPct val="126000"/>
              </a:lnSpc>
            </a:pPr>
            <a:r>
              <a:rPr sz="1200" b="0" i="0">
                <a:solidFill>
                  <a:srgbClr val="21295C"/>
                </a:solidFill>
                <a:latin typeface="Arial"/>
              </a:rPr>
              <a:t>• Цена вычислений: ноль — одно деление над готовыми логитами</a:t>
            </a:r>
          </a:p>
          <a:p>
            <a:pPr algn="l">
              <a:lnSpc>
                <a:spcPct val="126000"/>
              </a:lnSpc>
            </a:pPr>
            <a:r>
              <a:rPr sz="1200" b="0" i="0">
                <a:solidFill>
                  <a:srgbClr val="21295C"/>
                </a:solidFill>
                <a:latin typeface="Arial"/>
              </a:rPr>
              <a:t>• Где сидит случайность: в работе сэмплера, на каждом шаге</a:t>
            </a:r>
          </a:p>
        </p:txBody>
      </p:sp>
      <p:sp>
        <p:nvSpPr>
          <p:cNvPr id="19" name="Rounded Rectangle 18"/>
          <p:cNvSpPr/>
          <p:nvPr/>
        </p:nvSpPr>
        <p:spPr>
          <a:xfrm>
            <a:off x="6251295" y="4094462"/>
            <a:ext cx="5437479" cy="2141745"/>
          </a:xfrm>
          <a:prstGeom prst="roundRect">
            <a:avLst>
              <a:gd name="adj" fmla="val 1423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4991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1" name="TextBox 20"/>
          <p:cNvSpPr txBox="1"/>
          <p:nvPr/>
        </p:nvSpPr>
        <p:spPr>
          <a:xfrm>
            <a:off x="6415887" y="4606089"/>
            <a:ext cx="5108295" cy="1474670"/>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105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1050" b="0" i="0">
                <a:solidFill>
                  <a:srgbClr val="21295C"/>
                </a:solidFill>
                <a:latin typeface="Arial"/>
              </a:rPr>
              <a:t>• Цена вычислений: два прохода сети на каждом шаге</a:t>
            </a:r>
          </a:p>
          <a:p>
            <a:pPr algn="l">
              <a:lnSpc>
                <a:spcPct val="126000"/>
              </a:lnSpc>
            </a:pPr>
            <a:r>
              <a:rPr sz="1050" b="0" i="0">
                <a:solidFill>
                  <a:srgbClr val="21295C"/>
                </a:solidFill>
                <a:latin typeface="Arial"/>
              </a:rPr>
              <a:t>• К случайности отношения не имеет вовсе: она сидит в стартовом шуме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502920"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85216"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0" name="Right Arrow 9"/>
          <p:cNvSpPr/>
          <p:nvPr/>
        </p:nvSpPr>
        <p:spPr>
          <a:xfrm>
            <a:off x="3139363" y="359967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3367963"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3450259"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13" name="Right Arrow 12"/>
          <p:cNvSpPr/>
          <p:nvPr/>
        </p:nvSpPr>
        <p:spPr>
          <a:xfrm>
            <a:off x="6004407" y="359967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33007"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15303"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16" name="Right Arrow 15"/>
          <p:cNvSpPr/>
          <p:nvPr/>
        </p:nvSpPr>
        <p:spPr>
          <a:xfrm>
            <a:off x="8869451" y="359967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9098051"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9180347"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19" name="TextBox 18"/>
          <p:cNvSpPr txBox="1"/>
          <p:nvPr/>
        </p:nvSpPr>
        <p:spPr>
          <a:xfrm>
            <a:off x="502920" y="429899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0" name="Rounded Rectangle 19"/>
          <p:cNvSpPr/>
          <p:nvPr/>
        </p:nvSpPr>
        <p:spPr>
          <a:xfrm>
            <a:off x="374904" y="460168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93120"/>
            <a:ext cx="11112703" cy="15430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Измерение, ради которого стоит весь кадр.</a:t>
            </a:r>
            <a:r>
              <a:rPr sz="1500" b="0" i="0">
                <a:solidFill>
                  <a:srgbClr val="21295C"/>
                </a:solidFill>
                <a:latin typeface="Arial"/>
              </a:rPr>
              <a:t> DiT-XL/8 — 676 млн параметров, 7,39 Гфлопс, расстояние Фреше 106,41. DiT-XL/2 — 675 млн параметров, 118,64 Гфлопс, расстояние Фреше 19,47 (меньше — лучше).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Весов столько же. Токенов в шестнадцать раз больше.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687660"/>
            <a:ext cx="3655466"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4360" y="3733380"/>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IP-Adapter</a:t>
            </a:r>
          </a:p>
        </p:txBody>
      </p:sp>
      <p:sp>
        <p:nvSpPr>
          <p:cNvPr id="14" name="Rounded Rectangle 13"/>
          <p:cNvSpPr/>
          <p:nvPr/>
        </p:nvSpPr>
        <p:spPr>
          <a:xfrm>
            <a:off x="4268114" y="3486492"/>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4359554" y="3532212"/>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ControlNet</a:t>
            </a:r>
          </a:p>
        </p:txBody>
      </p:sp>
      <p:sp>
        <p:nvSpPr>
          <p:cNvPr id="16" name="Rounded Rectangle 15"/>
          <p:cNvSpPr/>
          <p:nvPr/>
        </p:nvSpPr>
        <p:spPr>
          <a:xfrm>
            <a:off x="8033308" y="3285324"/>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124748" y="3331044"/>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LoRA и дообучение</a:t>
            </a:r>
          </a:p>
        </p:txBody>
      </p:sp>
      <p:sp>
        <p:nvSpPr>
          <p:cNvPr id="18" name="Rounded Rectangle 17"/>
          <p:cNvSpPr/>
          <p:nvPr/>
        </p:nvSpPr>
        <p:spPr>
          <a:xfrm>
            <a:off x="502920" y="4528908"/>
            <a:ext cx="5437479" cy="1707299"/>
          </a:xfrm>
          <a:prstGeom prst="roundRect">
            <a:avLst>
              <a:gd name="adj" fmla="val 1785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667512" y="468435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Разместить знание: веса не меняются</a:t>
            </a:r>
          </a:p>
        </p:txBody>
      </p:sp>
      <p:sp>
        <p:nvSpPr>
          <p:cNvPr id="20" name="TextBox 19"/>
          <p:cNvSpPr txBox="1"/>
          <p:nvPr/>
        </p:nvSpPr>
        <p:spPr>
          <a:xfrm>
            <a:off x="667512" y="5040535"/>
            <a:ext cx="5108295" cy="104022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ControlNet — структурное условие</a:t>
            </a:r>
          </a:p>
          <a:p>
            <a:pPr algn="l">
              <a:lnSpc>
                <a:spcPct val="126000"/>
              </a:lnSpc>
            </a:pPr>
            <a:r>
              <a:rPr sz="1200" b="0" i="0">
                <a:solidFill>
                  <a:srgbClr val="21295C"/>
                </a:solidFill>
                <a:latin typeface="Arial"/>
              </a:rPr>
              <a:t>• IP-Adapter — образец стиля или лица</a:t>
            </a:r>
          </a:p>
          <a:p>
            <a:pPr algn="l">
              <a:lnSpc>
                <a:spcPct val="126000"/>
              </a:lnSpc>
            </a:pPr>
            <a:r>
              <a:rPr sz="120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21" name="Rounded Rectangle 20"/>
          <p:cNvSpPr/>
          <p:nvPr/>
        </p:nvSpPr>
        <p:spPr>
          <a:xfrm>
            <a:off x="6251295" y="4528908"/>
            <a:ext cx="5437479" cy="1707299"/>
          </a:xfrm>
          <a:prstGeom prst="roundRect">
            <a:avLst>
              <a:gd name="adj" fmla="val 17852"/>
            </a:avLst>
          </a:prstGeom>
          <a:solidFill>
            <a:srgbClr val="FFFFFF"/>
          </a:solidFill>
          <a:ln w="19050">
            <a:solidFill>
              <a:srgbClr val="028090"/>
            </a:solidFill>
          </a:ln>
          <a:effectLst/>
        </p:spPr>
        <p:txBody>
          <a:bodyPr rtlCol="0" anchor="ctr"/>
          <a:lstStyle/>
          <a:p>
            <a:pPr algn="ctr"/>
          </a:p>
        </p:txBody>
      </p:sp>
      <p:sp>
        <p:nvSpPr>
          <p:cNvPr id="22" name="TextBox 21"/>
          <p:cNvSpPr txBox="1"/>
          <p:nvPr/>
        </p:nvSpPr>
        <p:spPr>
          <a:xfrm>
            <a:off x="6415887" y="468435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Закодировать поведение: веса обучаются</a:t>
            </a:r>
          </a:p>
        </p:txBody>
      </p:sp>
      <p:sp>
        <p:nvSpPr>
          <p:cNvPr id="23" name="TextBox 22"/>
          <p:cNvSpPr txBox="1"/>
          <p:nvPr/>
        </p:nvSpPr>
        <p:spPr>
          <a:xfrm>
            <a:off x="6415887" y="5040535"/>
            <a:ext cx="5108295" cy="104022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LoRA — низкоранговые адаптеры</a:t>
            </a:r>
          </a:p>
          <a:p>
            <a:pPr algn="l">
              <a:lnSpc>
                <a:spcPct val="126000"/>
              </a:lnSpc>
            </a:pPr>
            <a:r>
              <a:rPr sz="1300" b="0" i="0">
                <a:solidFill>
                  <a:srgbClr val="21295C"/>
                </a:solidFill>
                <a:latin typeface="Arial"/>
              </a:rPr>
              <a:t>• DreamBooth — дообучение самой модели</a:t>
            </a:r>
          </a:p>
          <a:p>
            <a:pPr algn="l">
              <a:lnSpc>
                <a:spcPct val="126000"/>
              </a:lnSpc>
            </a:pPr>
            <a:r>
              <a:rPr sz="130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Языковая модель против медиа-модели: шесть строк расхождения в устройстве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90352"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977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2429848" y="1335024"/>
            <a:ext cx="4554452"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76152" y="1335024"/>
            <a:ext cx="42618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Языковая модель</a:t>
            </a:r>
          </a:p>
        </p:txBody>
      </p:sp>
      <p:sp>
        <p:nvSpPr>
          <p:cNvPr id="9" name="Rectangle 8"/>
          <p:cNvSpPr/>
          <p:nvPr/>
        </p:nvSpPr>
        <p:spPr>
          <a:xfrm>
            <a:off x="6984301" y="1335024"/>
            <a:ext cx="4667897"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30605" y="1335024"/>
            <a:ext cx="4375289"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Медиа-модель</a:t>
            </a:r>
          </a:p>
        </p:txBody>
      </p:sp>
      <p:sp>
        <p:nvSpPr>
          <p:cNvPr id="11" name="Rectangle 10"/>
          <p:cNvSpPr/>
          <p:nvPr/>
        </p:nvSpPr>
        <p:spPr>
          <a:xfrm>
            <a:off x="539496" y="1782217"/>
            <a:ext cx="1890352" cy="729794"/>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8221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Единица данных</a:t>
            </a:r>
          </a:p>
        </p:txBody>
      </p:sp>
      <p:sp>
        <p:nvSpPr>
          <p:cNvPr id="13" name="Rectangle 12"/>
          <p:cNvSpPr/>
          <p:nvPr/>
        </p:nvSpPr>
        <p:spPr>
          <a:xfrm>
            <a:off x="2429848" y="1782217"/>
            <a:ext cx="4554452" cy="72979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576152" y="178221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токен из словаря ~200 тыс., зафиксированного до обучения</a:t>
            </a:r>
          </a:p>
        </p:txBody>
      </p:sp>
      <p:sp>
        <p:nvSpPr>
          <p:cNvPr id="15" name="Rectangle 14"/>
          <p:cNvSpPr/>
          <p:nvPr/>
        </p:nvSpPr>
        <p:spPr>
          <a:xfrm>
            <a:off x="6984301" y="1782217"/>
            <a:ext cx="4667897"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30605" y="1782217"/>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латентный патч — непрерывный вектор из 64 чисел. </a:t>
            </a:r>
            <a:r>
              <a:rPr sz="1550" b="1" i="0">
                <a:solidFill>
                  <a:srgbClr val="21295C"/>
                </a:solidFill>
                <a:latin typeface="Arial"/>
              </a:rPr>
              <a:t>Словаря нет</a:t>
            </a:r>
          </a:p>
        </p:txBody>
      </p:sp>
      <p:sp>
        <p:nvSpPr>
          <p:cNvPr id="17" name="Rectangle 16"/>
          <p:cNvSpPr/>
          <p:nvPr/>
        </p:nvSpPr>
        <p:spPr>
          <a:xfrm>
            <a:off x="539496" y="2512011"/>
            <a:ext cx="1890352" cy="729794"/>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12011"/>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Сколько единиц</a:t>
            </a:r>
          </a:p>
        </p:txBody>
      </p:sp>
      <p:sp>
        <p:nvSpPr>
          <p:cNvPr id="19" name="Rectangle 18"/>
          <p:cNvSpPr/>
          <p:nvPr/>
        </p:nvSpPr>
        <p:spPr>
          <a:xfrm>
            <a:off x="2429848" y="2512011"/>
            <a:ext cx="4554452" cy="729794"/>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576152" y="2512011"/>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длина описания плюс ответа; окно 128 тыс. — 1 млн</a:t>
            </a:r>
          </a:p>
        </p:txBody>
      </p:sp>
      <p:sp>
        <p:nvSpPr>
          <p:cNvPr id="21" name="Rectangle 20"/>
          <p:cNvSpPr/>
          <p:nvPr/>
        </p:nvSpPr>
        <p:spPr>
          <a:xfrm>
            <a:off x="6984301" y="2512011"/>
            <a:ext cx="4667897" cy="72979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30605" y="2512011"/>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задано размером выхода: 1024×1024 → </a:t>
            </a:r>
            <a:r>
              <a:rPr sz="1550" b="1" i="0">
                <a:solidFill>
                  <a:srgbClr val="21295C"/>
                </a:solidFill>
                <a:latin typeface="Arial"/>
              </a:rPr>
              <a:t>4096</a:t>
            </a:r>
          </a:p>
        </p:txBody>
      </p:sp>
      <p:sp>
        <p:nvSpPr>
          <p:cNvPr id="23" name="Rectangle 22"/>
          <p:cNvSpPr/>
          <p:nvPr/>
        </p:nvSpPr>
        <p:spPr>
          <a:xfrm>
            <a:off x="539496" y="3241805"/>
            <a:ext cx="189035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241805"/>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Что предсказывает</a:t>
            </a:r>
          </a:p>
        </p:txBody>
      </p:sp>
      <p:sp>
        <p:nvSpPr>
          <p:cNvPr id="25" name="Rectangle 24"/>
          <p:cNvSpPr/>
          <p:nvPr/>
        </p:nvSpPr>
        <p:spPr>
          <a:xfrm>
            <a:off x="2429848" y="3241805"/>
            <a:ext cx="4554452" cy="729794"/>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576152" y="3241805"/>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распределение вероятностей на словарь, сумма = 1</a:t>
            </a:r>
          </a:p>
        </p:txBody>
      </p:sp>
      <p:sp>
        <p:nvSpPr>
          <p:cNvPr id="27" name="Rectangle 26"/>
          <p:cNvSpPr/>
          <p:nvPr/>
        </p:nvSpPr>
        <p:spPr>
          <a:xfrm>
            <a:off x="6984301" y="3241805"/>
            <a:ext cx="4667897" cy="729794"/>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30605" y="3241805"/>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вектор той же формы, что вход. </a:t>
            </a:r>
            <a:r>
              <a:rPr sz="1550" b="1" i="0">
                <a:solidFill>
                  <a:srgbClr val="21295C"/>
                </a:solidFill>
                <a:latin typeface="Arial"/>
              </a:rPr>
              <a:t>Нормировки нет</a:t>
            </a:r>
          </a:p>
        </p:txBody>
      </p:sp>
      <p:sp>
        <p:nvSpPr>
          <p:cNvPr id="29" name="Rectangle 28"/>
          <p:cNvSpPr/>
          <p:nvPr/>
        </p:nvSpPr>
        <p:spPr>
          <a:xfrm>
            <a:off x="539496" y="3971599"/>
            <a:ext cx="1890352"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971599"/>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Роль контекста</a:t>
            </a:r>
          </a:p>
        </p:txBody>
      </p:sp>
      <p:sp>
        <p:nvSpPr>
          <p:cNvPr id="31" name="Rectangle 30"/>
          <p:cNvSpPr/>
          <p:nvPr/>
        </p:nvSpPr>
        <p:spPr>
          <a:xfrm>
            <a:off x="2429848" y="3971599"/>
            <a:ext cx="455445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576152" y="3971599"/>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история растёт и служит условием следующего токена</a:t>
            </a:r>
          </a:p>
        </p:txBody>
      </p:sp>
      <p:sp>
        <p:nvSpPr>
          <p:cNvPr id="33" name="Rectangle 32"/>
          <p:cNvSpPr/>
          <p:nvPr/>
        </p:nvSpPr>
        <p:spPr>
          <a:xfrm>
            <a:off x="6984301" y="3971599"/>
            <a:ext cx="4667897"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30605" y="3971599"/>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описание — </a:t>
            </a:r>
            <a:r>
              <a:rPr sz="1550" b="1" i="0">
                <a:solidFill>
                  <a:srgbClr val="21295C"/>
                </a:solidFill>
                <a:latin typeface="Arial"/>
              </a:rPr>
              <a:t>постоянное</a:t>
            </a:r>
            <a:r>
              <a:rPr sz="1550" b="0" i="0">
                <a:solidFill>
                  <a:srgbClr val="21295C"/>
                </a:solidFill>
                <a:latin typeface="Arial"/>
              </a:rPr>
              <a:t> условие на всех шагах. Истории нет</a:t>
            </a:r>
          </a:p>
        </p:txBody>
      </p:sp>
      <p:sp>
        <p:nvSpPr>
          <p:cNvPr id="35" name="Rectangle 34"/>
          <p:cNvSpPr/>
          <p:nvPr/>
        </p:nvSpPr>
        <p:spPr>
          <a:xfrm>
            <a:off x="539496" y="4701393"/>
            <a:ext cx="1890352"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701393"/>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Число проходов</a:t>
            </a:r>
          </a:p>
        </p:txBody>
      </p:sp>
      <p:sp>
        <p:nvSpPr>
          <p:cNvPr id="37" name="Rectangle 36"/>
          <p:cNvSpPr/>
          <p:nvPr/>
        </p:nvSpPr>
        <p:spPr>
          <a:xfrm>
            <a:off x="2429848" y="4701393"/>
            <a:ext cx="4554452"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576152" y="4701393"/>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N проходов на N токенов</a:t>
            </a:r>
          </a:p>
        </p:txBody>
      </p:sp>
      <p:sp>
        <p:nvSpPr>
          <p:cNvPr id="39" name="Rectangle 38"/>
          <p:cNvSpPr/>
          <p:nvPr/>
        </p:nvSpPr>
        <p:spPr>
          <a:xfrm>
            <a:off x="6984301" y="4701393"/>
            <a:ext cx="4667897"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30605" y="4701393"/>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S проходов </a:t>
            </a:r>
            <a:r>
              <a:rPr sz="1550" b="1" i="0">
                <a:solidFill>
                  <a:srgbClr val="21295C"/>
                </a:solidFill>
                <a:latin typeface="Arial"/>
              </a:rPr>
              <a:t>независимо</a:t>
            </a:r>
            <a:r>
              <a:rPr sz="1550" b="0" i="0">
                <a:solidFill>
                  <a:srgbClr val="21295C"/>
                </a:solidFill>
                <a:latin typeface="Arial"/>
              </a:rPr>
              <a:t> от размера выхода, S от 1 до 50</a:t>
            </a:r>
          </a:p>
        </p:txBody>
      </p:sp>
      <p:sp>
        <p:nvSpPr>
          <p:cNvPr id="41" name="Rectangle 40"/>
          <p:cNvSpPr/>
          <p:nvPr/>
        </p:nvSpPr>
        <p:spPr>
          <a:xfrm>
            <a:off x="539496" y="5431187"/>
            <a:ext cx="1890352" cy="72979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543118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Кэш</a:t>
            </a:r>
          </a:p>
        </p:txBody>
      </p:sp>
      <p:sp>
        <p:nvSpPr>
          <p:cNvPr id="43" name="Rectangle 42"/>
          <p:cNvSpPr/>
          <p:nvPr/>
        </p:nvSpPr>
        <p:spPr>
          <a:xfrm>
            <a:off x="2429848" y="5431187"/>
            <a:ext cx="4554452" cy="72979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576152" y="543118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6984301" y="5431187"/>
            <a:ext cx="4667897"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130605" y="5431187"/>
            <a:ext cx="4375289"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невозможен</a:t>
            </a:r>
            <a:r>
              <a:rPr sz="1550" b="0" i="0">
                <a:solidFill>
                  <a:srgbClr val="21295C"/>
                </a:solidFill>
                <a:latin typeface="Arial"/>
              </a:rPr>
              <a:t>: все 4096 токенов меняются каждый шаг</a:t>
            </a:r>
          </a:p>
        </p:txBody>
      </p:sp>
      <p:sp>
        <p:nvSpPr>
          <p:cNvPr id="47" name="Rectangle 46"/>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Языковая модель против медиа-модели: ещё пять строк — управление, ошибка, провенанс</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источником</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ссылка на документ</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Медиа</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кадр</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физикой</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провенанса нет</a:t>
            </a:r>
          </a:p>
        </p:txBody>
      </p:sp>
      <p:sp>
        <p:nvSpPr>
          <p:cNvPr id="22" name="Rounded Rectangle 21"/>
          <p:cNvSpPr/>
          <p:nvPr/>
        </p:nvSpPr>
        <p:spPr>
          <a:xfrm>
            <a:off x="374904" y="2523553"/>
            <a:ext cx="11441887" cy="3712654"/>
          </a:xfrm>
          <a:prstGeom prst="roundRect">
            <a:avLst>
              <a:gd name="adj" fmla="val 8209"/>
            </a:avLst>
          </a:prstGeom>
          <a:solidFill>
            <a:srgbClr val="F4F7FA"/>
          </a:solidFill>
          <a:ln w="19050">
            <a:solidFill>
              <a:srgbClr val="1C7293"/>
            </a:solidFill>
          </a:ln>
          <a:effectLst/>
        </p:spPr>
        <p:txBody>
          <a:bodyPr rtlCol="0" anchor="ctr"/>
          <a:lstStyle/>
          <a:p>
            <a:pPr algn="ctr"/>
          </a:p>
        </p:txBody>
      </p:sp>
      <p:sp>
        <p:nvSpPr>
          <p:cNvPr id="23" name="Rectangle 22"/>
          <p:cNvSpPr/>
          <p:nvPr/>
        </p:nvSpPr>
        <p:spPr>
          <a:xfrm>
            <a:off x="539496" y="2614993"/>
            <a:ext cx="1535739" cy="383379"/>
          </a:xfrm>
          <a:prstGeom prst="rect">
            <a:avLst/>
          </a:prstGeom>
          <a:solidFill>
            <a:srgbClr val="065A82"/>
          </a:solidFill>
          <a:ln>
            <a:noFill/>
          </a:ln>
          <a:effectLst/>
        </p:spPr>
        <p:txBody>
          <a:bodyPr rtlCol="0" anchor="ctr"/>
          <a:lstStyle/>
          <a:p>
            <a:pPr algn="ctr"/>
          </a:p>
        </p:txBody>
      </p:sp>
      <p:sp>
        <p:nvSpPr>
          <p:cNvPr id="24" name="TextBox 23"/>
          <p:cNvSpPr txBox="1"/>
          <p:nvPr/>
        </p:nvSpPr>
        <p:spPr>
          <a:xfrm>
            <a:off x="685800" y="2614993"/>
            <a:ext cx="1243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25" name="Rectangle 24"/>
          <p:cNvSpPr/>
          <p:nvPr/>
        </p:nvSpPr>
        <p:spPr>
          <a:xfrm>
            <a:off x="2075235" y="2614993"/>
            <a:ext cx="6333796" cy="383379"/>
          </a:xfrm>
          <a:prstGeom prst="rect">
            <a:avLst/>
          </a:prstGeom>
          <a:solidFill>
            <a:srgbClr val="065A82"/>
          </a:solidFill>
          <a:ln>
            <a:noFill/>
          </a:ln>
          <a:effectLst/>
        </p:spPr>
        <p:txBody>
          <a:bodyPr rtlCol="0" anchor="ctr"/>
          <a:lstStyle/>
          <a:p>
            <a:pPr algn="ctr"/>
          </a:p>
        </p:txBody>
      </p:sp>
      <p:sp>
        <p:nvSpPr>
          <p:cNvPr id="26" name="TextBox 25"/>
          <p:cNvSpPr txBox="1"/>
          <p:nvPr/>
        </p:nvSpPr>
        <p:spPr>
          <a:xfrm>
            <a:off x="2221539" y="2614993"/>
            <a:ext cx="604118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Языковая модель</a:t>
            </a:r>
          </a:p>
        </p:txBody>
      </p:sp>
      <p:sp>
        <p:nvSpPr>
          <p:cNvPr id="27" name="Rectangle 26"/>
          <p:cNvSpPr/>
          <p:nvPr/>
        </p:nvSpPr>
        <p:spPr>
          <a:xfrm>
            <a:off x="8409031" y="2614993"/>
            <a:ext cx="3243167" cy="383379"/>
          </a:xfrm>
          <a:prstGeom prst="rect">
            <a:avLst/>
          </a:prstGeom>
          <a:solidFill>
            <a:srgbClr val="065A82"/>
          </a:solidFill>
          <a:ln>
            <a:noFill/>
          </a:ln>
          <a:effectLst/>
        </p:spPr>
        <p:txBody>
          <a:bodyPr rtlCol="0" anchor="ctr"/>
          <a:lstStyle/>
          <a:p>
            <a:pPr algn="ctr"/>
          </a:p>
        </p:txBody>
      </p:sp>
      <p:sp>
        <p:nvSpPr>
          <p:cNvPr id="28" name="TextBox 27"/>
          <p:cNvSpPr txBox="1"/>
          <p:nvPr/>
        </p:nvSpPr>
        <p:spPr>
          <a:xfrm>
            <a:off x="8555335" y="2614993"/>
            <a:ext cx="295055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Медиа-модель</a:t>
            </a:r>
          </a:p>
        </p:txBody>
      </p:sp>
      <p:sp>
        <p:nvSpPr>
          <p:cNvPr id="29" name="Rectangle 28"/>
          <p:cNvSpPr/>
          <p:nvPr/>
        </p:nvSpPr>
        <p:spPr>
          <a:xfrm>
            <a:off x="539496" y="2998373"/>
            <a:ext cx="1535739" cy="82095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998373"/>
            <a:ext cx="1243131"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Чем управляется выход</a:t>
            </a:r>
          </a:p>
        </p:txBody>
      </p:sp>
      <p:sp>
        <p:nvSpPr>
          <p:cNvPr id="31" name="Rectangle 30"/>
          <p:cNvSpPr/>
          <p:nvPr/>
        </p:nvSpPr>
        <p:spPr>
          <a:xfrm>
            <a:off x="2075235" y="2998373"/>
            <a:ext cx="6333796" cy="82095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221539" y="2998373"/>
            <a:ext cx="6041188"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температура, отсечение по вероятности (top-p), маскирование логитов, грамматика схемы — </a:t>
            </a:r>
            <a:r>
              <a:rPr sz="1200" b="1" i="0">
                <a:solidFill>
                  <a:srgbClr val="21295C"/>
                </a:solidFill>
                <a:latin typeface="Arial"/>
              </a:rPr>
              <a:t>механическая гарантия формы</a:t>
            </a:r>
          </a:p>
        </p:txBody>
      </p:sp>
      <p:sp>
        <p:nvSpPr>
          <p:cNvPr id="33" name="Rectangle 32"/>
          <p:cNvSpPr/>
          <p:nvPr/>
        </p:nvSpPr>
        <p:spPr>
          <a:xfrm>
            <a:off x="8409031" y="2998373"/>
            <a:ext cx="3243167" cy="82095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8555335" y="2998373"/>
            <a:ext cx="2950559"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CFG, негативное описание, адаптеры. </a:t>
            </a:r>
            <a:r>
              <a:rPr sz="1200" b="1" i="0">
                <a:solidFill>
                  <a:srgbClr val="21295C"/>
                </a:solidFill>
                <a:latin typeface="Arial"/>
              </a:rPr>
              <a:t>Гарантий нет ни одной</a:t>
            </a:r>
          </a:p>
        </p:txBody>
      </p:sp>
      <p:sp>
        <p:nvSpPr>
          <p:cNvPr id="35" name="Rectangle 34"/>
          <p:cNvSpPr/>
          <p:nvPr/>
        </p:nvSpPr>
        <p:spPr>
          <a:xfrm>
            <a:off x="539496" y="3819329"/>
            <a:ext cx="1535739" cy="602167"/>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3819329"/>
            <a:ext cx="1243131"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Галлюцинация</a:t>
            </a:r>
          </a:p>
        </p:txBody>
      </p:sp>
      <p:sp>
        <p:nvSpPr>
          <p:cNvPr id="37" name="Rectangle 36"/>
          <p:cNvSpPr/>
          <p:nvPr/>
        </p:nvSpPr>
        <p:spPr>
          <a:xfrm>
            <a:off x="2075235" y="3819329"/>
            <a:ext cx="6333796" cy="602167"/>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2221539" y="3819329"/>
            <a:ext cx="60411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уверенное ложное </a:t>
            </a:r>
            <a:r>
              <a:rPr sz="1200" b="1" i="0">
                <a:solidFill>
                  <a:srgbClr val="21295C"/>
                </a:solidFill>
                <a:latin typeface="Arial"/>
              </a:rPr>
              <a:t>утверждение</a:t>
            </a:r>
            <a:r>
              <a:rPr sz="1200" b="0" i="0">
                <a:solidFill>
                  <a:srgbClr val="21295C"/>
                </a:solidFill>
                <a:latin typeface="Arial"/>
              </a:rPr>
              <a:t> — проверяется по источнику</a:t>
            </a:r>
          </a:p>
        </p:txBody>
      </p:sp>
      <p:sp>
        <p:nvSpPr>
          <p:cNvPr id="39" name="Rectangle 38"/>
          <p:cNvSpPr/>
          <p:nvPr/>
        </p:nvSpPr>
        <p:spPr>
          <a:xfrm>
            <a:off x="8409031" y="3819329"/>
            <a:ext cx="3243167" cy="602167"/>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8555335" y="3819329"/>
            <a:ext cx="2950559"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правдоподобная </a:t>
            </a:r>
            <a:r>
              <a:rPr sz="1200" b="1" i="0">
                <a:solidFill>
                  <a:srgbClr val="21295C"/>
                </a:solidFill>
                <a:latin typeface="Arial"/>
              </a:rPr>
              <a:t>невозможность</a:t>
            </a:r>
            <a:r>
              <a:rPr sz="1200" b="0" i="0">
                <a:solidFill>
                  <a:srgbClr val="21295C"/>
                </a:solidFill>
                <a:latin typeface="Arial"/>
              </a:rPr>
              <a:t> — проверяется физикой</a:t>
            </a:r>
          </a:p>
        </p:txBody>
      </p:sp>
      <p:sp>
        <p:nvSpPr>
          <p:cNvPr id="41" name="Rectangle 40"/>
          <p:cNvSpPr/>
          <p:nvPr/>
        </p:nvSpPr>
        <p:spPr>
          <a:xfrm>
            <a:off x="539496" y="4421497"/>
            <a:ext cx="1535739" cy="820955"/>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685800" y="4421497"/>
            <a:ext cx="1243131"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Чем её чинят</a:t>
            </a:r>
          </a:p>
        </p:txBody>
      </p:sp>
      <p:sp>
        <p:nvSpPr>
          <p:cNvPr id="43" name="Rectangle 42"/>
          <p:cNvSpPr/>
          <p:nvPr/>
        </p:nvSpPr>
        <p:spPr>
          <a:xfrm>
            <a:off x="2075235" y="4421497"/>
            <a:ext cx="6333796" cy="820955"/>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2221539" y="4421497"/>
            <a:ext cx="6041188"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подложить источник в контекст и потребовать ссылку</a:t>
            </a:r>
          </a:p>
        </p:txBody>
      </p:sp>
      <p:sp>
        <p:nvSpPr>
          <p:cNvPr id="45" name="Rectangle 44"/>
          <p:cNvSpPr/>
          <p:nvPr/>
        </p:nvSpPr>
        <p:spPr>
          <a:xfrm>
            <a:off x="8409031" y="4421497"/>
            <a:ext cx="3243167" cy="820955"/>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8555335" y="4421497"/>
            <a:ext cx="2950559"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ничем аналогичным</a:t>
            </a:r>
            <a:r>
              <a:rPr sz="1200" b="0" i="0">
                <a:solidFill>
                  <a:srgbClr val="21295C"/>
                </a:solidFill>
                <a:latin typeface="Arial"/>
              </a:rPr>
              <a:t>: обусловливание подсказывает форму</a:t>
            </a:r>
          </a:p>
        </p:txBody>
      </p:sp>
      <p:sp>
        <p:nvSpPr>
          <p:cNvPr id="47" name="Rectangle 46"/>
          <p:cNvSpPr/>
          <p:nvPr/>
        </p:nvSpPr>
        <p:spPr>
          <a:xfrm>
            <a:off x="539496" y="5242452"/>
            <a:ext cx="1535739" cy="602167"/>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242452"/>
            <a:ext cx="1243131"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Длина выхода</a:t>
            </a:r>
          </a:p>
        </p:txBody>
      </p:sp>
      <p:sp>
        <p:nvSpPr>
          <p:cNvPr id="49" name="Rectangle 48"/>
          <p:cNvSpPr/>
          <p:nvPr/>
        </p:nvSpPr>
        <p:spPr>
          <a:xfrm>
            <a:off x="2075235" y="5242452"/>
            <a:ext cx="6333796" cy="602167"/>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2221539" y="5242452"/>
            <a:ext cx="60411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переменная, решается стоп-токеном</a:t>
            </a:r>
          </a:p>
        </p:txBody>
      </p:sp>
      <p:sp>
        <p:nvSpPr>
          <p:cNvPr id="51" name="Rectangle 50"/>
          <p:cNvSpPr/>
          <p:nvPr/>
        </p:nvSpPr>
        <p:spPr>
          <a:xfrm>
            <a:off x="8409031" y="5242452"/>
            <a:ext cx="3243167" cy="602167"/>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8555335" y="5242452"/>
            <a:ext cx="2950559"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задана до запуска</a:t>
            </a:r>
            <a:r>
              <a:rPr sz="1200" b="0" i="0">
                <a:solidFill>
                  <a:srgbClr val="21295C"/>
                </a:solidFill>
                <a:latin typeface="Arial"/>
              </a:rPr>
              <a:t>, остановиться раньше нельзя</a:t>
            </a:r>
          </a:p>
        </p:txBody>
      </p:sp>
      <p:sp>
        <p:nvSpPr>
          <p:cNvPr id="53" name="Rectangle 52"/>
          <p:cNvSpPr/>
          <p:nvPr/>
        </p:nvSpPr>
        <p:spPr>
          <a:xfrm>
            <a:off x="539496" y="5844620"/>
            <a:ext cx="1535739" cy="383379"/>
          </a:xfrm>
          <a:prstGeom prst="rect">
            <a:avLst/>
          </a:prstGeom>
          <a:solidFill>
            <a:srgbClr val="FFFFFF"/>
          </a:solidFill>
          <a:ln w="12700">
            <a:solidFill>
              <a:srgbClr val="D9E2EC"/>
            </a:solidFill>
          </a:ln>
          <a:effectLst/>
        </p:spPr>
        <p:txBody>
          <a:bodyPr rtlCol="0" anchor="ctr"/>
          <a:lstStyle/>
          <a:p>
            <a:pPr algn="ctr"/>
          </a:p>
        </p:txBody>
      </p:sp>
      <p:sp>
        <p:nvSpPr>
          <p:cNvPr id="54" name="TextBox 53"/>
          <p:cNvSpPr txBox="1"/>
          <p:nvPr/>
        </p:nvSpPr>
        <p:spPr>
          <a:xfrm>
            <a:off x="685800" y="5844620"/>
            <a:ext cx="1243131"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Провенанс</a:t>
            </a:r>
          </a:p>
        </p:txBody>
      </p:sp>
      <p:sp>
        <p:nvSpPr>
          <p:cNvPr id="55" name="Rectangle 54"/>
          <p:cNvSpPr/>
          <p:nvPr/>
        </p:nvSpPr>
        <p:spPr>
          <a:xfrm>
            <a:off x="2075235" y="5844620"/>
            <a:ext cx="6333796" cy="383379"/>
          </a:xfrm>
          <a:prstGeom prst="rect">
            <a:avLst/>
          </a:prstGeom>
          <a:solidFill>
            <a:srgbClr val="FFFFFF"/>
          </a:solidFill>
          <a:ln w="12700">
            <a:solidFill>
              <a:srgbClr val="D9E2EC"/>
            </a:solidFill>
          </a:ln>
          <a:effectLst/>
        </p:spPr>
        <p:txBody>
          <a:bodyPr rtlCol="0" anchor="ctr"/>
          <a:lstStyle/>
          <a:p>
            <a:pPr algn="ctr"/>
          </a:p>
        </p:txBody>
      </p:sp>
      <p:sp>
        <p:nvSpPr>
          <p:cNvPr id="56" name="TextBox 55"/>
          <p:cNvSpPr txBox="1"/>
          <p:nvPr/>
        </p:nvSpPr>
        <p:spPr>
          <a:xfrm>
            <a:off x="2221539" y="5844620"/>
            <a:ext cx="60411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 ответа с поиском по документам </a:t>
            </a:r>
            <a:r>
              <a:rPr sz="1200" b="1" i="0">
                <a:solidFill>
                  <a:srgbClr val="21295C"/>
                </a:solidFill>
                <a:latin typeface="Arial"/>
              </a:rPr>
              <a:t>есть</a:t>
            </a:r>
            <a:r>
              <a:rPr sz="1200" b="0" i="0">
                <a:solidFill>
                  <a:srgbClr val="21295C"/>
                </a:solidFill>
                <a:latin typeface="Arial"/>
              </a:rPr>
              <a:t> ссылка</a:t>
            </a:r>
          </a:p>
        </p:txBody>
      </p:sp>
      <p:sp>
        <p:nvSpPr>
          <p:cNvPr id="57" name="Rectangle 56"/>
          <p:cNvSpPr/>
          <p:nvPr/>
        </p:nvSpPr>
        <p:spPr>
          <a:xfrm>
            <a:off x="8409031" y="5844620"/>
            <a:ext cx="3243167" cy="383379"/>
          </a:xfrm>
          <a:prstGeom prst="rect">
            <a:avLst/>
          </a:prstGeom>
          <a:solidFill>
            <a:srgbClr val="FFFFFF"/>
          </a:solidFill>
          <a:ln w="12700">
            <a:solidFill>
              <a:srgbClr val="D9E2EC"/>
            </a:solidFill>
          </a:ln>
          <a:effectLst/>
        </p:spPr>
        <p:txBody>
          <a:bodyPr rtlCol="0" anchor="ctr"/>
          <a:lstStyle/>
          <a:p>
            <a:pPr algn="ctr"/>
          </a:p>
        </p:txBody>
      </p:sp>
      <p:sp>
        <p:nvSpPr>
          <p:cNvPr id="58" name="TextBox 57"/>
          <p:cNvSpPr txBox="1"/>
          <p:nvPr/>
        </p:nvSpPr>
        <p:spPr>
          <a:xfrm>
            <a:off x="8555335" y="5844620"/>
            <a:ext cx="295055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 кадра её </a:t>
            </a:r>
            <a:r>
              <a:rPr sz="1200" b="1" i="0">
                <a:solidFill>
                  <a:srgbClr val="21295C"/>
                </a:solidFill>
                <a:latin typeface="Arial"/>
              </a:rPr>
              <a:t>нет и не может быть</a:t>
            </a:r>
          </a:p>
        </p:txBody>
      </p:sp>
      <p:sp>
        <p:nvSpPr>
          <p:cNvPr id="59" name="Rectangle 5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ПРОЗРАЧНОСТЬ: ТРИ МОДЕЛИ ИЗ ПЯТИ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часов видеокарт, ни стоимости, ни объёма вычислений</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раскрыты только SD v1 и SD3. По открытым весам считается размер модели, но не стоимость её создания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a:t>
            </a:r>
          </a:p>
        </p:txBody>
      </p:sp>
      <p:sp>
        <p:nvSpPr>
          <p:cNvPr id="15" name="Rectangle 14"/>
          <p:cNvSpPr/>
          <p:nvPr/>
        </p:nvSpPr>
        <p:spPr>
          <a:xfrm>
            <a:off x="1218227"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20935"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0,14</a:t>
            </a:r>
          </a:p>
          <a:p>
            <a:pPr algn="ctr">
              <a:lnSpc>
                <a:spcPct val="110000"/>
              </a:lnSpc>
            </a:pPr>
            <a:r>
              <a:rPr sz="1200" b="0" i="0">
                <a:solidFill>
                  <a:srgbClr val="21295C"/>
                </a:solidFill>
                <a:latin typeface="Arial"/>
              </a:rPr>
              <a:t>ответ языковой модели, 1000 токенов</a:t>
            </a:r>
          </a:p>
        </p:txBody>
      </p:sp>
      <p:sp>
        <p:nvSpPr>
          <p:cNvPr id="17" name="Rectangle 16"/>
          <p:cNvSpPr/>
          <p:nvPr/>
        </p:nvSpPr>
        <p:spPr>
          <a:xfrm>
            <a:off x="1727228" y="4006591"/>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111934"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0,44</a:t>
            </a:r>
          </a:p>
          <a:p>
            <a:pPr algn="ctr">
              <a:lnSpc>
                <a:spcPct val="110000"/>
              </a:lnSpc>
            </a:pPr>
            <a:r>
              <a:rPr sz="1200" b="0" i="0">
                <a:solidFill>
                  <a:srgbClr val="21295C"/>
                </a:solidFill>
                <a:latin typeface="Arial"/>
              </a:rPr>
              <a:t>та же картинка, 4 шага</a:t>
            </a:r>
          </a:p>
        </p:txBody>
      </p:sp>
      <p:sp>
        <p:nvSpPr>
          <p:cNvPr id="19" name="Rectangle 18"/>
          <p:cNvSpPr/>
          <p:nvPr/>
        </p:nvSpPr>
        <p:spPr>
          <a:xfrm>
            <a:off x="10312374" y="3791707"/>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8473211"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a:t>
            </a:r>
          </a:p>
          <a:p>
            <a:pPr algn="ctr">
              <a:lnSpc>
                <a:spcPct val="110000"/>
              </a:lnSpc>
            </a:pPr>
            <a:r>
              <a:rPr sz="1200" b="0" i="0">
                <a:solidFill>
                  <a:srgbClr val="21295C"/>
                </a:solidFill>
                <a:latin typeface="Arial"/>
              </a:rPr>
              <a:t>картинка 1024×1024, 50 шагов</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петафлопс вычислений на одну единицу выхода · один ответ либо одна картинка</a:t>
            </a:r>
          </a:p>
        </p:txBody>
      </p:sp>
      <p:sp>
        <p:nvSpPr>
          <p:cNvPr id="22" name="TextBox 21"/>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Разрыв создаёт число шагов; размер модели здесь вторичен</a:t>
            </a:r>
          </a:p>
        </p:txBody>
      </p:sp>
      <p:sp>
        <p:nvSpPr>
          <p:cNvPr id="23" name="Rounded Rectangle 22"/>
          <p:cNvSpPr/>
          <p:nvPr/>
        </p:nvSpPr>
        <p:spPr>
          <a:xfrm>
            <a:off x="374904" y="5386357"/>
            <a:ext cx="11441887" cy="8187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Обучить дешевле:</a:t>
            </a:r>
            <a:r>
              <a:rPr sz="1150" b="0" i="0">
                <a:solidFill>
                  <a:srgbClr val="21295C"/>
                </a:solidFill>
                <a:latin typeface="Arial"/>
              </a:rPr>
              <a:t> 150 000 часов видеокарт против ≈57 млн у передовой языковой, $0,6 млн аренды против $78,4 млн, веса 4,27 ГБ против ≈810 ГБ.</a:t>
            </a:r>
          </a:p>
          <a:p>
            <a:pPr algn="l">
              <a:lnSpc>
                <a:spcPct val="126000"/>
              </a:lnSpc>
              <a:spcBef>
                <a:spcPts val="700"/>
              </a:spcBef>
            </a:pPr>
            <a:r>
              <a:rPr sz="1150" b="0" i="0">
                <a:solidFill>
                  <a:srgbClr val="21295C"/>
                </a:solidFill>
                <a:latin typeface="Arial"/>
              </a:rPr>
              <a:t/>
            </a:r>
            <a:r>
              <a:rPr sz="1150" b="1" i="0">
                <a:solidFill>
                  <a:srgbClr val="21295C"/>
                </a:solidFill>
                <a:latin typeface="Arial"/>
              </a:rPr>
              <a:t>Запустить дороже:</a:t>
            </a:r>
            <a:r>
              <a:rPr sz="1150" b="0" i="0">
                <a:solidFill>
                  <a:srgbClr val="21295C"/>
                </a:solidFill>
                <a:latin typeface="Arial"/>
              </a:rPr>
              <a:t> 2,907 кВт·ч на тысячу генераций против 0,047 и $120 за миллион токенов картинки против $12 за миллион токенов текста у той же модели.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выделен в отдельную категорию наборов оценки — именно потому, что результаты там систематически хуже остальных</a:t>
            </a:r>
          </a:p>
        </p:txBody>
      </p:sp>
      <p:sp>
        <p:nvSpPr>
          <p:cNvPr id="11" name="TextBox 10"/>
          <p:cNvSpPr txBox="1"/>
          <p:nvPr/>
        </p:nvSpPr>
        <p:spPr>
          <a:xfrm>
            <a:off x="3477691" y="29841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токен, влияющий на распределение весов внимания, а не счётчик, который кто-то уменьшает</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«вот этот стул — тот же самый стул» не существует</a:t>
            </a:r>
          </a:p>
        </p:txBody>
      </p:sp>
      <p:sp>
        <p:nvSpPr>
          <p:cNvPr id="15" name="TextBox 14"/>
          <p:cNvSpPr txBox="1"/>
          <p:nvPr/>
        </p:nvSpPr>
        <p:spPr>
          <a:xfrm>
            <a:off x="6315303" y="3119001"/>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нет понятия объекта, согласованность достигается статистически и деградирует с длиной серии</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TextBox 19"/>
          <p:cNvSpPr txBox="1"/>
          <p:nvPr/>
        </p:nvSpPr>
        <p:spPr>
          <a:xfrm>
            <a:off x="502920" y="45931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Буква</a:t>
            </a:r>
          </a:p>
        </p:txBody>
      </p:sp>
      <p:sp>
        <p:nvSpPr>
          <p:cNvPr id="21" name="Rounded Rectangle 20"/>
          <p:cNvSpPr/>
          <p:nvPr/>
        </p:nvSpPr>
        <p:spPr>
          <a:xfrm>
            <a:off x="1920240"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сжатие в 48 раз</a:t>
            </a:r>
          </a:p>
        </p:txBody>
      </p:sp>
      <p:sp>
        <p:nvSpPr>
          <p:cNvPr id="23" name="Right Arrow 22"/>
          <p:cNvSpPr/>
          <p:nvPr/>
        </p:nvSpPr>
        <p:spPr>
          <a:xfrm>
            <a:off x="5039258" y="472567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размыта до генератора</a:t>
            </a:r>
          </a:p>
        </p:txBody>
      </p:sp>
      <p:sp>
        <p:nvSpPr>
          <p:cNvPr id="26" name="Right Arrow 25"/>
          <p:cNvSpPr/>
          <p:nvPr/>
        </p:nvSpPr>
        <p:spPr>
          <a:xfrm>
            <a:off x="8386876" y="472567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псевдобуквы</a:t>
            </a:r>
          </a:p>
        </p:txBody>
      </p:sp>
      <p:sp>
        <p:nvSpPr>
          <p:cNvPr id="29" name="TextBox 28"/>
          <p:cNvSpPr txBox="1"/>
          <p:nvPr/>
        </p:nvSpPr>
        <p:spPr>
          <a:xfrm>
            <a:off x="502920" y="52148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a:t>
            </a:r>
          </a:p>
        </p:txBody>
      </p:sp>
      <p:sp>
        <p:nvSpPr>
          <p:cNvPr id="30" name="Rounded Rectangle 29"/>
          <p:cNvSpPr/>
          <p:nvPr/>
        </p:nvSpPr>
        <p:spPr>
          <a:xfrm>
            <a:off x="1920240"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словаря нет</a:t>
            </a:r>
          </a:p>
        </p:txBody>
      </p:sp>
      <p:sp>
        <p:nvSpPr>
          <p:cNvPr id="32" name="Right Arrow 31"/>
          <p:cNvSpPr/>
          <p:nvPr/>
        </p:nvSpPr>
        <p:spPr>
          <a:xfrm>
            <a:off x="5039258" y="5347370"/>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«три» — вес внимания</a:t>
            </a:r>
          </a:p>
        </p:txBody>
      </p:sp>
      <p:sp>
        <p:nvSpPr>
          <p:cNvPr id="35" name="Right Arrow 34"/>
          <p:cNvSpPr/>
          <p:nvPr/>
        </p:nvSpPr>
        <p:spPr>
          <a:xfrm>
            <a:off x="8386876" y="5347370"/>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считать нечему</a:t>
            </a:r>
          </a:p>
        </p:txBody>
      </p:sp>
      <p:sp>
        <p:nvSpPr>
          <p:cNvPr id="38" name="Rounded Rectangle 37"/>
          <p:cNvSpPr/>
          <p:nvPr/>
        </p:nvSpPr>
        <p:spPr>
          <a:xfrm>
            <a:off x="374904" y="5745087"/>
            <a:ext cx="11441887" cy="49112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836527"/>
            <a:ext cx="11112703" cy="3996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Все три отказа — следствие латентного патча и отсутствия словаря, то есть ровно того, что кадром раньше давало выигрыш.</a:t>
            </a:r>
          </a:p>
        </p:txBody>
      </p:sp>
      <p:sp>
        <p:nvSpPr>
          <p:cNvPr id="40" name="Rectangle 3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Одно и то же свойство, прочитанное с двух сторон</a:t>
            </a:r>
          </a:p>
        </p:txBody>
      </p:sp>
      <p:sp>
        <p:nvSpPr>
          <p:cNvPr id="4" name="Rounded Rectangle 3"/>
          <p:cNvSpPr/>
          <p:nvPr/>
        </p:nvSpPr>
        <p:spPr>
          <a:xfrm>
            <a:off x="502920" y="1335024"/>
            <a:ext cx="3087471" cy="3108960"/>
          </a:xfrm>
          <a:prstGeom prst="roundRect">
            <a:avLst>
              <a:gd name="adj" fmla="val 987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7582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это свойство дало</a:t>
            </a:r>
          </a:p>
        </p:txBody>
      </p:sp>
      <p:sp>
        <p:nvSpPr>
          <p:cNvPr id="6" name="TextBox 5"/>
          <p:cNvSpPr txBox="1"/>
          <p:nvPr/>
        </p:nvSpPr>
        <p:spPr>
          <a:xfrm>
            <a:off x="667512" y="1846650"/>
            <a:ext cx="27582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сжатие в 48 раз — полтора порядка вычислений на каждом из десятков шагов</a:t>
            </a:r>
          </a:p>
          <a:p>
            <a:pPr algn="l">
              <a:lnSpc>
                <a:spcPct val="126000"/>
              </a:lnSpc>
            </a:pPr>
            <a:r>
              <a:rPr sz="1450" b="0" i="0">
                <a:solidFill>
                  <a:srgbClr val="21295C"/>
                </a:solidFill>
                <a:latin typeface="Arial"/>
              </a:rPr>
              <a:t>• 512×512 на карте с 6–8 ГБ в августе 2022</a:t>
            </a:r>
          </a:p>
          <a:p>
            <a:pPr algn="l">
              <a:lnSpc>
                <a:spcPct val="126000"/>
              </a:lnSpc>
            </a:pPr>
            <a:r>
              <a:rPr sz="1450" b="0" i="0">
                <a:solidFill>
                  <a:srgbClr val="21295C"/>
                </a:solidFill>
                <a:latin typeface="Arial"/>
              </a:rPr>
              <a:t>• цена одной попытки $0,034–0,05 против $50–150 за заказ</a:t>
            </a:r>
          </a:p>
        </p:txBody>
      </p:sp>
      <p:sp>
        <p:nvSpPr>
          <p:cNvPr id="7" name="Rounded Rectangle 6"/>
          <p:cNvSpPr/>
          <p:nvPr/>
        </p:nvSpPr>
        <p:spPr>
          <a:xfrm>
            <a:off x="3901287" y="1335024"/>
            <a:ext cx="3087471" cy="3108960"/>
          </a:xfrm>
          <a:prstGeom prst="roundRect">
            <a:avLst>
              <a:gd name="adj" fmla="val 987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065879" y="1490472"/>
            <a:ext cx="27582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свойство забрало</a:t>
            </a:r>
          </a:p>
        </p:txBody>
      </p:sp>
      <p:sp>
        <p:nvSpPr>
          <p:cNvPr id="9" name="TextBox 8"/>
          <p:cNvSpPr txBox="1"/>
          <p:nvPr/>
        </p:nvSpPr>
        <p:spPr>
          <a:xfrm>
            <a:off x="4065879" y="1846650"/>
            <a:ext cx="27582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350" b="0" i="0">
                <a:solidFill>
                  <a:srgbClr val="21295C"/>
                </a:solidFill>
                <a:latin typeface="Arial"/>
              </a:rPr>
              <a:t>• лицо на дальнем плане занимает единицы ячеек латента</a:t>
            </a:r>
          </a:p>
          <a:p>
            <a:pPr algn="l">
              <a:lnSpc>
                <a:spcPct val="126000"/>
              </a:lnSpc>
            </a:pPr>
            <a:r>
              <a:rPr sz="1350" b="0" i="0">
                <a:solidFill>
                  <a:srgbClr val="21295C"/>
                </a:solidFill>
                <a:latin typeface="Arial"/>
              </a:rPr>
              <a:t>• понятия дискретного объекта в механизме нет — считать нечему</a:t>
            </a:r>
          </a:p>
        </p:txBody>
      </p:sp>
      <p:sp>
        <p:nvSpPr>
          <p:cNvPr id="10" name="Rounded Rectangle 9"/>
          <p:cNvSpPr/>
          <p:nvPr/>
        </p:nvSpPr>
        <p:spPr>
          <a:xfrm>
            <a:off x="374904" y="4535424"/>
            <a:ext cx="6741871"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6412687"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отказ пришли из одного места. Выбирая инструмент, спрашивайте, что именно он сжал, чтобы стать дешёвым.</a:t>
            </a:r>
          </a:p>
        </p:txBody>
      </p:sp>
      <p:sp>
        <p:nvSpPr>
          <p:cNvPr id="12" name="Rounded Rectangle 11"/>
          <p:cNvSpPr/>
          <p:nvPr/>
        </p:nvSpPr>
        <p:spPr>
          <a:xfrm>
            <a:off x="7299655" y="1335024"/>
            <a:ext cx="4389120"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3" name="Picture 12" descr="s26a-psevdobukvy.jpg"/>
          <p:cNvPicPr>
            <a:picLocks noChangeAspect="1"/>
          </p:cNvPicPr>
          <p:nvPr/>
        </p:nvPicPr>
        <p:blipFill>
          <a:blip r:embed="rId2"/>
          <a:stretch>
            <a:fillRect/>
          </a:stretch>
        </p:blipFill>
        <p:spPr>
          <a:xfrm>
            <a:off x="7436815" y="1472184"/>
            <a:ext cx="4114800" cy="41148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882884"/>
          </a:xfrm>
          <a:prstGeom prst="roundRect">
            <a:avLst>
              <a:gd name="adj" fmla="val 161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8" name="TextBox 17"/>
          <p:cNvSpPr txBox="1"/>
          <p:nvPr/>
        </p:nvSpPr>
        <p:spPr>
          <a:xfrm>
            <a:off x="667512" y="4351465"/>
            <a:ext cx="5108295" cy="121580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Нельзя измерить — снять размер нечем, масштаба в изображении нет</a:t>
            </a:r>
          </a:p>
          <a:p>
            <a:pPr algn="l">
              <a:lnSpc>
                <a:spcPct val="126000"/>
              </a:lnSpc>
            </a:pPr>
            <a:r>
              <a:rPr sz="10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1000" b="0" i="0">
                <a:solidFill>
                  <a:srgbClr val="21295C"/>
                </a:solidFill>
                <a:latin typeface="Arial"/>
              </a:rPr>
              <a:t>• Нельзя изготовить — на выходе нет геометрии, которую примет станок</a:t>
            </a:r>
          </a:p>
          <a:p>
            <a:pPr algn="l">
              <a:lnSpc>
                <a:spcPct val="126000"/>
              </a:lnSpc>
            </a:pPr>
            <a:r>
              <a:rPr sz="10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9" name="Rounded Rectangle 18"/>
          <p:cNvSpPr/>
          <p:nvPr/>
        </p:nvSpPr>
        <p:spPr>
          <a:xfrm>
            <a:off x="6251295" y="3839838"/>
            <a:ext cx="5437479" cy="1882884"/>
          </a:xfrm>
          <a:prstGeom prst="roundRect">
            <a:avLst>
              <a:gd name="adj" fmla="val 16187"/>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99528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в том же конвейере полезен</a:t>
            </a:r>
          </a:p>
        </p:txBody>
      </p:sp>
      <p:sp>
        <p:nvSpPr>
          <p:cNvPr id="21" name="TextBox 20"/>
          <p:cNvSpPr txBox="1"/>
          <p:nvPr/>
        </p:nvSpPr>
        <p:spPr>
          <a:xfrm>
            <a:off x="6415887" y="4351465"/>
            <a:ext cx="5108295" cy="121580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подкладывать в расшумление нечего, потому что оно не устроено как ответ на вопрос по документу</a:t>
            </a:r>
          </a:p>
        </p:txBody>
      </p:sp>
      <p:sp>
        <p:nvSpPr>
          <p:cNvPr id="20" name="Rounded Rectangle 19"/>
          <p:cNvSpPr/>
          <p:nvPr/>
        </p:nvSpPr>
        <p:spPr>
          <a:xfrm>
            <a:off x="502920"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85216"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техническое задание</a:t>
            </a:r>
          </a:p>
        </p:txBody>
      </p:sp>
      <p:sp>
        <p:nvSpPr>
          <p:cNvPr id="22" name="Right Arrow 21"/>
          <p:cNvSpPr/>
          <p:nvPr/>
        </p:nvSpPr>
        <p:spPr>
          <a:xfrm>
            <a:off x="3139363" y="46540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3367963"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450259"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и условия обусловливания</a:t>
            </a:r>
          </a:p>
        </p:txBody>
      </p:sp>
      <p:sp>
        <p:nvSpPr>
          <p:cNvPr id="25" name="Right Arrow 24"/>
          <p:cNvSpPr/>
          <p:nvPr/>
        </p:nvSpPr>
        <p:spPr>
          <a:xfrm>
            <a:off x="6004407" y="465400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33007"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15303"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 серая, без ручек управления</a:t>
            </a:r>
          </a:p>
        </p:txBody>
      </p:sp>
      <p:sp>
        <p:nvSpPr>
          <p:cNvPr id="28" name="Right Arrow 27"/>
          <p:cNvSpPr/>
          <p:nvPr/>
        </p:nvSpPr>
        <p:spPr>
          <a:xfrm>
            <a:off x="8869451" y="46540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098051"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180347"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снаружи: детектор, метрика, человек</a:t>
            </a:r>
          </a:p>
        </p:txBody>
      </p:sp>
      <p:sp>
        <p:nvSpPr>
          <p:cNvPr id="31" name="TextBox 30"/>
          <p:cNvSpPr txBox="1"/>
          <p:nvPr/>
        </p:nvSpPr>
        <p:spPr>
          <a:xfrm>
            <a:off x="502920" y="511567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вокруг модели: ограничения живут в нём. При «не годно» — возврат к описанию и условиям</a:t>
            </a:r>
          </a:p>
        </p:txBody>
      </p:sp>
      <p:sp>
        <p:nvSpPr>
          <p:cNvPr id="32" name="Rounded Rectangle 31"/>
          <p:cNvSpPr/>
          <p:nvPr/>
        </p:nvSpPr>
        <p:spPr>
          <a:xfrm>
            <a:off x="374904" y="5418362"/>
            <a:ext cx="11441887" cy="81784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509802"/>
            <a:ext cx="11112703" cy="7264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приём, которым чинят уверенное враньё: положить источник в контекст и потребовать ссылку. Такого же для картинок нет, и причина устройственная.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3480663" cy="1839092"/>
          </a:xfrm>
          <a:prstGeom prst="roundRect">
            <a:avLst>
              <a:gd name="adj" fmla="val 165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063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321 000 → 240 000, то есть −25%</a:t>
            </a:r>
          </a:p>
        </p:txBody>
      </p:sp>
      <p:sp>
        <p:nvSpPr>
          <p:cNvPr id="7" name="TextBox 6"/>
          <p:cNvSpPr txBox="1"/>
          <p:nvPr/>
        </p:nvSpPr>
        <p:spPr>
          <a:xfrm>
            <a:off x="640080" y="2750268"/>
            <a:ext cx="320634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4148175" y="1335024"/>
            <a:ext cx="3480663" cy="1839092"/>
          </a:xfrm>
          <a:prstGeom prst="roundRect">
            <a:avLst>
              <a:gd name="adj" fmla="val 165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285335" y="1472184"/>
            <a:ext cx="32063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4285335" y="1932846"/>
            <a:ext cx="3206343"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$130–499 розница · ≈$2,50 опт за одно изображение</a:t>
            </a:r>
          </a:p>
        </p:txBody>
      </p:sp>
      <p:sp>
        <p:nvSpPr>
          <p:cNvPr id="11" name="TextBox 10"/>
          <p:cNvSpPr txBox="1"/>
          <p:nvPr/>
        </p:nvSpPr>
        <p:spPr>
          <a:xfrm>
            <a:off x="4285335" y="2614469"/>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502920" y="3338708"/>
            <a:ext cx="3480663" cy="2238946"/>
          </a:xfrm>
          <a:prstGeom prst="roundRect">
            <a:avLst>
              <a:gd name="adj" fmla="val 1361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475868"/>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40080" y="3729059"/>
            <a:ext cx="3206343"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40080" y="4173033"/>
            <a:ext cx="320634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4148175" y="3338708"/>
            <a:ext cx="3480663" cy="2238946"/>
          </a:xfrm>
          <a:prstGeom prst="roundRect">
            <a:avLst>
              <a:gd name="adj" fmla="val 136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285335" y="3475868"/>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4285335" y="3729059"/>
            <a:ext cx="320634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«растущее давление изображений, созданных ИИ»</a:t>
            </a:r>
          </a:p>
        </p:txBody>
      </p:sp>
      <p:sp>
        <p:nvSpPr>
          <p:cNvPr id="19" name="TextBox 18"/>
          <p:cNvSpPr txBox="1"/>
          <p:nvPr/>
        </p:nvSpPr>
        <p:spPr>
          <a:xfrm>
            <a:off x="4285335" y="4936905"/>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374904" y="5669094"/>
            <a:ext cx="11441887" cy="5671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760534"/>
            <a:ext cx="11112703" cy="47567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Измеренного ряда ставки самого иллюстратора год к году в источниках нет: обвал предъявлен там, где он посчитан, — на балансе продавца изображений.</a:t>
            </a:r>
          </a:p>
        </p:txBody>
      </p:sp>
      <p:sp>
        <p:nvSpPr>
          <p:cNvPr id="22" name="Rounded Rectangle 21"/>
          <p:cNvSpPr/>
          <p:nvPr/>
        </p:nvSpPr>
        <p:spPr>
          <a:xfrm>
            <a:off x="7939735" y="1335024"/>
            <a:ext cx="3749039" cy="1329145"/>
          </a:xfrm>
          <a:prstGeom prst="roundRect">
            <a:avLst>
              <a:gd name="adj" fmla="val 22932"/>
            </a:avLst>
          </a:prstGeom>
          <a:solidFill>
            <a:srgbClr val="F4F7FA"/>
          </a:solidFill>
          <a:ln w="19050">
            <a:solidFill>
              <a:srgbClr val="1C7293"/>
            </a:solidFill>
          </a:ln>
          <a:effectLst/>
        </p:spPr>
        <p:txBody>
          <a:bodyPr rtlCol="0" anchor="ctr"/>
          <a:lstStyle/>
          <a:p>
            <a:pPr algn="ctr"/>
          </a:p>
        </p:txBody>
      </p:sp>
      <p:pic>
        <p:nvPicPr>
          <p:cNvPr id="23" name="Picture 22" descr="s29-podpischiki.png"/>
          <p:cNvPicPr>
            <a:picLocks noChangeAspect="1"/>
          </p:cNvPicPr>
          <p:nvPr/>
        </p:nvPicPr>
        <p:blipFill>
          <a:blip r:embed="rId2"/>
          <a:stretch>
            <a:fillRect/>
          </a:stretch>
        </p:blipFill>
        <p:spPr>
          <a:xfrm>
            <a:off x="8076895" y="1472184"/>
            <a:ext cx="3474719" cy="1054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манёвр с разницей в двадцать лет</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2006</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единицы падает</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купить разрушителя цены</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рынок делится надвое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верхний сегмент выжил</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17" name="Rounded Rectangle 16"/>
          <p:cNvSpPr/>
          <p:nvPr/>
        </p:nvSpPr>
        <p:spPr>
          <a:xfrm>
            <a:off x="1920240"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единицы падает</a:t>
            </a:r>
          </a:p>
        </p:txBody>
      </p:sp>
      <p:sp>
        <p:nvSpPr>
          <p:cNvPr id="19" name="Right Arrow 18"/>
          <p:cNvSpPr/>
          <p:nvPr/>
        </p:nvSpPr>
        <p:spPr>
          <a:xfrm>
            <a:off x="4202353"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купить конкурента</a:t>
            </a:r>
          </a:p>
        </p:txBody>
      </p:sp>
      <p:sp>
        <p:nvSpPr>
          <p:cNvPr id="22" name="Right Arrow 21"/>
          <p:cNvSpPr/>
          <p:nvPr/>
        </p:nvSpPr>
        <p:spPr>
          <a:xfrm>
            <a:off x="6713067"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 ставит условие</a:t>
            </a:r>
          </a:p>
        </p:txBody>
      </p:sp>
      <p:sp>
        <p:nvSpPr>
          <p:cNvPr id="25" name="Right Arrow 24"/>
          <p:cNvSpPr/>
          <p:nvPr/>
        </p:nvSpPr>
        <p:spPr>
          <a:xfrm>
            <a:off x="9223781" y="248231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банкротство</a:t>
            </a:r>
          </a:p>
        </p:txBody>
      </p:sp>
      <p:sp>
        <p:nvSpPr>
          <p:cNvPr id="28" name="TextBox 27"/>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ход, сделанный дважды. В первый раз покупали новый канал продажи той же вещи, во второй — покупать было нечего</a:t>
            </a:r>
          </a:p>
        </p:txBody>
      </p:sp>
      <p:sp>
        <p:nvSpPr>
          <p:cNvPr id="29" name="Rounded Rectangle 28"/>
          <p:cNvSpPr/>
          <p:nvPr/>
        </p:nvSpPr>
        <p:spPr>
          <a:xfrm>
            <a:off x="502920" y="3338111"/>
            <a:ext cx="5437479" cy="2384611"/>
          </a:xfrm>
          <a:prstGeom prst="roundRect">
            <a:avLst>
              <a:gd name="adj" fmla="val 12781"/>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667512" y="34935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2006 — купить разрушителя цены. Сработало</a:t>
            </a:r>
          </a:p>
        </p:txBody>
      </p:sp>
      <p:sp>
        <p:nvSpPr>
          <p:cNvPr id="31" name="TextBox 30"/>
          <p:cNvSpPr txBox="1"/>
          <p:nvPr/>
        </p:nvSpPr>
        <p:spPr>
          <a:xfrm>
            <a:off x="667512" y="3849737"/>
            <a:ext cx="5108295" cy="171753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владелец дорогой библиотеки покупает микросток</a:t>
            </a:r>
          </a:p>
          <a:p>
            <a:pPr algn="l">
              <a:lnSpc>
                <a:spcPct val="126000"/>
              </a:lnSpc>
            </a:pPr>
            <a:r>
              <a:rPr sz="1350" b="0" i="0">
                <a:solidFill>
                  <a:srgbClr val="21295C"/>
                </a:solidFill>
                <a:latin typeface="Arial"/>
              </a:rPr>
              <a:t>• рынок разделился на «дёшево и много» и «дорого и именно это»</a:t>
            </a:r>
          </a:p>
          <a:p>
            <a:pPr algn="l">
              <a:lnSpc>
                <a:spcPct val="126000"/>
              </a:lnSpc>
            </a:pPr>
            <a:r>
              <a:rPr sz="1350" b="0" i="0">
                <a:solidFill>
                  <a:srgbClr val="21295C"/>
                </a:solidFill>
                <a:latin typeface="Arial"/>
              </a:rPr>
              <a:t>• верхний сегмент выжил, и покупатель остался в нём главным</a:t>
            </a:r>
          </a:p>
          <a:p>
            <a:pPr algn="l">
              <a:lnSpc>
                <a:spcPct val="126000"/>
              </a:lnSpc>
            </a:pPr>
            <a:r>
              <a:rPr sz="1350" b="0" i="0">
                <a:solidFill>
                  <a:srgbClr val="21295C"/>
                </a:solidFill>
                <a:latin typeface="Arial"/>
              </a:rPr>
              <a:t>• микросток был НОВЫМ КАНАЛОМ продажи той же вещи — фотографии, снятой человеком</a:t>
            </a:r>
          </a:p>
        </p:txBody>
      </p:sp>
      <p:sp>
        <p:nvSpPr>
          <p:cNvPr id="32" name="Rounded Rectangle 31"/>
          <p:cNvSpPr/>
          <p:nvPr/>
        </p:nvSpPr>
        <p:spPr>
          <a:xfrm>
            <a:off x="6251295" y="3338111"/>
            <a:ext cx="5437479" cy="2384611"/>
          </a:xfrm>
          <a:prstGeom prst="roundRect">
            <a:avLst>
              <a:gd name="adj" fmla="val 12781"/>
            </a:avLst>
          </a:prstGeom>
          <a:solidFill>
            <a:srgbClr val="FFFFFF"/>
          </a:solidFill>
          <a:ln w="19050">
            <a:solidFill>
              <a:srgbClr val="028090"/>
            </a:solidFill>
          </a:ln>
          <a:effectLst/>
        </p:spPr>
        <p:txBody>
          <a:bodyPr rtlCol="0" anchor="ctr"/>
          <a:lstStyle/>
          <a:p>
            <a:pPr algn="ctr"/>
          </a:p>
        </p:txBody>
      </p:sp>
      <p:sp>
        <p:nvSpPr>
          <p:cNvPr id="33" name="TextBox 32"/>
          <p:cNvSpPr txBox="1"/>
          <p:nvPr/>
        </p:nvSpPr>
        <p:spPr>
          <a:xfrm>
            <a:off x="6415887" y="34935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2026 — купить конкурента. Не прошло</a:t>
            </a:r>
          </a:p>
        </p:txBody>
      </p:sp>
      <p:sp>
        <p:nvSpPr>
          <p:cNvPr id="34" name="TextBox 33"/>
          <p:cNvSpPr txBox="1"/>
          <p:nvPr/>
        </p:nvSpPr>
        <p:spPr>
          <a:xfrm>
            <a:off x="6415887" y="3849737"/>
            <a:ext cx="5108295" cy="171753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слияние расторгнуто условием регулятора</a:t>
            </a:r>
          </a:p>
          <a:p>
            <a:pPr algn="l">
              <a:lnSpc>
                <a:spcPct val="126000"/>
              </a:lnSpc>
            </a:pPr>
            <a:r>
              <a:rPr sz="1300" b="0" i="0">
                <a:solidFill>
                  <a:srgbClr val="21295C"/>
                </a:solidFill>
                <a:latin typeface="Arial"/>
              </a:rPr>
              <a:t>• торги остановлены, подано банкротство</a:t>
            </a:r>
          </a:p>
          <a:p>
            <a:pPr algn="l">
              <a:lnSpc>
                <a:spcPct val="126000"/>
              </a:lnSpc>
            </a:pPr>
            <a:r>
              <a:rPr sz="1300" b="0" i="0">
                <a:solidFill>
                  <a:srgbClr val="21295C"/>
                </a:solidFill>
                <a:latin typeface="Arial"/>
              </a:rPr>
              <a:t>• прежняя формулировка «консолидируются в ответ на ИИ» снята: правильная — попытка защититься не сработала</a:t>
            </a:r>
          </a:p>
          <a:p>
            <a:pPr algn="l">
              <a:lnSpc>
                <a:spcPct val="126000"/>
              </a:lnSpc>
            </a:pPr>
            <a:r>
              <a:rPr sz="1300" b="0" i="0">
                <a:solidFill>
                  <a:srgbClr val="21295C"/>
                </a:solidFill>
                <a:latin typeface="Arial"/>
              </a:rPr>
              <a:t>• генерация — ОТСУТСТВИЕ ВЕЩИ, которую нужно лицензировать. Купить её владельца невозможно: владельца нет</a:t>
            </a:r>
          </a:p>
        </p:txBody>
      </p:sp>
      <p:sp>
        <p:nvSpPr>
          <p:cNvPr id="35" name="Rounded Rectangle 3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корпоративные сообщения Getty Images, 2006 и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27034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242910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3370935" y="1335024"/>
            <a:ext cx="27034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3508095" y="2542797"/>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502920" y="3689523"/>
            <a:ext cx="5571439" cy="1648596"/>
          </a:xfrm>
          <a:prstGeom prst="roundRect">
            <a:avLst>
              <a:gd name="adj" fmla="val 184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826683"/>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640080" y="4079874"/>
            <a:ext cx="5297119"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640080" y="4778472"/>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374904" y="5429559"/>
            <a:ext cx="11441887" cy="8066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20999"/>
            <a:ext cx="11112703" cy="7152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Чего суд не решил:</a:t>
            </a:r>
            <a:r>
              <a:rPr sz="15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p:txBody>
      </p:sp>
      <p:sp>
        <p:nvSpPr>
          <p:cNvPr id="18" name="Rounded Rectangle 17"/>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9" name="Picture 18"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против Stability: экономика рядом с решением</a:t>
            </a:r>
          </a:p>
        </p:txBody>
      </p:sp>
      <p:sp>
        <p:nvSpPr>
          <p:cNvPr id="4" name="Rounded Rectangle 3"/>
          <p:cNvSpPr/>
          <p:nvPr/>
        </p:nvSpPr>
        <p:spPr>
          <a:xfrm>
            <a:off x="502920" y="1335024"/>
            <a:ext cx="2703423" cy="2819865"/>
          </a:xfrm>
          <a:prstGeom prst="roundRect">
            <a:avLst>
              <a:gd name="adj" fmla="val 11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6" name="TextBox 5"/>
          <p:cNvSpPr txBox="1"/>
          <p:nvPr/>
        </p:nvSpPr>
        <p:spPr>
          <a:xfrm>
            <a:off x="640080" y="1932846"/>
            <a:ext cx="2429103"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12,3 млн изображений истца из ≈5,85 млрд пар</a:t>
            </a:r>
          </a:p>
        </p:txBody>
      </p:sp>
      <p:sp>
        <p:nvSpPr>
          <p:cNvPr id="7" name="TextBox 6"/>
          <p:cNvSpPr txBox="1"/>
          <p:nvPr/>
        </p:nvSpPr>
        <p:spPr>
          <a:xfrm>
            <a:off x="640080" y="2495645"/>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8" name="Rounded Rectangle 7"/>
          <p:cNvSpPr/>
          <p:nvPr/>
        </p:nvSpPr>
        <p:spPr>
          <a:xfrm>
            <a:off x="3370935" y="1335024"/>
            <a:ext cx="2703423" cy="2819865"/>
          </a:xfrm>
          <a:prstGeom prst="roundRect">
            <a:avLst>
              <a:gd name="adj" fmla="val 11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10" name="TextBox 9"/>
          <p:cNvSpPr txBox="1"/>
          <p:nvPr/>
        </p:nvSpPr>
        <p:spPr>
          <a:xfrm>
            <a:off x="3508095" y="1932846"/>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11" name="TextBox 10"/>
          <p:cNvSpPr txBox="1"/>
          <p:nvPr/>
        </p:nvSpPr>
        <p:spPr>
          <a:xfrm>
            <a:off x="3508095" y="2750268"/>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12" name="Rounded Rectangle 11"/>
          <p:cNvSpPr/>
          <p:nvPr/>
        </p:nvSpPr>
        <p:spPr>
          <a:xfrm>
            <a:off x="374904" y="4246329"/>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337769"/>
            <a:ext cx="11112703" cy="189843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спор в США проигрывают иначе:</a:t>
            </a:r>
            <a:r>
              <a:rPr sz="1500" b="0" i="0">
                <a:solidFill>
                  <a:srgbClr val="21295C"/>
                </a:solidFill>
                <a:latin typeface="Arial"/>
              </a:rPr>
              <a:t> там обучение на законно приобретённых материалах признают преобразующим использованием, в Великобритании — истец не доказал, где оно физически происходило.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Встречая сумму иска в заголовке, спросите, по какому тарифу она посчитана.</a:t>
            </a:r>
          </a:p>
        </p:txBody>
      </p:sp>
      <p:sp>
        <p:nvSpPr>
          <p:cNvPr id="14" name="Rounded Rectangle 13"/>
          <p:cNvSpPr/>
          <p:nvPr/>
        </p:nvSpPr>
        <p:spPr>
          <a:xfrm>
            <a:off x="6385255" y="1335024"/>
            <a:ext cx="5303520" cy="2307400"/>
          </a:xfrm>
          <a:prstGeom prst="roundRect">
            <a:avLst>
              <a:gd name="adj" fmla="val 13209"/>
            </a:avLst>
          </a:prstGeom>
          <a:solidFill>
            <a:srgbClr val="F4F7FA"/>
          </a:solidFill>
          <a:ln w="19050">
            <a:solidFill>
              <a:srgbClr val="1C7293"/>
            </a:solidFill>
          </a:ln>
          <a:effectLst/>
        </p:spPr>
        <p:txBody>
          <a:bodyPr rtlCol="0" anchor="ctr"/>
          <a:lstStyle/>
          <a:p>
            <a:pPr algn="ctr"/>
          </a:p>
        </p:txBody>
      </p:sp>
      <p:pic>
        <p:nvPicPr>
          <p:cNvPr id="15" name="Picture 14" descr="s30a-tri-tsennika.png"/>
          <p:cNvPicPr>
            <a:picLocks noChangeAspect="1"/>
          </p:cNvPicPr>
          <p:nvPr/>
        </p:nvPicPr>
        <p:blipFill>
          <a:blip r:embed="rId2"/>
          <a:stretch>
            <a:fillRect/>
          </a:stretch>
        </p:blipFill>
        <p:spPr>
          <a:xfrm>
            <a:off x="6522415" y="1472184"/>
            <a:ext cx="5029200" cy="203308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решение 4 ноября 2025 года</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1250" b="0" i="0">
                <a:solidFill>
                  <a:srgbClr val="21295C"/>
                </a:solidFill>
                <a:latin typeface="Arial"/>
              </a:rPr>
              <a:t/>
            </a:r>
            <a:r>
              <a:rPr sz="1250" b="1" i="0">
                <a:solidFill>
                  <a:srgbClr val="21295C"/>
                </a:solidFill>
                <a:latin typeface="Arial"/>
              </a:rPr>
              <a:t>И всё же дубликаты запоминаются.</a:t>
            </a:r>
            <a:r>
              <a:rPr sz="1250" b="0" i="0">
                <a:solidFill>
                  <a:srgbClr val="21295C"/>
                </a:solidFill>
                <a:latin typeface="Arial"/>
              </a:rPr>
              <a:t> Отобрали 350 000 самых дублированных примеров, сгенерировали 175 миллионов кандидатов — и нашли 109 извлечённых: 0,000062% от сгенерированного, 0,031% от самых дублированных запросов. Порог — сто дубликатов в корпусе.</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502920" y="2139696"/>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594360" y="218541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иск подан</a:t>
            </a:r>
          </a:p>
        </p:txBody>
      </p:sp>
      <p:sp>
        <p:nvSpPr>
          <p:cNvPr id="6" name="Rounded Rectangle 5"/>
          <p:cNvSpPr/>
          <p:nvPr/>
        </p:nvSpPr>
        <p:spPr>
          <a:xfrm>
            <a:off x="2762036" y="1938528"/>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2853476" y="1984248"/>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решение вынесено</a:t>
            </a:r>
          </a:p>
        </p:txBody>
      </p:sp>
      <p:sp>
        <p:nvSpPr>
          <p:cNvPr id="8" name="Rounded Rectangle 7"/>
          <p:cNvSpPr/>
          <p:nvPr/>
        </p:nvSpPr>
        <p:spPr>
          <a:xfrm>
            <a:off x="5021153" y="1737360"/>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112593" y="1783080"/>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мировое без признания вины</a:t>
            </a:r>
          </a:p>
        </p:txBody>
      </p:sp>
      <p:sp>
        <p:nvSpPr>
          <p:cNvPr id="10" name="Rounded Rectangle 9"/>
          <p:cNvSpPr/>
          <p:nvPr/>
        </p:nvSpPr>
        <p:spPr>
          <a:xfrm>
            <a:off x="7280269" y="1536192"/>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7371709" y="1581912"/>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принят, в силу не вступил</a:t>
            </a:r>
          </a:p>
        </p:txBody>
      </p:sp>
      <p:sp>
        <p:nvSpPr>
          <p:cNvPr id="12" name="Rounded Rectangle 11"/>
          <p:cNvSpPr/>
          <p:nvPr/>
        </p:nvSpPr>
        <p:spPr>
          <a:xfrm>
            <a:off x="9539386" y="1335024"/>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9630826" y="1380744"/>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в силе</a:t>
            </a:r>
          </a:p>
        </p:txBody>
      </p:sp>
      <p:sp>
        <p:nvSpPr>
          <p:cNvPr id="14" name="TextBox 13"/>
          <p:cNvSpPr txBox="1"/>
          <p:nvPr/>
        </p:nvSpPr>
        <p:spPr>
          <a:xfrm>
            <a:off x="502920" y="2907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Пять статусов, и они не равны друг другу: чем выше ступень, тем меньше в утверждении осталось от намерения</a:t>
            </a:r>
          </a:p>
        </p:txBody>
      </p:sp>
      <p:sp>
        <p:nvSpPr>
          <p:cNvPr id="15" name="Rounded Rectangle 14"/>
          <p:cNvSpPr/>
          <p:nvPr/>
        </p:nvSpPr>
        <p:spPr>
          <a:xfrm>
            <a:off x="374904" y="3214057"/>
            <a:ext cx="11441887" cy="3022150"/>
          </a:xfrm>
          <a:prstGeom prst="roundRect">
            <a:avLst>
              <a:gd name="adj" fmla="val 1008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США: авторства у сгенерированного без человеческого вклада нет</a:t>
            </a:r>
            <a:r>
              <a:rPr sz="1150" b="0" i="0">
                <a:solidFill>
                  <a:srgbClr val="21295C"/>
                </a:solidFill>
                <a:latin typeface="Arial"/>
              </a:rPr>
              <a:t> → решение окончательное (отказ в пересмотре 2 марта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США: $1,5 млрд — за хранение пиратской библиотеки, а не за обучение.</a:t>
            </a:r>
            <a:r>
              <a:rPr sz="1150" b="0" i="0">
                <a:solidFill>
                  <a:srgbClr val="21295C"/>
                </a:solidFill>
                <a:latin typeface="Arial"/>
              </a:rPr>
              <a:t> ≈$3 000 на произведение → мировое, вины не признано</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Великобритания: веса модели копией произведения не являются.</a:t>
            </a:r>
            <a:r>
              <a:rPr sz="1150" b="0" i="0">
                <a:solidFill>
                  <a:srgbClr val="21295C"/>
                </a:solidFill>
                <a:latin typeface="Arial"/>
              </a:rPr>
              <a:t> Истец не доказал, где шло обучение → обжаловано, решения апелляции нет</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ЕС: раскрытие и машиночитаемая маркировка обязательны,</a:t>
            </a:r>
            <a:r>
              <a:rPr sz="1150" b="0" i="0">
                <a:solidFill>
                  <a:srgbClr val="21295C"/>
                </a:solidFill>
                <a:latin typeface="Arial"/>
              </a:rPr>
              <a:t> санкция до 15 млн € или 3% оборота → закон в силе со 2 августа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РФ: исключение на обучение (opt-out) дано только суверенным и национальным моделям;</a:t>
            </a:r>
            <a:r>
              <a:rPr sz="1150" b="0" i="0">
                <a:solidFill>
                  <a:srgbClr val="21295C"/>
                </a:solidFill>
                <a:latin typeface="Arial"/>
              </a:rPr>
              <a:t> маркировка — право автора → нормы с 1 марта 2027</a:t>
            </a:r>
          </a:p>
        </p:txBody>
      </p:sp>
      <p:sp>
        <p:nvSpPr>
          <p:cNvPr id="17" name="TextBox 16"/>
          <p:cNvSpPr txBox="1"/>
          <p:nvPr/>
        </p:nvSpPr>
        <p:spPr>
          <a:xfrm>
            <a:off x="6278727"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РФ: дипфейк суд защитил (500 000 ₽), сгенерированные изображения — нет</a:t>
            </a:r>
            <a:r>
              <a:rPr sz="1150" b="0" i="0">
                <a:solidFill>
                  <a:srgbClr val="21295C"/>
                </a:solidFill>
                <a:latin typeface="Arial"/>
              </a:rPr>
              <a:t> («технический, а не творческий труд») → три инстанции против первой с апелляцией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Голос: в России отдельной охраны нет,</a:t>
            </a:r>
            <a:r>
              <a:rPr sz="1150" b="0" i="0">
                <a:solidFill>
                  <a:srgbClr val="21295C"/>
                </a:solidFill>
                <a:latin typeface="Arial"/>
              </a:rPr>
              <a:t> проект не поддержан правительством; в США — законы двух штатов → расхождение юрисдикций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Музыка: рынок решил быстрее суда</a:t>
            </a:r>
            <a:r>
              <a:rPr sz="1150" b="0" i="0">
                <a:solidFill>
                  <a:srgbClr val="21295C"/>
                </a:solidFill>
                <a:latin typeface="Arial"/>
              </a:rPr>
              <a:t> — лицензии $0,002–0,005 за генерацию → сделки при незакрытых исках</a:t>
            </a:r>
          </a:p>
          <a:p>
            <a:pPr algn="l">
              <a:lnSpc>
                <a:spcPct val="126000"/>
              </a:lnSpc>
              <a:spcBef>
                <a:spcPts val="700"/>
              </a:spcBef>
            </a:pPr>
            <a:r>
              <a:rPr sz="1150" b="0" i="0">
                <a:solidFill>
                  <a:srgbClr val="21295C"/>
                </a:solidFill>
                <a:latin typeface="Arial"/>
              </a:rPr>
              <a:t/>
            </a:r>
            <a:r>
              <a:rPr sz="1150" b="1" i="0">
                <a:solidFill>
                  <a:srgbClr val="21295C"/>
                </a:solidFill>
                <a:latin typeface="Arial"/>
              </a:rPr>
              <a:t>Пять разных статусов: иск подан · решение вынесено · мировое без признания вины · закон в силе · закон принят, в силу не вступил.</a:t>
            </a:r>
          </a:p>
        </p:txBody>
      </p:sp>
      <p:sp>
        <p:nvSpPr>
          <p:cNvPr id="18" name="Rectangle 17"/>
          <p:cNvSpPr/>
          <p:nvPr/>
        </p:nvSpPr>
        <p:spPr>
          <a:xfrm>
            <a:off x="6091275" y="3305497"/>
            <a:ext cx="9144" cy="2860815"/>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решение Высокого суда Англии и Уэльса, 4 ноября 2025</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А</a:t>
            </a:r>
          </a:p>
        </p:txBody>
      </p:sp>
      <p:sp>
        <p:nvSpPr>
          <p:cNvPr id="9" name="Rounded Rectangle 8"/>
          <p:cNvSpPr/>
          <p:nvPr/>
        </p:nvSpPr>
        <p:spPr>
          <a:xfrm>
            <a:off x="3630168" y="2711089"/>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3712464" y="2756809"/>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1" name="TextBox 10"/>
          <p:cNvSpPr txBox="1"/>
          <p:nvPr/>
        </p:nvSpPr>
        <p:spPr>
          <a:xfrm>
            <a:off x="502920" y="334202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Б</a:t>
            </a:r>
          </a:p>
        </p:txBody>
      </p:sp>
      <p:sp>
        <p:nvSpPr>
          <p:cNvPr id="12" name="Rounded Rectangle 11"/>
          <p:cNvSpPr/>
          <p:nvPr/>
        </p:nvSpPr>
        <p:spPr>
          <a:xfrm>
            <a:off x="3630168" y="3332881"/>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3712464" y="3378601"/>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4" name="Rounded Rectangle 13"/>
          <p:cNvSpPr/>
          <p:nvPr/>
        </p:nvSpPr>
        <p:spPr>
          <a:xfrm>
            <a:off x="2011680"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один и тот же человек</a:t>
            </a:r>
          </a:p>
        </p:txBody>
      </p:sp>
      <p:sp>
        <p:nvSpPr>
          <p:cNvPr id="16" name="Rectangle 15"/>
          <p:cNvSpPr/>
          <p:nvPr/>
        </p:nvSpPr>
        <p:spPr>
          <a:xfrm>
            <a:off x="3337560" y="2923687"/>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3545479"/>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ответ — поднятая рука</a:t>
            </a:r>
          </a:p>
        </p:txBody>
      </p:sp>
      <p:sp>
        <p:nvSpPr>
          <p:cNvPr id="20" name="Rectangle 19"/>
          <p:cNvSpPr/>
          <p:nvPr/>
        </p:nvSpPr>
        <p:spPr>
          <a:xfrm>
            <a:off x="10161727" y="2923687"/>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3545479"/>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89066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дорожки одинаковой длины и звучат подряд, без подписи и без паузы между ними</a:t>
            </a:r>
          </a:p>
        </p:txBody>
      </p:sp>
      <p:sp>
        <p:nvSpPr>
          <p:cNvPr id="23" name="Rounded Rectangle 22"/>
          <p:cNvSpPr/>
          <p:nvPr/>
        </p:nvSpPr>
        <p:spPr>
          <a:xfrm>
            <a:off x="374904" y="4197121"/>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88561"/>
            <a:ext cx="11112703" cy="194764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Звук</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записи голоса, исходная дорожка или партитура</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из пяти ремёсел</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чьим голосом и какой музыкой говорит материал</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срок · территория · тип носителя</a:t>
            </a:r>
          </a:p>
        </p:txBody>
      </p:sp>
      <p:sp>
        <p:nvSpPr>
          <p:cNvPr id="16" name="TextBox 15"/>
          <p:cNvSpPr txBox="1"/>
          <p:nvPr/>
        </p:nvSpPr>
        <p:spPr>
          <a:xfrm>
            <a:off x="502920" y="23222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стадии: от материала к решению и его цене</a:t>
            </a:r>
          </a:p>
        </p:txBody>
      </p:sp>
      <p:sp>
        <p:nvSpPr>
          <p:cNvPr id="17" name="Rounded Rectangle 16"/>
          <p:cNvSpPr/>
          <p:nvPr/>
        </p:nvSpPr>
        <p:spPr>
          <a:xfrm>
            <a:off x="502920" y="2716414"/>
            <a:ext cx="5437479" cy="2160797"/>
          </a:xfrm>
          <a:prstGeom prst="roundRect">
            <a:avLst>
              <a:gd name="adj" fmla="val 1410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667512" y="287186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9" name="TextBox 18"/>
          <p:cNvSpPr txBox="1"/>
          <p:nvPr/>
        </p:nvSpPr>
        <p:spPr>
          <a:xfrm>
            <a:off x="667512" y="3228040"/>
            <a:ext cx="5108295" cy="1493723"/>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Синтез речи: текст плюс выбранный голос → звучащая речь</a:t>
            </a:r>
          </a:p>
          <a:p>
            <a:pPr algn="l">
              <a:lnSpc>
                <a:spcPct val="126000"/>
              </a:lnSpc>
            </a:pPr>
            <a:r>
              <a:rPr sz="105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5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50" b="0" i="0">
                <a:solidFill>
                  <a:srgbClr val="21295C"/>
                </a:solidFill>
                <a:latin typeface="Arial"/>
              </a:rPr>
              <a:t>• Генерация музыки: описание словами → готовый трек</a:t>
            </a:r>
          </a:p>
          <a:p>
            <a:pPr algn="l">
              <a:lnSpc>
                <a:spcPct val="126000"/>
              </a:lnSpc>
            </a:pPr>
            <a:r>
              <a:rPr sz="1050" b="0" i="0">
                <a:solidFill>
                  <a:srgbClr val="21295C"/>
                </a:solidFill>
                <a:latin typeface="Arial"/>
              </a:rPr>
              <a:t>• Разделение источников: сведённая запись → отдельно вокал, барабаны, бас</a:t>
            </a:r>
          </a:p>
        </p:txBody>
      </p:sp>
      <p:sp>
        <p:nvSpPr>
          <p:cNvPr id="20" name="Rounded Rectangle 19"/>
          <p:cNvSpPr/>
          <p:nvPr/>
        </p:nvSpPr>
        <p:spPr>
          <a:xfrm>
            <a:off x="6251295" y="2716414"/>
            <a:ext cx="5437479" cy="2160797"/>
          </a:xfrm>
          <a:prstGeom prst="roundRect">
            <a:avLst>
              <a:gd name="adj" fmla="val 14105"/>
            </a:avLst>
          </a:prstGeom>
          <a:solidFill>
            <a:srgbClr val="FFFFFF"/>
          </a:solidFill>
          <a:ln w="19050">
            <a:solidFill>
              <a:srgbClr val="028090"/>
            </a:solidFill>
          </a:ln>
          <a:effectLst/>
        </p:spPr>
        <p:txBody>
          <a:bodyPr rtlCol="0" anchor="ctr"/>
          <a:lstStyle/>
          <a:p>
            <a:pPr algn="ctr"/>
          </a:p>
        </p:txBody>
      </p:sp>
      <p:sp>
        <p:nvSpPr>
          <p:cNvPr id="21" name="TextBox 20"/>
          <p:cNvSpPr txBox="1"/>
          <p:nvPr/>
        </p:nvSpPr>
        <p:spPr>
          <a:xfrm>
            <a:off x="6415887" y="287186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2" name="TextBox 21"/>
          <p:cNvSpPr txBox="1"/>
          <p:nvPr/>
        </p:nvSpPr>
        <p:spPr>
          <a:xfrm>
            <a:off x="6415887" y="3228040"/>
            <a:ext cx="5108295" cy="1493723"/>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1000" b="0" i="0">
                <a:solidFill>
                  <a:srgbClr val="21295C"/>
                </a:solidFill>
                <a:latin typeface="Arial"/>
              </a:rPr>
              <a:t>• Домашняя будка: диктор у себя, заказчик подключается удалённо</a:t>
            </a:r>
          </a:p>
          <a:p>
            <a:pPr algn="l">
              <a:lnSpc>
                <a:spcPct val="126000"/>
              </a:lnSpc>
            </a:pPr>
            <a:r>
              <a:rPr sz="1000" b="0" i="0">
                <a:solidFill>
                  <a:srgbClr val="21295C"/>
                </a:solidFill>
                <a:latin typeface="Arial"/>
              </a:rPr>
              <a:t>• Удалённая сессия с режиссурой: правка дубль за дублем по сети</a:t>
            </a:r>
          </a:p>
          <a:p>
            <a:pPr algn="l">
              <a:lnSpc>
                <a:spcPct val="126000"/>
              </a:lnSpc>
            </a:pPr>
            <a:r>
              <a:rPr sz="1000" b="0" i="0">
                <a:solidFill>
                  <a:srgbClr val="21295C"/>
                </a:solidFill>
                <a:latin typeface="Arial"/>
              </a:rPr>
              <a:t>• Архив: радиоэфиры, интервью, прежние роли, корпоративные начитки</a:t>
            </a:r>
          </a:p>
          <a:p>
            <a:pPr algn="l">
              <a:lnSpc>
                <a:spcPct val="126000"/>
              </a:lnSpc>
            </a:pPr>
            <a:r>
              <a:rPr sz="100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1000" b="0" i="0">
                <a:solidFill>
                  <a:srgbClr val="21295C"/>
                </a:solidFill>
                <a:latin typeface="Arial"/>
              </a:rPr>
              <a:t>• Лицензированная библиотека: двадцать тысяч часов музыки с оформленными правами</a:t>
            </a:r>
          </a:p>
        </p:txBody>
      </p:sp>
      <p:sp>
        <p:nvSpPr>
          <p:cNvPr id="23" name="Rounded Rectangle 22"/>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a:p>
            <a:pPr algn="l">
              <a:lnSpc>
                <a:spcPct val="126000"/>
              </a:lnSpc>
              <a:spcBef>
                <a:spcPts val="700"/>
              </a:spcBef>
            </a:pPr>
            <a:r>
              <a:rPr sz="1350" b="0" i="0">
                <a:solidFill>
                  <a:srgbClr val="21295C"/>
                </a:solidFill>
                <a:latin typeface="Arial"/>
              </a:rPr>
              <a:t/>
            </a:r>
            <a:r>
              <a:rPr sz="1350" b="1" i="0">
                <a:solidFill>
                  <a:srgbClr val="21295C"/>
                </a:solidFill>
                <a:latin typeface="Arial"/>
              </a:rPr>
              <a:t>Единица выхода здесь — минута речи, от 9 000 до 36 000 токенов: картинка 1024×1024 стоит 4 096 токенов, пять секунд видео высокой чёткости — 249 240.</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508340" cy="3844019"/>
          </a:xfrm>
          <a:prstGeom prst="roundRect">
            <a:avLst>
              <a:gd name="adj" fmla="val 1215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02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402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 успеть — голос теряется навсегда; записать рано — часы и силы в худший период жизни</a:t>
            </a:r>
          </a:p>
        </p:txBody>
      </p:sp>
      <p:sp>
        <p:nvSpPr>
          <p:cNvPr id="7" name="TextBox 6"/>
          <p:cNvSpPr txBox="1"/>
          <p:nvPr/>
        </p:nvSpPr>
        <p:spPr>
          <a:xfrm>
            <a:off x="640080" y="2576747"/>
            <a:ext cx="2234020"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 денежной шкалы у второй ошибки нет, и это свойство случая</a:t>
            </a:r>
          </a:p>
        </p:txBody>
      </p:sp>
      <p:sp>
        <p:nvSpPr>
          <p:cNvPr id="8" name="Rounded Rectangle 7"/>
          <p:cNvSpPr/>
          <p:nvPr/>
        </p:nvSpPr>
        <p:spPr>
          <a:xfrm>
            <a:off x="3175852" y="1335024"/>
            <a:ext cx="2508340" cy="3844019"/>
          </a:xfrm>
          <a:prstGeom prst="roundRect">
            <a:avLst>
              <a:gd name="adj" fmla="val 1215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13012" y="1472184"/>
            <a:ext cx="223402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3012" y="1932846"/>
            <a:ext cx="223402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1" name="TextBox 10"/>
          <p:cNvSpPr txBox="1"/>
          <p:nvPr/>
        </p:nvSpPr>
        <p:spPr>
          <a:xfrm>
            <a:off x="3313012" y="3140692"/>
            <a:ext cx="2234020"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банкирование голоса: ни часов записи по протоколу, ни стоимости услуги в клинике. Безличный голос из коробки дёшев и доступен давно, но в ту же единицу не складывается — он даёт другой исход, человек говорит чужим голосом</a:t>
            </a:r>
          </a:p>
        </p:txBody>
      </p:sp>
      <p:sp>
        <p:nvSpPr>
          <p:cNvPr id="12" name="Rounded Rectangle 11"/>
          <p:cNvSpPr/>
          <p:nvPr/>
        </p:nvSpPr>
        <p:spPr>
          <a:xfrm>
            <a:off x="5848784" y="1335024"/>
            <a:ext cx="2508340" cy="3844019"/>
          </a:xfrm>
          <a:prstGeom prst="roundRect">
            <a:avLst>
              <a:gd name="adj" fmla="val 1215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5944" y="1472184"/>
            <a:ext cx="223402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944" y="1725375"/>
            <a:ext cx="223402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15" name="TextBox 14"/>
          <p:cNvSpPr txBox="1"/>
          <p:nvPr/>
        </p:nvSpPr>
        <p:spPr>
          <a:xfrm>
            <a:off x="5985944" y="2373048"/>
            <a:ext cx="223402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 Переехал не бюджет, а момент, когда решение надо принять</a:t>
            </a:r>
          </a:p>
        </p:txBody>
      </p:sp>
      <p:sp>
        <p:nvSpPr>
          <p:cNvPr id="16" name="Rounded Rectangle 15"/>
          <p:cNvSpPr/>
          <p:nvPr/>
        </p:nvSpPr>
        <p:spPr>
          <a:xfrm>
            <a:off x="8668020" y="1335024"/>
            <a:ext cx="3020754" cy="4389120"/>
          </a:xfrm>
          <a:prstGeom prst="roundRect">
            <a:avLst>
              <a:gd name="adj" fmla="val 10090"/>
            </a:avLst>
          </a:prstGeom>
          <a:solidFill>
            <a:srgbClr val="F4F7FA"/>
          </a:solidFill>
          <a:ln w="19050">
            <a:solidFill>
              <a:srgbClr val="1C7293"/>
            </a:solidFill>
          </a:ln>
          <a:effectLst/>
        </p:spPr>
        <p:txBody>
          <a:bodyPr rtlCol="0" anchor="ctr"/>
          <a:lstStyle/>
          <a:p>
            <a:pPr algn="ctr"/>
          </a:p>
        </p:txBody>
      </p:sp>
      <p:pic>
        <p:nvPicPr>
          <p:cNvPr id="17" name="Picture 16" descr="s37-peter-scott-morgan-portret.jpg"/>
          <p:cNvPicPr>
            <a:picLocks noChangeAspect="1"/>
          </p:cNvPicPr>
          <p:nvPr/>
        </p:nvPicPr>
        <p:blipFill>
          <a:blip r:embed="rId2"/>
          <a:stretch>
            <a:fillRect/>
          </a:stretch>
        </p:blipFill>
        <p:spPr>
          <a:xfrm>
            <a:off x="8805180" y="1472184"/>
            <a:ext cx="2746434" cy="41148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Свыше четверти времени просмотра на каналах, включивших дубляж, приходится на дорожки не основного языка видео. Знаменатель — время просмотра этих каналов; сколько их, площадка не раскрыла</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509418" cy="3720479"/>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5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2235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это не измеряется</a:t>
            </a:r>
          </a:p>
        </p:txBody>
      </p:sp>
      <p:sp>
        <p:nvSpPr>
          <p:cNvPr id="8" name="Rounded Rectangle 7"/>
          <p:cNvSpPr/>
          <p:nvPr/>
        </p:nvSpPr>
        <p:spPr>
          <a:xfrm>
            <a:off x="3176930" y="1335024"/>
            <a:ext cx="2509418" cy="3720479"/>
          </a:xfrm>
          <a:prstGeom prst="roundRect">
            <a:avLst>
              <a:gd name="adj" fmla="val 1214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1409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3314090" y="1725375"/>
            <a:ext cx="223509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его нет, и причина медицинская</a:t>
            </a:r>
          </a:p>
        </p:txBody>
      </p:sp>
      <p:sp>
        <p:nvSpPr>
          <p:cNvPr id="11" name="TextBox 10"/>
          <p:cNvSpPr txBox="1"/>
          <p:nvPr/>
        </p:nvSpPr>
        <p:spPr>
          <a:xfrm>
            <a:off x="3314090" y="2933220"/>
            <a:ext cx="2235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в 2014 году; остаются роль без голоса или роль с чужим голосом — другой исход, а не другая цена</a:t>
            </a:r>
          </a:p>
        </p:txBody>
      </p:sp>
      <p:sp>
        <p:nvSpPr>
          <p:cNvPr id="12" name="Rounded Rectangle 11"/>
          <p:cNvSpPr/>
          <p:nvPr/>
        </p:nvSpPr>
        <p:spPr>
          <a:xfrm>
            <a:off x="5850940" y="1335024"/>
            <a:ext cx="2509418" cy="3720479"/>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810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8100" y="1725375"/>
            <a:ext cx="223509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больше сорока моделей голоса, выбрана одна</a:t>
            </a:r>
          </a:p>
        </p:txBody>
      </p:sp>
      <p:sp>
        <p:nvSpPr>
          <p:cNvPr id="15" name="TextBox 14"/>
          <p:cNvSpPr txBox="1"/>
          <p:nvPr/>
        </p:nvSpPr>
        <p:spPr>
          <a:xfrm>
            <a:off x="5988100" y="2805908"/>
            <a:ext cx="2235098"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работали с архивом записей, данных оказалось примерно в десять раз меньше обычного; сколько именно часов — не названо, «в десять раз меньше» числом не является. Технических публикаций по проекту в открытых источниках нет: компания поглощена, её блог закрыт</a:t>
            </a:r>
          </a:p>
        </p:txBody>
      </p:sp>
      <p:sp>
        <p:nvSpPr>
          <p:cNvPr id="16" name="Rounded Rectangle 1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17" name="Picture 16" descr="s39-val-kilmer-portret.jpg"/>
          <p:cNvPicPr>
            <a:picLocks noChangeAspect="1"/>
          </p:cNvPicPr>
          <p:nvPr/>
        </p:nvPicPr>
        <p:blipFill>
          <a:blip r:embed="rId2"/>
          <a:stretch>
            <a:fillRect/>
          </a:stretch>
        </p:blipFill>
        <p:spPr>
          <a:xfrm>
            <a:off x="8808415" y="1472184"/>
            <a:ext cx="2743200" cy="41148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изображения: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5510631"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ДЕВЯНОСТО МИНУТ СВЯЗНОГО ДИАЛОГА ВЗЯЛИСЬ ОТСЮДА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 герца</a:t>
            </a:r>
          </a:p>
        </p:txBody>
      </p:sp>
      <p:sp>
        <p:nvSpPr>
          <p:cNvPr id="7" name="TextBox 6"/>
          <p:cNvSpPr txBox="1"/>
          <p:nvPr/>
        </p:nvSpPr>
        <p:spPr>
          <a:xfrm>
            <a:off x="640080" y="2152374"/>
            <a:ext cx="523631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из размера генератора. У DiffRhythm 2 — 5 герц, самая низкая частота поколения, музыкальная генерация длинной формы; Qwen3-TTS вынес свои 12 герц прямо в имя модели; Stable Audio 2 держит 21,5 против 40–150 у прежних работ и прямо объясняет этим возможность длинной формы</a:t>
            </a:r>
          </a:p>
        </p:txBody>
      </p:sp>
      <p:sp>
        <p:nvSpPr>
          <p:cNvPr id="8" name="Rounded Rectangle 7"/>
          <p:cNvSpPr/>
          <p:nvPr/>
        </p:nvSpPr>
        <p:spPr>
          <a:xfrm>
            <a:off x="6178143" y="1335024"/>
            <a:ext cx="5510631"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12" name="Rectangle 11"/>
          <p:cNvSpPr/>
          <p:nvPr/>
        </p:nvSpPr>
        <p:spPr>
          <a:xfrm>
            <a:off x="754380" y="4199606"/>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30</a:t>
            </a:r>
          </a:p>
        </p:txBody>
      </p:sp>
      <p:sp>
        <p:nvSpPr>
          <p:cNvPr id="15" name="Rectangle 14"/>
          <p:cNvSpPr/>
          <p:nvPr/>
        </p:nvSpPr>
        <p:spPr>
          <a:xfrm>
            <a:off x="2677363" y="4035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304277"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DiffRhythm 2</a:t>
            </a:r>
          </a:p>
        </p:txBody>
      </p:sp>
      <p:sp>
        <p:nvSpPr>
          <p:cNvPr id="17" name="Rectangle 16"/>
          <p:cNvSpPr/>
          <p:nvPr/>
        </p:nvSpPr>
        <p:spPr>
          <a:xfrm>
            <a:off x="3525697" y="4249898"/>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2152611"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7,5</a:t>
            </a:r>
          </a:p>
          <a:p>
            <a:pPr algn="ctr">
              <a:lnSpc>
                <a:spcPct val="110000"/>
              </a:lnSpc>
            </a:pPr>
            <a:r>
              <a:rPr sz="1200" b="0" i="0">
                <a:solidFill>
                  <a:srgbClr val="21295C"/>
                </a:solidFill>
                <a:latin typeface="Arial"/>
              </a:rPr>
              <a:t>VibeVoice</a:t>
            </a:r>
          </a:p>
        </p:txBody>
      </p:sp>
      <p:sp>
        <p:nvSpPr>
          <p:cNvPr id="19" name="Rectangle 18"/>
          <p:cNvSpPr/>
          <p:nvPr/>
        </p:nvSpPr>
        <p:spPr>
          <a:xfrm>
            <a:off x="5052700" y="4035014"/>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3679614"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Qwen3-TTS</a:t>
            </a:r>
          </a:p>
        </p:txBody>
      </p:sp>
      <p:sp>
        <p:nvSpPr>
          <p:cNvPr id="21" name="Rectangle 20"/>
          <p:cNvSpPr/>
          <p:nvPr/>
        </p:nvSpPr>
        <p:spPr>
          <a:xfrm>
            <a:off x="8276371" y="4249898"/>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6903285"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21,5</a:t>
            </a:r>
          </a:p>
          <a:p>
            <a:pPr algn="ctr">
              <a:lnSpc>
                <a:spcPct val="110000"/>
              </a:lnSpc>
            </a:pPr>
            <a:r>
              <a:rPr sz="1200" b="0" i="0">
                <a:solidFill>
                  <a:srgbClr val="21295C"/>
                </a:solidFill>
                <a:latin typeface="Arial"/>
              </a:rPr>
              <a:t>Stable Audio 2</a:t>
            </a:r>
          </a:p>
        </p:txBody>
      </p:sp>
      <p:sp>
        <p:nvSpPr>
          <p:cNvPr id="23" name="TextBox 22"/>
          <p:cNvSpPr txBox="1"/>
          <p:nvPr/>
        </p:nvSpPr>
        <p:spPr>
          <a:xfrm>
            <a:off x="502920" y="503060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кадров кодека в секунду, герц</a:t>
            </a:r>
          </a:p>
        </p:txBody>
      </p:sp>
      <p:sp>
        <p:nvSpPr>
          <p:cNvPr id="24" name="Rounded Rectangle 23"/>
          <p:cNvSpPr/>
          <p:nvPr/>
        </p:nvSpPr>
        <p:spPr>
          <a:xfrm>
            <a:off x="374904" y="5341496"/>
            <a:ext cx="11441887" cy="89471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32936"/>
            <a:ext cx="11112703" cy="80327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Авторегрессия</a:t>
            </a:r>
          </a:p>
        </p:txBody>
      </p:sp>
      <p:sp>
        <p:nvSpPr>
          <p:cNvPr id="5" name="Rounded Rectangle 4"/>
          <p:cNvSpPr/>
          <p:nvPr/>
        </p:nvSpPr>
        <p:spPr>
          <a:xfrm>
            <a:off x="3538728" y="1335024"/>
            <a:ext cx="8150047"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6 мин 38 с</a:t>
            </a:r>
          </a:p>
        </p:txBody>
      </p:sp>
      <p:sp>
        <p:nvSpPr>
          <p:cNvPr id="8" name="Rounded Rectangle 7"/>
          <p:cNvSpPr/>
          <p:nvPr/>
        </p:nvSpPr>
        <p:spPr>
          <a:xfrm>
            <a:off x="5644819"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727115"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12 мин 53 с</a:t>
            </a:r>
          </a:p>
        </p:txBody>
      </p:sp>
      <p:sp>
        <p:nvSpPr>
          <p:cNvPr id="10" name="Rounded Rectangle 9"/>
          <p:cNvSpPr/>
          <p:nvPr/>
        </p:nvSpPr>
        <p:spPr>
          <a:xfrm>
            <a:off x="7659471"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7741767"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растёт линейно: каждый токен — свой проход</a:t>
            </a:r>
          </a:p>
        </p:txBody>
      </p:sp>
      <p:sp>
        <p:nvSpPr>
          <p:cNvPr id="12" name="Rounded Rectangle 11"/>
          <p:cNvSpPr/>
          <p:nvPr/>
        </p:nvSpPr>
        <p:spPr>
          <a:xfrm>
            <a:off x="9674123"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756419"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204,03 и 218,02</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a:t>
            </a:r>
          </a:p>
        </p:txBody>
      </p:sp>
      <p:sp>
        <p:nvSpPr>
          <p:cNvPr id="15" name="Rounded Rectangle 14"/>
          <p:cNvSpPr/>
          <p:nvPr/>
        </p:nvSpPr>
        <p:spPr>
          <a:xfrm>
            <a:off x="3538728" y="2346135"/>
            <a:ext cx="8150047"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3630168"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3712464"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13 с</a:t>
            </a:r>
          </a:p>
        </p:txBody>
      </p:sp>
      <p:sp>
        <p:nvSpPr>
          <p:cNvPr id="18" name="Rounded Rectangle 17"/>
          <p:cNvSpPr/>
          <p:nvPr/>
        </p:nvSpPr>
        <p:spPr>
          <a:xfrm>
            <a:off x="5644819"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5727115"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13 с</a:t>
            </a:r>
          </a:p>
        </p:txBody>
      </p:sp>
      <p:sp>
        <p:nvSpPr>
          <p:cNvPr id="20" name="Rounded Rectangle 19"/>
          <p:cNvSpPr/>
          <p:nvPr/>
        </p:nvSpPr>
        <p:spPr>
          <a:xfrm>
            <a:off x="7659471"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741767"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не растёт: шагов решателя фиксированное число</a:t>
            </a:r>
          </a:p>
        </p:txBody>
      </p:sp>
      <p:sp>
        <p:nvSpPr>
          <p:cNvPr id="22" name="Rounded Rectangle 21"/>
          <p:cNvSpPr/>
          <p:nvPr/>
        </p:nvSpPr>
        <p:spPr>
          <a:xfrm>
            <a:off x="9674123"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756419"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79,09 и 81,96</a:t>
            </a:r>
          </a:p>
        </p:txBody>
      </p:sp>
      <p:sp>
        <p:nvSpPr>
          <p:cNvPr id="24" name="Rounded Rectangle 23"/>
          <p:cNvSpPr/>
          <p:nvPr/>
        </p:nvSpPr>
        <p:spPr>
          <a:xfrm>
            <a:off x="2011680" y="1335024"/>
            <a:ext cx="1325880" cy="214590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25" name="TextBox 24"/>
          <p:cNvSpPr txBox="1"/>
          <p:nvPr/>
        </p:nvSpPr>
        <p:spPr>
          <a:xfrm>
            <a:off x="2084832" y="1380744"/>
            <a:ext cx="1179576" cy="205446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минута звука</a:t>
            </a:r>
          </a:p>
        </p:txBody>
      </p:sp>
      <p:sp>
        <p:nvSpPr>
          <p:cNvPr id="26" name="Rectangle 25"/>
          <p:cNvSpPr/>
          <p:nvPr/>
        </p:nvSpPr>
        <p:spPr>
          <a:xfrm>
            <a:off x="3337560" y="1769713"/>
            <a:ext cx="201168" cy="32004"/>
          </a:xfrm>
          <a:prstGeom prst="rect">
            <a:avLst/>
          </a:prstGeom>
          <a:solidFill>
            <a:srgbClr val="1C7293"/>
          </a:solidFill>
          <a:ln>
            <a:noFill/>
          </a:ln>
          <a:effectLst/>
        </p:spPr>
        <p:txBody>
          <a:bodyPr rtlCol="0" anchor="ctr"/>
          <a:lstStyle/>
          <a:p>
            <a:pPr algn="ctr"/>
          </a:p>
        </p:txBody>
      </p:sp>
      <p:sp>
        <p:nvSpPr>
          <p:cNvPr id="27" name="Rectangle 26"/>
          <p:cNvSpPr/>
          <p:nvPr/>
        </p:nvSpPr>
        <p:spPr>
          <a:xfrm>
            <a:off x="3337560" y="2897527"/>
            <a:ext cx="201168" cy="32004"/>
          </a:xfrm>
          <a:prstGeom prst="rect">
            <a:avLst/>
          </a:prstGeom>
          <a:solidFill>
            <a:srgbClr val="1C7293"/>
          </a:solidFill>
          <a:ln>
            <a:noFill/>
          </a:ln>
          <a:effectLst/>
        </p:spPr>
        <p:txBody>
          <a:bodyPr rtlCol="0" anchor="ctr"/>
          <a:lstStyle/>
          <a:p>
            <a:pPr algn="ctr"/>
          </a:p>
        </p:txBody>
      </p:sp>
      <p:sp>
        <p:nvSpPr>
          <p:cNvPr id="28" name="Rounded Rectangle 27"/>
          <p:cNvSpPr/>
          <p:nvPr/>
        </p:nvSpPr>
        <p:spPr>
          <a:xfrm>
            <a:off x="502920" y="3663804"/>
            <a:ext cx="5437479" cy="2058918"/>
          </a:xfrm>
          <a:prstGeom prst="roundRect">
            <a:avLst>
              <a:gd name="adj" fmla="val 14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667512" y="38192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30" name="TextBox 29"/>
          <p:cNvSpPr txBox="1"/>
          <p:nvPr/>
        </p:nvSpPr>
        <p:spPr>
          <a:xfrm>
            <a:off x="667512"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1000" b="0" i="0">
                <a:solidFill>
                  <a:srgbClr val="21295C"/>
                </a:solidFill>
                <a:latin typeface="Arial"/>
              </a:rPr>
              <a:t>• Плоская развёртка: 6 000 шагов, качество 0,86</a:t>
            </a:r>
          </a:p>
          <a:p>
            <a:pPr algn="l">
              <a:lnSpc>
                <a:spcPct val="126000"/>
              </a:lnSpc>
            </a:pPr>
            <a:r>
              <a:rPr sz="10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10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31" name="Rounded Rectangle 30"/>
          <p:cNvSpPr/>
          <p:nvPr/>
        </p:nvSpPr>
        <p:spPr>
          <a:xfrm>
            <a:off x="6251295" y="3663804"/>
            <a:ext cx="5437479" cy="2058918"/>
          </a:xfrm>
          <a:prstGeom prst="roundRect">
            <a:avLst>
              <a:gd name="adj" fmla="val 14803"/>
            </a:avLst>
          </a:prstGeom>
          <a:solidFill>
            <a:srgbClr val="FFFFFF"/>
          </a:solidFill>
          <a:ln w="19050">
            <a:solidFill>
              <a:srgbClr val="028090"/>
            </a:solidFill>
          </a:ln>
          <a:effectLst/>
        </p:spPr>
        <p:txBody>
          <a:bodyPr rtlCol="0" anchor="ctr"/>
          <a:lstStyle/>
          <a:p>
            <a:pPr algn="ctr"/>
          </a:p>
        </p:txBody>
      </p:sp>
      <p:sp>
        <p:nvSpPr>
          <p:cNvPr id="32" name="TextBox 31"/>
          <p:cNvSpPr txBox="1"/>
          <p:nvPr/>
        </p:nvSpPr>
        <p:spPr>
          <a:xfrm>
            <a:off x="6415887" y="38192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33" name="TextBox 32"/>
          <p:cNvSpPr txBox="1"/>
          <p:nvPr/>
        </p:nvSpPr>
        <p:spPr>
          <a:xfrm>
            <a:off x="6415887"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10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10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1000" b="0" i="0">
                <a:solidFill>
                  <a:srgbClr val="21295C"/>
                </a:solidFill>
                <a:latin typeface="Arial"/>
              </a:rPr>
              <a:t>• Тишина обрезается: переменная длина получена обучением, ограничение осталось</a:t>
            </a:r>
          </a:p>
        </p:txBody>
      </p:sp>
      <p:sp>
        <p:nvSpPr>
          <p:cNvPr id="34" name="Rounded Rectangle 3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14</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925076"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551991"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5,91</a:t>
            </a:r>
          </a:p>
          <a:p>
            <a:pPr algn="ctr">
              <a:lnSpc>
                <a:spcPct val="110000"/>
              </a:lnSpc>
            </a:pPr>
            <a:r>
              <a:rPr sz="1200" b="0" i="0">
                <a:solidFill>
                  <a:srgbClr val="21295C"/>
                </a:solidFill>
                <a:latin typeface="Arial"/>
              </a:rPr>
              <a:t>Spleeter</a:t>
            </a:r>
          </a:p>
        </p:txBody>
      </p:sp>
      <p:sp>
        <p:nvSpPr>
          <p:cNvPr id="11" name="Rectangle 10"/>
          <p:cNvSpPr/>
          <p:nvPr/>
        </p:nvSpPr>
        <p:spPr>
          <a:xfrm>
            <a:off x="5276660"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3903574"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8,22</a:t>
            </a:r>
          </a:p>
          <a:p>
            <a:pPr algn="ctr">
              <a:lnSpc>
                <a:spcPct val="110000"/>
              </a:lnSpc>
            </a:pPr>
            <a:r>
              <a:rPr sz="1200" b="0" i="0">
                <a:solidFill>
                  <a:srgbClr val="21295C"/>
                </a:solidFill>
                <a:latin typeface="Arial"/>
              </a:rPr>
              <a:t>Идеальная маска</a:t>
            </a:r>
          </a:p>
        </p:txBody>
      </p:sp>
      <p:sp>
        <p:nvSpPr>
          <p:cNvPr id="13" name="Rectangle 12"/>
          <p:cNvSpPr/>
          <p:nvPr/>
        </p:nvSpPr>
        <p:spPr>
          <a:xfrm>
            <a:off x="6274301" y="1841406"/>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4901216"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9,20</a:t>
            </a:r>
          </a:p>
          <a:p>
            <a:pPr algn="ctr">
              <a:lnSpc>
                <a:spcPct val="110000"/>
              </a:lnSpc>
            </a:pPr>
            <a:r>
              <a:rPr sz="1200" b="0" i="0">
                <a:solidFill>
                  <a:srgbClr val="21295C"/>
                </a:solidFill>
                <a:latin typeface="Arial"/>
              </a:rPr>
              <a:t>Sparse HT Demucs</a:t>
            </a:r>
          </a:p>
        </p:txBody>
      </p:sp>
      <p:sp>
        <p:nvSpPr>
          <p:cNvPr id="15" name="Rectangle 14"/>
          <p:cNvSpPr/>
          <p:nvPr/>
        </p:nvSpPr>
        <p:spPr>
          <a:xfrm>
            <a:off x="9114526" y="205629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741440"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11,99</a:t>
            </a:r>
          </a:p>
          <a:p>
            <a:pPr algn="ctr">
              <a:lnSpc>
                <a:spcPct val="110000"/>
              </a:lnSpc>
            </a:pPr>
            <a:r>
              <a:rPr sz="1200" b="0" i="0">
                <a:solidFill>
                  <a:srgbClr val="21295C"/>
                </a:solidFill>
                <a:latin typeface="Arial"/>
              </a:rPr>
              <a:t>BS-RoFormer, 2023</a:t>
            </a:r>
          </a:p>
        </p:txBody>
      </p:sp>
      <p:sp>
        <p:nvSpPr>
          <p:cNvPr id="17" name="TextBox 16"/>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дБ, сигнал к искажению на вокале · идеальная маска — потолок маскирования; Hybrid Demucs перешагнул его первым, 8,34 дБ</a:t>
            </a:r>
          </a:p>
        </p:txBody>
      </p:sp>
      <p:sp>
        <p:nvSpPr>
          <p:cNvPr id="18" name="TextBox 17"/>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Оракул вычислен при знании истинных дорожек</a:t>
            </a:r>
          </a:p>
        </p:txBody>
      </p:sp>
      <p:sp>
        <p:nvSpPr>
          <p:cNvPr id="19" name="Rounded Rectangle 18"/>
          <p:cNvSpPr/>
          <p:nvPr/>
        </p:nvSpPr>
        <p:spPr>
          <a:xfrm>
            <a:off x="502920" y="3527496"/>
            <a:ext cx="5437479" cy="2195226"/>
          </a:xfrm>
          <a:prstGeom prst="roundRect">
            <a:avLst>
              <a:gd name="adj" fmla="val 13884"/>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1" name="TextBox 20"/>
          <p:cNvSpPr txBox="1"/>
          <p:nvPr/>
        </p:nvSpPr>
        <p:spPr>
          <a:xfrm>
            <a:off x="667512" y="4039123"/>
            <a:ext cx="5108295" cy="152815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Микс считается суммой дорожек; задача — вернуть слагаемые</a:t>
            </a:r>
          </a:p>
          <a:p>
            <a:pPr algn="l">
              <a:lnSpc>
                <a:spcPct val="126000"/>
              </a:lnSpc>
            </a:pPr>
            <a:r>
              <a:rPr sz="1000" b="0" i="0">
                <a:solidFill>
                  <a:srgbClr val="21295C"/>
                </a:solidFill>
                <a:latin typeface="Arial"/>
              </a:rPr>
              <a:t>• Эталон существует: исходные изолированные дорожки</a:t>
            </a:r>
          </a:p>
          <a:p>
            <a:pPr algn="l">
              <a:lnSpc>
                <a:spcPct val="126000"/>
              </a:lnSpc>
            </a:pPr>
            <a:r>
              <a:rPr sz="10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1000" b="0" i="0">
                <a:solidFill>
                  <a:srgbClr val="21295C"/>
                </a:solidFill>
                <a:latin typeface="Arial"/>
              </a:rPr>
              <a:t>• Есть оракул — верхняя граница, вычисленная при знании ответа</a:t>
            </a:r>
          </a:p>
          <a:p>
            <a:pPr algn="l">
              <a:lnSpc>
                <a:spcPct val="126000"/>
              </a:lnSpc>
            </a:pPr>
            <a:r>
              <a:rPr sz="10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2" name="Rounded Rectangle 21"/>
          <p:cNvSpPr/>
          <p:nvPr/>
        </p:nvSpPr>
        <p:spPr>
          <a:xfrm>
            <a:off x="6251295" y="3527496"/>
            <a:ext cx="5437479" cy="2195226"/>
          </a:xfrm>
          <a:prstGeom prst="roundRect">
            <a:avLst>
              <a:gd name="adj" fmla="val 13884"/>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4" name="TextBox 23"/>
          <p:cNvSpPr txBox="1"/>
          <p:nvPr/>
        </p:nvSpPr>
        <p:spPr>
          <a:xfrm>
            <a:off x="6415887" y="4039123"/>
            <a:ext cx="5108295" cy="152815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11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1100" b="0" i="0">
                <a:solidFill>
                  <a:srgbClr val="21295C"/>
                </a:solidFill>
                <a:latin typeface="Arial"/>
              </a:rPr>
              <a:t>• Понятия идеального оракула у генеративной модели нет вовсе</a:t>
            </a:r>
          </a:p>
          <a:p>
            <a:pPr algn="l">
              <a:lnSpc>
                <a:spcPct val="126000"/>
              </a:lnSpc>
            </a:pPr>
            <a:r>
              <a:rPr sz="11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25" name="Rounded Rectangle 2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TextBox 3"/>
          <p:cNvSpPr txBox="1"/>
          <p:nvPr/>
        </p:nvSpPr>
        <p:spPr>
          <a:xfrm>
            <a:off x="502920" y="137160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Звучание</a:t>
            </a:r>
          </a:p>
        </p:txBody>
      </p:sp>
      <p:sp>
        <p:nvSpPr>
          <p:cNvPr id="5" name="Rounded Rectangle 4"/>
          <p:cNvSpPr/>
          <p:nvPr/>
        </p:nvSpPr>
        <p:spPr>
          <a:xfrm>
            <a:off x="3538728" y="1335024"/>
            <a:ext cx="6622999"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распределение, обусловленное образцом</a:t>
            </a:r>
          </a:p>
        </p:txBody>
      </p:sp>
      <p:sp>
        <p:nvSpPr>
          <p:cNvPr id="8" name="Rounded Rectangle 7"/>
          <p:cNvSpPr/>
          <p:nvPr/>
        </p:nvSpPr>
        <p:spPr>
          <a:xfrm>
            <a:off x="6895947"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978243"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тембр воспроизводится полностью</a:t>
            </a:r>
          </a:p>
        </p:txBody>
      </p:sp>
      <p:sp>
        <p:nvSpPr>
          <p:cNvPr id="10" name="TextBox 9"/>
          <p:cNvSpPr txBox="1"/>
          <p:nvPr/>
        </p:nvSpPr>
        <p:spPr>
          <a:xfrm>
            <a:off x="502920" y="2149306"/>
            <a:ext cx="1307592" cy="105548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Исполнитель</a:t>
            </a:r>
          </a:p>
        </p:txBody>
      </p:sp>
      <p:sp>
        <p:nvSpPr>
          <p:cNvPr id="11" name="Rounded Rectangle 10"/>
          <p:cNvSpPr/>
          <p:nvPr/>
        </p:nvSpPr>
        <p:spPr>
          <a:xfrm>
            <a:off x="3630168"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2" name="Rounded Rectangle 11"/>
          <p:cNvSpPr/>
          <p:nvPr/>
        </p:nvSpPr>
        <p:spPr>
          <a:xfrm>
            <a:off x="6895947"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3630168" y="2798996"/>
            <a:ext cx="6440119"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манера · репертуар · пределы диапазона · дыхание · решение о подаче — ни одного из этого внутри нет</a:t>
            </a:r>
          </a:p>
        </p:txBody>
      </p:sp>
      <p:sp>
        <p:nvSpPr>
          <p:cNvPr id="14" name="Rounded Rectangle 13"/>
          <p:cNvSpPr/>
          <p:nvPr/>
        </p:nvSpPr>
        <p:spPr>
          <a:xfrm>
            <a:off x="2011680"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образец голоса</a:t>
            </a:r>
          </a:p>
        </p:txBody>
      </p:sp>
      <p:sp>
        <p:nvSpPr>
          <p:cNvPr id="16" name="Rectangle 15"/>
          <p:cNvSpPr/>
          <p:nvPr/>
        </p:nvSpPr>
        <p:spPr>
          <a:xfrm>
            <a:off x="3337560" y="1653011"/>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2661048"/>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произнести — да, сыграть — нет</a:t>
            </a:r>
          </a:p>
        </p:txBody>
      </p:sp>
      <p:sp>
        <p:nvSpPr>
          <p:cNvPr id="20" name="Rectangle 19"/>
          <p:cNvSpPr/>
          <p:nvPr/>
        </p:nvSpPr>
        <p:spPr>
          <a:xfrm>
            <a:off x="10161727" y="1653011"/>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2661048"/>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31452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Корень — в данных: обучающий корпус собран из аудиокниг</a:t>
            </a:r>
          </a:p>
        </p:txBody>
      </p:sp>
      <p:sp>
        <p:nvSpPr>
          <p:cNvPr id="23" name="Rounded Rectangle 22"/>
          <p:cNvSpPr/>
          <p:nvPr/>
        </p:nvSpPr>
        <p:spPr>
          <a:xfrm>
            <a:off x="502920" y="3712418"/>
            <a:ext cx="5437479" cy="1752851"/>
          </a:xfrm>
          <a:prstGeom prst="roundRect">
            <a:avLst>
              <a:gd name="adj" fmla="val 173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67512" y="386786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5" name="TextBox 24"/>
          <p:cNvSpPr txBox="1"/>
          <p:nvPr/>
        </p:nvSpPr>
        <p:spPr>
          <a:xfrm>
            <a:off x="667512"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6" name="Rounded Rectangle 25"/>
          <p:cNvSpPr/>
          <p:nvPr/>
        </p:nvSpPr>
        <p:spPr>
          <a:xfrm>
            <a:off x="6251295" y="3712418"/>
            <a:ext cx="5437479" cy="1752851"/>
          </a:xfrm>
          <a:prstGeom prst="roundRect">
            <a:avLst>
              <a:gd name="adj" fmla="val 17388"/>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386786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8" name="TextBox 27"/>
          <p:cNvSpPr txBox="1"/>
          <p:nvPr/>
        </p:nvSpPr>
        <p:spPr>
          <a:xfrm>
            <a:off x="6415887"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9" name="Rounded Rectangle 2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просят лицензию, а не запрет</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 Применённых в суде дел по законам обоих штатов найти не удалось</a:t>
            </a:r>
          </a:p>
        </p:txBody>
      </p:sp>
      <p:sp>
        <p:nvSpPr>
          <p:cNvPr id="8" name="TextBox 7"/>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a:t>
            </a:r>
          </a:p>
        </p:txBody>
      </p:sp>
      <p:sp>
        <p:nvSpPr>
          <p:cNvPr id="9" name="Rounded Rectangle 8"/>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2024: внесён</a:t>
            </a:r>
          </a:p>
        </p:txBody>
      </p:sp>
      <p:sp>
        <p:nvSpPr>
          <p:cNvPr id="12" name="Right Arrow 11"/>
          <p:cNvSpPr/>
          <p:nvPr/>
        </p:nvSpPr>
        <p:spPr>
          <a:xfrm>
            <a:off x="5069738" y="3082353"/>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389778"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5472074"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январь 2025: не поддержан</a:t>
            </a:r>
          </a:p>
        </p:txBody>
      </p:sp>
      <p:sp>
        <p:nvSpPr>
          <p:cNvPr id="15" name="Right Arrow 14"/>
          <p:cNvSpPr/>
          <p:nvPr/>
        </p:nvSpPr>
        <p:spPr>
          <a:xfrm>
            <a:off x="8356396" y="308235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676436"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8758732"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октябрь 2026: не принят</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штаты</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Теннесси: в силе с 1 июля 2024</a:t>
            </a:r>
          </a:p>
        </p:txBody>
      </p:sp>
      <p:sp>
        <p:nvSpPr>
          <p:cNvPr id="22" name="Right Arrow 21"/>
          <p:cNvSpPr/>
          <p:nvPr/>
        </p:nvSpPr>
        <p:spPr>
          <a:xfrm>
            <a:off x="5069738" y="370414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389778"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5472074"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Калифорния: с 1 января 2025</a:t>
            </a:r>
          </a:p>
        </p:txBody>
      </p:sp>
      <p:sp>
        <p:nvSpPr>
          <p:cNvPr id="25" name="Right Arrow 24"/>
          <p:cNvSpPr/>
          <p:nvPr/>
        </p:nvSpPr>
        <p:spPr>
          <a:xfrm>
            <a:off x="8356396" y="3704145"/>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8676436"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758732"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применённых дел не найдено</a:t>
            </a:r>
          </a:p>
        </p:txBody>
      </p:sp>
      <p:sp>
        <p:nvSpPr>
          <p:cNvPr id="28" name="TextBox 27"/>
          <p:cNvSpPr txBox="1"/>
          <p:nvPr/>
        </p:nvSpPr>
        <p:spPr>
          <a:xfrm>
            <a:off x="502920" y="417506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федерация</a:t>
            </a:r>
          </a:p>
        </p:txBody>
      </p:sp>
      <p:sp>
        <p:nvSpPr>
          <p:cNvPr id="29" name="Rounded Rectangle 28"/>
          <p:cNvSpPr/>
          <p:nvPr/>
        </p:nvSpPr>
        <p:spPr>
          <a:xfrm>
            <a:off x="2011680" y="413848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июнь 2026: одобрен комитетом</a:t>
            </a:r>
          </a:p>
        </p:txBody>
      </p:sp>
      <p:sp>
        <p:nvSpPr>
          <p:cNvPr id="32" name="Right Arrow 31"/>
          <p:cNvSpPr/>
          <p:nvPr/>
        </p:nvSpPr>
        <p:spPr>
          <a:xfrm>
            <a:off x="5069738" y="440389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389778"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5472074"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2026: возразил сенатор</a:t>
            </a:r>
          </a:p>
        </p:txBody>
      </p:sp>
      <p:sp>
        <p:nvSpPr>
          <p:cNvPr id="35" name="Right Arrow 34"/>
          <p:cNvSpPr/>
          <p:nvPr/>
        </p:nvSpPr>
        <p:spPr>
          <a:xfrm>
            <a:off x="8356396" y="440389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76436"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758732"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ни одной палатой не принят</a:t>
            </a:r>
          </a:p>
        </p:txBody>
      </p:sp>
      <p:sp>
        <p:nvSpPr>
          <p:cNvPr id="38" name="TextBox 37"/>
          <p:cNvSpPr txBox="1"/>
          <p:nvPr/>
        </p:nvSpPr>
        <p:spPr>
          <a:xfrm>
            <a:off x="502920" y="487961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разные линии, и ни одна не кончилась применённым в суде делом</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2509418" cy="3498862"/>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 → 2022</a:t>
            </a:r>
          </a:p>
        </p:txBody>
      </p:sp>
      <p:sp>
        <p:nvSpPr>
          <p:cNvPr id="6" name="TextBox 5"/>
          <p:cNvSpPr txBox="1"/>
          <p:nvPr/>
        </p:nvSpPr>
        <p:spPr>
          <a:xfrm>
            <a:off x="640080" y="1725375"/>
            <a:ext cx="2235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 → голос в сторонней рекламе</a:t>
            </a:r>
          </a:p>
        </p:txBody>
      </p:sp>
      <p:sp>
        <p:nvSpPr>
          <p:cNvPr id="7" name="TextBox 6"/>
          <p:cNvSpPr txBox="1"/>
          <p:nvPr/>
        </p:nvSpPr>
        <p:spPr>
          <a:xfrm>
            <a:off x="640080" y="2373048"/>
            <a:ext cx="2235098" cy="2323678"/>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 было ни слова «синтез» и ни упоминания нейросетей: заверяли, что записи нужны для колл-центра и голосового ассистента. Голос оказался доступен для синтеза на сторонних площадках, и из-за этого актриса потеряла часть работы</a:t>
            </a:r>
          </a:p>
        </p:txBody>
      </p:sp>
      <p:sp>
        <p:nvSpPr>
          <p:cNvPr id="8" name="Rounded Rectangle 7"/>
          <p:cNvSpPr/>
          <p:nvPr/>
        </p:nvSpPr>
        <p:spPr>
          <a:xfrm>
            <a:off x="3176930" y="1335024"/>
            <a:ext cx="2509418" cy="3498862"/>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409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2023</a:t>
            </a:r>
          </a:p>
        </p:txBody>
      </p:sp>
      <p:sp>
        <p:nvSpPr>
          <p:cNvPr id="10" name="TextBox 9"/>
          <p:cNvSpPr txBox="1"/>
          <p:nvPr/>
        </p:nvSpPr>
        <p:spPr>
          <a:xfrm>
            <a:off x="3314090" y="1725375"/>
            <a:ext cx="2235098"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иск почти на 6 млн ₽, подан 30 августа</a:t>
            </a:r>
          </a:p>
        </p:txBody>
      </p:sp>
      <p:sp>
        <p:nvSpPr>
          <p:cNvPr id="11" name="TextBox 10"/>
          <p:cNvSpPr txBox="1"/>
          <p:nvPr/>
        </p:nvSpPr>
        <p:spPr>
          <a:xfrm>
            <a:off x="3314090" y="2356073"/>
            <a:ext cx="2235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апреля предлагали компенсацию около двух месячных заработков при условии полного отказа от претензий — отклонено; петиция в поддержку собрала около 26 тысяч подписей</a:t>
            </a:r>
          </a:p>
        </p:txBody>
      </p:sp>
      <p:sp>
        <p:nvSpPr>
          <p:cNvPr id="12" name="Rounded Rectangle 11"/>
          <p:cNvSpPr/>
          <p:nvPr/>
        </p:nvSpPr>
        <p:spPr>
          <a:xfrm>
            <a:off x="5850940" y="1335024"/>
            <a:ext cx="2509418" cy="3498862"/>
          </a:xfrm>
          <a:prstGeom prst="roundRect">
            <a:avLst>
              <a:gd name="adj" fmla="val 1214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810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14" name="TextBox 13"/>
          <p:cNvSpPr txBox="1"/>
          <p:nvPr/>
        </p:nvSpPr>
        <p:spPr>
          <a:xfrm>
            <a:off x="5988100" y="1725375"/>
            <a:ext cx="2235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15" name="TextBox 14"/>
          <p:cNvSpPr txBox="1"/>
          <p:nvPr/>
        </p:nvSpPr>
        <p:spPr>
          <a:xfrm>
            <a:off x="5988100" y="2542797"/>
            <a:ext cx="2235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 и разрешил спор о голосе как спор о договоре. На октябрь 2026 итог апелляции установить не удалось</a:t>
            </a:r>
          </a:p>
        </p:txBody>
      </p:sp>
      <p:sp>
        <p:nvSpPr>
          <p:cNvPr id="16" name="Rounded Rectangle 1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17" name="Picture 16" descr="s48-andronova-afisha-portret.png"/>
          <p:cNvPicPr>
            <a:picLocks noChangeAspect="1"/>
          </p:cNvPicPr>
          <p:nvPr/>
        </p:nvPicPr>
        <p:blipFill>
          <a:blip r:embed="rId2"/>
          <a:stretch>
            <a:fillRect/>
          </a:stretch>
        </p:blipFill>
        <p:spPr>
          <a:xfrm>
            <a:off x="8808415" y="1472184"/>
            <a:ext cx="2743200" cy="4114800"/>
          </a:xfrm>
          <a:prstGeom prst="rect">
            <a:avLst/>
          </a:prstGeom>
        </p:spPr>
      </p:pic>
      <p:sp>
        <p:nvSpPr>
          <p:cNvPr id="18" name="Rectangle 1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Восемь способов получить изображение: семь прежних и один новый</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ВОСЕМЬ, И НИ ОДИН ИЗ СЕМИ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Стадии, существовавшие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и визуальные эффекты</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000" b="0" i="0">
                <a:solidFill>
                  <a:srgbClr val="21295C"/>
                </a:solidFill>
                <a:latin typeface="Arial"/>
              </a:rPr>
              <a:t>• Оживление кадра: на входе готовая картинка, на выходе движение из неё</a:t>
            </a:r>
          </a:p>
          <a:p>
            <a:pPr algn="l">
              <a:lnSpc>
                <a:spcPct val="126000"/>
              </a:lnSpc>
            </a:pPr>
            <a:r>
              <a:rPr sz="1000" b="0" i="0">
                <a:solidFill>
                  <a:srgbClr val="21295C"/>
                </a:solidFill>
                <a:latin typeface="Arial"/>
              </a:rPr>
              <a:t>• Продление сцены: модель достраивает клип вперёд или назад от последнего кадра</a:t>
            </a:r>
          </a:p>
          <a:p>
            <a:pPr algn="l">
              <a:lnSpc>
                <a:spcPct val="126000"/>
              </a:lnSpc>
            </a:pPr>
            <a:r>
              <a:rPr sz="1000" b="0" i="0">
                <a:solidFill>
                  <a:srgbClr val="21295C"/>
                </a:solidFill>
                <a:latin typeface="Arial"/>
              </a:rPr>
              <a:t>• Вход генеративной цепочки — текст, иногда стартовый кадр, иногда до десяти опорных кадров и до пятнадцати референсов на одну генерацию</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ТЕЛЕВИЗИОННЫЙ РОЛИК, РОССИЯ</a:t>
            </a:r>
          </a:p>
        </p:txBody>
      </p:sp>
      <p:sp>
        <p:nvSpPr>
          <p:cNvPr id="6" name="TextBox 5"/>
          <p:cNvSpPr txBox="1"/>
          <p:nvPr/>
        </p:nvSpPr>
        <p:spPr>
          <a:xfrm>
            <a:off x="640080"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300 000–800 000 ₽</a:t>
            </a:r>
          </a:p>
        </p:txBody>
      </p:sp>
      <p:sp>
        <p:nvSpPr>
          <p:cNvPr id="7" name="TextBox 6"/>
          <p:cNvSpPr txBox="1"/>
          <p:nvPr/>
        </p:nvSpPr>
        <p:spPr>
          <a:xfrm>
            <a:off x="640080" y="295774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студийная съёмка один-два дня, группа 3–5 человек</a:t>
            </a:r>
          </a:p>
        </p:txBody>
      </p:sp>
      <p:sp>
        <p:nvSpPr>
          <p:cNvPr id="8" name="Rounded Rectangle 7"/>
          <p:cNvSpPr/>
          <p:nvPr/>
        </p:nvSpPr>
        <p:spPr>
          <a:xfrm>
            <a:off x="2773009"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910169"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800 000–2 500 000 ₽</a:t>
            </a:r>
          </a:p>
        </p:txBody>
      </p:sp>
      <p:sp>
        <p:nvSpPr>
          <p:cNvPr id="11" name="TextBox 10"/>
          <p:cNvSpPr txBox="1"/>
          <p:nvPr/>
        </p:nvSpPr>
        <p:spPr>
          <a:xfrm>
            <a:off x="2910169" y="2542797"/>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два-четыре съёмочных дня</a:t>
            </a:r>
          </a:p>
        </p:txBody>
      </p:sp>
      <p:sp>
        <p:nvSpPr>
          <p:cNvPr id="12" name="Rounded Rectangle 11"/>
          <p:cNvSpPr/>
          <p:nvPr/>
        </p:nvSpPr>
        <p:spPr>
          <a:xfrm>
            <a:off x="504309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ПРЕМИАЛЬНЫЙ</a:t>
            </a:r>
          </a:p>
        </p:txBody>
      </p:sp>
      <p:sp>
        <p:nvSpPr>
          <p:cNvPr id="14" name="TextBox 13"/>
          <p:cNvSpPr txBox="1"/>
          <p:nvPr/>
        </p:nvSpPr>
        <p:spPr>
          <a:xfrm>
            <a:off x="5180258" y="1725375"/>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2 500 000–10 000 000 ₽ и выше</a:t>
            </a:r>
          </a:p>
        </p:txBody>
      </p:sp>
      <p:sp>
        <p:nvSpPr>
          <p:cNvPr id="15" name="TextBox 14"/>
          <p:cNvSpPr txBox="1"/>
          <p:nvPr/>
        </p:nvSpPr>
        <p:spPr>
          <a:xfrm>
            <a:off x="5180258" y="233909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группа 10–20 человек, спецэффекты; гонорар известного актёра — от 500 000 ₽ за съёмочный день</a:t>
            </a:r>
          </a:p>
        </p:txBody>
      </p:sp>
      <p:sp>
        <p:nvSpPr>
          <p:cNvPr id="16" name="Rounded Rectangle 15"/>
          <p:cNvSpPr/>
          <p:nvPr/>
        </p:nvSpPr>
        <p:spPr>
          <a:xfrm>
            <a:off x="731318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8" name="TextBox 17"/>
          <p:cNvSpPr txBox="1"/>
          <p:nvPr/>
        </p:nvSpPr>
        <p:spPr>
          <a:xfrm>
            <a:off x="7450348" y="2555260"/>
            <a:ext cx="1831177"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группа от пятидесяти человек, цикл год</a:t>
            </a:r>
          </a:p>
        </p:txBody>
      </p:sp>
      <p:sp>
        <p:nvSpPr>
          <p:cNvPr id="19" name="TextBox 18"/>
          <p:cNvSpPr txBox="1"/>
          <p:nvPr/>
        </p:nvSpPr>
        <p:spPr>
          <a:xfrm>
            <a:off x="7450348" y="338117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20" name="Rounded Rectangle 19"/>
          <p:cNvSpPr/>
          <p:nvPr/>
        </p:nvSpPr>
        <p:spPr>
          <a:xfrm>
            <a:off x="9583277" y="1335024"/>
            <a:ext cx="2105497" cy="341776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22" name="TextBox 21"/>
          <p:cNvSpPr txBox="1"/>
          <p:nvPr/>
        </p:nvSpPr>
        <p:spPr>
          <a:xfrm>
            <a:off x="9720437" y="2140317"/>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23" name="TextBox 22"/>
          <p:cNvSpPr txBox="1"/>
          <p:nvPr/>
        </p:nvSpPr>
        <p:spPr>
          <a:xfrm>
            <a:off x="9720437" y="334816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24" name="Rounded Rectangle 23"/>
          <p:cNvSpPr/>
          <p:nvPr/>
        </p:nvSpPr>
        <p:spPr>
          <a:xfrm>
            <a:off x="502920" y="493566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09111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26" name="TextBox 25"/>
          <p:cNvSpPr txBox="1"/>
          <p:nvPr/>
        </p:nvSpPr>
        <p:spPr>
          <a:xfrm>
            <a:off x="667512"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Российская полоса: 300 000–800 000 ₽ базовый, 800 000–2 500 000 средний, 2 500 000–10 000 000 премиальный</a:t>
            </a:r>
          </a:p>
          <a:p>
            <a:pPr algn="l">
              <a:lnSpc>
                <a:spcPct val="126000"/>
              </a:lnSpc>
            </a:pPr>
            <a:r>
              <a:rPr sz="900" b="0" i="0">
                <a:solidFill>
                  <a:srgbClr val="21295C"/>
                </a:solidFill>
                <a:latin typeface="Arial"/>
              </a:rPr>
              <a:t>• Музыка отдельно: лицензионный трек 10 000–50 000 ₽, оригинальный от 150 000 ₽</a:t>
            </a:r>
          </a:p>
          <a:p>
            <a:pPr algn="l">
              <a:lnSpc>
                <a:spcPct val="126000"/>
              </a:lnSpc>
            </a:pPr>
            <a:r>
              <a:rPr sz="900" b="0" i="0">
                <a:solidFill>
                  <a:srgbClr val="21295C"/>
                </a:solidFill>
                <a:latin typeface="Arial"/>
              </a:rPr>
              <a:t>• Общая единица: 300 000 ₽ за 30-секундный ролик — 10 000 ₽ за секунду эфира</a:t>
            </a:r>
          </a:p>
        </p:txBody>
      </p:sp>
      <p:sp>
        <p:nvSpPr>
          <p:cNvPr id="27" name="Rounded Rectangle 26"/>
          <p:cNvSpPr/>
          <p:nvPr/>
        </p:nvSpPr>
        <p:spPr>
          <a:xfrm>
            <a:off x="6251295" y="493566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509111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9" name="TextBox 28"/>
          <p:cNvSpPr txBox="1"/>
          <p:nvPr/>
        </p:nvSpPr>
        <p:spPr>
          <a:xfrm>
            <a:off x="6415887"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Живая микродрама 2024 года: свыше 1 млн юаней за выпуск, около 137 тысяч долларов</a:t>
            </a:r>
          </a:p>
          <a:p>
            <a:pPr algn="l">
              <a:lnSpc>
                <a:spcPct val="126000"/>
              </a:lnSpc>
            </a:pPr>
            <a:r>
              <a:rPr sz="900" b="0" i="0">
                <a:solidFill>
                  <a:srgbClr val="21295C"/>
                </a:solidFill>
                <a:latin typeface="Arial"/>
              </a:rPr>
              <a:t>• «Ирландец», 2019: бюджет со 125 до 159 млн $ на 1 750 планах омоложения</a:t>
            </a:r>
          </a:p>
          <a:p>
            <a:pPr algn="l">
              <a:lnSpc>
                <a:spcPct val="126000"/>
              </a:lnSpc>
            </a:pPr>
            <a:r>
              <a:rPr sz="900" b="0" i="0">
                <a:solidFill>
                  <a:srgbClr val="21295C"/>
                </a:solidFill>
                <a:latin typeface="Arial"/>
              </a:rPr>
              <a:t>• Супервайзер: в пересчёте на план — как в обычном фильме; планов здесь на два фильма</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 отрасли</a:t>
            </a:r>
          </a:p>
        </p:txBody>
      </p:sp>
      <p:sp>
        <p:nvSpPr>
          <p:cNvPr id="8" name="Rounded Rectangle 7"/>
          <p:cNvSpPr/>
          <p:nvPr/>
        </p:nvSpPr>
        <p:spPr>
          <a:xfrm>
            <a:off x="3175704"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2864" y="1472184"/>
            <a:ext cx="2233872"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2864" y="1932846"/>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живой выпуск свыше 1 млн юаней · кинопрокат ≈100 млрд юаней в 2025</a:t>
            </a:r>
          </a:p>
        </p:txBody>
      </p:sp>
      <p:sp>
        <p:nvSpPr>
          <p:cNvPr id="11" name="TextBox 10"/>
          <p:cNvSpPr txBox="1"/>
          <p:nvPr/>
        </p:nvSpPr>
        <p:spPr>
          <a:xfrm>
            <a:off x="3312864" y="2580519"/>
            <a:ext cx="2233872"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≈137 тыс. $ за живой выпуск; кинопрокат — канал той же аудитории, свыше 120 млрд в 2026</a:t>
            </a:r>
          </a:p>
        </p:txBody>
      </p:sp>
      <p:sp>
        <p:nvSpPr>
          <p:cNvPr id="12" name="Rounded Rectangle 11"/>
          <p:cNvSpPr/>
          <p:nvPr/>
        </p:nvSpPr>
        <p:spPr>
          <a:xfrm>
            <a:off x="5848489" y="1335024"/>
            <a:ext cx="2508192"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5649"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649" y="1725375"/>
            <a:ext cx="2233872"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50–100 тыс. юаней за выпуск</a:t>
            </a:r>
          </a:p>
        </p:txBody>
      </p:sp>
      <p:sp>
        <p:nvSpPr>
          <p:cNvPr id="15" name="TextBox 14"/>
          <p:cNvSpPr txBox="1"/>
          <p:nvPr/>
        </p:nvSpPr>
        <p:spPr>
          <a:xfrm>
            <a:off x="5985649" y="24409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≈7–14 тыс. $: в 10–20 раз дешевле классического режима, не нуля</a:t>
            </a:r>
          </a:p>
        </p:txBody>
      </p:sp>
      <p:sp>
        <p:nvSpPr>
          <p:cNvPr id="16" name="Rounded Rectangle 15"/>
          <p:cNvSpPr/>
          <p:nvPr/>
        </p:nvSpPr>
        <p:spPr>
          <a:xfrm>
            <a:off x="502920" y="3727245"/>
            <a:ext cx="785376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7944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ТЕМП, СКОРОСТЬ ПЕРЕХОДА</a:t>
            </a:r>
          </a:p>
        </p:txBody>
      </p:sp>
      <p:sp>
        <p:nvSpPr>
          <p:cNvPr id="18" name="TextBox 17"/>
          <p:cNvSpPr txBox="1"/>
          <p:nvPr/>
        </p:nvSpPr>
        <p:spPr>
          <a:xfrm>
            <a:off x="640080" y="4117596"/>
            <a:ext cx="757944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430 000 выпусков за восемь месяцев, сгенерированных более 90 %</a:t>
            </a:r>
          </a:p>
        </p:txBody>
      </p:sp>
      <p:sp>
        <p:nvSpPr>
          <p:cNvPr id="19" name="TextBox 18"/>
          <p:cNvSpPr txBox="1"/>
          <p:nvPr/>
        </p:nvSpPr>
        <p:spPr>
          <a:xfrm>
            <a:off x="640080" y="4935019"/>
            <a:ext cx="75794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темп июля 2026 — одна каждые 36 секунд; переход занял около года против четырнадцати лет у нелинейного монтажа</a:t>
            </a:r>
          </a:p>
        </p:txBody>
      </p:sp>
      <p:sp>
        <p:nvSpPr>
          <p:cNvPr id="20" name="Rounded Rectangle 19"/>
          <p:cNvSpPr/>
          <p:nvPr/>
        </p:nvSpPr>
        <p:spPr>
          <a:xfrm>
            <a:off x="8667577" y="1335024"/>
            <a:ext cx="3021197" cy="4389120"/>
          </a:xfrm>
          <a:prstGeom prst="roundRect">
            <a:avLst>
              <a:gd name="adj" fmla="val 10088"/>
            </a:avLst>
          </a:prstGeom>
          <a:solidFill>
            <a:srgbClr val="F4F7FA"/>
          </a:solidFill>
          <a:ln w="19050">
            <a:solidFill>
              <a:srgbClr val="1C7293"/>
            </a:solidFill>
          </a:ln>
          <a:effectLst/>
        </p:spPr>
        <p:txBody>
          <a:bodyPr rtlCol="0" anchor="ctr"/>
          <a:lstStyle/>
          <a:p>
            <a:pPr algn="ctr"/>
          </a:p>
        </p:txBody>
      </p:sp>
      <p:pic>
        <p:nvPicPr>
          <p:cNvPr id="21" name="Picture 20" descr="s53-microdrama-caixin-portret.jpg"/>
          <p:cNvPicPr>
            <a:picLocks noChangeAspect="1"/>
          </p:cNvPicPr>
          <p:nvPr/>
        </p:nvPicPr>
        <p:blipFill>
          <a:blip r:embed="rId2"/>
          <a:stretch>
            <a:fillRect/>
          </a:stretch>
        </p:blipFill>
        <p:spPr>
          <a:xfrm>
            <a:off x="8804737" y="1472184"/>
            <a:ext cx="2746877"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2509998"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6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567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300–400 генераций на 15 пригодных склеек</a:t>
            </a:r>
          </a:p>
        </p:txBody>
      </p:sp>
      <p:sp>
        <p:nvSpPr>
          <p:cNvPr id="7" name="TextBox 6"/>
          <p:cNvSpPr txBox="1"/>
          <p:nvPr/>
        </p:nvSpPr>
        <p:spPr>
          <a:xfrm>
            <a:off x="640080" y="2288173"/>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3177510" y="1335024"/>
            <a:ext cx="2509998"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4670" y="1472184"/>
            <a:ext cx="22356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4670" y="1932846"/>
            <a:ext cx="223567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≈40 000 $ за ролик того же слота · 10 000 ₽ за секунду эфира</a:t>
            </a:r>
          </a:p>
        </p:txBody>
      </p:sp>
      <p:sp>
        <p:nvSpPr>
          <p:cNvPr id="11" name="TextBox 10"/>
          <p:cNvSpPr txBox="1"/>
          <p:nvPr/>
        </p:nvSpPr>
        <p:spPr>
          <a:xfrm>
            <a:off x="3314670" y="2580519"/>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снижение на 95 % посчитано от первого; российская полоса — 300 000 ₽ за тридцать секунд</a:t>
            </a:r>
          </a:p>
        </p:txBody>
      </p:sp>
      <p:sp>
        <p:nvSpPr>
          <p:cNvPr id="12" name="Rounded Rectangle 11"/>
          <p:cNvSpPr/>
          <p:nvPr/>
        </p:nvSpPr>
        <p:spPr>
          <a:xfrm>
            <a:off x="5852101" y="1335024"/>
            <a:ext cx="2509998"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9261" y="1472184"/>
            <a:ext cx="22356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9261" y="1725375"/>
            <a:ext cx="2235678"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2 000 $, один человек, 2–3 дня</a:t>
            </a:r>
          </a:p>
        </p:txBody>
      </p:sp>
      <p:sp>
        <p:nvSpPr>
          <p:cNvPr id="15" name="TextBox 14"/>
          <p:cNvSpPr txBox="1"/>
          <p:nvPr/>
        </p:nvSpPr>
        <p:spPr>
          <a:xfrm>
            <a:off x="5989261" y="2440948"/>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опубликованы; 4–10 ₽ за секунду генерации при курсе около 80 ₽ за доллар</a:t>
            </a:r>
          </a:p>
        </p:txBody>
      </p:sp>
      <p:sp>
        <p:nvSpPr>
          <p:cNvPr id="16" name="Rounded Rectangle 15"/>
          <p:cNvSpPr/>
          <p:nvPr/>
        </p:nvSpPr>
        <p:spPr>
          <a:xfrm>
            <a:off x="502920" y="3727245"/>
            <a:ext cx="785917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848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96 % И ТОЧНОСТЬ, КОТОРУЮ НЕЛЬЗЯ ПОТЕРЯТЬ</a:t>
            </a:r>
          </a:p>
        </p:txBody>
      </p:sp>
      <p:sp>
        <p:nvSpPr>
          <p:cNvPr id="18" name="TextBox 17"/>
          <p:cNvSpPr txBox="1"/>
          <p:nvPr/>
        </p:nvSpPr>
        <p:spPr>
          <a:xfrm>
            <a:off x="640080" y="4117596"/>
            <a:ext cx="758485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 к 15; это финал НБА, Супербоул здесь ни при чём</a:t>
            </a:r>
          </a:p>
        </p:txBody>
      </p:sp>
      <p:sp>
        <p:nvSpPr>
          <p:cNvPr id="19" name="TextBox 18"/>
          <p:cNvSpPr txBox="1"/>
          <p:nvPr/>
        </p:nvSpPr>
        <p:spPr>
          <a:xfrm>
            <a:off x="640080" y="4935019"/>
            <a:ext cx="758485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экономия равна цене попытки, делённой на долю годного; рекламу предсказательных рынков лига американского футбола не берёт</a:t>
            </a:r>
          </a:p>
        </p:txBody>
      </p:sp>
      <p:sp>
        <p:nvSpPr>
          <p:cNvPr id="20" name="Rounded Rectangle 19"/>
          <p:cNvSpPr/>
          <p:nvPr/>
        </p:nvSpPr>
        <p:spPr>
          <a:xfrm>
            <a:off x="8672995" y="1335024"/>
            <a:ext cx="3015779" cy="4389120"/>
          </a:xfrm>
          <a:prstGeom prst="roundRect">
            <a:avLst>
              <a:gd name="adj" fmla="val 10106"/>
            </a:avLst>
          </a:prstGeom>
          <a:solidFill>
            <a:srgbClr val="F4F7FA"/>
          </a:solidFill>
          <a:ln w="19050">
            <a:solidFill>
              <a:srgbClr val="1C7293"/>
            </a:solidFill>
          </a:ln>
          <a:effectLst/>
        </p:spPr>
        <p:txBody>
          <a:bodyPr rtlCol="0" anchor="ctr"/>
          <a:lstStyle/>
          <a:p>
            <a:pPr algn="ctr"/>
          </a:p>
        </p:txBody>
      </p:sp>
      <p:pic>
        <p:nvPicPr>
          <p:cNvPr id="21" name="Picture 20" descr="s54-kalshi-ad-frame-portret.png"/>
          <p:cNvPicPr>
            <a:picLocks noChangeAspect="1"/>
          </p:cNvPicPr>
          <p:nvPr/>
        </p:nvPicPr>
        <p:blipFill>
          <a:blip r:embed="rId2"/>
          <a:stretch>
            <a:fillRect/>
          </a:stretch>
        </p:blipFill>
        <p:spPr>
          <a:xfrm>
            <a:off x="8810155" y="1472184"/>
            <a:ext cx="2741459"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5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457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2576747"/>
            <a:ext cx="2234573"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цикл схлопнулся «с года примерно до месяца» — единственная величина, подтверждённая первым лицом компании</a:t>
            </a:r>
          </a:p>
        </p:txBody>
      </p:sp>
      <p:sp>
        <p:nvSpPr>
          <p:cNvPr id="8" name="Rounded Rectangle 7"/>
          <p:cNvSpPr/>
          <p:nvPr/>
        </p:nvSpPr>
        <p:spPr>
          <a:xfrm>
            <a:off x="3176405"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565" y="1472184"/>
            <a:ext cx="223457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3565" y="1932846"/>
            <a:ext cx="223457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группа от 50 человек, цикл год · повторная съёмка оригинала 1995 года — один съёмочный период</a:t>
            </a:r>
          </a:p>
        </p:txBody>
      </p:sp>
      <p:sp>
        <p:nvSpPr>
          <p:cNvPr id="11" name="TextBox 10"/>
          <p:cNvSpPr txBox="1"/>
          <p:nvPr/>
        </p:nvSpPr>
        <p:spPr>
          <a:xfrm>
            <a:off x="3313565" y="2784218"/>
            <a:ext cx="223457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у повторной съёмки одна смета</a:t>
            </a:r>
          </a:p>
        </p:txBody>
      </p:sp>
      <p:sp>
        <p:nvSpPr>
          <p:cNvPr id="12" name="Rounded Rectangle 11"/>
          <p:cNvSpPr/>
          <p:nvPr/>
        </p:nvSpPr>
        <p:spPr>
          <a:xfrm>
            <a:off x="5849890"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7050" y="1472184"/>
            <a:ext cx="22345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7050" y="1725375"/>
            <a:ext cx="2234573"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свыше 70 000 клипов, 5 специалистов, 30 дней</a:t>
            </a:r>
          </a:p>
        </p:txBody>
      </p:sp>
      <p:sp>
        <p:nvSpPr>
          <p:cNvPr id="15" name="TextBox 14"/>
          <p:cNvSpPr txBox="1"/>
          <p:nvPr/>
        </p:nvSpPr>
        <p:spPr>
          <a:xfrm>
            <a:off x="5987050" y="2254223"/>
            <a:ext cx="223457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16" name="Rounded Rectangle 15"/>
          <p:cNvSpPr/>
          <p:nvPr/>
        </p:nvSpPr>
        <p:spPr>
          <a:xfrm>
            <a:off x="502920" y="3934716"/>
            <a:ext cx="7855864"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4071876"/>
            <a:ext cx="758154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18" name="TextBox 17"/>
          <p:cNvSpPr txBox="1"/>
          <p:nvPr/>
        </p:nvSpPr>
        <p:spPr>
          <a:xfrm>
            <a:off x="640080" y="4325068"/>
            <a:ext cx="7581544"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9" name="TextBox 18"/>
          <p:cNvSpPr txBox="1"/>
          <p:nvPr/>
        </p:nvSpPr>
        <p:spPr>
          <a:xfrm>
            <a:off x="640080" y="4752067"/>
            <a:ext cx="7581544"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 Сколько из 70 000 клипов вошло в монтаж, не раскрыто нигде, и цену компания раскрыть отказалась: ходовое «70 000 клипов ради тридцати секунд» — вывод, выдаваемый за факт</a:t>
            </a:r>
          </a:p>
        </p:txBody>
      </p:sp>
      <p:sp>
        <p:nvSpPr>
          <p:cNvPr id="20" name="Rounded Rectangle 19"/>
          <p:cNvSpPr/>
          <p:nvPr/>
        </p:nvSpPr>
        <p:spPr>
          <a:xfrm>
            <a:off x="8669680" y="1335024"/>
            <a:ext cx="3019094" cy="4389120"/>
          </a:xfrm>
          <a:prstGeom prst="roundRect">
            <a:avLst>
              <a:gd name="adj" fmla="val 10095"/>
            </a:avLst>
          </a:prstGeom>
          <a:solidFill>
            <a:srgbClr val="F4F7FA"/>
          </a:solidFill>
          <a:ln w="19050">
            <a:solidFill>
              <a:srgbClr val="1C7293"/>
            </a:solidFill>
          </a:ln>
          <a:effectLst/>
        </p:spPr>
        <p:txBody>
          <a:bodyPr rtlCol="0" anchor="ctr"/>
          <a:lstStyle/>
          <a:p>
            <a:pPr algn="ctr"/>
          </a:p>
        </p:txBody>
      </p:sp>
      <p:pic>
        <p:nvPicPr>
          <p:cNvPr id="21" name="Picture 20" descr="s55-coca-cola-christmas-truck-portret.jpg"/>
          <p:cNvPicPr>
            <a:picLocks noChangeAspect="1"/>
          </p:cNvPicPr>
          <p:nvPr/>
        </p:nvPicPr>
        <p:blipFill>
          <a:blip r:embed="rId2"/>
          <a:stretch>
            <a:fillRect/>
          </a:stretch>
        </p:blipFill>
        <p:spPr>
          <a:xfrm>
            <a:off x="8806840" y="1472184"/>
            <a:ext cx="2744774"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ounded Rectangle 19"/>
          <p:cNvSpPr/>
          <p:nvPr/>
        </p:nvSpPr>
        <p:spPr>
          <a:xfrm>
            <a:off x="374904" y="340512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11112703"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ПЯТЕРО НА ПЯТЬСОТ ПЛАНОВ</a:t>
            </a:r>
          </a:p>
        </p:txBody>
      </p:sp>
      <p:sp>
        <p:nvSpPr>
          <p:cNvPr id="6" name="TextBox 5"/>
          <p:cNvSpPr txBox="1"/>
          <p:nvPr/>
        </p:nvSpPr>
        <p:spPr>
          <a:xfrm>
            <a:off x="640080"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более 80 % из примерно 500 планов с эффектами</a:t>
            </a:r>
          </a:p>
        </p:txBody>
      </p:sp>
      <p:sp>
        <p:nvSpPr>
          <p:cNvPr id="7" name="TextBox 6"/>
          <p:cNvSpPr txBox="1"/>
          <p:nvPr/>
        </p:nvSpPr>
        <p:spPr>
          <a:xfrm>
            <a:off x="640080" y="2580519"/>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независимая студия из пяти человек; фильм получил «Оскар» за лучшую картину</a:t>
            </a:r>
          </a:p>
        </p:txBody>
      </p:sp>
      <p:sp>
        <p:nvSpPr>
          <p:cNvPr id="8" name="Rounded Rectangle 7"/>
          <p:cNvSpPr/>
          <p:nvPr/>
        </p:nvSpPr>
        <p:spPr>
          <a:xfrm>
            <a:off x="2773009"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10" name="TextBox 9"/>
          <p:cNvSpPr txBox="1"/>
          <p:nvPr/>
        </p:nvSpPr>
        <p:spPr>
          <a:xfrm>
            <a:off x="2910169"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11" name="TextBox 10"/>
          <p:cNvSpPr txBox="1"/>
          <p:nvPr/>
        </p:nvSpPr>
        <p:spPr>
          <a:xfrm>
            <a:off x="2910169" y="295774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12" name="Rounded Rectangle 11"/>
          <p:cNvSpPr/>
          <p:nvPr/>
        </p:nvSpPr>
        <p:spPr>
          <a:xfrm>
            <a:off x="5043098" y="1335024"/>
            <a:ext cx="2105497" cy="284249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6" name="Rounded Rectangle 15"/>
          <p:cNvSpPr/>
          <p:nvPr/>
        </p:nvSpPr>
        <p:spPr>
          <a:xfrm>
            <a:off x="7313188"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9" name="TextBox 18"/>
          <p:cNvSpPr txBox="1"/>
          <p:nvPr/>
        </p:nvSpPr>
        <p:spPr>
          <a:xfrm>
            <a:off x="7450348" y="25427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20" name="Rounded Rectangle 19"/>
          <p:cNvSpPr/>
          <p:nvPr/>
        </p:nvSpPr>
        <p:spPr>
          <a:xfrm>
            <a:off x="9583277" y="1335024"/>
            <a:ext cx="2105497" cy="284249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22" name="TextBox 21"/>
          <p:cNvSpPr txBox="1"/>
          <p:nvPr/>
        </p:nvSpPr>
        <p:spPr>
          <a:xfrm>
            <a:off x="9720437" y="2555260"/>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23" name="TextBox 22"/>
          <p:cNvSpPr txBox="1"/>
          <p:nvPr/>
        </p:nvSpPr>
        <p:spPr>
          <a:xfrm>
            <a:off x="9720437" y="340663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4" name="Rounded Rectangle 23"/>
          <p:cNvSpPr/>
          <p:nvPr/>
        </p:nvSpPr>
        <p:spPr>
          <a:xfrm>
            <a:off x="374904" y="4268962"/>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360402"/>
            <a:ext cx="11112703" cy="18758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Относительно этих двух масштабов и читаются все числа раздела: что в генеративном случае считается дёшево, а что дорого, имеет смысл только рядом с ними.</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3618890"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3344570"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патч пространства-времени</a:t>
            </a:r>
          </a:p>
        </p:txBody>
      </p:sp>
      <p:sp>
        <p:nvSpPr>
          <p:cNvPr id="7" name="TextBox 6"/>
          <p:cNvSpPr txBox="1"/>
          <p:nvPr/>
        </p:nvSpPr>
        <p:spPr>
          <a:xfrm>
            <a:off x="640080" y="2716319"/>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4286402"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это просто видео из одного кадра»</a:t>
            </a:r>
          </a:p>
        </p:txBody>
      </p:sp>
      <p:sp>
        <p:nvSpPr>
          <p:cNvPr id="11" name="TextBox 10"/>
          <p:cNvSpPr txBox="1"/>
          <p:nvPr/>
        </p:nvSpPr>
        <p:spPr>
          <a:xfrm>
            <a:off x="4423562"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8069884"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горизонтальный, вертикальный и всё между ними</a:t>
            </a:r>
          </a:p>
        </p:txBody>
      </p:sp>
      <p:sp>
        <p:nvSpPr>
          <p:cNvPr id="15" name="TextBox 14"/>
          <p:cNvSpPr txBox="1"/>
          <p:nvPr/>
        </p:nvSpPr>
        <p:spPr>
          <a:xfrm>
            <a:off x="8207044" y="3140692"/>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TextBox 15"/>
          <p:cNvSpPr txBox="1"/>
          <p:nvPr/>
        </p:nvSpPr>
        <p:spPr>
          <a:xfrm>
            <a:off x="502920" y="3919795"/>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17" name="Rounded Rectangle 16"/>
          <p:cNvSpPr/>
          <p:nvPr/>
        </p:nvSpPr>
        <p:spPr>
          <a:xfrm>
            <a:off x="1920240"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19" name="Right Arrow 18"/>
          <p:cNvSpPr/>
          <p:nvPr/>
        </p:nvSpPr>
        <p:spPr>
          <a:xfrm>
            <a:off x="4202353" y="44088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22" name="Right Arrow 21"/>
          <p:cNvSpPr/>
          <p:nvPr/>
        </p:nvSpPr>
        <p:spPr>
          <a:xfrm>
            <a:off x="6713067" y="44088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25" name="Right Arrow 24"/>
          <p:cNvSpPr/>
          <p:nvPr/>
        </p:nvSpPr>
        <p:spPr>
          <a:xfrm>
            <a:off x="9223781" y="44088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28" name="TextBox 27"/>
          <p:cNvSpPr txBox="1"/>
          <p:nvPr/>
        </p:nvSpPr>
        <p:spPr>
          <a:xfrm>
            <a:off x="502920" y="51081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29" name="Rounded Rectangle 28"/>
          <p:cNvSpPr/>
          <p:nvPr/>
        </p:nvSpPr>
        <p:spPr>
          <a:xfrm>
            <a:off x="374904" y="5410818"/>
            <a:ext cx="11441887" cy="82538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502258"/>
            <a:ext cx="11112703" cy="7339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2616578"/>
          </a:xfrm>
          <a:prstGeom prst="roundRect">
            <a:avLst>
              <a:gd name="adj" fmla="val 1164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9495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Автокодировщик работает токенизатором, модель стоит поверх него</a:t>
            </a:r>
          </a:p>
          <a:p>
            <a:pPr algn="l">
              <a:lnSpc>
                <a:spcPct val="126000"/>
              </a:lnSpc>
            </a:pPr>
            <a:r>
              <a:rPr sz="1450" b="0" i="0">
                <a:solidFill>
                  <a:srgbClr val="21295C"/>
                </a:solidFill>
                <a:latin typeface="Arial"/>
              </a:rPr>
              <a:t>• Расшумление переписывает все токены на каждом шаге</a:t>
            </a:r>
          </a:p>
          <a:p>
            <a:pPr algn="l">
              <a:lnSpc>
                <a:spcPct val="126000"/>
              </a:lnSpc>
            </a:pPr>
            <a:r>
              <a:rPr sz="145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2616578"/>
          </a:xfrm>
          <a:prstGeom prst="roundRect">
            <a:avLst>
              <a:gd name="adj" fmla="val 1164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94950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Сжатие идёт не только по пространству, но и по времени</a:t>
            </a:r>
          </a:p>
          <a:p>
            <a:pPr algn="l">
              <a:lnSpc>
                <a:spcPct val="126000"/>
              </a:lnSpc>
            </a:pPr>
            <a:r>
              <a:rPr sz="14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4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4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105497" cy="327253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555260"/>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337268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2773009"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2910169"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2910169"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504309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5180258" y="2580519"/>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731318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7450348"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4×8×8 у трёх моделей 2024–2025 · 8×8×8 · 8×32×32</a:t>
            </a:r>
          </a:p>
        </p:txBody>
      </p:sp>
      <p:sp>
        <p:nvSpPr>
          <p:cNvPr id="19" name="TextBox 18"/>
          <p:cNvSpPr txBox="1"/>
          <p:nvPr/>
        </p:nvSpPr>
        <p:spPr>
          <a:xfrm>
            <a:off x="7450348"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9583277"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9720437" y="278421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48270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3160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31602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316024"/>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0153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2105497" cy="310843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a:t>
            </a:r>
          </a:p>
        </p:txBody>
      </p:sp>
      <p:sp>
        <p:nvSpPr>
          <p:cNvPr id="6" name="TextBox 5"/>
          <p:cNvSpPr txBox="1"/>
          <p:nvPr/>
        </p:nvSpPr>
        <p:spPr>
          <a:xfrm>
            <a:off x="640080" y="1725375"/>
            <a:ext cx="1831177" cy="724060"/>
          </a:xfrm>
          <a:prstGeom prst="rect">
            <a:avLst/>
          </a:prstGeom>
          <a:noFill/>
        </p:spPr>
        <p:txBody>
          <a:bodyPr wrap="square" lIns="0" rIns="0" tIns="0" bIns="0" anchor="t">
            <a:spAutoFit/>
          </a:bodyPr>
          <a:lstStyle/>
          <a:p>
            <a:pPr algn="l">
              <a:lnSpc>
                <a:spcPct val="108000"/>
              </a:lnSpc>
            </a:pPr>
            <a:r>
              <a:rPr sz="1350" b="1" i="0">
                <a:solidFill>
                  <a:srgbClr val="1C7293"/>
                </a:solidFill>
                <a:latin typeface="Arial"/>
              </a:rPr>
              <a:t>разрешение втрое → обучение в сорок раз медленнее</a:t>
            </a:r>
          </a:p>
        </p:txBody>
      </p:sp>
      <p:sp>
        <p:nvSpPr>
          <p:cNvPr id="7" name="TextBox 6"/>
          <p:cNvSpPr txBox="1"/>
          <p:nvPr/>
        </p:nvSpPr>
        <p:spPr>
          <a:xfrm>
            <a:off x="640080" y="244943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129 кадров при 768 точках против 256 точек</a:t>
            </a:r>
          </a:p>
        </p:txBody>
      </p:sp>
      <p:sp>
        <p:nvSpPr>
          <p:cNvPr id="8" name="Rounded Rectangle 7"/>
          <p:cNvSpPr/>
          <p:nvPr/>
        </p:nvSpPr>
        <p:spPr>
          <a:xfrm>
            <a:off x="2773009"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БЕРЁТСЯ ИМЕННО СОРОК</a:t>
            </a:r>
          </a:p>
        </p:txBody>
      </p:sp>
      <p:sp>
        <p:nvSpPr>
          <p:cNvPr id="10" name="TextBox 9"/>
          <p:cNvSpPr txBox="1"/>
          <p:nvPr/>
        </p:nvSpPr>
        <p:spPr>
          <a:xfrm>
            <a:off x="2910169" y="1932846"/>
            <a:ext cx="1831177"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между девяткой и восьмьюдесятью</a:t>
            </a:r>
          </a:p>
        </p:txBody>
      </p:sp>
      <p:sp>
        <p:nvSpPr>
          <p:cNvPr id="11" name="TextBox 10"/>
          <p:cNvSpPr txBox="1"/>
          <p:nvPr/>
        </p:nvSpPr>
        <p:spPr>
          <a:xfrm>
            <a:off x="2910169" y="2495645"/>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втрое по стороне — вдевятеро по точкам и патчам; внимание квадратично и даёт около восьмидесяти, остальная сеть растёт линейно и разбавляет множитель</a:t>
            </a:r>
          </a:p>
        </p:txBody>
      </p:sp>
      <p:sp>
        <p:nvSpPr>
          <p:cNvPr id="12" name="Rounded Rectangle 11"/>
          <p:cNvSpPr/>
          <p:nvPr/>
        </p:nvSpPr>
        <p:spPr>
          <a:xfrm>
            <a:off x="504309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СХОДИТСЯ</a:t>
            </a:r>
          </a:p>
        </p:txBody>
      </p:sp>
      <p:sp>
        <p:nvSpPr>
          <p:cNvPr id="14" name="TextBox 13"/>
          <p:cNvSpPr txBox="1"/>
          <p:nvPr/>
        </p:nvSpPr>
        <p:spPr>
          <a:xfrm>
            <a:off x="5180258"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арифметика предсказывает порядок, замер подтверждает</a:t>
            </a:r>
          </a:p>
        </p:txBody>
      </p:sp>
      <p:sp>
        <p:nvSpPr>
          <p:cNvPr id="15" name="TextBox 14"/>
          <p:cNvSpPr txBox="1"/>
          <p:nvPr/>
        </p:nvSpPr>
        <p:spPr>
          <a:xfrm>
            <a:off x="5180258"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сорок лежит ровно там, где и должно для сети, где внимание составляет заметную, но не подавляющую долю вычислений</a:t>
            </a:r>
          </a:p>
        </p:txBody>
      </p:sp>
      <p:sp>
        <p:nvSpPr>
          <p:cNvPr id="16" name="Rounded Rectangle 15"/>
          <p:cNvSpPr/>
          <p:nvPr/>
        </p:nvSpPr>
        <p:spPr>
          <a:xfrm>
            <a:off x="7313188"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18" name="TextBox 17"/>
          <p:cNvSpPr txBox="1"/>
          <p:nvPr/>
        </p:nvSpPr>
        <p:spPr>
          <a:xfrm>
            <a:off x="7450348" y="1932846"/>
            <a:ext cx="1831177"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десятисекундный клип втрое дороже пятисекундного</a:t>
            </a:r>
          </a:p>
        </p:txBody>
      </p:sp>
      <p:sp>
        <p:nvSpPr>
          <p:cNvPr id="19" name="TextBox 18"/>
          <p:cNvSpPr txBox="1"/>
          <p:nvPr/>
        </p:nvSpPr>
        <p:spPr>
          <a:xfrm>
            <a:off x="7450348" y="2707831"/>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20" name="Rounded Rectangle 19"/>
          <p:cNvSpPr/>
          <p:nvPr/>
        </p:nvSpPr>
        <p:spPr>
          <a:xfrm>
            <a:off x="9583277" y="1335024"/>
            <a:ext cx="2105497" cy="310843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22" name="TextBox 21"/>
          <p:cNvSpPr txBox="1"/>
          <p:nvPr/>
        </p:nvSpPr>
        <p:spPr>
          <a:xfrm>
            <a:off x="9720437" y="2347789"/>
            <a:ext cx="1831177"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квадратичность · память · данные</a:t>
            </a:r>
          </a:p>
        </p:txBody>
      </p:sp>
      <p:sp>
        <p:nvSpPr>
          <p:cNvPr id="23" name="TextBox 22"/>
          <p:cNvSpPr txBox="1"/>
          <p:nvPr/>
        </p:nvSpPr>
        <p:spPr>
          <a:xfrm>
            <a:off x="9720437" y="3250086"/>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24" name="Rounded Rectangle 23"/>
          <p:cNvSpPr/>
          <p:nvPr/>
        </p:nvSpPr>
        <p:spPr>
          <a:xfrm>
            <a:off x="374904" y="453490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26343"/>
            <a:ext cx="11112703" cy="160986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Длина, разрешение и частота кадров покупаются нелинейно, и арифметика предсказывает это раньше замера: втрое по стороне кадра — вдевятеро по числу точек, а внимание квадратично по их числу.</a:t>
            </a:r>
          </a:p>
        </p:txBody>
      </p:sp>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Rounded Rectangle 19"/>
          <p:cNvSpPr/>
          <p:nvPr/>
        </p:nvSpPr>
        <p:spPr>
          <a:xfrm>
            <a:off x="374904" y="5059239"/>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150679"/>
            <a:ext cx="11112703" cy="108552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Объектное постоянство в интерактивном режиме — это размер окна, и свойством мира оно не является.</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2105497" cy="3068831"/>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И ОНА ЧЕСТНАЯ</a:t>
            </a:r>
          </a:p>
        </p:txBody>
      </p:sp>
      <p:sp>
        <p:nvSpPr>
          <p:cNvPr id="6" name="TextBox 5"/>
          <p:cNvSpPr txBox="1"/>
          <p:nvPr/>
        </p:nvSpPr>
        <p:spPr>
          <a:xfrm>
            <a:off x="640080"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два дубля одной и той же реальной сцены = 100 %</a:t>
            </a:r>
          </a:p>
        </p:txBody>
      </p:sp>
      <p:sp>
        <p:nvSpPr>
          <p:cNvPr id="7" name="TextBox 6"/>
          <p:cNvSpPr txBox="1"/>
          <p:nvPr/>
        </p:nvSpPr>
        <p:spPr>
          <a:xfrm>
            <a:off x="640080" y="2373048"/>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верхняя планка показывает, насколько сама реальность повторяет себя; вместо абстрактного идеала — воспроизводимость физического мира</a:t>
            </a:r>
          </a:p>
        </p:txBody>
      </p:sp>
      <p:sp>
        <p:nvSpPr>
          <p:cNvPr id="8" name="Rounded Rectangle 7"/>
          <p:cNvSpPr/>
          <p:nvPr/>
        </p:nvSpPr>
        <p:spPr>
          <a:xfrm>
            <a:off x="2773009"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ЧЕГО СОБРАНО ИСПЫТАНИЕ</a:t>
            </a:r>
          </a:p>
        </p:txBody>
      </p:sp>
      <p:sp>
        <p:nvSpPr>
          <p:cNvPr id="10" name="TextBox 9"/>
          <p:cNvSpPr txBox="1"/>
          <p:nvPr/>
        </p:nvSpPr>
        <p:spPr>
          <a:xfrm>
            <a:off x="2910169"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396 реальных видеозаписей, 66 сценариев, по три ракурса, по два дубля</a:t>
            </a:r>
          </a:p>
        </p:txBody>
      </p:sp>
      <p:sp>
        <p:nvSpPr>
          <p:cNvPr id="11" name="TextBox 10"/>
          <p:cNvSpPr txBox="1"/>
          <p:nvPr/>
        </p:nvSpPr>
        <p:spPr>
          <a:xfrm>
            <a:off x="2910169" y="278421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проверялись шесть ведущих систем своего времени</a:t>
            </a:r>
          </a:p>
        </p:txBody>
      </p:sp>
      <p:sp>
        <p:nvSpPr>
          <p:cNvPr id="12" name="Rounded Rectangle 11"/>
          <p:cNvSpPr/>
          <p:nvPr/>
        </p:nvSpPr>
        <p:spPr>
          <a:xfrm>
            <a:off x="504309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РЕЗУЛЬТАТ ЛУЧШЕЙ МОДЕЛИ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29,5 %</a:t>
            </a:r>
          </a:p>
        </p:txBody>
      </p:sp>
      <p:sp>
        <p:nvSpPr>
          <p:cNvPr id="15" name="TextBox 14"/>
          <p:cNvSpPr txBox="1"/>
          <p:nvPr/>
        </p:nvSpPr>
        <p:spPr>
          <a:xfrm>
            <a:off x="5180258" y="2359845"/>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«все оценённые модели показывают большой разрыв… что указывает на серьёзно ограниченное физическое понимание»</a:t>
            </a:r>
          </a:p>
        </p:txBody>
      </p:sp>
      <p:sp>
        <p:nvSpPr>
          <p:cNvPr id="16" name="Rounded Rectangle 15"/>
          <p:cNvSpPr/>
          <p:nvPr/>
        </p:nvSpPr>
        <p:spPr>
          <a:xfrm>
            <a:off x="7313188"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18" name="TextBox 17"/>
          <p:cNvSpPr txBox="1"/>
          <p:nvPr/>
        </p:nvSpPr>
        <p:spPr>
          <a:xfrm>
            <a:off x="7450348"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−0,46 при уровне значимости 0,249</a:t>
            </a:r>
          </a:p>
        </p:txBody>
      </p:sp>
      <p:sp>
        <p:nvSpPr>
          <p:cNvPr id="19" name="TextBox 18"/>
          <p:cNvSpPr txBox="1"/>
          <p:nvPr/>
        </p:nvSpPr>
        <p:spPr>
          <a:xfrm>
            <a:off x="7450348" y="27879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20" name="Rounded Rectangle 19"/>
          <p:cNvSpPr/>
          <p:nvPr/>
        </p:nvSpPr>
        <p:spPr>
          <a:xfrm>
            <a:off x="9583277" y="1335024"/>
            <a:ext cx="2105497" cy="3068831"/>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22" name="TextBox 21"/>
          <p:cNvSpPr txBox="1"/>
          <p:nvPr/>
        </p:nvSpPr>
        <p:spPr>
          <a:xfrm>
            <a:off x="9720437" y="1932846"/>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справляются с размазыванием краски по стеклу и выливанием жидкости на резиновую утку</a:t>
            </a:r>
          </a:p>
        </p:txBody>
      </p:sp>
      <p:sp>
        <p:nvSpPr>
          <p:cNvPr id="23" name="TextBox 22"/>
          <p:cNvSpPr txBox="1"/>
          <p:nvPr/>
        </p:nvSpPr>
        <p:spPr>
          <a:xfrm>
            <a:off x="9720437" y="298791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24" name="Rounded Rectangle 23"/>
          <p:cNvSpPr/>
          <p:nvPr/>
        </p:nvSpPr>
        <p:spPr>
          <a:xfrm>
            <a:off x="374904" y="449529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586735"/>
            <a:ext cx="11112703" cy="16494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2105497" cy="338569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«AIR HEAD», АПРЕЛЬ 2024</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к 1</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собственная оценка авторов: отношение исходного материала к вошедшему</a:t>
            </a:r>
          </a:p>
        </p:txBody>
      </p:sp>
      <p:sp>
        <p:nvSpPr>
          <p:cNvPr id="8" name="Rounded Rectangle 7"/>
          <p:cNvSpPr/>
          <p:nvPr/>
        </p:nvSpPr>
        <p:spPr>
          <a:xfrm>
            <a:off x="2773009" y="1335024"/>
            <a:ext cx="2105497" cy="338569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БЕЗ КОТОРОЙ ЭТО ЧИСЛО НЕ ЧИТАЕТСЯ</a:t>
            </a:r>
          </a:p>
        </p:txBody>
      </p:sp>
      <p:sp>
        <p:nvSpPr>
          <p:cNvPr id="10" name="TextBox 9"/>
          <p:cNvSpPr txBox="1"/>
          <p:nvPr/>
        </p:nvSpPr>
        <p:spPr>
          <a:xfrm>
            <a:off x="2910169" y="2140317"/>
            <a:ext cx="1831177" cy="1055071"/>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десятки к одному в документалистике, около десяти к одному в постановочной рекламе</a:t>
            </a:r>
          </a:p>
        </p:txBody>
      </p:sp>
      <p:sp>
        <p:nvSpPr>
          <p:cNvPr id="11" name="TextBox 10"/>
          <p:cNvSpPr txBox="1"/>
          <p:nvPr/>
        </p:nvSpPr>
        <p:spPr>
          <a:xfrm>
            <a:off x="2910169" y="3195389"/>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не изобрела отбор — она увеличила его на порядок-полтора против того режима, которому подражает</a:t>
            </a:r>
          </a:p>
        </p:txBody>
      </p:sp>
      <p:sp>
        <p:nvSpPr>
          <p:cNvPr id="12" name="Rounded Rectangle 11"/>
          <p:cNvSpPr/>
          <p:nvPr/>
        </p:nvSpPr>
        <p:spPr>
          <a:xfrm>
            <a:off x="5043098" y="1335024"/>
            <a:ext cx="2105497" cy="3385696"/>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14" name="TextBox 13"/>
          <p:cNvSpPr txBox="1"/>
          <p:nvPr/>
        </p:nvSpPr>
        <p:spPr>
          <a:xfrm>
            <a:off x="5180258" y="1932846"/>
            <a:ext cx="1831177" cy="749522"/>
          </a:xfrm>
          <a:prstGeom prst="rect">
            <a:avLst/>
          </a:prstGeom>
          <a:noFill/>
        </p:spPr>
        <p:txBody>
          <a:bodyPr wrap="square" lIns="0" rIns="0" tIns="0" bIns="0" anchor="t">
            <a:spAutoFit/>
          </a:bodyPr>
          <a:lstStyle/>
          <a:p>
            <a:pPr algn="l">
              <a:lnSpc>
                <a:spcPct val="108000"/>
              </a:lnSpc>
            </a:pPr>
            <a:r>
              <a:rPr sz="1400" b="1" i="0">
                <a:solidFill>
                  <a:srgbClr val="1C7293"/>
                </a:solidFill>
                <a:latin typeface="Arial"/>
              </a:rPr>
              <a:t>сотни итеративных планов → пара десятков</a:t>
            </a:r>
          </a:p>
        </p:txBody>
      </p:sp>
      <p:sp>
        <p:nvSpPr>
          <p:cNvPr id="15" name="TextBox 14"/>
          <p:cNvSpPr txBox="1"/>
          <p:nvPr/>
        </p:nvSpPr>
        <p:spPr>
          <a:xfrm>
            <a:off x="5180258" y="2682369"/>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ролик длиной 66 секунд. Единственное защитимое в публичном поле отношение генераций к годному: названо первоисточником, с именами студии и режиссёра</a:t>
            </a:r>
          </a:p>
        </p:txBody>
      </p:sp>
      <p:sp>
        <p:nvSpPr>
          <p:cNvPr id="16" name="Rounded Rectangle 15"/>
          <p:cNvSpPr/>
          <p:nvPr/>
        </p:nvSpPr>
        <p:spPr>
          <a:xfrm>
            <a:off x="7313188" y="1335024"/>
            <a:ext cx="2105497" cy="338569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8" name="TextBox 17"/>
          <p:cNvSpPr txBox="1"/>
          <p:nvPr/>
        </p:nvSpPr>
        <p:spPr>
          <a:xfrm>
            <a:off x="7450348" y="1932846"/>
            <a:ext cx="1831177"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это один ролик одной студии</a:t>
            </a:r>
          </a:p>
        </p:txBody>
      </p:sp>
      <p:sp>
        <p:nvSpPr>
          <p:cNvPr id="19" name="TextBox 18"/>
          <p:cNvSpPr txBox="1"/>
          <p:nvPr/>
        </p:nvSpPr>
        <p:spPr>
          <a:xfrm>
            <a:off x="7450348" y="308976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20" name="Rounded Rectangle 19"/>
          <p:cNvSpPr/>
          <p:nvPr/>
        </p:nvSpPr>
        <p:spPr>
          <a:xfrm>
            <a:off x="9583277" y="1335024"/>
            <a:ext cx="2105497" cy="3385696"/>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«три генерации на годный кадр» и «шесть-двенадцать на один удачный»</a:t>
            </a:r>
          </a:p>
        </p:txBody>
      </p:sp>
      <p:sp>
        <p:nvSpPr>
          <p:cNvPr id="23" name="TextBox 22"/>
          <p:cNvSpPr txBox="1"/>
          <p:nvPr/>
        </p:nvSpPr>
        <p:spPr>
          <a:xfrm>
            <a:off x="9720437" y="278421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24" name="Rounded Rectangle 23"/>
          <p:cNvSpPr/>
          <p:nvPr/>
        </p:nvSpPr>
        <p:spPr>
          <a:xfrm>
            <a:off x="374904" y="4812160"/>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903600"/>
            <a:ext cx="11112703" cy="13326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Между ценой одной попытки и ценой одного годного результата стоит коэффициент отбора, которого в прейскуранте нет ни словом.</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Классический конвейер ассета и пять способов получить данные</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14" name="Rounded Rectangle 13"/>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16" name="Right Arrow 15"/>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19" name="Right Arrow 18"/>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22" name="Right Arrow 21"/>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26" name="Rounded Rectangle 25"/>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28" name="Right Arrow 27"/>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31" name="TextBox 30"/>
          <p:cNvSpPr txBox="1"/>
          <p:nvPr/>
        </p:nvSpPr>
        <p:spPr>
          <a:xfrm>
            <a:off x="502920" y="45162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32" name="Rounded Rectangle 31"/>
          <p:cNvSpPr/>
          <p:nvPr/>
        </p:nvSpPr>
        <p:spPr>
          <a:xfrm>
            <a:off x="374904" y="48189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вошла в этот конвейер не целиком.</a:t>
            </a:r>
            <a:r>
              <a:rPr sz="1500" b="0" i="0">
                <a:solidFill>
                  <a:srgbClr val="21295C"/>
                </a:solidFill>
                <a:latin typeface="Arial"/>
              </a:rPr>
              <a:t> Она добавила шестой вход и удешевила первый; семь стадий из девяти остались там же, где были.</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способов получить данные о реальном объекте и что из них тронула модель</a:t>
            </a:r>
          </a:p>
        </p:txBody>
      </p:sp>
      <p:sp>
        <p:nvSpPr>
          <p:cNvPr id="4" name="TextBox 3"/>
          <p:cNvSpPr txBox="1"/>
          <p:nvPr/>
        </p:nvSpPr>
        <p:spPr>
          <a:xfrm>
            <a:off x="502920" y="1371600"/>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Пять классических входов</a:t>
            </a:r>
          </a:p>
        </p:txBody>
      </p:sp>
      <p:sp>
        <p:nvSpPr>
          <p:cNvPr id="5" name="Rounded Rectangle 4"/>
          <p:cNvSpPr/>
          <p:nvPr/>
        </p:nvSpPr>
        <p:spPr>
          <a:xfrm>
            <a:off x="2011680" y="1335024"/>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фотограмметрия — обход с камерой, сотни кадров с перекрытием</a:t>
            </a:r>
          </a:p>
        </p:txBody>
      </p:sp>
      <p:sp>
        <p:nvSpPr>
          <p:cNvPr id="8" name="Rounded Rectangle 7"/>
          <p:cNvSpPr/>
          <p:nvPr/>
        </p:nvSpPr>
        <p:spPr>
          <a:xfrm>
            <a:off x="4499533"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лазерное сканирование — прибор меряет расстояние: точнее по форме, беднее по цвету</a:t>
            </a:r>
          </a:p>
        </p:txBody>
      </p:sp>
      <p:sp>
        <p:nvSpPr>
          <p:cNvPr id="10" name="Rounded Rectangle 9"/>
          <p:cNvSpPr/>
          <p:nvPr/>
        </p:nvSpPr>
        <p:spPr>
          <a:xfrm>
            <a:off x="6895947"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ручное моделирование — единственный способ получить несуществующий объект</a:t>
            </a:r>
          </a:p>
        </p:txBody>
      </p:sp>
      <p:sp>
        <p:nvSpPr>
          <p:cNvPr id="12" name="Rounded Rectangle 11"/>
          <p:cNvSpPr/>
          <p:nvPr/>
        </p:nvSpPr>
        <p:spPr>
          <a:xfrm>
            <a:off x="9292361"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захват движения · готовые библиотеки — самый дешёвый путь и самый узкий</a:t>
            </a:r>
          </a:p>
        </p:txBody>
      </p:sp>
      <p:sp>
        <p:nvSpPr>
          <p:cNvPr id="14" name="TextBox 13"/>
          <p:cNvSpPr txBox="1"/>
          <p:nvPr/>
        </p:nvSpPr>
        <p:spPr>
          <a:xfrm>
            <a:off x="502920" y="2581538"/>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тронула модель</a:t>
            </a:r>
          </a:p>
        </p:txBody>
      </p:sp>
      <p:sp>
        <p:nvSpPr>
          <p:cNvPr id="15" name="Rounded Rectangle 14"/>
          <p:cNvSpPr/>
          <p:nvPr/>
        </p:nvSpPr>
        <p:spPr>
          <a:xfrm>
            <a:off x="2011680" y="2544962"/>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добавила шестой вход — текстовое описание</a:t>
            </a:r>
          </a:p>
        </p:txBody>
      </p:sp>
      <p:sp>
        <p:nvSpPr>
          <p:cNvPr id="18" name="Rounded Rectangle 17"/>
          <p:cNvSpPr/>
          <p:nvPr/>
        </p:nvSpPr>
        <p:spPr>
          <a:xfrm>
            <a:off x="4499533"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удешевила первый: набор снимков в сцену за минуты вместо суток</a:t>
            </a:r>
          </a:p>
        </p:txBody>
      </p:sp>
      <p:sp>
        <p:nvSpPr>
          <p:cNvPr id="20" name="Rounded Rectangle 19"/>
          <p:cNvSpPr/>
          <p:nvPr/>
        </p:nvSpPr>
        <p:spPr>
          <a:xfrm>
            <a:off x="6895947"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остальные четыре оставила как были</a:t>
            </a:r>
          </a:p>
        </p:txBody>
      </p:sp>
      <p:sp>
        <p:nvSpPr>
          <p:cNvPr id="22" name="Rounded Rectangle 21"/>
          <p:cNvSpPr/>
          <p:nvPr/>
        </p:nvSpPr>
        <p:spPr>
          <a:xfrm>
            <a:off x="9292361"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ни одного измерения не добавила: мерит по-прежнему лазерный сканер</a:t>
            </a:r>
          </a:p>
        </p:txBody>
      </p:sp>
      <p:sp>
        <p:nvSpPr>
          <p:cNvPr id="24" name="TextBox 23"/>
          <p:cNvSpPr txBox="1"/>
          <p:nvPr/>
        </p:nvSpPr>
        <p:spPr>
          <a:xfrm>
            <a:off x="502920" y="371832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Шесть входов стадии: пять классических и один добавленный моделью</a:t>
            </a:r>
          </a:p>
        </p:txBody>
      </p:sp>
      <p:sp>
        <p:nvSpPr>
          <p:cNvPr id="25" name="Rounded Rectangle 24"/>
          <p:cNvSpPr/>
          <p:nvPr/>
        </p:nvSpPr>
        <p:spPr>
          <a:xfrm>
            <a:off x="374904" y="4024779"/>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116219"/>
            <a:ext cx="11112703" cy="2119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добавила один вход и удешевила один — и не добавила ни одного измерения.</a:t>
            </a:r>
            <a:r>
              <a:rPr sz="1500" b="0" i="0">
                <a:solidFill>
                  <a:srgbClr val="21295C"/>
                </a:solidFill>
                <a:latin typeface="Arial"/>
              </a:rPr>
              <a:t> Побочный продукт фотограмметрии — разреженное облако точек — позже окажется стартовой точкой для обученного метода восстановления сцены.</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932846"/>
            <a:ext cx="1438166"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плёнка 1939 года, кадр 4:3</a:t>
            </a:r>
          </a:p>
        </p:txBody>
      </p:sp>
      <p:sp>
        <p:nvSpPr>
          <p:cNvPr id="7" name="TextBox 6"/>
          <p:cNvSpPr txBox="1"/>
          <p:nvPr/>
        </p:nvSpPr>
        <p:spPr>
          <a:xfrm>
            <a:off x="640080" y="2512620"/>
            <a:ext cx="1438166"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2379998" y="1335024"/>
            <a:ext cx="1712486" cy="3446051"/>
          </a:xfrm>
          <a:prstGeom prst="roundRect">
            <a:avLst>
              <a:gd name="adj" fmla="val 177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17158"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2517158" y="1932846"/>
            <a:ext cx="1438166"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свыше 90% кадра</a:t>
            </a:r>
          </a:p>
        </p:txBody>
      </p:sp>
      <p:sp>
        <p:nvSpPr>
          <p:cNvPr id="11" name="TextBox 10"/>
          <p:cNvSpPr txBox="1"/>
          <p:nvPr/>
        </p:nvSpPr>
        <p:spPr>
          <a:xfrm>
            <a:off x="2517158" y="2682369"/>
            <a:ext cx="143816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4257076"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394236"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4394236" y="2347789"/>
            <a:ext cx="143816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4394236" y="3165211"/>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34155"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271315"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271315" y="2347789"/>
            <a:ext cx="1438166"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не опубликована</a:t>
            </a:r>
          </a:p>
        </p:txBody>
      </p:sp>
      <p:sp>
        <p:nvSpPr>
          <p:cNvPr id="19" name="TextBox 18"/>
          <p:cNvSpPr txBox="1"/>
          <p:nvPr/>
        </p:nvSpPr>
        <p:spPr>
          <a:xfrm>
            <a:off x="6271315" y="2910587"/>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374904" y="4872515"/>
            <a:ext cx="7599753" cy="1363692"/>
          </a:xfrm>
          <a:prstGeom prst="roundRect">
            <a:avLst>
              <a:gd name="adj" fmla="val 223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63955"/>
            <a:ext cx="7270569" cy="12722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Авторы формулируют прямо: то, что они делают, — «не реставрация в духе Скорсезе».</a:t>
            </a:r>
            <a:r>
              <a:rPr sz="1500" b="0" i="0">
                <a:solidFill>
                  <a:srgbClr val="21295C"/>
                </a:solidFill>
                <a:latin typeface="Arial"/>
              </a:rPr>
              <a:t> Граница между восстановлением и выдумыванием переехала молча, внутри работы, которую зритель покупает как «тот самый фильм».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Сравнение одностороннее: классический режим назван, и своего числа у него нет.</a:t>
            </a:r>
          </a:p>
        </p:txBody>
      </p:sp>
      <p:sp>
        <p:nvSpPr>
          <p:cNvPr id="22" name="Rounded Rectangle 21"/>
          <p:cNvSpPr/>
          <p:nvPr/>
        </p:nvSpPr>
        <p:spPr>
          <a:xfrm>
            <a:off x="8157537" y="1335024"/>
            <a:ext cx="3531237" cy="4389120"/>
          </a:xfrm>
          <a:prstGeom prst="roundRect">
            <a:avLst>
              <a:gd name="adj" fmla="val 8631"/>
            </a:avLst>
          </a:prstGeom>
          <a:solidFill>
            <a:srgbClr val="F4F7FA"/>
          </a:solidFill>
          <a:ln w="19050">
            <a:solidFill>
              <a:srgbClr val="1C7293"/>
            </a:solidFill>
          </a:ln>
          <a:effectLst/>
        </p:spPr>
        <p:txBody>
          <a:bodyPr rtlCol="0" anchor="ctr"/>
          <a:lstStyle/>
          <a:p>
            <a:pPr algn="ctr"/>
          </a:p>
        </p:txBody>
      </p:sp>
      <p:pic>
        <p:nvPicPr>
          <p:cNvPr id="23" name="Picture 22" descr="s69-wizard-of-oz-1939.jpg"/>
          <p:cNvPicPr>
            <a:picLocks noChangeAspect="1"/>
          </p:cNvPicPr>
          <p:nvPr/>
        </p:nvPicPr>
        <p:blipFill>
          <a:blip r:embed="rId2"/>
          <a:stretch>
            <a:fillRect/>
          </a:stretch>
        </p:blipFill>
        <p:spPr>
          <a:xfrm>
            <a:off x="8294697" y="1472184"/>
            <a:ext cx="3256917" cy="4114800"/>
          </a:xfrm>
          <a:prstGeom prst="rect">
            <a:avLst/>
          </a:prstGeom>
        </p:spPr>
      </p:pic>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Sphere Entertainment и Warner Bros., заявления о проекте 2025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в этом разборе посчитано и что нет</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Классические режимы</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1 — реставрация и доработка под купол обычным путём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практика существует давно, стоимости в источниках нет</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2 — показать кадр 4:3 без достройки: авторы рассмотрели и отвергли</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числа нет и у него: выигрыш от нуля ничего не измеряет</a:t>
            </a:r>
          </a:p>
        </p:txBody>
      </p:sp>
      <p:sp>
        <p:nvSpPr>
          <p:cNvPr id="14" name="TextBox 13"/>
          <p:cNvSpPr txBox="1"/>
          <p:nvPr/>
        </p:nvSpPr>
        <p:spPr>
          <a:xfrm>
            <a:off x="502920" y="2304909"/>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это сделано</a:t>
            </a:r>
          </a:p>
        </p:txBody>
      </p:sp>
      <p:sp>
        <p:nvSpPr>
          <p:cNvPr id="15" name="Rounded Rectangle 14"/>
          <p:cNvSpPr/>
          <p:nvPr/>
        </p:nvSpPr>
        <p:spPr>
          <a:xfrm>
            <a:off x="2011680" y="2268333"/>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вход — исходная плёнка 1939 года, кадр 4:3</a:t>
            </a:r>
          </a:p>
        </p:txBody>
      </p:sp>
      <p:sp>
        <p:nvSpPr>
          <p:cNvPr id="18" name="Rounded Rectangle 17"/>
          <p:cNvSpPr/>
          <p:nvPr/>
        </p:nvSpPr>
        <p:spPr>
          <a:xfrm>
            <a:off x="4499533"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достройка и дорисовка — Imagen, Veo и Gemini</a:t>
            </a:r>
          </a:p>
        </p:txBody>
      </p:sp>
      <p:sp>
        <p:nvSpPr>
          <p:cNvPr id="20" name="Rounded Rectangle 19"/>
          <p:cNvSpPr/>
          <p:nvPr/>
        </p:nvSpPr>
        <p:spPr>
          <a:xfrm>
            <a:off x="6895947"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разрешение и зерно — Topaz Video AI; права — Warner Bros.</a:t>
            </a:r>
          </a:p>
        </p:txBody>
      </p:sp>
      <p:sp>
        <p:nvSpPr>
          <p:cNvPr id="22" name="Rounded Rectangle 21"/>
          <p:cNvSpPr/>
          <p:nvPr/>
        </p:nvSpPr>
        <p:spPr>
          <a:xfrm>
            <a:off x="9292361"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звук — партитура Герберта Стотхарта перезаписана, добавлены эффекты зала</a:t>
            </a:r>
          </a:p>
        </p:txBody>
      </p:sp>
      <p:sp>
        <p:nvSpPr>
          <p:cNvPr id="24" name="TextBox 23"/>
          <p:cNvSpPr txBox="1"/>
          <p:nvPr/>
        </p:nvSpPr>
        <p:spPr>
          <a:xfrm>
            <a:off x="502920" y="316506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классических режима названы, ни один не посчитан — и потому выигрыш не объявляется вовсе</a:t>
            </a:r>
          </a:p>
        </p:txBody>
      </p:sp>
      <p:sp>
        <p:nvSpPr>
          <p:cNvPr id="25" name="Rounded Rectangle 24"/>
          <p:cNvSpPr/>
          <p:nvPr/>
        </p:nvSpPr>
        <p:spPr>
          <a:xfrm>
            <a:off x="374904" y="347152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562963"/>
            <a:ext cx="11112703" cy="26732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не объявляется вовсе.</a:t>
            </a:r>
            <a:r>
              <a:rPr sz="1500" b="0" i="0">
                <a:solidFill>
                  <a:srgbClr val="21295C"/>
                </a:solidFill>
                <a:latin typeface="Arial"/>
              </a:rPr>
              <a:t> Классический режим назван обеими своими формами, и ни у одной из них нет опубликованной цены — посчитанный от нуля выигрыш ничего не измеряет.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Двух вещей в источниках нет совсем:</a:t>
            </a:r>
            <a:r>
              <a:rPr sz="1500" b="0" i="0">
                <a:solidFill>
                  <a:srgbClr val="21295C"/>
                </a:solidFill>
                <a:latin typeface="Arial"/>
              </a:rPr>
              <a:t> на чём обучены применённые модели и кто покадрово решал «достраивать или нет» и по какому порогу.</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93284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70 раз</a:t>
            </a:r>
          </a:p>
        </p:txBody>
      </p:sp>
      <p:sp>
        <p:nvSpPr>
          <p:cNvPr id="7" name="TextBox 6"/>
          <p:cNvSpPr txBox="1"/>
          <p:nvPr/>
        </p:nvSpPr>
        <p:spPr>
          <a:xfrm>
            <a:off x="640080" y="2376820"/>
            <a:ext cx="1473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241493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2552090" y="1725375"/>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2 200 раз</a:t>
            </a:r>
          </a:p>
        </p:txBody>
      </p:sp>
      <p:sp>
        <p:nvSpPr>
          <p:cNvPr id="11" name="TextBox 10"/>
          <p:cNvSpPr txBox="1"/>
          <p:nvPr/>
        </p:nvSpPr>
        <p:spPr>
          <a:xfrm>
            <a:off x="2552090" y="2373048"/>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4326940" y="1335024"/>
            <a:ext cx="1747418" cy="286890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4464100" y="2140317"/>
            <a:ext cx="1473098"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больше примерно в 85 раз</a:t>
            </a:r>
          </a:p>
        </p:txBody>
      </p:sp>
      <p:sp>
        <p:nvSpPr>
          <p:cNvPr id="15" name="TextBox 14"/>
          <p:cNvSpPr txBox="1"/>
          <p:nvPr/>
        </p:nvSpPr>
        <p:spPr>
          <a:xfrm>
            <a:off x="4464100" y="2584291"/>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18303"/>
            <a:ext cx="11112703" cy="15179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 и поменялась сразу в обе стороны.</a:t>
            </a:r>
          </a:p>
        </p:txBody>
      </p:sp>
      <p:sp>
        <p:nvSpPr>
          <p:cNvPr id="18" name="Rounded Rectangle 17"/>
          <p:cNvSpPr/>
          <p:nvPr/>
        </p:nvSpPr>
        <p:spPr>
          <a:xfrm>
            <a:off x="6385255" y="1335024"/>
            <a:ext cx="5303520" cy="3291839"/>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1-3dgs-viewer.jpg"/>
          <p:cNvPicPr>
            <a:picLocks noChangeAspect="1"/>
          </p:cNvPicPr>
          <p:nvPr/>
        </p:nvPicPr>
        <p:blipFill>
          <a:blip r:embed="rId2"/>
          <a:stretch>
            <a:fillRect/>
          </a:stretch>
        </p:blipFill>
        <p:spPr>
          <a:xfrm>
            <a:off x="6522415" y="1472184"/>
            <a:ext cx="502920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Kerbl et al., SIGGRAPH 2023, arXiv:2308.04079; Mildenhall et al., ECCV 2020, arXiv:2003.08934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Поле излучения и гауссово спрыскивание: два устройства одной сцены</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Поле излучения, 2020</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снимки с известными положениями камер</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одна небольшая сеть: точка и взгляд → плотность и цвет</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прогоны сети вдоль луча: 150–200 млн запросов</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48 часов · 0,06 кадра/с · 8,6 МБ · качество 27,69</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Гауссово спрыскивание, 2023</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те же снимки и облако точек после калибровки</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вытянутые полупрозрачные кляксы: форма, цвет, прозрачность</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одна проекция на кляксу обычным растеризатором</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41 минута · 134 кадра/с · 734 МБ · качество 27,21</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Разницу в четырёх величинах создаёт вид, в котором хранится сцена</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Разницу создаёт устройство сцены; размер модели здесь вторичен.</a:t>
            </a:r>
            <a:r>
              <a:rPr sz="1500" b="0" i="0">
                <a:solidFill>
                  <a:srgbClr val="21295C"/>
                </a:solidFill>
                <a:latin typeface="Arial"/>
              </a:rPr>
              <a:t> Классический метод того же назначения требовал больше 15 гигабайт на сцену — против 8,6 мегабайта у поля излучения, то есть сжатие примерно в три тысячи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названные самими авторами спрыскивания:</a:t>
            </a:r>
            <a:r>
              <a:rPr sz="1500" b="0" i="0">
                <a:solidFill>
                  <a:srgbClr val="21295C"/>
                </a:solidFill>
                <a:latin typeface="Arial"/>
              </a:rPr>
              <a:t> вытянутые пятнистые кляксы в плохо просмотренных местах сцены · внезапные переключения порядка смешивания при движении камеры · регуляризации нет вовсе — метод обязан воспроизвести снимки, а не описать сцену физически осмысленно.</a:t>
            </a:r>
          </a:p>
        </p:txBody>
      </p:sp>
      <p:sp>
        <p:nvSpPr>
          <p:cNvPr id="33" name="Rectangle 3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932846"/>
            <a:ext cx="1473098"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примерно в 2 200 раз</a:t>
            </a:r>
          </a:p>
        </p:txBody>
      </p:sp>
      <p:sp>
        <p:nvSpPr>
          <p:cNvPr id="7" name="TextBox 6"/>
          <p:cNvSpPr txBox="1"/>
          <p:nvPr/>
        </p:nvSpPr>
        <p:spPr>
          <a:xfrm>
            <a:off x="640080" y="268236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2414930" y="1335024"/>
            <a:ext cx="1747418" cy="2617109"/>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2552090" y="1932846"/>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85 раз</a:t>
            </a:r>
          </a:p>
        </p:txBody>
      </p:sp>
      <p:sp>
        <p:nvSpPr>
          <p:cNvPr id="11" name="TextBox 10"/>
          <p:cNvSpPr txBox="1"/>
          <p:nvPr/>
        </p:nvSpPr>
        <p:spPr>
          <a:xfrm>
            <a:off x="2552090" y="2733293"/>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432694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4464100" y="1932846"/>
            <a:ext cx="1473098"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разница меньше полудецибела</a:t>
            </a:r>
          </a:p>
        </p:txBody>
      </p:sp>
      <p:sp>
        <p:nvSpPr>
          <p:cNvPr id="15" name="TextBox 14"/>
          <p:cNvSpPr txBox="1"/>
          <p:nvPr/>
        </p:nvSpPr>
        <p:spPr>
          <a:xfrm>
            <a:off x="4464100" y="275875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4139660"/>
            <a:ext cx="11441887" cy="2096547"/>
          </a:xfrm>
          <a:prstGeom prst="roundRect">
            <a:avLst>
              <a:gd name="adj" fmla="val 145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31100"/>
            <a:ext cx="11112703" cy="20051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«что за это заплачено» имеет ответ всегда.</a:t>
            </a:r>
            <a:r>
              <a:rPr sz="1500" b="0" i="0">
                <a:solidFill>
                  <a:srgbClr val="21295C"/>
                </a:solidFill>
                <a:latin typeface="Arial"/>
              </a:rPr>
              <a:t> Когда в описании технологии названа только выигравшая величина, проигравшую не показали: в рецензируемой работе она стояла в той же таблице четвёртой колонкой.</a:t>
            </a:r>
          </a:p>
        </p:txBody>
      </p:sp>
      <p:sp>
        <p:nvSpPr>
          <p:cNvPr id="18" name="Rounded Rectangle 17"/>
          <p:cNvSpPr/>
          <p:nvPr/>
        </p:nvSpPr>
        <p:spPr>
          <a:xfrm>
            <a:off x="6385255" y="1335024"/>
            <a:ext cx="5303520" cy="2804636"/>
          </a:xfrm>
          <a:prstGeom prst="roundRect">
            <a:avLst>
              <a:gd name="adj" fmla="val 10867"/>
            </a:avLst>
          </a:prstGeom>
          <a:solidFill>
            <a:srgbClr val="F4F7FA"/>
          </a:solidFill>
          <a:ln w="19050">
            <a:solidFill>
              <a:srgbClr val="1C7293"/>
            </a:solidFill>
          </a:ln>
          <a:effectLst/>
        </p:spPr>
        <p:txBody>
          <a:bodyPr rtlCol="0" anchor="ctr"/>
          <a:lstStyle/>
          <a:p>
            <a:pPr algn="ctr"/>
          </a:p>
        </p:txBody>
      </p:sp>
      <p:pic>
        <p:nvPicPr>
          <p:cNvPr id="19" name="Picture 18" descr="s72-polycam-splatting.png"/>
          <p:cNvPicPr>
            <a:picLocks noChangeAspect="1"/>
          </p:cNvPicPr>
          <p:nvPr/>
        </p:nvPicPr>
        <p:blipFill>
          <a:blip r:embed="rId2"/>
          <a:stretch>
            <a:fillRect/>
          </a:stretch>
        </p:blipFill>
        <p:spPr>
          <a:xfrm>
            <a:off x="6522415" y="1472184"/>
            <a:ext cx="5029200" cy="2530316"/>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1,5 часа на объект</a:t>
            </a:r>
          </a:p>
        </p:txBody>
      </p:sp>
      <p:sp>
        <p:nvSpPr>
          <p:cNvPr id="7" name="TextBox 6"/>
          <p:cNvSpPr txBox="1"/>
          <p:nvPr/>
        </p:nvSpPr>
        <p:spPr>
          <a:xfrm>
            <a:off x="640080" y="291058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241493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2552090" y="2140317"/>
            <a:ext cx="147309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10 секунд на объект</a:t>
            </a:r>
          </a:p>
        </p:txBody>
      </p:sp>
      <p:sp>
        <p:nvSpPr>
          <p:cNvPr id="11" name="TextBox 10"/>
          <p:cNvSpPr txBox="1"/>
          <p:nvPr/>
        </p:nvSpPr>
        <p:spPr>
          <a:xfrm>
            <a:off x="2552090" y="2652191"/>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4326940" y="1335024"/>
            <a:ext cx="1747418" cy="280666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446410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500 раз</a:t>
            </a:r>
          </a:p>
        </p:txBody>
      </p:sp>
      <p:sp>
        <p:nvSpPr>
          <p:cNvPr id="15" name="TextBox 14"/>
          <p:cNvSpPr txBox="1"/>
          <p:nvPr/>
        </p:nvSpPr>
        <p:spPr>
          <a:xfrm>
            <a:off x="4464100" y="2525822"/>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374904" y="423312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24567"/>
            <a:ext cx="11112703" cy="19116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18" name="Rounded Rectangle 17"/>
          <p:cNvSpPr/>
          <p:nvPr/>
        </p:nvSpPr>
        <p:spPr>
          <a:xfrm>
            <a:off x="6385255" y="1335024"/>
            <a:ext cx="5303520" cy="1766775"/>
          </a:xfrm>
          <a:prstGeom prst="roundRect">
            <a:avLst>
              <a:gd name="adj" fmla="val 17251"/>
            </a:avLst>
          </a:prstGeom>
          <a:solidFill>
            <a:srgbClr val="F4F7FA"/>
          </a:solidFill>
          <a:ln w="19050">
            <a:solidFill>
              <a:srgbClr val="1C7293"/>
            </a:solidFill>
          </a:ln>
          <a:effectLst/>
        </p:spPr>
        <p:txBody>
          <a:bodyPr rtlCol="0" anchor="ctr"/>
          <a:lstStyle/>
          <a:p>
            <a:pPr algn="ctr"/>
          </a:p>
        </p:txBody>
      </p:sp>
      <p:pic>
        <p:nvPicPr>
          <p:cNvPr id="19" name="Picture 18" descr="s73-nerf-pipeline.jpg"/>
          <p:cNvPicPr>
            <a:picLocks noChangeAspect="1"/>
          </p:cNvPicPr>
          <p:nvPr/>
        </p:nvPicPr>
        <p:blipFill>
          <a:blip r:embed="rId2"/>
          <a:stretch>
            <a:fillRect/>
          </a:stretch>
        </p:blipFill>
        <p:spPr>
          <a:xfrm>
            <a:off x="6522415" y="1472184"/>
            <a:ext cx="5029200" cy="1492455"/>
          </a:xfrm>
          <a:prstGeom prst="rect">
            <a:avLst/>
          </a:prstGeom>
        </p:spPr>
      </p:pic>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Poole et al., arXiv:2209.14988; Microsoft Research TRELLIS, arXiv:2412.01506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устроены оба способа получить объект</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Оптимизация через рендер, 2022</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плоская модель не меняется вообще — она судья формы</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случайное поле излучения рендерят со случайного ракурса</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оценивает вид, поле подкручивают — и так 15 000 раз</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1,5 часа; трёхмерных данных не нужно</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 сразу в трёхмерном, 2024</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один раз: 500 тысяч объектов, 64 ускорителя</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генератор — трансформер на спрямлённом потоке, 2 млрд параметров</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одно внутреннее представление декодируется в три формата</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10 секунд, один прямой проход</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Одна и та же выдача получена двумя разными устройствами — и стоимость стоит в разных местах</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Трёхмерных обучающих данных первому способу не нужно ни одного.</a:t>
            </a:r>
            <a:r>
              <a:rPr sz="1500" b="0" i="0">
                <a:solidFill>
                  <a:srgbClr val="21295C"/>
                </a:solidFill>
                <a:latin typeface="Arial"/>
              </a:rPr>
              <a:t> Второму нужен корпус в полмиллиона объектов — и именно туда переехала стоимость.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формата выдачи у второго способа:</a:t>
            </a:r>
            <a:r>
              <a:rPr sz="1500" b="0" i="0">
                <a:solidFill>
                  <a:srgbClr val="21295C"/>
                </a:solidFill>
                <a:latin typeface="Arial"/>
              </a:rPr>
              <a:t> поле излучения, кляксы и сетка многоугольников — из одного внутреннего представления. </a:t>
            </a:r>
            <a:r>
              <a:rPr sz="1500" b="1" i="0">
                <a:solidFill>
                  <a:srgbClr val="21295C"/>
                </a:solidFill>
                <a:latin typeface="Arial"/>
              </a:rPr>
              <a:t>Цена изящности первого:</a:t>
            </a:r>
            <a:r>
              <a:rPr sz="1500" b="0" i="0">
                <a:solidFill>
                  <a:srgbClr val="21295C"/>
                </a:solidFill>
                <a:latin typeface="Arial"/>
              </a:rPr>
              <a:t> время делится поровну между рендером поля и прогоном плоской модели, и полный прогон делается на каждом из пятнадцати тысяч шагов.</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2140317"/>
            <a:ext cx="138371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30 секунд на кадр</a:t>
            </a:r>
          </a:p>
        </p:txBody>
      </p:sp>
      <p:sp>
        <p:nvSpPr>
          <p:cNvPr id="7" name="TextBox 6"/>
          <p:cNvSpPr txBox="1"/>
          <p:nvPr/>
        </p:nvSpPr>
        <p:spPr>
          <a:xfrm>
            <a:off x="640080" y="2652191"/>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2325547"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2462707" y="2555260"/>
            <a:ext cx="13837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 миллисекунды на кадр</a:t>
            </a:r>
          </a:p>
        </p:txBody>
      </p:sp>
      <p:sp>
        <p:nvSpPr>
          <p:cNvPr id="11" name="TextBox 10"/>
          <p:cNvSpPr txBox="1"/>
          <p:nvPr/>
        </p:nvSpPr>
        <p:spPr>
          <a:xfrm>
            <a:off x="2462707" y="3202933"/>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4148175" y="1335024"/>
            <a:ext cx="1658035" cy="3483773"/>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85335" y="1472184"/>
            <a:ext cx="138371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4285335" y="2347789"/>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примерно в 30 000 раз</a:t>
            </a:r>
          </a:p>
        </p:txBody>
      </p:sp>
      <p:sp>
        <p:nvSpPr>
          <p:cNvPr id="15" name="TextBox 14"/>
          <p:cNvSpPr txBox="1"/>
          <p:nvPr/>
        </p:nvSpPr>
        <p:spPr>
          <a:xfrm>
            <a:off x="4285335" y="2995462"/>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5970803"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107963" y="2140317"/>
            <a:ext cx="138371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15 пикселей из каждых 16</a:t>
            </a:r>
          </a:p>
        </p:txBody>
      </p:sp>
      <p:sp>
        <p:nvSpPr>
          <p:cNvPr id="19" name="TextBox 18"/>
          <p:cNvSpPr txBox="1"/>
          <p:nvPr/>
        </p:nvSpPr>
        <p:spPr>
          <a:xfrm>
            <a:off x="6107963" y="2720091"/>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374904" y="491023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001677"/>
            <a:ext cx="11112703" cy="12345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«может ли модель это сделать» на переднем крае почти всегда имеет ответ «да», и он ничего не решает.</a:t>
            </a:r>
            <a:r>
              <a:rPr sz="1500" b="0" i="0">
                <a:solidFill>
                  <a:srgbClr val="21295C"/>
                </a:solidFill>
                <a:latin typeface="Arial"/>
              </a:rPr>
              <a:t> Решают три других: за сколько, сколько раз в секунду и на чьём железе.</a:t>
            </a:r>
          </a:p>
        </p:txBody>
      </p:sp>
      <p:sp>
        <p:nvSpPr>
          <p:cNvPr id="22" name="Rounded Rectangle 21"/>
          <p:cNvSpPr/>
          <p:nvPr/>
        </p:nvSpPr>
        <p:spPr>
          <a:xfrm>
            <a:off x="7939735" y="1335024"/>
            <a:ext cx="3749039" cy="2660475"/>
          </a:xfrm>
          <a:prstGeom prst="roundRect">
            <a:avLst>
              <a:gd name="adj" fmla="val 11456"/>
            </a:avLst>
          </a:prstGeom>
          <a:solidFill>
            <a:srgbClr val="F4F7FA"/>
          </a:solidFill>
          <a:ln w="19050">
            <a:solidFill>
              <a:srgbClr val="1C7293"/>
            </a:solidFill>
          </a:ln>
          <a:effectLst/>
        </p:spPr>
        <p:txBody>
          <a:bodyPr rtlCol="0" anchor="ctr"/>
          <a:lstStyle/>
          <a:p>
            <a:pPr algn="ctr"/>
          </a:p>
        </p:txBody>
      </p:sp>
      <p:pic>
        <p:nvPicPr>
          <p:cNvPr id="23" name="Picture 22" descr="s74-rtx5090-board.png"/>
          <p:cNvPicPr>
            <a:picLocks noChangeAspect="1"/>
          </p:cNvPicPr>
          <p:nvPr/>
        </p:nvPicPr>
        <p:blipFill>
          <a:blip r:embed="rId2"/>
          <a:stretch>
            <a:fillRect/>
          </a:stretch>
        </p:blipFill>
        <p:spPr>
          <a:xfrm>
            <a:off x="8076895" y="1472184"/>
            <a:ext cx="3474720" cy="2386155"/>
          </a:xfrm>
          <a:prstGeom prst="rect">
            <a:avLst/>
          </a:prstGeom>
        </p:spPr>
      </p:pic>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Что нейросетевая графика реального времени умеет и чего не умеет</a:t>
            </a:r>
          </a:p>
        </p:txBody>
      </p:sp>
      <p:sp>
        <p:nvSpPr>
          <p:cNvPr id="4" name="TextBox 3"/>
          <p:cNvSpPr txBox="1"/>
          <p:nvPr/>
        </p:nvSpPr>
        <p:spPr>
          <a:xfrm>
            <a:off x="502920" y="1371600"/>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даёт</a:t>
            </a:r>
          </a:p>
        </p:txBody>
      </p:sp>
      <p:sp>
        <p:nvSpPr>
          <p:cNvPr id="5" name="Rounded Rectangle 4"/>
          <p:cNvSpPr/>
          <p:nvPr/>
        </p:nvSpPr>
        <p:spPr>
          <a:xfrm>
            <a:off x="2011680" y="1335024"/>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движок считает кадр в низком разрешении</a:t>
            </a:r>
          </a:p>
        </p:txBody>
      </p:sp>
      <p:sp>
        <p:nvSpPr>
          <p:cNvPr id="8" name="Rounded Rectangle 7"/>
          <p:cNvSpPr/>
          <p:nvPr/>
        </p:nvSpPr>
        <p:spPr>
          <a:xfrm>
            <a:off x="4499533"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восстанавливает высокое по истории кадров, векторам движения и буферу глубины</a:t>
            </a:r>
          </a:p>
        </p:txBody>
      </p:sp>
      <p:sp>
        <p:nvSpPr>
          <p:cNvPr id="10" name="Rounded Rectangle 9"/>
          <p:cNvSpPr/>
          <p:nvPr/>
        </p:nvSpPr>
        <p:spPr>
          <a:xfrm>
            <a:off x="6895947"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синтезирует промежуточные кадры между двумя отрисованными</a:t>
            </a:r>
          </a:p>
        </p:txBody>
      </p:sp>
      <p:sp>
        <p:nvSpPr>
          <p:cNvPr id="12" name="Rounded Rectangle 11"/>
          <p:cNvSpPr/>
          <p:nvPr/>
        </p:nvSpPr>
        <p:spPr>
          <a:xfrm>
            <a:off x="9292361"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было 3,25 миллисекунды на кадр 4K, стало около 1 на каждый достраиваемый</a:t>
            </a:r>
          </a:p>
        </p:txBody>
      </p:sp>
      <p:sp>
        <p:nvSpPr>
          <p:cNvPr id="14" name="TextBox 13"/>
          <p:cNvSpPr txBox="1"/>
          <p:nvPr/>
        </p:nvSpPr>
        <p:spPr>
          <a:xfrm>
            <a:off x="502920" y="2512381"/>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ломается</a:t>
            </a:r>
          </a:p>
        </p:txBody>
      </p:sp>
      <p:sp>
        <p:nvSpPr>
          <p:cNvPr id="15" name="Rounded Rectangle 14"/>
          <p:cNvSpPr/>
          <p:nvPr/>
        </p:nvSpPr>
        <p:spPr>
          <a:xfrm>
            <a:off x="2011680" y="2475805"/>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задержка ввода: достройка не уменьшает её ни на миллисекунду</a:t>
            </a:r>
          </a:p>
        </p:txBody>
      </p:sp>
      <p:sp>
        <p:nvSpPr>
          <p:cNvPr id="18" name="Rounded Rectangle 17"/>
          <p:cNvSpPr/>
          <p:nvPr/>
        </p:nvSpPr>
        <p:spPr>
          <a:xfrm>
            <a:off x="4499533"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интерфейс — векторов движения у него нет</a:t>
            </a:r>
          </a:p>
        </p:txBody>
      </p:sp>
      <p:sp>
        <p:nvSpPr>
          <p:cNvPr id="20" name="Rounded Rectangle 19"/>
          <p:cNvSpPr/>
          <p:nvPr/>
        </p:nvSpPr>
        <p:spPr>
          <a:xfrm>
            <a:off x="6895947"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блики и отражения — векторы движения для них неверны по построению</a:t>
            </a:r>
          </a:p>
        </p:txBody>
      </p:sp>
      <p:sp>
        <p:nvSpPr>
          <p:cNvPr id="22" name="Rounded Rectangle 21"/>
          <p:cNvSpPr/>
          <p:nvPr/>
        </p:nvSpPr>
        <p:spPr>
          <a:xfrm>
            <a:off x="9292361"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частицы, лучи, полупрозрачность — неверен буфер глубины</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кадр: что сеть достраивает и где достройка не работает</a:t>
            </a:r>
          </a:p>
        </p:txBody>
      </p:sp>
      <p:sp>
        <p:nvSpPr>
          <p:cNvPr id="25" name="Rounded Rectangle 24"/>
          <p:cNvSpPr/>
          <p:nvPr/>
        </p:nvSpPr>
        <p:spPr>
          <a:xfrm>
            <a:off x="374904" y="367899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Приём инженерный, а не вычислительный.</a:t>
            </a:r>
            <a:r>
              <a:rPr sz="1500" b="0" i="0">
                <a:solidFill>
                  <a:srgbClr val="21295C"/>
                </a:solidFill>
                <a:latin typeface="Arial"/>
              </a:rPr>
              <a:t> Сеть разрезана пополам, бо́льшая половина считается раз на пару кадров, аппаратный блок оптического потока заменён сетью.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видны непропорционально их доле:</a:t>
            </a:r>
            <a:r>
              <a:rPr sz="1500" b="0" i="0">
                <a:solidFill>
                  <a:srgbClr val="21295C"/>
                </a:solidFill>
                <a:latin typeface="Arial"/>
              </a:rPr>
              <a:t> по словам разработчика, блики, частицы и полупрозрачность «склонны доминировать в восприятии, хотя их доля в пикселях мала».</a:t>
            </a: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932846"/>
            <a:ext cx="187278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первая форма за единицы секунд</a:t>
            </a:r>
          </a:p>
        </p:txBody>
      </p:sp>
      <p:sp>
        <p:nvSpPr>
          <p:cNvPr id="7" name="TextBox 6"/>
          <p:cNvSpPr txBox="1"/>
          <p:nvPr/>
        </p:nvSpPr>
        <p:spPr>
          <a:xfrm>
            <a:off x="640080" y="2987917"/>
            <a:ext cx="187278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2814620" y="1335024"/>
            <a:ext cx="2147108" cy="3501691"/>
          </a:xfrm>
          <a:prstGeom prst="roundRect">
            <a:avLst>
              <a:gd name="adj" fmla="val 14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517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2951780" y="1932846"/>
            <a:ext cx="187278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2951780" y="2580519"/>
            <a:ext cx="187278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5126321"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63481" y="1472184"/>
            <a:ext cx="187278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5263481" y="2140317"/>
            <a:ext cx="187278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три из девяти — и самые дорогие</a:t>
            </a:r>
          </a:p>
        </p:txBody>
      </p:sp>
      <p:sp>
        <p:nvSpPr>
          <p:cNvPr id="15" name="TextBox 14"/>
          <p:cNvSpPr txBox="1"/>
          <p:nvPr/>
        </p:nvSpPr>
        <p:spPr>
          <a:xfrm>
            <a:off x="5263481" y="3220851"/>
            <a:ext cx="187278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Rounded Rectangle 15"/>
          <p:cNvSpPr/>
          <p:nvPr/>
        </p:nvSpPr>
        <p:spPr>
          <a:xfrm>
            <a:off x="374904" y="4928155"/>
            <a:ext cx="7026542"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19595"/>
            <a:ext cx="6697358" cy="12166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«ассет, готовый к работе» — разные вещи.</a:t>
            </a:r>
            <a:r>
              <a:rPr sz="1500" b="0" i="0">
                <a:solidFill>
                  <a:srgbClr val="21295C"/>
                </a:solidFill>
                <a:latin typeface="Arial"/>
              </a:rPr>
              <a:t> Генератор закрывает поиск облика и фоновые объекты; подготовка к производству остаётся людям целиком.</a:t>
            </a:r>
          </a:p>
        </p:txBody>
      </p:sp>
      <p:sp>
        <p:nvSpPr>
          <p:cNvPr id="18" name="Rounded Rectangle 17"/>
          <p:cNvSpPr/>
          <p:nvPr/>
        </p:nvSpPr>
        <p:spPr>
          <a:xfrm>
            <a:off x="7584326" y="1335024"/>
            <a:ext cx="4104448" cy="4389120"/>
          </a:xfrm>
          <a:prstGeom prst="roundRect">
            <a:avLst>
              <a:gd name="adj" fmla="val 7426"/>
            </a:avLst>
          </a:prstGeom>
          <a:solidFill>
            <a:srgbClr val="F4F7FA"/>
          </a:solidFill>
          <a:ln w="19050">
            <a:solidFill>
              <a:srgbClr val="1C7293"/>
            </a:solidFill>
          </a:ln>
          <a:effectLst/>
        </p:spPr>
        <p:txBody>
          <a:bodyPr rtlCol="0" anchor="ctr"/>
          <a:lstStyle/>
          <a:p>
            <a:pPr algn="ctr"/>
          </a:p>
        </p:txBody>
      </p:sp>
      <p:pic>
        <p:nvPicPr>
          <p:cNvPr id="19" name="Picture 18" descr="s75-wireframe-human.jpg"/>
          <p:cNvPicPr>
            <a:picLocks noChangeAspect="1"/>
          </p:cNvPicPr>
          <p:nvPr/>
        </p:nvPicPr>
        <p:blipFill>
          <a:blip r:embed="rId2"/>
          <a:stretch>
            <a:fillRect/>
          </a:stretch>
        </p:blipFill>
        <p:spPr>
          <a:xfrm>
            <a:off x="7721486" y="1472184"/>
            <a:ext cx="3830128"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QuadGPT, Tencent Hunyuan и HKUST, arXiv:2509.21420 (2025)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происходит с ассетом после «восьми секунд»</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5" name="Rounded Rectangle 4"/>
          <p:cNvSpPr/>
          <p:nvPr/>
        </p:nvSpPr>
        <p:spPr>
          <a:xfrm>
            <a:off x="1920240" y="1335024"/>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7" name="Right Arrow 6"/>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10" name="TextBox 9"/>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11" name="Rounded Rectangle 10"/>
          <p:cNvSpPr/>
          <p:nvPr/>
        </p:nvSpPr>
        <p:spPr>
          <a:xfrm>
            <a:off x="1920240"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13" name="Right Arrow 12"/>
          <p:cNvSpPr/>
          <p:nvPr/>
        </p:nvSpPr>
        <p:spPr>
          <a:xfrm>
            <a:off x="5039258" y="283878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16" name="Right Arrow 15"/>
          <p:cNvSpPr/>
          <p:nvPr/>
        </p:nvSpPr>
        <p:spPr>
          <a:xfrm>
            <a:off x="8386876"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19" name="TextBox 18"/>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20" name="Rounded Rectangle 19"/>
          <p:cNvSpPr/>
          <p:nvPr/>
        </p:nvSpPr>
        <p:spPr>
          <a:xfrm>
            <a:off x="374904" y="3721968"/>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13408"/>
            <a:ext cx="11112703" cy="2422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стадии из девяти остаются людям — и это самые дорогие три.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ФОРМА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пропорции есть, величины нет</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РАЗМЕРОВ, ПРИГОДНЫХ ДЛЯ ЧЕРТЕЖА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обмеров в обучении не было, и взяться размеру неоткуда</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ВХОДОВ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a:t>
            </a:r>
          </a:p>
        </p:txBody>
      </p:sp>
      <p:sp>
        <p:nvSpPr>
          <p:cNvPr id="16" name="TextBox 15"/>
          <p:cNvSpPr txBox="1"/>
          <p:nvPr/>
        </p:nvSpPr>
        <p:spPr>
          <a:xfrm>
            <a:off x="502920" y="352937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 формы</a:t>
            </a:r>
          </a:p>
        </p:txBody>
      </p:sp>
      <p:sp>
        <p:nvSpPr>
          <p:cNvPr id="17" name="Rounded Rectangle 16"/>
          <p:cNvSpPr/>
          <p:nvPr/>
        </p:nvSpPr>
        <p:spPr>
          <a:xfrm>
            <a:off x="2011680" y="349279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описание словами</a:t>
            </a:r>
          </a:p>
        </p:txBody>
      </p:sp>
      <p:sp>
        <p:nvSpPr>
          <p:cNvPr id="20" name="Right Arrow 19"/>
          <p:cNvSpPr/>
          <p:nvPr/>
        </p:nvSpPr>
        <p:spPr>
          <a:xfrm>
            <a:off x="5069738" y="387490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поверхность за секунды, координаты безразмерные</a:t>
            </a:r>
          </a:p>
        </p:txBody>
      </p:sp>
      <p:sp>
        <p:nvSpPr>
          <p:cNvPr id="23" name="Right Arrow 22"/>
          <p:cNvSpPr/>
          <p:nvPr/>
        </p:nvSpPr>
        <p:spPr>
          <a:xfrm>
            <a:off x="8356396" y="387490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масштаб назначает человек на глаз</a:t>
            </a:r>
          </a:p>
        </p:txBody>
      </p:sp>
      <p:sp>
        <p:nvSpPr>
          <p:cNvPr id="26" name="TextBox 25"/>
          <p:cNvSpPr txBox="1"/>
          <p:nvPr/>
        </p:nvSpPr>
        <p:spPr>
          <a:xfrm>
            <a:off x="502920" y="454048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Система проектирования</a:t>
            </a:r>
          </a:p>
        </p:txBody>
      </p:sp>
      <p:sp>
        <p:nvSpPr>
          <p:cNvPr id="27" name="Rounded Rectangle 26"/>
          <p:cNvSpPr/>
          <p:nvPr/>
        </p:nvSpPr>
        <p:spPr>
          <a:xfrm>
            <a:off x="2011680" y="450390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параметры и связи между ними</a:t>
            </a:r>
          </a:p>
        </p:txBody>
      </p:sp>
      <p:sp>
        <p:nvSpPr>
          <p:cNvPr id="30" name="Right Arrow 29"/>
          <p:cNvSpPr/>
          <p:nvPr/>
        </p:nvSpPr>
        <p:spPr>
          <a:xfrm>
            <a:off x="5069738" y="47693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размеры, допуски, материал — часть самой модели</a:t>
            </a:r>
          </a:p>
        </p:txBody>
      </p:sp>
      <p:sp>
        <p:nvSpPr>
          <p:cNvPr id="33" name="Right Arrow 32"/>
          <p:cNvSpPr/>
          <p:nvPr/>
        </p:nvSpPr>
        <p:spPr>
          <a:xfrm>
            <a:off x="8356396" y="47693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чертёж, по которому изготавливают и принимают</a:t>
            </a:r>
          </a:p>
        </p:txBody>
      </p:sp>
      <p:sp>
        <p:nvSpPr>
          <p:cNvPr id="36" name="TextBox 35"/>
          <p:cNvSpPr txBox="1"/>
          <p:nvPr/>
        </p:nvSpPr>
        <p:spPr>
          <a:xfrm>
            <a:off x="502920" y="524503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инструмента на одном месте конвейера: у одного величин нет, у другого они и есть предмет</a:t>
            </a:r>
          </a:p>
        </p:txBody>
      </p:sp>
      <p:sp>
        <p:nvSpPr>
          <p:cNvPr id="37" name="Rounded Rectangle 36"/>
          <p:cNvSpPr/>
          <p:nvPr/>
        </p:nvSpPr>
        <p:spPr>
          <a:xfrm>
            <a:off x="374904" y="5551493"/>
            <a:ext cx="11441887" cy="6847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42933"/>
            <a:ext cx="11112703" cy="59327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Генератор формы стоит до расчёта, а критерий отбора остаётся снаружи, у человека.</a:t>
            </a:r>
            <a:r>
              <a:rPr sz="1450" b="0" i="0">
                <a:solidFill>
                  <a:srgbClr val="21295C"/>
                </a:solidFill>
                <a:latin typeface="Arial"/>
              </a:rPr>
              <a:t> «Кронштейн под нагрузку» выглядит как кронштейн и не несёт ни нагрузки, ни материала, ни допуска — проверить расчётом нечего.</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TextBox 15"/>
          <p:cNvSpPr txBox="1"/>
          <p:nvPr/>
        </p:nvSpPr>
        <p:spPr>
          <a:xfrm>
            <a:off x="502920" y="3363394"/>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замеры есть</a:t>
            </a:r>
          </a:p>
        </p:txBody>
      </p:sp>
      <p:sp>
        <p:nvSpPr>
          <p:cNvPr id="17" name="Rounded Rectangle 16"/>
          <p:cNvSpPr/>
          <p:nvPr/>
        </p:nvSpPr>
        <p:spPr>
          <a:xfrm>
            <a:off x="2011680" y="3326818"/>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 с 2023 года</a:t>
            </a:r>
          </a:p>
        </p:txBody>
      </p:sp>
      <p:sp>
        <p:nvSpPr>
          <p:cNvPr id="20" name="Rounded Rectangle 19"/>
          <p:cNvSpPr/>
          <p:nvPr/>
        </p:nvSpPr>
        <p:spPr>
          <a:xfrm>
            <a:off x="5298338"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дубляж — с 2024 года</a:t>
            </a:r>
          </a:p>
        </p:txBody>
      </p:sp>
      <p:sp>
        <p:nvSpPr>
          <p:cNvPr id="22" name="Rounded Rectangle 21"/>
          <p:cNvSpPr/>
          <p:nvPr/>
        </p:nvSpPr>
        <p:spPr>
          <a:xfrm>
            <a:off x="8493556"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видео — с 2025 года</a:t>
            </a:r>
          </a:p>
        </p:txBody>
      </p:sp>
      <p:sp>
        <p:nvSpPr>
          <p:cNvPr id="24" name="TextBox 23"/>
          <p:cNvSpPr txBox="1"/>
          <p:nvPr/>
        </p:nvSpPr>
        <p:spPr>
          <a:xfrm>
            <a:off x="502920" y="3985186"/>
            <a:ext cx="1307592" cy="899574"/>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Трёхмерное</a:t>
            </a:r>
          </a:p>
        </p:txBody>
      </p:sp>
      <p:sp>
        <p:nvSpPr>
          <p:cNvPr id="25" name="Rounded Rectangle 24"/>
          <p:cNvSpPr/>
          <p:nvPr/>
        </p:nvSpPr>
        <p:spPr>
          <a:xfrm>
            <a:off x="2103120"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5298338"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Rounded Rectangle 26"/>
          <p:cNvSpPr/>
          <p:nvPr/>
        </p:nvSpPr>
        <p:spPr>
          <a:xfrm>
            <a:off x="8493556"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2103120" y="4478962"/>
            <a:ext cx="9494215"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одной из четырёх величин: цена генерации за единицу выхода · ставка моделлера за ту же работу · цена входа в реальное время · доля работы, которую закрывает сгенерированный ассет</a:t>
            </a:r>
          </a:p>
        </p:txBody>
      </p:sp>
      <p:sp>
        <p:nvSpPr>
          <p:cNvPr id="29" name="TextBox 28"/>
          <p:cNvSpPr txBox="1"/>
          <p:nvPr/>
        </p:nvSpPr>
        <p:spPr>
          <a:xfrm>
            <a:off x="502920" y="49944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У трёх модальностей вечера замеры стоимости опубликованы; у четвёртой нет ни одной из четырёх величин</a:t>
            </a:r>
          </a:p>
        </p:txBody>
      </p:sp>
      <p:sp>
        <p:nvSpPr>
          <p:cNvPr id="30" name="Rounded Rectangle 29"/>
          <p:cNvSpPr/>
          <p:nvPr/>
        </p:nvSpPr>
        <p:spPr>
          <a:xfrm>
            <a:off x="374904" y="5300945"/>
            <a:ext cx="11441887" cy="84863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392385"/>
            <a:ext cx="11112703" cy="84382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сведение, а не пробел.</a:t>
            </a:r>
            <a:r>
              <a:rPr sz="145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Эту пару стоит прочитать дважды.</a:t>
            </a:r>
            <a:r>
              <a:rPr sz="150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вопроса о происхождении и четыре классических способа ответить</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вопроса, которые смешивают</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что изображено или написано — ответ проверяем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как это сделано — ответ вероятностный</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кто отвечает — про людей и организации, не про содержимое</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ни один из трёх не отвечает «правда ли это»</a:t>
            </a:r>
          </a:p>
        </p:txBody>
      </p:sp>
      <p:sp>
        <p:nvSpPr>
          <p:cNvPr id="14" name="TextBox 13"/>
          <p:cNvSpPr txBox="1"/>
          <p:nvPr/>
        </p:nvSpPr>
        <p:spPr>
          <a:xfrm>
            <a:off x="502920" y="2304909"/>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 семейства ответа</a:t>
            </a:r>
          </a:p>
        </p:txBody>
      </p:sp>
      <p:sp>
        <p:nvSpPr>
          <p:cNvPr id="15" name="Rounded Rectangle 14"/>
          <p:cNvSpPr/>
          <p:nvPr/>
        </p:nvSpPr>
        <p:spPr>
          <a:xfrm>
            <a:off x="2011680" y="2268333"/>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физические методы: томография, рентгенофлуоресценция, ультрафиолет, радиоуглерод</a:t>
            </a:r>
          </a:p>
        </p:txBody>
      </p:sp>
      <p:sp>
        <p:nvSpPr>
          <p:cNvPr id="18" name="Rounded Rectangle 17"/>
          <p:cNvSpPr/>
          <p:nvPr/>
        </p:nvSpPr>
        <p:spPr>
          <a:xfrm>
            <a:off x="4499533"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цифровые следы: служебные поля, история правок, обратный поиск</a:t>
            </a:r>
          </a:p>
        </p:txBody>
      </p:sp>
      <p:sp>
        <p:nvSpPr>
          <p:cNvPr id="20" name="Rounded Rectangle 19"/>
          <p:cNvSpPr/>
          <p:nvPr/>
        </p:nvSpPr>
        <p:spPr>
          <a:xfrm>
            <a:off x="6895947"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редакционные процедуры: звонок источнику, второй источник, эксперт</a:t>
            </a:r>
          </a:p>
        </p:txBody>
      </p:sp>
      <p:sp>
        <p:nvSpPr>
          <p:cNvPr id="22" name="Rounded Rectangle 21"/>
          <p:cNvSpPr/>
          <p:nvPr/>
        </p:nvSpPr>
        <p:spPr>
          <a:xfrm>
            <a:off x="9292361"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модель вошла в первые два; в третье не вошла и не может</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вопроса стадии и четыре семейства, которыми на них отвечали до всякой модели</a:t>
            </a:r>
          </a:p>
        </p:txBody>
      </p:sp>
      <p:sp>
        <p:nvSpPr>
          <p:cNvPr id="25" name="Rounded Rectangle 24"/>
          <p:cNvSpPr/>
          <p:nvPr/>
        </p:nvSpPr>
        <p:spPr>
          <a:xfrm>
            <a:off x="374904" y="367899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из трёх вопросов не отвечает на вопрос «правда ли это».</a:t>
            </a:r>
            <a:r>
              <a:rPr sz="150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Самое дешёвое семейство — и самое хрупкое.</a:t>
            </a:r>
            <a:r>
              <a:rPr sz="1500" b="0" i="0">
                <a:solidFill>
                  <a:srgbClr val="21295C"/>
                </a:solidFill>
                <a:latin typeface="Arial"/>
              </a:rPr>
              <a:t> Пересохранение файла или снимок экрана уничтожают цифровые следы начисто; ответ «как это сделано» вдобавок крайне чувствителен к тому, видел ли распознаватель ту модель, которая изображение породила.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sp>
        <p:nvSpPr>
          <p:cNvPr id="4" name="Rounded Rectangle 3"/>
          <p:cNvSpPr/>
          <p:nvPr/>
        </p:nvSpPr>
        <p:spPr>
          <a:xfrm>
            <a:off x="502920"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ПОПЫТКИ ПРОЧЕСТЬ КЛАССИЧЕСКИМ СПОСОБОМ</a:t>
            </a:r>
          </a:p>
        </p:txBody>
      </p:sp>
      <p:sp>
        <p:nvSpPr>
          <p:cNvPr id="6" name="TextBox 5"/>
          <p:cNvSpPr txBox="1"/>
          <p:nvPr/>
        </p:nvSpPr>
        <p:spPr>
          <a:xfrm>
            <a:off x="640080" y="2347789"/>
            <a:ext cx="1337995"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уничтожение предмета</a:t>
            </a:r>
          </a:p>
        </p:txBody>
      </p:sp>
      <p:sp>
        <p:nvSpPr>
          <p:cNvPr id="7" name="TextBox 6"/>
          <p:cNvSpPr txBox="1"/>
          <p:nvPr/>
        </p:nvSpPr>
        <p:spPr>
          <a:xfrm>
            <a:off x="640080" y="2910587"/>
            <a:ext cx="13379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развернуть обугленный свиток означает его раскрошить; за два с половиной века так погибла часть собрания</a:t>
            </a:r>
          </a:p>
        </p:txBody>
      </p:sp>
      <p:sp>
        <p:nvSpPr>
          <p:cNvPr id="8" name="Rounded Rectangle 7"/>
          <p:cNvSpPr/>
          <p:nvPr/>
        </p:nvSpPr>
        <p:spPr>
          <a:xfrm>
            <a:off x="2279827"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ОТКАЗА ОТ ПОПЫТКИ</a:t>
            </a:r>
          </a:p>
        </p:txBody>
      </p:sp>
      <p:sp>
        <p:nvSpPr>
          <p:cNvPr id="10" name="TextBox 9"/>
          <p:cNvSpPr txBox="1"/>
          <p:nvPr/>
        </p:nvSpPr>
        <p:spPr>
          <a:xfrm>
            <a:off x="2416987" y="1932846"/>
            <a:ext cx="1337995"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текст не прочитан никогда</a:t>
            </a:r>
          </a:p>
        </p:txBody>
      </p:sp>
      <p:sp>
        <p:nvSpPr>
          <p:cNvPr id="11" name="TextBox 10"/>
          <p:cNvSpPr txBox="1"/>
          <p:nvPr/>
        </p:nvSpPr>
        <p:spPr>
          <a:xfrm>
            <a:off x="2416987" y="3064304"/>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существует в единственном экземпляре, обе ошибки окончательны</a:t>
            </a:r>
          </a:p>
        </p:txBody>
      </p:sp>
      <p:sp>
        <p:nvSpPr>
          <p:cNvPr id="12" name="Rounded Rectangle 11"/>
          <p:cNvSpPr/>
          <p:nvPr/>
        </p:nvSpPr>
        <p:spPr>
          <a:xfrm>
            <a:off x="4056735" y="1335024"/>
            <a:ext cx="1612315" cy="3402671"/>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ПРОЧИТАНО 25 ИЮНЯ 2026 ГОДА</a:t>
            </a:r>
          </a:p>
        </p:txBody>
      </p:sp>
      <p:sp>
        <p:nvSpPr>
          <p:cNvPr id="14" name="TextBox 13"/>
          <p:cNvSpPr txBox="1"/>
          <p:nvPr/>
        </p:nvSpPr>
        <p:spPr>
          <a:xfrm>
            <a:off x="4193895" y="1932846"/>
            <a:ext cx="133799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PHerc. 1667 целиком</a:t>
            </a:r>
          </a:p>
        </p:txBody>
      </p:sp>
      <p:sp>
        <p:nvSpPr>
          <p:cNvPr id="15" name="TextBox 14"/>
          <p:cNvSpPr txBox="1"/>
          <p:nvPr/>
        </p:nvSpPr>
        <p:spPr>
          <a:xfrm>
            <a:off x="4193895" y="2580519"/>
            <a:ext cx="13379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1,4 метра папируса, около 22 колонок греческого текста, впервые примерно за две тысячи лет</a:t>
            </a:r>
          </a:p>
        </p:txBody>
      </p:sp>
      <p:sp>
        <p:nvSpPr>
          <p:cNvPr id="16" name="Rounded Rectangle 15"/>
          <p:cNvSpPr/>
          <p:nvPr/>
        </p:nvSpPr>
        <p:spPr>
          <a:xfrm>
            <a:off x="5833643"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ДОМЫСЛЕНО МАШИНОЙ</a:t>
            </a:r>
          </a:p>
        </p:txBody>
      </p:sp>
      <p:sp>
        <p:nvSpPr>
          <p:cNvPr id="18" name="TextBox 17"/>
          <p:cNvSpPr txBox="1"/>
          <p:nvPr/>
        </p:nvSpPr>
        <p:spPr>
          <a:xfrm>
            <a:off x="5970803" y="193284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одной буквы</a:t>
            </a:r>
          </a:p>
        </p:txBody>
      </p:sp>
      <p:sp>
        <p:nvSpPr>
          <p:cNvPr id="19" name="TextBox 18"/>
          <p:cNvSpPr txBox="1"/>
          <p:nvPr/>
        </p:nvSpPr>
        <p:spPr>
          <a:xfrm>
            <a:off x="5970803" y="3140692"/>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отвечает на вопрос «где здесь чернила» — задача с проверяемым ответом</a:t>
            </a:r>
          </a:p>
        </p:txBody>
      </p:sp>
      <p:sp>
        <p:nvSpPr>
          <p:cNvPr id="20" name="Rounded Rectangle 19"/>
          <p:cNvSpPr/>
          <p:nvPr/>
        </p:nvSpPr>
        <p:spPr>
          <a:xfrm>
            <a:off x="374904" y="4829135"/>
            <a:ext cx="11441887" cy="51196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20575"/>
            <a:ext cx="11112703" cy="1315632"/>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Сравнение одностороннее по свойству задачи: второго классического режима не существует, и причина названа.</a:t>
            </a:r>
          </a:p>
        </p:txBody>
      </p:sp>
      <p:sp>
        <p:nvSpPr>
          <p:cNvPr id="22" name="Rounded Rectangle 21"/>
          <p:cNvSpPr/>
          <p:nvPr/>
        </p:nvSpPr>
        <p:spPr>
          <a:xfrm>
            <a:off x="7756855" y="1335024"/>
            <a:ext cx="3931920" cy="3446145"/>
          </a:xfrm>
          <a:prstGeom prst="roundRect">
            <a:avLst>
              <a:gd name="adj" fmla="val 8844"/>
            </a:avLst>
          </a:prstGeom>
          <a:solidFill>
            <a:srgbClr val="F4F7FA"/>
          </a:solidFill>
          <a:ln w="19050">
            <a:solidFill>
              <a:srgbClr val="1C7293"/>
            </a:solidFill>
          </a:ln>
          <a:effectLst/>
        </p:spPr>
        <p:txBody>
          <a:bodyPr rtlCol="0" anchor="ctr"/>
          <a:lstStyle/>
          <a:p>
            <a:pPr algn="ctr"/>
          </a:p>
        </p:txBody>
      </p:sp>
      <p:pic>
        <p:nvPicPr>
          <p:cNvPr id="23" name="Picture 22" descr="s80-herculaneum-papyri.jpg"/>
          <p:cNvPicPr>
            <a:picLocks noChangeAspect="1"/>
          </p:cNvPicPr>
          <p:nvPr/>
        </p:nvPicPr>
        <p:blipFill>
          <a:blip r:embed="rId2"/>
          <a:stretch>
            <a:fillRect/>
          </a:stretch>
        </p:blipFill>
        <p:spPr>
          <a:xfrm>
            <a:off x="7894015" y="1472184"/>
            <a:ext cx="3657600" cy="3171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читают свиток</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рентгеновская томография обугленного цилиндра: послойное просвечивание</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цифровое разворачивание: спираль папируса распрямляется в плоскость</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поиск следов чернил: углерод на обугленном папирусе</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изображение распрямлённой поверхности с проявленными чернилами</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Машина отвечает на один вопрос — где здесь чернила; обе её задачи имеют проверяемый ответ</a:t>
            </a:r>
          </a:p>
        </p:txBody>
      </p:sp>
      <p:sp>
        <p:nvSpPr>
          <p:cNvPr id="17" name="Rounded Rectangle 16"/>
          <p:cNvSpPr/>
          <p:nvPr/>
        </p:nvSpPr>
        <p:spPr>
          <a:xfrm>
            <a:off x="374904" y="3100271"/>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Машина отвечает на один вопрос: где здесь чернила.</a:t>
            </a:r>
            <a:r>
              <a:rPr sz="1500" b="0" i="0">
                <a:solidFill>
                  <a:srgbClr val="21295C"/>
                </a:solidFill>
                <a:latin typeface="Arial"/>
              </a:rPr>
              <a:t>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p:txBody>
      </p:sp>
      <p:sp>
        <p:nvSpPr>
          <p:cNvPr id="19" name="TextBox 18"/>
          <p:cNvSpPr txBox="1"/>
          <p:nvPr/>
        </p:nvSpPr>
        <p:spPr>
          <a:xfrm>
            <a:off x="6278727"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Греческий текст читают люди.</a:t>
            </a:r>
            <a:r>
              <a:rPr sz="1500" b="0" i="0">
                <a:solidFill>
                  <a:srgbClr val="21295C"/>
                </a:solidFill>
                <a:latin typeface="Arial"/>
              </a:rPr>
              <a:t> Машина его не восстанавливает и окончаний не предполагает. Единственный точечный пробел разбора: объём и состав обучающей выборки распознавателя чернил в доступных публикациях не раскрыты.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шага имеют проверяемый ответ, и в этом вся разница с достройкой кадра:</a:t>
            </a:r>
            <a:r>
              <a:rPr sz="1500" b="0" i="0">
                <a:solidFill>
                  <a:srgbClr val="21295C"/>
                </a:solidFill>
                <a:latin typeface="Arial"/>
              </a:rPr>
              <a:t> распрямление поверхности сверяется с геометрией самого свитка, найденные чернила — с соседними колонками и с греческой филологией.</a:t>
            </a:r>
          </a:p>
        </p:txBody>
      </p:sp>
      <p:sp>
        <p:nvSpPr>
          <p:cNvPr id="20" name="Rectangle 19"/>
          <p:cNvSpPr/>
          <p:nvPr/>
        </p:nvSpPr>
        <p:spPr>
          <a:xfrm>
            <a:off x="6091275" y="3191711"/>
            <a:ext cx="9144" cy="27624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шло по датам</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Конкурс</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октябрь 2023 — первое слово изнутри свитка: ΠΟΡΦΥΡΑϹ, «пурпур»; приз 40 000 $</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2024 — несколько связных отрывков, главный приз 700 000 $</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опознаны сочинения Филодема: «О пороках», книга 1 — первый найденный заголовок</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июня 2026 — свиток прочитан целиком, от начала до конца</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это шло по датам</a:t>
            </a:r>
          </a:p>
        </p:txBody>
      </p:sp>
      <p:sp>
        <p:nvSpPr>
          <p:cNvPr id="17" name="Rounded Rectangle 16"/>
          <p:cNvSpPr/>
          <p:nvPr/>
        </p:nvSpPr>
        <p:spPr>
          <a:xfrm>
            <a:off x="374904" y="3100271"/>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11112703"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Задачу решило открытое соревнование, а не штатная лаборатория.</a:t>
            </a:r>
            <a:r>
              <a:rPr sz="1500" b="0" i="0">
                <a:solidFill>
                  <a:srgbClr val="21295C"/>
                </a:solidFill>
                <a:latin typeface="Arial"/>
              </a:rPr>
              <a:t> Бо́льшую часть дочитавшей команды составляют бывшие участники конкурса.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980694"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790623"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a:t>
            </a:r>
          </a:p>
          <a:p>
            <a:pPr algn="ctr">
              <a:lnSpc>
                <a:spcPct val="110000"/>
              </a:lnSpc>
            </a:pPr>
            <a:r>
              <a:rPr sz="1200" b="0" i="0">
                <a:solidFill>
                  <a:srgbClr val="21295C"/>
                </a:solidFill>
                <a:latin typeface="Arial"/>
              </a:rPr>
              <a:t>Свиток</a:t>
            </a:r>
          </a:p>
        </p:txBody>
      </p:sp>
      <p:sp>
        <p:nvSpPr>
          <p:cNvPr id="9" name="Rectangle 8"/>
          <p:cNvSpPr/>
          <p:nvPr/>
        </p:nvSpPr>
        <p:spPr>
          <a:xfrm>
            <a:off x="10142707" y="2056290"/>
            <a:ext cx="50292" cy="1645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7371389"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90</a:t>
            </a:r>
          </a:p>
          <a:p>
            <a:pPr algn="ctr">
              <a:lnSpc>
                <a:spcPct val="110000"/>
              </a:lnSpc>
            </a:pPr>
            <a:r>
              <a:rPr sz="1200" b="0" i="0">
                <a:solidFill>
                  <a:srgbClr val="21295C"/>
                </a:solidFill>
                <a:latin typeface="Arial"/>
              </a:rPr>
              <a:t>«Оз» в Sphere</a:t>
            </a:r>
          </a:p>
        </p:txBody>
      </p:sp>
      <p:sp>
        <p:nvSpPr>
          <p:cNvPr id="11" name="TextBox 10"/>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кадра на выходе, порождённый моделью · доля изображения, которой в исходных данных не было</a:t>
            </a:r>
          </a:p>
        </p:txBody>
      </p:sp>
      <p:sp>
        <p:nvSpPr>
          <p:cNvPr id="12" name="TextBox 11"/>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Техника соседняя, доля домысленного различается на два порядка</a:t>
            </a:r>
          </a:p>
        </p:txBody>
      </p:sp>
      <p:sp>
        <p:nvSpPr>
          <p:cNvPr id="13" name="Rounded Rectangle 12"/>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5" name="TextBox 14"/>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исходный материал: обугленный папирус, около 1,4 метра</a:t>
            </a:r>
          </a:p>
          <a:p>
            <a:pPr algn="l">
              <a:lnSpc>
                <a:spcPct val="126000"/>
              </a:lnSpc>
            </a:pPr>
            <a:r>
              <a:rPr sz="1050" b="0" i="0">
                <a:solidFill>
                  <a:srgbClr val="21295C"/>
                </a:solidFill>
                <a:latin typeface="Arial"/>
              </a:rPr>
              <a:t>• что делает машина: находит чернила на томограмме</a:t>
            </a:r>
          </a:p>
          <a:p>
            <a:pPr algn="l">
              <a:lnSpc>
                <a:spcPct val="126000"/>
              </a:lnSpc>
            </a:pPr>
            <a:r>
              <a:rPr sz="1050" b="0" i="0">
                <a:solidFill>
                  <a:srgbClr val="21295C"/>
                </a:solidFill>
                <a:latin typeface="Arial"/>
              </a:rPr>
              <a:t>• кто читает результат: люди, греческий текст</a:t>
            </a:r>
          </a:p>
          <a:p>
            <a:pPr algn="l">
              <a:lnSpc>
                <a:spcPct val="126000"/>
              </a:lnSpc>
            </a:pPr>
            <a:r>
              <a:rPr sz="105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050" b="0" i="0">
                <a:solidFill>
                  <a:srgbClr val="21295C"/>
                </a:solidFill>
                <a:latin typeface="Arial"/>
              </a:rPr>
              <a:t>• что переехало: граница возможного</a:t>
            </a:r>
          </a:p>
        </p:txBody>
      </p:sp>
      <p:sp>
        <p:nvSpPr>
          <p:cNvPr id="16" name="Rounded Rectangle 15"/>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7" name="TextBox 16"/>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8" name="TextBox 17"/>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исходный материал: плёнка 1939 года, кадр 4:3</a:t>
            </a:r>
          </a:p>
          <a:p>
            <a:pPr algn="l">
              <a:lnSpc>
                <a:spcPct val="126000"/>
              </a:lnSpc>
            </a:pPr>
            <a:r>
              <a:rPr sz="1100" b="0" i="0">
                <a:solidFill>
                  <a:srgbClr val="21295C"/>
                </a:solidFill>
                <a:latin typeface="Arial"/>
              </a:rPr>
              <a:t>• что делает машина: достраивает кадр по сторонам и повышает разрешение</a:t>
            </a:r>
          </a:p>
          <a:p>
            <a:pPr algn="l">
              <a:lnSpc>
                <a:spcPct val="126000"/>
              </a:lnSpc>
            </a:pPr>
            <a:r>
              <a:rPr sz="1100" b="0" i="0">
                <a:solidFill>
                  <a:srgbClr val="21295C"/>
                </a:solidFill>
                <a:latin typeface="Arial"/>
              </a:rPr>
              <a:t>• кто читает результат: зритель, как «тот самый фильм»</a:t>
            </a:r>
          </a:p>
          <a:p>
            <a:pPr algn="l">
              <a:lnSpc>
                <a:spcPct val="126000"/>
              </a:lnSpc>
            </a:pPr>
            <a:r>
              <a:rPr sz="1100" b="0" i="0">
                <a:solidFill>
                  <a:srgbClr val="21295C"/>
                </a:solidFill>
                <a:latin typeface="Arial"/>
              </a:rPr>
              <a:t>• классический режим: существует, не посчитан</a:t>
            </a:r>
          </a:p>
          <a:p>
            <a:pPr algn="l">
              <a:lnSpc>
                <a:spcPct val="126000"/>
              </a:lnSpc>
            </a:pPr>
            <a:r>
              <a:rPr sz="1100" b="0" i="0">
                <a:solidFill>
                  <a:srgbClr val="21295C"/>
                </a:solidFill>
                <a:latin typeface="Arial"/>
              </a:rPr>
              <a:t>• что переехало: граница между восстановлением и выдумыванием</a:t>
            </a:r>
          </a:p>
        </p:txBody>
      </p:sp>
      <p:sp>
        <p:nvSpPr>
          <p:cNvPr id="19" name="Rounded Rectangle 1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Границу проводит один признак: существует ли способ проверить результат независимо от того, кто его получил.</a:t>
            </a:r>
            <a:r>
              <a:rPr sz="1450" b="0" i="0">
                <a:solidFill>
                  <a:srgbClr val="21295C"/>
                </a:solidFill>
                <a:latin typeface="Arial"/>
              </a:rPr>
              <a:t> Ни технология, ни доля тронутого её не определяют.</a:t>
            </a:r>
          </a:p>
        </p:txBody>
      </p:sp>
      <p:sp>
        <p:nvSpPr>
          <p:cNvPr id="21" name="Rectangle 20"/>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40</a:t>
            </a:r>
          </a:p>
        </p:txBody>
      </p:sp>
      <p:sp>
        <p:nvSpPr>
          <p:cNvPr id="7" name="Rectangle 6"/>
          <p:cNvSpPr/>
          <p:nvPr/>
        </p:nvSpPr>
        <p:spPr>
          <a:xfrm>
            <a:off x="3754748"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915584"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10,9</a:t>
            </a:r>
          </a:p>
          <a:p>
            <a:pPr algn="ctr">
              <a:lnSpc>
                <a:spcPct val="110000"/>
              </a:lnSpc>
            </a:pPr>
            <a:r>
              <a:rPr sz="1200" b="0" i="0">
                <a:solidFill>
                  <a:srgbClr val="21295C"/>
                </a:solidFill>
                <a:latin typeface="Arial"/>
              </a:rPr>
              <a:t>2024 год</a:t>
            </a:r>
          </a:p>
        </p:txBody>
      </p:sp>
      <p:sp>
        <p:nvSpPr>
          <p:cNvPr id="9" name="Rectangle 8"/>
          <p:cNvSpPr/>
          <p:nvPr/>
        </p:nvSpPr>
        <p:spPr>
          <a:xfrm>
            <a:off x="6045251"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6088"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19,9</a:t>
            </a:r>
          </a:p>
          <a:p>
            <a:pPr algn="ctr">
              <a:lnSpc>
                <a:spcPct val="110000"/>
              </a:lnSpc>
            </a:pPr>
            <a:r>
              <a:rPr sz="1200" b="0" i="0">
                <a:solidFill>
                  <a:srgbClr val="21295C"/>
                </a:solidFill>
                <a:latin typeface="Arial"/>
              </a:rPr>
              <a:t>2025 год</a:t>
            </a:r>
          </a:p>
        </p:txBody>
      </p:sp>
      <p:sp>
        <p:nvSpPr>
          <p:cNvPr id="11" name="Rectangle 10"/>
          <p:cNvSpPr/>
          <p:nvPr/>
        </p:nvSpPr>
        <p:spPr>
          <a:xfrm>
            <a:off x="8819305" y="1841406"/>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980142"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30,8</a:t>
            </a:r>
          </a:p>
          <a:p>
            <a:pPr algn="ctr">
              <a:lnSpc>
                <a:spcPct val="110000"/>
              </a:lnSpc>
            </a:pPr>
            <a:r>
              <a:rPr sz="1200" b="0" i="0">
                <a:solidFill>
                  <a:srgbClr val="21295C"/>
                </a:solidFill>
                <a:latin typeface="Arial"/>
              </a:rPr>
              <a:t>2026 год, к июлю</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релизов года с раскрытием генеративных средств · все игры, вышедшие в соответствующем году</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Счёт по карточкам самих игр, а не опрос: ряд подтверждён вторым независимым счётом по 53 597 релизам</a:t>
            </a:r>
          </a:p>
        </p:txBody>
      </p:sp>
      <p:sp>
        <p:nvSpPr>
          <p:cNvPr id="15" name="Rounded Rectangle 14"/>
          <p:cNvSpPr/>
          <p:nvPr/>
        </p:nvSpPr>
        <p:spPr>
          <a:xfrm>
            <a:off x="374904" y="343605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Автоматический дубляж на видеоплощадке: свыше 25% времени просмотра</a:t>
            </a:r>
            <a:r>
              <a:rPr sz="1500" b="0" i="0">
                <a:solidFill>
                  <a:srgbClr val="21295C"/>
                </a:solidFill>
                <a:latin typeface="Arial"/>
              </a:rPr>
              <a:t> приходится на дорожки не основного языка видео — на каналах, которые дубляж включили. База у этой четверти нулевая: у автора, снимающего на одном языке, аудитории на других языках раньше не было вовсе, и дубляж для неё не заказывался. Числа таких каналов площадка не раскрыла.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Раскрытие обязательно по факту и добровольно по содержанию — поэтому все три доли читаются как нижняя граница.</a:t>
            </a:r>
            <a:r>
              <a:rPr sz="1500" b="0" i="0">
                <a:solidFill>
                  <a:srgbClr val="21295C"/>
                </a:solidFill>
                <a:latin typeface="Arial"/>
              </a:rPr>
              <a:t> Игры — единственная отрасль вечера, где есть счёт, а не опрос.</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публичные страницы раскрытия Steam; сообщения площадки о дубляже, 11 февраля 2025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 ЭНКОДЕРОВ: НА ЧЁМ ОБУЧЕНА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 млн пар «изображение — подпись»</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пары, собранные из открытого веба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РАСПОЗНАВАНИЕ ДЕШЕВЛЕ ПОРОЖДЕНИЯ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один прямой проход</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десятков шагов снятия шума — разница на порядки</a:t>
            </a:r>
          </a:p>
        </p:txBody>
      </p:sp>
      <p:sp>
        <p:nvSpPr>
          <p:cNvPr id="12" name="TextBox 11"/>
          <p:cNvSpPr txBox="1"/>
          <p:nvPr/>
        </p:nvSpPr>
        <p:spPr>
          <a:xfrm>
            <a:off x="502920" y="3110657"/>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зрения</a:t>
            </a:r>
          </a:p>
        </p:txBody>
      </p:sp>
      <p:sp>
        <p:nvSpPr>
          <p:cNvPr id="13" name="Rounded Rectangle 12"/>
          <p:cNvSpPr/>
          <p:nvPr/>
        </p:nvSpPr>
        <p:spPr>
          <a:xfrm>
            <a:off x="2011680" y="3074081"/>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режется на патчи; патч — токен</a:t>
            </a:r>
          </a:p>
        </p:txBody>
      </p:sp>
      <p:sp>
        <p:nvSpPr>
          <p:cNvPr id="16" name="Right Arrow 15"/>
          <p:cNvSpPr/>
          <p:nvPr/>
        </p:nvSpPr>
        <p:spPr>
          <a:xfrm>
            <a:off x="5069738" y="345619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89778"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72074"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обычный трансформер-энкодер, те же блоки внимания</a:t>
            </a:r>
          </a:p>
        </p:txBody>
      </p:sp>
      <p:sp>
        <p:nvSpPr>
          <p:cNvPr id="19" name="Right Arrow 18"/>
          <p:cNvSpPr/>
          <p:nvPr/>
        </p:nvSpPr>
        <p:spPr>
          <a:xfrm>
            <a:off x="8356396" y="345619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76436"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8758732"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один прямой проход — и метка; размеры линейки 86 · 307 · 632 млн параметров</a:t>
            </a:r>
          </a:p>
        </p:txBody>
      </p:sp>
      <p:sp>
        <p:nvSpPr>
          <p:cNvPr id="22" name="TextBox 21"/>
          <p:cNvSpPr txBox="1"/>
          <p:nvPr/>
        </p:nvSpPr>
        <p:spPr>
          <a:xfrm>
            <a:off x="502920" y="412176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Пара энкодеров</a:t>
            </a:r>
          </a:p>
        </p:txBody>
      </p:sp>
      <p:sp>
        <p:nvSpPr>
          <p:cNvPr id="23" name="Rounded Rectangle 22"/>
          <p:cNvSpPr/>
          <p:nvPr/>
        </p:nvSpPr>
        <p:spPr>
          <a:xfrm>
            <a:off x="2011680" y="408519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4" name="Rounded Rectangle 23"/>
          <p:cNvSpPr/>
          <p:nvPr/>
        </p:nvSpPr>
        <p:spPr>
          <a:xfrm>
            <a:off x="2103120"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2185416"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энкодер картинки и энкодер текста учатся вместе</a:t>
            </a:r>
          </a:p>
        </p:txBody>
      </p:sp>
      <p:sp>
        <p:nvSpPr>
          <p:cNvPr id="26" name="Right Arrow 25"/>
          <p:cNvSpPr/>
          <p:nvPr/>
        </p:nvSpPr>
        <p:spPr>
          <a:xfrm>
            <a:off x="5069738" y="435060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5389778"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5472074"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оба проецируют вход в одно общее пространство</a:t>
            </a:r>
          </a:p>
        </p:txBody>
      </p:sp>
      <p:sp>
        <p:nvSpPr>
          <p:cNvPr id="29" name="Right Arrow 28"/>
          <p:cNvSpPr/>
          <p:nvPr/>
        </p:nvSpPr>
        <p:spPr>
          <a:xfrm>
            <a:off x="8356396" y="4350601"/>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8676436"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758732"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угадать, какая подпись какому изображению</a:t>
            </a:r>
          </a:p>
        </p:txBody>
      </p:sp>
      <p:sp>
        <p:nvSpPr>
          <p:cNvPr id="32" name="TextBox 31"/>
          <p:cNvSpPr txBox="1"/>
          <p:nvPr/>
        </p:nvSpPr>
        <p:spPr>
          <a:xfrm>
            <a:off x="502920" y="482632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Модель зрения на патчах и пара энкодеров изображения и текста — обе появились раньше генераторов и работают внутри них</a:t>
            </a:r>
          </a:p>
        </p:txBody>
      </p:sp>
      <p:sp>
        <p:nvSpPr>
          <p:cNvPr id="33" name="Rounded Rectangle 32"/>
          <p:cNvSpPr/>
          <p:nvPr/>
        </p:nvSpPr>
        <p:spPr>
          <a:xfrm>
            <a:off x="374904" y="5132778"/>
            <a:ext cx="11441887" cy="110342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24218"/>
            <a:ext cx="11112703" cy="101198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Порождение и распознавание расходятся в трёх местах:</a:t>
            </a:r>
            <a:r>
              <a:rPr sz="1250" b="0" i="0">
                <a:solidFill>
                  <a:srgbClr val="21295C"/>
                </a:solidFill>
                <a:latin typeface="Arial"/>
              </a:rPr>
              <a:t> стоимость, проверяемость и способ обучения. У распознавателя есть эталонная разметка — правильного ответа на «нарисуй дракона» не существует. Обучают его просто: показывают настоящие и синтетические, просят разделить, и вся дальнейшая судьба определяется тем, ЧЬИ синтетические показывали. Тот же текстовый энкодер пары понимает запрос в ранних диффузионных моделях.</a:t>
            </a:r>
          </a:p>
        </p:txBody>
      </p:sp>
      <p:sp>
        <p:nvSpPr>
          <p:cNvPr id="35" name="Rectangle 3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 ТАБЛИЦЫ</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94,9</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мера: 0,5 из 1 — монета, 1,0 — без промаха. Здесь 0,949, то есть «отлично», при решении, не отличимом от монеты. Если приёмка смотрела на эту величину, она увидела отличный распознаватель</a:t>
            </a:r>
          </a:p>
        </p:txBody>
      </p:sp>
      <p:sp>
        <p:nvSpPr>
          <p:cNvPr id="8" name="Rectangle 7"/>
          <p:cNvSpPr/>
          <p:nvPr/>
        </p:nvSpPr>
        <p:spPr>
          <a:xfrm>
            <a:off x="754380" y="3565875"/>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45</a:t>
            </a:r>
          </a:p>
        </p:txBody>
      </p:sp>
      <p:sp>
        <p:nvSpPr>
          <p:cNvPr id="10" name="TextBox 9"/>
          <p:cNvSpPr txBox="1"/>
          <p:nvPr/>
        </p:nvSpPr>
        <p:spPr>
          <a:xfrm>
            <a:off x="11071555"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11" name="Rectangle 10"/>
          <p:cNvSpPr/>
          <p:nvPr/>
        </p:nvSpPr>
        <p:spPr>
          <a:xfrm>
            <a:off x="836676" y="3485408"/>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485408"/>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2128259" y="3401283"/>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1034819"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51,2</a:t>
            </a:r>
          </a:p>
          <a:p>
            <a:pPr algn="ctr">
              <a:lnSpc>
                <a:spcPct val="110000"/>
              </a:lnSpc>
            </a:pPr>
            <a:r>
              <a:rPr sz="1200" b="0" i="0">
                <a:solidFill>
                  <a:srgbClr val="21295C"/>
                </a:solidFill>
                <a:latin typeface="Arial"/>
              </a:rPr>
              <a:t>ADM</a:t>
            </a:r>
          </a:p>
        </p:txBody>
      </p:sp>
      <p:sp>
        <p:nvSpPr>
          <p:cNvPr id="15" name="Rectangle 14"/>
          <p:cNvSpPr/>
          <p:nvPr/>
        </p:nvSpPr>
        <p:spPr>
          <a:xfrm>
            <a:off x="2257823" y="3616167"/>
            <a:ext cx="50292" cy="1645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1164383"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51,9</a:t>
            </a:r>
          </a:p>
          <a:p>
            <a:pPr algn="ctr">
              <a:lnSpc>
                <a:spcPct val="110000"/>
              </a:lnSpc>
            </a:pPr>
            <a:r>
              <a:rPr sz="1200" b="0" i="0">
                <a:solidFill>
                  <a:srgbClr val="21295C"/>
                </a:solidFill>
                <a:latin typeface="Arial"/>
              </a:rPr>
              <a:t>DALL·E 2</a:t>
            </a:r>
          </a:p>
        </p:txBody>
      </p:sp>
      <p:sp>
        <p:nvSpPr>
          <p:cNvPr id="17" name="Rectangle 16"/>
          <p:cNvSpPr/>
          <p:nvPr/>
        </p:nvSpPr>
        <p:spPr>
          <a:xfrm>
            <a:off x="4367862" y="3401283"/>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274423"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63,3</a:t>
            </a:r>
          </a:p>
          <a:p>
            <a:pPr algn="ctr">
              <a:lnSpc>
                <a:spcPct val="110000"/>
              </a:lnSpc>
            </a:pPr>
            <a:r>
              <a:rPr sz="1200" b="0" i="0">
                <a:solidFill>
                  <a:srgbClr val="21295C"/>
                </a:solidFill>
                <a:latin typeface="Arial"/>
              </a:rPr>
              <a:t>после обрезки и пережатия</a:t>
            </a:r>
          </a:p>
        </p:txBody>
      </p:sp>
      <p:sp>
        <p:nvSpPr>
          <p:cNvPr id="19" name="Rectangle 18"/>
          <p:cNvSpPr/>
          <p:nvPr/>
        </p:nvSpPr>
        <p:spPr>
          <a:xfrm>
            <a:off x="10809035" y="361616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9715596"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98,1</a:t>
            </a:r>
          </a:p>
          <a:p>
            <a:pPr algn="ctr">
              <a:lnSpc>
                <a:spcPct val="110000"/>
              </a:lnSpc>
            </a:pPr>
            <a:r>
              <a:rPr sz="1200" b="0" i="0">
                <a:solidFill>
                  <a:srgbClr val="21295C"/>
                </a:solidFill>
                <a:latin typeface="Arial"/>
              </a:rPr>
              <a:t>StyleGAN2</a:t>
            </a:r>
          </a:p>
        </p:txBody>
      </p:sp>
      <p:sp>
        <p:nvSpPr>
          <p:cNvPr id="21" name="Rectangle 20"/>
          <p:cNvSpPr/>
          <p:nvPr/>
        </p:nvSpPr>
        <p:spPr>
          <a:xfrm>
            <a:off x="11142200" y="3401283"/>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10048760"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99,9</a:t>
            </a:r>
          </a:p>
          <a:p>
            <a:pPr algn="ctr">
              <a:lnSpc>
                <a:spcPct val="110000"/>
              </a:lnSpc>
            </a:pPr>
            <a:r>
              <a:rPr sz="1200" b="0" i="0">
                <a:solidFill>
                  <a:srgbClr val="21295C"/>
                </a:solidFill>
                <a:latin typeface="Arial"/>
              </a:rPr>
              <a:t>своё семейство</a:t>
            </a:r>
          </a:p>
        </p:txBody>
      </p:sp>
      <p:sp>
        <p:nvSpPr>
          <p:cNvPr id="23" name="TextBox 22"/>
          <p:cNvSpPr txBox="1"/>
          <p:nvPr/>
        </p:nvSpPr>
        <p:spPr>
          <a:xfrm>
            <a:off x="502920" y="439687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ответов при рабочем пороге · один и тот же распознаватель, разные источники изображений</a:t>
            </a:r>
          </a:p>
        </p:txBody>
      </p:sp>
      <p:sp>
        <p:nvSpPr>
          <p:cNvPr id="24" name="TextBox 23"/>
          <p:cNvSpPr txBox="1"/>
          <p:nvPr/>
        </p:nvSpPr>
        <p:spPr>
          <a:xfrm>
            <a:off x="502920" y="468947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Своё семейство · чужое семейство · та же картинка после обычной обработки. Половина шкалы — подбрасывание монеты</a:t>
            </a:r>
          </a:p>
        </p:txBody>
      </p:sp>
      <p:sp>
        <p:nvSpPr>
          <p:cNvPr id="25" name="Rounded Rectangle 24"/>
          <p:cNvSpPr/>
          <p:nvPr/>
        </p:nvSpPr>
        <p:spPr>
          <a:xfrm>
            <a:off x="374904" y="4995934"/>
            <a:ext cx="11441887" cy="1240273"/>
          </a:xfrm>
          <a:prstGeom prst="roundRect">
            <a:avLst>
              <a:gd name="adj" fmla="val 245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87374"/>
            <a:ext cx="5373471" cy="114883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Выбор между двумя честными цифрами решает, поставите вы такую систему в работу или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спрашивайте долю верных ответов при рабочем пороге, а не площадь под кривой</a:t>
            </a:r>
          </a:p>
        </p:txBody>
      </p:sp>
      <p:sp>
        <p:nvSpPr>
          <p:cNvPr id="27" name="TextBox 26"/>
          <p:cNvSpPr txBox="1"/>
          <p:nvPr/>
        </p:nvSpPr>
        <p:spPr>
          <a:xfrm>
            <a:off x="6278727" y="5087374"/>
            <a:ext cx="5373471" cy="114883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спрашивайте у поставщика, на чём распознаватель измерен, и сверяйте с тем, на чём будете применять</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починка существует и неполная: среднее по тем же двенадцати генераторам поднимается с 75,8 до 87,8, а DALL·E 2 остаётся на 66,9</a:t>
            </a:r>
          </a:p>
        </p:txBody>
      </p:sp>
      <p:sp>
        <p:nvSpPr>
          <p:cNvPr id="28" name="Rectangle 27"/>
          <p:cNvSpPr/>
          <p:nvPr/>
        </p:nvSpPr>
        <p:spPr>
          <a:xfrm>
            <a:off x="6091275" y="5087374"/>
            <a:ext cx="9144" cy="107910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Подпись камеры Nikon Z6III: отозванные сертификаты</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27 АВГУСТА 2025</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удостоверения в прошивке</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удостоверения содержимого в профессиональной модели</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ЧЕРЕЗ НЕСКОЛЬКО ДНЕЙ</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подписано нефотографическое изображение</a:t>
            </a:r>
          </a:p>
        </p:txBody>
      </p:sp>
      <p:sp>
        <p:nvSpPr>
          <p:cNvPr id="11" name="TextBox 10"/>
          <p:cNvSpPr txBox="1"/>
          <p:nvPr/>
        </p:nvSpPr>
        <p:spPr>
          <a:xfrm>
            <a:off x="3477691" y="26785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показано исследователем</a:t>
            </a:r>
          </a:p>
        </p:txBody>
      </p:sp>
      <p:sp>
        <p:nvSpPr>
          <p:cNvPr id="12" name="Rounded Rectangle 11"/>
          <p:cNvSpPr/>
          <p:nvPr/>
        </p:nvSpPr>
        <p:spPr>
          <a:xfrm>
            <a:off x="6178143"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 21 СЕНТЯБРЯ 2025</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все сертификаты отозваны</a:t>
            </a:r>
          </a:p>
        </p:txBody>
      </p:sp>
      <p:sp>
        <p:nvSpPr>
          <p:cNvPr id="15" name="TextBox 14"/>
          <p:cNvSpPr txBox="1"/>
          <p:nvPr/>
        </p:nvSpPr>
        <p:spPr>
          <a:xfrm>
            <a:off x="6315303"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сервис приостановлен, двадцать пять дней после запуска</a:t>
            </a:r>
          </a:p>
        </p:txBody>
      </p:sp>
      <p:sp>
        <p:nvSpPr>
          <p:cNvPr id="16" name="Rounded Rectangle 15"/>
          <p:cNvSpPr/>
          <p:nvPr/>
        </p:nvSpPr>
        <p:spPr>
          <a:xfrm>
            <a:off x="9015755"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ПРОВЕРЯЮЩИЕ ПРОГРАММЫ</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отзыв не проверяют</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снимок с отозванным сертификатом проходит проверку до сих пор</a:t>
            </a:r>
          </a:p>
        </p:txBody>
      </p:sp>
      <p:sp>
        <p:nvSpPr>
          <p:cNvPr id="20" name="TextBox 19"/>
          <p:cNvSpPr txBox="1"/>
          <p:nvPr/>
        </p:nvSpPr>
        <p:spPr>
          <a:xfrm>
            <a:off x="502920" y="392356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задумано</a:t>
            </a:r>
          </a:p>
        </p:txBody>
      </p:sp>
      <p:sp>
        <p:nvSpPr>
          <p:cNvPr id="21" name="Rounded Rectangle 20"/>
          <p:cNvSpPr/>
          <p:nvPr/>
        </p:nvSpPr>
        <p:spPr>
          <a:xfrm>
            <a:off x="2011680" y="388699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камера подписывает кадр ключом прошивки</a:t>
            </a:r>
          </a:p>
        </p:txBody>
      </p:sp>
      <p:sp>
        <p:nvSpPr>
          <p:cNvPr id="24" name="Right Arrow 23"/>
          <p:cNvSpPr/>
          <p:nvPr/>
        </p:nvSpPr>
        <p:spPr>
          <a:xfrm>
            <a:off x="5069738" y="415240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89778"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72074"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проверяющая программа сверяет хеш и цепочку</a:t>
            </a:r>
          </a:p>
        </p:txBody>
      </p:sp>
      <p:sp>
        <p:nvSpPr>
          <p:cNvPr id="27" name="Right Arrow 26"/>
          <p:cNvSpPr/>
          <p:nvPr/>
        </p:nvSpPr>
        <p:spPr>
          <a:xfrm>
            <a:off x="8356396" y="415240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76436"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8758732"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вердикт «подлинно»</a:t>
            </a:r>
          </a:p>
        </p:txBody>
      </p:sp>
      <p:sp>
        <p:nvSpPr>
          <p:cNvPr id="30" name="TextBox 29"/>
          <p:cNvSpPr txBox="1"/>
          <p:nvPr/>
        </p:nvSpPr>
        <p:spPr>
          <a:xfrm>
            <a:off x="502920" y="4701273"/>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рвётся</a:t>
            </a:r>
          </a:p>
        </p:txBody>
      </p:sp>
      <p:sp>
        <p:nvSpPr>
          <p:cNvPr id="31" name="Rounded Rectangle 30"/>
          <p:cNvSpPr/>
          <p:nvPr/>
        </p:nvSpPr>
        <p:spPr>
          <a:xfrm>
            <a:off x="2011680" y="4664697"/>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2" name="Rounded Rectangle 31"/>
          <p:cNvSpPr/>
          <p:nvPr/>
        </p:nvSpPr>
        <p:spPr>
          <a:xfrm>
            <a:off x="2103120"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2185416"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мультиэкспозиция: подписано нефотографическое изображение</a:t>
            </a:r>
          </a:p>
        </p:txBody>
      </p:sp>
      <p:sp>
        <p:nvSpPr>
          <p:cNvPr id="34" name="Right Arrow 33"/>
          <p:cNvSpPr/>
          <p:nvPr/>
        </p:nvSpPr>
        <p:spPr>
          <a:xfrm>
            <a:off x="5069738" y="504680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5389778"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5472074"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 подлинная: она про того, кто подписал</a:t>
            </a:r>
          </a:p>
        </p:txBody>
      </p:sp>
      <p:sp>
        <p:nvSpPr>
          <p:cNvPr id="37" name="Right Arrow 36"/>
          <p:cNvSpPr/>
          <p:nvPr/>
        </p:nvSpPr>
        <p:spPr>
          <a:xfrm>
            <a:off x="8356396" y="5046809"/>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8676436"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758732"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отзыв по умолчанию не проверяется</a:t>
            </a:r>
          </a:p>
        </p:txBody>
      </p:sp>
      <p:sp>
        <p:nvSpPr>
          <p:cNvPr id="40" name="Rounded Rectangle 39"/>
          <p:cNvSpPr/>
          <p:nvPr/>
        </p:nvSpPr>
        <p:spPr>
          <a:xfrm>
            <a:off x="374904" y="5657521"/>
            <a:ext cx="11441887" cy="5614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48961"/>
            <a:ext cx="11112703" cy="48724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Происхождение удостоверяют двумя противоположными способами: подпись снаружи файла и знак внутри пикселей.</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сломалось и что не сломалось</a:t>
            </a:r>
          </a:p>
        </p:txBody>
      </p:sp>
      <p:sp>
        <p:nvSpPr>
          <p:cNvPr id="4" name="Rounded Rectangle 3"/>
          <p:cNvSpPr/>
          <p:nvPr/>
        </p:nvSpPr>
        <p:spPr>
          <a:xfrm>
            <a:off x="502920" y="1335024"/>
            <a:ext cx="2630271" cy="3108960"/>
          </a:xfrm>
          <a:prstGeom prst="roundRect">
            <a:avLst>
              <a:gd name="adj" fmla="val 115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6" name="TextBox 5"/>
          <p:cNvSpPr txBox="1"/>
          <p:nvPr/>
        </p:nvSpPr>
        <p:spPr>
          <a:xfrm>
            <a:off x="667512" y="1846650"/>
            <a:ext cx="23010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подпись подлинная, сертификат валидный на момент подписания</a:t>
            </a:r>
          </a:p>
          <a:p>
            <a:pPr algn="l">
              <a:lnSpc>
                <a:spcPct val="126000"/>
              </a:lnSpc>
            </a:pPr>
            <a:r>
              <a:rPr sz="1450" b="0" i="0">
                <a:solidFill>
                  <a:srgbClr val="21295C"/>
                </a:solidFill>
                <a:latin typeface="Arial"/>
              </a:rPr>
              <a:t>• хеш сходится, цепочка не нарушена</a:t>
            </a:r>
          </a:p>
          <a:p>
            <a:pPr algn="l">
              <a:lnSpc>
                <a:spcPct val="126000"/>
              </a:lnSpc>
            </a:pPr>
            <a:r>
              <a:rPr sz="1450" b="0" i="0">
                <a:solidFill>
                  <a:srgbClr val="21295C"/>
                </a:solidFill>
                <a:latin typeface="Arial"/>
              </a:rPr>
              <a:t>• механизм выполнил ровно то, что обещал</a:t>
            </a:r>
          </a:p>
        </p:txBody>
      </p:sp>
      <p:sp>
        <p:nvSpPr>
          <p:cNvPr id="7" name="Rounded Rectangle 6"/>
          <p:cNvSpPr/>
          <p:nvPr/>
        </p:nvSpPr>
        <p:spPr>
          <a:xfrm>
            <a:off x="3444087" y="1335024"/>
            <a:ext cx="2630271" cy="3108960"/>
          </a:xfrm>
          <a:prstGeom prst="roundRect">
            <a:avLst>
              <a:gd name="adj" fmla="val 11588"/>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3608679" y="1490472"/>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9" name="TextBox 8"/>
          <p:cNvSpPr txBox="1"/>
          <p:nvPr/>
        </p:nvSpPr>
        <p:spPr>
          <a:xfrm>
            <a:off x="3608679" y="1846650"/>
            <a:ext cx="2301087" cy="244188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подписывающая сторона подписала то, чего не снимала</a:t>
            </a:r>
          </a:p>
          <a:p>
            <a:pPr algn="l">
              <a:lnSpc>
                <a:spcPct val="126000"/>
              </a:lnSpc>
            </a:pPr>
            <a:r>
              <a:rPr sz="900" b="0" i="0">
                <a:solidFill>
                  <a:srgbClr val="21295C"/>
                </a:solidFill>
                <a:latin typeface="Arial"/>
              </a:rPr>
              <a:t>• подпись удостоверяет, КТО подписал, а не ЧТО происходило перед объективом</a:t>
            </a:r>
          </a:p>
          <a:p>
            <a:pPr algn="l">
              <a:lnSpc>
                <a:spcPct val="126000"/>
              </a:lnSpc>
            </a:pPr>
            <a:r>
              <a:rPr sz="9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a:p>
            <a:pPr algn="l">
              <a:lnSpc>
                <a:spcPct val="126000"/>
              </a:lnSpc>
            </a:pPr>
            <a:r>
              <a:rPr sz="900" b="0" i="0">
                <a:solidFill>
                  <a:srgbClr val="21295C"/>
                </a:solidFill>
                <a:latin typeface="Arial"/>
              </a:rPr>
              <a:t>• значит «поиск по документам для картинок» — ошибка в постановке задачи, а не функция, которую когда-нибудь доделают</a:t>
            </a:r>
          </a:p>
        </p:txBody>
      </p:sp>
      <p:sp>
        <p:nvSpPr>
          <p:cNvPr id="10" name="Rounded Rectangle 9"/>
          <p:cNvSpPr/>
          <p:nvPr/>
        </p:nvSpPr>
        <p:spPr>
          <a:xfrm>
            <a:off x="374904" y="4960834"/>
            <a:ext cx="11441887" cy="1275373"/>
          </a:xfrm>
          <a:prstGeom prst="roundRect">
            <a:avLst>
              <a:gd name="adj" fmla="val 238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5052274"/>
            <a:ext cx="11112703" cy="118393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Подпись удостоверяет, КТО подписал, а не ЧТО происходило перед объективом.</a:t>
            </a:r>
            <a:r>
              <a:rPr sz="1500" b="0" i="0">
                <a:solidFill>
                  <a:srgbClr val="21295C"/>
                </a:solidFill>
                <a:latin typeface="Arial"/>
              </a:rPr>
              <a:t> Граница между снятым и синтезированным размылась штатным рабочим конвейером, а не атакой злоумышленника: кадр из нейросетевой графики не снимал и не рисовал никто.</a:t>
            </a:r>
          </a:p>
        </p:txBody>
      </p:sp>
      <p:sp>
        <p:nvSpPr>
          <p:cNvPr id="12" name="Rounded Rectangle 11"/>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3" name="Picture 12" descr="s85-nikon-z6iii.jpg"/>
          <p:cNvPicPr>
            <a:picLocks noChangeAspect="1"/>
          </p:cNvPicPr>
          <p:nvPr/>
        </p:nvPicPr>
        <p:blipFill>
          <a:blip r:embed="rId2"/>
          <a:stretch>
            <a:fillRect/>
          </a:stretch>
        </p:blipFill>
        <p:spPr>
          <a:xfrm>
            <a:off x="6522415" y="1472184"/>
            <a:ext cx="5029200" cy="335149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устроено в редакции и что написали другие</a:t>
            </a:r>
          </a:p>
        </p:txBody>
      </p:sp>
      <p:sp>
        <p:nvSpPr>
          <p:cNvPr id="4" name="TextBox 3"/>
          <p:cNvSpPr txBox="1"/>
          <p:nvPr/>
        </p:nvSpPr>
        <p:spPr>
          <a:xfrm>
            <a:off x="502920" y="137160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это было устроено</a:t>
            </a:r>
          </a:p>
        </p:txBody>
      </p:sp>
      <p:sp>
        <p:nvSpPr>
          <p:cNvPr id="5" name="Rounded Rectangle 4"/>
          <p:cNvSpPr/>
          <p:nvPr/>
        </p:nvSpPr>
        <p:spPr>
          <a:xfrm>
            <a:off x="1920240" y="1335024"/>
            <a:ext cx="2236393" cy="118833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2071801" cy="1096899"/>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внутренний движок генерирует объяснительную финансовую статью</a:t>
            </a:r>
          </a:p>
        </p:txBody>
      </p:sp>
      <p:sp>
        <p:nvSpPr>
          <p:cNvPr id="7" name="Right Arrow 6"/>
          <p:cNvSpPr/>
          <p:nvPr/>
        </p:nvSpPr>
        <p:spPr>
          <a:xfrm>
            <a:off x="4202353" y="1860613"/>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публикация под редакционной подписью «CNET Money Staff»</a:t>
            </a:r>
          </a:p>
        </p:txBody>
      </p:sp>
      <p:sp>
        <p:nvSpPr>
          <p:cNvPr id="10" name="Right Arrow 9"/>
          <p:cNvSpPr/>
          <p:nvPr/>
        </p:nvSpPr>
        <p:spPr>
          <a:xfrm>
            <a:off x="6713067" y="1860613"/>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заявленная редакционная проверка: человек в контуре был</a:t>
            </a:r>
          </a:p>
        </p:txBody>
      </p:sp>
      <p:sp>
        <p:nvSpPr>
          <p:cNvPr id="13" name="Right Arrow 12"/>
          <p:cNvSpPr/>
          <p:nvPr/>
        </p:nvSpPr>
        <p:spPr>
          <a:xfrm>
            <a:off x="9223781" y="1860613"/>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41 исправление из 77 статей после сплошной проверки</a:t>
            </a:r>
          </a:p>
        </p:txBody>
      </p:sp>
      <p:sp>
        <p:nvSpPr>
          <p:cNvPr id="16" name="TextBox 15"/>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редакции, через который прошёл сорок один материал из семидесяти семи</a:t>
            </a:r>
          </a:p>
        </p:txBody>
      </p:sp>
      <p:sp>
        <p:nvSpPr>
          <p:cNvPr id="17" name="Rounded Rectangle 16"/>
          <p:cNvSpPr/>
          <p:nvPr/>
        </p:nvSpPr>
        <p:spPr>
          <a:xfrm>
            <a:off x="374904" y="2862623"/>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одна из четырёх норм не запрещает модель</a:t>
            </a:r>
            <a:r>
              <a:rPr sz="1500" b="0" i="0">
                <a:solidFill>
                  <a:srgbClr val="21295C"/>
                </a:solidFill>
                <a:latin typeface="Arial"/>
              </a:rPr>
              <a:t> — все четыре называют человека, отвечающего за выпуск. Имя внутреннего изделия публично не названо: искали, не нашли.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Associated Press, 15 августа 2023: вывод генеративного инструмента переопределён как непроверенный исходный материал — тем самым снят сам вопрос «можно ли публиковать без проверки»</a:t>
            </a:r>
          </a:p>
        </p:txBody>
      </p:sp>
      <p:sp>
        <p:nvSpPr>
          <p:cNvPr id="19" name="TextBox 18"/>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20" name="Rectangle 19"/>
          <p:cNvSpPr/>
          <p:nvPr/>
        </p:nvSpPr>
        <p:spPr>
          <a:xfrm>
            <a:off x="6091275" y="2954063"/>
            <a:ext cx="9144" cy="28513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CNET, «CNET Is Testing an AI Engine. Here's What We've Learned, Mistakes and All», 25 января 2023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7143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7" name="TextBox 6"/>
          <p:cNvSpPr txBox="1"/>
          <p:nvPr/>
        </p:nvSpPr>
        <p:spPr>
          <a:xfrm>
            <a:off x="640080" y="2152374"/>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8" name="Rounded Rectangle 7"/>
          <p:cNvSpPr/>
          <p:nvPr/>
        </p:nvSpPr>
        <p:spPr>
          <a:xfrm>
            <a:off x="502920" y="2665369"/>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40080" y="2802529"/>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0" name="TextBox 9"/>
          <p:cNvSpPr txBox="1"/>
          <p:nvPr/>
        </p:nvSpPr>
        <p:spPr>
          <a:xfrm>
            <a:off x="640080" y="3055721"/>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1" name="TextBox 10"/>
          <p:cNvSpPr txBox="1"/>
          <p:nvPr/>
        </p:nvSpPr>
        <p:spPr>
          <a:xfrm>
            <a:off x="640080" y="3482720"/>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этот контрфакт и делает разбор сильнейшим</a:t>
            </a:r>
          </a:p>
        </p:txBody>
      </p:sp>
      <p:sp>
        <p:nvSpPr>
          <p:cNvPr id="12" name="Rounded Rectangle 11"/>
          <p:cNvSpPr/>
          <p:nvPr/>
        </p:nvSpPr>
        <p:spPr>
          <a:xfrm>
            <a:off x="374904" y="4727448"/>
            <a:ext cx="11441887" cy="1508760"/>
          </a:xfrm>
          <a:prstGeom prst="roundRect">
            <a:avLst>
              <a:gd name="adj" fmla="val 2020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818888"/>
            <a:ext cx="11112703" cy="141732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Единица, в которой посчитаны обе стороны, — плотность живого свидетельства на тысячу слов.</a:t>
            </a:r>
            <a:r>
              <a:rPr sz="1400" b="0" i="0">
                <a:solidFill>
                  <a:srgbClr val="21295C"/>
                </a:solidFill>
                <a:latin typeface="Arial"/>
              </a:rPr>
              <a:t> Обе половины получены одной процедурой на одном корпусе: 254 610 статей из 174 российских изданий, с 2020 года по второй квартал 2026-го.</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Почему 18 процентов — нижняя граница.</a:t>
            </a:r>
            <a:r>
              <a:rPr sz="1400" b="0" i="0">
                <a:solidFill>
                  <a:srgbClr val="21295C"/>
                </a:solidFill>
                <a:latin typeface="Arial"/>
              </a:rPr>
              <a:t> Распознаватели не обобщаются на чужую модель. Рядом стоят ещё две величины: 13 процентов прироста машинной лексики у людей и 27 процентов корпуса с частичными признаками.</a:t>
            </a:r>
          </a:p>
        </p:txBody>
      </p:sp>
      <p:sp>
        <p:nvSpPr>
          <p:cNvPr id="14" name="Rounded Rectangle 13"/>
          <p:cNvSpPr/>
          <p:nvPr/>
        </p:nvSpPr>
        <p:spPr>
          <a:xfrm>
            <a:off x="6385255" y="1335024"/>
            <a:ext cx="5303520" cy="3392424"/>
          </a:xfrm>
          <a:prstGeom prst="roundRect">
            <a:avLst>
              <a:gd name="adj" fmla="val 8984"/>
            </a:avLst>
          </a:prstGeom>
          <a:solidFill>
            <a:srgbClr val="F4F7FA"/>
          </a:solidFill>
          <a:ln w="19050">
            <a:solidFill>
              <a:srgbClr val="1C7293"/>
            </a:solidFill>
          </a:ln>
          <a:effectLst/>
        </p:spPr>
        <p:txBody>
          <a:bodyPr rtlCol="0" anchor="ctr"/>
          <a:lstStyle/>
          <a:p>
            <a:pPr algn="ctr"/>
          </a:p>
        </p:txBody>
      </p:sp>
      <p:pic>
        <p:nvPicPr>
          <p:cNvPr id="15" name="Picture 14" descr="s87-dolya-statey-po-kvartalam.png"/>
          <p:cNvPicPr>
            <a:picLocks noChangeAspect="1"/>
          </p:cNvPicPr>
          <p:nvPr/>
        </p:nvPicPr>
        <p:blipFill>
          <a:blip r:embed="rId2"/>
          <a:stretch>
            <a:fillRect/>
          </a:stretch>
        </p:blipFill>
        <p:spPr>
          <a:xfrm>
            <a:off x="6522415" y="1472184"/>
            <a:ext cx="5029200" cy="3118104"/>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95328"/>
            <a:ext cx="2788920" cy="314504"/>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59336"/>
            <a:ext cx="2660903"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Тип задачи</a:t>
            </a:r>
          </a:p>
        </p:txBody>
      </p:sp>
      <p:sp>
        <p:nvSpPr>
          <p:cNvPr id="6" name="Rectangle 5"/>
          <p:cNvSpPr/>
          <p:nvPr/>
        </p:nvSpPr>
        <p:spPr>
          <a:xfrm>
            <a:off x="3291839" y="1495328"/>
            <a:ext cx="1679387" cy="314504"/>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Изображение</a:t>
            </a:r>
          </a:p>
        </p:txBody>
      </p:sp>
      <p:sp>
        <p:nvSpPr>
          <p:cNvPr id="8" name="Rectangle 7"/>
          <p:cNvSpPr/>
          <p:nvPr/>
        </p:nvSpPr>
        <p:spPr>
          <a:xfrm>
            <a:off x="4971227" y="1495328"/>
            <a:ext cx="1679387" cy="314504"/>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Звук</a:t>
            </a:r>
          </a:p>
        </p:txBody>
      </p:sp>
      <p:sp>
        <p:nvSpPr>
          <p:cNvPr id="10" name="Rectangle 9"/>
          <p:cNvSpPr/>
          <p:nvPr/>
        </p:nvSpPr>
        <p:spPr>
          <a:xfrm>
            <a:off x="6650614" y="1495328"/>
            <a:ext cx="1679387" cy="31450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Видео</a:t>
            </a:r>
          </a:p>
        </p:txBody>
      </p:sp>
      <p:sp>
        <p:nvSpPr>
          <p:cNvPr id="12" name="Rectangle 11"/>
          <p:cNvSpPr/>
          <p:nvPr/>
        </p:nvSpPr>
        <p:spPr>
          <a:xfrm>
            <a:off x="8330001" y="1495328"/>
            <a:ext cx="1679387" cy="31450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Трёхмерное</a:t>
            </a:r>
          </a:p>
        </p:txBody>
      </p:sp>
      <p:sp>
        <p:nvSpPr>
          <p:cNvPr id="14" name="Rectangle 13"/>
          <p:cNvSpPr/>
          <p:nvPr/>
        </p:nvSpPr>
        <p:spPr>
          <a:xfrm>
            <a:off x="10009388" y="1495328"/>
            <a:ext cx="1679387" cy="314504"/>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Распознавание</a:t>
            </a:r>
          </a:p>
        </p:txBody>
      </p:sp>
      <p:sp>
        <p:nvSpPr>
          <p:cNvPr id="16" name="Rectangle 15"/>
          <p:cNvSpPr/>
          <p:nvPr/>
        </p:nvSpPr>
        <p:spPr>
          <a:xfrm>
            <a:off x="10009388" y="17595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809832"/>
            <a:ext cx="2788920" cy="687481"/>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73840"/>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Породить первое приближение</a:t>
            </a:r>
          </a:p>
          <a:p>
            <a:pPr algn="l">
              <a:lnSpc>
                <a:spcPct val="113000"/>
              </a:lnSpc>
              <a:spcBef>
                <a:spcPts val="200"/>
              </a:spcBef>
            </a:pPr>
            <a:r>
              <a:rPr sz="90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0,034–0,05 $ за изображение</a:t>
            </a:r>
          </a:p>
        </p:txBody>
      </p:sp>
      <p:sp>
        <p:nvSpPr>
          <p:cNvPr id="21" name="Rectangle 20"/>
          <p:cNvSpPr/>
          <p:nvPr/>
        </p:nvSpPr>
        <p:spPr>
          <a:xfrm>
            <a:off x="4971227"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дубляж 0,03–0,072 $ за минуту</a:t>
            </a:r>
          </a:p>
        </p:txBody>
      </p:sp>
      <p:sp>
        <p:nvSpPr>
          <p:cNvPr id="23" name="Rectangle 22"/>
          <p:cNvSpPr/>
          <p:nvPr/>
        </p:nvSpPr>
        <p:spPr>
          <a:xfrm>
            <a:off x="6650614"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цена выпуска ниже в 10–20 раз</a:t>
            </a:r>
          </a:p>
        </p:txBody>
      </p:sp>
      <p:sp>
        <p:nvSpPr>
          <p:cNvPr id="25" name="Rectangle 24"/>
          <p:cNvSpPr/>
          <p:nvPr/>
        </p:nvSpPr>
        <p:spPr>
          <a:xfrm>
            <a:off x="8330001"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единицы секунд на вариант</a:t>
            </a:r>
          </a:p>
        </p:txBody>
      </p:sp>
      <p:sp>
        <p:nvSpPr>
          <p:cNvPr id="27" name="Rectangle 26"/>
          <p:cNvSpPr/>
          <p:nvPr/>
        </p:nvSpPr>
        <p:spPr>
          <a:xfrm>
            <a:off x="10009388"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порождение не задача стадии</a:t>
            </a:r>
          </a:p>
        </p:txBody>
      </p:sp>
      <p:sp>
        <p:nvSpPr>
          <p:cNvPr id="29" name="Rectangle 28"/>
          <p:cNvSpPr/>
          <p:nvPr/>
        </p:nvSpPr>
        <p:spPr>
          <a:xfrm>
            <a:off x="502920" y="2497313"/>
            <a:ext cx="2788920" cy="723793"/>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561321"/>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Довести до производственного качества</a:t>
            </a:r>
          </a:p>
          <a:p>
            <a:pPr algn="l">
              <a:lnSpc>
                <a:spcPct val="113000"/>
              </a:lnSpc>
              <a:spcBef>
                <a:spcPts val="200"/>
              </a:spcBef>
            </a:pPr>
            <a:r>
              <a:rPr sz="900" b="0" i="1">
                <a:solidFill>
                  <a:srgbClr val="1C7293"/>
                </a:solidFill>
                <a:latin typeface="Arial"/>
              </a:rPr>
              <a:t>отобрать, доработать и выпустить годное</a:t>
            </a:r>
          </a:p>
        </p:txBody>
      </p:sp>
      <p:sp>
        <p:nvSpPr>
          <p:cNvPr id="31" name="Rectangle 30"/>
          <p:cNvSpPr/>
          <p:nvPr/>
        </p:nvSpPr>
        <p:spPr>
          <a:xfrm>
            <a:off x="3291839"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адаптеры и ручная правка</a:t>
            </a:r>
          </a:p>
        </p:txBody>
      </p:sp>
      <p:sp>
        <p:nvSpPr>
          <p:cNvPr id="33" name="Rectangle 32"/>
          <p:cNvSpPr/>
          <p:nvPr/>
        </p:nvSpPr>
        <p:spPr>
          <a:xfrm>
            <a:off x="4971227"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ручная правка дикции</a:t>
            </a:r>
          </a:p>
        </p:txBody>
      </p:sp>
      <p:sp>
        <p:nvSpPr>
          <p:cNvPr id="35" name="Rectangle 34"/>
          <p:cNvSpPr/>
          <p:nvPr/>
        </p:nvSpPr>
        <p:spPr>
          <a:xfrm>
            <a:off x="6650614"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ручной отбор и склейка</a:t>
            </a:r>
          </a:p>
        </p:txBody>
      </p:sp>
      <p:sp>
        <p:nvSpPr>
          <p:cNvPr id="37" name="Rectangle 36"/>
          <p:cNvSpPr/>
          <p:nvPr/>
        </p:nvSpPr>
        <p:spPr>
          <a:xfrm>
            <a:off x="8330001"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ретопология, развёртка, риггинг остаются людям</a:t>
            </a:r>
          </a:p>
        </p:txBody>
      </p:sp>
      <p:sp>
        <p:nvSpPr>
          <p:cNvPr id="39" name="Rectangle 38"/>
          <p:cNvSpPr/>
          <p:nvPr/>
        </p:nvSpPr>
        <p:spPr>
          <a:xfrm>
            <a:off x="10009388"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человек в контуре с нормой времени</a:t>
            </a:r>
          </a:p>
        </p:txBody>
      </p:sp>
      <p:sp>
        <p:nvSpPr>
          <p:cNvPr id="41" name="Rectangle 40"/>
          <p:cNvSpPr/>
          <p:nvPr/>
        </p:nvSpPr>
        <p:spPr>
          <a:xfrm>
            <a:off x="502920" y="3221107"/>
            <a:ext cx="2788920" cy="68748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285115"/>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Восстановить существующее</a:t>
            </a:r>
          </a:p>
          <a:p>
            <a:pPr algn="l">
              <a:lnSpc>
                <a:spcPct val="113000"/>
              </a:lnSpc>
              <a:spcBef>
                <a:spcPts val="200"/>
              </a:spcBef>
            </a:pPr>
            <a:r>
              <a:rPr sz="900" b="0" i="1">
                <a:solidFill>
                  <a:srgbClr val="1C7293"/>
                </a:solidFill>
                <a:latin typeface="Arial"/>
              </a:rPr>
              <a:t>вытащить то, что уже записано, но читается плохо</a:t>
            </a:r>
          </a:p>
        </p:txBody>
      </p:sp>
      <p:sp>
        <p:nvSpPr>
          <p:cNvPr id="43" name="Rectangle 42"/>
          <p:cNvSpPr/>
          <p:nvPr/>
        </p:nvSpPr>
        <p:spPr>
          <a:xfrm>
            <a:off x="3291839"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повышение разрешения архива</a:t>
            </a:r>
          </a:p>
        </p:txBody>
      </p:sp>
      <p:sp>
        <p:nvSpPr>
          <p:cNvPr id="45" name="Rectangle 44"/>
          <p:cNvSpPr/>
          <p:nvPr/>
        </p:nvSpPr>
        <p:spPr>
          <a:xfrm>
            <a:off x="4971227"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разделение источников</a:t>
            </a:r>
          </a:p>
        </p:txBody>
      </p:sp>
      <p:sp>
        <p:nvSpPr>
          <p:cNvPr id="47" name="Rectangle 46"/>
          <p:cNvSpPr/>
          <p:nvPr/>
        </p:nvSpPr>
        <p:spPr>
          <a:xfrm>
            <a:off x="6650614"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интерполяция кадров</a:t>
            </a:r>
          </a:p>
        </p:txBody>
      </p:sp>
      <p:sp>
        <p:nvSpPr>
          <p:cNvPr id="49" name="Rectangle 48"/>
          <p:cNvSpPr/>
          <p:nvPr/>
        </p:nvSpPr>
        <p:spPr>
          <a:xfrm>
            <a:off x="8330001"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сцена из снимков: 41 минута, 134 кадра в секунду</a:t>
            </a:r>
          </a:p>
        </p:txBody>
      </p:sp>
      <p:sp>
        <p:nvSpPr>
          <p:cNvPr id="51" name="Rectangle 50"/>
          <p:cNvSpPr/>
          <p:nvPr/>
        </p:nvSpPr>
        <p:spPr>
          <a:xfrm>
            <a:off x="10009388"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свиток прочитан целиком, ответ проверяем</a:t>
            </a:r>
          </a:p>
        </p:txBody>
      </p:sp>
      <p:sp>
        <p:nvSpPr>
          <p:cNvPr id="53" name="Rectangle 52"/>
          <p:cNvSpPr/>
          <p:nvPr/>
        </p:nvSpPr>
        <p:spPr>
          <a:xfrm>
            <a:off x="502920" y="3908588"/>
            <a:ext cx="2788920" cy="519544"/>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972596"/>
            <a:ext cx="2660903" cy="391528"/>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Соблюсти точные величины</a:t>
            </a:r>
          </a:p>
          <a:p>
            <a:pPr algn="l">
              <a:lnSpc>
                <a:spcPct val="113000"/>
              </a:lnSpc>
              <a:spcBef>
                <a:spcPts val="200"/>
              </a:spcBef>
            </a:pPr>
            <a:r>
              <a:rPr sz="900" b="0" i="1">
                <a:solidFill>
                  <a:srgbClr val="1C7293"/>
                </a:solidFill>
                <a:latin typeface="Arial"/>
              </a:rPr>
              <a:t>размеры, допуски, проверяемые условия</a:t>
            </a:r>
          </a:p>
        </p:txBody>
      </p:sp>
      <p:sp>
        <p:nvSpPr>
          <p:cNvPr id="55" name="Rectangle 54"/>
          <p:cNvSpPr/>
          <p:nvPr/>
        </p:nvSpPr>
        <p:spPr>
          <a:xfrm>
            <a:off x="3291839"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57" name="Rectangle 56"/>
          <p:cNvSpPr/>
          <p:nvPr/>
        </p:nvSpPr>
        <p:spPr>
          <a:xfrm>
            <a:off x="4971227"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длина задана до запуска</a:t>
            </a:r>
          </a:p>
        </p:txBody>
      </p:sp>
      <p:sp>
        <p:nvSpPr>
          <p:cNvPr id="59" name="Rectangle 58"/>
          <p:cNvSpPr/>
          <p:nvPr/>
        </p:nvSpPr>
        <p:spPr>
          <a:xfrm>
            <a:off x="6650614"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физика выучена как корреляция</a:t>
            </a:r>
          </a:p>
        </p:txBody>
      </p:sp>
      <p:sp>
        <p:nvSpPr>
          <p:cNvPr id="61" name="Rectangle 60"/>
          <p:cNvSpPr/>
          <p:nvPr/>
        </p:nvSpPr>
        <p:spPr>
          <a:xfrm>
            <a:off x="8330001"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63" name="Rectangle 62"/>
          <p:cNvSpPr/>
          <p:nvPr/>
        </p:nvSpPr>
        <p:spPr>
          <a:xfrm>
            <a:off x="10009388"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эталонная разметка даёт число</a:t>
            </a:r>
          </a:p>
        </p:txBody>
      </p:sp>
      <p:sp>
        <p:nvSpPr>
          <p:cNvPr id="65" name="Rectangle 64"/>
          <p:cNvSpPr/>
          <p:nvPr/>
        </p:nvSpPr>
        <p:spPr>
          <a:xfrm>
            <a:off x="502920" y="4428132"/>
            <a:ext cx="2788920" cy="723793"/>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4492140"/>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Уложиться в бюджет реального времени</a:t>
            </a:r>
          </a:p>
          <a:p>
            <a:pPr algn="l">
              <a:lnSpc>
                <a:spcPct val="113000"/>
              </a:lnSpc>
              <a:spcBef>
                <a:spcPts val="200"/>
              </a:spcBef>
            </a:pPr>
            <a:r>
              <a:rPr sz="900" b="0" i="1">
                <a:solidFill>
                  <a:srgbClr val="1C7293"/>
                </a:solidFill>
                <a:latin typeface="Arial"/>
              </a:rPr>
              <a:t>успеть к сроку кадра, а не к сроку задачи</a:t>
            </a:r>
          </a:p>
        </p:txBody>
      </p:sp>
      <p:sp>
        <p:nvSpPr>
          <p:cNvPr id="67" name="Rectangle 66"/>
          <p:cNvSpPr/>
          <p:nvPr/>
        </p:nvSpPr>
        <p:spPr>
          <a:xfrm>
            <a:off x="3291839"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69" name="Rectangle 68"/>
          <p:cNvSpPr/>
          <p:nvPr/>
        </p:nvSpPr>
        <p:spPr>
          <a:xfrm>
            <a:off x="4971227"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71" name="Rectangle 70"/>
          <p:cNvSpPr/>
          <p:nvPr/>
        </p:nvSpPr>
        <p:spPr>
          <a:xfrm>
            <a:off x="6650614"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в кадровый бюджет не укладывается</a:t>
            </a:r>
          </a:p>
        </p:txBody>
      </p:sp>
      <p:sp>
        <p:nvSpPr>
          <p:cNvPr id="73" name="Rectangle 72"/>
          <p:cNvSpPr/>
          <p:nvPr/>
        </p:nvSpPr>
        <p:spPr>
          <a:xfrm>
            <a:off x="8330001"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около 1 мс на кадр</a:t>
            </a:r>
          </a:p>
        </p:txBody>
      </p:sp>
      <p:sp>
        <p:nvSpPr>
          <p:cNvPr id="75" name="Rectangle 74"/>
          <p:cNvSpPr/>
          <p:nvPr/>
        </p:nvSpPr>
        <p:spPr>
          <a:xfrm>
            <a:off x="10009388"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модерация на потоке</a:t>
            </a:r>
          </a:p>
        </p:txBody>
      </p:sp>
      <p:sp>
        <p:nvSpPr>
          <p:cNvPr id="77" name="Rectangle 76"/>
          <p:cNvSpPr/>
          <p:nvPr/>
        </p:nvSpPr>
        <p:spPr>
          <a:xfrm>
            <a:off x="502920" y="5151926"/>
            <a:ext cx="2788920" cy="68748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5215934"/>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Ответить «кто отвечает»</a:t>
            </a:r>
          </a:p>
          <a:p>
            <a:pPr algn="l">
              <a:lnSpc>
                <a:spcPct val="113000"/>
              </a:lnSpc>
              <a:spcBef>
                <a:spcPts val="200"/>
              </a:spcBef>
            </a:pPr>
            <a:r>
              <a:rPr sz="900" b="0" i="1">
                <a:solidFill>
                  <a:srgbClr val="1C7293"/>
                </a:solidFill>
                <a:latin typeface="Arial"/>
              </a:rPr>
              <a:t>происхождение, права, подпись под результатом</a:t>
            </a:r>
          </a:p>
        </p:txBody>
      </p:sp>
      <p:sp>
        <p:nvSpPr>
          <p:cNvPr id="79" name="Rectangle 78"/>
          <p:cNvSpPr/>
          <p:nvPr/>
        </p:nvSpPr>
        <p:spPr>
          <a:xfrm>
            <a:off x="3291839"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1" name="Rectangle 80"/>
          <p:cNvSpPr/>
          <p:nvPr/>
        </p:nvSpPr>
        <p:spPr>
          <a:xfrm>
            <a:off x="4971227"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3" name="Rectangle 82"/>
          <p:cNvSpPr/>
          <p:nvPr/>
        </p:nvSpPr>
        <p:spPr>
          <a:xfrm>
            <a:off x="6650614"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5" name="Rectangle 84"/>
          <p:cNvSpPr/>
          <p:nvPr/>
        </p:nvSpPr>
        <p:spPr>
          <a:xfrm>
            <a:off x="8330001"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7" name="Rectangle 86"/>
          <p:cNvSpPr/>
          <p:nvPr/>
        </p:nvSpPr>
        <p:spPr>
          <a:xfrm>
            <a:off x="10009388"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5921703"/>
            <a:ext cx="11185855" cy="314504"/>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5921703"/>
            <a:ext cx="68580" cy="314504"/>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5985711"/>
            <a:ext cx="10783519" cy="18648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ectangle 9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3" name="TextBox 9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065986" y="914400"/>
            <a:ext cx="3622788" cy="4937760"/>
          </a:xfrm>
          <a:prstGeom prst="roundRect">
            <a:avLst>
              <a:gd name="adj" fmla="val 8413"/>
            </a:avLst>
          </a:prstGeom>
          <a:solidFill>
            <a:srgbClr val="F4F7FA"/>
          </a:solidFill>
          <a:ln w="19050">
            <a:solidFill>
              <a:srgbClr val="1C7293"/>
            </a:solidFill>
          </a:ln>
          <a:effectLst/>
        </p:spPr>
        <p:txBody>
          <a:bodyPr rtlCol="0" anchor="ctr"/>
          <a:lstStyle/>
          <a:p>
            <a:pPr algn="ctr"/>
          </a:p>
        </p:txBody>
      </p:sp>
      <p:pic>
        <p:nvPicPr>
          <p:cNvPr id="5" name="Picture 4" descr="s88-contact-sheet.jpg"/>
          <p:cNvPicPr>
            <a:picLocks noChangeAspect="1"/>
          </p:cNvPicPr>
          <p:nvPr/>
        </p:nvPicPr>
        <p:blipFill>
          <a:blip r:embed="rId2"/>
          <a:stretch>
            <a:fillRect/>
          </a:stretch>
        </p:blipFill>
        <p:spPr>
          <a:xfrm>
            <a:off x="8203146" y="1051560"/>
            <a:ext cx="3348468"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9" name="TextBox 8"/>
          <p:cNvSpPr txBox="1"/>
          <p:nvPr/>
        </p:nvSpPr>
        <p:spPr>
          <a:xfrm>
            <a:off x="704088" y="3217513"/>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во всех пяти модальностях</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каждым стоит разобранный случай с посчитанной классикой</a:t>
            </a:r>
          </a:p>
        </p:txBody>
      </p:sp>
      <p:sp>
        <p:nvSpPr>
          <p:cNvPr id="12" name="TextBox 11"/>
          <p:cNvSpPr txBox="1"/>
          <p:nvPr/>
        </p:nvSpPr>
        <p:spPr>
          <a:xfrm>
            <a:off x="502920" y="311065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ОТБОР</a:t>
            </a:r>
          </a:p>
        </p:txBody>
      </p:sp>
      <p:sp>
        <p:nvSpPr>
          <p:cNvPr id="13" name="Rounded Rectangle 12"/>
          <p:cNvSpPr/>
          <p:nvPr/>
        </p:nvSpPr>
        <p:spPr>
          <a:xfrm>
            <a:off x="2011680" y="307408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забракованные попытки</a:t>
            </a:r>
          </a:p>
        </p:txBody>
      </p:sp>
      <p:sp>
        <p:nvSpPr>
          <p:cNvPr id="16" name="Rounded Rectangle 15"/>
          <p:cNvSpPr/>
          <p:nvPr/>
        </p:nvSpPr>
        <p:spPr>
          <a:xfrm>
            <a:off x="5298338"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300–400 генераций на 15 склеек: брак 96 %</a:t>
            </a:r>
          </a:p>
        </p:txBody>
      </p:sp>
      <p:sp>
        <p:nvSpPr>
          <p:cNvPr id="18" name="Rounded Rectangle 17"/>
          <p:cNvSpPr/>
          <p:nvPr/>
        </p:nvSpPr>
        <p:spPr>
          <a:xfrm>
            <a:off x="8493556"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изображением и видео</a:t>
            </a:r>
          </a:p>
        </p:txBody>
      </p:sp>
      <p:sp>
        <p:nvSpPr>
          <p:cNvPr id="20" name="TextBox 19"/>
          <p:cNvSpPr txBox="1"/>
          <p:nvPr/>
        </p:nvSpPr>
        <p:spPr>
          <a:xfrm>
            <a:off x="502920" y="388836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ПРАВА</a:t>
            </a:r>
          </a:p>
        </p:txBody>
      </p:sp>
      <p:sp>
        <p:nvSpPr>
          <p:cNvPr id="21" name="Rounded Rectangle 20"/>
          <p:cNvSpPr/>
          <p:nvPr/>
        </p:nvSpPr>
        <p:spPr>
          <a:xfrm>
            <a:off x="2011680" y="385178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деньги за доступ к материалу</a:t>
            </a:r>
          </a:p>
        </p:txBody>
      </p:sp>
      <p:sp>
        <p:nvSpPr>
          <p:cNvPr id="24" name="Rounded Rectangle 23"/>
          <p:cNvSpPr/>
          <p:nvPr/>
        </p:nvSpPr>
        <p:spPr>
          <a:xfrm>
            <a:off x="5298338"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млрд $ на 482 460 произведений ≈ 3 100 за одно</a:t>
            </a:r>
          </a:p>
        </p:txBody>
      </p:sp>
      <p:sp>
        <p:nvSpPr>
          <p:cNvPr id="26" name="Rounded Rectangle 25"/>
          <p:cNvSpPr/>
          <p:nvPr/>
        </p:nvSpPr>
        <p:spPr>
          <a:xfrm>
            <a:off x="8493556"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звуком и изображением</a:t>
            </a:r>
          </a:p>
        </p:txBody>
      </p:sp>
      <p:sp>
        <p:nvSpPr>
          <p:cNvPr id="28" name="TextBox 27"/>
          <p:cNvSpPr txBox="1"/>
          <p:nvPr/>
        </p:nvSpPr>
        <p:spPr>
          <a:xfrm>
            <a:off x="502920" y="4666069"/>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УЗНАВАНИЕ</a:t>
            </a:r>
          </a:p>
        </p:txBody>
      </p:sp>
      <p:sp>
        <p:nvSpPr>
          <p:cNvPr id="29" name="Rounded Rectangle 28"/>
          <p:cNvSpPr/>
          <p:nvPr/>
        </p:nvSpPr>
        <p:spPr>
          <a:xfrm>
            <a:off x="2011680" y="4629493"/>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доля верных решений, труд проверяющего</a:t>
            </a:r>
          </a:p>
        </p:txBody>
      </p:sp>
      <p:sp>
        <p:nvSpPr>
          <p:cNvPr id="32" name="Rounded Rectangle 31"/>
          <p:cNvSpPr/>
          <p:nvPr/>
        </p:nvSpPr>
        <p:spPr>
          <a:xfrm>
            <a:off x="5298338"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99,9 % на своей модели, 51,9 % на незнакомой</a:t>
            </a:r>
          </a:p>
        </p:txBody>
      </p:sp>
      <p:sp>
        <p:nvSpPr>
          <p:cNvPr id="34" name="Rounded Rectangle 33"/>
          <p:cNvSpPr/>
          <p:nvPr/>
        </p:nvSpPr>
        <p:spPr>
          <a:xfrm>
            <a:off x="8493556"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распознаванием</a:t>
            </a:r>
          </a:p>
        </p:txBody>
      </p:sp>
      <p:sp>
        <p:nvSpPr>
          <p:cNvPr id="36" name="Rounded Rectangle 35"/>
          <p:cNvSpPr/>
          <p:nvPr/>
        </p:nvSpPr>
        <p:spPr>
          <a:xfrm>
            <a:off x="374904" y="5388912"/>
            <a:ext cx="11441887" cy="8472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480352"/>
            <a:ext cx="11112703" cy="75585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Платят за отбор, за права и за узнавание.</a:t>
            </a:r>
          </a:p>
          <a:p>
            <a:pPr algn="l">
              <a:lnSpc>
                <a:spcPct val="126000"/>
              </a:lnSpc>
              <a:spcBef>
                <a:spcPts val="700"/>
              </a:spcBef>
            </a:pPr>
            <a:r>
              <a:rPr sz="1100" b="0" i="0">
                <a:solidFill>
                  <a:srgbClr val="21295C"/>
                </a:solidFill>
                <a:latin typeface="Arial"/>
              </a:rPr>
              <a:t/>
            </a:r>
            <a:r>
              <a:rPr sz="1100" b="1" i="0">
                <a:solidFill>
                  <a:srgbClr val="21295C"/>
                </a:solidFill>
                <a:latin typeface="Arial"/>
              </a:rPr>
              <a:t>Отрезвляющая мера того же счёта:</a:t>
            </a:r>
            <a:r>
              <a:rPr sz="1100" b="0" i="0">
                <a:solidFill>
                  <a:srgbClr val="21295C"/>
                </a:solidFill>
                <a:latin typeface="Arial"/>
              </a:rPr>
              <a:t> на российской бирже сгенерированная иллюстрация дешевле обычной в 2,16 раза — вдвое при трёх порядках падения цены исполнения. Из цены заказа ушло исполнение; отбор и ответственность в ней остались.</a:t>
            </a:r>
          </a:p>
        </p:txBody>
      </p:sp>
      <p:sp>
        <p:nvSpPr>
          <p:cNvPr id="38" name="Rectangle 3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Deezer, июнь 2026</a:t>
            </a:r>
          </a:p>
        </p:txBody>
      </p:sp>
      <p:sp>
        <p:nvSpPr>
          <p:cNvPr id="9" name="Rounded Rectangle 8"/>
          <p:cNvSpPr/>
          <p:nvPr/>
        </p:nvSpPr>
        <p:spPr>
          <a:xfrm>
            <a:off x="2011680" y="268365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более 50 % суточной загрузки</a:t>
            </a:r>
          </a:p>
        </p:txBody>
      </p:sp>
      <p:sp>
        <p:nvSpPr>
          <p:cNvPr id="12" name="Rounded Rectangle 11"/>
          <p:cNvSpPr/>
          <p:nvPr/>
        </p:nvSpPr>
        <p:spPr>
          <a:xfrm>
            <a:off x="5298338"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1–3 % всех прослушиваний</a:t>
            </a:r>
          </a:p>
        </p:txBody>
      </p:sp>
      <p:sp>
        <p:nvSpPr>
          <p:cNvPr id="14" name="Rounded Rectangle 13"/>
          <p:cNvSpPr/>
          <p:nvPr/>
        </p:nvSpPr>
        <p:spPr>
          <a:xfrm>
            <a:off x="8493556"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январе 2025 было 10 %</a:t>
            </a:r>
          </a:p>
        </p:txBody>
      </p:sp>
      <p:sp>
        <p:nvSpPr>
          <p:cNvPr id="16" name="TextBox 15"/>
          <p:cNvSpPr txBox="1"/>
          <p:nvPr/>
        </p:nvSpPr>
        <p:spPr>
          <a:xfrm>
            <a:off x="502920" y="334202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Steam, к июлю 2026</a:t>
            </a:r>
          </a:p>
        </p:txBody>
      </p:sp>
      <p:sp>
        <p:nvSpPr>
          <p:cNvPr id="17" name="Rounded Rectangle 16"/>
          <p:cNvSpPr/>
          <p:nvPr/>
        </p:nvSpPr>
        <p:spPr>
          <a:xfrm>
            <a:off x="2011680" y="330544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30,8 % релизов года с раскрытием</a:t>
            </a:r>
          </a:p>
        </p:txBody>
      </p:sp>
      <p:sp>
        <p:nvSpPr>
          <p:cNvPr id="20" name="Rounded Rectangle 19"/>
          <p:cNvSpPr/>
          <p:nvPr/>
        </p:nvSpPr>
        <p:spPr>
          <a:xfrm>
            <a:off x="5298338"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10–27 % оценочных продаж</a:t>
            </a:r>
          </a:p>
        </p:txBody>
      </p:sp>
      <p:sp>
        <p:nvSpPr>
          <p:cNvPr id="22" name="Rounded Rectangle 21"/>
          <p:cNvSpPr/>
          <p:nvPr/>
        </p:nvSpPr>
        <p:spPr>
          <a:xfrm>
            <a:off x="8493556"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2024-м было 3–6 %</a:t>
            </a:r>
          </a:p>
        </p:txBody>
      </p:sp>
      <p:sp>
        <p:nvSpPr>
          <p:cNvPr id="24" name="TextBox 23"/>
          <p:cNvSpPr txBox="1"/>
          <p:nvPr/>
        </p:nvSpPr>
        <p:spPr>
          <a:xfrm>
            <a:off x="502920" y="4119732"/>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Аудиокниги США, 2025</a:t>
            </a:r>
          </a:p>
        </p:txBody>
      </p:sp>
      <p:sp>
        <p:nvSpPr>
          <p:cNvPr id="25" name="Rounded Rectangle 24"/>
          <p:cNvSpPr/>
          <p:nvPr/>
        </p:nvSpPr>
        <p:spPr>
          <a:xfrm>
            <a:off x="2011680" y="408315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каталог 750 000 наименований, рост 43 % за год</a:t>
            </a:r>
          </a:p>
        </p:txBody>
      </p:sp>
      <p:sp>
        <p:nvSpPr>
          <p:cNvPr id="28" name="Rounded Rectangle 27"/>
          <p:cNvSpPr/>
          <p:nvPr/>
        </p:nvSpPr>
        <p:spPr>
          <a:xfrm>
            <a:off x="5298338"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0,03 % продаж из 2,43 млрд $</a:t>
            </a:r>
          </a:p>
        </p:txBody>
      </p:sp>
      <p:sp>
        <p:nvSpPr>
          <p:cNvPr id="30" name="Rounded Rectangle 29"/>
          <p:cNvSpPr/>
          <p:nvPr/>
        </p:nvSpPr>
        <p:spPr>
          <a:xfrm>
            <a:off x="8493556"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машинный голос пробовали 16 %</a:t>
            </a:r>
          </a:p>
        </p:txBody>
      </p:sp>
      <p:sp>
        <p:nvSpPr>
          <p:cNvPr id="32" name="TextBox 31"/>
          <p:cNvSpPr txBox="1"/>
          <p:nvPr/>
        </p:nvSpPr>
        <p:spPr>
          <a:xfrm>
            <a:off x="502920" y="489743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Яндекс Музыка, 2026</a:t>
            </a:r>
          </a:p>
        </p:txBody>
      </p:sp>
      <p:sp>
        <p:nvSpPr>
          <p:cNvPr id="33" name="Rounded Rectangle 32"/>
          <p:cNvSpPr/>
          <p:nvPr/>
        </p:nvSpPr>
        <p:spPr>
          <a:xfrm>
            <a:off x="2011680" y="486086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около 40 % новых треков в месяц</a:t>
            </a:r>
          </a:p>
        </p:txBody>
      </p:sp>
      <p:sp>
        <p:nvSpPr>
          <p:cNvPr id="36" name="Rounded Rectangle 35"/>
          <p:cNvSpPr/>
          <p:nvPr/>
        </p:nvSpPr>
        <p:spPr>
          <a:xfrm>
            <a:off x="5298338"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десятый трек чарта</a:t>
            </a:r>
          </a:p>
        </p:txBody>
      </p:sp>
      <p:sp>
        <p:nvSpPr>
          <p:cNvPr id="38" name="Rounded Rectangle 37"/>
          <p:cNvSpPr/>
          <p:nvPr/>
        </p:nvSpPr>
        <p:spPr>
          <a:xfrm>
            <a:off x="8493556"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выборка 5,7 млн профилей</a:t>
            </a:r>
          </a:p>
        </p:txBody>
      </p:sp>
      <p:sp>
        <p:nvSpPr>
          <p:cNvPr id="40" name="Rounded Rectangle 39"/>
          <p:cNvSpPr/>
          <p:nvPr/>
        </p:nvSpPr>
        <p:spPr>
          <a:xfrm>
            <a:off x="374904" y="5620280"/>
            <a:ext cx="11441887" cy="6159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11720"/>
            <a:ext cx="11112703" cy="52448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Измеряют предложение, а выводы делают о востребованности:</a:t>
            </a:r>
            <a:r>
              <a:rPr sz="1300" b="0" i="0">
                <a:solidFill>
                  <a:srgbClr val="21295C"/>
                </a:solidFill>
                <a:latin typeface="Arial"/>
              </a:rPr>
              <a:t> объём производства перестал быть свидетельством спроса. Разницу заполняет накрутка — на музыкальной площадке она измерена: 85 % прослушиваний машинных треков демонетизированы.</a:t>
            </a: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 3 в 2024 — одно и то же число операций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TextBox 7"/>
          <p:cNvSpPr txBox="1"/>
          <p:nvPr/>
        </p:nvSpPr>
        <p:spPr>
          <a:xfrm>
            <a:off x="502920" y="2720233"/>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Картиночные, 2022 → 2024</a:t>
            </a:r>
          </a:p>
        </p:txBody>
      </p:sp>
      <p:sp>
        <p:nvSpPr>
          <p:cNvPr id="9" name="Rounded Rectangle 8"/>
          <p:cNvSpPr/>
          <p:nvPr/>
        </p:nvSpPr>
        <p:spPr>
          <a:xfrm>
            <a:off x="2011680" y="2683657"/>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на обучение не выросли вовсе</a:t>
            </a:r>
          </a:p>
        </p:txBody>
      </p:sp>
      <p:sp>
        <p:nvSpPr>
          <p:cNvPr id="12" name="Right Arrow 11"/>
          <p:cNvSpPr/>
          <p:nvPr/>
        </p:nvSpPr>
        <p:spPr>
          <a:xfrm>
            <a:off x="4248073" y="3182472"/>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4568113"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4650409"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16 каналов латентного представления вместо 4</a:t>
            </a:r>
          </a:p>
        </p:txBody>
      </p:sp>
      <p:sp>
        <p:nvSpPr>
          <p:cNvPr id="15" name="Right Arrow 14"/>
          <p:cNvSpPr/>
          <p:nvPr/>
        </p:nvSpPr>
        <p:spPr>
          <a:xfrm>
            <a:off x="6713067" y="318247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7033107"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7115403"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диффузионный трансформер и спрямлённый поток</a:t>
            </a:r>
          </a:p>
        </p:txBody>
      </p:sp>
      <p:sp>
        <p:nvSpPr>
          <p:cNvPr id="18" name="Right Arrow 17"/>
          <p:cNvSpPr/>
          <p:nvPr/>
        </p:nvSpPr>
        <p:spPr>
          <a:xfrm>
            <a:off x="9178061" y="318247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9498101"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9580397"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дистилляция с тысячи шагов до четырёх</a:t>
            </a:r>
          </a:p>
        </p:txBody>
      </p:sp>
      <p:sp>
        <p:nvSpPr>
          <p:cNvPr id="21" name="TextBox 20"/>
          <p:cNvSpPr txBox="1"/>
          <p:nvPr/>
        </p:nvSpPr>
        <p:spPr>
          <a:xfrm>
            <a:off x="502920" y="396475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Передовые языковые, 2022 → 2024</a:t>
            </a:r>
          </a:p>
        </p:txBody>
      </p:sp>
      <p:sp>
        <p:nvSpPr>
          <p:cNvPr id="22" name="Rounded Rectangle 21"/>
          <p:cNvSpPr/>
          <p:nvPr/>
        </p:nvSpPr>
        <p:spPr>
          <a:xfrm>
            <a:off x="2011680" y="392817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3" name="Rounded Rectangle 22"/>
          <p:cNvSpPr/>
          <p:nvPr/>
        </p:nvSpPr>
        <p:spPr>
          <a:xfrm>
            <a:off x="2103120"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2185416"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росли вчетверо-впятеро в год</a:t>
            </a:r>
          </a:p>
        </p:txBody>
      </p:sp>
      <p:sp>
        <p:nvSpPr>
          <p:cNvPr id="25" name="Right Arrow 24"/>
          <p:cNvSpPr/>
          <p:nvPr/>
        </p:nvSpPr>
        <p:spPr>
          <a:xfrm>
            <a:off x="4248073" y="44269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4568113"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4650409"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рычагом оставался размер модели и корпуса</a:t>
            </a:r>
          </a:p>
        </p:txBody>
      </p:sp>
      <p:sp>
        <p:nvSpPr>
          <p:cNvPr id="28" name="Right Arrow 27"/>
          <p:cNvSpPr/>
          <p:nvPr/>
        </p:nvSpPr>
        <p:spPr>
          <a:xfrm>
            <a:off x="6713067" y="442698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7033107"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7115403"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дороже картиночного в 200–400 раз</a:t>
            </a:r>
          </a:p>
        </p:txBody>
      </p:sp>
      <p:sp>
        <p:nvSpPr>
          <p:cNvPr id="31" name="Right Arrow 30"/>
          <p:cNvSpPr/>
          <p:nvPr/>
        </p:nvSpPr>
        <p:spPr>
          <a:xfrm>
            <a:off x="9178061" y="442698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9498101"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9580397"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запуск дешевле картиночного в 40–60 раз</a:t>
            </a:r>
          </a:p>
        </p:txBody>
      </p:sp>
      <p:sp>
        <p:nvSpPr>
          <p:cNvPr id="34" name="Rounded Rectangle 33"/>
          <p:cNvSpPr/>
          <p:nvPr/>
        </p:nvSpPr>
        <p:spPr>
          <a:xfrm>
            <a:off x="374904" y="5154403"/>
            <a:ext cx="11441887" cy="108180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45843"/>
            <a:ext cx="11112703" cy="99036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Номер версии меняется быстрее, чем устройство рынка.</a:t>
            </a:r>
            <a:r>
              <a:rPr sz="1250" b="0" i="0">
                <a:solidFill>
                  <a:srgbClr val="21295C"/>
                </a:solidFill>
                <a:latin typeface="Arial"/>
              </a:rPr>
              <a:t> Решения о внедрении принимают по второму: он держится годами, а номер — недели.</a:t>
            </a:r>
          </a:p>
          <a:p>
            <a:pPr algn="l">
              <a:lnSpc>
                <a:spcPct val="126000"/>
              </a:lnSpc>
              <a:spcBef>
                <a:spcPts val="700"/>
              </a:spcBef>
            </a:pPr>
            <a:r>
              <a:rPr sz="1250" b="0" i="0">
                <a:solidFill>
                  <a:srgbClr val="21295C"/>
                </a:solidFill>
                <a:latin typeface="Arial"/>
              </a:rPr>
              <a:t/>
            </a:r>
            <a:r>
              <a:rPr sz="1250" b="1" i="0">
                <a:solidFill>
                  <a:srgbClr val="21295C"/>
                </a:solidFill>
                <a:latin typeface="Arial"/>
              </a:rPr>
              <a:t>Главный рычаг — токенизатор; размер модели здесь вторичен.</a:t>
            </a:r>
            <a:r>
              <a:rPr sz="1250" b="0" i="0">
                <a:solidFill>
                  <a:srgbClr val="21295C"/>
                </a:solidFill>
                <a:latin typeface="Arial"/>
              </a:rPr>
              <a:t> Кэша у картиночной модели нет и быть не может: расшумление на каждом шаге переписывает все 4096 токенов.</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права, мировые модели и размер рынка</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7" name="TextBox 6"/>
          <p:cNvSpPr txBox="1"/>
          <p:nvPr/>
        </p:nvSpPr>
        <p:spPr>
          <a:xfrm>
            <a:off x="640080"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Suno с 09.09.2026, ElevenMusic с 01.04.2026 — на лицензированном материале. Там, где правообладатель крупный, вопрос закрывается лицензией раньше суда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720p, 24 кадра/с, связность несколько минут</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10–20 секунд у предшественников; видеомодель порождает запись, мировая — пространство, в котором можно находиться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21</a:t>
            </a:r>
          </a:p>
        </p:txBody>
      </p:sp>
      <p:sp>
        <p:nvSpPr>
          <p:cNvPr id="15" name="Rectangle 14"/>
          <p:cNvSpPr/>
          <p:nvPr/>
        </p:nvSpPr>
        <p:spPr>
          <a:xfrm>
            <a:off x="2512543"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8773" y="32853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3,16</a:t>
            </a:r>
          </a:p>
          <a:p>
            <a:pPr algn="ctr">
              <a:lnSpc>
                <a:spcPct val="110000"/>
              </a:lnSpc>
            </a:pPr>
            <a:r>
              <a:rPr sz="1200" b="0" i="0">
                <a:solidFill>
                  <a:srgbClr val="21295C"/>
                </a:solidFill>
                <a:latin typeface="Arial"/>
              </a:rPr>
              <a:t>нижняя оценка</a:t>
            </a:r>
          </a:p>
        </p:txBody>
      </p:sp>
      <p:sp>
        <p:nvSpPr>
          <p:cNvPr id="17" name="Rectangle 16"/>
          <p:cNvSpPr/>
          <p:nvPr/>
        </p:nvSpPr>
        <p:spPr>
          <a:xfrm>
            <a:off x="10288136" y="4006591"/>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7516818" y="4262623"/>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19,2</a:t>
            </a:r>
          </a:p>
          <a:p>
            <a:pPr algn="ctr">
              <a:lnSpc>
                <a:spcPct val="110000"/>
              </a:lnSpc>
            </a:pPr>
            <a:r>
              <a:rPr sz="1200" b="0" i="0">
                <a:solidFill>
                  <a:srgbClr val="21295C"/>
                </a:solidFill>
                <a:latin typeface="Arial"/>
              </a:rPr>
              <a:t>верхняя оценка</a:t>
            </a:r>
          </a:p>
        </p:txBody>
      </p:sp>
      <p:sp>
        <p:nvSpPr>
          <p:cNvPr id="19" name="TextBox 18"/>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миллиарды долларов — размер одного и того же рынка за 2026 год · один рынок, один год, четыре отраслевых обзора</a:t>
            </a:r>
          </a:p>
        </p:txBody>
      </p:sp>
      <p:sp>
        <p:nvSpPr>
          <p:cNvPr id="20" name="TextBox 19"/>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Все четыре оценки согласны лишь в темпе роста — 14–34 % в год</a:t>
            </a:r>
          </a:p>
        </p:txBody>
      </p:sp>
      <p:sp>
        <p:nvSpPr>
          <p:cNvPr id="21" name="Rounded Rectangle 20"/>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величины, по которым читают направление.</a:t>
            </a:r>
            <a:r>
              <a:rPr sz="1500" b="0" i="0">
                <a:solidFill>
                  <a:srgbClr val="21295C"/>
                </a:solidFill>
                <a:latin typeface="Arial"/>
              </a:rPr>
              <a:t> Ни одна из них не меняется с номером версии: право, класс задачи и граница рынка держатся годами.</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6" name="TextBox 5"/>
          <p:cNvSpPr txBox="1"/>
          <p:nvPr/>
        </p:nvSpPr>
        <p:spPr>
          <a:xfrm>
            <a:off x="640080" y="1932846"/>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на 12,2 % больше задач и на 25,1 % быстрее</a:t>
            </a:r>
          </a:p>
        </p:txBody>
      </p:sp>
      <p:sp>
        <p:nvSpPr>
          <p:cNvPr id="7" name="TextBox 6"/>
          <p:cNvSpPr txBox="1"/>
          <p:nvPr/>
        </p:nvSpPr>
        <p:spPr>
          <a:xfrm>
            <a:off x="640080" y="269934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работавших без модели, при более высоком качестве — крупный выигрыш по меркам полевых опытов</a:t>
            </a:r>
          </a:p>
        </p:txBody>
      </p:sp>
      <p:sp>
        <p:nvSpPr>
          <p:cNvPr id="8" name="Rounded Rectangle 7"/>
          <p:cNvSpPr/>
          <p:nvPr/>
        </p:nvSpPr>
        <p:spPr>
          <a:xfrm>
            <a:off x="4286402" y="1335024"/>
            <a:ext cx="3618890" cy="2135210"/>
          </a:xfrm>
          <a:prstGeom prst="roundRect">
            <a:avLst>
              <a:gd name="adj" fmla="val 14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ЭТОЙ ЗАДАЧЕ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 процентных пунктов</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верных решений, а не процентов от процента</a:t>
            </a:r>
          </a:p>
        </p:txBody>
      </p:sp>
      <p:sp>
        <p:nvSpPr>
          <p:cNvPr id="12" name="Rounded Rectangle 11"/>
          <p:cNvSpPr/>
          <p:nvPr/>
        </p:nvSpPr>
        <p:spPr>
          <a:xfrm>
            <a:off x="8069884"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критерии пишутся до начала работы</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границу применимости изнутри задачи не видно; результат меряется по секундомеру и по доле верных решений</a:t>
            </a:r>
          </a:p>
        </p:txBody>
      </p:sp>
      <p:sp>
        <p:nvSpPr>
          <p:cNvPr id="16" name="Rectangle 15"/>
          <p:cNvSpPr/>
          <p:nvPr/>
        </p:nvSpPr>
        <p:spPr>
          <a:xfrm>
            <a:off x="754380" y="4324089"/>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50</a:t>
            </a:r>
          </a:p>
        </p:txBody>
      </p:sp>
      <p:sp>
        <p:nvSpPr>
          <p:cNvPr id="18" name="TextBox 17"/>
          <p:cNvSpPr txBox="1"/>
          <p:nvPr/>
        </p:nvSpPr>
        <p:spPr>
          <a:xfrm>
            <a:off x="11071555"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9" name="Rectangle 18"/>
          <p:cNvSpPr/>
          <p:nvPr/>
        </p:nvSpPr>
        <p:spPr>
          <a:xfrm>
            <a:off x="836676" y="4243621"/>
            <a:ext cx="37033" cy="211226"/>
          </a:xfrm>
          <a:prstGeom prst="rect">
            <a:avLst/>
          </a:prstGeom>
          <a:solidFill>
            <a:srgbClr val="FFFFFF"/>
          </a:solidFill>
          <a:ln>
            <a:noFill/>
          </a:ln>
          <a:effectLst/>
        </p:spPr>
        <p:txBody>
          <a:bodyPr rtlCol="0" anchor="ctr"/>
          <a:lstStyle/>
          <a:p>
            <a:pPr algn="ctr"/>
          </a:p>
        </p:txBody>
      </p:sp>
      <p:sp>
        <p:nvSpPr>
          <p:cNvPr id="20" name="Rectangle 19"/>
          <p:cNvSpPr/>
          <p:nvPr/>
        </p:nvSpPr>
        <p:spPr>
          <a:xfrm>
            <a:off x="910742" y="4243621"/>
            <a:ext cx="37033" cy="211226"/>
          </a:xfrm>
          <a:prstGeom prst="rect">
            <a:avLst/>
          </a:prstGeom>
          <a:solidFill>
            <a:srgbClr val="FFFFFF"/>
          </a:solidFill>
          <a:ln>
            <a:noFill/>
          </a:ln>
          <a:effectLst/>
        </p:spPr>
        <p:txBody>
          <a:bodyPr rtlCol="0" anchor="ctr"/>
          <a:lstStyle/>
          <a:p>
            <a:pPr algn="ctr"/>
          </a:p>
        </p:txBody>
      </p:sp>
      <p:sp>
        <p:nvSpPr>
          <p:cNvPr id="21" name="Rectangle 20"/>
          <p:cNvSpPr/>
          <p:nvPr/>
        </p:nvSpPr>
        <p:spPr>
          <a:xfrm>
            <a:off x="3525697" y="4159497"/>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1686534"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60</a:t>
            </a:r>
          </a:p>
          <a:p>
            <a:pPr algn="ctr">
              <a:lnSpc>
                <a:spcPct val="110000"/>
              </a:lnSpc>
            </a:pPr>
            <a:r>
              <a:rPr sz="1200" b="0" i="0">
                <a:solidFill>
                  <a:srgbClr val="21295C"/>
                </a:solidFill>
                <a:latin typeface="Arial"/>
              </a:rPr>
              <a:t>с моделью</a:t>
            </a:r>
          </a:p>
        </p:txBody>
      </p:sp>
      <p:sp>
        <p:nvSpPr>
          <p:cNvPr id="23" name="Rectangle 22"/>
          <p:cNvSpPr/>
          <p:nvPr/>
        </p:nvSpPr>
        <p:spPr>
          <a:xfrm>
            <a:off x="6070701" y="437438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4231538" y="463041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70</a:t>
            </a:r>
          </a:p>
          <a:p>
            <a:pPr algn="ctr">
              <a:lnSpc>
                <a:spcPct val="110000"/>
              </a:lnSpc>
            </a:pPr>
            <a:r>
              <a:rPr sz="1200" b="0" i="0">
                <a:solidFill>
                  <a:srgbClr val="21295C"/>
                </a:solidFill>
                <a:latin typeface="Arial"/>
              </a:rPr>
              <a:t>с моделью и обучением работе с запросами</a:t>
            </a:r>
          </a:p>
        </p:txBody>
      </p:sp>
      <p:sp>
        <p:nvSpPr>
          <p:cNvPr id="25" name="Rectangle 24"/>
          <p:cNvSpPr/>
          <p:nvPr/>
        </p:nvSpPr>
        <p:spPr>
          <a:xfrm>
            <a:off x="9760957" y="4159497"/>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921793"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84,5</a:t>
            </a:r>
          </a:p>
          <a:p>
            <a:pPr algn="ctr">
              <a:lnSpc>
                <a:spcPct val="110000"/>
              </a:lnSpc>
            </a:pPr>
            <a:r>
              <a:rPr sz="1200" b="0" i="0">
                <a:solidFill>
                  <a:srgbClr val="21295C"/>
                </a:solidFill>
                <a:latin typeface="Arial"/>
              </a:rPr>
              <a:t>без модели</a:t>
            </a:r>
          </a:p>
        </p:txBody>
      </p:sp>
      <p:sp>
        <p:nvSpPr>
          <p:cNvPr id="27" name="TextBox 26"/>
          <p:cNvSpPr txBox="1"/>
          <p:nvPr/>
        </p:nvSpPr>
        <p:spPr>
          <a:xfrm>
            <a:off x="502920" y="515508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решений на одной и той же задаче · задача за пределами круга; 758 консультантов, три условия</a:t>
            </a:r>
          </a:p>
        </p:txBody>
      </p:sp>
      <p:sp>
        <p:nvSpPr>
          <p:cNvPr id="28" name="Rounded Rectangle 27"/>
          <p:cNvSpPr/>
          <p:nvPr/>
        </p:nvSpPr>
        <p:spPr>
          <a:xfrm>
            <a:off x="374904" y="5465979"/>
            <a:ext cx="11441887" cy="770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57419"/>
            <a:ext cx="11112703" cy="6787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39 процентных пунктов самообмана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30–50 своих типовых задач и секундомер</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Rectangle 12"/>
          <p:cNvSpPr/>
          <p:nvPr/>
        </p:nvSpPr>
        <p:spPr>
          <a:xfrm>
            <a:off x="6070701" y="3700267"/>
            <a:ext cx="50292" cy="562356"/>
          </a:xfrm>
          <a:prstGeom prst="rect">
            <a:avLst/>
          </a:prstGeom>
          <a:solidFill>
            <a:srgbClr val="556070"/>
          </a:solidFill>
          <a:ln>
            <a:noFill/>
          </a:ln>
          <a:effectLst/>
        </p:spPr>
        <p:txBody>
          <a:bodyPr rtlCol="0" anchor="ctr"/>
          <a:lstStyle/>
          <a:p>
            <a:pPr algn="ctr"/>
          </a:p>
        </p:txBody>
      </p:sp>
      <p:sp>
        <p:nvSpPr>
          <p:cNvPr id="14" name="TextBox 13"/>
          <p:cNvSpPr txBox="1"/>
          <p:nvPr/>
        </p:nvSpPr>
        <p:spPr>
          <a:xfrm>
            <a:off x="5775807" y="423061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15" name="TextBox 14"/>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6" name="TextBox 15"/>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7" name="Rectangle 16"/>
          <p:cNvSpPr/>
          <p:nvPr/>
        </p:nvSpPr>
        <p:spPr>
          <a:xfrm>
            <a:off x="1336994" y="3791707"/>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243555"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-55,8</a:t>
            </a:r>
          </a:p>
          <a:p>
            <a:pPr algn="ctr">
              <a:lnSpc>
                <a:spcPct val="110000"/>
              </a:lnSpc>
            </a:pPr>
            <a:r>
              <a:rPr sz="1200" b="0" i="0">
                <a:solidFill>
                  <a:srgbClr val="21295C"/>
                </a:solidFill>
                <a:latin typeface="Arial"/>
              </a:rPr>
              <a:t>Пэн: с нуля</a:t>
            </a:r>
          </a:p>
        </p:txBody>
      </p:sp>
      <p:sp>
        <p:nvSpPr>
          <p:cNvPr id="19" name="Rectangle 18"/>
          <p:cNvSpPr/>
          <p:nvPr/>
        </p:nvSpPr>
        <p:spPr>
          <a:xfrm>
            <a:off x="2762196" y="4006591"/>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668757"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-39</a:t>
            </a:r>
          </a:p>
          <a:p>
            <a:pPr algn="ctr">
              <a:lnSpc>
                <a:spcPct val="110000"/>
              </a:lnSpc>
            </a:pPr>
            <a:r>
              <a:rPr sz="1200" b="0" i="0">
                <a:solidFill>
                  <a:srgbClr val="21295C"/>
                </a:solidFill>
                <a:latin typeface="Arial"/>
              </a:rPr>
              <a:t>34 экономиста</a:t>
            </a:r>
          </a:p>
        </p:txBody>
      </p:sp>
      <p:sp>
        <p:nvSpPr>
          <p:cNvPr id="21" name="Rectangle 20"/>
          <p:cNvSpPr/>
          <p:nvPr/>
        </p:nvSpPr>
        <p:spPr>
          <a:xfrm>
            <a:off x="4034698" y="3791707"/>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2941259"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-24</a:t>
            </a:r>
          </a:p>
          <a:p>
            <a:pPr algn="ctr">
              <a:lnSpc>
                <a:spcPct val="110000"/>
              </a:lnSpc>
            </a:pPr>
            <a:r>
              <a:rPr sz="1200" b="0" i="0">
                <a:solidFill>
                  <a:srgbClr val="21295C"/>
                </a:solidFill>
                <a:latin typeface="Arial"/>
              </a:rPr>
              <a:t>сами, до работы</a:t>
            </a:r>
          </a:p>
        </p:txBody>
      </p:sp>
      <p:sp>
        <p:nvSpPr>
          <p:cNvPr id="23" name="Rectangle 22"/>
          <p:cNvSpPr/>
          <p:nvPr/>
        </p:nvSpPr>
        <p:spPr>
          <a:xfrm>
            <a:off x="4374032" y="400659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3280592"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a:t>
            </a:r>
          </a:p>
          <a:p>
            <a:pPr algn="ctr">
              <a:lnSpc>
                <a:spcPct val="110000"/>
              </a:lnSpc>
            </a:pPr>
            <a:r>
              <a:rPr sz="1200" b="0" i="0">
                <a:solidFill>
                  <a:srgbClr val="21295C"/>
                </a:solidFill>
                <a:latin typeface="Arial"/>
              </a:rPr>
              <a:t>сами, после</a:t>
            </a:r>
          </a:p>
        </p:txBody>
      </p:sp>
      <p:sp>
        <p:nvSpPr>
          <p:cNvPr id="25" name="Rectangle 24"/>
          <p:cNvSpPr/>
          <p:nvPr/>
        </p:nvSpPr>
        <p:spPr>
          <a:xfrm>
            <a:off x="7682537" y="3791707"/>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6589097"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a:t>
            </a:r>
          </a:p>
          <a:p>
            <a:pPr algn="ctr">
              <a:lnSpc>
                <a:spcPct val="110000"/>
              </a:lnSpc>
            </a:pPr>
            <a:r>
              <a:rPr sz="1200" b="0" i="0">
                <a:solidFill>
                  <a:srgbClr val="21295C"/>
                </a:solidFill>
                <a:latin typeface="Arial"/>
              </a:rPr>
              <a:t>METR: зрелая база</a:t>
            </a:r>
          </a:p>
        </p:txBody>
      </p:sp>
      <p:sp>
        <p:nvSpPr>
          <p:cNvPr id="27" name="TextBox 26"/>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времени на задачу: влево — быстрее, вправо — медленнее · та же работа без инструмента, принятая за ноль</a:t>
            </a:r>
          </a:p>
        </p:txBody>
      </p:sp>
      <p:sp>
        <p:nvSpPr>
          <p:cNvPr id="28" name="TextBox 27"/>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прогноза слева от нуля, единственный секундомер в зрелой базе — справа</a:t>
            </a:r>
          </a:p>
        </p:txBody>
      </p:sp>
      <p:sp>
        <p:nvSpPr>
          <p:cNvPr id="29" name="Rounded Rectangle 28"/>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Разницу создаёт база, в которой работают.</a:t>
            </a:r>
            <a:r>
              <a:rPr sz="1100" b="0" i="0">
                <a:solidFill>
                  <a:srgbClr val="21295C"/>
                </a:solidFill>
                <a:latin typeface="Arial"/>
              </a:rPr>
              <a:t> У Пэна 95 разработчиков писали HTTP-сервер с нуля; у METR 16 опытных разработчиков брали 246 настоящих задач в своих репозиториях — свыше миллиона строк кода каждый.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За точность прогноза платили:</a:t>
            </a:r>
            <a:r>
              <a:rPr sz="1100" b="0" i="0">
                <a:solidFill>
                  <a:srgbClr val="21295C"/>
                </a:solidFill>
                <a:latin typeface="Arial"/>
              </a:rPr>
              <a:t> вознаграждение считалось от величины промаха. Не помогло ни одной из четырёх групп.</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 В ПОЛЕВОМ ОПЫТЕ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8" name="TextBox 7"/>
          <p:cNvSpPr txBox="1"/>
          <p:nvPr/>
        </p:nvSpPr>
        <p:spPr>
          <a:xfrm>
            <a:off x="502920" y="272023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лаборатории, 453</a:t>
            </a:r>
          </a:p>
        </p:txBody>
      </p:sp>
      <p:sp>
        <p:nvSpPr>
          <p:cNvPr id="9" name="Rounded Rectangle 8"/>
          <p:cNvSpPr/>
          <p:nvPr/>
        </p:nvSpPr>
        <p:spPr>
          <a:xfrm>
            <a:off x="2011680" y="268365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время на задание меньше на 40 %, качество выше на 18 %</a:t>
            </a:r>
          </a:p>
        </p:txBody>
      </p:sp>
      <p:sp>
        <p:nvSpPr>
          <p:cNvPr id="12" name="Rounded Rectangle 11"/>
          <p:cNvSpPr/>
          <p:nvPr/>
        </p:nvSpPr>
        <p:spPr>
          <a:xfrm>
            <a:off x="5298338"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 ужался вдвое, правка выросла вдвое</a:t>
            </a:r>
          </a:p>
        </p:txBody>
      </p:sp>
      <p:sp>
        <p:nvSpPr>
          <p:cNvPr id="14" name="Rounded Rectangle 13"/>
          <p:cNvSpPr/>
          <p:nvPr/>
        </p:nvSpPr>
        <p:spPr>
          <a:xfrm>
            <a:off x="8493556"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предрегистрированный рандомизированный опыт</a:t>
            </a:r>
          </a:p>
        </p:txBody>
      </p:sp>
      <p:sp>
        <p:nvSpPr>
          <p:cNvPr id="16" name="TextBox 15"/>
          <p:cNvSpPr txBox="1"/>
          <p:nvPr/>
        </p:nvSpPr>
        <p:spPr>
          <a:xfrm>
            <a:off x="502920" y="349794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поле, 2 234</a:t>
            </a:r>
          </a:p>
        </p:txBody>
      </p:sp>
      <p:sp>
        <p:nvSpPr>
          <p:cNvPr id="17" name="Rounded Rectangle 16"/>
          <p:cNvSpPr/>
          <p:nvPr/>
        </p:nvSpPr>
        <p:spPr>
          <a:xfrm>
            <a:off x="2011680" y="346136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11 024 объявления, проверка на реальных показах</a:t>
            </a:r>
          </a:p>
        </p:txBody>
      </p:sp>
      <p:sp>
        <p:nvSpPr>
          <p:cNvPr id="20" name="Rounded Rectangle 19"/>
          <p:cNvSpPr/>
          <p:nvPr/>
        </p:nvSpPr>
        <p:spPr>
          <a:xfrm>
            <a:off x="5298338"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 50 % больше объявлений на участника</a:t>
            </a:r>
          </a:p>
        </p:txBody>
      </p:sp>
      <p:sp>
        <p:nvSpPr>
          <p:cNvPr id="22" name="Rounded Rectangle 21"/>
          <p:cNvSpPr/>
          <p:nvPr/>
        </p:nvSpPr>
        <p:spPr>
          <a:xfrm>
            <a:off x="8493556"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текст выигрывает, изображение проигрывает</a:t>
            </a:r>
          </a:p>
        </p:txBody>
      </p:sp>
      <p:sp>
        <p:nvSpPr>
          <p:cNvPr id="24" name="TextBox 23"/>
          <p:cNvSpPr txBox="1"/>
          <p:nvPr/>
        </p:nvSpPr>
        <p:spPr>
          <a:xfrm>
            <a:off x="502920" y="420249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опыта на одном и том же удешевлении пробы: в лаборатории на типовых текстах и в поле на творческой задаче</a:t>
            </a:r>
          </a:p>
        </p:txBody>
      </p:sp>
      <p:sp>
        <p:nvSpPr>
          <p:cNvPr id="25" name="Rounded Rectangle 24"/>
          <p:cNvSpPr/>
          <p:nvPr/>
        </p:nvSpPr>
        <p:spPr>
          <a:xfrm>
            <a:off x="374904" y="45089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600390"/>
            <a:ext cx="11112703" cy="16358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r>
              <a:rPr sz="1500" b="0" i="0">
                <a:solidFill>
                  <a:srgbClr val="21295C"/>
                </a:solidFill>
                <a:latin typeface="Arial"/>
              </a:rPr>
              <a:t> Лабораторный опыт мерил время и качество по судейским оценкам, полевой — поведением настоящей аудитории, без судей вовсе. Границу между частями работы оба нашли одинаково зазубренной: текстовая часть у команд с моделью выигрывает, изобразительная проигрывает.</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Разброс схлопывается</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делегирует работу целиком и говорит с моделью как с собеседником</a:t>
            </a:r>
          </a:p>
        </p:txBody>
      </p:sp>
      <p:sp>
        <p:nvSpPr>
          <p:cNvPr id="8" name="Rounded Rectangle 7"/>
          <p:cNvSpPr/>
          <p:nvPr/>
        </p:nvSpPr>
        <p:spPr>
          <a:xfrm>
            <a:off x="5298338"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380634"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работы выходят заметно более похожими друг на друга</a:t>
            </a:r>
          </a:p>
        </p:txBody>
      </p:sp>
      <p:sp>
        <p:nvSpPr>
          <p:cNvPr id="10" name="Rounded Rectangle 9"/>
          <p:cNvSpPr/>
          <p:nvPr/>
        </p:nvSpPr>
        <p:spPr>
          <a:xfrm>
            <a:off x="8493556"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8575852"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если ценность в отклонении от центра ожиданий — режим её уничтожает</a:t>
            </a:r>
          </a:p>
        </p:txBody>
      </p:sp>
      <p:sp>
        <p:nvSpPr>
          <p:cNvPr id="12" name="TextBox 11"/>
          <p:cNvSpPr txBox="1"/>
          <p:nvPr/>
        </p:nvSpPr>
        <p:spPr>
          <a:xfrm>
            <a:off x="502920" y="238271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схлопывается</a:t>
            </a:r>
          </a:p>
        </p:txBody>
      </p:sp>
      <p:sp>
        <p:nvSpPr>
          <p:cNvPr id="13" name="Rounded Rectangle 12"/>
          <p:cNvSpPr/>
          <p:nvPr/>
        </p:nvSpPr>
        <p:spPr>
          <a:xfrm>
            <a:off x="2011680" y="234613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ставит задачу, разбирает результат, ставит следующую</a:t>
            </a:r>
          </a:p>
        </p:txBody>
      </p:sp>
      <p:sp>
        <p:nvSpPr>
          <p:cNvPr id="16" name="Rounded Rectangle 15"/>
          <p:cNvSpPr/>
          <p:nvPr/>
        </p:nvSpPr>
        <p:spPr>
          <a:xfrm>
            <a:off x="5298338"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обрушения разнообразия в опыте не наблюдается вовсе</a:t>
            </a:r>
          </a:p>
        </p:txBody>
      </p:sp>
      <p:sp>
        <p:nvSpPr>
          <p:cNvPr id="18" name="Rounded Rectangle 17"/>
          <p:cNvSpPr/>
          <p:nvPr/>
        </p:nvSpPr>
        <p:spPr>
          <a:xfrm>
            <a:off x="8493556"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выше и производительность, и качество по всем измерениям сразу</a:t>
            </a:r>
          </a:p>
        </p:txBody>
      </p:sp>
      <p:sp>
        <p:nvSpPr>
          <p:cNvPr id="20" name="TextBox 19"/>
          <p:cNvSpPr txBox="1"/>
          <p:nvPr/>
        </p:nvSpPr>
        <p:spPr>
          <a:xfrm>
            <a:off x="502920" y="332067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Одно и то же удешевление пробы, два режима работы человека с моделью</a:t>
            </a:r>
          </a:p>
        </p:txBody>
      </p:sp>
      <p:sp>
        <p:nvSpPr>
          <p:cNvPr id="21" name="Rounded Rectangle 20"/>
          <p:cNvSpPr/>
          <p:nvPr/>
        </p:nvSpPr>
        <p:spPr>
          <a:xfrm>
            <a:off x="374904" y="362712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718566"/>
            <a:ext cx="11112703" cy="251764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r>
              <a:rPr sz="1500" b="0" i="0">
                <a:solidFill>
                  <a:srgbClr val="21295C"/>
                </a:solidFill>
                <a:latin typeface="Arial"/>
              </a:rPr>
              <a:t> Первый режим называется делегированием, второй — задачно-ориентированным взаимодействием. Различает их то, кто держит решение; инструмент в обоих один и тот 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Мера разнообразия у авторов опыта такая:</a:t>
            </a:r>
            <a:r>
              <a:rPr sz="150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 ЗА ВЕЧЕР</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152374"/>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один правовой разбор вне этого знаменателя. Сложение сходится: 7 + 3 + 3 = 13</a:t>
            </a:r>
          </a:p>
        </p:txBody>
      </p:sp>
      <p:sp>
        <p:nvSpPr>
          <p:cNvPr id="8" name="Rounded Rectangle 7"/>
          <p:cNvSpPr/>
          <p:nvPr/>
        </p:nvSpPr>
        <p:spPr>
          <a:xfrm>
            <a:off x="374904" y="2803461"/>
            <a:ext cx="5827471" cy="3373002"/>
          </a:xfrm>
          <a:prstGeom prst="roundRect">
            <a:avLst>
              <a:gd name="adj" fmla="val 90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498287" cy="334130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Семь, где обе стороны измерены в одной единице:</a:t>
            </a:r>
            <a:r>
              <a:rPr sz="1100" b="0" i="0">
                <a:solidFill>
                  <a:srgbClr val="21295C"/>
                </a:solidFill>
                <a:latin typeface="Arial"/>
              </a:rPr>
              <a:t> цена изображения · микродрамы · ролик к финалу НБА · рождественская кампания · редакция, выпускавшая машинные статьи · российские издания · дубляж.</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базы со стороны классики нет, и это названо вслух:</a:t>
            </a:r>
            <a:r>
              <a:rPr sz="1100" b="0" i="0">
                <a:solidFill>
                  <a:srgbClr val="21295C"/>
                </a:solidFill>
                <a:latin typeface="Arial"/>
              </a:rPr>
              <a:t> сколько стоил тот же баннер у штатного дизайнера · сколько часов записи требует банкирование голоса по протоколу клиники · сколько стоит классическая доработка под купол.</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классического режима не существует вовсе:</a:t>
            </a:r>
            <a:r>
              <a:rPr sz="1100" b="0" i="0">
                <a:solidFill>
                  <a:srgbClr val="21295C"/>
                </a:solidFill>
                <a:latin typeface="Arial"/>
              </a:rPr>
              <a:t> перегородка сделана оптимизацией без обученной модели · голос актёра в классическом режиме либо отсутствует, либо чужой · у свитков альтернатива одна, не прочитать никогда.</a:t>
            </a:r>
          </a:p>
          <a:p>
            <a:pPr algn="l">
              <a:lnSpc>
                <a:spcPct val="126000"/>
              </a:lnSpc>
              <a:spcBef>
                <a:spcPts val="700"/>
              </a:spcBef>
            </a:pPr>
            <a:r>
              <a:rPr sz="1100" b="0" i="0">
                <a:solidFill>
                  <a:srgbClr val="21295C"/>
                </a:solidFill>
                <a:latin typeface="Arial"/>
              </a:rPr>
              <a:t/>
            </a:r>
            <a:r>
              <a:rPr sz="1100" b="1" i="0">
                <a:solidFill>
                  <a:srgbClr val="21295C"/>
                </a:solidFill>
                <a:latin typeface="Arial"/>
              </a:rPr>
              <a:t>Ноль — удобная база:</a:t>
            </a:r>
            <a:r>
              <a:rPr sz="1100" b="0" i="0">
                <a:solidFill>
                  <a:srgbClr val="21295C"/>
                </a:solidFill>
                <a:latin typeface="Arial"/>
              </a:rPr>
              <a:t> он всегда даёт впечатляющее число и всегда неверен, потому что до модели работу кто-то делал. Седьмой разбор пограничный и назван: у дубляжа первый классический режим посчитан, второй, субтитры, назван без числа.</a:t>
            </a:r>
          </a:p>
        </p:txBody>
      </p:sp>
      <p:sp>
        <p:nvSpPr>
          <p:cNvPr id="10" name="Rounded Rectangle 9"/>
          <p:cNvSpPr/>
          <p:nvPr/>
        </p:nvSpPr>
        <p:spPr>
          <a:xfrm>
            <a:off x="6385255" y="1335024"/>
            <a:ext cx="5303520" cy="2889503"/>
          </a:xfrm>
          <a:prstGeom prst="roundRect">
            <a:avLst>
              <a:gd name="adj" fmla="val 10548"/>
            </a:avLst>
          </a:prstGeom>
          <a:solidFill>
            <a:srgbClr val="F4F7FA"/>
          </a:solidFill>
          <a:ln w="19050">
            <a:solidFill>
              <a:srgbClr val="1C7293"/>
            </a:solidFill>
          </a:ln>
          <a:effectLst/>
        </p:spPr>
        <p:txBody>
          <a:bodyPr rtlCol="0" anchor="ctr"/>
          <a:lstStyle/>
          <a:p>
            <a:pPr algn="ctr"/>
          </a:p>
        </p:txBody>
      </p:sp>
      <p:pic>
        <p:nvPicPr>
          <p:cNvPr id="11" name="Picture 10" descr="s95-schyot-skvoznoy-linii.png"/>
          <p:cNvPicPr>
            <a:picLocks noChangeAspect="1"/>
          </p:cNvPicPr>
          <p:nvPr/>
        </p:nvPicPr>
        <p:blipFill>
          <a:blip r:embed="rId2"/>
          <a:stretch>
            <a:fillRect/>
          </a:stretch>
        </p:blipFill>
        <p:spPr>
          <a:xfrm>
            <a:off x="6522415" y="1472184"/>
            <a:ext cx="5029200" cy="2615184"/>
          </a:xfrm>
          <a:prstGeom prst="rect">
            <a:avLst/>
          </a:prstGeom>
        </p:spPr>
      </p:pic>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ounded Rectangle 3"/>
          <p:cNvSpPr/>
          <p:nvPr/>
        </p:nvSpPr>
        <p:spPr>
          <a:xfrm>
            <a:off x="502920"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ШЕСТЬДЕСЯТ ЛЕТ, СЕМЬ УДЕШЕВЛЕНИЙ</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каждый раз исчезала операция посредничества</a:t>
            </a:r>
          </a:p>
        </p:txBody>
      </p:sp>
      <p:sp>
        <p:nvSpPr>
          <p:cNvPr id="7" name="TextBox 6"/>
          <p:cNvSpPr txBox="1"/>
          <p:nvPr/>
        </p:nvSpPr>
        <p:spPr>
          <a:xfrm>
            <a:off x="640080" y="293322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обводка тушью, допечатный цех, физическая склейка плёнки, дубль ради одной ноты, заказная съёмка под каталог, ручная анимация лица, экспедиция за фоном</a:t>
            </a:r>
          </a:p>
        </p:txBody>
      </p:sp>
      <p:sp>
        <p:nvSpPr>
          <p:cNvPr id="8" name="Rounded Rectangle 7"/>
          <p:cNvSpPr/>
          <p:nvPr/>
        </p:nvSpPr>
        <p:spPr>
          <a:xfrm>
            <a:off x="4286402" y="1335024"/>
            <a:ext cx="3618890" cy="2580330"/>
          </a:xfrm>
          <a:prstGeom prst="roundRect">
            <a:avLst>
              <a:gd name="adj" fmla="val 1181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2022 ГОД</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подешевело другое звено — ошибочная проба</a:t>
            </a:r>
          </a:p>
        </p:txBody>
      </p:sp>
      <p:sp>
        <p:nvSpPr>
          <p:cNvPr id="11" name="TextBox 10"/>
          <p:cNvSpPr txBox="1"/>
          <p:nvPr/>
        </p:nvSpPr>
        <p:spPr>
          <a:xfrm>
            <a:off x="4423562"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первое приближение замысла стало стоить доли цента, и весь выигрыш индустрии берётся отсюда</a:t>
            </a:r>
          </a:p>
        </p:txBody>
      </p:sp>
      <p:sp>
        <p:nvSpPr>
          <p:cNvPr id="12" name="Rounded Rectangle 11"/>
          <p:cNvSpPr/>
          <p:nvPr/>
        </p:nvSpPr>
        <p:spPr>
          <a:xfrm>
            <a:off x="8069884" y="1335024"/>
            <a:ext cx="3618890" cy="2580330"/>
          </a:xfrm>
          <a:prstGeom prst="roundRect">
            <a:avLst>
              <a:gd name="adj" fmla="val 1181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СЛЕДУЕТ</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сделать 70 000 вариантов и выбрать один стало дешевле, чем сделать один и попасть</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поэтому исполнение перестроилось в последнюю очередь, а в первую — отбор</a:t>
            </a:r>
          </a:p>
        </p:txBody>
      </p:sp>
      <p:sp>
        <p:nvSpPr>
          <p:cNvPr id="16" name="Rounded Rectangle 15"/>
          <p:cNvSpPr/>
          <p:nvPr/>
        </p:nvSpPr>
        <p:spPr>
          <a:xfrm>
            <a:off x="502920" y="4098234"/>
            <a:ext cx="5437479" cy="2137973"/>
          </a:xfrm>
          <a:prstGeom prst="roundRect">
            <a:avLst>
              <a:gd name="adj" fmla="val 14256"/>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5368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8" name="TextBox 17"/>
          <p:cNvSpPr txBox="1"/>
          <p:nvPr/>
        </p:nvSpPr>
        <p:spPr>
          <a:xfrm>
            <a:off x="667512" y="4609861"/>
            <a:ext cx="5108295" cy="14708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05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050" b="0" i="0">
                <a:solidFill>
                  <a:srgbClr val="21295C"/>
                </a:solidFill>
                <a:latin typeface="Arial"/>
              </a:rPr>
              <a:t>• отрасль микродрам переходит на новый способ производства за один год</a:t>
            </a:r>
          </a:p>
          <a:p>
            <a:pPr algn="l">
              <a:lnSpc>
                <a:spcPct val="126000"/>
              </a:lnSpc>
            </a:pPr>
            <a:r>
              <a:rPr sz="105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050" b="0" i="0">
                <a:solidFill>
                  <a:srgbClr val="21295C"/>
                </a:solidFill>
                <a:latin typeface="Arial"/>
              </a:rPr>
              <a:t>• свиток, который нельзя было развернуть, прочитан целиком</a:t>
            </a:r>
          </a:p>
        </p:txBody>
      </p:sp>
      <p:sp>
        <p:nvSpPr>
          <p:cNvPr id="19" name="Rounded Rectangle 18"/>
          <p:cNvSpPr/>
          <p:nvPr/>
        </p:nvSpPr>
        <p:spPr>
          <a:xfrm>
            <a:off x="6251295" y="4098234"/>
            <a:ext cx="5437479" cy="2137973"/>
          </a:xfrm>
          <a:prstGeom prst="roundRect">
            <a:avLst>
              <a:gd name="adj" fmla="val 14256"/>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5368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1" name="TextBox 20"/>
          <p:cNvSpPr txBox="1"/>
          <p:nvPr/>
        </p:nvSpPr>
        <p:spPr>
          <a:xfrm>
            <a:off x="6415887" y="4609861"/>
            <a:ext cx="5108295" cy="14708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голос, лицо, подпись и манера перестали подтверждать себя сами</a:t>
            </a:r>
          </a:p>
          <a:p>
            <a:pPr algn="l">
              <a:lnSpc>
                <a:spcPct val="126000"/>
              </a:lnSpc>
            </a:pPr>
            <a:r>
              <a:rPr sz="1050" b="0" i="0">
                <a:solidFill>
                  <a:srgbClr val="21295C"/>
                </a:solidFill>
                <a:latin typeface="Arial"/>
              </a:rPr>
              <a:t>• подтверждение стало стоить денег и труда проверяющего</a:t>
            </a:r>
          </a:p>
          <a:p>
            <a:pPr algn="l">
              <a:lnSpc>
                <a:spcPct val="126000"/>
              </a:lnSpc>
            </a:pPr>
            <a:r>
              <a:rPr sz="10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0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050" b="0" i="0">
                <a:solidFill>
                  <a:srgbClr val="21295C"/>
                </a:solidFill>
                <a:latin typeface="Arial"/>
              </a:rPr>
              <a:t>• счёт за дешёвую ошибку выставлен, и выставлен не всем поровну</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