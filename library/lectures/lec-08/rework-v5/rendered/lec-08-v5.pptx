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она будет разобрана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он выстроен не по интересности, а по цене единицы</a:t>
            </a:r>
          </a:p>
          <a:p>
            <a:r>
              <a:t>выхода. Неподвижное изображение идёт первым, потому что его единица самая дешёвая из всех на</a:t>
            </a:r>
          </a:p>
          <a:p>
            <a:r>
              <a:t>два-три порядка: практика там самая зрелая, числа есть по обе стороны счёта, и именно на этой</a:t>
            </a:r>
          </a:p>
          <a:p>
            <a:r>
              <a:t>модальности уместно разобрать устройство метода на той глубине, которой он требует. Дальше цена</a:t>
            </a:r>
          </a:p>
          <a:p>
            <a:r>
              <a:t>единицы растёт по разделам на порядки, и вместе с ней растёт доля задач, которые модель не</a:t>
            </a:r>
          </a:p>
          <a:p>
            <a:r>
              <a:t>закрывает. К трёхмерной сцене мы придём туда, где устройство отличное, а случая с посчитанными</a:t>
            </a:r>
          </a:p>
          <a:p>
            <a:r>
              <a:t>обеими сторонами в открытых источниках нет ни одного, — и это будет сказано вслух, а не</a:t>
            </a:r>
          </a:p>
          <a:p>
            <a:r>
              <a:t>замазано 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a:t>
            </a:r>
          </a:p>
          <a:p>
            <a:r>
              <a:t>замыслом и носителем. Ксерография перенесла рисунок напрямую, и штат фильма составил примерно</a:t>
            </a:r>
          </a:p>
          <a:p>
            <a:r>
              <a:t>половину состава «Спящей красавицы» 1959 года при вдвое меньших стоимости и сроке. Одна деталь</a:t>
            </a:r>
          </a:p>
          <a:p>
            <a:r>
              <a:t>здесь говорит о природе таких переходов больше, чем сами числа: сюжет про девяносто девять</a:t>
            </a:r>
          </a:p>
          <a:p>
            <a:r>
              <a:t>пятнистых щенков выбрали потому, что новый способ сделал его выполнимым — вручную отрисовать все</a:t>
            </a:r>
          </a:p>
          <a:p>
            <a:r>
              <a:t>пятна было нереально. Инструмент определил содержание. И тут же уехало вправо: узнаваемое</a:t>
            </a:r>
          </a:p>
          <a:p>
            <a:r>
              <a:t>неряшливое начертание линии шестидесятых, контур печатался со всеми карандашными шероховатостями,</a:t>
            </a:r>
          </a:p>
          <a:p>
            <a:r>
              <a:t>и Уолт 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не из-за техники, а из-за урока, который переносится на</a:t>
            </a:r>
          </a:p>
          <a:p>
            <a:r>
              <a:t>сегодня без единой поправки. Алгоритм вырос из обработки сейсмических данных при поиске нефти,</a:t>
            </a:r>
          </a:p>
          <a:p>
            <a:r>
              <a:t>первый год применялся как точечная заплатка, а в 1998-м запись Шер «Believe» вывела экстремальные</a:t>
            </a:r>
          </a:p>
          <a:p>
            <a:r>
              <a:t>настройки в художественный приём. Инструмент, сделанный ради исправления брака, за один год стал</a:t>
            </a:r>
          </a:p>
          <a:p>
            <a:r>
              <a:t>источником нового звучания — и разговор «это обман слушателя» шёл дословно теми же словами,</a:t>
            </a:r>
          </a:p>
          <a:p>
            <a:r>
              <a:t>какими сегодня 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прошла путь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Здесь важно, что единица обеих сторон — именно готовая минута, а</a:t>
            </a:r>
          </a:p>
          <a:p>
            <a:r>
              <a:t>не час студийного времени: часовые ставки звукозаписи в эту бухгалтерию не складываются, и</a:t>
            </a:r>
          </a:p>
          <a:p>
            <a:r>
              <a:t>смешивать их нельзя.</a:t>
            </a:r>
          </a:p>
          <a:p>
            <a:r>
              <a:t/>
            </a:r>
          </a:p>
          <a:p>
            <a:r>
              <a:t>Выпуск микродрамы — это уже не отдельная операция, а целый продукт, и масштаб соответствующий.</a:t>
            </a:r>
          </a:p>
          <a:p>
            <a:r>
              <a:t>Короткий вертикальный сериальный выпуск обычным производством в Китае стоил свыше миллиона</a:t>
            </a:r>
          </a:p>
          <a:p>
            <a:r>
              <a:t>юаней, около ста тридцати семи тысяч долларов. С генеративным конвейером — пятьдесят—сто тысяч</a:t>
            </a:r>
          </a:p>
          <a:p>
            <a:r>
              <a:t>юаней, семь—четырнадцать тысяч долларов за выпуск. Падение в десять—двадцать раз. За восемь</a:t>
            </a:r>
          </a:p>
          <a:p>
            <a:r>
              <a:t>месяцев 2026 года вышло 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Это не случайность</a:t>
            </a:r>
          </a:p>
          <a:p>
            <a:r>
              <a:t>и не погрешность измерения, а закономерность, которая будет держать весь вечер. Чем дороже</a:t>
            </a:r>
          </a:p>
          <a:p>
            <a:r>
              <a:t>единица выхода, тем меньшую долю в её цене составляет та самая операция, которую модель</a:t>
            </a:r>
          </a:p>
          <a:p>
            <a:r>
              <a:t>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и это не оформительское решение, а</a:t>
            </a:r>
          </a:p>
          <a:p>
            <a:r>
              <a:t>необходимость: четыре цента и сто тридцать семь тысяч долларов на одной линейной шкале просто</a:t>
            </a:r>
          </a:p>
          <a:p>
            <a:r>
              <a:t>не помещаются — меньший столбец выродился бы в линию толщиной в волос. Лог-шкала позволяет</a:t>
            </a:r>
          </a:p>
          <a:p>
            <a:r>
              <a:t>увидеть то, ради чего кадр собран: все три пары отстоят друг от друга на сопоставимое</a:t>
            </a:r>
          </a:p>
          <a:p>
            <a:r>
              <a:t>расстояние, хотя абсолютные величины 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 окажется не одним дефицитом, а</a:t>
            </a:r>
          </a:p>
          <a:p>
            <a:r>
              <a:t>тремя адресами, по которым теперь уходит платёж, и каждый из них будет назван по имени в конце</a:t>
            </a:r>
          </a:p>
          <a:p>
            <a:r>
              <a:t>вечера: отбор, права, узнавание. Отбор — потому что пробовать стало бесплатно, а выбирать нет, и</a:t>
            </a:r>
          </a:p>
          <a:p>
            <a:r>
              <a:t>процедуры отбора раньше попросту не существовало: пробовали мало, потому что проба стоила денег.</a:t>
            </a:r>
          </a:p>
          <a:p>
            <a:r>
              <a:t>Права — потому что от того, чем обучена модель, зависит, что из её выхода вообще можно выпустить,</a:t>
            </a:r>
          </a:p>
          <a:p>
            <a:r>
              <a:t>и три крупные юрисдикции отвечают на это по-разному. Узнавание — потому что подпись, голос, лицо</a:t>
            </a:r>
          </a:p>
          <a:p>
            <a:r>
              <a:t>и 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не по типу инструмента, а по типу решения, которое надо принять.</a:t>
            </a:r>
          </a:p>
          <a:p>
            <a:r>
              <a:t>Разница существенная. Если резать по инструментам, получится список продуктов, который устареет</a:t>
            </a:r>
          </a:p>
          <a:p>
            <a:r>
              <a:t>к следующему семестру. Если резать по типу задачи, получится сетка, в которую новый продукт</a:t>
            </a:r>
          </a:p>
          <a:p>
            <a:r>
              <a:t>просто ложится клеткой, и это та форма знания, которая переживает смену поколений 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эта клетка — главный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модальностью не является —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не по предмету, а по бюджету, и сказать это честнее, чем придумывать</a:t>
            </a:r>
          </a:p>
          <a:p>
            <a:r>
              <a:t>содержательное объяснение. Материал собран, проверен и лежит в главе как чтение для</a:t>
            </a:r>
          </a:p>
          <a:p>
            <a:r>
              <a:t>самостоятельной работы: там и прогнозы занятости с разбором того, какие из них не</a:t>
            </a:r>
          </a:p>
          <a:p>
            <a:r>
              <a:t>подтвердились прямой проверкой первоисточников, и правовая картина по странам в подробностях.</a:t>
            </a:r>
          </a:p>
          <a:p>
            <a:r>
              <a:t>Причина, по которой этого нет на кадрах, арифметическая: пласт цены занимает примерно пятую</a:t>
            </a:r>
          </a:p>
          <a:p>
            <a:r>
              <a:t>часть вечера, а правовой ландшафт по странам в такой объём не укладывается, не вытеснив</a:t>
            </a:r>
          </a:p>
          <a:p>
            <a:r>
              <a:t>разговор о возможностях. Поэтому право здесь предъявлено двумя кадрами — одним подробным</a:t>
            </a:r>
          </a:p>
          <a:p>
            <a:r>
              <a:t>разбором судебного решения и одним списком из восьми строк, где у каждой строки стоит статус, —</a:t>
            </a:r>
          </a:p>
          <a:p>
            <a:r>
              <a:t>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и список снятого лежит в главе — не как оправдание, а как рабочий пример того,</a:t>
            </a:r>
          </a:p>
          <a:p>
            <a:r>
              <a:t>сколько именно уходит в 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не информирует ни о чём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и стоит он первым не по важности, а по цене единицы. Одно изображение —</a:t>
            </a:r>
          </a:p>
          <a:p>
            <a:r>
              <a:t>самая дешёвая единица выхода из всех пяти модальностей, дешевле следующей на два-три порядка.</a:t>
            </a:r>
          </a:p>
          <a:p>
            <a:r>
              <a:t>Из этого следует всё остальное: практика здесь самая зрелая, потому что пробовать начали раньше</a:t>
            </a:r>
          </a:p>
          <a:p>
            <a:r>
              <a:t>всех и дешевле всех; числа есть по обе стороны счёта, потому что классический режим тоже</a:t>
            </a:r>
          </a:p>
          <a:p>
            <a:r>
              <a:t>измерен; и именно здесь уместно разобрать устройство метода на той глубине, которой он</a:t>
            </a:r>
          </a:p>
          <a:p>
            <a:r>
              <a:t>требует. Всё, что устроено в изображении, повторяется с поправками в звуке, видео и трёхмерной</a:t>
            </a:r>
          </a:p>
          <a:p>
            <a:r>
              <a:t>сцене — разбирать это по второму разу в каждом разделе незачем, поэтому несущий технический</a:t>
            </a:r>
          </a:p>
          <a:p>
            <a:r>
              <a:t>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вот почему это важно практически: сто концептов</a:t>
            </a:r>
          </a:p>
          <a:p>
            <a:r>
              <a:t>стоят 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 и это не вопрос удобства, а вопрос арифметики ошибки:</a:t>
            </a:r>
          </a:p>
          <a:p>
            <a:r>
              <a:t>ошибка здесь дёшево исправляется и дорого обходится, если её пропустить дальше по циклу.</a:t>
            </a:r>
          </a:p>
          <a:p>
            <a:r>
              <a:t/>
            </a:r>
          </a:p>
          <a:p>
            <a:r>
              <a:t>И отсюда главное наблюдение, из которого вырастет весь раздел. Вся экономика этой стадии</a:t>
            </a:r>
          </a:p>
          <a:p>
            <a:r>
              <a:t>держится на одном отношении: сколько вариантов мы можем позволить себе посмотреть, прежде чем</a:t>
            </a:r>
          </a:p>
          <a:p>
            <a:r>
              <a:t>выбрать один. До 2022 года это отношение задавалось ценой одного варианта, и потому было</a:t>
            </a:r>
          </a:p>
          <a:p>
            <a:r>
              <a:t>небольшим — три-четыре эскиза, редко больше. Генеративная модель ударила по этой модальности</a:t>
            </a:r>
          </a:p>
          <a:p>
            <a:r>
              <a:t>первой и сильнее всего не потому, что она хорошо рисует, а потому, что она изменила ровно ту</a:t>
            </a:r>
          </a:p>
          <a:p>
            <a:r>
              <a:t>величину, вокруг которой стадия была устроена. Стадия, которая раньше была самой экономной по</a:t>
            </a:r>
          </a:p>
          <a:p>
            <a:r>
              <a:t>числу проб во всём производстве, стала самой щедрой, — и это перестроило не инструмент, а</a:t>
            </a:r>
          </a:p>
          <a:p>
            <a:r>
              <a:t>порядок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как исторический</a:t>
            </a:r>
          </a:p>
          <a:p>
            <a:r>
              <a:t>контрапункт, и значение его трудно переоценить: обвал цены единицы изображения на три порядка в</a:t>
            </a:r>
          </a:p>
          <a:p>
            <a:r>
              <a:t>этой отрасли уже происходил один раз, двадцать лет назад, и рынок после него уцелел,</a:t>
            </a:r>
          </a:p>
          <a:p>
            <a:r>
              <a:t>разделившись на «дёшево и много» и «дорого 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состава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просто она менее заметна.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a:t>
            </a:r>
          </a:p>
          <a:p>
            <a:r>
              <a:t>В 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один из этих расчётов не содержит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лучший российский случай раздела для инженерной аудитории, и лучший он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 Уберите модель мысленно — если остальное продолжает работать,</a:t>
            </a:r>
          </a:p>
          <a:p>
            <a:r>
              <a:t>случай не засчитывается. Здесь он не засчитывается, и разобрать его надо именно поэтому.</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конвертируется в топливо и в выбросы.</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 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 Уберите обученную модель — перебор по</a:t>
            </a:r>
          </a:p>
          <a:p>
            <a:r>
              <a:t>критерию остаётся, расчёт остаётся, печать остаётся, результат остаётся. Условие отбора не</a:t>
            </a:r>
          </a:p>
          <a:p>
            <a:r>
              <a:t>проходит.</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a:t>
            </a:r>
          </a:p>
          <a:p>
            <a:r>
              <a:t>Это и есть предъявляемая подмена, названная одной строкой.</a:t>
            </a:r>
          </a:p>
          <a:p>
            <a:r>
              <a:t/>
            </a:r>
          </a:p>
          <a:p>
            <a:r>
              <a:t>Шаг пятый — что уехало вправо, и почему разбор стоит именно в разделе про изображение. Переехал</a:t>
            </a:r>
          </a:p>
          <a:p>
            <a:r>
              <a:t>критерий отбора, и в этом урок. Там, где критерий задан физикой, спора об авторстве не возникает</a:t>
            </a:r>
          </a:p>
          <a:p>
            <a:r>
              <a:t>вовсе: никто не спрашивает, кому принадлежит перегородка, потому что ответ «той, что весит</a:t>
            </a:r>
          </a:p>
          <a:p>
            <a:r>
              <a:t>тридцать пять килограммов и проходит расчёт» устраивает всех. Спор появляется ровно там, где</a:t>
            </a:r>
          </a:p>
          <a:p>
            <a:r>
              <a:t>критерий вкусовой, — и весь остальной вечер именно про это. Концепт, иллюстрация, ключевой кадр,</a:t>
            </a:r>
          </a:p>
          <a:p>
            <a:r>
              <a:t>голос, лицо, музыкальный трек: во всех этих задачах нет проверяемого предиката, по которому</a:t>
            </a:r>
          </a:p>
          <a:p>
            <a:r>
              <a:t>можно 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И 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В этом</a:t>
            </a:r>
          </a:p>
          <a:p>
            <a:r>
              <a:t>случае останется почти всё. В соседнем разборе, где редакция дообучала модель на сорока</a:t>
            </a:r>
          </a:p>
          <a:p>
            <a:r>
              <a:t>картинках, не останется ничего, кроме сорока картинок и ноутбука, — и именно поэтому тот случай</a:t>
            </a:r>
          </a:p>
          <a:p>
            <a:r>
              <a:t>засчитывается, а этот нет.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которое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одной штуки — ни доли рынка, ни числа генераций, ни экономии у заказчика, ни</a:t>
            </a:r>
          </a:p>
          <a:p>
            <a:r>
              <a:t>судебных исходов. Поэтому происхождение данных как товарное свойство здесь названо, а подробным</a:t>
            </a:r>
          </a:p>
          <a:p>
            <a:r>
              <a:t>разбором не назначено,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структурное: текст дискретен,</a:t>
            </a:r>
          </a:p>
          <a:p>
            <a:r>
              <a:t>изображение непрерывно. Текст уже разбит на конечный словарь, по нему естественно считать</a:t>
            </a:r>
          </a:p>
          <a:p>
            <a:r>
              <a:t>вероятности. Изображение — непрерывный сигнал, и попытки квантовать его в словарь работали, но</a:t>
            </a:r>
          </a:p>
          <a:p>
            <a:r>
              <a:t>проигрывали по качеству деталей.</a:t>
            </a:r>
          </a:p>
          <a:p>
            <a:r>
              <a:t/>
            </a:r>
          </a:p>
          <a:p>
            <a:r>
              <a:t>И граница размывается с обеих сторон — это надо сказать, иначе «два семейства» превратятся в</a:t>
            </a:r>
          </a:p>
          <a:p>
            <a:r>
              <a:t>догму. Авторегрессия вернулась в изображения: современные мультимодальные модели генерируют</a:t>
            </a:r>
          </a:p>
          <a:p>
            <a:r>
              <a:t>картинку токенами в той же сети, что пишет текст, — отсюда их заметно лучшее понимание сложных</a:t>
            </a:r>
          </a:p>
          <a:p>
            <a:r>
              <a:t>инструкций и текста внутри кадра, и отсюда же их заметно бо́льшая цена за кадр. Расшумление</a:t>
            </a:r>
          </a:p>
          <a:p>
            <a:r>
              <a:t>пришло в текст: диффузионные языковые модели генерируют его расшумлением всего блока сразу,</a:t>
            </a:r>
          </a:p>
          <a:p>
            <a:r>
              <a:t>ради скорости; направление молодое, и продуктовая зрелость на 2026 год не доказана. А посередине</a:t>
            </a:r>
          </a:p>
          <a:p>
            <a:r>
              <a:t>живёт спрямлённый поток, который формально уже не диффузия, и индустрия последних двух лет ушла</a:t>
            </a:r>
          </a:p>
          <a:p>
            <a:r>
              <a:t>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главное для понимания экономики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Отдельного внимания заслуживает то, как сила подмешиваемого шума меняется с номером шага: это</a:t>
            </a:r>
          </a:p>
          <a:p>
            <a:r>
              <a:t>называется расписанием шума, и это часть постановки задачи, а не гиперпараметр на вкус. Здесь</a:t>
            </a:r>
          </a:p>
          <a:p>
            <a:r>
              <a:t>есть хороший пример инженерной ошибки, которую нашли не сразу. Чем больше картинка, тем больше</a:t>
            </a:r>
          </a:p>
          <a:p>
            <a:r>
              <a:t>в ней избыточности между соседними точками и тем меньше шума нужно, чтобы разрушить</a:t>
            </a:r>
          </a:p>
          <a:p>
            <a:r>
              <a:t>содержание. Расписание, настроенное на маленькое разрешение, на большом оставляет картинку</a:t>
            </a:r>
          </a:p>
          <a:p>
            <a:r>
              <a:t>недоразрушенной: на последнем шаге она всё ещё узнаваема, и модель никогда не учится строить</a:t>
            </a:r>
          </a:p>
          <a:p>
            <a:r>
              <a:t>композицию с нуля. Это явно сформулировали и исправили в 2024 году, введя сдвиг временной шкалы</a:t>
            </a:r>
          </a:p>
          <a:p>
            <a:r>
              <a:t>в зависимости от разрешения; то, что в интерфейсах называется сдвигом, — это оно. Диагностически</a:t>
            </a:r>
          </a:p>
          <a:p>
            <a:r>
              <a:t>полезное следствие: если у модели нормальные текстуры и разваливающаяся компоновка, смотреть</a:t>
            </a:r>
          </a:p>
          <a:p>
            <a:r>
              <a:t>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Главное, что надо проговорить вслух: все эти сэмплеры работают с одной и той же обученной</a:t>
            </a:r>
          </a:p>
          <a:p>
            <a:r>
              <a:t>сетью. Переключение сэмплера — смена численного метода, веса при этом не трогаются. Инженерная</a:t>
            </a:r>
          </a:p>
          <a:p>
            <a:r>
              <a:t>ценность наблюдения прямая: «качество выросло после смены сэмплера» означает, что вы уменьшили</a:t>
            </a:r>
          </a:p>
          <a:p>
            <a:r>
              <a:t>ошибку дискретизации, и обратно — сэмплер нельзя дообучить, у него нет параметров, кроме числа</a:t>
            </a:r>
          </a:p>
          <a:p>
            <a:r>
              <a:t>шагов и пары коэффициентов. И второе следствие, которое экономит деньги: больше шагов не значит</a:t>
            </a:r>
          </a:p>
          <a:p>
            <a:r>
              <a:t>лучше. После тридцати—пятидесяти шагов у современных моделей прирост уходит в шум, а время</a:t>
            </a:r>
          </a:p>
          <a:p>
            <a:r>
              <a:t>растёт 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вот тут видно, почему этот обмен нельзя оценивать вообще, в отрыве от задачи. Для</a:t>
            </a:r>
          </a:p>
          <a:p>
            <a:r>
              <a:t>продуктового конвейера, где нужен один приличный кадр за секунду, обмен выгодный: разнообразие</a:t>
            </a:r>
          </a:p>
          <a:p>
            <a:r>
              <a:t>там не нужно, нужна скорость и предсказуемость. Для творческого перебора вариантов — это потеря</a:t>
            </a:r>
          </a:p>
          <a:p>
            <a:r>
              <a:t>главного, потому что перебор вариантов и есть весь выигрыш, ради которого вечер и собран. Модель,</a:t>
            </a:r>
          </a:p>
          <a:p>
            <a:r>
              <a:t>дистиллированная до четырёх шагов, 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главное практическое: диффузионная сеть не</a:t>
            </a:r>
          </a:p>
          <a:p>
            <a:r>
              <a:t>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Вот ключевое число всего блока: картинка 1024×1024 — это 4096 токенов. Ровно того сорта токенов,</a:t>
            </a:r>
          </a:p>
          <a:p>
            <a:r>
              <a:t>по которым считается карта внимания каждый-против-каждого. Плюс текстовые токены обусловливания:</a:t>
            </a:r>
          </a:p>
          <a:p>
            <a:r>
              <a:t>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главная: картинка, прошедшая через автокодировщик и обратно, уже не идентична оригиналу, причём</a:t>
            </a:r>
          </a:p>
          <a:p>
            <a:r>
              <a:t>не идентична ещё до того, как к ней притронулась генеративная модель. Это стоит проверить</a:t>
            </a:r>
          </a:p>
          <a:p>
            <a:r>
              <a:t>руками: прогнать фотографию через кодирование и декодирование без всякой генерации и посмотреть</a:t>
            </a:r>
          </a:p>
          <a:p>
            <a:r>
              <a:t>разницу. Пятиминутный опыт, объясняющий половину артефактов, которые вы видели в 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Инженерное следствие прямое: это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главное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a:t>
            </a:r>
          </a:p>
          <a:p>
            <a:r>
              <a:t>выдала, и при коэффициенте семь итоговый вектор лежит там, где модель не предсказывала ничего.</a:t>
            </a:r>
          </a:p>
          <a:p>
            <a:r>
              <a:t>Второе — направление эффекта, и оно противоположное: рост температуры даёт больше случайности и</a:t>
            </a:r>
          </a:p>
          <a:p>
            <a:r>
              <a:t>меньше предсказуемости, рост CFG даёт меньше разнообразия и более жёсткое следование описанию.</a:t>
            </a:r>
          </a:p>
          <a:p>
            <a:r>
              <a:t>Третье — цена: у температуры ноль, одно деление над готовыми логитами; у CFG два прохода сети на</a:t>
            </a:r>
          </a:p>
          <a:p>
            <a:r>
              <a:t>каждом шаге. Четвёртое — где сидит случайность: у языковой модели в работе сэмплера, на каждом</a:t>
            </a:r>
          </a:p>
          <a:p>
            <a:r>
              <a:t>шаге; 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по причине, которую стоит назвать точно: свёрточный каркас несёт встроенные</a:t>
            </a:r>
          </a:p>
          <a:p>
            <a:r>
              <a:t>допущения о структуре картинки — локальность, инвариантность к сдвигу, — и эти допущения</a:t>
            </a:r>
          </a:p>
          <a:p>
            <a:r>
              <a:t>помогают на малых данных и мешают на больших, потому что сеть перестаёт масштабироваться</a:t>
            </a:r>
          </a:p>
          <a:p>
            <a:r>
              <a:t>предсказуемо. Про 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стоит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и замер дал восемьдесят</a:t>
            </a:r>
          </a:p>
          <a:p>
            <a:r>
              <a:t>разных ответов на тысячу запусков одного запроса.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Главный структурный тезис тот же, что курс уже сформулировал: база заморожена, учится</a:t>
            </a:r>
          </a:p>
          <a:p>
            <a:r>
              <a:t>маленький довесок, довески модульны и складываются. Складываются они здесь буквально: на одну</a:t>
            </a:r>
          </a:p>
          <a:p>
            <a:r>
              <a:t>базовую модель одновременно вешают адаптер стиля, структурное условие позы и образец лица.</a:t>
            </a:r>
          </a:p>
          <a:p>
            <a:r>
              <a:t>Именно эта складываемость сделала открытые веса рабочим инструментом в производстве — не</a:t>
            </a:r>
          </a:p>
          <a:p>
            <a:r>
              <a:t>качество базовой модели само по себе, а возможность собрать под свою задачу конфигурацию из</a:t>
            </a:r>
          </a:p>
          <a:p>
            <a:r>
              <a:t>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стоит сказать то, ради чего этот кадр вообще стоит в техническом блоке. Здесь</a:t>
            </a:r>
          </a:p>
          <a:p>
            <a:r>
              <a:t>параллель с языковыми моделями работает полностью, и это надо назвать совпадением вслух.</a:t>
            </a:r>
          </a:p>
          <a:p>
            <a:r>
              <a:t>В блоке было уже несколько мест, где перенос знания оказывался ложным: температура и</a:t>
            </a:r>
          </a:p>
          <a:p>
            <a:r>
              <a:t>направляющий коэффициент управляют разными вещами; кэш, на котором стоит вся экономика</a:t>
            </a:r>
          </a:p>
          <a:p>
            <a:r>
              <a:t>языковых моделей, здесь невозможен; подкладывания источника истины не существует. На этом фоне</a:t>
            </a:r>
          </a:p>
          <a:p>
            <a:r>
              <a:t>легко прийти к выводу, что переносить нельзя ничего, — и это была бы вторая ошибка, зеркальная</a:t>
            </a:r>
          </a:p>
          <a:p>
            <a:r>
              <a:t>первой. Дообучение адаптером переносится без поправок: та же идея, та же экономика, те же</a:t>
            </a:r>
          </a:p>
          <a:p>
            <a:r>
              <a:t>размеры довесков, тот же выбор между «разместить знание» и «закодировать поведение». Умение</a:t>
            </a:r>
          </a:p>
          <a:p>
            <a:r>
              <a:t>различать, где перенос 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сводный кадр всего технического блока. Каждая строка опирается на термин, который курс уже</a:t>
            </a:r>
          </a:p>
          <a:p>
            <a:r>
              <a:t>ввёл, и показывает, во что он превращается в медиа-модели или почему исчезает по построению.</a:t>
            </a:r>
          </a:p>
          <a:p>
            <a:r>
              <a:t>Второе интереснее первого: исчезновение всегда показывает механизм.</a:t>
            </a:r>
          </a:p>
          <a:p>
            <a:r>
              <a:t/>
            </a:r>
          </a:p>
          <a:p>
            <a:r>
              <a:t>Три строки стоит разобрать подробнее остальных, потому что именно на них обычно ломается</a:t>
            </a:r>
          </a:p>
          <a:p>
            <a:r>
              <a:t>перенос знания.</a:t>
            </a:r>
          </a:p>
          <a:p>
            <a:r>
              <a:t/>
            </a:r>
          </a:p>
          <a:p>
            <a:r>
              <a:t>Про кэш. Вокруг того, что ключи и значения кэшируемы, а запрос — нет, построена целая экономика:</a:t>
            </a:r>
          </a:p>
          <a:p>
            <a:r>
              <a:t>отсюда асимметрия предзаполнения и генерации, отсюда тарифы на кэширование описания, отсюда</a:t>
            </a:r>
          </a:p>
          <a:p>
            <a:r>
              <a:t>совет держать стабильный префикс. В медиа-модели от этой экономики не остаётся ничего. Причина</a:t>
            </a:r>
          </a:p>
          <a:p>
            <a:r>
              <a:t>простая: кэшировать нечего, и реализация тут ни при чём — расшумление на каждом шаге</a:t>
            </a:r>
          </a:p>
          <a:p>
            <a:r>
              <a:t>переписывает все четыре тысячи девяносто шесть токенов сразу. Кэш работает, пока ключи и</a:t>
            </a:r>
          </a:p>
          <a:p>
            <a:r>
              <a:t>значения относятся к уже обработанному и больше не меняющемуся контексту; здесь неизменного</a:t>
            </a:r>
          </a:p>
          <a:p>
            <a:r>
              <a:t>контекста нет вовсе. Это самое недооценённое различие между семействами, и оно напрямую</a:t>
            </a:r>
          </a:p>
          <a:p>
            <a:r>
              <a:t>объясняет, почему одна картинка стоит как тысячи токенов текста: у языковой модели каждый</a:t>
            </a:r>
          </a:p>
          <a:p>
            <a:r>
              <a:t>следующий токен дешевеет за счёт кэша, у медиа-модели каждый следующий шаг стоит ровно столько</a:t>
            </a:r>
          </a:p>
          <a:p>
            <a:r>
              <a:t>же, сколько первый.</a:t>
            </a:r>
          </a:p>
          <a:p>
            <a:r>
              <a:t/>
            </a:r>
          </a:p>
          <a:p>
            <a:r>
              <a:t>Про галлюцинацию. Разница лежит в природе ошибки, и из неё следует разница в лечении.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обращением к источнику, и на этом стоит</a:t>
            </a:r>
          </a:p>
          <a:p>
            <a:r>
              <a:t>весь поиск по документам. Ошибка медиа-модели — другая: это правдоподобная невозможность.</a:t>
            </a:r>
          </a:p>
          <a:p>
            <a:r>
              <a:t>Шесть пальцев, тень не от того источника света, отражение без оригинала, резьба без шага,</a:t>
            </a:r>
          </a:p>
          <a:p>
            <a:r>
              <a:t>разъём с лишним контактом. Проверяется обращением к физике и геометрии, и источника, который</a:t>
            </a:r>
          </a:p>
          <a:p>
            <a:r>
              <a:t>можно подложить, не существует.</a:t>
            </a:r>
          </a:p>
          <a:p>
            <a:r>
              <a:t/>
            </a:r>
          </a:p>
          <a:p>
            <a:r>
              <a:t>Классы таких ошибок чинятся по-разному, и различать их практически полезно. Анатомия и счёт —</a:t>
            </a:r>
          </a:p>
          <a:p>
            <a:r>
              <a:t>у модели нет понятия дискретного объекта, лечится обусловливанием позой, перегенерацией или</a:t>
            </a:r>
          </a:p>
          <a:p>
            <a:r>
              <a:t>ручной правкой. Физика и свет — модель выучила корреляции внешнего вида, и внутри модели это не</a:t>
            </a:r>
          </a:p>
          <a:p>
            <a:r>
              <a:t>лечится вовсе. Текст — потеря высоких частот в автокодировщике плюс слабый текстовый</a:t>
            </a:r>
          </a:p>
          <a:p>
            <a:r>
              <a:t>кодировщик, лечится шестнадцатиканальным автокодировщиком и большой языковой моделью на входе,</a:t>
            </a:r>
          </a:p>
          <a:p>
            <a:r>
              <a:t>а надёжно — вставкой текста отдельным слоем вне генератора. Техническая невозможность — модель</a:t>
            </a:r>
          </a:p>
          <a:p>
            <a:r>
              <a:t>не знает технических характеристик и не считает размеров, и правильный вывод здесь, что</a:t>
            </a:r>
          </a:p>
          <a:p>
            <a:r>
              <a:t>генератор не тот инструмент. Непостоянство между кадрами — между кадрами нет объекта, который</a:t>
            </a:r>
          </a:p>
          <a:p>
            <a:r>
              <a:t>«тот же»; лечится обусловливанием и образцами, полностью не решено. Воспроизведение обучающего</a:t>
            </a:r>
          </a:p>
          <a:p>
            <a:r>
              <a:t>примера — следствие дубликатов в корпусе, лечится дедупликацией корпуса и фильтрами на выходе.</a:t>
            </a:r>
          </a:p>
          <a:p>
            <a:r>
              <a:t/>
            </a:r>
          </a:p>
          <a:p>
            <a:r>
              <a:t>Про гарантии формы. Курс показал красивый механизм: грамматика схемы маскирует невалидные</a:t>
            </a:r>
          </a:p>
          <a:p>
            <a:r>
              <a:t>токены, и невалидный формат физически не может быть сгенерирован — именно не может, а не</a:t>
            </a:r>
          </a:p>
          <a:p>
            <a:r>
              <a:t>«обычно не генерируется». Инженер к этому привыкает: формат гарантируется на уровне</a:t>
            </a:r>
          </a:p>
          <a:p>
            <a:r>
              <a:t>декодирования, и это ощущается как базовое свойство инструмента. В медиа-моделях такого рычага</a:t>
            </a:r>
          </a:p>
          <a:p>
            <a:r>
              <a:t>нет ни одного. «Ровно три объекта», «логотип в соотношении шестнадцать к девяти с полем в</a:t>
            </a:r>
          </a:p>
          <a:p>
            <a:r>
              <a:t>десять процентов», «шрифт не меняется между кадрами» — всё это просьбы, а не ограничения.</a:t>
            </a:r>
          </a:p>
          <a:p>
            <a:r>
              <a:t>Проверка остаётся снаружи модели, в конвейере, и это архитектурное требование, а не</a:t>
            </a:r>
          </a:p>
          <a:p>
            <a:r>
              <a:t>рекомендация.</a:t>
            </a:r>
          </a:p>
          <a:p>
            <a:r>
              <a:t/>
            </a:r>
          </a:p>
          <a:p>
            <a:r>
              <a:t>И последнее про эту таблицу, уже про то, как ею пользоваться. Она не доказывает, что</a:t>
            </a:r>
          </a:p>
          <a:p>
            <a:r>
              <a:t>медиа-модель хуже языковой или наоборот. Она показывает, какие именно привычки переносятся, а</a:t>
            </a:r>
          </a:p>
          <a:p>
            <a:r>
              <a:t>какие нет, — и это куда полезнее любого сравнения качества, потому что качество меняется с</a:t>
            </a:r>
          </a:p>
          <a:p>
            <a:r>
              <a:t>каждым поколением моделей, а перечисленные различия следуют из постановки задачи и не</a:t>
            </a:r>
          </a:p>
          <a:p>
            <a:r>
              <a:t>изменятся. Непрерывный выход не станет дискретным; условие, неизменное на всех шагах, не</a:t>
            </a:r>
          </a:p>
          <a:p>
            <a:r>
              <a:t>станет растущей историей; провенанс, которого нет в весах, не появится в следующей версии.</a:t>
            </a:r>
          </a:p>
          <a:p>
            <a:r>
              <a:t>Строки этой таблицы — это то, что останется верным, когда все названные сегодня продукты</a:t>
            </a:r>
          </a:p>
          <a:p>
            <a:r>
              <a:t>сменятся.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контринтуитивный кадр блока для этой аудитории, и он весь построен на измеренных числах.</a:t>
            </a:r>
          </a:p>
          <a:p>
            <a:r>
              <a:t/>
            </a:r>
          </a:p>
          <a:p>
            <a:r>
              <a:t>Четыре верхние строки и три нижние смотрят в разные стороны, и это не парадокс, а следствие</a:t>
            </a:r>
          </a:p>
          <a:p>
            <a:r>
              <a:t>устройства, разобранного предыдущими кадрами. Обучить картиночную модель в двести—четыреста раз</a:t>
            </a:r>
          </a:p>
          <a:p>
            <a:r>
              <a:t>дешевле, чем передовую языковую, — и каждый её запуск в сорок—шестьдесят 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из чисел предыдущих кадров за минуту,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самое интересное наблюдение кадра: картиночные модели перестали расти. Stable Diffusion</a:t>
            </a:r>
          </a:p>
          <a:p>
            <a:r>
              <a:t>первой версии в 2022 году и SD3 в 2024-м потратили на обучение одно и то же число операций, и</a:t>
            </a:r>
          </a:p>
          <a:p>
            <a:r>
              <a:t>это названо прямо в их собственной статье. За те же два года вычисления передовых языковых</a:t>
            </a:r>
          </a:p>
          <a:p>
            <a:r>
              <a:t>моделей росли в четыре—пять раз в год, а амортизированная стоимость — в два и четыре десятых</a:t>
            </a:r>
          </a:p>
          <a:p>
            <a:r>
              <a:t>раза в год начиная с 2016-го. Содержательный тезис: разрыв увеличивается не потому, что</a:t>
            </a:r>
          </a:p>
          <a:p>
            <a:r>
              <a:t>картинки дешевеют, а потому, что языковые модели дорожают. Прямое следствие, видимое на рынке:</a:t>
            </a:r>
          </a:p>
          <a:p>
            <a:r>
              <a:t>базовых языковых моделей переднего края — единицы, а серьёзных базовых генераторов изображений</a:t>
            </a:r>
          </a:p>
          <a:p>
            <a:r>
              <a:t>и видео —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По нескольким</a:t>
            </a:r>
          </a:p>
          <a:p>
            <a:r>
              <a:t>ключевым моделям этого семейства не раскрыты ни часы видеокарт, ни стоимость, ни объём</a:t>
            </a:r>
          </a:p>
          <a:p>
            <a:r>
              <a:t>вычислений — у 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Это полезное напоминание о том, что</a:t>
            </a:r>
          </a:p>
          <a:p>
            <a:r>
              <a:t>«открытая модель» и «прозрачная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важно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и должна проходить по устройству: длинные строки, мелкий кегль, нелатинские письменности,</a:t>
            </a:r>
          </a:p>
          <a:p>
            <a:r>
              <a:t>кириллица остаются ненадёжными. Это самая быстро меняющаяся позиция списка, и в день чтения её</a:t>
            </a:r>
          </a:p>
          <a:p>
            <a:r>
              <a:t>стоит 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это и есть</a:t>
            </a:r>
          </a:p>
          <a:p>
            <a:r>
              <a:t>экономический аргумент,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a:t>
            </a:r>
          </a:p>
          <a:p>
            <a:r>
              <a:t/>
            </a:r>
          </a:p>
          <a:p>
            <a:r>
              <a:t>Причина лежит ровно в том, что предсказывает сеть. Модель не считает объекты — она предсказывает</a:t>
            </a:r>
          </a:p>
          <a:p>
            <a:r>
              <a:t>числа в ячейках латента. Слово «три» в описании это токен, который влияет на распределение весов</a:t>
            </a:r>
          </a:p>
          <a:p>
            <a:r>
              <a:t>внимания, а вовсе не счётчик, который кто-то уменьшает. Понятия дискретного объекта в механизме</a:t>
            </a:r>
          </a:p>
          <a:p>
            <a:r>
              <a:t>нет ни в каком виде: нет ни идентификаторов, ни слоёв сцены, ни состояния, которое переносилось</a:t>
            </a:r>
          </a:p>
          <a:p>
            <a:r>
              <a:t>бы между частями изображения. Природа здесь ровно та же, что у «слепоты к буквам», разобранной</a:t>
            </a:r>
          </a:p>
          <a:p>
            <a:r>
              <a:t>курсом применительно к языковым моделям: у механизма нет доступа к той сущности, о которой</a:t>
            </a:r>
          </a:p>
          <a:p>
            <a:r>
              <a:t>спрашивают. И лечится это так же — внешней проверкой: детектор объектов посчитал, число не</a:t>
            </a:r>
          </a:p>
          <a:p>
            <a:r>
              <a:t>сошлось, перегенерировали. Навыком счёта это не лечится, потому что считать нечему.</a:t>
            </a:r>
          </a:p>
          <a:p>
            <a:r>
              <a:t/>
            </a:r>
          </a:p>
          <a:p>
            <a:r>
              <a:t>Отказ третий — следствие второго, и он окажется самым дорогим в разделе про видео. Раз понятия</a:t>
            </a:r>
          </a:p>
          <a:p>
            <a:r>
              <a:t>объекта нет, то и «вот этот стул — тот же самый стул» между двумя генерациями не существует.</a:t>
            </a:r>
          </a:p>
          <a:p>
            <a:r>
              <a:t>Согласованность достигается статистически — общим стартовым шумом, образцом лица, адаптером, —</a:t>
            </a:r>
          </a:p>
          <a:p>
            <a:r>
              <a:t>и поэтому она вероятностна и деградирует с длиной серии. Любой конвейер, которому нужен один и</a:t>
            </a:r>
          </a:p>
          <a:p>
            <a:r>
              <a:t>тот же персонаж, товар или интерфейс в серии кадров, обязан держать идентичность снаружи</a:t>
            </a:r>
          </a:p>
          <a:p>
            <a:r>
              <a:t>модели.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Все три отказа — следствие</a:t>
            </a:r>
          </a:p>
          <a:p>
            <a:r>
              <a:t>одного и того же свойства: картинка сжата в компактное непрерывное представление без словаря.</a:t>
            </a:r>
          </a:p>
          <a:p>
            <a:r>
              <a:t>Ровно это свойство кадром раньше давало выигрыш — полтора порядка вычислений на каждом шаге,</a:t>
            </a:r>
          </a:p>
          <a:p>
            <a:r>
              <a:t>генерация на потребительской видеокарте, цена попытки в три цента. Одно и то же решение,</a:t>
            </a:r>
          </a:p>
          <a:p>
            <a:r>
              <a:t>прочитанное с двух сторон: оно сделало попытку бесплатной и оно же сделало букву ненадёжной.</a:t>
            </a:r>
          </a:p>
          <a:p>
            <a:r>
              <a:t>Это не компромисс, который кто-то выбрал по небрежности, — это одна вещь, у которой две</a:t>
            </a:r>
          </a:p>
          <a:p>
            <a:r>
              <a:t>стороны, и инженерная зрелость состоит в том, чтобы видеть обе сразу.</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самое важное ограничение раздела для инженерной аудитории, и оно сформулировано так, чтобы</a:t>
            </a:r>
          </a:p>
          <a:p>
            <a:r>
              <a:t>его можно было 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И вот здесь стоит остановиться, потому что это и есть опасная часть. Непроверенная</a:t>
            </a:r>
          </a:p>
          <a:p>
            <a:r>
              <a:t>конструкция выглядит ровно так же, как прошедшая проверку. У ошибки нет внешнего признака, по</a:t>
            </a:r>
          </a:p>
          <a:p>
            <a:r>
              <a:t>которому её поймал бы беглый взгляд или согласование. Именно это делает ограничение опасным, а</a:t>
            </a:r>
          </a:p>
          <a:p>
            <a:r>
              <a:t>не просто неудобным: неудобное ограничение заставляет делать лишнюю работу, опасное позволяет</a:t>
            </a:r>
          </a:p>
          <a:p>
            <a:r>
              <a:t>не делать 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и её стоит проговорить.</a:t>
            </a:r>
          </a:p>
          <a:p>
            <a:r>
              <a:t>Там выигрыш в сорок пять процентов массы дала оптимизация под физический критерий, а обученной</a:t>
            </a:r>
          </a:p>
          <a:p>
            <a:r>
              <a:t>модели в контуре не было вовсе — и ошибка состояла в том, что выигрыш ей приписали. Здесь</a:t>
            </a:r>
          </a:p>
          <a:p>
            <a:r>
              <a:t>ровно тот же сюжет с другого конца: там выигрыш приписали модели задним числом, здесь модель</a:t>
            </a:r>
          </a:p>
          <a:p>
            <a:r>
              <a:t>пытаются поставить туда, где нужен решатель, заранее. Обе ошибки — одного класса, и обе</a:t>
            </a:r>
          </a:p>
          <a:p>
            <a:r>
              <a:t>ловятся одним вопросом: что в этой задаче является критерием и можно ли его проверить</a:t>
            </a:r>
          </a:p>
          <a:p>
            <a:r>
              <a:t>вычислением. Если можно — нужен инструмент, который считает. Если критерий вкусовой — тогда</a:t>
            </a:r>
          </a:p>
          <a:p>
            <a:r>
              <a:t>генератор, и тогда же появляются отбор, права и спор 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расшумлении. Контекста в том смысле, в каком курс о нём</a:t>
            </a:r>
          </a:p>
          <a:p>
            <a:r>
              <a:t>говорил, здесь нет вовсе. Описание — постоянное условие, неизменное на всех пятидесяти шагах, и</a:t>
            </a:r>
          </a:p>
          <a:p>
            <a:r>
              <a:t>оно входит в сеть как набор векторов, смещающих внимание. Истории нет, накопления нет, места</a:t>
            </a:r>
          </a:p>
          <a:p>
            <a:r>
              <a:t>«рядом с вопросом» нет. Положить документ некуда: единственный вход, кроме стартового шума, —</a:t>
            </a:r>
          </a:p>
          <a:p>
            <a:r>
              <a:t>это каналы обусловливания, и все они передают геометрию и стиль, а не утверждения.</a:t>
            </a:r>
          </a:p>
          <a:p>
            <a:r>
              <a:t/>
            </a:r>
          </a:p>
          <a:p>
            <a:r>
              <a:t>Шаг третий: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четвёртый: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Это важное различение, потому что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стоит читать это именно так,</a:t>
            </a:r>
          </a:p>
          <a:p>
            <a:r>
              <a:t>а не как дополнительную удобную функцию.</a:t>
            </a:r>
          </a:p>
          <a:p>
            <a:r>
              <a:t/>
            </a:r>
          </a:p>
          <a:p>
            <a:r>
              <a:t>И финальное обобщение, которое, вероятно, главный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является</a:t>
            </a:r>
          </a:p>
          <a:p>
            <a:r>
              <a:t>ограничением, которое нельзя нарушить.</a:t>
            </a:r>
          </a:p>
          <a:p>
            <a:r>
              <a:t/>
            </a:r>
          </a:p>
          <a:p>
            <a:r>
              <a:t>Контраст здесь максимально резкий, и его стоит назвать прямо. Курс показал механизм, который</a:t>
            </a:r>
          </a:p>
          <a:p>
            <a:r>
              <a:t>ограничением является: грамматика схемы маскирует невалидные токены при декодировании, и</a:t>
            </a:r>
          </a:p>
          <a:p>
            <a:r>
              <a:t>невалидный формат физически не может быть сгенерирован — именно не может, и «обычно не</a:t>
            </a:r>
          </a:p>
          <a:p>
            <a:r>
              <a:t>генерируется» тут слишком слабая формулировка. Инженер к этому привыкает и переносит ожидание</a:t>
            </a:r>
          </a:p>
          <a:p>
            <a:r>
              <a:t>на новое семейство. Аналога здесь нет, и он не появится, пока выход непрерывен: маскировать</a:t>
            </a:r>
          </a:p>
          <a:p>
            <a:r>
              <a:t>нечего, запрещать нечему, непрерывную величину нельзя вычеркнуть из словаря, которого не</a:t>
            </a:r>
          </a:p>
          <a:p>
            <a:r>
              <a:t>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который надо назвать прежде, чем читать остальное, потому что он</a:t>
            </a:r>
          </a:p>
          <a:p>
            <a:r>
              <a:t>объясняет, почему кадр устроен именно так. Измеренного ряда ставки самого иллюстратора год к</a:t>
            </a:r>
          </a:p>
          <a:p>
            <a:r>
              <a:t>году — то есть ответа на вопрос «сколько она была в 2021-м и сколько стала в 2026-м» — в</a:t>
            </a:r>
          </a:p>
          <a:p>
            <a:r>
              <a:t>источниках нет. Уровень классических ставок известен, динамика не измерена. Подставлять сюда</a:t>
            </a:r>
          </a:p>
          <a:p>
            <a:r>
              <a:t>оценку или чьё-нибудь впечатление нельзя: курс этого не принимает, и здесь правило работает</a:t>
            </a:r>
          </a:p>
          <a:p>
            <a:r>
              <a:t>против 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правильная формулировка звучит иначе —</a:t>
            </a:r>
          </a:p>
          <a:p>
            <a:r>
              <a:t>попытка защититься не сработала. Это полезный частный случай того, как отраслевая аналитика</a:t>
            </a:r>
          </a:p>
          <a:p>
            <a:r>
              <a:t>устаревает: утверждение было верным в момент объявления сделки и перестало быть верным через</a:t>
            </a:r>
          </a:p>
          <a:p>
            <a:r>
              <a:t>год, а 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a:t>
            </a:r>
          </a:p>
          <a:p>
            <a:r>
              <a:t>истец 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отсутствует</a:t>
            </a:r>
          </a:p>
          <a:p>
            <a:r>
              <a:t>доктрина добросовестного использования в американском смысле; есть узкие исключения, в которые</a:t>
            </a:r>
          </a:p>
          <a:p>
            <a:r>
              <a:t>обучение коммерческой модели не укладывается. Отсюда главное, что выносится из разбора: один и</a:t>
            </a:r>
          </a:p>
          <a:p>
            <a:r>
              <a:t>тот же спор в двух юрисдикциях проигрывают двумя разными способами — в США потому, что обучение</a:t>
            </a:r>
          </a:p>
          <a:p>
            <a:r>
              <a:t>на законно приобретённых материалах признают преобразующим использованием, в Великобритании</a:t>
            </a:r>
          </a:p>
          <a:p>
            <a:r>
              <a:t>потому, что 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a:t>
            </a:r>
          </a:p>
          <a:p>
            <a:r>
              <a:t/>
            </a:r>
          </a:p>
          <a:p>
            <a:r>
              <a:t>Экономика, которая стоит рядом на том же кадре, полезна как упражнение в счёте. Внутри</a:t>
            </a:r>
          </a:p>
          <a:p>
            <a:r>
              <a:t>обучающего корпуса оказалось двенадцать миллионов триста тысяч изображений истца из примерно</a:t>
            </a:r>
          </a:p>
          <a:p>
            <a:r>
              <a:t>пяти миллиардов восьмисот пятидесяти миллионов пар. По оптовому тарифу в два доллара пятьдесят</a:t>
            </a:r>
          </a:p>
          <a:p>
            <a:r>
              <a:t>центов это около тридцати миллионов семисот пятидесяти тысяч долларов; по розничному тарифу в</a:t>
            </a:r>
          </a:p>
          <a:p>
            <a:r>
              <a:t>сто тридцать долларов — около миллиарда шестисот миллионов. Разброс в пятьдесят раз получается</a:t>
            </a:r>
          </a:p>
          <a:p>
            <a:r>
              <a:t>от одного только выбора тарифа внутри классического режима, и это полезно увидеть до того, как</a:t>
            </a:r>
          </a:p>
          <a:p>
            <a:r>
              <a:t>читать любые суммы исков. Для сравнения, реально согласованная в музыке ставка после</a:t>
            </a:r>
          </a:p>
          <a:p>
            <a:r>
              <a:t>урегулирований — две десятых — пять десятых цента за генерацию, то есть на три-четыре порядка</a:t>
            </a:r>
          </a:p>
          <a:p>
            <a:r>
              <a:t>ниже стокового тарифа за единицу. А статутный потолок, то есть ставка за произведение,</a:t>
            </a:r>
          </a:p>
          <a:p>
            <a:r>
              <a:t>умноженная на число произведений, даёт свыше девяти миллиардов — величина теоретическая и</a:t>
            </a:r>
          </a:p>
          <a:p>
            <a:r>
              <a:t>никем не присуждённая, и встречая её в заголовке, стоит помнить, что это арифметика, а не</a:t>
            </a:r>
          </a:p>
          <a:p>
            <a:r>
              <a:t>требование.</a:t>
            </a:r>
          </a:p>
          <a:p>
            <a:r>
              <a:t/>
            </a:r>
          </a:p>
          <a:p>
            <a:r>
              <a:t>Что отсюда уносит инженер, а не юрист. Три вещи. Первая: веса модели и обучающий набор — разные</a:t>
            </a:r>
          </a:p>
          <a:p>
            <a:r>
              <a:t>объекты права, и суд в этом деле разделил их явно. Вторая: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 Третья: узкая победа</a:t>
            </a:r>
          </a:p>
          <a:p>
            <a:r>
              <a:t>пришла по товарному знаку, то есть по тому единственному каналу, где нарушение видно на выходе</a:t>
            </a:r>
          </a:p>
          <a:p>
            <a:r>
              <a:t>— водяной знак воспроизвёлся в кадре. Это прямое следствие того, что провенанса у кадра не</a:t>
            </a:r>
          </a:p>
          <a:p>
            <a:r>
              <a:t>существует: проверка возможна только снаружи, по содержимому результата, и выиграть удалось</a:t>
            </a:r>
          </a:p>
          <a:p>
            <a:r>
              <a:t>ровно там, где такая внешняя проверка сработала.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И вспомогательное наблюдение, которое</a:t>
            </a:r>
          </a:p>
          <a:p>
            <a:r>
              <a:t>хорошо работает рядом: репозиторий одних только ссылок и подписей, без единой картинки, весит</a:t>
            </a:r>
          </a:p>
          <a:p>
            <a:r>
              <a:t>четыреста 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 он здесь главное. Извлечение удаётся чаще всего тогда, когда</a:t>
            </a:r>
          </a:p>
          <a:p>
            <a:r>
              <a:t>изображение было продублировано в корпусе минимум сто раз; при таком уровне дублирования такие</a:t>
            </a:r>
          </a:p>
          <a:p>
            <a:r>
              <a:t>примеры составляют примерно один на миллион обучающих. Карточка модели подтверждает это с</a:t>
            </a:r>
          </a:p>
          <a:p>
            <a:r>
              <a:t>другой стороны: никаких мер по дедупликации набора данных не применялось, и запоминание</a:t>
            </a:r>
          </a:p>
          <a:p>
            <a:r>
              <a:t>изображений, 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юридический риск имеет численную ручку, и</a:t>
            </a:r>
          </a:p>
          <a:p>
            <a:r>
              <a:t>ручка эта находится не в модели, а в подготовке данных — то есть ровно там же, где сидит</a:t>
            </a:r>
          </a:p>
          <a:p>
            <a:r>
              <a:t>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ничему, кроме того, что оно существует.</a:t>
            </a:r>
          </a:p>
          <a:p>
            <a:r>
              <a:t/>
            </a:r>
          </a:p>
          <a:p>
            <a:r>
              <a:t>Различение статусов обязательно, потому что их смешение превращает незавершённый спор в</a:t>
            </a:r>
          </a:p>
          <a:p>
            <a:r>
              <a:t>свершившийся 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сводится к тому, чтобы дать техническую возможность.</a:t>
            </a:r>
          </a:p>
          <a:p>
            <a:r>
              <a:t/>
            </a:r>
          </a:p>
          <a:p>
            <a:r>
              <a:t>Но самое практичное в этой строке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И 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самая дешёвая демонстрация всей лекции и самая убедительная.</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генерацией оно не является по постановке задачи,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на уровне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Пение профессиональным клонированием не поддерживается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здесь главный параметр всей стадии: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сделала возможной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которое принимается на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самая важная часть описания стадии, потому что без неё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с ней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 применялся как точечное исправление отдельной фальшивой ноты.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потраченные человеком, которому их отпущено немного. Мерить это в долларах нельзя, и на кадре это говорится вслух.</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Он существует, он дёшев, он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подаваться должен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в рамках программы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Вот где выигрыш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принятия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и это редкий случай в разделе, где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что происходит с моделью голоса при смене версии базовой модели поставщика, не описано нигде.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это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которая у нас есть, измеряет аудиторию: до 25 процентов зрителей тестовых каналов, получивших автоматический дубляж, выбирают неанглийскую дорожку. Это доля аудитории, и подаётся она именно так; упущенной выручки за ней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за использование копии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измерением он не является.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отдельная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числа их сравнивать между собой нельзя — это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с соглашением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Второго режима в задаче не существует, и причина у этого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 существует.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числом не является,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оно отмечается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это первая новая запись за одиннадцать лет, и она дебютировала на 45-м месте эфирного кантри-чарта —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Это первый громкий случай, где права на голос оформлены прижизненно и явно, и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подаваться оно должно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Объявления о движении доступны глухим пассажирам прямо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и вопрос «использовался ли ИИ» заменяется этим.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независимо от того, сколько ускорителей под неё подложить.</a:t>
            </a:r>
          </a:p>
          <a:p>
            <a:r>
              <a:t/>
            </a:r>
          </a:p>
          <a:p>
            <a:r>
              <a:t>Слово «остаточное» означает буквально следующее.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точная в постановке и расходящаяся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это было показано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дают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 поставщик считает этот параметр достойным названия, и это само по себе показательно. DiffRhythm 2 ушла на 5 герц. Stable Audio 2 работает на 21,5 герца и сопровождает это прямым объяснением: в отличие от прежних работ, работающих с частотами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стоит сказать,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остаётся единственным, что компания сказала об устройстве.</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тем самым подменом базы, который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просто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И качество результата при этом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при взятии обучающего фрагмента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и во что оно обходится практике, разбирается в этом же разделе отдельным кадром.</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не риторическая, она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Самое убедительное доказательство — существование оракула.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таким образом, проходит по постановке задачи; технология по обе её стороны может оказаться одной и той же, и инженеру надо уметь определять, по какую сторону находится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не является восстановлением записанного.</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прямо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очень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тембром не покрывается, и именно её у исполнителя покупают дорого.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является ошибкой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является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конкретную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при взятии обучающего фрагмента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который слышно и который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Это жёсткий потолок: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таким образом, есть результат того же самого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просто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является его биометрией,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разбирается следующим кадром.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с ответственностью в десять тысяч долларов или реальные убытки.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для работы,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ключевая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на претензию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эту историю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 это не забота о гибкости, это перенос всего будущего риска на того, кто подписывает. Добросовестная практика состоит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просто считают они разные вещи.</a:t>
            </a:r>
          </a:p>
          <a:p>
            <a:r>
              <a:t/>
            </a:r>
          </a:p>
          <a:p>
            <a:r>
              <a:t>Сравнивать со стоковой лицензией в 20–100 долларов надо именно сорок центов, и тогда разрыв составляет от пятидесяти до двухсот пятидесяти раз вместо тысяч. Это по-прежнему огромная величина; она просто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трёх до семи центов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генерацией не является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случай,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цветокоррекция приводит материал к единому виду, визуальные эффекты добавляют то, чего на площадке не было. 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это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какой план попадёт в монтаж,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Дефицит переехал с одного конца цепочки на другой, и вся экономика раздела про это.</a:t>
            </a:r>
          </a:p>
          <a:p>
            <a:r>
              <a:t/>
            </a:r>
          </a:p>
          <a:p>
            <a:r>
              <a:t>Способов получить изображение восемь, и перечень стоит держать целиком по одной причине: все восемь сосуществуют, и ни один из предыдущих семи не отменён.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восьмой способ, единственный, где стоимость одной попытки упала до единиц центов.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Инженерное следствие прямое: выбор способа — это решение по задаче, и правильный ответ на вопрос «чем снимать» в половине случаев остаётся «камерой».</a:t>
            </a:r>
          </a:p>
          <a:p>
            <a:r>
              <a:t/>
            </a:r>
          </a:p>
          <a:p>
            <a:r>
              <a:t>Решение этой стадии — что именно увидит зритель в каждую секунду экранного времени, — тянет за собой самую дорогую цепочку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это съёмочная группа от пятидесяти человек и производственный цикл год. Российская полоса того же ремесла опубликована отраслевыми прайс-обзорами: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Разница с 2022–2026 годами состоит не в том, что картинка синтетическая — она была синтетической и здесь, — а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Все пять классических режимов имеют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стоит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Это важная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Цена обеих ошибок названа экономической механикой отрасли, и названа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прослеживается поквартально, и ряд этот стоит привести целиком, потому что растёт в нём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названа модель Seedance 2.0, выпущенная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Переехало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Скорость этого перехода стоит сопоставить с базой.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же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формулируется одной фразой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Самая чистая иллюстрация оси всей лекции, и числа в ней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классическое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И нечестность этого сравнения называется на том же месте.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Корректная формулировка звучит так: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потому что это существенная деталь для инженерной аудитории.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Стоит представить себе эти два-три дня конкретно, потому что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классическая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главное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Отдельно стоит развести два года, потому что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потому что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 без выбора удобной половины.</a:t>
            </a:r>
          </a:p>
          <a:p>
            <a:r>
              <a:t/>
            </a:r>
          </a:p>
          <a:p>
            <a:r>
              <a:t>Цену компания раскрыть отказалась, сказав лишь, что вышло дешевле и быстрее обычного производства. Встречное утверждение, что обошлось примерно столько же, принадлежит разбору третьей стороны. Подавать это следует как спор двух утверждений: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весь кадр стоит.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самое важное для инженера.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просто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Это самый бесспорный случай раздела, и ценен он именно наличием базы. Названы обе стороны: полдня и минуты. Кратность из них считается, и она огромная, но считается она от измеренного режима, а не от воздуха. Вторая важная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самое ценное — оговорка супервайзера эффектов, и её нельзя терять: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очень дёшево на фоне сорока тысяч классического бюджета, и это очень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они читаются как то, чем являются, — как перемещение дорогого места внутри цепочки.</a:t>
            </a:r>
          </a:p>
          <a:p>
            <a:r>
              <a:t/>
            </a:r>
          </a:p>
          <a:p>
            <a:r>
              <a:t>Стоит обратить внимание и на то, как в первом случае устроена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Заявлено сооснователем компании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стоит он на кадре именно в этом качестве — как пример утверждения,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измерением она не является,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является демонстрацией: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просто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Самое наглядное объяснение того, почему разработчики платят за полное трёхмерное внимание, дала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есть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Важно, что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и её стоит проговорить вслух: один и тот же принцип — «не подглядывать вперёд» — в двух разных по устройству слоях.</a:t>
            </a:r>
          </a:p>
          <a:p>
            <a:r>
              <a:t/>
            </a:r>
          </a:p>
          <a:p>
            <a:r>
              <a:t>Побочное следствие, полезное как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это делает возможными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который стоит унести: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о которой стоит помнить при монтаже.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потому что умение воспроизвести этот счёт полезнее, чем умение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самый трудноустранимый: даже если бы вычисления были бесплатны, учиться длинной сцене было бы не на чем.</a:t>
            </a:r>
          </a:p>
          <a:p>
            <a:r>
              <a:t/>
            </a:r>
          </a:p>
          <a:p>
            <a:r>
              <a:t>Размен сформулирован разработчиками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вывод технического блока,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заголовок статьи буквально гласит: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является оценкой.</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покупается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это само по себе сведение: вам показали множитель, который легче объяснить, и спрятали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 результат работы четырёх механизмов,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просто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самое важное наблюдение, которое снимает романтику с понятия «модель мира»: объектное постоянство в интерактивном режиме — это размер окна; свойством мира оно не является.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в октябре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 и поэтому кадр стоит дольше остальных.</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лучшее, что есть в этой работе.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стоит отдельного внимания: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почему это самое важное утверждение раздела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стоит того, чтобы его знать.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организационной мелочью он не является.</a:t>
            </a:r>
          </a:p>
          <a:p>
            <a:r>
              <a:t/>
            </a:r>
          </a:p>
          <a:p>
            <a:r>
              <a:t>Парный рабочий ответ, без которого раздел был бы обвинением. Обе модели мигрировали, и простым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выводится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Это важная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шестидесятишестисекундный ролик.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главный рычаг на коэффициент отбора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это главное, что карта показывает: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сказать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Он собран устройство-тяжёлым сознательно: у трёхмерного отличное, измеренное, рецензируемое устройство и очень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отсутствует значительная часть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главный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Эту деталь стоит отметить отдельно, потому что она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Классический конвейер ассета состоит из девяти стадий, и назвать их по именам важно по одной причине: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потому, что он про то же самое свойство: про то, что считается снятым. Вторая: у него отсутствует значительная часть того, чего требует форма подробного разбора, и каждый пробел назван на своём месте, а не замазан.</a:t>
            </a:r>
          </a:p>
          <a:p>
            <a:r>
              <a:t/>
            </a:r>
          </a:p>
          <a:p>
            <a:r>
              <a:t>Цена обеих ошибок названа быть не может.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появляется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 где техника соседняя, а этика противоположная.</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требуется та самая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требования к топологии и есть главная переменная задачи.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Наблюдается постоянство объектов: покрашенная стена остаётся покрашенной после того, как пользователь ушёл и вернулся, — свойство, отсутствие которого в разделе про видео было названо главным ограничением модальности.</a:t>
            </a:r>
          </a:p>
          <a:p>
            <a:r>
              <a:t/>
            </a:r>
          </a:p>
          <a:p>
            <a:r>
              <a:t>Почему это заслуживает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главный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Самая важная колонка в таблице — качество, и терять её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не было разменной монетой ни в какой мере.</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 тот, ради которого этот кадр вообще стоит в лекции, и он не про графику. Вопрос «что за это заплачено» имеет ответ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Стоит заметить и то, кто именно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главной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было главным достоинством подхода — трёхмерных корпусов нужного масштаба попросту не существовало.</a:t>
            </a:r>
          </a:p>
          <a:p>
            <a:r>
              <a:t/>
            </a:r>
          </a:p>
          <a:p>
            <a:r>
              <a:t>Цена изящности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Полтора часа против десяти секунд — разрыв примерно в пятьсот раз. И вот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это первоклассное, потому что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Стоит разобрать, как именно этот бюджет выдерживают, потому что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Миллисекунды — главные числа здесь,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Для инженера из этого следует рабочее правило, и оно шире графики. Когда обсуждается применение модели в продукте, обсуждается почти всегда бюджет. Вопрос «может ли модель это сделать» сегодня чаще всего имеет ответ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Чего у него нет, надо сказать так же отчётливо: ни одного случая промышленного применения с посчитанным исходом, ни сведений о стоимости вывода, ни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сильный аргумент раздела,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ключевое,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не является заменой системе автоматизированного проектирования,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Стоит поставить рядом контрпример из начала вечера, потому что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Стоит отдельно предупредить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строка эта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система проектирования им не заменяется.</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это и будет самое полезное наблюдение всей карты.</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Экономика этой стадии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самый красивый случай всей лекции — единственный, где у выигрыша нет оборотной стороны, и единственный, где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как мы увидим на измерениях,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Способы получения данных для суждения делятся на три семейства,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И главное,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красивый случай лекции и единственный в ней, где у выигрыша нет оборотной стороны. Разбирается он по той же форме, что и все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И вот ключевая половина разбора: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формулируется одной фразой: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наличие независимой проверки,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и это важно не упустить.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крупнейшая площадка цифровой дистрибуции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периода против трёх-шести процентов в 2024 году, составляя при этом треть релизов.</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Стоит отметить, 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выкатил автоматический дубляж на всю партнёрскую программу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до двадцати пяти процентов зрителей тестовых каналов выбирают неанглийскую дорожку.</a:t>
            </a:r>
          </a:p>
          <a:p>
            <a:r>
              <a:t/>
            </a:r>
          </a:p>
          <a:p>
            <a:r>
              <a:t>База для этой четверти — ноль, и это надо произнести, иначе число выглядит перераспределением существующей аудитории.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четверть зрителей пришла из пустоты, никого не заместив. Это та же фигура, что во всём вечере: подешевела попытка, и появился рынок, которого не было. Охват программы в авторах требует сверки: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Главный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модели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главная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берётся размеченный набор, модель выдаёт распределение по классам, оно сравнивается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достигается подстройкой знака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стоит попробовать предсказать ответ самому: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примерам на модель поднимают среднее до восьмидесяти семи и восьми десятых, а DALL·E 2 остаётся на шестидесяти шести и девяти десятых, ADM — на семидесяти и восьми.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как пример утечки признака — она полезна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идеален для курса ровно потому, что в нём ничего не сломалось технически.</a:t>
            </a:r>
          </a:p>
          <a:p>
            <a:r>
              <a:t/>
            </a:r>
          </a:p>
          <a:p>
            <a:r>
              <a:t>Хронология короткая. В августе 2025 года производитель фотокамер добавил поддержку криптографических удостоверений содержимого в прошивку профессиональной модели — двадцать седьмого числа. Через несколько дней исследователь показал,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подтвердил неисправность и приостановил сервис подлинности; двадцать первого сентября отозвал все выданные сертификаты — через двадцать пять дней после запуска. И добивающая деталь: распространённые проверяющие программы по умолчанию не проверяют отзыв, поэтому снимок с отозванным сертификатом продолжает проходить проверку до сих пор.</a:t>
            </a:r>
          </a:p>
          <a:p>
            <a:r>
              <a:t/>
            </a:r>
          </a:p>
          <a:p>
            <a:r>
              <a:t>Что именно здесь произошло. Криптография отработала безупречно: подпись подлинная, сертификат валидный на момент подписания, хеш сходится, цепочка не нарушена — механизм выполнил ровно то, что обещал. Провалилась система доверия, и провалилась в единственном месте, которое криптография не покрывает: подписывающая сторона подписала то, чего не снимала.</a:t>
            </a:r>
          </a:p>
          <a:p>
            <a:r>
              <a:t/>
            </a:r>
          </a:p>
          <a:p>
            <a:r>
              <a:t>Отсюда формулировка, которую стоит унести из раздела целиком: подпись удостоверяет, кто подписал, а не что происходило перед объективом. Это тот же класс ошибки, который курс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ровно один вопрос: какое именно утверждение оно делает проверяемым. Здесь проверяемым становится утверждение «это подписано вот этой камерой с вот этим серийным номером», и оно действительно проверяемо; утверждение «это было перед объективом» не становится проверяемым ни в какой мере.</a:t>
            </a:r>
          </a:p>
          <a:p>
            <a:r>
              <a:t/>
            </a:r>
          </a:p>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И общая мысль, которой закрываются обе половины раздела. Граница между снятым и синтезированным размылась штатным рабочим конвейером, а не атакой злоумышленника.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Снимок с мультиэкспозицией подписан настоящей камерой настоящим сертификатом и изображает то, чего не было, — и это тоже штатный режим съёмки, существовавший задолго до генеративных моделей. Инструменты, которые строятся против злоумышленника, против такого размывания не работают, потому что злоумышленника здесь нет.</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Самое важное в этом шаге: заявленная редакционная проверка существовала. Человек в контуре был, и именно этот контур пропустил сорок один материал.</a:t>
            </a:r>
          </a:p>
          <a:p>
            <a:r>
              <a:t/>
            </a:r>
          </a:p>
          <a:p>
            <a:r>
              <a:t>Что переехало. Переехала ответственность за проверку, не сопровождаемая нормой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Это и есть то, что стоит унести из случая в собственную работу: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 именно из-за открытой методики случай вообще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самый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и это главное, что раздел передаёт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оно встречается,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которое стоит произнести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шести случаях посчитаны обе стороны — сколько стоило без модели и сколько стало с ней, в одной и той же единице. В четырёх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есть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это примерно пятьсот тысяч произведений, то есть порядка трёх тысяч долларов за произведение, а после вычета расходов и гонораров — около трёх тысяч ста.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и согласованная ставка составила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просто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встречается,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раскрытие использования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даёт тот же ряд и добавляет недостающую половину: игры с раскрытием собирают от десяти до двадцати семи процентов оценочных продаж. Треть релизов против десятой-четверти денег.</a:t>
            </a:r>
          </a:p>
          <a:p>
            <a:r>
              <a:t/>
            </a:r>
          </a:p>
          <a:p>
            <a:r>
              <a:t>Здесь нужно внимание к знаменателю, и это ровно то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ключевое: выручка от машинной озвучки составила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своего метода: распознаватель читает описания и сопутствующие сведения, сам звук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и он же лучшее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выводы делаются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стоит второе измерение, и знак у него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было остановлено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на любой проект: зависимость от чужого сервиса — проектный риск, и место ему в плане проекта рядом с прочими рисками. Два разбора этой лекции построены на инструменте, который закрылся.</a:t>
            </a:r>
          </a:p>
          <a:p>
            <a:r>
              <a:t/>
            </a:r>
          </a:p>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наблюдается постоянство объектов: покрашенная стена остаётся покрашенной после ухода и возвращения — ровно то свойство, отсутствие которого в разделе про видео названо главным ограничением.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и самая применимая её часть.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определяется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И главное, что делает эти четыре правила работающими: их выносят в письменный вид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и вред приходит из невидимости этой границы: качество самого инструмента тут ни при чём. Раз не видно — единственный способ ею управлять состоит в том, чтобы записать критерии заранее и мерить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Ключевое свойство этой задачи — она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самая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принимается меньше сорока четырёх процентов сгенерированного, а около девяти процентов рабочего времени уходит на чтение и чистку выдачи.</a:t>
            </a:r>
          </a:p>
          <a:p>
            <a:r>
              <a:t/>
            </a:r>
          </a:p>
          <a:p>
            <a:r>
              <a:t>Но главное в этой паре другое, и ради этого она стоит в Сборке.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составляет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страховка от того, чтобы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 хороший повод запомнить, что между препринтом и публикацией цифры двигаются, и подписывать их надо тем документом, из которого взял.</a:t>
            </a:r>
          </a:p>
          <a:p>
            <a:r>
              <a:t/>
            </a:r>
          </a:p>
          <a:p>
            <a:r>
              <a:t>Но самое важное в этом опыте — то,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самый неожиданный: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 главное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пятидесяти до четырёхсот пятидесяти долларов за готовую минуту у диктора против трёх-семи центов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просто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которые встречаются в отраслевых обзорах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который выставлен за дешёвую ошибку, и он выставлен не всем поровну.</a:t>
            </a:r>
          </a:p>
          <a:p>
            <a:r>
              <a:t/>
            </a:r>
          </a:p>
          <a:p>
            <a:r>
              <a:t>Стоит заметить, чем восьмое удешевление отличается от семи предыдущих. Отличие тут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от этого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и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Дело тут вовсе не во внимательности смотрящего: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t-j.ru/marketing-ai/"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441989" cy="438912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1961 — обводка тушью.</a:t>
            </a:r>
            <a:r>
              <a:rPr sz="1400" b="0" i="0">
                <a:solidFill>
                  <a:srgbClr val="21295C"/>
                </a:solidFill>
                <a:latin typeface="Arial"/>
              </a:rPr>
              <a:t> Ксерография переносит карандаш аниматора на целлулоид. Штат — вдвое меньше, чем у «Спящей красавицы» 1959 года.</a:t>
            </a:r>
          </a:p>
          <a:p>
            <a:pPr algn="l">
              <a:lnSpc>
                <a:spcPct val="126000"/>
              </a:lnSpc>
              <a:spcBef>
                <a:spcPts val="700"/>
              </a:spcBef>
            </a:pPr>
            <a:r>
              <a:rPr sz="1400" b="0" i="0">
                <a:solidFill>
                  <a:srgbClr val="21295C"/>
                </a:solidFill>
                <a:latin typeface="Arial"/>
              </a:rPr>
              <a:t/>
            </a:r>
            <a:r>
              <a:rPr sz="1400" b="1" i="0">
                <a:solidFill>
                  <a:srgbClr val="21295C"/>
                </a:solidFill>
                <a:latin typeface="Arial"/>
              </a:rPr>
              <a:t>1990 — допечатный цех.</a:t>
            </a:r>
            <a:r>
              <a:rPr sz="1400" b="0" i="0">
                <a:solidFill>
                  <a:srgbClr val="21295C"/>
                </a:solidFill>
                <a:latin typeface="Arial"/>
              </a:rPr>
              <a:t> $300 за час на выделенной системе против $895 за лицензию навсегда.</a:t>
            </a:r>
          </a:p>
          <a:p>
            <a:pPr algn="l">
              <a:lnSpc>
                <a:spcPct val="126000"/>
              </a:lnSpc>
              <a:spcBef>
                <a:spcPts val="700"/>
              </a:spcBef>
            </a:pPr>
            <a:r>
              <a:rPr sz="1400" b="0" i="0">
                <a:solidFill>
                  <a:srgbClr val="21295C"/>
                </a:solidFill>
                <a:latin typeface="Arial"/>
              </a:rPr>
              <a:t/>
            </a:r>
            <a:r>
              <a:rPr sz="1400" b="1" i="0">
                <a:solidFill>
                  <a:srgbClr val="21295C"/>
                </a:solidFill>
                <a:latin typeface="Arial"/>
              </a:rPr>
              <a:t>1989–2003 — физическая склейка плёнки.</a:t>
            </a:r>
            <a:r>
              <a:rPr sz="1400" b="0" i="0">
                <a:solidFill>
                  <a:srgbClr val="21295C"/>
                </a:solidFill>
                <a:latin typeface="Arial"/>
              </a:rPr>
              <a:t> Рабочее место $50 000–80 000. Четырнадцать лет до полного замещения.</a:t>
            </a:r>
          </a:p>
          <a:p>
            <a:pPr algn="l">
              <a:lnSpc>
                <a:spcPct val="126000"/>
              </a:lnSpc>
              <a:spcBef>
                <a:spcPts val="700"/>
              </a:spcBef>
            </a:pPr>
            <a:r>
              <a:rPr sz="1400" b="0" i="0">
                <a:solidFill>
                  <a:srgbClr val="21295C"/>
                </a:solidFill>
                <a:latin typeface="Arial"/>
              </a:rPr>
              <a:t/>
            </a:r>
            <a:r>
              <a:rPr sz="1400" b="1" i="0">
                <a:solidFill>
                  <a:srgbClr val="21295C"/>
                </a:solidFill>
                <a:latin typeface="Arial"/>
              </a:rPr>
              <a:t>1997 — дубль ради одной ноты.</a:t>
            </a:r>
            <a:r>
              <a:rPr sz="1400" b="0" i="0">
                <a:solidFill>
                  <a:srgbClr val="21295C"/>
                </a:solidFill>
                <a:latin typeface="Arial"/>
              </a:rPr>
              <a:t> Коррекция высоты тона, собранная из обработки сейсмических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2000-е — заказная съёмка под каталог.</a:t>
            </a:r>
            <a:r>
              <a:rPr sz="1400" b="0" i="0">
                <a:solidFill>
                  <a:srgbClr val="21295C"/>
                </a:solidFill>
                <a:latin typeface="Arial"/>
              </a:rPr>
              <a:t> От нескольких сотен долларов за изображение — до $0,25.</a:t>
            </a:r>
          </a:p>
          <a:p>
            <a:pPr algn="l">
              <a:lnSpc>
                <a:spcPct val="126000"/>
              </a:lnSpc>
              <a:spcBef>
                <a:spcPts val="700"/>
              </a:spcBef>
            </a:pPr>
            <a:r>
              <a:rPr sz="1400" b="0" i="0">
                <a:solidFill>
                  <a:srgbClr val="21295C"/>
                </a:solidFill>
                <a:latin typeface="Arial"/>
              </a:rPr>
              <a:t/>
            </a:r>
            <a:r>
              <a:rPr sz="1400" b="1" i="0">
                <a:solidFill>
                  <a:srgbClr val="21295C"/>
                </a:solidFill>
                <a:latin typeface="Arial"/>
              </a:rPr>
              <a:t>2002 · 2009 — ручная анимация лица по образцу.</a:t>
            </a:r>
            <a:r>
              <a:rPr sz="1400" b="0" i="0">
                <a:solidFill>
                  <a:srgbClr val="21295C"/>
                </a:solidFill>
                <a:latin typeface="Arial"/>
              </a:rPr>
              <a:t> Захват лица из работы аниматора становится измерением.</a:t>
            </a:r>
          </a:p>
          <a:p>
            <a:pPr algn="l">
              <a:lnSpc>
                <a:spcPct val="126000"/>
              </a:lnSpc>
              <a:spcBef>
                <a:spcPts val="700"/>
              </a:spcBef>
            </a:pPr>
            <a:r>
              <a:rPr sz="1400" b="0" i="0">
                <a:solidFill>
                  <a:srgbClr val="21295C"/>
                </a:solidFill>
                <a:latin typeface="Arial"/>
              </a:rPr>
              <a:t/>
            </a:r>
            <a:r>
              <a:rPr sz="1400" b="1" i="0">
                <a:solidFill>
                  <a:srgbClr val="21295C"/>
                </a:solidFill>
                <a:latin typeface="Arial"/>
              </a:rPr>
              <a:t>2019 — экспедиция за фоном.</a:t>
            </a:r>
            <a:r>
              <a:rPr sz="1400" b="0" i="0">
                <a:solidFill>
                  <a:srgbClr val="21295C"/>
                </a:solidFill>
                <a:latin typeface="Arial"/>
              </a:rPr>
              <a:t> 1 326 панелей, дуга 270°, свет попадает прямо в камеру.</a:t>
            </a:r>
          </a:p>
        </p:txBody>
      </p:sp>
      <p:sp>
        <p:nvSpPr>
          <p:cNvPr id="6" name="TextBox 5"/>
          <p:cNvSpPr txBox="1"/>
          <p:nvPr/>
        </p:nvSpPr>
        <p:spPr>
          <a:xfrm>
            <a:off x="539496" y="5815583"/>
            <a:ext cx="11112703" cy="42062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Ни одна из семи строк не даёт исчезнувшей профессии.</a:t>
            </a:r>
          </a:p>
        </p:txBody>
      </p:sp>
      <p:sp>
        <p:nvSpPr>
          <p:cNvPr id="7" name="Rounded Rectangle 6"/>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8" name="Picture 7"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9" name="Rectangle 8"/>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Rounded Rectangle 15"/>
          <p:cNvSpPr/>
          <p:nvPr/>
        </p:nvSpPr>
        <p:spPr>
          <a:xfrm>
            <a:off x="374904" y="3159934"/>
            <a:ext cx="11441887" cy="29866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1374"/>
            <a:ext cx="5373471" cy="2984833"/>
          </a:xfrm>
          <a:prstGeom prst="rect">
            <a:avLst/>
          </a:prstGeom>
          <a:noFill/>
        </p:spPr>
        <p:txBody>
          <a:bodyPr wrap="square" lIns="0" rIns="0" tIns="0" bIns="0" anchor="t">
            <a:spAutoFit/>
          </a:bodyPr>
          <a:lstStyle/>
          <a:p>
            <a:pPr algn="l">
              <a:lnSpc>
                <a:spcPct val="126000"/>
              </a:lnSpc>
            </a:pPr>
            <a:r>
              <a:rPr sz="1850" b="1" i="0">
                <a:solidFill>
                  <a:srgbClr val="21295C"/>
                </a:solidFill>
                <a:latin typeface="Arial"/>
              </a:rPr>
              <a:t>Coca-Cola «Holidays Are Coming», 2025</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модели:</a:t>
            </a:r>
            <a:r>
              <a:rPr sz="1350" b="0" i="0">
                <a:solidFill>
                  <a:srgbClr val="21295C"/>
                </a:solidFill>
                <a:latin typeface="Arial"/>
              </a:rPr>
              <a:t> один ролик — одна съёмка. Группа 50+ человек, срок — год. В кампании около 100 человек.</a:t>
            </a:r>
          </a:p>
          <a:p>
            <a:pPr algn="l">
              <a:lnSpc>
                <a:spcPct val="126000"/>
              </a:lnSpc>
              <a:spcBef>
                <a:spcPts val="700"/>
              </a:spcBef>
            </a:pPr>
            <a:r>
              <a:rPr sz="1350" b="0" i="0">
                <a:solidFill>
                  <a:srgbClr val="21295C"/>
                </a:solidFill>
                <a:latin typeface="Arial"/>
              </a:rPr>
              <a:t/>
            </a:r>
            <a:r>
              <a:rPr sz="1350" b="1" i="0">
                <a:solidFill>
                  <a:srgbClr val="21295C"/>
                </a:solidFill>
                <a:latin typeface="Arial"/>
              </a:rPr>
              <a:t>С моделью:</a:t>
            </a:r>
            <a:r>
              <a:rPr sz="1350" b="0" i="0">
                <a:solidFill>
                  <a:srgbClr val="21295C"/>
                </a:solidFill>
                <a:latin typeface="Arial"/>
              </a:rPr>
              <a:t> 70 000 клипов сгенерировано. Пять специалистов на генерации, 30 дней. В кампании — </a:t>
            </a:r>
            <a:r>
              <a:rPr sz="1350" b="1" i="0">
                <a:solidFill>
                  <a:srgbClr val="21295C"/>
                </a:solidFill>
                <a:latin typeface="Arial"/>
              </a:rPr>
              <a:t>те же примерно 100 человек</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1" i="0">
                <a:solidFill>
                  <a:srgbClr val="21295C"/>
                </a:solidFill>
                <a:latin typeface="Arial"/>
              </a:rPr>
              <a:t>Изменилось число проб. Число людей не изменилось.</a:t>
            </a:r>
          </a:p>
          <a:p>
            <a:pPr algn="l">
              <a:lnSpc>
                <a:spcPct val="126000"/>
              </a:lnSpc>
              <a:spcBef>
                <a:spcPts val="700"/>
              </a:spcBef>
            </a:pPr>
            <a:r>
              <a:rPr sz="1100" b="0" i="0">
                <a:solidFill>
                  <a:srgbClr val="21295C"/>
                </a:solidFill>
                <a:latin typeface="Arial"/>
              </a:rPr>
              <a:t/>
            </a:r>
            <a:r>
              <a:rPr sz="110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p:txBody>
      </p:sp>
      <p:sp>
        <p:nvSpPr>
          <p:cNvPr id="18" name="TextBox 17"/>
          <p:cNvSpPr txBox="1"/>
          <p:nvPr/>
        </p:nvSpPr>
        <p:spPr>
          <a:xfrm>
            <a:off x="6278727" y="3251374"/>
            <a:ext cx="5373471" cy="2984833"/>
          </a:xfrm>
          <a:prstGeom prst="rect">
            <a:avLst/>
          </a:prstGeom>
          <a:noFill/>
        </p:spPr>
        <p:txBody>
          <a:bodyPr wrap="square" lIns="0" rIns="0" tIns="0" bIns="0" anchor="t">
            <a:spAutoFit/>
          </a:bodyPr>
          <a:lstStyle/>
          <a:p>
            <a:pPr algn="l">
              <a:lnSpc>
                <a:spcPct val="126000"/>
              </a:lnSpc>
            </a:pPr>
            <a:r>
              <a:rPr sz="110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850" b="0" i="0">
                <a:solidFill>
                  <a:srgbClr val="21295C"/>
                </a:solidFill>
                <a:latin typeface="Arial"/>
              </a:rPr>
              <a:t/>
            </a:r>
            <a:r>
              <a:rPr sz="1850" b="1" i="0">
                <a:solidFill>
                  <a:srgbClr val="21295C"/>
                </a:solidFill>
                <a:latin typeface="Arial"/>
              </a:rPr>
              <a:t>[ряд держится под свидетельство из практики]</a:t>
            </a:r>
          </a:p>
          <a:p>
            <a:pPr algn="l">
              <a:lnSpc>
                <a:spcPct val="126000"/>
              </a:lnSpc>
              <a:spcBef>
                <a:spcPts val="700"/>
              </a:spcBef>
            </a:pPr>
            <a:r>
              <a:rPr sz="1350" b="0" i="0">
                <a:solidFill>
                  <a:srgbClr val="21295C"/>
                </a:solidFill>
                <a:latin typeface="Arial"/>
              </a:rPr>
              <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1" i="0">
                <a:solidFill>
                  <a:srgbClr val="21295C"/>
                </a:solidFill>
                <a:latin typeface="Arial"/>
              </a:rPr>
              <a:t>Подешевело не исполнение. Подешевела неудачная попытка — а выбирать по-прежнему некому.</a:t>
            </a:r>
          </a:p>
        </p:txBody>
      </p:sp>
      <p:sp>
        <p:nvSpPr>
          <p:cNvPr id="19" name="Rectangle 18"/>
          <p:cNvSpPr/>
          <p:nvPr/>
        </p:nvSpPr>
        <p:spPr>
          <a:xfrm>
            <a:off x="6091275" y="3251374"/>
            <a:ext cx="9144" cy="271228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$0,034–0,05</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3340531"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$0,03–0,072</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6315303"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9015755"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1C7293"/>
                </a:solidFill>
                <a:latin typeface="Arial"/>
              </a:rPr>
              <a:t>×10–20 у самого дорогого, ×1 000–4 500 у самого дешёвого</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322594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17388"/>
            <a:ext cx="5373471"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Изображение</a:t>
            </a:r>
            <a:r>
              <a:rPr sz="1500" b="0" i="0">
                <a:solidFill>
                  <a:srgbClr val="21295C"/>
                </a:solidFill>
                <a:latin typeface="Arial"/>
              </a:rPr>
              <a:t> — за одно изображение 1024×1024. С моделью </a:t>
            </a:r>
            <a:r>
              <a:rPr sz="1500" b="1" i="0">
                <a:solidFill>
                  <a:srgbClr val="21295C"/>
                </a:solidFill>
                <a:latin typeface="Arial"/>
              </a:rPr>
              <a:t>$0,034–0,05</a:t>
            </a:r>
            <a:r>
              <a:rPr sz="1500" b="0" i="0">
                <a:solidFill>
                  <a:srgbClr val="21295C"/>
                </a:solidFill>
                <a:latin typeface="Arial"/>
              </a:rPr>
              <a:t>. Классический режим: заказная иллюстрация </a:t>
            </a:r>
            <a:r>
              <a:rPr sz="1500" b="1" i="0">
                <a:solidFill>
                  <a:srgbClr val="21295C"/>
                </a:solidFill>
                <a:latin typeface="Arial"/>
              </a:rPr>
              <a:t>$50–150</a:t>
            </a:r>
            <a:r>
              <a:rPr sz="1500" b="0" i="0">
                <a:solidFill>
                  <a:srgbClr val="21295C"/>
                </a:solidFill>
                <a:latin typeface="Arial"/>
              </a:rPr>
              <a:t> за задание в 1–3 дня.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Минута дубляжа</a:t>
            </a:r>
            <a:r>
              <a:rPr sz="1500" b="0" i="0">
                <a:solidFill>
                  <a:srgbClr val="21295C"/>
                </a:solidFill>
                <a:latin typeface="Arial"/>
              </a:rPr>
              <a:t> — за готовую минуту речи. С моделью </a:t>
            </a:r>
            <a:r>
              <a:rPr sz="1500" b="1" i="0">
                <a:solidFill>
                  <a:srgbClr val="21295C"/>
                </a:solidFill>
                <a:latin typeface="Arial"/>
              </a:rPr>
              <a:t>$0,03–0,072</a:t>
            </a:r>
            <a:r>
              <a:rPr sz="1500" b="0" i="0">
                <a:solidFill>
                  <a:srgbClr val="21295C"/>
                </a:solidFill>
                <a:latin typeface="Arial"/>
              </a:rPr>
              <a:t>. Классический режим: диктор </a:t>
            </a:r>
            <a:r>
              <a:rPr sz="1500" b="1" i="0">
                <a:solidFill>
                  <a:srgbClr val="21295C"/>
                </a:solidFill>
                <a:latin typeface="Arial"/>
              </a:rPr>
              <a:t>$50–450</a:t>
            </a:r>
            <a:r>
              <a:rPr sz="1500" b="0" i="0">
                <a:solidFill>
                  <a:srgbClr val="21295C"/>
                </a:solidFill>
                <a:latin typeface="Arial"/>
              </a:rPr>
              <a:t> за готовую минуту.</a:t>
            </a:r>
          </a:p>
        </p:txBody>
      </p:sp>
      <p:sp>
        <p:nvSpPr>
          <p:cNvPr id="22" name="TextBox 21"/>
          <p:cNvSpPr txBox="1"/>
          <p:nvPr/>
        </p:nvSpPr>
        <p:spPr>
          <a:xfrm>
            <a:off x="6278727" y="3317388"/>
            <a:ext cx="5373471"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Выпуск микродрамы</a:t>
            </a:r>
            <a:r>
              <a:rPr sz="1500" b="0" i="0">
                <a:solidFill>
                  <a:srgbClr val="21295C"/>
                </a:solidFill>
                <a:latin typeface="Arial"/>
              </a:rPr>
              <a:t> — за один выпуск. С моделью </a:t>
            </a:r>
            <a:r>
              <a:rPr sz="1500" b="1" i="0">
                <a:solidFill>
                  <a:srgbClr val="21295C"/>
                </a:solidFill>
                <a:latin typeface="Arial"/>
              </a:rPr>
              <a:t>≈$7–14 тыс.</a:t>
            </a:r>
            <a:r>
              <a:rPr sz="1500" b="0" i="0">
                <a:solidFill>
                  <a:srgbClr val="21295C"/>
                </a:solidFill>
                <a:latin typeface="Arial"/>
              </a:rPr>
              <a:t> (50–100 тыс. юаней). Классический режим: обычное производство </a:t>
            </a:r>
            <a:r>
              <a:rPr sz="1500" b="1" i="0">
                <a:solidFill>
                  <a:srgbClr val="21295C"/>
                </a:solidFill>
                <a:latin typeface="Arial"/>
              </a:rPr>
              <a:t>свыше 1 млн юаней</a:t>
            </a:r>
            <a:r>
              <a:rPr sz="1500" b="0" i="0">
                <a:solidFill>
                  <a:srgbClr val="21295C"/>
                </a:solidFill>
                <a:latin typeface="Arial"/>
              </a:rPr>
              <a:t>, ≈$137 тыс.</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3" name="Rectangle 22"/>
          <p:cNvSpPr/>
          <p:nvPr/>
        </p:nvSpPr>
        <p:spPr>
          <a:xfrm>
            <a:off x="6091275" y="3317388"/>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Безопасность, подделки, злоупотребление — Лекция 14.</a:t>
            </a:r>
            <a:r>
              <a:rPr sz="1500" b="0" i="0">
                <a:solidFill>
                  <a:srgbClr val="21295C"/>
                </a:solidFill>
                <a:latin typeface="Arial"/>
              </a:rPr>
              <a:t> Дипфейк в кадровой безопасности, мошенничество с голосом близкого, подделка документов, правоприменение.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Агенты, инструменты и программный доступ — Лекция 3.</a:t>
            </a:r>
            <a:r>
              <a:rPr sz="1500" b="0" i="0">
                <a:solidFill>
                  <a:srgbClr val="21295C"/>
                </a:solidFill>
                <a:latin typeface="Arial"/>
              </a:rPr>
              <a:t> Цепочки вызовов, дообучение адаптером, человек-валидатор. Здесь берётся как известное.</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Рынок труда и обзор юрисдикций по странам — в главе, материалом для чтения.</a:t>
            </a:r>
            <a:r>
              <a:rPr sz="1500" b="0" i="0">
                <a:solidFill>
                  <a:srgbClr val="21295C"/>
                </a:solidFill>
                <a:latin typeface="Arial"/>
              </a:rPr>
              <a:t> Собрано и проверено; на кадры не идёт.</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Лекции 14 — инструмент телефонного мошенничества. Обе рамки верны одновременно.</a:t>
            </a:r>
          </a:p>
        </p:txBody>
      </p:sp>
      <p:sp>
        <p:nvSpPr>
          <p:cNvPr id="19" name="Rectangle 18"/>
          <p:cNvSpPr/>
          <p:nvPr/>
        </p:nvSpPr>
        <p:spPr>
          <a:xfrm>
            <a:off x="6091275" y="3492795"/>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1. Неподвижное изображение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 и в производстве их различают строго</a:t>
            </a:r>
          </a:p>
        </p:txBody>
      </p:sp>
      <p:sp>
        <p:nvSpPr>
          <p:cNvPr id="9" name="Rounded Rectangle 8"/>
          <p:cNvSpPr/>
          <p:nvPr/>
        </p:nvSpPr>
        <p:spPr>
          <a:xfrm>
            <a:off x="1920240" y="268365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чтобы договориться об облике, наружу не выходит</a:t>
            </a:r>
          </a:p>
        </p:txBody>
      </p:sp>
      <p:sp>
        <p:nvSpPr>
          <p:cNvPr id="11" name="Right Arrow 10"/>
          <p:cNvSpPr/>
          <p:nvPr/>
        </p:nvSpPr>
        <p:spPr>
          <a:xfrm>
            <a:off x="5039258" y="3209247"/>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 в статью, на обложку, в карточку товара</a:t>
            </a:r>
          </a:p>
        </p:txBody>
      </p:sp>
      <p:sp>
        <p:nvSpPr>
          <p:cNvPr id="14" name="Right Arrow 13"/>
          <p:cNvSpPr/>
          <p:nvPr/>
        </p:nvSpPr>
        <p:spPr>
          <a:xfrm>
            <a:off x="8386876" y="3209247"/>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визуальный язык всей кампании, из него выводят десятки адаптаций</a:t>
            </a:r>
          </a:p>
        </p:txBody>
      </p:sp>
      <p:sp>
        <p:nvSpPr>
          <p:cNvPr id="17" name="TextBox 16"/>
          <p:cNvSpPr txBox="1"/>
          <p:nvPr/>
        </p:nvSpPr>
        <p:spPr>
          <a:xfrm>
            <a:off x="502920" y="405487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8" name="Rounded Rectangle 17"/>
          <p:cNvSpPr/>
          <p:nvPr/>
        </p:nvSpPr>
        <p:spPr>
          <a:xfrm>
            <a:off x="1920240" y="401830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406402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 что изображено, в каком настроении, в каком формате</a:t>
            </a:r>
          </a:p>
        </p:txBody>
      </p:sp>
      <p:sp>
        <p:nvSpPr>
          <p:cNvPr id="20" name="Right Arrow 19"/>
          <p:cNvSpPr/>
          <p:nvPr/>
        </p:nvSpPr>
        <p:spPr>
          <a:xfrm>
            <a:off x="4202353" y="454389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4430953" y="401830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4513249" y="406402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 — образцы «вот так должно выглядеть»</a:t>
            </a:r>
          </a:p>
        </p:txBody>
      </p:sp>
      <p:sp>
        <p:nvSpPr>
          <p:cNvPr id="23" name="Right Arrow 22"/>
          <p:cNvSpPr/>
          <p:nvPr/>
        </p:nvSpPr>
        <p:spPr>
          <a:xfrm>
            <a:off x="6713067" y="454389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401830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406402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 цвета, шрифты, допустимые приёмы</a:t>
            </a:r>
          </a:p>
        </p:txBody>
      </p:sp>
      <p:sp>
        <p:nvSpPr>
          <p:cNvPr id="26" name="Right Arrow 25"/>
          <p:cNvSpPr/>
          <p:nvPr/>
        </p:nvSpPr>
        <p:spPr>
          <a:xfrm>
            <a:off x="9223781" y="454389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9452381" y="401830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9534677" y="406402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технические требования к файлу</a:t>
            </a:r>
          </a:p>
        </p:txBody>
      </p:sp>
      <p:sp>
        <p:nvSpPr>
          <p:cNvPr id="29" name="TextBox 28"/>
          <p:cNvSpPr txBox="1"/>
          <p:nvPr/>
        </p:nvSpPr>
        <p:spPr>
          <a:xfrm>
            <a:off x="502920" y="5389521"/>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Какими способами это получают</a:t>
            </a:r>
          </a:p>
        </p:txBody>
      </p:sp>
      <p:sp>
        <p:nvSpPr>
          <p:cNvPr id="30" name="Rounded Rectangle 29"/>
          <p:cNvSpPr/>
          <p:nvPr/>
        </p:nvSpPr>
        <p:spPr>
          <a:xfrm>
            <a:off x="1920240" y="5352945"/>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398665"/>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32" name="Right Arrow 31"/>
          <p:cNvSpPr/>
          <p:nvPr/>
        </p:nvSpPr>
        <p:spPr>
          <a:xfrm>
            <a:off x="4202353" y="587853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4430953" y="5352945"/>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4513249" y="5398665"/>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стоковой библиотеки</a:t>
            </a:r>
          </a:p>
        </p:txBody>
      </p:sp>
      <p:sp>
        <p:nvSpPr>
          <p:cNvPr id="35" name="Right Arrow 34"/>
          <p:cNvSpPr/>
          <p:nvPr/>
        </p:nvSpPr>
        <p:spPr>
          <a:xfrm>
            <a:off x="6713067" y="58785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6941667" y="5352945"/>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7023963" y="5398665"/>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собственная съёмка под каталог</a:t>
            </a:r>
          </a:p>
        </p:txBody>
      </p:sp>
      <p:sp>
        <p:nvSpPr>
          <p:cNvPr id="38" name="Right Arrow 37"/>
          <p:cNvSpPr/>
          <p:nvPr/>
        </p:nvSpPr>
        <p:spPr>
          <a:xfrm>
            <a:off x="9223781" y="58785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9452381" y="5352945"/>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9534677" y="5398665"/>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из частей в редакторе</a:t>
            </a:r>
          </a:p>
        </p:txBody>
      </p:sp>
      <p:sp>
        <p:nvSpPr>
          <p:cNvPr id="41" name="TextBox 40"/>
          <p:cNvSpPr txBox="1"/>
          <p:nvPr/>
        </p:nvSpPr>
        <p:spPr>
          <a:xfrm>
            <a:off x="502920" y="6724164"/>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Какое решение принимают</a:t>
            </a:r>
          </a:p>
        </p:txBody>
      </p:sp>
      <p:sp>
        <p:nvSpPr>
          <p:cNvPr id="42" name="Rounded Rectangle 41"/>
          <p:cNvSpPr/>
          <p:nvPr/>
        </p:nvSpPr>
        <p:spPr>
          <a:xfrm>
            <a:off x="1920240" y="6687588"/>
            <a:ext cx="97685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2002536" y="6733308"/>
            <a:ext cx="96039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утвердить облик до того, как потрачены большие деньги</a:t>
            </a:r>
          </a:p>
        </p:txBody>
      </p:sp>
      <p:sp>
        <p:nvSpPr>
          <p:cNvPr id="44" name="TextBox 43"/>
          <p:cNvSpPr txBox="1"/>
          <p:nvPr/>
        </p:nvSpPr>
        <p:spPr>
          <a:xfrm>
            <a:off x="502920" y="791250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чем и ради какого решения</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термины производства: концепт-арт, иллюстрация под задачу, ключевой кадр (key visual)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725375"/>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$50–150 за задание, 1–3 дня</a:t>
            </a:r>
          </a:p>
        </p:txBody>
      </p:sp>
      <p:sp>
        <p:nvSpPr>
          <p:cNvPr id="7" name="TextBox 6"/>
          <p:cNvSpPr txBox="1"/>
          <p:nvPr/>
        </p:nvSpPr>
        <p:spPr>
          <a:xfrm>
            <a:off x="640080" y="249187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3340531"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502920" y="389699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403415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640080" y="4287346"/>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цены нет — есть зарплата и загрузка</a:t>
            </a:r>
          </a:p>
        </p:txBody>
      </p:sp>
      <p:sp>
        <p:nvSpPr>
          <p:cNvPr id="23" name="TextBox 22"/>
          <p:cNvSpPr txBox="1"/>
          <p:nvPr/>
        </p:nvSpPr>
        <p:spPr>
          <a:xfrm>
            <a:off x="640080" y="4714345"/>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Rounded Rectangle 23"/>
          <p:cNvSpPr/>
          <p:nvPr/>
        </p:nvSpPr>
        <p:spPr>
          <a:xfrm>
            <a:off x="502920" y="5245628"/>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401076"/>
            <a:ext cx="5108295" cy="110642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26" name="Rounded Rectangle 25"/>
          <p:cNvSpPr/>
          <p:nvPr/>
        </p:nvSpPr>
        <p:spPr>
          <a:xfrm>
            <a:off x="6251295" y="5245628"/>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5401076"/>
            <a:ext cx="5108295" cy="110642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Rounded Rectangle 7"/>
          <p:cNvSpPr/>
          <p:nvPr/>
        </p:nvSpPr>
        <p:spPr>
          <a:xfrm>
            <a:off x="374904" y="2592217"/>
            <a:ext cx="11441887" cy="2947870"/>
          </a:xfrm>
          <a:prstGeom prst="roundRect">
            <a:avLst>
              <a:gd name="adj" fmla="val 10339"/>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1961 — ксерография у Disney.</a:t>
            </a:r>
            <a:r>
              <a:rPr sz="1500" b="0" i="0">
                <a:solidFill>
                  <a:srgbClr val="21295C"/>
                </a:solidFill>
                <a:latin typeface="Arial"/>
              </a:rPr>
              <a:t> Исчезла </a:t>
            </a:r>
            <a:r>
              <a:rPr sz="1500" b="1" i="0">
                <a:solidFill>
                  <a:srgbClr val="21295C"/>
                </a:solidFill>
                <a:latin typeface="Arial"/>
              </a:rPr>
              <a:t>обводка тушью на целлулоиде</a:t>
            </a:r>
            <a:r>
              <a:rPr sz="1500" b="0" i="0">
                <a:solidFill>
                  <a:srgbClr val="21295C"/>
                </a:solidFill>
                <a:latin typeface="Arial"/>
              </a:rPr>
              <a:t>. Штат «101 далматинца» — примерно </a:t>
            </a:r>
            <a:r>
              <a:rPr sz="1500" b="1" i="0">
                <a:solidFill>
                  <a:srgbClr val="21295C"/>
                </a:solidFill>
                <a:latin typeface="Arial"/>
              </a:rPr>
              <a:t>половина</a:t>
            </a:r>
            <a:r>
              <a:rPr sz="1500" b="0" i="0">
                <a:solidFill>
                  <a:srgbClr val="21295C"/>
                </a:solidFill>
                <a:latin typeface="Arial"/>
              </a:rPr>
              <a:t> состава «Спящей красавицы» 1959 года, стоимость и срок — вдвое меньше. Отдел туши исчез. </a:t>
            </a:r>
            <a:r>
              <a:rPr sz="1500" b="1" i="0">
                <a:solidFill>
                  <a:srgbClr val="21295C"/>
                </a:solidFill>
                <a:latin typeface="Arial"/>
              </a:rPr>
              <a:t>Аниматор остался:</a:t>
            </a:r>
            <a:r>
              <a:rPr sz="1500" b="0" i="0">
                <a:solidFill>
                  <a:srgbClr val="21295C"/>
                </a:solidFill>
                <a:latin typeface="Arial"/>
              </a:rPr>
              <a:t> его линия пошла на экран как есть. </a:t>
            </a:r>
            <a:r>
              <a:rPr sz="1500" b="0" i="1">
                <a:solidFill>
                  <a:srgbClr val="21295C"/>
                </a:solidFill>
                <a:latin typeface="Arial"/>
              </a:rPr>
              <a:t>Уехало вправо: «неряшливое» начертание линии — контур печатался со всеми карандашными шероховатостями, и Уолт Дисней это публично не любил.</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1990 — Photoshop 1.0.</a:t>
            </a:r>
            <a:r>
              <a:rPr sz="1500" b="0" i="0">
                <a:solidFill>
                  <a:srgbClr val="21295C"/>
                </a:solidFill>
                <a:latin typeface="Arial"/>
              </a:rPr>
              <a:t> Исчез </a:t>
            </a:r>
            <a:r>
              <a:rPr sz="1500" b="1" i="0">
                <a:solidFill>
                  <a:srgbClr val="21295C"/>
                </a:solidFill>
                <a:latin typeface="Arial"/>
              </a:rPr>
              <a:t>допечатный цех на выделенных системах</a:t>
            </a:r>
            <a:r>
              <a:rPr sz="1500" b="0" i="0">
                <a:solidFill>
                  <a:srgbClr val="21295C"/>
                </a:solidFill>
                <a:latin typeface="Arial"/>
              </a:rPr>
              <a:t>. Ретушь на системе Scitex — </a:t>
            </a:r>
            <a:r>
              <a:rPr sz="1500" b="1" i="0">
                <a:solidFill>
                  <a:srgbClr val="21295C"/>
                </a:solidFill>
                <a:latin typeface="Arial"/>
              </a:rPr>
              <a:t>≈$300 за час работы</a:t>
            </a:r>
            <a:r>
              <a:rPr sz="1500" b="0" i="0">
                <a:solidFill>
                  <a:srgbClr val="21295C"/>
                </a:solidFill>
                <a:latin typeface="Arial"/>
              </a:rPr>
              <a:t> против </a:t>
            </a:r>
            <a:r>
              <a:rPr sz="1500" b="1" i="0">
                <a:solidFill>
                  <a:srgbClr val="21295C"/>
                </a:solidFill>
                <a:latin typeface="Arial"/>
              </a:rPr>
              <a:t>$895 за лицензию навсегда</a:t>
            </a:r>
            <a:r>
              <a:rPr sz="1500" b="0" i="0">
                <a:solidFill>
                  <a:srgbClr val="21295C"/>
                </a:solidFill>
                <a:latin typeface="Arial"/>
              </a:rPr>
              <a:t>: окупаемость меньше трёх часов. Цех как профессия исчез. </a:t>
            </a:r>
            <a:r>
              <a:rPr sz="1500" b="1" i="0">
                <a:solidFill>
                  <a:srgbClr val="21295C"/>
                </a:solidFill>
                <a:latin typeface="Arial"/>
              </a:rPr>
              <a:t>Ретушёр остался:</a:t>
            </a:r>
            <a:r>
              <a:rPr sz="1500" b="0" i="0">
                <a:solidFill>
                  <a:srgbClr val="21295C"/>
                </a:solidFill>
                <a:latin typeface="Arial"/>
              </a:rPr>
              <a:t> пересел за другой инструмент.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точки — исчезнувшая операция-посредник, а не новая возможность.</a:t>
            </a:r>
          </a:p>
        </p:txBody>
      </p:sp>
      <p:sp>
        <p:nvSpPr>
          <p:cNvPr id="11" name="Rectangle 10"/>
          <p:cNvSpPr/>
          <p:nvPr/>
        </p:nvSpPr>
        <p:spPr>
          <a:xfrm>
            <a:off x="6091275" y="2683657"/>
            <a:ext cx="9144" cy="2673550"/>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ounded Rectangle 3"/>
          <p:cNvSpPr/>
          <p:nvPr/>
        </p:nvSpPr>
        <p:spPr>
          <a:xfrm>
            <a:off x="502920"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ЗАКАЗ У ИСПОЛНИТЕЛЯ</a:t>
            </a:r>
          </a:p>
        </p:txBody>
      </p:sp>
      <p:sp>
        <p:nvSpPr>
          <p:cNvPr id="6" name="TextBox 5"/>
          <p:cNvSpPr txBox="1"/>
          <p:nvPr/>
        </p:nvSpPr>
        <p:spPr>
          <a:xfrm>
            <a:off x="640080" y="1932846"/>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$50–150 за задание, 1–3 дня</a:t>
            </a:r>
          </a:p>
        </p:txBody>
      </p:sp>
      <p:sp>
        <p:nvSpPr>
          <p:cNvPr id="7" name="TextBox 6"/>
          <p:cNvSpPr txBox="1"/>
          <p:nvPr/>
        </p:nvSpPr>
        <p:spPr>
          <a:xfrm>
            <a:off x="640080" y="26993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 от 3 860 ₽ за цифровую иллюстрацию</a:t>
            </a:r>
          </a:p>
        </p:txBody>
      </p:sp>
      <p:sp>
        <p:nvSpPr>
          <p:cNvPr id="8" name="Rounded Rectangle 7"/>
          <p:cNvSpPr/>
          <p:nvPr/>
        </p:nvSpPr>
        <p:spPr>
          <a:xfrm>
            <a:off x="3340531"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ГОТОВОЕ ИЗ БИБЛИОТЕКИ</a:t>
            </a:r>
          </a:p>
        </p:txBody>
      </p:sp>
      <p:sp>
        <p:nvSpPr>
          <p:cNvPr id="10" name="TextBox 9"/>
          <p:cNvSpPr txBox="1"/>
          <p:nvPr/>
        </p:nvSpPr>
        <p:spPr>
          <a:xfrm>
            <a:off x="3477691" y="193284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$130–499 розница · ≈$2,50 опт</a:t>
            </a:r>
          </a:p>
        </p:txBody>
      </p:sp>
      <p:sp>
        <p:nvSpPr>
          <p:cNvPr id="11" name="TextBox 10"/>
          <p:cNvSpPr txBox="1"/>
          <p:nvPr/>
        </p:nvSpPr>
        <p:spPr>
          <a:xfrm>
            <a:off x="3477691"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микросток 2000-х — $0,25–1</a:t>
            </a:r>
          </a:p>
        </p:txBody>
      </p:sp>
      <p:sp>
        <p:nvSpPr>
          <p:cNvPr id="12" name="Rounded Rectangle 11"/>
          <p:cNvSpPr/>
          <p:nvPr/>
        </p:nvSpPr>
        <p:spPr>
          <a:xfrm>
            <a:off x="6178143"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ГЕНЕРАЦИЯ</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$0,034–0,05 за изображение</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1024×1024; 4K у того же поставщика — $0,113</a:t>
            </a:r>
          </a:p>
        </p:txBody>
      </p:sp>
      <p:sp>
        <p:nvSpPr>
          <p:cNvPr id="16" name="Rounded Rectangle 15"/>
          <p:cNvSpPr/>
          <p:nvPr/>
        </p:nvSpPr>
        <p:spPr>
          <a:xfrm>
            <a:off x="9015755" y="1335024"/>
            <a:ext cx="2673019" cy="1923967"/>
          </a:xfrm>
          <a:prstGeom prst="roundRect">
            <a:avLst>
              <a:gd name="adj" fmla="val 1584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 ТРИ ЧИСЛА СРАЗУ, ОТ ТРЁХ РАЗНЫХ БАЗ</a:t>
            </a:r>
          </a:p>
        </p:txBody>
      </p:sp>
      <p:sp>
        <p:nvSpPr>
          <p:cNvPr id="18" name="TextBox 17"/>
          <p:cNvSpPr txBox="1"/>
          <p:nvPr/>
        </p:nvSpPr>
        <p:spPr>
          <a:xfrm>
            <a:off x="9152915" y="1932846"/>
            <a:ext cx="2398699" cy="511873"/>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×1 000–4 500 к заказу · ×73 к опту · ×14 700 к рознице</a:t>
            </a:r>
          </a:p>
        </p:txBody>
      </p:sp>
      <p:sp>
        <p:nvSpPr>
          <p:cNvPr id="19" name="TextBox 18"/>
          <p:cNvSpPr txBox="1"/>
          <p:nvPr/>
        </p:nvSpPr>
        <p:spPr>
          <a:xfrm>
            <a:off x="9152915" y="24447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называть надо все три: одно число делает вывод за слушателя</a:t>
            </a:r>
          </a:p>
        </p:txBody>
      </p:sp>
      <p:sp>
        <p:nvSpPr>
          <p:cNvPr id="20" name="Rounded Rectangle 19"/>
          <p:cNvSpPr/>
          <p:nvPr/>
        </p:nvSpPr>
        <p:spPr>
          <a:xfrm>
            <a:off x="502920" y="3423583"/>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560743"/>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СВОЯ ВИДЕОКАРТА В АРЕНДУ</a:t>
            </a:r>
          </a:p>
        </p:txBody>
      </p:sp>
      <p:sp>
        <p:nvSpPr>
          <p:cNvPr id="22" name="TextBox 21"/>
          <p:cNvSpPr txBox="1"/>
          <p:nvPr/>
        </p:nvSpPr>
        <p:spPr>
          <a:xfrm>
            <a:off x="640080" y="3813934"/>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≈$0,64 за тысячу изображений против $33,6 у программного доступа</a:t>
            </a:r>
          </a:p>
        </p:txBody>
      </p:sp>
      <p:sp>
        <p:nvSpPr>
          <p:cNvPr id="23" name="TextBox 22"/>
          <p:cNvSpPr txBox="1"/>
          <p:nvPr/>
        </p:nvSpPr>
        <p:spPr>
          <a:xfrm>
            <a:off x="640080" y="424093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30–50 раз дешевле — и три цены этой дешевизны в прейскурант не попадают</a:t>
            </a:r>
          </a:p>
        </p:txBody>
      </p:sp>
      <p:sp>
        <p:nvSpPr>
          <p:cNvPr id="24" name="Rounded Rectangle 23"/>
          <p:cNvSpPr/>
          <p:nvPr/>
        </p:nvSpPr>
        <p:spPr>
          <a:xfrm>
            <a:off x="374904" y="4680777"/>
            <a:ext cx="11441887" cy="1555430"/>
          </a:xfrm>
          <a:prstGeom prst="roundRect">
            <a:avLst>
              <a:gd name="adj" fmla="val 1959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772217"/>
            <a:ext cx="5373471" cy="146399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① Цена обеих ошибок.</a:t>
            </a:r>
            <a:r>
              <a:rPr sz="850" b="0" i="0">
                <a:solidFill>
                  <a:srgbClr val="21295C"/>
                </a:solidFill>
                <a:latin typeface="Arial"/>
              </a:rPr>
              <a:t> «Заказали и не подошло» — </a:t>
            </a:r>
            <a:r>
              <a:rPr sz="850" b="1" i="0">
                <a:solidFill>
                  <a:srgbClr val="21295C"/>
                </a:solidFill>
                <a:latin typeface="Arial"/>
              </a:rPr>
              <a:t>$50–150 и 1–3 дня</a:t>
            </a:r>
            <a:r>
              <a:rPr sz="850" b="0" i="0">
                <a:solidFill>
                  <a:srgbClr val="21295C"/>
                </a:solidFill>
                <a:latin typeface="Arial"/>
              </a:rPr>
              <a:t>, в России от </a:t>
            </a:r>
            <a:r>
              <a:rPr sz="850" b="1" i="0">
                <a:solidFill>
                  <a:srgbClr val="21295C"/>
                </a:solidFill>
                <a:latin typeface="Arial"/>
              </a:rPr>
              <a:t>3 860 ₽</a:t>
            </a:r>
            <a:r>
              <a:rPr sz="850" b="0" i="0">
                <a:solidFill>
                  <a:srgbClr val="21295C"/>
                </a:solidFill>
                <a:latin typeface="Arial"/>
              </a:rPr>
              <a:t>. «Не стали пробовать вариант, который сработал бы» — по мировому рынку числом </a:t>
            </a:r>
            <a:r>
              <a:rPr sz="850" b="1" i="0">
                <a:solidFill>
                  <a:srgbClr val="21295C"/>
                </a:solidFill>
                <a:latin typeface="Arial"/>
              </a:rPr>
              <a:t>не названа ни разу</a:t>
            </a:r>
            <a:r>
              <a:rPr sz="850" b="0" i="0">
                <a:solidFill>
                  <a:srgbClr val="21295C"/>
                </a:solidFill>
                <a:latin typeface="Arial"/>
              </a:rPr>
              <a:t>; измеренное значение есть только на российском материале, и оно появится следующим кадром.</a:t>
            </a:r>
          </a:p>
          <a:p>
            <a:pPr algn="l">
              <a:lnSpc>
                <a:spcPct val="126000"/>
              </a:lnSpc>
              <a:spcBef>
                <a:spcPts val="700"/>
              </a:spcBef>
            </a:pPr>
            <a:r>
              <a:rPr sz="850" b="0" i="0">
                <a:solidFill>
                  <a:srgbClr val="21295C"/>
                </a:solidFill>
                <a:latin typeface="Arial"/>
              </a:rPr>
              <a:t/>
            </a:r>
            <a:r>
              <a:rPr sz="850" b="1" i="0">
                <a:solidFill>
                  <a:srgbClr val="21295C"/>
                </a:solidFill>
                <a:latin typeface="Arial"/>
              </a:rPr>
              <a:t>② Оба классических режима, одна единица — доллар за изображение.</a:t>
            </a:r>
            <a:r>
              <a:rPr sz="850" b="0" i="0">
                <a:solidFill>
                  <a:srgbClr val="21295C"/>
                </a:solidFill>
                <a:latin typeface="Arial"/>
              </a:rPr>
              <a:t> Заказ у исполнителя — </a:t>
            </a:r>
            <a:r>
              <a:rPr sz="850" b="1" i="0">
                <a:solidFill>
                  <a:srgbClr val="21295C"/>
                </a:solidFill>
                <a:latin typeface="Arial"/>
              </a:rPr>
              <a:t>$50–150</a:t>
            </a:r>
            <a:r>
              <a:rPr sz="850" b="0" i="0">
                <a:solidFill>
                  <a:srgbClr val="21295C"/>
                </a:solidFill>
                <a:latin typeface="Arial"/>
              </a:rPr>
              <a:t> за задание. Готовое из библиотеки — </a:t>
            </a:r>
            <a:r>
              <a:rPr sz="850" b="1" i="0">
                <a:solidFill>
                  <a:srgbClr val="21295C"/>
                </a:solidFill>
                <a:latin typeface="Arial"/>
              </a:rPr>
              <a:t>$130–499</a:t>
            </a:r>
            <a:r>
              <a:rPr sz="850" b="0" i="0">
                <a:solidFill>
                  <a:srgbClr val="21295C"/>
                </a:solidFill>
                <a:latin typeface="Arial"/>
              </a:rPr>
              <a:t> розница, </a:t>
            </a:r>
            <a:r>
              <a:rPr sz="850" b="1" i="0">
                <a:solidFill>
                  <a:srgbClr val="21295C"/>
                </a:solidFill>
                <a:latin typeface="Arial"/>
              </a:rPr>
              <a:t>≈$2,50</a:t>
            </a:r>
            <a:r>
              <a:rPr sz="850" b="0" i="0">
                <a:solidFill>
                  <a:srgbClr val="21295C"/>
                </a:solidFill>
                <a:latin typeface="Arial"/>
              </a:rPr>
              <a:t> опт по подписке.</a:t>
            </a:r>
          </a:p>
          <a:p>
            <a:pPr algn="l">
              <a:lnSpc>
                <a:spcPct val="126000"/>
              </a:lnSpc>
              <a:spcBef>
                <a:spcPts val="700"/>
              </a:spcBef>
            </a:pPr>
            <a:r>
              <a:rPr sz="850" b="0" i="0">
                <a:solidFill>
                  <a:srgbClr val="21295C"/>
                </a:solidFill>
                <a:latin typeface="Arial"/>
              </a:rPr>
              <a:t/>
            </a:r>
            <a:r>
              <a:rPr sz="850" b="1" i="0">
                <a:solidFill>
                  <a:srgbClr val="21295C"/>
                </a:solidFill>
                <a:latin typeface="Arial"/>
              </a:rPr>
              <a:t>③ Модель рядом с ними.</a:t>
            </a:r>
            <a:r>
              <a:rPr sz="850" b="0" i="0">
                <a:solidFill>
                  <a:srgbClr val="21295C"/>
                </a:solidFill>
                <a:latin typeface="Arial"/>
              </a:rPr>
              <a:t> </a:t>
            </a:r>
            <a:r>
              <a:rPr sz="850" b="1" i="0">
                <a:solidFill>
                  <a:srgbClr val="21295C"/>
                </a:solidFill>
                <a:latin typeface="Arial"/>
              </a:rPr>
              <a:t>$0,034–0,05</a:t>
            </a:r>
            <a:r>
              <a:rPr sz="850" b="0" i="0">
                <a:solidFill>
                  <a:srgbClr val="21295C"/>
                </a:solidFill>
                <a:latin typeface="Arial"/>
              </a:rPr>
              <a:t> за изображение 1024×1024. Разрыв — </a:t>
            </a:r>
            <a:r>
              <a:rPr sz="850" b="1" i="0">
                <a:solidFill>
                  <a:srgbClr val="21295C"/>
                </a:solidFill>
                <a:latin typeface="Arial"/>
              </a:rPr>
              <a:t>×1 000–4 500</a:t>
            </a:r>
            <a:r>
              <a:rPr sz="850" b="0" i="0">
                <a:solidFill>
                  <a:srgbClr val="21295C"/>
                </a:solidFill>
                <a:latin typeface="Arial"/>
              </a:rPr>
              <a:t> к заказу, </a:t>
            </a:r>
            <a:r>
              <a:rPr sz="850" b="1" i="0">
                <a:solidFill>
                  <a:srgbClr val="21295C"/>
                </a:solidFill>
                <a:latin typeface="Arial"/>
              </a:rPr>
              <a:t>×73</a:t>
            </a:r>
            <a:r>
              <a:rPr sz="850" b="0" i="0">
                <a:solidFill>
                  <a:srgbClr val="21295C"/>
                </a:solidFill>
                <a:latin typeface="Arial"/>
              </a:rPr>
              <a:t> к опту, </a:t>
            </a:r>
            <a:r>
              <a:rPr sz="850" b="1" i="0">
                <a:solidFill>
                  <a:srgbClr val="21295C"/>
                </a:solidFill>
                <a:latin typeface="Arial"/>
              </a:rPr>
              <a:t>×14 700</a:t>
            </a:r>
            <a:r>
              <a:rPr sz="850" b="0" i="0">
                <a:solidFill>
                  <a:srgbClr val="21295C"/>
                </a:solidFill>
                <a:latin typeface="Arial"/>
              </a:rPr>
              <a:t> к рознице. Три базы, три числа, и называть надо все три.</a:t>
            </a:r>
          </a:p>
        </p:txBody>
      </p:sp>
      <p:sp>
        <p:nvSpPr>
          <p:cNvPr id="26" name="TextBox 25"/>
          <p:cNvSpPr txBox="1"/>
          <p:nvPr/>
        </p:nvSpPr>
        <p:spPr>
          <a:xfrm>
            <a:off x="6278727" y="4772217"/>
            <a:ext cx="5373471" cy="146399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④ Как устроено.</a:t>
            </a:r>
            <a:r>
              <a:rPr sz="850" b="0" i="0">
                <a:solidFill>
                  <a:srgbClr val="21295C"/>
                </a:solidFill>
                <a:latin typeface="Arial"/>
              </a:rPr>
              <a:t> На входе — текстовое описание, необязательные опорные изображения и адаптеры. На выходе — растр заданного размера, причём </a:t>
            </a:r>
            <a:r>
              <a:rPr sz="850" b="1" i="0">
                <a:solidFill>
                  <a:srgbClr val="21295C"/>
                </a:solidFill>
                <a:latin typeface="Arial"/>
              </a:rPr>
              <a:t>размер задан до запуска, и остановиться раньше нельзя</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⑤ Что уехало вправо.</a:t>
            </a:r>
            <a:r>
              <a:rPr sz="850" b="0" i="0">
                <a:solidFill>
                  <a:srgbClr val="21295C"/>
                </a:solidFill>
                <a:latin typeface="Arial"/>
              </a:rPr>
              <a:t> Время переехало с исполнения на </a:t>
            </a:r>
            <a:r>
              <a:rPr sz="850" b="1" i="0">
                <a:solidFill>
                  <a:srgbClr val="21295C"/>
                </a:solidFill>
                <a:latin typeface="Arial"/>
              </a:rPr>
              <a:t>отбор и доводку</a:t>
            </a:r>
            <a:r>
              <a:rPr sz="850" b="0" i="0">
                <a:solidFill>
                  <a:srgbClr val="21295C"/>
                </a:solidFill>
                <a:latin typeface="Arial"/>
              </a:rPr>
              <a:t>. Единица учёта — </a:t>
            </a:r>
            <a:r>
              <a:rPr sz="850" b="1" i="0">
                <a:solidFill>
                  <a:srgbClr val="21295C"/>
                </a:solidFill>
                <a:latin typeface="Arial"/>
              </a:rPr>
              <a:t>то, что ушло заказчику</a:t>
            </a:r>
            <a:r>
              <a:rPr sz="850" b="0" i="0">
                <a:solidFill>
                  <a:srgbClr val="21295C"/>
                </a:solidFill>
                <a:latin typeface="Arial"/>
              </a:rPr>
              <a:t>, а не то, что сгенерировано.</a:t>
            </a:r>
          </a:p>
          <a:p>
            <a:pPr algn="l">
              <a:lnSpc>
                <a:spcPct val="126000"/>
              </a:lnSpc>
              <a:spcBef>
                <a:spcPts val="700"/>
              </a:spcBef>
            </a:pPr>
            <a:r>
              <a:rPr sz="850" b="0" i="0">
                <a:solidFill>
                  <a:srgbClr val="21295C"/>
                </a:solidFill>
                <a:latin typeface="Arial"/>
              </a:rPr>
              <a:t/>
            </a:r>
            <a:r>
              <a:rPr sz="850" b="0" i="1">
                <a:solidFill>
                  <a:srgbClr val="1C7293"/>
                </a:solidFill>
                <a:latin typeface="Arial"/>
              </a:rPr>
              <a:t>Допущение названо вслух: «за задание» приравнено к «за изображение», хотя задание у исполнителя нередко включает правки и несколько ракурсов.</a:t>
            </a:r>
          </a:p>
          <a:p>
            <a:pPr algn="l">
              <a:lnSpc>
                <a:spcPct val="126000"/>
              </a:lnSpc>
              <a:spcBef>
                <a:spcPts val="700"/>
              </a:spcBef>
            </a:pPr>
            <a:r>
              <a:rPr sz="850" b="0" i="0">
                <a:solidFill>
                  <a:srgbClr val="21295C"/>
                </a:solidFill>
                <a:latin typeface="Arial"/>
              </a:rPr>
              <a:t/>
            </a:r>
            <a:r>
              <a:rPr sz="850" b="0" i="1">
                <a:solidFill>
                  <a:srgbClr val="1C7293"/>
                </a:solidFill>
                <a:latin typeface="Arial"/>
              </a:rPr>
              <a:t>Оба классических режима посчитаны в одной единице с моделью — сравнение полное.</a:t>
            </a:r>
          </a:p>
        </p:txBody>
      </p:sp>
      <p:sp>
        <p:nvSpPr>
          <p:cNvPr id="27" name="Rectangle 26"/>
          <p:cNvSpPr/>
          <p:nvPr/>
        </p:nvSpPr>
        <p:spPr>
          <a:xfrm>
            <a:off x="6091275" y="4772217"/>
            <a:ext cx="9144" cy="1445042"/>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269415" cy="327253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576747"/>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1936927" y="1335024"/>
            <a:ext cx="1269415" cy="327253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074087" y="1725375"/>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074087" y="2576747"/>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3370935" y="1335024"/>
            <a:ext cx="1269415" cy="327253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3508095" y="1725375"/>
            <a:ext cx="995095"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3508095" y="2984145"/>
            <a:ext cx="9950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4804943" y="1335024"/>
            <a:ext cx="1269415" cy="3272530"/>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942103"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4942103" y="1725375"/>
            <a:ext cx="995095"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две трети баннеров нужной кликабельности не дали</a:t>
            </a:r>
          </a:p>
        </p:txBody>
      </p:sp>
      <p:sp>
        <p:nvSpPr>
          <p:cNvPr id="19" name="TextBox 18"/>
          <p:cNvSpPr txBox="1"/>
          <p:nvPr/>
        </p:nvSpPr>
        <p:spPr>
          <a:xfrm>
            <a:off x="4942103" y="2780446"/>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502920" y="4772146"/>
            <a:ext cx="557143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909306"/>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640080" y="5162497"/>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640080" y="5589496"/>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6385255" y="1335024"/>
            <a:ext cx="5303520" cy="2942590"/>
          </a:xfrm>
          <a:prstGeom prst="roundRect">
            <a:avLst>
              <a:gd name="adj" fmla="val 10358"/>
            </a:avLst>
          </a:prstGeom>
          <a:solidFill>
            <a:srgbClr val="F4F7FA"/>
          </a:solidFill>
          <a:ln w="19050">
            <a:solidFill>
              <a:srgbClr val="1C7293"/>
            </a:solidFill>
          </a:ln>
          <a:effectLst/>
        </p:spPr>
        <p:txBody>
          <a:bodyPr rtlCol="0" anchor="ctr"/>
          <a:lstStyle/>
          <a:p>
            <a:pPr algn="ctr"/>
          </a:p>
        </p:txBody>
      </p:sp>
      <p:pic>
        <p:nvPicPr>
          <p:cNvPr id="25" name="Picture 24" descr="s13-tj-oblozhka.png"/>
          <p:cNvPicPr>
            <a:picLocks noChangeAspect="1"/>
          </p:cNvPicPr>
          <p:nvPr/>
        </p:nvPicPr>
        <p:blipFill>
          <a:blip r:embed="rId2"/>
          <a:stretch>
            <a:fillRect/>
          </a:stretch>
        </p:blipFill>
        <p:spPr>
          <a:xfrm>
            <a:off x="6522415" y="1472184"/>
            <a:ext cx="5029200" cy="2668270"/>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269415" cy="51661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9950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1936927" y="1335024"/>
            <a:ext cx="1269415" cy="51661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1290547"/>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074087" y="2762731"/>
            <a:ext cx="9950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074087" y="3189730"/>
            <a:ext cx="995095"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3370935" y="1335024"/>
            <a:ext cx="1269415" cy="51661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1498018"/>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3508095" y="2970202"/>
            <a:ext cx="99509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 465 000 тонн CO₂ в год</a:t>
            </a:r>
          </a:p>
        </p:txBody>
      </p:sp>
      <p:sp>
        <p:nvSpPr>
          <p:cNvPr id="15" name="TextBox 14"/>
          <p:cNvSpPr txBox="1"/>
          <p:nvPr/>
        </p:nvSpPr>
        <p:spPr>
          <a:xfrm>
            <a:off x="3508095" y="3617876"/>
            <a:ext cx="995095" cy="2746165"/>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4804943" y="1335024"/>
            <a:ext cx="1269415" cy="5166177"/>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942103"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ОБУЧЕННОЙ МОДЕЛИ В КОНТУРЕ</a:t>
            </a:r>
          </a:p>
        </p:txBody>
      </p:sp>
      <p:sp>
        <p:nvSpPr>
          <p:cNvPr id="18" name="TextBox 17"/>
          <p:cNvSpPr txBox="1"/>
          <p:nvPr/>
        </p:nvSpPr>
        <p:spPr>
          <a:xfrm>
            <a:off x="4942103" y="2140317"/>
            <a:ext cx="99509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вовсе</a:t>
            </a:r>
          </a:p>
        </p:txBody>
      </p:sp>
      <p:sp>
        <p:nvSpPr>
          <p:cNvPr id="19" name="TextBox 18"/>
          <p:cNvSpPr txBox="1"/>
          <p:nvPr/>
        </p:nvSpPr>
        <p:spPr>
          <a:xfrm>
            <a:off x="4942103" y="2957740"/>
            <a:ext cx="99509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перебор десятков тысяч вариантов геометрии по заданному критерию — это оптимизация, а не обученная модель</a:t>
            </a:r>
          </a:p>
        </p:txBody>
      </p:sp>
      <p:sp>
        <p:nvSpPr>
          <p:cNvPr id="20" name="Rounded Rectangle 19"/>
          <p:cNvSpPr/>
          <p:nvPr/>
        </p:nvSpPr>
        <p:spPr>
          <a:xfrm>
            <a:off x="502920" y="6684081"/>
            <a:ext cx="2630271"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6839529"/>
            <a:ext cx="2301087" cy="1106424"/>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перебор по критерию — останется</a:t>
            </a:r>
          </a:p>
          <a:p>
            <a:pPr algn="l">
              <a:lnSpc>
                <a:spcPct val="126000"/>
              </a:lnSpc>
            </a:pPr>
            <a:r>
              <a:rPr sz="1050" b="0" i="0">
                <a:solidFill>
                  <a:srgbClr val="21295C"/>
                </a:solidFill>
                <a:latin typeface="Arial"/>
              </a:rPr>
              <a:t>• расчёт прочности — останется</a:t>
            </a:r>
          </a:p>
          <a:p>
            <a:pPr algn="l">
              <a:lnSpc>
                <a:spcPct val="126000"/>
              </a:lnSpc>
            </a:pPr>
            <a:r>
              <a:rPr sz="1050" b="0" i="0">
                <a:solidFill>
                  <a:srgbClr val="21295C"/>
                </a:solidFill>
                <a:latin typeface="Arial"/>
              </a:rPr>
              <a:t>• печать из сплава — останется</a:t>
            </a:r>
          </a:p>
          <a:p>
            <a:pPr algn="l">
              <a:lnSpc>
                <a:spcPct val="126000"/>
              </a:lnSpc>
            </a:pPr>
            <a:r>
              <a:rPr sz="1050" b="0" i="0">
                <a:solidFill>
                  <a:srgbClr val="21295C"/>
                </a:solidFill>
                <a:latin typeface="Arial"/>
              </a:rPr>
              <a:t>• выигрыш −45% массы — останется</a:t>
            </a:r>
          </a:p>
        </p:txBody>
      </p:sp>
      <p:sp>
        <p:nvSpPr>
          <p:cNvPr id="22" name="Rounded Rectangle 21"/>
          <p:cNvSpPr/>
          <p:nvPr/>
        </p:nvSpPr>
        <p:spPr>
          <a:xfrm>
            <a:off x="3444087" y="6684081"/>
            <a:ext cx="2630271"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3608679" y="6839529"/>
            <a:ext cx="2301087" cy="110642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сорок картинок — останутся</a:t>
            </a:r>
          </a:p>
          <a:p>
            <a:pPr algn="l">
              <a:lnSpc>
                <a:spcPct val="126000"/>
              </a:lnSpc>
            </a:pPr>
            <a:r>
              <a:rPr sz="1200" b="0" i="0">
                <a:solidFill>
                  <a:srgbClr val="21295C"/>
                </a:solidFill>
                <a:latin typeface="Arial"/>
              </a:rPr>
              <a:t>• ноутбук — останется</a:t>
            </a:r>
          </a:p>
          <a:p>
            <a:pPr algn="l">
              <a:lnSpc>
                <a:spcPct val="126000"/>
              </a:lnSpc>
            </a:pPr>
            <a:r>
              <a:rPr sz="1200" b="0" i="0">
                <a:solidFill>
                  <a:srgbClr val="21295C"/>
                </a:solidFill>
                <a:latin typeface="Arial"/>
              </a:rPr>
              <a:t>• а 46 плакатов за месяц — нет</a:t>
            </a:r>
          </a:p>
          <a:p>
            <a:pPr algn="l">
              <a:lnSpc>
                <a:spcPct val="126000"/>
              </a:lnSpc>
            </a:pPr>
            <a:r>
              <a:rPr sz="1200" b="0" i="0">
                <a:solidFill>
                  <a:srgbClr val="21295C"/>
                </a:solidFill>
                <a:latin typeface="Arial"/>
              </a:rPr>
              <a:t>• условие отбора проходит</a:t>
            </a:r>
          </a:p>
        </p:txBody>
      </p:sp>
      <p:sp>
        <p:nvSpPr>
          <p:cNvPr id="24" name="Rounded Rectangle 23"/>
          <p:cNvSpPr/>
          <p:nvPr/>
        </p:nvSpPr>
        <p:spPr>
          <a:xfrm>
            <a:off x="6385255" y="1335024"/>
            <a:ext cx="5303520" cy="3631418"/>
          </a:xfrm>
          <a:prstGeom prst="roundRect">
            <a:avLst>
              <a:gd name="adj" fmla="val 8393"/>
            </a:avLst>
          </a:prstGeom>
          <a:solidFill>
            <a:srgbClr val="F4F7FA"/>
          </a:solidFill>
          <a:ln w="19050">
            <a:solidFill>
              <a:srgbClr val="1C7293"/>
            </a:solidFill>
          </a:ln>
          <a:effectLst/>
        </p:spPr>
        <p:txBody>
          <a:bodyPr rtlCol="0" anchor="ctr"/>
          <a:lstStyle/>
          <a:p>
            <a:pPr algn="ctr"/>
          </a:p>
        </p:txBody>
      </p:sp>
      <p:pic>
        <p:nvPicPr>
          <p:cNvPr id="25" name="Picture 24" descr="s14-airbus-peregorodka.jpg"/>
          <p:cNvPicPr>
            <a:picLocks noChangeAspect="1"/>
          </p:cNvPicPr>
          <p:nvPr/>
        </p:nvPicPr>
        <p:blipFill>
          <a:blip r:embed="rId2"/>
          <a:stretch>
            <a:fillRect/>
          </a:stretch>
        </p:blipFill>
        <p:spPr>
          <a:xfrm>
            <a:off x="6522415" y="1472184"/>
            <a:ext cx="5029200" cy="3357098"/>
          </a:xfrm>
          <a:prstGeom prst="rect">
            <a:avLst/>
          </a:prstGeom>
        </p:spPr>
      </p:pic>
      <p:sp>
        <p:nvSpPr>
          <p:cNvPr id="26" name="Rectangle 2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725375"/>
            <a:ext cx="2398699"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461 у Kandinsky 6.0 Pro против 622 299 у FLUX.1-dev</a:t>
            </a:r>
          </a:p>
        </p:txBody>
      </p:sp>
      <p:sp>
        <p:nvSpPr>
          <p:cNvPr id="7" name="TextBox 6"/>
          <p:cNvSpPr txBox="1"/>
          <p:nvPr/>
        </p:nvSpPr>
        <p:spPr>
          <a:xfrm>
            <a:off x="640080" y="220329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3340531"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3477691"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FRIDA 597 351 · GigaAM v3 426 500</a:t>
            </a:r>
          </a:p>
        </p:txBody>
      </p:sp>
      <p:sp>
        <p:nvSpPr>
          <p:cNvPr id="11" name="TextBox 10"/>
          <p:cNvSpPr txBox="1"/>
          <p:nvPr/>
        </p:nvSpPr>
        <p:spPr>
          <a:xfrm>
            <a:off x="3477691" y="26484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6178143"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6315303"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196,42 ₽/$ против 80,49 у Центробанка</a:t>
            </a:r>
          </a:p>
        </p:txBody>
      </p:sp>
      <p:sp>
        <p:nvSpPr>
          <p:cNvPr id="15" name="TextBox 14"/>
          <p:cNvSpPr txBox="1"/>
          <p:nvPr/>
        </p:nvSpPr>
        <p:spPr>
          <a:xfrm>
            <a:off x="6315303" y="258051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9015755" y="1335024"/>
            <a:ext cx="2673019" cy="2016386"/>
          </a:xfrm>
          <a:prstGeom prst="roundRect">
            <a:avLst>
              <a:gd name="adj" fmla="val 1511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9152915"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3442850"/>
            <a:ext cx="11441887" cy="2793357"/>
          </a:xfrm>
          <a:prstGeom prst="roundRect">
            <a:avLst>
              <a:gd name="adj" fmla="val 1091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34290"/>
            <a:ext cx="5373471" cy="2701917"/>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Открытые веса не равны применению.</a:t>
            </a:r>
            <a:r>
              <a:rPr sz="950" b="0" i="0">
                <a:solidFill>
                  <a:srgbClr val="21295C"/>
                </a:solidFill>
                <a:latin typeface="Arial"/>
              </a:rPr>
              <a:t> Kandinsky 6.0 Pro — </a:t>
            </a:r>
            <a:r>
              <a:rPr sz="950" b="1" i="0">
                <a:solidFill>
                  <a:srgbClr val="21295C"/>
                </a:solidFill>
                <a:latin typeface="Arial"/>
              </a:rPr>
              <a:t>461 скачивание за 30 дней</a:t>
            </a:r>
            <a:r>
              <a:rPr sz="950" b="0" i="0">
                <a:solidFill>
                  <a:srgbClr val="21295C"/>
                </a:solidFill>
                <a:latin typeface="Arial"/>
              </a:rPr>
              <a:t> против </a:t>
            </a:r>
            <a:r>
              <a:rPr sz="950" b="1" i="0">
                <a:solidFill>
                  <a:srgbClr val="21295C"/>
                </a:solidFill>
                <a:latin typeface="Arial"/>
              </a:rPr>
              <a:t>622 299</a:t>
            </a:r>
            <a:r>
              <a:rPr sz="950" b="0" i="0">
                <a:solidFill>
                  <a:srgbClr val="21295C"/>
                </a:solidFill>
                <a:latin typeface="Arial"/>
              </a:rPr>
              <a:t> у FLUX.1-dev; в том же замере SDXL — 4 282 392. Поправка в обе стороны: веса разложены по девяти репозиториям, с квантованными сборками сообщества выходит около </a:t>
            </a:r>
            <a:r>
              <a:rPr sz="950" b="1" i="0">
                <a:solidFill>
                  <a:srgbClr val="21295C"/>
                </a:solidFill>
                <a:latin typeface="Arial"/>
              </a:rPr>
              <a:t>15 000</a:t>
            </a:r>
            <a:r>
              <a:rPr sz="950" b="0" i="0">
                <a:solidFill>
                  <a:srgbClr val="21295C"/>
                </a:solidFill>
                <a:latin typeface="Arial"/>
              </a:rPr>
              <a:t>, то есть разрыв </a:t>
            </a:r>
            <a:r>
              <a:rPr sz="950" b="1" i="0">
                <a:solidFill>
                  <a:srgbClr val="21295C"/>
                </a:solidFill>
                <a:latin typeface="Arial"/>
              </a:rPr>
              <a:t>сорокакратный</a:t>
            </a:r>
            <a:r>
              <a:rPr sz="950" b="0" i="0">
                <a:solidFill>
                  <a:srgbClr val="21295C"/>
                </a:solidFill>
                <a:latin typeface="Arial"/>
              </a:rPr>
              <a:t>, а не тысячекратный.</a:t>
            </a:r>
          </a:p>
          <a:p>
            <a:pPr algn="l">
              <a:lnSpc>
                <a:spcPct val="126000"/>
              </a:lnSpc>
              <a:spcBef>
                <a:spcPts val="700"/>
              </a:spcBef>
            </a:pPr>
            <a:r>
              <a:rPr sz="950" b="0" i="0">
                <a:solidFill>
                  <a:srgbClr val="21295C"/>
                </a:solidFill>
                <a:latin typeface="Arial"/>
              </a:rPr>
              <a:t/>
            </a:r>
            <a:r>
              <a:rPr sz="950" b="1" i="0">
                <a:solidFill>
                  <a:srgbClr val="21295C"/>
                </a:solidFill>
                <a:latin typeface="Arial"/>
              </a:rPr>
              <a:t>Та же страна, другая задача — и вывод переворачивается.</a:t>
            </a:r>
            <a:r>
              <a:rPr sz="950" b="0" i="0">
                <a:solidFill>
                  <a:srgbClr val="21295C"/>
                </a:solidFill>
                <a:latin typeface="Arial"/>
              </a:rPr>
              <a:t> Текстовые представления FRIDA — </a:t>
            </a:r>
            <a:r>
              <a:rPr sz="950" b="1" i="0">
                <a:solidFill>
                  <a:srgbClr val="21295C"/>
                </a:solidFill>
                <a:latin typeface="Arial"/>
              </a:rPr>
              <a:t>597 351</a:t>
            </a:r>
            <a:r>
              <a:rPr sz="950" b="0" i="0">
                <a:solidFill>
                  <a:srgbClr val="21295C"/>
                </a:solidFill>
                <a:latin typeface="Arial"/>
              </a:rPr>
              <a:t> скачивание за тот же месяц, распознавание русской речи — </a:t>
            </a:r>
            <a:r>
              <a:rPr sz="950" b="1" i="0">
                <a:solidFill>
                  <a:srgbClr val="21295C"/>
                </a:solidFill>
                <a:latin typeface="Arial"/>
              </a:rPr>
              <a:t>426 500</a:t>
            </a:r>
            <a:r>
              <a:rPr sz="950" b="0" i="0">
                <a:solidFill>
                  <a:srgbClr val="21295C"/>
                </a:solidFill>
                <a:latin typeface="Arial"/>
              </a:rPr>
              <a:t>. Открытая модель живёт там, где закрывает незакрытую потребность; по-русски рисуют и зарубежные модели.</a:t>
            </a:r>
          </a:p>
          <a:p>
            <a:pPr algn="l">
              <a:lnSpc>
                <a:spcPct val="126000"/>
              </a:lnSpc>
              <a:spcBef>
                <a:spcPts val="700"/>
              </a:spcBef>
            </a:pPr>
            <a:r>
              <a:rPr sz="950" b="0" i="0">
                <a:solidFill>
                  <a:srgbClr val="21295C"/>
                </a:solidFill>
                <a:latin typeface="Arial"/>
              </a:rPr>
              <a:t/>
            </a:r>
            <a:r>
              <a:rPr sz="950" b="1" i="0">
                <a:solidFill>
                  <a:srgbClr val="21295C"/>
                </a:solidFill>
                <a:latin typeface="Arial"/>
              </a:rPr>
              <a:t>Наценка 2,44× спрятана внутри курса валюты.</a:t>
            </a:r>
            <a:r>
              <a:rPr sz="950" b="0" i="0">
                <a:solidFill>
                  <a:srgbClr val="21295C"/>
                </a:solidFill>
                <a:latin typeface="Arial"/>
              </a:rPr>
              <a:t> Посредник пересчитывает долларовый прейскурант по внутреннему курсу </a:t>
            </a:r>
            <a:r>
              <a:rPr sz="950" b="1" i="0">
                <a:solidFill>
                  <a:srgbClr val="21295C"/>
                </a:solidFill>
                <a:latin typeface="Arial"/>
              </a:rPr>
              <a:t>196,42 ₽/$</a:t>
            </a:r>
            <a:r>
              <a:rPr sz="950" b="0" i="0">
                <a:solidFill>
                  <a:srgbClr val="21295C"/>
                </a:solidFill>
                <a:latin typeface="Arial"/>
              </a:rPr>
              <a:t> против </a:t>
            </a:r>
            <a:r>
              <a:rPr sz="950" b="1" i="0">
                <a:solidFill>
                  <a:srgbClr val="21295C"/>
                </a:solidFill>
                <a:latin typeface="Arial"/>
              </a:rPr>
              <a:t>80,49</a:t>
            </a:r>
            <a:r>
              <a:rPr sz="950" b="0" i="0">
                <a:solidFill>
                  <a:srgbClr val="21295C"/>
                </a:solidFill>
                <a:latin typeface="Arial"/>
              </a:rPr>
              <a:t> у Центробанка. Миллион входных плюс миллион выходных токенов: </a:t>
            </a:r>
            <a:r>
              <a:rPr sz="950" b="1" i="0">
                <a:solidFill>
                  <a:srgbClr val="21295C"/>
                </a:solidFill>
                <a:latin typeface="Arial"/>
              </a:rPr>
              <a:t>1 449 ₽</a:t>
            </a:r>
            <a:r>
              <a:rPr sz="950" b="0" i="0">
                <a:solidFill>
                  <a:srgbClr val="21295C"/>
                </a:solidFill>
                <a:latin typeface="Arial"/>
              </a:rPr>
              <a:t> напрямую против </a:t>
            </a:r>
            <a:r>
              <a:rPr sz="950" b="1" i="0">
                <a:solidFill>
                  <a:srgbClr val="21295C"/>
                </a:solidFill>
                <a:latin typeface="Arial"/>
              </a:rPr>
              <a:t>3 536 ₽</a:t>
            </a:r>
            <a:r>
              <a:rPr sz="950" b="0" i="0">
                <a:solidFill>
                  <a:srgbClr val="21295C"/>
                </a:solidFill>
                <a:latin typeface="Arial"/>
              </a:rPr>
              <a:t> через посредника. Это цена дотягивания до модели, которая вас обслуживать не хочет; вычисления тут почти ни при чём.</a:t>
            </a:r>
          </a:p>
        </p:txBody>
      </p:sp>
      <p:sp>
        <p:nvSpPr>
          <p:cNvPr id="22" name="TextBox 21"/>
          <p:cNvSpPr txBox="1"/>
          <p:nvPr/>
        </p:nvSpPr>
        <p:spPr>
          <a:xfrm>
            <a:off x="6278727" y="3534290"/>
            <a:ext cx="5373471" cy="2701917"/>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Два отечественных сервиса, противоположные права на один и тот же результат.</a:t>
            </a:r>
            <a:r>
              <a:rPr sz="950" b="0" i="0">
                <a:solidFill>
                  <a:srgbClr val="21295C"/>
                </a:solidFill>
                <a:latin typeface="Arial"/>
              </a:rPr>
              <a:t> Один отдаёт исключительные права </a:t>
            </a:r>
            <a:r>
              <a:rPr sz="950" b="1" i="0">
                <a:solidFill>
                  <a:srgbClr val="21295C"/>
                </a:solidFill>
                <a:latin typeface="Arial"/>
              </a:rPr>
              <a:t>пользователю</a:t>
            </a:r>
            <a:r>
              <a:rPr sz="950" b="0" i="0">
                <a:solidFill>
                  <a:srgbClr val="21295C"/>
                </a:solidFill>
                <a:latin typeface="Arial"/>
              </a:rPr>
              <a:t>, оставляя себе безотзывную неисключительную лицензию. Второй оставляет права </a:t>
            </a:r>
            <a:r>
              <a:rPr sz="950" b="1" i="0">
                <a:solidFill>
                  <a:srgbClr val="21295C"/>
                </a:solidFill>
                <a:latin typeface="Arial"/>
              </a:rPr>
              <a:t>за собой</a:t>
            </a:r>
            <a:r>
              <a:rPr sz="950" b="0" i="0">
                <a:solidFill>
                  <a:srgbClr val="21295C"/>
                </a:solidFill>
                <a:latin typeface="Arial"/>
              </a:rPr>
              <a:t>, пользователю — только личное некоммерческое. Разница между «можно выпускать» и «нельзя» читается только в пользовательском соглашении.</a:t>
            </a:r>
          </a:p>
          <a:p>
            <a:pPr algn="l">
              <a:lnSpc>
                <a:spcPct val="126000"/>
              </a:lnSpc>
              <a:spcBef>
                <a:spcPts val="700"/>
              </a:spcBef>
            </a:pPr>
            <a:r>
              <a:rPr sz="950" b="0" i="0">
                <a:solidFill>
                  <a:srgbClr val="21295C"/>
                </a:solidFill>
                <a:latin typeface="Arial"/>
              </a:rPr>
              <a:t/>
            </a:r>
            <a:r>
              <a:rPr sz="950" b="1" i="0">
                <a:solidFill>
                  <a:srgbClr val="21295C"/>
                </a:solidFill>
                <a:latin typeface="Arial"/>
              </a:rPr>
              <a:t>Юридическая чистота продаётся без единой цифры.</a:t>
            </a:r>
            <a:r>
              <a:rPr sz="950" b="0" i="0">
                <a:solidFill>
                  <a:srgbClr val="21295C"/>
                </a:solidFill>
                <a:latin typeface="Arial"/>
              </a:rPr>
              <a:t> Единственная крупная модель, которую поставщик продаёт как обученную на собственной библиотеке и общественном достоянии, с возмещением убытков по претензиям корпоративным клиентам. </a:t>
            </a:r>
            <a:r>
              <a:rPr sz="950" b="1" i="0">
                <a:solidFill>
                  <a:srgbClr val="21295C"/>
                </a:solidFill>
                <a:latin typeface="Arial"/>
              </a:rPr>
              <a:t>Проверяемых чисел по ней нет ни одной</a:t>
            </a:r>
            <a:r>
              <a:rPr sz="950" b="0" i="0">
                <a:solidFill>
                  <a:srgbClr val="21295C"/>
                </a:solidFill>
                <a:latin typeface="Arial"/>
              </a:rPr>
              <a:t> — поэтому она здесь упоминанием, а не разбором.</a:t>
            </a:r>
          </a:p>
        </p:txBody>
      </p:sp>
      <p:sp>
        <p:nvSpPr>
          <p:cNvPr id="23" name="Rectangle 22"/>
          <p:cNvSpPr/>
          <p:nvPr/>
        </p:nvSpPr>
        <p:spPr>
          <a:xfrm>
            <a:off x="6091275" y="3534290"/>
            <a:ext cx="9144" cy="262360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текст дискретен, изображение непрерывно</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конечному словарю естественно считать вероятности; непрерывный сигнал квантовать в словарь пробовали — проигрывало по качеству деталей</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TextBox 11"/>
          <p:cNvSpPr txBox="1"/>
          <p:nvPr/>
        </p:nvSpPr>
        <p:spPr>
          <a:xfrm>
            <a:off x="502920" y="353314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Авторегрессия по токенам</a:t>
            </a:r>
          </a:p>
        </p:txBody>
      </p:sp>
      <p:sp>
        <p:nvSpPr>
          <p:cNvPr id="13" name="Rounded Rectangle 12"/>
          <p:cNvSpPr/>
          <p:nvPr/>
        </p:nvSpPr>
        <p:spPr>
          <a:xfrm>
            <a:off x="1920240" y="3496568"/>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42288"/>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квадратиков появляются слева направо, подсвечен каждый следующий</a:t>
            </a:r>
          </a:p>
        </p:txBody>
      </p:sp>
      <p:sp>
        <p:nvSpPr>
          <p:cNvPr id="15" name="Right Arrow 14"/>
          <p:cNvSpPr/>
          <p:nvPr/>
        </p:nvSpPr>
        <p:spPr>
          <a:xfrm>
            <a:off x="6713067" y="390333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3496568"/>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3542288"/>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N токенов = N проходов сети</a:t>
            </a:r>
          </a:p>
        </p:txBody>
      </p:sp>
      <p:sp>
        <p:nvSpPr>
          <p:cNvPr id="18" name="TextBox 17"/>
          <p:cNvSpPr txBox="1"/>
          <p:nvPr/>
        </p:nvSpPr>
        <p:spPr>
          <a:xfrm>
            <a:off x="502920" y="463013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Итеративное расшумление</a:t>
            </a:r>
          </a:p>
        </p:txBody>
      </p:sp>
      <p:sp>
        <p:nvSpPr>
          <p:cNvPr id="19" name="Rounded Rectangle 18"/>
          <p:cNvSpPr/>
          <p:nvPr/>
        </p:nvSpPr>
        <p:spPr>
          <a:xfrm>
            <a:off x="1920240" y="4593562"/>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4639282"/>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одна и та же рамка кадра повторена пять раз, от шума к картинке</a:t>
            </a:r>
          </a:p>
        </p:txBody>
      </p:sp>
      <p:sp>
        <p:nvSpPr>
          <p:cNvPr id="21" name="Right Arrow 20"/>
          <p:cNvSpPr/>
          <p:nvPr/>
        </p:nvSpPr>
        <p:spPr>
          <a:xfrm>
            <a:off x="5039258" y="500032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4593562"/>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4639282"/>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меняется ВСЯ рамка целиком на каждом шаге</a:t>
            </a:r>
          </a:p>
        </p:txBody>
      </p:sp>
      <p:sp>
        <p:nvSpPr>
          <p:cNvPr id="24" name="Right Arrow 23"/>
          <p:cNvSpPr/>
          <p:nvPr/>
        </p:nvSpPr>
        <p:spPr>
          <a:xfrm>
            <a:off x="8386876" y="500032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4593562"/>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4639282"/>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задан, проходов — сколько назначили</a:t>
            </a:r>
          </a:p>
        </p:txBody>
      </p:sp>
      <p:sp>
        <p:nvSpPr>
          <p:cNvPr id="27" name="TextBox 26"/>
          <p:cNvSpPr txBox="1"/>
          <p:nvPr/>
        </p:nvSpPr>
        <p:spPr>
          <a:xfrm>
            <a:off x="502920" y="558082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картинка, две стрелки: в верхней дорожке подсвечивается ОДИН элемент, в нижней — ВСЕ</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процесс — портит</a:t>
            </a:r>
          </a:p>
        </p:txBody>
      </p:sp>
      <p:sp>
        <p:nvSpPr>
          <p:cNvPr id="9" name="Rounded Rectangle 8"/>
          <p:cNvSpPr/>
          <p:nvPr/>
        </p:nvSpPr>
        <p:spPr>
          <a:xfrm>
            <a:off x="1920240" y="3074081"/>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119801"/>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настоящая картинка</a:t>
            </a:r>
          </a:p>
        </p:txBody>
      </p:sp>
      <p:sp>
        <p:nvSpPr>
          <p:cNvPr id="11" name="Right Arrow 10"/>
          <p:cNvSpPr/>
          <p:nvPr/>
        </p:nvSpPr>
        <p:spPr>
          <a:xfrm>
            <a:off x="3700211" y="3362022"/>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928811" y="3074081"/>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011107" y="3119801"/>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подмешали немного шума</a:t>
            </a:r>
          </a:p>
        </p:txBody>
      </p:sp>
      <p:sp>
        <p:nvSpPr>
          <p:cNvPr id="14" name="Right Arrow 13"/>
          <p:cNvSpPr/>
          <p:nvPr/>
        </p:nvSpPr>
        <p:spPr>
          <a:xfrm>
            <a:off x="5708782" y="3362022"/>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5937382" y="3074081"/>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6019678" y="3119801"/>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подмешали ещё</a:t>
            </a:r>
          </a:p>
        </p:txBody>
      </p:sp>
      <p:sp>
        <p:nvSpPr>
          <p:cNvPr id="17" name="Right Arrow 16"/>
          <p:cNvSpPr/>
          <p:nvPr/>
        </p:nvSpPr>
        <p:spPr>
          <a:xfrm>
            <a:off x="7717353" y="3362022"/>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7945953" y="3074081"/>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8028249" y="3119801"/>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a:t>
            </a:r>
          </a:p>
        </p:txBody>
      </p:sp>
      <p:sp>
        <p:nvSpPr>
          <p:cNvPr id="20" name="Right Arrow 19"/>
          <p:cNvSpPr/>
          <p:nvPr/>
        </p:nvSpPr>
        <p:spPr>
          <a:xfrm>
            <a:off x="9725924" y="3362022"/>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9954524" y="3074081"/>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10036820" y="3119801"/>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a:t>
            </a:r>
          </a:p>
        </p:txBody>
      </p:sp>
      <p:sp>
        <p:nvSpPr>
          <p:cNvPr id="23" name="TextBox 22"/>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процесс — восстанавливает</a:t>
            </a:r>
          </a:p>
        </p:txBody>
      </p:sp>
      <p:sp>
        <p:nvSpPr>
          <p:cNvPr id="24" name="Rounded Rectangle 23"/>
          <p:cNvSpPr/>
          <p:nvPr/>
        </p:nvSpPr>
        <p:spPr>
          <a:xfrm>
            <a:off x="1920240" y="3933426"/>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2002536" y="3979146"/>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a:t>
            </a:r>
          </a:p>
        </p:txBody>
      </p:sp>
      <p:sp>
        <p:nvSpPr>
          <p:cNvPr id="26" name="Right Arrow 25"/>
          <p:cNvSpPr/>
          <p:nvPr/>
        </p:nvSpPr>
        <p:spPr>
          <a:xfrm>
            <a:off x="3700211" y="4221367"/>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3928811" y="3933426"/>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011107" y="3979146"/>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сеть: «вот этот шум я тут вижу»</a:t>
            </a:r>
          </a:p>
        </p:txBody>
      </p:sp>
      <p:sp>
        <p:nvSpPr>
          <p:cNvPr id="29" name="Right Arrow 28"/>
          <p:cNvSpPr/>
          <p:nvPr/>
        </p:nvSpPr>
        <p:spPr>
          <a:xfrm>
            <a:off x="5708782" y="4221367"/>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937382" y="3933426"/>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019678" y="3979146"/>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вычли, получили приближение</a:t>
            </a:r>
          </a:p>
        </p:txBody>
      </p:sp>
      <p:sp>
        <p:nvSpPr>
          <p:cNvPr id="32" name="Right Arrow 31"/>
          <p:cNvSpPr/>
          <p:nvPr/>
        </p:nvSpPr>
        <p:spPr>
          <a:xfrm>
            <a:off x="7717353" y="4221367"/>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7945953" y="3933426"/>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8028249" y="3979146"/>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a:t>
            </a:r>
          </a:p>
        </p:txBody>
      </p:sp>
      <p:sp>
        <p:nvSpPr>
          <p:cNvPr id="35" name="Right Arrow 34"/>
          <p:cNvSpPr/>
          <p:nvPr/>
        </p:nvSpPr>
        <p:spPr>
          <a:xfrm>
            <a:off x="9725924" y="4221367"/>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9954524" y="3933426"/>
            <a:ext cx="1734251"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10036820" y="3979146"/>
            <a:ext cx="1569659"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a:t>
            </a:r>
          </a:p>
        </p:txBody>
      </p:sp>
      <p:sp>
        <p:nvSpPr>
          <p:cNvPr id="38" name="TextBox 37"/>
          <p:cNvSpPr txBox="1"/>
          <p:nvPr/>
        </p:nvSpPr>
        <p:spPr>
          <a:xfrm>
            <a:off x="502920" y="468304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a:t>
            </a:r>
          </a:p>
        </p:txBody>
      </p:sp>
      <p:sp>
        <p:nvSpPr>
          <p:cNvPr id="39" name="Rounded Rectangle 38"/>
          <p:cNvSpPr/>
          <p:nvPr/>
        </p:nvSpPr>
        <p:spPr>
          <a:xfrm>
            <a:off x="374904" y="4985728"/>
            <a:ext cx="11441887" cy="1250479"/>
          </a:xfrm>
          <a:prstGeom prst="roundRect">
            <a:avLst>
              <a:gd name="adj" fmla="val 24374"/>
            </a:avLst>
          </a:prstGeom>
          <a:solidFill>
            <a:srgbClr val="F4F7FA"/>
          </a:solidFill>
          <a:ln w="19050">
            <a:solidFill>
              <a:srgbClr val="1C7293"/>
            </a:solidFill>
          </a:ln>
          <a:effectLst/>
        </p:spPr>
        <p:txBody>
          <a:bodyPr rtlCol="0" anchor="ctr"/>
          <a:lstStyle/>
          <a:p>
            <a:pPr algn="ctr"/>
          </a:p>
        </p:txBody>
      </p:sp>
      <p:sp>
        <p:nvSpPr>
          <p:cNvPr id="40" name="TextBox 39"/>
          <p:cNvSpPr txBox="1"/>
          <p:nvPr/>
        </p:nvSpPr>
        <p:spPr>
          <a:xfrm>
            <a:off x="539496" y="5077168"/>
            <a:ext cx="11112703" cy="1159039"/>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Прямой процесс.</a:t>
            </a:r>
            <a:r>
              <a:rPr sz="850" b="0" i="0">
                <a:solidFill>
                  <a:srgbClr val="21295C"/>
                </a:solidFill>
                <a:latin typeface="Arial"/>
              </a:rPr>
              <a:t> Берём настоящую картинку и T раз подмешиваем немного шума. Через тысячу шагов не остаётся ничего. </a:t>
            </a:r>
            <a:r>
              <a:rPr sz="850" b="1" i="0">
                <a:solidFill>
                  <a:srgbClr val="21295C"/>
                </a:solidFill>
                <a:latin typeface="Arial"/>
              </a:rPr>
              <a:t>До любого шага можно прыгнуть сразу:</a:t>
            </a:r>
            <a:r>
              <a:rPr sz="850" b="0" i="0">
                <a:solidFill>
                  <a:srgbClr val="21295C"/>
                </a:solidFill>
                <a:latin typeface="Arial"/>
              </a:rPr>
              <a:t> зашумлённая картинка — линейная смесь оригинала и шума с известными долями. </a:t>
            </a:r>
            <a:r>
              <a:rPr sz="850" b="1" i="0">
                <a:solidFill>
                  <a:srgbClr val="21295C"/>
                </a:solidFill>
                <a:latin typeface="Arial"/>
              </a:rPr>
              <a:t>Обучаемых параметров в прямом процессе — ноль.</a:t>
            </a:r>
            <a:r>
              <a:rPr sz="850" b="0" i="0">
                <a:solidFill>
                  <a:srgbClr val="21295C"/>
                </a:solidFill>
                <a:latin typeface="Arial"/>
              </a:rPr>
              <a:t> Это формула. Поэтому обучение дёшево: берём случайный номер шага, делаем зашумлённую картинку и учим сеть на </a:t>
            </a:r>
            <a:r>
              <a:rPr sz="850" b="1" i="0">
                <a:solidFill>
                  <a:srgbClr val="21295C"/>
                </a:solidFill>
                <a:latin typeface="Arial"/>
              </a:rPr>
              <a:t>одном</a:t>
            </a:r>
            <a:r>
              <a:rPr sz="850" b="0" i="0">
                <a:solidFill>
                  <a:srgbClr val="21295C"/>
                </a:solidFill>
                <a:latin typeface="Arial"/>
              </a:rPr>
              <a:t> шаге.</a:t>
            </a:r>
          </a:p>
          <a:p>
            <a:pPr algn="l">
              <a:lnSpc>
                <a:spcPct val="126000"/>
              </a:lnSpc>
              <a:spcBef>
                <a:spcPts val="700"/>
              </a:spcBef>
            </a:pPr>
            <a:r>
              <a:rPr sz="850" b="0" i="0">
                <a:solidFill>
                  <a:srgbClr val="21295C"/>
                </a:solidFill>
                <a:latin typeface="Arial"/>
              </a:rPr>
              <a:t/>
            </a:r>
            <a:r>
              <a:rPr sz="850" b="1" i="0">
                <a:solidFill>
                  <a:srgbClr val="21295C"/>
                </a:solidFill>
                <a:latin typeface="Arial"/>
              </a:rPr>
              <a:t>Обратный процесс.</a:t>
            </a:r>
            <a:r>
              <a:rPr sz="850" b="0" i="0">
                <a:solidFill>
                  <a:srgbClr val="21295C"/>
                </a:solidFill>
                <a:latin typeface="Arial"/>
              </a:rPr>
              <a:t> Сеть получает зашумлённую картинку и номер шага и говорит: «вот этот шум я тут вижу». Шум вычитается, получается следующее приближение.</a:t>
            </a:r>
          </a:p>
          <a:p>
            <a:pPr algn="l">
              <a:lnSpc>
                <a:spcPct val="126000"/>
              </a:lnSpc>
              <a:spcBef>
                <a:spcPts val="700"/>
              </a:spcBef>
            </a:pPr>
            <a:r>
              <a:rPr sz="850" b="0" i="0">
                <a:solidFill>
                  <a:srgbClr val="21295C"/>
                </a:solidFill>
                <a:latin typeface="Arial"/>
              </a:rPr>
              <a:t/>
            </a:r>
            <a:r>
              <a:rPr sz="850" b="1" i="0">
                <a:solidFill>
                  <a:srgbClr val="21295C"/>
                </a:solidFill>
                <a:latin typeface="Arial"/>
              </a:rPr>
              <a:t>Что именно предсказывает сеть — три варианта:</a:t>
            </a:r>
            <a:r>
              <a:rPr sz="850" b="0" i="0">
                <a:solidFill>
                  <a:srgbClr val="21295C"/>
                </a:solidFill>
                <a:latin typeface="Arial"/>
              </a:rPr>
              <a:t> </a:t>
            </a:r>
            <a:r>
              <a:rPr sz="850" b="1" i="0">
                <a:solidFill>
                  <a:srgbClr val="21295C"/>
                </a:solidFill>
                <a:latin typeface="Arial"/>
              </a:rPr>
              <a:t>шум</a:t>
            </a:r>
            <a:r>
              <a:rPr sz="850" b="0" i="0">
                <a:solidFill>
                  <a:srgbClr val="21295C"/>
                </a:solidFill>
                <a:latin typeface="Arial"/>
              </a:rPr>
              <a:t> — вырождается на </a:t>
            </a:r>
            <a:r>
              <a:rPr sz="850" b="0" i="1">
                <a:solidFill>
                  <a:srgbClr val="21295C"/>
                </a:solidFill>
                <a:latin typeface="Arial"/>
              </a:rPr>
              <a:t>малом</a:t>
            </a:r>
            <a:r>
              <a:rPr sz="850" b="0" i="0">
                <a:solidFill>
                  <a:srgbClr val="21295C"/>
                </a:solidFill>
                <a:latin typeface="Arial"/>
              </a:rPr>
              <a:t> шуме: просят угадать почти нулевой остаток · </a:t>
            </a:r>
            <a:r>
              <a:rPr sz="850" b="1" i="0">
                <a:solidFill>
                  <a:srgbClr val="21295C"/>
                </a:solidFill>
                <a:latin typeface="Arial"/>
              </a:rPr>
              <a:t>исходную картинку</a:t>
            </a:r>
            <a:r>
              <a:rPr sz="850" b="0" i="0">
                <a:solidFill>
                  <a:srgbClr val="21295C"/>
                </a:solidFill>
                <a:latin typeface="Arial"/>
              </a:rPr>
              <a:t> — вырождается на </a:t>
            </a:r>
            <a:r>
              <a:rPr sz="850" b="0" i="1">
                <a:solidFill>
                  <a:srgbClr val="21295C"/>
                </a:solidFill>
                <a:latin typeface="Arial"/>
              </a:rPr>
              <a:t>большом</a:t>
            </a:r>
            <a:r>
              <a:rPr sz="850" b="0" i="0">
                <a:solidFill>
                  <a:srgbClr val="21295C"/>
                </a:solidFill>
                <a:latin typeface="Arial"/>
              </a:rPr>
              <a:t>: угадать изображение из чистого шума невозможно · </a:t>
            </a:r>
            <a:r>
              <a:rPr sz="850" b="1" i="0">
                <a:solidFill>
                  <a:srgbClr val="21295C"/>
                </a:solidFill>
                <a:latin typeface="Arial"/>
              </a:rPr>
              <a:t>скорость</a:t>
            </a:r>
            <a:r>
              <a:rPr sz="850" b="0" i="0">
                <a:solidFill>
                  <a:srgbClr val="21295C"/>
                </a:solidFill>
                <a:latin typeface="Arial"/>
              </a:rPr>
              <a:t> — комбинация обоих, содержательная цель на всём диапазоне, и поэтому победила.</a:t>
            </a:r>
          </a:p>
          <a:p>
            <a:pPr algn="l">
              <a:lnSpc>
                <a:spcPct val="126000"/>
              </a:lnSpc>
              <a:spcBef>
                <a:spcPts val="700"/>
              </a:spcBef>
            </a:pPr>
            <a:r>
              <a:rPr sz="850" b="0" i="0">
                <a:solidFill>
                  <a:srgbClr val="21295C"/>
                </a:solidFill>
                <a:latin typeface="Arial"/>
              </a:rPr>
              <a:t/>
            </a:r>
            <a:r>
              <a:rPr sz="850" b="1" i="0">
                <a:solidFill>
                  <a:srgbClr val="21295C"/>
                </a:solidFill>
                <a:latin typeface="Arial"/>
              </a:rPr>
              <a:t>Где параллель с языковой моделью кончается.</a:t>
            </a:r>
            <a:r>
              <a:rPr sz="850" b="0" i="0">
                <a:solidFill>
                  <a:srgbClr val="21295C"/>
                </a:solidFill>
                <a:latin typeface="Arial"/>
              </a:rPr>
              <a:t> Там на выходе распределение вероятностей на словаре, сумма равна единице. Здесь — </a:t>
            </a:r>
            <a:r>
              <a:rPr sz="850" b="1" i="0">
                <a:solidFill>
                  <a:srgbClr val="21295C"/>
                </a:solidFill>
                <a:latin typeface="Arial"/>
              </a:rPr>
              <a:t>вектор той же формы, что вход: нормировки нет, вероятности нет.</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374904" y="3955869"/>
            <a:ext cx="11441887" cy="2224148"/>
          </a:xfrm>
          <a:prstGeom prst="roundRect">
            <a:avLst>
              <a:gd name="adj" fmla="val 1370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47309"/>
            <a:ext cx="11112703" cy="2188898"/>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1000</a:t>
            </a:r>
            <a:r>
              <a:rPr sz="1150" b="0" i="0">
                <a:solidFill>
                  <a:srgbClr val="21295C"/>
                </a:solidFill>
                <a:latin typeface="Arial"/>
              </a:rPr>
              <a:t> — честная марковская цепочка · </a:t>
            </a:r>
            <a:r>
              <a:rPr sz="1150" b="1" i="0">
                <a:solidFill>
                  <a:srgbClr val="21295C"/>
                </a:solidFill>
                <a:latin typeface="Arial"/>
              </a:rPr>
              <a:t>20–100</a:t>
            </a:r>
            <a:r>
              <a:rPr sz="1150" b="0" i="0">
                <a:solidFill>
                  <a:srgbClr val="21295C"/>
                </a:solidFill>
                <a:latin typeface="Arial"/>
              </a:rPr>
              <a:t> — процесс переписан как детерминированный, шаги можно пропускать · </a:t>
            </a:r>
            <a:r>
              <a:rPr sz="1150" b="1" i="0">
                <a:solidFill>
                  <a:srgbClr val="21295C"/>
                </a:solidFill>
                <a:latin typeface="Arial"/>
              </a:rPr>
              <a:t>10–20</a:t>
            </a:r>
            <a:r>
              <a:rPr sz="1150" b="0" i="0">
                <a:solidFill>
                  <a:srgbClr val="21295C"/>
                </a:solidFill>
                <a:latin typeface="Arial"/>
              </a:rPr>
              <a:t> — метод высокого порядка ‖ </a:t>
            </a:r>
            <a:r>
              <a:rPr sz="1150" b="1" i="0">
                <a:solidFill>
                  <a:srgbClr val="21295C"/>
                </a:solidFill>
                <a:latin typeface="Arial"/>
              </a:rPr>
              <a:t>2–4</a:t>
            </a:r>
            <a:r>
              <a:rPr sz="1150" b="0" i="0">
                <a:solidFill>
                  <a:srgbClr val="21295C"/>
                </a:solidFill>
                <a:latin typeface="Arial"/>
              </a:rPr>
              <a:t> — дистилляция согласованности · </a:t>
            </a:r>
            <a:r>
              <a:rPr sz="1150" b="1" i="0">
                <a:solidFill>
                  <a:srgbClr val="21295C"/>
                </a:solidFill>
                <a:latin typeface="Arial"/>
              </a:rPr>
              <a:t>1–4</a:t>
            </a:r>
            <a:r>
              <a:rPr sz="1150" b="0" i="0">
                <a:solidFill>
                  <a:srgbClr val="21295C"/>
                </a:solidFill>
                <a:latin typeface="Arial"/>
              </a:rPr>
              <a:t> — плюс состязательная потеря</a:t>
            </a:r>
          </a:p>
          <a:p>
            <a:pPr algn="l">
              <a:lnSpc>
                <a:spcPct val="126000"/>
              </a:lnSpc>
              <a:spcBef>
                <a:spcPts val="700"/>
              </a:spcBef>
            </a:pPr>
            <a:r>
              <a:rPr sz="1150" b="0" i="0">
                <a:solidFill>
                  <a:srgbClr val="21295C"/>
                </a:solidFill>
                <a:latin typeface="Arial"/>
              </a:rPr>
              <a:t/>
            </a:r>
            <a:r>
              <a:rPr sz="1150" b="1" i="0">
                <a:solidFill>
                  <a:srgbClr val="21295C"/>
                </a:solidFill>
                <a:latin typeface="Arial"/>
              </a:rPr>
              <a:t>Слева от черты веса не трогаются: это смена численного метода. Справа — меняются.</a:t>
            </a:r>
          </a:p>
          <a:p>
            <a:pPr algn="l">
              <a:lnSpc>
                <a:spcPct val="126000"/>
              </a:lnSpc>
              <a:spcBef>
                <a:spcPts val="700"/>
              </a:spcBef>
            </a:pPr>
            <a:r>
              <a:rPr sz="1150" b="0" i="0">
                <a:solidFill>
                  <a:srgbClr val="21295C"/>
                </a:solidFill>
                <a:latin typeface="Arial"/>
              </a:rPr>
              <a:t/>
            </a:r>
            <a:r>
              <a:rPr sz="1150" b="1" i="0">
                <a:solidFill>
                  <a:srgbClr val="21295C"/>
                </a:solidFill>
                <a:latin typeface="Arial"/>
              </a:rPr>
              <a:t>Было:</a:t>
            </a:r>
            <a:r>
              <a:rPr sz="1150" b="0" i="0">
                <a:solidFill>
                  <a:srgbClr val="21295C"/>
                </a:solidFill>
                <a:latin typeface="Arial"/>
              </a:rPr>
              <a:t> 50 шагов × 2 прохода ради CFG = </a:t>
            </a:r>
            <a:r>
              <a:rPr sz="1150" b="1" i="0">
                <a:solidFill>
                  <a:srgbClr val="21295C"/>
                </a:solidFill>
                <a:latin typeface="Arial"/>
              </a:rPr>
              <a:t>100 проходов сети</a:t>
            </a:r>
            <a:r>
              <a:rPr sz="1150" b="0" i="0">
                <a:solidFill>
                  <a:srgbClr val="21295C"/>
                </a:solidFill>
                <a:latin typeface="Arial"/>
              </a:rPr>
              <a:t>, ≈20 секунд на RTX 4090. </a:t>
            </a:r>
            <a:r>
              <a:rPr sz="1150" b="1" i="0">
                <a:solidFill>
                  <a:srgbClr val="21295C"/>
                </a:solidFill>
                <a:latin typeface="Arial"/>
              </a:rPr>
              <a:t>Стало:</a:t>
            </a:r>
            <a:r>
              <a:rPr sz="1150" b="0" i="0">
                <a:solidFill>
                  <a:srgbClr val="21295C"/>
                </a:solidFill>
                <a:latin typeface="Arial"/>
              </a:rPr>
              <a:t> 4 шага × 1 проход, обусловливание дистиллировано = </a:t>
            </a:r>
            <a:r>
              <a:rPr sz="1150" b="1" i="0">
                <a:solidFill>
                  <a:srgbClr val="21295C"/>
                </a:solidFill>
                <a:latin typeface="Arial"/>
              </a:rPr>
              <a:t>4 прохода</a:t>
            </a:r>
            <a:r>
              <a:rPr sz="1150" b="0" i="0">
                <a:solidFill>
                  <a:srgbClr val="21295C"/>
                </a:solidFill>
                <a:latin typeface="Arial"/>
              </a:rPr>
              <a:t>, ≈3 секунды на той же карте. </a:t>
            </a:r>
            <a:r>
              <a:rPr sz="1150" b="1" i="0">
                <a:solidFill>
                  <a:srgbClr val="21295C"/>
                </a:solidFill>
                <a:latin typeface="Arial"/>
              </a:rPr>
              <a:t>Разница — в 25 раз при том же размере сети.</a:t>
            </a:r>
          </a:p>
          <a:p>
            <a:pPr algn="l">
              <a:lnSpc>
                <a:spcPct val="126000"/>
              </a:lnSpc>
              <a:spcBef>
                <a:spcPts val="700"/>
              </a:spcBef>
            </a:pPr>
            <a:r>
              <a:rPr sz="1150" b="0" i="0">
                <a:solidFill>
                  <a:srgbClr val="21295C"/>
                </a:solidFill>
                <a:latin typeface="Arial"/>
              </a:rPr>
              <a:t/>
            </a:r>
            <a:r>
              <a:rPr sz="1150" b="1" i="0">
                <a:solidFill>
                  <a:srgbClr val="21295C"/>
                </a:solidFill>
                <a:latin typeface="Arial"/>
              </a:rPr>
              <a:t>Чем заплачено: разнообразием.</a:t>
            </a:r>
            <a:r>
              <a:rPr sz="1150" b="0" i="0">
                <a:solidFill>
                  <a:srgbClr val="21295C"/>
                </a:solidFill>
                <a:latin typeface="Arial"/>
              </a:rPr>
              <a:t> Ученик сходится к усреднённому хорошему ответу учителя — десять разных стартовых шумов дают почти одну картинку.</a:t>
            </a:r>
          </a:p>
          <a:p>
            <a:pPr algn="l">
              <a:lnSpc>
                <a:spcPct val="126000"/>
              </a:lnSpc>
              <a:spcBef>
                <a:spcPts val="700"/>
              </a:spcBef>
            </a:pPr>
            <a:r>
              <a:rPr sz="1150" b="0" i="0">
                <a:solidFill>
                  <a:srgbClr val="21295C"/>
                </a:solidFill>
                <a:latin typeface="Arial"/>
              </a:rPr>
              <a:t/>
            </a:r>
            <a:r>
              <a:rPr sz="1150" b="1" i="0">
                <a:solidFill>
                  <a:srgbClr val="21295C"/>
                </a:solidFill>
                <a:latin typeface="Arial"/>
              </a:rPr>
              <a:t>Больше шагов не значит лучше.</a:t>
            </a:r>
            <a:r>
              <a:rPr sz="1150" b="0" i="0">
                <a:solidFill>
                  <a:srgbClr val="21295C"/>
                </a:solidFill>
                <a:latin typeface="Arial"/>
              </a:rPr>
              <a:t> После 30–50 шагов прирост уходит в шум, а время растёт линейно.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374904" y="3612599"/>
            <a:ext cx="11441887"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1024 · 1024 · 3 = 3 145 728 чисел</a:t>
            </a:r>
            <a:r>
              <a:rPr sz="1300" b="0" i="0">
                <a:solidFill>
                  <a:srgbClr val="21295C"/>
                </a:solidFill>
                <a:latin typeface="Arial"/>
              </a:rPr>
              <a:t> → автокодировщик → </a:t>
            </a:r>
            <a:r>
              <a:rPr sz="1300" b="1" i="0">
                <a:solidFill>
                  <a:srgbClr val="21295C"/>
                </a:solidFill>
                <a:latin typeface="Arial"/>
              </a:rPr>
              <a:t>128 · 128 · 16 = 262 144 числа</a:t>
            </a:r>
            <a:r>
              <a:rPr sz="1300" b="0" i="0">
                <a:solidFill>
                  <a:srgbClr val="21295C"/>
                </a:solidFill>
                <a:latin typeface="Arial"/>
              </a:rPr>
              <a:t> → патч 2×2 → </a:t>
            </a:r>
            <a:r>
              <a:rPr sz="1300" b="1" i="0">
                <a:solidFill>
                  <a:srgbClr val="21295C"/>
                </a:solidFill>
                <a:latin typeface="Arial"/>
              </a:rPr>
              <a:t>4096 токенов</a:t>
            </a:r>
          </a:p>
          <a:p>
            <a:pPr algn="l">
              <a:lnSpc>
                <a:spcPct val="126000"/>
              </a:lnSpc>
              <a:spcBef>
                <a:spcPts val="700"/>
              </a:spcBef>
            </a:pPr>
            <a:r>
              <a:rPr sz="1300" b="0" i="0">
                <a:solidFill>
                  <a:srgbClr val="21295C"/>
                </a:solidFill>
                <a:latin typeface="Arial"/>
              </a:rPr>
              <a:t/>
            </a:r>
            <a:r>
              <a:rPr sz="1300" b="1" i="0">
                <a:solidFill>
                  <a:srgbClr val="21295C"/>
                </a:solidFill>
                <a:latin typeface="Arial"/>
              </a:rPr>
              <a:t>Картинка 1024×1024 — это 4096 токенов.</a:t>
            </a:r>
            <a:r>
              <a:rPr sz="1300" b="0" i="0">
                <a:solidFill>
                  <a:srgbClr val="21295C"/>
                </a:solidFill>
                <a:latin typeface="Arial"/>
              </a:rPr>
              <a:t> Ровно того сорта, по которым считается карта внимания каждый-против-каждого.</a:t>
            </a:r>
          </a:p>
          <a:p>
            <a:pPr algn="l">
              <a:lnSpc>
                <a:spcPct val="126000"/>
              </a:lnSpc>
              <a:spcBef>
                <a:spcPts val="700"/>
              </a:spcBef>
            </a:pPr>
            <a:r>
              <a:rPr sz="1300" b="0" i="0">
                <a:solidFill>
                  <a:srgbClr val="21295C"/>
                </a:solidFill>
                <a:latin typeface="Arial"/>
              </a:rPr>
              <a:t/>
            </a:r>
            <a:r>
              <a:rPr sz="1300" b="1" i="0">
                <a:solidFill>
                  <a:srgbClr val="21295C"/>
                </a:solidFill>
                <a:latin typeface="Arial"/>
              </a:rPr>
              <a:t>Прямое сравнение с языковой моделью.</a:t>
            </a:r>
            <a:r>
              <a:rPr sz="1300" b="0" i="0">
                <a:solidFill>
                  <a:srgbClr val="21295C"/>
                </a:solidFill>
                <a:latin typeface="Arial"/>
              </a:rPr>
              <a:t> Там токен — </a:t>
            </a:r>
            <a:r>
              <a:rPr sz="1300" b="1" i="0">
                <a:solidFill>
                  <a:srgbClr val="21295C"/>
                </a:solidFill>
                <a:latin typeface="Arial"/>
              </a:rPr>
              <a:t>идентификатор из словаря ~200 тыс.</a:t>
            </a:r>
            <a:r>
              <a:rPr sz="1300" b="0" i="0">
                <a:solidFill>
                  <a:srgbClr val="21295C"/>
                </a:solidFill>
                <a:latin typeface="Arial"/>
              </a:rPr>
              <a:t>, зафиксированного до обучения. Здесь </a:t>
            </a:r>
            <a:r>
              <a:rPr sz="1300" b="1" i="0">
                <a:solidFill>
                  <a:srgbClr val="21295C"/>
                </a:solidFill>
                <a:latin typeface="Arial"/>
              </a:rPr>
              <a:t>латентный патч — непрерывный вектор</a:t>
            </a:r>
            <a:r>
              <a:rPr sz="1300" b="0" i="0">
                <a:solidFill>
                  <a:srgbClr val="21295C"/>
                </a:solidFill>
                <a:latin typeface="Arial"/>
              </a:rPr>
              <a:t> из 64 чисел. </a:t>
            </a:r>
            <a:r>
              <a:rPr sz="1300" b="1" i="0">
                <a:solidFill>
                  <a:srgbClr val="21295C"/>
                </a:solidFill>
                <a:latin typeface="Arial"/>
              </a:rPr>
              <a:t>Словаря нет вовсе</a:t>
            </a:r>
            <a:r>
              <a:rPr sz="1300" b="0" i="0">
                <a:solidFill>
                  <a:srgbClr val="21295C"/>
                </a:solidFill>
                <a:latin typeface="Arial"/>
              </a:rPr>
              <a:t> — значит, маскировать нечего и запрещать нечему.</a:t>
            </a:r>
          </a:p>
        </p:txBody>
      </p:sp>
      <p:sp>
        <p:nvSpPr>
          <p:cNvPr id="18" name="TextBox 17"/>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Квадратичность никуда не делась.</a:t>
            </a:r>
            <a:r>
              <a:rPr sz="1300" b="0" i="0">
                <a:solidFill>
                  <a:srgbClr val="21295C"/>
                </a:solidFill>
                <a:latin typeface="Arial"/>
              </a:rPr>
              <a:t> 4 096 токенов → ≈16,8 млн пар. 16 384 токена → ≈268 млн пар. </a:t>
            </a:r>
            <a:r>
              <a:rPr sz="1300" b="1" i="0">
                <a:solidFill>
                  <a:srgbClr val="21295C"/>
                </a:solidFill>
                <a:latin typeface="Arial"/>
              </a:rPr>
              <a:t>Удвоение стороны картинки увеличивает стоимость внимания в шестнадцать раз</a:t>
            </a:r>
            <a:r>
              <a:rPr sz="1300" b="0" i="0">
                <a:solidFill>
                  <a:srgbClr val="21295C"/>
                </a:solidFill>
                <a:latin typeface="Arial"/>
              </a:rPr>
              <a:t> — вот почему 4K дороже, чем вчетверо.</a:t>
            </a:r>
          </a:p>
          <a:p>
            <a:pPr algn="l">
              <a:lnSpc>
                <a:spcPct val="126000"/>
              </a:lnSpc>
              <a:spcBef>
                <a:spcPts val="700"/>
              </a:spcBef>
            </a:pPr>
            <a:r>
              <a:rPr sz="1300" b="0" i="0">
                <a:solidFill>
                  <a:srgbClr val="21295C"/>
                </a:solidFill>
                <a:latin typeface="Arial"/>
              </a:rPr>
              <a:t/>
            </a:r>
            <a:r>
              <a:rPr sz="1300" b="1" i="0">
                <a:solidFill>
                  <a:srgbClr val="21295C"/>
                </a:solidFill>
                <a:latin typeface="Arial"/>
              </a:rPr>
              <a:t>Автокодировщик работает токенизатором: обучен отдельно и раньше, и он ставит потолок.</a:t>
            </a:r>
            <a:r>
              <a:rPr sz="1300" b="0" i="0">
                <a:solidFill>
                  <a:srgbClr val="21295C"/>
                </a:solidFill>
                <a:latin typeface="Arial"/>
              </a:rPr>
              <a:t> Качество восстановления — </a:t>
            </a:r>
            <a:r>
              <a:rPr sz="1300" b="1" i="0">
                <a:solidFill>
                  <a:srgbClr val="21295C"/>
                </a:solidFill>
                <a:latin typeface="Arial"/>
              </a:rPr>
              <a:t>25,12 дБ</a:t>
            </a:r>
            <a:r>
              <a:rPr sz="1300" b="0" i="0">
                <a:solidFill>
                  <a:srgbClr val="21295C"/>
                </a:solidFill>
                <a:latin typeface="Arial"/>
              </a:rPr>
              <a:t> на четырёх каналах против </a:t>
            </a:r>
            <a:r>
              <a:rPr sz="1300" b="1" i="0">
                <a:solidFill>
                  <a:srgbClr val="21295C"/>
                </a:solidFill>
                <a:latin typeface="Arial"/>
              </a:rPr>
              <a:t>28,62 дБ</a:t>
            </a:r>
            <a:r>
              <a:rPr sz="1300" b="0" i="0">
                <a:solidFill>
                  <a:srgbClr val="21295C"/>
                </a:solidFill>
                <a:latin typeface="Arial"/>
              </a:rPr>
              <a:t> на шестнадцати. Диффузионная сеть этот потолок не перешагнёт.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Главный рычаг — токенизатор; размер модели здесь вторичен.</a:t>
            </a:r>
          </a:p>
        </p:txBody>
      </p:sp>
      <p:sp>
        <p:nvSpPr>
          <p:cNvPr id="19" name="Rectangle 18"/>
          <p:cNvSpPr/>
          <p:nvPr/>
        </p:nvSpPr>
        <p:spPr>
          <a:xfrm>
            <a:off x="6091275" y="3704039"/>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Rounded Rectangle 15"/>
          <p:cNvSpPr/>
          <p:nvPr/>
        </p:nvSpPr>
        <p:spPr>
          <a:xfrm>
            <a:off x="374904" y="4031314"/>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22754"/>
            <a:ext cx="5373471" cy="2113453"/>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Q ← из латента картинки.</a:t>
            </a:r>
            <a:r>
              <a:rPr sz="1050" b="0" i="0">
                <a:solidFill>
                  <a:srgbClr val="21295C"/>
                </a:solidFill>
                <a:latin typeface="Arial"/>
              </a:rPr>
              <a:t> </a:t>
            </a:r>
            <a:r>
              <a:rPr sz="1050" b="1" i="0">
                <a:solidFill>
                  <a:srgbClr val="21295C"/>
                </a:solidFill>
                <a:latin typeface="Arial"/>
              </a:rPr>
              <a:t>K и V ← из токенов описания.</a:t>
            </a:r>
            <a:r>
              <a:rPr sz="1050" b="0" i="0">
                <a:solidFill>
                  <a:srgbClr val="21295C"/>
                </a:solidFill>
                <a:latin typeface="Arial"/>
              </a:rPr>
              <a:t> Тот же механизм Q/K/V: «Q про текущий шаг, K и V про контекст» превращается в </a:t>
            </a:r>
            <a:r>
              <a:rPr sz="1050" b="1" i="0">
                <a:solidFill>
                  <a:srgbClr val="21295C"/>
                </a:solidFill>
                <a:latin typeface="Arial"/>
              </a:rPr>
              <a:t>«Q про картинку, K и V про текст»</a:t>
            </a:r>
            <a:r>
              <a:rPr sz="1050" b="0" i="0">
                <a:solidFill>
                  <a:srgbClr val="21295C"/>
                </a:solidFill>
                <a:latin typeface="Arial"/>
              </a:rPr>
              <a:t>.</a:t>
            </a:r>
          </a:p>
          <a:p>
            <a:pPr algn="l">
              <a:lnSpc>
                <a:spcPct val="126000"/>
              </a:lnSpc>
              <a:spcBef>
                <a:spcPts val="700"/>
              </a:spcBef>
            </a:pPr>
            <a:r>
              <a:rPr sz="1050" b="0" i="0">
                <a:solidFill>
                  <a:srgbClr val="21295C"/>
                </a:solidFill>
                <a:latin typeface="Arial"/>
              </a:rPr>
              <a:t/>
            </a:r>
            <a:r>
              <a:rPr sz="1050" b="1" i="0">
                <a:solidFill>
                  <a:srgbClr val="21295C"/>
                </a:solidFill>
                <a:latin typeface="Arial"/>
              </a:rPr>
              <a:t>Поколение U-Net:</a:t>
            </a:r>
            <a:r>
              <a:rPr sz="1050" b="0" i="0">
                <a:solidFill>
                  <a:srgbClr val="21295C"/>
                </a:solidFill>
                <a:latin typeface="Arial"/>
              </a:rPr>
              <a:t> карта внимания прямоугольная — </a:t>
            </a:r>
            <a:r>
              <a:rPr sz="1050" b="1" i="0">
                <a:solidFill>
                  <a:srgbClr val="21295C"/>
                </a:solidFill>
                <a:latin typeface="Arial"/>
              </a:rPr>
              <a:t>4096 областей картинки против 77 слов</a:t>
            </a:r>
            <a:r>
              <a:rPr sz="1050" b="0" i="0">
                <a:solidFill>
                  <a:srgbClr val="21295C"/>
                </a:solidFill>
                <a:latin typeface="Arial"/>
              </a:rPr>
              <a:t>. Её можно отрисовать и увидеть, какие области откликнулись на слово «кот».</a:t>
            </a:r>
          </a:p>
          <a:p>
            <a:pPr algn="l">
              <a:lnSpc>
                <a:spcPct val="126000"/>
              </a:lnSpc>
              <a:spcBef>
                <a:spcPts val="700"/>
              </a:spcBef>
            </a:pPr>
            <a:r>
              <a:rPr sz="1050" b="0" i="0">
                <a:solidFill>
                  <a:srgbClr val="21295C"/>
                </a:solidFill>
                <a:latin typeface="Arial"/>
              </a:rPr>
              <a:t/>
            </a:r>
            <a:r>
              <a:rPr sz="1050" b="1" i="0">
                <a:solidFill>
                  <a:srgbClr val="21295C"/>
                </a:solidFill>
                <a:latin typeface="Arial"/>
              </a:rPr>
              <a:t>Поколение MMDiT:</a:t>
            </a:r>
            <a:r>
              <a:rPr sz="1050" b="0" i="0">
                <a:solidFill>
                  <a:srgbClr val="21295C"/>
                </a:solidFill>
                <a:latin typeface="Arial"/>
              </a:rPr>
              <a:t> токены текста и картинки склеены в одну последовательность, карта квадратная — </a:t>
            </a:r>
            <a:r>
              <a:rPr sz="1050" b="1" i="0">
                <a:solidFill>
                  <a:srgbClr val="21295C"/>
                </a:solidFill>
                <a:latin typeface="Arial"/>
              </a:rPr>
              <a:t>4608 × 4608</a:t>
            </a:r>
            <a:r>
              <a:rPr sz="1050" b="0" i="0">
                <a:solidFill>
                  <a:srgbClr val="21295C"/>
                </a:solidFill>
                <a:latin typeface="Arial"/>
              </a:rPr>
              <a:t>. Текст теперь тоже смотрит на картинку.</a:t>
            </a:r>
          </a:p>
        </p:txBody>
      </p:sp>
      <p:sp>
        <p:nvSpPr>
          <p:cNvPr id="18" name="TextBox 17"/>
          <p:cNvSpPr txBox="1"/>
          <p:nvPr/>
        </p:nvSpPr>
        <p:spPr>
          <a:xfrm>
            <a:off x="6278727" y="4122754"/>
            <a:ext cx="5373471" cy="2113453"/>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Расхождение с языковой моделью, названное прямо: истории нет вообще.</a:t>
            </a:r>
            <a:r>
              <a:rPr sz="1050" b="0" i="0">
                <a:solidFill>
                  <a:srgbClr val="21295C"/>
                </a:solidFill>
                <a:latin typeface="Arial"/>
              </a:rPr>
              <a:t> Там контекст растёт с каждым токеном и служит условием следующего. Здесь описание — </a:t>
            </a:r>
            <a:r>
              <a:rPr sz="1050" b="1" i="0">
                <a:solidFill>
                  <a:srgbClr val="21295C"/>
                </a:solidFill>
                <a:latin typeface="Arial"/>
              </a:rPr>
              <a:t>постоянное условие, неизменное от первого шага до пятидесятого</a:t>
            </a:r>
            <a:r>
              <a:rPr sz="1050" b="0" i="0">
                <a:solidFill>
                  <a:srgbClr val="21295C"/>
                </a:solidFill>
                <a:latin typeface="Arial"/>
              </a:rPr>
              <a:t>. Накопления нет, места «рядом с вопросом» нет.</a:t>
            </a:r>
          </a:p>
          <a:p>
            <a:pPr algn="l">
              <a:lnSpc>
                <a:spcPct val="126000"/>
              </a:lnSpc>
              <a:spcBef>
                <a:spcPts val="700"/>
              </a:spcBef>
            </a:pPr>
            <a:r>
              <a:rPr sz="1050" b="0" i="0">
                <a:solidFill>
                  <a:srgbClr val="21295C"/>
                </a:solidFill>
                <a:latin typeface="Arial"/>
              </a:rPr>
              <a:t/>
            </a:r>
            <a:r>
              <a:rPr sz="1050" b="1" i="0">
                <a:solidFill>
                  <a:srgbClr val="21295C"/>
                </a:solidFill>
                <a:latin typeface="Arial"/>
              </a:rPr>
              <a:t>Текстовый кодировщик — чужая замороженная модель внутри генератора:</a:t>
            </a:r>
            <a:r>
              <a:rPr sz="1050" b="0" i="0">
                <a:solidFill>
                  <a:srgbClr val="21295C"/>
                </a:solidFill>
                <a:latin typeface="Arial"/>
              </a:rPr>
              <a:t> у SD3 их три, у FLUX.1 — два. </a:t>
            </a:r>
            <a:r>
              <a:rPr sz="1050" b="1" i="0">
                <a:solidFill>
                  <a:srgbClr val="21295C"/>
                </a:solidFill>
                <a:latin typeface="Arial"/>
              </a:rPr>
              <a:t>Увеличение кодировщика даёт больший прирост качества, чем увеличение самой диффузионной сети.</a:t>
            </a:r>
          </a:p>
        </p:txBody>
      </p:sp>
      <p:sp>
        <p:nvSpPr>
          <p:cNvPr id="19" name="Rectangle 18"/>
          <p:cNvSpPr/>
          <p:nvPr/>
        </p:nvSpPr>
        <p:spPr>
          <a:xfrm>
            <a:off x="6091275" y="4122754"/>
            <a:ext cx="9144" cy="1841342"/>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110642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000" b="0" i="0">
                <a:solidFill>
                  <a:srgbClr val="21295C"/>
                </a:solidFill>
                <a:latin typeface="Arial"/>
              </a:rPr>
              <a:t>• Направление: рост → больше случайности, меньше предсказуемости</a:t>
            </a:r>
          </a:p>
          <a:p>
            <a:pPr algn="l">
              <a:lnSpc>
                <a:spcPct val="126000"/>
              </a:lnSpc>
            </a:pPr>
            <a:r>
              <a:rPr sz="1000" b="0" i="0">
                <a:solidFill>
                  <a:srgbClr val="21295C"/>
                </a:solidFill>
                <a:latin typeface="Arial"/>
              </a:rPr>
              <a:t>• Цена вычислений: ноль — одно деление над готовыми логитами</a:t>
            </a:r>
          </a:p>
          <a:p>
            <a:pPr algn="l">
              <a:lnSpc>
                <a:spcPct val="126000"/>
              </a:lnSpc>
            </a:pPr>
            <a:r>
              <a:rPr sz="1000" b="0" i="0">
                <a:solidFill>
                  <a:srgbClr val="21295C"/>
                </a:solidFill>
                <a:latin typeface="Arial"/>
              </a:rPr>
              <a:t>• Где сидит случайность: в работе сэмплера, на каждом шаге</a:t>
            </a:r>
          </a:p>
        </p:txBody>
      </p:sp>
      <p:sp>
        <p:nvSpPr>
          <p:cNvPr id="18" name="Rounded Rectangle 17"/>
          <p:cNvSpPr/>
          <p:nvPr/>
        </p:nvSpPr>
        <p:spPr>
          <a:xfrm>
            <a:off x="6251295" y="409446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4249910"/>
            <a:ext cx="5108295" cy="110642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90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900" b="0" i="0">
                <a:solidFill>
                  <a:srgbClr val="21295C"/>
                </a:solidFill>
                <a:latin typeface="Arial"/>
              </a:rPr>
              <a:t>• Цена вычислений: два прохода сети на каждом шаге</a:t>
            </a:r>
          </a:p>
          <a:p>
            <a:pPr algn="l">
              <a:lnSpc>
                <a:spcPct val="126000"/>
              </a:lnSpc>
            </a:pPr>
            <a:r>
              <a:rPr sz="900" b="0" i="0">
                <a:solidFill>
                  <a:srgbClr val="21295C"/>
                </a:solidFill>
                <a:latin typeface="Arial"/>
              </a:rPr>
              <a:t>• К случайности отношения не имеет вовсе: она сидит в стартовом шуме</a:t>
            </a:r>
          </a:p>
        </p:txBody>
      </p:sp>
      <p:sp>
        <p:nvSpPr>
          <p:cNvPr id="20" name="Rounded Rectangle 19"/>
          <p:cNvSpPr/>
          <p:nvPr/>
        </p:nvSpPr>
        <p:spPr>
          <a:xfrm>
            <a:off x="374904" y="5603222"/>
            <a:ext cx="11441887" cy="63298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694662"/>
            <a:ext cx="11112703" cy="165662"/>
          </a:xfrm>
          <a:prstGeom prst="rect">
            <a:avLst/>
          </a:prstGeom>
          <a:noFill/>
        </p:spPr>
        <p:txBody>
          <a:bodyPr wrap="square" lIns="0" rIns="0" tIns="0" bIns="0" anchor="t">
            <a:spAutoFit/>
          </a:bodyPr>
          <a:lstStyle/>
          <a:p>
            <a:pPr algn="l">
              <a:lnSpc>
                <a:spcPct val="124000"/>
              </a:lnSpc>
            </a:pPr>
            <a:r>
              <a:rPr sz="850" b="1" i="0">
                <a:solidFill>
                  <a:srgbClr val="21295C"/>
                </a:solidFill>
                <a:latin typeface="Arial"/>
              </a:rPr>
              <a:t>Где аналогия работает.</a:t>
            </a:r>
            <a:r>
              <a:rPr sz="800" b="0" i="0">
                <a:solidFill>
                  <a:srgbClr val="21295C"/>
                </a:solidFill>
                <a:latin typeface="Arial"/>
              </a:rPr>
              <a:t> Оба — единственная «ручка творчества» при запуске. Оба не меняют веса и не добавляют знаний. У обоих есть рабочий диапазон, за которым выход деградирует.</a:t>
            </a:r>
          </a:p>
        </p:txBody>
      </p:sp>
      <p:sp>
        <p:nvSpPr>
          <p:cNvPr id="22" name="Rectangle 21"/>
          <p:cNvSpPr/>
          <p:nvPr/>
        </p:nvSpPr>
        <p:spPr>
          <a:xfrm>
            <a:off x="539496" y="6006629"/>
            <a:ext cx="1837123" cy="365760"/>
          </a:xfrm>
          <a:prstGeom prst="rect">
            <a:avLst/>
          </a:prstGeom>
          <a:solidFill>
            <a:srgbClr val="065A82"/>
          </a:solidFill>
          <a:ln>
            <a:noFill/>
          </a:ln>
          <a:effectLst/>
        </p:spPr>
        <p:txBody>
          <a:bodyPr rtlCol="0" anchor="ctr"/>
          <a:lstStyle/>
          <a:p>
            <a:pPr algn="ctr"/>
          </a:p>
        </p:txBody>
      </p:sp>
      <p:sp>
        <p:nvSpPr>
          <p:cNvPr id="23" name="TextBox 22"/>
          <p:cNvSpPr txBox="1"/>
          <p:nvPr/>
        </p:nvSpPr>
        <p:spPr>
          <a:xfrm>
            <a:off x="685800" y="6006629"/>
            <a:ext cx="1544515"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
            </a:r>
          </a:p>
        </p:txBody>
      </p:sp>
      <p:sp>
        <p:nvSpPr>
          <p:cNvPr id="24" name="Rectangle 23"/>
          <p:cNvSpPr/>
          <p:nvPr/>
        </p:nvSpPr>
        <p:spPr>
          <a:xfrm>
            <a:off x="2376619" y="6006629"/>
            <a:ext cx="3880093" cy="365760"/>
          </a:xfrm>
          <a:prstGeom prst="rect">
            <a:avLst/>
          </a:prstGeom>
          <a:solidFill>
            <a:srgbClr val="065A82"/>
          </a:solidFill>
          <a:ln>
            <a:noFill/>
          </a:ln>
          <a:effectLst/>
        </p:spPr>
        <p:txBody>
          <a:bodyPr rtlCol="0" anchor="ctr"/>
          <a:lstStyle/>
          <a:p>
            <a:pPr algn="ctr"/>
          </a:p>
        </p:txBody>
      </p:sp>
      <p:sp>
        <p:nvSpPr>
          <p:cNvPr id="25" name="TextBox 24"/>
          <p:cNvSpPr txBox="1"/>
          <p:nvPr/>
        </p:nvSpPr>
        <p:spPr>
          <a:xfrm>
            <a:off x="2522923" y="6006629"/>
            <a:ext cx="3587485"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Температура</a:t>
            </a:r>
          </a:p>
        </p:txBody>
      </p:sp>
      <p:sp>
        <p:nvSpPr>
          <p:cNvPr id="26" name="Rectangle 25"/>
          <p:cNvSpPr/>
          <p:nvPr/>
        </p:nvSpPr>
        <p:spPr>
          <a:xfrm>
            <a:off x="6256712" y="6006629"/>
            <a:ext cx="5395486" cy="365760"/>
          </a:xfrm>
          <a:prstGeom prst="rect">
            <a:avLst/>
          </a:prstGeom>
          <a:solidFill>
            <a:srgbClr val="065A82"/>
          </a:solidFill>
          <a:ln>
            <a:noFill/>
          </a:ln>
          <a:effectLst/>
        </p:spPr>
        <p:txBody>
          <a:bodyPr rtlCol="0" anchor="ctr"/>
          <a:lstStyle/>
          <a:p>
            <a:pPr algn="ctr"/>
          </a:p>
        </p:txBody>
      </p:sp>
      <p:sp>
        <p:nvSpPr>
          <p:cNvPr id="27" name="TextBox 26"/>
          <p:cNvSpPr txBox="1"/>
          <p:nvPr/>
        </p:nvSpPr>
        <p:spPr>
          <a:xfrm>
            <a:off x="6403016" y="6006629"/>
            <a:ext cx="5102878"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CFG</a:t>
            </a:r>
          </a:p>
        </p:txBody>
      </p:sp>
      <p:sp>
        <p:nvSpPr>
          <p:cNvPr id="28" name="Rectangle 27"/>
          <p:cNvSpPr/>
          <p:nvPr/>
        </p:nvSpPr>
        <p:spPr>
          <a:xfrm>
            <a:off x="539496" y="6372389"/>
            <a:ext cx="1837123" cy="45630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685800" y="6372389"/>
            <a:ext cx="1544515"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Что делает с мнением модели</a:t>
            </a:r>
          </a:p>
        </p:txBody>
      </p:sp>
      <p:sp>
        <p:nvSpPr>
          <p:cNvPr id="30" name="Rectangle 29"/>
          <p:cNvSpPr/>
          <p:nvPr/>
        </p:nvSpPr>
        <p:spPr>
          <a:xfrm>
            <a:off x="2376619" y="6372389"/>
            <a:ext cx="3880093" cy="456309"/>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2522923" y="6372389"/>
            <a:ext cx="3587485"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ничего</a:t>
            </a:r>
            <a:r>
              <a:rPr sz="800" b="0" i="0">
                <a:solidFill>
                  <a:srgbClr val="21295C"/>
                </a:solidFill>
                <a:latin typeface="Arial"/>
              </a:rPr>
              <a:t>: порядок кандидатов не меняется никогда, это делитель логитов</a:t>
            </a:r>
          </a:p>
        </p:txBody>
      </p:sp>
      <p:sp>
        <p:nvSpPr>
          <p:cNvPr id="32" name="Rectangle 31"/>
          <p:cNvSpPr/>
          <p:nvPr/>
        </p:nvSpPr>
        <p:spPr>
          <a:xfrm>
            <a:off x="6256712" y="6372389"/>
            <a:ext cx="5395486" cy="456309"/>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6403016" y="6372389"/>
            <a:ext cx="5102878"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меняет само предсказание</a:t>
            </a:r>
            <a:r>
              <a:rPr sz="800" b="0" i="0">
                <a:solidFill>
                  <a:srgbClr val="21295C"/>
                </a:solidFill>
                <a:latin typeface="Arial"/>
              </a:rPr>
              <a:t>: при w = 7 итоговый вектор лежит там, где модель не предсказывала ничего</a:t>
            </a:r>
          </a:p>
        </p:txBody>
      </p:sp>
      <p:sp>
        <p:nvSpPr>
          <p:cNvPr id="34" name="Rectangle 33"/>
          <p:cNvSpPr/>
          <p:nvPr/>
        </p:nvSpPr>
        <p:spPr>
          <a:xfrm>
            <a:off x="539496" y="6828698"/>
            <a:ext cx="1837123" cy="36576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685800" y="6828698"/>
            <a:ext cx="1544515"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Направление</a:t>
            </a:r>
          </a:p>
        </p:txBody>
      </p:sp>
      <p:sp>
        <p:nvSpPr>
          <p:cNvPr id="36" name="Rectangle 35"/>
          <p:cNvSpPr/>
          <p:nvPr/>
        </p:nvSpPr>
        <p:spPr>
          <a:xfrm>
            <a:off x="2376619" y="6828698"/>
            <a:ext cx="3880093" cy="365760"/>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2522923" y="6828698"/>
            <a:ext cx="3587485"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рост → больше случайности</a:t>
            </a:r>
          </a:p>
        </p:txBody>
      </p:sp>
      <p:sp>
        <p:nvSpPr>
          <p:cNvPr id="38" name="Rectangle 37"/>
          <p:cNvSpPr/>
          <p:nvPr/>
        </p:nvSpPr>
        <p:spPr>
          <a:xfrm>
            <a:off x="6256712" y="6828698"/>
            <a:ext cx="5395486" cy="365760"/>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6403016" y="6828698"/>
            <a:ext cx="5102878"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рост → </a:t>
            </a:r>
            <a:r>
              <a:rPr sz="800" b="1" i="0">
                <a:solidFill>
                  <a:srgbClr val="21295C"/>
                </a:solidFill>
                <a:latin typeface="Arial"/>
              </a:rPr>
              <a:t>меньше</a:t>
            </a:r>
            <a:r>
              <a:rPr sz="800" b="0" i="0">
                <a:solidFill>
                  <a:srgbClr val="21295C"/>
                </a:solidFill>
                <a:latin typeface="Arial"/>
              </a:rPr>
              <a:t> разнообразия. Противоположное</a:t>
            </a:r>
          </a:p>
        </p:txBody>
      </p:sp>
      <p:sp>
        <p:nvSpPr>
          <p:cNvPr id="40" name="Rectangle 39"/>
          <p:cNvSpPr/>
          <p:nvPr/>
        </p:nvSpPr>
        <p:spPr>
          <a:xfrm>
            <a:off x="539496" y="7194458"/>
            <a:ext cx="1837123" cy="365760"/>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685800" y="7194458"/>
            <a:ext cx="1544515"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Цена</a:t>
            </a:r>
          </a:p>
        </p:txBody>
      </p:sp>
      <p:sp>
        <p:nvSpPr>
          <p:cNvPr id="42" name="Rectangle 41"/>
          <p:cNvSpPr/>
          <p:nvPr/>
        </p:nvSpPr>
        <p:spPr>
          <a:xfrm>
            <a:off x="2376619" y="7194458"/>
            <a:ext cx="3880093" cy="365760"/>
          </a:xfrm>
          <a:prstGeom prst="rect">
            <a:avLst/>
          </a:prstGeom>
          <a:solidFill>
            <a:srgbClr val="FFFFFF"/>
          </a:solidFill>
          <a:ln w="12700">
            <a:solidFill>
              <a:srgbClr val="D9E2EC"/>
            </a:solidFill>
          </a:ln>
          <a:effectLst/>
        </p:spPr>
        <p:txBody>
          <a:bodyPr rtlCol="0" anchor="ctr"/>
          <a:lstStyle/>
          <a:p>
            <a:pPr algn="ctr"/>
          </a:p>
        </p:txBody>
      </p:sp>
      <p:sp>
        <p:nvSpPr>
          <p:cNvPr id="43" name="TextBox 42"/>
          <p:cNvSpPr txBox="1"/>
          <p:nvPr/>
        </p:nvSpPr>
        <p:spPr>
          <a:xfrm>
            <a:off x="2522923" y="7194458"/>
            <a:ext cx="3587485"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ноль</a:t>
            </a:r>
            <a:r>
              <a:rPr sz="800" b="0" i="0">
                <a:solidFill>
                  <a:srgbClr val="21295C"/>
                </a:solidFill>
                <a:latin typeface="Arial"/>
              </a:rPr>
              <a:t>: одно деление над готовыми логитами</a:t>
            </a:r>
          </a:p>
        </p:txBody>
      </p:sp>
      <p:sp>
        <p:nvSpPr>
          <p:cNvPr id="44" name="Rectangle 43"/>
          <p:cNvSpPr/>
          <p:nvPr/>
        </p:nvSpPr>
        <p:spPr>
          <a:xfrm>
            <a:off x="6256712" y="7194458"/>
            <a:ext cx="5395486" cy="365760"/>
          </a:xfrm>
          <a:prstGeom prst="rect">
            <a:avLst/>
          </a:prstGeom>
          <a:solidFill>
            <a:srgbClr val="FFFFFF"/>
          </a:solidFill>
          <a:ln w="12700">
            <a:solidFill>
              <a:srgbClr val="D9E2EC"/>
            </a:solidFill>
          </a:ln>
          <a:effectLst/>
        </p:spPr>
        <p:txBody>
          <a:bodyPr rtlCol="0" anchor="ctr"/>
          <a:lstStyle/>
          <a:p>
            <a:pPr algn="ctr"/>
          </a:p>
        </p:txBody>
      </p:sp>
      <p:sp>
        <p:nvSpPr>
          <p:cNvPr id="45" name="TextBox 44"/>
          <p:cNvSpPr txBox="1"/>
          <p:nvPr/>
        </p:nvSpPr>
        <p:spPr>
          <a:xfrm>
            <a:off x="6403016" y="7194458"/>
            <a:ext cx="5102878"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×2 прохода сети</a:t>
            </a:r>
            <a:r>
              <a:rPr sz="800" b="0" i="0">
                <a:solidFill>
                  <a:srgbClr val="21295C"/>
                </a:solidFill>
                <a:latin typeface="Arial"/>
              </a:rPr>
              <a:t> на каждом шаге</a:t>
            </a:r>
          </a:p>
        </p:txBody>
      </p:sp>
      <p:sp>
        <p:nvSpPr>
          <p:cNvPr id="46" name="Rectangle 45"/>
          <p:cNvSpPr/>
          <p:nvPr/>
        </p:nvSpPr>
        <p:spPr>
          <a:xfrm>
            <a:off x="539496" y="7560218"/>
            <a:ext cx="1837123" cy="365760"/>
          </a:xfrm>
          <a:prstGeom prst="rect">
            <a:avLst/>
          </a:prstGeom>
          <a:solidFill>
            <a:srgbClr val="F4F7FA"/>
          </a:solidFill>
          <a:ln w="12700">
            <a:solidFill>
              <a:srgbClr val="D9E2EC"/>
            </a:solidFill>
          </a:ln>
          <a:effectLst/>
        </p:spPr>
        <p:txBody>
          <a:bodyPr rtlCol="0" anchor="ctr"/>
          <a:lstStyle/>
          <a:p>
            <a:pPr algn="ctr"/>
          </a:p>
        </p:txBody>
      </p:sp>
      <p:sp>
        <p:nvSpPr>
          <p:cNvPr id="47" name="TextBox 46"/>
          <p:cNvSpPr txBox="1"/>
          <p:nvPr/>
        </p:nvSpPr>
        <p:spPr>
          <a:xfrm>
            <a:off x="685800" y="7560218"/>
            <a:ext cx="1544515"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Где случайность</a:t>
            </a:r>
          </a:p>
        </p:txBody>
      </p:sp>
      <p:sp>
        <p:nvSpPr>
          <p:cNvPr id="48" name="Rectangle 47"/>
          <p:cNvSpPr/>
          <p:nvPr/>
        </p:nvSpPr>
        <p:spPr>
          <a:xfrm>
            <a:off x="2376619" y="7560218"/>
            <a:ext cx="3880093" cy="365760"/>
          </a:xfrm>
          <a:prstGeom prst="rect">
            <a:avLst/>
          </a:prstGeom>
          <a:solidFill>
            <a:srgbClr val="F4F7FA"/>
          </a:solidFill>
          <a:ln w="12700">
            <a:solidFill>
              <a:srgbClr val="D9E2EC"/>
            </a:solidFill>
          </a:ln>
          <a:effectLst/>
        </p:spPr>
        <p:txBody>
          <a:bodyPr rtlCol="0" anchor="ctr"/>
          <a:lstStyle/>
          <a:p>
            <a:pPr algn="ctr"/>
          </a:p>
        </p:txBody>
      </p:sp>
      <p:sp>
        <p:nvSpPr>
          <p:cNvPr id="49" name="TextBox 48"/>
          <p:cNvSpPr txBox="1"/>
          <p:nvPr/>
        </p:nvSpPr>
        <p:spPr>
          <a:xfrm>
            <a:off x="2522923" y="7560218"/>
            <a:ext cx="3587485"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в работе сэмплера</a:t>
            </a:r>
          </a:p>
        </p:txBody>
      </p:sp>
      <p:sp>
        <p:nvSpPr>
          <p:cNvPr id="50" name="Rectangle 49"/>
          <p:cNvSpPr/>
          <p:nvPr/>
        </p:nvSpPr>
        <p:spPr>
          <a:xfrm>
            <a:off x="6256712" y="7560218"/>
            <a:ext cx="5395486" cy="365760"/>
          </a:xfrm>
          <a:prstGeom prst="rect">
            <a:avLst/>
          </a:prstGeom>
          <a:solidFill>
            <a:srgbClr val="F4F7FA"/>
          </a:solidFill>
          <a:ln w="12700">
            <a:solidFill>
              <a:srgbClr val="D9E2EC"/>
            </a:solidFill>
          </a:ln>
          <a:effectLst/>
        </p:spPr>
        <p:txBody>
          <a:bodyPr rtlCol="0" anchor="ctr"/>
          <a:lstStyle/>
          <a:p>
            <a:pPr algn="ctr"/>
          </a:p>
        </p:txBody>
      </p:sp>
      <p:sp>
        <p:nvSpPr>
          <p:cNvPr id="51" name="TextBox 50"/>
          <p:cNvSpPr txBox="1"/>
          <p:nvPr/>
        </p:nvSpPr>
        <p:spPr>
          <a:xfrm>
            <a:off x="6403016" y="7560218"/>
            <a:ext cx="5102878"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в </a:t>
            </a:r>
            <a:r>
              <a:rPr sz="800" b="1" i="0">
                <a:solidFill>
                  <a:srgbClr val="21295C"/>
                </a:solidFill>
                <a:latin typeface="Arial"/>
              </a:rPr>
              <a:t>стартовом шуме</a:t>
            </a:r>
            <a:r>
              <a:rPr sz="800" b="0" i="0">
                <a:solidFill>
                  <a:srgbClr val="21295C"/>
                </a:solidFill>
                <a:latin typeface="Arial"/>
              </a:rPr>
              <a:t>; CFG к ней отношения не имеет</a:t>
            </a:r>
          </a:p>
        </p:txBody>
      </p:sp>
      <p:sp>
        <p:nvSpPr>
          <p:cNvPr id="52" name="TextBox 51"/>
          <p:cNvSpPr txBox="1"/>
          <p:nvPr/>
        </p:nvSpPr>
        <p:spPr>
          <a:xfrm>
            <a:off x="539496" y="8072282"/>
            <a:ext cx="11112703" cy="165662"/>
          </a:xfrm>
          <a:prstGeom prst="rect">
            <a:avLst/>
          </a:prstGeom>
          <a:noFill/>
        </p:spPr>
        <p:txBody>
          <a:bodyPr wrap="square" lIns="0" rIns="0" tIns="0" bIns="0" anchor="t">
            <a:spAutoFit/>
          </a:bodyPr>
          <a:lstStyle/>
          <a:p>
            <a:pPr algn="l">
              <a:lnSpc>
                <a:spcPct val="124000"/>
              </a:lnSpc>
            </a:pPr>
            <a:r>
              <a:rPr sz="850" b="1" i="0">
                <a:solidFill>
                  <a:srgbClr val="21295C"/>
                </a:solidFill>
                <a:latin typeface="Arial"/>
              </a:rPr>
              <a:t>Настоящий аналог температуры здесь — стартовый шум и стохастичность сэмплера.</a:t>
            </a:r>
          </a:p>
        </p:txBody>
      </p:sp>
      <p:sp>
        <p:nvSpPr>
          <p:cNvPr id="53" name="TextBox 52"/>
          <p:cNvSpPr txBox="1"/>
          <p:nvPr/>
        </p:nvSpPr>
        <p:spPr>
          <a:xfrm>
            <a:off x="539496" y="8384249"/>
            <a:ext cx="11112703" cy="331325"/>
          </a:xfrm>
          <a:prstGeom prst="rect">
            <a:avLst/>
          </a:prstGeom>
          <a:noFill/>
        </p:spPr>
        <p:txBody>
          <a:bodyPr wrap="square" lIns="0" rIns="0" tIns="0" bIns="0" anchor="t">
            <a:spAutoFit/>
          </a:bodyPr>
          <a:lstStyle/>
          <a:p>
            <a:pPr algn="l">
              <a:lnSpc>
                <a:spcPct val="124000"/>
              </a:lnSpc>
            </a:pPr>
            <a:r>
              <a:rPr sz="850" b="1" i="0">
                <a:solidFill>
                  <a:srgbClr val="21295C"/>
                </a:solidFill>
                <a:latin typeface="Arial"/>
              </a:rPr>
              <a:t>Что ломается на высоком CFG, и у этого есть механизм.</a:t>
            </a:r>
            <a:r>
              <a:rPr sz="800" b="0" i="0">
                <a:solidFill>
                  <a:srgbClr val="21295C"/>
                </a:solidFill>
                <a:latin typeface="Arial"/>
              </a:rPr>
              <a:t> Экстраполяция ничем не ограничена: латенты получают амплитуды, которые декодер восстановить не умеет. Отсюда пересвет, кислотный цвет, «пластиковая» текстура и падение разнообразия.</a:t>
            </a:r>
          </a:p>
        </p:txBody>
      </p:sp>
      <p:sp>
        <p:nvSpPr>
          <p:cNvPr id="54" name="TextBox 53"/>
          <p:cNvSpPr txBox="1"/>
          <p:nvPr/>
        </p:nvSpPr>
        <p:spPr>
          <a:xfrm>
            <a:off x="539496" y="8861878"/>
            <a:ext cx="11112703" cy="331325"/>
          </a:xfrm>
          <a:prstGeom prst="rect">
            <a:avLst/>
          </a:prstGeom>
          <a:noFill/>
        </p:spPr>
        <p:txBody>
          <a:bodyPr wrap="square" lIns="0" rIns="0" tIns="0" bIns="0" anchor="t">
            <a:spAutoFit/>
          </a:bodyPr>
          <a:lstStyle/>
          <a:p>
            <a:pPr algn="l">
              <a:lnSpc>
                <a:spcPct val="124000"/>
              </a:lnSpc>
            </a:pPr>
            <a:r>
              <a:rPr sz="850" b="1" i="0">
                <a:solidFill>
                  <a:srgbClr val="21295C"/>
                </a:solidFill>
                <a:latin typeface="Arial"/>
              </a:rPr>
              <a:t>Негативное описание ничего не запрещает.</a:t>
            </a:r>
            <a:r>
              <a:rPr sz="800" b="0" i="0">
                <a:solidFill>
                  <a:srgbClr val="21295C"/>
                </a:solidFill>
                <a:latin typeface="Arial"/>
              </a:rPr>
              <a:t> Это вторая точка опоры, от которой отталкиваются, а не проверка «нет ли лишних пальцев». Маскирования запрещённых вариантов здесь нет и быть не может: выход непрерывен, маскировать нечего.</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U-Net, 2015–2023</a:t>
            </a:r>
            <a:r>
              <a:rPr sz="1200" b="0" i="0">
                <a:solidFill>
                  <a:srgbClr val="21295C"/>
                </a:solidFill>
                <a:latin typeface="Arial"/>
              </a:rPr>
              <a:t> — свёрточный каркас, трансформерные блоки вставками внутрь. Ушли потому, что свёртка несёт встроенные допущения о структуре картинки: на малых данных помогают, на больших мешают.</a:t>
            </a:r>
          </a:p>
          <a:p>
            <a:pPr algn="l">
              <a:lnSpc>
                <a:spcPct val="126000"/>
              </a:lnSpc>
              <a:spcBef>
                <a:spcPts val="700"/>
              </a:spcBef>
            </a:pPr>
            <a:r>
              <a:rPr sz="1200" b="0" i="0">
                <a:solidFill>
                  <a:srgbClr val="21295C"/>
                </a:solidFill>
                <a:latin typeface="Arial"/>
              </a:rPr>
              <a:t/>
            </a:r>
            <a:r>
              <a:rPr sz="1200" b="1" i="0">
                <a:solidFill>
                  <a:srgbClr val="21295C"/>
                </a:solidFill>
                <a:latin typeface="Arial"/>
              </a:rPr>
              <a:t>DiT, декабрь 2022</a:t>
            </a:r>
            <a:r>
              <a:rPr sz="1200" b="0" i="0">
                <a:solidFill>
                  <a:srgbClr val="21295C"/>
                </a:solidFill>
                <a:latin typeface="Arial"/>
              </a:rPr>
              <a:t> — латент режется на патчи, каждый линейно проецируется в вектор. Это </a:t>
            </a:r>
            <a:r>
              <a:rPr sz="1200" b="1" i="0">
                <a:solidFill>
                  <a:srgbClr val="21295C"/>
                </a:solidFill>
                <a:latin typeface="Arial"/>
              </a:rPr>
              <a:t>та же входная таблица представлений</a:t>
            </a:r>
            <a:r>
              <a:rPr sz="1200" b="0" i="0">
                <a:solidFill>
                  <a:srgbClr val="21295C"/>
                </a:solidFill>
                <a:latin typeface="Arial"/>
              </a:rPr>
              <a:t>, только вместо поиска по словарю линейная проекция: вход непрерывен.</a:t>
            </a:r>
          </a:p>
          <a:p>
            <a:pPr algn="l">
              <a:lnSpc>
                <a:spcPct val="126000"/>
              </a:lnSpc>
              <a:spcBef>
                <a:spcPts val="700"/>
              </a:spcBef>
            </a:pPr>
            <a:r>
              <a:rPr sz="1200" b="0" i="0">
                <a:solidFill>
                  <a:srgbClr val="21295C"/>
                </a:solidFill>
                <a:latin typeface="Arial"/>
              </a:rPr>
              <a:t/>
            </a:r>
            <a:r>
              <a:rPr sz="1200" b="1" i="0">
                <a:solidFill>
                  <a:srgbClr val="21295C"/>
                </a:solidFill>
                <a:latin typeface="Arial"/>
              </a:rPr>
              <a:t>MMDiT, март 2024</a:t>
            </a:r>
            <a:r>
              <a:rPr sz="1200" b="0" i="0">
                <a:solidFill>
                  <a:srgbClr val="21295C"/>
                </a:solidFill>
                <a:latin typeface="Arial"/>
              </a:rPr>
              <a:t> — токены текста и картинки в одной последовательности, одно совместное внимание. Веса раздельные, общая только операция внимания.</a:t>
            </a:r>
          </a:p>
          <a:p>
            <a:pPr algn="l">
              <a:lnSpc>
                <a:spcPct val="126000"/>
              </a:lnSpc>
              <a:spcBef>
                <a:spcPts val="700"/>
              </a:spcBef>
            </a:pPr>
            <a:r>
              <a:rPr sz="1200" b="0" i="0">
                <a:solidFill>
                  <a:srgbClr val="21295C"/>
                </a:solidFill>
                <a:latin typeface="Arial"/>
              </a:rPr>
              <a:t/>
            </a:r>
            <a:r>
              <a:rPr sz="1200" b="1" i="0">
                <a:solidFill>
                  <a:srgbClr val="21295C"/>
                </a:solidFill>
                <a:latin typeface="Arial"/>
              </a:rPr>
              <a:t>Спрямлённый поток</a:t>
            </a:r>
            <a:r>
              <a:rPr sz="1200" b="0" i="0">
                <a:solidFill>
                  <a:srgbClr val="21295C"/>
                </a:solidFill>
                <a:latin typeface="Arial"/>
              </a:rPr>
              <a:t> — соединяем шум и данные </a:t>
            </a:r>
            <a:r>
              <a:rPr sz="1200" b="1" i="0">
                <a:solidFill>
                  <a:srgbClr val="21295C"/>
                </a:solidFill>
                <a:latin typeface="Arial"/>
              </a:rPr>
              <a:t>прямой линией</a:t>
            </a:r>
            <a:r>
              <a:rPr sz="1200" b="0" i="0">
                <a:solidFill>
                  <a:srgbClr val="21295C"/>
                </a:solidFill>
                <a:latin typeface="Arial"/>
              </a:rPr>
              <a:t> и учим предсказывать скорость движения по ней. Прямая интегрируется точно любым шагом: 20–30 шагов там, где диффузии нужно 50–100.</a:t>
            </a:r>
          </a:p>
        </p:txBody>
      </p:sp>
      <p:sp>
        <p:nvSpPr>
          <p:cNvPr id="10" name="TextBox 9"/>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Измерение, ради которого стоит весь кадр.</a:t>
            </a:r>
            <a:r>
              <a:rPr sz="1200" b="0" i="0">
                <a:solidFill>
                  <a:srgbClr val="21295C"/>
                </a:solidFill>
                <a:latin typeface="Arial"/>
              </a:rPr>
              <a:t> DiT-XL/8 — </a:t>
            </a:r>
            <a:r>
              <a:rPr sz="1200" b="1" i="0">
                <a:solidFill>
                  <a:srgbClr val="21295C"/>
                </a:solidFill>
                <a:latin typeface="Arial"/>
              </a:rPr>
              <a:t>676 млн параметров, 7,39 Гфлопс, расстояние Фреше 106,41</a:t>
            </a:r>
            <a:r>
              <a:rPr sz="1200" b="0" i="0">
                <a:solidFill>
                  <a:srgbClr val="21295C"/>
                </a:solidFill>
                <a:latin typeface="Arial"/>
              </a:rPr>
              <a:t>. DiT-XL/2 — </a:t>
            </a:r>
            <a:r>
              <a:rPr sz="1200" b="1" i="0">
                <a:solidFill>
                  <a:srgbClr val="21295C"/>
                </a:solidFill>
                <a:latin typeface="Arial"/>
              </a:rPr>
              <a:t>675 млн параметров, 118,64 Гфлопс, расстояние Фреше 19,47</a:t>
            </a:r>
            <a:r>
              <a:rPr sz="1200" b="0" i="0">
                <a:solidFill>
                  <a:srgbClr val="21295C"/>
                </a:solidFill>
                <a:latin typeface="Arial"/>
              </a:rPr>
              <a:t> (меньше — лучше). </a:t>
            </a:r>
            <a:r>
              <a:rPr sz="1200" b="1" i="0">
                <a:solidFill>
                  <a:srgbClr val="21295C"/>
                </a:solidFill>
                <a:latin typeface="Arial"/>
              </a:rPr>
              <a:t>Весов столько же. Токенов в шестнадцать раз больше.</a:t>
            </a:r>
          </a:p>
          <a:p>
            <a:pPr algn="l">
              <a:lnSpc>
                <a:spcPct val="126000"/>
              </a:lnSpc>
              <a:spcBef>
                <a:spcPts val="700"/>
              </a:spcBef>
            </a:pPr>
            <a:r>
              <a:rPr sz="950" b="0" i="0">
                <a:solidFill>
                  <a:srgbClr val="21295C"/>
                </a:solidFill>
                <a:latin typeface="Arial"/>
              </a:rPr>
              <a:t/>
            </a:r>
            <a:r>
              <a:rPr sz="950" b="0" i="1">
                <a:solidFill>
                  <a:srgbClr val="1C7293"/>
                </a:solidFill>
                <a:latin typeface="Arial"/>
              </a:rPr>
              <a:t>Стартовое зерно (seed) — число, которым инициализируют генератор псевдослучайных чисел. При детерминированном сэмплере результат воспроизводим — но только если зафиксированы все одиннадцать позиций, от версии автокодировщика до модели видеокарты.</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Чего внутри нет совсем:</a:t>
            </a:r>
            <a:r>
              <a:rPr sz="1200" b="0" i="0">
                <a:solidFill>
                  <a:srgbClr val="21295C"/>
                </a:solidFill>
                <a:latin typeface="Arial"/>
              </a:rPr>
              <a:t> каузальной маски · кэша ключей и значений · словаря и логитов · длины выхода как переменной.</a:t>
            </a:r>
          </a:p>
        </p:txBody>
      </p:sp>
      <p:sp>
        <p:nvSpPr>
          <p:cNvPr id="11" name="Rectangle 10"/>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28532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440772"/>
            <a:ext cx="5108295" cy="110642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ControlNet — структурное условие</a:t>
            </a:r>
          </a:p>
          <a:p>
            <a:pPr algn="l">
              <a:lnSpc>
                <a:spcPct val="126000"/>
              </a:lnSpc>
            </a:pPr>
            <a:r>
              <a:rPr sz="1200" b="0" i="0">
                <a:solidFill>
                  <a:srgbClr val="21295C"/>
                </a:solidFill>
                <a:latin typeface="Arial"/>
              </a:rPr>
              <a:t>• IP-Adapter — образец стиля или лица</a:t>
            </a:r>
          </a:p>
          <a:p>
            <a:pPr algn="l">
              <a:lnSpc>
                <a:spcPct val="126000"/>
              </a:lnSpc>
            </a:pPr>
            <a:r>
              <a:rPr sz="120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14" name="Rounded Rectangle 13"/>
          <p:cNvSpPr/>
          <p:nvPr/>
        </p:nvSpPr>
        <p:spPr>
          <a:xfrm>
            <a:off x="6251295" y="328532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6415887" y="3440772"/>
            <a:ext cx="5108295" cy="110642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LoRA — низкоранговые адаптеры</a:t>
            </a:r>
          </a:p>
          <a:p>
            <a:pPr algn="l">
              <a:lnSpc>
                <a:spcPct val="126000"/>
              </a:lnSpc>
            </a:pPr>
            <a:r>
              <a:rPr sz="1350" b="0" i="0">
                <a:solidFill>
                  <a:srgbClr val="21295C"/>
                </a:solidFill>
                <a:latin typeface="Arial"/>
              </a:rPr>
              <a:t>• DreamBooth — дообучение самой модели</a:t>
            </a:r>
          </a:p>
          <a:p>
            <a:pPr algn="l">
              <a:lnSpc>
                <a:spcPct val="126000"/>
              </a:lnSpc>
            </a:pPr>
            <a:r>
              <a:rPr sz="135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16" name="Rounded Rectangle 15"/>
          <p:cNvSpPr/>
          <p:nvPr/>
        </p:nvSpPr>
        <p:spPr>
          <a:xfrm>
            <a:off x="374904" y="4794084"/>
            <a:ext cx="11441887" cy="1442123"/>
          </a:xfrm>
          <a:prstGeom prst="roundRect">
            <a:avLst>
              <a:gd name="adj" fmla="val 2113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885524"/>
            <a:ext cx="11112703" cy="1350683"/>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База заморожена. Учится маленький довесок. Довески складываются.</a:t>
            </a:r>
          </a:p>
          <a:p>
            <a:pPr algn="l">
              <a:lnSpc>
                <a:spcPct val="126000"/>
              </a:lnSpc>
              <a:spcBef>
                <a:spcPts val="700"/>
              </a:spcBef>
            </a:pPr>
            <a:r>
              <a:rPr sz="850" b="0" i="0">
                <a:solidFill>
                  <a:srgbClr val="21295C"/>
                </a:solidFill>
                <a:latin typeface="Arial"/>
              </a:rPr>
              <a:t/>
            </a:r>
            <a:r>
              <a:rPr sz="850" b="1" i="0">
                <a:solidFill>
                  <a:srgbClr val="21295C"/>
                </a:solidFill>
                <a:latin typeface="Arial"/>
              </a:rPr>
              <a:t>Уровень 1 — стиль и объект.</a:t>
            </a:r>
            <a:r>
              <a:rPr sz="850" b="0" i="0">
                <a:solidFill>
                  <a:srgbClr val="21295C"/>
                </a:solidFill>
                <a:latin typeface="Arial"/>
              </a:rPr>
              <a:t> </a:t>
            </a:r>
            <a:r>
              <a:rPr sz="850" b="1" i="0">
                <a:solidFill>
                  <a:srgbClr val="21295C"/>
                </a:solidFill>
                <a:latin typeface="Arial"/>
              </a:rPr>
              <a:t>LoRA</a:t>
            </a:r>
            <a:r>
              <a:rPr sz="850" b="0" i="0">
                <a:solidFill>
                  <a:srgbClr val="21295C"/>
                </a:solidFill>
                <a:latin typeface="Arial"/>
              </a:rPr>
              <a:t>: низкоранговые матрицы-адаптеры в выбранные слои, десятки—сотни МБ. </a:t>
            </a:r>
            <a:r>
              <a:rPr sz="850" b="1" i="0">
                <a:solidFill>
                  <a:srgbClr val="21295C"/>
                </a:solidFill>
                <a:latin typeface="Arial"/>
              </a:rPr>
              <a:t>Текстовая инверсия</a:t>
            </a:r>
            <a:r>
              <a:rPr sz="850" b="0" i="0">
                <a:solidFill>
                  <a:srgbClr val="21295C"/>
                </a:solidFill>
                <a:latin typeface="Arial"/>
              </a:rPr>
              <a:t>: «новое слово» в словаре текстового кодировщика — обучается </a:t>
            </a:r>
            <a:r>
              <a:rPr sz="850" b="1" i="0">
                <a:solidFill>
                  <a:srgbClr val="21295C"/>
                </a:solidFill>
                <a:latin typeface="Arial"/>
              </a:rPr>
              <a:t>один вектор</a:t>
            </a:r>
            <a:r>
              <a:rPr sz="850" b="0" i="0">
                <a:solidFill>
                  <a:srgbClr val="21295C"/>
                </a:solidFill>
                <a:latin typeface="Arial"/>
              </a:rPr>
              <a:t>, сама модель не меняется вовсе, авторам хватило </a:t>
            </a:r>
            <a:r>
              <a:rPr sz="850" b="1" i="0">
                <a:solidFill>
                  <a:srgbClr val="21295C"/>
                </a:solidFill>
                <a:latin typeface="Arial"/>
              </a:rPr>
              <a:t>3–5 изображений</a:t>
            </a:r>
            <a:r>
              <a:rPr sz="850" b="0" i="0">
                <a:solidFill>
                  <a:srgbClr val="21295C"/>
                </a:solidFill>
                <a:latin typeface="Arial"/>
              </a:rPr>
              <a:t>; размер — </a:t>
            </a:r>
            <a:r>
              <a:rPr sz="850" b="1" i="0">
                <a:solidFill>
                  <a:srgbClr val="21295C"/>
                </a:solidFill>
                <a:latin typeface="Arial"/>
              </a:rPr>
              <a:t>килобайты</a:t>
            </a:r>
            <a:r>
              <a:rPr sz="850" b="0" i="0">
                <a:solidFill>
                  <a:srgbClr val="21295C"/>
                </a:solidFill>
                <a:latin typeface="Arial"/>
              </a:rPr>
              <a:t>. </a:t>
            </a:r>
            <a:r>
              <a:rPr sz="850" b="1" i="0">
                <a:solidFill>
                  <a:srgbClr val="21295C"/>
                </a:solidFill>
                <a:latin typeface="Arial"/>
              </a:rPr>
              <a:t>DreamBooth</a:t>
            </a:r>
            <a:r>
              <a:rPr sz="850" b="0" i="0">
                <a:solidFill>
                  <a:srgbClr val="21295C"/>
                </a:solidFill>
                <a:latin typeface="Arial"/>
              </a:rPr>
              <a:t>: дообучение самой модели под редкий идентификатор.</a:t>
            </a:r>
          </a:p>
          <a:p>
            <a:pPr algn="l">
              <a:lnSpc>
                <a:spcPct val="126000"/>
              </a:lnSpc>
              <a:spcBef>
                <a:spcPts val="700"/>
              </a:spcBef>
            </a:pPr>
            <a:r>
              <a:rPr sz="850" b="0" i="0">
                <a:solidFill>
                  <a:srgbClr val="21295C"/>
                </a:solidFill>
                <a:latin typeface="Arial"/>
              </a:rPr>
              <a:t/>
            </a:r>
            <a:r>
              <a:rPr sz="850" b="1" i="0">
                <a:solidFill>
                  <a:srgbClr val="21295C"/>
                </a:solidFill>
                <a:latin typeface="Arial"/>
              </a:rPr>
              <a:t>Уровень 2 — структура кадра.</a:t>
            </a:r>
            <a:r>
              <a:rPr sz="850" b="0" i="0">
                <a:solidFill>
                  <a:srgbClr val="21295C"/>
                </a:solidFill>
                <a:latin typeface="Arial"/>
              </a:rPr>
              <a:t> </a:t>
            </a:r>
            <a:r>
              <a:rPr sz="850" b="1" i="0">
                <a:solidFill>
                  <a:srgbClr val="21295C"/>
                </a:solidFill>
                <a:latin typeface="Arial"/>
              </a:rPr>
              <a:t>ControlNet</a:t>
            </a:r>
            <a:r>
              <a:rPr sz="850" b="0" i="0">
                <a:solidFill>
                  <a:srgbClr val="21295C"/>
                </a:solidFill>
                <a:latin typeface="Arial"/>
              </a:rPr>
              <a:t>: обучаемая копия сжимающей половины принимает края, глубину или позу и вливает условие в замороженный оригинал.</a:t>
            </a:r>
          </a:p>
          <a:p>
            <a:pPr algn="l">
              <a:lnSpc>
                <a:spcPct val="126000"/>
              </a:lnSpc>
              <a:spcBef>
                <a:spcPts val="700"/>
              </a:spcBef>
            </a:pPr>
            <a:r>
              <a:rPr sz="850" b="0" i="0">
                <a:solidFill>
                  <a:srgbClr val="21295C"/>
                </a:solidFill>
                <a:latin typeface="Arial"/>
              </a:rPr>
              <a:t/>
            </a:r>
            <a:r>
              <a:rPr sz="850" b="1" i="0">
                <a:solidFill>
                  <a:srgbClr val="21295C"/>
                </a:solidFill>
                <a:latin typeface="Arial"/>
              </a:rPr>
              <a:t>Уровень 3 — образец.</a:t>
            </a:r>
            <a:r>
              <a:rPr sz="850" b="0" i="0">
                <a:solidFill>
                  <a:srgbClr val="21295C"/>
                </a:solidFill>
                <a:latin typeface="Arial"/>
              </a:rPr>
              <a:t> </a:t>
            </a:r>
            <a:r>
              <a:rPr sz="850" b="1" i="0">
                <a:solidFill>
                  <a:srgbClr val="21295C"/>
                </a:solidFill>
                <a:latin typeface="Arial"/>
              </a:rPr>
              <a:t>IP-Adapter</a:t>
            </a:r>
            <a:r>
              <a:rPr sz="850" b="0" i="0">
                <a:solidFill>
                  <a:srgbClr val="21295C"/>
                </a:solidFill>
                <a:latin typeface="Arial"/>
              </a:rPr>
              <a:t>: «описание картинкой» — образец подаётся отдельным перекрёстным вниманием, параллельно текстовому. Заявлено качество полного дообучения при </a:t>
            </a:r>
            <a:r>
              <a:rPr sz="850" b="1" i="0">
                <a:solidFill>
                  <a:srgbClr val="21295C"/>
                </a:solidFill>
                <a:latin typeface="Arial"/>
              </a:rPr>
              <a:t>22 млн параметров</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Складываются буквально:</a:t>
            </a:r>
            <a:r>
              <a:rPr sz="850" b="0" i="0">
                <a:solidFill>
                  <a:srgbClr val="21295C"/>
                </a:solidFill>
                <a:latin typeface="Arial"/>
              </a:rPr>
              <a:t> на одну базу одновременно вешают адаптер стиля, условие позы и образец лица.</a:t>
            </a:r>
          </a:p>
          <a:p>
            <a:pPr algn="l">
              <a:lnSpc>
                <a:spcPct val="126000"/>
              </a:lnSpc>
              <a:spcBef>
                <a:spcPts val="700"/>
              </a:spcBef>
            </a:pPr>
            <a:r>
              <a:rPr sz="850" b="0" i="0">
                <a:solidFill>
                  <a:srgbClr val="21295C"/>
                </a:solidFill>
                <a:latin typeface="Arial"/>
              </a:rPr>
              <a:t/>
            </a:r>
            <a:r>
              <a:rPr sz="850" b="1" i="0">
                <a:solidFill>
                  <a:srgbClr val="21295C"/>
                </a:solidFill>
                <a:latin typeface="Arial"/>
              </a:rPr>
              <a:t>Водораздел.</a:t>
            </a:r>
            <a:r>
              <a:rPr sz="850" b="0" i="0">
                <a:solidFill>
                  <a:srgbClr val="21295C"/>
                </a:solidFill>
                <a:latin typeface="Arial"/>
              </a:rPr>
              <a:t> ControlNet и IP-Adapter — </a:t>
            </a:r>
            <a:r>
              <a:rPr sz="850" b="1" i="0">
                <a:solidFill>
                  <a:srgbClr val="21295C"/>
                </a:solidFill>
                <a:latin typeface="Arial"/>
              </a:rPr>
              <a:t>обусловливание</a:t>
            </a:r>
            <a:r>
              <a:rPr sz="850" b="0" i="0">
                <a:solidFill>
                  <a:srgbClr val="21295C"/>
                </a:solidFill>
                <a:latin typeface="Arial"/>
              </a:rPr>
              <a:t>, работа при запуске, веса не меняются. LoRA и DreamBooth — </a:t>
            </a:r>
            <a:r>
              <a:rPr sz="850" b="1" i="0">
                <a:solidFill>
                  <a:srgbClr val="21295C"/>
                </a:solidFill>
                <a:latin typeface="Arial"/>
              </a:rPr>
              <a:t>обучение</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Это тот же способ дообучения, что у языковых моделей, — и здесь параллель работает полностью. Совпадение названо совпадением.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 (авторам хватило 3–5 изображений концепта)</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 (заявлено качество полного дообучения при 22 млн параметров)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Языковая модель против медиа-модели: одиннадцать строк расхождения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495037" cy="3657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202429"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
            </a:r>
          </a:p>
        </p:txBody>
      </p:sp>
      <p:sp>
        <p:nvSpPr>
          <p:cNvPr id="7" name="Rectangle 6"/>
          <p:cNvSpPr/>
          <p:nvPr/>
        </p:nvSpPr>
        <p:spPr>
          <a:xfrm>
            <a:off x="2034533" y="1335024"/>
            <a:ext cx="6177412" cy="3657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180837" y="1335024"/>
            <a:ext cx="5884804"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Языковая модель</a:t>
            </a:r>
          </a:p>
        </p:txBody>
      </p:sp>
      <p:sp>
        <p:nvSpPr>
          <p:cNvPr id="9" name="Rectangle 8"/>
          <p:cNvSpPr/>
          <p:nvPr/>
        </p:nvSpPr>
        <p:spPr>
          <a:xfrm>
            <a:off x="8211946" y="1335024"/>
            <a:ext cx="3440252" cy="3657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358250" y="1335024"/>
            <a:ext cx="3147644"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Медиа-модель</a:t>
            </a:r>
          </a:p>
        </p:txBody>
      </p:sp>
      <p:sp>
        <p:nvSpPr>
          <p:cNvPr id="11" name="Rectangle 10"/>
          <p:cNvSpPr/>
          <p:nvPr/>
        </p:nvSpPr>
        <p:spPr>
          <a:xfrm>
            <a:off x="539496" y="1700784"/>
            <a:ext cx="1495037" cy="45630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00784"/>
            <a:ext cx="1202429"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Единица данных</a:t>
            </a:r>
          </a:p>
        </p:txBody>
      </p:sp>
      <p:sp>
        <p:nvSpPr>
          <p:cNvPr id="13" name="Rectangle 12"/>
          <p:cNvSpPr/>
          <p:nvPr/>
        </p:nvSpPr>
        <p:spPr>
          <a:xfrm>
            <a:off x="2034533" y="1700784"/>
            <a:ext cx="6177412" cy="45630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180837" y="1700784"/>
            <a:ext cx="588480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токен из словаря ~200 тыс., зафиксированного до обучения</a:t>
            </a:r>
          </a:p>
        </p:txBody>
      </p:sp>
      <p:sp>
        <p:nvSpPr>
          <p:cNvPr id="15" name="Rectangle 14"/>
          <p:cNvSpPr/>
          <p:nvPr/>
        </p:nvSpPr>
        <p:spPr>
          <a:xfrm>
            <a:off x="8211946" y="1700784"/>
            <a:ext cx="3440252" cy="45630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358250" y="1700784"/>
            <a:ext cx="314764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латентный патч — непрерывный вектор из 64 чисел. </a:t>
            </a:r>
            <a:r>
              <a:rPr sz="800" b="1" i="0">
                <a:solidFill>
                  <a:srgbClr val="21295C"/>
                </a:solidFill>
                <a:latin typeface="Arial"/>
              </a:rPr>
              <a:t>Словаря нет</a:t>
            </a:r>
          </a:p>
        </p:txBody>
      </p:sp>
      <p:sp>
        <p:nvSpPr>
          <p:cNvPr id="17" name="Rectangle 16"/>
          <p:cNvSpPr/>
          <p:nvPr/>
        </p:nvSpPr>
        <p:spPr>
          <a:xfrm>
            <a:off x="539496" y="2157093"/>
            <a:ext cx="1495037" cy="365760"/>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157093"/>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Сколько единиц</a:t>
            </a:r>
          </a:p>
        </p:txBody>
      </p:sp>
      <p:sp>
        <p:nvSpPr>
          <p:cNvPr id="19" name="Rectangle 18"/>
          <p:cNvSpPr/>
          <p:nvPr/>
        </p:nvSpPr>
        <p:spPr>
          <a:xfrm>
            <a:off x="2034533" y="2157093"/>
            <a:ext cx="6177412" cy="365760"/>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180837" y="2157093"/>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длина описания плюс ответа; окно 128 тыс. — 1 млн</a:t>
            </a:r>
          </a:p>
        </p:txBody>
      </p:sp>
      <p:sp>
        <p:nvSpPr>
          <p:cNvPr id="21" name="Rectangle 20"/>
          <p:cNvSpPr/>
          <p:nvPr/>
        </p:nvSpPr>
        <p:spPr>
          <a:xfrm>
            <a:off x="8211946" y="2157093"/>
            <a:ext cx="3440252" cy="3657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358250" y="2157093"/>
            <a:ext cx="314764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задано размером выхода: 1024×1024 → </a:t>
            </a:r>
            <a:r>
              <a:rPr sz="800" b="1" i="0">
                <a:solidFill>
                  <a:srgbClr val="21295C"/>
                </a:solidFill>
                <a:latin typeface="Arial"/>
              </a:rPr>
              <a:t>4096</a:t>
            </a:r>
          </a:p>
        </p:txBody>
      </p:sp>
      <p:sp>
        <p:nvSpPr>
          <p:cNvPr id="23" name="Rectangle 22"/>
          <p:cNvSpPr/>
          <p:nvPr/>
        </p:nvSpPr>
        <p:spPr>
          <a:xfrm>
            <a:off x="539496" y="2522853"/>
            <a:ext cx="1495037" cy="365760"/>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522853"/>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Что предсказывает</a:t>
            </a:r>
          </a:p>
        </p:txBody>
      </p:sp>
      <p:sp>
        <p:nvSpPr>
          <p:cNvPr id="25" name="Rectangle 24"/>
          <p:cNvSpPr/>
          <p:nvPr/>
        </p:nvSpPr>
        <p:spPr>
          <a:xfrm>
            <a:off x="2034533" y="2522853"/>
            <a:ext cx="6177412" cy="365760"/>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180837" y="2522853"/>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распределение вероятностей на словарь, сумма = 1</a:t>
            </a:r>
          </a:p>
        </p:txBody>
      </p:sp>
      <p:sp>
        <p:nvSpPr>
          <p:cNvPr id="27" name="Rectangle 26"/>
          <p:cNvSpPr/>
          <p:nvPr/>
        </p:nvSpPr>
        <p:spPr>
          <a:xfrm>
            <a:off x="8211946" y="2522853"/>
            <a:ext cx="3440252" cy="365760"/>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358250" y="2522853"/>
            <a:ext cx="314764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вектор той же формы, что вход. </a:t>
            </a:r>
            <a:r>
              <a:rPr sz="800" b="1" i="0">
                <a:solidFill>
                  <a:srgbClr val="21295C"/>
                </a:solidFill>
                <a:latin typeface="Arial"/>
              </a:rPr>
              <a:t>Нормировки нет</a:t>
            </a:r>
          </a:p>
        </p:txBody>
      </p:sp>
      <p:sp>
        <p:nvSpPr>
          <p:cNvPr id="29" name="Rectangle 28"/>
          <p:cNvSpPr/>
          <p:nvPr/>
        </p:nvSpPr>
        <p:spPr>
          <a:xfrm>
            <a:off x="539496" y="2888613"/>
            <a:ext cx="1495037" cy="45630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2888613"/>
            <a:ext cx="1202429"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Роль контекста</a:t>
            </a:r>
          </a:p>
        </p:txBody>
      </p:sp>
      <p:sp>
        <p:nvSpPr>
          <p:cNvPr id="31" name="Rectangle 30"/>
          <p:cNvSpPr/>
          <p:nvPr/>
        </p:nvSpPr>
        <p:spPr>
          <a:xfrm>
            <a:off x="2034533" y="2888613"/>
            <a:ext cx="6177412" cy="45630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180837" y="2888613"/>
            <a:ext cx="588480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история растёт и служит условием следующего токена</a:t>
            </a:r>
          </a:p>
        </p:txBody>
      </p:sp>
      <p:sp>
        <p:nvSpPr>
          <p:cNvPr id="33" name="Rectangle 32"/>
          <p:cNvSpPr/>
          <p:nvPr/>
        </p:nvSpPr>
        <p:spPr>
          <a:xfrm>
            <a:off x="8211946" y="2888613"/>
            <a:ext cx="3440252" cy="45630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358250" y="2888613"/>
            <a:ext cx="314764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описание — </a:t>
            </a:r>
            <a:r>
              <a:rPr sz="800" b="1" i="0">
                <a:solidFill>
                  <a:srgbClr val="21295C"/>
                </a:solidFill>
                <a:latin typeface="Arial"/>
              </a:rPr>
              <a:t>постоянное</a:t>
            </a:r>
            <a:r>
              <a:rPr sz="800" b="0" i="0">
                <a:solidFill>
                  <a:srgbClr val="21295C"/>
                </a:solidFill>
                <a:latin typeface="Arial"/>
              </a:rPr>
              <a:t> условие на всех шагах. Истории нет</a:t>
            </a:r>
          </a:p>
        </p:txBody>
      </p:sp>
      <p:sp>
        <p:nvSpPr>
          <p:cNvPr id="35" name="Rectangle 34"/>
          <p:cNvSpPr/>
          <p:nvPr/>
        </p:nvSpPr>
        <p:spPr>
          <a:xfrm>
            <a:off x="539496" y="3344922"/>
            <a:ext cx="1495037" cy="3657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344922"/>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Число проходов</a:t>
            </a:r>
          </a:p>
        </p:txBody>
      </p:sp>
      <p:sp>
        <p:nvSpPr>
          <p:cNvPr id="37" name="Rectangle 36"/>
          <p:cNvSpPr/>
          <p:nvPr/>
        </p:nvSpPr>
        <p:spPr>
          <a:xfrm>
            <a:off x="2034533" y="3344922"/>
            <a:ext cx="6177412" cy="365760"/>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180837" y="3344922"/>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N проходов на N токенов</a:t>
            </a:r>
          </a:p>
        </p:txBody>
      </p:sp>
      <p:sp>
        <p:nvSpPr>
          <p:cNvPr id="39" name="Rectangle 38"/>
          <p:cNvSpPr/>
          <p:nvPr/>
        </p:nvSpPr>
        <p:spPr>
          <a:xfrm>
            <a:off x="8211946" y="3344922"/>
            <a:ext cx="3440252" cy="365760"/>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358250" y="3344922"/>
            <a:ext cx="314764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S проходов </a:t>
            </a:r>
            <a:r>
              <a:rPr sz="800" b="1" i="0">
                <a:solidFill>
                  <a:srgbClr val="21295C"/>
                </a:solidFill>
                <a:latin typeface="Arial"/>
              </a:rPr>
              <a:t>независимо</a:t>
            </a:r>
            <a:r>
              <a:rPr sz="800" b="0" i="0">
                <a:solidFill>
                  <a:srgbClr val="21295C"/>
                </a:solidFill>
                <a:latin typeface="Arial"/>
              </a:rPr>
              <a:t> от размера выхода, S от 1 до 50</a:t>
            </a:r>
          </a:p>
        </p:txBody>
      </p:sp>
      <p:sp>
        <p:nvSpPr>
          <p:cNvPr id="41" name="Rectangle 40"/>
          <p:cNvSpPr/>
          <p:nvPr/>
        </p:nvSpPr>
        <p:spPr>
          <a:xfrm>
            <a:off x="539496" y="3710682"/>
            <a:ext cx="1495037" cy="3657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710682"/>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Кэш</a:t>
            </a:r>
          </a:p>
        </p:txBody>
      </p:sp>
      <p:sp>
        <p:nvSpPr>
          <p:cNvPr id="43" name="Rectangle 42"/>
          <p:cNvSpPr/>
          <p:nvPr/>
        </p:nvSpPr>
        <p:spPr>
          <a:xfrm>
            <a:off x="2034533" y="3710682"/>
            <a:ext cx="6177412" cy="3657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180837" y="3710682"/>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8211946" y="3710682"/>
            <a:ext cx="3440252" cy="365760"/>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8358250" y="3710682"/>
            <a:ext cx="3147644"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невозможен</a:t>
            </a:r>
            <a:r>
              <a:rPr sz="800" b="0" i="0">
                <a:solidFill>
                  <a:srgbClr val="21295C"/>
                </a:solidFill>
                <a:latin typeface="Arial"/>
              </a:rPr>
              <a:t>: все 4096 токенов меняются каждый шаг</a:t>
            </a:r>
          </a:p>
        </p:txBody>
      </p:sp>
      <p:sp>
        <p:nvSpPr>
          <p:cNvPr id="47" name="Rectangle 46"/>
          <p:cNvSpPr/>
          <p:nvPr/>
        </p:nvSpPr>
        <p:spPr>
          <a:xfrm>
            <a:off x="539496" y="4076442"/>
            <a:ext cx="1495037" cy="45630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076442"/>
            <a:ext cx="1202429"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Чем управляется выход</a:t>
            </a:r>
          </a:p>
        </p:txBody>
      </p:sp>
      <p:sp>
        <p:nvSpPr>
          <p:cNvPr id="49" name="Rectangle 48"/>
          <p:cNvSpPr/>
          <p:nvPr/>
        </p:nvSpPr>
        <p:spPr>
          <a:xfrm>
            <a:off x="2034533" y="4076442"/>
            <a:ext cx="6177412" cy="45630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2180837" y="4076442"/>
            <a:ext cx="588480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температура, отсечение по вероятности (top-p), маскирование логитов, грамматика схемы — </a:t>
            </a:r>
            <a:r>
              <a:rPr sz="800" b="1" i="0">
                <a:solidFill>
                  <a:srgbClr val="21295C"/>
                </a:solidFill>
                <a:latin typeface="Arial"/>
              </a:rPr>
              <a:t>механическая гарантия формы</a:t>
            </a:r>
          </a:p>
        </p:txBody>
      </p:sp>
      <p:sp>
        <p:nvSpPr>
          <p:cNvPr id="51" name="Rectangle 50"/>
          <p:cNvSpPr/>
          <p:nvPr/>
        </p:nvSpPr>
        <p:spPr>
          <a:xfrm>
            <a:off x="8211946" y="4076442"/>
            <a:ext cx="3440252" cy="45630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58250" y="4076442"/>
            <a:ext cx="314764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CFG, негативное описание, адаптеры. </a:t>
            </a:r>
            <a:r>
              <a:rPr sz="800" b="1" i="0">
                <a:solidFill>
                  <a:srgbClr val="21295C"/>
                </a:solidFill>
                <a:latin typeface="Arial"/>
              </a:rPr>
              <a:t>Гарантий нет ни одной</a:t>
            </a:r>
          </a:p>
        </p:txBody>
      </p:sp>
      <p:sp>
        <p:nvSpPr>
          <p:cNvPr id="53" name="Rectangle 52"/>
          <p:cNvSpPr/>
          <p:nvPr/>
        </p:nvSpPr>
        <p:spPr>
          <a:xfrm>
            <a:off x="539496" y="4532751"/>
            <a:ext cx="1495037" cy="365760"/>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532751"/>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Галлюцинация</a:t>
            </a:r>
          </a:p>
        </p:txBody>
      </p:sp>
      <p:sp>
        <p:nvSpPr>
          <p:cNvPr id="55" name="Rectangle 54"/>
          <p:cNvSpPr/>
          <p:nvPr/>
        </p:nvSpPr>
        <p:spPr>
          <a:xfrm>
            <a:off x="2034533" y="4532751"/>
            <a:ext cx="6177412" cy="365760"/>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2180837" y="4532751"/>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уверенное ложное </a:t>
            </a:r>
            <a:r>
              <a:rPr sz="800" b="1" i="0">
                <a:solidFill>
                  <a:srgbClr val="21295C"/>
                </a:solidFill>
                <a:latin typeface="Arial"/>
              </a:rPr>
              <a:t>утверждение</a:t>
            </a:r>
            <a:r>
              <a:rPr sz="800" b="0" i="0">
                <a:solidFill>
                  <a:srgbClr val="21295C"/>
                </a:solidFill>
                <a:latin typeface="Arial"/>
              </a:rPr>
              <a:t> — проверяется по источнику</a:t>
            </a:r>
          </a:p>
        </p:txBody>
      </p:sp>
      <p:sp>
        <p:nvSpPr>
          <p:cNvPr id="57" name="Rectangle 56"/>
          <p:cNvSpPr/>
          <p:nvPr/>
        </p:nvSpPr>
        <p:spPr>
          <a:xfrm>
            <a:off x="8211946" y="4532751"/>
            <a:ext cx="3440252" cy="365760"/>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8358250" y="4532751"/>
            <a:ext cx="314764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правдоподобная </a:t>
            </a:r>
            <a:r>
              <a:rPr sz="800" b="1" i="0">
                <a:solidFill>
                  <a:srgbClr val="21295C"/>
                </a:solidFill>
                <a:latin typeface="Arial"/>
              </a:rPr>
              <a:t>невозможность</a:t>
            </a:r>
            <a:r>
              <a:rPr sz="800" b="0" i="0">
                <a:solidFill>
                  <a:srgbClr val="21295C"/>
                </a:solidFill>
                <a:latin typeface="Arial"/>
              </a:rPr>
              <a:t> — проверяется физикой</a:t>
            </a:r>
          </a:p>
        </p:txBody>
      </p:sp>
      <p:sp>
        <p:nvSpPr>
          <p:cNvPr id="59" name="Rectangle 58"/>
          <p:cNvSpPr/>
          <p:nvPr/>
        </p:nvSpPr>
        <p:spPr>
          <a:xfrm>
            <a:off x="539496" y="4898511"/>
            <a:ext cx="1495037" cy="456309"/>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4898511"/>
            <a:ext cx="1202429"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Чем её чинят</a:t>
            </a:r>
          </a:p>
        </p:txBody>
      </p:sp>
      <p:sp>
        <p:nvSpPr>
          <p:cNvPr id="61" name="Rectangle 60"/>
          <p:cNvSpPr/>
          <p:nvPr/>
        </p:nvSpPr>
        <p:spPr>
          <a:xfrm>
            <a:off x="2034533" y="4898511"/>
            <a:ext cx="6177412" cy="45630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2180837" y="4898511"/>
            <a:ext cx="5884804" cy="456309"/>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подложить источник в контекст и потребовать ссылку</a:t>
            </a:r>
          </a:p>
        </p:txBody>
      </p:sp>
      <p:sp>
        <p:nvSpPr>
          <p:cNvPr id="63" name="Rectangle 62"/>
          <p:cNvSpPr/>
          <p:nvPr/>
        </p:nvSpPr>
        <p:spPr>
          <a:xfrm>
            <a:off x="8211946" y="4898511"/>
            <a:ext cx="3440252" cy="45630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8358250" y="4898511"/>
            <a:ext cx="3147644" cy="456309"/>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ничем аналогичным</a:t>
            </a:r>
            <a:r>
              <a:rPr sz="800" b="0" i="0">
                <a:solidFill>
                  <a:srgbClr val="21295C"/>
                </a:solidFill>
                <a:latin typeface="Arial"/>
              </a:rPr>
              <a:t>: обусловливание подсказывает форму</a:t>
            </a:r>
          </a:p>
        </p:txBody>
      </p:sp>
      <p:sp>
        <p:nvSpPr>
          <p:cNvPr id="65" name="Rectangle 64"/>
          <p:cNvSpPr/>
          <p:nvPr/>
        </p:nvSpPr>
        <p:spPr>
          <a:xfrm>
            <a:off x="539496" y="5354820"/>
            <a:ext cx="1495037" cy="365760"/>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354820"/>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Длина выхода</a:t>
            </a:r>
          </a:p>
        </p:txBody>
      </p:sp>
      <p:sp>
        <p:nvSpPr>
          <p:cNvPr id="67" name="Rectangle 66"/>
          <p:cNvSpPr/>
          <p:nvPr/>
        </p:nvSpPr>
        <p:spPr>
          <a:xfrm>
            <a:off x="2034533" y="5354820"/>
            <a:ext cx="6177412" cy="365760"/>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2180837" y="5354820"/>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переменная, решается стоп-токеном</a:t>
            </a:r>
          </a:p>
        </p:txBody>
      </p:sp>
      <p:sp>
        <p:nvSpPr>
          <p:cNvPr id="69" name="Rectangle 68"/>
          <p:cNvSpPr/>
          <p:nvPr/>
        </p:nvSpPr>
        <p:spPr>
          <a:xfrm>
            <a:off x="8211946" y="5354820"/>
            <a:ext cx="3440252" cy="365760"/>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8358250" y="5354820"/>
            <a:ext cx="3147644"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задана до запуска</a:t>
            </a:r>
            <a:r>
              <a:rPr sz="800" b="0" i="0">
                <a:solidFill>
                  <a:srgbClr val="21295C"/>
                </a:solidFill>
                <a:latin typeface="Arial"/>
              </a:rPr>
              <a:t>, остановиться раньше нельзя</a:t>
            </a:r>
          </a:p>
        </p:txBody>
      </p:sp>
      <p:sp>
        <p:nvSpPr>
          <p:cNvPr id="71" name="Rectangle 70"/>
          <p:cNvSpPr/>
          <p:nvPr/>
        </p:nvSpPr>
        <p:spPr>
          <a:xfrm>
            <a:off x="539496" y="5720580"/>
            <a:ext cx="1495037" cy="365760"/>
          </a:xfrm>
          <a:prstGeom prst="rect">
            <a:avLst/>
          </a:prstGeom>
          <a:solidFill>
            <a:srgbClr val="FFFFFF"/>
          </a:solidFill>
          <a:ln w="12700">
            <a:solidFill>
              <a:srgbClr val="D9E2EC"/>
            </a:solidFill>
          </a:ln>
          <a:effectLst/>
        </p:spPr>
        <p:txBody>
          <a:bodyPr rtlCol="0" anchor="ctr"/>
          <a:lstStyle/>
          <a:p>
            <a:pPr algn="ctr"/>
          </a:p>
        </p:txBody>
      </p:sp>
      <p:sp>
        <p:nvSpPr>
          <p:cNvPr id="72" name="TextBox 71"/>
          <p:cNvSpPr txBox="1"/>
          <p:nvPr/>
        </p:nvSpPr>
        <p:spPr>
          <a:xfrm>
            <a:off x="685800" y="5720580"/>
            <a:ext cx="1202429" cy="365760"/>
          </a:xfrm>
          <a:prstGeom prst="rect">
            <a:avLst/>
          </a:prstGeom>
          <a:noFill/>
        </p:spPr>
        <p:txBody>
          <a:bodyPr wrap="square" lIns="0" rIns="0" tIns="0" bIns="0" anchor="ctr">
            <a:spAutoFit/>
          </a:bodyPr>
          <a:lstStyle/>
          <a:p>
            <a:pPr algn="l">
              <a:lnSpc>
                <a:spcPct val="116000"/>
              </a:lnSpc>
            </a:pPr>
            <a:r>
              <a:rPr sz="800" b="1" i="0">
                <a:solidFill>
                  <a:srgbClr val="21295C"/>
                </a:solidFill>
                <a:latin typeface="Arial"/>
              </a:rPr>
              <a:t>Провенанс</a:t>
            </a:r>
          </a:p>
        </p:txBody>
      </p:sp>
      <p:sp>
        <p:nvSpPr>
          <p:cNvPr id="73" name="Rectangle 72"/>
          <p:cNvSpPr/>
          <p:nvPr/>
        </p:nvSpPr>
        <p:spPr>
          <a:xfrm>
            <a:off x="2034533" y="5720580"/>
            <a:ext cx="6177412" cy="365760"/>
          </a:xfrm>
          <a:prstGeom prst="rect">
            <a:avLst/>
          </a:prstGeom>
          <a:solidFill>
            <a:srgbClr val="FFFFFF"/>
          </a:solidFill>
          <a:ln w="12700">
            <a:solidFill>
              <a:srgbClr val="D9E2EC"/>
            </a:solidFill>
          </a:ln>
          <a:effectLst/>
        </p:spPr>
        <p:txBody>
          <a:bodyPr rtlCol="0" anchor="ctr"/>
          <a:lstStyle/>
          <a:p>
            <a:pPr algn="ctr"/>
          </a:p>
        </p:txBody>
      </p:sp>
      <p:sp>
        <p:nvSpPr>
          <p:cNvPr id="74" name="TextBox 73"/>
          <p:cNvSpPr txBox="1"/>
          <p:nvPr/>
        </p:nvSpPr>
        <p:spPr>
          <a:xfrm>
            <a:off x="2180837" y="5720580"/>
            <a:ext cx="588480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у ответа с поиском по документам </a:t>
            </a:r>
            <a:r>
              <a:rPr sz="800" b="1" i="0">
                <a:solidFill>
                  <a:srgbClr val="21295C"/>
                </a:solidFill>
                <a:latin typeface="Arial"/>
              </a:rPr>
              <a:t>есть</a:t>
            </a:r>
            <a:r>
              <a:rPr sz="800" b="0" i="0">
                <a:solidFill>
                  <a:srgbClr val="21295C"/>
                </a:solidFill>
                <a:latin typeface="Arial"/>
              </a:rPr>
              <a:t> ссылка</a:t>
            </a:r>
          </a:p>
        </p:txBody>
      </p:sp>
      <p:sp>
        <p:nvSpPr>
          <p:cNvPr id="75" name="Rectangle 74"/>
          <p:cNvSpPr/>
          <p:nvPr/>
        </p:nvSpPr>
        <p:spPr>
          <a:xfrm>
            <a:off x="8211946" y="5720580"/>
            <a:ext cx="3440252" cy="365760"/>
          </a:xfrm>
          <a:prstGeom prst="rect">
            <a:avLst/>
          </a:prstGeom>
          <a:solidFill>
            <a:srgbClr val="FFFFFF"/>
          </a:solidFill>
          <a:ln w="12700">
            <a:solidFill>
              <a:srgbClr val="D9E2EC"/>
            </a:solidFill>
          </a:ln>
          <a:effectLst/>
        </p:spPr>
        <p:txBody>
          <a:bodyPr rtlCol="0" anchor="ctr"/>
          <a:lstStyle/>
          <a:p>
            <a:pPr algn="ctr"/>
          </a:p>
        </p:txBody>
      </p:sp>
      <p:sp>
        <p:nvSpPr>
          <p:cNvPr id="76" name="TextBox 75"/>
          <p:cNvSpPr txBox="1"/>
          <p:nvPr/>
        </p:nvSpPr>
        <p:spPr>
          <a:xfrm>
            <a:off x="8358250" y="5720580"/>
            <a:ext cx="314764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у кадра её </a:t>
            </a:r>
            <a:r>
              <a:rPr sz="800" b="1" i="0">
                <a:solidFill>
                  <a:srgbClr val="21295C"/>
                </a:solidFill>
                <a:latin typeface="Arial"/>
              </a:rPr>
              <a:t>нет и не может быть</a:t>
            </a:r>
          </a:p>
        </p:txBody>
      </p:sp>
      <p:sp>
        <p:nvSpPr>
          <p:cNvPr id="77" name="Rectangle 7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78" name="TextBox 7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кадр технического блока; состав строк — PLAN-02 §5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НАБЛЮДЕНИЕ В МИНУС КАРТИНОЧНОМУ ЛАГЕРЮ</a:t>
            </a:r>
          </a:p>
        </p:txBody>
      </p:sp>
      <p:sp>
        <p:nvSpPr>
          <p:cNvPr id="10" name="TextBox 9"/>
          <p:cNvSpPr txBox="1"/>
          <p:nvPr/>
        </p:nvSpPr>
        <p:spPr>
          <a:xfrm>
            <a:off x="6315303" y="1725375"/>
            <a:ext cx="5236311"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по SDXL, FLUX.1 и DALL·E 3 не раскрыты ни часы видеокарт, ни стоимость, ни объём вычислений</a:t>
            </a:r>
          </a:p>
        </p:txBody>
      </p:sp>
      <p:sp>
        <p:nvSpPr>
          <p:cNvPr id="11" name="TextBox 10"/>
          <p:cNvSpPr txBox="1"/>
          <p:nvPr/>
        </p:nvSpPr>
        <p:spPr>
          <a:xfrm>
            <a:off x="6315303" y="2305148"/>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открытым весам можно посчитать размер модели и нельзя посчитать стоимость её создания</a:t>
            </a:r>
          </a:p>
        </p:txBody>
      </p:sp>
      <p:sp>
        <p:nvSpPr>
          <p:cNvPr id="12" name="Rounded Rectangle 11"/>
          <p:cNvSpPr/>
          <p:nvPr/>
        </p:nvSpPr>
        <p:spPr>
          <a:xfrm>
            <a:off x="374904" y="3193884"/>
            <a:ext cx="11441887" cy="3026649"/>
          </a:xfrm>
          <a:prstGeom prst="roundRect">
            <a:avLst>
              <a:gd name="adj" fmla="val 1007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Четыре верхние строки и три нижние смотрят в разные стороны.</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Обучить картиночную модель дешевле:</a:t>
            </a:r>
            <a:r>
              <a:rPr sz="1300" b="0" i="0">
                <a:solidFill>
                  <a:srgbClr val="21295C"/>
                </a:solidFill>
                <a:latin typeface="Arial"/>
              </a:rPr>
              <a:t> 150 000 часов видеокарт против ≈57 млн у передовой языковой — </a:t>
            </a:r>
            <a:r>
              <a:rPr sz="1300" b="1" i="0">
                <a:solidFill>
                  <a:srgbClr val="21295C"/>
                </a:solidFill>
                <a:latin typeface="Arial"/>
              </a:rPr>
              <a:t>в 206–380 раз</a:t>
            </a:r>
            <a:r>
              <a:rPr sz="1300" b="0" i="0">
                <a:solidFill>
                  <a:srgbClr val="21295C"/>
                </a:solidFill>
                <a:latin typeface="Arial"/>
              </a:rPr>
              <a:t>. $0,6 млн аренды против $78,4 млн — </a:t>
            </a:r>
            <a:r>
              <a:rPr sz="1300" b="1" i="0">
                <a:solidFill>
                  <a:srgbClr val="21295C"/>
                </a:solidFill>
                <a:latin typeface="Arial"/>
              </a:rPr>
              <a:t>в 131–319 раз</a:t>
            </a:r>
            <a:r>
              <a:rPr sz="1300" b="0" i="0">
                <a:solidFill>
                  <a:srgbClr val="21295C"/>
                </a:solidFill>
                <a:latin typeface="Arial"/>
              </a:rPr>
              <a:t>. Веса 4,27 ГБ против ≈810 ГБ — </a:t>
            </a:r>
            <a:r>
              <a:rPr sz="1300" b="1" i="0">
                <a:solidFill>
                  <a:srgbClr val="21295C"/>
                </a:solidFill>
                <a:latin typeface="Arial"/>
              </a:rPr>
              <a:t>в 190 раз</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Запустить её дороже:</a:t>
            </a:r>
            <a:r>
              <a:rPr sz="1300" b="0" i="0">
                <a:solidFill>
                  <a:srgbClr val="21295C"/>
                </a:solidFill>
                <a:latin typeface="Arial"/>
              </a:rPr>
              <a:t> 5,5 петафлопс на картинку против 0,14 на тысячу токенов — </a:t>
            </a:r>
            <a:r>
              <a:rPr sz="1300" b="1" i="0">
                <a:solidFill>
                  <a:srgbClr val="21295C"/>
                </a:solidFill>
                <a:latin typeface="Arial"/>
              </a:rPr>
              <a:t>в 40 раз</a:t>
            </a:r>
            <a:r>
              <a:rPr sz="1300" b="0" i="0">
                <a:solidFill>
                  <a:srgbClr val="21295C"/>
                </a:solidFill>
                <a:latin typeface="Arial"/>
              </a:rPr>
              <a:t>. 2,907 кВт·ч на тысячу генераций против 0,047 — </a:t>
            </a:r>
            <a:r>
              <a:rPr sz="1300" b="1" i="0">
                <a:solidFill>
                  <a:srgbClr val="21295C"/>
                </a:solidFill>
                <a:latin typeface="Arial"/>
              </a:rPr>
              <a:t>в 62 раза</a:t>
            </a:r>
            <a:r>
              <a:rPr sz="1300" b="0" i="0">
                <a:solidFill>
                  <a:srgbClr val="21295C"/>
                </a:solidFill>
                <a:latin typeface="Arial"/>
              </a:rPr>
              <a:t>. $120 за миллион токенов картинки против $12 за миллион токенов текста </a:t>
            </a:r>
            <a:r>
              <a:rPr sz="1300" b="1" i="0">
                <a:solidFill>
                  <a:srgbClr val="21295C"/>
                </a:solidFill>
                <a:latin typeface="Arial"/>
              </a:rPr>
              <a:t>у той же модели</a:t>
            </a:r>
            <a:r>
              <a:rPr sz="1300" b="0" i="0">
                <a:solidFill>
                  <a:srgbClr val="21295C"/>
                </a:solidFill>
                <a:latin typeface="Arial"/>
              </a:rPr>
              <a:t> — </a:t>
            </a:r>
            <a:r>
              <a:rPr sz="1300" b="1" i="0">
                <a:solidFill>
                  <a:srgbClr val="21295C"/>
                </a:solidFill>
                <a:latin typeface="Arial"/>
              </a:rPr>
              <a:t>в 10 раз</a:t>
            </a:r>
            <a:r>
              <a:rPr sz="1300" b="0" i="0">
                <a:solidFill>
                  <a:srgbClr val="21295C"/>
                </a:solidFill>
                <a:latin typeface="Arial"/>
              </a:rPr>
              <a:t>.</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Откуда сорок раз — считается за минуту.</a:t>
            </a:r>
            <a:r>
              <a:rPr sz="1300" b="0" i="0">
                <a:solidFill>
                  <a:srgbClr val="21295C"/>
                </a:solidFill>
                <a:latin typeface="Arial"/>
              </a:rPr>
              <a:t> 4096 токенов картинки плюс 512 текста = 4608; один проход ≈ 0,111 петафлопс; пятьдесят шагов — </a:t>
            </a:r>
            <a:r>
              <a:rPr sz="1300" b="1" i="0">
                <a:solidFill>
                  <a:srgbClr val="21295C"/>
                </a:solidFill>
                <a:latin typeface="Arial"/>
              </a:rPr>
              <a:t>5,5 петафлопс</a:t>
            </a:r>
            <a:r>
              <a:rPr sz="1300" b="0" i="0">
                <a:solidFill>
                  <a:srgbClr val="21295C"/>
                </a:solidFill>
                <a:latin typeface="Arial"/>
              </a:rPr>
              <a:t>. Ответ языковой модели на тысячу токенов — 0,14. </a:t>
            </a:r>
            <a:r>
              <a:rPr sz="1300" b="1" i="0">
                <a:solidFill>
                  <a:srgbClr val="21295C"/>
                </a:solidFill>
                <a:latin typeface="Arial"/>
              </a:rPr>
              <a:t>Четыре шага вместо пятидесяти роняют отношение с сорока до трёх.</a:t>
            </a:r>
          </a:p>
          <a:p>
            <a:pPr algn="l">
              <a:lnSpc>
                <a:spcPct val="126000"/>
              </a:lnSpc>
              <a:spcBef>
                <a:spcPts val="700"/>
              </a:spcBef>
            </a:pPr>
            <a:r>
              <a:rPr sz="1300" b="0" i="0">
                <a:solidFill>
                  <a:srgbClr val="21295C"/>
                </a:solidFill>
                <a:latin typeface="Arial"/>
              </a:rPr>
              <a:t/>
            </a:r>
            <a:r>
              <a:rPr sz="1300" b="1" i="0">
                <a:solidFill>
                  <a:srgbClr val="21295C"/>
                </a:solidFill>
                <a:latin typeface="Arial"/>
              </a:rPr>
              <a:t>И самое интересное: картиночные модели перестали расти.</a:t>
            </a:r>
            <a:r>
              <a:rPr sz="1300" b="0" i="0">
                <a:solidFill>
                  <a:srgbClr val="21295C"/>
                </a:solidFill>
                <a:latin typeface="Arial"/>
              </a:rPr>
              <a:t> SD v1 в 2022 и SD3 в 2024 — </a:t>
            </a:r>
            <a:r>
              <a:rPr sz="1300" b="1" i="0">
                <a:solidFill>
                  <a:srgbClr val="21295C"/>
                </a:solidFill>
                <a:latin typeface="Arial"/>
              </a:rPr>
              <a:t>одно и то же число операций обучения</a:t>
            </a:r>
            <a:r>
              <a:rPr sz="1300" b="0" i="0">
                <a:solidFill>
                  <a:srgbClr val="21295C"/>
                </a:solidFill>
                <a:latin typeface="Arial"/>
              </a:rPr>
              <a:t>. Передовые языковые за те же два года росли вчетверо-впятеро в год. </a:t>
            </a:r>
            <a:r>
              <a:rPr sz="1300" b="1" i="0">
                <a:solidFill>
                  <a:srgbClr val="21295C"/>
                </a:solidFill>
                <a:latin typeface="Arial"/>
              </a:rPr>
              <a:t>Разрыв увеличивается оттого, что языковые модели дорожают.</a:t>
            </a:r>
          </a:p>
        </p:txBody>
      </p:sp>
      <p:sp>
        <p:nvSpPr>
          <p:cNvPr id="15" name="Rectangle 14"/>
          <p:cNvSpPr/>
          <p:nvPr/>
        </p:nvSpPr>
        <p:spPr>
          <a:xfrm>
            <a:off x="6091275" y="3285324"/>
            <a:ext cx="9144" cy="2752329"/>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выделен в отдельную категорию наборов оценки — именно потому, что результаты там систематически хуже остальных</a:t>
            </a:r>
          </a:p>
        </p:txBody>
      </p:sp>
      <p:sp>
        <p:nvSpPr>
          <p:cNvPr id="11" name="TextBox 10"/>
          <p:cNvSpPr txBox="1"/>
          <p:nvPr/>
        </p:nvSpPr>
        <p:spPr>
          <a:xfrm>
            <a:off x="3477691" y="29841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токен, влияющий на распределение весов внимания, а не счётчик, который кто-то уменьшает</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«вот этот стул — тот же самый стул» не существует</a:t>
            </a:r>
          </a:p>
        </p:txBody>
      </p:sp>
      <p:sp>
        <p:nvSpPr>
          <p:cNvPr id="15" name="TextBox 14"/>
          <p:cNvSpPr txBox="1"/>
          <p:nvPr/>
        </p:nvSpPr>
        <p:spPr>
          <a:xfrm>
            <a:off x="6315303" y="3119001"/>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нет понятия объекта, согласованность достигается статистически и деградирует с длиной серии</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Rounded Rectangle 19"/>
          <p:cNvSpPr/>
          <p:nvPr/>
        </p:nvSpPr>
        <p:spPr>
          <a:xfrm>
            <a:off x="502920" y="4556557"/>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712005"/>
            <a:ext cx="5108295" cy="110642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сжатие в 48 раз — полтора порядка вычислений на каждом из десятков шагов</a:t>
            </a:r>
          </a:p>
          <a:p>
            <a:pPr algn="l">
              <a:lnSpc>
                <a:spcPct val="126000"/>
              </a:lnSpc>
            </a:pPr>
            <a:r>
              <a:rPr sz="1350" b="0" i="0">
                <a:solidFill>
                  <a:srgbClr val="21295C"/>
                </a:solidFill>
                <a:latin typeface="Arial"/>
              </a:rPr>
              <a:t>• 512×512 на карте с 6–8 ГБ в августе 2022</a:t>
            </a:r>
          </a:p>
          <a:p>
            <a:pPr algn="l">
              <a:lnSpc>
                <a:spcPct val="126000"/>
              </a:lnSpc>
            </a:pPr>
            <a:r>
              <a:rPr sz="1350" b="0" i="0">
                <a:solidFill>
                  <a:srgbClr val="21295C"/>
                </a:solidFill>
                <a:latin typeface="Arial"/>
              </a:rPr>
              <a:t>• цена одной попытки $0,034–0,05 против $50–150 за заказ</a:t>
            </a:r>
          </a:p>
        </p:txBody>
      </p:sp>
      <p:sp>
        <p:nvSpPr>
          <p:cNvPr id="22" name="Rounded Rectangle 21"/>
          <p:cNvSpPr/>
          <p:nvPr/>
        </p:nvSpPr>
        <p:spPr>
          <a:xfrm>
            <a:off x="6251295" y="4556557"/>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4712005"/>
            <a:ext cx="5108295" cy="110642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250" b="0" i="0">
                <a:solidFill>
                  <a:srgbClr val="21295C"/>
                </a:solidFill>
                <a:latin typeface="Arial"/>
              </a:rPr>
              <a:t>• лицо на дальнем плане занимает единицы ячеек латента</a:t>
            </a:r>
          </a:p>
          <a:p>
            <a:pPr algn="l">
              <a:lnSpc>
                <a:spcPct val="126000"/>
              </a:lnSpc>
            </a:pPr>
            <a:r>
              <a:rPr sz="1250" b="0" i="0">
                <a:solidFill>
                  <a:srgbClr val="21295C"/>
                </a:solidFill>
                <a:latin typeface="Arial"/>
              </a:rPr>
              <a:t>• понятия дискретного объекта в механизме нет — считать нечему</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110642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Нельзя измерить — снять размер нечем, масштаба в изображении нет</a:t>
            </a:r>
          </a:p>
          <a:p>
            <a:pPr algn="l">
              <a:lnSpc>
                <a:spcPct val="126000"/>
              </a:lnSpc>
            </a:pPr>
            <a:r>
              <a:rPr sz="9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900" b="0" i="0">
                <a:solidFill>
                  <a:srgbClr val="21295C"/>
                </a:solidFill>
                <a:latin typeface="Arial"/>
              </a:rPr>
              <a:t>• Нельзя изготовить — на выходе нет геометрии, которую примет станок</a:t>
            </a:r>
          </a:p>
          <a:p>
            <a:pPr algn="l">
              <a:lnSpc>
                <a:spcPct val="126000"/>
              </a:lnSpc>
            </a:pPr>
            <a:r>
              <a:rPr sz="9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8" name="Rounded Rectangle 17"/>
          <p:cNvSpPr/>
          <p:nvPr/>
        </p:nvSpPr>
        <p:spPr>
          <a:xfrm>
            <a:off x="6251295" y="3839838"/>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995286"/>
            <a:ext cx="5108295" cy="1106424"/>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0" name="Rounded Rectangle 19"/>
          <p:cNvSpPr/>
          <p:nvPr/>
        </p:nvSpPr>
        <p:spPr>
          <a:xfrm>
            <a:off x="374904" y="5348598"/>
            <a:ext cx="11441887" cy="88760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40038"/>
            <a:ext cx="11112703" cy="796169"/>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Генератор производит картинку объекта. Модели объекта внутри картинки нет.</a:t>
            </a:r>
            <a:r>
              <a:rPr sz="850" b="0" i="0">
                <a:solidFill>
                  <a:srgbClr val="21295C"/>
                </a:solidFill>
                <a:latin typeface="Arial"/>
              </a:rPr>
              <a:t> Нет единиц измерения · допусков · материалов · кинематики · ограничений как проверяемых условий · дерева построения. Изображение детали, на котором «похоже, что резьба М12», </a:t>
            </a:r>
            <a:r>
              <a:rPr sz="850" b="1" i="0">
                <a:solidFill>
                  <a:srgbClr val="21295C"/>
                </a:solidFill>
                <a:latin typeface="Arial"/>
              </a:rPr>
              <a:t>не содержит резьбы М12</a:t>
            </a:r>
            <a:r>
              <a:rPr sz="850" b="0" i="0">
                <a:solidFill>
                  <a:srgbClr val="21295C"/>
                </a:solidFill>
                <a:latin typeface="Arial"/>
              </a:rPr>
              <a:t> — оно содержит точки растра, статистически похожие на фотографии резьбы.</a:t>
            </a:r>
          </a:p>
          <a:p>
            <a:pPr algn="l">
              <a:lnSpc>
                <a:spcPct val="126000"/>
              </a:lnSpc>
              <a:spcBef>
                <a:spcPts val="700"/>
              </a:spcBef>
            </a:pPr>
            <a:r>
              <a:rPr sz="850" b="0" i="0">
                <a:solidFill>
                  <a:srgbClr val="21295C"/>
                </a:solidFill>
                <a:latin typeface="Arial"/>
              </a:rPr>
              <a:t/>
            </a:r>
            <a:r>
              <a:rPr sz="850" b="1" i="0">
                <a:solidFill>
                  <a:srgbClr val="21295C"/>
                </a:solidFill>
                <a:latin typeface="Arial"/>
              </a:rPr>
              <a:t>Четыре запрета, каждый проверяется за секунду:</a:t>
            </a:r>
            <a:r>
              <a:rPr sz="850" b="0" i="0">
                <a:solidFill>
                  <a:srgbClr val="21295C"/>
                </a:solidFill>
                <a:latin typeface="Arial"/>
              </a:rPr>
              <a:t> </a:t>
            </a:r>
            <a:r>
              <a:rPr sz="850" b="1" i="0">
                <a:solidFill>
                  <a:srgbClr val="21295C"/>
                </a:solidFill>
                <a:latin typeface="Arial"/>
              </a:rPr>
              <a:t>Нельзя измерить</a:t>
            </a:r>
            <a:r>
              <a:rPr sz="850" b="0" i="0">
                <a:solidFill>
                  <a:srgbClr val="21295C"/>
                </a:solidFill>
                <a:latin typeface="Arial"/>
              </a:rPr>
              <a:t> — снять размер нечем, масштаба в изображении нет. </a:t>
            </a:r>
            <a:r>
              <a:rPr sz="850" b="1" i="0">
                <a:solidFill>
                  <a:srgbClr val="21295C"/>
                </a:solidFill>
                <a:latin typeface="Arial"/>
              </a:rPr>
              <a:t>Нельзя проверить</a:t>
            </a:r>
            <a:r>
              <a:rPr sz="850" b="0" i="0">
                <a:solidFill>
                  <a:srgbClr val="21295C"/>
                </a:solidFill>
                <a:latin typeface="Arial"/>
              </a:rPr>
              <a:t> — конструкция не проходила ни прочностного расчёта, ни проверки собираемости, и </a:t>
            </a:r>
            <a:r>
              <a:rPr sz="850" b="1" i="0">
                <a:solidFill>
                  <a:srgbClr val="21295C"/>
                </a:solidFill>
                <a:latin typeface="Arial"/>
              </a:rPr>
              <a:t>выглядит ровно так же, как прошедшая</a:t>
            </a:r>
            <a:r>
              <a:rPr sz="850" b="0" i="0">
                <a:solidFill>
                  <a:srgbClr val="21295C"/>
                </a:solidFill>
                <a:latin typeface="Arial"/>
              </a:rPr>
              <a:t>. </a:t>
            </a:r>
            <a:r>
              <a:rPr sz="850" b="1" i="0">
                <a:solidFill>
                  <a:srgbClr val="21295C"/>
                </a:solidFill>
                <a:latin typeface="Arial"/>
              </a:rPr>
              <a:t>Нельзя изготовить</a:t>
            </a:r>
            <a:r>
              <a:rPr sz="850" b="0" i="0">
                <a:solidFill>
                  <a:srgbClr val="21295C"/>
                </a:solidFill>
                <a:latin typeface="Arial"/>
              </a:rPr>
              <a:t> — на выходе нет геометрии, которую примет станок. </a:t>
            </a:r>
            <a:r>
              <a:rPr sz="850" b="1" i="0">
                <a:solidFill>
                  <a:srgbClr val="21295C"/>
                </a:solidFill>
                <a:latin typeface="Arial"/>
              </a:rPr>
              <a:t>Нельзя сопровождать</a:t>
            </a:r>
            <a:r>
              <a:rPr sz="850" b="0" i="0">
                <a:solidFill>
                  <a:srgbClr val="21295C"/>
                </a:solidFill>
                <a:latin typeface="Arial"/>
              </a:rPr>
              <a:t> — дерева построения нет, «поменять диаметр и пересчитать» невозможно.</a:t>
            </a:r>
          </a:p>
          <a:p>
            <a:pPr algn="l">
              <a:lnSpc>
                <a:spcPct val="126000"/>
              </a:lnSpc>
              <a:spcBef>
                <a:spcPts val="700"/>
              </a:spcBef>
            </a:pPr>
            <a:r>
              <a:rPr sz="850" b="0" i="0">
                <a:solidFill>
                  <a:srgbClr val="21295C"/>
                </a:solidFill>
                <a:latin typeface="Arial"/>
              </a:rPr>
              <a:t/>
            </a:r>
            <a:r>
              <a:rPr sz="850" b="1" i="0">
                <a:solidFill>
                  <a:srgbClr val="21295C"/>
                </a:solidFill>
                <a:latin typeface="Arial"/>
              </a:rPr>
              <a:t>Где генератор в том же конвейере полезен:</a:t>
            </a:r>
            <a:r>
              <a:rPr sz="850" b="0" i="0">
                <a:solidFill>
                  <a:srgbClr val="21295C"/>
                </a:solidFill>
                <a:latin typeface="Arial"/>
              </a:rPr>
              <a:t> поиск облика — раскадровка идей, варианты формы, настроение · визуализация уже посчитанного — рендер по готовой геометрии, свет, окружение · презентационные материалы.</a:t>
            </a:r>
          </a:p>
          <a:p>
            <a:pPr algn="l">
              <a:lnSpc>
                <a:spcPct val="126000"/>
              </a:lnSpc>
              <a:spcBef>
                <a:spcPts val="700"/>
              </a:spcBef>
            </a:pPr>
            <a:r>
              <a:rPr sz="850" b="0" i="0">
                <a:solidFill>
                  <a:srgbClr val="21295C"/>
                </a:solidFill>
                <a:latin typeface="Arial"/>
              </a:rPr>
              <a:t/>
            </a:r>
            <a:r>
              <a:rPr sz="850" b="1" i="0">
                <a:solidFill>
                  <a:srgbClr val="21295C"/>
                </a:solidFill>
                <a:latin typeface="Arial"/>
              </a:rPr>
              <a:t>Граница: там, где картинка перестаёт быть иллюстрацией и становится источником данных для следующего шага производства.</a:t>
            </a:r>
          </a:p>
          <a:p>
            <a:pPr algn="l">
              <a:lnSpc>
                <a:spcPct val="126000"/>
              </a:lnSpc>
              <a:spcBef>
                <a:spcPts val="700"/>
              </a:spcBef>
            </a:pPr>
            <a:r>
              <a:rPr sz="850" b="0" i="0">
                <a:solidFill>
                  <a:srgbClr val="21295C"/>
                </a:solidFill>
                <a:latin typeface="Arial"/>
              </a:rPr>
              <a:t/>
            </a:r>
            <a:r>
              <a:rPr sz="850" b="1" i="0">
                <a:solidFill>
                  <a:srgbClr val="21295C"/>
                </a:solidFill>
                <a:latin typeface="Arial"/>
              </a:rPr>
              <a:t>Генератор отвечает на вопрос «как это выглядит». САПР отвечает на вопрос «что это такое».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следствие устройства, разобранного техническим блоком; связка с разбором бионической перегородки этого же раздела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подкладывать в расшумление нечего, потому что оно не устроено как ответ на вопрос по документу</a:t>
            </a:r>
          </a:p>
        </p:txBody>
      </p:sp>
      <p:sp>
        <p:nvSpPr>
          <p:cNvPr id="20" name="Rounded Rectangle 19"/>
          <p:cNvSpPr/>
          <p:nvPr/>
        </p:nvSpPr>
        <p:spPr>
          <a:xfrm>
            <a:off x="374904" y="4274621"/>
            <a:ext cx="11441887" cy="1961586"/>
          </a:xfrm>
          <a:prstGeom prst="roundRect">
            <a:avLst>
              <a:gd name="adj" fmla="val 155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366061"/>
            <a:ext cx="11112703" cy="1870146"/>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Инженер, пришедший от языковых моделей, задаёт этот вопрос одним из первых:</a:t>
            </a:r>
            <a:r>
              <a:rPr sz="850" b="0" i="0">
                <a:solidFill>
                  <a:srgbClr val="21295C"/>
                </a:solidFill>
                <a:latin typeface="Arial"/>
              </a:rPr>
              <a:t> есть приём, которым чинят уверенное враньё — положить источник в контекст и потребовать ссылку. Где такой же для картинок?</a:t>
            </a:r>
          </a:p>
          <a:p>
            <a:pPr algn="l">
              <a:lnSpc>
                <a:spcPct val="126000"/>
              </a:lnSpc>
              <a:spcBef>
                <a:spcPts val="700"/>
              </a:spcBef>
            </a:pPr>
            <a:r>
              <a:rPr sz="850" b="0" i="0">
                <a:solidFill>
                  <a:srgbClr val="21295C"/>
                </a:solidFill>
                <a:latin typeface="Arial"/>
              </a:rPr>
              <a:t/>
            </a:r>
            <a:r>
              <a:rPr sz="850" b="1" i="0">
                <a:solidFill>
                  <a:srgbClr val="21295C"/>
                </a:solidFill>
                <a:latin typeface="Arial"/>
              </a:rPr>
              <a:t>Его нет, и причина устройственная, а не продуктовая.</a:t>
            </a:r>
          </a:p>
          <a:p>
            <a:pPr algn="l">
              <a:lnSpc>
                <a:spcPct val="126000"/>
              </a:lnSpc>
              <a:spcBef>
                <a:spcPts val="700"/>
              </a:spcBef>
            </a:pPr>
            <a:r>
              <a:rPr sz="850" b="0" i="0">
                <a:solidFill>
                  <a:srgbClr val="21295C"/>
                </a:solidFill>
                <a:latin typeface="Arial"/>
              </a:rPr>
              <a:t/>
            </a:r>
            <a:r>
              <a:rPr sz="850" b="1" i="0">
                <a:solidFill>
                  <a:srgbClr val="21295C"/>
                </a:solidFill>
                <a:latin typeface="Arial"/>
              </a:rPr>
              <a:t>Куда там кладут источник</a:t>
            </a:r>
            <a:r>
              <a:rPr sz="850" b="0" i="0">
                <a:solidFill>
                  <a:srgbClr val="21295C"/>
                </a:solidFill>
                <a:latin typeface="Arial"/>
              </a:rPr>
              <a:t> — в контекст: документ занимает место рядом с вопросом, внимание может на него сослаться, у каждого выданного токена есть проверяемая вероятность. </a:t>
            </a:r>
            <a:r>
              <a:rPr sz="850" b="1" i="0">
                <a:solidFill>
                  <a:srgbClr val="21295C"/>
                </a:solidFill>
                <a:latin typeface="Arial"/>
              </a:rPr>
              <a:t>Куда это положить здесь</a:t>
            </a:r>
            <a:r>
              <a:rPr sz="850" b="0" i="0">
                <a:solidFill>
                  <a:srgbClr val="21295C"/>
                </a:solidFill>
                <a:latin typeface="Arial"/>
              </a:rPr>
              <a:t> — </a:t>
            </a:r>
            <a:r>
              <a:rPr sz="850" b="1" i="0">
                <a:solidFill>
                  <a:srgbClr val="21295C"/>
                </a:solidFill>
                <a:latin typeface="Arial"/>
              </a:rPr>
              <a:t>некуда</a:t>
            </a:r>
            <a:r>
              <a:rPr sz="850" b="0" i="0">
                <a:solidFill>
                  <a:srgbClr val="21295C"/>
                </a:solidFill>
                <a:latin typeface="Arial"/>
              </a:rPr>
              <a:t>. Контекста в том смысле нет вовсе: описание — постоянное условие на всех шагах. Истории нет, накопления нет, места «рядом с вопросом» нет. </a:t>
            </a:r>
            <a:r>
              <a:rPr sz="850" b="1" i="0">
                <a:solidFill>
                  <a:srgbClr val="21295C"/>
                </a:solidFill>
                <a:latin typeface="Arial"/>
              </a:rPr>
              <a:t>Что обусловливание делает на самом деле</a:t>
            </a:r>
            <a:r>
              <a:rPr sz="850" b="0" i="0">
                <a:solidFill>
                  <a:srgbClr val="21295C"/>
                </a:solidFill>
                <a:latin typeface="Arial"/>
              </a:rPr>
              <a:t> — карта глубины говорит «здесь объект ближе», поза говорит «рука поднята», образец лица говорит «похоже на это». </a:t>
            </a:r>
            <a:r>
              <a:rPr sz="850" b="1" i="0">
                <a:solidFill>
                  <a:srgbClr val="21295C"/>
                </a:solidFill>
                <a:latin typeface="Arial"/>
              </a:rPr>
              <a:t>Обусловливание подсказывает форму, а не истину.</a:t>
            </a:r>
            <a:r>
              <a:rPr sz="850" b="0" i="0">
                <a:solidFill>
                  <a:srgbClr val="21295C"/>
                </a:solidFill>
                <a:latin typeface="Arial"/>
              </a:rPr>
              <a:t> </a:t>
            </a:r>
            <a:r>
              <a:rPr sz="850" b="1" i="0">
                <a:solidFill>
                  <a:srgbClr val="21295C"/>
                </a:solidFill>
                <a:latin typeface="Arial"/>
              </a:rPr>
              <a:t>Почему нет и цитирования</a:t>
            </a:r>
            <a:r>
              <a:rPr sz="850" b="0" i="0">
                <a:solidFill>
                  <a:srgbClr val="21295C"/>
                </a:solidFill>
                <a:latin typeface="Arial"/>
              </a:rPr>
              <a:t> — вклад каждого обучающего примера размазан по миллиардам весов. Поставщик провенанс не прячет: </a:t>
            </a:r>
            <a:r>
              <a:rPr sz="850" b="1" i="0">
                <a:solidFill>
                  <a:srgbClr val="21295C"/>
                </a:solidFill>
                <a:latin typeface="Arial"/>
              </a:rPr>
              <a:t>его не существует</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Три последствия, каждое с действием.</a:t>
            </a:r>
            <a:r>
              <a:rPr sz="850" b="0" i="0">
                <a:solidFill>
                  <a:srgbClr val="21295C"/>
                </a:solidFill>
                <a:latin typeface="Arial"/>
              </a:rPr>
              <a:t> Правовая проверка выхода изнутри модели </a:t>
            </a:r>
            <a:r>
              <a:rPr sz="850" b="1" i="0">
                <a:solidFill>
                  <a:srgbClr val="21295C"/>
                </a:solidFill>
                <a:latin typeface="Arial"/>
              </a:rPr>
              <a:t>невозможна</a:t>
            </a:r>
            <a:r>
              <a:rPr sz="850" b="0" i="0">
                <a:solidFill>
                  <a:srgbClr val="21295C"/>
                </a:solidFill>
                <a:latin typeface="Arial"/>
              </a:rPr>
              <a:t> — только сравнением снаружи. «Удалить один факт» из модели </a:t>
            </a:r>
            <a:r>
              <a:rPr sz="850" b="1" i="0">
                <a:solidFill>
                  <a:srgbClr val="21295C"/>
                </a:solidFill>
                <a:latin typeface="Arial"/>
              </a:rPr>
              <a:t>нельзя</a:t>
            </a:r>
            <a:r>
              <a:rPr sz="850" b="0" i="0">
                <a:solidFill>
                  <a:srgbClr val="21295C"/>
                </a:solidFill>
                <a:latin typeface="Arial"/>
              </a:rPr>
              <a:t> — отсюда фильтры на выходе вместо правок внутри. Происхождение прикрепляют </a:t>
            </a:r>
            <a:r>
              <a:rPr sz="850" b="1" i="0">
                <a:solidFill>
                  <a:srgbClr val="21295C"/>
                </a:solidFill>
                <a:latin typeface="Arial"/>
              </a:rPr>
              <a:t>снаружи</a:t>
            </a:r>
            <a:r>
              <a:rPr sz="850" b="0" i="0">
                <a:solidFill>
                  <a:srgbClr val="21295C"/>
                </a:solidFill>
                <a:latin typeface="Arial"/>
              </a:rPr>
              <a:t>, подписанными метаданными.</a:t>
            </a:r>
          </a:p>
          <a:p>
            <a:pPr algn="l">
              <a:lnSpc>
                <a:spcPct val="126000"/>
              </a:lnSpc>
              <a:spcBef>
                <a:spcPts val="700"/>
              </a:spcBef>
            </a:pPr>
            <a:r>
              <a:rPr sz="850" b="0" i="0">
                <a:solidFill>
                  <a:srgbClr val="21295C"/>
                </a:solidFill>
                <a:latin typeface="Arial"/>
              </a:rPr>
              <a:t/>
            </a:r>
            <a:r>
              <a:rPr sz="850" b="1" i="0">
                <a:solidFill>
                  <a:srgbClr val="21295C"/>
                </a:solidFill>
                <a:latin typeface="Arial"/>
              </a:rPr>
              <a:t>Ограничения живут в контуре вокруг модели: внутри неё их выразить нечем.</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следствие устройства обусловливания, разобранного техническим блоком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321 000 → 240 000, то есть −25%</a:t>
            </a:r>
          </a:p>
        </p:txBody>
      </p:sp>
      <p:sp>
        <p:nvSpPr>
          <p:cNvPr id="7" name="TextBox 6"/>
          <p:cNvSpPr txBox="1"/>
          <p:nvPr/>
        </p:nvSpPr>
        <p:spPr>
          <a:xfrm>
            <a:off x="640080"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3340531"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3477691"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$130–499 розница · ≈$2,50 опт за одно изображение</a:t>
            </a:r>
          </a:p>
        </p:txBody>
      </p:sp>
      <p:sp>
        <p:nvSpPr>
          <p:cNvPr id="11" name="TextBox 10"/>
          <p:cNvSpPr txBox="1"/>
          <p:nvPr/>
        </p:nvSpPr>
        <p:spPr>
          <a:xfrm>
            <a:off x="3477691" y="265219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6178143" y="1335024"/>
            <a:ext cx="2673019" cy="286513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315303" y="2373048"/>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9015755"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9152915" y="1932846"/>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«растущее давление изображений, созданных ИИ»</a:t>
            </a:r>
          </a:p>
        </p:txBody>
      </p:sp>
      <p:sp>
        <p:nvSpPr>
          <p:cNvPr id="19" name="TextBox 18"/>
          <p:cNvSpPr txBox="1"/>
          <p:nvPr/>
        </p:nvSpPr>
        <p:spPr>
          <a:xfrm>
            <a:off x="9152915" y="286060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502920" y="4383036"/>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538484"/>
            <a:ext cx="5108295" cy="110642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владелец дорогой библиотеки покупает микросток</a:t>
            </a:r>
          </a:p>
          <a:p>
            <a:pPr algn="l">
              <a:lnSpc>
                <a:spcPct val="126000"/>
              </a:lnSpc>
            </a:pPr>
            <a:r>
              <a:rPr sz="1100" b="0" i="0">
                <a:solidFill>
                  <a:srgbClr val="21295C"/>
                </a:solidFill>
                <a:latin typeface="Arial"/>
              </a:rPr>
              <a:t>• рынок разделился на «дёшево и много» и «дорого и именно это»</a:t>
            </a:r>
          </a:p>
          <a:p>
            <a:pPr algn="l">
              <a:lnSpc>
                <a:spcPct val="126000"/>
              </a:lnSpc>
            </a:pPr>
            <a:r>
              <a:rPr sz="1100" b="0" i="0">
                <a:solidFill>
                  <a:srgbClr val="21295C"/>
                </a:solidFill>
                <a:latin typeface="Arial"/>
              </a:rPr>
              <a:t>• верхний сегмент выжил, и покупатель остался в нём главным</a:t>
            </a:r>
          </a:p>
          <a:p>
            <a:pPr algn="l">
              <a:lnSpc>
                <a:spcPct val="126000"/>
              </a:lnSpc>
            </a:pPr>
            <a:r>
              <a:rPr sz="1100" b="0" i="0">
                <a:solidFill>
                  <a:srgbClr val="21295C"/>
                </a:solidFill>
                <a:latin typeface="Arial"/>
              </a:rPr>
              <a:t>• микросток был НОВЫМ КАНАЛОМ продажи той же вещи — фотографии, снятой человеком</a:t>
            </a:r>
          </a:p>
        </p:txBody>
      </p:sp>
      <p:sp>
        <p:nvSpPr>
          <p:cNvPr id="22" name="Rounded Rectangle 21"/>
          <p:cNvSpPr/>
          <p:nvPr/>
        </p:nvSpPr>
        <p:spPr>
          <a:xfrm>
            <a:off x="6251295" y="4383036"/>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4538484"/>
            <a:ext cx="5108295" cy="110642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слияние расторгнуто условием регулятора</a:t>
            </a:r>
          </a:p>
          <a:p>
            <a:pPr algn="l">
              <a:lnSpc>
                <a:spcPct val="126000"/>
              </a:lnSpc>
            </a:pPr>
            <a:r>
              <a:rPr sz="900" b="0" i="0">
                <a:solidFill>
                  <a:srgbClr val="21295C"/>
                </a:solidFill>
                <a:latin typeface="Arial"/>
              </a:rPr>
              <a:t>• торги остановлены, подано банкротство</a:t>
            </a:r>
          </a:p>
          <a:p>
            <a:pPr algn="l">
              <a:lnSpc>
                <a:spcPct val="126000"/>
              </a:lnSpc>
            </a:pPr>
            <a:r>
              <a:rPr sz="900" b="0" i="0">
                <a:solidFill>
                  <a:srgbClr val="21295C"/>
                </a:solidFill>
                <a:latin typeface="Arial"/>
              </a:rPr>
              <a:t>• прежняя формулировка «консолидируются в ответ на ИИ» снята: правильная — попытка защититься не сработала</a:t>
            </a:r>
          </a:p>
          <a:p>
            <a:pPr algn="l">
              <a:lnSpc>
                <a:spcPct val="126000"/>
              </a:lnSpc>
            </a:pPr>
            <a:r>
              <a:rPr sz="900" b="0" i="0">
                <a:solidFill>
                  <a:srgbClr val="21295C"/>
                </a:solidFill>
                <a:latin typeface="Arial"/>
              </a:rPr>
              <a:t>• генерация — ОТСУТСТВИЕ ВЕЩИ, которую нужно лицензировать. Купить её владельца невозможно: владельца нет</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и страницы цен, перечисленные в начале раздела</a:t>
            </a:r>
            <a:r>
              <a:rPr sz="1200" b="0" i="1">
                <a:solidFill>
                  <a:srgbClr val="1C7293"/>
                </a:solidFill>
                <a:latin typeface="Arial"/>
              </a:rPr>
              <a:t> · </a:t>
            </a:r>
            <a:r>
              <a:rPr sz="1200" b="0" i="1">
                <a:solidFill>
                  <a:srgbClr val="1C7293"/>
                </a:solidFill>
                <a:latin typeface="Arial"/>
              </a:rPr>
              <a:t>отчётность и корпоративные сообщения Getty Images,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1269415" cy="53774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932846"/>
            <a:ext cx="995095" cy="1666168"/>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3599015"/>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1936927" y="1335024"/>
            <a:ext cx="1269415" cy="53774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2074087" y="2140317"/>
            <a:ext cx="995095"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по товарному знаку</a:t>
            </a:r>
          </a:p>
        </p:txBody>
      </p:sp>
      <p:sp>
        <p:nvSpPr>
          <p:cNvPr id="11" name="TextBox 10"/>
          <p:cNvSpPr txBox="1"/>
          <p:nvPr/>
        </p:nvSpPr>
        <p:spPr>
          <a:xfrm>
            <a:off x="2074087" y="2889840"/>
            <a:ext cx="9950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3370935" y="1335024"/>
            <a:ext cx="1269415" cy="53774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1290547"/>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3508095" y="2762731"/>
            <a:ext cx="995095" cy="1462469"/>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3508095" y="4225200"/>
            <a:ext cx="995095" cy="2323678"/>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4804943" y="1335024"/>
            <a:ext cx="1269415" cy="53774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18" name="TextBox 17"/>
          <p:cNvSpPr txBox="1"/>
          <p:nvPr/>
        </p:nvSpPr>
        <p:spPr>
          <a:xfrm>
            <a:off x="4942103" y="2140317"/>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12,3 млн изображений истца из ≈5,85 млрд пар</a:t>
            </a:r>
          </a:p>
        </p:txBody>
      </p:sp>
      <p:sp>
        <p:nvSpPr>
          <p:cNvPr id="19" name="TextBox 18"/>
          <p:cNvSpPr txBox="1"/>
          <p:nvPr/>
        </p:nvSpPr>
        <p:spPr>
          <a:xfrm>
            <a:off x="4942103" y="3195389"/>
            <a:ext cx="995095" cy="3379895"/>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20" name="Rounded Rectangle 19"/>
          <p:cNvSpPr/>
          <p:nvPr/>
        </p:nvSpPr>
        <p:spPr>
          <a:xfrm>
            <a:off x="502920" y="6877036"/>
            <a:ext cx="5571439"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7014196"/>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22" name="TextBox 21"/>
          <p:cNvSpPr txBox="1"/>
          <p:nvPr/>
        </p:nvSpPr>
        <p:spPr>
          <a:xfrm>
            <a:off x="640080" y="7267387"/>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23" name="TextBox 22"/>
          <p:cNvSpPr txBox="1"/>
          <p:nvPr/>
        </p:nvSpPr>
        <p:spPr>
          <a:xfrm>
            <a:off x="640080" y="7694387"/>
            <a:ext cx="529711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24" name="Rounded Rectangle 23"/>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25" name="Picture 24"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6" name="Rectangle 2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850" b="0" i="0">
                <a:solidFill>
                  <a:srgbClr val="21295C"/>
                </a:solidFill>
                <a:latin typeface="Arial"/>
              </a:rPr>
              <a:t/>
            </a:r>
            <a:r>
              <a:rPr sz="850" b="1" i="0">
                <a:solidFill>
                  <a:srgbClr val="21295C"/>
                </a:solidFill>
                <a:latin typeface="Arial"/>
              </a:rPr>
              <a:t>4 265 146 304 байта ÷ 2 320 000 000 изображений = 1,84 байта.</a:t>
            </a:r>
            <a:r>
              <a:rPr sz="850" b="0" i="0">
                <a:solidFill>
                  <a:srgbClr val="21295C"/>
                </a:solidFill>
                <a:latin typeface="Arial"/>
              </a:rPr>
              <a:t> Один символ кириллицы занимает ровно два байта. </a:t>
            </a:r>
            <a:r>
              <a:rPr sz="850" b="1" i="0">
                <a:solidFill>
                  <a:srgbClr val="21295C"/>
                </a:solidFill>
                <a:latin typeface="Arial"/>
              </a:rPr>
              <a:t>На каждую картинку, которую модель видела, в ней приходится меньше места, чем на одну букву этой фразы.</a:t>
            </a:r>
            <a:r>
              <a:rPr sz="850" b="0" i="0">
                <a:solidFill>
                  <a:srgbClr val="21295C"/>
                </a:solidFill>
                <a:latin typeface="Arial"/>
              </a:rPr>
              <a:t> Сама картинка в том же корпусе весит в среднем </a:t>
            </a:r>
            <a:r>
              <a:rPr sz="850" b="1" i="0">
                <a:solidFill>
                  <a:srgbClr val="21295C"/>
                </a:solidFill>
                <a:latin typeface="Arial"/>
              </a:rPr>
              <a:t>41 379 байт</a:t>
            </a:r>
            <a:r>
              <a:rPr sz="850" b="0" i="0">
                <a:solidFill>
                  <a:srgbClr val="21295C"/>
                </a:solidFill>
                <a:latin typeface="Arial"/>
              </a:rPr>
              <a:t> — измерено: 240 ТБ на 5,8 млрд изображений. </a:t>
            </a:r>
            <a:r>
              <a:rPr sz="850" b="1" i="0">
                <a:solidFill>
                  <a:srgbClr val="21295C"/>
                </a:solidFill>
                <a:latin typeface="Arial"/>
              </a:rPr>
              <a:t>Степень сжатия ×22 508.</a:t>
            </a:r>
            <a:r>
              <a:rPr sz="850" b="0" i="0">
                <a:solidFill>
                  <a:srgbClr val="21295C"/>
                </a:solidFill>
                <a:latin typeface="Arial"/>
              </a:rPr>
              <a:t> Два альтернативных счёта: </a:t>
            </a:r>
            <a:r>
              <a:rPr sz="850" b="1" i="0">
                <a:solidFill>
                  <a:srgbClr val="21295C"/>
                </a:solidFill>
                <a:latin typeface="Arial"/>
              </a:rPr>
              <a:t>3,32 байта</a:t>
            </a:r>
            <a:r>
              <a:rPr sz="850" b="0" i="0">
                <a:solidFill>
                  <a:srgbClr val="21295C"/>
                </a:solidFill>
                <a:latin typeface="Arial"/>
              </a:rPr>
              <a:t> в полной точности, </a:t>
            </a:r>
            <a:r>
              <a:rPr sz="850" b="1" i="0">
                <a:solidFill>
                  <a:srgbClr val="21295C"/>
                </a:solidFill>
                <a:latin typeface="Arial"/>
              </a:rPr>
              <a:t>26,7 байта</a:t>
            </a:r>
            <a:r>
              <a:rPr sz="850" b="0" i="0">
                <a:solidFill>
                  <a:srgbClr val="21295C"/>
                </a:solidFill>
                <a:latin typeface="Arial"/>
              </a:rPr>
              <a:t> против 160 млн примеров. Даже по самому щедрому счёту модель </a:t>
            </a:r>
            <a:r>
              <a:rPr sz="850" b="1" i="0">
                <a:solidFill>
                  <a:srgbClr val="21295C"/>
                </a:solidFill>
                <a:latin typeface="Arial"/>
              </a:rPr>
              <a:t>в полторы тысячи раз меньше</a:t>
            </a:r>
            <a:r>
              <a:rPr sz="850" b="0" i="0">
                <a:solidFill>
                  <a:srgbClr val="21295C"/>
                </a:solidFill>
                <a:latin typeface="Arial"/>
              </a:rPr>
              <a:t> того, на чём училась. Для масштаба: репозиторий </a:t>
            </a:r>
            <a:r>
              <a:rPr sz="850" b="1" i="0">
                <a:solidFill>
                  <a:srgbClr val="21295C"/>
                </a:solidFill>
                <a:latin typeface="Arial"/>
              </a:rPr>
              <a:t>одних только ссылок и подписей</a:t>
            </a:r>
            <a:r>
              <a:rPr sz="850" b="0" i="0">
                <a:solidFill>
                  <a:srgbClr val="21295C"/>
                </a:solidFill>
                <a:latin typeface="Arial"/>
              </a:rPr>
              <a:t>, без единой картинки, весит </a:t>
            </a:r>
            <a:r>
              <a:rPr sz="850" b="1" i="0">
                <a:solidFill>
                  <a:srgbClr val="21295C"/>
                </a:solidFill>
                <a:latin typeface="Arial"/>
              </a:rPr>
              <a:t>в 275 раз больше, чем вся модель</a:t>
            </a:r>
            <a:r>
              <a:rPr sz="850" b="0" i="0">
                <a:solidFill>
                  <a:srgbClr val="21295C"/>
                </a:solidFill>
                <a:latin typeface="Arial"/>
              </a:rPr>
              <a:t>.</a:t>
            </a:r>
          </a:p>
          <a:p>
            <a:pPr algn="l">
              <a:lnSpc>
                <a:spcPct val="126000"/>
              </a:lnSpc>
              <a:spcBef>
                <a:spcPts val="700"/>
              </a:spcBef>
            </a:pPr>
            <a:r>
              <a:rPr sz="1150" b="0" i="0">
                <a:solidFill>
                  <a:srgbClr val="21295C"/>
                </a:solidFill>
                <a:latin typeface="Arial"/>
              </a:rPr>
              <a:t/>
            </a:r>
            <a:r>
              <a:rPr sz="1150" b="1" i="0">
                <a:solidFill>
                  <a:srgbClr val="21295C"/>
                </a:solidFill>
                <a:latin typeface="Arial"/>
              </a:rPr>
              <a:t>И всё же дубликаты запоминаются — вторая половина обязательна</a:t>
            </a:r>
          </a:p>
          <a:p>
            <a:pPr algn="l">
              <a:lnSpc>
                <a:spcPct val="126000"/>
              </a:lnSpc>
              <a:spcBef>
                <a:spcPts val="700"/>
              </a:spcBef>
            </a:pPr>
            <a:r>
              <a:rPr sz="850" b="0" i="0">
                <a:solidFill>
                  <a:srgbClr val="21295C"/>
                </a:solidFill>
                <a:latin typeface="Arial"/>
              </a:rPr>
              <a:t/>
            </a:r>
            <a:r>
              <a:rPr sz="850" b="0" i="0">
                <a:solidFill>
                  <a:srgbClr val="21295C"/>
                </a:solidFill>
                <a:latin typeface="Arial"/>
              </a:rPr>
              <a:t>Отобрали </a:t>
            </a:r>
            <a:r>
              <a:rPr sz="850" b="1" i="0">
                <a:solidFill>
                  <a:srgbClr val="21295C"/>
                </a:solidFill>
                <a:latin typeface="Arial"/>
              </a:rPr>
              <a:t>350 000</a:t>
            </a:r>
            <a:r>
              <a:rPr sz="850" b="0" i="0">
                <a:solidFill>
                  <a:srgbClr val="21295C"/>
                </a:solidFill>
                <a:latin typeface="Arial"/>
              </a:rPr>
              <a:t> самых дублированных примеров, сгенерировали по 500 кандидатов — </a:t>
            </a:r>
            <a:r>
              <a:rPr sz="850" b="1" i="0">
                <a:solidFill>
                  <a:srgbClr val="21295C"/>
                </a:solidFill>
                <a:latin typeface="Arial"/>
              </a:rPr>
              <a:t>175 миллионов</a:t>
            </a:r>
            <a:r>
              <a:rPr sz="850" b="0" i="0">
                <a:solidFill>
                  <a:srgbClr val="21295C"/>
                </a:solidFill>
                <a:latin typeface="Arial"/>
              </a:rPr>
              <a:t> изображений — и нашли </a:t>
            </a:r>
            <a:r>
              <a:rPr sz="850" b="1" i="0">
                <a:solidFill>
                  <a:srgbClr val="21295C"/>
                </a:solidFill>
                <a:latin typeface="Arial"/>
              </a:rPr>
              <a:t>109</a:t>
            </a:r>
            <a:r>
              <a:rPr sz="850" b="0" i="0">
                <a:solidFill>
                  <a:srgbClr val="21295C"/>
                </a:solidFill>
                <a:latin typeface="Arial"/>
              </a:rPr>
              <a:t> извлечённых. </a:t>
            </a:r>
            <a:r>
              <a:rPr sz="850" b="1" i="0">
                <a:solidFill>
                  <a:srgbClr val="21295C"/>
                </a:solidFill>
                <a:latin typeface="Arial"/>
              </a:rPr>
              <a:t>0,000062%</a:t>
            </a:r>
            <a:r>
              <a:rPr sz="850" b="0" i="0">
                <a:solidFill>
                  <a:srgbClr val="21295C"/>
                </a:solidFill>
                <a:latin typeface="Arial"/>
              </a:rPr>
              <a:t> от сгенерированного · </a:t>
            </a:r>
            <a:r>
              <a:rPr sz="850" b="1" i="0">
                <a:solidFill>
                  <a:srgbClr val="21295C"/>
                </a:solidFill>
                <a:latin typeface="Arial"/>
              </a:rPr>
              <a:t>0,031%</a:t>
            </a:r>
            <a:r>
              <a:rPr sz="850" b="0" i="0">
                <a:solidFill>
                  <a:srgbClr val="21295C"/>
                </a:solidFill>
                <a:latin typeface="Arial"/>
              </a:rPr>
              <a:t> от самых дублированных запросов. </a:t>
            </a:r>
            <a:r>
              <a:rPr sz="850" b="1" i="0">
                <a:solidFill>
                  <a:srgbClr val="21295C"/>
                </a:solidFill>
                <a:latin typeface="Arial"/>
              </a:rPr>
              <a:t>Механизм назван:</a:t>
            </a:r>
            <a:r>
              <a:rPr sz="850" b="0" i="0">
                <a:solidFill>
                  <a:srgbClr val="21295C"/>
                </a:solidFill>
                <a:latin typeface="Arial"/>
              </a:rPr>
              <a:t> извлечение удаётся тогда, когда изображение было продублировано в корпусе </a:t>
            </a:r>
            <a:r>
              <a:rPr sz="850" b="1" i="0">
                <a:solidFill>
                  <a:srgbClr val="21295C"/>
                </a:solidFill>
                <a:latin typeface="Arial"/>
              </a:rPr>
              <a:t>минимум сто раз</a:t>
            </a:r>
            <a:r>
              <a:rPr sz="850" b="0" i="0">
                <a:solidFill>
                  <a:srgbClr val="21295C"/>
                </a:solidFill>
                <a:latin typeface="Arial"/>
              </a:rPr>
              <a:t>. Карточка модели подтверждает с другой стороны: </a:t>
            </a:r>
            <a:r>
              <a:rPr sz="850" b="1" i="0">
                <a:solidFill>
                  <a:srgbClr val="21295C"/>
                </a:solidFill>
                <a:latin typeface="Arial"/>
              </a:rPr>
              <a:t>мер по дедупликации не применялось вовсе</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Модель не хранит картинки. Но картинка, попавшая в набор сто раз, перестаёт быть одной из двух миллиардов.</a:t>
            </a:r>
            <a:r>
              <a:rPr sz="850" b="0" i="0">
                <a:solidFill>
                  <a:srgbClr val="21295C"/>
                </a:solidFill>
                <a:latin typeface="Arial"/>
              </a:rPr>
              <a:t> </a:t>
            </a:r>
            <a:r>
              <a:rPr sz="8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374904" y="1243584"/>
            <a:ext cx="11441887" cy="1818039"/>
          </a:xfrm>
          <a:prstGeom prst="roundRect">
            <a:avLst>
              <a:gd name="adj" fmla="val 167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1726599"/>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1. США: авторства у сгенерированного без человеческого вклада нет.</a:t>
            </a:r>
            <a:r>
              <a:rPr sz="850" b="0" i="0">
                <a:solidFill>
                  <a:srgbClr val="21295C"/>
                </a:solidFill>
                <a:latin typeface="Arial"/>
              </a:rPr>
              <a:t> Точка поставлена отказом в пересмотре 2 марта 2026. </a:t>
            </a:r>
            <a:r>
              <a:rPr sz="850" b="0" i="1">
                <a:solidFill>
                  <a:srgbClr val="21295C"/>
                </a:solidFill>
                <a:latin typeface="Arial"/>
              </a:rPr>
              <a:t>Сколько именно вклада достаточно — не решено.</a:t>
            </a:r>
            <a:r>
              <a:rPr sz="850" b="0" i="0">
                <a:solidFill>
                  <a:srgbClr val="21295C"/>
                </a:solidFill>
                <a:latin typeface="Arial"/>
              </a:rPr>
              <a:t> → </a:t>
            </a:r>
            <a:r>
              <a:rPr sz="850" b="1" i="0">
                <a:solidFill>
                  <a:srgbClr val="21295C"/>
                </a:solidFill>
                <a:latin typeface="Arial"/>
              </a:rPr>
              <a:t>решение окончательное</a:t>
            </a:r>
          </a:p>
          <a:p>
            <a:pPr algn="l">
              <a:lnSpc>
                <a:spcPct val="126000"/>
              </a:lnSpc>
              <a:spcBef>
                <a:spcPts val="700"/>
              </a:spcBef>
            </a:pPr>
            <a:r>
              <a:rPr sz="850" b="0" i="0">
                <a:solidFill>
                  <a:srgbClr val="21295C"/>
                </a:solidFill>
                <a:latin typeface="Arial"/>
              </a:rPr>
              <a:t/>
            </a:r>
            <a:r>
              <a:rPr sz="850" b="1" i="0">
                <a:solidFill>
                  <a:srgbClr val="21295C"/>
                </a:solidFill>
                <a:latin typeface="Arial"/>
              </a:rPr>
              <a:t>2. США: заплачено $1,5 млрд — за хранение пиратской библиотеки, а не за обучение.</a:t>
            </a:r>
            <a:r>
              <a:rPr sz="850" b="0" i="0">
                <a:solidFill>
                  <a:srgbClr val="21295C"/>
                </a:solidFill>
                <a:latin typeface="Arial"/>
              </a:rPr>
              <a:t> Обучение на законно купленных книгах тот же судья назвал исключительно преобразующим. ≈$3 000 на произведение при ~500 000 произведений. → </a:t>
            </a:r>
            <a:r>
              <a:rPr sz="850" b="1" i="0">
                <a:solidFill>
                  <a:srgbClr val="21295C"/>
                </a:solidFill>
                <a:latin typeface="Arial"/>
              </a:rPr>
              <a:t>мировое, вины не признано</a:t>
            </a:r>
          </a:p>
          <a:p>
            <a:pPr algn="l">
              <a:lnSpc>
                <a:spcPct val="126000"/>
              </a:lnSpc>
              <a:spcBef>
                <a:spcPts val="700"/>
              </a:spcBef>
            </a:pPr>
            <a:r>
              <a:rPr sz="850" b="0" i="0">
                <a:solidFill>
                  <a:srgbClr val="21295C"/>
                </a:solidFill>
                <a:latin typeface="Arial"/>
              </a:rPr>
              <a:t/>
            </a:r>
            <a:r>
              <a:rPr sz="850" b="1" i="0">
                <a:solidFill>
                  <a:srgbClr val="21295C"/>
                </a:solidFill>
                <a:latin typeface="Arial"/>
              </a:rPr>
              <a:t>3. Великобритания: веса модели копией произведения не являются.</a:t>
            </a:r>
            <a:r>
              <a:rPr sz="850" b="0" i="0">
                <a:solidFill>
                  <a:srgbClr val="21295C"/>
                </a:solidFill>
                <a:latin typeface="Arial"/>
              </a:rPr>
              <a:t> Истец проиграл потому, что не доказал, где шло обучение. → </a:t>
            </a:r>
            <a:r>
              <a:rPr sz="850" b="1" i="0">
                <a:solidFill>
                  <a:srgbClr val="21295C"/>
                </a:solidFill>
                <a:latin typeface="Arial"/>
              </a:rPr>
              <a:t>решение вынесено, обжаловано; решения апелляции нет</a:t>
            </a:r>
          </a:p>
          <a:p>
            <a:pPr algn="l">
              <a:lnSpc>
                <a:spcPct val="126000"/>
              </a:lnSpc>
              <a:spcBef>
                <a:spcPts val="700"/>
              </a:spcBef>
            </a:pPr>
            <a:r>
              <a:rPr sz="850" b="0" i="0">
                <a:solidFill>
                  <a:srgbClr val="21295C"/>
                </a:solidFill>
                <a:latin typeface="Arial"/>
              </a:rPr>
              <a:t/>
            </a:r>
            <a:r>
              <a:rPr sz="850" b="1" i="0">
                <a:solidFill>
                  <a:srgbClr val="21295C"/>
                </a:solidFill>
                <a:latin typeface="Arial"/>
              </a:rPr>
              <a:t>4. ЕС: раскрытие и машиночитаемая маркировка обязательны</a:t>
            </a:r>
            <a:r>
              <a:rPr sz="850" b="0" i="0">
                <a:solidFill>
                  <a:srgbClr val="21295C"/>
                </a:solidFill>
                <a:latin typeface="Arial"/>
              </a:rPr>
              <a:t>, санкция до 15 млн € или 3% оборота. </a:t>
            </a:r>
            <a:r>
              <a:rPr sz="850" b="0" i="1">
                <a:solidFill>
                  <a:srgbClr val="21295C"/>
                </a:solidFill>
                <a:latin typeface="Arial"/>
              </a:rPr>
              <a:t>Отложены были высокорисковые системы, а не эта статья.</a:t>
            </a:r>
            <a:r>
              <a:rPr sz="850" b="0" i="0">
                <a:solidFill>
                  <a:srgbClr val="21295C"/>
                </a:solidFill>
                <a:latin typeface="Arial"/>
              </a:rPr>
              <a:t> → </a:t>
            </a:r>
            <a:r>
              <a:rPr sz="850" b="1" i="0">
                <a:solidFill>
                  <a:srgbClr val="21295C"/>
                </a:solidFill>
                <a:latin typeface="Arial"/>
              </a:rPr>
              <a:t>закон в силе со 2 августа 2026</a:t>
            </a:r>
          </a:p>
          <a:p>
            <a:pPr algn="l">
              <a:lnSpc>
                <a:spcPct val="126000"/>
              </a:lnSpc>
              <a:spcBef>
                <a:spcPts val="700"/>
              </a:spcBef>
            </a:pPr>
            <a:r>
              <a:rPr sz="850" b="0" i="0">
                <a:solidFill>
                  <a:srgbClr val="21295C"/>
                </a:solidFill>
                <a:latin typeface="Arial"/>
              </a:rPr>
              <a:t/>
            </a:r>
            <a:r>
              <a:rPr sz="850" b="1" i="0">
                <a:solidFill>
                  <a:srgbClr val="21295C"/>
                </a:solidFill>
                <a:latin typeface="Arial"/>
              </a:rPr>
              <a:t>5. РФ: исключение на обучение дано только суверенным и национальным моделям.</a:t>
            </a:r>
            <a:r>
              <a:rPr sz="850" b="0" i="0">
                <a:solidFill>
                  <a:srgbClr val="21295C"/>
                </a:solidFill>
                <a:latin typeface="Arial"/>
              </a:rPr>
              <a:t> Учить на чужих произведениях можно </a:t>
            </a:r>
            <a:r>
              <a:rPr sz="850" b="1" i="0">
                <a:solidFill>
                  <a:srgbClr val="21295C"/>
                </a:solidFill>
                <a:latin typeface="Arial"/>
              </a:rPr>
              <a:t>по модели opt-out</a:t>
            </a:r>
            <a:r>
              <a:rPr sz="850" b="0" i="0">
                <a:solidFill>
                  <a:srgbClr val="21295C"/>
                </a:solidFill>
                <a:latin typeface="Arial"/>
              </a:rPr>
              <a:t> — правообладатель должен сам заявить отказ, — но это право получили </a:t>
            </a:r>
            <a:r>
              <a:rPr sz="850" b="1" i="0">
                <a:solidFill>
                  <a:srgbClr val="21295C"/>
                </a:solidFill>
                <a:latin typeface="Arial"/>
              </a:rPr>
              <a:t>не все</a:t>
            </a:r>
            <a:r>
              <a:rPr sz="850" b="0" i="0">
                <a:solidFill>
                  <a:srgbClr val="21295C"/>
                </a:solidFill>
                <a:latin typeface="Arial"/>
              </a:rPr>
              <a:t>: для прочих моделей такого исключения в законе нет. Обязательной маркировки он тоже не содержит: она </a:t>
            </a:r>
            <a:r>
              <a:rPr sz="850" b="1" i="0">
                <a:solidFill>
                  <a:srgbClr val="21295C"/>
                </a:solidFill>
                <a:latin typeface="Arial"/>
              </a:rPr>
              <a:t>право автора, а не обязанность</a:t>
            </a:r>
            <a:r>
              <a:rPr sz="850" b="0" i="0">
                <a:solidFill>
                  <a:srgbClr val="21295C"/>
                </a:solidFill>
                <a:latin typeface="Arial"/>
              </a:rPr>
              <a:t>. → </a:t>
            </a:r>
            <a:r>
              <a:rPr sz="850" b="1" i="0">
                <a:solidFill>
                  <a:srgbClr val="21295C"/>
                </a:solidFill>
                <a:latin typeface="Arial"/>
              </a:rPr>
              <a:t>действует с 01.09.2026; нормы об обучении и маркировке — с 1 марта 2027. Норма спорна, правка обсуждается с октября 2026</a:t>
            </a:r>
          </a:p>
          <a:p>
            <a:pPr algn="l">
              <a:lnSpc>
                <a:spcPct val="126000"/>
              </a:lnSpc>
              <a:spcBef>
                <a:spcPts val="700"/>
              </a:spcBef>
            </a:pPr>
            <a:r>
              <a:rPr sz="850" b="0" i="0">
                <a:solidFill>
                  <a:srgbClr val="21295C"/>
                </a:solidFill>
                <a:latin typeface="Arial"/>
              </a:rPr>
              <a:t/>
            </a:r>
            <a:r>
              <a:rPr sz="850" b="1" i="0">
                <a:solidFill>
                  <a:srgbClr val="21295C"/>
                </a:solidFill>
                <a:latin typeface="Arial"/>
              </a:rPr>
              <a:t>6. РФ, пара в одной юрисдикции: дипфейк суд защитил</a:t>
            </a:r>
            <a:r>
              <a:rPr sz="850" b="0" i="0">
                <a:solidFill>
                  <a:srgbClr val="21295C"/>
                </a:solidFill>
                <a:latin typeface="Arial"/>
              </a:rPr>
              <a:t> (нейросеть — дополнительный инструмент обработки, 500 000 ₽), </a:t>
            </a:r>
            <a:r>
              <a:rPr sz="850" b="1" i="0">
                <a:solidFill>
                  <a:srgbClr val="21295C"/>
                </a:solidFill>
                <a:latin typeface="Arial"/>
              </a:rPr>
              <a:t>сгенерированные изображения не защитил</a:t>
            </a:r>
            <a:r>
              <a:rPr sz="850" b="0" i="0">
                <a:solidFill>
                  <a:srgbClr val="21295C"/>
                </a:solidFill>
                <a:latin typeface="Arial"/>
              </a:rPr>
              <a:t> («ввод запросов есть технический, а не творческий труд»). → </a:t>
            </a:r>
            <a:r>
              <a:rPr sz="850" b="1" i="0">
                <a:solidFill>
                  <a:srgbClr val="21295C"/>
                </a:solidFill>
                <a:latin typeface="Arial"/>
              </a:rPr>
              <a:t>первая прошла три инстанции; вторая — первая инстанция, подана апелляция</a:t>
            </a:r>
          </a:p>
          <a:p>
            <a:pPr algn="l">
              <a:lnSpc>
                <a:spcPct val="126000"/>
              </a:lnSpc>
              <a:spcBef>
                <a:spcPts val="700"/>
              </a:spcBef>
            </a:pPr>
            <a:r>
              <a:rPr sz="850" b="0" i="0">
                <a:solidFill>
                  <a:srgbClr val="21295C"/>
                </a:solidFill>
                <a:latin typeface="Arial"/>
              </a:rPr>
              <a:t/>
            </a:r>
            <a:r>
              <a:rPr sz="850" b="1" i="0">
                <a:solidFill>
                  <a:srgbClr val="21295C"/>
                </a:solidFill>
                <a:latin typeface="Arial"/>
              </a:rPr>
              <a:t>7. Голос: в России отдельной охраны нет.</a:t>
            </a:r>
            <a:r>
              <a:rPr sz="850" b="0" i="0">
                <a:solidFill>
                  <a:srgbClr val="21295C"/>
                </a:solidFill>
                <a:latin typeface="Arial"/>
              </a:rPr>
              <a:t> Проект статьи внесён через месяц после проигранного дела и правительством не поддержан; в США действуют законы двух штатов, федерального нет. → </a:t>
            </a:r>
            <a:r>
              <a:rPr sz="850" b="1" i="0">
                <a:solidFill>
                  <a:srgbClr val="21295C"/>
                </a:solidFill>
                <a:latin typeface="Arial"/>
              </a:rPr>
              <a:t>расхождение юрисдикций</a:t>
            </a:r>
          </a:p>
          <a:p>
            <a:pPr algn="l">
              <a:lnSpc>
                <a:spcPct val="126000"/>
              </a:lnSpc>
              <a:spcBef>
                <a:spcPts val="700"/>
              </a:spcBef>
            </a:pPr>
            <a:r>
              <a:rPr sz="850" b="0" i="0">
                <a:solidFill>
                  <a:srgbClr val="21295C"/>
                </a:solidFill>
                <a:latin typeface="Arial"/>
              </a:rPr>
              <a:t/>
            </a:r>
            <a:r>
              <a:rPr sz="850" b="1" i="0">
                <a:solidFill>
                  <a:srgbClr val="21295C"/>
                </a:solidFill>
                <a:latin typeface="Arial"/>
              </a:rPr>
              <a:t>8. Музыка: рынок решил быстрее суда.</a:t>
            </a:r>
            <a:r>
              <a:rPr sz="850" b="0" i="0">
                <a:solidFill>
                  <a:srgbClr val="21295C"/>
                </a:solidFill>
                <a:latin typeface="Arial"/>
              </a:rPr>
              <a:t> Лейблы перешли от исков к лицензиям, ставка $0,002–0,005 за генерацию; часть истцов судится параллельно с подписанными сделками. → </a:t>
            </a:r>
            <a:r>
              <a:rPr sz="850" b="1" i="0">
                <a:solidFill>
                  <a:srgbClr val="21295C"/>
                </a:solidFill>
                <a:latin typeface="Arial"/>
              </a:rPr>
              <a:t>сделки при незакрытых исках</a:t>
            </a:r>
          </a:p>
          <a:p>
            <a:pPr algn="l">
              <a:lnSpc>
                <a:spcPct val="126000"/>
              </a:lnSpc>
              <a:spcBef>
                <a:spcPts val="700"/>
              </a:spcBef>
            </a:pPr>
            <a:r>
              <a:rPr sz="850" b="0" i="0">
                <a:solidFill>
                  <a:srgbClr val="21295C"/>
                </a:solidFill>
                <a:latin typeface="Arial"/>
              </a:rPr>
              <a:t/>
            </a:r>
            <a:r>
              <a:rPr sz="850" b="1" i="0">
                <a:solidFill>
                  <a:srgbClr val="21295C"/>
                </a:solidFill>
                <a:latin typeface="Arial"/>
              </a:rPr>
              <a:t>Восемь строк — пять разных статусов: иск подан · решение вынесено · мировое без признания вины · закон в силе · закон принят, в силу не вступил.</a:t>
            </a:r>
          </a:p>
          <a:p>
            <a:pPr algn="l">
              <a:lnSpc>
                <a:spcPct val="126000"/>
              </a:lnSpc>
              <a:spcBef>
                <a:spcPts val="700"/>
              </a:spcBef>
            </a:pPr>
            <a:r>
              <a:rPr sz="850" b="0" i="0">
                <a:solidFill>
                  <a:srgbClr val="21295C"/>
                </a:solidFill>
                <a:latin typeface="Arial"/>
              </a:rPr>
              <a:t/>
            </a:r>
            <a:r>
              <a:rPr sz="850" b="0" i="0">
                <a:solidFill>
                  <a:srgbClr val="21295C"/>
                </a:solidFill>
                <a:latin typeface="Arial"/>
              </a:rPr>
              <a:t>---</a:t>
            </a:r>
          </a:p>
        </p:txBody>
      </p:sp>
      <p:sp>
        <p:nvSpPr>
          <p:cNvPr id="6" name="Rectangle 5"/>
          <p:cNvSpPr/>
          <p:nvPr/>
        </p:nvSpPr>
        <p:spPr>
          <a:xfrm>
            <a:off x="502920" y="3171351"/>
            <a:ext cx="2788920" cy="252341"/>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3235359"/>
            <a:ext cx="2660903"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Тип задачи</a:t>
            </a:r>
          </a:p>
        </p:txBody>
      </p:sp>
      <p:sp>
        <p:nvSpPr>
          <p:cNvPr id="8" name="Rectangle 7"/>
          <p:cNvSpPr/>
          <p:nvPr/>
        </p:nvSpPr>
        <p:spPr>
          <a:xfrm>
            <a:off x="3291839" y="3171351"/>
            <a:ext cx="1679387" cy="252341"/>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Изображение</a:t>
            </a:r>
          </a:p>
        </p:txBody>
      </p:sp>
      <p:sp>
        <p:nvSpPr>
          <p:cNvPr id="10" name="Rectangle 9"/>
          <p:cNvSpPr/>
          <p:nvPr/>
        </p:nvSpPr>
        <p:spPr>
          <a:xfrm>
            <a:off x="4971227"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Звук</a:t>
            </a:r>
          </a:p>
        </p:txBody>
      </p:sp>
      <p:sp>
        <p:nvSpPr>
          <p:cNvPr id="12" name="Rectangle 11"/>
          <p:cNvSpPr/>
          <p:nvPr/>
        </p:nvSpPr>
        <p:spPr>
          <a:xfrm>
            <a:off x="6650614"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Видео</a:t>
            </a:r>
          </a:p>
        </p:txBody>
      </p:sp>
      <p:sp>
        <p:nvSpPr>
          <p:cNvPr id="14" name="Rectangle 13"/>
          <p:cNvSpPr/>
          <p:nvPr/>
        </p:nvSpPr>
        <p:spPr>
          <a:xfrm>
            <a:off x="8330001"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Трёхмерное</a:t>
            </a:r>
          </a:p>
        </p:txBody>
      </p:sp>
      <p:sp>
        <p:nvSpPr>
          <p:cNvPr id="16" name="Rectangle 15"/>
          <p:cNvSpPr/>
          <p:nvPr/>
        </p:nvSpPr>
        <p:spPr>
          <a:xfrm>
            <a:off x="10009388"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Распознавание</a:t>
            </a:r>
          </a:p>
        </p:txBody>
      </p:sp>
      <p:sp>
        <p:nvSpPr>
          <p:cNvPr id="18" name="Rectangle 17"/>
          <p:cNvSpPr/>
          <p:nvPr/>
        </p:nvSpPr>
        <p:spPr>
          <a:xfrm>
            <a:off x="3291839" y="3373401"/>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3423693"/>
            <a:ext cx="2788920" cy="412979"/>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3487701"/>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Породить первое приближение</a:t>
            </a:r>
          </a:p>
          <a:p>
            <a:pPr algn="l">
              <a:lnSpc>
                <a:spcPct val="113000"/>
              </a:lnSpc>
              <a:spcBef>
                <a:spcPts val="200"/>
              </a:spcBef>
            </a:pPr>
            <a:r>
              <a:rPr sz="6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0,034–0,05 $ за изображение</a:t>
            </a:r>
          </a:p>
        </p:txBody>
      </p:sp>
      <p:sp>
        <p:nvSpPr>
          <p:cNvPr id="23" name="Rectangle 22"/>
          <p:cNvSpPr/>
          <p:nvPr/>
        </p:nvSpPr>
        <p:spPr>
          <a:xfrm>
            <a:off x="4971227"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836672"/>
            <a:ext cx="2788920" cy="412979"/>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90068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Довести до производственного качества</a:t>
            </a:r>
          </a:p>
          <a:p>
            <a:pPr algn="l">
              <a:lnSpc>
                <a:spcPct val="113000"/>
              </a:lnSpc>
              <a:spcBef>
                <a:spcPts val="200"/>
              </a:spcBef>
            </a:pPr>
            <a:r>
              <a:rPr sz="650" b="0" i="1">
                <a:solidFill>
                  <a:srgbClr val="1C7293"/>
                </a:solidFill>
                <a:latin typeface="Arial"/>
              </a:rPr>
              <a:t>отобрать, доработать и выпустить годное</a:t>
            </a:r>
          </a:p>
        </p:txBody>
      </p:sp>
      <p:sp>
        <p:nvSpPr>
          <p:cNvPr id="29" name="Rectangle 28"/>
          <p:cNvSpPr/>
          <p:nvPr/>
        </p:nvSpPr>
        <p:spPr>
          <a:xfrm>
            <a:off x="3291839"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адаптеры и ручная правка</a:t>
            </a:r>
          </a:p>
        </p:txBody>
      </p:sp>
      <p:sp>
        <p:nvSpPr>
          <p:cNvPr id="31" name="Rectangle 30"/>
          <p:cNvSpPr/>
          <p:nvPr/>
        </p:nvSpPr>
        <p:spPr>
          <a:xfrm>
            <a:off x="4971227"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4249652"/>
            <a:ext cx="2788920" cy="412979"/>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431366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Восстановить существующее</a:t>
            </a:r>
          </a:p>
          <a:p>
            <a:pPr algn="l">
              <a:lnSpc>
                <a:spcPct val="113000"/>
              </a:lnSpc>
              <a:spcBef>
                <a:spcPts val="200"/>
              </a:spcBef>
            </a:pPr>
            <a:r>
              <a:rPr sz="650" b="0" i="1">
                <a:solidFill>
                  <a:srgbClr val="1C7293"/>
                </a:solidFill>
                <a:latin typeface="Arial"/>
              </a:rPr>
              <a:t>вытащить то, что уже записано, но читается плохо</a:t>
            </a:r>
          </a:p>
        </p:txBody>
      </p:sp>
      <p:sp>
        <p:nvSpPr>
          <p:cNvPr id="37" name="Rectangle 36"/>
          <p:cNvSpPr/>
          <p:nvPr/>
        </p:nvSpPr>
        <p:spPr>
          <a:xfrm>
            <a:off x="3291839"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повышение разрешения архива</a:t>
            </a:r>
          </a:p>
        </p:txBody>
      </p:sp>
      <p:sp>
        <p:nvSpPr>
          <p:cNvPr id="39" name="Rectangle 38"/>
          <p:cNvSpPr/>
          <p:nvPr/>
        </p:nvSpPr>
        <p:spPr>
          <a:xfrm>
            <a:off x="4971227"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662631"/>
            <a:ext cx="2788920" cy="412979"/>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72663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Соблюсти точные величины</a:t>
            </a:r>
          </a:p>
          <a:p>
            <a:pPr algn="l">
              <a:lnSpc>
                <a:spcPct val="113000"/>
              </a:lnSpc>
              <a:spcBef>
                <a:spcPts val="200"/>
              </a:spcBef>
            </a:pPr>
            <a:r>
              <a:rPr sz="650" b="0" i="1">
                <a:solidFill>
                  <a:srgbClr val="1C7293"/>
                </a:solidFill>
                <a:latin typeface="Arial"/>
              </a:rPr>
              <a:t>размеры, допуски, проверяемые условия</a:t>
            </a:r>
          </a:p>
        </p:txBody>
      </p:sp>
      <p:sp>
        <p:nvSpPr>
          <p:cNvPr id="45" name="Rectangle 44"/>
          <p:cNvSpPr/>
          <p:nvPr/>
        </p:nvSpPr>
        <p:spPr>
          <a:xfrm>
            <a:off x="3291839"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47" name="Rectangle 46"/>
          <p:cNvSpPr/>
          <p:nvPr/>
        </p:nvSpPr>
        <p:spPr>
          <a:xfrm>
            <a:off x="4971227"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5075611"/>
            <a:ext cx="2788920" cy="412979"/>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513961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Уложиться в бюджет реального времени</a:t>
            </a:r>
          </a:p>
          <a:p>
            <a:pPr algn="l">
              <a:lnSpc>
                <a:spcPct val="113000"/>
              </a:lnSpc>
              <a:spcBef>
                <a:spcPts val="200"/>
              </a:spcBef>
            </a:pPr>
            <a:r>
              <a:rPr sz="650" b="0" i="1">
                <a:solidFill>
                  <a:srgbClr val="1C7293"/>
                </a:solidFill>
                <a:latin typeface="Arial"/>
              </a:rPr>
              <a:t>успеть к сроку кадра, а не к сроку задачи</a:t>
            </a:r>
          </a:p>
        </p:txBody>
      </p:sp>
      <p:sp>
        <p:nvSpPr>
          <p:cNvPr id="53" name="Rectangle 52"/>
          <p:cNvSpPr/>
          <p:nvPr/>
        </p:nvSpPr>
        <p:spPr>
          <a:xfrm>
            <a:off x="3291839"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55" name="Rectangle 54"/>
          <p:cNvSpPr/>
          <p:nvPr/>
        </p:nvSpPr>
        <p:spPr>
          <a:xfrm>
            <a:off x="4971227"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488590"/>
            <a:ext cx="2788920" cy="412979"/>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552598"/>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Ответить «кто отвечает»</a:t>
            </a:r>
          </a:p>
          <a:p>
            <a:pPr algn="l">
              <a:lnSpc>
                <a:spcPct val="113000"/>
              </a:lnSpc>
              <a:spcBef>
                <a:spcPts val="200"/>
              </a:spcBef>
            </a:pPr>
            <a:r>
              <a:rPr sz="650" b="0" i="1">
                <a:solidFill>
                  <a:srgbClr val="1C7293"/>
                </a:solidFill>
                <a:latin typeface="Arial"/>
              </a:rPr>
              <a:t>происхождение, права, подпись под результатом</a:t>
            </a:r>
          </a:p>
        </p:txBody>
      </p:sp>
      <p:sp>
        <p:nvSpPr>
          <p:cNvPr id="61" name="Rectangle 60"/>
          <p:cNvSpPr/>
          <p:nvPr/>
        </p:nvSpPr>
        <p:spPr>
          <a:xfrm>
            <a:off x="3291839"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63" name="Rectangle 62"/>
          <p:cNvSpPr/>
          <p:nvPr/>
        </p:nvSpPr>
        <p:spPr>
          <a:xfrm>
            <a:off x="4971227"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83866"/>
            <a:ext cx="11185855" cy="252341"/>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83866"/>
            <a:ext cx="68580" cy="252341"/>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6047874"/>
            <a:ext cx="10783519" cy="124325"/>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71" name="TextBox 7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состав и статусы — PLAN-02 §6 и REESTR-RAZBOROV §4.3 (П-1…П-8); формулировки — chapter-part1d.md §1.18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chapter-part2.md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Б</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16" name="Rounded Rectangle 15"/>
          <p:cNvSpPr/>
          <p:nvPr/>
        </p:nvSpPr>
        <p:spPr>
          <a:xfrm>
            <a:off x="374904" y="259221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Запись А</a:t>
            </a:r>
            <a:r>
              <a:rPr sz="1500" b="0" i="0">
                <a:solidFill>
                  <a:srgbClr val="21295C"/>
                </a:solidFill>
                <a:latin typeface="Arial"/>
              </a:rPr>
              <a:t> · </a:t>
            </a:r>
            <a:r>
              <a:rPr sz="1500" b="1" i="0">
                <a:solidFill>
                  <a:srgbClr val="21295C"/>
                </a:solidFill>
                <a:latin typeface="Arial"/>
              </a:rPr>
              <a:t>Запись Б</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Какая из них настоящая?</a:t>
            </a:r>
          </a:p>
        </p:txBody>
      </p:sp>
      <p:sp>
        <p:nvSpPr>
          <p:cNvPr id="19" name="Rectangle 18"/>
          <p:cNvSpPr/>
          <p:nvPr/>
        </p:nvSpPr>
        <p:spPr>
          <a:xfrm>
            <a:off x="6091275" y="2683657"/>
            <a:ext cx="9144" cy="980083"/>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chapter-part2.md §2.0, §2.2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747418" cy="2664262"/>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1473098" cy="673135"/>
          </a:xfrm>
          <a:prstGeom prst="rect">
            <a:avLst/>
          </a:prstGeom>
          <a:noFill/>
        </p:spPr>
        <p:txBody>
          <a:bodyPr wrap="square" lIns="0" rIns="0" tIns="0" bIns="0" anchor="t">
            <a:spAutoFit/>
          </a:bodyPr>
          <a:lstStyle/>
          <a:p>
            <a:pPr algn="l">
              <a:lnSpc>
                <a:spcPct val="108000"/>
              </a:lnSpc>
            </a:pPr>
            <a:r>
              <a:rPr sz="1250" b="1" i="0">
                <a:solidFill>
                  <a:srgbClr val="1C7293"/>
                </a:solidFill>
                <a:latin typeface="Arial"/>
              </a:rPr>
              <a:t>чьим голосом и какой музыкой говорит материал</a:t>
            </a:r>
          </a:p>
        </p:txBody>
      </p:sp>
      <p:sp>
        <p:nvSpPr>
          <p:cNvPr id="7" name="TextBox 6"/>
          <p:cNvSpPr txBox="1"/>
          <p:nvPr/>
        </p:nvSpPr>
        <p:spPr>
          <a:xfrm>
            <a:off x="640080" y="2398510"/>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принимается до записи, меняется дорого</a:t>
            </a:r>
          </a:p>
        </p:txBody>
      </p:sp>
      <p:sp>
        <p:nvSpPr>
          <p:cNvPr id="8" name="Rounded Rectangle 7"/>
          <p:cNvSpPr/>
          <p:nvPr/>
        </p:nvSpPr>
        <p:spPr>
          <a:xfrm>
            <a:off x="2414930" y="1335024"/>
            <a:ext cx="1747418" cy="2664262"/>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ПОКУПАЕТСЯ ВМЕСТЕ С ГОЛОСОМ</a:t>
            </a:r>
          </a:p>
        </p:txBody>
      </p:sp>
      <p:sp>
        <p:nvSpPr>
          <p:cNvPr id="10" name="TextBox 9"/>
          <p:cNvSpPr txBox="1"/>
          <p:nvPr/>
        </p:nvSpPr>
        <p:spPr>
          <a:xfrm>
            <a:off x="2552090" y="2140317"/>
            <a:ext cx="14730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срок · территория · тип носителя</a:t>
            </a:r>
          </a:p>
        </p:txBody>
      </p:sp>
      <p:sp>
        <p:nvSpPr>
          <p:cNvPr id="11" name="TextBox 10"/>
          <p:cNvSpPr txBox="1"/>
          <p:nvPr/>
        </p:nvSpPr>
        <p:spPr>
          <a:xfrm>
            <a:off x="2552090" y="3017152"/>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координаты, каждая оплачивается отдельной строкой</a:t>
            </a:r>
          </a:p>
        </p:txBody>
      </p:sp>
      <p:sp>
        <p:nvSpPr>
          <p:cNvPr id="12" name="Rounded Rectangle 11"/>
          <p:cNvSpPr/>
          <p:nvPr/>
        </p:nvSpPr>
        <p:spPr>
          <a:xfrm>
            <a:off x="4326940" y="1335024"/>
            <a:ext cx="1747418" cy="2664262"/>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ВЫХОДА</a:t>
            </a:r>
          </a:p>
        </p:txBody>
      </p:sp>
      <p:sp>
        <p:nvSpPr>
          <p:cNvPr id="14" name="TextBox 13"/>
          <p:cNvSpPr txBox="1"/>
          <p:nvPr/>
        </p:nvSpPr>
        <p:spPr>
          <a:xfrm>
            <a:off x="4464100" y="1932846"/>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минута речи — от 9 000 до 36 000 токенов</a:t>
            </a:r>
          </a:p>
        </p:txBody>
      </p:sp>
      <p:sp>
        <p:nvSpPr>
          <p:cNvPr id="15" name="TextBox 14"/>
          <p:cNvSpPr txBox="1"/>
          <p:nvPr/>
        </p:nvSpPr>
        <p:spPr>
          <a:xfrm>
            <a:off x="4464100" y="2580519"/>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картинка 1024×1024 — 4 096 токенов; пять секунд видео высокой чёткости — 249 240</a:t>
            </a:r>
          </a:p>
        </p:txBody>
      </p:sp>
      <p:sp>
        <p:nvSpPr>
          <p:cNvPr id="16" name="Rounded Rectangle 15"/>
          <p:cNvSpPr/>
          <p:nvPr/>
        </p:nvSpPr>
        <p:spPr>
          <a:xfrm>
            <a:off x="502920" y="4182166"/>
            <a:ext cx="2630271"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337614"/>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8" name="TextBox 17"/>
          <p:cNvSpPr txBox="1"/>
          <p:nvPr/>
        </p:nvSpPr>
        <p:spPr>
          <a:xfrm>
            <a:off x="667512" y="4693793"/>
            <a:ext cx="230108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Синтез речи: текст плюс выбранный голос → звучащая речь</a:t>
            </a:r>
          </a:p>
          <a:p>
            <a:pPr algn="l">
              <a:lnSpc>
                <a:spcPct val="126000"/>
              </a:lnSpc>
            </a:pPr>
            <a:r>
              <a:rPr sz="90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90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900" b="0" i="0">
                <a:solidFill>
                  <a:srgbClr val="21295C"/>
                </a:solidFill>
                <a:latin typeface="Arial"/>
              </a:rPr>
              <a:t>• Генерация музыки: описание словами → готовый трек</a:t>
            </a:r>
          </a:p>
          <a:p>
            <a:pPr algn="l">
              <a:lnSpc>
                <a:spcPct val="126000"/>
              </a:lnSpc>
            </a:pPr>
            <a:r>
              <a:rPr sz="900" b="0" i="0">
                <a:solidFill>
                  <a:srgbClr val="21295C"/>
                </a:solidFill>
                <a:latin typeface="Arial"/>
              </a:rPr>
              <a:t>• Разделение источников: сведённая запись → отдельно вокал, барабаны, бас</a:t>
            </a:r>
          </a:p>
        </p:txBody>
      </p:sp>
      <p:sp>
        <p:nvSpPr>
          <p:cNvPr id="19" name="Rounded Rectangle 18"/>
          <p:cNvSpPr/>
          <p:nvPr/>
        </p:nvSpPr>
        <p:spPr>
          <a:xfrm>
            <a:off x="3444087" y="4182166"/>
            <a:ext cx="2630271"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3608679" y="4337614"/>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1" name="TextBox 20"/>
          <p:cNvSpPr txBox="1"/>
          <p:nvPr/>
        </p:nvSpPr>
        <p:spPr>
          <a:xfrm>
            <a:off x="3608679" y="4693793"/>
            <a:ext cx="230108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900" b="0" i="0">
                <a:solidFill>
                  <a:srgbClr val="21295C"/>
                </a:solidFill>
                <a:latin typeface="Arial"/>
              </a:rPr>
              <a:t>• Домашняя будка: диктор у себя, заказчик подключается удалённо</a:t>
            </a:r>
          </a:p>
          <a:p>
            <a:pPr algn="l">
              <a:lnSpc>
                <a:spcPct val="126000"/>
              </a:lnSpc>
            </a:pPr>
            <a:r>
              <a:rPr sz="900" b="0" i="0">
                <a:solidFill>
                  <a:srgbClr val="21295C"/>
                </a:solidFill>
                <a:latin typeface="Arial"/>
              </a:rPr>
              <a:t>• Удалённая сессия с режиссурой: правка дубль за дублем по сети</a:t>
            </a:r>
          </a:p>
          <a:p>
            <a:pPr algn="l">
              <a:lnSpc>
                <a:spcPct val="126000"/>
              </a:lnSpc>
            </a:pPr>
            <a:r>
              <a:rPr sz="900" b="0" i="0">
                <a:solidFill>
                  <a:srgbClr val="21295C"/>
                </a:solidFill>
                <a:latin typeface="Arial"/>
              </a:rPr>
              <a:t>• Архив: радиоэфиры, интервью, прежние роли, корпоративные начитки</a:t>
            </a:r>
          </a:p>
          <a:p>
            <a:pPr algn="l">
              <a:lnSpc>
                <a:spcPct val="126000"/>
              </a:lnSpc>
            </a:pPr>
            <a:r>
              <a:rPr sz="90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900" b="0" i="0">
                <a:solidFill>
                  <a:srgbClr val="21295C"/>
                </a:solidFill>
                <a:latin typeface="Arial"/>
              </a:rPr>
              <a:t>• Лицензированная библиотека: двадцать тысяч часов музыки с оформленными правами</a:t>
            </a:r>
          </a:p>
        </p:txBody>
      </p:sp>
      <p:sp>
        <p:nvSpPr>
          <p:cNvPr id="22" name="Rounded Rectangle 21"/>
          <p:cNvSpPr/>
          <p:nvPr/>
        </p:nvSpPr>
        <p:spPr>
          <a:xfrm>
            <a:off x="374904" y="5690926"/>
            <a:ext cx="11441887" cy="5452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782366"/>
            <a:ext cx="11112703" cy="453841"/>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Решение этой стадии: чьим голосом и какой музыкой говорит готовый материал.</a:t>
            </a:r>
          </a:p>
          <a:p>
            <a:pPr algn="l">
              <a:lnSpc>
                <a:spcPct val="126000"/>
              </a:lnSpc>
              <a:spcBef>
                <a:spcPts val="700"/>
              </a:spcBef>
            </a:pPr>
            <a:r>
              <a:rPr sz="850" b="0" i="0">
                <a:solidFill>
                  <a:srgbClr val="21295C"/>
                </a:solidFill>
                <a:latin typeface="Arial"/>
              </a:rPr>
              <a:t/>
            </a:r>
            <a:r>
              <a:rPr sz="850" b="0" i="0">
                <a:solidFill>
                  <a:srgbClr val="21295C"/>
                </a:solidFill>
                <a:latin typeface="Arial"/>
              </a:rPr>
              <a:t>За решением немедленно идут </a:t>
            </a:r>
            <a:r>
              <a:rPr sz="850" b="1" i="0">
                <a:solidFill>
                  <a:srgbClr val="21295C"/>
                </a:solidFill>
                <a:latin typeface="Arial"/>
              </a:rPr>
              <a:t>срок, территория и тип носителя</a:t>
            </a:r>
            <a:r>
              <a:rPr sz="850" b="0" i="0">
                <a:solidFill>
                  <a:srgbClr val="21295C"/>
                </a:solidFill>
                <a:latin typeface="Arial"/>
              </a:rPr>
              <a:t> — три координаты, каждая оплачивается отдельной строкой прейскуранта, — и </a:t>
            </a:r>
            <a:r>
              <a:rPr sz="850" b="1" i="0">
                <a:solidFill>
                  <a:srgbClr val="21295C"/>
                </a:solidFill>
                <a:latin typeface="Arial"/>
              </a:rPr>
              <a:t>узнаваемость</a:t>
            </a:r>
            <a:r>
              <a:rPr sz="850" b="0" i="0">
                <a:solidFill>
                  <a:srgbClr val="21295C"/>
                </a:solidFill>
                <a:latin typeface="Arial"/>
              </a:rPr>
              <a:t>: голос опознаётся слушателем как принадлежащий конкретному человеку, чего нет ни у иллюстрации, ни у фона в кадре.</a:t>
            </a:r>
          </a:p>
          <a:p>
            <a:pPr algn="l">
              <a:lnSpc>
                <a:spcPct val="126000"/>
              </a:lnSpc>
              <a:spcBef>
                <a:spcPts val="700"/>
              </a:spcBef>
            </a:pPr>
            <a:r>
              <a:rPr sz="850" b="0" i="0">
                <a:solidFill>
                  <a:srgbClr val="21295C"/>
                </a:solidFill>
                <a:latin typeface="Arial"/>
              </a:rPr>
              <a:t/>
            </a:r>
            <a:r>
              <a:rPr sz="850" b="1" i="0">
                <a:solidFill>
                  <a:srgbClr val="21295C"/>
                </a:solidFill>
                <a:latin typeface="Arial"/>
              </a:rPr>
              <a:t>Единица выхода стоит посередине шкалы вечера.</a:t>
            </a:r>
            <a:r>
              <a:rPr sz="850" b="0" i="0">
                <a:solidFill>
                  <a:srgbClr val="21295C"/>
                </a:solidFill>
                <a:latin typeface="Arial"/>
              </a:rPr>
              <a:t> Картинка 1024×1024 — 4 096 токенов; минута речи — от 9 000 до 36 000; пять секунд видео высокой чёткости — 249 240.</a:t>
            </a:r>
          </a:p>
        </p:txBody>
      </p:sp>
      <p:sp>
        <p:nvSpPr>
          <p:cNvPr id="24" name="Rounded Rectangle 23"/>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25" name="Picture 24" descr="s35-studio-control-room.jpg"/>
          <p:cNvPicPr>
            <a:picLocks noChangeAspect="1"/>
          </p:cNvPicPr>
          <p:nvPr/>
        </p:nvPicPr>
        <p:blipFill>
          <a:blip r:embed="rId2"/>
          <a:stretch>
            <a:fillRect/>
          </a:stretch>
        </p:blipFill>
        <p:spPr>
          <a:xfrm>
            <a:off x="6522415" y="1472184"/>
            <a:ext cx="5029200" cy="3771900"/>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chapter-part2.md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1755190" cy="3027336"/>
          </a:xfrm>
          <a:prstGeom prst="roundRect">
            <a:avLst>
              <a:gd name="adj" fmla="val 173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4808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4808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4808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422702" y="1335024"/>
            <a:ext cx="1755190" cy="3027336"/>
          </a:xfrm>
          <a:prstGeom prst="roundRect">
            <a:avLst>
              <a:gd name="adj" fmla="val 173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9862" y="1472184"/>
            <a:ext cx="14808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559862" y="2140317"/>
            <a:ext cx="14808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559862" y="2957740"/>
            <a:ext cx="1480870"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4342485" y="1335024"/>
            <a:ext cx="1755190" cy="3027336"/>
          </a:xfrm>
          <a:prstGeom prst="roundRect">
            <a:avLst>
              <a:gd name="adj" fmla="val 173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79645" y="1472184"/>
            <a:ext cx="14808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4479645" y="1932846"/>
            <a:ext cx="14808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4479645" y="2359845"/>
            <a:ext cx="14808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6262268" y="1335024"/>
            <a:ext cx="1755190" cy="3027336"/>
          </a:xfrm>
          <a:prstGeom prst="roundRect">
            <a:avLst>
              <a:gd name="adj" fmla="val 1736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99428" y="1472184"/>
            <a:ext cx="14808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6399428" y="1932846"/>
            <a:ext cx="14808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200–1 500 $ за минуту</a:t>
            </a:r>
          </a:p>
        </p:txBody>
      </p:sp>
      <p:sp>
        <p:nvSpPr>
          <p:cNvPr id="19" name="TextBox 18"/>
          <p:cNvSpPr txBox="1"/>
          <p:nvPr/>
        </p:nvSpPr>
        <p:spPr>
          <a:xfrm>
            <a:off x="6399428" y="2648419"/>
            <a:ext cx="1480870"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502920" y="4526952"/>
            <a:ext cx="751453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664112"/>
            <a:ext cx="72402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640080" y="4917304"/>
            <a:ext cx="72402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956,75 $ за четыре часа</a:t>
            </a:r>
          </a:p>
        </p:txBody>
      </p:sp>
      <p:sp>
        <p:nvSpPr>
          <p:cNvPr id="23" name="TextBox 22"/>
          <p:cNvSpPr txBox="1"/>
          <p:nvPr/>
        </p:nvSpPr>
        <p:spPr>
          <a:xfrm>
            <a:off x="640080" y="5344303"/>
            <a:ext cx="72402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5875586"/>
            <a:ext cx="3601821"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6031034"/>
            <a:ext cx="327263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6387213"/>
            <a:ext cx="327263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Живой диктор: доллар за готовую минуту, со всеми дублями внутри цены</a:t>
            </a:r>
          </a:p>
          <a:p>
            <a:pPr algn="l">
              <a:lnSpc>
                <a:spcPct val="126000"/>
              </a:lnSpc>
            </a:pPr>
            <a:r>
              <a:rPr sz="900" b="0" i="0">
                <a:solidFill>
                  <a:srgbClr val="21295C"/>
                </a:solidFill>
                <a:latin typeface="Arial"/>
              </a:rPr>
              <a:t>• Стоковая лицензия на трек: 20–100 $ — правильная опорная пара для генерации</a:t>
            </a:r>
          </a:p>
          <a:p>
            <a:pPr algn="l">
              <a:lnSpc>
                <a:spcPct val="126000"/>
              </a:lnSpc>
            </a:pPr>
            <a:r>
              <a:rPr sz="9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4415637" y="5875586"/>
            <a:ext cx="3601821"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4580229" y="6031034"/>
            <a:ext cx="327263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4580229" y="6387213"/>
            <a:ext cx="327263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ounded Rectangle 29"/>
          <p:cNvSpPr/>
          <p:nvPr/>
        </p:nvSpPr>
        <p:spPr>
          <a:xfrm>
            <a:off x="8328355" y="1335024"/>
            <a:ext cx="3360420" cy="4389120"/>
          </a:xfrm>
          <a:prstGeom prst="roundRect">
            <a:avLst>
              <a:gd name="adj" fmla="val 9070"/>
            </a:avLst>
          </a:prstGeom>
          <a:solidFill>
            <a:srgbClr val="F4F7FA"/>
          </a:solidFill>
          <a:ln w="19050">
            <a:solidFill>
              <a:srgbClr val="1C7293"/>
            </a:solidFill>
          </a:ln>
          <a:effectLst/>
        </p:spPr>
        <p:txBody>
          <a:bodyPr rtlCol="0" anchor="ctr"/>
          <a:lstStyle/>
          <a:p>
            <a:pPr algn="ctr"/>
          </a:p>
        </p:txBody>
      </p:sp>
      <p:pic>
        <p:nvPicPr>
          <p:cNvPr id="31" name="Picture 30" descr="s36-recording-engineer.jpg"/>
          <p:cNvPicPr>
            <a:picLocks noChangeAspect="1"/>
          </p:cNvPicPr>
          <p:nvPr/>
        </p:nvPicPr>
        <p:blipFill>
          <a:blip r:embed="rId2"/>
          <a:stretch>
            <a:fillRect/>
          </a:stretch>
        </p:blipFill>
        <p:spPr>
          <a:xfrm>
            <a:off x="8465515" y="1472184"/>
            <a:ext cx="3086100" cy="4114800"/>
          </a:xfrm>
          <a:prstGeom prst="rect">
            <a:avLst/>
          </a:prstGeom>
        </p:spPr>
      </p:pic>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 chapter-part2.md §2.1(д)</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1269415" cy="4109959"/>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«НЕ УСПЕТЬ»</a:t>
            </a:r>
          </a:p>
        </p:txBody>
      </p:sp>
      <p:sp>
        <p:nvSpPr>
          <p:cNvPr id="6" name="TextBox 5"/>
          <p:cNvSpPr txBox="1"/>
          <p:nvPr/>
        </p:nvSpPr>
        <p:spPr>
          <a:xfrm>
            <a:off x="640080" y="2347789"/>
            <a:ext cx="995095"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голос теряется навсегда</a:t>
            </a:r>
          </a:p>
        </p:txBody>
      </p:sp>
      <p:sp>
        <p:nvSpPr>
          <p:cNvPr id="7" name="TextBox 6"/>
          <p:cNvSpPr txBox="1"/>
          <p:nvPr/>
        </p:nvSpPr>
        <p:spPr>
          <a:xfrm>
            <a:off x="640080" y="3250086"/>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a:t>
            </a:r>
          </a:p>
        </p:txBody>
      </p:sp>
      <p:sp>
        <p:nvSpPr>
          <p:cNvPr id="8" name="Rounded Rectangle 7"/>
          <p:cNvSpPr/>
          <p:nvPr/>
        </p:nvSpPr>
        <p:spPr>
          <a:xfrm>
            <a:off x="1936927" y="1335024"/>
            <a:ext cx="1269415" cy="4109959"/>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«ЗАПИСАТЬ РАНО»</a:t>
            </a:r>
          </a:p>
        </p:txBody>
      </p:sp>
      <p:sp>
        <p:nvSpPr>
          <p:cNvPr id="10" name="TextBox 9"/>
          <p:cNvSpPr txBox="1"/>
          <p:nvPr/>
        </p:nvSpPr>
        <p:spPr>
          <a:xfrm>
            <a:off x="2074087" y="2347789"/>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часы и силы в худший период жизни</a:t>
            </a:r>
          </a:p>
        </p:txBody>
      </p:sp>
      <p:sp>
        <p:nvSpPr>
          <p:cNvPr id="11" name="TextBox 10"/>
          <p:cNvSpPr txBox="1"/>
          <p:nvPr/>
        </p:nvSpPr>
        <p:spPr>
          <a:xfrm>
            <a:off x="2074087" y="3402860"/>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денежной шкалы у этого случая нет, и это свойство случая</a:t>
            </a:r>
          </a:p>
        </p:txBody>
      </p:sp>
      <p:sp>
        <p:nvSpPr>
          <p:cNvPr id="12" name="Rounded Rectangle 11"/>
          <p:cNvSpPr/>
          <p:nvPr/>
        </p:nvSpPr>
        <p:spPr>
          <a:xfrm>
            <a:off x="3370935" y="1335024"/>
            <a:ext cx="1269415" cy="4109959"/>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3508095" y="1472184"/>
            <a:ext cx="9950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БАНКИРОВАНИЕ ГОЛОСА</a:t>
            </a:r>
          </a:p>
        </p:txBody>
      </p:sp>
      <p:sp>
        <p:nvSpPr>
          <p:cNvPr id="14" name="TextBox 13"/>
          <p:cNvSpPr txBox="1"/>
          <p:nvPr/>
        </p:nvSpPr>
        <p:spPr>
          <a:xfrm>
            <a:off x="3508095" y="2347789"/>
            <a:ext cx="99509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числа нет ни у одного источника</a:t>
            </a:r>
          </a:p>
        </p:txBody>
      </p:sp>
      <p:sp>
        <p:nvSpPr>
          <p:cNvPr id="15" name="TextBox 14"/>
          <p:cNvSpPr txBox="1"/>
          <p:nvPr/>
        </p:nvSpPr>
        <p:spPr>
          <a:xfrm>
            <a:off x="3508095" y="3046386"/>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часов записи по протоколу, ни стоимости услуги</a:t>
            </a:r>
          </a:p>
        </p:txBody>
      </p:sp>
      <p:sp>
        <p:nvSpPr>
          <p:cNvPr id="16" name="Rounded Rectangle 15"/>
          <p:cNvSpPr/>
          <p:nvPr/>
        </p:nvSpPr>
        <p:spPr>
          <a:xfrm>
            <a:off x="4804943" y="1335024"/>
            <a:ext cx="1269415" cy="4109959"/>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БЕЗЛИЧНЫЙ ГОЛОС ИЗ КОРОБКИ</a:t>
            </a:r>
          </a:p>
        </p:txBody>
      </p:sp>
      <p:sp>
        <p:nvSpPr>
          <p:cNvPr id="18" name="TextBox 17"/>
          <p:cNvSpPr txBox="1"/>
          <p:nvPr/>
        </p:nvSpPr>
        <p:spPr>
          <a:xfrm>
            <a:off x="4942103" y="2555260"/>
            <a:ext cx="995095" cy="851372"/>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дёшев и доступен давно</a:t>
            </a:r>
          </a:p>
        </p:txBody>
      </p:sp>
      <p:sp>
        <p:nvSpPr>
          <p:cNvPr id="19" name="TextBox 18"/>
          <p:cNvSpPr txBox="1"/>
          <p:nvPr/>
        </p:nvSpPr>
        <p:spPr>
          <a:xfrm>
            <a:off x="4942103" y="3406632"/>
            <a:ext cx="995095"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ту же единицу не складывается: даёт другой исход, человек говорит чужим голосом</a:t>
            </a:r>
          </a:p>
        </p:txBody>
      </p:sp>
      <p:sp>
        <p:nvSpPr>
          <p:cNvPr id="20" name="Rounded Rectangle 19"/>
          <p:cNvSpPr/>
          <p:nvPr/>
        </p:nvSpPr>
        <p:spPr>
          <a:xfrm>
            <a:off x="502920" y="5609575"/>
            <a:ext cx="5571439"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5746735"/>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22" name="TextBox 21"/>
          <p:cNvSpPr txBox="1"/>
          <p:nvPr/>
        </p:nvSpPr>
        <p:spPr>
          <a:xfrm>
            <a:off x="640080" y="5999927"/>
            <a:ext cx="529711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минуты записи для копии, 1–3 часа для дообучения</a:t>
            </a:r>
          </a:p>
        </p:txBody>
      </p:sp>
      <p:sp>
        <p:nvSpPr>
          <p:cNvPr id="23" name="TextBox 22"/>
          <p:cNvSpPr txBox="1"/>
          <p:nvPr/>
        </p:nvSpPr>
        <p:spPr>
          <a:xfrm>
            <a:off x="640080" y="6817349"/>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a:t>
            </a:r>
          </a:p>
        </p:txBody>
      </p:sp>
      <p:sp>
        <p:nvSpPr>
          <p:cNvPr id="24" name="TextBox 23"/>
          <p:cNvSpPr txBox="1"/>
          <p:nvPr/>
        </p:nvSpPr>
        <p:spPr>
          <a:xfrm>
            <a:off x="502920" y="7385208"/>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Искали и не нашли</a:t>
            </a:r>
          </a:p>
        </p:txBody>
      </p:sp>
      <p:sp>
        <p:nvSpPr>
          <p:cNvPr id="25" name="Rounded Rectangle 24"/>
          <p:cNvSpPr/>
          <p:nvPr/>
        </p:nvSpPr>
        <p:spPr>
          <a:xfrm>
            <a:off x="1920240" y="7348632"/>
            <a:ext cx="1201826" cy="129396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7394352"/>
            <a:ext cx="1037234"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Сколько часов записи требует протокол банкирования</a:t>
            </a:r>
          </a:p>
        </p:txBody>
      </p:sp>
      <p:sp>
        <p:nvSpPr>
          <p:cNvPr id="27" name="Right Arrow 26"/>
          <p:cNvSpPr/>
          <p:nvPr/>
        </p:nvSpPr>
        <p:spPr>
          <a:xfrm>
            <a:off x="3167786" y="792703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3396386" y="7348632"/>
            <a:ext cx="1201826" cy="129396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3478682" y="7394352"/>
            <a:ext cx="1037234"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Сколько стоит услуга в клинике</a:t>
            </a:r>
          </a:p>
        </p:txBody>
      </p:sp>
      <p:sp>
        <p:nvSpPr>
          <p:cNvPr id="30" name="Right Arrow 29"/>
          <p:cNvSpPr/>
          <p:nvPr/>
        </p:nvSpPr>
        <p:spPr>
          <a:xfrm>
            <a:off x="4643932" y="7927033"/>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4872532" y="7348632"/>
            <a:ext cx="1201826" cy="129396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4954828" y="7394352"/>
            <a:ext cx="1037234"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Тогда обе стороны считались бы в часах человека</a:t>
            </a:r>
          </a:p>
        </p:txBody>
      </p:sp>
      <p:sp>
        <p:nvSpPr>
          <p:cNvPr id="33" name="TextBox 32"/>
          <p:cNvSpPr txBox="1"/>
          <p:nvPr/>
        </p:nvSpPr>
        <p:spPr>
          <a:xfrm>
            <a:off x="502920" y="8679170"/>
            <a:ext cx="55714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Какое одно число сделало бы сравнение полным</a:t>
            </a:r>
          </a:p>
        </p:txBody>
      </p:sp>
      <p:sp>
        <p:nvSpPr>
          <p:cNvPr id="34" name="Rounded Rectangle 33"/>
          <p:cNvSpPr/>
          <p:nvPr/>
        </p:nvSpPr>
        <p:spPr>
          <a:xfrm>
            <a:off x="6385255" y="1335024"/>
            <a:ext cx="5303520" cy="4230499"/>
          </a:xfrm>
          <a:prstGeom prst="roundRect">
            <a:avLst>
              <a:gd name="adj" fmla="val 7204"/>
            </a:avLst>
          </a:prstGeom>
          <a:solidFill>
            <a:srgbClr val="F4F7FA"/>
          </a:solidFill>
          <a:ln w="19050">
            <a:solidFill>
              <a:srgbClr val="1C7293"/>
            </a:solidFill>
          </a:ln>
          <a:effectLst/>
        </p:spPr>
        <p:txBody>
          <a:bodyPr rtlCol="0" anchor="ctr"/>
          <a:lstStyle/>
          <a:p>
            <a:pPr algn="ctr"/>
          </a:p>
        </p:txBody>
      </p:sp>
      <p:pic>
        <p:nvPicPr>
          <p:cNvPr id="35" name="Picture 34" descr="s37-peter-scott-morgan.jpg"/>
          <p:cNvPicPr>
            <a:picLocks noChangeAspect="1"/>
          </p:cNvPicPr>
          <p:nvPr/>
        </p:nvPicPr>
        <p:blipFill>
          <a:blip r:embed="rId2"/>
          <a:stretch>
            <a:fillRect/>
          </a:stretch>
        </p:blipFill>
        <p:spPr>
          <a:xfrm>
            <a:off x="6522415" y="1472184"/>
            <a:ext cx="5029200" cy="3956179"/>
          </a:xfrm>
          <a:prstGeom prst="rect">
            <a:avLst/>
          </a:prstGeom>
        </p:spPr>
      </p:pic>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 chapter-part2.md §2.3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1269415" cy="3891171"/>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555260"/>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3610331"/>
            <a:ext cx="9950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1936927" y="1335024"/>
            <a:ext cx="1269415" cy="3891171"/>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074087" y="2347789"/>
            <a:ext cx="99509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50–450 $ за готовую минуту</a:t>
            </a:r>
          </a:p>
        </p:txBody>
      </p:sp>
      <p:sp>
        <p:nvSpPr>
          <p:cNvPr id="11" name="TextBox 10"/>
          <p:cNvSpPr txBox="1"/>
          <p:nvPr/>
        </p:nvSpPr>
        <p:spPr>
          <a:xfrm>
            <a:off x="2074087" y="2995462"/>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3370935" y="1335024"/>
            <a:ext cx="1269415" cy="3891171"/>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3508095" y="2140317"/>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тарифа за минуту в подборке нет</a:t>
            </a:r>
          </a:p>
        </p:txBody>
      </p:sp>
      <p:sp>
        <p:nvSpPr>
          <p:cNvPr id="15" name="TextBox 14"/>
          <p:cNvSpPr txBox="1"/>
          <p:nvPr/>
        </p:nvSpPr>
        <p:spPr>
          <a:xfrm>
            <a:off x="3508095" y="2991690"/>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4804943" y="1335024"/>
            <a:ext cx="1269415" cy="3891171"/>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4942103" y="1725375"/>
            <a:ext cx="99509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0,03–0,072 $ за минуту речи</a:t>
            </a:r>
          </a:p>
        </p:txBody>
      </p:sp>
      <p:sp>
        <p:nvSpPr>
          <p:cNvPr id="19" name="TextBox 18"/>
          <p:cNvSpPr txBox="1"/>
          <p:nvPr/>
        </p:nvSpPr>
        <p:spPr>
          <a:xfrm>
            <a:off x="4942103" y="2373048"/>
            <a:ext cx="995095"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502920" y="5390787"/>
            <a:ext cx="55714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5527947"/>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640080" y="5781139"/>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640080" y="6208138"/>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6739421"/>
            <a:ext cx="2630271"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6894869"/>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7251048"/>
            <a:ext cx="230108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До четверти зрителей тестовых каналов, получивших автоматический дубляж, выбирают неанглийскую дорожку</a:t>
            </a:r>
          </a:p>
        </p:txBody>
      </p:sp>
      <p:sp>
        <p:nvSpPr>
          <p:cNvPr id="27" name="Rounded Rectangle 26"/>
          <p:cNvSpPr/>
          <p:nvPr/>
        </p:nvSpPr>
        <p:spPr>
          <a:xfrm>
            <a:off x="3444087" y="6739421"/>
            <a:ext cx="2630271"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3608679" y="6894869"/>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3608679" y="7251048"/>
            <a:ext cx="230108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00" b="0" i="0">
                <a:solidFill>
                  <a:srgbClr val="21295C"/>
                </a:solidFill>
                <a:latin typeface="Arial"/>
              </a:rPr>
              <a:t>• Эмоция: из голого текста не берётся, проставляется разметкой руками</a:t>
            </a:r>
          </a:p>
          <a:p>
            <a:pPr algn="l">
              <a:lnSpc>
                <a:spcPct val="126000"/>
              </a:lnSpc>
            </a:pPr>
            <a:r>
              <a:rPr sz="90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0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6385255" y="1335024"/>
            <a:ext cx="5303520" cy="3103245"/>
          </a:xfrm>
          <a:prstGeom prst="roundRect">
            <a:avLst>
              <a:gd name="adj" fmla="val 9821"/>
            </a:avLst>
          </a:prstGeom>
          <a:solidFill>
            <a:srgbClr val="F4F7FA"/>
          </a:solidFill>
          <a:ln w="19050">
            <a:solidFill>
              <a:srgbClr val="1C7293"/>
            </a:solidFill>
          </a:ln>
          <a:effectLst/>
        </p:spPr>
        <p:txBody>
          <a:bodyPr rtlCol="0" anchor="ctr"/>
          <a:lstStyle/>
          <a:p>
            <a:pPr algn="ctr"/>
          </a:p>
        </p:txBody>
      </p:sp>
      <p:pic>
        <p:nvPicPr>
          <p:cNvPr id="31" name="Picture 30" descr="s38-dubbing-session.jpg"/>
          <p:cNvPicPr>
            <a:picLocks noChangeAspect="1"/>
          </p:cNvPicPr>
          <p:nvPr/>
        </p:nvPicPr>
        <p:blipFill>
          <a:blip r:embed="rId2"/>
          <a:stretch>
            <a:fillRect/>
          </a:stretch>
        </p:blipFill>
        <p:spPr>
          <a:xfrm>
            <a:off x="6522415" y="1472184"/>
            <a:ext cx="5029200" cy="2828925"/>
          </a:xfrm>
          <a:prstGeom prst="rect">
            <a:avLst/>
          </a:prstGeom>
        </p:spPr>
      </p:pic>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 chapter-part2.md §2.4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1269415" cy="41288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2140317"/>
            <a:ext cx="99509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исход двоичный</a:t>
            </a:r>
          </a:p>
        </p:txBody>
      </p:sp>
      <p:sp>
        <p:nvSpPr>
          <p:cNvPr id="7" name="TextBox 6"/>
          <p:cNvSpPr txBox="1"/>
          <p:nvPr/>
        </p:nvSpPr>
        <p:spPr>
          <a:xfrm>
            <a:off x="640080" y="2669166"/>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не измеряется</a:t>
            </a:r>
          </a:p>
        </p:txBody>
      </p:sp>
      <p:sp>
        <p:nvSpPr>
          <p:cNvPr id="8" name="Rounded Rectangle 7"/>
          <p:cNvSpPr/>
          <p:nvPr/>
        </p:nvSpPr>
        <p:spPr>
          <a:xfrm>
            <a:off x="1936927" y="1335024"/>
            <a:ext cx="1269415" cy="4128820"/>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074087" y="1472184"/>
            <a:ext cx="9950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2074087" y="1932846"/>
            <a:ext cx="99509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его нет, и причина медицинская</a:t>
            </a:r>
          </a:p>
        </p:txBody>
      </p:sp>
      <p:sp>
        <p:nvSpPr>
          <p:cNvPr id="11" name="TextBox 10"/>
          <p:cNvSpPr txBox="1"/>
          <p:nvPr/>
        </p:nvSpPr>
        <p:spPr>
          <a:xfrm>
            <a:off x="2074087" y="2580519"/>
            <a:ext cx="995095" cy="2746165"/>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2014; остаются роль без голоса или чужой голос — другой исход, а не другая цена</a:t>
            </a:r>
          </a:p>
        </p:txBody>
      </p:sp>
      <p:sp>
        <p:nvSpPr>
          <p:cNvPr id="12" name="Rounded Rectangle 11"/>
          <p:cNvSpPr/>
          <p:nvPr/>
        </p:nvSpPr>
        <p:spPr>
          <a:xfrm>
            <a:off x="3370935" y="1335024"/>
            <a:ext cx="1269415" cy="41288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ДАННЫХ</a:t>
            </a:r>
          </a:p>
        </p:txBody>
      </p:sp>
      <p:sp>
        <p:nvSpPr>
          <p:cNvPr id="14" name="TextBox 13"/>
          <p:cNvSpPr txBox="1"/>
          <p:nvPr/>
        </p:nvSpPr>
        <p:spPr>
          <a:xfrm>
            <a:off x="3508095" y="1725375"/>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примерно в десять раз меньше обычного</a:t>
            </a:r>
          </a:p>
        </p:txBody>
      </p:sp>
      <p:sp>
        <p:nvSpPr>
          <p:cNvPr id="15" name="TextBox 14"/>
          <p:cNvSpPr txBox="1"/>
          <p:nvPr/>
        </p:nvSpPr>
        <p:spPr>
          <a:xfrm>
            <a:off x="3508095" y="2576747"/>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именно часов архива — не названо; «в десять раз меньше» числом не является</a:t>
            </a:r>
          </a:p>
        </p:txBody>
      </p:sp>
      <p:sp>
        <p:nvSpPr>
          <p:cNvPr id="16" name="Rounded Rectangle 15"/>
          <p:cNvSpPr/>
          <p:nvPr/>
        </p:nvSpPr>
        <p:spPr>
          <a:xfrm>
            <a:off x="4804943" y="1335024"/>
            <a:ext cx="1269415" cy="4128820"/>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СГЕНЕРИРОВАНО МОДЕЛЕЙ ГОЛОСА</a:t>
            </a:r>
          </a:p>
        </p:txBody>
      </p:sp>
      <p:sp>
        <p:nvSpPr>
          <p:cNvPr id="18" name="TextBox 17"/>
          <p:cNvSpPr txBox="1"/>
          <p:nvPr/>
        </p:nvSpPr>
        <p:spPr>
          <a:xfrm>
            <a:off x="4942103" y="2140317"/>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больше сорока, выбрана одна</a:t>
            </a:r>
          </a:p>
        </p:txBody>
      </p:sp>
      <p:sp>
        <p:nvSpPr>
          <p:cNvPr id="19" name="TextBox 18"/>
          <p:cNvSpPr txBox="1"/>
          <p:nvPr/>
        </p:nvSpPr>
        <p:spPr>
          <a:xfrm>
            <a:off x="4942103" y="2991690"/>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механика, что даст дальше 400 генераций на 15 склеек</a:t>
            </a:r>
          </a:p>
        </p:txBody>
      </p:sp>
      <p:sp>
        <p:nvSpPr>
          <p:cNvPr id="20" name="Rounded Rectangle 19"/>
          <p:cNvSpPr/>
          <p:nvPr/>
        </p:nvSpPr>
        <p:spPr>
          <a:xfrm>
            <a:off x="502920" y="5628436"/>
            <a:ext cx="557143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5765596"/>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В ОТКРЫТЫХ ИСТОЧНИКАХ</a:t>
            </a:r>
          </a:p>
        </p:txBody>
      </p:sp>
      <p:sp>
        <p:nvSpPr>
          <p:cNvPr id="22" name="TextBox 21"/>
          <p:cNvSpPr txBox="1"/>
          <p:nvPr/>
        </p:nvSpPr>
        <p:spPr>
          <a:xfrm>
            <a:off x="640080" y="6018788"/>
            <a:ext cx="529711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технических публикаций по проекту</a:t>
            </a:r>
          </a:p>
        </p:txBody>
      </p:sp>
      <p:sp>
        <p:nvSpPr>
          <p:cNvPr id="23" name="TextBox 22"/>
          <p:cNvSpPr txBox="1"/>
          <p:nvPr/>
        </p:nvSpPr>
        <p:spPr>
          <a:xfrm>
            <a:off x="640080" y="6836210"/>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компания поглощена, её блог закрыт; искали добросовестно и не нашли</a:t>
            </a:r>
          </a:p>
        </p:txBody>
      </p:sp>
      <p:sp>
        <p:nvSpPr>
          <p:cNvPr id="24" name="Rounded Rectangle 23"/>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25" name="Picture 24" descr="s39-val-kilmer.jpg"/>
          <p:cNvPicPr>
            <a:picLocks noChangeAspect="1"/>
          </p:cNvPicPr>
          <p:nvPr/>
        </p:nvPicPr>
        <p:blipFill>
          <a:blip r:embed="rId2"/>
          <a:stretch>
            <a:fillRect/>
          </a:stretch>
        </p:blipFill>
        <p:spPr>
          <a:xfrm>
            <a:off x="6522415" y="1472184"/>
            <a:ext cx="5029200" cy="3771900"/>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 chapter-part2.md §2.5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673019" cy="278780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3340531" y="1335024"/>
            <a:ext cx="2673019" cy="278780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6178143" y="1335024"/>
            <a:ext cx="2673019" cy="278780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трогали только венгерские реплики</a:t>
            </a:r>
          </a:p>
        </p:txBody>
      </p:sp>
      <p:sp>
        <p:nvSpPr>
          <p:cNvPr id="15" name="TextBox 14"/>
          <p:cNvSpPr txBox="1"/>
          <p:nvPr/>
        </p:nvSpPr>
        <p:spPr>
          <a:xfrm>
            <a:off x="6315303" y="314069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9015755" y="1335024"/>
            <a:ext cx="2673019" cy="278780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9152915"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9152915" y="314069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502920" y="4287417"/>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424577"/>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640080" y="467776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640080" y="5104768"/>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6178143" y="4287417"/>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315303" y="4424577"/>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315303" y="4677769"/>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315303" y="5495191"/>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Токен языковой модели: номер из словаря примерно в 200 тысяч записей, составленного до обучения</a:t>
            </a:r>
          </a:p>
          <a:p>
            <a:pPr algn="l">
              <a:lnSpc>
                <a:spcPct val="126000"/>
              </a:lnSpc>
            </a:pPr>
            <a:r>
              <a:rPr sz="900" b="0" i="0">
                <a:solidFill>
                  <a:srgbClr val="21295C"/>
                </a:solidFill>
                <a:latin typeface="Arial"/>
              </a:rPr>
              <a:t>• Латентный патч изображения: непрерывный вектор, словаря нет вовсе; картинка 1024×1024 — 4 096 патчей</a:t>
            </a:r>
          </a:p>
          <a:p>
            <a:pPr algn="l">
              <a:lnSpc>
                <a:spcPct val="126000"/>
              </a:lnSpc>
            </a:pPr>
            <a:r>
              <a:rPr sz="900" b="0" i="0">
                <a:solidFill>
                  <a:srgbClr val="21295C"/>
                </a:solidFill>
                <a:latin typeface="Arial"/>
              </a:rPr>
              <a:t>• Аудиотокен: номер из кодовой книги, но книг несколько, и каждая уточняет ошибку предыдущей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 chapter-part2b.md §2.7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7,5 ГЕРЦА</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девяносто минут связного диалога</a:t>
            </a:r>
          </a:p>
        </p:txBody>
      </p:sp>
      <p:sp>
        <p:nvSpPr>
          <p:cNvPr id="7" name="TextBox 6"/>
          <p:cNvSpPr txBox="1"/>
          <p:nvPr/>
        </p:nvSpPr>
        <p:spPr>
          <a:xfrm>
            <a:off x="640080"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длина взялась отсюда, а не из размера генератора</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5 ГЕРЦ</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самая низкая частота поколения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DiffRhythm 2, музыкальная генерация длинной формы</a:t>
            </a:r>
          </a:p>
        </p:txBody>
      </p:sp>
      <p:sp>
        <p:nvSpPr>
          <p:cNvPr id="12" name="Rounded Rectangle 11"/>
          <p:cNvSpPr/>
          <p:nvPr/>
        </p:nvSpPr>
        <p:spPr>
          <a:xfrm>
            <a:off x="6178143"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ГЕРЦ</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вынесены прямо в имя модели</a:t>
            </a:r>
          </a:p>
        </p:txBody>
      </p:sp>
      <p:sp>
        <p:nvSpPr>
          <p:cNvPr id="15" name="TextBox 14"/>
          <p:cNvSpPr txBox="1"/>
          <p:nvPr/>
        </p:nvSpPr>
        <p:spPr>
          <a:xfrm>
            <a:off x="6315303"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Qwen3-TTS; поставщик считает параметр достойным названия</a:t>
            </a:r>
          </a:p>
        </p:txBody>
      </p:sp>
      <p:sp>
        <p:nvSpPr>
          <p:cNvPr id="16" name="Rounded Rectangle 15"/>
          <p:cNvSpPr/>
          <p:nvPr/>
        </p:nvSpPr>
        <p:spPr>
          <a:xfrm>
            <a:off x="9015755"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21,5 ГЕРЦА</a:t>
            </a:r>
          </a:p>
        </p:txBody>
      </p:sp>
      <p:sp>
        <p:nvSpPr>
          <p:cNvPr id="18" name="TextBox 17"/>
          <p:cNvSpPr txBox="1"/>
          <p:nvPr/>
        </p:nvSpPr>
        <p:spPr>
          <a:xfrm>
            <a:off x="9152915" y="1725375"/>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против 40–150 у прежних работ</a:t>
            </a:r>
          </a:p>
        </p:txBody>
      </p:sp>
      <p:sp>
        <p:nvSpPr>
          <p:cNvPr id="19" name="TextBox 18"/>
          <p:cNvSpPr txBox="1"/>
          <p:nvPr/>
        </p:nvSpPr>
        <p:spPr>
          <a:xfrm>
            <a:off x="9152915" y="252582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Stable Audio 2; авторы прямо объясняют этим возможность длинной формы</a:t>
            </a:r>
          </a:p>
        </p:txBody>
      </p:sp>
      <p:sp>
        <p:nvSpPr>
          <p:cNvPr id="20" name="Rounded Rectangle 19"/>
          <p:cNvSpPr/>
          <p:nvPr/>
        </p:nvSpPr>
        <p:spPr>
          <a:xfrm>
            <a:off x="502920" y="3868703"/>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005863"/>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22" name="TextBox 21"/>
          <p:cNvSpPr txBox="1"/>
          <p:nvPr/>
        </p:nvSpPr>
        <p:spPr>
          <a:xfrm>
            <a:off x="640080" y="4259054"/>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23" name="TextBox 22"/>
          <p:cNvSpPr txBox="1"/>
          <p:nvPr/>
        </p:nvSpPr>
        <p:spPr>
          <a:xfrm>
            <a:off x="640080" y="468605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24" name="Rounded Rectangle 23"/>
          <p:cNvSpPr/>
          <p:nvPr/>
        </p:nvSpPr>
        <p:spPr>
          <a:xfrm>
            <a:off x="374904" y="5125897"/>
            <a:ext cx="11441887" cy="11103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217337"/>
            <a:ext cx="5373471" cy="1018870"/>
          </a:xfrm>
          <a:prstGeom prst="rect">
            <a:avLst/>
          </a:prstGeom>
          <a:noFill/>
        </p:spPr>
        <p:txBody>
          <a:bodyPr wrap="square" lIns="0" rIns="0" tIns="0" bIns="0" anchor="t">
            <a:spAutoFit/>
          </a:bodyPr>
          <a:lstStyle/>
          <a:p>
            <a:pPr algn="l">
              <a:lnSpc>
                <a:spcPct val="126000"/>
              </a:lnSpc>
            </a:pPr>
            <a:r>
              <a:rPr sz="900" b="1" i="0">
                <a:solidFill>
                  <a:srgbClr val="21295C"/>
                </a:solidFill>
                <a:latin typeface="Arial"/>
              </a:rPr>
              <a:t>Длина выхода покупается одним параметром — частотой кадров кодека.</a:t>
            </a:r>
            <a:r>
              <a:rPr sz="900" b="0" i="0">
                <a:solidFill>
                  <a:srgbClr val="21295C"/>
                </a:solidFill>
                <a:latin typeface="Arial"/>
              </a:rPr>
              <a:t> Поколение 2025–2026 годов читается по нему как по паспорту.</a:t>
            </a:r>
          </a:p>
          <a:p>
            <a:pPr algn="l">
              <a:lnSpc>
                <a:spcPct val="126000"/>
              </a:lnSpc>
              <a:spcBef>
                <a:spcPts val="700"/>
              </a:spcBef>
            </a:pPr>
            <a:r>
              <a:rPr sz="900" b="0" i="0">
                <a:solidFill>
                  <a:srgbClr val="21295C"/>
                </a:solidFill>
                <a:latin typeface="Arial"/>
              </a:rPr>
              <a:t/>
            </a:r>
            <a:r>
              <a:rPr sz="900" b="1" i="0">
                <a:solidFill>
                  <a:srgbClr val="21295C"/>
                </a:solidFill>
                <a:latin typeface="Arial"/>
              </a:rPr>
              <a:t>7,5 герца — девяносто минут связного диалога. 5 герц — самая низкая частота поколения. 12 герц вынесены прямо в имя модели. 21,5 герца против 40–150 у прежних работ</a:t>
            </a:r>
            <a:r>
              <a:rPr sz="900" b="0" i="0">
                <a:solidFill>
                  <a:srgbClr val="21295C"/>
                </a:solidFill>
                <a:latin typeface="Arial"/>
              </a:rPr>
              <a:t> — и авторы прямо объясняют этим возможность длинной формы.</a:t>
            </a:r>
          </a:p>
        </p:txBody>
      </p:sp>
      <p:sp>
        <p:nvSpPr>
          <p:cNvPr id="26" name="TextBox 25"/>
          <p:cNvSpPr txBox="1"/>
          <p:nvPr/>
        </p:nvSpPr>
        <p:spPr>
          <a:xfrm>
            <a:off x="6278727" y="5217337"/>
            <a:ext cx="5373471" cy="1018870"/>
          </a:xfrm>
          <a:prstGeom prst="rect">
            <a:avLst/>
          </a:prstGeom>
          <a:noFill/>
        </p:spPr>
        <p:txBody>
          <a:bodyPr wrap="square" lIns="0" rIns="0" tIns="0" bIns="0" anchor="t">
            <a:spAutoFit/>
          </a:bodyPr>
          <a:lstStyle/>
          <a:p>
            <a:pPr algn="l">
              <a:lnSpc>
                <a:spcPct val="126000"/>
              </a:lnSpc>
            </a:pPr>
            <a:r>
              <a:rPr sz="900" b="1" i="0">
                <a:solidFill>
                  <a:srgbClr val="21295C"/>
                </a:solidFill>
                <a:latin typeface="Arial"/>
              </a:rPr>
              <a:t>Снижение частоты кадров — архитектурное решение, определяющее, какая длина вообще возможна.</a:t>
            </a:r>
            <a:r>
              <a:rPr sz="900" b="0" i="0">
                <a:solidFill>
                  <a:srgbClr val="21295C"/>
                </a:solidFill>
                <a:latin typeface="Arial"/>
              </a:rPr>
              <a:t> Это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900" b="0" i="0">
                <a:solidFill>
                  <a:srgbClr val="21295C"/>
                </a:solidFill>
                <a:latin typeface="Arial"/>
              </a:rPr>
              <a:t/>
            </a:r>
            <a:r>
              <a:rPr sz="9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6091275" y="5217337"/>
            <a:ext cx="9144" cy="980083"/>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 chapter-part2b.md §2.7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Rounded Rectangle 3"/>
          <p:cNvSpPr/>
          <p:nvPr/>
        </p:nvSpPr>
        <p:spPr>
          <a:xfrm>
            <a:off x="502920"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СРАВНЕНИЯ</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время генерации минуты звука</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колонки получены одной методикой в одной статье</a:t>
            </a:r>
          </a:p>
        </p:txBody>
      </p:sp>
      <p:sp>
        <p:nvSpPr>
          <p:cNvPr id="8" name="Rounded Rectangle 7"/>
          <p:cNvSpPr/>
          <p:nvPr/>
        </p:nvSpPr>
        <p:spPr>
          <a:xfrm>
            <a:off x="3340531"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АВТОРЕГРЕССИЯ, ДВЕ МИНУТЫ → ЧЕТЫРЕ МИНУТЫ СОРОК ПЯТЬ СЕКУНД</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6:38 → 12:53</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растёт линейно с длиной: каждый токен требует своего прохода</a:t>
            </a:r>
          </a:p>
        </p:txBody>
      </p:sp>
      <p:sp>
        <p:nvSpPr>
          <p:cNvPr id="12" name="Rounded Rectangle 11"/>
          <p:cNvSpPr/>
          <p:nvPr/>
        </p:nvSpPr>
        <p:spPr>
          <a:xfrm>
            <a:off x="6178143" y="1335024"/>
            <a:ext cx="2673019"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ТА ЖЕ ПАРА ДЛИН</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 → 13 с</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число шагов решателя фиксировано и от размера выхода не зависит</a:t>
            </a:r>
          </a:p>
        </p:txBody>
      </p:sp>
      <p:sp>
        <p:nvSpPr>
          <p:cNvPr id="16" name="Rounded Rectangle 15"/>
          <p:cNvSpPr/>
          <p:nvPr/>
        </p:nvSpPr>
        <p:spPr>
          <a:xfrm>
            <a:off x="9015755"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ПО ТОЙ ЖЕ МЕТРИКЕ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204,03 и 218,02 против 79,09 и 81,96</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 лучше; разрыв по времени доходит до шестидесяти раз при вдвое лучшем качестве</a:t>
            </a:r>
          </a:p>
        </p:txBody>
      </p:sp>
      <p:sp>
        <p:nvSpPr>
          <p:cNvPr id="20" name="Rounded Rectangle 19"/>
          <p:cNvSpPr/>
          <p:nvPr/>
        </p:nvSpPr>
        <p:spPr>
          <a:xfrm>
            <a:off x="502920" y="3745533"/>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90098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22" name="TextBox 21"/>
          <p:cNvSpPr txBox="1"/>
          <p:nvPr/>
        </p:nvSpPr>
        <p:spPr>
          <a:xfrm>
            <a:off x="667512" y="425716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900" b="0" i="0">
                <a:solidFill>
                  <a:srgbClr val="21295C"/>
                </a:solidFill>
                <a:latin typeface="Arial"/>
              </a:rPr>
              <a:t>• Плоская развёртка: 6 000 шагов, качество 0,86</a:t>
            </a:r>
          </a:p>
          <a:p>
            <a:pPr algn="l">
              <a:lnSpc>
                <a:spcPct val="126000"/>
              </a:lnSpc>
            </a:pPr>
            <a:r>
              <a:rPr sz="9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9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23" name="Rounded Rectangle 22"/>
          <p:cNvSpPr/>
          <p:nvPr/>
        </p:nvSpPr>
        <p:spPr>
          <a:xfrm>
            <a:off x="6251295" y="3745533"/>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90098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25" name="TextBox 24"/>
          <p:cNvSpPr txBox="1"/>
          <p:nvPr/>
        </p:nvSpPr>
        <p:spPr>
          <a:xfrm>
            <a:off x="6415887" y="425716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9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9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900" b="0" i="0">
                <a:solidFill>
                  <a:srgbClr val="21295C"/>
                </a:solidFill>
                <a:latin typeface="Arial"/>
              </a:rPr>
              <a:t>• Тишина обрезается — переменная длина получена обучением, само ограничение никуда не делось</a:t>
            </a:r>
          </a:p>
        </p:txBody>
      </p:sp>
      <p:sp>
        <p:nvSpPr>
          <p:cNvPr id="26" name="Rounded Rectangle 25"/>
          <p:cNvSpPr/>
          <p:nvPr/>
        </p:nvSpPr>
        <p:spPr>
          <a:xfrm>
            <a:off x="374904" y="5254293"/>
            <a:ext cx="11441887" cy="9819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345733"/>
            <a:ext cx="11112703" cy="890474"/>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Единица одна — время генерации минуты звука. Обе колонки получены одной методикой в одной статье.</a:t>
            </a:r>
          </a:p>
          <a:p>
            <a:pPr algn="l">
              <a:lnSpc>
                <a:spcPct val="126000"/>
              </a:lnSpc>
              <a:spcBef>
                <a:spcPts val="700"/>
              </a:spcBef>
            </a:pPr>
            <a:r>
              <a:rPr sz="850" b="0" i="0">
                <a:solidFill>
                  <a:srgbClr val="21295C"/>
                </a:solidFill>
                <a:latin typeface="Arial"/>
              </a:rPr>
              <a:t/>
            </a:r>
            <a:r>
              <a:rPr sz="850" b="1" i="0">
                <a:solidFill>
                  <a:srgbClr val="21295C"/>
                </a:solidFill>
                <a:latin typeface="Arial"/>
              </a:rPr>
              <a:t>Авторегрессия: две минуты музыки — 6 минут 38 секунд; четыре минуты сорок пять секунд — 12 минут 53 секунды.</a:t>
            </a:r>
            <a:r>
              <a:rPr sz="850" b="0" i="0">
                <a:solidFill>
                  <a:srgbClr val="21295C"/>
                </a:solidFill>
                <a:latin typeface="Arial"/>
              </a:rPr>
              <a:t> Время растёт линейно с длиной.</a:t>
            </a:r>
          </a:p>
          <a:p>
            <a:pPr algn="l">
              <a:lnSpc>
                <a:spcPct val="126000"/>
              </a:lnSpc>
              <a:spcBef>
                <a:spcPts val="700"/>
              </a:spcBef>
            </a:pPr>
            <a:r>
              <a:rPr sz="850" b="0" i="0">
                <a:solidFill>
                  <a:srgbClr val="21295C"/>
                </a:solidFill>
                <a:latin typeface="Arial"/>
              </a:rPr>
              <a:t/>
            </a:r>
            <a:r>
              <a:rPr sz="850" b="1" i="0">
                <a:solidFill>
                  <a:srgbClr val="21295C"/>
                </a:solidFill>
                <a:latin typeface="Arial"/>
              </a:rPr>
              <a:t>Диффузия: 13 секунд и там, и там.</a:t>
            </a:r>
            <a:r>
              <a:rPr sz="850" b="0" i="0">
                <a:solidFill>
                  <a:srgbClr val="21295C"/>
                </a:solidFill>
                <a:latin typeface="Arial"/>
              </a:rPr>
              <a:t> Число шагов решателя фиксировано и от размера выхода не зависит.</a:t>
            </a:r>
          </a:p>
          <a:p>
            <a:pPr algn="l">
              <a:lnSpc>
                <a:spcPct val="126000"/>
              </a:lnSpc>
              <a:spcBef>
                <a:spcPts val="700"/>
              </a:spcBef>
            </a:pPr>
            <a:r>
              <a:rPr sz="850" b="0" i="0">
                <a:solidFill>
                  <a:srgbClr val="21295C"/>
                </a:solidFill>
                <a:latin typeface="Arial"/>
              </a:rPr>
              <a:t/>
            </a:r>
            <a:r>
              <a:rPr sz="850" b="1" i="0">
                <a:solidFill>
                  <a:srgbClr val="21295C"/>
                </a:solidFill>
                <a:latin typeface="Arial"/>
              </a:rPr>
              <a:t>Качество по той же метрике: 204,03 и 218,02 против 79,09 и 81,96</a:t>
            </a:r>
            <a:r>
              <a:rPr sz="850" b="0" i="0">
                <a:solidFill>
                  <a:srgbClr val="21295C"/>
                </a:solidFill>
                <a:latin typeface="Arial"/>
              </a:rPr>
              <a:t> (меньше — лучше). Разрыв по времени доходит до шестидесяти раз при вдвое с лишним лучшем качестве.</a:t>
            </a:r>
          </a:p>
          <a:p>
            <a:pPr algn="l">
              <a:lnSpc>
                <a:spcPct val="126000"/>
              </a:lnSpc>
              <a:spcBef>
                <a:spcPts val="700"/>
              </a:spcBef>
            </a:pPr>
            <a:r>
              <a:rPr sz="850" b="0" i="0">
                <a:solidFill>
                  <a:srgbClr val="21295C"/>
                </a:solidFill>
                <a:latin typeface="Arial"/>
              </a:rPr>
              <a:t/>
            </a:r>
            <a:r>
              <a:rPr sz="850" b="1" i="0">
                <a:solidFill>
                  <a:srgbClr val="21295C"/>
                </a:solidFill>
                <a:latin typeface="Arial"/>
              </a:rPr>
              <a:t>Разрыв структурный: он следует из устройства, и качество инженерной работы тут ни при чём.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 chapter-part2b.md §2.7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ounded Rectangle 3"/>
          <p:cNvSpPr/>
          <p:nvPr/>
        </p:nvSpPr>
        <p:spPr>
          <a:xfrm>
            <a:off x="502920" y="1335024"/>
            <a:ext cx="2673019" cy="2003183"/>
          </a:xfrm>
          <a:prstGeom prst="roundRect">
            <a:avLst>
              <a:gd name="adj" fmla="val 1521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ИДЕАЛЬНАЯ МАСКА, ВЫЧИСЛЕННАЯ ПРИ ЗНАНИИ ИСТИННЫХ ДОРОЖЕК</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8,22 дБ</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граница всех методов, работающих маскированием спектрограммы</a:t>
            </a:r>
          </a:p>
        </p:txBody>
      </p:sp>
      <p:sp>
        <p:nvSpPr>
          <p:cNvPr id="8" name="Rounded Rectangle 7"/>
          <p:cNvSpPr/>
          <p:nvPr/>
        </p:nvSpPr>
        <p:spPr>
          <a:xfrm>
            <a:off x="3340531"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SPLEETER</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5,91 дБ</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массовый инструмент предыдущего поколения</a:t>
            </a:r>
          </a:p>
        </p:txBody>
      </p:sp>
      <p:sp>
        <p:nvSpPr>
          <p:cNvPr id="12" name="Rounded Rectangle 11"/>
          <p:cNvSpPr/>
          <p:nvPr/>
        </p:nvSpPr>
        <p:spPr>
          <a:xfrm>
            <a:off x="6178143"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HYBRID DEMUCS</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8,34 дБ</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превышение границы маскирующих методов</a:t>
            </a:r>
          </a:p>
        </p:txBody>
      </p:sp>
      <p:sp>
        <p:nvSpPr>
          <p:cNvPr id="16" name="Rounded Rectangle 15"/>
          <p:cNvSpPr/>
          <p:nvPr/>
        </p:nvSpPr>
        <p:spPr>
          <a:xfrm>
            <a:off x="9015755"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SPARSE HT DEMUCS, ДООБУЧЕННЫЙ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9,20 дБ</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идеальной маски на 0,98 дБ</a:t>
            </a:r>
          </a:p>
        </p:txBody>
      </p:sp>
      <p:sp>
        <p:nvSpPr>
          <p:cNvPr id="20" name="Rounded Rectangle 19"/>
          <p:cNvSpPr/>
          <p:nvPr/>
        </p:nvSpPr>
        <p:spPr>
          <a:xfrm>
            <a:off x="502920" y="350279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63995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BS-ROFORMER И MEL-BAND ROFORMER, 2023</a:t>
            </a:r>
          </a:p>
        </p:txBody>
      </p:sp>
      <p:sp>
        <p:nvSpPr>
          <p:cNvPr id="22" name="TextBox 21"/>
          <p:cNvSpPr txBox="1"/>
          <p:nvPr/>
        </p:nvSpPr>
        <p:spPr>
          <a:xfrm>
            <a:off x="640080" y="389315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11,99 дБ</a:t>
            </a:r>
          </a:p>
        </p:txBody>
      </p:sp>
      <p:sp>
        <p:nvSpPr>
          <p:cNvPr id="23" name="TextBox 22"/>
          <p:cNvSpPr txBox="1"/>
          <p:nvPr/>
        </p:nvSpPr>
        <p:spPr>
          <a:xfrm>
            <a:off x="640080" y="432014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текущий передний край</a:t>
            </a:r>
          </a:p>
        </p:txBody>
      </p:sp>
      <p:sp>
        <p:nvSpPr>
          <p:cNvPr id="24" name="Rounded Rectangle 23"/>
          <p:cNvSpPr/>
          <p:nvPr/>
        </p:nvSpPr>
        <p:spPr>
          <a:xfrm>
            <a:off x="502920" y="4851433"/>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00688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6" name="TextBox 25"/>
          <p:cNvSpPr txBox="1"/>
          <p:nvPr/>
        </p:nvSpPr>
        <p:spPr>
          <a:xfrm>
            <a:off x="667512" y="536306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Микс считается суммой дорожек; задача — вернуть слагаемые</a:t>
            </a:r>
          </a:p>
          <a:p>
            <a:pPr algn="l">
              <a:lnSpc>
                <a:spcPct val="126000"/>
              </a:lnSpc>
            </a:pPr>
            <a:r>
              <a:rPr sz="900" b="0" i="0">
                <a:solidFill>
                  <a:srgbClr val="21295C"/>
                </a:solidFill>
                <a:latin typeface="Arial"/>
              </a:rPr>
              <a:t>• Эталон существует: исходные изолированные дорожки</a:t>
            </a:r>
          </a:p>
          <a:p>
            <a:pPr algn="l">
              <a:lnSpc>
                <a:spcPct val="126000"/>
              </a:lnSpc>
            </a:pPr>
            <a:r>
              <a:rPr sz="9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900" b="0" i="0">
                <a:solidFill>
                  <a:srgbClr val="21295C"/>
                </a:solidFill>
                <a:latin typeface="Arial"/>
              </a:rPr>
              <a:t>• Есть оракул — верхняя граница, вычисленная при знании ответа</a:t>
            </a:r>
          </a:p>
          <a:p>
            <a:pPr algn="l">
              <a:lnSpc>
                <a:spcPct val="126000"/>
              </a:lnSpc>
            </a:pPr>
            <a:r>
              <a:rPr sz="9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7" name="Rounded Rectangle 26"/>
          <p:cNvSpPr/>
          <p:nvPr/>
        </p:nvSpPr>
        <p:spPr>
          <a:xfrm>
            <a:off x="6251295" y="4851433"/>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500688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9" name="TextBox 28"/>
          <p:cNvSpPr txBox="1"/>
          <p:nvPr/>
        </p:nvSpPr>
        <p:spPr>
          <a:xfrm>
            <a:off x="6415887" y="536306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9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900" b="0" i="0">
                <a:solidFill>
                  <a:srgbClr val="21295C"/>
                </a:solidFill>
                <a:latin typeface="Arial"/>
              </a:rPr>
              <a:t>• Понятия идеального оракула у генеративной модели нет вовсе</a:t>
            </a:r>
          </a:p>
          <a:p>
            <a:pPr algn="l">
              <a:lnSpc>
                <a:spcPct val="126000"/>
              </a:lnSpc>
            </a:pPr>
            <a:r>
              <a:rPr sz="9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30" name="Rectangle 2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 chapter-part2b.md §2.6, §2.7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ВНУТРИ ЕСТЬ</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распределение, обусловленное образцом</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звучание воспроизводится полностью</a:t>
            </a:r>
          </a:p>
        </p:txBody>
      </p:sp>
      <p:sp>
        <p:nvSpPr>
          <p:cNvPr id="8" name="Rounded Rectangle 7"/>
          <p:cNvSpPr/>
          <p:nvPr/>
        </p:nvSpPr>
        <p:spPr>
          <a:xfrm>
            <a:off x="3340531"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a:t>
            </a:r>
          </a:p>
        </p:txBody>
      </p:sp>
      <p:sp>
        <p:nvSpPr>
          <p:cNvPr id="10" name="TextBox 9"/>
          <p:cNvSpPr txBox="1"/>
          <p:nvPr/>
        </p:nvSpPr>
        <p:spPr>
          <a:xfrm>
            <a:off x="3477691" y="1725375"/>
            <a:ext cx="2398699"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манера, репертуар, пределы диапазона, дыхание, решение о подаче</a:t>
            </a:r>
          </a:p>
        </p:txBody>
      </p:sp>
      <p:sp>
        <p:nvSpPr>
          <p:cNvPr id="11" name="TextBox 10"/>
          <p:cNvSpPr txBox="1"/>
          <p:nvPr/>
        </p:nvSpPr>
        <p:spPr>
          <a:xfrm>
            <a:off x="3477691" y="242397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сущности «исполнитель» в модели не существует</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КОРЕНЬ — В ДАННЫХ</a:t>
            </a:r>
          </a:p>
        </p:txBody>
      </p:sp>
      <p:sp>
        <p:nvSpPr>
          <p:cNvPr id="14" name="TextBox 13"/>
          <p:cNvSpPr txBox="1"/>
          <p:nvPr/>
        </p:nvSpPr>
        <p:spPr>
          <a:xfrm>
            <a:off x="6315303" y="1725375"/>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главный обучающий корпус собран из аудиокниг</a:t>
            </a:r>
          </a:p>
        </p:txBody>
      </p:sp>
      <p:sp>
        <p:nvSpPr>
          <p:cNvPr id="15" name="TextBox 14"/>
          <p:cNvSpPr txBox="1"/>
          <p:nvPr/>
        </p:nvSpPr>
        <p:spPr>
          <a:xfrm>
            <a:off x="6315303" y="265313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подавляющее большинство высказываний произнесено в читательской манере</a:t>
            </a:r>
          </a:p>
        </p:txBody>
      </p:sp>
      <p:sp>
        <p:nvSpPr>
          <p:cNvPr id="16" name="Rounded Rectangle 15"/>
          <p:cNvSpPr/>
          <p:nvPr/>
        </p:nvSpPr>
        <p:spPr>
          <a:xfrm>
            <a:off x="9015755"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ГРАНИЦА ПРИМЕНИМОСТИ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произнести — да, сыграть — нет</a:t>
            </a:r>
          </a:p>
        </p:txBody>
      </p:sp>
      <p:sp>
        <p:nvSpPr>
          <p:cNvPr id="19" name="TextBox 18"/>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проверять надо именно её, до запуска, а не после приёмки</a:t>
            </a:r>
          </a:p>
        </p:txBody>
      </p:sp>
      <p:sp>
        <p:nvSpPr>
          <p:cNvPr id="20" name="Rounded Rectangle 19"/>
          <p:cNvSpPr/>
          <p:nvPr/>
        </p:nvSpPr>
        <p:spPr>
          <a:xfrm>
            <a:off x="502920" y="3675747"/>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83119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2" name="TextBox 21"/>
          <p:cNvSpPr txBox="1"/>
          <p:nvPr/>
        </p:nvSpPr>
        <p:spPr>
          <a:xfrm>
            <a:off x="667512" y="418737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Системам синтеза «недостаёт тонкого контроля паралингвистических деталей, например эмоции» — формулировка разработчиков</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голоса пения не поддерживает — ограничение объявлено в документации</a:t>
            </a:r>
          </a:p>
        </p:txBody>
      </p:sp>
      <p:sp>
        <p:nvSpPr>
          <p:cNvPr id="23" name="Rounded Rectangle 22"/>
          <p:cNvSpPr/>
          <p:nvPr/>
        </p:nvSpPr>
        <p:spPr>
          <a:xfrm>
            <a:off x="6251295" y="3675747"/>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83119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5" name="TextBox 24"/>
          <p:cNvSpPr txBox="1"/>
          <p:nvPr/>
        </p:nvSpPr>
        <p:spPr>
          <a:xfrm>
            <a:off x="6415887" y="418737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6" name="Rounded Rectangle 25"/>
          <p:cNvSpPr/>
          <p:nvPr/>
        </p:nvSpPr>
        <p:spPr>
          <a:xfrm>
            <a:off x="374904" y="5184507"/>
            <a:ext cx="11441887" cy="10517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275947"/>
            <a:ext cx="11112703" cy="96026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Модель голоса воспроизводит звучание. На этом её знание о человеке заканчивается.</a:t>
            </a:r>
          </a:p>
          <a:p>
            <a:pPr algn="l">
              <a:lnSpc>
                <a:spcPct val="126000"/>
              </a:lnSpc>
              <a:spcBef>
                <a:spcPts val="700"/>
              </a:spcBef>
            </a:pPr>
            <a:r>
              <a:rPr sz="850" b="0" i="0">
                <a:solidFill>
                  <a:srgbClr val="21295C"/>
                </a:solidFill>
                <a:latin typeface="Arial"/>
              </a:rPr>
              <a:t/>
            </a:r>
            <a:r>
              <a:rPr sz="850" b="0" i="0">
                <a:solidFill>
                  <a:srgbClr val="21295C"/>
                </a:solidFill>
                <a:latin typeface="Arial"/>
              </a:rPr>
              <a:t>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a:t>
            </a:r>
          </a:p>
          <a:p>
            <a:pPr algn="l">
              <a:lnSpc>
                <a:spcPct val="126000"/>
              </a:lnSpc>
              <a:spcBef>
                <a:spcPts val="700"/>
              </a:spcBef>
            </a:pPr>
            <a:r>
              <a:rPr sz="850" b="0" i="0">
                <a:solidFill>
                  <a:srgbClr val="21295C"/>
                </a:solidFill>
                <a:latin typeface="Arial"/>
              </a:rPr>
              <a:t/>
            </a:r>
            <a:r>
              <a:rPr sz="850" b="1" i="0">
                <a:solidFill>
                  <a:srgbClr val="21295C"/>
                </a:solidFill>
                <a:latin typeface="Arial"/>
              </a:rPr>
              <a:t>Корень — в данных, и он назван ещё в 2023 году:</a:t>
            </a:r>
            <a:r>
              <a:rPr sz="850" b="0" i="0">
                <a:solidFill>
                  <a:srgbClr val="21295C"/>
                </a:solidFill>
                <a:latin typeface="Arial"/>
              </a:rPr>
              <a:t> главный обучающий корпус собран из аудиокниг, где подавляющее большинство высказываний произнесено в читательской манере.</a:t>
            </a:r>
          </a:p>
          <a:p>
            <a:pPr algn="l">
              <a:lnSpc>
                <a:spcPct val="126000"/>
              </a:lnSpc>
              <a:spcBef>
                <a:spcPts val="700"/>
              </a:spcBef>
            </a:pPr>
            <a:r>
              <a:rPr sz="850" b="0" i="0">
                <a:solidFill>
                  <a:srgbClr val="21295C"/>
                </a:solidFill>
                <a:latin typeface="Arial"/>
              </a:rPr>
              <a:t/>
            </a:r>
            <a:r>
              <a:rPr sz="850" b="1" i="0">
                <a:solidFill>
                  <a:srgbClr val="21295C"/>
                </a:solidFill>
                <a:latin typeface="Arial"/>
              </a:rPr>
              <a:t>Граница, которую можно проверить до запуска: модель годится там, где нужно произнести, и перестаёт годиться там, где нужно сыграть.</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 chapter-part2b.md §2.8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chapter-part2b.md §2.8; §2.7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269415" cy="3993964"/>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РОССИЙСКОГО ПРОЕКТА</a:t>
            </a:r>
          </a:p>
        </p:txBody>
      </p:sp>
      <p:sp>
        <p:nvSpPr>
          <p:cNvPr id="6" name="TextBox 5"/>
          <p:cNvSpPr txBox="1"/>
          <p:nvPr/>
        </p:nvSpPr>
        <p:spPr>
          <a:xfrm>
            <a:off x="640080" y="2140317"/>
            <a:ext cx="995095" cy="724060"/>
          </a:xfrm>
          <a:prstGeom prst="rect">
            <a:avLst/>
          </a:prstGeom>
          <a:noFill/>
        </p:spPr>
        <p:txBody>
          <a:bodyPr wrap="square" lIns="0" rIns="0" tIns="0" bIns="0" anchor="t">
            <a:spAutoFit/>
          </a:bodyPr>
          <a:lstStyle/>
          <a:p>
            <a:pPr algn="l">
              <a:lnSpc>
                <a:spcPct val="108000"/>
              </a:lnSpc>
            </a:pPr>
            <a:r>
              <a:rPr sz="1350" b="1" i="0">
                <a:solidFill>
                  <a:srgbClr val="1C7293"/>
                </a:solidFill>
                <a:latin typeface="Arial"/>
              </a:rPr>
              <a:t>внесён и не поддержан</a:t>
            </a:r>
          </a:p>
        </p:txBody>
      </p:sp>
      <p:sp>
        <p:nvSpPr>
          <p:cNvPr id="7" name="TextBox 6"/>
          <p:cNvSpPr txBox="1"/>
          <p:nvPr/>
        </p:nvSpPr>
        <p:spPr>
          <a:xfrm>
            <a:off x="640080" y="2864378"/>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не «закон готовится» и не «закон принят» — различать статусы обязательно</a:t>
            </a:r>
          </a:p>
        </p:txBody>
      </p:sp>
      <p:sp>
        <p:nvSpPr>
          <p:cNvPr id="8" name="Rounded Rectangle 7"/>
          <p:cNvSpPr/>
          <p:nvPr/>
        </p:nvSpPr>
        <p:spPr>
          <a:xfrm>
            <a:off x="1936927" y="1335024"/>
            <a:ext cx="1269415" cy="3993964"/>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ЗАКОНОВ ДВУХ ШТАТОВ США</a:t>
            </a:r>
          </a:p>
        </p:txBody>
      </p:sp>
      <p:sp>
        <p:nvSpPr>
          <p:cNvPr id="10" name="TextBox 9"/>
          <p:cNvSpPr txBox="1"/>
          <p:nvPr/>
        </p:nvSpPr>
        <p:spPr>
          <a:xfrm>
            <a:off x="2074087" y="2555260"/>
            <a:ext cx="995095"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приняты и в силе</a:t>
            </a:r>
          </a:p>
        </p:txBody>
      </p:sp>
      <p:sp>
        <p:nvSpPr>
          <p:cNvPr id="11" name="TextBox 10"/>
          <p:cNvSpPr txBox="1"/>
          <p:nvPr/>
        </p:nvSpPr>
        <p:spPr>
          <a:xfrm>
            <a:off x="2074087" y="3168983"/>
            <a:ext cx="9950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при этом применённых дел по ним не найдено</a:t>
            </a:r>
          </a:p>
        </p:txBody>
      </p:sp>
      <p:sp>
        <p:nvSpPr>
          <p:cNvPr id="12" name="Rounded Rectangle 11"/>
          <p:cNvSpPr/>
          <p:nvPr/>
        </p:nvSpPr>
        <p:spPr>
          <a:xfrm>
            <a:off x="3370935" y="1335024"/>
            <a:ext cx="1269415" cy="3993964"/>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ФЕДЕРАЛЬНОГО ПРОЕКТА США</a:t>
            </a:r>
          </a:p>
        </p:txBody>
      </p:sp>
      <p:sp>
        <p:nvSpPr>
          <p:cNvPr id="14" name="TextBox 13"/>
          <p:cNvSpPr txBox="1"/>
          <p:nvPr/>
        </p:nvSpPr>
        <p:spPr>
          <a:xfrm>
            <a:off x="3508095" y="2347789"/>
            <a:ext cx="995095"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одобрен комитетом, не принят</a:t>
            </a:r>
          </a:p>
        </p:txBody>
      </p:sp>
      <p:sp>
        <p:nvSpPr>
          <p:cNvPr id="15" name="TextBox 14"/>
          <p:cNvSpPr txBox="1"/>
          <p:nvPr/>
        </p:nvSpPr>
        <p:spPr>
          <a:xfrm>
            <a:off x="3508095" y="3071849"/>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возражение одного сенатора остановило единогласное принятие</a:t>
            </a:r>
          </a:p>
        </p:txBody>
      </p:sp>
      <p:sp>
        <p:nvSpPr>
          <p:cNvPr id="16" name="Rounded Rectangle 15"/>
          <p:cNvSpPr/>
          <p:nvPr/>
        </p:nvSpPr>
        <p:spPr>
          <a:xfrm>
            <a:off x="4804943" y="1335024"/>
            <a:ext cx="1269415" cy="3993964"/>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18" name="TextBox 17"/>
          <p:cNvSpPr txBox="1"/>
          <p:nvPr/>
        </p:nvSpPr>
        <p:spPr>
          <a:xfrm>
            <a:off x="4942103" y="1932846"/>
            <a:ext cx="995095"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просят лицензию, а не запрет</a:t>
            </a:r>
          </a:p>
        </p:txBody>
      </p:sp>
      <p:sp>
        <p:nvSpPr>
          <p:cNvPr id="19" name="TextBox 18"/>
          <p:cNvSpPr txBox="1"/>
          <p:nvPr/>
        </p:nvSpPr>
        <p:spPr>
          <a:xfrm>
            <a:off x="4942103" y="2656906"/>
            <a:ext cx="99509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a:t>
            </a:r>
          </a:p>
        </p:txBody>
      </p:sp>
      <p:sp>
        <p:nvSpPr>
          <p:cNvPr id="20" name="Rounded Rectangle 19"/>
          <p:cNvSpPr/>
          <p:nvPr/>
        </p:nvSpPr>
        <p:spPr>
          <a:xfrm>
            <a:off x="502920" y="5511868"/>
            <a:ext cx="2630271"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5667316"/>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Россия</a:t>
            </a:r>
          </a:p>
        </p:txBody>
      </p:sp>
      <p:sp>
        <p:nvSpPr>
          <p:cNvPr id="22" name="TextBox 21"/>
          <p:cNvSpPr txBox="1"/>
          <p:nvPr/>
        </p:nvSpPr>
        <p:spPr>
          <a:xfrm>
            <a:off x="667512" y="6023495"/>
            <a:ext cx="230108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Отдельной охраны голоса в Гражданском кодексе нет</a:t>
            </a:r>
          </a:p>
          <a:p>
            <a:pPr algn="l">
              <a:lnSpc>
                <a:spcPct val="126000"/>
              </a:lnSpc>
            </a:pPr>
            <a:r>
              <a:rPr sz="900" b="0" i="0">
                <a:solidFill>
                  <a:srgbClr val="21295C"/>
                </a:solidFill>
                <a:latin typeface="Arial"/>
              </a:rPr>
              <a:t>• Защита персональных данных — если удастся доказать, что запись является биометрией</a:t>
            </a:r>
          </a:p>
          <a:p>
            <a:pPr algn="l">
              <a:lnSpc>
                <a:spcPct val="126000"/>
              </a:lnSpc>
            </a:pPr>
            <a:r>
              <a:rPr sz="900" b="0" i="0">
                <a:solidFill>
                  <a:srgbClr val="21295C"/>
                </a:solidFill>
                <a:latin typeface="Arial"/>
              </a:rPr>
              <a:t>• Смежные права — на конкретную фонограмму, но не на голос как таковой</a:t>
            </a:r>
          </a:p>
          <a:p>
            <a:pPr algn="l">
              <a:lnSpc>
                <a:spcPct val="126000"/>
              </a:lnSpc>
            </a:pPr>
            <a:r>
              <a:rPr sz="900" b="0" i="0">
                <a:solidFill>
                  <a:srgbClr val="21295C"/>
                </a:solidFill>
                <a:latin typeface="Arial"/>
              </a:rPr>
              <a:t>• Защита чести и достоинства — если использование порочит</a:t>
            </a:r>
          </a:p>
          <a:p>
            <a:pPr algn="l">
              <a:lnSpc>
                <a:spcPct val="126000"/>
              </a:lnSpc>
            </a:pPr>
            <a:r>
              <a:rPr sz="900" b="0" i="0">
                <a:solidFill>
                  <a:srgbClr val="21295C"/>
                </a:solidFill>
                <a:latin typeface="Arial"/>
              </a:rPr>
              <a:t>• Проект статьи 152.3 внесён в сентябре 2024 года; правительством не поддержан, решение комиссии 20 января 2025 года; на октябрь 2026 года не принят</a:t>
            </a:r>
          </a:p>
        </p:txBody>
      </p:sp>
      <p:sp>
        <p:nvSpPr>
          <p:cNvPr id="23" name="Rounded Rectangle 22"/>
          <p:cNvSpPr/>
          <p:nvPr/>
        </p:nvSpPr>
        <p:spPr>
          <a:xfrm>
            <a:off x="3444087" y="5511868"/>
            <a:ext cx="2630271"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3608679" y="5667316"/>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США</a:t>
            </a:r>
          </a:p>
        </p:txBody>
      </p:sp>
      <p:sp>
        <p:nvSpPr>
          <p:cNvPr id="25" name="TextBox 24"/>
          <p:cNvSpPr txBox="1"/>
          <p:nvPr/>
        </p:nvSpPr>
        <p:spPr>
          <a:xfrm>
            <a:off x="3608679" y="6023495"/>
            <a:ext cx="2301087"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Теннесси: закон добавил голос к праву публичности — подписан 21 марта 2024 года, действует с 1 июля 2024 года</a:t>
            </a:r>
          </a:p>
          <a:p>
            <a:pPr algn="l">
              <a:lnSpc>
                <a:spcPct val="126000"/>
              </a:lnSpc>
            </a:pPr>
            <a:r>
              <a:rPr sz="900" b="0" i="0">
                <a:solidFill>
                  <a:srgbClr val="21295C"/>
                </a:solidFill>
                <a:latin typeface="Arial"/>
              </a:rPr>
              <a:t>• Калифорния: закон о цифровых репликах умерших действует с 1 января 2025 года, ответственность — десять тысяч долларов или реальные убытки</a:t>
            </a:r>
          </a:p>
          <a:p>
            <a:pPr algn="l">
              <a:lnSpc>
                <a:spcPct val="126000"/>
              </a:lnSpc>
            </a:pPr>
            <a:r>
              <a:rPr sz="900" b="0" i="0">
                <a:solidFill>
                  <a:srgbClr val="21295C"/>
                </a:solidFill>
                <a:latin typeface="Arial"/>
              </a:rPr>
              <a:t>• Применённых в суде дел по обоим законам найти не удалось</a:t>
            </a:r>
          </a:p>
          <a:p>
            <a:pPr algn="l">
              <a:lnSpc>
                <a:spcPct val="126000"/>
              </a:lnSpc>
            </a:pPr>
            <a:r>
              <a:rPr sz="900" b="0" i="0">
                <a:solidFill>
                  <a:srgbClr val="21295C"/>
                </a:solidFill>
                <a:latin typeface="Arial"/>
              </a:rPr>
              <a:t>• Федерального закона нет: профильный проект единогласно одобрен судебным комитетом Сената 18 июня 2026 года, 30 сентября 2026 года при попытке принять его единогласным согласием один сенатор возразил; ни одной палатой не принят</a:t>
            </a:r>
          </a:p>
        </p:txBody>
      </p:sp>
      <p:sp>
        <p:nvSpPr>
          <p:cNvPr id="26" name="Rounded Rectangle 25"/>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27" name="Picture 26" descr="s47-gosduma-okhotny-ryad.jpg"/>
          <p:cNvPicPr>
            <a:picLocks noChangeAspect="1"/>
          </p:cNvPicPr>
          <p:nvPr/>
        </p:nvPicPr>
        <p:blipFill>
          <a:blip r:embed="rId2"/>
          <a:stretch>
            <a:fillRect/>
          </a:stretch>
        </p:blipFill>
        <p:spPr>
          <a:xfrm>
            <a:off x="6522415" y="1472184"/>
            <a:ext cx="5029200" cy="3351490"/>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1269415" cy="37817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a:t>
            </a:r>
          </a:p>
        </p:txBody>
      </p:sp>
      <p:sp>
        <p:nvSpPr>
          <p:cNvPr id="6" name="TextBox 5"/>
          <p:cNvSpPr txBox="1"/>
          <p:nvPr/>
        </p:nvSpPr>
        <p:spPr>
          <a:xfrm>
            <a:off x="640080" y="1725375"/>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a:t>
            </a:r>
          </a:p>
        </p:txBody>
      </p:sp>
      <p:sp>
        <p:nvSpPr>
          <p:cNvPr id="7" name="TextBox 6"/>
          <p:cNvSpPr txBox="1"/>
          <p:nvPr/>
        </p:nvSpPr>
        <p:spPr>
          <a:xfrm>
            <a:off x="640080" y="2576747"/>
            <a:ext cx="9950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нет ни слова «синтез», ни упоминания нейросетей</a:t>
            </a:r>
          </a:p>
        </p:txBody>
      </p:sp>
      <p:sp>
        <p:nvSpPr>
          <p:cNvPr id="8" name="Rounded Rectangle 7"/>
          <p:cNvSpPr/>
          <p:nvPr/>
        </p:nvSpPr>
        <p:spPr>
          <a:xfrm>
            <a:off x="1936927" y="1335024"/>
            <a:ext cx="1269415" cy="37817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a:t>
            </a:r>
          </a:p>
        </p:txBody>
      </p:sp>
      <p:sp>
        <p:nvSpPr>
          <p:cNvPr id="10" name="TextBox 9"/>
          <p:cNvSpPr txBox="1"/>
          <p:nvPr/>
        </p:nvSpPr>
        <p:spPr>
          <a:xfrm>
            <a:off x="2074087" y="1725375"/>
            <a:ext cx="995095" cy="1666168"/>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голос в сторонней рекламе и доступен для синтеза на сторонних площадках</a:t>
            </a:r>
          </a:p>
        </p:txBody>
      </p:sp>
      <p:sp>
        <p:nvSpPr>
          <p:cNvPr id="11" name="TextBox 10"/>
          <p:cNvSpPr txBox="1"/>
          <p:nvPr/>
        </p:nvSpPr>
        <p:spPr>
          <a:xfrm>
            <a:off x="2074087" y="3391543"/>
            <a:ext cx="99509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из-за этого актриса потеряла часть работы</a:t>
            </a:r>
          </a:p>
        </p:txBody>
      </p:sp>
      <p:sp>
        <p:nvSpPr>
          <p:cNvPr id="12" name="Rounded Rectangle 11"/>
          <p:cNvSpPr/>
          <p:nvPr/>
        </p:nvSpPr>
        <p:spPr>
          <a:xfrm>
            <a:off x="3370935" y="1335024"/>
            <a:ext cx="1269415" cy="37817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 АПРЕЛЯ 2023</a:t>
            </a:r>
          </a:p>
        </p:txBody>
      </p:sp>
      <p:sp>
        <p:nvSpPr>
          <p:cNvPr id="14" name="TextBox 13"/>
          <p:cNvSpPr txBox="1"/>
          <p:nvPr/>
        </p:nvSpPr>
        <p:spPr>
          <a:xfrm>
            <a:off x="3508095" y="1932846"/>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предложена компенсация около двух месячных заработков</a:t>
            </a:r>
          </a:p>
        </p:txBody>
      </p:sp>
      <p:sp>
        <p:nvSpPr>
          <p:cNvPr id="15" name="TextBox 14"/>
          <p:cNvSpPr txBox="1"/>
          <p:nvPr/>
        </p:nvSpPr>
        <p:spPr>
          <a:xfrm>
            <a:off x="3508095" y="2987917"/>
            <a:ext cx="99509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условии полного отказа от претензий; отклонено</a:t>
            </a:r>
          </a:p>
        </p:txBody>
      </p:sp>
      <p:sp>
        <p:nvSpPr>
          <p:cNvPr id="16" name="Rounded Rectangle 15"/>
          <p:cNvSpPr/>
          <p:nvPr/>
        </p:nvSpPr>
        <p:spPr>
          <a:xfrm>
            <a:off x="4804943" y="1335024"/>
            <a:ext cx="1269415" cy="3781777"/>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30 АВГУСТА 2023</a:t>
            </a:r>
          </a:p>
        </p:txBody>
      </p:sp>
      <p:sp>
        <p:nvSpPr>
          <p:cNvPr id="18" name="TextBox 17"/>
          <p:cNvSpPr txBox="1"/>
          <p:nvPr/>
        </p:nvSpPr>
        <p:spPr>
          <a:xfrm>
            <a:off x="4942103" y="1932846"/>
            <a:ext cx="99509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иск почти на 6 млн ₽</a:t>
            </a:r>
          </a:p>
        </p:txBody>
      </p:sp>
      <p:sp>
        <p:nvSpPr>
          <p:cNvPr id="19" name="TextBox 18"/>
          <p:cNvSpPr txBox="1"/>
          <p:nvPr/>
        </p:nvSpPr>
        <p:spPr>
          <a:xfrm>
            <a:off x="4942103" y="2444720"/>
            <a:ext cx="99509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удаление голоса из открытого доступа, защита чести и достоинства; петиция собрала около 26 тысяч подписей</a:t>
            </a:r>
          </a:p>
        </p:txBody>
      </p:sp>
      <p:sp>
        <p:nvSpPr>
          <p:cNvPr id="20" name="Rounded Rectangle 19"/>
          <p:cNvSpPr/>
          <p:nvPr/>
        </p:nvSpPr>
        <p:spPr>
          <a:xfrm>
            <a:off x="502920" y="5281393"/>
            <a:ext cx="2703423"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5418553"/>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22" name="TextBox 21"/>
          <p:cNvSpPr txBox="1"/>
          <p:nvPr/>
        </p:nvSpPr>
        <p:spPr>
          <a:xfrm>
            <a:off x="640080" y="5671745"/>
            <a:ext cx="24291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23" name="TextBox 22"/>
          <p:cNvSpPr txBox="1"/>
          <p:nvPr/>
        </p:nvSpPr>
        <p:spPr>
          <a:xfrm>
            <a:off x="640080" y="6098744"/>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a:t>
            </a:r>
          </a:p>
        </p:txBody>
      </p:sp>
      <p:sp>
        <p:nvSpPr>
          <p:cNvPr id="24" name="Rounded Rectangle 23"/>
          <p:cNvSpPr/>
          <p:nvPr/>
        </p:nvSpPr>
        <p:spPr>
          <a:xfrm>
            <a:off x="3370935" y="5281393"/>
            <a:ext cx="2703423"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3508095" y="5418553"/>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ОКТЯБРЬ 2026</a:t>
            </a:r>
          </a:p>
        </p:txBody>
      </p:sp>
      <p:sp>
        <p:nvSpPr>
          <p:cNvPr id="26" name="TextBox 25"/>
          <p:cNvSpPr txBox="1"/>
          <p:nvPr/>
        </p:nvSpPr>
        <p:spPr>
          <a:xfrm>
            <a:off x="3508095" y="5671745"/>
            <a:ext cx="24291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 апелляции установить не удалось</a:t>
            </a:r>
          </a:p>
        </p:txBody>
      </p:sp>
      <p:sp>
        <p:nvSpPr>
          <p:cNvPr id="27" name="TextBox 26"/>
          <p:cNvSpPr txBox="1"/>
          <p:nvPr/>
        </p:nvSpPr>
        <p:spPr>
          <a:xfrm>
            <a:off x="3508095" y="6879590"/>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обжаловалось; по открытым источникам результат не найден</a:t>
            </a:r>
          </a:p>
        </p:txBody>
      </p:sp>
      <p:sp>
        <p:nvSpPr>
          <p:cNvPr id="28" name="Rounded Rectangle 27"/>
          <p:cNvSpPr/>
          <p:nvPr/>
        </p:nvSpPr>
        <p:spPr>
          <a:xfrm>
            <a:off x="6385255" y="1335024"/>
            <a:ext cx="5303520" cy="2914650"/>
          </a:xfrm>
          <a:prstGeom prst="roundRect">
            <a:avLst>
              <a:gd name="adj" fmla="val 10457"/>
            </a:avLst>
          </a:prstGeom>
          <a:solidFill>
            <a:srgbClr val="F4F7FA"/>
          </a:solidFill>
          <a:ln w="19050">
            <a:solidFill>
              <a:srgbClr val="1C7293"/>
            </a:solidFill>
          </a:ln>
          <a:effectLst/>
        </p:spPr>
        <p:txBody>
          <a:bodyPr rtlCol="0" anchor="ctr"/>
          <a:lstStyle/>
          <a:p>
            <a:pPr algn="ctr"/>
          </a:p>
        </p:txBody>
      </p:sp>
      <p:pic>
        <p:nvPicPr>
          <p:cNvPr id="29" name="Picture 28" descr="s48-andronova-afisha.png"/>
          <p:cNvPicPr>
            <a:picLocks noChangeAspect="1"/>
          </p:cNvPicPr>
          <p:nvPr/>
        </p:nvPicPr>
        <p:blipFill>
          <a:blip r:embed="rId2"/>
          <a:stretch>
            <a:fillRect/>
          </a:stretch>
        </p:blipFill>
        <p:spPr>
          <a:xfrm>
            <a:off x="6522415" y="1472184"/>
            <a:ext cx="5029200" cy="2640330"/>
          </a:xfrm>
          <a:prstGeom prst="rect">
            <a:avLst/>
          </a:prstGeom>
        </p:spPr>
      </p:pic>
      <p:sp>
        <p:nvSpPr>
          <p:cNvPr id="30" name="Rectangle 2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 chapter-part2b.md §2.9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171351"/>
            <a:ext cx="2788920" cy="252341"/>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235359"/>
            <a:ext cx="2660903"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Тип задачи</a:t>
            </a:r>
          </a:p>
        </p:txBody>
      </p:sp>
      <p:sp>
        <p:nvSpPr>
          <p:cNvPr id="22" name="Rectangle 21"/>
          <p:cNvSpPr/>
          <p:nvPr/>
        </p:nvSpPr>
        <p:spPr>
          <a:xfrm>
            <a:off x="3291839" y="3171351"/>
            <a:ext cx="1679387" cy="252341"/>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Изображение</a:t>
            </a:r>
          </a:p>
        </p:txBody>
      </p:sp>
      <p:sp>
        <p:nvSpPr>
          <p:cNvPr id="24" name="Rectangle 23"/>
          <p:cNvSpPr/>
          <p:nvPr/>
        </p:nvSpPr>
        <p:spPr>
          <a:xfrm>
            <a:off x="4971227" y="3171351"/>
            <a:ext cx="1679387" cy="252341"/>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Звук</a:t>
            </a:r>
          </a:p>
        </p:txBody>
      </p:sp>
      <p:sp>
        <p:nvSpPr>
          <p:cNvPr id="26" name="Rectangle 25"/>
          <p:cNvSpPr/>
          <p:nvPr/>
        </p:nvSpPr>
        <p:spPr>
          <a:xfrm>
            <a:off x="6650614"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Видео</a:t>
            </a:r>
          </a:p>
        </p:txBody>
      </p:sp>
      <p:sp>
        <p:nvSpPr>
          <p:cNvPr id="28" name="Rectangle 27"/>
          <p:cNvSpPr/>
          <p:nvPr/>
        </p:nvSpPr>
        <p:spPr>
          <a:xfrm>
            <a:off x="8330001"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Трёхмерное</a:t>
            </a:r>
          </a:p>
        </p:txBody>
      </p:sp>
      <p:sp>
        <p:nvSpPr>
          <p:cNvPr id="30" name="Rectangle 29"/>
          <p:cNvSpPr/>
          <p:nvPr/>
        </p:nvSpPr>
        <p:spPr>
          <a:xfrm>
            <a:off x="10009388"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Распознавание</a:t>
            </a:r>
          </a:p>
        </p:txBody>
      </p:sp>
      <p:sp>
        <p:nvSpPr>
          <p:cNvPr id="32" name="Rectangle 31"/>
          <p:cNvSpPr/>
          <p:nvPr/>
        </p:nvSpPr>
        <p:spPr>
          <a:xfrm>
            <a:off x="4971227" y="3373401"/>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423693"/>
            <a:ext cx="2788920" cy="412979"/>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487701"/>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Породить первое приближение</a:t>
            </a:r>
          </a:p>
          <a:p>
            <a:pPr algn="l">
              <a:lnSpc>
                <a:spcPct val="113000"/>
              </a:lnSpc>
              <a:spcBef>
                <a:spcPts val="200"/>
              </a:spcBef>
            </a:pPr>
            <a:r>
              <a:rPr sz="650" b="0" i="1">
                <a:solidFill>
                  <a:srgbClr val="1C7293"/>
                </a:solidFill>
                <a:latin typeface="Arial"/>
              </a:rPr>
              <a:t>получить варианты облика, пока решение ещё не принято</a:t>
            </a:r>
          </a:p>
        </p:txBody>
      </p:sp>
      <p:sp>
        <p:nvSpPr>
          <p:cNvPr id="35" name="Rectangle 34"/>
          <p:cNvSpPr/>
          <p:nvPr/>
        </p:nvSpPr>
        <p:spPr>
          <a:xfrm>
            <a:off x="3291839"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0,034–0,05 $ за изображение</a:t>
            </a:r>
          </a:p>
        </p:txBody>
      </p:sp>
      <p:sp>
        <p:nvSpPr>
          <p:cNvPr id="37" name="Rectangle 36"/>
          <p:cNvSpPr/>
          <p:nvPr/>
        </p:nvSpPr>
        <p:spPr>
          <a:xfrm>
            <a:off x="4971227"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дубляж 0,03–0,072 $ за минуту</a:t>
            </a:r>
          </a:p>
        </p:txBody>
      </p:sp>
      <p:sp>
        <p:nvSpPr>
          <p:cNvPr id="39" name="Rectangle 38"/>
          <p:cNvSpPr/>
          <p:nvPr/>
        </p:nvSpPr>
        <p:spPr>
          <a:xfrm>
            <a:off x="6650614"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3836672"/>
            <a:ext cx="2788920" cy="412979"/>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390068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Довести до производственного качества</a:t>
            </a:r>
          </a:p>
          <a:p>
            <a:pPr algn="l">
              <a:lnSpc>
                <a:spcPct val="113000"/>
              </a:lnSpc>
              <a:spcBef>
                <a:spcPts val="200"/>
              </a:spcBef>
            </a:pPr>
            <a:r>
              <a:rPr sz="650" b="0" i="1">
                <a:solidFill>
                  <a:srgbClr val="1C7293"/>
                </a:solidFill>
                <a:latin typeface="Arial"/>
              </a:rPr>
              <a:t>отобрать, доработать и выпустить годное</a:t>
            </a:r>
          </a:p>
        </p:txBody>
      </p:sp>
      <p:sp>
        <p:nvSpPr>
          <p:cNvPr id="44" name="Rectangle 43"/>
          <p:cNvSpPr/>
          <p:nvPr/>
        </p:nvSpPr>
        <p:spPr>
          <a:xfrm>
            <a:off x="3291839"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адаптеры и ручная правка</a:t>
            </a:r>
          </a:p>
        </p:txBody>
      </p:sp>
      <p:sp>
        <p:nvSpPr>
          <p:cNvPr id="46" name="Rectangle 45"/>
          <p:cNvSpPr/>
          <p:nvPr/>
        </p:nvSpPr>
        <p:spPr>
          <a:xfrm>
            <a:off x="4971227"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ручная правка дикции</a:t>
            </a:r>
          </a:p>
        </p:txBody>
      </p:sp>
      <p:sp>
        <p:nvSpPr>
          <p:cNvPr id="48" name="Rectangle 47"/>
          <p:cNvSpPr/>
          <p:nvPr/>
        </p:nvSpPr>
        <p:spPr>
          <a:xfrm>
            <a:off x="6650614"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249652"/>
            <a:ext cx="2788920" cy="412979"/>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31366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Восстановить существующее</a:t>
            </a:r>
          </a:p>
          <a:p>
            <a:pPr algn="l">
              <a:lnSpc>
                <a:spcPct val="113000"/>
              </a:lnSpc>
              <a:spcBef>
                <a:spcPts val="200"/>
              </a:spcBef>
            </a:pPr>
            <a:r>
              <a:rPr sz="650" b="0" i="1">
                <a:solidFill>
                  <a:srgbClr val="1C7293"/>
                </a:solidFill>
                <a:latin typeface="Arial"/>
              </a:rPr>
              <a:t>вытащить то, что уже записано, но читается плохо</a:t>
            </a:r>
          </a:p>
        </p:txBody>
      </p:sp>
      <p:sp>
        <p:nvSpPr>
          <p:cNvPr id="53" name="Rectangle 52"/>
          <p:cNvSpPr/>
          <p:nvPr/>
        </p:nvSpPr>
        <p:spPr>
          <a:xfrm>
            <a:off x="3291839"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повышение разрешения архива</a:t>
            </a:r>
          </a:p>
        </p:txBody>
      </p:sp>
      <p:sp>
        <p:nvSpPr>
          <p:cNvPr id="55" name="Rectangle 54"/>
          <p:cNvSpPr/>
          <p:nvPr/>
        </p:nvSpPr>
        <p:spPr>
          <a:xfrm>
            <a:off x="4971227"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разделение источников</a:t>
            </a:r>
          </a:p>
        </p:txBody>
      </p:sp>
      <p:sp>
        <p:nvSpPr>
          <p:cNvPr id="57" name="Rectangle 56"/>
          <p:cNvSpPr/>
          <p:nvPr/>
        </p:nvSpPr>
        <p:spPr>
          <a:xfrm>
            <a:off x="6650614"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662631"/>
            <a:ext cx="2788920" cy="412979"/>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72663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Соблюсти точные величины</a:t>
            </a:r>
          </a:p>
          <a:p>
            <a:pPr algn="l">
              <a:lnSpc>
                <a:spcPct val="113000"/>
              </a:lnSpc>
              <a:spcBef>
                <a:spcPts val="200"/>
              </a:spcBef>
            </a:pPr>
            <a:r>
              <a:rPr sz="650" b="0" i="1">
                <a:solidFill>
                  <a:srgbClr val="1C7293"/>
                </a:solidFill>
                <a:latin typeface="Arial"/>
              </a:rPr>
              <a:t>размеры, допуски, проверяемые условия</a:t>
            </a:r>
          </a:p>
        </p:txBody>
      </p:sp>
      <p:sp>
        <p:nvSpPr>
          <p:cNvPr id="62" name="Rectangle 61"/>
          <p:cNvSpPr/>
          <p:nvPr/>
        </p:nvSpPr>
        <p:spPr>
          <a:xfrm>
            <a:off x="3291839"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64" name="Rectangle 63"/>
          <p:cNvSpPr/>
          <p:nvPr/>
        </p:nvSpPr>
        <p:spPr>
          <a:xfrm>
            <a:off x="4971227"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длина задана до запуска</a:t>
            </a:r>
          </a:p>
        </p:txBody>
      </p:sp>
      <p:sp>
        <p:nvSpPr>
          <p:cNvPr id="66" name="Rectangle 65"/>
          <p:cNvSpPr/>
          <p:nvPr/>
        </p:nvSpPr>
        <p:spPr>
          <a:xfrm>
            <a:off x="6650614"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075611"/>
            <a:ext cx="2788920" cy="412979"/>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13961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Уложиться в бюджет реального времени</a:t>
            </a:r>
          </a:p>
          <a:p>
            <a:pPr algn="l">
              <a:lnSpc>
                <a:spcPct val="113000"/>
              </a:lnSpc>
              <a:spcBef>
                <a:spcPts val="200"/>
              </a:spcBef>
            </a:pPr>
            <a:r>
              <a:rPr sz="650" b="0" i="1">
                <a:solidFill>
                  <a:srgbClr val="1C7293"/>
                </a:solidFill>
                <a:latin typeface="Arial"/>
              </a:rPr>
              <a:t>успеть к сроку кадра, а не к сроку задачи</a:t>
            </a:r>
          </a:p>
        </p:txBody>
      </p:sp>
      <p:sp>
        <p:nvSpPr>
          <p:cNvPr id="71" name="Rectangle 70"/>
          <p:cNvSpPr/>
          <p:nvPr/>
        </p:nvSpPr>
        <p:spPr>
          <a:xfrm>
            <a:off x="3291839"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73" name="Rectangle 72"/>
          <p:cNvSpPr/>
          <p:nvPr/>
        </p:nvSpPr>
        <p:spPr>
          <a:xfrm>
            <a:off x="4971227"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75" name="Rectangle 74"/>
          <p:cNvSpPr/>
          <p:nvPr/>
        </p:nvSpPr>
        <p:spPr>
          <a:xfrm>
            <a:off x="6650614"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488590"/>
            <a:ext cx="2788920" cy="412979"/>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552598"/>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Ответить «кто отвечает»</a:t>
            </a:r>
          </a:p>
          <a:p>
            <a:pPr algn="l">
              <a:lnSpc>
                <a:spcPct val="113000"/>
              </a:lnSpc>
              <a:spcBef>
                <a:spcPts val="200"/>
              </a:spcBef>
            </a:pPr>
            <a:r>
              <a:rPr sz="650" b="0" i="1">
                <a:solidFill>
                  <a:srgbClr val="1C7293"/>
                </a:solidFill>
                <a:latin typeface="Arial"/>
              </a:rPr>
              <a:t>происхождение, права, подпись под результатом</a:t>
            </a:r>
          </a:p>
        </p:txBody>
      </p:sp>
      <p:sp>
        <p:nvSpPr>
          <p:cNvPr id="80" name="Rectangle 79"/>
          <p:cNvSpPr/>
          <p:nvPr/>
        </p:nvSpPr>
        <p:spPr>
          <a:xfrm>
            <a:off x="3291839"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82" name="Rectangle 81"/>
          <p:cNvSpPr/>
          <p:nvPr/>
        </p:nvSpPr>
        <p:spPr>
          <a:xfrm>
            <a:off x="4971227"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84" name="Rectangle 83"/>
          <p:cNvSpPr/>
          <p:nvPr/>
        </p:nvSpPr>
        <p:spPr>
          <a:xfrm>
            <a:off x="6650614"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83866"/>
            <a:ext cx="11185855" cy="252341"/>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83866"/>
            <a:ext cx="68580" cy="252341"/>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47874"/>
            <a:ext cx="10783519" cy="124325"/>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 chapter-part2b.md §2.9, §2.11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chapter-part2c.md §3.1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3618890"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3344570" cy="1004146"/>
          </a:xfrm>
          <a:prstGeom prst="rect">
            <a:avLst/>
          </a:prstGeom>
          <a:noFill/>
        </p:spPr>
        <p:txBody>
          <a:bodyPr wrap="square" lIns="0" rIns="0" tIns="0" bIns="0" anchor="t">
            <a:spAutoFit/>
          </a:bodyPr>
          <a:lstStyle/>
          <a:p>
            <a:pPr algn="l">
              <a:lnSpc>
                <a:spcPct val="108000"/>
              </a:lnSpc>
            </a:pPr>
            <a:r>
              <a:rPr sz="19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729521"/>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4286402" y="1335024"/>
            <a:ext cx="3618890"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Rounded Rectangle 11"/>
          <p:cNvSpPr/>
          <p:nvPr/>
        </p:nvSpPr>
        <p:spPr>
          <a:xfrm>
            <a:off x="8069884" y="1335024"/>
            <a:ext cx="3618890"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ВОСЕМЬ, И НИ ОДИН ИЗ СЕМИ ПРЕЖНИХ НЕ ОТМЕНЁН</a:t>
            </a:r>
          </a:p>
        </p:txBody>
      </p:sp>
      <p:sp>
        <p:nvSpPr>
          <p:cNvPr id="14" name="TextBox 13"/>
          <p:cNvSpPr txBox="1"/>
          <p:nvPr/>
        </p:nvSpPr>
        <p:spPr>
          <a:xfrm>
            <a:off x="8207044" y="2140317"/>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15" name="TextBox 14"/>
          <p:cNvSpPr txBox="1"/>
          <p:nvPr/>
        </p:nvSpPr>
        <p:spPr>
          <a:xfrm>
            <a:off x="8207044" y="299169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16" name="TextBox 15"/>
          <p:cNvSpPr txBox="1"/>
          <p:nvPr/>
        </p:nvSpPr>
        <p:spPr>
          <a:xfrm>
            <a:off x="502920" y="419327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7" name="Rounded Rectangle 16"/>
          <p:cNvSpPr/>
          <p:nvPr/>
        </p:nvSpPr>
        <p:spPr>
          <a:xfrm>
            <a:off x="1920240" y="4156703"/>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202423"/>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9" name="Right Arrow 18"/>
          <p:cNvSpPr/>
          <p:nvPr/>
        </p:nvSpPr>
        <p:spPr>
          <a:xfrm>
            <a:off x="5039258" y="46822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4156703"/>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4202423"/>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22" name="Right Arrow 21"/>
          <p:cNvSpPr/>
          <p:nvPr/>
        </p:nvSpPr>
        <p:spPr>
          <a:xfrm>
            <a:off x="8386876" y="46822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4156703"/>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4202423"/>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5" name="TextBox 24"/>
          <p:cNvSpPr txBox="1"/>
          <p:nvPr/>
        </p:nvSpPr>
        <p:spPr>
          <a:xfrm>
            <a:off x="502920" y="552792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6" name="Rounded Rectangle 25"/>
          <p:cNvSpPr/>
          <p:nvPr/>
        </p:nvSpPr>
        <p:spPr>
          <a:xfrm>
            <a:off x="1920240" y="549134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53706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8" name="Right Arrow 27"/>
          <p:cNvSpPr/>
          <p:nvPr/>
        </p:nvSpPr>
        <p:spPr>
          <a:xfrm>
            <a:off x="5039258" y="60169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549134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553706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31" name="Right Arrow 30"/>
          <p:cNvSpPr/>
          <p:nvPr/>
        </p:nvSpPr>
        <p:spPr>
          <a:xfrm>
            <a:off x="8386876" y="60169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549134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553706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4" name="TextBox 33"/>
          <p:cNvSpPr txBox="1"/>
          <p:nvPr/>
        </p:nvSpPr>
        <p:spPr>
          <a:xfrm>
            <a:off x="502920" y="671626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5" name="Rounded Rectangle 34"/>
          <p:cNvSpPr/>
          <p:nvPr/>
        </p:nvSpPr>
        <p:spPr>
          <a:xfrm>
            <a:off x="502920" y="7110386"/>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667512" y="726583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Стадии, существовавшие до 2022 года</a:t>
            </a:r>
          </a:p>
        </p:txBody>
      </p:sp>
      <p:sp>
        <p:nvSpPr>
          <p:cNvPr id="37" name="TextBox 36"/>
          <p:cNvSpPr txBox="1"/>
          <p:nvPr/>
        </p:nvSpPr>
        <p:spPr>
          <a:xfrm>
            <a:off x="667512" y="7622013"/>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Съёмочный период: камера, свет, грим, декорация, исполнители; единицы учёта — съёмочный день и план</a:t>
            </a:r>
          </a:p>
          <a:p>
            <a:pPr algn="l">
              <a:lnSpc>
                <a:spcPct val="126000"/>
              </a:lnSpc>
            </a:pPr>
            <a:r>
              <a:rPr sz="900" b="0" i="0">
                <a:solidFill>
                  <a:srgbClr val="21295C"/>
                </a:solidFill>
                <a:latin typeface="Arial"/>
              </a:rPr>
              <a:t>• Монтаж выбирает и склеивает планы; композитинг собирает кадр из слоёв</a:t>
            </a:r>
          </a:p>
          <a:p>
            <a:pPr algn="l">
              <a:lnSpc>
                <a:spcPct val="126000"/>
              </a:lnSpc>
            </a:pPr>
            <a:r>
              <a:rPr sz="90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00" b="0" i="0">
                <a:solidFill>
                  <a:srgbClr val="21295C"/>
                </a:solidFill>
                <a:latin typeface="Arial"/>
              </a:rPr>
              <a:t>• Цветокоррекция и визуальные эффекты</a:t>
            </a:r>
          </a:p>
          <a:p>
            <a:pPr algn="l">
              <a:lnSpc>
                <a:spcPct val="126000"/>
              </a:lnSpc>
            </a:pPr>
            <a:r>
              <a:rPr sz="900" b="0" i="0">
                <a:solidFill>
                  <a:srgbClr val="21295C"/>
                </a:solidFill>
                <a:latin typeface="Arial"/>
              </a:rPr>
              <a:t>• Виртуальное производство, с 2019 года: фон выводится на светодиодную стену и попадает прямо в камеру</a:t>
            </a:r>
          </a:p>
          <a:p>
            <a:pPr algn="l">
              <a:lnSpc>
                <a:spcPct val="126000"/>
              </a:lnSpc>
            </a:pPr>
            <a:r>
              <a:rPr sz="900" b="0" i="0">
                <a:solidFill>
                  <a:srgbClr val="21295C"/>
                </a:solidFill>
                <a:latin typeface="Arial"/>
              </a:rPr>
              <a:t>• Анимация производит изображение без съёмки вовсе</a:t>
            </a:r>
          </a:p>
        </p:txBody>
      </p:sp>
      <p:sp>
        <p:nvSpPr>
          <p:cNvPr id="38" name="Rounded Rectangle 37"/>
          <p:cNvSpPr/>
          <p:nvPr/>
        </p:nvSpPr>
        <p:spPr>
          <a:xfrm>
            <a:off x="6251295" y="7110386"/>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9" name="TextBox 38"/>
          <p:cNvSpPr txBox="1"/>
          <p:nvPr/>
        </p:nvSpPr>
        <p:spPr>
          <a:xfrm>
            <a:off x="6415887" y="726583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Стадии, появившиеся с 2022 года</a:t>
            </a:r>
          </a:p>
        </p:txBody>
      </p:sp>
      <p:sp>
        <p:nvSpPr>
          <p:cNvPr id="40" name="TextBox 39"/>
          <p:cNvSpPr txBox="1"/>
          <p:nvPr/>
        </p:nvSpPr>
        <p:spPr>
          <a:xfrm>
            <a:off x="6415887" y="7622013"/>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900" b="0" i="0">
                <a:solidFill>
                  <a:srgbClr val="21295C"/>
                </a:solidFill>
                <a:latin typeface="Arial"/>
              </a:rPr>
              <a:t>• Оживление кадра: на входе готовая картинка, на выходе движение из неё</a:t>
            </a:r>
          </a:p>
          <a:p>
            <a:pPr algn="l">
              <a:lnSpc>
                <a:spcPct val="126000"/>
              </a:lnSpc>
            </a:pPr>
            <a:r>
              <a:rPr sz="900" b="0" i="0">
                <a:solidFill>
                  <a:srgbClr val="21295C"/>
                </a:solidFill>
                <a:latin typeface="Arial"/>
              </a:rPr>
              <a:t>• Продление сцены: модель достраивает клип вперёд или назад от последнего кадра</a:t>
            </a:r>
          </a:p>
          <a:p>
            <a:pPr algn="l">
              <a:lnSpc>
                <a:spcPct val="126000"/>
              </a:lnSpc>
            </a:pPr>
            <a:r>
              <a:rPr sz="900" b="0" i="0">
                <a:solidFill>
                  <a:srgbClr val="21295C"/>
                </a:solidFill>
                <a:latin typeface="Arial"/>
              </a:rPr>
              <a:t>• Вход генеративной цепочки — текст, иногда стартовый кадр, иногда до десяти опорных кадров и до пятнадцати референсов на одну генерацию</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chapter-part2c.md §3.1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ТЕЛЕВИЗИОННЫЙ РОЛИК, РОССИЯ</a:t>
            </a:r>
          </a:p>
        </p:txBody>
      </p:sp>
      <p:sp>
        <p:nvSpPr>
          <p:cNvPr id="6" name="TextBox 5"/>
          <p:cNvSpPr txBox="1"/>
          <p:nvPr/>
        </p:nvSpPr>
        <p:spPr>
          <a:xfrm>
            <a:off x="640080" y="2347789"/>
            <a:ext cx="99509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300 000–800 000 ₽</a:t>
            </a:r>
          </a:p>
        </p:txBody>
      </p:sp>
      <p:sp>
        <p:nvSpPr>
          <p:cNvPr id="7" name="TextBox 6"/>
          <p:cNvSpPr txBox="1"/>
          <p:nvPr/>
        </p:nvSpPr>
        <p:spPr>
          <a:xfrm>
            <a:off x="640080" y="2825713"/>
            <a:ext cx="99509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студийная съёмка один-два дня, группа 3–5 человек</a:t>
            </a:r>
          </a:p>
        </p:txBody>
      </p:sp>
      <p:sp>
        <p:nvSpPr>
          <p:cNvPr id="8" name="Rounded Rectangle 7"/>
          <p:cNvSpPr/>
          <p:nvPr/>
        </p:nvSpPr>
        <p:spPr>
          <a:xfrm>
            <a:off x="1936927"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074087" y="1932846"/>
            <a:ext cx="99509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800 000–2 500 000 ₽</a:t>
            </a:r>
          </a:p>
        </p:txBody>
      </p:sp>
      <p:sp>
        <p:nvSpPr>
          <p:cNvPr id="11" name="TextBox 10"/>
          <p:cNvSpPr txBox="1"/>
          <p:nvPr/>
        </p:nvSpPr>
        <p:spPr>
          <a:xfrm>
            <a:off x="2074087" y="2512620"/>
            <a:ext cx="9950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два-четыре съёмочных дня</a:t>
            </a:r>
          </a:p>
        </p:txBody>
      </p:sp>
      <p:sp>
        <p:nvSpPr>
          <p:cNvPr id="12" name="Rounded Rectangle 11"/>
          <p:cNvSpPr/>
          <p:nvPr/>
        </p:nvSpPr>
        <p:spPr>
          <a:xfrm>
            <a:off x="3370935"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ПРЕМИАЛЬНЫЙ</a:t>
            </a:r>
          </a:p>
        </p:txBody>
      </p:sp>
      <p:sp>
        <p:nvSpPr>
          <p:cNvPr id="14" name="TextBox 13"/>
          <p:cNvSpPr txBox="1"/>
          <p:nvPr/>
        </p:nvSpPr>
        <p:spPr>
          <a:xfrm>
            <a:off x="3508095" y="1725375"/>
            <a:ext cx="99509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2 500 000–10 000 000 ₽ и выше</a:t>
            </a:r>
          </a:p>
        </p:txBody>
      </p:sp>
      <p:sp>
        <p:nvSpPr>
          <p:cNvPr id="15" name="TextBox 14"/>
          <p:cNvSpPr txBox="1"/>
          <p:nvPr/>
        </p:nvSpPr>
        <p:spPr>
          <a:xfrm>
            <a:off x="3508095" y="2373048"/>
            <a:ext cx="995095"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группа 10–20 человек, спецэффекты; гонорар известного актёра — от 500 000 ₽ за съёмочный день</a:t>
            </a:r>
          </a:p>
        </p:txBody>
      </p:sp>
      <p:sp>
        <p:nvSpPr>
          <p:cNvPr id="16" name="Rounded Rectangle 15"/>
          <p:cNvSpPr/>
          <p:nvPr/>
        </p:nvSpPr>
        <p:spPr>
          <a:xfrm>
            <a:off x="4804943"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1705490"/>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8" name="TextBox 17"/>
          <p:cNvSpPr txBox="1"/>
          <p:nvPr/>
        </p:nvSpPr>
        <p:spPr>
          <a:xfrm>
            <a:off x="4942103" y="3177674"/>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группа от пятидесяти человек, цикл год</a:t>
            </a:r>
          </a:p>
        </p:txBody>
      </p:sp>
      <p:sp>
        <p:nvSpPr>
          <p:cNvPr id="19" name="TextBox 18"/>
          <p:cNvSpPr txBox="1"/>
          <p:nvPr/>
        </p:nvSpPr>
        <p:spPr>
          <a:xfrm>
            <a:off x="4942103" y="4029046"/>
            <a:ext cx="9950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20" name="Rounded Rectangle 19"/>
          <p:cNvSpPr/>
          <p:nvPr/>
        </p:nvSpPr>
        <p:spPr>
          <a:xfrm>
            <a:off x="502920" y="5809502"/>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5946662"/>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22" name="TextBox 21"/>
          <p:cNvSpPr txBox="1"/>
          <p:nvPr/>
        </p:nvSpPr>
        <p:spPr>
          <a:xfrm>
            <a:off x="640080" y="6199853"/>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23" name="TextBox 22"/>
          <p:cNvSpPr txBox="1"/>
          <p:nvPr/>
        </p:nvSpPr>
        <p:spPr>
          <a:xfrm>
            <a:off x="640080" y="6626853"/>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24" name="Rounded Rectangle 23"/>
          <p:cNvSpPr/>
          <p:nvPr/>
        </p:nvSpPr>
        <p:spPr>
          <a:xfrm>
            <a:off x="502920" y="7369380"/>
            <a:ext cx="2630271"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7524828"/>
            <a:ext cx="2301087"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26" name="TextBox 25"/>
          <p:cNvSpPr txBox="1"/>
          <p:nvPr/>
        </p:nvSpPr>
        <p:spPr>
          <a:xfrm>
            <a:off x="667512" y="8127457"/>
            <a:ext cx="2301087" cy="50379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Российская полоса: 300 000–800 000 ₽ базовый, 800 000–2 500 000 средний, 2 500 000–10 000 000 премиальный</a:t>
            </a:r>
          </a:p>
          <a:p>
            <a:pPr algn="l">
              <a:lnSpc>
                <a:spcPct val="126000"/>
              </a:lnSpc>
            </a:pPr>
            <a:r>
              <a:rPr sz="900" b="0" i="0">
                <a:solidFill>
                  <a:srgbClr val="21295C"/>
                </a:solidFill>
                <a:latin typeface="Arial"/>
              </a:rPr>
              <a:t>• Музыка считается отдельно: лицензионный трек 10 000–50 000 ₽, оригинальный от 150 000 ₽</a:t>
            </a:r>
          </a:p>
          <a:p>
            <a:pPr algn="l">
              <a:lnSpc>
                <a:spcPct val="126000"/>
              </a:lnSpc>
            </a:pPr>
            <a:r>
              <a:rPr sz="900" b="0" i="0">
                <a:solidFill>
                  <a:srgbClr val="21295C"/>
                </a:solidFill>
                <a:latin typeface="Arial"/>
              </a:rPr>
              <a:t>• Приведение к общей единице: 300 000 ₽ за тридцатисекундный ролик — это 10 000 ₽ за секунду готового эфирного материала</a:t>
            </a:r>
          </a:p>
        </p:txBody>
      </p:sp>
      <p:sp>
        <p:nvSpPr>
          <p:cNvPr id="27" name="Rounded Rectangle 26"/>
          <p:cNvSpPr/>
          <p:nvPr/>
        </p:nvSpPr>
        <p:spPr>
          <a:xfrm>
            <a:off x="3444087" y="7369380"/>
            <a:ext cx="2630271"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3608679" y="7524828"/>
            <a:ext cx="230108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9" name="TextBox 28"/>
          <p:cNvSpPr txBox="1"/>
          <p:nvPr/>
        </p:nvSpPr>
        <p:spPr>
          <a:xfrm>
            <a:off x="3608679" y="8127457"/>
            <a:ext cx="2301087" cy="50379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Живая микродрама 2024 года: свыше 1 млн юаней за выпуск, около 137 тысяч долларов</a:t>
            </a:r>
          </a:p>
          <a:p>
            <a:pPr algn="l">
              <a:lnSpc>
                <a:spcPct val="126000"/>
              </a:lnSpc>
            </a:pPr>
            <a:r>
              <a:rPr sz="900" b="0" i="0">
                <a:solidFill>
                  <a:srgbClr val="21295C"/>
                </a:solidFill>
                <a:latin typeface="Arial"/>
              </a:rPr>
              <a:t>• «Ирландец», 2019: бюджет вырос со 125 до 159 млн долларов, около 1 750 планов цифрового омоложения, подготовка в студии эффектов началась за четыре года до выхода</a:t>
            </a:r>
          </a:p>
          <a:p>
            <a:pPr algn="l">
              <a:lnSpc>
                <a:spcPct val="126000"/>
              </a:lnSpc>
            </a:pPr>
            <a:r>
              <a:rPr sz="900" b="0" i="0">
                <a:solidFill>
                  <a:srgbClr val="21295C"/>
                </a:solidFill>
                <a:latin typeface="Arial"/>
              </a:rPr>
              <a:t>• Супервайзер эффектов оговаривал: в пересчёте на один план это стоит столько же, сколько в обычном фильме с эффектами — дорого выходит потому, что планов здесь на два фильма</a:t>
            </a:r>
          </a:p>
        </p:txBody>
      </p:sp>
      <p:sp>
        <p:nvSpPr>
          <p:cNvPr id="30" name="Rounded Rectangle 29"/>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31" name="Picture 30" descr="s52-shooting-preparations.jpg"/>
          <p:cNvPicPr>
            <a:picLocks noChangeAspect="1"/>
          </p:cNvPicPr>
          <p:nvPr/>
        </p:nvPicPr>
        <p:blipFill>
          <a:blip r:embed="rId2"/>
          <a:stretch>
            <a:fillRect/>
          </a:stretch>
        </p:blipFill>
        <p:spPr>
          <a:xfrm>
            <a:off x="6522415" y="1472184"/>
            <a:ext cx="5029200" cy="3771900"/>
          </a:xfrm>
          <a:prstGeom prst="rect">
            <a:avLst/>
          </a:prstGeom>
        </p:spPr>
      </p:pic>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2140317"/>
            <a:ext cx="995095" cy="1462469"/>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3602787"/>
            <a:ext cx="99509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a:t>
            </a:r>
          </a:p>
        </p:txBody>
      </p:sp>
      <p:sp>
        <p:nvSpPr>
          <p:cNvPr id="8" name="Rounded Rectangle 7"/>
          <p:cNvSpPr/>
          <p:nvPr/>
        </p:nvSpPr>
        <p:spPr>
          <a:xfrm>
            <a:off x="1936927"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ЖИВАЯ МИКРОДРАМА 2024 ГОДА</a:t>
            </a:r>
          </a:p>
        </p:txBody>
      </p:sp>
      <p:sp>
        <p:nvSpPr>
          <p:cNvPr id="10" name="TextBox 9"/>
          <p:cNvSpPr txBox="1"/>
          <p:nvPr/>
        </p:nvSpPr>
        <p:spPr>
          <a:xfrm>
            <a:off x="2074087" y="2555260"/>
            <a:ext cx="99509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свыше 1 млн юаней за выпуск</a:t>
            </a:r>
          </a:p>
        </p:txBody>
      </p:sp>
      <p:sp>
        <p:nvSpPr>
          <p:cNvPr id="11" name="TextBox 10"/>
          <p:cNvSpPr txBox="1"/>
          <p:nvPr/>
        </p:nvSpPr>
        <p:spPr>
          <a:xfrm>
            <a:off x="2074087" y="3202933"/>
            <a:ext cx="9950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137 тысяч долларов: съёмка с актёрами, площадкой и группой</a:t>
            </a:r>
          </a:p>
        </p:txBody>
      </p:sp>
      <p:sp>
        <p:nvSpPr>
          <p:cNvPr id="12" name="Rounded Rectangle 11"/>
          <p:cNvSpPr/>
          <p:nvPr/>
        </p:nvSpPr>
        <p:spPr>
          <a:xfrm>
            <a:off x="3370935" y="1335024"/>
            <a:ext cx="1269415" cy="4309886"/>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1290547"/>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КИНОПРОКАТ КАК КАНАЛ ТОЙ ЖЕ АУДИТОРИИ</a:t>
            </a:r>
          </a:p>
        </p:txBody>
      </p:sp>
      <p:sp>
        <p:nvSpPr>
          <p:cNvPr id="14" name="TextBox 13"/>
          <p:cNvSpPr txBox="1"/>
          <p:nvPr/>
        </p:nvSpPr>
        <p:spPr>
          <a:xfrm>
            <a:off x="3508095" y="2762731"/>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100 млрд юаней в 2025, свыше 120 млрд в 2026</a:t>
            </a:r>
          </a:p>
        </p:txBody>
      </p:sp>
      <p:sp>
        <p:nvSpPr>
          <p:cNvPr id="15" name="TextBox 14"/>
          <p:cNvSpPr txBox="1"/>
          <p:nvPr/>
        </p:nvSpPr>
        <p:spPr>
          <a:xfrm>
            <a:off x="3508095" y="3817802"/>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2026 году рынок микродрам впервые превосходит весь кинопрокат страны</a:t>
            </a:r>
          </a:p>
        </p:txBody>
      </p:sp>
      <p:sp>
        <p:nvSpPr>
          <p:cNvPr id="16" name="Rounded Rectangle 15"/>
          <p:cNvSpPr/>
          <p:nvPr/>
        </p:nvSpPr>
        <p:spPr>
          <a:xfrm>
            <a:off x="4804943" y="1335024"/>
            <a:ext cx="1269415" cy="4309886"/>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942103"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4942103" y="1725375"/>
            <a:ext cx="99509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50–100 тыс. юаней за выпуск</a:t>
            </a:r>
          </a:p>
        </p:txBody>
      </p:sp>
      <p:sp>
        <p:nvSpPr>
          <p:cNvPr id="19" name="TextBox 18"/>
          <p:cNvSpPr txBox="1"/>
          <p:nvPr/>
        </p:nvSpPr>
        <p:spPr>
          <a:xfrm>
            <a:off x="4942103" y="2373048"/>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7–14 тысяч долларов; падение в 10–20 раз от классического режима, не от нуля</a:t>
            </a:r>
          </a:p>
        </p:txBody>
      </p:sp>
      <p:sp>
        <p:nvSpPr>
          <p:cNvPr id="20" name="Rounded Rectangle 19"/>
          <p:cNvSpPr/>
          <p:nvPr/>
        </p:nvSpPr>
        <p:spPr>
          <a:xfrm>
            <a:off x="502920" y="5809502"/>
            <a:ext cx="1747418" cy="2865132"/>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5946662"/>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a:t>
            </a:r>
          </a:p>
        </p:txBody>
      </p:sp>
      <p:sp>
        <p:nvSpPr>
          <p:cNvPr id="22" name="TextBox 21"/>
          <p:cNvSpPr txBox="1"/>
          <p:nvPr/>
        </p:nvSpPr>
        <p:spPr>
          <a:xfrm>
            <a:off x="640080" y="6199853"/>
            <a:ext cx="14730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430 000 выпусков за восемь месяцев, доля сгенерированных более 90 %</a:t>
            </a:r>
          </a:p>
        </p:txBody>
      </p:sp>
      <p:sp>
        <p:nvSpPr>
          <p:cNvPr id="23" name="TextBox 22"/>
          <p:cNvSpPr txBox="1"/>
          <p:nvPr/>
        </p:nvSpPr>
        <p:spPr>
          <a:xfrm>
            <a:off x="640080" y="7254925"/>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I квартал — около 128 000 при доле свыше 95 %; первое полугодие — 367 000 при доле более 74 %</a:t>
            </a:r>
          </a:p>
        </p:txBody>
      </p:sp>
      <p:sp>
        <p:nvSpPr>
          <p:cNvPr id="24" name="Rounded Rectangle 23"/>
          <p:cNvSpPr/>
          <p:nvPr/>
        </p:nvSpPr>
        <p:spPr>
          <a:xfrm>
            <a:off x="2414930" y="5809502"/>
            <a:ext cx="1747418" cy="2865132"/>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2552090" y="5946662"/>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ТЕМП ИЮЛЯ 2026</a:t>
            </a:r>
          </a:p>
        </p:txBody>
      </p:sp>
      <p:sp>
        <p:nvSpPr>
          <p:cNvPr id="26" name="TextBox 25"/>
          <p:cNvSpPr txBox="1"/>
          <p:nvPr/>
        </p:nvSpPr>
        <p:spPr>
          <a:xfrm>
            <a:off x="2552090" y="6199853"/>
            <a:ext cx="147309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одна сгенерированная микродрама каждые 36 секунд</a:t>
            </a:r>
          </a:p>
        </p:txBody>
      </p:sp>
      <p:sp>
        <p:nvSpPr>
          <p:cNvPr id="27" name="TextBox 26"/>
          <p:cNvSpPr txBox="1"/>
          <p:nvPr/>
        </p:nvSpPr>
        <p:spPr>
          <a:xfrm>
            <a:off x="2552090" y="705122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измерение предложения; о востребованности оно не говорит ничего</a:t>
            </a:r>
          </a:p>
        </p:txBody>
      </p:sp>
      <p:sp>
        <p:nvSpPr>
          <p:cNvPr id="28" name="Rounded Rectangle 27"/>
          <p:cNvSpPr/>
          <p:nvPr/>
        </p:nvSpPr>
        <p:spPr>
          <a:xfrm>
            <a:off x="4326940" y="5809502"/>
            <a:ext cx="1747418" cy="2865132"/>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4464100" y="5946662"/>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СКОРОСТЬ ПЕРЕХОДА ПРОТИВ БАЗЫ</a:t>
            </a:r>
          </a:p>
        </p:txBody>
      </p:sp>
      <p:sp>
        <p:nvSpPr>
          <p:cNvPr id="30" name="TextBox 29"/>
          <p:cNvSpPr txBox="1"/>
          <p:nvPr/>
        </p:nvSpPr>
        <p:spPr>
          <a:xfrm>
            <a:off x="4464100" y="661479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года против четырнадцати лет</a:t>
            </a:r>
          </a:p>
        </p:txBody>
      </p:sp>
      <p:sp>
        <p:nvSpPr>
          <p:cNvPr id="31" name="TextBox 30"/>
          <p:cNvSpPr txBox="1"/>
          <p:nvPr/>
        </p:nvSpPr>
        <p:spPr>
          <a:xfrm>
            <a:off x="4464100" y="7058770"/>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нелинейному монтажу понадобилось с 1989 по 2003 год, чтобы вытеснить физическую склейку плёнки</a:t>
            </a:r>
          </a:p>
        </p:txBody>
      </p:sp>
      <p:sp>
        <p:nvSpPr>
          <p:cNvPr id="32" name="Rounded Rectangle 31"/>
          <p:cNvSpPr/>
          <p:nvPr/>
        </p:nvSpPr>
        <p:spPr>
          <a:xfrm>
            <a:off x="6385255" y="1335024"/>
            <a:ext cx="5303520" cy="3624126"/>
          </a:xfrm>
          <a:prstGeom prst="roundRect">
            <a:avLst>
              <a:gd name="adj" fmla="val 8410"/>
            </a:avLst>
          </a:prstGeom>
          <a:solidFill>
            <a:srgbClr val="F4F7FA"/>
          </a:solidFill>
          <a:ln w="19050">
            <a:solidFill>
              <a:srgbClr val="1C7293"/>
            </a:solidFill>
          </a:ln>
          <a:effectLst/>
        </p:spPr>
        <p:txBody>
          <a:bodyPr rtlCol="0" anchor="ctr"/>
          <a:lstStyle/>
          <a:p>
            <a:pPr algn="ctr"/>
          </a:p>
        </p:txBody>
      </p:sp>
      <p:pic>
        <p:nvPicPr>
          <p:cNvPr id="33" name="Picture 32" descr="s53-microdrama-caixin.jpg"/>
          <p:cNvPicPr>
            <a:picLocks noChangeAspect="1"/>
          </p:cNvPicPr>
          <p:nvPr/>
        </p:nvPicPr>
        <p:blipFill>
          <a:blip r:embed="rId2"/>
          <a:stretch>
            <a:fillRect/>
          </a:stretch>
        </p:blipFill>
        <p:spPr>
          <a:xfrm>
            <a:off x="6522415" y="1472184"/>
            <a:ext cx="5029200" cy="3349806"/>
          </a:xfrm>
          <a:prstGeom prst="rect">
            <a:avLst/>
          </a:prstGeom>
        </p:spPr>
      </p:pic>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 chapter-part2c.md §3.3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1269415" cy="4109959"/>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2140317"/>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300–400 генераций на 15 пригодных склеек</a:t>
            </a:r>
          </a:p>
        </p:txBody>
      </p:sp>
      <p:sp>
        <p:nvSpPr>
          <p:cNvPr id="7" name="TextBox 6"/>
          <p:cNvSpPr txBox="1"/>
          <p:nvPr/>
        </p:nvSpPr>
        <p:spPr>
          <a:xfrm>
            <a:off x="640080" y="3195389"/>
            <a:ext cx="9950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1936927" y="1335024"/>
            <a:ext cx="1269415" cy="4109959"/>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1290547"/>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ПРОИЗВОДСТВО РОЛИКА ТОГО ЖЕ СЛОТА</a:t>
            </a:r>
          </a:p>
        </p:txBody>
      </p:sp>
      <p:sp>
        <p:nvSpPr>
          <p:cNvPr id="10" name="TextBox 9"/>
          <p:cNvSpPr txBox="1"/>
          <p:nvPr/>
        </p:nvSpPr>
        <p:spPr>
          <a:xfrm>
            <a:off x="2074087" y="2762731"/>
            <a:ext cx="9950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около 40 000 $</a:t>
            </a:r>
          </a:p>
        </p:txBody>
      </p:sp>
      <p:sp>
        <p:nvSpPr>
          <p:cNvPr id="11" name="TextBox 10"/>
          <p:cNvSpPr txBox="1"/>
          <p:nvPr/>
        </p:nvSpPr>
        <p:spPr>
          <a:xfrm>
            <a:off x="2074087" y="3461329"/>
            <a:ext cx="9950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автором относительно: снижение стоимости на 95 процентов</a:t>
            </a:r>
          </a:p>
        </p:txBody>
      </p:sp>
      <p:sp>
        <p:nvSpPr>
          <p:cNvPr id="12" name="Rounded Rectangle 11"/>
          <p:cNvSpPr/>
          <p:nvPr/>
        </p:nvSpPr>
        <p:spPr>
          <a:xfrm>
            <a:off x="3370935" y="1335024"/>
            <a:ext cx="1269415" cy="4109959"/>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РОССИЙСКАЯ ОПОРНАЯ ПОЛОСА</a:t>
            </a:r>
          </a:p>
        </p:txBody>
      </p:sp>
      <p:sp>
        <p:nvSpPr>
          <p:cNvPr id="14" name="TextBox 13"/>
          <p:cNvSpPr txBox="1"/>
          <p:nvPr/>
        </p:nvSpPr>
        <p:spPr>
          <a:xfrm>
            <a:off x="3508095" y="2555260"/>
            <a:ext cx="99509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10 000 ₽ за секунду эфирного материала</a:t>
            </a:r>
          </a:p>
        </p:txBody>
      </p:sp>
      <p:sp>
        <p:nvSpPr>
          <p:cNvPr id="15" name="TextBox 14"/>
          <p:cNvSpPr txBox="1"/>
          <p:nvPr/>
        </p:nvSpPr>
        <p:spPr>
          <a:xfrm>
            <a:off x="3508095" y="3406632"/>
            <a:ext cx="995095"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300 000 ₽ за тридцатисекундный ролик; против 4–10 ₽ за секунду генерации при курсе около 80 ₽ за доллар</a:t>
            </a:r>
          </a:p>
        </p:txBody>
      </p:sp>
      <p:sp>
        <p:nvSpPr>
          <p:cNvPr id="16" name="Rounded Rectangle 15"/>
          <p:cNvSpPr/>
          <p:nvPr/>
        </p:nvSpPr>
        <p:spPr>
          <a:xfrm>
            <a:off x="4804943" y="1335024"/>
            <a:ext cx="1269415" cy="4109959"/>
          </a:xfrm>
          <a:prstGeom prst="roundRect">
            <a:avLst>
              <a:gd name="adj" fmla="val 2401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4942103"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4942103" y="1725375"/>
            <a:ext cx="995095" cy="851372"/>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2 000 $, один человек, 2–3 дня</a:t>
            </a:r>
          </a:p>
        </p:txBody>
      </p:sp>
      <p:sp>
        <p:nvSpPr>
          <p:cNvPr id="19" name="TextBox 18"/>
          <p:cNvSpPr txBox="1"/>
          <p:nvPr/>
        </p:nvSpPr>
        <p:spPr>
          <a:xfrm>
            <a:off x="4942103" y="2576747"/>
            <a:ext cx="9950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по этой работе опубликованы</a:t>
            </a:r>
          </a:p>
        </p:txBody>
      </p:sp>
      <p:sp>
        <p:nvSpPr>
          <p:cNvPr id="20" name="Rounded Rectangle 19"/>
          <p:cNvSpPr/>
          <p:nvPr/>
        </p:nvSpPr>
        <p:spPr>
          <a:xfrm>
            <a:off x="502920" y="5609575"/>
            <a:ext cx="2703423" cy="2711414"/>
          </a:xfrm>
          <a:prstGeom prst="roundRect">
            <a:avLst>
              <a:gd name="adj" fmla="val 11274"/>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5746735"/>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a:t>
            </a:r>
          </a:p>
        </p:txBody>
      </p:sp>
      <p:sp>
        <p:nvSpPr>
          <p:cNvPr id="22" name="TextBox 21"/>
          <p:cNvSpPr txBox="1"/>
          <p:nvPr/>
        </p:nvSpPr>
        <p:spPr>
          <a:xfrm>
            <a:off x="640080" y="5999927"/>
            <a:ext cx="24291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96 %</a:t>
            </a:r>
          </a:p>
        </p:txBody>
      </p:sp>
      <p:sp>
        <p:nvSpPr>
          <p:cNvPr id="23" name="TextBox 22"/>
          <p:cNvSpPr txBox="1"/>
          <p:nvPr/>
        </p:nvSpPr>
        <p:spPr>
          <a:xfrm>
            <a:off x="640080" y="6426926"/>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400 к 15; экономия равна цене попытки, делённой на долю годного</a:t>
            </a:r>
          </a:p>
        </p:txBody>
      </p:sp>
      <p:sp>
        <p:nvSpPr>
          <p:cNvPr id="24" name="Rounded Rectangle 23"/>
          <p:cNvSpPr/>
          <p:nvPr/>
        </p:nvSpPr>
        <p:spPr>
          <a:xfrm>
            <a:off x="3370935" y="5609575"/>
            <a:ext cx="2703423" cy="2711414"/>
          </a:xfrm>
          <a:prstGeom prst="roundRect">
            <a:avLst>
              <a:gd name="adj" fmla="val 11274"/>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3508095" y="5746735"/>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КОТОРУЮ НЕЛЬЗЯ ПОТЕРЯТЬ</a:t>
            </a:r>
          </a:p>
        </p:txBody>
      </p:sp>
      <p:sp>
        <p:nvSpPr>
          <p:cNvPr id="26" name="TextBox 25"/>
          <p:cNvSpPr txBox="1"/>
          <p:nvPr/>
        </p:nvSpPr>
        <p:spPr>
          <a:xfrm>
            <a:off x="3508095" y="6207398"/>
            <a:ext cx="24291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это финал НБА, Супербоул здесь ни при чём</a:t>
            </a:r>
          </a:p>
        </p:txBody>
      </p:sp>
      <p:sp>
        <p:nvSpPr>
          <p:cNvPr id="27" name="TextBox 26"/>
          <p:cNvSpPr txBox="1"/>
          <p:nvPr/>
        </p:nvSpPr>
        <p:spPr>
          <a:xfrm>
            <a:off x="3508095" y="7338856"/>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лига американского футбола рекламу предсказательных рынков не берёт; ошибка кочует по пересказам</a:t>
            </a:r>
          </a:p>
        </p:txBody>
      </p:sp>
      <p:sp>
        <p:nvSpPr>
          <p:cNvPr id="28" name="Rounded Rectangle 27"/>
          <p:cNvSpPr/>
          <p:nvPr/>
        </p:nvSpPr>
        <p:spPr>
          <a:xfrm>
            <a:off x="6385255" y="1335024"/>
            <a:ext cx="5303520" cy="3105041"/>
          </a:xfrm>
          <a:prstGeom prst="roundRect">
            <a:avLst>
              <a:gd name="adj" fmla="val 9816"/>
            </a:avLst>
          </a:prstGeom>
          <a:solidFill>
            <a:srgbClr val="F4F7FA"/>
          </a:solidFill>
          <a:ln w="19050">
            <a:solidFill>
              <a:srgbClr val="1C7293"/>
            </a:solidFill>
          </a:ln>
          <a:effectLst/>
        </p:spPr>
        <p:txBody>
          <a:bodyPr rtlCol="0" anchor="ctr"/>
          <a:lstStyle/>
          <a:p>
            <a:pPr algn="ctr"/>
          </a:p>
        </p:txBody>
      </p:sp>
      <p:pic>
        <p:nvPicPr>
          <p:cNvPr id="29" name="Picture 28" descr="s54-kalshi-ad-frame.png"/>
          <p:cNvPicPr>
            <a:picLocks noChangeAspect="1"/>
          </p:cNvPicPr>
          <p:nvPr/>
        </p:nvPicPr>
        <p:blipFill>
          <a:blip r:embed="rId2"/>
          <a:stretch>
            <a:fillRect/>
          </a:stretch>
        </p:blipFill>
        <p:spPr>
          <a:xfrm>
            <a:off x="6522415" y="1472184"/>
            <a:ext cx="5029200" cy="2830721"/>
          </a:xfrm>
          <a:prstGeom prst="rect">
            <a:avLst/>
          </a:prstGeom>
        </p:spPr>
      </p:pic>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 chapter-part2c.md §3.4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1269415" cy="4324975"/>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9950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2140317"/>
            <a:ext cx="995095" cy="2073566"/>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4213884"/>
            <a:ext cx="9950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величина, подтверждённая первым лицом компании</a:t>
            </a:r>
          </a:p>
        </p:txBody>
      </p:sp>
      <p:sp>
        <p:nvSpPr>
          <p:cNvPr id="8" name="Rounded Rectangle 7"/>
          <p:cNvSpPr/>
          <p:nvPr/>
        </p:nvSpPr>
        <p:spPr>
          <a:xfrm>
            <a:off x="1936927" y="1335024"/>
            <a:ext cx="1269415" cy="4324975"/>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074087" y="1472184"/>
            <a:ext cx="995095" cy="1290547"/>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СЪЁМКА РОЛИКА ТАКОЙ СЛОЖНОСТИ</a:t>
            </a:r>
          </a:p>
        </p:txBody>
      </p:sp>
      <p:sp>
        <p:nvSpPr>
          <p:cNvPr id="10" name="TextBox 9"/>
          <p:cNvSpPr txBox="1"/>
          <p:nvPr/>
        </p:nvSpPr>
        <p:spPr>
          <a:xfrm>
            <a:off x="2074087" y="2762731"/>
            <a:ext cx="99509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группа от 50 человек, цикл год</a:t>
            </a:r>
          </a:p>
        </p:txBody>
      </p:sp>
      <p:sp>
        <p:nvSpPr>
          <p:cNvPr id="11" name="TextBox 10"/>
          <p:cNvSpPr txBox="1"/>
          <p:nvPr/>
        </p:nvSpPr>
        <p:spPr>
          <a:xfrm>
            <a:off x="2074087" y="3410404"/>
            <a:ext cx="995095"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цикл схлопнулся «с года примерно до месяца»</a:t>
            </a:r>
          </a:p>
        </p:txBody>
      </p:sp>
      <p:sp>
        <p:nvSpPr>
          <p:cNvPr id="12" name="Rounded Rectangle 11"/>
          <p:cNvSpPr/>
          <p:nvPr/>
        </p:nvSpPr>
        <p:spPr>
          <a:xfrm>
            <a:off x="3370935" y="1335024"/>
            <a:ext cx="1269415" cy="4324975"/>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508095" y="1472184"/>
            <a:ext cx="995095" cy="1705490"/>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ПОВТОРНАЯ СЪЁМКА ОРИГИНАЛА 1995 ГОДА ПРЕЖНИМ СПОСОБОМ</a:t>
            </a:r>
          </a:p>
        </p:txBody>
      </p:sp>
      <p:sp>
        <p:nvSpPr>
          <p:cNvPr id="14" name="TextBox 13"/>
          <p:cNvSpPr txBox="1"/>
          <p:nvPr/>
        </p:nvSpPr>
        <p:spPr>
          <a:xfrm>
            <a:off x="3508095" y="3177674"/>
            <a:ext cx="995095"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один ролик — одна съёмка</a:t>
            </a:r>
          </a:p>
        </p:txBody>
      </p:sp>
      <p:sp>
        <p:nvSpPr>
          <p:cNvPr id="15" name="TextBox 14"/>
          <p:cNvSpPr txBox="1"/>
          <p:nvPr/>
        </p:nvSpPr>
        <p:spPr>
          <a:xfrm>
            <a:off x="3508095" y="3876272"/>
            <a:ext cx="9950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съёмочный период, одна смета</a:t>
            </a:r>
          </a:p>
        </p:txBody>
      </p:sp>
      <p:sp>
        <p:nvSpPr>
          <p:cNvPr id="16" name="Rounded Rectangle 15"/>
          <p:cNvSpPr/>
          <p:nvPr/>
        </p:nvSpPr>
        <p:spPr>
          <a:xfrm>
            <a:off x="4804943" y="1335024"/>
            <a:ext cx="1269415" cy="4324975"/>
          </a:xfrm>
          <a:prstGeom prst="roundRect">
            <a:avLst>
              <a:gd name="adj" fmla="val 24011"/>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942103" y="1472184"/>
            <a:ext cx="9950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4942103" y="1725375"/>
            <a:ext cx="995095"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свыше 70 000 клипов, 5 специалистов, 30 дней</a:t>
            </a:r>
          </a:p>
        </p:txBody>
      </p:sp>
      <p:sp>
        <p:nvSpPr>
          <p:cNvPr id="19" name="TextBox 18"/>
          <p:cNvSpPr txBox="1"/>
          <p:nvPr/>
        </p:nvSpPr>
        <p:spPr>
          <a:xfrm>
            <a:off x="4942103" y="2780446"/>
            <a:ext cx="995095"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20" name="Rounded Rectangle 19"/>
          <p:cNvSpPr/>
          <p:nvPr/>
        </p:nvSpPr>
        <p:spPr>
          <a:xfrm>
            <a:off x="502920" y="5824591"/>
            <a:ext cx="1747418" cy="369501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640080" y="5961751"/>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22" name="TextBox 21"/>
          <p:cNvSpPr txBox="1"/>
          <p:nvPr/>
        </p:nvSpPr>
        <p:spPr>
          <a:xfrm>
            <a:off x="640080" y="6629885"/>
            <a:ext cx="1473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23" name="TextBox 22"/>
          <p:cNvSpPr txBox="1"/>
          <p:nvPr/>
        </p:nvSpPr>
        <p:spPr>
          <a:xfrm>
            <a:off x="640080" y="744730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a:t>
            </a:r>
          </a:p>
        </p:txBody>
      </p:sp>
      <p:sp>
        <p:nvSpPr>
          <p:cNvPr id="24" name="Rounded Rectangle 23"/>
          <p:cNvSpPr/>
          <p:nvPr/>
        </p:nvSpPr>
        <p:spPr>
          <a:xfrm>
            <a:off x="2414930" y="5824591"/>
            <a:ext cx="1747418" cy="369501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2552090" y="5961751"/>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ОГОВОРКА, ОБЯЗАТЕЛЬНАЯ НА КАДРЕ</a:t>
            </a:r>
          </a:p>
        </p:txBody>
      </p:sp>
      <p:sp>
        <p:nvSpPr>
          <p:cNvPr id="26" name="TextBox 25"/>
          <p:cNvSpPr txBox="1"/>
          <p:nvPr/>
        </p:nvSpPr>
        <p:spPr>
          <a:xfrm>
            <a:off x="2552090" y="6629885"/>
            <a:ext cx="147309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сколько из 70 000 клипов вошло в монтаж, не раскрыто нигде</a:t>
            </a:r>
          </a:p>
        </p:txBody>
      </p:sp>
      <p:sp>
        <p:nvSpPr>
          <p:cNvPr id="27" name="TextBox 26"/>
          <p:cNvSpPr txBox="1"/>
          <p:nvPr/>
        </p:nvSpPr>
        <p:spPr>
          <a:xfrm>
            <a:off x="2552090" y="7481257"/>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ходовое «70 000 клипов ради тридцати секунд» — вывод, выдаваемый за факт</a:t>
            </a:r>
          </a:p>
        </p:txBody>
      </p:sp>
      <p:sp>
        <p:nvSpPr>
          <p:cNvPr id="28" name="Rounded Rectangle 27"/>
          <p:cNvSpPr/>
          <p:nvPr/>
        </p:nvSpPr>
        <p:spPr>
          <a:xfrm>
            <a:off x="4326940" y="5824591"/>
            <a:ext cx="1747418" cy="369501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4464100" y="5961751"/>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a:t>
            </a:r>
          </a:p>
        </p:txBody>
      </p:sp>
      <p:sp>
        <p:nvSpPr>
          <p:cNvPr id="30" name="TextBox 29"/>
          <p:cNvSpPr txBox="1"/>
          <p:nvPr/>
        </p:nvSpPr>
        <p:spPr>
          <a:xfrm>
            <a:off x="4464100" y="6214942"/>
            <a:ext cx="147309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компания раскрыть отказалась</a:t>
            </a:r>
          </a:p>
        </p:txBody>
      </p:sp>
      <p:sp>
        <p:nvSpPr>
          <p:cNvPr id="31" name="TextBox 30"/>
          <p:cNvSpPr txBox="1"/>
          <p:nvPr/>
        </p:nvSpPr>
        <p:spPr>
          <a:xfrm>
            <a:off x="4464100" y="7270014"/>
            <a:ext cx="1473098"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встречное утверждение «обошлось примерно столько же» принадлежит разбору третьей стороны; независимой цифры нет ни у одной стороны</a:t>
            </a:r>
          </a:p>
        </p:txBody>
      </p:sp>
      <p:sp>
        <p:nvSpPr>
          <p:cNvPr id="32" name="Rounded Rectangle 31"/>
          <p:cNvSpPr/>
          <p:nvPr/>
        </p:nvSpPr>
        <p:spPr>
          <a:xfrm>
            <a:off x="6385255" y="1335024"/>
            <a:ext cx="5303520" cy="3696533"/>
          </a:xfrm>
          <a:prstGeom prst="roundRect">
            <a:avLst>
              <a:gd name="adj" fmla="val 8245"/>
            </a:avLst>
          </a:prstGeom>
          <a:solidFill>
            <a:srgbClr val="F4F7FA"/>
          </a:solidFill>
          <a:ln w="19050">
            <a:solidFill>
              <a:srgbClr val="1C7293"/>
            </a:solidFill>
          </a:ln>
          <a:effectLst/>
        </p:spPr>
        <p:txBody>
          <a:bodyPr rtlCol="0" anchor="ctr"/>
          <a:lstStyle/>
          <a:p>
            <a:pPr algn="ctr"/>
          </a:p>
        </p:txBody>
      </p:sp>
      <p:pic>
        <p:nvPicPr>
          <p:cNvPr id="33" name="Picture 32" descr="s55-coca-cola-christmas-truck.jpg"/>
          <p:cNvPicPr>
            <a:picLocks noChangeAspect="1"/>
          </p:cNvPicPr>
          <p:nvPr/>
        </p:nvPicPr>
        <p:blipFill>
          <a:blip r:embed="rId2"/>
          <a:stretch>
            <a:fillRect/>
          </a:stretch>
        </p:blipFill>
        <p:spPr>
          <a:xfrm>
            <a:off x="6522415" y="1472184"/>
            <a:ext cx="5029200" cy="3422213"/>
          </a:xfrm>
          <a:prstGeom prst="rect">
            <a:avLst/>
          </a:prstGeom>
        </p:spPr>
      </p:pic>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 chapter-part2c.md §3.5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ounded Rectangle 19"/>
          <p:cNvSpPr/>
          <p:nvPr/>
        </p:nvSpPr>
        <p:spPr>
          <a:xfrm>
            <a:off x="374904" y="3405128"/>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Около ста человек там и около ста здесь.</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Изменилось не число людей. Изменились срок и число проб: тридцать дней вместо года, семьдесят тысяч сгенерированных клипов вместо одной съёмки.</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23" name="Rectangle 22"/>
          <p:cNvSpPr/>
          <p:nvPr/>
        </p:nvSpPr>
        <p:spPr>
          <a:xfrm>
            <a:off x="6091275" y="3496568"/>
            <a:ext cx="9144" cy="127714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chapter-part2c.md §3.5; chapter-part2d.md §3.10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ПЯТЕРО НА ПЯТЬСОТ ПЛАНОВ</a:t>
            </a:r>
          </a:p>
        </p:txBody>
      </p:sp>
      <p:sp>
        <p:nvSpPr>
          <p:cNvPr id="6" name="TextBox 5"/>
          <p:cNvSpPr txBox="1"/>
          <p:nvPr/>
        </p:nvSpPr>
        <p:spPr>
          <a:xfrm>
            <a:off x="640080"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более 80 % из примерно 500 планов с эффектами</a:t>
            </a:r>
          </a:p>
        </p:txBody>
      </p:sp>
      <p:sp>
        <p:nvSpPr>
          <p:cNvPr id="7" name="TextBox 6"/>
          <p:cNvSpPr txBox="1"/>
          <p:nvPr/>
        </p:nvSpPr>
        <p:spPr>
          <a:xfrm>
            <a:off x="640080" y="225422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независимая студия из пяти человек; фильм получил «Оскар» за лучшую картину</a:t>
            </a:r>
          </a:p>
        </p:txBody>
      </p:sp>
      <p:sp>
        <p:nvSpPr>
          <p:cNvPr id="8" name="Rounded Rectangle 7"/>
          <p:cNvSpPr/>
          <p:nvPr/>
        </p:nvSpPr>
        <p:spPr>
          <a:xfrm>
            <a:off x="3340531"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12" name="Rounded Rectangle 11"/>
          <p:cNvSpPr/>
          <p:nvPr/>
        </p:nvSpPr>
        <p:spPr>
          <a:xfrm>
            <a:off x="6178143" y="1335024"/>
            <a:ext cx="2673019" cy="2612394"/>
          </a:xfrm>
          <a:prstGeom prst="roundRect">
            <a:avLst>
              <a:gd name="adj" fmla="val 1166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5" name="TextBox 14"/>
          <p:cNvSpPr txBox="1"/>
          <p:nvPr/>
        </p:nvSpPr>
        <p:spPr>
          <a:xfrm>
            <a:off x="6315303"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6" name="Rounded Rectangle 15"/>
          <p:cNvSpPr/>
          <p:nvPr/>
        </p:nvSpPr>
        <p:spPr>
          <a:xfrm>
            <a:off x="9015755"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9" name="TextBox 18"/>
          <p:cNvSpPr txBox="1"/>
          <p:nvPr/>
        </p:nvSpPr>
        <p:spPr>
          <a:xfrm>
            <a:off x="9152915" y="2542797"/>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20" name="Rounded Rectangle 19"/>
          <p:cNvSpPr/>
          <p:nvPr/>
        </p:nvSpPr>
        <p:spPr>
          <a:xfrm>
            <a:off x="502920" y="4112010"/>
            <a:ext cx="11185855"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249170"/>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22" name="TextBox 21"/>
          <p:cNvSpPr txBox="1"/>
          <p:nvPr/>
        </p:nvSpPr>
        <p:spPr>
          <a:xfrm>
            <a:off x="640080" y="4502361"/>
            <a:ext cx="1091153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пересчёте на план — столько же, сколько в обычном фильме с эффектами</a:t>
            </a:r>
          </a:p>
        </p:txBody>
      </p:sp>
      <p:sp>
        <p:nvSpPr>
          <p:cNvPr id="23" name="TextBox 22"/>
          <p:cNvSpPr txBox="1"/>
          <p:nvPr/>
        </p:nvSpPr>
        <p:spPr>
          <a:xfrm>
            <a:off x="640080" y="53197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4" name="Rounded Rectangle 23"/>
          <p:cNvSpPr/>
          <p:nvPr/>
        </p:nvSpPr>
        <p:spPr>
          <a:xfrm>
            <a:off x="374904" y="5759627"/>
            <a:ext cx="11441887" cy="47658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851067"/>
            <a:ext cx="11112703" cy="38514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Пятеро закрыли более 80 процентов из примерно 500 планов с эффектами в фильме, получившем «Оскар» за лучшую картину.</a:t>
            </a:r>
            <a:r>
              <a:rPr sz="850" b="0" i="0">
                <a:solidFill>
                  <a:srgbClr val="21295C"/>
                </a:solidFill>
                <a:latin typeface="Arial"/>
              </a:rPr>
              <a:t> База той же операции названа художником прямо: покадровое вырезание персонажей из кадра — </a:t>
            </a:r>
            <a:r>
              <a:rPr sz="850" b="1" i="0">
                <a:solidFill>
                  <a:srgbClr val="21295C"/>
                </a:solidFill>
                <a:latin typeface="Arial"/>
              </a:rPr>
              <a:t>полдня на один план</a:t>
            </a:r>
            <a:r>
              <a:rPr sz="850" b="0" i="0">
                <a:solidFill>
                  <a:srgbClr val="21295C"/>
                </a:solidFill>
                <a:latin typeface="Arial"/>
              </a:rPr>
              <a:t>; с инструментом выделения фона — </a:t>
            </a:r>
            <a:r>
              <a:rPr sz="850" b="1" i="0">
                <a:solidFill>
                  <a:srgbClr val="21295C"/>
                </a:solidFill>
                <a:latin typeface="Arial"/>
              </a:rPr>
              <a:t>минуты</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«Ирландец», 2019: бюджет вырос со 125 до 159 миллионов долларов на 1 750 планах цифрового омоложения.</a:t>
            </a:r>
            <a:r>
              <a:rPr sz="850" b="0" i="0">
                <a:solidFill>
                  <a:srgbClr val="21295C"/>
                </a:solidFill>
                <a:latin typeface="Arial"/>
              </a:rPr>
              <a:t> Подготовка началась за четыре года до выхода.</a:t>
            </a:r>
          </a:p>
          <a:p>
            <a:pPr algn="l">
              <a:lnSpc>
                <a:spcPct val="126000"/>
              </a:lnSpc>
              <a:spcBef>
                <a:spcPts val="700"/>
              </a:spcBef>
            </a:pPr>
            <a:r>
              <a:rPr sz="850" b="0" i="0">
                <a:solidFill>
                  <a:srgbClr val="21295C"/>
                </a:solidFill>
                <a:latin typeface="Arial"/>
              </a:rPr>
              <a:t/>
            </a:r>
            <a:r>
              <a:rPr sz="850" b="1" i="0">
                <a:solidFill>
                  <a:srgbClr val="21295C"/>
                </a:solidFill>
                <a:latin typeface="Arial"/>
              </a:rPr>
              <a:t>Супервайзер эффектов назвал правильную единицу счёта: в пересчёте на один план это стоит столько же, сколько в обычном фильме с эффектами — дорого выходит потому, что планов здесь на два фильма.</a:t>
            </a:r>
          </a:p>
          <a:p>
            <a:pPr algn="l">
              <a:lnSpc>
                <a:spcPct val="126000"/>
              </a:lnSpc>
              <a:spcBef>
                <a:spcPts val="700"/>
              </a:spcBef>
            </a:pPr>
            <a:r>
              <a:rPr sz="850" b="0" i="0">
                <a:solidFill>
                  <a:srgbClr val="21295C"/>
                </a:solidFill>
                <a:latin typeface="Arial"/>
              </a:rPr>
              <a:t/>
            </a:r>
            <a:r>
              <a:rPr sz="850" b="1" i="0">
                <a:solidFill>
                  <a:srgbClr val="21295C"/>
                </a:solidFill>
                <a:latin typeface="Arial"/>
              </a:rPr>
              <a:t>Относительно этих двух масштабов и читаются все числа раздела.</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 chapter-part2c.md §3.1(д), chapter-part2d.md §3.6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673019" cy="320651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725375"/>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бюджет фильма 45 млн $</a:t>
            </a:r>
          </a:p>
        </p:txBody>
      </p:sp>
      <p:sp>
        <p:nvSpPr>
          <p:cNvPr id="7" name="TextBox 6"/>
          <p:cNvSpPr txBox="1"/>
          <p:nvPr/>
        </p:nvSpPr>
        <p:spPr>
          <a:xfrm>
            <a:off x="640080" y="252582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3340531" y="1335024"/>
            <a:ext cx="2673019" cy="320651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3477691"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3477691" y="3348163"/>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6178143" y="1335024"/>
            <a:ext cx="2673019" cy="320651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6315303" y="193284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6315303" y="2682369"/>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9015755" y="1335024"/>
            <a:ext cx="2673019" cy="320651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9152915" y="2140317"/>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тридцать секунд, 9 февраля 2026</a:t>
            </a:r>
          </a:p>
        </p:txBody>
      </p:sp>
      <p:sp>
        <p:nvSpPr>
          <p:cNvPr id="19" name="TextBox 18"/>
          <p:cNvSpPr txBox="1"/>
          <p:nvPr/>
        </p:nvSpPr>
        <p:spPr>
          <a:xfrm>
            <a:off x="9152915" y="28898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502920" y="4706132"/>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843292"/>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640080" y="5096483"/>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«половина и более роликов того эфира»</a:t>
            </a:r>
          </a:p>
        </p:txBody>
      </p:sp>
      <p:sp>
        <p:nvSpPr>
          <p:cNvPr id="23" name="TextBox 22"/>
          <p:cNvSpPr txBox="1"/>
          <p:nvPr/>
        </p:nvSpPr>
        <p:spPr>
          <a:xfrm>
            <a:off x="640080" y="552348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6091342"/>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6054766"/>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6100486"/>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658035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6054766"/>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6100486"/>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658035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6054766"/>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6100486"/>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658035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6054766"/>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6100486"/>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727968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 chapter-part2d.md §3.6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2673019" cy="2682180"/>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2398699" cy="579773"/>
          </a:xfrm>
          <a:prstGeom prst="rect">
            <a:avLst/>
          </a:prstGeom>
          <a:noFill/>
        </p:spPr>
        <p:txBody>
          <a:bodyPr wrap="square" lIns="0" rIns="0" tIns="0" bIns="0" anchor="t">
            <a:spAutoFit/>
          </a:bodyPr>
          <a:lstStyle/>
          <a:p>
            <a:pPr algn="l">
              <a:lnSpc>
                <a:spcPct val="108000"/>
              </a:lnSpc>
            </a:pPr>
            <a:r>
              <a:rPr sz="1600" b="1" i="0">
                <a:solidFill>
                  <a:srgbClr val="1C7293"/>
                </a:solidFill>
                <a:latin typeface="Arial"/>
              </a:rPr>
              <a:t>патч пространства-времени</a:t>
            </a:r>
          </a:p>
        </p:txBody>
      </p:sp>
      <p:sp>
        <p:nvSpPr>
          <p:cNvPr id="7" name="TextBox 6"/>
          <p:cNvSpPr txBox="1"/>
          <p:nvPr/>
        </p:nvSpPr>
        <p:spPr>
          <a:xfrm>
            <a:off x="640080" y="251262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3340531" y="1335024"/>
            <a:ext cx="2673019" cy="268218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3477691" y="193284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«изображение — это просто видео из одного кадра»</a:t>
            </a:r>
          </a:p>
        </p:txBody>
      </p:sp>
      <p:sp>
        <p:nvSpPr>
          <p:cNvPr id="11" name="TextBox 10"/>
          <p:cNvSpPr txBox="1"/>
          <p:nvPr/>
        </p:nvSpPr>
        <p:spPr>
          <a:xfrm>
            <a:off x="3477691" y="303884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6178143" y="1335024"/>
            <a:ext cx="2673019" cy="268218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6315303" y="2140317"/>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горизонтальный, вертикальный и всё между ними</a:t>
            </a:r>
          </a:p>
        </p:txBody>
      </p:sp>
      <p:sp>
        <p:nvSpPr>
          <p:cNvPr id="15" name="TextBox 14"/>
          <p:cNvSpPr txBox="1"/>
          <p:nvPr/>
        </p:nvSpPr>
        <p:spPr>
          <a:xfrm>
            <a:off x="6315303" y="324631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Rounded Rectangle 15"/>
          <p:cNvSpPr/>
          <p:nvPr/>
        </p:nvSpPr>
        <p:spPr>
          <a:xfrm>
            <a:off x="9015755" y="1335024"/>
            <a:ext cx="2673019" cy="268218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18" name="TextBox 17"/>
          <p:cNvSpPr txBox="1"/>
          <p:nvPr/>
        </p:nvSpPr>
        <p:spPr>
          <a:xfrm>
            <a:off x="9152915"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62,1 млрд пар против 2,01 млрд</a:t>
            </a:r>
          </a:p>
        </p:txBody>
      </p:sp>
      <p:sp>
        <p:nvSpPr>
          <p:cNvPr id="19" name="TextBox 18"/>
          <p:cNvSpPr txBox="1"/>
          <p:nvPr/>
        </p:nvSpPr>
        <p:spPr>
          <a:xfrm>
            <a:off x="9152915" y="268236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20" name="Rounded Rectangle 19"/>
          <p:cNvSpPr/>
          <p:nvPr/>
        </p:nvSpPr>
        <p:spPr>
          <a:xfrm>
            <a:off x="502920" y="4181796"/>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318956"/>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22" name="TextBox 21"/>
          <p:cNvSpPr txBox="1"/>
          <p:nvPr/>
        </p:nvSpPr>
        <p:spPr>
          <a:xfrm>
            <a:off x="640080" y="4572147"/>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23" name="TextBox 22"/>
          <p:cNvSpPr txBox="1"/>
          <p:nvPr/>
        </p:nvSpPr>
        <p:spPr>
          <a:xfrm>
            <a:off x="640080" y="4999146"/>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24" name="TextBox 23"/>
          <p:cNvSpPr txBox="1"/>
          <p:nvPr/>
        </p:nvSpPr>
        <p:spPr>
          <a:xfrm>
            <a:off x="502920" y="5567006"/>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25" name="Rounded Rectangle 24"/>
          <p:cNvSpPr/>
          <p:nvPr/>
        </p:nvSpPr>
        <p:spPr>
          <a:xfrm>
            <a:off x="1920240" y="553043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57615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27" name="Right Arrow 26"/>
          <p:cNvSpPr/>
          <p:nvPr/>
        </p:nvSpPr>
        <p:spPr>
          <a:xfrm>
            <a:off x="4202353" y="6056019"/>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53043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57615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30" name="Right Arrow 29"/>
          <p:cNvSpPr/>
          <p:nvPr/>
        </p:nvSpPr>
        <p:spPr>
          <a:xfrm>
            <a:off x="6713067" y="6056019"/>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53043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57615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33" name="Right Arrow 32"/>
          <p:cNvSpPr/>
          <p:nvPr/>
        </p:nvSpPr>
        <p:spPr>
          <a:xfrm>
            <a:off x="9223781" y="6056019"/>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53043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57615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36" name="TextBox 35"/>
          <p:cNvSpPr txBox="1"/>
          <p:nvPr/>
        </p:nvSpPr>
        <p:spPr>
          <a:xfrm>
            <a:off x="502920" y="675534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37" name="Rounded Rectangle 36"/>
          <p:cNvSpPr/>
          <p:nvPr/>
        </p:nvSpPr>
        <p:spPr>
          <a:xfrm>
            <a:off x="502920" y="7149469"/>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667512" y="730491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39" name="TextBox 38"/>
          <p:cNvSpPr txBox="1"/>
          <p:nvPr/>
        </p:nvSpPr>
        <p:spPr>
          <a:xfrm>
            <a:off x="667512" y="7661095"/>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Автокодировщик работает токенизатором, модель стоит поверх него</a:t>
            </a:r>
          </a:p>
          <a:p>
            <a:pPr algn="l">
              <a:lnSpc>
                <a:spcPct val="126000"/>
              </a:lnSpc>
            </a:pPr>
            <a:r>
              <a:rPr sz="900" b="0" i="0">
                <a:solidFill>
                  <a:srgbClr val="21295C"/>
                </a:solidFill>
                <a:latin typeface="Arial"/>
              </a:rPr>
              <a:t>• Расшумление переписывает все токены на каждом шаге</a:t>
            </a:r>
          </a:p>
          <a:p>
            <a:pPr algn="l">
              <a:lnSpc>
                <a:spcPct val="126000"/>
              </a:lnSpc>
            </a:pPr>
            <a:r>
              <a:rPr sz="900" b="0" i="0">
                <a:solidFill>
                  <a:srgbClr val="21295C"/>
                </a:solidFill>
                <a:latin typeface="Arial"/>
              </a:rPr>
              <a:t>• Кэша нет и быть не может — вся экономика тарифов языковых моделей сюда не переносится</a:t>
            </a:r>
          </a:p>
        </p:txBody>
      </p:sp>
      <p:sp>
        <p:nvSpPr>
          <p:cNvPr id="40" name="Rounded Rectangle 39"/>
          <p:cNvSpPr/>
          <p:nvPr/>
        </p:nvSpPr>
        <p:spPr>
          <a:xfrm>
            <a:off x="6251295" y="7149469"/>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41" name="TextBox 40"/>
          <p:cNvSpPr txBox="1"/>
          <p:nvPr/>
        </p:nvSpPr>
        <p:spPr>
          <a:xfrm>
            <a:off x="6415887" y="730491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42" name="TextBox 41"/>
          <p:cNvSpPr txBox="1"/>
          <p:nvPr/>
        </p:nvSpPr>
        <p:spPr>
          <a:xfrm>
            <a:off x="6415887" y="7661095"/>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Сжатие идёт не только по пространству, но и по времени</a:t>
            </a:r>
          </a:p>
          <a:p>
            <a:pPr algn="l">
              <a:lnSpc>
                <a:spcPct val="126000"/>
              </a:lnSpc>
            </a:pPr>
            <a:r>
              <a:rPr sz="900" b="0" i="0">
                <a:solidFill>
                  <a:srgbClr val="21295C"/>
                </a:solidFill>
                <a:latin typeface="Arial"/>
              </a:rPr>
              <a:t>• Позиционное кодирование становится тройным: две пространственные координаты и одна временная</a:t>
            </a:r>
          </a:p>
          <a:p>
            <a:pPr algn="l">
              <a:lnSpc>
                <a:spcPct val="126000"/>
              </a:lnSpc>
            </a:pPr>
            <a:r>
              <a:rPr sz="900" b="0" i="0">
                <a:solidFill>
                  <a:srgbClr val="21295C"/>
                </a:solidFill>
                <a:latin typeface="Arial"/>
              </a:rPr>
              <a:t>• Появляется выбор: полное трёхмерное внимание или раздельное, и у выбора посчитанная цена</a:t>
            </a:r>
          </a:p>
          <a:p>
            <a:pPr algn="l">
              <a:lnSpc>
                <a:spcPct val="126000"/>
              </a:lnSpc>
            </a:pPr>
            <a:r>
              <a:rPr sz="900" b="0" i="0">
                <a:solidFill>
                  <a:srgbClr val="21295C"/>
                </a:solidFill>
                <a:latin typeface="Arial"/>
              </a:rPr>
              <a:t>• Честная оговорка: технический отчёт самой известной видеомодели прямо сообщает, что детали модели и реализации в него не включены — любая конкретная цифра «по ней» является реконструкцией</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chapter-part2d.md §3.7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673019" cy="2515260"/>
          </a:xfrm>
          <a:prstGeom prst="roundRect">
            <a:avLst>
              <a:gd name="adj" fmla="val 121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3340531" y="1335024"/>
            <a:ext cx="2673019" cy="2515260"/>
          </a:xfrm>
          <a:prstGeom prst="roundRect">
            <a:avLst>
              <a:gd name="adj" fmla="val 121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3477691" y="1932846"/>
            <a:ext cx="2398699"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3477691" y="2656906"/>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6178143" y="1335024"/>
            <a:ext cx="2673019" cy="2515260"/>
          </a:xfrm>
          <a:prstGeom prst="roundRect">
            <a:avLst>
              <a:gd name="adj" fmla="val 1211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6315303" y="23730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9015755" y="1335024"/>
            <a:ext cx="2673019" cy="2515260"/>
          </a:xfrm>
          <a:prstGeom prst="roundRect">
            <a:avLst>
              <a:gd name="adj" fmla="val 1211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9152915" y="2140317"/>
            <a:ext cx="2398699"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4×8×8 у трёх моделей 2024–2025 · 8×8×8 · 8×32×32</a:t>
            </a:r>
          </a:p>
        </p:txBody>
      </p:sp>
      <p:sp>
        <p:nvSpPr>
          <p:cNvPr id="19" name="TextBox 18"/>
          <p:cNvSpPr txBox="1"/>
          <p:nvPr/>
        </p:nvSpPr>
        <p:spPr>
          <a:xfrm>
            <a:off x="9152915" y="26352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502920" y="4014876"/>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152036"/>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640080" y="4405227"/>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640080" y="4832226"/>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5400086"/>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536351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0923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889099"/>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36351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0923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889099"/>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36351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0923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889099"/>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363510"/>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09230"/>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58842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 chapter-part2d.md §3.7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2673019" cy="308297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a:t>
            </a:r>
          </a:p>
        </p:txBody>
      </p:sp>
      <p:sp>
        <p:nvSpPr>
          <p:cNvPr id="6" name="TextBox 5"/>
          <p:cNvSpPr txBox="1"/>
          <p:nvPr/>
        </p:nvSpPr>
        <p:spPr>
          <a:xfrm>
            <a:off x="640080" y="1725375"/>
            <a:ext cx="2398699"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разрешение втрое → обучение в сорок раз медленнее</a:t>
            </a:r>
          </a:p>
        </p:txBody>
      </p:sp>
      <p:sp>
        <p:nvSpPr>
          <p:cNvPr id="7" name="TextBox 6"/>
          <p:cNvSpPr txBox="1"/>
          <p:nvPr/>
        </p:nvSpPr>
        <p:spPr>
          <a:xfrm>
            <a:off x="640080" y="26785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129 кадров при 768 точках против 256 точек</a:t>
            </a:r>
          </a:p>
        </p:txBody>
      </p:sp>
      <p:sp>
        <p:nvSpPr>
          <p:cNvPr id="8" name="Rounded Rectangle 7"/>
          <p:cNvSpPr/>
          <p:nvPr/>
        </p:nvSpPr>
        <p:spPr>
          <a:xfrm>
            <a:off x="3340531" y="1335024"/>
            <a:ext cx="2673019" cy="308297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БЕРЁТСЯ ИМЕННО СОРОК</a:t>
            </a:r>
          </a:p>
        </p:txBody>
      </p:sp>
      <p:sp>
        <p:nvSpPr>
          <p:cNvPr id="10" name="TextBox 9"/>
          <p:cNvSpPr txBox="1"/>
          <p:nvPr/>
        </p:nvSpPr>
        <p:spPr>
          <a:xfrm>
            <a:off x="3477691" y="1932846"/>
            <a:ext cx="2398699"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между девяткой и восьмьюдесятью</a:t>
            </a:r>
          </a:p>
        </p:txBody>
      </p:sp>
      <p:sp>
        <p:nvSpPr>
          <p:cNvPr id="11" name="TextBox 10"/>
          <p:cNvSpPr txBox="1"/>
          <p:nvPr/>
        </p:nvSpPr>
        <p:spPr>
          <a:xfrm>
            <a:off x="3477691" y="301338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втрое по стороне — вдевятеро по точкам и патчам; внимание квадратично и даёт около восьмидесяти, остальная сеть растёт линейно и разбавляет множитель</a:t>
            </a:r>
          </a:p>
        </p:txBody>
      </p:sp>
      <p:sp>
        <p:nvSpPr>
          <p:cNvPr id="12" name="Rounded Rectangle 11"/>
          <p:cNvSpPr/>
          <p:nvPr/>
        </p:nvSpPr>
        <p:spPr>
          <a:xfrm>
            <a:off x="6178143" y="1335024"/>
            <a:ext cx="2673019" cy="308297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СХОДИТСЯ</a:t>
            </a:r>
          </a:p>
        </p:txBody>
      </p:sp>
      <p:sp>
        <p:nvSpPr>
          <p:cNvPr id="14" name="TextBox 13"/>
          <p:cNvSpPr txBox="1"/>
          <p:nvPr/>
        </p:nvSpPr>
        <p:spPr>
          <a:xfrm>
            <a:off x="6315303" y="1725375"/>
            <a:ext cx="2398699"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арифметика предсказывает порядок, замер подтверждает</a:t>
            </a:r>
          </a:p>
        </p:txBody>
      </p:sp>
      <p:sp>
        <p:nvSpPr>
          <p:cNvPr id="15" name="TextBox 14"/>
          <p:cNvSpPr txBox="1"/>
          <p:nvPr/>
        </p:nvSpPr>
        <p:spPr>
          <a:xfrm>
            <a:off x="6315303" y="250036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сорок лежит ровно там, где и должно для сети, где внимание составляет заметную, но не подавляющую долю вычислений</a:t>
            </a:r>
          </a:p>
        </p:txBody>
      </p:sp>
      <p:sp>
        <p:nvSpPr>
          <p:cNvPr id="16" name="Rounded Rectangle 15"/>
          <p:cNvSpPr/>
          <p:nvPr/>
        </p:nvSpPr>
        <p:spPr>
          <a:xfrm>
            <a:off x="9015755" y="1335024"/>
            <a:ext cx="2673019" cy="308297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18" name="TextBox 17"/>
          <p:cNvSpPr txBox="1"/>
          <p:nvPr/>
        </p:nvSpPr>
        <p:spPr>
          <a:xfrm>
            <a:off x="9152915" y="1725375"/>
            <a:ext cx="2398699"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десятисекундный клип втрое дороже пятисекундного</a:t>
            </a:r>
          </a:p>
        </p:txBody>
      </p:sp>
      <p:sp>
        <p:nvSpPr>
          <p:cNvPr id="19" name="TextBox 18"/>
          <p:cNvSpPr txBox="1"/>
          <p:nvPr/>
        </p:nvSpPr>
        <p:spPr>
          <a:xfrm>
            <a:off x="9152915" y="272952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20" name="Rounded Rectangle 19"/>
          <p:cNvSpPr/>
          <p:nvPr/>
        </p:nvSpPr>
        <p:spPr>
          <a:xfrm>
            <a:off x="502920" y="4582593"/>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719753"/>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22" name="TextBox 21"/>
          <p:cNvSpPr txBox="1"/>
          <p:nvPr/>
        </p:nvSpPr>
        <p:spPr>
          <a:xfrm>
            <a:off x="640080" y="4972944"/>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квадратичность · память · данные</a:t>
            </a:r>
          </a:p>
        </p:txBody>
      </p:sp>
      <p:sp>
        <p:nvSpPr>
          <p:cNvPr id="23" name="TextBox 22"/>
          <p:cNvSpPr txBox="1"/>
          <p:nvPr/>
        </p:nvSpPr>
        <p:spPr>
          <a:xfrm>
            <a:off x="640080" y="539994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 chapter-part2d.md §3.7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673019" cy="2612394"/>
          </a:xfrm>
          <a:prstGeom prst="roundRect">
            <a:avLst>
              <a:gd name="adj" fmla="val 1166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3340531"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4 160 × 24 × 2 = 199 680 $</a:t>
            </a:r>
          </a:p>
        </p:txBody>
      </p:sp>
      <p:sp>
        <p:nvSpPr>
          <p:cNvPr id="11" name="TextBox 10"/>
          <p:cNvSpPr txBox="1"/>
          <p:nvPr/>
        </p:nvSpPr>
        <p:spPr>
          <a:xfrm>
            <a:off x="3477691"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6178143"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6315303" y="23730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9015755"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токенов с 76 000 до 19 000</a:t>
            </a:r>
          </a:p>
        </p:txBody>
      </p:sp>
      <p:sp>
        <p:nvSpPr>
          <p:cNvPr id="19" name="TextBox 18"/>
          <p:cNvSpPr txBox="1"/>
          <p:nvPr/>
        </p:nvSpPr>
        <p:spPr>
          <a:xfrm>
            <a:off x="9152915" y="2542797"/>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502920" y="4112010"/>
            <a:ext cx="11185855"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249170"/>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640080" y="4502361"/>
            <a:ext cx="1091153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640080" y="531978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6098887"/>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6062311"/>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6108031"/>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646907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6062311"/>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6108031"/>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646907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6062311"/>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6108031"/>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646907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6062311"/>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6108031"/>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704957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chapter-part2d.md §3.7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TextBox 19"/>
          <p:cNvSpPr txBox="1"/>
          <p:nvPr/>
        </p:nvSpPr>
        <p:spPr>
          <a:xfrm>
            <a:off x="502920" y="518725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21" name="Rounded Rectangle 20"/>
          <p:cNvSpPr/>
          <p:nvPr/>
        </p:nvSpPr>
        <p:spPr>
          <a:xfrm>
            <a:off x="1920240" y="5150679"/>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5196399"/>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23" name="Rounded Rectangle 22"/>
          <p:cNvSpPr/>
          <p:nvPr/>
        </p:nvSpPr>
        <p:spPr>
          <a:xfrm>
            <a:off x="5225186" y="5150679"/>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5307482" y="5196399"/>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25" name="Rounded Rectangle 24"/>
          <p:cNvSpPr/>
          <p:nvPr/>
        </p:nvSpPr>
        <p:spPr>
          <a:xfrm>
            <a:off x="8530132" y="5150679"/>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12428" y="5196399"/>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27" name="TextBox 26"/>
          <p:cNvSpPr txBox="1"/>
          <p:nvPr/>
        </p:nvSpPr>
        <p:spPr>
          <a:xfrm>
            <a:off x="502920" y="628425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28" name="Rounded Rectangle 27"/>
          <p:cNvSpPr/>
          <p:nvPr/>
        </p:nvSpPr>
        <p:spPr>
          <a:xfrm>
            <a:off x="1920240" y="6247674"/>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6293394"/>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30" name="Rounded Rectangle 29"/>
          <p:cNvSpPr/>
          <p:nvPr/>
        </p:nvSpPr>
        <p:spPr>
          <a:xfrm>
            <a:off x="6877659" y="6247674"/>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6293394"/>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32" name="TextBox 31"/>
          <p:cNvSpPr txBox="1"/>
          <p:nvPr/>
        </p:nvSpPr>
        <p:spPr>
          <a:xfrm>
            <a:off x="502920" y="738124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33" name="Rounded Rectangle 32"/>
          <p:cNvSpPr/>
          <p:nvPr/>
        </p:nvSpPr>
        <p:spPr>
          <a:xfrm>
            <a:off x="1920240" y="7344669"/>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7390389"/>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35" name="Rounded Rectangle 34"/>
          <p:cNvSpPr/>
          <p:nvPr/>
        </p:nvSpPr>
        <p:spPr>
          <a:xfrm>
            <a:off x="6877659" y="7344669"/>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6959955" y="7390389"/>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37" name="TextBox 36"/>
          <p:cNvSpPr txBox="1"/>
          <p:nvPr/>
        </p:nvSpPr>
        <p:spPr>
          <a:xfrm>
            <a:off x="502920" y="847823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Обусловливание на первый кадр</a:t>
            </a:r>
          </a:p>
        </p:txBody>
      </p:sp>
      <p:sp>
        <p:nvSpPr>
          <p:cNvPr id="38" name="Rounded Rectangle 37"/>
          <p:cNvSpPr/>
          <p:nvPr/>
        </p:nvSpPr>
        <p:spPr>
          <a:xfrm>
            <a:off x="1920240" y="8441663"/>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8487383"/>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Условное изображение подставляется, остальные кадры заполнены нулями</a:t>
            </a:r>
          </a:p>
        </p:txBody>
      </p:sp>
      <p:sp>
        <p:nvSpPr>
          <p:cNvPr id="40" name="Rounded Rectangle 39"/>
          <p:cNvSpPr/>
          <p:nvPr/>
        </p:nvSpPr>
        <p:spPr>
          <a:xfrm>
            <a:off x="5225186" y="8441663"/>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5307482" y="8487383"/>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Маска: единица — сохраняемый кадр, ноль — подлежащий генерации</a:t>
            </a:r>
          </a:p>
        </p:txBody>
      </p:sp>
      <p:sp>
        <p:nvSpPr>
          <p:cNvPr id="42" name="Rounded Rectangle 41"/>
          <p:cNvSpPr/>
          <p:nvPr/>
        </p:nvSpPr>
        <p:spPr>
          <a:xfrm>
            <a:off x="8530132" y="8441663"/>
            <a:ext cx="3158642"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8612428" y="8487383"/>
            <a:ext cx="2994050"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переформулирована как достройка пропущенного во времени</a:t>
            </a:r>
          </a:p>
        </p:txBody>
      </p:sp>
      <p:sp>
        <p:nvSpPr>
          <p:cNvPr id="44" name="TextBox 43"/>
          <p:cNvSpPr txBox="1"/>
          <p:nvPr/>
        </p:nvSpPr>
        <p:spPr>
          <a:xfrm>
            <a:off x="502920" y="942893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 chapter-part2d.md §3.8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2673019" cy="2527519"/>
          </a:xfrm>
          <a:prstGeom prst="roundRect">
            <a:avLst>
              <a:gd name="adj" fmla="val 1205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И ОНА ЧЕСТНАЯ</a:t>
            </a:r>
          </a:p>
        </p:txBody>
      </p:sp>
      <p:sp>
        <p:nvSpPr>
          <p:cNvPr id="6" name="TextBox 5"/>
          <p:cNvSpPr txBox="1"/>
          <p:nvPr/>
        </p:nvSpPr>
        <p:spPr>
          <a:xfrm>
            <a:off x="640080" y="1725375"/>
            <a:ext cx="2398699" cy="511873"/>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два дубля одной и той же реальной сцены = 100 %</a:t>
            </a:r>
          </a:p>
        </p:txBody>
      </p:sp>
      <p:sp>
        <p:nvSpPr>
          <p:cNvPr id="7" name="TextBox 6"/>
          <p:cNvSpPr txBox="1"/>
          <p:nvPr/>
        </p:nvSpPr>
        <p:spPr>
          <a:xfrm>
            <a:off x="640080" y="223724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планка показывает, насколько сама реальность повторяет себя; вместо абстрактного идеала — воспроизводимость физического мира</a:t>
            </a:r>
          </a:p>
        </p:txBody>
      </p:sp>
      <p:sp>
        <p:nvSpPr>
          <p:cNvPr id="8" name="Rounded Rectangle 7"/>
          <p:cNvSpPr/>
          <p:nvPr/>
        </p:nvSpPr>
        <p:spPr>
          <a:xfrm>
            <a:off x="3340531" y="1335024"/>
            <a:ext cx="2673019" cy="2527519"/>
          </a:xfrm>
          <a:prstGeom prst="roundRect">
            <a:avLst>
              <a:gd name="adj" fmla="val 1205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ЧЕГО СОБРАНО ИСПЫТАНИЕ</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396 реальных видеозаписей, 66 сценариев, по три ракурса, по два дубля</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проверялись шесть ведущих систем своего времени</a:t>
            </a:r>
          </a:p>
        </p:txBody>
      </p:sp>
      <p:sp>
        <p:nvSpPr>
          <p:cNvPr id="12" name="Rounded Rectangle 11"/>
          <p:cNvSpPr/>
          <p:nvPr/>
        </p:nvSpPr>
        <p:spPr>
          <a:xfrm>
            <a:off x="6178143" y="1335024"/>
            <a:ext cx="2673019" cy="2527519"/>
          </a:xfrm>
          <a:prstGeom prst="roundRect">
            <a:avLst>
              <a:gd name="adj" fmla="val 1205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ЛУЧШЕЙ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29,5 %</a:t>
            </a:r>
          </a:p>
        </p:txBody>
      </p:sp>
      <p:sp>
        <p:nvSpPr>
          <p:cNvPr id="15" name="TextBox 14"/>
          <p:cNvSpPr txBox="1"/>
          <p:nvPr/>
        </p:nvSpPr>
        <p:spPr>
          <a:xfrm>
            <a:off x="6315303" y="2152374"/>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«все оценённые модели показывают большой разрыв… что указывает на серьёзно ограниченное физическое понимание»</a:t>
            </a:r>
          </a:p>
        </p:txBody>
      </p:sp>
      <p:sp>
        <p:nvSpPr>
          <p:cNvPr id="16" name="Rounded Rectangle 15"/>
          <p:cNvSpPr/>
          <p:nvPr/>
        </p:nvSpPr>
        <p:spPr>
          <a:xfrm>
            <a:off x="9015755" y="1335024"/>
            <a:ext cx="2673019" cy="2527519"/>
          </a:xfrm>
          <a:prstGeom prst="roundRect">
            <a:avLst>
              <a:gd name="adj" fmla="val 12059"/>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18" name="TextBox 17"/>
          <p:cNvSpPr txBox="1"/>
          <p:nvPr/>
        </p:nvSpPr>
        <p:spPr>
          <a:xfrm>
            <a:off x="9152915" y="2140317"/>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коэффициент −0,46 при уровне значимости 0,249</a:t>
            </a:r>
          </a:p>
        </p:txBody>
      </p:sp>
      <p:sp>
        <p:nvSpPr>
          <p:cNvPr id="19" name="TextBox 18"/>
          <p:cNvSpPr txBox="1"/>
          <p:nvPr/>
        </p:nvSpPr>
        <p:spPr>
          <a:xfrm>
            <a:off x="9152915" y="2669166"/>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20" name="Rounded Rectangle 19"/>
          <p:cNvSpPr/>
          <p:nvPr/>
        </p:nvSpPr>
        <p:spPr>
          <a:xfrm>
            <a:off x="502920" y="4027135"/>
            <a:ext cx="11185855"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164295"/>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22" name="TextBox 21"/>
          <p:cNvSpPr txBox="1"/>
          <p:nvPr/>
        </p:nvSpPr>
        <p:spPr>
          <a:xfrm>
            <a:off x="640080" y="4417487"/>
            <a:ext cx="1091153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справляются с размазыванием краски по стеклу и выливанием жидкости на резиновую утку</a:t>
            </a:r>
          </a:p>
        </p:txBody>
      </p:sp>
      <p:sp>
        <p:nvSpPr>
          <p:cNvPr id="23" name="TextBox 22"/>
          <p:cNvSpPr txBox="1"/>
          <p:nvPr/>
        </p:nvSpPr>
        <p:spPr>
          <a:xfrm>
            <a:off x="640080" y="523490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24" name="Rounded Rectangle 23"/>
          <p:cNvSpPr/>
          <p:nvPr/>
        </p:nvSpPr>
        <p:spPr>
          <a:xfrm>
            <a:off x="374904" y="5674752"/>
            <a:ext cx="11441887" cy="5614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766192"/>
            <a:ext cx="11112703" cy="470015"/>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Испытание: 396 реальных видеозаписей, 66 сценариев, по три ракурса, по два дубля каждый.</a:t>
            </a:r>
            <a:r>
              <a:rPr sz="850" b="0" i="0">
                <a:solidFill>
                  <a:srgbClr val="21295C"/>
                </a:solidFill>
                <a:latin typeface="Arial"/>
              </a:rPr>
              <a:t> Второй дубль и задаёт верхнюю планку — он показывает, </a:t>
            </a:r>
            <a:r>
              <a:rPr sz="850" b="1" i="0">
                <a:solidFill>
                  <a:srgbClr val="21295C"/>
                </a:solidFill>
                <a:latin typeface="Arial"/>
              </a:rPr>
              <a:t>насколько сама реальность повторяет себя</a:t>
            </a:r>
            <a:r>
              <a:rPr sz="850" b="0" i="0">
                <a:solidFill>
                  <a:srgbClr val="21295C"/>
                </a:solidFill>
                <a:latin typeface="Arial"/>
              </a:rPr>
              <a:t>, и нормируется в сто процентов. База честная: вместо абстрактного идеала — воспроизводимость физического мира.</a:t>
            </a:r>
          </a:p>
          <a:p>
            <a:pPr algn="l">
              <a:lnSpc>
                <a:spcPct val="126000"/>
              </a:lnSpc>
              <a:spcBef>
                <a:spcPts val="700"/>
              </a:spcBef>
            </a:pPr>
            <a:r>
              <a:rPr sz="850" b="0" i="0">
                <a:solidFill>
                  <a:srgbClr val="21295C"/>
                </a:solidFill>
                <a:latin typeface="Arial"/>
              </a:rPr>
              <a:t/>
            </a:r>
            <a:r>
              <a:rPr sz="850" b="1" i="0">
                <a:solidFill>
                  <a:srgbClr val="21295C"/>
                </a:solidFill>
                <a:latin typeface="Arial"/>
              </a:rPr>
              <a:t>Лучшая из шести проверенных моделей набирает 29,5 процента.</a:t>
            </a:r>
          </a:p>
          <a:p>
            <a:pPr algn="l">
              <a:lnSpc>
                <a:spcPct val="126000"/>
              </a:lnSpc>
              <a:spcBef>
                <a:spcPts val="700"/>
              </a:spcBef>
            </a:pPr>
            <a:r>
              <a:rPr sz="850" b="0" i="0">
                <a:solidFill>
                  <a:srgbClr val="21295C"/>
                </a:solidFill>
                <a:latin typeface="Arial"/>
              </a:rPr>
              <a:t/>
            </a:r>
            <a:r>
              <a:rPr sz="850" b="1" i="0">
                <a:solidFill>
                  <a:srgbClr val="21295C"/>
                </a:solidFill>
                <a:latin typeface="Arial"/>
              </a:rPr>
              <a:t>Визуальный реализм не коррелирует с физическим пониманием: коэффициент −0,46 при уровне значимости 0,249, то есть связи нет вовсе.</a:t>
            </a:r>
            <a:r>
              <a:rPr sz="850" b="0" i="0">
                <a:solidFill>
                  <a:srgbClr val="21295C"/>
                </a:solidFill>
                <a:latin typeface="Arial"/>
              </a:rPr>
              <a:t> Более того, видео одной из систем </a:t>
            </a:r>
            <a:r>
              <a:rPr sz="850" b="1" i="0">
                <a:solidFill>
                  <a:srgbClr val="21295C"/>
                </a:solidFill>
                <a:latin typeface="Arial"/>
              </a:rPr>
              <a:t>труднее всего отличить от настоящих</a:t>
            </a:r>
            <a:r>
              <a:rPr sz="850" b="0" i="0">
                <a:solidFill>
                  <a:srgbClr val="21295C"/>
                </a:solidFill>
                <a:latin typeface="Arial"/>
              </a:rPr>
              <a:t> — и это ровно ничего не говорит о том, упадёт ли мяч в ящик.</a:t>
            </a:r>
          </a:p>
          <a:p>
            <a:pPr algn="l">
              <a:lnSpc>
                <a:spcPct val="126000"/>
              </a:lnSpc>
              <a:spcBef>
                <a:spcPts val="700"/>
              </a:spcBef>
            </a:pPr>
            <a:r>
              <a:rPr sz="850" b="0" i="0">
                <a:solidFill>
                  <a:srgbClr val="21295C"/>
                </a:solidFill>
                <a:latin typeface="Arial"/>
              </a:rPr>
              <a:t/>
            </a:r>
            <a:r>
              <a:rPr sz="850" b="1" i="0">
                <a:solidFill>
                  <a:srgbClr val="21295C"/>
                </a:solidFill>
                <a:latin typeface="Arial"/>
              </a:rPr>
              <a:t>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a:t>
            </a:r>
          </a:p>
          <a:p>
            <a:pPr algn="l">
              <a:lnSpc>
                <a:spcPct val="126000"/>
              </a:lnSpc>
              <a:spcBef>
                <a:spcPts val="700"/>
              </a:spcBef>
            </a:pPr>
            <a:r>
              <a:rPr sz="850" b="0" i="0">
                <a:solidFill>
                  <a:srgbClr val="21295C"/>
                </a:solidFill>
                <a:latin typeface="Arial"/>
              </a:rPr>
              <a:t/>
            </a:r>
            <a:r>
              <a:rPr sz="85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 chapter-part2d.md §3.8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673019" cy="274819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27502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3340531" y="1335024"/>
            <a:ext cx="2673019" cy="274819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3477691"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остановлено расширение студии на 800 млн $</a:t>
            </a:r>
          </a:p>
        </p:txBody>
      </p:sp>
      <p:sp>
        <p:nvSpPr>
          <p:cNvPr id="11" name="TextBox 10"/>
          <p:cNvSpPr txBox="1"/>
          <p:nvPr/>
        </p:nvSpPr>
        <p:spPr>
          <a:xfrm>
            <a:off x="3477691" y="265219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6178143" y="1335024"/>
            <a:ext cx="2673019" cy="274819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6315303" y="2373048"/>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9015755" y="1335024"/>
            <a:ext cx="2673019" cy="274819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9152915" y="2140317"/>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9152915" y="2889840"/>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502920" y="4247809"/>
            <a:ext cx="11185855"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38496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640080" y="4638161"/>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преемник назван, путь перехода дан</a:t>
            </a:r>
          </a:p>
        </p:txBody>
      </p:sp>
      <p:sp>
        <p:nvSpPr>
          <p:cNvPr id="23" name="TextBox 22"/>
          <p:cNvSpPr txBox="1"/>
          <p:nvPr/>
        </p:nvSpPr>
        <p:spPr>
          <a:xfrm>
            <a:off x="640080" y="5065160"/>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84426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807687"/>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853407"/>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33327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807687"/>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853407"/>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178906"/>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7142330"/>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188050"/>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66792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7142330"/>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188050"/>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667920"/>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7142330"/>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188050"/>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51355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47697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52269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9002564"/>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47697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52269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9002564"/>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47697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52269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7018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 chapter-part2d.md §3.9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2673019" cy="319614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«AIR HEAD», АПРЕЛЬ 2024</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к 1</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собственная оценка авторов: отношение исходного материала к вошедшему</a:t>
            </a:r>
          </a:p>
        </p:txBody>
      </p:sp>
      <p:sp>
        <p:nvSpPr>
          <p:cNvPr id="8" name="Rounded Rectangle 7"/>
          <p:cNvSpPr/>
          <p:nvPr/>
        </p:nvSpPr>
        <p:spPr>
          <a:xfrm>
            <a:off x="3340531" y="1335024"/>
            <a:ext cx="2673019" cy="319614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БЕЗ КОТОРОЙ ЭТО ЧИСЛО НЕ ЧИТАЕТСЯ</a:t>
            </a:r>
          </a:p>
        </p:txBody>
      </p:sp>
      <p:sp>
        <p:nvSpPr>
          <p:cNvPr id="10" name="TextBox 9"/>
          <p:cNvSpPr txBox="1"/>
          <p:nvPr/>
        </p:nvSpPr>
        <p:spPr>
          <a:xfrm>
            <a:off x="3477691"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десятки к одному в документалистике, около десяти к одному в постановочной рекламе</a:t>
            </a:r>
          </a:p>
        </p:txBody>
      </p:sp>
      <p:sp>
        <p:nvSpPr>
          <p:cNvPr id="11" name="TextBox 10"/>
          <p:cNvSpPr txBox="1"/>
          <p:nvPr/>
        </p:nvSpPr>
        <p:spPr>
          <a:xfrm>
            <a:off x="3477691" y="278421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не изобрела отбор — она увеличила его на порядок-полтора против того режима, которому подражает</a:t>
            </a:r>
          </a:p>
        </p:txBody>
      </p:sp>
      <p:sp>
        <p:nvSpPr>
          <p:cNvPr id="12" name="Rounded Rectangle 11"/>
          <p:cNvSpPr/>
          <p:nvPr/>
        </p:nvSpPr>
        <p:spPr>
          <a:xfrm>
            <a:off x="6178143" y="1335024"/>
            <a:ext cx="2673019" cy="319614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14" name="TextBox 13"/>
          <p:cNvSpPr txBox="1"/>
          <p:nvPr/>
        </p:nvSpPr>
        <p:spPr>
          <a:xfrm>
            <a:off x="6315303" y="1725375"/>
            <a:ext cx="2398699" cy="978684"/>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сотни итеративных планов → пара десятков</a:t>
            </a:r>
          </a:p>
        </p:txBody>
      </p:sp>
      <p:sp>
        <p:nvSpPr>
          <p:cNvPr id="15" name="TextBox 14"/>
          <p:cNvSpPr txBox="1"/>
          <p:nvPr/>
        </p:nvSpPr>
        <p:spPr>
          <a:xfrm>
            <a:off x="6315303" y="270405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шестидесятишестисекундный ролик. Единственное защитимое в публичном поле отношение генераций к годному: названо первоисточником, с именами студии и режиссёра</a:t>
            </a:r>
          </a:p>
        </p:txBody>
      </p:sp>
      <p:sp>
        <p:nvSpPr>
          <p:cNvPr id="16" name="Rounded Rectangle 15"/>
          <p:cNvSpPr/>
          <p:nvPr/>
        </p:nvSpPr>
        <p:spPr>
          <a:xfrm>
            <a:off x="9015755" y="1335024"/>
            <a:ext cx="2673019" cy="319614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это один ролик одной студии</a:t>
            </a:r>
          </a:p>
        </p:txBody>
      </p:sp>
      <p:sp>
        <p:nvSpPr>
          <p:cNvPr id="19" name="TextBox 18"/>
          <p:cNvSpPr txBox="1"/>
          <p:nvPr/>
        </p:nvSpPr>
        <p:spPr>
          <a:xfrm>
            <a:off x="9152915" y="27502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20" name="Rounded Rectangle 19"/>
          <p:cNvSpPr/>
          <p:nvPr/>
        </p:nvSpPr>
        <p:spPr>
          <a:xfrm>
            <a:off x="502920" y="4695759"/>
            <a:ext cx="11185855"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83291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22" name="TextBox 21"/>
          <p:cNvSpPr txBox="1"/>
          <p:nvPr/>
        </p:nvSpPr>
        <p:spPr>
          <a:xfrm>
            <a:off x="640080" y="5086110"/>
            <a:ext cx="1091153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генерации на годный кадр» и «шесть-двенадцать на один удачный»</a:t>
            </a:r>
          </a:p>
        </p:txBody>
      </p:sp>
      <p:sp>
        <p:nvSpPr>
          <p:cNvPr id="23" name="TextBox 22"/>
          <p:cNvSpPr txBox="1"/>
          <p:nvPr/>
        </p:nvSpPr>
        <p:spPr>
          <a:xfrm>
            <a:off x="640080" y="5903532"/>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24" name="Rectangle 23"/>
          <p:cNvSpPr/>
          <p:nvPr/>
        </p:nvSpPr>
        <p:spPr>
          <a:xfrm>
            <a:off x="502920" y="3171351"/>
            <a:ext cx="2788920" cy="252341"/>
          </a:xfrm>
          <a:prstGeom prst="rect">
            <a:avLst/>
          </a:prstGeom>
          <a:solidFill>
            <a:srgbClr val="21295C"/>
          </a:solidFill>
          <a:ln>
            <a:noFill/>
          </a:ln>
          <a:effectLst/>
        </p:spPr>
        <p:txBody>
          <a:bodyPr rtlCol="0" anchor="ctr"/>
          <a:lstStyle/>
          <a:p>
            <a:pPr algn="ctr"/>
          </a:p>
        </p:txBody>
      </p:sp>
      <p:sp>
        <p:nvSpPr>
          <p:cNvPr id="25" name="TextBox 24"/>
          <p:cNvSpPr txBox="1"/>
          <p:nvPr/>
        </p:nvSpPr>
        <p:spPr>
          <a:xfrm>
            <a:off x="566928" y="3235359"/>
            <a:ext cx="2660903"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Тип задачи</a:t>
            </a:r>
          </a:p>
        </p:txBody>
      </p:sp>
      <p:sp>
        <p:nvSpPr>
          <p:cNvPr id="26" name="Rectangle 25"/>
          <p:cNvSpPr/>
          <p:nvPr/>
        </p:nvSpPr>
        <p:spPr>
          <a:xfrm>
            <a:off x="3291839" y="3171351"/>
            <a:ext cx="1679387" cy="252341"/>
          </a:xfrm>
          <a:prstGeom prst="rect">
            <a:avLst/>
          </a:prstGeom>
          <a:solidFill>
            <a:srgbClr val="065A82"/>
          </a:solidFill>
          <a:ln>
            <a:noFill/>
          </a:ln>
          <a:effectLst/>
        </p:spPr>
        <p:txBody>
          <a:bodyPr rtlCol="0" anchor="ctr"/>
          <a:lstStyle/>
          <a:p>
            <a:pPr algn="ctr"/>
          </a:p>
        </p:txBody>
      </p:sp>
      <p:sp>
        <p:nvSpPr>
          <p:cNvPr id="27" name="TextBox 26"/>
          <p:cNvSpPr txBox="1"/>
          <p:nvPr/>
        </p:nvSpPr>
        <p:spPr>
          <a:xfrm>
            <a:off x="3355847"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Изображение</a:t>
            </a:r>
          </a:p>
        </p:txBody>
      </p:sp>
      <p:sp>
        <p:nvSpPr>
          <p:cNvPr id="28" name="Rectangle 27"/>
          <p:cNvSpPr/>
          <p:nvPr/>
        </p:nvSpPr>
        <p:spPr>
          <a:xfrm>
            <a:off x="4971227" y="3171351"/>
            <a:ext cx="1679387" cy="252341"/>
          </a:xfrm>
          <a:prstGeom prst="rect">
            <a:avLst/>
          </a:prstGeom>
          <a:solidFill>
            <a:srgbClr val="065A82"/>
          </a:solidFill>
          <a:ln>
            <a:noFill/>
          </a:ln>
          <a:effectLst/>
        </p:spPr>
        <p:txBody>
          <a:bodyPr rtlCol="0" anchor="ctr"/>
          <a:lstStyle/>
          <a:p>
            <a:pPr algn="ctr"/>
          </a:p>
        </p:txBody>
      </p:sp>
      <p:sp>
        <p:nvSpPr>
          <p:cNvPr id="29" name="TextBox 28"/>
          <p:cNvSpPr txBox="1"/>
          <p:nvPr/>
        </p:nvSpPr>
        <p:spPr>
          <a:xfrm>
            <a:off x="5035235"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Звук</a:t>
            </a:r>
          </a:p>
        </p:txBody>
      </p:sp>
      <p:sp>
        <p:nvSpPr>
          <p:cNvPr id="30" name="Rectangle 29"/>
          <p:cNvSpPr/>
          <p:nvPr/>
        </p:nvSpPr>
        <p:spPr>
          <a:xfrm>
            <a:off x="6650614" y="3171351"/>
            <a:ext cx="1679387" cy="252341"/>
          </a:xfrm>
          <a:prstGeom prst="rect">
            <a:avLst/>
          </a:prstGeom>
          <a:solidFill>
            <a:srgbClr val="065A82"/>
          </a:solidFill>
          <a:ln>
            <a:noFill/>
          </a:ln>
          <a:effectLst/>
        </p:spPr>
        <p:txBody>
          <a:bodyPr rtlCol="0" anchor="ctr"/>
          <a:lstStyle/>
          <a:p>
            <a:pPr algn="ctr"/>
          </a:p>
        </p:txBody>
      </p:sp>
      <p:sp>
        <p:nvSpPr>
          <p:cNvPr id="31" name="TextBox 30"/>
          <p:cNvSpPr txBox="1"/>
          <p:nvPr/>
        </p:nvSpPr>
        <p:spPr>
          <a:xfrm>
            <a:off x="6714622"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Видео</a:t>
            </a:r>
          </a:p>
        </p:txBody>
      </p:sp>
      <p:sp>
        <p:nvSpPr>
          <p:cNvPr id="32" name="Rectangle 31"/>
          <p:cNvSpPr/>
          <p:nvPr/>
        </p:nvSpPr>
        <p:spPr>
          <a:xfrm>
            <a:off x="8330001"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8394009"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Трёхмерное</a:t>
            </a:r>
          </a:p>
        </p:txBody>
      </p:sp>
      <p:sp>
        <p:nvSpPr>
          <p:cNvPr id="34" name="Rectangle 33"/>
          <p:cNvSpPr/>
          <p:nvPr/>
        </p:nvSpPr>
        <p:spPr>
          <a:xfrm>
            <a:off x="10009388"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10073396"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Распознавание</a:t>
            </a:r>
          </a:p>
        </p:txBody>
      </p:sp>
      <p:sp>
        <p:nvSpPr>
          <p:cNvPr id="36" name="Rectangle 35"/>
          <p:cNvSpPr/>
          <p:nvPr/>
        </p:nvSpPr>
        <p:spPr>
          <a:xfrm>
            <a:off x="6650614" y="3373401"/>
            <a:ext cx="1679387" cy="50292"/>
          </a:xfrm>
          <a:prstGeom prst="rect">
            <a:avLst/>
          </a:prstGeom>
          <a:solidFill>
            <a:srgbClr val="F0AB00"/>
          </a:solidFill>
          <a:ln>
            <a:noFill/>
          </a:ln>
          <a:effectLst/>
        </p:spPr>
        <p:txBody>
          <a:bodyPr rtlCol="0" anchor="ctr"/>
          <a:lstStyle/>
          <a:p>
            <a:pPr algn="ctr"/>
          </a:p>
        </p:txBody>
      </p:sp>
      <p:sp>
        <p:nvSpPr>
          <p:cNvPr id="37" name="Rectangle 36"/>
          <p:cNvSpPr/>
          <p:nvPr/>
        </p:nvSpPr>
        <p:spPr>
          <a:xfrm>
            <a:off x="502920" y="3423693"/>
            <a:ext cx="2788920" cy="412979"/>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66928" y="3487701"/>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Породить первое приближение</a:t>
            </a:r>
          </a:p>
          <a:p>
            <a:pPr algn="l">
              <a:lnSpc>
                <a:spcPct val="113000"/>
              </a:lnSpc>
              <a:spcBef>
                <a:spcPts val="200"/>
              </a:spcBef>
            </a:pPr>
            <a:r>
              <a:rPr sz="650" b="0" i="1">
                <a:solidFill>
                  <a:srgbClr val="1C7293"/>
                </a:solidFill>
                <a:latin typeface="Arial"/>
              </a:rPr>
              <a:t>получить варианты облика, пока решение ещё не принято</a:t>
            </a:r>
          </a:p>
        </p:txBody>
      </p:sp>
      <p:sp>
        <p:nvSpPr>
          <p:cNvPr id="39" name="Rectangle 38"/>
          <p:cNvSpPr/>
          <p:nvPr/>
        </p:nvSpPr>
        <p:spPr>
          <a:xfrm>
            <a:off x="3291839"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3355847"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0,034–0,05 $ за изображение</a:t>
            </a:r>
          </a:p>
        </p:txBody>
      </p:sp>
      <p:sp>
        <p:nvSpPr>
          <p:cNvPr id="41" name="Rectangle 40"/>
          <p:cNvSpPr/>
          <p:nvPr/>
        </p:nvSpPr>
        <p:spPr>
          <a:xfrm>
            <a:off x="4971227"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035235"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дубляж 0,03–0,072 $ за минуту</a:t>
            </a:r>
          </a:p>
        </p:txBody>
      </p:sp>
      <p:sp>
        <p:nvSpPr>
          <p:cNvPr id="43" name="Rectangle 42"/>
          <p:cNvSpPr/>
          <p:nvPr/>
        </p:nvSpPr>
        <p:spPr>
          <a:xfrm>
            <a:off x="6650614"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6714622"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цена выпуска ниже в 10–20 раз</a:t>
            </a:r>
          </a:p>
        </p:txBody>
      </p:sp>
      <p:sp>
        <p:nvSpPr>
          <p:cNvPr id="45" name="Rectangle 44"/>
          <p:cNvSpPr/>
          <p:nvPr/>
        </p:nvSpPr>
        <p:spPr>
          <a:xfrm>
            <a:off x="8330001"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10009388"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47" name="Rectangle 46"/>
          <p:cNvSpPr/>
          <p:nvPr/>
        </p:nvSpPr>
        <p:spPr>
          <a:xfrm>
            <a:off x="502920" y="3836672"/>
            <a:ext cx="2788920" cy="412979"/>
          </a:xfrm>
          <a:prstGeom prst="rect">
            <a:avLst/>
          </a:prstGeom>
          <a:solidFill>
            <a:srgbClr val="F4F7FA"/>
          </a:solidFill>
          <a:ln w="9525">
            <a:solidFill>
              <a:srgbClr val="D9E2EC"/>
            </a:solidFill>
          </a:ln>
          <a:effectLst/>
        </p:spPr>
        <p:txBody>
          <a:bodyPr rtlCol="0" anchor="ctr"/>
          <a:lstStyle/>
          <a:p>
            <a:pPr algn="ctr"/>
          </a:p>
        </p:txBody>
      </p:sp>
      <p:sp>
        <p:nvSpPr>
          <p:cNvPr id="48" name="TextBox 47"/>
          <p:cNvSpPr txBox="1"/>
          <p:nvPr/>
        </p:nvSpPr>
        <p:spPr>
          <a:xfrm>
            <a:off x="566928" y="390068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Довести до производственного качества</a:t>
            </a:r>
          </a:p>
          <a:p>
            <a:pPr algn="l">
              <a:lnSpc>
                <a:spcPct val="113000"/>
              </a:lnSpc>
              <a:spcBef>
                <a:spcPts val="200"/>
              </a:spcBef>
            </a:pPr>
            <a:r>
              <a:rPr sz="650" b="0" i="1">
                <a:solidFill>
                  <a:srgbClr val="1C7293"/>
                </a:solidFill>
                <a:latin typeface="Arial"/>
              </a:rPr>
              <a:t>отобрать, доработать и выпустить годное</a:t>
            </a:r>
          </a:p>
        </p:txBody>
      </p:sp>
      <p:sp>
        <p:nvSpPr>
          <p:cNvPr id="49" name="Rectangle 48"/>
          <p:cNvSpPr/>
          <p:nvPr/>
        </p:nvSpPr>
        <p:spPr>
          <a:xfrm>
            <a:off x="3291839"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3355847"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адаптеры и ручная правка</a:t>
            </a:r>
          </a:p>
        </p:txBody>
      </p:sp>
      <p:sp>
        <p:nvSpPr>
          <p:cNvPr id="51" name="Rectangle 50"/>
          <p:cNvSpPr/>
          <p:nvPr/>
        </p:nvSpPr>
        <p:spPr>
          <a:xfrm>
            <a:off x="4971227"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5035235"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ручная правка дикции</a:t>
            </a:r>
          </a:p>
        </p:txBody>
      </p:sp>
      <p:sp>
        <p:nvSpPr>
          <p:cNvPr id="53" name="Rectangle 52"/>
          <p:cNvSpPr/>
          <p:nvPr/>
        </p:nvSpPr>
        <p:spPr>
          <a:xfrm>
            <a:off x="6650614"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6714622"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ручной отбор и склейка</a:t>
            </a:r>
          </a:p>
        </p:txBody>
      </p:sp>
      <p:sp>
        <p:nvSpPr>
          <p:cNvPr id="55" name="Rectangle 54"/>
          <p:cNvSpPr/>
          <p:nvPr/>
        </p:nvSpPr>
        <p:spPr>
          <a:xfrm>
            <a:off x="8330001"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10009388"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502920" y="4249652"/>
            <a:ext cx="2788920" cy="412979"/>
          </a:xfrm>
          <a:prstGeom prst="rect">
            <a:avLst/>
          </a:prstGeom>
          <a:solidFill>
            <a:srgbClr val="FFFFFF"/>
          </a:solidFill>
          <a:ln w="9525">
            <a:solidFill>
              <a:srgbClr val="D9E2EC"/>
            </a:solidFill>
          </a:ln>
          <a:effectLst/>
        </p:spPr>
        <p:txBody>
          <a:bodyPr rtlCol="0" anchor="ctr"/>
          <a:lstStyle/>
          <a:p>
            <a:pPr algn="ctr"/>
          </a:p>
        </p:txBody>
      </p:sp>
      <p:sp>
        <p:nvSpPr>
          <p:cNvPr id="58" name="TextBox 57"/>
          <p:cNvSpPr txBox="1"/>
          <p:nvPr/>
        </p:nvSpPr>
        <p:spPr>
          <a:xfrm>
            <a:off x="566928" y="431366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Восстановить существующее</a:t>
            </a:r>
          </a:p>
          <a:p>
            <a:pPr algn="l">
              <a:lnSpc>
                <a:spcPct val="113000"/>
              </a:lnSpc>
              <a:spcBef>
                <a:spcPts val="200"/>
              </a:spcBef>
            </a:pPr>
            <a:r>
              <a:rPr sz="650" b="0" i="1">
                <a:solidFill>
                  <a:srgbClr val="1C7293"/>
                </a:solidFill>
                <a:latin typeface="Arial"/>
              </a:rPr>
              <a:t>вытащить то, что уже записано, но читается плохо</a:t>
            </a:r>
          </a:p>
        </p:txBody>
      </p:sp>
      <p:sp>
        <p:nvSpPr>
          <p:cNvPr id="59" name="Rectangle 58"/>
          <p:cNvSpPr/>
          <p:nvPr/>
        </p:nvSpPr>
        <p:spPr>
          <a:xfrm>
            <a:off x="3291839"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3355847"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повышение разрешения архива</a:t>
            </a:r>
          </a:p>
        </p:txBody>
      </p:sp>
      <p:sp>
        <p:nvSpPr>
          <p:cNvPr id="61" name="Rectangle 60"/>
          <p:cNvSpPr/>
          <p:nvPr/>
        </p:nvSpPr>
        <p:spPr>
          <a:xfrm>
            <a:off x="4971227"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5035235"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разделение источников</a:t>
            </a:r>
          </a:p>
        </p:txBody>
      </p:sp>
      <p:sp>
        <p:nvSpPr>
          <p:cNvPr id="63" name="Rectangle 62"/>
          <p:cNvSpPr/>
          <p:nvPr/>
        </p:nvSpPr>
        <p:spPr>
          <a:xfrm>
            <a:off x="6650614"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6714622"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интерполяция кадров</a:t>
            </a:r>
          </a:p>
        </p:txBody>
      </p:sp>
      <p:sp>
        <p:nvSpPr>
          <p:cNvPr id="65" name="Rectangle 64"/>
          <p:cNvSpPr/>
          <p:nvPr/>
        </p:nvSpPr>
        <p:spPr>
          <a:xfrm>
            <a:off x="8330001"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502920" y="4662631"/>
            <a:ext cx="2788920" cy="412979"/>
          </a:xfrm>
          <a:prstGeom prst="rect">
            <a:avLst/>
          </a:prstGeom>
          <a:solidFill>
            <a:srgbClr val="F4F7FA"/>
          </a:solidFill>
          <a:ln w="9525">
            <a:solidFill>
              <a:srgbClr val="D9E2EC"/>
            </a:solidFill>
          </a:ln>
          <a:effectLst/>
        </p:spPr>
        <p:txBody>
          <a:bodyPr rtlCol="0" anchor="ctr"/>
          <a:lstStyle/>
          <a:p>
            <a:pPr algn="ctr"/>
          </a:p>
        </p:txBody>
      </p:sp>
      <p:sp>
        <p:nvSpPr>
          <p:cNvPr id="68" name="TextBox 67"/>
          <p:cNvSpPr txBox="1"/>
          <p:nvPr/>
        </p:nvSpPr>
        <p:spPr>
          <a:xfrm>
            <a:off x="566928" y="472663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Соблюсти точные величины</a:t>
            </a:r>
          </a:p>
          <a:p>
            <a:pPr algn="l">
              <a:lnSpc>
                <a:spcPct val="113000"/>
              </a:lnSpc>
              <a:spcBef>
                <a:spcPts val="200"/>
              </a:spcBef>
            </a:pPr>
            <a:r>
              <a:rPr sz="650" b="0" i="1">
                <a:solidFill>
                  <a:srgbClr val="1C7293"/>
                </a:solidFill>
                <a:latin typeface="Arial"/>
              </a:rPr>
              <a:t>размеры, допуски, проверяемые условия</a:t>
            </a:r>
          </a:p>
        </p:txBody>
      </p:sp>
      <p:sp>
        <p:nvSpPr>
          <p:cNvPr id="69" name="Rectangle 68"/>
          <p:cNvSpPr/>
          <p:nvPr/>
        </p:nvSpPr>
        <p:spPr>
          <a:xfrm>
            <a:off x="3291839"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3355847"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71" name="Rectangle 70"/>
          <p:cNvSpPr/>
          <p:nvPr/>
        </p:nvSpPr>
        <p:spPr>
          <a:xfrm>
            <a:off x="4971227"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5035235"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длина задана до запуска</a:t>
            </a:r>
          </a:p>
        </p:txBody>
      </p:sp>
      <p:sp>
        <p:nvSpPr>
          <p:cNvPr id="73" name="Rectangle 72"/>
          <p:cNvSpPr/>
          <p:nvPr/>
        </p:nvSpPr>
        <p:spPr>
          <a:xfrm>
            <a:off x="6650614"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6714622"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физика выучена как корреляция</a:t>
            </a:r>
          </a:p>
        </p:txBody>
      </p:sp>
      <p:sp>
        <p:nvSpPr>
          <p:cNvPr id="75" name="Rectangle 74"/>
          <p:cNvSpPr/>
          <p:nvPr/>
        </p:nvSpPr>
        <p:spPr>
          <a:xfrm>
            <a:off x="8330001"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10009388"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502920" y="5075611"/>
            <a:ext cx="2788920" cy="412979"/>
          </a:xfrm>
          <a:prstGeom prst="rect">
            <a:avLst/>
          </a:prstGeom>
          <a:solidFill>
            <a:srgbClr val="FFFFFF"/>
          </a:solidFill>
          <a:ln w="9525">
            <a:solidFill>
              <a:srgbClr val="D9E2EC"/>
            </a:solidFill>
          </a:ln>
          <a:effectLst/>
        </p:spPr>
        <p:txBody>
          <a:bodyPr rtlCol="0" anchor="ctr"/>
          <a:lstStyle/>
          <a:p>
            <a:pPr algn="ctr"/>
          </a:p>
        </p:txBody>
      </p:sp>
      <p:sp>
        <p:nvSpPr>
          <p:cNvPr id="78" name="TextBox 77"/>
          <p:cNvSpPr txBox="1"/>
          <p:nvPr/>
        </p:nvSpPr>
        <p:spPr>
          <a:xfrm>
            <a:off x="566928" y="513961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Уложиться в бюджет реального времени</a:t>
            </a:r>
          </a:p>
          <a:p>
            <a:pPr algn="l">
              <a:lnSpc>
                <a:spcPct val="113000"/>
              </a:lnSpc>
              <a:spcBef>
                <a:spcPts val="200"/>
              </a:spcBef>
            </a:pPr>
            <a:r>
              <a:rPr sz="650" b="0" i="1">
                <a:solidFill>
                  <a:srgbClr val="1C7293"/>
                </a:solidFill>
                <a:latin typeface="Arial"/>
              </a:rPr>
              <a:t>успеть к сроку кадра, а не к сроку задачи</a:t>
            </a:r>
          </a:p>
        </p:txBody>
      </p:sp>
      <p:sp>
        <p:nvSpPr>
          <p:cNvPr id="79" name="Rectangle 78"/>
          <p:cNvSpPr/>
          <p:nvPr/>
        </p:nvSpPr>
        <p:spPr>
          <a:xfrm>
            <a:off x="3291839"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80" name="TextBox 79"/>
          <p:cNvSpPr txBox="1"/>
          <p:nvPr/>
        </p:nvSpPr>
        <p:spPr>
          <a:xfrm>
            <a:off x="3355847"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81" name="Rectangle 80"/>
          <p:cNvSpPr/>
          <p:nvPr/>
        </p:nvSpPr>
        <p:spPr>
          <a:xfrm>
            <a:off x="4971227"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82" name="TextBox 81"/>
          <p:cNvSpPr txBox="1"/>
          <p:nvPr/>
        </p:nvSpPr>
        <p:spPr>
          <a:xfrm>
            <a:off x="5035235"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83" name="Rectangle 82"/>
          <p:cNvSpPr/>
          <p:nvPr/>
        </p:nvSpPr>
        <p:spPr>
          <a:xfrm>
            <a:off x="6650614"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84" name="TextBox 83"/>
          <p:cNvSpPr txBox="1"/>
          <p:nvPr/>
        </p:nvSpPr>
        <p:spPr>
          <a:xfrm>
            <a:off x="6714622"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в кадровый бюджет не укладывается</a:t>
            </a:r>
          </a:p>
        </p:txBody>
      </p:sp>
      <p:sp>
        <p:nvSpPr>
          <p:cNvPr id="85" name="Rectangle 84"/>
          <p:cNvSpPr/>
          <p:nvPr/>
        </p:nvSpPr>
        <p:spPr>
          <a:xfrm>
            <a:off x="8330001"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87" name="Rectangle 86"/>
          <p:cNvSpPr/>
          <p:nvPr/>
        </p:nvSpPr>
        <p:spPr>
          <a:xfrm>
            <a:off x="502920" y="5488590"/>
            <a:ext cx="2788920" cy="412979"/>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566928" y="5552598"/>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Ответить «кто отвечает»</a:t>
            </a:r>
          </a:p>
          <a:p>
            <a:pPr algn="l">
              <a:lnSpc>
                <a:spcPct val="113000"/>
              </a:lnSpc>
              <a:spcBef>
                <a:spcPts val="200"/>
              </a:spcBef>
            </a:pPr>
            <a:r>
              <a:rPr sz="650" b="0" i="1">
                <a:solidFill>
                  <a:srgbClr val="1C7293"/>
                </a:solidFill>
                <a:latin typeface="Arial"/>
              </a:rPr>
              <a:t>происхождение, права, подпись под результатом</a:t>
            </a:r>
          </a:p>
        </p:txBody>
      </p:sp>
      <p:sp>
        <p:nvSpPr>
          <p:cNvPr id="89" name="Rectangle 88"/>
          <p:cNvSpPr/>
          <p:nvPr/>
        </p:nvSpPr>
        <p:spPr>
          <a:xfrm>
            <a:off x="3291839"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0" name="TextBox 89"/>
          <p:cNvSpPr txBox="1"/>
          <p:nvPr/>
        </p:nvSpPr>
        <p:spPr>
          <a:xfrm>
            <a:off x="3355847"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91" name="Rectangle 90"/>
          <p:cNvSpPr/>
          <p:nvPr/>
        </p:nvSpPr>
        <p:spPr>
          <a:xfrm>
            <a:off x="4971227"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2" name="TextBox 91"/>
          <p:cNvSpPr txBox="1"/>
          <p:nvPr/>
        </p:nvSpPr>
        <p:spPr>
          <a:xfrm>
            <a:off x="5035235"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93" name="Rectangle 92"/>
          <p:cNvSpPr/>
          <p:nvPr/>
        </p:nvSpPr>
        <p:spPr>
          <a:xfrm>
            <a:off x="6650614"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4" name="TextBox 93"/>
          <p:cNvSpPr txBox="1"/>
          <p:nvPr/>
        </p:nvSpPr>
        <p:spPr>
          <a:xfrm>
            <a:off x="6714622"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95" name="Rectangle 94"/>
          <p:cNvSpPr/>
          <p:nvPr/>
        </p:nvSpPr>
        <p:spPr>
          <a:xfrm>
            <a:off x="8330001"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6" name="Rectangle 95"/>
          <p:cNvSpPr/>
          <p:nvPr/>
        </p:nvSpPr>
        <p:spPr>
          <a:xfrm>
            <a:off x="10009388"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7" name="Rounded Rectangle 96"/>
          <p:cNvSpPr/>
          <p:nvPr/>
        </p:nvSpPr>
        <p:spPr>
          <a:xfrm>
            <a:off x="502920" y="5983866"/>
            <a:ext cx="11185855" cy="252341"/>
          </a:xfrm>
          <a:prstGeom prst="roundRect">
            <a:avLst>
              <a:gd name="adj" fmla="val 14000"/>
            </a:avLst>
          </a:prstGeom>
          <a:solidFill>
            <a:srgbClr val="FEF5E0"/>
          </a:solidFill>
          <a:ln>
            <a:noFill/>
          </a:ln>
          <a:effectLst/>
        </p:spPr>
        <p:txBody>
          <a:bodyPr rtlCol="0" anchor="ctr"/>
          <a:lstStyle/>
          <a:p>
            <a:pPr algn="ctr"/>
          </a:p>
        </p:txBody>
      </p:sp>
      <p:sp>
        <p:nvSpPr>
          <p:cNvPr id="98" name="Rectangle 97"/>
          <p:cNvSpPr/>
          <p:nvPr/>
        </p:nvSpPr>
        <p:spPr>
          <a:xfrm>
            <a:off x="502920" y="5983866"/>
            <a:ext cx="68580" cy="252341"/>
          </a:xfrm>
          <a:prstGeom prst="rect">
            <a:avLst/>
          </a:prstGeom>
          <a:solidFill>
            <a:srgbClr val="F0AB00"/>
          </a:solidFill>
          <a:ln>
            <a:noFill/>
          </a:ln>
          <a:effectLst/>
        </p:spPr>
        <p:txBody>
          <a:bodyPr rtlCol="0" anchor="ctr"/>
          <a:lstStyle/>
          <a:p>
            <a:pPr algn="ctr"/>
          </a:p>
        </p:txBody>
      </p:sp>
      <p:sp>
        <p:nvSpPr>
          <p:cNvPr id="99" name="TextBox 98"/>
          <p:cNvSpPr txBox="1"/>
          <p:nvPr/>
        </p:nvSpPr>
        <p:spPr>
          <a:xfrm>
            <a:off x="685800" y="6047874"/>
            <a:ext cx="10783519" cy="124325"/>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АДРЕС ПЛАТЕЖА   Изображение — отбор, права · Звук — права, узнавание · Видео — отбор</a:t>
            </a:r>
          </a:p>
        </p:txBody>
      </p:sp>
      <p:sp>
        <p:nvSpPr>
          <p:cNvPr id="100" name="Rectangle 9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1" name="TextBox 10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 chapter-part2d.md §3.9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4. Трёхмерная сцена и реальное время</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7" name="TextBox 6"/>
          <p:cNvSpPr txBox="1"/>
          <p:nvPr/>
        </p:nvSpPr>
        <p:spPr>
          <a:xfrm>
            <a:off x="704088" y="2915422"/>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8" name="TextBox 7"/>
          <p:cNvSpPr txBox="1"/>
          <p:nvPr/>
        </p:nvSpPr>
        <p:spPr>
          <a:xfrm>
            <a:off x="704088" y="368419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chapter-part3.md §§ 4.1–4.7; chapter-part3b.md §§ 4.8–4.14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16,7 миллисекунды</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четыре-пять порядков</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TextBox 15"/>
          <p:cNvSpPr txBox="1"/>
          <p:nvPr/>
        </p:nvSpPr>
        <p:spPr>
          <a:xfrm>
            <a:off x="502920" y="33219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17" name="Rounded Rectangle 16"/>
          <p:cNvSpPr/>
          <p:nvPr/>
        </p:nvSpPr>
        <p:spPr>
          <a:xfrm>
            <a:off x="1920240" y="32853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19" name="Right Arrow 18"/>
          <p:cNvSpPr/>
          <p:nvPr/>
        </p:nvSpPr>
        <p:spPr>
          <a:xfrm>
            <a:off x="5039258" y="369208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22" name="Right Arrow 21"/>
          <p:cNvSpPr/>
          <p:nvPr/>
        </p:nvSpPr>
        <p:spPr>
          <a:xfrm>
            <a:off x="8386876" y="369208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25" name="TextBox 24"/>
          <p:cNvSpPr txBox="1"/>
          <p:nvPr/>
        </p:nvSpPr>
        <p:spPr>
          <a:xfrm>
            <a:off x="502920" y="441889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26" name="Rounded Rectangle 25"/>
          <p:cNvSpPr/>
          <p:nvPr/>
        </p:nvSpPr>
        <p:spPr>
          <a:xfrm>
            <a:off x="1920240" y="438231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28" name="Right Arrow 27"/>
          <p:cNvSpPr/>
          <p:nvPr/>
        </p:nvSpPr>
        <p:spPr>
          <a:xfrm>
            <a:off x="4202353" y="478908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8231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513249" y="442803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31" name="Right Arrow 30"/>
          <p:cNvSpPr/>
          <p:nvPr/>
        </p:nvSpPr>
        <p:spPr>
          <a:xfrm>
            <a:off x="6713067" y="478908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8231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42803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34" name="Right Arrow 33"/>
          <p:cNvSpPr/>
          <p:nvPr/>
        </p:nvSpPr>
        <p:spPr>
          <a:xfrm>
            <a:off x="9223781" y="478908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8231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42803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37" name="TextBox 36"/>
          <p:cNvSpPr txBox="1"/>
          <p:nvPr/>
        </p:nvSpPr>
        <p:spPr>
          <a:xfrm>
            <a:off x="502920" y="551589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38" name="Rounded Rectangle 37"/>
          <p:cNvSpPr/>
          <p:nvPr/>
        </p:nvSpPr>
        <p:spPr>
          <a:xfrm>
            <a:off x="1920240" y="547931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552503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40" name="Right Arrow 39"/>
          <p:cNvSpPr/>
          <p:nvPr/>
        </p:nvSpPr>
        <p:spPr>
          <a:xfrm>
            <a:off x="6713067" y="5886079"/>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6941667" y="547931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7023963" y="552503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43" name="TextBox 42"/>
          <p:cNvSpPr txBox="1"/>
          <p:nvPr/>
        </p:nvSpPr>
        <p:spPr>
          <a:xfrm>
            <a:off x="502920" y="64665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44" name="Rounded Rectangle 43"/>
          <p:cNvSpPr/>
          <p:nvPr/>
        </p:nvSpPr>
        <p:spPr>
          <a:xfrm>
            <a:off x="502920" y="686070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45" name="TextBox 44"/>
          <p:cNvSpPr txBox="1"/>
          <p:nvPr/>
        </p:nvSpPr>
        <p:spPr>
          <a:xfrm>
            <a:off x="667512" y="70161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классических способов получить данные</a:t>
            </a:r>
          </a:p>
        </p:txBody>
      </p:sp>
      <p:sp>
        <p:nvSpPr>
          <p:cNvPr id="46" name="TextBox 45"/>
          <p:cNvSpPr txBox="1"/>
          <p:nvPr/>
        </p:nvSpPr>
        <p:spPr>
          <a:xfrm>
            <a:off x="667512" y="737233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фотограмметрия: обход с камерой, сотни кадров с перекрытием; побочный продукт — разреженное облако точек</a:t>
            </a:r>
          </a:p>
          <a:p>
            <a:pPr algn="l">
              <a:lnSpc>
                <a:spcPct val="126000"/>
              </a:lnSpc>
            </a:pPr>
            <a:r>
              <a:rPr sz="900" b="0" i="0">
                <a:solidFill>
                  <a:srgbClr val="21295C"/>
                </a:solidFill>
                <a:latin typeface="Arial"/>
              </a:rPr>
              <a:t>• лазерное сканирование: прибор меряет расстояние, точнее по геометрии и беднее по цвету</a:t>
            </a:r>
          </a:p>
          <a:p>
            <a:pPr algn="l">
              <a:lnSpc>
                <a:spcPct val="126000"/>
              </a:lnSpc>
            </a:pPr>
            <a:r>
              <a:rPr sz="900" b="0" i="0">
                <a:solidFill>
                  <a:srgbClr val="21295C"/>
                </a:solidFill>
                <a:latin typeface="Arial"/>
              </a:rPr>
              <a:t>• ручное моделирование в редакторе — единственный способ получить объект, которого не существует</a:t>
            </a:r>
          </a:p>
          <a:p>
            <a:pPr algn="l">
              <a:lnSpc>
                <a:spcPct val="126000"/>
              </a:lnSpc>
            </a:pPr>
            <a:r>
              <a:rPr sz="900" b="0" i="0">
                <a:solidFill>
                  <a:srgbClr val="21295C"/>
                </a:solidFill>
                <a:latin typeface="Arial"/>
              </a:rPr>
              <a:t>• захват движения: даёт изменение формы во времени</a:t>
            </a:r>
          </a:p>
          <a:p>
            <a:pPr algn="l">
              <a:lnSpc>
                <a:spcPct val="126000"/>
              </a:lnSpc>
            </a:pPr>
            <a:r>
              <a:rPr sz="900" b="0" i="0">
                <a:solidFill>
                  <a:srgbClr val="21295C"/>
                </a:solidFill>
                <a:latin typeface="Arial"/>
              </a:rPr>
              <a:t>• готовые библиотеки: самый дешёвый путь и самый узкий</a:t>
            </a:r>
          </a:p>
        </p:txBody>
      </p:sp>
      <p:sp>
        <p:nvSpPr>
          <p:cNvPr id="47" name="Rounded Rectangle 46"/>
          <p:cNvSpPr/>
          <p:nvPr/>
        </p:nvSpPr>
        <p:spPr>
          <a:xfrm>
            <a:off x="6251295" y="686070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48" name="TextBox 47"/>
          <p:cNvSpPr txBox="1"/>
          <p:nvPr/>
        </p:nvSpPr>
        <p:spPr>
          <a:xfrm>
            <a:off x="6415887" y="70161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из этого тронула модель</a:t>
            </a:r>
          </a:p>
        </p:txBody>
      </p:sp>
      <p:sp>
        <p:nvSpPr>
          <p:cNvPr id="49" name="TextBox 48"/>
          <p:cNvSpPr txBox="1"/>
          <p:nvPr/>
        </p:nvSpPr>
        <p:spPr>
          <a:xfrm>
            <a:off x="6415887" y="737233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добавила шестой вход — текстовое описание</a:t>
            </a:r>
          </a:p>
          <a:p>
            <a:pPr algn="l">
              <a:lnSpc>
                <a:spcPct val="126000"/>
              </a:lnSpc>
            </a:pPr>
            <a:r>
              <a:rPr sz="900" b="0" i="0">
                <a:solidFill>
                  <a:srgbClr val="21295C"/>
                </a:solidFill>
                <a:latin typeface="Arial"/>
              </a:rPr>
              <a:t>• удешевила первый: набор снимков превращается в сцену за минуты вместо суток</a:t>
            </a:r>
          </a:p>
          <a:p>
            <a:pPr algn="l">
              <a:lnSpc>
                <a:spcPct val="126000"/>
              </a:lnSpc>
            </a:pPr>
            <a:r>
              <a:rPr sz="900" b="0" i="0">
                <a:solidFill>
                  <a:srgbClr val="21295C"/>
                </a:solidFill>
                <a:latin typeface="Arial"/>
              </a:rPr>
              <a:t>• остальные четыре оставила как были</a:t>
            </a:r>
          </a:p>
          <a:p>
            <a:pPr algn="l">
              <a:lnSpc>
                <a:spcPct val="126000"/>
              </a:lnSpc>
            </a:pPr>
            <a:r>
              <a:rPr sz="900" b="0" i="0">
                <a:solidFill>
                  <a:srgbClr val="21295C"/>
                </a:solidFill>
                <a:latin typeface="Arial"/>
              </a:rPr>
              <a:t>• лазерный сканер как мерил размеры, так и мерит, и дальше станет понятно, почему это важнее, чем кажется</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1" name="TextBox 5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chapter-part3.md §§ 4.1–4.6; Mildenhall et al., ECCV 2020, arXiv:2003.08934; QuadGPT, arXiv:2509.21420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плёнка 1939 года, кадр 4:3</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свыше 90% кадра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502920" y="2665369"/>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640080" y="34827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78143" y="2665369"/>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315303" y="3055721"/>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19" name="TextBox 18"/>
          <p:cNvSpPr txBox="1"/>
          <p:nvPr/>
        </p:nvSpPr>
        <p:spPr>
          <a:xfrm>
            <a:off x="6315303" y="34827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502920" y="4225247"/>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380695"/>
            <a:ext cx="5108295"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Два классических режима — оба названы, ни один не посчитан</a:t>
            </a:r>
          </a:p>
        </p:txBody>
      </p:sp>
      <p:sp>
        <p:nvSpPr>
          <p:cNvPr id="22" name="TextBox 21"/>
          <p:cNvSpPr txBox="1"/>
          <p:nvPr/>
        </p:nvSpPr>
        <p:spPr>
          <a:xfrm>
            <a:off x="667512" y="4983324"/>
            <a:ext cx="5108295" cy="50379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реставрация и доработка под купол обычным путём: практика существует, стоимости в источниках нет</a:t>
            </a:r>
          </a:p>
          <a:p>
            <a:pPr algn="l">
              <a:lnSpc>
                <a:spcPct val="126000"/>
              </a:lnSpc>
            </a:pPr>
            <a:r>
              <a:rPr sz="900" b="0" i="0">
                <a:solidFill>
                  <a:srgbClr val="21295C"/>
                </a:solidFill>
                <a:latin typeface="Arial"/>
              </a:rPr>
              <a:t>• показать оригинальный кадр 4:3 без достройки, оставив остальной экран тёмным: назван самими авторами как рассмотренный и отвергнутый, числа тоже нет</a:t>
            </a:r>
          </a:p>
          <a:p>
            <a:pPr algn="l">
              <a:lnSpc>
                <a:spcPct val="126000"/>
              </a:lnSpc>
            </a:pPr>
            <a:r>
              <a:rPr sz="900" b="0" i="0">
                <a:solidFill>
                  <a:srgbClr val="21295C"/>
                </a:solidFill>
                <a:latin typeface="Arial"/>
              </a:rPr>
              <a:t>• поэтому выигрыш не объявляется вовсе: посчитанный от нуля, он ничего не измеряет</a:t>
            </a:r>
          </a:p>
        </p:txBody>
      </p:sp>
      <p:sp>
        <p:nvSpPr>
          <p:cNvPr id="23" name="Rounded Rectangle 22"/>
          <p:cNvSpPr/>
          <p:nvPr/>
        </p:nvSpPr>
        <p:spPr>
          <a:xfrm>
            <a:off x="6251295" y="4225247"/>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38069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Как это сделано</a:t>
            </a:r>
          </a:p>
        </p:txBody>
      </p:sp>
      <p:sp>
        <p:nvSpPr>
          <p:cNvPr id="25" name="TextBox 24"/>
          <p:cNvSpPr txBox="1"/>
          <p:nvPr/>
        </p:nvSpPr>
        <p:spPr>
          <a:xfrm>
            <a:off x="6415887" y="473687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вход — исходная плёнка 1939 года; выход — изображение под сферический экран</a:t>
            </a:r>
          </a:p>
          <a:p>
            <a:pPr algn="l">
              <a:lnSpc>
                <a:spcPct val="126000"/>
              </a:lnSpc>
            </a:pPr>
            <a:r>
              <a:rPr sz="900" b="0" i="0">
                <a:solidFill>
                  <a:srgbClr val="21295C"/>
                </a:solidFill>
                <a:latin typeface="Arial"/>
              </a:rPr>
              <a:t>• Imagen, Veo и Gemini (Google DeepMind и Google Cloud) для достройки и дорисовки</a:t>
            </a:r>
          </a:p>
          <a:p>
            <a:pPr algn="l">
              <a:lnSpc>
                <a:spcPct val="126000"/>
              </a:lnSpc>
            </a:pPr>
            <a:r>
              <a:rPr sz="900" b="0" i="0">
                <a:solidFill>
                  <a:srgbClr val="21295C"/>
                </a:solidFill>
                <a:latin typeface="Arial"/>
              </a:rPr>
              <a:t>• Topaz Video AI для повышения разрешения и работы с зерном; права — Warner Bros.</a:t>
            </a:r>
          </a:p>
          <a:p>
            <a:pPr algn="l">
              <a:lnSpc>
                <a:spcPct val="126000"/>
              </a:lnSpc>
            </a:pPr>
            <a:r>
              <a:rPr sz="900" b="0" i="0">
                <a:solidFill>
                  <a:srgbClr val="21295C"/>
                </a:solidFill>
                <a:latin typeface="Arial"/>
              </a:rPr>
              <a:t>• партитура Герберта Стотхарта перезаписана, добавлены эффекты зала</a:t>
            </a:r>
          </a:p>
          <a:p>
            <a:pPr algn="l">
              <a:lnSpc>
                <a:spcPct val="126000"/>
              </a:lnSpc>
            </a:pPr>
            <a:r>
              <a:rPr sz="900" b="0" i="0">
                <a:solidFill>
                  <a:srgbClr val="21295C"/>
                </a:solidFill>
                <a:latin typeface="Arial"/>
              </a:rPr>
              <a:t>• на чём обучены применённые модели — не раскрыто; кто и по какому порогу решал покадрово «достраивать или нет» — не описано ни в одном доступном источнике</a:t>
            </a:r>
          </a:p>
        </p:txBody>
      </p:sp>
      <p:sp>
        <p:nvSpPr>
          <p:cNvPr id="26" name="Rounded Rectangle 25"/>
          <p:cNvSpPr/>
          <p:nvPr/>
        </p:nvSpPr>
        <p:spPr>
          <a:xfrm>
            <a:off x="374904" y="5734007"/>
            <a:ext cx="11441887" cy="5022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825447"/>
            <a:ext cx="11112703" cy="41076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Фильм Виктора Флеминга 1939 года показывают на сферическом экране в Лас-Вегасе. Кадр 4:3 достроен моделью по сторонам: тронуто свыше 90 процентов кадра</a:t>
            </a:r>
            <a:r>
              <a:rPr sz="850" b="0" i="0">
                <a:solidFill>
                  <a:srgbClr val="21295C"/>
                </a:solidFill>
                <a:latin typeface="Arial"/>
              </a:rPr>
              <a:t> — продолжения декораций, края толпы, куски неба и дороги, которых в 1939 году не снимали.</a:t>
            </a:r>
          </a:p>
          <a:p>
            <a:pPr algn="l">
              <a:lnSpc>
                <a:spcPct val="126000"/>
              </a:lnSpc>
              <a:spcBef>
                <a:spcPts val="700"/>
              </a:spcBef>
            </a:pPr>
            <a:r>
              <a:rPr sz="850" b="0" i="0">
                <a:solidFill>
                  <a:srgbClr val="21295C"/>
                </a:solidFill>
                <a:latin typeface="Arial"/>
              </a:rPr>
              <a:t/>
            </a:r>
            <a:r>
              <a:rPr sz="850" b="1" i="0">
                <a:solidFill>
                  <a:srgbClr val="21295C"/>
                </a:solidFill>
                <a:latin typeface="Arial"/>
              </a:rPr>
              <a:t>Цена обеих ошибок не названа — это первый честный пробел разбора.</a:t>
            </a:r>
            <a:r>
              <a:rPr sz="850" b="0" i="0">
                <a:solidFill>
                  <a:srgbClr val="21295C"/>
                </a:solidFill>
                <a:latin typeface="Arial"/>
              </a:rPr>
              <a:t> Ни стоимости классической доработки архивного фильма под нестандартный экран, ни цены отказа от доработки в источниках нет. Единственное число со стороны исхода — </a:t>
            </a:r>
            <a:r>
              <a:rPr sz="850" b="1" i="0">
                <a:solidFill>
                  <a:srgbClr val="21295C"/>
                </a:solidFill>
                <a:latin typeface="Arial"/>
              </a:rPr>
              <a:t>более 2,2 миллиона проданных билетов</a:t>
            </a:r>
            <a:r>
              <a:rPr sz="850" b="0" i="0">
                <a:solidFill>
                  <a:srgbClr val="21295C"/>
                </a:solidFill>
                <a:latin typeface="Arial"/>
              </a:rPr>
              <a:t>; читается оно только с базой: билеты проданы на показ фильма, доступного где угодно и бесплатно.</a:t>
            </a:r>
          </a:p>
          <a:p>
            <a:pPr algn="l">
              <a:lnSpc>
                <a:spcPct val="126000"/>
              </a:lnSpc>
              <a:spcBef>
                <a:spcPts val="700"/>
              </a:spcBef>
            </a:pPr>
            <a:r>
              <a:rPr sz="850" b="0" i="0">
                <a:solidFill>
                  <a:srgbClr val="21295C"/>
                </a:solidFill>
                <a:latin typeface="Arial"/>
              </a:rPr>
              <a:t/>
            </a:r>
            <a:r>
              <a:rPr sz="850" b="1" i="0">
                <a:solidFill>
                  <a:srgbClr val="21295C"/>
                </a:solidFill>
                <a:latin typeface="Arial"/>
              </a:rPr>
              <a:t>Сами авторы формулируют прямо: то, что они делают, — «не реставрация в духе Скорсезе».</a:t>
            </a:r>
            <a:r>
              <a:rPr sz="850" b="0" i="0">
                <a:solidFill>
                  <a:srgbClr val="21295C"/>
                </a:solidFill>
                <a:latin typeface="Arial"/>
              </a:rPr>
              <a:t> Реставрация восстанавливает то, что было, и останавливается там, где сведений больше нет. Здесь работа продолжается за этой границей, и спор об этом содержательный.</a:t>
            </a:r>
          </a:p>
          <a:p>
            <a:pPr algn="l">
              <a:lnSpc>
                <a:spcPct val="126000"/>
              </a:lnSpc>
              <a:spcBef>
                <a:spcPts val="700"/>
              </a:spcBef>
            </a:pPr>
            <a:r>
              <a:rPr sz="850" b="0" i="0">
                <a:solidFill>
                  <a:srgbClr val="21295C"/>
                </a:solidFill>
                <a:latin typeface="Arial"/>
              </a:rPr>
              <a:t/>
            </a:r>
            <a:r>
              <a:rPr sz="850" b="1" i="0">
                <a:solidFill>
                  <a:srgbClr val="21295C"/>
                </a:solidFill>
                <a:latin typeface="Arial"/>
              </a:rPr>
              <a:t>Переехала граница между восстановлением и выдумыванием — молча, внутри работы, которую зритель покупает как «тот самый фильм».</a:t>
            </a:r>
            <a:r>
              <a:rPr sz="850" b="0" i="0">
                <a:solidFill>
                  <a:srgbClr val="21295C"/>
                </a:solidFill>
                <a:latin typeface="Arial"/>
              </a:rPr>
              <a:t> Платят узнаванием: по изображению зритель не отличит кадр Флеминга от кадра, собранного моделью, и ни один элемент показа ему в этом не помогает.</a:t>
            </a:r>
          </a:p>
          <a:p>
            <a:pPr algn="l">
              <a:lnSpc>
                <a:spcPct val="126000"/>
              </a:lnSpc>
              <a:spcBef>
                <a:spcPts val="700"/>
              </a:spcBef>
            </a:pPr>
            <a:r>
              <a:rPr sz="850" b="0" i="0">
                <a:solidFill>
                  <a:srgbClr val="21295C"/>
                </a:solidFill>
                <a:latin typeface="Arial"/>
              </a:rPr>
              <a:t/>
            </a:r>
            <a:r>
              <a:rPr sz="850" b="0" i="1">
                <a:solidFill>
                  <a:srgbClr val="1C7293"/>
                </a:solidFill>
                <a:latin typeface="Arial"/>
              </a:rPr>
              <a:t>Сравнение одностороннее: классический режим назван, и своего числа у него нет.</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chapter-part3b.md § 4.8; Sphere Entertainment и Warner Bros., заявления о проекте 2025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1 326 панелей, дуга 270°</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среднем 8 секунд</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3612599"/>
            <a:ext cx="11441887"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Светодиодная сцена: генерация изображения без съёмки началась не в 2024 году.</a:t>
            </a:r>
            <a:r>
              <a:rPr sz="1150" b="0" i="0">
                <a:solidFill>
                  <a:srgbClr val="21295C"/>
                </a:solidFill>
                <a:latin typeface="Arial"/>
              </a:rPr>
              <a:t> StageCraft, октябрь 2019: </a:t>
            </a:r>
            <a:r>
              <a:rPr sz="1150" b="1" i="0">
                <a:solidFill>
                  <a:srgbClr val="21295C"/>
                </a:solidFill>
                <a:latin typeface="Arial"/>
              </a:rPr>
              <a:t>1 326 панелей</a:t>
            </a:r>
            <a:r>
              <a:rPr sz="1150" b="0" i="0">
                <a:solidFill>
                  <a:srgbClr val="21295C"/>
                </a:solidFill>
                <a:latin typeface="Arial"/>
              </a:rPr>
              <a:t>, шаг пикселя 2,84 мм, дуга </a:t>
            </a:r>
            <a:r>
              <a:rPr sz="1150" b="1" i="0">
                <a:solidFill>
                  <a:srgbClr val="21295C"/>
                </a:solidFill>
                <a:latin typeface="Arial"/>
              </a:rPr>
              <a:t>270 градусов</a:t>
            </a:r>
            <a:r>
              <a:rPr sz="1150" b="0" i="0">
                <a:solidFill>
                  <a:srgbClr val="21295C"/>
                </a:solidFill>
                <a:latin typeface="Arial"/>
              </a:rPr>
              <a:t> вокруг площадки в 23 метра; внутри снято </a:t>
            </a:r>
            <a:r>
              <a:rPr sz="1150" b="1" i="0">
                <a:solidFill>
                  <a:srgbClr val="21295C"/>
                </a:solidFill>
                <a:latin typeface="Arial"/>
              </a:rPr>
              <a:t>больше половины первого сезона</a:t>
            </a:r>
            <a:r>
              <a:rPr sz="1150" b="0" i="0">
                <a:solidFill>
                  <a:srgbClr val="21295C"/>
                </a:solidFill>
                <a:latin typeface="Arial"/>
              </a:rPr>
              <a:t>. Фон, попадающий в камеру, никто не снимал — он посчитан в движке. Изменился с тех пор способ его получить: сцену строили вручную, теперь её описывают словами.</a:t>
            </a:r>
          </a:p>
          <a:p>
            <a:pPr algn="l">
              <a:lnSpc>
                <a:spcPct val="126000"/>
              </a:lnSpc>
              <a:spcBef>
                <a:spcPts val="700"/>
              </a:spcBef>
            </a:pPr>
            <a:r>
              <a:rPr sz="1150" b="0" i="0">
                <a:solidFill>
                  <a:srgbClr val="21295C"/>
                </a:solidFill>
                <a:latin typeface="Arial"/>
              </a:rPr>
              <a:t/>
            </a:r>
            <a:r>
              <a:rPr sz="1150" b="1" i="0">
                <a:solidFill>
                  <a:srgbClr val="21295C"/>
                </a:solidFill>
                <a:latin typeface="Arial"/>
              </a:rPr>
              <a:t>Генератор ассета: восемь секунд измеряют первую выдачу, а не готовую работу.</a:t>
            </a:r>
            <a:r>
              <a:rPr sz="1150" b="0" i="0">
                <a:solidFill>
                  <a:srgbClr val="21295C"/>
                </a:solidFill>
                <a:latin typeface="Arial"/>
              </a:rPr>
              <a:t> Tripo выдаёт пригодную к просмотру форму </a:t>
            </a:r>
            <a:r>
              <a:rPr sz="1150" b="1" i="0">
                <a:solidFill>
                  <a:srgbClr val="21295C"/>
                </a:solidFill>
                <a:latin typeface="Arial"/>
              </a:rPr>
              <a:t>в среднем за 8 секунд</a:t>
            </a:r>
            <a:r>
              <a:rPr sz="1150" b="0" i="0">
                <a:solidFill>
                  <a:srgbClr val="21295C"/>
                </a:solidFill>
                <a:latin typeface="Arial"/>
              </a:rPr>
              <a:t>; с февраля 2026 автоматический скелет ставится не только на человекоподобные формы, но и на четвероногих, птиц, змей и водных. </a:t>
            </a:r>
            <a:r>
              <a:rPr sz="1150" b="1" i="0">
                <a:solidFill>
                  <a:srgbClr val="21295C"/>
                </a:solidFill>
                <a:latin typeface="Arial"/>
              </a:rPr>
              <a:t>Сколько та же работа занимает у моделлера, не названо ни в одном источнике</a:t>
            </a:r>
            <a:r>
              <a:rPr sz="1150" b="0" i="0">
                <a:solidFill>
                  <a:srgbClr val="21295C"/>
                </a:solidFill>
                <a:latin typeface="Arial"/>
              </a:rPr>
              <a:t> — оценки расходятся на порядок, от часов до дней. Поэтому восемь секунд стоят здесь без кратности: делить измеренное число на выдуманное нельзя.</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Среда по описанию: выход перестаёт быть записью.</a:t>
            </a:r>
            <a:r>
              <a:rPr sz="1150" b="0" i="0">
                <a:solidFill>
                  <a:srgbClr val="21295C"/>
                </a:solidFill>
                <a:latin typeface="Arial"/>
              </a:rPr>
              <a:t> Genie 3, август 2025: </a:t>
            </a:r>
            <a:r>
              <a:rPr sz="1150" b="1" i="0">
                <a:solidFill>
                  <a:srgbClr val="21295C"/>
                </a:solidFill>
                <a:latin typeface="Arial"/>
              </a:rPr>
              <a:t>720p при 24 кадрах в секунду</a:t>
            </a:r>
            <a:r>
              <a:rPr sz="1150" b="0" i="0">
                <a:solidFill>
                  <a:srgbClr val="21295C"/>
                </a:solidFill>
                <a:latin typeface="Arial"/>
              </a:rPr>
              <a:t>, 11 миллиардов параметров, связность среды </a:t>
            </a:r>
            <a:r>
              <a:rPr sz="1150" b="1" i="0">
                <a:solidFill>
                  <a:srgbClr val="21295C"/>
                </a:solidFill>
                <a:latin typeface="Arial"/>
              </a:rPr>
              <a:t>несколько минут</a:t>
            </a:r>
            <a:r>
              <a:rPr sz="1150" b="0" i="0">
                <a:solidFill>
                  <a:srgbClr val="21295C"/>
                </a:solidFill>
                <a:latin typeface="Arial"/>
              </a:rPr>
              <a:t> против 10–20 секунд у предшественников. Покрашенная стена остаётся покрашенной после того, как камера ушла и вернулась. По числу пикселей в секунду это вчетверо ниже принятого в играх уровня 1080p при 60 кадрах.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chapter-part3.md § 4.6; chapter-part3b.md §§ 4.9–4.10; Google DeepMind, Genie 3, август 2025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быстрее примерно в 70 раз</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быстрее примерно в 2 200 раз</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примерно в 85 раз</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502920" y="3496568"/>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6520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Поле излучения (NeRF), 2020 — как устроено</a:t>
            </a:r>
          </a:p>
        </p:txBody>
      </p:sp>
      <p:sp>
        <p:nvSpPr>
          <p:cNvPr id="18" name="TextBox 17"/>
          <p:cNvSpPr txBox="1"/>
          <p:nvPr/>
        </p:nvSpPr>
        <p:spPr>
          <a:xfrm>
            <a:off x="667512" y="400819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сцена — одна небольшая сеть: на вопрос «что в точке, если смотреть оттуда» отвечает плотностью и цветом</a:t>
            </a:r>
          </a:p>
          <a:p>
            <a:pPr algn="l">
              <a:lnSpc>
                <a:spcPct val="126000"/>
              </a:lnSpc>
            </a:pPr>
            <a:r>
              <a:rPr sz="900" b="0" i="0">
                <a:solidFill>
                  <a:srgbClr val="21295C"/>
                </a:solidFill>
                <a:latin typeface="Arial"/>
              </a:rPr>
              <a:t>• картинка собирается прогонами сети вдоль луча: 150–200 миллионов запросов на один кадр</a:t>
            </a:r>
          </a:p>
          <a:p>
            <a:pPr algn="l">
              <a:lnSpc>
                <a:spcPct val="126000"/>
              </a:lnSpc>
            </a:pPr>
            <a:r>
              <a:rPr sz="900" b="0" i="0">
                <a:solidFill>
                  <a:srgbClr val="21295C"/>
                </a:solidFill>
                <a:latin typeface="Arial"/>
              </a:rPr>
              <a:t>• обучение 48 часов · показ 0,06 кадра в секунду · 8,6 МБ на сцену · качество 27,69</a:t>
            </a:r>
          </a:p>
          <a:p>
            <a:pPr algn="l">
              <a:lnSpc>
                <a:spcPct val="126000"/>
              </a:lnSpc>
            </a:pPr>
            <a:r>
              <a:rPr sz="900" b="0" i="0">
                <a:solidFill>
                  <a:srgbClr val="21295C"/>
                </a:solidFill>
                <a:latin typeface="Arial"/>
              </a:rPr>
              <a:t>• классический метод того же назначения требовал больше 15 гигабайт на сцену — сжатие примерно в три тысячи раз</a:t>
            </a:r>
          </a:p>
        </p:txBody>
      </p:sp>
      <p:sp>
        <p:nvSpPr>
          <p:cNvPr id="19" name="Rounded Rectangle 18"/>
          <p:cNvSpPr/>
          <p:nvPr/>
        </p:nvSpPr>
        <p:spPr>
          <a:xfrm>
            <a:off x="6251295" y="3496568"/>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6520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Гауссово спрыскивание, 2023 — как устроено</a:t>
            </a:r>
          </a:p>
        </p:txBody>
      </p:sp>
      <p:sp>
        <p:nvSpPr>
          <p:cNvPr id="21" name="TextBox 20"/>
          <p:cNvSpPr txBox="1"/>
          <p:nvPr/>
        </p:nvSpPr>
        <p:spPr>
          <a:xfrm>
            <a:off x="6415887" y="400819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сцена — множество вытянутых полупрозрачных клякс с положением, формой, прозрачностью и цветом</a:t>
            </a:r>
          </a:p>
          <a:p>
            <a:pPr algn="l">
              <a:lnSpc>
                <a:spcPct val="126000"/>
              </a:lnSpc>
            </a:pPr>
            <a:r>
              <a:rPr sz="900" b="0" i="0">
                <a:solidFill>
                  <a:srgbClr val="21295C"/>
                </a:solidFill>
                <a:latin typeface="Arial"/>
              </a:rPr>
              <a:t>• начинают с разреженного облака точек, которое и так остаётся после калибровки камер</a:t>
            </a:r>
          </a:p>
          <a:p>
            <a:pPr algn="l">
              <a:lnSpc>
                <a:spcPct val="126000"/>
              </a:lnSpc>
            </a:pPr>
            <a:r>
              <a:rPr sz="900" b="0" i="0">
                <a:solidFill>
                  <a:srgbClr val="21295C"/>
                </a:solidFill>
                <a:latin typeface="Arial"/>
              </a:rPr>
              <a:t>• показ — одна проекция на кляксу на обычном растеризаторе, а не сотни прогонов сети</a:t>
            </a:r>
          </a:p>
          <a:p>
            <a:pPr algn="l">
              <a:lnSpc>
                <a:spcPct val="126000"/>
              </a:lnSpc>
            </a:pPr>
            <a:r>
              <a:rPr sz="900" b="0" i="0">
                <a:solidFill>
                  <a:srgbClr val="21295C"/>
                </a:solidFill>
                <a:latin typeface="Arial"/>
              </a:rPr>
              <a:t>• обучение 41 мин 33 с · показ 134 кадра в секунду · 734 МБ на сцену · качество 27,21</a:t>
            </a:r>
          </a:p>
        </p:txBody>
      </p:sp>
      <p:sp>
        <p:nvSpPr>
          <p:cNvPr id="22" name="Rounded Rectangle 21"/>
          <p:cNvSpPr/>
          <p:nvPr/>
        </p:nvSpPr>
        <p:spPr>
          <a:xfrm>
            <a:off x="374904" y="5005328"/>
            <a:ext cx="11441887" cy="1230879"/>
          </a:xfrm>
          <a:prstGeom prst="roundRect">
            <a:avLst>
              <a:gd name="adj" fmla="val 2476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096768"/>
            <a:ext cx="11112703" cy="1139439"/>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Одна и та же сцена, один и тот же ускоритель, четыре меры рядом.</a:t>
            </a:r>
            <a:r>
              <a:rPr sz="850" b="0" i="0">
                <a:solidFill>
                  <a:srgbClr val="21295C"/>
                </a:solidFill>
                <a:latin typeface="Arial"/>
              </a:rPr>
              <a:t> Обучение: </a:t>
            </a:r>
            <a:r>
              <a:rPr sz="850" b="1" i="0">
                <a:solidFill>
                  <a:srgbClr val="21295C"/>
                </a:solidFill>
                <a:latin typeface="Arial"/>
              </a:rPr>
              <a:t>48 часов</a:t>
            </a:r>
            <a:r>
              <a:rPr sz="850" b="0" i="0">
                <a:solidFill>
                  <a:srgbClr val="21295C"/>
                </a:solidFill>
                <a:latin typeface="Arial"/>
              </a:rPr>
              <a:t> против </a:t>
            </a:r>
            <a:r>
              <a:rPr sz="850" b="1" i="0">
                <a:solidFill>
                  <a:srgbClr val="21295C"/>
                </a:solidFill>
                <a:latin typeface="Arial"/>
              </a:rPr>
              <a:t>41 минуты 33 секунд</a:t>
            </a:r>
            <a:r>
              <a:rPr sz="850" b="0" i="0">
                <a:solidFill>
                  <a:srgbClr val="21295C"/>
                </a:solidFill>
                <a:latin typeface="Arial"/>
              </a:rPr>
              <a:t>. Показ: </a:t>
            </a:r>
            <a:r>
              <a:rPr sz="850" b="1" i="0">
                <a:solidFill>
                  <a:srgbClr val="21295C"/>
                </a:solidFill>
                <a:latin typeface="Arial"/>
              </a:rPr>
              <a:t>0,06</a:t>
            </a:r>
            <a:r>
              <a:rPr sz="850" b="0" i="0">
                <a:solidFill>
                  <a:srgbClr val="21295C"/>
                </a:solidFill>
                <a:latin typeface="Arial"/>
              </a:rPr>
              <a:t> кадра в секунду против </a:t>
            </a:r>
            <a:r>
              <a:rPr sz="850" b="1" i="0">
                <a:solidFill>
                  <a:srgbClr val="21295C"/>
                </a:solidFill>
                <a:latin typeface="Arial"/>
              </a:rPr>
              <a:t>134</a:t>
            </a:r>
            <a:r>
              <a:rPr sz="850" b="0" i="0">
                <a:solidFill>
                  <a:srgbClr val="21295C"/>
                </a:solidFill>
                <a:latin typeface="Arial"/>
              </a:rPr>
              <a:t>. Память сцены: </a:t>
            </a:r>
            <a:r>
              <a:rPr sz="850" b="1" i="0">
                <a:solidFill>
                  <a:srgbClr val="21295C"/>
                </a:solidFill>
                <a:latin typeface="Arial"/>
              </a:rPr>
              <a:t>8,6 мегабайта</a:t>
            </a:r>
            <a:r>
              <a:rPr sz="850" b="0" i="0">
                <a:solidFill>
                  <a:srgbClr val="21295C"/>
                </a:solidFill>
                <a:latin typeface="Arial"/>
              </a:rPr>
              <a:t> против </a:t>
            </a:r>
            <a:r>
              <a:rPr sz="850" b="1" i="0">
                <a:solidFill>
                  <a:srgbClr val="21295C"/>
                </a:solidFill>
                <a:latin typeface="Arial"/>
              </a:rPr>
              <a:t>734</a:t>
            </a:r>
            <a:r>
              <a:rPr sz="850" b="0" i="0">
                <a:solidFill>
                  <a:srgbClr val="21295C"/>
                </a:solidFill>
                <a:latin typeface="Arial"/>
              </a:rPr>
              <a:t>. Качество — пиковое отношение сигнала к шуму, то есть насколько предсказанный вид совпал с настоящим снимком, в децибелах: </a:t>
            </a:r>
            <a:r>
              <a:rPr sz="850" b="1" i="0">
                <a:solidFill>
                  <a:srgbClr val="21295C"/>
                </a:solidFill>
                <a:latin typeface="Arial"/>
              </a:rPr>
              <a:t>27,69</a:t>
            </a:r>
            <a:r>
              <a:rPr sz="850" b="0" i="0">
                <a:solidFill>
                  <a:srgbClr val="21295C"/>
                </a:solidFill>
                <a:latin typeface="Arial"/>
              </a:rPr>
              <a:t> против </a:t>
            </a:r>
            <a:r>
              <a:rPr sz="850" b="1" i="0">
                <a:solidFill>
                  <a:srgbClr val="21295C"/>
                </a:solidFill>
                <a:latin typeface="Arial"/>
              </a:rPr>
              <a:t>27,21</a:t>
            </a:r>
            <a:r>
              <a:rPr sz="850" b="0" i="0">
                <a:solidFill>
                  <a:srgbClr val="21295C"/>
                </a:solidFill>
                <a:latin typeface="Arial"/>
              </a:rPr>
              <a:t>, а на интерьерном наборе </a:t>
            </a:r>
            <a:r>
              <a:rPr sz="850" b="1" i="0">
                <a:solidFill>
                  <a:srgbClr val="21295C"/>
                </a:solidFill>
                <a:latin typeface="Arial"/>
              </a:rPr>
              <a:t>29,40</a:t>
            </a:r>
            <a:r>
              <a:rPr sz="850" b="0" i="0">
                <a:solidFill>
                  <a:srgbClr val="21295C"/>
                </a:solidFill>
                <a:latin typeface="Arial"/>
              </a:rPr>
              <a:t> против </a:t>
            </a:r>
            <a:r>
              <a:rPr sz="850" b="1" i="0">
                <a:solidFill>
                  <a:srgbClr val="21295C"/>
                </a:solidFill>
                <a:latin typeface="Arial"/>
              </a:rPr>
              <a:t>29,41</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Качество не менялось. Разница меньше полудецибела, глазом неразличима.</a:t>
            </a:r>
            <a:r>
              <a:rPr sz="850" b="0" i="0">
                <a:solidFill>
                  <a:srgbClr val="21295C"/>
                </a:solidFill>
                <a:latin typeface="Arial"/>
              </a:rPr>
              <a:t> Поменялась только экономика — и поменялась в обе стороны сразу.</a:t>
            </a:r>
          </a:p>
          <a:p>
            <a:pPr algn="l">
              <a:lnSpc>
                <a:spcPct val="126000"/>
              </a:lnSpc>
              <a:spcBef>
                <a:spcPts val="700"/>
              </a:spcBef>
            </a:pPr>
            <a:r>
              <a:rPr sz="850" b="0" i="0">
                <a:solidFill>
                  <a:srgbClr val="21295C"/>
                </a:solidFill>
                <a:latin typeface="Arial"/>
              </a:rPr>
              <a:t/>
            </a:r>
            <a:r>
              <a:rPr sz="850" b="1" i="0">
                <a:solidFill>
                  <a:srgbClr val="21295C"/>
                </a:solidFill>
                <a:latin typeface="Arial"/>
              </a:rPr>
              <a:t>Три меры улучшились за счёт четвёртой.</a:t>
            </a:r>
            <a:r>
              <a:rPr sz="850" b="0" i="0">
                <a:solidFill>
                  <a:srgbClr val="21295C"/>
                </a:solidFill>
                <a:latin typeface="Arial"/>
              </a:rPr>
              <a:t> Обучение быстрее примерно в 70 раз, показ — примерно в 2 200 раз, память больше примерно в 85 раз.</a:t>
            </a:r>
          </a:p>
          <a:p>
            <a:pPr algn="l">
              <a:lnSpc>
                <a:spcPct val="126000"/>
              </a:lnSpc>
              <a:spcBef>
                <a:spcPts val="700"/>
              </a:spcBef>
            </a:pPr>
            <a:r>
              <a:rPr sz="850" b="0" i="0">
                <a:solidFill>
                  <a:srgbClr val="21295C"/>
                </a:solidFill>
                <a:latin typeface="Arial"/>
              </a:rPr>
              <a:t/>
            </a:r>
            <a:r>
              <a:rPr sz="850" b="1" i="0">
                <a:solidFill>
                  <a:srgbClr val="21295C"/>
                </a:solidFill>
                <a:latin typeface="Arial"/>
              </a:rPr>
              <a:t>Чем заплачено, сказали сами авторы, а не их критики:</a:t>
            </a:r>
            <a:r>
              <a:rPr sz="850" b="0" i="0">
                <a:solidFill>
                  <a:srgbClr val="21295C"/>
                </a:solidFill>
                <a:latin typeface="Arial"/>
              </a:rPr>
              <a:t> при обучении больших сцен пиковое потребление видеопамяти «может превышать 20 гигабайт», показ требует нескольких сотен мегабайт на модель и ещё 30–500 на растеризатор, регуляризации в методе нет вовсе — ничто не мешает ему описывать сцену средствами, физически бессмысленными, лишь бы совпали снимки.</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примерно в 2 200 раз</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85 раз</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разница меньше полудецибела</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31938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Заплачено размером.</a:t>
            </a:r>
            <a:r>
              <a:rPr sz="1500" b="0" i="0">
                <a:solidFill>
                  <a:srgbClr val="21295C"/>
                </a:solidFill>
                <a:latin typeface="Arial"/>
              </a:rPr>
              <a:t> Представление сцены, которое поле излучения сжало примерно в три тысячи раз против классического метода, разменяли обратно — и получили за это три порядка по скорости показа.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качеством:</a:t>
            </a:r>
            <a:r>
              <a:rPr sz="1500" b="0" i="0">
                <a:solidFill>
                  <a:srgbClr val="21295C"/>
                </a:solidFill>
                <a:latin typeface="Arial"/>
              </a:rPr>
              <a:t> разница меньше полудецибела, на интерьерном наборе счёт поровну. </a:t>
            </a:r>
            <a:r>
              <a:rPr sz="1500" b="1" i="0">
                <a:solidFill>
                  <a:srgbClr val="21295C"/>
                </a:solidFill>
                <a:latin typeface="Arial"/>
              </a:rPr>
              <a:t>Не временем обучения:</a:t>
            </a:r>
            <a:r>
              <a:rPr sz="1500" b="0" i="0">
                <a:solidFill>
                  <a:srgbClr val="21295C"/>
                </a:solidFill>
                <a:latin typeface="Arial"/>
              </a:rPr>
              <a:t> оно тоже упало, с 48 часов до 41 минуты.</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Урок шире этого случая.</a:t>
            </a:r>
            <a:r>
              <a:rPr sz="1500" b="0" i="0">
                <a:solidFill>
                  <a:srgbClr val="21295C"/>
                </a:solidFill>
                <a:latin typeface="Arial"/>
              </a:rPr>
              <a:t> Вопрос «что за это заплачено» имеет ответ всегда. Когда в описании технологии названа только выигравшая величина, это означает одно: проигравшую не показали. В рецензируемой работе она стояла в той же таблице четвёртой колонкой. В сообщении для прессы её бы там не было.</a:t>
            </a:r>
          </a:p>
        </p:txBody>
      </p:sp>
      <p:sp>
        <p:nvSpPr>
          <p:cNvPr id="19" name="Rectangle 18"/>
          <p:cNvSpPr/>
          <p:nvPr/>
        </p:nvSpPr>
        <p:spPr>
          <a:xfrm>
            <a:off x="6091275" y="328532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 chapter-part3c.md § 4.20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1,5 часа на объект</a:t>
            </a:r>
          </a:p>
        </p:txBody>
      </p:sp>
      <p:sp>
        <p:nvSpPr>
          <p:cNvPr id="7" name="TextBox 6"/>
          <p:cNvSpPr txBox="1"/>
          <p:nvPr/>
        </p:nvSpPr>
        <p:spPr>
          <a:xfrm>
            <a:off x="640080"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 секунд на объект</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500 раз</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502920" y="3492795"/>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64824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Оптимизация через рендер — как это работает</a:t>
            </a:r>
          </a:p>
        </p:txBody>
      </p:sp>
      <p:sp>
        <p:nvSpPr>
          <p:cNvPr id="18" name="TextBox 17"/>
          <p:cNvSpPr txBox="1"/>
          <p:nvPr/>
        </p:nvSpPr>
        <p:spPr>
          <a:xfrm>
            <a:off x="667512" y="4004422"/>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плоская диффузионная модель не меняется вообще</a:t>
            </a:r>
          </a:p>
          <a:p>
            <a:pPr algn="l">
              <a:lnSpc>
                <a:spcPct val="126000"/>
              </a:lnSpc>
            </a:pPr>
            <a:r>
              <a:rPr sz="900" b="0" i="0">
                <a:solidFill>
                  <a:srgbClr val="21295C"/>
                </a:solidFill>
                <a:latin typeface="Arial"/>
              </a:rPr>
              <a:t>• случайно заданное поле излучения подкручивают так, чтобы его виды со случайных ракурсов нравились этой модели</a:t>
            </a:r>
          </a:p>
          <a:p>
            <a:pPr algn="l">
              <a:lnSpc>
                <a:spcPct val="126000"/>
              </a:lnSpc>
            </a:pPr>
            <a:r>
              <a:rPr sz="900" b="0" i="0">
                <a:solidFill>
                  <a:srgbClr val="21295C"/>
                </a:solidFill>
                <a:latin typeface="Arial"/>
              </a:rPr>
              <a:t>• трёхмерных обучающих данных не нужно совсем: модель, обученная на картинках, работает судьёй формы</a:t>
            </a:r>
          </a:p>
          <a:p>
            <a:pPr algn="l">
              <a:lnSpc>
                <a:spcPct val="126000"/>
              </a:lnSpc>
            </a:pPr>
            <a:r>
              <a:rPr sz="900" b="0" i="0">
                <a:solidFill>
                  <a:srgbClr val="21295C"/>
                </a:solidFill>
                <a:latin typeface="Arial"/>
              </a:rPr>
              <a:t>• цена изящности: время поровну делится между рендером поля и прогоном модели, и полный прогон делается на каждом из пятнадцати тысяч шагов</a:t>
            </a:r>
          </a:p>
        </p:txBody>
      </p:sp>
      <p:sp>
        <p:nvSpPr>
          <p:cNvPr id="19" name="Rounded Rectangle 18"/>
          <p:cNvSpPr/>
          <p:nvPr/>
        </p:nvSpPr>
        <p:spPr>
          <a:xfrm>
            <a:off x="6251295" y="3492795"/>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64824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сразу в трёхмерном — как это работает</a:t>
            </a:r>
          </a:p>
        </p:txBody>
      </p:sp>
      <p:sp>
        <p:nvSpPr>
          <p:cNvPr id="21" name="TextBox 20"/>
          <p:cNvSpPr txBox="1"/>
          <p:nvPr/>
        </p:nvSpPr>
        <p:spPr>
          <a:xfrm>
            <a:off x="6415887" y="4004422"/>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одно внутреннее представление декодируется в три формата: поле излучения, кляксы и сетку многоугольников</a:t>
            </a:r>
          </a:p>
          <a:p>
            <a:pPr algn="l">
              <a:lnSpc>
                <a:spcPct val="126000"/>
              </a:lnSpc>
            </a:pPr>
            <a:r>
              <a:rPr sz="900" b="0" i="0">
                <a:solidFill>
                  <a:srgbClr val="21295C"/>
                </a:solidFill>
                <a:latin typeface="Arial"/>
              </a:rPr>
              <a:t>• генератор — трансформер на спрямлённом потоке, та же архитектура, что для плоских изображений</a:t>
            </a:r>
          </a:p>
          <a:p>
            <a:pPr algn="l">
              <a:lnSpc>
                <a:spcPct val="126000"/>
              </a:lnSpc>
            </a:pPr>
            <a:r>
              <a:rPr sz="900" b="0" i="0">
                <a:solidFill>
                  <a:srgbClr val="21295C"/>
                </a:solidFill>
                <a:latin typeface="Arial"/>
              </a:rPr>
              <a:t>• старшая модель 2 миллиарда параметров, обучена на 64 ускорителях, 400 тысяч шагов, корпус 500 тысяч объектов</a:t>
            </a:r>
          </a:p>
          <a:p>
            <a:pPr algn="l">
              <a:lnSpc>
                <a:spcPct val="126000"/>
              </a:lnSpc>
            </a:pPr>
            <a:r>
              <a:rPr sz="900" b="0" i="0">
                <a:solidFill>
                  <a:srgbClr val="21295C"/>
                </a:solidFill>
                <a:latin typeface="Arial"/>
              </a:rPr>
              <a:t>• на выдачу остаётся один прямой проход — стоимость перенесена из выдачи в обучение</a:t>
            </a:r>
          </a:p>
        </p:txBody>
      </p:sp>
      <p:sp>
        <p:nvSpPr>
          <p:cNvPr id="22" name="Rounded Rectangle 21"/>
          <p:cNvSpPr/>
          <p:nvPr/>
        </p:nvSpPr>
        <p:spPr>
          <a:xfrm>
            <a:off x="374904" y="5001555"/>
            <a:ext cx="11441887" cy="1234652"/>
          </a:xfrm>
          <a:prstGeom prst="roundRect">
            <a:avLst>
              <a:gd name="adj" fmla="val 24687"/>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092995"/>
            <a:ext cx="11112703" cy="1143212"/>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Два принципиально разных способа получить объект, которого в природе нет.</a:t>
            </a:r>
          </a:p>
          <a:p>
            <a:pPr algn="l">
              <a:lnSpc>
                <a:spcPct val="126000"/>
              </a:lnSpc>
              <a:spcBef>
                <a:spcPts val="700"/>
              </a:spcBef>
            </a:pPr>
            <a:r>
              <a:rPr sz="850" b="0" i="0">
                <a:solidFill>
                  <a:srgbClr val="21295C"/>
                </a:solidFill>
                <a:latin typeface="Arial"/>
              </a:rPr>
              <a:t/>
            </a:r>
            <a:r>
              <a:rPr sz="850" b="1" i="0">
                <a:solidFill>
                  <a:srgbClr val="21295C"/>
                </a:solidFill>
                <a:latin typeface="Arial"/>
              </a:rPr>
              <a:t>Оптимизация через рендер, 2022.</a:t>
            </a:r>
            <a:r>
              <a:rPr sz="850" b="0" i="0">
                <a:solidFill>
                  <a:srgbClr val="21295C"/>
                </a:solidFill>
                <a:latin typeface="Arial"/>
              </a:rPr>
              <a:t> Готовую плоскую модель не трогают вовсе: случайно заданное трёхмерное поле подкручивают до тех пор, пока его виды со случайных ракурсов не начнут нравиться этой модели. Трёхмерных обучающих данных не нужно ни одного. </a:t>
            </a:r>
            <a:r>
              <a:rPr sz="850" b="1" i="0">
                <a:solidFill>
                  <a:srgbClr val="21295C"/>
                </a:solidFill>
                <a:latin typeface="Arial"/>
              </a:rPr>
              <a:t>Около полутора часов на объект</a:t>
            </a:r>
            <a:r>
              <a:rPr sz="850" b="0" i="0">
                <a:solidFill>
                  <a:srgbClr val="21295C"/>
                </a:solidFill>
                <a:latin typeface="Arial"/>
              </a:rPr>
              <a:t>, пятнадцать тысяч шагов, рендер 64×64 пикселя.</a:t>
            </a:r>
          </a:p>
          <a:p>
            <a:pPr algn="l">
              <a:lnSpc>
                <a:spcPct val="126000"/>
              </a:lnSpc>
              <a:spcBef>
                <a:spcPts val="700"/>
              </a:spcBef>
            </a:pPr>
            <a:r>
              <a:rPr sz="850" b="0" i="0">
                <a:solidFill>
                  <a:srgbClr val="21295C"/>
                </a:solidFill>
                <a:latin typeface="Arial"/>
              </a:rPr>
              <a:t/>
            </a:r>
            <a:r>
              <a:rPr sz="850" b="1" i="0">
                <a:solidFill>
                  <a:srgbClr val="21295C"/>
                </a:solidFill>
                <a:latin typeface="Arial"/>
              </a:rPr>
              <a:t>Диффузия сразу в трёхмерном, 2024.</a:t>
            </a:r>
            <a:r>
              <a:rPr sz="850" b="0" i="0">
                <a:solidFill>
                  <a:srgbClr val="21295C"/>
                </a:solidFill>
                <a:latin typeface="Arial"/>
              </a:rPr>
              <a:t> Одно внутреннее представление декодируется в поле излучения, в кляксы и в сетку многоугольников; генератор — трансформер на спрямлённом потоке, та же архитектура, что в плоской генерации. Обучение: 64 ускорителя, 400 тысяч шагов, корпус в 500 тысяч объектов. </a:t>
            </a:r>
            <a:r>
              <a:rPr sz="850" b="1" i="0">
                <a:solidFill>
                  <a:srgbClr val="21295C"/>
                </a:solidFill>
                <a:latin typeface="Arial"/>
              </a:rPr>
              <a:t>Около десяти секунд на объект.</a:t>
            </a:r>
          </a:p>
          <a:p>
            <a:pPr algn="l">
              <a:lnSpc>
                <a:spcPct val="126000"/>
              </a:lnSpc>
              <a:spcBef>
                <a:spcPts val="700"/>
              </a:spcBef>
            </a:pPr>
            <a:r>
              <a:rPr sz="850" b="0" i="0">
                <a:solidFill>
                  <a:srgbClr val="21295C"/>
                </a:solidFill>
                <a:latin typeface="Arial"/>
              </a:rPr>
              <a:t/>
            </a:r>
            <a:r>
              <a:rPr sz="850" b="1" i="0">
                <a:solidFill>
                  <a:srgbClr val="21295C"/>
                </a:solidFill>
                <a:latin typeface="Arial"/>
              </a:rPr>
              <a:t>Разрыв примерно в 500 раз — и обе стороны машинные.</a:t>
            </a:r>
            <a:r>
              <a:rPr sz="850" b="0" i="0">
                <a:solidFill>
                  <a:srgbClr val="21295C"/>
                </a:solidFill>
                <a:latin typeface="Arial"/>
              </a:rPr>
              <a:t> Это 2022 год против 2024-го внутри одной инженерной линии. Сколько занимает тот же объект у моделлера, не названо ни в одном источнике, и «в пятьсот раз быстрее моделлера» отсюда не следует.</a:t>
            </a:r>
          </a:p>
          <a:p>
            <a:pPr algn="l">
              <a:lnSpc>
                <a:spcPct val="126000"/>
              </a:lnSpc>
              <a:spcBef>
                <a:spcPts val="700"/>
              </a:spcBef>
            </a:pPr>
            <a:r>
              <a:rPr sz="850" b="0" i="0">
                <a:solidFill>
                  <a:srgbClr val="21295C"/>
                </a:solidFill>
                <a:latin typeface="Arial"/>
              </a:rPr>
              <a:t/>
            </a:r>
            <a:r>
              <a:rPr sz="850" b="1" i="0">
                <a:solidFill>
                  <a:srgbClr val="21295C"/>
                </a:solidFill>
                <a:latin typeface="Arial"/>
              </a:rPr>
              <a:t>Разрыв возник не от железа.</a:t>
            </a:r>
            <a:r>
              <a:rPr sz="85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30 секунд на кадр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 миллисекунды на кадр</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502920" y="2876613"/>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01377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640080" y="3266964"/>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30 000 раз</a:t>
            </a:r>
          </a:p>
        </p:txBody>
      </p:sp>
      <p:sp>
        <p:nvSpPr>
          <p:cNvPr id="15" name="TextBox 14"/>
          <p:cNvSpPr txBox="1"/>
          <p:nvPr/>
        </p:nvSpPr>
        <p:spPr>
          <a:xfrm>
            <a:off x="640080" y="3693963"/>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6178143" y="2876613"/>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301377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315303" y="3266964"/>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пикселей из каждых 16</a:t>
            </a:r>
          </a:p>
        </p:txBody>
      </p:sp>
      <p:sp>
        <p:nvSpPr>
          <p:cNvPr id="19" name="TextBox 18"/>
          <p:cNvSpPr txBox="1"/>
          <p:nvPr/>
        </p:nvSpPr>
        <p:spPr>
          <a:xfrm>
            <a:off x="6315303" y="3693963"/>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502920" y="4436490"/>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591938"/>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графика реального времени даёт</a:t>
            </a:r>
          </a:p>
        </p:txBody>
      </p:sp>
      <p:sp>
        <p:nvSpPr>
          <p:cNvPr id="22" name="TextBox 21"/>
          <p:cNvSpPr txBox="1"/>
          <p:nvPr/>
        </p:nvSpPr>
        <p:spPr>
          <a:xfrm>
            <a:off x="667512" y="4948117"/>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повышение разрешения: движок считает кадр низким, сеть восстанавливает высокое по истории кадров, векторам движения и буферу глубины</a:t>
            </a:r>
          </a:p>
          <a:p>
            <a:pPr algn="l">
              <a:lnSpc>
                <a:spcPct val="126000"/>
              </a:lnSpc>
            </a:pPr>
            <a:r>
              <a:rPr sz="900" b="0" i="0">
                <a:solidFill>
                  <a:srgbClr val="21295C"/>
                </a:solidFill>
                <a:latin typeface="Arial"/>
              </a:rPr>
              <a:t>• достройку кадров: модель синтезирует промежуточный кадр между двумя отрисованными</a:t>
            </a:r>
          </a:p>
          <a:p>
            <a:pPr algn="l">
              <a:lnSpc>
                <a:spcPct val="126000"/>
              </a:lnSpc>
            </a:pPr>
            <a:r>
              <a:rPr sz="900" b="0" i="0">
                <a:solidFill>
                  <a:srgbClr val="21295C"/>
                </a:solidFill>
                <a:latin typeface="Arial"/>
              </a:rPr>
              <a:t>• в прошлом поколении один кадр 4K стоил около 3,25 миллисекунды, в новом каждый из трёх достраиваемых — около 1</a:t>
            </a:r>
          </a:p>
          <a:p>
            <a:pPr algn="l">
              <a:lnSpc>
                <a:spcPct val="126000"/>
              </a:lnSpc>
            </a:pPr>
            <a:r>
              <a:rPr sz="900" b="0" i="0">
                <a:solidFill>
                  <a:srgbClr val="21295C"/>
                </a:solidFill>
                <a:latin typeface="Arial"/>
              </a:rPr>
              <a:t>• приём инженерный, а не вычислительный: сеть разрезана пополам, бо́льшая половина считается раз на пару кадров; аппаратный блок оптического потока заменён сетью</a:t>
            </a:r>
          </a:p>
        </p:txBody>
      </p:sp>
      <p:sp>
        <p:nvSpPr>
          <p:cNvPr id="23" name="Rounded Rectangle 22"/>
          <p:cNvSpPr/>
          <p:nvPr/>
        </p:nvSpPr>
        <p:spPr>
          <a:xfrm>
            <a:off x="6251295" y="4436490"/>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591938"/>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она не делает и где ломается</a:t>
            </a:r>
          </a:p>
        </p:txBody>
      </p:sp>
      <p:sp>
        <p:nvSpPr>
          <p:cNvPr id="25" name="TextBox 24"/>
          <p:cNvSpPr txBox="1"/>
          <p:nvPr/>
        </p:nvSpPr>
        <p:spPr>
          <a:xfrm>
            <a:off x="6415887" y="4948117"/>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задержку ввода достройка кадров не уменьшает: игрок видит больше кадров, а реакция на его действие не ускоряется ни на миллисекунду</a:t>
            </a:r>
          </a:p>
          <a:p>
            <a:pPr algn="l">
              <a:lnSpc>
                <a:spcPct val="126000"/>
              </a:lnSpc>
            </a:pPr>
            <a:r>
              <a:rPr sz="900" b="0" i="0">
                <a:solidFill>
                  <a:srgbClr val="21295C"/>
                </a:solidFill>
                <a:latin typeface="Arial"/>
              </a:rPr>
              <a:t>• интерфейс — векторов движения у него нет</a:t>
            </a:r>
          </a:p>
          <a:p>
            <a:pPr algn="l">
              <a:lnSpc>
                <a:spcPct val="126000"/>
              </a:lnSpc>
            </a:pPr>
            <a:r>
              <a:rPr sz="900" b="0" i="0">
                <a:solidFill>
                  <a:srgbClr val="21295C"/>
                </a:solidFill>
                <a:latin typeface="Arial"/>
              </a:rPr>
              <a:t>• блики и отражения — векторы движения для них неверны по построению</a:t>
            </a:r>
          </a:p>
          <a:p>
            <a:pPr algn="l">
              <a:lnSpc>
                <a:spcPct val="126000"/>
              </a:lnSpc>
            </a:pPr>
            <a:r>
              <a:rPr sz="900" b="0" i="0">
                <a:solidFill>
                  <a:srgbClr val="21295C"/>
                </a:solidFill>
                <a:latin typeface="Arial"/>
              </a:rPr>
              <a:t>• частицы, лучи и полупрозрачность — неверен буфер глубины; по словам разработчика, такие эффекты «склонны доминировать в восприятии, хотя их доля в пикселях мала»</a:t>
            </a:r>
          </a:p>
        </p:txBody>
      </p:sp>
      <p:sp>
        <p:nvSpPr>
          <p:cNvPr id="26" name="Rectangle 25"/>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chapter-part3b.md § 4.14; chapter-part3c.md §§ 4.15–4.16; Mildenhall et al., ECCV 2020; RIFE, ECCV 2022, arXiv:2011.06294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первая форма за единицы секунд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4286402" y="1335024"/>
            <a:ext cx="3618890"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4423562" y="1725375"/>
            <a:ext cx="3344570"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4423562" y="288229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8069884" y="1335024"/>
            <a:ext cx="3618890"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из девяти — и самые дорогие</a:t>
            </a:r>
          </a:p>
        </p:txBody>
      </p:sp>
      <p:sp>
        <p:nvSpPr>
          <p:cNvPr id="15" name="TextBox 14"/>
          <p:cNvSpPr txBox="1"/>
          <p:nvPr/>
        </p:nvSpPr>
        <p:spPr>
          <a:xfrm>
            <a:off x="8207044" y="2750268"/>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TextBox 15"/>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17" name="Rounded Rectangle 16"/>
          <p:cNvSpPr/>
          <p:nvPr/>
        </p:nvSpPr>
        <p:spPr>
          <a:xfrm>
            <a:off x="1920240" y="3915282"/>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961002"/>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19" name="Right Arrow 18"/>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915282"/>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961002"/>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22" name="TextBox 21"/>
          <p:cNvSpPr txBox="1"/>
          <p:nvPr/>
        </p:nvSpPr>
        <p:spPr>
          <a:xfrm>
            <a:off x="502920" y="5048853"/>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23" name="Rounded Rectangle 22"/>
          <p:cNvSpPr/>
          <p:nvPr/>
        </p:nvSpPr>
        <p:spPr>
          <a:xfrm>
            <a:off x="1920240" y="501227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505799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25" name="Right Arrow 24"/>
          <p:cNvSpPr/>
          <p:nvPr/>
        </p:nvSpPr>
        <p:spPr>
          <a:xfrm>
            <a:off x="5039258" y="541904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501227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5350154" y="505799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28" name="Right Arrow 27"/>
          <p:cNvSpPr/>
          <p:nvPr/>
        </p:nvSpPr>
        <p:spPr>
          <a:xfrm>
            <a:off x="8386876" y="541904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5012277"/>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5057997"/>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31" name="TextBox 30"/>
          <p:cNvSpPr txBox="1"/>
          <p:nvPr/>
        </p:nvSpPr>
        <p:spPr>
          <a:xfrm>
            <a:off x="502920" y="599954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32" name="Rectangle 3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 chapter-part3c.md § 4.17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ВЫДАННАЯ ФОРМА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такая по пропорциям и никакая по величине; масштаб назначает человек на глаз или по соседнему объекту</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РАЗМЕРОВ ИЗ ВЫДАЧИ МОЖНО ПОСТАВИТЬ В ЧЕРТЁЖ</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а не на обмерах, и взяться размеру неоткуда</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СПОСОБОВ ПОЛУЧИТЬ ДАННЫЕ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 — и это ровно та работа, которую генератор не делает</a:t>
            </a:r>
          </a:p>
        </p:txBody>
      </p:sp>
      <p:sp>
        <p:nvSpPr>
          <p:cNvPr id="16" name="Rounded Rectangle 15"/>
          <p:cNvSpPr/>
          <p:nvPr/>
        </p:nvSpPr>
        <p:spPr>
          <a:xfrm>
            <a:off x="502920" y="3704039"/>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5948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генератор формы даёт</a:t>
            </a:r>
          </a:p>
        </p:txBody>
      </p:sp>
      <p:sp>
        <p:nvSpPr>
          <p:cNvPr id="18" name="TextBox 17"/>
          <p:cNvSpPr txBox="1"/>
          <p:nvPr/>
        </p:nvSpPr>
        <p:spPr>
          <a:xfrm>
            <a:off x="667512" y="4215666"/>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правдоподобную поверхность по описанию словами, за единицы секунд</a:t>
            </a:r>
          </a:p>
          <a:p>
            <a:pPr algn="l">
              <a:lnSpc>
                <a:spcPct val="126000"/>
              </a:lnSpc>
            </a:pPr>
            <a:r>
              <a:rPr sz="900" b="0" i="0">
                <a:solidFill>
                  <a:srgbClr val="21295C"/>
                </a:solidFill>
                <a:latin typeface="Arial"/>
              </a:rPr>
              <a:t>• двадцать вариантов облика за полчаса вместо одного наброска за полдня</a:t>
            </a:r>
          </a:p>
          <a:p>
            <a:pPr algn="l">
              <a:lnSpc>
                <a:spcPct val="126000"/>
              </a:lnSpc>
            </a:pPr>
            <a:r>
              <a:rPr sz="900" b="0" i="0">
                <a:solidFill>
                  <a:srgbClr val="21295C"/>
                </a:solidFill>
                <a:latin typeface="Arial"/>
              </a:rPr>
              <a:t>• объект, которого в природе нет, — без единого снимка на входе</a:t>
            </a:r>
          </a:p>
          <a:p>
            <a:pPr algn="l">
              <a:lnSpc>
                <a:spcPct val="126000"/>
              </a:lnSpc>
            </a:pPr>
            <a:r>
              <a:rPr sz="900" b="0" i="0">
                <a:solidFill>
                  <a:srgbClr val="21295C"/>
                </a:solidFill>
                <a:latin typeface="Arial"/>
              </a:rPr>
              <a:t>• пригодность к просмотру и к постановке в фон</a:t>
            </a:r>
          </a:p>
        </p:txBody>
      </p:sp>
      <p:sp>
        <p:nvSpPr>
          <p:cNvPr id="19" name="Rounded Rectangle 18"/>
          <p:cNvSpPr/>
          <p:nvPr/>
        </p:nvSpPr>
        <p:spPr>
          <a:xfrm>
            <a:off x="6251295" y="3704039"/>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5948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он не даёт и дать не может</a:t>
            </a:r>
          </a:p>
        </p:txBody>
      </p:sp>
      <p:sp>
        <p:nvSpPr>
          <p:cNvPr id="21" name="TextBox 20"/>
          <p:cNvSpPr txBox="1"/>
          <p:nvPr/>
        </p:nvSpPr>
        <p:spPr>
          <a:xfrm>
            <a:off x="6415887" y="4215666"/>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ни одного размера, который можно поставить в чертёж</a:t>
            </a:r>
          </a:p>
          <a:p>
            <a:pPr algn="l">
              <a:lnSpc>
                <a:spcPct val="126000"/>
              </a:lnSpc>
            </a:pPr>
            <a:r>
              <a:rPr sz="900" b="0" i="0">
                <a:solidFill>
                  <a:srgbClr val="21295C"/>
                </a:solidFill>
                <a:latin typeface="Arial"/>
              </a:rPr>
              <a:t>• ни материала, ни нагрузки, ни допуска: «кронштейн под нагрузку» выглядит как кронштейн и не несёт ничего из этого</a:t>
            </a:r>
          </a:p>
          <a:p>
            <a:pPr algn="l">
              <a:lnSpc>
                <a:spcPct val="126000"/>
              </a:lnSpc>
            </a:pPr>
            <a:r>
              <a:rPr sz="900" b="0" i="0">
                <a:solidFill>
                  <a:srgbClr val="21295C"/>
                </a:solidFill>
                <a:latin typeface="Arial"/>
              </a:rPr>
              <a:t>• связей между параметрами: в системе проектирования изменил диаметр — пересчиталась посадка, здесь менять нечего</a:t>
            </a:r>
          </a:p>
          <a:p>
            <a:pPr algn="l">
              <a:lnSpc>
                <a:spcPct val="126000"/>
              </a:lnSpc>
            </a:pPr>
            <a:r>
              <a:rPr sz="900" b="0" i="0">
                <a:solidFill>
                  <a:srgbClr val="21295C"/>
                </a:solidFill>
                <a:latin typeface="Arial"/>
              </a:rPr>
              <a:t>• критерия отбора: он остаётся снаружи, у человека, и в трёхмерном этот человек вдобавок обязан назначить масштаб</a:t>
            </a:r>
          </a:p>
        </p:txBody>
      </p:sp>
      <p:sp>
        <p:nvSpPr>
          <p:cNvPr id="22" name="Rounded Rectangle 21"/>
          <p:cNvSpPr/>
          <p:nvPr/>
        </p:nvSpPr>
        <p:spPr>
          <a:xfrm>
            <a:off x="374904" y="5212799"/>
            <a:ext cx="11441887" cy="102340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304239"/>
            <a:ext cx="11112703" cy="931968"/>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Форма, которую выдаёт генератор, существует в безразмерных координатах.</a:t>
            </a:r>
            <a:r>
              <a:rPr sz="850" b="0" i="0">
                <a:solidFill>
                  <a:srgbClr val="21295C"/>
                </a:solidFill>
                <a:latin typeface="Arial"/>
              </a:rPr>
              <a:t> Она такая по пропорциям и никакая по величине. Масштаб назначается потом, человеком, на глаз или по соседнему объекту.</a:t>
            </a:r>
          </a:p>
          <a:p>
            <a:pPr algn="l">
              <a:lnSpc>
                <a:spcPct val="126000"/>
              </a:lnSpc>
              <a:spcBef>
                <a:spcPts val="700"/>
              </a:spcBef>
            </a:pPr>
            <a:r>
              <a:rPr sz="850" b="0" i="0">
                <a:solidFill>
                  <a:srgbClr val="21295C"/>
                </a:solidFill>
                <a:latin typeface="Arial"/>
              </a:rPr>
              <a:t/>
            </a:r>
            <a:r>
              <a:rPr sz="850" b="1" i="0">
                <a:solidFill>
                  <a:srgbClr val="21295C"/>
                </a:solidFill>
                <a:latin typeface="Arial"/>
              </a:rPr>
              <a:t>Объект, выданный по описанию «кронштейн под нагрузку», выглядит как кронштейн</a:t>
            </a:r>
            <a:r>
              <a:rPr sz="850" b="0" i="0">
                <a:solidFill>
                  <a:srgbClr val="21295C"/>
                </a:solidFill>
                <a:latin typeface="Arial"/>
              </a:rPr>
              <a:t> — и не несёт ни нагрузки, ни материала, ни допуска, ни одного признака, позволяющего проверить, выдержит ли он что-нибудь.</a:t>
            </a:r>
          </a:p>
          <a:p>
            <a:pPr algn="l">
              <a:lnSpc>
                <a:spcPct val="126000"/>
              </a:lnSpc>
              <a:spcBef>
                <a:spcPts val="700"/>
              </a:spcBef>
            </a:pPr>
            <a:r>
              <a:rPr sz="850" b="0" i="0">
                <a:solidFill>
                  <a:srgbClr val="21295C"/>
                </a:solidFill>
                <a:latin typeface="Arial"/>
              </a:rPr>
              <a:t/>
            </a:r>
            <a:r>
              <a:rPr sz="850" b="1" i="0">
                <a:solidFill>
                  <a:srgbClr val="21295C"/>
                </a:solidFill>
                <a:latin typeface="Arial"/>
              </a:rPr>
              <a:t>Генератор трёхмерного не заменяет систему автоматизированного проектирования, и расстояние между ними качественное.</a:t>
            </a:r>
            <a:r>
              <a:rPr sz="850" b="0" i="0">
                <a:solidFill>
                  <a:srgbClr val="21295C"/>
                </a:solidFill>
                <a:latin typeface="Arial"/>
              </a:rPr>
              <a:t> Система оперирует параметрами с допусками, связями между ними и проверками: изменил диаметр — пересчиталась посадка. Генератор оперирует правдоподобием поверхности.</a:t>
            </a:r>
          </a:p>
          <a:p>
            <a:pPr algn="l">
              <a:lnSpc>
                <a:spcPct val="126000"/>
              </a:lnSpc>
              <a:spcBef>
                <a:spcPts val="700"/>
              </a:spcBef>
            </a:pPr>
            <a:r>
              <a:rPr sz="850" b="0" i="0">
                <a:solidFill>
                  <a:srgbClr val="21295C"/>
                </a:solidFill>
                <a:latin typeface="Arial"/>
              </a:rPr>
              <a:t/>
            </a:r>
            <a:r>
              <a:rPr sz="850" b="1" i="0">
                <a:solidFill>
                  <a:srgbClr val="21295C"/>
                </a:solidFill>
                <a:latin typeface="Arial"/>
              </a:rPr>
              <a:t>Рабочий критерий одной строкой: там, где результат проверяется расчётом, генератор формы стоит до расчёта.</a:t>
            </a:r>
            <a:r>
              <a:rPr sz="850" b="0" i="0">
                <a:solidFill>
                  <a:srgbClr val="21295C"/>
                </a:solidFill>
                <a:latin typeface="Arial"/>
              </a:rPr>
              <a:t> Порождающее проектирование, которым в 2016 году сделали авиационную перегородку, работает именно так: алгоритм перебирает формы, а критерий отбора задан физикой и проверяется расчётом. Генеративная модель критерия отбора не содержит вовсе.</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chapter-part3c.md § 4.18; chapter-part3.md § 4.3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Rectangle 15"/>
          <p:cNvSpPr/>
          <p:nvPr/>
        </p:nvSpPr>
        <p:spPr>
          <a:xfrm>
            <a:off x="502920" y="3171351"/>
            <a:ext cx="2788920" cy="252341"/>
          </a:xfrm>
          <a:prstGeom prst="rect">
            <a:avLst/>
          </a:prstGeom>
          <a:solidFill>
            <a:srgbClr val="21295C"/>
          </a:solidFill>
          <a:ln>
            <a:noFill/>
          </a:ln>
          <a:effectLst/>
        </p:spPr>
        <p:txBody>
          <a:bodyPr rtlCol="0" anchor="ctr"/>
          <a:lstStyle/>
          <a:p>
            <a:pPr algn="ctr"/>
          </a:p>
        </p:txBody>
      </p:sp>
      <p:sp>
        <p:nvSpPr>
          <p:cNvPr id="17" name="TextBox 16"/>
          <p:cNvSpPr txBox="1"/>
          <p:nvPr/>
        </p:nvSpPr>
        <p:spPr>
          <a:xfrm>
            <a:off x="566928" y="3235359"/>
            <a:ext cx="2660903"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Тип задачи</a:t>
            </a:r>
          </a:p>
        </p:txBody>
      </p:sp>
      <p:sp>
        <p:nvSpPr>
          <p:cNvPr id="18" name="Rectangle 17"/>
          <p:cNvSpPr/>
          <p:nvPr/>
        </p:nvSpPr>
        <p:spPr>
          <a:xfrm>
            <a:off x="3291839" y="3171351"/>
            <a:ext cx="1679387" cy="252341"/>
          </a:xfrm>
          <a:prstGeom prst="rect">
            <a:avLst/>
          </a:prstGeom>
          <a:solidFill>
            <a:srgbClr val="065A82"/>
          </a:solidFill>
          <a:ln>
            <a:noFill/>
          </a:ln>
          <a:effectLst/>
        </p:spPr>
        <p:txBody>
          <a:bodyPr rtlCol="0" anchor="ctr"/>
          <a:lstStyle/>
          <a:p>
            <a:pPr algn="ctr"/>
          </a:p>
        </p:txBody>
      </p:sp>
      <p:sp>
        <p:nvSpPr>
          <p:cNvPr id="19" name="TextBox 18"/>
          <p:cNvSpPr txBox="1"/>
          <p:nvPr/>
        </p:nvSpPr>
        <p:spPr>
          <a:xfrm>
            <a:off x="3355847"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Изображение</a:t>
            </a:r>
          </a:p>
        </p:txBody>
      </p:sp>
      <p:sp>
        <p:nvSpPr>
          <p:cNvPr id="20" name="Rectangle 19"/>
          <p:cNvSpPr/>
          <p:nvPr/>
        </p:nvSpPr>
        <p:spPr>
          <a:xfrm>
            <a:off x="4971227" y="3171351"/>
            <a:ext cx="1679387" cy="252341"/>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035235"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Звук</a:t>
            </a:r>
          </a:p>
        </p:txBody>
      </p:sp>
      <p:sp>
        <p:nvSpPr>
          <p:cNvPr id="22" name="Rectangle 21"/>
          <p:cNvSpPr/>
          <p:nvPr/>
        </p:nvSpPr>
        <p:spPr>
          <a:xfrm>
            <a:off x="6650614" y="3171351"/>
            <a:ext cx="1679387" cy="252341"/>
          </a:xfrm>
          <a:prstGeom prst="rect">
            <a:avLst/>
          </a:prstGeom>
          <a:solidFill>
            <a:srgbClr val="065A82"/>
          </a:solidFill>
          <a:ln>
            <a:noFill/>
          </a:ln>
          <a:effectLst/>
        </p:spPr>
        <p:txBody>
          <a:bodyPr rtlCol="0" anchor="ctr"/>
          <a:lstStyle/>
          <a:p>
            <a:pPr algn="ctr"/>
          </a:p>
        </p:txBody>
      </p:sp>
      <p:sp>
        <p:nvSpPr>
          <p:cNvPr id="23" name="TextBox 22"/>
          <p:cNvSpPr txBox="1"/>
          <p:nvPr/>
        </p:nvSpPr>
        <p:spPr>
          <a:xfrm>
            <a:off x="6714622"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Видео</a:t>
            </a:r>
          </a:p>
        </p:txBody>
      </p:sp>
      <p:sp>
        <p:nvSpPr>
          <p:cNvPr id="24" name="Rectangle 23"/>
          <p:cNvSpPr/>
          <p:nvPr/>
        </p:nvSpPr>
        <p:spPr>
          <a:xfrm>
            <a:off x="8330001" y="3171351"/>
            <a:ext cx="1679387" cy="252341"/>
          </a:xfrm>
          <a:prstGeom prst="rect">
            <a:avLst/>
          </a:prstGeom>
          <a:solidFill>
            <a:srgbClr val="065A82"/>
          </a:solidFill>
          <a:ln>
            <a:noFill/>
          </a:ln>
          <a:effectLst/>
        </p:spPr>
        <p:txBody>
          <a:bodyPr rtlCol="0" anchor="ctr"/>
          <a:lstStyle/>
          <a:p>
            <a:pPr algn="ctr"/>
          </a:p>
        </p:txBody>
      </p:sp>
      <p:sp>
        <p:nvSpPr>
          <p:cNvPr id="25" name="TextBox 24"/>
          <p:cNvSpPr txBox="1"/>
          <p:nvPr/>
        </p:nvSpPr>
        <p:spPr>
          <a:xfrm>
            <a:off x="8394009"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Трёхмерное</a:t>
            </a:r>
          </a:p>
        </p:txBody>
      </p:sp>
      <p:sp>
        <p:nvSpPr>
          <p:cNvPr id="26" name="Rectangle 25"/>
          <p:cNvSpPr/>
          <p:nvPr/>
        </p:nvSpPr>
        <p:spPr>
          <a:xfrm>
            <a:off x="10009388" y="3171351"/>
            <a:ext cx="1679387" cy="252341"/>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10073396" y="3235359"/>
            <a:ext cx="1551371" cy="124325"/>
          </a:xfrm>
          <a:prstGeom prst="rect">
            <a:avLst/>
          </a:prstGeom>
          <a:noFill/>
        </p:spPr>
        <p:txBody>
          <a:bodyPr wrap="square" lIns="0" rIns="0" tIns="0" bIns="0" anchor="t">
            <a:spAutoFit/>
          </a:bodyPr>
          <a:lstStyle/>
          <a:p>
            <a:pPr algn="l">
              <a:lnSpc>
                <a:spcPct val="113000"/>
              </a:lnSpc>
            </a:pPr>
            <a:r>
              <a:rPr sz="700" b="0" i="1">
                <a:solidFill>
                  <a:srgbClr val="1C7293"/>
                </a:solidFill>
                <a:latin typeface="Arial"/>
              </a:rPr>
              <a:t>Распознавание</a:t>
            </a:r>
          </a:p>
        </p:txBody>
      </p:sp>
      <p:sp>
        <p:nvSpPr>
          <p:cNvPr id="28" name="Rectangle 27"/>
          <p:cNvSpPr/>
          <p:nvPr/>
        </p:nvSpPr>
        <p:spPr>
          <a:xfrm>
            <a:off x="8330001" y="3373401"/>
            <a:ext cx="1679387" cy="50292"/>
          </a:xfrm>
          <a:prstGeom prst="rect">
            <a:avLst/>
          </a:prstGeom>
          <a:solidFill>
            <a:srgbClr val="F0AB00"/>
          </a:solidFill>
          <a:ln>
            <a:noFill/>
          </a:ln>
          <a:effectLst/>
        </p:spPr>
        <p:txBody>
          <a:bodyPr rtlCol="0" anchor="ctr"/>
          <a:lstStyle/>
          <a:p>
            <a:pPr algn="ctr"/>
          </a:p>
        </p:txBody>
      </p:sp>
      <p:sp>
        <p:nvSpPr>
          <p:cNvPr id="29" name="Rectangle 28"/>
          <p:cNvSpPr/>
          <p:nvPr/>
        </p:nvSpPr>
        <p:spPr>
          <a:xfrm>
            <a:off x="502920" y="3423693"/>
            <a:ext cx="2788920" cy="412979"/>
          </a:xfrm>
          <a:prstGeom prst="rect">
            <a:avLst/>
          </a:prstGeom>
          <a:solidFill>
            <a:srgbClr val="FFFFFF"/>
          </a:solidFill>
          <a:ln w="9525">
            <a:solidFill>
              <a:srgbClr val="D9E2EC"/>
            </a:solidFill>
          </a:ln>
          <a:effectLst/>
        </p:spPr>
        <p:txBody>
          <a:bodyPr rtlCol="0" anchor="ctr"/>
          <a:lstStyle/>
          <a:p>
            <a:pPr algn="ctr"/>
          </a:p>
        </p:txBody>
      </p:sp>
      <p:sp>
        <p:nvSpPr>
          <p:cNvPr id="30" name="TextBox 29"/>
          <p:cNvSpPr txBox="1"/>
          <p:nvPr/>
        </p:nvSpPr>
        <p:spPr>
          <a:xfrm>
            <a:off x="566928" y="3487701"/>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Породить первое приближение</a:t>
            </a:r>
          </a:p>
          <a:p>
            <a:pPr algn="l">
              <a:lnSpc>
                <a:spcPct val="113000"/>
              </a:lnSpc>
              <a:spcBef>
                <a:spcPts val="200"/>
              </a:spcBef>
            </a:pPr>
            <a:r>
              <a:rPr sz="650" b="0" i="1">
                <a:solidFill>
                  <a:srgbClr val="1C7293"/>
                </a:solidFill>
                <a:latin typeface="Arial"/>
              </a:rPr>
              <a:t>получить варианты облика, пока решение ещё не принято</a:t>
            </a:r>
          </a:p>
        </p:txBody>
      </p:sp>
      <p:sp>
        <p:nvSpPr>
          <p:cNvPr id="31" name="Rectangle 30"/>
          <p:cNvSpPr/>
          <p:nvPr/>
        </p:nvSpPr>
        <p:spPr>
          <a:xfrm>
            <a:off x="3291839"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32" name="TextBox 31"/>
          <p:cNvSpPr txBox="1"/>
          <p:nvPr/>
        </p:nvSpPr>
        <p:spPr>
          <a:xfrm>
            <a:off x="3355847"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0,034–0,05 $ за изображение</a:t>
            </a:r>
          </a:p>
        </p:txBody>
      </p:sp>
      <p:sp>
        <p:nvSpPr>
          <p:cNvPr id="33" name="Rectangle 32"/>
          <p:cNvSpPr/>
          <p:nvPr/>
        </p:nvSpPr>
        <p:spPr>
          <a:xfrm>
            <a:off x="4971227"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035235"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дубляж 0,03–0,072 $ за минуту</a:t>
            </a:r>
          </a:p>
        </p:txBody>
      </p:sp>
      <p:sp>
        <p:nvSpPr>
          <p:cNvPr id="35" name="Rectangle 34"/>
          <p:cNvSpPr/>
          <p:nvPr/>
        </p:nvSpPr>
        <p:spPr>
          <a:xfrm>
            <a:off x="6650614"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6714622"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цена выпуска ниже в 10–20 раз</a:t>
            </a:r>
          </a:p>
        </p:txBody>
      </p:sp>
      <p:sp>
        <p:nvSpPr>
          <p:cNvPr id="37" name="Rectangle 36"/>
          <p:cNvSpPr/>
          <p:nvPr/>
        </p:nvSpPr>
        <p:spPr>
          <a:xfrm>
            <a:off x="8330001"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8394009"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единицы секунд на вариант</a:t>
            </a:r>
          </a:p>
        </p:txBody>
      </p:sp>
      <p:sp>
        <p:nvSpPr>
          <p:cNvPr id="39" name="Rectangle 38"/>
          <p:cNvSpPr/>
          <p:nvPr/>
        </p:nvSpPr>
        <p:spPr>
          <a:xfrm>
            <a:off x="10009388" y="3423693"/>
            <a:ext cx="1679387" cy="412979"/>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502920" y="3836672"/>
            <a:ext cx="2788920" cy="412979"/>
          </a:xfrm>
          <a:prstGeom prst="rect">
            <a:avLst/>
          </a:prstGeom>
          <a:solidFill>
            <a:srgbClr val="F4F7FA"/>
          </a:solidFill>
          <a:ln w="9525">
            <a:solidFill>
              <a:srgbClr val="D9E2EC"/>
            </a:solidFill>
          </a:ln>
          <a:effectLst/>
        </p:spPr>
        <p:txBody>
          <a:bodyPr rtlCol="0" anchor="ctr"/>
          <a:lstStyle/>
          <a:p>
            <a:pPr algn="ctr"/>
          </a:p>
        </p:txBody>
      </p:sp>
      <p:sp>
        <p:nvSpPr>
          <p:cNvPr id="41" name="TextBox 40"/>
          <p:cNvSpPr txBox="1"/>
          <p:nvPr/>
        </p:nvSpPr>
        <p:spPr>
          <a:xfrm>
            <a:off x="566928" y="390068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Довести до производственного качества</a:t>
            </a:r>
          </a:p>
          <a:p>
            <a:pPr algn="l">
              <a:lnSpc>
                <a:spcPct val="113000"/>
              </a:lnSpc>
              <a:spcBef>
                <a:spcPts val="200"/>
              </a:spcBef>
            </a:pPr>
            <a:r>
              <a:rPr sz="650" b="0" i="1">
                <a:solidFill>
                  <a:srgbClr val="1C7293"/>
                </a:solidFill>
                <a:latin typeface="Arial"/>
              </a:rPr>
              <a:t>отобрать, доработать и выпустить годное</a:t>
            </a:r>
          </a:p>
        </p:txBody>
      </p:sp>
      <p:sp>
        <p:nvSpPr>
          <p:cNvPr id="42" name="Rectangle 41"/>
          <p:cNvSpPr/>
          <p:nvPr/>
        </p:nvSpPr>
        <p:spPr>
          <a:xfrm>
            <a:off x="3291839"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3355847"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адаптеры и ручная правка</a:t>
            </a:r>
          </a:p>
        </p:txBody>
      </p:sp>
      <p:sp>
        <p:nvSpPr>
          <p:cNvPr id="44" name="Rectangle 43"/>
          <p:cNvSpPr/>
          <p:nvPr/>
        </p:nvSpPr>
        <p:spPr>
          <a:xfrm>
            <a:off x="4971227"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5035235"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ручная правка дикции</a:t>
            </a:r>
          </a:p>
        </p:txBody>
      </p:sp>
      <p:sp>
        <p:nvSpPr>
          <p:cNvPr id="46" name="Rectangle 45"/>
          <p:cNvSpPr/>
          <p:nvPr/>
        </p:nvSpPr>
        <p:spPr>
          <a:xfrm>
            <a:off x="6650614"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6714622"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ручной отбор и склейка</a:t>
            </a:r>
          </a:p>
        </p:txBody>
      </p:sp>
      <p:sp>
        <p:nvSpPr>
          <p:cNvPr id="48" name="Rectangle 47"/>
          <p:cNvSpPr/>
          <p:nvPr/>
        </p:nvSpPr>
        <p:spPr>
          <a:xfrm>
            <a:off x="8330001"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49" name="TextBox 48"/>
          <p:cNvSpPr txBox="1"/>
          <p:nvPr/>
        </p:nvSpPr>
        <p:spPr>
          <a:xfrm>
            <a:off x="8394009"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ретопология, развёртка, риггинг остаются людям</a:t>
            </a:r>
          </a:p>
        </p:txBody>
      </p:sp>
      <p:sp>
        <p:nvSpPr>
          <p:cNvPr id="50" name="Rectangle 49"/>
          <p:cNvSpPr/>
          <p:nvPr/>
        </p:nvSpPr>
        <p:spPr>
          <a:xfrm>
            <a:off x="10009388"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249652"/>
            <a:ext cx="2788920" cy="412979"/>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31366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Восстановить существующее</a:t>
            </a:r>
          </a:p>
          <a:p>
            <a:pPr algn="l">
              <a:lnSpc>
                <a:spcPct val="113000"/>
              </a:lnSpc>
              <a:spcBef>
                <a:spcPts val="200"/>
              </a:spcBef>
            </a:pPr>
            <a:r>
              <a:rPr sz="650" b="0" i="1">
                <a:solidFill>
                  <a:srgbClr val="1C7293"/>
                </a:solidFill>
                <a:latin typeface="Arial"/>
              </a:rPr>
              <a:t>вытащить то, что уже записано, но читается плохо</a:t>
            </a:r>
          </a:p>
        </p:txBody>
      </p:sp>
      <p:sp>
        <p:nvSpPr>
          <p:cNvPr id="53" name="Rectangle 52"/>
          <p:cNvSpPr/>
          <p:nvPr/>
        </p:nvSpPr>
        <p:spPr>
          <a:xfrm>
            <a:off x="3291839"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повышение разрешения архива</a:t>
            </a:r>
          </a:p>
        </p:txBody>
      </p:sp>
      <p:sp>
        <p:nvSpPr>
          <p:cNvPr id="55" name="Rectangle 54"/>
          <p:cNvSpPr/>
          <p:nvPr/>
        </p:nvSpPr>
        <p:spPr>
          <a:xfrm>
            <a:off x="4971227"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разделение источников</a:t>
            </a:r>
          </a:p>
        </p:txBody>
      </p:sp>
      <p:sp>
        <p:nvSpPr>
          <p:cNvPr id="57" name="Rectangle 56"/>
          <p:cNvSpPr/>
          <p:nvPr/>
        </p:nvSpPr>
        <p:spPr>
          <a:xfrm>
            <a:off x="6650614"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58" name="TextBox 57"/>
          <p:cNvSpPr txBox="1"/>
          <p:nvPr/>
        </p:nvSpPr>
        <p:spPr>
          <a:xfrm>
            <a:off x="6714622"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интерполяция кадров</a:t>
            </a:r>
          </a:p>
        </p:txBody>
      </p:sp>
      <p:sp>
        <p:nvSpPr>
          <p:cNvPr id="59" name="Rectangle 58"/>
          <p:cNvSpPr/>
          <p:nvPr/>
        </p:nvSpPr>
        <p:spPr>
          <a:xfrm>
            <a:off x="8330001"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8394009"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сцена из снимков: 41 минута, 134 кадра в секунду</a:t>
            </a:r>
          </a:p>
        </p:txBody>
      </p:sp>
      <p:sp>
        <p:nvSpPr>
          <p:cNvPr id="61" name="Rectangle 60"/>
          <p:cNvSpPr/>
          <p:nvPr/>
        </p:nvSpPr>
        <p:spPr>
          <a:xfrm>
            <a:off x="10009388" y="4249652"/>
            <a:ext cx="1679387" cy="412979"/>
          </a:xfrm>
          <a:prstGeom prst="rect">
            <a:avLst/>
          </a:prstGeom>
          <a:solidFill>
            <a:srgbClr val="F4F7FA"/>
          </a:solidFill>
          <a:ln w="9525">
            <a:solidFill>
              <a:srgbClr val="D9E2EC"/>
            </a:solidFill>
          </a:ln>
          <a:effectLst/>
        </p:spPr>
        <p:txBody>
          <a:bodyPr rtlCol="0" anchor="ctr"/>
          <a:lstStyle/>
          <a:p>
            <a:pPr algn="ctr"/>
          </a:p>
        </p:txBody>
      </p:sp>
      <p:sp>
        <p:nvSpPr>
          <p:cNvPr id="62" name="Rectangle 61"/>
          <p:cNvSpPr/>
          <p:nvPr/>
        </p:nvSpPr>
        <p:spPr>
          <a:xfrm>
            <a:off x="502920" y="4662631"/>
            <a:ext cx="2788920" cy="412979"/>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566928" y="472663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Соблюсти точные величины</a:t>
            </a:r>
          </a:p>
          <a:p>
            <a:pPr algn="l">
              <a:lnSpc>
                <a:spcPct val="113000"/>
              </a:lnSpc>
              <a:spcBef>
                <a:spcPts val="200"/>
              </a:spcBef>
            </a:pPr>
            <a:r>
              <a:rPr sz="650" b="0" i="1">
                <a:solidFill>
                  <a:srgbClr val="1C7293"/>
                </a:solidFill>
                <a:latin typeface="Arial"/>
              </a:rPr>
              <a:t>размеры, допуски, проверяемые условия</a:t>
            </a:r>
          </a:p>
        </p:txBody>
      </p:sp>
      <p:sp>
        <p:nvSpPr>
          <p:cNvPr id="64" name="Rectangle 63"/>
          <p:cNvSpPr/>
          <p:nvPr/>
        </p:nvSpPr>
        <p:spPr>
          <a:xfrm>
            <a:off x="3291839"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3355847"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66" name="Rectangle 65"/>
          <p:cNvSpPr/>
          <p:nvPr/>
        </p:nvSpPr>
        <p:spPr>
          <a:xfrm>
            <a:off x="4971227"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7" name="TextBox 66"/>
          <p:cNvSpPr txBox="1"/>
          <p:nvPr/>
        </p:nvSpPr>
        <p:spPr>
          <a:xfrm>
            <a:off x="5035235"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длина задана до запуска</a:t>
            </a:r>
          </a:p>
        </p:txBody>
      </p:sp>
      <p:sp>
        <p:nvSpPr>
          <p:cNvPr id="68" name="Rectangle 67"/>
          <p:cNvSpPr/>
          <p:nvPr/>
        </p:nvSpPr>
        <p:spPr>
          <a:xfrm>
            <a:off x="6650614"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69" name="TextBox 68"/>
          <p:cNvSpPr txBox="1"/>
          <p:nvPr/>
        </p:nvSpPr>
        <p:spPr>
          <a:xfrm>
            <a:off x="6714622"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физика выучена как корреляция</a:t>
            </a:r>
          </a:p>
        </p:txBody>
      </p:sp>
      <p:sp>
        <p:nvSpPr>
          <p:cNvPr id="70" name="Rectangle 69"/>
          <p:cNvSpPr/>
          <p:nvPr/>
        </p:nvSpPr>
        <p:spPr>
          <a:xfrm>
            <a:off x="8330001"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1" name="TextBox 70"/>
          <p:cNvSpPr txBox="1"/>
          <p:nvPr/>
        </p:nvSpPr>
        <p:spPr>
          <a:xfrm>
            <a:off x="8394009"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72" name="Rectangle 71"/>
          <p:cNvSpPr/>
          <p:nvPr/>
        </p:nvSpPr>
        <p:spPr>
          <a:xfrm>
            <a:off x="10009388"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3" name="Rectangle 72"/>
          <p:cNvSpPr/>
          <p:nvPr/>
        </p:nvSpPr>
        <p:spPr>
          <a:xfrm>
            <a:off x="502920" y="5075611"/>
            <a:ext cx="2788920" cy="412979"/>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66928" y="513961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Уложиться в бюджет реального времени</a:t>
            </a:r>
          </a:p>
          <a:p>
            <a:pPr algn="l">
              <a:lnSpc>
                <a:spcPct val="113000"/>
              </a:lnSpc>
              <a:spcBef>
                <a:spcPts val="200"/>
              </a:spcBef>
            </a:pPr>
            <a:r>
              <a:rPr sz="650" b="0" i="1">
                <a:solidFill>
                  <a:srgbClr val="1C7293"/>
                </a:solidFill>
                <a:latin typeface="Arial"/>
              </a:rPr>
              <a:t>успеть к сроку кадра, а не к сроку задачи</a:t>
            </a:r>
          </a:p>
        </p:txBody>
      </p:sp>
      <p:sp>
        <p:nvSpPr>
          <p:cNvPr id="75" name="Rectangle 74"/>
          <p:cNvSpPr/>
          <p:nvPr/>
        </p:nvSpPr>
        <p:spPr>
          <a:xfrm>
            <a:off x="3291839"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3355847"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77" name="Rectangle 76"/>
          <p:cNvSpPr/>
          <p:nvPr/>
        </p:nvSpPr>
        <p:spPr>
          <a:xfrm>
            <a:off x="4971227"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78" name="TextBox 77"/>
          <p:cNvSpPr txBox="1"/>
          <p:nvPr/>
        </p:nvSpPr>
        <p:spPr>
          <a:xfrm>
            <a:off x="5035235"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79" name="Rectangle 78"/>
          <p:cNvSpPr/>
          <p:nvPr/>
        </p:nvSpPr>
        <p:spPr>
          <a:xfrm>
            <a:off x="6650614"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80" name="TextBox 79"/>
          <p:cNvSpPr txBox="1"/>
          <p:nvPr/>
        </p:nvSpPr>
        <p:spPr>
          <a:xfrm>
            <a:off x="6714622"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в кадровый бюджет не укладывается</a:t>
            </a:r>
          </a:p>
        </p:txBody>
      </p:sp>
      <p:sp>
        <p:nvSpPr>
          <p:cNvPr id="81" name="Rectangle 80"/>
          <p:cNvSpPr/>
          <p:nvPr/>
        </p:nvSpPr>
        <p:spPr>
          <a:xfrm>
            <a:off x="8330001"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82" name="TextBox 81"/>
          <p:cNvSpPr txBox="1"/>
          <p:nvPr/>
        </p:nvSpPr>
        <p:spPr>
          <a:xfrm>
            <a:off x="8394009"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около 1 мс на кадр</a:t>
            </a:r>
          </a:p>
        </p:txBody>
      </p:sp>
      <p:sp>
        <p:nvSpPr>
          <p:cNvPr id="83" name="Rectangle 82"/>
          <p:cNvSpPr/>
          <p:nvPr/>
        </p:nvSpPr>
        <p:spPr>
          <a:xfrm>
            <a:off x="10009388" y="5075611"/>
            <a:ext cx="1679387" cy="412979"/>
          </a:xfrm>
          <a:prstGeom prst="rect">
            <a:avLst/>
          </a:prstGeom>
          <a:solidFill>
            <a:srgbClr val="F4F7FA"/>
          </a:solidFill>
          <a:ln w="9525">
            <a:solidFill>
              <a:srgbClr val="D9E2EC"/>
            </a:solidFill>
          </a:ln>
          <a:effectLst/>
        </p:spPr>
        <p:txBody>
          <a:bodyPr rtlCol="0" anchor="ctr"/>
          <a:lstStyle/>
          <a:p>
            <a:pPr algn="ctr"/>
          </a:p>
        </p:txBody>
      </p:sp>
      <p:sp>
        <p:nvSpPr>
          <p:cNvPr id="84" name="Rectangle 83"/>
          <p:cNvSpPr/>
          <p:nvPr/>
        </p:nvSpPr>
        <p:spPr>
          <a:xfrm>
            <a:off x="502920" y="5488590"/>
            <a:ext cx="2788920" cy="412979"/>
          </a:xfrm>
          <a:prstGeom prst="rect">
            <a:avLst/>
          </a:prstGeom>
          <a:solidFill>
            <a:srgbClr val="F4F7FA"/>
          </a:solidFill>
          <a:ln w="9525">
            <a:solidFill>
              <a:srgbClr val="D9E2EC"/>
            </a:solidFill>
          </a:ln>
          <a:effectLst/>
        </p:spPr>
        <p:txBody>
          <a:bodyPr rtlCol="0" anchor="ctr"/>
          <a:lstStyle/>
          <a:p>
            <a:pPr algn="ctr"/>
          </a:p>
        </p:txBody>
      </p:sp>
      <p:sp>
        <p:nvSpPr>
          <p:cNvPr id="85" name="TextBox 84"/>
          <p:cNvSpPr txBox="1"/>
          <p:nvPr/>
        </p:nvSpPr>
        <p:spPr>
          <a:xfrm>
            <a:off x="566928" y="5552598"/>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Ответить «кто отвечает»</a:t>
            </a:r>
          </a:p>
          <a:p>
            <a:pPr algn="l">
              <a:lnSpc>
                <a:spcPct val="113000"/>
              </a:lnSpc>
              <a:spcBef>
                <a:spcPts val="200"/>
              </a:spcBef>
            </a:pPr>
            <a:r>
              <a:rPr sz="650" b="0" i="1">
                <a:solidFill>
                  <a:srgbClr val="1C7293"/>
                </a:solidFill>
                <a:latin typeface="Arial"/>
              </a:rPr>
              <a:t>происхождение, права, подпись под результатом</a:t>
            </a:r>
          </a:p>
        </p:txBody>
      </p:sp>
      <p:sp>
        <p:nvSpPr>
          <p:cNvPr id="86" name="Rectangle 85"/>
          <p:cNvSpPr/>
          <p:nvPr/>
        </p:nvSpPr>
        <p:spPr>
          <a:xfrm>
            <a:off x="3291839"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7" name="TextBox 86"/>
          <p:cNvSpPr txBox="1"/>
          <p:nvPr/>
        </p:nvSpPr>
        <p:spPr>
          <a:xfrm>
            <a:off x="3355847"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88" name="Rectangle 87"/>
          <p:cNvSpPr/>
          <p:nvPr/>
        </p:nvSpPr>
        <p:spPr>
          <a:xfrm>
            <a:off x="4971227"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89" name="TextBox 88"/>
          <p:cNvSpPr txBox="1"/>
          <p:nvPr/>
        </p:nvSpPr>
        <p:spPr>
          <a:xfrm>
            <a:off x="5035235"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90" name="Rectangle 89"/>
          <p:cNvSpPr/>
          <p:nvPr/>
        </p:nvSpPr>
        <p:spPr>
          <a:xfrm>
            <a:off x="6650614"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1" name="TextBox 90"/>
          <p:cNvSpPr txBox="1"/>
          <p:nvPr/>
        </p:nvSpPr>
        <p:spPr>
          <a:xfrm>
            <a:off x="6714622"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92" name="Rectangle 91"/>
          <p:cNvSpPr/>
          <p:nvPr/>
        </p:nvSpPr>
        <p:spPr>
          <a:xfrm>
            <a:off x="8330001"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3" name="TextBox 92"/>
          <p:cNvSpPr txBox="1"/>
          <p:nvPr/>
        </p:nvSpPr>
        <p:spPr>
          <a:xfrm>
            <a:off x="8394009"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94" name="Rectangle 93"/>
          <p:cNvSpPr/>
          <p:nvPr/>
        </p:nvSpPr>
        <p:spPr>
          <a:xfrm>
            <a:off x="10009388"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95" name="Rounded Rectangle 94"/>
          <p:cNvSpPr/>
          <p:nvPr/>
        </p:nvSpPr>
        <p:spPr>
          <a:xfrm>
            <a:off x="502920" y="5983866"/>
            <a:ext cx="11185855" cy="252341"/>
          </a:xfrm>
          <a:prstGeom prst="roundRect">
            <a:avLst>
              <a:gd name="adj" fmla="val 14000"/>
            </a:avLst>
          </a:prstGeom>
          <a:solidFill>
            <a:srgbClr val="FEF5E0"/>
          </a:solidFill>
          <a:ln>
            <a:noFill/>
          </a:ln>
          <a:effectLst/>
        </p:spPr>
        <p:txBody>
          <a:bodyPr rtlCol="0" anchor="ctr"/>
          <a:lstStyle/>
          <a:p>
            <a:pPr algn="ctr"/>
          </a:p>
        </p:txBody>
      </p:sp>
      <p:sp>
        <p:nvSpPr>
          <p:cNvPr id="96" name="Rectangle 95"/>
          <p:cNvSpPr/>
          <p:nvPr/>
        </p:nvSpPr>
        <p:spPr>
          <a:xfrm>
            <a:off x="502920" y="5983866"/>
            <a:ext cx="68580" cy="252341"/>
          </a:xfrm>
          <a:prstGeom prst="rect">
            <a:avLst/>
          </a:prstGeom>
          <a:solidFill>
            <a:srgbClr val="F0AB00"/>
          </a:solidFill>
          <a:ln>
            <a:noFill/>
          </a:ln>
          <a:effectLst/>
        </p:spPr>
        <p:txBody>
          <a:bodyPr rtlCol="0" anchor="ctr"/>
          <a:lstStyle/>
          <a:p>
            <a:pPr algn="ctr"/>
          </a:p>
        </p:txBody>
      </p:sp>
      <p:sp>
        <p:nvSpPr>
          <p:cNvPr id="97" name="TextBox 96"/>
          <p:cNvSpPr txBox="1"/>
          <p:nvPr/>
        </p:nvSpPr>
        <p:spPr>
          <a:xfrm>
            <a:off x="685800" y="6047874"/>
            <a:ext cx="10783519" cy="124325"/>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98" name="Rectangle 9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9" name="TextBox 9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chapter-part3c.md §§ 4.19, 4.21; REESTR-RAZBOROV-part3.md § 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5. Распознавание и происхождение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8" name="TextBox 7"/>
          <p:cNvSpPr txBox="1"/>
          <p:nvPr/>
        </p:nvSpPr>
        <p:spPr>
          <a:xfrm>
            <a:off x="704088" y="3382105"/>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chapter-part3d.md §§ 5.1–5.6; chapter-part3e.md §§ 5.9–5.20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1932846"/>
            <a:ext cx="3344570"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40–61% статей содержат хотя бы одну ошибку</a:t>
            </a:r>
          </a:p>
        </p:txBody>
      </p:sp>
      <p:sp>
        <p:nvSpPr>
          <p:cNvPr id="7" name="TextBox 6"/>
          <p:cNvSpPr txBox="1"/>
          <p:nvPr/>
        </p:nvSpPr>
        <p:spPr>
          <a:xfrm>
            <a:off x="640080" y="266539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8207044"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502920" y="3704039"/>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5948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вопроса, которые постоянно смешивают</a:t>
            </a:r>
          </a:p>
        </p:txBody>
      </p:sp>
      <p:sp>
        <p:nvSpPr>
          <p:cNvPr id="18" name="TextBox 17"/>
          <p:cNvSpPr txBox="1"/>
          <p:nvPr/>
        </p:nvSpPr>
        <p:spPr>
          <a:xfrm>
            <a:off x="667512" y="4215666"/>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что здесь изображено или написано — чтение нечитаемого, атрибуция, поиск по архиву, разметка, перевод. Ответ проверяем</a:t>
            </a:r>
          </a:p>
          <a:p>
            <a:pPr algn="l">
              <a:lnSpc>
                <a:spcPct val="126000"/>
              </a:lnSpc>
            </a:pPr>
            <a:r>
              <a:rPr sz="900" b="0" i="0">
                <a:solidFill>
                  <a:srgbClr val="21295C"/>
                </a:solidFill>
                <a:latin typeface="Arial"/>
              </a:rPr>
              <a:t>• как это сделано — снято камерой или синтезировано. Ответ вероятностный и крайне чувствителен к тому, видел ли распознаватель ту модель, которая это породила</a:t>
            </a:r>
          </a:p>
          <a:p>
            <a:pPr algn="l">
              <a:lnSpc>
                <a:spcPct val="126000"/>
              </a:lnSpc>
            </a:pPr>
            <a:r>
              <a:rPr sz="900" b="0" i="0">
                <a:solidFill>
                  <a:srgbClr val="21295C"/>
                </a:solidFill>
                <a:latin typeface="Arial"/>
              </a:rPr>
              <a:t>• кто за это отвечает — цепочка от съёмки до публикации, подписи, права, ответственный редактор. Ответ про людей и организации, не про содержимое</a:t>
            </a:r>
          </a:p>
          <a:p>
            <a:pPr algn="l">
              <a:lnSpc>
                <a:spcPct val="126000"/>
              </a:lnSpc>
            </a:pPr>
            <a:r>
              <a:rPr sz="900" b="0" i="0">
                <a:solidFill>
                  <a:srgbClr val="21295C"/>
                </a:solidFill>
                <a:latin typeface="Arial"/>
              </a:rPr>
              <a:t>• ни один из трёх не отвечает на вопрос «правда ли это»: подлинная фотография может иллюстрировать ложное утверждение, сгенерированная — сопровождать точный текст</a:t>
            </a:r>
          </a:p>
        </p:txBody>
      </p:sp>
      <p:sp>
        <p:nvSpPr>
          <p:cNvPr id="19" name="Rounded Rectangle 18"/>
          <p:cNvSpPr/>
          <p:nvPr/>
        </p:nvSpPr>
        <p:spPr>
          <a:xfrm>
            <a:off x="6251295" y="3704039"/>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5948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Откуда берут данные для суждения</a:t>
            </a:r>
          </a:p>
        </p:txBody>
      </p:sp>
      <p:sp>
        <p:nvSpPr>
          <p:cNvPr id="21" name="TextBox 20"/>
          <p:cNvSpPr txBox="1"/>
          <p:nvPr/>
        </p:nvSpPr>
        <p:spPr>
          <a:xfrm>
            <a:off x="6415887" y="4215666"/>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физические методы: рентгеновская томография, рентгенофлуоресцентный анализ, инфракрасная рефлектография, ультрафиолет, спектральный анализ пигментов, радиоуглерод, дендрохронология</a:t>
            </a:r>
          </a:p>
          <a:p>
            <a:pPr algn="l">
              <a:lnSpc>
                <a:spcPct val="126000"/>
              </a:lnSpc>
            </a:pPr>
            <a:r>
              <a:rPr sz="900" b="0" i="0">
                <a:solidFill>
                  <a:srgbClr val="21295C"/>
                </a:solidFill>
                <a:latin typeface="Arial"/>
              </a:rPr>
              <a:t>• цифровые следы: служебные поля файла, история правок, контрольные суммы, обратный поиск по изображению. Самое дешёвое семейство и самое хрупкое — пересохранение или снимок экрана уничтожают следы начисто</a:t>
            </a:r>
          </a:p>
          <a:p>
            <a:pPr algn="l">
              <a:lnSpc>
                <a:spcPct val="126000"/>
              </a:lnSpc>
            </a:pPr>
            <a:r>
              <a:rPr sz="900" b="0" i="0">
                <a:solidFill>
                  <a:srgbClr val="21295C"/>
                </a:solidFill>
                <a:latin typeface="Arial"/>
              </a:rPr>
              <a:t>• редакционные и экспертные процедуры: звонок источнику, второй независимый источник, сверка с первичным документом, профильный эксперт</a:t>
            </a:r>
          </a:p>
          <a:p>
            <a:pPr algn="l">
              <a:lnSpc>
                <a:spcPct val="126000"/>
              </a:lnSpc>
            </a:pPr>
            <a:r>
              <a:rPr sz="900" b="0" i="0">
                <a:solidFill>
                  <a:srgbClr val="21295C"/>
                </a:solidFill>
                <a:latin typeface="Arial"/>
              </a:rPr>
              <a:t>• модель вошла в первое семейство как способ прочесть то, что измерили приборы, и во второе как распознаватель. В третье она не вошла и не может</a:t>
            </a:r>
          </a:p>
        </p:txBody>
      </p:sp>
      <p:sp>
        <p:nvSpPr>
          <p:cNvPr id="22" name="Rounded Rectangle 21"/>
          <p:cNvSpPr/>
          <p:nvPr/>
        </p:nvSpPr>
        <p:spPr>
          <a:xfrm>
            <a:off x="374904" y="5212799"/>
            <a:ext cx="11441887" cy="102340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304239"/>
            <a:ext cx="11112703" cy="931968"/>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На входе — готовый артефакт: файл, снимок, запись, текст, предмет. На выходе — суждение о нём.</a:t>
            </a:r>
          </a:p>
          <a:p>
            <a:pPr algn="l">
              <a:lnSpc>
                <a:spcPct val="126000"/>
              </a:lnSpc>
              <a:spcBef>
                <a:spcPts val="700"/>
              </a:spcBef>
            </a:pPr>
            <a:r>
              <a:rPr sz="850" b="0" i="0">
                <a:solidFill>
                  <a:srgbClr val="21295C"/>
                </a:solidFill>
                <a:latin typeface="Arial"/>
              </a:rPr>
              <a:t/>
            </a:r>
            <a:r>
              <a:rPr sz="850" b="1" i="0">
                <a:solidFill>
                  <a:srgbClr val="21295C"/>
                </a:solidFill>
                <a:latin typeface="Arial"/>
              </a:rPr>
              <a:t>Два решения, оба бинарные и оба необратимые по последствиям.</a:t>
            </a:r>
            <a:r>
              <a:rPr sz="850" b="0" i="0">
                <a:solidFill>
                  <a:srgbClr val="21295C"/>
                </a:solidFill>
                <a:latin typeface="Arial"/>
              </a:rPr>
              <a:t> «Выпускать или нет» — в редакции, на площадке, в прокате. «Считать подлинным или нет» — в музее, в суде, в архиве. Выпущенное нельзя не выпустить; атрибуцию отзывают скандалом.</a:t>
            </a:r>
          </a:p>
          <a:p>
            <a:pPr algn="l">
              <a:lnSpc>
                <a:spcPct val="126000"/>
              </a:lnSpc>
              <a:spcBef>
                <a:spcPts val="700"/>
              </a:spcBef>
            </a:pPr>
            <a:r>
              <a:rPr sz="850" b="0" i="0">
                <a:solidFill>
                  <a:srgbClr val="21295C"/>
                </a:solidFill>
                <a:latin typeface="Arial"/>
              </a:rPr>
              <a:t/>
            </a:r>
            <a:r>
              <a:rPr sz="850" b="1" i="0">
                <a:solidFill>
                  <a:srgbClr val="21295C"/>
                </a:solidFill>
                <a:latin typeface="Arial"/>
              </a:rPr>
              <a:t>Четыре классических режима, и числа есть у одного.</a:t>
            </a:r>
            <a:r>
              <a:rPr sz="850" b="0" i="0">
                <a:solidFill>
                  <a:srgbClr val="21295C"/>
                </a:solidFill>
                <a:latin typeface="Arial"/>
              </a:rPr>
              <a:t> Экспертиза подлинности — недели и месяцы, стоимости в источниках нет. Ручная реставрация — то же. </a:t>
            </a:r>
            <a:r>
              <a:rPr sz="850" b="1" i="0">
                <a:solidFill>
                  <a:srgbClr val="21295C"/>
                </a:solidFill>
                <a:latin typeface="Arial"/>
              </a:rPr>
              <a:t>Физическое развёртывание свитка — единственный классический способ прочесть обугленный папирус, и любая попытка его развернуть предмет разрушает.</a:t>
            </a:r>
            <a:r>
              <a:rPr sz="850" b="0" i="0">
                <a:solidFill>
                  <a:srgbClr val="21295C"/>
                </a:solidFill>
                <a:latin typeface="Arial"/>
              </a:rPr>
              <a:t> Редакционная проверка фактов — </a:t>
            </a:r>
            <a:r>
              <a:rPr sz="850" b="1" i="0">
                <a:solidFill>
                  <a:srgbClr val="21295C"/>
                </a:solidFill>
                <a:latin typeface="Arial"/>
              </a:rPr>
              <a:t>40–61 процента газетных статей содержат хотя бы одну ошибку</a:t>
            </a:r>
            <a:r>
              <a:rPr sz="850" b="0" i="0">
                <a:solidFill>
                  <a:srgbClr val="21295C"/>
                </a:solidFill>
                <a:latin typeface="Arial"/>
              </a:rPr>
              <a:t>, и публично исправляется </a:t>
            </a:r>
            <a:r>
              <a:rPr sz="850" b="1" i="0">
                <a:solidFill>
                  <a:srgbClr val="21295C"/>
                </a:solidFill>
                <a:latin typeface="Arial"/>
              </a:rPr>
              <a:t>около 2 процентов</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Эту пару стоит прочитать дважды.</a:t>
            </a:r>
            <a:r>
              <a:rPr sz="85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 чем они того заслуживают.</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chapter-part3d.md §§ 5.1–5.5; независимые аудиты точности газетных материалов</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ПОПЫТКИ ПРОЧЕСТЬ КЛАССИЧЕСКИМ СПОСОБОМ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уничтожение предмета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развернуть обугленный свиток означает его раскрошить; за два с половиной века так погибла часть собрания</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ОТКАЗА ОТ ПОПЫТКИ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текст не прочитан никогда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существует в единственном экземпляре, обе ошибки окончательны</a:t>
            </a:r>
          </a:p>
        </p:txBody>
      </p:sp>
      <p:sp>
        <p:nvSpPr>
          <p:cNvPr id="12" name="Rounded Rectangle 11"/>
          <p:cNvSpPr/>
          <p:nvPr/>
        </p:nvSpPr>
        <p:spPr>
          <a:xfrm>
            <a:off x="502920" y="2876613"/>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01377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ПРОЧИТАНО 25 ИЮНЯ 2026 ГОДА</a:t>
            </a:r>
          </a:p>
        </p:txBody>
      </p:sp>
      <p:sp>
        <p:nvSpPr>
          <p:cNvPr id="14" name="TextBox 13"/>
          <p:cNvSpPr txBox="1"/>
          <p:nvPr/>
        </p:nvSpPr>
        <p:spPr>
          <a:xfrm>
            <a:off x="640080" y="3266964"/>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PHerc. 1667 целиком</a:t>
            </a:r>
          </a:p>
        </p:txBody>
      </p:sp>
      <p:sp>
        <p:nvSpPr>
          <p:cNvPr id="15" name="TextBox 14"/>
          <p:cNvSpPr txBox="1"/>
          <p:nvPr/>
        </p:nvSpPr>
        <p:spPr>
          <a:xfrm>
            <a:off x="640080" y="3693963"/>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1,4 метра папируса, около 22 колонок греческого текста, впервые примерно за две тысячи лет</a:t>
            </a:r>
          </a:p>
        </p:txBody>
      </p:sp>
      <p:sp>
        <p:nvSpPr>
          <p:cNvPr id="16" name="Rounded Rectangle 15"/>
          <p:cNvSpPr/>
          <p:nvPr/>
        </p:nvSpPr>
        <p:spPr>
          <a:xfrm>
            <a:off x="6178143" y="2876613"/>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3013773"/>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ДОМЫСЛЕНО МАШИНОЙ</a:t>
            </a:r>
          </a:p>
        </p:txBody>
      </p:sp>
      <p:sp>
        <p:nvSpPr>
          <p:cNvPr id="18" name="TextBox 17"/>
          <p:cNvSpPr txBox="1"/>
          <p:nvPr/>
        </p:nvSpPr>
        <p:spPr>
          <a:xfrm>
            <a:off x="6315303" y="3266964"/>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одной буквы</a:t>
            </a:r>
          </a:p>
        </p:txBody>
      </p:sp>
      <p:sp>
        <p:nvSpPr>
          <p:cNvPr id="19" name="TextBox 18"/>
          <p:cNvSpPr txBox="1"/>
          <p:nvPr/>
        </p:nvSpPr>
        <p:spPr>
          <a:xfrm>
            <a:off x="6315303" y="3693963"/>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отвечает на вопрос «где здесь чернила» — задача с проверяемым ответом</a:t>
            </a:r>
          </a:p>
        </p:txBody>
      </p:sp>
      <p:sp>
        <p:nvSpPr>
          <p:cNvPr id="20" name="TextBox 19"/>
          <p:cNvSpPr txBox="1"/>
          <p:nvPr/>
        </p:nvSpPr>
        <p:spPr>
          <a:xfrm>
            <a:off x="502920" y="4473066"/>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Конкурс</a:t>
            </a:r>
          </a:p>
        </p:txBody>
      </p:sp>
      <p:sp>
        <p:nvSpPr>
          <p:cNvPr id="21" name="Rounded Rectangle 20"/>
          <p:cNvSpPr/>
          <p:nvPr/>
        </p:nvSpPr>
        <p:spPr>
          <a:xfrm>
            <a:off x="1920240" y="4436490"/>
            <a:ext cx="2236393"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482210"/>
            <a:ext cx="2071801"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октябрь 2023 — первое слово изнутри неразвёрнутого свитка: ΠΟΡΦΥΡΑϹ, «пурпур». Люк Фарритор, 21 год, приз 40 000 $</a:t>
            </a:r>
          </a:p>
        </p:txBody>
      </p:sp>
      <p:sp>
        <p:nvSpPr>
          <p:cNvPr id="23" name="Right Arrow 22"/>
          <p:cNvSpPr/>
          <p:nvPr/>
        </p:nvSpPr>
        <p:spPr>
          <a:xfrm>
            <a:off x="4202353" y="501489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436490"/>
            <a:ext cx="2236393"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482210"/>
            <a:ext cx="2071801"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февраль 2024 — несколько связных отрывков, главный приз 700 000 $: Юссеф Надер, Люк Фарритор, Юлиан Шиллигер</a:t>
            </a:r>
          </a:p>
        </p:txBody>
      </p:sp>
      <p:sp>
        <p:nvSpPr>
          <p:cNvPr id="26" name="Right Arrow 25"/>
          <p:cNvSpPr/>
          <p:nvPr/>
        </p:nvSpPr>
        <p:spPr>
          <a:xfrm>
            <a:off x="6713067" y="501489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436490"/>
            <a:ext cx="2236393"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482210"/>
            <a:ext cx="2071801"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опознаны сочинения Филодема: «О пороках», книга 1 — первый найденный заголовок</a:t>
            </a:r>
          </a:p>
        </p:txBody>
      </p:sp>
      <p:sp>
        <p:nvSpPr>
          <p:cNvPr id="29" name="Right Arrow 28"/>
          <p:cNvSpPr/>
          <p:nvPr/>
        </p:nvSpPr>
        <p:spPr>
          <a:xfrm>
            <a:off x="9223781" y="5014891"/>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436490"/>
            <a:ext cx="2236393"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482210"/>
            <a:ext cx="2071801"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25 июня 2026 — свиток прочитан целиком, от начала до конца</a:t>
            </a:r>
          </a:p>
        </p:txBody>
      </p:sp>
      <p:sp>
        <p:nvSpPr>
          <p:cNvPr id="32" name="TextBox 31"/>
          <p:cNvSpPr txBox="1"/>
          <p:nvPr/>
        </p:nvSpPr>
        <p:spPr>
          <a:xfrm>
            <a:off x="502920" y="576702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это шло по датам</a:t>
            </a:r>
          </a:p>
        </p:txBody>
      </p:sp>
      <p:sp>
        <p:nvSpPr>
          <p:cNvPr id="33" name="Rounded Rectangle 32"/>
          <p:cNvSpPr/>
          <p:nvPr/>
        </p:nvSpPr>
        <p:spPr>
          <a:xfrm>
            <a:off x="502920" y="6161151"/>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631659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делает машина</a:t>
            </a:r>
          </a:p>
        </p:txBody>
      </p:sp>
      <p:sp>
        <p:nvSpPr>
          <p:cNvPr id="35" name="TextBox 34"/>
          <p:cNvSpPr txBox="1"/>
          <p:nvPr/>
        </p:nvSpPr>
        <p:spPr>
          <a:xfrm>
            <a:off x="667512" y="6672778"/>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вход — рентгеновская томография обугленного свитка: послойное просвечивание, дающее трёхмерную плотность</a:t>
            </a:r>
          </a:p>
          <a:p>
            <a:pPr algn="l">
              <a:lnSpc>
                <a:spcPct val="126000"/>
              </a:lnSpc>
            </a:pPr>
            <a:r>
              <a:rPr sz="900" b="0" i="0">
                <a:solidFill>
                  <a:srgbClr val="21295C"/>
                </a:solidFill>
                <a:latin typeface="Arial"/>
              </a:rPr>
              <a:t>• первое: цифровое разворачивание слоёв — вьющаяся спиралью поверхность папируса математически распрямляется в плоскость</a:t>
            </a:r>
          </a:p>
          <a:p>
            <a:pPr algn="l">
              <a:lnSpc>
                <a:spcPct val="126000"/>
              </a:lnSpc>
            </a:pPr>
            <a:r>
              <a:rPr sz="900" b="0" i="0">
                <a:solidFill>
                  <a:srgbClr val="21295C"/>
                </a:solidFill>
                <a:latin typeface="Arial"/>
              </a:rPr>
              <a:t>• второе: обнаружение следов чернил.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a:p>
            <a:pPr algn="l">
              <a:lnSpc>
                <a:spcPct val="126000"/>
              </a:lnSpc>
            </a:pPr>
            <a:r>
              <a:rPr sz="900" b="0" i="0">
                <a:solidFill>
                  <a:srgbClr val="21295C"/>
                </a:solidFill>
                <a:latin typeface="Arial"/>
              </a:rPr>
              <a:t>• выход — изображение распрямлённой поверхности с проявленными чернилами</a:t>
            </a:r>
          </a:p>
        </p:txBody>
      </p:sp>
      <p:sp>
        <p:nvSpPr>
          <p:cNvPr id="36" name="Rounded Rectangle 35"/>
          <p:cNvSpPr/>
          <p:nvPr/>
        </p:nvSpPr>
        <p:spPr>
          <a:xfrm>
            <a:off x="6251295" y="6161151"/>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631659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делают люди и чего мы не знаем</a:t>
            </a:r>
          </a:p>
        </p:txBody>
      </p:sp>
      <p:sp>
        <p:nvSpPr>
          <p:cNvPr id="38" name="TextBox 37"/>
          <p:cNvSpPr txBox="1"/>
          <p:nvPr/>
        </p:nvSpPr>
        <p:spPr>
          <a:xfrm>
            <a:off x="6415887" y="6672778"/>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греческий текст читают люди — машина его не восстанавливает и окончаний не предполагает</a:t>
            </a:r>
          </a:p>
          <a:p>
            <a:pPr algn="l">
              <a:lnSpc>
                <a:spcPct val="126000"/>
              </a:lnSpc>
            </a:pPr>
            <a:r>
              <a:rPr sz="900" b="0" i="0">
                <a:solidFill>
                  <a:srgbClr val="21295C"/>
                </a:solidFill>
                <a:latin typeface="Arial"/>
              </a:rPr>
              <a:t>• Vesuvius Challenge и лаборатория EduceLab, профессор Брент Силз, Университет Кентукки, с Национальной библиотекой Неаполя</a:t>
            </a:r>
          </a:p>
          <a:p>
            <a:pPr algn="l">
              <a:lnSpc>
                <a:spcPct val="126000"/>
              </a:lnSpc>
            </a:pPr>
            <a:r>
              <a:rPr sz="900" b="0" i="0">
                <a:solidFill>
                  <a:srgbClr val="21295C"/>
                </a:solidFill>
                <a:latin typeface="Arial"/>
              </a:rPr>
              <a:t>• задача решена открытым соревнованием с денежными призами, а не штатной лабораторией: бо́льшую часть дочитавшей команды составляют бывшие участники конкурса, а первое слово прочёл двадцатиоднолетний студент</a:t>
            </a:r>
          </a:p>
          <a:p>
            <a:pPr algn="l">
              <a:lnSpc>
                <a:spcPct val="126000"/>
              </a:lnSpc>
            </a:pPr>
            <a:r>
              <a:rPr sz="900" b="0" i="0">
                <a:solidFill>
                  <a:srgbClr val="21295C"/>
                </a:solidFill>
                <a:latin typeface="Arial"/>
              </a:rPr>
              <a:t>• объём и состав обучающей выборки распознавателя чернил в доступных публикациях не раскрыты — единственный точечный пробел разбора</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chapter-part3d.md § 5.7; 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ПРИЗНАК, ПО КОТОРОМУ ПРОХОДИТ ГРАНИЦА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есть ли независимая проверка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технология и не доля тронутого: существует ли способ проверить результат независимо от того, кто его получил</a:t>
            </a:r>
          </a:p>
        </p:txBody>
      </p:sp>
      <p:sp>
        <p:nvSpPr>
          <p:cNvPr id="8" name="Rounded Rectangle 7"/>
          <p:cNvSpPr/>
          <p:nvPr/>
        </p:nvSpPr>
        <p:spPr>
          <a:xfrm>
            <a:off x="502920" y="2683657"/>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0" name="TextBox 9"/>
          <p:cNvSpPr txBox="1"/>
          <p:nvPr/>
        </p:nvSpPr>
        <p:spPr>
          <a:xfrm>
            <a:off x="667512" y="319528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исходный материал: обугленный папирус, около 1,4 метра</a:t>
            </a:r>
          </a:p>
          <a:p>
            <a:pPr algn="l">
              <a:lnSpc>
                <a:spcPct val="126000"/>
              </a:lnSpc>
            </a:pPr>
            <a:r>
              <a:rPr sz="900" b="0" i="0">
                <a:solidFill>
                  <a:srgbClr val="21295C"/>
                </a:solidFill>
                <a:latin typeface="Arial"/>
              </a:rPr>
              <a:t>• что делает машина: находит чернила на томограмме</a:t>
            </a:r>
          </a:p>
          <a:p>
            <a:pPr algn="l">
              <a:lnSpc>
                <a:spcPct val="126000"/>
              </a:lnSpc>
            </a:pPr>
            <a:r>
              <a:rPr sz="900" b="0" i="0">
                <a:solidFill>
                  <a:srgbClr val="21295C"/>
                </a:solidFill>
                <a:latin typeface="Arial"/>
              </a:rPr>
              <a:t>• доля домысленного: 0%</a:t>
            </a:r>
          </a:p>
          <a:p>
            <a:pPr algn="l">
              <a:lnSpc>
                <a:spcPct val="126000"/>
              </a:lnSpc>
            </a:pPr>
            <a:r>
              <a:rPr sz="900" b="0" i="0">
                <a:solidFill>
                  <a:srgbClr val="21295C"/>
                </a:solidFill>
                <a:latin typeface="Arial"/>
              </a:rPr>
              <a:t>• кто читает результат: люди, греческий текст</a:t>
            </a:r>
          </a:p>
          <a:p>
            <a:pPr algn="l">
              <a:lnSpc>
                <a:spcPct val="126000"/>
              </a:lnSpc>
            </a:pPr>
            <a:r>
              <a:rPr sz="90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900" b="0" i="0">
                <a:solidFill>
                  <a:srgbClr val="21295C"/>
                </a:solidFill>
                <a:latin typeface="Arial"/>
              </a:rPr>
              <a:t>• что переехало: граница возможного</a:t>
            </a:r>
          </a:p>
        </p:txBody>
      </p:sp>
      <p:sp>
        <p:nvSpPr>
          <p:cNvPr id="11" name="Rounded Rectangle 10"/>
          <p:cNvSpPr/>
          <p:nvPr/>
        </p:nvSpPr>
        <p:spPr>
          <a:xfrm>
            <a:off x="6251295" y="2683657"/>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3" name="TextBox 12"/>
          <p:cNvSpPr txBox="1"/>
          <p:nvPr/>
        </p:nvSpPr>
        <p:spPr>
          <a:xfrm>
            <a:off x="6415887" y="3195284"/>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исходный материал: плёнка 1939 года, кадр 4:3</a:t>
            </a:r>
          </a:p>
          <a:p>
            <a:pPr algn="l">
              <a:lnSpc>
                <a:spcPct val="126000"/>
              </a:lnSpc>
            </a:pPr>
            <a:r>
              <a:rPr sz="900" b="0" i="0">
                <a:solidFill>
                  <a:srgbClr val="21295C"/>
                </a:solidFill>
                <a:latin typeface="Arial"/>
              </a:rPr>
              <a:t>• что делает машина: достраивает кадр по сторонам и повышает разрешение</a:t>
            </a:r>
          </a:p>
          <a:p>
            <a:pPr algn="l">
              <a:lnSpc>
                <a:spcPct val="126000"/>
              </a:lnSpc>
            </a:pPr>
            <a:r>
              <a:rPr sz="900" b="0" i="0">
                <a:solidFill>
                  <a:srgbClr val="21295C"/>
                </a:solidFill>
                <a:latin typeface="Arial"/>
              </a:rPr>
              <a:t>• доля домысленного: свыше 90% кадра тронуто</a:t>
            </a:r>
          </a:p>
          <a:p>
            <a:pPr algn="l">
              <a:lnSpc>
                <a:spcPct val="126000"/>
              </a:lnSpc>
            </a:pPr>
            <a:r>
              <a:rPr sz="900" b="0" i="0">
                <a:solidFill>
                  <a:srgbClr val="21295C"/>
                </a:solidFill>
                <a:latin typeface="Arial"/>
              </a:rPr>
              <a:t>• кто читает результат: зритель, как «тот самый фильм»</a:t>
            </a:r>
          </a:p>
          <a:p>
            <a:pPr algn="l">
              <a:lnSpc>
                <a:spcPct val="126000"/>
              </a:lnSpc>
            </a:pPr>
            <a:r>
              <a:rPr sz="900" b="0" i="0">
                <a:solidFill>
                  <a:srgbClr val="21295C"/>
                </a:solidFill>
                <a:latin typeface="Arial"/>
              </a:rPr>
              <a:t>• классический режим: существует, не посчитан</a:t>
            </a:r>
          </a:p>
          <a:p>
            <a:pPr algn="l">
              <a:lnSpc>
                <a:spcPct val="126000"/>
              </a:lnSpc>
            </a:pPr>
            <a:r>
              <a:rPr sz="900" b="0" i="0">
                <a:solidFill>
                  <a:srgbClr val="21295C"/>
                </a:solidFill>
                <a:latin typeface="Arial"/>
              </a:rPr>
              <a:t>• что переехало: граница между восстановлением и выдумыванием</a:t>
            </a:r>
          </a:p>
        </p:txBody>
      </p:sp>
      <p:sp>
        <p:nvSpPr>
          <p:cNvPr id="14" name="Rounded Rectangle 13"/>
          <p:cNvSpPr/>
          <p:nvPr/>
        </p:nvSpPr>
        <p:spPr>
          <a:xfrm>
            <a:off x="374904" y="4192417"/>
            <a:ext cx="11441887" cy="2043790"/>
          </a:xfrm>
          <a:prstGeom prst="roundRect">
            <a:avLst>
              <a:gd name="adj" fmla="val 14913"/>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83857"/>
            <a:ext cx="11112703" cy="1952350"/>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Техника соседняя: в обоих случаях обученная модель восстанавливает изображение, которого в исходных данных нет. Этика противоположная.</a:t>
            </a:r>
          </a:p>
          <a:p>
            <a:pPr algn="l">
              <a:lnSpc>
                <a:spcPct val="126000"/>
              </a:lnSpc>
              <a:spcBef>
                <a:spcPts val="700"/>
              </a:spcBef>
            </a:pPr>
            <a:r>
              <a:rPr sz="850" b="0" i="0">
                <a:solidFill>
                  <a:srgbClr val="21295C"/>
                </a:solidFill>
                <a:latin typeface="Arial"/>
              </a:rPr>
              <a:t/>
            </a:r>
            <a:r>
              <a:rPr sz="850" b="1" i="0">
                <a:solidFill>
                  <a:srgbClr val="21295C"/>
                </a:solidFill>
                <a:latin typeface="Arial"/>
              </a:rPr>
              <a:t>Ту же границу звук уже показал:</a:t>
            </a:r>
            <a:r>
              <a:rPr sz="850" b="0" i="0">
                <a:solidFill>
                  <a:srgbClr val="21295C"/>
                </a:solidFill>
                <a:latin typeface="Arial"/>
              </a:rPr>
              <a:t> у разделения источников эталон существует, и ни одна нота «Now and Then» не сгенерирована — записанное достали из сигнала. Здесь достают из сигнала чернила, а край декорации дорисовывают.</a:t>
            </a:r>
          </a:p>
          <a:p>
            <a:pPr algn="l">
              <a:lnSpc>
                <a:spcPct val="126000"/>
              </a:lnSpc>
              <a:spcBef>
                <a:spcPts val="700"/>
              </a:spcBef>
            </a:pPr>
            <a:r>
              <a:rPr sz="850" b="0" i="0">
                <a:solidFill>
                  <a:srgbClr val="21295C"/>
                </a:solidFill>
                <a:latin typeface="Arial"/>
              </a:rPr>
              <a:t/>
            </a:r>
            <a:r>
              <a:rPr sz="850" b="1" i="0">
                <a:solidFill>
                  <a:srgbClr val="21295C"/>
                </a:solidFill>
                <a:latin typeface="Arial"/>
              </a:rPr>
              <a:t>Границу проводит один признак: существует ли способ проверить результат независимо от того, кто его получил.</a:t>
            </a:r>
            <a:r>
              <a:rPr sz="850" b="0" i="0">
                <a:solidFill>
                  <a:srgbClr val="21295C"/>
                </a:solidFill>
                <a:latin typeface="Arial"/>
              </a:rPr>
              <a:t> Ни технология, ни доля тронутого её не определяют. Прочитанное слово ΠΟΡΦΥΡΑϹ проверяется греческой филологией, соседними колонками и сопоставлением с другими свитками того же собрания. Достроенный край декорации не проверяется ничем — оригинала этого края не существует, и единственный критерий его правильности — правдоподобие, то есть вкус исполнителя.</a:t>
            </a:r>
          </a:p>
          <a:p>
            <a:pPr algn="l">
              <a:lnSpc>
                <a:spcPct val="126000"/>
              </a:lnSpc>
              <a:spcBef>
                <a:spcPts val="700"/>
              </a:spcBef>
            </a:pPr>
            <a:r>
              <a:rPr sz="850" b="0" i="0">
                <a:solidFill>
                  <a:srgbClr val="21295C"/>
                </a:solidFill>
                <a:latin typeface="Arial"/>
              </a:rPr>
              <a:t/>
            </a:r>
            <a:r>
              <a:rPr sz="850" b="1" i="0">
                <a:solidFill>
                  <a:srgbClr val="21295C"/>
                </a:solidFill>
                <a:latin typeface="Arial"/>
              </a:rPr>
              <a:t>Отсюда правило выбора шире обоих случаев: прежде чем применять порождающую модель к восстановлению чего бы то ни было, спросите, чем будет проверен результат.</a:t>
            </a:r>
            <a:r>
              <a:rPr sz="850" b="0" i="0">
                <a:solidFill>
                  <a:srgbClr val="21295C"/>
                </a:solidFill>
                <a:latin typeface="Arial"/>
              </a:rPr>
              <a:t>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a:t>
            </a:r>
          </a:p>
          <a:p>
            <a:pPr algn="l">
              <a:lnSpc>
                <a:spcPct val="126000"/>
              </a:lnSpc>
              <a:spcBef>
                <a:spcPts val="700"/>
              </a:spcBef>
            </a:pPr>
            <a:r>
              <a:rPr sz="850" b="0" i="0">
                <a:solidFill>
                  <a:srgbClr val="21295C"/>
                </a:solidFill>
                <a:latin typeface="Arial"/>
              </a:rPr>
              <a:t/>
            </a:r>
            <a:r>
              <a:rPr sz="850" b="1" i="0">
                <a:solidFill>
                  <a:srgbClr val="21295C"/>
                </a:solidFill>
                <a:latin typeface="Arial"/>
              </a:rPr>
              <a:t>Процент тронутого тут ни при чём.</a:t>
            </a:r>
            <a:r>
              <a:rPr sz="850" b="0" i="0">
                <a:solidFill>
                  <a:srgbClr val="21295C"/>
                </a:solidFill>
                <a:latin typeface="Arial"/>
              </a:rPr>
              <a:t> Случай с девяноста процентами был бы столь же корректен, продавайся он как новое произведение по мотивам. Он продаётся как показ фильма.</a:t>
            </a:r>
          </a:p>
        </p:txBody>
      </p:sp>
      <p:sp>
        <p:nvSpPr>
          <p:cNvPr id="16" name="Rectangle 15"/>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chapter-part3d.md § 5.8; chapter-part3b.md § 4.8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2024 ГОДА С РАСКРЫТИЕМ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2024 году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2025 ГОДА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2025 году</a:t>
            </a:r>
          </a:p>
        </p:txBody>
      </p:sp>
      <p:sp>
        <p:nvSpPr>
          <p:cNvPr id="12" name="Rounded Rectangle 11"/>
          <p:cNvSpPr/>
          <p:nvPr/>
        </p:nvSpPr>
        <p:spPr>
          <a:xfrm>
            <a:off x="502920" y="2665369"/>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2026 ГОДА К ИЮЛЮ</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30,8%</a:t>
            </a:r>
          </a:p>
        </p:txBody>
      </p:sp>
      <p:sp>
        <p:nvSpPr>
          <p:cNvPr id="15" name="TextBox 14"/>
          <p:cNvSpPr txBox="1"/>
          <p:nvPr/>
        </p:nvSpPr>
        <p:spPr>
          <a:xfrm>
            <a:off x="640080" y="34827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2026 году к июлю; ряд подтверждён вторым независимым счётом по 53 597 релизам</a:t>
            </a:r>
          </a:p>
        </p:txBody>
      </p:sp>
      <p:sp>
        <p:nvSpPr>
          <p:cNvPr id="16" name="Rounded Rectangle 15"/>
          <p:cNvSpPr/>
          <p:nvPr/>
        </p:nvSpPr>
        <p:spPr>
          <a:xfrm>
            <a:off x="6178143" y="2665369"/>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АВТОМАТИЧЕСКИЙ ДУБЛЯЖ: ВЫБИРАЮТ НЕАНГЛИЙСКУЮ ДОРОЖКУ</a:t>
            </a:r>
          </a:p>
        </p:txBody>
      </p:sp>
      <p:sp>
        <p:nvSpPr>
          <p:cNvPr id="18" name="TextBox 17"/>
          <p:cNvSpPr txBox="1"/>
          <p:nvPr/>
        </p:nvSpPr>
        <p:spPr>
          <a:xfrm>
            <a:off x="6315303" y="3263192"/>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25% зрителей</a:t>
            </a:r>
          </a:p>
        </p:txBody>
      </p:sp>
      <p:sp>
        <p:nvSpPr>
          <p:cNvPr id="19" name="TextBox 18"/>
          <p:cNvSpPr txBox="1"/>
          <p:nvPr/>
        </p:nvSpPr>
        <p:spPr>
          <a:xfrm>
            <a:off x="6315303" y="3690191"/>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ноль: у автора, снимающего на одном языке, аудитории на других языках раньше не было вовсе, и дубляж для неё не заказывался</a:t>
            </a:r>
          </a:p>
        </p:txBody>
      </p:sp>
      <p:sp>
        <p:nvSpPr>
          <p:cNvPr id="20" name="Rounded Rectangle 19"/>
          <p:cNvSpPr/>
          <p:nvPr/>
        </p:nvSpPr>
        <p:spPr>
          <a:xfrm>
            <a:off x="374904" y="4341278"/>
            <a:ext cx="11441887" cy="1868329"/>
          </a:xfrm>
          <a:prstGeom prst="roundRect">
            <a:avLst>
              <a:gd name="adj" fmla="val 1631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432718"/>
            <a:ext cx="5373471" cy="1803489"/>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Игры — единственная отрасль вечера, где есть счёт, а не опрос.</a:t>
            </a:r>
            <a:r>
              <a:rPr sz="950" b="0" i="0">
                <a:solidFill>
                  <a:srgbClr val="21295C"/>
                </a:solidFill>
                <a:latin typeface="Arial"/>
              </a:rPr>
              <a:t> Steam с января 2024 года требует от разработчиков раскрывать применение генеративных средств и показывает раскрытие публично на странице игры. Поэтому этот ряд может пересчитать посторонний человек.</a:t>
            </a:r>
          </a:p>
          <a:p>
            <a:pPr algn="l">
              <a:lnSpc>
                <a:spcPct val="126000"/>
              </a:lnSpc>
              <a:spcBef>
                <a:spcPts val="700"/>
              </a:spcBef>
            </a:pPr>
            <a:r>
              <a:rPr sz="950" b="0" i="0">
                <a:solidFill>
                  <a:srgbClr val="21295C"/>
                </a:solidFill>
                <a:latin typeface="Arial"/>
              </a:rPr>
              <a:t/>
            </a:r>
            <a:r>
              <a:rPr sz="950" b="1" i="0">
                <a:solidFill>
                  <a:srgbClr val="21295C"/>
                </a:solidFill>
                <a:latin typeface="Arial"/>
              </a:rPr>
              <a:t>Доля релизов года с раскрытием: 10,9% в 2024-м · 19,9% в 2025-м · 30,8% к июлю 2026-го.</a:t>
            </a:r>
            <a:r>
              <a:rPr sz="950" b="0" i="0">
                <a:solidFill>
                  <a:srgbClr val="21295C"/>
                </a:solidFill>
                <a:latin typeface="Arial"/>
              </a:rPr>
              <a:t> Знаменатель один и тот же — все игры, вышедшие в этом году. Ряд подтверждён </a:t>
            </a:r>
            <a:r>
              <a:rPr sz="950" b="1" i="0">
                <a:solidFill>
                  <a:srgbClr val="21295C"/>
                </a:solidFill>
                <a:latin typeface="Arial"/>
              </a:rPr>
              <a:t>вторым независимым счётом по 53 597 релизам</a:t>
            </a:r>
            <a:r>
              <a:rPr sz="950" b="0" i="0">
                <a:solidFill>
                  <a:srgbClr val="21295C"/>
                </a:solidFill>
                <a:latin typeface="Arial"/>
              </a:rPr>
              <a:t> за три года.</a:t>
            </a:r>
          </a:p>
        </p:txBody>
      </p:sp>
      <p:sp>
        <p:nvSpPr>
          <p:cNvPr id="22" name="TextBox 21"/>
          <p:cNvSpPr txBox="1"/>
          <p:nvPr/>
        </p:nvSpPr>
        <p:spPr>
          <a:xfrm>
            <a:off x="6278727" y="4432718"/>
            <a:ext cx="5373471" cy="1803489"/>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Раскрытие обязательно по факту и добровольно по содержанию — поэтому все доли читаются как нижняя граница.</a:t>
            </a:r>
          </a:p>
          <a:p>
            <a:pPr algn="l">
              <a:lnSpc>
                <a:spcPct val="126000"/>
              </a:lnSpc>
              <a:spcBef>
                <a:spcPts val="700"/>
              </a:spcBef>
            </a:pPr>
            <a:r>
              <a:rPr sz="950" b="0" i="0">
                <a:solidFill>
                  <a:srgbClr val="21295C"/>
                </a:solidFill>
                <a:latin typeface="Arial"/>
              </a:rPr>
              <a:t/>
            </a:r>
            <a:r>
              <a:rPr sz="950" b="1" i="0">
                <a:solidFill>
                  <a:srgbClr val="21295C"/>
                </a:solidFill>
                <a:latin typeface="Arial"/>
              </a:rPr>
              <a:t>Автоматический дубляж: 11 февраля 2025 года YouTube включил его на всю партнёрскую программу</a:t>
            </a:r>
            <a:r>
              <a:rPr sz="950" b="0" i="0">
                <a:solidFill>
                  <a:srgbClr val="21295C"/>
                </a:solidFill>
                <a:latin typeface="Arial"/>
              </a:rPr>
              <a:t>, восемь языков на старте, с сентября 2025-го пилот синхронизации губ. Единственное опубликованное число об эффекте — </a:t>
            </a:r>
            <a:r>
              <a:rPr sz="950" b="1" i="0">
                <a:solidFill>
                  <a:srgbClr val="21295C"/>
                </a:solidFill>
                <a:latin typeface="Arial"/>
              </a:rPr>
              <a:t>до четверти зрителей</a:t>
            </a:r>
            <a:r>
              <a:rPr sz="950" b="0" i="0">
                <a:solidFill>
                  <a:srgbClr val="21295C"/>
                </a:solidFill>
                <a:latin typeface="Arial"/>
              </a:rPr>
              <a:t> тестовых каналов выбирают неанглийскую дорожку. </a:t>
            </a:r>
            <a:r>
              <a:rPr sz="950" b="1" i="0">
                <a:solidFill>
                  <a:srgbClr val="21295C"/>
                </a:solidFill>
                <a:latin typeface="Arial"/>
              </a:rPr>
              <a:t>База у этой четверти — ноль:</a:t>
            </a:r>
            <a:r>
              <a:rPr sz="950" b="0" i="0">
                <a:solidFill>
                  <a:srgbClr val="21295C"/>
                </a:solidFill>
                <a:latin typeface="Arial"/>
              </a:rPr>
              <a:t> такой аудитории у автора раньше не было вовсе, и дубляж для неё не заказывался, потому что ставка диктора делает локализацию любительского канала бессмысленной.</a:t>
            </a:r>
          </a:p>
        </p:txBody>
      </p:sp>
      <p:sp>
        <p:nvSpPr>
          <p:cNvPr id="23" name="Rectangle 22"/>
          <p:cNvSpPr/>
          <p:nvPr/>
        </p:nvSpPr>
        <p:spPr>
          <a:xfrm>
            <a:off x="6091275" y="4432718"/>
            <a:ext cx="9144" cy="15940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chapter-part3e.md §§ 5.11–5.12; публичные страницы раскрытия Steam; сообщения площадки о дубляже, 11 февраля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ЗРЕНИЯ НА ПАТЧАХ: РАЗМЕРЫ</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307 · 632 млн параметров</a:t>
            </a:r>
          </a:p>
        </p:txBody>
      </p:sp>
      <p:sp>
        <p:nvSpPr>
          <p:cNvPr id="7" name="TextBox 6"/>
          <p:cNvSpPr txBox="1"/>
          <p:nvPr/>
        </p:nvSpPr>
        <p:spPr>
          <a:xfrm>
            <a:off x="640080" y="2542797"/>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размера линейки; длина последовательности обратно пропорциональна квадрату размера патча — тот же закон, что в генерации изображений</a:t>
            </a:r>
          </a:p>
        </p:txBody>
      </p:sp>
      <p:sp>
        <p:nvSpPr>
          <p:cNvPr id="8" name="Rounded Rectangle 7"/>
          <p:cNvSpPr/>
          <p:nvPr/>
        </p:nvSpPr>
        <p:spPr>
          <a:xfrm>
            <a:off x="4286402"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 ЭНКОДЕРОВ: НА ЧЁМ ОБУЧЕНА</a:t>
            </a:r>
          </a:p>
        </p:txBody>
      </p:sp>
      <p:sp>
        <p:nvSpPr>
          <p:cNvPr id="10" name="TextBox 9"/>
          <p:cNvSpPr txBox="1"/>
          <p:nvPr/>
        </p:nvSpPr>
        <p:spPr>
          <a:xfrm>
            <a:off x="4423562" y="1725375"/>
            <a:ext cx="3344570"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400 млн пар «изображение — подпись»</a:t>
            </a:r>
          </a:p>
        </p:txBody>
      </p:sp>
      <p:sp>
        <p:nvSpPr>
          <p:cNvPr id="11" name="TextBox 10"/>
          <p:cNvSpPr txBox="1"/>
          <p:nvPr/>
        </p:nvSpPr>
        <p:spPr>
          <a:xfrm>
            <a:off x="4423562" y="240699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задача обучения — угадать, какая подпись какому изображению из пачки соответствует</a:t>
            </a:r>
          </a:p>
        </p:txBody>
      </p:sp>
      <p:sp>
        <p:nvSpPr>
          <p:cNvPr id="12" name="Rounded Rectangle 11"/>
          <p:cNvSpPr/>
          <p:nvPr/>
        </p:nvSpPr>
        <p:spPr>
          <a:xfrm>
            <a:off x="8069884" y="1335024"/>
            <a:ext cx="3618890"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РАСПОЗНАВАНИЕ ДЕШЕВЛЕ ПОРОЖДЕНИЯ</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один прямой проход</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десятков шагов снятия шума или десятков токенов подряд — разница на порядки, и поэтому распознавание ставят на поток</a:t>
            </a:r>
          </a:p>
        </p:txBody>
      </p:sp>
      <p:sp>
        <p:nvSpPr>
          <p:cNvPr id="16" name="Rounded Rectangle 15"/>
          <p:cNvSpPr/>
          <p:nvPr/>
        </p:nvSpPr>
        <p:spPr>
          <a:xfrm>
            <a:off x="502920" y="3707811"/>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632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совпадает с порождающей моделью</a:t>
            </a:r>
          </a:p>
        </p:txBody>
      </p:sp>
      <p:sp>
        <p:nvSpPr>
          <p:cNvPr id="18" name="TextBox 17"/>
          <p:cNvSpPr txBox="1"/>
          <p:nvPr/>
        </p:nvSpPr>
        <p:spPr>
          <a:xfrm>
            <a:off x="667512" y="4219438"/>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те же блоки внимания с теми же запросами, ключами и значениями</a:t>
            </a:r>
          </a:p>
          <a:p>
            <a:pPr algn="l">
              <a:lnSpc>
                <a:spcPct val="126000"/>
              </a:lnSpc>
            </a:pPr>
            <a:r>
              <a:rPr sz="900" b="0" i="0">
                <a:solidFill>
                  <a:srgbClr val="21295C"/>
                </a:solidFill>
                <a:latin typeface="Arial"/>
              </a:rPr>
              <a:t>• тот же механизм эмбеддинга и то же дообучение низкоранговыми адаптерами</a:t>
            </a:r>
          </a:p>
          <a:p>
            <a:pPr algn="l">
              <a:lnSpc>
                <a:spcPct val="126000"/>
              </a:lnSpc>
            </a:pPr>
            <a:r>
              <a:rPr sz="900" b="0" i="0">
                <a:solidFill>
                  <a:srgbClr val="21295C"/>
                </a:solidFill>
                <a:latin typeface="Arial"/>
              </a:rPr>
              <a:t>• та же развязка «представление входа отдельно, модель отдельно»: патч здесь — ровно то же, чем токен был в тексте</a:t>
            </a:r>
          </a:p>
          <a:p>
            <a:pPr algn="l">
              <a:lnSpc>
                <a:spcPct val="126000"/>
              </a:lnSpc>
            </a:pPr>
            <a:r>
              <a:rPr sz="900" b="0" i="0">
                <a:solidFill>
                  <a:srgbClr val="21295C"/>
                </a:solidFill>
                <a:latin typeface="Arial"/>
              </a:rPr>
              <a:t>• масштаб обучения бьёт встроенное знание о локальности: на малых данных свёрточная сеть выигрывает, на сотнях миллионов изображений проигрывает — 88,55% верных ответов</a:t>
            </a:r>
          </a:p>
        </p:txBody>
      </p:sp>
      <p:sp>
        <p:nvSpPr>
          <p:cNvPr id="19" name="Rounded Rectangle 18"/>
          <p:cNvSpPr/>
          <p:nvPr/>
        </p:nvSpPr>
        <p:spPr>
          <a:xfrm>
            <a:off x="6251295" y="3707811"/>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632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расходится — и что из этого следует</a:t>
            </a:r>
          </a:p>
        </p:txBody>
      </p:sp>
      <p:sp>
        <p:nvSpPr>
          <p:cNvPr id="21" name="TextBox 20"/>
          <p:cNvSpPr txBox="1"/>
          <p:nvPr/>
        </p:nvSpPr>
        <p:spPr>
          <a:xfrm>
            <a:off x="6415887" y="4219438"/>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стоимость: один прямой проход против десятков шагов, значит модерацию каждого файла и разметку всего архива можно ставить на поток</a:t>
            </a:r>
          </a:p>
          <a:p>
            <a:pPr algn="l">
              <a:lnSpc>
                <a:spcPct val="126000"/>
              </a:lnSpc>
            </a:pPr>
            <a:r>
              <a:rPr sz="900" b="0" i="0">
                <a:solidFill>
                  <a:srgbClr val="21295C"/>
                </a:solidFill>
                <a:latin typeface="Arial"/>
              </a:rPr>
              <a:t>• проверяемость: у распознавателя есть эталонная разметка, правильного ответа на «нарисуй дракона» не существует</a:t>
            </a:r>
          </a:p>
          <a:p>
            <a:pPr algn="l">
              <a:lnSpc>
                <a:spcPct val="126000"/>
              </a:lnSpc>
            </a:pPr>
            <a:r>
              <a:rPr sz="900" b="0" i="0">
                <a:solidFill>
                  <a:srgbClr val="21295C"/>
                </a:solidFill>
                <a:latin typeface="Arial"/>
              </a:rPr>
              <a:t>• обучение проще, чем в генерации: показывают настоящие и синтетические, просят разделить — и вся дальнейшая судьба определяется тем, ЧЬИ синтетические показывали</a:t>
            </a:r>
          </a:p>
          <a:p>
            <a:pPr algn="l">
              <a:lnSpc>
                <a:spcPct val="126000"/>
              </a:lnSpc>
            </a:pPr>
            <a:r>
              <a:rPr sz="900" b="0" i="0">
                <a:solidFill>
                  <a:srgbClr val="21295C"/>
                </a:solidFill>
                <a:latin typeface="Arial"/>
              </a:rPr>
              <a:t>• где задача формулируется как «найти среди существующего», генератор — неправильный инструмент, и правильный стоит рядом</a:t>
            </a:r>
          </a:p>
        </p:txBody>
      </p:sp>
      <p:sp>
        <p:nvSpPr>
          <p:cNvPr id="22" name="Rounded Rectangle 21"/>
          <p:cNvSpPr/>
          <p:nvPr/>
        </p:nvSpPr>
        <p:spPr>
          <a:xfrm>
            <a:off x="374904" y="5216571"/>
            <a:ext cx="11441887" cy="101963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308011"/>
            <a:ext cx="11112703" cy="928196"/>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Две модели, на которых стоит вся эта стадия, появились раньше генераторов и работают внутри них.</a:t>
            </a:r>
          </a:p>
          <a:p>
            <a:pPr algn="l">
              <a:lnSpc>
                <a:spcPct val="126000"/>
              </a:lnSpc>
              <a:spcBef>
                <a:spcPts val="700"/>
              </a:spcBef>
            </a:pPr>
            <a:r>
              <a:rPr sz="850" b="0" i="0">
                <a:solidFill>
                  <a:srgbClr val="21295C"/>
                </a:solidFill>
                <a:latin typeface="Arial"/>
              </a:rPr>
              <a:t/>
            </a:r>
            <a:r>
              <a:rPr sz="850" b="1" i="0">
                <a:solidFill>
                  <a:srgbClr val="21295C"/>
                </a:solidFill>
                <a:latin typeface="Arial"/>
              </a:rPr>
              <a:t>Модель зрения на патчах.</a:t>
            </a:r>
            <a:r>
              <a:rPr sz="850" b="0" i="0">
                <a:solidFill>
                  <a:srgbClr val="21295C"/>
                </a:solidFill>
                <a:latin typeface="Arial"/>
              </a:rPr>
              <a:t> Картинка режется на квадратики фиксированного размера, каждый проецируется в вектор — и дальше обычный трансформер-энкодер, ровно как для текста, безо всяких свёрток. Длина последовательности обратно пропорциональна квадрату размера патча: тот же закон, что в генерации изображений, потому что это буквально та же конструкция.</a:t>
            </a:r>
          </a:p>
          <a:p>
            <a:pPr algn="l">
              <a:lnSpc>
                <a:spcPct val="126000"/>
              </a:lnSpc>
              <a:spcBef>
                <a:spcPts val="700"/>
              </a:spcBef>
            </a:pPr>
            <a:r>
              <a:rPr sz="850" b="0" i="0">
                <a:solidFill>
                  <a:srgbClr val="21295C"/>
                </a:solidFill>
                <a:latin typeface="Arial"/>
              </a:rPr>
              <a:t/>
            </a:r>
            <a:r>
              <a:rPr sz="850" b="1" i="0">
                <a:solidFill>
                  <a:srgbClr val="21295C"/>
                </a:solidFill>
                <a:latin typeface="Arial"/>
              </a:rPr>
              <a:t>Пара энкодеров изображения и текста</a:t>
            </a:r>
            <a:r>
              <a:rPr sz="850" b="0" i="0">
                <a:solidFill>
                  <a:srgbClr val="21295C"/>
                </a:solidFill>
                <a:latin typeface="Arial"/>
              </a:rPr>
              <a:t> проецирует то и другое в </a:t>
            </a:r>
            <a:r>
              <a:rPr sz="850" b="1" i="0">
                <a:solidFill>
                  <a:srgbClr val="21295C"/>
                </a:solidFill>
                <a:latin typeface="Arial"/>
              </a:rPr>
              <a:t>общее пространство</a:t>
            </a:r>
            <a:r>
              <a:rPr sz="850" b="0" i="0">
                <a:solidFill>
                  <a:srgbClr val="21295C"/>
                </a:solidFill>
                <a:latin typeface="Arial"/>
              </a:rPr>
              <a:t>; обучение — на 400 миллионах пар «изображение — подпись». Результат: классификация без единого обучающего примера целевого набора. </a:t>
            </a:r>
            <a:r>
              <a:rPr sz="850" b="1" i="0">
                <a:solidFill>
                  <a:srgbClr val="21295C"/>
                </a:solidFill>
                <a:latin typeface="Arial"/>
              </a:rPr>
              <a:t>Текстовый энкодер этой пары и есть понимание запроса в ранних диффузионных моделях</a:t>
            </a:r>
            <a:r>
              <a:rPr sz="850" b="0" i="0">
                <a:solidFill>
                  <a:srgbClr val="21295C"/>
                </a:solidFill>
                <a:latin typeface="Arial"/>
              </a:rPr>
              <a:t> — понимание текста внутри генератора заимствовано у распознавателя.</a:t>
            </a:r>
          </a:p>
          <a:p>
            <a:pPr algn="l">
              <a:lnSpc>
                <a:spcPct val="126000"/>
              </a:lnSpc>
              <a:spcBef>
                <a:spcPts val="700"/>
              </a:spcBef>
            </a:pPr>
            <a:r>
              <a:rPr sz="850" b="0" i="0">
                <a:solidFill>
                  <a:srgbClr val="21295C"/>
                </a:solidFill>
                <a:latin typeface="Arial"/>
              </a:rPr>
              <a:t/>
            </a:r>
            <a:r>
              <a:rPr sz="850" b="1" i="0">
                <a:solidFill>
                  <a:srgbClr val="21295C"/>
                </a:solidFill>
                <a:latin typeface="Arial"/>
              </a:rPr>
              <a:t>Происхождение удостоверяют двумя противоположными способами.</a:t>
            </a:r>
            <a:r>
              <a:rPr sz="850" b="0" i="0">
                <a:solidFill>
                  <a:srgbClr val="21295C"/>
                </a:solidFill>
                <a:latin typeface="Arial"/>
              </a:rPr>
              <a:t> </a:t>
            </a:r>
            <a:r>
              <a:rPr sz="850" b="1" i="0">
                <a:solidFill>
                  <a:srgbClr val="21295C"/>
                </a:solidFill>
                <a:latin typeface="Arial"/>
              </a:rPr>
              <a:t>Подпись снаружи:</a:t>
            </a:r>
            <a:r>
              <a:rPr sz="850" b="0" i="0">
                <a:solidFill>
                  <a:srgbClr val="21295C"/>
                </a:solidFill>
                <a:latin typeface="Arial"/>
              </a:rPr>
              <a:t> в файл встраивается манифест — кто автор, чем создано, что применялось, — и подписывается сертификатом. Привязка хрупкая: снимок экрана, пересжатие, срезанные площадкой служебные поля — и манифеста нет. </a:t>
            </a:r>
            <a:r>
              <a:rPr sz="850" b="1" i="0">
                <a:solidFill>
                  <a:srgbClr val="21295C"/>
                </a:solidFill>
                <a:latin typeface="Arial"/>
              </a:rPr>
              <a:t>Знак внутри:</a:t>
            </a:r>
            <a:r>
              <a:rPr sz="850" b="0" i="0">
                <a:solidFill>
                  <a:srgbClr val="21295C"/>
                </a:solidFill>
                <a:latin typeface="Arial"/>
              </a:rPr>
              <a:t> две сети обучаются вместе, одна вставляет знак, другая его находит; знак живёт в пикселях и переживает потерю служебных полей.</a:t>
            </a:r>
          </a:p>
          <a:p>
            <a:pPr algn="l">
              <a:lnSpc>
                <a:spcPct val="126000"/>
              </a:lnSpc>
              <a:spcBef>
                <a:spcPts val="700"/>
              </a:spcBef>
            </a:pPr>
            <a:r>
              <a:rPr sz="850" b="0" i="0">
                <a:solidFill>
                  <a:srgbClr val="21295C"/>
                </a:solidFill>
                <a:latin typeface="Arial"/>
              </a:rPr>
              <a:t/>
            </a:r>
            <a:r>
              <a:rPr sz="850" b="1" i="0">
                <a:solidFill>
                  <a:srgbClr val="21295C"/>
                </a:solidFill>
                <a:latin typeface="Arial"/>
              </a:rPr>
              <a:t>У текста знак живёт на энтропии — и слабеет ровно там, где нужен больше всего:</a:t>
            </a:r>
            <a:r>
              <a:rPr sz="850" b="0" i="0">
                <a:solidFill>
                  <a:srgbClr val="21295C"/>
                </a:solidFill>
                <a:latin typeface="Arial"/>
              </a:rPr>
              <a:t> короткий текст, низкая температура, код и фактические ответы маркируются плохо, потому что выбирать не из чего.</a:t>
            </a: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ТОМ СЕМЕЙСТВЕ, НА КОТОРОМ ОБУЧЕН</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99,9% верных ответов</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столько же после обрезки, сжатия и пережатия — внутри своего семейства распознаватель прочный</a:t>
            </a:r>
          </a:p>
        </p:txBody>
      </p:sp>
      <p:sp>
        <p:nvSpPr>
          <p:cNvPr id="8" name="Rounded Rectangle 7"/>
          <p:cNvSpPr/>
          <p:nvPr/>
        </p:nvSpPr>
        <p:spPr>
          <a:xfrm>
            <a:off x="4286402"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DALL·E 2 — МОДЕЛИ ДРУГОГО СЕМЕЙСТВА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51,9%</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подбрасывание монеты, причём на чистом несжатом файле, без всякой обработки</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94,9</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0,5 из 1 — монета, 1,0 — без промаха; здесь 0,949, то есть «отлично», при решении, не отличимом от монеты</a:t>
            </a:r>
          </a:p>
        </p:txBody>
      </p:sp>
      <p:sp>
        <p:nvSpPr>
          <p:cNvPr id="16" name="Rounded Rectangle 15"/>
          <p:cNvSpPr/>
          <p:nvPr/>
        </p:nvSpPr>
        <p:spPr>
          <a:xfrm>
            <a:off x="502920" y="3313616"/>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6906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показывает таблица — три разных вывода</a:t>
            </a:r>
          </a:p>
        </p:txBody>
      </p:sp>
      <p:sp>
        <p:nvSpPr>
          <p:cNvPr id="18" name="TextBox 17"/>
          <p:cNvSpPr txBox="1"/>
          <p:nvPr/>
        </p:nvSpPr>
        <p:spPr>
          <a:xfrm>
            <a:off x="667512" y="3825242"/>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смена генератора убивает распознаватель: 99,9 на обученном семействе против 51,9 на DALL·E 2 и 51,2 на ADM</a:t>
            </a:r>
          </a:p>
          <a:p>
            <a:pPr algn="l">
              <a:lnSpc>
                <a:spcPct val="126000"/>
              </a:lnSpc>
            </a:pPr>
            <a:r>
              <a:rPr sz="900" b="0" i="0">
                <a:solidFill>
                  <a:srgbClr val="21295C"/>
                </a:solidFill>
                <a:latin typeface="Arial"/>
              </a:rPr>
              <a:t>• обычная обработка убивает его там, где он работал: 98,1 на StyleGAN2 падает до 63,3 после обрезки, изменения размера и пережатия — то есть соцсеть ломает распознаватель, не имея такого намерения</a:t>
            </a:r>
          </a:p>
          <a:p>
            <a:pPr algn="l">
              <a:lnSpc>
                <a:spcPct val="126000"/>
              </a:lnSpc>
            </a:pPr>
            <a:r>
              <a:rPr sz="900" b="0" i="0">
                <a:solidFill>
                  <a:srgbClr val="21295C"/>
                </a:solidFill>
                <a:latin typeface="Arial"/>
              </a:rPr>
              <a:t>• ловушка приёмки: качество приемлемо по площади под кривой и почти случайно по доле верных ответов — порог, подобранный на обучающих данных, уезжает на данных другого происхождения</a:t>
            </a:r>
          </a:p>
        </p:txBody>
      </p:sp>
      <p:sp>
        <p:nvSpPr>
          <p:cNvPr id="19" name="Rounded Rectangle 18"/>
          <p:cNvSpPr/>
          <p:nvPr/>
        </p:nvSpPr>
        <p:spPr>
          <a:xfrm>
            <a:off x="6251295" y="3313616"/>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6906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из этого следует для работы</a:t>
            </a:r>
          </a:p>
        </p:txBody>
      </p:sp>
      <p:sp>
        <p:nvSpPr>
          <p:cNvPr id="21" name="TextBox 20"/>
          <p:cNvSpPr txBox="1"/>
          <p:nvPr/>
        </p:nvSpPr>
        <p:spPr>
          <a:xfrm>
            <a:off x="6415887" y="3825242"/>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спрашивайте долю верных ответов при рабочем пороге, а не площадь под кривой</a:t>
            </a:r>
          </a:p>
          <a:p>
            <a:pPr algn="l">
              <a:lnSpc>
                <a:spcPct val="126000"/>
              </a:lnSpc>
            </a:pPr>
            <a:r>
              <a:rPr sz="900" b="0" i="0">
                <a:solidFill>
                  <a:srgbClr val="21295C"/>
                </a:solidFill>
                <a:latin typeface="Arial"/>
              </a:rPr>
              <a:t>• спрашивайте у поставщика, на чём распознаватель измерен, и сверяйте с тем, на чём вы собираетесь его применять</a:t>
            </a:r>
          </a:p>
          <a:p>
            <a:pPr algn="l">
              <a:lnSpc>
                <a:spcPct val="126000"/>
              </a:lnSpc>
            </a:pPr>
            <a:r>
              <a:rPr sz="900" b="0" i="0">
                <a:solidFill>
                  <a:srgbClr val="21295C"/>
                </a:solidFill>
                <a:latin typeface="Arial"/>
              </a:rPr>
              <a:t>• починка существует и неполная: дообучение, слияние с прежним распознавателем и калибровка по двум примерам на модель поднимают среднее до 87,8, а DALL·E 2 остаётся на 66,9</a:t>
            </a:r>
          </a:p>
          <a:p>
            <a:pPr algn="l">
              <a:lnSpc>
                <a:spcPct val="126000"/>
              </a:lnSpc>
            </a:pPr>
            <a:r>
              <a:rPr sz="900" b="0" i="0">
                <a:solidFill>
                  <a:srgbClr val="21295C"/>
                </a:solidFill>
                <a:latin typeface="Arial"/>
              </a:rPr>
              <a:t>• вывод авторов дословно: «мы по-прежнему не можем надёжно детектировать изображения с артефактами, существенно отличными от виденных при обучении»</a:t>
            </a:r>
          </a:p>
        </p:txBody>
      </p:sp>
      <p:sp>
        <p:nvSpPr>
          <p:cNvPr id="22" name="Rounded Rectangle 21"/>
          <p:cNvSpPr/>
          <p:nvPr/>
        </p:nvSpPr>
        <p:spPr>
          <a:xfrm>
            <a:off x="374904" y="4822376"/>
            <a:ext cx="11441887" cy="1413831"/>
          </a:xfrm>
          <a:prstGeom prst="roundRect">
            <a:avLst>
              <a:gd name="adj" fmla="val 21558"/>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913816"/>
            <a:ext cx="11112703" cy="1322391"/>
          </a:xfrm>
          <a:prstGeom prst="rect">
            <a:avLst/>
          </a:prstGeom>
          <a:noFill/>
        </p:spPr>
        <p:txBody>
          <a:bodyPr wrap="square" lIns="0" rIns="0" tIns="0" bIns="0" anchor="t">
            <a:spAutoFit/>
          </a:bodyPr>
          <a:lstStyle/>
          <a:p>
            <a:pPr algn="l">
              <a:lnSpc>
                <a:spcPct val="126000"/>
              </a:lnSpc>
            </a:pPr>
            <a:r>
              <a:rPr sz="850" b="1" i="0">
                <a:solidFill>
                  <a:srgbClr val="21295C"/>
                </a:solidFill>
                <a:latin typeface="Arial"/>
              </a:rPr>
              <a:t>На том семействе генераторов, на котором распознаватель обучен, он даёт 99,9 процента верных ответов — и столько же после обрезки, сжатия и пережатия.</a:t>
            </a:r>
          </a:p>
          <a:p>
            <a:pPr algn="l">
              <a:lnSpc>
                <a:spcPct val="126000"/>
              </a:lnSpc>
              <a:spcBef>
                <a:spcPts val="700"/>
              </a:spcBef>
            </a:pPr>
            <a:r>
              <a:rPr sz="850" b="0" i="0">
                <a:solidFill>
                  <a:srgbClr val="21295C"/>
                </a:solidFill>
                <a:latin typeface="Arial"/>
              </a:rPr>
              <a:t/>
            </a:r>
            <a:r>
              <a:rPr sz="850" b="1" i="0">
                <a:solidFill>
                  <a:srgbClr val="21295C"/>
                </a:solidFill>
                <a:latin typeface="Arial"/>
              </a:rPr>
              <a:t>На DALL·E 2 — 51,9 процента. Монета.</a:t>
            </a:r>
            <a:r>
              <a:rPr sz="850" b="0" i="0">
                <a:solidFill>
                  <a:srgbClr val="21295C"/>
                </a:solidFill>
                <a:latin typeface="Arial"/>
              </a:rPr>
              <a:t> Причём на чистом несжатом файле, без всякой обработки. После прохождения через соцсеть — ровно 50,0.</a:t>
            </a:r>
          </a:p>
          <a:p>
            <a:pPr algn="l">
              <a:lnSpc>
                <a:spcPct val="126000"/>
              </a:lnSpc>
              <a:spcBef>
                <a:spcPts val="700"/>
              </a:spcBef>
            </a:pPr>
            <a:r>
              <a:rPr sz="850" b="0" i="0">
                <a:solidFill>
                  <a:srgbClr val="21295C"/>
                </a:solidFill>
                <a:latin typeface="Arial"/>
              </a:rPr>
              <a:t/>
            </a:r>
            <a:r>
              <a:rPr sz="850" b="1" i="0">
                <a:solidFill>
                  <a:srgbClr val="21295C"/>
                </a:solidFill>
                <a:latin typeface="Arial"/>
              </a:rPr>
              <a:t>И ловушка, ради которой этот кадр стоит: площадь под кривой при этом держится на 94,9.</a:t>
            </a:r>
            <a:r>
              <a:rPr sz="850" b="0" i="0">
                <a:solidFill>
                  <a:srgbClr val="21295C"/>
                </a:solidFill>
                <a:latin typeface="Arial"/>
              </a:rPr>
              <a:t> Доля верных ответов — сколько решений система приняла правильно при том пороге, с которым она работает. Площадь под кривой — насколько хорошо модель упорядочивает примеры при каком угодно пороге: 0,5 — монета, 1,0 — без промаха.</a:t>
            </a:r>
          </a:p>
          <a:p>
            <a:pPr algn="l">
              <a:lnSpc>
                <a:spcPct val="126000"/>
              </a:lnSpc>
              <a:spcBef>
                <a:spcPts val="700"/>
              </a:spcBef>
            </a:pPr>
            <a:r>
              <a:rPr sz="850" b="0" i="0">
                <a:solidFill>
                  <a:srgbClr val="21295C"/>
                </a:solidFill>
                <a:latin typeface="Arial"/>
              </a:rPr>
              <a:t/>
            </a:r>
            <a:r>
              <a:rPr sz="850" b="1" i="0">
                <a:solidFill>
                  <a:srgbClr val="21295C"/>
                </a:solidFill>
                <a:latin typeface="Arial"/>
              </a:rPr>
              <a:t>Обе цифры честные, обе из одной строки одной таблицы.</a:t>
            </a:r>
            <a:r>
              <a:rPr sz="850" b="0" i="0">
                <a:solidFill>
                  <a:srgbClr val="21295C"/>
                </a:solidFill>
                <a:latin typeface="Arial"/>
              </a:rPr>
              <a:t> Приёмка, смотревшая на площадь под кривой, увидела отличный распознаватель. Приёмка, смотревшая на долю верных ответов при рабочем пороге, увидела подбрасывание монеты. Выбор между ними решает, поставите вы такую систему в работу или нет.</a:t>
            </a:r>
          </a:p>
          <a:p>
            <a:pPr algn="l">
              <a:lnSpc>
                <a:spcPct val="126000"/>
              </a:lnSpc>
              <a:spcBef>
                <a:spcPts val="700"/>
              </a:spcBef>
            </a:pPr>
            <a:r>
              <a:rPr sz="850" b="0" i="0">
                <a:solidFill>
                  <a:srgbClr val="21295C"/>
                </a:solidFill>
                <a:latin typeface="Arial"/>
              </a:rPr>
              <a:t/>
            </a:r>
            <a:r>
              <a:rPr sz="850" b="1" i="0">
                <a:solidFill>
                  <a:srgbClr val="21295C"/>
                </a:solidFill>
                <a:latin typeface="Arial"/>
              </a:rPr>
              <a:t>Спрашивайте долю верных ответов при рабочем пороге.</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Подпись камеры Nikon Z6III: отозванные сертификаты</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27 АВГУСТА 2025</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поддержка удостоверений в прошивке</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производитель добавил криптографические удостоверения содержимого в профессиональную модель</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ЧЕРЕЗ НЕСКОЛЬКО ДНЕЙ</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подписано нефотографическое изображение</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исследователь показал: через режим мультиэкспозиции камера подписывает сгенерированную картинку</a:t>
            </a:r>
          </a:p>
        </p:txBody>
      </p:sp>
      <p:sp>
        <p:nvSpPr>
          <p:cNvPr id="12" name="Rounded Rectangle 11"/>
          <p:cNvSpPr/>
          <p:nvPr/>
        </p:nvSpPr>
        <p:spPr>
          <a:xfrm>
            <a:off x="502920" y="3267036"/>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СЕНТЯБРЯ — 21 СЕНТЯБРЯ 2025</a:t>
            </a:r>
          </a:p>
        </p:txBody>
      </p:sp>
      <p:sp>
        <p:nvSpPr>
          <p:cNvPr id="14" name="TextBox 13"/>
          <p:cNvSpPr txBox="1"/>
          <p:nvPr/>
        </p:nvSpPr>
        <p:spPr>
          <a:xfrm>
            <a:off x="640080" y="3657387"/>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сервис приостановлен, все сертификаты отозваны</a:t>
            </a:r>
          </a:p>
        </p:txBody>
      </p:sp>
      <p:sp>
        <p:nvSpPr>
          <p:cNvPr id="15" name="TextBox 14"/>
          <p:cNvSpPr txBox="1"/>
          <p:nvPr/>
        </p:nvSpPr>
        <p:spPr>
          <a:xfrm>
            <a:off x="640080" y="447481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через двадцать пять дней после запуска</a:t>
            </a:r>
          </a:p>
        </p:txBody>
      </p:sp>
      <p:sp>
        <p:nvSpPr>
          <p:cNvPr id="16" name="Rounded Rectangle 15"/>
          <p:cNvSpPr/>
          <p:nvPr/>
        </p:nvSpPr>
        <p:spPr>
          <a:xfrm>
            <a:off x="6178143" y="3267036"/>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РАСПРОСТРАНЁННЫЕ ПРОВЕРЯЮЩИЕ ПРОГРАММЫ</a:t>
            </a:r>
          </a:p>
        </p:txBody>
      </p:sp>
      <p:sp>
        <p:nvSpPr>
          <p:cNvPr id="18" name="TextBox 17"/>
          <p:cNvSpPr txBox="1"/>
          <p:nvPr/>
        </p:nvSpPr>
        <p:spPr>
          <a:xfrm>
            <a:off x="6315303" y="3657387"/>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отзыв по умолчанию не проверяют</a:t>
            </a:r>
          </a:p>
        </p:txBody>
      </p:sp>
      <p:sp>
        <p:nvSpPr>
          <p:cNvPr id="19" name="TextBox 18"/>
          <p:cNvSpPr txBox="1"/>
          <p:nvPr/>
        </p:nvSpPr>
        <p:spPr>
          <a:xfrm>
            <a:off x="6315303" y="447481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снимок с отозванным сертификатом продолжает проходить проверку до сих пор</a:t>
            </a:r>
          </a:p>
        </p:txBody>
      </p:sp>
      <p:sp>
        <p:nvSpPr>
          <p:cNvPr id="20" name="Rounded Rectangle 19"/>
          <p:cNvSpPr/>
          <p:nvPr/>
        </p:nvSpPr>
        <p:spPr>
          <a:xfrm>
            <a:off x="502920" y="5217337"/>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537278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22" name="TextBox 21"/>
          <p:cNvSpPr txBox="1"/>
          <p:nvPr/>
        </p:nvSpPr>
        <p:spPr>
          <a:xfrm>
            <a:off x="667512" y="5728963"/>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подпись подлинная, сертификат валидный на момент подписания</a:t>
            </a:r>
          </a:p>
          <a:p>
            <a:pPr algn="l">
              <a:lnSpc>
                <a:spcPct val="126000"/>
              </a:lnSpc>
            </a:pPr>
            <a:r>
              <a:rPr sz="1250" b="0" i="0">
                <a:solidFill>
                  <a:srgbClr val="21295C"/>
                </a:solidFill>
                <a:latin typeface="Arial"/>
              </a:rPr>
              <a:t>• хеш сходится, цепочка не нарушена</a:t>
            </a:r>
          </a:p>
          <a:p>
            <a:pPr algn="l">
              <a:lnSpc>
                <a:spcPct val="126000"/>
              </a:lnSpc>
            </a:pPr>
            <a:r>
              <a:rPr sz="1250" b="0" i="0">
                <a:solidFill>
                  <a:srgbClr val="21295C"/>
                </a:solidFill>
                <a:latin typeface="Arial"/>
              </a:rPr>
              <a:t>• механизм выполнил ровно то, что обещал</a:t>
            </a:r>
          </a:p>
        </p:txBody>
      </p:sp>
      <p:sp>
        <p:nvSpPr>
          <p:cNvPr id="23" name="Rounded Rectangle 22"/>
          <p:cNvSpPr/>
          <p:nvPr/>
        </p:nvSpPr>
        <p:spPr>
          <a:xfrm>
            <a:off x="6251295" y="5217337"/>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537278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25" name="TextBox 24"/>
          <p:cNvSpPr txBox="1"/>
          <p:nvPr/>
        </p:nvSpPr>
        <p:spPr>
          <a:xfrm>
            <a:off x="6415887" y="5728963"/>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подписывающая сторона подписала то, чего не снимала</a:t>
            </a:r>
          </a:p>
          <a:p>
            <a:pPr algn="l">
              <a:lnSpc>
                <a:spcPct val="126000"/>
              </a:lnSpc>
            </a:pPr>
            <a:r>
              <a:rPr sz="900" b="0" i="0">
                <a:solidFill>
                  <a:srgbClr val="21295C"/>
                </a:solidFill>
                <a:latin typeface="Arial"/>
              </a:rPr>
              <a:t>• подпись удостоверяет, КТО подписал, а не ЧТО происходило перед объективом</a:t>
            </a:r>
          </a:p>
          <a:p>
            <a:pPr algn="l">
              <a:lnSpc>
                <a:spcPct val="126000"/>
              </a:lnSpc>
            </a:pPr>
            <a:r>
              <a:rPr sz="9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a:p>
            <a:pPr algn="l">
              <a:lnSpc>
                <a:spcPct val="126000"/>
              </a:lnSpc>
            </a:pPr>
            <a:r>
              <a:rPr sz="900" b="0" i="0">
                <a:solidFill>
                  <a:srgbClr val="21295C"/>
                </a:solidFill>
                <a:latin typeface="Arial"/>
              </a:rPr>
              <a:t>• значит «поиск по документам для картинок» — ошибка в постановке задачи, а не функция, которую когда-нибудь доделают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chapter-part3e.md §§ 5.17–5.18; уведомление производителя, сентябрь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материалов, потребовавших исправления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 из 77 статей, то есть 53%</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502920" y="3267036"/>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640080" y="3657387"/>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40–61% статей с хотя бы одной ошибкой</a:t>
            </a:r>
          </a:p>
        </p:txBody>
      </p:sp>
      <p:sp>
        <p:nvSpPr>
          <p:cNvPr id="15" name="TextBox 14"/>
          <p:cNvSpPr txBox="1"/>
          <p:nvPr/>
        </p:nvSpPr>
        <p:spPr>
          <a:xfrm>
            <a:off x="640080" y="447481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6178143" y="3267036"/>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315303" y="3657387"/>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половины против примерно 2%</a:t>
            </a:r>
          </a:p>
        </p:txBody>
      </p:sp>
      <p:sp>
        <p:nvSpPr>
          <p:cNvPr id="19" name="TextBox 18"/>
          <p:cNvSpPr txBox="1"/>
          <p:nvPr/>
        </p:nvSpPr>
        <p:spPr>
          <a:xfrm>
            <a:off x="6315303" y="447481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502920" y="5428580"/>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5584028"/>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Как это было устроено</a:t>
            </a:r>
          </a:p>
        </p:txBody>
      </p:sp>
      <p:sp>
        <p:nvSpPr>
          <p:cNvPr id="22" name="TextBox 21"/>
          <p:cNvSpPr txBox="1"/>
          <p:nvPr/>
        </p:nvSpPr>
        <p:spPr>
          <a:xfrm>
            <a:off x="667512" y="5940207"/>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внутренний движок генерировал объяснительные финансовые статьи</a:t>
            </a:r>
          </a:p>
          <a:p>
            <a:pPr algn="l">
              <a:lnSpc>
                <a:spcPct val="126000"/>
              </a:lnSpc>
            </a:pPr>
            <a:r>
              <a:rPr sz="900" b="0" i="0">
                <a:solidFill>
                  <a:srgbClr val="21295C"/>
                </a:solidFill>
                <a:latin typeface="Arial"/>
              </a:rPr>
              <a:t>• публиковались под редакционной подписью «CNET Money Staff»</a:t>
            </a:r>
          </a:p>
          <a:p>
            <a:pPr algn="l">
              <a:lnSpc>
                <a:spcPct val="126000"/>
              </a:lnSpc>
            </a:pPr>
            <a:r>
              <a:rPr sz="900" b="0" i="0">
                <a:solidFill>
                  <a:srgbClr val="21295C"/>
                </a:solidFill>
                <a:latin typeface="Arial"/>
              </a:rPr>
              <a:t>• имя изделия публично не названо — искали, не нашли</a:t>
            </a:r>
          </a:p>
          <a:p>
            <a:pPr algn="l">
              <a:lnSpc>
                <a:spcPct val="126000"/>
              </a:lnSpc>
            </a:pPr>
            <a:r>
              <a:rPr sz="900" b="0" i="0">
                <a:solidFill>
                  <a:srgbClr val="21295C"/>
                </a:solidFill>
                <a:latin typeface="Arial"/>
              </a:rPr>
              <a:t>• заявленная редакционная проверка существовала. Человек в контуре был — и именно этот контур пропустил сорок один материал</a:t>
            </a:r>
          </a:p>
        </p:txBody>
      </p:sp>
      <p:sp>
        <p:nvSpPr>
          <p:cNvPr id="23" name="Rounded Rectangle 22"/>
          <p:cNvSpPr/>
          <p:nvPr/>
        </p:nvSpPr>
        <p:spPr>
          <a:xfrm>
            <a:off x="6251295" y="5428580"/>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5584028"/>
            <a:ext cx="5108295"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это чинят — и ни одна мера не потребовала лучшей модели</a:t>
            </a:r>
          </a:p>
        </p:txBody>
      </p:sp>
      <p:sp>
        <p:nvSpPr>
          <p:cNvPr id="25" name="TextBox 24"/>
          <p:cNvSpPr txBox="1"/>
          <p:nvPr/>
        </p:nvSpPr>
        <p:spPr>
          <a:xfrm>
            <a:off x="6415887" y="6186658"/>
            <a:ext cx="5108295" cy="50379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Associated Press, 15 августа 2023: вывод генеративного инструмента переопределён как непроверенный исходный материал — снимается сам вопрос «можно ли публиковать без проверки»</a:t>
            </a:r>
          </a:p>
          <a:p>
            <a:pPr algn="l">
              <a:lnSpc>
                <a:spcPct val="126000"/>
              </a:lnSpc>
            </a:pPr>
            <a:r>
              <a:rPr sz="90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a:p>
            <a:pPr algn="l">
              <a:lnSpc>
                <a:spcPct val="126000"/>
              </a:lnSpc>
            </a:pPr>
            <a:r>
              <a:rPr sz="90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pPr>
            <a:r>
              <a:rPr sz="90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chapter-part3e.md § 5.9; CNET, «CNET Is Testing an AI Engine. Here's What We've Learned, Mistakes and All», 25 января 2023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плотность живого свидетельства на тысячу слов</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половины получены одной процедурой на одном корпусе, поэтому их можно ставить рядом без подтасовки</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12" name="Rounded Rectangle 11"/>
          <p:cNvSpPr/>
          <p:nvPr/>
        </p:nvSpPr>
        <p:spPr>
          <a:xfrm>
            <a:off x="502920" y="3267036"/>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4" name="TextBox 13"/>
          <p:cNvSpPr txBox="1"/>
          <p:nvPr/>
        </p:nvSpPr>
        <p:spPr>
          <a:xfrm>
            <a:off x="640080" y="3657387"/>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5" name="TextBox 14"/>
          <p:cNvSpPr txBox="1"/>
          <p:nvPr/>
        </p:nvSpPr>
        <p:spPr>
          <a:xfrm>
            <a:off x="640080" y="408438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вот этот контрфакт и делает разбор сильнейшим</a:t>
            </a:r>
          </a:p>
        </p:txBody>
      </p:sp>
      <p:sp>
        <p:nvSpPr>
          <p:cNvPr id="16" name="Rounded Rectangle 15"/>
          <p:cNvSpPr/>
          <p:nvPr/>
        </p:nvSpPr>
        <p:spPr>
          <a:xfrm>
            <a:off x="6178143" y="3267036"/>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340419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СТАТЕЙ СО СЛЕДАМИ ГЕНЕРАЦИИ, II КВАРТАЛ 2026</a:t>
            </a:r>
          </a:p>
        </p:txBody>
      </p:sp>
      <p:sp>
        <p:nvSpPr>
          <p:cNvPr id="18" name="TextBox 17"/>
          <p:cNvSpPr txBox="1"/>
          <p:nvPr/>
        </p:nvSpPr>
        <p:spPr>
          <a:xfrm>
            <a:off x="6315303" y="3657387"/>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a:t>
            </a:r>
          </a:p>
        </p:txBody>
      </p:sp>
      <p:sp>
        <p:nvSpPr>
          <p:cNvPr id="19" name="TextBox 18"/>
          <p:cNvSpPr txBox="1"/>
          <p:nvPr/>
        </p:nvSpPr>
        <p:spPr>
          <a:xfrm>
            <a:off x="6315303" y="408438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выборки в 254 610 статей 174 российских изданий</a:t>
            </a:r>
          </a:p>
        </p:txBody>
      </p:sp>
      <p:sp>
        <p:nvSpPr>
          <p:cNvPr id="20" name="Rounded Rectangle 19"/>
          <p:cNvSpPr/>
          <p:nvPr/>
        </p:nvSpPr>
        <p:spPr>
          <a:xfrm>
            <a:off x="502920" y="4826913"/>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98236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Кривая доли и её разрез</a:t>
            </a:r>
          </a:p>
        </p:txBody>
      </p:sp>
      <p:sp>
        <p:nvSpPr>
          <p:cNvPr id="22" name="TextBox 21"/>
          <p:cNvSpPr txBox="1"/>
          <p:nvPr/>
        </p:nvSpPr>
        <p:spPr>
          <a:xfrm>
            <a:off x="667512" y="533854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IV квартал 2022 и ранее — 0–0,08%: это ложные срабатывания самих распознавателей, то есть ноль</a:t>
            </a:r>
          </a:p>
          <a:p>
            <a:pPr algn="l">
              <a:lnSpc>
                <a:spcPct val="126000"/>
              </a:lnSpc>
            </a:pPr>
            <a:r>
              <a:rPr sz="900" b="0" i="0">
                <a:solidFill>
                  <a:srgbClr val="21295C"/>
                </a:solidFill>
                <a:latin typeface="Arial"/>
              </a:rPr>
              <a:t>• IV квартал 2023 — 0,88% · IV квартал 2024 — 5,7% · IV квартал 2025 — 14% · II квартал 2026 — 18%</a:t>
            </a:r>
          </a:p>
          <a:p>
            <a:pPr algn="l">
              <a:lnSpc>
                <a:spcPct val="126000"/>
              </a:lnSpc>
            </a:pPr>
            <a:r>
              <a:rPr sz="900" b="0" i="0">
                <a:solidFill>
                  <a:srgbClr val="21295C"/>
                </a:solidFill>
                <a:latin typeface="Arial"/>
              </a:rPr>
              <a:t>• по эшелонам: федеральные около 10%, второй эшелон 23–25%, местные и нишевые 7,9%</a:t>
            </a:r>
          </a:p>
          <a:p>
            <a:pPr algn="l">
              <a:lnSpc>
                <a:spcPct val="126000"/>
              </a:lnSpc>
            </a:pPr>
            <a:r>
              <a:rPr sz="900" b="0" i="0">
                <a:solidFill>
                  <a:srgbClr val="21295C"/>
                </a:solidFill>
                <a:latin typeface="Arial"/>
              </a:rPr>
              <a:t>• по темам больше всего затронуты дом, еда и здоровье; меньше всего политика и происшествия — не более 2,8%</a:t>
            </a:r>
          </a:p>
        </p:txBody>
      </p:sp>
      <p:sp>
        <p:nvSpPr>
          <p:cNvPr id="23" name="Rounded Rectangle 22"/>
          <p:cNvSpPr/>
          <p:nvPr/>
        </p:nvSpPr>
        <p:spPr>
          <a:xfrm>
            <a:off x="6251295" y="4826913"/>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98236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мерили и что это меняет в чтении числа</a:t>
            </a:r>
          </a:p>
        </p:txBody>
      </p:sp>
      <p:sp>
        <p:nvSpPr>
          <p:cNvPr id="25" name="TextBox 24"/>
          <p:cNvSpPr txBox="1"/>
          <p:nvPr/>
        </p:nvSpPr>
        <p:spPr>
          <a:xfrm>
            <a:off x="6415887" y="533854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254 610 статей из 174 российских изданий, с 2020 года по второй квартал 2026-го</a:t>
            </a:r>
          </a:p>
          <a:p>
            <a:pPr algn="l">
              <a:lnSpc>
                <a:spcPct val="126000"/>
              </a:lnSpc>
            </a:pPr>
            <a:r>
              <a:rPr sz="900" b="0" i="0">
                <a:solidFill>
                  <a:srgbClr val="21295C"/>
                </a:solidFill>
                <a:latin typeface="Arial"/>
              </a:rPr>
              <a:t>• два открытых распознавателя, статья относится к машинным при среднем балле не ниже 0,5; сверка третьим распознавателем</a:t>
            </a:r>
          </a:p>
          <a:p>
            <a:pPr algn="l">
              <a:lnSpc>
                <a:spcPct val="126000"/>
              </a:lnSpc>
            </a:pPr>
            <a:r>
              <a:rPr sz="900" b="0" i="0">
                <a:solidFill>
                  <a:srgbClr val="21295C"/>
                </a:solidFill>
                <a:latin typeface="Arial"/>
              </a:rPr>
              <a:t>• распознаватели не обобщаются на чужую модель — значит 18 процентов читаются как нижняя граница, а не как точное значение</a:t>
            </a:r>
          </a:p>
          <a:p>
            <a:pPr algn="l">
              <a:lnSpc>
                <a:spcPct val="126000"/>
              </a:lnSpc>
            </a:pPr>
            <a:r>
              <a:rPr sz="900" b="0" i="0">
                <a:solidFill>
                  <a:srgbClr val="21295C"/>
                </a:solidFill>
                <a:latin typeface="Arial"/>
              </a:rPr>
              <a:t>• 13% прироста машинной лексики в текстах, написанных людьми, и 27% корпуса с частичными признаками: влияние шире доли полностью машинных статей</a:t>
            </a:r>
          </a:p>
        </p:txBody>
      </p:sp>
      <p:sp>
        <p:nvSpPr>
          <p:cNvPr id="26" name="Rectangle 25"/>
          <p:cNvSpPr/>
          <p:nvPr/>
        </p:nvSpPr>
        <p:spPr>
          <a:xfrm>
            <a:off x="502920" y="3171351"/>
            <a:ext cx="2788920" cy="252341"/>
          </a:xfrm>
          <a:prstGeom prst="rect">
            <a:avLst/>
          </a:prstGeom>
          <a:solidFill>
            <a:srgbClr val="21295C"/>
          </a:solidFill>
          <a:ln>
            <a:noFill/>
          </a:ln>
          <a:effectLst/>
        </p:spPr>
        <p:txBody>
          <a:bodyPr rtlCol="0" anchor="ctr"/>
          <a:lstStyle/>
          <a:p>
            <a:pPr algn="ctr"/>
          </a:p>
        </p:txBody>
      </p:sp>
      <p:sp>
        <p:nvSpPr>
          <p:cNvPr id="27" name="TextBox 26"/>
          <p:cNvSpPr txBox="1"/>
          <p:nvPr/>
        </p:nvSpPr>
        <p:spPr>
          <a:xfrm>
            <a:off x="566928" y="3235359"/>
            <a:ext cx="2660903"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Тип задачи</a:t>
            </a:r>
          </a:p>
        </p:txBody>
      </p:sp>
      <p:sp>
        <p:nvSpPr>
          <p:cNvPr id="28" name="Rectangle 27"/>
          <p:cNvSpPr/>
          <p:nvPr/>
        </p:nvSpPr>
        <p:spPr>
          <a:xfrm>
            <a:off x="3291839" y="3171351"/>
            <a:ext cx="1679387" cy="252341"/>
          </a:xfrm>
          <a:prstGeom prst="rect">
            <a:avLst/>
          </a:prstGeom>
          <a:solidFill>
            <a:srgbClr val="065A82"/>
          </a:solidFill>
          <a:ln>
            <a:noFill/>
          </a:ln>
          <a:effectLst/>
        </p:spPr>
        <p:txBody>
          <a:bodyPr rtlCol="0" anchor="ctr"/>
          <a:lstStyle/>
          <a:p>
            <a:pPr algn="ctr"/>
          </a:p>
        </p:txBody>
      </p:sp>
      <p:sp>
        <p:nvSpPr>
          <p:cNvPr id="29" name="TextBox 28"/>
          <p:cNvSpPr txBox="1"/>
          <p:nvPr/>
        </p:nvSpPr>
        <p:spPr>
          <a:xfrm>
            <a:off x="3355847"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Изображение</a:t>
            </a:r>
          </a:p>
        </p:txBody>
      </p:sp>
      <p:sp>
        <p:nvSpPr>
          <p:cNvPr id="30" name="Rectangle 29"/>
          <p:cNvSpPr/>
          <p:nvPr/>
        </p:nvSpPr>
        <p:spPr>
          <a:xfrm>
            <a:off x="4971227" y="3171351"/>
            <a:ext cx="1679387" cy="252341"/>
          </a:xfrm>
          <a:prstGeom prst="rect">
            <a:avLst/>
          </a:prstGeom>
          <a:solidFill>
            <a:srgbClr val="065A82"/>
          </a:solidFill>
          <a:ln>
            <a:noFill/>
          </a:ln>
          <a:effectLst/>
        </p:spPr>
        <p:txBody>
          <a:bodyPr rtlCol="0" anchor="ctr"/>
          <a:lstStyle/>
          <a:p>
            <a:pPr algn="ctr"/>
          </a:p>
        </p:txBody>
      </p:sp>
      <p:sp>
        <p:nvSpPr>
          <p:cNvPr id="31" name="TextBox 30"/>
          <p:cNvSpPr txBox="1"/>
          <p:nvPr/>
        </p:nvSpPr>
        <p:spPr>
          <a:xfrm>
            <a:off x="5035235"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Звук</a:t>
            </a:r>
          </a:p>
        </p:txBody>
      </p:sp>
      <p:sp>
        <p:nvSpPr>
          <p:cNvPr id="32" name="Rectangle 31"/>
          <p:cNvSpPr/>
          <p:nvPr/>
        </p:nvSpPr>
        <p:spPr>
          <a:xfrm>
            <a:off x="6650614" y="3171351"/>
            <a:ext cx="1679387" cy="252341"/>
          </a:xfrm>
          <a:prstGeom prst="rect">
            <a:avLst/>
          </a:prstGeom>
          <a:solidFill>
            <a:srgbClr val="065A82"/>
          </a:solidFill>
          <a:ln>
            <a:noFill/>
          </a:ln>
          <a:effectLst/>
        </p:spPr>
        <p:txBody>
          <a:bodyPr rtlCol="0" anchor="ctr"/>
          <a:lstStyle/>
          <a:p>
            <a:pPr algn="ctr"/>
          </a:p>
        </p:txBody>
      </p:sp>
      <p:sp>
        <p:nvSpPr>
          <p:cNvPr id="33" name="TextBox 32"/>
          <p:cNvSpPr txBox="1"/>
          <p:nvPr/>
        </p:nvSpPr>
        <p:spPr>
          <a:xfrm>
            <a:off x="6714622"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Видео</a:t>
            </a:r>
          </a:p>
        </p:txBody>
      </p:sp>
      <p:sp>
        <p:nvSpPr>
          <p:cNvPr id="34" name="Rectangle 33"/>
          <p:cNvSpPr/>
          <p:nvPr/>
        </p:nvSpPr>
        <p:spPr>
          <a:xfrm>
            <a:off x="8330001" y="3171351"/>
            <a:ext cx="1679387" cy="252341"/>
          </a:xfrm>
          <a:prstGeom prst="rect">
            <a:avLst/>
          </a:prstGeom>
          <a:solidFill>
            <a:srgbClr val="065A82"/>
          </a:solidFill>
          <a:ln>
            <a:noFill/>
          </a:ln>
          <a:effectLst/>
        </p:spPr>
        <p:txBody>
          <a:bodyPr rtlCol="0" anchor="ctr"/>
          <a:lstStyle/>
          <a:p>
            <a:pPr algn="ctr"/>
          </a:p>
        </p:txBody>
      </p:sp>
      <p:sp>
        <p:nvSpPr>
          <p:cNvPr id="35" name="TextBox 34"/>
          <p:cNvSpPr txBox="1"/>
          <p:nvPr/>
        </p:nvSpPr>
        <p:spPr>
          <a:xfrm>
            <a:off x="8394009"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Трёхмерное</a:t>
            </a:r>
          </a:p>
        </p:txBody>
      </p:sp>
      <p:sp>
        <p:nvSpPr>
          <p:cNvPr id="36" name="Rectangle 35"/>
          <p:cNvSpPr/>
          <p:nvPr/>
        </p:nvSpPr>
        <p:spPr>
          <a:xfrm>
            <a:off x="10009388" y="3171351"/>
            <a:ext cx="1679387" cy="252341"/>
          </a:xfrm>
          <a:prstGeom prst="rect">
            <a:avLst/>
          </a:prstGeom>
          <a:solidFill>
            <a:srgbClr val="065A82"/>
          </a:solidFill>
          <a:ln>
            <a:noFill/>
          </a:ln>
          <a:effectLst/>
        </p:spPr>
        <p:txBody>
          <a:bodyPr rtlCol="0" anchor="ctr"/>
          <a:lstStyle/>
          <a:p>
            <a:pPr algn="ctr"/>
          </a:p>
        </p:txBody>
      </p:sp>
      <p:sp>
        <p:nvSpPr>
          <p:cNvPr id="37" name="TextBox 36"/>
          <p:cNvSpPr txBox="1"/>
          <p:nvPr/>
        </p:nvSpPr>
        <p:spPr>
          <a:xfrm>
            <a:off x="10073396" y="3235359"/>
            <a:ext cx="1551371" cy="124325"/>
          </a:xfrm>
          <a:prstGeom prst="rect">
            <a:avLst/>
          </a:prstGeom>
          <a:noFill/>
        </p:spPr>
        <p:txBody>
          <a:bodyPr wrap="square" lIns="0" rIns="0" tIns="0" bIns="0" anchor="t">
            <a:spAutoFit/>
          </a:bodyPr>
          <a:lstStyle/>
          <a:p>
            <a:pPr algn="l">
              <a:lnSpc>
                <a:spcPct val="113000"/>
              </a:lnSpc>
            </a:pPr>
            <a:r>
              <a:rPr sz="700" b="1" i="0">
                <a:solidFill>
                  <a:srgbClr val="FFFFFF"/>
                </a:solidFill>
                <a:latin typeface="Arial"/>
              </a:rPr>
              <a:t>Распознавание</a:t>
            </a:r>
          </a:p>
        </p:txBody>
      </p:sp>
      <p:sp>
        <p:nvSpPr>
          <p:cNvPr id="38" name="Rectangle 37"/>
          <p:cNvSpPr/>
          <p:nvPr/>
        </p:nvSpPr>
        <p:spPr>
          <a:xfrm>
            <a:off x="10009388" y="3373401"/>
            <a:ext cx="1679387" cy="50292"/>
          </a:xfrm>
          <a:prstGeom prst="rect">
            <a:avLst/>
          </a:prstGeom>
          <a:solidFill>
            <a:srgbClr val="F0AB00"/>
          </a:solidFill>
          <a:ln>
            <a:noFill/>
          </a:ln>
          <a:effectLst/>
        </p:spPr>
        <p:txBody>
          <a:bodyPr rtlCol="0" anchor="ctr"/>
          <a:lstStyle/>
          <a:p>
            <a:pPr algn="ctr"/>
          </a:p>
        </p:txBody>
      </p:sp>
      <p:sp>
        <p:nvSpPr>
          <p:cNvPr id="39" name="Rectangle 38"/>
          <p:cNvSpPr/>
          <p:nvPr/>
        </p:nvSpPr>
        <p:spPr>
          <a:xfrm>
            <a:off x="502920" y="3423693"/>
            <a:ext cx="2788920" cy="412979"/>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487701"/>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Породить первое приближение</a:t>
            </a:r>
          </a:p>
          <a:p>
            <a:pPr algn="l">
              <a:lnSpc>
                <a:spcPct val="113000"/>
              </a:lnSpc>
              <a:spcBef>
                <a:spcPts val="200"/>
              </a:spcBef>
            </a:pPr>
            <a:r>
              <a:rPr sz="650" b="0" i="1">
                <a:solidFill>
                  <a:srgbClr val="1C7293"/>
                </a:solidFill>
                <a:latin typeface="Arial"/>
              </a:rPr>
              <a:t>получить варианты облика, пока решение ещё не принято</a:t>
            </a:r>
          </a:p>
        </p:txBody>
      </p:sp>
      <p:sp>
        <p:nvSpPr>
          <p:cNvPr id="41" name="Rectangle 40"/>
          <p:cNvSpPr/>
          <p:nvPr/>
        </p:nvSpPr>
        <p:spPr>
          <a:xfrm>
            <a:off x="3291839"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0,034–0,05 $ за изображение</a:t>
            </a:r>
          </a:p>
        </p:txBody>
      </p:sp>
      <p:sp>
        <p:nvSpPr>
          <p:cNvPr id="43" name="Rectangle 42"/>
          <p:cNvSpPr/>
          <p:nvPr/>
        </p:nvSpPr>
        <p:spPr>
          <a:xfrm>
            <a:off x="4971227"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дубляж 0,03–0,072 $ за минуту</a:t>
            </a:r>
          </a:p>
        </p:txBody>
      </p:sp>
      <p:sp>
        <p:nvSpPr>
          <p:cNvPr id="45" name="Rectangle 44"/>
          <p:cNvSpPr/>
          <p:nvPr/>
        </p:nvSpPr>
        <p:spPr>
          <a:xfrm>
            <a:off x="6650614"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цена выпуска ниже в 10–20 раз</a:t>
            </a:r>
          </a:p>
        </p:txBody>
      </p:sp>
      <p:sp>
        <p:nvSpPr>
          <p:cNvPr id="47" name="Rectangle 46"/>
          <p:cNvSpPr/>
          <p:nvPr/>
        </p:nvSpPr>
        <p:spPr>
          <a:xfrm>
            <a:off x="8330001"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8394009"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единицы секунд на вариант</a:t>
            </a:r>
          </a:p>
        </p:txBody>
      </p:sp>
      <p:sp>
        <p:nvSpPr>
          <p:cNvPr id="49" name="Rectangle 48"/>
          <p:cNvSpPr/>
          <p:nvPr/>
        </p:nvSpPr>
        <p:spPr>
          <a:xfrm>
            <a:off x="10009388" y="3423693"/>
            <a:ext cx="1679387" cy="41297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10073396" y="3487701"/>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порождение не задача стадии</a:t>
            </a:r>
          </a:p>
        </p:txBody>
      </p:sp>
      <p:sp>
        <p:nvSpPr>
          <p:cNvPr id="51" name="Rectangle 50"/>
          <p:cNvSpPr/>
          <p:nvPr/>
        </p:nvSpPr>
        <p:spPr>
          <a:xfrm>
            <a:off x="502920" y="3836672"/>
            <a:ext cx="2788920" cy="412979"/>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566928" y="390068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Довести до производственного качества</a:t>
            </a:r>
          </a:p>
          <a:p>
            <a:pPr algn="l">
              <a:lnSpc>
                <a:spcPct val="113000"/>
              </a:lnSpc>
              <a:spcBef>
                <a:spcPts val="200"/>
              </a:spcBef>
            </a:pPr>
            <a:r>
              <a:rPr sz="650" b="0" i="1">
                <a:solidFill>
                  <a:srgbClr val="1C7293"/>
                </a:solidFill>
                <a:latin typeface="Arial"/>
              </a:rPr>
              <a:t>отобрать, доработать и выпустить годное</a:t>
            </a:r>
          </a:p>
        </p:txBody>
      </p:sp>
      <p:sp>
        <p:nvSpPr>
          <p:cNvPr id="53" name="Rectangle 52"/>
          <p:cNvSpPr/>
          <p:nvPr/>
        </p:nvSpPr>
        <p:spPr>
          <a:xfrm>
            <a:off x="3291839"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3355847"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адаптеры и ручная правка</a:t>
            </a:r>
          </a:p>
        </p:txBody>
      </p:sp>
      <p:sp>
        <p:nvSpPr>
          <p:cNvPr id="55" name="Rectangle 54"/>
          <p:cNvSpPr/>
          <p:nvPr/>
        </p:nvSpPr>
        <p:spPr>
          <a:xfrm>
            <a:off x="4971227"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5035235"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ручная правка дикции</a:t>
            </a:r>
          </a:p>
        </p:txBody>
      </p:sp>
      <p:sp>
        <p:nvSpPr>
          <p:cNvPr id="57" name="Rectangle 56"/>
          <p:cNvSpPr/>
          <p:nvPr/>
        </p:nvSpPr>
        <p:spPr>
          <a:xfrm>
            <a:off x="6650614"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6714622"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ручной отбор и склейка</a:t>
            </a:r>
          </a:p>
        </p:txBody>
      </p:sp>
      <p:sp>
        <p:nvSpPr>
          <p:cNvPr id="59" name="Rectangle 58"/>
          <p:cNvSpPr/>
          <p:nvPr/>
        </p:nvSpPr>
        <p:spPr>
          <a:xfrm>
            <a:off x="8330001"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8394009"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ретопология, развёртка, риггинг остаются людям</a:t>
            </a:r>
          </a:p>
        </p:txBody>
      </p:sp>
      <p:sp>
        <p:nvSpPr>
          <p:cNvPr id="61" name="Rectangle 60"/>
          <p:cNvSpPr/>
          <p:nvPr/>
        </p:nvSpPr>
        <p:spPr>
          <a:xfrm>
            <a:off x="10009388" y="3836672"/>
            <a:ext cx="1679387" cy="412979"/>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10073396" y="390068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человек в контуре с нормой времени</a:t>
            </a:r>
          </a:p>
        </p:txBody>
      </p:sp>
      <p:sp>
        <p:nvSpPr>
          <p:cNvPr id="63" name="Rectangle 62"/>
          <p:cNvSpPr/>
          <p:nvPr/>
        </p:nvSpPr>
        <p:spPr>
          <a:xfrm>
            <a:off x="502920" y="4249652"/>
            <a:ext cx="2788920" cy="412979"/>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313660"/>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Восстановить существующее</a:t>
            </a:r>
          </a:p>
          <a:p>
            <a:pPr algn="l">
              <a:lnSpc>
                <a:spcPct val="113000"/>
              </a:lnSpc>
              <a:spcBef>
                <a:spcPts val="200"/>
              </a:spcBef>
            </a:pPr>
            <a:r>
              <a:rPr sz="650" b="0" i="1">
                <a:solidFill>
                  <a:srgbClr val="1C7293"/>
                </a:solidFill>
                <a:latin typeface="Arial"/>
              </a:rPr>
              <a:t>вытащить то, что уже записано, но читается плохо</a:t>
            </a:r>
          </a:p>
        </p:txBody>
      </p:sp>
      <p:sp>
        <p:nvSpPr>
          <p:cNvPr id="65" name="Rectangle 64"/>
          <p:cNvSpPr/>
          <p:nvPr/>
        </p:nvSpPr>
        <p:spPr>
          <a:xfrm>
            <a:off x="3291839"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повышение разрешения архива</a:t>
            </a:r>
          </a:p>
        </p:txBody>
      </p:sp>
      <p:sp>
        <p:nvSpPr>
          <p:cNvPr id="67" name="Rectangle 66"/>
          <p:cNvSpPr/>
          <p:nvPr/>
        </p:nvSpPr>
        <p:spPr>
          <a:xfrm>
            <a:off x="4971227"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разделение источников</a:t>
            </a:r>
          </a:p>
        </p:txBody>
      </p:sp>
      <p:sp>
        <p:nvSpPr>
          <p:cNvPr id="69" name="Rectangle 68"/>
          <p:cNvSpPr/>
          <p:nvPr/>
        </p:nvSpPr>
        <p:spPr>
          <a:xfrm>
            <a:off x="6650614"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интерполяция кадров</a:t>
            </a:r>
          </a:p>
        </p:txBody>
      </p:sp>
      <p:sp>
        <p:nvSpPr>
          <p:cNvPr id="71" name="Rectangle 70"/>
          <p:cNvSpPr/>
          <p:nvPr/>
        </p:nvSpPr>
        <p:spPr>
          <a:xfrm>
            <a:off x="8330001"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сцена из снимков: 41 минута, 134 кадра в секунду</a:t>
            </a:r>
          </a:p>
        </p:txBody>
      </p:sp>
      <p:sp>
        <p:nvSpPr>
          <p:cNvPr id="73" name="Rectangle 72"/>
          <p:cNvSpPr/>
          <p:nvPr/>
        </p:nvSpPr>
        <p:spPr>
          <a:xfrm>
            <a:off x="10009388" y="4249652"/>
            <a:ext cx="1679387" cy="412979"/>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10073396" y="4313660"/>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да: свиток прочитан целиком, ответ проверяем</a:t>
            </a:r>
          </a:p>
        </p:txBody>
      </p:sp>
      <p:sp>
        <p:nvSpPr>
          <p:cNvPr id="75" name="Rectangle 74"/>
          <p:cNvSpPr/>
          <p:nvPr/>
        </p:nvSpPr>
        <p:spPr>
          <a:xfrm>
            <a:off x="502920" y="4662631"/>
            <a:ext cx="2788920" cy="412979"/>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566928" y="472663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Соблюсти точные величины</a:t>
            </a:r>
          </a:p>
          <a:p>
            <a:pPr algn="l">
              <a:lnSpc>
                <a:spcPct val="113000"/>
              </a:lnSpc>
              <a:spcBef>
                <a:spcPts val="200"/>
              </a:spcBef>
            </a:pPr>
            <a:r>
              <a:rPr sz="650" b="0" i="1">
                <a:solidFill>
                  <a:srgbClr val="1C7293"/>
                </a:solidFill>
                <a:latin typeface="Arial"/>
              </a:rPr>
              <a:t>размеры, допуски, проверяемые условия</a:t>
            </a:r>
          </a:p>
        </p:txBody>
      </p:sp>
      <p:sp>
        <p:nvSpPr>
          <p:cNvPr id="77" name="Rectangle 76"/>
          <p:cNvSpPr/>
          <p:nvPr/>
        </p:nvSpPr>
        <p:spPr>
          <a:xfrm>
            <a:off x="3291839"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3355847"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79" name="Rectangle 78"/>
          <p:cNvSpPr/>
          <p:nvPr/>
        </p:nvSpPr>
        <p:spPr>
          <a:xfrm>
            <a:off x="4971227"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5035235"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длина задана до запуска</a:t>
            </a:r>
          </a:p>
        </p:txBody>
      </p:sp>
      <p:sp>
        <p:nvSpPr>
          <p:cNvPr id="81" name="Rectangle 80"/>
          <p:cNvSpPr/>
          <p:nvPr/>
        </p:nvSpPr>
        <p:spPr>
          <a:xfrm>
            <a:off x="6650614"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6714622"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физика выучена как корреляция</a:t>
            </a:r>
          </a:p>
        </p:txBody>
      </p:sp>
      <p:sp>
        <p:nvSpPr>
          <p:cNvPr id="83" name="Rectangle 82"/>
          <p:cNvSpPr/>
          <p:nvPr/>
        </p:nvSpPr>
        <p:spPr>
          <a:xfrm>
            <a:off x="8330001"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8394009"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размеров в выдаче не существует</a:t>
            </a:r>
          </a:p>
        </p:txBody>
      </p:sp>
      <p:sp>
        <p:nvSpPr>
          <p:cNvPr id="85" name="Rectangle 84"/>
          <p:cNvSpPr/>
          <p:nvPr/>
        </p:nvSpPr>
        <p:spPr>
          <a:xfrm>
            <a:off x="10009388" y="4662631"/>
            <a:ext cx="1679387" cy="412979"/>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10073396" y="472663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да: эталонная разметка даёт число</a:t>
            </a:r>
          </a:p>
        </p:txBody>
      </p:sp>
      <p:sp>
        <p:nvSpPr>
          <p:cNvPr id="87" name="Rectangle 86"/>
          <p:cNvSpPr/>
          <p:nvPr/>
        </p:nvSpPr>
        <p:spPr>
          <a:xfrm>
            <a:off x="502920" y="5075611"/>
            <a:ext cx="2788920" cy="412979"/>
          </a:xfrm>
          <a:prstGeom prst="rect">
            <a:avLst/>
          </a:prstGeom>
          <a:solidFill>
            <a:srgbClr val="FFFFFF"/>
          </a:solidFill>
          <a:ln w="9525">
            <a:solidFill>
              <a:srgbClr val="D9E2EC"/>
            </a:solidFill>
          </a:ln>
          <a:effectLst/>
        </p:spPr>
        <p:txBody>
          <a:bodyPr rtlCol="0" anchor="ctr"/>
          <a:lstStyle/>
          <a:p>
            <a:pPr algn="ctr"/>
          </a:p>
        </p:txBody>
      </p:sp>
      <p:sp>
        <p:nvSpPr>
          <p:cNvPr id="88" name="TextBox 87"/>
          <p:cNvSpPr txBox="1"/>
          <p:nvPr/>
        </p:nvSpPr>
        <p:spPr>
          <a:xfrm>
            <a:off x="566928" y="5139619"/>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Уложиться в бюджет реального времени</a:t>
            </a:r>
          </a:p>
          <a:p>
            <a:pPr algn="l">
              <a:lnSpc>
                <a:spcPct val="113000"/>
              </a:lnSpc>
              <a:spcBef>
                <a:spcPts val="200"/>
              </a:spcBef>
            </a:pPr>
            <a:r>
              <a:rPr sz="650" b="0" i="1">
                <a:solidFill>
                  <a:srgbClr val="1C7293"/>
                </a:solidFill>
                <a:latin typeface="Arial"/>
              </a:rPr>
              <a:t>успеть к сроку кадра, а не к сроку задачи</a:t>
            </a:r>
          </a:p>
        </p:txBody>
      </p:sp>
      <p:sp>
        <p:nvSpPr>
          <p:cNvPr id="89" name="Rectangle 88"/>
          <p:cNvSpPr/>
          <p:nvPr/>
        </p:nvSpPr>
        <p:spPr>
          <a:xfrm>
            <a:off x="3291839"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90" name="TextBox 89"/>
          <p:cNvSpPr txBox="1"/>
          <p:nvPr/>
        </p:nvSpPr>
        <p:spPr>
          <a:xfrm>
            <a:off x="3355847"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91" name="Rectangle 90"/>
          <p:cNvSpPr/>
          <p:nvPr/>
        </p:nvSpPr>
        <p:spPr>
          <a:xfrm>
            <a:off x="4971227"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92" name="TextBox 91"/>
          <p:cNvSpPr txBox="1"/>
          <p:nvPr/>
        </p:nvSpPr>
        <p:spPr>
          <a:xfrm>
            <a:off x="5035235"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неприменимо: кадрового бюджета у стадии нет</a:t>
            </a:r>
          </a:p>
        </p:txBody>
      </p:sp>
      <p:sp>
        <p:nvSpPr>
          <p:cNvPr id="93" name="Rectangle 92"/>
          <p:cNvSpPr/>
          <p:nvPr/>
        </p:nvSpPr>
        <p:spPr>
          <a:xfrm>
            <a:off x="6650614"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94" name="TextBox 93"/>
          <p:cNvSpPr txBox="1"/>
          <p:nvPr/>
        </p:nvSpPr>
        <p:spPr>
          <a:xfrm>
            <a:off x="6714622"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в кадровый бюджет не укладывается</a:t>
            </a:r>
          </a:p>
        </p:txBody>
      </p:sp>
      <p:sp>
        <p:nvSpPr>
          <p:cNvPr id="95" name="Rectangle 94"/>
          <p:cNvSpPr/>
          <p:nvPr/>
        </p:nvSpPr>
        <p:spPr>
          <a:xfrm>
            <a:off x="8330001"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96" name="TextBox 95"/>
          <p:cNvSpPr txBox="1"/>
          <p:nvPr/>
        </p:nvSpPr>
        <p:spPr>
          <a:xfrm>
            <a:off x="8394009"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около 1 мс на кадр</a:t>
            </a:r>
          </a:p>
        </p:txBody>
      </p:sp>
      <p:sp>
        <p:nvSpPr>
          <p:cNvPr id="97" name="Rectangle 96"/>
          <p:cNvSpPr/>
          <p:nvPr/>
        </p:nvSpPr>
        <p:spPr>
          <a:xfrm>
            <a:off x="10009388" y="5075611"/>
            <a:ext cx="1679387" cy="412979"/>
          </a:xfrm>
          <a:prstGeom prst="rect">
            <a:avLst/>
          </a:prstGeom>
          <a:solidFill>
            <a:srgbClr val="FFFFFF"/>
          </a:solidFill>
          <a:ln w="9525">
            <a:solidFill>
              <a:srgbClr val="D9E2EC"/>
            </a:solidFill>
          </a:ln>
          <a:effectLst/>
        </p:spPr>
        <p:txBody>
          <a:bodyPr rtlCol="0" anchor="ctr"/>
          <a:lstStyle/>
          <a:p>
            <a:pPr algn="ctr"/>
          </a:p>
        </p:txBody>
      </p:sp>
      <p:sp>
        <p:nvSpPr>
          <p:cNvPr id="98" name="TextBox 97"/>
          <p:cNvSpPr txBox="1"/>
          <p:nvPr/>
        </p:nvSpPr>
        <p:spPr>
          <a:xfrm>
            <a:off x="10073396" y="5139619"/>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да: модерация на потоке</a:t>
            </a:r>
          </a:p>
        </p:txBody>
      </p:sp>
      <p:sp>
        <p:nvSpPr>
          <p:cNvPr id="99" name="Rectangle 98"/>
          <p:cNvSpPr/>
          <p:nvPr/>
        </p:nvSpPr>
        <p:spPr>
          <a:xfrm>
            <a:off x="502920" y="5488590"/>
            <a:ext cx="2788920" cy="412979"/>
          </a:xfrm>
          <a:prstGeom prst="rect">
            <a:avLst/>
          </a:prstGeom>
          <a:solidFill>
            <a:srgbClr val="F4F7FA"/>
          </a:solidFill>
          <a:ln w="9525">
            <a:solidFill>
              <a:srgbClr val="D9E2EC"/>
            </a:solidFill>
          </a:ln>
          <a:effectLst/>
        </p:spPr>
        <p:txBody>
          <a:bodyPr rtlCol="0" anchor="ctr"/>
          <a:lstStyle/>
          <a:p>
            <a:pPr algn="ctr"/>
          </a:p>
        </p:txBody>
      </p:sp>
      <p:sp>
        <p:nvSpPr>
          <p:cNvPr id="100" name="TextBox 99"/>
          <p:cNvSpPr txBox="1"/>
          <p:nvPr/>
        </p:nvSpPr>
        <p:spPr>
          <a:xfrm>
            <a:off x="566928" y="5552598"/>
            <a:ext cx="2660903" cy="284963"/>
          </a:xfrm>
          <a:prstGeom prst="rect">
            <a:avLst/>
          </a:prstGeom>
          <a:noFill/>
        </p:spPr>
        <p:txBody>
          <a:bodyPr wrap="square" lIns="0" rIns="0" tIns="0" bIns="0" anchor="t">
            <a:spAutoFit/>
          </a:bodyPr>
          <a:lstStyle/>
          <a:p>
            <a:pPr algn="l">
              <a:lnSpc>
                <a:spcPct val="113000"/>
              </a:lnSpc>
            </a:pPr>
            <a:r>
              <a:rPr sz="800" b="1" i="0">
                <a:solidFill>
                  <a:srgbClr val="21295C"/>
                </a:solidFill>
                <a:latin typeface="Arial"/>
              </a:rPr>
              <a:t>Ответить «кто отвечает»</a:t>
            </a:r>
          </a:p>
          <a:p>
            <a:pPr algn="l">
              <a:lnSpc>
                <a:spcPct val="113000"/>
              </a:lnSpc>
              <a:spcBef>
                <a:spcPts val="200"/>
              </a:spcBef>
            </a:pPr>
            <a:r>
              <a:rPr sz="650" b="0" i="1">
                <a:solidFill>
                  <a:srgbClr val="1C7293"/>
                </a:solidFill>
                <a:latin typeface="Arial"/>
              </a:rPr>
              <a:t>происхождение, права, подпись под результатом</a:t>
            </a:r>
          </a:p>
        </p:txBody>
      </p:sp>
      <p:sp>
        <p:nvSpPr>
          <p:cNvPr id="101" name="Rectangle 100"/>
          <p:cNvSpPr/>
          <p:nvPr/>
        </p:nvSpPr>
        <p:spPr>
          <a:xfrm>
            <a:off x="3291839"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102" name="TextBox 101"/>
          <p:cNvSpPr txBox="1"/>
          <p:nvPr/>
        </p:nvSpPr>
        <p:spPr>
          <a:xfrm>
            <a:off x="3355847"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103" name="Rectangle 102"/>
          <p:cNvSpPr/>
          <p:nvPr/>
        </p:nvSpPr>
        <p:spPr>
          <a:xfrm>
            <a:off x="4971227"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104" name="TextBox 103"/>
          <p:cNvSpPr txBox="1"/>
          <p:nvPr/>
        </p:nvSpPr>
        <p:spPr>
          <a:xfrm>
            <a:off x="5035235"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105" name="Rectangle 104"/>
          <p:cNvSpPr/>
          <p:nvPr/>
        </p:nvSpPr>
        <p:spPr>
          <a:xfrm>
            <a:off x="6650614"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106" name="TextBox 105"/>
          <p:cNvSpPr txBox="1"/>
          <p:nvPr/>
        </p:nvSpPr>
        <p:spPr>
          <a:xfrm>
            <a:off x="6714622"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107" name="Rectangle 106"/>
          <p:cNvSpPr/>
          <p:nvPr/>
        </p:nvSpPr>
        <p:spPr>
          <a:xfrm>
            <a:off x="8330001"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108" name="TextBox 107"/>
          <p:cNvSpPr txBox="1"/>
          <p:nvPr/>
        </p:nvSpPr>
        <p:spPr>
          <a:xfrm>
            <a:off x="8394009"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нет: источник детали не записан</a:t>
            </a:r>
          </a:p>
        </p:txBody>
      </p:sp>
      <p:sp>
        <p:nvSpPr>
          <p:cNvPr id="109" name="Rectangle 108"/>
          <p:cNvSpPr/>
          <p:nvPr/>
        </p:nvSpPr>
        <p:spPr>
          <a:xfrm>
            <a:off x="10009388" y="5488590"/>
            <a:ext cx="1679387" cy="412979"/>
          </a:xfrm>
          <a:prstGeom prst="rect">
            <a:avLst/>
          </a:prstGeom>
          <a:solidFill>
            <a:srgbClr val="F4F7FA"/>
          </a:solidFill>
          <a:ln w="9525">
            <a:solidFill>
              <a:srgbClr val="D9E2EC"/>
            </a:solidFill>
          </a:ln>
          <a:effectLst/>
        </p:spPr>
        <p:txBody>
          <a:bodyPr rtlCol="0" anchor="ctr"/>
          <a:lstStyle/>
          <a:p>
            <a:pPr algn="ctr"/>
          </a:p>
        </p:txBody>
      </p:sp>
      <p:sp>
        <p:nvSpPr>
          <p:cNvPr id="110" name="TextBox 109"/>
          <p:cNvSpPr txBox="1"/>
          <p:nvPr/>
        </p:nvSpPr>
        <p:spPr>
          <a:xfrm>
            <a:off x="10073396" y="5552598"/>
            <a:ext cx="1551371" cy="284963"/>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частично: подпись снаружи, и она про подписавшего</a:t>
            </a:r>
          </a:p>
        </p:txBody>
      </p:sp>
      <p:sp>
        <p:nvSpPr>
          <p:cNvPr id="111" name="Rounded Rectangle 110"/>
          <p:cNvSpPr/>
          <p:nvPr/>
        </p:nvSpPr>
        <p:spPr>
          <a:xfrm>
            <a:off x="502920" y="5983866"/>
            <a:ext cx="11185855" cy="252341"/>
          </a:xfrm>
          <a:prstGeom prst="roundRect">
            <a:avLst>
              <a:gd name="adj" fmla="val 14000"/>
            </a:avLst>
          </a:prstGeom>
          <a:solidFill>
            <a:srgbClr val="FEF5E0"/>
          </a:solidFill>
          <a:ln>
            <a:noFill/>
          </a:ln>
          <a:effectLst/>
        </p:spPr>
        <p:txBody>
          <a:bodyPr rtlCol="0" anchor="ctr"/>
          <a:lstStyle/>
          <a:p>
            <a:pPr algn="ctr"/>
          </a:p>
        </p:txBody>
      </p:sp>
      <p:sp>
        <p:nvSpPr>
          <p:cNvPr id="112" name="Rectangle 111"/>
          <p:cNvSpPr/>
          <p:nvPr/>
        </p:nvSpPr>
        <p:spPr>
          <a:xfrm>
            <a:off x="502920" y="5983866"/>
            <a:ext cx="68580" cy="252341"/>
          </a:xfrm>
          <a:prstGeom prst="rect">
            <a:avLst/>
          </a:prstGeom>
          <a:solidFill>
            <a:srgbClr val="F0AB00"/>
          </a:solidFill>
          <a:ln>
            <a:noFill/>
          </a:ln>
          <a:effectLst/>
        </p:spPr>
        <p:txBody>
          <a:bodyPr rtlCol="0" anchor="ctr"/>
          <a:lstStyle/>
          <a:p>
            <a:pPr algn="ctr"/>
          </a:p>
        </p:txBody>
      </p:sp>
      <p:sp>
        <p:nvSpPr>
          <p:cNvPr id="113" name="TextBox 112"/>
          <p:cNvSpPr txBox="1"/>
          <p:nvPr/>
        </p:nvSpPr>
        <p:spPr>
          <a:xfrm>
            <a:off x="685800" y="6047874"/>
            <a:ext cx="10783519" cy="124325"/>
          </a:xfrm>
          <a:prstGeom prst="rect">
            <a:avLst/>
          </a:prstGeom>
          <a:noFill/>
        </p:spPr>
        <p:txBody>
          <a:bodyPr wrap="square" lIns="0" rIns="0" tIns="0" bIns="0" anchor="t">
            <a:spAutoFit/>
          </a:bodyPr>
          <a:lstStyle/>
          <a:p>
            <a:pPr algn="l">
              <a:lnSpc>
                <a:spcPct val="113000"/>
              </a:lnSpc>
            </a:pPr>
            <a:r>
              <a:rPr sz="70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114" name="Rectangle 1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5" name="TextBox 1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chapter-part3e.md § 5.10; Кирилл Пшинник, сооснователь Zerocoder, публикация 16 октября 2026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
        <p:nvSpPr>
          <p:cNvPr id="8" name="TextBox 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chapter-part4.md §§ 6.0–6.4; chapter-part4b.md §§ 6.5–6.9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по обе стороны и в одной единице во всех пяти модальностях</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один из трёх не метафора: за каждым стоит разобранный случай с посчитанной классикой</a:t>
            </a:r>
          </a:p>
        </p:txBody>
      </p:sp>
      <p:sp>
        <p:nvSpPr>
          <p:cNvPr id="12" name="Rounded Rectangle 11"/>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Исполнение перестало быть дефицитом. Что теперь дефицит — и в каких единицах за него платят?</a:t>
            </a:r>
          </a:p>
          <a:p>
            <a:pPr algn="l">
              <a:lnSpc>
                <a:spcPct val="126000"/>
              </a:lnSpc>
              <a:spcBef>
                <a:spcPts val="700"/>
              </a:spcBef>
            </a:pPr>
            <a:r>
              <a:rPr sz="1050" b="0" i="0">
                <a:solidFill>
                  <a:srgbClr val="21295C"/>
                </a:solidFill>
                <a:latin typeface="Arial"/>
              </a:rPr>
              <a:t/>
            </a:r>
            <a:r>
              <a:rPr sz="1050" b="1" i="0">
                <a:solidFill>
                  <a:srgbClr val="21295C"/>
                </a:solidFill>
                <a:latin typeface="Arial"/>
              </a:rPr>
              <a:t>Ответ вечера: платят за отбор, за права и за узнавание.</a:t>
            </a:r>
          </a:p>
          <a:p>
            <a:pPr algn="l">
              <a:lnSpc>
                <a:spcPct val="126000"/>
              </a:lnSpc>
              <a:spcBef>
                <a:spcPts val="700"/>
              </a:spcBef>
            </a:pPr>
            <a:r>
              <a:rPr sz="1050" b="0" i="0">
                <a:solidFill>
                  <a:srgbClr val="21295C"/>
                </a:solidFill>
                <a:latin typeface="Arial"/>
              </a:rPr>
              <a:t/>
            </a:r>
            <a:r>
              <a:rPr sz="1050" b="1" i="0">
                <a:solidFill>
                  <a:srgbClr val="21295C"/>
                </a:solidFill>
                <a:latin typeface="Arial"/>
              </a:rPr>
              <a:t>ОТБОР</a:t>
            </a:r>
            <a:r>
              <a:rPr sz="1050" b="0" i="0">
                <a:solidFill>
                  <a:srgbClr val="21295C"/>
                </a:solidFill>
                <a:latin typeface="Arial"/>
              </a:rPr>
              <a:t> — единица счёта: просмотренные и забракованные попытки. </a:t>
            </a:r>
            <a:r>
              <a:rPr sz="1050" b="1" i="0">
                <a:solidFill>
                  <a:srgbClr val="21295C"/>
                </a:solidFill>
                <a:latin typeface="Arial"/>
              </a:rPr>
              <a:t>300–400 генераций на 15 пригодных склеек</a:t>
            </a:r>
            <a:r>
              <a:rPr sz="1050" b="0" i="0">
                <a:solidFill>
                  <a:srgbClr val="21295C"/>
                </a:solidFill>
                <a:latin typeface="Arial"/>
              </a:rPr>
              <a:t>, брак 96 %. В кампании мирового бренда </a:t>
            </a:r>
            <a:r>
              <a:rPr sz="1050" b="1" i="0">
                <a:solidFill>
                  <a:srgbClr val="21295C"/>
                </a:solidFill>
                <a:latin typeface="Arial"/>
              </a:rPr>
              <a:t>около 100 человек до и около 100 после</a:t>
            </a:r>
            <a:r>
              <a:rPr sz="1050" b="0" i="0">
                <a:solidFill>
                  <a:srgbClr val="21295C"/>
                </a:solidFill>
                <a:latin typeface="Arial"/>
              </a:rPr>
              <a:t>: изменилось число проб, численность команды — нет. </a:t>
            </a:r>
            <a:r>
              <a:rPr sz="1050" b="0" i="1">
                <a:solidFill>
                  <a:srgbClr val="21295C"/>
                </a:solidFill>
                <a:latin typeface="Arial"/>
              </a:rPr>
              <a:t>Заработано разделами про неподвижное и движущееся изображение.</a:t>
            </a:r>
          </a:p>
          <a:p>
            <a:pPr algn="l">
              <a:lnSpc>
                <a:spcPct val="126000"/>
              </a:lnSpc>
              <a:spcBef>
                <a:spcPts val="700"/>
              </a:spcBef>
            </a:pPr>
            <a:r>
              <a:rPr sz="1050" b="0" i="0">
                <a:solidFill>
                  <a:srgbClr val="21295C"/>
                </a:solidFill>
                <a:latin typeface="Arial"/>
              </a:rPr>
              <a:t/>
            </a:r>
            <a:r>
              <a:rPr sz="1050" b="1" i="0">
                <a:solidFill>
                  <a:srgbClr val="21295C"/>
                </a:solidFill>
                <a:latin typeface="Arial"/>
              </a:rPr>
              <a:t>ПРАВА</a:t>
            </a:r>
            <a:r>
              <a:rPr sz="1050" b="0" i="0">
                <a:solidFill>
                  <a:srgbClr val="21295C"/>
                </a:solidFill>
                <a:latin typeface="Arial"/>
              </a:rPr>
              <a:t> — единица счёта: деньги за доступ к обучающему материалу и к результату. </a:t>
            </a:r>
            <a:r>
              <a:rPr sz="1050" b="1" i="0">
                <a:solidFill>
                  <a:srgbClr val="21295C"/>
                </a:solidFill>
                <a:latin typeface="Arial"/>
              </a:rPr>
              <a:t>1,5 млрд долларов на ~500 000 произведений — около 3 000 долларов за произведение.</a:t>
            </a:r>
            <a:r>
              <a:rPr sz="1050" b="0" i="0">
                <a:solidFill>
                  <a:srgbClr val="21295C"/>
                </a:solidFill>
                <a:latin typeface="Arial"/>
              </a:rPr>
              <a:t> Лицензированная генерация </a:t>
            </a:r>
            <a:r>
              <a:rPr sz="1050" b="1" i="0">
                <a:solidFill>
                  <a:srgbClr val="21295C"/>
                </a:solidFill>
                <a:latin typeface="Arial"/>
              </a:rPr>
              <a:t>0,002–0,005 доллара</a:t>
            </a:r>
            <a:r>
              <a:rPr sz="1050" b="0" i="0">
                <a:solidFill>
                  <a:srgbClr val="21295C"/>
                </a:solidFill>
                <a:latin typeface="Arial"/>
              </a:rPr>
              <a:t> против </a:t>
            </a:r>
            <a:r>
              <a:rPr sz="1050" b="1" i="0">
                <a:solidFill>
                  <a:srgbClr val="21295C"/>
                </a:solidFill>
                <a:latin typeface="Arial"/>
              </a:rPr>
              <a:t>20–100 долларов</a:t>
            </a:r>
            <a:r>
              <a:rPr sz="1050" b="0" i="0">
                <a:solidFill>
                  <a:srgbClr val="21295C"/>
                </a:solidFill>
                <a:latin typeface="Arial"/>
              </a:rPr>
              <a:t> за готовый стоковый трек. </a:t>
            </a:r>
            <a:r>
              <a:rPr sz="1050" b="0" i="1">
                <a:solidFill>
                  <a:srgbClr val="21295C"/>
                </a:solidFill>
                <a:latin typeface="Arial"/>
              </a:rPr>
              <a:t>Заработано разделами про звук и про неподвижное изображение.</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УЗНАВАНИЕ</a:t>
            </a:r>
            <a:r>
              <a:rPr sz="1050" b="0" i="0">
                <a:solidFill>
                  <a:srgbClr val="21295C"/>
                </a:solidFill>
                <a:latin typeface="Arial"/>
              </a:rPr>
              <a:t> — единица счёта: доля верных решений о происхождении. </a:t>
            </a:r>
            <a:r>
              <a:rPr sz="1050" b="1" i="0">
                <a:solidFill>
                  <a:srgbClr val="21295C"/>
                </a:solidFill>
                <a:latin typeface="Arial"/>
              </a:rPr>
              <a:t>99,9 % на своей модели, 51,9 % на незнакомой</a:t>
            </a:r>
            <a:r>
              <a:rPr sz="1050" b="0" i="0">
                <a:solidFill>
                  <a:srgbClr val="21295C"/>
                </a:solidFill>
                <a:latin typeface="Arial"/>
              </a:rPr>
              <a:t> — монета. В редакциях с высокой долей машинных статей экспертов на 1 000 слов стало </a:t>
            </a:r>
            <a:r>
              <a:rPr sz="1050" b="1" i="0">
                <a:solidFill>
                  <a:srgbClr val="21295C"/>
                </a:solidFill>
                <a:latin typeface="Arial"/>
              </a:rPr>
              <a:t>меньше на 22 %</a:t>
            </a:r>
            <a:r>
              <a:rPr sz="1050" b="0" i="0">
                <a:solidFill>
                  <a:srgbClr val="21295C"/>
                </a:solidFill>
                <a:latin typeface="Arial"/>
              </a:rPr>
              <a:t>, в редакциях почти без них — </a:t>
            </a:r>
            <a:r>
              <a:rPr sz="1050" b="1" i="0">
                <a:solidFill>
                  <a:srgbClr val="21295C"/>
                </a:solidFill>
                <a:latin typeface="Arial"/>
              </a:rPr>
              <a:t>больше на 6 %</a:t>
            </a:r>
            <a:r>
              <a:rPr sz="1050" b="0" i="0">
                <a:solidFill>
                  <a:srgbClr val="21295C"/>
                </a:solidFill>
                <a:latin typeface="Arial"/>
              </a:rPr>
              <a:t>. </a:t>
            </a:r>
            <a:r>
              <a:rPr sz="1050" b="0" i="1">
                <a:solidFill>
                  <a:srgbClr val="21295C"/>
                </a:solidFill>
                <a:latin typeface="Arial"/>
              </a:rPr>
              <a:t>Заработано разделом про распознавание и происхождение.</a:t>
            </a:r>
          </a:p>
          <a:p>
            <a:pPr algn="l">
              <a:lnSpc>
                <a:spcPct val="126000"/>
              </a:lnSpc>
              <a:spcBef>
                <a:spcPts val="700"/>
              </a:spcBef>
            </a:pPr>
            <a:r>
              <a:rPr sz="1050" b="0" i="0">
                <a:solidFill>
                  <a:srgbClr val="21295C"/>
                </a:solidFill>
                <a:latin typeface="Arial"/>
              </a:rPr>
              <a:t/>
            </a:r>
            <a:r>
              <a:rPr sz="1050" b="1" i="0">
                <a:solidFill>
                  <a:srgbClr val="21295C"/>
                </a:solidFill>
                <a:latin typeface="Arial"/>
              </a:rPr>
              <a:t>Отрезвляющая мера того же счёта:</a:t>
            </a:r>
            <a:r>
              <a:rPr sz="1050" b="0" i="0">
                <a:solidFill>
                  <a:srgbClr val="21295C"/>
                </a:solidFill>
                <a:latin typeface="Arial"/>
              </a:rPr>
              <a:t> на российской бирже сгенерированная иллюстрация дешевле обычной </a:t>
            </a:r>
            <a:r>
              <a:rPr sz="1050" b="1" i="0">
                <a:solidFill>
                  <a:srgbClr val="21295C"/>
                </a:solidFill>
                <a:latin typeface="Arial"/>
              </a:rPr>
              <a:t>в 2,16 раза</a:t>
            </a:r>
            <a:r>
              <a:rPr sz="1050" b="0" i="0">
                <a:solidFill>
                  <a:srgbClr val="21295C"/>
                </a:solidFill>
                <a:latin typeface="Arial"/>
              </a:rPr>
              <a:t>. Всего вдвое — при том что цена самого исполнения упала на три порядка. Из цены заказа ушло исполнение; отбор, согласование и ответственность в ней остались.</a:t>
            </a:r>
          </a:p>
        </p:txBody>
      </p:sp>
      <p:sp>
        <p:nvSpPr>
          <p:cNvPr id="15" name="Rectangle 14"/>
          <p:cNvSpPr/>
          <p:nvPr/>
        </p:nvSpPr>
        <p:spPr>
          <a:xfrm>
            <a:off x="6091275" y="3285324"/>
            <a:ext cx="9144" cy="2920446"/>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chapter-part4.md § 6.1; опорные числа — REESTR-RAZBOROV.md (цена изображения, Kalshi, Coca-Cola, Kwork), -part2.md (Anthropic, Suno, Андронова), -part3.md (распознаватель, российские медиа)</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3618890" cy="2267237"/>
          </a:xfrm>
          <a:prstGeom prst="roundRect">
            <a:avLst>
              <a:gd name="adj" fmla="val 1344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Rounded Rectangle 7"/>
          <p:cNvSpPr/>
          <p:nvPr/>
        </p:nvSpPr>
        <p:spPr>
          <a:xfrm>
            <a:off x="4286402" y="1335024"/>
            <a:ext cx="3618890" cy="2267237"/>
          </a:xfrm>
          <a:prstGeom prst="roundRect">
            <a:avLst>
              <a:gd name="adj" fmla="val 1344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 ДЛЯ ИНЖЕНЕРА</a:t>
            </a:r>
          </a:p>
        </p:txBody>
      </p:sp>
      <p:sp>
        <p:nvSpPr>
          <p:cNvPr id="10" name="TextBox 9"/>
          <p:cNvSpPr txBox="1"/>
          <p:nvPr/>
        </p:nvSpPr>
        <p:spPr>
          <a:xfrm>
            <a:off x="4423562" y="1725375"/>
            <a:ext cx="3344570"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объём производства перестал быть свидетельством спроса</a:t>
            </a:r>
          </a:p>
        </p:txBody>
      </p:sp>
      <p:sp>
        <p:nvSpPr>
          <p:cNvPr id="11" name="TextBox 10"/>
          <p:cNvSpPr txBox="1"/>
          <p:nvPr/>
        </p:nvSpPr>
        <p:spPr>
          <a:xfrm>
            <a:off x="4423562" y="2831371"/>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 всех четырёх случаях измеряют предложение, а выводы делают о востребованности</a:t>
            </a:r>
          </a:p>
        </p:txBody>
      </p:sp>
      <p:sp>
        <p:nvSpPr>
          <p:cNvPr id="12" name="Rounded Rectangle 11"/>
          <p:cNvSpPr/>
          <p:nvPr/>
        </p:nvSpPr>
        <p:spPr>
          <a:xfrm>
            <a:off x="8069884" y="1335024"/>
            <a:ext cx="3618890" cy="2267237"/>
          </a:xfrm>
          <a:prstGeom prst="roundRect">
            <a:avLst>
              <a:gd name="adj" fmla="val 1344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ЗАРАНЕЕ ИЗВЕСТНАЯ ТРЕТЬЯ ВЕЛИЧИНА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разницу немедленно заполняет накрутка</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музыкальной площадке она измерена: 85 % прослушиваний машинных треков</a:t>
            </a:r>
          </a:p>
        </p:txBody>
      </p:sp>
      <p:sp>
        <p:nvSpPr>
          <p:cNvPr id="16" name="Rounded Rectangle 15"/>
          <p:cNvSpPr/>
          <p:nvPr/>
        </p:nvSpPr>
        <p:spPr>
          <a:xfrm>
            <a:off x="374904" y="3693701"/>
            <a:ext cx="11441887" cy="2422407"/>
          </a:xfrm>
          <a:prstGeom prst="roundRect">
            <a:avLst>
              <a:gd name="adj" fmla="val 1258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85141"/>
            <a:ext cx="5373471" cy="2451066"/>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Четыре площадки измеряли независимо — в разных странах, разными методами, по разным модальностям.</a:t>
            </a:r>
          </a:p>
          <a:p>
            <a:pPr algn="l">
              <a:lnSpc>
                <a:spcPct val="126000"/>
              </a:lnSpc>
              <a:spcBef>
                <a:spcPts val="700"/>
              </a:spcBef>
            </a:pPr>
            <a:r>
              <a:rPr sz="950" b="0" i="0">
                <a:solidFill>
                  <a:srgbClr val="21295C"/>
                </a:solidFill>
                <a:latin typeface="Arial"/>
              </a:rPr>
              <a:t/>
            </a:r>
            <a:r>
              <a:rPr sz="950" b="1" i="0">
                <a:solidFill>
                  <a:srgbClr val="21295C"/>
                </a:solidFill>
                <a:latin typeface="Arial"/>
              </a:rPr>
              <a:t>Музыкальная площадка Deezer, июнь 2026.</a:t>
            </a:r>
            <a:r>
              <a:rPr sz="950" b="0" i="0">
                <a:solidFill>
                  <a:srgbClr val="21295C"/>
                </a:solidFill>
                <a:latin typeface="Arial"/>
              </a:rPr>
              <a:t> В производстве: </a:t>
            </a:r>
            <a:r>
              <a:rPr sz="950" b="1" i="0">
                <a:solidFill>
                  <a:srgbClr val="21295C"/>
                </a:solidFill>
                <a:latin typeface="Arial"/>
              </a:rPr>
              <a:t>более половины суточной загрузки</a:t>
            </a:r>
            <a:r>
              <a:rPr sz="950" b="0" i="0">
                <a:solidFill>
                  <a:srgbClr val="21295C"/>
                </a:solidFill>
                <a:latin typeface="Arial"/>
              </a:rPr>
              <a:t>, около 90 000 треков в сутки на пике (в январе 2025 года было 10 %). В деньгах: </a:t>
            </a:r>
            <a:r>
              <a:rPr sz="950" b="1" i="0">
                <a:solidFill>
                  <a:srgbClr val="21295C"/>
                </a:solidFill>
                <a:latin typeface="Arial"/>
              </a:rPr>
              <a:t>1–3 % прослушиваний</a:t>
            </a:r>
            <a:r>
              <a:rPr sz="950" b="0" i="0">
                <a:solidFill>
                  <a:srgbClr val="21295C"/>
                </a:solidFill>
                <a:latin typeface="Arial"/>
              </a:rPr>
              <a:t>, и </a:t>
            </a:r>
            <a:r>
              <a:rPr sz="950" b="1" i="0">
                <a:solidFill>
                  <a:srgbClr val="21295C"/>
                </a:solidFill>
                <a:latin typeface="Arial"/>
              </a:rPr>
              <a:t>85 % из них</a:t>
            </a:r>
            <a:r>
              <a:rPr sz="950" b="0" i="0">
                <a:solidFill>
                  <a:srgbClr val="21295C"/>
                </a:solidFill>
                <a:latin typeface="Arial"/>
              </a:rPr>
              <a:t> — накрутка, демонетизированная площадкой.</a:t>
            </a:r>
          </a:p>
          <a:p>
            <a:pPr algn="l">
              <a:lnSpc>
                <a:spcPct val="126000"/>
              </a:lnSpc>
              <a:spcBef>
                <a:spcPts val="700"/>
              </a:spcBef>
            </a:pPr>
            <a:r>
              <a:rPr sz="950" b="0" i="0">
                <a:solidFill>
                  <a:srgbClr val="21295C"/>
                </a:solidFill>
                <a:latin typeface="Arial"/>
              </a:rPr>
              <a:t/>
            </a:r>
            <a:r>
              <a:rPr sz="950" b="1" i="0">
                <a:solidFill>
                  <a:srgbClr val="21295C"/>
                </a:solidFill>
                <a:latin typeface="Arial"/>
              </a:rPr>
              <a:t>Магазин игр Steam, к июлю 2026.</a:t>
            </a:r>
            <a:r>
              <a:rPr sz="950" b="0" i="0">
                <a:solidFill>
                  <a:srgbClr val="21295C"/>
                </a:solidFill>
                <a:latin typeface="Arial"/>
              </a:rPr>
              <a:t> В производстве: </a:t>
            </a:r>
            <a:r>
              <a:rPr sz="950" b="1" i="0">
                <a:solidFill>
                  <a:srgbClr val="21295C"/>
                </a:solidFill>
                <a:latin typeface="Arial"/>
              </a:rPr>
              <a:t>30,8 % релизов года</a:t>
            </a:r>
            <a:r>
              <a:rPr sz="950" b="0" i="0">
                <a:solidFill>
                  <a:srgbClr val="21295C"/>
                </a:solidFill>
                <a:latin typeface="Arial"/>
              </a:rPr>
              <a:t> с раскрытием (10,9 % в 2024, 19,9 % в 2025). В деньгах: </a:t>
            </a:r>
            <a:r>
              <a:rPr sz="950" b="1" i="0">
                <a:solidFill>
                  <a:srgbClr val="21295C"/>
                </a:solidFill>
                <a:latin typeface="Arial"/>
              </a:rPr>
              <a:t>10–27 % оценочных продаж</a:t>
            </a:r>
            <a:r>
              <a:rPr sz="950" b="0" i="0">
                <a:solidFill>
                  <a:srgbClr val="21295C"/>
                </a:solidFill>
                <a:latin typeface="Arial"/>
              </a:rPr>
              <a:t>. Здесь раскрытие обязательно с января 2024 года, и число берётся из карточек самих игр.</a:t>
            </a:r>
          </a:p>
          <a:p>
            <a:pPr algn="l">
              <a:lnSpc>
                <a:spcPct val="126000"/>
              </a:lnSpc>
              <a:spcBef>
                <a:spcPts val="700"/>
              </a:spcBef>
            </a:pPr>
            <a:r>
              <a:rPr sz="950" b="0" i="0">
                <a:solidFill>
                  <a:srgbClr val="21295C"/>
                </a:solidFill>
                <a:latin typeface="Arial"/>
              </a:rPr>
              <a:t/>
            </a:r>
            <a:r>
              <a:rPr sz="950" b="1" i="0">
                <a:solidFill>
                  <a:srgbClr val="21295C"/>
                </a:solidFill>
                <a:latin typeface="Arial"/>
              </a:rPr>
              <a:t>Аудиокниги США, итоги 2025.</a:t>
            </a:r>
            <a:r>
              <a:rPr sz="950" b="0" i="0">
                <a:solidFill>
                  <a:srgbClr val="21295C"/>
                </a:solidFill>
                <a:latin typeface="Arial"/>
              </a:rPr>
              <a:t> В производстве: каталог </a:t>
            </a:r>
            <a:r>
              <a:rPr sz="950" b="1" i="0">
                <a:solidFill>
                  <a:srgbClr val="21295C"/>
                </a:solidFill>
                <a:latin typeface="Arial"/>
              </a:rPr>
              <a:t>более 750 000 наименований, плюс 43 % за год</a:t>
            </a:r>
            <a:r>
              <a:rPr sz="950" b="0" i="0">
                <a:solidFill>
                  <a:srgbClr val="21295C"/>
                </a:solidFill>
                <a:latin typeface="Arial"/>
              </a:rPr>
              <a:t>. В деньгах: </a:t>
            </a:r>
            <a:r>
              <a:rPr sz="950" b="1" i="0">
                <a:solidFill>
                  <a:srgbClr val="21295C"/>
                </a:solidFill>
                <a:latin typeface="Arial"/>
              </a:rPr>
              <a:t>0,03 % продаж</a:t>
            </a:r>
            <a:r>
              <a:rPr sz="950" b="0" i="0">
                <a:solidFill>
                  <a:srgbClr val="21295C"/>
                </a:solidFill>
                <a:latin typeface="Arial"/>
              </a:rPr>
              <a:t> из 2,43 млрд долларов поступлений издателей.</a:t>
            </a:r>
          </a:p>
        </p:txBody>
      </p:sp>
      <p:sp>
        <p:nvSpPr>
          <p:cNvPr id="18" name="TextBox 17"/>
          <p:cNvSpPr txBox="1"/>
          <p:nvPr/>
        </p:nvSpPr>
        <p:spPr>
          <a:xfrm>
            <a:off x="6278727" y="3785141"/>
            <a:ext cx="5373471" cy="2451066"/>
          </a:xfrm>
          <a:prstGeom prst="rect">
            <a:avLst/>
          </a:prstGeom>
          <a:noFill/>
        </p:spPr>
        <p:txBody>
          <a:bodyPr wrap="square" lIns="0" rIns="0" tIns="0" bIns="0" anchor="t">
            <a:spAutoFit/>
          </a:bodyPr>
          <a:lstStyle/>
          <a:p>
            <a:pPr algn="l">
              <a:lnSpc>
                <a:spcPct val="126000"/>
              </a:lnSpc>
            </a:pPr>
            <a:r>
              <a:rPr sz="950" b="1" i="0">
                <a:solidFill>
                  <a:srgbClr val="21295C"/>
                </a:solidFill>
                <a:latin typeface="Arial"/>
              </a:rPr>
              <a:t>Яндекс Музыка, 2026.</a:t>
            </a:r>
            <a:r>
              <a:rPr sz="950" b="0" i="0">
                <a:solidFill>
                  <a:srgbClr val="21295C"/>
                </a:solidFill>
                <a:latin typeface="Arial"/>
              </a:rPr>
              <a:t> В производстве: </a:t>
            </a:r>
            <a:r>
              <a:rPr sz="950" b="1" i="0">
                <a:solidFill>
                  <a:srgbClr val="21295C"/>
                </a:solidFill>
                <a:latin typeface="Arial"/>
              </a:rPr>
              <a:t>около 40 % новых треков в месяц</a:t>
            </a:r>
            <a:r>
              <a:rPr sz="950" b="0" i="0">
                <a:solidFill>
                  <a:srgbClr val="21295C"/>
                </a:solidFill>
                <a:latin typeface="Arial"/>
              </a:rPr>
              <a:t>, не менее 140 тысяч машинных исполнителей. Во внимании: </a:t>
            </a:r>
            <a:r>
              <a:rPr sz="950" b="1" i="0">
                <a:solidFill>
                  <a:srgbClr val="21295C"/>
                </a:solidFill>
                <a:latin typeface="Arial"/>
              </a:rPr>
              <a:t>каждый десятый трек чарта</a:t>
            </a:r>
            <a:r>
              <a:rPr sz="950" b="0" i="0">
                <a:solidFill>
                  <a:srgbClr val="21295C"/>
                </a:solidFill>
                <a:latin typeface="Arial"/>
              </a:rPr>
              <a:t>. Выборка — 5,7 млн профилей.</a:t>
            </a:r>
          </a:p>
          <a:p>
            <a:pPr algn="l">
              <a:lnSpc>
                <a:spcPct val="126000"/>
              </a:lnSpc>
              <a:spcBef>
                <a:spcPts val="700"/>
              </a:spcBef>
            </a:pPr>
            <a:r>
              <a:rPr sz="950" b="0" i="0">
                <a:solidFill>
                  <a:srgbClr val="21295C"/>
                </a:solidFill>
                <a:latin typeface="Arial"/>
              </a:rPr>
              <a:t/>
            </a:r>
            <a:r>
              <a:rPr sz="950" b="1" i="0">
                <a:solidFill>
                  <a:srgbClr val="21295C"/>
                </a:solidFill>
                <a:latin typeface="Arial"/>
              </a:rPr>
              <a:t>Доля каталога не равна доле денег. Дешёвое производство наполняет полку; корзина остаётся прежней.</a:t>
            </a:r>
          </a:p>
          <a:p>
            <a:pPr algn="l">
              <a:lnSpc>
                <a:spcPct val="126000"/>
              </a:lnSpc>
              <a:spcBef>
                <a:spcPts val="700"/>
              </a:spcBef>
            </a:pPr>
            <a:r>
              <a:rPr sz="950" b="0" i="0">
                <a:solidFill>
                  <a:srgbClr val="21295C"/>
                </a:solidFill>
                <a:latin typeface="Arial"/>
              </a:rPr>
              <a:t/>
            </a:r>
            <a:r>
              <a:rPr sz="950" b="1" i="0">
                <a:solidFill>
                  <a:srgbClr val="21295C"/>
                </a:solidFill>
                <a:latin typeface="Arial"/>
              </a:rPr>
              <a:t>Это же видно в карте вечера.</a:t>
            </a:r>
            <a:r>
              <a:rPr sz="950" b="0" i="0">
                <a:solidFill>
                  <a:srgbClr val="21295C"/>
                </a:solidFill>
                <a:latin typeface="Arial"/>
              </a:rPr>
              <a:t> Строка «Довести до производственного качества» заполнена во всех пяти колонках одинаково — ручной работой человека: адаптеры и правка · правка дикции · отбор и склейка · ретопология, развёртка, риггинг · человек в контуре. </a:t>
            </a:r>
            <a:r>
              <a:rPr sz="950" b="1" i="0">
                <a:solidFill>
                  <a:srgbClr val="21295C"/>
                </a:solidFill>
                <a:latin typeface="Arial"/>
              </a:rPr>
              <a:t>Породить стало дёшево во всех пяти модальностях; довести до годного не подешевело ни в одной.</a:t>
            </a:r>
          </a:p>
        </p:txBody>
      </p:sp>
      <p:sp>
        <p:nvSpPr>
          <p:cNvPr id="19" name="Rectangle 18"/>
          <p:cNvSpPr/>
          <p:nvPr/>
        </p:nvSpPr>
        <p:spPr>
          <a:xfrm>
            <a:off x="6091275" y="3785141"/>
            <a:ext cx="9144" cy="214808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Stable Diffusion v1 в 2022 и Stable Diffusion 3 в 2024 — одно и то же число операций на обучение</a:t>
            </a:r>
          </a:p>
        </p:txBody>
      </p:sp>
      <p:sp>
        <p:nvSpPr>
          <p:cNvPr id="7" name="TextBox 6"/>
          <p:cNvSpPr txBox="1"/>
          <p:nvPr/>
        </p:nvSpPr>
        <p:spPr>
          <a:xfrm>
            <a:off x="640080" y="278421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ШЁЛ ПРОГРЕСС ВМЕСТО ВЫЧИСЛЕНИЙ</a:t>
            </a:r>
          </a:p>
        </p:txBody>
      </p:sp>
      <p:sp>
        <p:nvSpPr>
          <p:cNvPr id="10" name="TextBox 9"/>
          <p:cNvSpPr txBox="1"/>
          <p:nvPr/>
        </p:nvSpPr>
        <p:spPr>
          <a:xfrm>
            <a:off x="3477691" y="1932846"/>
            <a:ext cx="2398699" cy="1462469"/>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шестнадцать каналов латентного представления вместо четырёх, диффузионный трансформер вместо U-Net, спрямлённый поток, дистилляция с тысячи шагов до четырёх</a:t>
            </a:r>
          </a:p>
        </p:txBody>
      </p:sp>
      <p:sp>
        <p:nvSpPr>
          <p:cNvPr id="11" name="TextBox 10"/>
          <p:cNvSpPr txBox="1"/>
          <p:nvPr/>
        </p:nvSpPr>
        <p:spPr>
          <a:xfrm>
            <a:off x="3477691" y="339531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главный рычаг — токенизатор; размер модели здесь вторичен</a:t>
            </a:r>
          </a:p>
        </p:txBody>
      </p:sp>
      <p:sp>
        <p:nvSpPr>
          <p:cNvPr id="12" name="Rounded Rectangle 11"/>
          <p:cNvSpPr/>
          <p:nvPr/>
        </p:nvSpPr>
        <p:spPr>
          <a:xfrm>
            <a:off x="6178143"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СЛЕДСТВИЕ ДЛЯ ВХОДА НА РЫНОК</a:t>
            </a:r>
          </a:p>
        </p:txBody>
      </p:sp>
      <p:sp>
        <p:nvSpPr>
          <p:cNvPr id="14" name="TextBox 13"/>
          <p:cNvSpPr txBox="1"/>
          <p:nvPr/>
        </p:nvSpPr>
        <p:spPr>
          <a:xfrm>
            <a:off x="6315303"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обучить модель изображения в 200–400 раз дешевле передовой языковой</a:t>
            </a:r>
          </a:p>
        </p:txBody>
      </p:sp>
      <p:sp>
        <p:nvSpPr>
          <p:cNvPr id="15" name="TextBox 14"/>
          <p:cNvSpPr txBox="1"/>
          <p:nvPr/>
        </p:nvSpPr>
        <p:spPr>
          <a:xfrm>
            <a:off x="6315303" y="2580519"/>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каждый её запуск дороже в 40–60 раз: кэша нет и быть не может, расшумление на каждом шаге переписывает все 4096 токенов</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18" name="TextBox 17"/>
          <p:cNvSpPr txBox="1"/>
          <p:nvPr/>
        </p:nvSpPr>
        <p:spPr>
          <a:xfrm>
            <a:off x="9152915"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19" name="TextBox 18"/>
          <p:cNvSpPr txBox="1"/>
          <p:nvPr/>
        </p:nvSpPr>
        <p:spPr>
          <a:xfrm>
            <a:off x="9152915"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музыкальные площадки перешли на лицензированный материал: Suno с 09.09.2026, ElevenMusic с 01.04.2026. Там, где правообладатель крупный и организованный, вопрос закрывается лицензией раньше суда</a:t>
            </a:r>
          </a:p>
        </p:txBody>
      </p:sp>
      <p:sp>
        <p:nvSpPr>
          <p:cNvPr id="20" name="Rounded Rectangle 19"/>
          <p:cNvSpPr/>
          <p:nvPr/>
        </p:nvSpPr>
        <p:spPr>
          <a:xfrm>
            <a:off x="502920" y="5132391"/>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5269551"/>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22" name="TextBox 21"/>
          <p:cNvSpPr txBox="1"/>
          <p:nvPr/>
        </p:nvSpPr>
        <p:spPr>
          <a:xfrm>
            <a:off x="640080" y="5522743"/>
            <a:ext cx="5236311"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720p, 24 кадра в секунду, связность несколько минут против 10–20 секунд у предшественников</a:t>
            </a:r>
          </a:p>
        </p:txBody>
      </p:sp>
      <p:sp>
        <p:nvSpPr>
          <p:cNvPr id="23" name="TextBox 22"/>
          <p:cNvSpPr txBox="1"/>
          <p:nvPr/>
        </p:nvSpPr>
        <p:spPr>
          <a:xfrm>
            <a:off x="640080" y="6119491"/>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видеомодель порождает запись, мировая модель порождает пространство, в котором можно находиться</a:t>
            </a:r>
          </a:p>
        </p:txBody>
      </p:sp>
      <p:sp>
        <p:nvSpPr>
          <p:cNvPr id="24" name="Rounded Rectangle 23"/>
          <p:cNvSpPr/>
          <p:nvPr/>
        </p:nvSpPr>
        <p:spPr>
          <a:xfrm>
            <a:off x="6178143" y="5132391"/>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315303" y="5269551"/>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ПРОГНОЗУ РАЗМЕРА ВЕРИТЬ НЕЛЬЗЯ</a:t>
            </a:r>
          </a:p>
        </p:txBody>
      </p:sp>
      <p:sp>
        <p:nvSpPr>
          <p:cNvPr id="26" name="TextBox 25"/>
          <p:cNvSpPr txBox="1"/>
          <p:nvPr/>
        </p:nvSpPr>
        <p:spPr>
          <a:xfrm>
            <a:off x="6315303" y="55227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3,16 млрд долларов и 19,2 млрд за один и тот же 2026 год</a:t>
            </a:r>
          </a:p>
        </p:txBody>
      </p:sp>
      <p:sp>
        <p:nvSpPr>
          <p:cNvPr id="27" name="TextBox 26"/>
          <p:cNvSpPr txBox="1"/>
          <p:nvPr/>
        </p:nvSpPr>
        <p:spPr>
          <a:xfrm>
            <a:off x="6315303" y="634016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шестикратный разброс вызван только определением границ рынка; все четыре оценки согласны лишь в темпе — 14–34 % в год</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Rounded Rectangle 3"/>
          <p:cNvSpPr/>
          <p:nvPr/>
        </p:nvSpPr>
        <p:spPr>
          <a:xfrm>
            <a:off x="502920"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КРИТЕРИИ ВЫНОСЯТ В ПИСЬМЕННЫЙ ВИД ДО РАБОТЫ</a:t>
            </a:r>
          </a:p>
        </p:txBody>
      </p:sp>
      <p:sp>
        <p:nvSpPr>
          <p:cNvPr id="6" name="TextBox 5"/>
          <p:cNvSpPr txBox="1"/>
          <p:nvPr/>
        </p:nvSpPr>
        <p:spPr>
          <a:xfrm>
            <a:off x="640080" y="2140317"/>
            <a:ext cx="2398699"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758 консультантов, три условия: без модели, с моделью, с моделью и обучением работе с запросами</a:t>
            </a:r>
          </a:p>
        </p:txBody>
      </p:sp>
      <p:sp>
        <p:nvSpPr>
          <p:cNvPr id="7" name="TextBox 6"/>
          <p:cNvSpPr txBox="1"/>
          <p:nvPr/>
        </p:nvSpPr>
        <p:spPr>
          <a:xfrm>
            <a:off x="640080" y="319538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задачи настоящие рабочие, от творческих до аналитических</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10" name="TextBox 9"/>
          <p:cNvSpPr txBox="1"/>
          <p:nvPr/>
        </p:nvSpPr>
        <p:spPr>
          <a:xfrm>
            <a:off x="3477691"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против работавших без модели — на 12,2 % больше задач и на 25,1 % быстрее, при более высоком качестве</a:t>
            </a:r>
          </a:p>
        </p:txBody>
      </p:sp>
      <p:sp>
        <p:nvSpPr>
          <p:cNvPr id="11" name="TextBox 10"/>
          <p:cNvSpPr txBox="1"/>
          <p:nvPr/>
        </p:nvSpPr>
        <p:spPr>
          <a:xfrm>
            <a:off x="3477691" y="278421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крупный выигрыш по меркам полевых опытов в консультировании</a:t>
            </a:r>
          </a:p>
        </p:txBody>
      </p:sp>
      <p:sp>
        <p:nvSpPr>
          <p:cNvPr id="12" name="Rounded Rectangle 11"/>
          <p:cNvSpPr/>
          <p:nvPr/>
        </p:nvSpPr>
        <p:spPr>
          <a:xfrm>
            <a:off x="6178143"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ОДНОЙ ЗАДАЧЕ ЗА ПРЕДЕЛАМИ КРУГА — ДОЛЯ ВЕРНЫХ РЕШЕНИЙ</a:t>
            </a:r>
          </a:p>
        </p:txBody>
      </p:sp>
      <p:sp>
        <p:nvSpPr>
          <p:cNvPr id="14" name="TextBox 13"/>
          <p:cNvSpPr txBox="1"/>
          <p:nvPr/>
        </p:nvSpPr>
        <p:spPr>
          <a:xfrm>
            <a:off x="6315303" y="2140317"/>
            <a:ext cx="2398699" cy="851372"/>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84,5 % без модели против 60 % и 70 % в двух условиях с ней: на 19 процентных пунктов реже</a:t>
            </a:r>
          </a:p>
        </p:txBody>
      </p:sp>
      <p:sp>
        <p:nvSpPr>
          <p:cNvPr id="15" name="TextBox 14"/>
          <p:cNvSpPr txBox="1"/>
          <p:nvPr/>
        </p:nvSpPr>
        <p:spPr>
          <a:xfrm>
            <a:off x="6315303" y="299169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Задача внешне ничем не отличалась от остальных восемнадцати</a:t>
            </a:r>
          </a:p>
        </p:txBody>
      </p:sp>
      <p:sp>
        <p:nvSpPr>
          <p:cNvPr id="16" name="Rounded Rectangle 15"/>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8" name="TextBox 17"/>
          <p:cNvSpPr txBox="1"/>
          <p:nvPr/>
        </p:nvSpPr>
        <p:spPr>
          <a:xfrm>
            <a:off x="9152915"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границу применимости изнутри задачи не видно — значит, критерии пишутся до начала работы, а результат меряется по секундомеру и по доле верных решений</a:t>
            </a:r>
          </a:p>
        </p:txBody>
      </p:sp>
      <p:sp>
        <p:nvSpPr>
          <p:cNvPr id="19" name="TextBox 18"/>
          <p:cNvSpPr txBox="1"/>
          <p:nvPr/>
        </p:nvSpPr>
        <p:spPr>
          <a:xfrm>
            <a:off x="9152915" y="29841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вред приходит из невидимости границы; качество самого инструмента тут ни при чём</a:t>
            </a:r>
          </a:p>
        </p:txBody>
      </p:sp>
      <p:sp>
        <p:nvSpPr>
          <p:cNvPr id="20" name="Rounded Rectangle 19"/>
          <p:cNvSpPr/>
          <p:nvPr/>
        </p:nvSpPr>
        <p:spPr>
          <a:xfrm>
            <a:off x="374904" y="4065263"/>
            <a:ext cx="11441887" cy="2170944"/>
          </a:xfrm>
          <a:prstGeom prst="roundRect">
            <a:avLst>
              <a:gd name="adj" fmla="val 1403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Четыре критерия отказа: когда модель — не тот инструмент</a:t>
            </a:r>
          </a:p>
          <a:p>
            <a:pPr algn="l">
              <a:lnSpc>
                <a:spcPct val="126000"/>
              </a:lnSpc>
              <a:spcBef>
                <a:spcPts val="700"/>
              </a:spcBef>
            </a:pPr>
            <a:r>
              <a:rPr sz="850" b="0" i="0">
                <a:solidFill>
                  <a:srgbClr val="21295C"/>
                </a:solidFill>
                <a:latin typeface="Arial"/>
              </a:rPr>
              <a:t/>
            </a:r>
            <a:r>
              <a:rPr sz="850" b="1" i="0">
                <a:solidFill>
                  <a:srgbClr val="21295C"/>
                </a:solidFill>
                <a:latin typeface="Arial"/>
              </a:rPr>
              <a:t>1. Нужны точные размеры и характеристики.</a:t>
            </a:r>
            <a:r>
              <a:rPr sz="850" b="0" i="0">
                <a:solidFill>
                  <a:srgbClr val="21295C"/>
                </a:solidFill>
                <a:latin typeface="Arial"/>
              </a:rPr>
              <a:t> Внутри картинки нет ни единиц измерения, ни допусков, ни материалов, ни дерева построения: </a:t>
            </a:r>
            <a:r>
              <a:rPr sz="850" b="1" i="0">
                <a:solidFill>
                  <a:srgbClr val="21295C"/>
                </a:solidFill>
                <a:latin typeface="Arial"/>
              </a:rPr>
              <a:t>нельзя измерить, нельзя проверить расчётом, нельзя изготовить, нельзя сопровождать</a:t>
            </a:r>
            <a:r>
              <a:rPr sz="850" b="0" i="0">
                <a:solidFill>
                  <a:srgbClr val="21295C"/>
                </a:solidFill>
                <a:latin typeface="Arial"/>
              </a:rPr>
              <a:t>. Вместо модели — система автоматизированного проектирования. Генератор отвечает, </a:t>
            </a:r>
            <a:r>
              <a:rPr sz="850" b="1" i="0">
                <a:solidFill>
                  <a:srgbClr val="21295C"/>
                </a:solidFill>
                <a:latin typeface="Arial"/>
              </a:rPr>
              <a:t>как это выглядит</a:t>
            </a:r>
            <a:r>
              <a:rPr sz="850" b="0" i="0">
                <a:solidFill>
                  <a:srgbClr val="21295C"/>
                </a:solidFill>
                <a:latin typeface="Arial"/>
              </a:rPr>
              <a:t>; САПР отвечает, </a:t>
            </a:r>
            <a:r>
              <a:rPr sz="850" b="1" i="0">
                <a:solidFill>
                  <a:srgbClr val="21295C"/>
                </a:solidFill>
                <a:latin typeface="Arial"/>
              </a:rPr>
              <a:t>что это такое</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2. Нужен источник и ссылка на него.</a:t>
            </a:r>
            <a:r>
              <a:rPr sz="850" b="0" i="0">
                <a:solidFill>
                  <a:srgbClr val="21295C"/>
                </a:solidFill>
                <a:latin typeface="Arial"/>
              </a:rPr>
              <a:t> Вклад каждого обучающего примера размазан по миллиардам весов — записи о том, откуда взялась эта текстура, </a:t>
            </a:r>
            <a:r>
              <a:rPr sz="850" b="1" i="0">
                <a:solidFill>
                  <a:srgbClr val="21295C"/>
                </a:solidFill>
                <a:latin typeface="Arial"/>
              </a:rPr>
              <a:t>физически не существует</a:t>
            </a:r>
            <a:r>
              <a:rPr sz="850" b="0" i="0">
                <a:solidFill>
                  <a:srgbClr val="21295C"/>
                </a:solidFill>
                <a:latin typeface="Arial"/>
              </a:rPr>
              <a:t>. Вместо модели — поиск по базе, обратный поиск по изображению, архив. Подложить источник в расшумление </a:t>
            </a:r>
            <a:r>
              <a:rPr sz="850" b="1" i="0">
                <a:solidFill>
                  <a:srgbClr val="21295C"/>
                </a:solidFill>
                <a:latin typeface="Arial"/>
              </a:rPr>
              <a:t>некуда</a:t>
            </a:r>
            <a:r>
              <a:rPr sz="850" b="0" i="0">
                <a:solidFill>
                  <a:srgbClr val="21295C"/>
                </a:solidFill>
                <a:latin typeface="Arial"/>
              </a:rPr>
              <a:t>: обусловливание подсказывает форму, не истину.</a:t>
            </a:r>
          </a:p>
          <a:p>
            <a:pPr algn="l">
              <a:lnSpc>
                <a:spcPct val="126000"/>
              </a:lnSpc>
              <a:spcBef>
                <a:spcPts val="700"/>
              </a:spcBef>
            </a:pPr>
            <a:r>
              <a:rPr sz="850" b="0" i="0">
                <a:solidFill>
                  <a:srgbClr val="21295C"/>
                </a:solidFill>
                <a:latin typeface="Arial"/>
              </a:rPr>
              <a:t/>
            </a:r>
            <a:r>
              <a:rPr sz="850" b="1" i="0">
                <a:solidFill>
                  <a:srgbClr val="21295C"/>
                </a:solidFill>
                <a:latin typeface="Arial"/>
              </a:rPr>
              <a:t>3. Нужно постоянство объекта между кадрами.</a:t>
            </a:r>
            <a:r>
              <a:rPr sz="850" b="0" i="0">
                <a:solidFill>
                  <a:srgbClr val="21295C"/>
                </a:solidFill>
                <a:latin typeface="Arial"/>
              </a:rPr>
              <a:t> Понятия «этот стул — тот же самый стул» в модели нет; согласованность достигается статистически и </a:t>
            </a:r>
            <a:r>
              <a:rPr sz="850" b="1" i="0">
                <a:solidFill>
                  <a:srgbClr val="21295C"/>
                </a:solidFill>
                <a:latin typeface="Arial"/>
              </a:rPr>
              <a:t>деградирует с длиной</a:t>
            </a:r>
            <a:r>
              <a:rPr sz="850" b="0" i="0">
                <a:solidFill>
                  <a:srgbClr val="21295C"/>
                </a:solidFill>
                <a:latin typeface="Arial"/>
              </a:rPr>
              <a:t>. Идентичность держат </a:t>
            </a:r>
            <a:r>
              <a:rPr sz="850" b="1" i="0">
                <a:solidFill>
                  <a:srgbClr val="21295C"/>
                </a:solidFill>
                <a:latin typeface="Arial"/>
              </a:rPr>
              <a:t>снаружи модели</a:t>
            </a:r>
            <a:r>
              <a:rPr sz="850" b="0" i="0">
                <a:solidFill>
                  <a:srgbClr val="21295C"/>
                </a:solidFill>
                <a:latin typeface="Arial"/>
              </a:rPr>
              <a:t>: референсы, адаптеры лица, зафиксированный стартовый шум, ручной отбор.</a:t>
            </a:r>
          </a:p>
          <a:p>
            <a:pPr algn="l">
              <a:lnSpc>
                <a:spcPct val="126000"/>
              </a:lnSpc>
              <a:spcBef>
                <a:spcPts val="700"/>
              </a:spcBef>
            </a:pPr>
            <a:r>
              <a:rPr sz="850" b="0" i="0">
                <a:solidFill>
                  <a:srgbClr val="21295C"/>
                </a:solidFill>
                <a:latin typeface="Arial"/>
              </a:rPr>
              <a:t/>
            </a:r>
            <a:r>
              <a:rPr sz="850" b="1" i="0">
                <a:solidFill>
                  <a:srgbClr val="21295C"/>
                </a:solidFill>
                <a:latin typeface="Arial"/>
              </a:rPr>
              <a:t>4. Нужное уже содержится внутри записи.</a:t>
            </a:r>
            <a:r>
              <a:rPr sz="850" b="0" i="0">
                <a:solidFill>
                  <a:srgbClr val="21295C"/>
                </a:solidFill>
                <a:latin typeface="Arial"/>
              </a:rPr>
              <a:t> Тогда задача состоит в извлечении, и порождающая модель </a:t>
            </a:r>
            <a:r>
              <a:rPr sz="850" b="1" i="0">
                <a:solidFill>
                  <a:srgbClr val="21295C"/>
                </a:solidFill>
                <a:latin typeface="Arial"/>
              </a:rPr>
              <a:t>добавит то, чего в ней не было</a:t>
            </a:r>
            <a:r>
              <a:rPr sz="850" b="0" i="0">
                <a:solidFill>
                  <a:srgbClr val="21295C"/>
                </a:solidFill>
                <a:latin typeface="Arial"/>
              </a:rPr>
              <a:t>, и добавленное будет выглядеть так же убедительно. Вместо неё — разделение источников, шумоподавление, сверхразрешение.</a:t>
            </a:r>
          </a:p>
          <a:p>
            <a:pPr algn="l">
              <a:lnSpc>
                <a:spcPct val="126000"/>
              </a:lnSpc>
              <a:spcBef>
                <a:spcPts val="700"/>
              </a:spcBef>
            </a:pPr>
            <a:r>
              <a:rPr sz="850" b="0" i="0">
                <a:solidFill>
                  <a:srgbClr val="21295C"/>
                </a:solidFill>
                <a:latin typeface="Arial"/>
              </a:rPr>
              <a:t/>
            </a:r>
            <a:r>
              <a:rPr sz="850" b="1" i="0">
                <a:solidFill>
                  <a:srgbClr val="21295C"/>
                </a:solidFill>
                <a:latin typeface="Arial"/>
              </a:rPr>
              <a:t>Первые два критерия — это две строки карты вечера, и обе пусты во всех четырёх порождающих модальностях.</a:t>
            </a:r>
            <a:r>
              <a:rPr sz="850" b="0" i="0">
                <a:solidFill>
                  <a:srgbClr val="21295C"/>
                </a:solidFill>
                <a:latin typeface="Arial"/>
              </a:rPr>
              <a:t> Точные величины и ответ «кто отвечает» — «нет» у изображения, у звука, у видео, у трёхмерного. Ответ появляется только в пятой колонке: у распознавания по величинам </a:t>
            </a:r>
            <a:r>
              <a:rPr sz="850" b="1" i="0">
                <a:solidFill>
                  <a:srgbClr val="21295C"/>
                </a:solidFill>
                <a:latin typeface="Arial"/>
              </a:rPr>
              <a:t>да — эталонная разметка даёт число</a:t>
            </a:r>
            <a:r>
              <a:rPr sz="850" b="0" i="0">
                <a:solidFill>
                  <a:srgbClr val="21295C"/>
                </a:solidFill>
                <a:latin typeface="Arial"/>
              </a:rPr>
              <a:t>, по ответственности </a:t>
            </a:r>
            <a:r>
              <a:rPr sz="850" b="1" i="0">
                <a:solidFill>
                  <a:srgbClr val="21295C"/>
                </a:solidFill>
                <a:latin typeface="Arial"/>
              </a:rPr>
              <a:t>частично: подпись стоит снаружи файла и говорит о подписавшем</a:t>
            </a:r>
            <a:r>
              <a:rPr sz="850" b="0" i="0">
                <a:solidFill>
                  <a:srgbClr val="21295C"/>
                </a:solidFill>
                <a:latin typeface="Arial"/>
              </a:rPr>
              <a:t>.</a:t>
            </a:r>
          </a:p>
          <a:p>
            <a:pPr algn="l">
              <a:lnSpc>
                <a:spcPct val="126000"/>
              </a:lnSpc>
              <a:spcBef>
                <a:spcPts val="700"/>
              </a:spcBef>
            </a:pPr>
            <a:r>
              <a:rPr sz="850" b="0" i="0">
                <a:solidFill>
                  <a:srgbClr val="21295C"/>
                </a:solidFill>
                <a:latin typeface="Arial"/>
              </a:rPr>
              <a:t/>
            </a:r>
            <a:r>
              <a:rPr sz="850" b="1" i="0">
                <a:solidFill>
                  <a:srgbClr val="21295C"/>
                </a:solidFill>
                <a:latin typeface="Arial"/>
              </a:rPr>
              <a:t>Почему это пишут ДО начала работы.</a:t>
            </a:r>
            <a:r>
              <a:rPr sz="850" b="0" i="0">
                <a:solidFill>
                  <a:srgbClr val="21295C"/>
                </a:solidFill>
                <a:latin typeface="Arial"/>
              </a:rPr>
              <a:t> 758 консультантов, три условия. Внутри круга задач, который модель тянет, участники с моделью против работавших без неё: </a:t>
            </a:r>
            <a:r>
              <a:rPr sz="850" b="1" i="0">
                <a:solidFill>
                  <a:srgbClr val="21295C"/>
                </a:solidFill>
                <a:latin typeface="Arial"/>
              </a:rPr>
              <a:t>на 12,2 % больше задач и на 25,1 % быстрее</a:t>
            </a:r>
            <a:r>
              <a:rPr sz="850" b="0" i="0">
                <a:solidFill>
                  <a:srgbClr val="21295C"/>
                </a:solidFill>
                <a:latin typeface="Arial"/>
              </a:rPr>
              <a:t>, при более высоком качестве. На одной задаче за пределами круга доля верных решений: </a:t>
            </a:r>
            <a:r>
              <a:rPr sz="850" b="1" i="0">
                <a:solidFill>
                  <a:srgbClr val="21295C"/>
                </a:solidFill>
                <a:latin typeface="Arial"/>
              </a:rPr>
              <a:t>84,5 % без модели против 60 % и 70 % в двух условиях с ней — на 19 процентных пунктов реже</a:t>
            </a:r>
            <a:r>
              <a:rPr sz="850" b="0" i="0">
                <a:solidFill>
                  <a:srgbClr val="21295C"/>
                </a:solidFill>
                <a:latin typeface="Arial"/>
              </a:rPr>
              <a:t>. Задача внешне ничем не отличалась от остальных восемнадцати.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chapter-part4.md §§ 6.3–6.4</a:t>
            </a:r>
            <a:r>
              <a:rPr sz="1200" b="0" i="1">
                <a:solidFill>
                  <a:srgbClr val="1C7293"/>
                </a:solidFill>
                <a:latin typeface="Arial"/>
              </a:rPr>
              <a:t> · </a:t>
            </a: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2673019" cy="282741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ВЫДАЧИ ПРИНИМАЕТСЯ В ЗРЕЛОЙ БАЗЕ</a:t>
            </a:r>
          </a:p>
        </p:txBody>
      </p:sp>
      <p:sp>
        <p:nvSpPr>
          <p:cNvPr id="6" name="TextBox 5"/>
          <p:cNvSpPr txBox="1"/>
          <p:nvPr/>
        </p:nvSpPr>
        <p:spPr>
          <a:xfrm>
            <a:off x="640080" y="2140317"/>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меньше 44 % сгенерированного</a:t>
            </a:r>
          </a:p>
        </p:txBody>
      </p:sp>
      <p:sp>
        <p:nvSpPr>
          <p:cNvPr id="7" name="TextBox 6"/>
          <p:cNvSpPr txBox="1"/>
          <p:nvPr/>
        </p:nvSpPr>
        <p:spPr>
          <a:xfrm>
            <a:off x="640080" y="285589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около 9 % рабочего времени уходит на чтение и чистку выдачи</a:t>
            </a:r>
          </a:p>
        </p:txBody>
      </p:sp>
      <p:sp>
        <p:nvSpPr>
          <p:cNvPr id="8" name="Rounded Rectangle 7"/>
          <p:cNvSpPr/>
          <p:nvPr/>
        </p:nvSpPr>
        <p:spPr>
          <a:xfrm>
            <a:off x="3340531" y="1335024"/>
            <a:ext cx="2673019" cy="2827410"/>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10" name="TextBox 9"/>
          <p:cNvSpPr txBox="1"/>
          <p:nvPr/>
        </p:nvSpPr>
        <p:spPr>
          <a:xfrm>
            <a:off x="3477691" y="1932846"/>
            <a:ext cx="2398699" cy="630698"/>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39 процентных пунктов самообмана</a:t>
            </a:r>
          </a:p>
        </p:txBody>
      </p:sp>
      <p:sp>
        <p:nvSpPr>
          <p:cNvPr id="11" name="TextBox 10"/>
          <p:cNvSpPr txBox="1"/>
          <p:nvPr/>
        </p:nvSpPr>
        <p:spPr>
          <a:xfrm>
            <a:off x="3477691" y="256354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12" name="Rounded Rectangle 11"/>
          <p:cNvSpPr/>
          <p:nvPr/>
        </p:nvSpPr>
        <p:spPr>
          <a:xfrm>
            <a:off x="6178143" y="1335024"/>
            <a:ext cx="2673019" cy="282741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ОПЫТ НЕ ДОКАЗЫВАЕТ — ПЕРЕЧИСЛЕНО САМИМИ АВТОРАМИ</a:t>
            </a:r>
          </a:p>
        </p:txBody>
      </p:sp>
      <p:sp>
        <p:nvSpPr>
          <p:cNvPr id="14" name="TextBox 13"/>
          <p:cNvSpPr txBox="1"/>
          <p:nvPr/>
        </p:nvSpPr>
        <p:spPr>
          <a:xfrm>
            <a:off x="6315303" y="2140317"/>
            <a:ext cx="2398699" cy="1462469"/>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что модели не ускоряют большинство разработчиков; что вывод переносится за пределы опытных разработчиков открытого кода; что через год будет так же</a:t>
            </a:r>
          </a:p>
        </p:txBody>
      </p:sp>
      <p:sp>
        <p:nvSpPr>
          <p:cNvPr id="15" name="TextBox 14"/>
          <p:cNvSpPr txBox="1"/>
          <p:nvPr/>
        </p:nvSpPr>
        <p:spPr>
          <a:xfrm>
            <a:off x="6315303" y="360278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оговорку стоит произносить вместе с числом</a:t>
            </a:r>
          </a:p>
        </p:txBody>
      </p:sp>
      <p:sp>
        <p:nvSpPr>
          <p:cNvPr id="16" name="Rounded Rectangle 15"/>
          <p:cNvSpPr/>
          <p:nvPr/>
        </p:nvSpPr>
        <p:spPr>
          <a:xfrm>
            <a:off x="9015755" y="1335024"/>
            <a:ext cx="2673019" cy="2827410"/>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30–50 своих типовых задач и секундомер</a:t>
            </a:r>
          </a:p>
        </p:txBody>
      </p:sp>
      <p:sp>
        <p:nvSpPr>
          <p:cNvPr id="19" name="TextBox 18"/>
          <p:cNvSpPr txBox="1"/>
          <p:nvPr/>
        </p:nvSpPr>
        <p:spPr>
          <a:xfrm>
            <a:off x="9152915" y="25465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20" name="Rounded Rectangle 19"/>
          <p:cNvSpPr/>
          <p:nvPr/>
        </p:nvSpPr>
        <p:spPr>
          <a:xfrm>
            <a:off x="374904" y="4253874"/>
            <a:ext cx="11441887" cy="1982333"/>
          </a:xfrm>
          <a:prstGeom prst="roundRect">
            <a:avLst>
              <a:gd name="adj" fmla="val 153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345314"/>
            <a:ext cx="5373471" cy="189089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Пэн против METR: та же работа, измерения расходятся в знаке</a:t>
            </a:r>
          </a:p>
          <a:p>
            <a:pPr algn="l">
              <a:lnSpc>
                <a:spcPct val="126000"/>
              </a:lnSpc>
              <a:spcBef>
                <a:spcPts val="700"/>
              </a:spcBef>
            </a:pPr>
            <a:r>
              <a:rPr sz="900" b="0" i="0">
                <a:solidFill>
                  <a:srgbClr val="21295C"/>
                </a:solidFill>
                <a:latin typeface="Arial"/>
              </a:rPr>
              <a:t/>
            </a:r>
            <a:r>
              <a:rPr sz="900" b="1" i="0">
                <a:solidFill>
                  <a:srgbClr val="21295C"/>
                </a:solidFill>
                <a:latin typeface="Arial"/>
              </a:rPr>
              <a:t>Задача с нуля. Пэн и соавт., февраль 2023.</a:t>
            </a:r>
            <a:r>
              <a:rPr sz="900" b="0" i="0">
                <a:solidFill>
                  <a:srgbClr val="21295C"/>
                </a:solidFill>
                <a:latin typeface="Arial"/>
              </a:rPr>
              <a:t> 95 профессиональных разработчиков, один HTTP-сервер на JavaScript как можно быстрее. Время на задачу — </a:t>
            </a:r>
            <a:r>
              <a:rPr sz="900" b="1" i="0">
                <a:solidFill>
                  <a:srgbClr val="21295C"/>
                </a:solidFill>
                <a:latin typeface="Arial"/>
              </a:rPr>
              <a:t>на 55,8 % меньше</a:t>
            </a:r>
            <a:r>
              <a:rPr sz="900" b="0" i="0">
                <a:solidFill>
                  <a:srgbClr val="21295C"/>
                </a:solidFill>
                <a:latin typeface="Arial"/>
              </a:rPr>
              <a:t>: 71 минута против 161. Кодовой базы нет, истории решений нет, неявных договорённостей нет.</a:t>
            </a:r>
          </a:p>
          <a:p>
            <a:pPr algn="l">
              <a:lnSpc>
                <a:spcPct val="126000"/>
              </a:lnSpc>
              <a:spcBef>
                <a:spcPts val="700"/>
              </a:spcBef>
            </a:pPr>
            <a:r>
              <a:rPr sz="900" b="0" i="0">
                <a:solidFill>
                  <a:srgbClr val="21295C"/>
                </a:solidFill>
                <a:latin typeface="Arial"/>
              </a:rPr>
              <a:t/>
            </a:r>
            <a:r>
              <a:rPr sz="900" b="1" i="0">
                <a:solidFill>
                  <a:srgbClr val="21295C"/>
                </a:solidFill>
                <a:latin typeface="Arial"/>
              </a:rPr>
              <a:t>Та же работа в зрелой кодовой базе. METR, 10 июля 2025.</a:t>
            </a:r>
            <a:r>
              <a:rPr sz="900" b="0" i="0">
                <a:solidFill>
                  <a:srgbClr val="21295C"/>
                </a:solidFill>
                <a:latin typeface="Arial"/>
              </a:rPr>
              <a:t> 16 опытных разработчиков, </a:t>
            </a:r>
            <a:r>
              <a:rPr sz="900" b="1" i="0">
                <a:solidFill>
                  <a:srgbClr val="21295C"/>
                </a:solidFill>
                <a:latin typeface="Arial"/>
              </a:rPr>
              <a:t>246 настоящих задач</a:t>
            </a:r>
            <a:r>
              <a:rPr sz="900" b="0" i="0">
                <a:solidFill>
                  <a:srgbClr val="21295C"/>
                </a:solidFill>
                <a:latin typeface="Arial"/>
              </a:rPr>
              <a:t> в собственных репозиториях — в среднем свыше миллиона строк кода и свыше 22 000 звёзд. Время на задачу — </a:t>
            </a:r>
            <a:r>
              <a:rPr sz="900" b="1" i="0">
                <a:solidFill>
                  <a:srgbClr val="21295C"/>
                </a:solidFill>
                <a:latin typeface="Arial"/>
              </a:rPr>
              <a:t>на 19 % больше</a:t>
            </a:r>
            <a:r>
              <a:rPr sz="900" b="0" i="0">
                <a:solidFill>
                  <a:srgbClr val="21295C"/>
                </a:solidFill>
                <a:latin typeface="Arial"/>
              </a:rPr>
              <a:t>, чем у тех же разработчиков без инструмента на задачах того же набора. Принимается </a:t>
            </a:r>
            <a:r>
              <a:rPr sz="900" b="1" i="0">
                <a:solidFill>
                  <a:srgbClr val="21295C"/>
                </a:solidFill>
                <a:latin typeface="Arial"/>
              </a:rPr>
              <a:t>меньше 44 %</a:t>
            </a:r>
            <a:r>
              <a:rPr sz="900" b="0" i="0">
                <a:solidFill>
                  <a:srgbClr val="21295C"/>
                </a:solidFill>
                <a:latin typeface="Arial"/>
              </a:rPr>
              <a:t> сгенерированного; </a:t>
            </a:r>
            <a:r>
              <a:rPr sz="900" b="1" i="0">
                <a:solidFill>
                  <a:srgbClr val="21295C"/>
                </a:solidFill>
                <a:latin typeface="Arial"/>
              </a:rPr>
              <a:t>около 9 %</a:t>
            </a:r>
            <a:r>
              <a:rPr sz="900" b="0" i="0">
                <a:solidFill>
                  <a:srgbClr val="21295C"/>
                </a:solidFill>
                <a:latin typeface="Arial"/>
              </a:rPr>
              <a:t> рабочего времени уходит на чтение и чистку выдачи.</a:t>
            </a:r>
          </a:p>
        </p:txBody>
      </p:sp>
      <p:sp>
        <p:nvSpPr>
          <p:cNvPr id="22" name="TextBox 21"/>
          <p:cNvSpPr txBox="1"/>
          <p:nvPr/>
        </p:nvSpPr>
        <p:spPr>
          <a:xfrm>
            <a:off x="6278727" y="4345314"/>
            <a:ext cx="5373471" cy="1890893"/>
          </a:xfrm>
          <a:prstGeom prst="rect">
            <a:avLst/>
          </a:prstGeom>
          <a:noFill/>
        </p:spPr>
        <p:txBody>
          <a:bodyPr wrap="square" lIns="0" rIns="0" tIns="0" bIns="0" anchor="t">
            <a:spAutoFit/>
          </a:bodyPr>
          <a:lstStyle/>
          <a:p>
            <a:pPr algn="l">
              <a:lnSpc>
                <a:spcPct val="126000"/>
              </a:lnSpc>
            </a:pPr>
            <a:r>
              <a:rPr sz="900" b="1" i="0">
                <a:solidFill>
                  <a:srgbClr val="21295C"/>
                </a:solidFill>
                <a:latin typeface="Arial"/>
              </a:rPr>
              <a:t>Направление эффекта не угадал никто.</a:t>
            </a:r>
            <a:r>
              <a:rPr sz="900" b="0" i="0">
                <a:solidFill>
                  <a:srgbClr val="21295C"/>
                </a:solidFill>
                <a:latin typeface="Arial"/>
              </a:rPr>
              <a:t> Сами разработчики до работы: ускорение на 24 %. Они же после работы, </a:t>
            </a:r>
            <a:r>
              <a:rPr sz="900" b="1" i="0">
                <a:solidFill>
                  <a:srgbClr val="21295C"/>
                </a:solidFill>
                <a:latin typeface="Arial"/>
              </a:rPr>
              <a:t>уже замедлившись</a:t>
            </a:r>
            <a:r>
              <a:rPr sz="900" b="0" i="0">
                <a:solidFill>
                  <a:srgbClr val="21295C"/>
                </a:solidFill>
                <a:latin typeface="Arial"/>
              </a:rPr>
              <a:t>: уверены, что ускорились на 20 %. </a:t>
            </a:r>
            <a:r>
              <a:rPr sz="900" b="1" i="0">
                <a:solidFill>
                  <a:srgbClr val="21295C"/>
                </a:solidFill>
                <a:latin typeface="Arial"/>
              </a:rPr>
              <a:t>34 специалиста по экономике</a:t>
            </a:r>
            <a:r>
              <a:rPr sz="900" b="0" i="0">
                <a:solidFill>
                  <a:srgbClr val="21295C"/>
                </a:solidFill>
                <a:latin typeface="Arial"/>
              </a:rPr>
              <a:t>: ускорение на 39 %. </a:t>
            </a:r>
            <a:r>
              <a:rPr sz="900" b="1" i="0">
                <a:solidFill>
                  <a:srgbClr val="21295C"/>
                </a:solidFill>
                <a:latin typeface="Arial"/>
              </a:rPr>
              <a:t>54 специалиста по машинному обучению</a:t>
            </a:r>
            <a:r>
              <a:rPr sz="900" b="0" i="0">
                <a:solidFill>
                  <a:srgbClr val="21295C"/>
                </a:solidFill>
                <a:latin typeface="Arial"/>
              </a:rPr>
              <a:t>: ускорение на 38 %. За точность прогноза платили — вознаграждение считалось от величины промаха. Секундомер: </a:t>
            </a:r>
            <a:r>
              <a:rPr sz="900" b="1" i="0">
                <a:solidFill>
                  <a:srgbClr val="21295C"/>
                </a:solidFill>
                <a:latin typeface="Arial"/>
              </a:rPr>
              <a:t>замедление на 19 % времени</a:t>
            </a:r>
            <a:r>
              <a:rPr sz="900" b="0" i="0">
                <a:solidFill>
                  <a:srgbClr val="21295C"/>
                </a:solidFill>
                <a:latin typeface="Arial"/>
              </a:rPr>
              <a:t>.</a:t>
            </a:r>
          </a:p>
          <a:p>
            <a:pPr algn="l">
              <a:lnSpc>
                <a:spcPct val="126000"/>
              </a:lnSpc>
              <a:spcBef>
                <a:spcPts val="700"/>
              </a:spcBef>
            </a:pPr>
            <a:r>
              <a:rPr sz="900" b="0" i="0">
                <a:solidFill>
                  <a:srgbClr val="21295C"/>
                </a:solidFill>
                <a:latin typeface="Arial"/>
              </a:rPr>
              <a:t/>
            </a:r>
            <a:r>
              <a:rPr sz="900" b="1" i="0">
                <a:solidFill>
                  <a:srgbClr val="21295C"/>
                </a:solidFill>
                <a:latin typeface="Arial"/>
              </a:rPr>
              <a:t>39 процентных пунктов самообмана</a:t>
            </a:r>
            <a:r>
              <a:rPr sz="900" b="0" i="0">
                <a:solidFill>
                  <a:srgbClr val="21295C"/>
                </a:solidFill>
                <a:latin typeface="Arial"/>
              </a:rPr>
              <a:t> между замером и самооценкой. Поэтому опрос «ИИ сэкономил мне N часов» нельзя класть в основу решения о внедрении.</a:t>
            </a:r>
          </a:p>
          <a:p>
            <a:pPr algn="l">
              <a:lnSpc>
                <a:spcPct val="126000"/>
              </a:lnSpc>
              <a:spcBef>
                <a:spcPts val="700"/>
              </a:spcBef>
            </a:pPr>
            <a:r>
              <a:rPr sz="900" b="0" i="0">
                <a:solidFill>
                  <a:srgbClr val="21295C"/>
                </a:solidFill>
                <a:latin typeface="Arial"/>
              </a:rPr>
              <a:t/>
            </a:r>
            <a:r>
              <a:rPr sz="900" b="1" i="0">
                <a:solidFill>
                  <a:srgbClr val="21295C"/>
                </a:solidFill>
                <a:latin typeface="Arial"/>
              </a:rPr>
              <a:t>Что делать вместо него:</a:t>
            </a:r>
            <a:r>
              <a:rPr sz="900" b="0" i="0">
                <a:solidFill>
                  <a:srgbClr val="21295C"/>
                </a:solidFill>
                <a:latin typeface="Arial"/>
              </a:rPr>
              <a:t> 30–50 своих типовых задач и секундомер.</a:t>
            </a:r>
          </a:p>
        </p:txBody>
      </p:sp>
      <p:sp>
        <p:nvSpPr>
          <p:cNvPr id="23" name="Rectangle 22"/>
          <p:cNvSpPr/>
          <p:nvPr/>
        </p:nvSpPr>
        <p:spPr>
          <a:xfrm>
            <a:off x="6091275" y="4345314"/>
            <a:ext cx="9144" cy="185124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2673019" cy="2540722"/>
          </a:xfrm>
          <a:prstGeom prst="roundRect">
            <a:avLst>
              <a:gd name="adj" fmla="val 1199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ОСЬ ВЕЧЕРА, ПРОВЕРЕННАЯ В КОНТРОЛИРУЕМОМ ОПЫТЕ</a:t>
            </a:r>
          </a:p>
        </p:txBody>
      </p:sp>
      <p:sp>
        <p:nvSpPr>
          <p:cNvPr id="6" name="TextBox 5"/>
          <p:cNvSpPr txBox="1"/>
          <p:nvPr/>
        </p:nvSpPr>
        <p:spPr>
          <a:xfrm>
            <a:off x="640080"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453 профессионала: время на задание меньше на 40 %, качество выше на 18 %</a:t>
            </a:r>
          </a:p>
        </p:txBody>
      </p:sp>
      <p:sp>
        <p:nvSpPr>
          <p:cNvPr id="7" name="TextBox 6"/>
          <p:cNvSpPr txBox="1"/>
          <p:nvPr/>
        </p:nvSpPr>
        <p:spPr>
          <a:xfrm>
            <a:off x="640080"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предрегистрированный рандомизированный опыт на типовых рабочих текстах; журнальная версия</a:t>
            </a:r>
          </a:p>
        </p:txBody>
      </p:sp>
      <p:sp>
        <p:nvSpPr>
          <p:cNvPr id="8" name="Rounded Rectangle 7"/>
          <p:cNvSpPr/>
          <p:nvPr/>
        </p:nvSpPr>
        <p:spPr>
          <a:xfrm>
            <a:off x="3340531" y="1335024"/>
            <a:ext cx="2673019" cy="2540722"/>
          </a:xfrm>
          <a:prstGeom prst="roundRect">
            <a:avLst>
              <a:gd name="adj" fmla="val 1199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ПЕРЕСТРОИЛОСЬ ВНУТРИ РАБОТЫ</a:t>
            </a:r>
          </a:p>
        </p:txBody>
      </p:sp>
      <p:sp>
        <p:nvSpPr>
          <p:cNvPr id="10" name="TextBox 9"/>
          <p:cNvSpPr txBox="1"/>
          <p:nvPr/>
        </p:nvSpPr>
        <p:spPr>
          <a:xfrm>
            <a:off x="3477691" y="193284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черновик ужался более чем вдвое, правка выросла более чем вдвое</a:t>
            </a:r>
          </a:p>
        </p:txBody>
      </p:sp>
      <p:sp>
        <p:nvSpPr>
          <p:cNvPr id="11" name="TextBox 10"/>
          <p:cNvSpPr txBox="1"/>
          <p:nvPr/>
        </p:nvSpPr>
        <p:spPr>
          <a:xfrm>
            <a:off x="3477691" y="2682369"/>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вмешательства — четверть времени на замысел, половина на черновик, четверть на правку. Рабочая версия MIT, 444 участника</a:t>
            </a:r>
          </a:p>
        </p:txBody>
      </p:sp>
      <p:sp>
        <p:nvSpPr>
          <p:cNvPr id="12" name="Rounded Rectangle 11"/>
          <p:cNvSpPr/>
          <p:nvPr/>
        </p:nvSpPr>
        <p:spPr>
          <a:xfrm>
            <a:off x="6178143" y="1335024"/>
            <a:ext cx="2673019" cy="2540722"/>
          </a:xfrm>
          <a:prstGeom prst="roundRect">
            <a:avLst>
              <a:gd name="adj" fmla="val 1199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ПОЛЕВОЙ ОПЫТ НА ТВОРЧЕСКОЙ ЗАДАЧЕ</a:t>
            </a:r>
          </a:p>
        </p:txBody>
      </p:sp>
      <p:sp>
        <p:nvSpPr>
          <p:cNvPr id="14" name="TextBox 13"/>
          <p:cNvSpPr txBox="1"/>
          <p:nvPr/>
        </p:nvSpPr>
        <p:spPr>
          <a:xfrm>
            <a:off x="6315303"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2 234 участника, 11 024 рекламных объявления, проверка на реальных показах</a:t>
            </a:r>
          </a:p>
        </p:txBody>
      </p:sp>
      <p:sp>
        <p:nvSpPr>
          <p:cNvPr id="15" name="TextBox 14"/>
          <p:cNvSpPr txBox="1"/>
          <p:nvPr/>
        </p:nvSpPr>
        <p:spPr>
          <a:xfrm>
            <a:off x="6315303" y="278421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поведением настоящей аудитории, без судейских оценок</a:t>
            </a:r>
          </a:p>
        </p:txBody>
      </p:sp>
      <p:sp>
        <p:nvSpPr>
          <p:cNvPr id="16" name="Rounded Rectangle 15"/>
          <p:cNvSpPr/>
          <p:nvPr/>
        </p:nvSpPr>
        <p:spPr>
          <a:xfrm>
            <a:off x="9015755" y="1335024"/>
            <a:ext cx="2673019" cy="2540722"/>
          </a:xfrm>
          <a:prstGeom prst="roundRect">
            <a:avLst>
              <a:gd name="adj" fmla="val 1199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1C7293"/>
                </a:solidFill>
                <a:latin typeface="Arial"/>
              </a:rPr>
              <a:t>на 50 % больше объявлений В РАСЧЁТЕ НА УЧАСТНИКА</a:t>
            </a:r>
          </a:p>
        </p:txBody>
      </p:sp>
      <p:sp>
        <p:nvSpPr>
          <p:cNvPr id="19" name="TextBox 18"/>
          <p:cNvSpPr txBox="1"/>
          <p:nvPr/>
        </p:nvSpPr>
        <p:spPr>
          <a:xfrm>
            <a:off x="9152915" y="218632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20" name="Rounded Rectangle 19"/>
          <p:cNvSpPr/>
          <p:nvPr/>
        </p:nvSpPr>
        <p:spPr>
          <a:xfrm>
            <a:off x="502920" y="4040338"/>
            <a:ext cx="11185855"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177498"/>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РАЗОШЛОСЬ ПО ЧАСТЯМ РАБОТЫ</a:t>
            </a:r>
          </a:p>
        </p:txBody>
      </p:sp>
      <p:sp>
        <p:nvSpPr>
          <p:cNvPr id="22" name="TextBox 21"/>
          <p:cNvSpPr txBox="1"/>
          <p:nvPr/>
        </p:nvSpPr>
        <p:spPr>
          <a:xfrm>
            <a:off x="640080" y="4430689"/>
            <a:ext cx="1091153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текстовая часть у команд с моделью выигрывает, изобразительная проигрывает</a:t>
            </a:r>
          </a:p>
        </p:txBody>
      </p:sp>
      <p:sp>
        <p:nvSpPr>
          <p:cNvPr id="23" name="TextBox 22"/>
          <p:cNvSpPr txBox="1"/>
          <p:nvPr/>
        </p:nvSpPr>
        <p:spPr>
          <a:xfrm>
            <a:off x="640080" y="5248112"/>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зазубренная граница, увиденная внутри одной задачи</a:t>
            </a:r>
          </a:p>
        </p:txBody>
      </p:sp>
      <p:sp>
        <p:nvSpPr>
          <p:cNvPr id="24" name="Rounded Rectangle 23"/>
          <p:cNvSpPr/>
          <p:nvPr/>
        </p:nvSpPr>
        <p:spPr>
          <a:xfrm>
            <a:off x="502920" y="5779395"/>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934843"/>
            <a:ext cx="5108295" cy="1106424"/>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человек ДЕЛЕГИРУЕТ работу модели целиком и общается с ней как с собеседником</a:t>
            </a:r>
          </a:p>
          <a:p>
            <a:pPr algn="l">
              <a:lnSpc>
                <a:spcPct val="126000"/>
              </a:lnSpc>
            </a:pPr>
            <a:r>
              <a:rPr sz="950" b="0" i="0">
                <a:solidFill>
                  <a:srgbClr val="21295C"/>
                </a:solidFill>
                <a:latin typeface="Arial"/>
              </a:rPr>
              <a:t>• работы выходят заметно более похожими друг на друга</a:t>
            </a:r>
          </a:p>
          <a:p>
            <a:pPr algn="l">
              <a:lnSpc>
                <a:spcPct val="126000"/>
              </a:lnSpc>
            </a:pPr>
            <a:r>
              <a:rPr sz="95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a:p>
            <a:pPr algn="l">
              <a:lnSpc>
                <a:spcPct val="126000"/>
              </a:lnSpc>
            </a:pPr>
            <a:r>
              <a:rPr sz="950" b="0" i="0">
                <a:solidFill>
                  <a:srgbClr val="21295C"/>
                </a:solidFill>
                <a:latin typeface="Arial"/>
              </a:rPr>
              <a:t>• если ценность работы в отклонении от центра ожиданий — этот режим её уничтожает</a:t>
            </a:r>
          </a:p>
        </p:txBody>
      </p:sp>
      <p:sp>
        <p:nvSpPr>
          <p:cNvPr id="26" name="Rounded Rectangle 25"/>
          <p:cNvSpPr/>
          <p:nvPr/>
        </p:nvSpPr>
        <p:spPr>
          <a:xfrm>
            <a:off x="6251295" y="5779395"/>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5934843"/>
            <a:ext cx="5108295" cy="1106424"/>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ЗАДАЧНО-ОРИЕНТИРОВАННОЕ взаимодействие: человек ставит задачу, разбирает результат, ставит следующую</a:t>
            </a:r>
          </a:p>
          <a:p>
            <a:pPr algn="l">
              <a:lnSpc>
                <a:spcPct val="126000"/>
              </a:lnSpc>
            </a:pPr>
            <a:r>
              <a:rPr sz="1050" b="0" i="0">
                <a:solidFill>
                  <a:srgbClr val="21295C"/>
                </a:solidFill>
                <a:latin typeface="Arial"/>
              </a:rPr>
              <a:t>• обрушения разнообразия в опыте не наблюдается вовсе</a:t>
            </a:r>
          </a:p>
          <a:p>
            <a:pPr algn="l">
              <a:lnSpc>
                <a:spcPct val="126000"/>
              </a:lnSpc>
            </a:pPr>
            <a:r>
              <a:rPr sz="1050" b="0" i="0">
                <a:solidFill>
                  <a:srgbClr val="21295C"/>
                </a:solidFill>
                <a:latin typeface="Arial"/>
              </a:rPr>
              <a:t>• при этом выше и производительность, и качество — по всем измерениям сразу</a:t>
            </a:r>
          </a:p>
          <a:p>
            <a:pPr algn="l">
              <a:lnSpc>
                <a:spcPct val="126000"/>
              </a:lnSpc>
            </a:pPr>
            <a:r>
              <a:rPr sz="1050" b="0" i="0">
                <a:solidFill>
                  <a:srgbClr val="21295C"/>
                </a:solidFill>
                <a:latin typeface="Arial"/>
              </a:rPr>
              <a:t>• режим выбирает человек, и это единственный рычаг на кадре</a:t>
            </a:r>
          </a:p>
        </p:txBody>
      </p:sp>
      <p:sp>
        <p:nvSpPr>
          <p:cNvPr id="28" name="Rectangle 2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2673019" cy="3270644"/>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вечер; плюс один правовой разбор вне этого знаменателя</a:t>
            </a:r>
          </a:p>
        </p:txBody>
      </p:sp>
      <p:sp>
        <p:nvSpPr>
          <p:cNvPr id="8" name="Rounded Rectangle 7"/>
          <p:cNvSpPr/>
          <p:nvPr/>
        </p:nvSpPr>
        <p:spPr>
          <a:xfrm>
            <a:off x="3340531" y="1335024"/>
            <a:ext cx="2673019" cy="327064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ПОСЧИТАН ОТ КЛАССИЧЕСКОГО РЕЖИМА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a:t>
            </a:r>
          </a:p>
        </p:txBody>
      </p:sp>
      <p:sp>
        <p:nvSpPr>
          <p:cNvPr id="11" name="TextBox 10"/>
          <p:cNvSpPr txBox="1"/>
          <p:nvPr/>
        </p:nvSpPr>
        <p:spPr>
          <a:xfrm>
            <a:off x="3477691" y="2359845"/>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стороны измерены в одной единице: цена изображения · микродрамы · ролик к финалу НБА · рождественская кампания · редакция, выпускавшая машинные статьи · российские издания · дубляж</a:t>
            </a:r>
          </a:p>
        </p:txBody>
      </p:sp>
      <p:sp>
        <p:nvSpPr>
          <p:cNvPr id="12" name="Rounded Rectangle 11"/>
          <p:cNvSpPr/>
          <p:nvPr/>
        </p:nvSpPr>
        <p:spPr>
          <a:xfrm>
            <a:off x="6178143" y="1335024"/>
            <a:ext cx="2673019" cy="327064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БАЗЫ СО СТОРОНЫ КЛАССИКИ НЕТ, И ЭТО НАЗВАНО ВСЛУХ</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a:t>
            </a:r>
          </a:p>
        </p:txBody>
      </p:sp>
      <p:sp>
        <p:nvSpPr>
          <p:cNvPr id="15" name="TextBox 14"/>
          <p:cNvSpPr txBox="1"/>
          <p:nvPr/>
        </p:nvSpPr>
        <p:spPr>
          <a:xfrm>
            <a:off x="6315303" y="2567316"/>
            <a:ext cx="2398699"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стоил тот же баннер у штатного дизайнера — в публикации не сказано; сколько часов записи требует банкирование голоса по протоколу клиники — не назвал никто; стоимости классической доработки под купол в источниках нет</a:t>
            </a:r>
          </a:p>
        </p:txBody>
      </p:sp>
      <p:sp>
        <p:nvSpPr>
          <p:cNvPr id="16" name="Rounded Rectangle 15"/>
          <p:cNvSpPr/>
          <p:nvPr/>
        </p:nvSpPr>
        <p:spPr>
          <a:xfrm>
            <a:off x="9015755" y="1335024"/>
            <a:ext cx="2673019" cy="327064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КЛАССИЧЕСКОГО РЕЖИМА НЕ СУЩЕСТВУЕТ ВОВСЕ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a:t>
            </a:r>
          </a:p>
        </p:txBody>
      </p:sp>
      <p:sp>
        <p:nvSpPr>
          <p:cNvPr id="19" name="TextBox 18"/>
          <p:cNvSpPr txBox="1"/>
          <p:nvPr/>
        </p:nvSpPr>
        <p:spPr>
          <a:xfrm>
            <a:off x="9152915" y="2359845"/>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это свойство самой задачи: перегородка сделана оптимизацией без обученной модели; голос актёра в классическом режиме либо отсутствует, либо чужой; у свитков альтернатива — «не прочитать никогда»</a:t>
            </a:r>
          </a:p>
        </p:txBody>
      </p:sp>
      <p:sp>
        <p:nvSpPr>
          <p:cNvPr id="20" name="Rounded Rectangle 19"/>
          <p:cNvSpPr/>
          <p:nvPr/>
        </p:nvSpPr>
        <p:spPr>
          <a:xfrm>
            <a:off x="502920" y="4770260"/>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4907420"/>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СЛОЖЕНИЕ</a:t>
            </a:r>
          </a:p>
        </p:txBody>
      </p:sp>
      <p:sp>
        <p:nvSpPr>
          <p:cNvPr id="22" name="TextBox 21"/>
          <p:cNvSpPr txBox="1"/>
          <p:nvPr/>
        </p:nvSpPr>
        <p:spPr>
          <a:xfrm>
            <a:off x="640080" y="5160611"/>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+ 3 + 3 = 13</a:t>
            </a:r>
          </a:p>
        </p:txBody>
      </p:sp>
      <p:sp>
        <p:nvSpPr>
          <p:cNvPr id="23" name="TextBox 22"/>
          <p:cNvSpPr txBox="1"/>
          <p:nvPr/>
        </p:nvSpPr>
        <p:spPr>
          <a:xfrm>
            <a:off x="640080" y="558761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сходится</a:t>
            </a: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REESTR-RAZBOROV.md, -part2.md, -part3.md — тринадцать подробных разборов с пометкой графы второго шага у каждого</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ounded Rectangle 3"/>
          <p:cNvSpPr/>
          <p:nvPr/>
        </p:nvSpPr>
        <p:spPr>
          <a:xfrm>
            <a:off x="502920"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ШЕСТЬДЕСЯТ ЛЕТ, СЕМЬ УДЕШЕВЛЕНИЙ</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каждый раз исчезала операция посредничества</a:t>
            </a:r>
          </a:p>
        </p:txBody>
      </p:sp>
      <p:sp>
        <p:nvSpPr>
          <p:cNvPr id="7" name="TextBox 6"/>
          <p:cNvSpPr txBox="1"/>
          <p:nvPr/>
        </p:nvSpPr>
        <p:spPr>
          <a:xfrm>
            <a:off x="640080" y="293322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обводка тушью, допечатный цех, физическая склейка плёнки, дубль ради одной ноты, заказная съёмка под каталог, ручная анимация лица, экспедиция за фоном</a:t>
            </a:r>
          </a:p>
        </p:txBody>
      </p:sp>
      <p:sp>
        <p:nvSpPr>
          <p:cNvPr id="8" name="Rounded Rectangle 7"/>
          <p:cNvSpPr/>
          <p:nvPr/>
        </p:nvSpPr>
        <p:spPr>
          <a:xfrm>
            <a:off x="4286402" y="1335024"/>
            <a:ext cx="3618890"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 ГОД</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подешевело другое звено — ошибочная проба</a:t>
            </a:r>
          </a:p>
        </p:txBody>
      </p:sp>
      <p:sp>
        <p:nvSpPr>
          <p:cNvPr id="11" name="TextBox 10"/>
          <p:cNvSpPr txBox="1"/>
          <p:nvPr/>
        </p:nvSpPr>
        <p:spPr>
          <a:xfrm>
            <a:off x="4423562"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приближение замысла стало стоить доли цента, и весь выигрыш индустрии берётся отсюда</a:t>
            </a:r>
          </a:p>
        </p:txBody>
      </p:sp>
      <p:sp>
        <p:nvSpPr>
          <p:cNvPr id="12" name="Rounded Rectangle 11"/>
          <p:cNvSpPr/>
          <p:nvPr/>
        </p:nvSpPr>
        <p:spPr>
          <a:xfrm>
            <a:off x="8069884"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сделать 70 000 вариантов и выбрать один стало дешевле, чем сделать один и попасть</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исполнение перестроилось в последнюю очередь, а в первую — отбор</a:t>
            </a:r>
          </a:p>
        </p:txBody>
      </p:sp>
      <p:sp>
        <p:nvSpPr>
          <p:cNvPr id="16" name="Rounded Rectangle 15"/>
          <p:cNvSpPr/>
          <p:nvPr/>
        </p:nvSpPr>
        <p:spPr>
          <a:xfrm>
            <a:off x="502920" y="409823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53682"/>
            <a:ext cx="5108295" cy="1106424"/>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95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950" b="0" i="0">
                <a:solidFill>
                  <a:srgbClr val="21295C"/>
                </a:solidFill>
                <a:latin typeface="Arial"/>
              </a:rPr>
              <a:t>• отрасль микродрам переходит на новый способ производства за один год</a:t>
            </a:r>
          </a:p>
          <a:p>
            <a:pPr algn="l">
              <a:lnSpc>
                <a:spcPct val="126000"/>
              </a:lnSpc>
            </a:pPr>
            <a:r>
              <a:rPr sz="95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950" b="0" i="0">
                <a:solidFill>
                  <a:srgbClr val="21295C"/>
                </a:solidFill>
                <a:latin typeface="Arial"/>
              </a:rPr>
              <a:t>• свиток, который нельзя было развернуть, прочитан целиком</a:t>
            </a:r>
          </a:p>
        </p:txBody>
      </p:sp>
      <p:sp>
        <p:nvSpPr>
          <p:cNvPr id="18" name="Rounded Rectangle 17"/>
          <p:cNvSpPr/>
          <p:nvPr/>
        </p:nvSpPr>
        <p:spPr>
          <a:xfrm>
            <a:off x="6251295" y="409823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4253682"/>
            <a:ext cx="5108295" cy="110642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лицо, подпись и манера перестали подтверждать себя сами</a:t>
            </a:r>
          </a:p>
          <a:p>
            <a:pPr algn="l">
              <a:lnSpc>
                <a:spcPct val="126000"/>
              </a:lnSpc>
            </a:pPr>
            <a:r>
              <a:rPr sz="900" b="0" i="0">
                <a:solidFill>
                  <a:srgbClr val="21295C"/>
                </a:solidFill>
                <a:latin typeface="Arial"/>
              </a:rPr>
              <a:t>• подтверждение стало стоить денег и труда проверяющего</a:t>
            </a:r>
          </a:p>
          <a:p>
            <a:pPr algn="l">
              <a:lnSpc>
                <a:spcPct val="126000"/>
              </a:lnSpc>
            </a:pPr>
            <a:r>
              <a:rPr sz="90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90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900" b="0" i="0">
                <a:solidFill>
                  <a:srgbClr val="21295C"/>
                </a:solidFill>
                <a:latin typeface="Arial"/>
              </a:rPr>
              <a:t>• счёт за дешёвую ошибку выставлен, и выставлен не всем поровну</a:t>
            </a:r>
          </a:p>
        </p:txBody>
      </p:sp>
      <p:sp>
        <p:nvSpPr>
          <p:cNvPr id="20" name="Rounded Rectangle 19"/>
          <p:cNvSpPr/>
          <p:nvPr/>
        </p:nvSpPr>
        <p:spPr>
          <a:xfrm>
            <a:off x="374904" y="5606994"/>
            <a:ext cx="11441887" cy="6292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698434"/>
            <a:ext cx="11112703" cy="331325"/>
          </a:xfrm>
          <a:prstGeom prst="rect">
            <a:avLst/>
          </a:prstGeom>
          <a:noFill/>
        </p:spPr>
        <p:txBody>
          <a:bodyPr wrap="square" lIns="0" rIns="0" tIns="0" bIns="0" anchor="t">
            <a:spAutoFit/>
          </a:bodyPr>
          <a:lstStyle/>
          <a:p>
            <a:pPr algn="l">
              <a:lnSpc>
                <a:spcPct val="124000"/>
              </a:lnSpc>
            </a:pPr>
            <a:r>
              <a:rPr sz="850" b="1" i="0">
                <a:solidFill>
                  <a:srgbClr val="21295C"/>
                </a:solidFill>
                <a:latin typeface="Arial"/>
              </a:rPr>
              <a:t>Шестьдесят лет инструмент творческого производства дешевел семь раз, и каждый раз исчезала операция посредничества:</a:t>
            </a:r>
            <a:r>
              <a:rPr sz="800" b="0" i="0">
                <a:solidFill>
                  <a:srgbClr val="21295C"/>
                </a:solidFill>
                <a:latin typeface="Arial"/>
              </a:rPr>
              <a:t> обводка тушью, допечатный цех, физическая склейка плёнки, дубль ради одной ноты, заказная съёмка под каталог, ручная анимация лица, экспедиция за фоном.</a:t>
            </a:r>
          </a:p>
        </p:txBody>
      </p:sp>
      <p:sp>
        <p:nvSpPr>
          <p:cNvPr id="22" name="TextBox 21"/>
          <p:cNvSpPr txBox="1"/>
          <p:nvPr/>
        </p:nvSpPr>
        <p:spPr>
          <a:xfrm>
            <a:off x="539496" y="6176064"/>
            <a:ext cx="11112703" cy="331325"/>
          </a:xfrm>
          <a:prstGeom prst="rect">
            <a:avLst/>
          </a:prstGeom>
          <a:noFill/>
        </p:spPr>
        <p:txBody>
          <a:bodyPr wrap="square" lIns="0" rIns="0" tIns="0" bIns="0" anchor="t">
            <a:spAutoFit/>
          </a:bodyPr>
          <a:lstStyle/>
          <a:p>
            <a:pPr algn="l">
              <a:lnSpc>
                <a:spcPct val="124000"/>
              </a:lnSpc>
            </a:pPr>
            <a:r>
              <a:rPr sz="850" b="1" i="0">
                <a:solidFill>
                  <a:srgbClr val="21295C"/>
                </a:solidFill>
                <a:latin typeface="Arial"/>
              </a:rPr>
              <a:t>В 2022 году исчезло другое звено.</a:t>
            </a:r>
            <a:r>
              <a:rPr sz="800" b="0" i="0">
                <a:solidFill>
                  <a:srgbClr val="21295C"/>
                </a:solidFill>
                <a:latin typeface="Arial"/>
              </a:rPr>
              <a:t> Первое приближение замысла стало стоить доли цента. </a:t>
            </a:r>
            <a:r>
              <a:rPr sz="850" b="1" i="0">
                <a:solidFill>
                  <a:srgbClr val="21295C"/>
                </a:solidFill>
                <a:latin typeface="Arial"/>
              </a:rPr>
              <a:t>Сделать 70 000 вариантов и выбрать один стало дешевле, чем сделать один и попасть</a:t>
            </a:r>
            <a:r>
              <a:rPr sz="800" b="0" i="0">
                <a:solidFill>
                  <a:srgbClr val="21295C"/>
                </a:solidFill>
                <a:latin typeface="Arial"/>
              </a:rPr>
              <a:t> — поэтому исполнение перестроилось в последнюю очередь, а в первую очередь перестроился </a:t>
            </a:r>
            <a:r>
              <a:rPr sz="850" b="1" i="0">
                <a:solidFill>
                  <a:srgbClr val="21295C"/>
                </a:solidFill>
                <a:latin typeface="Arial"/>
              </a:rPr>
              <a:t>отбор</a:t>
            </a:r>
            <a:r>
              <a:rPr sz="800" b="0" i="0">
                <a:solidFill>
                  <a:srgbClr val="21295C"/>
                </a:solidFill>
                <a:latin typeface="Arial"/>
              </a:rPr>
              <a:t>.</a:t>
            </a:r>
          </a:p>
        </p:txBody>
      </p:sp>
      <p:sp>
        <p:nvSpPr>
          <p:cNvPr id="23" name="Rectangle 22"/>
          <p:cNvSpPr/>
          <p:nvPr/>
        </p:nvSpPr>
        <p:spPr>
          <a:xfrm>
            <a:off x="539496" y="6653693"/>
            <a:ext cx="5077100" cy="365760"/>
          </a:xfrm>
          <a:prstGeom prst="rect">
            <a:avLst/>
          </a:prstGeom>
          <a:solidFill>
            <a:srgbClr val="065A82"/>
          </a:solidFill>
          <a:ln>
            <a:noFill/>
          </a:ln>
          <a:effectLst/>
        </p:spPr>
        <p:txBody>
          <a:bodyPr rtlCol="0" anchor="ctr"/>
          <a:lstStyle/>
          <a:p>
            <a:pPr algn="ctr"/>
          </a:p>
        </p:txBody>
      </p:sp>
      <p:sp>
        <p:nvSpPr>
          <p:cNvPr id="24" name="TextBox 23"/>
          <p:cNvSpPr txBox="1"/>
          <p:nvPr/>
        </p:nvSpPr>
        <p:spPr>
          <a:xfrm>
            <a:off x="685800" y="6653693"/>
            <a:ext cx="4784492"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Выиграли те, кто научился выбирать</a:t>
            </a:r>
          </a:p>
        </p:txBody>
      </p:sp>
      <p:sp>
        <p:nvSpPr>
          <p:cNvPr id="25" name="Rectangle 24"/>
          <p:cNvSpPr/>
          <p:nvPr/>
        </p:nvSpPr>
        <p:spPr>
          <a:xfrm>
            <a:off x="5616596" y="6653693"/>
            <a:ext cx="6035602" cy="365760"/>
          </a:xfrm>
          <a:prstGeom prst="rect">
            <a:avLst/>
          </a:prstGeom>
          <a:solidFill>
            <a:srgbClr val="065A82"/>
          </a:solidFill>
          <a:ln>
            <a:noFill/>
          </a:ln>
          <a:effectLst/>
        </p:spPr>
        <p:txBody>
          <a:bodyPr rtlCol="0" anchor="ctr"/>
          <a:lstStyle/>
          <a:p>
            <a:pPr algn="ctr"/>
          </a:p>
        </p:txBody>
      </p:sp>
      <p:sp>
        <p:nvSpPr>
          <p:cNvPr id="26" name="TextBox 25"/>
          <p:cNvSpPr txBox="1"/>
          <p:nvPr/>
        </p:nvSpPr>
        <p:spPr>
          <a:xfrm>
            <a:off x="5762900" y="6653693"/>
            <a:ext cx="5742994" cy="365760"/>
          </a:xfrm>
          <a:prstGeom prst="rect">
            <a:avLst/>
          </a:prstGeom>
          <a:noFill/>
        </p:spPr>
        <p:txBody>
          <a:bodyPr wrap="square" lIns="0" rIns="0" tIns="0" bIns="0" anchor="ctr">
            <a:spAutoFit/>
          </a:bodyPr>
          <a:lstStyle/>
          <a:p>
            <a:pPr algn="l">
              <a:lnSpc>
                <a:spcPct val="116000"/>
              </a:lnSpc>
            </a:pPr>
            <a:r>
              <a:rPr sz="800" b="1" i="0">
                <a:solidFill>
                  <a:srgbClr val="FFFFFF"/>
                </a:solidFill>
                <a:latin typeface="Arial"/>
              </a:rPr>
              <a:t>Платят те, кого раньше узнавали бесплатно</a:t>
            </a:r>
          </a:p>
        </p:txBody>
      </p:sp>
      <p:sp>
        <p:nvSpPr>
          <p:cNvPr id="27" name="Rectangle 26"/>
          <p:cNvSpPr/>
          <p:nvPr/>
        </p:nvSpPr>
        <p:spPr>
          <a:xfrm>
            <a:off x="539496" y="7019453"/>
            <a:ext cx="5077100" cy="365760"/>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85800" y="7019453"/>
            <a:ext cx="4784492"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один человек с 300–400 генерациями и двумя днями собирает ролик для финала НБА</a:t>
            </a:r>
          </a:p>
        </p:txBody>
      </p:sp>
      <p:sp>
        <p:nvSpPr>
          <p:cNvPr id="29" name="Rectangle 28"/>
          <p:cNvSpPr/>
          <p:nvPr/>
        </p:nvSpPr>
        <p:spPr>
          <a:xfrm>
            <a:off x="5616596" y="7019453"/>
            <a:ext cx="6035602" cy="3657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5762900" y="7019453"/>
            <a:ext cx="574299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голос, лицо, подпись и манера перестали подтверждать себя сами</a:t>
            </a:r>
          </a:p>
        </p:txBody>
      </p:sp>
      <p:sp>
        <p:nvSpPr>
          <p:cNvPr id="31" name="Rectangle 30"/>
          <p:cNvSpPr/>
          <p:nvPr/>
        </p:nvSpPr>
        <p:spPr>
          <a:xfrm>
            <a:off x="539496" y="7385213"/>
            <a:ext cx="5077100" cy="365760"/>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85800" y="7385213"/>
            <a:ext cx="4784492"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пятеро специалистов и тридцать дней дают рождественскую кампанию мирового бренда</a:t>
            </a:r>
          </a:p>
        </p:txBody>
      </p:sp>
      <p:sp>
        <p:nvSpPr>
          <p:cNvPr id="33" name="Rectangle 32"/>
          <p:cNvSpPr/>
          <p:nvPr/>
        </p:nvSpPr>
        <p:spPr>
          <a:xfrm>
            <a:off x="5616596" y="7385213"/>
            <a:ext cx="6035602" cy="365760"/>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5762900" y="7385213"/>
            <a:ext cx="574299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подтверждение стало стоить денег и труда проверяющего</a:t>
            </a:r>
          </a:p>
        </p:txBody>
      </p:sp>
      <p:sp>
        <p:nvSpPr>
          <p:cNvPr id="35" name="Rectangle 34"/>
          <p:cNvSpPr/>
          <p:nvPr/>
        </p:nvSpPr>
        <p:spPr>
          <a:xfrm>
            <a:off x="539496" y="7750973"/>
            <a:ext cx="5077100" cy="3657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7750973"/>
            <a:ext cx="4784492"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отрасль микродрам переходит на новый способ производства за один год</a:t>
            </a:r>
          </a:p>
        </p:txBody>
      </p:sp>
      <p:sp>
        <p:nvSpPr>
          <p:cNvPr id="37" name="Rectangle 36"/>
          <p:cNvSpPr/>
          <p:nvPr/>
        </p:nvSpPr>
        <p:spPr>
          <a:xfrm>
            <a:off x="5616596" y="7750973"/>
            <a:ext cx="6035602" cy="365760"/>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5762900" y="7750973"/>
            <a:ext cx="574299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распознаватель, дающий </a:t>
            </a:r>
            <a:r>
              <a:rPr sz="800" b="1" i="0">
                <a:solidFill>
                  <a:srgbClr val="21295C"/>
                </a:solidFill>
                <a:latin typeface="Arial"/>
              </a:rPr>
              <a:t>99,9 %</a:t>
            </a:r>
            <a:r>
              <a:rPr sz="800" b="0" i="0">
                <a:solidFill>
                  <a:srgbClr val="21295C"/>
                </a:solidFill>
                <a:latin typeface="Arial"/>
              </a:rPr>
              <a:t> верных решений на знакомой модели, на незнакомой даёт </a:t>
            </a:r>
            <a:r>
              <a:rPr sz="800" b="1" i="0">
                <a:solidFill>
                  <a:srgbClr val="21295C"/>
                </a:solidFill>
                <a:latin typeface="Arial"/>
              </a:rPr>
              <a:t>51,9 %</a:t>
            </a:r>
            <a:r>
              <a:rPr sz="800" b="0" i="0">
                <a:solidFill>
                  <a:srgbClr val="21295C"/>
                </a:solidFill>
                <a:latin typeface="Arial"/>
              </a:rPr>
              <a:t> — монету</a:t>
            </a:r>
          </a:p>
        </p:txBody>
      </p:sp>
      <p:sp>
        <p:nvSpPr>
          <p:cNvPr id="39" name="Rectangle 38"/>
          <p:cNvSpPr/>
          <p:nvPr/>
        </p:nvSpPr>
        <p:spPr>
          <a:xfrm>
            <a:off x="539496" y="8116733"/>
            <a:ext cx="5077100" cy="3657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685800" y="8116733"/>
            <a:ext cx="4784492"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человек, потерявший голос, получает его обратно по минутам старых записей</a:t>
            </a:r>
          </a:p>
        </p:txBody>
      </p:sp>
      <p:sp>
        <p:nvSpPr>
          <p:cNvPr id="41" name="Rectangle 40"/>
          <p:cNvSpPr/>
          <p:nvPr/>
        </p:nvSpPr>
        <p:spPr>
          <a:xfrm>
            <a:off x="5616596" y="8116733"/>
            <a:ext cx="6035602" cy="3657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762900" y="8116733"/>
            <a:ext cx="574299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в редакциях с высокой долей машинных статей экспертов на 1 000 слов стало </a:t>
            </a:r>
            <a:r>
              <a:rPr sz="800" b="1" i="0">
                <a:solidFill>
                  <a:srgbClr val="21295C"/>
                </a:solidFill>
                <a:latin typeface="Arial"/>
              </a:rPr>
              <a:t>меньше на 22 %</a:t>
            </a:r>
          </a:p>
        </p:txBody>
      </p:sp>
      <p:sp>
        <p:nvSpPr>
          <p:cNvPr id="43" name="Rectangle 42"/>
          <p:cNvSpPr/>
          <p:nvPr/>
        </p:nvSpPr>
        <p:spPr>
          <a:xfrm>
            <a:off x="539496" y="8482493"/>
            <a:ext cx="5077100" cy="365760"/>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685800" y="8482493"/>
            <a:ext cx="4784492"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свиток, который нельзя было развернуть, прочитан целиком</a:t>
            </a:r>
          </a:p>
        </p:txBody>
      </p:sp>
      <p:sp>
        <p:nvSpPr>
          <p:cNvPr id="45" name="Rectangle 44"/>
          <p:cNvSpPr/>
          <p:nvPr/>
        </p:nvSpPr>
        <p:spPr>
          <a:xfrm>
            <a:off x="5616596" y="8482493"/>
            <a:ext cx="6035602" cy="365760"/>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5762900" y="8482493"/>
            <a:ext cx="5742994" cy="365760"/>
          </a:xfrm>
          <a:prstGeom prst="rect">
            <a:avLst/>
          </a:prstGeom>
          <a:noFill/>
        </p:spPr>
        <p:txBody>
          <a:bodyPr wrap="square" lIns="0" rIns="0" tIns="0" bIns="0" anchor="ctr">
            <a:spAutoFit/>
          </a:bodyPr>
          <a:lstStyle/>
          <a:p>
            <a:pPr algn="l">
              <a:lnSpc>
                <a:spcPct val="116000"/>
              </a:lnSpc>
            </a:pPr>
            <a:r>
              <a:rPr sz="800" b="0" i="0">
                <a:solidFill>
                  <a:srgbClr val="21295C"/>
                </a:solidFill>
                <a:latin typeface="Arial"/>
              </a:rPr>
              <a:t>счёт за дешёвую ошибку выставлен — и выставлен не всем поровну</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chapter-part4b.md § 7.2; семь точек удешевления — chapter-part1.md и кадр хронологии Входа</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1743303" cy="3879855"/>
          </a:xfrm>
          <a:prstGeom prst="roundRect">
            <a:avLst>
              <a:gd name="adj" fmla="val 1748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46898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932846"/>
            <a:ext cx="1468983" cy="1869867"/>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3802714"/>
            <a:ext cx="146898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2410815" y="1335024"/>
            <a:ext cx="1743303" cy="3879855"/>
          </a:xfrm>
          <a:prstGeom prst="roundRect">
            <a:avLst>
              <a:gd name="adj" fmla="val 1748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547975" y="1472184"/>
            <a:ext cx="14689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2547975" y="1725375"/>
            <a:ext cx="146898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2547975" y="2542797"/>
            <a:ext cx="1468983"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Долг вперёд: Лекция 14</a:t>
            </a:r>
          </a:p>
          <a:p>
            <a:pPr algn="l">
              <a:lnSpc>
                <a:spcPct val="126000"/>
              </a:lnSpc>
              <a:spcBef>
                <a:spcPts val="700"/>
              </a:spcBef>
            </a:pPr>
            <a:r>
              <a:rPr sz="850" b="0" i="0">
                <a:solidFill>
                  <a:srgbClr val="21295C"/>
                </a:solidFill>
                <a:latin typeface="Arial"/>
              </a:rPr>
              <a:t/>
            </a:r>
            <a:r>
              <a:rPr sz="850" b="1" i="0">
                <a:solidFill>
                  <a:srgbClr val="21295C"/>
                </a:solidFill>
                <a:latin typeface="Arial"/>
              </a:rPr>
              <a:t>Одна тема сегодня названа и сознательно не раскрыта.</a:t>
            </a:r>
            <a:r>
              <a:rPr sz="850" b="0" i="0">
                <a:solidFill>
                  <a:srgbClr val="21295C"/>
                </a:solidFill>
                <a:latin typeface="Arial"/>
              </a:rPr>
              <a:t> Когда узнавание перестаёт подтверждать себя, появляется не только издержка проверки, но и целый класс атак: подделка личности, голосовое мошенничество, обход проверок при найме, распознаватели внутри контура защиты.</a:t>
            </a:r>
          </a:p>
          <a:p>
            <a:pPr algn="l">
              <a:lnSpc>
                <a:spcPct val="126000"/>
              </a:lnSpc>
              <a:spcBef>
                <a:spcPts val="700"/>
              </a:spcBef>
            </a:pPr>
            <a:r>
              <a:rPr sz="850" b="0" i="0">
                <a:solidFill>
                  <a:srgbClr val="21295C"/>
                </a:solidFill>
                <a:latin typeface="Arial"/>
              </a:rPr>
              <a:t/>
            </a:r>
            <a:r>
              <a:rPr sz="850" b="1" i="0">
                <a:solidFill>
                  <a:srgbClr val="21295C"/>
                </a:solidFill>
                <a:latin typeface="Arial"/>
              </a:rPr>
              <a:t>Сегодня распознаватель был измерительным прибором. Там он станет элементом системы безопасности</a:t>
            </a:r>
            <a:r>
              <a:rPr sz="850" b="0" i="0">
                <a:solidFill>
                  <a:srgbClr val="21295C"/>
                </a:solidFill>
                <a:latin typeface="Arial"/>
              </a:rPr>
              <a:t> — со своими порогами, ценой ложной тревоги и человеком, который принимает решение по его подсказке.</a:t>
            </a:r>
          </a:p>
          <a:p>
            <a:pPr algn="l">
              <a:lnSpc>
                <a:spcPct val="126000"/>
              </a:lnSpc>
              <a:spcBef>
                <a:spcPts val="700"/>
              </a:spcBef>
            </a:pPr>
            <a:r>
              <a:rPr sz="850" b="0" i="0">
                <a:solidFill>
                  <a:srgbClr val="21295C"/>
                </a:solidFill>
                <a:latin typeface="Arial"/>
              </a:rPr>
              <a:t/>
            </a:r>
            <a:r>
              <a:rPr sz="850" b="1" i="0">
                <a:solidFill>
                  <a:srgbClr val="21295C"/>
                </a:solidFill>
                <a:latin typeface="Arial"/>
              </a:rPr>
              <a:t>Исполнение в творческом производстве действительно перестало быть дефицитом, и это хорошая новость:</a:t>
            </a:r>
            <a:r>
              <a:rPr sz="850" b="0" i="0">
                <a:solidFill>
                  <a:srgbClr val="21295C"/>
                </a:solidFill>
                <a:latin typeface="Arial"/>
              </a:rPr>
              <a:t> впервые за шестьдесят лет удешевления стало дёшево ошибаться. Работа от этого не исчезла — она переехала на шаг, который не подешевел, и шаг этот называется отбором.</a:t>
            </a:r>
          </a:p>
          <a:p>
            <a:pPr algn="l">
              <a:lnSpc>
                <a:spcPct val="126000"/>
              </a:lnSpc>
              <a:spcBef>
                <a:spcPts val="700"/>
              </a:spcBef>
            </a:pPr>
            <a:r>
              <a:rPr sz="1150" b="0" i="0">
                <a:solidFill>
                  <a:srgbClr val="21295C"/>
                </a:solidFill>
                <a:latin typeface="Arial"/>
              </a:rPr>
              <a:t/>
            </a:r>
            <a:r>
              <a:rPr sz="11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chapter-part4b.md § 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