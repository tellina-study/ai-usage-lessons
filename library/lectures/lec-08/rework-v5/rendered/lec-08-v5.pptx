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 не рисунок и не коллаж. Это настоящий кадр из рождественского рекламного ролика</a:t>
            </a:r>
          </a:p>
          <a:p>
            <a:r>
              <a:t>Coca-Cola, целиком собранного генеративными моделями. Снег на крыле, гирлянды в еловых ветках,</a:t>
            </a:r>
          </a:p>
          <a:p>
            <a:r>
              <a:t>отражение огня в красной краске — всё это сгенерировано, а не снято. И на том же кадре видно</a:t>
            </a:r>
          </a:p>
          <a:p>
            <a:r>
              <a:t>то, ради чего он здесь стоит: надпись на борту тягача читается как «Coca-Coola». Логотип,</a:t>
            </a:r>
          </a:p>
          <a:p>
            <a:r>
              <a:t>который корпорация бережёт сто лет и защищает в судах по всему миру, в выпущенном ролике</a:t>
            </a:r>
          </a:p>
          <a:p>
            <a:r>
              <a:t>написан с ошибкой, и происхождение у этой ошибки машинное.</a:t>
            </a:r>
          </a:p>
          <a:p>
            <a:r>
              <a:t/>
            </a:r>
          </a:p>
          <a:p>
            <a:r>
              <a:t>Вся лекция помещается в этот один кадр. Генератор изображений производит убедительную</a:t>
            </a:r>
          </a:p>
          <a:p>
            <a:r>
              <a:t>поверхность — свет, фактуру, снег, настроение — и ровно там, где от него требуется точность</a:t>
            </a:r>
          </a:p>
          <a:p>
            <a:r>
              <a:t>буквы, он ломается. Причина не в небрежности студии и не в том, что модель «недоучили». Причина</a:t>
            </a:r>
          </a:p>
          <a:p>
            <a:r>
              <a:t>в устройстве метода, и на этой лекции мы разберём её до механизма: буква — высокочастотная</a:t>
            </a:r>
          </a:p>
          <a:p>
            <a:r>
              <a:t>структура, а генератор работает не с точками изображения, а со сжатым представлением, в котором</a:t>
            </a:r>
          </a:p>
          <a:p>
            <a:r>
              <a:t>тонкие линии размываются ещё до того, как к картинке притронется генеративная сеть. Разбирая</a:t>
            </a:r>
          </a:p>
          <a:p>
            <a:r>
              <a:t>этот механизм, мы заодно поймём, почему тот же метод так дёшево даёт сотни вариантов — потому</a:t>
            </a:r>
          </a:p>
          <a:p>
            <a:r>
              <a:t>что это одно и то же свойство, прочитанное с двух сторон.</a:t>
            </a:r>
          </a:p>
          <a:p>
            <a:r>
              <a:t/>
            </a:r>
          </a:p>
          <a:p>
            <a:r>
              <a:t>Предмет лекции — творческое производство: реклама и маркетинговые материалы, кино и сериалы,</a:t>
            </a:r>
          </a:p>
          <a:p>
            <a:r>
              <a:t>музыка и звук, игры, издательское дело, медиа. Инструмент — семейство моделей, построенных на</a:t>
            </a:r>
          </a:p>
          <a:p>
            <a:r>
              <a:t>итеративном расшумлении: модель начинает с чистого случайного шума и за несколько десятков</a:t>
            </a:r>
          </a:p>
          <a:p>
            <a:r>
              <a:t>проходов превращает его в изображение, звук или кадр видео. Между предметом и инструментом есть</a:t>
            </a:r>
          </a:p>
          <a:p>
            <a:r>
              <a:t>утверждение, которое лекция проверяет на материале, а не предлагает принять на слово: в 2022</a:t>
            </a:r>
          </a:p>
          <a:p>
            <a:r>
              <a:t>году подешевел брак, а продукт творческого производства остался на своей цене. Первое</a:t>
            </a:r>
          </a:p>
          <a:p>
            <a:r>
              <a:t>приближение замысла стало стоить доли цента, и весь измеренный выигрыш отрасли берётся отсюда,</a:t>
            </a:r>
          </a:p>
          <a:p>
            <a:r>
              <a:t>а вовсе не из того, что модель делает каждый отдельный кадр лучше человека.</a:t>
            </a:r>
          </a:p>
          <a:p>
            <a:r>
              <a:t/>
            </a:r>
          </a:p>
          <a:p>
            <a:r>
              <a:t>Вечер устроен из трёх пластов, и они идут вперемешку, не блоками. Первый — возможности: что</a:t>
            </a:r>
          </a:p>
          <a:p>
            <a:r>
              <a:t>стало возможно впервые, с числами по обе стороны. Второй — техническое устройство: как эти</a:t>
            </a:r>
          </a:p>
          <a:p>
            <a:r>
              <a:t>модели работают внутри, на той же глубине, на какой курс разобрал большие языковые модели, и</a:t>
            </a:r>
          </a:p>
          <a:p>
            <a:r>
              <a:t>обязательно с параллелями и различиями. Это не вставной раздел «как оно работает»: расшумление,</a:t>
            </a:r>
          </a:p>
          <a:p>
            <a:r>
              <a:t>стартовый шум и пакетная генерация — ровно тот механизм, который сделал неудачную попытку</a:t>
            </a:r>
          </a:p>
          <a:p>
            <a:r>
              <a:t>бесплатной, так что устройство здесь отвечает на вопрос «почему вдруг стало можно». Третий</a:t>
            </a:r>
          </a:p>
          <a:p>
            <a:r>
              <a:t>пласт — цена: чем за выигрыш платят, в деньгах, правах, нагрузке и риске. Цена всюду стоит</a:t>
            </a:r>
          </a:p>
          <a:p>
            <a:r>
              <a:t>второй половиной пары на том же кадре, где назван выигрыш. Пара читается как «дало —</a:t>
            </a:r>
          </a:p>
          <a:p>
            <a:r>
              <a:t>потребовало», и эта пара и есть содержание лекции.</a:t>
            </a:r>
          </a:p>
          <a:p>
            <a:r>
              <a:t/>
            </a:r>
          </a:p>
          <a:p>
            <a:r>
              <a:t>Шесть строк внизу кадра — порядок вечера, и выстроен он по цене единицы выхода. Неподвижное</a:t>
            </a:r>
          </a:p>
          <a:p>
            <a:r>
              <a:t>изображение идёт первым, потому что его единица самая дешёвая из всех на два-три порядка:</a:t>
            </a:r>
          </a:p>
          <a:p>
            <a:r>
              <a:t>практика там самая зрелая, числа есть по обе стороны счёта, и именно на этой модальности</a:t>
            </a:r>
          </a:p>
          <a:p>
            <a:r>
              <a:t>уместно разобрать устройство метода на той глубине, которой он требует. Дальше цена единицы</a:t>
            </a:r>
          </a:p>
          <a:p>
            <a:r>
              <a:t>растёт по разделам на порядки, и вместе с ней растёт доля задач, которые модель не закрывает. К</a:t>
            </a:r>
          </a:p>
          <a:p>
            <a:r>
              <a:t>трёхмерной сцене мы придём туда, где устройство отличное, а случая с посчитанными обеими</a:t>
            </a:r>
          </a:p>
          <a:p>
            <a:r>
              <a:t>сторонами в открытых источниках нет ни одного, — и это будет сказано вслух, а не замазано</a:t>
            </a:r>
          </a:p>
          <a:p>
            <a:r>
              <a:t>похожим числом из соседней области.</a:t>
            </a:r>
          </a:p>
          <a:p>
            <a:r>
              <a:t/>
            </a:r>
          </a:p>
          <a:p>
            <a:r>
              <a:t>Последнее, что стоит знать про этот кадр, прежде чем идти дальше. Ролик вышел в эфир. Никто его</a:t>
            </a:r>
          </a:p>
          <a:p>
            <a:r>
              <a:t>не отозвал, никто не переснял сцену, ошибка в логотипе осталась в выпущенном материале. Это и</a:t>
            </a:r>
          </a:p>
          <a:p>
            <a:r>
              <a:t>есть новая экономика, предъявленная одним изображением: когда проба стоит доли цента, проб</a:t>
            </a:r>
          </a:p>
          <a:p>
            <a:r>
              <a:t>становятся тысячи, и узким местом перестаёт быть умение сделать кадр — узким местом становится</a:t>
            </a:r>
          </a:p>
          <a:p>
            <a:r>
              <a:t>способность посмотреть на него и заметить, что там написано.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понять, что произошло в 2022 году, нужна шкала. Инструмент творческого производства</a:t>
            </a:r>
          </a:p>
          <a:p>
            <a:r>
              <a:t>дешевел задолго до генеративных моделей — дешевел регулярно и дешевел на порядки. Семь точек на</a:t>
            </a:r>
          </a:p>
          <a:p>
            <a:r>
              <a:t>этом кадре отобраны по одному признаку: у каждой есть опубликованное число и у каждой названа</a:t>
            </a:r>
          </a:p>
          <a:p>
            <a:r>
              <a:t>операция, которая исчезла. Именно операция, а не профессия, и именно исчезла, а не</a:t>
            </a:r>
          </a:p>
          <a:p>
            <a:r>
              <a:t>«трансформировалась».</a:t>
            </a:r>
          </a:p>
          <a:p>
            <a:r>
              <a:t/>
            </a:r>
          </a:p>
          <a:p>
            <a:r>
              <a:t>Начало — 1961 год, «101 далматинец». До ксерографии отдел туши вручную обводил карандашный</a:t>
            </a:r>
          </a:p>
          <a:p>
            <a:r>
              <a:t>рисунок аниматора на целлулоидной плёнке: человек работал механическим посредником между замыслом</a:t>
            </a:r>
          </a:p>
          <a:p>
            <a:r>
              <a:t>и носителем. Ксерография перенесла рисунок напрямую, и штат фильма составил примерно половину от</a:t>
            </a:r>
          </a:p>
          <a:p>
            <a:r>
              <a:t>«Спящей красавицы» 1959 года при вдвое меньших стоимости и сроке. Одна деталь здесь говорит о</a:t>
            </a:r>
          </a:p>
          <a:p>
            <a:r>
              <a:t>природе таких переходов больше, чем сами числа: сюжет про девяносто девять пятнистых щенков</a:t>
            </a:r>
          </a:p>
          <a:p>
            <a:r>
              <a:t>выбрали потому, что новый способ сделал его выполнимым — вручную отрисовать все пятна было</a:t>
            </a:r>
          </a:p>
          <a:p>
            <a:r>
              <a:t>нереально. Инструмент определил содержание. И тут же уехало вправо: узнаваемое неряшливое</a:t>
            </a:r>
          </a:p>
          <a:p>
            <a:r>
              <a:t>начертание линии шестидесятых, контур печатался со всеми карандашными шероховатостями, и Уолт</a:t>
            </a:r>
          </a:p>
          <a:p>
            <a:r>
              <a:t>Дисней это начертание публично не любил.</a:t>
            </a:r>
          </a:p>
          <a:p>
            <a:r>
              <a:t/>
            </a:r>
          </a:p>
          <a:p>
            <a:r>
              <a:t>1990 год, Photoshop 1.0. До него профессиональная ретушь шла на выделенных системах класса</a:t>
            </a:r>
          </a:p>
          <a:p>
            <a:r>
              <a:t>Scitex по цене около трёхсот долларов за час работы; лицензия Photoshop стоила восемьсот</a:t>
            </a:r>
          </a:p>
          <a:p>
            <a:r>
              <a:t>девяносто пять долларов единовременно, то есть окупалась меньше чем за три часа работы на</a:t>
            </a:r>
          </a:p>
          <a:p>
            <a:r>
              <a:t>Scitex. Падение цены часа — примерно три порядка, и вместе с ним исчез допечатный цех как</a:t>
            </a:r>
          </a:p>
          <a:p>
            <a:r>
              <a:t>отдельная профессия. Ретушёр при этом никуда не делся: он пересел за другой инструмент.</a:t>
            </a:r>
          </a:p>
          <a:p>
            <a:r>
              <a:t/>
            </a:r>
          </a:p>
          <a:p>
            <a:r>
              <a:t>Avid — единственная точка, растянутая во времени, и ценна она именно этим. Первое рабочее место</a:t>
            </a:r>
          </a:p>
          <a:p>
            <a:r>
              <a:t>стоило пятьдесят–восемьдесят тысяч долларов. К 1992 году монтажные Avid стояли у ассистентов на</a:t>
            </a:r>
          </a:p>
          <a:p>
            <a:r>
              <a:t>больших студиях, к 1995-му большинство независимых полных метров заканчивалось на Avid, к</a:t>
            </a:r>
          </a:p>
          <a:p>
            <a:r>
              <a:t>1998-му монтажный стол Steenbeck уехал в кладовку, к 2003-му почти все монтажные Северной</a:t>
            </a:r>
          </a:p>
          <a:p>
            <a:r>
              <a:t>Америки стали нелинейными. Четырнадцать лет от первой установки до полного замещения — это</a:t>
            </a:r>
          </a:p>
          <a:p>
            <a:r>
              <a:t>единица измерения скорости отраслевого перехода в доцифровую эпоху, и держать её в голове стоит</a:t>
            </a:r>
          </a:p>
          <a:p>
            <a:r>
              <a:t>до самого разговора про музыку, где та же величина окажется равна восемнадцати месяцам.</a:t>
            </a:r>
          </a:p>
          <a:p>
            <a:r>
              <a:t/>
            </a:r>
          </a:p>
          <a:p>
            <a:r>
              <a:t>Auto-Tune 1997 года попал в этот ряд из-за урока, который переносится на сегодня без единой</a:t>
            </a:r>
          </a:p>
          <a:p>
            <a:r>
              <a:t>поправки. Алгоритм вырос из обработки сейсмических данных при поиске нефти, первый год применялся</a:t>
            </a:r>
          </a:p>
          <a:p>
            <a:r>
              <a:t>как точечная заплатка, а в 1998-м запись Шер «Believe» вывела экстремальные настройки в</a:t>
            </a:r>
          </a:p>
          <a:p>
            <a:r>
              <a:t>художественный приём. Инструмент, сделанный ради исправления брака, за один год стал источником</a:t>
            </a:r>
          </a:p>
          <a:p>
            <a:r>
              <a:t>нового звучания — и разговор «это обман слушателя» шёл дословно теми же словами, какими сегодня</a:t>
            </a:r>
          </a:p>
          <a:p>
            <a:r>
              <a:t>идёт разговор про машинный вокал.</a:t>
            </a:r>
          </a:p>
          <a:p>
            <a:r>
              <a:t/>
            </a:r>
          </a:p>
          <a:p>
            <a:r>
              <a:t>Микросток помечен поворотной точкой, и это не произвол оформления. Классические агентства</a:t>
            </a:r>
          </a:p>
          <a:p>
            <a:r>
              <a:t>продавали изображение по цене от нескольких сотен до нескольких тысяч долларов; iStock с 2000</a:t>
            </a:r>
          </a:p>
          <a:p>
            <a:r>
              <a:t>года и Shutterstock с 2003-го стали продавать по двадцать пять центов — доллару за штуку, затем</a:t>
            </a:r>
          </a:p>
          <a:p>
            <a:r>
              <a:t>по подписке. Покупателем вместо журнала стал малый бизнес, снимающим вместо профессионала по</a:t>
            </a:r>
          </a:p>
          <a:p>
            <a:r>
              <a:t>заказу — в том числе любитель с подешевевшей цифровой камерой. В 2006 году Getty купила iStock:</a:t>
            </a:r>
          </a:p>
          <a:p>
            <a:r>
              <a:t>владелец дорогой библиотеки купил собственного разрушителя цены. Это самый близкий исторический</a:t>
            </a:r>
          </a:p>
          <a:p>
            <a:r>
              <a:t>аналог происходящего сегодня — обвал цены единицы на три порядка в той же самой отрасли, после</a:t>
            </a:r>
          </a:p>
          <a:p>
            <a:r>
              <a:t>которого рынок уцелел, разделившись на «дёшево и много» и «дорого и именно это». Поэтому точка</a:t>
            </a:r>
          </a:p>
          <a:p>
            <a:r>
              <a:t>и стоит крупнее остальных: к ней придётся вернуться дважды.</a:t>
            </a:r>
          </a:p>
          <a:p>
            <a:r>
              <a:t/>
            </a:r>
          </a:p>
          <a:p>
            <a:r>
              <a:t>Захват игры и StageCraft закрывают ряд. У первого уехало вправо то, что не рассосалось и за</a:t>
            </a:r>
          </a:p>
          <a:p>
            <a:r>
              <a:t>двадцать с лишним лет: спор «это работа актёра или работа аниматора» не закрыт, и актёрской</a:t>
            </a:r>
          </a:p>
          <a:p>
            <a:r>
              <a:t>награды Академии за роль, целиком сыгранную в захвате, не присуждено ни одной. У второго важно</a:t>
            </a:r>
          </a:p>
          <a:p>
            <a:r>
              <a:t>другое: изображение здесь уже синтетическое и при этом полностью детерминированное — его</a:t>
            </a:r>
          </a:p>
          <a:p>
            <a:r>
              <a:t>построили вручную в движке. Разница с тем, что началось в 2022-м, проходит ровно по этой линии:</a:t>
            </a:r>
          </a:p>
          <a:p>
            <a:r>
              <a:t>описать словами вместо построить руками.</a:t>
            </a:r>
          </a:p>
          <a:p>
            <a:r>
              <a:t/>
            </a:r>
          </a:p>
          <a:p>
            <a:r>
              <a:t>Четыре утверждения держатся на всех семи строках сразу, и это вывод цепочки. Исчезала операция</a:t>
            </a:r>
          </a:p>
          <a:p>
            <a:r>
              <a:t>посредничества, а профессия пересаживалась на новый инструмент. Объём произведённого рос быстрее,</a:t>
            </a:r>
          </a:p>
          <a:p>
            <a:r>
              <a:t>чем падала цена: после микростока денег на изображения стало тратиться примерно столько же, а</a:t>
            </a:r>
          </a:p>
          <a:p>
            <a:r>
              <a:t>штук покупаться в тысячи раз больше. Каждый раз шёл спор об авторстве результата, и ни один из</a:t>
            </a:r>
          </a:p>
          <a:p>
            <a:r>
              <a:t>этих споров не был закрыт техническим аргументом. И скорость перехода измерялась годами —</a:t>
            </a:r>
          </a:p>
          <a:p>
            <a:r>
              <a:t>четырнадцать у Avid. Вот на фоне этих четырёх утверждений и надо читать 2022 год.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Шестьдесят лет из предыдущего кадра укладываются в одну строку: исчезала операция</a:t>
            </a:r>
          </a:p>
          <a:p>
            <a:r>
              <a:t>посредничества. Семь раз подряд, с 1961 по 2019 год, одно и то же — убирали звено, где</a:t>
            </a:r>
          </a:p>
          <a:p>
            <a:r>
              <a:t>человек механически переносил замысел на носитель. Профессия оставалась, объём рос, спор об</a:t>
            </a:r>
          </a:p>
          <a:p>
            <a:r>
              <a:t>авторстве возникал заново каждый раз. В 2022 году исчезло другое звено: цена ошибочной пробы.</a:t>
            </a:r>
          </a:p>
          <a:p>
            <a:r>
              <a:t>Это отличие по разряду, а не по величине, и проверяется оно тремя способами.</a:t>
            </a:r>
          </a:p>
          <a:p>
            <a:r>
              <a:t/>
            </a:r>
          </a:p>
          <a:p>
            <a:r>
              <a:t>Первый способ — скорость. Avid потратил на полное замещение классического монтажа четырнадцать</a:t>
            </a:r>
          </a:p>
          <a:p>
            <a:r>
              <a:t>лет. Доля полностью сгенерированных треков в суточной загрузке Deezer выросла с десяти</a:t>
            </a:r>
          </a:p>
          <a:p>
            <a:r>
              <a:t>процентов в январе 2025 года до более чем половины осенью того же года — за восемнадцать</a:t>
            </a:r>
          </a:p>
          <a:p>
            <a:r>
              <a:t>месяцев. Два перехода одного класса, разница в скорости на порядок.</a:t>
            </a:r>
          </a:p>
          <a:p>
            <a:r>
              <a:t/>
            </a:r>
          </a:p>
          <a:p>
            <a:r>
              <a:t>Второй способ — направление. Все точки прежней цепочки удешевляли исполнение уже принятого</a:t>
            </a:r>
          </a:p>
          <a:p>
            <a:r>
              <a:t>решения: рисунок нарисован, его надо перенести; плёнка снята, её надо склеить. Расшумление</a:t>
            </a:r>
          </a:p>
          <a:p>
            <a:r>
              <a:t>удешевляет момент до решения, когда ещё неизвестно, каким быть результату. Раньше на этой стадии</a:t>
            </a:r>
          </a:p>
          <a:p>
            <a:r>
              <a:t>экономили, потому что каждая проба стоила денег. Теперь на ней тратят, потому что проба стоит</a:t>
            </a:r>
          </a:p>
          <a:p>
            <a:r>
              <a:t>доли цента, а выбор из множества проб стоит внимания человека.</a:t>
            </a:r>
          </a:p>
          <a:p>
            <a:r>
              <a:t/>
            </a:r>
          </a:p>
          <a:p>
            <a:r>
              <a:t>Третий способ — куда ушли деньги. После микростока деньги ушли в сторону «дорого и именно это»:</a:t>
            </a:r>
          </a:p>
          <a:p>
            <a:r>
              <a:t>рынок разделился, и верхний сегмент выжил. После 2022 года деньги уходят в отбор: на одну</a:t>
            </a:r>
          </a:p>
          <a:p>
            <a:r>
              <a:t>пригодную иллюстрацию в измеренном российском случае уходит тридцать—сто сгенерированных и около</a:t>
            </a:r>
          </a:p>
          <a:p>
            <a:r>
              <a:t>получаса просмотра, и две трети результата всё равно не дают нужного показателя. Это новая</a:t>
            </a:r>
          </a:p>
          <a:p>
            <a:r>
              <a:t>статья расходов, которой в прейскурантах нет ни у кого.</a:t>
            </a:r>
          </a:p>
          <a:p>
            <a:r>
              <a:t/>
            </a:r>
          </a:p>
          <a:p>
            <a:r>
              <a:t>Теперь к самой строке. Рождественская кампания Coca-Cola 2025 года — это один и тот же продукт,</a:t>
            </a:r>
          </a:p>
          <a:p>
            <a:r>
              <a:t>посчитанный в классическом режиме и с моделью первым лицом компании. Классический режим назвал</a:t>
            </a:r>
          </a:p>
          <a:p>
            <a:r>
              <a:t>Маноло Арройо: съёмочная группа больше пятидесяти человек и срок в год. С моделью: семьдесят</a:t>
            </a:r>
          </a:p>
          <a:p>
            <a:r>
              <a:t>тысяч сгенерированных клипов, пять специалистов на генерации, тридцать дней. И тут же число,</a:t>
            </a:r>
          </a:p>
          <a:p>
            <a:r>
              <a:t>ради которого строка стоит на кадре: в кампании целиком при этом было заняты те же примерно сто</a:t>
            </a:r>
          </a:p>
          <a:p>
            <a:r>
              <a:t>человек. Люди не исчезли. Изменилось количество проб, пройденных до того, как выбрали то, что</a:t>
            </a:r>
          </a:p>
          <a:p>
            <a:r>
              <a:t>пойдёт в эфир.</a:t>
            </a:r>
          </a:p>
          <a:p>
            <a:r>
              <a:t/>
            </a:r>
          </a:p>
          <a:p>
            <a:r>
              <a:t>Оговорка, без которой эту строку ставить нельзя, стоит прямо на кадре, и она важнее самого</a:t>
            </a:r>
          </a:p>
          <a:p>
            <a:r>
              <a:t>числа. Сколько клипов вошло в итоговый монтаж, не раскрыто ни одним источником. Ходовая</a:t>
            </a:r>
          </a:p>
          <a:p>
            <a:r>
              <a:t>формулировка «семьдесят тысяч клипов превратились в тридцать секунд» — это вывод, который</a:t>
            </a:r>
          </a:p>
          <a:p>
            <a:r>
              <a:t>сделала пресса, а не факт, который кто-то опубликовал. Пока знаменателя нет, никакой кратности</a:t>
            </a:r>
          </a:p>
          <a:p>
            <a:r>
              <a:t>из строки не выводится: делить попросту не на что. Единственное защитимое в публичном поле</a:t>
            </a:r>
          </a:p>
          <a:p>
            <a:r>
              <a:t>отношение числа генераций к годному результату даёт другой случай — Toys «R» Us, июнь 2024:</a:t>
            </a:r>
          </a:p>
          <a:p>
            <a:r>
              <a:t>сотни планов на минутный ролик, из которых в монтаж вошло несколько десятков. Вторая опора —</a:t>
            </a:r>
          </a:p>
          <a:p>
            <a:r>
              <a:t>собственная оценка команды «Air Head»: триста к одному по отношению отснятого к вошедшему в</a:t>
            </a:r>
          </a:p>
          <a:p>
            <a:r>
              <a:t>полторы минуты, при том что классическая документалистика работает с десятками к одному, а</a:t>
            </a:r>
          </a:p>
          <a:p>
            <a:r>
              <a:t>постановочная реклама — примерно с десятью к одному.</a:t>
            </a:r>
          </a:p>
          <a:p>
            <a:r>
              <a:t/>
            </a:r>
          </a:p>
          <a:p>
            <a:r>
              <a:t>Эта оговорка строку не ослабляет, она её затачивает. Строка предъявляет измеренный факт одного</a:t>
            </a:r>
          </a:p>
          <a:p>
            <a:r>
              <a:t>рода — число людей в кампании осталось прежним, изменилось число проб, — и ровно этот факт и</a:t>
            </a:r>
          </a:p>
          <a:p>
            <a:r>
              <a:t>есть содержание вечера, предъявленное числом. Привычка спрашивать «а знаменатель какой?» стоит</a:t>
            </a:r>
          </a:p>
          <a:p>
            <a:r>
              <a:t>того, чтобы унести её с собой: ею проверяется любое утверждение вида «в сто раз дешевле», и в</a:t>
            </a:r>
          </a:p>
          <a:p>
            <a:r>
              <a:t>этой лекции она понадобится ещё не раз.</a:t>
            </a:r>
          </a:p>
          <a:p>
            <a:r>
              <a:t/>
            </a:r>
          </a:p>
          <a:p>
            <a:r>
              <a:t>Второй ряд этого кадра сейчас пуст, и это не недоделка. Место держится под свидетельство из</a:t>
            </a:r>
          </a:p>
          <a:p>
            <a:r>
              <a:t>практики — рассказ о том, как это выглядит изнутри работы, а не из пресс-релиза. Такое</a:t>
            </a:r>
          </a:p>
          <a:p>
            <a:r>
              <a:t>свидетельство — полноправный материал, и оно сильнее половины публикаций, если подаётся честно:</a:t>
            </a:r>
          </a:p>
          <a:p>
            <a:r>
              <a:t>названным свидетельством с явной оговоркой, что это свидетельство, а не измеренный случай с</a:t>
            </a:r>
          </a:p>
          <a:p>
            <a:r>
              <a:t>посчитанными обеими сторонами. Если ряд не заполнится, кадр работает и без него: первый ряд</a:t>
            </a:r>
          </a:p>
          <a:p>
            <a:r>
              <a:t>несёт всю нагрузку сам.</a:t>
            </a:r>
          </a:p>
          <a:p>
            <a:r>
              <a:t/>
            </a:r>
          </a:p>
          <a:p>
            <a:r>
              <a:t>Строка внизу — вывод, к которому вечер вернётся в самом конце. Подешевело не исполнение.</a:t>
            </a:r>
          </a:p>
          <a:p>
            <a:r>
              <a:t>Подешевела неудачная попытка. А выбирать по-прежнему некому, и вся остальная лекция — про то,</a:t>
            </a:r>
          </a:p>
          <a:p>
            <a:r>
              <a:t>во что это обошлось.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случая на этом кадре разделены тремя порядками бюджета — от четырёх центов до четырнадцати</a:t>
            </a:r>
          </a:p>
          <a:p>
            <a:r>
              <a:t>тысяч долларов. Общего у них ровно одно, и это общее и есть содержание кадра: выигрыш всюду</a:t>
            </a:r>
          </a:p>
          <a:p>
            <a:r>
              <a:t>берётся из того, что неудачная попытка перестала стоить денег.</a:t>
            </a:r>
          </a:p>
          <a:p>
            <a:r>
              <a:t/>
            </a:r>
          </a:p>
          <a:p>
            <a:r>
              <a:t>Единица на кадре одна — цена одной пробы, — и у каждой пробы в подписи столбца стоит знаменатель:</a:t>
            </a:r>
          </a:p>
          <a:p>
            <a:r>
              <a:t>за что именно платят. Это не формальность. Половина споров об эффекте генеративных моделей —</a:t>
            </a:r>
          </a:p>
          <a:p>
            <a:r>
              <a:t>споры о базе сравнения, и «дешевле в тысячу раз» без указания, от чего отсчитано, не значит</a:t>
            </a:r>
          </a:p>
          <a:p>
            <a:r>
              <a:t>ничего. Поэтому на кадре рядом с каждым числом стоит классический режим, посчитанный в той же</a:t>
            </a:r>
          </a:p>
          <a:p>
            <a:r>
              <a:t>единице.</a:t>
            </a:r>
          </a:p>
          <a:p>
            <a:r>
              <a:t/>
            </a:r>
          </a:p>
          <a:p>
            <a:r>
              <a:t>Изображение. Картинка 1024×1024 у программного доступа Google стоит три с третью цента, у</a:t>
            </a:r>
          </a:p>
          <a:p>
            <a:r>
              <a:t>Midjourney по базовой подписке — около пяти центов, у Adobe Firefly примерно столько же.</a:t>
            </a:r>
          </a:p>
          <a:p>
            <a:r>
              <a:t>Классический режим в той же единице — заказная иллюстрация у исполнителя среднего уровня:</a:t>
            </a:r>
          </a:p>
          <a:p>
            <a:r>
              <a:t>пятьдесят—сто пятьдесят долларов за задание со сроком один—три дня. Разрыв — тысяча—четыре с</a:t>
            </a:r>
          </a:p>
          <a:p>
            <a:r>
              <a:t>половиной тысячи раз. Важная честность: это не единственная возможная база. Против розничной</a:t>
            </a:r>
          </a:p>
          <a:p>
            <a:r>
              <a:t>лицензии стокового агентства, где одно изображение стоит сто тридцать — четыреста девяносто</a:t>
            </a:r>
          </a:p>
          <a:p>
            <a:r>
              <a:t>девять долларов, разрыв доходит до четырнадцати тысяч семисот раз; против оптовой подписки, где</a:t>
            </a:r>
          </a:p>
          <a:p>
            <a:r>
              <a:t>то же изображение обходится в два доллара пятьдесят центов, он падает до семидесяти трёх.</a:t>
            </a:r>
          </a:p>
          <a:p>
            <a:r>
              <a:t>Выбор базы внутри самой классики меняет итог на два порядка, и называть надо все три числа,</a:t>
            </a:r>
          </a:p>
          <a:p>
            <a:r>
              <a:t>иначе выбор базы делает вывод за слушателя.</a:t>
            </a:r>
          </a:p>
          <a:p>
            <a:r>
              <a:t/>
            </a:r>
          </a:p>
          <a:p>
            <a:r>
              <a:t>Минута речи. Синтез обходится в три—семь центов за готовую минуту. Диктор за готовую минуту</a:t>
            </a:r>
          </a:p>
          <a:p>
            <a:r>
              <a:t>берёт от пятидесяти долларов на начальном уровне до четырёхсот пятидесяти на высоком. Разрыв —</a:t>
            </a:r>
          </a:p>
          <a:p>
            <a:r>
              <a:t>семьсот—пятнадцать тысяч раз. Единица обеих сторон — именно готовая минута, а не час</a:t>
            </a:r>
          </a:p>
          <a:p>
            <a:r>
              <a:t>студийного времени: часовые ставки звукозаписи в эту бухгалтерию не складываются, и смешивать</a:t>
            </a:r>
          </a:p>
          <a:p>
            <a:r>
              <a:t>их нельзя.</a:t>
            </a:r>
          </a:p>
          <a:p>
            <a:r>
              <a:t/>
            </a:r>
          </a:p>
          <a:p>
            <a:r>
              <a:t>Выпуск микродрамы — это уже целый продукт, и масштаб соответствующий. Короткий вертикальный</a:t>
            </a:r>
          </a:p>
          <a:p>
            <a:r>
              <a:t>сериальный выпуск обычным производством в Китае стоил свыше миллиона юаней, около ста тридцати</a:t>
            </a:r>
          </a:p>
          <a:p>
            <a:r>
              <a:t>семи тысяч долларов. С генеративным конвейером — пятьдесят—сто тысяч юаней, семь—четырнадцать</a:t>
            </a:r>
          </a:p>
          <a:p>
            <a:r>
              <a:t>тысяч долларов за выпуск. Падение в десять—двадцать раз. За восемь месяцев 2026 года вышло</a:t>
            </a:r>
          </a:p>
          <a:p>
            <a:r>
              <a:t>четыреста тридцать тысяч выпусков — один каждые тридцать шесть секунд.</a:t>
            </a:r>
          </a:p>
          <a:p>
            <a:r>
              <a:t/>
            </a:r>
          </a:p>
          <a:p>
            <a:r>
              <a:t>И вот что в этих трёх строках интереснее каждой из них по отдельности. Разрыв не одинаков: у</a:t>
            </a:r>
          </a:p>
          <a:p>
            <a:r>
              <a:t>самой дешёвой единицы он в тысячи раз, у самой дорогой — в десять—двадцать. Случайностью и</a:t>
            </a:r>
          </a:p>
          <a:p>
            <a:r>
              <a:t>погрешностью измерения это не объясняется. Это закономерность, и держать она будет весь вечер.</a:t>
            </a:r>
          </a:p>
          <a:p>
            <a:r>
              <a:t>Чем дороже единица выхода, тем меньшую долю в её цене составляет та самая операция, которую</a:t>
            </a:r>
          </a:p>
          <a:p>
            <a:r>
              <a:t>модель удешевляет, и тем больше остаётся работы, которую модель не делает: согласование, права,</a:t>
            </a:r>
          </a:p>
          <a:p>
            <a:r>
              <a:t>доводка, выпуск. У картинки эта остальная работа почти нулевая, поэтому и разрыв в тысячи раз.</a:t>
            </a:r>
          </a:p>
          <a:p>
            <a:r>
              <a:t>У сериального выпуска её много, поэтому разрыв всего в десять—двадцать. Порядок разделов вечера</a:t>
            </a:r>
          </a:p>
          <a:p>
            <a:r>
              <a:t>выстроен по этой же шкале: от самой дешёвой единицы к самой дорогой, и по дороге будет видно,</a:t>
            </a:r>
          </a:p>
          <a:p>
            <a:r>
              <a:t>как доля незакрываемой моделью работы растёт.</a:t>
            </a:r>
          </a:p>
          <a:p>
            <a:r>
              <a:t/>
            </a:r>
          </a:p>
          <a:p>
            <a:r>
              <a:t>Диаграмма на кадре нарисована в логарифмическом масштабе по необходимости: четыре цента и сто</a:t>
            </a:r>
          </a:p>
          <a:p>
            <a:r>
              <a:t>тридцать семь тысяч долларов на одной линейной шкале просто не помещаются — меньший столбец</a:t>
            </a:r>
          </a:p>
          <a:p>
            <a:r>
              <a:t>выродился бы в линию толщиной в волос. Лог-шкала позволяет увидеть то, ради чего кадр собран:</a:t>
            </a:r>
          </a:p>
          <a:p>
            <a:r>
              <a:t>все три пары отстоят друг от друга на сопоставимое расстояние, хотя абсолютные величины</a:t>
            </a:r>
          </a:p>
          <a:p>
            <a:r>
              <a:t>различаются в миллионы раз. Одна механика, три масштаба.</a:t>
            </a:r>
          </a:p>
          <a:p>
            <a:r>
              <a:t/>
            </a:r>
          </a:p>
          <a:p>
            <a:r>
              <a:t>Последнее, что стоит унести с этого кадра. Ни одно из шести чисел здесь не описывает качество.</a:t>
            </a:r>
          </a:p>
          <a:p>
            <a:r>
              <a:t>Они описывают цену попытки, и только её. Вопрос, лучше ли сгенерированный выпуск микродрамы</a:t>
            </a:r>
          </a:p>
          <a:p>
            <a:r>
              <a:t>снятого, этим кадром не затрагивается вовсе — и это честно, потому что экономика попытки и</a:t>
            </a:r>
          </a:p>
          <a:p>
            <a:r>
              <a:t>качество результата живут на разных осях. Весь дальнейший вечер посвящён тому, что происходит,</a:t>
            </a:r>
          </a:p>
          <a:p>
            <a:r>
              <a:t>когда первая ось обваливается, а вторая остаётся на месте.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вопрос — ось всего вечера, и он задан так, чтобы на него нельзя было ответить одним словом.</a:t>
            </a:r>
          </a:p>
          <a:p>
            <a:r>
              <a:t>Две его половины работают по-разному, и обе обязательны.</a:t>
            </a:r>
          </a:p>
          <a:p>
            <a:r>
              <a:t/>
            </a:r>
          </a:p>
          <a:p>
            <a:r>
              <a:t>Первая половина — утверждение, а не вопрос, и оно уже доказано предыдущими кадрами. Исполнение</a:t>
            </a:r>
          </a:p>
          <a:p>
            <a:r>
              <a:t>перестало быть дефицитом: получить изображение, минуту речи или выпуск сериала стало стоить от</a:t>
            </a:r>
          </a:p>
          <a:p>
            <a:r>
              <a:t>трёх центов до нескольких тысяч долларов там, где классический режим требовал от пятидесяти</a:t>
            </a:r>
          </a:p>
          <a:p>
            <a:r>
              <a:t>долларов до ста тридцати семи тысяч. Это измерено по обе стороны и в одной единице. Шестьдесят</a:t>
            </a:r>
          </a:p>
          <a:p>
            <a:r>
              <a:t>лет до того инструмент дешевел семь раз, и каждый раз исчезала операция посредничества; теперь</a:t>
            </a:r>
          </a:p>
          <a:p>
            <a:r>
              <a:t>исчезло другое — цена ошибочной пробы. Из этого прямо следует, что узкое место производства</a:t>
            </a:r>
          </a:p>
          <a:p>
            <a:r>
              <a:t>сдвинулось. Вопрос в том, куда именно.</a:t>
            </a:r>
          </a:p>
          <a:p>
            <a:r>
              <a:t/>
            </a:r>
          </a:p>
          <a:p>
            <a:r>
              <a:t>Вторая половина — собственно вопрос, и в нём важны оба слова. «Что теперь дефицит» — это вопрос</a:t>
            </a:r>
          </a:p>
          <a:p>
            <a:r>
              <a:t>о предмете. «В каких единицах за него платят» — вопрос о счёте, и он тут не для красоты. Ответ</a:t>
            </a:r>
          </a:p>
          <a:p>
            <a:r>
              <a:t>«теперь дефицит — творческое видение» был бы пустым ровно потому, что творческое видение не</a:t>
            </a:r>
          </a:p>
          <a:p>
            <a:r>
              <a:t>меряется ни в чём: его нельзя посчитать, нельзя заложить в бюджет и нельзя сравнить с тем, что</a:t>
            </a:r>
          </a:p>
          <a:p>
            <a:r>
              <a:t>было раньше. Курс считает такие формулировки пустыми до тех пор, пока под ними нет измеренной</a:t>
            </a:r>
          </a:p>
          <a:p>
            <a:r>
              <a:t>единицы, и требование назвать единицу — это защита от красивого ответа, который ничего не</a:t>
            </a:r>
          </a:p>
          <a:p>
            <a:r>
              <a:t>говорит.</a:t>
            </a:r>
          </a:p>
          <a:p>
            <a:r>
              <a:t/>
            </a:r>
          </a:p>
          <a:p>
            <a:r>
              <a:t>Поэтому каждый разбор вечера обязан назвать свою единицу счёта, и ни один из них не имеет права</a:t>
            </a:r>
          </a:p>
          <a:p>
            <a:r>
              <a:t>отделаться общими словами. Где-то это будет доля попаданий — две трети выпущенных рекламных</a:t>
            </a:r>
          </a:p>
          <a:p>
            <a:r>
              <a:t>баннеров не дают нужного показателя отклика. Где-то — число генераций на один годный кадр:</a:t>
            </a:r>
          </a:p>
          <a:p>
            <a:r>
              <a:t>тридцать—сто у российской редакции, сотни планов против нескольких десятков вошедших у</a:t>
            </a:r>
          </a:p>
          <a:p>
            <a:r>
              <a:t>американской. Где-то — минуты просмотра человеком: около получаса на одну пригодную</a:t>
            </a:r>
          </a:p>
          <a:p>
            <a:r>
              <a:t>иллюстрацию. Где-то — статус правового события из пяти различимых. Где-то — доля каталога</a:t>
            </a:r>
          </a:p>
          <a:p>
            <a:r>
              <a:t>против доли денег, которые за этот каталог заплатили, и расхождение между ними на порядок.</a:t>
            </a:r>
          </a:p>
          <a:p>
            <a:r>
              <a:t/>
            </a:r>
          </a:p>
          <a:p>
            <a:r>
              <a:t>Заранее стоит сказать только форму ответа, не сам ответ. Ответом окажутся три адреса, по которым</a:t>
            </a:r>
          </a:p>
          <a:p>
            <a:r>
              <a:t>теперь уходит платёж, и каждый из них будет назван по имени в конце вечера: отбор, права,</a:t>
            </a:r>
          </a:p>
          <a:p>
            <a:r>
              <a:t>узнавание. Отбор — потому что пробовать стало бесплатно, а выбирать нет, и процедуры отбора</a:t>
            </a:r>
          </a:p>
          <a:p>
            <a:r>
              <a:t>раньше попросту не существовало: пробовали мало, потому что проба стоила денег. Права — потому</a:t>
            </a:r>
          </a:p>
          <a:p>
            <a:r>
              <a:t>что от того, чем обучена модель, зависит, что из её выхода вообще можно выпустить, и три крупные</a:t>
            </a:r>
          </a:p>
          <a:p>
            <a:r>
              <a:t>юрисдикции отвечают на это по-разному. Узнавание — потому что подпись, голос, лицо и</a:t>
            </a:r>
          </a:p>
          <a:p>
            <a:r>
              <a:t>происхождение перестали подтверждаться сами собой.</a:t>
            </a:r>
          </a:p>
          <a:p>
            <a:r>
              <a:t/>
            </a:r>
          </a:p>
          <a:p>
            <a:r>
              <a:t>Каждый разбор вечера назовёт свой адрес вслух. У неподвижного изображения три подробных разбора</a:t>
            </a:r>
          </a:p>
          <a:p>
            <a:r>
              <a:t>назовут отбор, а правовой разбор и упоминания — права; узнавание в этом разделе не прозвучит ни</a:t>
            </a:r>
          </a:p>
          <a:p>
            <a:r>
              <a:t>разу, и это свойство самой модальности: у неподвижной картинки нет подписи, которая</a:t>
            </a:r>
          </a:p>
          <a:p>
            <a:r>
              <a:t>подтверждалась бы сама собой. Оно появится там, где такая подпись есть, — у голоса, — и будет</a:t>
            </a:r>
          </a:p>
          <a:p>
            <a:r>
              <a:t>держать весь разговор о распознавании.</a:t>
            </a:r>
          </a:p>
          <a:p>
            <a:r>
              <a:t/>
            </a:r>
          </a:p>
          <a:p>
            <a:r>
              <a:t>Про этот вопрос важно знать ещё одно, и это касается того, как устроен вечер. Он произносится</a:t>
            </a:r>
          </a:p>
          <a:p>
            <a:r>
              <a:t>ровно дважды: здесь и в самом конце, где на него отвечают поимённо. Между этими двумя точками он</a:t>
            </a:r>
          </a:p>
          <a:p>
            <a:r>
              <a:t>не повторяется и не пересказывается — ни в заголовке раздела, ни в выводе, ни вполголоса. Это</a:t>
            </a:r>
          </a:p>
          <a:p>
            <a:r>
              <a:t>сделано намеренно: вопрос, который повторяют шесть раз, перестаёт быть вопросом и становится</a:t>
            </a:r>
          </a:p>
          <a:p>
            <a:r>
              <a:t>присказкой, и зал перестаёт его слышать уже на третий раз. Вместо повторения вопроса каждый</a:t>
            </a:r>
          </a:p>
          <a:p>
            <a:r>
              <a:t>разбор обязан назвать свою единицу — и именно эта цепочка названных единиц и есть настоящий</a:t>
            </a:r>
          </a:p>
          <a:p>
            <a:r>
              <a:t>путь от вопроса к ответу.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единственная таблица, которая проживёт весь вечер. Она предъявляется шесть раз, и каждый</a:t>
            </a:r>
          </a:p>
          <a:p>
            <a:r>
              <a:t>раз в ней на одну колонку больше. Сейчас в ней подписаны только строки, и этого достаточно: без</a:t>
            </a:r>
          </a:p>
          <a:p>
            <a:r>
              <a:t>строк клетки не значат ничего, а строки задаются один раз и дальше не меняются.</a:t>
            </a:r>
          </a:p>
          <a:p>
            <a:r>
              <a:t/>
            </a:r>
          </a:p>
          <a:p>
            <a:r>
              <a:t>Строк шесть, и выбраны они по типу решения, которое надо принять. Разница с делением по</a:t>
            </a:r>
          </a:p>
          <a:p>
            <a:r>
              <a:t>инструментам существенная. Если резать по инструментам, получится список продуктов, который</a:t>
            </a:r>
          </a:p>
          <a:p>
            <a:r>
              <a:t>устареет к следующему семестру. Если резать по типу задачи, получится сетка, в которую новый</a:t>
            </a:r>
          </a:p>
          <a:p>
            <a:r>
              <a:t>продукт просто ложится клеткой, и это та форма знания, которая переживает смену поколений</a:t>
            </a:r>
          </a:p>
          <a:p>
            <a:r>
              <a:t>моделей.</a:t>
            </a:r>
          </a:p>
          <a:p>
            <a:r>
              <a:t/>
            </a:r>
          </a:p>
          <a:p>
            <a:r>
              <a:t>Породить первое приближение — это стадия, где нужно много дешёвых вариантов и где ни один из</a:t>
            </a:r>
          </a:p>
          <a:p>
            <a:r>
              <a:t>них не пойдёт в продукт напрямую. Концепт, набросок облика, пробный голос, черновая анимация.</a:t>
            </a:r>
          </a:p>
          <a:p>
            <a:r>
              <a:t>Именно сюда модель вошла первой и сильнее всего, и причина ровно в экономике попытки: вся</a:t>
            </a:r>
          </a:p>
          <a:p>
            <a:r>
              <a:t>стадия была устроена вокруг вопроса «сколько вариантов мы можем себе позволить посмотреть,</a:t>
            </a:r>
          </a:p>
          <a:p>
            <a:r>
              <a:t>прежде чем выбрать один», а модель изменила ту самую величину, вокруг которой стадия стояла.</a:t>
            </a:r>
          </a:p>
          <a:p>
            <a:r>
              <a:t/>
            </a:r>
          </a:p>
          <a:p>
            <a:r>
              <a:t>Довести до производственного качества — стадия, куда всё переехало. Отбор, бракераж, доводка,</a:t>
            </a:r>
          </a:p>
          <a:p>
            <a:r>
              <a:t>выпуск. Это новая работа: когда проба стоила денег, её делали мало и смотреть было почти нечего.</a:t>
            </a:r>
          </a:p>
          <a:p>
            <a:r>
              <a:t>Теперь проб тысячи, и в этой клетке — ответ на вопрос, куда ушли деньги.</a:t>
            </a:r>
          </a:p>
          <a:p>
            <a:r>
              <a:t/>
            </a:r>
          </a:p>
          <a:p>
            <a:r>
              <a:t>Восстановить существующее стоит отдельной строкой, потому что это другая задача, и путают её с</a:t>
            </a:r>
          </a:p>
          <a:p>
            <a:r>
              <a:t>порождением постоянно. Повысить разрешение архивной плёнки, вытащить голос из моноплёнки</a:t>
            </a:r>
          </a:p>
          <a:p>
            <a:r>
              <a:t>шестидесятых, прочитать обугленный свиток — здесь модель не придумывает, а реконструирует уже</a:t>
            </a:r>
          </a:p>
          <a:p>
            <a:r>
              <a:t>записанное. Спор вокруг восстановления идёт куда спокойнее, чем вокруг генерации, и это не</a:t>
            </a:r>
          </a:p>
          <a:p>
            <a:r>
              <a:t>случайность: у восстановления есть оригинал, с которым можно сверить результат.</a:t>
            </a:r>
          </a:p>
          <a:p>
            <a:r>
              <a:t/>
            </a:r>
          </a:p>
          <a:p>
            <a:r>
              <a:t>Соблюсти точные величины — строка, которая для инженерной аудитории окажется самой важной, и</a:t>
            </a:r>
          </a:p>
          <a:p>
            <a:r>
              <a:t>заполняться она будет преимущественно отказами. Размер, допуск, проверяемое условие — это</a:t>
            </a:r>
          </a:p>
          <a:p>
            <a:r>
              <a:t>вопросы, на которые изображение объекта не отвечает, потому что внутри изображения нет ни</a:t>
            </a:r>
          </a:p>
          <a:p>
            <a:r>
              <a:t>единиц измерения, ни дерева построения. Клетка, в которой написано «модель — не тот</a:t>
            </a:r>
          </a:p>
          <a:p>
            <a:r>
              <a:t>инструмент», — полноценный результат, а не пробел, и таких клеток в карте будет несколько.</a:t>
            </a:r>
          </a:p>
          <a:p>
            <a:r>
              <a:t/>
            </a:r>
          </a:p>
          <a:p>
            <a:r>
              <a:t>Уложиться в бюджет реального времени — строка про срок кадра, а не про срок задачи. Между</a:t>
            </a:r>
          </a:p>
          <a:p>
            <a:r>
              <a:t>«картинка за двадцать секунд» и «кадр за шестнадцать миллисекунд» лежит не разница в скорости,</a:t>
            </a:r>
          </a:p>
          <a:p>
            <a:r>
              <a:t>а разница в классе инженерной задачи, и это станет видно там, где речь пойдёт о трёхмерной</a:t>
            </a:r>
          </a:p>
          <a:p>
            <a:r>
              <a:t>сцене.</a:t>
            </a:r>
          </a:p>
          <a:p>
            <a:r>
              <a:t/>
            </a:r>
          </a:p>
          <a:p>
            <a:r>
              <a:t>Ответить «кто отвечает» — строка про происхождение и права. Откуда взялась эта деталь, можно ли</a:t>
            </a:r>
          </a:p>
          <a:p>
            <a:r>
              <a:t>это выпускать, кому принадлежит результат, чем подтверждается, что это снято, а не собрано. По</a:t>
            </a:r>
          </a:p>
          <a:p>
            <a:r>
              <a:t>этой строке у неподвижного изображения будет пусто — и пусто по устройству метода, а не потому,</a:t>
            </a:r>
          </a:p>
          <a:p>
            <a:r>
              <a:t>что чего-то не нашли.</a:t>
            </a:r>
          </a:p>
          <a:p>
            <a:r>
              <a:t/>
            </a:r>
          </a:p>
          <a:p>
            <a:r>
              <a:t>Колонок будет пять, и добавляются они по одной в конце каждого раздела, в порядке роста цены</a:t>
            </a:r>
          </a:p>
          <a:p>
            <a:r>
              <a:t>единицы выхода: изображение, звук, видео, трёхмерное, распознавание. Шестой колонки нет</a:t>
            </a:r>
          </a:p>
          <a:p>
            <a:r>
              <a:t>намеренно: сборка — не модальность, она читает готовую карту, а не дописывает её.</a:t>
            </a:r>
          </a:p>
          <a:p>
            <a:r>
              <a:t>Распознавание стоит в ряду особняком и по другой причине: там модель решает обратную задачу —</a:t>
            </a:r>
          </a:p>
          <a:p>
            <a:r>
              <a:t>читает, а не рисует, — и это та же архитектура внимания, развёрнутая в другую сторону.</a:t>
            </a:r>
          </a:p>
          <a:p>
            <a:r>
              <a:t/>
            </a:r>
          </a:p>
          <a:p>
            <a:r>
              <a:t>Под сеткой пойдёт отдельная полоса — адрес платежа. Каждый разбор называет, куда уходит</a:t>
            </a:r>
          </a:p>
          <a:p>
            <a:r>
              <a:t>заплаченное: в отбор, в права или в узнавание, — и к концу вечера станет видно, что адреса</a:t>
            </a:r>
          </a:p>
          <a:p>
            <a:r>
              <a:t>распределены по модальностям неравномерно, а эта неравномерность сама по себе содержательна.</a:t>
            </a:r>
          </a:p>
          <a:p>
            <a:r>
              <a:t/>
            </a:r>
          </a:p>
          <a:p>
            <a:r>
              <a:t>Последнее про эту карту, и оно про честность. К концу вечера часть клеток останется пустой.</a:t>
            </a:r>
          </a:p>
          <a:p>
            <a:r>
              <a:t>Каждая пустая клетка будет названа содержательно: либо «метод сюда не годится, и вот причина»,</a:t>
            </a:r>
          </a:p>
          <a:p>
            <a:r>
              <a:t>либо «приём работает, но случая с посчитанными обеими сторонами в открытых источниках найти не</a:t>
            </a:r>
          </a:p>
          <a:p>
            <a:r>
              <a:t>удалось». Оговорки «наверняка что-то пропущено» на этой карте не будет — пробел называется</a:t>
            </a:r>
          </a:p>
          <a:p>
            <a:r>
              <a:t>своим именем или не называется вовсе.</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куска вынесены за границу этой лекции намеренно, и про каждый сказано, где он разбирается.</a:t>
            </a:r>
          </a:p>
          <a:p>
            <a:r>
              <a:t>Это не оговорка на всякий случай и не извинение за неполноту: граница проведена по предмету, и</a:t>
            </a:r>
          </a:p>
          <a:p>
            <a:r>
              <a:t>знать, где именно она проходит, нужно, чтобы не ждать от вечера того, чего в нём не будет.</a:t>
            </a:r>
          </a:p>
          <a:p>
            <a:r>
              <a:t/>
            </a:r>
          </a:p>
          <a:p>
            <a:r>
              <a:t>Первый кусок — безопасность, подделки и злоупотребление. Туда уходят дипфейк в кадровой</a:t>
            </a:r>
          </a:p>
          <a:p>
            <a:r>
              <a:t>безопасности, мошенничество с голосом близкого человека, подделка документов и вся</a:t>
            </a:r>
          </a:p>
          <a:p>
            <a:r>
              <a:t>правоприменительная сторона. Здесь остаётся только то, что принадлежит творческому</a:t>
            </a:r>
          </a:p>
          <a:p>
            <a:r>
              <a:t>производству: право на голос исполнителя, происхождение обучающих данных, маркировка</a:t>
            </a:r>
          </a:p>
          <a:p>
            <a:r>
              <a:t>синтетического содержимого на выпуске. Граница проходит по предмету, а не по технологии, и это</a:t>
            </a:r>
          </a:p>
          <a:p>
            <a:r>
              <a:t>стоит проговорить до первого разбора, потому что иначе она кажется произвольной. Одна и та же</a:t>
            </a:r>
          </a:p>
          <a:p>
            <a:r>
              <a:t>модель клонирования голоса в этом вечере — инструмент, вернувший актёру возможность работать</a:t>
            </a:r>
          </a:p>
          <a:p>
            <a:r>
              <a:t>после того, как болезнь отняла у него голос; в разговоре о безопасности та же модель —</a:t>
            </a:r>
          </a:p>
          <a:p>
            <a:r>
              <a:t>инструмент телефонного мошенничества. Обе рамки верны одновременно, и ни одна не отменяет</a:t>
            </a:r>
          </a:p>
          <a:p>
            <a:r>
              <a:t>другую. Разбирать их вперемешку значит получить вечер, где после каждого измеренного выигрыша</a:t>
            </a:r>
          </a:p>
          <a:p>
            <a:r>
              <a:t>идёт страшная история, а после каждой страшной истории — оправдание, и ни одно из двух не</a:t>
            </a:r>
          </a:p>
          <a:p>
            <a:r>
              <a:t>доводится до числа.</a:t>
            </a:r>
          </a:p>
          <a:p>
            <a:r>
              <a:t/>
            </a:r>
          </a:p>
          <a:p>
            <a:r>
              <a:t>Второй кусок — агенты, инструменты и программный доступ. Там уже разобрано, как модель</a:t>
            </a:r>
          </a:p>
          <a:p>
            <a:r>
              <a:t>вызывается из кода, как устроены цепочки вызовов, как работает дообучение адаптером и где нужен</a:t>
            </a:r>
          </a:p>
          <a:p>
            <a:r>
              <a:t>человек-валидатор. Всё это здесь берётся как известное и применяется к новому семейству</a:t>
            </a:r>
          </a:p>
          <a:p>
            <a:r>
              <a:t>моделей. Но у этой лекции есть и своё — то, чего в разговоре про языковые модели быть не</a:t>
            </a:r>
          </a:p>
          <a:p>
            <a:r>
              <a:t>могло: почему привычные рычаги управления выходом работают иначе или отсутствуют по</a:t>
            </a:r>
          </a:p>
          <a:p>
            <a:r>
              <a:t>построению. Маскирование запрещённых вариантов, гарантия формата на уровне декодирования,</a:t>
            </a:r>
          </a:p>
          <a:p>
            <a:r>
              <a:t>подкладывание источника истины — три приёма, на которых держится инженерная работа с языковой</a:t>
            </a:r>
          </a:p>
          <a:p>
            <a:r>
              <a:t>моделью, и каждый из трёх здесь либо устроен иначе, либо не существует вовсе. Это самая</a:t>
            </a:r>
          </a:p>
          <a:p>
            <a:r>
              <a:t>содержательная часть технического блока, и она целиком про границы переноса знания, которое</a:t>
            </a:r>
          </a:p>
          <a:p>
            <a:r>
              <a:t>аудитория уже имеет.</a:t>
            </a:r>
          </a:p>
          <a:p>
            <a:r>
              <a:t/>
            </a:r>
          </a:p>
          <a:p>
            <a:r>
              <a:t>Третий кусок — рынок труда целиком и обзор юрисдикций по странам. Это единственный пункт, где</a:t>
            </a:r>
          </a:p>
          <a:p>
            <a:r>
              <a:t>решение принято по бюджету, и сказать это честнее, чем придумывать содержательное объяснение.</a:t>
            </a:r>
          </a:p>
          <a:p>
            <a:r>
              <a:t>Материал собран, проверен и лежит в главе как чтение для самостоятельной работы: там и прогнозы</a:t>
            </a:r>
          </a:p>
          <a:p>
            <a:r>
              <a:t>занятости с разбором того, какие из них не подтвердились прямой проверкой первоисточников, и</a:t>
            </a:r>
          </a:p>
          <a:p>
            <a:r>
              <a:t>правовая картина по странам в подробностях. Причина, по которой этого нет на кадрах,</a:t>
            </a:r>
          </a:p>
          <a:p>
            <a:r>
              <a:t>арифметическая: пласт цены занимает примерно пятую часть вечера, а правовой ландшафт по странам</a:t>
            </a:r>
          </a:p>
          <a:p>
            <a:r>
              <a:t>в такой объём не укладывается, не вытеснив разговор о возможностях. Поэтому право здесь</a:t>
            </a:r>
          </a:p>
          <a:p>
            <a:r>
              <a:t>предъявлено двумя кадрами — одним подробным разбором судебного решения и одним списком из</a:t>
            </a:r>
          </a:p>
          <a:p>
            <a:r>
              <a:t>восьми строк, где у каждой строки стоит статус, — а не обзором по юрисдикциям.</a:t>
            </a:r>
          </a:p>
          <a:p>
            <a:r>
              <a:t/>
            </a:r>
          </a:p>
          <a:p>
            <a:r>
              <a:t>Отдельно стоит сказать о том, чего нет по другой причине — потому что проверка его не</a:t>
            </a:r>
          </a:p>
          <a:p>
            <a:r>
              <a:t>подтвердила. Двадцать два ходовых утверждения про влияние генеративных моделей на занятость</a:t>
            </a:r>
          </a:p>
          <a:p>
            <a:r>
              <a:t>проверены прямым обращением к первоисточникам и не подтвердились; несколько громких цифр,</a:t>
            </a:r>
          </a:p>
          <a:p>
            <a:r>
              <a:t>которые кочуют по отраслевым обзорам, при проверке оказались либо выводом прессы, выданным за</a:t>
            </a:r>
          </a:p>
          <a:p>
            <a:r>
              <a:t>факт, либо статистикой совсем о другом, либо делом, которого не существует. Этого на кадрах не</a:t>
            </a:r>
          </a:p>
          <a:p>
            <a:r>
              <a:t>будет вовсе, а список снятого лежит в главе рабочим примером того, сколько именно уходит в</a:t>
            </a:r>
          </a:p>
          <a:p>
            <a:r>
              <a:t>брак при честной проверке отраслевого обзора.</a:t>
            </a:r>
          </a:p>
          <a:p>
            <a:r>
              <a:t/>
            </a:r>
          </a:p>
          <a:p>
            <a:r>
              <a:t>И последнее, уже про форму. На этом кадре нет строки «наверняка что-то ещё пропущено». Пробел</a:t>
            </a:r>
          </a:p>
          <a:p>
            <a:r>
              <a:t>либо назван содержательно, либо его нет; оговорка общего вида ничего не сообщает и только</a:t>
            </a:r>
          </a:p>
          <a:p>
            <a:r>
              <a:t>создаёт впечатление, что автор чего-то не договаривает. Три названных куска — это всё, что</a:t>
            </a:r>
          </a:p>
          <a:p>
            <a:r>
              <a:t>вынесено, и каждый из них имеет адрес.</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открывает вечер. Первым он стоит по цене единицы, и важность тут ни при чём. Одно</a:t>
            </a:r>
          </a:p>
          <a:p>
            <a:r>
              <a:t>изображение — самая дешёвая единица выхода из всех пяти модальностей, дешевле следующей на</a:t>
            </a:r>
          </a:p>
          <a:p>
            <a:r>
              <a:t>два-три порядка. Из этого следует всё остальное: практика здесь самая зрелая, потому что</a:t>
            </a:r>
          </a:p>
          <a:p>
            <a:r>
              <a:t>пробовать начали раньше всех и дешевле всех; числа есть по обе стороны счёта, потому что</a:t>
            </a:r>
          </a:p>
          <a:p>
            <a:r>
              <a:t>классический режим тоже измерен; и именно здесь уместно разобрать устройство метода на той</a:t>
            </a:r>
          </a:p>
          <a:p>
            <a:r>
              <a:t>глубине, которой он требует. Всё, что устроено в изображении, повторяется с поправками в звуке,</a:t>
            </a:r>
          </a:p>
          <a:p>
            <a:r>
              <a:t>видео и трёхмерной сцене — разбирать это по второму разу в каждом разделе незачем, поэтому</a:t>
            </a:r>
          </a:p>
          <a:p>
            <a:r>
              <a:t>несущий технический блок вечера стоит здесь.</a:t>
            </a:r>
          </a:p>
          <a:p>
            <a:r>
              <a:t/>
            </a:r>
          </a:p>
          <a:p>
            <a:r>
              <a:t>Три разбора идут по одной форме, и форма эта будет повторяться весь вечер. Сначала называется</a:t>
            </a:r>
          </a:p>
          <a:p>
            <a:r>
              <a:t>цена обеих ошибок — и той, что «сделали и не подошло», и противоположной, «не стали пробовать</a:t>
            </a:r>
          </a:p>
          <a:p>
            <a:r>
              <a:t>вариант, который сработал бы». Потом классические режимы, посчитанные в той же единице, что и</a:t>
            </a:r>
          </a:p>
          <a:p>
            <a:r>
              <a:t>модель: без этого никакое «во столько-то раз дешевле» не читается. Потом модель рядом с ними.</a:t>
            </a:r>
          </a:p>
          <a:p>
            <a:r>
              <a:t>И только потом — что уехало вправо, то есть какая работа, нагрузка или риск появились там, где</a:t>
            </a:r>
          </a:p>
          <a:p>
            <a:r>
              <a:t>их раньше не было. Выигрыш, посчитанный от нуля вместо классического режима, в этом вечере не</a:t>
            </a:r>
          </a:p>
          <a:p>
            <a:r>
              <a:t>принимается ни разу.</a:t>
            </a:r>
          </a:p>
          <a:p>
            <a:r>
              <a:t/>
            </a:r>
          </a:p>
          <a:p>
            <a:r>
              <a:t>У трёх разборов раздела разная полнота второго шага, и это не недостаток материала, а</a:t>
            </a:r>
          </a:p>
          <a:p>
            <a:r>
              <a:t>содержательное различие, которое стоит заметить. У первого оба классических режима посчитаны</a:t>
            </a:r>
          </a:p>
          <a:p>
            <a:r>
              <a:t>числом в одной единице с моделью. У второго классический режим назван по имени, но своего числа</a:t>
            </a:r>
          </a:p>
          <a:p>
            <a:r>
              <a:t>не имеет, и это будет сказано прямо на кадре строкой, а не умолчано. У третьего второго</a:t>
            </a:r>
          </a:p>
          <a:p>
            <a:r>
              <a:t>классического режима не существует вовсе, и названа причина — причём именно этот случай</a:t>
            </a:r>
          </a:p>
          <a:p>
            <a:r>
              <a:t>окажется самым поучительным из трёх, потому что в нём обученной модели в контуре нет, а выигрыш</a:t>
            </a:r>
          </a:p>
          <a:p>
            <a:r>
              <a:t>ей приписывают.</a:t>
            </a:r>
          </a:p>
          <a:p>
            <a:r>
              <a:t/>
            </a:r>
          </a:p>
          <a:p>
            <a:r>
              <a:t>Кроме трёх разборов в разделе будет один правовой — единственный подробный разбор судебного</a:t>
            </a:r>
          </a:p>
          <a:p>
            <a:r>
              <a:t>решения за весь вечер, — и четыре упоминания, каждое с числом. Упоминание без числа в этом</a:t>
            </a:r>
          </a:p>
          <a:p>
            <a:r>
              <a:t>вечере не ставится вовсе: список из имён продуктов — это библиография, и её место в материалах</a:t>
            </a:r>
          </a:p>
          <a:p>
            <a:r>
              <a:t>для чтения, а не на кадре.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любого примера нужно понять, во что именно вмешивается модель. Стадия отвечает за три</a:t>
            </a:r>
          </a:p>
          <a:p>
            <a:r>
              <a:t>смежных продукта, которые в производстве различают строго, потому что у них разные заказчики,</a:t>
            </a:r>
          </a:p>
          <a:p>
            <a:r>
              <a:t>сроки и цены. Концепт-арт — договориться об облике, наружу не выходит, живёт внутри производства</a:t>
            </a:r>
          </a:p>
          <a:p>
            <a:r>
              <a:t>и умирает, когда решение принято. Иллюстрация — идёт в продукт: статью, обложку, рекламный</a:t>
            </a:r>
          </a:p>
          <a:p>
            <a:r>
              <a:t>баннер, карточку товара. Ключевой кадр — одно изображение, задающее визуальный язык всей</a:t>
            </a:r>
          </a:p>
          <a:p>
            <a:r>
              <a:t>кампании, от билборда до баннера в приложении. Путать их при счёте экономии нельзя: сто</a:t>
            </a:r>
          </a:p>
          <a:p>
            <a:r>
              <a:t>концептов стоят столько же, сколько одна доведённая иллюстрация, потому что концепт не доводят.</a:t>
            </a:r>
          </a:p>
          <a:p>
            <a:r>
              <a:t/>
            </a:r>
          </a:p>
          <a:p>
            <a:r>
              <a:t>И прежде чем переходить к цифрам, стоит назвать план самого раздела: когда исполнение</a:t>
            </a:r>
          </a:p>
          <a:p>
            <a:r>
              <a:t>подешевело до нуля, бизнес платит за три вещи — отбор, права, узнавание. Этот раздел</a:t>
            </a:r>
          </a:p>
          <a:p>
            <a:r>
              <a:t>разворачивает первые два: сначала разбор отбора на цене единицы и на домашней видеокарте</a:t>
            </a:r>
          </a:p>
          <a:p>
            <a:r>
              <a:t>редакции, потом права — чем обучена модель и что решил суд. Узнавание — подпись, которая</a:t>
            </a:r>
          </a:p>
          <a:p>
            <a:r>
              <a:t>подтверждается сама собой, — здесь только называется; развёрнутый разбор у него будет в</a:t>
            </a:r>
          </a:p>
          <a:p>
            <a:r>
              <a:t>разделе про голос, где подделка голоса и есть сюжет.</a:t>
            </a:r>
          </a:p>
          <a:p>
            <a:r>
              <a:t/>
            </a:r>
          </a:p>
          <a:p>
            <a:r>
              <a:t>Что на входе: словесное описание задачи — что изображено, в каком настроении, под какой бренд,</a:t>
            </a:r>
          </a:p>
          <a:p>
            <a:r>
              <a:t>с какими ограничениями; к нему прилагаются образцы, фирменные и технические требования. Вопрос,</a:t>
            </a:r>
          </a:p>
          <a:p>
            <a:r>
              <a:t>который на этом решают, короче, чем кажется: «как это выглядит», в отличие от «что это такое»</a:t>
            </a:r>
          </a:p>
          <a:p>
            <a:r>
              <a:t>(чертёж) и «сколько этого» (таблица). Эта граница вернётся отдельным кадром там, где речь пойдёт</a:t>
            </a:r>
          </a:p>
          <a:p>
            <a:r>
              <a:t>о том, почему генератор не заменяет систему автоматизированного проектирования.</a:t>
            </a:r>
          </a:p>
          <a:p>
            <a:r>
              <a:t/>
            </a:r>
          </a:p>
          <a:p>
            <a:r>
              <a:t>Способов получить такие данные четыре, и до 2022 года их было ровно четыре: заказ у исполнителя,</a:t>
            </a:r>
          </a:p>
          <a:p>
            <a:r>
              <a:t>готовое из библиотеки, собственная съёмка под каталог (генерацией не замещается по определению</a:t>
            </a:r>
          </a:p>
          <a:p>
            <a:r>
              <a:t>задачи — нужен именно этот физический предмет), сборка из частей в редакторе. Пятым способом с</a:t>
            </a:r>
          </a:p>
          <a:p>
            <a:r>
              <a:t>2022 года стала генерация.</a:t>
            </a:r>
          </a:p>
          <a:p>
            <a:r>
              <a:t/>
            </a:r>
          </a:p>
          <a:p>
            <a:r>
              <a:t>Решение, которое принимает стадия, одно: утвердить облик до того, как потрачены большие деньги.</a:t>
            </a:r>
          </a:p>
          <a:p>
            <a:r>
              <a:t>Именно поэтому стадия стоит в начале производственного порядка — ошибка здесь дёшево исправляется</a:t>
            </a:r>
          </a:p>
          <a:p>
            <a:r>
              <a:t>и дорого обходится, если пропустить её дальше по циклу. И отсюда наблюдение, из которого вырастет</a:t>
            </a:r>
          </a:p>
          <a:p>
            <a:r>
              <a:t>весь раздел: экономика стадии держится на одном отношении — сколько вариантов можно позволить себе</a:t>
            </a:r>
          </a:p>
          <a:p>
            <a:r>
              <a:t>посмотреть, прежде чем выбрать один. До 2022 года это отношение задавалось ценой одного варианта и</a:t>
            </a:r>
          </a:p>
          <a:p>
            <a:r>
              <a:t>было небольшим — три-четыре эскиза, редко больше.</a:t>
            </a:r>
          </a:p>
          <a:p>
            <a:r>
              <a:t/>
            </a:r>
          </a:p>
          <a:p>
            <a:r>
              <a:t>Классика шла по четырём ступеням, каждая с опубликованной ценой, и единица у всех одна — цена</a:t>
            </a:r>
          </a:p>
          <a:p>
            <a:r>
              <a:t>одной годной картинки. Заказ у исполнителя: типовое задание у фрилансера среднего уровня —</a:t>
            </a:r>
          </a:p>
          <a:p>
            <a:r>
              <a:t>$50–150 со сроком 1–3 дня; часовая ставка по анализу тысячи профилей на бирже — $49,65. Внутри той</a:t>
            </a:r>
          </a:p>
          <a:p>
            <a:r>
              <a:t>же ступени — российский вариант: по выборке из 3 848 анкет иллюстраторов Москвы цифровая</a:t>
            </a:r>
          </a:p>
          <a:p>
            <a:r>
              <a:t>иллюстрация от 3 860 ₽, рекламный баннер — от 500 ₽; оговорка обязательна — это «от», нижняя</a:t>
            </a:r>
          </a:p>
          <a:p>
            <a:r>
              <a:t>граница объявленных ставок, а не среднее по рынку, и если принять её за среднее, российская</a:t>
            </a:r>
          </a:p>
          <a:p>
            <a:r>
              <a:t>классика окажется искусственно дешёвой. Вторая ступень — заказная съёмка под</a:t>
            </a:r>
          </a:p>
          <a:p>
            <a:r>
              <a:t>каталог — сотни долларов, применяется там, где нужен именно этот предмет, и генерацией не</a:t>
            </a:r>
          </a:p>
          <a:p>
            <a:r>
              <a:t>замещается по определению задачи. Третья ступень — микросток двухтысячных: $0,25–1 за штуку,</a:t>
            </a:r>
          </a:p>
          <a:p>
            <a:r>
              <a:t>против «от нескольких сотен до нескольких тысяч» в классических агентствах до него; обвал цены</a:t>
            </a:r>
          </a:p>
          <a:p>
            <a:r>
              <a:t>единицы на три порядка в этой отрасли уже происходил один раз, двадцать лет назад, и рынок уцелел,</a:t>
            </a:r>
          </a:p>
          <a:p>
            <a:r>
              <a:t>разделившись на «дёшево и много» и «дорого и именно это». Четвёртая ступень — штатный дизайнер:</a:t>
            </a:r>
          </a:p>
          <a:p>
            <a:r>
              <a:t>цены нет, есть зарплата и загрузка; это кажется</a:t>
            </a:r>
          </a:p>
          <a:p>
            <a:r>
              <a:t>мелочью, но именно этот режим оказывается классикой у корпоративного заказчика, и именно по нему</a:t>
            </a:r>
          </a:p>
          <a:p>
            <a:r>
              <a:t>публичных чисел почти не бывает. Один из разборов раздела упрётся ровно в эту стену: случай измерен</a:t>
            </a:r>
          </a:p>
          <a:p>
            <a:r>
              <a:t>со стороны модели до последней минуты обучения, а со стороны классики не посчитан, потому что</a:t>
            </a:r>
          </a:p>
          <a:p>
            <a:r>
              <a:t>внутреннюю ставку своего дизайнера компании не публикуют.</a:t>
            </a:r>
          </a:p>
          <a:p>
            <a:r>
              <a:t/>
            </a:r>
          </a:p>
          <a:p>
            <a:r>
              <a:t>Две точки из шестидесятилетней цепочки стоят здесь же памятью о том, что это не первый такой</a:t>
            </a:r>
          </a:p>
          <a:p>
            <a:r>
              <a:t>разговор, и обе устроены одинаково. 1961 год, «101 далматинец»: до ксерографии отдел туши вручную</a:t>
            </a:r>
          </a:p>
          <a:p>
            <a:r>
              <a:t>обводил карандашный рисунок аниматора на целлулоидной плёнке — операция посредничества в чистом</a:t>
            </a:r>
          </a:p>
          <a:p>
            <a:r>
              <a:t>виде, и платили именно за точность переноса. Ксерография перенесла рисунок на целлулоид напрямую:</a:t>
            </a:r>
          </a:p>
          <a:p>
            <a:r>
              <a:t>штат фильма составил примерно половину от «Спящей красавицы» 1959 года. Деталь, которая говорит о</a:t>
            </a:r>
          </a:p>
          <a:p>
            <a:r>
              <a:t>природе таких переходов больше, чем числа: сюжет про девяносто девять пятнистых щенков выбрали</a:t>
            </a:r>
          </a:p>
          <a:p>
            <a:r>
              <a:t>потому, что новый способ сделал его выполнимым — вручную отрисовать все пятна было нереально.</a:t>
            </a:r>
          </a:p>
          <a:p>
            <a:r>
              <a:t>Инструмент определил содержание. И тут же — то, что уехало вправо: узнаваемое неряшливое</a:t>
            </a:r>
          </a:p>
          <a:p>
            <a:r>
              <a:t>начертание линии шестидесятых, которое раньше вычищала тушь; Уолт Дисней его публично не любил.</a:t>
            </a:r>
          </a:p>
          <a:p>
            <a:r>
              <a:t/>
            </a:r>
          </a:p>
          <a:p>
            <a:r>
              <a:t>1990 год, Photoshop 1.0, вышел 19 февраля. До него профессиональная ретушь шла на выделенных</a:t>
            </a:r>
          </a:p>
          <a:p>
            <a:r>
              <a:t>системах класса Scitex по цене около $300 за час; лицензия Photoshop стоила $895 единовременно —</a:t>
            </a:r>
          </a:p>
          <a:p>
            <a:r>
              <a:t>окупалась меньше чем за три часа работы на Scitex. Падение цены часа — примерно три порядка, и</a:t>
            </a:r>
          </a:p>
          <a:p>
            <a:r>
              <a:t>вместе с ним исчез допечатный цех. Ретушёр при этом никуда не делся: он пересел за другой</a:t>
            </a:r>
          </a:p>
          <a:p>
            <a:r>
              <a:t>инструмент. Уехало вправо здесь то же самое, только заметно меньше: правка перестала быть событием,</a:t>
            </a:r>
          </a:p>
          <a:p>
            <a:r>
              <a:t>которое кто-то заказывал, оплачивал и принимал, — и отсюда растёт весь последующий спор о том,</a:t>
            </a:r>
          </a:p>
          <a:p>
            <a:r>
              <a:t>можно ли верить опубликованному снимку. Этот спор не закрыт до сих пор, и в разделах про голос и</a:t>
            </a:r>
          </a:p>
          <a:p>
            <a:r>
              <a:t>про происхождение он вернётся в точности в той же форме.</a:t>
            </a:r>
          </a:p>
          <a:p>
            <a:r>
              <a:t/>
            </a:r>
          </a:p>
          <a:p>
            <a:r>
              <a:t>Общее у двух точек — та самая форма, ради которой они стоят здесь. Исчезла операция, а не</a:t>
            </a:r>
          </a:p>
          <a:p>
            <a:r>
              <a:t>профессия. Объём произведённого вырос сильнее, чем упала цена. И в обоих случаях возник спор о</a:t>
            </a:r>
          </a:p>
          <a:p>
            <a:r>
              <a:t>подлинности результата, который не был закрыт техническим аргументом — закрылся он тем, что</a:t>
            </a:r>
          </a:p>
          <a:p>
            <a:r>
              <a:t>сменилось поколение и новая норма перестала казаться спорной.</a:t>
            </a:r>
          </a:p>
          <a:p>
            <a:r>
              <a:t/>
            </a:r>
          </a:p>
          <a:p>
            <a:r>
              <a:t>Вот на этом фоне и надо читать то, что начинается дальше. Первым желанием будет поставить</a:t>
            </a:r>
          </a:p>
          <a:p>
            <a:r>
              <a:t>генерацию в тот же ряд третьей точкой — и это желание надо проверить, а не принять. Проверка</a:t>
            </a:r>
          </a:p>
          <a:p>
            <a:r>
              <a:t>окажется отрицательной: у генерации другой разряд, потому что дешевеет не исполнение уже принятого</a:t>
            </a:r>
          </a:p>
          <a:p>
            <a:r>
              <a:t>решения, а момент до решения — исчезла цена ошибочной пробы, а не цена переноса с одного носителя</a:t>
            </a:r>
          </a:p>
          <a:p>
            <a:r>
              <a:t>на другой. Но чтобы это различие увидеть, надо сначала как следует разглядеть, как выглядят</a:t>
            </a:r>
          </a:p>
          <a:p>
            <a:r>
              <a:t>настоящие удешевления исполнения, — для этого кадр и нужен.</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из трёх разборов раздела, и у него самая полная форма: оба классических режима</a:t>
            </a:r>
          </a:p>
          <a:p>
            <a:r>
              <a:t>посчитаны числом в той же единице, что и модель. Таких случаев за весь вечер немного, и стоит</a:t>
            </a:r>
          </a:p>
          <a:p>
            <a:r>
              <a:t>замечать, когда они встречаются. Адрес платежа — отбор: вся дешевизна генерации тут же</a:t>
            </a:r>
          </a:p>
          <a:p>
            <a:r>
              <a:t>создаёт работу по выбору годного кадра, и дальше разбор считает именно её.</a:t>
            </a:r>
          </a:p>
          <a:p>
            <a:r>
              <a:t/>
            </a:r>
          </a:p>
          <a:p>
            <a:r>
              <a:t>Шаг первый — цена обеих ошибок. В классическом режиме цена ошибки «заказали и не подошло»</a:t>
            </a:r>
          </a:p>
          <a:p>
            <a:r>
              <a:t>называется прямо: одно задание исполнителю — $50–150 и 1–3 дня, в России от 3 860 ₽. Цена</a:t>
            </a:r>
          </a:p>
          <a:p>
            <a:r>
              <a:t>противоположной ошибки — «не стали пробовать вариант, который сработал бы» — числом в</a:t>
            </a:r>
          </a:p>
          <a:p>
            <a:r>
              <a:t>источниках по мировому рынку не названа ни разу. Это важно признать, а не заполнить оценкой:</a:t>
            </a:r>
          </a:p>
          <a:p>
            <a:r>
              <a:t>именно вторая ошибка и есть предмет всего вечера, и то, что её почти никто не считает, само по</a:t>
            </a:r>
          </a:p>
          <a:p>
            <a:r>
              <a:t>себе содержательно. Измеренное значение для неё в этом разделе всё-таки появится, но из другого</a:t>
            </a:r>
          </a:p>
          <a:p>
            <a:r>
              <a:t>источника — из материала редакции, разбираемого следующим кадром, с явным указанием, откуда</a:t>
            </a:r>
          </a:p>
          <a:p>
            <a:r>
              <a:t>взято.</a:t>
            </a:r>
          </a:p>
          <a:p>
            <a:r>
              <a:t/>
            </a:r>
          </a:p>
          <a:p>
            <a:r>
              <a:t>Шаг второй — оба классических режима, посчитанные той же ценой. Заказная работа: $50–150 за</a:t>
            </a:r>
          </a:p>
          <a:p>
            <a:r>
              <a:t>задание со сроком 1–3 дня, часовая ставка $49,65 по анализу тысячи профилей, в России — от</a:t>
            </a:r>
          </a:p>
          <a:p>
            <a:r>
              <a:t>3 860 ₽ по выборке из 3 848 анкет. Готовое из библиотеки: $130–499 в рознице, ≈$2,50 оптом по</a:t>
            </a:r>
          </a:p>
          <a:p>
            <a:r>
              <a:t>подписке, микросток двухтысячных — $0,25–1. Единица у всех одна: доллар за изображение. Одно</a:t>
            </a:r>
          </a:p>
          <a:p>
            <a:r>
              <a:t>допущение проговаривается вслух, потому что без него счёт нечестен: «за задание» приравнено к</a:t>
            </a:r>
          </a:p>
          <a:p>
            <a:r>
              <a:t>«за изображение», тогда как задание у исполнителя нередко включает правки и несколько ракурсов;</a:t>
            </a:r>
          </a:p>
          <a:p>
            <a:r>
              <a:t>если это учесть, разрыв сократится — насколько именно, по открытым источникам сказать нельзя.</a:t>
            </a:r>
          </a:p>
          <a:p>
            <a:r>
              <a:t/>
            </a:r>
          </a:p>
          <a:p>
            <a:r>
              <a:t>И здесь же — вторая половина классического режима, которая ломается изнутри, без всякого</a:t>
            </a:r>
          </a:p>
          <a:p>
            <a:r>
              <a:t>участия генеративных моделей. Розничная лицензия на одно изображение стоит $130–499; по</a:t>
            </a:r>
          </a:p>
          <a:p>
            <a:r>
              <a:t>подписке, оптом, то же самое изображение обходится ≈$2,50. Это один товар, один поставщик, один</a:t>
            </a:r>
          </a:p>
          <a:p>
            <a:r>
              <a:t>прейскурант — и разница между двумя строками в нём составляет от пятидесяти до двухсот раз.</a:t>
            </a:r>
          </a:p>
          <a:p>
            <a:r>
              <a:t>Разница эта не аномалия: розницу берут разово, под конкретный материал, когда нужна именно эта</a:t>
            </a:r>
          </a:p>
          <a:p>
            <a:r>
              <a:t>картинка сегодня; опт берут потоком, под поток задач. Разные покупатели, разные договоры. Отсюда</a:t>
            </a:r>
          </a:p>
          <a:p>
            <a:r>
              <a:t>практическое правило, которое стоит унести прежде любого отраслевого обзора: услышав «в тысячу</a:t>
            </a:r>
          </a:p>
          <a:p>
            <a:r>
              <a:t>раз дешевле», спрашивайте не про генерацию, а про то, какую именно классику взяли базой. Вопрос</a:t>
            </a:r>
          </a:p>
          <a:p>
            <a:r>
              <a:t>короткий и отсеивает большинство громких сравнений — в них база либо не названа вовсе, либо</a:t>
            </a:r>
          </a:p>
          <a:p>
            <a:r>
              <a:t>названа общим словом вроде «стоковое изображение», за которым скрываются два тарифа, отличающиеся</a:t>
            </a:r>
          </a:p>
          <a:p>
            <a:r>
              <a:t>на два порядка. Собирая собственный счёт, правило работает и в обратную сторону: называйте базу</a:t>
            </a:r>
          </a:p>
          <a:p>
            <a:r>
              <a:t>первым, а не «дешевле в столько-то раз» — без названной базы число не переживает первого же</a:t>
            </a:r>
          </a:p>
          <a:p>
            <a:r>
              <a:t>вопроса.</a:t>
            </a:r>
          </a:p>
          <a:p>
            <a:r>
              <a:t/>
            </a:r>
          </a:p>
          <a:p>
            <a:r>
              <a:t>Шаг третий — модель. Изображение 1024×1024 у программного доступа Google стоит $0,0336, в</a:t>
            </a:r>
          </a:p>
          <a:p>
            <a:r>
              <a:t>двойном разрешении — $0,05, в четырёхкратном — $0,113. Midjourney по базовой подписке и Adobe</a:t>
            </a:r>
          </a:p>
          <a:p>
            <a:r>
              <a:t>Firefly на базовом тарифе дают примерно по пять центов. Против заказной работы это разрыв в</a:t>
            </a:r>
          </a:p>
          <a:p>
            <a:r>
              <a:t>1 000–4 500 раз, против розницы стока — до 14 700, против опта — 73. Три разных базы дают три</a:t>
            </a:r>
          </a:p>
          <a:p>
            <a:r>
              <a:t>разных числа, и все три надо называть вместе: иначе выбор базы делает вывод за слушателя.</a:t>
            </a:r>
          </a:p>
          <a:p>
            <a:r>
              <a:t/>
            </a:r>
          </a:p>
          <a:p>
            <a:r>
              <a:t>Отдельная строка здесь важнее всех трёх предыдущих. Собственный вывод на арендованной</a:t>
            </a:r>
          </a:p>
          <a:p>
            <a:r>
              <a:t>видеокарте: SDXL на RTX 4090 при аренде $0,89 в час и скорости ≈2,6 секунды на изображение даёт</a:t>
            </a:r>
          </a:p>
          <a:p>
            <a:r>
              <a:t>$0,64 за тысячу изображений — против $33,60 за ту же тысячу у программного доступа, то есть в</a:t>
            </a:r>
          </a:p>
          <a:p>
            <a:r>
              <a:t>30–50 раз дешевле. И у этой дешевизны три названные цены, ни одна из которых не попадает в</a:t>
            </a:r>
          </a:p>
          <a:p>
            <a:r>
              <a:t>прейскурант. Первая — лицензия на веса: самая качественная из дешёвых моделей распространяется</a:t>
            </a:r>
          </a:p>
          <a:p>
            <a:r>
              <a:t>некоммерчески, открытые альтернативы слабее. Вторая — полная загрузка карты: карта, арендованная</a:t>
            </a:r>
          </a:p>
          <a:p>
            <a:r>
              <a:t>на час и простоявшая сорок минут, стоит те же $0,89, и при ста изображениях в час выходит $8,90</a:t>
            </a:r>
          </a:p>
          <a:p>
            <a:r>
              <a:t>за тысячу — дороже некоторых тарифов. Третья — инженер, которого ни в одном из расчётов нет.</a:t>
            </a:r>
          </a:p>
          <a:p>
            <a:r>
              <a:t/>
            </a:r>
          </a:p>
          <a:p>
            <a:r>
              <a:t>Шаг четвёртый — как устроено. На входе текстовое описание плюс необязательные опорные</a:t>
            </a:r>
          </a:p>
          <a:p>
            <a:r>
              <a:t>изображения и адаптеры. На выходе растровое изображение заданного размера, причём размер задан</a:t>
            </a:r>
          </a:p>
          <a:p>
            <a:r>
              <a:t>до запуска, и остановиться раньше нельзя. Чем обучена модель, раскрыто только у открытых:</a:t>
            </a:r>
          </a:p>
          <a:p>
            <a:r>
              <a:t>Stable Diffusion первой версии — на 2,32 млрд пар «изображение — текст», 150 000 часов на A100.</a:t>
            </a:r>
          </a:p>
          <a:p>
            <a:r>
              <a:t>У закрытых моделей состав обучающего набора не раскрывается — это свойство рынка, а не упущение</a:t>
            </a:r>
          </a:p>
          <a:p>
            <a:r>
              <a:t>исследования. И честный пробел: как правка пользователя возвращается в обучение закрытой</a:t>
            </a:r>
          </a:p>
          <a:p>
            <a:r>
              <a:t>модели, прямым поиском выяснить не удалось.</a:t>
            </a:r>
          </a:p>
          <a:p>
            <a:r>
              <a:t/>
            </a:r>
          </a:p>
          <a:p>
            <a:r>
              <a:t>Шаг пятый — что уехало вправо. Время переехало с исполнения на отбор и доводку: цена одной</a:t>
            </a:r>
          </a:p>
          <a:p>
            <a:r>
              <a:t>попытки обнулилась, цена выбора — нет. Отсюда правило, которое уносится из разбора и работает</a:t>
            </a:r>
          </a:p>
          <a:p>
            <a:r>
              <a:t>дальше по всему вечеру: единица учёта — то, что ушло заказчику, а не то, что сгенерировано.</a:t>
            </a:r>
          </a:p>
          <a:p>
            <a:r>
              <a:t>Любая экономия, посчитанная по прейскуранту за генерацию, завышена ровно во столько раз, каков</a:t>
            </a:r>
          </a:p>
          <a:p>
            <a:r>
              <a:t>коэффициент отбора. И коэффициент этот никто, кроме вас, для вашей задачи не измерит: публичных</a:t>
            </a:r>
          </a:p>
          <a:p>
            <a:r>
              <a:t>замеров того, сколько генераций приходится на годный кадр, в открытом поле практически не</a:t>
            </a:r>
          </a:p>
          <a:p>
            <a:r>
              <a:t>существует. Единственное защитимое отношение — сотни планов против нескольких десятков вошедших</a:t>
            </a:r>
          </a:p>
          <a:p>
            <a:r>
              <a:t>в минутный ролик (кадр Toys «R» Us Studios × Native Foreign). Всё остальное, что ходит по</a:t>
            </a:r>
          </a:p>
          <a:p>
            <a:r>
              <a:t>отраслевым обзорам под видом такого отношения, при проверке оказывается материалом сайтов,</a:t>
            </a:r>
          </a:p>
          <a:p>
            <a:r>
              <a:t>продающих генерацию, без методики и без выборки.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российский случай для инженерной аудитории полезнее прочих в разделе по одной причине: в</a:t>
            </a:r>
          </a:p>
          <a:p>
            <a:r>
              <a:t>первоисточнике названы железо, время и размер набора данных — то есть всё, что нужно, чтобы</a:t>
            </a:r>
          </a:p>
          <a:p>
            <a:r>
              <a:t>повторить. Публикация — «Тинькофф Журнал», двадцатое марта 2023 года.</a:t>
            </a:r>
          </a:p>
          <a:p>
            <a:r>
              <a:t/>
            </a:r>
          </a:p>
          <a:p>
            <a:r>
              <a:t>Начать приходится со снятого утверждения, и снято оно прямым чтением первоисточника. Отраслевой</a:t>
            </a:r>
          </a:p>
          <a:p>
            <a:r>
              <a:t>обзор утверждает, что редакция полностью отказалась от фотостоков и делает иллюстрации в</a:t>
            </a:r>
          </a:p>
          <a:p>
            <a:r>
              <a:t>Kandinsky. В самой публикации нет ни отказа от стоков, ни Kandinsky: названы Midjourney и</a:t>
            </a:r>
          </a:p>
          <a:p>
            <a:r>
              <a:t>Stable Diffusion, и речь идёт о рекламных баннерах, а не об иллюстрациях к материалам.</a:t>
            </a:r>
          </a:p>
          <a:p>
            <a:r>
              <a:t>Утверждение обзора использовать нельзя. Стоит проговорить обычную механику отраслевых</a:t>
            </a:r>
          </a:p>
          <a:p>
            <a:r>
              <a:t>пересказов, потому что встречаться с ней придётся постоянно: вторичный источник сжимает случай</a:t>
            </a:r>
          </a:p>
          <a:p>
            <a:r>
              <a:t>до запоминающейся формулы, формула расходится по десяткам публикаций, а проверяет её один</a:t>
            </a:r>
          </a:p>
          <a:p>
            <a:r>
              <a:t>человек из ста. Привычка открыть первоисточник прежде, чем процитировать, здесь экономит не</a:t>
            </a:r>
          </a:p>
          <a:p>
            <a:r>
              <a:t>репутацию, а время — потому что пересказ обычно теряет ровно те подробности, ради которых</a:t>
            </a:r>
          </a:p>
          <a:p>
            <a:r>
              <a:t>случай и был интересен.</a:t>
            </a:r>
          </a:p>
          <a:p>
            <a:r>
              <a:t/>
            </a:r>
          </a:p>
          <a:p>
            <a:r>
              <a:t>Шаг первый — цена обеих ошибок, и это редкий случай, когда обе названы в одной единице и</a:t>
            </a:r>
          </a:p>
          <a:p>
            <a:r>
              <a:t>названы самой командой. Две трети баннеров нужной кликабельности не дали. Лучший баннер</a:t>
            </a:r>
          </a:p>
          <a:p>
            <a:r>
              <a:t>оказался в два—три раза эффективнее среднего. Конверсия держалась на двадцати пяти—тридцати</a:t>
            </a:r>
          </a:p>
          <a:p>
            <a:r>
              <a:t>процентах. Единица — доля попаданий. Именно отсюда предыдущий разбор берёт цену своей второй</a:t>
            </a:r>
          </a:p>
          <a:p>
            <a:r>
              <a:t>ошибки, той самой «не стали пробовать вариант, который сработал бы»: если лучший вдвое-втрое</a:t>
            </a:r>
          </a:p>
          <a:p>
            <a:r>
              <a:t>лучше среднего, то каждый непросмотренный вариант — это недополученный множитель, и теперь он</a:t>
            </a:r>
          </a:p>
          <a:p>
            <a:r>
              <a:t>измерен, а не назван на словах.</a:t>
            </a:r>
          </a:p>
          <a:p>
            <a:r>
              <a:t/>
            </a:r>
          </a:p>
          <a:p>
            <a:r>
              <a:t>Шаг второй — и здесь разбор упирается в стену, которую надо назвать вслух, а не обойти. Режим</a:t>
            </a:r>
          </a:p>
          <a:p>
            <a:r>
              <a:t>назван и не посчитан. Публикация называет классику по имени — «дизайнер под каждую задачу», —</a:t>
            </a:r>
          </a:p>
          <a:p>
            <a:r>
              <a:t>но ни стоимости, ни срока одного баннера у дизайнера до модели в ней нет. Второго классического</a:t>
            </a:r>
          </a:p>
          <a:p>
            <a:r>
              <a:t>режима, закупки стоков под поток баннеров, публикация не называет вовсе. Что именно нужно найти,</a:t>
            </a:r>
          </a:p>
          <a:p>
            <a:r>
              <a:t>чтобы сравнение стало полным: внутреннюю ставку дизайнера и срок на один</a:t>
            </a:r>
          </a:p>
          <a:p>
            <a:r>
              <a:t>рекламный баннер в российском медиа 2022–2023 годов. Ближайшая доступная опора — та же страница</a:t>
            </a:r>
          </a:p>
          <a:p>
            <a:r>
              <a:t>цен, где рекламный баннер стоит от пятисот рублей, но прямого замера по этой редакции нет, и</a:t>
            </a:r>
          </a:p>
          <a:p>
            <a:r>
              <a:t>подставлять чужое число на пустое место нельзя. Пробел называется, а не заполняется.</a:t>
            </a:r>
          </a:p>
          <a:p>
            <a:r>
              <a:t/>
            </a:r>
          </a:p>
          <a:p>
            <a:r>
              <a:t>Шаг третий — модель. Двадцать три визуализации для первого запущенного курса, затем сорок шесть</a:t>
            </a:r>
          </a:p>
          <a:p>
            <a:r>
              <a:t>уникальных плакатов за февраль. На одну итоговую иллюстрацию уходит тридцать—сто сгенерированных</a:t>
            </a:r>
          </a:p>
          <a:p>
            <a:r>
              <a:t>изображений и около получаса. Перепробовано двенадцать разных моделей.</a:t>
            </a:r>
          </a:p>
          <a:p>
            <a:r>
              <a:t/>
            </a:r>
          </a:p>
          <a:p>
            <a:r>
              <a:t>Шаг четвёртый — как устроено, и ради этого шага случай и выбран. На входе текстовое описание</a:t>
            </a:r>
          </a:p>
          <a:p>
            <a:r>
              <a:t>плюс набор из сорока изображений для дообучения. На выходе растровый рекламный баннер. Основная</a:t>
            </a:r>
          </a:p>
          <a:p>
            <a:r>
              <a:t>модель — Stable Diffusion плюс специализированные; оборудование названо прямо: ноутбук с RTX</a:t>
            </a:r>
          </a:p>
          <a:p>
            <a:r>
              <a:t>3080 на шестнадцать гигабайт, дообучение заняло полтора часа. Обучено на собственном наборе из</a:t>
            </a:r>
          </a:p>
          <a:p>
            <a:r>
              <a:t>сорока изображений поверх общедоступной базовой модели. Чего в публикации нет: каким именно</a:t>
            </a:r>
          </a:p>
          <a:p>
            <a:r>
              <a:t>способом дообучали — адаптером, текстовой инверсией или полным дообучением модели. Полтора часа</a:t>
            </a:r>
          </a:p>
          <a:p>
            <a:r>
              <a:t>на одной игровой карте по порядку величины соответствуют именно адаптеру, но это наш вывод, а</a:t>
            </a:r>
          </a:p>
          <a:p>
            <a:r>
              <a:t>не факт публикации, и подавать его надо именно так.</a:t>
            </a:r>
          </a:p>
          <a:p>
            <a:r>
              <a:t/>
            </a:r>
          </a:p>
          <a:p>
            <a:r>
              <a:t>Отдельно про людей, потому что это меняет прочтение случая. Таргетолог отбирает одну</a:t>
            </a:r>
          </a:p>
          <a:p>
            <a:r>
              <a:t>иллюстрацию из тридцати—ста и доводит её. Контур обратной связи замкнут: показатель</a:t>
            </a:r>
          </a:p>
          <a:p>
            <a:r>
              <a:t>кликабельности баннера возвращается к тому же человеку, который выбирает следующий. В команде —</a:t>
            </a:r>
          </a:p>
          <a:p>
            <a:r>
              <a:t>старший таргетолог, таргетолог, редактор и дизайнер. Слова «инженер» в источнике нет вовсе, и</a:t>
            </a:r>
          </a:p>
          <a:p>
            <a:r>
              <a:t>ставить его туда нельзя: дообучение модели на домашней видеокарте здесь сделали люди, у которых</a:t>
            </a:r>
          </a:p>
          <a:p>
            <a:r>
              <a:t>в должности не написано «разработчик».</a:t>
            </a:r>
          </a:p>
          <a:p>
            <a:r>
              <a:t/>
            </a:r>
          </a:p>
          <a:p>
            <a:r>
              <a:t>Шаг пятый — что уехало вправо. Порог входа переехал на то, что у студента физически есть:</a:t>
            </a:r>
          </a:p>
          <a:p>
            <a:r>
              <a:t>ноутбук, сорок картинок, полтора часа. Вправо уехал отбор — тридцать—сто генераций и полчаса</a:t>
            </a:r>
          </a:p>
          <a:p>
            <a:r>
              <a:t>просмотра на одну пригодную иллюстрацию, и две трети результата всё равно брак по целевому</a:t>
            </a:r>
          </a:p>
          <a:p>
            <a:r>
              <a:t>показателю. Это та же форма, что в мировых случаях, только измеренная в штуках вместо метафор.</a:t>
            </a:r>
          </a:p>
          <a:p>
            <a:r>
              <a:t>И ровно здесь видно содержание вечера, предъявленное самым дешёвым возможным способом: выигрыш</a:t>
            </a:r>
          </a:p>
          <a:p>
            <a:r>
              <a:t>берётся не из того, что модель делает правильно с первого раза, — он берётся из того, что цена</a:t>
            </a:r>
          </a:p>
          <a:p>
            <a:r>
              <a:t>одной неудачной попытки упала до нуля, и поэтому попыток стало сто.</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разбор раздела стоит контрапунктом, и провал условия отбора в нём — содержание, а не</a:t>
            </a:r>
          </a:p>
          <a:p>
            <a:r>
              <a:t>дефект. Условие это простое и применяется ко всякому случаю весь вечер: изменение должно быть</a:t>
            </a:r>
          </a:p>
          <a:p>
            <a:r>
              <a:t>вызвано именно обученной моделью, а проверяется это одним мысленным действием — убрать модель и</a:t>
            </a:r>
          </a:p>
          <a:p>
            <a:r>
              <a:t>посмотреть, что останется.</a:t>
            </a:r>
          </a:p>
          <a:p>
            <a:r>
              <a:t/>
            </a:r>
          </a:p>
          <a:p>
            <a:r>
              <a:t>Шаг первый — цена ошибки, названная инженерно и в той единице, в которой её считает отрасль.</a:t>
            </a:r>
          </a:p>
          <a:p>
            <a:r>
              <a:t>Лишний килограмм в салоне самолёта — это топливо на весь срок службы машины. Оценка Airbus при</a:t>
            </a:r>
          </a:p>
          <a:p>
            <a:r>
              <a:t>распространении подхода на портфель заказов A320 — до 465 000 тонн CO₂ в год. Это и есть база,</a:t>
            </a:r>
          </a:p>
          <a:p>
            <a:r>
              <a:t>относительно которой читается всё остальное: экономия массы здесь не эстетическая и не</a:t>
            </a:r>
          </a:p>
          <a:p>
            <a:r>
              <a:t>маркетинговая, она прямо переводится в топливо и в выбросы.</a:t>
            </a:r>
          </a:p>
          <a:p>
            <a:r>
              <a:t/>
            </a:r>
          </a:p>
          <a:p>
            <a:r>
              <a:t>Шаг второй — классические режимы, и вот где случай отличается от двух предыдущих разборов</a:t>
            </a:r>
          </a:p>
          <a:p>
            <a:r>
              <a:t>раздела. Второго режима в задаче нет, и причина названа: критерий отбора здесь задан физикой.</a:t>
            </a:r>
          </a:p>
          <a:p>
            <a:r>
              <a:t>Перегородка должна держать нагрузку при минимальной массе — проверяемое условие, про любой</a:t>
            </a:r>
          </a:p>
          <a:p>
            <a:r>
              <a:t>вариант за секунду можно сказать, выполнено оно или нарушено. Поэтому альтернатива ровно одна:</a:t>
            </a:r>
          </a:p>
          <a:p>
            <a:r>
              <a:t>обычный расчёт и проектирование перегородки, посчитанная в той же единице: 65 кг против 35, то</a:t>
            </a:r>
          </a:p>
          <a:p>
            <a:r>
              <a:t>есть −45% массы. «Второго режима не существует» — это полноценный вердикт, а не пробел</a:t>
            </a:r>
          </a:p>
          <a:p>
            <a:r>
              <a:t>исследования: пробел говорит, что мы чего-то не нашли, вердикт говорит, что искать нечего.</a:t>
            </a:r>
          </a:p>
          <a:p>
            <a:r>
              <a:t/>
            </a:r>
          </a:p>
          <a:p>
            <a:r>
              <a:t>Шаг третий — и здесь разбор переворачивается. Обученной модели в контуре нет вовсе. Autodesk</a:t>
            </a:r>
          </a:p>
          <a:p>
            <a:r>
              <a:t>Project Dreamcatcher перебрал десятки тысяч вариантов геометрии по заданной модели клеточного</a:t>
            </a:r>
          </a:p>
          <a:p>
            <a:r>
              <a:t>роста кости. Это оптимизация под заданный критерий: алгоритм генерирует варианты, считает для</a:t>
            </a:r>
          </a:p>
          <a:p>
            <a:r>
              <a:t>каждого целевую функцию и отбрасывает худшие. Ни обучения на данных, ни весов, ни выученного</a:t>
            </a:r>
          </a:p>
          <a:p>
            <a:r>
              <a:t>распределения здесь нет ни в каком виде. Зачем тогда этот случай в лекции: он ходит по</a:t>
            </a:r>
          </a:p>
          <a:p>
            <a:r>
              <a:t>отраслевым обзорам как пример того, что «искусственный интеллект спроектировал деталь самолёта и</a:t>
            </a:r>
          </a:p>
          <a:p>
            <a:r>
              <a:t>облегчил её на 45%», и это ошибка ровно того класса, который весь вечер разбирается. Приписать</a:t>
            </a:r>
          </a:p>
          <a:p>
            <a:r>
              <a:t>выигрыш обученной модели там, где его дала классическая оптимизация, ведёт к неверному решению в</a:t>
            </a:r>
          </a:p>
          <a:p>
            <a:r>
              <a:t>собственном проекте: человек, поверивший такому обзору, потратит месяцы на инструмент, который</a:t>
            </a:r>
          </a:p>
          <a:p>
            <a:r>
              <a:t>для этой задачи не нужен, вместо того чтобы взять решатель, считающий прочность.</a:t>
            </a:r>
          </a:p>
          <a:p>
            <a:r>
              <a:t/>
            </a:r>
          </a:p>
          <a:p>
            <a:r>
              <a:t>Шаг четвёртый — как устроено. На входе нагрузки, граничные условия и целевая функция. На выходе</a:t>
            </a:r>
          </a:p>
          <a:p>
            <a:r>
              <a:t>геометрия детали, напечатанная на металлическом принтере из сплава Scalmalloy — на тот момент</a:t>
            </a:r>
          </a:p>
          <a:p>
            <a:r>
              <a:t>крупнейшая напечатанная деталь салона самолёта. Обучено ни на чём — обучения в контуре нет вовсе.</a:t>
            </a:r>
          </a:p>
          <a:p>
            <a:r>
              <a:t>Стоит заметить и обратное: порождающее проектирование не стало от этого слабее. Оно действительно</a:t>
            </a:r>
          </a:p>
          <a:p>
            <a:r>
              <a:t>дало 45% массы, и дало их средствами, которые инженер в состоянии проверить расчётом, — именно</a:t>
            </a:r>
          </a:p>
          <a:p>
            <a:r>
              <a:t>эта проверяемость и делает случай удобным образцом того, как читается всякий отраслевой обзор.</a:t>
            </a:r>
          </a:p>
          <a:p>
            <a:r>
              <a:t/>
            </a:r>
          </a:p>
          <a:p>
            <a:r>
              <a:t>Шаг пятый — условие отбора, применённое буквально. Оно отделяет случаи, где модель что-то</a:t>
            </a:r>
          </a:p>
          <a:p>
            <a:r>
              <a:t>изменила, от случаев, где она просто присутствовала в рассказе. Проверим на перегородке: уберите</a:t>
            </a:r>
          </a:p>
          <a:p>
            <a:r>
              <a:t>обученную модель — перебор по критерию остаётся, расчёт прочности остаётся, печать из сплава</a:t>
            </a:r>
          </a:p>
          <a:p>
            <a:r>
              <a:t>остаётся, выигрыш в 45% массы остаётся. Не остаётся ничего, что исчезло бы вместе с моделью,</a:t>
            </a:r>
          </a:p>
          <a:p>
            <a:r>
              <a:t>потому что модели в контуре не было. Условие не проходит. Теперь проверим на соседнем разборе</a:t>
            </a:r>
          </a:p>
          <a:p>
            <a:r>
              <a:t>раздела, где редакция дообучала модель на сорока картинках: уберите модель — останутся сорок</a:t>
            </a:r>
          </a:p>
          <a:p>
            <a:r>
              <a:t>картинок и ноутбук, но сорока шести уникальных плакатов за февраль не останется. Условие проходит,</a:t>
            </a:r>
          </a:p>
          <a:p>
            <a:r>
              <a:t>и случай засчитывается — даже при том, что классическая сторона в нём не посчитана. Третий класс,</a:t>
            </a:r>
          </a:p>
          <a:p>
            <a:r>
              <a:t>самый частый в отраслевых обзорах и в этом сравнении не представленный, — случаи, где модели не</a:t>
            </a:r>
          </a:p>
          <a:p>
            <a:r>
              <a:t>было вовсе, а слово «искусственный интеллект» появилось только в пересказе.</a:t>
            </a:r>
          </a:p>
          <a:p>
            <a:r>
              <a:t/>
            </a:r>
          </a:p>
          <a:p>
            <a:r>
              <a:t>Что уехало вправо, и почему разбор стоит именно в разделе про изображение. Переехал критерий</a:t>
            </a:r>
          </a:p>
          <a:p>
            <a:r>
              <a:t>отбора. Там, где критерий задан физикой, спора об авторстве не возникает вовсе: никто не</a:t>
            </a:r>
          </a:p>
          <a:p>
            <a:r>
              <a:t>спрашивает, кому принадлежит перегородка, потому что ответ «той, что весит 35 кг и проходит</a:t>
            </a:r>
          </a:p>
          <a:p>
            <a:r>
              <a:t>расчёт» устраивает всех. Спор появляется ровно там, где критерий вкусовой, — и весь остальной</a:t>
            </a:r>
          </a:p>
          <a:p>
            <a:r>
              <a:t>вечер именно про это: концепт, иллюстрация, ключевой кадр, голос, лицо, музыкальный трек — во</a:t>
            </a:r>
          </a:p>
          <a:p>
            <a:r>
              <a:t>всех этих задачах нет проверяемого предиката, по которому можно сказать «вот этот вариант</a:t>
            </a:r>
          </a:p>
          <a:p>
            <a:r>
              <a:t>правильный». Поэтому отбор там делает человек, поэтому он стоит денег, и поэтому спор об</a:t>
            </a:r>
          </a:p>
          <a:p>
            <a:r>
              <a:t>авторстве не закрывается техническим аргументом.</a:t>
            </a:r>
          </a:p>
          <a:p>
            <a:r>
              <a:t/>
            </a:r>
          </a:p>
          <a:p>
            <a:r>
              <a:t>Отсюда навык, который курс ставит выше знания конкретных инструментов: прежде чем приписывать</a:t>
            </a:r>
          </a:p>
          <a:p>
            <a:r>
              <a:t>выигрыш обученной модели, уберите её мысленно из контура и посмотрите, что останется. Привычка</a:t>
            </a:r>
          </a:p>
          <a:p>
            <a:r>
              <a:t>дешёвая — минута, без доступа к системе и без разговора с поставщиком, — а отсеивает она именно</a:t>
            </a:r>
          </a:p>
          <a:p>
            <a:r>
              <a:t>ту долю отраслевых обзоров, на которой строятся неверные решения о собственном проекте. Типичное</a:t>
            </a:r>
          </a:p>
          <a:p>
            <a:r>
              <a:t>возражение — «но ведь порождающее проектирование тоже называют генеративным». Называют, и</a:t>
            </a:r>
          </a:p>
          <a:p>
            <a:r>
              <a:t>путаница не случайна: слово одно, а классы инструментов разные. Развести их просто: спросите, на</a:t>
            </a:r>
          </a:p>
          <a:p>
            <a:r>
              <a:t>чём инструмент обучен; если ответ «ни на чём, он считает» — перед вами оптимизация. Второе</a:t>
            </a:r>
          </a:p>
          <a:p>
            <a:r>
              <a:t>возражение — «какая разница, если результат получен»: разница появляется, когда результат</a:t>
            </a:r>
          </a:p>
          <a:p>
            <a:r>
              <a:t>пытаются повторить в другом проекте. Оптимизация переносится правилом (опишите критерий — сработает</a:t>
            </a:r>
          </a:p>
          <a:p>
            <a:r>
              <a:t>так же), обученная модель переносится данными (без набора, похожего на обучающий, результат не</a:t>
            </a:r>
          </a:p>
          <a:p>
            <a:r>
              <a:t>воспроизводится). Из трёх подробных разборов раздела условие отбора проходит полтора: случай</a:t>
            </a:r>
          </a:p>
          <a:p>
            <a:r>
              <a:t>редакции проходит целиком, случай обвала цены единицы проходит по модели и не проходит по полноте</a:t>
            </a:r>
          </a:p>
          <a:p>
            <a:r>
              <a:t>счёта, перегородка не проходит вовсе — и такая пропорция есть честная картина отрасли на сегодня,</a:t>
            </a:r>
          </a:p>
          <a:p>
            <a:r>
              <a:t>а не дефект подборки.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упоминания, каждое с числом. Упоминание без числа в этом вечере не ставится вовсе:</a:t>
            </a:r>
          </a:p>
          <a:p>
            <a:r>
              <a:t>список из названий продуктов — это библиография, и её место в материалах для чтения, а не на</a:t>
            </a:r>
          </a:p>
          <a:p>
            <a:r>
              <a:t>кадре перед залом.</a:t>
            </a:r>
          </a:p>
          <a:p>
            <a:r>
              <a:t/>
            </a:r>
          </a:p>
          <a:p>
            <a:r>
              <a:t>Первое наблюдение — про разрыв между открытыми весами и реальным применением. Прямой запрос к</a:t>
            </a:r>
          </a:p>
          <a:p>
            <a:r>
              <a:t>программному интерфейсу площадки, где лежат открытые модели, двадцать седьмого октября 2026</a:t>
            </a:r>
          </a:p>
          <a:p>
            <a:r>
              <a:t>года по загрузкам за тридцать дней: у российской модели изображения — четыреста шестьдесят одно</a:t>
            </a:r>
          </a:p>
          <a:p>
            <a:r>
              <a:t>скачивание, у европейской FLUX.1-dev — шестьсот двадцать две тысячи двести девяносто девять.</a:t>
            </a:r>
          </a:p>
          <a:p>
            <a:r>
              <a:t>Для масштаба в том же замере SDXL даёт четыре миллиона двести восемьдесят две тысячи, а</a:t>
            </a:r>
          </a:p>
          <a:p>
            <a:r>
              <a:t>китайская видеомодель — три тысячи девятьсот одно.</a:t>
            </a:r>
          </a:p>
          <a:p>
            <a:r>
              <a:t/>
            </a:r>
          </a:p>
          <a:p>
            <a:r>
              <a:t>Поправку надо сделать в обе стороны. В пользу российской модели: её веса разложены по девяти</a:t>
            </a:r>
          </a:p>
          <a:p>
            <a:r>
              <a:t>официальным репозиториям, сумма по ним около четырёх тысяч семисот, а вместе с квантованными</a:t>
            </a:r>
          </a:p>
          <a:p>
            <a:r>
              <a:t>сборками сообщества — около пятнадцати тысяч; значит, разрыв не тысячекратный, а примерно</a:t>
            </a:r>
          </a:p>
          <a:p>
            <a:r>
              <a:t>сорокакратный. Против: все семьдесят девять репозиториев лаборатории вместе дают семьдесят семь</a:t>
            </a:r>
          </a:p>
          <a:p>
            <a:r>
              <a:t>тысяч загрузок, но семьдесят тысяч из них — служебные кодировщики, которые тянут чужие конвейеры,</a:t>
            </a:r>
          </a:p>
          <a:p>
            <a:r>
              <a:t>а у собственно генеративных моделей счёт идёт на сотни. Читать это как замер качества нельзя —</a:t>
            </a:r>
          </a:p>
          <a:p>
            <a:r>
              <a:t>это замер принятия: сколько инженеров в мире взяли веса и запустили их у себя. Три честные</a:t>
            </a:r>
          </a:p>
          <a:p>
            <a:r>
              <a:t>причины разрыва: вокруг зарубежных моделей выросли тысячи дообученных вариантов и руководств;</a:t>
            </a:r>
          </a:p>
          <a:p>
            <a:r>
              <a:t>время на рынке три года против одного месяца; и русскоязычное преимущество ничего не стоит</a:t>
            </a:r>
          </a:p>
          <a:p>
            <a:r>
              <a:t>англоязычному разработчику, который формирует основную массу загрузок.</a:t>
            </a:r>
          </a:p>
          <a:p>
            <a:r>
              <a:t/>
            </a:r>
          </a:p>
          <a:p>
            <a:r>
              <a:t>Второе наблюдение переворачивает вывод первого, и ради этого оно здесь. Текстовые представления</a:t>
            </a:r>
          </a:p>
          <a:p>
            <a:r>
              <a:t>FRIDA — пятьсот девяносто семь тысяч скачиваний за тот же месяц, распознавание речи — четыреста</a:t>
            </a:r>
          </a:p>
          <a:p>
            <a:r>
              <a:t>двадцать шесть тысяч, против четырёхсот шестидесяти одного у модели изображения и двухсот</a:t>
            </a:r>
          </a:p>
          <a:p>
            <a:r>
              <a:t>двадцати у флагманской текстовой модели на семьсот два миллиарда параметров. Российские</a:t>
            </a:r>
          </a:p>
          <a:p>
            <a:r>
              <a:t>открытые модели для русского языка и русской речи востребованы на три порядка сильнее, чем</a:t>
            </a:r>
          </a:p>
          <a:p>
            <a:r>
              <a:t>российские открытые модели для картинки. Причина содержательная: у распознавания русской речи</a:t>
            </a:r>
          </a:p>
          <a:p>
            <a:r>
              <a:t>есть задача, которую больше никто не решает, а у картинки такой задачи нет — зарубежная модель</a:t>
            </a:r>
          </a:p>
          <a:p>
            <a:r>
              <a:t>рисует по русскому описанию не хуже. Открытая модель живёт там, где закрывает незакрытую</a:t>
            </a:r>
          </a:p>
          <a:p>
            <a:r>
              <a:t>потребность, и это правило переносится на любой проект, где решают, выкладывать ли веса.</a:t>
            </a:r>
          </a:p>
          <a:p>
            <a:r>
              <a:t/>
            </a:r>
          </a:p>
          <a:p>
            <a:r>
              <a:t>Третье наблюдение — про деньги, и считается оно точно по двум первоисточникам. Крупнейшее</a:t>
            </a:r>
          </a:p>
          <a:p>
            <a:r>
              <a:t>российское облако перепродаёт двадцать семь моделей одного зарубежного поставщика, девять</a:t>
            </a:r>
          </a:p>
          <a:p>
            <a:r>
              <a:t>другого и девять третьего — ровно те, чьи поставщики Россию обслуживать отказались. Официальный</a:t>
            </a:r>
          </a:p>
          <a:p>
            <a:r>
              <a:t>долларовый прейскурант пересчитывается по внутреннему курсу 196,42 ₽/$ против 80,49 у</a:t>
            </a:r>
          </a:p>
          <a:p>
            <a:r>
              <a:t>Центробанка, и множитель 2,44× совпадает до второго знака по девяти моделям сразу. В деньгах:</a:t>
            </a:r>
          </a:p>
          <a:p>
            <a:r>
              <a:t>миллион входных плюс миллион выходных токенов обходятся в 1 449 ₽ напрямую против 3 536 ₽ через</a:t>
            </a:r>
          </a:p>
          <a:p>
            <a:r>
              <a:t>посредника — переплата 2 087 ₽. Оговорка: на российские, китайские и открытые модели, которые</a:t>
            </a:r>
          </a:p>
          <a:p>
            <a:r>
              <a:t>это же облако хостит у себя, множитель не распространяется — там цена своя и часто низкая. 2,44×</a:t>
            </a:r>
          </a:p>
          <a:p>
            <a:r>
              <a:t>— цена дотягивания до модели, которая вас обслуживать не хочет, и вычисления тут почти ни при чём.</a:t>
            </a:r>
          </a:p>
          <a:p>
            <a:r>
              <a:t/>
            </a:r>
          </a:p>
          <a:p>
            <a:r>
              <a:t>Четвёртое наблюдение — про права на результат, и оно практическое. Два российских сервиса дают</a:t>
            </a:r>
          </a:p>
          <a:p>
            <a:r>
              <a:t>противоположные права на внешне одинаковый продукт: один отдаёт исключительные права</a:t>
            </a:r>
          </a:p>
          <a:p>
            <a:r>
              <a:t>пользователю, оставляя себе безотзывную неисключительную лицензию; другой оставляет права за</a:t>
            </a:r>
          </a:p>
          <a:p>
            <a:r>
              <a:t>собой, а пользователю достаётся только личное некоммерческое использование, любое коммерческое</a:t>
            </a:r>
          </a:p>
          <a:p>
            <a:r>
              <a:t>— по предварительному согласованию. Для студента, который собирается что-то выпустить, это</a:t>
            </a:r>
          </a:p>
          <a:p>
            <a:r>
              <a:t>разница между «можно» и «нельзя», и читается она только в пользовательском соглашении, а не в</a:t>
            </a:r>
          </a:p>
          <a:p>
            <a:r>
              <a:t>интерфейсе и не в рекламе.</a:t>
            </a:r>
          </a:p>
          <a:p>
            <a:r>
              <a:t/>
            </a:r>
          </a:p>
          <a:p>
            <a:r>
              <a:t>И последнее — оно здесь упоминанием именно потому, что чисел по нему нет. Есть единственная</a:t>
            </a:r>
          </a:p>
          <a:p>
            <a:r>
              <a:t>крупная модель, которую поставщик продаёт как юридически чистую: обучена на собственной</a:t>
            </a:r>
          </a:p>
          <a:p>
            <a:r>
              <a:t>библиотеке и материалах из общественного достояния, корпоративным клиентам компания возмещает</a:t>
            </a:r>
          </a:p>
          <a:p>
            <a:r>
              <a:t>убытки по претензиям о нарушении прав. Продуктовая логика понятна и красива. Проверяемых чисел</a:t>
            </a:r>
          </a:p>
          <a:p>
            <a:r>
              <a:t>по ней нет ни одного — ни доли рынка, ни числа генераций, ни экономии у заказчика, ни судебных</a:t>
            </a:r>
          </a:p>
          <a:p>
            <a:r>
              <a:t>исходов. Поэтому происхождение данных как товарное свойство здесь названо, а подробным разбором</a:t>
            </a:r>
          </a:p>
          <a:p>
            <a:r>
              <a:t>не стало, и причина названа вслух.</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семейство курс уже разобрал. Модель раскладывает вероятность последовательности в</a:t>
            </a:r>
          </a:p>
          <a:p>
            <a:r>
              <a:t>произведение условных: каждый следующий токен предсказывается по всем предыдущим. Чтобы получить</a:t>
            </a:r>
          </a:p>
          <a:p>
            <a:r>
              <a:t>тысячу токенов, нужна тысяча последовательных проходов сети. Что это семейство делает хорошо:</a:t>
            </a:r>
          </a:p>
          <a:p>
            <a:r>
              <a:t>произвольную длину выхода, точную условную вероятность каждого шага (откуда логиты, температура и</a:t>
            </a:r>
          </a:p>
          <a:p>
            <a:r>
              <a:t>гарантированный формат вывода) и естественную причинность. Чего оно принципиально не умеет —</a:t>
            </a:r>
          </a:p>
          <a:p>
            <a:r>
              <a:t>исправлять уже написанное: токен, попавший в контекст, становится условием для всех следующих.</a:t>
            </a:r>
          </a:p>
          <a:p>
            <a:r>
              <a:t>И цена: число шагов равно длине выхода — для картинки 1024×1024 в сыром виде это 3 145 728</a:t>
            </a:r>
          </a:p>
          <a:p>
            <a:r>
              <a:t>чисел, и никакая авторегрессия по точкам изображения на такой длине не живёт.</a:t>
            </a:r>
          </a:p>
          <a:p>
            <a:r>
              <a:t/>
            </a:r>
          </a:p>
          <a:p>
            <a:r>
              <a:t>Второе семейство устроено иначе: вместо «дописывать по одному» — начать с чистого шума и</a:t>
            </a:r>
          </a:p>
          <a:p>
            <a:r>
              <a:t>несколько десятков раз его понемногу почистить, каждый раз правя весь объект целиком.</a:t>
            </a:r>
          </a:p>
          <a:p>
            <a:r>
              <a:t>Авторегрессия достраивает объект по частям, расшумление правит весь объект сразу, но много раз.</a:t>
            </a:r>
          </a:p>
          <a:p>
            <a:r>
              <a:t>Оно делает хорошо глобальную согласованность и параллельность внутри шага; не умеет принципиально</a:t>
            </a:r>
          </a:p>
          <a:p>
            <a:r>
              <a:t>выдать вероятность вот этой конкретной картинки — точного правдоподобия у него нет, а значит, нет</a:t>
            </a:r>
          </a:p>
          <a:p>
            <a:r>
              <a:t>ни логитов, ни температуры, ни маскирования. Остановиться на полуслове нельзя: половина шагов</a:t>
            </a:r>
          </a:p>
          <a:p>
            <a:r>
              <a:t>даёт мутную картинку, а не половину картинки. Цена второго семейства устроена зеркально первому:</a:t>
            </a:r>
          </a:p>
          <a:p>
            <a:r>
              <a:t>число шагов не зависит от размера выхода, оно задано сэмплером — было 1000 в 2020 году, стало</a:t>
            </a:r>
          </a:p>
          <a:p>
            <a:r>
              <a:t>20–50 на практике и 1–4 в дистиллированных моделях.</a:t>
            </a:r>
          </a:p>
          <a:p>
            <a:r>
              <a:t/>
            </a:r>
          </a:p>
          <a:p>
            <a:r>
              <a:t>Почему семейств именно два, а не три и не одно. Разделение не по модальности — не «текст</a:t>
            </a:r>
          </a:p>
          <a:p>
            <a:r>
              <a:t>дискретен, изображение непрерывно», — а по стратегии генерации. У текста словарь был всегда,</a:t>
            </a:r>
          </a:p>
          <a:p>
            <a:r>
              <a:t>потому что текст и так разбит на конечный набор лексем. Но изображение дискретным словарём</a:t>
            </a:r>
          </a:p>
          <a:p>
            <a:r>
              <a:t>описать можно, и это не эксперимент с проигрышем по деталям, а устройство двух самых массовых</a:t>
            </a:r>
          </a:p>
          <a:p>
            <a:r>
              <a:t>коммерческих инструментов на конец 2026 года: с 25 марта 2025 года встроенная в ChatGPT генерация</a:t>
            </a:r>
          </a:p>
          <a:p>
            <a:r>
              <a:t>GPT-4o авторегрессивна по дискретному словарю токенов картинки — в отличие от DALL·E, работавшего</a:t>
            </a:r>
          </a:p>
          <a:p>
            <a:r>
              <a:t>диффузией; с августа 2025 года тем же путём идёт Gemini 2.5 Flash Image, «Nano Banana». Всё, что</a:t>
            </a:r>
          </a:p>
          <a:p>
            <a:r>
              <a:t>этот и следующие технические кадры разбирают дальше, — устройство диффузионного и поточного</a:t>
            </a:r>
          </a:p>
          <a:p>
            <a:r>
              <a:t>семейства: Stable Diffusion, SD3, FLUX, Imagen. У авторегрессионного по токенам картинки словарь</a:t>
            </a:r>
          </a:p>
          <a:p>
            <a:r>
              <a:t>есть, и цена за это не нулевая: число шагов считается не в пикселях, а в токенах картинки — сотни</a:t>
            </a:r>
          </a:p>
          <a:p>
            <a:r>
              <a:t>и тысячи вместо двадцати–пятидесяти параллельных шагов диффузии, — и доступ только через закрытый</a:t>
            </a:r>
          </a:p>
          <a:p>
            <a:r>
              <a:t>расчётный API. Граница размывается и в третью сторону: расшумление пришло в текст (диффузионные</a:t>
            </a:r>
          </a:p>
          <a:p>
            <a:r>
              <a:t>языковые модели, направление молодое), а посередине живёт спрямлённый поток, формально уже не</a:t>
            </a:r>
          </a:p>
          <a:p>
            <a:r>
              <a:t>диффузия, куда индустрия последних двух лет ушла почти целиком.</a:t>
            </a:r>
          </a:p>
          <a:p>
            <a:r>
              <a:t/>
            </a:r>
          </a:p>
          <a:p>
            <a:r>
              <a:t>Формулировка, которую стоит унести: граница между семействами проходит по линии «достраиваю по</a:t>
            </a:r>
          </a:p>
          <a:p>
            <a:r>
              <a:t>частям» против «правлю целиком много раз». Обе стратегии применимы к обеим модальностям; выбор</a:t>
            </a:r>
          </a:p>
          <a:p>
            <a:r>
              <a:t>делается по тому, что в задаче дороже — длина или число проходов.</a:t>
            </a:r>
          </a:p>
          <a:p>
            <a:r>
              <a:t/>
            </a:r>
          </a:p>
          <a:p>
            <a:r>
              <a:t>Дальше технический блок разбирает устройство диффузионного и поточного семейства по частям: два</a:t>
            </a:r>
          </a:p>
          <a:p>
            <a:r>
              <a:t>семейства уже названы, прямой и обратный процесс, латентный патч, обусловливание, архитектуры,</a:t>
            </a:r>
          </a:p>
          <a:p>
            <a:r>
              <a:t>адаптеры. Этот кадр нужен затем, чтобы сразу увидеть, как они сходятся в одну картину — от строки</a:t>
            </a:r>
          </a:p>
          <a:p>
            <a:r>
              <a:t>описания на входе до файла на выходе.</a:t>
            </a:r>
          </a:p>
          <a:p>
            <a:r>
              <a:t/>
            </a:r>
          </a:p>
          <a:p>
            <a:r>
              <a:t>Путь начинается ещё до диффузионной сети. Описание словами в неё не попадает вовсе: сначала его</a:t>
            </a:r>
          </a:p>
          <a:p>
            <a:r>
              <a:t>читает отдельная текстовая модель — замороженная, обученная кем-то другим и раньше. У SD3 таких</a:t>
            </a:r>
          </a:p>
          <a:p>
            <a:r>
              <a:t>текстовых кодировщиков три, у FLUX.1 — два. Структурно это значит: часть качества генератора вам</a:t>
            </a:r>
          </a:p>
          <a:p>
            <a:r>
              <a:t>не принадлежит, она пришла вместе с чужой моделью. Измерение здесь прямое и для интуиции</a:t>
            </a:r>
          </a:p>
          <a:p>
            <a:r>
              <a:t>неудобное — увеличение текстового кодировщика даёт больший прирост качества, чем увеличение самой</a:t>
            </a:r>
          </a:p>
          <a:p>
            <a:r>
              <a:t>диффузионной сети. Самый крупный из них, T5-XXL, оплачивает ровно две вещи: длинные сложные</a:t>
            </a:r>
          </a:p>
          <a:p>
            <a:r>
              <a:t>инструкции и текст внутри картинки.</a:t>
            </a:r>
          </a:p>
          <a:p>
            <a:r>
              <a:t/>
            </a:r>
          </a:p>
          <a:p>
            <a:r>
              <a:t>Дальше идёт то, что обычно и называют «моделью». Работа ведётся в латенте — сжатом представлении</a:t>
            </a:r>
          </a:p>
          <a:p>
            <a:r>
              <a:t>картинки размером 128×128×16, то есть 262 144 числа; точек растра, которых у картинки 3 145 728,</a:t>
            </a:r>
          </a:p>
          <a:p>
            <a:r>
              <a:t>сеть расшумления не видит вовсе. Стартовое содержимое латента — чистый шум от генератора</a:t>
            </a:r>
          </a:p>
          <a:p>
            <a:r>
              <a:t>псевдослучайных чисел; именно он, а не «температура», отвечает за то, насколько разными выйдут</a:t>
            </a:r>
          </a:p>
          <a:p>
            <a:r>
              <a:t>картинки по одному описанию. Описание всё это время стоит неподвижно: оно условие, одинаковое на</a:t>
            </a:r>
          </a:p>
          <a:p>
            <a:r>
              <a:t>первом проходе и на последнем. Истории нет, накопления нет, места «рядом с вопросом» нет — отсюда</a:t>
            </a:r>
          </a:p>
          <a:p>
            <a:r>
              <a:t>растёт всё, что раздел дальше говорит о невозможности подложить в генерацию источник истины.</a:t>
            </a:r>
          </a:p>
          <a:p>
            <a:r>
              <a:t/>
            </a:r>
          </a:p>
          <a:p>
            <a:r>
              <a:t>Выход — третья часть. Латент разворачивает в точки растра декодировщик того же автокодировщика,</a:t>
            </a:r>
          </a:p>
          <a:p>
            <a:r>
              <a:t>который латент и определил. Это снова отдельно обученная модель, и у неё измеренный потолок:</a:t>
            </a:r>
          </a:p>
          <a:p>
            <a:r>
              <a:t>восстановление на четырёхканальном латенте даёт 25,12 дБ против 28,62 дБ на шестнадцатиканальном.</a:t>
            </a:r>
          </a:p>
          <a:p>
            <a:r>
              <a:t>Даже если сеть расшумления сработает идеально, картинка пройдёт через декодировщик, и то, что он</a:t>
            </a:r>
          </a:p>
          <a:p>
            <a:r>
              <a:t>размыл, обратно не появится. Буква — высокочастотная структура — страдает первой; поэтому вопрос</a:t>
            </a:r>
          </a:p>
          <a:p>
            <a:r>
              <a:t>«почему на картинке псевдобуквы» решается выбором автокодировщика, подбор описания здесь</a:t>
            </a:r>
          </a:p>
          <a:p>
            <a:r>
              <a:t>бессилен.</a:t>
            </a:r>
          </a:p>
          <a:p>
            <a:r>
              <a:t/>
            </a:r>
          </a:p>
          <a:p>
            <a:r>
              <a:t>Главное, что стоит унести: конвейер собран из частей, обученных порознь. Из этого следует, что</a:t>
            </a:r>
          </a:p>
          <a:p>
            <a:r>
              <a:t>части меняют по отдельности — один и тот же автокодировщик живёт под разными диффузионными</a:t>
            </a:r>
          </a:p>
          <a:p>
            <a:r>
              <a:t>сетями; что странное поведение на стыке частей есть системное свойство такой сборки, и чинить его</a:t>
            </a:r>
          </a:p>
          <a:p>
            <a:r>
              <a:t>в своей интеграции бесполезно; и практическое правило выбора — прежде чем спрашивать, насколько</a:t>
            </a:r>
          </a:p>
          <a:p>
            <a:r>
              <a:t>велика модель, спросите, какой у неё автокодировщик и какой текстовый кодировщик. Главный рычаг —</a:t>
            </a:r>
          </a:p>
          <a:p>
            <a:r>
              <a:t>токенизатор; размер модели здесь вторичен.</a:t>
            </a:r>
          </a:p>
          <a:p>
            <a:r>
              <a:t/>
            </a:r>
          </a:p>
          <a:p>
            <a:r>
              <a:t>И чего в этой схеме нет совсем. Нет словаря — ни на входе сети расшумления, ни на выходе: там</a:t>
            </a:r>
          </a:p>
          <a:p>
            <a:r>
              <a:t>непрерывные векторы. Нет нормировки и вероятности: спросить сеть «насколько ты уверена» попросту</a:t>
            </a:r>
          </a:p>
          <a:p>
            <a:r>
              <a:t>нечем. Нет кэша ключей и значений: на каждом проходе меняются все токены латента сразу. Нет</a:t>
            </a:r>
          </a:p>
          <a:p>
            <a:r>
              <a:t>переменной длины выхода: размер картинки задан до запуска. Каждое из этих отсутствий дальше в</a:t>
            </a:r>
          </a:p>
          <a:p>
            <a:r>
              <a:t>разделе превращается в конкретное ограничение инструмента, и ни одно не исчезнет в следующей</a:t>
            </a:r>
          </a:p>
          <a:p>
            <a:r>
              <a:t>версии модели: все четыре следуют из устройства, которое на этом кадре нарисовано целиком.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Каноническая формулировка прямого процесса — работа Хо, Джайна и Аббеля 2020 года,</a:t>
            </a:r>
          </a:p>
          <a:p>
            <a:r>
              <a:t>предшественник — Соль-Дикштейн и соавторы, 2015. Берём настоящую картинку и T раз подмешиваем в</a:t>
            </a:r>
          </a:p>
          <a:p>
            <a:r>
              <a:t>неё немного гауссова шума; после тысячи таких шагов от картинки не остаётся ничего — чистый шум.</a:t>
            </a:r>
          </a:p>
          <a:p>
            <a:r>
              <a:t>Одно свойство делает всю конструкцию работоспособной: до любого шага можно прыгнуть сразу, не</a:t>
            </a:r>
          </a:p>
          <a:p>
            <a:r>
              <a:t>прокручивая цикл. И отсюда следствие, объясняющее экономику метода: прямой процесс не содержит ни</a:t>
            </a:r>
          </a:p>
          <a:p>
            <a:r>
              <a:t>одного обучаемого параметра — это формула, её не надо учить. Поэтому обучение устроено дёшево:</a:t>
            </a:r>
          </a:p>
          <a:p>
            <a:r>
              <a:t>берём случайный номер шага, по формуле делаем зашумлённую картинку и учим сеть на одном шаге,</a:t>
            </a:r>
          </a:p>
          <a:p>
            <a:r>
              <a:t>прокручивать длинную цепочку не нужно. Ровно в этом причина, по которой расшумление вытеснило</a:t>
            </a:r>
          </a:p>
          <a:p>
            <a:r>
              <a:t>состязательные сети: там обучение требовало поддерживать равновесие двух сетей и постоянно</a:t>
            </a:r>
          </a:p>
          <a:p>
            <a:r>
              <a:t>расходилось, здесь функция потерь — обычное среднеквадратичное отклонение.</a:t>
            </a:r>
          </a:p>
          <a:p>
            <a:r>
              <a:t/>
            </a:r>
          </a:p>
          <a:p>
            <a:r>
              <a:t>Обратный шаг тоже гауссов, и задача сводится к предсказанию его среднего. Вариантов того, что</a:t>
            </a:r>
          </a:p>
          <a:p>
            <a:r>
              <a:t>именно предсказывает сеть, три, и их названия встречаются в настройках любого открытого</a:t>
            </a:r>
          </a:p>
          <a:p>
            <a:r>
              <a:t>инструмента. Предсказание шума — исходный вариант, Stable Diffusion первой версии и базовая</a:t>
            </a:r>
          </a:p>
          <a:p>
            <a:r>
              <a:t>вторая; вырождается на малом шуме, сигнал тонет в численной погрешности. Предсказание исходной</a:t>
            </a:r>
          </a:p>
          <a:p>
            <a:r>
              <a:t>картинки — ранние работы; вырождается на большом шуме, угадать изображение из чистого шума</a:t>
            </a:r>
          </a:p>
          <a:p>
            <a:r>
              <a:t>невозможно. Предсказание скорости — комбинация первых двух, SD 2.1, SDXL, почти все дистилляции;</a:t>
            </a:r>
          </a:p>
          <a:p>
            <a:r>
              <a:t>у неё содержательная цель на всём диапазоне расписания, и для дистилляции в малое число шагов это</a:t>
            </a:r>
          </a:p>
          <a:p>
            <a:r>
              <a:t>оказалось решающим.</a:t>
            </a:r>
          </a:p>
          <a:p>
            <a:r>
              <a:t/>
            </a:r>
          </a:p>
          <a:p>
            <a:r>
              <a:t>Отдельно — расписание шума: сила подмешиваемого шума по номеру шага — часть постановки задачи, а</a:t>
            </a:r>
          </a:p>
          <a:p>
            <a:r>
              <a:t>не гиперпараметр на вкус. Расписание, настроенное на маленькое разрешение, на большом оставляет</a:t>
            </a:r>
          </a:p>
          <a:p>
            <a:r>
              <a:t>картинку недоразрушенной, и модель не учится строить композицию с нуля; это исправили в 2024 году</a:t>
            </a:r>
          </a:p>
          <a:p>
            <a:r>
              <a:t>сдвигом временной шкалы по разрешению — в интерфейсах это «сдвиг». Диагностически полезно: если у</a:t>
            </a:r>
          </a:p>
          <a:p>
            <a:r>
              <a:t>модели нормальные текстуры и разваливающаяся компоновка, смотреть надо сюда.</a:t>
            </a:r>
          </a:p>
          <a:p>
            <a:r>
              <a:t/>
            </a:r>
          </a:p>
          <a:p>
            <a:r>
              <a:t>И граница параллели с курсом, которую надо назвать прямо. У языковой модели на выходе</a:t>
            </a:r>
          </a:p>
          <a:p>
            <a:r>
              <a:t>распределение вероятностей на словарь: дискретно, нормировано, и отсюда логиты, температура,</a:t>
            </a:r>
          </a:p>
          <a:p>
            <a:r>
              <a:t>логарифмическая вероятность как мера уверенности. Здесь на выходе вектор той же размерности, что</a:t>
            </a:r>
          </a:p>
          <a:p>
            <a:r>
              <a:t>вход: непрерывный, нормировки нет, вероятности нет. Это причина, по которой у генератора</a:t>
            </a:r>
          </a:p>
          <a:p>
            <a:r>
              <a:t>изображений нет и не может быть меры уверенности в собственном выводе.</a:t>
            </a:r>
          </a:p>
          <a:p>
            <a:r>
              <a:t/>
            </a:r>
          </a:p>
          <a:p>
            <a:r>
              <a:t>Число шагов при запуске — отдельный выбор, его делает сэмплер, а не обучение. Обратный процесс —</a:t>
            </a:r>
          </a:p>
          <a:p>
            <a:r>
              <a:t>решение дифференциального уравнения, и дальше это обычная численная математика: чем точнее метод,</a:t>
            </a:r>
          </a:p>
          <a:p>
            <a:r>
              <a:t>тем меньше шагов для той же ошибки. Лестница устроена так: 1000 шагов — честная марковская</a:t>
            </a:r>
          </a:p>
          <a:p>
            <a:r>
              <a:t>цепочка, DDPM 2020; 20–100 — тот же предсказатель шума, но процесс детерминирован, шаги можно</a:t>
            </a:r>
          </a:p>
          <a:p>
            <a:r>
              <a:t>пропускать; 10–20 — методы высокого порядка на точном решении линейной части уравнения; 5–10 —</a:t>
            </a:r>
          </a:p>
          <a:p>
            <a:r>
              <a:t>предиктор-корректор. Все эти сэмплеры работают с одной и той же обученной сетью — переключение</a:t>
            </a:r>
          </a:p>
          <a:p>
            <a:r>
              <a:t>сэмплера меняет численный метод, веса не трогаются. Отсюда прямая польза: «качество выросло после</a:t>
            </a:r>
          </a:p>
          <a:p>
            <a:r>
              <a:t>смены сэмплера» значит, что уменьшили ошибку дискретизации, а не выучили что-то новое; и</a:t>
            </a:r>
          </a:p>
          <a:p>
            <a:r>
              <a:t>обратное — после тридцати–пятидесяти шагов прирост уходит в шум, а время растёт линейно.</a:t>
            </a:r>
          </a:p>
          <a:p>
            <a:r>
              <a:t/>
            </a:r>
          </a:p>
          <a:p>
            <a:r>
              <a:t>Ниже десяти шагов численными методами уже не спуститься — там нужно менять веса, это дистилляция:</a:t>
            </a:r>
          </a:p>
          <a:p>
            <a:r>
              <a:t>ученик учится воспроизводить выход учителя, обучающий сигнал генерирует сам учитель, и обычно</a:t>
            </a:r>
          </a:p>
          <a:p>
            <a:r>
              <a:t>ученик и учитель — одна архитектура. Способов несколько: постепенная (ученик за один шаг</a:t>
            </a:r>
          </a:p>
          <a:p>
            <a:r>
              <a:t>воспроизводит то, что учитель делает за два, и так 1000 доходит до 4); согласованности (сеть учат</a:t>
            </a:r>
          </a:p>
          <a:p>
            <a:r>
              <a:t>из любой точки траектории сразу попадать в конечную, 2–4 шага); состязательная (к потере</a:t>
            </a:r>
          </a:p>
          <a:p>
            <a:r>
              <a:t>дистилляции добавляют состязательную, 1–4 шага); дистилляция обусловливания (эффект двойного</a:t>
            </a:r>
          </a:p>
          <a:p>
            <a:r>
              <a:t>прохода вшивают в веса, чтобы не вызывать сеть дважды на шаге).</a:t>
            </a:r>
          </a:p>
          <a:p>
            <a:r>
              <a:t/>
            </a:r>
          </a:p>
          <a:p>
            <a:r>
              <a:t>Чем за это заплачено — обязательная половина разбора, без неё лестница становится рекламой.</a:t>
            </a:r>
          </a:p>
          <a:p>
            <a:r>
              <a:t>Дистилляция в 1–4 шага устойчиво уменьшает разнообразие выхода: ученик сходится к усреднённому</a:t>
            </a:r>
          </a:p>
          <a:p>
            <a:r>
              <a:t>хорошему ответу учителя, и десять генераций по одному описанию при разных стартовых шумах</a:t>
            </a:r>
          </a:p>
          <a:p>
            <a:r>
              <a:t>оказываются похожими сильнее, чем у недистиллированной модели. Это тот же потолок способностей</a:t>
            </a:r>
          </a:p>
          <a:p>
            <a:r>
              <a:t>ученика, который курс назвал применительно к языковым моделям; здесь он проявился в</a:t>
            </a:r>
          </a:p>
          <a:p>
            <a:r>
              <a:t>вариативности вместо точности. И обмен нельзя оценивать в отрыве от задачи: для продуктового</a:t>
            </a:r>
          </a:p>
          <a:p>
            <a:r>
              <a:t>конвейера, где нужен один приличный кадр за секунду, он выгодный; для творческого перебора</a:t>
            </a:r>
          </a:p>
          <a:p>
            <a:r>
              <a:t>вариантов — потеря ровно того, ради чего вечер и собран.</a:t>
            </a:r>
          </a:p>
          <a:p>
            <a:r>
              <a:t/>
            </a:r>
          </a:p>
          <a:p>
            <a:r>
              <a:t>Арифметика считается на кадре за минуту. Недистиллированная модель 1024×1024: 50 шагов × 2</a:t>
            </a:r>
          </a:p>
          <a:p>
            <a:r>
              <a:t>прохода ради CFG = 100 проходов сети, ≈20 секунд на игровой карте верхнего уровня. Дистиллированная</a:t>
            </a:r>
          </a:p>
          <a:p>
            <a:r>
              <a:t>родственница того же размера: 4 шага × 1 проход, обусловливание уже вшито в веса, = 4 прохода,</a:t>
            </a:r>
          </a:p>
          <a:p>
            <a:r>
              <a:t>≈3 секунды. Разница в 25 раз при том же размере сети; сверка с измерением сходится по порядку —</a:t>
            </a:r>
          </a:p>
          <a:p>
            <a:r>
              <a:t>отношение ≈6,7 при расчётных 12,5, и расхождение объясняется худшей загрузкой карты при малом</a:t>
            </a:r>
          </a:p>
          <a:p>
            <a:r>
              <a:t>числе шагов. Вот и ответ на вопрос, почему одна картинка может стоить и секунду, и полминуты:</a:t>
            </a:r>
          </a:p>
          <a:p>
            <a:r>
              <a:t>решает число шагов, а размер модели здесь ни при чём.</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2021 года расшумление делали прямо в точках изображения. Для 512×512 это означает сеть,</a:t>
            </a:r>
          </a:p>
          <a:p>
            <a:r>
              <a:t>которая на каждом из тысячи шагов обрабатывает семьсот восемьдесят шесть тысяч чисел; отсюда и</a:t>
            </a:r>
          </a:p>
          <a:p>
            <a:r>
              <a:t>стоимость, и то, что модели такого класса жили только у своих авторов.</a:t>
            </a:r>
          </a:p>
          <a:p>
            <a:r>
              <a:t/>
            </a:r>
          </a:p>
          <a:p>
            <a:r>
              <a:t>Наблюдение, из которого выросла вся линия: большая часть битов в изображении — перцептивно</a:t>
            </a:r>
          </a:p>
          <a:p>
            <a:r>
              <a:t>незначимая высокочастотная деталь, и расшумление тратит на неё основную долю вычислений, хотя</a:t>
            </a:r>
          </a:p>
          <a:p>
            <a:r>
              <a:t>смысл картинки живёт в гораздо меньшем числе измерений. Значит, конвейер разумно разделить на</a:t>
            </a:r>
          </a:p>
          <a:p>
            <a:r>
              <a:t>два независимо обучаемых куска. Первый — автокодировщик, который учится отображать картинку в</a:t>
            </a:r>
          </a:p>
          <a:p>
            <a:r>
              <a:t>компактное представление и обратно; обучается один раз, отдельно. Второй — диффузионная сеть,</a:t>
            </a:r>
          </a:p>
          <a:p>
            <a:r>
              <a:t>работающая целиком внутри этого представления; о точках изображения она не знает ничего.</a:t>
            </a:r>
          </a:p>
          <a:p>
            <a:r>
              <a:t/>
            </a:r>
          </a:p>
          <a:p>
            <a:r>
              <a:t>Это та же развязка, что между токенизатором и моделью: словарь строится один раз, до обучения</a:t>
            </a:r>
          </a:p>
          <a:p>
            <a:r>
              <a:t>модели. Автокодировщик здесь играет роль токенизатора — он фиксирует единицы, которыми модель</a:t>
            </a:r>
          </a:p>
          <a:p>
            <a:r>
              <a:t>видит картинку, и обучен отдельно и раньше. Следствие ровно то же, что курс вывел на странных</a:t>
            </a:r>
          </a:p>
          <a:p>
            <a:r>
              <a:t>токенах: конвейер собран из независимых частей, и странное поведение на стыке — системное</a:t>
            </a:r>
          </a:p>
          <a:p>
            <a:r>
              <a:t>свойство, а не поломка вашей интеграции. И отсюда же практическое следствие: диффузионная сеть</a:t>
            </a:r>
          </a:p>
          <a:p>
            <a:r>
              <a:t>не может быть лучше своего автокодировщика. Он задаёт потолок, который она физически не</a:t>
            </a:r>
          </a:p>
          <a:p>
            <a:r>
              <a:t>перешагнёт.</a:t>
            </a:r>
          </a:p>
          <a:p>
            <a:r>
              <a:t/>
            </a:r>
          </a:p>
          <a:p>
            <a:r>
              <a:t>Арифметика сжатия считается на кадре. Исходная картинка 1024×1024 в трёх каналах — три миллиона</a:t>
            </a:r>
          </a:p>
          <a:p>
            <a:r>
              <a:t>сто сорок пять тысяч семьсот двадцать восемь чисел. Коэффициент пространственного сжатия равен</a:t>
            </a:r>
          </a:p>
          <a:p>
            <a:r>
              <a:t>восьми: каждая сторона делится на восемь. При шестнадцати каналах латент — двести шестьдесят две</a:t>
            </a:r>
          </a:p>
          <a:p>
            <a:r>
              <a:t>тысячи сто сорок четыре числа, сжатие в двенадцать раз. Дальше латент режется на патчи два на</a:t>
            </a:r>
          </a:p>
          <a:p>
            <a:r>
              <a:t>два, и каждый патч становится одним токеном трансформера: шестьдесят четыре на шестьдесят</a:t>
            </a:r>
          </a:p>
          <a:p>
            <a:r>
              <a:t>четыре даёт четыре тысячи девяносто шесть токенов, размерность каждого до проекции — шестьдесят</a:t>
            </a:r>
          </a:p>
          <a:p>
            <a:r>
              <a:t>четыре числа.</a:t>
            </a:r>
          </a:p>
          <a:p>
            <a:r>
              <a:t/>
            </a:r>
          </a:p>
          <a:p>
            <a:r>
              <a:t>И вот число, на котором держится весь блок: картинка 1024×1024 — это 4096 токенов. Ровно того</a:t>
            </a:r>
          </a:p>
          <a:p>
            <a:r>
              <a:t>сорта токенов, по которым считается карта внимания каждый-против-каждого. Плюс текстовые токены</a:t>
            </a:r>
          </a:p>
          <a:p>
            <a:r>
              <a:t>обусловливания: от семидесяти семи до пятисот двенадцати в зависимости от поколения.</a:t>
            </a:r>
          </a:p>
          <a:p>
            <a:r>
              <a:t/>
            </a:r>
          </a:p>
          <a:p>
            <a:r>
              <a:t>Квадратичность никуда не делась. Курс сформулировал это как «удвоение контекста учетверяет</a:t>
            </a:r>
          </a:p>
          <a:p>
            <a:r>
              <a:t>объём вычислений внимания»; здесь то же самое выглядит так: четыре тысячи токенов дают около</a:t>
            </a:r>
          </a:p>
          <a:p>
            <a:r>
              <a:t>шестнадцати целых восьми десятых миллиона пар на голову на слой, шестнадцать тысяч токенов —</a:t>
            </a:r>
          </a:p>
          <a:p>
            <a:r>
              <a:t>около двухсот шестидесяти восьми миллионов, то есть в шестнадцать раз больше. Удвоение стороны</a:t>
            </a:r>
          </a:p>
          <a:p>
            <a:r>
              <a:t>картинки учетверяет число токенов и увеличивает стоимость внимания в шестнадцать раз. Это и</a:t>
            </a:r>
          </a:p>
          <a:p>
            <a:r>
              <a:t>есть инженерный ответ на вопрос, почему генерация в четырёхкратном разрешении стоит заметно</a:t>
            </a:r>
          </a:p>
          <a:p>
            <a:r>
              <a:t>дороже, чем вчетверо.</a:t>
            </a:r>
          </a:p>
          <a:p>
            <a:r>
              <a:t/>
            </a:r>
          </a:p>
          <a:p>
            <a:r>
              <a:t>Что это дало на практике, считается прямо: сеть на каждом шаге обрабатывает шестьдесят пять</a:t>
            </a:r>
          </a:p>
          <a:p>
            <a:r>
              <a:t>тысяч чисел вместо семисот восьмидесяти шести — полтора порядка вычислений, и на каждом из</a:t>
            </a:r>
          </a:p>
          <a:p>
            <a:r>
              <a:t>десятков шагов. Отсюда и то, что Stable Diffusion первой версии генерирует 512×512 на</a:t>
            </a:r>
          </a:p>
          <a:p>
            <a:r>
              <a:t>потребительской видеокарте с шестью—восемью гигабайтами видеопамяти, и случилось это в августе</a:t>
            </a:r>
          </a:p>
          <a:p>
            <a:r>
              <a:t>2022 года. Именно это, а не качество само по себе, запустило низовую экосистему: локальные</a:t>
            </a:r>
          </a:p>
          <a:p>
            <a:r>
              <a:t>интерфейсы, тысячи пользовательских адаптеров, дообучение «на своём» силами одного человека.</a:t>
            </a:r>
          </a:p>
          <a:p>
            <a:r>
              <a:t/>
            </a:r>
          </a:p>
          <a:p>
            <a:r>
              <a:t>Потолок, который ставит автокодировщик, измерен, и числа стоит знать. При восьмикратном</a:t>
            </a:r>
          </a:p>
          <a:p>
            <a:r>
              <a:t>пространственном сжатии качество восстановления составляет двадцать пять целых двенадцать сотых</a:t>
            </a:r>
          </a:p>
          <a:p>
            <a:r>
              <a:t>децибела на четырёхканальном латенте и двадцать восемь целых шестьдесят две сотых на</a:t>
            </a:r>
          </a:p>
          <a:p>
            <a:r>
              <a:t>шестнадцатиканальном; перцептивное расхождение — ноль целых восемьдесят пять сотых против ноль</a:t>
            </a:r>
          </a:p>
          <a:p>
            <a:r>
              <a:t>целых сорок пять сотых. Читается это так: даже если диффузионная сеть сработает идеально,</a:t>
            </a:r>
          </a:p>
          <a:p>
            <a:r>
              <a:t>картинка на выходе пройдёт через декодер, который на четырёх каналах даёт двадцать пять</a:t>
            </a:r>
          </a:p>
          <a:p>
            <a:r>
              <a:t>децибел — заметную глазу потерю.</a:t>
            </a:r>
          </a:p>
          <a:p>
            <a:r>
              <a:t/>
            </a:r>
          </a:p>
          <a:p>
            <a:r>
              <a:t>И потеря распределена неравномерно, страдает именно то, что плохо сжимается. Буква —</a:t>
            </a:r>
          </a:p>
          <a:p>
            <a:r>
              <a:t>высокочастотная структура, где значима каждая линия; сорокавосьмикратное сжатие её размывает,</a:t>
            </a:r>
          </a:p>
          <a:p>
            <a:r>
              <a:t>отсюда знаменитые псевдобуквы ранних моделей. Мелкие лица в кадре с множеством людей: при таком</a:t>
            </a:r>
          </a:p>
          <a:p>
            <a:r>
              <a:t>сжатии лицо на дальнем плане занимает единицы ячеек. Регулярные мелкие текстуры — сетки,</a:t>
            </a:r>
          </a:p>
          <a:p>
            <a:r>
              <a:t>решётки, ткань в полоску — дают характерное «кипение». Тонкие длинные структуры — провода,</a:t>
            </a:r>
          </a:p>
          <a:p>
            <a:r>
              <a:t>спицы, струны — рвутся при декодировании.</a:t>
            </a:r>
          </a:p>
          <a:p>
            <a:r>
              <a:t/>
            </a:r>
          </a:p>
          <a:p>
            <a:r>
              <a:t>Границу параллели с токенизатором надо назвать, иначе аудитория достроит неверно. Токенизатор</a:t>
            </a:r>
          </a:p>
          <a:p>
            <a:r>
              <a:t>языковой модели выдаёт дискретный идентификатор из конечного перечислимого словаря, и</a:t>
            </a:r>
          </a:p>
          <a:p>
            <a:r>
              <a:t>декодирование точно возвращает исходный текст. Автокодировщик выдаёт непрерывный вектор,</a:t>
            </a:r>
          </a:p>
          <a:p>
            <a:r>
              <a:t>обратимость у него с потерями, и словаря нет вовсе — маскировать нечего. Строка про обратимость</a:t>
            </a:r>
          </a:p>
          <a:p>
            <a:r>
              <a:t>здесь несущая: картинка, прошедшая через автокодировщик и обратно, уже не идентична оригиналу,</a:t>
            </a:r>
          </a:p>
          <a:p>
            <a:r>
              <a:t>причём не идентична ещё до того, как к ней притронулась генеративная модель. Это стоит</a:t>
            </a:r>
          </a:p>
          <a:p>
            <a:r>
              <a:t>проверить руками: прогнать фотографию через кодирование и декодирование без всякой генерации и</a:t>
            </a:r>
          </a:p>
          <a:p>
            <a:r>
              <a:t>посмотреть разницу. Пятиминутный опыт, объясняющий половину артефактов, которые вы видели в</a:t>
            </a:r>
          </a:p>
          <a:p>
            <a:r>
              <a:t>инструментах.</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Расшумление само по себе генерирует что-нибудь из распределения обучающих данных. Чтобы оно</a:t>
            </a:r>
          </a:p>
          <a:p>
            <a:r>
              <a:t>генерировало запрошенное, нужен механизм обусловливания, и устроен он не так, как подсказывает</a:t>
            </a:r>
          </a:p>
          <a:p>
            <a:r>
              <a:t>опыт работы с языковой моделью. Описание не попадает в диффузионную сеть напрямую: его сначала</a:t>
            </a:r>
          </a:p>
          <a:p>
            <a:r>
              <a:t>обрабатывает отдельная, замороженная текстовая модель, и генератор видит только её выход —</a:t>
            </a:r>
          </a:p>
          <a:p>
            <a:r>
              <a:t>последовательность векторов. У SD3 таких частей четыре: автокодировщик плюс три текстовых</a:t>
            </a:r>
          </a:p>
          <a:p>
            <a:r>
              <a:t>кодировщика, и сверх них сама диффузионная сеть. Поколения различаются тем, какие кодировщики</a:t>
            </a:r>
          </a:p>
          <a:p>
            <a:r>
              <a:t>берут: первая SD — контрастную модель на 123 млн параметров, окно 77 токенов; SDXL — две такие;</a:t>
            </a:r>
          </a:p>
          <a:p>
            <a:r>
              <a:t>SD3 — три, включая большую языковую модель; FLUX.1 — две, причём языковая даёт потокенные</a:t>
            </a:r>
          </a:p>
          <a:p>
            <a:r>
              <a:t>представления до 512 токенов.</a:t>
            </a:r>
          </a:p>
          <a:p>
            <a:r>
              <a:t/>
            </a:r>
          </a:p>
          <a:p>
            <a:r>
              <a:t>Почему индустрия ушла от контрастных кодировщиков к обычным языковым: контрастная модель хорошо</a:t>
            </a:r>
          </a:p>
          <a:p>
            <a:r>
              <a:t>кодирует, про что картинка, и плохо — синтаксис, порядок слов, отрицание. В 2022 году впервые</a:t>
            </a:r>
          </a:p>
          <a:p>
            <a:r>
              <a:t>показано: увеличение текстового кодировщика даёт больший прирост качества, чем увеличение самой</a:t>
            </a:r>
          </a:p>
          <a:p>
            <a:r>
              <a:t>диффузионной сети. Измеренное следствие в практическом виде: авторы SD3 проверяли, что будет при</a:t>
            </a:r>
          </a:p>
          <a:p>
            <a:r>
              <a:t>удалении самого большого кодировщика — он важен для сложных описаний и текста внутри картинки, а</a:t>
            </a:r>
          </a:p>
          <a:p>
            <a:r>
              <a:t>для большинства описаний его удаление сохраняет конкурентное качество. Для инженера это значит</a:t>
            </a:r>
          </a:p>
          <a:p>
            <a:r>
              <a:t>прямо: 4,5 млрд параметров в памяти, и если задача не требует длинных описаний и надписей, его</a:t>
            </a:r>
          </a:p>
          <a:p>
            <a:r>
              <a:t>можно не грузить.</a:t>
            </a:r>
          </a:p>
          <a:p>
            <a:r>
              <a:t/>
            </a:r>
          </a:p>
          <a:p>
            <a:r>
              <a:t>Теперь сам механизм обусловливания. В поколении U-Net текстовые векторы влияют через</a:t>
            </a:r>
          </a:p>
          <a:p>
            <a:r>
              <a:t>перекрёстное внимание — тот же механизм, что курс уже разобрал, просто запрос и ключи со</a:t>
            </a:r>
          </a:p>
          <a:p>
            <a:r>
              <a:t>значениями берутся из разных мест. Запрос идёт из латента картинки — «эта область спрашивает:</a:t>
            </a:r>
          </a:p>
          <a:p>
            <a:r>
              <a:t>что я такое?». Ключ и значение идут из токенов описания. «Q про текущий шаг, K и V про контекст»</a:t>
            </a:r>
          </a:p>
          <a:p>
            <a:r>
              <a:t>превращается здесь в «Q про картинку, K и V про текст». Карта внимания получается прямоугольной:</a:t>
            </a:r>
          </a:p>
          <a:p>
            <a:r>
              <a:t>4 096 областей картинки против 77 слов описания, и её можно буквально отрисовать и увидеть, какие</a:t>
            </a:r>
          </a:p>
          <a:p>
            <a:r>
              <a:t>области откликнулись на слово «кот». В поколении трансформеров перекрёстного внимания больше нет:</a:t>
            </a:r>
          </a:p>
          <a:p>
            <a:r>
              <a:t>текстовые и изобразительные токены склеивают в одну последовательность и пропускают через</a:t>
            </a:r>
          </a:p>
          <a:p>
            <a:r>
              <a:t>совместное внимание. Карта становится квадратной — 4 608 на столько же у SD3, — и текст «видит»</a:t>
            </a:r>
          </a:p>
          <a:p>
            <a:r>
              <a:t>картинку так же, как картинка видит текст; решали этим задачу «надпись горчицей на булочке»,</a:t>
            </a:r>
          </a:p>
          <a:p>
            <a:r>
              <a:t>где прежний односторонний вход не хватало.</a:t>
            </a:r>
          </a:p>
          <a:p>
            <a:r>
              <a:t/>
            </a:r>
          </a:p>
          <a:p>
            <a:r>
              <a:t>Остальные каналы обусловливания устроены по тому же принципу: картинка как условие — старт с</a:t>
            </a:r>
          </a:p>
          <a:p>
            <a:r>
              <a:t>зашумлённого оригинала; маска — шум подмешивается только внутри неё; структурное условие — карта</a:t>
            </a:r>
          </a:p>
          <a:p>
            <a:r>
              <a:t>глубины, края, поза; образец стиля или лица — «описание, но картинкой». Общий принцип: любое</a:t>
            </a:r>
          </a:p>
          <a:p>
            <a:r>
              <a:t>обусловливание в этом семействе — добавление ещё одного набора векторов во внимание или ещё</a:t>
            </a:r>
          </a:p>
          <a:p>
            <a:r>
              <a:t>одного слагаемого в предсказание шума. Жёстких ограничений среди них нет ни одного — и отсюда</a:t>
            </a:r>
          </a:p>
          <a:p>
            <a:r>
              <a:t>прямой переход к вопросу, которым аудитория задаётся сама и неверно: а разве направляющий</a:t>
            </a:r>
          </a:p>
          <a:p>
            <a:r>
              <a:t>коэффициент (CFG) не делает то же самое, что температура в языковой модели?</a:t>
            </a:r>
          </a:p>
          <a:p>
            <a:r>
              <a:t/>
            </a:r>
          </a:p>
          <a:p>
            <a:r>
              <a:t>Параллель неверна по существу, и разбирать её надо, а не упоминать, потому что оставленная без</a:t>
            </a:r>
          </a:p>
          <a:p>
            <a:r>
              <a:t>разбора она работает как знание и ведёт к неверным решениям. Сначала — где аналогия работает:</a:t>
            </a:r>
          </a:p>
          <a:p>
            <a:r>
              <a:t>оба параметра — единственная «ручка творчества» при запуске, оба не меняют веса и не добавляют</a:t>
            </a:r>
          </a:p>
          <a:p>
            <a:r>
              <a:t>знаний, у обоих есть рабочий диапазон, за которым выход деградирует, оба — свойство процедуры</a:t>
            </a:r>
          </a:p>
          <a:p>
            <a:r>
              <a:t>вывода. Четырёх совпадений достаточно, чтобы параллель казалась убедительной. Теперь четыре</a:t>
            </a:r>
          </a:p>
          <a:p>
            <a:r>
              <a:t>различия. Первое и несущее: что параметр делает с «мнением» модели. Температура — делитель</a:t>
            </a:r>
          </a:p>
          <a:p>
            <a:r>
              <a:t>логитов, порядок кандидатов не меняется никогда. CFG меняет само предсказание: экстраполирует за</a:t>
            </a:r>
          </a:p>
          <a:p>
            <a:r>
              <a:t>пределы того, что сеть выдала, и при коэффициенте семь итоговый вектор лежит там, где модель не</a:t>
            </a:r>
          </a:p>
          <a:p>
            <a:r>
              <a:t>предсказывала ничего. Второе — направление: рост температуры даёт больше случайности, рост CFG —</a:t>
            </a:r>
          </a:p>
          <a:p>
            <a:r>
              <a:t>меньше разнообразия и жёсткое следование описанию, противоположное. Третье — цена: у температуры</a:t>
            </a:r>
          </a:p>
          <a:p>
            <a:r>
              <a:t>ноль, у CFG два прохода сети на каждом шаге. Четвёртое — где сидит случайность: у языковой модели</a:t>
            </a:r>
          </a:p>
          <a:p>
            <a:r>
              <a:t>в сэмплере на каждом шаге, здесь — в стартовом шуме, и CFG к случайности отношения не имеет.</a:t>
            </a:r>
          </a:p>
          <a:p>
            <a:r>
              <a:t/>
            </a:r>
          </a:p>
          <a:p>
            <a:r>
              <a:t>Как это устроено внутри. При обучении модель учат одновременно условной и безусловной: ≈10%</a:t>
            </a:r>
          </a:p>
          <a:p>
            <a:r>
              <a:t>описаний заменяют пустой строкой. При запуске сеть вызывают дважды — с описанием и без, — берут</a:t>
            </a:r>
          </a:p>
          <a:p>
            <a:r>
              <a:t>разность и перешагивают в эту сторону с коэффициентом. Типичные значения: у ранних моделей 7–8,</a:t>
            </a:r>
          </a:p>
          <a:p>
            <a:r>
              <a:t>SDXL 5–8, SD3 4–5, FLUX.1 3,5. Цена названа прямо: два прохода вместо одного, генерация с CFG</a:t>
            </a:r>
          </a:p>
          <a:p>
            <a:r>
              <a:t>вдвое дороже; отсюда дистиллированные модели вшивают эффект в веса и вызывают сеть один раз —</a:t>
            </a:r>
          </a:p>
          <a:p>
            <a:r>
              <a:t>их ползунок «направление» ведёт себя иначе классического: это число, поданное на вход как</a:t>
            </a:r>
          </a:p>
          <a:p>
            <a:r>
              <a:t>признак, а не множитель экстраполяции.</a:t>
            </a:r>
          </a:p>
          <a:p>
            <a:r>
              <a:t/>
            </a:r>
          </a:p>
          <a:p>
            <a:r>
              <a:t>Что ломается на высоком коэффициенте — и у этого есть механизм, а не фольклор. При росте</a:t>
            </a:r>
          </a:p>
          <a:p>
            <a:r>
              <a:t>коэффициента дисперсия предсказанного шума уходит за пределы статистики, на которой обучался</a:t>
            </a:r>
          </a:p>
          <a:p>
            <a:r>
              <a:t>автокодировщик: декодер корректно восстановить такие амплитуды не умеет. На картинке это видно</a:t>
            </a:r>
          </a:p>
          <a:p>
            <a:r>
              <a:t>как пересвет, кислотная перенасыщенность цвета, «пластиковая» текстура, развал композиции и</a:t>
            </a:r>
          </a:p>
          <a:p>
            <a:r>
              <a:t>падение разнообразия. Практическое правило: CFG — не ползунок качества, это сила, с которой вы</a:t>
            </a:r>
          </a:p>
          <a:p>
            <a:r>
              <a:t>продавливаете выход за границу того, что модель считает правдоподобным. Негативное описание</a:t>
            </a:r>
          </a:p>
          <a:p>
            <a:r>
              <a:t>работает той же формулой с заменой безусловного предсказания на предсказание по другому тексту;</a:t>
            </a:r>
          </a:p>
          <a:p>
            <a:r>
              <a:t>оно ничего не запрещает — аналога маскирования логитов здесь нет и быть не может — и бесплатно</a:t>
            </a:r>
          </a:p>
          <a:p>
            <a:r>
              <a:t>по вычислениям, потому что второй проход и так делался; в моделях с дистиллированным</a:t>
            </a:r>
          </a:p>
          <a:p>
            <a:r>
              <a:t>обусловливанием второго прохода нет, и там оно либо не работает, либо требует включить настоящий</a:t>
            </a:r>
          </a:p>
          <a:p>
            <a:r>
              <a:t>CFG и заплатить вдвое — частый источник недоумения при переходе между поколениями моделей.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Сюжет этого кадра в одну фразу: за четыре года архитектура генераторов переехала из мира</a:t>
            </a:r>
          </a:p>
          <a:p>
            <a:r>
              <a:t>свёрточных сетей в тот же трансформер, который курс уже разбирал, — и переехала потому, что там</a:t>
            </a:r>
          </a:p>
          <a:p>
            <a:r>
              <a:t>работает масштабирование.</a:t>
            </a:r>
          </a:p>
          <a:p>
            <a:r>
              <a:t/>
            </a:r>
          </a:p>
          <a:p>
            <a:r>
              <a:t>U-Net придуман для сегментации медицинских снимков: свёрточная сеть уменьшает разрешение,</a:t>
            </a:r>
          </a:p>
          <a:p>
            <a:r>
              <a:t>наращивая каналы, потом симметрично восстанавливает, прокидывая выход каждого уровня сжимающей</a:t>
            </a:r>
          </a:p>
          <a:p>
            <a:r>
              <a:t>ветви в восстанавливающую. Расшумлению подошло по построению: вход и выход одного размера, нужна</a:t>
            </a:r>
          </a:p>
          <a:p>
            <a:r>
              <a:t>работа на всех масштабах. Текст попадал внутрь блоками перекрёстного внимания — трансформерные</a:t>
            </a:r>
          </a:p>
          <a:p>
            <a:r>
              <a:t>блоки там уже были, как вставки внутрь свёрточного каркаса, а не как сам каркас. Ушли от него</a:t>
            </a:r>
          </a:p>
          <a:p>
            <a:r>
              <a:t>потому, что свёрточный каркас несёт встроенные допущения о структуре картинки (локальность,</a:t>
            </a:r>
          </a:p>
          <a:p>
            <a:r>
              <a:t>инвариантность к сдвигу), которые помогают на малых данных и мешают на больших — сеть перестаёт</a:t>
            </a:r>
          </a:p>
          <a:p>
            <a:r>
              <a:t>масштабироваться предсказуемо.</a:t>
            </a:r>
          </a:p>
          <a:p>
            <a:r>
              <a:t/>
            </a:r>
          </a:p>
          <a:p>
            <a:r>
              <a:t>Работа про трансформер вместо U-Net вышла в декабре 2022 года. Латент нарезается на патчи, каждый</a:t>
            </a:r>
          </a:p>
          <a:p>
            <a:r>
              <a:t>патч линейно проецируется в вектор — та же входная таблица представлений, разобранная курсом,</a:t>
            </a:r>
          </a:p>
          <a:p>
            <a:r>
              <a:t>только вместо поиска по словарю здесь линейная проекция, потому что вход непрерывен. Измерение из</a:t>
            </a:r>
          </a:p>
          <a:p>
            <a:r>
              <a:t>приложения этой статьи стоит целого кадра: три модели на одном наборе и бюджете обучения, число</a:t>
            </a:r>
          </a:p>
          <a:p>
            <a:r>
              <a:t>параметров практически одинаковое, разница только в размере патча — на сколько токенов порезали</a:t>
            </a:r>
          </a:p>
          <a:p>
            <a:r>
              <a:t>один и тот же латент. Шестнадцатикратный рост вычислений даёт пятикратное улучшение метрики при</a:t>
            </a:r>
          </a:p>
          <a:p>
            <a:r>
              <a:t>неизменном размере модели — прямое подтверждение тезиса курса в новой области: стоимость и</a:t>
            </a:r>
          </a:p>
          <a:p>
            <a:r>
              <a:t>качество определяются длиной последовательности, а не числом весов. Здесь припев вечера</a:t>
            </a:r>
          </a:p>
          <a:p>
            <a:r>
              <a:t>предъявляется измерением: рычаг сидит в том, как нарезали вход.</a:t>
            </a:r>
          </a:p>
          <a:p>
            <a:r>
              <a:t/>
            </a:r>
          </a:p>
          <a:p>
            <a:r>
              <a:t>Следующее поколение, MMDiT, решало конкретную проблему: в прежних схемах текст был односторонним</a:t>
            </a:r>
          </a:p>
          <a:p>
            <a:r>
              <a:t>входом, и для сложных описаний этого не хватало. Решение — склеить токены текста и изображения в</a:t>
            </a:r>
          </a:p>
          <a:p>
            <a:r>
              <a:t>одну последовательность и пропустить через одно совместное внимание, с раздельными весами</a:t>
            </a:r>
          </a:p>
          <a:p>
            <a:r>
              <a:t>нормализации и проекций у текста и картинки, общая только операция внимания.</a:t>
            </a:r>
          </a:p>
          <a:p>
            <a:r>
              <a:t/>
            </a:r>
          </a:p>
          <a:p>
            <a:r>
              <a:t>Спрямлённый поток формально уже не диффузия: диффузия идёт от данных к шуму кривым путём,</a:t>
            </a:r>
          </a:p>
          <a:p>
            <a:r>
              <a:t>обратный путь тоже кривой, и интегрирование требует много шагов. Спрямлённый поток соединяет шум</a:t>
            </a:r>
          </a:p>
          <a:p>
            <a:r>
              <a:t>и данные прямой линией и учит сеть предсказывать скорость движения по ней — если траектория</a:t>
            </a:r>
          </a:p>
          <a:p>
            <a:r>
              <a:t>прямая, крупный шаг не вносит ошибки, и в пределе сэмплирование — один шаг. На практике идеала</a:t>
            </a:r>
          </a:p>
          <a:p>
            <a:r>
              <a:t>нет, но путь заметно прямее: 20–30 шагов дают то, на что диффузии нужно 50–100. Терминологическая</a:t>
            </a:r>
          </a:p>
          <a:p>
            <a:r>
              <a:t>честность: называть это диффузией сегодня строго говоря неточно — прямого процесса зашумления там</a:t>
            </a:r>
          </a:p>
          <a:p>
            <a:r>
              <a:t>нет, есть обучение векторного поля вдоль прямой; индустрия сохраняет слово по инерции и потому,</a:t>
            </a:r>
          </a:p>
          <a:p>
            <a:r>
              <a:t>что интерфейсы, сэмплеры и адаптеры общие.</a:t>
            </a:r>
          </a:p>
          <a:p>
            <a:r>
              <a:t/>
            </a:r>
          </a:p>
          <a:p>
            <a:r>
              <a:t>Про воспроизводимость — две вещи, вторая важнее первой. Вся случайность детерминированного</a:t>
            </a:r>
          </a:p>
          <a:p>
            <a:r>
              <a:t>сэмплера сосредоточена в стартовом шуме: те же веса, тот же сэмплер, то же число шагов дают ту</a:t>
            </a:r>
          </a:p>
          <a:p>
            <a:r>
              <a:t>же картинку. Это один из немногих пунктов, где медиа-модель воспроизводимее языковой — там</a:t>
            </a:r>
          </a:p>
          <a:p>
            <a:r>
              <a:t>температура, выставленная в ноль, детерминизма не даёт: стандартный vLLM, 1000 запросов одного</a:t>
            </a:r>
          </a:p>
          <a:p>
            <a:r>
              <a:t>запроса при нулевой температуре — 80 разных ответов (Thinking Machines Lab, «Defeating</a:t>
            </a:r>
          </a:p>
          <a:p>
            <a:r>
              <a:t>Nondeterminism in LLM Inference», сентябрь 2025, модель Qwen3-235B-A22B; виновата зависимость</a:t>
            </a:r>
          </a:p>
          <a:p>
            <a:r>
              <a:t>вычислительных ядер от размера пакета). Но «воспроизводимо» означает гораздо больше условий, чем</a:t>
            </a:r>
          </a:p>
          <a:p>
            <a:r>
              <a:t>кажется: весь список — 11 позиций, от версии автокодировщика до модели видеокарты, и любая из них</a:t>
            </a:r>
          </a:p>
          <a:p>
            <a:r>
              <a:t>меняет результат. Отсюда прямое требование: генеративный конвейер нужно версионировать как сборку</a:t>
            </a:r>
          </a:p>
          <a:p>
            <a:r>
              <a:t>программного продукта.</a:t>
            </a:r>
          </a:p>
          <a:p>
            <a:r>
              <a:t/>
            </a:r>
          </a:p>
          <a:p>
            <a:r>
              <a:t>И чего внутри нет совсем — каждое отсутствие содержательно. Нет каузальной маски: изображение</a:t>
            </a:r>
          </a:p>
          <a:p>
            <a:r>
              <a:t>смотрит во все стороны, внимание двунаправленное по построению. Нет кэша ключей и значений. Нет</a:t>
            </a:r>
          </a:p>
          <a:p>
            <a:r>
              <a:t>словаря и логитов — выход непрерывен. Нет длины выхода как переменной — размер задан до запуска.</a:t>
            </a:r>
          </a:p>
          <a:p>
            <a:r>
              <a:t/>
            </a:r>
          </a:p>
          <a:p>
            <a:r>
              <a:t>Поверх любой из этих четырёх архитектур работает один и тот же способ дообучения — лестница,</a:t>
            </a:r>
          </a:p>
          <a:p>
            <a:r>
              <a:t>которую курс уже ввёл для языковых моделей (описание, поиск по документам, дообучение,</a:t>
            </a:r>
          </a:p>
          <a:p>
            <a:r>
              <a:t>дистилляция), только средняя ступень здесь богаче: кроме «обучить адаптер» есть «подключить</a:t>
            </a:r>
          </a:p>
          <a:p>
            <a:r>
              <a:t>готовый управляющий модуль», и это часто дешевле. LoRA — низкоранговые матрицы-адаптеры в</a:t>
            </a:r>
          </a:p>
          <a:p>
            <a:r>
              <a:t>выбранные слои при замороженной базе, десятки–сотни МБ. Текстовая инверсия — самый экономный</a:t>
            </a:r>
          </a:p>
          <a:p>
            <a:r>
              <a:t>приём: обучается один вектор, становящийся «новым словом» в словаре текстового кодировщика, сама</a:t>
            </a:r>
          </a:p>
          <a:p>
            <a:r>
              <a:t>модель не меняется, авторам хватило 3–5 изображений концепта, результат — килобайты. DreamBooth —</a:t>
            </a:r>
          </a:p>
          <a:p>
            <a:r>
              <a:t>дообучение самой модели со связкой редкого идентификатора и объекта; на практике делается поверх</a:t>
            </a:r>
          </a:p>
          <a:p>
            <a:r>
              <a:t>LoRA, иначе гигабайты. ControlNet — обучаемая копия сжимающей половины модели, принимающая</a:t>
            </a:r>
          </a:p>
          <a:p>
            <a:r>
              <a:t>структурное условие через свёртки, инициализированные нулём, — сотни МБ. IP-Adapter — «описание</a:t>
            </a:r>
          </a:p>
          <a:p>
            <a:r>
              <a:t>картинкой»: образец кодируется отдельным перекрёстным вниманием параллельно текстовому; авторы</a:t>
            </a:r>
          </a:p>
          <a:p>
            <a:r>
              <a:t>заявляют качество полного дообучения при 22 млн параметров, десятки МБ.</a:t>
            </a:r>
          </a:p>
          <a:p>
            <a:r>
              <a:t/>
            </a:r>
          </a:p>
          <a:p>
            <a:r>
              <a:t>Структурный тезис тот же, что курс уже сформулировал: база заморожена, учится маленький довесок,</a:t>
            </a:r>
          </a:p>
          <a:p>
            <a:r>
              <a:t>довески модульны и складываются — здесь буквально: на одну базовую модель одновременно вешают</a:t>
            </a:r>
          </a:p>
          <a:p>
            <a:r>
              <a:t>адаптер стиля, структурное условие позы и образец лица, и все три работают вместе, не мешая друг</a:t>
            </a:r>
          </a:p>
          <a:p>
            <a:r>
              <a:t>другу. Именно эта складываемость сделала открытые веса рабочим инструментом в производстве: можно</a:t>
            </a:r>
          </a:p>
          <a:p>
            <a:r>
              <a:t>собрать конфигурацию из чужих кусков за часы вместо месяцев.</a:t>
            </a:r>
          </a:p>
          <a:p>
            <a:r>
              <a:t/>
            </a:r>
          </a:p>
          <a:p>
            <a:r>
              <a:t>Водораздел, который определяет, сколько будет стоить решение: ControlNet и IP-Adapter — это</a:t>
            </a:r>
          </a:p>
          <a:p>
            <a:r>
              <a:t>обусловливание, работа при запуске, веса не меняются, они стоят на стороне «разместить знание».</a:t>
            </a:r>
          </a:p>
          <a:p>
            <a:r>
              <a:t>LoRA и DreamBooth — на стороне «закодировать поведение». Вопрос «нам нужно дообучить модель под</a:t>
            </a:r>
          </a:p>
          <a:p>
            <a:r>
              <a:t>нашего персонажа» в половине случаев закрывается образцом лица за ноль часов обучения — ровно как</a:t>
            </a:r>
          </a:p>
          <a:p>
            <a:r>
              <a:t>«нам нужно дообучить языковую модель под нашу документацию» в половине случаев закрывается</a:t>
            </a:r>
          </a:p>
          <a:p>
            <a:r>
              <a:t>поиском по документам.</a:t>
            </a:r>
          </a:p>
          <a:p>
            <a:r>
              <a:t/>
            </a:r>
          </a:p>
          <a:p>
            <a:r>
              <a:t>И отдельно — то, ради чего адаптеры вообще стоят в техническом блоке. Здесь параллель с языковыми</a:t>
            </a:r>
          </a:p>
          <a:p>
            <a:r>
              <a:t>моделями работает полностью, и это надо назвать совпадением вслух. В блоке было уже несколько</a:t>
            </a:r>
          </a:p>
          <a:p>
            <a:r>
              <a:t>мест, где перенос знания оказывался ложным: температура и CFG управляют разными вещами, кэш здесь</a:t>
            </a:r>
          </a:p>
          <a:p>
            <a:r>
              <a:t>невозможен, подкладывания источника истины не существует. Легко прийти к выводу, что переносить</a:t>
            </a:r>
          </a:p>
          <a:p>
            <a:r>
              <a:t>нельзя ничего, — и это была бы вторая ошибка, зеркальная первой. Дообучение адаптером переносится</a:t>
            </a:r>
          </a:p>
          <a:p>
            <a:r>
              <a:t>без поправок: та же идея, та же экономика, те же размеры довесков. Умение различать, где перенос</a:t>
            </a:r>
          </a:p>
          <a:p>
            <a:r>
              <a:t>честный, а где ложный, и есть содержание этого технического блока.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Сводная таблица всего технического блока опирается на термин, который курс уже ввёл для</a:t>
            </a:r>
          </a:p>
          <a:p>
            <a:r>
              <a:t>языковых моделей, и показывает, во что он превращается в медиа-модели или почему исчезает по</a:t>
            </a:r>
          </a:p>
          <a:p>
            <a:r>
              <a:t>построению — исчезновение всегда показывает механизм, превращение можно принять за перемену</a:t>
            </a:r>
          </a:p>
          <a:p>
            <a:r>
              <a:t>названия. Правая колонка — про диффузию и поток: Stable Diffusion, SD3, FLUX, Imagen.</a:t>
            </a:r>
          </a:p>
          <a:p>
            <a:r>
              <a:t/>
            </a:r>
          </a:p>
          <a:p>
            <a:r>
              <a:t>Первая строка — единица данных, из неё следует почти всё остальное. У языковой модели это</a:t>
            </a:r>
          </a:p>
          <a:p>
            <a:r>
              <a:t>токен: идентификатор из словаря примерно в 200 тыс. позиций, зафиксированного до обучения. У</a:t>
            </a:r>
          </a:p>
          <a:p>
            <a:r>
              <a:t>медиа-модели единица — латентный патч: 2×2 ячейки латента по 16 каналов, 64 числа, непрерывный</a:t>
            </a:r>
          </a:p>
          <a:p>
            <a:r>
              <a:t>вектор. Словаря нет вовсе: маскировать нечего, запрещать нечему.</a:t>
            </a:r>
          </a:p>
          <a:p>
            <a:r>
              <a:t/>
            </a:r>
          </a:p>
          <a:p>
            <a:r>
              <a:t>Вторая — сколько этих единиц: у языковой модели задано длиной описания плюс ответа и окном</a:t>
            </a:r>
          </a:p>
          <a:p>
            <a:r>
              <a:t>128 тыс. — 1 млн; у медиа-модели — размером выхода, известным до запуска: 1024×1024 — ровно</a:t>
            </a:r>
          </a:p>
          <a:p>
            <a:r>
              <a:t>4096 токенов, параметр, а не переменная.</a:t>
            </a:r>
          </a:p>
          <a:p>
            <a:r>
              <a:t/>
            </a:r>
          </a:p>
          <a:p>
            <a:r>
              <a:t>Третья — что именно предсказывается: у языковой — распределение вероятностей на весь словарь,</a:t>
            </a:r>
          </a:p>
          <a:p>
            <a:r>
              <a:t>сумма равна единице, есть мера уверенности. У медиа-модели — вектор той же формы, что вход.</a:t>
            </a:r>
          </a:p>
          <a:p>
            <a:r>
              <a:t>Нормировки нет, вероятности нет: смотреть не на что, и не потому, что поставщик не показывает, а</a:t>
            </a:r>
          </a:p>
          <a:p>
            <a:r>
              <a:t>потому, что величины не существует.</a:t>
            </a:r>
          </a:p>
          <a:p>
            <a:r>
              <a:t/>
            </a:r>
          </a:p>
          <a:p>
            <a:r>
              <a:t>Четвёртая — роль контекста: у языковой история растёт и служит условием следующего токена. У</a:t>
            </a:r>
          </a:p>
          <a:p>
            <a:r>
              <a:t>диффузии и потока описание — постоянное условие, неизменное на всех пятидесяти шагах; истории</a:t>
            </a:r>
          </a:p>
          <a:p>
            <a:r>
              <a:t>нет вообще. Разница кажется мелкой, пока не доходит до вопроса, куда подложить источник истины:</a:t>
            </a:r>
          </a:p>
          <a:p>
            <a:r>
              <a:t>места «рядом с вопросом» здесь нет.</a:t>
            </a:r>
          </a:p>
          <a:p>
            <a:r>
              <a:t/>
            </a:r>
          </a:p>
          <a:p>
            <a:r>
              <a:t>Пятая — число проходов: N на N токенов у языковой модели; у медиа-модели — сколько назначил</a:t>
            </a:r>
          </a:p>
          <a:p>
            <a:r>
              <a:t>сэмплер, от одного до пятидесяти, независимо от размера выхода.</a:t>
            </a:r>
          </a:p>
          <a:p>
            <a:r>
              <a:t/>
            </a:r>
          </a:p>
          <a:p>
            <a:r>
              <a:t>Шестая — кэш, и её недооценивают чаще прочих. У языковой модели ключи и значения кэшируемы, пока</a:t>
            </a:r>
          </a:p>
          <a:p>
            <a:r>
              <a:t>относятся к неизменному контексту — отсюда асимметрия предзаполнения и генерации, тарифы на</a:t>
            </a:r>
          </a:p>
          <a:p>
            <a:r>
              <a:t>кэширование. У диффузии и потока от этой экономики не остаётся ничего: расшумление на каждом</a:t>
            </a:r>
          </a:p>
          <a:p>
            <a:r>
              <a:t>шаге переписывает все 4096 токенов сразу, неизменного контекста здесь нет. Это напрямую</a:t>
            </a:r>
          </a:p>
          <a:p>
            <a:r>
              <a:t>объясняет, почему одна картинка стоит как тысячи токенов текста: у языковой модели каждый</a:t>
            </a:r>
          </a:p>
          <a:p>
            <a:r>
              <a:t>следующий токен дешевеет за счёт кэша, у диффузии и потока каждый следующий шаг стоит ровно</a:t>
            </a:r>
          </a:p>
          <a:p>
            <a:r>
              <a:t>столько же, сколько первый.</a:t>
            </a:r>
          </a:p>
          <a:p>
            <a:r>
              <a:t/>
            </a:r>
          </a:p>
          <a:p>
            <a:r>
              <a:t>Седьмая — чем управляется выход. Курс показал механизм, который действительно является</a:t>
            </a:r>
          </a:p>
          <a:p>
            <a:r>
              <a:t>ограничением: грамматика схемы маскирует невалидные токены, и невалидный формат физически не</a:t>
            </a:r>
          </a:p>
          <a:p>
            <a:r>
              <a:t>может быть сгенерирован. В медиа-моделях такого рычага нет ни одного: CFG, негативное описание,</a:t>
            </a:r>
          </a:p>
          <a:p>
            <a:r>
              <a:t>адаптеры работают над непрерывным вектором, у которого распределения нет, и это просьбы, а не</a:t>
            </a:r>
          </a:p>
          <a:p>
            <a:r>
              <a:t>ограничения — проверка остаётся снаружи модели, в конвейере.</a:t>
            </a:r>
          </a:p>
          <a:p>
            <a:r>
              <a:t/>
            </a:r>
          </a:p>
          <a:p>
            <a:r>
              <a:t>Восьмая — галлюцинация, и разница лежит в природе ошибки. У языковой модели это ошибка</a:t>
            </a:r>
          </a:p>
          <a:p>
            <a:r>
              <a:t>содержания — проверяется по источнику. У медиа-модели — правдоподобная невозможность (шесть</a:t>
            </a:r>
          </a:p>
          <a:p>
            <a:r>
              <a:t>пальцев, отражение без источника, резьба без шага) — проверяется физикой и геометрией. Девятая —</a:t>
            </a:r>
          </a:p>
          <a:p>
            <a:r>
              <a:t>чем её чинят: подложить источник в контекст и потребовать ссылку работает у языковой модели и не</a:t>
            </a:r>
          </a:p>
          <a:p>
            <a:r>
              <a:t>работает ни у одной архитектуры генерации изображений — у расшумления контекста нет вовсе, у</a:t>
            </a:r>
          </a:p>
          <a:p>
            <a:r>
              <a:t>авторегрессии он есть, но ни один токен картинки не сверяется с внешним фактом на выходе.</a:t>
            </a:r>
          </a:p>
          <a:p>
            <a:r>
              <a:t/>
            </a:r>
          </a:p>
          <a:p>
            <a:r>
              <a:t>Десятая и одиннадцатая короткие, но дорогие. Длина выхода у языковой модели переменная и решается</a:t>
            </a:r>
          </a:p>
          <a:p>
            <a:r>
              <a:t>стоп-токеном; у медиа-модели задана до запуска, остановиться раньше нельзя. Провенанс: у ответа с</a:t>
            </a:r>
          </a:p>
          <a:p>
            <a:r>
              <a:t>поиском по документам есть ссылка на документ; у сгенерированного кадра его нет и не может быть,</a:t>
            </a:r>
          </a:p>
          <a:p>
            <a:r>
              <a:t>потому что вклад каждого обучающего примера размазан по миллиардам весов.</a:t>
            </a:r>
          </a:p>
          <a:p>
            <a:r>
              <a:t/>
            </a:r>
          </a:p>
          <a:p>
            <a:r>
              <a:t>И граница, без которой одиннадцать строк превращаются в догму. С 2025 года есть и другое, ходовое</a:t>
            </a:r>
          </a:p>
          <a:p>
            <a:r>
              <a:t>семейство — авторегрессия по дискретным токенам картинки: GPT-Image, встроенная в ChatGPT</a:t>
            </a:r>
          </a:p>
          <a:p>
            <a:r>
              <a:t>генерация GPT-4o с 25 марта 2025 года (сама OpenAI называет её авторегрессионной, в отличие от</a:t>
            </a:r>
          </a:p>
          <a:p>
            <a:r>
              <a:t>диффузионного DALL·E), и Gemini 2.5 Flash Image с августа 2025 года. У неё из первых шести строк</a:t>
            </a:r>
          </a:p>
          <a:p>
            <a:r>
              <a:t>расходятся пять: словарь есть и дискретен; предсказывается распределение на этот словарь; контекст</a:t>
            </a:r>
          </a:p>
          <a:p>
            <a:r>
              <a:t>растёт тем же механизмом, что у языковой модели; число проходов равно числу токенов изображения;</a:t>
            </a:r>
          </a:p>
          <a:p>
            <a:r>
              <a:t>кэш работает ровно как у языковой модели, а дороговизна — от числа последовательных токенов на</a:t>
            </a:r>
          </a:p>
          <a:p>
            <a:r>
              <a:t>кадр, сотни-тысячи против двадцати-пятидесяти параллельных шагов диффузии. Не меняется только</a:t>
            </a:r>
          </a:p>
          <a:p>
            <a:r>
              <a:t>вторая строка: сколько токенов будет в кадре решено заранее размером изображения, а не</a:t>
            </a:r>
          </a:p>
          <a:p>
            <a:r>
              <a:t>стоп-токеном. Классы ошибок при этом лечатся по-разному и для медиа-модели вообще не лечатся</a:t>
            </a:r>
          </a:p>
          <a:p>
            <a:r>
              <a:t>внутри: анатомия и счёт — обусловливанием позой или перегенерацией; физика и свет — не лечится</a:t>
            </a:r>
          </a:p>
          <a:p>
            <a:r>
              <a:t>вовсе; текст — вставкой слоем вне генератора; техническая невозможность — выводом «генератор не</a:t>
            </a:r>
          </a:p>
          <a:p>
            <a:r>
              <a:t>тот инструмент».</a:t>
            </a:r>
          </a:p>
          <a:p>
            <a:r>
              <a:t/>
            </a:r>
          </a:p>
          <a:p>
            <a:r>
              <a:t>Теперь экономический разворот, и для этой аудитории он контринтуитивен. Четыре верхние строки и</a:t>
            </a:r>
          </a:p>
          <a:p>
            <a:r>
              <a:t>три нижние смотрят в разные стороны: обучить картиночную модель в 200–400 раз дешевле, чем</a:t>
            </a:r>
          </a:p>
          <a:p>
            <a:r>
              <a:t>передовую языковую, — и каждый её запуск в 40–60 раз прожорливее.</a:t>
            </a:r>
          </a:p>
          <a:p>
            <a:r>
              <a:t/>
            </a:r>
          </a:p>
          <a:p>
            <a:r>
              <a:t>Сверху: вычислений на обучение SD v1 — 5·10²² операций; у передовых языковых — от 420 до 7 600</a:t>
            </a:r>
          </a:p>
          <a:p>
            <a:r>
              <a:t>раз больше. Часов видеокарт: 150 000 против ≈57 млн у GPT-4 и 30,8 млн у Llama 3.1 405B. Денег:</a:t>
            </a:r>
          </a:p>
          <a:p>
            <a:r>
              <a:t>$0,6 млн аренды против $78,4 млн и $191,4 млн. Размер весов: 4,27 ГБ против ≈810 ГБ.</a:t>
            </a:r>
          </a:p>
          <a:p>
            <a:r>
              <a:t/>
            </a:r>
          </a:p>
          <a:p>
            <a:r>
              <a:t>Снизу всё наоборот: 5,5 петафлопс на картинку против 0,14 петафлопс на 1000 токенов текста;</a:t>
            </a:r>
          </a:p>
          <a:p>
            <a:r>
              <a:t>2,907 кВт·ч на 1000 генераций против 0,047 на 1000 ответов; $120 за млн токенов картинки против</a:t>
            </a:r>
          </a:p>
          <a:p>
            <a:r>
              <a:t>$12 за млн токенов текста у ОДНОЙ и ТОЙ ЖЕ модели — она сама оценивает свой выход картинкой</a:t>
            </a:r>
          </a:p>
          <a:p>
            <a:r>
              <a:t>вдесятеро дороже. Откуда берутся сорок раз, считается за минуту: 4096 токенов картинки плюс 512</a:t>
            </a:r>
          </a:p>
          <a:p>
            <a:r>
              <a:t>текста = 4608; один проход ≈0,11 петафлопс; 50 шагов сэмплера дают ≈5,5 петафлопс; ответ языковой</a:t>
            </a:r>
          </a:p>
          <a:p>
            <a:r>
              <a:t>модели на 1000 токенов при 70 млрд параметров — ≈0,14 петафлопс; отношение ≈39. Для</a:t>
            </a:r>
          </a:p>
          <a:p>
            <a:r>
              <a:t>дистиллированной модели в 4 шага — 0,44 петафлопс, отношение падает до 3. Вывод: «почему картинка</a:t>
            </a:r>
          </a:p>
          <a:p>
            <a:r>
              <a:t>дорогая» — на порядок больше вопрос числа шагов, чем размера модели.</a:t>
            </a:r>
          </a:p>
          <a:p>
            <a:r>
              <a:t/>
            </a:r>
          </a:p>
          <a:p>
            <a:r>
              <a:t>И наблюдение кадра: картиночные модели перестали расти. SD v1 в 2022 и SD3 в 2024 потратили на</a:t>
            </a:r>
          </a:p>
          <a:p>
            <a:r>
              <a:t>обучение одно и то же число операций — названо прямо в их собственной статье. За те же два года</a:t>
            </a:r>
          </a:p>
          <a:p>
            <a:r>
              <a:t>вычисления передовых языковых моделей росли в 4–5 раз в год, амортизированная стоимость — в 2,4</a:t>
            </a:r>
          </a:p>
          <a:p>
            <a:r>
              <a:t>раза в год с 2016-го. Разрыв увеличивается не потому, что картинки дешевеют, а потому, что</a:t>
            </a:r>
          </a:p>
          <a:p>
            <a:r>
              <a:t>языковые модели дорожают; видимое следствие на рынке — базовых языковых моделей переднего края</a:t>
            </a:r>
          </a:p>
          <a:p>
            <a:r>
              <a:t>единицы, а серьёзных базовых генераторов изображений и видео десятки, включая полностью открытые.</a:t>
            </a:r>
          </a:p>
          <a:p>
            <a:r>
              <a:t>Это арифметика, а не щедрость.</a:t>
            </a:r>
          </a:p>
          <a:p>
            <a:r>
              <a:t/>
            </a:r>
          </a:p>
          <a:p>
            <a:r>
              <a:t>Прозрачность здесь хуже, чем у языковых моделей, при открытых весах: из пяти картиночных</a:t>
            </a:r>
          </a:p>
          <a:p>
            <a:r>
              <a:t>моделей, по которым лекция считает обучение, числа раскрыты только по двум — SD v1 и SD3; по</a:t>
            </a:r>
          </a:p>
          <a:p>
            <a:r>
              <a:t>SDXL, FLUX.1 и DALL·E 3 не раскрыты ни часы видеокарт, ни стоимость, ни объём вычислений. «Открытая</a:t>
            </a:r>
          </a:p>
          <a:p>
            <a:r>
              <a:t>модель» и «прозрачная модель» — разные свойства.</a:t>
            </a:r>
          </a:p>
          <a:p>
            <a:r>
              <a:t/>
            </a:r>
          </a:p>
          <a:p>
            <a:r>
              <a:t>Инженерный вывод блока: у медиа-моделей почти вся стоимость владения сидит в запуске, у передовых</a:t>
            </a:r>
          </a:p>
          <a:p>
            <a:r>
              <a:t>языковых исторически — в обучении. Отсюда разная экономика продуктов: одни раздают веса и продают</a:t>
            </a:r>
          </a:p>
          <a:p>
            <a:r>
              <a:t>доступ и мощности, другие веса защищают, потому что в них вложено то, что нельзя повторить за</a:t>
            </a:r>
          </a:p>
          <a:p>
            <a:r>
              <a:t>150 000 часов видеокарт. И прикладное правило: для генеративного медиа прогноз нагрузки важнее</a:t>
            </a:r>
          </a:p>
          <a:p>
            <a:r>
              <a:t>выбора модели — ошибка в выборе модели стоит процентов, ошибка в оценке числа генераций —</a:t>
            </a:r>
          </a:p>
          <a:p>
            <a:r>
              <a:t>порядков.</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отказа этого кадра — инженерные свойства метода, а не претензии к нему. Каждый следует из</a:t>
            </a:r>
          </a:p>
          <a:p>
            <a:r>
              <a:t>устройства, разобранного техническим блоком, и ни один не закроется следующей версией модели,</a:t>
            </a:r>
          </a:p>
          <a:p>
            <a:r>
              <a:t>потому что причина лежит в постановке задачи. Это надо отличать от временных дефектов: «модель</a:t>
            </a:r>
          </a:p>
          <a:p>
            <a:r>
              <a:t>пока плохо рисует руки» и «у модели нет понятия объекта» — утверждения разного рода, и второе не</a:t>
            </a:r>
          </a:p>
          <a:p>
            <a:r>
              <a:t>чинится обучением.</a:t>
            </a:r>
          </a:p>
          <a:p>
            <a:r>
              <a:t/>
            </a:r>
          </a:p>
          <a:p>
            <a:r>
              <a:t>Отказ первый — текст внутри изображения, у него две независимые причины. Первая — автокодировщик:</a:t>
            </a:r>
          </a:p>
          <a:p>
            <a:r>
              <a:t>буква — высокочастотная структура, сжатие в 48 раз размывает её ещё до того, как к изображению</a:t>
            </a:r>
          </a:p>
          <a:p>
            <a:r>
              <a:t>притронется генеративная сеть; измеренная потеря — 25,12 дБ на четырёхканальном латенте против</a:t>
            </a:r>
          </a:p>
          <a:p>
            <a:r>
              <a:t>28,62 дБ на шестнадцатиканальном, и эти 3,5 децибела и есть разница между псевдобуквами и</a:t>
            </a:r>
          </a:p>
          <a:p>
            <a:r>
              <a:t>читаемой надписью. Вторая причина — текстовый кодировщик: контрастно обученный хорошо кодирует,</a:t>
            </a:r>
          </a:p>
          <a:p>
            <a:r>
              <a:t>про что картинка, и плохо — точную последовательность символов; при удалении большой языковой</a:t>
            </a:r>
          </a:p>
          <a:p>
            <a:r>
              <a:t>модели из входа деградируют ровно два класса задач — сложные детализированные описания и длинный</a:t>
            </a:r>
          </a:p>
          <a:p>
            <a:r>
              <a:t>текст по буквам. К 2024–2026 годам проблема смягчена шестнадцатью каналами латента, большим</a:t>
            </a:r>
          </a:p>
          <a:p>
            <a:r>
              <a:t>текстовым кодировщиком и совместным внимением, но не закрыта: длинные строки, мелкий кегль,</a:t>
            </a:r>
          </a:p>
          <a:p>
            <a:r>
              <a:t>нелатинские письменности, кириллица остаются ненадёжными. Инженерное правило, которое отсюда</a:t>
            </a:r>
          </a:p>
          <a:p>
            <a:r>
              <a:t>следует: надписи в производственных материалах не генерируют — их накладывают отдельным слоем,</a:t>
            </a:r>
          </a:p>
          <a:p>
            <a:r>
              <a:t>настоящим шрифтом, вне генератора. Это случай, когда правильный ответ звучит как «здесь модель не</a:t>
            </a:r>
          </a:p>
          <a:p>
            <a:r>
              <a:t>нужна»: векторный текст поверх растрового фона решает задачу точно, дёшево, редактируемо и с</a:t>
            </a:r>
          </a:p>
          <a:p>
            <a:r>
              <a:t>гарантией, а у генерации неудачных попыток не бывает только у первого способа.</a:t>
            </a:r>
          </a:p>
          <a:p>
            <a:r>
              <a:t/>
            </a:r>
          </a:p>
          <a:p>
            <a:r>
              <a:t>Отказ второй — счёт объектов и пространственные отношения, измеренный воспроизводимый провал, а</a:t>
            </a:r>
          </a:p>
          <a:p>
            <a:r>
              <a:t>не анекдот про шесть пальцев. Специализированные наборы задач выделяют счёт в отдельную категорию</a:t>
            </a:r>
          </a:p>
          <a:p>
            <a:r>
              <a:t>именно потому, что результаты там систематически хуже остальных, и это держится даже там, где у</a:t>
            </a:r>
          </a:p>
          <a:p>
            <a:r>
              <a:t>модели есть словарь: у GPT-4o, авторегрессионного по дискретным токенам, счёт на GenEval — 0,85</a:t>
            </a:r>
          </a:p>
          <a:p>
            <a:r>
              <a:t>против собственного присутствия объекта почти 0,99, а на GenOlympiad 2026 года лучшая модель</a:t>
            </a:r>
          </a:p>
          <a:p>
            <a:r>
              <a:t>момента набирает всего 23,9 из 100 именно на оси счёта. Значит, дискретность словаря не та</a:t>
            </a:r>
          </a:p>
          <a:p>
            <a:r>
              <a:t>причина, которая чинит или держит счёт. Причина лежит в том, что предсказывает сеть: модель не</a:t>
            </a:r>
          </a:p>
          <a:p>
            <a:r>
              <a:t>считает объекты — она предсказывает числа в ячейках латента или вес внимания на позицию словаря.</a:t>
            </a:r>
          </a:p>
          <a:p>
            <a:r>
              <a:t>Слово «три» в описании — токен, влияющий на распределение весов внимания, а не счётчик. Понятия</a:t>
            </a:r>
          </a:p>
          <a:p>
            <a:r>
              <a:t>дискретного объекта в механизме нет ни в каком виде. И лечится это так же, как «слепота к буквам»</a:t>
            </a:r>
          </a:p>
          <a:p>
            <a:r>
              <a:t>у языковых моделей, — внешней проверкой: детектор посчитал, число не сошлось, перегенерировали.</a:t>
            </a:r>
          </a:p>
          <a:p>
            <a:r>
              <a:t>Навыком счёта это не лечится ни у одной архитектуры, потому что считать нечему.</a:t>
            </a:r>
          </a:p>
          <a:p>
            <a:r>
              <a:t/>
            </a:r>
          </a:p>
          <a:p>
            <a:r>
              <a:t>Отказ третий — и здесь семейства расходятся настоящим образом. У диффузии понятия объекта нет</a:t>
            </a:r>
          </a:p>
          <a:p>
            <a:r>
              <a:t>вовсе, «вот этот стул — тот же самый стул» между двумя генерациями не существует: согласованность</a:t>
            </a:r>
          </a:p>
          <a:p>
            <a:r>
              <a:t>достигается статистически — общим стартовым шумом, образцом лица, адаптером, — и деградирует с</a:t>
            </a:r>
          </a:p>
          <a:p>
            <a:r>
              <a:t>длиной серии. У авторегрессионного семейства по токенам картинки (с 2025 года) есть подлинная</a:t>
            </a:r>
          </a:p>
          <a:p>
            <a:r>
              <a:t>растущая история в общем токен-потоке, и независимые оценки показывают заметно лучшую</a:t>
            </a:r>
          </a:p>
          <a:p>
            <a:r>
              <a:t>согласованность персонажа — лучшую, не решённую: drift на длинных сериях документирован и здесь,</a:t>
            </a:r>
          </a:p>
          <a:p>
            <a:r>
              <a:t>просто окно устойчивости шире. Любой конвейер, которому нужен один и тот же персонаж, товар или</a:t>
            </a:r>
          </a:p>
          <a:p>
            <a:r>
              <a:t>интерфейс в серии кадров, обязан держать идентичность снаружи модели — у обоих семейств, с разным</a:t>
            </a:r>
          </a:p>
          <a:p>
            <a:r>
              <a:t>запасом прочности.</a:t>
            </a:r>
          </a:p>
          <a:p>
            <a:r>
              <a:t/>
            </a:r>
          </a:p>
          <a:p>
            <a:r>
              <a:t>И теперь — одно свойство, прочитанное с двух сторон, а не ещё один отказ в списке. Ограничения</a:t>
            </a:r>
          </a:p>
          <a:p>
            <a:r>
              <a:t>выше обычно читают как недостатки, которые следующая версия модели закроет. Для буквы и лица на</a:t>
            </a:r>
          </a:p>
          <a:p>
            <a:r>
              <a:t>дальнем плане это неверно проверяемым образом: оба следуют из того же свойства, которое дало</a:t>
            </a:r>
          </a:p>
          <a:p>
            <a:r>
              <a:t>выигрыш, и закрыть их, не отменив выигрыш, нельзя. Свойство — сжатие в 48 раз, превратившее</a:t>
            </a:r>
          </a:p>
          <a:p>
            <a:r>
              <a:t>3 145 728 чисел в 4096 токенов. Что оно дало: полтора порядка вычислений на каждом из десятков</a:t>
            </a:r>
          </a:p>
          <a:p>
            <a:r>
              <a:t>шагов, отсюда генерация на карте с 6–8 ГБ в августе 2022 года, открытые веса как рабочий</a:t>
            </a:r>
          </a:p>
          <a:p>
            <a:r>
              <a:t>инструмент, цена попытки $0,034–0,05 против $50–150 за заказ. Что оно забрало: буква размывается</a:t>
            </a:r>
          </a:p>
          <a:p>
            <a:r>
              <a:t>ещё до генерации; лицо на дальнем плане занимает единицы ячеек латента — восстанавливать в нём</a:t>
            </a:r>
          </a:p>
          <a:p>
            <a:r>
              <a:t>нечего; регулярные мелкие текстуры «кипят», тонкие длинные структуры рвутся при декодировании.</a:t>
            </a:r>
          </a:p>
          <a:p>
            <a:r>
              <a:t>Счёт объектов в этот список не входит: он остаётся слабейшей категорией композиции и у</a:t>
            </a:r>
          </a:p>
          <a:p>
            <a:r>
              <a:t>архитектур без всякого сжатия в непрерывный латент, с настоящим дискретным словарём — причина</a:t>
            </a:r>
          </a:p>
          <a:p>
            <a:r>
              <a:t>там другая и глубже, и не лечится ни большим автокодировщиком, ни словарём.</a:t>
            </a:r>
          </a:p>
          <a:p>
            <a:r>
              <a:t/>
            </a:r>
          </a:p>
          <a:p>
            <a:r>
              <a:t>Из этого следует правило выбора инструмента, которое переносится далеко за пределы генерации</a:t>
            </a:r>
          </a:p>
          <a:p>
            <a:r>
              <a:t>картинок: спрашивайте не «умеет ли инструмент такое-то», а «что именно он сжал, чтобы стать</a:t>
            </a:r>
          </a:p>
          <a:p>
            <a:r>
              <a:t>дешёвым». Ответ на второй вопрос предсказывает отказы, которых в документации ещё нет, тогда как</a:t>
            </a:r>
          </a:p>
          <a:p>
            <a:r>
              <a:t>ответ на первый устаревает с каждым выпуском. Когда в обзоре написано «новая версия наконец</a:t>
            </a:r>
          </a:p>
          <a:p>
            <a:r>
              <a:t>научилась рисовать текст», полезно спросить, за счёт чего: обычно ответ — больший автокодировщик,</a:t>
            </a:r>
          </a:p>
          <a:p>
            <a:r>
              <a:t>то есть меньшее сжатие, то есть больше вычислений на каждом шаге. Ограничение не исчезло —</a:t>
            </a:r>
          </a:p>
          <a:p>
            <a:r>
              <a:t>качество куплено за ту самую величину, экономия которой и сделала метод дешёвым.</a:t>
            </a:r>
          </a:p>
          <a:p>
            <a:r>
              <a:t/>
            </a:r>
          </a:p>
          <a:p>
            <a:r>
              <a:t>У правила есть и обратная сторона, иначе оно читается как совет не пользоваться инструментом.</a:t>
            </a:r>
          </a:p>
          <a:p>
            <a:r>
              <a:t>Сжатие выбрасывает высокие частоты и мелкие детали — и ровно поэтому генерация отлично работает</a:t>
            </a:r>
          </a:p>
          <a:p>
            <a:r>
              <a:t>там, где значима композиция, цвет, настроение и общая форма, то есть на стадии, где облик ещё</a:t>
            </a:r>
          </a:p>
          <a:p>
            <a:r>
              <a:t>ищут. Отказы и выигрыш распределены по стадиям производства, а не по качеству модели: на поиске</a:t>
            </a:r>
          </a:p>
          <a:p>
            <a:r>
              <a:t>облика свойство работает на вас, на выпуске готового материала — против. Знание границы избавляет</a:t>
            </a:r>
          </a:p>
          <a:p>
            <a:r>
              <a:t>от выбора между «пользоваться» и «не пользоваться»: инструмент расставляют по стадиям, и это</a:t>
            </a:r>
          </a:p>
          <a:p>
            <a:r>
              <a:t>инженерный ответ, а не крайность.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ограничение раздела для инженерной аудитории сформулировано так, чтобы его можно было</a:t>
            </a:r>
          </a:p>
          <a:p>
            <a:r>
              <a:t>проверить до запуска проекта, а не после. Генератор производит картинку объекта. Модели объекта</a:t>
            </a:r>
          </a:p>
          <a:p>
            <a:r>
              <a:t>внутри картинки нет: нет единиц измерения, нет допусков, нет материалов, нет кинематики, нет</a:t>
            </a:r>
          </a:p>
          <a:p>
            <a:r>
              <a:t>ограничений как проверяемых условий, нет дерева построения. Изображение детали, на котором</a:t>
            </a:r>
          </a:p>
          <a:p>
            <a:r>
              <a:t>похоже, что резьба М12, не содержит резьбы М12 — оно содержит точки растра, статистически похожие</a:t>
            </a:r>
          </a:p>
          <a:p>
            <a:r>
              <a:t>на фотографии резьбы: по первому можно нарезать резьбу, по второму нельзя, потому что нечего</a:t>
            </a:r>
          </a:p>
          <a:p>
            <a:r>
              <a:t>нарезать.</a:t>
            </a:r>
          </a:p>
          <a:p>
            <a:r>
              <a:t/>
            </a:r>
          </a:p>
          <a:p>
            <a:r>
              <a:t>Отсюда четыре практических запрета, каждый проверяется за секунду. Нельзя измерить: снять размер</a:t>
            </a:r>
          </a:p>
          <a:p>
            <a:r>
              <a:t>с генерации нечем, масштаба в изображении нет — даже линейка в кадре нарисуется статистически</a:t>
            </a:r>
          </a:p>
          <a:p>
            <a:r>
              <a:t>похожей, с делениями в произвольных местах. Нельзя проверить — и здесь опасная часть:</a:t>
            </a:r>
          </a:p>
          <a:p>
            <a:r>
              <a:t>сгенерированная конструкция не проходила ни прочностного расчёта, ни проверки собираемости, и</a:t>
            </a:r>
          </a:p>
          <a:p>
            <a:r>
              <a:t>выглядит ровно так же, как прошедшая. У ошибки нет внешнего признака, по которому её поймал бы</a:t>
            </a:r>
          </a:p>
          <a:p>
            <a:r>
              <a:t>беглый взгляд или согласование; неудобное ограничение заставляет делать лишнюю работу, опасное</a:t>
            </a:r>
          </a:p>
          <a:p>
            <a:r>
              <a:t>позволяет не делать нужную и не заметить этого. Нельзя изготовить: на выходе нет геометрии, которую</a:t>
            </a:r>
          </a:p>
          <a:p>
            <a:r>
              <a:t>примет станок. Нельзя сопровождать: дерева построения нет, значит, «поменять диаметр и</a:t>
            </a:r>
          </a:p>
          <a:p>
            <a:r>
              <a:t>пересчитать» невозможно — любое изменение требует новой генерации, а новая генерация даёт другую</a:t>
            </a:r>
          </a:p>
          <a:p>
            <a:r>
              <a:t>деталь, а не изменённую ту же самую.</a:t>
            </a:r>
          </a:p>
          <a:p>
            <a:r>
              <a:t/>
            </a:r>
          </a:p>
          <a:p>
            <a:r>
              <a:t>Честная вторая половина обязательна, иначе кадр превращается в запрет вместо критерия. На стадии</a:t>
            </a:r>
          </a:p>
          <a:p>
            <a:r>
              <a:t>поиска облика генератор работает ровно так, как в рекламе, и по той же экономике. В визуализации</a:t>
            </a:r>
          </a:p>
          <a:p>
            <a:r>
              <a:t>уже посчитанного геометрия пришла из расчёта, а модель занимается тем, чем должна — внешним</a:t>
            </a:r>
          </a:p>
          <a:p>
            <a:r>
              <a:t>видом. В презентационных материалах — тоже. Граница проходит ровно там, где картинка перестаёт</a:t>
            </a:r>
          </a:p>
          <a:p>
            <a:r>
              <a:t>быть иллюстрацией и начинает быть источником данных для следующего шага производства.</a:t>
            </a:r>
          </a:p>
          <a:p>
            <a:r>
              <a:t>Формулировка, которую стоит унести: генератор отвечает на вопрос «как это выглядит», САПР</a:t>
            </a:r>
          </a:p>
          <a:p>
            <a:r>
              <a:t>отвечает на вопрос «что это такое»; подменять второй первым — подлог, а не экономия. Связка с</a:t>
            </a:r>
          </a:p>
          <a:p>
            <a:r>
              <a:t>разбором бионической перегородки прямая: там выигрыш приписали модели задним числом, здесь модель</a:t>
            </a:r>
          </a:p>
          <a:p>
            <a:r>
              <a:t>пытаются поставить туда, где нужен решатель, заранее — обе ошибки одного класса, и обе ловятся</a:t>
            </a:r>
          </a:p>
          <a:p>
            <a:r>
              <a:t>одним вопросом: что в этой задаче критерий и можно ли его проверить вычислением.</a:t>
            </a:r>
          </a:p>
          <a:p>
            <a:r>
              <a:t/>
            </a:r>
          </a:p>
          <a:p>
            <a:r>
              <a:t>Тот же класс ограничения виден и с другой стороны, и к нему инженер, пришедший из работы с</a:t>
            </a:r>
          </a:p>
          <a:p>
            <a:r>
              <a:t>языковыми моделями, приходит одним из первых вопросов: у нас есть приём, которым чинят уверенное</a:t>
            </a:r>
          </a:p>
          <a:p>
            <a:r>
              <a:t>враньё — положить источник в контекст и потребовать ссылку; где такой же приём для картинок?</a:t>
            </a:r>
          </a:p>
          <a:p>
            <a:r>
              <a:t>Ответа нет, и причина устройственная, а не продуктовая. По шагам: в языковой модели источник</a:t>
            </a:r>
          </a:p>
          <a:p>
            <a:r>
              <a:t>попадает в контекст — последовательность токенов, которую модель читает прежде, чем отвечать, и</a:t>
            </a:r>
          </a:p>
          <a:p>
            <a:r>
              <a:t>внимание может на него сослаться. В диффузии и потоке контекста в этом смысле нет вовсе: описание</a:t>
            </a:r>
          </a:p>
          <a:p>
            <a:r>
              <a:t>— постоянное условие, неизменное на всех пятидесяти шагах, и входит как набор векторов, смещающих</a:t>
            </a:r>
          </a:p>
          <a:p>
            <a:r>
              <a:t>внимание; положить документ некуда, единственный вход кроме стартового шума — каналы</a:t>
            </a:r>
          </a:p>
          <a:p>
            <a:r>
              <a:t>обусловливания, а они передают геометрию и стиль, а не утверждения. У авторегрессии по токенам</a:t>
            </a:r>
          </a:p>
          <a:p>
            <a:r>
              <a:t>картинки (с 2025 года) контекст в буквальном смысле есть и растёт тем же механизмом, что у</a:t>
            </a:r>
          </a:p>
          <a:p>
            <a:r>
              <a:t>языковой модели, и туда можно положить референсное изображение или текст, — но это не чинит</a:t>
            </a:r>
          </a:p>
          <a:p>
            <a:r>
              <a:t>задачу: ни один токен картинки, дискретный он или непрерывный, не верифицируется против внешнего</a:t>
            </a:r>
          </a:p>
          <a:p>
            <a:r>
              <a:t>факта на выходе ни у одной архитектуры 2026 года.</a:t>
            </a:r>
          </a:p>
          <a:p>
            <a:r>
              <a:t/>
            </a:r>
          </a:p>
          <a:p>
            <a:r>
              <a:t>Что обусловливание делает на самом деле: карта глубины говорит «здесь объект ближе», поза —</a:t>
            </a:r>
          </a:p>
          <a:p>
            <a:r>
              <a:t>«рука поднята», образец лица — «похоже на это». Ни один канал не способен передать утверждение</a:t>
            </a:r>
          </a:p>
          <a:p>
            <a:r>
              <a:t>вида «у этой модели двигателя шесть болтов крепления» — у них нет ни формы для утверждения, ни</a:t>
            </a:r>
          </a:p>
          <a:p>
            <a:r>
              <a:t>механизма проверки выполнения. Обусловливание подсказывает форму, а не истину. И нет механизма</a:t>
            </a:r>
          </a:p>
          <a:p>
            <a:r>
              <a:t>цитирования: поиск по документам работает в паре с требованием ссылки, а у сгенерированного кадра</a:t>
            </a:r>
          </a:p>
          <a:p>
            <a:r>
              <a:t>провенанса не существует физически — вклад каждого обучающего примера размазан по миллиардам</a:t>
            </a:r>
          </a:p>
          <a:p>
            <a:r>
              <a:t>весов; поставщик его не прячет, его не существует.</a:t>
            </a:r>
          </a:p>
          <a:p>
            <a:r>
              <a:t/>
            </a:r>
          </a:p>
          <a:p>
            <a:r>
              <a:t>Три практических последствия. Первое: правовая проверка выхода изнутри модели невозможна —</a:t>
            </a:r>
          </a:p>
          <a:p>
            <a:r>
              <a:t>похоже ли это на чужую охраняемую работу определяется только сравнением снаружи, обратным</a:t>
            </a:r>
          </a:p>
          <a:p>
            <a:r>
              <a:t>поиском по изображению. Второе: «удалить один факт» из модели нельзя — то же ограничение, что у</a:t>
            </a:r>
          </a:p>
          <a:p>
            <a:r>
              <a:t>весов языковой модели, отсюда вся индустрия фильтров на выходе вместо правок внутри. Третье:</a:t>
            </a:r>
          </a:p>
          <a:p>
            <a:r>
              <a:t>отсюда же берутся подпись происхождения и встроенный водяной знак — инженерное признание того, что</a:t>
            </a:r>
          </a:p>
          <a:p>
            <a:r>
              <a:t>внутри модели задача не решается, а не дополнительная удобная функция.</a:t>
            </a:r>
          </a:p>
          <a:p>
            <a:r>
              <a:t/>
            </a:r>
          </a:p>
          <a:p>
            <a:r>
              <a:t>Контраст с языковой моделью резкий: там грамматика схемы маскирует невалидные токены при</a:t>
            </a:r>
          </a:p>
          <a:p>
            <a:r>
              <a:t>декодировании, и невалидный формат физически не может быть сгенерирован. Здесь аналога нет, и он</a:t>
            </a:r>
          </a:p>
          <a:p>
            <a:r>
              <a:t>не появится, пока выход непрерывен: маскировать нечего, запрещать нечему, непрерывную величину</a:t>
            </a:r>
          </a:p>
          <a:p>
            <a:r>
              <a:t>нельзя вычеркнуть из словаря, которого не существует. Инженерный вывод, объединяющий оба</a:t>
            </a:r>
          </a:p>
          <a:p>
            <a:r>
              <a:t>ограничения кадра: соответствие техническому заданию в генеративном медиа-конвейере обеспечивается</a:t>
            </a:r>
          </a:p>
          <a:p>
            <a:r>
              <a:t>контуром вокруг модели — проверкой на выходе, детектором, человеком-валидатором, перегенерацией по</a:t>
            </a:r>
          </a:p>
          <a:p>
            <a:r>
              <a:t>отказу. Это та же конструкция «человек-валидатор», которую курс поставил обязательным элементом</a:t>
            </a:r>
          </a:p>
          <a:p>
            <a:r>
              <a:t>агентной системы, и здесь она перестаёт быть рекомендацией: это единственный способ выполнить</a:t>
            </a:r>
          </a:p>
          <a:p>
            <a:r>
              <a:t>техническое задание. Проект, в котором контур не спроектирован, не имеет механизма выполнить</a:t>
            </a:r>
          </a:p>
          <a:p>
            <a:r>
              <a:t>требования заказчика, сколько бы времени ни потратили на подбор описаний.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разбор раздела показал, что́ обвал цены единицы дал. Этот кадр — вторая половина той же</a:t>
            </a:r>
          </a:p>
          <a:p>
            <a:r>
              <a:t>пары: что он потребовал и с кого взял. Единица та же — доллар за одну годную картинку.</a:t>
            </a:r>
          </a:p>
          <a:p>
            <a:r>
              <a:t/>
            </a:r>
          </a:p>
          <a:p>
            <a:r>
              <a:t>Начать стоит с якоря единицы: розничная лицензия стоила $130–499, оптовая по подписке — ≈$2,50.</a:t>
            </a:r>
          </a:p>
          <a:p>
            <a:r>
              <a:t>Против $0,034–0,05 у генерации это разрыв от 73 раз к опту до 14 700 к рознице. Вся бизнес-модель</a:t>
            </a:r>
          </a:p>
          <a:p>
            <a:r>
              <a:t>стояла на том, что готовое изображение стоит денег, потому что его кто-то снял. И сразу честный</a:t>
            </a:r>
          </a:p>
          <a:p>
            <a:r>
              <a:t>пробел, который объясняет, почему кадр устроен именно так: измеренного ряда ставки самого</a:t>
            </a:r>
          </a:p>
          <a:p>
            <a:r>
              <a:t>иллюстратора год к году в источниках нет. Уровень классических ставок известен, динамика не</a:t>
            </a:r>
          </a:p>
          <a:p>
            <a:r>
              <a:t>измерена, и подставлять сюда оценку нельзя — правило здесь работает против удобного вывода, а не</a:t>
            </a:r>
          </a:p>
          <a:p>
            <a:r>
              <a:t>за него. Поэтому обвал предъявляется там, где он посчитан, — на балансе продавца изображений.</a:t>
            </a:r>
          </a:p>
          <a:p>
            <a:r>
              <a:t/>
            </a:r>
          </a:p>
          <a:p>
            <a:r>
              <a:t>А там он посчитан подробно. Подписчики стокового агентства за год: 321 000 против 240 000, то</a:t>
            </a:r>
          </a:p>
          <a:p>
            <a:r>
              <a:t>есть −25%; выручка −2,5%, до $229,1 млн. Слияние с крупнейшим конкурентом расторгнуто 7 июля</a:t>
            </a:r>
          </a:p>
          <a:p>
            <a:r>
              <a:t>2026 года после того, как британский регулятор поставил условием продажу всего редакционного</a:t>
            </a:r>
          </a:p>
          <a:p>
            <a:r>
              <a:t>бизнеса приобретаемой компании. Торги на бирже остановлены 29 сентября. Заранее согласованное</a:t>
            </a:r>
          </a:p>
          <a:p>
            <a:r>
              <a:t>банкротство подано 12–13 октября при долге ≈$2,1 млрд; семья владельцев с партнёром вносит до</a:t>
            </a:r>
          </a:p>
          <a:p>
            <a:r>
              <a:t>$533 млн, кредиторы списывают $270 млн. Причину назвала сама компания: растущее давление</a:t>
            </a:r>
          </a:p>
          <a:p>
            <a:r>
              <a:t>изображений, созданных моделями, — собственная формулировка в корпоративном сообщении, а не</a:t>
            </a:r>
          </a:p>
          <a:p>
            <a:r>
              <a:t>вывод обозревателя. Прежняя ходовая формулировка «два крупнейших стоковых агентства</a:t>
            </a:r>
          </a:p>
          <a:p>
            <a:r>
              <a:t>консолидируются в ответ на искусственный интеллект» снята: слияние не состоялось, и звучать это</a:t>
            </a:r>
          </a:p>
          <a:p>
            <a:r>
              <a:t>должно иначе — попытка защититься не сработала.</a:t>
            </a:r>
          </a:p>
          <a:p>
            <a:r>
              <a:t/>
            </a:r>
          </a:p>
          <a:p>
            <a:r>
              <a:t>Исторический контрапункт превращает сюжет из новости в урок, и ради него кадр стоит в разделе</a:t>
            </a:r>
          </a:p>
          <a:p>
            <a:r>
              <a:t>именно таким — сравнением двух манёвров одного игрока с разницей в двадцать лет. 2006 год:</a:t>
            </a:r>
          </a:p>
          <a:p>
            <a:r>
              <a:t>классические агентства продавали изображение по $100–1000s, микросток — по $0,25–1. Владелец</a:t>
            </a:r>
          </a:p>
          <a:p>
            <a:r>
              <a:t>дорогой библиотеки купил микросток, то есть собственного разрушителя цены. Рынок разделился на</a:t>
            </a:r>
          </a:p>
          <a:p>
            <a:r>
              <a:t>«дёшево и много» и «дорого и именно это», верхний сегмент выжил, покупатель остался в нём главным.</a:t>
            </a:r>
          </a:p>
          <a:p>
            <a:r>
              <a:t>Манёвр сработал, потому что микросток был НОВЫМ КАНАЛОМ продажи той же самой вещи — фотографии,</a:t>
            </a:r>
          </a:p>
          <a:p>
            <a:r>
              <a:t>снятой человеком; канал можно купить, у него есть владелец, договор, цена.</a:t>
            </a:r>
          </a:p>
          <a:p>
            <a:r>
              <a:t/>
            </a:r>
          </a:p>
          <a:p>
            <a:r>
              <a:t>2026 год: тот же игрок пытается объединиться с конкурентом. Манёвр не прошёл, и регулятор здесь</a:t>
            </a:r>
          </a:p>
          <a:p>
            <a:r>
              <a:t>ни при чём: даже состоявшееся слияние двух продавцов фотографий не вернуло бы цену единицы,</a:t>
            </a:r>
          </a:p>
          <a:p>
            <a:r>
              <a:t>потому что обесценилась не их доля рынка, а сам товар. Разница формулируется одной строкой:</a:t>
            </a:r>
          </a:p>
          <a:p>
            <a:r>
              <a:t>генерация — ОТСУТСТВИЕ ВЕЩИ, которую нужно лицензировать. Купить её владельца невозможно, потому</a:t>
            </a:r>
          </a:p>
          <a:p>
            <a:r>
              <a:t>что владельца нет: нет компании, у которой можно приобрести право на то, чтобы люди перестали</a:t>
            </a:r>
          </a:p>
          <a:p>
            <a:r>
              <a:t>генерировать картинки, и нет договора, который это право оформил бы. Когда дешевеет канал,</a:t>
            </a:r>
          </a:p>
          <a:p>
            <a:r>
              <a:t>выживает тот, кто канал купит. Когда обесценивается сама единица, покупать нечего.</a:t>
            </a:r>
          </a:p>
          <a:p>
            <a:r>
              <a:t/>
            </a:r>
          </a:p>
          <a:p>
            <a:r>
              <a:t>Для студента здесь практический вывод, а не злорадство. Прежде чем планировать ответ на</a:t>
            </a:r>
          </a:p>
          <a:p>
            <a:r>
              <a:t>удешевление, спросите, что именно подешевело: канал доставки товара или сам товар. Подешевевший</a:t>
            </a:r>
          </a:p>
          <a:p>
            <a:r>
              <a:t>канал покупают, перехватывают или обходят — он чей-то, с ним можно договориться. Обесценившаяся</a:t>
            </a:r>
          </a:p>
          <a:p>
            <a:r>
              <a:t>единица не лечится покупкой вовсе: единственный ход — найти, что в вашей работе не является этой</a:t>
            </a:r>
          </a:p>
          <a:p>
            <a:r>
              <a:t>единицей, и перенести туда цену. Для продавца изображений таким остатком оказался редакционный</a:t>
            </a:r>
          </a:p>
          <a:p>
            <a:r>
              <a:t>архив — снимки конкретных событий, которых не существует в сгенерированном виде по определению, —</a:t>
            </a:r>
          </a:p>
          <a:p>
            <a:r>
              <a:t>и показательно, что именно его регулятор потребовал продать, а сделка на этом и рассыпалась. Все</a:t>
            </a:r>
          </a:p>
          <a:p>
            <a:r>
              <a:t>три уцелевших товара, которые видны в этой истории — права на изображение с подтверждённым</a:t>
            </a:r>
          </a:p>
          <a:p>
            <a:r>
              <a:t>происхождением, редакционный архив, доступ к съёмке события, которое произошло один раз, —</a:t>
            </a:r>
          </a:p>
          <a:p>
            <a:r>
              <a:t>объединяет одно свойство: их ценность держится не на изображении как таковом, а на том, что за</a:t>
            </a:r>
          </a:p>
          <a:p>
            <a:r>
              <a:t>ним стоит проверяемый факт. Для исполнителя, скорее всего, таким остатком окажется отбор и</a:t>
            </a:r>
          </a:p>
          <a:p>
            <a:r>
              <a:t>ответственность за выпуск — ровно то, что весь вечер уезжает вправо. Это прямо подводит к</a:t>
            </a:r>
          </a:p>
          <a:p>
            <a:r>
              <a:t>следующей паре кадров, где речь пойдёт о том, чем вообще обучены эти модели и что из их выхода</a:t>
            </a:r>
          </a:p>
          <a:p>
            <a:r>
              <a:t>можно выпускать.</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здесь стоит задать залу прежде, чем показывать ответ: модель весит 4,27 ГБ и обучена на</a:t>
            </a:r>
          </a:p>
          <a:p>
            <a:r>
              <a:t>2,32 млрд изображений — сколько байт весов приходится на одно обучающее изображение: килобайт,</a:t>
            </a:r>
          </a:p>
          <a:p>
            <a:r>
              <a:t>сто байт или меньше одной буквы? Интуиция почти всегда завышает, и именно поэтому ответ попадает.</a:t>
            </a:r>
          </a:p>
          <a:p>
            <a:r>
              <a:t>Адрес платежа здесь — права: именно это деление и есть первый шаг к вопросу, кому принадлежит то,</a:t>
            </a:r>
          </a:p>
          <a:p>
            <a:r>
              <a:t>что получилось.</a:t>
            </a:r>
          </a:p>
          <a:p>
            <a:r>
              <a:t/>
            </a:r>
          </a:p>
          <a:p>
            <a:r>
              <a:t>4 265 146 304 байта весов, делённые на 2 320 000 000 изображений, дают 1,84 байта на картинку.</a:t>
            </a:r>
          </a:p>
          <a:p>
            <a:r>
              <a:t>Один символ кириллицы в распространённой кодировке занимает ровно два байта. То есть на каждую</a:t>
            </a:r>
          </a:p>
          <a:p>
            <a:r>
              <a:t>картинку, которую модель видела при обучении, в ней приходится меньше места, чем на одну букву</a:t>
            </a:r>
          </a:p>
          <a:p>
            <a:r>
              <a:t>этой фразы.</a:t>
            </a:r>
          </a:p>
          <a:p>
            <a:r>
              <a:t/>
            </a:r>
          </a:p>
          <a:p>
            <a:r>
              <a:t>Сама картинка в том же корпусе весит в среднем 41 379 байт — это измерено, а не оценено:</a:t>
            </a:r>
          </a:p>
          <a:p>
            <a:r>
              <a:t>инструмент скачивания набора отчитался о 240 ТБ на 5,8 млрд изображений. Степень сжатия по</a:t>
            </a:r>
          </a:p>
          <a:p>
            <a:r>
              <a:t>корпусу получается 22 508 раз.</a:t>
            </a:r>
          </a:p>
          <a:p>
            <a:r>
              <a:t/>
            </a:r>
          </a:p>
          <a:p>
            <a:r>
              <a:t>Чтобы вывод не держался на одном делении, его стоит пересчитать двумя другими способами. В</a:t>
            </a:r>
          </a:p>
          <a:p>
            <a:r>
              <a:t>полной точности модель весит 7,7 ГБ, и это даёт 3,32 байта на картинку. Против 160 млн примеров,</a:t>
            </a:r>
          </a:p>
          <a:p>
            <a:r>
              <a:t>с которыми сверялись авторы работы об извлечении, выходит 26,7 байта, то есть треть строки</a:t>
            </a:r>
          </a:p>
          <a:p>
            <a:r>
              <a:t>текста, — при том что файл изображения 512×512 короче двадцати тысяч байт не бывает. Даже по</a:t>
            </a:r>
          </a:p>
          <a:p>
            <a:r>
              <a:t>самому щедрому к версии «модель хранит картинки» счёту она в полторы тысячи раз меньше того, на</a:t>
            </a:r>
          </a:p>
          <a:p>
            <a:r>
              <a:t>чём училась. Рядом хорошо работает вспомогательное наблюдение: репозиторий одних только ссылок и</a:t>
            </a:r>
          </a:p>
          <a:p>
            <a:r>
              <a:t>подписей, без единой картинки, весит 467 ГБ, а в пересчёте на все пары около 1,18 ТБ — то есть</a:t>
            </a:r>
          </a:p>
          <a:p>
            <a:r>
              <a:t>список ссылок весит в 275 раз больше, чем вся модель.</a:t>
            </a:r>
          </a:p>
          <a:p>
            <a:r>
              <a:t/>
            </a:r>
          </a:p>
          <a:p>
            <a:r>
              <a:t>И теперь вторая половина, без которой первая превращается в рекламу. Диффузионные модели</a:t>
            </a:r>
          </a:p>
          <a:p>
            <a:r>
              <a:t>запоминают отдельные изображения из обучающих данных и выдают их при генерации — это показано в</a:t>
            </a:r>
          </a:p>
          <a:p>
            <a:r>
              <a:t>работе 2023 года, и методика там названа точно. Отобрали 350 000 самых дублированных примеров</a:t>
            </a:r>
          </a:p>
          <a:p>
            <a:r>
              <a:t>обучающего набора, сгенерировали по 500 кандидатов на каждый — 175 млн изображений — и нашли 109</a:t>
            </a:r>
          </a:p>
          <a:p>
            <a:r>
              <a:t>извлечённых: 94 по формальному критерию плюс 13 при ручной разметке. В долях это 0,000062% от</a:t>
            </a:r>
          </a:p>
          <a:p>
            <a:r>
              <a:t>сгенерированного и 0,031% от самых дублированных запросов.</a:t>
            </a:r>
          </a:p>
          <a:p>
            <a:r>
              <a:t/>
            </a:r>
          </a:p>
          <a:p>
            <a:r>
              <a:t>Механизм назван в самой статье. Извлечение удаётся чаще всего тогда, когда изображение было</a:t>
            </a:r>
          </a:p>
          <a:p>
            <a:r>
              <a:t>продублировано в корпусе минимум сто раз; при таком уровне дублирования такие примеры составляют</a:t>
            </a:r>
          </a:p>
          <a:p>
            <a:r>
              <a:t>примерно один на миллион обучающих. Карточка модели подтверждает это с другой стороны: никаких</a:t>
            </a:r>
          </a:p>
          <a:p>
            <a:r>
              <a:t>мер по дедупликации набора данных не применялось, и запоминание изображений, дублированных в</a:t>
            </a:r>
          </a:p>
          <a:p>
            <a:r>
              <a:t>обучающих данных, авторы наблюдают сами.</a:t>
            </a:r>
          </a:p>
          <a:p>
            <a:r>
              <a:t/>
            </a:r>
          </a:p>
          <a:p>
            <a:r>
              <a:t>Формулировка, которую стоит унести, состоит из двух половин, и обе обязательны. Модель не хранит</a:t>
            </a:r>
          </a:p>
          <a:p>
            <a:r>
              <a:t>картинки: на одну приходится 1,84 байта, и этого физически не хватит ни на что. Но картинка,</a:t>
            </a:r>
          </a:p>
          <a:p>
            <a:r>
              <a:t>попавшая в обучающий набор сто раз, перестаёт быть одной из двух миллиардов, и её можно вытащить.</a:t>
            </a:r>
          </a:p>
          <a:p>
            <a:r>
              <a:t>Запоминается дубликат, а не корпус. Первая половина без второй — реклама, вторая без первой —</a:t>
            </a:r>
          </a:p>
          <a:p>
            <a:r>
              <a:t>обвинение, и ровно поэтому в публичном споре обе стороны цитируют по одной половине и обе</a:t>
            </a:r>
          </a:p>
          <a:p>
            <a:r>
              <a:t>формально правы.</a:t>
            </a:r>
          </a:p>
          <a:p>
            <a:r>
              <a:t/>
            </a:r>
          </a:p>
          <a:p>
            <a:r>
              <a:t>Инженерный вывод из обеих половин сразу, и он действенный. Дедупликация обучающего корпуса —</a:t>
            </a:r>
          </a:p>
          <a:p>
            <a:r>
              <a:t>измеримая мера управления риском, а не гигиена, и её отсутствие в этой модели задокументировано</a:t>
            </a:r>
          </a:p>
          <a:p>
            <a:r>
              <a:t>самими авторами. Если вы обучаете или дообучаете модель на собственном наборе, число копий</a:t>
            </a:r>
          </a:p>
          <a:p>
            <a:r>
              <a:t>одного изображения в наборе — это параметр, который прямо управляет вероятностью того, что оно</a:t>
            </a:r>
          </a:p>
          <a:p>
            <a:r>
              <a:t>выйдет наружу узнаваемым. Это редкий случай, когда у юридического риска есть численная ручка, и</a:t>
            </a:r>
          </a:p>
          <a:p>
            <a:r>
              <a:t>ручка эта — в подготовке данных, ровно там же, где сидит главный рычаг стоимости.</a:t>
            </a:r>
          </a:p>
          <a:p>
            <a:r>
              <a:t/>
            </a:r>
          </a:p>
          <a:p>
            <a:r>
              <a:t>И это устройство, а не отдельная тема, выводит права. Если машина не хранит и не конструирует</a:t>
            </a:r>
          </a:p>
          <a:p>
            <a:r>
              <a:t>объекты, а статистически галлюцинирует их из шума, то из того же самого устройства, что разобрано</a:t>
            </a:r>
          </a:p>
          <a:p>
            <a:r>
              <a:t>здесь, следует: она не копирует. А если не копирует — остаётся только узкий канал товарного</a:t>
            </a:r>
          </a:p>
          <a:p>
            <a:r>
              <a:t>знака, то есть артефакт, который виден на выходе. Эта цепочка — «не конструирует → не копирует →</a:t>
            </a:r>
          </a:p>
          <a:p>
            <a:r>
              <a:t>только товарный знак» — и есть мост к следующему кадру, где её читает суд.</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единственный подробный правовой разбор всего вечера, и жанр его отличается от остальных — у</a:t>
            </a:r>
          </a:p>
          <a:p>
            <a:r>
              <a:t>судебного решения нет ни цены обеих ошибок в одних единицах, ни классического режима, ни имени</a:t>
            </a:r>
          </a:p>
          <a:p>
            <a:r>
              <a:t>изделия-исполнителя. Поэтому разбор идёт по своей форме: что суд решил, чего он не решил, чем это</a:t>
            </a:r>
          </a:p>
          <a:p>
            <a:r>
              <a:t>отличается от соседней юрисдикции. Адрес платежа здесь — права, и предыдущий кадр подвёл к нему</a:t>
            </a:r>
          </a:p>
          <a:p>
            <a:r>
              <a:t>прямой цепочкой: модель не конструирует объект → значит не копирует → значит остаётся только</a:t>
            </a:r>
          </a:p>
          <a:p>
            <a:r>
              <a:t>товарный знак. Решение суда и есть вторая опора этой цепочки, а не первая.</a:t>
            </a:r>
          </a:p>
          <a:p>
            <a:r>
              <a:t/>
            </a:r>
          </a:p>
          <a:p>
            <a:r>
              <a:t>Что решено. Высокий суд Англии и Уэльса, судья Джоанна Смит, 4 ноября 2025 года: веса модели —</a:t>
            </a:r>
          </a:p>
          <a:p>
            <a:r>
              <a:t>математические параметры, и они не являются контрафактной копией по британскому закону об</a:t>
            </a:r>
          </a:p>
          <a:p>
            <a:r>
              <a:t>авторском праве; вторичное нарушение не доказано. Узкая победа истца пришла по товарному знаку:</a:t>
            </a:r>
          </a:p>
          <a:p>
            <a:r>
              <a:t>в сгенерированных изображениях обнаруживались артефакты его водяных знаков. Деталь эта кажется</a:t>
            </a:r>
          </a:p>
          <a:p>
            <a:r>
              <a:t>технической, а она и есть инженерный вывод кадра: выиграть удалось ровно по тому каналу, где</a:t>
            </a:r>
          </a:p>
          <a:p>
            <a:r>
              <a:t>нарушение видно на выходе, то есть там, где внешняя проверка результата вообще возможна — ровно</a:t>
            </a:r>
          </a:p>
          <a:p>
            <a:r>
              <a:t>так же, как предыдущий кадр показал: провенанса внутри модели не существует, проверка выносится</a:t>
            </a:r>
          </a:p>
          <a:p>
            <a:r>
              <a:t>наружу.</a:t>
            </a:r>
          </a:p>
          <a:p>
            <a:r>
              <a:t/>
            </a:r>
          </a:p>
          <a:p>
            <a:r>
              <a:t>Список того, чего суд не решил, важнее списка решённого. Законно ли само обучение — не решено.</a:t>
            </a:r>
          </a:p>
          <a:p>
            <a:r>
              <a:t>Что было бы, если бы обучение доказуемо шло в британской юрисдикции, — не решено. Устоит ли вывод</a:t>
            </a:r>
          </a:p>
          <a:p>
            <a:r>
              <a:t>о весах в апелляции — неизвестно: разрешение получено в январе 2026 года, вопрос признан новым и</a:t>
            </a:r>
          </a:p>
          <a:p>
            <a:r>
              <a:t>важным, у довода истца найдена реальная перспектива успеха; решения апелляционного суда на конец</a:t>
            </a:r>
          </a:p>
          <a:p>
            <a:r>
              <a:t>октября 2026 года нет. И отдельно: сколько именно человеческого вклада достаточно для авторства —</a:t>
            </a:r>
          </a:p>
          <a:p>
            <a:r>
              <a:t>не решено ни здесь, ни в соседней юрисдикции.</a:t>
            </a:r>
          </a:p>
          <a:p>
            <a:r>
              <a:t/>
            </a:r>
          </a:p>
          <a:p>
            <a:r>
              <a:t>Почему истец проиграл, и почему это не то, что все думают. В ходе слушаний июня 2025 года истец</a:t>
            </a:r>
          </a:p>
          <a:p>
            <a:r>
              <a:t>сам отказался от основных требований — по обучению и по выходам модели: не хватило доказательств,</a:t>
            </a:r>
          </a:p>
          <a:p>
            <a:r>
              <a:t>что обучение происходило в британской юрисдикции. В Великобритании нет доктрины добросовестного</a:t>
            </a:r>
          </a:p>
          <a:p>
            <a:r>
              <a:t>использования в американском смысле; есть узкие исключения, в которые обучение коммерческой</a:t>
            </a:r>
          </a:p>
          <a:p>
            <a:r>
              <a:t>модели не укладывается. Один и тот же спор в двух юрисдикциях проигрывают двумя разными</a:t>
            </a:r>
          </a:p>
          <a:p>
            <a:r>
              <a:t>способами: в США — потому, что обучение на законно приобретённых материалах признают</a:t>
            </a:r>
          </a:p>
          <a:p>
            <a:r>
              <a:t>преобразующим использованием; в Великобритании — потому, что истец не доказал, где оно физически</a:t>
            </a:r>
          </a:p>
          <a:p>
            <a:r>
              <a:t>происходило. Формулировка «британский суд признал обучение моделей законным» неверна и</a:t>
            </a:r>
          </a:p>
          <a:p>
            <a:r>
              <a:t>встречается постоянно: суд не рассматривал законность обучения, требование было снято самим</a:t>
            </a:r>
          </a:p>
          <a:p>
            <a:r>
              <a:t>истцом. Разница между «суд решил, что это законно» и «суд не стал это рассматривать» —</a:t>
            </a:r>
          </a:p>
          <a:p>
            <a:r>
              <a:t>практическая: на первом утверждении можно строить проект, на втором нельзя.</a:t>
            </a:r>
          </a:p>
          <a:p>
            <a:r>
              <a:t/>
            </a:r>
          </a:p>
          <a:p>
            <a:r>
              <a:t>Экономика стоит рядом с решением, и считать её полезно вместе с залом. Внутри обучающего корпуса</a:t>
            </a:r>
          </a:p>
          <a:p>
            <a:r>
              <a:t>оказалось 12,3 млн изображений истца из ≈5,85 млрд пар — доля около 0,2%, и это число само по</a:t>
            </a:r>
          </a:p>
          <a:p>
            <a:r>
              <a:t>себе мало о чём говорит, пока к нему не приложен тариф. По оптовому тарифу $2,50 за изображение —</a:t>
            </a:r>
          </a:p>
          <a:p>
            <a:r>
              <a:t>≈$30,75 млн. По розничному $130 — ≈$1,6 млрд. Разброс в пятьдесят раз получается от одного</a:t>
            </a:r>
          </a:p>
          <a:p>
            <a:r>
              <a:t>только выбора тарифа внутри классического режима — то есть никакой генерации, одна строка</a:t>
            </a:r>
          </a:p>
          <a:p>
            <a:r>
              <a:t>прейскуранта; это то же наблюдение, которым открывался раздел, здесь оно возвращается в правовой</a:t>
            </a:r>
          </a:p>
          <a:p>
            <a:r>
              <a:t>рамке. Третья величина — та, по которой рынок договорился на самом деле: в музыке после</a:t>
            </a:r>
          </a:p>
          <a:p>
            <a:r>
              <a:t>урегулирований согласованная ставка составила $0,002–0,005 за генерацию, на три-четыре порядка</a:t>
            </a:r>
          </a:p>
          <a:p>
            <a:r>
              <a:t>ниже стокового тарифа за единицу; сравнивать напрямую нельзя — разные модальности, — но порядок</a:t>
            </a:r>
          </a:p>
          <a:p>
            <a:r>
              <a:t>величины говорит, во что рынок оценивает одно обращение к модели, когда платит добровольно.</a:t>
            </a:r>
          </a:p>
          <a:p>
            <a:r>
              <a:t>Четвёртая величина — статутный потолок: ставка на число произведений даёт свыше $9 млрд; это</a:t>
            </a:r>
          </a:p>
          <a:p>
            <a:r>
              <a:t>арифметика, а не присуждённое требование, и встречая такую сумму в заголовке, стоит помнить, из</a:t>
            </a:r>
          </a:p>
          <a:p>
            <a:r>
              <a:t>чего она получена.</a:t>
            </a:r>
          </a:p>
          <a:p>
            <a:r>
              <a:t/>
            </a:r>
          </a:p>
          <a:p>
            <a:r>
              <a:t>Что отсюда уносит инженер. Первое: веса модели и обучающий набор — разные объекты права, суд это</a:t>
            </a:r>
          </a:p>
          <a:p>
            <a:r>
              <a:t>разделил явно. Второе: место обучения имеет значение, и для распределённой инфраструктуры это</a:t>
            </a:r>
          </a:p>
          <a:p>
            <a:r>
              <a:t>вопрос, на который проект должен уметь ответить документами — требование к журналированию, а не</a:t>
            </a:r>
          </a:p>
          <a:p>
            <a:r>
              <a:t>к юридическому отделу. Третье: прежде чем повторять сумму иска, спросите, по какому тарифу она</a:t>
            </a:r>
          </a:p>
          <a:p>
            <a:r>
              <a:t>посчитана и кто этот тариф выбрал. Четвёртое: узкая победа пришла по каналу, где нарушение видно</a:t>
            </a:r>
          </a:p>
          <a:p>
            <a:r>
              <a:t>на выходе, — значит, если в вашем проекте есть риск воспроизведения чужой охраняемой работы,</a:t>
            </a:r>
          </a:p>
          <a:p>
            <a:r>
              <a:t>единственный работающий механизм контроля внешний: обратный поиск по изображению на выпуске, а не</a:t>
            </a:r>
          </a:p>
          <a:p>
            <a:r>
              <a:t>настройка внутри модели. И последнее — чего в этом счёте нет вовсе: ни одна из названных величин</a:t>
            </a:r>
          </a:p>
          <a:p>
            <a:r>
              <a:t>не отвечает на вопрос, сколько потерял конкретный автор, чьё изображение попало в корпус. Доля в</a:t>
            </a:r>
          </a:p>
          <a:p>
            <a:r>
              <a:t>корпусе — не доля во вкладе, и измеренного способа посчитать вклад одного примера в обученную</a:t>
            </a:r>
          </a:p>
          <a:p>
            <a:r>
              <a:t>модель на сегодня нет; это не пробел конкретного дела, а свойство предмета.</a:t>
            </a:r>
          </a:p>
          <a:p>
            <a:r>
              <a:t/>
            </a:r>
          </a:p>
          <a:p>
            <a:r>
              <a:t>Различайте пять статусов, встречая правовую новость: иск подан · решение вынесено · мировое без</a:t>
            </a:r>
          </a:p>
          <a:p>
            <a:r>
              <a:t>признания вины · закон в силе · закон принят, в силу не вступил. «Закон принят» и «закон вступил</a:t>
            </a:r>
          </a:p>
          <a:p>
            <a:r>
              <a:t>в силу» различаются на четыре месяца в случае ЕС и на семь месяцев в случае России: российский</a:t>
            </a:r>
          </a:p>
          <a:p>
            <a:r>
              <a:t>рамочный закон подписан в июле 2026 и действует с сентября, а нормы об обучении и маркировке</a:t>
            </a:r>
          </a:p>
          <a:p>
            <a:r>
              <a:t>вступают в силу 1 марта 2027-го. Прикладной смысл российской нормы — кому разрешили учить:</a:t>
            </a:r>
          </a:p>
          <a:p>
            <a:r>
              <a:t>статья 10 вводит статутное исключение на обучение по модели opt-out, но только суверенным и</a:t>
            </a:r>
          </a:p>
          <a:p>
            <a:r>
              <a:t>национальным большим фундаментальным моделям — для прочих исключения в законе нет вовсе, и норма</a:t>
            </a:r>
          </a:p>
          <a:p>
            <a:r>
              <a:t>к тому же спорна, с октября 2026 обсуждается её правка. «Мировое соглашение» не создаёт</a:t>
            </a:r>
          </a:p>
          <a:p>
            <a:r>
              <a:t>прецедента: $1,5 млрд в американском книжном деле заплачены за хранение пиратской библиотеки, а</a:t>
            </a:r>
          </a:p>
          <a:p>
            <a:r>
              <a:t>обучение на законно купленных книгах тот же судья назвал преобразующим использованием —</a:t>
            </a:r>
          </a:p>
          <a:p>
            <a:r>
              <a:t>противоположные по смыслу половины одного события, цитируется обычно только первая. «Решение</a:t>
            </a:r>
          </a:p>
          <a:p>
            <a:r>
              <a:t>вынесено» и «решение окончательное» различаются наличием апелляции: в британском деле апелляция</a:t>
            </a:r>
          </a:p>
          <a:p>
            <a:r>
              <a:t>разрешена, решения нет; в американском деле об авторстве точка поставлена отказом в пересмотре</a:t>
            </a:r>
          </a:p>
          <a:p>
            <a:r>
              <a:t>2 марта 2026 года — но и там не решено, сколько именно вклада достаточно для авторства. Пара</a:t>
            </a:r>
          </a:p>
          <a:p>
            <a:r>
              <a:t>российских дел учит тому же на одном правопорядке: дипфейк суд защитил (нейросеть — дополнительный</a:t>
            </a:r>
          </a:p>
          <a:p>
            <a:r>
              <a:t>инструмент обработки, 500 000 ₽), сгенерированные изображения не защитил («ввод запросов —</a:t>
            </a:r>
          </a:p>
          <a:p>
            <a:r>
              <a:t>технический, а не творческий труд»); противоречия нет, в первом случае был исходный материал, во</a:t>
            </a:r>
          </a:p>
          <a:p>
            <a:r>
              <a:t>втором не было. Навык один: прежде чем строить проект на правовом утверждении, спросите, какой у</a:t>
            </a:r>
          </a:p>
          <a:p>
            <a:r>
              <a:t>него статус из пяти — дешёвая проверка, отсеивающая большинство отраслевых заголовков.</a:t>
            </a:r>
          </a:p>
          <a:p>
            <a:r>
              <a:t/>
            </a:r>
          </a:p>
          <a:p>
            <a:r>
              <a:t>Три строки обзора юрисдикций, которые не укладываются в сюжет Getty, но тем же вопросом о</a:t>
            </a:r>
          </a:p>
          <a:p>
            <a:r>
              <a:t>статусе и отвечают. ЕС: раскрытие и машиночитаемая маркировка синтетического контента обязательны,</a:t>
            </a:r>
          </a:p>
          <a:p>
            <a:r>
              <a:t>санкция до 15 млн евро или 3% оборота, закон в силе со 2 августа 2026 (переходный период по уже</a:t>
            </a:r>
          </a:p>
          <a:p>
            <a:r>
              <a:t>бывшим на рынке системам — до 2 декабря 2026); отдельно отложены были высокорисковые системы, а</a:t>
            </a:r>
          </a:p>
          <a:p>
            <a:r>
              <a:t>не эта статья. Голос: в России отдельной охраны нет — проект статьи ГК внесён через месяц после</a:t>
            </a:r>
          </a:p>
          <a:p>
            <a:r>
              <a:t>проигранного дела об использовании голоса и правительством не поддержан; в США действуют закон</a:t>
            </a:r>
          </a:p>
          <a:p>
            <a:r>
              <a:t>штата Теннесси и калифорнийский акт, федерального закона нет — расхождение юрисдикций, а не общий</a:t>
            </a:r>
          </a:p>
          <a:p>
            <a:r>
              <a:t>стандарт. Музыка: рынок здесь решил быстрее суда — лейблы перешли от исков к лицензиям по той же</a:t>
            </a:r>
          </a:p>
          <a:p>
            <a:r>
              <a:t>ставке $0,002–0,005 за генерацию, при этом часть истцов продолжает судиться параллельно с</a:t>
            </a:r>
          </a:p>
          <a:p>
            <a:r>
              <a:t>подписанными сделками (29.10.2025 и 25.11.2025).</a:t>
            </a:r>
          </a:p>
          <a:p>
            <a:r>
              <a:t/>
            </a:r>
          </a:p>
          <a:p>
            <a:r>
              <a:t>Теперь вывод раздела. Где польза: единица изображения подешевела на три-четыре порядка от любой</a:t>
            </a:r>
          </a:p>
          <a:p>
            <a:r>
              <a:t>из трёх классических баз, и у этого есть измеренное производственное следствие — 46 уникальных</a:t>
            </a:r>
          </a:p>
          <a:p>
            <a:r>
              <a:t>плакатов за месяц силами трёх человек при полутора часах дообучения на одной игровой видеокарте</a:t>
            </a:r>
          </a:p>
          <a:p>
            <a:r>
              <a:t>и наборе из сорока картинок. Где границы: пять названы механизмом, а не симптомом, и ни одна не</a:t>
            </a:r>
          </a:p>
          <a:p>
            <a:r>
              <a:t>закроется следующей версией модели. Что идёт дальше по циклу: отбор — 30–100 генераций и полчаса</a:t>
            </a:r>
          </a:p>
          <a:p>
            <a:r>
              <a:t>просмотра на одну пригодную, две трети результата брак; права — чем обучена модель, известно</a:t>
            </a:r>
          </a:p>
          <a:p>
            <a:r>
              <a:t>только у открытых, а статус правовой нормы нужно сверять по пяти уровням твёрдости;</a:t>
            </a:r>
          </a:p>
          <a:p>
            <a:r>
              <a:t>воспроизводимость — решение, найденное подбором, невоспроизводимо через полгода без манифеста из</a:t>
            </a:r>
          </a:p>
          <a:p>
            <a:r>
              <a:t>одиннадцати позиций. И отдельно — риск приписать модели чужой выигрыш, показанный разбором</a:t>
            </a:r>
          </a:p>
          <a:p>
            <a:r>
              <a:t>бионической перегородки.</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из шести предъявлений карты с заполненной колонкой. Строки заданы с самого начала вечера</a:t>
            </a:r>
          </a:p>
          <a:p>
            <a:r>
              <a:t>и не меняются; колонка «Изображение» закрывается сейчас, остальные четыре добавятся по одной в</a:t>
            </a:r>
          </a:p>
          <a:p>
            <a:r>
              <a:t>конце каждого следующего раздела. Смотреть на карту стоит не как на итог раздела, а как на</a:t>
            </a:r>
          </a:p>
          <a:p>
            <a:r>
              <a:t>накопительную ведомость: к концу вечера по ней будет видно, где модель закрывает тип задачи во</a:t>
            </a:r>
          </a:p>
          <a:p>
            <a:r>
              <a:t>всех модальностях, а где не закрывает ни в одной.</a:t>
            </a:r>
          </a:p>
          <a:p>
            <a:r>
              <a:t/>
            </a:r>
          </a:p>
          <a:p>
            <a:r>
              <a:t>Породить первое приближение — клетка заполнена числом и заполнена с обеих сторон: три-четыре</a:t>
            </a:r>
          </a:p>
          <a:p>
            <a:r>
              <a:t>сотых доллара за изображение против пятидесяти—ста пятидесяти за заказ и двух с половиной —</a:t>
            </a:r>
          </a:p>
          <a:p>
            <a:r>
              <a:t>четырёхсот девяноста девяти за сток. Это единственная клетка раздела, где обе стороны счёта</a:t>
            </a:r>
          </a:p>
          <a:p>
            <a:r>
              <a:t>посчитаны в одной единице, и именно поэтому раздел и начинается с неё.</a:t>
            </a:r>
          </a:p>
          <a:p>
            <a:r>
              <a:t/>
            </a:r>
          </a:p>
          <a:p>
            <a:r>
              <a:t>Довести до производственного качества — сюда переехала работа. Тридцать—сто генераций и около</a:t>
            </a:r>
          </a:p>
          <a:p>
            <a:r>
              <a:t>получаса просмотра на одну пригодную иллюстрацию, и две трети результата всё равно брак по</a:t>
            </a:r>
          </a:p>
          <a:p>
            <a:r>
              <a:t>целевому показателю. Числа взяты из разбора редакции, то есть из единственного случая раздела,</a:t>
            </a:r>
          </a:p>
          <a:p>
            <a:r>
              <a:t>где команда посчитала собственный отбор и опубликовала результат.</a:t>
            </a:r>
          </a:p>
          <a:p>
            <a:r>
              <a:t/>
            </a:r>
          </a:p>
          <a:p>
            <a:r>
              <a:t>Восстановить существующее — клетка заполнена, но вне разборов раздела: повышение разрешения и</a:t>
            </a:r>
          </a:p>
          <a:p>
            <a:r>
              <a:t>реставрация архива существуют как зрелая практика, а посчитанного случая с обеими сторонами в</a:t>
            </a:r>
          </a:p>
          <a:p>
            <a:r>
              <a:t>источниках этого раздела нет. Это честный пробел, названный пробелом, а не отсутствие приёма.</a:t>
            </a:r>
          </a:p>
          <a:p>
            <a:r>
              <a:t/>
            </a:r>
          </a:p>
          <a:p>
            <a:r>
              <a:t>Соблюсти точные величины — отказ, и отказ по механизму: размеров, допусков и дерева построения</a:t>
            </a:r>
          </a:p>
          <a:p>
            <a:r>
              <a:t>внутри картинки нет и не появится в следующей версии модели. Клетка с отказом — такой же</a:t>
            </a:r>
          </a:p>
          <a:p>
            <a:r>
              <a:t>результат, как клетка с числом, и для инженерной аудитории она даже полезнее: отвечает на</a:t>
            </a:r>
          </a:p>
          <a:p>
            <a:r>
              <a:t>вопрос «стоит ли вообще пробовать» до того, как потрачено время.</a:t>
            </a:r>
          </a:p>
          <a:p>
            <a:r>
              <a:t/>
            </a:r>
          </a:p>
          <a:p>
            <a:r>
              <a:t>Уложиться в бюджет реального времени — в этом разделе не предъявлялось. Ближайшее измеренное</a:t>
            </a:r>
          </a:p>
          <a:p>
            <a:r>
              <a:t>рядом: около трёх секунд на кадр у дистиллированной модели против двадцати у недистиллированной</a:t>
            </a:r>
          </a:p>
          <a:p>
            <a:r>
              <a:t>на той же карте. Это не кадровый бюджет, и выдавать одно за другое нельзя: разница между</a:t>
            </a:r>
          </a:p>
          <a:p>
            <a:r>
              <a:t>«картинка за три секунды» и «кадр за шестнадцать миллисекунд» — это разница в классе задачи, и</a:t>
            </a:r>
          </a:p>
          <a:p>
            <a:r>
              <a:t>она станет видна в разделе про трёхмерную сцену.</a:t>
            </a:r>
          </a:p>
          <a:p>
            <a:r>
              <a:t/>
            </a:r>
          </a:p>
          <a:p>
            <a:r>
              <a:t>Ответить «кто отвечает» — пусто по построению. Провенанса у сгенерированного кадра не существует</a:t>
            </a:r>
          </a:p>
          <a:p>
            <a:r>
              <a:t>физически: вклад каждого обучающего примера размазан по миллиардам весов, и проверка выносится</a:t>
            </a:r>
          </a:p>
          <a:p>
            <a:r>
              <a:t>наружу — обратным поиском по изображению, подписанными метаданными, журналом запросов. Это не</a:t>
            </a:r>
          </a:p>
          <a:p>
            <a:r>
              <a:t>недоработка поставщика и не временное состояние отрасли.</a:t>
            </a:r>
          </a:p>
          <a:p>
            <a:r>
              <a:t/>
            </a:r>
          </a:p>
          <a:p>
            <a:r>
              <a:t>Под сеткой идёт полоса адреса платежа — число, подтверждающее то, что раздел назвал в самом</a:t>
            </a:r>
          </a:p>
          <a:p>
            <a:r>
              <a:t>начале, на кадре описания стадии: отбор, права, узнавание. У этого раздела адрес двойной: отбор</a:t>
            </a:r>
          </a:p>
          <a:p>
            <a:r>
              <a:t>— все три подробных разбора, и права — правовой разбор, разбор устройства обучения и упоминания.</a:t>
            </a:r>
          </a:p>
          <a:p>
            <a:r>
              <a:t>Узнавание в разделе не звучит развёрнуто, и это свойство модальности, названное заранее: у</a:t>
            </a:r>
          </a:p>
          <a:p>
            <a:r>
              <a:t>неподвижного изображения нет подписи, которая подтверждалась бы сама собой. В разделе про голос</a:t>
            </a:r>
          </a:p>
          <a:p>
            <a:r>
              <a:t>эта клетка заполнится первой.</a:t>
            </a:r>
          </a:p>
          <a:p>
            <a:r>
              <a:t/>
            </a:r>
          </a:p>
          <a:p>
            <a:r>
              <a:t>И вывод раздела, который стоит произнести целиком. Единица подешевела на три-четыре порядка от</a:t>
            </a:r>
          </a:p>
          <a:p>
            <a:r>
              <a:t>любой из трёх классических баз — и именно «от любой из трёх», потому что выбор базы внутри самой</a:t>
            </a:r>
          </a:p>
          <a:p>
            <a:r>
              <a:t>классики меняет разрыв на два порядка. Пять границ названы механизмом, а не симптомом: текст</a:t>
            </a:r>
          </a:p>
          <a:p>
            <a:r>
              <a:t>внутри изображения, счёт объектов, согласованность между генерациями, точные величины,</a:t>
            </a:r>
          </a:p>
          <a:p>
            <a:r>
              <a:t>происхождение. Вправо уехали отбор, права и воспроизводимость. И отдельно — риск приписать</a:t>
            </a:r>
          </a:p>
          <a:p>
            <a:r>
              <a:t>модели чужой выигрыш: из трёх подробных разборов раздела один этот риск предъявил прямо.</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раздел устроен иначе остальных, и это сделано нарочно. Каждый другой раздел открывается описанием стадии и только потом доходит до примеров; здесь порядок перевёрнут. Причина сидит в самой модальности. Звук — единственная из пяти, где главное утверждение проверяется ухом слушателя за десять секунд и без единой цифры: сначала звучит оригинальная запись человеческого голоса, сразу за ней — синтезированная копия того же голоса. Неподвижное изображение так предъявить нельзя, его разглядывают; движущееся требует минуты экранного времени; трёхмерная сцена требует интерактивности, которой в зале нет. Десять секунд звука — демонстрация дешевле и убедительнее любой другой в лекции.</a:t>
            </a:r>
          </a:p>
          <a:p>
            <a:r>
              <a:t/>
            </a:r>
          </a:p>
          <a:p>
            <a:r>
              <a:t>Вторая причина ритмическая. Форма, повторённая шесть раз подряд, перестаёт работать: слушатель начинает предсказывать следующий экран и перестаёт следить за содержанием. Один сознательный сбой ритма назначен заранее, и назначен он сюда, потому что здесь у сбоя есть содержательное оправдание, а не только формальное.</a:t>
            </a:r>
          </a:p>
          <a:p>
            <a:r>
              <a:t/>
            </a:r>
          </a:p>
          <a:p>
            <a:r>
              <a:t>Под словом «звук» в отрасли живут пять разных ремёсел, и дальше они разводятся по именам: синтез речи, клонирование голоса, локализация и дубляж, генерация музыки и разделение источников. Последнее стоит особняком — по самой постановке задачи это не генерация, и именно на нём раздел показывает границу между восстановлением записанного и выдумыванием того, чего не было.</a:t>
            </a:r>
          </a:p>
          <a:p>
            <a:r>
              <a:t/>
            </a:r>
          </a:p>
          <a:p>
            <a:r>
              <a:t>Три подробных разбора раздела подобраны так, чтобы показать три разных состояния счёта. В первом второй классический режим назван и своего числа не имеет — это говорится вслух. Во втором обе стороны посчитаны в одной единице, и разрыв между ними измеряется тысячами. В третьем классического режима не существует вовсе, и у этого есть медицинская причина. Три разные ситуации, в которых инженеру приходится принимать решение, и все три встречаются в работе чаще, чем хотелось бы.</a:t>
            </a:r>
          </a:p>
          <a:p>
            <a:r>
              <a:t/>
            </a:r>
          </a:p>
          <a:p>
            <a:r>
              <a:t>Шесть упоминаний идут следом, каждое с числом и с базой. Упоминание без числа в этом разделе не ставится вовсе: имя без наблюдения — это библиография, и её место в списке литературы.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существует ради десяти секунд звука, и всё остальное на нём второстепенно. Две дорожки нарочно не подписаны, порядок нарочно не объявлен, ответ нарочно не выведен: как только на экране появляется подсказка, проверка перестаёт быть проверкой.</a:t>
            </a:r>
          </a:p>
          <a:p>
            <a:r>
              <a:t/>
            </a:r>
          </a:p>
          <a:p>
            <a:r>
              <a:t>Что стоит знать про материал, который звучит. Современная система клонирования голоса строит пригодную копию по одной-двум минутам записи; технический минимум, объявленный поставщиком, опускается до десяти секунд суммарного звучания. Этот параметр измерен в открытой литературе. Система VALL-E, переформулировавшая синтез речи как языковое моделирование дискретных кодов, опубликовала зависимость узнаваемости от длины образца: три секунды подсказки дают сходство голоса 0,382, пять секунд — 0,423, десять секунд — 0,484. Заголовочное «клонирование по трём секундам», которое обычно цитируют, верно и при этом половинчато: три секунды работают, десять заметно лучше, и разница между ними видна в измерении.</a:t>
            </a:r>
          </a:p>
          <a:p>
            <a:r>
              <a:t/>
            </a:r>
          </a:p>
          <a:p>
            <a:r>
              <a:t>Второе число, объясняющее, почему копия звучит гладко. Разборчивость синтезированной речи — доля неверно распознанных слов — у системы Voicebox заявлена как 1,9 процента против 5,9 процента у предыдущего поколения на той же выборке. То есть за одно поколение доля ошибок упала втрое. Отдельно измерено разделение ролей внутри системы: без текстовой подсказки доля ошибочных слов 19,6 процента, с ней — 3,0 процента, то есть содержание даёт текст; без акустической подсказки сходство голоса падает с 0,585 до 0,236, то есть личность даёт образец. Две независимые ручки, и каждая отвечает за своё.</a:t>
            </a:r>
          </a:p>
          <a:p>
            <a:r>
              <a:t/>
            </a:r>
          </a:p>
          <a:p>
            <a:r>
              <a:t>Механизм, по которому строится мгновенная копия, стоит назвать точно, потому что он переносится на всё остальное в курсе. Поставщик описывает его дословно как адаптацию по нескольким примерам: модель использует образец как сигнал обусловливания в момент работы, без всякого обновления весов. Это размещение знания, ровно то же по природе, что документ, подложенный языковой модели в контекст. Профессиональная копия устроена иначе: на вход идёт минимум час, в идеале около трёх часов записи, обучение занимает от трёх до шести часов и, по формулировке того же поставщика, действительно изменяет параметры модели. Две разные вещи под одним словом «клонирование», и путать их дорого: от того, какая из них применяется, зависит и качество, и то, где физически оседают данные человека.</a:t>
            </a:r>
          </a:p>
          <a:p>
            <a:r>
              <a:t/>
            </a:r>
          </a:p>
          <a:p>
            <a:r>
              <a:t>Чего копия не умеет, слышно хуже, чем то, что она умеет, и поэтому на десятисекундном показе это не проявится. Голос, снятый со спокойного повествования, звучит иначе, когда его просят выразить сильную эмоцию: сильной эмоции в образце не было, и вывести её из текста система не может. Профессиональное клонирование не поддерживает пение вовсе — ограничение объявлено поставщиком в документации. Эти две границы разбираются дальше в разделе, и обе следуют из устройства, а не из недоработки конкретной версии.</a:t>
            </a:r>
          </a:p>
          <a:p>
            <a:r>
              <a:t/>
            </a:r>
          </a:p>
          <a:p>
            <a:r>
              <a:t>Наконец, про порог входа. Речевая модель на 82 миллиона параметров со свободной лицензией и на код, и на веса работает даже в браузере; обучение её стоило около тысячи долларов. Музыкальная модель на 3,5 миллиарда параметров помещается в восемь гигабайт видеопамяти и на игровой карте работает в 34,5 раза быстрее реального времени — минута музыки за 1,74 секунды. На ноутбуке Apple та же модель даёт 2,27 реального времени. То, что звучит в колонках, не требует ни облака, ни бюджета: оно требует ноутбука и десяти секунд чужого голоса. Из этого и вырастает весь остальной раздел — и возможности, и цена.</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надо развести, — это пять стадий, которые в обиходе называются одним словом и различаются между собой и данными, и задачей, и тем, кто отвечает за результат.</a:t>
            </a:r>
          </a:p>
          <a:p>
            <a:r>
              <a:t/>
            </a:r>
          </a:p>
          <a:p>
            <a:r>
              <a:t>Синтез речи превращает письменный текст в звучащую речь. Заказчик даёт текст, получает дорожку; голос при этом — свойство системы, дикторский набор у поставщика существует отдельно от любого живого исполнителя. Клонирование голоса, в договорной терминологии профсоюзов — цифровая реплика голоса, решает другую задачу: построить модель голоса конкретного человека и дальше озвучивать ею произвольный текст. Здесь появляется второй участник со своими правами, и вместе с ним всё, чего нет у обычного синтеза: согласие, договор, срок действия, посмертные полномочия. Локализация и дубляж переносят готовый звучащий материал на другой язык; классически это три отдельные работы — перевод, укладка и запись актёра дубляжа, у каждой свой исполнитель и свой тариф. Генерация музыки производит произведение по описанию, иногда с вокалом; исходного материала здесь нет вовсе. Разделение источников — пятая стадия, и она стоит особняком: модель получает сведённую запись и возвращает составные дорожки, ничего нового при этом не синтезируется, искомое физически присутствует во входном сигнале.</a:t>
            </a:r>
          </a:p>
          <a:p>
            <a:r>
              <a:t/>
            </a:r>
          </a:p>
          <a:p>
            <a:r>
              <a:t>Вход определяет, что вообще можно спросить у системы. У синтеза речи это текст плюс выбранный голос и, в современных системах, разметка интонации прямо внутри текста; решаемый вопрос — как это должно прозвучать, а ответ проверяется разборчивостью и соответствием интонации смыслу. У клонирования вход — записи голоса человека, и количество записей задаёт всю стадию: от десяти секунд до трёх часов, и от того, сколько их есть, зависит, какой механизм применим. У дубляжа вход — исходная дорожка и перевод, причём перевод обязан укладываться в длительность оригинальной реплики; это ограничение называется изохронией и в обычном переводе не существует: переводчик дубляжа подбирает формулировку под длительность, жертвуя точностью. У генерации музыки вопрос самый сложный из пяти, потому что правильного ответа у него не существует: на запрос «фанковая басовая линия» нет единственной верной песни, с которой можно сверить результат. У разделения источников эталон есть — исходные изолированные дорожки, — а значит, есть и честная метрика качества; это единственная из пяти стадий, где можно посчитать, насколько система ошиблась.</a:t>
            </a:r>
          </a:p>
          <a:p>
            <a:r>
              <a:t/>
            </a:r>
          </a:p>
          <a:p>
            <a:r>
              <a:t>Перечень способов добычи материала короче, чем кажется, и каждый живёт до сих пор. Студийная сессия — основной способ последние семьдесят лет. Домашняя будка с середины 2010-х стала массовой, и именно она открыла ту ценовую полосу, которую раздел считает дальше. Удалённая сессия с режиссурой держит правку в реальном времени. Архив — записи, сделанные когда-то для другой цели, и для клонирования умерших или утративших речь это единственный источник. Банкирование голоса — практика клиническая: человек с диагнозом, грозящим потерей речи, заранее записывает большой корпус слов и фраз. Лицензированная музыкальная библиотека даёт обучающий материал с оформленными правами: двадцать тысяч часов у одной открытой модели, семь тысяч триста часов под свободными лицензиями у другой.</a:t>
            </a:r>
          </a:p>
          <a:p>
            <a:r>
              <a:t/>
            </a:r>
          </a:p>
          <a:p>
            <a:r>
              <a:t>Решение этой стадии звучит просто, а следствий у него три. Первое — срок и территория: изображение покупают один раз, голос в эфире покупают на срок, на территорию и на тип носителя, и каждая координата стоит отдельных денег. Второе — узнаваемость: голос опознаётся как принадлежащий конкретному человеку, и этого свойства нет ни у иллюстрации, ни у фона. Третье отложено во времени: записанный материал живёт дольше договора, по которому сделан, и дольше технологии, под которую записывался. Архив корпоративных начиток 2019 года делался для колл-центра, а в 2022-м оказался обучающим набором — тот же материал, другое употребление, и спор об этом разбирается дальше в разделе на единственном российском деле, дошедшем до решения.</a:t>
            </a:r>
          </a:p>
          <a:p>
            <a:r>
              <a:t/>
            </a:r>
          </a:p>
          <a:p>
            <a:r>
              <a:t>Почему звук стоит в порядке разделов вторым, видно по трём числам одного ряда: картинка размером 1024 на 1024 точки — это 4 096 токенов; минута речи в представлении нейронного кодека — от 9 000 до 36 000 токенов; пять секунд видео высокой чёткости — 249 240 токенов. Звук занимает середину шкалы, и середина эта поучительна: именно здесь оба семейства генеративных моделей работают на одной и той же задаче бок о бок, и сравнить их можно измерением.</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этой части описания стадии любой выигрыш придётся считать от нуля, а выигрыш, посчитанный от нуля, курс не принимает.</a:t>
            </a:r>
          </a:p>
          <a:p>
            <a:r>
              <a:t/>
            </a:r>
          </a:p>
          <a:p>
            <a:r>
              <a:t>Живой диктор, готовая минута. Мировая ценовая полоса по отраслевым справочникам ставок — от 50 до 450 долларов за готовую минуту, и полоса распадается на три сегмента по опыту: начинающий — 50–150 долларов за минуту, средний уровень, от двух до семи лет работы, — 150–350, старший, свыше семи лет, — 350 и выше, у верхушки за тысячу. Единица здесь именно готовая минута, то есть минута материала, принятого заказчиком, со всеми дублями внутри цены. Запоминать стоит ширину диапазона: его верх и низ отличаются в девять раз — ровно так же будет устроен дальше диапазон цены генерации, и сравнивать надо полосу с полосой.</a:t>
            </a:r>
          </a:p>
          <a:p>
            <a:r>
              <a:t/>
            </a:r>
          </a:p>
          <a:p>
            <a:r>
              <a:t>Отдельная строка — право на эфир. Запись и право её транслировать — это разные покупки, и заказчик платит дважды. По справочнику ставок редакции 2026 года национальная реклама стоит от 650 долларов сверх сессии; год национального эфира — 3 200–3 500 долларов; бессрочный выкуп — до 6 500 долларов. Вторая плата растёт со сроком и охватом, и именно она делает дикторский бюджет непредсказуемым для заказчика, который считал только запись.</a:t>
            </a:r>
          </a:p>
          <a:p>
            <a:r>
              <a:t/>
            </a:r>
          </a:p>
          <a:p>
            <a:r>
              <a:t>Аудиокнижная ставка живёт в другой единице, и это ловушка счёта, в которую попадают регулярно. Начинающий чтец — 150–250 долларов за час работы, верхушка — 500–1 000 и выше. Час работы и готовая минута в одну бухгалтерию не складываются: час работы даёт разное число готовых минут в зависимости от сложности текста и числа дублей. Попытка сложить их даёт ту самую ложную пару, за которую курс бьёт отдельно.</a:t>
            </a:r>
          </a:p>
          <a:p>
            <a:r>
              <a:t/>
            </a:r>
          </a:p>
          <a:p>
            <a:r>
              <a:t>Договорная ставка на цифровую копию голоса — пункт, который стоит произнести отдельно, потому что он единственный в своём роде. Там, где голос копируется, профсоюз успел назначить цену раньше законодателя. Соглашение определяет отдельную сессию согласия на создание цифровой реплики: 956 долларов 75 центов за четыре часа, 1 914 долларов 25 центов за шесть, плюс 16,5 процента в профсоюзные фонды сверху; использование созданной копии в рекламе оплачивается по полуторной сессионной ставке. Для генерации в реальном времени в соглашении по видеоиграм 2025 года ставка поднята не ниже семикратной с половиной от минимальной. До любого закона о голосе отрасль назначила копированию цену сама, договором, — и это единственное место в лекции, где синтетическая версия оказывается дороже человеческой.</a:t>
            </a:r>
          </a:p>
          <a:p>
            <a:r>
              <a:t/>
            </a:r>
          </a:p>
          <a:p>
            <a:r>
              <a:t>Музыка. Стоковая лицензия на готовый трек — 20–100 долларов за стандартную и 100–500 и выше за расширенную. Оригинальная музыка на заказ — 200–1 500 долларов за минуту; национальная реклама с оригинальной композицией — 5 000–25 000 долларов. Российская полоса того же: лицензионный трек из библиотеки — 10 000–50 000 рублей, оригинальный трек — от 150 000 рублей. Правильная опорная пара для сравнения с генерацией — именно стоковая лицензия. Оригинальная партитура и сгенерированный трек различаются по природе продукта, и сопоставление генерации с партитурой даёт фальшивые пять-шесть порядков.</a:t>
            </a:r>
          </a:p>
          <a:p>
            <a:r>
              <a:t/>
            </a:r>
          </a:p>
          <a:p>
            <a:r>
              <a:t>Два честных пробела, которые надо назвать здесь, потому что от них зависят дальнейшие разборы. Банкирование голоса — клинический режим, при котором человек с диагнозом, грозящим потерей речи, заранее записывает большой корпус. Своего числа у него нет: ни одна публикация подборки не называет, сколько часов записи требует протокол и сколько услуга стоит. Субтитры как альтернатива дубляжу названы в материале, но тарифа за минуту готового материала в подборке тоже нет, хотя величина эта в локализационной отрасли публичная. Оба пробела отмечены и повторятся в разборах.</a:t>
            </a:r>
          </a:p>
          <a:p>
            <a:r>
              <a:t/>
            </a:r>
          </a:p>
          <a:p>
            <a:r>
              <a:t>И точка классической цепочки, без которой раздел повис бы в воздухе. 19 сентября 1997 года вышел Auto-Tune; автор — инженер-геофизик, специалист по цифровой обработке сигналов, и алгоритм вырос из обработки сейсмических данных при поиске нефти. Первый год инструментом точечно исправляли отдельную фальшивую ноту. В 1998 году в одной известной записи экстремальные настройки убрали плавные переходы между нотами и дали звучание, которое немедленно стало художественным приёмом. Урок переносится на 2026 год без единой правки: инструмент, сделанный ради исправления брака, за один год стал источником нового жанра, — а разговор «это обман слушателя» вёлся тогда дословно теми же словами, какими сегодня ведётся разговор о машинном вокале.</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самый бесспорный случай всей лекции, и подавать его стоит именно так. Во всех остальных разборах есть сторона, которой выигрыш обошёлся дорого; здесь такой стороны нет.</a:t>
            </a:r>
          </a:p>
          <a:p>
            <a:r>
              <a:t/>
            </a:r>
          </a:p>
          <a:p>
            <a:r>
              <a:t>Денежной шкалы у случая нет, и это свойство самого случая, а не пробел замера. Цена ошибки «не успеть» — человек теряет собственный голос навсегда: записи, которой хватило бы на модель, после определённого момента взять негде. Цена противоположной ошибки, «записать слишком рано», — часы, потраченные на запись тогда, когда они ещё нужны на другое, и силы человека, которому их отпущено немного. Мерить это в долларах нельзя, и на кадре так и сказано.</a:t>
            </a:r>
          </a:p>
          <a:p>
            <a:r>
              <a:t/>
            </a:r>
          </a:p>
          <a:p>
            <a:r>
              <a:t>Первый классический режим — банкирование голоса. Человек с диагнозом «боковой амиотрофический склероз» или «болезнь двигательного нейрона» записывает большой корпус слов и фраз, пока ещё говорит внятно. Режим назван, он реально существует, его применяют клиники — и своего числа он не имеет. Ни часов записи по протоколу, ни стоимости услуги ни один источник нашей подборки не называет. Именно это и определяет полноту сравнения: второй шаг формы требует, чтобы оба классических режима были посчитаны в одной единице с моделью, и здесь это условие не выполнено. Одно-единственное число — сколько часов требует протокол банкирования — сделало бы сравнение полным; мы его искали и не нашли, и скрывать это было бы хуже, чем назвать.</a:t>
            </a:r>
          </a:p>
          <a:p>
            <a:r>
              <a:t/>
            </a:r>
          </a:p>
          <a:p>
            <a:r>
              <a:t>Второй классический режим — синтетический безличный голос из коробки. Существует, дёшев, доступен давно. В ту же единицу он не складывается, потому что даёт другой исход: человек получает возможность говорить, но говорит чужим голосом. Разница здесь проходит не по цене, и свести эти два режима в одну таблицу значило бы соврать о том, что сравнивается.</a:t>
            </a:r>
          </a:p>
          <a:p>
            <a:r>
              <a:t/>
            </a:r>
          </a:p>
          <a:p>
            <a:r>
              <a:t>И отдельно — обстоятельство, из-за которого разбор стоит на границе двух случаев: для человека, который речь уже потерял, первого режима не существует вовсе. Банкирование требует способности говорить внятно, а к моменту, когда диагноз поставлен и осознан, этой способности часто уже нет.</a:t>
            </a:r>
          </a:p>
          <a:p>
            <a:r>
              <a:t/>
            </a:r>
          </a:p>
          <a:p>
            <a:r>
              <a:t>Что даёт модель. Копия строится с существенно меньшего числа записей, чем требует банкирование, — это формулировка поставщика, и числа он тоже не называет, так что честный счёт здесь получается односторонним, и подавать его надо как односторонний. Важнее то, что поддаётся проверке: профессиональная лицензия стоит 1 200 долларов в год, и людям с боковым амиотрофическим склерозом и болезнью двигательного нейрона в США она отдаётся бесплатно по программе с двумя фондами. Рядом и бесплатно для всех — встроенная в настройки доступности устройств функция персонального голоса, доступная с 2023 года.</a:t>
            </a:r>
          </a:p>
          <a:p>
            <a:r>
              <a:t/>
            </a:r>
          </a:p>
          <a:p>
            <a:r>
              <a:t>Выигрыш здесь берётся честно: модель работает на том материале, который уже записан. Для человека, у которого есть старые видео, интервью, голосовые сообщения, рабочие созвоны, момент решения сдвигается с «надо успеть записать корпус, пока говорю» на «надо собрать то, что уже есть».</a:t>
            </a:r>
          </a:p>
          <a:p>
            <a:r>
              <a:t/>
            </a:r>
          </a:p>
          <a:p>
            <a:r>
              <a:t>Как это устроено, поставщик документирует сам — редкий в разделе случай, когда инженерия раскрыта полностью. Мгновенное клонирование: вход — рекомендуемые одна-две минуты звука, технический минимум десять секунд суммарно; механизм описан дословно как адаптация по нескольким примерам, при которой модель использует образец как сигнал обусловливания в момент работы, без всякого обновления весов. Это размещение знания, ровно того же рода, что документ, подложенный языковой модели в контекст. Профессиональное клонирование: вход — минимум час, в идеале около трёх часов; обучение занимает от трёх до шести часов и, по формулировке поставщика, действительно изменяет параметры модели. Вот это уже дообучение в точном смысле. Выход в обоих случаях — синтезированная речь; пение не поддерживается, ограничение объявлено явно.</a:t>
            </a:r>
          </a:p>
          <a:p>
            <a:r>
              <a:t/>
            </a:r>
          </a:p>
          <a:p>
            <a:r>
              <a:t>Порог и согласие устроены жёстче, чем принято думать: профессиональный клон можно создать только собственного голоса, и даже с чужого согласия чужой голос клонировать нельзя. Проверка — голосовая капча, и поставщик сам оговаривает её предел: верификация не может гарантировать, что запись принадлежит запрашивающему, она подтверждает лишь, что он присутствовал и активно участвовал. Признанное ограничение оттуда же: голос, клонированный со спокойного повествования, может звучать иначе, когда его просят выразить сильную эмоцию, — для человека, который собирается жить этим голосом годами, оговорка существенная.</a:t>
            </a:r>
          </a:p>
          <a:p>
            <a:r>
              <a:t/>
            </a:r>
          </a:p>
          <a:p>
            <a:r>
              <a:t>Чего в документации нет: ни слова о том, что происходит с моделью голоса при смене версии базовой модели поставщика. Человек получает голос, который зависит от чужого цикла выпусков, а политики версионирования голосов в открытом доступе нет.</a:t>
            </a:r>
          </a:p>
          <a:p>
            <a:r>
              <a:t/>
            </a:r>
          </a:p>
          <a:p>
            <a:r>
              <a:t>Что переехало. Переехал момент решения. Вправо уехало право: модель голоса существует отдельно от человека и переживает его, а кто ею распоряжается после — решается договором с поставщиком, потому что нормы на этот счёт нет. Это тот же адрес, что у следующего разбора, и тот же, что у дела, которым раздел закрывается.</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счётный разбор раздела: здесь обе стороны названы в одной единице, и разрыв между ними измеряется тысячами.</a:t>
            </a:r>
          </a:p>
          <a:p>
            <a:r>
              <a:t/>
            </a:r>
          </a:p>
          <a:p>
            <a:r>
              <a:t>Цена ошибки «записали и не подошло» названа полностью: стоимость сессии, от 50 до 450 долларов за готовую минуту, плюс отдельно право на эфир — от 650 долларов за национальную рекламу, 3 200–3 500 за год национального эфира, до 6 500 за бессрочный выкуп. Переписать реплику после сдачи значит собрать диктора заново. Цена противоположной ошибки, «не стали локализовать», числом не названа ни в одном источнике подборки. Ближайшая опора измеряет внимание, и единицу её надо назвать точно, потому что в пересказах она подменяется. Площадка сообщила: у авторов, выложивших многоязычные дорожки, свыше двадцати пяти процентов времени просмотра пришлось на показы не на основном языке видео. Единица здесь — время просмотра; доля зрителей так никогда не считалась. Язык в формулировке площадки — «не основной для этого ролика»; слово «неанглийский» появилось уже в пересказах. Знаменатель: время просмотра тех каналов, которые дорожки выложили; сколько это каналов, площадка не раскрыла — пилот называют небольшим и поимённо из него известны три автора. Упущенной выручки за этой долей никто не считал.</a:t>
            </a:r>
          </a:p>
          <a:p>
            <a:r>
              <a:t/>
            </a:r>
          </a:p>
          <a:p>
            <a:r>
              <a:t>Первый классический режим — живой диктор — посчитан в той же единице, что и модель: доллар за готовую минуту, 50–450 по сегментам опыта. Сюда же примыкает договорная ставка на цифровую реплику, 956 долларов 75 центов за четырёхчасовую сессию согласия плюс 16,5 процента в фонды, и полуторная ставка, когда копию используют в рекламе, — цена, которую отрасль назначила копированию голоса своими силами.</a:t>
            </a:r>
          </a:p>
          <a:p>
            <a:r>
              <a:t/>
            </a:r>
          </a:p>
          <a:p>
            <a:r>
              <a:t>Второй классический режим — субтитры — назван и своего числа не имеет: тарифа субтитрования и укладки за минуту готового материала в подборке нет, хотя величина эта в локализационной отрасли публичная. Аудиокнижная ставка существует — 150–250 долларов за час работы у начинающего, 500–1 000 и выше у верхушки, — но живёт в другой единице и в ту же бухгалтерию не складывается. Отсюда граничное положение разбора между двумя графами: первый режим посчитан полностью, второй назван без числа.</a:t>
            </a:r>
          </a:p>
          <a:p>
            <a:r>
              <a:t/>
            </a:r>
          </a:p>
          <a:p>
            <a:r>
              <a:t>Прейскуранты прочитаны напрямую 27 октября 2026 года. Быстрая модель — 0,04 доллара за тысячу знаков, то есть около 0,036 доллара за минуту речи; качественная — 0,08 доллара за тысячу знаков, около 0,072 за минуту; у третьего поставщика минута речи стоит 0,03 доллара, пакетно 0,015. Пересчёт «знаки в минуту» сделан по норме девятьсот знаков на минуту речи и назван расчётом; это не измерение. Итог: от 0,03 до 0,072 доллара за минуту против 50–450 долларов у диктора, то есть разрыв от семисот до пятнадцати тысяч раз. Это одна из самых больших дистанций всей лекции, и она посчитана от классического режима — от нуля её считать не пришлось.</a:t>
            </a:r>
          </a:p>
          <a:p>
            <a:r>
              <a:t/>
            </a:r>
          </a:p>
          <a:p>
            <a:r>
              <a:t>Как это устроено. Вход — текст плюс образец голоса, выход — звуковая дорожка. Звук превращается в аудиотокены нейронным кодеком с остаточным квантованием, и дальше работает та же машинерия, что в языковой модели. Подробно это разбирается в техническом блоке раздела; здесь важна одна величина, которая объясняет и цену, и длину, — частота кадров кодека. Имена изделий названы на кадре и в источнике: быстрая и качественная линейки одного поставщика, общедоступные с февраля 2026 года, с разметкой интонации тегами прямо в тексте и поддержкой семидесяти с лишним языков; отдельный поставщик синтеза речи; для визуального дубляжа, где переписываются губы в кадре, — своя система.</a:t>
            </a:r>
          </a:p>
          <a:p>
            <a:r>
              <a:t/>
            </a:r>
          </a:p>
          <a:p>
            <a:r>
              <a:t>Измеренный размен «скорость против правильности» назван самим поставщиком, и он показателен. Фраза с числом в миллион долларов читается качественной моделью как «один миллион долларов», а быстрой — как «одна тысяча тысяч долларов», потому что вторая намного меньше, хуже обобщает, и нормализация текста у неё по умолчанию отключена ради низкой задержки. Дешёвая модель экономит ровно на том, что заказчик замечает последним и исправляет дороже всего: такую ошибку находят на приёмке готового ролика.</a:t>
            </a:r>
          </a:p>
          <a:p>
            <a:r>
              <a:t/>
            </a:r>
          </a:p>
          <a:p>
            <a:r>
              <a:t>Образцовая подмена базы, которую стоит разобрать отдельно, потому что она повторяется в каждой модальности. Заявленная задержка вывода модели — 75–100 миллисекунд; реальное время до первого звука в работающей системе — 100–200 миллисекунд и выше; буфер проигрывателя типично 500 миллисекунд. Буфер перевешивает всю разницу между поставщиками. Поставщики меряют в разных точках конвейера, и сравнивать их числа нельзя — тот самый класс ошибки, который курс ловит в каждой лекции.</a:t>
            </a:r>
          </a:p>
          <a:p>
            <a:r>
              <a:t/>
            </a:r>
          </a:p>
          <a:p>
            <a:r>
              <a:t>На чём обучено: по музыкальным моделям того же поставщика — на полностью лицензированных данных, по соглашению с крупным правообладателем; по речевым моделям состав обучающего набора не раскрыт.</a:t>
            </a:r>
          </a:p>
          <a:p>
            <a:r>
              <a:t/>
            </a:r>
          </a:p>
          <a:p>
            <a:r>
              <a:t>Что переехало. Переехала граница продукта: озвучка перестала быть сессией и стала строкой тарифа. У заказчика исчезло планирование под расписание диктора, у диктора исчезла значительная часть короткого заказа. Вправо уехало право на голос, и здесь висит честный ноль: в Гражданском кодексе России отдельной охраны голоса нет, проект соответствующей статьи правительством не поддержан, тогда как в США действуют законы отдельных штатов. Эта дыра разбирается в пласте цены этого же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разбор показывает случай, которого в счётных разделах не бывает: классического режима у задачи нет вовсе, и причина названа.</a:t>
            </a:r>
          </a:p>
          <a:p>
            <a:r>
              <a:t/>
            </a:r>
          </a:p>
          <a:p>
            <a:r>
              <a:t>В деньгах цены обеих ошибок здесь нет и быть не может. Исход двоичный: либо роль звучит голосом актёра, либо не звучит вовсе. Это свойство случая, а не пробел замера, и на кадре оно так и объявляется. Разница между «мы не смогли посчитать» и «считать здесь нечего» принципиальна: первое надо закрывать поиском, второе надо называть вслух и идти дальше.</a:t>
            </a:r>
          </a:p>
          <a:p>
            <a:r>
              <a:t/>
            </a:r>
          </a:p>
          <a:p>
            <a:r>
              <a:t>Классического режима у этой задачи не существует вовсе, и причина тому медицинская. Голос Вэла Килмера утрачен после трахеотомии при раке горла в 2014 году. Значит, альтернатив ровно две: роль без голоса или роль с чужим голосом. Обе дают другой исход вместо другой цены, поэтому никакой единицы, в которой их можно сложить с моделью, нет. Курс засчитывает такой вердикт как полноценный; пробелом он не считается.</a:t>
            </a:r>
          </a:p>
          <a:p>
            <a:r>
              <a:t/>
            </a:r>
          </a:p>
          <a:p>
            <a:r>
              <a:t>Что сделала модель. Работали с архивом записей актёра. Данных оказалось примерно в десять раз меньше, чем на обычном проекте такого рода, — под это пришлось дорабатывать алгоритмы. Сгенерировано больше сорока моделей голоса, из них выбрана одна. Сам Килмер о результате сказал, что ему восстановили голос так, как он не считал возможным.</a:t>
            </a:r>
          </a:p>
          <a:p>
            <a:r>
              <a:t/>
            </a:r>
          </a:p>
          <a:p>
            <a:r>
              <a:t>Обратите внимание на форму числа «сорок моделей, выбрана одна». Это ровно та же механика, которая в следующем разделе даст 400 генераций на 15 склеек и 70 000 клипов на полторы дюжины планов: выигрыш берётся из того, что неудачная попытка почти ничего не стоит. В звуке 2021 года она стоила уже достаточно мало, чтобы перебрать сорок вариантов голоса одного человека и выбрать лучший. Запомнить стоит именно это: там, где проба бесплатна, работа переезжает в отбор, и это наблюдение повторится в лекции ещё трижды.</a:t>
            </a:r>
          </a:p>
          <a:p>
            <a:r>
              <a:t/>
            </a:r>
          </a:p>
          <a:p>
            <a:r>
              <a:t>Как это устроено. Вход — архив записей голоса актёра, выход — синтезированная речь для фильма «Топ Ган: Мэверик» 2022 года. Имя изделия — Sonantic, компания, купленная Spotify в 2022 году; сотрудничество с актёром началось в 2021-м. На чём обучено — на собственном архиве Килмера, с явного согласия актёра.</a:t>
            </a:r>
          </a:p>
          <a:p>
            <a:r>
              <a:t/>
            </a:r>
          </a:p>
          <a:p>
            <a:r>
              <a:t>Чего нет. Сколько именно часов архива использовано, не названо: «в десять раз меньше обычного» — не число, и что считалось обычным проектом, тоже не сказано. Технических публикаций по проекту найти не удалось: компания поглощена, её блог закрыт. Это состояние «искали добросовестно и не нашли», и отмечено оно как есть.</a:t>
            </a:r>
          </a:p>
          <a:p>
            <a:r>
              <a:t/>
            </a:r>
          </a:p>
          <a:p>
            <a:r>
              <a:t>Что переехало. Переехал прецедент. Модель голоса существует и переживает человека: Килмер умер в 2025 году, модель осталась. Кто и на каких условиях распоряжается ею дальше, решается договором, потому что права на этот счёт нет.</a:t>
            </a:r>
          </a:p>
          <a:p>
            <a:r>
              <a:t/>
            </a:r>
          </a:p>
          <a:p>
            <a:r>
              <a:t>И рядом — контрольная точка 2021 года, которая задаёт единственный работающий различитель. В документальном фильме «Roadrunner» модель произнесла три фразы, которые Энтони Бурден написал, но не наговорил; выяснилось это из интервью режиссёра, и в самом фильме это никак не помечено. Технология там и здесь одна и та же. Разница ровно одна: согласие объявлено или нет. Тот же различитель работает в предыдущем разборе, где человек клонирует собственный голос и подтверждает это голосовой капчей, в случае с голосом Дарта Вейдера, где права переданы прижизненно и явно, и в деле, которым закрывается этот раздел, где согласия на синтез в договоре не было вовсе. Инженеру отсюда переносится готовый критерий: вопрос «использовалась ли модель» бесполезен, рабочий вопрос — чьё согласие получено и зафиксировано ли оно в документе.</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разбора выше проведены по полной форме. Ниже — шесть случаев, каждый в две-три фразы и каждый с числом: упоминание без числа в этом разделе не ставится вовсе.</a:t>
            </a:r>
          </a:p>
          <a:p>
            <a:r>
              <a:t/>
            </a:r>
          </a:p>
          <a:p>
            <a:r>
              <a:t>Рэнди Трэвис: первая новая запись за одиннадцать лет. Кантри-певец потерял речь после тяжёлого инсульта в 2013 году — парализована правая сторона, повреждена речевая зона. В мае 2024 года вышла песня «Where That Came From»: вокал Трэвиса восстановлен моделью поверх записи 2011 года, спетой его коллегой Джеймсом Дюпре, с участием и согласием самого артиста. База у результата названа дважды: одиннадцать лет без новых записей — и дебют на 45-м месте эфирного кантри-чарта, первое попадание Трэвиса на кантри-радио за двадцать лет. Граница между восстановлением и подменой здесь проходит по тому, кто поёт исходник: поёт Дюпре, тембр принадлежит Трэвису, и вопрос об авторстве исполнения остаётся открытым.</a:t>
            </a:r>
          </a:p>
          <a:p>
            <a:r>
              <a:t/>
            </a:r>
          </a:p>
          <a:p>
            <a:r>
              <a:t>Голос Дарта Вейдера: права оформлены прижизненно. Для сериала «Оби-Ван Кеноби» 2022 года киевская компания Respeecher воспроизвела голос сорокапятилетней давности: Джеймс Эрл Джонс передал права на свои архивные записи, выступил наставником при настройке и в девяносто один год оставил роль; последнее его живое исполнение — одна реплика в фильме 2019 года. Финальные шаги работы шли в Киеве под сиренами воздушной тревоги в первые недели вторжения. Первый громкий случай, где права на голос оформлены прижизненно и явно, — дальше на него ссылаются все споры.</a:t>
            </a:r>
          </a:p>
          <a:p>
            <a:r>
              <a:t/>
            </a:r>
          </a:p>
          <a:p>
            <a:r>
              <a:t>«Бруталист»: венгерский выговор и оскаровский спор. Фильм снят за 34 съёмочных дня при бюджете 9,6 миллиона долларов и хронометраже 215 минут — оператор картины отдельно заметил, что кино не обязательно всегда должно стоить 200 миллионов. Венгерские реплики Эдриена Броуди и Фелисити Джонс после работы с педагогом по речи прогонялись через модель вместе с голосом носителя языка, монтажёра звука Давида Янчо; английскую речь не трогали, Respeecher указан в титрах. Публичный спор о том, можно ли давать актёрскую награду за исполнение с машинной правкой, вспыхнул вокруг одного фильма, хотя в том же наградном сезоне тем же сервисом пользовались три номинанта. Броуди получил «Оскар» за лучшую мужскую роль.</a:t>
            </a:r>
          </a:p>
          <a:p>
            <a:r>
              <a:t/>
            </a:r>
          </a:p>
          <a:p>
            <a:r>
              <a:t>«Now and Then»: песня, в которой не сгенерировано ни ноты. Это упоминание несущее, и подавать его надо с объяснением разницы, иначе студент унесёт из лекции неверное. Демо Джона Леннона 1978 года существовало на бытовой кассете, где голос физически смешан с фортепиано, шумом телевизора и сетевым гулом. Попытка свести песню предпринималась в 1995 году и провалилась: отделить голос от фортепиано было нечем. В 2021 году при работе над документальным сериалом «Get Back» студия WingNut Films построила систему машинного разделения источников, и в ноябре 2023 года песня вышла — через сорок пять лет после записи демо. Разница с генерацией сидит в постановке задачи: у разделения источников микс считается суммой дорожек, и модель обучается минимизировать ошибку восстановления относительно изолированной дорожки, которая существует как эталон. У генерации эталона нет по определению. Там, где записанное физически присутствует в сигнале, его достают, и ничего не выдумывают.</a:t>
            </a:r>
          </a:p>
          <a:p>
            <a:r>
              <a:t/>
            </a:r>
          </a:p>
          <a:p>
            <a:r>
              <a:t>Signapse: жестовый язык из лаборатории в расписание вокзалов. Фотореалистичный перевод письменного текста на британский и американский жестовые языки к середине 2025 года работает на 2 500 вокзалах Великобритании — то есть на всей сети железных дорог страны — и в крупных аэропортах США. Сообщения о движении доходят до глухих пассажиров в момент объявления. Устройство важно этически: цифровые «дикторы» построены на съёмках реальных глухих людей, которые получают отчисления. Рядом — пятилетний проект SignGPT на 8,45 миллиона фунтов, объявленный в январе 2025 года, с крупнейшим в мире корпусом жестового языка. Вторая половина обязательна: сообщество глухих спорит о вытеснении живых переводчиков и о том, что аватар не передаёт выражение лица, которое в жестовых языках работает как грамматика; научная критика этого опубликована.</a:t>
            </a:r>
          </a:p>
          <a:p>
            <a:r>
              <a:t/>
            </a:r>
          </a:p>
          <a:p>
            <a:r>
              <a:t>Правила «Грэмми» 2023 года: отрасль первой написала норму. В июне 2023 года Академия записала: награду может получить только человек; работа без человеческого авторства не допускается ни в одну категорию; работы с машинными элементами допускаются, если вклад человека в музыку или текст существенный и более чем ничтожный. Последнее определено — «настолько малый, что им можно пренебречь», — и это как раз то, чего нет ни в одном законе на 2026 год. Инженеру этот критерий полезен в готовом виде: спрашивать надо, что именно сделал человек, — этот вопрос и заменяет «использовался ли ИИ».</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работает та же машинерия, что в лекциях про языковые модели, и параллель держится до определённого места. Чтобы применить к звуку аппарат языковой модели, нужен словарь. Его роль играет нейронный аудиокодек.</a:t>
            </a:r>
          </a:p>
          <a:p>
            <a:r>
              <a:t/>
            </a:r>
          </a:p>
          <a:p>
            <a:r>
              <a:t>Устройство кодека простое: свёрточный кодировщик сжимает волну, остаточное квантование превращает непрерывный вектор в набор дискретных номеров, свёрточный декодировщик собирает волну обратно; всё обучается сквозно, одним куском.</a:t>
            </a:r>
          </a:p>
          <a:p>
            <a:r>
              <a:t/>
            </a:r>
          </a:p>
          <a:p>
            <a:r>
              <a:t>Числа, которые стоит держать в голове, взяты из первоисточника. В системе SoundStream кодировщик — это свёртка и четыре блока с шагами прореживания 2, 4, 5 и 8, то есть одно вложение считается каждые 320 входных отсчётов. При частоте дискретизации 24 килогерца это даёт 75 кадров латентного представления в секунду, и один кадр длится 13,3 миллисекунды — это же и есть архитектурная задержка модели. Меньше неё система не ответит никогда, сколько ускорителей под неё ни подложи.</a:t>
            </a:r>
          </a:p>
          <a:p>
            <a:r>
              <a:t/>
            </a:r>
          </a:p>
          <a:p>
            <a:r>
              <a:t>Слово «остаточное» надо понимать буквально. Первая кодовая книга даёт грубое приближение вектора; из вектора вычитается то, что она закодировала, и остаток подаётся второй книге; третья кодирует ошибку второй. Каждый следующий уровень уточняет предыдущий.</a:t>
            </a:r>
          </a:p>
          <a:p>
            <a:r>
              <a:t/>
            </a:r>
          </a:p>
          <a:p>
            <a:r>
              <a:t>Почему устроено именно так, авторы посчитали прямо. При шести килобитах в секунду и 75 кадрах в секунду на один кадр приходится 80 бит. Одна плоская кодовая книга потребовала бы два в восьмидесятой степени векторов — величину, которую они назвали очевидно неосуществимой. При восьми квантователях каждая книга содержит два в десятой степени, то есть 1 024 вектора, и это уже обычная таблица, помещающаяся в память.</a:t>
            </a:r>
          </a:p>
          <a:p>
            <a:r>
              <a:t/>
            </a:r>
          </a:p>
          <a:p>
            <a:r>
              <a:t>Параллель с подсловным словарём из лекции про языковые модели точна в постановке и расходится в приёме: и там, и тут нужно покрыть огромное пространство, не перечисляя его целиком. Текст решает это слиянием частых пар, звук — каскадом уточнений.</a:t>
            </a:r>
          </a:p>
          <a:p>
            <a:r>
              <a:t/>
            </a:r>
          </a:p>
          <a:p>
            <a:r>
              <a:t>Измеренный размен глубины на ширину, все замеры при шести килобитах в секунду: восемь квантователей с книгой на 1 024 дают качество 4,01 по шкале ViSQOL; шестнадцать с книгой на 32 — 3,98; восемьдесят однобитных — 3,92. Вывод авторов: использование последовательности из восьмидесяти однобитных квантователей ведёт лишь к скромной деградации качества. Для инженера это готовое правило: глубина каскада почти бесплатна, ширина книги дорога.</a:t>
            </a:r>
          </a:p>
          <a:p>
            <a:r>
              <a:t/>
            </a:r>
          </a:p>
          <a:p>
            <a:r>
              <a:t>И масштаб, который стоит произнести вслух: при шести килобитах в секунду кодек на 8,4 миллиона параметров работает быстрее реального времени, в 2,4 раза, на одном ядре процессора смартфона, а при трёх килобитах превосходит традиционный кодек на двенадцати. Токенизатор звука — крошечная модель; дорог генератор, который стоит поверх него.</a:t>
            </a:r>
          </a:p>
          <a:p>
            <a:r>
              <a:t/>
            </a:r>
          </a:p>
          <a:p>
            <a:r>
              <a:t>Теперь арифметика, которая объясняет всё остальное в разделе. Токенов в секунду получается 75, умноженные на число квантователей: два квантователя — 150 токенов в секунду и 9 000 в минуте; четыре — 300 и 18 000; восемь — 600 и 36 000; тридцать два — 2 400 и 144 000. У музыкальной модели числа другие и тоже опубликованы: шаг прореживания 640 при 32 килогерцах даёт 50 кадров в секунду, четыре квантователя с книгой на 2 048 — 200 токенов в секунду, то есть 12 000 токенов в минуте. Тридцать секунд звука — это полторы тысячи шагов генерации.</a:t>
            </a:r>
          </a:p>
          <a:p>
            <a:r>
              <a:t/>
            </a:r>
          </a:p>
          <a:p>
            <a:r>
              <a:t>Сравнение, которое и делает кодек осмысленным. Минута звука с компакт-диска — это 5 292 000 отсчётов. Та же минута в представлении кодека с восемью квантователями — 36 000 токенов, в 147 раз меньше; у музыкальной модели — 12 000 токенов, в 441 раз меньше. В окно контекста на 128 тысяч токенов помещается полторы секунды сырого звука с компакт-диска — или 10,7 минуты того же звука в представлении музыкальной модели. Весь смысл нейронного кодека в генерации — именно этот множитель, и экономия места на диске тут ни при чём.</a:t>
            </a:r>
          </a:p>
          <a:p>
            <a:r>
              <a:t/>
            </a:r>
          </a:p>
          <a:p>
            <a:r>
              <a:t>Отсюда же видно, почему речь дороже текста. Темп речи около 150 слов в минуту, один текстовый токен — примерно три четверти слова, значит минута речи, записанная текстом, — это около 200 токенов. Та же минута как аудиотокены при восьми квантователях — 36 000, то есть в 180 раз больше; при двух квантователях — 9 000, в 45 раз больше.</a:t>
            </a:r>
          </a:p>
          <a:p>
            <a:r>
              <a:t/>
            </a:r>
          </a:p>
          <a:p>
            <a:r>
              <a:t>И единственное расхождение с языковой моделью, которое нельзя замазать аналогией. У текста словарь один. У звука их пришлось завести два, и показано это измерением. Система AudioLM ввела разделение на семантические токены, которые захватывают долгосрочную структуру и работают на 25 герцах, и акустические, которые отвечают за качество синтеза и дают 600 токенов в секунду. Зачем нужны оба — измерено: акустические дают хорошее восстановление звучания и плохую фонетическую различимость, семантические — обратное. По отдельности не работает ни то, ни другое. Одного словаря звуку не хватает: нужны «о чём» и «как звучит» отдельно, и это место, где параллель с языковой моделью честно перестаёт достраиваться.</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устройства кодека следует практический вывод, и для этого раздела он обязателен: вся конструкция синтеза речи и музыки борется за снижение частоты кадров кодека, потому что это единственный рычаг, которым покупается длина.</a:t>
            </a:r>
          </a:p>
          <a:p>
            <a:r>
              <a:t/>
            </a:r>
          </a:p>
          <a:p>
            <a:r>
              <a:t>Арифметика прямая. Токенов в секунду — это частота кадров, умноженная на число квантователей. Длина окна контекста у генератора ограничена; значит, сколько секунд звука в него влезет, определяется тем, сколько токенов приходится на секунду. Понизили частоту вдвое — вдвое выросла возможная длина при том же окне и том же генераторе. Ни размер модели, ни выбор решателя такого эффекта не дают.</a:t>
            </a:r>
          </a:p>
          <a:p>
            <a:r>
              <a:t/>
            </a:r>
          </a:p>
          <a:p>
            <a:r>
              <a:t>Поколение 2025–2026 годов читается по этому параметру как по паспорту. VibeVoice держит девяносто минут диалога именно потому, что её токенизатор работает на 7,5 герца. Qwen3-TTS вынесла свои 12 герц прямо в имя модели: поставщик счёл этот параметр достойным названия. DiffRhythm 2 ушла на 5 герц. Stable Audio 2 работает на 21,5 герца и сопровождает это прямым объяснением: в отличие от прежних работ, где частота латента от 40 до 150 герц, их автокодировщик опирается на сильно понижённый латент на 21,5 герца, и сохранение перцептивного качества на низких частотах латента, по формулировке авторов, может быть существенным для обучения генеративных моделей на длинных временных контекстах, позволяя создавать музыку длинной формы.</a:t>
            </a:r>
          </a:p>
          <a:p>
            <a:r>
              <a:t/>
            </a:r>
          </a:p>
          <a:p>
            <a:r>
              <a:t>Обратите внимание на форму утверждения в последней цитате: авторы не обещают, что низкая частота сделает модель лучше. Они говорят, что без неё длинная форма недостижима в принципе. Это разные утверждения, и второе сильнее.</a:t>
            </a:r>
          </a:p>
          <a:p>
            <a:r>
              <a:t/>
            </a:r>
          </a:p>
          <a:p>
            <a:r>
              <a:t>Чем за понижение платят, тоже стоит назвать, иначе рычаг выглядит бесплатным. Каждый кадр при более низкой частоте обязан нести больше информации — иначе декодировщик восстановит меньше, чем было. Компенсируют это либо числом квантователей, либо шириной кодовой книги, либо размерностью латента, и всё это упирается в тот же размен, который измерен на уровне кодека: глубина каскада почти бесплатна, ширина книги дорога. Предел существует и виден на соседних модальностях: в видео авторы одной из моделей дошли до слишком агрессивного сжатия и записали результат — сходимость модели становится крайне затруднённой. Бесплатного сжатия не бывает ни в одной из трёх модальностей.</a:t>
            </a:r>
          </a:p>
          <a:p>
            <a:r>
              <a:t/>
            </a:r>
          </a:p>
          <a:p>
            <a:r>
              <a:t>Второй потолок, который надо держать рядом с этим рычагом: генеративная модель не может быть лучше своего декодировщика. Кодек на 32 килогерцах, стоящий внутри одной известной музыкальной модели, в сравнительной таблице реконструкции худший: дистанция 1,82 против 0,96 у другого кодека и 1,19 у третьей системы. При битрейте 2,2 килобита в секунду никакой трансформер сверху не восстановит того, что декодировщик уже потерял. Мутная верхняя середина, по которой на слух узнают машинную музыку, чаще всего принадлежит кодеку, а не генератору.</a:t>
            </a:r>
          </a:p>
          <a:p>
            <a:r>
              <a:t/>
            </a:r>
          </a:p>
          <a:p>
            <a:r>
              <a:t>Отсюда и вывод, который повторится в каждом разделе лекции на своём материале: главный рычаг — токенизатор; размер модели здесь вторичен. В звуке это частота кадров кодека, в изображении — размер латентного патча и коэффициент сжатия автокодировщика, в видео — коэффициент пространственного сжатия. Три модальности, три разных параметра, один и тот же ответ.</a:t>
            </a:r>
          </a:p>
          <a:p>
            <a:r>
              <a:t/>
            </a:r>
          </a:p>
          <a:p>
            <a:r>
              <a:t>Практическое следствие для инженера, который выбирает модель под задачу. Если задача требует длинного выхода — связного диалога, композиции целиком, многоминутной начитки, — смотреть надо сначала на частоту кадров токенизатора, и только потом на число параметров и на заявленное качество. Модель с низкой частотой и скромным генератором даст длинную форму; модель с огромным генератором и высокой частотой не даст её никакими настройками. И наоборот: если задача короткая — реплика, джингл, уведомление, — низкая частота ничего не покупает, а потерянное качество останется с вами.</a:t>
            </a:r>
          </a:p>
          <a:p>
            <a:r>
              <a:t/>
            </a:r>
          </a:p>
          <a:p>
            <a:r>
              <a:t>Отдельно — чего мы про устройство двух главных музыкальных продуктов не знаем. Ни один из них не опубликовал ни статьи, ни технического отчёта, ни карточки модели — ни по одной версии. Продукт с десятками миллионов пользователей не имеет ни одного проверяемого описания устройства. Единственное, что сообщил основатель одного из них в подкасте: их секрет в том, как правильно токенизировать звук. Это совпадает с выводом выше — и больше компания об устройстве не сказала ничего.</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Звук — единственная модальность, где обе породы генеративных моделей работают бок о бок на одной и той же задаче, и сравнить их можно измерением, а не рассуждением. Таблица, из которой взяты числа, опубликована в одной статье, то есть обе колонки получены одной методикой; сравнивать замеры из разных работ было бы той самой подменой базы, которую курс ловит в каждой лекции.</a:t>
            </a:r>
          </a:p>
          <a:p>
            <a:r>
              <a:t/>
            </a:r>
          </a:p>
          <a:p>
            <a:r>
              <a:t>Смотреть надо на колонку времени, причём на обе строки каждой модели. У авторегрессионной системы время растёт линейно с длиной: две минуты музыки считаются 6 минут 38 секунд, четыре минуты сорок пять секунд — 12 минут 53 секунды. У диффузионной оно стоит на месте: 13 секунд и там, и там. Причина в устройстве. Авторегрессия делает один проход на каждый порождаемый токен, значит вдвое более длинный выход требует вдвое больше проходов. Диффузия делает фиксированное число шагов решателя независимо от размера выхода: удлинили выход — шагов столько же, только каждый шаг обрабатывает больший тензор, и на этих масштабах рост почти не виден.</a:t>
            </a:r>
          </a:p>
          <a:p>
            <a:r>
              <a:t/>
            </a:r>
          </a:p>
          <a:p>
            <a:r>
              <a:t>Разрыв в шестьдесят раз здесь структурный: он следует из устройства, и качество инженерной работы тут ни при чём. Притом и результат у диффузии вдвое с лишним лучше по той же метрике: 79,09 и 81,96 против 204,03 и 218,02, где меньше значит лучше.</a:t>
            </a:r>
          </a:p>
          <a:p>
            <a:r>
              <a:t/>
            </a:r>
          </a:p>
          <a:p>
            <a:r>
              <a:t>Это ровно то различие, которое курс вводил на языковых моделях: авторегрессия делает столько проходов, сколько токенов, диффузия — фиксированное число проходов независимо от размера выхода. Здесь оно подтверждено измерением в таблице одной статьи, а не аналогией.</a:t>
            </a:r>
          </a:p>
          <a:p>
            <a:r>
              <a:t/>
            </a:r>
          </a:p>
          <a:p>
            <a:r>
              <a:t>У авторегрессии по аудиотокенам есть своя задача, которой нет у текста, и решение её поучительно. Остаточное квантование даёт на каждый кадр несколько параллельных потоков токенов, а авторегрессионный трансформер умеет порождать только один поток. Наивное решение — предсказывать все четыре книги сразу — проваливается, потому что книги условно зависимы: каждая кодирует остаток предыдущей, и предсказать их независимо значит потерять эту связь. Измерено это прямо: при плоской развёртке, когда все книги вытягиваются в одну длинную цепочку, получается 6 000 шагов и качество 0,86 по метрике FAD; при схеме задержки, где на шаге с номером s предсказывается первая книга кадра s, вторая книга кадра s минус один, третья — кадра s минус два, выходит всего 1 500 шагов при качестве 0,96; при наивном параллельном варианте те же 1 500 шагов, но качество 2,58 и заметное падение субъективной оценки. Вывод авторов: сравнимого качества можно достичь за долю этой стоимости простым подходом с задержкой.</a:t>
            </a:r>
          </a:p>
          <a:p>
            <a:r>
              <a:t/>
            </a:r>
          </a:p>
          <a:p>
            <a:r>
              <a:t>У диффузии своя проблема, и её решение тоже стоит знать. Диффузионная модель порождает тензор фиксированной формы, то есть по построению выдаёт ровно одну длительность. Обходят это обусловливанием на время: когда берут обучающий фрагмент, записывают, с какой секунды он начинается и сколько секунд всего в исходном файле, переводят оба числа в обучаемые вложения и подают наравне с текстом. На работе пользователь задаёт длину, и модель, всегда производя окно в 95 секунд, обучена заполнять хвост тишиной с указанного момента; тишина обрезается. Запомнить стоит механизм: переменная длина получена здесь обучением, а само ограничение «размер задан до запуска» никуда не делось; во что оно обходится практике, разбирает отдельный кадр этого же раздела.</a:t>
            </a:r>
          </a:p>
          <a:p>
            <a:r>
              <a:t/>
            </a:r>
          </a:p>
          <a:p>
            <a:r>
              <a:t>Инженерный вывод, который переносится за пределы звука. Выбор между двумя семействами делается по профилю задачи. Длинный выход и жёсткий бюджет времени — диффузия: её стоимость не зависит от длины. Выход, который надо наращивать по ходу, с возможностью продолжить начатое, — авторегрессия: у неё есть естественное продолжение последовательности, которого у диффузии нет. Вопрос «диффузия лучше авторегрессии?» смысла не имеет: два класса гарантируют разное и считаются по-разному, и спрашивать надо, какая гарантия нужна вашей задаче.</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различение несущее для всего курса, и ставить его надо рядом с клонированием голоса, потому что в прессе обе вещи называются одним словом.</a:t>
            </a:r>
          </a:p>
          <a:p>
            <a:r>
              <a:t/>
            </a:r>
          </a:p>
          <a:p>
            <a:r>
              <a:t>Демо Джона Леннона 1978 года существовало на бытовой кассете, где голос физически смешан с фортепиано, шумом телевизора и сетевым гулом. Попытка свести песню предпринималась в 1995 году и провалилась: отделить голос от фортепиано было нечем. В 2021 году при работе над документальным сериалом студия построила систему машинного разделения источников, и в ноябре 2023 года песня вышла — через сорок пять лет после записи демо.</a:t>
            </a:r>
          </a:p>
          <a:p>
            <a:r>
              <a:t/>
            </a:r>
          </a:p>
          <a:p>
            <a:r>
              <a:t>Разница с генерацией сидит в постановке задачи. У разделения источников микс считается суммой дорожек, а задача состоит в том, чтобы вернуть слагаемые; модель обучается минимизировать ошибку восстановления относительно изолированной дорожки, которая существует как эталон. У генерации эталона нет по определению: правильной песни по запросу «фанковая басовая линия» не бывает, и сравнивать результат не с чем. Метрика разделения — отношение сигнала к искажению — буквально содержит в знаменателе отклонение от известного правильного ответа, и такой метрики у генерации быть не может.</a:t>
            </a:r>
          </a:p>
          <a:p>
            <a:r>
              <a:t/>
            </a:r>
          </a:p>
          <a:p>
            <a:r>
              <a:t>Нагляднее всего это доказывает оракул. Верхнюю границу качества всех методов, работающих маскированием спектрограммы, вычисляют по истинным дорожкам, то есть при знании ответа, и она равна 8,22 децибела. У генеративной модели понятия идеального оракула не существует вовсе: нечего подставить вместо ответа.</a:t>
            </a:r>
          </a:p>
          <a:p>
            <a:r>
              <a:t/>
            </a:r>
          </a:p>
          <a:p>
            <a:r>
              <a:t>Шкала выглядит так. Идеальная маска — 8,22 децибела. Spleeter, массовый инструмент предыдущего поколения, — 5,91. Hybrid Demucs — 8,34. Дообученный Sparse HT Demucs — 9,20. Системы 2023 года класса RoFormer — до 11,99. Сюжет, который отсюда следует: волновые и гибридные модели превзошли оракул масок. Произошло это не потому, что они стали генеративными, а потому, что перестали быть ограничены конкретным видом дискриминативной операции — умножением спектрограммы на вещественную маску. Текущий передний край всё ещё оценивает маски, только комплексные.</a:t>
            </a:r>
          </a:p>
          <a:p>
            <a:r>
              <a:t/>
            </a:r>
          </a:p>
          <a:p>
            <a:r>
              <a:t>Честная оговорка, чтобы тезис не прозвучал догмой: есть класс работ по восстановлению источников, где генерация в разделение возвращается. Там задача шире — вернуть исходные необработанные дорожки из сведённого и отмастеренного микса, где эффекты продакшена нарушают предположение о линейной сумме. Как только линейность нарушена, чистой дискриминации перестаёт хватать, и приходится достраивать то, чего в сигнале уже нет. Граница, стало быть, проходит по постановке задачи; технология по обе её стороны может оказаться одной и той же, и инженеру надо уметь определять, по какую сторону лёг его случай.</a:t>
            </a:r>
          </a:p>
          <a:p>
            <a:r>
              <a:t/>
            </a:r>
          </a:p>
          <a:p>
            <a:r>
              <a:t>Как проверять это на своей задаче. Вопрос один: существует ли для вашего входа правильный ответ, который можно было бы предъявить? Если да — задача восстановительная, и мерить её надо расстоянием до этого ответа, а генеративная модель здесь будет выдумывать правдоподобное вместо верного. Если нет — задача генеративная, и требовать от неё метрики точности бессмысленно, мерить придётся пригодностью результата для заказчика. Самая дорогая ошибка в этой паре — применить генератор там, где ответ существовал: получится правдоподобный результат, который невозможно опровергнуть на слух и который при этом ничего из записанного не восстанавливает.</a:t>
            </a:r>
          </a:p>
          <a:p>
            <a:r>
              <a:t/>
            </a:r>
          </a:p>
          <a:p>
            <a:r>
              <a:t>Эта же пара вернётся в лекции ещё раз, на другом материале: древний свиток, прочитанный впервые за две тысячи лет, и кинопоказ, где больше девяноста процентов кадра тронуто моделью. Там граница между восстановлением и выдумыванием проходит по тому же месту, и ставить её надо тем же вопросом.</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ограничение — свойство метода, а не недоработка конкретного поставщика, и исправлениями версии оно не лечится. Формулировать его надо точно, потому что обиходное «иногда звучит неестественно» задачу не описывает.</a:t>
            </a:r>
          </a:p>
          <a:p>
            <a:r>
              <a:t/>
            </a:r>
          </a:p>
          <a:p>
            <a:r>
              <a:t>Модель голоса воспроизводит звучание, и на этом её знание о человеке заканчивается. Внутри нет сущности «исполнитель», у которой были бы манера, репертуар, пределы диапазона, привычки дыхания и решение о том, как подать строку. Есть распределение, обусловленное образцом: система выучила, как статистически устроен звук этого голоса, и умеет порождать похожий звук. Всё, что исполнитель решает сверх звука, в этом представлении не кодируется вовсе.</a:t>
            </a:r>
          </a:p>
          <a:p>
            <a:r>
              <a:t/>
            </a:r>
          </a:p>
          <a:p>
            <a:r>
              <a:t>Следствия наблюдаемы и названы самими поставщиками, так что здесь не нужно верить критикам на слово. Первое: голос, клонированный со спокойного повествования, звучит иначе, когда его просят выразить сильную эмоцию, — потому что сильной эмоции в образце не было, и вывести её из текста модель не умеет. Второе: разработчики систем синтеза речи сами пишут, что их системам недостаёт тонкого контроля паралингвистических деталей, например эмоции, и отраслевой ответ на это — разметка руками, квадратные скобки с указаниями прямо в тексте. Управление есть ровно в той мере, в какой вы его проставили; никакого понимания смысла, из которого интонация следовала бы сама, в системе нет.</a:t>
            </a:r>
          </a:p>
          <a:p>
            <a:r>
              <a:t/>
            </a:r>
          </a:p>
          <a:p>
            <a:r>
              <a:t>Корень проблемы — в данных, и он назван ещё в 2023 году: главный обучающий корпус собран из аудиокниг, где подавляющее большинство высказываний произнесено в читательской манере. Модель видела море ровного повествования и совсем мало всего остального, поэтому ровное повествование у неё получается, а остальное приходится размечать вручную.</a:t>
            </a:r>
          </a:p>
          <a:p>
            <a:r>
              <a:t/>
            </a:r>
          </a:p>
          <a:p>
            <a:r>
              <a:t>Третье следствие относится к музыке и звучит жёстче: когда музыкальную модель просят о вокале, её генерации содержат мелодии, похожие на вокал, без разборчивых слов. Это тот же класс дефекта, что псевдобуквы на сгенерированной картинке: форма воспроизведена, содержание отсутствует. Полезно держать эти два случая рядом — они из разных модальностей, но болезнь одна, и причина одна: модель оптимизирует правдоподобие формы, а не наличие смысла.</a:t>
            </a:r>
          </a:p>
          <a:p>
            <a:r>
              <a:t/>
            </a:r>
          </a:p>
          <a:p>
            <a:r>
              <a:t>Четвёртое, продуктовое: профессиональное клонирование голоса пения не поддерживает, о чём поставщик сообщает в документации. Это прямой ответ на вопрос, который задают чаще всего, и ответ отрицательный.</a:t>
            </a:r>
          </a:p>
          <a:p>
            <a:r>
              <a:t/>
            </a:r>
          </a:p>
          <a:p>
            <a:r>
              <a:t>Отсюда инженерный вывод, переносимый на любую задачу: модель голоса годится там, где нужно произнести, и перестаёт годиться там, где нужно сыграть. Граница проходит между этими двумя глаголами, и проверять надо именно её. Навигационная подсказка, объявление на вокзале, служебная начитка, озвучка справочного материала — произнести. Роль, песня, рекламное чтение, где интонация и есть продукт, — сыграть.</a:t>
            </a:r>
          </a:p>
          <a:p>
            <a:r>
              <a:t/>
            </a:r>
          </a:p>
          <a:p>
            <a:r>
              <a:t>Для задач, где платят именно за узнавание, у этого есть прямое последствие. Узнаётся тембр, и тембр модель воспроизводит; узнаваемость исполнения тембр не покрывает, и покупают у исполнителя дорого именно её. Слушатель отличит голос, но не сможет сформулировать, чего не хватает, — и приёмка по принципу «похоже на него» перестаёт работать, потому что похоже будет всегда. Единственная работающая приёмка здесь — проверять, выполняет ли результат ту работу, ради которой нанимали исполнителя.</a:t>
            </a:r>
          </a:p>
          <a:p>
            <a:r>
              <a:t/>
            </a:r>
          </a:p>
          <a:p>
            <a:r>
              <a:t>И последнее, о чём стоит помнить при планировании. Эти четыре следствия не закроются следующей версией модели, потому что ни одно из них не ошибка обучения: они следуют из того, что модель получает на вход и что оптимизирует. Закрыться они могут только сменой постановки задачи — например, если в обучение войдёт разметка актёрского решения, а не только звук. Пока такого корпуса нет, планировать надо исходя из того, что граница между двумя глаголами останется на месте.</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ограничение метода прямо вытекает из устройства кодека и генератора, и повторится оно в каждом следующем разделе лекции на своём материале.</a:t>
            </a:r>
          </a:p>
          <a:p>
            <a:r>
              <a:t/>
            </a:r>
          </a:p>
          <a:p>
            <a:r>
              <a:t>Языковая модель решает, когда остановиться, по ходу: она выдаёт служебный токен конца, и длина ответа — результат генерации. Диффузионная модель порождает тензор фиксированной формы, и длина выхода задана параметром запуска. Это различие архитектурное, и ни одна настройка его не снимает.</a:t>
            </a:r>
          </a:p>
          <a:p>
            <a:r>
              <a:t/>
            </a:r>
          </a:p>
          <a:p>
            <a:r>
              <a:t>Что из этого следует практически. Нельзя попросить «играй, пока не кончится идея». Нельзя прервать генерацию на середине и получить осмысленный короткий результат: получится обрезок, оборванный там, где его оборвали. Нельзя сгенерировать «примерно минуту» — надо назвать число. Для монтажёра это означает перестройку работы: длительность планируется до запуска, а не подбирается по ходу, и материал под склейку заказывается с запасом, который потом обрезается.</a:t>
            </a:r>
          </a:p>
          <a:p>
            <a:r>
              <a:t/>
            </a:r>
          </a:p>
          <a:p>
            <a:r>
              <a:t>Обходы существуют и описаны. Первый — обусловливание на длительность: когда берут обучающий фрагмент, записывают, с какой секунды он начинается и сколько секунд всего в исходном файле, переводят оба числа в обучаемые вложения и подают наравне с текстом; на работе пользователь задаёт длину, и модель, всегда производя окно в 95 секунд, обучена заполнять хвост тишиной с указанного момента, после чего тишина обрезается. Второй — достройка следующего фрагмента функцией расширения. Каждый обход платит своим: заполнение тишиной тратит вычисления на пустое окно, а достройка фрагментами ломает структуру, потому что в контекст переносится только последний кусок.</a:t>
            </a:r>
          </a:p>
          <a:p>
            <a:r>
              <a:t/>
            </a:r>
          </a:p>
          <a:p>
            <a:r>
              <a:t>Отсюда же — техническая причина знаменитой жалобы на машинную музыку. Припев, который не возвращается, и мелодия, застрявшая в петле, измерены: у одной известной модели в контекст при наращивании переносится двенадцать секунд предыдущего звука, и модель физически не может сослаться на то, что было минуту назад. У модели с низкой частотой латента, держащей всю композицию в одном окне, повторение мотива появляется само — без всякой специальной работы над «музыкальностью». То есть музыкальная форма здесь следствие того, помещается ли произведение в окно целиком, и это ровно тот же рычаг, что разбирался кадром раньше.</a:t>
            </a:r>
          </a:p>
          <a:p>
            <a:r>
              <a:t/>
            </a:r>
          </a:p>
          <a:p>
            <a:r>
              <a:t>Отдельно стоит назвать ещё один потолок: он слышен, и к генератору отношения не имеет. Генеративная модель не может быть лучше своего декодировщика. Кодек, стоящий внутри одной известной музыкальной модели, в сравнительной таблице реконструкции худший: дистанция 1,82 против 0,96 у другого кодека и 1,19 у третьей системы. Предел жёсткий: при битрейте 2,2 килобита в секунду никакой трансформер сверху не восстановит того, что декодировщик уже потерял. Мутная верхняя середина, по которой на слух узнают машинную музыку, чаще всего принадлежит кодеку.</a:t>
            </a:r>
          </a:p>
          <a:p>
            <a:r>
              <a:t/>
            </a:r>
          </a:p>
          <a:p>
            <a:r>
              <a:t>Инженерное следствие, которое стоит унести. Если задача требует выхода неизвестной заранее длины — реплики, которая кончается там, где кончается мысль, музыкальной фразы, которая замыкается сама, — диффузионная модель звука не тот инструмент, и обходить это придётся снаружи: нарезкой, монтажом, отдельной логикой остановки. Если длина известна заранее и фиксирована — ограничение не стоит вам ничего. Это тот же тип критерия, что и граница между «произнести» и «сыграть»: его можно проверить до запуска, по постановке задачи, а не после приёмки результата.</a:t>
            </a:r>
          </a:p>
          <a:p>
            <a:r>
              <a:t/>
            </a:r>
          </a:p>
          <a:p>
            <a:r>
              <a:t>Полезно понять, откуда это различие берётся, а не запоминать его как факт. Языковая модель порождает последовательность по одному элементу, и каждый следующий элемент она выбирает, глядя на уже порождённые; среди возможных элементов есть служебный знак конца, и вероятность его выбора растёт по мере того, как высказывание становится завершённым. Длина, стало быть, — результат того же процесса, который порождает содержание. Диффузионная модель устроена иначе: она начинает с поля шума заданного размера и постепенно превращает его в осмысленный сигнал, причём размер поля задаётся в момент, когда шум создаётся, то есть до первого шага. Никакого места, где модель могла бы решить «здесь довольно», в этом процессе нет — все элементы поля обрабатываются на каждом шаге одновременно.</a:t>
            </a:r>
          </a:p>
          <a:p>
            <a:r>
              <a:t/>
            </a:r>
          </a:p>
          <a:p>
            <a:r>
              <a:t>Отсюда же понятно, почему обходы устроены именно так, как устроены, и почему каждый из них половинчатый. Обусловливание на длительность учит модель класть тишину в хвост — то есть длина по-прежнему задана, только часть выхода объявлена ненужной. Достройка фрагментами разбивает длинный выход на последовательность коротких, и внутри каждого ограничение действует в полной мере, а между ними теряется связь. Третий путь, который сейчас разрабатывается, — назначать каждому элементу поля собственный уровень шума, и тогда часть поля можно достраивать, пока другая уже готова. Это соединяет переменную длину, свойственную последовательному порождению, с управляемостью диффузии, но в продуктах массово пока не стоит.</a:t>
            </a:r>
          </a:p>
          <a:p>
            <a:r>
              <a:t/>
            </a:r>
          </a:p>
          <a:p>
            <a:r>
              <a:t>Что это значит при выборе инструмента под конкретный заказ. Служебная начитка фиксированной длины, джингл в тридцать секунд, озвучка ролика под готовый монтаж — ограничение не стоит ничего, длина и так назначена заказчиком. Начитка книги, где главы разной длины, — ограничение стоит нарезки и склейки, то есть человеческого времени на монтаж. Музыкальная подложка, которая должна закончиться ровно на реплике, — ограничение стоит отдельной работы, потому что модель не умеет завершать фразу, она умеет остановиться в назначенной точке. Разница между вторым и третьим случаем существенна: во втором достаточно обрезать, в третьем обрезанное звучит оборванным.</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Возможности этого раздела — самые бесспорные в лекции. Цена у них ровно одна, и она правовая: технический объект «модель голоса» существует, а правового объекта «голос» в России нет.</a:t>
            </a:r>
          </a:p>
          <a:p>
            <a:r>
              <a:t/>
            </a:r>
          </a:p>
          <a:p>
            <a:r>
              <a:t>В Гражданском кодексе Российской Федерации отдельной охраны голоса нет. У человека, чей голос скопировали, на октябрь 2026 года есть три инструмента, и каждый достаёт мимо цели. Первый — защита персональных данных, но для этого надо доказать, что запись — его биометрия, а это отдельный спор со своим исходом. Второй — смежные права на конкретную фонограмму, то есть на ту запись, которая была сделана; на голос как таковой они не распространяются, и копия, построенная моделью, фонограммой-оригиналом не является. Третий — статья о защите чести и достоинства, но она работает только если использование порочит, а большинство случаев синтеза не порочит никого. Прямой нормы о голосе нет.</a:t>
            </a:r>
          </a:p>
          <a:p>
            <a:r>
              <a:t/>
            </a:r>
          </a:p>
          <a:p>
            <a:r>
              <a:t>Попытка её ввести документирована полностью, и статусы в ней надо различать строго. Законопроект номер 718834-8 внесён в сентябре 2024 года — через месяц после проигранного дела, которое разбирает следующий кадр. Он предлагал новую статью 152.3 Гражданского кодекса: охрана голоса как личного неимущественного блага по аналогии с действующей охраной изображения, включая имитацию голоса и синтез речи в реальном времени. Правительство проект не поддержало: отрицательная позиция освещена в октябре 2024 года, решение правительственной комиссии по законопроектной деятельности вынесено 20 января 2025 года. Аргументы названы: записи голоса — биометрические персональные данные, согласие на их обработку уже требуется; моральный вред взыскивается по действующему закону; запись голоса — фонограмма, охраняемая смежными правами. На октябрь 2026 года проект не принят. Сказать «в России готовится закон о голосе» было бы неверно: внесён и не поддержан — это другой статус, и он означает, что движения нет.</a:t>
            </a:r>
          </a:p>
          <a:p>
            <a:r>
              <a:t/>
            </a:r>
          </a:p>
          <a:p>
            <a:r>
              <a:t>Позиция отрасли при этом не антитехнологическая, и переврать её было бы нечестно. Союз дикторов России формулирует задачу на собственном сайте дословно: они борются за введение регулирования использования синтеза голоса, чтобы эта технология стала выгодна самим дикторам, а не стала закатом профессии. Просят лицензию, а не запрет. Это важно для инженерной аудитории: сторона, которую принято считать пострадавшей, добивается механизма, по которому технологией можно пользоваться законно и платно.</a:t>
            </a:r>
          </a:p>
          <a:p>
            <a:r>
              <a:t/>
            </a:r>
          </a:p>
          <a:p>
            <a:r>
              <a:t>Для контраста — другая юрисдикция, где нормы приняты. В штате Теннесси закон, добавивший голос к праву публичности, подписан 21 марта 2024 года и действует с 1 июля 2024 года. В Калифорнии закон о цифровых репликах умерших действует с 1 января 2025 года. Ответственность там сформулирована как большее из двух: десять тысяч долларов либо сумма реально понесённых убытков — то есть десять тысяч это нижняя граница взыскания, а не потолок и не альтернатива на выбор нарушителя. Обязательная оговорка, без которой картина получится приукрашенной: применённых в суде дел по обоим законам найти не удалось. Норма в силе и норма, проверенная практикой, — разные состояния, и второго здесь пока нет.</a:t>
            </a:r>
          </a:p>
          <a:p>
            <a:r>
              <a:t/>
            </a:r>
          </a:p>
          <a:p>
            <a:r>
              <a:t>Федерального закона в США нет. Профильный законопроект единогласно одобрен судебным комитетом Сената 18 июня 2026 года, но 30 сентября 2026 года при попытке принять его единогласным согласием один из сенаторов возразил, и ни одной палатой он не принят. Это третий статус в одном кадре, и путать его с двумя предыдущими нельзя: одобрение комитетом не есть принятие.</a:t>
            </a:r>
          </a:p>
          <a:p>
            <a:r>
              <a:t/>
            </a:r>
          </a:p>
          <a:p>
            <a:r>
              <a:t>Пять статусов, которые курс требует различать, встречаются в этом разделе почти все: иск подан, решение вынесено, закон принят и в силе, проект внесён и не поддержан, проект одобрен комитетом и не принят. Инженеру это нужно затем, что от статуса зависит, можно ли на норму опираться при планировании работы. На норму в силе опираться можно; на внесённый проект — нельзя, и срок его принятия непредсказуем.</a:t>
            </a:r>
          </a:p>
          <a:p>
            <a:r>
              <a:t/>
            </a:r>
          </a:p>
          <a:p>
            <a:r>
              <a:t>Практический вывод, который следует отсюда прямо: пока прямой нормы нет, единственный работающий инструмент — договор. Всё, что вы хотите иметь право делать с записанным голосом, должно быть названо в документе словом. Чем это кончается, когда слова нет, показывает следующий кадр.</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единственное российское дело о синтезированном голосе, дошедшее до решения, и прослеживается оно целиком — поэтому разбирать стоит именно его, а не пересказывать слухи о десятке похожих ситуаций.</a:t>
            </a:r>
          </a:p>
          <a:p>
            <a:r>
              <a:t/>
            </a:r>
          </a:p>
          <a:p>
            <a:r>
              <a:t>В 2019 году актриса озвучки Алёна Андронова записала около 600 страниц текста для банка. По её словам, в договоре нет ни слова «синтез», ни упоминания нейросетей; заверяли, что записи нужны для внутренних задач — колл-центра и голосового ассистента. Это несущая деталь всего дела, и держать её надо в точности: речь идёт об употреблении, которого в документе не предусмотрели никак; запрета, который можно было бы нарушить, там тоже не было.</a:t>
            </a:r>
          </a:p>
          <a:p>
            <a:r>
              <a:t/>
            </a:r>
          </a:p>
          <a:p>
            <a:r>
              <a:t>В 2022 году её голос обнаружился в сторонней рекламе — эротические чаты, призывы донатить; голос оказался доступен для синтеза на сторонних площадках. Из-за этого она потеряла часть работы: заказчики, услышавшие знакомый тембр в таком контексте, перестали обращаться.</a:t>
            </a:r>
          </a:p>
          <a:p>
            <a:r>
              <a:t/>
            </a:r>
          </a:p>
          <a:p>
            <a:r>
              <a:t>7 апреля 2023 года банк в ответ предложил компенсацию примерно в два месячных заработка при условии полного отказа от претензий. Предложение отклонено. 30 августа 2023 года подан иск в Савёловский районный суд Москвы: почти 6 миллионов рублей, удаление голоса из открытого доступа, защита чести и достоинства. В тот же день запущена петиция, собравшая около 26 тысяч подписей.</a:t>
            </a:r>
          </a:p>
          <a:p>
            <a:r>
              <a:t/>
            </a:r>
          </a:p>
          <a:p>
            <a:r>
              <a:t>12 августа 2024 года вынесено решение по делу номер 2-3580/2024: в иске отказано. Суд счёл, что исключительные права на записи, включая право на переработку нейросетью в том числе третьими лицами, перешли по договору и необходимые согласия получены. Защиту голоса как нематериального блага суд обошёл, не оценивая, — то есть вопрос, ради которого дело было интересно, остался нерешённым не потому, что на него ответили отрицательно, а потому, что до него не дошли. Решение обжаловалось; итог апелляции по открытым источникам установить не удалось, и это состояние надо называть как есть, а не домысливать.</a:t>
            </a:r>
          </a:p>
          <a:p>
            <a:r>
              <a:t/>
            </a:r>
          </a:p>
          <a:p>
            <a:r>
              <a:t>Читать это надо так. Суд разрешил спор как спор о договоре. В России голос существует в суде ровно настолько, насколько он описан в бумаге, подписанной пятью годами раньше — тогда, когда слова «синтез» в этой отрасли ещё не было. Дыра, из-за которой дело проиграно, на октябрь 2026 года не закрыта: законопроект, который закрывал бы её, внесён через месяц после решения и правительством не поддержан.</a:t>
            </a:r>
          </a:p>
          <a:p>
            <a:r>
              <a:t/>
            </a:r>
          </a:p>
          <a:p>
            <a:r>
              <a:t>Исход назван прямо, и это принципиально для формы разбора: разбор без исхода — половина разбора. Соблазн рассказать это как историю о несправедливости и остановиться на иске велик, и именно так её чаще всего и пересказывают. Но сам по себе поданный иск ничего не доказывает; доказывает решение, и решение здесь отрицательное.</a:t>
            </a:r>
          </a:p>
          <a:p>
            <a:r>
              <a:t/>
            </a:r>
          </a:p>
          <a:p>
            <a:r>
              <a:t>Для инженера отсюда следует практическое правило, и оно шире темы голоса: договор на запись материала, который может быть использован для обучения модели, обязан называть это использование словом. Отсутствие слова «синтез» в документе 2019 года стоило человеку профессии в её прежнем виде и шести миллионов рублей иска. Это касается любого материала, который человек передаёт организации: записи голоса, фотографий, текстов, кода, разметки. Вопрос, который надо задавать при подписании, звучит так: названо ли в документе словом то употребление, которого я не ожидаю.</a:t>
            </a:r>
          </a:p>
          <a:p>
            <a:r>
              <a:t/>
            </a:r>
          </a:p>
          <a:p>
            <a:r>
              <a:t>И вторая сторона того же правила, адресованная тем, кто договор составляет. Формулировка «включая право на переработку, в том числе третьими лицами» в 2019 году выглядела стандартной оговоркой и именно она решила дело пять лет спустя. Общая широкая формула в договоре выглядит заботой о гибкости, а переносит весь будущий риск на того, кто подписывает. Добросовестная практика в том, чтобы назвать употребления явно, а не укрыть их под общую формулу, — и отрасль, которая просит лицензию вместо запрета, просит именно этого.</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о цене был бы нечестным без одной арифметической поправки, которая работает против красивых чисел из разбора про озвучку.</a:t>
            </a:r>
          </a:p>
          <a:p>
            <a:r>
              <a:t/>
            </a:r>
          </a:p>
          <a:p>
            <a:r>
              <a:t>Повсеместно цитируемая цена сгенерированного трека — около полутора-двух центов. Это цена генерации: столько стоит нажать кнопку и получить результат внутри сервиса. Цена трека, который можно унести и использовать, другая. На тарифе за восемь долларов в месяц пользователю даётся двадцать скачиваний, то есть восемь, делённые на двадцать, — сорок центов за скачиваемый трек. Разница между двумя единицами — двадцать пять раз, и обе цифры при этом верны: считают они разное.</a:t>
            </a:r>
          </a:p>
          <a:p>
            <a:r>
              <a:t/>
            </a:r>
          </a:p>
          <a:p>
            <a:r>
              <a:t>Сравнивать со стоковой лицензией в 20–100 долларов надо именно сорок центов, и тогда разрыв выходит от пятидесяти до двухсот пятидесяти раз вместо тысяч. Это по-прежнему огромная величина; она на полтора порядка меньше той, которую обычно называют, и инженеру важнее уметь получать правильный порядок, чем помнить красивый.</a:t>
            </a:r>
          </a:p>
          <a:p>
            <a:r>
              <a:t/>
            </a:r>
          </a:p>
          <a:p>
            <a:r>
              <a:t>Метод счёта показан прямо на кадре, потому что ошибка этого класса повторится за вечер ещё не раз. Общая форма её такая: прейскурант называет цену одной попытки, производство интересует цена одного годного результата, и между ними стоит коэффициент отбора, который в прейскуранте не упомянут ни словом. В изображении то же самое давало тридцать-сто генераций на одну пригодную иллюстрацию; в видео, к которому раздел переходит дальше, это будет четыреста генераций на пятнадцать склеек. Правило одно: единица учёта — то, что ушло заказчику.</a:t>
            </a:r>
          </a:p>
          <a:p>
            <a:r>
              <a:t/>
            </a:r>
          </a:p>
          <a:p>
            <a:r>
              <a:t>Теперь вывод раздела, в трёх частях.</a:t>
            </a:r>
          </a:p>
          <a:p>
            <a:r>
              <a:t/>
            </a:r>
          </a:p>
          <a:p>
            <a:r>
              <a:t>Где польза. Там, где задача сводится к воспроизведению известного звучания, модель к 2026 году закрыла её с разрывом в сотни и тысячи раз против классического режима: минута озвучки стоит от 0,03 до 0,072 доллара против 50–450 долларов у диктора. Там, где классического режима не существует вовсе, она дала результат, которого прежде не было ни за какие деньги: голос человеку, утратившему речь, и роль актёру, у которого голос отняла операция.</a:t>
            </a:r>
          </a:p>
          <a:p>
            <a:r>
              <a:t/>
            </a:r>
          </a:p>
          <a:p>
            <a:r>
              <a:t>Где границы. Понятия исполнителя у модели нет, пение не поддерживается, эмоция берётся разметкой, длина выхода назначается до запуска. Качество упирается в декодировщик кодека раньше, чем в размер модели. И самое практичное: часть задач, которые в прессе называют генерацией, к генерации не относится — разделение источников вернуло миру песню, не сгенерировав ни одной ноты, и спутать эти две вещи значит выбрать неправильный инструмент.</a:t>
            </a:r>
          </a:p>
          <a:p>
            <a:r>
              <a:t/>
            </a:r>
          </a:p>
          <a:p>
            <a:r>
              <a:t>Какая нагрузка идёт дальше по циклу. Право. Модель голоса переживает человека, а нормы о голосе в российском праве нет; единственное дошедшее до решения дело проиграно потому, что суд читал договор пятилетней давности. Эта нагрузка переходит в раздел о распознавании и происхождении и дальше в Сборку, где называется адрес платежа.</a:t>
            </a:r>
          </a:p>
          <a:p>
            <a:r>
              <a:t/>
            </a:r>
          </a:p>
          <a:p>
            <a:r>
              <a:t>Технический вывод, подтверждённый на материале раздела: главный рычаг здесь — токенизатор. Длина выхода определяется частотой кадров кодека, от 5 до 21,5 герца у моделей 2026 года; размер генератора на неё почти не влияет, а сам кодек при этом умещается в 8,4 миллиона параметров и работает на одном ядре процессора смартфона.</a:t>
            </a:r>
          </a:p>
          <a:p>
            <a:r>
              <a:t/>
            </a:r>
          </a:p>
          <a:p>
            <a:r>
              <a:t>Накопительная карта после двух разделов заполнена на две колонки из пяти. Строки её — шесть типов задач, и каждая следующая модальность добавляет свою колонку, а не переписывает строки. Пустых клеток в заполненных колонках нет: там, где у нас нет измеренного случая, названо, что именно известно и чего не хватает, — это честное состояние, а не пробел отбора. Под картой идёт полоса адреса платежа: у изображения это отбор и права, у звука — права и узнавание. Полоса накапливается теми же шагами, что и колонки, и к Сборке придёт полной.</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модальность вечера устроена сложнее двух предыдущих: производственная цепочка здесь длиннее, стадий больше, а единица выхода дороже и звука, и неподвижной картинки — причём дороже измеримо.</a:t>
            </a:r>
          </a:p>
          <a:p>
            <a:r>
              <a:t/>
            </a:r>
          </a:p>
          <a:p>
            <a:r>
              <a:t>Картинка размером 1024 на 1024 точки — это 4 096 токенов. Пять секунд видео в разрешении 720p — 111 600 токенов, то есть в двадцать семь раз больше. Пять секунд в 1080p — 249 240 токенов, в шестьдесят один раз больше. И по этим токенам надо прогнать двадцать-пятьдесят шагов расшумления, каждый с полным вниманием и без всякого кэша. Это самая дорогая из трёх уже пройденных модальностей, и именно поэтому все рычаги удешевления видны здесь отчётливее всего.</a:t>
            </a:r>
          </a:p>
          <a:p>
            <a:r>
              <a:t/>
            </a:r>
          </a:p>
          <a:p>
            <a:r>
              <a:t>У раздела есть особенность, которой нет у предыдущих: избыток материала. Все западные случаи штучные — один ролик, один фильм, одна сцена, — а первым идёт разбор, где на генеративное производство перешла целая отрасль за один год, с полной экономикой. Такое сочетание редкое, и порядок разборов выбран так, чтобы масштаб шёл от отраслевого к единичному: сначала рынок, потом ролик за две тысячи долларов, потом кампания, где ожидание зала расходится с результатом.</a:t>
            </a:r>
          </a:p>
          <a:p>
            <a:r>
              <a:t/>
            </a:r>
          </a:p>
          <a:p>
            <a:r>
              <a:t>Три разбора раздела называются здесь по порядку и дословно совпадают с заголовками своих кадров. Шесть упоминаний идут следом, каждое с числом и с базой.</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Отраслевое название этой модальности — движущееся изображение, и под ним живёт производственная цепочка, устроенная сложнее, чем у звука. Разбирать её имеет смысл с того решения, которое она принимает, и с того, где в ней стоит дорогое место: всё остальное в разделе читается относительно этих двух вещей.</a:t>
            </a:r>
          </a:p>
          <a:p>
            <a:r>
              <a:t/>
            </a:r>
          </a:p>
          <a:p>
            <a:r>
              <a:t>Решение стадии формулируется коротко — что именно увидит зритель в каждую секунду экранного времени. За этим решением идёт самая дорогая цепочка обязательств во всей главе: права на музыку, права на лица в кадре, права на локацию, профсоюзные ставки, страховка, согласования с заказчиком. Поэтому дешевизна отдельного кадра переводится в дешевизну готового ролика далеко не один к одному, и этот зазор — содержание трёх разборов раздела.</a:t>
            </a:r>
          </a:p>
          <a:p>
            <a:r>
              <a:t/>
            </a:r>
          </a:p>
          <a:p>
            <a:r>
              <a:t>Классическая цепочка работает с отснятым материалом — массивом планов, из которых монтажёр выбирает вошедшие. Отношение отснятого к вышедшему — профессиональная величина с собственным названием и известным порядком: в постановочной рекламе около десяти к одному, в документалистике десятки к одному. Вопрос, который решает стадия, звучит так: какой план попадёт в монтаж. Единица учёта на площадке — съёмочный день и план, то есть непрерывный кусок изображения от включения камеры до выключения.</a:t>
            </a:r>
          </a:p>
          <a:p>
            <a:r>
              <a:t/>
            </a:r>
          </a:p>
          <a:p>
            <a:r>
              <a:t>Генеративная цепочка работает с описанием и опорными кадрами. На входе текст, иногда плюс стартовый кадр, иногда плюс набор референсов для закрепления облика персонажа — современные системы берут до десяти опорных кадров и до пятнадцати референсов на одну генерацию. На выходе клип длиной от четырёх до двадцати секунд. Вопрос остаётся прежним — какой план попадёт в монтаж, — и в этом главное: стадия отбора не исчезла, она выросла.</a:t>
            </a:r>
          </a:p>
          <a:p>
            <a:r>
              <a:t/>
            </a:r>
          </a:p>
          <a:p>
            <a:r>
              <a:t>Разница между двумя цепочками удобно читается по тому, где в них стоит дорогое место. В классической дорого произвести план: смена, свет, исполнители, разрешение на площадку; отбор при этом дёшев — монтажёр просматривает материал и выбирает. В генеративной дорого отобрать: произвести план стоит центы, а просмотреть несколько сотен клипов, сверить постоянство персонажа между ними и собрать из уцелевших связную сцену стоит человеко-дней. Отношение проб к годному при этом вырастает на порядок-полтора против того режима, которому генерация подражает. Дефицит переехал с одного конца цепочки на другой, и вся экономика раздела про это.</a:t>
            </a:r>
          </a:p>
          <a:p>
            <a:r>
              <a:t/>
            </a:r>
          </a:p>
          <a:p>
            <a:r>
              <a:t>Отсюда и порядок чтения чисел, которые пойдут дальше. Любое сообщение вида «ролик обошёлся в две тысячи долларов вместо сорока» описывает стоимость производства плана и ничего не говорит о стоимости отбора; любое сообщение вида «пятеро сделали кампанию» описывает число исполнителей одной операции и ничего не говорит о числе участников работы. Оба типа сообщений в разделе встретятся, оба будут посчитаны от классического режима, и оба придётся читать с поправкой на то, куда переехала дорогая часть.</a:t>
            </a:r>
          </a:p>
          <a:p>
            <a:r>
              <a:t/>
            </a:r>
          </a:p>
          <a:p>
            <a:r>
              <a:t>Практический вывод для инженера, который выбирает инструмент под задачу: прежде чем планировать экономию на производстве плана, оцените, во сколько обойдётся отбор. Если задача такова, что отбор делает человек и делает его глазами, выигрыш на производстве упирается в человеческую пропускную способность — и дальше уже неважно, сколько стоит одна генерация.</a:t>
            </a:r>
          </a:p>
          <a:p>
            <a:r>
              <a:t/>
            </a:r>
          </a:p>
          <a:p>
            <a:r>
              <a:t>Три разбора раздела выстроены так, чтобы проверить этот вывод на трёх разных масштабах. Китайские микродрамы — промышленное производство, где единица учёта выпуск, а сравнение идёт с живой съёмкой того же формата. Ролик предсказательного рынка к финалу НБА — работа одного человека, где классический режим посчитан дважды, американским бюджетом слота и российской опорной полосой. Рождественская кампания большого бренда — крупное производство, где считаются число людей и срок: бюджет там не раскрыт. Во всех трёх случаях выигрыш считается от классического режима, и ни в одном — от нуля.</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Перечень стоит держать целиком, и причина одна: все девять способов получить изображение сосуществуют, и ни один из восьми прежних не отменён девятым. Стадий, из которых собирается движущееся изображение, до 2022 года было восемь, и ни одна из них с приходом модели не исчезла — к ним добавились три новые.</a:t>
            </a:r>
          </a:p>
          <a:p>
            <a:r>
              <a:t/>
            </a:r>
          </a:p>
          <a:p>
            <a:r>
              <a:t>Съёмочный период — работа на площадке: камера, свет, грим, декорация, исполнители. Единица учёта здесь съёмочный день и план, то есть непрерывный кусок изображения от включения камеры до выключения. Постпроизводство распадается на несколько самостоятельных ремёсел, и каждое из них — отдельная профессия со своим тарифом. Монтаж выбирает и склеивает планы. Композитинг собирает один кадр из нескольких слоёв. Ротоскопирование покадрово выделяет объект из кадра и остаётся самой трудоёмкой из рутинных операций отрасли — и первой, куда модель вошла всерьёз, о чём разговор пойдёт на следующих кадрах. Цветокоррекция приводит материал к единому виду. Визуальные эффекты добавляют то, чего на площадке не было.</a:t>
            </a:r>
          </a:p>
          <a:p>
            <a:r>
              <a:t/>
            </a:r>
          </a:p>
          <a:p>
            <a:r>
              <a:t>Виртуальное производство — стадия, появившаяся в 2019 году и стоящая между съёмкой и эффектами: фон выводится на светодиодную стену и попадает прямо в камеру, минуя дорисовку в постпроизводстве. Анимация производит движущееся изображение без съёмки вовсе, и это самостоятельная индустрия, а не способ сэкономить на площадке.</a:t>
            </a:r>
          </a:p>
          <a:p>
            <a:r>
              <a:t/>
            </a:r>
          </a:p>
          <a:p>
            <a:r>
              <a:t>С 2022 года к этому списку добавились три стадии, которых прежде не существовало. Генерация плана по описанию: на входе фраза, на выходе клип в несколько секунд. Оживление кадра: на входе готовая картинка, на выходе движение из неё. Продление сцены: модель достраивает клип вперёд или назад от последнего кадра. Вход генеративной цепочки — текст, иногда стартовый кадр, иногда до десяти опорных кадров и до пятнадцати референсов на одну генерацию; на выходе клип от четырёх до двадцати секунд.</a:t>
            </a:r>
          </a:p>
          <a:p>
            <a:r>
              <a:t/>
            </a:r>
          </a:p>
          <a:p>
            <a:r>
              <a:t>Полный перечень способов получить изображение выглядит так. Съёмка на площадке. Экспедиция — выезд за фоном, который нельзя построить, классическая и самая дорогая форма. Хромакей. Светодиодный объём. Захват движения и захват игры. Стоковая библиотека видео. Архив. Трёхмерный рендер, где съёмки нет вовсе. И с 2022 года генерация — девятый способ, единственный, где стоимость одной попытки упала до единиц центов.</a:t>
            </a:r>
          </a:p>
          <a:p>
            <a:r>
              <a:t/>
            </a:r>
          </a:p>
          <a:p>
            <a:r>
              <a:t>Главное в этом перечне — его устойчивость. Светодиодный объём 2019 года не отменил хромакей, хромакей не отменил экспедицию, трёхмерный рендер не отменил съёмку. Рынок виртуального производства, появившийся за три года до генеративной волны, продолжал расти больше чем на тридцать процентов в год и после неё — то есть новая технология не вытеснила предыдущую новую технологию, хотя обе решают внешне похожую задачу «получить фон, которого нет».</a:t>
            </a:r>
          </a:p>
          <a:p>
            <a:r>
              <a:t/>
            </a:r>
          </a:p>
          <a:p>
            <a:r>
              <a:t>Инженерное следствие прямое и переносится за пределы этой модальности: выбор способа — это решение по задаче, а не по моде. У каждого из девяти способов своя область, где он дешевле и надёжнее остальных, и генерация заняла то место, где прежде стоял выбор «снимать дорого или не делать вовсе». Правильный ответ на вопрос «чем снимать» в половине случаев остаётся «камерой», и умение этот ответ дать — часть профессии, а не её отсутствие.</a:t>
            </a:r>
          </a:p>
          <a:p>
            <a:r>
              <a:t/>
            </a:r>
          </a:p>
          <a:p>
            <a:r>
              <a:t>Два столбца здесь стоят именно противопоставлением, а не для экономии места: слева то, что существовало до 2022 года, справа то, чего до него не было. Читать их надо построчно и с одним вопросом — какую из прежних стадий новая заменяет. Честный ответ: ни одну целиком. Генерация плана по описанию ближе всего к съёмке и к трёхмерному рендеру, оживление кадра — к анимации, продление сцены — к композитингу; но ни в одном из трёх случаев прежняя стадия не исчезает из производства, она получает соседа с другой ценой попытки и другим качеством контроля.</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этой части любой выигрыш придётся считать от нуля, а выигрыш от нуля курс не принимает. Здесь сразу две единицы учёта, и держать их раздельно обязательно: цена готового выпуска имеет смысл для сериала, цена ролика — для рекламы, и сложить их в одну таблицу значит соврать о том, что сравнивается.</a:t>
            </a:r>
          </a:p>
          <a:p>
            <a:r>
              <a:t/>
            </a:r>
          </a:p>
          <a:p>
            <a:r>
              <a:t>Смена съёмочной группы — базовая единица классического производства. Для рекламного ролика технической сложности, сопоставимой с генеративными случаями раздела, — съёмочная группа от пятидесяти человек и производственный цикл год. Российская полоса того же ремесла опубликована отраслевыми обзорами цен: базовый телевизионный ролик — 300 000–800 000 рублей при студийной съёмке один-два дня и группе 3–5 человек; средний уровень, с актёрами и двумя-четырьмя съёмочными днями, — 800 000–2 500 000 рублей; премиальный, с группой 10–20 человек и спецэффектами, — 2 500 000–10 000 000 рублей и выше. Гонорар известного актёра — от 500 000 рублей за съёмочный день. Музыка считается отдельно: лицензионный трек из библиотеки 10 000–50 000 рублей, оригинальный — от 150 000 рублей.</a:t>
            </a:r>
          </a:p>
          <a:p>
            <a:r>
              <a:t/>
            </a:r>
          </a:p>
          <a:p>
            <a:r>
              <a:t>«Ирландец» 2019 года — контрольная точка «дорогого» прямо перед генеративной эпохой. Бюджет вырос с заявленных 125 миллионов долларов до 159 миллионов, и рост связывают именно с цифровым омоложением трёх актёров: около 1 750 планов, крупнейшее применение приёма в игровом кино на тот момент. Подготовка в студии эффектов началась в 2015 году, за четыре года до выхода. Супервайзер эффектов отдельно оговаривал, что в пересчёте на один план это стоит столько же, сколько в обычном фильме с эффектами, и дорого выходит потому, что планов здесь на два фильма. Эту оговорку надо сохранить: она и есть правильная единица счёта, и без неё 159 миллионов читаются как цена технологии, хотя это цена объёма.</a:t>
            </a:r>
          </a:p>
          <a:p>
            <a:r>
              <a:t/>
            </a:r>
          </a:p>
          <a:p>
            <a:r>
              <a:t>Нелинейный монтаж, 1989 год. До него монтаж означал физическую склейку плёнки на монтажном столе. Рабочее место стоило 50 000–80 000 долларов. Дальше хронология замещения, которую стоит запомнить целиком: 1992 — монтажные появляются у ассистентов на больших студиях; 1995 — большинство независимых полных метров заканчивается на них; 1998 — монтажный стол уезжает в кладовку; 2003 — почти все монтажные Северной Америки нелинейные. Четырнадцать лет от первого рабочего места до полного замещения. Это единица измерения скорости отраслевого перехода в доцифровую эпоху, и дальше в разделе она служит базой: китайской микродраме на тот же путь понадобится около года.</a:t>
            </a:r>
          </a:p>
          <a:p>
            <a:r>
              <a:t/>
            </a:r>
          </a:p>
          <a:p>
            <a:r>
              <a:t>«История игрушек», 1995 год, — эталон того, что называлось «невозможно дорого». Бюджет 30 миллионов долларов при мировых сборах 373 миллиона. Вычислительная ферма: 87 двухпроцессорных и 30 четырёхпроцессорных рабочих станций на 100 мегагерц. Один кадр считался от 45 минут до 30 часов в зависимости от сложности; на кадр уходило 300 мегабайт памяти. Весь фильм — около 800 000 машино-часов на 114 200 кадров, то есть на 79 минут экранного времени. Относительно этой величины и надо читать сегодняшние «в десять раз быстрее» и «план за секунды»: тридцать лет назад синтетический кадр стоил машино-часов, сейчас — центов.</a:t>
            </a:r>
          </a:p>
          <a:p>
            <a:r>
              <a:t/>
            </a:r>
          </a:p>
          <a:p>
            <a:r>
              <a:t>StageCraft, октябрь 2019 года, — классика реального времени. Первая постоянная сцена виртуального производства: 1 326 светодиодных панелей с шагом 2,84 миллиметра, высота 6 метров, дуга 270 градусов, площадка диаметром 23 метра; изображение считается движком в реальном времени и попадает прямо в камеру. Больше половины первого сезона снято внутри этой сцены. Важная деталь для оси лекции: это уже генерация изображения без съёмки, только детерминированная. Картинка и здесь была синтетической; разница с 2022–2026 годами в том, что раньше её надо было построить вручную в движке, а теперь можно описать словами.</a:t>
            </a:r>
          </a:p>
          <a:p>
            <a:r>
              <a:t/>
            </a:r>
          </a:p>
          <a:p>
            <a:r>
              <a:t>Пять точек выше складываются в одну цепочку, и смысл у неё тот же, что у цепочки в разделе про неподвижное изображение. Каждый раз исчезала операция посредничества: физическая склейка плёнки, экспедиция за фоном, покадровая обводка. Каждый раз профессия пересаживалась на новый инструмент, объём произведённого рос быстрее, чем падала цена, и каждый раз шёл спор об авторстве результата — спор о захвате игры тянется с 2002 года и не закрыт до сих пор: ни одной актёрской награды Академии за роль, целиком сыгранную в захвате, не присуждено. Это ровно тот же спор, что сегодня идёт вокруг машинной правки голоса и машинной генерации плана.</a:t>
            </a:r>
          </a:p>
          <a:p>
            <a:r>
              <a:t/>
            </a:r>
          </a:p>
          <a:p>
            <a:r>
              <a:t>У всех пяти классических режимов — съёмочная смена, графика у подрядчика, нелинейный монтаж, покадровый расчёт на вычислительной ферме, светодиодная сцена реального времени — есть общее свойство, которое стоит произнести отдельно: ни в одном из них неудачная попытка не бесплатна. Съёмочный день стоит съёмочного дня, машино-час стоит машино-часа, панель стоит панели. Именно это свойство и отменилось в 2022 году, и дальше три разбора считают, во сколько раз.</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крупнейший по объёму случай во всём материале лекции и почти неизвестный за пределами отраслевой прессы. Все западные случаи раздела штучные: один ролик, один фильм, одна сцена. Здесь целая отрасль перешла на генеративное видео как на основной способ производства за один год, и у перехода есть полная экономика.</a:t>
            </a:r>
          </a:p>
          <a:p>
            <a:r>
              <a:t/>
            </a:r>
          </a:p>
          <a:p>
            <a:r>
              <a:t>Микродрама — вертикальный сериал из нескольких десятков эпизодов по одной-две минуты, рассчитанный на просмотр с телефона. Жанр сложился в Китае к началу 2020-х и к 2025 году вырос в рынок объёмом около 100 миллиардов юаней; прогноз на 2026 год — свыше 120 миллиардов, и в 2026 году этот рынок впервые превосходит весь кинопрокат страны.</a:t>
            </a:r>
          </a:p>
          <a:p>
            <a:r>
              <a:t/>
            </a:r>
          </a:p>
          <a:p>
            <a:r>
              <a:t>Чтобы цифры читались, надо удержать устройство продукта. Эпизод длится одну-две минуты и заканчивается на переломе, сезон состоит из нескольких десятков таких эпизодов. Производственно это означает короткие сцены, статичную камеру, крупные планы и минимум сложного движения в кадре — то есть ровно тот набор, с которым генеративная модель справляется лучше всего и в котором её главное ограничение проявляется слабее всего. Отрасль не случайно перешла первой: её жанровая форма оказалась ближе всего к тому, что модель умеет. Оговорка против обобщения: переход произошёл там, где форма продукта совпала с сильной стороной инструмента, и переносить темп на другие жанры нельзя.</a:t>
            </a:r>
          </a:p>
          <a:p>
            <a:r>
              <a:t/>
            </a:r>
          </a:p>
          <a:p>
            <a:r>
              <a:t>Цену обеих ошибок называет экономическая механика отрасли — честно в обе стороны. При себестоимости выпуска свыше миллиона юаней выгодно делать один хороший заход и вкладываться в него. При себестоимости 50–100 тысяч юаней выгодно делать четыреста тысяч заходов и дать аудитории выбрать победителя. Цена промаха упала в десять-двадцать раз; цена пропущенного хита не изменилась ни на юань. Из этого расхождения и выросла вся перестройка.</a:t>
            </a:r>
          </a:p>
          <a:p>
            <a:r>
              <a:t/>
            </a:r>
          </a:p>
          <a:p>
            <a:r>
              <a:t>Первый классический режим — живая микродрама 2024 года. Себестоимость выпуска свыше миллиона юаней, то есть около 137 тысяч долларов: съёмка с актёрами, площадкой и группой по обычному для жанра стандарту. Второй классический режим — кинопрокат как альтернативный канал той же аудитории и тех же денег; посчитан он на уровне рынка, и единица здесь юань, в которой выражены обе стороны.</a:t>
            </a:r>
          </a:p>
          <a:p>
            <a:r>
              <a:t/>
            </a:r>
          </a:p>
          <a:p>
            <a:r>
              <a:t>Модель даёт 50–100 тысяч юаней за выпуск, около 7–14 тысяч долларов, то есть падение в десять-двадцать раз против живой микродрамы 2024 года. База названа, выигрыш посчитан от классического режима.</a:t>
            </a:r>
          </a:p>
          <a:p>
            <a:r>
              <a:t/>
            </a:r>
          </a:p>
          <a:p>
            <a:r>
              <a:t>Объём перехода виден поквартально, и весь ряд стоит привести целиком: растёт не только число, но и доля. Первый квартал 2026 года — около 128 тысяч микродрам, доля сгенерированных свыше 95 процентов. Первое полугодие — 367 тысяч при доле более 74 процентов. Первые восемь месяцев — 430 тысяч при доле более 90 процентов. Темп июля 2026 года — в среднем одна сгенерированная микродрама каждые 36 секунд.</a:t>
            </a:r>
          </a:p>
          <a:p>
            <a:r>
              <a:t/>
            </a:r>
          </a:p>
          <a:p>
            <a:r>
              <a:t>Как это устроено. Технологическим толчком вала называют модель Seedance 2.0, вышедшую в феврале 2026 года; текущая версия на октябрь 2026 года — Seedance 2.5. Здесь же честный пробел: ни одна публикация подборки не раскрывает, что подаётся на вход и как устроен конвейер отдельной микродрамной студии — англоязычные источники описывают рынок, китайскоязычные технические разборы мы не читали. Это пробел нашей работы, и он называется вслух. На чём обучена модель — не раскрыто.</a:t>
            </a:r>
          </a:p>
          <a:p>
            <a:r>
              <a:t/>
            </a:r>
          </a:p>
          <a:p>
            <a:r>
              <a:t>Что в устройстве модальности объясняет эту цену: видео считается патчами пространства-времени; кэш внимания, на котором держится вся экономика тарифов языковых моделей, здесь невозможен — расшумление переписывает все токены на каждом шаге; удвоение стороны кадра даёт квадратичный рост стоимости. Главный рычаг стоимости — коэффициент сжатия автокодировщика, и как именно он работает, разбирается в техническом блоке раздела.</a:t>
            </a:r>
          </a:p>
          <a:p>
            <a:r>
              <a:t/>
            </a:r>
          </a:p>
          <a:p>
            <a:r>
              <a:t>Что переехало. Сместилось место конкуренции: с качества отдельного выпуска на объём попыток. Студия, которая в 2024 году соревновалась тем, насколько хорош её единственный заход, в 2026 году соревнуется тем, сколько заходов она способна просеять. Вправо уехало то же, что у музыкальной площадки и у игровой: предложение стало почти бесплатным, спрос за ним не пошёл. Четыреста тридцать тысяч выпусков за восемь месяцев — это измерение предложения, и выводы о востребованности из него не следуют.</a:t>
            </a:r>
          </a:p>
          <a:p>
            <a:r>
              <a:t/>
            </a:r>
          </a:p>
          <a:p>
            <a:r>
              <a:t>У этой скорости есть база для сравнения. Нелинейному монтажу понадобилось четырнадцать лет, чтобы вытеснить физическую склейку плёнки: с 1989 по 2003 год. Китайской микродраме понадобилось около года: февраль 2026 года — выход модели, названной толчком, первый квартал — уже свыше 95 процентов в выборке квартала. Разница с доцифровыми переходами — в темпе, направление то же самое, и это единственное, что в 2022–2026 годах действительно ново по сравнению со всей шестидесятилетней цепочкой удешевления.</a:t>
            </a:r>
          </a:p>
          <a:p>
            <a:r>
              <a:t/>
            </a:r>
          </a:p>
          <a:p>
            <a:r>
              <a:t>Механика, которая за этим стоит, умещается в одну фразу и переносится на любой рынок: залить канал дешёвыми ставками и дать аудитории выбрать победителя. Она работает ровно до тех пор, пока у аудитории хватает внимания просеивать поток, и ломается там, где внимание кончается раньше, чем предложение.</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ось всей лекции видна без примесей, и числа названы самим автором работы.</a:t>
            </a:r>
          </a:p>
          <a:p>
            <a:r>
              <a:t/>
            </a:r>
          </a:p>
          <a:p>
            <a:r>
              <a:t>Точность, которую нельзя потерять: это финал Национальной баскетбольной ассоциации. Лига американского футбола рекламу предсказательных рынков не берёт; ошибка кочует по пересказам, и студент проверит её первым.</a:t>
            </a:r>
          </a:p>
          <a:p>
            <a:r>
              <a:t/>
            </a:r>
          </a:p>
          <a:p>
            <a:r>
              <a:t>Цена обеих ошибок названа в соотношении: 300–400 генераций на 15 пригодных склеек. Цена неудачной попытки — секунды вычислений и центы. Цена пропущенной удачной — весь ролик. Именно это расхождение и есть содержание случая.</a:t>
            </a:r>
          </a:p>
          <a:p>
            <a:r>
              <a:t/>
            </a:r>
          </a:p>
          <a:p>
            <a:r>
              <a:t>Первый классический режим — съёмочное производство ролика того же слота. Автор посчитал его относительно: снижение стоимости на 95 процентов против обычного ролика. При двух тысячах долларов у модели это даёт около сорока тысяч долларов классического бюджета. Второй классический режим — российская опорная полоса для той же работы, чтобы считать в своих единицах: базовый ролик 300 000–800 000 рублей при группе 3–5 человек, средний 800 000–2 500 000, премиум 2 500 000–10 000 000 при группе 10–20 человек. Приводим к общей единице: 300 000 рублей за тридцатисекундный ролик — это 10 000 рублей за секунду готового эфирного материала против 4–10 рублей за секунду генерации при курсе около 80 рублей за доллар, который проверяется в день чтения. Разрыв — от тысячи до двух с половиной тысяч раз, тот же порядок, что у изображения и голоса.</a:t>
            </a:r>
          </a:p>
          <a:p>
            <a:r>
              <a:t/>
            </a:r>
          </a:p>
          <a:p>
            <a:r>
              <a:t>Нечестность этого сравнения названа тут же. 300 000 рублей покупают идею, сценарий, раскадровку, площадку, свет, права на музыку, права на лица в кадре, монтаж и сдачу заказчику. Десять центов покупают одну попытку одного плана. Точная формулировка: генерация обнуляет стоимость кадра и оставляет нетронутой стоимость ролика. Всё остальное содержание разбора объясняет, чем заполняется разница.</a:t>
            </a:r>
          </a:p>
          <a:p>
            <a:r>
              <a:t/>
            </a:r>
          </a:p>
          <a:p>
            <a:r>
              <a:t>Как это устроено. Вход — текстовые описания планов, причём разбор с опубликованными подсказками доступен публично; выход — видеоклипы, из которых монтируется ролик. Имя изделия — Google Veo 3. На чём обучено — не раскрыто. Порог и действие человека: один человек отсматривает 300–400 генераций и отбирает 15; это и есть вся команда.</a:t>
            </a:r>
          </a:p>
          <a:p>
            <a:r>
              <a:t/>
            </a:r>
          </a:p>
          <a:p>
            <a:r>
              <a:t>Что именно делает человек на входе, стоит разобрать отдельно. Подсказки по этой работе опубликованы, и устроены они как режиссёрская экспликация плана: тип кадра, движение камеры, свет, поведение персонажа, эмоция, продолжительность. Входом модели служит структурированное описание, ближе к техническому заданию, чем к запросу в поисковике. Навык, который здесь окупается, называется в отрасли постановкой задачи и переносится между моделями лучше, чем знание конкретного интерфейса.</a:t>
            </a:r>
          </a:p>
          <a:p>
            <a:r>
              <a:t/>
            </a:r>
          </a:p>
          <a:p>
            <a:r>
              <a:t>Устойчивость инструмента: версия Veo 3.1 Preview выключена в программном доступе 22 октября 2026 года, разработчиков переводят на преемника. Это второй выключенный флагман за тринадцать месяцев, и разбирается это в пласте цены раздела.</a:t>
            </a:r>
          </a:p>
          <a:p>
            <a:r>
              <a:t/>
            </a:r>
          </a:p>
          <a:p>
            <a:r>
              <a:t>Эти два-три дня стоит представить конкретно: из описания «один человек сделал ролик за два дня» выпадает содержание работы. Человек пишет описание плана, запускает генерацию, ждёт, смотрит, отбраковывает, правит описание, запускает снова. На пятнадцать вошедших склеек приходится от трёхсот до четырёхсот таких циклов. Между ними — сверка: совпадает ли персонаж с предыдущим планом, тот ли свет, та ли камера. Это работа монтажёра и режиссёра одновременно, выполняемая в темпе, который задаёт очередь генерации.</a:t>
            </a:r>
          </a:p>
          <a:p>
            <a:r>
              <a:t/>
            </a:r>
          </a:p>
          <a:p>
            <a:r>
              <a:t>Что переехало. Переехала профессия отбора. Дешевизна здесь берётся из того, что неудачная попытка почти ничего не стоит: соотношение 400 к 15 означает брак 96 процентов. Инженерно это важнее двух тысяч долларов, потому что переносится на любую задачу: экономия равна цене попытки, делённой на долю годного.</a:t>
            </a:r>
          </a:p>
          <a:p>
            <a:r>
              <a:t/>
            </a:r>
          </a:p>
          <a:p>
            <a:r>
              <a:t>Вторая половина той же пары — короткометражка «Air Head», апрель 2024 года. Собственная оценка её авторов: отношение исходного материала к вошедшему 300 к 1. База, без которой это число не читается: в классической документалистике отношение отснятого к вышедшему считается десятками к одному, в постановочной рекламе — порядка десяти к одному. Значит, модель не изобрела отбор — она увеличила его на порядок-полтора против того режима, которому подражает. И отдельная статья расходов, которой нет ни в одном прейскуранте: у героя того фильма вместо головы воздушный шар, и модель упорно пририсовывала на шар лицо, которое приходилось вычищать покадрово вручную.</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полный публично названный набор чисел по генеративному производству рекламы — и единственный случай, где ожидание зала расходится с результатом настолько, что на нём строится предсказание. Речь о пересъёмке рождественского ролика 1995 года: 2024 год и повтор приёма в 2025-м.</a:t>
            </a:r>
          </a:p>
          <a:p>
            <a:r>
              <a:t/>
            </a:r>
          </a:p>
          <a:p>
            <a:r>
              <a:t>Цена обеих ошибок названа сроком, и это единственная величина, подтверждённая первым лицом компании. Раньше ошибка стоила съёмочного дня внутри годового цикла; теперь — одной генерации внутри месячного.</a:t>
            </a:r>
          </a:p>
          <a:p>
            <a:r>
              <a:t/>
            </a:r>
          </a:p>
          <a:p>
            <a:r>
              <a:t>Первый классический режим — съёмка ролика такой технической сложности: съёмочная группа от пятидесяти человек, срок производства год. Прямая формулировка директора по маркетингу: производственный цикл схлопнулся с года примерно до месяца. Второй классический режим — повторная съёмка оригинала 1995 года так, как это делалось прежде: один ролик — одна съёмка, один съёмочный период, одна смета.</a:t>
            </a:r>
          </a:p>
          <a:p>
            <a:r>
              <a:t/>
            </a:r>
          </a:p>
          <a:p>
            <a:r>
              <a:t>Модель против этих режимов. Свыше 70 000 сгенерированных видеоклипов — число названо самой компанией в её собственном закадровом ролике о производстве. Пять специалистов студии-подрядчика отобрали и довели этот массив за 30 дней. И число, ради которого случай попал в главу: в кампании суммарно было занято около 100 человек, примерно столько же, сколько на классической кампании прежних лет. Пятеро — это те, кто нажимал кнопку. Остальные девяносто пять никуда не делись. Любая подача вида «пятеро заменили пятьдесят» — передёргивание, и курс за него бьёт отдельно.</a:t>
            </a:r>
          </a:p>
          <a:p>
            <a:r>
              <a:t/>
            </a:r>
          </a:p>
          <a:p>
            <a:r>
              <a:t>Обязательная оговорка про число 70 000: это число сгенерированных клипов. Сколько из них вошло в монтаж, не раскрыто ни одним источником. Ходовая формулировка «70 000 клипов ради тридцати секунд» — это вывод, выдаваемый за факт, и употреблять её нельзя. Что можно посчитать честно: шестидесятисекундный ролик при средней длине плана около пяти секунд состоит примерно из 12–20 планов, значит отбор имеет порядок одного из 3 500–5 800. Это расчёт, и он назван расчётом. Единственное место в публичных источниках, где отношение проб к годному раскрыто по-настоящему, — другой случай, и переносить его сюда нельзя; он разбирается в пласте цены этого раздела.</a:t>
            </a:r>
          </a:p>
          <a:p>
            <a:r>
              <a:t/>
            </a:r>
          </a:p>
          <a:p>
            <a:r>
              <a:t>Второй расчёт, полезный подрядчику: 70 000 клипов по пять секунд при тарифе 0,05–0,12 доллара за секунду — это 17 500–42 000 долларов одних только вычислений, до зарплат пятерых специалистов, до лицензий, до музыки и до сведения. Для ролика, чей классический бюджет измеряется миллионами, это немного; для подрядчика, взявшегося «сделать дёшево на нейросетях», это весь бюджет. Масштаб для сравнения: годовой рекламный бюджет компании — около 5 миллиардов долларов.</a:t>
            </a:r>
          </a:p>
          <a:p>
            <a:r>
              <a:t/>
            </a:r>
          </a:p>
          <a:p>
            <a:r>
              <a:t>Два года надо развести: в пересказах они слипаются. Ролик 2024 года — первая попытка, сделанная тремя студиями на четырёх моделях; именно он собрал волну публичной насмешки и именно по нему сделано медиаизмерение. Ролик 2025 года — повтор приёма на следующий год, с другим распределением работы между подрядчиками; именно ему независимая потребительская панель поставила высшую оценку. Числа 70 000 клипов, пять специалистов и тридцать дней относятся к производственному циклу этой кампании; смешивать оценки аудитории двух разных лет значит сравнивать разные вещи.</a:t>
            </a:r>
          </a:p>
          <a:p>
            <a:r>
              <a:t/>
            </a:r>
          </a:p>
          <a:p>
            <a:r>
              <a:t>Как это устроено. Вход — текстовые описания, выход — видеоклипы примерно по пять секунд, дальше монтаж. Три студии и четыре разные модели; какие именно четыре, не называет ни один источник — первоисточник, где это могло бы быть сказано, закрыт платной стеной и прямым чтением не проверен. Пробел назван. На сам факт «три студии и четыре модели» стоит посмотреть отдельно: он описывает устройство работы лучше любого тарифа. Классическая кампания такого масштаба идёт через одного подрядчика с одним конвейером, а здесь заказчик разложил работу на три независимые студии и четыре разные модели. Значит, ни одна из моделей не закрывала задачу целиком, и часть производственного решения состояла в том, какой кусок кому отдать. Это же объясняет, куда делись девяносто пять человек из ста: координация трёх подрядчиков, сведение материала, полученного четырьмя разными способами, юридическая проверка, музыка, адаптация под рынки. На чём обучены модели — не раскрыто.</a:t>
            </a:r>
          </a:p>
          <a:p>
            <a:r>
              <a:t/>
            </a:r>
          </a:p>
          <a:p>
            <a:r>
              <a:t>Контур обратной связи замкнут и измерен с обеих сторон — и стороны разошлись. Коммерческое медиаизмерение по ролику 2024 года дало падение доли положительных упоминаний с 12,2 до 3,4 процента и рост отрицательных с 13,5 до 53,4 процента, при том что методология этого измерения не раскрыта, и это честный пробел. Независимая потребительская панель дала повторному ролику 2025 года 5,9 балла из 5,9 возможных. Контролируемый тест и открытая аудитория разошлись полностью, и показывать это надо как есть.</a:t>
            </a:r>
          </a:p>
          <a:p>
            <a:r>
              <a:t/>
            </a:r>
          </a:p>
          <a:p>
            <a:r>
              <a:t>Цену компания раскрыть отказалась, сказав лишь, что вышло дешевле и быстрее обычного. Встречное утверждение, что обошлось примерно столько же, принадлежит разбору третьей стороны: независимой цифры нет ни у одной стороны.</a:t>
            </a:r>
          </a:p>
          <a:p>
            <a:r>
              <a:t/>
            </a:r>
          </a:p>
          <a:p>
            <a:r>
              <a:t>Полезно сравнить этот случай с предыдущим по форме выигрыша. У Kalshi выигрыш взят в деньгах: сорок тысяч долларов классического бюджета против двух тысяч. Здесь выигрыш взят во времени: год против месяца, при том же числе людей и нераскрытой смете. Это два разных ответа на один и тот же вопрос «что подешевело», и оба честные — при условии, что названа единица. Подмена единицы и есть самая частая ошибка пересказов. Сказать «дешевле» нельзя: цифры нет. Сказать «меньше людей» нельзя: их столько же. Сказать можно одно — быстрее в двенадцать раз по циклу.</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Ожидание зала почти всегда «меньше», и ошибка эта системная. Сообщение «пятеро специалистов сделали ролик» пересказывается как «пятеро заменили пятьдесят», хотя пятеро — это те, кто жал кнопку, а остальные девяносто пять никуда не делись: координация трёх подрядчиков, сведение материала, полученного четырьмя разными способами, юридическая проверка, музыка, адаптация под рынки.</a:t>
            </a:r>
          </a:p>
          <a:p>
            <a:r>
              <a:t/>
            </a:r>
          </a:p>
          <a:p>
            <a:r>
              <a:t>Проверять такие сообщения надо одним вопросом: названо число исполнителей операции или число участников работы? Это два разных числа, и в пресс-релизе почти всегда стоит первое, а читается оно как второе. Переносится вопрос куда угодно: «двое инженеров заменили отдел», «один аналитик делает работу пятерых» — почти всегда речь о том, сколько человек выполняет конкретную операцию, а не о том, сколько человек нужно, чтобы довести работу до выпуска.</a:t>
            </a:r>
          </a:p>
          <a:p>
            <a:r>
              <a:t/>
            </a:r>
          </a:p>
          <a:p>
            <a:r>
              <a:t>Что действительно изменилось, стоит назвать точно, потому что изменение огромное и его не надо преуменьшать. Срок: год против месяца, то есть двенадцатикратно по производственному циклу, и это единственная величина, подтверждённая первым лицом компании. Число проб: одна съёмка против свыше семидесяти тысяч сгенерированных клипов. Это и есть содержание перемены: обвал цены пробы и срока, за который пробу можно сделать. Высвобождения людей здесь не произошло.</a:t>
            </a:r>
          </a:p>
          <a:p>
            <a:r>
              <a:t/>
            </a:r>
          </a:p>
          <a:p>
            <a:r>
              <a:t>И отсюда следует то, ради чего кадр и поставлен. Если число людей не упало, а цена пробы упала на три порядка, значит люди занимаются чем-то другим, чем раньше. Чем именно — видно по составу ста человек: отбором, сведением, согласованием, проверкой прав, адаптацией. Работа переехала с производства на отбор и сборку, и это ровно тот ответ, который раздел даёт на вопрос лекции в своих единицах.</a:t>
            </a:r>
          </a:p>
          <a:p>
            <a:r>
              <a:t/>
            </a:r>
          </a:p>
          <a:p>
            <a:r>
              <a:t>Полезно удержать и то, чего этот кадр не утверждает. Он не утверждает, что генеративное производство нигде не сокращает занятость, — он утверждает, что в этом конкретном, самом полно задокументированном случае не сократило. Обобщать с одного случая нельзя в обе стороны: ни «людей станет меньше», ни «людей всегда останется столько же». Честная формулировка: названное число людей надо проверять вопросом выше, а отраслевой итог считать по занятости, которую никто из участников этой кампании не публиковал.</a:t>
            </a:r>
          </a:p>
          <a:p>
            <a:r>
              <a:t/>
            </a:r>
          </a:p>
          <a:p>
            <a:r>
              <a:t>Стоит разобрать, откуда берётся сама ошибка ожидания, потому что она повторится в любом разговоре об автоматизации. Пресс-релиз описывает операцию: сколько человек делало то, что раньше делала большая группа. Читатель достраивает недостающее: раз операцию делают пятеро, значит остальные не нужны. Достройка эта кажется логичной и почти всегда неверна, потому что операция — только часть работы. Вокруг неё стоят постановка задачи, согласование, права, адаптация, приёмка, и ни одна из этих частей от удешевления операции не исчезает. В разобранном случае это видно в числах: пятеро нажимали кнопку, сто человек делали кампанию.</a:t>
            </a:r>
          </a:p>
          <a:p>
            <a:r>
              <a:t/>
            </a:r>
          </a:p>
          <a:p>
            <a:r>
              <a:t>Второе наблюдение того же ряда касается срока. Сокращение цикла с года до месяца — это не только быстрее, это другой способ принимать решения. При годовом цикле заказчик обязан угадать, что будет уместно через год, и ошибка стоит всего производства. При месячном цикле можно начинать позже, когда обстановка известна точнее, и переделать, если не сошлось. Поэтому сокращение срока ценнее для заказчика, чем простое удешевление: оно снимает необходимость угадывать.</a:t>
            </a:r>
          </a:p>
          <a:p>
            <a:r>
              <a:t/>
            </a:r>
          </a:p>
          <a:p>
            <a:r>
              <a:t>И третье, прямо инженерное. Там, где не изменилось число людей, но изменилось число проб, следует ожидать роста нагрузки на отбор и сборку. Семьдесят тысяч клипов надо просмотреть, рассортировать, сверить между собой по персонажу, свету и цвету, свести в единый ряд и проверить на права. Это работа, которой при одной съёмке не существовало: там отбор шёл из нескольких дублей одного плана. Нагрузка не исчезла и не уменьшилась — она переехала, и считать её надо в человеко-днях просмотра, а не в стоимости генерации.</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точки, которые задают шкалу всему разделу: одна показывает, как дёшево стало делать промежуточную операцию, вторая — сколько стоило дорогое производство прямо перед генеративной волной.</a:t>
            </a:r>
          </a:p>
          <a:p>
            <a:r>
              <a:t/>
            </a:r>
          </a:p>
          <a:p>
            <a:r>
              <a:t>Первая. Эффекты фильма «Всё везде и сразу», получившего «Оскар» за лучшую картину, сделала независимая студия из пяти человек: они закрыли более 80 процентов из примерно 500 планов с эффектами. Художник эффектов Эван Халлек применил инструмент выделения фона к сценам «вселенной камней», где персонажей требовалось вырезать из кадра покадрово. Классический режим он описал как очень медленный и мучительный процесс и назвал базу — полдня на один план; с моделью, по его словам, он вырезает персонажей и чисто кладёт на подложку за минуты.</a:t>
            </a:r>
          </a:p>
          <a:p>
            <a:r>
              <a:t/>
            </a:r>
          </a:p>
          <a:p>
            <a:r>
              <a:t>Спорить в этом случае не о чем, и ценен он именно наличием базы. Названы обе стороны: полдня и минуты. Кратность из них считается, и она огромная — но от измеренного режима, а не от воздуха. Вторая деталь: это промежуточный шаг, результат доводился вручную, и ничего заметного вправо не уехало — ни спора об авторстве, ни правового вопроса, ни потери рабочих мест внутри самой студии. Пятеро получили возможность взять заказ, который прежде потребовал бы большой команды, и взяли его.</a:t>
            </a:r>
          </a:p>
          <a:p>
            <a:r>
              <a:t/>
            </a:r>
          </a:p>
          <a:p>
            <a:r>
              <a:t>Вторая точка — «Ирландец» 2019 года. Бюджет вырос с заявленных 125 миллионов долларов до 159 миллионов, и рост связывают именно с цифровым омоложением трёх актёров: около 1 750 планов, крупнейшее применение приёма в игровом кино на тот момент; подготовка в студии эффектов началась в 2015 году, за четыре года до выхода.</a:t>
            </a:r>
          </a:p>
          <a:p>
            <a:r>
              <a:t/>
            </a:r>
          </a:p>
          <a:p>
            <a:r>
              <a:t>Здесь всё держится на оговорке супервайзера эффектов, и терять её нельзя: в пересчёте на один план это стоит столько же, сколько в обычном фильме с эффектами, а дорого выходит потому, что планов здесь на два фильма. Это и есть правильная единица счёта. Без неё 159 миллионов читаются как цена технологии; с ней видно, что цена плана была обычной, а необычным был объём. Ровно та же подмена единицы встречается во всех трёх разборах раздела, и полезно увидеть её сначала на классическом материале, где никакой модели ещё нет.</a:t>
            </a:r>
          </a:p>
          <a:p>
            <a:r>
              <a:t/>
            </a:r>
          </a:p>
          <a:p>
            <a:r>
              <a:t>Зачем держать обе точки рядом. Между ними пять лет и две противоположные истории про одну и ту же отрасль: в одной технология позволила пятерым сделать работу большой команды, в другой она добавила тридцать четыре миллиона к бюджету. Обе правдивы, и обе про эффекты. Разница в том, на что технология тратилась: в первом случае на сокращение рутины, во втором на увеличение объёма сложной работы. Это общий закон всей шестидесятилетней цепочки удешевления, которую лекция прослеживает с самого начала: объём произведённого растёт быстрее, чем падает цена единицы, и экономия на операции не превращается в экономию на проекте автоматически.</a:t>
            </a:r>
          </a:p>
          <a:p>
            <a:r>
              <a:t/>
            </a:r>
          </a:p>
          <a:p>
            <a:r>
              <a:t>Относительно этих двух масштабов и надо читать числа разборов. Ролик за две тысячи долларов — это дёшево на фоне сорока тысяч классического бюджета и мало на фоне ста пятидесяти девяти миллионов. Семьдесят тысяч сгенерированных клипов — это огромный объём проб и при этом семнадцать-сорок две тысячи долларов вычислений, то есть доли процента от бюджета большой кампании. Без двух опорных точек оба числа читаются как сенсация; с ними — как перемещение дорогого места внутри цепочки.</a:t>
            </a:r>
          </a:p>
          <a:p>
            <a:r>
              <a:t/>
            </a:r>
          </a:p>
          <a:p>
            <a:r>
              <a:t>В первом случае примечательна и сама похвала инструменту. Художник не говорит «инструмент сделал работу за меня»; он описывает конкретную операцию — вырезать персонажа из кадра и положить на подложку, — и называет время до и после. Это образцовая формулировка результата, и её полезно требовать от любого отчёта о внедрении: названа операция, названы обе стороны по времени, названо, что осталось человеку. Отчёт, в котором стоит только кратность, такой проверки не проходит.</a:t>
            </a:r>
          </a:p>
          <a:p>
            <a:r>
              <a:t/>
            </a:r>
          </a:p>
          <a:p>
            <a:r>
              <a:t>Второй случай полезен противоположным уроком. Там тоже есть число, и число огромное, но сама по себе величина бюджета ничего не говорит ни о технологии, ни о её эффективности, пока не названа единица. Правильная единица названа супервайзером, и она переворачивает чтение: цена плана обычная, необычен объём. Без этой строки «Ирландец» читается как доказательство того, что цифровое омоложение разорительно, а с ней — как доказательство того, что разорителен объём, который режиссёр выбрал по художественным соображениям.</a:t>
            </a:r>
          </a:p>
          <a:p>
            <a:r>
              <a:t/>
            </a:r>
          </a:p>
          <a:p>
            <a:r>
              <a:t>Отсюда общий приём чтения чужих чисел, который работает во всех трёх модальностях лекции. Любое большое число в производстве раскладывается на цену единицы и количество единиц. Пока оно не разложено, непонятно, о чём оно свидетельствует. Четыреста тысяч генераций — это много проб или дорогая проба? Сто пятьдесят девять миллионов — это дорогая технология или много планов? Семьдесят тысяч клипов — это дорогая кампания или дешёвая проба, повторённая семьдесят тысяч раз? Ответ в каждом случае даёт только разложение, и в двух из трёх случаев оно уже сделано за нас участниками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события за два года, и каждое — порог, после которого что-то перестало быть экспериментом.</a:t>
            </a:r>
          </a:p>
          <a:p>
            <a:r>
              <a:t/>
            </a:r>
          </a:p>
          <a:p>
            <a:r>
              <a:t>Первое. Фильм «Here» 2024 года: омоложение Тома Хэнкса и Робин Райт считалось во время съёмки, на мониторе, то есть режиссёр и актёр впервые видели то, что снимают. Весь фильм уложился в бюджет 45 миллионов долларов — меньше, чем один только рост бюджета «Ирландца» со 125 до 159 миллионов. Вторая половина обязательна: фильм разгромлен критикой, и часть претензий — именно к «пластиковым» лицам. Технический скачок состоялся, художественный не состоялся; подавать это как триумф нельзя. Полезно держать эти две половины вместе: дешевле и быстрее не означает лучше, и в этом случае разрыв между двумя утверждениями виден лучше всего.</a:t>
            </a:r>
          </a:p>
          <a:p>
            <a:r>
              <a:t/>
            </a:r>
          </a:p>
          <a:p>
            <a:r>
              <a:t>Второе. Сериал «Вечнаут», апрель 2025 года: обрушение здания в Буэнос-Айресе — первый кадр, сгенерированный моделью и попавший в финальный монтаж оригинального сериала площадки. Сооснователь компании заявил на квартальном звонке: сделано в десять раз быстрее, чем классическими средствами эффектов. И здесь стоит остановиться: знаменателя у этой кратности нет. Ни абсолютного срока — классический режим назван «месяцами», сколько именно, не сказано, — ни стоимости компания не называет. Это образец того, как кратность подаётся без базы, и на кадре он стоит именно в этом качестве — как утверждение, которое нельзя проверить. Правило, которое отсюда уносится: услышав «в N раз быстрее», спрашивайте, быстрее чего именно и сколько это «чего» занимало.</a:t>
            </a:r>
          </a:p>
          <a:p>
            <a:r>
              <a:t/>
            </a:r>
          </a:p>
          <a:p>
            <a:r>
              <a:t>Третье. «Watch the Skies», май 2025 года: первый полный метр с визуальным дубляжом. Шведские актёры сами переозвучили свои реплики по-английски, а модель переписала движение губ в кадре под английскую артикуляцию. Классический режим назван обеими половинами: либо субтитры и кратное падение сборов на англоязычном рынке, либо дубляж чужими голосами с заметным рассогласованием губ. Премьера в США 9 мая 2025 года, работа одобрена профсоюзом — тем самым, который в 2023 году бастовал против применения моделей. Вправо уехал вопрос, ответа на который пока нет: что теперь считать оригинальной версией фильма и какая из версий подаётся на фестиваль.</a:t>
            </a:r>
          </a:p>
          <a:p>
            <a:r>
              <a:t/>
            </a:r>
          </a:p>
          <a:p>
            <a:r>
              <a:t>Четвёртое. Супербоул LX, 9 февраля 2026 года: первый преимущественно сгенерированный национальный ролик самого дорогого рекламного эфира планеты — тридцать секунд, марка водки, студия Silverside AI. Отраслевая оценка «половина и более роликов того эфира использовали генеративные средства на каком-то этапе» — это экспертная оценка, не измерение, и так её и надо называть. Что измеримо: от первого брендового ролика на генеративной модели в июне 2024 года до национального ролика Супербоула прошло двадцать месяцев.</a:t>
            </a:r>
          </a:p>
          <a:p>
            <a:r>
              <a:t/>
            </a:r>
          </a:p>
          <a:p>
            <a:r>
              <a:t>Пятый случай того же ряда на кадр не вынесен, но назвать его стоит, потому что он про другое. В сентябре 2024 года состоялась первая сделка генеративной компании с голливудской студией: модель обучается на библиотеке самой студии; вице-председатель ожидает экономии миллионов и миллионов долларов, начинают с раскадровок, дальше фоны и эффекты. В 2026 году студия входит в капитал разработчика и планирует серию по своим правам. Содержательная сторона здесь одна, и она двойная: обучение на собственной библиотеке — единственный способ обойти спор о происхождении данных и одновременно способ сделать стиль студии воспроизводимым без её авторов.</a:t>
            </a:r>
          </a:p>
          <a:p>
            <a:r>
              <a:t/>
            </a:r>
          </a:p>
          <a:p>
            <a:r>
              <a:t>Что общего у четырёх порогов. Ни один из них не демонстрация: каждый — выпущенный продукт, у которого есть дата, заказчик и аудитория. Именно этим они отличаются от роликов, которыми меряют прогресс в новостях. И ни один из них не отменил предыдущий способ работы: омоложение на площадке не отменило постпроизводство, визуальный дубляж не отменил субтитры, ролик Супербоула не отменил съёмку. Порог — это момент, когда способ становится допустимым, а не момент, когда предыдущий способ исчезает.</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Параллель с языковой моделью здесь строят сами разработчики, и цитировать их стоит дословно: там, где у больших языковых моделей есть текстовые токены, у видеомодели есть визуальные патчи. Устройство описано в два шага: сначала видео сжимается в низкоразмерное латентное пространство, затем представление раскладывается на патчи пространства-времени, и полученные патчи работают как токены трансформера.</a:t>
            </a:r>
          </a:p>
          <a:p>
            <a:r>
              <a:t/>
            </a:r>
          </a:p>
          <a:p>
            <a:r>
              <a:t>Из этой формулировки следуют три вещи, и каждая практична. Первая: видео и изображение — одна задача, потому что изображение это видео из одного кадра. Отсюда и обучение на смеси видео с изображениями, и перенос архитектуры из предыдущего раздела без переделки. Вторая: разрешение и длительность — это форма сетки патчей. На работе размер выхода задаётся тем, что случайно инициализированные патчи расставляются в сетку нужного размера; поэтому одна и та же модель выдаёт и горизонтальный кадр, и вертикальный, и всё между ними, без отдельных режимов. Третья: та же развязка «токенизатор отдельно, модель отдельно», что в изображении и в тексте.</a:t>
            </a:r>
          </a:p>
          <a:p>
            <a:r>
              <a:t/>
            </a:r>
          </a:p>
          <a:p>
            <a:r>
              <a:t>Арифметика токенов, которую стоит уметь воспроизвести на бумаге, устроена так. Латентных кадров получается столько: число кадров минус один, делённое на временной коэффициент сжатия, плюс один. Латентная сетка — высота и ширина, делённые на пространственный коэффициент и на размер патча. Токенов — произведение трёх величин. Метод проверяется на чужих опубликованных числах и воспроизводит их: для одной конфигурации расчёт даёт 73 728 токенов при опубликованных «около 73 тысяч»; для другой модели на одном автокодировщике — 76 032 при опубликованных «76 тысяч», на другом — 19 008 при опубликованных «19 тысяч».</a:t>
            </a:r>
          </a:p>
          <a:p>
            <a:r>
              <a:t/>
            </a:r>
          </a:p>
          <a:p>
            <a:r>
              <a:t>Целевой расчёт для пяти секунд при 24 кадрах в секунду, то есть 121 кадра, с автокодировщиком, сжимающим вчетверо по времени и в восемь раз по каждой пространственной оси. Одна картинка 1024 на 1024 — 4 096 токенов. Один кадр высокой чёткости как картинка — 8 040. Пять секунд в 720p — 111 600 токенов, в двадцать семь раз больше картинки. Пять секунд в 1080p — 249 240 токенов, в шестьдесят один раз больше. Те же пять секунд покадрово, без сжатия по времени, — 972 840 токенов, и разница в 3,9 раза — ровно выигрыш временного сжатия.</a:t>
            </a:r>
          </a:p>
          <a:p>
            <a:r>
              <a:t/>
            </a:r>
          </a:p>
          <a:p>
            <a:r>
              <a:t>Формулировать это надо аккуратно. Разрыв на два-три порядка верен против текста: пять секунд видео — это полтораста страниц, полтора романа ради пяти секунд. Против картинки разрыв гораздо скромнее, и раздувать его нечестно: двадцать семь — шестьдесят один раз, полтора порядка. Против контекста современной языковой модели разрыв уже закрылся: четверть миллиона токенов меньше миллионного окна. Цена сидит в другом: по этим токенам надо прогнать двадцать-пятьдесят шагов расшумления, каждый с полным трёхмерным вниманием и без всякого кэша.</a:t>
            </a:r>
          </a:p>
          <a:p>
            <a:r>
              <a:t/>
            </a:r>
          </a:p>
          <a:p>
            <a:r>
              <a:t>И одна деталь, соединяющая этот раздел с предыдущим. С мая 2025 года ведущая видеомодель порождает изображение вместе со звуком, причём диффузионный процесс применяется к временным аудиолатентам и пространственно-временным видеолатентам одновременно: звук и изображение расшумляются совместно, в одном процессе, каждый в своём латентном представлении. Отдельной архитектурной статьи с деталями найти не удалось — карточка модели здесь потолок публичности, и это надо сказать вслух, оставив правдоподобные догадки при себе.</a:t>
            </a:r>
          </a:p>
          <a:p>
            <a:r>
              <a:t/>
            </a:r>
          </a:p>
          <a:p>
            <a:r>
              <a:t>Инженерный смысл развязки «токенизатор отдельно, модель отдельно» в этой модальности тот же, что в двух предыдущих, и его стоит назвать прямо. Всё, что определяет длину, разрешение и стоимость генерации, решается на стороне автокодировщика — то есть до того, как в дело вступит сама генеративная модель. Размер модели в этих расчётах не участвует ни разу: ни в числе патчей, ни в числе пар внимания, ни в цене обучения, о которой речь пойдёт дальше. Это тот же вывод, что в звуке дала частота кадров кодека, и его полезно проверять на любой новой модальности первым вопросом: что здесь работает словарём и сколько единиц этого словаря уходит на минуту материала.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Почему разработчики платят за полное трёхмерное внимание, нагляднее всего объяснила подпись к схеме в одной из статей: при раздельном пространственном и временном внимании голова человека в кадре с номером i плюс один не может напрямую обратиться к голове в кадре i, и визуальная информация передаётся только неявно, через другие фоновые патчи. Механика простая: раздельное временное внимание смотрит вдоль одной и той же пространственной позиции, и если объект между кадрами сдвинулся на пять токенов вбок, прямого канала «голова тут — голова там» нет.</a:t>
            </a:r>
          </a:p>
          <a:p>
            <a:r>
              <a:t/>
            </a:r>
          </a:p>
          <a:p>
            <a:r>
              <a:t>Цена посчитана. Для пяти секунд высокой чёткости общее число патчей 249 240, сетка 31 на 8 040. Полное трёхмерное внимание даёт 249 240 в квадрате, то есть 62,1 миллиарда пар. Раздельное даёт 31, умноженное на квадрат 8 040, плюс 8 040, умноженное на квадрат 31, то есть 2,01 миллиарда пар. Раздельное дешевле в 30,9 раза. Ведущие модели сознательно платят тридцатикратную цену по числу пар внимания за то, чтобы голова в следующем кадре видела голову в предыдущем напрямую. Это образцовый инженерный размен: купили согласованность за вычисления и знают, сколько заплатили.</a:t>
            </a:r>
          </a:p>
          <a:p>
            <a:r>
              <a:t/>
            </a:r>
          </a:p>
          <a:p>
            <a:r>
              <a:t>Честная оговорка, обязательная для этого раздела. Технический отчёт по самой известной видеомодели прямо сообщает: детали модели и реализации в этот отчёт не включены. Там нет ни коэффициентов сжатия, ни размера патча, ни числа параметров, ни числа токенов. Любая конкретная цифра по ней, гуляющая по сети, — реконструкция. Поэтому всё счётное ниже взято у открытых моделей, которые свои параметры публикуют.</a:t>
            </a:r>
          </a:p>
          <a:p>
            <a:r>
              <a:t/>
            </a:r>
          </a:p>
          <a:p>
            <a:r>
              <a:t>Что в этой модальности осталось точно таким же, как в неподвижном изображении, стоит проговорить отдельно — иначе раздел читается как рассказ про новую технику, которой здесь нет. Автокодировщик работает токенизатором, модель стоит поверх него. Расшумление переписывает все токены на каждом шаге, а не дописывает их по одному. Кэша нет и быть не может, и вся экономика тарифов языковых моделей, построенная на повторном использовании посчитанного контекста, сюда не переносится ни строчкой.</a:t>
            </a:r>
          </a:p>
          <a:p>
            <a:r>
              <a:t/>
            </a:r>
          </a:p>
          <a:p>
            <a:r>
              <a:t>Добавляется вместе со временем ровно три вещи. Сжатие идёт не только по пространству, но и по времени. Позиционное кодирование становится тройным: две пространственные координаты и одна временная, и каналы между осями делятся в фиксированной пропорции. И появляется тот самый выбор между полным трёхмерным вниманием и раздельным, у которого есть посчитанная цена. Первые две добавки дешёвые, третья — главная статья расхода всей модальности.</a:t>
            </a:r>
          </a:p>
          <a:p>
            <a:r>
              <a:t/>
            </a:r>
          </a:p>
          <a:p>
            <a:r>
              <a:t>Практический вывод, который переносится за пределы видео: когда архитектура предлагает выбор между «дорого и связно» и «дёшево и несвязно», спрашивайте, во что именно обходится связность и что именно теряется без неё. Здесь на оба вопроса есть числа — тридцатикратная цена и отсутствие прямого канала между кадрами, — и поэтому разговор инженерный. Там, где таких чисел нет, выбор делается на вкус, и это надо называть своим именем.</a:t>
            </a:r>
          </a:p>
          <a:p>
            <a:r>
              <a:t/>
            </a:r>
          </a:p>
          <a:p>
            <a:r>
              <a:t>Как проверить этот расчёт самому, не поверив на слово. Число патчей для пяти секунд высокой чёткости — 249 240, сетка 31 на 8 040. Полное трёхмерное внимание сравнивает каждый патч с каждым: 249 240 в квадрате даёт 62,1 миллиарда пар. Раздельное сравнивает патчи внутри кадра и вдоль времени по отдельности: 31, умноженное на квадрат 8 040, плюс 8 040, умноженное на квадрат 31, — это 2,01 миллиарда. Отношение 30,9. Арифметика умещается в две строки, и в этом её ценность: число, которое можно пересчитать на бумаге, перестаёт быть рекламным.</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Отличий трёхмерного автокодировщика от картиночного три, и каждое измерено, а не заявлено.</a:t>
            </a:r>
          </a:p>
          <a:p>
            <a:r>
              <a:t/>
            </a:r>
          </a:p>
          <a:p>
            <a:r>
              <a:t>Первое: свёртки трёхмерные, сжатие идёт и по пространству, и по времени. Авторы одной из открытых моделей формулируют так: автокодировщик сжимает видео и по пространственным, и по временной размерностям, и эта стратегия существенно сокращает длину последовательности и помогает предотвратить мерцание. Эффект посчитан в абляции: переход от двумерного автокодировщика к трёхмерному снижает показатель мерцания с 93,2 до 86,3. Это замер: убрали одну составляющую — число ухудшилось.</a:t>
            </a:r>
          </a:p>
          <a:p>
            <a:r>
              <a:t/>
            </a:r>
          </a:p>
          <a:p>
            <a:r>
              <a:t>Второе: каузальность по времени — буквально. Авторы пишут, что применяют каузальную по времени свёртку, которая размещает все отступы в начале свёрточного пространства, и это гарантирует, что будущая информация не влияет на настоящие и прошлые предсказания. Это тот же приём, что каузальная маска внимания в языковой модели, только реализованный в свёртке через асимметричный отступ. Параллель здесь точная: один и тот же принцип — «не подглядывать вперёд» — в двух разных по устройству слоях.</a:t>
            </a:r>
          </a:p>
          <a:p>
            <a:r>
              <a:t/>
            </a:r>
          </a:p>
          <a:p>
            <a:r>
              <a:t>Побочное следствие — мелочь, которую студент проверит сам. Первый кадр кодируется отдельно, только пространственно, откуда формула: латентных кадров равно числу кадров, делённому на коэффициент, плюс один. Поэтому в интерфейсах видеомоделей стоят странные на вид числа кадров — 49, 81, 121, 129, 257, все вида «кратное четырём плюс один» или «кратное восьми плюс один». Когда вы видите «129 кадров», вы теперь знаете, почему не 128.</a:t>
            </a:r>
          </a:p>
          <a:p>
            <a:r>
              <a:t/>
            </a:r>
          </a:p>
          <a:p>
            <a:r>
              <a:t>Третье: каналов больше — с трёх до шестнадцати, а у самой агрессивно сжимающей модели до 128, чтобы компенсировать силу сжатия. Логика здесь простая: чем сильнее мы сжимаем по пространству и времени, тем больше информации должен нести каждый оставшийся элемент, иначе декодировщик не восстановит то, что было.</a:t>
            </a:r>
          </a:p>
          <a:p>
            <a:r>
              <a:t/>
            </a:r>
          </a:p>
          <a:p>
            <a:r>
              <a:t>Реальные коэффициенты сжатия по времени, высоте и ширине у моделей, которые публикуют свои параметры: у трёх моделей 2024–2025 годов это четыре по времени и восемь по каждой пространственной оси при шестнадцати каналах; у одной — восемь по всем трём осям; у ещё одной — восемь по времени и тридцать два по каждой пространственной оси при 128 каналах, причём у неё размер патча равен единице, то есть отдельного шага разбиения на патчи нет вовсе. Полезно видеть, что разброс здесь большой и что выбор коэффициента — это именно проектное решение, а не отраслевой стандарт.</a:t>
            </a:r>
          </a:p>
          <a:p>
            <a:r>
              <a:t/>
            </a:r>
          </a:p>
          <a:p>
            <a:r>
              <a:t>Где предел сжатия — измерено. В той же абляции авторы дошли до коэффициента шестнадцать на шестнадцать на восемь и записали результат: когда пространственно-временное сжатие слишком агрессивно, даже при соответствующем увеличении числа каналов сходимость модели становится крайне затруднённой. Бесплатного сжатия не бывает, и здесь это зафиксировано строкой таблицы, без всяких рассуждений.</a:t>
            </a:r>
          </a:p>
          <a:p>
            <a:r>
              <a:t/>
            </a:r>
          </a:p>
          <a:p>
            <a:r>
              <a:t>Что значит «причинный» на практике монтажа. Каузальность по времени означает, что первые кадры клипа закодированы без оглядки на последующие, и отсюда две вещи. Первая: клип можно кодировать потоком, не дожидаясь его конца, — значит, возможна работа в реальном времени и продление уже существующего фрагмента. Вторая: первый кадр существует как самостоятельная единица, и именно поэтому обусловливание на первый кадр работает так хорошо и так дёшево — его не надо вытаскивать из общего свёрнутого среза. Отсюда же практический совет: если нужна предсказуемость, начинайте с кадра, оставив описание на второй шаг.</a:t>
            </a:r>
          </a:p>
          <a:p>
            <a:r>
              <a:t/>
            </a:r>
          </a:p>
          <a:p>
            <a:r>
              <a:t>Отдельно стоит сказать, почему мерцание вообще появляется и почему именно сжатие по времени его лечит. Если каждый кадр кодируется и восстанавливается независимо, то мелкие неточности восстановления в соседних кадрах оказываются разными: один и тот же участок фона в двух подряд идущих кадрах восстановится чуть по-разному, и глаз читает это как дрожание текстуры. Когда четыре кадра свёрнуты в один латентный срез, у них общая ошибка восстановления, и дрожать нечему: различия между кадрами внутри среза задаются уже не случайностью, а тем, что модель в этот срез записала. Мерцание — это ровно та цена, которую платит покадровая обработка, и платит она её даже тогда, когда каждый отдельный кадр выглядит безупречно.</a:t>
            </a:r>
          </a:p>
          <a:p>
            <a:r>
              <a:t/>
            </a:r>
          </a:p>
          <a:p>
            <a:r>
              <a:t>И вторая сторона того же приёма, которую монтажёру надо держать в уме. Поскольку кадры внутри среза существуют не по отдельности, точная покадровая правка внутри сгенерированного фрагмента невозможна тем же способом, каким правят отснятый материал: нельзя заменить один кадр из четырёх, оставив три нетронутыми, потому что в латентном представлении этого одного кадра нет. Правка идёт либо целыми фрагментами, либо уже после декодирования, по готовому изображению, обычными средствами постпроизводства. Для монтажёра это означает, что сгенерированный материал ведёт себя как снятый на плёнку: его режут, и переписать его изнутри нечем.</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Квадратичность внимания даёт эффект, который стоит запомнить числом, потому что он объясняет почти всю экономику этой модальности.</a:t>
            </a:r>
          </a:p>
          <a:p>
            <a:r>
              <a:t/>
            </a:r>
          </a:p>
          <a:p>
            <a:r>
              <a:t>Замыкающая цифра из открытой работы: обучение на видео из 129 кадров при разрешении 768 точек в сорок раз медленнее, чем при 256 точках. Авторы называют причину сами: разрыв возникает из-за квадратичной вычислительной сложности самовнимания при росте числа токенов.</a:t>
            </a:r>
          </a:p>
          <a:p>
            <a:r>
              <a:t/>
            </a:r>
          </a:p>
          <a:p>
            <a:r>
              <a:t>Поясним, откуда берётся именно сорок: воспроизвести этот счёт полезнее, чем запомнить результат. Втрое по стороне кадра — это вдевятеро по числу точек, значит примерно вдевятеро по числу патчей. Внимание квадратично по числу патчей, то есть даёт около восьмидесяти раз. Остальная часть сети — свёртки, полносвязные слои, нормализации — растёт линейно, то есть вдевятеро, и разбавляет этот множитель. Измеренные сорок лежат между линейным девятикратным и квадратичным восьмидесятикратным ростом — ровно там, где и должны лежать для сети, где внимание составляет заметную, но не подавляющую долю вычислений.</a:t>
            </a:r>
          </a:p>
          <a:p>
            <a:r>
              <a:t/>
            </a:r>
          </a:p>
          <a:p>
            <a:r>
              <a:t>Полезно, что это сходится. Арифметика из предыдущего кадра предсказывает порядок величины, и опубликованный замер его подтверждает. Это нечастая ситуация: обычно между расчётом на бумаге и измерением на железе лежит множитель, который никто не может объяснить. Здесь объяснение есть, и оно проверяемо.</a:t>
            </a:r>
          </a:p>
          <a:p>
            <a:r>
              <a:t/>
            </a:r>
          </a:p>
          <a:p>
            <a:r>
              <a:t>Разрешение выросло втрое — обучение замедлилось в сорок раз. На этой арифметике держится всё, что дальше говорится про стоимость: длина, разрешение и частота кадров покупаются нелинейно. Прейскуранты это честно отражают: у одного из поставщиков десятисекундный клип стоит ровно втрое дороже пятисекундного, то есть секунда длинного клипа на пятьдесят процентов дороже. Скидки за объём здесь нет, есть наценка — и это прямо противоположно тому, к чему приучают тарифы на вычисления в других областях.</a:t>
            </a:r>
          </a:p>
          <a:p>
            <a:r>
              <a:t/>
            </a:r>
          </a:p>
          <a:p>
            <a:r>
              <a:t>Отсюда же три ответа на вопрос, который студент задаёт первым: почему клип длится пять-десять секунд.</a:t>
            </a:r>
          </a:p>
          <a:p>
            <a:r>
              <a:t/>
            </a:r>
          </a:p>
          <a:p>
            <a:r>
              <a:t>Квадратичность. Удвоение длины при полном трёхмерном внимании учетверяет стоимость внимания; измеренное подтверждение — сорок к одному выше.</a:t>
            </a:r>
          </a:p>
          <a:p>
            <a:r>
              <a:t/>
            </a:r>
          </a:p>
          <a:p>
            <a:r>
              <a:t>Память. Четверть миллиона токенов на пять секунд высокой чёткости при двадцати-пятидесяти шагах расшумления упирается в предел одного вычислительного узла; ведущая модель держит для этого четыре вида параллелизма одновременно.</a:t>
            </a:r>
          </a:p>
          <a:p>
            <a:r>
              <a:t/>
            </a:r>
          </a:p>
          <a:p>
            <a:r>
              <a:t>Данные. Обучающие клипы сами короткие: в наборе одной из открытых моделей 35 миллионов односценовых клипов, каждый в среднем около шести секунд. Модель не видела длинных непрерывных сцен и потому их не умеет. Это ответ, который чаще всего упускают, а он самый прозаический и трудноустранимый: даже если бы вычисления были бесплатны, учиться длинной сцене было бы не на чем.</a:t>
            </a:r>
          </a:p>
          <a:p>
            <a:r>
              <a:t/>
            </a:r>
          </a:p>
          <a:p>
            <a:r>
              <a:t>Разработчики формулируют размен прямо: компромиссы в динамике движения ради временного визуального качества, ограниченная длительность видео в пять-десять секунд ради приоритета разрешения. Фактические пределы продуктов на октябрь 2026 года держатся в этой же полосе: четыре, шесть или восемь секунд у одного семейства, до двадцати секунд у другого, до десяти секунд со звуком у третьего, до шестидесяти секунд у отдельной модели с открытыми весами, оптимизированной под сжатие.</a:t>
            </a:r>
          </a:p>
          <a:p>
            <a:r>
              <a:t/>
            </a:r>
          </a:p>
          <a:p>
            <a:r>
              <a:t>Приёмы удлинения за три года прошли пять поколений, и перечислить их стоит, потому что каждое следующее лечит болезнь предыдущего. Расширение в лоб — достроить клип от последнего кадра; работает, накапливает ошибку. Скользящее окно расшумления — назначать больше шума кадрам, появляющимся позже, что отражает большую неопределённость относительно будущего. Независимые уровни шума на каждый токен — самая влиятельная идея линии: она соединяет переменную длину, свойственную авторегрессии, с управляемостью полнопоследовательной диффузии. Каузализация плюс дистилляция — двунаправленный трансформер переделывается в авторегрессионный, пятидесятишаговая модель дистиллируется в четырёхшаговую, появляется кэш и с ним 9,4 кадра в секунду на одной карте. Упаковка кадров по важности — сжимать контекст тем сильнее, чем менее важен кадр, и за счёт этого держать в фиксированном окне тысячи кадров.</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Вывод технического блока — и он подтверждает на материале видео то, что в двух предыдущих разделах уже прозвучало на своём материале.</a:t>
            </a:r>
          </a:p>
          <a:p>
            <a:r>
              <a:t/>
            </a:r>
          </a:p>
          <a:p>
            <a:r>
              <a:t>Единственная полная публичная раскладка стоимости обучения видеомодели принадлежит открытой работе, и статья так и называется: обучение видеомодели коммерческого уровня за двести тысяч долларов. Раскладка по стадиям даёт в сумме 4 160 ускорительных дней при ставке два доллара за час. Арифметика перепроверяется в одно действие: 4 160, умноженные на 24, дают 99 840 ускорительных часов, а те, умноженные на два доллара, дают 199 680 долларов. Модель на 11 миллиардов параметров, качество сопоставимо с коммерческими аналогами.</a:t>
            </a:r>
          </a:p>
          <a:p>
            <a:r>
              <a:t/>
            </a:r>
          </a:p>
          <a:p>
            <a:r>
              <a:t>Перепроверять такие числа стоит всегда, и это самостоятельный навык. Заголовок называет круглое число; раскладка по стадиям даёт ускорительные дни; ставка за час названа отдельно. Если три величины между собой сходятся, заголовку можно верить. Если не сходятся — а это случается чаще, чем хотелось бы, — доверять нельзя ни одной из трёх.</a:t>
            </a:r>
          </a:p>
          <a:p>
            <a:r>
              <a:t/>
            </a:r>
          </a:p>
          <a:p>
            <a:r>
              <a:t>Источник удешевления авторы называют прямо, и это ни железо, ни размер модели. Они пишут, что выявили потенциальную избыточность в пространственном измерении и предложили поднять коэффициент пространственного сжатия до 32, оставив временной равным четырём; это дало пятикратное улучшение пропускной способности обучения. Их автокодировщик сокращает число токенов с 76 тысяч до 19 тысяч для пятисекундного видео при 24 кадрах в секунду и 768 точках, а скорость работы растёт более чем в десять раз.</a:t>
            </a:r>
          </a:p>
          <a:p>
            <a:r>
              <a:t/>
            </a:r>
          </a:p>
          <a:p>
            <a:r>
              <a:t>Запомнить стоит цепочку целиком: подняли коэффициент сжатия — вчетверо сократили число токенов — обучение подешевело до двухсот тысяч долларов. Каждое звено измерено, ни одно не оценка.</a:t>
            </a:r>
          </a:p>
          <a:p>
            <a:r>
              <a:t/>
            </a:r>
          </a:p>
          <a:p>
            <a:r>
              <a:t>Для масштаба полезно держать рядом другую исследовательскую видеомодель того же поколения: она обучалась на 6 144 ускорителях, каждый по 700 ватт, при 30 миллиардах параметров, и денежной оценки её авторы не публикуют. Разница между двумя работами не в том, что одна команда способнее другой, а в том, на какой параметр каждая нажимала.</a:t>
            </a:r>
          </a:p>
          <a:p>
            <a:r>
              <a:t/>
            </a:r>
          </a:p>
          <a:p>
            <a:r>
              <a:t>Отсюда вывод, который повторяется в лекции третий раз и каждый раз на новом материале. В видео коэффициент сжатия автокодировщика — рычаг сильнее размера модели и сильнее выбора решателя. Это ровно тот же вывод, что в звуке дала частота кадров кодека, и тот же, что в изображении даёт размер латентного патча. Три модальности, три разных параметра, один и тот же ответ: главный рычаг — токенизатор; размер модели здесь вторичен.</a:t>
            </a:r>
          </a:p>
          <a:p>
            <a:r>
              <a:t/>
            </a:r>
          </a:p>
          <a:p>
            <a:r>
              <a:t>Для инженера, который оценивает чужое заявление о прорыве, из этого следует практический вопрос. Когда вам говорят «новая модель вдвое дешевле», спрашивайте про токенизатор: изменился ли коэффициент сжатия, изменилась ли частота кадров, изменился ли размер патча. Число параметров и мощность железа отвечают на этот вопрос реже. Если изменился — объяснение найдено и его можно проверить. Если нет, а удешевление заявлено кратным, — скорее всего, сравниваются разные вещи: другое разрешение, другая длина, другой режим работы.</a:t>
            </a:r>
          </a:p>
          <a:p>
            <a:r>
              <a:t/>
            </a:r>
          </a:p>
          <a:p>
            <a:r>
              <a:t>И честная граница того же вывода. Сжатие даётся не бесплатно: предел измерен, и за ним сходимость модели становится крайне затруднённой даже при увеличенном числе каналов. Значит, рычаг конечен, и каждое следующее удвоение коэффициента даётся дороже предыдущего. Утверждение «главный рычаг — токенизатор» верно для сегодняшнего положения дел, а не навсегда; верным навсегда остаётся только метод — искать, где в конвейере сидит число единиц данных, и нажимать туда.</a:t>
            </a:r>
          </a:p>
          <a:p>
            <a:r>
              <a:t/>
            </a:r>
          </a:p>
          <a:p>
            <a:r>
              <a:t>Полезно удержать и то, почему этот рычаг оказался сильнее всех остальных именно в видео. Стоимость обучения складывается грубо из трёх множителей: сколько единиц данных обрабатывается, сколько операций приходится на единицу и сколько раз всё это повторяется. Размер модели влияет на второй множитель линейно. Число токенов влияет на первый множитель линейно, а через внимание — ещё и квадратично, потому что число пар растёт как квадрат числа токенов. Поэтому вчетверо меньше токенов даёт экономию заметно большую, чем вчетверо, и никакое уменьшение модели такого эффекта не даст, не разрушив качества.</a:t>
            </a:r>
          </a:p>
          <a:p>
            <a:r>
              <a:t/>
            </a:r>
          </a:p>
          <a:p>
            <a:r>
              <a:t>И ещё одно наблюдение, полезное за пределами этой модальности. Обе величины — коэффициент сжатия и размер модели — публикуются поставщиками с разной охотой. Число параметров называют почти всегда: оно звучит внушительно и ни к чему не обязывает. Коэффициент сжатия автокодировщика называют редко, и открытые модели здесь выгодно отличаются от закрытых. Когда в описании модели есть размер и нет токенизатора, само это умолчание — уже сведение о модели: вам показали множитель, который легче объяснить, и обошли тот, который на самом деле решает. Привычка спрашивать про второй — простой и дешёвый способ отличить техническое описание от рекламного.</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главное ограничение модальности, и формулировать его надо именно так. Внутри модели нет сущности «объект», которая существовала бы между кадрами. Постоянство персонажа, одежды и предмета в руке держится на четырёх механизмах, и каждый из них конечен.</a:t>
            </a:r>
          </a:p>
          <a:p>
            <a:r>
              <a:t/>
            </a:r>
          </a:p>
          <a:p>
            <a:r>
              <a:t>Механизм первый: общий латент с временным сжатием. Четыре соседних кадра физически свёрнуты в один латентный срез, поэтому по отдельности они не существуют и расходиться им негде. Измеренный эффект — снижение мерцания с 93,2 до 86,3. Кончается он там, где кончается окно сжатия: между соседними срезами связи такого рода уже нет.</a:t>
            </a:r>
          </a:p>
          <a:p>
            <a:r>
              <a:t/>
            </a:r>
          </a:p>
          <a:p>
            <a:r>
              <a:t>Механизм второй: полное трёхмерное внимание — единственный, дающий прямую связь «объект здесь — объект там» при большом смещении. Его цена посчитана: тридцатикратная по числу пар внимания. Кончается он там, где кончается длина клипа, помещающегося в это внимание.</a:t>
            </a:r>
          </a:p>
          <a:p>
            <a:r>
              <a:t/>
            </a:r>
          </a:p>
          <a:p>
            <a:r>
              <a:t>Механизм третий: позиционное кодирование по трём осям — тот же приём, что в языковой модели, но координата теперь тройная, и каналы между осями делятся в фиксированной пропорции. Кончается он на том, что это кодирование сообщает модели, где элемент стоит, а не что это тот же самый элемент.</a:t>
            </a:r>
          </a:p>
          <a:p>
            <a:r>
              <a:t/>
            </a:r>
          </a:p>
          <a:p>
            <a:r>
              <a:t>Механизм четвёртый: обусловливание на первый кадр. Техника описана точно: условное изображение конкатенируется с кадрами, заполненными нулями, вводится бинарная маска, где единица означает сохраняемый кадр, а ноль — подлежащий генерации. То есть задача переформулирована как достройка пропущенного во времени. Отсюда практический совет, который стоит унести: если нужна предсказуемость, начинайте с кадра, оставив описание на второй шаг, — половина неопределённости снимается одним настоящим кадром.</a:t>
            </a:r>
          </a:p>
          <a:p>
            <a:r>
              <a:t/>
            </a:r>
          </a:p>
          <a:p>
            <a:r>
              <a:t>Почему про это стоит говорить механизмами, а не одной фразой «иногда меняется куртка». Фраза описывает симптом и подсказывает, что дефект случайный и лечится перегенерацией. Перечень механизмов описывает причину и сразу говорит, где граница каждого: окно временного сжатия, длина клипа, помещающегося в полное трёхмерное внимание, и то обстоятельство, что позиционное кодирование отвечает на вопрос «где», а не на вопрос «тот же ли». Зная границы, можно заранее сказать, какая постановка задачи окажется внутри них, а какая снаружи, — и не тратить попытки там, где они пропадут зря.</a:t>
            </a:r>
          </a:p>
          <a:p>
            <a:r>
              <a:t/>
            </a:r>
          </a:p>
          <a:p>
            <a:r>
              <a:t>Четвёртый механизм, обусловливание на первый кадр, стоит в этом ряду особняком, и потому он вынесен с этой схемы. Остальные три работают внутри модели и пользователю не видны; четвёртый — это то, что пользователь делает сам, подавая на вход готовый кадр вместо описания. Техника описана точно: условное изображение конкатенируется с кадрами, заполненными нулями, вводится бинарная маска, где единица означает сохраняемый кадр, а ноль — подлежащий генерации, и задача переформулируется как достройка пропущенного во времени. Практический вывод из этого — единственная настройка во всём разделе, которая доступна снаружи и ничего не стоит: если нужна предсказуемость, начинайте с кадра, оставив описание на второй шаг.</a:t>
            </a:r>
          </a:p>
          <a:p>
            <a:r>
              <a:t/>
            </a:r>
          </a:p>
          <a:p>
            <a:r>
              <a:t>Порядок чтения схемы такой: сверху вниз механизмы идут от самого дешёвого и короткодействующего к самому дорогому. Общий латент бесплатен, но держит только четыре соседних кадра. Полное трёхмерное внимание держит весь клип, но стоит тридцатикратно. Позиционное кодирование стоит почти ничего и не держит ничего — оно только расставляет координаты. Суммарно этого хватает на клип в несколько секунд и не хватает ни на что длиннее. Так устроено всё семейство, и дело здесь не в недосмотре одной модели.</a:t>
            </a:r>
          </a:p>
          <a:p>
            <a:r>
              <a:t/>
            </a:r>
          </a:p>
          <a:p>
            <a:r>
              <a:t>Одно уточнение про слово «механизм». Ни один из трёх не задумывался как способ удержать объект: временное сжатие заводили ради объёма, трёхмерное внимание — ради качества, позиционное кодирование — ради того, чтобы модель вообще различала порядок. Постоянство объекта получилось у них как побочный эффект, и ровно поэтому оно так легко кончается: за него никто не отвечает по замыслу. Это полезно помнить всякий раз, когда у системы просят свойства, которого в её постановке задачи не было.</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Где это ломается, признают сами разработчики, и цитировать их надёжнее, чем критиков. Из того же отчёта, где модель хвалят: она неточно моделирует физику многих базовых взаимодействий, таких как разбивающееся стекло; другие взаимодействия, такие как поедание пищи, не всегда дают корректные изменения состояния объекта; перечислены несогласованности, развивающиеся в длинных образцах, и спонтанные появления объектов.</a:t>
            </a:r>
          </a:p>
          <a:p>
            <a:r>
              <a:t/>
            </a:r>
          </a:p>
          <a:p>
            <a:r>
              <a:t>Накопление ошибки названо в трёх независимых работах и в каждой своим именем. Первое: накопление ошибки в авторегрессионной генерации. Второе, точнее: смещение экспозиции — модели, обученные на истинном контексте, вынуждены на работе порождать последовательности, обусловленные собственными несовершенными выходами. Третье называется методами предотвращения дрейфа. Механизм один: каждый следующий кадр строится по предыдущему, а предыдущий уже слегка неверен, и ошибка складывается сама с собой. Лечится это обучением на собственных выходах — то есть тем, что модель во время обучения заставляют работать в том же режиме, в каком она будет работать потом.</a:t>
            </a:r>
          </a:p>
          <a:p>
            <a:r>
              <a:t/>
            </a:r>
          </a:p>
          <a:p>
            <a:r>
              <a:t>И наблюдение, которое снимает романтику с понятия «модель мира»: объектное постоянство в интерактивном режиме — это размер окна; никакого свойства мира за ним нет. Два высказывания об одном и том же факте: у одной системы — зрительная память, простирающаяся назад примерно на одну минуту; у другой — прошлые кадры в скользящем кэше, более старые кадры вытесняются. Первое сказано языком продукта, второе языком инженера. Это одно и то же ограничение.</a:t>
            </a:r>
          </a:p>
          <a:p>
            <a:r>
              <a:t/>
            </a:r>
          </a:p>
          <a:p>
            <a:r>
              <a:t>Что это означает для задач, где важна одна и та же вещь в двух планах. Если продукт требует, чтобы предмет, человек или интерфейс выглядели одинаково в разных кадрах — логотип на упаковке, лицо актёра, модель автомобиля, — то модель этого не гарантирует ни при каких настройках, и обеспечивать это придётся снаружи: закреплением облика опорными кадрами до генерации, проверкой каждого плана человеком, монтажом так, чтобы спорный предмет не попадал в два плана подряд. Рабочий ответ отрасли уже оформился продуктово: модель, вышедшая 15 октября 2026 года, принимает до десяти опорных кадров и до пятнадцати референсов на одну генерацию — это прямой ответ ровно на эту задачу, и то, что он понадобился, подтверждает: сама по себе задача не решена.</a:t>
            </a:r>
          </a:p>
          <a:p>
            <a:r>
              <a:t/>
            </a:r>
          </a:p>
          <a:p>
            <a:r>
              <a:t>И критерий, который можно проверить до запуска, а не после приёмки. Спросите, есть ли в вашем ролике объект, который зритель обязан опознать как один и тот же в двух разных планах. Если есть — закладывайте отбор и ручную сверку в смету; если нет — ограничение вам ничего не стоит.</a:t>
            </a:r>
          </a:p>
          <a:p>
            <a:r>
              <a:t/>
            </a:r>
          </a:p>
          <a:p>
            <a:r>
              <a:t>Полезно заметить, какого рода это свидетельство. Все четыре утверждения на кадре — слова самих разработчиков, взятые из того же отчёта и тех же статей, где модели хвалят. Это другой класс доказательства, чем разбор критика: производитель, перечисляющий собственные отказы, не заинтересован их преувеличивать, и список получается коротким, конкретным и проверяемым. Привычка искать именно такие формулировки — раздел «ограничения» в карточке модели, абзац о режимах отказа в отчёте — экономит недели: там обычно написано ровно то, обо что вы споткнётесь на второй неделе работы.</a:t>
            </a:r>
          </a:p>
          <a:p>
            <a:r>
              <a:t/>
            </a:r>
          </a:p>
          <a:p>
            <a:r>
              <a:t>И последнее, что стоит унести с этого кадра. Два высказывания об одном и том же ограничении — «зрительная память примерно на одну минуту» и «прошлые кадры в скользящем кэше, более старые вытесняются» — различаются только адресатом. Первое написано для пользователя и звучит как свойство модели; второе написано для инженера и звучит как размер буфера. Когда продуктовая формулировка и инженерная расходятся настолько, верить надо инженерной: она говорит, что будет, когда окно кончится, а продуктовая этот момент обходит молчанием.</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есть редкая вещь: ограничение померено, причём с образцовой базой сравнения.</a:t>
            </a:r>
          </a:p>
          <a:p>
            <a:r>
              <a:t/>
            </a:r>
          </a:p>
          <a:p>
            <a:r>
              <a:t>Устройство испытания. Взято 396 реальных видеозаписей, 66 сценариев, по три ракурса на сценарий, и каждая сцена снята дважды. Второй дубль задаёт верхнюю планку: он показывает, насколько сама реальность повторяет себя, когда один и тот же опыт ставят второй раз, и нормируется в сто процентов. Это честная база, и выбор её — сильная сторона работы. Сравнивать модель с абстрактным идеалом бессмысленно: идеал недостижим и для самой реальности, потому что мяч, брошенный второй раз, падает немного иначе. Сравнение с воспроизводимостью мира даёт величину, которую можно интерпретировать.</a:t>
            </a:r>
          </a:p>
          <a:p>
            <a:r>
              <a:t/>
            </a:r>
          </a:p>
          <a:p>
            <a:r>
              <a:t>Результат: все оценённые модели показывают большой разрыв, лучшая модель набирает 29,5 процента, что, по формулировке авторов, указывает на серьёзно ограниченное физическое понимание. Проверялись шесть ведущих систем своего времени.</a:t>
            </a:r>
          </a:p>
          <a:p>
            <a:r>
              <a:t/>
            </a:r>
          </a:p>
          <a:p>
            <a:r>
              <a:t>Главный вывод авторов: визуальный реализм не коррелирует с физическим пониманием. Коэффициент корреляции минус 0,46 при уровне значимости 0,249, то есть связи нет вовсе — ни прямой, ни обратной, величина статистически неотличима от нуля. Более того, видео одной из систем труднее всего отличить от настоящих, и это ровно ничего не говорит о том, упадёт ли мяч в ящик.</a:t>
            </a:r>
          </a:p>
          <a:p>
            <a:r>
              <a:t/>
            </a:r>
          </a:p>
          <a:p>
            <a:r>
              <a:t>Расшифруем, что это утверждение значит для суждения. Человек оценивает сгенерированное видео глазами, и единственный доступный ему признак — похоже или непохоже. Работа показывает, что этот признак не несёт информации о том, правильно ли происходящее в кадре физически. Значит, обычный способ приёмки — посмотреть и решить — в этой модальности структурно не работает: он измеряет ровно ту величину, которая ни с чем не связана.</a:t>
            </a:r>
          </a:p>
          <a:p>
            <a:r>
              <a:t/>
            </a:r>
          </a:p>
          <a:p>
            <a:r>
              <a:t>Конкретика помогает запомнить границу. Модели справляются с размазыванием краски по стеклу и выливанием жидкости на резиновую утку. Не справляются с падением мяча в ящик и с разрезанием мандарина ножом. Закономерность видна: там, где результат размазан и допускает много одинаково правдоподобных исходов, модель попадает; там, где исход один и определён законами механики, она промахивается. Это прямое следствие того, как она обучена: она выучила, как такие сцены обычно выглядят, а не как устроено взаимодействие тел.</a:t>
            </a:r>
          </a:p>
          <a:p>
            <a:r>
              <a:t/>
            </a:r>
          </a:p>
          <a:p>
            <a:r>
              <a:t>Инженерный вывод прямой и переносимый: правдоподобие и понимание расходятся. Любой производственный процесс в этой модальности обязан держать отдельную проверку на то, что происходящее в кадре физически возможно, и проверку эту нельзя поручить тому же глазу, который оценивает картинку. Для рекламы и развлечения цена ошибки здесь низкая; для обучающего материала, инструкции по эксплуатации, демонстрации работы устройства или чего угодно, где зритель будет повторять увиденное, — высокая, и применять генерацию без отдельной проверки нельзя.</a:t>
            </a:r>
          </a:p>
          <a:p>
            <a:r>
              <a:t/>
            </a:r>
          </a:p>
          <a:p>
            <a:r>
              <a:t>И более широкий урок, который переносится далеко за пределы видео. Это общий класс ошибки: признак, который человек использует для оценки, и свойство, которое его на самом деле интересует, могут быть не связаны — и, пока никто не измерил их связь, мы этого не знаем. В языковых моделях тем же свойством обладает беглость текста: гладкость формулировки ничего не говорит о верности утверждения, и курс разбирал это раньше на своём материале. Здесь та же болезнь получила числовое выражение, и именно поэтому кадр стоит в лекции: редко удаётся предъявить измерение для утверждения такого рода.</a:t>
            </a:r>
          </a:p>
          <a:p>
            <a:r>
              <a:t/>
            </a:r>
          </a:p>
          <a:p>
            <a:r>
              <a:t>Что отсюда следует для планирования. Утверждение «следующая версия исправит физику» требует доказательства, которого пока нет: за три года разрыв с воспроизводимостью реальности не закрылся, а связь между реализмом и пониманием не появилась. Планировать надо исходя из того, что проверка физической возможности остаётся снаружи модели и выполняется человеком, который знает предметную область.</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этого пласта цена одна, и она производственная: в прейскуранте её нет, а в смете она должна быть.</a:t>
            </a:r>
          </a:p>
          <a:p>
            <a:r>
              <a:t/>
            </a:r>
          </a:p>
          <a:p>
            <a:r>
              <a:t>Страница документации одного из поставщиков, прочитанная 27 октября 2026 года, сообщает: предварительный доступ к флагманской видеомодели в программном интерфейсе выключен 22 октября 2026 года, разработчикам предложено мигрировать на другую модель. За тринадцать месяцев до этого тот же путь прошёл другой флагман: приложение закрыто 26 апреля 2026 года, программный доступ — 24 сентября 2026 года.</a:t>
            </a:r>
          </a:p>
          <a:p>
            <a:r>
              <a:t/>
            </a:r>
          </a:p>
          <a:p>
            <a:r>
              <a:t>Цикл второго прослеживается целиком, и знать его стоит. Февраль 2024 года: показаны первые примеры, и продюсер Тайлер Перри останавливает расширение студии на 800 миллионов долларов, посмотрев их. Декабрь 2024 года: публичный запуск для подписчиков. 30 сентября 2025 года: второе поколение и приложение; через неделю средства снятия видимого водяного знака расходятся по сети. 11 декабря 2025 года: крупная студия вкладывает миллиард долларов по трёхлетнему лицензионному соглашению, более 200 персонажей внутри сервиса; против — три профсоюза. 24 марта 2026 года: объявлено о прекращении, сделка со студией не состоялась. 26 апреля и 24 сентября 2026 года: закрыто приложение, закрыт программный доступ.</a:t>
            </a:r>
          </a:p>
          <a:p>
            <a:r>
              <a:t/>
            </a:r>
          </a:p>
          <a:p>
            <a:r>
              <a:t>Причины по сообщениям: нехватка вычислительных мощностей, издержки, разворот к корпоративным продуктам. Числа, которые стоит произнести: пользователей на пике около миллиона, затем менее пятисот тысяч; эксплуатация оценочно около миллиона долларов в сутки. Поделите одно на другое — доллар на пользователя в день. Генерация видео не была бесплатной ни секунды; просто платил не пользователь.</a:t>
            </a:r>
          </a:p>
          <a:p>
            <a:r>
              <a:t/>
            </a:r>
          </a:p>
          <a:p>
            <a:r>
              <a:t>Три вывода, и все три инженерные. Первый: остановка стройки на 800 миллионов долларов принята по показанному вместо измеренного — это цена решения, принятого по демонстрационному ролику, и она названа одной цифрой. Второй: два громких случая этой лекции построены на инструменте, который закрылся. Полный метр, заявленный с базой «меньше 30 миллионов долларов и девять месяцев против обычных 100–200 миллионов и трёх лет», после закрытия сервиса остался без технологического партнёра, пропустил заявленную премьеру и сдвинулся на первый квартал 2027 года. Девять месяцев производства против трёх лет ничего не стоят, если инструмент исчез на восьмом месяце. Третий: зависимость от чужого сервиса — проектный риск, и в разряд организационных мелочей он не попадает.</a:t>
            </a:r>
          </a:p>
          <a:p>
            <a:r>
              <a:t/>
            </a:r>
          </a:p>
          <a:p>
            <a:r>
              <a:t>Парный рабочий ответ, без которого раздел был бы обвинением. Обе модели мигрировали, и исчезновением это назвать нельзя: преемник назван прямо на той же странице документации, путь перехода дан, а корпоративный контур отделён от предварительного именно для того, чтобы производственная зависимость не ломалась вслед за экспериментальным интерфейсом. То есть поставщик поступил ровно так, как обещал в условиях предварительного доступа, и претензия тут к тому, кто построил на предварительном интерфейсе производственный конвейер.</a:t>
            </a:r>
          </a:p>
          <a:p>
            <a:r>
              <a:t/>
            </a:r>
          </a:p>
          <a:p>
            <a:r>
              <a:t>Три правила планирования: каждое выведено из абзацев выше, и ни одно не требует веры в чьи-либо прогнозы.</a:t>
            </a:r>
          </a:p>
          <a:p>
            <a:r>
              <a:t/>
            </a:r>
          </a:p>
          <a:p>
            <a:r>
              <a:t>Первое: срок жизни инструмента входит в смету проекта. Если производственный цикл длиннее года, а инструмент живёт на предварительном интерфейсе, вероятность замены внутри цикла придётся оценивать так же, как оценивают риск ухода ключевого подрядчика. Девять месяцев производства — это как раз тот срок, на котором один флагман успел закрыться.</a:t>
            </a:r>
          </a:p>
          <a:p>
            <a:r>
              <a:t/>
            </a:r>
          </a:p>
          <a:p>
            <a:r>
              <a:t>Второе: переносимость важнее качества на демонстрации. Конвейер, в котором модель заменима — описания планов, опорные кадры и порядок сборки хранятся отдельно от конкретного поставщика, — переживает закрытие; конвейер, настроенный под особенности одной модели, закрывается вместе с ней. Практически это означает хранить подсказки, референсы и правила сборки в своём виде, а не в проекте внутри чужого сервиса.</a:t>
            </a:r>
          </a:p>
          <a:p>
            <a:r>
              <a:t/>
            </a:r>
          </a:p>
          <a:p>
            <a:r>
              <a:t>Третье: обучение команды амортизируется медленнее, чем меняются версии. Это и есть тот счёт, который вынесен в заголовок. Пока команда осваивает поведение одной модели, выходят две новые и выключается одна старая; значит, вкладываться надо в то, что переносится между моделями — в постановку задачи, в сборку, в приёмку, — а настройки конкретного поставщика считать расходным материалом.</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за что платят и чего нет в прейскуранте. Прейскурант называет цену одной попытки; производство интересует цена одного годного результата.</a:t>
            </a:r>
          </a:p>
          <a:p>
            <a:r>
              <a:t/>
            </a:r>
          </a:p>
          <a:p>
            <a:r>
              <a:t>Два именных замера, взятых из интервью самих производителей, и один запрет.</a:t>
            </a:r>
          </a:p>
          <a:p>
            <a:r>
              <a:t/>
            </a:r>
          </a:p>
          <a:p>
            <a:r>
              <a:t>«Air Head», апрель 2024 года: собственная оценка авторов — 300 к 1 по отношению исходного материала к вошедшему. Без базы это число не читается, поэтому база называется рядом: в классической документалистике отношение отснятого к вышедшему считается десятками к одному, а в постановочной рекламе — порядка десяти к одному. Значит, модель не изобрела отбор — она увеличила его на порядок-полтора против того режима, которому подражает. Поправка к привычному рассказу: отбор существовал всегда и всегда стоил человеческого времени; изменилось то, сколько материала приходится просеивать.</a:t>
            </a:r>
          </a:p>
          <a:p>
            <a:r>
              <a:t/>
            </a:r>
          </a:p>
          <a:p>
            <a:r>
              <a:t>Toys "R" Us, июнь 2024 года: сотни итеративных планов сжаты до пары десятков на ролик длиной 66 секунд. Это единственное защитимое в публичном поле отношение генераций к годному результату: оно названо первоисточником, с именами студии и режиссёра. Именно поэтому его нельзя переносить на другие кампании — у кампании с семьюдесятью тысячами клипов доля вошедших не раскрыта нигде, и подставлять туда это отношение значит выдумывать число, выдавая его за измеренное.</a:t>
            </a:r>
          </a:p>
          <a:p>
            <a:r>
              <a:t/>
            </a:r>
          </a:p>
          <a:p>
            <a:r>
              <a:t>И запрет. Ходовые цифры «три генерации на годный кадр» и «шесть-двенадцать генераций на один удачный» в этой лекции не употребляются: они происходят из материалов сайтов, продающих генерацию, и не содержат ни методологии, ни выборки. Два замера выше — другой класс доказательства, и разница между ними принципиальна. Полезно унести именно это различение: число, названное тем, кто продаёт инструмент, и число, названное тем, кто инструментом пользовался и отчитался о результате, — разные виды сведений, и смешивать их нельзя даже тогда, когда они совпадают.</a:t>
            </a:r>
          </a:p>
          <a:p>
            <a:r>
              <a:t/>
            </a:r>
          </a:p>
          <a:p>
            <a:r>
              <a:t>Отсюда правило, одинаковое для всех трёх разобранных модальностей: единица учёта — то, что ушло заказчику. Любой расчёт экономии по прейскуранту за генерацию завышен ровно во столько раз, каков коэффициент отбора, и этот коэффициент для вашей задачи никто, кроме вас, не измерит. Практически это означает: прежде чем планировать экономию, сделайте небольшую серию и посчитайте, сколько попыток ушло на одну годную именно в вашей задаче, именно с вашими требованиями к результату.</a:t>
            </a:r>
          </a:p>
          <a:p>
            <a:r>
              <a:t/>
            </a:r>
          </a:p>
          <a:p>
            <a:r>
              <a:t>Рабочий ответ отрасли на эту цену тоже существует и уже оформился продуктово. Главный источник брака — непостоянство персонажа между планами, значит и рычаг на коэффициент отбора известен — закрепить облик до генерации: сначала фиксируется персонаж и набор референсов, потом генерируются планы. Модель, вышедшая 15 октября 2026 года, принимает до десяти опорных кадров и до пятнадцати референсов на одну генерацию — это продуктовый ответ ровно на эту задачу.</a:t>
            </a:r>
          </a:p>
          <a:p>
            <a:r>
              <a:t/>
            </a:r>
          </a:p>
          <a:p>
            <a:r>
              <a:t>Что из этого переносится в вашу работу. Коэффициент отбора измеряется только на своей задаче и только своей серией: чужое отношение, даже честно названное первоисточником, описывает чужие требования к результату. Серия из двадцати-тридцати генераций с теми же требованиями, которые предъявит заказчик, даёт собственное число за полдня — и это число, а не прейскурант, надо класть в смету. Тот же приём работает и в обратную сторону: если серия показала отношение хуже, чем у похожей опубликованной работы, разница обычно сидит в том, насколько жёстко описан годный результат, и лишь потом в модели.</a:t>
            </a:r>
          </a:p>
          <a:p>
            <a:r>
              <a:t/>
            </a:r>
          </a:p>
          <a:p>
            <a:r>
              <a:t>И напоследок о том, почему отбор назван скрытой ценой, а не просто ценой. В смете он не стоит отдельной строкой ни у кого: прейскуранты считают генерации, подрядчики считают дни, а время на просмотр сотен клипов растворяется в слове «постпродакшн». Строка появляется только тогда, когда её туда поставят руками, и поставить её — часть инженерной работы, а не бухгалтерской.</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Накопительная карта после трёх разделов заполнена на три колонки из пяти. Строка «породить первое приближение» растёт слева направо на порядок при каждом переходе, и карта показывает ровно это: чем дороже единица выхода, тем больше попыток приходится просеивать, чтобы получить одну годную. Дешевизна попытки и дороговизна выбора растут вместе. Под сеткой идёт полоса адреса платежа: у изображения это отбор и права, у звука — права и узнавание, у видео — отбор.</a:t>
            </a:r>
          </a:p>
          <a:p>
            <a:r>
              <a:t/>
            </a:r>
          </a:p>
          <a:p>
            <a:r>
              <a:t>Вывод раздела, в трёх частях. Где польза: производство отдельного плана подешевело на три порядка, и это посчитано от классического режима трижды — микродрама с миллиона юаней до 50–100 тысяч, рекламный ролик с сорока тысяч долларов до двух тысяч, производственный цикл крупной кампании с года до месяца. Ни в одном из трёх случаев выигрыш не считался от нуля. Где границы: между кадрами нет объекта, который «тот же»; физика выучена как корреляция, и лучшая модель даёт 29,5 процента от воспроизводимости самой реальности; длина и разрешение покупаются нелинейно — втрое по разрешению стоит сорокакратно по времени обучения. Какая нагрузка идёт дальше: отбор — 400 генераций на 15 склеек, 300 к одному, сотни планов на пару десятков; и устойчивость инструмента — два флагмана выключены за тринадцать месяцев, и фильм, построенный на одном из них, сдвинулся на год.</a:t>
            </a:r>
          </a:p>
          <a:p>
            <a:r>
              <a:t/>
            </a:r>
          </a:p>
          <a:p>
            <a:r>
              <a:t>Технический вывод на материале раздела: главный рычаг — токенизатор. Коэффициент сжатия автокодировщика, поднятый до 32, сократил число токенов с 76 до 19 тысяч и опустил стоимость обучения коммерческой видеомодели до двухсот тысяч долларов; размер модели при этом остался прежним.</a:t>
            </a:r>
          </a:p>
          <a:p>
            <a:r>
              <a:t/>
            </a:r>
          </a:p>
          <a:p>
            <a:r>
              <a:t>Как читать карту вслух. Первая строка отвечает на вопрос «можно ли этим вообще начать работу» и по всем трём заполненным колонкам отвечает «да, и дёшево». Вторая отвечает на вопрос «можно ли этим закончить» и по всем трём колонкам упирается в ручную работу человека: правку, отбор, склейку. Третья — единственная, где у модели есть честная метрика и верхняя граница, вычисленная при знании ответа. Три нижние строки заполнены словом «нет» или «неприменимо», и в каждой клетке названа причина отказа, а не одно голое слово «нет». Пустых клеток в заполненных колонках нет, и это обязательное свойство карты: там, где измеренного случая у нас не нашлось, сказано, что именно известно и чего не хватает.</a:t>
            </a:r>
          </a:p>
          <a:p>
            <a:r>
              <a:t/>
            </a:r>
          </a:p>
          <a:p>
            <a:r>
              <a:t>Две колонки ещё впереди — трёхмерная сцена и распознавание. Строки при этом не изменятся ни разу: карта накапливается колонками, и переписывать их не придётся. Это и есть её польза как инструмента — к концу вечера шесть типов задач окажутся проверены на пяти модальностях одним и тем же вопросом, и сравнивать модальности между собой можно будет построчно, не держа в голове пять разных рассказов.</a:t>
            </a:r>
          </a:p>
          <a:p>
            <a:r>
              <a:t/>
            </a:r>
          </a:p>
          <a:p>
            <a:r>
              <a:t>Отдельно стоит сказать, чего карта не делает. Она не сравнивает модальности по качеству и не говорит, какая из них «лучше»: клетка «0,034–0,05 доллара за изображение» и клетка «цена выпуска ниже в 10–20 раз» измерены в разных единицах и рядом стоят только потому, что отвечают на один и тот же вопрос. Карта отвечает на вопрос «что здесь вообще можно поручить модели», а не на вопрос «где она сильнее». Второй вопрос в такой сетке не решается, и попытка вычитать из неё рейтинг модальностей — самая вероятная ошибка чтения.</a:t>
            </a:r>
          </a:p>
          <a:p>
            <a:r>
              <a:t/>
            </a:r>
          </a:p>
          <a:p>
            <a:r>
              <a:t>Пользоваться картой за пределами лекции проще всего так: взять свою задачу, определить, в какую из шести строк она попадает, и прочитать клетку своей модальности. Если в клетке число — есть измеренный случай, и можно оттолкнуться от него. Если «нет» с причиной — причина названа, и она обычно сильнее любой настройки. Если «неприменимо» — вопрос к этой стадии не задаётся, и это тоже ответ.</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про движущееся изображение закончился скрытой ценой отбора: триста проб на одну годную склейку в «Air Head», сотни планов на несколько десятков в монтаже у Toys "R" Us. Трёхмерная стадия — следующая по порядку производства и последняя из порождающих модальностей вечера. Она отличается от трёх предыдущих одним свойством, и это свойство стоит держать в голове весь раздел: здесь выход не обязан быть убедительным с какой-то одной точки зрения, он обязан быть верным со всех сторон сразу.</a:t>
            </a:r>
          </a:p>
          <a:p>
            <a:r>
              <a:t/>
            </a:r>
          </a:p>
          <a:p>
            <a:r>
              <a:t>Разница не риторическая, она прямо переводится в деньги. Плоское изображение проверяется одним взглядом: если картинка хороша в том виде, в котором её покажут, работа закончена. Кадр видео проверяется одним взглядом, продлённым на несколько секунд, — к требованию добавляется только связность во времени. Трёхмерный объект проверяется неизвестно откуда: его поставят в другую сцену, под другой свет, в другую позу, и сделают это, возможно, другие люди через полгода после того, как он был сдан. Поэтому «готовым» он считается не тогда, когда красиво выглядит, а тогда, когда готовы все его слои — геометрия, развёртка под рисунок, материалы и скелет, — и сломанный последний слой обесценивает первые три: красивая форма, которая рвётся в локте при первом же сгибе, в производство не идёт.</a:t>
            </a:r>
          </a:p>
          <a:p>
            <a:r>
              <a:t/>
            </a:r>
          </a:p>
          <a:p>
            <a:r>
              <a:t>Из этого следует и порядок стадии в производстве, и главное её свойство. Трёхмерная стадия решает, какой будет форма, до того как в эту форму вложатся все последующие стадии: анимация деформирует сетку по костям, расчёт ткани считает натяжение по рёбрам, свет считается по нормалям к поверхности, наложение рисунка — по развёртке. Любая ошибка в геометрии переезжает вправо во всё, что за ней идёт, и дорожает на каждом шаге. Переделать сетку после того, как по ней поставлена анимация, означает переделать и анимацию.</a:t>
            </a:r>
          </a:p>
          <a:p>
            <a:r>
              <a:t/>
            </a:r>
          </a:p>
          <a:p>
            <a:r>
              <a:t>Второе, что надо сказать на входе, касается уже состояния наших сведений о предмете, и честнее сделать это сразу, чем в конце раздела оговоркой. В четырёх остальных модальностях вечера есть случаи, где посчитаны обе стороны: сколько стоило без модели и сколько стало с ней. В трёхмерном таких случаев в открытых источниках нет ни одного. Сколько занимает тот же объект у моделлера, не названо нигде; цен трёхмерной генерации за единицу выхода нет вовсе. Модальность молодая — промышленное применение массово пошло в 2024–2026 годах, а замеров, которые можно цитировать, ещё не опубликовано.</a:t>
            </a:r>
          </a:p>
          <a:p>
            <a:r>
              <a:t/>
            </a:r>
          </a:p>
          <a:p>
            <a:r>
              <a:t>Отсюда устройство раздела. Перекос в сторону устройства здесь сознательный: у трёхмерного отличное, измеренное, рецензируемое устройство и совсем бедная сторона случаев. Маскировать этот перекос кратностями из рекламных страниц нельзя — кратность вида «в тысячу раз быстрее художника» получается делением измеренного числа на оценку, взятую из воздуха. Отсутствие публичных замеров у технологии, которой два года, — само по себе полезное сведение: оно говорит о зрелости точнее, чем любое красивое число неизвестного происхождения.</a:t>
            </a:r>
          </a:p>
          <a:p>
            <a:r>
              <a:t/>
            </a:r>
          </a:p>
          <a:p>
            <a:r>
              <a:t>Единственный случай раздела с прослеживаемым исходом — показ «Волшебника страны Оз» на сферическом экране в Лас-Вегасе. У него две неудобные особенности, и обе будут названы на его собственном кадре: строго говоря, это не трёхмерный случай, и у него нет значительной части того, чего требует форма подробного разбора. Он стоит здесь потому, что других случаев с прослеживаемым исходом у модальности нет, и потому, что он про то же самое свойство — про то, что считается снятым.</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Трёхмерная графика — единственная модальность вечера, где три разные вещи ходят под одним словом, и путаница между ними первой сбивает любой разговор о генеративных моделях в этой области. Развести их стоит сразу и держать врозь весь раздел.</a:t>
            </a:r>
          </a:p>
          <a:p>
            <a:r>
              <a:t/>
            </a:r>
          </a:p>
          <a:p>
            <a:r>
              <a:t>Трёхмерный ассет — это объект, и состоит он из слоёв, у каждого из которых в производстве свой исполнитель, свой срок и своя приёмка. Геометрия — сетка многоугольников. Развёртка — разрезание поверхности по спланированным швам и раскладка её в плоскость, чтобы на неё можно было нанести рисунок. Материалы и карты — цвет, шероховатость, отражение, микрорельеф. Скелет и привязка — кости, веса вершин и управляющие элементы, по которым объект потом двигают. Готовым ассет считается только тогда, когда готовы все четыре слоя.</a:t>
            </a:r>
          </a:p>
          <a:p>
            <a:r>
              <a:t/>
            </a:r>
          </a:p>
          <a:p>
            <a:r>
              <a:t>Трёхмерная сцена — это набор ассетов плюс то, что делает из них изображение: освещение, камера, атмосфера, материалы окружения. Сцена отвечает на вопрос «как это выглядит отсюда» и отвечает столько раз, сколько в кадре положений камеры. Реальное время, в отличие от первых двух, вообще не про содержимое — это бюджет. Кадр либо успевает посчитаться за отведённое ему время, либо не успевает; при шестидесяти кадрах в секунду у него есть 16,7 миллисекунды, и в них обязаны уместиться все расчёты разом. Кинематографический кадр считается минутами и часами, и разрыв в четыре-пять порядков объясняет, почему один и тот же объект в кино несёт миллионы многоугольников, а в игре — десятки тысяч.</a:t>
            </a:r>
          </a:p>
          <a:p>
            <a:r>
              <a:t/>
            </a:r>
          </a:p>
          <a:p>
            <a:r>
              <a:t>Вход стадии бывает трёх видов. Первый — снимки реального объекта или места плюс вычисленные по ним положения камер; задача называется восстановлением, и её вопрос сформулирован ровно так в учредительной работе по полям излучения: получить любой вид, включая те, с которых никто не снимал. Второй — описание словами или плоское изображение; задача называется порождением, и здесь нет ни одного снимка, с которым можно сверить результат, а значит, нет и понятия правильности — есть только пригодность. Третий — уже готовая сцена плюс служебные данные движка: векторы движения и буфер глубины. Эта деталь отличает третий случай от всех остальных в лекции: сеть здесь не угадывает движение из пикселей, ей его сообщают. Там, где у генератора картинок на входе только текст, здесь на входе геометрически точная служебная информация, и именно поэтому задача решается за миллисекунду, а не за полминуты.</a:t>
            </a:r>
          </a:p>
          <a:p>
            <a:r>
              <a:t/>
            </a:r>
          </a:p>
          <a:p>
            <a:r>
              <a:t>Разница между первым и вторым входом принципиальна для суждения о результате. Восстановление проверяемо: отложите часть снимков, восстановите сцену по остальным, сравните предсказанный вид с отложенным снимком — получите число. Отраслевая мера называется пиковым отношением сигнала к шуму и измеряет в децибелах, насколько предсказанная картинка совпала с настоящей; двадцать семь децибел — рабочий уровень для сложной уличной сцены, двадцать девять — для интерьера. У порождения отложенного снимка нет, поэтому нет и сопоставимой меры.</a:t>
            </a:r>
          </a:p>
          <a:p>
            <a:r>
              <a:t/>
            </a:r>
          </a:p>
          <a:p>
            <a:r>
              <a:t>Решение, которое принимает стадия, стоит назвать отдельно, потому что из него следует её место в порядке производства. Стадия утверждает форму — и утверждает её до того, как в эту форму вложатся все последующие работы. Анимация деформирует сетку по костям. Расчёт ткани считает натяжение по рёбрам. Свет считается по нормалям к поверхности. Наложение рисунка идёт по развёртке. Каждая из этих работ опирается на геометрию как на данность, поэтому любая ошибка в геометрии переезжает вправо во всё, что за ней идёт, и дорожает на каждом шаге. Переделать сетку после того, как по ней поставлена анимация, означает переделать и анимацию. Именно поэтому трёхмерная стадия стоит в производстве там, где стоит, и именно поэтому единица её выхода самая дорогая в ряду модальностей вечера: плоский кадр обязан быть убедителен с одной точки зрения, кадр видео — с одной точки и на протяжении нескольких секунд, а трёхмерный объект верен со всех сторон сразу и во всех позах, включая те, в которые его поставят через полгода другие люди для другой сцены.</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Классический конвейер ассета состоит из девяти стадий, и назвать их по именам важно по одной причине — граница применимости генератора пройдёт ровно по этому списку: три стадии он закрывает, четыре оставляет людям нетронутыми. Самая дешёвая из девяти — блокинг, грубая форма из коробок и цилиндров, на которой проверяют силуэт и пропорции; она существует для того, чтобы выбросить неудачный замысел до того, как в него вложится детализация. Стоимость отказа на блокинге измеряется часами, на стадии анимации — неделями.</a:t>
            </a:r>
          </a:p>
          <a:p>
            <a:r>
              <a:t/>
            </a:r>
          </a:p>
          <a:p>
            <a:r>
              <a:t>Перечислить девять стадий по именам надо целиком: без имён эту границу негде будет провести. Первый участок — поиск облика. Концепт: изображение или набросок, по которому принимается решение «делаем или не делаем». Блокинг: грубая форма из коробок, цилиндров и сфер, на которой проверяют силуэт и пропорции. Скульптинг: доведение формы до миллионов треугольников, когда появляются складки, поры и мелкий рельеф.</a:t>
            </a:r>
          </a:p>
          <a:p>
            <a:r>
              <a:t/>
            </a:r>
          </a:p>
          <a:p>
            <a:r>
              <a:t>Второй участок — подготовка к производству, и он самый дорогой. Ретопология: поверх вылепленной формы строится заново чистая сетка — та, по которой потом можно будет анимировать, с петлями рёбер вокруг суставов, рта и века. Развёртка: поверхность разрезается по спланированным швам и раскладывается в плоскость, чтобы на неё можно было нанести рисунок без искажений и без видимых стыков. Текстурирование: по этой развёртке рисуются карты цвета, шероховатости, отражения и микрорельефа. Риггинг: внутрь ставится скелет, вершины привязываются к костям с весами, сверху собираются управляющие элементы, которыми объект потом двигают.</a:t>
            </a:r>
          </a:p>
          <a:p>
            <a:r>
              <a:t/>
            </a:r>
          </a:p>
          <a:p>
            <a:r>
              <a:t>Третий участок — использование. Анимация и расчёт ткани: форма деформируется по костям, ткань и волосы считаются физикой. Рендер и сборка: из сцены получается изображение, которое пойдёт в монтаж.</a:t>
            </a:r>
          </a:p>
          <a:p>
            <a:r>
              <a:t/>
            </a:r>
          </a:p>
          <a:p>
            <a:r>
              <a:t>Девять стадий, собранные в три участка, — это и есть «как это делали без модели», и делали так тридцать лет. Внутри каждого участка стоимость отказа разная, и разница эта не косметическая: выбросить неудачный замысел на блокинге стоит часов, на стадии анимации — недель. Весь порядок конвейера построен ровно на этой арифметике: сначала дешёвые решения о форме, потом дорогие вложения в неё. Когда дальше в разделе речь пойдёт о том, что генератор «выдаёт ассет за восемь секунд», держите этот список перед глазами и спрашивайте, какие именно из девяти стадий он закрывает. Ответ окажется неожиданно скромным, и он виден прямо из устройства метода, а не из чьих-то оценок.</a:t>
            </a:r>
          </a:p>
          <a:p>
            <a:r>
              <a:t/>
            </a:r>
          </a:p>
          <a:p>
            <a:r>
              <a:t>Из этого же списка видно, почему автоматический скелет, которым хвалятся генераторы с 2026 года, не закрывает риггинг. Скелет ставится поверх той сетки, которая есть; если сетка построена не по анатомии, кости окажутся в ней там, где удобно алгоритму, а не там, где у объекта сгибается сустав. Деформация при этом будет считаться честно — и честно давать смятую поверхность на каждом сгибе.</a:t>
            </a:r>
          </a:p>
          <a:p>
            <a:r>
              <a:t/>
            </a:r>
          </a:p>
          <a:p>
            <a:r>
              <a:t>И последнее, что стоит унести с этого кадра. Конвейер из девяти стадий — не бюрократия и не наследие: это порядок, в котором дешёвые решения принимаются раньше дорогих. Любая технология, которая обещает «пропустить середину», обязана ответить, кто теперь принимает те решения, которые принимались на пропущенных стадиях, и за чей счёт исправляются ошибки, которые на них ловились. Это вопрос, который стоит задавать не только про трёхмерную графику.</a:t>
            </a:r>
          </a:p>
          <a:p>
            <a:r>
              <a:t/>
            </a:r>
          </a:p>
          <a:p>
            <a:r>
              <a:t>Стоит назвать и единицу, в которой этот конвейер меряют в производстве. Она человеко-центричная: не «миллионы треугольников», а человеко-дни на ассет и число кругов правок до приёмки. В этой единице три стадии второго участка — ретопология, развёртка и риггинг — и оказываются самыми дорогими: они требуют не вкуса, а знания анатомии, знания того, как объект будет двигаться, и дисциплины. Именно поэтому их отдают отдельным специалистам, а не художнику, который вылепил форму.</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Способов получить исходные данные в производстве пять, и перечислять их стоит полностью, потому что дальше придётся сказать, какие из них модель затронула. Фотограмметрия: объект обходят с камерой и снимают сотнями кадров с перекрытием, после чего процедура калибровки по движению камеры восстанавливает, откуда каждый кадр сделан, и попутно выдаёт разреженное облако точек — несколько десятков тысяч точек, уверенно опознанных на нескольких снимках сразу. Это облако стоит запомнить: через несколько кадров оно окажется стартовой точкой самого быстрого метода восстановления, который отрасль знает. Дальше лазерное сканирование, ручное моделирование, захват движения и покупка готового ассета из каталога.</a:t>
            </a:r>
          </a:p>
          <a:p>
            <a:r>
              <a:t/>
            </a:r>
          </a:p>
          <a:p>
            <a:r>
              <a:t>Остальные четыре способа стоит назвать так же подробно. Лазерное сканирование: прибор измеряет расстояние до поверхности и строит облако точек напрямую — точнее фотограмметрии по геометрии и беднее по цвету. Ручное моделирование в редакторе: единственный способ получить объект, которого в природе не существует, и до 2022 года единственный способ вообще. Захват движения: даёт не форму, а изменение формы во времени — то, как объект двигается. Покупка готового ассета из каталога: самый дешёвый путь и самый узкий, потому что берёте вы то, что кто-то уже сделал, а не то, что вам нужно.</a:t>
            </a:r>
          </a:p>
          <a:p>
            <a:r>
              <a:t/>
            </a:r>
          </a:p>
          <a:p>
            <a:r>
              <a:t>Теперь то, ради чего список приведён полностью. Обученная модель добавила к этим пяти шестой вход — текстовое описание. Это новый способ, которого не было вовсе: раньше, чтобы получить объект, нужно было либо снять существующий, либо вылепить несуществующий руками. Кроме того, модель заметно удешевила первый способ: набор снимков превращается в пригодную сцену за минуты вместо суток, и дальше в разделе это будет показано числами. Остальные четыре способа она оставила ровно такими, какими они были.</a:t>
            </a:r>
          </a:p>
          <a:p>
            <a:r>
              <a:t/>
            </a:r>
          </a:p>
          <a:p>
            <a:r>
              <a:t>Отдельно стоит задержаться на лазерном сканере, и задержаться не ради полноты списка. Сканер как мерил размеры, так и мерит: его выход — это координаты в метрах, с погрешностью, которую можно назвать. Ни один из входов, появившихся вместе с обученной моделью, размеров не даёт и дать не может, и через несколько кадров раздел покажет, почему это ограничение не закрывается следующей версией модели, а следует из устройства метода. Запомните эту асимметрию: приборные способы получения данных измеряют, порождающие — правдоподобно выглядят. Для инженера это ровно та развилка, по которой выбирают инструмент: если результат пойдёт в чертёж, на станок или в расчёт, вам нужен способ, который меряет, а не способ, который угадывает.</a:t>
            </a:r>
          </a:p>
          <a:p>
            <a:r>
              <a:t/>
            </a:r>
          </a:p>
          <a:p>
            <a:r>
              <a:t>Полезно заметить и то, чего в этом списке нет ни у одного из шести входов. Ни фотограмметрия, ни сканирование, ни захват движения, ни каталог, ни ручное моделирование, ни текстовое описание не дают ответа на вопрос «кто автор исходных данных и на каких условиях их можно использовать». У первых четырёх ответ известен из обстоятельств съёмки или из договора на каталог; у шестого его нет нигде, потому что форма получена снятием шума, а не взята из одного обучающего примера. Эта строка — «ответить кто отвечает» — останется пустой в накопительной карте вечера и у трёхмерного, и у всех остальных порождающих модальностей.</a:t>
            </a:r>
          </a:p>
          <a:p>
            <a:r>
              <a:t/>
            </a:r>
          </a:p>
          <a:p>
            <a:r>
              <a:t>Для практики из всего этого следует простая проверка, которую можно сделать до того, как выбирать инструмент. Выпишите, что у вас на входе: снимки существующего объекта, прибор, который его меряет, запись движения, каталог или одно только описание словами. Вход определяет задачу, задача определяет, есть ли у результата проверяемый ответ, а наличие проверяемого ответа определяет, можно ли вообще оценивать работу числом. Там, где на входе снимки, у вас есть отложенный кадр и мера совпадения. Там, где на входе только слова, меры не существует — и всякий, кто называет вам в этом случае процент качества, считает его от чего-то, чего он вам не показал.</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единственный случай раздела с прослеживаемым исходом, и прежде чем его разбирать, надо сказать о нём две неудобные вещи. Первая: строго говоря, это не трёхмерный случай. Здесь нет ни одного трёхмерного ассета и ни одной восстановленной сцены — здесь повышение разрешения и достройка кадра по сторонам. Он стоит в этом разделе потому, что других случаев с прослеживаемым исходом у модальности нет и что он про то же свойство — про то, что считается снятым. Вторая: многого из того, чего требует форма подробного разбора, у него нет, и каждый пробел назван на своём месте, а не замазан.</a:t>
            </a:r>
          </a:p>
          <a:p>
            <a:r>
              <a:t/>
            </a:r>
          </a:p>
          <a:p>
            <a:r>
              <a:t>Цену обеих ошибок назвать нельзя. Ни стоимости классической доработки архивного фильма под нестандартный экран, ни цены отказа от доработки — «показать как есть и не собрать зал» — в источниках нет. Искали смету проекта либо сопоставимую смету реставрации полнометражного фильма; ни правообладатель, ни технологический партнёр, ни площадка цифр не публиковали. Единственное число приходит со стороны исхода: более 2,2 миллиона проданных билетов с августа 2025 года по начало 2026-го. База, без которой это число не читается, здесь смысловая, а не числовая: билеты проданы на показ фильма 1939 года выпуска, доступного к просмотру где угодно и бесплатно. Платят за единственное, чего нет нигде, — за формат показа.</a:t>
            </a:r>
          </a:p>
          <a:p>
            <a:r>
              <a:t/>
            </a:r>
          </a:p>
          <a:p>
            <a:r>
              <a:t>Что сделала модель, известно точно, хотя измерена только её собственная сторона: свыше девяноста процентов фильма тронуто. Кадр 4:3 достроен по сторонам до кадра гигантского сферического экрана — то есть домыслено то, чего Виктор Флеминг не снимал: продолжения декораций, края толпы, куски неба и дороги, которых не было в кадре 1939 года. Сами авторы проекта формулируют это прямо: то, что они делают, — «не реставрация в духе Скорсезе». Перед нами новое произведение по мотивам, и спор об этом содержательный, а не вкусовой. Реставрация восстанавливает то, что было, и останавливается там, где сведений больше нет; здесь работа продолжается за этой границей.</a:t>
            </a:r>
          </a:p>
          <a:p>
            <a:r>
              <a:t/>
            </a:r>
          </a:p>
          <a:p>
            <a:r>
              <a:t>Переехала граница между восстановлением и выдумыванием — и переехала молча, без объявления, внутри работы, которую зритель покупает как «тот самый фильм». Сдвиг этой границы не измеряется деньгами и не появляется ни в какой смете; он виден только тогда, когда кто-то задаёт вопрос, который в этом разборе задать некому. Платят здесь узнаванием: зритель, купивший билет, не может по изображению отличить кадр Флеминга от кадра, собранного моделью. Случай стоит запомнить — через два раздела он встанет в пару со свитком Геркуланума.</a:t>
            </a:r>
          </a:p>
          <a:p>
            <a:r>
              <a:t/>
            </a:r>
          </a:p>
          <a:p>
            <a:r>
              <a:t>Классических режимов здесь два, и оба названы без чисел. Первый — реставрация и доработка под купол обычным путём; практика существует, её стоимости в источниках нет. Второй — показать оригинальный кадр 4:3 без достройки, оставив остальной экран тёмным; этот вариант авторы проекта называют сами как рассмотренный и отвергнутый, числа у него тоже нет. Поскольку ни один классический режим не посчитан, никакого выигрыша разбор не объявляет вовсе: выигрыш, посчитанный от нуля, ничего не измеряет, и подставлять на место пустой базы кратность из сообщения для прессы запрещено.</a:t>
            </a:r>
          </a:p>
          <a:p>
            <a:r>
              <a:t/>
            </a:r>
          </a:p>
          <a:p>
            <a:r>
              <a:t>Устройство известно по именам изделий. На входе — исходная плёнка 1939 года, кадр 4:3; на выходе — изображение под сферический экран. Достройку и дорисовку делали Imagen, Veo и Gemini, повышение разрешения и работу с зерном — Topaz Video AI; партнёром по правам выступила Warner Bros. Оригинальная партитура Герберта Стотхарта перезаписана, добавлены эффекты зала. На чём обучены применённые модели, не раскрыто. И второй существенный пробел разбора: кто и по какому критерию принимал покадровое решение «достраивать или нет», не описано ни в одном доступном источнике. Именно в этом месте должен был бы стоять названный человек с названным порогом, и его там нет; безымянного исполнителя на кадр выносить незачем.</a:t>
            </a:r>
          </a:p>
          <a:p>
            <a:r>
              <a:t/>
            </a:r>
          </a:p>
          <a:p>
            <a:r>
              <a:t>Запомните эту пару чисел в правильном порядке: свыше девяноста процентов кадра тронуто — и ни одной опубликованной цены ни у одного классического режима. Первое число звучит сильно и измерено только с одной стороны; второе — молчание, и молчание это ровно того рода, которое в рекламных материалах заполняют красивой кратностью. Разбор здесь кратность не называет сознательно, и это решение, а не пробел подготовки: выигрыш, посчитанный от нуля, не измеряет ничего, кроме готовности считавшего.</a:t>
            </a:r>
          </a:p>
          <a:p>
            <a:r>
              <a:t/>
            </a:r>
          </a:p>
          <a:p>
            <a:r>
              <a:t>Повторю формулировку, потому что она — несущий инженерный приём всего вечера. Чтобы назвать выигрыш, нужны обе стороны в одной единице: сколько стоила работа классическим режимом и сколько стала стоить с моделью. Здесь есть только вторая половина — и вторая половина измерена вдобавок не в деньгах, а в доле тронутого кадра, то есть вообще в другой единице, чем та, в которой считалась бы классическая доработка. Две разные единицы рядом не образуют сравнения; они образуют впечатление.</a:t>
            </a:r>
          </a:p>
          <a:p>
            <a:r>
              <a:t/>
            </a:r>
          </a:p>
          <a:p>
            <a:r>
              <a:t>Болезненнее всего в этом разборе — не деньги: они здесь, может быть, и правда коммерческая тайна. Дыра в том, что не описано, кто и по какому порогу принимал покадровое решение «достраивать или нет». Это и есть то самое место, где проходит граница между реставрацией и сочинением, и это решение принимал живой человек — иначе кадр не вышел бы. В любом разборе, который вам покажут, ищите место, где названо решение и тот, кто его принял. Названная технология этого места не заменяет. Там, где решение есть, а принявшего нет, вам показывают описание изделия.</a:t>
            </a:r>
          </a:p>
          <a:p>
            <a:r>
              <a:t/>
            </a:r>
          </a:p>
          <a:p>
            <a:r>
              <a:t>Для практики отсюда следует короткая проверка. Увидев заявление вида «система сделала X», задайте три вопроса по порядку: в какой единице измерен X; в той же ли единице измерено то, что было до системы; и названо ли, кто внутри процесса принимал решения, которые нельзя автоматизировать. Если на первый вопрос ответ есть, а на второй и третий нет — перед вами сообщение для прессы, даже если оно опубликовано в научном формате.</a:t>
            </a:r>
          </a:p>
          <a:p>
            <a:r>
              <a:t/>
            </a:r>
          </a:p>
          <a:p>
            <a:r>
              <a:t>И ещё одна деталь, важная для чтения любых таких разборов. Имена применённых изделий здесь известны — Imagen, Veo, Gemini для достройки, Topaz Video AI для разрешения и зерна, — а вот на чём эти модели обучены, не раскрыто. Знание названия продукта и знание того, что внутри него, — разные вещи, и первое часто подменяет второе. Для оценки результата важно второе: именно обучающий материал определяет, какие продолжения декораций модель считает правдоподобными, и именно он остаётся за закрытой дверью.</a:t>
            </a:r>
          </a:p>
          <a:p>
            <a:r>
              <a:t/>
            </a:r>
          </a:p>
          <a:p>
            <a:r>
              <a:t>Последнее, что стоит унести с этого кадра. Случай с «Волшебником страны Оз» — не про то, хорошо это или плохо. Он про то, что решение о границе между восстановлением и сочинением было принято внутри производственного процесса, без объявления, и зритель, покупая билет, об этом решении не знает. Через два раздела этот случай встанет в пару со свитками Геркуланума, где техника соседняя — обученная модель восстанавливает изображение, которого в исходных данных нет, — а этика противоположная, и различает их ровно один признак: существует ли независимый способ проверить результат.</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применения, одно сложившееся и два молодых. Каждое стоит здесь ради одного наблюдения, а не ради имени.</a:t>
            </a:r>
          </a:p>
          <a:p>
            <a:r>
              <a:t/>
            </a:r>
          </a:p>
          <a:p>
            <a:r>
              <a:t>Первое — светодиодная сцена, и у неё есть точная дата и измеримая установка. В октябре 2019 года заработала StageCraft, первая постоянная сцена виртуального производства, построенная для сериала «Мандалорец». Полукруглая стена из 1 326 светодиодных панелей с шагом пикселя 2,84 миллиметра, высотой шесть метров, дугой двести семьдесят градусов, вокруг площадки диаметром двадцать три метра. Изображение считается в игровом движке в реальном времени и попадает прямо в камеру, а не в постобработку. Внутри этой сцены снято больше половины первого сезона. Стоимость комплекса оценивалась примерно в сто миллионов долларов, но это оценка отраслевых поставщиков, а не официальная цифра студии, и проверять её надо отдельно. К 2024 году в мире работало около ста подобных сцен и ещё не менее полутора сотен строилось.</a:t>
            </a:r>
          </a:p>
          <a:p>
            <a:r>
              <a:t/>
            </a:r>
          </a:p>
          <a:p>
            <a:r>
              <a:t>Наблюдение здесь одно, и для оси вечера оно важное: StageCraft — это уже генерация изображения без съёмки. Фон, который попадает в камеру, никто не снимал — он посчитан. Значит, разница между 2019 годом и 2026-м проходит не по линии «синтетическая картинка против снятой»: картинка была синтетической и тогда. Разница в способе её получить. До генеративных моделей сцену надо было построить вручную в движке, то есть пройти весь конвейер предыдущего кадра для каждого объекта в ней; теперь её можно описать словами. Операция, которая исчезла, — ручное построение сцены, экспедиция за фоном и павильонная постройка декорации.</a:t>
            </a:r>
          </a:p>
          <a:p>
            <a:r>
              <a:t/>
            </a:r>
          </a:p>
          <a:p>
            <a:r>
              <a:t>Второе — промышленные генераторы трёхмерных ассетов, которые к 2026 году перешли от обещаний к срокам. Tripo выдаёт пригодную трёхмерную форму в среднем за восемь секунд; с февраля 2026 года автоматическая постановка скелета покрывает не только человекоподобные формы, но и четвероногих, шестиногих, птиц, змей и водных. Meshy шестой версии заявляет более чистую геометрию и пригодность к печати; из открытых и размещаемых у себя — Hunyuan3D 2.1 и TRELLIS.2.</a:t>
            </a:r>
          </a:p>
          <a:p>
            <a:r>
              <a:t/>
            </a:r>
          </a:p>
          <a:p>
            <a:r>
              <a:t>И здесь нужна прямая фраза, ради которой упоминание и стоит на кадре. Сколько занимает тот же ассет у моделлера, в источниках не названо ни в одном. Оценки, которые встречаются в отраслевых обсуждениях, расходятся на порядок — от нескольких часов до нескольких дней — в зависимости от требований к топологии, а они и есть та переменная, от которой всё зависит. Поэтому восемь секунд стоят без кратности: сказать «в тысячу раз быстрее» означало бы поделить измеренное число на выдуманное. Отсюда рабочее правило: восемь секунд измеряют первую выдачу, а не готовый ассет. Между первой выдачей и тем, что можно поставить в производство, лежат ретопология, развёртка и постановка скелета, и сколько они занимают, этим числом не покрыто вовсе. Сравнивать восемь секунд генератора с днями моделлера — значит сравнивать грубую форму с готовым изделием.</a:t>
            </a:r>
          </a:p>
          <a:p>
            <a:r>
              <a:t/>
            </a:r>
          </a:p>
          <a:p>
            <a:r>
              <a:t>Третье — направление, в котором модальность движется. Август 2025 года, Google DeepMind, Genie 3: по текстовому описанию порождается интерактивная трёхмерная среда в реальном времени. Разрешение 720p, двадцать четыре кадра в секунду, одиннадцать миллиардов параметров, связность среды несколько минут подряд против десяти-двадцати секунд у предшественников того же класса. Следующий кадр предсказывается по текущему состоянию, внутреннему представлению мира и действию пользователя. Про объект, оставленный камерой и увиденный снова, разработчик показал ролик, где стена остаётся покрашенной. Независимая проверка июня 2026 года на двадцати трёх моделях находит у мировых моделей то же ограничение, что и у видеомоделей из раздела про видео: объект возвращается таким, каким его видели последний раз, а не таким, каким стал бы за прошедшее время, — разница лишь в размере окна, минуты вместо секунд.</a:t>
            </a:r>
          </a:p>
          <a:p>
            <a:r>
              <a:t/>
            </a:r>
          </a:p>
          <a:p>
            <a:r>
              <a:t>Почему это стоит отдельной строки. Видеомодель порождает запись — последовательность кадров, которую можно смотреть. Модель мира порождает пространство, в котором можно находиться: кадр зависит от того, что сделал человек. Для игр, для виртуального производства и для тренажёров это другая вещь, а не улучшенная прежняя. Классического режима в тех же единицах здесь нет вовсе, и числа есть только со стороны модели — поэтому это упоминание, а не разбор.</a:t>
            </a:r>
          </a:p>
          <a:p>
            <a:r>
              <a:t/>
            </a:r>
          </a:p>
          <a:p>
            <a:r>
              <a:t>И последнее число, без которого «720p при 24 кадрах в секунду» читается не так, как надо. По числу пикселей в секунду это примерно вчетверо ниже принятого в играх уровня — 1080p при 60 кадрах. Направление, которое называют моделями мира, впечатляет не разрешением и не частотой, а устройством: следующий кадр строится не только по описанию, а по внутреннему состоянию сцены и действию пользователя, и это держит связность среды несколько минут против десяти-двадцати секунд у предшественников того же класса — окно шире, а не постоянство иначе. Случай промышленного применения у направления уже есть: с февраля 2026 года Waymo использует модель на основе Genie 3 для симуляции редких сценариев вождения при подготовке водителей. Посчитанного исхода в нём по-прежнему нет: сравнения с реальными показателями безопасности никто не опубликовал, и сведений о стоимости вывода тоже нет.</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Отсюда идёт ядро раздела: устройство, обеспеченное рецензируемыми работами с опубликованными измерениями. Начинается всё с работы 2020 года о полях излучения. Идея укладывается в одно предложение, и прочесть его стоит медленно: сцена представлена одной небольшой полносвязной сетью — ни многоугольников, ни облака точек в этом представлении нет. Сеть на вопрос «что находится в этой точке пространства, если смотреть на неё с этого направления» отвечает двумя числами — плотностью вещества и цветом, видимым с этого направления. Пять чисел на входе, четыре на выходе. Больше в представлении сцены нет ничего.</a:t>
            </a:r>
          </a:p>
          <a:p>
            <a:r>
              <a:t/>
            </a:r>
          </a:p>
          <a:p>
            <a:r>
              <a:t>Числа из статьи объясняют, почему метод остался в лаборатории. Обучение одной сцены — от суток до двух на одном ускорителе того поколения. Запросов сети на один кадр — сто пятьдесят-двести миллионов. Рендер одного кадра — около тридцати секунд, то есть шесть сотых кадра в секунду. Размер обученной сцены — пять мегабайт весов. Последнюю пару чисел надо читать рядом с классической базой: метод того же назначения, применявшийся до нейросетевых подходов, обучался меньше десяти минут и требовал больше пятнадцати гигабайт на сцену. Поле излучения уместило сцену в пять мегабайт — сжатие примерно в три тысячи раз — и заплатило за это тридцатью секундами на кадр против интерактивного показа у классики. Это пара «дало — потребовало» в чистом виде, и она понадобится сразу, потому что следующий ход истории — ровно обратный размен.</a:t>
            </a:r>
          </a:p>
          <a:p>
            <a:r>
              <a:t/>
            </a:r>
          </a:p>
          <a:p>
            <a:r>
              <a:t>Промежуточный шаг показывает, где в конструкции рычаг. Работа Instant-NGP снизила стоимость обучения с суток до секунд, не трогая саму сеть: поменяли кодирование входа — рядом с сетью поставили многоуровневую обучаемую таблицу признаков и оставили сети маленькую работу поверх неё. Пять минут тридцать семь секунд обучения, 11,7 кадра в секунду, тринадцать мегабайт. Сквозная мысль курса звучит здесь на третьем материале: выигрыш пришёл от смены представления входа, а не от увеличения сети.</a:t>
            </a:r>
          </a:p>
          <a:p>
            <a:r>
              <a:t/>
            </a:r>
          </a:p>
          <a:p>
            <a:r>
              <a:t>Картинка собирается классическим накоплением вдоль луча: из камеры через каждый пиксель пускается луч, вдоль него берутся выборки, плотности и цвета складываются. Ключ к обучению в том, что эта операция дифференцируема: сеть можно учить прямо на наборе снимков с известными положениями камер — предсказали картинку, сравнили с настоящей, поправили веса. Работа 2023 года сменила представление ещё раз. Сцена представлена множеством вытянутых полупрозрачных клякс — у каждой есть положение, форма и ориентация, непрозрачность и цвет, зависящий от направления взгляда. Начинают с того самого разреженного облака точек, которое и так остаётся после калибровки камер, — пустого места здесь нет. Показ здесь — проекция клякс на экран и смешивание их на обычном растеризационном конвейере, под который видеокарты и проектировались последние тридцать лет; в поле излучения каждый пиксель требует сотен прогонов сети вдоль луча, здесь — одна проекция на кляксу. Разница по природе операции, а не по объёму вычислений.</a:t>
            </a:r>
          </a:p>
          <a:p>
            <a:r>
              <a:t/>
            </a:r>
          </a:p>
          <a:p>
            <a:r>
              <a:t>Колонку качества в этой таблице терять нельзя. Двадцать семь и двадцать один против двадцати семи и шестидесяти девяти — разница меньше полудецибела, визуально неразличимая; на интерьерном наборе счёт и вовсе поровну. То есть качество не менялось. Поменялась экономика, и поменялась в обе стороны сразу: обучение и показ ускорились на два-три порядка, а объём сцены вырос почти на два. Авторы называют и дефекты изображения: вытянутые пятнистые кляксы в плохо просмотренных областях, внезапные переключения порядка смешивания при движении камеры и полное отсутствие регуляризации — метод обязан воспроизвести снимки, а не описать сцену физически осмысленно. Типичная сцена после тридцати тысяч шагов — от двухсот до пятисот тысяч гауссиан.</a:t>
            </a:r>
          </a:p>
          <a:p>
            <a:r>
              <a:t/>
            </a:r>
          </a:p>
          <a:p>
            <a:r>
              <a:t>Полная раскладка цены, названная самими авторами, а не их критиками, выглядит так. При обучении больших сцен пиковое потребление видеопамяти, по их словам, «может превышать 20 гигабайт». Показ требует нескольких сотен мегабайт на саму модель сцены и ещё от тридцати до пятисот мегабайт на растеризатор. Это и есть цена, и её стоит читать как образец: в рецензируемой работе проигравшая величина стояла в той же таблице четвёртой колонкой, а в сообщении для прессы её бы там не было.</a:t>
            </a:r>
          </a:p>
          <a:p>
            <a:r>
              <a:t/>
            </a:r>
          </a:p>
          <a:p>
            <a:r>
              <a:t>И практический вывод, который переживёт обе конкретные работы, и ради которого на этот кадр раньше вели отдельным кадром-ответом. Когда вам показывают таблицу из четырёх колонок и три из них улучшились, первым делом ищите четвёртую. Если её в таблице нет, это не значит, что её нет в природе: это значит, что считавший её не показал. В рецензируемой работе авторы сами поставили память рядом со скоростью — потому что рецензент спросил бы. В сообщении для прессы спрашивать некому.</a:t>
            </a:r>
          </a:p>
          <a:p>
            <a:r>
              <a:t/>
            </a:r>
          </a:p>
          <a:p>
            <a:r>
              <a:t>Для практики из сравнения двух устройств следует вопрос, который стоит задавать раньше всех остальных: в каком виде система хранит то, с чем работает. Ответ на него предсказывает и скорость, и объём, и то, какие операции окажутся дешёвыми, а какие невозможными, — задолго до того, как вы увидите чей-нибудь замер.</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сюжет устройства — про порождение объекта, которого нет. Здесь есть измеренный разрыв примерно в пятьсот раз, и обойтись с ним надо аккуратно, иначе получится ложная пара ровно того класса, за который курс бьёт отдельно.</a:t>
            </a:r>
          </a:p>
          <a:p>
            <a:r>
              <a:t/>
            </a:r>
          </a:p>
          <a:p>
            <a:r>
              <a:t>Полтора часа против десяти секунд — разрыв примерно в пятьсот раз. И обязательная оговорка, без которой это число вводит в заблуждение: это сопоставление двух машинных методов между собой, человека в этой паре нет. Никакого «в пятьсот раз быстрее моделлера» здесь не утверждается и утверждаться не может — сколько занимает тот же объект у моделлера, в источниках не названо. Пара сравнивает 2022 год с 2024-м внутри одной инженерной линии, и это её единственное содержание.</a:t>
            </a:r>
          </a:p>
          <a:p>
            <a:r>
              <a:t/>
            </a:r>
          </a:p>
          <a:p>
            <a:r>
              <a:t>Зато содержание у этой пары есть, и вот какое: разрыв возник не от более быстрого железа — оба числа получены на машинах одного класса. Оптимизация через рендер начинает каждый объект с нуля и тратит на него полный цикл подгонки. Диффузия сразу в трёхмерном один раз обучилась на полумиллионе объектов и теперь делает один прямой проход. Это учебный пример переноса стоимости: вычисление не исчезло, оно переехало из момента выдачи в момент обучения, где оплачивается однократно и делится на все последующие запуски. Ту же фигуру курс уже предъявлял на языковых моделях и на плоской генерации; здесь она видна в чистом виде и с измеренным множителем.</a:t>
            </a:r>
          </a:p>
          <a:p>
            <a:r>
              <a:t/>
            </a:r>
          </a:p>
          <a:p>
            <a:r>
              <a:t>Для инженера отсюда следует практический вопрос, который стоит задавать любому поставщику: сколько стоит ваш вывод и сколько стоило ваше обучение. Система, у которой дешёвый вывод, почти наверняка перенесла стоимость в обучение — и это хорошо ровно до тех пор, пока задача не выходит за пределы того корпуса, на котором обучались. За этими пределами дешёвый прямой проход начинает выдавать правдоподобную чепуху с той же скоростью, с какой выдавал пригодный результат.</a:t>
            </a:r>
          </a:p>
          <a:p>
            <a:r>
              <a:t/>
            </a:r>
          </a:p>
          <a:p>
            <a:r>
              <a:t>Полтора часа и десять секунд стоит разложить по стадиям, чтобы было видно, за что именно платят. У первого способа время поровну делится между рендером поля излучения и прогоном плоской диффузионной модели, и полный прогон делается на каждом из пятнадцати тысяч шагов — при рендере в шестьдесят четыре пикселя по стороне. У второго соседняя линия того же семейства даёт честную раскладку: около четырёх секунд на многовидовое изображение и около семи на восстановление геометрии, итого около одиннадцати. Обе раскладки опубликованы авторами, и обе стоит спрашивать у любого поставщика: не «сколько занимает выдача», а «из чего эта выдача складывается».</a:t>
            </a:r>
          </a:p>
          <a:p>
            <a:r>
              <a:t/>
            </a:r>
          </a:p>
          <a:p>
            <a:r>
              <a:t>И короткое предупреждение против частой ошибки чтения. Пятьсот раз — это не «модель стала в пятьсот раз умнее» и не «работа стала в пятьсот раз дешевле». Это расстояние между двумя инженерными решениями одной задачи, разделёнными двумя годами. Человека в этой паре нет вовсе, и любая фраза вида «в пятьсот раз быстрее художника», построенная из этого числа, получена делением измеренного на выдуманное.</a:t>
            </a:r>
          </a:p>
          <a:p>
            <a:r>
              <a:t/>
            </a:r>
          </a:p>
          <a:p>
            <a:r>
              <a:t>Запомните и общую фигуру, потому что встретите её ещё не раз. Стоимость в машинном обучении почти никогда не исчезает — она переезжает. Из выдачи в обучение, из вычислений в данные, из работы инженера в работу разметчика. Вопрос «куда она переехала» заменяет собой вопрос «сколько сэкономили», и ответ на него гораздо честнее.</a:t>
            </a:r>
          </a:p>
          <a:p>
            <a:r>
              <a:t/>
            </a:r>
          </a:p>
          <a:p>
            <a:r>
              <a:t>И один вопрос, который стоит задавать любому поставщику такой системы: сколько стоит ваш вывод и сколько стоило ваше обучение. Дешёвый вывод почти всегда означает, что стоимость перенесена в обучение, — и это хорошо ровно до тех пор, пока ваша задача лежит внутри того корпуса, на котором обучались.</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из всего устройства раздела унести одну мысль, то эту. Обе величины приведены выше и обе измерены. Пять с лишним квадриллионов операций на кадр за полминуты — так считалось поле излучения в 2020 году. Одна миллисекунда на кадр, шестьдесят раз в секунду, пять нейросетей на кадр — так считается нейросетевая графика в игровом компьютере в 2025-м.</a:t>
            </a:r>
          </a:p>
          <a:p>
            <a:r>
              <a:t/>
            </a:r>
          </a:p>
          <a:p>
            <a:r>
              <a:t>Между этими режимами нет ни разных наук, ни разных классов моделей. Архитектура и там и там идёт к трансформеру: поле излучения пришло к нему через диффузию сразу в трёхмерном, графика реального времени — сменой свёрточной модели на трансформерную, причём в том же январе 2025 года. Обучение и там и там градиентным спуском. Разницу создаёт бюджет вычислений на единицу выхода, и различается он примерно в тридцать тысяч раз.</a:t>
            </a:r>
          </a:p>
          <a:p>
            <a:r>
              <a:t/>
            </a:r>
          </a:p>
          <a:p>
            <a:r>
              <a:t>Миллисекунды здесь — несущие числа, и даны они производителем прямой цитатой. В прошлом поколении один кадр 4K генерировался примерно за три с четвертью миллисекунды на флагманской карте того времени. В новом каждый из трёх новых кадров на один отрисованный генерируется в среднем примерно за одну миллисекунду на флагманской карте нынешнего. Приём, которым это достигнуто, стоит назвать: нейросетевая часть разрезана пополам — бо́льшая половина считается один раз на пару входных кадров и переиспользуется, меньшая считается на каждый синтезируемый кадр. Аппаратный ускоритель оптического потока, который в прошлом поколении занимал отдельный блок кремния, заменён нейросетью. На кадр исполняется пять сетей, и всё это укладывается в несколько миллисекунд — иначе, как говорит сам разработчик, технология стала бы замедлителем.</a:t>
            </a:r>
          </a:p>
          <a:p>
            <a:r>
              <a:t/>
            </a:r>
          </a:p>
          <a:p>
            <a:r>
              <a:t>Сеть решает две разные задачи. Первая — повышение разрешения: движок считает кадр в низком разрешении, сеть восстанавливает высокое, опираясь на историю предыдущих кадров плюс векторы движения и буфер глубины, которые ей выдаёт сам движок. Вторая — достройка кадров: модель синтезирует промежуточный кадр между двумя отрисованными. Поколение, выпущенное в январе 2025 года, принесло смену архитектуры, прямо параллельную тому, что происходило в генерации изображений: свёрточную модель заменили трансформерной.</a:t>
            </a:r>
          </a:p>
          <a:p>
            <a:r>
              <a:t/>
            </a:r>
          </a:p>
          <a:p>
            <a:r>
              <a:t>Обязательная вторая половина — чего это не делает, и список «чего не умеет» здесь половина содержания, потому что каждый случай следует из устройства метода, а не из недоработки версии. Задержку ввода достройка кадров не уменьшает: промежуточный кадр показывается между двумя уже готовыми, игрок видит больше кадров, а реакция на его действие не ускоряется ни на миллисекунду — число кадров в секунду выросло, отзывчивость нет, и это ровно тот случай, когда улучшилась метрика, а не то, ради чего метрику вводили. Трудные места производитель называет сам: интерфейс, у которого нет векторов движения — их просто неоткуда взять, потому что интерфейс не часть трёхмерной сцены; блики и отражения, для которых векторы движения неверны по построению, потому что отражение движется не так, как движется отражающая поверхность; частицы, лучи и полупрозрачность, для которых неверен буфер глубины — у полупрозрачного пикселя нет одной глубины. Их формулировка точна: такие эффекты «склонны доминировать в восприятии пользователя, хотя их доля в пикселях относительно мала» — глаз цепляется именно за них, и артефакт там заметнее, чем на любой стене. Отдельно назван шлейф за движущимися объектами — дефект свёрточной модели, ради устранения которого и ставили трансформер.</a:t>
            </a:r>
          </a:p>
          <a:p>
            <a:r>
              <a:t/>
            </a:r>
          </a:p>
          <a:p>
            <a:r>
              <a:t>Для инженера из этого следует рабочее правило, и оно шире графики. Когда обсуждают применение модели в продукте, обсуждают почти всегда бюджет. На вопрос «может ли модель это сделать» сегодня чаще всего отвечают «да», и этот ответ ничего не решает; решают три других — за сколько, сколько раз в секунду и на чьём железе. Нейросетевая графика реального времени существует потому, что кто-то нашёл способ уложить её в шестнадцать миллисекунд. Если система улучшает показатель косвенно — достраивая, предсказывая, интерполируя, — спросите, какие свойства исходного процесса при этом сохранились, а какие нет: обычно сохраняется то, что меряет показатель, и теряется то, ради чего показатель вводили.</a:t>
            </a:r>
          </a:p>
          <a:p>
            <a:r>
              <a:t/>
            </a:r>
          </a:p>
          <a:p>
            <a:r>
              <a:t>Позиции этого рынка меняются ежеквартально, и числа выше стоит сверять в день чтения. За год после описанного поколения произошло два отдельных события, которые легко слить в одно: в январе 2026 года вышло второе поколение трансформерной модели повышения разрешения, а тридцать первого марта 2026 года — динамический множитель кадров с режимом шестикратного умножения. У конкурирующего производителя первое решение на машинном обучении вышло в марте 2025 года: гибрид свёрточной и трансформерной сети, тоже в восьмибитной плавающей точке. Тот же класс задач для кино и архивов решает интерполяция кадров: метод RIFE заявляет ускорение в четыре-двадцать семь раз против названных им предшественников при трёх десятках кадров в секунду для двукратной интерполяции 720p на потребительской карте 2018 года.</a:t>
            </a:r>
          </a:p>
          <a:p>
            <a:r>
              <a:t/>
            </a:r>
          </a:p>
          <a:p>
            <a:r>
              <a:t>Другой конец той же шкалы — направление, которое называют моделями мира. Языковая модель предсказывает следующий токен при условии предыдущих, видеомодель — следующий кадр при условии предыдущих и описания, модель мира — следующий кадр при условии предыдущих, внутреннего представления сцены и действия пользователя. Добавленный член меняет жанр: выход перестаёт быть записью и становится средой. Измеримых величин у направления пока две, и обе названы раньше. Случай промышленного применения у направления уже есть: с февраля 2026 года Waymo использует модель на основе Genie 3 для симуляции редких сценариев вождения при подготовке водителей. Чего у него нет, надо сказать так же отчётливо: посчитанного исхода (сравнения с реальными показателями безопасности), сведений о стоимости вывода и сопоставления с классическим режимом — построением интерактивной среды в движке — ни по срокам, ни по деньгам.</a:t>
            </a:r>
          </a:p>
          <a:p>
            <a:r>
              <a:t/>
            </a:r>
          </a:p>
          <a:p>
            <a:r>
              <a:t>Доля экрана, нарисованная сетью, — пятнадцать пикселей из каждых шестнадцати при четырёхкратной достройке кадров вместе с четырёхкратным повышением разрешения. Это число стоит произносить вслух хотя бы раз, потому что оно переворачивает привычное деление на «настоящую графику» и «ИИ-картинки». Человек, который считает искусственным интеллектом генератор изображений в браузере и не считает им настройку качества в собственной игре, ошибается ровно наоборот: вторая работает у него на столе шестьдесят раз в секунду и рисует почти весь экран.</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аргумент, на котором раздел стоит, и подтверждают его авторы коммерческого генератора, а не его критики. Группа, выпускающая промышленную модель порождения геометрии, пишет в своей работе 2025 года, что существующие генеративные модели производят четырёхугольные сетки, сначала порождая треугольные, а затем сливая треугольники по некоторым правилам, что обычно даёт четырёхугольные сетки с плохой топологией; и что сетки извлекаются алгоритмами изоповерхности, а это неизбежно приводит к неструктурированным плотным сеткам.</a:t>
            </a:r>
          </a:p>
          <a:p>
            <a:r>
              <a:t/>
            </a:r>
          </a:p>
          <a:p>
            <a:r>
              <a:t>Слово «неизбежно» здесь несущее, и разобрать его стоит по механизму, а не принимать на веру. Геометрия в трёхмерной диффузии рождается как неявная функция: модель выдаёт поле — расстояние до поверхности либо плотность, — а поверхность это множество точек, где поле принимает заданное значение. Чтобы получить из поля сетку многоугольников, по пространству проходят регулярной решёткой и в каждой ячейке строят кусочек поверхности. Из этого следует всё остальное, и следует именно неизбежно, а не по недоработке.</a:t>
            </a:r>
          </a:p>
          <a:p>
            <a:r>
              <a:t/>
            </a:r>
          </a:p>
          <a:p>
            <a:r>
              <a:t>Первое. Плотность многоугольников задаётся шагом решётки, а не сложностью формы. Художник кладёт многоугольники густо там, где форма изгибается, и редко там, где она плоская. Решётка кладёт их равномерно везде. На плоской стене получается столько же треугольников, сколько на сложенном пальце, и это не только расточительно — это делает сетку непригодной к ручной правке.</a:t>
            </a:r>
          </a:p>
          <a:p>
            <a:r>
              <a:t/>
            </a:r>
          </a:p>
          <a:p>
            <a:r>
              <a:t>Второе. Течения рёбер не существует. Напомню, что это такое: вокруг мест сгиба — сустава, рта, глаза, века — кладутся замкнутые кольца рёбер, идущие поперёк направления сгиба, а общее направление рёбер по поверхности повторяет анатомию: по мышцам, по складкам, по направлению деформации. Именно это определяет, как объект деформируется при анимации, и именно это проектирует человек. В сетке, извлечённой решёткой, таких колец нет, и слияние треугольников в четырёхугольники по локальным правилам их не создаёт — оно создаёт четырёхугольники, расположенные произвольно.</a:t>
            </a:r>
          </a:p>
          <a:p>
            <a:r>
              <a:t/>
            </a:r>
          </a:p>
          <a:p>
            <a:r>
              <a:t>Третье. Развёртки производственного качества нет. Разрезать плотную несвязную треугольную сетку на куски, пригодные к ручной правке, нельзя: швы лягут где попало, масштаб рисунка поедет, и наносить на такую развёртку карты цвета и микрорельефа бессмысленно.</a:t>
            </a:r>
          </a:p>
          <a:p>
            <a:r>
              <a:t/>
            </a:r>
          </a:p>
          <a:p>
            <a:r>
              <a:t>Это точный аналог границы, которую курс проводил в разделе про промышленное применение: картинка объекта не равна модели объекта, и сетка, извлечённая решёткой, не равна сетке, пригодной к производству. Обе границы проходят по одной линии — по разнице между правдоподобием и пригодностью.</a:t>
            </a:r>
          </a:p>
          <a:p>
            <a:r>
              <a:t/>
            </a:r>
          </a:p>
          <a:p>
            <a:r>
              <a:t>Практический итог для конвейера именно тот, который был обещан, когда мы перечисляли девять стадий. Генератор закрывает концепт, грубую форму и детализацию — то есть весь поиск облика. Он закрывает фоновые объекты, которые не анимируются и не попадают в крупный план: там требования к топологии снимаются вместе с требованием к анимационной готовности, и сгенерированная сетка проходит как есть. Ретопология, развёртка и постановка скелета остаются людям целиком, и автоматическая постановка скелета, которая за последний год расширилась на четвероногих, птиц, змей и водных, их не отменяет: она ставит кости поверх той сетки, которая есть, вместе со всеми её дефектами. Ретопология — чистую сетку строят заново поверх полученной, с петлями рёбер вокруг суставов, рта и века. Развёртка — по спланированным швам, чтобы на неё можно было нанести рисунок без искажений. Риггинг — внутрь ставится скелет, вершины привязываются к костям с весами.</a:t>
            </a:r>
          </a:p>
          <a:p>
            <a:r>
              <a:t/>
            </a:r>
          </a:p>
          <a:p>
            <a:r>
              <a:t>Отсюда и проверяемая формулировка критерия для рабочего решения. Если объект будет анимироваться, деформироваться или попадать в крупный план — генератор закрывает только первую треть работы, и экономия считается от неё, а не от всего срока. Если объект стоит в фоне неподвижно — генератор закрывает задачу целиком. Между этими двумя случаями проходит та самая граница, и находится она в требованиях задачи, то есть на стороне инженера; качество модели её с места не сдвинет.</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Вторая граница короче и жёстче первой. У сгенерированного объекта нет размеров, и пояснить это стоит буквально, потому что инженерная аудитория обычно считает, что размеры где-то есть и просто не выведены на экран.</a:t>
            </a:r>
          </a:p>
          <a:p>
            <a:r>
              <a:t/>
            </a:r>
          </a:p>
          <a:p>
            <a:r>
              <a:t>Форма, которую выдаёт генератор, существует в безразмерных координатах: она «такая» по пропорциям и никакая по величине. Масштаб назначается потом, человеком, на глаз или по соседнему объекту в сцене. Никакого размера, который можно поставить в чертёж, в выдаче нет, и взяться ему неоткуда: модель обучена на формах, а не на обмерах. Она видела миллионы объектов, у которых в обучающих данных не было ни одного проставленного размера, и выучила, как такие объекты выглядят, а не каковы они.</a:t>
            </a:r>
          </a:p>
          <a:p>
            <a:r>
              <a:t/>
            </a:r>
          </a:p>
          <a:p>
            <a:r>
              <a:t>Отсюда следует то, что для инженерной аудитории важнее самого факта. Генератор трёхмерного систему автоматизированного проектирования не заменяет, и расстояние между ними качественное, а не количественное — то есть оно не сократится от того, что модель станет лучше. Система проектирования оперирует параметрами с допусками, связями между этими параметрами и проверками: изменил диаметр — пересчиталась посадка, нарушил допуск — получил предупреждение. Генератор оперирует правдоподобием поверхности, и внутри него нет ни одной сущности, которой можно было бы задать допуск.</a:t>
            </a:r>
          </a:p>
          <a:p>
            <a:r>
              <a:t/>
            </a:r>
          </a:p>
          <a:p>
            <a:r>
              <a:t>Это и есть рабочий критерий «здесь модель не тот инструмент», и формулируется он одной строкой: там, где результат проверяется расчётом, генератор формы стоит до расчёта, а не вместо него. Он уместен на стадии, где перебирают облик и отбрасывают неудачные замыслы; он неуместен на стадии, где форма становится обязательством перед физикой.</a:t>
            </a:r>
          </a:p>
          <a:p>
            <a:r>
              <a:t/>
            </a:r>
          </a:p>
          <a:p>
            <a:r>
              <a:t>Рядом стоит поставить контрпример из начала вечера: он показывает, как выглядит правильно устроенная автоматизация формы. Порождающее проектирование, которым в 2016 году сделали бионическую перегородку для самолёта, работает так: алгоритм перебирает формы, а критерий отбора задан физикой — массой, жёсткостью, нагрузкой — и проверяется расчётом на каждом шаге. Выигрыш там дал поставленный критерий; сам перебор мог быть каким угодно, и модель его не обеспечивала. Генеративная модель 2024 года критерия отбора не содержит вовсе: критерий остаётся снаружи, у человека, и в трёхмерном этот человек вдобавок обязан назначить масштаб, которого в выдаче нет.</a:t>
            </a:r>
          </a:p>
          <a:p>
            <a:r>
              <a:t/>
            </a:r>
          </a:p>
          <a:p>
            <a:r>
              <a:t>Есть и третья деталь, которая связывает эту границу с описанием стадии. Из пяти классических способов получить исходные данные — фотограмметрия, лазерное сканирование, ручное моделирование, захват движения, готовые библиотеки — генеративная модель существенно удешевила один и добавила шестой, текстовое описание. Лазерный сканер как мерил размеры, так и мерит. Это не случайность и не временное положение дел: сканер отвечает на вопрос «каков предмет», а генератор — на вопрос «как выглядит предмет такого рода», и это два разных вопроса, которые нельзя свести один к другому никаким улучшением модели.</a:t>
            </a:r>
          </a:p>
          <a:p>
            <a:r>
              <a:t/>
            </a:r>
          </a:p>
          <a:p>
            <a:r>
              <a:t>Отдельно — о соблазне, который здесь возникает почти у каждого. Выданную форму можно импортировать в систему проектирования, и она туда импортируется — файл откроется, объект появится в сцене, инструмент простановки размеров к нему применится. Из этого легко заключить, что размеры у объекта всё-таки есть. Их нет: простановка измерит то, что человек назначил масштабом при импорте, и покажет это число с той же уверенностью, с какой показала бы настоящий обмер. Система проектирования не отличает назначенный масштаб от измеренного — она вообще не знает, откуда пришла геометрия. Проверка «размер появился на экране» здесь ничего не подтверждает, и именно в этом месте правдоподобие успешнее всего выдаёт себя за соответствие.</a:t>
            </a:r>
          </a:p>
          <a:p>
            <a:r>
              <a:t/>
            </a:r>
          </a:p>
          <a:p>
            <a:r>
              <a:t>Для практики отсюда следует простая проверка перед тем, как брать генератор в работу. Спросите себя, чем будет проверен результат. Если проверка — человеческий взгляд («похоже на то, что я хотел»), генератор уместен. Если проверка — расчёт, измерение или сопоставление с чертежом, генератор стоит до этой проверки и ничего в ней не заменяет; а если кто-то предлагает им эту проверку заменить, он предлагает заменить соответствие правдоподобием.</a:t>
            </a:r>
          </a:p>
          <a:p>
            <a:r>
              <a:t/>
            </a:r>
          </a:p>
          <a:p>
            <a:r>
              <a:t>Про вторую половину этой картины забывать не стоит: генератор формы даёт двадцать вариантов облика за полчаса там, где раньше был один набросок за полдня, и даёт объект, которого в природе нет, — без единого снимка на входе. Выданная форма вполне пригодна к просмотру и к постановке в фон. Запрета на инструмент тут нет; есть точное место, где он кончается.</a:t>
            </a:r>
          </a:p>
          <a:p>
            <a:r>
              <a:t/>
            </a:r>
          </a:p>
          <a:p>
            <a:r>
              <a:t>Кончается он на связях между параметрами. В системе автоматизированного проектирования модель — это зависимости: изменил диаметр, пересчиталась посадка, изменился допуск. У выданной поверхности менять нечего, потому что связей в ней не записано. И критерий отбора остаётся снаружи, у человека, — причём в трёхмерном этот человек вдобавок обязан назначить масштаб, которого в выдаче нет.</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Пласт цены в этом разделе занимает одну честную строку, и она содержательная.</a:t>
            </a:r>
          </a:p>
          <a:p>
            <a:r>
              <a:t/>
            </a:r>
          </a:p>
          <a:p>
            <a:r>
              <a:t>Проверка по всей подборке материалов о стоимости дала ноль содержательных попаданий по трёхмерной теме. Поимённо не нашлось четырёх величин, и каждая из них закрыла бы своё место в разборе. Цена генерации трёхмерного ассета за единицу выхода закрыла бы счёт выигрыша в любом трёхмерном случае. Ставка моделлера за сопоставимый ассет закрыла бы классический режим, относительно которого этот выигрыш считался бы. Цена входа в реальное время — лицензия движка, стоимость постройки сцены — закрыла бы цену модальности как таковой. Доля работы, которую закрывает сгенерированный ассет, перевела бы «восемь секунд» в осмысленную величину. Четвёртой, вероятно, не существует в природе: материал добросовестно перечисляет оставшиеся стадии без каких бы то ни было долей, и это перечисление, а не умолчание.</a:t>
            </a:r>
          </a:p>
          <a:p>
            <a:r>
              <a:t/>
            </a:r>
          </a:p>
          <a:p>
            <a:r>
              <a:t>Вывод отсюда стоит произнести прямо. База здесь не выдумывается. Кратности вида «в тысячу раз быстрее художника» получаются делением измеренного числа на оценку, взятую из воздуха, и курс бьёт за такое отдельно — в этой самой лекции разбирается случай, где две величины с разными знаменателями, поставленные рядом, создают ложную пару. Поэтому раздел предъявляет возможности показом и устройством, а счёт выигрыша не объявляет вовсе.</a:t>
            </a:r>
          </a:p>
          <a:p>
            <a:r>
              <a:t/>
            </a:r>
          </a:p>
          <a:p>
            <a:r>
              <a:t>И ещё одно следствие, теперь уже про сам предмет. Отсутствие публичных замеров у модальности — само по себе сведение о её зрелости. У плоского изображения такие замеры есть с 2023 года, у дубляжа — с 2024-го, у видео — с 2025-го. У трёхмерного на конец 2026 года их нет, и это ровно то, чего следует ожидать от технологии, которая вышла из лаборатории два года назад. Студенту полезнее знать, что замеров ещё не опубликовано, чем получить красивое число неизвестного происхождения: первое позволяет принять решение осознанно, второе создаёт ложную уверенность.</a:t>
            </a:r>
          </a:p>
          <a:p>
            <a:r>
              <a:t/>
            </a:r>
          </a:p>
          <a:p>
            <a:r>
              <a:t>Теперь вывод раздела целиком. Где польза: восстановление сцены из снимков перешло из научного проекта в операцию одного вечера — сорок одна минута обучения и сто тридцать четыре кадра в секунду против сорока восьми часов и шести сотых кадра двумя годами ранее, при неизменном качестве. Поиск облика подешевел до единиц секунд на вариант, и выигрыш берётся из того же источника, что во всех разделах вечера: подешевела неудачная попытка. Нейросетевая графика реального времени работает массово и незаметно, дорисовывая пятнадцать пикселей из каждых шестнадцати.</a:t>
            </a:r>
          </a:p>
          <a:p>
            <a:r>
              <a:t/>
            </a:r>
          </a:p>
          <a:p>
            <a:r>
              <a:t>Где границы: подготовка к производству остаётся людям, и следует это из устройства метода, а не из его незрелости — извлечение поверхности решёткой неизбежно даёт неструктурированные плотные сетки, и так пишут авторы коммерческого генератора. Размеров у сгенерированного объекта нет, и систему проектирования он не заменяет.</a:t>
            </a:r>
          </a:p>
          <a:p>
            <a:r>
              <a:t/>
            </a:r>
          </a:p>
          <a:p>
            <a:r>
              <a:t>Какая нагрузка уехала вправо: в случае со сферическим экраном — граница между восстановлением и выдумыванием, сдвинутая молча и никем не подписанная. В случае с генерацией ассетов — стадия приёмки: решение «эта сетка пойдёт в производство или на переделку» принимается теперь много раз в день человеком, у которого раньше этого решения не было, потому что сетку строил он сам.</a:t>
            </a:r>
          </a:p>
          <a:p>
            <a:r>
              <a:t/>
            </a:r>
          </a:p>
          <a:p>
            <a:r>
              <a:t>И короткое замечание о том, как вообще читать отсутствие числа. Отсутствие публичного замера — это сведение о зрелости направления, а не дефект подготовки материала. У плоского изображения такие замеры есть с 2023 года, у дубляжа — с 2024-го, у видео — с 2025-го; у трёхмерного на конец 2026 года их нет. Технология вышла из лаборатории два года назад, и это ровно то, чего от неё стоит ожидать: сначала появляются демонстрации, потом внедрения, потом — те, кто считал деньги, начинают публиковать. Знать, что считающих ещё нет, полезнее, чем получить красивое число неизвестного происхождения.</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карту. Две её строки заполнены по всему ряду одинаково, и это стоит прочитать поперёк. Строка «довести до производственного качества» пуста или условна во всех четырёх модальностях: везде остаётся человеческий шаг доводки, и везде он и есть то, куда уехала нагрузка. Строка «соблюсти точные величины» пуста везде, где она вообще применима: генеративная модель не конвертирует правдоподобие в соответствие ни в одной модальности. Пятая колонка появится в следующем разделе, и одна из этих двух строк в ней наконец заполнится — ради этого карта и ведётся весь вечер.</a:t>
            </a:r>
          </a:p>
          <a:p>
            <a:r>
              <a:t/>
            </a:r>
          </a:p>
          <a:p>
            <a:r>
              <a:t>Карта вечера — одна на всю лекцию, и она накапливается: после каждой модальности в ней появляется одна новая колонка, а строки остаются теми же шестью. Прочитать её после четвёртой колонки стоит целиком, потому что именно здесь впервые видно, что в ней повторяется.</a:t>
            </a:r>
          </a:p>
          <a:p>
            <a:r>
              <a:t/>
            </a:r>
          </a:p>
          <a:p>
            <a:r>
              <a:t>Строка «породить первое приближение» заполнена везде и везде дёшево: от трёх с половиной центов за изображение до единиц секунд на трёхмерный вариант. Строка «довести до производственного качества» заполнена везде и везде одинаково — ручной работой человека: адаптеры и правка у изображения, правка дикции у звука, отбор и склейка у видео, ретопология, развёртка и риггинг у трёхмерного. Строка «восстановить существующее» заполнена везде и везде это сильная сторона метода, потому что у восстановления есть отложенный эталон, с которым результат можно сверить.</a:t>
            </a:r>
          </a:p>
          <a:p>
            <a:r>
              <a:t/>
            </a:r>
          </a:p>
          <a:p>
            <a:r>
              <a:t>А дальше идут две строки, в которых стоит «нет» по всему ряду. «Соблюсти точные величины» — нет у изображения, нет у звука, нет у видео, нет у трёхмерного, и причина каждый раз называется своя, хотя по сути она одна: модель обучена на том, как вещи выглядят и звучат, а не на том, какие они по величине. «Ответить кто отвечает» — нет везде, и тоже по одной причине: источник детали не записан нигде, потому что деталь получена снятием шума, а не взята из какого-то одного обучающего примера.</a:t>
            </a:r>
          </a:p>
          <a:p>
            <a:r>
              <a:t/>
            </a:r>
          </a:p>
          <a:p>
            <a:r>
              <a:t>Вот что карта показывает и чего не показал бы ни один отдельный разбор. Две пустые строки — не свойство конкретной модели и не недоработка конкретного года. Они одинаковы у четырёх разных модальностей с разными архитектурами, разными корпусами и разными производителями, и значит, это свойство класса методов. На следующем кадре появится пятая колонка, и впервые за вечер в этих двух строках что-то изменится.</a:t>
            </a:r>
          </a:p>
          <a:p>
            <a:r>
              <a:t/>
            </a:r>
          </a:p>
          <a:p>
            <a:r>
              <a:t>Для практики отсюда следует привычка, полезная далеко за пределами этой лекции. Когда вы оцениваете новый класс инструментов, стройте такую же сетку сами: по одной оси — типы задач, которые вам нужно решать, по другой — инструменты или модальности. Заполняйте её тем, что измерено, и обязательно оставляйте клетки со словом «нет» и названной причиной. Пустая строка по всему ряду — находка, ради которой такую сетку и строят: она означает, что перед вами ограничение класса, а не отставание конкретного поставщика, и ждать, что его закроет следующая версия, не стоит.</a:t>
            </a:r>
          </a:p>
          <a:p>
            <a:r>
              <a:t/>
            </a:r>
          </a:p>
          <a:p>
            <a:r>
              <a:t>И практическое следствие для чтения любой такой сетки. Пустая клетка и клетка со словом «нет» — разные утверждения. Пустая значит «мы не проверяли»; «нет» с названной причиной значит «проверяли, не работает, вот почему». В этой карте пустых клеток нет ни одной: везде либо число, либо «нет» с причиной, либо «неприменимо» с причиной. Так и стоит вести собственные сетки.</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раздел устроен иначе, чем четыре предыдущих, и разницу стоит назвать до того, как пойдёт материал. Порождающая модель отвечает на вопрос «сделай такое»; распознающая — на вопрос «что это такое». Внутри у них те же блоки внимания, то же обучение градиентным спуском, а в ранних диффузионных моделях понимание запроса обеспечивала буквально заимствованная распознающая модель. Отличается задача, и из её обратности следуют три вещи.</a:t>
            </a:r>
          </a:p>
          <a:p>
            <a:r>
              <a:t/>
            </a:r>
          </a:p>
          <a:p>
            <a:r>
              <a:t>Первая — экономика. Порождающая модель отдаёт на каждый запуск полный проход по всем шагам снятия шума; раздел про изображение показал, что картиночная модель не допускает кэширования и переписывает все четыре тысячи латентных единиц на каждом шаге. Распознающая модель делает один прямой проход и выдаёт число. Разница в стоимости вывода — порядки, и отсюда прямое следствие для выбора инструмента: задачи вида «найти среди существующего», «отобрать», «проверить», «разметить» решаются распознаванием дёшево и с проверяемым ответом, а генератор на них — неправильный инструмент.</a:t>
            </a:r>
          </a:p>
          <a:p>
            <a:r>
              <a:t/>
            </a:r>
          </a:p>
          <a:p>
            <a:r>
              <a:t>Вторая — проверяемость. У распознавателя есть эталонная разметка, то есть набор примеров с известными правильными ответами; качество измеряется числом и сравнивается между моделями. У генератора эталона нет по построению: правильного ответа на «нарисуй дракона» не существует. Это различие пройдёт через весь раздел и под конец заполнит ту клетку накопительной карты, которая у четырёх порождающих модальностей осталась пустой.</a:t>
            </a:r>
          </a:p>
          <a:p>
            <a:r>
              <a:t/>
            </a:r>
          </a:p>
          <a:p>
            <a:r>
              <a:t>Третья — место в производстве. Формально стадия последняя, между «сделано» и «выпущено». Но она обслуживает не только выпуск: распознавание стоит и в начале — поиск референса по архиву, и в середине — отбор дублей, разметка, контроль выхода генератора, и в конце — проверка перед публикацией. В творческом производстве распознавание решает больше задач, чем порождение, и решает их дешевле на порядки.</a:t>
            </a:r>
          </a:p>
          <a:p>
            <a:r>
              <a:t/>
            </a:r>
          </a:p>
          <a:p>
            <a:r>
              <a:t>Эта стадия настолько дешевле, что её стоит держать в голове как отдельный довод при выборе инструмента: распознавание можно ставить на поток там, где порождение пришлось бы экономить. Модерация каждого загружаемого файла, разметка всего архива целиком, контроль каждого выхода генератора — всё это задачи, которые при цене одного прямого прохода становятся фоновой операцией.</a:t>
            </a:r>
          </a:p>
          <a:p>
            <a:r>
              <a:t/>
            </a:r>
          </a:p>
          <a:p>
            <a:r>
              <a:t>Имена у стадии разные в зависимости от цеха, и свести их стоит сразу, потому что дальше они встречаются вперемешку. В редакции это проверка фактов и подтверждение источника. В музейном и архивном деле — атрибуция и экспертиза подлинности. В технической литературе — распознавание, в противоположность порождению, и провенанс, то есть прослеживаемое происхождение. На площадках — модерация и раскрытие. Задача у всех одна: по уже готовому произведению ответить на вопрос о нём, ничего нового не порождая.</a:t>
            </a:r>
          </a:p>
          <a:p>
            <a:r>
              <a:t/>
            </a:r>
          </a:p>
          <a:p>
            <a:r>
              <a:t>Стоит заранее развести две вещи, которые в этом разделе легко слить. Распознающая модель отвечает на вопрос о готовом произведении, и ответов у неё бывает три разных вида: что здесь изображено, как это сделано и кто за это отвечает. Первый проверяется сверкой с другим источником, второй — вероятностный и держится на том, видел ли распознаватель именно тот генератор, третий говорит о людях и организациях, а содержимого не касается вовсе. Ни один из трёх не отвечает на вопрос «правда ли это», и подмена одного вопроса другим — самая частая ошибка в разговорах на эту тему, причём у людей, которые устройство понимают.</a:t>
            </a:r>
          </a:p>
          <a:p>
            <a:r>
              <a:t/>
            </a:r>
          </a:p>
          <a:p>
            <a:r>
              <a:t>И последнее для входа в раздел. Здесь живёт случай, единственный в лекции: у выигрыша нет оборотной стороны, и по адресу «узнавание» пришла прибыль. Рядом с ним стоят два редакционных разбора, у которых посчитаны обе стороны, и оба дают результат, противоположный тому, который обычно ожидают услышать про машинный текст. Между этими тремя и проходит содержание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Отрасль называет эту стадию по-разному в зависимости от цеха, и имена стоит свести, потому что дальше они будут встречаться вперемешку. В редакции это проверка фактов и подтверждение источника. В музейном и архивном деле — атрибуция и экспертиза подлинности. В технической литературе — распознавание, в противоположность порождению, и провенанс, то есть прослеживаемое происхождение. На площадках — модерация и раскрытие. Задача у всех одна: по уже готовому произведению ответить на вопрос о нём, ничего нового не порождая.</a:t>
            </a:r>
          </a:p>
          <a:p>
            <a:r>
              <a:t/>
            </a:r>
          </a:p>
          <a:p>
            <a:r>
              <a:t>Почему стадия стоит последней. Во-первых, по порядку производства: она работает с готовым. Во-вторых — и это интереснее — у неё обратная экономика относительно всех четырёх предыдущих модальностей: один прямой проход против десятков шагов снятия шума. В-третьих, здесь закрывается третий адрес оси вечера. Пока подпись, голос, лицо и происхождение подтверждались сами собой, стадия была дешёвой и почти невидимой. Когда они перестали подтверждаться сами, за неё начали платить.</a:t>
            </a:r>
          </a:p>
          <a:p>
            <a:r>
              <a:t/>
            </a:r>
          </a:p>
          <a:p>
            <a:r>
              <a:t>Числа классического режима стоит повторить медленно, потому что без них следующие разборы читаются неверно. Независимые аудиты точности газетных материалов дают от сорока до шестидесяти одного процента статей, содержащих хотя бы одну ошибку. Публично исправляется около двух процентов. То есть обычная редакция, без всякой обученной модели, ошибается примерно в каждой второй статье и признаёт это примерно в каждой пятидесятой. Эту пару стоит прочитать дважды — она и есть база, относительно которой будут читаться оба редакционных разбора раздела.</a:t>
            </a:r>
          </a:p>
          <a:p>
            <a:r>
              <a:t/>
            </a:r>
          </a:p>
          <a:p>
            <a:r>
              <a:t>У двух других классических режимов — экспертизы подлинности и ручной реставрации — числа отсутствуют. Практика описана, сроки называются в неделях и месяцах, а стоимости в источниках нет. Поэтому ни одна кратность относительно экспертизы в этом разделе не считается, и это решение, а не пробел подготовки.</a:t>
            </a:r>
          </a:p>
          <a:p>
            <a:r>
              <a:t/>
            </a:r>
          </a:p>
          <a:p>
            <a:r>
              <a:t>Решений стадия принимает два, и оба бинарные, и оба необратимые по последствиям. Первое — «выпускать или нет»: в редакции, на площадке, в прокате. Второе — «считать подлинным или нет»: в музее, в суде, в архиве. Выпущенное нельзя не выпустить: опровержение читает меньшая часть тех, кто прочёл исходный материал. Атрибуцию отзывают скандалом, а не приказом, и репутационная цена отзыва ложится на того, кто её присваивал. Именно из этой необратимости следует, почему здесь так важна норма времени на проверку, а не только точность инструмента.</a:t>
            </a:r>
          </a:p>
          <a:p>
            <a:r>
              <a:t/>
            </a:r>
          </a:p>
          <a:p>
            <a:r>
              <a:t>Первое, что должен уметь инженер в этой области, — различать три разных вопроса, которые постоянно смешивают в один. Вопрос первый: что здесь изображено или написано. Это распознавание содержания: чтение повреждённого, атрибуция, поиск по архиву, автоматическая разметка, перевод, распознавание речи. Ответ проверяем — прочитанный текст можно сверить с другим источником, найденное изображение можно посмотреть. Вопрос второй: как это сделано — снято камерой или синтезировано, написано человеком или моделью. Ответ вероятностный и крайне чувствителен к тому, видел ли распознаватель когда-нибудь ту модель, которая это породила. Вопрос третий: кто за это отвечает. Это провенанс: цепочка от съёмки до публикации, подписи, права, ответственный редактор. Ответ не про содержимое вообще — он про людей и организации.</a:t>
            </a:r>
          </a:p>
          <a:p>
            <a:r>
              <a:t/>
            </a:r>
          </a:p>
          <a:p>
            <a:r>
              <a:t>Ни один из трёх не отвечает на вопрос «правда ли это», и эту мысль стоит запомнить как критерий. Детектор говорит, как сделано; провенанс говорит, кто отвечает; истинность утверждения не следует ни из того, ни из другого. Подмена одного вопроса другим — самая частая ошибка в обсуждении этой темы, и встречается она у людей, которые устройство понимают.</a:t>
            </a:r>
          </a:p>
          <a:p>
            <a:r>
              <a:t/>
            </a:r>
          </a:p>
          <a:p>
            <a:r>
              <a:t>Данные для суждения добывают тремя семействами способов, и первое к машинному обучению отношения не имеет вовсе. Физические методы отвечают о материале независимо от того, что о предмете думают люди: томография, рентгенофлуоресцентный анализ, инфракрасная рефлектография, показывающая подготовительный рисунок под краской, ультрафиолет, спектральный анализ пигментов, радиоуглеродное датирование, дендрохронология. Цифровые следы — служебные поля файла, история правок, контрольные суммы, обратный поиск по изображению; семейство самое дешёвое и самое хрупкое, потому что любое пересохранение, пересжатие или снимок экрана уничтожает следы начисто. Редакционные и экспертные процедуры — звонок источнику, второй независимый источник, сверка с первичным документом, профильный эксперт, коллегиальное решение; самое дорогое по времени семейство и единственное, отвечающее на третий вопрос. Машинное обучение вошло в первое семейство как способ прочесть то, что приборы измерили, и во второе как распознаватель. В третье оно не вошло и не может: вопрос ответственности технического решения не имеет.</a:t>
            </a:r>
          </a:p>
          <a:p>
            <a:r>
              <a:t/>
            </a:r>
          </a:p>
          <a:p>
            <a:r>
              <a:t>Для практики из этой раскладки следует правило выбора инструмента, которое стоит применять раньше всех технических вопросов. Сначала определите, на какой из трёх вопросов вы отвечаете. Если на первый — у задачи есть проверяемый ответ, значит можно требовать число и мерить его на своих данных. Если на второй — ответ вероятностный и крайне чувствителен к происхождению материала, значит число поставщика к вашим данным не относится, пока вы его не перемерили. Если на третий — техника поможет только частично, потому что это вопрос про людей, договоры и процедуры, и обученная модель в него не входит и войти не может.</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Единственный случай лекции, где у выигрыша нет оборотной стороны. Разбирается он по той же форме, что и остальные, все пять шагов.</a:t>
            </a:r>
          </a:p>
          <a:p>
            <a:r>
              <a:t/>
            </a:r>
          </a:p>
          <a:p>
            <a:r>
              <a:t>Цена обеих ошибок названа и несимметрична. В 79 году извержение Везувия засыпало виллу вместе с библиотекой; огонь папирусные свитки не уничтожил — без доступа воздуха они обуглились и сохранились как хрупкие угольные цилиндры. Цена попытки прочесть классическим способом — уничтожение предмета: развернуть обугленный свиток означает его раскрошить. За два с половиной века так погибла часть собрания; повреждения от попыток девятнадцатого века и восьмидесятых годов двадцатого фиксируются до сих пор. Цена отказа от попытки — текст не прочитан никогда. Денежной шкалы у этой пары нет, и это свойство задачи, а не пробел подборки: предмет существует в единственном экземпляре, и обе ошибки одинаково окончательны.</a:t>
            </a:r>
          </a:p>
          <a:p>
            <a:r>
              <a:t/>
            </a:r>
          </a:p>
          <a:p>
            <a:r>
              <a:t>Классический режим здесь один, и это принципиально. Физическое развёртывание уничтожает свиток; остальные методы чтения требуют доступа к поверхности, которой у свёрнутого цилиндра нет. Альтернатива машинному чтению ровно одна — не прочитать никогда. Эту ситуацию надо отличать от той, в которой классический режим есть, но не посчитан: там отсутствует число, здесь отсутствует сам режим, и это разные вещи для счёта выигрыша.</a:t>
            </a:r>
          </a:p>
          <a:p>
            <a:r>
              <a:t/>
            </a:r>
          </a:p>
          <a:p>
            <a:r>
              <a:t>Выигрыш здесь не считается в разах, потому что делить не на что: классический режим даёт ноль прочитанных свитков по построению. Считается он в предметах — один свиток целиком, около двадцати двух колонок, впервые примерно за две тысячи лет.</a:t>
            </a:r>
          </a:p>
          <a:p>
            <a:r>
              <a:t/>
            </a:r>
          </a:p>
          <a:p>
            <a:r>
              <a:t>Держится весь разбор на одном: ни одной буквы не сгенерировано. Модель не достраивает утраченное, не предполагает окончаний, не восстанавливает повреждённые места по смыслу. Она отвечает на вопрос «где здесь чернила», и это задача с проверяемым ответом. Различение между восстановлением и выдумыванием выдержано здесь абсолютно, и выдержано по построению задачи, а не по доброй воле исполнителей.</a:t>
            </a:r>
          </a:p>
          <a:p>
            <a:r>
              <a:t/>
            </a:r>
          </a:p>
          <a:p>
            <a:r>
              <a:t>Что переехало. Переехала граница возможного, а не стоимость. Работа, которой не существовало, стала существовать; ни один человек не потерял занятия, ни одна стадия не стала дороже. Вправо не уехало почти ничего — и эту редкость надо назвать именно как редкость, иначе случай прочтётся как норма.</a:t>
            </a:r>
          </a:p>
          <a:p>
            <a:r>
              <a:t/>
            </a:r>
          </a:p>
          <a:p>
            <a:r>
              <a:t>Напомню, почему у этого случая нет кратности и почему её отсутствие здесь — не слабость разбора. Классического режима с тем же результатом не существует: развернуть свиток означает его уничтожить, а других способов добраться до поверхности у свёрнутого обугленного цилиндра нет. Делить не на что. Выигрыш здесь измеряется не в разах, а в том, что множество прочитанных текстов перестало быть пустым.</a:t>
            </a:r>
          </a:p>
          <a:p>
            <a:r>
              <a:t/>
            </a:r>
          </a:p>
          <a:p>
            <a:r>
              <a:t>Это единственный случай вечера, где у выигрыша нет названной оборотной стороны, — и именно поэтому он стоит в лекции, которая в остальном занята ценой. Ни один специалист не потерял работы: филологов, читающих геркуланумские свитки, стало больше, а не меньше, потому что появился материал. Никакая граница не сдвинулась молча: предмет остался цел, результат проверяем, домысленного ноль.</a:t>
            </a:r>
          </a:p>
          <a:p>
            <a:r>
              <a:t/>
            </a:r>
          </a:p>
          <a:p>
            <a:r>
              <a:t>И то, что переехало, стоит назвать точно. Переехала не стоимость, а граница возможного. Работа, которой не существовало в природе, стала существовать; через два кадра этот случай встанет в пару с «Волшебником страны Оз», где техника соседняя, а исход противоположный.</a:t>
            </a:r>
          </a:p>
          <a:p>
            <a:r>
              <a:t/>
            </a:r>
          </a:p>
          <a:p>
            <a:r>
              <a:t>И ещё одна особенность, которая делает этот случай пригодным для учебного разбора. Предмет существует в единственном экземпляре, и обе ошибки — попытаться и не попытаться — одинаково окончательны. Денежной шкалы у такой пары нет и быть не может — это свойство задачи. Там, где обе ошибки необратимы, выбирает не арифметика — выбирает человек, решая, какой риск допустим.</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Устройство. На входе — рентгеновская томография обугленного свитка: послойное просвечивание, дающее трёхмерную плотность. Машина делает две вещи. Первая — цифровое разворачивание слоёв: в объёме находится поверхность папируса, вьющаяся спиралью, и она математически распрямляется в плоскость. Вторая — обнаружение следов чернил машинным обучением: античные чернила углеродные, на обугленном папирусе они по плотности почти не отличаются от основы, и распознаватель обучен видеть разницу, которую человеческий глаз на томограмме не различает. На выходе — изображение распрямлённой поверхности с проявленными чернилами. Читают греческий текст люди.</a:t>
            </a:r>
          </a:p>
          <a:p>
            <a:r>
              <a:t/>
            </a:r>
          </a:p>
          <a:p>
            <a:r>
              <a:t>Разложим это по шагам, потому что каждый шаг здесь — отдельная инженерная задача с проверяемым ответом, и ни один из них не порождение. Шаг первый: просвечивание. Свиток кладут под источник рентгеновского излучения и снимают множество проекций с разных углов; по ним восстанавливается трёхмерное поле плотности — то же, что делает медицинский томограф, только с гораздо большим разрешением. Шаг второй: цифровое разворачивание. Поверхность папируса вьётся спиралью внутри объёма; её надо найти, проследить и математически распрямить в плоскость. Это задача геометрии, и у неё есть проверяемый критерий: распрямлённая поверхность не должна рваться и не должна сама себя пересекать. Шаг третий — тот, ради которого понадобилась обученная модель. Глаз на томограмме разницы между чернилами и основой не видит; распознаватель обучен видеть её — не домысливать буквы, а отвечать на вопрос «есть в этой точке чернила или нет». Ответ проверяем: там, где участки удавалось сверить, предсказание сходилось с реальностью. Шаг четвёртый: изображение распрямлённой поверхности с проявленными чернилами отдают людям. Греческий текст читают филологи. Машина не восстанавливает утраченное, не предполагает окончаний и не достраивает повреждённое по смыслу.</a:t>
            </a:r>
          </a:p>
          <a:p>
            <a:r>
              <a:t/>
            </a:r>
          </a:p>
          <a:p>
            <a:r>
              <a:t>Единственный точечный пробел разбора назову прямо: объём и состав обучающей выборки распознавателя чернил в доступных публикациях не раскрыты. Именно обучающая выборка определяет, перенесётся ли метод на свитки другой сохранности.</a:t>
            </a:r>
          </a:p>
          <a:p>
            <a:r>
              <a:t/>
            </a:r>
          </a:p>
          <a:p>
            <a:r>
              <a:t>Полезно сравнить эту задачу с порождением, потому что внешне они похожи: и там и там обученная модель выдаёт изображение, которого в исходных данных нет. Разница в том, откуда берётся содержание выданного. У порождения оно берётся из статистики обучающего корпуса и проверить его нечем, кроме правдоподобия. Здесь содержание берётся из измерения: чернила на томограмме физически присутствуют, модель только отделяет их от основы, и у ответа есть эталон — участки, которые удалось сверить независимо. Отсюда общее правило выбора: прежде чем применять обученную модель к восстановлению чего бы то ни было, спросите, чем будет проверен результат. Если есть эталон или независимый способ сверки — задача реставрационная, и модель в ней уместна. Если эталона нет и единственный критерий — правдоподобие, задача художественная, и результат надо так и называть.</a:t>
            </a:r>
          </a:p>
          <a:p>
            <a:r>
              <a:t/>
            </a:r>
          </a:p>
          <a:p>
            <a:r>
              <a:t>Что сделала машина, известно по датам. Октябрь 2023 года — прочитано первое слово изнутри неразвёрнутого свитка: ΠΟΡΦΥΡΑϹ, «пурпур»; нашёл его двадцатиоднолетний Люк Фарритор, приз сорок тысяч долларов. Февраль 2024 года — прочитаны несколько связных отрывков одного свитка, главный приз семьсот тысяч долларов, трое: Юссеф Надер, Люк Фарритор, Юлиан Шиллигер. Дальше опознаны сочинения: PHerc. 172 — Филодем, «О пороках», книга первая, первый найденный заголовок; PHerc. 139 — Филодем, «О богах», книга восьмая. И двадцать пятого июня 2026 года — впервые в истории свиток прочитан целиком, от начала до конца, не будучи развёрнутым. Это PHerc. 1667: около полутора метров папируса, около двадцати двух колонок греческого текста, философский трактат об этике со стоическими мотивами.</a:t>
            </a:r>
          </a:p>
          <a:p>
            <a:r>
              <a:t/>
            </a:r>
          </a:p>
          <a:p>
            <a:r>
              <a:t>Отдельная деталь для инженерной аудитории: задача решена открытым соревнованием с денежными призами, а не штатной лабораторией. Бо́льшую часть команды, дочитавшей свиток в 2026 году, составляют бывшие участники конкурса. Почему это сработало именно здесь, стоит понять, потому что сработает оно не везде. У задачи был проверяемый критерий: прочитанное слово либо складывается в греческий текст, который узнают филологи, либо нет. Там, где критерий проверяем и объявлен заранее, открытое соревнование собирает больше попыток, чем любая лаборатория, и отбирает из них лучшую честно. Там, где критерия нет и результат оценивается вкусом, тот же формат даёт шум.</a:t>
            </a:r>
          </a:p>
          <a:p>
            <a:r>
              <a:t/>
            </a:r>
          </a:p>
          <a:p>
            <a:r>
              <a:t>Для инженерной практики из этой хронологии стоит унести две вещи. Первая: вехи объявляли заранее и формулировали проверяемо — не «улучшить качество чтения», а «прочесть слово», «прочесть связный отрывок», «прочесть свиток». Формулировка цели в проверяемых терминах — половина успеха такого формата, и она же то, чего чаще всего не хватает внутренним проектам. Вторая: деньги здесь платили за результат, а не за попытку. Сорок тысяч долларов за первое слово и семьсот тысяч за связные отрывки — суммы, ничтожные по меркам научной программы, и они собрали работу, которую программа не собрала за двести пятьдесят лет.</a:t>
            </a:r>
          </a:p>
          <a:p>
            <a:r>
              <a:t/>
            </a:r>
          </a:p>
          <a:p>
            <a:r>
              <a:t>И напоследок — чем этот распознаватель отличается от тех, что встретятся в разделе дальше. Здесь у задачи есть эталонная разметка: участки, на которых известно, где чернила, и по которым метод проверяется. Поэтому у ответа есть число, и число это проверяемо третьей стороной. Дальше в разделе встретится распознаватель, у которого число тоже есть, а проверяемость уезжает, как только меняется происхождение материала, — и сравнить эти два случая полезно.</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Обе половины пары теперь предъявлены, и стоит поставить их рядом целиком. Раздел про трёхмерное показал показ «Волшебника страны Оз» на сферическом экране: свыше девяноста процентов кадра тронуто моделью, кадр 4:3 достроен по сторонам, домыслено то, чего Виктор Флеминг не снимал, и более двух целых двух десятых миллиона проданных билетов на фильм 1939 года. Предыдущий кадр показал свиток Геркуланума: ноль процентов домысленного, ни одной сгенерированной буквы, и текст, который иначе не прочёл бы никто и никогда.</a:t>
            </a:r>
          </a:p>
          <a:p>
            <a:r>
              <a:t/>
            </a:r>
          </a:p>
          <a:p>
            <a:r>
              <a:t>Техника в обоих случаях соседняя. И там и там обученная модель восстанавливает изображение, которого в исходных данных нет: на томограмме нет видимых букв, пока распознаватель не покажет, где чернила; в кадре 4:3 нет краёв декорации, пока модель их не достроит. Архитектура близкая, обучение то же, инженерная задача формулируется похожими словами.</a:t>
            </a:r>
          </a:p>
          <a:p>
            <a:r>
              <a:t/>
            </a:r>
          </a:p>
          <a:p>
            <a:r>
              <a:t>Этика противоположная, и различие укладывается в одну фразу: в первом случае модель отвечает на вопрос, который имеет проверяемый ответ, во втором — на вопрос, у которого ответа нет и который поэтому решается вкусом.</a:t>
            </a:r>
          </a:p>
          <a:p>
            <a:r>
              <a:t/>
            </a:r>
          </a:p>
          <a:p>
            <a:r>
              <a:t>Граница между восстановлением и выдумыванием проходит ровно здесь, и проводит её один признак: существует ли способ проверить результат независимо от того, кто его получил. Ни технология, ни доля тронутого в этом не участвуют. Прочитанное слово проверяется греческой филологией, соседними колонками и сопоставлением с другими свитками того же собрания — и если распознаватель ошибся, это обнаружит филолог, не имеющий отношения к команде, которая его обучала. Достроенный край декорации не проверяется ничем: оригинала этого края не существует, и единственный критерий его правильности — правдоподобие, то есть вкус исполнителя.</a:t>
            </a:r>
          </a:p>
          <a:p>
            <a:r>
              <a:t/>
            </a:r>
          </a:p>
          <a:p>
            <a:r>
              <a:t>Стоит проверить это различение на третьем случае, чтобы оно не выглядело подогнанным под два примера. Повышение разрешения архивной фотографии: модель дорисовывает детали, которых в исходном файле нет, и проверить их нечем — негатива с большей детальностью не существует. Значит задача художественная, как бы аккуратно она ни была сделана. А восстановление пропущенного замера в ряду данных, где соседние замеры известны и физика процесса задана: предсказанное значение проверяется и моделью процесса, и последующим прямым измерением. Значит задача восстановительная. Доля изменённого в обоих случаях может быть одинаковой; разводит их независимая проверка, и больше ничего.</a:t>
            </a:r>
          </a:p>
          <a:p>
            <a:r>
              <a:t/>
            </a:r>
          </a:p>
          <a:p>
            <a:r>
              <a:t>Отсюда практическое правило выбора, которое шире обоих случаев и применимо далеко за пределами культурного наследия. Прежде чем применять порождающую модель к восстановлению чего бы то ни было — архивной записи, повреждённого документа, утраченного фрагмента данных, пропущенного замера, — спросите, чем будет проверен результат. Есть эталон или независимый способ сверки — задача реставрационная, и модель в ней уместна. Эталона нет — задача художественная, и результат надо так и называть, честно и в тех же словах, в которых он потом будет продаваться.</a:t>
            </a:r>
          </a:p>
          <a:p>
            <a:r>
              <a:t/>
            </a:r>
          </a:p>
          <a:p>
            <a:r>
              <a:t>Процент тронутого при этом ни при чём. Случай с девяноста процентами был бы столь же корректен, продавайся он как новое произведение по мотивам: зритель, купивший билет на «новое прочтение», получил бы ровно то, за что заплатил. Он продаётся как показ фильма — и именно в этом расхождении между тем, что сделано, и тем, как это названо, и состоит вся претензия. Ни в технологии, ни в доле.</a:t>
            </a:r>
          </a:p>
          <a:p>
            <a:r>
              <a:t/>
            </a:r>
          </a:p>
          <a:p>
            <a:r>
              <a:t>Та же пара, в которой техника одна, а назначение противоположное, встречалась в вечере уже дважды: разделение записи на отдельные источники против порождения голоса, который никогда не звучал. Это не совпадение. Оно показывает, где вообще проходит водораздел, по которому инженер принимает решение о применимости: он проходит между вопросом с проверяемым ответом и вопросом без него, и качество модели тут ни при чём.</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Параллель с лекциями про языковые модели здесь прямее, чем в любом другом разделе вечера, и строится она на уже введённых словах.</a:t>
            </a:r>
          </a:p>
          <a:p>
            <a:r>
              <a:t/>
            </a:r>
          </a:p>
          <a:p>
            <a:r>
              <a:t>Первая из двух опорных моделей режет картинку на патчи фиксированного размера, линейно проецирует каждый в вектор и отправляет последовательность в обычный трансформер-энкодер — тот же, что для текста, безо всяких свёрток. Обозначение вида «большая модель с патчем шестнадцать на шестнадцать» читается буквально; длина последовательности обратно пропорциональна квадрату размера патча — тот же закон, который раздел про изображение выводил для диффузионного трансформера, потому что это буквально та же конструкция. Размеры линейки: восемьдесят шесть миллионов параметров, триста семь, шестьсот тридцать два.</a:t>
            </a:r>
          </a:p>
          <a:p>
            <a:r>
              <a:t/>
            </a:r>
          </a:p>
          <a:p>
            <a:r>
              <a:t>Несущий тезис той работы стоит привести, потому что он объясняет сразу две области: масштаб обучения бьёт встроенное знание о локальности. На малых данных модель на патчах проигрывает свёрточной сети — у свёртки знание о том, что соседние пиксели связаны, встроено в конструкцию, у трансформера его нет; при предобучении на сотнях миллионов изображений трансформер обгоняет, восемьдесят восемь с половиной процентов верных ответов. Тем же доводом раздел про изображение обосновывал переход от свёрточной архитектуры к трансформеру в генерации: один довод, две области, разница в два года.</a:t>
            </a:r>
          </a:p>
          <a:p>
            <a:r>
              <a:t/>
            </a:r>
          </a:p>
          <a:p>
            <a:r>
              <a:t>Вторая опорная модель — пара энкодеров, изображений и текста, проецирующих то и другое в общее пространство. Обучение контрастное, на четырёхстах миллионах пар «изображение — подпись»: задача — предсказать, какая подпись какому изображению из пачки соответствует. Результат — классификация без единого обучающего примера целевого набора, на уровне свёрточной сети прошлого поколения.</a:t>
            </a:r>
          </a:p>
          <a:p>
            <a:r>
              <a:t/>
            </a:r>
          </a:p>
          <a:p>
            <a:r>
              <a:t>Почему эти две модели стоят в разговоре про порождение. Обе решают распознающие задачи и ничего не порождают — а генераторы стоят на них: текстовый энкодер и есть понимание запроса в ранних диффузионных моделях, и принятая автоматическая мера соответствия картинки запросу считается той же моделью. Понимание текста внутри генератора — заимствованная распознающая модель.</a:t>
            </a:r>
          </a:p>
          <a:p>
            <a:r>
              <a:t/>
            </a:r>
          </a:p>
          <a:p>
            <a:r>
              <a:t>Что расходится. Языковая модель предсказывает распределение вероятностей на словаре и выдаёт следующий токен, за ним следующий — столько проходов, сколько токенов. Распознаватель делает один проход и выдаёт число. Отсюда три практических различия. Стоимость: распознавание дешевле порождения на порядки, и именно поэтому его можно ставить на поток — модерация каждого загружаемого файла, разметка всего архива, контроль каждого выхода генератора. Проверяемость: у распознавателя есть эталонная разметка, качество измеряется числом и сравнивается между моделями; у генератора эталона нет по построению. Обучение: берут размеченный набор, модель выдаёт распределение по классам, его сравнивают с правильным ответом, градиент идёт назад — тот же функционал потерь, что в предсказании следующего токена, различие только в числе классов.</a:t>
            </a:r>
          </a:p>
          <a:p>
            <a:r>
              <a:t/>
            </a:r>
          </a:p>
          <a:p>
            <a:r>
              <a:t>Отсюда поворот, которым стоит закрыть устройство: в творческом производстве распознавание стоит рядом с порождением и решает больше задач. Поиск по архиву, разметка стоков, отбор дублей, модерация, подбор референса, контроль выхода генератора — всё это распознающие задачи, они дешевле на порядки и дают проверяемый ответ.</a:t>
            </a:r>
          </a:p>
          <a:p>
            <a:r>
              <a:t/>
            </a:r>
          </a:p>
          <a:p>
            <a:r>
              <a:t>И отдельно — две технологии происхождения, устроенные противоположным образом. Подпись снаружи: в файл встраивается манифест с утверждениями о том, кто автор и что применялось, и подписывается сертификатом; привязка бывает жёсткой, по хешам, и мягкой, по отпечатку содержимого. Слабость честно описана в самой спецификации: снимок экрана — это новый файл, ни манифеста, ни совпадающего хеша. Знак внутри: две сети обучаются совместно, одна вставляет знак, другая его находит, причём незаметность достигают, подстраивая знак под содержимое; знак живёт в пикселях и переживает потерю служебных полей. Фундаментальное ограничение названо в самой статье: знак живёт на энтропии распределения, а каждый слой розыгрыша её расходует. Короткий текст, низкая температура, код и фактические ответы маркируются плохо.</a:t>
            </a:r>
          </a:p>
          <a:p>
            <a:r>
              <a:t/>
            </a:r>
          </a:p>
          <a:p>
            <a:r>
              <a:t>Три вещи совпадают у распознавателя с порождающей моделью буквально. Те же блоки внимания с теми же запросами, ключами и значениями. Тот же механизм эмбеддинга и то же дообучение низкоранговыми адаптерами. И та же развязка «представление входа отдельно, модель отдельно»: патч здесь — ровно то же, чем токен был в тексте, и способ нарезки входа решает больше, чем размер самой сети.</a:t>
            </a:r>
          </a:p>
          <a:p>
            <a:r>
              <a:t/>
            </a:r>
          </a:p>
          <a:p>
            <a:r>
              <a:t>Отдельно стоит запомнить, что масштаб обучения бьёт встроенное знание о локальности: модель зрения на патчах, у которой встроенного знания о соседстве пикселей нет вовсе, на сотнях миллионов изображений выходит на 88,55 процента верных ответов и обходит свёрточные сети. Это то же наблюдение, что и в тексте, — достаточно большой корпус заменяет встроенные допущения о строении данных.</a:t>
            </a:r>
          </a:p>
          <a:p>
            <a:r>
              <a:t/>
            </a:r>
          </a:p>
          <a:p>
            <a:r>
              <a:t>Практический вывод из всей этой пары: там, где задача формулируется как «найти среди существующего», генератор — неправильный инструмент, и правильный стоит рядом. Дешевизна прямого прохода означает, что модерацию каждого загружаемого файла и разметку всего архива можно ставить на поток; десятки шагов снятия шума на каждую единицу выхода такой возможности не дают.</a:t>
            </a:r>
          </a:p>
          <a:p>
            <a:r>
              <a:t/>
            </a:r>
          </a:p>
          <a:p>
            <a:r>
              <a:t>Два упоминания со знаменателем, и оба стоят здесь не потому, что их разбирает звуковая дорожка этого раздела (запись `r5` не называет ни Steam, ни автодубляж ни словом — это материал курса, не ход её дуги), а потому, что они несут редкую для вечера вещь: счёт, который может повторить посторонний человек, вместо опроса или оценки аналитика.</a:t>
            </a:r>
          </a:p>
          <a:p>
            <a:r>
              <a:t/>
            </a:r>
          </a:p>
          <a:p>
            <a:r>
              <a:t>Steam, площадка цифровой дистрибуции компьютерных игр, с января 2024 года требует от разработчиков раскрывать применение генеративных средств и показывает это раскрытие публично на странице игры. Берём один ряд со знаменателем в той же строке — долю релизов года: десять и девять десятых процента в 2024-м, девятнадцать и девять десятых в 2025-м, тридцать и восемь десятых к июлю 2026-го. Знаменатель у всех трёх один и тот же: все игры, вышедшие в соответствующем году. Ряд подтверждён вторым независимым счётом по пятидесяти трём с половиной тысячам релизов за три года. У второго счёта есть и то, чего нет у первого: игры с раскрытием собирают от десяти до двадцати семи процентов оценочных продаж того же периода против трёх-шести процентов в 2024 году, составляя при этом треть релизов.</a:t>
            </a:r>
          </a:p>
          <a:p>
            <a:r>
              <a:t/>
            </a:r>
          </a:p>
          <a:p>
            <a:r>
              <a:t>Две оговорки обязательны. Первая: раскрытие обязательно по факту и добровольно по содержанию — разработчик обязан его сделать, но решает сам, что именно написать, поэтому все доли читаются как нижняя граница. Вторая оговорка важнее первой, и она про дисциплину счёта. По этой же площадке обращается второй ряд, с другим знаменателем: доля каталога целиком вместо доли релизов года — около процента в 2024-м, около семи в 2025-м. Оба ряда верны, и оба опубликованы, но базы у них разные: в первом знаменатель обновляется каждый год, во втором накапливается с самого запуска площадки и содержит десятки тысяч игр, вышедших задолго до появления генеративных средств. Поставить начало одного ряда рядом с концом другого — и получится рост, которого не было ни в одном из них. Это ловушка ровно того класса, за которую курс бьёт отдельно, и попасть в неё легко без всякого злого умысла: оба числа честные, источник один и тот же, а вывод из их пары — ложный. Правило простое: один ряд, знаменатель рядом.</a:t>
            </a:r>
          </a:p>
          <a:p>
            <a:r>
              <a:t/>
            </a:r>
          </a:p>
          <a:p>
            <a:r>
              <a:t>Второе упоминание. YouTube включил автоматический дубляж на всей партнёрской программе одиннадцатого февраля 2025 года; восемь языков на старте. Единственное опубликованное число об эффекте — свыше двадцати пяти процентов времени просмотра на каналах, выложивших многоязычные дорожки, приходится на показы не на основном языке видео. Сколько это каналов, площадка не раскрыла, и знаменатель остаётся без числа у этой стороны счёта. База для этой четверти — ноль, и это надо произнести, иначе число выглядит перераспределением существующего внимания: у автора, снимающего на одном языке, аудитории на других языках раньше не было вовсе, и дубляж для неё не заказывался — ставка диктора делает локализацию любительского канала бессмысленной экономически. То есть эта четверть времени просмотра пришла из пустоты, ничего не заместив. Это та же фигура, что во всём вечере: подешевела попытка, и появился рынок, которого не было.</a:t>
            </a:r>
          </a:p>
          <a:p>
            <a:r>
              <a:t/>
            </a:r>
          </a:p>
          <a:p>
            <a:r>
              <a:t>Почему именно игры дали ряд со знаменателем, а остальные отрасли вечера — нет. Раскрытие здесь обязательно по правилам площадки, стоит на видном месте карточки товара и проверяется любым посторонним человеком без доступа к внутренним данным. Во всех остальных модальностях сведения о доле машинного приходят из опросов, из оценок аналитиков или из распознавателей, у которых есть собственная ошибка. Отсюда полезное наблюдение для любой отрасли: там, где нужна достоверная доля, дешевле ввести обязательное раскрытие, чем строить измеритель.</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читать вторую строку таблицы, попробуйте предсказать ответ сами: распознаватель даёт девяносто девять и девять десятых процента на том семействе моделей, на котором он обучен, — даже на пережатых файлах. Сколько он даст на модели, которой никогда не видел? Обычные предположения — процентов восемьдесят-девяносто, он же распознаёт артефакты генерации вообще; процентов семьдесят; заметно хуже, но всё же полезно.</a:t>
            </a:r>
          </a:p>
          <a:p>
            <a:r>
              <a:t/>
            </a:r>
          </a:p>
          <a:p>
            <a:r>
              <a:t>Ответ: пятьдесят один и девять десятых процента. Монета. И это на чистом несжатом файле; после прохождения через соцсеть — ровно пятьдесят.</a:t>
            </a:r>
          </a:p>
          <a:p>
            <a:r>
              <a:t/>
            </a:r>
          </a:p>
          <a:p>
            <a:r>
              <a:t>Теперь по таблице целиком, потому что из неё читаются три разных вывода и смешивать их нельзя. Все распознаватели в этой работе обучены только на одном семействе генераторов и проверены на других; вторая колонка имитирует прохождение файла через соцсеть — обрезка, изменение размера, пережатие со случайным качеством.</a:t>
            </a:r>
          </a:p>
          <a:p>
            <a:r>
              <a:t/>
            </a:r>
          </a:p>
          <a:p>
            <a:r>
              <a:t>Первый вывод: смена генератора убивает распознаватель. Девяносто девять и девять десятых на обученном семействе превращаются в пятьдесят один и девять десятых на DALL·E 2 и пятьдесят один и две десятых на ADM. Это подбрасывание монеты, причём на чистом файле, без всякой обработки. Причина механическая: распознаватель учится отличать следы конкретного генератора, а не «признак синтеза вообще», и следов нового генератора он не видел никогда.</a:t>
            </a:r>
          </a:p>
          <a:p>
            <a:r>
              <a:t/>
            </a:r>
          </a:p>
          <a:p>
            <a:r>
              <a:t>Второй вывод: обычная обработка убивает распознаватель там, где он работал. На StyleGAN2, где он давал девяносто восемь, после обрезки и пережатия остаётся шестьдесят три. Формулировка авторов точна: криминалистические следы очень слабы и легко удаляются даже этими недоброжелательными шагами обработки. То есть соцсеть ломает распознаватель, не имея такого намерения, — просто пережимая картинку при загрузке.</a:t>
            </a:r>
          </a:p>
          <a:p>
            <a:r>
              <a:t/>
            </a:r>
          </a:p>
          <a:p>
            <a:r>
              <a:t>Третий вывод — ловушка приёмки, и это готовый урок. Дословно у авторов: качество приемлемо в терминах площади под кривой, но почти случайно в терминах доли верных ответов. Причина механическая: порог, подобранный на обучающих данных, уезжает на данных другого происхождения. Площадь под кривой измеряет, насколько хорошо модель упорядочивает примеры при каком угодно пороге, и она может быть прекрасной у системы, которая при своём рабочем пороге ошибается в половине случаев. На чистом файле здесь площадь под кривой девяносто четыре и девять десятых при доле верных ответов пятьдесят один и девять десятых; после сжатия — шестьдесят четыре и четыре десятых при ровно пятидесяти. Решение, которое система реально принимает, от монеты не отличается.</a:t>
            </a:r>
          </a:p>
          <a:p>
            <a:r>
              <a:t/>
            </a:r>
          </a:p>
          <a:p>
            <a:r>
              <a:t>Рабочее правило отсюда прямое: спрашивайте долю верных ответов при рабочем пороге, а не площадь под кривой. Это продолжение тезиса, который курс уже проводил на языковых моделях: оптимизация под метрику обыгрывает метрику, и выбор метрики приёмки важнее выбора модели.</a:t>
            </a:r>
          </a:p>
          <a:p>
            <a:r>
              <a:t/>
            </a:r>
          </a:p>
          <a:p>
            <a:r>
              <a:t>Попытка починить в той же работе есть, и результат показателен. Дообучение на латентной диффузии, слияние с прежним распознавателем и калибровка по двум настоящим и двум синтетическим примерам на каждую модель поднимают среднее с семидесяти пяти и восьми десятых до восьмидесяти семи и восьми десятых. Знаменатель этого среднего надо назвать, иначе оно читается как «вообще»: среднее считается по тем же двенадцати генераторам, которыми измерен и исходный результат, — ProGAN, StyleGAN2, StyleGAN3, BigGAN, EG3D, Taming Transformers, DALL·E Mini, DALL·E 2, GLIDE, латентная диффузия, Stable Diffusion и ADM. И внутри этого среднего два генератора остаются внизу: DALL·E 2 — шестьдесят шесть и девять десятых, ADM — семьдесят и восемь. То есть среднее подняли, а дыру не закрыли. Вывод авторов: мы по-прежнему не можем надёжно детектировать изображения с артефактами, существенно отличными от виденных при обучении.</a:t>
            </a:r>
          </a:p>
          <a:p>
            <a:r>
              <a:t/>
            </a:r>
          </a:p>
          <a:p>
            <a:r>
              <a:t>И отдельная деталь — пример утечки признака, полезный далеко за пределами этой задачи. Настоящие фотографии всегда сжаты камерой, а синтетические образцы часто хранятся без потерь. Распознаватель может ловить отсутствие артефактов сжатия вместо самого генератора и показывать на тестовом наборе прекрасные числа, которые в работе рассыплются при первой же настоящей фотографии, сохранённой без потерь.</a:t>
            </a:r>
          </a:p>
          <a:p>
            <a:r>
              <a:t/>
            </a:r>
          </a:p>
          <a:p>
            <a:r>
              <a:t>Ещё одна пара чисел из той же таблицы: обработка файла здесь ни при чём. На DALL·E 2 распознаватель даёт 51,9 процента на чистом несжатом файле, без всякой обработки; после прохождения через соцсеть — ровно 50,0. То есть он и так уже монета, и сжатие площадки её не портит, потому что портить нечего. Для сравнения: на знакомом семействе он даёт 99,9 и держит 99,9 после обрезки, сжатия и пережатия. Прочность внутри своего семейства и беспомощность за его пределами — это одно и то же свойство, увиденное с двух сторон.</a:t>
            </a:r>
          </a:p>
          <a:p>
            <a:r>
              <a:t/>
            </a:r>
          </a:p>
          <a:p>
            <a:r>
              <a:t>Отдельно стоит произнести вывод авторов работы дословно, потому что он сильнее любого пересказа: «мы по-прежнему не можем надёжно детектировать изображения с артефактами, существенно отличными от виденных при обучении». Это сказано не критиками метода, а теми, кто его измерял.</a:t>
            </a:r>
          </a:p>
          <a:p>
            <a:r>
              <a:t/>
            </a:r>
          </a:p>
          <a:p>
            <a:r>
              <a:t>Починка, о которой идёт речь в последней строке кадра, складывается из трёх приёмов разом: дообучения, слияния нового распознавателя с прежним и калибровки по двум примерам на каждую модель. Среднее по тем же двенадцати генераторам поднимается с 75,8 до 87,8 процента — и это настоящий прогресс. Но DALL·E 2 после всей починки остаётся на 66,9, а ADM на 70,8: до рабочего качества приёмки не дотягивает ни один из двух.</a:t>
            </a:r>
          </a:p>
          <a:p>
            <a:r>
              <a:t/>
            </a:r>
          </a:p>
          <a:p>
            <a:r>
              <a:t>И третий вывод той же таблицы, который легко потерять за первыми двумя: обычная обработка ломает распознаватель там, где он работал. На StyleGAN2 он давал 98,1 процента; после обрезки, изменения размера и пережатия — 63,3. То есть соцсеть, которая просто пережимает загруженную картинку, ломает распознаватель, не имея такого намерения вовсе.</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происхождение снимка отрасль говорит двумя противоположными способами: подпись снаружи файла и знак внутри пикселей. Подпись снаружи — в файл встраивается манифест: кто автор, чем создано, что применялось, — и подписывается сертификатом; привязка хрупкая по построению, снимок экрана или пересжатие её рвут. Знак внутри живёт в пикселях и такую обработку переживает, но у него свой предел — слабеет там, где выбирать почти не из чего. Оба открытия этого кадра — про первый способ, про подпись снаружи, и оба — про то, что криптография в них не сломалась ни разу.</a:t>
            </a:r>
          </a:p>
          <a:p>
            <a:r>
              <a:t/>
            </a:r>
          </a:p>
          <a:p>
            <a:r>
              <a:t>Первое открытие, 25 августа 2026 года. Исследователь Дэвид Бьюкенен (псевдоним retr0id) показал на собственном блоге обход подписи камеры Google Pixel без всякой пересъёмки экрана. Условие — root на устройстве, полученный известным локальным эксплойтом повышения привилегий (CVE-2026-43499, уязвимость ядра Linux, use-after-free в rtmutex — обычный баг операционной системы, никак не специфичный для камер). С root атакующий не крадёт ключ: он просит аппаратный защищённый модуль StrongBox подписать произвольные данные, в том числе полностью сгенерированное изображение, тем же ключом, которым подписывает настоящая камера. Пострадавшее приложение — Pixel Camera — на момент находки несло наивысший сертификат доверия программы C2PA Conformance, Assurance Level 2: ломается не слабый случай, а образцовый. Google признала уязвимость, выплатила семь тысяч пятьсот долларов и закрыла отчёт статусом «не будет исправлено, неосуществимо» — исправление означало бы перестроить весь конвейер обработки изображения так, чтобы он целиком работал внутри защищённого анклава.</a:t>
            </a:r>
          </a:p>
          <a:p>
            <a:r>
              <a:t/>
            </a:r>
          </a:p>
          <a:p>
            <a:r>
              <a:t>Второе открытие, пять недель спустя, 2 октября 2026 года, — и это НЕ то же самое, хотя исследователь тот же и тема та же. Здесь сломан не телефон конкретного производителя, а сама спецификация C2PA, и сломана без root, без эксплойта, без доступа к устройству вообще. Механизм — «исключаемые диапазоны байт», предусмотренные самой спецификацией: из того, что покрывает хеш и подпись, можно исключить произвольный участок файла, и ничто не мешает исключить его целиком. Подпись и метка времени в таком файле стоят буквально над пустой строкой — математически корректная подпись ничего содержательного не удостоверяет. Иллюстрация, которую даёт сам разбор: сфотографировать настоящий лотерейный билет до розыгрыша, затем вписать в уже подписанный снимок номера, объявленные после съёмки, — подпись продолжает утверждать, что снимок снят раньше розыгрыша. Предупреждали об этом заранее: о слишком широком исключаемом диапазоне ещё в июне 2025 года писал независимый исследователь Нил Кравец — за год до находки ничего не изменилось, и на день публикации разбора ни правки спецификации, ни исправления вендора не объявлено.</a:t>
            </a:r>
          </a:p>
          <a:p>
            <a:r>
              <a:t/>
            </a:r>
          </a:p>
          <a:p>
            <a:r>
              <a:t>Почему их нельзя склеивать в одно «обход подписи камеры». У событий разное условие входа, и это не формальность. Августовское честно назвать можно только с оговоркой «нужен root» — без неё аудитория услышит «подпись камеры ничего не стоит», что для августовского случая неправда: без root атаки нет. Октябрьское, наоборот, даёт право именно на эту сильную формулировку, потому что для него не нужно ничего — ни root, ни доступа к устройству, только сам файл. Сложенные вместе без условий, два открытия образуют утверждение сильнее одного источника и слабее другого — ровно та ошибка точности, за которую курс бьёт отдельно.</a:t>
            </a:r>
          </a:p>
          <a:p>
            <a:r>
              <a:t/>
            </a:r>
          </a:p>
          <a:p>
            <a:r>
              <a:t>Что общего у обоих, несмотря на разные условия. Криптография в обоих случаях отработала ровно так, как было написано: подпись подлинная, цепочка не нарушена, математика сходится. Провалилось не шифрование — провалилось допущение, которое все вокруг механизма держали в голове и никто не записал: «если файл подписан, значит подписант ручается за содержимое». Августовский случай нарушает это допущение, подменяя данные, которые подписывает легитимный ключ. Октябрьский нарушает его ещё радикальнее: подписывать вообще не обязательно что-то содержательное.</a:t>
            </a:r>
          </a:p>
          <a:p>
            <a:r>
              <a:t/>
            </a:r>
          </a:p>
          <a:p>
            <a:r>
              <a:t>Отсюда формулировка, которую стоит унести из раздела целиком: подпись удостоверяет, КТО (и чем) подписал, а не ЧТО происходило перед объективом, и в октябрьском случае — даже не то, что вообще было что подписывать. Это тот же класс ошибки, который курс уже разбирал на ограниченном декодировании в лекции про языковые модели: механизм выполнил ровно то, что обещал, а обещал он не то, чего от него ждали. Проверяя любое средство удостоверения, стоит задавать один и тот же вопрос — какое именно утверждение оно делает проверяемым, — и для обоих открытий этого кадра честный ответ один: проверяемо, кто держит ключ; не проверяемо, что было в кадре.</a:t>
            </a:r>
          </a:p>
          <a:p>
            <a:r>
              <a:t/>
            </a:r>
          </a:p>
          <a:p>
            <a:r>
              <a:t>Вторая граница того же рода, и она структурная. У ответа языковой модели, снабжённой поиском по документам, ссылка есть: система нашла фрагмент, подложила его в контекст и может назвать, откуда он, — проверка возможна, откройте документ. У сгенерированного изображения ссылки нет и быть не может. Деталь в кадре — скажем, форма застёжки на пальто — не взята ни из какого конкретного обучающего изображения: она получена снятием шума, шаг за шагом, пока в этом месте не сложилась форма, правдоподобная для данного запроса. Спросить «откуда эта застёжка» некого, подложить источник истины в снятие шума некуда; запрос подсказывает форму и истины не содержит вовсе. Вывод из этого важен для суждения о технологии в целом: «поиск по документам для картинок» — ошибка в постановке задачи, а не отсутствующая функция, которую когда-нибудь доделают. Проверка сгенерированного изображения остаётся снаружи модели: сверка с эталоном, с чертежом, с физикой, с человеком, который видел предмет.</a:t>
            </a:r>
          </a:p>
          <a:p>
            <a:r>
              <a:t/>
            </a:r>
          </a:p>
          <a:p>
            <a:r>
              <a:t>Общая мысль, которой закрываются обе половины раздела. Граница между снятым и синтезированным размылась штатным рабочим конвейером и дырой в самой спецификации, а не атакой злоумышленника из фильма про хакеров. Кадр, вышедший из нейросетевой графики реального времени, не снимал и не рисовал никто — пятнадцать пикселей из шестнадцати на экране сгенерированы сетью, и никакого злого умысла в этом нет, это настройка качества в игре. Файл с подписанной подделкой несёт настоящий сертификат настоящего ключа и изображает то, чего перед объективом не было, — и в октябрьском случае для этого даже не нужен root, только знание формата.</a:t>
            </a:r>
          </a:p>
          <a:p>
            <a:r>
              <a:t/>
            </a:r>
          </a:p>
          <a:p>
            <a:r>
              <a:t>Для практики отсюда следует вопрос, который надо задавать любой системе подтверждения подлинности: что именно она удостоверяет и какое допущение связывает удостоверенное с тем, что вас на самом деле интересует. Здесь удостоверяется, кто (и чем) подписал; интересует — что происходило перед объективом; связывает их допущение, которое оба открытия нарушают — одно с root, другое вовсе без него.</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из двух случаев раздела, где посчитаны обе стороны в одних единицах. Таких случаев во всей лекции семь, и два последних стоят здесь подряд.</a:t>
            </a:r>
          </a:p>
          <a:p>
            <a:r>
              <a:t/>
            </a:r>
          </a:p>
          <a:p>
            <a:r>
              <a:t>Единица измерения — доля материалов, потребовавших исправления. Цена ошибки «выпустить неверное» измерена с обеих сторон, и это редкость. Цена ошибки «не выпустить вовремя» в источниках отсутствует: нормы выработки редакции финансового раздела в подборке нет, хотя в отраслевой практике такая величина существует. Пробел назван.</a:t>
            </a:r>
          </a:p>
          <a:p>
            <a:r>
              <a:t/>
            </a:r>
          </a:p>
          <a:p>
            <a:r>
              <a:t>Оба классических режима посчитаны одной мерой. Режим первый — машинный конвейер издания: с ноября 2022 по январь 2023 года выпущено семьдесят семь статей, подготовленных внутренним движком и подписанных редакционной подписью. После огласки редакция провела сплошную проверку: сорок одна из семидесяти семи, то есть пятьдесят три процента, потребовали исправлений, часть существенных — в том числе арифметика в объяснительном материале про сложный процент. Режим второй — обычная редакция без модели: независимые аудиты точности газетных материалов дают от сорока до шестидесяти одного процента статей, содержащих хотя бы одну ошибку, и публично исправляется при этом около двух процентов.</a:t>
            </a:r>
          </a:p>
          <a:p>
            <a:r>
              <a:t/>
            </a:r>
          </a:p>
          <a:p>
            <a:r>
              <a:t>Теперь сопоставление, и вывод из него контринтуитивный — в нём вся ценность разбора. Пятьдесят три процента у машинного конвейера лежат внутри коридора сорок — шестьдесят один процент классического режима. По частоте ошибок разрыва между двумя режимами не обнаружено вовсе. Разрыв обнаружен в другом месте: в доле исправленного публично — около половины против примерно двух процентов. Машинный конвейер под огласку исправил половину демонстративно; классический режим тихо живёт с той же частотой ошибок десятилетиями.</a:t>
            </a:r>
          </a:p>
          <a:p>
            <a:r>
              <a:t/>
            </a:r>
          </a:p>
          <a:p>
            <a:r>
              <a:t>Отсюда правило, полезнее утверждения «модель ошибается чаще»: замеренный провал новой технологии надо сравнивать с замеренным поведением старой, а не с воображаемым. Воображаемая редакция без модели не ошибается никогда; измеренная ошибается в каждой второй статье. Это не оправдание машинного конвейера — это условие, без которого нельзя сказать, что именно он ухудшил, а что оставил как было.</a:t>
            </a:r>
          </a:p>
          <a:p>
            <a:r>
              <a:t/>
            </a:r>
          </a:p>
          <a:p>
            <a:r>
              <a:t>Что переехало. Переехала ответственность за проверку — без нормы времени на неё. Конвейер производства ускорился в разы, норма проверки осталась прежней, и разрыв между ними заполнился исправлениями. Человек в контуре без выделенного на проверку времени оказался подписью, а не процедурой. Унести из случая в собственную работу стоит вот что: когда генерация удешевляет производство в разы, а приёмка остаётся прежней по численности и по нормативу, приёмка перестаёт быть приёмкой — независимо от того, насколько добросовестны люди в ней.</a:t>
            </a:r>
          </a:p>
          <a:p>
            <a:r>
              <a:t/>
            </a:r>
          </a:p>
          <a:p>
            <a:r>
              <a:t>Повторю сопоставление в правильном порядке — в нём вся ценность разбора. Пятьдесят три процента материалов машинного конвейера потребовали исправлений. Коридор обычной редакции без всякой модели — от сорока до шестидесяти одного процента. Пятьдесят три лежат внутри коридора, а не за ним: по частоте ошибок разрыва между двумя режимами не обнаружено вовсе.</a:t>
            </a:r>
          </a:p>
          <a:p>
            <a:r>
              <a:t/>
            </a:r>
          </a:p>
          <a:p>
            <a:r>
              <a:t>Разрыв обнаружен в другом месте, и он большой. Машинный конвейер под огласку исправил около половины материалов публично; классический режим десятилетиями живёт с той же частотой ошибок и публично исправляет около двух процентов. То есть новая технология оказалась не хуже по ошибкам и заметно честнее по признанию — не потому, что она лучше, а потому, что на неё смотрели.</a:t>
            </a:r>
          </a:p>
          <a:p>
            <a:r>
              <a:t/>
            </a:r>
          </a:p>
          <a:p>
            <a:r>
              <a:t>Отсюда правило, полезнее утверждения «модель ошибается чаще»: замеренный провал новой технологии сравнивают с замеренным поведением старой, а не с воображаемым. Воображаемая старая технология не ошибается никогда, и относительно неё любая новая выглядит катастрофой.</a:t>
            </a:r>
          </a:p>
          <a:p>
            <a:r>
              <a:t/>
            </a:r>
          </a:p>
          <a:p>
            <a:r>
              <a:t>Устройство случая надо знать точно. С ноября 2022 по январь 2023 года технологическое издание выпустило семьдесят семь статей, подготовленных внутренним машинным движком и опубликованных под редакционной подписью «CNET Money Staff»; имя изделия публично не названо — искали, не нашли. Заявленная редакционная проверка существовала: человек в контуре был. Именно этот контур пропустил сорок один материал, часть ошибок — существенные, включая арифметику в объяснительном материале про сложный процент.</a:t>
            </a:r>
          </a:p>
          <a:p>
            <a:r>
              <a:t/>
            </a:r>
          </a:p>
          <a:p>
            <a:r>
              <a:t>Чем это чинится — рабочий ответ отрасли, и он стоит рядом с числами разбора. Ни одна из принятых мер не потребовала лучшей модели; все потребовали названного человека на названном шаге. Associated Press в августе 2023 года переопределило вывод генеративного инструмента как непроверенный исходный материал — этим снимается сам вопрос «можно ли публиковать без проверки». Редакционная политика Guardian требует для значимых сгенерированных элементов явного разрешения старшего редактора; формулировка BBC — в любом применении модели в редакционных целях должна быть старшая редакционная фигура, ответственная и подотчётная. Springer Nature кодифицировало высший уровень риска: применение, подменяющее экспертное суждение, не разрешено вовсе, независимо от качества вывода.</a:t>
            </a:r>
          </a:p>
          <a:p>
            <a:r>
              <a:t/>
            </a:r>
          </a:p>
          <a:p>
            <a:r>
              <a:t>Что общего у всех четырёх норм. Ни одна не запрещает применение модели и ни одна не вводит порога качества — и это не упущение: порог был бы бессмысленным, потому что частота ошибок у классического режима лежит в коридоре от сорока до шестидесяти одного процента, и любой порог ниже этого запретил бы заодно и обычную редакцию. Все четыре называют человека: старшего редактора, дающего разрешение; редакционную фигуру, ответственную и подотчётную; редактора, проверяющего вывод как непроверенный исходный материал. Закрывает разрыв между скоростью конвейера и скоростью проверки одно из двух: либо норма времени на проверку, выраженная в часах и поставленная в план, либо названный человек, который подписывается под выпуском и у которого есть право не подписать.</a:t>
            </a:r>
          </a:p>
          <a:p>
            <a:r>
              <a:t/>
            </a:r>
          </a:p>
          <a:p>
            <a:r>
              <a:t>Измеренный отклик аудитории: опрос шести стран, около двенадцати тысяч респондентов, лето 2025 года. Новость, сделанная полностью машиной, комфортна двенадцати процентам; машиной с человеком в контуре — двадцати одному; человеком с помощью модели — сорока трём; полностью человеком — шестидесяти двум. Человеческий надзор повышает приемлемость втрое, и там же виден его потолок: требование аудитории адресовано раскрытию, не запрету — «скажите, что применили», а не «не применяйте».</a:t>
            </a:r>
          </a:p>
          <a:p>
            <a:r>
              <a:t/>
            </a:r>
          </a:p>
          <a:p>
            <a:r>
              <a:t>К этому наблюдению разбор и сводится. «Человек в контуре» — не мера безопасности сама по себе. Мерой он становится тогда, когда у него есть норма времени на проверку, соразмерная скорости конвейера, и право остановить выпуск. Без этих двух условий человек в контуре превращается в подпись под чужой работой, которую он физически не успел прочесть.</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случай с посчитанными обеими сторонами, и он сильнее предыдущего по одной причине: обе половины измерены одним и тем же способом на одной и той же выборке, а не заимствованы из соседнего исследования с другой методикой.</a:t>
            </a:r>
          </a:p>
          <a:p>
            <a:r>
              <a:t/>
            </a:r>
          </a:p>
          <a:p>
            <a:r>
              <a:t>Единица — плотность живого свидетельства на тысячу слов. Цена «выпустить машинный текст» измерена: прямых цитат в два и одну десятую раза меньше, комментариев экспертов в два и шесть десятых раза меньше, средняя длина семьсот семьдесят три слова против тысячи девяноста. Цена «не выпустить вовремя» отсутствует, как и в предыдущем разборе: нормы выработки редакции второго эшелона в подборке нет.</a:t>
            </a:r>
          </a:p>
          <a:p>
            <a:r>
              <a:t/>
            </a:r>
          </a:p>
          <a:p>
            <a:r>
              <a:t>Оба режима посчитаны одной мерой на одном корпусе. В редакциях с долей машинных статей свыше двадцати процентов экспертов на тысячу слов стало на двадцать два процента меньше против их собственного уровня 2020–2022 годов. В редакциях почти без машинных статей — на шесть процентов больше за тот же период. Обе половины получены одной процедурой на одном корпусе, поэтому их можно поставить рядом без подтасовки, и именно это делает разбор сильнейшим в пласте цены всей лекции: контрфакт здесь измерен тут же.</a:t>
            </a:r>
          </a:p>
          <a:p>
            <a:r>
              <a:t/>
            </a:r>
          </a:p>
          <a:p>
            <a:r>
              <a:t>Кривая доли по годам: ноль до конца 2022 года — точнее, от нуля до восьми сотых процента, и это ложные срабатывания самих распознавателей; восемь десятых процента в конце 2023-го; пять и семь десятых в конце 2024-го; четырнадцать в конце 2025-го; восемнадцать во втором квартале 2026-го. По эшелонам изданий: федеральные около десяти процентов, второй эшелон — тематические, лайфстайл, крупные региональные — двадцать три-двадцать пять, местные и нишевые семь и девять десятых. По темам больше всего затронуты дом, еда и здоровье; меньше всего политика и происшествия, не более двух и восьми десятых процента.</a:t>
            </a:r>
          </a:p>
          <a:p>
            <a:r>
              <a:t/>
            </a:r>
          </a:p>
          <a:p>
            <a:r>
              <a:t>Методика здесь важнее результата: из-за неё случай и взят. Выборка — двести пятьдесят четыре тысячи шестьсот десять статей из ста семидесяти четырёх российских изданий, с 2020 года по второй квартал 2026-го. Инструмент — два открытых распознавателя; статья относится к машинным при среднем балле не ниже половины; дополнительная сверка третьим распознавателем. Автор — Кирилл Пшинник, сооснователь онлайн-университета Zerocoder, публикация шестнадцатого октября 2026 года.</a:t>
            </a:r>
          </a:p>
          <a:p>
            <a:r>
              <a:t/>
            </a:r>
          </a:p>
          <a:p>
            <a:r>
              <a:t>Ограничение метода надо назвать прямо, тем более что оно разбиралось в этой же лекции на измерениях: распознаватели сгенерированного не обобщаются на чужую модель. Здесь это смягчено тремя распознавателями и большой выборкой, но абсолютная доля всё равно читается как нижняя граница, а не как точное значение. И тонкость, меняющая масштаб вывода: тринадцать процентов прироста машинной лексики в текстах, написанных людьми, и двадцать семь процентов корпуса с частичными признаками генерации против восемнадцати процентов полностью машинных. Люди начинают писать похоже, и это влияние шире доли машинных статей.</a:t>
            </a:r>
          </a:p>
          <a:p>
            <a:r>
              <a:t/>
            </a:r>
          </a:p>
          <a:p>
            <a:r>
              <a:t>Что переехало. Переехал звонок эксперту: редакция, перешедшая на генерацию, перестаёт звонить. Сказано это числом, а не оценкой — цитат в два и одну десятую раза меньше, экспертов на двадцать два процента меньше, при том что у соседей по той же выборке за тот же период их на шесть процентов больше.</a:t>
            </a:r>
          </a:p>
          <a:p>
            <a:r>
              <a:t/>
            </a:r>
          </a:p>
          <a:p>
            <a:r>
              <a:t>И третья половина счёта, та самая, которую легко потерять. Цена «выпустить машинный текст» измерена в той же единице, что и всё остальное: прямых цитат в текстах таких редакций в 2,1 раза меньше, комментариев экспертов — в 2,6 раза меньше, средняя длина материала — 773 слова против 1 090. Это не стилистические наблюдения: каждая из трёх величин считает присутствие в тексте живого свидетельства, то есть того, за чем редакция должна была пойти к человеку.</a:t>
            </a:r>
          </a:p>
          <a:p>
            <a:r>
              <a:t/>
            </a:r>
          </a:p>
          <a:p>
            <a:r>
              <a:t>Разрез выборки по эшелонам изданий показывает, что доля распределена неравномерно: у федеральных изданий она около десяти процентов, у второго эшелона двадцать три — двадцать пять, у местных и нишевых семь и девять десятых. По темам больше всего затронуты дом, еда и здоровье; меньше всего политика и происшествия — там не более двух и восьми десятых процента. Чем выше цена ошибки в теме, тем реже редакция доверяет её машине, и это распределение само по себе читается как отраслевая оценка риска.</a:t>
            </a:r>
          </a:p>
          <a:p>
            <a:r>
              <a:t/>
            </a:r>
          </a:p>
          <a:p>
            <a:r>
              <a:t>Про методику счёта стоит знать ещё одну деталь. Статья относилась к машинным при среднем балле двух открытых распознавателей не ниже половины, с дополнительной сверкой третьим распознавателем. Это разумная процедура, и у неё есть ровно тот же предел, который разбирался кадром раньше: распознаватель, обученный на одном семействе генераторов, на чужом работает хуже. Поэтому восемнадцать процентов — нижняя граница, а не точное значение.</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карту. Она заполняется здесь в последний раз, и её стоит прочитать поперёк, по двум строкам. Строка «соблюсти точные величины» пуста во всех четырёх порождающих модальностях и заполнена в распознающей: у распознавания есть эталонная разметка, у порождения её нет по построению. Отсюда практичный критерий выбора инструмента, который курс может дать: если у задачи есть правильный ответ, скорее всего её надо решать распознаванием. Строка «ответить, кто отвечает» пуста почти везде, а единственная заполненная клетка заполнена с оговоркой: подпись отвечает о подписавшем, не о снятом. Вопрос ответственности технического решения не имеет ни в одной модальности вечера — это раздел и передаёт дальше.</a:t>
            </a:r>
          </a:p>
          <a:p>
            <a:r>
              <a:t/>
            </a:r>
          </a:p>
          <a:p>
            <a:r>
              <a:t>Карта вечера заполняется здесь в последний раз, и читать её надо поперёк, по строкам, а не по колонкам. Именно поперечное чтение показывает то, чего не показал бы ни один отдельный разбор.</a:t>
            </a:r>
          </a:p>
          <a:p>
            <a:r>
              <a:t/>
            </a:r>
          </a:p>
          <a:p>
            <a:r>
              <a:t>Строка «породить первое приближение». Заполнена у четырёх модальностей и везде дёшево: от трёх с половиной центов за изображение до единиц секунд на трёхмерный вариант. У распознавания в этой строке стоит «неприменимо»: порождение не задача этой стадии, и это честнее, чем ставить прочерк.</a:t>
            </a:r>
          </a:p>
          <a:p>
            <a:r>
              <a:t/>
            </a:r>
          </a:p>
          <a:p>
            <a:r>
              <a:t>Строка «довести до производственного качества». Заполнена у всех пяти и заполнена одинаково — ручной работой человека. Адаптеры и правка у изображения, правка дикции у звука, отбор и склейка у видео, ретопология, развёртка и риггинг у трёхмерного, человек в контуре с нормой времени у распознавания. Породить стало дёшево везде; довести до годного не подешевело нигде.</a:t>
            </a:r>
          </a:p>
          <a:p>
            <a:r>
              <a:t/>
            </a:r>
          </a:p>
          <a:p>
            <a:r>
              <a:t>Строка «восстановить существующее». Заполнена у всех пяти, и везде это сильная сторона метода, потому что у восстановления есть отложенный эталон.</a:t>
            </a:r>
          </a:p>
          <a:p>
            <a:r>
              <a:t/>
            </a:r>
          </a:p>
          <a:p>
            <a:r>
              <a:t>И две строки, ради которых карту стоило вести весь вечер. «Соблюсти точные величины» — «нет» у изображения, у звука, у видео, у трёхмерного, и впервые «да» у распознавания: эталонная разметка даёт число. «Ответить кто отвечает» — «нет» у всех четырёх порождающих и «частично» у распознавания: подпись существует, но она про подписавшего, а не про то, что было перед объективом.</a:t>
            </a:r>
          </a:p>
          <a:p>
            <a:r>
              <a:t/>
            </a:r>
          </a:p>
          <a:p>
            <a:r>
              <a:t>Вот это и есть итог пяти разделов, выраженный сеткой. Две пустые строки одинаковы у четырёх разных модальностей с разными архитектурами, разными корпусами и разными производителями — значит, это свойство класса методов, а не отставание чьей-то версии. И ответ по ним даёт единственная модальность, которая не порождает, а читает. Отсюда же читается полоса под сеткой: адрес платежа накапливался теми же шагами — отбор, права, узнавание, — и у последних двух разделов он один и тот же.</a:t>
            </a:r>
          </a:p>
          <a:p>
            <a:r>
              <a:t/>
            </a:r>
          </a:p>
          <a:p>
            <a:r>
              <a:t>Из поперечного чтения карты следует приём, годный далеко за пределами этой лекции. Когда вы оцениваете класс инструментов, стройте такую сетку сами: по одной оси типы задач, которые вам нужно решать, по другой — инструменты. Заполняйте клетки измеренным, а там, где измеренного нет, пишите «нет» или «неприменимо» с названной причиной — голого прочерка не оставляйте. Голый прочерк читается как «забыли проверить», а названная причина — как сведение.</a:t>
            </a:r>
          </a:p>
          <a:p>
            <a:r>
              <a:t/>
            </a:r>
          </a:p>
          <a:p>
            <a:r>
              <a:t>Ценность такой сетки — в строках, а не в клетках. Одна пустая клетка — частный случай. Пустая строка по всему ряду — свойство класса методов, и это единственное наблюдение, ради которого стоит вести сетку целиком, а не смотреть инструменты по одному.</a:t>
            </a:r>
          </a:p>
          <a:p>
            <a:r>
              <a:t/>
            </a:r>
          </a:p>
          <a:p>
            <a:r>
              <a:t>И последнее. Карта предъявлялась шесть раз за вечер и каждый раз в одном и том же виде: те же шесть строк, те же имена колонок, те же клетки. Это не педантизм вёрстки — это единственный способ, которым накопительная сетка вообще работает: зритель должен узнавать строку, а не перечитывать её заново.</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предыдущих разделов были устроены одинаково, и это было сделано ради удобства чтения. Сначала описание стадии ремесла своими словами и терминами отрасли, потом классические режимы с посчитанными числами, потом разборы случаев, потом названная цена того, что переехало вправо. Такое строение хорошо для изучения и плохо для вывода. Читатель, дошедший досюда, держит в голове тринадцать разобранных случаев и несколько десятков чисел — и у него нет ни одной фразы, которой всё это можно сказать целиком.</a:t>
            </a:r>
          </a:p>
          <a:p>
            <a:r>
              <a:t/>
            </a:r>
          </a:p>
          <a:p>
            <a:r>
              <a:t>Сборка эту фразу выдаёт, и делает здесь ровно четыре вещи.</a:t>
            </a:r>
          </a:p>
          <a:p>
            <a:r>
              <a:t/>
            </a:r>
          </a:p>
          <a:p>
            <a:r>
              <a:t>Первое. Отвечает на вопрос, заданный в конце Входа: исполнение перестало быть дефицитом — что теперь дефицит и в каких единицах за него платят. Ответ собирается по трём адресам, и за каждым стоит разобранный случай с посчитанной классикой. Отбор, права, узнавание. Каждый из трёх назван по имени, у каждого своя единица счёта, и каждый подпирается числом, которое уже прозвучало в одном из пяти разделов.</a:t>
            </a:r>
          </a:p>
          <a:p>
            <a:r>
              <a:t/>
            </a:r>
          </a:p>
          <a:p>
            <a:r>
              <a:t>Второе. Предъявляет измерение, которое четыре независимых площадки получили независимо друг от друга — в разных странах, разными методами, по разным модальностям. Музыкальная площадка, магазин игр, рынок аудиокниг и российский музыкальный сервис измеряли разное и пришли к одной фигуре. Такое совпадение формы результата встречается редко, и когда случается, оно надёжнее любого вывода из отдельных случаев.</a:t>
            </a:r>
          </a:p>
          <a:p>
            <a:r>
              <a:t/>
            </a:r>
          </a:p>
          <a:p>
            <a:r>
              <a:t>Третье. Собирает критерии, по которым инженер отказывается от генеративной модели. Все они выведены из устройства метода, разобранного в предыдущих разделах; общие соображения об осторожности в их выводе не участвовали, и именно поэтому ни один из них не закроется следующей версией модели. Это самая применимая часть вечера: критерий, сформулированный так, что его можно проверить до запуска работы — заранее, пока отказ ещё ничего не стоит.</a:t>
            </a:r>
          </a:p>
          <a:p>
            <a:r>
              <a:t/>
            </a:r>
          </a:p>
          <a:p>
            <a:r>
              <a:t>Четвёртое. Смотрит, куда движется сама отрасль. С одним ограничением, и произнести его надо заранее: на кадр выносится устройство рынка. Список инструментов туда не идёт. Список, собранный в октябре 2026 года, устареет к моменту, когда его прочтут; за пять дней до сдачи материала закрыли предварительный доступ к одной из ведущих видеомоделей, и это уже второй выключенный флагман за тринадцать месяцев. Устройство рынка меняется медленнее номеров версий, и прогноз из него выходит честнее.</a:t>
            </a:r>
          </a:p>
          <a:p>
            <a:r>
              <a:t/>
            </a:r>
          </a:p>
          <a:p>
            <a:r>
              <a:t>Чего в разделе нет — тоже стоит сказать. Нет ни одного нового разобранного случая, и это сознательное ограничение. Раздел, который вводит свежий материал на последних минутах, читается шестым по счёту и сборкой быть перестаёт: вместо того чтобы завязать узел, он распускает ещё одну нить. Всё, что прозвучит дальше, уже было показано — меняется только то, что теперь оно стоит рядом друг с другом.</a:t>
            </a:r>
          </a:p>
          <a:p>
            <a:r>
              <a:t/>
            </a:r>
          </a:p>
          <a:p>
            <a:r>
              <a:t>И последнее, что надо держать в голове, входя в раздел. Тринадцать разобранных случаев распадаются на три неравные части, и в конце вечера эти части будут названы числом. В семи случаях выигрыш посчитан от классического режима — то есть обе стороны измерены в одной и той же единице, и видно, сколько стоило без модели и сколько стало с ней. В трёх классический режим назван, но числа у него нет, и об этом сказано вслух на самом кадре разбора. В трёх классического режима не существует вовсе, и это свойство самой задачи: работу, которую не делали никогда, не с чем сравнивать.</a:t>
            </a:r>
          </a:p>
          <a:p>
            <a:r>
              <a:t/>
            </a:r>
          </a:p>
          <a:p>
            <a:r>
              <a:t>Один из семи стоит на границе, и прятать это не нужно — наоборот, назвать. Дубляж: первый его классический режим, живой диктор по 50–450 долларов за готовую минуту, измерен ровно в той единице, в которой считается синтез, и потому выигрыш там честный; второй режим, субтитры, назван и своего тарифа за минуту не имеет. По форме разбора эта строка проходит по графе «второй режим без числа»; по вопросу «от чего посчитан выигрыш» она попадает к посчитанным. Оба утверждения верны одновременно, и именно поэтому счёт показывается целиком, а не выдаётся готовым числом. Сборка готовит почву для этого счёта, а само число прозвучит на закрытии.</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с которого начинался вечер, звучит второй и последний раз. Первая его половина была утверждением и к этой минуте доказана: получить изображение, минуту речи, выпуск сериала или трёхмерный объект стало стоить от трёх центов до нескольких тысяч долларов там, где классический режим требовал от пятидесяти долларов до ста тридцати семи тысяч. Вторая половина — собственно вопрос, и в нём важны оба слова: что теперь дефицит и в каких единицах за него платят. Требование назвать единицу стояло там не для красоты. Ответ «теперь дефицит — творческое видение» был бы пустым именно потому, что творческое видение не меряется ни в чём: его нельзя посчитать, заложить в бюджет и сравнить с тем, что было раньше.</a:t>
            </a:r>
          </a:p>
          <a:p>
            <a:r>
              <a:t/>
            </a:r>
          </a:p>
          <a:p>
            <a:r>
              <a:t>Ответ собирается по трём адресам, и ни один из трёх не метафора.</a:t>
            </a:r>
          </a:p>
          <a:p>
            <a:r>
              <a:t/>
            </a:r>
          </a:p>
          <a:p>
            <a:r>
              <a:t>Отбор. Попытка стала стоить доли цента, а выбор остался человеческим и не подешевел ни на копейку. Самое чистое измерение этого — рекламный ролик к финалу НБА: один человек за два-три дня сделал от трёхсот до четырёхсот генераций и отобрал пятнадцать пригодных склеек. Отношение четырёхсот к пятнадцати — брак в девяносто шесть процентов, и именно из этого брака берётся выигрыш. Дешевизна приходит из обесценившегося промаха: модель попадает редко, и это перестало иметь значение. Рядом стоит рождественская кампания мирового бренда: семьдесят тысяч сгенерированных клипов, пятеро специалистов на генерации, тридцать дней — и около ста человек в кампании до перехода и около ста после. Изменилось число проб; численность команды осталась прежней, и люди переехали в просмотр, бракераж и доводку. Отрезвляющая мера приходит с российской биржи, где обе цены лежат рядом в один период и в одних единицах: сгенерированная иллюстрация дешевле обычной в два и шестнадцать сотых раза, портрет — в два и тринадцать, видео — в два и четыре сотых, статья — в полтора. Всего вдвое — при том что цена самого исполнения упала на три порядка. Из цены заказа ушло исполнение; отбор, согласование и ответственность за результат в ней остались.</a:t>
            </a:r>
          </a:p>
          <a:p>
            <a:r>
              <a:t/>
            </a:r>
          </a:p>
          <a:p>
            <a:r>
              <a:t>Права. За три года спор о происхождении обучающих данных перестал быть спором и стал статьёй расходов. Самая крупная сумма в истории американского авторского права — полтора миллиарда долларов, и без базы она ничего не значит. База такая. При объявлении мирового говорили о примерно пятистах тысячах произведений, и полтора миллиарда, делённые на это число, дают порядка трёх тысяч долларов за произведение. Окончательный список оказался точнее и меньше — четыреста восемьдесят две тысячи четыреста шестьдесят произведений, — и то же деление даёт около трёх тысяч ста. Это одна и та же величина с двумя разными знаменателями, а не выплата до и после вычета: три тысячи сто — валовое распределение на одно признанное произведение, из которого ещё вычитаются гонорары адвокатов и расходы на администрирование. Гонорары суд срезал с запрошенных ста восьмидесяти семи с половиной миллионов до ста одного с половиной, то есть до шести и восьми десятых процента фонда, и после их вычета на произведение останется меньше трёх тысяч, а не больше. Вычет уменьшает — и если где-то он у вас увеличивает, перепутаны знаменатели. Заплачено за хранение пиратской библиотеки; обучение на законно купленных книгах тот же судья годом раньше назвал поразительно преобразующим. Это мировое соглашение без признания вины: деньги заплачены, правило не создано. В музыке тот же путь прошли быстрее суда — крупные правообладатели урегулировали и вернулись лицензией; согласованная ставка — от двух десятых до половины цента за генерацию против двадцати-ста долларов за готовый стоковый трек. Третья сторона того же адреса — право того, чей голос оказался внутри данных, и здесь в российском праве отдельной охраны голоса нет.</a:t>
            </a:r>
          </a:p>
          <a:p>
            <a:r>
              <a:t/>
            </a:r>
          </a:p>
          <a:p>
            <a:r>
              <a:t>Узнавание. Подпись, голос и лицо перестали подтверждать себя сами, и подтверждение стало отдельной технической задачей, которую кто-то оплачивает. Распознаватель, обученный на одном семействе моделей, даёт девяносто девять и девять десятых процента верных решений на нём самом и пятьдесят один и девять десятых на модели, которой не видел; вторая величина — это монета. Самая тихая часть счёта видна в редакциях: там, где доля машинных статей перевалила за пятую часть, число экспертов на тысячу слов упало на двадцать два процента против начала двадцатых годов, тогда как в редакциях почти без машинных статей оно выросло на шесть. Цена узнавания здесь выражена в людях, которых перестали звать комментировать.</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Всё, что говорилось до этого кадра, — вывод из разобранных случаев. Здесь другое: измерение. И оно сильнее вывода, потому что получено четырьмя площадками независимо друг от друга, в разных странах, разными методами, по разным модальностям. Совпадение формы результата в таком наборе встречается редко, и когда случается, им стоит пользоваться.</a:t>
            </a:r>
          </a:p>
          <a:p>
            <a:r>
              <a:t/>
            </a:r>
          </a:p>
          <a:p>
            <a:r>
              <a:t>Музыкальная площадка Deezer, июнь 2026 года. Доля полностью сгенерированных треков в суточной загрузке превысила половину — это около девяноста тысяч треков в сутки на пике. База, без которой первое число врёт: в январе 2025 года та же доля составляла десятую часть, то есть путь от десятой части до половины занял восемнадцать месяцев. И второй показатель, без которого первый врёт ещё сильнее: потребление такой музыки — от одного до трёх процентов всех прослушиваний, причём восемьдесят пять процентов этих прослушиваний площадка распознала как накрутку и демонетизировала. Половина загружаемого против одного-трёх процентов слушаемого, из которых шесть седьмых накручено.</a:t>
            </a:r>
          </a:p>
          <a:p>
            <a:r>
              <a:t/>
            </a:r>
          </a:p>
          <a:p>
            <a:r>
              <a:t>Магазин игр Steam, июль 2026 года. Единственная из четырёх отраслей, где раскрывать применение генеративных средств обязательно с января 2024 года, — значит, число здесь берётся из карточек самих игр. Доля релизов года с раскрытием прошла путь от десяти и девяти десятых процента в 2024 году через девятнадцать и девять десятых в 2025-м к тридцати и восьми десятым к июлю 2026-го. Независимый счёт по пятидесяти трём с половиной тысячам релизов за три года — с середины 2023 по середину 2026 — даёт тот же ряд и добавляет недостающую половину: игры с раскрытием собирают от десяти до двадцати семи процентов оценочных продаж. Знаменатель здесь надо назвать целиком, иначе доля повисает: это оценочные продажи игр, вышедших за тот же период, а не вся выручка магазина и не продажи всего каталога; величина оценочная, не аудированная выручка площадки. База во времени тоже есть: в 2024 году та же доля составляла от трёх до шести процентов. Треть релизов против десятой-четверти денег.</a:t>
            </a:r>
          </a:p>
          <a:p>
            <a:r>
              <a:t/>
            </a:r>
          </a:p>
          <a:p>
            <a:r>
              <a:t>Здесь нужно внимание к знаменателю — то самое упражнение, за которое курс спрашивает отдельно. По Steam в обращении два разных ряда: доля каталога целиком — примерно от одного процента через семь к двадцати — и доля релизов года, тот ряд, что взят выше. Это разные базы: в первом знаменателе все игры за всю историю магазина, во втором только вышедшие за год. Поставить их рядом как динамику одного показателя значит собрать ложную пару, и собирается она в пересказах постоянно. На кадре стоит один ряд, и знаменатель назван в той же строке.</a:t>
            </a:r>
          </a:p>
          <a:p>
            <a:r>
              <a:t/>
            </a:r>
          </a:p>
          <a:p>
            <a:r>
              <a:t>Аудиокниги США, итоги 2025 года. Отраслевой опрос продаж и потребительский опрос, оба завершены весной 2026 года. Поступления издателей — два и сорок три сотых миллиарда долларов, пятнадцатый год роста подряд. Активных наименований больше семисот пятидесяти тысяч, на сорок три процента больше, чем годом раньше. И выручка от машинной озвучки — три сотых процента продаж. Только шестнадцать процентов слушателей когда-либо слушали книгу с машинным голосом, а готовность попробовать за год упала с семидесяти процентов до шестидесяти одного. Каталог вырос почти в полтора раза; деньги не сдвинулись на три сотых процента.</a:t>
            </a:r>
          </a:p>
          <a:p>
            <a:r>
              <a:t/>
            </a:r>
          </a:p>
          <a:p>
            <a:r>
              <a:t>Яндекс Музыка, 2026 год — единственный независимый российский замер в материале лекции. Выборка пять и семь десятых миллиона профилей, распознаватель с полнотой девяносто семь и четырнадцать сотых процента и точностью восемьдесят три и семьдесят семь. Автор замера сам называет предел метода: распознаватель читает описания и сопутствующие сведения, звука он не слушает, и потому считает не всё. Результат: не менее ста сорока тысяч машинных исполнителей, около сорока процентов новых треков в месяц, каждый десятый трек чарта.</a:t>
            </a:r>
          </a:p>
          <a:p>
            <a:r>
              <a:t/>
            </a:r>
          </a:p>
          <a:p>
            <a:r>
              <a:t>Сюда же одной строкой уходит самый громкий заголовок года — и заодно упражнение на знаменатель. Машинный кантри-проект вывел песню на первое место в чарте цифровых продаж — первый случай, когда машинная песня возглавила чарт этого издания. Знаменатель: это чарт цифровых продаж, самый малый по объёму из кантри-чартов, и в ту же неделю главный кантри-чарт и потоковое прослушивание возглавляли живые исполнители. Одна и та же новость с базой и без неё даёт два разных вывода.</a:t>
            </a:r>
          </a:p>
          <a:p>
            <a:r>
              <a:t/>
            </a:r>
          </a:p>
          <a:p>
            <a:r>
              <a:t>Что из этого следует для инженера. Объём производства перестал быть свидетельством спроса: во всех четырёх случаях измеряется предложение, а вывод делают о востребованности. Для любого канала, где стоимость единицы падает почти до нуля, поведение теперь известно заранее — предложение уходит в потолок за месяцы, спрос стоит на месте, а разницу немедленно заполняет мошенничество. На музыкальной площадке эта третья величина измерена и равна восьмидесяти пяти процентам.</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Последняя работа Сборки — сказать, куда движется отрасль, и сказать так, чтобы сказанное не протухло к моменту, когда его прочтут. Условие здесь одно: на кадр выносится устройство рынка, которое меняется медленнее номеров версий. Список моделей, собранный в октябре 2026 года, устареет раньше, чем его успеют проверить; за пять дней до сдачи материала закрыли предварительный доступ к одной из ведущих видеомоделей. Поэтому ниже наблюдения об устройстве, и под каждым измерение.</a:t>
            </a:r>
          </a:p>
          <a:p>
            <a:r>
              <a:t/>
            </a:r>
          </a:p>
          <a:p>
            <a:r>
              <a:t>Первое наблюдение — самое неожиданное во всём техническом пласте вечера. Картиночные модели перестали расти в вычислениях. Stable Diffusion v1 в 2022 году и Stable Diffusion 3 в 2024-м обучены одним и тем же числом операций: полторы сотни тысяч часов работы ускорителя в первом случае, и второй за два года к этому ничего не прибавил. За те же два года вычисления на обучение передовых языковых моделей росли вчетверо-впятеро в год. Прогресс в изображении шёл совершенно другими средствами: шестнадцатиканальное латентное представление вместо четырёхканального, диффузионный трансформер вместо свёрточной архитектуры, спрямлённый поток вместо стохастического расписания, дистилляция числа шагов с тысячи до четырёх. Архитектура и представление данных сделали то, чего в языковых моделях добивались вычислениями. Это и есть последнее произнесение мысли, которая прошла через весь вечер: главный рычаг — токенизатор; размер модели здесь вторичен.</a:t>
            </a:r>
          </a:p>
          <a:p>
            <a:r>
              <a:t/>
            </a:r>
          </a:p>
          <a:p>
            <a:r>
              <a:t>Рядом с первым наблюдением стоит измерение, у которого знак меняется между обучением и запуском. Обучить модель изображения в двести-четыреста раз дешевле передовой языковой, и при этом каждый её запуск дороже в сорок-шестьдесят раз. Причина разобрана в первом разделе: кэша нет и быть не может — расшумление на каждом шаге переписывает все четыре с небольшим тысячи токенов картинки целиком, тогда как языковая модель сохраняет уже обработанный контекст и к нему не возвращается. Отсюда прямое следствие для того, кто думает входить в эту разработку: порог входа в собственную модель изображения на порядки ниже, чем в собственную языковую, и выигрывает здесь тот, кто придумал лучшее представление данных.</a:t>
            </a:r>
          </a:p>
          <a:p>
            <a:r>
              <a:t/>
            </a:r>
          </a:p>
          <a:p>
            <a:r>
              <a:t>Второе наблюдение следует из первого. Лидерство в генерации видео за 2026 год перешло к открытым весам и китайским разработчикам, а самый громкий западный продукт отрасли закрыт — и закрыт после того, как по его демонстрационному ролику остановили строительство студии на восемьсот миллионов долларов. Экономика, названная числом: на пике у этого продукта был около миллиона пользователей при оценочной стоимости эксплуатации около миллиона долларов в сутки, то есть доллар на пользователя в день. Генерация видео не была бесплатной ни секунды; платил не пользователь. Отсюда вывод, переносимый куда угодно: зависимость от чужого сервиса — проектный риск, и место ему в плане рядом с прочими рисками. Два разбора этой лекции построены на инструменте, который закрылся.</a:t>
            </a:r>
          </a:p>
          <a:p>
            <a:r>
              <a:t/>
            </a:r>
          </a:p>
          <a:p>
            <a:r>
              <a:t>Повторю первое наблюдение в одной строке, потому что оно и есть сквозной припев вечера, произносимый здесь в четвёртый и последний раз: главный рычаг — токенизатор; размер модели здесь вторичен. Прогресс в картиночных моделях за два года шёл не вычислениями на обучение, а представлением данных — шестнадцать каналов латентного представления вместо четырёх, диффузионный трансформер вместо прежней архитектуры, спрямлённый поток, дистилляция с тысячи шагов до четырёх. Каждый из этих шагов меняет то, в каком виде модель видит картинку, а не то, сколько в ней весов.</a:t>
            </a:r>
          </a:p>
          <a:p>
            <a:r>
              <a:t/>
            </a:r>
          </a:p>
          <a:p>
            <a:r>
              <a:t>И следствие для входа на рынок, которое из первого наблюдения вытекает прямо. Обучить модель изображения в двести-четыреста раз дешевле, чем передовую языковую, — порог входа в эту модальность заметно ниже. Зато каждый её запуск дороже в сорок-шестьдесят раз: кэша нет и быть не может, потому что расшумление на каждом шаге переписывает все четыре тысячи девяносто шесть токенов разом, и переиспользовать прошлый шаг нечего. Экономика здесь обратная языковой: дёшево войти, дорого работать.</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Третье наблюдение. Обе ведущие музыкальные площадки перешли на обучение на лицензированном материале, и партнёры названы поимённо вместо описания данных общими словами. Спор о происхождении обучающих данных не выиграл никто — он стал условием работы продукта. Это и самый проверяемый прогноз, который лекция может дать: там, где правообладатель крупный и организованный — музыка, кино, новости, — вопрос закроется лицензией раньше, чем судом; там, где правообладатель мелкий и рассеянный — иллюстрация, фотография, озвучка, — закрывать его будет некому, и там сохранится нынешнее положение.</a:t>
            </a:r>
          </a:p>
          <a:p>
            <a:r>
              <a:t/>
            </a:r>
          </a:p>
          <a:p>
            <a:r>
              <a:t>Четвёртое. Мировые модели — отдельная модальность. По текстовому описанию порождается интерактивная трёхмерная среда в реальном времени, связность держится несколько минут подряд против десяти-двадцати секунд у предшественников, и устроена она иначе: следующий кадр строится не только по описанию, а по внутреннему состоянию сцены и действию пользователя. Про объект, оставленный камерой и увиденный снова, разработчик показал в августе 2025 года ролик, где стена остаётся покрашенной. Независимая проверка июня 2026 года на двадцати трёх моделях находит у мировых моделей то же ограничение, что и у видеомоделей из раздела про видео: объект возвращается таким, каким его видели последний раз, а не таким, каким стал бы за прошедшее время, — разница только в размере окна, минуты вместо секунд. Это не опровержение раздела про видео, а подтверждение его же вывода: постоянство — размер окна, а не свойство мира. Видеомодель порождает запись. Мировая модель порождает пространство, в котором можно находиться.</a:t>
            </a:r>
          </a:p>
          <a:p>
            <a:r>
              <a:t/>
            </a:r>
          </a:p>
          <a:p>
            <a:r>
              <a:t>Пятое, и оно же прививка от отраслевых прогнозов вообще. Четыре обзора оценили размер одного и того же рынка за один и тот же 2026 год в три и шестнадцать сотых миллиарда долларов и в девятнадцать и две десятых — разброс в шесть раз, вызванный только тем, где проведена граница рынка. Выбирать из них правильную цифру бессмысленно. Согласованный факт в них ровно один: темп от четырнадцати до тридцати четырёх процентов в год. Все четыре согласны, что рынок растёт быстро, и ни одна не знает, насколько он велик. Добавьте сюда самое цитируемое число отрасли — «более пятнадцати миллиардов сгенерированных изображений», измеренное пятнадцатого августа 2023 года и с тех пор ни разу не обновлявшееся, хотя его продолжают приводить как текущее, — и получится полный набор привычек чтения отраслевой статистики: проверь определение, проверь базу, проверь дату.</a:t>
            </a:r>
          </a:p>
          <a:p>
            <a:r>
              <a:t/>
            </a:r>
          </a:p>
          <a:p>
            <a:r>
              <a:t>Три эти величины стоит держать вместе, потому что ни одна из них не меняется с номером версии. Право на обучающий материал держится годами и меняется решениями судов и переговорами правообладателей. Класс задачи — порождает модель запись или порождает пространство, в котором можно находиться, — это свойство устройства, а не настройки. Граница рынка — то, что считают рынком, — вообще определение, и именно поэтому четыре оценки одного и того же 2026 года разошлись в шесть раз: от 3,16 миллиарда долларов до 19,2 миллиарда. Согласны все четыре только в темпе: от четырнадцати до тридцати четырёх процентов в год.</a:t>
            </a:r>
          </a:p>
          <a:p>
            <a:r>
              <a:t/>
            </a:r>
          </a:p>
          <a:p>
            <a:r>
              <a:t>Отсюда и практическое правило чтения отраслевых прогнозов. Размеру рынка в них верить нельзя — он получен из определения, которого вы не видели. Темпу верить можно осторожнее: он устойчив между оценками, то есть его не придумывали, а считали по одним и тем же наблюдаемым рядам. А надёжнее всего в таких обзорах перечисление того, что игроки считают предметом конкуренции: оно меняется медленно и говорит об устройстве отрасли больше, чем любой миллиард.</a:t>
            </a:r>
          </a:p>
          <a:p>
            <a:r>
              <a:t/>
            </a:r>
          </a:p>
          <a:p>
            <a:r>
              <a:t>И короткое замечание о том, почему этот кадр стоит в Сборке, а не в техническом разделе. Инженеру, который решает, вкладываться ли в направление, номер версии не говорит ничего: он меняется каждые несколько недель и каждый раз обещает прорыв. Устройство рынка — кто платит, за что платит и чем ограничен — держится годами и предсказывает, что будет доступно через год, гораздо лучше. Читать надо его.</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ядро Сборки. Четыре правила ниже выведены из того, как устроен метод, разобранный в предыдущих разделах; общие соображения об осторожности в их выводе не участвовали. Именно поэтому ни одно из них не закроется следующей версией модели: они описывают то, чего в механизме нет вовсе.</a:t>
            </a:r>
          </a:p>
          <a:p>
            <a:r>
              <a:t/>
            </a:r>
          </a:p>
          <a:p>
            <a:r>
              <a:t>Первое. Генератор производит картинку объекта. Внутри неё нет ни единиц измерения, ни допусков, ни материалов, ни кинематики, ни дерева построения. Изображение детали, на котором похоже, что резьба метрическая на двенадцать, содержит пиксели, статистически похожие на фотографии такой резьбы. Отсюда четыре практических запрета, и держать их стоит целиком. Нельзя измерить: масштаба в картинке нет. Нельзя проверить: сгенерированная конструкция не проходила ни прочностного расчёта, ни проверки собираемости, и выглядит при этом ровно так же, как прошедшая. Нельзя изготовить: на выходе нет геометрии, которую примет станок. Нельзя сопровождать: без дерева построения не получится поменять диаметр и пересчитать остальное. Граница проходит там, где картинка перестаёт быть иллюстрацией и начинает быть источником данных для следующего шага: на поиске облика и в презентационных материалах генератор остаётся полезен.</a:t>
            </a:r>
          </a:p>
          <a:p>
            <a:r>
              <a:t/>
            </a:r>
          </a:p>
          <a:p>
            <a:r>
              <a:t>Второе. У сгенерированного кадра нет происхождения детали, и это свойство устройства: закрыть его поставщик не может. Вклад каждого обучающего примера размазан по миллиардам весов; сказать, откуда взялась вот эта текстура, этот силуэт, эта поза, невозможно физически, потому что такой записи не существует. Для языковой модели у похожей проблемы есть известное решение — подложить источник в контекст и потребовать ссылку. Перенос этого приёма на картинки — ошибка разряда: расшумление не устроено как ответ на вопрос по документу, в него некуда вставить факт и нечем процитировать. Единственный работающий аналог — обусловливание на готовую форму: чертёж, карту глубины, позу, референс. Это подсказка геометрии. Признак, по которому критерий срабатывает, простой: в требованиях встречается оборот «на основании» или «со ссылкой». Правовая проверка выхода подчиняется тому же правилу — похоже ли это на чужую охраняемую работу, решают сравнением снаружи модели.</a:t>
            </a:r>
          </a:p>
          <a:p>
            <a:r>
              <a:t/>
            </a:r>
          </a:p>
          <a:p>
            <a:r>
              <a:t>Третье. Модель предсказывает значения в ячейках сжатого представления. Понятия «вот этот стул — тот же самый стул, что был в предыдущем кадре» в ней нет ни в каком виде: ни идентификаторов, ни слоёв сцены, ни состояния, которое переносится. Согласованность достигается статистически — общим стартовым шумом, вниманием по времени, обусловливанием на референс, — и потому она вероятностна и деградирует с длиной. Следствие: любой конвейер, которому нужен один и тот же персонаж, товар или интерфейс в серии кадров, обязан держать идентичность снаружи модели. Это решение об устройстве конвейера, принимаемое один раз; подбором настроек оно не заменяется.</a:t>
            </a:r>
          </a:p>
          <a:p>
            <a:r>
              <a:t/>
            </a:r>
          </a:p>
          <a:p>
            <a:r>
              <a:t>Четвёртое. Если нужное уже содержится в исходнике, задача состоит в извлечении, и порождающая модель к ней неприменима по определению: она добавит то, чего в записи не было, и добавленное будет выглядеть ровно так же убедительно, как извлечённое. Самый чистый пример этого прошёл в разделе про звук: из кассетной демозаписи с голосом и фортепиано, записанными одним микрофоном, чистый вокал получили разделением источников, и ни одной ноты там не сгенерировано. Семейство инструментов для извлечения — разделение источников, шумоподавление, восстановление, сверхразрешение — устроено иначе и проверяется иначе.</a:t>
            </a:r>
          </a:p>
          <a:p>
            <a:r>
              <a:t/>
            </a:r>
          </a:p>
          <a:p>
            <a:r>
              <a:t>Все четыре критерия объединяет одно свойство, ради которого их стоило выписывать отдельно: каждый выведен из устройства метода, а не из соображений осторожности. Поэтому ни один из них не закроется следующей версией модели — закрыть их может только другой класс методов. Это и отличает критерий отказа от предостережения.</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вот что делает эти четыре правила работающими: их записывают до начала работы. Причина измерена. Семьсот пятьдесят восемь консультантов случайным образом распределили на три условия — без модели, с моделью и с моделью плюс вводное обучение работе с запросами, — и дали настоящие рабочие задачи. Внутри круга задач, который модель тянет, участники с ней выполнили на двенадцать и две десятых процента больше задач и на двадцать пять и одну десятую процента быстрее, при значимо более высоком качестве. А на одной сложной управленческой задаче, специально выбранной за пределами этого круга, доля верных решений упала: восемьдесят четыре с половиной процента без модели против шестидесяти и семидесяти в двух условиях с ней. Разница — девятнадцать процентных пунктов, и единицу здесь приходится называть вслух, потому что запись «на девятнадцать процентов реже» описывала бы совсем другую величину. Задача внешне ничем не отличалась от остальных восемнадцати. Граница возможностей модели зазубрена: соседние задачи похожей на вид трудности лежат по разные её стороны. Вред приходит из невидимости этой границы: качество самого инструмента тут ни при чём. Раз не видно — управлять ею можно единственным способом: записать критерии заранее и мерить результат.</a:t>
            </a:r>
          </a:p>
          <a:p>
            <a:r>
              <a:t/>
            </a:r>
          </a:p>
          <a:p>
            <a:r>
              <a:t>Числа этого опыта стоит повторить с единицами, потому что их легко перепутать между собой. Внутри круга задач, который модель тянет: участники с ней сделали на 12,2 процента больше задач и на 25,1 процента быстрее, при более высоком качестве. Это крупный выигрыш по меркам полевых опытов в консультировании, и отрицать его незачем.</a:t>
            </a:r>
          </a:p>
          <a:p>
            <a:r>
              <a:t/>
            </a:r>
          </a:p>
          <a:p>
            <a:r>
              <a:t>На одной задаче за пределами круга: доля верных решений 84,5 процента без модели против 60 и 70 процентов в двух условиях с ней. Разница — девятнадцать процентных пунктов, и единицу тут надо называть вслух: это разница долей, а не относительное падение. «На девятнадцать процентов реже» описывало бы другую величину.</a:t>
            </a:r>
          </a:p>
          <a:p>
            <a:r>
              <a:t/>
            </a:r>
          </a:p>
          <a:p>
            <a:r>
              <a:t>Важна в этом опыте не величина провала, а его невидимость. Задача за пределами круга внешне ничем не отличалась от остальных восемнадцати: тот же формат, тот же объём, та же предметная область. Участники не могли понять, что перешли границу, потому что граница не проявляется внутри задачи — она проявляется только в результате, и только если результат с чем-то сравнить.</a:t>
            </a:r>
          </a:p>
          <a:p>
            <a:r>
              <a:t/>
            </a:r>
          </a:p>
          <a:p>
            <a:r>
              <a:t>Отсюда и вывод, который делает четыре критерия рабочими. Критерии применимости пишутся до начала работы, а не в момент, когда что-то пошло не так, — потому что в момент, когда что-то пошло не так, вы этого не заметите. И меряется результат двумя вещами: секундомером и долей верных решений, а не ощущением участников. Про ощущения участников следующий кадр скажет отдельно, и скажет неприятное.</a:t>
            </a:r>
          </a:p>
          <a:p>
            <a:r>
              <a:t/>
            </a:r>
          </a:p>
          <a:p>
            <a:r>
              <a:t>И последнее замечание о том, как читать этот опыт, чтобы не вычитать из него больше, чем в нём есть. Семьсот пятьдесят восемь консультантов — это консультанты, а не инженеры и не врачи; задачи были настоящими рабочими, от творческих до аналитических, но это задачи консалтинга. Переносить проценты на другую профессию нельзя. Переносить можно устройство результата: внутри круга — выигрыш, за его пределами — провал, граница изнутри задачи не видна. Именно это устройство и воспроизводится в других предметных областях, а конкретные числа у каждой свои, и мерить их надо самому.</a:t>
            </a:r>
          </a:p>
          <a:p>
            <a:r>
              <a:t/>
            </a:r>
          </a:p>
          <a:p>
            <a:r>
              <a:t>Отдельно — про формулировку «вред приходит из невидимости границы». Качество самого инструмента тут ни при чём: та же модель на задачах внутри круга давала крупный выигрыш. Опасна не модель, а отсутствие у работающего способа понять, по какую сторону границы он сейчас находится.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генеративных инструментов есть свойство, которое делает их опасными именно для опытного инженера: ощущение ускорения возникает раньше ускорения и живёт дольше него. Это измерено, и измерено дважды с противоположным знаком — поэтому пара ниже стоит целиком, обеими половинами, и половину от неё отрывать нельзя.</a:t>
            </a:r>
          </a:p>
          <a:p>
            <a:r>
              <a:t/>
            </a:r>
          </a:p>
          <a:p>
            <a:r>
              <a:t>Первая половина. Контролируемый опыт, февраль 2023 года: девяносто пять профессиональных разработчиков, задача — написать HTTP-сервер на JavaScript как можно быстрее. Группа с моделью справилась на пятьдесят пять и восемь десятых процента быстрее контрольной: семьдесят одна минута среднего времени против ста шестидесяти одной. Задача здесь — с нуля. Кодовой базы нет, истории решений нет, неявных договорённостей нет, контекста, который надо держать в голове, нет. Ровно такую задачу метод и берёт лучше всего: это та же ситуация «первое приближение замысла стоит доли цента», которая проходит через весь вечер.</a:t>
            </a:r>
          </a:p>
          <a:p>
            <a:r>
              <a:t/>
            </a:r>
          </a:p>
          <a:p>
            <a:r>
              <a:t>Вторая половина. Июль 2025 года, тоже рандомизированный опыт, но условия перевёрнуты: шестнадцать опытных разработчиков, двести сорок шесть настоящих задач в их собственных крупных репозиториях — в среднем свыше миллиона строк кода и свыше двадцати двух тысяч звёзд, то есть кодовые базы, в которых участники работают годами. Результат: с инструментами на основе моделей задачи заняли на девятнадцать процентов больше времени. Разницу между плюс пятьюдесятью шестью и минус девятнадцатью объясняет зрелость кодовой базы. В пустом репозитории модели нечего не знать; в миллионе строк с пятилетней историей соглашений она не знает почти всего, что имеет значение, и её предложения приходится вычитывать. Тем же опытом это измерено прямо, и обе величины надо брать со своими знаменателями. Принимается меньше сорока четырёх процентов предложений модели — счёт идёт по предложениям, которые участник в редакторе принимает или отклоняет, а не по строкам и не по задачам, и собран он по тринадцати участникам из шестнадцати: трое работали на собственной подписке, и эти данные с них не снялись. Около девяти процентов рабочего времени уходит на чтение и чистку выдачи — это замер по сорока четырём задачам из двухсот сорока шести, у которых есть размеченная видеозапись экрана. Рядом стоит третья величина того же ряда: трое из четырёх участников говорят, что читают каждую строку машинного кода, а больше половины — что принятое приходится серьёзно переделывать.</a:t>
            </a:r>
          </a:p>
          <a:p>
            <a:r>
              <a:t/>
            </a:r>
          </a:p>
          <a:p>
            <a:r>
              <a:t>Но в Сборке эта пара стоит ради другого: промахнулись все прогнозы разом. Сами разработчики до начала работы предсказывали ускорение на двадцать четыре процента. Они же после работы, уже замедлившись по секундомеру, были уверены, что ускорились на двадцать. Прогнозы давали и посторонние: тридцать четыре специалиста по экономике назвали ускорение на тридцать девять процентов, пятьдесят четыре специалиста по машинному обучению — на тридцать восемь. Это не опрос с улицы: участников отбирали из университетов с ведущими программами, и за точность прогноза им платили — вознаграждение считалось от величины промаха. Направление эффекта не угадал никто. Состав выборки здесь существенен: без него строка «никто не угадал» звучит как риторика, с ним это измерение.</a:t>
            </a:r>
          </a:p>
          <a:p>
            <a:r>
              <a:t/>
            </a:r>
          </a:p>
          <a:p>
            <a:r>
              <a:t>Разрыв между «на девятнадцать процентов медленнее» по секундомеру и «уверен, что на двадцать процентов быстрее» по самооценке — тридцать девять процентных пунктов самообмана. Это, пожалуй, самое полезное число всего вечера для практики: оно объясняет, почему опрос самооценки — «ИИ сэкономил мне столько-то часов» — нельзя класть в основу решения о внедрении. Отчёт о сэкономленных часах, собранный опросом сотрудников, измеряет ощущение, и расхождение ощущения с секундомером здесь посчитано.</a:t>
            </a:r>
          </a:p>
          <a:p>
            <a:r>
              <a:t/>
            </a:r>
          </a:p>
          <a:p>
            <a:r>
              <a:t>Авторы честно перечисляют, чего их результат не доказывает: что модели не ускоряют большинство разработчиков; что вывод переносится за пределы опытных разработчиков открытого кода; что через год будет так же. Эту оговорку стоит произносить вместе с числом — она образец того, как читается хорошая работа, и заодно не даёт превратить один опыт в приговор инструменту.</a:t>
            </a:r>
          </a:p>
          <a:p>
            <a:r>
              <a:t/>
            </a:r>
          </a:p>
          <a:p>
            <a:r>
              <a:t>Инженерное следствие, годное к немедленному применению. Прежде чем внедрять генеративный инструмент в работу команды, заведите две вещи: набор из тридцати-пятидесяти своих типовых задач и секундомер. Прогоните кандидатов, сравните сами, померьте по результату. Для картинок это дешевле, чем для текста: оценка одного образца занимает секунды, и набор из пятидесяти задач прогоняется за вечер. Автоматические показатели качества изображения здесь не помогут — ни один из них не согласуется с человеческим предпочтением достаточно, чтобы опираться на него при выборе модели; самый употребительный из них почти не различает «кот слева от собаки» и «собака слева от кота», то есть слеп ровно к композиции, ради которой его обычно и зовут.</a:t>
            </a:r>
          </a:p>
          <a:p>
            <a:r>
              <a:t/>
            </a:r>
          </a:p>
          <a:p>
            <a:r>
              <a:t>Авторы опыта METR сами перечислили, чего он не доказывает, и эту оговорку стоит произносить вместе с числом. Он не доказывает, что модели не ускоряют большинство разработчиков. Он не доказывает, что вывод переносится за пределы опытных разработчиков открытого кода. И он не доказывает, что через год будет так же.</a:t>
            </a:r>
          </a:p>
          <a:p>
            <a:r>
              <a:t/>
            </a:r>
          </a:p>
          <a:p>
            <a:r>
              <a:t>Две величины из того же замера объясняют, куда девается время. В зрелой базе принимается меньше сорока четырёх процентов предложений модели — знаменатель здесь предложения, которые участник принимает или отклоняет прямо в редакторе, счёт по тринадцати участникам из шестнадцати. И около девяти процентов рабочего времени уходит на чтение и чистку выданного: это замер по сорока четырём задачам из двухсот сорока шести, у которых была размеченная видеозапись экрана.</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измерения на этом кадре стоят рядом не случайно: первое подтверждает ось вечера в лаборатории, второе называет её собственную цену и условие, при котором цена не возникает.</a:t>
            </a:r>
          </a:p>
          <a:p>
            <a:r>
              <a:t/>
            </a:r>
          </a:p>
          <a:p>
            <a:r>
              <a:t>Начнём с подтверждения. Предрегистрированный рандомизированный опыт: четыреста пятьдесят три профессионала с высшим образованием, задания — типовые рабочие тексты по их же специальностям, пресс-релизы, короткие отчёты, аналитические записки. Половине случайным образом выдали доступ к модели. Время на задание упало на сорок процентов, качество выросло на восемнадцать. Это числа опубликованной работы; у её же более ранней рукописи выборка была на девять человек меньше, и головные числа там другие. Хороший повод запомнить: между препринтом и публикацией цифры двигаются, и подписывать их надо тем документом, из которого взял.</a:t>
            </a:r>
          </a:p>
          <a:p>
            <a:r>
              <a:t/>
            </a:r>
          </a:p>
          <a:p>
            <a:r>
              <a:t>Но вес этого опыта в другом: в том, что перестроилось внутри работы. До вмешательства участники тратили примерно четверть времени на замысел, половину на черновик и четверть на правку. После — доля черновика упала более чем вдвое, а доля правки более чем вдвое выросла. Авторы формулируют это в аннотации так: инструмент замещает скорее усилие работника, чем дополняет его навык, и перестраивает задачу в сторону порождения идей и редактирования, прочь от написания черновика. Это и есть ось вечера, сказанная чужими словами на чужом материале: исполнение ужалось, отбор и доводка заняли освободившееся место.</a:t>
            </a:r>
          </a:p>
          <a:p>
            <a:r>
              <a:t/>
            </a:r>
          </a:p>
          <a:p>
            <a:r>
              <a:t>Третий результат того же опыта неожиданнее прочих: исходное неравенство между сильными и слабыми участниками сократилось примерно вдвое. По контрольной группе оценка за первое задание предсказывала оценку за второе заметно лучше, чем в группе с моделью. Проще говоря, выигрывают сильнее те, кто писал хуже. Для творческих индустрий это объясняет наблюдаемую картину целиком: нижний сегмент заказов — открытки, оформление для соцсетей, баннеры мелкого бизнеса — сжимается, потому что заказчик закрывает задачу сам; верхний держится и дорожает, потому что там платят за то, чего модель не подтягивает.</a:t>
            </a:r>
          </a:p>
          <a:p>
            <a:r>
              <a:t/>
            </a:r>
          </a:p>
          <a:p>
            <a:r>
              <a:t>Теперь вторая половина кадра — ограничение, которое проявляется только на творческих задачах и которого нет ни в поддержке клиентов, ни в программировании. Полевой опыт: две тысячи двести тридцать четыре участника произвели одиннадцать тысяч двадцать четыре рекламных объявления, и результат проверяли на реальных показах, то есть поведением настоящей аудитории без судейских оценок. Команды с моделью произвели на пятьдесят процентов больше объявлений в расчёте на одного участника — единицу здесь надо держать, потому что на общий объём выпуска команды это число без пересчёта не переносится. Качество разошлось по частям работы: текстовая часть у команд с моделью лучше, изобразительная хуже. Это та же зазубренная граница, увиденная внутри одной задачи.</a:t>
            </a:r>
          </a:p>
          <a:p>
            <a:r>
              <a:t/>
            </a:r>
          </a:p>
          <a:p>
            <a:r>
              <a:t>Инженерная формулировка, которую стоит унести. Дешёвая проба смещает распределение результатов к центру, и смещает тем сильнее, чем больше работы человек отдаёт модели целиком. Если ценность работы состоит в попадании в центр ожиданий — типовой баннер, карточка товара, техническая иллюстрация, — это свойство работает в вашу пользу. Если ценность состоит в отклонении от центра, перебор при делегировании её уничтожает, и восстанавливать её приходится старыми способами: разными людьми, разными инструментами, сознательным выходом за пределы того, что модель предлагает первым, — и тем самым задачным режимом, при котором обрушения в опыте не было. Режим выбирает человек, и в этом весь рычаг.</a:t>
            </a:r>
          </a:p>
          <a:p>
            <a:r>
              <a:t/>
            </a:r>
          </a:p>
          <a:p>
            <a:r>
              <a:t>И короткая формулировка, которую стоит унести с этого кадра целиком: дешёвая проба смещает распределение результатов к центру ожиданий. Выигрывает тот, кому нужен надёжный средний результат. Проигрывает тот, чья ценность в отклонении от среднего, — и проигрывает он незаметно, потому что каждая отдельная работа при этом становится лучше.</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само наблюдение: работы вышли заметно более похожими друг на друга. Механизм понятен из устройства — модель обучена на том, что встречалось чаще, и при равных условиях выдаёт то, что встречалось чаще. Семьдесят тысяч вариантов, полученных одним способом из одной модели, менее разнообразны, чем семьдесят вариантов, полученных семьюдесятью разными людьми. Перебор расширил количество проб и сузил их разброс.</a:t>
            </a:r>
          </a:p>
          <a:p>
            <a:r>
              <a:t/>
            </a:r>
          </a:p>
          <a:p>
            <a:r>
              <a:t>Но здесь начинается то, ради чего кадр стоит в Сборке, и это условие важнее самого эффекта. Сужение авторы наблюдали в командах, где человек отдавал работу модели целиком и общался с ней в межличностном стиле, как с собеседником. При задачно-ориентированном взаимодействии — человек ставит задачу, разбирает результат, ставит следующую — тот же опыт тем же счётом зафиксировал более высокую производительность, более высокое качество по всем измерениям сразу и отсутствие обрушения разнообразия. Обе половины измерены на одном и том же материале.</a:t>
            </a:r>
          </a:p>
          <a:p>
            <a:r>
              <a:t/>
            </a:r>
          </a:p>
          <a:p>
            <a:r>
              <a:t>Разложим два режима по именам, потому что различает их не инструмент и не задача, а то, как человек себя в этой паре ведёт.</a:t>
            </a:r>
          </a:p>
          <a:p>
            <a:r>
              <a:t/>
            </a:r>
          </a:p>
          <a:p>
            <a:r>
              <a:t>Режим первый — делегирование. Человек отдаёт работу модели целиком и говорит с ней как с собеседником: формулирует, получает, принимает. Здесь и наступает сужение разброса: работы выходят заметно более похожими друг на друга, потому что все они приходят из одного распределения, сдвинутого к середине ожидаемого. Семьдесят тысяч вариантов, порождённых одной моделью, менее разнообразны, чем семьдесят вариантов от семидесяти разных людей, — и это измеренное свойство. Там, где ценность работы состоит именно в отклонении от центра ожиданий, этот режим её уничтожает.</a:t>
            </a:r>
          </a:p>
          <a:p>
            <a:r>
              <a:t/>
            </a:r>
          </a:p>
          <a:p>
            <a:r>
              <a:t>Режим второй — задачно-ориентированный. Человек ставит задачу, разбирает результат, ставит следующую. Решение о том, что считать годным, остаётся у него, и распределение формируется его отбором, а не распределением модели. В этом режиме обрушения разнообразия в опыте не наблюдается вовсе — и при этом выше и производительность, и качество, по всем измерениям сразу.</a:t>
            </a:r>
          </a:p>
          <a:p>
            <a:r>
              <a:t/>
            </a:r>
          </a:p>
          <a:p>
            <a:r>
              <a:t>Это и есть практический вывод кадра, и он редкий по форме: у эффекта есть выключатель, и выключатель в руках человека. Не у поставщика модели, не у регулятора, не у следующей версии — у того, кто сидит перед экраном и решает, отдать ли работу целиком или вести её шагами. Условие здесь важнее самого эффекта: сужение разброса — не свойство технологии, а свойство одного из двух способов ею пользоваться.</a:t>
            </a:r>
          </a:p>
          <a:p>
            <a:r>
              <a:t/>
            </a:r>
          </a:p>
          <a:p>
            <a:r>
              <a:t>Для практики из этого следует проверяемое требование к процессу, а не к инструменту. Если вы вводите обученную модель туда, где ценится несходство результатов — в проектирование вариантов, в рекламные тексты, в поиск технических решений, — запишите в регламент, что человек ставит задачу и разбирает результат, а не принимает выданное целиком. Это не вопрос вкуса и не дисциплина ради дисциплины: разница между двумя режимами измерена на двух тысячах с лишним участников и одиннадцати тысячах объявлений, и проверена поведением настоящей аудитории, а не судейскими оценками.</a:t>
            </a:r>
          </a:p>
          <a:p>
            <a:r>
              <a:t/>
            </a:r>
          </a:p>
          <a:p>
            <a:r>
              <a:t>И вот чем этот опыт отличается от большинства: качество здесь мерили не судейскими оценками, а поведением настоящей аудитории на реальных показах — одиннадцать тысяч двадцать четыре объявления, две тысячи двести тридцать четыре участника. Судейская оценка измеряет, что нравится судье; показ измеряет, что сработало. Для вывода о разнообразии это принципиально: судья как раз склонен выше оценивать работу, сдвинутую к центру ожиданий.</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Сквозная мысль этой лекции звучала в каждом разделе: выигрыш берётся из обесценивания неудачной попытки. Проверить такую мысль можно только одним способом — пересчитав, в скольких разобранных случаях выигрыш посчитан честно, то есть от классического режима. Ноль — удобная база: она всегда даёт впечатляющее число и всегда неверна, потому что до модели работу кто-то делал, и делал за известные деньги.</a:t>
            </a:r>
          </a:p>
          <a:p>
            <a:r>
              <a:t/>
            </a:r>
          </a:p>
          <a:p>
            <a:r>
              <a:t>Счёт ведётся по реестру разборов и показан целиком, чтобы его можно было оспорить.</a:t>
            </a:r>
          </a:p>
          <a:p>
            <a:r>
              <a:t/>
            </a:r>
          </a:p>
          <a:p>
            <a:r>
              <a:t>Разобрано тринадцать случаев подробно — это те, у которых пройдены все пять шагов разбора: цена ошибки, классические режимы в той же единице, модель рядом с ними, устройство и то, что переехало вправо. Рядом стоит один правовой разбор, который в этот знаменатель не входит, потому что у судебного решения нет классического режима в том же смысле.</a:t>
            </a:r>
          </a:p>
          <a:p>
            <a:r>
              <a:t/>
            </a:r>
          </a:p>
          <a:p>
            <a:r>
              <a:t>В семи случаях выигрыш посчитан от классического режима, то есть обе стороны измерены в одной единице. Это цена одного изображения, где заказ, сток и генерация сопоставлены в долларах за штуку. Китайские микродрамы, где живой выпуск и сгенерированный сопоставлены в юанях за выпуск. Ролик к финалу НБА, где названо снижение против обычного ролика того же слота. Рождественская кампания, где рядом стоят численность команды до и после. Редакция, выпускавшая машинные статьи, где контрфакт — сколько ошибается редакция без модели — стоит на том же кадре. Российские издания с их замером по той же выборке тем же способом. И дубляж: там первый классический режим измерен в той же единице — от 50 до 450 долларов за готовую минуту у диктора против 0,03–0,072 доллара у синтеза; второй режим, субтитры, назван и не посчитан, поэтому сравнение там неполное, но выигрыш в нём честный.</a:t>
            </a:r>
          </a:p>
          <a:p>
            <a:r>
              <a:t/>
            </a:r>
          </a:p>
          <a:p>
            <a:r>
              <a:t>В трёх случаях базы со стороны классики нет, и это сказано вслух на самом кадре разбора. Сколько стоил бы тот же баннер у штатного дизайнера — в публикации редакции не сказано. Сколько часов записи требует банкирование голоса по протоколу клиники — не назвал ни один источник. Сколько стоила бы классическая доработка изображения под сферический купол — в источниках нет. Это честные дыры, и каждая названа там, где она есть.</a:t>
            </a:r>
          </a:p>
          <a:p>
            <a:r>
              <a:t/>
            </a:r>
          </a:p>
          <a:p>
            <a:r>
              <a:t>Ещё в трёх классического режима не существует вовсе, и это свойство самой задачи: работу, которую не делали никогда, не с чем сравнивать. Бионическая перегородка сделана оптимизацией формы без обученной модели — разбор подмены: выигрыш там настоящий, но дала его не та технология, которой его приписывают. Голос актёра, потерявшего речь, в классическом режиме либо отсутствует, либо принадлежит другому человеку. У свитков, обугленных извержением, альтернатива одна — «не прочитать никогда».</a:t>
            </a:r>
          </a:p>
          <a:p>
            <a:r>
              <a:t/>
            </a:r>
          </a:p>
          <a:p>
            <a:r>
              <a:t>Сложение: семь плюс три плюс три равно тринадцати. Счёт сходится, и это существенно: если бы он не сошёлся, значит, какой-то разбор потерялся между реестром и кадрами.</a:t>
            </a:r>
          </a:p>
          <a:p>
            <a:r>
              <a:t/>
            </a:r>
          </a:p>
          <a:p>
            <a:r>
              <a:t>Что говорит это число. Семь из тринадцати — больше половины, и для отраслевой лекции про генеративные модели это хороший результат: в большинстве разобранных случаев выигрыш остаётся выигрышем после того, как рядом поставили посчитанную классику. Три случая, где классики нет вовсе, — самое ценное в наборе: это задачи, которых раньше не решали. Свиток, пролежавший нечитанным две тысячи лет, прочитан целиком двадцать пятого июня 2026 года, и ни одной буквы в нём не сгенерировано.</a:t>
            </a:r>
          </a:p>
          <a:p>
            <a:r>
              <a:t/>
            </a:r>
          </a:p>
          <a:p>
            <a:r>
              <a:t>И привычка, которую стоит унести вместо числа. Прежде чем соглашаться с любым утверждением о выигрыше от модели, задайте ему три вопроса подряд: с чем сравнивали — с классическим режимом или с нулём; в каких единицах считали обе стороны; где знаменатель. Три вопроса закрывают почти все ошибки отраслевых обзоров этой темы, включая те, что встречались в материале самой лекции и были названы вслух.</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Шестьдесят лет инструмент творческого производства дешевел семь раз, и каждый раз происходило одно и то же: исчезала операция посредничества — то звено, где человек механически переносил замысел на носитель. Исчезла обводка тушью, когда рисунок аниматора стали переносить на целлулоид напрямую. Исчез допечатный цех, когда ретушь переехала с выделенных систем на обычную рабочую станцию. Исчезла физическая склейка плёнки, когда монтаж стал нелинейным. Исчез дубль ради одной ноты. Исчезла заказная съёмка под каталог, когда появился микросток. Исчезла ручная анимация лица по образцу. Исчезла экспедиция за фоном, когда фон стал считаться в игровом движке прямо на площадке. Профессия при этом каждый раз оставалась и пересаживалась на новый инструмент.</a:t>
            </a:r>
          </a:p>
          <a:p>
            <a:r>
              <a:t/>
            </a:r>
          </a:p>
          <a:p>
            <a:r>
              <a:t>В 2022 году подешевело другое. Первое приближение замысла стало стоить доли цента, и весь выигрыш индустрии берётся отсюда. Сделать семьдесят тысяч вариантов и выбрать один стало дешевле, чем сделать один и попасть. Именно поэтому исполнение перестроилось в последнюю очередь, а в первую очередь перестроился отбор — стадия, которой раньше почти не существовало как отдельной работы, потому что смотреть было почти нечего: когда проба стоила денег, их делали мало.</a:t>
            </a:r>
          </a:p>
          <a:p>
            <a:r>
              <a:t/>
            </a:r>
          </a:p>
          <a:p>
            <a:r>
              <a:t>Отсюда следуют обе половины вечера, и обе честные. Произносить надо обе: лекция, которая остановится на первой, учит доверию вместо суждения.</a:t>
            </a:r>
          </a:p>
          <a:p>
            <a:r>
              <a:t/>
            </a:r>
          </a:p>
          <a:p>
            <a:r>
              <a:t>Первая половина. Выиграли те, кто научился выбирать. Один человек с тремя-четырьмя сотнями генераций и двумя днями собирает ролик для финала национальной баскетбольной ассоциации. Пятеро специалистов за тридцать дней дают рождественскую кампанию мирового бренда. Целая отрасль коротких сериалов переходит на новый способ производства за один год и выпускает по одному эпизоду каждые тридцать шесть секунд. Человек, у которого болезнь отняла речь, получает свой голос обратно по минутам старых записей. Свиток, который нельзя было развернуть, не разрушив, прочитан целиком — и ни одной буквы в нём не сгенерировано.</a:t>
            </a:r>
          </a:p>
          <a:p>
            <a:r>
              <a:t/>
            </a:r>
          </a:p>
          <a:p>
            <a:r>
              <a:t>Вторая половина. Платят те, кого раньше узнавали бесплатно. Голос, лицо, подпись и манера перестали подтверждать себя сами, и подтверждение стало стоить денег и труда проверяющего. Распознаватель, безупречный на знакомой модели, на незнакомой даёт монету. В редакциях, где доля машинных статей перевалила за пятую часть, число названных экспертов на тысячу слов упало на двадцать два процента — это люди, которых перестали звать комментировать, и им никто не объяснил почему. Актриса озвучания, начитавшая шестьсот страниц по договору, в котором слова «синтез» не было, услышала свой голос в чужой рекламе и не нашла статьи, по которой его защитить. Это и есть счёт за дешёвую ошибку, и выставлен он не всем поровну.</a:t>
            </a:r>
          </a:p>
          <a:p>
            <a:r>
              <a:t/>
            </a:r>
          </a:p>
          <a:p>
            <a:r>
              <a:t>Восьмое удешевление отличается от семи предыдущих по разряду; величина ни при чём. Каждое из семи убирало операцию — конкретное действие, которое человек делал руками и перестал делать. Профессия при этом оставалась целой: тот же художник пересаживался с туши на планшет, тот же монтажёр — с плёнки на нелинейную станцию, и ремесло переезжало вместе с ними. Восьмое убрало цену промаха. Операция при этом осталась на месте, и профессия не переехала целиком — она разделилась надвое. Те, чья ценность состоит в выборе, получили инструмент, который умножает число вариантов на порядок-полтора, и сразу стали нужнее. Те, чья ценность состояла в том, что их узнавали бесплатно — голос, которому верили, подпись, которую не проверяли, лицо, которое само себя удостоверяло, — не приобрели ничего и получили счёт.</a:t>
            </a:r>
          </a:p>
          <a:p>
            <a:r>
              <a:t/>
            </a:r>
          </a:p>
          <a:p>
            <a:r>
              <a:t>Инженеру из этого остаётся одна рабочая мысль, применимая далеко за пределами творческих индустрий, и ради неё стоило идти весь вечер. Когда у какого-нибудь шага работы цена падает почти до нуля, работа не исчезает — она переезжает на соседний шаг, который не подешевел. Найти этот соседний шаг заранее и есть профессиональное умение. В 2022 году таким шагом оказался отбор. В следующий раз это будет что-то другое, и искать вы будете тем же способом: спросив, что именно стало стоить доли цента и кто теперь делает то, что раньше делалось само.</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Одна тема сегодня названа и сознательно не раскрыта. Честнее сказать об этом прямо, чем оставить впечатление, будто вечер закрыл предмет целиком. Когда узнавание перестаёт подтверждать себя, появляется не только издержка проверки — та, которую мы считали в разделе про распознавание и происхождение, — но и целый класс атак, живущих ровно на этой издержке. Подделка личности. Голосовое мошенничество, где звонящий говорит голосом, который собеседник знает двадцать лет. Обход проверок при найме, когда кандидат на видеособеседовании оказывается не тем, кого наняли. Распознаватели, поставленные внутрь контура защиты, со всеми последствиями того, что мы про них сегодня измерили.</a:t>
            </a:r>
          </a:p>
          <a:p>
            <a:r>
              <a:t/>
            </a:r>
          </a:p>
          <a:p>
            <a:r>
              <a:t>Это предмет отдельной лекции, и распознаватель вернётся в ней уже в другой роли. Сегодня он был измерительным прибором, и мы спрашивали с него как с прибора: какова доля верных решений при рабочем пороге на том распределении, которое будет в деле, и почему площадь под кривой держится приличной ровно тогда, когда рабочая точность упала до случайной. Там он станет элементом системы безопасности, и вопросы к нему будут другие: где поставить порог, сколько стоит ложная тревога, сколько стоит пропуск, и кто тот человек, который принимает решение по его подсказке и отвечает за это решение.</a:t>
            </a:r>
          </a:p>
          <a:p>
            <a:r>
              <a:t/>
            </a:r>
          </a:p>
          <a:p>
            <a:r>
              <a:t>Снимок на этом кадре — короткая иллюстрация того, о чём речь. В январе 2025 года, когда в Калифорнии шли пожары, по социальным сетям разошлось изображение горящей надписи Hollywood. Надпись не горела. Изображение было сгенерировано, и его принимали за съёмку с места. Внимательность смотрящего тут ничего не решает: бесплатного способа отличить одно от другого у него больше нет. Ровно эту задачу и приходится теперь кому-то оплачивать.</a:t>
            </a:r>
          </a:p>
          <a:p>
            <a:r>
              <a:t/>
            </a:r>
          </a:p>
          <a:p>
            <a:r>
              <a:t>А унести отсюда стоит то, что получено измерением. Исполнение в творческом производстве действительно перестало быть дефицитом, и это хорошая новость: впервые за шестьдесят лет удешевления стало дёшево ошибаться. Семьдесят тысяч проб вместо одной перестали быть вопросом бюджета. Работа от этого никуда не исчезла — она переехала на шаг, который не подешевел, и шаг этот называется отбором. Умение выбрать один вариант из семидесяти тысяч, посчитать выигрыш от классического режима и сказать вслух «здесь модель не тот инструмент» — это ровно та часть ремесла, которую инструмент не забрал и в ближайшее время не заберёт.</a:t>
            </a:r>
          </a:p>
          <a:p>
            <a:r>
              <a:t/>
            </a:r>
          </a:p>
          <a:p>
            <a:r>
              <a:t>Почему это именно долг, а вежливой отсылкой в конце тут не отделаться. Распознаватель, который мы сегодня мерили на учебном материале, уже стоит в рабочих контурах защиты: им проверяют загруженные документы, видеосвязь при удалённом найме, обращения в поддержку. Число, полученное сегодня, он уносит туда с собой — девяносто девять и девять десятых процента на знакомом семействе и пятьдесят один и девять десятых на незнакомом, при том что площадь под кривой остаётся приличной и в том, и в другом случае. Система безопасности, построенная на отчёте по площади под кривой, будет выглядеть надёжной ровно до первой атаки моделью, которой распознаватель не видел. Это уже не разговор о творческих индустриях, и разбирать его надо отдельно и целиком.</a:t>
            </a:r>
          </a:p>
          <a:p>
            <a:r>
              <a:t/>
            </a:r>
          </a:p>
          <a:p>
            <a:r>
              <a:t>И последнее, уже за пределами творческих индустрий. Приём, которым мы сегодня пользовались, переносится куда угодно. Когда у какого-нибудь шага работы цена падает почти до нуля, спросите три вещи подряд: что именно стало стоить доли цента; кто теперь делает то, что раньше делалось само; и с чем сравнивают, когда называют выигрыш. Три вопроса — и большая часть красивых цифр о внедрении модели рассыпается ещё до того, как вы потратите на проверку день.</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t-j.ru/marketing-a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sknews.autodesk.com/en/news/autodesk-airbus-generative-design-aerospace-factory/"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sphere.com/" TargetMode="Externa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308.04079" TargetMode="Externa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412.01506" TargetMode="Externa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509.21420" TargetMode="Externa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scrollprize.org/" TargetMode="Externa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rollprize.org/" TargetMode="Externa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211.00680" TargetMode="Externa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www.cnet.com/tech/cnet-is-testing-an-ai-engine-heres-what-weve-learned-mistakes-and-all/" TargetMode="Externa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3696919" y="896112"/>
            <a:ext cx="7991856" cy="4535424"/>
          </a:xfrm>
          <a:prstGeom prst="roundRect">
            <a:avLst>
              <a:gd name="adj" fmla="val 6720"/>
            </a:avLst>
          </a:prstGeom>
          <a:solidFill>
            <a:srgbClr val="F4F7FA"/>
          </a:solidFill>
          <a:ln w="19050">
            <a:solidFill>
              <a:srgbClr val="1C7293"/>
            </a:solidFill>
          </a:ln>
          <a:effectLst/>
        </p:spPr>
        <p:txBody>
          <a:bodyPr rtlCol="0" anchor="ctr"/>
          <a:lstStyle/>
          <a:p>
            <a:pPr algn="ctr"/>
          </a:p>
        </p:txBody>
      </p:sp>
      <p:pic>
        <p:nvPicPr>
          <p:cNvPr id="4" name="Picture 3" descr="s01-coca-cola-ai-kadr.png"/>
          <p:cNvPicPr>
            <a:picLocks noChangeAspect="1"/>
          </p:cNvPicPr>
          <p:nvPr/>
        </p:nvPicPr>
        <p:blipFill>
          <a:blip r:embed="rId2"/>
          <a:stretch>
            <a:fillRect/>
          </a:stretch>
        </p:blipFill>
        <p:spPr>
          <a:xfrm>
            <a:off x="3742639" y="941832"/>
            <a:ext cx="7900416" cy="4443984"/>
          </a:xfrm>
          <a:prstGeom prst="rect">
            <a:avLst/>
          </a:prstGeom>
        </p:spPr>
      </p:pic>
      <p:sp>
        <p:nvSpPr>
          <p:cNvPr id="5" name="TextBox 4"/>
          <p:cNvSpPr txBox="1"/>
          <p:nvPr/>
        </p:nvSpPr>
        <p:spPr>
          <a:xfrm>
            <a:off x="502920" y="1170432"/>
            <a:ext cx="2883103" cy="5065776"/>
          </a:xfrm>
          <a:prstGeom prst="rect">
            <a:avLst/>
          </a:prstGeom>
          <a:noFill/>
        </p:spPr>
        <p:txBody>
          <a:bodyPr wrap="square" lIns="0" rIns="0" tIns="0" bIns="0" anchor="t">
            <a:spAutoFit/>
          </a:bodyPr>
          <a:lstStyle/>
          <a:p>
            <a:pPr algn="l">
              <a:lnSpc>
                <a:spcPct val="122000"/>
              </a:lnSpc>
            </a:pPr>
            <a:r>
              <a:rPr sz="1700" b="1" i="0">
                <a:solidFill>
                  <a:srgbClr val="21295C"/>
                </a:solidFill>
                <a:latin typeface="Arial"/>
              </a:rPr>
              <a:t>8</a:t>
            </a:r>
          </a:p>
          <a:p>
            <a:pPr algn="l">
              <a:lnSpc>
                <a:spcPct val="122000"/>
              </a:lnSpc>
              <a:spcBef>
                <a:spcPts val="1200"/>
              </a:spcBef>
            </a:pPr>
            <a:r>
              <a:rPr sz="1700" b="1" i="0">
                <a:solidFill>
                  <a:srgbClr val="21295C"/>
                </a:solidFill>
                <a:latin typeface="Arial"/>
              </a:rPr>
              <a:t>ИИ в креативных индустриях и медиа</a:t>
            </a:r>
          </a:p>
          <a:p>
            <a:pPr algn="l">
              <a:lnSpc>
                <a:spcPct val="122000"/>
              </a:lnSpc>
              <a:spcBef>
                <a:spcPts val="1200"/>
              </a:spcBef>
            </a:pPr>
            <a:r>
              <a:rPr sz="1700" b="0" i="0">
                <a:solidFill>
                  <a:srgbClr val="21295C"/>
                </a:solidFill>
                <a:latin typeface="Arial"/>
              </a:rPr>
              <a:t>Изображение · звук · видео · трёхмерное · распознавание · сборка</a:t>
            </a:r>
          </a:p>
        </p:txBody>
      </p:sp>
      <p:sp>
        <p:nvSpPr>
          <p:cNvPr id="6" name="Rectangle 5"/>
          <p:cNvSpPr/>
          <p:nvPr/>
        </p:nvSpPr>
        <p:spPr>
          <a:xfrm>
            <a:off x="502920" y="786384"/>
            <a:ext cx="1463040" cy="64008"/>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За шестьдесят лет инструмент дешевел семь раз, и каждый раз исчезала операция-посредник</a:t>
            </a:r>
          </a:p>
        </p:txBody>
      </p:sp>
      <p:sp>
        <p:nvSpPr>
          <p:cNvPr id="4" name="TextBox 3"/>
          <p:cNvSpPr txBox="1"/>
          <p:nvPr/>
        </p:nvSpPr>
        <p:spPr>
          <a:xfrm>
            <a:off x="502920" y="1371600"/>
            <a:ext cx="1307592" cy="122080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XX век</a:t>
            </a:r>
          </a:p>
        </p:txBody>
      </p:sp>
      <p:sp>
        <p:nvSpPr>
          <p:cNvPr id="5" name="Rounded Rectangle 4"/>
          <p:cNvSpPr/>
          <p:nvPr/>
        </p:nvSpPr>
        <p:spPr>
          <a:xfrm>
            <a:off x="1920240"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1961 — обводка тушью на целлулоиде; штат вдвое меньше</a:t>
            </a:r>
          </a:p>
        </p:txBody>
      </p:sp>
      <p:sp>
        <p:nvSpPr>
          <p:cNvPr id="7" name="Right Arrow 6"/>
          <p:cNvSpPr/>
          <p:nvPr/>
        </p:nvSpPr>
        <p:spPr>
          <a:xfrm>
            <a:off x="3284675" y="191342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513275"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595571"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1990 — допечатный цех; $300 за час против $895 навсегда</a:t>
            </a:r>
          </a:p>
        </p:txBody>
      </p:sp>
      <p:sp>
        <p:nvSpPr>
          <p:cNvPr id="10" name="Right Arrow 9"/>
          <p:cNvSpPr/>
          <p:nvPr/>
        </p:nvSpPr>
        <p:spPr>
          <a:xfrm>
            <a:off x="4877710" y="191342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5106310"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5188606"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1989–2003 — физическая склейка плёнки; рабочее место $50–80 тыс.</a:t>
            </a:r>
          </a:p>
        </p:txBody>
      </p:sp>
      <p:sp>
        <p:nvSpPr>
          <p:cNvPr id="13" name="Right Arrow 12"/>
          <p:cNvSpPr/>
          <p:nvPr/>
        </p:nvSpPr>
        <p:spPr>
          <a:xfrm>
            <a:off x="6470746" y="191342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699346"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781642"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1997 — дубль ради одной ноты; коррекция высоты тона</a:t>
            </a:r>
          </a:p>
        </p:txBody>
      </p:sp>
      <p:sp>
        <p:nvSpPr>
          <p:cNvPr id="16" name="TextBox 15"/>
          <p:cNvSpPr txBox="1"/>
          <p:nvPr/>
        </p:nvSpPr>
        <p:spPr>
          <a:xfrm>
            <a:off x="502920" y="2811865"/>
            <a:ext cx="1307592" cy="122080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XXI век</a:t>
            </a:r>
          </a:p>
        </p:txBody>
      </p:sp>
      <p:sp>
        <p:nvSpPr>
          <p:cNvPr id="17" name="Rounded Rectangle 16"/>
          <p:cNvSpPr/>
          <p:nvPr/>
        </p:nvSpPr>
        <p:spPr>
          <a:xfrm>
            <a:off x="1920240" y="2775289"/>
            <a:ext cx="1849727"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821009"/>
            <a:ext cx="1685135"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2000-е — заказная съёмка под каталог; от сотен долларов до $0,25</a:t>
            </a:r>
          </a:p>
        </p:txBody>
      </p:sp>
      <p:sp>
        <p:nvSpPr>
          <p:cNvPr id="19" name="Right Arrow 18"/>
          <p:cNvSpPr/>
          <p:nvPr/>
        </p:nvSpPr>
        <p:spPr>
          <a:xfrm>
            <a:off x="3815687" y="335369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044287" y="2775289"/>
            <a:ext cx="1849727"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126583" y="2821009"/>
            <a:ext cx="1685135"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2002 · 2009 — ручная анимация лица; захват стал измерением</a:t>
            </a:r>
          </a:p>
        </p:txBody>
      </p:sp>
      <p:sp>
        <p:nvSpPr>
          <p:cNvPr id="22" name="Right Arrow 21"/>
          <p:cNvSpPr/>
          <p:nvPr/>
        </p:nvSpPr>
        <p:spPr>
          <a:xfrm>
            <a:off x="5939734" y="3353690"/>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168334" y="2775289"/>
            <a:ext cx="1849727"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6250630" y="2821009"/>
            <a:ext cx="1685135"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2019 — экспедиция за фоном; 1 326 панелей, дуга 270°</a:t>
            </a:r>
          </a:p>
        </p:txBody>
      </p:sp>
      <p:sp>
        <p:nvSpPr>
          <p:cNvPr id="25" name="TextBox 24"/>
          <p:cNvSpPr txBox="1"/>
          <p:nvPr/>
        </p:nvSpPr>
        <p:spPr>
          <a:xfrm>
            <a:off x="502920" y="4105826"/>
            <a:ext cx="751514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Слева направо — время; вторая строка продолжает первую. Исчезала операция-посредник; профессия оставалась</a:t>
            </a:r>
          </a:p>
        </p:txBody>
      </p:sp>
      <p:sp>
        <p:nvSpPr>
          <p:cNvPr id="26" name="Rounded Rectangle 25"/>
          <p:cNvSpPr/>
          <p:nvPr/>
        </p:nvSpPr>
        <p:spPr>
          <a:xfrm>
            <a:off x="374904" y="4619753"/>
            <a:ext cx="7771173"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4711193"/>
            <a:ext cx="7441989" cy="152501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Поворотная точка — 2000-е.</a:t>
            </a:r>
            <a:r>
              <a:rPr sz="1500" b="0" i="0">
                <a:solidFill>
                  <a:srgbClr val="21295C"/>
                </a:solidFill>
                <a:latin typeface="Arial"/>
              </a:rPr>
              <a:t> Обвал цены единицы на три порядка в этой же отрасли уже случался, и рынок уцелел, разделившись на «дёшево и много» и «дорого и именно это».</a:t>
            </a:r>
          </a:p>
          <a:p>
            <a:pPr algn="l">
              <a:lnSpc>
                <a:spcPct val="126000"/>
              </a:lnSpc>
              <a:spcBef>
                <a:spcPts val="700"/>
              </a:spcBef>
            </a:pPr>
            <a:r>
              <a:rPr sz="1500" b="0" i="0">
                <a:solidFill>
                  <a:srgbClr val="21295C"/>
                </a:solidFill>
                <a:latin typeface="Arial"/>
              </a:rPr>
              <a:t/>
            </a:r>
            <a:r>
              <a:rPr sz="1500" b="1" i="0">
                <a:solidFill>
                  <a:srgbClr val="21295C"/>
                </a:solidFill>
                <a:latin typeface="Arial"/>
              </a:rPr>
              <a:t>Ни одна из семи строк не даёт исчезнувшей профессии.</a:t>
            </a:r>
          </a:p>
        </p:txBody>
      </p:sp>
      <p:sp>
        <p:nvSpPr>
          <p:cNvPr id="28" name="Rounded Rectangle 27"/>
          <p:cNvSpPr/>
          <p:nvPr/>
        </p:nvSpPr>
        <p:spPr>
          <a:xfrm>
            <a:off x="8328957" y="1335024"/>
            <a:ext cx="3359817" cy="4389120"/>
          </a:xfrm>
          <a:prstGeom prst="roundRect">
            <a:avLst>
              <a:gd name="adj" fmla="val 9071"/>
            </a:avLst>
          </a:prstGeom>
          <a:solidFill>
            <a:srgbClr val="F4F7FA"/>
          </a:solidFill>
          <a:ln w="19050">
            <a:solidFill>
              <a:srgbClr val="1C7293"/>
            </a:solidFill>
          </a:ln>
          <a:effectLst/>
        </p:spPr>
        <p:txBody>
          <a:bodyPr rtlCol="0" anchor="ctr"/>
          <a:lstStyle/>
          <a:p>
            <a:pPr algn="ctr"/>
          </a:p>
        </p:txBody>
      </p:sp>
      <p:pic>
        <p:nvPicPr>
          <p:cNvPr id="29" name="Picture 28" descr="s02-moviola.jpg"/>
          <p:cNvPicPr>
            <a:picLocks noChangeAspect="1"/>
          </p:cNvPicPr>
          <p:nvPr/>
        </p:nvPicPr>
        <p:blipFill>
          <a:blip r:embed="rId2"/>
          <a:stretch>
            <a:fillRect/>
          </a:stretch>
        </p:blipFill>
        <p:spPr>
          <a:xfrm>
            <a:off x="8466117" y="1472184"/>
            <a:ext cx="3085497" cy="4114800"/>
          </a:xfrm>
          <a:prstGeom prst="rect">
            <a:avLst/>
          </a:prstGeom>
        </p:spPr>
      </p:pic>
      <p:sp>
        <p:nvSpPr>
          <p:cNvPr id="30" name="Rectangle 29"/>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Disney, «101 далматинец», 1961</a:t>
            </a:r>
            <a:r>
              <a:rPr sz="1200" b="0" i="1">
                <a:solidFill>
                  <a:srgbClr val="1C7293"/>
                </a:solidFill>
                <a:latin typeface="Arial"/>
              </a:rPr>
              <a:t> · </a:t>
            </a:r>
            <a:r>
              <a:rPr sz="1200" b="0" i="1">
                <a:solidFill>
                  <a:srgbClr val="1C7293"/>
                </a:solidFill>
                <a:latin typeface="Arial"/>
              </a:rPr>
              <a:t>Adobe Photoshop 1.0, 19.02.1990</a:t>
            </a:r>
            <a:r>
              <a:rPr sz="1200" b="0" i="1">
                <a:solidFill>
                  <a:srgbClr val="1C7293"/>
                </a:solidFill>
                <a:latin typeface="Arial"/>
              </a:rPr>
              <a:t> · </a:t>
            </a:r>
            <a:r>
              <a:rPr sz="1200" b="0" i="1">
                <a:solidFill>
                  <a:srgbClr val="1C7293"/>
                </a:solidFill>
                <a:latin typeface="Arial"/>
              </a:rPr>
              <a:t>Avid Media Composer, 1989–2003</a:t>
            </a:r>
            <a:r>
              <a:rPr sz="1200" b="0" i="1">
                <a:solidFill>
                  <a:srgbClr val="1C7293"/>
                </a:solidFill>
                <a:latin typeface="Arial"/>
              </a:rPr>
              <a:t> · </a:t>
            </a:r>
            <a:r>
              <a:rPr sz="1200" b="0" i="1">
                <a:solidFill>
                  <a:srgbClr val="1C7293"/>
                </a:solidFill>
                <a:latin typeface="Arial"/>
              </a:rPr>
              <a:t>Auto-Tune, 19.09.1997</a:t>
            </a:r>
            <a:r>
              <a:rPr sz="1200" b="0" i="1">
                <a:solidFill>
                  <a:srgbClr val="1C7293"/>
                </a:solidFill>
                <a:latin typeface="Arial"/>
              </a:rPr>
              <a:t> · </a:t>
            </a:r>
            <a:r>
              <a:rPr sz="1200" b="0" i="1">
                <a:solidFill>
                  <a:srgbClr val="1C7293"/>
                </a:solidFill>
                <a:latin typeface="Arial"/>
              </a:rPr>
              <a:t>iStock 2000 и Shutterstock 2003</a:t>
            </a:r>
            <a:r>
              <a:rPr sz="1200" b="0" i="1">
                <a:solidFill>
                  <a:srgbClr val="1C7293"/>
                </a:solidFill>
                <a:latin typeface="Arial"/>
              </a:rPr>
              <a:t> · </a:t>
            </a:r>
            <a:r>
              <a:rPr sz="1200" b="0" i="1">
                <a:solidFill>
                  <a:srgbClr val="1C7293"/>
                </a:solidFill>
                <a:latin typeface="Arial"/>
              </a:rPr>
              <a:t>«Две башни» 2002 и «Аватар» 2009</a:t>
            </a:r>
            <a:r>
              <a:rPr sz="1200" b="0" i="1">
                <a:solidFill>
                  <a:srgbClr val="1C7293"/>
                </a:solidFill>
                <a:latin typeface="Arial"/>
              </a:rPr>
              <a:t> · </a:t>
            </a:r>
            <a:r>
              <a:rPr sz="1200" b="0" i="1">
                <a:solidFill>
                  <a:srgbClr val="1C7293"/>
                </a:solidFill>
                <a:latin typeface="Arial"/>
              </a:rPr>
              <a:t>ILM StageCraft, 2019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 2022 подешевело не исполнение: подешевела неудачная попытка</a:t>
            </a:r>
          </a:p>
        </p:txBody>
      </p:sp>
      <p:sp>
        <p:nvSpPr>
          <p:cNvPr id="4" name="Rounded Rectangle 3"/>
          <p:cNvSpPr/>
          <p:nvPr/>
        </p:nvSpPr>
        <p:spPr>
          <a:xfrm>
            <a:off x="502920" y="1335024"/>
            <a:ext cx="3618890" cy="1733470"/>
          </a:xfrm>
          <a:prstGeom prst="roundRect">
            <a:avLst>
              <a:gd name="adj" fmla="val 1758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 ТОГО ЖЕ РОЛИКА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съёмочная группа 50+ человек, срок — год</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названо первым лицом компании</a:t>
            </a:r>
          </a:p>
        </p:txBody>
      </p:sp>
      <p:sp>
        <p:nvSpPr>
          <p:cNvPr id="8" name="Rounded Rectangle 7"/>
          <p:cNvSpPr/>
          <p:nvPr/>
        </p:nvSpPr>
        <p:spPr>
          <a:xfrm>
            <a:off x="4286402" y="1335024"/>
            <a:ext cx="3618890" cy="1733470"/>
          </a:xfrm>
          <a:prstGeom prst="roundRect">
            <a:avLst>
              <a:gd name="adj" fmla="val 1758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МОДЕЛЬЮ, 2025</a:t>
            </a:r>
          </a:p>
        </p:txBody>
      </p:sp>
      <p:sp>
        <p:nvSpPr>
          <p:cNvPr id="10" name="TextBox 9"/>
          <p:cNvSpPr txBox="1"/>
          <p:nvPr/>
        </p:nvSpPr>
        <p:spPr>
          <a:xfrm>
            <a:off x="4423562" y="1725375"/>
            <a:ext cx="3344570" cy="783472"/>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70 000 клипов, 5 специалистов, 30 дней</a:t>
            </a:r>
          </a:p>
        </p:txBody>
      </p:sp>
      <p:sp>
        <p:nvSpPr>
          <p:cNvPr id="11" name="TextBox 10"/>
          <p:cNvSpPr txBox="1"/>
          <p:nvPr/>
        </p:nvSpPr>
        <p:spPr>
          <a:xfrm>
            <a:off x="4423562" y="250884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кампании при этом — те же примерно 100 человек</a:t>
            </a:r>
          </a:p>
        </p:txBody>
      </p:sp>
      <p:sp>
        <p:nvSpPr>
          <p:cNvPr id="12" name="Rounded Rectangle 11"/>
          <p:cNvSpPr/>
          <p:nvPr/>
        </p:nvSpPr>
        <p:spPr>
          <a:xfrm>
            <a:off x="8069884" y="1335024"/>
            <a:ext cx="3618890" cy="1733470"/>
          </a:xfrm>
          <a:prstGeom prst="roundRect">
            <a:avLst>
              <a:gd name="adj" fmla="val 1758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ИЗМЕНИЛОСЬ</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число проб, а не число людей</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и есть измеренный факт строки</a:t>
            </a:r>
          </a:p>
        </p:txBody>
      </p:sp>
      <p:sp>
        <p:nvSpPr>
          <p:cNvPr id="16" name="TextBox 15"/>
          <p:cNvSpPr txBox="1"/>
          <p:nvPr/>
        </p:nvSpPr>
        <p:spPr>
          <a:xfrm>
            <a:off x="502920" y="328795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25137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29709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замысел</a:t>
            </a:r>
          </a:p>
        </p:txBody>
      </p:sp>
      <p:sp>
        <p:nvSpPr>
          <p:cNvPr id="19" name="Right Arrow 18"/>
          <p:cNvSpPr/>
          <p:nvPr/>
        </p:nvSpPr>
        <p:spPr>
          <a:xfrm>
            <a:off x="5039258" y="3539315"/>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5137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29709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проба стоит как результат: $50–150 и 1–3 дня</a:t>
            </a:r>
          </a:p>
        </p:txBody>
      </p:sp>
      <p:sp>
        <p:nvSpPr>
          <p:cNvPr id="22" name="Right Arrow 21"/>
          <p:cNvSpPr/>
          <p:nvPr/>
        </p:nvSpPr>
        <p:spPr>
          <a:xfrm>
            <a:off x="8386876" y="3539315"/>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5137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29709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смотрят два-три варианта</a:t>
            </a:r>
          </a:p>
        </p:txBody>
      </p:sp>
      <p:sp>
        <p:nvSpPr>
          <p:cNvPr id="25" name="TextBox 24"/>
          <p:cNvSpPr txBox="1"/>
          <p:nvPr/>
        </p:nvSpPr>
        <p:spPr>
          <a:xfrm>
            <a:off x="502920" y="4147296"/>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6" name="Rounded Rectangle 25"/>
          <p:cNvSpPr/>
          <p:nvPr/>
        </p:nvSpPr>
        <p:spPr>
          <a:xfrm>
            <a:off x="1920240" y="411072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15644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замысел</a:t>
            </a:r>
          </a:p>
        </p:txBody>
      </p:sp>
      <p:sp>
        <p:nvSpPr>
          <p:cNvPr id="28" name="Right Arrow 27"/>
          <p:cNvSpPr/>
          <p:nvPr/>
        </p:nvSpPr>
        <p:spPr>
          <a:xfrm>
            <a:off x="5039258" y="4398661"/>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4110720"/>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4156440"/>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проба стоит $0,034–0,05 и секунды</a:t>
            </a:r>
          </a:p>
        </p:txBody>
      </p:sp>
      <p:sp>
        <p:nvSpPr>
          <p:cNvPr id="31" name="Right Arrow 30"/>
          <p:cNvSpPr/>
          <p:nvPr/>
        </p:nvSpPr>
        <p:spPr>
          <a:xfrm>
            <a:off x="8386876" y="439866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411072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415644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смотрят сотни — выбирать их некому</a:t>
            </a:r>
          </a:p>
        </p:txBody>
      </p:sp>
      <p:sp>
        <p:nvSpPr>
          <p:cNvPr id="34" name="Rounded Rectangle 33"/>
          <p:cNvSpPr/>
          <p:nvPr/>
        </p:nvSpPr>
        <p:spPr>
          <a:xfrm>
            <a:off x="374904" y="4915202"/>
            <a:ext cx="11441887" cy="1321005"/>
          </a:xfrm>
          <a:prstGeom prst="roundRect">
            <a:avLst>
              <a:gd name="adj" fmla="val 23073"/>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006642"/>
            <a:ext cx="11112703" cy="1229565"/>
          </a:xfrm>
          <a:prstGeom prst="rect">
            <a:avLst/>
          </a:prstGeom>
          <a:noFill/>
        </p:spPr>
        <p:txBody>
          <a:bodyPr wrap="square" lIns="0" rIns="0" tIns="0" bIns="0" anchor="t">
            <a:spAutoFit/>
          </a:bodyPr>
          <a:lstStyle/>
          <a:p>
            <a:pPr algn="l">
              <a:lnSpc>
                <a:spcPct val="126000"/>
              </a:lnSpc>
            </a:pPr>
            <a:r>
              <a:rPr sz="1150" b="0" i="1">
                <a:solidFill>
                  <a:srgbClr val="1C7293"/>
                </a:solidFill>
                <a:latin typeface="Arial"/>
              </a:rPr>
              <a:t>Сколько из 70 000 клипов вошло в монтаж — не раскрыто ни одним источником. Арифметику «выиграли в тысячи раз» отсюда вывести нельзя: делить не на что.</a:t>
            </a:r>
          </a:p>
          <a:p>
            <a:pPr algn="l">
              <a:lnSpc>
                <a:spcPct val="126000"/>
              </a:lnSpc>
              <a:spcBef>
                <a:spcPts val="700"/>
              </a:spcBef>
            </a:pPr>
            <a:r>
              <a:rPr sz="1150" b="0" i="0">
                <a:solidFill>
                  <a:srgbClr val="21295C"/>
                </a:solidFill>
                <a:latin typeface="Arial"/>
              </a:rPr>
              <a:t/>
            </a:r>
            <a:r>
              <a:rPr sz="1150" b="0" i="1">
                <a:solidFill>
                  <a:srgbClr val="1C7293"/>
                </a:solidFill>
                <a:latin typeface="Arial"/>
              </a:rPr>
              <a:t>Единственное защитимое отношение генераций к годному: Toys «R» Us, 2024 — сотни планов на минутный ролик, в монтаж вошло несколько десятков.</a:t>
            </a:r>
          </a:p>
          <a:p>
            <a:pPr algn="l">
              <a:lnSpc>
                <a:spcPct val="126000"/>
              </a:lnSpc>
              <a:spcBef>
                <a:spcPts val="700"/>
              </a:spcBef>
            </a:pPr>
            <a:r>
              <a:rPr sz="1450" b="0" i="0">
                <a:solidFill>
                  <a:srgbClr val="21295C"/>
                </a:solidFill>
                <a:latin typeface="Arial"/>
              </a:rPr>
              <a:t/>
            </a:r>
            <a:r>
              <a:rPr sz="1450" b="1" i="0">
                <a:solidFill>
                  <a:srgbClr val="21295C"/>
                </a:solidFill>
                <a:latin typeface="Arial"/>
              </a:rPr>
              <a:t>Подешевело не исполнение. Подешевела неудачная попытка — а выбирать по-прежнему некому.</a:t>
            </a:r>
          </a:p>
        </p:txBody>
      </p:sp>
      <p:sp>
        <p:nvSpPr>
          <p:cNvPr id="36" name="Rectangle 3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Маноло Арройо, Coca-Cola, The Wall Street Journal</a:t>
            </a:r>
            <a:r>
              <a:rPr sz="1200" b="0" i="1">
                <a:solidFill>
                  <a:srgbClr val="1C7293"/>
                </a:solidFill>
                <a:latin typeface="Arial"/>
              </a:rPr>
              <a:t> · </a:t>
            </a:r>
            <a:r>
              <a:rPr sz="1200" b="0" i="1">
                <a:solidFill>
                  <a:srgbClr val="1C7293"/>
                </a:solidFill>
                <a:latin typeface="Arial"/>
              </a:rPr>
              <a:t>implicator.ai, «Coca-Cola debuts AI holiday ads», 2025</a:t>
            </a:r>
            <a:r>
              <a:rPr sz="1200" b="0" i="1">
                <a:solidFill>
                  <a:srgbClr val="1C7293"/>
                </a:solidFill>
                <a:latin typeface="Arial"/>
              </a:rPr>
              <a:t> · </a:t>
            </a:r>
            <a:r>
              <a:rPr sz="1200" b="0" i="1">
                <a:solidFill>
                  <a:srgbClr val="1C7293"/>
                </a:solidFill>
                <a:latin typeface="Arial"/>
              </a:rPr>
              <a:t>Toys «R» Us Studios × Native Foreign, июнь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Одна механика в трёх масштабах</a:t>
            </a:r>
          </a:p>
        </p:txBody>
      </p:sp>
      <p:sp>
        <p:nvSpPr>
          <p:cNvPr id="4" name="Rounded Rectangle 3"/>
          <p:cNvSpPr/>
          <p:nvPr/>
        </p:nvSpPr>
        <p:spPr>
          <a:xfrm>
            <a:off x="502920" y="1335024"/>
            <a:ext cx="1520875" cy="3242352"/>
          </a:xfrm>
          <a:prstGeom prst="roundRect">
            <a:avLst>
              <a:gd name="adj" fmla="val 200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ОДНО ИЗОБРАЖЕНИЕ</a:t>
            </a:r>
          </a:p>
        </p:txBody>
      </p:sp>
      <p:sp>
        <p:nvSpPr>
          <p:cNvPr id="6" name="TextBox 5"/>
          <p:cNvSpPr txBox="1"/>
          <p:nvPr/>
        </p:nvSpPr>
        <p:spPr>
          <a:xfrm>
            <a:off x="640080" y="1932846"/>
            <a:ext cx="1246555" cy="325149"/>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$0,034–0,05</a:t>
            </a:r>
          </a:p>
        </p:txBody>
      </p:sp>
      <p:sp>
        <p:nvSpPr>
          <p:cNvPr id="7" name="TextBox 6"/>
          <p:cNvSpPr txBox="1"/>
          <p:nvPr/>
        </p:nvSpPr>
        <p:spPr>
          <a:xfrm>
            <a:off x="640080" y="2257996"/>
            <a:ext cx="124655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в той же единице: заказная иллюстрация $50–150 за задание в 1–3 дня</a:t>
            </a:r>
          </a:p>
        </p:txBody>
      </p:sp>
      <p:sp>
        <p:nvSpPr>
          <p:cNvPr id="8" name="Rounded Rectangle 7"/>
          <p:cNvSpPr/>
          <p:nvPr/>
        </p:nvSpPr>
        <p:spPr>
          <a:xfrm>
            <a:off x="2188387" y="1335024"/>
            <a:ext cx="1520875" cy="3242352"/>
          </a:xfrm>
          <a:prstGeom prst="roundRect">
            <a:avLst>
              <a:gd name="adj" fmla="val 200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325547"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МИНУТА ДУБЛЯЖА</a:t>
            </a:r>
          </a:p>
        </p:txBody>
      </p:sp>
      <p:sp>
        <p:nvSpPr>
          <p:cNvPr id="10" name="TextBox 9"/>
          <p:cNvSpPr txBox="1"/>
          <p:nvPr/>
        </p:nvSpPr>
        <p:spPr>
          <a:xfrm>
            <a:off x="2325547" y="1932846"/>
            <a:ext cx="1246555" cy="325149"/>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$0,03–0,072</a:t>
            </a:r>
          </a:p>
        </p:txBody>
      </p:sp>
      <p:sp>
        <p:nvSpPr>
          <p:cNvPr id="11" name="TextBox 10"/>
          <p:cNvSpPr txBox="1"/>
          <p:nvPr/>
        </p:nvSpPr>
        <p:spPr>
          <a:xfrm>
            <a:off x="2325547" y="2257996"/>
            <a:ext cx="124655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в той же единице: диктор $50–450 за готовую минуту</a:t>
            </a:r>
          </a:p>
        </p:txBody>
      </p:sp>
      <p:sp>
        <p:nvSpPr>
          <p:cNvPr id="12" name="Rounded Rectangle 11"/>
          <p:cNvSpPr/>
          <p:nvPr/>
        </p:nvSpPr>
        <p:spPr>
          <a:xfrm>
            <a:off x="3873855" y="1335024"/>
            <a:ext cx="1520875" cy="3242352"/>
          </a:xfrm>
          <a:prstGeom prst="roundRect">
            <a:avLst>
              <a:gd name="adj" fmla="val 2004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011015"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ВЫПУСК МИКРОДРАМЫ</a:t>
            </a:r>
          </a:p>
        </p:txBody>
      </p:sp>
      <p:sp>
        <p:nvSpPr>
          <p:cNvPr id="14" name="TextBox 13"/>
          <p:cNvSpPr txBox="1"/>
          <p:nvPr/>
        </p:nvSpPr>
        <p:spPr>
          <a:xfrm>
            <a:off x="4011015" y="1932846"/>
            <a:ext cx="124655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≈$7–14 тыс.</a:t>
            </a:r>
          </a:p>
        </p:txBody>
      </p:sp>
      <p:sp>
        <p:nvSpPr>
          <p:cNvPr id="15" name="TextBox 14"/>
          <p:cNvSpPr txBox="1"/>
          <p:nvPr/>
        </p:nvSpPr>
        <p:spPr>
          <a:xfrm>
            <a:off x="4011015" y="2750268"/>
            <a:ext cx="124655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в той же единице: выпуск обычным производством свыше 1 млн юаней, ≈$137 тыс.</a:t>
            </a:r>
          </a:p>
        </p:txBody>
      </p:sp>
      <p:sp>
        <p:nvSpPr>
          <p:cNvPr id="16" name="Rounded Rectangle 15"/>
          <p:cNvSpPr/>
          <p:nvPr/>
        </p:nvSpPr>
        <p:spPr>
          <a:xfrm>
            <a:off x="5559323" y="1335024"/>
            <a:ext cx="1520875" cy="3242352"/>
          </a:xfrm>
          <a:prstGeom prst="roundRect">
            <a:avLst>
              <a:gd name="adj" fmla="val 20041"/>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5696483"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НА ВСЕХ ТРЁХ</a:t>
            </a:r>
          </a:p>
        </p:txBody>
      </p:sp>
      <p:sp>
        <p:nvSpPr>
          <p:cNvPr id="18" name="TextBox 17"/>
          <p:cNvSpPr txBox="1"/>
          <p:nvPr/>
        </p:nvSpPr>
        <p:spPr>
          <a:xfrm>
            <a:off x="5696483" y="1932846"/>
            <a:ext cx="1246555" cy="1258770"/>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×10–20 у самого дорогого, ×1 000–4 500 у самого дешёвого</a:t>
            </a:r>
          </a:p>
        </p:txBody>
      </p:sp>
      <p:sp>
        <p:nvSpPr>
          <p:cNvPr id="19" name="TextBox 18"/>
          <p:cNvSpPr txBox="1"/>
          <p:nvPr/>
        </p:nvSpPr>
        <p:spPr>
          <a:xfrm>
            <a:off x="5696483" y="3191616"/>
            <a:ext cx="124655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чем дешевле единица, тем больше разрыв</a:t>
            </a:r>
          </a:p>
        </p:txBody>
      </p:sp>
      <p:sp>
        <p:nvSpPr>
          <p:cNvPr id="20" name="Rounded Rectangle 19"/>
          <p:cNvSpPr/>
          <p:nvPr/>
        </p:nvSpPr>
        <p:spPr>
          <a:xfrm>
            <a:off x="374904" y="4668816"/>
            <a:ext cx="11441887" cy="9573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760256"/>
            <a:ext cx="11112703" cy="147595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Единица на этом кадре одна: цена одной пробы.</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порядка бюджета. Механика одна: платить за пробу перестали.</a:t>
            </a:r>
          </a:p>
        </p:txBody>
      </p:sp>
      <p:sp>
        <p:nvSpPr>
          <p:cNvPr id="22" name="Rounded Rectangle 21"/>
          <p:cNvSpPr/>
          <p:nvPr/>
        </p:nvSpPr>
        <p:spPr>
          <a:xfrm>
            <a:off x="7391095" y="1335024"/>
            <a:ext cx="4297680" cy="2121781"/>
          </a:xfrm>
          <a:prstGeom prst="roundRect">
            <a:avLst>
              <a:gd name="adj" fmla="val 14365"/>
            </a:avLst>
          </a:prstGeom>
          <a:solidFill>
            <a:srgbClr val="F4F7FA"/>
          </a:solidFill>
          <a:ln w="19050">
            <a:solidFill>
              <a:srgbClr val="1C7293"/>
            </a:solidFill>
          </a:ln>
          <a:effectLst/>
        </p:spPr>
        <p:txBody>
          <a:bodyPr rtlCol="0" anchor="ctr"/>
          <a:lstStyle/>
          <a:p>
            <a:pPr algn="ctr"/>
          </a:p>
        </p:txBody>
      </p:sp>
      <p:pic>
        <p:nvPicPr>
          <p:cNvPr id="23" name="Picture 22" descr="s04-tsena-proby.png"/>
          <p:cNvPicPr>
            <a:picLocks noChangeAspect="1"/>
          </p:cNvPicPr>
          <p:nvPr/>
        </p:nvPicPr>
        <p:blipFill>
          <a:blip r:embed="rId2"/>
          <a:stretch>
            <a:fillRect/>
          </a:stretch>
        </p:blipFill>
        <p:spPr>
          <a:xfrm>
            <a:off x="7528255" y="1472184"/>
            <a:ext cx="4023360" cy="1847461"/>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ai.google.dev/gemini-api/docs/pricing (прочитано 27.10.2026)</a:t>
            </a:r>
            <a:r>
              <a:rPr sz="1200" b="0" i="1">
                <a:solidFill>
                  <a:srgbClr val="1C7293"/>
                </a:solidFill>
                <a:latin typeface="Arial"/>
              </a:rPr>
              <a:t> · </a:t>
            </a:r>
            <a:r>
              <a:rPr sz="1200" b="0" i="1">
                <a:solidFill>
                  <a:srgbClr val="1C7293"/>
                </a:solidFill>
                <a:latin typeface="Arial"/>
              </a:rPr>
              <a:t>elevenlabs.io/pricing/api (27.10.2026)</a:t>
            </a:r>
            <a:r>
              <a:rPr sz="1200" b="0" i="1">
                <a:solidFill>
                  <a:srgbClr val="1C7293"/>
                </a:solidFill>
                <a:latin typeface="Arial"/>
              </a:rPr>
              <a:t> · </a:t>
            </a:r>
            <a:r>
              <a:rPr sz="1200" b="0" i="1">
                <a:solidFill>
                  <a:srgbClr val="1C7293"/>
                </a:solidFill>
                <a:latin typeface="Arial"/>
              </a:rPr>
              <a:t>Caixin Global, «How AI took over China's micro-drama industry», 01.06.2026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Исполнение перестало быть дефицитом. Что теперь дефицит — и в каких единицах за него платят?</a:t>
            </a:r>
          </a:p>
        </p:txBody>
      </p:sp>
      <p:sp>
        <p:nvSpPr>
          <p:cNvPr id="4" name="Rounded Rectangle 3"/>
          <p:cNvSpPr/>
          <p:nvPr/>
        </p:nvSpPr>
        <p:spPr>
          <a:xfrm>
            <a:off x="374904" y="1243584"/>
            <a:ext cx="11441887" cy="115538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2000" b="1" i="0">
                <a:solidFill>
                  <a:srgbClr val="21295C"/>
                </a:solidFill>
                <a:latin typeface="Arial"/>
              </a:rPr>
              <a:t>Исполнение перестало быть дефицитом.</a:t>
            </a:r>
          </a:p>
          <a:p>
            <a:pPr algn="l">
              <a:lnSpc>
                <a:spcPct val="126000"/>
              </a:lnSpc>
              <a:spcBef>
                <a:spcPts val="700"/>
              </a:spcBef>
            </a:pPr>
            <a:r>
              <a:rPr sz="2000" b="0" i="0">
                <a:solidFill>
                  <a:srgbClr val="21295C"/>
                </a:solidFill>
                <a:latin typeface="Arial"/>
              </a:rPr>
              <a:t/>
            </a:r>
            <a:r>
              <a:rPr sz="2000" b="1" i="0">
                <a:solidFill>
                  <a:srgbClr val="21295C"/>
                </a:solidFill>
                <a:latin typeface="Arial"/>
              </a:rPr>
              <a:t>Что теперь дефицит — и в каких единицах за него платят?</a:t>
            </a:r>
          </a:p>
        </p:txBody>
      </p:sp>
      <p:sp>
        <p:nvSpPr>
          <p:cNvPr id="6" name="Rectangle 5"/>
          <p:cNvSpPr/>
          <p:nvPr/>
        </p:nvSpPr>
        <p:spPr>
          <a:xfrm>
            <a:off x="502920" y="726829"/>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шесть типов задачи, по колонке за раздел</a:t>
            </a:r>
          </a:p>
        </p:txBody>
      </p:sp>
      <p:sp>
        <p:nvSpPr>
          <p:cNvPr id="4" name="Rounded Rectangle 3"/>
          <p:cNvSpPr/>
          <p:nvPr/>
        </p:nvSpPr>
        <p:spPr>
          <a:xfrm>
            <a:off x="374904" y="1243584"/>
            <a:ext cx="11441887" cy="485979"/>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3945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Строки заданы сразу. Колонка добавляется в конце каждого раздела.</a:t>
            </a:r>
          </a:p>
        </p:txBody>
      </p:sp>
      <p:sp>
        <p:nvSpPr>
          <p:cNvPr id="6" name="Rectangle 5"/>
          <p:cNvSpPr/>
          <p:nvPr/>
        </p:nvSpPr>
        <p:spPr>
          <a:xfrm>
            <a:off x="502920" y="1839291"/>
            <a:ext cx="2788920" cy="305623"/>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1903299"/>
            <a:ext cx="2660903"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Тип задачи</a:t>
            </a:r>
          </a:p>
        </p:txBody>
      </p:sp>
      <p:sp>
        <p:nvSpPr>
          <p:cNvPr id="8" name="Rectangle 7"/>
          <p:cNvSpPr/>
          <p:nvPr/>
        </p:nvSpPr>
        <p:spPr>
          <a:xfrm>
            <a:off x="3291839"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9" name="TextBox 8"/>
          <p:cNvSpPr txBox="1"/>
          <p:nvPr/>
        </p:nvSpPr>
        <p:spPr>
          <a:xfrm>
            <a:off x="3355847"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Изображение</a:t>
            </a:r>
          </a:p>
        </p:txBody>
      </p:sp>
      <p:sp>
        <p:nvSpPr>
          <p:cNvPr id="10" name="Rectangle 9"/>
          <p:cNvSpPr/>
          <p:nvPr/>
        </p:nvSpPr>
        <p:spPr>
          <a:xfrm>
            <a:off x="4971227"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1" name="TextBox 10"/>
          <p:cNvSpPr txBox="1"/>
          <p:nvPr/>
        </p:nvSpPr>
        <p:spPr>
          <a:xfrm>
            <a:off x="5035235"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Звук</a:t>
            </a:r>
          </a:p>
        </p:txBody>
      </p:sp>
      <p:sp>
        <p:nvSpPr>
          <p:cNvPr id="12" name="Rectangle 11"/>
          <p:cNvSpPr/>
          <p:nvPr/>
        </p:nvSpPr>
        <p:spPr>
          <a:xfrm>
            <a:off x="6650614"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3" name="TextBox 12"/>
          <p:cNvSpPr txBox="1"/>
          <p:nvPr/>
        </p:nvSpPr>
        <p:spPr>
          <a:xfrm>
            <a:off x="6714622"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Видео</a:t>
            </a:r>
          </a:p>
        </p:txBody>
      </p:sp>
      <p:sp>
        <p:nvSpPr>
          <p:cNvPr id="14" name="Rectangle 13"/>
          <p:cNvSpPr/>
          <p:nvPr/>
        </p:nvSpPr>
        <p:spPr>
          <a:xfrm>
            <a:off x="8330001"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5" name="TextBox 14"/>
          <p:cNvSpPr txBox="1"/>
          <p:nvPr/>
        </p:nvSpPr>
        <p:spPr>
          <a:xfrm>
            <a:off x="8394009"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Трёхмерное</a:t>
            </a:r>
          </a:p>
        </p:txBody>
      </p:sp>
      <p:sp>
        <p:nvSpPr>
          <p:cNvPr id="16" name="Rectangle 15"/>
          <p:cNvSpPr/>
          <p:nvPr/>
        </p:nvSpPr>
        <p:spPr>
          <a:xfrm>
            <a:off x="10009388"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Распознавание</a:t>
            </a:r>
          </a:p>
        </p:txBody>
      </p:sp>
      <p:sp>
        <p:nvSpPr>
          <p:cNvPr id="18" name="Rectangle 17"/>
          <p:cNvSpPr/>
          <p:nvPr/>
        </p:nvSpPr>
        <p:spPr>
          <a:xfrm>
            <a:off x="502920" y="2144915"/>
            <a:ext cx="2788920" cy="652750"/>
          </a:xfrm>
          <a:prstGeom prst="rect">
            <a:avLst/>
          </a:prstGeom>
          <a:solidFill>
            <a:srgbClr val="FFFFFF"/>
          </a:solidFill>
          <a:ln w="9525">
            <a:solidFill>
              <a:srgbClr val="D9E2EC"/>
            </a:solidFill>
          </a:ln>
          <a:effectLst/>
        </p:spPr>
        <p:txBody>
          <a:bodyPr rtlCol="0" anchor="ctr"/>
          <a:lstStyle/>
          <a:p>
            <a:pPr algn="ctr"/>
          </a:p>
        </p:txBody>
      </p:sp>
      <p:sp>
        <p:nvSpPr>
          <p:cNvPr id="19" name="TextBox 18"/>
          <p:cNvSpPr txBox="1"/>
          <p:nvPr/>
        </p:nvSpPr>
        <p:spPr>
          <a:xfrm>
            <a:off x="566928" y="2208923"/>
            <a:ext cx="2660903" cy="524734"/>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Породить первое приближение</a:t>
            </a:r>
          </a:p>
          <a:p>
            <a:pPr algn="l">
              <a:lnSpc>
                <a:spcPct val="113000"/>
              </a:lnSpc>
              <a:spcBef>
                <a:spcPts val="200"/>
              </a:spcBef>
            </a:pPr>
            <a:r>
              <a:rPr sz="850" b="0" i="1">
                <a:solidFill>
                  <a:srgbClr val="1C7293"/>
                </a:solidFill>
                <a:latin typeface="Arial"/>
              </a:rPr>
              <a:t>получить варианты облика, пока решение ещё не принято</a:t>
            </a:r>
          </a:p>
        </p:txBody>
      </p:sp>
      <p:sp>
        <p:nvSpPr>
          <p:cNvPr id="20" name="Rectangle 19"/>
          <p:cNvSpPr/>
          <p:nvPr/>
        </p:nvSpPr>
        <p:spPr>
          <a:xfrm>
            <a:off x="3291839"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1" name="Rectangle 20"/>
          <p:cNvSpPr/>
          <p:nvPr/>
        </p:nvSpPr>
        <p:spPr>
          <a:xfrm>
            <a:off x="4971227"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2" name="Rectangle 21"/>
          <p:cNvSpPr/>
          <p:nvPr/>
        </p:nvSpPr>
        <p:spPr>
          <a:xfrm>
            <a:off x="6650614"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3" name="Rectangle 22"/>
          <p:cNvSpPr/>
          <p:nvPr/>
        </p:nvSpPr>
        <p:spPr>
          <a:xfrm>
            <a:off x="8330001"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4" name="Rectangle 23"/>
          <p:cNvSpPr/>
          <p:nvPr/>
        </p:nvSpPr>
        <p:spPr>
          <a:xfrm>
            <a:off x="10009388"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5" name="Rectangle 24"/>
          <p:cNvSpPr/>
          <p:nvPr/>
        </p:nvSpPr>
        <p:spPr>
          <a:xfrm>
            <a:off x="502920" y="2797665"/>
            <a:ext cx="2788920" cy="697152"/>
          </a:xfrm>
          <a:prstGeom prst="rect">
            <a:avLst/>
          </a:prstGeom>
          <a:solidFill>
            <a:srgbClr val="F4F7FA"/>
          </a:solidFill>
          <a:ln w="9525">
            <a:solidFill>
              <a:srgbClr val="D9E2EC"/>
            </a:solidFill>
          </a:ln>
          <a:effectLst/>
        </p:spPr>
        <p:txBody>
          <a:bodyPr rtlCol="0" anchor="ctr"/>
          <a:lstStyle/>
          <a:p>
            <a:pPr algn="ctr"/>
          </a:p>
        </p:txBody>
      </p:sp>
      <p:sp>
        <p:nvSpPr>
          <p:cNvPr id="26" name="TextBox 25"/>
          <p:cNvSpPr txBox="1"/>
          <p:nvPr/>
        </p:nvSpPr>
        <p:spPr>
          <a:xfrm>
            <a:off x="566928" y="2861673"/>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Довести до производственного качества</a:t>
            </a:r>
          </a:p>
          <a:p>
            <a:pPr algn="l">
              <a:lnSpc>
                <a:spcPct val="113000"/>
              </a:lnSpc>
              <a:spcBef>
                <a:spcPts val="200"/>
              </a:spcBef>
            </a:pPr>
            <a:r>
              <a:rPr sz="850" b="0" i="1">
                <a:solidFill>
                  <a:srgbClr val="1C7293"/>
                </a:solidFill>
                <a:latin typeface="Arial"/>
              </a:rPr>
              <a:t>отобрать, доработать и выпустить годное</a:t>
            </a:r>
          </a:p>
        </p:txBody>
      </p:sp>
      <p:sp>
        <p:nvSpPr>
          <p:cNvPr id="27" name="Rectangle 26"/>
          <p:cNvSpPr/>
          <p:nvPr/>
        </p:nvSpPr>
        <p:spPr>
          <a:xfrm>
            <a:off x="3291839"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28" name="Rectangle 27"/>
          <p:cNvSpPr/>
          <p:nvPr/>
        </p:nvSpPr>
        <p:spPr>
          <a:xfrm>
            <a:off x="4971227"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29" name="Rectangle 28"/>
          <p:cNvSpPr/>
          <p:nvPr/>
        </p:nvSpPr>
        <p:spPr>
          <a:xfrm>
            <a:off x="6650614"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30" name="Rectangle 29"/>
          <p:cNvSpPr/>
          <p:nvPr/>
        </p:nvSpPr>
        <p:spPr>
          <a:xfrm>
            <a:off x="8330001"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31" name="Rectangle 30"/>
          <p:cNvSpPr/>
          <p:nvPr/>
        </p:nvSpPr>
        <p:spPr>
          <a:xfrm>
            <a:off x="10009388"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32" name="Rectangle 31"/>
          <p:cNvSpPr/>
          <p:nvPr/>
        </p:nvSpPr>
        <p:spPr>
          <a:xfrm>
            <a:off x="502920" y="3494818"/>
            <a:ext cx="2788920" cy="652750"/>
          </a:xfrm>
          <a:prstGeom prst="rect">
            <a:avLst/>
          </a:prstGeom>
          <a:solidFill>
            <a:srgbClr val="FFFFFF"/>
          </a:solidFill>
          <a:ln w="9525">
            <a:solidFill>
              <a:srgbClr val="D9E2EC"/>
            </a:solidFill>
          </a:ln>
          <a:effectLst/>
        </p:spPr>
        <p:txBody>
          <a:bodyPr rtlCol="0" anchor="ctr"/>
          <a:lstStyle/>
          <a:p>
            <a:pPr algn="ctr"/>
          </a:p>
        </p:txBody>
      </p:sp>
      <p:sp>
        <p:nvSpPr>
          <p:cNvPr id="33" name="TextBox 32"/>
          <p:cNvSpPr txBox="1"/>
          <p:nvPr/>
        </p:nvSpPr>
        <p:spPr>
          <a:xfrm>
            <a:off x="566928" y="3558826"/>
            <a:ext cx="2660903" cy="524734"/>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Восстановить существующее</a:t>
            </a:r>
          </a:p>
          <a:p>
            <a:pPr algn="l">
              <a:lnSpc>
                <a:spcPct val="113000"/>
              </a:lnSpc>
              <a:spcBef>
                <a:spcPts val="200"/>
              </a:spcBef>
            </a:pPr>
            <a:r>
              <a:rPr sz="850" b="0" i="1">
                <a:solidFill>
                  <a:srgbClr val="1C7293"/>
                </a:solidFill>
                <a:latin typeface="Arial"/>
              </a:rPr>
              <a:t>вытащить то, что уже записано, но читается плохо</a:t>
            </a:r>
          </a:p>
        </p:txBody>
      </p:sp>
      <p:sp>
        <p:nvSpPr>
          <p:cNvPr id="34" name="Rectangle 33"/>
          <p:cNvSpPr/>
          <p:nvPr/>
        </p:nvSpPr>
        <p:spPr>
          <a:xfrm>
            <a:off x="3291839"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5" name="Rectangle 34"/>
          <p:cNvSpPr/>
          <p:nvPr/>
        </p:nvSpPr>
        <p:spPr>
          <a:xfrm>
            <a:off x="4971227"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6" name="Rectangle 35"/>
          <p:cNvSpPr/>
          <p:nvPr/>
        </p:nvSpPr>
        <p:spPr>
          <a:xfrm>
            <a:off x="6650614"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7" name="Rectangle 36"/>
          <p:cNvSpPr/>
          <p:nvPr/>
        </p:nvSpPr>
        <p:spPr>
          <a:xfrm>
            <a:off x="8330001"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8" name="Rectangle 37"/>
          <p:cNvSpPr/>
          <p:nvPr/>
        </p:nvSpPr>
        <p:spPr>
          <a:xfrm>
            <a:off x="10009388"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9" name="Rectangle 38"/>
          <p:cNvSpPr/>
          <p:nvPr/>
        </p:nvSpPr>
        <p:spPr>
          <a:xfrm>
            <a:off x="502920" y="4147568"/>
            <a:ext cx="2788920" cy="501783"/>
          </a:xfrm>
          <a:prstGeom prst="rect">
            <a:avLst/>
          </a:prstGeom>
          <a:solidFill>
            <a:srgbClr val="F4F7FA"/>
          </a:solidFill>
          <a:ln w="9525">
            <a:solidFill>
              <a:srgbClr val="D9E2EC"/>
            </a:solidFill>
          </a:ln>
          <a:effectLst/>
        </p:spPr>
        <p:txBody>
          <a:bodyPr rtlCol="0" anchor="ctr"/>
          <a:lstStyle/>
          <a:p>
            <a:pPr algn="ctr"/>
          </a:p>
        </p:txBody>
      </p:sp>
      <p:sp>
        <p:nvSpPr>
          <p:cNvPr id="40" name="TextBox 39"/>
          <p:cNvSpPr txBox="1"/>
          <p:nvPr/>
        </p:nvSpPr>
        <p:spPr>
          <a:xfrm>
            <a:off x="566928" y="4211576"/>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Соблюсти точные величины</a:t>
            </a:r>
          </a:p>
          <a:p>
            <a:pPr algn="l">
              <a:lnSpc>
                <a:spcPct val="113000"/>
              </a:lnSpc>
              <a:spcBef>
                <a:spcPts val="200"/>
              </a:spcBef>
            </a:pPr>
            <a:r>
              <a:rPr sz="850" b="0" i="1">
                <a:solidFill>
                  <a:srgbClr val="1C7293"/>
                </a:solidFill>
                <a:latin typeface="Arial"/>
              </a:rPr>
              <a:t>размеры, допуски, проверяемые условия</a:t>
            </a:r>
          </a:p>
        </p:txBody>
      </p:sp>
      <p:sp>
        <p:nvSpPr>
          <p:cNvPr id="41" name="Rectangle 40"/>
          <p:cNvSpPr/>
          <p:nvPr/>
        </p:nvSpPr>
        <p:spPr>
          <a:xfrm>
            <a:off x="3291839"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2" name="Rectangle 41"/>
          <p:cNvSpPr/>
          <p:nvPr/>
        </p:nvSpPr>
        <p:spPr>
          <a:xfrm>
            <a:off x="4971227"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3" name="Rectangle 42"/>
          <p:cNvSpPr/>
          <p:nvPr/>
        </p:nvSpPr>
        <p:spPr>
          <a:xfrm>
            <a:off x="6650614"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4" name="Rectangle 43"/>
          <p:cNvSpPr/>
          <p:nvPr/>
        </p:nvSpPr>
        <p:spPr>
          <a:xfrm>
            <a:off x="8330001"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5" name="Rectangle 44"/>
          <p:cNvSpPr/>
          <p:nvPr/>
        </p:nvSpPr>
        <p:spPr>
          <a:xfrm>
            <a:off x="10009388"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6" name="Rectangle 45"/>
          <p:cNvSpPr/>
          <p:nvPr/>
        </p:nvSpPr>
        <p:spPr>
          <a:xfrm>
            <a:off x="502920" y="4649352"/>
            <a:ext cx="2788920" cy="697152"/>
          </a:xfrm>
          <a:prstGeom prst="rect">
            <a:avLst/>
          </a:prstGeom>
          <a:solidFill>
            <a:srgbClr val="FFFFFF"/>
          </a:solidFill>
          <a:ln w="9525">
            <a:solidFill>
              <a:srgbClr val="D9E2EC"/>
            </a:solidFill>
          </a:ln>
          <a:effectLst/>
        </p:spPr>
        <p:txBody>
          <a:bodyPr rtlCol="0" anchor="ctr"/>
          <a:lstStyle/>
          <a:p>
            <a:pPr algn="ctr"/>
          </a:p>
        </p:txBody>
      </p:sp>
      <p:sp>
        <p:nvSpPr>
          <p:cNvPr id="47" name="TextBox 46"/>
          <p:cNvSpPr txBox="1"/>
          <p:nvPr/>
        </p:nvSpPr>
        <p:spPr>
          <a:xfrm>
            <a:off x="566928" y="4713360"/>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Уложиться в бюджет реального времени</a:t>
            </a:r>
          </a:p>
          <a:p>
            <a:pPr algn="l">
              <a:lnSpc>
                <a:spcPct val="113000"/>
              </a:lnSpc>
              <a:spcBef>
                <a:spcPts val="200"/>
              </a:spcBef>
            </a:pPr>
            <a:r>
              <a:rPr sz="850" b="0" i="1">
                <a:solidFill>
                  <a:srgbClr val="1C7293"/>
                </a:solidFill>
                <a:latin typeface="Arial"/>
              </a:rPr>
              <a:t>успеть к сроку кадра, а не к сроку задачи</a:t>
            </a:r>
          </a:p>
        </p:txBody>
      </p:sp>
      <p:sp>
        <p:nvSpPr>
          <p:cNvPr id="48" name="Rectangle 47"/>
          <p:cNvSpPr/>
          <p:nvPr/>
        </p:nvSpPr>
        <p:spPr>
          <a:xfrm>
            <a:off x="3291839"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4971227"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0" name="Rectangle 49"/>
          <p:cNvSpPr/>
          <p:nvPr/>
        </p:nvSpPr>
        <p:spPr>
          <a:xfrm>
            <a:off x="6650614"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1" name="Rectangle 50"/>
          <p:cNvSpPr/>
          <p:nvPr/>
        </p:nvSpPr>
        <p:spPr>
          <a:xfrm>
            <a:off x="8330001"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2" name="Rectangle 51"/>
          <p:cNvSpPr/>
          <p:nvPr/>
        </p:nvSpPr>
        <p:spPr>
          <a:xfrm>
            <a:off x="10009388"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3" name="Rectangle 52"/>
          <p:cNvSpPr/>
          <p:nvPr/>
        </p:nvSpPr>
        <p:spPr>
          <a:xfrm>
            <a:off x="502920" y="5346504"/>
            <a:ext cx="2788920" cy="501783"/>
          </a:xfrm>
          <a:prstGeom prst="rect">
            <a:avLst/>
          </a:prstGeom>
          <a:solidFill>
            <a:srgbClr val="F4F7FA"/>
          </a:solidFill>
          <a:ln w="9525">
            <a:solidFill>
              <a:srgbClr val="D9E2EC"/>
            </a:solidFill>
          </a:ln>
          <a:effectLst/>
        </p:spPr>
        <p:txBody>
          <a:bodyPr rtlCol="0" anchor="ctr"/>
          <a:lstStyle/>
          <a:p>
            <a:pPr algn="ctr"/>
          </a:p>
        </p:txBody>
      </p:sp>
      <p:sp>
        <p:nvSpPr>
          <p:cNvPr id="54" name="TextBox 53"/>
          <p:cNvSpPr txBox="1"/>
          <p:nvPr/>
        </p:nvSpPr>
        <p:spPr>
          <a:xfrm>
            <a:off x="566928" y="5410512"/>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Ответить «кто отвечает»</a:t>
            </a:r>
          </a:p>
          <a:p>
            <a:pPr algn="l">
              <a:lnSpc>
                <a:spcPct val="113000"/>
              </a:lnSpc>
              <a:spcBef>
                <a:spcPts val="200"/>
              </a:spcBef>
            </a:pPr>
            <a:r>
              <a:rPr sz="850" b="0" i="1">
                <a:solidFill>
                  <a:srgbClr val="1C7293"/>
                </a:solidFill>
                <a:latin typeface="Arial"/>
              </a:rPr>
              <a:t>происхождение, права, подпись под результатом</a:t>
            </a:r>
          </a:p>
        </p:txBody>
      </p:sp>
      <p:sp>
        <p:nvSpPr>
          <p:cNvPr id="55" name="Rectangle 54"/>
          <p:cNvSpPr/>
          <p:nvPr/>
        </p:nvSpPr>
        <p:spPr>
          <a:xfrm>
            <a:off x="3291839"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6" name="Rectangle 55"/>
          <p:cNvSpPr/>
          <p:nvPr/>
        </p:nvSpPr>
        <p:spPr>
          <a:xfrm>
            <a:off x="4971227"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7" name="Rectangle 56"/>
          <p:cNvSpPr/>
          <p:nvPr/>
        </p:nvSpPr>
        <p:spPr>
          <a:xfrm>
            <a:off x="6650614"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8330001"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10009388"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60" name="Rounded Rectangle 59"/>
          <p:cNvSpPr/>
          <p:nvPr/>
        </p:nvSpPr>
        <p:spPr>
          <a:xfrm>
            <a:off x="502920" y="5930584"/>
            <a:ext cx="11185855" cy="305623"/>
          </a:xfrm>
          <a:prstGeom prst="roundRect">
            <a:avLst>
              <a:gd name="adj" fmla="val 14000"/>
            </a:avLst>
          </a:prstGeom>
          <a:solidFill>
            <a:srgbClr val="FEF5E0"/>
          </a:solidFill>
          <a:ln>
            <a:noFill/>
          </a:ln>
          <a:effectLst/>
        </p:spPr>
        <p:txBody>
          <a:bodyPr rtlCol="0" anchor="ctr"/>
          <a:lstStyle/>
          <a:p>
            <a:pPr algn="ctr"/>
          </a:p>
        </p:txBody>
      </p:sp>
      <p:sp>
        <p:nvSpPr>
          <p:cNvPr id="61" name="Rectangle 60"/>
          <p:cNvSpPr/>
          <p:nvPr/>
        </p:nvSpPr>
        <p:spPr>
          <a:xfrm>
            <a:off x="502920" y="5930584"/>
            <a:ext cx="68580" cy="305623"/>
          </a:xfrm>
          <a:prstGeom prst="rect">
            <a:avLst/>
          </a:prstGeom>
          <a:solidFill>
            <a:srgbClr val="F0AB00"/>
          </a:solidFill>
          <a:ln>
            <a:noFill/>
          </a:ln>
          <a:effectLst/>
        </p:spPr>
        <p:txBody>
          <a:bodyPr rtlCol="0" anchor="ctr"/>
          <a:lstStyle/>
          <a:p>
            <a:pPr algn="ctr"/>
          </a:p>
        </p:txBody>
      </p:sp>
      <p:sp>
        <p:nvSpPr>
          <p:cNvPr id="62" name="TextBox 61"/>
          <p:cNvSpPr txBox="1"/>
          <p:nvPr/>
        </p:nvSpPr>
        <p:spPr>
          <a:xfrm>
            <a:off x="685800" y="5994592"/>
            <a:ext cx="10783519" cy="17760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АДРЕС ПЛАТЕЖА   накапливается по разделам: отбор · права · узнавание</a:t>
            </a:r>
          </a:p>
        </p:txBody>
      </p:sp>
      <p:sp>
        <p:nvSpPr>
          <p:cNvPr id="63" name="Rectangle 6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Чего в этой лекции нет</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БЕЗОПАСНОСТЬ, ПОДДЕЛКИ, ЗЛОУПОТРЕБЛЕНИЕ</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Лекция 14</a:t>
            </a:r>
          </a:p>
        </p:txBody>
      </p:sp>
      <p:sp>
        <p:nvSpPr>
          <p:cNvPr id="7" name="TextBox 6"/>
          <p:cNvSpPr txBox="1"/>
          <p:nvPr/>
        </p:nvSpPr>
        <p:spPr>
          <a:xfrm>
            <a:off x="640080"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дипфейк в кадровой безопасности, мошенничество с голосом, подделка документов, правоприменение</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АГЕНТЫ, ИНСТРУМЕНТЫ, ПРОГРАММНЫЙ ДОСТУП</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Лекция 3</a:t>
            </a:r>
          </a:p>
        </p:txBody>
      </p:sp>
      <p:sp>
        <p:nvSpPr>
          <p:cNvPr id="11" name="TextBox 10"/>
          <p:cNvSpPr txBox="1"/>
          <p:nvPr/>
        </p:nvSpPr>
        <p:spPr>
          <a:xfrm>
            <a:off x="4423562"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цепочки вызовов, дообучение адаптером, человек-валидатор — берётся как известное</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РЫНОК ТРУДА И ОБЗОР ЮРИСДИКЦИЙ ПО СТРАНАМ</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главе, материалом для чтения</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собрано и проверено, но на кадры не идёт: вытеснило бы возможности</a:t>
            </a:r>
          </a:p>
        </p:txBody>
      </p:sp>
      <p:sp>
        <p:nvSpPr>
          <p:cNvPr id="16" name="Rounded Rectangle 15"/>
          <p:cNvSpPr/>
          <p:nvPr/>
        </p:nvSpPr>
        <p:spPr>
          <a:xfrm>
            <a:off x="374904" y="3401355"/>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92795"/>
            <a:ext cx="11112703" cy="274341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Граница проходит по предмету, а не по технологии.</a:t>
            </a:r>
            <a:r>
              <a:rPr sz="1500" b="0" i="0">
                <a:solidFill>
                  <a:srgbClr val="21295C"/>
                </a:solidFill>
                <a:latin typeface="Arial"/>
              </a:rPr>
              <a:t> Одна и та же модель клонирования голоса сегодня — инструмент, вернувший актёру работу; в разговоре о безопасности та же модель — инструмент телефонного мошенничества. Обе рамки верны одновременно, и разбирать их вперемешку нельзя.</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2863043"/>
          </a:xfrm>
          <a:prstGeom prst="roundRect">
            <a:avLst>
              <a:gd name="adj" fmla="val 10646"/>
            </a:avLst>
          </a:prstGeom>
          <a:solidFill>
            <a:srgbClr val="F4F7FA"/>
          </a:solidFill>
          <a:ln w="19050">
            <a:solidFill>
              <a:srgbClr val="1C7293"/>
            </a:solidFill>
          </a:ln>
          <a:effectLst/>
        </p:spPr>
        <p:txBody>
          <a:bodyPr rtlCol="0" anchor="ctr"/>
          <a:lstStyle/>
          <a:p>
            <a:pPr algn="ctr"/>
          </a:p>
        </p:txBody>
      </p:sp>
      <p:pic>
        <p:nvPicPr>
          <p:cNvPr id="5" name="Picture 4" descr="s08-planshet-eskizy.jpg"/>
          <p:cNvPicPr>
            <a:picLocks noChangeAspect="1"/>
          </p:cNvPicPr>
          <p:nvPr/>
        </p:nvPicPr>
        <p:blipFill>
          <a:blip r:embed="rId2"/>
          <a:stretch>
            <a:fillRect/>
          </a:stretch>
        </p:blipFill>
        <p:spPr>
          <a:xfrm>
            <a:off x="6949440" y="1051560"/>
            <a:ext cx="4602175" cy="2588723"/>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1. Неподвижное изображение</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это за работа: стадия, классика и два удешевления до всякой модели</a:t>
            </a:r>
          </a:p>
        </p:txBody>
      </p:sp>
      <p:sp>
        <p:nvSpPr>
          <p:cNvPr id="4" name="Rounded Rectangle 3"/>
          <p:cNvSpPr/>
          <p:nvPr/>
        </p:nvSpPr>
        <p:spPr>
          <a:xfrm>
            <a:off x="502920" y="1335024"/>
            <a:ext cx="3618890" cy="2020158"/>
          </a:xfrm>
          <a:prstGeom prst="roundRect">
            <a:avLst>
              <a:gd name="adj" fmla="val 15087"/>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НА КОТОРЫЙ ОТВЕЧАЕТ СТАДИЯ</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«как это выглядит»</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«что это такое» — на него отвечает чертёж; не «сколько этого» — на него отвечает таблица</a:t>
            </a:r>
          </a:p>
        </p:txBody>
      </p:sp>
      <p:sp>
        <p:nvSpPr>
          <p:cNvPr id="8" name="Rounded Rectangle 7"/>
          <p:cNvSpPr/>
          <p:nvPr/>
        </p:nvSpPr>
        <p:spPr>
          <a:xfrm>
            <a:off x="4286402" y="1335024"/>
            <a:ext cx="3618890" cy="2020158"/>
          </a:xfrm>
          <a:prstGeom prst="roundRect">
            <a:avLst>
              <a:gd name="adj" fmla="val 15087"/>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КЛАССИКА — ЧЕТЫРЕ СТУПЕНИ ЦЕНЫ</a:t>
            </a:r>
          </a:p>
        </p:txBody>
      </p:sp>
      <p:sp>
        <p:nvSpPr>
          <p:cNvPr id="10" name="TextBox 9"/>
          <p:cNvSpPr txBox="1"/>
          <p:nvPr/>
        </p:nvSpPr>
        <p:spPr>
          <a:xfrm>
            <a:off x="4423562" y="1725375"/>
            <a:ext cx="3344570"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исполнитель $50–150 (РФ — от 3 860 ₽) · сотни $ за съёмку · микросток $0,25–1 · штатный дизайнер — цены нет</a:t>
            </a:r>
          </a:p>
        </p:txBody>
      </p:sp>
      <p:sp>
        <p:nvSpPr>
          <p:cNvPr id="11" name="TextBox 10"/>
          <p:cNvSpPr txBox="1"/>
          <p:nvPr/>
        </p:nvSpPr>
        <p:spPr>
          <a:xfrm>
            <a:off x="4423562" y="2373048"/>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съёмка под каталог генерацией не замещается по определению задачи; у штатного дизайнера публичных чисел почти не бывает</a:t>
            </a:r>
          </a:p>
        </p:txBody>
      </p:sp>
      <p:sp>
        <p:nvSpPr>
          <p:cNvPr id="12" name="Rounded Rectangle 11"/>
          <p:cNvSpPr/>
          <p:nvPr/>
        </p:nvSpPr>
        <p:spPr>
          <a:xfrm>
            <a:off x="8069884" y="1335024"/>
            <a:ext cx="3618890" cy="2020158"/>
          </a:xfrm>
          <a:prstGeom prst="roundRect">
            <a:avLst>
              <a:gd name="adj" fmla="val 15087"/>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ДВА УДЕШЕВЛЕНИЯ ДО ВСЯКОЙ МОДЕЛИ</a:t>
            </a:r>
          </a:p>
        </p:txBody>
      </p:sp>
      <p:sp>
        <p:nvSpPr>
          <p:cNvPr id="14" name="TextBox 13"/>
          <p:cNvSpPr txBox="1"/>
          <p:nvPr/>
        </p:nvSpPr>
        <p:spPr>
          <a:xfrm>
            <a:off x="8207044" y="1725375"/>
            <a:ext cx="3344570"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ксерография, 1961 — штат ×0,5 · Photoshop, 1990 — $300/ч против $895 навсегда</a:t>
            </a:r>
          </a:p>
        </p:txBody>
      </p:sp>
      <p:sp>
        <p:nvSpPr>
          <p:cNvPr id="15" name="TextBox 14"/>
          <p:cNvSpPr txBox="1"/>
          <p:nvPr/>
        </p:nvSpPr>
        <p:spPr>
          <a:xfrm>
            <a:off x="8207044" y="237304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обоих случаях исчезла операция-посредник, а не профессия; объём произведённого вырос сильнее, чем упала цена</a:t>
            </a:r>
          </a:p>
        </p:txBody>
      </p:sp>
      <p:sp>
        <p:nvSpPr>
          <p:cNvPr id="16" name="Rounded Rectangle 15"/>
          <p:cNvSpPr/>
          <p:nvPr/>
        </p:nvSpPr>
        <p:spPr>
          <a:xfrm>
            <a:off x="502920" y="351977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40080" y="365693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ТРИ АДРЕСА ПЛАТЕЖА ЭТОГО РАЗДЕЛА</a:t>
            </a:r>
          </a:p>
        </p:txBody>
      </p:sp>
      <p:sp>
        <p:nvSpPr>
          <p:cNvPr id="18" name="TextBox 17"/>
          <p:cNvSpPr txBox="1"/>
          <p:nvPr/>
        </p:nvSpPr>
        <p:spPr>
          <a:xfrm>
            <a:off x="640080" y="391012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отбор · права · узнавание</a:t>
            </a:r>
          </a:p>
        </p:txBody>
      </p:sp>
      <p:sp>
        <p:nvSpPr>
          <p:cNvPr id="19" name="TextBox 18"/>
          <p:cNvSpPr txBox="1"/>
          <p:nvPr/>
        </p:nvSpPr>
        <p:spPr>
          <a:xfrm>
            <a:off x="640080" y="433712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раздел платит по первым двум развёрнуто; узнавание — упоминанием, всплывёт в разделе про голос</a:t>
            </a:r>
          </a:p>
        </p:txBody>
      </p:sp>
      <p:sp>
        <p:nvSpPr>
          <p:cNvPr id="20" name="Rounded Rectangle 19"/>
          <p:cNvSpPr/>
          <p:nvPr/>
        </p:nvSpPr>
        <p:spPr>
          <a:xfrm>
            <a:off x="374904" y="4776968"/>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868408"/>
            <a:ext cx="11112703" cy="136779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Решение стадии одно: утвердить облик до того, как потрачены большие деньги.</a:t>
            </a:r>
            <a:r>
              <a:rPr sz="1500" b="0" i="0">
                <a:solidFill>
                  <a:srgbClr val="21295C"/>
                </a:solidFill>
                <a:latin typeface="Arial"/>
              </a:rPr>
              <a:t> До 2022 года классика шла по четырём ступеням, и везде дешевело исполнение уже принятого решения, а не момент выбора.</a:t>
            </a:r>
          </a:p>
          <a:p>
            <a:pPr algn="l">
              <a:lnSpc>
                <a:spcPct val="126000"/>
              </a:lnSpc>
              <a:spcBef>
                <a:spcPts val="700"/>
              </a:spcBef>
            </a:pPr>
            <a:r>
              <a:rPr sz="1500" b="0" i="0">
                <a:solidFill>
                  <a:srgbClr val="21295C"/>
                </a:solidFill>
                <a:latin typeface="Arial"/>
              </a:rPr>
              <a:t/>
            </a:r>
            <a:r>
              <a:rPr sz="1500" b="1" i="0">
                <a:solidFill>
                  <a:srgbClr val="21295C"/>
                </a:solidFill>
                <a:latin typeface="Arial"/>
              </a:rPr>
              <a:t>За что в этом разделе платят: отбор, права, узнавание.</a:t>
            </a:r>
          </a:p>
        </p:txBody>
      </p:sp>
      <p:sp>
        <p:nvSpPr>
          <p:cNvPr id="22" name="Rectangle 21"/>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Профи.ру, выборка 3 848 анкет иллюстраторов Москвы</a:t>
            </a:r>
            <a:r>
              <a:rPr sz="1200" b="0" i="1">
                <a:solidFill>
                  <a:srgbClr val="1C7293"/>
                </a:solidFill>
                <a:latin typeface="Arial"/>
              </a:rPr>
              <a:t> · </a:t>
            </a:r>
            <a:r>
              <a:rPr sz="1200" b="0" i="1">
                <a:solidFill>
                  <a:srgbClr val="1C7293"/>
                </a:solidFill>
                <a:latin typeface="Arial"/>
              </a:rPr>
              <a:t>анализ тысячи профилей Upwork</a:t>
            </a:r>
            <a:r>
              <a:rPr sz="1200" b="0" i="1">
                <a:solidFill>
                  <a:srgbClr val="1C7293"/>
                </a:solidFill>
                <a:latin typeface="Arial"/>
              </a:rPr>
              <a:t> · </a:t>
            </a:r>
            <a:r>
              <a:rPr sz="1200" b="0" i="1">
                <a:solidFill>
                  <a:srgbClr val="1C7293"/>
                </a:solidFill>
                <a:latin typeface="Arial"/>
              </a:rPr>
              <a:t>прейскуранты стоковых агентств, iStock 2000, Shutterstock 2003</a:t>
            </a:r>
            <a:r>
              <a:rPr sz="1200" b="0" i="1">
                <a:solidFill>
                  <a:srgbClr val="1C7293"/>
                </a:solidFill>
                <a:latin typeface="Arial"/>
              </a:rPr>
              <a:t> · </a:t>
            </a:r>
            <a:r>
              <a:rPr sz="1200" b="0" i="1">
                <a:solidFill>
                  <a:srgbClr val="1C7293"/>
                </a:solidFill>
                <a:latin typeface="Arial"/>
              </a:rPr>
              <a:t>Disney, «101 далматинец», 1961</a:t>
            </a:r>
            <a:r>
              <a:rPr sz="1200" b="0" i="1">
                <a:solidFill>
                  <a:srgbClr val="1C7293"/>
                </a:solidFill>
                <a:latin typeface="Arial"/>
              </a:rPr>
              <a:t> · </a:t>
            </a:r>
            <a:r>
              <a:rPr sz="1200" b="0" i="1">
                <a:solidFill>
                  <a:srgbClr val="1C7293"/>
                </a:solidFill>
                <a:latin typeface="Arial"/>
              </a:rPr>
              <a:t>Adobe Photoshop 1.0, 19 февраля 1990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обвал цены единицы изображения</a:t>
            </a:r>
          </a:p>
        </p:txBody>
      </p:sp>
      <p:sp>
        <p:nvSpPr>
          <p:cNvPr id="4" name="Rectangle 3"/>
          <p:cNvSpPr/>
          <p:nvPr/>
        </p:nvSpPr>
        <p:spPr>
          <a:xfrm>
            <a:off x="1851079" y="1385316"/>
            <a:ext cx="237744" cy="118872"/>
          </a:xfrm>
          <a:prstGeom prst="rect">
            <a:avLst/>
          </a:prstGeom>
          <a:solidFill>
            <a:srgbClr val="21295C"/>
          </a:solidFill>
          <a:ln>
            <a:noFill/>
          </a:ln>
          <a:effectLst/>
        </p:spPr>
        <p:txBody>
          <a:bodyPr rtlCol="0" anchor="ctr"/>
          <a:lstStyle/>
          <a:p>
            <a:pPr algn="ctr"/>
          </a:p>
        </p:txBody>
      </p:sp>
      <p:sp>
        <p:nvSpPr>
          <p:cNvPr id="5" name="TextBox 4"/>
          <p:cNvSpPr txBox="1"/>
          <p:nvPr/>
        </p:nvSpPr>
        <p:spPr>
          <a:xfrm>
            <a:off x="2161975" y="1335024"/>
            <a:ext cx="1681543" cy="219456"/>
          </a:xfrm>
          <a:prstGeom prst="rect">
            <a:avLst/>
          </a:prstGeom>
          <a:noFill/>
        </p:spPr>
        <p:txBody>
          <a:bodyPr wrap="square" lIns="0" rIns="0" tIns="0" bIns="0" anchor="ctr">
            <a:spAutoFit/>
          </a:bodyPr>
          <a:lstStyle/>
          <a:p>
            <a:pPr algn="l">
              <a:lnSpc>
                <a:spcPct val="100000"/>
              </a:lnSpc>
            </a:pPr>
            <a:r>
              <a:rPr sz="1200" b="1" i="0">
                <a:solidFill>
                  <a:srgbClr val="21295C"/>
                </a:solidFill>
                <a:latin typeface="Arial"/>
              </a:rPr>
              <a:t>Классический режим</a:t>
            </a:r>
          </a:p>
        </p:txBody>
      </p:sp>
      <p:sp>
        <p:nvSpPr>
          <p:cNvPr id="6" name="Rectangle 5"/>
          <p:cNvSpPr/>
          <p:nvPr/>
        </p:nvSpPr>
        <p:spPr>
          <a:xfrm>
            <a:off x="4154415" y="1385316"/>
            <a:ext cx="237744" cy="118872"/>
          </a:xfrm>
          <a:prstGeom prst="rect">
            <a:avLst/>
          </a:prstGeom>
          <a:solidFill>
            <a:srgbClr val="028090"/>
          </a:solidFill>
          <a:ln>
            <a:noFill/>
          </a:ln>
          <a:effectLst/>
        </p:spPr>
        <p:txBody>
          <a:bodyPr rtlCol="0" anchor="ctr"/>
          <a:lstStyle/>
          <a:p>
            <a:pPr algn="ctr"/>
          </a:p>
        </p:txBody>
      </p:sp>
      <p:sp>
        <p:nvSpPr>
          <p:cNvPr id="7" name="TextBox 6"/>
          <p:cNvSpPr txBox="1"/>
          <p:nvPr/>
        </p:nvSpPr>
        <p:spPr>
          <a:xfrm>
            <a:off x="4465311" y="1335024"/>
            <a:ext cx="885825" cy="219456"/>
          </a:xfrm>
          <a:prstGeom prst="rect">
            <a:avLst/>
          </a:prstGeom>
          <a:noFill/>
        </p:spPr>
        <p:txBody>
          <a:bodyPr wrap="square" lIns="0" rIns="0" tIns="0" bIns="0" anchor="ctr">
            <a:spAutoFit/>
          </a:bodyPr>
          <a:lstStyle/>
          <a:p>
            <a:pPr algn="l">
              <a:lnSpc>
                <a:spcPct val="100000"/>
              </a:lnSpc>
            </a:pPr>
            <a:r>
              <a:rPr sz="1200" b="1" i="0">
                <a:solidFill>
                  <a:srgbClr val="028090"/>
                </a:solidFill>
                <a:latin typeface="Arial"/>
              </a:rPr>
              <a:t>Генерация</a:t>
            </a:r>
          </a:p>
        </p:txBody>
      </p:sp>
      <p:sp>
        <p:nvSpPr>
          <p:cNvPr id="8" name="Rectangle 7"/>
          <p:cNvSpPr/>
          <p:nvPr/>
        </p:nvSpPr>
        <p:spPr>
          <a:xfrm>
            <a:off x="1846507" y="1664207"/>
            <a:ext cx="9144" cy="2414016"/>
          </a:xfrm>
          <a:prstGeom prst="rect">
            <a:avLst/>
          </a:prstGeom>
          <a:solidFill>
            <a:srgbClr val="D9E2EC"/>
          </a:solidFill>
          <a:ln>
            <a:noFill/>
          </a:ln>
          <a:effectLst/>
        </p:spPr>
        <p:txBody>
          <a:bodyPr rtlCol="0" anchor="ctr"/>
          <a:lstStyle/>
          <a:p>
            <a:pPr algn="ctr"/>
          </a:p>
        </p:txBody>
      </p:sp>
      <p:sp>
        <p:nvSpPr>
          <p:cNvPr id="9" name="Rectangle 8"/>
          <p:cNvSpPr/>
          <p:nvPr/>
        </p:nvSpPr>
        <p:spPr>
          <a:xfrm>
            <a:off x="2339789" y="1664207"/>
            <a:ext cx="9144" cy="2414016"/>
          </a:xfrm>
          <a:prstGeom prst="rect">
            <a:avLst/>
          </a:prstGeom>
          <a:solidFill>
            <a:srgbClr val="D9E2EC"/>
          </a:solidFill>
          <a:ln>
            <a:noFill/>
          </a:ln>
          <a:effectLst/>
        </p:spPr>
        <p:txBody>
          <a:bodyPr rtlCol="0" anchor="ctr"/>
          <a:lstStyle/>
          <a:p>
            <a:pPr algn="ctr"/>
          </a:p>
        </p:txBody>
      </p:sp>
      <p:sp>
        <p:nvSpPr>
          <p:cNvPr id="10" name="Rectangle 9"/>
          <p:cNvSpPr/>
          <p:nvPr/>
        </p:nvSpPr>
        <p:spPr>
          <a:xfrm>
            <a:off x="2833070" y="1664207"/>
            <a:ext cx="9144" cy="2414016"/>
          </a:xfrm>
          <a:prstGeom prst="rect">
            <a:avLst/>
          </a:prstGeom>
          <a:solidFill>
            <a:srgbClr val="D9E2EC"/>
          </a:solidFill>
          <a:ln>
            <a:noFill/>
          </a:ln>
          <a:effectLst/>
        </p:spPr>
        <p:txBody>
          <a:bodyPr rtlCol="0" anchor="ctr"/>
          <a:lstStyle/>
          <a:p>
            <a:pPr algn="ctr"/>
          </a:p>
        </p:txBody>
      </p:sp>
      <p:sp>
        <p:nvSpPr>
          <p:cNvPr id="11" name="Rectangle 10"/>
          <p:cNvSpPr/>
          <p:nvPr/>
        </p:nvSpPr>
        <p:spPr>
          <a:xfrm>
            <a:off x="3326351" y="1664207"/>
            <a:ext cx="9144" cy="2414016"/>
          </a:xfrm>
          <a:prstGeom prst="rect">
            <a:avLst/>
          </a:prstGeom>
          <a:solidFill>
            <a:srgbClr val="D9E2EC"/>
          </a:solidFill>
          <a:ln>
            <a:noFill/>
          </a:ln>
          <a:effectLst/>
        </p:spPr>
        <p:txBody>
          <a:bodyPr rtlCol="0" anchor="ctr"/>
          <a:lstStyle/>
          <a:p>
            <a:pPr algn="ctr"/>
          </a:p>
        </p:txBody>
      </p:sp>
      <p:sp>
        <p:nvSpPr>
          <p:cNvPr id="12" name="Rectangle 11"/>
          <p:cNvSpPr/>
          <p:nvPr/>
        </p:nvSpPr>
        <p:spPr>
          <a:xfrm>
            <a:off x="3819633" y="1664207"/>
            <a:ext cx="9144" cy="2414016"/>
          </a:xfrm>
          <a:prstGeom prst="rect">
            <a:avLst/>
          </a:prstGeom>
          <a:solidFill>
            <a:srgbClr val="D9E2EC"/>
          </a:solidFill>
          <a:ln>
            <a:noFill/>
          </a:ln>
          <a:effectLst/>
        </p:spPr>
        <p:txBody>
          <a:bodyPr rtlCol="0" anchor="ctr"/>
          <a:lstStyle/>
          <a:p>
            <a:pPr algn="ctr"/>
          </a:p>
        </p:txBody>
      </p:sp>
      <p:sp>
        <p:nvSpPr>
          <p:cNvPr id="13" name="Rectangle 12"/>
          <p:cNvSpPr/>
          <p:nvPr/>
        </p:nvSpPr>
        <p:spPr>
          <a:xfrm>
            <a:off x="4312914" y="1664207"/>
            <a:ext cx="9144" cy="2414016"/>
          </a:xfrm>
          <a:prstGeom prst="rect">
            <a:avLst/>
          </a:prstGeom>
          <a:solidFill>
            <a:srgbClr val="D9E2EC"/>
          </a:solidFill>
          <a:ln>
            <a:noFill/>
          </a:ln>
          <a:effectLst/>
        </p:spPr>
        <p:txBody>
          <a:bodyPr rtlCol="0" anchor="ctr"/>
          <a:lstStyle/>
          <a:p>
            <a:pPr algn="ctr"/>
          </a:p>
        </p:txBody>
      </p:sp>
      <p:sp>
        <p:nvSpPr>
          <p:cNvPr id="14" name="TextBox 13"/>
          <p:cNvSpPr txBox="1"/>
          <p:nvPr/>
        </p:nvSpPr>
        <p:spPr>
          <a:xfrm>
            <a:off x="502920" y="1851536"/>
            <a:ext cx="1220143" cy="228847"/>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У исполнителя</a:t>
            </a:r>
          </a:p>
        </p:txBody>
      </p:sp>
      <p:sp>
        <p:nvSpPr>
          <p:cNvPr id="15" name="Rectangle 14"/>
          <p:cNvSpPr/>
          <p:nvPr/>
        </p:nvSpPr>
        <p:spPr>
          <a:xfrm>
            <a:off x="1851079" y="1664207"/>
            <a:ext cx="1973125" cy="256032"/>
          </a:xfrm>
          <a:prstGeom prst="rect">
            <a:avLst/>
          </a:prstGeom>
          <a:solidFill>
            <a:srgbClr val="21295C"/>
          </a:solidFill>
          <a:ln>
            <a:noFill/>
          </a:ln>
          <a:effectLst/>
        </p:spPr>
        <p:txBody>
          <a:bodyPr rtlCol="0" anchor="ctr"/>
          <a:lstStyle/>
          <a:p>
            <a:pPr algn="ctr"/>
          </a:p>
        </p:txBody>
      </p:sp>
      <p:sp>
        <p:nvSpPr>
          <p:cNvPr id="16" name="TextBox 15"/>
          <p:cNvSpPr txBox="1"/>
          <p:nvPr/>
        </p:nvSpPr>
        <p:spPr>
          <a:xfrm>
            <a:off x="3915645" y="1664207"/>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$50–150</a:t>
            </a:r>
          </a:p>
        </p:txBody>
      </p:sp>
      <p:sp>
        <p:nvSpPr>
          <p:cNvPr id="17" name="Rectangle 16"/>
          <p:cNvSpPr/>
          <p:nvPr/>
        </p:nvSpPr>
        <p:spPr>
          <a:xfrm>
            <a:off x="1851079" y="2011679"/>
            <a:ext cx="307437" cy="256032"/>
          </a:xfrm>
          <a:prstGeom prst="rect">
            <a:avLst/>
          </a:prstGeom>
          <a:solidFill>
            <a:srgbClr val="028090"/>
          </a:solidFill>
          <a:ln>
            <a:noFill/>
          </a:ln>
          <a:effectLst/>
        </p:spPr>
        <p:txBody>
          <a:bodyPr rtlCol="0" anchor="ctr"/>
          <a:lstStyle/>
          <a:p>
            <a:pPr algn="ctr"/>
          </a:p>
        </p:txBody>
      </p:sp>
      <p:sp>
        <p:nvSpPr>
          <p:cNvPr id="18" name="TextBox 17"/>
          <p:cNvSpPr txBox="1"/>
          <p:nvPr/>
        </p:nvSpPr>
        <p:spPr>
          <a:xfrm>
            <a:off x="2249956" y="2011679"/>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$0,034–0,05</a:t>
            </a:r>
          </a:p>
        </p:txBody>
      </p:sp>
      <p:sp>
        <p:nvSpPr>
          <p:cNvPr id="19" name="Rounded Rectangle 18"/>
          <p:cNvSpPr/>
          <p:nvPr/>
        </p:nvSpPr>
        <p:spPr>
          <a:xfrm>
            <a:off x="5617159" y="1682495"/>
            <a:ext cx="1828800" cy="566928"/>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200" b="1">
                <a:solidFill>
                  <a:srgbClr val="21295C"/>
                </a:solidFill>
                <a:latin typeface="Arial"/>
              </a:rPr>
              <a:t>×1 000–4 500</a:t>
            </a:r>
          </a:p>
        </p:txBody>
      </p:sp>
      <p:sp>
        <p:nvSpPr>
          <p:cNvPr id="20" name="TextBox 19"/>
          <p:cNvSpPr txBox="1"/>
          <p:nvPr/>
        </p:nvSpPr>
        <p:spPr>
          <a:xfrm>
            <a:off x="502920" y="2692784"/>
            <a:ext cx="1220143" cy="228847"/>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Сток, розница</a:t>
            </a:r>
          </a:p>
        </p:txBody>
      </p:sp>
      <p:sp>
        <p:nvSpPr>
          <p:cNvPr id="21" name="Rectangle 20"/>
          <p:cNvSpPr/>
          <p:nvPr/>
        </p:nvSpPr>
        <p:spPr>
          <a:xfrm>
            <a:off x="1851079" y="2505456"/>
            <a:ext cx="2208480" cy="256032"/>
          </a:xfrm>
          <a:prstGeom prst="rect">
            <a:avLst/>
          </a:prstGeom>
          <a:solidFill>
            <a:srgbClr val="21295C"/>
          </a:solidFill>
          <a:ln>
            <a:noFill/>
          </a:ln>
          <a:effectLst/>
        </p:spPr>
        <p:txBody>
          <a:bodyPr rtlCol="0" anchor="ctr"/>
          <a:lstStyle/>
          <a:p>
            <a:pPr algn="ctr"/>
          </a:p>
        </p:txBody>
      </p:sp>
      <p:sp>
        <p:nvSpPr>
          <p:cNvPr id="22" name="TextBox 21"/>
          <p:cNvSpPr txBox="1"/>
          <p:nvPr/>
        </p:nvSpPr>
        <p:spPr>
          <a:xfrm>
            <a:off x="4151000" y="2505456"/>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$130–499</a:t>
            </a:r>
          </a:p>
        </p:txBody>
      </p:sp>
      <p:sp>
        <p:nvSpPr>
          <p:cNvPr id="23" name="Rectangle 22"/>
          <p:cNvSpPr/>
          <p:nvPr/>
        </p:nvSpPr>
        <p:spPr>
          <a:xfrm>
            <a:off x="1851079" y="2852927"/>
            <a:ext cx="307437" cy="256032"/>
          </a:xfrm>
          <a:prstGeom prst="rect">
            <a:avLst/>
          </a:prstGeom>
          <a:solidFill>
            <a:srgbClr val="028090"/>
          </a:solidFill>
          <a:ln>
            <a:noFill/>
          </a:ln>
          <a:effectLst/>
        </p:spPr>
        <p:txBody>
          <a:bodyPr rtlCol="0" anchor="ctr"/>
          <a:lstStyle/>
          <a:p>
            <a:pPr algn="ctr"/>
          </a:p>
        </p:txBody>
      </p:sp>
      <p:sp>
        <p:nvSpPr>
          <p:cNvPr id="24" name="TextBox 23"/>
          <p:cNvSpPr txBox="1"/>
          <p:nvPr/>
        </p:nvSpPr>
        <p:spPr>
          <a:xfrm>
            <a:off x="2249956" y="2852927"/>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$0,034–0,05</a:t>
            </a:r>
          </a:p>
        </p:txBody>
      </p:sp>
      <p:sp>
        <p:nvSpPr>
          <p:cNvPr id="25" name="Rounded Rectangle 24"/>
          <p:cNvSpPr/>
          <p:nvPr/>
        </p:nvSpPr>
        <p:spPr>
          <a:xfrm>
            <a:off x="5617159" y="2523744"/>
            <a:ext cx="1828800" cy="566928"/>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200" b="1">
                <a:solidFill>
                  <a:srgbClr val="21295C"/>
                </a:solidFill>
                <a:latin typeface="Arial"/>
              </a:rPr>
              <a:t>×14 700</a:t>
            </a:r>
          </a:p>
        </p:txBody>
      </p:sp>
      <p:sp>
        <p:nvSpPr>
          <p:cNvPr id="26" name="TextBox 25"/>
          <p:cNvSpPr txBox="1"/>
          <p:nvPr/>
        </p:nvSpPr>
        <p:spPr>
          <a:xfrm>
            <a:off x="502920" y="3534032"/>
            <a:ext cx="1220143" cy="228847"/>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Сток, опт</a:t>
            </a:r>
          </a:p>
        </p:txBody>
      </p:sp>
      <p:sp>
        <p:nvSpPr>
          <p:cNvPr id="27" name="Rectangle 26"/>
          <p:cNvSpPr/>
          <p:nvPr/>
        </p:nvSpPr>
        <p:spPr>
          <a:xfrm>
            <a:off x="1851079" y="3346703"/>
            <a:ext cx="1182859" cy="256032"/>
          </a:xfrm>
          <a:prstGeom prst="rect">
            <a:avLst/>
          </a:prstGeom>
          <a:solidFill>
            <a:srgbClr val="21295C"/>
          </a:solidFill>
          <a:ln>
            <a:noFill/>
          </a:ln>
          <a:effectLst/>
        </p:spPr>
        <p:txBody>
          <a:bodyPr rtlCol="0" anchor="ctr"/>
          <a:lstStyle/>
          <a:p>
            <a:pPr algn="ctr"/>
          </a:p>
        </p:txBody>
      </p:sp>
      <p:sp>
        <p:nvSpPr>
          <p:cNvPr id="28" name="TextBox 27"/>
          <p:cNvSpPr txBox="1"/>
          <p:nvPr/>
        </p:nvSpPr>
        <p:spPr>
          <a:xfrm>
            <a:off x="3125378" y="3346703"/>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≈$2,50</a:t>
            </a:r>
          </a:p>
        </p:txBody>
      </p:sp>
      <p:sp>
        <p:nvSpPr>
          <p:cNvPr id="29" name="Rectangle 28"/>
          <p:cNvSpPr/>
          <p:nvPr/>
        </p:nvSpPr>
        <p:spPr>
          <a:xfrm>
            <a:off x="1851079" y="3694176"/>
            <a:ext cx="307437" cy="256032"/>
          </a:xfrm>
          <a:prstGeom prst="rect">
            <a:avLst/>
          </a:prstGeom>
          <a:solidFill>
            <a:srgbClr val="028090"/>
          </a:solidFill>
          <a:ln>
            <a:noFill/>
          </a:ln>
          <a:effectLst/>
        </p:spPr>
        <p:txBody>
          <a:bodyPr rtlCol="0" anchor="ctr"/>
          <a:lstStyle/>
          <a:p>
            <a:pPr algn="ctr"/>
          </a:p>
        </p:txBody>
      </p:sp>
      <p:sp>
        <p:nvSpPr>
          <p:cNvPr id="30" name="TextBox 29"/>
          <p:cNvSpPr txBox="1"/>
          <p:nvPr/>
        </p:nvSpPr>
        <p:spPr>
          <a:xfrm>
            <a:off x="2249956" y="3694176"/>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$0,034–0,05</a:t>
            </a:r>
          </a:p>
        </p:txBody>
      </p:sp>
      <p:sp>
        <p:nvSpPr>
          <p:cNvPr id="31" name="Rounded Rectangle 30"/>
          <p:cNvSpPr/>
          <p:nvPr/>
        </p:nvSpPr>
        <p:spPr>
          <a:xfrm>
            <a:off x="5617159" y="3364991"/>
            <a:ext cx="1828800" cy="566928"/>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200" b="1">
                <a:solidFill>
                  <a:srgbClr val="21295C"/>
                </a:solidFill>
                <a:latin typeface="Arial"/>
              </a:rPr>
              <a:t>×73</a:t>
            </a:r>
          </a:p>
        </p:txBody>
      </p:sp>
      <p:sp>
        <p:nvSpPr>
          <p:cNvPr id="32" name="Rectangle 31"/>
          <p:cNvSpPr/>
          <p:nvPr/>
        </p:nvSpPr>
        <p:spPr>
          <a:xfrm>
            <a:off x="1851079" y="4078223"/>
            <a:ext cx="2466407" cy="41148"/>
          </a:xfrm>
          <a:prstGeom prst="rect">
            <a:avLst/>
          </a:prstGeom>
          <a:solidFill>
            <a:srgbClr val="1C7293"/>
          </a:solidFill>
          <a:ln>
            <a:noFill/>
          </a:ln>
          <a:effectLst/>
        </p:spPr>
        <p:txBody>
          <a:bodyPr rtlCol="0" anchor="ctr"/>
          <a:lstStyle/>
          <a:p>
            <a:pPr algn="ctr"/>
          </a:p>
        </p:txBody>
      </p:sp>
      <p:sp>
        <p:nvSpPr>
          <p:cNvPr id="33" name="Rectangle 32"/>
          <p:cNvSpPr/>
          <p:nvPr/>
        </p:nvSpPr>
        <p:spPr>
          <a:xfrm>
            <a:off x="1830505" y="4119371"/>
            <a:ext cx="41148" cy="128016"/>
          </a:xfrm>
          <a:prstGeom prst="rect">
            <a:avLst/>
          </a:prstGeom>
          <a:solidFill>
            <a:srgbClr val="1C7293"/>
          </a:solidFill>
          <a:ln>
            <a:noFill/>
          </a:ln>
          <a:effectLst/>
        </p:spPr>
        <p:txBody>
          <a:bodyPr rtlCol="0" anchor="ctr"/>
          <a:lstStyle/>
          <a:p>
            <a:pPr algn="ctr"/>
          </a:p>
        </p:txBody>
      </p:sp>
      <p:sp>
        <p:nvSpPr>
          <p:cNvPr id="34" name="TextBox 33"/>
          <p:cNvSpPr txBox="1"/>
          <p:nvPr/>
        </p:nvSpPr>
        <p:spPr>
          <a:xfrm>
            <a:off x="1302439" y="4265675"/>
            <a:ext cx="1097280" cy="210312"/>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0,01</a:t>
            </a:r>
          </a:p>
        </p:txBody>
      </p:sp>
      <p:sp>
        <p:nvSpPr>
          <p:cNvPr id="35" name="Rectangle 34"/>
          <p:cNvSpPr/>
          <p:nvPr/>
        </p:nvSpPr>
        <p:spPr>
          <a:xfrm>
            <a:off x="2323787" y="4119371"/>
            <a:ext cx="41148" cy="128016"/>
          </a:xfrm>
          <a:prstGeom prst="rect">
            <a:avLst/>
          </a:prstGeom>
          <a:solidFill>
            <a:srgbClr val="1C7293"/>
          </a:solidFill>
          <a:ln>
            <a:noFill/>
          </a:ln>
          <a:effectLst/>
        </p:spPr>
        <p:txBody>
          <a:bodyPr rtlCol="0" anchor="ctr"/>
          <a:lstStyle/>
          <a:p>
            <a:pPr algn="ctr"/>
          </a:p>
        </p:txBody>
      </p:sp>
      <p:sp>
        <p:nvSpPr>
          <p:cNvPr id="36" name="Rectangle 35"/>
          <p:cNvSpPr/>
          <p:nvPr/>
        </p:nvSpPr>
        <p:spPr>
          <a:xfrm>
            <a:off x="2817068" y="4119371"/>
            <a:ext cx="41148" cy="128016"/>
          </a:xfrm>
          <a:prstGeom prst="rect">
            <a:avLst/>
          </a:prstGeom>
          <a:solidFill>
            <a:srgbClr val="1C7293"/>
          </a:solidFill>
          <a:ln>
            <a:noFill/>
          </a:ln>
          <a:effectLst/>
        </p:spPr>
        <p:txBody>
          <a:bodyPr rtlCol="0" anchor="ctr"/>
          <a:lstStyle/>
          <a:p>
            <a:pPr algn="ctr"/>
          </a:p>
        </p:txBody>
      </p:sp>
      <p:sp>
        <p:nvSpPr>
          <p:cNvPr id="37" name="TextBox 36"/>
          <p:cNvSpPr txBox="1"/>
          <p:nvPr/>
        </p:nvSpPr>
        <p:spPr>
          <a:xfrm>
            <a:off x="2289002" y="4265675"/>
            <a:ext cx="1097280" cy="210312"/>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a:t>
            </a:r>
          </a:p>
        </p:txBody>
      </p:sp>
      <p:sp>
        <p:nvSpPr>
          <p:cNvPr id="38" name="Rectangle 37"/>
          <p:cNvSpPr/>
          <p:nvPr/>
        </p:nvSpPr>
        <p:spPr>
          <a:xfrm>
            <a:off x="3310349" y="4119371"/>
            <a:ext cx="41148" cy="128016"/>
          </a:xfrm>
          <a:prstGeom prst="rect">
            <a:avLst/>
          </a:prstGeom>
          <a:solidFill>
            <a:srgbClr val="1C7293"/>
          </a:solidFill>
          <a:ln>
            <a:noFill/>
          </a:ln>
          <a:effectLst/>
        </p:spPr>
        <p:txBody>
          <a:bodyPr rtlCol="0" anchor="ctr"/>
          <a:lstStyle/>
          <a:p>
            <a:pPr algn="ctr"/>
          </a:p>
        </p:txBody>
      </p:sp>
      <p:sp>
        <p:nvSpPr>
          <p:cNvPr id="39" name="Rectangle 38"/>
          <p:cNvSpPr/>
          <p:nvPr/>
        </p:nvSpPr>
        <p:spPr>
          <a:xfrm>
            <a:off x="3803631" y="4119371"/>
            <a:ext cx="41148" cy="128016"/>
          </a:xfrm>
          <a:prstGeom prst="rect">
            <a:avLst/>
          </a:prstGeom>
          <a:solidFill>
            <a:srgbClr val="1C7293"/>
          </a:solidFill>
          <a:ln>
            <a:noFill/>
          </a:ln>
          <a:effectLst/>
        </p:spPr>
        <p:txBody>
          <a:bodyPr rtlCol="0" anchor="ctr"/>
          <a:lstStyle/>
          <a:p>
            <a:pPr algn="ctr"/>
          </a:p>
        </p:txBody>
      </p:sp>
      <p:sp>
        <p:nvSpPr>
          <p:cNvPr id="40" name="TextBox 39"/>
          <p:cNvSpPr txBox="1"/>
          <p:nvPr/>
        </p:nvSpPr>
        <p:spPr>
          <a:xfrm>
            <a:off x="3275565" y="4265675"/>
            <a:ext cx="1097280" cy="210312"/>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41" name="Rectangle 40"/>
          <p:cNvSpPr/>
          <p:nvPr/>
        </p:nvSpPr>
        <p:spPr>
          <a:xfrm>
            <a:off x="4296912" y="4119371"/>
            <a:ext cx="41148" cy="128016"/>
          </a:xfrm>
          <a:prstGeom prst="rect">
            <a:avLst/>
          </a:prstGeom>
          <a:solidFill>
            <a:srgbClr val="1C7293"/>
          </a:solidFill>
          <a:ln>
            <a:noFill/>
          </a:ln>
          <a:effectLst/>
        </p:spPr>
        <p:txBody>
          <a:bodyPr rtlCol="0" anchor="ctr"/>
          <a:lstStyle/>
          <a:p>
            <a:pPr algn="ctr"/>
          </a:p>
        </p:txBody>
      </p:sp>
      <p:sp>
        <p:nvSpPr>
          <p:cNvPr id="42" name="TextBox 41"/>
          <p:cNvSpPr txBox="1"/>
          <p:nvPr/>
        </p:nvSpPr>
        <p:spPr>
          <a:xfrm>
            <a:off x="1851079" y="4549139"/>
            <a:ext cx="2466407" cy="414942"/>
          </a:xfrm>
          <a:prstGeom prst="rect">
            <a:avLst/>
          </a:prstGeom>
          <a:noFill/>
        </p:spPr>
        <p:txBody>
          <a:bodyPr wrap="square" lIns="0" rIns="0" tIns="0" bIns="0" anchor="t">
            <a:spAutoFit/>
          </a:bodyPr>
          <a:lstStyle/>
          <a:p>
            <a:pPr algn="ctr">
              <a:lnSpc>
                <a:spcPct val="110000"/>
              </a:lnSpc>
            </a:pPr>
            <a:r>
              <a:rPr sz="1200" b="1" i="0">
                <a:solidFill>
                  <a:srgbClr val="065A82"/>
                </a:solidFill>
                <a:latin typeface="Arial"/>
              </a:rPr>
              <a:t>доллары за одно изображение · шкала логарифмическая</a:t>
            </a:r>
          </a:p>
        </p:txBody>
      </p:sp>
      <p:sp>
        <p:nvSpPr>
          <p:cNvPr id="43" name="Rounded Rectangle 42"/>
          <p:cNvSpPr/>
          <p:nvPr/>
        </p:nvSpPr>
        <p:spPr>
          <a:xfrm>
            <a:off x="374904" y="5055522"/>
            <a:ext cx="11441887" cy="118068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4" name="TextBox 43"/>
          <p:cNvSpPr txBox="1"/>
          <p:nvPr/>
        </p:nvSpPr>
        <p:spPr>
          <a:xfrm>
            <a:off x="539496" y="5146962"/>
            <a:ext cx="11112703" cy="1089245"/>
          </a:xfrm>
          <a:prstGeom prst="rect">
            <a:avLst/>
          </a:prstGeom>
          <a:noFill/>
        </p:spPr>
        <p:txBody>
          <a:bodyPr wrap="square" lIns="0" rIns="0" tIns="0" bIns="0" anchor="t">
            <a:spAutoFit/>
          </a:bodyPr>
          <a:lstStyle/>
          <a:p>
            <a:pPr algn="l">
              <a:lnSpc>
                <a:spcPct val="126000"/>
              </a:lnSpc>
            </a:pPr>
            <a:r>
              <a:rPr sz="950" b="0" i="1">
                <a:solidFill>
                  <a:srgbClr val="1C7293"/>
                </a:solidFill>
                <a:latin typeface="Arial"/>
              </a:rPr>
              <a:t>Адрес платежа: ОТБОР.</a:t>
            </a:r>
          </a:p>
          <a:p>
            <a:pPr algn="l">
              <a:lnSpc>
                <a:spcPct val="126000"/>
              </a:lnSpc>
              <a:spcBef>
                <a:spcPts val="700"/>
              </a:spcBef>
            </a:pPr>
            <a:r>
              <a:rPr sz="1200" b="0" i="0">
                <a:solidFill>
                  <a:srgbClr val="21295C"/>
                </a:solidFill>
                <a:latin typeface="Arial"/>
              </a:rPr>
              <a:t/>
            </a:r>
            <a:r>
              <a:rPr sz="1200" b="1" i="0">
                <a:solidFill>
                  <a:srgbClr val="21295C"/>
                </a:solidFill>
                <a:latin typeface="Arial"/>
              </a:rPr>
              <a:t>Цена обеих ошибок.</a:t>
            </a:r>
            <a:r>
              <a:rPr sz="1200" b="0" i="0">
                <a:solidFill>
                  <a:srgbClr val="21295C"/>
                </a:solidFill>
                <a:latin typeface="Arial"/>
              </a:rPr>
              <a:t> «Заказали и не подошло» — $50–150 и 1–3 дня, в России от 3 860 ₽. «Не стали пробовать вариант, который сработал бы» — по мировому рынку числом не названа ни разу.</a:t>
            </a:r>
          </a:p>
          <a:p>
            <a:pPr algn="l">
              <a:lnSpc>
                <a:spcPct val="126000"/>
              </a:lnSpc>
              <a:spcBef>
                <a:spcPts val="700"/>
              </a:spcBef>
            </a:pPr>
            <a:r>
              <a:rPr sz="1200" b="0" i="0">
                <a:solidFill>
                  <a:srgbClr val="21295C"/>
                </a:solidFill>
                <a:latin typeface="Arial"/>
              </a:rPr>
              <a:t/>
            </a:r>
            <a:r>
              <a:rPr sz="1200" b="1" i="0">
                <a:solidFill>
                  <a:srgbClr val="21295C"/>
                </a:solidFill>
                <a:latin typeface="Arial"/>
              </a:rPr>
              <a:t>Вправо уехал отбор: единицей учёта становится то, что ушло заказчику, а не то, что сгенерировано.</a:t>
            </a:r>
          </a:p>
        </p:txBody>
      </p:sp>
      <p:sp>
        <p:nvSpPr>
          <p:cNvPr id="45" name="Rounded Rectangle 44"/>
          <p:cNvSpPr/>
          <p:nvPr/>
        </p:nvSpPr>
        <p:spPr>
          <a:xfrm>
            <a:off x="7756855" y="1335024"/>
            <a:ext cx="3931920" cy="2331720"/>
          </a:xfrm>
          <a:prstGeom prst="roundRect">
            <a:avLst>
              <a:gd name="adj" fmla="val 13071"/>
            </a:avLst>
          </a:prstGeom>
          <a:solidFill>
            <a:srgbClr val="F4F7FA"/>
          </a:solidFill>
          <a:ln w="19050">
            <a:solidFill>
              <a:srgbClr val="1C7293"/>
            </a:solidFill>
          </a:ln>
          <a:effectLst/>
        </p:spPr>
        <p:txBody>
          <a:bodyPr rtlCol="0" anchor="ctr"/>
          <a:lstStyle/>
          <a:p>
            <a:pPr algn="ctr"/>
          </a:p>
        </p:txBody>
      </p:sp>
      <p:pic>
        <p:nvPicPr>
          <p:cNvPr id="46" name="Picture 45" descr="s12-toys-r-us-sora-kadr.jpg"/>
          <p:cNvPicPr>
            <a:picLocks noChangeAspect="1"/>
          </p:cNvPicPr>
          <p:nvPr/>
        </p:nvPicPr>
        <p:blipFill>
          <a:blip r:embed="rId2"/>
          <a:stretch>
            <a:fillRect/>
          </a:stretch>
        </p:blipFill>
        <p:spPr>
          <a:xfrm>
            <a:off x="7894015" y="1472184"/>
            <a:ext cx="3657600" cy="2057400"/>
          </a:xfrm>
          <a:prstGeom prst="rect">
            <a:avLst/>
          </a:prstGeom>
        </p:spPr>
      </p:pic>
      <p:sp>
        <p:nvSpPr>
          <p:cNvPr id="47" name="Rectangle 4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8" name="TextBox 4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ai.google.dev/gemini-api/docs/pricing (прочитано 27.10.2026)</a:t>
            </a:r>
            <a:r>
              <a:rPr sz="1200" b="0" i="1">
                <a:solidFill>
                  <a:srgbClr val="1C7293"/>
                </a:solidFill>
                <a:latin typeface="Arial"/>
              </a:rPr>
              <a:t> · </a:t>
            </a:r>
            <a:r>
              <a:rPr sz="1200" b="0" i="1">
                <a:solidFill>
                  <a:srgbClr val="1C7293"/>
                </a:solidFill>
                <a:latin typeface="Arial"/>
              </a:rPr>
              <a:t>профи.ру, 3 848 анкет иллюстраторов Москвы</a:t>
            </a:r>
            <a:r>
              <a:rPr sz="1200" b="0" i="1">
                <a:solidFill>
                  <a:srgbClr val="1C7293"/>
                </a:solidFill>
                <a:latin typeface="Arial"/>
              </a:rPr>
              <a:t> · </a:t>
            </a:r>
            <a:r>
              <a:rPr sz="1200" b="0" i="1">
                <a:solidFill>
                  <a:srgbClr val="1C7293"/>
                </a:solidFill>
                <a:latin typeface="Arial"/>
              </a:rPr>
              <a:t>прейскуранты стоковых агентств</a:t>
            </a:r>
            <a:r>
              <a:rPr sz="1200" b="0" i="1">
                <a:solidFill>
                  <a:srgbClr val="1C7293"/>
                </a:solidFill>
                <a:latin typeface="Arial"/>
              </a:rPr>
              <a:t> · </a:t>
            </a:r>
            <a:r>
              <a:rPr sz="1200" b="0" i="1">
                <a:solidFill>
                  <a:srgbClr val="1C7293"/>
                </a:solidFill>
                <a:latin typeface="Arial"/>
              </a:rPr>
              <a:t>Toys «R» Us Studios × Native Foreign, июнь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Т—Ж обучила свою модель на домашней видеокарте</a:t>
            </a:r>
          </a:p>
        </p:txBody>
      </p:sp>
      <p:sp>
        <p:nvSpPr>
          <p:cNvPr id="4" name="Rounded Rectangle 3"/>
          <p:cNvSpPr/>
          <p:nvPr/>
        </p:nvSpPr>
        <p:spPr>
          <a:xfrm>
            <a:off x="502920" y="1335024"/>
            <a:ext cx="2235098" cy="1867384"/>
          </a:xfrm>
          <a:prstGeom prst="roundRect">
            <a:avLst>
              <a:gd name="adj" fmla="val 1632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9607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ДООБУЧЕНИЕ</a:t>
            </a:r>
          </a:p>
        </p:txBody>
      </p:sp>
      <p:sp>
        <p:nvSpPr>
          <p:cNvPr id="6" name="TextBox 5"/>
          <p:cNvSpPr txBox="1"/>
          <p:nvPr/>
        </p:nvSpPr>
        <p:spPr>
          <a:xfrm>
            <a:off x="640080" y="1725375"/>
            <a:ext cx="1960778" cy="494898"/>
          </a:xfrm>
          <a:prstGeom prst="rect">
            <a:avLst/>
          </a:prstGeom>
          <a:noFill/>
        </p:spPr>
        <p:txBody>
          <a:bodyPr wrap="square" lIns="0" rIns="0" tIns="0" bIns="0" anchor="t">
            <a:spAutoFit/>
          </a:bodyPr>
          <a:lstStyle/>
          <a:p>
            <a:pPr algn="l">
              <a:lnSpc>
                <a:spcPct val="108000"/>
              </a:lnSpc>
            </a:pPr>
            <a:r>
              <a:rPr sz="1350" b="1" i="0">
                <a:solidFill>
                  <a:srgbClr val="21295C"/>
                </a:solidFill>
                <a:latin typeface="Arial"/>
              </a:rPr>
              <a:t>1,5 часа на одной RTX 3080 (16 ГБ, ноутбук)</a:t>
            </a:r>
          </a:p>
        </p:txBody>
      </p:sp>
      <p:sp>
        <p:nvSpPr>
          <p:cNvPr id="7" name="TextBox 6"/>
          <p:cNvSpPr txBox="1"/>
          <p:nvPr/>
        </p:nvSpPr>
        <p:spPr>
          <a:xfrm>
            <a:off x="640080" y="2220274"/>
            <a:ext cx="19607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набор для дообучения — 40 изображений поверх общедоступной базовой модели</a:t>
            </a:r>
          </a:p>
        </p:txBody>
      </p:sp>
      <p:sp>
        <p:nvSpPr>
          <p:cNvPr id="8" name="Rounded Rectangle 7"/>
          <p:cNvSpPr/>
          <p:nvPr/>
        </p:nvSpPr>
        <p:spPr>
          <a:xfrm>
            <a:off x="2902610" y="1335024"/>
            <a:ext cx="2235098" cy="1867384"/>
          </a:xfrm>
          <a:prstGeom prst="roundRect">
            <a:avLst>
              <a:gd name="adj" fmla="val 1632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039770" y="1472184"/>
            <a:ext cx="19607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ВЫПУСК</a:t>
            </a:r>
          </a:p>
        </p:txBody>
      </p:sp>
      <p:sp>
        <p:nvSpPr>
          <p:cNvPr id="10" name="TextBox 9"/>
          <p:cNvSpPr txBox="1"/>
          <p:nvPr/>
        </p:nvSpPr>
        <p:spPr>
          <a:xfrm>
            <a:off x="3039770" y="1725375"/>
            <a:ext cx="1960778" cy="511873"/>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46 уникальных плакатов за февраль</a:t>
            </a:r>
          </a:p>
        </p:txBody>
      </p:sp>
      <p:sp>
        <p:nvSpPr>
          <p:cNvPr id="11" name="TextBox 10"/>
          <p:cNvSpPr txBox="1"/>
          <p:nvPr/>
        </p:nvSpPr>
        <p:spPr>
          <a:xfrm>
            <a:off x="3039770" y="2237249"/>
            <a:ext cx="19607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 этого — 23 визуализации для первого запущенного курса</a:t>
            </a:r>
          </a:p>
        </p:txBody>
      </p:sp>
      <p:sp>
        <p:nvSpPr>
          <p:cNvPr id="12" name="Rounded Rectangle 11"/>
          <p:cNvSpPr/>
          <p:nvPr/>
        </p:nvSpPr>
        <p:spPr>
          <a:xfrm>
            <a:off x="5302300" y="1335024"/>
            <a:ext cx="2235098" cy="1867384"/>
          </a:xfrm>
          <a:prstGeom prst="roundRect">
            <a:avLst>
              <a:gd name="adj" fmla="val 1632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439460" y="1472184"/>
            <a:ext cx="19607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ОТБОР</a:t>
            </a:r>
          </a:p>
        </p:txBody>
      </p:sp>
      <p:sp>
        <p:nvSpPr>
          <p:cNvPr id="14" name="TextBox 13"/>
          <p:cNvSpPr txBox="1"/>
          <p:nvPr/>
        </p:nvSpPr>
        <p:spPr>
          <a:xfrm>
            <a:off x="5439460" y="1725375"/>
            <a:ext cx="1960778"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30–100 генераций и ≈полчаса на одну итоговую иллюстрацию</a:t>
            </a:r>
          </a:p>
        </p:txBody>
      </p:sp>
      <p:sp>
        <p:nvSpPr>
          <p:cNvPr id="15" name="TextBox 14"/>
          <p:cNvSpPr txBox="1"/>
          <p:nvPr/>
        </p:nvSpPr>
        <p:spPr>
          <a:xfrm>
            <a:off x="5439460" y="2373048"/>
            <a:ext cx="19607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перепробовано 12 разных моделей</a:t>
            </a:r>
          </a:p>
        </p:txBody>
      </p:sp>
      <p:sp>
        <p:nvSpPr>
          <p:cNvPr id="16" name="Rounded Rectangle 15"/>
          <p:cNvSpPr/>
          <p:nvPr/>
        </p:nvSpPr>
        <p:spPr>
          <a:xfrm>
            <a:off x="502920" y="3367000"/>
            <a:ext cx="3434943" cy="1979607"/>
          </a:xfrm>
          <a:prstGeom prst="roundRect">
            <a:avLst>
              <a:gd name="adj" fmla="val 15396"/>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40080" y="3504160"/>
            <a:ext cx="31606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ПОПАДАНИЕ</a:t>
            </a:r>
          </a:p>
        </p:txBody>
      </p:sp>
      <p:sp>
        <p:nvSpPr>
          <p:cNvPr id="18" name="TextBox 17"/>
          <p:cNvSpPr txBox="1"/>
          <p:nvPr/>
        </p:nvSpPr>
        <p:spPr>
          <a:xfrm>
            <a:off x="640080" y="3757351"/>
            <a:ext cx="3160623" cy="1029608"/>
          </a:xfrm>
          <a:prstGeom prst="rect">
            <a:avLst/>
          </a:prstGeom>
          <a:noFill/>
        </p:spPr>
        <p:txBody>
          <a:bodyPr wrap="square" lIns="0" rIns="0" tIns="0" bIns="0" anchor="t">
            <a:spAutoFit/>
          </a:bodyPr>
          <a:lstStyle/>
          <a:p>
            <a:pPr algn="l">
              <a:lnSpc>
                <a:spcPct val="108000"/>
              </a:lnSpc>
            </a:pPr>
            <a:r>
              <a:rPr sz="1950" b="1" i="0">
                <a:solidFill>
                  <a:srgbClr val="1C7293"/>
                </a:solidFill>
                <a:latin typeface="Arial"/>
              </a:rPr>
              <a:t>две трети баннеров нужной кликабельности не дали</a:t>
            </a:r>
          </a:p>
        </p:txBody>
      </p:sp>
      <p:sp>
        <p:nvSpPr>
          <p:cNvPr id="19" name="TextBox 18"/>
          <p:cNvSpPr txBox="1"/>
          <p:nvPr/>
        </p:nvSpPr>
        <p:spPr>
          <a:xfrm>
            <a:off x="640080" y="4786960"/>
            <a:ext cx="316062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лучший баннер — в 2–3 раза эффективнее среднего; конверсия держалась 25–30%</a:t>
            </a:r>
          </a:p>
        </p:txBody>
      </p:sp>
      <p:sp>
        <p:nvSpPr>
          <p:cNvPr id="20" name="Rounded Rectangle 19"/>
          <p:cNvSpPr/>
          <p:nvPr/>
        </p:nvSpPr>
        <p:spPr>
          <a:xfrm>
            <a:off x="4102455" y="3367000"/>
            <a:ext cx="3434943" cy="1979607"/>
          </a:xfrm>
          <a:prstGeom prst="roundRect">
            <a:avLst>
              <a:gd name="adj" fmla="val 1539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4239615" y="3504160"/>
            <a:ext cx="31606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СО СТОРОНЫ КЛАССИКИ</a:t>
            </a:r>
          </a:p>
        </p:txBody>
      </p:sp>
      <p:sp>
        <p:nvSpPr>
          <p:cNvPr id="22" name="TextBox 21"/>
          <p:cNvSpPr txBox="1"/>
          <p:nvPr/>
        </p:nvSpPr>
        <p:spPr>
          <a:xfrm>
            <a:off x="4239615" y="3757351"/>
            <a:ext cx="316062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опубликована</a:t>
            </a:r>
          </a:p>
        </p:txBody>
      </p:sp>
      <p:sp>
        <p:nvSpPr>
          <p:cNvPr id="23" name="TextBox 22"/>
          <p:cNvSpPr txBox="1"/>
          <p:nvPr/>
        </p:nvSpPr>
        <p:spPr>
          <a:xfrm>
            <a:off x="4239615" y="4184350"/>
            <a:ext cx="316062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режим назван — «дизайнер под каждую задачу», — но ни стоимости, ни срока одного баннера у дизайнера до модели в публикации нет</a:t>
            </a:r>
          </a:p>
        </p:txBody>
      </p:sp>
      <p:sp>
        <p:nvSpPr>
          <p:cNvPr id="24" name="Rounded Rectangle 23"/>
          <p:cNvSpPr/>
          <p:nvPr/>
        </p:nvSpPr>
        <p:spPr>
          <a:xfrm>
            <a:off x="374904" y="5438047"/>
            <a:ext cx="11441887" cy="79816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5529487"/>
            <a:ext cx="11112703" cy="706720"/>
          </a:xfrm>
          <a:prstGeom prst="rect">
            <a:avLst/>
          </a:prstGeom>
          <a:noFill/>
        </p:spPr>
        <p:txBody>
          <a:bodyPr wrap="square" lIns="0" rIns="0" tIns="0" bIns="0" anchor="t">
            <a:spAutoFit/>
          </a:bodyPr>
          <a:lstStyle/>
          <a:p>
            <a:pPr algn="l">
              <a:lnSpc>
                <a:spcPct val="126000"/>
              </a:lnSpc>
            </a:pPr>
            <a:r>
              <a:rPr sz="900" b="0" i="1">
                <a:solidFill>
                  <a:srgbClr val="1C7293"/>
                </a:solidFill>
                <a:latin typeface="Arial"/>
              </a:rPr>
              <a:t>Адрес платежа: ОТБОР.</a:t>
            </a:r>
          </a:p>
          <a:p>
            <a:pPr algn="l">
              <a:lnSpc>
                <a:spcPct val="126000"/>
              </a:lnSpc>
              <a:spcBef>
                <a:spcPts val="700"/>
              </a:spcBef>
            </a:pPr>
            <a:r>
              <a:rPr sz="1100" b="0" i="0">
                <a:solidFill>
                  <a:srgbClr val="21295C"/>
                </a:solidFill>
                <a:latin typeface="Arial"/>
              </a:rPr>
              <a:t/>
            </a:r>
            <a:r>
              <a:rPr sz="1100" b="1" i="0">
                <a:solidFill>
                  <a:srgbClr val="21295C"/>
                </a:solidFill>
                <a:latin typeface="Arial"/>
              </a:rPr>
              <a:t>Снято до разбора.</a:t>
            </a:r>
            <a:r>
              <a:rPr sz="1100" b="0" i="0">
                <a:solidFill>
                  <a:srgbClr val="21295C"/>
                </a:solidFill>
                <a:latin typeface="Arial"/>
              </a:rPr>
              <a:t> Отраслевой обзор утверждает, что редакция отказалась от стоков в пользу Kandinsky. В публикации нет ни того, ни другого: названы Midjourney и Stable Diffusion, и речь о баннерах.</a:t>
            </a:r>
          </a:p>
        </p:txBody>
      </p:sp>
      <p:sp>
        <p:nvSpPr>
          <p:cNvPr id="26" name="Rounded Rectangle 25"/>
          <p:cNvSpPr/>
          <p:nvPr/>
        </p:nvSpPr>
        <p:spPr>
          <a:xfrm>
            <a:off x="7848295" y="1335024"/>
            <a:ext cx="3840480" cy="2166366"/>
          </a:xfrm>
          <a:prstGeom prst="roundRect">
            <a:avLst>
              <a:gd name="adj" fmla="val 14069"/>
            </a:avLst>
          </a:prstGeom>
          <a:solidFill>
            <a:srgbClr val="F4F7FA"/>
          </a:solidFill>
          <a:ln w="19050">
            <a:solidFill>
              <a:srgbClr val="1C7293"/>
            </a:solidFill>
          </a:ln>
          <a:effectLst/>
        </p:spPr>
        <p:txBody>
          <a:bodyPr rtlCol="0" anchor="ctr"/>
          <a:lstStyle/>
          <a:p>
            <a:pPr algn="ctr"/>
          </a:p>
        </p:txBody>
      </p:sp>
      <p:pic>
        <p:nvPicPr>
          <p:cNvPr id="27" name="Picture 26" descr="s13-tj-oblozhka.png"/>
          <p:cNvPicPr>
            <a:picLocks noChangeAspect="1"/>
          </p:cNvPicPr>
          <p:nvPr/>
        </p:nvPicPr>
        <p:blipFill>
          <a:blip r:embed="rId2"/>
          <a:stretch>
            <a:fillRect/>
          </a:stretch>
        </p:blipFill>
        <p:spPr>
          <a:xfrm>
            <a:off x="7985455" y="1472184"/>
            <a:ext cx="3566160" cy="1892046"/>
          </a:xfrm>
          <a:prstGeom prst="rect">
            <a:avLst/>
          </a:prstGeom>
        </p:spPr>
      </p:pic>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9" name="TextBox 2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«Тинькофф Журнал», «Как мы использовали нейросети в рекламе», 20 марта 2023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Разбор: бионическая перегородка Airbus — выигрыш не от обученной модели</a:t>
            </a:r>
          </a:p>
        </p:txBody>
      </p:sp>
      <p:sp>
        <p:nvSpPr>
          <p:cNvPr id="4" name="Rounded Rectangle 3"/>
          <p:cNvSpPr/>
          <p:nvPr/>
        </p:nvSpPr>
        <p:spPr>
          <a:xfrm>
            <a:off x="502920"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БЫЛО — РАСЧЁТ ПЕРЕГОРОДКИ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 кг</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единственная альтернатива: критерий задан физикой, вкусового выбора в задаче нет</a:t>
            </a:r>
          </a:p>
        </p:txBody>
      </p:sp>
      <p:sp>
        <p:nvSpPr>
          <p:cNvPr id="8" name="Rounded Rectangle 7"/>
          <p:cNvSpPr/>
          <p:nvPr/>
        </p:nvSpPr>
        <p:spPr>
          <a:xfrm>
            <a:off x="4286402"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СТАЛО — ГЕОМЕТРИЯ ПО МОДЕЛИ КЛЕТОЧНОГО РОСТА КОСТИ</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35 кг</a:t>
            </a:r>
          </a:p>
        </p:txBody>
      </p:sp>
      <p:sp>
        <p:nvSpPr>
          <p:cNvPr id="11" name="TextBox 10"/>
          <p:cNvSpPr txBox="1"/>
          <p:nvPr/>
        </p:nvSpPr>
        <p:spPr>
          <a:xfrm>
            <a:off x="4423562"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−45% массы; напечатано из сплава Scalmalloy, крупнейшая на тот момент напечатанная деталь салона</a:t>
            </a:r>
          </a:p>
        </p:txBody>
      </p:sp>
      <p:sp>
        <p:nvSpPr>
          <p:cNvPr id="12" name="Rounded Rectangle 11"/>
          <p:cNvSpPr/>
          <p:nvPr/>
        </p:nvSpPr>
        <p:spPr>
          <a:xfrm>
            <a:off x="8069884"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ОШИБКИ В ТОЙ ЕДИНИЦЕ, В КОТОРОЙ ЕЁ СЧИТАЕТ ОТРАСЛЬ</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 465 000 тонн CO₂ в год</a:t>
            </a:r>
          </a:p>
        </p:txBody>
      </p:sp>
      <p:sp>
        <p:nvSpPr>
          <p:cNvPr id="15" name="TextBox 14"/>
          <p:cNvSpPr txBox="1"/>
          <p:nvPr/>
        </p:nvSpPr>
        <p:spPr>
          <a:xfrm>
            <a:off x="8207044" y="2750268"/>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оценка Airbus при распространении подхода на портфель заказов A320: лишний килограмм в салоне — топливо на весь срок службы машины</a:t>
            </a:r>
          </a:p>
        </p:txBody>
      </p:sp>
      <p:sp>
        <p:nvSpPr>
          <p:cNvPr id="16" name="Rounded Rectangle 15"/>
          <p:cNvSpPr/>
          <p:nvPr/>
        </p:nvSpPr>
        <p:spPr>
          <a:xfrm>
            <a:off x="502920" y="389699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40080" y="403415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УСЛОВИЕ ОТБОРА: УБЕРИТЕ МОДЕЛЬ МЫСЛЕННО</a:t>
            </a:r>
          </a:p>
        </p:txBody>
      </p:sp>
      <p:sp>
        <p:nvSpPr>
          <p:cNvPr id="18" name="TextBox 17"/>
          <p:cNvSpPr txBox="1"/>
          <p:nvPr/>
        </p:nvSpPr>
        <p:spPr>
          <a:xfrm>
            <a:off x="640080" y="4287346"/>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здесь не исчезает ничего — перебор, расчёт, печать остаются</a:t>
            </a:r>
          </a:p>
        </p:txBody>
      </p:sp>
      <p:sp>
        <p:nvSpPr>
          <p:cNvPr id="19" name="TextBox 18"/>
          <p:cNvSpPr txBox="1"/>
          <p:nvPr/>
        </p:nvSpPr>
        <p:spPr>
          <a:xfrm>
            <a:off x="640080" y="4714345"/>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модели в контуре не было вовсе; на соседнем разборе (Т—Ж) без модели не остаётся 46 плакатов — там условие проходит</a:t>
            </a:r>
          </a:p>
        </p:txBody>
      </p:sp>
      <p:sp>
        <p:nvSpPr>
          <p:cNvPr id="20" name="Rounded Rectangle 19"/>
          <p:cNvSpPr/>
          <p:nvPr/>
        </p:nvSpPr>
        <p:spPr>
          <a:xfrm>
            <a:off x="374904" y="5154188"/>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245628"/>
            <a:ext cx="11112703" cy="99057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Критерий задан физикой: держать нагрузку при минимальной массе. Альтернатива ровно одна, и она посчитана в той же единице.</a:t>
            </a:r>
          </a:p>
        </p:txBody>
      </p:sp>
      <p:sp>
        <p:nvSpPr>
          <p:cNvPr id="22" name="Rectangle 21"/>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Autodesk News, «Autodesk and Airbus: generative design in the aerospace factory», 2016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наблюдения, каждое с числом</a:t>
            </a:r>
          </a:p>
        </p:txBody>
      </p:sp>
      <p:sp>
        <p:nvSpPr>
          <p:cNvPr id="4" name="Rounded Rectangle 3"/>
          <p:cNvSpPr/>
          <p:nvPr/>
        </p:nvSpPr>
        <p:spPr>
          <a:xfrm>
            <a:off x="502920" y="1335024"/>
            <a:ext cx="1543735" cy="3263099"/>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2694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СКАЧИВАНИЙ ЗА 30 ДНЕЙ</a:t>
            </a:r>
          </a:p>
        </p:txBody>
      </p:sp>
      <p:sp>
        <p:nvSpPr>
          <p:cNvPr id="6" name="TextBox 5"/>
          <p:cNvSpPr txBox="1"/>
          <p:nvPr/>
        </p:nvSpPr>
        <p:spPr>
          <a:xfrm>
            <a:off x="640080" y="1932846"/>
            <a:ext cx="1269415"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461 у Kandinsky 6.0 Pro против 622 299 у FLUX.1-dev</a:t>
            </a:r>
          </a:p>
        </p:txBody>
      </p:sp>
      <p:sp>
        <p:nvSpPr>
          <p:cNvPr id="7" name="TextBox 6"/>
          <p:cNvSpPr txBox="1"/>
          <p:nvPr/>
        </p:nvSpPr>
        <p:spPr>
          <a:xfrm>
            <a:off x="640080" y="2784218"/>
            <a:ext cx="12694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том же замере SDXL — 4 282 392, китайская Wan 2.2 — 3 901</a:t>
            </a:r>
          </a:p>
        </p:txBody>
      </p:sp>
      <p:sp>
        <p:nvSpPr>
          <p:cNvPr id="8" name="Rounded Rectangle 7"/>
          <p:cNvSpPr/>
          <p:nvPr/>
        </p:nvSpPr>
        <p:spPr>
          <a:xfrm>
            <a:off x="2211247" y="1335024"/>
            <a:ext cx="1543735" cy="3263099"/>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348407" y="1472184"/>
            <a:ext cx="126941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ТА ЖЕ ЛАБОРАТОРИЯ, НО ДЛЯ РУССКОЙ РЕЧИ И ТЕКСТА</a:t>
            </a:r>
          </a:p>
        </p:txBody>
      </p:sp>
      <p:sp>
        <p:nvSpPr>
          <p:cNvPr id="10" name="TextBox 9"/>
          <p:cNvSpPr txBox="1"/>
          <p:nvPr/>
        </p:nvSpPr>
        <p:spPr>
          <a:xfrm>
            <a:off x="2348407" y="2555260"/>
            <a:ext cx="126941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FRIDA 597 351 · GigaAM v3 426 500</a:t>
            </a:r>
          </a:p>
        </p:txBody>
      </p:sp>
      <p:sp>
        <p:nvSpPr>
          <p:cNvPr id="11" name="TextBox 10"/>
          <p:cNvSpPr txBox="1"/>
          <p:nvPr/>
        </p:nvSpPr>
        <p:spPr>
          <a:xfrm>
            <a:off x="2348407" y="3202933"/>
            <a:ext cx="12694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три порядка больше, чем у той же страны для картинки</a:t>
            </a:r>
          </a:p>
        </p:txBody>
      </p:sp>
      <p:sp>
        <p:nvSpPr>
          <p:cNvPr id="12" name="Rounded Rectangle 11"/>
          <p:cNvSpPr/>
          <p:nvPr/>
        </p:nvSpPr>
        <p:spPr>
          <a:xfrm>
            <a:off x="3919575" y="1335024"/>
            <a:ext cx="1543735" cy="3263099"/>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056735" y="1472184"/>
            <a:ext cx="126941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ВНУТРЕННИЙ КУРС ПОСРЕДНИКА</a:t>
            </a:r>
          </a:p>
        </p:txBody>
      </p:sp>
      <p:sp>
        <p:nvSpPr>
          <p:cNvPr id="14" name="TextBox 13"/>
          <p:cNvSpPr txBox="1"/>
          <p:nvPr/>
        </p:nvSpPr>
        <p:spPr>
          <a:xfrm>
            <a:off x="4056735" y="2140317"/>
            <a:ext cx="126941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196,42 ₽/$ против 80,49 у Центробанка</a:t>
            </a:r>
          </a:p>
        </p:txBody>
      </p:sp>
      <p:sp>
        <p:nvSpPr>
          <p:cNvPr id="15" name="TextBox 14"/>
          <p:cNvSpPr txBox="1"/>
          <p:nvPr/>
        </p:nvSpPr>
        <p:spPr>
          <a:xfrm>
            <a:off x="4056735" y="2787990"/>
            <a:ext cx="126941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множитель 2,44× совпал до второго знака по девяти моделям сразу</a:t>
            </a:r>
          </a:p>
        </p:txBody>
      </p:sp>
      <p:sp>
        <p:nvSpPr>
          <p:cNvPr id="16" name="Rounded Rectangle 15"/>
          <p:cNvSpPr/>
          <p:nvPr/>
        </p:nvSpPr>
        <p:spPr>
          <a:xfrm>
            <a:off x="5627903" y="1335024"/>
            <a:ext cx="1543735" cy="3263099"/>
          </a:xfrm>
          <a:prstGeom prst="roundRect">
            <a:avLst>
              <a:gd name="adj" fmla="val 19744"/>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5765063" y="1472184"/>
            <a:ext cx="126941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ПРОВЕРЯЕМЫХ ЧИСЕЛ ПО «ЮРИДИЧЕСКИ ЧИСТОЙ» МОДЕЛИ</a:t>
            </a:r>
          </a:p>
        </p:txBody>
      </p:sp>
      <p:sp>
        <p:nvSpPr>
          <p:cNvPr id="18" name="TextBox 17"/>
          <p:cNvSpPr txBox="1"/>
          <p:nvPr/>
        </p:nvSpPr>
        <p:spPr>
          <a:xfrm>
            <a:off x="5765063" y="2555260"/>
            <a:ext cx="126941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ноль</a:t>
            </a:r>
          </a:p>
        </p:txBody>
      </p:sp>
      <p:sp>
        <p:nvSpPr>
          <p:cNvPr id="19" name="TextBox 18"/>
          <p:cNvSpPr txBox="1"/>
          <p:nvPr/>
        </p:nvSpPr>
        <p:spPr>
          <a:xfrm>
            <a:off x="5765063" y="2982259"/>
            <a:ext cx="1269415"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доли рынка, ни числа генераций, ни экономии у заказчика, ни судебных исходов</a:t>
            </a:r>
          </a:p>
        </p:txBody>
      </p:sp>
      <p:sp>
        <p:nvSpPr>
          <p:cNvPr id="20" name="Rounded Rectangle 19"/>
          <p:cNvSpPr/>
          <p:nvPr/>
        </p:nvSpPr>
        <p:spPr>
          <a:xfrm>
            <a:off x="374904" y="4689563"/>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781003"/>
            <a:ext cx="11112703" cy="1455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Два отечественных сервиса дают противоположные права на один и тот же результат.</a:t>
            </a:r>
            <a:r>
              <a:rPr sz="1500" b="0" i="0">
                <a:solidFill>
                  <a:srgbClr val="21295C"/>
                </a:solidFill>
                <a:latin typeface="Arial"/>
              </a:rPr>
              <a:t> Один отдаёт исключительные права пользователю, второй оставляет их за собой. Разница между «можно выпускать» и «нельзя» читается только в пользовательском соглашении.</a:t>
            </a:r>
          </a:p>
        </p:txBody>
      </p:sp>
      <p:sp>
        <p:nvSpPr>
          <p:cNvPr id="22" name="Rounded Rectangle 21"/>
          <p:cNvSpPr/>
          <p:nvPr/>
        </p:nvSpPr>
        <p:spPr>
          <a:xfrm>
            <a:off x="7482535" y="1335024"/>
            <a:ext cx="4206240" cy="2079793"/>
          </a:xfrm>
          <a:prstGeom prst="roundRect">
            <a:avLst>
              <a:gd name="adj" fmla="val 14655"/>
            </a:avLst>
          </a:prstGeom>
          <a:solidFill>
            <a:srgbClr val="F4F7FA"/>
          </a:solidFill>
          <a:ln w="19050">
            <a:solidFill>
              <a:srgbClr val="1C7293"/>
            </a:solidFill>
          </a:ln>
          <a:effectLst/>
        </p:spPr>
        <p:txBody>
          <a:bodyPr rtlCol="0" anchor="ctr"/>
          <a:lstStyle/>
          <a:p>
            <a:pPr algn="ctr"/>
          </a:p>
        </p:txBody>
      </p:sp>
      <p:pic>
        <p:nvPicPr>
          <p:cNvPr id="23" name="Picture 22" descr="s15-skachivaniya.png"/>
          <p:cNvPicPr>
            <a:picLocks noChangeAspect="1"/>
          </p:cNvPicPr>
          <p:nvPr/>
        </p:nvPicPr>
        <p:blipFill>
          <a:blip r:embed="rId2"/>
          <a:stretch>
            <a:fillRect/>
          </a:stretch>
        </p:blipFill>
        <p:spPr>
          <a:xfrm>
            <a:off x="7619695" y="1472184"/>
            <a:ext cx="3931919" cy="1805473"/>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программный интерфейс Hugging Face, загрузки за 30 дней, запрос 27.10.2026</a:t>
            </a:r>
            <a:r>
              <a:rPr sz="1200" b="0" i="1">
                <a:solidFill>
                  <a:srgbClr val="1C7293"/>
                </a:solidFill>
                <a:latin typeface="Arial"/>
              </a:rPr>
              <a:t> · </a:t>
            </a:r>
            <a:r>
              <a:rPr sz="1200" b="0" i="1">
                <a:solidFill>
                  <a:srgbClr val="1C7293"/>
                </a:solidFill>
                <a:latin typeface="Arial"/>
              </a:rPr>
              <a:t>пользовательские соглашения Kandinsky и Шедеврум</a:t>
            </a:r>
            <a:r>
              <a:rPr sz="1200" b="0" i="1">
                <a:solidFill>
                  <a:srgbClr val="1C7293"/>
                </a:solidFill>
                <a:latin typeface="Arial"/>
              </a:rPr>
              <a:t> · </a:t>
            </a:r>
            <a:r>
              <a:rPr sz="1200" b="0" i="1">
                <a:solidFill>
                  <a:srgbClr val="1C7293"/>
                </a:solidFill>
                <a:latin typeface="Arial"/>
              </a:rPr>
              <a:t>foundation-models.api.cloud.ru и тарифный документ Cloud.ru, редакция 23.10.2026</a:t>
            </a:r>
            <a:r>
              <a:rPr sz="1200" b="0" i="1">
                <a:solidFill>
                  <a:srgbClr val="1C7293"/>
                </a:solidFill>
                <a:latin typeface="Arial"/>
              </a:rPr>
              <a:t> · </a:t>
            </a:r>
            <a:r>
              <a:rPr sz="1200" b="0" i="1">
                <a:solidFill>
                  <a:srgbClr val="1C7293"/>
                </a:solidFill>
                <a:latin typeface="Arial"/>
              </a:rPr>
              <a:t>условия возмещения убытков Adobe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Семейств генерации два, и генератор каждого собран из частей, обученных порознь</a:t>
            </a:r>
          </a:p>
        </p:txBody>
      </p:sp>
      <p:sp>
        <p:nvSpPr>
          <p:cNvPr id="4" name="Rounded Rectangle 3"/>
          <p:cNvSpPr/>
          <p:nvPr/>
        </p:nvSpPr>
        <p:spPr>
          <a:xfrm>
            <a:off x="502920" y="1335024"/>
            <a:ext cx="11185855"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ПОЧЕМУ СЕМЕЙСТВ ИМЕННО ДВА</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по частям — или целиком много раз</a:t>
            </a:r>
          </a:p>
        </p:txBody>
      </p:sp>
      <p:sp>
        <p:nvSpPr>
          <p:cNvPr id="7" name="TextBox 6"/>
          <p:cNvSpPr txBox="1"/>
          <p:nvPr/>
        </p:nvSpPr>
        <p:spPr>
          <a:xfrm>
            <a:off x="640080" y="2152374"/>
            <a:ext cx="1091153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дискретность против непрерывности: у картиночной авторегрессии (GPT-Image, Nano Banana, с 2025 года) дискретный словарь токенов тоже есть</a:t>
            </a:r>
          </a:p>
        </p:txBody>
      </p:sp>
      <p:sp>
        <p:nvSpPr>
          <p:cNvPr id="8" name="Rounded Rectangle 7"/>
          <p:cNvSpPr/>
          <p:nvPr/>
        </p:nvSpPr>
        <p:spPr>
          <a:xfrm>
            <a:off x="502920" y="2894901"/>
            <a:ext cx="3423818" cy="2473728"/>
          </a:xfrm>
          <a:prstGeom prst="roundRect">
            <a:avLst>
              <a:gd name="adj" fmla="val 12321"/>
            </a:avLst>
          </a:prstGeom>
          <a:solidFill>
            <a:srgbClr val="F4F7FA"/>
          </a:solidFill>
          <a:ln w="19050">
            <a:solidFill>
              <a:srgbClr val="1C7293"/>
            </a:solidFill>
          </a:ln>
          <a:effectLst/>
        </p:spPr>
        <p:txBody>
          <a:bodyPr rtlCol="0" anchor="ctr"/>
          <a:lstStyle/>
          <a:p>
            <a:pPr algn="ctr"/>
          </a:p>
        </p:txBody>
      </p:sp>
      <p:sp>
        <p:nvSpPr>
          <p:cNvPr id="9" name="Rounded Rectangle 8"/>
          <p:cNvSpPr/>
          <p:nvPr/>
        </p:nvSpPr>
        <p:spPr>
          <a:xfrm>
            <a:off x="630936" y="3022917"/>
            <a:ext cx="3167786" cy="256032"/>
          </a:xfrm>
          <a:prstGeom prst="roundRect">
            <a:avLst>
              <a:gd name="adj" fmla="val 38000"/>
            </a:avLst>
          </a:prstGeom>
          <a:solidFill>
            <a:srgbClr val="E6F2F4"/>
          </a:solidFill>
          <a:ln>
            <a:noFill/>
          </a:ln>
          <a:effectLst/>
        </p:spPr>
        <p:txBody>
          <a:bodyPr rtlCol="0" anchor="ctr"/>
          <a:lstStyle/>
          <a:p>
            <a:pPr algn="ctr"/>
          </a:p>
        </p:txBody>
      </p:sp>
      <p:sp>
        <p:nvSpPr>
          <p:cNvPr id="10" name="TextBox 9"/>
          <p:cNvSpPr txBox="1"/>
          <p:nvPr/>
        </p:nvSpPr>
        <p:spPr>
          <a:xfrm>
            <a:off x="685800" y="3022917"/>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вход · чужая модель</a:t>
            </a:r>
          </a:p>
        </p:txBody>
      </p:sp>
      <p:sp>
        <p:nvSpPr>
          <p:cNvPr id="11" name="TextBox 10"/>
          <p:cNvSpPr txBox="1"/>
          <p:nvPr/>
        </p:nvSpPr>
        <p:spPr>
          <a:xfrm>
            <a:off x="630936" y="337038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Текстовый кодировщик</a:t>
            </a:r>
          </a:p>
        </p:txBody>
      </p:sp>
      <p:sp>
        <p:nvSpPr>
          <p:cNvPr id="12" name="TextBox 11"/>
          <p:cNvSpPr txBox="1"/>
          <p:nvPr/>
        </p:nvSpPr>
        <p:spPr>
          <a:xfrm>
            <a:off x="630936" y="3738457"/>
            <a:ext cx="3167786" cy="1502155"/>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описание читает отдельная замороженная модель — у SD3 их три, у FLUX.1 два</a:t>
            </a:r>
          </a:p>
          <a:p>
            <a:pPr algn="l">
              <a:lnSpc>
                <a:spcPct val="114000"/>
              </a:lnSpc>
              <a:spcBef>
                <a:spcPts val="400"/>
              </a:spcBef>
            </a:pPr>
            <a:r>
              <a:rPr sz="1350" b="0" i="0">
                <a:solidFill>
                  <a:srgbClr val="21295C"/>
                </a:solidFill>
                <a:latin typeface="Arial"/>
              </a:rPr>
              <a:t/>
            </a:r>
            <a:r>
              <a:rPr sz="1350" b="0" i="0">
                <a:solidFill>
                  <a:srgbClr val="21295C"/>
                </a:solidFill>
                <a:latin typeface="Arial"/>
              </a:rPr>
              <a:t>увеличение кодировщика даёт больший прирост, чем увеличение диффузионной сети</a:t>
            </a:r>
          </a:p>
        </p:txBody>
      </p:sp>
      <p:sp>
        <p:nvSpPr>
          <p:cNvPr id="13" name="Right Arrow 12"/>
          <p:cNvSpPr/>
          <p:nvPr/>
        </p:nvSpPr>
        <p:spPr>
          <a:xfrm>
            <a:off x="4018178" y="4058613"/>
            <a:ext cx="274320" cy="146304"/>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4383938" y="2894901"/>
            <a:ext cx="3423818" cy="2473728"/>
          </a:xfrm>
          <a:prstGeom prst="roundRect">
            <a:avLst>
              <a:gd name="adj" fmla="val 12321"/>
            </a:avLst>
          </a:prstGeom>
          <a:solidFill>
            <a:srgbClr val="F4F7FA"/>
          </a:solidFill>
          <a:ln w="19050">
            <a:solidFill>
              <a:srgbClr val="1C7293"/>
            </a:solidFill>
          </a:ln>
          <a:effectLst/>
        </p:spPr>
        <p:txBody>
          <a:bodyPr rtlCol="0" anchor="ctr"/>
          <a:lstStyle/>
          <a:p>
            <a:pPr algn="ctr"/>
          </a:p>
        </p:txBody>
      </p:sp>
      <p:sp>
        <p:nvSpPr>
          <p:cNvPr id="15" name="Rounded Rectangle 14"/>
          <p:cNvSpPr/>
          <p:nvPr/>
        </p:nvSpPr>
        <p:spPr>
          <a:xfrm>
            <a:off x="4511954" y="3022917"/>
            <a:ext cx="3167786" cy="256032"/>
          </a:xfrm>
          <a:prstGeom prst="roundRect">
            <a:avLst>
              <a:gd name="adj" fmla="val 38000"/>
            </a:avLst>
          </a:prstGeom>
          <a:solidFill>
            <a:srgbClr val="E6F2F4"/>
          </a:solidFill>
          <a:ln>
            <a:noFill/>
          </a:ln>
          <a:effectLst/>
        </p:spPr>
        <p:txBody>
          <a:bodyPr rtlCol="0" anchor="ctr"/>
          <a:lstStyle/>
          <a:p>
            <a:pPr algn="ctr"/>
          </a:p>
        </p:txBody>
      </p:sp>
      <p:sp>
        <p:nvSpPr>
          <p:cNvPr id="16" name="TextBox 15"/>
          <p:cNvSpPr txBox="1"/>
          <p:nvPr/>
        </p:nvSpPr>
        <p:spPr>
          <a:xfrm>
            <a:off x="4566818" y="3022917"/>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работа</a:t>
            </a:r>
          </a:p>
        </p:txBody>
      </p:sp>
      <p:sp>
        <p:nvSpPr>
          <p:cNvPr id="17" name="TextBox 16"/>
          <p:cNvSpPr txBox="1"/>
          <p:nvPr/>
        </p:nvSpPr>
        <p:spPr>
          <a:xfrm>
            <a:off x="4511954" y="337038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Сеть расшумления</a:t>
            </a:r>
          </a:p>
        </p:txBody>
      </p:sp>
      <p:sp>
        <p:nvSpPr>
          <p:cNvPr id="18" name="TextBox 17"/>
          <p:cNvSpPr txBox="1"/>
          <p:nvPr/>
        </p:nvSpPr>
        <p:spPr>
          <a:xfrm>
            <a:off x="4511954" y="3738457"/>
            <a:ext cx="3167786" cy="1502155"/>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латент 128×128×16, от 1 до 50 проходов</a:t>
            </a:r>
          </a:p>
          <a:p>
            <a:pPr algn="l">
              <a:lnSpc>
                <a:spcPct val="114000"/>
              </a:lnSpc>
              <a:spcBef>
                <a:spcPts val="400"/>
              </a:spcBef>
            </a:pPr>
            <a:r>
              <a:rPr sz="1350" b="0" i="0">
                <a:solidFill>
                  <a:srgbClr val="21295C"/>
                </a:solidFill>
                <a:latin typeface="Arial"/>
              </a:rPr>
              <a:t/>
            </a:r>
            <a:r>
              <a:rPr sz="1350" b="0" i="0">
                <a:solidFill>
                  <a:srgbClr val="21295C"/>
                </a:solidFill>
                <a:latin typeface="Arial"/>
              </a:rPr>
              <a:t>описание — условие, неизменное на всех шагах; истории нет</a:t>
            </a:r>
          </a:p>
        </p:txBody>
      </p:sp>
      <p:sp>
        <p:nvSpPr>
          <p:cNvPr id="19" name="Right Arrow 18"/>
          <p:cNvSpPr/>
          <p:nvPr/>
        </p:nvSpPr>
        <p:spPr>
          <a:xfrm>
            <a:off x="7899196" y="4058613"/>
            <a:ext cx="274320" cy="146304"/>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264956" y="2894901"/>
            <a:ext cx="3423818" cy="2473728"/>
          </a:xfrm>
          <a:prstGeom prst="roundRect">
            <a:avLst>
              <a:gd name="adj" fmla="val 12321"/>
            </a:avLst>
          </a:prstGeom>
          <a:solidFill>
            <a:srgbClr val="F4F7FA"/>
          </a:solidFill>
          <a:ln w="31750">
            <a:solidFill>
              <a:srgbClr val="F0AB00"/>
            </a:solidFill>
          </a:ln>
          <a:effectLst/>
        </p:spPr>
        <p:txBody>
          <a:bodyPr rtlCol="0" anchor="ctr"/>
          <a:lstStyle/>
          <a:p>
            <a:pPr algn="ctr"/>
          </a:p>
        </p:txBody>
      </p:sp>
      <p:sp>
        <p:nvSpPr>
          <p:cNvPr id="21" name="Rounded Rectangle 20"/>
          <p:cNvSpPr/>
          <p:nvPr/>
        </p:nvSpPr>
        <p:spPr>
          <a:xfrm>
            <a:off x="8392972" y="3022917"/>
            <a:ext cx="3167786" cy="256032"/>
          </a:xfrm>
          <a:prstGeom prst="roundRect">
            <a:avLst>
              <a:gd name="adj" fmla="val 38000"/>
            </a:avLst>
          </a:prstGeom>
          <a:solidFill>
            <a:srgbClr val="F0AB00"/>
          </a:solidFill>
          <a:ln>
            <a:noFill/>
          </a:ln>
          <a:effectLst/>
        </p:spPr>
        <p:txBody>
          <a:bodyPr rtlCol="0" anchor="ctr"/>
          <a:lstStyle/>
          <a:p>
            <a:pPr algn="ctr"/>
          </a:p>
        </p:txBody>
      </p:sp>
      <p:sp>
        <p:nvSpPr>
          <p:cNvPr id="22" name="TextBox 21"/>
          <p:cNvSpPr txBox="1"/>
          <p:nvPr/>
        </p:nvSpPr>
        <p:spPr>
          <a:xfrm>
            <a:off x="8447836" y="3022917"/>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выход · узкое место</a:t>
            </a:r>
          </a:p>
        </p:txBody>
      </p:sp>
      <p:sp>
        <p:nvSpPr>
          <p:cNvPr id="23" name="TextBox 22"/>
          <p:cNvSpPr txBox="1"/>
          <p:nvPr/>
        </p:nvSpPr>
        <p:spPr>
          <a:xfrm>
            <a:off x="8392972" y="337038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Автокодировщик</a:t>
            </a:r>
          </a:p>
        </p:txBody>
      </p:sp>
      <p:sp>
        <p:nvSpPr>
          <p:cNvPr id="24" name="TextBox 23"/>
          <p:cNvSpPr txBox="1"/>
          <p:nvPr/>
        </p:nvSpPr>
        <p:spPr>
          <a:xfrm>
            <a:off x="8392972" y="3738457"/>
            <a:ext cx="3167786" cy="1502155"/>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декодировщик разворачивает латент в точки растра 1024×1024</a:t>
            </a:r>
          </a:p>
          <a:p>
            <a:pPr algn="l">
              <a:lnSpc>
                <a:spcPct val="114000"/>
              </a:lnSpc>
              <a:spcBef>
                <a:spcPts val="400"/>
              </a:spcBef>
            </a:pPr>
            <a:r>
              <a:rPr sz="1350" b="0" i="0">
                <a:solidFill>
                  <a:srgbClr val="21295C"/>
                </a:solidFill>
                <a:latin typeface="Arial"/>
              </a:rPr>
              <a:t/>
            </a:r>
            <a:r>
              <a:rPr sz="1350" b="0" i="0">
                <a:solidFill>
                  <a:srgbClr val="21295C"/>
                </a:solidFill>
                <a:latin typeface="Arial"/>
              </a:rPr>
              <a:t>25,12 дБ на 4 каналах против 28,62 на 16 — размытое не вернётся</a:t>
            </a:r>
          </a:p>
        </p:txBody>
      </p:sp>
      <p:sp>
        <p:nvSpPr>
          <p:cNvPr id="25" name="Rounded Rectangle 24"/>
          <p:cNvSpPr/>
          <p:nvPr/>
        </p:nvSpPr>
        <p:spPr>
          <a:xfrm>
            <a:off x="374904" y="5460069"/>
            <a:ext cx="11441887" cy="77613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5551509"/>
            <a:ext cx="11112703" cy="68469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Два семейства: авторегрессия достраивает объект по частям, расшумление правит весь объект сразу, но много раз.</a:t>
            </a:r>
          </a:p>
          <a:p>
            <a:pPr algn="l">
              <a:lnSpc>
                <a:spcPct val="126000"/>
              </a:lnSpc>
              <a:spcBef>
                <a:spcPts val="700"/>
              </a:spcBef>
            </a:pPr>
            <a:r>
              <a:rPr sz="1300" b="0" i="0">
                <a:solidFill>
                  <a:srgbClr val="21295C"/>
                </a:solidFill>
                <a:latin typeface="Arial"/>
              </a:rPr>
              <a:t/>
            </a:r>
            <a:r>
              <a:rPr sz="1300" b="1" i="0">
                <a:solidFill>
                  <a:srgbClr val="21295C"/>
                </a:solidFill>
                <a:latin typeface="Arial"/>
              </a:rPr>
              <a:t>От строки описания до файла на выходе работают три независимо обученные модели.</a:t>
            </a:r>
            <a:r>
              <a:rPr sz="1300" b="0" i="0">
                <a:solidFill>
                  <a:srgbClr val="21295C"/>
                </a:solidFill>
                <a:latin typeface="Arial"/>
              </a:rPr>
              <a:t> Диффузионная сеть — только средняя из них.</a:t>
            </a:r>
          </a:p>
        </p:txBody>
      </p:sp>
      <p:sp>
        <p:nvSpPr>
          <p:cNvPr id="27" name="Rectangle 26"/>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Jain, Abbeel, «Denoising Diffusion Probabilistic Models», 2020</a:t>
            </a:r>
            <a:r>
              <a:rPr sz="1200" b="0" i="1">
                <a:solidFill>
                  <a:srgbClr val="1C7293"/>
                </a:solidFill>
                <a:latin typeface="Arial"/>
              </a:rPr>
              <a:t> · </a:t>
            </a:r>
            <a:r>
              <a:rPr sz="1200" b="0" i="1">
                <a:solidFill>
                  <a:srgbClr val="1C7293"/>
                </a:solidFill>
                <a:latin typeface="Arial"/>
              </a:rPr>
              <a:t>Sohl-Dickstein и соавт., 2015</a:t>
            </a:r>
            <a:r>
              <a:rPr sz="1200" b="0" i="1">
                <a:solidFill>
                  <a:srgbClr val="1C7293"/>
                </a:solidFill>
                <a:latin typeface="Arial"/>
              </a:rPr>
              <a:t> · </a:t>
            </a:r>
            <a:r>
              <a:rPr sz="1200" b="0" i="1">
                <a:solidFill>
                  <a:srgbClr val="1C7293"/>
                </a:solidFill>
                <a:latin typeface="Arial"/>
              </a:rPr>
              <a:t>Rombach и соавт., 2021</a:t>
            </a:r>
            <a:r>
              <a:rPr sz="1200" b="0" i="1">
                <a:solidFill>
                  <a:srgbClr val="1C7293"/>
                </a:solidFill>
                <a:latin typeface="Arial"/>
              </a:rPr>
              <a:t> · </a:t>
            </a: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Imagen, 2022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Прямой процесс портит, обратный восстанавливает — и число шагов между ними: 1000 → 4</a:t>
            </a:r>
          </a:p>
        </p:txBody>
      </p:sp>
      <p:sp>
        <p:nvSpPr>
          <p:cNvPr id="4" name="Rounded Rectangle 3"/>
          <p:cNvSpPr/>
          <p:nvPr/>
        </p:nvSpPr>
        <p:spPr>
          <a:xfrm>
            <a:off x="502920"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ПРЕДСКАЗЫВАЕТ СЕТЬ — ТРИ ВАРИАНТА</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шум · исходная картинка · скорость</a:t>
            </a:r>
          </a:p>
        </p:txBody>
      </p:sp>
      <p:sp>
        <p:nvSpPr>
          <p:cNvPr id="7" name="TextBox 6"/>
          <p:cNvSpPr txBox="1"/>
          <p:nvPr/>
        </p:nvSpPr>
        <p:spPr>
          <a:xfrm>
            <a:off x="640080" y="2750268"/>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шум вырождается на малом шуме; картинка — на большом; скорость — цель на всём диапазоне, и поэтому победила у дистилляций</a:t>
            </a:r>
          </a:p>
        </p:txBody>
      </p:sp>
      <p:sp>
        <p:nvSpPr>
          <p:cNvPr id="8" name="Rounded Rectangle 7"/>
          <p:cNvSpPr/>
          <p:nvPr/>
        </p:nvSpPr>
        <p:spPr>
          <a:xfrm>
            <a:off x="4286402"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ЛЕСТНИЦА ШАГОВ: 1000 → 4</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1000 (DDPM) → 20–100 → 10–20 → 2–4 → 1–4</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первые три ступени не трогают веса — смена численного метода; последние две меняют веса и платят разнообразием</a:t>
            </a:r>
          </a:p>
        </p:txBody>
      </p:sp>
      <p:sp>
        <p:nvSpPr>
          <p:cNvPr id="12" name="Rounded Rectangle 11"/>
          <p:cNvSpPr/>
          <p:nvPr/>
        </p:nvSpPr>
        <p:spPr>
          <a:xfrm>
            <a:off x="8069884" y="1335024"/>
            <a:ext cx="3618890" cy="2397378"/>
          </a:xfrm>
          <a:prstGeom prst="roundRect">
            <a:avLst>
              <a:gd name="adj" fmla="val 1271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БЫЛО / СТАЛО, FLUX.1 DEV → SCHNELL</a:t>
            </a:r>
          </a:p>
        </p:txBody>
      </p:sp>
      <p:sp>
        <p:nvSpPr>
          <p:cNvPr id="14" name="TextBox 13"/>
          <p:cNvSpPr txBox="1"/>
          <p:nvPr/>
        </p:nvSpPr>
        <p:spPr>
          <a:xfrm>
            <a:off x="8207044" y="1725375"/>
            <a:ext cx="3344570" cy="715572"/>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100 проходов (50 шагов × 2 ради CFG) → 4 прохода</a:t>
            </a:r>
          </a:p>
        </p:txBody>
      </p:sp>
      <p:sp>
        <p:nvSpPr>
          <p:cNvPr id="15" name="TextBox 14"/>
          <p:cNvSpPr txBox="1"/>
          <p:nvPr/>
        </p:nvSpPr>
        <p:spPr>
          <a:xfrm>
            <a:off x="8207044" y="244094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≈20 секунд на RTX 4090 → ≈3 секунды; в 25 раз при том же размере сети</a:t>
            </a:r>
          </a:p>
        </p:txBody>
      </p:sp>
      <p:sp>
        <p:nvSpPr>
          <p:cNvPr id="16" name="TextBox 15"/>
          <p:cNvSpPr txBox="1"/>
          <p:nvPr/>
        </p:nvSpPr>
        <p:spPr>
          <a:xfrm>
            <a:off x="502920" y="395185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Прямой — портит</a:t>
            </a:r>
          </a:p>
        </p:txBody>
      </p:sp>
      <p:sp>
        <p:nvSpPr>
          <p:cNvPr id="17" name="Rounded Rectangle 16"/>
          <p:cNvSpPr/>
          <p:nvPr/>
        </p:nvSpPr>
        <p:spPr>
          <a:xfrm>
            <a:off x="1920240" y="391528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96100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картинка</a:t>
            </a:r>
          </a:p>
        </p:txBody>
      </p:sp>
      <p:sp>
        <p:nvSpPr>
          <p:cNvPr id="19" name="Right Arrow 18"/>
          <p:cNvSpPr/>
          <p:nvPr/>
        </p:nvSpPr>
        <p:spPr>
          <a:xfrm>
            <a:off x="4202353" y="408439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91528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96100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немного шума</a:t>
            </a:r>
          </a:p>
        </p:txBody>
      </p:sp>
      <p:sp>
        <p:nvSpPr>
          <p:cNvPr id="22" name="Right Arrow 21"/>
          <p:cNvSpPr/>
          <p:nvPr/>
        </p:nvSpPr>
        <p:spPr>
          <a:xfrm>
            <a:off x="6713067" y="408439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91528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96100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ещё шум</a:t>
            </a:r>
          </a:p>
        </p:txBody>
      </p:sp>
      <p:sp>
        <p:nvSpPr>
          <p:cNvPr id="25" name="Right Arrow 24"/>
          <p:cNvSpPr/>
          <p:nvPr/>
        </p:nvSpPr>
        <p:spPr>
          <a:xfrm>
            <a:off x="9223781" y="4084399"/>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91528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96100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чистый шум</a:t>
            </a:r>
          </a:p>
        </p:txBody>
      </p:sp>
      <p:sp>
        <p:nvSpPr>
          <p:cNvPr id="28" name="TextBox 27"/>
          <p:cNvSpPr txBox="1"/>
          <p:nvPr/>
        </p:nvSpPr>
        <p:spPr>
          <a:xfrm>
            <a:off x="502920" y="457355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Обратный — убирает шум</a:t>
            </a:r>
          </a:p>
        </p:txBody>
      </p:sp>
      <p:sp>
        <p:nvSpPr>
          <p:cNvPr id="29" name="Rounded Rectangle 28"/>
          <p:cNvSpPr/>
          <p:nvPr/>
        </p:nvSpPr>
        <p:spPr>
          <a:xfrm>
            <a:off x="1920240" y="453697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458269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чистый шум</a:t>
            </a:r>
          </a:p>
        </p:txBody>
      </p:sp>
      <p:sp>
        <p:nvSpPr>
          <p:cNvPr id="31" name="Right Arrow 30"/>
          <p:cNvSpPr/>
          <p:nvPr/>
        </p:nvSpPr>
        <p:spPr>
          <a:xfrm>
            <a:off x="4202353" y="4706096"/>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53697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4513249" y="458269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сеть видит шум</a:t>
            </a:r>
          </a:p>
        </p:txBody>
      </p:sp>
      <p:sp>
        <p:nvSpPr>
          <p:cNvPr id="34" name="Right Arrow 33"/>
          <p:cNvSpPr/>
          <p:nvPr/>
        </p:nvSpPr>
        <p:spPr>
          <a:xfrm>
            <a:off x="6713067" y="4706096"/>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53697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58269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вычли, приближение</a:t>
            </a:r>
          </a:p>
        </p:txBody>
      </p:sp>
      <p:sp>
        <p:nvSpPr>
          <p:cNvPr id="37" name="Right Arrow 36"/>
          <p:cNvSpPr/>
          <p:nvPr/>
        </p:nvSpPr>
        <p:spPr>
          <a:xfrm>
            <a:off x="9223781" y="4706096"/>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53697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58269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картинка</a:t>
            </a:r>
          </a:p>
        </p:txBody>
      </p:sp>
      <p:sp>
        <p:nvSpPr>
          <p:cNvPr id="40" name="TextBox 39"/>
          <p:cNvSpPr txBox="1"/>
          <p:nvPr/>
        </p:nvSpPr>
        <p:spPr>
          <a:xfrm>
            <a:off x="502920" y="504894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шума слева направо и обратно. До любого шага прямого процесса можно прыгнуть сразу: обучаемых параметров в нём ноль</a:t>
            </a:r>
          </a:p>
        </p:txBody>
      </p:sp>
      <p:sp>
        <p:nvSpPr>
          <p:cNvPr id="41" name="Rounded Rectangle 40"/>
          <p:cNvSpPr/>
          <p:nvPr/>
        </p:nvSpPr>
        <p:spPr>
          <a:xfrm>
            <a:off x="374904" y="5351632"/>
            <a:ext cx="11441887" cy="88457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443072"/>
            <a:ext cx="11112703" cy="793135"/>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Что именно предсказывает сеть — три варианта.</a:t>
            </a:r>
            <a:r>
              <a:rPr sz="1150" b="0" i="0">
                <a:solidFill>
                  <a:srgbClr val="21295C"/>
                </a:solidFill>
                <a:latin typeface="Arial"/>
              </a:rPr>
              <a:t> Шум — вырождается на малом шуме. Исходную картинку — вырождается на большом. Скорость — комбинация обоих, и поэтому победила.</a:t>
            </a:r>
          </a:p>
          <a:p>
            <a:pPr algn="l">
              <a:lnSpc>
                <a:spcPct val="126000"/>
              </a:lnSpc>
              <a:spcBef>
                <a:spcPts val="700"/>
              </a:spcBef>
            </a:pPr>
            <a:r>
              <a:rPr sz="1150" b="0" i="0">
                <a:solidFill>
                  <a:srgbClr val="21295C"/>
                </a:solidFill>
                <a:latin typeface="Arial"/>
              </a:rPr>
              <a:t/>
            </a:r>
            <a:r>
              <a:rPr sz="1150" b="1" i="0">
                <a:solidFill>
                  <a:srgbClr val="21295C"/>
                </a:solidFill>
                <a:latin typeface="Arial"/>
              </a:rPr>
              <a:t>Первые три ступени лестницы шагов не трогают веса — это смена численного метода. Последние две меняют веса и платят разнообразием выхода.</a:t>
            </a:r>
          </a:p>
        </p:txBody>
      </p:sp>
      <p:sp>
        <p:nvSpPr>
          <p:cNvPr id="43" name="Rectangle 42"/>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Jain, Abbeel, «Denoising Diffusion Probabilistic Models», 2020</a:t>
            </a:r>
            <a:r>
              <a:rPr sz="1200" b="0" i="1">
                <a:solidFill>
                  <a:srgbClr val="1C7293"/>
                </a:solidFill>
                <a:latin typeface="Arial"/>
              </a:rPr>
              <a:t> · </a:t>
            </a:r>
            <a:r>
              <a:rPr sz="1200" b="0" i="1">
                <a:solidFill>
                  <a:srgbClr val="1C7293"/>
                </a:solidFill>
                <a:latin typeface="Arial"/>
              </a:rPr>
              <a:t>Sohl-Dickstein и соавт., 2015</a:t>
            </a:r>
            <a:r>
              <a:rPr sz="1200" b="0" i="1">
                <a:solidFill>
                  <a:srgbClr val="1C7293"/>
                </a:solidFill>
                <a:latin typeface="Arial"/>
              </a:rPr>
              <a:t> · </a:t>
            </a:r>
            <a:r>
              <a:rPr sz="1200" b="0" i="1">
                <a:solidFill>
                  <a:srgbClr val="1C7293"/>
                </a:solidFill>
                <a:latin typeface="Arial"/>
              </a:rPr>
              <a:t>Salimans и Ho, 2022</a:t>
            </a:r>
            <a:r>
              <a:rPr sz="1200" b="0" i="1">
                <a:solidFill>
                  <a:srgbClr val="1C7293"/>
                </a:solidFill>
                <a:latin typeface="Arial"/>
              </a:rPr>
              <a:t> · </a:t>
            </a:r>
            <a:r>
              <a:rPr sz="1200" b="0" i="1">
                <a:solidFill>
                  <a:srgbClr val="1C7293"/>
                </a:solidFill>
                <a:latin typeface="Arial"/>
              </a:rPr>
              <a:t>Song, Meng, Ermon, 2020</a:t>
            </a:r>
            <a:r>
              <a:rPr sz="1200" b="0" i="1">
                <a:solidFill>
                  <a:srgbClr val="1C7293"/>
                </a:solidFill>
                <a:latin typeface="Arial"/>
              </a:rPr>
              <a:t> · </a:t>
            </a:r>
            <a:r>
              <a:rPr sz="1200" b="0" i="1">
                <a:solidFill>
                  <a:srgbClr val="1C7293"/>
                </a:solidFill>
                <a:latin typeface="Arial"/>
              </a:rPr>
              <a:t>Karras и соавт., 2022</a:t>
            </a:r>
            <a:r>
              <a:rPr sz="1200" b="0" i="1">
                <a:solidFill>
                  <a:srgbClr val="1C7293"/>
                </a:solidFill>
                <a:latin typeface="Arial"/>
              </a:rPr>
              <a:t> · </a:t>
            </a:r>
            <a:r>
              <a:rPr sz="1200" b="0" i="1">
                <a:solidFill>
                  <a:srgbClr val="1C7293"/>
                </a:solidFill>
                <a:latin typeface="Arial"/>
              </a:rPr>
              <a:t>Lu и соавт., 2022</a:t>
            </a:r>
            <a:r>
              <a:rPr sz="1200" b="0" i="1">
                <a:solidFill>
                  <a:srgbClr val="1C7293"/>
                </a:solidFill>
                <a:latin typeface="Arial"/>
              </a:rPr>
              <a:t> · </a:t>
            </a:r>
            <a:r>
              <a:rPr sz="1200" b="0" i="1">
                <a:solidFill>
                  <a:srgbClr val="1C7293"/>
                </a:solidFill>
                <a:latin typeface="Arial"/>
              </a:rPr>
              <a:t>Zhao и соавт., 2023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Картинка 1024×1024 — это 4096 токенов</a:t>
            </a:r>
          </a:p>
        </p:txBody>
      </p:sp>
      <p:sp>
        <p:nvSpPr>
          <p:cNvPr id="4" name="Rounded Rectangle 3"/>
          <p:cNvSpPr/>
          <p:nvPr/>
        </p:nvSpPr>
        <p:spPr>
          <a:xfrm>
            <a:off x="502920" y="1335024"/>
            <a:ext cx="3618890"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ПОТЕРЯЛ АВТОКОДИРОВЩИК, ИЗМЕРЕНО</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25,12 дБ на 4 каналах против 28,62 дБ на 16</a:t>
            </a:r>
          </a:p>
        </p:txBody>
      </p:sp>
      <p:sp>
        <p:nvSpPr>
          <p:cNvPr id="7" name="TextBox 6"/>
          <p:cNvSpPr txBox="1"/>
          <p:nvPr/>
        </p:nvSpPr>
        <p:spPr>
          <a:xfrm>
            <a:off x="640080" y="275026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перцептивное расхождение 0,85 против 0,45; это потолок, который диффузионная сеть физически не перешагнёт</a:t>
            </a:r>
          </a:p>
        </p:txBody>
      </p:sp>
      <p:sp>
        <p:nvSpPr>
          <p:cNvPr id="8" name="Rounded Rectangle 7"/>
          <p:cNvSpPr/>
          <p:nvPr/>
        </p:nvSpPr>
        <p:spPr>
          <a:xfrm>
            <a:off x="4286402" y="1335024"/>
            <a:ext cx="3618890"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ПРЯМОЕ СРАВНЕНИЕ ЕДИНИЦ</a:t>
            </a:r>
          </a:p>
        </p:txBody>
      </p:sp>
      <p:sp>
        <p:nvSpPr>
          <p:cNvPr id="10" name="TextBox 9"/>
          <p:cNvSpPr txBox="1"/>
          <p:nvPr/>
        </p:nvSpPr>
        <p:spPr>
          <a:xfrm>
            <a:off x="4423562" y="1725375"/>
            <a:ext cx="3344570"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там токен из словаря ~200 тыс., зафиксированного до обучения — здесь непрерывный вектор, словаря нет вовсе</a:t>
            </a:r>
          </a:p>
        </p:txBody>
      </p:sp>
      <p:sp>
        <p:nvSpPr>
          <p:cNvPr id="11" name="TextBox 10"/>
          <p:cNvSpPr txBox="1"/>
          <p:nvPr/>
        </p:nvSpPr>
        <p:spPr>
          <a:xfrm>
            <a:off x="4423562" y="237304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отсюда: маскировать нечего, запрещать нечему</a:t>
            </a:r>
          </a:p>
        </p:txBody>
      </p:sp>
      <p:sp>
        <p:nvSpPr>
          <p:cNvPr id="12" name="Rounded Rectangle 11"/>
          <p:cNvSpPr/>
          <p:nvPr/>
        </p:nvSpPr>
        <p:spPr>
          <a:xfrm>
            <a:off x="8069884" y="1335024"/>
            <a:ext cx="3618890"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ЭТО ДАЛО НА ПРАКТИКЕ</a:t>
            </a:r>
          </a:p>
        </p:txBody>
      </p:sp>
      <p:sp>
        <p:nvSpPr>
          <p:cNvPr id="14" name="TextBox 13"/>
          <p:cNvSpPr txBox="1"/>
          <p:nvPr/>
        </p:nvSpPr>
        <p:spPr>
          <a:xfrm>
            <a:off x="8207044" y="1725375"/>
            <a:ext cx="3344570" cy="766497"/>
          </a:xfrm>
          <a:prstGeom prst="rect">
            <a:avLst/>
          </a:prstGeom>
          <a:noFill/>
        </p:spPr>
        <p:txBody>
          <a:bodyPr wrap="square" lIns="0" rIns="0" tIns="0" bIns="0" anchor="t">
            <a:spAutoFit/>
          </a:bodyPr>
          <a:lstStyle/>
          <a:p>
            <a:pPr algn="l">
              <a:lnSpc>
                <a:spcPct val="108000"/>
              </a:lnSpc>
            </a:pPr>
            <a:r>
              <a:rPr sz="2150" b="1" i="0">
                <a:solidFill>
                  <a:srgbClr val="21295C"/>
                </a:solidFill>
                <a:latin typeface="Arial"/>
              </a:rPr>
              <a:t>65 536 чисел вместо 786 432 на каждом шаге</a:t>
            </a:r>
          </a:p>
        </p:txBody>
      </p:sp>
      <p:sp>
        <p:nvSpPr>
          <p:cNvPr id="15" name="TextBox 14"/>
          <p:cNvSpPr txBox="1"/>
          <p:nvPr/>
        </p:nvSpPr>
        <p:spPr>
          <a:xfrm>
            <a:off x="8207044" y="2491872"/>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полтора порядка вычислений, и на каждом из десятков шагов — отсюда 512×512 на карте с 6–8 ГБ в августе 2022</a:t>
            </a:r>
          </a:p>
        </p:txBody>
      </p:sp>
      <p:sp>
        <p:nvSpPr>
          <p:cNvPr id="16" name="Rounded Rectangle 15"/>
          <p:cNvSpPr/>
          <p:nvPr/>
        </p:nvSpPr>
        <p:spPr>
          <a:xfrm>
            <a:off x="502920" y="3704039"/>
            <a:ext cx="354573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85216" y="3749759"/>
            <a:ext cx="338114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пиксели: 1024 · 1024 · 3 = 3 145 728 чисел</a:t>
            </a:r>
          </a:p>
        </p:txBody>
      </p:sp>
      <p:sp>
        <p:nvSpPr>
          <p:cNvPr id="18" name="Right Arrow 17"/>
          <p:cNvSpPr/>
          <p:nvPr/>
        </p:nvSpPr>
        <p:spPr>
          <a:xfrm>
            <a:off x="4094378" y="3991980"/>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4322978" y="3704039"/>
            <a:ext cx="354573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405274" y="3749759"/>
            <a:ext cx="338114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латент, 16 каналов: 128 · 128 · 16 = 262 144 числа</a:t>
            </a:r>
          </a:p>
        </p:txBody>
      </p:sp>
      <p:sp>
        <p:nvSpPr>
          <p:cNvPr id="21" name="Right Arrow 20"/>
          <p:cNvSpPr/>
          <p:nvPr/>
        </p:nvSpPr>
        <p:spPr>
          <a:xfrm>
            <a:off x="7914436" y="3991980"/>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143036" y="3704039"/>
            <a:ext cx="354573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8225332" y="3749759"/>
            <a:ext cx="338114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вход трансформера, патч 2×2: 64 · 64 = 4 096 токенов</a:t>
            </a:r>
          </a:p>
        </p:txBody>
      </p:sp>
      <p:sp>
        <p:nvSpPr>
          <p:cNvPr id="24" name="TextBox 23"/>
          <p:cNvSpPr txBox="1"/>
          <p:nvPr/>
        </p:nvSpPr>
        <p:spPr>
          <a:xfrm>
            <a:off x="502920" y="445365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Три ступени сжатия: площадь честно пропорциональна числу значений</a:t>
            </a:r>
          </a:p>
        </p:txBody>
      </p:sp>
      <p:sp>
        <p:nvSpPr>
          <p:cNvPr id="25" name="Rounded Rectangle 24"/>
          <p:cNvSpPr/>
          <p:nvPr/>
        </p:nvSpPr>
        <p:spPr>
          <a:xfrm>
            <a:off x="374904" y="4756340"/>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847780"/>
            <a:ext cx="11112703" cy="138842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Квадратичность никуда не делась.</a:t>
            </a:r>
            <a:r>
              <a:rPr sz="1500" b="0" i="0">
                <a:solidFill>
                  <a:srgbClr val="21295C"/>
                </a:solidFill>
                <a:latin typeface="Arial"/>
              </a:rPr>
              <a:t> 4 096 токенов — ≈16,8 млн пар на голову на слой, 16 384 токена — ≈268 млн: удвоение стороны картинки увеличивает стоимость внимания в шестнадцать раз.</a:t>
            </a:r>
          </a:p>
          <a:p>
            <a:pPr algn="l">
              <a:lnSpc>
                <a:spcPct val="126000"/>
              </a:lnSpc>
              <a:spcBef>
                <a:spcPts val="700"/>
              </a:spcBef>
            </a:pPr>
            <a:r>
              <a:rPr sz="1500" b="0" i="0">
                <a:solidFill>
                  <a:srgbClr val="21295C"/>
                </a:solidFill>
                <a:latin typeface="Arial"/>
              </a:rPr>
              <a:t/>
            </a:r>
            <a:r>
              <a:rPr sz="1500" b="1" i="0">
                <a:solidFill>
                  <a:srgbClr val="21295C"/>
                </a:solidFill>
                <a:latin typeface="Arial"/>
              </a:rPr>
              <a:t>Главный рычаг — токенизатор; размер модели здесь вторичен.</a:t>
            </a:r>
          </a:p>
        </p:txBody>
      </p:sp>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и соавт., 2021 — работа, из которой выросла Stable Diffusion</a:t>
            </a:r>
            <a:r>
              <a:rPr sz="1200" b="0" i="1">
                <a:solidFill>
                  <a:srgbClr val="1C7293"/>
                </a:solidFill>
                <a:latin typeface="Arial"/>
              </a:rPr>
              <a:t> · </a:t>
            </a:r>
            <a:r>
              <a:rPr sz="1200" b="0" i="1">
                <a:solidFill>
                  <a:srgbClr val="1C7293"/>
                </a:solidFill>
                <a:latin typeface="Arial"/>
              </a:rPr>
              <a:t>техническая статья SD3, 2024 (таблица качества восстановления)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Описание — постоянное условие на всех шагах. И CFG — это не температура</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U-Net, SD 1.x–SDXL</a:t>
            </a:r>
          </a:p>
        </p:txBody>
      </p:sp>
      <p:sp>
        <p:nvSpPr>
          <p:cNvPr id="5" name="Rounded Rectangle 4"/>
          <p:cNvSpPr/>
          <p:nvPr/>
        </p:nvSpPr>
        <p:spPr>
          <a:xfrm>
            <a:off x="1920240" y="133502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Q ← латент картинки</a:t>
            </a:r>
          </a:p>
        </p:txBody>
      </p:sp>
      <p:sp>
        <p:nvSpPr>
          <p:cNvPr id="7" name="Rounded Rectangle 6"/>
          <p:cNvSpPr/>
          <p:nvPr/>
        </p:nvSpPr>
        <p:spPr>
          <a:xfrm>
            <a:off x="4398949" y="133502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4481245" y="138074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K, V ← токены описания</a:t>
            </a:r>
          </a:p>
        </p:txBody>
      </p:sp>
      <p:sp>
        <p:nvSpPr>
          <p:cNvPr id="9" name="Rounded Rectangle 8"/>
          <p:cNvSpPr/>
          <p:nvPr/>
        </p:nvSpPr>
        <p:spPr>
          <a:xfrm>
            <a:off x="6877659" y="133502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6959955" y="138074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4 096 × 77 слов</a:t>
            </a:r>
          </a:p>
        </p:txBody>
      </p:sp>
      <p:sp>
        <p:nvSpPr>
          <p:cNvPr id="11" name="Rounded Rectangle 10"/>
          <p:cNvSpPr/>
          <p:nvPr/>
        </p:nvSpPr>
        <p:spPr>
          <a:xfrm>
            <a:off x="9356369" y="133502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9438665" y="138074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её можно отрисовать</a:t>
            </a:r>
          </a:p>
        </p:txBody>
      </p:sp>
      <p:sp>
        <p:nvSpPr>
          <p:cNvPr id="13" name="TextBox 12"/>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MMDiT, SD3 и FLUX</a:t>
            </a:r>
          </a:p>
        </p:txBody>
      </p:sp>
      <p:sp>
        <p:nvSpPr>
          <p:cNvPr id="14" name="Rounded Rectangle 13"/>
          <p:cNvSpPr/>
          <p:nvPr/>
        </p:nvSpPr>
        <p:spPr>
          <a:xfrm>
            <a:off x="1920240" y="219436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24008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и картинка вместе</a:t>
            </a:r>
          </a:p>
        </p:txBody>
      </p:sp>
      <p:sp>
        <p:nvSpPr>
          <p:cNvPr id="16" name="Rounded Rectangle 15"/>
          <p:cNvSpPr/>
          <p:nvPr/>
        </p:nvSpPr>
        <p:spPr>
          <a:xfrm>
            <a:off x="4398949" y="219436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4481245" y="224008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внимание в обе стороны</a:t>
            </a:r>
          </a:p>
        </p:txBody>
      </p:sp>
      <p:sp>
        <p:nvSpPr>
          <p:cNvPr id="18" name="Rounded Rectangle 17"/>
          <p:cNvSpPr/>
          <p:nvPr/>
        </p:nvSpPr>
        <p:spPr>
          <a:xfrm>
            <a:off x="6877659" y="219436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6959955" y="224008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4 608 × 4 608</a:t>
            </a:r>
          </a:p>
        </p:txBody>
      </p:sp>
      <p:sp>
        <p:nvSpPr>
          <p:cNvPr id="20" name="Rounded Rectangle 19"/>
          <p:cNvSpPr/>
          <p:nvPr/>
        </p:nvSpPr>
        <p:spPr>
          <a:xfrm>
            <a:off x="9356369" y="219436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9438665" y="224008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смотрит на картинку</a:t>
            </a:r>
          </a:p>
        </p:txBody>
      </p:sp>
      <p:sp>
        <p:nvSpPr>
          <p:cNvPr id="22" name="Rounded Rectangle 21"/>
          <p:cNvSpPr/>
          <p:nvPr/>
        </p:nvSpPr>
        <p:spPr>
          <a:xfrm>
            <a:off x="502920" y="3090291"/>
            <a:ext cx="5437479" cy="2044373"/>
          </a:xfrm>
          <a:prstGeom prst="roundRect">
            <a:avLst>
              <a:gd name="adj" fmla="val 14909"/>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667512" y="3245739"/>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Температура</a:t>
            </a:r>
          </a:p>
        </p:txBody>
      </p:sp>
      <p:sp>
        <p:nvSpPr>
          <p:cNvPr id="24" name="TextBox 23"/>
          <p:cNvSpPr txBox="1"/>
          <p:nvPr/>
        </p:nvSpPr>
        <p:spPr>
          <a:xfrm>
            <a:off x="667512" y="3601918"/>
            <a:ext cx="5108295" cy="1377298"/>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Мнение модели: не меняет — делитель логитов</a:t>
            </a:r>
          </a:p>
          <a:p>
            <a:pPr algn="l">
              <a:lnSpc>
                <a:spcPct val="126000"/>
              </a:lnSpc>
            </a:pPr>
            <a:r>
              <a:rPr sz="1450" b="0" i="0">
                <a:solidFill>
                  <a:srgbClr val="21295C"/>
                </a:solidFill>
                <a:latin typeface="Arial"/>
              </a:rPr>
              <a:t>• Направление: рост → больше случайности</a:t>
            </a:r>
          </a:p>
          <a:p>
            <a:pPr algn="l">
              <a:lnSpc>
                <a:spcPct val="126000"/>
              </a:lnSpc>
            </a:pPr>
            <a:r>
              <a:rPr sz="1450" b="0" i="0">
                <a:solidFill>
                  <a:srgbClr val="21295C"/>
                </a:solidFill>
                <a:latin typeface="Arial"/>
              </a:rPr>
              <a:t>• Цена: ноль — одно деление</a:t>
            </a:r>
          </a:p>
          <a:p>
            <a:pPr algn="l">
              <a:lnSpc>
                <a:spcPct val="126000"/>
              </a:lnSpc>
            </a:pPr>
            <a:r>
              <a:rPr sz="1450" b="0" i="0">
                <a:solidFill>
                  <a:srgbClr val="21295C"/>
                </a:solidFill>
                <a:latin typeface="Arial"/>
              </a:rPr>
              <a:t>• Случайность: в сэмплере, на каждом шаге</a:t>
            </a:r>
          </a:p>
        </p:txBody>
      </p:sp>
      <p:sp>
        <p:nvSpPr>
          <p:cNvPr id="25" name="Rounded Rectangle 24"/>
          <p:cNvSpPr/>
          <p:nvPr/>
        </p:nvSpPr>
        <p:spPr>
          <a:xfrm>
            <a:off x="6251295" y="3090291"/>
            <a:ext cx="5437479" cy="2044373"/>
          </a:xfrm>
          <a:prstGeom prst="roundRect">
            <a:avLst>
              <a:gd name="adj" fmla="val 14909"/>
            </a:avLst>
          </a:prstGeom>
          <a:solidFill>
            <a:srgbClr val="FFFFFF"/>
          </a:solidFill>
          <a:ln w="19050">
            <a:solidFill>
              <a:srgbClr val="028090"/>
            </a:solidFill>
          </a:ln>
          <a:effectLst/>
        </p:spPr>
        <p:txBody>
          <a:bodyPr rtlCol="0" anchor="ctr"/>
          <a:lstStyle/>
          <a:p>
            <a:pPr algn="ctr"/>
          </a:p>
        </p:txBody>
      </p:sp>
      <p:sp>
        <p:nvSpPr>
          <p:cNvPr id="26" name="TextBox 25"/>
          <p:cNvSpPr txBox="1"/>
          <p:nvPr/>
        </p:nvSpPr>
        <p:spPr>
          <a:xfrm>
            <a:off x="6415887" y="3245739"/>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CFG</a:t>
            </a:r>
          </a:p>
        </p:txBody>
      </p:sp>
      <p:sp>
        <p:nvSpPr>
          <p:cNvPr id="27" name="TextBox 26"/>
          <p:cNvSpPr txBox="1"/>
          <p:nvPr/>
        </p:nvSpPr>
        <p:spPr>
          <a:xfrm>
            <a:off x="6415887" y="3601918"/>
            <a:ext cx="5108295" cy="1377298"/>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Мнение модели: меняет — экстраполирует за пределы предсказанного</a:t>
            </a:r>
          </a:p>
          <a:p>
            <a:pPr algn="l">
              <a:lnSpc>
                <a:spcPct val="126000"/>
              </a:lnSpc>
            </a:pPr>
            <a:r>
              <a:rPr sz="1350" b="0" i="0">
                <a:solidFill>
                  <a:srgbClr val="21295C"/>
                </a:solidFill>
                <a:latin typeface="Arial"/>
              </a:rPr>
              <a:t>• Направление: рост → МЕНЬШЕ разнообразия</a:t>
            </a:r>
          </a:p>
          <a:p>
            <a:pPr algn="l">
              <a:lnSpc>
                <a:spcPct val="126000"/>
              </a:lnSpc>
            </a:pPr>
            <a:r>
              <a:rPr sz="1350" b="0" i="0">
                <a:solidFill>
                  <a:srgbClr val="21295C"/>
                </a:solidFill>
                <a:latin typeface="Arial"/>
              </a:rPr>
              <a:t>• Цена: два прохода сети на шаге</a:t>
            </a:r>
          </a:p>
          <a:p>
            <a:pPr algn="l">
              <a:lnSpc>
                <a:spcPct val="126000"/>
              </a:lnSpc>
            </a:pPr>
            <a:r>
              <a:rPr sz="1350" b="0" i="0">
                <a:solidFill>
                  <a:srgbClr val="21295C"/>
                </a:solidFill>
                <a:latin typeface="Arial"/>
              </a:rPr>
              <a:t>• Случайность: не при чём — она в стартовом шуме</a:t>
            </a:r>
          </a:p>
        </p:txBody>
      </p:sp>
      <p:sp>
        <p:nvSpPr>
          <p:cNvPr id="28" name="Rounded Rectangle 27"/>
          <p:cNvSpPr/>
          <p:nvPr/>
        </p:nvSpPr>
        <p:spPr>
          <a:xfrm>
            <a:off x="374904" y="5226105"/>
            <a:ext cx="11441887" cy="101010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317545"/>
            <a:ext cx="11112703" cy="91866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Тот же механизм Q/K/V: «Q про текущий шаг, K и V про контекст» превращается в «Q про картинку, K и V про текст».</a:t>
            </a:r>
          </a:p>
          <a:p>
            <a:pPr algn="l">
              <a:lnSpc>
                <a:spcPct val="126000"/>
              </a:lnSpc>
              <a:spcBef>
                <a:spcPts val="700"/>
              </a:spcBef>
            </a:pPr>
            <a:r>
              <a:rPr sz="1350" b="0" i="0">
                <a:solidFill>
                  <a:srgbClr val="21295C"/>
                </a:solidFill>
                <a:latin typeface="Arial"/>
              </a:rPr>
              <a:t/>
            </a:r>
            <a:r>
              <a:rPr sz="1350" b="1" i="0">
                <a:solidFill>
                  <a:srgbClr val="21295C"/>
                </a:solidFill>
                <a:latin typeface="Arial"/>
              </a:rPr>
              <a:t>CFG — это не температура.</a:t>
            </a:r>
            <a:r>
              <a:rPr sz="1350" b="0" i="0">
                <a:solidFill>
                  <a:srgbClr val="21295C"/>
                </a:solidFill>
                <a:latin typeface="Arial"/>
              </a:rPr>
              <a:t> Температура не меняет мнение модели и ничего не стоит. CFG меняет само предсказание и стоит вторым проходом сети на каждом шаге.</a:t>
            </a:r>
          </a:p>
        </p:txBody>
      </p:sp>
      <p:sp>
        <p:nvSpPr>
          <p:cNvPr id="30" name="Rectangle 2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перекрёстное внимание U-Net</a:t>
            </a:r>
            <a:r>
              <a:rPr sz="1200" b="0" i="1">
                <a:solidFill>
                  <a:srgbClr val="1C7293"/>
                </a:solidFill>
                <a:latin typeface="Arial"/>
              </a:rPr>
              <a:t> · </a:t>
            </a:r>
            <a:r>
              <a:rPr sz="1200" b="0" i="1">
                <a:solidFill>
                  <a:srgbClr val="1C7293"/>
                </a:solidFill>
                <a:latin typeface="Arial"/>
              </a:rPr>
              <a:t>совместное внимание MMDiT, SD3, 2024</a:t>
            </a:r>
            <a:r>
              <a:rPr sz="1200" b="0" i="1">
                <a:solidFill>
                  <a:srgbClr val="1C7293"/>
                </a:solidFill>
                <a:latin typeface="Arial"/>
              </a:rPr>
              <a:t> · </a:t>
            </a:r>
            <a:r>
              <a:rPr sz="1200" b="0" i="1">
                <a:solidFill>
                  <a:srgbClr val="1C7293"/>
                </a:solidFill>
                <a:latin typeface="Arial"/>
              </a:rPr>
              <a:t>Imagen, 2022</a:t>
            </a:r>
            <a:r>
              <a:rPr sz="1200" b="0" i="1">
                <a:solidFill>
                  <a:srgbClr val="1C7293"/>
                </a:solidFill>
                <a:latin typeface="Arial"/>
              </a:rPr>
              <a:t> · </a:t>
            </a:r>
            <a:r>
              <a:rPr sz="1200" b="0" i="1">
                <a:solidFill>
                  <a:srgbClr val="1C7293"/>
                </a:solidFill>
                <a:latin typeface="Arial"/>
              </a:rPr>
              <a:t>Ho и Salimans, «Classifier-Free Diffusion Guidance», 2022</a:t>
            </a:r>
            <a:r>
              <a:rPr sz="1200" b="0" i="1">
                <a:solidFill>
                  <a:srgbClr val="1C7293"/>
                </a:solidFill>
                <a:latin typeface="Arial"/>
              </a:rPr>
              <a:t> · </a:t>
            </a:r>
            <a:r>
              <a:rPr sz="1200" b="0" i="1">
                <a:solidFill>
                  <a:srgbClr val="1C7293"/>
                </a:solidFill>
                <a:latin typeface="Arial"/>
              </a:rPr>
              <a:t>Sadat и соавт., 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U-Net → DiT → MMDiT → спрямлённый поток, и адаптеры поверх любой из них</a:t>
            </a:r>
          </a:p>
        </p:txBody>
      </p:sp>
      <p:sp>
        <p:nvSpPr>
          <p:cNvPr id="4" name="Rounded Rectangle 3"/>
          <p:cNvSpPr/>
          <p:nvPr/>
        </p:nvSpPr>
        <p:spPr>
          <a:xfrm>
            <a:off x="502920" y="1335024"/>
            <a:ext cx="3618890" cy="2067310"/>
          </a:xfrm>
          <a:prstGeom prst="roundRect">
            <a:avLst>
              <a:gd name="adj" fmla="val 14743"/>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ИЗМЕРЕНИЕ, РАДИ КОТОРОГО СТОИТ ВЕСЬ КАДР</a:t>
            </a:r>
          </a:p>
        </p:txBody>
      </p:sp>
      <p:sp>
        <p:nvSpPr>
          <p:cNvPr id="6" name="TextBox 5"/>
          <p:cNvSpPr txBox="1"/>
          <p:nvPr/>
        </p:nvSpPr>
        <p:spPr>
          <a:xfrm>
            <a:off x="640080" y="1932846"/>
            <a:ext cx="3344570" cy="851372"/>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DiT-XL/8 — 676 млн парам., 7,39 Гфлопс, расстояние Фреше 106,41 · DiT-XL/2 — 675 млн, 118,64 Гфлопс, 19,47 (меньше — лучше)</a:t>
            </a:r>
          </a:p>
        </p:txBody>
      </p:sp>
      <p:sp>
        <p:nvSpPr>
          <p:cNvPr id="7" name="TextBox 6"/>
          <p:cNvSpPr txBox="1"/>
          <p:nvPr/>
        </p:nvSpPr>
        <p:spPr>
          <a:xfrm>
            <a:off x="640080" y="278421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рычаг сидит в том, как нарезали вход, а не в числе весов</a:t>
            </a:r>
          </a:p>
        </p:txBody>
      </p:sp>
      <p:sp>
        <p:nvSpPr>
          <p:cNvPr id="8" name="Rounded Rectangle 7"/>
          <p:cNvSpPr/>
          <p:nvPr/>
        </p:nvSpPr>
        <p:spPr>
          <a:xfrm>
            <a:off x="4286402" y="1335024"/>
            <a:ext cx="3618890" cy="2067310"/>
          </a:xfrm>
          <a:prstGeom prst="roundRect">
            <a:avLst>
              <a:gd name="adj" fmla="val 1474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ПОВЕРХ ЗАМОРОЖЕННОЙ БАЗЫ — ДОВЕСКИ ДВУХ РОДОВ</a:t>
            </a:r>
          </a:p>
        </p:txBody>
      </p:sp>
      <p:sp>
        <p:nvSpPr>
          <p:cNvPr id="10" name="TextBox 9"/>
          <p:cNvSpPr txBox="1"/>
          <p:nvPr/>
        </p:nvSpPr>
        <p:spPr>
          <a:xfrm>
            <a:off x="4423562" y="1932846"/>
            <a:ext cx="3344570"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LoRA/текстовая инверсия/DreamBooth обучают веса · ControlNet/IP-Adapter — веса не трогают</a:t>
            </a:r>
          </a:p>
        </p:txBody>
      </p:sp>
      <p:sp>
        <p:nvSpPr>
          <p:cNvPr id="11" name="TextBox 10"/>
          <p:cNvSpPr txBox="1"/>
          <p:nvPr/>
        </p:nvSpPr>
        <p:spPr>
          <a:xfrm>
            <a:off x="4423562" y="263144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лестница, что дообучение языковой модели; довески складываются буквально — стиль + поза + лицо на одной базе</a:t>
            </a:r>
          </a:p>
        </p:txBody>
      </p:sp>
      <p:sp>
        <p:nvSpPr>
          <p:cNvPr id="12" name="Rounded Rectangle 11"/>
          <p:cNvSpPr/>
          <p:nvPr/>
        </p:nvSpPr>
        <p:spPr>
          <a:xfrm>
            <a:off x="8069884" y="1335024"/>
            <a:ext cx="3618890" cy="2067310"/>
          </a:xfrm>
          <a:prstGeom prst="roundRect">
            <a:avLst>
              <a:gd name="adj" fmla="val 1474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ВОСПРОИЗВОДИМОСТЬ — 11 УСЛОВИЙ СРАЗУ</a:t>
            </a:r>
          </a:p>
        </p:txBody>
      </p:sp>
      <p:sp>
        <p:nvSpPr>
          <p:cNvPr id="14" name="TextBox 13"/>
          <p:cNvSpPr txBox="1"/>
          <p:nvPr/>
        </p:nvSpPr>
        <p:spPr>
          <a:xfrm>
            <a:off x="8207044" y="1932846"/>
            <a:ext cx="3344570"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веса + автокодировщик + адаптеры + seed + сэмплер + шаги + CFG + разрешение + версия + точность + карта</a:t>
            </a:r>
          </a:p>
        </p:txBody>
      </p:sp>
      <p:sp>
        <p:nvSpPr>
          <p:cNvPr id="15" name="TextBox 14"/>
          <p:cNvSpPr txBox="1"/>
          <p:nvPr/>
        </p:nvSpPr>
        <p:spPr>
          <a:xfrm>
            <a:off x="8207044" y="2605982"/>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языковой модели при температуре 0 не так: 1000 запросов к vLLM дали 80 разных ответов (Thinking Machines Lab, 2025)</a:t>
            </a:r>
          </a:p>
        </p:txBody>
      </p:sp>
      <p:sp>
        <p:nvSpPr>
          <p:cNvPr id="16" name="Rounded Rectangle 15"/>
          <p:cNvSpPr/>
          <p:nvPr/>
        </p:nvSpPr>
        <p:spPr>
          <a:xfrm>
            <a:off x="502920" y="3585214"/>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85216" y="3630934"/>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U-Net, 2015–2023: свёрточный каркас, трансформерные блоки вставками</a:t>
            </a:r>
          </a:p>
        </p:txBody>
      </p:sp>
      <p:sp>
        <p:nvSpPr>
          <p:cNvPr id="18" name="Right Arrow 17"/>
          <p:cNvSpPr/>
          <p:nvPr/>
        </p:nvSpPr>
        <p:spPr>
          <a:xfrm>
            <a:off x="3139363" y="4110804"/>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3367963" y="3585214"/>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3450259" y="3630934"/>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DiT, декабрь 2022: латент режется на патчи, каждый проецируется в вектор</a:t>
            </a:r>
          </a:p>
        </p:txBody>
      </p:sp>
      <p:sp>
        <p:nvSpPr>
          <p:cNvPr id="21" name="Right Arrow 20"/>
          <p:cNvSpPr/>
          <p:nvPr/>
        </p:nvSpPr>
        <p:spPr>
          <a:xfrm>
            <a:off x="6004407" y="4110804"/>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233007" y="3585214"/>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6315303" y="3630934"/>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MMDiT, март 2024: текст и картинка в одной последовательности</a:t>
            </a:r>
          </a:p>
        </p:txBody>
      </p:sp>
      <p:sp>
        <p:nvSpPr>
          <p:cNvPr id="24" name="Right Arrow 23"/>
          <p:cNvSpPr/>
          <p:nvPr/>
        </p:nvSpPr>
        <p:spPr>
          <a:xfrm>
            <a:off x="8869451" y="4110804"/>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9098051" y="3585214"/>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9180347" y="3630934"/>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спрямлённый поток, 2022→2026: шум и данные соединены прямой</a:t>
            </a:r>
          </a:p>
        </p:txBody>
      </p:sp>
      <p:sp>
        <p:nvSpPr>
          <p:cNvPr id="27" name="TextBox 26"/>
          <p:cNvSpPr txBox="1"/>
          <p:nvPr/>
        </p:nvSpPr>
        <p:spPr>
          <a:xfrm>
            <a:off x="502920" y="481013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поколения несущей архитектуры, слева направо — время</a:t>
            </a:r>
          </a:p>
        </p:txBody>
      </p:sp>
      <p:sp>
        <p:nvSpPr>
          <p:cNvPr id="28" name="Rounded Rectangle 27"/>
          <p:cNvSpPr/>
          <p:nvPr/>
        </p:nvSpPr>
        <p:spPr>
          <a:xfrm>
            <a:off x="374904" y="5112813"/>
            <a:ext cx="11441887" cy="112339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204253"/>
            <a:ext cx="11112703" cy="103195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Весов столько же — токенов в 16 раз больше, и это даёт пятикратное улучшение метрики.</a:t>
            </a:r>
          </a:p>
          <a:p>
            <a:pPr algn="l">
              <a:lnSpc>
                <a:spcPct val="126000"/>
              </a:lnSpc>
              <a:spcBef>
                <a:spcPts val="700"/>
              </a:spcBef>
            </a:pPr>
            <a:r>
              <a:rPr sz="1500" b="0" i="0">
                <a:solidFill>
                  <a:srgbClr val="21295C"/>
                </a:solidFill>
                <a:latin typeface="Arial"/>
              </a:rPr>
              <a:t/>
            </a:r>
            <a:r>
              <a:rPr sz="1500" b="1" i="0">
                <a:solidFill>
                  <a:srgbClr val="21295C"/>
                </a:solidFill>
                <a:latin typeface="Arial"/>
              </a:rPr>
              <a:t>Поверх любой архитектуры — адаптеры: база заморожена, учится маленький довесок, довески складываются буквально.</a:t>
            </a:r>
          </a:p>
        </p:txBody>
      </p:sp>
      <p:sp>
        <p:nvSpPr>
          <p:cNvPr id="30" name="Rectangle 2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Ronneberger и соавт., 2015 (U-Net)</a:t>
            </a:r>
            <a:r>
              <a:rPr sz="1200" b="0" i="1">
                <a:solidFill>
                  <a:srgbClr val="1C7293"/>
                </a:solidFill>
                <a:latin typeface="Arial"/>
              </a:rPr>
              <a:t> · </a:t>
            </a:r>
            <a:r>
              <a:rPr sz="1200" b="0" i="1">
                <a:solidFill>
                  <a:srgbClr val="1C7293"/>
                </a:solidFill>
                <a:latin typeface="Arial"/>
              </a:rPr>
              <a:t>Peebles, Xie, 2022 (DiT)</a:t>
            </a:r>
            <a:r>
              <a:rPr sz="1200" b="0" i="1">
                <a:solidFill>
                  <a:srgbClr val="1C7293"/>
                </a:solidFill>
                <a:latin typeface="Arial"/>
              </a:rPr>
              <a:t> · </a:t>
            </a:r>
            <a:r>
              <a:rPr sz="1200" b="0" i="1">
                <a:solidFill>
                  <a:srgbClr val="1C7293"/>
                </a:solidFill>
                <a:latin typeface="Arial"/>
              </a:rPr>
              <a:t>техническая статья SD3, 2024 (MMDiT)</a:t>
            </a:r>
            <a:r>
              <a:rPr sz="1200" b="0" i="1">
                <a:solidFill>
                  <a:srgbClr val="1C7293"/>
                </a:solidFill>
                <a:latin typeface="Arial"/>
              </a:rPr>
              <a:t> · </a:t>
            </a:r>
            <a:r>
              <a:rPr sz="1200" b="0" i="1">
                <a:solidFill>
                  <a:srgbClr val="1C7293"/>
                </a:solidFill>
                <a:latin typeface="Arial"/>
              </a:rPr>
              <a:t>Liu, Gong, Liu и Lipman с соавт., 2022 (спрямлённый поток)</a:t>
            </a:r>
            <a:r>
              <a:rPr sz="1200" b="0" i="1">
                <a:solidFill>
                  <a:srgbClr val="1C7293"/>
                </a:solidFill>
                <a:latin typeface="Arial"/>
              </a:rPr>
              <a:t> · </a:t>
            </a:r>
            <a:r>
              <a:rPr sz="1200" b="0" i="1">
                <a:solidFill>
                  <a:srgbClr val="1C7293"/>
                </a:solidFill>
                <a:latin typeface="Arial"/>
              </a:rPr>
              <a:t>LoRA</a:t>
            </a:r>
            <a:r>
              <a:rPr sz="1200" b="0" i="1">
                <a:solidFill>
                  <a:srgbClr val="1C7293"/>
                </a:solidFill>
                <a:latin typeface="Arial"/>
              </a:rPr>
              <a:t> · </a:t>
            </a:r>
            <a:r>
              <a:rPr sz="1200" b="0" i="1">
                <a:solidFill>
                  <a:srgbClr val="1C7293"/>
                </a:solidFill>
                <a:latin typeface="Arial"/>
              </a:rPr>
              <a:t>текстовая инверсия</a:t>
            </a:r>
            <a:r>
              <a:rPr sz="1200" b="0" i="1">
                <a:solidFill>
                  <a:srgbClr val="1C7293"/>
                </a:solidFill>
                <a:latin typeface="Arial"/>
              </a:rPr>
              <a:t> · </a:t>
            </a:r>
            <a:r>
              <a:rPr sz="1200" b="0" i="1">
                <a:solidFill>
                  <a:srgbClr val="1C7293"/>
                </a:solidFill>
                <a:latin typeface="Arial"/>
              </a:rPr>
              <a:t>DreamBooth</a:t>
            </a:r>
            <a:r>
              <a:rPr sz="1200" b="0" i="1">
                <a:solidFill>
                  <a:srgbClr val="1C7293"/>
                </a:solidFill>
                <a:latin typeface="Arial"/>
              </a:rPr>
              <a:t> · </a:t>
            </a:r>
            <a:r>
              <a:rPr sz="1200" b="0" i="1">
                <a:solidFill>
                  <a:srgbClr val="1C7293"/>
                </a:solidFill>
                <a:latin typeface="Arial"/>
              </a:rPr>
              <a:t>ControlNet</a:t>
            </a:r>
            <a:r>
              <a:rPr sz="1200" b="0" i="1">
                <a:solidFill>
                  <a:srgbClr val="1C7293"/>
                </a:solidFill>
                <a:latin typeface="Arial"/>
              </a:rPr>
              <a:t> · </a:t>
            </a:r>
            <a:r>
              <a:rPr sz="1200" b="0" i="1">
                <a:solidFill>
                  <a:srgbClr val="1C7293"/>
                </a:solidFill>
                <a:latin typeface="Arial"/>
              </a:rPr>
              <a:t>IP-Adapter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Языковая модель против медиа-модели: устройство, управление — и обучить дешевле, запустить дороже</a:t>
            </a:r>
          </a:p>
        </p:txBody>
      </p:sp>
      <p:sp>
        <p:nvSpPr>
          <p:cNvPr id="4" name="Rounded Rectangle 3"/>
          <p:cNvSpPr/>
          <p:nvPr/>
        </p:nvSpPr>
        <p:spPr>
          <a:xfrm>
            <a:off x="502920" y="1335024"/>
            <a:ext cx="5510631"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КАРТИНОЧНЫЕ МОДЕЛИ ПЕРЕСТАЛИ РАСТИ</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SD v1 в 2022 и SD3 в 2024 — одно и то же число операций обучения</a:t>
            </a:r>
          </a:p>
        </p:txBody>
      </p:sp>
      <p:sp>
        <p:nvSpPr>
          <p:cNvPr id="7" name="TextBox 6"/>
          <p:cNvSpPr txBox="1"/>
          <p:nvPr/>
        </p:nvSpPr>
        <p:spPr>
          <a:xfrm>
            <a:off x="640080" y="2542797"/>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те же два года вычисления передовых языковых моделей росли в 4–5 раз в год; разрыв растёт не потому, что картинки дешевеют, а потому, что языковые модели дорожают</a:t>
            </a:r>
          </a:p>
        </p:txBody>
      </p:sp>
      <p:sp>
        <p:nvSpPr>
          <p:cNvPr id="8" name="Rounded Rectangle 7"/>
          <p:cNvSpPr/>
          <p:nvPr/>
        </p:nvSpPr>
        <p:spPr>
          <a:xfrm>
            <a:off x="6178143" y="1335024"/>
            <a:ext cx="5510631"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ПРОЗРАЧНОСТЬ — ХУЖЕ, ЧЕМ У ЯЗЫКОВЫХ МОДЕЛЕЙ</a:t>
            </a:r>
          </a:p>
        </p:txBody>
      </p:sp>
      <p:sp>
        <p:nvSpPr>
          <p:cNvPr id="10" name="TextBox 9"/>
          <p:cNvSpPr txBox="1"/>
          <p:nvPr/>
        </p:nvSpPr>
        <p:spPr>
          <a:xfrm>
            <a:off x="6315303" y="1725375"/>
            <a:ext cx="5236311"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из пяти картиночных моделей числа раскрыты только у двух: SD v1 и SD3</a:t>
            </a:r>
          </a:p>
        </p:txBody>
      </p:sp>
      <p:sp>
        <p:nvSpPr>
          <p:cNvPr id="11" name="TextBox 10"/>
          <p:cNvSpPr txBox="1"/>
          <p:nvPr/>
        </p:nvSpPr>
        <p:spPr>
          <a:xfrm>
            <a:off x="6315303" y="24748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открытым весам считается размер модели, но не стоимость её создания</a:t>
            </a:r>
          </a:p>
        </p:txBody>
      </p:sp>
      <p:sp>
        <p:nvSpPr>
          <p:cNvPr id="12" name="Rounded Rectangle 11"/>
          <p:cNvSpPr/>
          <p:nvPr/>
        </p:nvSpPr>
        <p:spPr>
          <a:xfrm>
            <a:off x="374904" y="3405128"/>
            <a:ext cx="11441887" cy="2831079"/>
          </a:xfrm>
          <a:prstGeom prst="roundRect">
            <a:avLst>
              <a:gd name="adj" fmla="val 10766"/>
            </a:avLst>
          </a:prstGeom>
          <a:solidFill>
            <a:srgbClr val="F4F7FA"/>
          </a:solidFill>
          <a:ln w="19050">
            <a:solidFill>
              <a:srgbClr val="1C7293"/>
            </a:solidFill>
          </a:ln>
          <a:effectLst/>
        </p:spPr>
        <p:txBody>
          <a:bodyPr rtlCol="0" anchor="ctr"/>
          <a:lstStyle/>
          <a:p>
            <a:pPr algn="ctr"/>
          </a:p>
        </p:txBody>
      </p:sp>
      <p:sp>
        <p:nvSpPr>
          <p:cNvPr id="13" name="Rectangle 12"/>
          <p:cNvSpPr/>
          <p:nvPr/>
        </p:nvSpPr>
        <p:spPr>
          <a:xfrm>
            <a:off x="539496" y="3496568"/>
            <a:ext cx="2362176" cy="365760"/>
          </a:xfrm>
          <a:prstGeom prst="rect">
            <a:avLst/>
          </a:prstGeom>
          <a:solidFill>
            <a:srgbClr val="065A82"/>
          </a:solidFill>
          <a:ln>
            <a:noFill/>
          </a:ln>
          <a:effectLst/>
        </p:spPr>
        <p:txBody>
          <a:bodyPr rtlCol="0" anchor="ctr"/>
          <a:lstStyle/>
          <a:p>
            <a:pPr algn="ctr"/>
          </a:p>
        </p:txBody>
      </p:sp>
      <p:sp>
        <p:nvSpPr>
          <p:cNvPr id="14" name="TextBox 13"/>
          <p:cNvSpPr txBox="1"/>
          <p:nvPr/>
        </p:nvSpPr>
        <p:spPr>
          <a:xfrm>
            <a:off x="685800" y="3496568"/>
            <a:ext cx="2069568" cy="365760"/>
          </a:xfrm>
          <a:prstGeom prst="rect">
            <a:avLst/>
          </a:prstGeom>
          <a:noFill/>
        </p:spPr>
        <p:txBody>
          <a:bodyPr wrap="square" lIns="0" rIns="0" tIns="0" bIns="0" anchor="ctr">
            <a:spAutoFit/>
          </a:bodyPr>
          <a:lstStyle/>
          <a:p>
            <a:pPr algn="l">
              <a:lnSpc>
                <a:spcPct val="116000"/>
              </a:lnSpc>
            </a:pPr>
            <a:r>
              <a:rPr sz="950" b="1" i="0">
                <a:solidFill>
                  <a:srgbClr val="FFFFFF"/>
                </a:solidFill>
                <a:latin typeface="Arial"/>
              </a:rPr>
              <a:t/>
            </a:r>
          </a:p>
        </p:txBody>
      </p:sp>
      <p:sp>
        <p:nvSpPr>
          <p:cNvPr id="15" name="Rectangle 14"/>
          <p:cNvSpPr/>
          <p:nvPr/>
        </p:nvSpPr>
        <p:spPr>
          <a:xfrm>
            <a:off x="2901672" y="3496568"/>
            <a:ext cx="4176165" cy="365760"/>
          </a:xfrm>
          <a:prstGeom prst="rect">
            <a:avLst/>
          </a:prstGeom>
          <a:solidFill>
            <a:srgbClr val="065A82"/>
          </a:solidFill>
          <a:ln>
            <a:noFill/>
          </a:ln>
          <a:effectLst/>
        </p:spPr>
        <p:txBody>
          <a:bodyPr rtlCol="0" anchor="ctr"/>
          <a:lstStyle/>
          <a:p>
            <a:pPr algn="ctr"/>
          </a:p>
        </p:txBody>
      </p:sp>
      <p:sp>
        <p:nvSpPr>
          <p:cNvPr id="16" name="TextBox 15"/>
          <p:cNvSpPr txBox="1"/>
          <p:nvPr/>
        </p:nvSpPr>
        <p:spPr>
          <a:xfrm>
            <a:off x="3047976" y="3496568"/>
            <a:ext cx="3883557" cy="365760"/>
          </a:xfrm>
          <a:prstGeom prst="rect">
            <a:avLst/>
          </a:prstGeom>
          <a:noFill/>
        </p:spPr>
        <p:txBody>
          <a:bodyPr wrap="square" lIns="0" rIns="0" tIns="0" bIns="0" anchor="ctr">
            <a:spAutoFit/>
          </a:bodyPr>
          <a:lstStyle/>
          <a:p>
            <a:pPr algn="l">
              <a:lnSpc>
                <a:spcPct val="116000"/>
              </a:lnSpc>
            </a:pPr>
            <a:r>
              <a:rPr sz="950" b="1" i="0">
                <a:solidFill>
                  <a:srgbClr val="FFFFFF"/>
                </a:solidFill>
                <a:latin typeface="Arial"/>
              </a:rPr>
              <a:t>Языковая модель</a:t>
            </a:r>
          </a:p>
        </p:txBody>
      </p:sp>
      <p:sp>
        <p:nvSpPr>
          <p:cNvPr id="17" name="Rectangle 16"/>
          <p:cNvSpPr/>
          <p:nvPr/>
        </p:nvSpPr>
        <p:spPr>
          <a:xfrm>
            <a:off x="7077837" y="3496568"/>
            <a:ext cx="4574361" cy="365760"/>
          </a:xfrm>
          <a:prstGeom prst="rect">
            <a:avLst/>
          </a:prstGeom>
          <a:solidFill>
            <a:srgbClr val="065A82"/>
          </a:solidFill>
          <a:ln>
            <a:noFill/>
          </a:ln>
          <a:effectLst/>
        </p:spPr>
        <p:txBody>
          <a:bodyPr rtlCol="0" anchor="ctr"/>
          <a:lstStyle/>
          <a:p>
            <a:pPr algn="ctr"/>
          </a:p>
        </p:txBody>
      </p:sp>
      <p:sp>
        <p:nvSpPr>
          <p:cNvPr id="18" name="TextBox 17"/>
          <p:cNvSpPr txBox="1"/>
          <p:nvPr/>
        </p:nvSpPr>
        <p:spPr>
          <a:xfrm>
            <a:off x="7224141" y="3496568"/>
            <a:ext cx="4281753" cy="365760"/>
          </a:xfrm>
          <a:prstGeom prst="rect">
            <a:avLst/>
          </a:prstGeom>
          <a:noFill/>
        </p:spPr>
        <p:txBody>
          <a:bodyPr wrap="square" lIns="0" rIns="0" tIns="0" bIns="0" anchor="ctr">
            <a:spAutoFit/>
          </a:bodyPr>
          <a:lstStyle/>
          <a:p>
            <a:pPr algn="l">
              <a:lnSpc>
                <a:spcPct val="116000"/>
              </a:lnSpc>
            </a:pPr>
            <a:r>
              <a:rPr sz="950" b="1" i="0">
                <a:solidFill>
                  <a:srgbClr val="FFFFFF"/>
                </a:solidFill>
                <a:latin typeface="Arial"/>
              </a:rPr>
              <a:t>Медиа-модель (расшумление / поток)</a:t>
            </a:r>
          </a:p>
        </p:txBody>
      </p:sp>
      <p:sp>
        <p:nvSpPr>
          <p:cNvPr id="19" name="Rectangle 18"/>
          <p:cNvSpPr/>
          <p:nvPr/>
        </p:nvSpPr>
        <p:spPr>
          <a:xfrm>
            <a:off x="539496" y="3862328"/>
            <a:ext cx="2362176" cy="365760"/>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685800" y="3862328"/>
            <a:ext cx="2069568" cy="365760"/>
          </a:xfrm>
          <a:prstGeom prst="rect">
            <a:avLst/>
          </a:prstGeom>
          <a:noFill/>
        </p:spPr>
        <p:txBody>
          <a:bodyPr wrap="square" lIns="0" rIns="0" tIns="0" bIns="0" anchor="ctr">
            <a:spAutoFit/>
          </a:bodyPr>
          <a:lstStyle/>
          <a:p>
            <a:pPr algn="l">
              <a:lnSpc>
                <a:spcPct val="116000"/>
              </a:lnSpc>
            </a:pPr>
            <a:r>
              <a:rPr sz="950" b="1" i="0">
                <a:solidFill>
                  <a:srgbClr val="21295C"/>
                </a:solidFill>
                <a:latin typeface="Arial"/>
              </a:rPr>
              <a:t>Единица данных</a:t>
            </a:r>
          </a:p>
        </p:txBody>
      </p:sp>
      <p:sp>
        <p:nvSpPr>
          <p:cNvPr id="21" name="Rectangle 20"/>
          <p:cNvSpPr/>
          <p:nvPr/>
        </p:nvSpPr>
        <p:spPr>
          <a:xfrm>
            <a:off x="2901672" y="3862328"/>
            <a:ext cx="4176165" cy="365760"/>
          </a:xfrm>
          <a:prstGeom prst="rect">
            <a:avLst/>
          </a:prstGeom>
          <a:solidFill>
            <a:srgbClr val="FFFFFF"/>
          </a:solidFill>
          <a:ln w="12700">
            <a:solidFill>
              <a:srgbClr val="D9E2EC"/>
            </a:solidFill>
          </a:ln>
          <a:effectLst/>
        </p:spPr>
        <p:txBody>
          <a:bodyPr rtlCol="0" anchor="ctr"/>
          <a:lstStyle/>
          <a:p>
            <a:pPr algn="ctr"/>
          </a:p>
        </p:txBody>
      </p:sp>
      <p:sp>
        <p:nvSpPr>
          <p:cNvPr id="22" name="TextBox 21"/>
          <p:cNvSpPr txBox="1"/>
          <p:nvPr/>
        </p:nvSpPr>
        <p:spPr>
          <a:xfrm>
            <a:off x="3047976" y="3862328"/>
            <a:ext cx="3883557"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токен из словаря ~200 тыс.</a:t>
            </a:r>
          </a:p>
        </p:txBody>
      </p:sp>
      <p:sp>
        <p:nvSpPr>
          <p:cNvPr id="23" name="Rectangle 22"/>
          <p:cNvSpPr/>
          <p:nvPr/>
        </p:nvSpPr>
        <p:spPr>
          <a:xfrm>
            <a:off x="7077837" y="3862328"/>
            <a:ext cx="4574361" cy="365760"/>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7224141" y="3862328"/>
            <a:ext cx="4281753"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латентный патч, непрерывный вектор. </a:t>
            </a:r>
            <a:r>
              <a:rPr sz="950" b="1" i="0">
                <a:solidFill>
                  <a:srgbClr val="21295C"/>
                </a:solidFill>
                <a:latin typeface="Arial"/>
              </a:rPr>
              <a:t>Словаря нет</a:t>
            </a:r>
          </a:p>
        </p:txBody>
      </p:sp>
      <p:sp>
        <p:nvSpPr>
          <p:cNvPr id="25" name="Rectangle 24"/>
          <p:cNvSpPr/>
          <p:nvPr/>
        </p:nvSpPr>
        <p:spPr>
          <a:xfrm>
            <a:off x="539496" y="4228088"/>
            <a:ext cx="2362176" cy="365760"/>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85800" y="4228088"/>
            <a:ext cx="2069568" cy="365760"/>
          </a:xfrm>
          <a:prstGeom prst="rect">
            <a:avLst/>
          </a:prstGeom>
          <a:noFill/>
        </p:spPr>
        <p:txBody>
          <a:bodyPr wrap="square" lIns="0" rIns="0" tIns="0" bIns="0" anchor="ctr">
            <a:spAutoFit/>
          </a:bodyPr>
          <a:lstStyle/>
          <a:p>
            <a:pPr algn="l">
              <a:lnSpc>
                <a:spcPct val="116000"/>
              </a:lnSpc>
            </a:pPr>
            <a:r>
              <a:rPr sz="950" b="1" i="0">
                <a:solidFill>
                  <a:srgbClr val="21295C"/>
                </a:solidFill>
                <a:latin typeface="Arial"/>
              </a:rPr>
              <a:t>Кэш</a:t>
            </a:r>
          </a:p>
        </p:txBody>
      </p:sp>
      <p:sp>
        <p:nvSpPr>
          <p:cNvPr id="27" name="Rectangle 26"/>
          <p:cNvSpPr/>
          <p:nvPr/>
        </p:nvSpPr>
        <p:spPr>
          <a:xfrm>
            <a:off x="2901672" y="4228088"/>
            <a:ext cx="4176165" cy="365760"/>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3047976" y="4228088"/>
            <a:ext cx="3883557"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работает на неизменном контексте</a:t>
            </a:r>
          </a:p>
        </p:txBody>
      </p:sp>
      <p:sp>
        <p:nvSpPr>
          <p:cNvPr id="29" name="Rectangle 28"/>
          <p:cNvSpPr/>
          <p:nvPr/>
        </p:nvSpPr>
        <p:spPr>
          <a:xfrm>
            <a:off x="7077837" y="4228088"/>
            <a:ext cx="4574361" cy="365760"/>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7224141" y="4228088"/>
            <a:ext cx="4281753" cy="365760"/>
          </a:xfrm>
          <a:prstGeom prst="rect">
            <a:avLst/>
          </a:prstGeom>
          <a:noFill/>
        </p:spPr>
        <p:txBody>
          <a:bodyPr wrap="square" lIns="0" rIns="0" tIns="0" bIns="0" anchor="ctr">
            <a:spAutoFit/>
          </a:bodyPr>
          <a:lstStyle/>
          <a:p>
            <a:pPr algn="l">
              <a:lnSpc>
                <a:spcPct val="116000"/>
              </a:lnSpc>
            </a:pPr>
            <a:r>
              <a:rPr sz="950" b="1" i="0">
                <a:solidFill>
                  <a:srgbClr val="21295C"/>
                </a:solidFill>
                <a:latin typeface="Arial"/>
              </a:rPr>
              <a:t>невозможен</a:t>
            </a:r>
            <a:r>
              <a:rPr sz="950" b="0" i="0">
                <a:solidFill>
                  <a:srgbClr val="21295C"/>
                </a:solidFill>
                <a:latin typeface="Arial"/>
              </a:rPr>
              <a:t>: все 4096 токенов меняются каждый шаг</a:t>
            </a:r>
          </a:p>
        </p:txBody>
      </p:sp>
      <p:sp>
        <p:nvSpPr>
          <p:cNvPr id="31" name="Rectangle 30"/>
          <p:cNvSpPr/>
          <p:nvPr/>
        </p:nvSpPr>
        <p:spPr>
          <a:xfrm>
            <a:off x="539496" y="4593848"/>
            <a:ext cx="2362176" cy="365760"/>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685800" y="4593848"/>
            <a:ext cx="2069568" cy="365760"/>
          </a:xfrm>
          <a:prstGeom prst="rect">
            <a:avLst/>
          </a:prstGeom>
          <a:noFill/>
        </p:spPr>
        <p:txBody>
          <a:bodyPr wrap="square" lIns="0" rIns="0" tIns="0" bIns="0" anchor="ctr">
            <a:spAutoFit/>
          </a:bodyPr>
          <a:lstStyle/>
          <a:p>
            <a:pPr algn="l">
              <a:lnSpc>
                <a:spcPct val="116000"/>
              </a:lnSpc>
            </a:pPr>
            <a:r>
              <a:rPr sz="950" b="1" i="0">
                <a:solidFill>
                  <a:srgbClr val="21295C"/>
                </a:solidFill>
                <a:latin typeface="Arial"/>
              </a:rPr>
              <a:t>Чем управляется выход</a:t>
            </a:r>
          </a:p>
        </p:txBody>
      </p:sp>
      <p:sp>
        <p:nvSpPr>
          <p:cNvPr id="33" name="Rectangle 32"/>
          <p:cNvSpPr/>
          <p:nvPr/>
        </p:nvSpPr>
        <p:spPr>
          <a:xfrm>
            <a:off x="2901672" y="4593848"/>
            <a:ext cx="4176165" cy="365760"/>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3047976" y="4593848"/>
            <a:ext cx="3883557"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температура, маскирование — </a:t>
            </a:r>
            <a:r>
              <a:rPr sz="950" b="1" i="0">
                <a:solidFill>
                  <a:srgbClr val="21295C"/>
                </a:solidFill>
                <a:latin typeface="Arial"/>
              </a:rPr>
              <a:t>гарантия формы</a:t>
            </a:r>
          </a:p>
        </p:txBody>
      </p:sp>
      <p:sp>
        <p:nvSpPr>
          <p:cNvPr id="35" name="Rectangle 34"/>
          <p:cNvSpPr/>
          <p:nvPr/>
        </p:nvSpPr>
        <p:spPr>
          <a:xfrm>
            <a:off x="7077837" y="4593848"/>
            <a:ext cx="4574361" cy="365760"/>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7224141" y="4593848"/>
            <a:ext cx="4281753"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CFG, адаптеры. </a:t>
            </a:r>
            <a:r>
              <a:rPr sz="950" b="1" i="0">
                <a:solidFill>
                  <a:srgbClr val="21295C"/>
                </a:solidFill>
                <a:latin typeface="Arial"/>
              </a:rPr>
              <a:t>Гарантий нет ни одной</a:t>
            </a:r>
          </a:p>
        </p:txBody>
      </p:sp>
      <p:sp>
        <p:nvSpPr>
          <p:cNvPr id="37" name="Rectangle 36"/>
          <p:cNvSpPr/>
          <p:nvPr/>
        </p:nvSpPr>
        <p:spPr>
          <a:xfrm>
            <a:off x="539496" y="4959608"/>
            <a:ext cx="2362176" cy="365760"/>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4959608"/>
            <a:ext cx="2069568" cy="365760"/>
          </a:xfrm>
          <a:prstGeom prst="rect">
            <a:avLst/>
          </a:prstGeom>
          <a:noFill/>
        </p:spPr>
        <p:txBody>
          <a:bodyPr wrap="square" lIns="0" rIns="0" tIns="0" bIns="0" anchor="ctr">
            <a:spAutoFit/>
          </a:bodyPr>
          <a:lstStyle/>
          <a:p>
            <a:pPr algn="l">
              <a:lnSpc>
                <a:spcPct val="116000"/>
              </a:lnSpc>
            </a:pPr>
            <a:r>
              <a:rPr sz="950" b="1" i="0">
                <a:solidFill>
                  <a:srgbClr val="21295C"/>
                </a:solidFill>
                <a:latin typeface="Arial"/>
              </a:rPr>
              <a:t>Провенанс</a:t>
            </a:r>
          </a:p>
        </p:txBody>
      </p:sp>
      <p:sp>
        <p:nvSpPr>
          <p:cNvPr id="39" name="Rectangle 38"/>
          <p:cNvSpPr/>
          <p:nvPr/>
        </p:nvSpPr>
        <p:spPr>
          <a:xfrm>
            <a:off x="2901672" y="4959608"/>
            <a:ext cx="4176165" cy="365760"/>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3047976" y="4959608"/>
            <a:ext cx="3883557"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у ответа с поиском — </a:t>
            </a:r>
            <a:r>
              <a:rPr sz="950" b="1" i="0">
                <a:solidFill>
                  <a:srgbClr val="21295C"/>
                </a:solidFill>
                <a:latin typeface="Arial"/>
              </a:rPr>
              <a:t>есть</a:t>
            </a:r>
            <a:r>
              <a:rPr sz="950" b="0" i="0">
                <a:solidFill>
                  <a:srgbClr val="21295C"/>
                </a:solidFill>
                <a:latin typeface="Arial"/>
              </a:rPr>
              <a:t> ссылка</a:t>
            </a:r>
          </a:p>
        </p:txBody>
      </p:sp>
      <p:sp>
        <p:nvSpPr>
          <p:cNvPr id="41" name="Rectangle 40"/>
          <p:cNvSpPr/>
          <p:nvPr/>
        </p:nvSpPr>
        <p:spPr>
          <a:xfrm>
            <a:off x="7077837" y="4959608"/>
            <a:ext cx="4574361" cy="365760"/>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7224141" y="4959608"/>
            <a:ext cx="4281753" cy="365760"/>
          </a:xfrm>
          <a:prstGeom prst="rect">
            <a:avLst/>
          </a:prstGeom>
          <a:noFill/>
        </p:spPr>
        <p:txBody>
          <a:bodyPr wrap="square" lIns="0" rIns="0" tIns="0" bIns="0" anchor="ctr">
            <a:spAutoFit/>
          </a:bodyPr>
          <a:lstStyle/>
          <a:p>
            <a:pPr algn="l">
              <a:lnSpc>
                <a:spcPct val="116000"/>
              </a:lnSpc>
            </a:pPr>
            <a:r>
              <a:rPr sz="950" b="0" i="0">
                <a:solidFill>
                  <a:srgbClr val="21295C"/>
                </a:solidFill>
                <a:latin typeface="Arial"/>
              </a:rPr>
              <a:t>у кадра её </a:t>
            </a:r>
            <a:r>
              <a:rPr sz="950" b="1" i="0">
                <a:solidFill>
                  <a:srgbClr val="21295C"/>
                </a:solidFill>
                <a:latin typeface="Arial"/>
              </a:rPr>
              <a:t>нет и не может быть</a:t>
            </a:r>
          </a:p>
        </p:txBody>
      </p:sp>
      <p:sp>
        <p:nvSpPr>
          <p:cNvPr id="43" name="TextBox 42"/>
          <p:cNvSpPr txBox="1"/>
          <p:nvPr/>
        </p:nvSpPr>
        <p:spPr>
          <a:xfrm>
            <a:off x="539496" y="5471672"/>
            <a:ext cx="11112703" cy="194897"/>
          </a:xfrm>
          <a:prstGeom prst="rect">
            <a:avLst/>
          </a:prstGeom>
          <a:noFill/>
        </p:spPr>
        <p:txBody>
          <a:bodyPr wrap="square" lIns="0" rIns="0" tIns="0" bIns="0" anchor="t">
            <a:spAutoFit/>
          </a:bodyPr>
          <a:lstStyle/>
          <a:p>
            <a:pPr algn="l">
              <a:lnSpc>
                <a:spcPct val="124000"/>
              </a:lnSpc>
            </a:pPr>
            <a:r>
              <a:rPr sz="1000" b="0" i="1">
                <a:solidFill>
                  <a:srgbClr val="1C7293"/>
                </a:solidFill>
                <a:latin typeface="Arial"/>
              </a:rPr>
              <a:t>Полная таблица — одиннадцать строк, остальные семь — в заметках.</a:t>
            </a:r>
          </a:p>
        </p:txBody>
      </p:sp>
      <p:sp>
        <p:nvSpPr>
          <p:cNvPr id="44" name="TextBox 43"/>
          <p:cNvSpPr txBox="1"/>
          <p:nvPr/>
        </p:nvSpPr>
        <p:spPr>
          <a:xfrm>
            <a:off x="539496" y="5812873"/>
            <a:ext cx="11112703" cy="409284"/>
          </a:xfrm>
          <a:prstGeom prst="rect">
            <a:avLst/>
          </a:prstGeom>
          <a:noFill/>
        </p:spPr>
        <p:txBody>
          <a:bodyPr wrap="square" lIns="0" rIns="0" tIns="0" bIns="0" anchor="t">
            <a:spAutoFit/>
          </a:bodyPr>
          <a:lstStyle/>
          <a:p>
            <a:pPr algn="l">
              <a:lnSpc>
                <a:spcPct val="124000"/>
              </a:lnSpc>
            </a:pPr>
            <a:r>
              <a:rPr sz="1050" b="1" i="0">
                <a:solidFill>
                  <a:srgbClr val="21295C"/>
                </a:solidFill>
                <a:latin typeface="Arial"/>
              </a:rPr>
              <a:t>Обучить дешевле:</a:t>
            </a:r>
            <a:r>
              <a:rPr sz="1000" b="0" i="0">
                <a:solidFill>
                  <a:srgbClr val="21295C"/>
                </a:solidFill>
                <a:latin typeface="Arial"/>
              </a:rPr>
              <a:t> 150 000 часов видеокарт против ≈57 млн у передовой языковой. </a:t>
            </a:r>
            <a:r>
              <a:rPr sz="1050" b="1" i="0">
                <a:solidFill>
                  <a:srgbClr val="21295C"/>
                </a:solidFill>
                <a:latin typeface="Arial"/>
              </a:rPr>
              <a:t>Запустить дороже:</a:t>
            </a:r>
            <a:r>
              <a:rPr sz="1000" b="0" i="0">
                <a:solidFill>
                  <a:srgbClr val="21295C"/>
                </a:solidFill>
                <a:latin typeface="Arial"/>
              </a:rPr>
              <a:t> $120 за млн токенов картинки против $12 за млн текста у той же модели.</a:t>
            </a:r>
          </a:p>
        </p:txBody>
      </p:sp>
      <p:sp>
        <p:nvSpPr>
          <p:cNvPr id="45" name="Rectangle 44"/>
          <p:cNvSpPr/>
          <p:nvPr/>
        </p:nvSpPr>
        <p:spPr>
          <a:xfrm>
            <a:off x="502920" y="701366"/>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OpenAI, Addendum to GPT-4o System Card, 25.03.2025</a:t>
            </a:r>
            <a:r>
              <a:rPr sz="1200" b="0" i="1">
                <a:solidFill>
                  <a:srgbClr val="1C7293"/>
                </a:solidFill>
                <a:latin typeface="Arial"/>
              </a:rPr>
              <a:t> · </a:t>
            </a:r>
            <a:r>
              <a:rPr sz="1200" b="0" i="1">
                <a:solidFill>
                  <a:srgbClr val="1C7293"/>
                </a:solidFill>
                <a:latin typeface="Arial"/>
              </a:rPr>
              <a:t>Gemini 2.5 Flash Image, 2025</a:t>
            </a:r>
            <a:r>
              <a:rPr sz="1200" b="0" i="1">
                <a:solidFill>
                  <a:srgbClr val="1C7293"/>
                </a:solidFill>
                <a:latin typeface="Arial"/>
              </a:rPr>
              <a:t> · </a:t>
            </a: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карточка модели Stable Diffusion v1</a:t>
            </a:r>
            <a:r>
              <a:rPr sz="1200" b="0" i="1">
                <a:solidFill>
                  <a:srgbClr val="1C7293"/>
                </a:solidFill>
                <a:latin typeface="Arial"/>
              </a:rPr>
              <a:t> · </a:t>
            </a:r>
            <a:r>
              <a:rPr sz="1200" b="0" i="1">
                <a:solidFill>
                  <a:srgbClr val="1C7293"/>
                </a:solidFill>
                <a:latin typeface="Arial"/>
              </a:rPr>
              <a:t>независимые счётчики вычислений передовых моделей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Чего метод не умеет — и одно свойство, прочитанное с двух сторон</a:t>
            </a:r>
          </a:p>
        </p:txBody>
      </p:sp>
      <p:sp>
        <p:nvSpPr>
          <p:cNvPr id="4" name="Rounded Rectangle 3"/>
          <p:cNvSpPr/>
          <p:nvPr/>
        </p:nvSpPr>
        <p:spPr>
          <a:xfrm>
            <a:off x="502920" y="1335024"/>
            <a:ext cx="2673019" cy="2486025"/>
          </a:xfrm>
          <a:prstGeom prst="roundRect">
            <a:avLst>
              <a:gd name="adj" fmla="val 1226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1 — ТЕКСТ: 25,12 ДБ НА 4 КАНАЛАХ ПРОТИВ 28,62 ДБ НА 16</a:t>
            </a:r>
          </a:p>
        </p:txBody>
      </p:sp>
      <p:sp>
        <p:nvSpPr>
          <p:cNvPr id="6" name="TextBox 5"/>
          <p:cNvSpPr txBox="1"/>
          <p:nvPr/>
        </p:nvSpPr>
        <p:spPr>
          <a:xfrm>
            <a:off x="640080" y="2140317"/>
            <a:ext cx="2398699"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эти 3,5 децибела — разница между псевдобуквами и читаемой надписью</a:t>
            </a:r>
          </a:p>
        </p:txBody>
      </p:sp>
      <p:sp>
        <p:nvSpPr>
          <p:cNvPr id="7" name="TextBox 6"/>
          <p:cNvSpPr txBox="1"/>
          <p:nvPr/>
        </p:nvSpPr>
        <p:spPr>
          <a:xfrm>
            <a:off x="640080" y="2787990"/>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вторая причина — текстовый кодировщик: без него деградируют длинный текст и сложные описания</a:t>
            </a:r>
          </a:p>
        </p:txBody>
      </p:sp>
      <p:sp>
        <p:nvSpPr>
          <p:cNvPr id="8" name="Rounded Rectangle 7"/>
          <p:cNvSpPr/>
          <p:nvPr/>
        </p:nvSpPr>
        <p:spPr>
          <a:xfrm>
            <a:off x="3340531" y="1335024"/>
            <a:ext cx="2673019" cy="2486025"/>
          </a:xfrm>
          <a:prstGeom prst="roundRect">
            <a:avLst>
              <a:gd name="adj" fmla="val 1226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2 — СЧЁТ: ДЕРЖИТСЯ И СО СЛОВАРЁМ</a:t>
            </a:r>
          </a:p>
        </p:txBody>
      </p:sp>
      <p:sp>
        <p:nvSpPr>
          <p:cNvPr id="10" name="TextBox 9"/>
          <p:cNvSpPr txBox="1"/>
          <p:nvPr/>
        </p:nvSpPr>
        <p:spPr>
          <a:xfrm>
            <a:off x="3477691" y="1932846"/>
            <a:ext cx="239869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GPT-4o 0,85 против присутствия ≈0,99; лучшая модель 2026 — 23,9 из 100 (GenOlympiad)</a:t>
            </a:r>
          </a:p>
        </p:txBody>
      </p:sp>
      <p:sp>
        <p:nvSpPr>
          <p:cNvPr id="11" name="TextBox 10"/>
          <p:cNvSpPr txBox="1"/>
          <p:nvPr/>
        </p:nvSpPr>
        <p:spPr>
          <a:xfrm>
            <a:off x="3477691" y="278421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слово «три» — вес внимания, не счётчик</a:t>
            </a:r>
          </a:p>
        </p:txBody>
      </p:sp>
      <p:sp>
        <p:nvSpPr>
          <p:cNvPr id="12" name="Rounded Rectangle 11"/>
          <p:cNvSpPr/>
          <p:nvPr/>
        </p:nvSpPr>
        <p:spPr>
          <a:xfrm>
            <a:off x="6178143" y="1335024"/>
            <a:ext cx="2673019" cy="2486025"/>
          </a:xfrm>
          <a:prstGeom prst="roundRect">
            <a:avLst>
              <a:gd name="adj" fmla="val 1226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3 — СОГЛАСОВАННОСТЬ МЕЖДУ ГЕНЕРАЦИЯМИ</a:t>
            </a:r>
          </a:p>
        </p:txBody>
      </p:sp>
      <p:sp>
        <p:nvSpPr>
          <p:cNvPr id="14" name="TextBox 13"/>
          <p:cNvSpPr txBox="1"/>
          <p:nvPr/>
        </p:nvSpPr>
        <p:spPr>
          <a:xfrm>
            <a:off x="6315303" y="2140317"/>
            <a:ext cx="2398699"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у диффузии не существует; у авторегрессии лучше, не решено</a:t>
            </a:r>
          </a:p>
        </p:txBody>
      </p:sp>
      <p:sp>
        <p:nvSpPr>
          <p:cNvPr id="15" name="TextBox 14"/>
          <p:cNvSpPr txBox="1"/>
          <p:nvPr/>
        </p:nvSpPr>
        <p:spPr>
          <a:xfrm>
            <a:off x="6315303" y="283891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диффузия: нет истории. Авторегрессия: растущий контекст, drift остаётся на длинных сериях</a:t>
            </a:r>
          </a:p>
        </p:txBody>
      </p:sp>
      <p:sp>
        <p:nvSpPr>
          <p:cNvPr id="16" name="Rounded Rectangle 15"/>
          <p:cNvSpPr/>
          <p:nvPr/>
        </p:nvSpPr>
        <p:spPr>
          <a:xfrm>
            <a:off x="9015755" y="1335024"/>
            <a:ext cx="2673019" cy="2486025"/>
          </a:xfrm>
          <a:prstGeom prst="roundRect">
            <a:avLst>
              <a:gd name="adj" fmla="val 1226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ОДНО СВОЙСТВО — ДВЕ СТОРОНЫ</a:t>
            </a:r>
          </a:p>
        </p:txBody>
      </p:sp>
      <p:sp>
        <p:nvSpPr>
          <p:cNvPr id="18" name="TextBox 17"/>
          <p:cNvSpPr txBox="1"/>
          <p:nvPr/>
        </p:nvSpPr>
        <p:spPr>
          <a:xfrm>
            <a:off x="9152915" y="1932846"/>
            <a:ext cx="2398699" cy="443974"/>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дало: сжатие ×48 → карта 6–8 ГБ, $0,034–0,05 за попытку</a:t>
            </a:r>
          </a:p>
        </p:txBody>
      </p:sp>
      <p:sp>
        <p:nvSpPr>
          <p:cNvPr id="19" name="TextBox 18"/>
          <p:cNvSpPr txBox="1"/>
          <p:nvPr/>
        </p:nvSpPr>
        <p:spPr>
          <a:xfrm>
            <a:off x="9152915" y="2376820"/>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забрало: буква размывается ДО генерации, лицо на дальнем плане — единицы ячеек латента</a:t>
            </a:r>
          </a:p>
        </p:txBody>
      </p:sp>
      <p:sp>
        <p:nvSpPr>
          <p:cNvPr id="20" name="TextBox 19"/>
          <p:cNvSpPr txBox="1"/>
          <p:nvPr/>
        </p:nvSpPr>
        <p:spPr>
          <a:xfrm>
            <a:off x="502920" y="404050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Буква</a:t>
            </a:r>
          </a:p>
        </p:txBody>
      </p:sp>
      <p:sp>
        <p:nvSpPr>
          <p:cNvPr id="21" name="Rounded Rectangle 20"/>
          <p:cNvSpPr/>
          <p:nvPr/>
        </p:nvSpPr>
        <p:spPr>
          <a:xfrm>
            <a:off x="1920240" y="400392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04964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сжатие в 48 раз</a:t>
            </a:r>
          </a:p>
        </p:txBody>
      </p:sp>
      <p:sp>
        <p:nvSpPr>
          <p:cNvPr id="23" name="Right Arrow 22"/>
          <p:cNvSpPr/>
          <p:nvPr/>
        </p:nvSpPr>
        <p:spPr>
          <a:xfrm>
            <a:off x="5039258" y="4173046"/>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400392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350154" y="404964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размыта до генератора</a:t>
            </a:r>
          </a:p>
        </p:txBody>
      </p:sp>
      <p:sp>
        <p:nvSpPr>
          <p:cNvPr id="26" name="Right Arrow 25"/>
          <p:cNvSpPr/>
          <p:nvPr/>
        </p:nvSpPr>
        <p:spPr>
          <a:xfrm>
            <a:off x="8386876" y="4173046"/>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400392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404964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псевдобуквы</a:t>
            </a:r>
          </a:p>
        </p:txBody>
      </p:sp>
      <p:sp>
        <p:nvSpPr>
          <p:cNvPr id="29" name="TextBox 28"/>
          <p:cNvSpPr txBox="1"/>
          <p:nvPr/>
        </p:nvSpPr>
        <p:spPr>
          <a:xfrm>
            <a:off x="502920" y="4662202"/>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Счёт</a:t>
            </a:r>
          </a:p>
        </p:txBody>
      </p:sp>
      <p:sp>
        <p:nvSpPr>
          <p:cNvPr id="30" name="Rounded Rectangle 29"/>
          <p:cNvSpPr/>
          <p:nvPr/>
        </p:nvSpPr>
        <p:spPr>
          <a:xfrm>
            <a:off x="1920240" y="4625626"/>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4671346"/>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нет единицы объекта</a:t>
            </a:r>
          </a:p>
        </p:txBody>
      </p:sp>
      <p:sp>
        <p:nvSpPr>
          <p:cNvPr id="32" name="Right Arrow 31"/>
          <p:cNvSpPr/>
          <p:nvPr/>
        </p:nvSpPr>
        <p:spPr>
          <a:xfrm>
            <a:off x="5039258" y="4794742"/>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267858" y="4625626"/>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5350154" y="4671346"/>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«три» — вес внимания</a:t>
            </a:r>
          </a:p>
        </p:txBody>
      </p:sp>
      <p:sp>
        <p:nvSpPr>
          <p:cNvPr id="35" name="Right Arrow 34"/>
          <p:cNvSpPr/>
          <p:nvPr/>
        </p:nvSpPr>
        <p:spPr>
          <a:xfrm>
            <a:off x="8386876" y="4794742"/>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15476" y="4625626"/>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8697772" y="4671346"/>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считать нечему</a:t>
            </a:r>
          </a:p>
        </p:txBody>
      </p:sp>
      <p:sp>
        <p:nvSpPr>
          <p:cNvPr id="38" name="Rounded Rectangle 37"/>
          <p:cNvSpPr/>
          <p:nvPr/>
        </p:nvSpPr>
        <p:spPr>
          <a:xfrm>
            <a:off x="374904" y="5192459"/>
            <a:ext cx="11441887" cy="104374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283899"/>
            <a:ext cx="11112703" cy="952308"/>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Три отказа, причины разные. Текст — цена того же сжатия, которое дало дешёвую попытку. Счёт и согласованность — другая причина, и она держится даже со словарём.</a:t>
            </a:r>
          </a:p>
          <a:p>
            <a:pPr algn="l">
              <a:lnSpc>
                <a:spcPct val="126000"/>
              </a:lnSpc>
              <a:spcBef>
                <a:spcPts val="700"/>
              </a:spcBef>
            </a:pPr>
            <a:r>
              <a:rPr sz="1450" b="0" i="0">
                <a:solidFill>
                  <a:srgbClr val="21295C"/>
                </a:solidFill>
                <a:latin typeface="Arial"/>
              </a:rPr>
              <a:t/>
            </a:r>
            <a:r>
              <a:rPr sz="1450" b="1" i="0">
                <a:solidFill>
                  <a:srgbClr val="21295C"/>
                </a:solidFill>
                <a:latin typeface="Arial"/>
              </a:rPr>
              <a:t>Выигрыш и отказ пришли из одного места — спрашивайте, что инструмент сжал, чтобы стать дешёвым.</a:t>
            </a:r>
          </a:p>
        </p:txBody>
      </p:sp>
      <p:sp>
        <p:nvSpPr>
          <p:cNvPr id="40" name="Rectangle 39"/>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41" name="TextBox 4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 (таблица качества восстановления)</a:t>
            </a:r>
            <a:r>
              <a:rPr sz="1200" b="0" i="1">
                <a:solidFill>
                  <a:srgbClr val="1C7293"/>
                </a:solidFill>
                <a:latin typeface="Arial"/>
              </a:rPr>
              <a:t> · </a:t>
            </a:r>
            <a:r>
              <a:rPr sz="1200" b="0" i="1">
                <a:solidFill>
                  <a:srgbClr val="1C7293"/>
                </a:solidFill>
                <a:latin typeface="Arial"/>
              </a:rPr>
              <a:t>GenEval, GenEval-2 (2026, arXiv:2512.16853), GenOlympiad (2026, arXiv:2610.26850), T2I-CompBench++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Точных размеров нет: генератор не заменяет САПР. И «RAG для картинок» — категориальная ошибка</a:t>
            </a:r>
          </a:p>
        </p:txBody>
      </p:sp>
      <p:sp>
        <p:nvSpPr>
          <p:cNvPr id="4" name="Rounded Rectangle 3"/>
          <p:cNvSpPr/>
          <p:nvPr/>
        </p:nvSpPr>
        <p:spPr>
          <a:xfrm>
            <a:off x="502920" y="1335024"/>
            <a:ext cx="5510631" cy="1979607"/>
          </a:xfrm>
          <a:prstGeom prst="roundRect">
            <a:avLst>
              <a:gd name="adj" fmla="val 1539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ФОРМУЛИРОВКА, КОТОРУЮ СТОИТ УНЕСТИ</a:t>
            </a:r>
          </a:p>
        </p:txBody>
      </p:sp>
      <p:sp>
        <p:nvSpPr>
          <p:cNvPr id="6" name="TextBox 5"/>
          <p:cNvSpPr txBox="1"/>
          <p:nvPr/>
        </p:nvSpPr>
        <p:spPr>
          <a:xfrm>
            <a:off x="640080" y="1725375"/>
            <a:ext cx="5236311"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генератор отвечает «как это выглядит». САПР отвечает «что это такое»</a:t>
            </a:r>
          </a:p>
        </p:txBody>
      </p:sp>
      <p:sp>
        <p:nvSpPr>
          <p:cNvPr id="7" name="TextBox 6"/>
          <p:cNvSpPr txBox="1"/>
          <p:nvPr/>
        </p:nvSpPr>
        <p:spPr>
          <a:xfrm>
            <a:off x="640080" y="29332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подменять второй первым — подлог, а не экономия</a:t>
            </a:r>
          </a:p>
        </p:txBody>
      </p:sp>
      <p:sp>
        <p:nvSpPr>
          <p:cNvPr id="8" name="Rounded Rectangle 7"/>
          <p:cNvSpPr/>
          <p:nvPr/>
        </p:nvSpPr>
        <p:spPr>
          <a:xfrm>
            <a:off x="6178143" y="1335024"/>
            <a:ext cx="5510631" cy="1979607"/>
          </a:xfrm>
          <a:prstGeom prst="roundRect">
            <a:avLst>
              <a:gd name="adj" fmla="val 1539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ТА ЖЕ ПРОВЕРКА — ДЛЯ ТЕКСТОВОГО ЗАДАНИЯ</a:t>
            </a:r>
          </a:p>
        </p:txBody>
      </p:sp>
      <p:sp>
        <p:nvSpPr>
          <p:cNvPr id="10" name="TextBox 9"/>
          <p:cNvSpPr txBox="1"/>
          <p:nvPr/>
        </p:nvSpPr>
        <p:spPr>
          <a:xfrm>
            <a:off x="6315303" y="1725375"/>
            <a:ext cx="5236311" cy="1029608"/>
          </a:xfrm>
          <a:prstGeom prst="rect">
            <a:avLst/>
          </a:prstGeom>
          <a:noFill/>
        </p:spPr>
        <p:txBody>
          <a:bodyPr wrap="square" lIns="0" rIns="0" tIns="0" bIns="0" anchor="t">
            <a:spAutoFit/>
          </a:bodyPr>
          <a:lstStyle/>
          <a:p>
            <a:pPr algn="l">
              <a:lnSpc>
                <a:spcPct val="108000"/>
              </a:lnSpc>
            </a:pPr>
            <a:r>
              <a:rPr sz="1950" b="1" i="0">
                <a:solidFill>
                  <a:srgbClr val="1C7293"/>
                </a:solidFill>
                <a:latin typeface="Arial"/>
              </a:rPr>
              <a:t>подложить источник в контекст работает у языковой модели и не у одной архитектуры генерации изображений</a:t>
            </a:r>
          </a:p>
        </p:txBody>
      </p:sp>
      <p:sp>
        <p:nvSpPr>
          <p:cNvPr id="11" name="TextBox 10"/>
          <p:cNvSpPr txBox="1"/>
          <p:nvPr/>
        </p:nvSpPr>
        <p:spPr>
          <a:xfrm>
            <a:off x="6315303" y="275498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расшумления контекста нет вовсе; у авторегрессии контекст есть, но токен не сверяется с фактом</a:t>
            </a:r>
          </a:p>
        </p:txBody>
      </p:sp>
      <p:sp>
        <p:nvSpPr>
          <p:cNvPr id="12" name="Rounded Rectangle 11"/>
          <p:cNvSpPr/>
          <p:nvPr/>
        </p:nvSpPr>
        <p:spPr>
          <a:xfrm>
            <a:off x="502920" y="3497511"/>
            <a:ext cx="5437479" cy="1637153"/>
          </a:xfrm>
          <a:prstGeom prst="roundRect">
            <a:avLst>
              <a:gd name="adj" fmla="val 18617"/>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3652959"/>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Чего нельзя</a:t>
            </a:r>
          </a:p>
        </p:txBody>
      </p:sp>
      <p:sp>
        <p:nvSpPr>
          <p:cNvPr id="14" name="TextBox 13"/>
          <p:cNvSpPr txBox="1"/>
          <p:nvPr/>
        </p:nvSpPr>
        <p:spPr>
          <a:xfrm>
            <a:off x="667512" y="4009137"/>
            <a:ext cx="5108295" cy="970079"/>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Измерить — масштаба в изображении нет</a:t>
            </a:r>
          </a:p>
          <a:p>
            <a:pPr algn="l">
              <a:lnSpc>
                <a:spcPct val="126000"/>
              </a:lnSpc>
            </a:pPr>
            <a:r>
              <a:rPr sz="1250" b="0" i="0">
                <a:solidFill>
                  <a:srgbClr val="21295C"/>
                </a:solidFill>
                <a:latin typeface="Arial"/>
              </a:rPr>
              <a:t>• Проверить — ВЫГЛЯДИТ как прошедшая расчёт, а не прошла</a:t>
            </a:r>
          </a:p>
          <a:p>
            <a:pPr algn="l">
              <a:lnSpc>
                <a:spcPct val="126000"/>
              </a:lnSpc>
            </a:pPr>
            <a:r>
              <a:rPr sz="1250" b="0" i="0">
                <a:solidFill>
                  <a:srgbClr val="21295C"/>
                </a:solidFill>
                <a:latin typeface="Arial"/>
              </a:rPr>
              <a:t>• Изготовить и сопровождать — геометрии и дерева построения нет</a:t>
            </a:r>
          </a:p>
        </p:txBody>
      </p:sp>
      <p:sp>
        <p:nvSpPr>
          <p:cNvPr id="15" name="Rounded Rectangle 14"/>
          <p:cNvSpPr/>
          <p:nvPr/>
        </p:nvSpPr>
        <p:spPr>
          <a:xfrm>
            <a:off x="6251295" y="3497511"/>
            <a:ext cx="5437479" cy="1637153"/>
          </a:xfrm>
          <a:prstGeom prst="roundRect">
            <a:avLst>
              <a:gd name="adj" fmla="val 18617"/>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6415887" y="3652959"/>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Где генератор полезен</a:t>
            </a:r>
          </a:p>
        </p:txBody>
      </p:sp>
      <p:sp>
        <p:nvSpPr>
          <p:cNvPr id="17" name="TextBox 16"/>
          <p:cNvSpPr txBox="1"/>
          <p:nvPr/>
        </p:nvSpPr>
        <p:spPr>
          <a:xfrm>
            <a:off x="6415887" y="4009137"/>
            <a:ext cx="5108295" cy="970079"/>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Поиск облика — раскадровка, варианты формы</a:t>
            </a:r>
          </a:p>
          <a:p>
            <a:pPr algn="l">
              <a:lnSpc>
                <a:spcPct val="126000"/>
              </a:lnSpc>
            </a:pPr>
            <a:r>
              <a:rPr sz="1400" b="0" i="0">
                <a:solidFill>
                  <a:srgbClr val="21295C"/>
                </a:solidFill>
                <a:latin typeface="Arial"/>
              </a:rPr>
              <a:t>• Визуализация уже посчитанного — рендер, свет</a:t>
            </a:r>
          </a:p>
          <a:p>
            <a:pPr algn="l">
              <a:lnSpc>
                <a:spcPct val="126000"/>
              </a:lnSpc>
            </a:pPr>
            <a:r>
              <a:rPr sz="1400" b="0" i="0">
                <a:solidFill>
                  <a:srgbClr val="21295C"/>
                </a:solidFill>
                <a:latin typeface="Arial"/>
              </a:rPr>
              <a:t>• Граница: там, где картинка становится источником данных</a:t>
            </a:r>
          </a:p>
        </p:txBody>
      </p:sp>
      <p:sp>
        <p:nvSpPr>
          <p:cNvPr id="18" name="Rounded Rectangle 17"/>
          <p:cNvSpPr/>
          <p:nvPr/>
        </p:nvSpPr>
        <p:spPr>
          <a:xfrm>
            <a:off x="374904" y="5226105"/>
            <a:ext cx="11441887" cy="101010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5317545"/>
            <a:ext cx="11112703" cy="918662"/>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Изображение детали, на котором «похоже, что резьба М12», не содержит резьбы М12: в нём точки растра, похожие на фотографии резьбы.</a:t>
            </a:r>
          </a:p>
          <a:p>
            <a:pPr algn="l">
              <a:lnSpc>
                <a:spcPct val="126000"/>
              </a:lnSpc>
              <a:spcBef>
                <a:spcPts val="700"/>
              </a:spcBef>
            </a:pPr>
            <a:r>
              <a:rPr sz="1250" b="0" i="0">
                <a:solidFill>
                  <a:srgbClr val="21295C"/>
                </a:solidFill>
                <a:latin typeface="Arial"/>
              </a:rPr>
              <a:t/>
            </a:r>
            <a:r>
              <a:rPr sz="1250" b="1" i="0">
                <a:solidFill>
                  <a:srgbClr val="21295C"/>
                </a:solidFill>
                <a:latin typeface="Arial"/>
              </a:rPr>
              <a:t>Есть приём, которым чинят уверенное враньё языковой модели: источник в контекст, ссылка на выходе. Для картинок он не работает ни у одной архитектуры, и причины разные.</a:t>
            </a:r>
          </a:p>
        </p:txBody>
      </p:sp>
      <p:sp>
        <p:nvSpPr>
          <p:cNvPr id="20" name="Rectangle 19"/>
          <p:cNvSpPr/>
          <p:nvPr/>
        </p:nvSpPr>
        <p:spPr>
          <a:xfrm>
            <a:off x="502920" y="701366"/>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OpenAI, Addendum to GPT-4o System Card, 25.03.2025</a:t>
            </a:r>
            <a:r>
              <a:rPr sz="1200" b="0" i="1">
                <a:solidFill>
                  <a:srgbClr val="1C7293"/>
                </a:solidFill>
                <a:latin typeface="Arial"/>
              </a:rPr>
              <a:t> · </a:t>
            </a:r>
            <a:r>
              <a:rPr sz="1200" b="0" i="1">
                <a:solidFill>
                  <a:srgbClr val="1C7293"/>
                </a:solidFill>
                <a:latin typeface="Arial"/>
              </a:rPr>
              <a:t>Gemini 2.5 Flash Image,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Что стало с продавцом изображений: один и тот же манёвр с разницей в двадцать лет</a:t>
            </a:r>
          </a:p>
        </p:txBody>
      </p:sp>
      <p:sp>
        <p:nvSpPr>
          <p:cNvPr id="4" name="Rounded Rectangle 3"/>
          <p:cNvSpPr/>
          <p:nvPr/>
        </p:nvSpPr>
        <p:spPr>
          <a:xfrm>
            <a:off x="502920" y="1335024"/>
            <a:ext cx="5474055" cy="3080015"/>
          </a:xfrm>
          <a:prstGeom prst="roundRect">
            <a:avLst>
              <a:gd name="adj" fmla="val 9896"/>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9616"/>
            <a:ext cx="5144871" cy="27159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2006 — купить разрушителя цены. Сработало</a:t>
            </a:r>
          </a:p>
        </p:txBody>
      </p:sp>
      <p:sp>
        <p:nvSpPr>
          <p:cNvPr id="6" name="TextBox 5"/>
          <p:cNvSpPr txBox="1"/>
          <p:nvPr/>
        </p:nvSpPr>
        <p:spPr>
          <a:xfrm>
            <a:off x="667512" y="1880942"/>
            <a:ext cx="5144871"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Событие</a:t>
            </a:r>
          </a:p>
        </p:txBody>
      </p:sp>
      <p:sp>
        <p:nvSpPr>
          <p:cNvPr id="7" name="TextBox 6"/>
          <p:cNvSpPr txBox="1"/>
          <p:nvPr/>
        </p:nvSpPr>
        <p:spPr>
          <a:xfrm>
            <a:off x="667512" y="2120561"/>
            <a:ext cx="5144871" cy="483785"/>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цена падает — классика $100s–$1000s против микростока $0,25–1</a:t>
            </a:r>
          </a:p>
        </p:txBody>
      </p:sp>
      <p:sp>
        <p:nvSpPr>
          <p:cNvPr id="8" name="TextBox 7"/>
          <p:cNvSpPr txBox="1"/>
          <p:nvPr/>
        </p:nvSpPr>
        <p:spPr>
          <a:xfrm>
            <a:off x="868680" y="2695786"/>
            <a:ext cx="4943703"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Реакция</a:t>
            </a:r>
          </a:p>
        </p:txBody>
      </p:sp>
      <p:sp>
        <p:nvSpPr>
          <p:cNvPr id="9" name="TextBox 8"/>
          <p:cNvSpPr txBox="1"/>
          <p:nvPr/>
        </p:nvSpPr>
        <p:spPr>
          <a:xfrm>
            <a:off x="868680" y="2935405"/>
            <a:ext cx="4943703" cy="483785"/>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владелец библиотеки покупает микросток — своего разрушителя цены</a:t>
            </a:r>
          </a:p>
        </p:txBody>
      </p:sp>
      <p:sp>
        <p:nvSpPr>
          <p:cNvPr id="10" name="Rounded Rectangle 9"/>
          <p:cNvSpPr/>
          <p:nvPr/>
        </p:nvSpPr>
        <p:spPr>
          <a:xfrm>
            <a:off x="667512" y="3547206"/>
            <a:ext cx="5144871" cy="703241"/>
          </a:xfrm>
          <a:prstGeom prst="roundRect">
            <a:avLst>
              <a:gd name="adj" fmla="val 14000"/>
            </a:avLst>
          </a:prstGeom>
          <a:solidFill>
            <a:srgbClr val="F0AB00"/>
          </a:solidFill>
          <a:ln>
            <a:noFill/>
          </a:ln>
          <a:effectLst/>
        </p:spPr>
        <p:txBody>
          <a:bodyPr rtlCol="0" anchor="ctr"/>
          <a:lstStyle/>
          <a:p>
            <a:pPr algn="ctr"/>
          </a:p>
        </p:txBody>
      </p:sp>
      <p:sp>
        <p:nvSpPr>
          <p:cNvPr id="11" name="TextBox 10"/>
          <p:cNvSpPr txBox="1"/>
          <p:nvPr/>
        </p:nvSpPr>
        <p:spPr>
          <a:xfrm>
            <a:off x="777240" y="3656934"/>
            <a:ext cx="4925415" cy="483785"/>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верхний сегмент выжил — микросток был НОВЫМ КАНАЛОМ продажи той же вещи</a:t>
            </a:r>
          </a:p>
        </p:txBody>
      </p:sp>
      <p:sp>
        <p:nvSpPr>
          <p:cNvPr id="12" name="Rounded Rectangle 11"/>
          <p:cNvSpPr/>
          <p:nvPr/>
        </p:nvSpPr>
        <p:spPr>
          <a:xfrm>
            <a:off x="6214719" y="1335024"/>
            <a:ext cx="5474055" cy="3080015"/>
          </a:xfrm>
          <a:prstGeom prst="roundRect">
            <a:avLst>
              <a:gd name="adj" fmla="val 9896"/>
            </a:avLst>
          </a:prstGeom>
          <a:solidFill>
            <a:srgbClr val="F4F7FA"/>
          </a:solidFill>
          <a:ln w="19050">
            <a:solidFill>
              <a:srgbClr val="028090"/>
            </a:solidFill>
          </a:ln>
          <a:effectLst/>
        </p:spPr>
        <p:txBody>
          <a:bodyPr rtlCol="0" anchor="ctr"/>
          <a:lstStyle/>
          <a:p>
            <a:pPr algn="ctr"/>
          </a:p>
        </p:txBody>
      </p:sp>
      <p:sp>
        <p:nvSpPr>
          <p:cNvPr id="13" name="TextBox 12"/>
          <p:cNvSpPr txBox="1"/>
          <p:nvPr/>
        </p:nvSpPr>
        <p:spPr>
          <a:xfrm>
            <a:off x="6379311" y="1499616"/>
            <a:ext cx="5144871" cy="27159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2026 — купить конкурента. Не прошло</a:t>
            </a:r>
          </a:p>
        </p:txBody>
      </p:sp>
      <p:sp>
        <p:nvSpPr>
          <p:cNvPr id="14" name="TextBox 13"/>
          <p:cNvSpPr txBox="1"/>
          <p:nvPr/>
        </p:nvSpPr>
        <p:spPr>
          <a:xfrm>
            <a:off x="6379311" y="1880942"/>
            <a:ext cx="5144871"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Событие</a:t>
            </a:r>
          </a:p>
        </p:txBody>
      </p:sp>
      <p:sp>
        <p:nvSpPr>
          <p:cNvPr id="15" name="TextBox 14"/>
          <p:cNvSpPr txBox="1"/>
          <p:nvPr/>
        </p:nvSpPr>
        <p:spPr>
          <a:xfrm>
            <a:off x="6379311" y="2120561"/>
            <a:ext cx="5144871" cy="241892"/>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цена падает снова — теперь из-за генерации</a:t>
            </a:r>
          </a:p>
        </p:txBody>
      </p:sp>
      <p:sp>
        <p:nvSpPr>
          <p:cNvPr id="16" name="TextBox 15"/>
          <p:cNvSpPr txBox="1"/>
          <p:nvPr/>
        </p:nvSpPr>
        <p:spPr>
          <a:xfrm>
            <a:off x="6580479" y="2453893"/>
            <a:ext cx="4943703"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Реакция</a:t>
            </a:r>
          </a:p>
        </p:txBody>
      </p:sp>
      <p:sp>
        <p:nvSpPr>
          <p:cNvPr id="17" name="TextBox 16"/>
          <p:cNvSpPr txBox="1"/>
          <p:nvPr/>
        </p:nvSpPr>
        <p:spPr>
          <a:xfrm>
            <a:off x="6580479" y="2693512"/>
            <a:ext cx="4943703" cy="241892"/>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тот же игрок пытается объединиться с конкурентом</a:t>
            </a:r>
          </a:p>
        </p:txBody>
      </p:sp>
      <p:sp>
        <p:nvSpPr>
          <p:cNvPr id="18" name="Rounded Rectangle 17"/>
          <p:cNvSpPr/>
          <p:nvPr/>
        </p:nvSpPr>
        <p:spPr>
          <a:xfrm>
            <a:off x="6379311" y="3063421"/>
            <a:ext cx="5144871" cy="703241"/>
          </a:xfrm>
          <a:prstGeom prst="roundRect">
            <a:avLst>
              <a:gd name="adj" fmla="val 14000"/>
            </a:avLst>
          </a:prstGeom>
          <a:solidFill>
            <a:srgbClr val="F0AB00"/>
          </a:solidFill>
          <a:ln>
            <a:noFill/>
          </a:ln>
          <a:effectLst/>
        </p:spPr>
        <p:txBody>
          <a:bodyPr rtlCol="0" anchor="ctr"/>
          <a:lstStyle/>
          <a:p>
            <a:pPr algn="ctr"/>
          </a:p>
        </p:txBody>
      </p:sp>
      <p:sp>
        <p:nvSpPr>
          <p:cNvPr id="19" name="TextBox 18"/>
          <p:cNvSpPr txBox="1"/>
          <p:nvPr/>
        </p:nvSpPr>
        <p:spPr>
          <a:xfrm>
            <a:off x="6489039" y="3173149"/>
            <a:ext cx="4925415" cy="483785"/>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генерация — ОТСУТСТВИЕ ВЕЩИ: владельца нет, купить некого</a:t>
            </a:r>
          </a:p>
        </p:txBody>
      </p:sp>
      <p:sp>
        <p:nvSpPr>
          <p:cNvPr id="20" name="Rounded Rectangle 19"/>
          <p:cNvSpPr/>
          <p:nvPr/>
        </p:nvSpPr>
        <p:spPr>
          <a:xfrm>
            <a:off x="502920" y="4597919"/>
            <a:ext cx="11185855" cy="5660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649224" y="4744223"/>
            <a:ext cx="10893247" cy="273484"/>
          </a:xfrm>
          <a:prstGeom prst="rect">
            <a:avLst/>
          </a:prstGeom>
          <a:noFill/>
        </p:spPr>
        <p:txBody>
          <a:bodyPr wrap="square" lIns="0" rIns="0" tIns="0" bIns="0" anchor="t">
            <a:spAutoFit/>
          </a:bodyPr>
          <a:lstStyle/>
          <a:p>
            <a:pPr algn="ctr">
              <a:lnSpc>
                <a:spcPct val="116000"/>
              </a:lnSpc>
            </a:pPr>
            <a:r>
              <a:rPr sz="1500" b="1" i="0">
                <a:solidFill>
                  <a:srgbClr val="21295C"/>
                </a:solidFill>
                <a:latin typeface="Arial"/>
              </a:rPr>
              <a:t>Дешевеет канал — купит тот, кто выживет. Обесценивается единица — покупать нечего</a:t>
            </a:r>
          </a:p>
        </p:txBody>
      </p:sp>
      <p:sp>
        <p:nvSpPr>
          <p:cNvPr id="22" name="Rounded Rectangle 21"/>
          <p:cNvSpPr/>
          <p:nvPr/>
        </p:nvSpPr>
        <p:spPr>
          <a:xfrm>
            <a:off x="374904" y="5255452"/>
            <a:ext cx="11441887" cy="89793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346892"/>
            <a:ext cx="11112703" cy="889315"/>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Подписчики: 321 000 → 240 000 за год. Долг ≈$2,1 млрд, банкротство — октябрь 2026.</a:t>
            </a:r>
          </a:p>
          <a:p>
            <a:pPr algn="l">
              <a:lnSpc>
                <a:spcPct val="126000"/>
              </a:lnSpc>
              <a:spcBef>
                <a:spcPts val="700"/>
              </a:spcBef>
            </a:pPr>
            <a:r>
              <a:rPr sz="1350" b="0" i="0">
                <a:solidFill>
                  <a:srgbClr val="21295C"/>
                </a:solidFill>
                <a:latin typeface="Arial"/>
              </a:rPr>
              <a:t/>
            </a:r>
            <a:r>
              <a:rPr sz="1350" b="1" i="0">
                <a:solidFill>
                  <a:srgbClr val="21295C"/>
                </a:solidFill>
                <a:latin typeface="Arial"/>
              </a:rPr>
              <a:t>Когда дешевеет канал, выживает тот, кто его купит. Когда обесценивается сама единица, покупать нечего: владельца у неё нет.</a:t>
            </a:r>
          </a:p>
        </p:txBody>
      </p:sp>
      <p:sp>
        <p:nvSpPr>
          <p:cNvPr id="24" name="Rectangle 23"/>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отчётность и корпоративные сообщения Getty Images, 2006 и 2026</a:t>
            </a:r>
            <a:r>
              <a:rPr sz="1200" b="0" i="1">
                <a:solidFill>
                  <a:srgbClr val="1C7293"/>
                </a:solidFill>
                <a:latin typeface="Arial"/>
              </a:rPr>
              <a:t> · </a:t>
            </a:r>
            <a:r>
              <a:rPr sz="1200" b="0" i="1">
                <a:solidFill>
                  <a:srgbClr val="1C7293"/>
                </a:solidFill>
                <a:latin typeface="Arial"/>
              </a:rPr>
              <a:t>прейскуранты стоковых агентств</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Чем обучено: 1,84 байта на обучающее изображение</a:t>
            </a:r>
          </a:p>
        </p:txBody>
      </p:sp>
      <p:sp>
        <p:nvSpPr>
          <p:cNvPr id="4" name="Rounded Rectangle 3"/>
          <p:cNvSpPr/>
          <p:nvPr/>
        </p:nvSpPr>
        <p:spPr>
          <a:xfrm>
            <a:off x="502920" y="1335024"/>
            <a:ext cx="3618890" cy="2189907"/>
          </a:xfrm>
          <a:prstGeom prst="roundRect">
            <a:avLst>
              <a:gd name="adj" fmla="val 1391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ОТВЕТ</a:t>
            </a:r>
          </a:p>
        </p:txBody>
      </p:sp>
      <p:sp>
        <p:nvSpPr>
          <p:cNvPr id="6" name="TextBox 5"/>
          <p:cNvSpPr txBox="1"/>
          <p:nvPr/>
        </p:nvSpPr>
        <p:spPr>
          <a:xfrm>
            <a:off x="640080" y="1725375"/>
            <a:ext cx="3344570" cy="715572"/>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4,27 ГБ ÷ 2,32 млрд изображений = 1,84 байта</a:t>
            </a:r>
          </a:p>
        </p:txBody>
      </p:sp>
      <p:sp>
        <p:nvSpPr>
          <p:cNvPr id="7" name="TextBox 6"/>
          <p:cNvSpPr txBox="1"/>
          <p:nvPr/>
        </p:nvSpPr>
        <p:spPr>
          <a:xfrm>
            <a:off x="640080" y="244094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меньше буквы кириллицы; сжатие по корпусу ×22 508 — картинка в корпусе весит в среднем 41 379 байт</a:t>
            </a:r>
          </a:p>
        </p:txBody>
      </p:sp>
      <p:sp>
        <p:nvSpPr>
          <p:cNvPr id="8" name="Rounded Rectangle 7"/>
          <p:cNvSpPr/>
          <p:nvPr/>
        </p:nvSpPr>
        <p:spPr>
          <a:xfrm>
            <a:off x="4286402" y="1335024"/>
            <a:ext cx="3618890" cy="2189907"/>
          </a:xfrm>
          <a:prstGeom prst="roundRect">
            <a:avLst>
              <a:gd name="adj" fmla="val 1391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ДАЖЕ ПО САМОМУ ЩЕДРОМУ СЧЁТУ</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26,7 байта на картинку</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160 млн сверенных примеров — в полторы тысячи раз меньше JPEG 512×512 (короче 20 000 байт не бывает)</a:t>
            </a:r>
          </a:p>
        </p:txBody>
      </p:sp>
      <p:sp>
        <p:nvSpPr>
          <p:cNvPr id="12" name="Rounded Rectangle 11"/>
          <p:cNvSpPr/>
          <p:nvPr/>
        </p:nvSpPr>
        <p:spPr>
          <a:xfrm>
            <a:off x="8069884" y="1335024"/>
            <a:ext cx="3618890" cy="2189907"/>
          </a:xfrm>
          <a:prstGeom prst="roundRect">
            <a:avLst>
              <a:gd name="adj" fmla="val 1391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ИЗВЛЕЧЕНО CARLINI И СОАВТ., 2023</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109 изображений из 175 млн кандидатов</a:t>
            </a:r>
          </a:p>
        </p:txBody>
      </p:sp>
      <p:sp>
        <p:nvSpPr>
          <p:cNvPr id="15" name="TextBox 14"/>
          <p:cNvSpPr txBox="1"/>
          <p:nvPr/>
        </p:nvSpPr>
        <p:spPr>
          <a:xfrm>
            <a:off x="8207044" y="2542797"/>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отобрали 350 000 самых дублированных примеров, сгенерировали по 500 на каждый; порог извлечения — сто дубликатов в корпусе</a:t>
            </a:r>
          </a:p>
        </p:txBody>
      </p:sp>
      <p:sp>
        <p:nvSpPr>
          <p:cNvPr id="16" name="Rounded Rectangle 15"/>
          <p:cNvSpPr/>
          <p:nvPr/>
        </p:nvSpPr>
        <p:spPr>
          <a:xfrm>
            <a:off x="374904" y="3616371"/>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707811"/>
            <a:ext cx="5373471" cy="2528396"/>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Адрес платежа: ПРАВА.</a:t>
            </a:r>
          </a:p>
        </p:txBody>
      </p:sp>
      <p:sp>
        <p:nvSpPr>
          <p:cNvPr id="18" name="TextBox 17"/>
          <p:cNvSpPr txBox="1"/>
          <p:nvPr/>
        </p:nvSpPr>
        <p:spPr>
          <a:xfrm>
            <a:off x="6278727" y="3707811"/>
            <a:ext cx="5373471" cy="25283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весит 4,27 ГБ, обучена на 2,32 млрд изображений — 1,84 байта на картинку.</a:t>
            </a:r>
          </a:p>
          <a:p>
            <a:pPr algn="l">
              <a:lnSpc>
                <a:spcPct val="126000"/>
              </a:lnSpc>
              <a:spcBef>
                <a:spcPts val="700"/>
              </a:spcBef>
            </a:pPr>
            <a:r>
              <a:rPr sz="1500" b="0" i="0">
                <a:solidFill>
                  <a:srgbClr val="21295C"/>
                </a:solidFill>
                <a:latin typeface="Arial"/>
              </a:rPr>
              <a:t/>
            </a:r>
            <a:r>
              <a:rPr sz="1500" b="1" i="0">
                <a:solidFill>
                  <a:srgbClr val="21295C"/>
                </a:solidFill>
                <a:latin typeface="Arial"/>
              </a:rPr>
              <a:t>И всё же дубликаты запоминаются:</a:t>
            </a:r>
            <a:r>
              <a:rPr sz="1500" b="0" i="0">
                <a:solidFill>
                  <a:srgbClr val="21295C"/>
                </a:solidFill>
                <a:latin typeface="Arial"/>
              </a:rPr>
              <a:t> 109 извлечённых из 175 млн кандидатов, при пороге сто дубликатов в корпусе. Первая половина без второй — реклама, вторая без первой — обвинение.</a:t>
            </a:r>
          </a:p>
        </p:txBody>
      </p:sp>
      <p:sp>
        <p:nvSpPr>
          <p:cNvPr id="19" name="Rectangle 18"/>
          <p:cNvSpPr/>
          <p:nvPr/>
        </p:nvSpPr>
        <p:spPr>
          <a:xfrm>
            <a:off x="6091275" y="3707811"/>
            <a:ext cx="9144" cy="1871266"/>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карточка модели Stable Diffusion 1.5</a:t>
            </a:r>
            <a:r>
              <a:rPr sz="1200" b="0" i="1">
                <a:solidFill>
                  <a:srgbClr val="1C7293"/>
                </a:solidFill>
                <a:latin typeface="Arial"/>
              </a:rPr>
              <a:t> · </a:t>
            </a:r>
            <a:r>
              <a:rPr sz="1200" b="0" i="1">
                <a:solidFill>
                  <a:srgbClr val="1C7293"/>
                </a:solidFill>
                <a:latin typeface="Arial"/>
              </a:rPr>
              <a:t>Carlini и соавт., «Extracting Training Data from Diffusion Models», 2023</a:t>
            </a:r>
            <a:r>
              <a:rPr sz="1200" b="0" i="1">
                <a:solidFill>
                  <a:srgbClr val="1C7293"/>
                </a:solidFill>
                <a:latin typeface="Arial"/>
              </a:rPr>
              <a:t> · </a:t>
            </a:r>
            <a:r>
              <a:rPr sz="1200" b="0" i="1">
                <a:solidFill>
                  <a:srgbClr val="1C7293"/>
                </a:solidFill>
                <a:latin typeface="Arial"/>
              </a:rPr>
              <a:t>отчёт инструмента скачивания корпуса LAION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Правовой разбор: Getty против Stability — что суд решил, чего не решил, и во что это оценено</a:t>
            </a:r>
          </a:p>
        </p:txBody>
      </p:sp>
      <p:sp>
        <p:nvSpPr>
          <p:cNvPr id="4" name="Rounded Rectangle 3"/>
          <p:cNvSpPr/>
          <p:nvPr/>
        </p:nvSpPr>
        <p:spPr>
          <a:xfrm>
            <a:off x="502920" y="1335024"/>
            <a:ext cx="3618890" cy="2857587"/>
          </a:xfrm>
          <a:prstGeom prst="roundRect">
            <a:avLst>
              <a:gd name="adj" fmla="val 1066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РЕШЕНО</a:t>
            </a:r>
          </a:p>
        </p:txBody>
      </p:sp>
      <p:sp>
        <p:nvSpPr>
          <p:cNvPr id="6" name="TextBox 5"/>
          <p:cNvSpPr txBox="1"/>
          <p:nvPr/>
        </p:nvSpPr>
        <p:spPr>
          <a:xfrm>
            <a:off x="640080" y="1725375"/>
            <a:ext cx="3344570" cy="851372"/>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веса модели — математические параметры и не являются контрафактной копией</a:t>
            </a:r>
          </a:p>
        </p:txBody>
      </p:sp>
      <p:sp>
        <p:nvSpPr>
          <p:cNvPr id="7" name="TextBox 6"/>
          <p:cNvSpPr txBox="1"/>
          <p:nvPr/>
        </p:nvSpPr>
        <p:spPr>
          <a:xfrm>
            <a:off x="640080" y="257674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британскому закону об авторском праве; вторичное нарушение не доказано</a:t>
            </a:r>
          </a:p>
        </p:txBody>
      </p:sp>
      <p:sp>
        <p:nvSpPr>
          <p:cNvPr id="8" name="Rounded Rectangle 7"/>
          <p:cNvSpPr/>
          <p:nvPr/>
        </p:nvSpPr>
        <p:spPr>
          <a:xfrm>
            <a:off x="4286402" y="1335024"/>
            <a:ext cx="3618890" cy="2857587"/>
          </a:xfrm>
          <a:prstGeom prst="roundRect">
            <a:avLst>
              <a:gd name="adj" fmla="val 1066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УЗКАЯ ПОБЕДА ИСТЦА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по товарному знаку</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сгенерированных изображениях обнаруживались артефакты водяных знаков истца</a:t>
            </a:r>
          </a:p>
        </p:txBody>
      </p:sp>
      <p:sp>
        <p:nvSpPr>
          <p:cNvPr id="12" name="Rounded Rectangle 11"/>
          <p:cNvSpPr/>
          <p:nvPr/>
        </p:nvSpPr>
        <p:spPr>
          <a:xfrm>
            <a:off x="8069884" y="1335024"/>
            <a:ext cx="3618890" cy="2857587"/>
          </a:xfrm>
          <a:prstGeom prst="roundRect">
            <a:avLst>
              <a:gd name="adj" fmla="val 1066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ВНУТРИ ОБУЧАЮЩЕГО КОРПУСА — РАЗБРОС ОЦЕНКИ В 50 РАЗ ОТ ОДНОГО ВЫБОРА ТАРИФА</a:t>
            </a:r>
          </a:p>
        </p:txBody>
      </p:sp>
      <p:sp>
        <p:nvSpPr>
          <p:cNvPr id="14" name="TextBox 13"/>
          <p:cNvSpPr txBox="1"/>
          <p:nvPr/>
        </p:nvSpPr>
        <p:spPr>
          <a:xfrm>
            <a:off x="8207044" y="2140317"/>
            <a:ext cx="3344570"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12,3 млн изображений истца из ≈5,85 млрд пар: по опту $2,50 — ≈$30,75 млн; по рознице $130 — ≈$1,6 млрд</a:t>
            </a:r>
          </a:p>
        </p:txBody>
      </p:sp>
      <p:sp>
        <p:nvSpPr>
          <p:cNvPr id="15" name="TextBox 14"/>
          <p:cNvSpPr txBox="1"/>
          <p:nvPr/>
        </p:nvSpPr>
        <p:spPr>
          <a:xfrm>
            <a:off x="8207044" y="2787990"/>
            <a:ext cx="3344570"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реально согласованная ставка (музыка, после урегулирований) — $0,002–0,005 за генерацию, на три-четыре порядка ниже стокового тарифа. Статутный потолок свыше $9 млрд — величина теоретическая, никем не присуждённая</a:t>
            </a:r>
          </a:p>
        </p:txBody>
      </p:sp>
      <p:sp>
        <p:nvSpPr>
          <p:cNvPr id="16" name="Rounded Rectangle 15"/>
          <p:cNvSpPr/>
          <p:nvPr/>
        </p:nvSpPr>
        <p:spPr>
          <a:xfrm>
            <a:off x="374904" y="4284051"/>
            <a:ext cx="11441887" cy="1775625"/>
          </a:xfrm>
          <a:prstGeom prst="roundRect">
            <a:avLst>
              <a:gd name="adj" fmla="val 1716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375491"/>
            <a:ext cx="11112703" cy="1684185"/>
          </a:xfrm>
          <a:prstGeom prst="rect">
            <a:avLst/>
          </a:prstGeom>
          <a:noFill/>
        </p:spPr>
        <p:txBody>
          <a:bodyPr wrap="square" lIns="0" rIns="0" tIns="0" bIns="0" anchor="t">
            <a:spAutoFit/>
          </a:bodyPr>
          <a:lstStyle/>
          <a:p>
            <a:pPr algn="l">
              <a:lnSpc>
                <a:spcPct val="126000"/>
              </a:lnSpc>
            </a:pPr>
            <a:r>
              <a:rPr sz="950" b="0" i="1">
                <a:solidFill>
                  <a:srgbClr val="1C7293"/>
                </a:solidFill>
                <a:latin typeface="Arial"/>
              </a:rPr>
              <a:t>Адрес платежа: ПРАВА.</a:t>
            </a:r>
          </a:p>
          <a:p>
            <a:pPr algn="l">
              <a:lnSpc>
                <a:spcPct val="126000"/>
              </a:lnSpc>
              <a:spcBef>
                <a:spcPts val="700"/>
              </a:spcBef>
            </a:pPr>
            <a:r>
              <a:rPr sz="1200" b="0" i="0">
                <a:solidFill>
                  <a:srgbClr val="21295C"/>
                </a:solidFill>
                <a:latin typeface="Arial"/>
              </a:rPr>
              <a:t/>
            </a:r>
            <a:r>
              <a:rPr sz="1200" b="1" i="0">
                <a:solidFill>
                  <a:srgbClr val="21295C"/>
                </a:solidFill>
                <a:latin typeface="Arial"/>
              </a:rPr>
              <a:t>Чего суд не решил:</a:t>
            </a:r>
            <a:r>
              <a:rPr sz="1200" b="0" i="0">
                <a:solidFill>
                  <a:srgbClr val="21295C"/>
                </a:solidFill>
                <a:latin typeface="Arial"/>
              </a:rPr>
              <a:t> законно ли само обучение · что было бы, если бы обучение доказуемо шло в Великобритании · устоит ли вывод о весах в апелляции.</a:t>
            </a:r>
          </a:p>
          <a:p>
            <a:pPr algn="l">
              <a:lnSpc>
                <a:spcPct val="126000"/>
              </a:lnSpc>
              <a:spcBef>
                <a:spcPts val="700"/>
              </a:spcBef>
            </a:pPr>
            <a:r>
              <a:rPr sz="1200" b="0" i="0">
                <a:solidFill>
                  <a:srgbClr val="21295C"/>
                </a:solidFill>
                <a:latin typeface="Arial"/>
              </a:rPr>
              <a:t/>
            </a:r>
            <a:r>
              <a:rPr sz="1200" b="1" i="0">
                <a:solidFill>
                  <a:srgbClr val="21295C"/>
                </a:solidFill>
                <a:latin typeface="Arial"/>
              </a:rPr>
              <a:t>Внутри корпуса — 12,3 млн изображений истца из ≈5,85 млрд пар.</a:t>
            </a:r>
            <a:r>
              <a:rPr sz="1200" b="0" i="0">
                <a:solidFill>
                  <a:srgbClr val="21295C"/>
                </a:solidFill>
                <a:latin typeface="Arial"/>
              </a:rPr>
              <a:t> По опту $2,50 это ≈$30,75 млн; по рознице $130 — ≈$1,6 млрд. Разброс в пятьдесят раз даёт один только выбор тарифа. Реально согласованная ставка — на три-четыре порядка ниже.</a:t>
            </a:r>
          </a:p>
          <a:p>
            <a:pPr algn="l">
              <a:lnSpc>
                <a:spcPct val="126000"/>
              </a:lnSpc>
              <a:spcBef>
                <a:spcPts val="700"/>
              </a:spcBef>
            </a:pPr>
            <a:r>
              <a:rPr sz="1200" b="0" i="0">
                <a:solidFill>
                  <a:srgbClr val="21295C"/>
                </a:solidFill>
                <a:latin typeface="Arial"/>
              </a:rPr>
              <a:t/>
            </a:r>
            <a:r>
              <a:rPr sz="1200" b="1" i="0">
                <a:solidFill>
                  <a:srgbClr val="21295C"/>
                </a:solidFill>
                <a:latin typeface="Arial"/>
              </a:rPr>
              <a:t>Прежде чем строить проект на правовом утверждении, спросите, какой у него статус из пяти:</a:t>
            </a:r>
            <a:r>
              <a:rPr sz="1200" b="0" i="0">
                <a:solidFill>
                  <a:srgbClr val="21295C"/>
                </a:solidFill>
                <a:latin typeface="Arial"/>
              </a:rPr>
              <a:t> иск подан · решение вынесено · мировое без признания вины · закон в силе · закон принят, в силу не вступил.</a:t>
            </a:r>
          </a:p>
        </p:txBody>
      </p:sp>
      <p:sp>
        <p:nvSpPr>
          <p:cNvPr id="18" name="Rectangle 17"/>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169405"/>
            <a:ext cx="1118585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Высокий суд Англии и Уэльса, судья Джоанна Смит, решение 4 ноября 2025 года</a:t>
            </a:r>
            <a:r>
              <a:rPr sz="1200" b="0" i="1">
                <a:solidFill>
                  <a:srgbClr val="1C7293"/>
                </a:solidFill>
                <a:latin typeface="Arial"/>
              </a:rPr>
              <a:t> · </a:t>
            </a:r>
            <a:r>
              <a:rPr sz="1200" b="0" i="1">
                <a:solidFill>
                  <a:srgbClr val="1C7293"/>
                </a:solidFill>
                <a:latin typeface="Arial"/>
              </a:rPr>
              <a:t>разрешение на апелляцию получено в январе 2026; решения апелляционного суда на 27 октября 2026 нет</a:t>
            </a:r>
            <a:r>
              <a:rPr sz="1200" b="0" i="1">
                <a:solidFill>
                  <a:srgbClr val="1C7293"/>
                </a:solidFill>
                <a:latin typeface="Arial"/>
              </a:rPr>
              <a:t> · </a:t>
            </a:r>
            <a:r>
              <a:rPr sz="1200" b="0" i="1">
                <a:solidFill>
                  <a:srgbClr val="1C7293"/>
                </a:solidFill>
                <a:latin typeface="Arial"/>
              </a:rPr>
              <a:t>прейскуранты стоковых агентств</a:t>
            </a:r>
            <a:r>
              <a:rPr sz="1200" b="0" i="1">
                <a:solidFill>
                  <a:srgbClr val="1C7293"/>
                </a:solidFill>
                <a:latin typeface="Arial"/>
              </a:rPr>
              <a:t> · </a:t>
            </a:r>
            <a:r>
              <a:rPr sz="1200" b="0" i="1">
                <a:solidFill>
                  <a:srgbClr val="1C7293"/>
                </a:solidFill>
                <a:latin typeface="Arial"/>
              </a:rPr>
              <a:t>условия лицензионных соглашений лейблов, 29.10.2025 и 25.11.2025</a:t>
            </a:r>
            <a:r>
              <a:rPr sz="1200" b="0" i="1">
                <a:solidFill>
                  <a:srgbClr val="1C7293"/>
                </a:solidFill>
                <a:latin typeface="Arial"/>
              </a:rPr>
              <a:t> · </a:t>
            </a:r>
            <a:r>
              <a:rPr sz="1200" b="0" i="1">
                <a:solidFill>
                  <a:srgbClr val="1C7293"/>
                </a:solidFill>
                <a:latin typeface="Arial"/>
              </a:rPr>
              <a:t>отказ в пересмотре, США, 2 марта 2026</a:t>
            </a:r>
            <a:r>
              <a:rPr sz="1200" b="0" i="1">
                <a:solidFill>
                  <a:srgbClr val="1C7293"/>
                </a:solidFill>
                <a:latin typeface="Arial"/>
              </a:rPr>
              <a:t> · </a:t>
            </a:r>
            <a:r>
              <a:rPr sz="1200" b="0" i="1">
                <a:solidFill>
                  <a:srgbClr val="1C7293"/>
                </a:solidFill>
                <a:latin typeface="Arial"/>
              </a:rPr>
              <a:t>Регламент ЕС об ИИ, применяется со 2 августа 2026</a:t>
            </a:r>
            <a:r>
              <a:rPr sz="1200" b="0" i="1">
                <a:solidFill>
                  <a:srgbClr val="1C7293"/>
                </a:solidFill>
                <a:latin typeface="Arial"/>
              </a:rPr>
              <a:t> · </a:t>
            </a:r>
            <a:r>
              <a:rPr sz="1200" b="0" i="1">
                <a:solidFill>
                  <a:srgbClr val="1C7293"/>
                </a:solidFill>
                <a:latin typeface="Arial"/>
              </a:rPr>
              <a:t>ФЗ № 243-ФЗ, действует с 01.09.2026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заполнена колонка «Изображение»</a:t>
            </a:r>
          </a:p>
        </p:txBody>
      </p:sp>
      <p:sp>
        <p:nvSpPr>
          <p:cNvPr id="4" name="Rounded Rectangle 3"/>
          <p:cNvSpPr/>
          <p:nvPr/>
        </p:nvSpPr>
        <p:spPr>
          <a:xfrm>
            <a:off x="374904" y="1243584"/>
            <a:ext cx="11441887" cy="8104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71897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Единица подешевела на три-четыре порядка от любой из трёх классических баз. Пять границ названы механизмом, а не симптомом.</a:t>
            </a:r>
          </a:p>
          <a:p>
            <a:pPr algn="l">
              <a:lnSpc>
                <a:spcPct val="126000"/>
              </a:lnSpc>
              <a:spcBef>
                <a:spcPts val="700"/>
              </a:spcBef>
            </a:pPr>
            <a:r>
              <a:rPr sz="1300" b="0" i="0">
                <a:solidFill>
                  <a:srgbClr val="21295C"/>
                </a:solidFill>
                <a:latin typeface="Arial"/>
              </a:rPr>
              <a:t/>
            </a:r>
            <a:r>
              <a:rPr sz="1300" b="1" i="0">
                <a:solidFill>
                  <a:srgbClr val="21295C"/>
                </a:solidFill>
                <a:latin typeface="Arial"/>
              </a:rPr>
              <a:t>Вправо уехали отбор, права и воспроизводимость — и отдельно риск приписать модели чужой выигрыш.</a:t>
            </a:r>
          </a:p>
        </p:txBody>
      </p:sp>
      <p:sp>
        <p:nvSpPr>
          <p:cNvPr id="6" name="Rectangle 5"/>
          <p:cNvSpPr/>
          <p:nvPr/>
        </p:nvSpPr>
        <p:spPr>
          <a:xfrm>
            <a:off x="502920" y="2163730"/>
            <a:ext cx="2788920" cy="323384"/>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2227738"/>
            <a:ext cx="2660903"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Тип задачи</a:t>
            </a:r>
          </a:p>
        </p:txBody>
      </p:sp>
      <p:sp>
        <p:nvSpPr>
          <p:cNvPr id="8" name="Rectangle 7"/>
          <p:cNvSpPr/>
          <p:nvPr/>
        </p:nvSpPr>
        <p:spPr>
          <a:xfrm>
            <a:off x="3291839" y="2163730"/>
            <a:ext cx="1679387" cy="323384"/>
          </a:xfrm>
          <a:prstGeom prst="rect">
            <a:avLst/>
          </a:prstGeom>
          <a:solidFill>
            <a:srgbClr val="065A82"/>
          </a:solidFill>
          <a:ln>
            <a:noFill/>
          </a:ln>
          <a:effectLst/>
        </p:spPr>
        <p:txBody>
          <a:bodyPr rtlCol="0" anchor="ctr"/>
          <a:lstStyle/>
          <a:p>
            <a:pPr algn="ctr"/>
          </a:p>
        </p:txBody>
      </p:sp>
      <p:sp>
        <p:nvSpPr>
          <p:cNvPr id="9" name="TextBox 8"/>
          <p:cNvSpPr txBox="1"/>
          <p:nvPr/>
        </p:nvSpPr>
        <p:spPr>
          <a:xfrm>
            <a:off x="3355847"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Изображение</a:t>
            </a:r>
          </a:p>
        </p:txBody>
      </p:sp>
      <p:sp>
        <p:nvSpPr>
          <p:cNvPr id="10" name="Rectangle 9"/>
          <p:cNvSpPr/>
          <p:nvPr/>
        </p:nvSpPr>
        <p:spPr>
          <a:xfrm>
            <a:off x="4971227"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1" name="TextBox 10"/>
          <p:cNvSpPr txBox="1"/>
          <p:nvPr/>
        </p:nvSpPr>
        <p:spPr>
          <a:xfrm>
            <a:off x="5035235"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Звук</a:t>
            </a:r>
          </a:p>
        </p:txBody>
      </p:sp>
      <p:sp>
        <p:nvSpPr>
          <p:cNvPr id="12" name="Rectangle 11"/>
          <p:cNvSpPr/>
          <p:nvPr/>
        </p:nvSpPr>
        <p:spPr>
          <a:xfrm>
            <a:off x="6650614"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3" name="TextBox 12"/>
          <p:cNvSpPr txBox="1"/>
          <p:nvPr/>
        </p:nvSpPr>
        <p:spPr>
          <a:xfrm>
            <a:off x="6714622"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Видео</a:t>
            </a:r>
          </a:p>
        </p:txBody>
      </p:sp>
      <p:sp>
        <p:nvSpPr>
          <p:cNvPr id="14" name="Rectangle 13"/>
          <p:cNvSpPr/>
          <p:nvPr/>
        </p:nvSpPr>
        <p:spPr>
          <a:xfrm>
            <a:off x="8330001"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5" name="TextBox 14"/>
          <p:cNvSpPr txBox="1"/>
          <p:nvPr/>
        </p:nvSpPr>
        <p:spPr>
          <a:xfrm>
            <a:off x="8394009"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Трёхмерное</a:t>
            </a:r>
          </a:p>
        </p:txBody>
      </p:sp>
      <p:sp>
        <p:nvSpPr>
          <p:cNvPr id="16" name="Rectangle 15"/>
          <p:cNvSpPr/>
          <p:nvPr/>
        </p:nvSpPr>
        <p:spPr>
          <a:xfrm>
            <a:off x="10009388"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Распознавание</a:t>
            </a:r>
          </a:p>
        </p:txBody>
      </p:sp>
      <p:sp>
        <p:nvSpPr>
          <p:cNvPr id="18" name="Rectangle 17"/>
          <p:cNvSpPr/>
          <p:nvPr/>
        </p:nvSpPr>
        <p:spPr>
          <a:xfrm>
            <a:off x="3291839" y="2436823"/>
            <a:ext cx="1679387" cy="50292"/>
          </a:xfrm>
          <a:prstGeom prst="rect">
            <a:avLst/>
          </a:prstGeom>
          <a:solidFill>
            <a:srgbClr val="F0AB00"/>
          </a:solidFill>
          <a:ln>
            <a:noFill/>
          </a:ln>
          <a:effectLst/>
        </p:spPr>
        <p:txBody>
          <a:bodyPr rtlCol="0" anchor="ctr"/>
          <a:lstStyle/>
          <a:p>
            <a:pPr algn="ctr"/>
          </a:p>
        </p:txBody>
      </p:sp>
      <p:sp>
        <p:nvSpPr>
          <p:cNvPr id="19" name="Rectangle 18"/>
          <p:cNvSpPr/>
          <p:nvPr/>
        </p:nvSpPr>
        <p:spPr>
          <a:xfrm>
            <a:off x="502920" y="2487115"/>
            <a:ext cx="2788920" cy="518753"/>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566928" y="2551123"/>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Породить первое приближение</a:t>
            </a:r>
          </a:p>
        </p:txBody>
      </p:sp>
      <p:sp>
        <p:nvSpPr>
          <p:cNvPr id="21" name="Rectangle 20"/>
          <p:cNvSpPr/>
          <p:nvPr/>
        </p:nvSpPr>
        <p:spPr>
          <a:xfrm>
            <a:off x="3291839"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3355847"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0,034–0,05 $ за изображение</a:t>
            </a:r>
          </a:p>
        </p:txBody>
      </p:sp>
      <p:sp>
        <p:nvSpPr>
          <p:cNvPr id="23" name="Rectangle 22"/>
          <p:cNvSpPr/>
          <p:nvPr/>
        </p:nvSpPr>
        <p:spPr>
          <a:xfrm>
            <a:off x="4971227"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4" name="Rectangle 23"/>
          <p:cNvSpPr/>
          <p:nvPr/>
        </p:nvSpPr>
        <p:spPr>
          <a:xfrm>
            <a:off x="6650614"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5" name="Rectangle 24"/>
          <p:cNvSpPr/>
          <p:nvPr/>
        </p:nvSpPr>
        <p:spPr>
          <a:xfrm>
            <a:off x="8330001"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6" name="Rectangle 25"/>
          <p:cNvSpPr/>
          <p:nvPr/>
        </p:nvSpPr>
        <p:spPr>
          <a:xfrm>
            <a:off x="10009388"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7" name="Rectangle 26"/>
          <p:cNvSpPr/>
          <p:nvPr/>
        </p:nvSpPr>
        <p:spPr>
          <a:xfrm>
            <a:off x="502920" y="3005869"/>
            <a:ext cx="2788920" cy="554275"/>
          </a:xfrm>
          <a:prstGeom prst="rect">
            <a:avLst/>
          </a:prstGeom>
          <a:solidFill>
            <a:srgbClr val="F4F7FA"/>
          </a:solidFill>
          <a:ln w="9525">
            <a:solidFill>
              <a:srgbClr val="D9E2EC"/>
            </a:solidFill>
          </a:ln>
          <a:effectLst/>
        </p:spPr>
        <p:txBody>
          <a:bodyPr rtlCol="0" anchor="ctr"/>
          <a:lstStyle/>
          <a:p>
            <a:pPr algn="ctr"/>
          </a:p>
        </p:txBody>
      </p:sp>
      <p:sp>
        <p:nvSpPr>
          <p:cNvPr id="28" name="TextBox 27"/>
          <p:cNvSpPr txBox="1"/>
          <p:nvPr/>
        </p:nvSpPr>
        <p:spPr>
          <a:xfrm>
            <a:off x="566928" y="3069877"/>
            <a:ext cx="2660903" cy="426259"/>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Довести до производственного качества</a:t>
            </a:r>
          </a:p>
        </p:txBody>
      </p:sp>
      <p:sp>
        <p:nvSpPr>
          <p:cNvPr id="29" name="Rectangle 28"/>
          <p:cNvSpPr/>
          <p:nvPr/>
        </p:nvSpPr>
        <p:spPr>
          <a:xfrm>
            <a:off x="3291839"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0" name="TextBox 29"/>
          <p:cNvSpPr txBox="1"/>
          <p:nvPr/>
        </p:nvSpPr>
        <p:spPr>
          <a:xfrm>
            <a:off x="3355847"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адаптеры и ручная правка</a:t>
            </a:r>
          </a:p>
        </p:txBody>
      </p:sp>
      <p:sp>
        <p:nvSpPr>
          <p:cNvPr id="31" name="Rectangle 30"/>
          <p:cNvSpPr/>
          <p:nvPr/>
        </p:nvSpPr>
        <p:spPr>
          <a:xfrm>
            <a:off x="4971227"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2" name="Rectangle 31"/>
          <p:cNvSpPr/>
          <p:nvPr/>
        </p:nvSpPr>
        <p:spPr>
          <a:xfrm>
            <a:off x="6650614"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3" name="Rectangle 32"/>
          <p:cNvSpPr/>
          <p:nvPr/>
        </p:nvSpPr>
        <p:spPr>
          <a:xfrm>
            <a:off x="8330001"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4" name="Rectangle 33"/>
          <p:cNvSpPr/>
          <p:nvPr/>
        </p:nvSpPr>
        <p:spPr>
          <a:xfrm>
            <a:off x="10009388"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5" name="Rectangle 34"/>
          <p:cNvSpPr/>
          <p:nvPr/>
        </p:nvSpPr>
        <p:spPr>
          <a:xfrm>
            <a:off x="502920" y="3560144"/>
            <a:ext cx="2788920" cy="518753"/>
          </a:xfrm>
          <a:prstGeom prst="rect">
            <a:avLst/>
          </a:prstGeom>
          <a:solidFill>
            <a:srgbClr val="FFFFFF"/>
          </a:solidFill>
          <a:ln w="9525">
            <a:solidFill>
              <a:srgbClr val="D9E2EC"/>
            </a:solidFill>
          </a:ln>
          <a:effectLst/>
        </p:spPr>
        <p:txBody>
          <a:bodyPr rtlCol="0" anchor="ctr"/>
          <a:lstStyle/>
          <a:p>
            <a:pPr algn="ctr"/>
          </a:p>
        </p:txBody>
      </p:sp>
      <p:sp>
        <p:nvSpPr>
          <p:cNvPr id="36" name="TextBox 35"/>
          <p:cNvSpPr txBox="1"/>
          <p:nvPr/>
        </p:nvSpPr>
        <p:spPr>
          <a:xfrm>
            <a:off x="566928" y="3624152"/>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Восстановить существующее</a:t>
            </a:r>
          </a:p>
        </p:txBody>
      </p:sp>
      <p:sp>
        <p:nvSpPr>
          <p:cNvPr id="37" name="Rectangle 36"/>
          <p:cNvSpPr/>
          <p:nvPr/>
        </p:nvSpPr>
        <p:spPr>
          <a:xfrm>
            <a:off x="3291839"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38" name="TextBox 37"/>
          <p:cNvSpPr txBox="1"/>
          <p:nvPr/>
        </p:nvSpPr>
        <p:spPr>
          <a:xfrm>
            <a:off x="3355847"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повышение разрешения архива</a:t>
            </a:r>
          </a:p>
        </p:txBody>
      </p:sp>
      <p:sp>
        <p:nvSpPr>
          <p:cNvPr id="39" name="Rectangle 38"/>
          <p:cNvSpPr/>
          <p:nvPr/>
        </p:nvSpPr>
        <p:spPr>
          <a:xfrm>
            <a:off x="4971227"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0" name="Rectangle 39"/>
          <p:cNvSpPr/>
          <p:nvPr/>
        </p:nvSpPr>
        <p:spPr>
          <a:xfrm>
            <a:off x="6650614"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1" name="Rectangle 40"/>
          <p:cNvSpPr/>
          <p:nvPr/>
        </p:nvSpPr>
        <p:spPr>
          <a:xfrm>
            <a:off x="8330001"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2" name="Rectangle 41"/>
          <p:cNvSpPr/>
          <p:nvPr/>
        </p:nvSpPr>
        <p:spPr>
          <a:xfrm>
            <a:off x="10009388"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3" name="Rectangle 42"/>
          <p:cNvSpPr/>
          <p:nvPr/>
        </p:nvSpPr>
        <p:spPr>
          <a:xfrm>
            <a:off x="502920" y="4078897"/>
            <a:ext cx="2788920" cy="518753"/>
          </a:xfrm>
          <a:prstGeom prst="rect">
            <a:avLst/>
          </a:prstGeom>
          <a:solidFill>
            <a:srgbClr val="F4F7FA"/>
          </a:solidFill>
          <a:ln w="9525">
            <a:solidFill>
              <a:srgbClr val="D9E2EC"/>
            </a:solidFill>
          </a:ln>
          <a:effectLst/>
        </p:spPr>
        <p:txBody>
          <a:bodyPr rtlCol="0" anchor="ctr"/>
          <a:lstStyle/>
          <a:p>
            <a:pPr algn="ctr"/>
          </a:p>
        </p:txBody>
      </p:sp>
      <p:sp>
        <p:nvSpPr>
          <p:cNvPr id="44" name="TextBox 43"/>
          <p:cNvSpPr txBox="1"/>
          <p:nvPr/>
        </p:nvSpPr>
        <p:spPr>
          <a:xfrm>
            <a:off x="566928" y="4142905"/>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Соблюсти точные величины</a:t>
            </a:r>
          </a:p>
        </p:txBody>
      </p:sp>
      <p:sp>
        <p:nvSpPr>
          <p:cNvPr id="45" name="Rectangle 44"/>
          <p:cNvSpPr/>
          <p:nvPr/>
        </p:nvSpPr>
        <p:spPr>
          <a:xfrm>
            <a:off x="3291839"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46" name="TextBox 45"/>
          <p:cNvSpPr txBox="1"/>
          <p:nvPr/>
        </p:nvSpPr>
        <p:spPr>
          <a:xfrm>
            <a:off x="3355847"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размеров в выдаче не существует</a:t>
            </a:r>
          </a:p>
        </p:txBody>
      </p:sp>
      <p:sp>
        <p:nvSpPr>
          <p:cNvPr id="47" name="Rectangle 46"/>
          <p:cNvSpPr/>
          <p:nvPr/>
        </p:nvSpPr>
        <p:spPr>
          <a:xfrm>
            <a:off x="4971227"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48" name="Rectangle 47"/>
          <p:cNvSpPr/>
          <p:nvPr/>
        </p:nvSpPr>
        <p:spPr>
          <a:xfrm>
            <a:off x="6650614"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8330001"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0" name="Rectangle 49"/>
          <p:cNvSpPr/>
          <p:nvPr/>
        </p:nvSpPr>
        <p:spPr>
          <a:xfrm>
            <a:off x="10009388"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1" name="Rectangle 50"/>
          <p:cNvSpPr/>
          <p:nvPr/>
        </p:nvSpPr>
        <p:spPr>
          <a:xfrm>
            <a:off x="502920" y="4597651"/>
            <a:ext cx="2788920" cy="714122"/>
          </a:xfrm>
          <a:prstGeom prst="rect">
            <a:avLst/>
          </a:prstGeom>
          <a:solidFill>
            <a:srgbClr val="FFFFFF"/>
          </a:solidFill>
          <a:ln w="9525">
            <a:solidFill>
              <a:srgbClr val="D9E2EC"/>
            </a:solidFill>
          </a:ln>
          <a:effectLst/>
        </p:spPr>
        <p:txBody>
          <a:bodyPr rtlCol="0" anchor="ctr"/>
          <a:lstStyle/>
          <a:p>
            <a:pPr algn="ctr"/>
          </a:p>
        </p:txBody>
      </p:sp>
      <p:sp>
        <p:nvSpPr>
          <p:cNvPr id="52" name="TextBox 51"/>
          <p:cNvSpPr txBox="1"/>
          <p:nvPr/>
        </p:nvSpPr>
        <p:spPr>
          <a:xfrm>
            <a:off x="566928" y="4661659"/>
            <a:ext cx="2660903" cy="586106"/>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Уложиться в бюджет реального времени</a:t>
            </a:r>
          </a:p>
        </p:txBody>
      </p:sp>
      <p:sp>
        <p:nvSpPr>
          <p:cNvPr id="53" name="Rectangle 52"/>
          <p:cNvSpPr/>
          <p:nvPr/>
        </p:nvSpPr>
        <p:spPr>
          <a:xfrm>
            <a:off x="3291839"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54" name="TextBox 53"/>
          <p:cNvSpPr txBox="1"/>
          <p:nvPr/>
        </p:nvSpPr>
        <p:spPr>
          <a:xfrm>
            <a:off x="3355847"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неприменимо: кадрового бюджета у стадии нет</a:t>
            </a:r>
          </a:p>
        </p:txBody>
      </p:sp>
      <p:sp>
        <p:nvSpPr>
          <p:cNvPr id="55" name="Rectangle 54"/>
          <p:cNvSpPr/>
          <p:nvPr/>
        </p:nvSpPr>
        <p:spPr>
          <a:xfrm>
            <a:off x="4971227"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6" name="Rectangle 55"/>
          <p:cNvSpPr/>
          <p:nvPr/>
        </p:nvSpPr>
        <p:spPr>
          <a:xfrm>
            <a:off x="6650614"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7" name="Rectangle 56"/>
          <p:cNvSpPr/>
          <p:nvPr/>
        </p:nvSpPr>
        <p:spPr>
          <a:xfrm>
            <a:off x="8330001"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10009388"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502920" y="5311773"/>
            <a:ext cx="2788920" cy="518753"/>
          </a:xfrm>
          <a:prstGeom prst="rect">
            <a:avLst/>
          </a:prstGeom>
          <a:solidFill>
            <a:srgbClr val="F4F7FA"/>
          </a:solidFill>
          <a:ln w="9525">
            <a:solidFill>
              <a:srgbClr val="D9E2EC"/>
            </a:solidFill>
          </a:ln>
          <a:effectLst/>
        </p:spPr>
        <p:txBody>
          <a:bodyPr rtlCol="0" anchor="ctr"/>
          <a:lstStyle/>
          <a:p>
            <a:pPr algn="ctr"/>
          </a:p>
        </p:txBody>
      </p:sp>
      <p:sp>
        <p:nvSpPr>
          <p:cNvPr id="60" name="TextBox 59"/>
          <p:cNvSpPr txBox="1"/>
          <p:nvPr/>
        </p:nvSpPr>
        <p:spPr>
          <a:xfrm>
            <a:off x="566928" y="5375781"/>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Ответить «кто отвечает»</a:t>
            </a:r>
          </a:p>
        </p:txBody>
      </p:sp>
      <p:sp>
        <p:nvSpPr>
          <p:cNvPr id="61" name="Rectangle 60"/>
          <p:cNvSpPr/>
          <p:nvPr/>
        </p:nvSpPr>
        <p:spPr>
          <a:xfrm>
            <a:off x="3291839"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2" name="TextBox 61"/>
          <p:cNvSpPr txBox="1"/>
          <p:nvPr/>
        </p:nvSpPr>
        <p:spPr>
          <a:xfrm>
            <a:off x="3355847"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63" name="Rectangle 62"/>
          <p:cNvSpPr/>
          <p:nvPr/>
        </p:nvSpPr>
        <p:spPr>
          <a:xfrm>
            <a:off x="4971227"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4" name="Rectangle 63"/>
          <p:cNvSpPr/>
          <p:nvPr/>
        </p:nvSpPr>
        <p:spPr>
          <a:xfrm>
            <a:off x="6650614"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5" name="Rectangle 64"/>
          <p:cNvSpPr/>
          <p:nvPr/>
        </p:nvSpPr>
        <p:spPr>
          <a:xfrm>
            <a:off x="8330001"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6" name="Rectangle 65"/>
          <p:cNvSpPr/>
          <p:nvPr/>
        </p:nvSpPr>
        <p:spPr>
          <a:xfrm>
            <a:off x="10009388"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7" name="Rounded Rectangle 66"/>
          <p:cNvSpPr/>
          <p:nvPr/>
        </p:nvSpPr>
        <p:spPr>
          <a:xfrm>
            <a:off x="502920" y="5912823"/>
            <a:ext cx="11185855" cy="323384"/>
          </a:xfrm>
          <a:prstGeom prst="roundRect">
            <a:avLst>
              <a:gd name="adj" fmla="val 14000"/>
            </a:avLst>
          </a:prstGeom>
          <a:solidFill>
            <a:srgbClr val="FEF5E0"/>
          </a:solidFill>
          <a:ln>
            <a:noFill/>
          </a:ln>
          <a:effectLst/>
        </p:spPr>
        <p:txBody>
          <a:bodyPr rtlCol="0" anchor="ctr"/>
          <a:lstStyle/>
          <a:p>
            <a:pPr algn="ctr"/>
          </a:p>
        </p:txBody>
      </p:sp>
      <p:sp>
        <p:nvSpPr>
          <p:cNvPr id="68" name="Rectangle 67"/>
          <p:cNvSpPr/>
          <p:nvPr/>
        </p:nvSpPr>
        <p:spPr>
          <a:xfrm>
            <a:off x="502920" y="5912823"/>
            <a:ext cx="68580" cy="323384"/>
          </a:xfrm>
          <a:prstGeom prst="rect">
            <a:avLst/>
          </a:prstGeom>
          <a:solidFill>
            <a:srgbClr val="F0AB00"/>
          </a:solidFill>
          <a:ln>
            <a:noFill/>
          </a:ln>
          <a:effectLst/>
        </p:spPr>
        <p:txBody>
          <a:bodyPr rtlCol="0" anchor="ctr"/>
          <a:lstStyle/>
          <a:p>
            <a:pPr algn="ctr"/>
          </a:p>
        </p:txBody>
      </p:sp>
      <p:sp>
        <p:nvSpPr>
          <p:cNvPr id="69" name="TextBox 68"/>
          <p:cNvSpPr txBox="1"/>
          <p:nvPr/>
        </p:nvSpPr>
        <p:spPr>
          <a:xfrm>
            <a:off x="685800" y="5976831"/>
            <a:ext cx="10783519" cy="195368"/>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АДРЕС ПЛАТЕЖА   Изображение — отбор, права</a:t>
            </a:r>
          </a:p>
        </p:txBody>
      </p:sp>
      <p:sp>
        <p:nvSpPr>
          <p:cNvPr id="70" name="Rectangle 6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2510689"/>
          </a:xfrm>
          <a:prstGeom prst="roundRect">
            <a:avLst>
              <a:gd name="adj" fmla="val 12140"/>
            </a:avLst>
          </a:prstGeom>
          <a:solidFill>
            <a:srgbClr val="F4F7FA"/>
          </a:solidFill>
          <a:ln w="19050">
            <a:solidFill>
              <a:srgbClr val="1C7293"/>
            </a:solidFill>
          </a:ln>
          <a:effectLst/>
        </p:spPr>
        <p:txBody>
          <a:bodyPr rtlCol="0" anchor="ctr"/>
          <a:lstStyle/>
          <a:p>
            <a:pPr algn="ctr"/>
          </a:p>
        </p:txBody>
      </p:sp>
      <p:pic>
        <p:nvPicPr>
          <p:cNvPr id="5" name="Picture 4" descr="s33-voiceover-booth.jpg"/>
          <p:cNvPicPr>
            <a:picLocks noChangeAspect="1"/>
          </p:cNvPicPr>
          <p:nvPr/>
        </p:nvPicPr>
        <p:blipFill>
          <a:blip r:embed="rId2"/>
          <a:stretch>
            <a:fillRect/>
          </a:stretch>
        </p:blipFill>
        <p:spPr>
          <a:xfrm>
            <a:off x="6949440" y="1051560"/>
            <a:ext cx="4602175" cy="2236369"/>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2. Синтез речи, голос исполнителя и музыка</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Звук — единственная модальность, где главное утверждение раздела проверяется собственным ухом за десять секунд и без единой таблицы. Поэтому здесь сначала показ, потом описание.</a:t>
            </a:r>
          </a:p>
        </p:txBody>
      </p:sp>
      <p:sp>
        <p:nvSpPr>
          <p:cNvPr id="9" name="TextBox 8"/>
          <p:cNvSpPr txBox="1"/>
          <p:nvPr/>
        </p:nvSpPr>
        <p:spPr>
          <a:xfrm>
            <a:off x="704088" y="3649744"/>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Три разбора по порядку:</a:t>
            </a:r>
            <a:r>
              <a:rPr sz="1550" b="0" i="0">
                <a:solidFill>
                  <a:srgbClr val="21295C"/>
                </a:solidFill>
                <a:latin typeface="Arial"/>
              </a:rPr>
              <a:t> голос человеку, у которого его отнимала болезнь · дубляж и локализация · возвращённый голос Вэла Килмера.</a:t>
            </a:r>
          </a:p>
        </p:txBody>
      </p:sp>
      <p:sp>
        <p:nvSpPr>
          <p:cNvPr id="10" name="TextBox 9"/>
          <p:cNvSpPr txBox="1"/>
          <p:nvPr/>
        </p:nvSpPr>
        <p:spPr>
          <a:xfrm>
            <a:off x="704088" y="4720609"/>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Шесть упоминаний, каждое с числом. Живой показ — в колонках зала.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Один голос, две записи. Какая из них настоящая?</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ОТВЕТА НА КАДРЕ НЕТ</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отвечает зал</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поднятая рука за А или за Б</a:t>
            </a:r>
          </a:p>
        </p:txBody>
      </p:sp>
      <p:sp>
        <p:nvSpPr>
          <p:cNvPr id="8" name="TextBox 7"/>
          <p:cNvSpPr txBox="1"/>
          <p:nvPr/>
        </p:nvSpPr>
        <p:spPr>
          <a:xfrm>
            <a:off x="502920" y="2720233"/>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Запись А</a:t>
            </a:r>
          </a:p>
        </p:txBody>
      </p:sp>
      <p:sp>
        <p:nvSpPr>
          <p:cNvPr id="9" name="Rounded Rectangle 8"/>
          <p:cNvSpPr/>
          <p:nvPr/>
        </p:nvSpPr>
        <p:spPr>
          <a:xfrm>
            <a:off x="3630168" y="2711089"/>
            <a:ext cx="6440119"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0" name="TextBox 9"/>
          <p:cNvSpPr txBox="1"/>
          <p:nvPr/>
        </p:nvSpPr>
        <p:spPr>
          <a:xfrm>
            <a:off x="3712464" y="2756809"/>
            <a:ext cx="6275527"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десять секунд речи</a:t>
            </a:r>
          </a:p>
        </p:txBody>
      </p:sp>
      <p:sp>
        <p:nvSpPr>
          <p:cNvPr id="11" name="TextBox 10"/>
          <p:cNvSpPr txBox="1"/>
          <p:nvPr/>
        </p:nvSpPr>
        <p:spPr>
          <a:xfrm>
            <a:off x="502920" y="3342025"/>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Запись Б</a:t>
            </a:r>
          </a:p>
        </p:txBody>
      </p:sp>
      <p:sp>
        <p:nvSpPr>
          <p:cNvPr id="12" name="Rounded Rectangle 11"/>
          <p:cNvSpPr/>
          <p:nvPr/>
        </p:nvSpPr>
        <p:spPr>
          <a:xfrm>
            <a:off x="3630168" y="3332881"/>
            <a:ext cx="6440119"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3712464" y="3378601"/>
            <a:ext cx="6275527"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десять секунд речи</a:t>
            </a:r>
          </a:p>
        </p:txBody>
      </p:sp>
      <p:sp>
        <p:nvSpPr>
          <p:cNvPr id="14" name="Rounded Rectangle 13"/>
          <p:cNvSpPr/>
          <p:nvPr/>
        </p:nvSpPr>
        <p:spPr>
          <a:xfrm>
            <a:off x="2011680" y="2683657"/>
            <a:ext cx="1325880" cy="1133856"/>
          </a:xfrm>
          <a:prstGeom prst="roundRect">
            <a:avLst>
              <a:gd name="adj" fmla="val 25000"/>
            </a:avLst>
          </a:prstGeom>
          <a:solidFill>
            <a:srgbClr val="FFFFFF"/>
          </a:solidFill>
          <a:ln w="19050">
            <a:solidFill>
              <a:srgbClr val="028090"/>
            </a:solidFill>
          </a:ln>
          <a:effectLst/>
        </p:spPr>
        <p:txBody>
          <a:bodyPr rtlCol="0" anchor="ctr"/>
          <a:lstStyle/>
          <a:p>
            <a:pPr algn="ctr"/>
          </a:p>
        </p:txBody>
      </p:sp>
      <p:sp>
        <p:nvSpPr>
          <p:cNvPr id="15" name="TextBox 14"/>
          <p:cNvSpPr txBox="1"/>
          <p:nvPr/>
        </p:nvSpPr>
        <p:spPr>
          <a:xfrm>
            <a:off x="2084832" y="2729377"/>
            <a:ext cx="1179576" cy="1042416"/>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один и тот же человек</a:t>
            </a:r>
          </a:p>
        </p:txBody>
      </p:sp>
      <p:sp>
        <p:nvSpPr>
          <p:cNvPr id="16" name="Rectangle 15"/>
          <p:cNvSpPr/>
          <p:nvPr/>
        </p:nvSpPr>
        <p:spPr>
          <a:xfrm>
            <a:off x="3337560" y="2923687"/>
            <a:ext cx="201168" cy="32004"/>
          </a:xfrm>
          <a:prstGeom prst="rect">
            <a:avLst/>
          </a:prstGeom>
          <a:solidFill>
            <a:srgbClr val="1C7293"/>
          </a:solidFill>
          <a:ln>
            <a:noFill/>
          </a:ln>
          <a:effectLst/>
        </p:spPr>
        <p:txBody>
          <a:bodyPr rtlCol="0" anchor="ctr"/>
          <a:lstStyle/>
          <a:p>
            <a:pPr algn="ctr"/>
          </a:p>
        </p:txBody>
      </p:sp>
      <p:sp>
        <p:nvSpPr>
          <p:cNvPr id="17" name="Rectangle 16"/>
          <p:cNvSpPr/>
          <p:nvPr/>
        </p:nvSpPr>
        <p:spPr>
          <a:xfrm>
            <a:off x="3337560" y="3545479"/>
            <a:ext cx="201168" cy="32004"/>
          </a:xfrm>
          <a:prstGeom prst="rect">
            <a:avLst/>
          </a:prstGeom>
          <a:solidFill>
            <a:srgbClr val="1C7293"/>
          </a:solidFill>
          <a:ln>
            <a:noFill/>
          </a:ln>
          <a:effectLst/>
        </p:spPr>
        <p:txBody>
          <a:bodyPr rtlCol="0" anchor="ctr"/>
          <a:lstStyle/>
          <a:p>
            <a:pPr algn="ctr"/>
          </a:p>
        </p:txBody>
      </p:sp>
      <p:sp>
        <p:nvSpPr>
          <p:cNvPr id="18" name="Rounded Rectangle 17"/>
          <p:cNvSpPr/>
          <p:nvPr/>
        </p:nvSpPr>
        <p:spPr>
          <a:xfrm>
            <a:off x="10362895" y="2683657"/>
            <a:ext cx="1325880" cy="1133856"/>
          </a:xfrm>
          <a:prstGeom prst="roundRect">
            <a:avLst>
              <a:gd name="adj" fmla="val 25000"/>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10436047" y="2729377"/>
            <a:ext cx="1179576" cy="1042416"/>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ответ — поднятая рука</a:t>
            </a:r>
          </a:p>
        </p:txBody>
      </p:sp>
      <p:sp>
        <p:nvSpPr>
          <p:cNvPr id="20" name="Rectangle 19"/>
          <p:cNvSpPr/>
          <p:nvPr/>
        </p:nvSpPr>
        <p:spPr>
          <a:xfrm>
            <a:off x="10161727" y="2923687"/>
            <a:ext cx="201168" cy="32004"/>
          </a:xfrm>
          <a:prstGeom prst="rect">
            <a:avLst/>
          </a:prstGeom>
          <a:solidFill>
            <a:srgbClr val="1C7293"/>
          </a:solidFill>
          <a:ln>
            <a:noFill/>
          </a:ln>
          <a:effectLst/>
        </p:spPr>
        <p:txBody>
          <a:bodyPr rtlCol="0" anchor="ctr"/>
          <a:lstStyle/>
          <a:p>
            <a:pPr algn="ctr"/>
          </a:p>
        </p:txBody>
      </p:sp>
      <p:sp>
        <p:nvSpPr>
          <p:cNvPr id="21" name="Rectangle 20"/>
          <p:cNvSpPr/>
          <p:nvPr/>
        </p:nvSpPr>
        <p:spPr>
          <a:xfrm>
            <a:off x="10161727" y="3545479"/>
            <a:ext cx="201168" cy="32004"/>
          </a:xfrm>
          <a:prstGeom prst="rect">
            <a:avLst/>
          </a:prstGeom>
          <a:solidFill>
            <a:srgbClr val="1C7293"/>
          </a:solidFill>
          <a:ln>
            <a:noFill/>
          </a:ln>
          <a:effectLst/>
        </p:spPr>
        <p:txBody>
          <a:bodyPr rtlCol="0" anchor="ctr"/>
          <a:lstStyle/>
          <a:p>
            <a:pPr algn="ctr"/>
          </a:p>
        </p:txBody>
      </p:sp>
      <p:sp>
        <p:nvSpPr>
          <p:cNvPr id="22" name="TextBox 21"/>
          <p:cNvSpPr txBox="1"/>
          <p:nvPr/>
        </p:nvSpPr>
        <p:spPr>
          <a:xfrm>
            <a:off x="502920" y="389066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Обе дорожки одинаковой длины и звучат подряд, без подписи и без паузы между ними</a:t>
            </a:r>
          </a:p>
        </p:txBody>
      </p:sp>
      <p:sp>
        <p:nvSpPr>
          <p:cNvPr id="23" name="Rounded Rectangle 22"/>
          <p:cNvSpPr/>
          <p:nvPr/>
        </p:nvSpPr>
        <p:spPr>
          <a:xfrm>
            <a:off x="374904" y="4197121"/>
            <a:ext cx="11441887" cy="57138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4288561"/>
            <a:ext cx="11112703" cy="194764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Сейчас прозвучат две записи одного голоса подряд. Одна записана человеком, вторая построена моделью.</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какое решение она принимает</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Звук</a:t>
            </a:r>
          </a:p>
        </p:txBody>
      </p:sp>
      <p:sp>
        <p:nvSpPr>
          <p:cNvPr id="5" name="Rounded Rectangle 4"/>
          <p:cNvSpPr/>
          <p:nvPr/>
        </p:nvSpPr>
        <p:spPr>
          <a:xfrm>
            <a:off x="1920240"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записи голоса, исходная дорожка или партитура</a:t>
            </a:r>
          </a:p>
        </p:txBody>
      </p:sp>
      <p:sp>
        <p:nvSpPr>
          <p:cNvPr id="7" name="Right Arrow 6"/>
          <p:cNvSpPr/>
          <p:nvPr/>
        </p:nvSpPr>
        <p:spPr>
          <a:xfrm>
            <a:off x="4202353"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одно из пяти ремёсел</a:t>
            </a:r>
          </a:p>
        </p:txBody>
      </p:sp>
      <p:sp>
        <p:nvSpPr>
          <p:cNvPr id="10" name="Right Arrow 9"/>
          <p:cNvSpPr/>
          <p:nvPr/>
        </p:nvSpPr>
        <p:spPr>
          <a:xfrm>
            <a:off x="6713067"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чьим голосом и какой музыкой говорит материал</a:t>
            </a:r>
          </a:p>
        </p:txBody>
      </p:sp>
      <p:sp>
        <p:nvSpPr>
          <p:cNvPr id="13" name="Right Arrow 12"/>
          <p:cNvSpPr/>
          <p:nvPr/>
        </p:nvSpPr>
        <p:spPr>
          <a:xfrm>
            <a:off x="9223781" y="1741789"/>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срок · территория · тип носителя</a:t>
            </a:r>
          </a:p>
        </p:txBody>
      </p:sp>
      <p:sp>
        <p:nvSpPr>
          <p:cNvPr id="16" name="TextBox 15"/>
          <p:cNvSpPr txBox="1"/>
          <p:nvPr/>
        </p:nvSpPr>
        <p:spPr>
          <a:xfrm>
            <a:off x="502920" y="232229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Порядок стадии: от материала к решению и его цене</a:t>
            </a:r>
          </a:p>
        </p:txBody>
      </p:sp>
      <p:sp>
        <p:nvSpPr>
          <p:cNvPr id="17" name="Rounded Rectangle 16"/>
          <p:cNvSpPr/>
          <p:nvPr/>
        </p:nvSpPr>
        <p:spPr>
          <a:xfrm>
            <a:off x="502920" y="2716414"/>
            <a:ext cx="5437479" cy="2160797"/>
          </a:xfrm>
          <a:prstGeom prst="roundRect">
            <a:avLst>
              <a:gd name="adj" fmla="val 1410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667512" y="287186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Пять ремёсел и их вход</a:t>
            </a:r>
          </a:p>
        </p:txBody>
      </p:sp>
      <p:sp>
        <p:nvSpPr>
          <p:cNvPr id="19" name="TextBox 18"/>
          <p:cNvSpPr txBox="1"/>
          <p:nvPr/>
        </p:nvSpPr>
        <p:spPr>
          <a:xfrm>
            <a:off x="667512" y="3228040"/>
            <a:ext cx="5108295" cy="1493723"/>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Синтез речи: текст плюс выбранный голос → звучащая речь</a:t>
            </a:r>
          </a:p>
          <a:p>
            <a:pPr algn="l">
              <a:lnSpc>
                <a:spcPct val="126000"/>
              </a:lnSpc>
            </a:pPr>
            <a:r>
              <a:rPr sz="1050" b="0" i="0">
                <a:solidFill>
                  <a:srgbClr val="21295C"/>
                </a:solidFill>
                <a:latin typeface="Arial"/>
              </a:rPr>
              <a:t>• Клонирование голоса: записи конкретного человека → его голос на любом тексте</a:t>
            </a:r>
          </a:p>
          <a:p>
            <a:pPr algn="l">
              <a:lnSpc>
                <a:spcPct val="126000"/>
              </a:lnSpc>
            </a:pPr>
            <a:r>
              <a:rPr sz="1050" b="0" i="0">
                <a:solidFill>
                  <a:srgbClr val="21295C"/>
                </a:solidFill>
                <a:latin typeface="Arial"/>
              </a:rPr>
              <a:t>• Локализация и дубляж: исходная дорожка плюс перевод → та же сцена на другом языке</a:t>
            </a:r>
          </a:p>
          <a:p>
            <a:pPr algn="l">
              <a:lnSpc>
                <a:spcPct val="126000"/>
              </a:lnSpc>
            </a:pPr>
            <a:r>
              <a:rPr sz="1050" b="0" i="0">
                <a:solidFill>
                  <a:srgbClr val="21295C"/>
                </a:solidFill>
                <a:latin typeface="Arial"/>
              </a:rPr>
              <a:t>• Генерация музыки: описание словами → готовый трек</a:t>
            </a:r>
          </a:p>
          <a:p>
            <a:pPr algn="l">
              <a:lnSpc>
                <a:spcPct val="126000"/>
              </a:lnSpc>
            </a:pPr>
            <a:r>
              <a:rPr sz="1050" b="0" i="0">
                <a:solidFill>
                  <a:srgbClr val="21295C"/>
                </a:solidFill>
                <a:latin typeface="Arial"/>
              </a:rPr>
              <a:t>• Разделение источников: сведённая запись → отдельно вокал, барабаны, бас</a:t>
            </a:r>
          </a:p>
        </p:txBody>
      </p:sp>
      <p:sp>
        <p:nvSpPr>
          <p:cNvPr id="20" name="Rounded Rectangle 19"/>
          <p:cNvSpPr/>
          <p:nvPr/>
        </p:nvSpPr>
        <p:spPr>
          <a:xfrm>
            <a:off x="6251295" y="2716414"/>
            <a:ext cx="5437479" cy="2160797"/>
          </a:xfrm>
          <a:prstGeom prst="roundRect">
            <a:avLst>
              <a:gd name="adj" fmla="val 14105"/>
            </a:avLst>
          </a:prstGeom>
          <a:solidFill>
            <a:srgbClr val="FFFFFF"/>
          </a:solidFill>
          <a:ln w="19050">
            <a:solidFill>
              <a:srgbClr val="028090"/>
            </a:solidFill>
          </a:ln>
          <a:effectLst/>
        </p:spPr>
        <p:txBody>
          <a:bodyPr rtlCol="0" anchor="ctr"/>
          <a:lstStyle/>
          <a:p>
            <a:pPr algn="ctr"/>
          </a:p>
        </p:txBody>
      </p:sp>
      <p:sp>
        <p:nvSpPr>
          <p:cNvPr id="21" name="TextBox 20"/>
          <p:cNvSpPr txBox="1"/>
          <p:nvPr/>
        </p:nvSpPr>
        <p:spPr>
          <a:xfrm>
            <a:off x="6415887" y="287186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Чем материал добывают</a:t>
            </a:r>
          </a:p>
        </p:txBody>
      </p:sp>
      <p:sp>
        <p:nvSpPr>
          <p:cNvPr id="22" name="TextBox 21"/>
          <p:cNvSpPr txBox="1"/>
          <p:nvPr/>
        </p:nvSpPr>
        <p:spPr>
          <a:xfrm>
            <a:off x="6415887" y="3228040"/>
            <a:ext cx="5108295" cy="1493723"/>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Студийная сессия: кабина, микрофон, звукорежиссёр, несколько дублей на фразу</a:t>
            </a:r>
          </a:p>
          <a:p>
            <a:pPr algn="l">
              <a:lnSpc>
                <a:spcPct val="126000"/>
              </a:lnSpc>
            </a:pPr>
            <a:r>
              <a:rPr sz="1000" b="0" i="0">
                <a:solidFill>
                  <a:srgbClr val="21295C"/>
                </a:solidFill>
                <a:latin typeface="Arial"/>
              </a:rPr>
              <a:t>• Домашняя будка: диктор у себя, заказчик подключается удалённо</a:t>
            </a:r>
          </a:p>
          <a:p>
            <a:pPr algn="l">
              <a:lnSpc>
                <a:spcPct val="126000"/>
              </a:lnSpc>
            </a:pPr>
            <a:r>
              <a:rPr sz="1000" b="0" i="0">
                <a:solidFill>
                  <a:srgbClr val="21295C"/>
                </a:solidFill>
                <a:latin typeface="Arial"/>
              </a:rPr>
              <a:t>• Удалённая сессия с режиссурой: правка дубль за дублем по сети</a:t>
            </a:r>
          </a:p>
          <a:p>
            <a:pPr algn="l">
              <a:lnSpc>
                <a:spcPct val="126000"/>
              </a:lnSpc>
            </a:pPr>
            <a:r>
              <a:rPr sz="1000" b="0" i="0">
                <a:solidFill>
                  <a:srgbClr val="21295C"/>
                </a:solidFill>
                <a:latin typeface="Arial"/>
              </a:rPr>
              <a:t>• Архив: радиоэфиры, интервью, прежние роли, корпоративные начитки</a:t>
            </a:r>
          </a:p>
          <a:p>
            <a:pPr algn="l">
              <a:lnSpc>
                <a:spcPct val="126000"/>
              </a:lnSpc>
            </a:pPr>
            <a:r>
              <a:rPr sz="1000" b="0" i="0">
                <a:solidFill>
                  <a:srgbClr val="21295C"/>
                </a:solidFill>
                <a:latin typeface="Arial"/>
              </a:rPr>
              <a:t>• Банкирование голоса: клиническая запись корпуса, пока человек говорит внятно</a:t>
            </a:r>
          </a:p>
          <a:p>
            <a:pPr algn="l">
              <a:lnSpc>
                <a:spcPct val="126000"/>
              </a:lnSpc>
            </a:pPr>
            <a:r>
              <a:rPr sz="1000" b="0" i="0">
                <a:solidFill>
                  <a:srgbClr val="21295C"/>
                </a:solidFill>
                <a:latin typeface="Arial"/>
              </a:rPr>
              <a:t>• Лицензированная библиотека: двадцать тысяч часов музыки с оформленными правами</a:t>
            </a:r>
          </a:p>
        </p:txBody>
      </p:sp>
      <p:sp>
        <p:nvSpPr>
          <p:cNvPr id="23" name="Rounded Rectangle 22"/>
          <p:cNvSpPr/>
          <p:nvPr/>
        </p:nvSpPr>
        <p:spPr>
          <a:xfrm>
            <a:off x="374904" y="4968652"/>
            <a:ext cx="11441887" cy="1267555"/>
          </a:xfrm>
          <a:prstGeom prst="roundRect">
            <a:avLst>
              <a:gd name="adj" fmla="val 24046"/>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5060092"/>
            <a:ext cx="11112703" cy="1176115"/>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Узнаваемость — то, чего нет ни у иллюстрации, ни у фона в кадре: голос опознаётся слушателем как принадлежащий конкретному человеку. Поэтому за звук платят по каждой координате использования отдельно.</a:t>
            </a:r>
          </a:p>
          <a:p>
            <a:pPr algn="l">
              <a:lnSpc>
                <a:spcPct val="126000"/>
              </a:lnSpc>
              <a:spcBef>
                <a:spcPts val="700"/>
              </a:spcBef>
            </a:pPr>
            <a:r>
              <a:rPr sz="1350" b="0" i="0">
                <a:solidFill>
                  <a:srgbClr val="21295C"/>
                </a:solidFill>
                <a:latin typeface="Arial"/>
              </a:rPr>
              <a:t/>
            </a:r>
            <a:r>
              <a:rPr sz="1350" b="1" i="0">
                <a:solidFill>
                  <a:srgbClr val="21295C"/>
                </a:solidFill>
                <a:latin typeface="Arial"/>
              </a:rPr>
              <a:t>Единица выхода здесь — минута речи, от 9 000 до 36 000 токенов: картинка 1024×1024 стоит 4 096 токенов, пять секунд видео высокой чёткости — 249 240.</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делали без модели</a:t>
            </a:r>
          </a:p>
        </p:txBody>
      </p:sp>
      <p:sp>
        <p:nvSpPr>
          <p:cNvPr id="4" name="Rounded Rectangle 3"/>
          <p:cNvSpPr/>
          <p:nvPr/>
        </p:nvSpPr>
        <p:spPr>
          <a:xfrm>
            <a:off x="502920" y="1335024"/>
            <a:ext cx="2105497" cy="2608622"/>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ЖИВОЙ ДИКТОР, ГОТОВАЯ МИНУТА</a:t>
            </a:r>
          </a:p>
        </p:txBody>
      </p:sp>
      <p:sp>
        <p:nvSpPr>
          <p:cNvPr id="6" name="TextBox 5"/>
          <p:cNvSpPr txBox="1"/>
          <p:nvPr/>
        </p:nvSpPr>
        <p:spPr>
          <a:xfrm>
            <a:off x="640080" y="1932846"/>
            <a:ext cx="1831177"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50–450 $</a:t>
            </a:r>
          </a:p>
        </p:txBody>
      </p:sp>
      <p:sp>
        <p:nvSpPr>
          <p:cNvPr id="7" name="TextBox 6"/>
          <p:cNvSpPr txBox="1"/>
          <p:nvPr/>
        </p:nvSpPr>
        <p:spPr>
          <a:xfrm>
            <a:off x="640080" y="2359845"/>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начинающий 50–150 · средний 150–350 · старший от 350, у верхушки за тысячу</a:t>
            </a:r>
          </a:p>
        </p:txBody>
      </p:sp>
      <p:sp>
        <p:nvSpPr>
          <p:cNvPr id="8" name="Rounded Rectangle 7"/>
          <p:cNvSpPr/>
          <p:nvPr/>
        </p:nvSpPr>
        <p:spPr>
          <a:xfrm>
            <a:off x="2773009"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ПРАВО НА ЭФИР — ОТДЕЛЬНАЯ СТРОКА</a:t>
            </a:r>
          </a:p>
        </p:txBody>
      </p:sp>
      <p:sp>
        <p:nvSpPr>
          <p:cNvPr id="10" name="TextBox 9"/>
          <p:cNvSpPr txBox="1"/>
          <p:nvPr/>
        </p:nvSpPr>
        <p:spPr>
          <a:xfrm>
            <a:off x="2910169"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650 $ … 6 500 $</a:t>
            </a:r>
          </a:p>
        </p:txBody>
      </p:sp>
      <p:sp>
        <p:nvSpPr>
          <p:cNvPr id="11" name="TextBox 10"/>
          <p:cNvSpPr txBox="1"/>
          <p:nvPr/>
        </p:nvSpPr>
        <p:spPr>
          <a:xfrm>
            <a:off x="2910169"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национальная реклама от 650 · год национального эфира 3 200–3 500 · бессрочный выкуп до 6 500</a:t>
            </a:r>
          </a:p>
        </p:txBody>
      </p:sp>
      <p:sp>
        <p:nvSpPr>
          <p:cNvPr id="12" name="Rounded Rectangle 11"/>
          <p:cNvSpPr/>
          <p:nvPr/>
        </p:nvSpPr>
        <p:spPr>
          <a:xfrm>
            <a:off x="5043098"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СТОКОВЫЙ ТРЕК ПО ЛИЦЕНЗИИ</a:t>
            </a:r>
          </a:p>
        </p:txBody>
      </p:sp>
      <p:sp>
        <p:nvSpPr>
          <p:cNvPr id="14" name="TextBox 13"/>
          <p:cNvSpPr txBox="1"/>
          <p:nvPr/>
        </p:nvSpPr>
        <p:spPr>
          <a:xfrm>
            <a:off x="5180258" y="1932846"/>
            <a:ext cx="1831177"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a:t>
            </a:r>
          </a:p>
        </p:txBody>
      </p:sp>
      <p:sp>
        <p:nvSpPr>
          <p:cNvPr id="15" name="TextBox 14"/>
          <p:cNvSpPr txBox="1"/>
          <p:nvPr/>
        </p:nvSpPr>
        <p:spPr>
          <a:xfrm>
            <a:off x="5180258" y="2359845"/>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расширенная 100–500 и выше; в России 10 000–50 000 ₽</a:t>
            </a:r>
          </a:p>
        </p:txBody>
      </p:sp>
      <p:sp>
        <p:nvSpPr>
          <p:cNvPr id="16" name="Rounded Rectangle 15"/>
          <p:cNvSpPr/>
          <p:nvPr/>
        </p:nvSpPr>
        <p:spPr>
          <a:xfrm>
            <a:off x="7313188"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ОРИГИНАЛЬНАЯ МУЗЫКА НА ЗАКАЗ</a:t>
            </a:r>
          </a:p>
        </p:txBody>
      </p:sp>
      <p:sp>
        <p:nvSpPr>
          <p:cNvPr id="18" name="TextBox 17"/>
          <p:cNvSpPr txBox="1"/>
          <p:nvPr/>
        </p:nvSpPr>
        <p:spPr>
          <a:xfrm>
            <a:off x="7450348"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200–1 500 $ за минуту</a:t>
            </a:r>
          </a:p>
        </p:txBody>
      </p:sp>
      <p:sp>
        <p:nvSpPr>
          <p:cNvPr id="19" name="TextBox 18"/>
          <p:cNvSpPr txBox="1"/>
          <p:nvPr/>
        </p:nvSpPr>
        <p:spPr>
          <a:xfrm>
            <a:off x="7450348" y="2750268"/>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России от 150 000 ₽ за трек; с генерацией не сравнивается — другая природа продукта</a:t>
            </a:r>
          </a:p>
        </p:txBody>
      </p:sp>
      <p:sp>
        <p:nvSpPr>
          <p:cNvPr id="20" name="Rounded Rectangle 19"/>
          <p:cNvSpPr/>
          <p:nvPr/>
        </p:nvSpPr>
        <p:spPr>
          <a:xfrm>
            <a:off x="9583277"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ЦИФРОВАЯ КОПИЯ ГОЛОСА ПО ДОГОВОРУ ПРОФСОЮЗА</a:t>
            </a:r>
          </a:p>
        </p:txBody>
      </p:sp>
      <p:sp>
        <p:nvSpPr>
          <p:cNvPr id="22" name="TextBox 21"/>
          <p:cNvSpPr txBox="1"/>
          <p:nvPr/>
        </p:nvSpPr>
        <p:spPr>
          <a:xfrm>
            <a:off x="9720437" y="2140317"/>
            <a:ext cx="1831177"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956,75 $ за четыре часа</a:t>
            </a:r>
          </a:p>
        </p:txBody>
      </p:sp>
      <p:sp>
        <p:nvSpPr>
          <p:cNvPr id="23" name="TextBox 22"/>
          <p:cNvSpPr txBox="1"/>
          <p:nvPr/>
        </p:nvSpPr>
        <p:spPr>
          <a:xfrm>
            <a:off x="9720437" y="2940765"/>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плюс 16,5 % в фонды; использование копии в рекламе — полуторная сессионная ставка</a:t>
            </a:r>
          </a:p>
        </p:txBody>
      </p:sp>
      <p:sp>
        <p:nvSpPr>
          <p:cNvPr id="24" name="Rounded Rectangle 23"/>
          <p:cNvSpPr/>
          <p:nvPr/>
        </p:nvSpPr>
        <p:spPr>
          <a:xfrm>
            <a:off x="502920" y="4126526"/>
            <a:ext cx="5437479" cy="2109681"/>
          </a:xfrm>
          <a:prstGeom prst="roundRect">
            <a:avLst>
              <a:gd name="adj" fmla="val 14447"/>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667512" y="428197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считается в той же единице</a:t>
            </a:r>
          </a:p>
        </p:txBody>
      </p:sp>
      <p:sp>
        <p:nvSpPr>
          <p:cNvPr id="26" name="TextBox 25"/>
          <p:cNvSpPr txBox="1"/>
          <p:nvPr/>
        </p:nvSpPr>
        <p:spPr>
          <a:xfrm>
            <a:off x="667512" y="4638152"/>
            <a:ext cx="5108295" cy="1442607"/>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Живой диктор: доллар за готовую минуту, со всеми дублями внутри цены</a:t>
            </a:r>
          </a:p>
          <a:p>
            <a:pPr algn="l">
              <a:lnSpc>
                <a:spcPct val="126000"/>
              </a:lnSpc>
            </a:pPr>
            <a:r>
              <a:rPr sz="1200" b="0" i="0">
                <a:solidFill>
                  <a:srgbClr val="21295C"/>
                </a:solidFill>
                <a:latin typeface="Arial"/>
              </a:rPr>
              <a:t>• Стоковая лицензия на трек: 20–100 $ — правильная опорная пара для генерации</a:t>
            </a:r>
          </a:p>
          <a:p>
            <a:pPr algn="l">
              <a:lnSpc>
                <a:spcPct val="126000"/>
              </a:lnSpc>
            </a:pPr>
            <a:r>
              <a:rPr sz="1200" b="0" i="0">
                <a:solidFill>
                  <a:srgbClr val="21295C"/>
                </a:solidFill>
                <a:latin typeface="Arial"/>
              </a:rPr>
              <a:t>• Сессия согласия на цифровую копию: цена назначена договором до всякого закона</a:t>
            </a:r>
          </a:p>
        </p:txBody>
      </p:sp>
      <p:sp>
        <p:nvSpPr>
          <p:cNvPr id="27" name="Rounded Rectangle 26"/>
          <p:cNvSpPr/>
          <p:nvPr/>
        </p:nvSpPr>
        <p:spPr>
          <a:xfrm>
            <a:off x="6251295" y="4126526"/>
            <a:ext cx="5437479" cy="2109681"/>
          </a:xfrm>
          <a:prstGeom prst="roundRect">
            <a:avLst>
              <a:gd name="adj" fmla="val 14447"/>
            </a:avLst>
          </a:prstGeom>
          <a:solidFill>
            <a:srgbClr val="FFFFFF"/>
          </a:solidFill>
          <a:ln w="19050">
            <a:solidFill>
              <a:srgbClr val="028090"/>
            </a:solidFill>
          </a:ln>
          <a:effectLst/>
        </p:spPr>
        <p:txBody>
          <a:bodyPr rtlCol="0" anchor="ctr"/>
          <a:lstStyle/>
          <a:p>
            <a:pPr algn="ctr"/>
          </a:p>
        </p:txBody>
      </p:sp>
      <p:sp>
        <p:nvSpPr>
          <p:cNvPr id="28" name="TextBox 27"/>
          <p:cNvSpPr txBox="1"/>
          <p:nvPr/>
        </p:nvSpPr>
        <p:spPr>
          <a:xfrm>
            <a:off x="6415887" y="428197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в ту же единицу не складывается</a:t>
            </a:r>
          </a:p>
        </p:txBody>
      </p:sp>
      <p:sp>
        <p:nvSpPr>
          <p:cNvPr id="29" name="TextBox 28"/>
          <p:cNvSpPr txBox="1"/>
          <p:nvPr/>
        </p:nvSpPr>
        <p:spPr>
          <a:xfrm>
            <a:off x="6415887" y="4638152"/>
            <a:ext cx="5108295" cy="1442607"/>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Аудиокнижная ставка: 150–250 $ за час работы у начинающего, 500–1 000 и выше у верхушки — час работы и готовая минута живут в разных бухгалтериях</a:t>
            </a:r>
          </a:p>
          <a:p>
            <a:pPr algn="l">
              <a:lnSpc>
                <a:spcPct val="126000"/>
              </a:lnSpc>
            </a:pPr>
            <a:r>
              <a:rPr sz="900" b="0" i="0">
                <a:solidFill>
                  <a:srgbClr val="21295C"/>
                </a:solidFill>
                <a:latin typeface="Arial"/>
              </a:rPr>
              <a:t>• Оригинальная партитура на заказ: другая природа продукта, сравнение даёт фальшивые пять-шесть порядков</a:t>
            </a:r>
          </a:p>
          <a:p>
            <a:pPr algn="l">
              <a:lnSpc>
                <a:spcPct val="126000"/>
              </a:lnSpc>
            </a:pPr>
            <a:r>
              <a:rPr sz="900" b="0" i="0">
                <a:solidFill>
                  <a:srgbClr val="21295C"/>
                </a:solidFill>
                <a:latin typeface="Arial"/>
              </a:rPr>
              <a:t>• Банкирование голоса в клинике: режим существует, числа часов и стоимости не называет ни один источник</a:t>
            </a:r>
          </a:p>
          <a:p>
            <a:pPr algn="l">
              <a:lnSpc>
                <a:spcPct val="126000"/>
              </a:lnSpc>
            </a:pPr>
            <a:r>
              <a:rPr sz="900" b="0" i="0">
                <a:solidFill>
                  <a:srgbClr val="21295C"/>
                </a:solidFill>
                <a:latin typeface="Arial"/>
              </a:rPr>
              <a:t>• Субтитры вместо дубляжа: режим назван, тарифа за минуту готового материала в подборке нет</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 редакция 2026; соглашение SAG-AFTRA о цифровых репликах</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голос человеку, у которого его отнимала болезнь</a:t>
            </a:r>
          </a:p>
        </p:txBody>
      </p:sp>
      <p:sp>
        <p:nvSpPr>
          <p:cNvPr id="4" name="Rounded Rectangle 3"/>
          <p:cNvSpPr/>
          <p:nvPr/>
        </p:nvSpPr>
        <p:spPr>
          <a:xfrm>
            <a:off x="502920" y="1335024"/>
            <a:ext cx="2654395" cy="3425304"/>
          </a:xfrm>
          <a:prstGeom prst="roundRect">
            <a:avLst>
              <a:gd name="adj" fmla="val 1148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8007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380075"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не успеть — голос теряется навсегда; записать рано — часы и силы в худший период жизни</a:t>
            </a:r>
          </a:p>
        </p:txBody>
      </p:sp>
      <p:sp>
        <p:nvSpPr>
          <p:cNvPr id="7" name="TextBox 6"/>
          <p:cNvSpPr txBox="1"/>
          <p:nvPr/>
        </p:nvSpPr>
        <p:spPr>
          <a:xfrm>
            <a:off x="640080" y="2576747"/>
            <a:ext cx="238007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записи, которой хватило бы на модель, после определённого момента взять негде; денежной шкалы у второй ошибки нет, и это свойство случая</a:t>
            </a:r>
          </a:p>
        </p:txBody>
      </p:sp>
      <p:sp>
        <p:nvSpPr>
          <p:cNvPr id="8" name="Rounded Rectangle 7"/>
          <p:cNvSpPr/>
          <p:nvPr/>
        </p:nvSpPr>
        <p:spPr>
          <a:xfrm>
            <a:off x="3321907" y="1335024"/>
            <a:ext cx="2654395" cy="3425304"/>
          </a:xfrm>
          <a:prstGeom prst="roundRect">
            <a:avLst>
              <a:gd name="adj" fmla="val 1148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59067" y="1472184"/>
            <a:ext cx="238007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ОБА КЛАССИЧЕСКИХ РЕЖИМА</a:t>
            </a:r>
          </a:p>
        </p:txBody>
      </p:sp>
      <p:sp>
        <p:nvSpPr>
          <p:cNvPr id="10" name="TextBox 9"/>
          <p:cNvSpPr txBox="1"/>
          <p:nvPr/>
        </p:nvSpPr>
        <p:spPr>
          <a:xfrm>
            <a:off x="3459067" y="1725375"/>
            <a:ext cx="2380075"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числа нет ни у одного источника</a:t>
            </a:r>
          </a:p>
        </p:txBody>
      </p:sp>
      <p:sp>
        <p:nvSpPr>
          <p:cNvPr id="11" name="TextBox 10"/>
          <p:cNvSpPr txBox="1"/>
          <p:nvPr/>
        </p:nvSpPr>
        <p:spPr>
          <a:xfrm>
            <a:off x="3459067" y="2933220"/>
            <a:ext cx="238007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банкирование голоса: ни часов записи по протоколу, ни стоимости услуги в клинике. Безличный голос из коробки дёшев и доступен давно, но в ту же единицу не складывается — он даёт другой исход, человек говорит чужим голосом</a:t>
            </a:r>
          </a:p>
        </p:txBody>
      </p:sp>
      <p:sp>
        <p:nvSpPr>
          <p:cNvPr id="12" name="Rounded Rectangle 11"/>
          <p:cNvSpPr/>
          <p:nvPr/>
        </p:nvSpPr>
        <p:spPr>
          <a:xfrm>
            <a:off x="6140894" y="1335024"/>
            <a:ext cx="2654395" cy="3425304"/>
          </a:xfrm>
          <a:prstGeom prst="roundRect">
            <a:avLst>
              <a:gd name="adj" fmla="val 114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278054" y="1472184"/>
            <a:ext cx="238007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4" name="TextBox 13"/>
          <p:cNvSpPr txBox="1"/>
          <p:nvPr/>
        </p:nvSpPr>
        <p:spPr>
          <a:xfrm>
            <a:off x="6278054" y="1725375"/>
            <a:ext cx="2380075"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1–2 минуты записи для копии, 1–3 часа для дообучения</a:t>
            </a:r>
          </a:p>
        </p:txBody>
      </p:sp>
      <p:sp>
        <p:nvSpPr>
          <p:cNvPr id="15" name="TextBox 14"/>
          <p:cNvSpPr txBox="1"/>
          <p:nvPr/>
        </p:nvSpPr>
        <p:spPr>
          <a:xfrm>
            <a:off x="6278054" y="2169349"/>
            <a:ext cx="238007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лицензия 1 200 $ в год, людям с этим диагнозом в США — бесплатно. Переехал не бюджет, а момент, когда решение надо принять</a:t>
            </a:r>
          </a:p>
        </p:txBody>
      </p:sp>
      <p:sp>
        <p:nvSpPr>
          <p:cNvPr id="16" name="Rounded Rectangle 15"/>
          <p:cNvSpPr/>
          <p:nvPr/>
        </p:nvSpPr>
        <p:spPr>
          <a:xfrm>
            <a:off x="9106186" y="1335024"/>
            <a:ext cx="2582588" cy="3732645"/>
          </a:xfrm>
          <a:prstGeom prst="roundRect">
            <a:avLst>
              <a:gd name="adj" fmla="val 11802"/>
            </a:avLst>
          </a:prstGeom>
          <a:solidFill>
            <a:srgbClr val="F4F7FA"/>
          </a:solidFill>
          <a:ln w="19050">
            <a:solidFill>
              <a:srgbClr val="1C7293"/>
            </a:solidFill>
          </a:ln>
          <a:effectLst/>
        </p:spPr>
        <p:txBody>
          <a:bodyPr rtlCol="0" anchor="ctr"/>
          <a:lstStyle/>
          <a:p>
            <a:pPr algn="ctr"/>
          </a:p>
        </p:txBody>
      </p:sp>
      <p:pic>
        <p:nvPicPr>
          <p:cNvPr id="17" name="Picture 16" descr="s37-peter-scott-morgan-portret.jpg"/>
          <p:cNvPicPr>
            <a:picLocks noChangeAspect="1"/>
          </p:cNvPicPr>
          <p:nvPr/>
        </p:nvPicPr>
        <p:blipFill>
          <a:blip r:embed="rId2"/>
          <a:stretch>
            <a:fillRect/>
          </a:stretch>
        </p:blipFill>
        <p:spPr>
          <a:xfrm>
            <a:off x="9243346" y="1472184"/>
            <a:ext cx="2308268" cy="3458325"/>
          </a:xfrm>
          <a:prstGeom prst="rect">
            <a:avLst/>
          </a:prstGeom>
        </p:spPr>
      </p:pic>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1569287"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Что переехало</a:t>
            </a:r>
          </a:p>
        </p:txBody>
      </p:sp>
      <p:sp>
        <p:nvSpPr>
          <p:cNvPr id="20" name="TextBox 19"/>
          <p:cNvSpPr txBox="1"/>
          <p:nvPr/>
        </p:nvSpPr>
        <p:spPr>
          <a:xfrm>
            <a:off x="2474543" y="5433429"/>
            <a:ext cx="9031351"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Переехал момент решения: право на модель голоса после человека решается договором, не нормой</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ElevenLabs Impact Program; Bridging Voice; Scott-Morgan Foundation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дубляж и локализация</a:t>
            </a:r>
          </a:p>
        </p:txBody>
      </p:sp>
      <p:sp>
        <p:nvSpPr>
          <p:cNvPr id="4" name="Rounded Rectangle 3"/>
          <p:cNvSpPr/>
          <p:nvPr/>
        </p:nvSpPr>
        <p:spPr>
          <a:xfrm>
            <a:off x="502920"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ОШИБКИ «ЗАПИСАЛИ И НЕ ПОДОШЛО»</a:t>
            </a:r>
          </a:p>
        </p:txBody>
      </p:sp>
      <p:sp>
        <p:nvSpPr>
          <p:cNvPr id="6" name="TextBox 5"/>
          <p:cNvSpPr txBox="1"/>
          <p:nvPr/>
        </p:nvSpPr>
        <p:spPr>
          <a:xfrm>
            <a:off x="640080" y="2140317"/>
            <a:ext cx="1831177"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сессия 50–450 $ плюс право на эфир 650–6 500 $</a:t>
            </a:r>
          </a:p>
        </p:txBody>
      </p:sp>
      <p:sp>
        <p:nvSpPr>
          <p:cNvPr id="7" name="TextBox 6"/>
          <p:cNvSpPr txBox="1"/>
          <p:nvPr/>
        </p:nvSpPr>
        <p:spPr>
          <a:xfrm>
            <a:off x="640080" y="2787990"/>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переписать реплику после сдачи — значит собрать диктора заново</a:t>
            </a:r>
          </a:p>
        </p:txBody>
      </p:sp>
      <p:sp>
        <p:nvSpPr>
          <p:cNvPr id="8" name="Rounded Rectangle 7"/>
          <p:cNvSpPr/>
          <p:nvPr/>
        </p:nvSpPr>
        <p:spPr>
          <a:xfrm>
            <a:off x="2773009"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 1 — ЖИВОЙ ДИКТОР</a:t>
            </a:r>
          </a:p>
        </p:txBody>
      </p:sp>
      <p:sp>
        <p:nvSpPr>
          <p:cNvPr id="10" name="TextBox 9"/>
          <p:cNvSpPr txBox="1"/>
          <p:nvPr/>
        </p:nvSpPr>
        <p:spPr>
          <a:xfrm>
            <a:off x="2910169" y="2140317"/>
            <a:ext cx="1831177" cy="63069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50–450 $ за готовую минуту</a:t>
            </a:r>
          </a:p>
        </p:txBody>
      </p:sp>
      <p:sp>
        <p:nvSpPr>
          <p:cNvPr id="11" name="TextBox 10"/>
          <p:cNvSpPr txBox="1"/>
          <p:nvPr/>
        </p:nvSpPr>
        <p:spPr>
          <a:xfrm>
            <a:off x="2910169" y="2771016"/>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начинающий 50–150 · старший от 350; посчитан в той же единице, что модель</a:t>
            </a:r>
          </a:p>
        </p:txBody>
      </p:sp>
      <p:sp>
        <p:nvSpPr>
          <p:cNvPr id="12" name="Rounded Rectangle 11"/>
          <p:cNvSpPr/>
          <p:nvPr/>
        </p:nvSpPr>
        <p:spPr>
          <a:xfrm>
            <a:off x="5043098"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 2 — СУБТИТРЫ</a:t>
            </a:r>
          </a:p>
        </p:txBody>
      </p:sp>
      <p:sp>
        <p:nvSpPr>
          <p:cNvPr id="14" name="TextBox 13"/>
          <p:cNvSpPr txBox="1"/>
          <p:nvPr/>
        </p:nvSpPr>
        <p:spPr>
          <a:xfrm>
            <a:off x="5180258" y="1932846"/>
            <a:ext cx="1831177"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тарифа за минуту в подборке нет</a:t>
            </a:r>
          </a:p>
        </p:txBody>
      </p:sp>
      <p:sp>
        <p:nvSpPr>
          <p:cNvPr id="15" name="TextBox 14"/>
          <p:cNvSpPr txBox="1"/>
          <p:nvPr/>
        </p:nvSpPr>
        <p:spPr>
          <a:xfrm>
            <a:off x="5180258" y="3038842"/>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режим назван, своего числа не имеет — сказано на месте</a:t>
            </a:r>
          </a:p>
        </p:txBody>
      </p:sp>
      <p:sp>
        <p:nvSpPr>
          <p:cNvPr id="16" name="Rounded Rectangle 15"/>
          <p:cNvSpPr/>
          <p:nvPr/>
        </p:nvSpPr>
        <p:spPr>
          <a:xfrm>
            <a:off x="7313188"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8" name="TextBox 17"/>
          <p:cNvSpPr txBox="1"/>
          <p:nvPr/>
        </p:nvSpPr>
        <p:spPr>
          <a:xfrm>
            <a:off x="7450348" y="1725375"/>
            <a:ext cx="1831177" cy="698597"/>
          </a:xfrm>
          <a:prstGeom prst="rect">
            <a:avLst/>
          </a:prstGeom>
          <a:noFill/>
        </p:spPr>
        <p:txBody>
          <a:bodyPr wrap="square" lIns="0" rIns="0" tIns="0" bIns="0" anchor="t">
            <a:spAutoFit/>
          </a:bodyPr>
          <a:lstStyle/>
          <a:p>
            <a:pPr algn="l">
              <a:lnSpc>
                <a:spcPct val="108000"/>
              </a:lnSpc>
            </a:pPr>
            <a:r>
              <a:rPr sz="1950" b="1" i="0">
                <a:solidFill>
                  <a:srgbClr val="21295C"/>
                </a:solidFill>
                <a:latin typeface="Arial"/>
              </a:rPr>
              <a:t>0,03–0,072 $ за минуту речи</a:t>
            </a:r>
          </a:p>
        </p:txBody>
      </p:sp>
      <p:sp>
        <p:nvSpPr>
          <p:cNvPr id="19" name="TextBox 18"/>
          <p:cNvSpPr txBox="1"/>
          <p:nvPr/>
        </p:nvSpPr>
        <p:spPr>
          <a:xfrm>
            <a:off x="7450348" y="2423973"/>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0,04 $ за тысячу знаков у быстрой модели, 0,08 $ у качественной, 0,03 $ у третьего поставщика</a:t>
            </a:r>
          </a:p>
        </p:txBody>
      </p:sp>
      <p:sp>
        <p:nvSpPr>
          <p:cNvPr id="20" name="Rounded Rectangle 19"/>
          <p:cNvSpPr/>
          <p:nvPr/>
        </p:nvSpPr>
        <p:spPr>
          <a:xfrm>
            <a:off x="9583277" y="1335024"/>
            <a:ext cx="2105497" cy="2474708"/>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В ОДНОЙ ЕДИНИЦЕ</a:t>
            </a:r>
          </a:p>
        </p:txBody>
      </p:sp>
      <p:sp>
        <p:nvSpPr>
          <p:cNvPr id="22" name="TextBox 21"/>
          <p:cNvSpPr txBox="1"/>
          <p:nvPr/>
        </p:nvSpPr>
        <p:spPr>
          <a:xfrm>
            <a:off x="9720437" y="1932846"/>
            <a:ext cx="1831177"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 700–15 000 раз</a:t>
            </a:r>
          </a:p>
        </p:txBody>
      </p:sp>
      <p:sp>
        <p:nvSpPr>
          <p:cNvPr id="23" name="TextBox 22"/>
          <p:cNvSpPr txBox="1"/>
          <p:nvPr/>
        </p:nvSpPr>
        <p:spPr>
          <a:xfrm>
            <a:off x="9720437" y="2750268"/>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посчитан от классического режима, не от нуля</a:t>
            </a:r>
          </a:p>
        </p:txBody>
      </p:sp>
      <p:sp>
        <p:nvSpPr>
          <p:cNvPr id="24" name="Rounded Rectangle 23"/>
          <p:cNvSpPr/>
          <p:nvPr/>
        </p:nvSpPr>
        <p:spPr>
          <a:xfrm>
            <a:off x="502920" y="3992612"/>
            <a:ext cx="5437479" cy="1730110"/>
          </a:xfrm>
          <a:prstGeom prst="roundRect">
            <a:avLst>
              <a:gd name="adj" fmla="val 17617"/>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667512" y="414806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модель закрыла</a:t>
            </a:r>
          </a:p>
        </p:txBody>
      </p:sp>
      <p:sp>
        <p:nvSpPr>
          <p:cNvPr id="26" name="TextBox 25"/>
          <p:cNvSpPr txBox="1"/>
          <p:nvPr/>
        </p:nvSpPr>
        <p:spPr>
          <a:xfrm>
            <a:off x="667512" y="4504239"/>
            <a:ext cx="5108295" cy="1063035"/>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Перенос на другой язык с сохранением тембра говорящего стал кнопкой в браузере</a:t>
            </a:r>
          </a:p>
          <a:p>
            <a:pPr algn="l">
              <a:lnSpc>
                <a:spcPct val="126000"/>
              </a:lnSpc>
            </a:pPr>
            <a:r>
              <a:rPr sz="900" b="0" i="0">
                <a:solidFill>
                  <a:srgbClr val="21295C"/>
                </a:solidFill>
                <a:latin typeface="Arial"/>
              </a:rPr>
              <a:t>• Семьдесят с лишним языков у одной системы, разметка интонации тегами прямо в тексте</a:t>
            </a:r>
          </a:p>
          <a:p>
            <a:pPr algn="l">
              <a:lnSpc>
                <a:spcPct val="126000"/>
              </a:lnSpc>
            </a:pPr>
            <a:r>
              <a:rPr sz="900" b="0" i="0">
                <a:solidFill>
                  <a:srgbClr val="21295C"/>
                </a:solidFill>
                <a:latin typeface="Arial"/>
              </a:rPr>
              <a:t>• Свыше четверти времени просмотра на каналах, включивших дубляж, приходится на дорожки не основного языка видео. Знаменатель — время просмотра этих каналов; сколько их, площадка не раскрыла</a:t>
            </a:r>
          </a:p>
        </p:txBody>
      </p:sp>
      <p:sp>
        <p:nvSpPr>
          <p:cNvPr id="27" name="Rounded Rectangle 26"/>
          <p:cNvSpPr/>
          <p:nvPr/>
        </p:nvSpPr>
        <p:spPr>
          <a:xfrm>
            <a:off x="6251295" y="3992612"/>
            <a:ext cx="5437479" cy="1730110"/>
          </a:xfrm>
          <a:prstGeom prst="roundRect">
            <a:avLst>
              <a:gd name="adj" fmla="val 17617"/>
            </a:avLst>
          </a:prstGeom>
          <a:solidFill>
            <a:srgbClr val="FFFFFF"/>
          </a:solidFill>
          <a:ln w="19050">
            <a:solidFill>
              <a:srgbClr val="028090"/>
            </a:solidFill>
          </a:ln>
          <a:effectLst/>
        </p:spPr>
        <p:txBody>
          <a:bodyPr rtlCol="0" anchor="ctr"/>
          <a:lstStyle/>
          <a:p>
            <a:pPr algn="ctr"/>
          </a:p>
        </p:txBody>
      </p:sp>
      <p:sp>
        <p:nvSpPr>
          <p:cNvPr id="28" name="TextBox 27"/>
          <p:cNvSpPr txBox="1"/>
          <p:nvPr/>
        </p:nvSpPr>
        <p:spPr>
          <a:xfrm>
            <a:off x="6415887" y="414806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осталось человеку</a:t>
            </a:r>
          </a:p>
        </p:txBody>
      </p:sp>
      <p:sp>
        <p:nvSpPr>
          <p:cNvPr id="29" name="TextBox 28"/>
          <p:cNvSpPr txBox="1"/>
          <p:nvPr/>
        </p:nvSpPr>
        <p:spPr>
          <a:xfrm>
            <a:off x="6415887" y="4504239"/>
            <a:ext cx="5108295" cy="1063035"/>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Укладка: перевод обязан уместиться в длительность оригинальной реплики — это называется изохронией</a:t>
            </a:r>
          </a:p>
          <a:p>
            <a:pPr algn="l">
              <a:lnSpc>
                <a:spcPct val="126000"/>
              </a:lnSpc>
            </a:pPr>
            <a:r>
              <a:rPr sz="950" b="0" i="0">
                <a:solidFill>
                  <a:srgbClr val="21295C"/>
                </a:solidFill>
                <a:latin typeface="Arial"/>
              </a:rPr>
              <a:t>• Эмоция: из голого текста не берётся, проставляется разметкой руками</a:t>
            </a:r>
          </a:p>
          <a:p>
            <a:pPr algn="l">
              <a:lnSpc>
                <a:spcPct val="126000"/>
              </a:lnSpc>
            </a:pPr>
            <a:r>
              <a:rPr sz="950" b="0" i="0">
                <a:solidFill>
                  <a:srgbClr val="21295C"/>
                </a:solidFill>
                <a:latin typeface="Arial"/>
              </a:rPr>
              <a:t>• Синхронизация губ в кадре в состав дубляжа не входит и делается отдельной моделью</a:t>
            </a:r>
          </a:p>
          <a:p>
            <a:pPr algn="l">
              <a:lnSpc>
                <a:spcPct val="126000"/>
              </a:lnSpc>
            </a:pPr>
            <a:r>
              <a:rPr sz="950" b="0" i="0">
                <a:solidFill>
                  <a:srgbClr val="21295C"/>
                </a:solidFill>
                <a:latin typeface="Arial"/>
              </a:rPr>
              <a:t>• Цена ошибки «не стали локализовать» не названа числом ни в одном источнике</a:t>
            </a:r>
          </a:p>
        </p:txBody>
      </p:sp>
      <p:sp>
        <p:nvSpPr>
          <p:cNvPr id="30" name="Rounded Rectangle 29"/>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Экономия идёт на том, что заказчик замечает последним: нормализация текста у быстрой модели отключена ради низкой задержки.</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 2026; прейскуранты ElevenLabs и Gemini, прочитаны 27.10.2026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возвращённый голос Вэла Килмера</a:t>
            </a:r>
          </a:p>
        </p:txBody>
      </p:sp>
      <p:sp>
        <p:nvSpPr>
          <p:cNvPr id="4" name="Rounded Rectangle 3"/>
          <p:cNvSpPr/>
          <p:nvPr/>
        </p:nvSpPr>
        <p:spPr>
          <a:xfrm>
            <a:off x="502920" y="1335024"/>
            <a:ext cx="2655301" cy="3796866"/>
          </a:xfrm>
          <a:prstGeom prst="roundRect">
            <a:avLst>
              <a:gd name="adj" fmla="val 1147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8098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38098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исход двоичный</a:t>
            </a:r>
          </a:p>
        </p:txBody>
      </p:sp>
      <p:sp>
        <p:nvSpPr>
          <p:cNvPr id="7" name="TextBox 6"/>
          <p:cNvSpPr txBox="1"/>
          <p:nvPr/>
        </p:nvSpPr>
        <p:spPr>
          <a:xfrm>
            <a:off x="640080" y="2542797"/>
            <a:ext cx="238098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либо роль звучит голосом актёра, либо не звучит вовсе; в деньгах это не измеряется</a:t>
            </a:r>
          </a:p>
        </p:txBody>
      </p:sp>
      <p:sp>
        <p:nvSpPr>
          <p:cNvPr id="8" name="Rounded Rectangle 7"/>
          <p:cNvSpPr/>
          <p:nvPr/>
        </p:nvSpPr>
        <p:spPr>
          <a:xfrm>
            <a:off x="3322813" y="1335024"/>
            <a:ext cx="2655301" cy="3796866"/>
          </a:xfrm>
          <a:prstGeom prst="roundRect">
            <a:avLst>
              <a:gd name="adj" fmla="val 1147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59973" y="1472184"/>
            <a:ext cx="238098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a:t>
            </a:r>
          </a:p>
        </p:txBody>
      </p:sp>
      <p:sp>
        <p:nvSpPr>
          <p:cNvPr id="10" name="TextBox 9"/>
          <p:cNvSpPr txBox="1"/>
          <p:nvPr/>
        </p:nvSpPr>
        <p:spPr>
          <a:xfrm>
            <a:off x="3459973" y="1725375"/>
            <a:ext cx="2380981"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его нет, и причина медицинская</a:t>
            </a:r>
          </a:p>
        </p:txBody>
      </p:sp>
      <p:sp>
        <p:nvSpPr>
          <p:cNvPr id="11" name="TextBox 10"/>
          <p:cNvSpPr txBox="1"/>
          <p:nvPr/>
        </p:nvSpPr>
        <p:spPr>
          <a:xfrm>
            <a:off x="3459973" y="2933220"/>
            <a:ext cx="2380981"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голос утрачен после трахеотомии при раке горла в 2014 году; остаются роль без голоса или роль с чужим голосом — другой исход, а не другая цена</a:t>
            </a:r>
          </a:p>
        </p:txBody>
      </p:sp>
      <p:sp>
        <p:nvSpPr>
          <p:cNvPr id="12" name="Rounded Rectangle 11"/>
          <p:cNvSpPr/>
          <p:nvPr/>
        </p:nvSpPr>
        <p:spPr>
          <a:xfrm>
            <a:off x="6142707" y="1335024"/>
            <a:ext cx="2655301" cy="3796866"/>
          </a:xfrm>
          <a:prstGeom prst="roundRect">
            <a:avLst>
              <a:gd name="adj" fmla="val 1147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279867" y="1472184"/>
            <a:ext cx="238098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4" name="TextBox 13"/>
          <p:cNvSpPr txBox="1"/>
          <p:nvPr/>
        </p:nvSpPr>
        <p:spPr>
          <a:xfrm>
            <a:off x="6279867" y="1725375"/>
            <a:ext cx="2380981" cy="1156920"/>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больше сорока моделей голоса, выбрана одна</a:t>
            </a:r>
          </a:p>
        </p:txBody>
      </p:sp>
      <p:sp>
        <p:nvSpPr>
          <p:cNvPr id="15" name="TextBox 14"/>
          <p:cNvSpPr txBox="1"/>
          <p:nvPr/>
        </p:nvSpPr>
        <p:spPr>
          <a:xfrm>
            <a:off x="6279867" y="2882296"/>
            <a:ext cx="2380981" cy="211243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работали с архивом записей, данных оказалось примерно в десять раз меньше обычного; сколько именно часов — не названо, «в десять раз меньше» числом не является. Технических публикаций по проекту в открытых источниках нет: компания поглощена, её блог закрыт</a:t>
            </a:r>
          </a:p>
        </p:txBody>
      </p:sp>
      <p:sp>
        <p:nvSpPr>
          <p:cNvPr id="16" name="Rounded Rectangle 15"/>
          <p:cNvSpPr/>
          <p:nvPr/>
        </p:nvSpPr>
        <p:spPr>
          <a:xfrm>
            <a:off x="9108905" y="1335024"/>
            <a:ext cx="2579870" cy="3732645"/>
          </a:xfrm>
          <a:prstGeom prst="roundRect">
            <a:avLst>
              <a:gd name="adj" fmla="val 11814"/>
            </a:avLst>
          </a:prstGeom>
          <a:solidFill>
            <a:srgbClr val="F4F7FA"/>
          </a:solidFill>
          <a:ln w="19050">
            <a:solidFill>
              <a:srgbClr val="1C7293"/>
            </a:solidFill>
          </a:ln>
          <a:effectLst/>
        </p:spPr>
        <p:txBody>
          <a:bodyPr rtlCol="0" anchor="ctr"/>
          <a:lstStyle/>
          <a:p>
            <a:pPr algn="ctr"/>
          </a:p>
        </p:txBody>
      </p:sp>
      <p:pic>
        <p:nvPicPr>
          <p:cNvPr id="17" name="Picture 16" descr="s39-val-kilmer-portret.jpg"/>
          <p:cNvPicPr>
            <a:picLocks noChangeAspect="1"/>
          </p:cNvPicPr>
          <p:nvPr/>
        </p:nvPicPr>
        <p:blipFill>
          <a:blip r:embed="rId2"/>
          <a:stretch>
            <a:fillRect/>
          </a:stretch>
        </p:blipFill>
        <p:spPr>
          <a:xfrm>
            <a:off x="9246065" y="1472184"/>
            <a:ext cx="2305550" cy="3458325"/>
          </a:xfrm>
          <a:prstGeom prst="rect">
            <a:avLst/>
          </a:prstGeom>
        </p:spPr>
      </p:pic>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1569287"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Что переехало</a:t>
            </a:r>
          </a:p>
        </p:txBody>
      </p:sp>
      <p:sp>
        <p:nvSpPr>
          <p:cNvPr id="20" name="TextBox 19"/>
          <p:cNvSpPr txBox="1"/>
          <p:nvPr/>
        </p:nvSpPr>
        <p:spPr>
          <a:xfrm>
            <a:off x="2474543" y="5433429"/>
            <a:ext cx="9031351"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Переехал прецедент: модель голоса переживает человека, и дальше ею распоряжается договор, не право</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Sonantic (куплена Spotify в 2022); «Топ Ган: Мэверик», 2022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Шесть наблюдений, каждое с числом</a:t>
            </a:r>
          </a:p>
        </p:txBody>
      </p:sp>
      <p:sp>
        <p:nvSpPr>
          <p:cNvPr id="4" name="Rounded Rectangle 3"/>
          <p:cNvSpPr/>
          <p:nvPr/>
        </p:nvSpPr>
        <p:spPr>
          <a:xfrm>
            <a:off x="502920" y="1335024"/>
            <a:ext cx="2105497" cy="2995273"/>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ВОССТАНОВЛЕННЫЙ ВОКАЛ</a:t>
            </a:r>
          </a:p>
        </p:txBody>
      </p:sp>
      <p:sp>
        <p:nvSpPr>
          <p:cNvPr id="6" name="TextBox 5"/>
          <p:cNvSpPr txBox="1"/>
          <p:nvPr/>
        </p:nvSpPr>
        <p:spPr>
          <a:xfrm>
            <a:off x="640080" y="1932846"/>
            <a:ext cx="1831177"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дебют на 45-м месте</a:t>
            </a:r>
          </a:p>
        </p:txBody>
      </p:sp>
      <p:sp>
        <p:nvSpPr>
          <p:cNvPr id="7" name="TextBox 6"/>
          <p:cNvSpPr txBox="1"/>
          <p:nvPr/>
        </p:nvSpPr>
        <p:spPr>
          <a:xfrm>
            <a:off x="640080"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первая новая запись за одиннадцать лет и первое попадание на кантри-радио за двадцать</a:t>
            </a:r>
          </a:p>
        </p:txBody>
      </p:sp>
      <p:sp>
        <p:nvSpPr>
          <p:cNvPr id="8" name="Rounded Rectangle 7"/>
          <p:cNvSpPr/>
          <p:nvPr/>
        </p:nvSpPr>
        <p:spPr>
          <a:xfrm>
            <a:off x="2773009"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ГОЛОС, ВОСПРОИЗВЕДЁННЫЙ ПО АРХИВУ</a:t>
            </a:r>
          </a:p>
        </p:txBody>
      </p:sp>
      <p:sp>
        <p:nvSpPr>
          <p:cNvPr id="10" name="TextBox 9"/>
          <p:cNvSpPr txBox="1"/>
          <p:nvPr/>
        </p:nvSpPr>
        <p:spPr>
          <a:xfrm>
            <a:off x="2910169" y="2140317"/>
            <a:ext cx="1831177"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записям сорок пять лет</a:t>
            </a:r>
          </a:p>
        </p:txBody>
      </p:sp>
      <p:sp>
        <p:nvSpPr>
          <p:cNvPr id="11" name="TextBox 10"/>
          <p:cNvSpPr txBox="1"/>
          <p:nvPr/>
        </p:nvSpPr>
        <p:spPr>
          <a:xfrm>
            <a:off x="2910169" y="3348163"/>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права переданы прижизненно и явно — отсюда и начинается счёт прецедентов</a:t>
            </a:r>
          </a:p>
        </p:txBody>
      </p:sp>
      <p:sp>
        <p:nvSpPr>
          <p:cNvPr id="12" name="Rounded Rectangle 11"/>
          <p:cNvSpPr/>
          <p:nvPr/>
        </p:nvSpPr>
        <p:spPr>
          <a:xfrm>
            <a:off x="5043098"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МАШИННАЯ ПРАВКА ВЫГОВОРА</a:t>
            </a:r>
          </a:p>
        </p:txBody>
      </p:sp>
      <p:sp>
        <p:nvSpPr>
          <p:cNvPr id="14" name="TextBox 13"/>
          <p:cNvSpPr txBox="1"/>
          <p:nvPr/>
        </p:nvSpPr>
        <p:spPr>
          <a:xfrm>
            <a:off x="5180258" y="1932846"/>
            <a:ext cx="1831177" cy="953221"/>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трогали только венгерские реплики</a:t>
            </a:r>
          </a:p>
        </p:txBody>
      </p:sp>
      <p:sp>
        <p:nvSpPr>
          <p:cNvPr id="15" name="TextBox 14"/>
          <p:cNvSpPr txBox="1"/>
          <p:nvPr/>
        </p:nvSpPr>
        <p:spPr>
          <a:xfrm>
            <a:off x="5180258" y="2886068"/>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английскую речь не трогали; в том же наградном сезоне тем же сервисом пользовались три номинанта</a:t>
            </a:r>
          </a:p>
        </p:txBody>
      </p:sp>
      <p:sp>
        <p:nvSpPr>
          <p:cNvPr id="16" name="Rounded Rectangle 15"/>
          <p:cNvSpPr/>
          <p:nvPr/>
        </p:nvSpPr>
        <p:spPr>
          <a:xfrm>
            <a:off x="7313188"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ПЕСНЯ, В КОТОРОЙ НЕ СГЕНЕРИРОВАНО НИ НОТЫ</a:t>
            </a:r>
          </a:p>
        </p:txBody>
      </p:sp>
      <p:sp>
        <p:nvSpPr>
          <p:cNvPr id="18" name="TextBox 17"/>
          <p:cNvSpPr txBox="1"/>
          <p:nvPr/>
        </p:nvSpPr>
        <p:spPr>
          <a:xfrm>
            <a:off x="7450348" y="2140317"/>
            <a:ext cx="1831177"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сорок пять лет от демо до выпуска</a:t>
            </a:r>
          </a:p>
        </p:txBody>
      </p:sp>
      <p:sp>
        <p:nvSpPr>
          <p:cNvPr id="19" name="TextBox 18"/>
          <p:cNvSpPr txBox="1"/>
          <p:nvPr/>
        </p:nvSpPr>
        <p:spPr>
          <a:xfrm>
            <a:off x="7450348" y="3348163"/>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попытка свести её в 1995 году провалилась: отделить голос от фортепиано было нечем</a:t>
            </a:r>
          </a:p>
        </p:txBody>
      </p:sp>
      <p:sp>
        <p:nvSpPr>
          <p:cNvPr id="20" name="Rounded Rectangle 19"/>
          <p:cNvSpPr/>
          <p:nvPr/>
        </p:nvSpPr>
        <p:spPr>
          <a:xfrm>
            <a:off x="9583277"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ЖЕСТОВЫЙ ПЕРЕВОД В РАСПИСАНИИ</a:t>
            </a:r>
          </a:p>
        </p:txBody>
      </p:sp>
      <p:sp>
        <p:nvSpPr>
          <p:cNvPr id="22" name="TextBox 21"/>
          <p:cNvSpPr txBox="1"/>
          <p:nvPr/>
        </p:nvSpPr>
        <p:spPr>
          <a:xfrm>
            <a:off x="9720437"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2 500 вокзалов</a:t>
            </a:r>
          </a:p>
        </p:txBody>
      </p:sp>
      <p:sp>
        <p:nvSpPr>
          <p:cNvPr id="23" name="TextBox 22"/>
          <p:cNvSpPr txBox="1"/>
          <p:nvPr/>
        </p:nvSpPr>
        <p:spPr>
          <a:xfrm>
            <a:off x="9720437" y="2750268"/>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вся железнодорожная сеть Великобритании; аватары построены на съёмках реальных глухих людей, получающих отчисления</a:t>
            </a:r>
          </a:p>
        </p:txBody>
      </p:sp>
      <p:sp>
        <p:nvSpPr>
          <p:cNvPr id="24" name="Rounded Rectangle 23"/>
          <p:cNvSpPr/>
          <p:nvPr/>
        </p:nvSpPr>
        <p:spPr>
          <a:xfrm>
            <a:off x="502920" y="4494889"/>
            <a:ext cx="11185855"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5" name="TextBox 24"/>
          <p:cNvSpPr txBox="1"/>
          <p:nvPr/>
        </p:nvSpPr>
        <p:spPr>
          <a:xfrm>
            <a:off x="640080" y="4632049"/>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ОТРАСЛЬ НАПИСАЛА НОРМУ РАНЬШЕ ЗАКОНОДАТЕЛЯ</a:t>
            </a:r>
          </a:p>
        </p:txBody>
      </p:sp>
      <p:sp>
        <p:nvSpPr>
          <p:cNvPr id="26" name="TextBox 25"/>
          <p:cNvSpPr txBox="1"/>
          <p:nvPr/>
        </p:nvSpPr>
        <p:spPr>
          <a:xfrm>
            <a:off x="640080" y="4885240"/>
            <a:ext cx="1091153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вклад человека «более чем ничтожный»</a:t>
            </a:r>
          </a:p>
        </p:txBody>
      </p:sp>
      <p:sp>
        <p:nvSpPr>
          <p:cNvPr id="27" name="TextBox 26"/>
          <p:cNvSpPr txBox="1"/>
          <p:nvPr/>
        </p:nvSpPr>
        <p:spPr>
          <a:xfrm>
            <a:off x="640080" y="5312239"/>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определение есть в правилах премии 2023 года и отсутствует в любом законе на 2026-й</a:t>
            </a:r>
          </a:p>
        </p:txBody>
      </p:sp>
      <p:sp>
        <p:nvSpPr>
          <p:cNvPr id="28" name="Rounded Rectangle 27"/>
          <p:cNvSpPr/>
          <p:nvPr/>
        </p:nvSpPr>
        <p:spPr>
          <a:xfrm>
            <a:off x="374904" y="5752083"/>
            <a:ext cx="11441887" cy="48412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843523"/>
            <a:ext cx="11112703" cy="39268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Каждое наблюдение здесь держится на выборе инструмента под задачу: где запись существует, её разделяют; где её нет — порождают.</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CNN, 06.05.2024; Variety, 2022; CBC, 2026; The Conversation, 2023; Signapse; Forbes, 16.06.2023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Нейронный аудиокодек и остаточное квантование</a:t>
            </a:r>
          </a:p>
        </p:txBody>
      </p:sp>
      <p:sp>
        <p:nvSpPr>
          <p:cNvPr id="4" name="Rounded Rectangle 3"/>
          <p:cNvSpPr/>
          <p:nvPr/>
        </p:nvSpPr>
        <p:spPr>
          <a:xfrm>
            <a:off x="502920" y="1335024"/>
            <a:ext cx="3423818" cy="2097450"/>
          </a:xfrm>
          <a:prstGeom prst="roundRect">
            <a:avLst>
              <a:gd name="adj" fmla="val 14531"/>
            </a:avLst>
          </a:prstGeom>
          <a:solidFill>
            <a:srgbClr val="F4F7FA"/>
          </a:solidFill>
          <a:ln w="19050">
            <a:solidFill>
              <a:srgbClr val="1C7293"/>
            </a:solidFill>
          </a:ln>
          <a:effectLst/>
        </p:spPr>
        <p:txBody>
          <a:bodyPr rtlCol="0" anchor="ctr"/>
          <a:lstStyle/>
          <a:p>
            <a:pPr algn="ctr"/>
          </a:p>
        </p:txBody>
      </p:sp>
      <p:sp>
        <p:nvSpPr>
          <p:cNvPr id="5" name="Rounded Rectangle 4"/>
          <p:cNvSpPr/>
          <p:nvPr/>
        </p:nvSpPr>
        <p:spPr>
          <a:xfrm>
            <a:off x="630936" y="1463040"/>
            <a:ext cx="3167786" cy="256032"/>
          </a:xfrm>
          <a:prstGeom prst="roundRect">
            <a:avLst>
              <a:gd name="adj" fmla="val 38000"/>
            </a:avLst>
          </a:prstGeom>
          <a:solidFill>
            <a:srgbClr val="E6F2F4"/>
          </a:solidFill>
          <a:ln>
            <a:noFill/>
          </a:ln>
          <a:effectLst/>
        </p:spPr>
        <p:txBody>
          <a:bodyPr rtlCol="0" anchor="ctr"/>
          <a:lstStyle/>
          <a:p>
            <a:pPr algn="ctr"/>
          </a:p>
        </p:txBody>
      </p:sp>
      <p:sp>
        <p:nvSpPr>
          <p:cNvPr id="6" name="TextBox 5"/>
          <p:cNvSpPr txBox="1"/>
          <p:nvPr/>
        </p:nvSpPr>
        <p:spPr>
          <a:xfrm>
            <a:off x="685800" y="1463040"/>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вход</a:t>
            </a:r>
          </a:p>
        </p:txBody>
      </p:sp>
      <p:sp>
        <p:nvSpPr>
          <p:cNvPr id="7" name="TextBox 6"/>
          <p:cNvSpPr txBox="1"/>
          <p:nvPr/>
        </p:nvSpPr>
        <p:spPr>
          <a:xfrm>
            <a:off x="630936"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Свёрточный кодировщик</a:t>
            </a:r>
          </a:p>
        </p:txBody>
      </p:sp>
      <p:sp>
        <p:nvSpPr>
          <p:cNvPr id="8" name="TextBox 7"/>
          <p:cNvSpPr txBox="1"/>
          <p:nvPr/>
        </p:nvSpPr>
        <p:spPr>
          <a:xfrm>
            <a:off x="630936" y="2178580"/>
            <a:ext cx="3167786" cy="112587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волна 24 000 отсчётов в секунду → один вектор на 320 отсчётов</a:t>
            </a:r>
          </a:p>
          <a:p>
            <a:pPr algn="l">
              <a:lnSpc>
                <a:spcPct val="114000"/>
              </a:lnSpc>
              <a:spcBef>
                <a:spcPts val="400"/>
              </a:spcBef>
            </a:pPr>
            <a:r>
              <a:rPr sz="1200" b="0" i="0">
                <a:solidFill>
                  <a:srgbClr val="21295C"/>
                </a:solidFill>
                <a:latin typeface="Arial"/>
              </a:rPr>
              <a:t/>
            </a:r>
            <a:r>
              <a:rPr sz="1200" b="0" i="0">
                <a:solidFill>
                  <a:srgbClr val="21295C"/>
                </a:solidFill>
                <a:latin typeface="Arial"/>
              </a:rPr>
              <a:t>75 кадров в секунду, один кадр — 13,3 миллисекунды: архитектурная задержка модели</a:t>
            </a:r>
          </a:p>
        </p:txBody>
      </p:sp>
      <p:sp>
        <p:nvSpPr>
          <p:cNvPr id="9" name="Right Arrow 8"/>
          <p:cNvSpPr/>
          <p:nvPr/>
        </p:nvSpPr>
        <p:spPr>
          <a:xfrm>
            <a:off x="4018178" y="2310597"/>
            <a:ext cx="274320" cy="146304"/>
          </a:xfrm>
          <a:prstGeom prst="rightArrow">
            <a:avLst/>
          </a:prstGeom>
          <a:solidFill>
            <a:srgbClr val="1C7293"/>
          </a:solidFill>
          <a:ln>
            <a:noFill/>
          </a:ln>
          <a:effectLst/>
        </p:spPr>
        <p:txBody>
          <a:bodyPr rtlCol="0" anchor="ctr"/>
          <a:lstStyle/>
          <a:p>
            <a:pPr algn="ctr"/>
          </a:p>
        </p:txBody>
      </p:sp>
      <p:sp>
        <p:nvSpPr>
          <p:cNvPr id="10" name="Rounded Rectangle 9"/>
          <p:cNvSpPr/>
          <p:nvPr/>
        </p:nvSpPr>
        <p:spPr>
          <a:xfrm>
            <a:off x="4383938" y="1335024"/>
            <a:ext cx="3423818" cy="2097450"/>
          </a:xfrm>
          <a:prstGeom prst="roundRect">
            <a:avLst>
              <a:gd name="adj" fmla="val 14531"/>
            </a:avLst>
          </a:prstGeom>
          <a:solidFill>
            <a:srgbClr val="F4F7FA"/>
          </a:solidFill>
          <a:ln w="31750">
            <a:solidFill>
              <a:srgbClr val="F0AB00"/>
            </a:solidFill>
          </a:ln>
          <a:effectLst/>
        </p:spPr>
        <p:txBody>
          <a:bodyPr rtlCol="0" anchor="ctr"/>
          <a:lstStyle/>
          <a:p>
            <a:pPr algn="ctr"/>
          </a:p>
        </p:txBody>
      </p:sp>
      <p:sp>
        <p:nvSpPr>
          <p:cNvPr id="11" name="Rounded Rectangle 10"/>
          <p:cNvSpPr/>
          <p:nvPr/>
        </p:nvSpPr>
        <p:spPr>
          <a:xfrm>
            <a:off x="4511954" y="1463040"/>
            <a:ext cx="3167786" cy="256032"/>
          </a:xfrm>
          <a:prstGeom prst="roundRect">
            <a:avLst>
              <a:gd name="adj" fmla="val 38000"/>
            </a:avLst>
          </a:prstGeom>
          <a:solidFill>
            <a:srgbClr val="F0AB00"/>
          </a:solidFill>
          <a:ln>
            <a:noFill/>
          </a:ln>
          <a:effectLst/>
        </p:spPr>
        <p:txBody>
          <a:bodyPr rtlCol="0" anchor="ctr"/>
          <a:lstStyle/>
          <a:p>
            <a:pPr algn="ctr"/>
          </a:p>
        </p:txBody>
      </p:sp>
      <p:sp>
        <p:nvSpPr>
          <p:cNvPr id="12" name="TextBox 11"/>
          <p:cNvSpPr txBox="1"/>
          <p:nvPr/>
        </p:nvSpPr>
        <p:spPr>
          <a:xfrm>
            <a:off x="4566818" y="1463040"/>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работа · узкое место</a:t>
            </a:r>
          </a:p>
        </p:txBody>
      </p:sp>
      <p:sp>
        <p:nvSpPr>
          <p:cNvPr id="13" name="TextBox 12"/>
          <p:cNvSpPr txBox="1"/>
          <p:nvPr/>
        </p:nvSpPr>
        <p:spPr>
          <a:xfrm>
            <a:off x="4511954"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Остаточное квантование</a:t>
            </a:r>
          </a:p>
        </p:txBody>
      </p:sp>
      <p:sp>
        <p:nvSpPr>
          <p:cNvPr id="14" name="TextBox 13"/>
          <p:cNvSpPr txBox="1"/>
          <p:nvPr/>
        </p:nvSpPr>
        <p:spPr>
          <a:xfrm>
            <a:off x="4511954" y="2178580"/>
            <a:ext cx="3167786" cy="112587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каскад из 8 кодовых книг по 1 024 вектора — каждая уточняет ошибку предыдущей</a:t>
            </a:r>
          </a:p>
          <a:p>
            <a:pPr algn="l">
              <a:lnSpc>
                <a:spcPct val="114000"/>
              </a:lnSpc>
              <a:spcBef>
                <a:spcPts val="400"/>
              </a:spcBef>
            </a:pPr>
            <a:r>
              <a:rPr sz="1200" b="0" i="0">
                <a:solidFill>
                  <a:srgbClr val="21295C"/>
                </a:solidFill>
                <a:latin typeface="Arial"/>
              </a:rPr>
              <a:t/>
            </a:r>
            <a:r>
              <a:rPr sz="1200" b="0" i="0">
                <a:solidFill>
                  <a:srgbClr val="21295C"/>
                </a:solidFill>
                <a:latin typeface="Arial"/>
              </a:rPr>
              <a:t>одна плоская книга потребовала бы два в восьмидесятой степени векторов; восемь книг по 1 024 — уже обычная таблица</a:t>
            </a:r>
          </a:p>
        </p:txBody>
      </p:sp>
      <p:sp>
        <p:nvSpPr>
          <p:cNvPr id="15" name="Right Arrow 14"/>
          <p:cNvSpPr/>
          <p:nvPr/>
        </p:nvSpPr>
        <p:spPr>
          <a:xfrm>
            <a:off x="7899196" y="2310597"/>
            <a:ext cx="274320" cy="146304"/>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8264956" y="1335024"/>
            <a:ext cx="3423818" cy="2097450"/>
          </a:xfrm>
          <a:prstGeom prst="roundRect">
            <a:avLst>
              <a:gd name="adj" fmla="val 14531"/>
            </a:avLst>
          </a:prstGeom>
          <a:solidFill>
            <a:srgbClr val="F4F7FA"/>
          </a:solidFill>
          <a:ln w="19050">
            <a:solidFill>
              <a:srgbClr val="1C7293"/>
            </a:solidFill>
          </a:ln>
          <a:effectLst/>
        </p:spPr>
        <p:txBody>
          <a:bodyPr rtlCol="0" anchor="ctr"/>
          <a:lstStyle/>
          <a:p>
            <a:pPr algn="ctr"/>
          </a:p>
        </p:txBody>
      </p:sp>
      <p:sp>
        <p:nvSpPr>
          <p:cNvPr id="17" name="Rounded Rectangle 16"/>
          <p:cNvSpPr/>
          <p:nvPr/>
        </p:nvSpPr>
        <p:spPr>
          <a:xfrm>
            <a:off x="8392972" y="1463040"/>
            <a:ext cx="3167786" cy="256032"/>
          </a:xfrm>
          <a:prstGeom prst="roundRect">
            <a:avLst>
              <a:gd name="adj" fmla="val 38000"/>
            </a:avLst>
          </a:prstGeom>
          <a:solidFill>
            <a:srgbClr val="E6F2F4"/>
          </a:solidFill>
          <a:ln>
            <a:noFill/>
          </a:ln>
          <a:effectLst/>
        </p:spPr>
        <p:txBody>
          <a:bodyPr rtlCol="0" anchor="ctr"/>
          <a:lstStyle/>
          <a:p>
            <a:pPr algn="ctr"/>
          </a:p>
        </p:txBody>
      </p:sp>
      <p:sp>
        <p:nvSpPr>
          <p:cNvPr id="18" name="TextBox 17"/>
          <p:cNvSpPr txBox="1"/>
          <p:nvPr/>
        </p:nvSpPr>
        <p:spPr>
          <a:xfrm>
            <a:off x="8447836" y="1463040"/>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выход</a:t>
            </a:r>
          </a:p>
        </p:txBody>
      </p:sp>
      <p:sp>
        <p:nvSpPr>
          <p:cNvPr id="19" name="TextBox 18"/>
          <p:cNvSpPr txBox="1"/>
          <p:nvPr/>
        </p:nvSpPr>
        <p:spPr>
          <a:xfrm>
            <a:off x="8392972"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Декодировщик</a:t>
            </a:r>
          </a:p>
        </p:txBody>
      </p:sp>
      <p:sp>
        <p:nvSpPr>
          <p:cNvPr id="20" name="TextBox 19"/>
          <p:cNvSpPr txBox="1"/>
          <p:nvPr/>
        </p:nvSpPr>
        <p:spPr>
          <a:xfrm>
            <a:off x="8392972" y="2178580"/>
            <a:ext cx="3167786" cy="112587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собирает волну обратно из токенов, обучается сквозно вместе с кодировщиком</a:t>
            </a:r>
          </a:p>
          <a:p>
            <a:pPr algn="l">
              <a:lnSpc>
                <a:spcPct val="114000"/>
              </a:lnSpc>
              <a:spcBef>
                <a:spcPts val="400"/>
              </a:spcBef>
            </a:pPr>
            <a:r>
              <a:rPr sz="1200" b="0" i="0">
                <a:solidFill>
                  <a:srgbClr val="21295C"/>
                </a:solidFill>
                <a:latin typeface="Arial"/>
              </a:rPr>
              <a:t/>
            </a:r>
            <a:r>
              <a:rPr sz="1200" b="0" i="0">
                <a:solidFill>
                  <a:srgbClr val="21295C"/>
                </a:solidFill>
                <a:latin typeface="Arial"/>
              </a:rPr>
              <a:t>минута звука — 36 000 токенов при восьми книгах, в 147 раз меньше 5 292 000 отсчётов с компакт-диска</a:t>
            </a:r>
          </a:p>
        </p:txBody>
      </p:sp>
      <p:sp>
        <p:nvSpPr>
          <p:cNvPr id="21" name="Rectangle 20"/>
          <p:cNvSpPr/>
          <p:nvPr/>
        </p:nvSpPr>
        <p:spPr>
          <a:xfrm>
            <a:off x="6084874" y="3487338"/>
            <a:ext cx="21945" cy="274320"/>
          </a:xfrm>
          <a:prstGeom prst="rect">
            <a:avLst/>
          </a:prstGeom>
          <a:solidFill>
            <a:srgbClr val="065A82"/>
          </a:solidFill>
          <a:ln>
            <a:noFill/>
          </a:ln>
          <a:effectLst/>
        </p:spPr>
        <p:txBody>
          <a:bodyPr rtlCol="0" anchor="ctr"/>
          <a:lstStyle/>
          <a:p>
            <a:pPr algn="ctr"/>
          </a:p>
        </p:txBody>
      </p:sp>
      <p:sp>
        <p:nvSpPr>
          <p:cNvPr id="22" name="Rounded Rectangle 21"/>
          <p:cNvSpPr/>
          <p:nvPr/>
        </p:nvSpPr>
        <p:spPr>
          <a:xfrm>
            <a:off x="6036411" y="3427902"/>
            <a:ext cx="118872" cy="118872"/>
          </a:xfrm>
          <a:prstGeom prst="roundRect">
            <a:avLst>
              <a:gd name="adj" fmla="val 50000"/>
            </a:avLst>
          </a:prstGeom>
          <a:solidFill>
            <a:srgbClr val="065A82"/>
          </a:solidFill>
          <a:ln>
            <a:noFill/>
          </a:ln>
          <a:effectLst/>
        </p:spPr>
        <p:txBody>
          <a:bodyPr rtlCol="0" anchor="ctr"/>
          <a:lstStyle/>
          <a:p>
            <a:pPr algn="ctr"/>
          </a:p>
        </p:txBody>
      </p:sp>
      <p:sp>
        <p:nvSpPr>
          <p:cNvPr id="23" name="Rounded Rectangle 22"/>
          <p:cNvSpPr/>
          <p:nvPr/>
        </p:nvSpPr>
        <p:spPr>
          <a:xfrm>
            <a:off x="502920" y="3761658"/>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621792" y="3880530"/>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глубина каскада почти бесплатна, ширина книги дорога: 4,01 · 3,98 · 3,92 при 8 · 16 · 80 книгах</a:t>
            </a:r>
          </a:p>
        </p:txBody>
      </p:sp>
      <p:sp>
        <p:nvSpPr>
          <p:cNvPr id="25" name="Rounded Rectangle 24"/>
          <p:cNvSpPr/>
          <p:nvPr/>
        </p:nvSpPr>
        <p:spPr>
          <a:xfrm>
            <a:off x="502920" y="4419302"/>
            <a:ext cx="5437479" cy="1816905"/>
          </a:xfrm>
          <a:prstGeom prst="roundRect">
            <a:avLst>
              <a:gd name="adj" fmla="val 1677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667512" y="457475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Три единицы данных рядом</a:t>
            </a:r>
          </a:p>
        </p:txBody>
      </p:sp>
      <p:sp>
        <p:nvSpPr>
          <p:cNvPr id="27" name="TextBox 26"/>
          <p:cNvSpPr txBox="1"/>
          <p:nvPr/>
        </p:nvSpPr>
        <p:spPr>
          <a:xfrm>
            <a:off x="667512" y="4930929"/>
            <a:ext cx="5108295" cy="1149830"/>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Токен языковой модели: номер из словаря в 200 тысяч записей, готового до обучения</a:t>
            </a:r>
          </a:p>
          <a:p>
            <a:pPr algn="l">
              <a:lnSpc>
                <a:spcPct val="126000"/>
              </a:lnSpc>
            </a:pPr>
            <a:r>
              <a:rPr sz="950" b="0" i="0">
                <a:solidFill>
                  <a:srgbClr val="21295C"/>
                </a:solidFill>
                <a:latin typeface="Arial"/>
              </a:rPr>
              <a:t>• Латентный патч диффузионной модели: вектор, словаря нет; картинка 1024×1024 — 4 096 патчей</a:t>
            </a:r>
          </a:p>
          <a:p>
            <a:pPr algn="l">
              <a:lnSpc>
                <a:spcPct val="126000"/>
              </a:lnSpc>
            </a:pPr>
            <a:r>
              <a:rPr sz="950" b="0" i="0">
                <a:solidFill>
                  <a:srgbClr val="21295C"/>
                </a:solidFill>
                <a:latin typeface="Arial"/>
              </a:rPr>
              <a:t>• Аудиотокен: номер из кодовой книги, книг несколько, каждая уточняет ошибку прежней</a:t>
            </a:r>
          </a:p>
        </p:txBody>
      </p:sp>
      <p:sp>
        <p:nvSpPr>
          <p:cNvPr id="28" name="Rounded Rectangle 27"/>
          <p:cNvSpPr/>
          <p:nvPr/>
        </p:nvSpPr>
        <p:spPr>
          <a:xfrm>
            <a:off x="6251295" y="4419302"/>
            <a:ext cx="5437479" cy="1816905"/>
          </a:xfrm>
          <a:prstGeom prst="roundRect">
            <a:avLst>
              <a:gd name="adj" fmla="val 16775"/>
            </a:avLst>
          </a:prstGeom>
          <a:solidFill>
            <a:srgbClr val="FFFFFF"/>
          </a:solidFill>
          <a:ln w="19050">
            <a:solidFill>
              <a:srgbClr val="028090"/>
            </a:solidFill>
          </a:ln>
          <a:effectLst/>
        </p:spPr>
        <p:txBody>
          <a:bodyPr rtlCol="0" anchor="ctr"/>
          <a:lstStyle/>
          <a:p>
            <a:pPr algn="ctr"/>
          </a:p>
        </p:txBody>
      </p:sp>
      <p:sp>
        <p:nvSpPr>
          <p:cNvPr id="29" name="TextBox 28"/>
          <p:cNvSpPr txBox="1"/>
          <p:nvPr/>
        </p:nvSpPr>
        <p:spPr>
          <a:xfrm>
            <a:off x="6415887" y="457475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Во что это обходится по объёму</a:t>
            </a:r>
          </a:p>
        </p:txBody>
      </p:sp>
      <p:sp>
        <p:nvSpPr>
          <p:cNvPr id="30" name="TextBox 29"/>
          <p:cNvSpPr txBox="1"/>
          <p:nvPr/>
        </p:nvSpPr>
        <p:spPr>
          <a:xfrm>
            <a:off x="6415887" y="4930929"/>
            <a:ext cx="5108295" cy="1149830"/>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Минута с компакт-диска: 5 292 000 отсчётов</a:t>
            </a:r>
          </a:p>
          <a:p>
            <a:pPr algn="l">
              <a:lnSpc>
                <a:spcPct val="126000"/>
              </a:lnSpc>
            </a:pPr>
            <a:r>
              <a:rPr sz="950" b="0" i="0">
                <a:solidFill>
                  <a:srgbClr val="21295C"/>
                </a:solidFill>
                <a:latin typeface="Arial"/>
              </a:rPr>
              <a:t>• Та же минута у кодека, восемь книг: 36 000 токенов — в 147 раз меньше</a:t>
            </a:r>
          </a:p>
          <a:p>
            <a:pPr algn="l">
              <a:lnSpc>
                <a:spcPct val="126000"/>
              </a:lnSpc>
            </a:pPr>
            <a:r>
              <a:rPr sz="950" b="0" i="0">
                <a:solidFill>
                  <a:srgbClr val="21295C"/>
                </a:solidFill>
                <a:latin typeface="Arial"/>
              </a:rPr>
              <a:t>• Та же минута у музыкальной модели, четыре книги: 12 000 токенов — в 441 раз меньше</a:t>
            </a:r>
          </a:p>
          <a:p>
            <a:pPr algn="l">
              <a:lnSpc>
                <a:spcPct val="126000"/>
              </a:lnSpc>
            </a:pPr>
            <a:r>
              <a:rPr sz="950" b="0" i="0">
                <a:solidFill>
                  <a:srgbClr val="21295C"/>
                </a:solidFill>
                <a:latin typeface="Arial"/>
              </a:rPr>
              <a:t>• Минута речи, записанная текстом: около 200 токенов — звук дороже текста в 180 раз</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SoundStream; EnCodec; MusicGen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Частота кадров кодека — главный рычаг длины</a:t>
            </a:r>
          </a:p>
        </p:txBody>
      </p:sp>
      <p:sp>
        <p:nvSpPr>
          <p:cNvPr id="4" name="Rounded Rectangle 3"/>
          <p:cNvSpPr/>
          <p:nvPr/>
        </p:nvSpPr>
        <p:spPr>
          <a:xfrm>
            <a:off x="502920" y="1335024"/>
            <a:ext cx="5510631" cy="2010727"/>
          </a:xfrm>
          <a:prstGeom prst="roundRect">
            <a:avLst>
              <a:gd name="adj" fmla="val 1515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ДЕВЯНОСТО МИНУТ СВЯЗНОГО ДИАЛОГА ВЗЯЛИСЬ ОТСЮДА</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7,5 герца</a:t>
            </a:r>
          </a:p>
        </p:txBody>
      </p:sp>
      <p:sp>
        <p:nvSpPr>
          <p:cNvPr id="7" name="TextBox 6"/>
          <p:cNvSpPr txBox="1"/>
          <p:nvPr/>
        </p:nvSpPr>
        <p:spPr>
          <a:xfrm>
            <a:off x="640080" y="2152374"/>
            <a:ext cx="5236311"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 не из размера генератора. У DiffRhythm 2 — 5 герц, самая низкая частота поколения, музыкальная генерация длинной формы; Qwen3-TTS вынес свои 12 герц прямо в имя модели; Stable Audio 2 держит 21,5 против 40–150 у прежних работ и прямо объясняет этим возможность длинной формы</a:t>
            </a:r>
          </a:p>
        </p:txBody>
      </p:sp>
      <p:sp>
        <p:nvSpPr>
          <p:cNvPr id="8" name="Rounded Rectangle 7"/>
          <p:cNvSpPr/>
          <p:nvPr/>
        </p:nvSpPr>
        <p:spPr>
          <a:xfrm>
            <a:off x="6178143" y="1335024"/>
            <a:ext cx="5510631" cy="2010727"/>
          </a:xfrm>
          <a:prstGeom prst="roundRect">
            <a:avLst>
              <a:gd name="adj" fmla="val 1515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ПЕРЕСЧЁТ В ОБЪЁМ</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минута речи — от 9 000 до 36 000 токенов</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минута, записанная текстом, — около 200 токенов</a:t>
            </a:r>
          </a:p>
        </p:txBody>
      </p:sp>
      <p:sp>
        <p:nvSpPr>
          <p:cNvPr id="12" name="Rectangle 11"/>
          <p:cNvSpPr/>
          <p:nvPr/>
        </p:nvSpPr>
        <p:spPr>
          <a:xfrm>
            <a:off x="754380" y="4199606"/>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4286474"/>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4286474"/>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30</a:t>
            </a:r>
          </a:p>
        </p:txBody>
      </p:sp>
      <p:sp>
        <p:nvSpPr>
          <p:cNvPr id="15" name="Rectangle 14"/>
          <p:cNvSpPr/>
          <p:nvPr/>
        </p:nvSpPr>
        <p:spPr>
          <a:xfrm>
            <a:off x="2677363" y="4035014"/>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1304277" y="3528631"/>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a:t>
            </a:r>
          </a:p>
          <a:p>
            <a:pPr algn="ctr">
              <a:lnSpc>
                <a:spcPct val="110000"/>
              </a:lnSpc>
            </a:pPr>
            <a:r>
              <a:rPr sz="1200" b="0" i="0">
                <a:solidFill>
                  <a:srgbClr val="21295C"/>
                </a:solidFill>
                <a:latin typeface="Arial"/>
              </a:rPr>
              <a:t>DiffRhythm 2</a:t>
            </a:r>
          </a:p>
        </p:txBody>
      </p:sp>
      <p:sp>
        <p:nvSpPr>
          <p:cNvPr id="17" name="Rectangle 16"/>
          <p:cNvSpPr/>
          <p:nvPr/>
        </p:nvSpPr>
        <p:spPr>
          <a:xfrm>
            <a:off x="3525697" y="4249898"/>
            <a:ext cx="50292" cy="1645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2152611" y="4505930"/>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7,5</a:t>
            </a:r>
          </a:p>
          <a:p>
            <a:pPr algn="ctr">
              <a:lnSpc>
                <a:spcPct val="110000"/>
              </a:lnSpc>
            </a:pPr>
            <a:r>
              <a:rPr sz="1200" b="0" i="0">
                <a:solidFill>
                  <a:srgbClr val="21295C"/>
                </a:solidFill>
                <a:latin typeface="Arial"/>
              </a:rPr>
              <a:t>VibeVoice</a:t>
            </a:r>
          </a:p>
        </p:txBody>
      </p:sp>
      <p:sp>
        <p:nvSpPr>
          <p:cNvPr id="19" name="Rectangle 18"/>
          <p:cNvSpPr/>
          <p:nvPr/>
        </p:nvSpPr>
        <p:spPr>
          <a:xfrm>
            <a:off x="5052700" y="4035014"/>
            <a:ext cx="50292" cy="164592"/>
          </a:xfrm>
          <a:prstGeom prst="rect">
            <a:avLst/>
          </a:prstGeom>
          <a:solidFill>
            <a:srgbClr val="065A82"/>
          </a:solidFill>
          <a:ln>
            <a:noFill/>
          </a:ln>
          <a:effectLst/>
        </p:spPr>
        <p:txBody>
          <a:bodyPr rtlCol="0" anchor="ctr"/>
          <a:lstStyle/>
          <a:p>
            <a:pPr algn="ctr"/>
          </a:p>
        </p:txBody>
      </p:sp>
      <p:sp>
        <p:nvSpPr>
          <p:cNvPr id="20" name="TextBox 19"/>
          <p:cNvSpPr txBox="1"/>
          <p:nvPr/>
        </p:nvSpPr>
        <p:spPr>
          <a:xfrm>
            <a:off x="3679614" y="3528631"/>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12</a:t>
            </a:r>
          </a:p>
          <a:p>
            <a:pPr algn="ctr">
              <a:lnSpc>
                <a:spcPct val="110000"/>
              </a:lnSpc>
            </a:pPr>
            <a:r>
              <a:rPr sz="1200" b="0" i="0">
                <a:solidFill>
                  <a:srgbClr val="21295C"/>
                </a:solidFill>
                <a:latin typeface="Arial"/>
              </a:rPr>
              <a:t>Qwen3-TTS</a:t>
            </a:r>
          </a:p>
        </p:txBody>
      </p:sp>
      <p:sp>
        <p:nvSpPr>
          <p:cNvPr id="21" name="Rectangle 20"/>
          <p:cNvSpPr/>
          <p:nvPr/>
        </p:nvSpPr>
        <p:spPr>
          <a:xfrm>
            <a:off x="8276371" y="4249898"/>
            <a:ext cx="50292" cy="164592"/>
          </a:xfrm>
          <a:prstGeom prst="rect">
            <a:avLst/>
          </a:prstGeom>
          <a:solidFill>
            <a:srgbClr val="065A82"/>
          </a:solidFill>
          <a:ln>
            <a:noFill/>
          </a:ln>
          <a:effectLst/>
        </p:spPr>
        <p:txBody>
          <a:bodyPr rtlCol="0" anchor="ctr"/>
          <a:lstStyle/>
          <a:p>
            <a:pPr algn="ctr"/>
          </a:p>
        </p:txBody>
      </p:sp>
      <p:sp>
        <p:nvSpPr>
          <p:cNvPr id="22" name="TextBox 21"/>
          <p:cNvSpPr txBox="1"/>
          <p:nvPr/>
        </p:nvSpPr>
        <p:spPr>
          <a:xfrm>
            <a:off x="6903285" y="4505930"/>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21,5</a:t>
            </a:r>
          </a:p>
          <a:p>
            <a:pPr algn="ctr">
              <a:lnSpc>
                <a:spcPct val="110000"/>
              </a:lnSpc>
            </a:pPr>
            <a:r>
              <a:rPr sz="1200" b="0" i="0">
                <a:solidFill>
                  <a:srgbClr val="21295C"/>
                </a:solidFill>
                <a:latin typeface="Arial"/>
              </a:rPr>
              <a:t>Stable Audio 2</a:t>
            </a:r>
          </a:p>
        </p:txBody>
      </p:sp>
      <p:sp>
        <p:nvSpPr>
          <p:cNvPr id="23" name="TextBox 22"/>
          <p:cNvSpPr txBox="1"/>
          <p:nvPr/>
        </p:nvSpPr>
        <p:spPr>
          <a:xfrm>
            <a:off x="502920" y="5030600"/>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кадров кодека в секунду, герц</a:t>
            </a:r>
          </a:p>
        </p:txBody>
      </p:sp>
      <p:sp>
        <p:nvSpPr>
          <p:cNvPr id="24" name="Rounded Rectangle 23"/>
          <p:cNvSpPr/>
          <p:nvPr/>
        </p:nvSpPr>
        <p:spPr>
          <a:xfrm>
            <a:off x="374904" y="5341496"/>
            <a:ext cx="11441887" cy="89471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5432936"/>
            <a:ext cx="11112703" cy="803271"/>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Частота кадров кодека — архитектурное решение, определяющее, какая длина вообще возможна; прямой аналог коэффициента сжатия автокодировщика в видео и размера латентного патча в изображении.</a:t>
            </a:r>
          </a:p>
          <a:p>
            <a:pPr algn="l">
              <a:lnSpc>
                <a:spcPct val="126000"/>
              </a:lnSpc>
              <a:spcBef>
                <a:spcPts val="700"/>
              </a:spcBef>
            </a:pPr>
            <a:r>
              <a:rPr sz="1200" b="0" i="0">
                <a:solidFill>
                  <a:srgbClr val="21295C"/>
                </a:solidFill>
                <a:latin typeface="Arial"/>
              </a:rPr>
              <a:t/>
            </a:r>
            <a:r>
              <a:rPr sz="1200" b="1" i="0">
                <a:solidFill>
                  <a:srgbClr val="21295C"/>
                </a:solidFill>
                <a:latin typeface="Arial"/>
              </a:rPr>
              <a:t>Главный рычаг — токенизатор; размер модели здесь вторичен.</a:t>
            </a:r>
          </a:p>
        </p:txBody>
      </p:sp>
      <p:sp>
        <p:nvSpPr>
          <p:cNvPr id="26" name="Rectangle 2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7" name="TextBox 2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VibeVoice; Qwen3-TTS; DiffRhythm 2; Stable Audio 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Авторегрессия против диффузии: измеренный кадр</a:t>
            </a:r>
          </a:p>
        </p:txBody>
      </p:sp>
      <p:sp>
        <p:nvSpPr>
          <p:cNvPr id="4" name="TextBox 3"/>
          <p:cNvSpPr txBox="1"/>
          <p:nvPr/>
        </p:nvSpPr>
        <p:spPr>
          <a:xfrm>
            <a:off x="502920" y="1371600"/>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Авторегрессия</a:t>
            </a:r>
          </a:p>
        </p:txBody>
      </p:sp>
      <p:sp>
        <p:nvSpPr>
          <p:cNvPr id="5" name="Rounded Rectangle 4"/>
          <p:cNvSpPr/>
          <p:nvPr/>
        </p:nvSpPr>
        <p:spPr>
          <a:xfrm>
            <a:off x="3538728" y="1335024"/>
            <a:ext cx="8150047"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3630168"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3712464"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две минуты — 6 мин 38 с</a:t>
            </a:r>
          </a:p>
        </p:txBody>
      </p:sp>
      <p:sp>
        <p:nvSpPr>
          <p:cNvPr id="8" name="Rounded Rectangle 7"/>
          <p:cNvSpPr/>
          <p:nvPr/>
        </p:nvSpPr>
        <p:spPr>
          <a:xfrm>
            <a:off x="5644819"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5727115"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 мин 45 с — 12 мин 53 с</a:t>
            </a:r>
          </a:p>
        </p:txBody>
      </p:sp>
      <p:sp>
        <p:nvSpPr>
          <p:cNvPr id="10" name="Rounded Rectangle 9"/>
          <p:cNvSpPr/>
          <p:nvPr/>
        </p:nvSpPr>
        <p:spPr>
          <a:xfrm>
            <a:off x="7659471"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7741767"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растёт линейно: каждый токен — свой проход</a:t>
            </a:r>
          </a:p>
        </p:txBody>
      </p:sp>
      <p:sp>
        <p:nvSpPr>
          <p:cNvPr id="12" name="Rounded Rectangle 11"/>
          <p:cNvSpPr/>
          <p:nvPr/>
        </p:nvSpPr>
        <p:spPr>
          <a:xfrm>
            <a:off x="9674123"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756419"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качество 204,03 и 218,02</a:t>
            </a:r>
          </a:p>
        </p:txBody>
      </p:sp>
      <p:sp>
        <p:nvSpPr>
          <p:cNvPr id="14" name="TextBox 13"/>
          <p:cNvSpPr txBox="1"/>
          <p:nvPr/>
        </p:nvSpPr>
        <p:spPr>
          <a:xfrm>
            <a:off x="502920" y="2382711"/>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Диффузия</a:t>
            </a:r>
          </a:p>
        </p:txBody>
      </p:sp>
      <p:sp>
        <p:nvSpPr>
          <p:cNvPr id="15" name="Rounded Rectangle 14"/>
          <p:cNvSpPr/>
          <p:nvPr/>
        </p:nvSpPr>
        <p:spPr>
          <a:xfrm>
            <a:off x="3538728" y="2346135"/>
            <a:ext cx="8150047"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3630168"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3712464"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две минуты — 13 с</a:t>
            </a:r>
          </a:p>
        </p:txBody>
      </p:sp>
      <p:sp>
        <p:nvSpPr>
          <p:cNvPr id="18" name="Rounded Rectangle 17"/>
          <p:cNvSpPr/>
          <p:nvPr/>
        </p:nvSpPr>
        <p:spPr>
          <a:xfrm>
            <a:off x="5644819"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5727115"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 мин 45 с — 13 с</a:t>
            </a:r>
          </a:p>
        </p:txBody>
      </p:sp>
      <p:sp>
        <p:nvSpPr>
          <p:cNvPr id="20" name="Rounded Rectangle 19"/>
          <p:cNvSpPr/>
          <p:nvPr/>
        </p:nvSpPr>
        <p:spPr>
          <a:xfrm>
            <a:off x="7659471"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7741767"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не растёт: шагов решателя фиксированное число</a:t>
            </a:r>
          </a:p>
        </p:txBody>
      </p:sp>
      <p:sp>
        <p:nvSpPr>
          <p:cNvPr id="22" name="Rounded Rectangle 21"/>
          <p:cNvSpPr/>
          <p:nvPr/>
        </p:nvSpPr>
        <p:spPr>
          <a:xfrm>
            <a:off x="9674123"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756419"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качество 79,09 и 81,96</a:t>
            </a:r>
          </a:p>
        </p:txBody>
      </p:sp>
      <p:sp>
        <p:nvSpPr>
          <p:cNvPr id="24" name="Rounded Rectangle 23"/>
          <p:cNvSpPr/>
          <p:nvPr/>
        </p:nvSpPr>
        <p:spPr>
          <a:xfrm>
            <a:off x="2011680" y="1335024"/>
            <a:ext cx="1325880" cy="2145900"/>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25" name="TextBox 24"/>
          <p:cNvSpPr txBox="1"/>
          <p:nvPr/>
        </p:nvSpPr>
        <p:spPr>
          <a:xfrm>
            <a:off x="2084832" y="1380744"/>
            <a:ext cx="1179576" cy="2054460"/>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минута звука</a:t>
            </a:r>
          </a:p>
        </p:txBody>
      </p:sp>
      <p:sp>
        <p:nvSpPr>
          <p:cNvPr id="26" name="Rectangle 25"/>
          <p:cNvSpPr/>
          <p:nvPr/>
        </p:nvSpPr>
        <p:spPr>
          <a:xfrm>
            <a:off x="3337560" y="1769713"/>
            <a:ext cx="201168" cy="32004"/>
          </a:xfrm>
          <a:prstGeom prst="rect">
            <a:avLst/>
          </a:prstGeom>
          <a:solidFill>
            <a:srgbClr val="1C7293"/>
          </a:solidFill>
          <a:ln>
            <a:noFill/>
          </a:ln>
          <a:effectLst/>
        </p:spPr>
        <p:txBody>
          <a:bodyPr rtlCol="0" anchor="ctr"/>
          <a:lstStyle/>
          <a:p>
            <a:pPr algn="ctr"/>
          </a:p>
        </p:txBody>
      </p:sp>
      <p:sp>
        <p:nvSpPr>
          <p:cNvPr id="27" name="Rectangle 26"/>
          <p:cNvSpPr/>
          <p:nvPr/>
        </p:nvSpPr>
        <p:spPr>
          <a:xfrm>
            <a:off x="3337560" y="2897527"/>
            <a:ext cx="201168" cy="32004"/>
          </a:xfrm>
          <a:prstGeom prst="rect">
            <a:avLst/>
          </a:prstGeom>
          <a:solidFill>
            <a:srgbClr val="1C7293"/>
          </a:solidFill>
          <a:ln>
            <a:noFill/>
          </a:ln>
          <a:effectLst/>
        </p:spPr>
        <p:txBody>
          <a:bodyPr rtlCol="0" anchor="ctr"/>
          <a:lstStyle/>
          <a:p>
            <a:pPr algn="ctr"/>
          </a:p>
        </p:txBody>
      </p:sp>
      <p:sp>
        <p:nvSpPr>
          <p:cNvPr id="28" name="Rounded Rectangle 27"/>
          <p:cNvSpPr/>
          <p:nvPr/>
        </p:nvSpPr>
        <p:spPr>
          <a:xfrm>
            <a:off x="502920" y="3663804"/>
            <a:ext cx="5437479" cy="2058918"/>
          </a:xfrm>
          <a:prstGeom prst="roundRect">
            <a:avLst>
              <a:gd name="adj" fmla="val 14803"/>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667512" y="381925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Авторегрессия: своя задача, которой нет у текста</a:t>
            </a:r>
          </a:p>
        </p:txBody>
      </p:sp>
      <p:sp>
        <p:nvSpPr>
          <p:cNvPr id="30" name="TextBox 29"/>
          <p:cNvSpPr txBox="1"/>
          <p:nvPr/>
        </p:nvSpPr>
        <p:spPr>
          <a:xfrm>
            <a:off x="667512" y="4175430"/>
            <a:ext cx="5108295" cy="1391844"/>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Остаточное квантование даёт на каждый кадр несколько параллельных потоков токенов, а трансформер умеет только один</a:t>
            </a:r>
          </a:p>
          <a:p>
            <a:pPr algn="l">
              <a:lnSpc>
                <a:spcPct val="126000"/>
              </a:lnSpc>
            </a:pPr>
            <a:r>
              <a:rPr sz="1000" b="0" i="0">
                <a:solidFill>
                  <a:srgbClr val="21295C"/>
                </a:solidFill>
                <a:latin typeface="Arial"/>
              </a:rPr>
              <a:t>• Плоская развёртка: 6 000 шагов, качество 0,86</a:t>
            </a:r>
          </a:p>
          <a:p>
            <a:pPr algn="l">
              <a:lnSpc>
                <a:spcPct val="126000"/>
              </a:lnSpc>
            </a:pPr>
            <a:r>
              <a:rPr sz="1000" b="0" i="0">
                <a:solidFill>
                  <a:srgbClr val="21295C"/>
                </a:solidFill>
                <a:latin typeface="Arial"/>
              </a:rPr>
              <a:t>• Схема задержки — первая книга кадра, вторая от предыдущего, третья от позапрошлого: 1 500 шагов, качество 0,96</a:t>
            </a:r>
          </a:p>
          <a:p>
            <a:pPr algn="l">
              <a:lnSpc>
                <a:spcPct val="126000"/>
              </a:lnSpc>
            </a:pPr>
            <a:r>
              <a:rPr sz="1000" b="0" i="0">
                <a:solidFill>
                  <a:srgbClr val="21295C"/>
                </a:solidFill>
                <a:latin typeface="Arial"/>
              </a:rPr>
              <a:t>• Наивно предсказать все книги разом: те же 1 500 шагов, но качество 2,58 и заметное падение оценки на слух</a:t>
            </a:r>
          </a:p>
        </p:txBody>
      </p:sp>
      <p:sp>
        <p:nvSpPr>
          <p:cNvPr id="31" name="Rounded Rectangle 30"/>
          <p:cNvSpPr/>
          <p:nvPr/>
        </p:nvSpPr>
        <p:spPr>
          <a:xfrm>
            <a:off x="6251295" y="3663804"/>
            <a:ext cx="5437479" cy="2058918"/>
          </a:xfrm>
          <a:prstGeom prst="roundRect">
            <a:avLst>
              <a:gd name="adj" fmla="val 14803"/>
            </a:avLst>
          </a:prstGeom>
          <a:solidFill>
            <a:srgbClr val="FFFFFF"/>
          </a:solidFill>
          <a:ln w="19050">
            <a:solidFill>
              <a:srgbClr val="028090"/>
            </a:solidFill>
          </a:ln>
          <a:effectLst/>
        </p:spPr>
        <p:txBody>
          <a:bodyPr rtlCol="0" anchor="ctr"/>
          <a:lstStyle/>
          <a:p>
            <a:pPr algn="ctr"/>
          </a:p>
        </p:txBody>
      </p:sp>
      <p:sp>
        <p:nvSpPr>
          <p:cNvPr id="32" name="TextBox 31"/>
          <p:cNvSpPr txBox="1"/>
          <p:nvPr/>
        </p:nvSpPr>
        <p:spPr>
          <a:xfrm>
            <a:off x="6415887" y="381925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Диффузия: своя задача, которой нет у текста</a:t>
            </a:r>
          </a:p>
        </p:txBody>
      </p:sp>
      <p:sp>
        <p:nvSpPr>
          <p:cNvPr id="33" name="TextBox 32"/>
          <p:cNvSpPr txBox="1"/>
          <p:nvPr/>
        </p:nvSpPr>
        <p:spPr>
          <a:xfrm>
            <a:off x="6415887" y="4175430"/>
            <a:ext cx="5108295" cy="1391844"/>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Модель порождает тензор фиксированной формы, то есть по построению выдаёт одну длительность</a:t>
            </a:r>
          </a:p>
          <a:p>
            <a:pPr algn="l">
              <a:lnSpc>
                <a:spcPct val="126000"/>
              </a:lnSpc>
            </a:pPr>
            <a:r>
              <a:rPr sz="1000" b="0" i="0">
                <a:solidFill>
                  <a:srgbClr val="21295C"/>
                </a:solidFill>
                <a:latin typeface="Arial"/>
              </a:rPr>
              <a:t>• Обходят обусловливанием на время: записывают, с какой секунды взят обучающий фрагмент и сколько секунд в исходнике</a:t>
            </a:r>
          </a:p>
          <a:p>
            <a:pPr algn="l">
              <a:lnSpc>
                <a:spcPct val="126000"/>
              </a:lnSpc>
            </a:pPr>
            <a:r>
              <a:rPr sz="1000" b="0" i="0">
                <a:solidFill>
                  <a:srgbClr val="21295C"/>
                </a:solidFill>
                <a:latin typeface="Arial"/>
              </a:rPr>
              <a:t>• На работе модель всегда производит окно в 95 секунд и обучена заполнять хвост тишиной с указанного момента</a:t>
            </a:r>
          </a:p>
          <a:p>
            <a:pPr algn="l">
              <a:lnSpc>
                <a:spcPct val="126000"/>
              </a:lnSpc>
            </a:pPr>
            <a:r>
              <a:rPr sz="1000" b="0" i="0">
                <a:solidFill>
                  <a:srgbClr val="21295C"/>
                </a:solidFill>
                <a:latin typeface="Arial"/>
              </a:rPr>
              <a:t>• Тишина обрезается: переменная длина получена обучением, ограничение осталось</a:t>
            </a:r>
          </a:p>
        </p:txBody>
      </p:sp>
      <p:sp>
        <p:nvSpPr>
          <p:cNvPr id="34" name="Rounded Rectangle 33"/>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Разрыв структурный: он следует из устройства обоих семейств, и качество инженерной работы тут ни при чём.</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сравнительный замер Stable Audio 2 и MusicGen-large-stereo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Клонирование голоса и разделение источников — разные инструменты</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4</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14</a:t>
            </a:r>
          </a:p>
        </p:txBody>
      </p:sp>
      <p:sp>
        <p:nvSpPr>
          <p:cNvPr id="7" name="Rectangle 6"/>
          <p:cNvSpPr/>
          <p:nvPr/>
        </p:nvSpPr>
        <p:spPr>
          <a:xfrm>
            <a:off x="836676" y="1925531"/>
            <a:ext cx="37033" cy="211226"/>
          </a:xfrm>
          <a:prstGeom prst="rect">
            <a:avLst/>
          </a:prstGeom>
          <a:solidFill>
            <a:srgbClr val="FFFFFF"/>
          </a:solidFill>
          <a:ln>
            <a:noFill/>
          </a:ln>
          <a:effectLst/>
        </p:spPr>
        <p:txBody>
          <a:bodyPr rtlCol="0" anchor="ctr"/>
          <a:lstStyle/>
          <a:p>
            <a:pPr algn="ctr"/>
          </a:p>
        </p:txBody>
      </p:sp>
      <p:sp>
        <p:nvSpPr>
          <p:cNvPr id="8" name="Rectangle 7"/>
          <p:cNvSpPr/>
          <p:nvPr/>
        </p:nvSpPr>
        <p:spPr>
          <a:xfrm>
            <a:off x="910742" y="1925531"/>
            <a:ext cx="37033" cy="211226"/>
          </a:xfrm>
          <a:prstGeom prst="rect">
            <a:avLst/>
          </a:prstGeom>
          <a:solidFill>
            <a:srgbClr val="FFFFFF"/>
          </a:solidFill>
          <a:ln>
            <a:noFill/>
          </a:ln>
          <a:effectLst/>
        </p:spPr>
        <p:txBody>
          <a:bodyPr rtlCol="0" anchor="ctr"/>
          <a:lstStyle/>
          <a:p>
            <a:pPr algn="ctr"/>
          </a:p>
        </p:txBody>
      </p:sp>
      <p:sp>
        <p:nvSpPr>
          <p:cNvPr id="9" name="Rectangle 8"/>
          <p:cNvSpPr/>
          <p:nvPr/>
        </p:nvSpPr>
        <p:spPr>
          <a:xfrm>
            <a:off x="2925076" y="1841406"/>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1551991" y="1335024"/>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5,91</a:t>
            </a:r>
          </a:p>
          <a:p>
            <a:pPr algn="ctr">
              <a:lnSpc>
                <a:spcPct val="110000"/>
              </a:lnSpc>
            </a:pPr>
            <a:r>
              <a:rPr sz="1200" b="0" i="0">
                <a:solidFill>
                  <a:srgbClr val="21295C"/>
                </a:solidFill>
                <a:latin typeface="Arial"/>
              </a:rPr>
              <a:t>Spleeter</a:t>
            </a:r>
          </a:p>
        </p:txBody>
      </p:sp>
      <p:sp>
        <p:nvSpPr>
          <p:cNvPr id="11" name="Rectangle 10"/>
          <p:cNvSpPr/>
          <p:nvPr/>
        </p:nvSpPr>
        <p:spPr>
          <a:xfrm>
            <a:off x="5276660" y="2056290"/>
            <a:ext cx="50292" cy="164592"/>
          </a:xfrm>
          <a:prstGeom prst="rect">
            <a:avLst/>
          </a:prstGeom>
          <a:solidFill>
            <a:srgbClr val="F0AB00"/>
          </a:solidFill>
          <a:ln>
            <a:noFill/>
          </a:ln>
          <a:effectLst/>
        </p:spPr>
        <p:txBody>
          <a:bodyPr rtlCol="0" anchor="ctr"/>
          <a:lstStyle/>
          <a:p>
            <a:pPr algn="ctr"/>
          </a:p>
        </p:txBody>
      </p:sp>
      <p:sp>
        <p:nvSpPr>
          <p:cNvPr id="12" name="TextBox 11"/>
          <p:cNvSpPr txBox="1"/>
          <p:nvPr/>
        </p:nvSpPr>
        <p:spPr>
          <a:xfrm>
            <a:off x="3903574" y="2312322"/>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8,22</a:t>
            </a:r>
          </a:p>
          <a:p>
            <a:pPr algn="ctr">
              <a:lnSpc>
                <a:spcPct val="110000"/>
              </a:lnSpc>
            </a:pPr>
            <a:r>
              <a:rPr sz="1200" b="0" i="0">
                <a:solidFill>
                  <a:srgbClr val="21295C"/>
                </a:solidFill>
                <a:latin typeface="Arial"/>
              </a:rPr>
              <a:t>Идеальная маска</a:t>
            </a:r>
          </a:p>
        </p:txBody>
      </p:sp>
      <p:sp>
        <p:nvSpPr>
          <p:cNvPr id="13" name="Rectangle 12"/>
          <p:cNvSpPr/>
          <p:nvPr/>
        </p:nvSpPr>
        <p:spPr>
          <a:xfrm>
            <a:off x="6274301" y="1841406"/>
            <a:ext cx="50292" cy="164592"/>
          </a:xfrm>
          <a:prstGeom prst="rect">
            <a:avLst/>
          </a:prstGeom>
          <a:solidFill>
            <a:srgbClr val="065A82"/>
          </a:solidFill>
          <a:ln>
            <a:noFill/>
          </a:ln>
          <a:effectLst/>
        </p:spPr>
        <p:txBody>
          <a:bodyPr rtlCol="0" anchor="ctr"/>
          <a:lstStyle/>
          <a:p>
            <a:pPr algn="ctr"/>
          </a:p>
        </p:txBody>
      </p:sp>
      <p:sp>
        <p:nvSpPr>
          <p:cNvPr id="14" name="TextBox 13"/>
          <p:cNvSpPr txBox="1"/>
          <p:nvPr/>
        </p:nvSpPr>
        <p:spPr>
          <a:xfrm>
            <a:off x="4901216" y="1335024"/>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9,20</a:t>
            </a:r>
          </a:p>
          <a:p>
            <a:pPr algn="ctr">
              <a:lnSpc>
                <a:spcPct val="110000"/>
              </a:lnSpc>
            </a:pPr>
            <a:r>
              <a:rPr sz="1200" b="0" i="0">
                <a:solidFill>
                  <a:srgbClr val="21295C"/>
                </a:solidFill>
                <a:latin typeface="Arial"/>
              </a:rPr>
              <a:t>Sparse HT Demucs</a:t>
            </a:r>
          </a:p>
        </p:txBody>
      </p:sp>
      <p:sp>
        <p:nvSpPr>
          <p:cNvPr id="15" name="Rectangle 14"/>
          <p:cNvSpPr/>
          <p:nvPr/>
        </p:nvSpPr>
        <p:spPr>
          <a:xfrm>
            <a:off x="9114526" y="2056290"/>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7741440" y="2312322"/>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11,99</a:t>
            </a:r>
          </a:p>
          <a:p>
            <a:pPr algn="ctr">
              <a:lnSpc>
                <a:spcPct val="110000"/>
              </a:lnSpc>
            </a:pPr>
            <a:r>
              <a:rPr sz="1200" b="0" i="0">
                <a:solidFill>
                  <a:srgbClr val="21295C"/>
                </a:solidFill>
                <a:latin typeface="Arial"/>
              </a:rPr>
              <a:t>BS-RoFormer, 2023</a:t>
            </a:r>
          </a:p>
        </p:txBody>
      </p:sp>
      <p:sp>
        <p:nvSpPr>
          <p:cNvPr id="17" name="TextBox 16"/>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дБ, сигнал к искажению на вокале · идеальная маска — потолок маскирования; Hybrid Demucs перешагнул его первым, 8,34 дБ</a:t>
            </a:r>
          </a:p>
        </p:txBody>
      </p:sp>
      <p:sp>
        <p:nvSpPr>
          <p:cNvPr id="18" name="TextBox 17"/>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Оракул вычислен при знании истинных дорожек</a:t>
            </a:r>
          </a:p>
        </p:txBody>
      </p:sp>
      <p:sp>
        <p:nvSpPr>
          <p:cNvPr id="19" name="Rounded Rectangle 18"/>
          <p:cNvSpPr/>
          <p:nvPr/>
        </p:nvSpPr>
        <p:spPr>
          <a:xfrm>
            <a:off x="502920" y="3527496"/>
            <a:ext cx="5437479" cy="2195226"/>
          </a:xfrm>
          <a:prstGeom prst="roundRect">
            <a:avLst>
              <a:gd name="adj" fmla="val 13884"/>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Разделение источников</a:t>
            </a:r>
          </a:p>
        </p:txBody>
      </p:sp>
      <p:sp>
        <p:nvSpPr>
          <p:cNvPr id="21" name="TextBox 20"/>
          <p:cNvSpPr txBox="1"/>
          <p:nvPr/>
        </p:nvSpPr>
        <p:spPr>
          <a:xfrm>
            <a:off x="667512" y="4039123"/>
            <a:ext cx="5108295" cy="1528151"/>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Микс считается суммой дорожек; задача — вернуть слагаемые</a:t>
            </a:r>
          </a:p>
          <a:p>
            <a:pPr algn="l">
              <a:lnSpc>
                <a:spcPct val="126000"/>
              </a:lnSpc>
            </a:pPr>
            <a:r>
              <a:rPr sz="1000" b="0" i="0">
                <a:solidFill>
                  <a:srgbClr val="21295C"/>
                </a:solidFill>
                <a:latin typeface="Arial"/>
              </a:rPr>
              <a:t>• Эталон существует: исходные изолированные дорожки</a:t>
            </a:r>
          </a:p>
          <a:p>
            <a:pPr algn="l">
              <a:lnSpc>
                <a:spcPct val="126000"/>
              </a:lnSpc>
            </a:pPr>
            <a:r>
              <a:rPr sz="1000" b="0" i="0">
                <a:solidFill>
                  <a:srgbClr val="21295C"/>
                </a:solidFill>
                <a:latin typeface="Arial"/>
              </a:rPr>
              <a:t>• Модель обучается минимизировать ошибку восстановления относительно эталона</a:t>
            </a:r>
          </a:p>
          <a:p>
            <a:pPr algn="l">
              <a:lnSpc>
                <a:spcPct val="126000"/>
              </a:lnSpc>
            </a:pPr>
            <a:r>
              <a:rPr sz="1000" b="0" i="0">
                <a:solidFill>
                  <a:srgbClr val="21295C"/>
                </a:solidFill>
                <a:latin typeface="Arial"/>
              </a:rPr>
              <a:t>• Есть оракул — верхняя граница, вычисленная при знании ответа</a:t>
            </a:r>
          </a:p>
          <a:p>
            <a:pPr algn="l">
              <a:lnSpc>
                <a:spcPct val="126000"/>
              </a:lnSpc>
            </a:pPr>
            <a:r>
              <a:rPr sz="1000" b="0" i="0">
                <a:solidFill>
                  <a:srgbClr val="21295C"/>
                </a:solidFill>
                <a:latin typeface="Arial"/>
              </a:rPr>
              <a:t>• «Now and Then»: демо 1978 года, попытка свести в 1995-м провалилась — отделить голос от фортепиано было нечем; песня вышла в 2023-м, через сорок пять лет</a:t>
            </a:r>
          </a:p>
        </p:txBody>
      </p:sp>
      <p:sp>
        <p:nvSpPr>
          <p:cNvPr id="22" name="Rounded Rectangle 21"/>
          <p:cNvSpPr/>
          <p:nvPr/>
        </p:nvSpPr>
        <p:spPr>
          <a:xfrm>
            <a:off x="6251295" y="3527496"/>
            <a:ext cx="5437479" cy="2195226"/>
          </a:xfrm>
          <a:prstGeom prst="roundRect">
            <a:avLst>
              <a:gd name="adj" fmla="val 13884"/>
            </a:avLst>
          </a:prstGeom>
          <a:solidFill>
            <a:srgbClr val="FFFFFF"/>
          </a:solidFill>
          <a:ln w="19050">
            <a:solidFill>
              <a:srgbClr val="028090"/>
            </a:solidFill>
          </a:ln>
          <a:effectLst/>
        </p:spPr>
        <p:txBody>
          <a:bodyPr rtlCol="0" anchor="ctr"/>
          <a:lstStyle/>
          <a:p>
            <a:pPr algn="ctr"/>
          </a:p>
        </p:txBody>
      </p:sp>
      <p:sp>
        <p:nvSpPr>
          <p:cNvPr id="23" name="TextBox 22"/>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Генерация</a:t>
            </a:r>
          </a:p>
        </p:txBody>
      </p:sp>
      <p:sp>
        <p:nvSpPr>
          <p:cNvPr id="24" name="TextBox 23"/>
          <p:cNvSpPr txBox="1"/>
          <p:nvPr/>
        </p:nvSpPr>
        <p:spPr>
          <a:xfrm>
            <a:off x="6415887" y="4039123"/>
            <a:ext cx="5108295" cy="1528151"/>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Эталона нет по определению: «правильной» песни по запросу «фанковая басовая линия» не бывает</a:t>
            </a:r>
          </a:p>
          <a:p>
            <a:pPr algn="l">
              <a:lnSpc>
                <a:spcPct val="126000"/>
              </a:lnSpc>
            </a:pPr>
            <a:r>
              <a:rPr sz="1100" b="0" i="0">
                <a:solidFill>
                  <a:srgbClr val="21295C"/>
                </a:solidFill>
                <a:latin typeface="Arial"/>
              </a:rPr>
              <a:t>• Сравнивать результат не с чем, метрики вида «насколько ошиблись» не существует</a:t>
            </a:r>
          </a:p>
          <a:p>
            <a:pPr algn="l">
              <a:lnSpc>
                <a:spcPct val="126000"/>
              </a:lnSpc>
            </a:pPr>
            <a:r>
              <a:rPr sz="1100" b="0" i="0">
                <a:solidFill>
                  <a:srgbClr val="21295C"/>
                </a:solidFill>
                <a:latin typeface="Arial"/>
              </a:rPr>
              <a:t>• Понятия идеального оракула у генеративной модели нет вовсе</a:t>
            </a:r>
          </a:p>
          <a:p>
            <a:pPr algn="l">
              <a:lnSpc>
                <a:spcPct val="126000"/>
              </a:lnSpc>
            </a:pPr>
            <a:r>
              <a:rPr sz="1100" b="0" i="0">
                <a:solidFill>
                  <a:srgbClr val="21295C"/>
                </a:solidFill>
                <a:latin typeface="Arial"/>
              </a:rPr>
              <a:t>• Там, где записанное физически присутствует в сигнале, его достают; выдумывать его — выбрать не тот инструмент</a:t>
            </a:r>
          </a:p>
        </p:txBody>
      </p:sp>
      <p:sp>
        <p:nvSpPr>
          <p:cNvPr id="25" name="Rounded Rectangle 24"/>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Граница между восстановлением и выдумыванием проходит по существованию оракула.</a:t>
            </a:r>
          </a:p>
        </p:txBody>
      </p:sp>
      <p:sp>
        <p:nvSpPr>
          <p:cNvPr id="27" name="Rectangle 2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Spleeter; Demucs; BS-RoFormer; WingNut Films, 2021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 модели нет понятия исполнителя</a:t>
            </a:r>
          </a:p>
        </p:txBody>
      </p:sp>
      <p:sp>
        <p:nvSpPr>
          <p:cNvPr id="4" name="TextBox 3"/>
          <p:cNvSpPr txBox="1"/>
          <p:nvPr/>
        </p:nvSpPr>
        <p:spPr>
          <a:xfrm>
            <a:off x="502920" y="137160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Звучание</a:t>
            </a:r>
          </a:p>
        </p:txBody>
      </p:sp>
      <p:sp>
        <p:nvSpPr>
          <p:cNvPr id="5" name="Rounded Rectangle 4"/>
          <p:cNvSpPr/>
          <p:nvPr/>
        </p:nvSpPr>
        <p:spPr>
          <a:xfrm>
            <a:off x="3538728" y="1335024"/>
            <a:ext cx="6622999"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3630168" y="1362456"/>
            <a:ext cx="3174339"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3712464" y="1408176"/>
            <a:ext cx="3009747"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распределение, обусловленное образцом</a:t>
            </a:r>
          </a:p>
        </p:txBody>
      </p:sp>
      <p:sp>
        <p:nvSpPr>
          <p:cNvPr id="8" name="Rounded Rectangle 7"/>
          <p:cNvSpPr/>
          <p:nvPr/>
        </p:nvSpPr>
        <p:spPr>
          <a:xfrm>
            <a:off x="6895947" y="1362456"/>
            <a:ext cx="3174339"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6978243" y="1408176"/>
            <a:ext cx="3009747"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тембр воспроизводится полностью</a:t>
            </a:r>
          </a:p>
        </p:txBody>
      </p:sp>
      <p:sp>
        <p:nvSpPr>
          <p:cNvPr id="10" name="TextBox 9"/>
          <p:cNvSpPr txBox="1"/>
          <p:nvPr/>
        </p:nvSpPr>
        <p:spPr>
          <a:xfrm>
            <a:off x="502920" y="2149306"/>
            <a:ext cx="1307592" cy="105548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Исполнитель</a:t>
            </a:r>
          </a:p>
        </p:txBody>
      </p:sp>
      <p:sp>
        <p:nvSpPr>
          <p:cNvPr id="11" name="Rounded Rectangle 10"/>
          <p:cNvSpPr/>
          <p:nvPr/>
        </p:nvSpPr>
        <p:spPr>
          <a:xfrm>
            <a:off x="3630168" y="2140162"/>
            <a:ext cx="3174339" cy="613114"/>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12" name="Rounded Rectangle 11"/>
          <p:cNvSpPr/>
          <p:nvPr/>
        </p:nvSpPr>
        <p:spPr>
          <a:xfrm>
            <a:off x="6895947" y="2140162"/>
            <a:ext cx="3174339" cy="613114"/>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3630168" y="2798996"/>
            <a:ext cx="6440119" cy="414942"/>
          </a:xfrm>
          <a:prstGeom prst="rect">
            <a:avLst/>
          </a:prstGeom>
          <a:noFill/>
        </p:spPr>
        <p:txBody>
          <a:bodyPr wrap="square" lIns="0" rIns="0" tIns="0" bIns="0" anchor="t">
            <a:spAutoFit/>
          </a:bodyPr>
          <a:lstStyle/>
          <a:p>
            <a:pPr algn="ctr">
              <a:lnSpc>
                <a:spcPct val="110000"/>
              </a:lnSpc>
            </a:pPr>
            <a:r>
              <a:rPr sz="1200" b="1" i="0">
                <a:solidFill>
                  <a:srgbClr val="065A82"/>
                </a:solidFill>
                <a:latin typeface="Arial"/>
              </a:rPr>
              <a:t>манера · репертуар · пределы диапазона · дыхание · решение о подаче — ни одного из этого внутри нет</a:t>
            </a:r>
          </a:p>
        </p:txBody>
      </p:sp>
      <p:sp>
        <p:nvSpPr>
          <p:cNvPr id="14" name="Rounded Rectangle 13"/>
          <p:cNvSpPr/>
          <p:nvPr/>
        </p:nvSpPr>
        <p:spPr>
          <a:xfrm>
            <a:off x="2011680" y="1335024"/>
            <a:ext cx="1325880" cy="1906347"/>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15" name="TextBox 14"/>
          <p:cNvSpPr txBox="1"/>
          <p:nvPr/>
        </p:nvSpPr>
        <p:spPr>
          <a:xfrm>
            <a:off x="2084832" y="1380744"/>
            <a:ext cx="1179576" cy="1814907"/>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образец голоса</a:t>
            </a:r>
          </a:p>
        </p:txBody>
      </p:sp>
      <p:sp>
        <p:nvSpPr>
          <p:cNvPr id="16" name="Rectangle 15"/>
          <p:cNvSpPr/>
          <p:nvPr/>
        </p:nvSpPr>
        <p:spPr>
          <a:xfrm>
            <a:off x="3337560" y="1653011"/>
            <a:ext cx="201168" cy="32004"/>
          </a:xfrm>
          <a:prstGeom prst="rect">
            <a:avLst/>
          </a:prstGeom>
          <a:solidFill>
            <a:srgbClr val="1C7293"/>
          </a:solidFill>
          <a:ln>
            <a:noFill/>
          </a:ln>
          <a:effectLst/>
        </p:spPr>
        <p:txBody>
          <a:bodyPr rtlCol="0" anchor="ctr"/>
          <a:lstStyle/>
          <a:p>
            <a:pPr algn="ctr"/>
          </a:p>
        </p:txBody>
      </p:sp>
      <p:sp>
        <p:nvSpPr>
          <p:cNvPr id="17" name="Rectangle 16"/>
          <p:cNvSpPr/>
          <p:nvPr/>
        </p:nvSpPr>
        <p:spPr>
          <a:xfrm>
            <a:off x="3337560" y="2661048"/>
            <a:ext cx="201168" cy="32004"/>
          </a:xfrm>
          <a:prstGeom prst="rect">
            <a:avLst/>
          </a:prstGeom>
          <a:solidFill>
            <a:srgbClr val="1C7293"/>
          </a:solidFill>
          <a:ln>
            <a:noFill/>
          </a:ln>
          <a:effectLst/>
        </p:spPr>
        <p:txBody>
          <a:bodyPr rtlCol="0" anchor="ctr"/>
          <a:lstStyle/>
          <a:p>
            <a:pPr algn="ctr"/>
          </a:p>
        </p:txBody>
      </p:sp>
      <p:sp>
        <p:nvSpPr>
          <p:cNvPr id="18" name="Rounded Rectangle 17"/>
          <p:cNvSpPr/>
          <p:nvPr/>
        </p:nvSpPr>
        <p:spPr>
          <a:xfrm>
            <a:off x="10362895" y="1335024"/>
            <a:ext cx="1325880" cy="1906347"/>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10436047" y="1380744"/>
            <a:ext cx="1179576" cy="1814907"/>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произнести — да, сыграть — нет</a:t>
            </a:r>
          </a:p>
        </p:txBody>
      </p:sp>
      <p:sp>
        <p:nvSpPr>
          <p:cNvPr id="20" name="Rectangle 19"/>
          <p:cNvSpPr/>
          <p:nvPr/>
        </p:nvSpPr>
        <p:spPr>
          <a:xfrm>
            <a:off x="10161727" y="1653011"/>
            <a:ext cx="201168" cy="32004"/>
          </a:xfrm>
          <a:prstGeom prst="rect">
            <a:avLst/>
          </a:prstGeom>
          <a:solidFill>
            <a:srgbClr val="1C7293"/>
          </a:solidFill>
          <a:ln>
            <a:noFill/>
          </a:ln>
          <a:effectLst/>
        </p:spPr>
        <p:txBody>
          <a:bodyPr rtlCol="0" anchor="ctr"/>
          <a:lstStyle/>
          <a:p>
            <a:pPr algn="ctr"/>
          </a:p>
        </p:txBody>
      </p:sp>
      <p:sp>
        <p:nvSpPr>
          <p:cNvPr id="21" name="Rectangle 20"/>
          <p:cNvSpPr/>
          <p:nvPr/>
        </p:nvSpPr>
        <p:spPr>
          <a:xfrm>
            <a:off x="10161727" y="2661048"/>
            <a:ext cx="201168" cy="32004"/>
          </a:xfrm>
          <a:prstGeom prst="rect">
            <a:avLst/>
          </a:prstGeom>
          <a:solidFill>
            <a:srgbClr val="1C7293"/>
          </a:solidFill>
          <a:ln>
            <a:noFill/>
          </a:ln>
          <a:effectLst/>
        </p:spPr>
        <p:txBody>
          <a:bodyPr rtlCol="0" anchor="ctr"/>
          <a:lstStyle/>
          <a:p>
            <a:pPr algn="ctr"/>
          </a:p>
        </p:txBody>
      </p:sp>
      <p:sp>
        <p:nvSpPr>
          <p:cNvPr id="22" name="TextBox 21"/>
          <p:cNvSpPr txBox="1"/>
          <p:nvPr/>
        </p:nvSpPr>
        <p:spPr>
          <a:xfrm>
            <a:off x="502920" y="3314523"/>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Корень — в данных: обучающий корпус собран из аудиокниг</a:t>
            </a:r>
          </a:p>
        </p:txBody>
      </p:sp>
      <p:sp>
        <p:nvSpPr>
          <p:cNvPr id="23" name="Rounded Rectangle 22"/>
          <p:cNvSpPr/>
          <p:nvPr/>
        </p:nvSpPr>
        <p:spPr>
          <a:xfrm>
            <a:off x="502920" y="3712418"/>
            <a:ext cx="5437479" cy="1752851"/>
          </a:xfrm>
          <a:prstGeom prst="roundRect">
            <a:avLst>
              <a:gd name="adj" fmla="val 17388"/>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667512" y="3867866"/>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Четыре следствия, названные самими поставщиками</a:t>
            </a:r>
          </a:p>
        </p:txBody>
      </p:sp>
      <p:sp>
        <p:nvSpPr>
          <p:cNvPr id="25" name="TextBox 24"/>
          <p:cNvSpPr txBox="1"/>
          <p:nvPr/>
        </p:nvSpPr>
        <p:spPr>
          <a:xfrm>
            <a:off x="667512" y="4224045"/>
            <a:ext cx="5108295" cy="1085776"/>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Голос, снятый со спокойного повествования, звучит иначе, когда его просят выразить сильную эмоцию: сильной эмоции в образце не было</a:t>
            </a:r>
          </a:p>
          <a:p>
            <a:pPr algn="l">
              <a:lnSpc>
                <a:spcPct val="126000"/>
              </a:lnSpc>
            </a:pPr>
            <a:r>
              <a:rPr sz="900" b="0" i="0">
                <a:solidFill>
                  <a:srgbClr val="21295C"/>
                </a:solidFill>
                <a:latin typeface="Arial"/>
              </a:rPr>
              <a:t>• Формулировка разработчиков: «недостаёт тонкого контроля паралингвистических деталей»</a:t>
            </a:r>
          </a:p>
          <a:p>
            <a:pPr algn="l">
              <a:lnSpc>
                <a:spcPct val="126000"/>
              </a:lnSpc>
            </a:pPr>
            <a:r>
              <a:rPr sz="900" b="0" i="0">
                <a:solidFill>
                  <a:srgbClr val="21295C"/>
                </a:solidFill>
                <a:latin typeface="Arial"/>
              </a:rPr>
              <a:t>• Музыкальная модель при запросе вокала даёт «мелодии, похожие на вокал, без разборчивых слов»: форма есть, содержания нет</a:t>
            </a:r>
          </a:p>
          <a:p>
            <a:pPr algn="l">
              <a:lnSpc>
                <a:spcPct val="126000"/>
              </a:lnSpc>
            </a:pPr>
            <a:r>
              <a:rPr sz="900" b="0" i="0">
                <a:solidFill>
                  <a:srgbClr val="21295C"/>
                </a:solidFill>
                <a:latin typeface="Arial"/>
              </a:rPr>
              <a:t>• Профессиональное клонирование пения не поддерживает — сказано в документации</a:t>
            </a:r>
          </a:p>
        </p:txBody>
      </p:sp>
      <p:sp>
        <p:nvSpPr>
          <p:cNvPr id="26" name="Rounded Rectangle 25"/>
          <p:cNvSpPr/>
          <p:nvPr/>
        </p:nvSpPr>
        <p:spPr>
          <a:xfrm>
            <a:off x="6251295" y="3712418"/>
            <a:ext cx="5437479" cy="1752851"/>
          </a:xfrm>
          <a:prstGeom prst="roundRect">
            <a:avLst>
              <a:gd name="adj" fmla="val 17388"/>
            </a:avLst>
          </a:prstGeom>
          <a:solidFill>
            <a:srgbClr val="FFFFFF"/>
          </a:solidFill>
          <a:ln w="19050">
            <a:solidFill>
              <a:srgbClr val="028090"/>
            </a:solidFill>
          </a:ln>
          <a:effectLst/>
        </p:spPr>
        <p:txBody>
          <a:bodyPr rtlCol="0" anchor="ctr"/>
          <a:lstStyle/>
          <a:p>
            <a:pPr algn="ctr"/>
          </a:p>
        </p:txBody>
      </p:sp>
      <p:sp>
        <p:nvSpPr>
          <p:cNvPr id="27" name="TextBox 26"/>
          <p:cNvSpPr txBox="1"/>
          <p:nvPr/>
        </p:nvSpPr>
        <p:spPr>
          <a:xfrm>
            <a:off x="6415887" y="3867866"/>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это значит для задач, где платят за узнавание</a:t>
            </a:r>
          </a:p>
        </p:txBody>
      </p:sp>
      <p:sp>
        <p:nvSpPr>
          <p:cNvPr id="28" name="TextBox 27"/>
          <p:cNvSpPr txBox="1"/>
          <p:nvPr/>
        </p:nvSpPr>
        <p:spPr>
          <a:xfrm>
            <a:off x="6415887" y="4224045"/>
            <a:ext cx="5108295" cy="1085776"/>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Узнаётся тембр; узнаваемость исполнения тембром не покрывается</a:t>
            </a:r>
          </a:p>
          <a:p>
            <a:pPr algn="l">
              <a:lnSpc>
                <a:spcPct val="126000"/>
              </a:lnSpc>
            </a:pPr>
            <a:r>
              <a:rPr sz="900" b="0" i="0">
                <a:solidFill>
                  <a:srgbClr val="21295C"/>
                </a:solidFill>
                <a:latin typeface="Arial"/>
              </a:rPr>
              <a:t>• Эмоция проставляется разметкой руками — управление есть ровно в той мере, в какой вы его проставили</a:t>
            </a:r>
          </a:p>
          <a:p>
            <a:pPr algn="l">
              <a:lnSpc>
                <a:spcPct val="126000"/>
              </a:lnSpc>
            </a:pPr>
            <a:r>
              <a:rPr sz="900" b="0" i="0">
                <a:solidFill>
                  <a:srgbClr val="21295C"/>
                </a:solidFill>
                <a:latin typeface="Arial"/>
              </a:rPr>
              <a:t>• Тот же класс дефекта, что псевдобуквы на сгенерированной картинке: воспроизведена форма, отсутствует содержание</a:t>
            </a:r>
          </a:p>
          <a:p>
            <a:pPr algn="l">
              <a:lnSpc>
                <a:spcPct val="126000"/>
              </a:lnSpc>
            </a:pPr>
            <a:r>
              <a:rPr sz="900" b="0" i="0">
                <a:solidFill>
                  <a:srgbClr val="21295C"/>
                </a:solidFill>
                <a:latin typeface="Arial"/>
              </a:rPr>
              <a:t>• Приёмка «похоже на него» не работает: похоже будет всегда</a:t>
            </a:r>
          </a:p>
        </p:txBody>
      </p:sp>
      <p:sp>
        <p:nvSpPr>
          <p:cNvPr id="29" name="Rounded Rectangle 28"/>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Модель голоса воспроизводит звучание; на этом её знание о человеке заканчивается. Корень лежит в обучающих данных, и поставщики называют его сами.</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документация ElevenLabs; F5-TTS; Stable Audio 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Длина выхода задана до запуска: остановиться раньше нельзя</a:t>
            </a:r>
          </a:p>
        </p:txBody>
      </p:sp>
      <p:sp>
        <p:nvSpPr>
          <p:cNvPr id="4" name="Rounded Rectangle 3"/>
          <p:cNvSpPr/>
          <p:nvPr/>
        </p:nvSpPr>
        <p:spPr>
          <a:xfrm>
            <a:off x="502920" y="1335024"/>
            <a:ext cx="2673019" cy="2744421"/>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НЕЛЬЗЯ ПОПРОСИТЬ</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«играй, пока не кончится идея»</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надо назвать число секунд</a:t>
            </a:r>
          </a:p>
        </p:txBody>
      </p:sp>
      <p:sp>
        <p:nvSpPr>
          <p:cNvPr id="8" name="Rounded Rectangle 7"/>
          <p:cNvSpPr/>
          <p:nvPr/>
        </p:nvSpPr>
        <p:spPr>
          <a:xfrm>
            <a:off x="3340531" y="1335024"/>
            <a:ext cx="2673019" cy="2744421"/>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ОБХОД ПЕРВЫЙ — ОБУСЛОВЛИВАНИЕ НА ДЛИТЕЛЬНОСТЬ</a:t>
            </a:r>
          </a:p>
        </p:txBody>
      </p:sp>
      <p:sp>
        <p:nvSpPr>
          <p:cNvPr id="10" name="TextBox 9"/>
          <p:cNvSpPr txBox="1"/>
          <p:nvPr/>
        </p:nvSpPr>
        <p:spPr>
          <a:xfrm>
            <a:off x="3477691"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платит пустым окном</a:t>
            </a:r>
          </a:p>
        </p:txBody>
      </p:sp>
      <p:sp>
        <p:nvSpPr>
          <p:cNvPr id="11" name="TextBox 10"/>
          <p:cNvSpPr txBox="1"/>
          <p:nvPr/>
        </p:nvSpPr>
        <p:spPr>
          <a:xfrm>
            <a:off x="3477691" y="2957740"/>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всегда производит окно в 95 секунд и заполняет хвост тишиной; вычисления на тишину тратятся</a:t>
            </a:r>
          </a:p>
        </p:txBody>
      </p:sp>
      <p:sp>
        <p:nvSpPr>
          <p:cNvPr id="12" name="Rounded Rectangle 11"/>
          <p:cNvSpPr/>
          <p:nvPr/>
        </p:nvSpPr>
        <p:spPr>
          <a:xfrm>
            <a:off x="6178143" y="1335024"/>
            <a:ext cx="2673019" cy="2744421"/>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ОБХОД ВТОРОЙ — ДОСТРОЙКА ФРАГМЕНТАМИ</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платит структурой</a:t>
            </a:r>
          </a:p>
        </p:txBody>
      </p:sp>
      <p:sp>
        <p:nvSpPr>
          <p:cNvPr id="15" name="TextBox 14"/>
          <p:cNvSpPr txBox="1"/>
          <p:nvPr/>
        </p:nvSpPr>
        <p:spPr>
          <a:xfrm>
            <a:off x="6315303" y="275026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контекст переносится только последний кусок — у одной модели двенадцать секунд предыдущего звука</a:t>
            </a:r>
          </a:p>
        </p:txBody>
      </p:sp>
      <p:sp>
        <p:nvSpPr>
          <p:cNvPr id="16" name="Rounded Rectangle 15"/>
          <p:cNvSpPr/>
          <p:nvPr/>
        </p:nvSpPr>
        <p:spPr>
          <a:xfrm>
            <a:off x="9015755" y="1335024"/>
            <a:ext cx="2673019" cy="2744421"/>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ПОЧЕМУ ПРИПЕВ НЕ ВОЗВРАЩАЕТСЯ</a:t>
            </a:r>
          </a:p>
        </p:txBody>
      </p:sp>
      <p:sp>
        <p:nvSpPr>
          <p:cNvPr id="18" name="TextBox 17"/>
          <p:cNvSpPr txBox="1"/>
          <p:nvPr/>
        </p:nvSpPr>
        <p:spPr>
          <a:xfrm>
            <a:off x="9152915" y="1932846"/>
            <a:ext cx="2398699" cy="953221"/>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модель не может сослаться на то, что было минуту назад</a:t>
            </a:r>
          </a:p>
        </p:txBody>
      </p:sp>
      <p:sp>
        <p:nvSpPr>
          <p:cNvPr id="19" name="TextBox 18"/>
          <p:cNvSpPr txBox="1"/>
          <p:nvPr/>
        </p:nvSpPr>
        <p:spPr>
          <a:xfrm>
            <a:off x="9152915" y="2886068"/>
            <a:ext cx="2398699"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модели с низкой частотой латента, держащей композицию в одном окне, повторение мотива появляется само</a:t>
            </a:r>
          </a:p>
        </p:txBody>
      </p:sp>
      <p:sp>
        <p:nvSpPr>
          <p:cNvPr id="20" name="TextBox 19"/>
          <p:cNvSpPr txBox="1"/>
          <p:nvPr/>
        </p:nvSpPr>
        <p:spPr>
          <a:xfrm>
            <a:off x="502920" y="4298901"/>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Языковая модель</a:t>
            </a:r>
          </a:p>
        </p:txBody>
      </p:sp>
      <p:sp>
        <p:nvSpPr>
          <p:cNvPr id="21" name="Rounded Rectangle 20"/>
          <p:cNvSpPr/>
          <p:nvPr/>
        </p:nvSpPr>
        <p:spPr>
          <a:xfrm>
            <a:off x="1920240"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Запуск: длина не задана</a:t>
            </a:r>
          </a:p>
        </p:txBody>
      </p:sp>
      <p:sp>
        <p:nvSpPr>
          <p:cNvPr id="23" name="Right Arrow 22"/>
          <p:cNvSpPr/>
          <p:nvPr/>
        </p:nvSpPr>
        <p:spPr>
          <a:xfrm>
            <a:off x="4202353" y="4550266"/>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Генерация идёт</a:t>
            </a:r>
          </a:p>
        </p:txBody>
      </p:sp>
      <p:sp>
        <p:nvSpPr>
          <p:cNvPr id="26" name="Right Arrow 25"/>
          <p:cNvSpPr/>
          <p:nvPr/>
        </p:nvSpPr>
        <p:spPr>
          <a:xfrm>
            <a:off x="6713067" y="4550266"/>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Модель выдаёт служебный токен конца</a:t>
            </a:r>
          </a:p>
        </p:txBody>
      </p:sp>
      <p:sp>
        <p:nvSpPr>
          <p:cNvPr id="29" name="Right Arrow 28"/>
          <p:cNvSpPr/>
          <p:nvPr/>
        </p:nvSpPr>
        <p:spPr>
          <a:xfrm>
            <a:off x="9223781" y="4550266"/>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Длина — результат</a:t>
            </a:r>
          </a:p>
        </p:txBody>
      </p:sp>
      <p:sp>
        <p:nvSpPr>
          <p:cNvPr id="32" name="TextBox 31"/>
          <p:cNvSpPr txBox="1"/>
          <p:nvPr/>
        </p:nvSpPr>
        <p:spPr>
          <a:xfrm>
            <a:off x="502920" y="515824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Диффузионная модель звука</a:t>
            </a:r>
          </a:p>
        </p:txBody>
      </p:sp>
      <p:sp>
        <p:nvSpPr>
          <p:cNvPr id="33" name="Rounded Rectangle 32"/>
          <p:cNvSpPr/>
          <p:nvPr/>
        </p:nvSpPr>
        <p:spPr>
          <a:xfrm>
            <a:off x="1920240"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Запуск: длина задана числом</a:t>
            </a:r>
          </a:p>
        </p:txBody>
      </p:sp>
      <p:sp>
        <p:nvSpPr>
          <p:cNvPr id="35" name="Right Arrow 34"/>
          <p:cNvSpPr/>
          <p:nvPr/>
        </p:nvSpPr>
        <p:spPr>
          <a:xfrm>
            <a:off x="4202353" y="5409612"/>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4513249"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Порождается тензор этой формы</a:t>
            </a:r>
          </a:p>
        </p:txBody>
      </p:sp>
      <p:sp>
        <p:nvSpPr>
          <p:cNvPr id="38" name="Right Arrow 37"/>
          <p:cNvSpPr/>
          <p:nvPr/>
        </p:nvSpPr>
        <p:spPr>
          <a:xfrm>
            <a:off x="6713067" y="5409612"/>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Остановиться раньше нечем</a:t>
            </a:r>
          </a:p>
        </p:txBody>
      </p:sp>
      <p:sp>
        <p:nvSpPr>
          <p:cNvPr id="41" name="Right Arrow 40"/>
          <p:cNvSpPr/>
          <p:nvPr/>
        </p:nvSpPr>
        <p:spPr>
          <a:xfrm>
            <a:off x="9223781" y="5409612"/>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Длина — параметр</a:t>
            </a:r>
          </a:p>
        </p:txBody>
      </p:sp>
      <p:sp>
        <p:nvSpPr>
          <p:cNvPr id="44" name="TextBox 43"/>
          <p:cNvSpPr txBox="1"/>
          <p:nvPr/>
        </p:nvSpPr>
        <p:spPr>
          <a:xfrm>
            <a:off x="502920" y="587128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Кто принимает решение о длине</a:t>
            </a: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Право на голос: в Гражданском кодексе России охраны нет</a:t>
            </a:r>
          </a:p>
        </p:txBody>
      </p:sp>
      <p:sp>
        <p:nvSpPr>
          <p:cNvPr id="4" name="Rounded Rectangle 3"/>
          <p:cNvSpPr/>
          <p:nvPr/>
        </p:nvSpPr>
        <p:spPr>
          <a:xfrm>
            <a:off x="502920" y="1335024"/>
            <a:ext cx="11185855"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ПОЗИЦИЯ ОТРАСЛИ</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просят лицензию, а не запрет</a:t>
            </a:r>
          </a:p>
        </p:txBody>
      </p:sp>
      <p:sp>
        <p:nvSpPr>
          <p:cNvPr id="7" name="TextBox 6"/>
          <p:cNvSpPr txBox="1"/>
          <p:nvPr/>
        </p:nvSpPr>
        <p:spPr>
          <a:xfrm>
            <a:off x="640080" y="2152374"/>
            <a:ext cx="1091153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Союз дикторов России: «чтобы эта технология стала выгодна самим дикторам, а не стала закатом профессии». Применённых в суде дел по законам обоих штатов найти не удалось</a:t>
            </a:r>
          </a:p>
        </p:txBody>
      </p:sp>
      <p:sp>
        <p:nvSpPr>
          <p:cNvPr id="8" name="TextBox 7"/>
          <p:cNvSpPr txBox="1"/>
          <p:nvPr/>
        </p:nvSpPr>
        <p:spPr>
          <a:xfrm>
            <a:off x="502920" y="2931477"/>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Россия</a:t>
            </a:r>
          </a:p>
        </p:txBody>
      </p:sp>
      <p:sp>
        <p:nvSpPr>
          <p:cNvPr id="9" name="Rounded Rectangle 8"/>
          <p:cNvSpPr/>
          <p:nvPr/>
        </p:nvSpPr>
        <p:spPr>
          <a:xfrm>
            <a:off x="2011680" y="2894901"/>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922333"/>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968053"/>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сентябрь 2024: внесён</a:t>
            </a:r>
          </a:p>
        </p:txBody>
      </p:sp>
      <p:sp>
        <p:nvSpPr>
          <p:cNvPr id="12" name="Right Arrow 11"/>
          <p:cNvSpPr/>
          <p:nvPr/>
        </p:nvSpPr>
        <p:spPr>
          <a:xfrm>
            <a:off x="5069738" y="3082353"/>
            <a:ext cx="182880" cy="137160"/>
          </a:xfrm>
          <a:prstGeom prst="rightArrow">
            <a:avLst/>
          </a:prstGeom>
          <a:solidFill>
            <a:srgbClr val="1C7293"/>
          </a:solidFill>
          <a:ln>
            <a:noFill/>
          </a:ln>
          <a:effectLst/>
        </p:spPr>
        <p:txBody>
          <a:bodyPr rtlCol="0" anchor="ctr"/>
          <a:lstStyle/>
          <a:p>
            <a:pPr algn="ctr"/>
          </a:p>
        </p:txBody>
      </p:sp>
      <p:sp>
        <p:nvSpPr>
          <p:cNvPr id="13" name="Rounded Rectangle 12"/>
          <p:cNvSpPr/>
          <p:nvPr/>
        </p:nvSpPr>
        <p:spPr>
          <a:xfrm>
            <a:off x="5389778" y="2922333"/>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4" name="TextBox 13"/>
          <p:cNvSpPr txBox="1"/>
          <p:nvPr/>
        </p:nvSpPr>
        <p:spPr>
          <a:xfrm>
            <a:off x="5472074" y="2968053"/>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январь 2025: не поддержан</a:t>
            </a:r>
          </a:p>
        </p:txBody>
      </p:sp>
      <p:sp>
        <p:nvSpPr>
          <p:cNvPr id="15" name="Right Arrow 14"/>
          <p:cNvSpPr/>
          <p:nvPr/>
        </p:nvSpPr>
        <p:spPr>
          <a:xfrm>
            <a:off x="8356396" y="3082353"/>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8676436" y="2922333"/>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8758732" y="2968053"/>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октябрь 2026: не принят</a:t>
            </a:r>
          </a:p>
        </p:txBody>
      </p:sp>
      <p:sp>
        <p:nvSpPr>
          <p:cNvPr id="18" name="TextBox 17"/>
          <p:cNvSpPr txBox="1"/>
          <p:nvPr/>
        </p:nvSpPr>
        <p:spPr>
          <a:xfrm>
            <a:off x="502920" y="3553269"/>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штаты</a:t>
            </a:r>
          </a:p>
        </p:txBody>
      </p:sp>
      <p:sp>
        <p:nvSpPr>
          <p:cNvPr id="19" name="Rounded Rectangle 18"/>
          <p:cNvSpPr/>
          <p:nvPr/>
        </p:nvSpPr>
        <p:spPr>
          <a:xfrm>
            <a:off x="2011680" y="3516693"/>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0" name="Rounded Rectangle 19"/>
          <p:cNvSpPr/>
          <p:nvPr/>
        </p:nvSpPr>
        <p:spPr>
          <a:xfrm>
            <a:off x="2103120" y="3544125"/>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2185416" y="3589845"/>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Теннесси: в силе с 1 июля 2024</a:t>
            </a:r>
          </a:p>
        </p:txBody>
      </p:sp>
      <p:sp>
        <p:nvSpPr>
          <p:cNvPr id="22" name="Right Arrow 21"/>
          <p:cNvSpPr/>
          <p:nvPr/>
        </p:nvSpPr>
        <p:spPr>
          <a:xfrm>
            <a:off x="5069738" y="3704145"/>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5389778" y="3544125"/>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4" name="TextBox 23"/>
          <p:cNvSpPr txBox="1"/>
          <p:nvPr/>
        </p:nvSpPr>
        <p:spPr>
          <a:xfrm>
            <a:off x="5472074" y="3589845"/>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Калифорния: с 1 января 2025</a:t>
            </a:r>
          </a:p>
        </p:txBody>
      </p:sp>
      <p:sp>
        <p:nvSpPr>
          <p:cNvPr id="25" name="Right Arrow 24"/>
          <p:cNvSpPr/>
          <p:nvPr/>
        </p:nvSpPr>
        <p:spPr>
          <a:xfrm>
            <a:off x="8356396" y="3704145"/>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8676436" y="3544125"/>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8758732" y="3589845"/>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применённых дел не найдено</a:t>
            </a:r>
          </a:p>
        </p:txBody>
      </p:sp>
      <p:sp>
        <p:nvSpPr>
          <p:cNvPr id="28" name="TextBox 27"/>
          <p:cNvSpPr txBox="1"/>
          <p:nvPr/>
        </p:nvSpPr>
        <p:spPr>
          <a:xfrm>
            <a:off x="502920" y="4175061"/>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федерация</a:t>
            </a:r>
          </a:p>
        </p:txBody>
      </p:sp>
      <p:sp>
        <p:nvSpPr>
          <p:cNvPr id="29" name="Rounded Rectangle 28"/>
          <p:cNvSpPr/>
          <p:nvPr/>
        </p:nvSpPr>
        <p:spPr>
          <a:xfrm>
            <a:off x="2011680" y="4138485"/>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0" name="Rounded Rectangle 29"/>
          <p:cNvSpPr/>
          <p:nvPr/>
        </p:nvSpPr>
        <p:spPr>
          <a:xfrm>
            <a:off x="2103120" y="416591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2185416" y="421163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июнь 2026: одобрен комитетом</a:t>
            </a:r>
          </a:p>
        </p:txBody>
      </p:sp>
      <p:sp>
        <p:nvSpPr>
          <p:cNvPr id="32" name="Right Arrow 31"/>
          <p:cNvSpPr/>
          <p:nvPr/>
        </p:nvSpPr>
        <p:spPr>
          <a:xfrm>
            <a:off x="5069738" y="4403894"/>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389778" y="416591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4" name="TextBox 33"/>
          <p:cNvSpPr txBox="1"/>
          <p:nvPr/>
        </p:nvSpPr>
        <p:spPr>
          <a:xfrm>
            <a:off x="5472074" y="421163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сентябрь 2026: возразил сенатор</a:t>
            </a:r>
          </a:p>
        </p:txBody>
      </p:sp>
      <p:sp>
        <p:nvSpPr>
          <p:cNvPr id="35" name="Right Arrow 34"/>
          <p:cNvSpPr/>
          <p:nvPr/>
        </p:nvSpPr>
        <p:spPr>
          <a:xfrm>
            <a:off x="8356396" y="4403894"/>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76436" y="416591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8758732" y="421163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ни одной палатой не принят</a:t>
            </a:r>
          </a:p>
        </p:txBody>
      </p:sp>
      <p:sp>
        <p:nvSpPr>
          <p:cNvPr id="38" name="TextBox 37"/>
          <p:cNvSpPr txBox="1"/>
          <p:nvPr/>
        </p:nvSpPr>
        <p:spPr>
          <a:xfrm>
            <a:off x="502920" y="487961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Три разные линии, и ни одна не кончилась применённым в суде делом</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законопроект № 718834-8; ELVIS Act (Теннесси); AB 1836 (Калифорния); Союз дикторов России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Дело Андроновой: 600 страниц начитки 2019 → голос в чужой рекламе 2022 → иск 6 млн ₽</a:t>
            </a:r>
          </a:p>
        </p:txBody>
      </p:sp>
      <p:sp>
        <p:nvSpPr>
          <p:cNvPr id="4" name="Rectangle 3"/>
          <p:cNvSpPr/>
          <p:nvPr/>
        </p:nvSpPr>
        <p:spPr>
          <a:xfrm>
            <a:off x="994009" y="1726662"/>
            <a:ext cx="6875259" cy="50292"/>
          </a:xfrm>
          <a:prstGeom prst="rect">
            <a:avLst/>
          </a:prstGeom>
          <a:solidFill>
            <a:srgbClr val="1C7293"/>
          </a:solidFill>
          <a:ln>
            <a:noFill/>
          </a:ln>
          <a:effectLst/>
        </p:spPr>
        <p:txBody>
          <a:bodyPr rtlCol="0" anchor="ctr"/>
          <a:lstStyle/>
          <a:p>
            <a:pPr algn="ctr"/>
          </a:p>
        </p:txBody>
      </p:sp>
      <p:sp>
        <p:nvSpPr>
          <p:cNvPr id="5" name="Rounded Rectangle 4"/>
          <p:cNvSpPr/>
          <p:nvPr/>
        </p:nvSpPr>
        <p:spPr>
          <a:xfrm>
            <a:off x="140280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6" name="TextBox 5"/>
          <p:cNvSpPr txBox="1"/>
          <p:nvPr/>
        </p:nvSpPr>
        <p:spPr>
          <a:xfrm>
            <a:off x="502920"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2019: начитка</a:t>
            </a:r>
          </a:p>
        </p:txBody>
      </p:sp>
      <p:sp>
        <p:nvSpPr>
          <p:cNvPr id="7" name="Rounded Rectangle 6"/>
          <p:cNvSpPr/>
          <p:nvPr/>
        </p:nvSpPr>
        <p:spPr>
          <a:xfrm>
            <a:off x="336716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8" name="TextBox 7"/>
          <p:cNvSpPr txBox="1"/>
          <p:nvPr/>
        </p:nvSpPr>
        <p:spPr>
          <a:xfrm>
            <a:off x="2467279"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2022: голос в рекламе</a:t>
            </a:r>
          </a:p>
        </p:txBody>
      </p:sp>
      <p:sp>
        <p:nvSpPr>
          <p:cNvPr id="9" name="Rounded Rectangle 8"/>
          <p:cNvSpPr/>
          <p:nvPr/>
        </p:nvSpPr>
        <p:spPr>
          <a:xfrm>
            <a:off x="533152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10" name="TextBox 9"/>
          <p:cNvSpPr txBox="1"/>
          <p:nvPr/>
        </p:nvSpPr>
        <p:spPr>
          <a:xfrm>
            <a:off x="4431639"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2023: иск</a:t>
            </a:r>
          </a:p>
        </p:txBody>
      </p:sp>
      <p:sp>
        <p:nvSpPr>
          <p:cNvPr id="11" name="Rounded Rectangle 10"/>
          <p:cNvSpPr/>
          <p:nvPr/>
        </p:nvSpPr>
        <p:spPr>
          <a:xfrm>
            <a:off x="729588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12" name="TextBox 11"/>
          <p:cNvSpPr txBox="1"/>
          <p:nvPr/>
        </p:nvSpPr>
        <p:spPr>
          <a:xfrm>
            <a:off x="6395999"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2024: решение</a:t>
            </a:r>
          </a:p>
        </p:txBody>
      </p:sp>
      <p:sp>
        <p:nvSpPr>
          <p:cNvPr id="13" name="Rectangle 12"/>
          <p:cNvSpPr/>
          <p:nvPr/>
        </p:nvSpPr>
        <p:spPr>
          <a:xfrm>
            <a:off x="1470469" y="1834104"/>
            <a:ext cx="29260" cy="329183"/>
          </a:xfrm>
          <a:prstGeom prst="rect">
            <a:avLst/>
          </a:prstGeom>
          <a:solidFill>
            <a:srgbClr val="065A82"/>
          </a:solidFill>
          <a:ln>
            <a:noFill/>
          </a:ln>
          <a:effectLst/>
        </p:spPr>
        <p:txBody>
          <a:bodyPr rtlCol="0" anchor="ctr"/>
          <a:lstStyle/>
          <a:p>
            <a:pPr algn="ctr"/>
          </a:p>
        </p:txBody>
      </p:sp>
      <p:sp>
        <p:nvSpPr>
          <p:cNvPr id="14" name="Rounded Rectangle 13"/>
          <p:cNvSpPr/>
          <p:nvPr/>
        </p:nvSpPr>
        <p:spPr>
          <a:xfrm>
            <a:off x="557784" y="2163288"/>
            <a:ext cx="1854631" cy="1508546"/>
          </a:xfrm>
          <a:prstGeom prst="roundRect">
            <a:avLst>
              <a:gd name="adj" fmla="val 20204"/>
            </a:avLst>
          </a:prstGeom>
          <a:solidFill>
            <a:srgbClr val="F4F7FA"/>
          </a:solidFill>
          <a:ln w="16510">
            <a:solidFill>
              <a:srgbClr val="1C7293"/>
            </a:solidFill>
          </a:ln>
          <a:effectLst/>
        </p:spPr>
        <p:txBody>
          <a:bodyPr rtlCol="0" anchor="ctr"/>
          <a:lstStyle/>
          <a:p>
            <a:pPr algn="ctr"/>
          </a:p>
        </p:txBody>
      </p:sp>
      <p:sp>
        <p:nvSpPr>
          <p:cNvPr id="15" name="Rounded Rectangle 14"/>
          <p:cNvSpPr/>
          <p:nvPr/>
        </p:nvSpPr>
        <p:spPr>
          <a:xfrm>
            <a:off x="685800"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2019</a:t>
            </a:r>
          </a:p>
        </p:txBody>
      </p:sp>
      <p:sp>
        <p:nvSpPr>
          <p:cNvPr id="16" name="TextBox 15"/>
          <p:cNvSpPr txBox="1"/>
          <p:nvPr/>
        </p:nvSpPr>
        <p:spPr>
          <a:xfrm>
            <a:off x="685800" y="2647920"/>
            <a:ext cx="1598599" cy="89589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около 600 страниц начитки для банка; слова «синтез» в договоре не было</a:t>
            </a:r>
          </a:p>
        </p:txBody>
      </p:sp>
      <p:sp>
        <p:nvSpPr>
          <p:cNvPr id="17" name="Rectangle 16"/>
          <p:cNvSpPr/>
          <p:nvPr/>
        </p:nvSpPr>
        <p:spPr>
          <a:xfrm>
            <a:off x="3434829" y="1834104"/>
            <a:ext cx="29260" cy="329183"/>
          </a:xfrm>
          <a:prstGeom prst="rect">
            <a:avLst/>
          </a:prstGeom>
          <a:solidFill>
            <a:srgbClr val="065A82"/>
          </a:solidFill>
          <a:ln>
            <a:noFill/>
          </a:ln>
          <a:effectLst/>
        </p:spPr>
        <p:txBody>
          <a:bodyPr rtlCol="0" anchor="ctr"/>
          <a:lstStyle/>
          <a:p>
            <a:pPr algn="ctr"/>
          </a:p>
        </p:txBody>
      </p:sp>
      <p:sp>
        <p:nvSpPr>
          <p:cNvPr id="18" name="Rounded Rectangle 17"/>
          <p:cNvSpPr/>
          <p:nvPr/>
        </p:nvSpPr>
        <p:spPr>
          <a:xfrm>
            <a:off x="2522143" y="2163288"/>
            <a:ext cx="1854631" cy="1732521"/>
          </a:xfrm>
          <a:prstGeom prst="roundRect">
            <a:avLst>
              <a:gd name="adj" fmla="val 17592"/>
            </a:avLst>
          </a:prstGeom>
          <a:solidFill>
            <a:srgbClr val="F4F7FA"/>
          </a:solidFill>
          <a:ln w="16510">
            <a:solidFill>
              <a:srgbClr val="1C7293"/>
            </a:solidFill>
          </a:ln>
          <a:effectLst/>
        </p:spPr>
        <p:txBody>
          <a:bodyPr rtlCol="0" anchor="ctr"/>
          <a:lstStyle/>
          <a:p>
            <a:pPr algn="ctr"/>
          </a:p>
        </p:txBody>
      </p:sp>
      <p:sp>
        <p:nvSpPr>
          <p:cNvPr id="19" name="Rounded Rectangle 18"/>
          <p:cNvSpPr/>
          <p:nvPr/>
        </p:nvSpPr>
        <p:spPr>
          <a:xfrm>
            <a:off x="2650159"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2022</a:t>
            </a:r>
          </a:p>
        </p:txBody>
      </p:sp>
      <p:sp>
        <p:nvSpPr>
          <p:cNvPr id="20" name="TextBox 19"/>
          <p:cNvSpPr txBox="1"/>
          <p:nvPr/>
        </p:nvSpPr>
        <p:spPr>
          <a:xfrm>
            <a:off x="2650159" y="2647920"/>
            <a:ext cx="1598599" cy="111987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голос обнаружен в сторонней рекламе, доступен для синтеза на сторонних площадках</a:t>
            </a:r>
          </a:p>
        </p:txBody>
      </p:sp>
      <p:sp>
        <p:nvSpPr>
          <p:cNvPr id="21" name="Rectangle 20"/>
          <p:cNvSpPr/>
          <p:nvPr/>
        </p:nvSpPr>
        <p:spPr>
          <a:xfrm>
            <a:off x="5399189" y="1834104"/>
            <a:ext cx="29260" cy="329183"/>
          </a:xfrm>
          <a:prstGeom prst="rect">
            <a:avLst/>
          </a:prstGeom>
          <a:solidFill>
            <a:srgbClr val="065A82"/>
          </a:solidFill>
          <a:ln>
            <a:noFill/>
          </a:ln>
          <a:effectLst/>
        </p:spPr>
        <p:txBody>
          <a:bodyPr rtlCol="0" anchor="ctr"/>
          <a:lstStyle/>
          <a:p>
            <a:pPr algn="ctr"/>
          </a:p>
        </p:txBody>
      </p:sp>
      <p:sp>
        <p:nvSpPr>
          <p:cNvPr id="22" name="Rounded Rectangle 21"/>
          <p:cNvSpPr/>
          <p:nvPr/>
        </p:nvSpPr>
        <p:spPr>
          <a:xfrm>
            <a:off x="4486503" y="2163288"/>
            <a:ext cx="1854631" cy="1732521"/>
          </a:xfrm>
          <a:prstGeom prst="roundRect">
            <a:avLst>
              <a:gd name="adj" fmla="val 17592"/>
            </a:avLst>
          </a:prstGeom>
          <a:solidFill>
            <a:srgbClr val="F4F7FA"/>
          </a:solidFill>
          <a:ln w="16510">
            <a:solidFill>
              <a:srgbClr val="1C7293"/>
            </a:solidFill>
          </a:ln>
          <a:effectLst/>
        </p:spPr>
        <p:txBody>
          <a:bodyPr rtlCol="0" anchor="ctr"/>
          <a:lstStyle/>
          <a:p>
            <a:pPr algn="ctr"/>
          </a:p>
        </p:txBody>
      </p:sp>
      <p:sp>
        <p:nvSpPr>
          <p:cNvPr id="23" name="Rounded Rectangle 22"/>
          <p:cNvSpPr/>
          <p:nvPr/>
        </p:nvSpPr>
        <p:spPr>
          <a:xfrm>
            <a:off x="4614519"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2023</a:t>
            </a:r>
          </a:p>
        </p:txBody>
      </p:sp>
      <p:sp>
        <p:nvSpPr>
          <p:cNvPr id="24" name="TextBox 23"/>
          <p:cNvSpPr txBox="1"/>
          <p:nvPr/>
        </p:nvSpPr>
        <p:spPr>
          <a:xfrm>
            <a:off x="4614519" y="2647920"/>
            <a:ext cx="1598599" cy="111987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иск почти на 6 млн ₽, подан 30 августа после отказа от компенсации в два месячных заработка</a:t>
            </a:r>
          </a:p>
        </p:txBody>
      </p:sp>
      <p:sp>
        <p:nvSpPr>
          <p:cNvPr id="25" name="Rectangle 24"/>
          <p:cNvSpPr/>
          <p:nvPr/>
        </p:nvSpPr>
        <p:spPr>
          <a:xfrm>
            <a:off x="7363548" y="1834104"/>
            <a:ext cx="29260" cy="329183"/>
          </a:xfrm>
          <a:prstGeom prst="rect">
            <a:avLst/>
          </a:prstGeom>
          <a:solidFill>
            <a:srgbClr val="065A82"/>
          </a:solidFill>
          <a:ln>
            <a:noFill/>
          </a:ln>
          <a:effectLst/>
        </p:spPr>
        <p:txBody>
          <a:bodyPr rtlCol="0" anchor="ctr"/>
          <a:lstStyle/>
          <a:p>
            <a:pPr algn="ctr"/>
          </a:p>
        </p:txBody>
      </p:sp>
      <p:sp>
        <p:nvSpPr>
          <p:cNvPr id="26" name="Rounded Rectangle 25"/>
          <p:cNvSpPr/>
          <p:nvPr/>
        </p:nvSpPr>
        <p:spPr>
          <a:xfrm>
            <a:off x="6450863" y="2163288"/>
            <a:ext cx="1854631" cy="1508546"/>
          </a:xfrm>
          <a:prstGeom prst="roundRect">
            <a:avLst>
              <a:gd name="adj" fmla="val 20204"/>
            </a:avLst>
          </a:prstGeom>
          <a:solidFill>
            <a:srgbClr val="F4F7FA"/>
          </a:solidFill>
          <a:ln w="16510">
            <a:solidFill>
              <a:srgbClr val="1C7293"/>
            </a:solidFill>
          </a:ln>
          <a:effectLst/>
        </p:spPr>
        <p:txBody>
          <a:bodyPr rtlCol="0" anchor="ctr"/>
          <a:lstStyle/>
          <a:p>
            <a:pPr algn="ctr"/>
          </a:p>
        </p:txBody>
      </p:sp>
      <p:sp>
        <p:nvSpPr>
          <p:cNvPr id="27" name="Rounded Rectangle 26"/>
          <p:cNvSpPr/>
          <p:nvPr/>
        </p:nvSpPr>
        <p:spPr>
          <a:xfrm>
            <a:off x="6578879"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2024</a:t>
            </a:r>
          </a:p>
        </p:txBody>
      </p:sp>
      <p:sp>
        <p:nvSpPr>
          <p:cNvPr id="28" name="TextBox 27"/>
          <p:cNvSpPr txBox="1"/>
          <p:nvPr/>
        </p:nvSpPr>
        <p:spPr>
          <a:xfrm>
            <a:off x="6578879" y="2647920"/>
            <a:ext cx="1598599" cy="89589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в иске отказано: суд разрешил спор о голосе как спор о договоре</a:t>
            </a:r>
          </a:p>
        </p:txBody>
      </p:sp>
      <p:sp>
        <p:nvSpPr>
          <p:cNvPr id="29" name="TextBox 28"/>
          <p:cNvSpPr txBox="1"/>
          <p:nvPr/>
        </p:nvSpPr>
        <p:spPr>
          <a:xfrm>
            <a:off x="502920" y="4042113"/>
            <a:ext cx="7857439"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стадия единственного российского дела о синтезированном голосе</a:t>
            </a:r>
          </a:p>
        </p:txBody>
      </p:sp>
      <p:sp>
        <p:nvSpPr>
          <p:cNvPr id="30" name="TextBox 29"/>
          <p:cNvSpPr txBox="1"/>
          <p:nvPr/>
        </p:nvSpPr>
        <p:spPr>
          <a:xfrm>
            <a:off x="502920" y="4353009"/>
            <a:ext cx="7857439"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Единственное российское дело о синтезированном голосе, дошедшее до решения</a:t>
            </a:r>
          </a:p>
        </p:txBody>
      </p:sp>
      <p:sp>
        <p:nvSpPr>
          <p:cNvPr id="31" name="Rounded Rectangle 30"/>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32" name="Picture 31" descr="s48-andronova-afisha-portret.png"/>
          <p:cNvPicPr>
            <a:picLocks noChangeAspect="1"/>
          </p:cNvPicPr>
          <p:nvPr/>
        </p:nvPicPr>
        <p:blipFill>
          <a:blip r:embed="rId2"/>
          <a:stretch>
            <a:fillRect/>
          </a:stretch>
        </p:blipFill>
        <p:spPr>
          <a:xfrm>
            <a:off x="8808415" y="1472184"/>
            <a:ext cx="2743200" cy="4114800"/>
          </a:xfrm>
          <a:prstGeom prst="rect">
            <a:avLst/>
          </a:prstGeom>
        </p:spPr>
      </p:pic>
      <p:sp>
        <p:nvSpPr>
          <p:cNvPr id="33" name="Rectangle 32"/>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дело № 2-3580/2024, Савёловский районный суд Москвы, 12.08.2024; Афиша Daily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Поправка к счёту: скачиваемый трек стоит 0,40 $, а не 0,016 $</a:t>
            </a:r>
          </a:p>
        </p:txBody>
      </p:sp>
      <p:sp>
        <p:nvSpPr>
          <p:cNvPr id="4" name="Rounded Rectangle 3"/>
          <p:cNvSpPr/>
          <p:nvPr/>
        </p:nvSpPr>
        <p:spPr>
          <a:xfrm>
            <a:off x="502920"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ГЕНЕРАЦИИ</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0,016 $ за трек</a:t>
            </a:r>
          </a:p>
        </p:txBody>
      </p:sp>
      <p:sp>
        <p:nvSpPr>
          <p:cNvPr id="7" name="TextBox 6"/>
          <p:cNvSpPr txBox="1"/>
          <p:nvPr/>
        </p:nvSpPr>
        <p:spPr>
          <a:xfrm>
            <a:off x="640080"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цитируется повсеместно; считает нажатие кнопки</a:t>
            </a:r>
          </a:p>
        </p:txBody>
      </p:sp>
      <p:sp>
        <p:nvSpPr>
          <p:cNvPr id="8" name="Rounded Rectangle 7"/>
          <p:cNvSpPr/>
          <p:nvPr/>
        </p:nvSpPr>
        <p:spPr>
          <a:xfrm>
            <a:off x="3340531" y="1335024"/>
            <a:ext cx="2673019"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СКАЧИВАЕМОГО ТРЕКА</a:t>
            </a:r>
          </a:p>
        </p:txBody>
      </p:sp>
      <p:sp>
        <p:nvSpPr>
          <p:cNvPr id="10" name="TextBox 9"/>
          <p:cNvSpPr txBox="1"/>
          <p:nvPr/>
        </p:nvSpPr>
        <p:spPr>
          <a:xfrm>
            <a:off x="3477691" y="1725375"/>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0,40 $</a:t>
            </a:r>
          </a:p>
        </p:txBody>
      </p:sp>
      <p:sp>
        <p:nvSpPr>
          <p:cNvPr id="11" name="TextBox 10"/>
          <p:cNvSpPr txBox="1"/>
          <p:nvPr/>
        </p:nvSpPr>
        <p:spPr>
          <a:xfrm>
            <a:off x="3477691" y="2152374"/>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восемь долларов в месяц делятся на двадцать скачиваний — 8 ÷ 20</a:t>
            </a:r>
          </a:p>
        </p:txBody>
      </p:sp>
      <p:sp>
        <p:nvSpPr>
          <p:cNvPr id="12" name="Rounded Rectangle 11"/>
          <p:cNvSpPr/>
          <p:nvPr/>
        </p:nvSpPr>
        <p:spPr>
          <a:xfrm>
            <a:off x="6178143"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 МЕЖДУ ДВУМЯ ЕДИНИЦАМИ</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25 раз</a:t>
            </a:r>
          </a:p>
        </p:txBody>
      </p:sp>
      <p:sp>
        <p:nvSpPr>
          <p:cNvPr id="15" name="TextBox 14"/>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и та же услуга, разные знаменатели</a:t>
            </a:r>
          </a:p>
        </p:txBody>
      </p:sp>
      <p:sp>
        <p:nvSpPr>
          <p:cNvPr id="16" name="Rounded Rectangle 15"/>
          <p:cNvSpPr/>
          <p:nvPr/>
        </p:nvSpPr>
        <p:spPr>
          <a:xfrm>
            <a:off x="9015755"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СО СТОКОВОЙ ЛИЦЕНЗИЕЙ 20–100 $</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50–250 раз</a:t>
            </a:r>
          </a:p>
        </p:txBody>
      </p:sp>
      <p:sp>
        <p:nvSpPr>
          <p:cNvPr id="19" name="TextBox 18"/>
          <p:cNvSpPr txBox="1"/>
          <p:nvPr/>
        </p:nvSpPr>
        <p:spPr>
          <a:xfrm>
            <a:off x="9152915"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 не в тысячи, как получается при счёте по цене генерации</a:t>
            </a:r>
          </a:p>
        </p:txBody>
      </p:sp>
      <p:sp>
        <p:nvSpPr>
          <p:cNvPr id="20" name="Rectangle 19"/>
          <p:cNvSpPr/>
          <p:nvPr/>
        </p:nvSpPr>
        <p:spPr>
          <a:xfrm>
            <a:off x="502920" y="3637877"/>
            <a:ext cx="2788920" cy="270102"/>
          </a:xfrm>
          <a:prstGeom prst="rect">
            <a:avLst/>
          </a:prstGeom>
          <a:solidFill>
            <a:srgbClr val="21295C"/>
          </a:solidFill>
          <a:ln>
            <a:noFill/>
          </a:ln>
          <a:effectLst/>
        </p:spPr>
        <p:txBody>
          <a:bodyPr rtlCol="0" anchor="ctr"/>
          <a:lstStyle/>
          <a:p>
            <a:pPr algn="ctr"/>
          </a:p>
        </p:txBody>
      </p:sp>
      <p:sp>
        <p:nvSpPr>
          <p:cNvPr id="21" name="TextBox 20"/>
          <p:cNvSpPr txBox="1"/>
          <p:nvPr/>
        </p:nvSpPr>
        <p:spPr>
          <a:xfrm>
            <a:off x="566928" y="3701885"/>
            <a:ext cx="2660903" cy="142086"/>
          </a:xfrm>
          <a:prstGeom prst="rect">
            <a:avLst/>
          </a:prstGeom>
          <a:noFill/>
        </p:spPr>
        <p:txBody>
          <a:bodyPr wrap="square" lIns="0" rIns="0" tIns="0" bIns="0" anchor="t">
            <a:spAutoFit/>
          </a:bodyPr>
          <a:lstStyle/>
          <a:p>
            <a:pPr algn="l">
              <a:lnSpc>
                <a:spcPct val="113000"/>
              </a:lnSpc>
            </a:pPr>
            <a:r>
              <a:rPr sz="800" b="1" i="0">
                <a:solidFill>
                  <a:srgbClr val="FFFFFF"/>
                </a:solidFill>
                <a:latin typeface="Arial"/>
              </a:rPr>
              <a:t>Тип задачи</a:t>
            </a:r>
          </a:p>
        </p:txBody>
      </p:sp>
      <p:sp>
        <p:nvSpPr>
          <p:cNvPr id="22" name="Rectangle 21"/>
          <p:cNvSpPr/>
          <p:nvPr/>
        </p:nvSpPr>
        <p:spPr>
          <a:xfrm>
            <a:off x="3291839" y="3637877"/>
            <a:ext cx="1679387" cy="270102"/>
          </a:xfrm>
          <a:prstGeom prst="rect">
            <a:avLst/>
          </a:prstGeom>
          <a:solidFill>
            <a:srgbClr val="065A82"/>
          </a:solidFill>
          <a:ln>
            <a:noFill/>
          </a:ln>
          <a:effectLst/>
        </p:spPr>
        <p:txBody>
          <a:bodyPr rtlCol="0" anchor="ctr"/>
          <a:lstStyle/>
          <a:p>
            <a:pPr algn="ctr"/>
          </a:p>
        </p:txBody>
      </p:sp>
      <p:sp>
        <p:nvSpPr>
          <p:cNvPr id="23" name="TextBox 22"/>
          <p:cNvSpPr txBox="1"/>
          <p:nvPr/>
        </p:nvSpPr>
        <p:spPr>
          <a:xfrm>
            <a:off x="3355847" y="3701885"/>
            <a:ext cx="1551371" cy="142086"/>
          </a:xfrm>
          <a:prstGeom prst="rect">
            <a:avLst/>
          </a:prstGeom>
          <a:noFill/>
        </p:spPr>
        <p:txBody>
          <a:bodyPr wrap="square" lIns="0" rIns="0" tIns="0" bIns="0" anchor="t">
            <a:spAutoFit/>
          </a:bodyPr>
          <a:lstStyle/>
          <a:p>
            <a:pPr algn="l">
              <a:lnSpc>
                <a:spcPct val="113000"/>
              </a:lnSpc>
            </a:pPr>
            <a:r>
              <a:rPr sz="800" b="1" i="0">
                <a:solidFill>
                  <a:srgbClr val="FFFFFF"/>
                </a:solidFill>
                <a:latin typeface="Arial"/>
              </a:rPr>
              <a:t>Изображение</a:t>
            </a:r>
          </a:p>
        </p:txBody>
      </p:sp>
      <p:sp>
        <p:nvSpPr>
          <p:cNvPr id="24" name="Rectangle 23"/>
          <p:cNvSpPr/>
          <p:nvPr/>
        </p:nvSpPr>
        <p:spPr>
          <a:xfrm>
            <a:off x="4971227" y="3637877"/>
            <a:ext cx="1679387" cy="270102"/>
          </a:xfrm>
          <a:prstGeom prst="rect">
            <a:avLst/>
          </a:prstGeom>
          <a:solidFill>
            <a:srgbClr val="065A82"/>
          </a:solidFill>
          <a:ln>
            <a:noFill/>
          </a:ln>
          <a:effectLst/>
        </p:spPr>
        <p:txBody>
          <a:bodyPr rtlCol="0" anchor="ctr"/>
          <a:lstStyle/>
          <a:p>
            <a:pPr algn="ctr"/>
          </a:p>
        </p:txBody>
      </p:sp>
      <p:sp>
        <p:nvSpPr>
          <p:cNvPr id="25" name="TextBox 24"/>
          <p:cNvSpPr txBox="1"/>
          <p:nvPr/>
        </p:nvSpPr>
        <p:spPr>
          <a:xfrm>
            <a:off x="5035235" y="3701885"/>
            <a:ext cx="1551371" cy="142086"/>
          </a:xfrm>
          <a:prstGeom prst="rect">
            <a:avLst/>
          </a:prstGeom>
          <a:noFill/>
        </p:spPr>
        <p:txBody>
          <a:bodyPr wrap="square" lIns="0" rIns="0" tIns="0" bIns="0" anchor="t">
            <a:spAutoFit/>
          </a:bodyPr>
          <a:lstStyle/>
          <a:p>
            <a:pPr algn="l">
              <a:lnSpc>
                <a:spcPct val="113000"/>
              </a:lnSpc>
            </a:pPr>
            <a:r>
              <a:rPr sz="800" b="1" i="0">
                <a:solidFill>
                  <a:srgbClr val="FFFFFF"/>
                </a:solidFill>
                <a:latin typeface="Arial"/>
              </a:rPr>
              <a:t>Звук</a:t>
            </a:r>
          </a:p>
        </p:txBody>
      </p:sp>
      <p:sp>
        <p:nvSpPr>
          <p:cNvPr id="26" name="Rectangle 25"/>
          <p:cNvSpPr/>
          <p:nvPr/>
        </p:nvSpPr>
        <p:spPr>
          <a:xfrm>
            <a:off x="6650614" y="3637877"/>
            <a:ext cx="1679387" cy="270102"/>
          </a:xfrm>
          <a:prstGeom prst="rect">
            <a:avLst/>
          </a:prstGeom>
          <a:solidFill>
            <a:srgbClr val="F4F7FA"/>
          </a:solidFill>
          <a:ln w="12700">
            <a:solidFill>
              <a:srgbClr val="D9E2EC"/>
            </a:solidFill>
          </a:ln>
          <a:effectLst/>
        </p:spPr>
        <p:txBody>
          <a:bodyPr rtlCol="0" anchor="ctr"/>
          <a:lstStyle/>
          <a:p>
            <a:pPr algn="ctr"/>
          </a:p>
        </p:txBody>
      </p:sp>
      <p:sp>
        <p:nvSpPr>
          <p:cNvPr id="27" name="TextBox 26"/>
          <p:cNvSpPr txBox="1"/>
          <p:nvPr/>
        </p:nvSpPr>
        <p:spPr>
          <a:xfrm>
            <a:off x="6714622" y="3701885"/>
            <a:ext cx="1551371" cy="142086"/>
          </a:xfrm>
          <a:prstGeom prst="rect">
            <a:avLst/>
          </a:prstGeom>
          <a:noFill/>
        </p:spPr>
        <p:txBody>
          <a:bodyPr wrap="square" lIns="0" rIns="0" tIns="0" bIns="0" anchor="t">
            <a:spAutoFit/>
          </a:bodyPr>
          <a:lstStyle/>
          <a:p>
            <a:pPr algn="l">
              <a:lnSpc>
                <a:spcPct val="113000"/>
              </a:lnSpc>
            </a:pPr>
            <a:r>
              <a:rPr sz="800" b="0" i="1">
                <a:solidFill>
                  <a:srgbClr val="1C7293"/>
                </a:solidFill>
                <a:latin typeface="Arial"/>
              </a:rPr>
              <a:t>Видео</a:t>
            </a:r>
          </a:p>
        </p:txBody>
      </p:sp>
      <p:sp>
        <p:nvSpPr>
          <p:cNvPr id="28" name="Rectangle 27"/>
          <p:cNvSpPr/>
          <p:nvPr/>
        </p:nvSpPr>
        <p:spPr>
          <a:xfrm>
            <a:off x="8330001" y="3637877"/>
            <a:ext cx="1679387" cy="270102"/>
          </a:xfrm>
          <a:prstGeom prst="rect">
            <a:avLst/>
          </a:prstGeom>
          <a:solidFill>
            <a:srgbClr val="F4F7FA"/>
          </a:solidFill>
          <a:ln w="12700">
            <a:solidFill>
              <a:srgbClr val="D9E2EC"/>
            </a:solidFill>
          </a:ln>
          <a:effectLst/>
        </p:spPr>
        <p:txBody>
          <a:bodyPr rtlCol="0" anchor="ctr"/>
          <a:lstStyle/>
          <a:p>
            <a:pPr algn="ctr"/>
          </a:p>
        </p:txBody>
      </p:sp>
      <p:sp>
        <p:nvSpPr>
          <p:cNvPr id="29" name="TextBox 28"/>
          <p:cNvSpPr txBox="1"/>
          <p:nvPr/>
        </p:nvSpPr>
        <p:spPr>
          <a:xfrm>
            <a:off x="8394009" y="3701885"/>
            <a:ext cx="1551371" cy="142086"/>
          </a:xfrm>
          <a:prstGeom prst="rect">
            <a:avLst/>
          </a:prstGeom>
          <a:noFill/>
        </p:spPr>
        <p:txBody>
          <a:bodyPr wrap="square" lIns="0" rIns="0" tIns="0" bIns="0" anchor="t">
            <a:spAutoFit/>
          </a:bodyPr>
          <a:lstStyle/>
          <a:p>
            <a:pPr algn="l">
              <a:lnSpc>
                <a:spcPct val="113000"/>
              </a:lnSpc>
            </a:pPr>
            <a:r>
              <a:rPr sz="800" b="0" i="1">
                <a:solidFill>
                  <a:srgbClr val="1C7293"/>
                </a:solidFill>
                <a:latin typeface="Arial"/>
              </a:rPr>
              <a:t>Трёхмерное</a:t>
            </a:r>
          </a:p>
        </p:txBody>
      </p:sp>
      <p:sp>
        <p:nvSpPr>
          <p:cNvPr id="30" name="Rectangle 29"/>
          <p:cNvSpPr/>
          <p:nvPr/>
        </p:nvSpPr>
        <p:spPr>
          <a:xfrm>
            <a:off x="10009388" y="3637877"/>
            <a:ext cx="1679387" cy="270102"/>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10073396" y="3701885"/>
            <a:ext cx="1551371" cy="142086"/>
          </a:xfrm>
          <a:prstGeom prst="rect">
            <a:avLst/>
          </a:prstGeom>
          <a:noFill/>
        </p:spPr>
        <p:txBody>
          <a:bodyPr wrap="square" lIns="0" rIns="0" tIns="0" bIns="0" anchor="t">
            <a:spAutoFit/>
          </a:bodyPr>
          <a:lstStyle/>
          <a:p>
            <a:pPr algn="l">
              <a:lnSpc>
                <a:spcPct val="113000"/>
              </a:lnSpc>
            </a:pPr>
            <a:r>
              <a:rPr sz="800" b="0" i="1">
                <a:solidFill>
                  <a:srgbClr val="1C7293"/>
                </a:solidFill>
                <a:latin typeface="Arial"/>
              </a:rPr>
              <a:t>Распознавание</a:t>
            </a:r>
          </a:p>
        </p:txBody>
      </p:sp>
      <p:sp>
        <p:nvSpPr>
          <p:cNvPr id="32" name="Rectangle 31"/>
          <p:cNvSpPr/>
          <p:nvPr/>
        </p:nvSpPr>
        <p:spPr>
          <a:xfrm>
            <a:off x="4971227" y="3857687"/>
            <a:ext cx="1679387" cy="50292"/>
          </a:xfrm>
          <a:prstGeom prst="rect">
            <a:avLst/>
          </a:prstGeom>
          <a:solidFill>
            <a:srgbClr val="F0AB00"/>
          </a:solidFill>
          <a:ln>
            <a:noFill/>
          </a:ln>
          <a:effectLst/>
        </p:spPr>
        <p:txBody>
          <a:bodyPr rtlCol="0" anchor="ctr"/>
          <a:lstStyle/>
          <a:p>
            <a:pPr algn="ctr"/>
          </a:p>
        </p:txBody>
      </p:sp>
      <p:sp>
        <p:nvSpPr>
          <p:cNvPr id="33" name="Rectangle 32"/>
          <p:cNvSpPr/>
          <p:nvPr/>
        </p:nvSpPr>
        <p:spPr>
          <a:xfrm>
            <a:off x="502920" y="3907979"/>
            <a:ext cx="2788920" cy="287863"/>
          </a:xfrm>
          <a:prstGeom prst="rect">
            <a:avLst/>
          </a:prstGeom>
          <a:solidFill>
            <a:srgbClr val="FFFFFF"/>
          </a:solidFill>
          <a:ln w="9525">
            <a:solidFill>
              <a:srgbClr val="D9E2EC"/>
            </a:solidFill>
          </a:ln>
          <a:effectLst/>
        </p:spPr>
        <p:txBody>
          <a:bodyPr rtlCol="0" anchor="ctr"/>
          <a:lstStyle/>
          <a:p>
            <a:pPr algn="ctr"/>
          </a:p>
        </p:txBody>
      </p:sp>
      <p:sp>
        <p:nvSpPr>
          <p:cNvPr id="34" name="TextBox 33"/>
          <p:cNvSpPr txBox="1"/>
          <p:nvPr/>
        </p:nvSpPr>
        <p:spPr>
          <a:xfrm>
            <a:off x="566928" y="3971987"/>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Породить первое приближение</a:t>
            </a:r>
          </a:p>
        </p:txBody>
      </p:sp>
      <p:sp>
        <p:nvSpPr>
          <p:cNvPr id="35" name="Rectangle 34"/>
          <p:cNvSpPr/>
          <p:nvPr/>
        </p:nvSpPr>
        <p:spPr>
          <a:xfrm>
            <a:off x="3291839" y="3907979"/>
            <a:ext cx="1679387" cy="287863"/>
          </a:xfrm>
          <a:prstGeom prst="rect">
            <a:avLst/>
          </a:prstGeom>
          <a:solidFill>
            <a:srgbClr val="FFFFFF"/>
          </a:solidFill>
          <a:ln w="9525">
            <a:solidFill>
              <a:srgbClr val="D9E2EC"/>
            </a:solidFill>
          </a:ln>
          <a:effectLst/>
        </p:spPr>
        <p:txBody>
          <a:bodyPr rtlCol="0" anchor="ctr"/>
          <a:lstStyle/>
          <a:p>
            <a:pPr algn="ctr"/>
          </a:p>
        </p:txBody>
      </p:sp>
      <p:sp>
        <p:nvSpPr>
          <p:cNvPr id="36" name="TextBox 35"/>
          <p:cNvSpPr txBox="1"/>
          <p:nvPr/>
        </p:nvSpPr>
        <p:spPr>
          <a:xfrm>
            <a:off x="3355847" y="3971987"/>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0,034–0,05 $ за изображение</a:t>
            </a:r>
          </a:p>
        </p:txBody>
      </p:sp>
      <p:sp>
        <p:nvSpPr>
          <p:cNvPr id="37" name="Rectangle 36"/>
          <p:cNvSpPr/>
          <p:nvPr/>
        </p:nvSpPr>
        <p:spPr>
          <a:xfrm>
            <a:off x="4971227" y="3907979"/>
            <a:ext cx="1679387" cy="287863"/>
          </a:xfrm>
          <a:prstGeom prst="rect">
            <a:avLst/>
          </a:prstGeom>
          <a:solidFill>
            <a:srgbClr val="FFFFFF"/>
          </a:solidFill>
          <a:ln w="9525">
            <a:solidFill>
              <a:srgbClr val="D9E2EC"/>
            </a:solidFill>
          </a:ln>
          <a:effectLst/>
        </p:spPr>
        <p:txBody>
          <a:bodyPr rtlCol="0" anchor="ctr"/>
          <a:lstStyle/>
          <a:p>
            <a:pPr algn="ctr"/>
          </a:p>
        </p:txBody>
      </p:sp>
      <p:sp>
        <p:nvSpPr>
          <p:cNvPr id="38" name="TextBox 37"/>
          <p:cNvSpPr txBox="1"/>
          <p:nvPr/>
        </p:nvSpPr>
        <p:spPr>
          <a:xfrm>
            <a:off x="5035235" y="3971987"/>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дубляж 0,03–0,072 $ за минуту</a:t>
            </a:r>
          </a:p>
        </p:txBody>
      </p:sp>
      <p:sp>
        <p:nvSpPr>
          <p:cNvPr id="39" name="Rectangle 38"/>
          <p:cNvSpPr/>
          <p:nvPr/>
        </p:nvSpPr>
        <p:spPr>
          <a:xfrm>
            <a:off x="6650614" y="3907979"/>
            <a:ext cx="1679387" cy="287863"/>
          </a:xfrm>
          <a:prstGeom prst="rect">
            <a:avLst/>
          </a:prstGeom>
          <a:solidFill>
            <a:srgbClr val="F4F7FA"/>
          </a:solidFill>
          <a:ln w="9525">
            <a:solidFill>
              <a:srgbClr val="D9E2EC"/>
            </a:solidFill>
          </a:ln>
          <a:effectLst/>
        </p:spPr>
        <p:txBody>
          <a:bodyPr rtlCol="0" anchor="ctr"/>
          <a:lstStyle/>
          <a:p>
            <a:pPr algn="ctr"/>
          </a:p>
        </p:txBody>
      </p:sp>
      <p:sp>
        <p:nvSpPr>
          <p:cNvPr id="40" name="Rectangle 39"/>
          <p:cNvSpPr/>
          <p:nvPr/>
        </p:nvSpPr>
        <p:spPr>
          <a:xfrm>
            <a:off x="8330001" y="3907979"/>
            <a:ext cx="1679387" cy="287863"/>
          </a:xfrm>
          <a:prstGeom prst="rect">
            <a:avLst/>
          </a:prstGeom>
          <a:solidFill>
            <a:srgbClr val="F4F7FA"/>
          </a:solidFill>
          <a:ln w="9525">
            <a:solidFill>
              <a:srgbClr val="D9E2EC"/>
            </a:solidFill>
          </a:ln>
          <a:effectLst/>
        </p:spPr>
        <p:txBody>
          <a:bodyPr rtlCol="0" anchor="ctr"/>
          <a:lstStyle/>
          <a:p>
            <a:pPr algn="ctr"/>
          </a:p>
        </p:txBody>
      </p:sp>
      <p:sp>
        <p:nvSpPr>
          <p:cNvPr id="41" name="Rectangle 40"/>
          <p:cNvSpPr/>
          <p:nvPr/>
        </p:nvSpPr>
        <p:spPr>
          <a:xfrm>
            <a:off x="10009388" y="3907979"/>
            <a:ext cx="1679387" cy="287863"/>
          </a:xfrm>
          <a:prstGeom prst="rect">
            <a:avLst/>
          </a:prstGeom>
          <a:solidFill>
            <a:srgbClr val="F4F7FA"/>
          </a:solidFill>
          <a:ln w="9525">
            <a:solidFill>
              <a:srgbClr val="D9E2EC"/>
            </a:solidFill>
          </a:ln>
          <a:effectLst/>
        </p:spPr>
        <p:txBody>
          <a:bodyPr rtlCol="0" anchor="ctr"/>
          <a:lstStyle/>
          <a:p>
            <a:pPr algn="ctr"/>
          </a:p>
        </p:txBody>
      </p:sp>
      <p:sp>
        <p:nvSpPr>
          <p:cNvPr id="42" name="Rectangle 41"/>
          <p:cNvSpPr/>
          <p:nvPr/>
        </p:nvSpPr>
        <p:spPr>
          <a:xfrm>
            <a:off x="502920" y="4195842"/>
            <a:ext cx="2788920" cy="287863"/>
          </a:xfrm>
          <a:prstGeom prst="rect">
            <a:avLst/>
          </a:prstGeom>
          <a:solidFill>
            <a:srgbClr val="F4F7FA"/>
          </a:solidFill>
          <a:ln w="9525">
            <a:solidFill>
              <a:srgbClr val="D9E2EC"/>
            </a:solidFill>
          </a:ln>
          <a:effectLst/>
        </p:spPr>
        <p:txBody>
          <a:bodyPr rtlCol="0" anchor="ctr"/>
          <a:lstStyle/>
          <a:p>
            <a:pPr algn="ctr"/>
          </a:p>
        </p:txBody>
      </p:sp>
      <p:sp>
        <p:nvSpPr>
          <p:cNvPr id="43" name="TextBox 42"/>
          <p:cNvSpPr txBox="1"/>
          <p:nvPr/>
        </p:nvSpPr>
        <p:spPr>
          <a:xfrm>
            <a:off x="566928" y="4259850"/>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Довести до производственного качества</a:t>
            </a:r>
          </a:p>
        </p:txBody>
      </p:sp>
      <p:sp>
        <p:nvSpPr>
          <p:cNvPr id="44" name="Rectangle 43"/>
          <p:cNvSpPr/>
          <p:nvPr/>
        </p:nvSpPr>
        <p:spPr>
          <a:xfrm>
            <a:off x="3291839"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45" name="TextBox 44"/>
          <p:cNvSpPr txBox="1"/>
          <p:nvPr/>
        </p:nvSpPr>
        <p:spPr>
          <a:xfrm>
            <a:off x="3355847" y="4259850"/>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адаптеры и ручная правка</a:t>
            </a:r>
          </a:p>
        </p:txBody>
      </p:sp>
      <p:sp>
        <p:nvSpPr>
          <p:cNvPr id="46" name="Rectangle 45"/>
          <p:cNvSpPr/>
          <p:nvPr/>
        </p:nvSpPr>
        <p:spPr>
          <a:xfrm>
            <a:off x="4971227"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47" name="TextBox 46"/>
          <p:cNvSpPr txBox="1"/>
          <p:nvPr/>
        </p:nvSpPr>
        <p:spPr>
          <a:xfrm>
            <a:off x="5035235" y="4259850"/>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ручная правка дикции</a:t>
            </a:r>
          </a:p>
        </p:txBody>
      </p:sp>
      <p:sp>
        <p:nvSpPr>
          <p:cNvPr id="48" name="Rectangle 47"/>
          <p:cNvSpPr/>
          <p:nvPr/>
        </p:nvSpPr>
        <p:spPr>
          <a:xfrm>
            <a:off x="6650614"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8330001"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50" name="Rectangle 49"/>
          <p:cNvSpPr/>
          <p:nvPr/>
        </p:nvSpPr>
        <p:spPr>
          <a:xfrm>
            <a:off x="10009388"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51" name="Rectangle 50"/>
          <p:cNvSpPr/>
          <p:nvPr/>
        </p:nvSpPr>
        <p:spPr>
          <a:xfrm>
            <a:off x="502920" y="4483705"/>
            <a:ext cx="2788920" cy="287863"/>
          </a:xfrm>
          <a:prstGeom prst="rect">
            <a:avLst/>
          </a:prstGeom>
          <a:solidFill>
            <a:srgbClr val="FFFFFF"/>
          </a:solidFill>
          <a:ln w="9525">
            <a:solidFill>
              <a:srgbClr val="D9E2EC"/>
            </a:solidFill>
          </a:ln>
          <a:effectLst/>
        </p:spPr>
        <p:txBody>
          <a:bodyPr rtlCol="0" anchor="ctr"/>
          <a:lstStyle/>
          <a:p>
            <a:pPr algn="ctr"/>
          </a:p>
        </p:txBody>
      </p:sp>
      <p:sp>
        <p:nvSpPr>
          <p:cNvPr id="52" name="TextBox 51"/>
          <p:cNvSpPr txBox="1"/>
          <p:nvPr/>
        </p:nvSpPr>
        <p:spPr>
          <a:xfrm>
            <a:off x="566928" y="4547713"/>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Восстановить существующее</a:t>
            </a:r>
          </a:p>
        </p:txBody>
      </p:sp>
      <p:sp>
        <p:nvSpPr>
          <p:cNvPr id="53" name="Rectangle 52"/>
          <p:cNvSpPr/>
          <p:nvPr/>
        </p:nvSpPr>
        <p:spPr>
          <a:xfrm>
            <a:off x="3291839" y="4483705"/>
            <a:ext cx="1679387" cy="287863"/>
          </a:xfrm>
          <a:prstGeom prst="rect">
            <a:avLst/>
          </a:prstGeom>
          <a:solidFill>
            <a:srgbClr val="FFFFFF"/>
          </a:solidFill>
          <a:ln w="9525">
            <a:solidFill>
              <a:srgbClr val="D9E2EC"/>
            </a:solidFill>
          </a:ln>
          <a:effectLst/>
        </p:spPr>
        <p:txBody>
          <a:bodyPr rtlCol="0" anchor="ctr"/>
          <a:lstStyle/>
          <a:p>
            <a:pPr algn="ctr"/>
          </a:p>
        </p:txBody>
      </p:sp>
      <p:sp>
        <p:nvSpPr>
          <p:cNvPr id="54" name="TextBox 53"/>
          <p:cNvSpPr txBox="1"/>
          <p:nvPr/>
        </p:nvSpPr>
        <p:spPr>
          <a:xfrm>
            <a:off x="3355847" y="4547713"/>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повышение разрешения архива</a:t>
            </a:r>
          </a:p>
        </p:txBody>
      </p:sp>
      <p:sp>
        <p:nvSpPr>
          <p:cNvPr id="55" name="Rectangle 54"/>
          <p:cNvSpPr/>
          <p:nvPr/>
        </p:nvSpPr>
        <p:spPr>
          <a:xfrm>
            <a:off x="4971227" y="4483705"/>
            <a:ext cx="1679387" cy="287863"/>
          </a:xfrm>
          <a:prstGeom prst="rect">
            <a:avLst/>
          </a:prstGeom>
          <a:solidFill>
            <a:srgbClr val="FFFFFF"/>
          </a:solidFill>
          <a:ln w="9525">
            <a:solidFill>
              <a:srgbClr val="D9E2EC"/>
            </a:solidFill>
          </a:ln>
          <a:effectLst/>
        </p:spPr>
        <p:txBody>
          <a:bodyPr rtlCol="0" anchor="ctr"/>
          <a:lstStyle/>
          <a:p>
            <a:pPr algn="ctr"/>
          </a:p>
        </p:txBody>
      </p:sp>
      <p:sp>
        <p:nvSpPr>
          <p:cNvPr id="56" name="TextBox 55"/>
          <p:cNvSpPr txBox="1"/>
          <p:nvPr/>
        </p:nvSpPr>
        <p:spPr>
          <a:xfrm>
            <a:off x="5035235" y="4547713"/>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разделение источников</a:t>
            </a:r>
          </a:p>
        </p:txBody>
      </p:sp>
      <p:sp>
        <p:nvSpPr>
          <p:cNvPr id="57" name="Rectangle 56"/>
          <p:cNvSpPr/>
          <p:nvPr/>
        </p:nvSpPr>
        <p:spPr>
          <a:xfrm>
            <a:off x="6650614" y="4483705"/>
            <a:ext cx="1679387" cy="287863"/>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8330001" y="4483705"/>
            <a:ext cx="1679387" cy="287863"/>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10009388" y="4483705"/>
            <a:ext cx="1679387" cy="287863"/>
          </a:xfrm>
          <a:prstGeom prst="rect">
            <a:avLst/>
          </a:prstGeom>
          <a:solidFill>
            <a:srgbClr val="F4F7FA"/>
          </a:solidFill>
          <a:ln w="9525">
            <a:solidFill>
              <a:srgbClr val="D9E2EC"/>
            </a:solidFill>
          </a:ln>
          <a:effectLst/>
        </p:spPr>
        <p:txBody>
          <a:bodyPr rtlCol="0" anchor="ctr"/>
          <a:lstStyle/>
          <a:p>
            <a:pPr algn="ctr"/>
          </a:p>
        </p:txBody>
      </p:sp>
      <p:sp>
        <p:nvSpPr>
          <p:cNvPr id="60" name="Rectangle 59"/>
          <p:cNvSpPr/>
          <p:nvPr/>
        </p:nvSpPr>
        <p:spPr>
          <a:xfrm>
            <a:off x="502920" y="4771568"/>
            <a:ext cx="2788920" cy="412188"/>
          </a:xfrm>
          <a:prstGeom prst="rect">
            <a:avLst/>
          </a:prstGeom>
          <a:solidFill>
            <a:srgbClr val="F4F7FA"/>
          </a:solidFill>
          <a:ln w="9525">
            <a:solidFill>
              <a:srgbClr val="D9E2EC"/>
            </a:solidFill>
          </a:ln>
          <a:effectLst/>
        </p:spPr>
        <p:txBody>
          <a:bodyPr rtlCol="0" anchor="ctr"/>
          <a:lstStyle/>
          <a:p>
            <a:pPr algn="ctr"/>
          </a:p>
        </p:txBody>
      </p:sp>
      <p:sp>
        <p:nvSpPr>
          <p:cNvPr id="61" name="TextBox 60"/>
          <p:cNvSpPr txBox="1"/>
          <p:nvPr/>
        </p:nvSpPr>
        <p:spPr>
          <a:xfrm>
            <a:off x="566928" y="4835576"/>
            <a:ext cx="2660903" cy="284172"/>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Соблюсти точные величины</a:t>
            </a:r>
          </a:p>
        </p:txBody>
      </p:sp>
      <p:sp>
        <p:nvSpPr>
          <p:cNvPr id="62" name="Rectangle 61"/>
          <p:cNvSpPr/>
          <p:nvPr/>
        </p:nvSpPr>
        <p:spPr>
          <a:xfrm>
            <a:off x="3291839"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3" name="TextBox 62"/>
          <p:cNvSpPr txBox="1"/>
          <p:nvPr/>
        </p:nvSpPr>
        <p:spPr>
          <a:xfrm>
            <a:off x="3355847" y="4835576"/>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размеров в выдаче не существует</a:t>
            </a:r>
          </a:p>
        </p:txBody>
      </p:sp>
      <p:sp>
        <p:nvSpPr>
          <p:cNvPr id="64" name="Rectangle 63"/>
          <p:cNvSpPr/>
          <p:nvPr/>
        </p:nvSpPr>
        <p:spPr>
          <a:xfrm>
            <a:off x="4971227"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5" name="TextBox 64"/>
          <p:cNvSpPr txBox="1"/>
          <p:nvPr/>
        </p:nvSpPr>
        <p:spPr>
          <a:xfrm>
            <a:off x="5035235" y="4835576"/>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длина задана до запуска</a:t>
            </a:r>
          </a:p>
        </p:txBody>
      </p:sp>
      <p:sp>
        <p:nvSpPr>
          <p:cNvPr id="66" name="Rectangle 65"/>
          <p:cNvSpPr/>
          <p:nvPr/>
        </p:nvSpPr>
        <p:spPr>
          <a:xfrm>
            <a:off x="6650614"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7" name="Rectangle 66"/>
          <p:cNvSpPr/>
          <p:nvPr/>
        </p:nvSpPr>
        <p:spPr>
          <a:xfrm>
            <a:off x="8330001"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8" name="Rectangle 67"/>
          <p:cNvSpPr/>
          <p:nvPr/>
        </p:nvSpPr>
        <p:spPr>
          <a:xfrm>
            <a:off x="10009388"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9" name="Rectangle 68"/>
          <p:cNvSpPr/>
          <p:nvPr/>
        </p:nvSpPr>
        <p:spPr>
          <a:xfrm>
            <a:off x="502920" y="5183757"/>
            <a:ext cx="2788920" cy="412188"/>
          </a:xfrm>
          <a:prstGeom prst="rect">
            <a:avLst/>
          </a:prstGeom>
          <a:solidFill>
            <a:srgbClr val="FFFFFF"/>
          </a:solidFill>
          <a:ln w="9525">
            <a:solidFill>
              <a:srgbClr val="D9E2EC"/>
            </a:solidFill>
          </a:ln>
          <a:effectLst/>
        </p:spPr>
        <p:txBody>
          <a:bodyPr rtlCol="0" anchor="ctr"/>
          <a:lstStyle/>
          <a:p>
            <a:pPr algn="ctr"/>
          </a:p>
        </p:txBody>
      </p:sp>
      <p:sp>
        <p:nvSpPr>
          <p:cNvPr id="70" name="TextBox 69"/>
          <p:cNvSpPr txBox="1"/>
          <p:nvPr/>
        </p:nvSpPr>
        <p:spPr>
          <a:xfrm>
            <a:off x="566928" y="5247765"/>
            <a:ext cx="2660903" cy="284172"/>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Уложиться в бюджет реального времени</a:t>
            </a:r>
          </a:p>
        </p:txBody>
      </p:sp>
      <p:sp>
        <p:nvSpPr>
          <p:cNvPr id="71" name="Rectangle 70"/>
          <p:cNvSpPr/>
          <p:nvPr/>
        </p:nvSpPr>
        <p:spPr>
          <a:xfrm>
            <a:off x="3291839" y="5183757"/>
            <a:ext cx="1679387" cy="412188"/>
          </a:xfrm>
          <a:prstGeom prst="rect">
            <a:avLst/>
          </a:prstGeom>
          <a:solidFill>
            <a:srgbClr val="FFFFFF"/>
          </a:solidFill>
          <a:ln w="9525">
            <a:solidFill>
              <a:srgbClr val="D9E2EC"/>
            </a:solidFill>
          </a:ln>
          <a:effectLst/>
        </p:spPr>
        <p:txBody>
          <a:bodyPr rtlCol="0" anchor="ctr"/>
          <a:lstStyle/>
          <a:p>
            <a:pPr algn="ctr"/>
          </a:p>
        </p:txBody>
      </p:sp>
      <p:sp>
        <p:nvSpPr>
          <p:cNvPr id="72" name="TextBox 71"/>
          <p:cNvSpPr txBox="1"/>
          <p:nvPr/>
        </p:nvSpPr>
        <p:spPr>
          <a:xfrm>
            <a:off x="3355847" y="5247765"/>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неприменимо: кадрового бюджета у стадии нет</a:t>
            </a:r>
          </a:p>
        </p:txBody>
      </p:sp>
      <p:sp>
        <p:nvSpPr>
          <p:cNvPr id="73" name="Rectangle 72"/>
          <p:cNvSpPr/>
          <p:nvPr/>
        </p:nvSpPr>
        <p:spPr>
          <a:xfrm>
            <a:off x="4971227" y="5183757"/>
            <a:ext cx="1679387" cy="412188"/>
          </a:xfrm>
          <a:prstGeom prst="rect">
            <a:avLst/>
          </a:prstGeom>
          <a:solidFill>
            <a:srgbClr val="FFFFFF"/>
          </a:solidFill>
          <a:ln w="9525">
            <a:solidFill>
              <a:srgbClr val="D9E2EC"/>
            </a:solidFill>
          </a:ln>
          <a:effectLst/>
        </p:spPr>
        <p:txBody>
          <a:bodyPr rtlCol="0" anchor="ctr"/>
          <a:lstStyle/>
          <a:p>
            <a:pPr algn="ctr"/>
          </a:p>
        </p:txBody>
      </p:sp>
      <p:sp>
        <p:nvSpPr>
          <p:cNvPr id="74" name="TextBox 73"/>
          <p:cNvSpPr txBox="1"/>
          <p:nvPr/>
        </p:nvSpPr>
        <p:spPr>
          <a:xfrm>
            <a:off x="5035235" y="5247765"/>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неприменимо: кадрового бюджета у стадии нет</a:t>
            </a:r>
          </a:p>
        </p:txBody>
      </p:sp>
      <p:sp>
        <p:nvSpPr>
          <p:cNvPr id="75" name="Rectangle 74"/>
          <p:cNvSpPr/>
          <p:nvPr/>
        </p:nvSpPr>
        <p:spPr>
          <a:xfrm>
            <a:off x="6650614" y="5183757"/>
            <a:ext cx="1679387" cy="412188"/>
          </a:xfrm>
          <a:prstGeom prst="rect">
            <a:avLst/>
          </a:prstGeom>
          <a:solidFill>
            <a:srgbClr val="F4F7FA"/>
          </a:solidFill>
          <a:ln w="9525">
            <a:solidFill>
              <a:srgbClr val="D9E2EC"/>
            </a:solidFill>
          </a:ln>
          <a:effectLst/>
        </p:spPr>
        <p:txBody>
          <a:bodyPr rtlCol="0" anchor="ctr"/>
          <a:lstStyle/>
          <a:p>
            <a:pPr algn="ctr"/>
          </a:p>
        </p:txBody>
      </p:sp>
      <p:sp>
        <p:nvSpPr>
          <p:cNvPr id="76" name="Rectangle 75"/>
          <p:cNvSpPr/>
          <p:nvPr/>
        </p:nvSpPr>
        <p:spPr>
          <a:xfrm>
            <a:off x="8330001" y="5183757"/>
            <a:ext cx="1679387" cy="412188"/>
          </a:xfrm>
          <a:prstGeom prst="rect">
            <a:avLst/>
          </a:prstGeom>
          <a:solidFill>
            <a:srgbClr val="F4F7FA"/>
          </a:solidFill>
          <a:ln w="9525">
            <a:solidFill>
              <a:srgbClr val="D9E2EC"/>
            </a:solidFill>
          </a:ln>
          <a:effectLst/>
        </p:spPr>
        <p:txBody>
          <a:bodyPr rtlCol="0" anchor="ctr"/>
          <a:lstStyle/>
          <a:p>
            <a:pPr algn="ctr"/>
          </a:p>
        </p:txBody>
      </p:sp>
      <p:sp>
        <p:nvSpPr>
          <p:cNvPr id="77" name="Rectangle 76"/>
          <p:cNvSpPr/>
          <p:nvPr/>
        </p:nvSpPr>
        <p:spPr>
          <a:xfrm>
            <a:off x="10009388" y="5183757"/>
            <a:ext cx="1679387" cy="412188"/>
          </a:xfrm>
          <a:prstGeom prst="rect">
            <a:avLst/>
          </a:prstGeom>
          <a:solidFill>
            <a:srgbClr val="F4F7FA"/>
          </a:solidFill>
          <a:ln w="9525">
            <a:solidFill>
              <a:srgbClr val="D9E2EC"/>
            </a:solidFill>
          </a:ln>
          <a:effectLst/>
        </p:spPr>
        <p:txBody>
          <a:bodyPr rtlCol="0" anchor="ctr"/>
          <a:lstStyle/>
          <a:p>
            <a:pPr algn="ctr"/>
          </a:p>
        </p:txBody>
      </p:sp>
      <p:sp>
        <p:nvSpPr>
          <p:cNvPr id="78" name="Rectangle 77"/>
          <p:cNvSpPr/>
          <p:nvPr/>
        </p:nvSpPr>
        <p:spPr>
          <a:xfrm>
            <a:off x="502920" y="5595946"/>
            <a:ext cx="2788920" cy="287863"/>
          </a:xfrm>
          <a:prstGeom prst="rect">
            <a:avLst/>
          </a:prstGeom>
          <a:solidFill>
            <a:srgbClr val="F4F7FA"/>
          </a:solidFill>
          <a:ln w="9525">
            <a:solidFill>
              <a:srgbClr val="D9E2EC"/>
            </a:solidFill>
          </a:ln>
          <a:effectLst/>
        </p:spPr>
        <p:txBody>
          <a:bodyPr rtlCol="0" anchor="ctr"/>
          <a:lstStyle/>
          <a:p>
            <a:pPr algn="ctr"/>
          </a:p>
        </p:txBody>
      </p:sp>
      <p:sp>
        <p:nvSpPr>
          <p:cNvPr id="79" name="TextBox 78"/>
          <p:cNvSpPr txBox="1"/>
          <p:nvPr/>
        </p:nvSpPr>
        <p:spPr>
          <a:xfrm>
            <a:off x="566928" y="5659954"/>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Ответить «кто отвечает»</a:t>
            </a:r>
          </a:p>
        </p:txBody>
      </p:sp>
      <p:sp>
        <p:nvSpPr>
          <p:cNvPr id="80" name="Rectangle 79"/>
          <p:cNvSpPr/>
          <p:nvPr/>
        </p:nvSpPr>
        <p:spPr>
          <a:xfrm>
            <a:off x="3291839"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1" name="TextBox 80"/>
          <p:cNvSpPr txBox="1"/>
          <p:nvPr/>
        </p:nvSpPr>
        <p:spPr>
          <a:xfrm>
            <a:off x="3355847" y="5659954"/>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источник детали не записан</a:t>
            </a:r>
          </a:p>
        </p:txBody>
      </p:sp>
      <p:sp>
        <p:nvSpPr>
          <p:cNvPr id="82" name="Rectangle 81"/>
          <p:cNvSpPr/>
          <p:nvPr/>
        </p:nvSpPr>
        <p:spPr>
          <a:xfrm>
            <a:off x="4971227"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3" name="TextBox 82"/>
          <p:cNvSpPr txBox="1"/>
          <p:nvPr/>
        </p:nvSpPr>
        <p:spPr>
          <a:xfrm>
            <a:off x="5035235" y="5659954"/>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источник детали не записан</a:t>
            </a:r>
          </a:p>
        </p:txBody>
      </p:sp>
      <p:sp>
        <p:nvSpPr>
          <p:cNvPr id="84" name="Rectangle 83"/>
          <p:cNvSpPr/>
          <p:nvPr/>
        </p:nvSpPr>
        <p:spPr>
          <a:xfrm>
            <a:off x="6650614"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5" name="Rectangle 84"/>
          <p:cNvSpPr/>
          <p:nvPr/>
        </p:nvSpPr>
        <p:spPr>
          <a:xfrm>
            <a:off x="8330001"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6" name="Rectangle 85"/>
          <p:cNvSpPr/>
          <p:nvPr/>
        </p:nvSpPr>
        <p:spPr>
          <a:xfrm>
            <a:off x="10009388"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7" name="Rounded Rectangle 86"/>
          <p:cNvSpPr/>
          <p:nvPr/>
        </p:nvSpPr>
        <p:spPr>
          <a:xfrm>
            <a:off x="502920" y="5966105"/>
            <a:ext cx="11185855" cy="270102"/>
          </a:xfrm>
          <a:prstGeom prst="roundRect">
            <a:avLst>
              <a:gd name="adj" fmla="val 14000"/>
            </a:avLst>
          </a:prstGeom>
          <a:solidFill>
            <a:srgbClr val="FEF5E0"/>
          </a:solidFill>
          <a:ln>
            <a:noFill/>
          </a:ln>
          <a:effectLst/>
        </p:spPr>
        <p:txBody>
          <a:bodyPr rtlCol="0" anchor="ctr"/>
          <a:lstStyle/>
          <a:p>
            <a:pPr algn="ctr"/>
          </a:p>
        </p:txBody>
      </p:sp>
      <p:sp>
        <p:nvSpPr>
          <p:cNvPr id="88" name="Rectangle 87"/>
          <p:cNvSpPr/>
          <p:nvPr/>
        </p:nvSpPr>
        <p:spPr>
          <a:xfrm>
            <a:off x="502920" y="5966105"/>
            <a:ext cx="68580" cy="270102"/>
          </a:xfrm>
          <a:prstGeom prst="rect">
            <a:avLst/>
          </a:prstGeom>
          <a:solidFill>
            <a:srgbClr val="F0AB00"/>
          </a:solidFill>
          <a:ln>
            <a:noFill/>
          </a:ln>
          <a:effectLst/>
        </p:spPr>
        <p:txBody>
          <a:bodyPr rtlCol="0" anchor="ctr"/>
          <a:lstStyle/>
          <a:p>
            <a:pPr algn="ctr"/>
          </a:p>
        </p:txBody>
      </p:sp>
      <p:sp>
        <p:nvSpPr>
          <p:cNvPr id="89" name="TextBox 88"/>
          <p:cNvSpPr txBox="1"/>
          <p:nvPr/>
        </p:nvSpPr>
        <p:spPr>
          <a:xfrm>
            <a:off x="685800" y="6030113"/>
            <a:ext cx="10783519" cy="142086"/>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АДРЕС ПЛАТЕЖА   Изображение — отбор, права · Звук — права, узнавание</a:t>
            </a:r>
          </a:p>
        </p:txBody>
      </p:sp>
      <p:sp>
        <p:nvSpPr>
          <p:cNvPr id="90" name="Rectangle 8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91" name="TextBox 9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прейскурант музыкального сервиса, прочитан 27.10.2026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917558" y="914400"/>
            <a:ext cx="3771217" cy="4937760"/>
          </a:xfrm>
          <a:prstGeom prst="roundRect">
            <a:avLst>
              <a:gd name="adj" fmla="val 8082"/>
            </a:avLst>
          </a:prstGeom>
          <a:solidFill>
            <a:srgbClr val="F4F7FA"/>
          </a:solidFill>
          <a:ln w="19050">
            <a:solidFill>
              <a:srgbClr val="1C7293"/>
            </a:solidFill>
          </a:ln>
          <a:effectLst/>
        </p:spPr>
        <p:txBody>
          <a:bodyPr rtlCol="0" anchor="ctr"/>
          <a:lstStyle/>
          <a:p>
            <a:pPr algn="ctr"/>
          </a:p>
        </p:txBody>
      </p:sp>
      <p:pic>
        <p:nvPicPr>
          <p:cNvPr id="5" name="Picture 4" descr="s50-film-crew-set.jpg"/>
          <p:cNvPicPr>
            <a:picLocks noChangeAspect="1"/>
          </p:cNvPicPr>
          <p:nvPr/>
        </p:nvPicPr>
        <p:blipFill>
          <a:blip r:embed="rId2"/>
          <a:stretch>
            <a:fillRect/>
          </a:stretch>
        </p:blipFill>
        <p:spPr>
          <a:xfrm>
            <a:off x="8054718" y="1051560"/>
            <a:ext cx="3496897" cy="4663440"/>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3. Движущееся изображение</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547029"/>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Тот же механизм, что у неподвижной картинки, и на два порядка дороже: пять секунд видео высокой чёткости — </a:t>
            </a:r>
            <a:r>
              <a:rPr sz="1550" b="1" i="0">
                <a:solidFill>
                  <a:srgbClr val="21295C"/>
                </a:solidFill>
                <a:latin typeface="Arial"/>
              </a:rPr>
              <a:t>249 240 токенов</a:t>
            </a:r>
            <a:r>
              <a:rPr sz="1550" b="0" i="0">
                <a:solidFill>
                  <a:srgbClr val="21295C"/>
                </a:solidFill>
                <a:latin typeface="Arial"/>
              </a:rPr>
              <a:t> против </a:t>
            </a:r>
            <a:r>
              <a:rPr sz="1550" b="1" i="0">
                <a:solidFill>
                  <a:srgbClr val="21295C"/>
                </a:solidFill>
                <a:latin typeface="Arial"/>
              </a:rPr>
              <a:t>4 096</a:t>
            </a:r>
            <a:r>
              <a:rPr sz="1550" b="0" i="0">
                <a:solidFill>
                  <a:srgbClr val="21295C"/>
                </a:solidFill>
                <a:latin typeface="Arial"/>
              </a:rPr>
              <a:t> у картинки 1024×1024. Поэтому промышленный масштаб здесь виден невооружённым глазом.</a:t>
            </a:r>
          </a:p>
        </p:txBody>
      </p:sp>
      <p:sp>
        <p:nvSpPr>
          <p:cNvPr id="9" name="TextBox 8"/>
          <p:cNvSpPr txBox="1"/>
          <p:nvPr/>
        </p:nvSpPr>
        <p:spPr>
          <a:xfrm>
            <a:off x="704088" y="3951835"/>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Три разбора по порядку:</a:t>
            </a:r>
            <a:r>
              <a:rPr sz="1550" b="0" i="0">
                <a:solidFill>
                  <a:srgbClr val="21295C"/>
                </a:solidFill>
                <a:latin typeface="Arial"/>
              </a:rPr>
              <a:t> китайские микродрамы · Kalshi, финал НБА, июнь 2025 · Coca-Cola «Holidays Are Coming».</a:t>
            </a:r>
          </a:p>
        </p:txBody>
      </p:sp>
      <p:sp>
        <p:nvSpPr>
          <p:cNvPr id="10" name="TextBox 9"/>
          <p:cNvSpPr txBox="1"/>
          <p:nvPr/>
        </p:nvSpPr>
        <p:spPr>
          <a:xfrm>
            <a:off x="704088" y="4720609"/>
            <a:ext cx="5742432" cy="33866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Шесть упоминаний, каждое с числом.</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какое решение она принимает</a:t>
            </a:r>
          </a:p>
        </p:txBody>
      </p:sp>
      <p:sp>
        <p:nvSpPr>
          <p:cNvPr id="4" name="Rounded Rectangle 3"/>
          <p:cNvSpPr/>
          <p:nvPr/>
        </p:nvSpPr>
        <p:spPr>
          <a:xfrm>
            <a:off x="502920" y="1335024"/>
            <a:ext cx="5510631" cy="2369087"/>
          </a:xfrm>
          <a:prstGeom prst="roundRect">
            <a:avLst>
              <a:gd name="adj" fmla="val 1286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РЕШЕНИЕ СТАДИИ</a:t>
            </a:r>
          </a:p>
        </p:txBody>
      </p:sp>
      <p:sp>
        <p:nvSpPr>
          <p:cNvPr id="6" name="TextBox 5"/>
          <p:cNvSpPr txBox="1"/>
          <p:nvPr/>
        </p:nvSpPr>
        <p:spPr>
          <a:xfrm>
            <a:off x="640080" y="1725375"/>
            <a:ext cx="5236311"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что именно увидит зритель в каждую секунду экранного времени</a:t>
            </a:r>
          </a:p>
        </p:txBody>
      </p:sp>
      <p:sp>
        <p:nvSpPr>
          <p:cNvPr id="7" name="TextBox 6"/>
          <p:cNvSpPr txBox="1"/>
          <p:nvPr/>
        </p:nvSpPr>
        <p:spPr>
          <a:xfrm>
            <a:off x="640080" y="2933220"/>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ним идёт самая длинная цепочка обязательств главы: права на музыку, на лица в кадре, на локацию, профсоюзные ставки, страховка, согласования</a:t>
            </a:r>
          </a:p>
        </p:txBody>
      </p:sp>
      <p:sp>
        <p:nvSpPr>
          <p:cNvPr id="8" name="Rounded Rectangle 7"/>
          <p:cNvSpPr/>
          <p:nvPr/>
        </p:nvSpPr>
        <p:spPr>
          <a:xfrm>
            <a:off x="6178143" y="1335024"/>
            <a:ext cx="5510631"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У ОБЕИХ ЦЕПОЧЕК ОДИН</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какой план попадёт в монтаж</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стадия отбора не исчезла — она выросла</a:t>
            </a:r>
          </a:p>
        </p:txBody>
      </p:sp>
      <p:sp>
        <p:nvSpPr>
          <p:cNvPr id="12" name="TextBox 11"/>
          <p:cNvSpPr txBox="1"/>
          <p:nvPr/>
        </p:nvSpPr>
        <p:spPr>
          <a:xfrm>
            <a:off x="502920" y="3923567"/>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Классическая</a:t>
            </a:r>
          </a:p>
        </p:txBody>
      </p:sp>
      <p:sp>
        <p:nvSpPr>
          <p:cNvPr id="13" name="Rounded Rectangle 12"/>
          <p:cNvSpPr/>
          <p:nvPr/>
        </p:nvSpPr>
        <p:spPr>
          <a:xfrm>
            <a:off x="1920240" y="388699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93271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Дорого произвести план: смена, свет, исполнители, разрешение на площадку</a:t>
            </a:r>
          </a:p>
        </p:txBody>
      </p:sp>
      <p:sp>
        <p:nvSpPr>
          <p:cNvPr id="15" name="Right Arrow 14"/>
          <p:cNvSpPr/>
          <p:nvPr/>
        </p:nvSpPr>
        <p:spPr>
          <a:xfrm>
            <a:off x="5039258" y="4412581"/>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88699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93271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Отбор дёшев: монтажёр просматривает материал и выбирает</a:t>
            </a:r>
          </a:p>
        </p:txBody>
      </p:sp>
      <p:sp>
        <p:nvSpPr>
          <p:cNvPr id="18" name="Right Arrow 17"/>
          <p:cNvSpPr/>
          <p:nvPr/>
        </p:nvSpPr>
        <p:spPr>
          <a:xfrm>
            <a:off x="8386876" y="4412581"/>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88699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93271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Отношение отснятого к вышедшему: десять к одному в рекламе, десятки к одному в документалистике</a:t>
            </a:r>
          </a:p>
        </p:txBody>
      </p:sp>
      <p:sp>
        <p:nvSpPr>
          <p:cNvPr id="21" name="TextBox 20"/>
          <p:cNvSpPr txBox="1"/>
          <p:nvPr/>
        </p:nvSpPr>
        <p:spPr>
          <a:xfrm>
            <a:off x="502920" y="5258210"/>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Генеративная</a:t>
            </a:r>
          </a:p>
        </p:txBody>
      </p:sp>
      <p:sp>
        <p:nvSpPr>
          <p:cNvPr id="22" name="Rounded Rectangle 21"/>
          <p:cNvSpPr/>
          <p:nvPr/>
        </p:nvSpPr>
        <p:spPr>
          <a:xfrm>
            <a:off x="1920240" y="5221634"/>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5267354"/>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Произвести план стоит центы</a:t>
            </a:r>
          </a:p>
        </p:txBody>
      </p:sp>
      <p:sp>
        <p:nvSpPr>
          <p:cNvPr id="24" name="Right Arrow 23"/>
          <p:cNvSpPr/>
          <p:nvPr/>
        </p:nvSpPr>
        <p:spPr>
          <a:xfrm>
            <a:off x="5039258" y="5747224"/>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5221634"/>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350154" y="5267354"/>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Дорого отобрать: просмотреть сотни клипов, сверить постоянство персонажа, собрать связную сцену</a:t>
            </a:r>
          </a:p>
        </p:txBody>
      </p:sp>
      <p:sp>
        <p:nvSpPr>
          <p:cNvPr id="27" name="Right Arrow 26"/>
          <p:cNvSpPr/>
          <p:nvPr/>
        </p:nvSpPr>
        <p:spPr>
          <a:xfrm>
            <a:off x="8386876" y="5747224"/>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5221634"/>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5267354"/>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Отношение проб к годному вырастает на порядок-полтора</a:t>
            </a:r>
          </a:p>
        </p:txBody>
      </p:sp>
      <p:sp>
        <p:nvSpPr>
          <p:cNvPr id="30" name="TextBox 29"/>
          <p:cNvSpPr txBox="1"/>
          <p:nvPr/>
        </p:nvSpPr>
        <p:spPr>
          <a:xfrm>
            <a:off x="502920" y="644655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в каждой цепочке стоит дорогое место</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Одиннадцать стадий производства и девять способов получить изображение</a:t>
            </a:r>
          </a:p>
        </p:txBody>
      </p:sp>
      <p:sp>
        <p:nvSpPr>
          <p:cNvPr id="4" name="Rounded Rectangle 3"/>
          <p:cNvSpPr/>
          <p:nvPr/>
        </p:nvSpPr>
        <p:spPr>
          <a:xfrm>
            <a:off x="502920" y="1335024"/>
            <a:ext cx="11185855"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СПОСОБОВ ПОЛУЧИТЬ ИЗОБРАЖЕНИЕ ДЕВЯТЬ, И НИ ОДИН ИЗ ВОСЬМИ ПРЕЖНИХ НЕ ОТМЕНЁН</a:t>
            </a:r>
          </a:p>
        </p:txBody>
      </p:sp>
      <p:sp>
        <p:nvSpPr>
          <p:cNvPr id="6" name="TextBox 5"/>
          <p:cNvSpPr txBox="1"/>
          <p:nvPr/>
        </p:nvSpPr>
        <p:spPr>
          <a:xfrm>
            <a:off x="640080" y="1725375"/>
            <a:ext cx="10911535"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съёмка · экспедиция · хромакей · светодиодный объём · захват движения · стоковая библиотека · архив · трёхмерный рендер · генерация</a:t>
            </a:r>
          </a:p>
        </p:txBody>
      </p:sp>
      <p:sp>
        <p:nvSpPr>
          <p:cNvPr id="7" name="TextBox 6"/>
          <p:cNvSpPr txBox="1"/>
          <p:nvPr/>
        </p:nvSpPr>
        <p:spPr>
          <a:xfrm>
            <a:off x="640080" y="2933220"/>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рынок виртуального производства продолжал расти больше чем на тридцать процентов в год и после генеративной волны</a:t>
            </a:r>
          </a:p>
        </p:txBody>
      </p:sp>
      <p:sp>
        <p:nvSpPr>
          <p:cNvPr id="8" name="Rounded Rectangle 7"/>
          <p:cNvSpPr/>
          <p:nvPr/>
        </p:nvSpPr>
        <p:spPr>
          <a:xfrm>
            <a:off x="502920" y="3464504"/>
            <a:ext cx="5437479" cy="2000765"/>
          </a:xfrm>
          <a:prstGeom prst="roundRect">
            <a:avLst>
              <a:gd name="adj" fmla="val 15234"/>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361995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Восемь стадий, существовавших до 2022 года</a:t>
            </a:r>
          </a:p>
        </p:txBody>
      </p:sp>
      <p:sp>
        <p:nvSpPr>
          <p:cNvPr id="10" name="TextBox 9"/>
          <p:cNvSpPr txBox="1"/>
          <p:nvPr/>
        </p:nvSpPr>
        <p:spPr>
          <a:xfrm>
            <a:off x="667512" y="3976131"/>
            <a:ext cx="5108295" cy="1333691"/>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Съёмочный период: камера, свет, грим, исполнители; учёт в днях и планах</a:t>
            </a:r>
          </a:p>
          <a:p>
            <a:pPr algn="l">
              <a:lnSpc>
                <a:spcPct val="126000"/>
              </a:lnSpc>
            </a:pPr>
            <a:r>
              <a:rPr sz="950" b="0" i="0">
                <a:solidFill>
                  <a:srgbClr val="21295C"/>
                </a:solidFill>
                <a:latin typeface="Arial"/>
              </a:rPr>
              <a:t>• Монтаж выбирает и склеивает планы, композитинг собирает кадр из слоёв</a:t>
            </a:r>
          </a:p>
          <a:p>
            <a:pPr algn="l">
              <a:lnSpc>
                <a:spcPct val="126000"/>
              </a:lnSpc>
            </a:pPr>
            <a:r>
              <a:rPr sz="950" b="0" i="0">
                <a:solidFill>
                  <a:srgbClr val="21295C"/>
                </a:solidFill>
                <a:latin typeface="Arial"/>
              </a:rPr>
              <a:t>• Ротоскопирование: покадровое выделение объекта, самая трудоёмкая рутина отрасли</a:t>
            </a:r>
          </a:p>
          <a:p>
            <a:pPr algn="l">
              <a:lnSpc>
                <a:spcPct val="126000"/>
              </a:lnSpc>
            </a:pPr>
            <a:r>
              <a:rPr sz="950" b="0" i="0">
                <a:solidFill>
                  <a:srgbClr val="21295C"/>
                </a:solidFill>
                <a:latin typeface="Arial"/>
              </a:rPr>
              <a:t>• Цветокоррекция приводит материал к единому виду</a:t>
            </a:r>
          </a:p>
          <a:p>
            <a:pPr algn="l">
              <a:lnSpc>
                <a:spcPct val="126000"/>
              </a:lnSpc>
            </a:pPr>
            <a:r>
              <a:rPr sz="950" b="0" i="0">
                <a:solidFill>
                  <a:srgbClr val="21295C"/>
                </a:solidFill>
                <a:latin typeface="Arial"/>
              </a:rPr>
              <a:t>• Визуальные эффекты добавляют то, чего на площадке не было</a:t>
            </a:r>
          </a:p>
          <a:p>
            <a:pPr algn="l">
              <a:lnSpc>
                <a:spcPct val="126000"/>
              </a:lnSpc>
            </a:pPr>
            <a:r>
              <a:rPr sz="950" b="0" i="0">
                <a:solidFill>
                  <a:srgbClr val="21295C"/>
                </a:solidFill>
                <a:latin typeface="Arial"/>
              </a:rPr>
              <a:t>• Виртуальное производство, с 2019: фон со светодиодной стены прямо в камеру</a:t>
            </a:r>
          </a:p>
          <a:p>
            <a:pPr algn="l">
              <a:lnSpc>
                <a:spcPct val="126000"/>
              </a:lnSpc>
            </a:pPr>
            <a:r>
              <a:rPr sz="950" b="0" i="0">
                <a:solidFill>
                  <a:srgbClr val="21295C"/>
                </a:solidFill>
                <a:latin typeface="Arial"/>
              </a:rPr>
              <a:t>• Анимация производит изображение без съёмки вовсе</a:t>
            </a:r>
          </a:p>
        </p:txBody>
      </p:sp>
      <p:sp>
        <p:nvSpPr>
          <p:cNvPr id="11" name="Rounded Rectangle 10"/>
          <p:cNvSpPr/>
          <p:nvPr/>
        </p:nvSpPr>
        <p:spPr>
          <a:xfrm>
            <a:off x="6251295" y="3464504"/>
            <a:ext cx="5437479" cy="2000765"/>
          </a:xfrm>
          <a:prstGeom prst="roundRect">
            <a:avLst>
              <a:gd name="adj" fmla="val 15234"/>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361995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Три стадии, появившиеся с 2022 года</a:t>
            </a:r>
          </a:p>
        </p:txBody>
      </p:sp>
      <p:sp>
        <p:nvSpPr>
          <p:cNvPr id="13" name="TextBox 12"/>
          <p:cNvSpPr txBox="1"/>
          <p:nvPr/>
        </p:nvSpPr>
        <p:spPr>
          <a:xfrm>
            <a:off x="6415887" y="3976131"/>
            <a:ext cx="5108295" cy="1333691"/>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Генерация плана по описанию: на входе фраза, на выходе клип в несколько секунд</a:t>
            </a:r>
          </a:p>
          <a:p>
            <a:pPr algn="l">
              <a:lnSpc>
                <a:spcPct val="126000"/>
              </a:lnSpc>
            </a:pPr>
            <a:r>
              <a:rPr sz="1100" b="0" i="0">
                <a:solidFill>
                  <a:srgbClr val="21295C"/>
                </a:solidFill>
                <a:latin typeface="Arial"/>
              </a:rPr>
              <a:t>• Оживление кадра: на входе готовая картинка, на выходе движение из неё</a:t>
            </a:r>
          </a:p>
          <a:p>
            <a:pPr algn="l">
              <a:lnSpc>
                <a:spcPct val="126000"/>
              </a:lnSpc>
            </a:pPr>
            <a:r>
              <a:rPr sz="1100" b="0" i="0">
                <a:solidFill>
                  <a:srgbClr val="21295C"/>
                </a:solidFill>
                <a:latin typeface="Arial"/>
              </a:rPr>
              <a:t>• Продление сцены: модель достраивает клип вперёд или назад от последнего кадра</a:t>
            </a:r>
          </a:p>
        </p:txBody>
      </p:sp>
      <p:sp>
        <p:nvSpPr>
          <p:cNvPr id="14" name="Rounded Rectangle 13"/>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Правильный ответ на вопрос «чем снимать» в половине случаев остаётся «камерой»: светодиодный объём не отменил хромакей, хромакей не отменил экспедицию, генерация не отменила съёмку.</a:t>
            </a:r>
          </a:p>
        </p:txBody>
      </p:sp>
      <p:sp>
        <p:nvSpPr>
          <p:cNvPr id="16" name="Rectangle 15"/>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делали без модели</a:t>
            </a:r>
          </a:p>
        </p:txBody>
      </p:sp>
      <p:sp>
        <p:nvSpPr>
          <p:cNvPr id="4" name="Rounded Rectangle 3"/>
          <p:cNvSpPr/>
          <p:nvPr/>
        </p:nvSpPr>
        <p:spPr>
          <a:xfrm>
            <a:off x="502920" y="1335024"/>
            <a:ext cx="2508941" cy="3031109"/>
          </a:xfrm>
          <a:prstGeom prst="roundRect">
            <a:avLst>
              <a:gd name="adj" fmla="val 1214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3462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ОДНОГО РОЛИКА, РОССИЯ</a:t>
            </a:r>
          </a:p>
        </p:txBody>
      </p:sp>
      <p:sp>
        <p:nvSpPr>
          <p:cNvPr id="6" name="TextBox 5"/>
          <p:cNvSpPr txBox="1"/>
          <p:nvPr/>
        </p:nvSpPr>
        <p:spPr>
          <a:xfrm>
            <a:off x="640080" y="1932846"/>
            <a:ext cx="223462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300 000 до 10 000 000 ₽</a:t>
            </a:r>
          </a:p>
        </p:txBody>
      </p:sp>
      <p:sp>
        <p:nvSpPr>
          <p:cNvPr id="7" name="TextBox 6"/>
          <p:cNvSpPr txBox="1"/>
          <p:nvPr/>
        </p:nvSpPr>
        <p:spPr>
          <a:xfrm>
            <a:off x="640080" y="2750268"/>
            <a:ext cx="2234621"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базовый 300 000–800 000 ₽, группа 3–5 человек · средний 800 000–2 500 000 ₽, актёры · премиальный от 2 500 000 ₽, группа 10–20 человек. Гонорар известного актёра — от 500 000 ₽ за съёмочный день</a:t>
            </a:r>
          </a:p>
        </p:txBody>
      </p:sp>
      <p:sp>
        <p:nvSpPr>
          <p:cNvPr id="8" name="Rounded Rectangle 7"/>
          <p:cNvSpPr/>
          <p:nvPr/>
        </p:nvSpPr>
        <p:spPr>
          <a:xfrm>
            <a:off x="3176453" y="1335024"/>
            <a:ext cx="2508941" cy="3031109"/>
          </a:xfrm>
          <a:prstGeom prst="roundRect">
            <a:avLst>
              <a:gd name="adj" fmla="val 1214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313613" y="1472184"/>
            <a:ext cx="2234621"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РОЛИК ТЕХНИЧЕСКОЙ СЛОЖНОСТИ, СОПОСТАВИМОЙ С ГЕНЕРАТИВНЫМИ СЛУЧАЯМИ РАЗДЕЛА</a:t>
            </a:r>
          </a:p>
        </p:txBody>
      </p:sp>
      <p:sp>
        <p:nvSpPr>
          <p:cNvPr id="10" name="TextBox 9"/>
          <p:cNvSpPr txBox="1"/>
          <p:nvPr/>
        </p:nvSpPr>
        <p:spPr>
          <a:xfrm>
            <a:off x="3313613" y="2555260"/>
            <a:ext cx="2234621" cy="1004146"/>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группа от пятидесяти человек, цикл год</a:t>
            </a:r>
          </a:p>
        </p:txBody>
      </p:sp>
      <p:sp>
        <p:nvSpPr>
          <p:cNvPr id="11" name="TextBox 10"/>
          <p:cNvSpPr txBox="1"/>
          <p:nvPr/>
        </p:nvSpPr>
        <p:spPr>
          <a:xfrm>
            <a:off x="3313613" y="3559406"/>
            <a:ext cx="223462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тот режим, с которым сравнивается кампания из третьего разбора</a:t>
            </a:r>
          </a:p>
        </p:txBody>
      </p:sp>
      <p:sp>
        <p:nvSpPr>
          <p:cNvPr id="12" name="Rounded Rectangle 11"/>
          <p:cNvSpPr/>
          <p:nvPr/>
        </p:nvSpPr>
        <p:spPr>
          <a:xfrm>
            <a:off x="5849987" y="1335024"/>
            <a:ext cx="2508941" cy="3031109"/>
          </a:xfrm>
          <a:prstGeom prst="roundRect">
            <a:avLst>
              <a:gd name="adj" fmla="val 12148"/>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987147" y="1472184"/>
            <a:ext cx="223462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ОБЩЕЕ СВОЙСТВО ВСЕХ КЛАССИЧЕСКИХ РЕЖИМОВ</a:t>
            </a:r>
          </a:p>
        </p:txBody>
      </p:sp>
      <p:sp>
        <p:nvSpPr>
          <p:cNvPr id="14" name="TextBox 13"/>
          <p:cNvSpPr txBox="1"/>
          <p:nvPr/>
        </p:nvSpPr>
        <p:spPr>
          <a:xfrm>
            <a:off x="5987147" y="1932846"/>
            <a:ext cx="2234621"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неудачная попытка не бесплатна</a:t>
            </a:r>
          </a:p>
        </p:txBody>
      </p:sp>
      <p:sp>
        <p:nvSpPr>
          <p:cNvPr id="15" name="TextBox 14"/>
          <p:cNvSpPr txBox="1"/>
          <p:nvPr/>
        </p:nvSpPr>
        <p:spPr>
          <a:xfrm>
            <a:off x="5987147" y="3140692"/>
            <a:ext cx="2234621"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съёмочный день стоит съёмочного дня, машино-час — машино-часа, панель — панели. Именно это и отменилось в 2022 году</a:t>
            </a:r>
          </a:p>
        </p:txBody>
      </p:sp>
      <p:sp>
        <p:nvSpPr>
          <p:cNvPr id="16" name="Rounded Rectangle 15"/>
          <p:cNvSpPr/>
          <p:nvPr/>
        </p:nvSpPr>
        <p:spPr>
          <a:xfrm>
            <a:off x="502920" y="4549013"/>
            <a:ext cx="3772556" cy="1687194"/>
          </a:xfrm>
          <a:prstGeom prst="roundRect">
            <a:avLst>
              <a:gd name="adj" fmla="val 1806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4704461"/>
            <a:ext cx="3443372"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Единица «цена одного ролика»</a:t>
            </a:r>
          </a:p>
        </p:txBody>
      </p:sp>
      <p:sp>
        <p:nvSpPr>
          <p:cNvPr id="18" name="TextBox 17"/>
          <p:cNvSpPr txBox="1"/>
          <p:nvPr/>
        </p:nvSpPr>
        <p:spPr>
          <a:xfrm>
            <a:off x="667512" y="5060639"/>
            <a:ext cx="3443372" cy="1020120"/>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Музыка отдельно: лицензионный трек 10 000–50 000 ₽, оригинальный от 150 000 ₽</a:t>
            </a:r>
          </a:p>
          <a:p>
            <a:pPr algn="l">
              <a:lnSpc>
                <a:spcPct val="126000"/>
              </a:lnSpc>
            </a:pPr>
            <a:r>
              <a:rPr sz="1250" b="0" i="0">
                <a:solidFill>
                  <a:srgbClr val="21295C"/>
                </a:solidFill>
                <a:latin typeface="Arial"/>
              </a:rPr>
              <a:t>• Общая единица: 300 000 ₽ за 30-секундный ролик — 10 000 ₽ за секунду эфира</a:t>
            </a:r>
          </a:p>
        </p:txBody>
      </p:sp>
      <p:sp>
        <p:nvSpPr>
          <p:cNvPr id="19" name="Rounded Rectangle 18"/>
          <p:cNvSpPr/>
          <p:nvPr/>
        </p:nvSpPr>
        <p:spPr>
          <a:xfrm>
            <a:off x="4586372" y="4549013"/>
            <a:ext cx="3772556" cy="1687194"/>
          </a:xfrm>
          <a:prstGeom prst="roundRect">
            <a:avLst>
              <a:gd name="adj" fmla="val 18065"/>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4750964" y="4704461"/>
            <a:ext cx="3443372"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Единица «цена одного выпуска»</a:t>
            </a:r>
          </a:p>
        </p:txBody>
      </p:sp>
      <p:sp>
        <p:nvSpPr>
          <p:cNvPr id="21" name="TextBox 20"/>
          <p:cNvSpPr txBox="1"/>
          <p:nvPr/>
        </p:nvSpPr>
        <p:spPr>
          <a:xfrm>
            <a:off x="4750964" y="5060639"/>
            <a:ext cx="3443372" cy="1020120"/>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Микродрама 2024 года, живая съёмка: свыше 1 млн юаней за выпуск, около 137 тысяч долларов</a:t>
            </a:r>
          </a:p>
          <a:p>
            <a:pPr algn="l">
              <a:lnSpc>
                <a:spcPct val="126000"/>
              </a:lnSpc>
            </a:pPr>
            <a:r>
              <a:rPr sz="950" b="0" i="0">
                <a:solidFill>
                  <a:srgbClr val="21295C"/>
                </a:solidFill>
                <a:latin typeface="Arial"/>
              </a:rPr>
              <a:t>• «Ирландец», 2019: бюджет со 125 до 159 млн $ на 1 750 планах омоложения</a:t>
            </a:r>
          </a:p>
          <a:p>
            <a:pPr algn="l">
              <a:lnSpc>
                <a:spcPct val="126000"/>
              </a:lnSpc>
            </a:pPr>
            <a:r>
              <a:rPr sz="950" b="0" i="0">
                <a:solidFill>
                  <a:srgbClr val="21295C"/>
                </a:solidFill>
                <a:latin typeface="Arial"/>
              </a:rPr>
              <a:t>• Супервайзер: цена плана та же, а планов на два фильма</a:t>
            </a:r>
          </a:p>
        </p:txBody>
      </p:sp>
      <p:sp>
        <p:nvSpPr>
          <p:cNvPr id="22" name="Rounded Rectangle 21"/>
          <p:cNvSpPr/>
          <p:nvPr/>
        </p:nvSpPr>
        <p:spPr>
          <a:xfrm>
            <a:off x="8669825" y="1335024"/>
            <a:ext cx="3018949" cy="4389120"/>
          </a:xfrm>
          <a:prstGeom prst="roundRect">
            <a:avLst>
              <a:gd name="adj" fmla="val 10096"/>
            </a:avLst>
          </a:prstGeom>
          <a:solidFill>
            <a:srgbClr val="F4F7FA"/>
          </a:solidFill>
          <a:ln w="19050">
            <a:solidFill>
              <a:srgbClr val="1C7293"/>
            </a:solidFill>
          </a:ln>
          <a:effectLst/>
        </p:spPr>
        <p:txBody>
          <a:bodyPr rtlCol="0" anchor="ctr"/>
          <a:lstStyle/>
          <a:p>
            <a:pPr algn="ctr"/>
          </a:p>
        </p:txBody>
      </p:sp>
      <p:pic>
        <p:nvPicPr>
          <p:cNvPr id="23" name="Picture 22" descr="s52-svetovaya-ferma-na-naturnoy-ploshchadke.jpg"/>
          <p:cNvPicPr>
            <a:picLocks noChangeAspect="1"/>
          </p:cNvPicPr>
          <p:nvPr/>
        </p:nvPicPr>
        <p:blipFill>
          <a:blip r:embed="rId2"/>
          <a:stretch>
            <a:fillRect/>
          </a:stretch>
        </p:blipFill>
        <p:spPr>
          <a:xfrm>
            <a:off x="8806985" y="1472184"/>
            <a:ext cx="2744629" cy="411480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отраслевые прайс-обзоры по российскому рынку; «Ирландец», 2019; Avid Media Composer, 1989; «История игрушек», 1995; StageCraft, 2019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китайские микродрамы</a:t>
            </a:r>
          </a:p>
        </p:txBody>
      </p:sp>
      <p:sp>
        <p:nvSpPr>
          <p:cNvPr id="4" name="Rounded Rectangle 3"/>
          <p:cNvSpPr/>
          <p:nvPr/>
        </p:nvSpPr>
        <p:spPr>
          <a:xfrm>
            <a:off x="502920" y="1335024"/>
            <a:ext cx="2508192" cy="2227629"/>
          </a:xfrm>
          <a:prstGeom prst="roundRect">
            <a:avLst>
              <a:gd name="adj" fmla="val 1368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33872"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233872"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промах подешевел в 10–20 раз, пропущенный хит не изменился ни на юань</a:t>
            </a:r>
          </a:p>
        </p:txBody>
      </p:sp>
      <p:sp>
        <p:nvSpPr>
          <p:cNvPr id="7" name="TextBox 6"/>
          <p:cNvSpPr txBox="1"/>
          <p:nvPr/>
        </p:nvSpPr>
        <p:spPr>
          <a:xfrm>
            <a:off x="640080" y="2373048"/>
            <a:ext cx="2233872"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этого расхождения и выросла вся перестройка отрасли</a:t>
            </a:r>
          </a:p>
        </p:txBody>
      </p:sp>
      <p:sp>
        <p:nvSpPr>
          <p:cNvPr id="8" name="Rounded Rectangle 7"/>
          <p:cNvSpPr/>
          <p:nvPr/>
        </p:nvSpPr>
        <p:spPr>
          <a:xfrm>
            <a:off x="3175704" y="1335024"/>
            <a:ext cx="2508192" cy="2227629"/>
          </a:xfrm>
          <a:prstGeom prst="roundRect">
            <a:avLst>
              <a:gd name="adj" fmla="val 136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312864" y="1472184"/>
            <a:ext cx="2233872"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ОБА КЛАССИЧЕСКИХ РЕЖИМА</a:t>
            </a:r>
          </a:p>
        </p:txBody>
      </p:sp>
      <p:sp>
        <p:nvSpPr>
          <p:cNvPr id="10" name="TextBox 9"/>
          <p:cNvSpPr txBox="1"/>
          <p:nvPr/>
        </p:nvSpPr>
        <p:spPr>
          <a:xfrm>
            <a:off x="3312864" y="1932846"/>
            <a:ext cx="2233872"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живой выпуск свыше 1 млн юаней · кинопрокат ≈100 млрд юаней в 2025</a:t>
            </a:r>
          </a:p>
        </p:txBody>
      </p:sp>
      <p:sp>
        <p:nvSpPr>
          <p:cNvPr id="11" name="TextBox 10"/>
          <p:cNvSpPr txBox="1"/>
          <p:nvPr/>
        </p:nvSpPr>
        <p:spPr>
          <a:xfrm>
            <a:off x="3312864" y="2580519"/>
            <a:ext cx="2233872"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≈137 тыс. $ за живой выпуск; кинопрокат — канал той же аудитории, свыше 120 млрд в 2026</a:t>
            </a:r>
          </a:p>
        </p:txBody>
      </p:sp>
      <p:sp>
        <p:nvSpPr>
          <p:cNvPr id="12" name="Rounded Rectangle 11"/>
          <p:cNvSpPr/>
          <p:nvPr/>
        </p:nvSpPr>
        <p:spPr>
          <a:xfrm>
            <a:off x="5848489" y="1335024"/>
            <a:ext cx="2508192" cy="2227629"/>
          </a:xfrm>
          <a:prstGeom prst="roundRect">
            <a:avLst>
              <a:gd name="adj" fmla="val 1368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985649" y="1472184"/>
            <a:ext cx="2233872"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4" name="TextBox 13"/>
          <p:cNvSpPr txBox="1"/>
          <p:nvPr/>
        </p:nvSpPr>
        <p:spPr>
          <a:xfrm>
            <a:off x="5985649" y="1725375"/>
            <a:ext cx="2233872" cy="715572"/>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50–100 тыс. юаней за выпуск</a:t>
            </a:r>
          </a:p>
        </p:txBody>
      </p:sp>
      <p:sp>
        <p:nvSpPr>
          <p:cNvPr id="15" name="TextBox 14"/>
          <p:cNvSpPr txBox="1"/>
          <p:nvPr/>
        </p:nvSpPr>
        <p:spPr>
          <a:xfrm>
            <a:off x="5985649" y="2440948"/>
            <a:ext cx="2233872"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≈7–14 тыс. $: в 10–20 раз дешевле классического режима, не нуля</a:t>
            </a:r>
          </a:p>
        </p:txBody>
      </p:sp>
      <p:sp>
        <p:nvSpPr>
          <p:cNvPr id="16" name="Rounded Rectangle 15"/>
          <p:cNvSpPr/>
          <p:nvPr/>
        </p:nvSpPr>
        <p:spPr>
          <a:xfrm>
            <a:off x="502920" y="3727245"/>
            <a:ext cx="785376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40080" y="3864405"/>
            <a:ext cx="757944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ТЕМП, СКОРОСТЬ ПЕРЕХОДА</a:t>
            </a:r>
          </a:p>
        </p:txBody>
      </p:sp>
      <p:sp>
        <p:nvSpPr>
          <p:cNvPr id="18" name="TextBox 17"/>
          <p:cNvSpPr txBox="1"/>
          <p:nvPr/>
        </p:nvSpPr>
        <p:spPr>
          <a:xfrm>
            <a:off x="640080" y="4117596"/>
            <a:ext cx="757944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430 000 выпусков за восемь месяцев, сгенерированных более 90 %</a:t>
            </a:r>
          </a:p>
        </p:txBody>
      </p:sp>
      <p:sp>
        <p:nvSpPr>
          <p:cNvPr id="19" name="TextBox 18"/>
          <p:cNvSpPr txBox="1"/>
          <p:nvPr/>
        </p:nvSpPr>
        <p:spPr>
          <a:xfrm>
            <a:off x="640080" y="4935019"/>
            <a:ext cx="757944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темп июля 2026 — одна каждые 36 секунд; переход занял около года против четырнадцати лет у нелинейного монтажа</a:t>
            </a:r>
          </a:p>
        </p:txBody>
      </p:sp>
      <p:sp>
        <p:nvSpPr>
          <p:cNvPr id="20" name="Rounded Rectangle 19"/>
          <p:cNvSpPr/>
          <p:nvPr/>
        </p:nvSpPr>
        <p:spPr>
          <a:xfrm>
            <a:off x="8667577" y="1335024"/>
            <a:ext cx="3021197" cy="4389120"/>
          </a:xfrm>
          <a:prstGeom prst="roundRect">
            <a:avLst>
              <a:gd name="adj" fmla="val 10088"/>
            </a:avLst>
          </a:prstGeom>
          <a:solidFill>
            <a:srgbClr val="F4F7FA"/>
          </a:solidFill>
          <a:ln w="19050">
            <a:solidFill>
              <a:srgbClr val="1C7293"/>
            </a:solidFill>
          </a:ln>
          <a:effectLst/>
        </p:spPr>
        <p:txBody>
          <a:bodyPr rtlCol="0" anchor="ctr"/>
          <a:lstStyle/>
          <a:p>
            <a:pPr algn="ctr"/>
          </a:p>
        </p:txBody>
      </p:sp>
      <p:pic>
        <p:nvPicPr>
          <p:cNvPr id="21" name="Picture 20" descr="s53-microdrama-caixin-portret.jpg"/>
          <p:cNvPicPr>
            <a:picLocks noChangeAspect="1"/>
          </p:cNvPicPr>
          <p:nvPr/>
        </p:nvPicPr>
        <p:blipFill>
          <a:blip r:embed="rId2"/>
          <a:stretch>
            <a:fillRect/>
          </a:stretch>
        </p:blipFill>
        <p:spPr>
          <a:xfrm>
            <a:off x="8804737" y="1472184"/>
            <a:ext cx="2746877" cy="411480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Caixin, 01.06.2026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Kalshi, финал НБА, июнь 2025</a:t>
            </a:r>
          </a:p>
        </p:txBody>
      </p:sp>
      <p:sp>
        <p:nvSpPr>
          <p:cNvPr id="4" name="Rounded Rectangle 3"/>
          <p:cNvSpPr/>
          <p:nvPr/>
        </p:nvSpPr>
        <p:spPr>
          <a:xfrm>
            <a:off x="502920" y="1335024"/>
            <a:ext cx="7859179"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758485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КЛАССИКА ПРОТИВ МОДЕЛИ, В ДЕНЬГАХ</a:t>
            </a:r>
          </a:p>
        </p:txBody>
      </p:sp>
      <p:sp>
        <p:nvSpPr>
          <p:cNvPr id="6" name="TextBox 5"/>
          <p:cNvSpPr txBox="1"/>
          <p:nvPr/>
        </p:nvSpPr>
        <p:spPr>
          <a:xfrm>
            <a:off x="640080" y="1725375"/>
            <a:ext cx="758485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≈40 000 $ · 10 000 ₽/сек  →  2 000 $ · 4–10 ₽/сек</a:t>
            </a:r>
          </a:p>
        </p:txBody>
      </p:sp>
      <p:sp>
        <p:nvSpPr>
          <p:cNvPr id="7" name="TextBox 6"/>
          <p:cNvSpPr txBox="1"/>
          <p:nvPr/>
        </p:nvSpPr>
        <p:spPr>
          <a:xfrm>
            <a:off x="640080" y="2152374"/>
            <a:ext cx="75848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снижение 95 % от бюджета того же слота — финал НБА, не Супербоул</a:t>
            </a:r>
          </a:p>
        </p:txBody>
      </p:sp>
      <p:sp>
        <p:nvSpPr>
          <p:cNvPr id="8" name="Rounded Rectangle 7"/>
          <p:cNvSpPr/>
          <p:nvPr/>
        </p:nvSpPr>
        <p:spPr>
          <a:xfrm>
            <a:off x="1851660" y="2683657"/>
            <a:ext cx="1874519" cy="676656"/>
          </a:xfrm>
          <a:prstGeom prst="roundRect">
            <a:avLst>
              <a:gd name="adj" fmla="val 14000"/>
            </a:avLst>
          </a:prstGeom>
          <a:solidFill>
            <a:srgbClr val="F0AB00"/>
          </a:solidFill>
          <a:ln>
            <a:noFill/>
          </a:ln>
          <a:effectLst/>
        </p:spPr>
        <p:txBody>
          <a:bodyPr rtlCol="0" anchor="ctr"/>
          <a:lstStyle/>
          <a:p>
            <a:pPr algn="ctr"/>
          </a:p>
        </p:txBody>
      </p:sp>
      <p:sp>
        <p:nvSpPr>
          <p:cNvPr id="9" name="TextBox 8"/>
          <p:cNvSpPr txBox="1"/>
          <p:nvPr/>
        </p:nvSpPr>
        <p:spPr>
          <a:xfrm>
            <a:off x="1943100" y="2683657"/>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300–400</a:t>
            </a:r>
          </a:p>
        </p:txBody>
      </p:sp>
      <p:sp>
        <p:nvSpPr>
          <p:cNvPr id="10" name="TextBox 9"/>
          <p:cNvSpPr txBox="1"/>
          <p:nvPr/>
        </p:nvSpPr>
        <p:spPr>
          <a:xfrm>
            <a:off x="5440680" y="2683657"/>
            <a:ext cx="2921419"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генераций, отсмотренных одним человеком</a:t>
            </a:r>
          </a:p>
        </p:txBody>
      </p:sp>
      <p:sp>
        <p:nvSpPr>
          <p:cNvPr id="11" name="Rectangle 10"/>
          <p:cNvSpPr/>
          <p:nvPr/>
        </p:nvSpPr>
        <p:spPr>
          <a:xfrm>
            <a:off x="502920" y="3543193"/>
            <a:ext cx="4572000" cy="676656"/>
          </a:xfrm>
          <a:prstGeom prst="rect">
            <a:avLst/>
          </a:prstGeom>
          <a:solidFill>
            <a:srgbClr val="F4F7FA"/>
          </a:solidFill>
          <a:ln w="19050">
            <a:solidFill>
              <a:srgbClr val="065A82"/>
            </a:solidFill>
          </a:ln>
          <a:effectLst/>
        </p:spPr>
        <p:txBody>
          <a:bodyPr rtlCol="0" anchor="ctr"/>
          <a:lstStyle/>
          <a:p>
            <a:pPr algn="ctr"/>
          </a:p>
        </p:txBody>
      </p:sp>
      <p:sp>
        <p:nvSpPr>
          <p:cNvPr id="12" name="TextBox 11"/>
          <p:cNvSpPr txBox="1"/>
          <p:nvPr/>
        </p:nvSpPr>
        <p:spPr>
          <a:xfrm>
            <a:off x="612648" y="3754210"/>
            <a:ext cx="4352544" cy="254623"/>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Генерация</a:t>
            </a:r>
          </a:p>
        </p:txBody>
      </p:sp>
      <p:sp>
        <p:nvSpPr>
          <p:cNvPr id="13" name="TextBox 12"/>
          <p:cNvSpPr txBox="1"/>
          <p:nvPr/>
        </p:nvSpPr>
        <p:spPr>
          <a:xfrm>
            <a:off x="5440680" y="3543193"/>
            <a:ext cx="2921419" cy="67665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Генерация</a:t>
            </a:r>
          </a:p>
          <a:p>
            <a:pPr algn="l">
              <a:lnSpc>
                <a:spcPct val="116000"/>
              </a:lnSpc>
              <a:spcBef>
                <a:spcPts val="400"/>
              </a:spcBef>
            </a:pPr>
            <a:r>
              <a:rPr sz="1350" b="0" i="0">
                <a:solidFill>
                  <a:srgbClr val="21295C"/>
                </a:solidFill>
                <a:latin typeface="Arial"/>
              </a:rPr>
              <a:t>секунды и центы за попытку</a:t>
            </a:r>
          </a:p>
        </p:txBody>
      </p:sp>
      <p:sp>
        <p:nvSpPr>
          <p:cNvPr id="14" name="Rectangle 13"/>
          <p:cNvSpPr/>
          <p:nvPr/>
        </p:nvSpPr>
        <p:spPr>
          <a:xfrm>
            <a:off x="2103120" y="4302145"/>
            <a:ext cx="1371600" cy="728703"/>
          </a:xfrm>
          <a:prstGeom prst="rect">
            <a:avLst/>
          </a:prstGeom>
          <a:solidFill>
            <a:srgbClr val="FEF5E0"/>
          </a:solidFill>
          <a:ln w="31750">
            <a:solidFill>
              <a:srgbClr val="065A82"/>
            </a:solidFill>
          </a:ln>
          <a:effectLst/>
        </p:spPr>
        <p:txBody>
          <a:bodyPr rtlCol="0" anchor="ctr"/>
          <a:lstStyle/>
          <a:p>
            <a:pPr algn="ctr"/>
          </a:p>
        </p:txBody>
      </p:sp>
      <p:sp>
        <p:nvSpPr>
          <p:cNvPr id="15" name="TextBox 14"/>
          <p:cNvSpPr txBox="1"/>
          <p:nvPr/>
        </p:nvSpPr>
        <p:spPr>
          <a:xfrm>
            <a:off x="2212848" y="4411873"/>
            <a:ext cx="1152144" cy="509247"/>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Отбор — узкое место</a:t>
            </a:r>
          </a:p>
        </p:txBody>
      </p:sp>
      <p:sp>
        <p:nvSpPr>
          <p:cNvPr id="16" name="TextBox 15"/>
          <p:cNvSpPr txBox="1"/>
          <p:nvPr/>
        </p:nvSpPr>
        <p:spPr>
          <a:xfrm>
            <a:off x="5440680" y="4302145"/>
            <a:ext cx="2921419" cy="728703"/>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Отбор — узкое место</a:t>
            </a:r>
          </a:p>
          <a:p>
            <a:pPr algn="l">
              <a:lnSpc>
                <a:spcPct val="116000"/>
              </a:lnSpc>
              <a:spcBef>
                <a:spcPts val="400"/>
              </a:spcBef>
            </a:pPr>
            <a:r>
              <a:rPr sz="1350" b="0" i="0">
                <a:solidFill>
                  <a:srgbClr val="21295C"/>
                </a:solidFill>
                <a:latin typeface="Arial"/>
              </a:rPr>
              <a:t>сверка персонажа; брак 96 %</a:t>
            </a:r>
          </a:p>
        </p:txBody>
      </p:sp>
      <p:sp>
        <p:nvSpPr>
          <p:cNvPr id="17" name="Rounded Rectangle 16"/>
          <p:cNvSpPr/>
          <p:nvPr/>
        </p:nvSpPr>
        <p:spPr>
          <a:xfrm>
            <a:off x="1851660" y="5213729"/>
            <a:ext cx="1874519" cy="676656"/>
          </a:xfrm>
          <a:prstGeom prst="roundRect">
            <a:avLst>
              <a:gd name="adj" fmla="val 14000"/>
            </a:avLst>
          </a:prstGeom>
          <a:solidFill>
            <a:srgbClr val="F0AB00"/>
          </a:solidFill>
          <a:ln>
            <a:noFill/>
          </a:ln>
          <a:effectLst/>
        </p:spPr>
        <p:txBody>
          <a:bodyPr rtlCol="0" anchor="ctr"/>
          <a:lstStyle/>
          <a:p>
            <a:pPr algn="ctr"/>
          </a:p>
        </p:txBody>
      </p:sp>
      <p:sp>
        <p:nvSpPr>
          <p:cNvPr id="18" name="TextBox 17"/>
          <p:cNvSpPr txBox="1"/>
          <p:nvPr/>
        </p:nvSpPr>
        <p:spPr>
          <a:xfrm>
            <a:off x="1943100" y="5213729"/>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15</a:t>
            </a:r>
          </a:p>
        </p:txBody>
      </p:sp>
      <p:sp>
        <p:nvSpPr>
          <p:cNvPr id="19" name="TextBox 18"/>
          <p:cNvSpPr txBox="1"/>
          <p:nvPr/>
        </p:nvSpPr>
        <p:spPr>
          <a:xfrm>
            <a:off x="5440680" y="5213729"/>
            <a:ext cx="2921419"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пригодных склеек</a:t>
            </a:r>
          </a:p>
        </p:txBody>
      </p:sp>
      <p:sp>
        <p:nvSpPr>
          <p:cNvPr id="20" name="Rounded Rectangle 19"/>
          <p:cNvSpPr/>
          <p:nvPr/>
        </p:nvSpPr>
        <p:spPr>
          <a:xfrm>
            <a:off x="8672995" y="1335024"/>
            <a:ext cx="3015779" cy="4389120"/>
          </a:xfrm>
          <a:prstGeom prst="roundRect">
            <a:avLst>
              <a:gd name="adj" fmla="val 10106"/>
            </a:avLst>
          </a:prstGeom>
          <a:solidFill>
            <a:srgbClr val="F4F7FA"/>
          </a:solidFill>
          <a:ln w="19050">
            <a:solidFill>
              <a:srgbClr val="1C7293"/>
            </a:solidFill>
          </a:ln>
          <a:effectLst/>
        </p:spPr>
        <p:txBody>
          <a:bodyPr rtlCol="0" anchor="ctr"/>
          <a:lstStyle/>
          <a:p>
            <a:pPr algn="ctr"/>
          </a:p>
        </p:txBody>
      </p:sp>
      <p:pic>
        <p:nvPicPr>
          <p:cNvPr id="21" name="Picture 20" descr="s54-kalshi-ad-frame-portret.png"/>
          <p:cNvPicPr>
            <a:picLocks noChangeAspect="1"/>
          </p:cNvPicPr>
          <p:nvPr/>
        </p:nvPicPr>
        <p:blipFill>
          <a:blip r:embed="rId2"/>
          <a:stretch>
            <a:fillRect/>
          </a:stretch>
        </p:blipFill>
        <p:spPr>
          <a:xfrm>
            <a:off x="8810155" y="1472184"/>
            <a:ext cx="2741459" cy="411480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NPR, 23.06.2025; автор работы — Пи-Джей Аккетуро</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Coca-Cola «Holidays Are Coming»</a:t>
            </a:r>
          </a:p>
        </p:txBody>
      </p:sp>
      <p:sp>
        <p:nvSpPr>
          <p:cNvPr id="4" name="Rounded Rectangle 3"/>
          <p:cNvSpPr/>
          <p:nvPr/>
        </p:nvSpPr>
        <p:spPr>
          <a:xfrm>
            <a:off x="502920" y="1335024"/>
            <a:ext cx="7855864"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7581544"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КАМПАНИИ ЗАНЯТО, КАК И В КЛАССИКЕ</a:t>
            </a:r>
          </a:p>
        </p:txBody>
      </p:sp>
      <p:sp>
        <p:nvSpPr>
          <p:cNvPr id="6" name="TextBox 5"/>
          <p:cNvSpPr txBox="1"/>
          <p:nvPr/>
        </p:nvSpPr>
        <p:spPr>
          <a:xfrm>
            <a:off x="640080" y="1725375"/>
            <a:ext cx="7581544"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около 100 человек</a:t>
            </a:r>
          </a:p>
        </p:txBody>
      </p:sp>
      <p:sp>
        <p:nvSpPr>
          <p:cNvPr id="7" name="TextBox 6"/>
          <p:cNvSpPr txBox="1"/>
          <p:nvPr/>
        </p:nvSpPr>
        <p:spPr>
          <a:xfrm>
            <a:off x="640080" y="2152374"/>
            <a:ext cx="7581544"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цикл схлопнулся с года до месяца — единственная величина, подтверждённая первым лицом компании</a:t>
            </a:r>
          </a:p>
        </p:txBody>
      </p:sp>
      <p:sp>
        <p:nvSpPr>
          <p:cNvPr id="8" name="Rounded Rectangle 7"/>
          <p:cNvSpPr/>
          <p:nvPr/>
        </p:nvSpPr>
        <p:spPr>
          <a:xfrm>
            <a:off x="1851660" y="2683657"/>
            <a:ext cx="1874519" cy="676656"/>
          </a:xfrm>
          <a:prstGeom prst="roundRect">
            <a:avLst>
              <a:gd name="adj" fmla="val 14000"/>
            </a:avLst>
          </a:prstGeom>
          <a:solidFill>
            <a:srgbClr val="F0AB00"/>
          </a:solidFill>
          <a:ln>
            <a:noFill/>
          </a:ln>
          <a:effectLst/>
        </p:spPr>
        <p:txBody>
          <a:bodyPr rtlCol="0" anchor="ctr"/>
          <a:lstStyle/>
          <a:p>
            <a:pPr algn="ctr"/>
          </a:p>
        </p:txBody>
      </p:sp>
      <p:sp>
        <p:nvSpPr>
          <p:cNvPr id="9" name="TextBox 8"/>
          <p:cNvSpPr txBox="1"/>
          <p:nvPr/>
        </p:nvSpPr>
        <p:spPr>
          <a:xfrm>
            <a:off x="1943100" y="2683657"/>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70 000</a:t>
            </a:r>
          </a:p>
        </p:txBody>
      </p:sp>
      <p:sp>
        <p:nvSpPr>
          <p:cNvPr id="10" name="TextBox 9"/>
          <p:cNvSpPr txBox="1"/>
          <p:nvPr/>
        </p:nvSpPr>
        <p:spPr>
          <a:xfrm>
            <a:off x="5440680" y="2683657"/>
            <a:ext cx="2918104"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клипов за 30 дней</a:t>
            </a:r>
          </a:p>
        </p:txBody>
      </p:sp>
      <p:sp>
        <p:nvSpPr>
          <p:cNvPr id="11" name="Rectangle 10"/>
          <p:cNvSpPr/>
          <p:nvPr/>
        </p:nvSpPr>
        <p:spPr>
          <a:xfrm>
            <a:off x="502920" y="3543193"/>
            <a:ext cx="4572000" cy="676656"/>
          </a:xfrm>
          <a:prstGeom prst="rect">
            <a:avLst/>
          </a:prstGeom>
          <a:solidFill>
            <a:srgbClr val="F4F7FA"/>
          </a:solidFill>
          <a:ln w="19050">
            <a:solidFill>
              <a:srgbClr val="065A82"/>
            </a:solidFill>
          </a:ln>
          <a:effectLst/>
        </p:spPr>
        <p:txBody>
          <a:bodyPr rtlCol="0" anchor="ctr"/>
          <a:lstStyle/>
          <a:p>
            <a:pPr algn="ctr"/>
          </a:p>
        </p:txBody>
      </p:sp>
      <p:sp>
        <p:nvSpPr>
          <p:cNvPr id="12" name="TextBox 11"/>
          <p:cNvSpPr txBox="1"/>
          <p:nvPr/>
        </p:nvSpPr>
        <p:spPr>
          <a:xfrm>
            <a:off x="612648" y="3754210"/>
            <a:ext cx="4352544" cy="254623"/>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Генерация</a:t>
            </a:r>
          </a:p>
        </p:txBody>
      </p:sp>
      <p:sp>
        <p:nvSpPr>
          <p:cNvPr id="13" name="TextBox 12"/>
          <p:cNvSpPr txBox="1"/>
          <p:nvPr/>
        </p:nvSpPr>
        <p:spPr>
          <a:xfrm>
            <a:off x="5440680" y="3543193"/>
            <a:ext cx="2918104" cy="67665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Генерация</a:t>
            </a:r>
          </a:p>
          <a:p>
            <a:pPr algn="l">
              <a:lnSpc>
                <a:spcPct val="116000"/>
              </a:lnSpc>
              <a:spcBef>
                <a:spcPts val="400"/>
              </a:spcBef>
            </a:pPr>
            <a:r>
              <a:rPr sz="1350" b="0" i="0">
                <a:solidFill>
                  <a:srgbClr val="21295C"/>
                </a:solidFill>
                <a:latin typeface="Arial"/>
              </a:rPr>
              <a:t>три студии, четыре модели</a:t>
            </a:r>
          </a:p>
        </p:txBody>
      </p:sp>
      <p:sp>
        <p:nvSpPr>
          <p:cNvPr id="14" name="Rectangle 13"/>
          <p:cNvSpPr/>
          <p:nvPr/>
        </p:nvSpPr>
        <p:spPr>
          <a:xfrm>
            <a:off x="2103120" y="4302145"/>
            <a:ext cx="1371600" cy="801760"/>
          </a:xfrm>
          <a:prstGeom prst="rect">
            <a:avLst/>
          </a:prstGeom>
          <a:solidFill>
            <a:srgbClr val="FEF5E0"/>
          </a:solidFill>
          <a:ln w="31750">
            <a:solidFill>
              <a:srgbClr val="065A82"/>
            </a:solidFill>
          </a:ln>
          <a:effectLst/>
        </p:spPr>
        <p:txBody>
          <a:bodyPr rtlCol="0" anchor="ctr"/>
          <a:lstStyle/>
          <a:p>
            <a:pPr algn="ctr"/>
          </a:p>
        </p:txBody>
      </p:sp>
      <p:sp>
        <p:nvSpPr>
          <p:cNvPr id="15" name="TextBox 14"/>
          <p:cNvSpPr txBox="1"/>
          <p:nvPr/>
        </p:nvSpPr>
        <p:spPr>
          <a:xfrm>
            <a:off x="2212848" y="4448402"/>
            <a:ext cx="1152144" cy="509247"/>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Отбор — узкое место</a:t>
            </a:r>
          </a:p>
        </p:txBody>
      </p:sp>
      <p:sp>
        <p:nvSpPr>
          <p:cNvPr id="16" name="TextBox 15"/>
          <p:cNvSpPr txBox="1"/>
          <p:nvPr/>
        </p:nvSpPr>
        <p:spPr>
          <a:xfrm>
            <a:off x="5440680" y="4302145"/>
            <a:ext cx="2918104" cy="80176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Отбор — узкое место</a:t>
            </a:r>
          </a:p>
          <a:p>
            <a:pPr algn="l">
              <a:lnSpc>
                <a:spcPct val="116000"/>
              </a:lnSpc>
              <a:spcBef>
                <a:spcPts val="400"/>
              </a:spcBef>
            </a:pPr>
            <a:r>
              <a:rPr sz="1350" b="0" i="0">
                <a:solidFill>
                  <a:srgbClr val="21295C"/>
                </a:solidFill>
                <a:latin typeface="Arial"/>
              </a:rPr>
              <a:t>сколько вошло в монтаж, не раскрыто</a:t>
            </a:r>
          </a:p>
        </p:txBody>
      </p:sp>
      <p:sp>
        <p:nvSpPr>
          <p:cNvPr id="17" name="Rounded Rectangle 16"/>
          <p:cNvSpPr/>
          <p:nvPr/>
        </p:nvSpPr>
        <p:spPr>
          <a:xfrm>
            <a:off x="1851660" y="5286786"/>
            <a:ext cx="1874519" cy="676656"/>
          </a:xfrm>
          <a:prstGeom prst="roundRect">
            <a:avLst>
              <a:gd name="adj" fmla="val 14000"/>
            </a:avLst>
          </a:prstGeom>
          <a:solidFill>
            <a:srgbClr val="F0AB00"/>
          </a:solidFill>
          <a:ln>
            <a:noFill/>
          </a:ln>
          <a:effectLst/>
        </p:spPr>
        <p:txBody>
          <a:bodyPr rtlCol="0" anchor="ctr"/>
          <a:lstStyle/>
          <a:p>
            <a:pPr algn="ctr"/>
          </a:p>
        </p:txBody>
      </p:sp>
      <p:sp>
        <p:nvSpPr>
          <p:cNvPr id="18" name="TextBox 17"/>
          <p:cNvSpPr txBox="1"/>
          <p:nvPr/>
        </p:nvSpPr>
        <p:spPr>
          <a:xfrm>
            <a:off x="1943100" y="5286786"/>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1</a:t>
            </a:r>
          </a:p>
        </p:txBody>
      </p:sp>
      <p:sp>
        <p:nvSpPr>
          <p:cNvPr id="19" name="TextBox 18"/>
          <p:cNvSpPr txBox="1"/>
          <p:nvPr/>
        </p:nvSpPr>
        <p:spPr>
          <a:xfrm>
            <a:off x="5440680" y="5286786"/>
            <a:ext cx="2918104"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готовый ролик</a:t>
            </a:r>
          </a:p>
        </p:txBody>
      </p:sp>
      <p:sp>
        <p:nvSpPr>
          <p:cNvPr id="20" name="Rounded Rectangle 19"/>
          <p:cNvSpPr/>
          <p:nvPr/>
        </p:nvSpPr>
        <p:spPr>
          <a:xfrm>
            <a:off x="8669680" y="1335024"/>
            <a:ext cx="3019094" cy="4389120"/>
          </a:xfrm>
          <a:prstGeom prst="roundRect">
            <a:avLst>
              <a:gd name="adj" fmla="val 10095"/>
            </a:avLst>
          </a:prstGeom>
          <a:solidFill>
            <a:srgbClr val="F4F7FA"/>
          </a:solidFill>
          <a:ln w="19050">
            <a:solidFill>
              <a:srgbClr val="1C7293"/>
            </a:solidFill>
          </a:ln>
          <a:effectLst/>
        </p:spPr>
        <p:txBody>
          <a:bodyPr rtlCol="0" anchor="ctr"/>
          <a:lstStyle/>
          <a:p>
            <a:pPr algn="ctr"/>
          </a:p>
        </p:txBody>
      </p:sp>
      <p:pic>
        <p:nvPicPr>
          <p:cNvPr id="21" name="Picture 20" descr="s55-coca-cola-christmas-truck-portret.jpg"/>
          <p:cNvPicPr>
            <a:picLocks noChangeAspect="1"/>
          </p:cNvPicPr>
          <p:nvPr/>
        </p:nvPicPr>
        <p:blipFill>
          <a:blip r:embed="rId2"/>
          <a:stretch>
            <a:fillRect/>
          </a:stretch>
        </p:blipFill>
        <p:spPr>
          <a:xfrm>
            <a:off x="8806840" y="1472184"/>
            <a:ext cx="2744774" cy="411480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закадровый ролик Coca-Cola о производстве; интервью директора по маркетингу</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Ответ: людей столько же</a:t>
            </a:r>
          </a:p>
        </p:txBody>
      </p:sp>
      <p:sp>
        <p:nvSpPr>
          <p:cNvPr id="4" name="TextBox 3"/>
          <p:cNvSpPr txBox="1"/>
          <p:nvPr/>
        </p:nvSpPr>
        <p:spPr>
          <a:xfrm>
            <a:off x="502920" y="1335024"/>
            <a:ext cx="11185855" cy="274320"/>
          </a:xfrm>
          <a:prstGeom prst="rect">
            <a:avLst/>
          </a:prstGeom>
          <a:noFill/>
        </p:spPr>
        <p:txBody>
          <a:bodyPr wrap="square" lIns="0" rIns="0" tIns="0" bIns="0" anchor="t">
            <a:spAutoFit/>
          </a:bodyPr>
          <a:lstStyle/>
          <a:p>
            <a:pPr algn="l">
              <a:lnSpc>
                <a:spcPct val="100000"/>
              </a:lnSpc>
            </a:pPr>
            <a:r>
              <a:rPr sz="1500" b="1" i="0">
                <a:solidFill>
                  <a:srgbClr val="065A82"/>
                </a:solidFill>
                <a:latin typeface="Arial"/>
              </a:rPr>
              <a:t>100 человек в кампании</a:t>
            </a:r>
          </a:p>
        </p:txBody>
      </p:sp>
      <p:sp>
        <p:nvSpPr>
          <p:cNvPr id="5" name="Rounded Rectangle 4"/>
          <p:cNvSpPr/>
          <p:nvPr/>
        </p:nvSpPr>
        <p:spPr>
          <a:xfrm>
            <a:off x="538721"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6" name="Trapezoid 5"/>
          <p:cNvSpPr/>
          <p:nvPr/>
        </p:nvSpPr>
        <p:spPr>
          <a:xfrm>
            <a:off x="502920"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7" name="Rounded Rectangle 6"/>
          <p:cNvSpPr/>
          <p:nvPr/>
        </p:nvSpPr>
        <p:spPr>
          <a:xfrm>
            <a:off x="770200"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8" name="Trapezoid 7"/>
          <p:cNvSpPr/>
          <p:nvPr/>
        </p:nvSpPr>
        <p:spPr>
          <a:xfrm>
            <a:off x="734399"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9" name="Rounded Rectangle 8"/>
          <p:cNvSpPr/>
          <p:nvPr/>
        </p:nvSpPr>
        <p:spPr>
          <a:xfrm>
            <a:off x="1001680"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10" name="Trapezoid 9"/>
          <p:cNvSpPr/>
          <p:nvPr/>
        </p:nvSpPr>
        <p:spPr>
          <a:xfrm>
            <a:off x="965879"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11" name="Rounded Rectangle 10"/>
          <p:cNvSpPr/>
          <p:nvPr/>
        </p:nvSpPr>
        <p:spPr>
          <a:xfrm>
            <a:off x="1233159"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12" name="Trapezoid 11"/>
          <p:cNvSpPr/>
          <p:nvPr/>
        </p:nvSpPr>
        <p:spPr>
          <a:xfrm>
            <a:off x="1197358"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13" name="Rounded Rectangle 12"/>
          <p:cNvSpPr/>
          <p:nvPr/>
        </p:nvSpPr>
        <p:spPr>
          <a:xfrm>
            <a:off x="1464639"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14" name="Trapezoid 13"/>
          <p:cNvSpPr/>
          <p:nvPr/>
        </p:nvSpPr>
        <p:spPr>
          <a:xfrm>
            <a:off x="1428838"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15" name="Rounded Rectangle 14"/>
          <p:cNvSpPr/>
          <p:nvPr/>
        </p:nvSpPr>
        <p:spPr>
          <a:xfrm>
            <a:off x="1696119"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 name="Trapezoid 15"/>
          <p:cNvSpPr/>
          <p:nvPr/>
        </p:nvSpPr>
        <p:spPr>
          <a:xfrm>
            <a:off x="1660317"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 name="Rounded Rectangle 16"/>
          <p:cNvSpPr/>
          <p:nvPr/>
        </p:nvSpPr>
        <p:spPr>
          <a:xfrm>
            <a:off x="1927598"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 name="Trapezoid 17"/>
          <p:cNvSpPr/>
          <p:nvPr/>
        </p:nvSpPr>
        <p:spPr>
          <a:xfrm>
            <a:off x="1891797"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 name="Rounded Rectangle 18"/>
          <p:cNvSpPr/>
          <p:nvPr/>
        </p:nvSpPr>
        <p:spPr>
          <a:xfrm>
            <a:off x="2159078"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 name="Trapezoid 19"/>
          <p:cNvSpPr/>
          <p:nvPr/>
        </p:nvSpPr>
        <p:spPr>
          <a:xfrm>
            <a:off x="2123277"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1" name="Rounded Rectangle 20"/>
          <p:cNvSpPr/>
          <p:nvPr/>
        </p:nvSpPr>
        <p:spPr>
          <a:xfrm>
            <a:off x="2390557"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2" name="Trapezoid 21"/>
          <p:cNvSpPr/>
          <p:nvPr/>
        </p:nvSpPr>
        <p:spPr>
          <a:xfrm>
            <a:off x="2354756"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3" name="Rounded Rectangle 22"/>
          <p:cNvSpPr/>
          <p:nvPr/>
        </p:nvSpPr>
        <p:spPr>
          <a:xfrm>
            <a:off x="2622037"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4" name="Trapezoid 23"/>
          <p:cNvSpPr/>
          <p:nvPr/>
        </p:nvSpPr>
        <p:spPr>
          <a:xfrm>
            <a:off x="2586236"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5" name="Rounded Rectangle 24"/>
          <p:cNvSpPr/>
          <p:nvPr/>
        </p:nvSpPr>
        <p:spPr>
          <a:xfrm>
            <a:off x="538721"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6" name="Trapezoid 25"/>
          <p:cNvSpPr/>
          <p:nvPr/>
        </p:nvSpPr>
        <p:spPr>
          <a:xfrm>
            <a:off x="502920"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7" name="Rounded Rectangle 26"/>
          <p:cNvSpPr/>
          <p:nvPr/>
        </p:nvSpPr>
        <p:spPr>
          <a:xfrm>
            <a:off x="770200"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8" name="Trapezoid 27"/>
          <p:cNvSpPr/>
          <p:nvPr/>
        </p:nvSpPr>
        <p:spPr>
          <a:xfrm>
            <a:off x="734399"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9" name="Rounded Rectangle 28"/>
          <p:cNvSpPr/>
          <p:nvPr/>
        </p:nvSpPr>
        <p:spPr>
          <a:xfrm>
            <a:off x="1001680"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0" name="Trapezoid 29"/>
          <p:cNvSpPr/>
          <p:nvPr/>
        </p:nvSpPr>
        <p:spPr>
          <a:xfrm>
            <a:off x="965879"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1" name="Rounded Rectangle 30"/>
          <p:cNvSpPr/>
          <p:nvPr/>
        </p:nvSpPr>
        <p:spPr>
          <a:xfrm>
            <a:off x="1233159"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2" name="Trapezoid 31"/>
          <p:cNvSpPr/>
          <p:nvPr/>
        </p:nvSpPr>
        <p:spPr>
          <a:xfrm>
            <a:off x="1197358"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3" name="Rounded Rectangle 32"/>
          <p:cNvSpPr/>
          <p:nvPr/>
        </p:nvSpPr>
        <p:spPr>
          <a:xfrm>
            <a:off x="1464639"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4" name="Trapezoid 33"/>
          <p:cNvSpPr/>
          <p:nvPr/>
        </p:nvSpPr>
        <p:spPr>
          <a:xfrm>
            <a:off x="1428838"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5" name="Rounded Rectangle 34"/>
          <p:cNvSpPr/>
          <p:nvPr/>
        </p:nvSpPr>
        <p:spPr>
          <a:xfrm>
            <a:off x="1696119"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6" name="Trapezoid 35"/>
          <p:cNvSpPr/>
          <p:nvPr/>
        </p:nvSpPr>
        <p:spPr>
          <a:xfrm>
            <a:off x="1660317"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7" name="Rounded Rectangle 36"/>
          <p:cNvSpPr/>
          <p:nvPr/>
        </p:nvSpPr>
        <p:spPr>
          <a:xfrm>
            <a:off x="1927598"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8" name="Trapezoid 37"/>
          <p:cNvSpPr/>
          <p:nvPr/>
        </p:nvSpPr>
        <p:spPr>
          <a:xfrm>
            <a:off x="1891797"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9" name="Rounded Rectangle 38"/>
          <p:cNvSpPr/>
          <p:nvPr/>
        </p:nvSpPr>
        <p:spPr>
          <a:xfrm>
            <a:off x="2159078"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0" name="Trapezoid 39"/>
          <p:cNvSpPr/>
          <p:nvPr/>
        </p:nvSpPr>
        <p:spPr>
          <a:xfrm>
            <a:off x="2123277"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1" name="Rounded Rectangle 40"/>
          <p:cNvSpPr/>
          <p:nvPr/>
        </p:nvSpPr>
        <p:spPr>
          <a:xfrm>
            <a:off x="2390557"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2" name="Trapezoid 41"/>
          <p:cNvSpPr/>
          <p:nvPr/>
        </p:nvSpPr>
        <p:spPr>
          <a:xfrm>
            <a:off x="2354756"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3" name="Rounded Rectangle 42"/>
          <p:cNvSpPr/>
          <p:nvPr/>
        </p:nvSpPr>
        <p:spPr>
          <a:xfrm>
            <a:off x="2622037"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4" name="Trapezoid 43"/>
          <p:cNvSpPr/>
          <p:nvPr/>
        </p:nvSpPr>
        <p:spPr>
          <a:xfrm>
            <a:off x="2586236"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5" name="Rounded Rectangle 44"/>
          <p:cNvSpPr/>
          <p:nvPr/>
        </p:nvSpPr>
        <p:spPr>
          <a:xfrm>
            <a:off x="538721"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6" name="Trapezoid 45"/>
          <p:cNvSpPr/>
          <p:nvPr/>
        </p:nvSpPr>
        <p:spPr>
          <a:xfrm>
            <a:off x="502920"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7" name="Rounded Rectangle 46"/>
          <p:cNvSpPr/>
          <p:nvPr/>
        </p:nvSpPr>
        <p:spPr>
          <a:xfrm>
            <a:off x="770200"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8" name="Trapezoid 47"/>
          <p:cNvSpPr/>
          <p:nvPr/>
        </p:nvSpPr>
        <p:spPr>
          <a:xfrm>
            <a:off x="734399"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9" name="Rounded Rectangle 48"/>
          <p:cNvSpPr/>
          <p:nvPr/>
        </p:nvSpPr>
        <p:spPr>
          <a:xfrm>
            <a:off x="1001680"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0" name="Trapezoid 49"/>
          <p:cNvSpPr/>
          <p:nvPr/>
        </p:nvSpPr>
        <p:spPr>
          <a:xfrm>
            <a:off x="965879"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1" name="Rounded Rectangle 50"/>
          <p:cNvSpPr/>
          <p:nvPr/>
        </p:nvSpPr>
        <p:spPr>
          <a:xfrm>
            <a:off x="1233159"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2" name="Trapezoid 51"/>
          <p:cNvSpPr/>
          <p:nvPr/>
        </p:nvSpPr>
        <p:spPr>
          <a:xfrm>
            <a:off x="1197358"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3" name="Rounded Rectangle 52"/>
          <p:cNvSpPr/>
          <p:nvPr/>
        </p:nvSpPr>
        <p:spPr>
          <a:xfrm>
            <a:off x="1464639"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4" name="Trapezoid 53"/>
          <p:cNvSpPr/>
          <p:nvPr/>
        </p:nvSpPr>
        <p:spPr>
          <a:xfrm>
            <a:off x="1428838"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5" name="Rounded Rectangle 54"/>
          <p:cNvSpPr/>
          <p:nvPr/>
        </p:nvSpPr>
        <p:spPr>
          <a:xfrm>
            <a:off x="1696119"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6" name="Trapezoid 55"/>
          <p:cNvSpPr/>
          <p:nvPr/>
        </p:nvSpPr>
        <p:spPr>
          <a:xfrm>
            <a:off x="1660317"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7" name="Rounded Rectangle 56"/>
          <p:cNvSpPr/>
          <p:nvPr/>
        </p:nvSpPr>
        <p:spPr>
          <a:xfrm>
            <a:off x="1927598"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8" name="Trapezoid 57"/>
          <p:cNvSpPr/>
          <p:nvPr/>
        </p:nvSpPr>
        <p:spPr>
          <a:xfrm>
            <a:off x="1891797"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9" name="Rounded Rectangle 58"/>
          <p:cNvSpPr/>
          <p:nvPr/>
        </p:nvSpPr>
        <p:spPr>
          <a:xfrm>
            <a:off x="2159078"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0" name="Trapezoid 59"/>
          <p:cNvSpPr/>
          <p:nvPr/>
        </p:nvSpPr>
        <p:spPr>
          <a:xfrm>
            <a:off x="2123277"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1" name="Rounded Rectangle 60"/>
          <p:cNvSpPr/>
          <p:nvPr/>
        </p:nvSpPr>
        <p:spPr>
          <a:xfrm>
            <a:off x="2390557"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2" name="Trapezoid 61"/>
          <p:cNvSpPr/>
          <p:nvPr/>
        </p:nvSpPr>
        <p:spPr>
          <a:xfrm>
            <a:off x="2354756"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3" name="Rounded Rectangle 62"/>
          <p:cNvSpPr/>
          <p:nvPr/>
        </p:nvSpPr>
        <p:spPr>
          <a:xfrm>
            <a:off x="2622037"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4" name="Trapezoid 63"/>
          <p:cNvSpPr/>
          <p:nvPr/>
        </p:nvSpPr>
        <p:spPr>
          <a:xfrm>
            <a:off x="2586236"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5" name="Rounded Rectangle 64"/>
          <p:cNvSpPr/>
          <p:nvPr/>
        </p:nvSpPr>
        <p:spPr>
          <a:xfrm>
            <a:off x="538721"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6" name="Trapezoid 65"/>
          <p:cNvSpPr/>
          <p:nvPr/>
        </p:nvSpPr>
        <p:spPr>
          <a:xfrm>
            <a:off x="502920"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7" name="Rounded Rectangle 66"/>
          <p:cNvSpPr/>
          <p:nvPr/>
        </p:nvSpPr>
        <p:spPr>
          <a:xfrm>
            <a:off x="770200"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8" name="Trapezoid 67"/>
          <p:cNvSpPr/>
          <p:nvPr/>
        </p:nvSpPr>
        <p:spPr>
          <a:xfrm>
            <a:off x="734399"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9" name="Rounded Rectangle 68"/>
          <p:cNvSpPr/>
          <p:nvPr/>
        </p:nvSpPr>
        <p:spPr>
          <a:xfrm>
            <a:off x="1001680"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0" name="Trapezoid 69"/>
          <p:cNvSpPr/>
          <p:nvPr/>
        </p:nvSpPr>
        <p:spPr>
          <a:xfrm>
            <a:off x="965879"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1" name="Rounded Rectangle 70"/>
          <p:cNvSpPr/>
          <p:nvPr/>
        </p:nvSpPr>
        <p:spPr>
          <a:xfrm>
            <a:off x="1233159"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2" name="Trapezoid 71"/>
          <p:cNvSpPr/>
          <p:nvPr/>
        </p:nvSpPr>
        <p:spPr>
          <a:xfrm>
            <a:off x="1197358"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3" name="Rounded Rectangle 72"/>
          <p:cNvSpPr/>
          <p:nvPr/>
        </p:nvSpPr>
        <p:spPr>
          <a:xfrm>
            <a:off x="1464639"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4" name="Trapezoid 73"/>
          <p:cNvSpPr/>
          <p:nvPr/>
        </p:nvSpPr>
        <p:spPr>
          <a:xfrm>
            <a:off x="1428838"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5" name="Rounded Rectangle 74"/>
          <p:cNvSpPr/>
          <p:nvPr/>
        </p:nvSpPr>
        <p:spPr>
          <a:xfrm>
            <a:off x="1696119"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6" name="Trapezoid 75"/>
          <p:cNvSpPr/>
          <p:nvPr/>
        </p:nvSpPr>
        <p:spPr>
          <a:xfrm>
            <a:off x="1660317"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7" name="Rounded Rectangle 76"/>
          <p:cNvSpPr/>
          <p:nvPr/>
        </p:nvSpPr>
        <p:spPr>
          <a:xfrm>
            <a:off x="1927598"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8" name="Trapezoid 77"/>
          <p:cNvSpPr/>
          <p:nvPr/>
        </p:nvSpPr>
        <p:spPr>
          <a:xfrm>
            <a:off x="1891797"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9" name="Rounded Rectangle 78"/>
          <p:cNvSpPr/>
          <p:nvPr/>
        </p:nvSpPr>
        <p:spPr>
          <a:xfrm>
            <a:off x="2159078"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0" name="Trapezoid 79"/>
          <p:cNvSpPr/>
          <p:nvPr/>
        </p:nvSpPr>
        <p:spPr>
          <a:xfrm>
            <a:off x="2123277"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1" name="Rounded Rectangle 80"/>
          <p:cNvSpPr/>
          <p:nvPr/>
        </p:nvSpPr>
        <p:spPr>
          <a:xfrm>
            <a:off x="2390557"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2" name="Trapezoid 81"/>
          <p:cNvSpPr/>
          <p:nvPr/>
        </p:nvSpPr>
        <p:spPr>
          <a:xfrm>
            <a:off x="2354756"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3" name="Rounded Rectangle 82"/>
          <p:cNvSpPr/>
          <p:nvPr/>
        </p:nvSpPr>
        <p:spPr>
          <a:xfrm>
            <a:off x="2622037"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4" name="Trapezoid 83"/>
          <p:cNvSpPr/>
          <p:nvPr/>
        </p:nvSpPr>
        <p:spPr>
          <a:xfrm>
            <a:off x="2586236"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5" name="Rounded Rectangle 84"/>
          <p:cNvSpPr/>
          <p:nvPr/>
        </p:nvSpPr>
        <p:spPr>
          <a:xfrm>
            <a:off x="538721"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6" name="Trapezoid 85"/>
          <p:cNvSpPr/>
          <p:nvPr/>
        </p:nvSpPr>
        <p:spPr>
          <a:xfrm>
            <a:off x="502920"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7" name="Rounded Rectangle 86"/>
          <p:cNvSpPr/>
          <p:nvPr/>
        </p:nvSpPr>
        <p:spPr>
          <a:xfrm>
            <a:off x="770200"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8" name="Trapezoid 87"/>
          <p:cNvSpPr/>
          <p:nvPr/>
        </p:nvSpPr>
        <p:spPr>
          <a:xfrm>
            <a:off x="734399"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9" name="Rounded Rectangle 88"/>
          <p:cNvSpPr/>
          <p:nvPr/>
        </p:nvSpPr>
        <p:spPr>
          <a:xfrm>
            <a:off x="1001680"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0" name="Trapezoid 89"/>
          <p:cNvSpPr/>
          <p:nvPr/>
        </p:nvSpPr>
        <p:spPr>
          <a:xfrm>
            <a:off x="965879"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1" name="Rounded Rectangle 90"/>
          <p:cNvSpPr/>
          <p:nvPr/>
        </p:nvSpPr>
        <p:spPr>
          <a:xfrm>
            <a:off x="1233159"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2" name="Trapezoid 91"/>
          <p:cNvSpPr/>
          <p:nvPr/>
        </p:nvSpPr>
        <p:spPr>
          <a:xfrm>
            <a:off x="1197358"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3" name="Rounded Rectangle 92"/>
          <p:cNvSpPr/>
          <p:nvPr/>
        </p:nvSpPr>
        <p:spPr>
          <a:xfrm>
            <a:off x="1464639"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4" name="Trapezoid 93"/>
          <p:cNvSpPr/>
          <p:nvPr/>
        </p:nvSpPr>
        <p:spPr>
          <a:xfrm>
            <a:off x="1428838"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5" name="Rounded Rectangle 94"/>
          <p:cNvSpPr/>
          <p:nvPr/>
        </p:nvSpPr>
        <p:spPr>
          <a:xfrm>
            <a:off x="1696119"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6" name="Trapezoid 95"/>
          <p:cNvSpPr/>
          <p:nvPr/>
        </p:nvSpPr>
        <p:spPr>
          <a:xfrm>
            <a:off x="1660317"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7" name="Rounded Rectangle 96"/>
          <p:cNvSpPr/>
          <p:nvPr/>
        </p:nvSpPr>
        <p:spPr>
          <a:xfrm>
            <a:off x="1927598"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8" name="Trapezoid 97"/>
          <p:cNvSpPr/>
          <p:nvPr/>
        </p:nvSpPr>
        <p:spPr>
          <a:xfrm>
            <a:off x="1891797"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9" name="Rounded Rectangle 98"/>
          <p:cNvSpPr/>
          <p:nvPr/>
        </p:nvSpPr>
        <p:spPr>
          <a:xfrm>
            <a:off x="2159078"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0" name="Trapezoid 99"/>
          <p:cNvSpPr/>
          <p:nvPr/>
        </p:nvSpPr>
        <p:spPr>
          <a:xfrm>
            <a:off x="2123277"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1" name="Rounded Rectangle 100"/>
          <p:cNvSpPr/>
          <p:nvPr/>
        </p:nvSpPr>
        <p:spPr>
          <a:xfrm>
            <a:off x="2390557"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2" name="Trapezoid 101"/>
          <p:cNvSpPr/>
          <p:nvPr/>
        </p:nvSpPr>
        <p:spPr>
          <a:xfrm>
            <a:off x="2354756"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3" name="Rounded Rectangle 102"/>
          <p:cNvSpPr/>
          <p:nvPr/>
        </p:nvSpPr>
        <p:spPr>
          <a:xfrm>
            <a:off x="2622037"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4" name="Trapezoid 103"/>
          <p:cNvSpPr/>
          <p:nvPr/>
        </p:nvSpPr>
        <p:spPr>
          <a:xfrm>
            <a:off x="2586236"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5" name="Rounded Rectangle 104"/>
          <p:cNvSpPr/>
          <p:nvPr/>
        </p:nvSpPr>
        <p:spPr>
          <a:xfrm>
            <a:off x="538721"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6" name="Trapezoid 105"/>
          <p:cNvSpPr/>
          <p:nvPr/>
        </p:nvSpPr>
        <p:spPr>
          <a:xfrm>
            <a:off x="502920"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7" name="Rounded Rectangle 106"/>
          <p:cNvSpPr/>
          <p:nvPr/>
        </p:nvSpPr>
        <p:spPr>
          <a:xfrm>
            <a:off x="770200"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8" name="Trapezoid 107"/>
          <p:cNvSpPr/>
          <p:nvPr/>
        </p:nvSpPr>
        <p:spPr>
          <a:xfrm>
            <a:off x="734399"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9" name="Rounded Rectangle 108"/>
          <p:cNvSpPr/>
          <p:nvPr/>
        </p:nvSpPr>
        <p:spPr>
          <a:xfrm>
            <a:off x="1001680"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0" name="Trapezoid 109"/>
          <p:cNvSpPr/>
          <p:nvPr/>
        </p:nvSpPr>
        <p:spPr>
          <a:xfrm>
            <a:off x="965879"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1" name="Rounded Rectangle 110"/>
          <p:cNvSpPr/>
          <p:nvPr/>
        </p:nvSpPr>
        <p:spPr>
          <a:xfrm>
            <a:off x="1233159"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2" name="Trapezoid 111"/>
          <p:cNvSpPr/>
          <p:nvPr/>
        </p:nvSpPr>
        <p:spPr>
          <a:xfrm>
            <a:off x="1197358"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3" name="Rounded Rectangle 112"/>
          <p:cNvSpPr/>
          <p:nvPr/>
        </p:nvSpPr>
        <p:spPr>
          <a:xfrm>
            <a:off x="1464639"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4" name="Trapezoid 113"/>
          <p:cNvSpPr/>
          <p:nvPr/>
        </p:nvSpPr>
        <p:spPr>
          <a:xfrm>
            <a:off x="1428838"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5" name="Rounded Rectangle 114"/>
          <p:cNvSpPr/>
          <p:nvPr/>
        </p:nvSpPr>
        <p:spPr>
          <a:xfrm>
            <a:off x="1696119"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6" name="Trapezoid 115"/>
          <p:cNvSpPr/>
          <p:nvPr/>
        </p:nvSpPr>
        <p:spPr>
          <a:xfrm>
            <a:off x="1660317"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7" name="Rounded Rectangle 116"/>
          <p:cNvSpPr/>
          <p:nvPr/>
        </p:nvSpPr>
        <p:spPr>
          <a:xfrm>
            <a:off x="1927598"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8" name="Trapezoid 117"/>
          <p:cNvSpPr/>
          <p:nvPr/>
        </p:nvSpPr>
        <p:spPr>
          <a:xfrm>
            <a:off x="1891797"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9" name="Rounded Rectangle 118"/>
          <p:cNvSpPr/>
          <p:nvPr/>
        </p:nvSpPr>
        <p:spPr>
          <a:xfrm>
            <a:off x="2159078"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0" name="Trapezoid 119"/>
          <p:cNvSpPr/>
          <p:nvPr/>
        </p:nvSpPr>
        <p:spPr>
          <a:xfrm>
            <a:off x="2123277"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1" name="Rounded Rectangle 120"/>
          <p:cNvSpPr/>
          <p:nvPr/>
        </p:nvSpPr>
        <p:spPr>
          <a:xfrm>
            <a:off x="2390557"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2" name="Trapezoid 121"/>
          <p:cNvSpPr/>
          <p:nvPr/>
        </p:nvSpPr>
        <p:spPr>
          <a:xfrm>
            <a:off x="2354756"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3" name="Rounded Rectangle 122"/>
          <p:cNvSpPr/>
          <p:nvPr/>
        </p:nvSpPr>
        <p:spPr>
          <a:xfrm>
            <a:off x="2622037"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4" name="Trapezoid 123"/>
          <p:cNvSpPr/>
          <p:nvPr/>
        </p:nvSpPr>
        <p:spPr>
          <a:xfrm>
            <a:off x="2586236"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5" name="Rounded Rectangle 124"/>
          <p:cNvSpPr/>
          <p:nvPr/>
        </p:nvSpPr>
        <p:spPr>
          <a:xfrm>
            <a:off x="538721"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6" name="Trapezoid 125"/>
          <p:cNvSpPr/>
          <p:nvPr/>
        </p:nvSpPr>
        <p:spPr>
          <a:xfrm>
            <a:off x="502920"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7" name="Rounded Rectangle 126"/>
          <p:cNvSpPr/>
          <p:nvPr/>
        </p:nvSpPr>
        <p:spPr>
          <a:xfrm>
            <a:off x="770200"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8" name="Trapezoid 127"/>
          <p:cNvSpPr/>
          <p:nvPr/>
        </p:nvSpPr>
        <p:spPr>
          <a:xfrm>
            <a:off x="734399"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9" name="Rounded Rectangle 128"/>
          <p:cNvSpPr/>
          <p:nvPr/>
        </p:nvSpPr>
        <p:spPr>
          <a:xfrm>
            <a:off x="1001680"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0" name="Trapezoid 129"/>
          <p:cNvSpPr/>
          <p:nvPr/>
        </p:nvSpPr>
        <p:spPr>
          <a:xfrm>
            <a:off x="965879"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1" name="Rounded Rectangle 130"/>
          <p:cNvSpPr/>
          <p:nvPr/>
        </p:nvSpPr>
        <p:spPr>
          <a:xfrm>
            <a:off x="1233159"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2" name="Trapezoid 131"/>
          <p:cNvSpPr/>
          <p:nvPr/>
        </p:nvSpPr>
        <p:spPr>
          <a:xfrm>
            <a:off x="1197358"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3" name="Rounded Rectangle 132"/>
          <p:cNvSpPr/>
          <p:nvPr/>
        </p:nvSpPr>
        <p:spPr>
          <a:xfrm>
            <a:off x="1464639"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4" name="Trapezoid 133"/>
          <p:cNvSpPr/>
          <p:nvPr/>
        </p:nvSpPr>
        <p:spPr>
          <a:xfrm>
            <a:off x="1428838"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5" name="Rounded Rectangle 134"/>
          <p:cNvSpPr/>
          <p:nvPr/>
        </p:nvSpPr>
        <p:spPr>
          <a:xfrm>
            <a:off x="1696119"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6" name="Trapezoid 135"/>
          <p:cNvSpPr/>
          <p:nvPr/>
        </p:nvSpPr>
        <p:spPr>
          <a:xfrm>
            <a:off x="1660317"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7" name="Rounded Rectangle 136"/>
          <p:cNvSpPr/>
          <p:nvPr/>
        </p:nvSpPr>
        <p:spPr>
          <a:xfrm>
            <a:off x="1927598"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8" name="Trapezoid 137"/>
          <p:cNvSpPr/>
          <p:nvPr/>
        </p:nvSpPr>
        <p:spPr>
          <a:xfrm>
            <a:off x="1891797"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9" name="Rounded Rectangle 138"/>
          <p:cNvSpPr/>
          <p:nvPr/>
        </p:nvSpPr>
        <p:spPr>
          <a:xfrm>
            <a:off x="2159078"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0" name="Trapezoid 139"/>
          <p:cNvSpPr/>
          <p:nvPr/>
        </p:nvSpPr>
        <p:spPr>
          <a:xfrm>
            <a:off x="2123277"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1" name="Rounded Rectangle 140"/>
          <p:cNvSpPr/>
          <p:nvPr/>
        </p:nvSpPr>
        <p:spPr>
          <a:xfrm>
            <a:off x="2390557"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2" name="Trapezoid 141"/>
          <p:cNvSpPr/>
          <p:nvPr/>
        </p:nvSpPr>
        <p:spPr>
          <a:xfrm>
            <a:off x="2354756"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3" name="Rounded Rectangle 142"/>
          <p:cNvSpPr/>
          <p:nvPr/>
        </p:nvSpPr>
        <p:spPr>
          <a:xfrm>
            <a:off x="2622037"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4" name="Trapezoid 143"/>
          <p:cNvSpPr/>
          <p:nvPr/>
        </p:nvSpPr>
        <p:spPr>
          <a:xfrm>
            <a:off x="2586236"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5" name="Rounded Rectangle 144"/>
          <p:cNvSpPr/>
          <p:nvPr/>
        </p:nvSpPr>
        <p:spPr>
          <a:xfrm>
            <a:off x="538721"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6" name="Trapezoid 145"/>
          <p:cNvSpPr/>
          <p:nvPr/>
        </p:nvSpPr>
        <p:spPr>
          <a:xfrm>
            <a:off x="502920"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7" name="Rounded Rectangle 146"/>
          <p:cNvSpPr/>
          <p:nvPr/>
        </p:nvSpPr>
        <p:spPr>
          <a:xfrm>
            <a:off x="770200"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8" name="Trapezoid 147"/>
          <p:cNvSpPr/>
          <p:nvPr/>
        </p:nvSpPr>
        <p:spPr>
          <a:xfrm>
            <a:off x="734399"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9" name="Rounded Rectangle 148"/>
          <p:cNvSpPr/>
          <p:nvPr/>
        </p:nvSpPr>
        <p:spPr>
          <a:xfrm>
            <a:off x="1001680"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0" name="Trapezoid 149"/>
          <p:cNvSpPr/>
          <p:nvPr/>
        </p:nvSpPr>
        <p:spPr>
          <a:xfrm>
            <a:off x="965879"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1" name="Rounded Rectangle 150"/>
          <p:cNvSpPr/>
          <p:nvPr/>
        </p:nvSpPr>
        <p:spPr>
          <a:xfrm>
            <a:off x="1233159"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2" name="Trapezoid 151"/>
          <p:cNvSpPr/>
          <p:nvPr/>
        </p:nvSpPr>
        <p:spPr>
          <a:xfrm>
            <a:off x="1197358"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3" name="Rounded Rectangle 152"/>
          <p:cNvSpPr/>
          <p:nvPr/>
        </p:nvSpPr>
        <p:spPr>
          <a:xfrm>
            <a:off x="1464639"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4" name="Trapezoid 153"/>
          <p:cNvSpPr/>
          <p:nvPr/>
        </p:nvSpPr>
        <p:spPr>
          <a:xfrm>
            <a:off x="1428838"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5" name="Rounded Rectangle 154"/>
          <p:cNvSpPr/>
          <p:nvPr/>
        </p:nvSpPr>
        <p:spPr>
          <a:xfrm>
            <a:off x="1696119"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6" name="Trapezoid 155"/>
          <p:cNvSpPr/>
          <p:nvPr/>
        </p:nvSpPr>
        <p:spPr>
          <a:xfrm>
            <a:off x="1660317"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7" name="Rounded Rectangle 156"/>
          <p:cNvSpPr/>
          <p:nvPr/>
        </p:nvSpPr>
        <p:spPr>
          <a:xfrm>
            <a:off x="1927598"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8" name="Trapezoid 157"/>
          <p:cNvSpPr/>
          <p:nvPr/>
        </p:nvSpPr>
        <p:spPr>
          <a:xfrm>
            <a:off x="1891797"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9" name="Rounded Rectangle 158"/>
          <p:cNvSpPr/>
          <p:nvPr/>
        </p:nvSpPr>
        <p:spPr>
          <a:xfrm>
            <a:off x="2159078"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0" name="Trapezoid 159"/>
          <p:cNvSpPr/>
          <p:nvPr/>
        </p:nvSpPr>
        <p:spPr>
          <a:xfrm>
            <a:off x="2123277"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1" name="Rounded Rectangle 160"/>
          <p:cNvSpPr/>
          <p:nvPr/>
        </p:nvSpPr>
        <p:spPr>
          <a:xfrm>
            <a:off x="2390557"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2" name="Trapezoid 161"/>
          <p:cNvSpPr/>
          <p:nvPr/>
        </p:nvSpPr>
        <p:spPr>
          <a:xfrm>
            <a:off x="2354756"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3" name="Rounded Rectangle 162"/>
          <p:cNvSpPr/>
          <p:nvPr/>
        </p:nvSpPr>
        <p:spPr>
          <a:xfrm>
            <a:off x="2622037"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4" name="Trapezoid 163"/>
          <p:cNvSpPr/>
          <p:nvPr/>
        </p:nvSpPr>
        <p:spPr>
          <a:xfrm>
            <a:off x="2586236"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5" name="Rounded Rectangle 164"/>
          <p:cNvSpPr/>
          <p:nvPr/>
        </p:nvSpPr>
        <p:spPr>
          <a:xfrm>
            <a:off x="538721"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6" name="Trapezoid 165"/>
          <p:cNvSpPr/>
          <p:nvPr/>
        </p:nvSpPr>
        <p:spPr>
          <a:xfrm>
            <a:off x="502920"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7" name="Rounded Rectangle 166"/>
          <p:cNvSpPr/>
          <p:nvPr/>
        </p:nvSpPr>
        <p:spPr>
          <a:xfrm>
            <a:off x="770200"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8" name="Trapezoid 167"/>
          <p:cNvSpPr/>
          <p:nvPr/>
        </p:nvSpPr>
        <p:spPr>
          <a:xfrm>
            <a:off x="734399"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9" name="Rounded Rectangle 168"/>
          <p:cNvSpPr/>
          <p:nvPr/>
        </p:nvSpPr>
        <p:spPr>
          <a:xfrm>
            <a:off x="1001680"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0" name="Trapezoid 169"/>
          <p:cNvSpPr/>
          <p:nvPr/>
        </p:nvSpPr>
        <p:spPr>
          <a:xfrm>
            <a:off x="965879"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1" name="Rounded Rectangle 170"/>
          <p:cNvSpPr/>
          <p:nvPr/>
        </p:nvSpPr>
        <p:spPr>
          <a:xfrm>
            <a:off x="1233159"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2" name="Trapezoid 171"/>
          <p:cNvSpPr/>
          <p:nvPr/>
        </p:nvSpPr>
        <p:spPr>
          <a:xfrm>
            <a:off x="1197358"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3" name="Rounded Rectangle 172"/>
          <p:cNvSpPr/>
          <p:nvPr/>
        </p:nvSpPr>
        <p:spPr>
          <a:xfrm>
            <a:off x="1464639"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4" name="Trapezoid 173"/>
          <p:cNvSpPr/>
          <p:nvPr/>
        </p:nvSpPr>
        <p:spPr>
          <a:xfrm>
            <a:off x="1428838"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5" name="Rounded Rectangle 174"/>
          <p:cNvSpPr/>
          <p:nvPr/>
        </p:nvSpPr>
        <p:spPr>
          <a:xfrm>
            <a:off x="1696119"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6" name="Trapezoid 175"/>
          <p:cNvSpPr/>
          <p:nvPr/>
        </p:nvSpPr>
        <p:spPr>
          <a:xfrm>
            <a:off x="1660317"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7" name="Rounded Rectangle 176"/>
          <p:cNvSpPr/>
          <p:nvPr/>
        </p:nvSpPr>
        <p:spPr>
          <a:xfrm>
            <a:off x="1927598"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8" name="Trapezoid 177"/>
          <p:cNvSpPr/>
          <p:nvPr/>
        </p:nvSpPr>
        <p:spPr>
          <a:xfrm>
            <a:off x="1891797"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9" name="Rounded Rectangle 178"/>
          <p:cNvSpPr/>
          <p:nvPr/>
        </p:nvSpPr>
        <p:spPr>
          <a:xfrm>
            <a:off x="2159078"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0" name="Trapezoid 179"/>
          <p:cNvSpPr/>
          <p:nvPr/>
        </p:nvSpPr>
        <p:spPr>
          <a:xfrm>
            <a:off x="2123277"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1" name="Rounded Rectangle 180"/>
          <p:cNvSpPr/>
          <p:nvPr/>
        </p:nvSpPr>
        <p:spPr>
          <a:xfrm>
            <a:off x="2390557"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2" name="Trapezoid 181"/>
          <p:cNvSpPr/>
          <p:nvPr/>
        </p:nvSpPr>
        <p:spPr>
          <a:xfrm>
            <a:off x="2354756"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3" name="Rounded Rectangle 182"/>
          <p:cNvSpPr/>
          <p:nvPr/>
        </p:nvSpPr>
        <p:spPr>
          <a:xfrm>
            <a:off x="2622037"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4" name="Trapezoid 183"/>
          <p:cNvSpPr/>
          <p:nvPr/>
        </p:nvSpPr>
        <p:spPr>
          <a:xfrm>
            <a:off x="2586236"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5" name="Rounded Rectangle 184"/>
          <p:cNvSpPr/>
          <p:nvPr/>
        </p:nvSpPr>
        <p:spPr>
          <a:xfrm>
            <a:off x="538721"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6" name="Trapezoid 185"/>
          <p:cNvSpPr/>
          <p:nvPr/>
        </p:nvSpPr>
        <p:spPr>
          <a:xfrm>
            <a:off x="502920"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7" name="Rounded Rectangle 186"/>
          <p:cNvSpPr/>
          <p:nvPr/>
        </p:nvSpPr>
        <p:spPr>
          <a:xfrm>
            <a:off x="770200"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8" name="Trapezoid 187"/>
          <p:cNvSpPr/>
          <p:nvPr/>
        </p:nvSpPr>
        <p:spPr>
          <a:xfrm>
            <a:off x="734399"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9" name="Rounded Rectangle 188"/>
          <p:cNvSpPr/>
          <p:nvPr/>
        </p:nvSpPr>
        <p:spPr>
          <a:xfrm>
            <a:off x="1001680"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0" name="Trapezoid 189"/>
          <p:cNvSpPr/>
          <p:nvPr/>
        </p:nvSpPr>
        <p:spPr>
          <a:xfrm>
            <a:off x="965879"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1" name="Rounded Rectangle 190"/>
          <p:cNvSpPr/>
          <p:nvPr/>
        </p:nvSpPr>
        <p:spPr>
          <a:xfrm>
            <a:off x="1233159"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2" name="Trapezoid 191"/>
          <p:cNvSpPr/>
          <p:nvPr/>
        </p:nvSpPr>
        <p:spPr>
          <a:xfrm>
            <a:off x="1197358"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3" name="Rounded Rectangle 192"/>
          <p:cNvSpPr/>
          <p:nvPr/>
        </p:nvSpPr>
        <p:spPr>
          <a:xfrm>
            <a:off x="1464639"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4" name="Trapezoid 193"/>
          <p:cNvSpPr/>
          <p:nvPr/>
        </p:nvSpPr>
        <p:spPr>
          <a:xfrm>
            <a:off x="1428838"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5" name="Rounded Rectangle 194"/>
          <p:cNvSpPr/>
          <p:nvPr/>
        </p:nvSpPr>
        <p:spPr>
          <a:xfrm>
            <a:off x="1696119"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6" name="Trapezoid 195"/>
          <p:cNvSpPr/>
          <p:nvPr/>
        </p:nvSpPr>
        <p:spPr>
          <a:xfrm>
            <a:off x="1660317"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7" name="Rounded Rectangle 196"/>
          <p:cNvSpPr/>
          <p:nvPr/>
        </p:nvSpPr>
        <p:spPr>
          <a:xfrm>
            <a:off x="1927598"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8" name="Trapezoid 197"/>
          <p:cNvSpPr/>
          <p:nvPr/>
        </p:nvSpPr>
        <p:spPr>
          <a:xfrm>
            <a:off x="1891797"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9" name="Rounded Rectangle 198"/>
          <p:cNvSpPr/>
          <p:nvPr/>
        </p:nvSpPr>
        <p:spPr>
          <a:xfrm>
            <a:off x="2159078"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0" name="Trapezoid 199"/>
          <p:cNvSpPr/>
          <p:nvPr/>
        </p:nvSpPr>
        <p:spPr>
          <a:xfrm>
            <a:off x="2123277"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01" name="Rounded Rectangle 200"/>
          <p:cNvSpPr/>
          <p:nvPr/>
        </p:nvSpPr>
        <p:spPr>
          <a:xfrm>
            <a:off x="2390557"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2" name="Trapezoid 201"/>
          <p:cNvSpPr/>
          <p:nvPr/>
        </p:nvSpPr>
        <p:spPr>
          <a:xfrm>
            <a:off x="2354756"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03" name="Rounded Rectangle 202"/>
          <p:cNvSpPr/>
          <p:nvPr/>
        </p:nvSpPr>
        <p:spPr>
          <a:xfrm>
            <a:off x="2622037"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4" name="Trapezoid 203"/>
          <p:cNvSpPr/>
          <p:nvPr/>
        </p:nvSpPr>
        <p:spPr>
          <a:xfrm>
            <a:off x="2586236"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05" name="Rounded Rectangle 204"/>
          <p:cNvSpPr/>
          <p:nvPr/>
        </p:nvSpPr>
        <p:spPr>
          <a:xfrm>
            <a:off x="3219109" y="2726303"/>
            <a:ext cx="130418" cy="130418"/>
          </a:xfrm>
          <a:prstGeom prst="roundRect">
            <a:avLst>
              <a:gd name="adj" fmla="val 50000"/>
            </a:avLst>
          </a:prstGeom>
          <a:solidFill>
            <a:srgbClr val="F0AB00"/>
          </a:solidFill>
          <a:ln>
            <a:noFill/>
          </a:ln>
          <a:effectLst/>
        </p:spPr>
        <p:txBody>
          <a:bodyPr rtlCol="0" anchor="ctr"/>
          <a:lstStyle/>
          <a:p>
            <a:pPr algn="ctr"/>
          </a:p>
        </p:txBody>
      </p:sp>
      <p:sp>
        <p:nvSpPr>
          <p:cNvPr id="206" name="Trapezoid 205"/>
          <p:cNvSpPr/>
          <p:nvPr/>
        </p:nvSpPr>
        <p:spPr>
          <a:xfrm>
            <a:off x="3165407" y="2875901"/>
            <a:ext cx="237821" cy="233985"/>
          </a:xfrm>
          <a:prstGeom prst="trapezoid">
            <a:avLst>
              <a:gd name="adj" fmla="val 20000"/>
            </a:avLst>
          </a:prstGeom>
          <a:solidFill>
            <a:srgbClr val="F0AB00"/>
          </a:solidFill>
          <a:ln>
            <a:noFill/>
          </a:ln>
          <a:effectLst/>
        </p:spPr>
        <p:txBody>
          <a:bodyPr rtlCol="0" anchor="ctr"/>
          <a:lstStyle/>
          <a:p>
            <a:pPr algn="ctr"/>
          </a:p>
        </p:txBody>
      </p:sp>
      <p:sp>
        <p:nvSpPr>
          <p:cNvPr id="207" name="TextBox 206"/>
          <p:cNvSpPr txBox="1"/>
          <p:nvPr/>
        </p:nvSpPr>
        <p:spPr>
          <a:xfrm>
            <a:off x="3567821" y="2726303"/>
            <a:ext cx="8120953" cy="328181"/>
          </a:xfrm>
          <a:prstGeom prst="rect">
            <a:avLst/>
          </a:prstGeom>
          <a:noFill/>
        </p:spPr>
        <p:txBody>
          <a:bodyPr wrap="square" lIns="0" rIns="0" tIns="0" bIns="0" anchor="ctr">
            <a:spAutoFit/>
          </a:bodyPr>
          <a:lstStyle/>
          <a:p>
            <a:pPr algn="l">
              <a:lnSpc>
                <a:spcPct val="116000"/>
              </a:lnSpc>
            </a:pPr>
            <a:r>
              <a:rPr sz="1800" b="1" i="0">
                <a:solidFill>
                  <a:srgbClr val="21295C"/>
                </a:solidFill>
                <a:latin typeface="Arial"/>
              </a:rPr>
              <a:t>5 из 100</a:t>
            </a:r>
            <a:r>
              <a:rPr sz="1400" b="0" i="0">
                <a:solidFill>
                  <a:srgbClr val="21295C"/>
                </a:solidFill>
                <a:latin typeface="Arial"/>
              </a:rPr>
              <a:t>  нажимали кнопку — генерировали</a:t>
            </a:r>
          </a:p>
        </p:txBody>
      </p:sp>
      <p:sp>
        <p:nvSpPr>
          <p:cNvPr id="208" name="Rounded Rectangle 207"/>
          <p:cNvSpPr/>
          <p:nvPr/>
        </p:nvSpPr>
        <p:spPr>
          <a:xfrm>
            <a:off x="3219109" y="3428731"/>
            <a:ext cx="130418" cy="130418"/>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9" name="Trapezoid 208"/>
          <p:cNvSpPr/>
          <p:nvPr/>
        </p:nvSpPr>
        <p:spPr>
          <a:xfrm>
            <a:off x="3165407" y="3578328"/>
            <a:ext cx="237821" cy="233985"/>
          </a:xfrm>
          <a:prstGeom prst="trapezoid">
            <a:avLst>
              <a:gd name="adj" fmla="val 20000"/>
            </a:avLst>
          </a:prstGeom>
          <a:noFill/>
          <a:ln w="12700">
            <a:solidFill>
              <a:srgbClr val="1C7293"/>
            </a:solidFill>
          </a:ln>
          <a:effectLst/>
        </p:spPr>
        <p:txBody>
          <a:bodyPr rtlCol="0" anchor="ctr"/>
          <a:lstStyle/>
          <a:p>
            <a:pPr algn="ctr"/>
          </a:p>
        </p:txBody>
      </p:sp>
      <p:sp>
        <p:nvSpPr>
          <p:cNvPr id="210" name="TextBox 209"/>
          <p:cNvSpPr txBox="1"/>
          <p:nvPr/>
        </p:nvSpPr>
        <p:spPr>
          <a:xfrm>
            <a:off x="3567821" y="3328805"/>
            <a:ext cx="8120953" cy="583434"/>
          </a:xfrm>
          <a:prstGeom prst="rect">
            <a:avLst/>
          </a:prstGeom>
          <a:noFill/>
        </p:spPr>
        <p:txBody>
          <a:bodyPr wrap="square" lIns="0" rIns="0" tIns="0" bIns="0" anchor="ctr">
            <a:spAutoFit/>
          </a:bodyPr>
          <a:lstStyle/>
          <a:p>
            <a:pPr algn="l">
              <a:lnSpc>
                <a:spcPct val="116000"/>
              </a:lnSpc>
            </a:pPr>
            <a:r>
              <a:rPr sz="1800" b="1" i="0">
                <a:solidFill>
                  <a:srgbClr val="21295C"/>
                </a:solidFill>
                <a:latin typeface="Arial"/>
              </a:rPr>
              <a:t>95 из 100</a:t>
            </a:r>
            <a:r>
              <a:rPr sz="1400" b="0" i="0">
                <a:solidFill>
                  <a:srgbClr val="21295C"/>
                </a:solidFill>
                <a:latin typeface="Arial"/>
              </a:rPr>
              <a:t>  отбирали, сводили, проверяли права — столько же, сколько в классической кампании прежних лет</a:t>
            </a:r>
          </a:p>
        </p:txBody>
      </p:sp>
      <p:sp>
        <p:nvSpPr>
          <p:cNvPr id="211" name="Rounded Rectangle 210"/>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2" name="Rounded Rectangle 211"/>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13" name="TextBox 212"/>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Проверяйте такие сообщения одним вопросом: названо число исполнителей операции или число участников работы?</a:t>
            </a:r>
          </a:p>
        </p:txBody>
      </p:sp>
      <p:sp>
        <p:nvSpPr>
          <p:cNvPr id="214" name="Rectangle 21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Две контрольные точки дорогого производства</a:t>
            </a:r>
          </a:p>
        </p:txBody>
      </p:sp>
      <p:sp>
        <p:nvSpPr>
          <p:cNvPr id="4" name="Rounded Rectangle 3"/>
          <p:cNvSpPr/>
          <p:nvPr/>
        </p:nvSpPr>
        <p:spPr>
          <a:xfrm>
            <a:off x="502920" y="1335024"/>
            <a:ext cx="2673019" cy="2612394"/>
          </a:xfrm>
          <a:prstGeom prst="roundRect">
            <a:avLst>
              <a:gd name="adj" fmla="val 11667"/>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ТОЙ ЖЕ ОПЕРАЦИИ НАЗВАНА ХУДОЖНИКОМ ПРЯМО</a:t>
            </a:r>
          </a:p>
        </p:txBody>
      </p:sp>
      <p:sp>
        <p:nvSpPr>
          <p:cNvPr id="6" name="TextBox 5"/>
          <p:cNvSpPr txBox="1"/>
          <p:nvPr/>
        </p:nvSpPr>
        <p:spPr>
          <a:xfrm>
            <a:off x="640080"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полдня на один план</a:t>
            </a:r>
          </a:p>
        </p:txBody>
      </p:sp>
      <p:sp>
        <p:nvSpPr>
          <p:cNvPr id="7" name="TextBox 6"/>
          <p:cNvSpPr txBox="1"/>
          <p:nvPr/>
        </p:nvSpPr>
        <p:spPr>
          <a:xfrm>
            <a:off x="640080" y="2957740"/>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покадровое вырезание персонажей из кадра — «очень медленный и мучительный процесс»</a:t>
            </a:r>
          </a:p>
        </p:txBody>
      </p:sp>
      <p:sp>
        <p:nvSpPr>
          <p:cNvPr id="8" name="Rounded Rectangle 7"/>
          <p:cNvSpPr/>
          <p:nvPr/>
        </p:nvSpPr>
        <p:spPr>
          <a:xfrm>
            <a:off x="3340531" y="1335024"/>
            <a:ext cx="2673019" cy="2612394"/>
          </a:xfrm>
          <a:prstGeom prst="roundRect">
            <a:avLst>
              <a:gd name="adj" fmla="val 11667"/>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ИНСТРУМЕНТОМ ВЫДЕЛЕНИЯ ФОНА</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минуты</a:t>
            </a:r>
          </a:p>
        </p:txBody>
      </p:sp>
      <p:sp>
        <p:nvSpPr>
          <p:cNvPr id="11" name="TextBox 10"/>
          <p:cNvSpPr txBox="1"/>
          <p:nvPr/>
        </p:nvSpPr>
        <p:spPr>
          <a:xfrm>
            <a:off x="3477691" y="235984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«вырезаю персонажей и чисто кладу на подложку»; промежуточный шаг, результат доводился вручную</a:t>
            </a:r>
          </a:p>
        </p:txBody>
      </p:sp>
      <p:sp>
        <p:nvSpPr>
          <p:cNvPr id="12" name="Rounded Rectangle 11"/>
          <p:cNvSpPr/>
          <p:nvPr/>
        </p:nvSpPr>
        <p:spPr>
          <a:xfrm>
            <a:off x="6178143" y="1335024"/>
            <a:ext cx="2673019" cy="2612394"/>
          </a:xfrm>
          <a:prstGeom prst="roundRect">
            <a:avLst>
              <a:gd name="adj" fmla="val 11667"/>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«ИРЛАНДЕЦ», 2019</a:t>
            </a:r>
          </a:p>
        </p:txBody>
      </p:sp>
      <p:sp>
        <p:nvSpPr>
          <p:cNvPr id="14" name="TextBox 13"/>
          <p:cNvSpPr txBox="1"/>
          <p:nvPr/>
        </p:nvSpPr>
        <p:spPr>
          <a:xfrm>
            <a:off x="6315303"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бюджет 125 → 159 млн $</a:t>
            </a:r>
          </a:p>
        </p:txBody>
      </p:sp>
      <p:sp>
        <p:nvSpPr>
          <p:cNvPr id="15" name="TextBox 14"/>
          <p:cNvSpPr txBox="1"/>
          <p:nvPr/>
        </p:nvSpPr>
        <p:spPr>
          <a:xfrm>
            <a:off x="6315303" y="2542797"/>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около 1 750 планов цифрового омоложения, крупнейшее применение приёма в игровом кино на тот момент; подготовка началась за четыре года до выхода</a:t>
            </a:r>
          </a:p>
        </p:txBody>
      </p:sp>
      <p:sp>
        <p:nvSpPr>
          <p:cNvPr id="16" name="Rounded Rectangle 15"/>
          <p:cNvSpPr/>
          <p:nvPr/>
        </p:nvSpPr>
        <p:spPr>
          <a:xfrm>
            <a:off x="9015755" y="1335024"/>
            <a:ext cx="2673019" cy="2612394"/>
          </a:xfrm>
          <a:prstGeom prst="roundRect">
            <a:avLst>
              <a:gd name="adj" fmla="val 11667"/>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ПРАВИЛЬНАЯ ЕДИНИЦА СЧЁТА, НАЗВАННАЯ СУПЕРВАЙЗЕРОМ ЭФФЕКТОВ</a:t>
            </a:r>
          </a:p>
        </p:txBody>
      </p:sp>
      <p:sp>
        <p:nvSpPr>
          <p:cNvPr id="18" name="TextBox 17"/>
          <p:cNvSpPr txBox="1"/>
          <p:nvPr/>
        </p:nvSpPr>
        <p:spPr>
          <a:xfrm>
            <a:off x="9152915" y="2140317"/>
            <a:ext cx="239869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в пересчёте на план — столько же, сколько в обычном фильме с эффектами</a:t>
            </a:r>
          </a:p>
        </p:txBody>
      </p:sp>
      <p:sp>
        <p:nvSpPr>
          <p:cNvPr id="19" name="TextBox 18"/>
          <p:cNvSpPr txBox="1"/>
          <p:nvPr/>
        </p:nvSpPr>
        <p:spPr>
          <a:xfrm>
            <a:off x="9152915" y="299169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дорого выходит потому, что планов здесь на два фильма</a:t>
            </a:r>
          </a:p>
        </p:txBody>
      </p:sp>
      <p:sp>
        <p:nvSpPr>
          <p:cNvPr id="20" name="Rectangle 19"/>
          <p:cNvSpPr/>
          <p:nvPr/>
        </p:nvSpPr>
        <p:spPr>
          <a:xfrm>
            <a:off x="754380" y="4801272"/>
            <a:ext cx="10682935" cy="50292"/>
          </a:xfrm>
          <a:prstGeom prst="rect">
            <a:avLst/>
          </a:prstGeom>
          <a:solidFill>
            <a:srgbClr val="1C7293"/>
          </a:solidFill>
          <a:ln>
            <a:noFill/>
          </a:ln>
          <a:effectLst/>
        </p:spPr>
        <p:txBody>
          <a:bodyPr rtlCol="0" anchor="ctr"/>
          <a:lstStyle/>
          <a:p>
            <a:pPr algn="ctr"/>
          </a:p>
        </p:txBody>
      </p:sp>
      <p:sp>
        <p:nvSpPr>
          <p:cNvPr id="21" name="TextBox 20"/>
          <p:cNvSpPr txBox="1"/>
          <p:nvPr/>
        </p:nvSpPr>
        <p:spPr>
          <a:xfrm>
            <a:off x="388620" y="488814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22" name="TextBox 21"/>
          <p:cNvSpPr txBox="1"/>
          <p:nvPr/>
        </p:nvSpPr>
        <p:spPr>
          <a:xfrm>
            <a:off x="11071555" y="488814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1900</a:t>
            </a:r>
          </a:p>
        </p:txBody>
      </p:sp>
      <p:sp>
        <p:nvSpPr>
          <p:cNvPr id="23" name="Rectangle 22"/>
          <p:cNvSpPr/>
          <p:nvPr/>
        </p:nvSpPr>
        <p:spPr>
          <a:xfrm>
            <a:off x="3659645" y="4636680"/>
            <a:ext cx="50292" cy="16459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888327" y="4130298"/>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500</a:t>
            </a:r>
          </a:p>
          <a:p>
            <a:pPr algn="ctr">
              <a:lnSpc>
                <a:spcPct val="110000"/>
              </a:lnSpc>
            </a:pPr>
            <a:r>
              <a:rPr sz="1200" b="0" i="0">
                <a:solidFill>
                  <a:srgbClr val="21295C"/>
                </a:solidFill>
                <a:latin typeface="Arial"/>
              </a:rPr>
              <a:t>Фильм — лауреат «Оскара»</a:t>
            </a:r>
          </a:p>
        </p:txBody>
      </p:sp>
      <p:sp>
        <p:nvSpPr>
          <p:cNvPr id="25" name="Rectangle 24"/>
          <p:cNvSpPr/>
          <p:nvPr/>
        </p:nvSpPr>
        <p:spPr>
          <a:xfrm>
            <a:off x="10357023" y="4851564"/>
            <a:ext cx="50292" cy="1645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7585705" y="5107596"/>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1 750</a:t>
            </a:r>
          </a:p>
          <a:p>
            <a:pPr algn="ctr">
              <a:lnSpc>
                <a:spcPct val="110000"/>
              </a:lnSpc>
            </a:pPr>
            <a:r>
              <a:rPr sz="1200" b="0" i="0">
                <a:solidFill>
                  <a:srgbClr val="21295C"/>
                </a:solidFill>
                <a:latin typeface="Arial"/>
              </a:rPr>
              <a:t>«Ирландец», 2019</a:t>
            </a:r>
          </a:p>
        </p:txBody>
      </p:sp>
      <p:sp>
        <p:nvSpPr>
          <p:cNvPr id="27" name="TextBox 26"/>
          <p:cNvSpPr txBox="1"/>
          <p:nvPr/>
        </p:nvSpPr>
        <p:spPr>
          <a:xfrm>
            <a:off x="502920" y="5632267"/>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планов с эффектами в одном фильме · у фильма-лауреата более 80 % из примерно 500 планов закрыла независимая студия из пяти человек</a:t>
            </a:r>
          </a:p>
        </p:txBody>
      </p:sp>
      <p:sp>
        <p:nvSpPr>
          <p:cNvPr id="28" name="TextBox 27"/>
          <p:cNvSpPr txBox="1"/>
          <p:nvPr/>
        </p:nvSpPr>
        <p:spPr>
          <a:xfrm>
            <a:off x="502920" y="5924875"/>
            <a:ext cx="11185855" cy="430031"/>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относительно этих двух масштабов читаются все числа раздела: что в генеративном случае дёшево, а что дорого, имеет смысл только рядом с ними</a:t>
            </a: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Variety, 2023; материалы о производстве «Ирландца»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порога, пройденных за два года</a:t>
            </a:r>
          </a:p>
        </p:txBody>
      </p:sp>
      <p:sp>
        <p:nvSpPr>
          <p:cNvPr id="4" name="Rounded Rectangle 3"/>
          <p:cNvSpPr/>
          <p:nvPr/>
        </p:nvSpPr>
        <p:spPr>
          <a:xfrm>
            <a:off x="502920"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ОМОЛОЖЕНИЕ НА ПЛОЩАДКЕ</a:t>
            </a:r>
          </a:p>
        </p:txBody>
      </p:sp>
      <p:sp>
        <p:nvSpPr>
          <p:cNvPr id="6" name="TextBox 5"/>
          <p:cNvSpPr txBox="1"/>
          <p:nvPr/>
        </p:nvSpPr>
        <p:spPr>
          <a:xfrm>
            <a:off x="640080" y="1932846"/>
            <a:ext cx="1831177"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бюджет фильма 45 млн $</a:t>
            </a:r>
          </a:p>
        </p:txBody>
      </p:sp>
      <p:sp>
        <p:nvSpPr>
          <p:cNvPr id="7" name="TextBox 6"/>
          <p:cNvSpPr txBox="1"/>
          <p:nvPr/>
        </p:nvSpPr>
        <p:spPr>
          <a:xfrm>
            <a:off x="640080" y="2546569"/>
            <a:ext cx="1831177" cy="253492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меньше, чем один только рост бюджета «Ирландца» со 125 до 159 млн; режиссёр и актёр впервые видели результат во время съёмки. Вторая половина обязательна: фильм разгромлен критикой, часть претензий — к «пластиковым» лицам</a:t>
            </a:r>
          </a:p>
        </p:txBody>
      </p:sp>
      <p:sp>
        <p:nvSpPr>
          <p:cNvPr id="8" name="Rounded Rectangle 7"/>
          <p:cNvSpPr/>
          <p:nvPr/>
        </p:nvSpPr>
        <p:spPr>
          <a:xfrm>
            <a:off x="2773009" y="1335024"/>
            <a:ext cx="2105497" cy="3883627"/>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910169"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ПЕРВАЯ ГЕНЕРАТИВНАЯ СЦЕНА В ФИНАЛЬНОМ МОНТАЖЕ</a:t>
            </a:r>
          </a:p>
        </p:txBody>
      </p:sp>
      <p:sp>
        <p:nvSpPr>
          <p:cNvPr id="10" name="TextBox 9"/>
          <p:cNvSpPr txBox="1"/>
          <p:nvPr/>
        </p:nvSpPr>
        <p:spPr>
          <a:xfrm>
            <a:off x="2910169" y="2347789"/>
            <a:ext cx="1831177"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заявлено «в десять раз быстрее»</a:t>
            </a:r>
          </a:p>
        </p:txBody>
      </p:sp>
      <p:sp>
        <p:nvSpPr>
          <p:cNvPr id="11" name="TextBox 10"/>
          <p:cNvSpPr txBox="1"/>
          <p:nvPr/>
        </p:nvSpPr>
        <p:spPr>
          <a:xfrm>
            <a:off x="2910169" y="3555634"/>
            <a:ext cx="1831177"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знаменателя у этой кратности нет: классический режим назван «месяцами», сколько именно — не сказано, стоимости компания не называет</a:t>
            </a:r>
          </a:p>
        </p:txBody>
      </p:sp>
      <p:sp>
        <p:nvSpPr>
          <p:cNvPr id="12" name="Rounded Rectangle 11"/>
          <p:cNvSpPr/>
          <p:nvPr/>
        </p:nvSpPr>
        <p:spPr>
          <a:xfrm>
            <a:off x="5043098"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ПЕРВЫЙ ПОЛНЫЙ МЕТР С ВИЗУАЛЬНЫМ ДУБЛЯЖОМ</a:t>
            </a:r>
          </a:p>
        </p:txBody>
      </p:sp>
      <p:sp>
        <p:nvSpPr>
          <p:cNvPr id="14" name="TextBox 13"/>
          <p:cNvSpPr txBox="1"/>
          <p:nvPr/>
        </p:nvSpPr>
        <p:spPr>
          <a:xfrm>
            <a:off x="5180258" y="2140317"/>
            <a:ext cx="1831177"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губы в кадре переписаны под английскую артикуляцию</a:t>
            </a:r>
          </a:p>
        </p:txBody>
      </p:sp>
      <p:sp>
        <p:nvSpPr>
          <p:cNvPr id="15" name="TextBox 14"/>
          <p:cNvSpPr txBox="1"/>
          <p:nvPr/>
        </p:nvSpPr>
        <p:spPr>
          <a:xfrm>
            <a:off x="5180258" y="2991690"/>
            <a:ext cx="1831177"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актёры сами переозвучили свои реплики; работа одобрена профсоюзом, который в 2023 году бастовал против применения моделей</a:t>
            </a:r>
          </a:p>
        </p:txBody>
      </p:sp>
      <p:sp>
        <p:nvSpPr>
          <p:cNvPr id="16" name="Rounded Rectangle 15"/>
          <p:cNvSpPr/>
          <p:nvPr/>
        </p:nvSpPr>
        <p:spPr>
          <a:xfrm>
            <a:off x="7313188"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НАЦИОНАЛЬНЫЙ РОЛИК САМОГО ДОРОГОГО РЕКЛАМНОГО ЭФИРА</a:t>
            </a:r>
          </a:p>
        </p:txBody>
      </p:sp>
      <p:sp>
        <p:nvSpPr>
          <p:cNvPr id="18" name="TextBox 17"/>
          <p:cNvSpPr txBox="1"/>
          <p:nvPr/>
        </p:nvSpPr>
        <p:spPr>
          <a:xfrm>
            <a:off x="7450348" y="2347789"/>
            <a:ext cx="1831177" cy="579773"/>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тридцать секунд, 9 февраля 2026</a:t>
            </a:r>
          </a:p>
        </p:txBody>
      </p:sp>
      <p:sp>
        <p:nvSpPr>
          <p:cNvPr id="19" name="TextBox 18"/>
          <p:cNvSpPr txBox="1"/>
          <p:nvPr/>
        </p:nvSpPr>
        <p:spPr>
          <a:xfrm>
            <a:off x="7450348" y="2927562"/>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двадцать месяцев от первого брендового ролика на генеративной модели в июне 2024 года</a:t>
            </a:r>
          </a:p>
        </p:txBody>
      </p:sp>
      <p:sp>
        <p:nvSpPr>
          <p:cNvPr id="20" name="Rounded Rectangle 19"/>
          <p:cNvSpPr/>
          <p:nvPr/>
        </p:nvSpPr>
        <p:spPr>
          <a:xfrm>
            <a:off x="9583277"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ИЗМЕРЕНИЕМ ЗДЕСЬ НЕ ЯВЛЯЕТСЯ</a:t>
            </a:r>
          </a:p>
        </p:txBody>
      </p:sp>
      <p:sp>
        <p:nvSpPr>
          <p:cNvPr id="22" name="TextBox 21"/>
          <p:cNvSpPr txBox="1"/>
          <p:nvPr/>
        </p:nvSpPr>
        <p:spPr>
          <a:xfrm>
            <a:off x="9720437" y="1932846"/>
            <a:ext cx="1831177"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«половина и более роликов того эфира»</a:t>
            </a:r>
          </a:p>
        </p:txBody>
      </p:sp>
      <p:sp>
        <p:nvSpPr>
          <p:cNvPr id="23" name="TextBox 22"/>
          <p:cNvSpPr txBox="1"/>
          <p:nvPr/>
        </p:nvSpPr>
        <p:spPr>
          <a:xfrm>
            <a:off x="9720437" y="2911530"/>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экспертная оценка отрасли; так её и надо называть</a:t>
            </a:r>
          </a:p>
        </p:txBody>
      </p:sp>
      <p:sp>
        <p:nvSpPr>
          <p:cNvPr id="24" name="TextBox 23"/>
          <p:cNvSpPr txBox="1"/>
          <p:nvPr/>
        </p:nvSpPr>
        <p:spPr>
          <a:xfrm>
            <a:off x="502920" y="5438107"/>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Пороги</a:t>
            </a:r>
          </a:p>
        </p:txBody>
      </p:sp>
      <p:sp>
        <p:nvSpPr>
          <p:cNvPr id="25" name="Rounded Rectangle 24"/>
          <p:cNvSpPr/>
          <p:nvPr/>
        </p:nvSpPr>
        <p:spPr>
          <a:xfrm>
            <a:off x="1920240"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2024: омоложение считается на площадке, бюджет фильма 45 млн $</a:t>
            </a:r>
          </a:p>
        </p:txBody>
      </p:sp>
      <p:sp>
        <p:nvSpPr>
          <p:cNvPr id="27" name="Right Arrow 26"/>
          <p:cNvSpPr/>
          <p:nvPr/>
        </p:nvSpPr>
        <p:spPr>
          <a:xfrm>
            <a:off x="4202353" y="5927121"/>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513249"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апрель 2025: сгенерированная сцена в финальном монтаже</a:t>
            </a:r>
          </a:p>
        </p:txBody>
      </p:sp>
      <p:sp>
        <p:nvSpPr>
          <p:cNvPr id="30" name="Right Arrow 29"/>
          <p:cNvSpPr/>
          <p:nvPr/>
        </p:nvSpPr>
        <p:spPr>
          <a:xfrm>
            <a:off x="6713067" y="5927121"/>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май 2025: полный метр с визуальным дубляжом, одобрен профсоюзом</a:t>
            </a:r>
          </a:p>
        </p:txBody>
      </p:sp>
      <p:sp>
        <p:nvSpPr>
          <p:cNvPr id="33" name="Right Arrow 32"/>
          <p:cNvSpPr/>
          <p:nvPr/>
        </p:nvSpPr>
        <p:spPr>
          <a:xfrm>
            <a:off x="9223781" y="5927121"/>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9 февраля 2026: ролик в национальном эфире Супербоула</a:t>
            </a:r>
          </a:p>
        </p:txBody>
      </p:sp>
      <p:sp>
        <p:nvSpPr>
          <p:cNvPr id="36" name="TextBox 35"/>
          <p:cNvSpPr txBox="1"/>
          <p:nvPr/>
        </p:nvSpPr>
        <p:spPr>
          <a:xfrm>
            <a:off x="502920" y="662644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первого брендового ролика на генеративной модели до национального эфира — двадцать месяцев</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Variety, 2024; TechCrunch, 18.07.2025; Flawless AI, 09.05.2025; Semafor, 04.02.2026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Патчи пространства-времени и внимание по пространству-времени</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ВИДЕО И ИЗОБРАЖЕНИЕ — ОДНА ЗАДАЧА</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«изображение — это просто видео из одного кадра»</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отсюда обучение на смеси и перенос архитектуры без переделки</a:t>
            </a:r>
          </a:p>
        </p:txBody>
      </p:sp>
      <p:sp>
        <p:nvSpPr>
          <p:cNvPr id="8" name="Rounded Rectangle 7"/>
          <p:cNvSpPr/>
          <p:nvPr/>
        </p:nvSpPr>
        <p:spPr>
          <a:xfrm>
            <a:off x="502920" y="2683657"/>
            <a:ext cx="3423818" cy="1989942"/>
          </a:xfrm>
          <a:prstGeom prst="roundRect">
            <a:avLst>
              <a:gd name="adj" fmla="val 15317"/>
            </a:avLst>
          </a:prstGeom>
          <a:solidFill>
            <a:srgbClr val="F4F7FA"/>
          </a:solidFill>
          <a:ln w="31750">
            <a:solidFill>
              <a:srgbClr val="F0AB00"/>
            </a:solidFill>
          </a:ln>
          <a:effectLst/>
        </p:spPr>
        <p:txBody>
          <a:bodyPr rtlCol="0" anchor="ctr"/>
          <a:lstStyle/>
          <a:p>
            <a:pPr algn="ctr"/>
          </a:p>
        </p:txBody>
      </p:sp>
      <p:sp>
        <p:nvSpPr>
          <p:cNvPr id="9" name="Rounded Rectangle 8"/>
          <p:cNvSpPr/>
          <p:nvPr/>
        </p:nvSpPr>
        <p:spPr>
          <a:xfrm>
            <a:off x="630936" y="2811673"/>
            <a:ext cx="3167786" cy="256032"/>
          </a:xfrm>
          <a:prstGeom prst="roundRect">
            <a:avLst>
              <a:gd name="adj" fmla="val 38000"/>
            </a:avLst>
          </a:prstGeom>
          <a:solidFill>
            <a:srgbClr val="F0AB00"/>
          </a:solidFill>
          <a:ln>
            <a:noFill/>
          </a:ln>
          <a:effectLst/>
        </p:spPr>
        <p:txBody>
          <a:bodyPr rtlCol="0" anchor="ctr"/>
          <a:lstStyle/>
          <a:p>
            <a:pPr algn="ctr"/>
          </a:p>
        </p:txBody>
      </p:sp>
      <p:sp>
        <p:nvSpPr>
          <p:cNvPr id="10" name="TextBox 9"/>
          <p:cNvSpPr txBox="1"/>
          <p:nvPr/>
        </p:nvSpPr>
        <p:spPr>
          <a:xfrm>
            <a:off x="685800" y="2811673"/>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вход · узкое место</a:t>
            </a:r>
          </a:p>
        </p:txBody>
      </p:sp>
      <p:sp>
        <p:nvSpPr>
          <p:cNvPr id="11" name="TextBox 10"/>
          <p:cNvSpPr txBox="1"/>
          <p:nvPr/>
        </p:nvSpPr>
        <p:spPr>
          <a:xfrm>
            <a:off x="630936" y="3159145"/>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Автокодировщик</a:t>
            </a:r>
          </a:p>
        </p:txBody>
      </p:sp>
      <p:sp>
        <p:nvSpPr>
          <p:cNvPr id="12" name="TextBox 11"/>
          <p:cNvSpPr txBox="1"/>
          <p:nvPr/>
        </p:nvSpPr>
        <p:spPr>
          <a:xfrm>
            <a:off x="630936" y="3527214"/>
            <a:ext cx="3167786"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сжимает видео в латентное пространство</a:t>
            </a:r>
          </a:p>
          <a:p>
            <a:pPr algn="l">
              <a:lnSpc>
                <a:spcPct val="114000"/>
              </a:lnSpc>
              <a:spcBef>
                <a:spcPts val="400"/>
              </a:spcBef>
            </a:pPr>
            <a:r>
              <a:rPr sz="1350" b="0" i="0">
                <a:solidFill>
                  <a:srgbClr val="21295C"/>
                </a:solidFill>
                <a:latin typeface="Arial"/>
              </a:rPr>
              <a:t/>
            </a:r>
            <a:r>
              <a:rPr sz="1350" b="0" i="0">
                <a:solidFill>
                  <a:srgbClr val="21295C"/>
                </a:solidFill>
                <a:latin typeface="Arial"/>
              </a:rPr>
              <a:t>коэффициент сжатия решает всё: длину, разрешение, число токенов</a:t>
            </a:r>
          </a:p>
        </p:txBody>
      </p:sp>
      <p:sp>
        <p:nvSpPr>
          <p:cNvPr id="13" name="Right Arrow 12"/>
          <p:cNvSpPr/>
          <p:nvPr/>
        </p:nvSpPr>
        <p:spPr>
          <a:xfrm>
            <a:off x="4018178" y="3605477"/>
            <a:ext cx="274320" cy="146304"/>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4383938" y="2683657"/>
            <a:ext cx="3423818"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15" name="Rounded Rectangle 14"/>
          <p:cNvSpPr/>
          <p:nvPr/>
        </p:nvSpPr>
        <p:spPr>
          <a:xfrm>
            <a:off x="4511954" y="2811673"/>
            <a:ext cx="3167786" cy="256032"/>
          </a:xfrm>
          <a:prstGeom prst="roundRect">
            <a:avLst>
              <a:gd name="adj" fmla="val 38000"/>
            </a:avLst>
          </a:prstGeom>
          <a:solidFill>
            <a:srgbClr val="E6F2F4"/>
          </a:solidFill>
          <a:ln>
            <a:noFill/>
          </a:ln>
          <a:effectLst/>
        </p:spPr>
        <p:txBody>
          <a:bodyPr rtlCol="0" anchor="ctr"/>
          <a:lstStyle/>
          <a:p>
            <a:pPr algn="ctr"/>
          </a:p>
        </p:txBody>
      </p:sp>
      <p:sp>
        <p:nvSpPr>
          <p:cNvPr id="16" name="TextBox 15"/>
          <p:cNvSpPr txBox="1"/>
          <p:nvPr/>
        </p:nvSpPr>
        <p:spPr>
          <a:xfrm>
            <a:off x="4566818" y="2811673"/>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работа</a:t>
            </a:r>
          </a:p>
        </p:txBody>
      </p:sp>
      <p:sp>
        <p:nvSpPr>
          <p:cNvPr id="17" name="TextBox 16"/>
          <p:cNvSpPr txBox="1"/>
          <p:nvPr/>
        </p:nvSpPr>
        <p:spPr>
          <a:xfrm>
            <a:off x="4511954" y="3159145"/>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Патчи пространства-времени</a:t>
            </a:r>
          </a:p>
        </p:txBody>
      </p:sp>
      <p:sp>
        <p:nvSpPr>
          <p:cNvPr id="18" name="TextBox 17"/>
          <p:cNvSpPr txBox="1"/>
          <p:nvPr/>
        </p:nvSpPr>
        <p:spPr>
          <a:xfrm>
            <a:off x="4511954" y="3527214"/>
            <a:ext cx="3167786"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та же единица, что токен текста — вектор, растянутый во времени</a:t>
            </a:r>
          </a:p>
          <a:p>
            <a:pPr algn="l">
              <a:lnSpc>
                <a:spcPct val="114000"/>
              </a:lnSpc>
              <a:spcBef>
                <a:spcPts val="400"/>
              </a:spcBef>
            </a:pPr>
            <a:r>
              <a:rPr sz="1350" b="0" i="0">
                <a:solidFill>
                  <a:srgbClr val="21295C"/>
                </a:solidFill>
                <a:latin typeface="Arial"/>
              </a:rPr>
              <a:t/>
            </a:r>
            <a:r>
              <a:rPr sz="1350" b="0" i="0">
                <a:solidFill>
                  <a:srgbClr val="21295C"/>
                </a:solidFill>
                <a:latin typeface="Arial"/>
              </a:rPr>
              <a:t>расставляются в сетку нужного размера, без отдельных режимов</a:t>
            </a:r>
          </a:p>
        </p:txBody>
      </p:sp>
      <p:sp>
        <p:nvSpPr>
          <p:cNvPr id="19" name="Right Arrow 18"/>
          <p:cNvSpPr/>
          <p:nvPr/>
        </p:nvSpPr>
        <p:spPr>
          <a:xfrm>
            <a:off x="7899196" y="3605477"/>
            <a:ext cx="274320" cy="146304"/>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264956" y="2683657"/>
            <a:ext cx="3423818"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21" name="Rounded Rectangle 20"/>
          <p:cNvSpPr/>
          <p:nvPr/>
        </p:nvSpPr>
        <p:spPr>
          <a:xfrm>
            <a:off x="8392972" y="2811673"/>
            <a:ext cx="3167786" cy="256032"/>
          </a:xfrm>
          <a:prstGeom prst="roundRect">
            <a:avLst>
              <a:gd name="adj" fmla="val 38000"/>
            </a:avLst>
          </a:prstGeom>
          <a:solidFill>
            <a:srgbClr val="E6F2F4"/>
          </a:solidFill>
          <a:ln>
            <a:noFill/>
          </a:ln>
          <a:effectLst/>
        </p:spPr>
        <p:txBody>
          <a:bodyPr rtlCol="0" anchor="ctr"/>
          <a:lstStyle/>
          <a:p>
            <a:pPr algn="ctr"/>
          </a:p>
        </p:txBody>
      </p:sp>
      <p:sp>
        <p:nvSpPr>
          <p:cNvPr id="22" name="TextBox 21"/>
          <p:cNvSpPr txBox="1"/>
          <p:nvPr/>
        </p:nvSpPr>
        <p:spPr>
          <a:xfrm>
            <a:off x="8447836" y="2811673"/>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выход</a:t>
            </a:r>
          </a:p>
        </p:txBody>
      </p:sp>
      <p:sp>
        <p:nvSpPr>
          <p:cNvPr id="23" name="TextBox 22"/>
          <p:cNvSpPr txBox="1"/>
          <p:nvPr/>
        </p:nvSpPr>
        <p:spPr>
          <a:xfrm>
            <a:off x="8392972" y="3159145"/>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Трансформер</a:t>
            </a:r>
          </a:p>
        </p:txBody>
      </p:sp>
      <p:sp>
        <p:nvSpPr>
          <p:cNvPr id="24" name="TextBox 23"/>
          <p:cNvSpPr txBox="1"/>
          <p:nvPr/>
        </p:nvSpPr>
        <p:spPr>
          <a:xfrm>
            <a:off x="8392972" y="3527214"/>
            <a:ext cx="3167786"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патчи работают как токены трансформера</a:t>
            </a:r>
          </a:p>
          <a:p>
            <a:pPr algn="l">
              <a:lnSpc>
                <a:spcPct val="114000"/>
              </a:lnSpc>
              <a:spcBef>
                <a:spcPts val="400"/>
              </a:spcBef>
            </a:pPr>
            <a:r>
              <a:rPr sz="1350" b="0" i="0">
                <a:solidFill>
                  <a:srgbClr val="21295C"/>
                </a:solidFill>
                <a:latin typeface="Arial"/>
              </a:rPr>
              <a:t/>
            </a:r>
            <a:r>
              <a:rPr sz="1350" b="0" i="0">
                <a:solidFill>
                  <a:srgbClr val="21295C"/>
                </a:solidFill>
                <a:latin typeface="Arial"/>
              </a:rPr>
              <a:t>размер выхода задаётся формой сетки патчей</a:t>
            </a:r>
          </a:p>
        </p:txBody>
      </p:sp>
      <p:sp>
        <p:nvSpPr>
          <p:cNvPr id="25" name="Rectangle 24"/>
          <p:cNvSpPr/>
          <p:nvPr/>
        </p:nvSpPr>
        <p:spPr>
          <a:xfrm>
            <a:off x="2203856" y="4728464"/>
            <a:ext cx="21945" cy="274320"/>
          </a:xfrm>
          <a:prstGeom prst="rect">
            <a:avLst/>
          </a:prstGeom>
          <a:solidFill>
            <a:srgbClr val="065A82"/>
          </a:solidFill>
          <a:ln>
            <a:noFill/>
          </a:ln>
          <a:effectLst/>
        </p:spPr>
        <p:txBody>
          <a:bodyPr rtlCol="0" anchor="ctr"/>
          <a:lstStyle/>
          <a:p>
            <a:pPr algn="ctr"/>
          </a:p>
        </p:txBody>
      </p:sp>
      <p:sp>
        <p:nvSpPr>
          <p:cNvPr id="26" name="Rounded Rectangle 25"/>
          <p:cNvSpPr/>
          <p:nvPr/>
        </p:nvSpPr>
        <p:spPr>
          <a:xfrm>
            <a:off x="2155393" y="4669028"/>
            <a:ext cx="118872" cy="118872"/>
          </a:xfrm>
          <a:prstGeom prst="roundRect">
            <a:avLst>
              <a:gd name="adj" fmla="val 50000"/>
            </a:avLst>
          </a:prstGeom>
          <a:solidFill>
            <a:srgbClr val="065A82"/>
          </a:solidFill>
          <a:ln>
            <a:noFill/>
          </a:ln>
          <a:effectLst/>
        </p:spPr>
        <p:txBody>
          <a:bodyPr rtlCol="0" anchor="ctr"/>
          <a:lstStyle/>
          <a:p>
            <a:pPr algn="ctr"/>
          </a:p>
        </p:txBody>
      </p:sp>
      <p:sp>
        <p:nvSpPr>
          <p:cNvPr id="27" name="Rounded Rectangle 26"/>
          <p:cNvSpPr/>
          <p:nvPr/>
        </p:nvSpPr>
        <p:spPr>
          <a:xfrm>
            <a:off x="502920" y="5002784"/>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621792" y="5121656"/>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размер модели в расчёте стоимости не участвует ни разу — рычаг на стороне автокодировщика</a:t>
            </a:r>
          </a:p>
        </p:txBody>
      </p:sp>
      <p:sp>
        <p:nvSpPr>
          <p:cNvPr id="29" name="Rounded Rectangle 28"/>
          <p:cNvSpPr/>
          <p:nvPr/>
        </p:nvSpPr>
        <p:spPr>
          <a:xfrm>
            <a:off x="374904" y="5568989"/>
            <a:ext cx="11441887" cy="6672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660429"/>
            <a:ext cx="11112703" cy="575778"/>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Параллель строят сами разработчики и формулируют дословно: там, где у больших языковых моделей есть текстовые токены, у видеомодели есть визуальные патчи.</a:t>
            </a:r>
          </a:p>
        </p:txBody>
      </p:sp>
      <p:sp>
        <p:nvSpPr>
          <p:cNvPr id="31" name="Rectangle 30"/>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Цена связи между кадрами: 62,1 млрд пар против 2,01 млрд</a:t>
            </a:r>
          </a:p>
        </p:txBody>
      </p:sp>
      <p:sp>
        <p:nvSpPr>
          <p:cNvPr id="4" name="Rounded Rectangle 3"/>
          <p:cNvSpPr/>
          <p:nvPr/>
        </p:nvSpPr>
        <p:spPr>
          <a:xfrm>
            <a:off x="502920" y="1335024"/>
            <a:ext cx="5510631"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ПОЛНОГО ТРЁХМЕРНОГО ВНИМАНИЯ</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62,1 млрд пар против 2,01 млрд</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для пяти секунд высокой чёткости: 249 240 патчей, сетка 31 на 8 040; раздельное внимание дешевле в 30,9 раза</a:t>
            </a:r>
          </a:p>
        </p:txBody>
      </p:sp>
      <p:sp>
        <p:nvSpPr>
          <p:cNvPr id="8" name="Rounded Rectangle 7"/>
          <p:cNvSpPr/>
          <p:nvPr/>
        </p:nvSpPr>
        <p:spPr>
          <a:xfrm>
            <a:off x="6178143" y="1335024"/>
            <a:ext cx="5510631"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 ЧТО ПЛАТЯТ ЭТИ ТРИДЦАТЬ РАЗ</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 прямую связь между кадрами</a:t>
            </a:r>
          </a:p>
        </p:txBody>
      </p:sp>
      <p:sp>
        <p:nvSpPr>
          <p:cNvPr id="11" name="TextBox 10"/>
          <p:cNvSpPr txBox="1"/>
          <p:nvPr/>
        </p:nvSpPr>
        <p:spPr>
          <a:xfrm>
            <a:off x="6315303" y="2152374"/>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раздельном внимании «голова человека в кадре i+1 не может напрямую обратиться к голове в кадре i» — только неявно, через фоновые патчи</a:t>
            </a:r>
          </a:p>
        </p:txBody>
      </p:sp>
      <p:sp>
        <p:nvSpPr>
          <p:cNvPr id="12" name="Rounded Rectangle 11"/>
          <p:cNvSpPr/>
          <p:nvPr/>
        </p:nvSpPr>
        <p:spPr>
          <a:xfrm>
            <a:off x="502920" y="3106144"/>
            <a:ext cx="5437479" cy="1961524"/>
          </a:xfrm>
          <a:prstGeom prst="roundRect">
            <a:avLst>
              <a:gd name="adj" fmla="val 1553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326159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здесь то же, что в неподвижном изображении</a:t>
            </a:r>
          </a:p>
        </p:txBody>
      </p:sp>
      <p:sp>
        <p:nvSpPr>
          <p:cNvPr id="14" name="TextBox 13"/>
          <p:cNvSpPr txBox="1"/>
          <p:nvPr/>
        </p:nvSpPr>
        <p:spPr>
          <a:xfrm>
            <a:off x="667512" y="3617771"/>
            <a:ext cx="5108295" cy="1294449"/>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Автокодировщик работает токенизатором, модель стоит поверх него</a:t>
            </a:r>
          </a:p>
          <a:p>
            <a:pPr algn="l">
              <a:lnSpc>
                <a:spcPct val="126000"/>
              </a:lnSpc>
            </a:pPr>
            <a:r>
              <a:rPr sz="1300" b="0" i="0">
                <a:solidFill>
                  <a:srgbClr val="21295C"/>
                </a:solidFill>
                <a:latin typeface="Arial"/>
              </a:rPr>
              <a:t>• Расшумление переписывает все токены на каждом шаге</a:t>
            </a:r>
          </a:p>
          <a:p>
            <a:pPr algn="l">
              <a:lnSpc>
                <a:spcPct val="126000"/>
              </a:lnSpc>
            </a:pPr>
            <a:r>
              <a:rPr sz="1300" b="0" i="0">
                <a:solidFill>
                  <a:srgbClr val="21295C"/>
                </a:solidFill>
                <a:latin typeface="Arial"/>
              </a:rPr>
              <a:t>• Кэша нет и быть не может: экономика тарифов языковых моделей сюда не переносится</a:t>
            </a:r>
          </a:p>
        </p:txBody>
      </p:sp>
      <p:sp>
        <p:nvSpPr>
          <p:cNvPr id="15" name="Rounded Rectangle 14"/>
          <p:cNvSpPr/>
          <p:nvPr/>
        </p:nvSpPr>
        <p:spPr>
          <a:xfrm>
            <a:off x="6251295" y="3106144"/>
            <a:ext cx="5437479" cy="1961524"/>
          </a:xfrm>
          <a:prstGeom prst="roundRect">
            <a:avLst>
              <a:gd name="adj" fmla="val 15538"/>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6415887" y="326159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добавляется вместе со временем</a:t>
            </a:r>
          </a:p>
        </p:txBody>
      </p:sp>
      <p:sp>
        <p:nvSpPr>
          <p:cNvPr id="17" name="TextBox 16"/>
          <p:cNvSpPr txBox="1"/>
          <p:nvPr/>
        </p:nvSpPr>
        <p:spPr>
          <a:xfrm>
            <a:off x="6415887" y="3617771"/>
            <a:ext cx="5108295" cy="1294449"/>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Сжатие идёт не только по пространству, но и по времени</a:t>
            </a:r>
          </a:p>
          <a:p>
            <a:pPr algn="l">
              <a:lnSpc>
                <a:spcPct val="126000"/>
              </a:lnSpc>
            </a:pPr>
            <a:r>
              <a:rPr sz="1000" b="0" i="0">
                <a:solidFill>
                  <a:srgbClr val="21295C"/>
                </a:solidFill>
                <a:latin typeface="Arial"/>
              </a:rPr>
              <a:t>• Позиционное кодирование тройное: две пространственные координаты и одна временная</a:t>
            </a:r>
          </a:p>
          <a:p>
            <a:pPr algn="l">
              <a:lnSpc>
                <a:spcPct val="126000"/>
              </a:lnSpc>
            </a:pPr>
            <a:r>
              <a:rPr sz="1000" b="0" i="0">
                <a:solidFill>
                  <a:srgbClr val="21295C"/>
                </a:solidFill>
                <a:latin typeface="Arial"/>
              </a:rPr>
              <a:t>• Выбор: полное трёхмерное внимание или раздельное, и у выбора посчитанная цена</a:t>
            </a:r>
          </a:p>
          <a:p>
            <a:pPr algn="l">
              <a:lnSpc>
                <a:spcPct val="126000"/>
              </a:lnSpc>
            </a:pPr>
            <a:r>
              <a:rPr sz="1000" b="0" i="0">
                <a:solidFill>
                  <a:srgbClr val="21295C"/>
                </a:solidFill>
                <a:latin typeface="Arial"/>
              </a:rPr>
              <a:t>• Отчёт известной видеомодели деталей не раскрывает: цифра «по ней» — реконструкция</a:t>
            </a:r>
          </a:p>
        </p:txBody>
      </p:sp>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0" name="TextBox 19"/>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Образцовый инженерный размен: согласованность куплена за вычисления, и известно, сколько за неё заплачено</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Причинный трёхмерный автокодировщик</a:t>
            </a:r>
          </a:p>
        </p:txBody>
      </p:sp>
      <p:sp>
        <p:nvSpPr>
          <p:cNvPr id="4" name="Rounded Rectangle 3"/>
          <p:cNvSpPr/>
          <p:nvPr/>
        </p:nvSpPr>
        <p:spPr>
          <a:xfrm>
            <a:off x="502920"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КАНАЛОВ СТАЛО БОЛЬШЕ</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 трёх до шестнадцати, у самой сжимающей — до 128</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компенсирует силу сжатия</a:t>
            </a:r>
          </a:p>
        </p:txBody>
      </p:sp>
      <p:sp>
        <p:nvSpPr>
          <p:cNvPr id="8" name="Rounded Rectangle 7"/>
          <p:cNvSpPr/>
          <p:nvPr/>
        </p:nvSpPr>
        <p:spPr>
          <a:xfrm>
            <a:off x="6178143"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КОЭФФИЦИЕНТЫ СЖАТИЯ</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4×8×8 у трёх моделей · 8×8×8 · 8×32×32</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время × высота × ширина; у последней патча нет вовсе</a:t>
            </a:r>
          </a:p>
        </p:txBody>
      </p:sp>
      <p:sp>
        <p:nvSpPr>
          <p:cNvPr id="12" name="Rounded Rectangle 11"/>
          <p:cNvSpPr/>
          <p:nvPr/>
        </p:nvSpPr>
        <p:spPr>
          <a:xfrm>
            <a:off x="502920" y="3074081"/>
            <a:ext cx="3423818" cy="2024678"/>
          </a:xfrm>
          <a:prstGeom prst="roundRect">
            <a:avLst>
              <a:gd name="adj" fmla="val 15054"/>
            </a:avLst>
          </a:prstGeom>
          <a:solidFill>
            <a:srgbClr val="F4F7FA"/>
          </a:solidFill>
          <a:ln w="19050">
            <a:solidFill>
              <a:srgbClr val="1C7293"/>
            </a:solidFill>
          </a:ln>
          <a:effectLst/>
        </p:spPr>
        <p:txBody>
          <a:bodyPr rtlCol="0" anchor="ctr"/>
          <a:lstStyle/>
          <a:p>
            <a:pPr algn="ctr"/>
          </a:p>
        </p:txBody>
      </p:sp>
      <p:sp>
        <p:nvSpPr>
          <p:cNvPr id="13" name="Rounded Rectangle 12"/>
          <p:cNvSpPr/>
          <p:nvPr/>
        </p:nvSpPr>
        <p:spPr>
          <a:xfrm>
            <a:off x="630936" y="3202097"/>
            <a:ext cx="3167786" cy="256032"/>
          </a:xfrm>
          <a:prstGeom prst="roundRect">
            <a:avLst>
              <a:gd name="adj" fmla="val 38000"/>
            </a:avLst>
          </a:prstGeom>
          <a:solidFill>
            <a:srgbClr val="E6F2F4"/>
          </a:solidFill>
          <a:ln>
            <a:noFill/>
          </a:ln>
          <a:effectLst/>
        </p:spPr>
        <p:txBody>
          <a:bodyPr rtlCol="0" anchor="ctr"/>
          <a:lstStyle/>
          <a:p>
            <a:pPr algn="ctr"/>
          </a:p>
        </p:txBody>
      </p:sp>
      <p:sp>
        <p:nvSpPr>
          <p:cNvPr id="14" name="TextBox 13"/>
          <p:cNvSpPr txBox="1"/>
          <p:nvPr/>
        </p:nvSpPr>
        <p:spPr>
          <a:xfrm>
            <a:off x="685800" y="3202097"/>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вход</a:t>
            </a:r>
          </a:p>
        </p:txBody>
      </p:sp>
      <p:sp>
        <p:nvSpPr>
          <p:cNvPr id="15" name="TextBox 14"/>
          <p:cNvSpPr txBox="1"/>
          <p:nvPr/>
        </p:nvSpPr>
        <p:spPr>
          <a:xfrm>
            <a:off x="630936" y="354956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Вход: кадры видео</a:t>
            </a:r>
          </a:p>
        </p:txBody>
      </p:sp>
      <p:sp>
        <p:nvSpPr>
          <p:cNvPr id="16" name="TextBox 15"/>
          <p:cNvSpPr txBox="1"/>
          <p:nvPr/>
        </p:nvSpPr>
        <p:spPr>
          <a:xfrm>
            <a:off x="630936" y="3917637"/>
            <a:ext cx="3167786" cy="1053106"/>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первый кадр кодируется отдельно</a:t>
            </a:r>
          </a:p>
          <a:p>
            <a:pPr algn="l">
              <a:lnSpc>
                <a:spcPct val="114000"/>
              </a:lnSpc>
              <a:spcBef>
                <a:spcPts val="400"/>
              </a:spcBef>
            </a:pPr>
            <a:r>
              <a:rPr sz="1350" b="0" i="0">
                <a:solidFill>
                  <a:srgbClr val="21295C"/>
                </a:solidFill>
                <a:latin typeface="Arial"/>
              </a:rPr>
              <a:t/>
            </a:r>
            <a:r>
              <a:rPr sz="1350" b="0" i="0">
                <a:solidFill>
                  <a:srgbClr val="21295C"/>
                </a:solidFill>
                <a:latin typeface="Arial"/>
              </a:rPr>
              <a:t>остальные сжимаются по времени</a:t>
            </a:r>
          </a:p>
        </p:txBody>
      </p:sp>
      <p:sp>
        <p:nvSpPr>
          <p:cNvPr id="17" name="Right Arrow 16"/>
          <p:cNvSpPr/>
          <p:nvPr/>
        </p:nvSpPr>
        <p:spPr>
          <a:xfrm>
            <a:off x="4018178" y="4013268"/>
            <a:ext cx="274320" cy="146304"/>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4383938" y="3074081"/>
            <a:ext cx="3423818" cy="2024678"/>
          </a:xfrm>
          <a:prstGeom prst="roundRect">
            <a:avLst>
              <a:gd name="adj" fmla="val 15054"/>
            </a:avLst>
          </a:prstGeom>
          <a:solidFill>
            <a:srgbClr val="F4F7FA"/>
          </a:solidFill>
          <a:ln w="31750">
            <a:solidFill>
              <a:srgbClr val="F0AB00"/>
            </a:solidFill>
          </a:ln>
          <a:effectLst/>
        </p:spPr>
        <p:txBody>
          <a:bodyPr rtlCol="0" anchor="ctr"/>
          <a:lstStyle/>
          <a:p>
            <a:pPr algn="ctr"/>
          </a:p>
        </p:txBody>
      </p:sp>
      <p:sp>
        <p:nvSpPr>
          <p:cNvPr id="19" name="Rounded Rectangle 18"/>
          <p:cNvSpPr/>
          <p:nvPr/>
        </p:nvSpPr>
        <p:spPr>
          <a:xfrm>
            <a:off x="4511954" y="3202097"/>
            <a:ext cx="3167786" cy="256032"/>
          </a:xfrm>
          <a:prstGeom prst="roundRect">
            <a:avLst>
              <a:gd name="adj" fmla="val 38000"/>
            </a:avLst>
          </a:prstGeom>
          <a:solidFill>
            <a:srgbClr val="F0AB00"/>
          </a:solidFill>
          <a:ln>
            <a:noFill/>
          </a:ln>
          <a:effectLst/>
        </p:spPr>
        <p:txBody>
          <a:bodyPr rtlCol="0" anchor="ctr"/>
          <a:lstStyle/>
          <a:p>
            <a:pPr algn="ctr"/>
          </a:p>
        </p:txBody>
      </p:sp>
      <p:sp>
        <p:nvSpPr>
          <p:cNvPr id="20" name="TextBox 19"/>
          <p:cNvSpPr txBox="1"/>
          <p:nvPr/>
        </p:nvSpPr>
        <p:spPr>
          <a:xfrm>
            <a:off x="4566818" y="3202097"/>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работа · узкое место</a:t>
            </a:r>
          </a:p>
        </p:txBody>
      </p:sp>
      <p:sp>
        <p:nvSpPr>
          <p:cNvPr id="21" name="TextBox 20"/>
          <p:cNvSpPr txBox="1"/>
          <p:nvPr/>
        </p:nvSpPr>
        <p:spPr>
          <a:xfrm>
            <a:off x="4511954" y="3549569"/>
            <a:ext cx="3167786" cy="553256"/>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Каузальная трёхмерная свёртка</a:t>
            </a:r>
          </a:p>
        </p:txBody>
      </p:sp>
      <p:sp>
        <p:nvSpPr>
          <p:cNvPr id="22" name="TextBox 21"/>
          <p:cNvSpPr txBox="1"/>
          <p:nvPr/>
        </p:nvSpPr>
        <p:spPr>
          <a:xfrm>
            <a:off x="4511954" y="4194265"/>
            <a:ext cx="3167786" cy="776477"/>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отступы в начале — будущее не влияет на прошлое</a:t>
            </a:r>
          </a:p>
          <a:p>
            <a:pPr algn="l">
              <a:lnSpc>
                <a:spcPct val="114000"/>
              </a:lnSpc>
              <a:spcBef>
                <a:spcPts val="400"/>
              </a:spcBef>
            </a:pPr>
            <a:r>
              <a:rPr sz="1350" b="0" i="0">
                <a:solidFill>
                  <a:srgbClr val="21295C"/>
                </a:solidFill>
                <a:latin typeface="Arial"/>
              </a:rPr>
              <a:t/>
            </a:r>
            <a:r>
              <a:rPr sz="1350" b="0" i="0">
                <a:solidFill>
                  <a:srgbClr val="21295C"/>
                </a:solidFill>
                <a:latin typeface="Arial"/>
              </a:rPr>
              <a:t>тот же приём, что маска внимания</a:t>
            </a:r>
          </a:p>
        </p:txBody>
      </p:sp>
      <p:sp>
        <p:nvSpPr>
          <p:cNvPr id="23" name="Right Arrow 22"/>
          <p:cNvSpPr/>
          <p:nvPr/>
        </p:nvSpPr>
        <p:spPr>
          <a:xfrm>
            <a:off x="7899196" y="4013268"/>
            <a:ext cx="274320" cy="146304"/>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264956" y="3074081"/>
            <a:ext cx="3423818" cy="2024678"/>
          </a:xfrm>
          <a:prstGeom prst="roundRect">
            <a:avLst>
              <a:gd name="adj" fmla="val 15054"/>
            </a:avLst>
          </a:prstGeom>
          <a:solidFill>
            <a:srgbClr val="F4F7FA"/>
          </a:solidFill>
          <a:ln w="19050">
            <a:solidFill>
              <a:srgbClr val="1C7293"/>
            </a:solidFill>
          </a:ln>
          <a:effectLst/>
        </p:spPr>
        <p:txBody>
          <a:bodyPr rtlCol="0" anchor="ctr"/>
          <a:lstStyle/>
          <a:p>
            <a:pPr algn="ctr"/>
          </a:p>
        </p:txBody>
      </p:sp>
      <p:sp>
        <p:nvSpPr>
          <p:cNvPr id="25" name="Rounded Rectangle 24"/>
          <p:cNvSpPr/>
          <p:nvPr/>
        </p:nvSpPr>
        <p:spPr>
          <a:xfrm>
            <a:off x="8392972" y="3202097"/>
            <a:ext cx="3167786" cy="256032"/>
          </a:xfrm>
          <a:prstGeom prst="roundRect">
            <a:avLst>
              <a:gd name="adj" fmla="val 38000"/>
            </a:avLst>
          </a:prstGeom>
          <a:solidFill>
            <a:srgbClr val="E6F2F4"/>
          </a:solidFill>
          <a:ln>
            <a:noFill/>
          </a:ln>
          <a:effectLst/>
        </p:spPr>
        <p:txBody>
          <a:bodyPr rtlCol="0" anchor="ctr"/>
          <a:lstStyle/>
          <a:p>
            <a:pPr algn="ctr"/>
          </a:p>
        </p:txBody>
      </p:sp>
      <p:sp>
        <p:nvSpPr>
          <p:cNvPr id="26" name="TextBox 25"/>
          <p:cNvSpPr txBox="1"/>
          <p:nvPr/>
        </p:nvSpPr>
        <p:spPr>
          <a:xfrm>
            <a:off x="8447836" y="3202097"/>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выход</a:t>
            </a:r>
          </a:p>
        </p:txBody>
      </p:sp>
      <p:sp>
        <p:nvSpPr>
          <p:cNvPr id="27" name="TextBox 26"/>
          <p:cNvSpPr txBox="1"/>
          <p:nvPr/>
        </p:nvSpPr>
        <p:spPr>
          <a:xfrm>
            <a:off x="8392972" y="354956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Латент</a:t>
            </a:r>
          </a:p>
        </p:txBody>
      </p:sp>
      <p:sp>
        <p:nvSpPr>
          <p:cNvPr id="28" name="TextBox 27"/>
          <p:cNvSpPr txBox="1"/>
          <p:nvPr/>
        </p:nvSpPr>
        <p:spPr>
          <a:xfrm>
            <a:off x="8392972" y="3917637"/>
            <a:ext cx="3167786" cy="1053106"/>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кадров = остальные ÷ коэффициент + 1</a:t>
            </a:r>
          </a:p>
          <a:p>
            <a:pPr algn="l">
              <a:lnSpc>
                <a:spcPct val="114000"/>
              </a:lnSpc>
              <a:spcBef>
                <a:spcPts val="400"/>
              </a:spcBef>
            </a:pPr>
            <a:r>
              <a:rPr sz="1350" b="0" i="0">
                <a:solidFill>
                  <a:srgbClr val="21295C"/>
                </a:solidFill>
                <a:latin typeface="Arial"/>
              </a:rPr>
              <a:t/>
            </a:r>
            <a:r>
              <a:rPr sz="1350" b="0" i="0">
                <a:solidFill>
                  <a:srgbClr val="21295C"/>
                </a:solidFill>
                <a:latin typeface="Arial"/>
              </a:rPr>
              <a:t>отсюда «кратное 4/8 плюс один» — 49, 81, 121, 129, 257</a:t>
            </a:r>
          </a:p>
        </p:txBody>
      </p:sp>
      <p:sp>
        <p:nvSpPr>
          <p:cNvPr id="29" name="Rectangle 28"/>
          <p:cNvSpPr/>
          <p:nvPr/>
        </p:nvSpPr>
        <p:spPr>
          <a:xfrm>
            <a:off x="6084874" y="5153623"/>
            <a:ext cx="21945" cy="274320"/>
          </a:xfrm>
          <a:prstGeom prst="rect">
            <a:avLst/>
          </a:prstGeom>
          <a:solidFill>
            <a:srgbClr val="065A82"/>
          </a:solidFill>
          <a:ln>
            <a:noFill/>
          </a:ln>
          <a:effectLst/>
        </p:spPr>
        <p:txBody>
          <a:bodyPr rtlCol="0" anchor="ctr"/>
          <a:lstStyle/>
          <a:p>
            <a:pPr algn="ctr"/>
          </a:p>
        </p:txBody>
      </p:sp>
      <p:sp>
        <p:nvSpPr>
          <p:cNvPr id="30" name="Rounded Rectangle 29"/>
          <p:cNvSpPr/>
          <p:nvPr/>
        </p:nvSpPr>
        <p:spPr>
          <a:xfrm>
            <a:off x="6036411" y="5094187"/>
            <a:ext cx="118872" cy="118872"/>
          </a:xfrm>
          <a:prstGeom prst="roundRect">
            <a:avLst>
              <a:gd name="adj" fmla="val 50000"/>
            </a:avLst>
          </a:prstGeom>
          <a:solidFill>
            <a:srgbClr val="065A82"/>
          </a:solidFill>
          <a:ln>
            <a:noFill/>
          </a:ln>
          <a:effectLst/>
        </p:spPr>
        <p:txBody>
          <a:bodyPr rtlCol="0" anchor="ctr"/>
          <a:lstStyle/>
          <a:p>
            <a:pPr algn="ctr"/>
          </a:p>
        </p:txBody>
      </p:sp>
      <p:sp>
        <p:nvSpPr>
          <p:cNvPr id="31" name="Rounded Rectangle 30"/>
          <p:cNvSpPr/>
          <p:nvPr/>
        </p:nvSpPr>
        <p:spPr>
          <a:xfrm>
            <a:off x="502920" y="5427943"/>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621792" y="5546815"/>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мерцание 93,2 → 86,3 при переходе к трёхмерному автокодировщику; при 16×16×8 «сходимость крайне затруднена»</a:t>
            </a:r>
          </a:p>
        </p:txBody>
      </p:sp>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CogVideoX; HunyuanVideo; Wan 2.1; Movie Gen; LTX-Video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Квадратичность на удвоении стороны: арифметика «сорок к одному»</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ПРЕЙСКУРАНТ ЭТО ОТРАЖАЕТ</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десятисекундный клип втрое дороже пятисекундного</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скидки за объём здесь нет, есть наценка</a:t>
            </a:r>
          </a:p>
        </p:txBody>
      </p:sp>
      <p:sp>
        <p:nvSpPr>
          <p:cNvPr id="8" name="Rectangle 7"/>
          <p:cNvSpPr/>
          <p:nvPr/>
        </p:nvSpPr>
        <p:spPr>
          <a:xfrm>
            <a:off x="754380" y="3354632"/>
            <a:ext cx="10682935" cy="50292"/>
          </a:xfrm>
          <a:prstGeom prst="rect">
            <a:avLst/>
          </a:prstGeom>
          <a:solidFill>
            <a:srgbClr val="1C7293"/>
          </a:solidFill>
          <a:ln>
            <a:noFill/>
          </a:ln>
          <a:effectLst/>
        </p:spPr>
        <p:txBody>
          <a:bodyPr rtlCol="0" anchor="ctr"/>
          <a:lstStyle/>
          <a:p>
            <a:pPr algn="ctr"/>
          </a:p>
        </p:txBody>
      </p:sp>
      <p:sp>
        <p:nvSpPr>
          <p:cNvPr id="9" name="TextBox 8"/>
          <p:cNvSpPr txBox="1"/>
          <p:nvPr/>
        </p:nvSpPr>
        <p:spPr>
          <a:xfrm>
            <a:off x="388620" y="344150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0" name="TextBox 9"/>
          <p:cNvSpPr txBox="1"/>
          <p:nvPr/>
        </p:nvSpPr>
        <p:spPr>
          <a:xfrm>
            <a:off x="11071555" y="344150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90</a:t>
            </a:r>
          </a:p>
        </p:txBody>
      </p:sp>
      <p:sp>
        <p:nvSpPr>
          <p:cNvPr id="11" name="Rectangle 10"/>
          <p:cNvSpPr/>
          <p:nvPr/>
        </p:nvSpPr>
        <p:spPr>
          <a:xfrm>
            <a:off x="1998695" y="3190040"/>
            <a:ext cx="50292" cy="164592"/>
          </a:xfrm>
          <a:prstGeom prst="rect">
            <a:avLst/>
          </a:prstGeom>
          <a:solidFill>
            <a:srgbClr val="065A82"/>
          </a:solidFill>
          <a:ln>
            <a:noFill/>
          </a:ln>
          <a:effectLst/>
        </p:spPr>
        <p:txBody>
          <a:bodyPr rtlCol="0" anchor="ctr"/>
          <a:lstStyle/>
          <a:p>
            <a:pPr algn="ctr"/>
          </a:p>
        </p:txBody>
      </p:sp>
      <p:sp>
        <p:nvSpPr>
          <p:cNvPr id="12" name="TextBox 11"/>
          <p:cNvSpPr txBox="1"/>
          <p:nvPr/>
        </p:nvSpPr>
        <p:spPr>
          <a:xfrm>
            <a:off x="159532" y="2683657"/>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a:t>
            </a:r>
          </a:p>
          <a:p>
            <a:pPr algn="ctr">
              <a:lnSpc>
                <a:spcPct val="110000"/>
              </a:lnSpc>
            </a:pPr>
            <a:r>
              <a:rPr sz="1200" b="0" i="0">
                <a:solidFill>
                  <a:srgbClr val="21295C"/>
                </a:solidFill>
                <a:latin typeface="Arial"/>
              </a:rPr>
              <a:t>Линейно</a:t>
            </a:r>
          </a:p>
        </p:txBody>
      </p:sp>
      <p:sp>
        <p:nvSpPr>
          <p:cNvPr id="13" name="Rectangle 12"/>
          <p:cNvSpPr/>
          <p:nvPr/>
        </p:nvSpPr>
        <p:spPr>
          <a:xfrm>
            <a:off x="5505145" y="3404924"/>
            <a:ext cx="50292" cy="1645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3665982" y="3660956"/>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40</a:t>
            </a:r>
          </a:p>
          <a:p>
            <a:pPr algn="ctr">
              <a:lnSpc>
                <a:spcPct val="110000"/>
              </a:lnSpc>
            </a:pPr>
            <a:r>
              <a:rPr sz="1200" b="0" i="0">
                <a:solidFill>
                  <a:srgbClr val="21295C"/>
                </a:solidFill>
                <a:latin typeface="Arial"/>
              </a:rPr>
              <a:t>Измерено</a:t>
            </a:r>
          </a:p>
        </p:txBody>
      </p:sp>
      <p:sp>
        <p:nvSpPr>
          <p:cNvPr id="15" name="Rectangle 14"/>
          <p:cNvSpPr/>
          <p:nvPr/>
        </p:nvSpPr>
        <p:spPr>
          <a:xfrm>
            <a:off x="10029596" y="3190040"/>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8190433" y="2683657"/>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80</a:t>
            </a:r>
          </a:p>
          <a:p>
            <a:pPr algn="ctr">
              <a:lnSpc>
                <a:spcPct val="110000"/>
              </a:lnSpc>
            </a:pPr>
            <a:r>
              <a:rPr sz="1200" b="0" i="0">
                <a:solidFill>
                  <a:srgbClr val="21295C"/>
                </a:solidFill>
                <a:latin typeface="Arial"/>
              </a:rPr>
              <a:t>Квадратично</a:t>
            </a:r>
          </a:p>
        </p:txBody>
      </p:sp>
      <p:sp>
        <p:nvSpPr>
          <p:cNvPr id="17" name="TextBox 16"/>
          <p:cNvSpPr txBox="1"/>
          <p:nvPr/>
        </p:nvSpPr>
        <p:spPr>
          <a:xfrm>
            <a:off x="502920" y="4185626"/>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во сколько раз медленнее обучение при утроении стороны кадра · 129 кадров при 256 точках = один раз</a:t>
            </a:r>
          </a:p>
        </p:txBody>
      </p:sp>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0" name="TextBox 19"/>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Длина, разрешение и частота кадров покупаются нелинейно: втрое по стороне — вдевятеро по точкам, внимание квадратично</a:t>
            </a:r>
          </a:p>
        </p:txBody>
      </p:sp>
      <p:sp>
        <p:nvSpPr>
          <p:cNvPr id="21" name="Rectangle 20"/>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Open-Sora 2.0; прейскурант поставщика видеогенерации</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Сжатие — самый сильный рычаг стоимости</a:t>
            </a:r>
          </a:p>
        </p:txBody>
      </p:sp>
      <p:sp>
        <p:nvSpPr>
          <p:cNvPr id="4" name="Rounded Rectangle 3"/>
          <p:cNvSpPr/>
          <p:nvPr/>
        </p:nvSpPr>
        <p:spPr>
          <a:xfrm>
            <a:off x="502920" y="1335024"/>
            <a:ext cx="2105497" cy="3487545"/>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СТОИМОСТЬ ОБУЧЕНИЯ</a:t>
            </a:r>
          </a:p>
        </p:txBody>
      </p:sp>
      <p:sp>
        <p:nvSpPr>
          <p:cNvPr id="6" name="TextBox 5"/>
          <p:cNvSpPr txBox="1"/>
          <p:nvPr/>
        </p:nvSpPr>
        <p:spPr>
          <a:xfrm>
            <a:off x="640080" y="1932846"/>
            <a:ext cx="1831177"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около 200 000 $</a:t>
            </a:r>
          </a:p>
        </p:txBody>
      </p:sp>
      <p:sp>
        <p:nvSpPr>
          <p:cNvPr id="7" name="TextBox 6"/>
          <p:cNvSpPr txBox="1"/>
          <p:nvPr/>
        </p:nvSpPr>
        <p:spPr>
          <a:xfrm>
            <a:off x="640080"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заголовок статьи буквально гласит: обучение видеомодели коммерческого уровня за двести тысяч долларов</a:t>
            </a:r>
          </a:p>
        </p:txBody>
      </p:sp>
      <p:sp>
        <p:nvSpPr>
          <p:cNvPr id="8" name="Rounded Rectangle 7"/>
          <p:cNvSpPr/>
          <p:nvPr/>
        </p:nvSpPr>
        <p:spPr>
          <a:xfrm>
            <a:off x="2773009"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АРИФМЕТИКА ПЕРЕПРОВЕРЕНА В ОДНО ДЕЙСТВИЕ</a:t>
            </a:r>
          </a:p>
        </p:txBody>
      </p:sp>
      <p:sp>
        <p:nvSpPr>
          <p:cNvPr id="10" name="TextBox 9"/>
          <p:cNvSpPr txBox="1"/>
          <p:nvPr/>
        </p:nvSpPr>
        <p:spPr>
          <a:xfrm>
            <a:off x="2910169" y="2140317"/>
            <a:ext cx="1831177"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4 160 × 24 × 2 = 199 680 $</a:t>
            </a:r>
          </a:p>
        </p:txBody>
      </p:sp>
      <p:sp>
        <p:nvSpPr>
          <p:cNvPr id="11" name="TextBox 10"/>
          <p:cNvSpPr txBox="1"/>
          <p:nvPr/>
        </p:nvSpPr>
        <p:spPr>
          <a:xfrm>
            <a:off x="2910169" y="2940765"/>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4 160 ускорительных дней при ставке два доллара за час</a:t>
            </a:r>
          </a:p>
        </p:txBody>
      </p:sp>
      <p:sp>
        <p:nvSpPr>
          <p:cNvPr id="12" name="Rounded Rectangle 11"/>
          <p:cNvSpPr/>
          <p:nvPr/>
        </p:nvSpPr>
        <p:spPr>
          <a:xfrm>
            <a:off x="5043098"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ИМЕННО ПОДНЯЛИ</a:t>
            </a:r>
          </a:p>
        </p:txBody>
      </p:sp>
      <p:sp>
        <p:nvSpPr>
          <p:cNvPr id="14" name="TextBox 13"/>
          <p:cNvSpPr txBox="1"/>
          <p:nvPr/>
        </p:nvSpPr>
        <p:spPr>
          <a:xfrm>
            <a:off x="5180258" y="1932846"/>
            <a:ext cx="1831177"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коэффициент пространственного сжатия до 32</a:t>
            </a:r>
          </a:p>
        </p:txBody>
      </p:sp>
      <p:sp>
        <p:nvSpPr>
          <p:cNvPr id="15" name="TextBox 14"/>
          <p:cNvSpPr txBox="1"/>
          <p:nvPr/>
        </p:nvSpPr>
        <p:spPr>
          <a:xfrm>
            <a:off x="5180258" y="2580519"/>
            <a:ext cx="1831177"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временной оставили равным четырём</a:t>
            </a:r>
          </a:p>
        </p:txBody>
      </p:sp>
      <p:sp>
        <p:nvSpPr>
          <p:cNvPr id="16" name="Rounded Rectangle 15"/>
          <p:cNvSpPr/>
          <p:nvPr/>
        </p:nvSpPr>
        <p:spPr>
          <a:xfrm>
            <a:off x="7313188"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ИЗ ЭТОГО ВЫШЛО</a:t>
            </a:r>
          </a:p>
        </p:txBody>
      </p:sp>
      <p:sp>
        <p:nvSpPr>
          <p:cNvPr id="18" name="TextBox 17"/>
          <p:cNvSpPr txBox="1"/>
          <p:nvPr/>
        </p:nvSpPr>
        <p:spPr>
          <a:xfrm>
            <a:off x="7450348" y="1725375"/>
            <a:ext cx="1831177"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токенов с 76 000 до 19 000</a:t>
            </a:r>
          </a:p>
        </p:txBody>
      </p:sp>
      <p:sp>
        <p:nvSpPr>
          <p:cNvPr id="19" name="TextBox 18"/>
          <p:cNvSpPr txBox="1"/>
          <p:nvPr/>
        </p:nvSpPr>
        <p:spPr>
          <a:xfrm>
            <a:off x="7450348" y="2474897"/>
            <a:ext cx="1831177"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пятисекундное видео 24 кадра в секунду при 768 точках; пропускная способность обучения выросла впятеро, скорость работы — более чем вдесятеро</a:t>
            </a:r>
          </a:p>
        </p:txBody>
      </p:sp>
      <p:sp>
        <p:nvSpPr>
          <p:cNvPr id="20" name="Rounded Rectangle 19"/>
          <p:cNvSpPr/>
          <p:nvPr/>
        </p:nvSpPr>
        <p:spPr>
          <a:xfrm>
            <a:off x="9583277"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РАЗМЕР МОДЕЛИ ПРИ ЭТОМ</a:t>
            </a:r>
          </a:p>
        </p:txBody>
      </p:sp>
      <p:sp>
        <p:nvSpPr>
          <p:cNvPr id="22" name="TextBox 21"/>
          <p:cNvSpPr txBox="1"/>
          <p:nvPr/>
        </p:nvSpPr>
        <p:spPr>
          <a:xfrm>
            <a:off x="9720437" y="1932846"/>
            <a:ext cx="1831177"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11 млрд параметров, качество сопоставимо с коммерческими аналогами</a:t>
            </a:r>
          </a:p>
        </p:txBody>
      </p:sp>
      <p:sp>
        <p:nvSpPr>
          <p:cNvPr id="23" name="TextBox 22"/>
          <p:cNvSpPr txBox="1"/>
          <p:nvPr/>
        </p:nvSpPr>
        <p:spPr>
          <a:xfrm>
            <a:off x="9720437" y="2784218"/>
            <a:ext cx="1831177"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для масштаба: другая исследовательская модель того же поколения обучалась на 6 144 ускорителях по 700 ватт при 30 млрд параметров — и денежной оценки её авторы не публикуют</a:t>
            </a:r>
          </a:p>
        </p:txBody>
      </p:sp>
      <p:sp>
        <p:nvSpPr>
          <p:cNvPr id="24" name="TextBox 23"/>
          <p:cNvSpPr txBox="1"/>
          <p:nvPr/>
        </p:nvSpPr>
        <p:spPr>
          <a:xfrm>
            <a:off x="502920" y="5042025"/>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Open-Sora 2.0</a:t>
            </a:r>
          </a:p>
        </p:txBody>
      </p:sp>
      <p:sp>
        <p:nvSpPr>
          <p:cNvPr id="25" name="Rounded Rectangle 24"/>
          <p:cNvSpPr/>
          <p:nvPr/>
        </p:nvSpPr>
        <p:spPr>
          <a:xfrm>
            <a:off x="1920240"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Подняли коэффициент пространственного сжатия до 32</a:t>
            </a:r>
          </a:p>
        </p:txBody>
      </p:sp>
      <p:sp>
        <p:nvSpPr>
          <p:cNvPr id="27" name="Right Arrow 26"/>
          <p:cNvSpPr/>
          <p:nvPr/>
        </p:nvSpPr>
        <p:spPr>
          <a:xfrm>
            <a:off x="4202353" y="5412215"/>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513249"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Число токенов упало с 76 000 до 19 000 на пять секунд</a:t>
            </a:r>
          </a:p>
        </p:txBody>
      </p:sp>
      <p:sp>
        <p:nvSpPr>
          <p:cNvPr id="30" name="Right Arrow 29"/>
          <p:cNvSpPr/>
          <p:nvPr/>
        </p:nvSpPr>
        <p:spPr>
          <a:xfrm>
            <a:off x="6713067" y="5412215"/>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Пропускная способность обучения выросла впятеро</a:t>
            </a:r>
          </a:p>
        </p:txBody>
      </p:sp>
      <p:sp>
        <p:nvSpPr>
          <p:cNvPr id="33" name="Right Arrow 32"/>
          <p:cNvSpPr/>
          <p:nvPr/>
        </p:nvSpPr>
        <p:spPr>
          <a:xfrm>
            <a:off x="9223781" y="5412215"/>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Обучение обошлось в 200 тысяч долларов</a:t>
            </a:r>
          </a:p>
        </p:txBody>
      </p:sp>
      <p:sp>
        <p:nvSpPr>
          <p:cNvPr id="36" name="TextBox 35"/>
          <p:cNvSpPr txBox="1"/>
          <p:nvPr/>
        </p:nvSpPr>
        <p:spPr>
          <a:xfrm>
            <a:off x="502920" y="599271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Цепочка удешевления целиком</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Open-Sora 2.0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Между кадрами нет объекта, который «тот же»</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1. Общий латент с временным сжатием</a:t>
            </a:r>
          </a:p>
        </p:txBody>
      </p:sp>
      <p:sp>
        <p:nvSpPr>
          <p:cNvPr id="5" name="Rounded Rectangle 4"/>
          <p:cNvSpPr/>
          <p:nvPr/>
        </p:nvSpPr>
        <p:spPr>
          <a:xfrm>
            <a:off x="1920240" y="1335024"/>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Четыре соседних кадра свёрнуты в один латентный срез</a:t>
            </a:r>
          </a:p>
        </p:txBody>
      </p:sp>
      <p:sp>
        <p:nvSpPr>
          <p:cNvPr id="7" name="Rounded Rectangle 6"/>
          <p:cNvSpPr/>
          <p:nvPr/>
        </p:nvSpPr>
        <p:spPr>
          <a:xfrm>
            <a:off x="5225186" y="1335024"/>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5307482" y="1380744"/>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 отдельности они не существуют</a:t>
            </a:r>
          </a:p>
        </p:txBody>
      </p:sp>
      <p:sp>
        <p:nvSpPr>
          <p:cNvPr id="9" name="Rounded Rectangle 8"/>
          <p:cNvSpPr/>
          <p:nvPr/>
        </p:nvSpPr>
        <p:spPr>
          <a:xfrm>
            <a:off x="8530132" y="1335024"/>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8612428" y="1380744"/>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Мерцание снижено с 93,2 до 86,3</a:t>
            </a:r>
          </a:p>
        </p:txBody>
      </p:sp>
      <p:sp>
        <p:nvSpPr>
          <p:cNvPr id="11" name="TextBox 10"/>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 Полное трёхмерное внимание</a:t>
            </a:r>
          </a:p>
        </p:txBody>
      </p:sp>
      <p:sp>
        <p:nvSpPr>
          <p:cNvPr id="12" name="Rounded Rectangle 11"/>
          <p:cNvSpPr/>
          <p:nvPr/>
        </p:nvSpPr>
        <p:spPr>
          <a:xfrm>
            <a:off x="1920240" y="2194369"/>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2002536" y="2240089"/>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Единственный механизм с прямой связью «объект здесь ↔ объект там»</a:t>
            </a:r>
          </a:p>
        </p:txBody>
      </p:sp>
      <p:sp>
        <p:nvSpPr>
          <p:cNvPr id="14" name="Rounded Rectangle 13"/>
          <p:cNvSpPr/>
          <p:nvPr/>
        </p:nvSpPr>
        <p:spPr>
          <a:xfrm>
            <a:off x="6877659" y="2194369"/>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959955" y="2240089"/>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Цена посчитана: тридцатикратная</a:t>
            </a:r>
          </a:p>
        </p:txBody>
      </p:sp>
      <p:sp>
        <p:nvSpPr>
          <p:cNvPr id="16" name="TextBox 15"/>
          <p:cNvSpPr txBox="1"/>
          <p:nvPr/>
        </p:nvSpPr>
        <p:spPr>
          <a:xfrm>
            <a:off x="502920" y="3090291"/>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3. Позиционное кодирование по трём осям</a:t>
            </a:r>
          </a:p>
        </p:txBody>
      </p:sp>
      <p:sp>
        <p:nvSpPr>
          <p:cNvPr id="17" name="Rounded Rectangle 16"/>
          <p:cNvSpPr/>
          <p:nvPr/>
        </p:nvSpPr>
        <p:spPr>
          <a:xfrm>
            <a:off x="1920240" y="3053715"/>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099435"/>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Координата тройная</a:t>
            </a:r>
          </a:p>
        </p:txBody>
      </p:sp>
      <p:sp>
        <p:nvSpPr>
          <p:cNvPr id="19" name="Rounded Rectangle 18"/>
          <p:cNvSpPr/>
          <p:nvPr/>
        </p:nvSpPr>
        <p:spPr>
          <a:xfrm>
            <a:off x="6877659" y="3053715"/>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6959955" y="3099435"/>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Каналы между осями делятся в фиксированной пропорции</a:t>
            </a:r>
          </a:p>
        </p:txBody>
      </p:sp>
      <p:sp>
        <p:nvSpPr>
          <p:cNvPr id="21" name="TextBox 20"/>
          <p:cNvSpPr txBox="1"/>
          <p:nvPr/>
        </p:nvSpPr>
        <p:spPr>
          <a:xfrm>
            <a:off x="502920" y="380333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Чем держится постоянство объекта и где каждый механизм кончается</a:t>
            </a:r>
          </a:p>
        </p:txBody>
      </p:sp>
      <p:sp>
        <p:nvSpPr>
          <p:cNvPr id="22" name="Rounded Rectangle 21"/>
          <p:cNvSpPr/>
          <p:nvPr/>
        </p:nvSpPr>
        <p:spPr>
          <a:xfrm>
            <a:off x="374904" y="4106016"/>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4197456"/>
            <a:ext cx="11112703" cy="203875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Внутри модели нет сущности «объект», которая существовала бы между кадрами: постоянство персонажа — результат работы четырёх механизмов, и каждый из них конечен.</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Где постоянство ломается, признают сами разработчики</a:t>
            </a:r>
          </a:p>
        </p:txBody>
      </p:sp>
      <p:sp>
        <p:nvSpPr>
          <p:cNvPr id="4" name="Rounded Rectangle 3"/>
          <p:cNvSpPr/>
          <p:nvPr/>
        </p:nvSpPr>
        <p:spPr>
          <a:xfrm>
            <a:off x="502920" y="1335024"/>
            <a:ext cx="2673019" cy="3632775"/>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ПРИЗНАЮТ САМИ РАЗРАБОТЧИКИ</a:t>
            </a:r>
          </a:p>
        </p:txBody>
      </p:sp>
      <p:sp>
        <p:nvSpPr>
          <p:cNvPr id="6" name="TextBox 5"/>
          <p:cNvSpPr txBox="1"/>
          <p:nvPr/>
        </p:nvSpPr>
        <p:spPr>
          <a:xfrm>
            <a:off x="640080" y="1932846"/>
            <a:ext cx="239869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«неточно моделирует физику многих базовых взаимодействий, таких как разбивающееся стекло»</a:t>
            </a:r>
          </a:p>
        </p:txBody>
      </p:sp>
      <p:sp>
        <p:nvSpPr>
          <p:cNvPr id="7" name="TextBox 6"/>
          <p:cNvSpPr txBox="1"/>
          <p:nvPr/>
        </p:nvSpPr>
        <p:spPr>
          <a:xfrm>
            <a:off x="640080" y="2784218"/>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там же: поедание пищи не всегда даёт корректные изменения состояния объекта; несогласованности в длинных образцах; спонтанные появления объектов</a:t>
            </a:r>
          </a:p>
        </p:txBody>
      </p:sp>
      <p:sp>
        <p:nvSpPr>
          <p:cNvPr id="8" name="Rounded Rectangle 7"/>
          <p:cNvSpPr/>
          <p:nvPr/>
        </p:nvSpPr>
        <p:spPr>
          <a:xfrm>
            <a:off x="3340531" y="1335024"/>
            <a:ext cx="2673019" cy="3632775"/>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НАКОПЛЕНИЕ ОШИБКИ НАЗВАНО В ТРЁХ НЕЗАВИСИМЫХ РАБОТАХ</a:t>
            </a:r>
          </a:p>
        </p:txBody>
      </p:sp>
      <p:sp>
        <p:nvSpPr>
          <p:cNvPr id="10" name="TextBox 9"/>
          <p:cNvSpPr txBox="1"/>
          <p:nvPr/>
        </p:nvSpPr>
        <p:spPr>
          <a:xfrm>
            <a:off x="3477691"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смещение экспозиции</a:t>
            </a:r>
          </a:p>
        </p:txBody>
      </p:sp>
      <p:sp>
        <p:nvSpPr>
          <p:cNvPr id="11" name="TextBox 10"/>
          <p:cNvSpPr txBox="1"/>
          <p:nvPr/>
        </p:nvSpPr>
        <p:spPr>
          <a:xfrm>
            <a:off x="3477691" y="2957740"/>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модели, обученные на истинном контексте, вынуждены порождать последовательности, обусловленные собственными несовершенными выходами</a:t>
            </a:r>
          </a:p>
        </p:txBody>
      </p:sp>
      <p:sp>
        <p:nvSpPr>
          <p:cNvPr id="12" name="Rounded Rectangle 11"/>
          <p:cNvSpPr/>
          <p:nvPr/>
        </p:nvSpPr>
        <p:spPr>
          <a:xfrm>
            <a:off x="6178143" y="1335024"/>
            <a:ext cx="2673019" cy="3632775"/>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ОБЪЕКТНОЕ ПОСТОЯНСТВО В ИНТЕРАКТИВНОМ РЕЖИМЕ</a:t>
            </a:r>
          </a:p>
        </p:txBody>
      </p:sp>
      <p:sp>
        <p:nvSpPr>
          <p:cNvPr id="14" name="TextBox 13"/>
          <p:cNvSpPr txBox="1"/>
          <p:nvPr/>
        </p:nvSpPr>
        <p:spPr>
          <a:xfrm>
            <a:off x="6315303" y="1932846"/>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это размер окна, а не свойство мира</a:t>
            </a:r>
          </a:p>
        </p:txBody>
      </p:sp>
      <p:sp>
        <p:nvSpPr>
          <p:cNvPr id="15" name="TextBox 14"/>
          <p:cNvSpPr txBox="1"/>
          <p:nvPr/>
        </p:nvSpPr>
        <p:spPr>
          <a:xfrm>
            <a:off x="6315303" y="3140692"/>
            <a:ext cx="2398699"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одной системы — «зрительная память примерно на одну минуту», у другой — «прошлые кадры в скользящем кэше, более старые вытесняются». Одно и то же ограничение, сказанное двумя языками</a:t>
            </a:r>
          </a:p>
        </p:txBody>
      </p:sp>
      <p:sp>
        <p:nvSpPr>
          <p:cNvPr id="16" name="Rounded Rectangle 15"/>
          <p:cNvSpPr/>
          <p:nvPr/>
        </p:nvSpPr>
        <p:spPr>
          <a:xfrm>
            <a:off x="9015755" y="1335024"/>
            <a:ext cx="2673019" cy="3632775"/>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ПРАКТИЧЕСКИЙ СОВЕТ, КОТОРЫЙ ПЕРЕНОСИТСЯ</a:t>
            </a:r>
          </a:p>
        </p:txBody>
      </p:sp>
      <p:sp>
        <p:nvSpPr>
          <p:cNvPr id="18" name="TextBox 17"/>
          <p:cNvSpPr txBox="1"/>
          <p:nvPr/>
        </p:nvSpPr>
        <p:spPr>
          <a:xfrm>
            <a:off x="9152915" y="1932846"/>
            <a:ext cx="2398699" cy="1156920"/>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начинайте с кадра, описание — на второй шаг</a:t>
            </a:r>
          </a:p>
        </p:txBody>
      </p:sp>
      <p:sp>
        <p:nvSpPr>
          <p:cNvPr id="19" name="TextBox 18"/>
          <p:cNvSpPr txBox="1"/>
          <p:nvPr/>
        </p:nvSpPr>
        <p:spPr>
          <a:xfrm>
            <a:off x="9152915" y="308976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половина неопределённости снимается одним настоящим кадром</a:t>
            </a:r>
          </a:p>
        </p:txBody>
      </p:sp>
      <p:sp>
        <p:nvSpPr>
          <p:cNvPr id="20" name="TextBox 19"/>
          <p:cNvSpPr txBox="1"/>
          <p:nvPr/>
        </p:nvSpPr>
        <p:spPr>
          <a:xfrm>
            <a:off x="502920" y="5187255"/>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Смещение экспозиции</a:t>
            </a:r>
          </a:p>
        </p:txBody>
      </p:sp>
      <p:sp>
        <p:nvSpPr>
          <p:cNvPr id="21" name="Rounded Rectangle 20"/>
          <p:cNvSpPr/>
          <p:nvPr/>
        </p:nvSpPr>
        <p:spPr>
          <a:xfrm>
            <a:off x="1920240" y="5150679"/>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5196399"/>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При обучении на входе истинный контекст</a:t>
            </a:r>
          </a:p>
        </p:txBody>
      </p:sp>
      <p:sp>
        <p:nvSpPr>
          <p:cNvPr id="23" name="Right Arrow 22"/>
          <p:cNvSpPr/>
          <p:nvPr/>
        </p:nvSpPr>
        <p:spPr>
          <a:xfrm>
            <a:off x="5039258" y="5557445"/>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5150679"/>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350154" y="5196399"/>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При показе на входе собственный несовершенный выход</a:t>
            </a:r>
          </a:p>
        </p:txBody>
      </p:sp>
      <p:sp>
        <p:nvSpPr>
          <p:cNvPr id="26" name="Right Arrow 25"/>
          <p:cNvSpPr/>
          <p:nvPr/>
        </p:nvSpPr>
        <p:spPr>
          <a:xfrm>
            <a:off x="8386876" y="5557445"/>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5150679"/>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5196399"/>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Ошибка накапливается от кадра к кадру</a:t>
            </a:r>
          </a:p>
        </p:txBody>
      </p:sp>
      <p:sp>
        <p:nvSpPr>
          <p:cNvPr id="29" name="TextBox 28"/>
          <p:cNvSpPr txBox="1"/>
          <p:nvPr/>
        </p:nvSpPr>
        <p:spPr>
          <a:xfrm>
            <a:off x="502920" y="61379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объектное постоянство в интерактивном режиме — это размер окна, и свойством мира оно не является</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 работы по смещению экспозиции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Физика выучена как корреляция, и это измерено</a:t>
            </a:r>
          </a:p>
        </p:txBody>
      </p:sp>
      <p:sp>
        <p:nvSpPr>
          <p:cNvPr id="4" name="Rounded Rectangle 3"/>
          <p:cNvSpPr/>
          <p:nvPr/>
        </p:nvSpPr>
        <p:spPr>
          <a:xfrm>
            <a:off x="502920"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СВЯЗИ МЕЖДУ ПРАВДОПОДОБИЕМ И ПОНИМАНИЕМ НЕТ</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коэффициент −0,46 при значимости 0,249</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видео одной из систем труднее всего отличить от настоящих</a:t>
            </a:r>
          </a:p>
        </p:txBody>
      </p:sp>
      <p:sp>
        <p:nvSpPr>
          <p:cNvPr id="8" name="Rounded Rectangle 7"/>
          <p:cNvSpPr/>
          <p:nvPr/>
        </p:nvSpPr>
        <p:spPr>
          <a:xfrm>
            <a:off x="6178143"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ГДЕ ГРАНИЦА ПРОХОДИТ КОНКРЕТНО</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справляются с размазыванием краски и выливанием жидкости</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справляются с падением мяча в ящик и разрезанием мандарина</a:t>
            </a:r>
          </a:p>
        </p:txBody>
      </p:sp>
      <p:sp>
        <p:nvSpPr>
          <p:cNvPr id="12" name="Rectangle 11"/>
          <p:cNvSpPr/>
          <p:nvPr/>
        </p:nvSpPr>
        <p:spPr>
          <a:xfrm>
            <a:off x="754380" y="3745055"/>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383192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383192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110</a:t>
            </a:r>
          </a:p>
        </p:txBody>
      </p:sp>
      <p:sp>
        <p:nvSpPr>
          <p:cNvPr id="15" name="Rectangle 14"/>
          <p:cNvSpPr/>
          <p:nvPr/>
        </p:nvSpPr>
        <p:spPr>
          <a:xfrm>
            <a:off x="10235253" y="3795347"/>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7463935" y="4051379"/>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100</a:t>
            </a:r>
          </a:p>
          <a:p>
            <a:pPr algn="ctr">
              <a:lnSpc>
                <a:spcPct val="110000"/>
              </a:lnSpc>
            </a:pPr>
            <a:r>
              <a:rPr sz="1200" b="0" i="0">
                <a:solidFill>
                  <a:srgbClr val="21295C"/>
                </a:solidFill>
                <a:latin typeface="Arial"/>
              </a:rPr>
              <a:t>Два дубля одной сцены</a:t>
            </a:r>
          </a:p>
        </p:txBody>
      </p:sp>
      <p:sp>
        <p:nvSpPr>
          <p:cNvPr id="17" name="Rectangle 16"/>
          <p:cNvSpPr/>
          <p:nvPr/>
        </p:nvSpPr>
        <p:spPr>
          <a:xfrm>
            <a:off x="3710788" y="3580463"/>
            <a:ext cx="50292" cy="1645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939471" y="3074081"/>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29,5</a:t>
            </a:r>
          </a:p>
          <a:p>
            <a:pPr algn="ctr">
              <a:lnSpc>
                <a:spcPct val="110000"/>
              </a:lnSpc>
            </a:pPr>
            <a:r>
              <a:rPr sz="1200" b="0" i="0">
                <a:solidFill>
                  <a:srgbClr val="21295C"/>
                </a:solidFill>
                <a:latin typeface="Arial"/>
              </a:rPr>
              <a:t>Лучшая из шести моделей</a:t>
            </a:r>
          </a:p>
        </p:txBody>
      </p:sp>
      <p:sp>
        <p:nvSpPr>
          <p:cNvPr id="19" name="TextBox 18"/>
          <p:cNvSpPr txBox="1"/>
          <p:nvPr/>
        </p:nvSpPr>
        <p:spPr>
          <a:xfrm>
            <a:off x="502920" y="4576050"/>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процентов от верхней планки · 396 видеозаписей, 66 сценариев, по три ракурса, по два дубля</a:t>
            </a:r>
          </a:p>
        </p:txBody>
      </p:sp>
      <p:sp>
        <p:nvSpPr>
          <p:cNvPr id="20" name="Rounded Rectangle 19"/>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Rounded Rectangle 20"/>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2" name="TextBox 21"/>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Правдоподобие и понимание расходятся. Приёмка «выглядит убедительно» в этой модальности не работает</a:t>
            </a: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Physics-IQ</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Инструмент исчезает быстрее, чем окупается обучение команды</a:t>
            </a:r>
          </a:p>
        </p:txBody>
      </p:sp>
      <p:sp>
        <p:nvSpPr>
          <p:cNvPr id="4" name="Rounded Rectangle 3"/>
          <p:cNvSpPr/>
          <p:nvPr/>
        </p:nvSpPr>
        <p:spPr>
          <a:xfrm>
            <a:off x="502920"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ДВА ВЫКЛЮЧЕННЫХ ФЛАГМАНА</a:t>
            </a:r>
          </a:p>
        </p:txBody>
      </p:sp>
      <p:sp>
        <p:nvSpPr>
          <p:cNvPr id="6" name="TextBox 5"/>
          <p:cNvSpPr txBox="1"/>
          <p:nvPr/>
        </p:nvSpPr>
        <p:spPr>
          <a:xfrm>
            <a:off x="640080" y="1932846"/>
            <a:ext cx="1831177"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 тринадцать месяцев</a:t>
            </a:r>
          </a:p>
        </p:txBody>
      </p:sp>
      <p:sp>
        <p:nvSpPr>
          <p:cNvPr id="7" name="TextBox 6"/>
          <p:cNvSpPr txBox="1"/>
          <p:nvPr/>
        </p:nvSpPr>
        <p:spPr>
          <a:xfrm>
            <a:off x="640080" y="3140692"/>
            <a:ext cx="1831177"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второй — предварительный программный доступ, выключен 22 октября 2026 года; разработчикам предложено мигрировать</a:t>
            </a:r>
          </a:p>
        </p:txBody>
      </p:sp>
      <p:sp>
        <p:nvSpPr>
          <p:cNvPr id="8" name="Rounded Rectangle 7"/>
          <p:cNvSpPr/>
          <p:nvPr/>
        </p:nvSpPr>
        <p:spPr>
          <a:xfrm>
            <a:off x="2773009"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РЕШЕНИЕ, ПРИНЯТОЕ ПО ПОКАЗАННОМУ ВМЕСТО ИЗМЕРЕННОГО</a:t>
            </a:r>
          </a:p>
        </p:txBody>
      </p:sp>
      <p:sp>
        <p:nvSpPr>
          <p:cNvPr id="10" name="TextBox 9"/>
          <p:cNvSpPr txBox="1"/>
          <p:nvPr/>
        </p:nvSpPr>
        <p:spPr>
          <a:xfrm>
            <a:off x="2910169" y="2347789"/>
            <a:ext cx="1831177"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остановлено расширение студии на 800 млн $</a:t>
            </a:r>
          </a:p>
        </p:txBody>
      </p:sp>
      <p:sp>
        <p:nvSpPr>
          <p:cNvPr id="11" name="TextBox 10"/>
          <p:cNvSpPr txBox="1"/>
          <p:nvPr/>
        </p:nvSpPr>
        <p:spPr>
          <a:xfrm>
            <a:off x="2910169" y="2995462"/>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продюсер принял его в феврале 2024 года, посмотрев первые примеры</a:t>
            </a:r>
          </a:p>
        </p:txBody>
      </p:sp>
      <p:sp>
        <p:nvSpPr>
          <p:cNvPr id="12" name="Rounded Rectangle 11"/>
          <p:cNvSpPr/>
          <p:nvPr/>
        </p:nvSpPr>
        <p:spPr>
          <a:xfrm>
            <a:off x="5043098" y="1335024"/>
            <a:ext cx="2105497" cy="4131649"/>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18025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ЭКОНОМИКА СЕРВИСА</a:t>
            </a:r>
          </a:p>
        </p:txBody>
      </p:sp>
      <p:sp>
        <p:nvSpPr>
          <p:cNvPr id="14" name="TextBox 13"/>
          <p:cNvSpPr txBox="1"/>
          <p:nvPr/>
        </p:nvSpPr>
        <p:spPr>
          <a:xfrm>
            <a:off x="5180258" y="1725375"/>
            <a:ext cx="1831177"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около 1 млн $ в сутки при менее чем 500 тыс. пользователей</a:t>
            </a:r>
          </a:p>
        </p:txBody>
      </p:sp>
      <p:sp>
        <p:nvSpPr>
          <p:cNvPr id="15" name="TextBox 14"/>
          <p:cNvSpPr txBox="1"/>
          <p:nvPr/>
        </p:nvSpPr>
        <p:spPr>
          <a:xfrm>
            <a:off x="5180258" y="2373048"/>
            <a:ext cx="1831177"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пике около миллиона пользователей; поделите одно на другое — доллар на пользователя в день. Генерация видео не была бесплатной ни секунды, просто платил не пользователь</a:t>
            </a:r>
          </a:p>
        </p:txBody>
      </p:sp>
      <p:sp>
        <p:nvSpPr>
          <p:cNvPr id="16" name="Rounded Rectangle 15"/>
          <p:cNvSpPr/>
          <p:nvPr/>
        </p:nvSpPr>
        <p:spPr>
          <a:xfrm>
            <a:off x="7313188"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СТАЛО С ПРОЕКТОМ, ПОСТРОЕННЫМ НА ЭТОМ ИНСТРУМЕНТЕ</a:t>
            </a:r>
          </a:p>
        </p:txBody>
      </p:sp>
      <p:sp>
        <p:nvSpPr>
          <p:cNvPr id="18" name="TextBox 17"/>
          <p:cNvSpPr txBox="1"/>
          <p:nvPr/>
        </p:nvSpPr>
        <p:spPr>
          <a:xfrm>
            <a:off x="7450348" y="2347789"/>
            <a:ext cx="1831177"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девять месяцев производства против трёх лет — и сдвиг на год</a:t>
            </a:r>
          </a:p>
        </p:txBody>
      </p:sp>
      <p:sp>
        <p:nvSpPr>
          <p:cNvPr id="19" name="TextBox 18"/>
          <p:cNvSpPr txBox="1"/>
          <p:nvPr/>
        </p:nvSpPr>
        <p:spPr>
          <a:xfrm>
            <a:off x="7450348" y="3199161"/>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полный метр остался без технологического партнёра, пропустил заявленную премьеру и сдвинулся на первый квартал 2027 года</a:t>
            </a:r>
          </a:p>
        </p:txBody>
      </p:sp>
      <p:sp>
        <p:nvSpPr>
          <p:cNvPr id="20" name="Rounded Rectangle 19"/>
          <p:cNvSpPr/>
          <p:nvPr/>
        </p:nvSpPr>
        <p:spPr>
          <a:xfrm>
            <a:off x="9583277"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ПАРНЫЙ РАБОЧИЙ ОТВЕТ, БЕЗ КОТОРОГО ЭТО БЫЛО БЫ ОБВИНЕНИЕМ</a:t>
            </a:r>
          </a:p>
        </p:txBody>
      </p:sp>
      <p:sp>
        <p:nvSpPr>
          <p:cNvPr id="22" name="TextBox 21"/>
          <p:cNvSpPr txBox="1"/>
          <p:nvPr/>
        </p:nvSpPr>
        <p:spPr>
          <a:xfrm>
            <a:off x="9720437" y="2347789"/>
            <a:ext cx="1831177"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преемник назван, путь перехода дан</a:t>
            </a:r>
          </a:p>
        </p:txBody>
      </p:sp>
      <p:sp>
        <p:nvSpPr>
          <p:cNvPr id="23" name="TextBox 22"/>
          <p:cNvSpPr txBox="1"/>
          <p:nvPr/>
        </p:nvSpPr>
        <p:spPr>
          <a:xfrm>
            <a:off x="9720437" y="3428322"/>
            <a:ext cx="1831177"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корпоративный контур отделён от предварительного именно затем, чтобы производственная зависимость не ломалась вслед за экспериментальным интерфейсом</a:t>
            </a:r>
          </a:p>
        </p:txBody>
      </p:sp>
      <p:sp>
        <p:nvSpPr>
          <p:cNvPr id="24" name="TextBox 23"/>
          <p:cNvSpPr txBox="1"/>
          <p:nvPr/>
        </p:nvSpPr>
        <p:spPr>
          <a:xfrm>
            <a:off x="502920" y="5686129"/>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2024</a:t>
            </a:r>
          </a:p>
        </p:txBody>
      </p:sp>
      <p:sp>
        <p:nvSpPr>
          <p:cNvPr id="25" name="Rounded Rectangle 24"/>
          <p:cNvSpPr/>
          <p:nvPr/>
        </p:nvSpPr>
        <p:spPr>
          <a:xfrm>
            <a:off x="1920240" y="5649553"/>
            <a:ext cx="4747107"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5695273"/>
            <a:ext cx="4582515"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февраль: показаны первые примеры</a:t>
            </a:r>
          </a:p>
        </p:txBody>
      </p:sp>
      <p:sp>
        <p:nvSpPr>
          <p:cNvPr id="27" name="Right Arrow 26"/>
          <p:cNvSpPr/>
          <p:nvPr/>
        </p:nvSpPr>
        <p:spPr>
          <a:xfrm>
            <a:off x="6713067" y="6175143"/>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5649553"/>
            <a:ext cx="4747107"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5695273"/>
            <a:ext cx="4582515"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декабрь: публичный запуск для подписчиков</a:t>
            </a:r>
          </a:p>
        </p:txBody>
      </p:sp>
      <p:sp>
        <p:nvSpPr>
          <p:cNvPr id="30" name="TextBox 29"/>
          <p:cNvSpPr txBox="1"/>
          <p:nvPr/>
        </p:nvSpPr>
        <p:spPr>
          <a:xfrm>
            <a:off x="502920" y="7020773"/>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2025</a:t>
            </a:r>
          </a:p>
        </p:txBody>
      </p:sp>
      <p:sp>
        <p:nvSpPr>
          <p:cNvPr id="31" name="Rounded Rectangle 30"/>
          <p:cNvSpPr/>
          <p:nvPr/>
        </p:nvSpPr>
        <p:spPr>
          <a:xfrm>
            <a:off x="1920240" y="6984197"/>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2002536" y="7029917"/>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30 сентября: второе поколение и приложение</a:t>
            </a:r>
          </a:p>
        </p:txBody>
      </p:sp>
      <p:sp>
        <p:nvSpPr>
          <p:cNvPr id="33" name="Right Arrow 32"/>
          <p:cNvSpPr/>
          <p:nvPr/>
        </p:nvSpPr>
        <p:spPr>
          <a:xfrm>
            <a:off x="5039258" y="7509787"/>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5267858" y="6984197"/>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5350154" y="7029917"/>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через неделю: средства снятия видимого водяного знака расходятся по сети</a:t>
            </a:r>
          </a:p>
        </p:txBody>
      </p:sp>
      <p:sp>
        <p:nvSpPr>
          <p:cNvPr id="36" name="Right Arrow 35"/>
          <p:cNvSpPr/>
          <p:nvPr/>
        </p:nvSpPr>
        <p:spPr>
          <a:xfrm>
            <a:off x="8386876" y="7509787"/>
            <a:ext cx="182880" cy="137160"/>
          </a:xfrm>
          <a:prstGeom prst="rightArrow">
            <a:avLst/>
          </a:prstGeom>
          <a:solidFill>
            <a:srgbClr val="1C7293"/>
          </a:solidFill>
          <a:ln>
            <a:noFill/>
          </a:ln>
          <a:effectLst/>
        </p:spPr>
        <p:txBody>
          <a:bodyPr rtlCol="0" anchor="ctr"/>
          <a:lstStyle/>
          <a:p>
            <a:pPr algn="ctr"/>
          </a:p>
        </p:txBody>
      </p:sp>
      <p:sp>
        <p:nvSpPr>
          <p:cNvPr id="37" name="Rounded Rectangle 36"/>
          <p:cNvSpPr/>
          <p:nvPr/>
        </p:nvSpPr>
        <p:spPr>
          <a:xfrm>
            <a:off x="8615476" y="6984197"/>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8" name="TextBox 37"/>
          <p:cNvSpPr txBox="1"/>
          <p:nvPr/>
        </p:nvSpPr>
        <p:spPr>
          <a:xfrm>
            <a:off x="8697772" y="7029917"/>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11 декабря: студия объявляет лицензионное соглашение на миллиард долларов; против — три профсоюза</a:t>
            </a:r>
          </a:p>
        </p:txBody>
      </p:sp>
      <p:sp>
        <p:nvSpPr>
          <p:cNvPr id="39" name="TextBox 38"/>
          <p:cNvSpPr txBox="1"/>
          <p:nvPr/>
        </p:nvSpPr>
        <p:spPr>
          <a:xfrm>
            <a:off x="502920" y="8355417"/>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2026</a:t>
            </a:r>
          </a:p>
        </p:txBody>
      </p:sp>
      <p:sp>
        <p:nvSpPr>
          <p:cNvPr id="40" name="Rounded Rectangle 39"/>
          <p:cNvSpPr/>
          <p:nvPr/>
        </p:nvSpPr>
        <p:spPr>
          <a:xfrm>
            <a:off x="1920240" y="831884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1" name="TextBox 40"/>
          <p:cNvSpPr txBox="1"/>
          <p:nvPr/>
        </p:nvSpPr>
        <p:spPr>
          <a:xfrm>
            <a:off x="2002536" y="836456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24 марта: объявлено о прекращении, сделка не состоялась</a:t>
            </a:r>
          </a:p>
        </p:txBody>
      </p:sp>
      <p:sp>
        <p:nvSpPr>
          <p:cNvPr id="42" name="Right Arrow 41"/>
          <p:cNvSpPr/>
          <p:nvPr/>
        </p:nvSpPr>
        <p:spPr>
          <a:xfrm>
            <a:off x="5039258" y="8844430"/>
            <a:ext cx="182880" cy="137160"/>
          </a:xfrm>
          <a:prstGeom prst="rightArrow">
            <a:avLst/>
          </a:prstGeom>
          <a:solidFill>
            <a:srgbClr val="1C7293"/>
          </a:solidFill>
          <a:ln>
            <a:noFill/>
          </a:ln>
          <a:effectLst/>
        </p:spPr>
        <p:txBody>
          <a:bodyPr rtlCol="0" anchor="ctr"/>
          <a:lstStyle/>
          <a:p>
            <a:pPr algn="ctr"/>
          </a:p>
        </p:txBody>
      </p:sp>
      <p:sp>
        <p:nvSpPr>
          <p:cNvPr id="43" name="Rounded Rectangle 42"/>
          <p:cNvSpPr/>
          <p:nvPr/>
        </p:nvSpPr>
        <p:spPr>
          <a:xfrm>
            <a:off x="5267858" y="831884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4" name="TextBox 43"/>
          <p:cNvSpPr txBox="1"/>
          <p:nvPr/>
        </p:nvSpPr>
        <p:spPr>
          <a:xfrm>
            <a:off x="5350154" y="836456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26 апреля: закрыто приложение</a:t>
            </a:r>
          </a:p>
        </p:txBody>
      </p:sp>
      <p:sp>
        <p:nvSpPr>
          <p:cNvPr id="45" name="Right Arrow 44"/>
          <p:cNvSpPr/>
          <p:nvPr/>
        </p:nvSpPr>
        <p:spPr>
          <a:xfrm>
            <a:off x="8386876" y="8844430"/>
            <a:ext cx="182880" cy="137160"/>
          </a:xfrm>
          <a:prstGeom prst="rightArrow">
            <a:avLst/>
          </a:prstGeom>
          <a:solidFill>
            <a:srgbClr val="1C7293"/>
          </a:solidFill>
          <a:ln>
            <a:noFill/>
          </a:ln>
          <a:effectLst/>
        </p:spPr>
        <p:txBody>
          <a:bodyPr rtlCol="0" anchor="ctr"/>
          <a:lstStyle/>
          <a:p>
            <a:pPr algn="ctr"/>
          </a:p>
        </p:txBody>
      </p:sp>
      <p:sp>
        <p:nvSpPr>
          <p:cNvPr id="46" name="Rounded Rectangle 45"/>
          <p:cNvSpPr/>
          <p:nvPr/>
        </p:nvSpPr>
        <p:spPr>
          <a:xfrm>
            <a:off x="8615476" y="831884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7" name="TextBox 46"/>
          <p:cNvSpPr txBox="1"/>
          <p:nvPr/>
        </p:nvSpPr>
        <p:spPr>
          <a:xfrm>
            <a:off x="8697772" y="836456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24 сентября: закрыт программный доступ</a:t>
            </a:r>
          </a:p>
        </p:txBody>
      </p:sp>
      <p:sp>
        <p:nvSpPr>
          <p:cNvPr id="48" name="TextBox 47"/>
          <p:cNvSpPr txBox="1"/>
          <p:nvPr/>
        </p:nvSpPr>
        <p:spPr>
          <a:xfrm>
            <a:off x="502920" y="954375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Полный цикл одного флагмана: от первых примеров до выключения</a:t>
            </a:r>
          </a:p>
        </p:txBody>
      </p:sp>
      <p:sp>
        <p:nvSpPr>
          <p:cNvPr id="49" name="Rectangle 4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0" name="TextBox 4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страница документации поставщика, прочитана 27.10.2026; сообщения о закрытии Sora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Скрытая цена отбора</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TOYS "R" US, ИЮНЬ 2024</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сотни итеративных планов → пара десятков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ролик длиной 66 секунд — названо первоисточником, с именами студии и режиссёра</a:t>
            </a:r>
          </a:p>
        </p:txBody>
      </p:sp>
      <p:sp>
        <p:nvSpPr>
          <p:cNvPr id="8" name="Rounded Rectangle 7"/>
          <p:cNvSpPr/>
          <p:nvPr/>
        </p:nvSpPr>
        <p:spPr>
          <a:xfrm>
            <a:off x="1851660" y="2683657"/>
            <a:ext cx="1874519" cy="676656"/>
          </a:xfrm>
          <a:prstGeom prst="roundRect">
            <a:avLst>
              <a:gd name="adj" fmla="val 14000"/>
            </a:avLst>
          </a:prstGeom>
          <a:solidFill>
            <a:srgbClr val="F0AB00"/>
          </a:solidFill>
          <a:ln>
            <a:noFill/>
          </a:ln>
          <a:effectLst/>
        </p:spPr>
        <p:txBody>
          <a:bodyPr rtlCol="0" anchor="ctr"/>
          <a:lstStyle/>
          <a:p>
            <a:pPr algn="ctr"/>
          </a:p>
        </p:txBody>
      </p:sp>
      <p:sp>
        <p:nvSpPr>
          <p:cNvPr id="9" name="TextBox 8"/>
          <p:cNvSpPr txBox="1"/>
          <p:nvPr/>
        </p:nvSpPr>
        <p:spPr>
          <a:xfrm>
            <a:off x="1943100" y="2683657"/>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300</a:t>
            </a:r>
          </a:p>
        </p:txBody>
      </p:sp>
      <p:sp>
        <p:nvSpPr>
          <p:cNvPr id="10" name="TextBox 9"/>
          <p:cNvSpPr txBox="1"/>
          <p:nvPr/>
        </p:nvSpPr>
        <p:spPr>
          <a:xfrm>
            <a:off x="5440680" y="2683657"/>
            <a:ext cx="6248095"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исходного материала на один вошедший кадр — «Air Head», 2024</a:t>
            </a:r>
          </a:p>
        </p:txBody>
      </p:sp>
      <p:sp>
        <p:nvSpPr>
          <p:cNvPr id="11" name="Rectangle 10"/>
          <p:cNvSpPr/>
          <p:nvPr/>
        </p:nvSpPr>
        <p:spPr>
          <a:xfrm>
            <a:off x="502920" y="3543193"/>
            <a:ext cx="4572000" cy="676656"/>
          </a:xfrm>
          <a:prstGeom prst="rect">
            <a:avLst/>
          </a:prstGeom>
          <a:solidFill>
            <a:srgbClr val="F4F7FA"/>
          </a:solidFill>
          <a:ln w="19050">
            <a:solidFill>
              <a:srgbClr val="065A82"/>
            </a:solidFill>
          </a:ln>
          <a:effectLst/>
        </p:spPr>
        <p:txBody>
          <a:bodyPr rtlCol="0" anchor="ctr"/>
          <a:lstStyle/>
          <a:p>
            <a:pPr algn="ctr"/>
          </a:p>
        </p:txBody>
      </p:sp>
      <p:sp>
        <p:nvSpPr>
          <p:cNvPr id="12" name="TextBox 11"/>
          <p:cNvSpPr txBox="1"/>
          <p:nvPr/>
        </p:nvSpPr>
        <p:spPr>
          <a:xfrm>
            <a:off x="612648" y="3754210"/>
            <a:ext cx="4352544" cy="254623"/>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Классический режим — база</a:t>
            </a:r>
          </a:p>
        </p:txBody>
      </p:sp>
      <p:sp>
        <p:nvSpPr>
          <p:cNvPr id="13" name="TextBox 12"/>
          <p:cNvSpPr txBox="1"/>
          <p:nvPr/>
        </p:nvSpPr>
        <p:spPr>
          <a:xfrm>
            <a:off x="5440680" y="3543193"/>
            <a:ext cx="6248095" cy="67665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Классический режим — база</a:t>
            </a:r>
          </a:p>
          <a:p>
            <a:pPr algn="l">
              <a:lnSpc>
                <a:spcPct val="116000"/>
              </a:lnSpc>
              <a:spcBef>
                <a:spcPts val="400"/>
              </a:spcBef>
            </a:pPr>
            <a:r>
              <a:rPr sz="1350" b="0" i="0">
                <a:solidFill>
                  <a:srgbClr val="21295C"/>
                </a:solidFill>
                <a:latin typeface="Arial"/>
              </a:rPr>
              <a:t>десятки к одному в документалистике, около десяти в рекламе</a:t>
            </a:r>
          </a:p>
        </p:txBody>
      </p:sp>
      <p:sp>
        <p:nvSpPr>
          <p:cNvPr id="14" name="Rectangle 13"/>
          <p:cNvSpPr/>
          <p:nvPr/>
        </p:nvSpPr>
        <p:spPr>
          <a:xfrm>
            <a:off x="2103120" y="4302145"/>
            <a:ext cx="1371600" cy="728703"/>
          </a:xfrm>
          <a:prstGeom prst="rect">
            <a:avLst/>
          </a:prstGeom>
          <a:solidFill>
            <a:srgbClr val="FEF5E0"/>
          </a:solidFill>
          <a:ln w="31750">
            <a:solidFill>
              <a:srgbClr val="065A82"/>
            </a:solidFill>
          </a:ln>
          <a:effectLst/>
        </p:spPr>
        <p:txBody>
          <a:bodyPr rtlCol="0" anchor="ctr"/>
          <a:lstStyle/>
          <a:p>
            <a:pPr algn="ctr"/>
          </a:p>
        </p:txBody>
      </p:sp>
      <p:sp>
        <p:nvSpPr>
          <p:cNvPr id="15" name="TextBox 14"/>
          <p:cNvSpPr txBox="1"/>
          <p:nvPr/>
        </p:nvSpPr>
        <p:spPr>
          <a:xfrm>
            <a:off x="2212848" y="4411873"/>
            <a:ext cx="1152144" cy="509247"/>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Отбор — узкое место</a:t>
            </a:r>
          </a:p>
        </p:txBody>
      </p:sp>
      <p:sp>
        <p:nvSpPr>
          <p:cNvPr id="16" name="TextBox 15"/>
          <p:cNvSpPr txBox="1"/>
          <p:nvPr/>
        </p:nvSpPr>
        <p:spPr>
          <a:xfrm>
            <a:off x="5440680" y="4302145"/>
            <a:ext cx="6248095" cy="728703"/>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Отбор — узкое место</a:t>
            </a:r>
          </a:p>
          <a:p>
            <a:pPr algn="l">
              <a:lnSpc>
                <a:spcPct val="116000"/>
              </a:lnSpc>
              <a:spcBef>
                <a:spcPts val="400"/>
              </a:spcBef>
            </a:pPr>
            <a:r>
              <a:rPr sz="1350" b="0" i="0">
                <a:solidFill>
                  <a:srgbClr val="21295C"/>
                </a:solidFill>
                <a:latin typeface="Arial"/>
              </a:rPr>
              <a:t>модель увеличила отбор на порядок-полтора против того, чему подражает</a:t>
            </a:r>
          </a:p>
        </p:txBody>
      </p:sp>
      <p:sp>
        <p:nvSpPr>
          <p:cNvPr id="17" name="Rounded Rectangle 16"/>
          <p:cNvSpPr/>
          <p:nvPr/>
        </p:nvSpPr>
        <p:spPr>
          <a:xfrm>
            <a:off x="1851660" y="5213729"/>
            <a:ext cx="1874519" cy="676656"/>
          </a:xfrm>
          <a:prstGeom prst="roundRect">
            <a:avLst>
              <a:gd name="adj" fmla="val 14000"/>
            </a:avLst>
          </a:prstGeom>
          <a:solidFill>
            <a:srgbClr val="F0AB00"/>
          </a:solidFill>
          <a:ln>
            <a:noFill/>
          </a:ln>
          <a:effectLst/>
        </p:spPr>
        <p:txBody>
          <a:bodyPr rtlCol="0" anchor="ctr"/>
          <a:lstStyle/>
          <a:p>
            <a:pPr algn="ctr"/>
          </a:p>
        </p:txBody>
      </p:sp>
      <p:sp>
        <p:nvSpPr>
          <p:cNvPr id="18" name="TextBox 17"/>
          <p:cNvSpPr txBox="1"/>
          <p:nvPr/>
        </p:nvSpPr>
        <p:spPr>
          <a:xfrm>
            <a:off x="1943100" y="5213729"/>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1</a:t>
            </a:r>
          </a:p>
        </p:txBody>
      </p:sp>
      <p:sp>
        <p:nvSpPr>
          <p:cNvPr id="19" name="TextBox 18"/>
          <p:cNvSpPr txBox="1"/>
          <p:nvPr/>
        </p:nvSpPr>
        <p:spPr>
          <a:xfrm>
            <a:off x="5440680" y="5213729"/>
            <a:ext cx="6248095"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кадр, вошедший в монтаж</a:t>
            </a: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«Air Head», апрель 2024; Toys "R" Us, июнь 2024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Накопительная карта: дописана колонка «Видео»</a:t>
            </a:r>
          </a:p>
        </p:txBody>
      </p:sp>
      <p:sp>
        <p:nvSpPr>
          <p:cNvPr id="4" name="Rounded Rectangle 3"/>
          <p:cNvSpPr/>
          <p:nvPr/>
        </p:nvSpPr>
        <p:spPr>
          <a:xfrm>
            <a:off x="374904" y="1243584"/>
            <a:ext cx="11441887" cy="8104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71897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Дешевизна попытки и дороговизна выбора растут вместе: чем дороже единица выхода, тем больше проб приходится просеивать ради одной годной.</a:t>
            </a:r>
          </a:p>
        </p:txBody>
      </p:sp>
      <p:sp>
        <p:nvSpPr>
          <p:cNvPr id="6" name="Rectangle 5"/>
          <p:cNvSpPr/>
          <p:nvPr/>
        </p:nvSpPr>
        <p:spPr>
          <a:xfrm>
            <a:off x="502920" y="2163730"/>
            <a:ext cx="2788920" cy="323384"/>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2227738"/>
            <a:ext cx="2660903"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Тип задачи</a:t>
            </a:r>
          </a:p>
        </p:txBody>
      </p:sp>
      <p:sp>
        <p:nvSpPr>
          <p:cNvPr id="8" name="Rectangle 7"/>
          <p:cNvSpPr/>
          <p:nvPr/>
        </p:nvSpPr>
        <p:spPr>
          <a:xfrm>
            <a:off x="3291839" y="2163730"/>
            <a:ext cx="1679387" cy="323384"/>
          </a:xfrm>
          <a:prstGeom prst="rect">
            <a:avLst/>
          </a:prstGeom>
          <a:solidFill>
            <a:srgbClr val="065A82"/>
          </a:solidFill>
          <a:ln>
            <a:noFill/>
          </a:ln>
          <a:effectLst/>
        </p:spPr>
        <p:txBody>
          <a:bodyPr rtlCol="0" anchor="ctr"/>
          <a:lstStyle/>
          <a:p>
            <a:pPr algn="ctr"/>
          </a:p>
        </p:txBody>
      </p:sp>
      <p:sp>
        <p:nvSpPr>
          <p:cNvPr id="9" name="TextBox 8"/>
          <p:cNvSpPr txBox="1"/>
          <p:nvPr/>
        </p:nvSpPr>
        <p:spPr>
          <a:xfrm>
            <a:off x="3355847"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Изображение</a:t>
            </a:r>
          </a:p>
        </p:txBody>
      </p:sp>
      <p:sp>
        <p:nvSpPr>
          <p:cNvPr id="10" name="Rectangle 9"/>
          <p:cNvSpPr/>
          <p:nvPr/>
        </p:nvSpPr>
        <p:spPr>
          <a:xfrm>
            <a:off x="4971227" y="2163730"/>
            <a:ext cx="1679387" cy="323384"/>
          </a:xfrm>
          <a:prstGeom prst="rect">
            <a:avLst/>
          </a:prstGeom>
          <a:solidFill>
            <a:srgbClr val="065A82"/>
          </a:solidFill>
          <a:ln>
            <a:noFill/>
          </a:ln>
          <a:effectLst/>
        </p:spPr>
        <p:txBody>
          <a:bodyPr rtlCol="0" anchor="ctr"/>
          <a:lstStyle/>
          <a:p>
            <a:pPr algn="ctr"/>
          </a:p>
        </p:txBody>
      </p:sp>
      <p:sp>
        <p:nvSpPr>
          <p:cNvPr id="11" name="TextBox 10"/>
          <p:cNvSpPr txBox="1"/>
          <p:nvPr/>
        </p:nvSpPr>
        <p:spPr>
          <a:xfrm>
            <a:off x="5035235"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Звук</a:t>
            </a:r>
          </a:p>
        </p:txBody>
      </p:sp>
      <p:sp>
        <p:nvSpPr>
          <p:cNvPr id="12" name="Rectangle 11"/>
          <p:cNvSpPr/>
          <p:nvPr/>
        </p:nvSpPr>
        <p:spPr>
          <a:xfrm>
            <a:off x="6650614" y="2163730"/>
            <a:ext cx="1679387" cy="323384"/>
          </a:xfrm>
          <a:prstGeom prst="rect">
            <a:avLst/>
          </a:prstGeom>
          <a:solidFill>
            <a:srgbClr val="065A82"/>
          </a:solidFill>
          <a:ln>
            <a:noFill/>
          </a:ln>
          <a:effectLst/>
        </p:spPr>
        <p:txBody>
          <a:bodyPr rtlCol="0" anchor="ctr"/>
          <a:lstStyle/>
          <a:p>
            <a:pPr algn="ctr"/>
          </a:p>
        </p:txBody>
      </p:sp>
      <p:sp>
        <p:nvSpPr>
          <p:cNvPr id="13" name="TextBox 12"/>
          <p:cNvSpPr txBox="1"/>
          <p:nvPr/>
        </p:nvSpPr>
        <p:spPr>
          <a:xfrm>
            <a:off x="6714622"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Видео</a:t>
            </a:r>
          </a:p>
        </p:txBody>
      </p:sp>
      <p:sp>
        <p:nvSpPr>
          <p:cNvPr id="14" name="Rectangle 13"/>
          <p:cNvSpPr/>
          <p:nvPr/>
        </p:nvSpPr>
        <p:spPr>
          <a:xfrm>
            <a:off x="8330001"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5" name="TextBox 14"/>
          <p:cNvSpPr txBox="1"/>
          <p:nvPr/>
        </p:nvSpPr>
        <p:spPr>
          <a:xfrm>
            <a:off x="8394009"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Трёхмерное</a:t>
            </a:r>
          </a:p>
        </p:txBody>
      </p:sp>
      <p:sp>
        <p:nvSpPr>
          <p:cNvPr id="16" name="Rectangle 15"/>
          <p:cNvSpPr/>
          <p:nvPr/>
        </p:nvSpPr>
        <p:spPr>
          <a:xfrm>
            <a:off x="10009388"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Распознавание</a:t>
            </a:r>
          </a:p>
        </p:txBody>
      </p:sp>
      <p:sp>
        <p:nvSpPr>
          <p:cNvPr id="18" name="Rectangle 17"/>
          <p:cNvSpPr/>
          <p:nvPr/>
        </p:nvSpPr>
        <p:spPr>
          <a:xfrm>
            <a:off x="6650614" y="2436823"/>
            <a:ext cx="1679387" cy="50292"/>
          </a:xfrm>
          <a:prstGeom prst="rect">
            <a:avLst/>
          </a:prstGeom>
          <a:solidFill>
            <a:srgbClr val="F0AB00"/>
          </a:solidFill>
          <a:ln>
            <a:noFill/>
          </a:ln>
          <a:effectLst/>
        </p:spPr>
        <p:txBody>
          <a:bodyPr rtlCol="0" anchor="ctr"/>
          <a:lstStyle/>
          <a:p>
            <a:pPr algn="ctr"/>
          </a:p>
        </p:txBody>
      </p:sp>
      <p:sp>
        <p:nvSpPr>
          <p:cNvPr id="19" name="Rectangle 18"/>
          <p:cNvSpPr/>
          <p:nvPr/>
        </p:nvSpPr>
        <p:spPr>
          <a:xfrm>
            <a:off x="502920" y="2487115"/>
            <a:ext cx="2788920" cy="518753"/>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566928" y="2551123"/>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Породить первое приближение</a:t>
            </a:r>
          </a:p>
        </p:txBody>
      </p:sp>
      <p:sp>
        <p:nvSpPr>
          <p:cNvPr id="21" name="Rectangle 20"/>
          <p:cNvSpPr/>
          <p:nvPr/>
        </p:nvSpPr>
        <p:spPr>
          <a:xfrm>
            <a:off x="3291839"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3355847"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0,034–0,05 $ за изображение</a:t>
            </a:r>
          </a:p>
        </p:txBody>
      </p:sp>
      <p:sp>
        <p:nvSpPr>
          <p:cNvPr id="23" name="Rectangle 22"/>
          <p:cNvSpPr/>
          <p:nvPr/>
        </p:nvSpPr>
        <p:spPr>
          <a:xfrm>
            <a:off x="4971227"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4" name="TextBox 23"/>
          <p:cNvSpPr txBox="1"/>
          <p:nvPr/>
        </p:nvSpPr>
        <p:spPr>
          <a:xfrm>
            <a:off x="5035235"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дубляж 0,03–0,072 $ за минуту</a:t>
            </a:r>
          </a:p>
        </p:txBody>
      </p:sp>
      <p:sp>
        <p:nvSpPr>
          <p:cNvPr id="25" name="Rectangle 24"/>
          <p:cNvSpPr/>
          <p:nvPr/>
        </p:nvSpPr>
        <p:spPr>
          <a:xfrm>
            <a:off x="6650614"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6" name="TextBox 25"/>
          <p:cNvSpPr txBox="1"/>
          <p:nvPr/>
        </p:nvSpPr>
        <p:spPr>
          <a:xfrm>
            <a:off x="6714622"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цена выпуска ниже в 10–20 раз</a:t>
            </a:r>
          </a:p>
        </p:txBody>
      </p:sp>
      <p:sp>
        <p:nvSpPr>
          <p:cNvPr id="27" name="Rectangle 26"/>
          <p:cNvSpPr/>
          <p:nvPr/>
        </p:nvSpPr>
        <p:spPr>
          <a:xfrm>
            <a:off x="8330001"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8" name="Rectangle 27"/>
          <p:cNvSpPr/>
          <p:nvPr/>
        </p:nvSpPr>
        <p:spPr>
          <a:xfrm>
            <a:off x="10009388"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9" name="Rectangle 28"/>
          <p:cNvSpPr/>
          <p:nvPr/>
        </p:nvSpPr>
        <p:spPr>
          <a:xfrm>
            <a:off x="502920" y="3005869"/>
            <a:ext cx="2788920" cy="554275"/>
          </a:xfrm>
          <a:prstGeom prst="rect">
            <a:avLst/>
          </a:prstGeom>
          <a:solidFill>
            <a:srgbClr val="F4F7FA"/>
          </a:solidFill>
          <a:ln w="9525">
            <a:solidFill>
              <a:srgbClr val="D9E2EC"/>
            </a:solidFill>
          </a:ln>
          <a:effectLst/>
        </p:spPr>
        <p:txBody>
          <a:bodyPr rtlCol="0" anchor="ctr"/>
          <a:lstStyle/>
          <a:p>
            <a:pPr algn="ctr"/>
          </a:p>
        </p:txBody>
      </p:sp>
      <p:sp>
        <p:nvSpPr>
          <p:cNvPr id="30" name="TextBox 29"/>
          <p:cNvSpPr txBox="1"/>
          <p:nvPr/>
        </p:nvSpPr>
        <p:spPr>
          <a:xfrm>
            <a:off x="566928" y="3069877"/>
            <a:ext cx="2660903" cy="426259"/>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Довести до производственного качества</a:t>
            </a:r>
          </a:p>
        </p:txBody>
      </p:sp>
      <p:sp>
        <p:nvSpPr>
          <p:cNvPr id="31" name="Rectangle 30"/>
          <p:cNvSpPr/>
          <p:nvPr/>
        </p:nvSpPr>
        <p:spPr>
          <a:xfrm>
            <a:off x="3291839"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2" name="TextBox 31"/>
          <p:cNvSpPr txBox="1"/>
          <p:nvPr/>
        </p:nvSpPr>
        <p:spPr>
          <a:xfrm>
            <a:off x="3355847"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адаптеры и ручная правка</a:t>
            </a:r>
          </a:p>
        </p:txBody>
      </p:sp>
      <p:sp>
        <p:nvSpPr>
          <p:cNvPr id="33" name="Rectangle 32"/>
          <p:cNvSpPr/>
          <p:nvPr/>
        </p:nvSpPr>
        <p:spPr>
          <a:xfrm>
            <a:off x="4971227"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4" name="TextBox 33"/>
          <p:cNvSpPr txBox="1"/>
          <p:nvPr/>
        </p:nvSpPr>
        <p:spPr>
          <a:xfrm>
            <a:off x="5035235"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ручная правка дикции</a:t>
            </a:r>
          </a:p>
        </p:txBody>
      </p:sp>
      <p:sp>
        <p:nvSpPr>
          <p:cNvPr id="35" name="Rectangle 34"/>
          <p:cNvSpPr/>
          <p:nvPr/>
        </p:nvSpPr>
        <p:spPr>
          <a:xfrm>
            <a:off x="6650614"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6" name="TextBox 35"/>
          <p:cNvSpPr txBox="1"/>
          <p:nvPr/>
        </p:nvSpPr>
        <p:spPr>
          <a:xfrm>
            <a:off x="6714622"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ручной отбор и склейка</a:t>
            </a:r>
          </a:p>
        </p:txBody>
      </p:sp>
      <p:sp>
        <p:nvSpPr>
          <p:cNvPr id="37" name="Rectangle 36"/>
          <p:cNvSpPr/>
          <p:nvPr/>
        </p:nvSpPr>
        <p:spPr>
          <a:xfrm>
            <a:off x="8330001"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8" name="Rectangle 37"/>
          <p:cNvSpPr/>
          <p:nvPr/>
        </p:nvSpPr>
        <p:spPr>
          <a:xfrm>
            <a:off x="10009388"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9" name="Rectangle 38"/>
          <p:cNvSpPr/>
          <p:nvPr/>
        </p:nvSpPr>
        <p:spPr>
          <a:xfrm>
            <a:off x="502920" y="3560144"/>
            <a:ext cx="2788920" cy="518753"/>
          </a:xfrm>
          <a:prstGeom prst="rect">
            <a:avLst/>
          </a:prstGeom>
          <a:solidFill>
            <a:srgbClr val="FFFFFF"/>
          </a:solidFill>
          <a:ln w="9525">
            <a:solidFill>
              <a:srgbClr val="D9E2EC"/>
            </a:solidFill>
          </a:ln>
          <a:effectLst/>
        </p:spPr>
        <p:txBody>
          <a:bodyPr rtlCol="0" anchor="ctr"/>
          <a:lstStyle/>
          <a:p>
            <a:pPr algn="ctr"/>
          </a:p>
        </p:txBody>
      </p:sp>
      <p:sp>
        <p:nvSpPr>
          <p:cNvPr id="40" name="TextBox 39"/>
          <p:cNvSpPr txBox="1"/>
          <p:nvPr/>
        </p:nvSpPr>
        <p:spPr>
          <a:xfrm>
            <a:off x="566928" y="3624152"/>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Восстановить существующее</a:t>
            </a:r>
          </a:p>
        </p:txBody>
      </p:sp>
      <p:sp>
        <p:nvSpPr>
          <p:cNvPr id="41" name="Rectangle 40"/>
          <p:cNvSpPr/>
          <p:nvPr/>
        </p:nvSpPr>
        <p:spPr>
          <a:xfrm>
            <a:off x="3291839"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42" name="TextBox 41"/>
          <p:cNvSpPr txBox="1"/>
          <p:nvPr/>
        </p:nvSpPr>
        <p:spPr>
          <a:xfrm>
            <a:off x="3355847"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повышение разрешения архива</a:t>
            </a:r>
          </a:p>
        </p:txBody>
      </p:sp>
      <p:sp>
        <p:nvSpPr>
          <p:cNvPr id="43" name="Rectangle 42"/>
          <p:cNvSpPr/>
          <p:nvPr/>
        </p:nvSpPr>
        <p:spPr>
          <a:xfrm>
            <a:off x="4971227"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44" name="TextBox 43"/>
          <p:cNvSpPr txBox="1"/>
          <p:nvPr/>
        </p:nvSpPr>
        <p:spPr>
          <a:xfrm>
            <a:off x="5035235"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разделение источников</a:t>
            </a:r>
          </a:p>
        </p:txBody>
      </p:sp>
      <p:sp>
        <p:nvSpPr>
          <p:cNvPr id="45" name="Rectangle 44"/>
          <p:cNvSpPr/>
          <p:nvPr/>
        </p:nvSpPr>
        <p:spPr>
          <a:xfrm>
            <a:off x="6650614"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46" name="TextBox 45"/>
          <p:cNvSpPr txBox="1"/>
          <p:nvPr/>
        </p:nvSpPr>
        <p:spPr>
          <a:xfrm>
            <a:off x="6714622"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интерполяция кадров</a:t>
            </a:r>
          </a:p>
        </p:txBody>
      </p:sp>
      <p:sp>
        <p:nvSpPr>
          <p:cNvPr id="47" name="Rectangle 46"/>
          <p:cNvSpPr/>
          <p:nvPr/>
        </p:nvSpPr>
        <p:spPr>
          <a:xfrm>
            <a:off x="8330001"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8" name="Rectangle 47"/>
          <p:cNvSpPr/>
          <p:nvPr/>
        </p:nvSpPr>
        <p:spPr>
          <a:xfrm>
            <a:off x="10009388"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502920" y="4078897"/>
            <a:ext cx="2788920" cy="518753"/>
          </a:xfrm>
          <a:prstGeom prst="rect">
            <a:avLst/>
          </a:prstGeom>
          <a:solidFill>
            <a:srgbClr val="F4F7FA"/>
          </a:solidFill>
          <a:ln w="9525">
            <a:solidFill>
              <a:srgbClr val="D9E2EC"/>
            </a:solidFill>
          </a:ln>
          <a:effectLst/>
        </p:spPr>
        <p:txBody>
          <a:bodyPr rtlCol="0" anchor="ctr"/>
          <a:lstStyle/>
          <a:p>
            <a:pPr algn="ctr"/>
          </a:p>
        </p:txBody>
      </p:sp>
      <p:sp>
        <p:nvSpPr>
          <p:cNvPr id="50" name="TextBox 49"/>
          <p:cNvSpPr txBox="1"/>
          <p:nvPr/>
        </p:nvSpPr>
        <p:spPr>
          <a:xfrm>
            <a:off x="566928" y="4142905"/>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Соблюсти точные величины</a:t>
            </a:r>
          </a:p>
        </p:txBody>
      </p:sp>
      <p:sp>
        <p:nvSpPr>
          <p:cNvPr id="51" name="Rectangle 50"/>
          <p:cNvSpPr/>
          <p:nvPr/>
        </p:nvSpPr>
        <p:spPr>
          <a:xfrm>
            <a:off x="3291839"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2" name="TextBox 51"/>
          <p:cNvSpPr txBox="1"/>
          <p:nvPr/>
        </p:nvSpPr>
        <p:spPr>
          <a:xfrm>
            <a:off x="3355847"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размеров в выдаче не существует</a:t>
            </a:r>
          </a:p>
        </p:txBody>
      </p:sp>
      <p:sp>
        <p:nvSpPr>
          <p:cNvPr id="53" name="Rectangle 52"/>
          <p:cNvSpPr/>
          <p:nvPr/>
        </p:nvSpPr>
        <p:spPr>
          <a:xfrm>
            <a:off x="4971227"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4" name="TextBox 53"/>
          <p:cNvSpPr txBox="1"/>
          <p:nvPr/>
        </p:nvSpPr>
        <p:spPr>
          <a:xfrm>
            <a:off x="5035235"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длина задана до запуска</a:t>
            </a:r>
          </a:p>
        </p:txBody>
      </p:sp>
      <p:sp>
        <p:nvSpPr>
          <p:cNvPr id="55" name="Rectangle 54"/>
          <p:cNvSpPr/>
          <p:nvPr/>
        </p:nvSpPr>
        <p:spPr>
          <a:xfrm>
            <a:off x="6650614"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6" name="TextBox 55"/>
          <p:cNvSpPr txBox="1"/>
          <p:nvPr/>
        </p:nvSpPr>
        <p:spPr>
          <a:xfrm>
            <a:off x="6714622"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физика выучена как корреляция</a:t>
            </a:r>
          </a:p>
        </p:txBody>
      </p:sp>
      <p:sp>
        <p:nvSpPr>
          <p:cNvPr id="57" name="Rectangle 56"/>
          <p:cNvSpPr/>
          <p:nvPr/>
        </p:nvSpPr>
        <p:spPr>
          <a:xfrm>
            <a:off x="8330001"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10009388"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502920" y="4597651"/>
            <a:ext cx="2788920" cy="714122"/>
          </a:xfrm>
          <a:prstGeom prst="rect">
            <a:avLst/>
          </a:prstGeom>
          <a:solidFill>
            <a:srgbClr val="FFFFFF"/>
          </a:solidFill>
          <a:ln w="9525">
            <a:solidFill>
              <a:srgbClr val="D9E2EC"/>
            </a:solidFill>
          </a:ln>
          <a:effectLst/>
        </p:spPr>
        <p:txBody>
          <a:bodyPr rtlCol="0" anchor="ctr"/>
          <a:lstStyle/>
          <a:p>
            <a:pPr algn="ctr"/>
          </a:p>
        </p:txBody>
      </p:sp>
      <p:sp>
        <p:nvSpPr>
          <p:cNvPr id="60" name="TextBox 59"/>
          <p:cNvSpPr txBox="1"/>
          <p:nvPr/>
        </p:nvSpPr>
        <p:spPr>
          <a:xfrm>
            <a:off x="566928" y="4661659"/>
            <a:ext cx="2660903" cy="586106"/>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Уложиться в бюджет реального времени</a:t>
            </a:r>
          </a:p>
        </p:txBody>
      </p:sp>
      <p:sp>
        <p:nvSpPr>
          <p:cNvPr id="61" name="Rectangle 60"/>
          <p:cNvSpPr/>
          <p:nvPr/>
        </p:nvSpPr>
        <p:spPr>
          <a:xfrm>
            <a:off x="3291839"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62" name="TextBox 61"/>
          <p:cNvSpPr txBox="1"/>
          <p:nvPr/>
        </p:nvSpPr>
        <p:spPr>
          <a:xfrm>
            <a:off x="3355847"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неприменимо: кадрового бюджета у стадии нет</a:t>
            </a:r>
          </a:p>
        </p:txBody>
      </p:sp>
      <p:sp>
        <p:nvSpPr>
          <p:cNvPr id="63" name="Rectangle 62"/>
          <p:cNvSpPr/>
          <p:nvPr/>
        </p:nvSpPr>
        <p:spPr>
          <a:xfrm>
            <a:off x="4971227"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64" name="TextBox 63"/>
          <p:cNvSpPr txBox="1"/>
          <p:nvPr/>
        </p:nvSpPr>
        <p:spPr>
          <a:xfrm>
            <a:off x="5035235"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неприменимо: кадрового бюджета у стадии нет</a:t>
            </a:r>
          </a:p>
        </p:txBody>
      </p:sp>
      <p:sp>
        <p:nvSpPr>
          <p:cNvPr id="65" name="Rectangle 64"/>
          <p:cNvSpPr/>
          <p:nvPr/>
        </p:nvSpPr>
        <p:spPr>
          <a:xfrm>
            <a:off x="6650614"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66" name="TextBox 65"/>
          <p:cNvSpPr txBox="1"/>
          <p:nvPr/>
        </p:nvSpPr>
        <p:spPr>
          <a:xfrm>
            <a:off x="6714622"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в кадровый бюджет не укладывается</a:t>
            </a:r>
          </a:p>
        </p:txBody>
      </p:sp>
      <p:sp>
        <p:nvSpPr>
          <p:cNvPr id="67" name="Rectangle 66"/>
          <p:cNvSpPr/>
          <p:nvPr/>
        </p:nvSpPr>
        <p:spPr>
          <a:xfrm>
            <a:off x="8330001"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68" name="Rectangle 67"/>
          <p:cNvSpPr/>
          <p:nvPr/>
        </p:nvSpPr>
        <p:spPr>
          <a:xfrm>
            <a:off x="10009388"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69" name="Rectangle 68"/>
          <p:cNvSpPr/>
          <p:nvPr/>
        </p:nvSpPr>
        <p:spPr>
          <a:xfrm>
            <a:off x="502920" y="5311773"/>
            <a:ext cx="2788920" cy="518753"/>
          </a:xfrm>
          <a:prstGeom prst="rect">
            <a:avLst/>
          </a:prstGeom>
          <a:solidFill>
            <a:srgbClr val="F4F7FA"/>
          </a:solidFill>
          <a:ln w="9525">
            <a:solidFill>
              <a:srgbClr val="D9E2EC"/>
            </a:solidFill>
          </a:ln>
          <a:effectLst/>
        </p:spPr>
        <p:txBody>
          <a:bodyPr rtlCol="0" anchor="ctr"/>
          <a:lstStyle/>
          <a:p>
            <a:pPr algn="ctr"/>
          </a:p>
        </p:txBody>
      </p:sp>
      <p:sp>
        <p:nvSpPr>
          <p:cNvPr id="70" name="TextBox 69"/>
          <p:cNvSpPr txBox="1"/>
          <p:nvPr/>
        </p:nvSpPr>
        <p:spPr>
          <a:xfrm>
            <a:off x="566928" y="5375781"/>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Ответить «кто отвечает»</a:t>
            </a:r>
          </a:p>
        </p:txBody>
      </p:sp>
      <p:sp>
        <p:nvSpPr>
          <p:cNvPr id="71" name="Rectangle 70"/>
          <p:cNvSpPr/>
          <p:nvPr/>
        </p:nvSpPr>
        <p:spPr>
          <a:xfrm>
            <a:off x="3291839"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2" name="TextBox 71"/>
          <p:cNvSpPr txBox="1"/>
          <p:nvPr/>
        </p:nvSpPr>
        <p:spPr>
          <a:xfrm>
            <a:off x="3355847"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73" name="Rectangle 72"/>
          <p:cNvSpPr/>
          <p:nvPr/>
        </p:nvSpPr>
        <p:spPr>
          <a:xfrm>
            <a:off x="4971227"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4" name="TextBox 73"/>
          <p:cNvSpPr txBox="1"/>
          <p:nvPr/>
        </p:nvSpPr>
        <p:spPr>
          <a:xfrm>
            <a:off x="5035235"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75" name="Rectangle 74"/>
          <p:cNvSpPr/>
          <p:nvPr/>
        </p:nvSpPr>
        <p:spPr>
          <a:xfrm>
            <a:off x="6650614"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6" name="TextBox 75"/>
          <p:cNvSpPr txBox="1"/>
          <p:nvPr/>
        </p:nvSpPr>
        <p:spPr>
          <a:xfrm>
            <a:off x="6714622"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77" name="Rectangle 76"/>
          <p:cNvSpPr/>
          <p:nvPr/>
        </p:nvSpPr>
        <p:spPr>
          <a:xfrm>
            <a:off x="8330001"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8" name="Rectangle 77"/>
          <p:cNvSpPr/>
          <p:nvPr/>
        </p:nvSpPr>
        <p:spPr>
          <a:xfrm>
            <a:off x="10009388"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9" name="Rounded Rectangle 78"/>
          <p:cNvSpPr/>
          <p:nvPr/>
        </p:nvSpPr>
        <p:spPr>
          <a:xfrm>
            <a:off x="502920" y="5912823"/>
            <a:ext cx="11185855" cy="323384"/>
          </a:xfrm>
          <a:prstGeom prst="roundRect">
            <a:avLst>
              <a:gd name="adj" fmla="val 14000"/>
            </a:avLst>
          </a:prstGeom>
          <a:solidFill>
            <a:srgbClr val="FEF5E0"/>
          </a:solidFill>
          <a:ln>
            <a:noFill/>
          </a:ln>
          <a:effectLst/>
        </p:spPr>
        <p:txBody>
          <a:bodyPr rtlCol="0" anchor="ctr"/>
          <a:lstStyle/>
          <a:p>
            <a:pPr algn="ctr"/>
          </a:p>
        </p:txBody>
      </p:sp>
      <p:sp>
        <p:nvSpPr>
          <p:cNvPr id="80" name="Rectangle 79"/>
          <p:cNvSpPr/>
          <p:nvPr/>
        </p:nvSpPr>
        <p:spPr>
          <a:xfrm>
            <a:off x="502920" y="5912823"/>
            <a:ext cx="68580" cy="323384"/>
          </a:xfrm>
          <a:prstGeom prst="rect">
            <a:avLst/>
          </a:prstGeom>
          <a:solidFill>
            <a:srgbClr val="F0AB00"/>
          </a:solidFill>
          <a:ln>
            <a:noFill/>
          </a:ln>
          <a:effectLst/>
        </p:spPr>
        <p:txBody>
          <a:bodyPr rtlCol="0" anchor="ctr"/>
          <a:lstStyle/>
          <a:p>
            <a:pPr algn="ctr"/>
          </a:p>
        </p:txBody>
      </p:sp>
      <p:sp>
        <p:nvSpPr>
          <p:cNvPr id="81" name="TextBox 80"/>
          <p:cNvSpPr txBox="1"/>
          <p:nvPr/>
        </p:nvSpPr>
        <p:spPr>
          <a:xfrm>
            <a:off x="685800" y="5976831"/>
            <a:ext cx="10783519" cy="195368"/>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АДРЕС ПЛАТЕЖА   Изображение — отбор, права · Звук — права, узнавание · Видео — отбор</a:t>
            </a:r>
          </a:p>
        </p:txBody>
      </p:sp>
      <p:sp>
        <p:nvSpPr>
          <p:cNvPr id="82" name="Rectangle 8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172252"/>
          </a:xfrm>
          <a:prstGeom prst="roundRect">
            <a:avLst>
              <a:gd name="adj" fmla="val 9608"/>
            </a:avLst>
          </a:prstGeom>
          <a:solidFill>
            <a:srgbClr val="F4F7FA"/>
          </a:solidFill>
          <a:ln w="19050">
            <a:solidFill>
              <a:srgbClr val="1C7293"/>
            </a:solidFill>
          </a:ln>
          <a:effectLst/>
        </p:spPr>
        <p:txBody>
          <a:bodyPr rtlCol="0" anchor="ctr"/>
          <a:lstStyle/>
          <a:p>
            <a:pPr algn="ctr"/>
          </a:p>
        </p:txBody>
      </p:sp>
      <p:pic>
        <p:nvPicPr>
          <p:cNvPr id="5" name="Picture 4" descr="s67-sphere-vegas.jpg"/>
          <p:cNvPicPr>
            <a:picLocks noChangeAspect="1"/>
          </p:cNvPicPr>
          <p:nvPr/>
        </p:nvPicPr>
        <p:blipFill>
          <a:blip r:embed="rId2"/>
          <a:stretch>
            <a:fillRect/>
          </a:stretch>
        </p:blipFill>
        <p:spPr>
          <a:xfrm>
            <a:off x="6949440" y="1051560"/>
            <a:ext cx="4602175" cy="2897932"/>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4. Трёхмерная сцена и реальное время</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547029"/>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Отношение проб к годному мы только что считали на видео. Здесь единица выхода дороже всего в ряду:</a:t>
            </a:r>
            <a:r>
              <a:rPr sz="1550" b="0" i="0">
                <a:solidFill>
                  <a:srgbClr val="21295C"/>
                </a:solidFill>
                <a:latin typeface="Arial"/>
              </a:rPr>
              <a:t> объект обязан быть верен со всех сторон сразу и во всех позах, включая те, в которые его поставят через полгода другие люди для другой сцены.</a:t>
            </a:r>
          </a:p>
        </p:txBody>
      </p:sp>
      <p:sp>
        <p:nvSpPr>
          <p:cNvPr id="9" name="TextBox 8"/>
          <p:cNvSpPr txBox="1"/>
          <p:nvPr/>
        </p:nvSpPr>
        <p:spPr>
          <a:xfrm>
            <a:off x="704088" y="3951835"/>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1 разбор · 3 упоминания · передний край.</a:t>
            </a:r>
            <a:r>
              <a:rPr sz="1550" b="0" i="0">
                <a:solidFill>
                  <a:srgbClr val="21295C"/>
                </a:solidFill>
                <a:latin typeface="Arial"/>
              </a:rPr>
              <a:t> Ни одного случая с посчитанными обеими сторонами — и это сведение о зрелости модальности.</a:t>
            </a:r>
          </a:p>
        </p:txBody>
      </p:sp>
      <p:sp>
        <p:nvSpPr>
          <p:cNvPr id="10" name="TextBox 9"/>
          <p:cNvSpPr txBox="1"/>
          <p:nvPr/>
        </p:nvSpPr>
        <p:spPr>
          <a:xfrm>
            <a:off x="704088" y="5022699"/>
            <a:ext cx="574243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Разбор: «Волшебник страны Оз» в Sphere — свыше 90% кадра тронуто</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 её делали без модели</a:t>
            </a:r>
          </a:p>
        </p:txBody>
      </p:sp>
      <p:sp>
        <p:nvSpPr>
          <p:cNvPr id="4" name="Rounded Rectangle 3"/>
          <p:cNvSpPr/>
          <p:nvPr/>
        </p:nvSpPr>
        <p:spPr>
          <a:xfrm>
            <a:off x="502920" y="1335024"/>
            <a:ext cx="1895506" cy="3017906"/>
          </a:xfrm>
          <a:prstGeom prst="roundRect">
            <a:avLst>
              <a:gd name="adj" fmla="val 1608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621186"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БЮДЖЕТ КАДРА В РЕАЛЬНОМ ВРЕМЕНИ</a:t>
            </a:r>
          </a:p>
        </p:txBody>
      </p:sp>
      <p:sp>
        <p:nvSpPr>
          <p:cNvPr id="6" name="TextBox 5"/>
          <p:cNvSpPr txBox="1"/>
          <p:nvPr/>
        </p:nvSpPr>
        <p:spPr>
          <a:xfrm>
            <a:off x="640080" y="2140317"/>
            <a:ext cx="1621186" cy="596748"/>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16,7 миллисекунды</a:t>
            </a:r>
          </a:p>
        </p:txBody>
      </p:sp>
      <p:sp>
        <p:nvSpPr>
          <p:cNvPr id="7" name="TextBox 6"/>
          <p:cNvSpPr txBox="1"/>
          <p:nvPr/>
        </p:nvSpPr>
        <p:spPr>
          <a:xfrm>
            <a:off x="640080" y="2737066"/>
            <a:ext cx="1621186"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шестидесяти кадрах в секунду; в него обязаны поместиться геометрия, свет, тени, эффекты и интерфейс разом</a:t>
            </a:r>
          </a:p>
        </p:txBody>
      </p:sp>
      <p:sp>
        <p:nvSpPr>
          <p:cNvPr id="8" name="Rounded Rectangle 7"/>
          <p:cNvSpPr/>
          <p:nvPr/>
        </p:nvSpPr>
        <p:spPr>
          <a:xfrm>
            <a:off x="2563018" y="1335024"/>
            <a:ext cx="1895506" cy="3017906"/>
          </a:xfrm>
          <a:prstGeom prst="roundRect">
            <a:avLst>
              <a:gd name="adj" fmla="val 1608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700178" y="1472184"/>
            <a:ext cx="1621186"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БЮДЖЕТ КАДРА В КИНО</a:t>
            </a:r>
          </a:p>
        </p:txBody>
      </p:sp>
      <p:sp>
        <p:nvSpPr>
          <p:cNvPr id="10" name="TextBox 9"/>
          <p:cNvSpPr txBox="1"/>
          <p:nvPr/>
        </p:nvSpPr>
        <p:spPr>
          <a:xfrm>
            <a:off x="2700178" y="1932846"/>
            <a:ext cx="1621186"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минуты и часы</a:t>
            </a:r>
          </a:p>
        </p:txBody>
      </p:sp>
      <p:sp>
        <p:nvSpPr>
          <p:cNvPr id="11" name="TextBox 10"/>
          <p:cNvSpPr txBox="1"/>
          <p:nvPr/>
        </p:nvSpPr>
        <p:spPr>
          <a:xfrm>
            <a:off x="2700178" y="2750268"/>
            <a:ext cx="1621186"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объект несёт миллионы многоугольников вместо десятков тысяч</a:t>
            </a:r>
          </a:p>
        </p:txBody>
      </p:sp>
      <p:sp>
        <p:nvSpPr>
          <p:cNvPr id="12" name="Rounded Rectangle 11"/>
          <p:cNvSpPr/>
          <p:nvPr/>
        </p:nvSpPr>
        <p:spPr>
          <a:xfrm>
            <a:off x="4623117" y="1335024"/>
            <a:ext cx="1895506" cy="3017906"/>
          </a:xfrm>
          <a:prstGeom prst="roundRect">
            <a:avLst>
              <a:gd name="adj" fmla="val 1608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760277" y="1472184"/>
            <a:ext cx="1621186"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МЕЖДУ ДВУМЯ БЮДЖЕТАМИ</a:t>
            </a:r>
          </a:p>
        </p:txBody>
      </p:sp>
      <p:sp>
        <p:nvSpPr>
          <p:cNvPr id="14" name="TextBox 13"/>
          <p:cNvSpPr txBox="1"/>
          <p:nvPr/>
        </p:nvSpPr>
        <p:spPr>
          <a:xfrm>
            <a:off x="4760277" y="2140317"/>
            <a:ext cx="1621186" cy="698597"/>
          </a:xfrm>
          <a:prstGeom prst="rect">
            <a:avLst/>
          </a:prstGeom>
          <a:noFill/>
        </p:spPr>
        <p:txBody>
          <a:bodyPr wrap="square" lIns="0" rIns="0" tIns="0" bIns="0" anchor="t">
            <a:spAutoFit/>
          </a:bodyPr>
          <a:lstStyle/>
          <a:p>
            <a:pPr algn="l">
              <a:lnSpc>
                <a:spcPct val="108000"/>
              </a:lnSpc>
            </a:pPr>
            <a:r>
              <a:rPr sz="1950" b="1" i="0">
                <a:solidFill>
                  <a:srgbClr val="1C7293"/>
                </a:solidFill>
                <a:latin typeface="Arial"/>
              </a:rPr>
              <a:t>четыре-пять порядков</a:t>
            </a:r>
          </a:p>
        </p:txBody>
      </p:sp>
      <p:sp>
        <p:nvSpPr>
          <p:cNvPr id="15" name="TextBox 14"/>
          <p:cNvSpPr txBox="1"/>
          <p:nvPr/>
        </p:nvSpPr>
        <p:spPr>
          <a:xfrm>
            <a:off x="4760277" y="2838915"/>
            <a:ext cx="1621186"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он и определяет всё остальное устройство конвейера</a:t>
            </a:r>
          </a:p>
        </p:txBody>
      </p:sp>
      <p:sp>
        <p:nvSpPr>
          <p:cNvPr id="16" name="Rounded Rectangle 15"/>
          <p:cNvSpPr/>
          <p:nvPr/>
        </p:nvSpPr>
        <p:spPr>
          <a:xfrm>
            <a:off x="374904" y="4444370"/>
            <a:ext cx="6271736" cy="1462564"/>
          </a:xfrm>
          <a:prstGeom prst="roundRect">
            <a:avLst>
              <a:gd name="adj" fmla="val 208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535810"/>
            <a:ext cx="5942552" cy="170039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Отрасль держит под словом «трёхмерная графика» три разные вещи:</a:t>
            </a:r>
            <a:r>
              <a:rPr sz="1500" b="0" i="0">
                <a:solidFill>
                  <a:srgbClr val="21295C"/>
                </a:solidFill>
                <a:latin typeface="Arial"/>
              </a:rPr>
              <a:t> ассет, сцену и бюджет на кадр. Решение стадии — утвердить форму до того, как в неё вложатся анимация, расчёт ткани и свет.</a:t>
            </a:r>
          </a:p>
        </p:txBody>
      </p:sp>
      <p:sp>
        <p:nvSpPr>
          <p:cNvPr id="18" name="Rounded Rectangle 17"/>
          <p:cNvSpPr/>
          <p:nvPr/>
        </p:nvSpPr>
        <p:spPr>
          <a:xfrm>
            <a:off x="6829520" y="1335024"/>
            <a:ext cx="4859254" cy="4389120"/>
          </a:xfrm>
          <a:prstGeom prst="roundRect">
            <a:avLst>
              <a:gd name="adj" fmla="val 6944"/>
            </a:avLst>
          </a:prstGeom>
          <a:solidFill>
            <a:srgbClr val="F4F7FA"/>
          </a:solidFill>
          <a:ln w="19050">
            <a:solidFill>
              <a:srgbClr val="1C7293"/>
            </a:solidFill>
          </a:ln>
          <a:effectLst/>
        </p:spPr>
        <p:txBody>
          <a:bodyPr rtlCol="0" anchor="ctr"/>
          <a:lstStyle/>
          <a:p>
            <a:pPr algn="ctr"/>
          </a:p>
        </p:txBody>
      </p:sp>
      <p:pic>
        <p:nvPicPr>
          <p:cNvPr id="19" name="Picture 18" descr="s68-3d-model-stages.png"/>
          <p:cNvPicPr>
            <a:picLocks noChangeAspect="1"/>
          </p:cNvPicPr>
          <p:nvPr/>
        </p:nvPicPr>
        <p:blipFill>
          <a:blip r:embed="rId2"/>
          <a:stretch>
            <a:fillRect/>
          </a:stretch>
        </p:blipFill>
        <p:spPr>
          <a:xfrm>
            <a:off x="6966680" y="1472184"/>
            <a:ext cx="4584934"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arXiv:2003.08934; QuadGPT, arXiv:2509.21420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Классический конвейер ассета и пять способов получить данные</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Поиск облика</a:t>
            </a:r>
          </a:p>
        </p:txBody>
      </p:sp>
      <p:sp>
        <p:nvSpPr>
          <p:cNvPr id="5" name="Rounded Rectangle 4"/>
          <p:cNvSpPr/>
          <p:nvPr/>
        </p:nvSpPr>
        <p:spPr>
          <a:xfrm>
            <a:off x="1920240"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концепт</a:t>
            </a:r>
          </a:p>
        </p:txBody>
      </p:sp>
      <p:sp>
        <p:nvSpPr>
          <p:cNvPr id="7" name="Right Arrow 6"/>
          <p:cNvSpPr/>
          <p:nvPr/>
        </p:nvSpPr>
        <p:spPr>
          <a:xfrm>
            <a:off x="5039258"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блокинг — грубая форма из коробок и сфер</a:t>
            </a:r>
          </a:p>
        </p:txBody>
      </p:sp>
      <p:sp>
        <p:nvSpPr>
          <p:cNvPr id="10" name="Right Arrow 9"/>
          <p:cNvSpPr/>
          <p:nvPr/>
        </p:nvSpPr>
        <p:spPr>
          <a:xfrm>
            <a:off x="8386876"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скульптинг до миллионов треугольников</a:t>
            </a:r>
          </a:p>
        </p:txBody>
      </p:sp>
      <p:sp>
        <p:nvSpPr>
          <p:cNvPr id="13" name="TextBox 12"/>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Подготовка к производству</a:t>
            </a:r>
          </a:p>
        </p:txBody>
      </p:sp>
      <p:sp>
        <p:nvSpPr>
          <p:cNvPr id="14" name="Rounded Rectangle 13"/>
          <p:cNvSpPr/>
          <p:nvPr/>
        </p:nvSpPr>
        <p:spPr>
          <a:xfrm>
            <a:off x="1920240"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ретопология — чистая сетка строится заново поверх вылепленной</a:t>
            </a:r>
          </a:p>
        </p:txBody>
      </p:sp>
      <p:sp>
        <p:nvSpPr>
          <p:cNvPr id="16" name="Right Arrow 15"/>
          <p:cNvSpPr/>
          <p:nvPr/>
        </p:nvSpPr>
        <p:spPr>
          <a:xfrm>
            <a:off x="4202353" y="2838784"/>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4430953"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4513249"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развёртка по швам</a:t>
            </a:r>
          </a:p>
        </p:txBody>
      </p:sp>
      <p:sp>
        <p:nvSpPr>
          <p:cNvPr id="19" name="Right Arrow 18"/>
          <p:cNvSpPr/>
          <p:nvPr/>
        </p:nvSpPr>
        <p:spPr>
          <a:xfrm>
            <a:off x="6713067" y="28387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6941667"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7023963"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текстурирование</a:t>
            </a:r>
          </a:p>
        </p:txBody>
      </p:sp>
      <p:sp>
        <p:nvSpPr>
          <p:cNvPr id="22" name="Right Arrow 21"/>
          <p:cNvSpPr/>
          <p:nvPr/>
        </p:nvSpPr>
        <p:spPr>
          <a:xfrm>
            <a:off x="9223781" y="28387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9452381"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9534677"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риггинг — скелет и привязка вершин</a:t>
            </a:r>
          </a:p>
        </p:txBody>
      </p:sp>
      <p:sp>
        <p:nvSpPr>
          <p:cNvPr id="25" name="TextBox 24"/>
          <p:cNvSpPr txBox="1"/>
          <p:nvPr/>
        </p:nvSpPr>
        <p:spPr>
          <a:xfrm>
            <a:off x="502920" y="3565589"/>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Использование</a:t>
            </a:r>
          </a:p>
        </p:txBody>
      </p:sp>
      <p:sp>
        <p:nvSpPr>
          <p:cNvPr id="26" name="Rounded Rectangle 25"/>
          <p:cNvSpPr/>
          <p:nvPr/>
        </p:nvSpPr>
        <p:spPr>
          <a:xfrm>
            <a:off x="1920240"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анимация и расчёт ткани</a:t>
            </a:r>
          </a:p>
        </p:txBody>
      </p:sp>
      <p:sp>
        <p:nvSpPr>
          <p:cNvPr id="28" name="Right Arrow 27"/>
          <p:cNvSpPr/>
          <p:nvPr/>
        </p:nvSpPr>
        <p:spPr>
          <a:xfrm>
            <a:off x="6713067" y="3935778"/>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6941667"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7023963"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рендер и сборка</a:t>
            </a:r>
          </a:p>
        </p:txBody>
      </p:sp>
      <p:sp>
        <p:nvSpPr>
          <p:cNvPr id="31" name="TextBox 30"/>
          <p:cNvSpPr txBox="1"/>
          <p:nvPr/>
        </p:nvSpPr>
        <p:spPr>
          <a:xfrm>
            <a:off x="502920" y="451628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конвейер ассета: девять стадий, собранные в три участка</a:t>
            </a:r>
          </a:p>
        </p:txBody>
      </p:sp>
      <p:sp>
        <p:nvSpPr>
          <p:cNvPr id="32" name="Rounded Rectangle 31"/>
          <p:cNvSpPr/>
          <p:nvPr/>
        </p:nvSpPr>
        <p:spPr>
          <a:xfrm>
            <a:off x="374904" y="4818963"/>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4910403"/>
            <a:ext cx="11112703" cy="13258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вошла в этот конвейер не целиком.</a:t>
            </a:r>
            <a:r>
              <a:rPr sz="1500" b="0" i="0">
                <a:solidFill>
                  <a:srgbClr val="21295C"/>
                </a:solidFill>
                <a:latin typeface="Arial"/>
              </a:rPr>
              <a:t> Она добавила шестой вход и удешевила первый; семь стадий из девяти остались там же, где были.</a:t>
            </a:r>
          </a:p>
        </p:txBody>
      </p:sp>
      <p:sp>
        <p:nvSpPr>
          <p:cNvPr id="34" name="Rectangle 33"/>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arXiv:2003.08934; QuadGPT, arXiv:2509.21420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Пять способов получить данные о реальном объекте и что из них тронула модель</a:t>
            </a:r>
          </a:p>
        </p:txBody>
      </p:sp>
      <p:sp>
        <p:nvSpPr>
          <p:cNvPr id="4" name="TextBox 3"/>
          <p:cNvSpPr txBox="1"/>
          <p:nvPr/>
        </p:nvSpPr>
        <p:spPr>
          <a:xfrm>
            <a:off x="502920" y="1371600"/>
            <a:ext cx="1307592" cy="102705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Пять классических входов</a:t>
            </a:r>
          </a:p>
        </p:txBody>
      </p:sp>
      <p:sp>
        <p:nvSpPr>
          <p:cNvPr id="5" name="Rounded Rectangle 4"/>
          <p:cNvSpPr/>
          <p:nvPr/>
        </p:nvSpPr>
        <p:spPr>
          <a:xfrm>
            <a:off x="2011680" y="1335024"/>
            <a:ext cx="9677095" cy="1100210"/>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фотограмметрия — обход с камерой, сотни кадров с перекрытием</a:t>
            </a:r>
          </a:p>
        </p:txBody>
      </p:sp>
      <p:sp>
        <p:nvSpPr>
          <p:cNvPr id="8" name="Rounded Rectangle 7"/>
          <p:cNvSpPr/>
          <p:nvPr/>
        </p:nvSpPr>
        <p:spPr>
          <a:xfrm>
            <a:off x="4499533"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4581829"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лазерное сканирование — прибор меряет расстояние: точнее по форме, беднее по цвету</a:t>
            </a:r>
          </a:p>
        </p:txBody>
      </p:sp>
      <p:sp>
        <p:nvSpPr>
          <p:cNvPr id="10" name="Rounded Rectangle 9"/>
          <p:cNvSpPr/>
          <p:nvPr/>
        </p:nvSpPr>
        <p:spPr>
          <a:xfrm>
            <a:off x="6895947"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978243"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ручное моделирование — единственный способ получить несуществующий объект</a:t>
            </a:r>
          </a:p>
        </p:txBody>
      </p:sp>
      <p:sp>
        <p:nvSpPr>
          <p:cNvPr id="12" name="Rounded Rectangle 11"/>
          <p:cNvSpPr/>
          <p:nvPr/>
        </p:nvSpPr>
        <p:spPr>
          <a:xfrm>
            <a:off x="9292361"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374657"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захват движения · готовые библиотеки — самый дешёвый путь и самый узкий</a:t>
            </a:r>
          </a:p>
        </p:txBody>
      </p:sp>
      <p:sp>
        <p:nvSpPr>
          <p:cNvPr id="14" name="TextBox 13"/>
          <p:cNvSpPr txBox="1"/>
          <p:nvPr/>
        </p:nvSpPr>
        <p:spPr>
          <a:xfrm>
            <a:off x="502920" y="2581538"/>
            <a:ext cx="1307592" cy="102705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тронула модель</a:t>
            </a:r>
          </a:p>
        </p:txBody>
      </p:sp>
      <p:sp>
        <p:nvSpPr>
          <p:cNvPr id="15" name="Rounded Rectangle 14"/>
          <p:cNvSpPr/>
          <p:nvPr/>
        </p:nvSpPr>
        <p:spPr>
          <a:xfrm>
            <a:off x="2011680" y="2544962"/>
            <a:ext cx="9677095" cy="1100210"/>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добавила шестой вход — текстовое описание</a:t>
            </a:r>
          </a:p>
        </p:txBody>
      </p:sp>
      <p:sp>
        <p:nvSpPr>
          <p:cNvPr id="18" name="Rounded Rectangle 17"/>
          <p:cNvSpPr/>
          <p:nvPr/>
        </p:nvSpPr>
        <p:spPr>
          <a:xfrm>
            <a:off x="4499533"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4581829"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удешевила первый: набор снимков в сцену за минуты вместо суток</a:t>
            </a:r>
          </a:p>
        </p:txBody>
      </p:sp>
      <p:sp>
        <p:nvSpPr>
          <p:cNvPr id="20" name="Rounded Rectangle 19"/>
          <p:cNvSpPr/>
          <p:nvPr/>
        </p:nvSpPr>
        <p:spPr>
          <a:xfrm>
            <a:off x="6895947"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6978243"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остальные четыре оставила как были</a:t>
            </a:r>
          </a:p>
        </p:txBody>
      </p:sp>
      <p:sp>
        <p:nvSpPr>
          <p:cNvPr id="22" name="Rounded Rectangle 21"/>
          <p:cNvSpPr/>
          <p:nvPr/>
        </p:nvSpPr>
        <p:spPr>
          <a:xfrm>
            <a:off x="9292361"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374657"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ни одного измерения не добавила: мерит по-прежнему лазерный сканер</a:t>
            </a:r>
          </a:p>
        </p:txBody>
      </p:sp>
      <p:sp>
        <p:nvSpPr>
          <p:cNvPr id="24" name="TextBox 23"/>
          <p:cNvSpPr txBox="1"/>
          <p:nvPr/>
        </p:nvSpPr>
        <p:spPr>
          <a:xfrm>
            <a:off x="502920" y="3718324"/>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Шесть входов стадии: пять классических и один добавленный моделью</a:t>
            </a:r>
          </a:p>
        </p:txBody>
      </p:sp>
      <p:sp>
        <p:nvSpPr>
          <p:cNvPr id="25" name="Rounded Rectangle 24"/>
          <p:cNvSpPr/>
          <p:nvPr/>
        </p:nvSpPr>
        <p:spPr>
          <a:xfrm>
            <a:off x="374904" y="4024779"/>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116219"/>
            <a:ext cx="11112703" cy="21199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добавила один вход и удешевила один — и не добавила ни одного измерения.</a:t>
            </a:r>
            <a:r>
              <a:rPr sz="1500" b="0" i="0">
                <a:solidFill>
                  <a:srgbClr val="21295C"/>
                </a:solidFill>
                <a:latin typeface="Arial"/>
              </a:rPr>
              <a:t> Побочный продукт фотограмметрии — разреженное облако точек — позже окажется стартовой точкой для обученного метода восстановления сцены.</a:t>
            </a:r>
          </a:p>
        </p:txBody>
      </p:sp>
      <p:sp>
        <p:nvSpPr>
          <p:cNvPr id="27" name="Rectangle 26"/>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arXiv:2003.08934; QuadGPT, arXiv:2509.21420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Разбор: «Волшебник страны Оз» в Sphere — свыше 90% кадра тронуто</a:t>
            </a:r>
          </a:p>
        </p:txBody>
      </p:sp>
      <p:sp>
        <p:nvSpPr>
          <p:cNvPr id="4" name="Rounded Rectangle 3"/>
          <p:cNvSpPr/>
          <p:nvPr/>
        </p:nvSpPr>
        <p:spPr>
          <a:xfrm>
            <a:off x="502920"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ИСХОДНЫЙ МАТЕРИАЛ</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плёнка 1939 года, кадр 4:3</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вход разбора</a:t>
            </a:r>
          </a:p>
        </p:txBody>
      </p:sp>
      <p:sp>
        <p:nvSpPr>
          <p:cNvPr id="8" name="Rounded Rectangle 7"/>
          <p:cNvSpPr/>
          <p:nvPr/>
        </p:nvSpPr>
        <p:spPr>
          <a:xfrm>
            <a:off x="3340531"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ТРОНУТО МОДЕЛЬЮ</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свыше 90% кадра</a:t>
            </a:r>
          </a:p>
        </p:txBody>
      </p:sp>
      <p:sp>
        <p:nvSpPr>
          <p:cNvPr id="11" name="TextBox 10"/>
          <p:cNvSpPr txBox="1"/>
          <p:nvPr/>
        </p:nvSpPr>
        <p:spPr>
          <a:xfrm>
            <a:off x="3477691"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достроено по сторонам до сферического экрана</a:t>
            </a:r>
          </a:p>
        </p:txBody>
      </p:sp>
      <p:sp>
        <p:nvSpPr>
          <p:cNvPr id="12" name="Rounded Rectangle 11"/>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ПРОДАНО БИЛЕТОВ, АВГУСТ 2025 — НАЧАЛО 2026</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более 2,2 млн</a:t>
            </a:r>
          </a:p>
        </p:txBody>
      </p:sp>
      <p:sp>
        <p:nvSpPr>
          <p:cNvPr id="15" name="TextBox 14"/>
          <p:cNvSpPr txBox="1"/>
          <p:nvPr/>
        </p:nvSpPr>
        <p:spPr>
          <a:xfrm>
            <a:off x="6315303" y="235984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фильм 1939 года доступен к просмотру где угодно и бесплатно — платят за формат показа</a:t>
            </a:r>
          </a:p>
        </p:txBody>
      </p:sp>
      <p:sp>
        <p:nvSpPr>
          <p:cNvPr id="16" name="Rounded Rectangle 15"/>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СТОИМОСТЬ ОБОИХ КЛАССИЧЕСКИХ РЕЖИМОВ</a:t>
            </a:r>
          </a:p>
        </p:txBody>
      </p:sp>
      <p:sp>
        <p:nvSpPr>
          <p:cNvPr id="18" name="TextBox 17"/>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опубликована</a:t>
            </a:r>
          </a:p>
        </p:txBody>
      </p:sp>
      <p:sp>
        <p:nvSpPr>
          <p:cNvPr id="19" name="TextBox 18"/>
          <p:cNvSpPr txBox="1"/>
          <p:nvPr/>
        </p:nvSpPr>
        <p:spPr>
          <a:xfrm>
            <a:off x="9152915"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правообладатель, ни технологический партнёр, ни площадка цифр не раскрывали</a:t>
            </a:r>
          </a:p>
        </p:txBody>
      </p:sp>
      <p:sp>
        <p:nvSpPr>
          <p:cNvPr id="20" name="TextBox 19"/>
          <p:cNvSpPr txBox="1"/>
          <p:nvPr/>
        </p:nvSpPr>
        <p:spPr>
          <a:xfrm>
            <a:off x="502920" y="3740615"/>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Классические режимы</a:t>
            </a:r>
          </a:p>
        </p:txBody>
      </p:sp>
      <p:sp>
        <p:nvSpPr>
          <p:cNvPr id="21" name="Rounded Rectangle 20"/>
          <p:cNvSpPr/>
          <p:nvPr/>
        </p:nvSpPr>
        <p:spPr>
          <a:xfrm>
            <a:off x="2011680" y="3704039"/>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2" name="Rounded Rectangle 21"/>
          <p:cNvSpPr/>
          <p:nvPr/>
        </p:nvSpPr>
        <p:spPr>
          <a:xfrm>
            <a:off x="2103120" y="3731471"/>
            <a:ext cx="4564227"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2185416" y="3777191"/>
            <a:ext cx="4399635"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реставрация и доработка под купол обычным путём, числа нет</a:t>
            </a:r>
          </a:p>
        </p:txBody>
      </p:sp>
      <p:sp>
        <p:nvSpPr>
          <p:cNvPr id="24" name="Right Arrow 23"/>
          <p:cNvSpPr/>
          <p:nvPr/>
        </p:nvSpPr>
        <p:spPr>
          <a:xfrm>
            <a:off x="6713067" y="3969448"/>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7033107" y="3731471"/>
            <a:ext cx="4564227"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6" name="TextBox 25"/>
          <p:cNvSpPr txBox="1"/>
          <p:nvPr/>
        </p:nvSpPr>
        <p:spPr>
          <a:xfrm>
            <a:off x="7115403" y="3777191"/>
            <a:ext cx="4399635"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показ 4:3 без достройки — рассмотрен и отвергнут, числа тоже нет</a:t>
            </a:r>
          </a:p>
        </p:txBody>
      </p:sp>
      <p:sp>
        <p:nvSpPr>
          <p:cNvPr id="27" name="TextBox 26"/>
          <p:cNvSpPr txBox="1"/>
          <p:nvPr/>
        </p:nvSpPr>
        <p:spPr>
          <a:xfrm>
            <a:off x="502920" y="4518321"/>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Чем сделано</a:t>
            </a:r>
          </a:p>
        </p:txBody>
      </p:sp>
      <p:sp>
        <p:nvSpPr>
          <p:cNvPr id="28" name="Rounded Rectangle 27"/>
          <p:cNvSpPr/>
          <p:nvPr/>
        </p:nvSpPr>
        <p:spPr>
          <a:xfrm>
            <a:off x="2011680" y="4481745"/>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9" name="Rounded Rectangle 28"/>
          <p:cNvSpPr/>
          <p:nvPr/>
        </p:nvSpPr>
        <p:spPr>
          <a:xfrm>
            <a:off x="2103120" y="4509177"/>
            <a:ext cx="4564227"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2185416" y="4554897"/>
            <a:ext cx="4399635"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1939 года, достройка — Imagen, Veo, Gemini</a:t>
            </a:r>
          </a:p>
        </p:txBody>
      </p:sp>
      <p:sp>
        <p:nvSpPr>
          <p:cNvPr id="31" name="Right Arrow 30"/>
          <p:cNvSpPr/>
          <p:nvPr/>
        </p:nvSpPr>
        <p:spPr>
          <a:xfrm>
            <a:off x="6713067" y="474715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7033107" y="4509177"/>
            <a:ext cx="4564227"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7115403" y="4554897"/>
            <a:ext cx="4399635"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разрешение — Topaz Video AI; права — Warner Bros.</a:t>
            </a:r>
          </a:p>
        </p:txBody>
      </p:sp>
      <p:sp>
        <p:nvSpPr>
          <p:cNvPr id="34" name="TextBox 33"/>
          <p:cNvSpPr txBox="1"/>
          <p:nvPr/>
        </p:nvSpPr>
        <p:spPr>
          <a:xfrm>
            <a:off x="502920" y="5222876"/>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классических режима названы, ни один не посчитан — выигрыш не объявляется вовсе</a:t>
            </a:r>
          </a:p>
        </p:txBody>
      </p:sp>
      <p:sp>
        <p:nvSpPr>
          <p:cNvPr id="35" name="Rounded Rectangle 34"/>
          <p:cNvSpPr/>
          <p:nvPr/>
        </p:nvSpPr>
        <p:spPr>
          <a:xfrm>
            <a:off x="374904" y="5529331"/>
            <a:ext cx="11441887" cy="70687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5620771"/>
            <a:ext cx="11112703" cy="61543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«Не реставрация в духе Скорсезе» — так говорят сами авторы.</a:t>
            </a:r>
            <a:r>
              <a:rPr sz="1500" b="0" i="0">
                <a:solidFill>
                  <a:srgbClr val="21295C"/>
                </a:solidFill>
                <a:latin typeface="Arial"/>
              </a:rPr>
              <a:t> Выигрыш не объявляется вовсе: оба классических режима названы, ни у одного нет цены.</a:t>
            </a:r>
          </a:p>
        </p:txBody>
      </p:sp>
      <p:sp>
        <p:nvSpPr>
          <p:cNvPr id="37" name="Rectangle 3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Sphere Entertainment и Warner Bros., заявления о проекте 2025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Светодиодная сцена, генератор ассета, среда по описанию</a:t>
            </a:r>
          </a:p>
        </p:txBody>
      </p:sp>
      <p:sp>
        <p:nvSpPr>
          <p:cNvPr id="4" name="Rounded Rectangle 3"/>
          <p:cNvSpPr/>
          <p:nvPr/>
        </p:nvSpPr>
        <p:spPr>
          <a:xfrm>
            <a:off x="502920" y="1335024"/>
            <a:ext cx="1747418" cy="3191427"/>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СВЕТОДИОДНАЯ СТЕНА STAGECRAFT, ОКТЯБРЬ 2019</a:t>
            </a:r>
          </a:p>
        </p:txBody>
      </p:sp>
      <p:sp>
        <p:nvSpPr>
          <p:cNvPr id="6" name="TextBox 5"/>
          <p:cNvSpPr txBox="1"/>
          <p:nvPr/>
        </p:nvSpPr>
        <p:spPr>
          <a:xfrm>
            <a:off x="640080" y="2347789"/>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1 326 панелей, дуга 270°</a:t>
            </a:r>
          </a:p>
        </p:txBody>
      </p:sp>
      <p:sp>
        <p:nvSpPr>
          <p:cNvPr id="7" name="TextBox 6"/>
          <p:cNvSpPr txBox="1"/>
          <p:nvPr/>
        </p:nvSpPr>
        <p:spPr>
          <a:xfrm>
            <a:off x="640080" y="2910587"/>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шаг пикселя 2,84 мм, высота 6 м, площадка 23 м в поперечнике; внутри снято больше половины первого сезона</a:t>
            </a:r>
          </a:p>
        </p:txBody>
      </p:sp>
      <p:sp>
        <p:nvSpPr>
          <p:cNvPr id="8" name="Rounded Rectangle 7"/>
          <p:cNvSpPr/>
          <p:nvPr/>
        </p:nvSpPr>
        <p:spPr>
          <a:xfrm>
            <a:off x="2414930" y="1335024"/>
            <a:ext cx="1747418" cy="3191427"/>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ГЕНЕРАТОР TRIPO: ПЕРВАЯ ВЫДАЧА АССЕТА</a:t>
            </a:r>
          </a:p>
        </p:txBody>
      </p:sp>
      <p:sp>
        <p:nvSpPr>
          <p:cNvPr id="10" name="TextBox 9"/>
          <p:cNvSpPr txBox="1"/>
          <p:nvPr/>
        </p:nvSpPr>
        <p:spPr>
          <a:xfrm>
            <a:off x="2552090" y="2140317"/>
            <a:ext cx="1473098" cy="766497"/>
          </a:xfrm>
          <a:prstGeom prst="rect">
            <a:avLst/>
          </a:prstGeom>
          <a:noFill/>
        </p:spPr>
        <p:txBody>
          <a:bodyPr wrap="square" lIns="0" rIns="0" tIns="0" bIns="0" anchor="t">
            <a:spAutoFit/>
          </a:bodyPr>
          <a:lstStyle/>
          <a:p>
            <a:pPr algn="l">
              <a:lnSpc>
                <a:spcPct val="108000"/>
              </a:lnSpc>
            </a:pPr>
            <a:r>
              <a:rPr sz="2150" b="1" i="0">
                <a:solidFill>
                  <a:srgbClr val="1C7293"/>
                </a:solidFill>
                <a:latin typeface="Arial"/>
              </a:rPr>
              <a:t>в среднем 8 секунд</a:t>
            </a:r>
          </a:p>
        </p:txBody>
      </p:sp>
      <p:sp>
        <p:nvSpPr>
          <p:cNvPr id="11" name="TextBox 10"/>
          <p:cNvSpPr txBox="1"/>
          <p:nvPr/>
        </p:nvSpPr>
        <p:spPr>
          <a:xfrm>
            <a:off x="2552090" y="2906815"/>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базы для сравнения нет: длительность той же работы у моделлера не названа нигде, оценки расходятся на порядок</a:t>
            </a:r>
          </a:p>
        </p:txBody>
      </p:sp>
      <p:sp>
        <p:nvSpPr>
          <p:cNvPr id="12" name="Rounded Rectangle 11"/>
          <p:cNvSpPr/>
          <p:nvPr/>
        </p:nvSpPr>
        <p:spPr>
          <a:xfrm>
            <a:off x="4326940" y="1335024"/>
            <a:ext cx="1747418" cy="3191427"/>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GENIE 3: СРЕДА ПО ОПИСАНИЮ</a:t>
            </a:r>
          </a:p>
        </p:txBody>
      </p:sp>
      <p:sp>
        <p:nvSpPr>
          <p:cNvPr id="14" name="TextBox 13"/>
          <p:cNvSpPr txBox="1"/>
          <p:nvPr/>
        </p:nvSpPr>
        <p:spPr>
          <a:xfrm>
            <a:off x="446410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720p, 24 кадра/с</a:t>
            </a:r>
          </a:p>
        </p:txBody>
      </p:sp>
      <p:sp>
        <p:nvSpPr>
          <p:cNvPr id="15" name="TextBox 14"/>
          <p:cNvSpPr txBox="1"/>
          <p:nvPr/>
        </p:nvSpPr>
        <p:spPr>
          <a:xfrm>
            <a:off x="4464100" y="2750268"/>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связность среды несколько минут против 10–20 секунд у предшественников того же класса; 11 млрд параметров</a:t>
            </a:r>
          </a:p>
        </p:txBody>
      </p:sp>
      <p:sp>
        <p:nvSpPr>
          <p:cNvPr id="16" name="Rounded Rectangle 15"/>
          <p:cNvSpPr/>
          <p:nvPr/>
        </p:nvSpPr>
        <p:spPr>
          <a:xfrm>
            <a:off x="374904" y="5381244"/>
            <a:ext cx="11441887" cy="8549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472683"/>
            <a:ext cx="11112703" cy="7635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Генерация изображения без съёмки началась не в 2024 году.</a:t>
            </a:r>
            <a:r>
              <a:rPr sz="1500" b="0" i="0">
                <a:solidFill>
                  <a:srgbClr val="21295C"/>
                </a:solidFill>
                <a:latin typeface="Arial"/>
              </a:rPr>
              <a:t> Фон светодиодной сцены никто не снимал уже в 2019-м — он посчитан в движке. Изменился способ его получить: сцену строили вручную, теперь её описывают словами.</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70-led-volume-studio.jp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Google DeepMind, Genie 3, август 2025</a:t>
            </a:r>
            <a:r>
              <a:rPr sz="1200" b="0" i="1">
                <a:solidFill>
                  <a:srgbClr val="1C7293"/>
                </a:solidFill>
                <a:latin typeface="Arial"/>
              </a:rPr>
              <a:t> · </a:t>
            </a:r>
            <a:r>
              <a:rPr sz="1200" b="0" i="1">
                <a:solidFill>
                  <a:srgbClr val="1C7293"/>
                </a:solidFill>
                <a:latin typeface="Arial"/>
              </a:rPr>
              <a:t>независимая проверка WRBench, 23 модели, июнь 2026 (arXiv:2606.20545)</a:t>
            </a:r>
            <a:r>
              <a:rPr sz="1200" b="0" i="1">
                <a:solidFill>
                  <a:srgbClr val="1C7293"/>
                </a:solidFill>
                <a:latin typeface="Arial"/>
              </a:rPr>
              <a:t> · </a:t>
            </a:r>
            <a:r>
              <a:rPr sz="1200" b="0" i="1">
                <a:solidFill>
                  <a:srgbClr val="1C7293"/>
                </a:solidFill>
                <a:latin typeface="Arial"/>
              </a:rPr>
              <a:t>Waymo World Model, февраль 2026 (демонстрация без независимой проверки)</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NeRF и гауссово спрыскивание: что разменяли на скорость</a:t>
            </a:r>
          </a:p>
        </p:txBody>
      </p:sp>
      <p:sp>
        <p:nvSpPr>
          <p:cNvPr id="4" name="Rounded Rectangle 3"/>
          <p:cNvSpPr/>
          <p:nvPr/>
        </p:nvSpPr>
        <p:spPr>
          <a:xfrm>
            <a:off x="502920"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ОБУЧЕНИЕ ОДНОЙ СЦЕНЫ</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быстрее примерно в 70 раз</a:t>
            </a:r>
          </a:p>
        </p:txBody>
      </p:sp>
      <p:sp>
        <p:nvSpPr>
          <p:cNvPr id="7" name="TextBox 6"/>
          <p:cNvSpPr txBox="1"/>
          <p:nvPr/>
        </p:nvSpPr>
        <p:spPr>
          <a:xfrm>
            <a:off x="640080"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48 часов у поля излучения против 41 минуты 33 секунд у спрыскивания, одна и та же сцена и один и тот же ускоритель</a:t>
            </a:r>
          </a:p>
        </p:txBody>
      </p:sp>
      <p:sp>
        <p:nvSpPr>
          <p:cNvPr id="8" name="Rounded Rectangle 7"/>
          <p:cNvSpPr/>
          <p:nvPr/>
        </p:nvSpPr>
        <p:spPr>
          <a:xfrm>
            <a:off x="4286402"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ПОКАЗ СЦЕНЫ</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быстрее примерно в 2 200 раз</a:t>
            </a:r>
          </a:p>
        </p:txBody>
      </p:sp>
      <p:sp>
        <p:nvSpPr>
          <p:cNvPr id="11" name="TextBox 10"/>
          <p:cNvSpPr txBox="1"/>
          <p:nvPr/>
        </p:nvSpPr>
        <p:spPr>
          <a:xfrm>
            <a:off x="4423562"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0,06 кадра в секунду против 134 — из научного проекта в интерактивный показ</a:t>
            </a:r>
          </a:p>
        </p:txBody>
      </p:sp>
      <p:sp>
        <p:nvSpPr>
          <p:cNvPr id="12" name="Rounded Rectangle 11"/>
          <p:cNvSpPr/>
          <p:nvPr/>
        </p:nvSpPr>
        <p:spPr>
          <a:xfrm>
            <a:off x="8069884"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ПАМЯТЬ НА СЦЕНУ — ЦЕНА РАЗМЕНА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больше примерно в 85 раз</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8,6 мегабайта против 734; это и есть та четвёртая величина, которой заплачено</a:t>
            </a:r>
          </a:p>
        </p:txBody>
      </p:sp>
      <p:sp>
        <p:nvSpPr>
          <p:cNvPr id="16" name="TextBox 15"/>
          <p:cNvSpPr txBox="1"/>
          <p:nvPr/>
        </p:nvSpPr>
        <p:spPr>
          <a:xfrm>
            <a:off x="502920" y="3533144"/>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Поле излучения, 2020</a:t>
            </a:r>
          </a:p>
        </p:txBody>
      </p:sp>
      <p:sp>
        <p:nvSpPr>
          <p:cNvPr id="17" name="Rounded Rectangle 16"/>
          <p:cNvSpPr/>
          <p:nvPr/>
        </p:nvSpPr>
        <p:spPr>
          <a:xfrm>
            <a:off x="2011680" y="3496568"/>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524000"/>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569720"/>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сцена — одна сеть: точка и взгляд → плотность и цвет</a:t>
            </a:r>
          </a:p>
        </p:txBody>
      </p:sp>
      <p:sp>
        <p:nvSpPr>
          <p:cNvPr id="20" name="Right Arrow 19"/>
          <p:cNvSpPr/>
          <p:nvPr/>
        </p:nvSpPr>
        <p:spPr>
          <a:xfrm>
            <a:off x="5069738" y="3761977"/>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389778" y="3524000"/>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2" name="TextBox 21"/>
          <p:cNvSpPr txBox="1"/>
          <p:nvPr/>
        </p:nvSpPr>
        <p:spPr>
          <a:xfrm>
            <a:off x="5472074" y="3569720"/>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кадр — 150–200 млн запросов сети вдоль луча</a:t>
            </a:r>
          </a:p>
        </p:txBody>
      </p:sp>
      <p:sp>
        <p:nvSpPr>
          <p:cNvPr id="23" name="Right Arrow 22"/>
          <p:cNvSpPr/>
          <p:nvPr/>
        </p:nvSpPr>
        <p:spPr>
          <a:xfrm>
            <a:off x="8356396" y="3761977"/>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76436" y="3524000"/>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8758732" y="3569720"/>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48 часов · 0,06 кадра/с · 8,6 МБ</a:t>
            </a:r>
          </a:p>
        </p:txBody>
      </p:sp>
      <p:sp>
        <p:nvSpPr>
          <p:cNvPr id="26" name="TextBox 25"/>
          <p:cNvSpPr txBox="1"/>
          <p:nvPr/>
        </p:nvSpPr>
        <p:spPr>
          <a:xfrm>
            <a:off x="502920" y="431085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Гауссово спрыскивание</a:t>
            </a:r>
          </a:p>
        </p:txBody>
      </p:sp>
      <p:sp>
        <p:nvSpPr>
          <p:cNvPr id="27" name="Rounded Rectangle 26"/>
          <p:cNvSpPr/>
          <p:nvPr/>
        </p:nvSpPr>
        <p:spPr>
          <a:xfrm>
            <a:off x="2011680" y="4274274"/>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8" name="Rounded Rectangle 27"/>
          <p:cNvSpPr/>
          <p:nvPr/>
        </p:nvSpPr>
        <p:spPr>
          <a:xfrm>
            <a:off x="2103120" y="4301706"/>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2185416" y="4347426"/>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сцена — вытянутые полупрозрачные кляксы</a:t>
            </a:r>
          </a:p>
        </p:txBody>
      </p:sp>
      <p:sp>
        <p:nvSpPr>
          <p:cNvPr id="30" name="Right Arrow 29"/>
          <p:cNvSpPr/>
          <p:nvPr/>
        </p:nvSpPr>
        <p:spPr>
          <a:xfrm>
            <a:off x="5069738" y="4539683"/>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5389778" y="4301706"/>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2" name="TextBox 31"/>
          <p:cNvSpPr txBox="1"/>
          <p:nvPr/>
        </p:nvSpPr>
        <p:spPr>
          <a:xfrm>
            <a:off x="5472074" y="4347426"/>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кадр — одна проекция на кляксу растеризатором</a:t>
            </a:r>
          </a:p>
        </p:txBody>
      </p:sp>
      <p:sp>
        <p:nvSpPr>
          <p:cNvPr id="33" name="Right Arrow 32"/>
          <p:cNvSpPr/>
          <p:nvPr/>
        </p:nvSpPr>
        <p:spPr>
          <a:xfrm>
            <a:off x="8356396" y="4539683"/>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8676436" y="4301706"/>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758732" y="4347426"/>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41 минута · 134 кадра/с · 734 МБ</a:t>
            </a:r>
          </a:p>
        </p:txBody>
      </p:sp>
      <p:sp>
        <p:nvSpPr>
          <p:cNvPr id="36" name="TextBox 35"/>
          <p:cNvSpPr txBox="1"/>
          <p:nvPr/>
        </p:nvSpPr>
        <p:spPr>
          <a:xfrm>
            <a:off x="502920" y="5015404"/>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Разницу создаёт устройство сцены, а не размер модели</a:t>
            </a:r>
          </a:p>
        </p:txBody>
      </p:sp>
      <p:sp>
        <p:nvSpPr>
          <p:cNvPr id="37" name="Rounded Rectangle 36"/>
          <p:cNvSpPr/>
          <p:nvPr/>
        </p:nvSpPr>
        <p:spPr>
          <a:xfrm>
            <a:off x="374904" y="5321860"/>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413300"/>
            <a:ext cx="11112703" cy="82290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Качество не менялось: разница меньше полудецибела, глазом неразличима.</a:t>
            </a:r>
            <a:r>
              <a:rPr sz="1500" b="0" i="0">
                <a:solidFill>
                  <a:srgbClr val="21295C"/>
                </a:solidFill>
                <a:latin typeface="Arial"/>
              </a:rPr>
              <a:t> Поменялась одна экономика, и поменялась сразу в обе стороны — разницу создаёт устройство сцены, а не размер модели.</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Kerbl et al., SIGGRAPH 2023, arXiv:2308.04079; Mildenhall et al., ECCV 2020, arXiv:2003.08934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Генерация объекта: диффузия сразу в трёхмерном против оптимизации через рендер</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ОПТИМИЗАЦИЯ ЧЕРЕЗ РЕНДЕР (DREAMFUSION, 2022)</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1,5 часа на объект</a:t>
            </a:r>
          </a:p>
        </p:txBody>
      </p:sp>
      <p:sp>
        <p:nvSpPr>
          <p:cNvPr id="7" name="TextBox 6"/>
          <p:cNvSpPr txBox="1"/>
          <p:nvPr/>
        </p:nvSpPr>
        <p:spPr>
          <a:xfrm>
            <a:off x="640080"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15 000 шагов на четырёхчиповой машине при рендере 64×64 пикселя</a:t>
            </a:r>
          </a:p>
        </p:txBody>
      </p:sp>
      <p:sp>
        <p:nvSpPr>
          <p:cNvPr id="8" name="Rounded Rectangle 7"/>
          <p:cNvSpPr/>
          <p:nvPr/>
        </p:nvSpPr>
        <p:spPr>
          <a:xfrm>
            <a:off x="4286402"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ДИФФУЗИЯ СРАЗУ В ТРЁХМЕРНОМ (TRELLIS, 2024)</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10 секунд на объект</a:t>
            </a:r>
          </a:p>
        </p:txBody>
      </p:sp>
      <p:sp>
        <p:nvSpPr>
          <p:cNvPr id="11" name="TextBox 10"/>
          <p:cNvSpPr txBox="1"/>
          <p:nvPr/>
        </p:nvSpPr>
        <p:spPr>
          <a:xfrm>
            <a:off x="4423562"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прямой проход после обучения на 500 тысячах объектов</a:t>
            </a:r>
          </a:p>
        </p:txBody>
      </p:sp>
      <p:sp>
        <p:nvSpPr>
          <p:cNvPr id="12" name="Rounded Rectangle 11"/>
          <p:cNvSpPr/>
          <p:nvPr/>
        </p:nvSpPr>
        <p:spPr>
          <a:xfrm>
            <a:off x="8069884"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примерно в 500 раз</a:t>
            </a:r>
          </a:p>
        </p:txBody>
      </p:sp>
      <p:sp>
        <p:nvSpPr>
          <p:cNvPr id="15" name="TextBox 14"/>
          <p:cNvSpPr txBox="1"/>
          <p:nvPr/>
        </p:nvSpPr>
        <p:spPr>
          <a:xfrm>
            <a:off x="8207044"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оба числа машинные: это 2022 год против 2024-го внутри одной инженерной линии, человека в паре нет</a:t>
            </a:r>
          </a:p>
        </p:txBody>
      </p:sp>
      <p:sp>
        <p:nvSpPr>
          <p:cNvPr id="16" name="TextBox 15"/>
          <p:cNvSpPr txBox="1"/>
          <p:nvPr/>
        </p:nvSpPr>
        <p:spPr>
          <a:xfrm>
            <a:off x="502920" y="3529371"/>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Оптимизация через рендер</a:t>
            </a:r>
          </a:p>
        </p:txBody>
      </p:sp>
      <p:sp>
        <p:nvSpPr>
          <p:cNvPr id="17" name="Rounded Rectangle 16"/>
          <p:cNvSpPr/>
          <p:nvPr/>
        </p:nvSpPr>
        <p:spPr>
          <a:xfrm>
            <a:off x="2011680" y="3492795"/>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52022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56594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модель не меняется — судья формы</a:t>
            </a:r>
          </a:p>
        </p:txBody>
      </p:sp>
      <p:sp>
        <p:nvSpPr>
          <p:cNvPr id="20" name="Right Arrow 19"/>
          <p:cNvSpPr/>
          <p:nvPr/>
        </p:nvSpPr>
        <p:spPr>
          <a:xfrm>
            <a:off x="5069738" y="3758205"/>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389778" y="352022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2" name="TextBox 21"/>
          <p:cNvSpPr txBox="1"/>
          <p:nvPr/>
        </p:nvSpPr>
        <p:spPr>
          <a:xfrm>
            <a:off x="5472074" y="356594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15 000 шагов рендера со случайных ракурсов</a:t>
            </a:r>
          </a:p>
        </p:txBody>
      </p:sp>
      <p:sp>
        <p:nvSpPr>
          <p:cNvPr id="23" name="Right Arrow 22"/>
          <p:cNvSpPr/>
          <p:nvPr/>
        </p:nvSpPr>
        <p:spPr>
          <a:xfrm>
            <a:off x="8356396" y="3758205"/>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76436" y="352022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8758732" y="356594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объект за 1,5 часа</a:t>
            </a:r>
          </a:p>
        </p:txBody>
      </p:sp>
      <p:sp>
        <p:nvSpPr>
          <p:cNvPr id="26" name="TextBox 25"/>
          <p:cNvSpPr txBox="1"/>
          <p:nvPr/>
        </p:nvSpPr>
        <p:spPr>
          <a:xfrm>
            <a:off x="502920" y="4307078"/>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Диффузия сразу в трёхмерном</a:t>
            </a:r>
          </a:p>
        </p:txBody>
      </p:sp>
      <p:sp>
        <p:nvSpPr>
          <p:cNvPr id="27" name="Rounded Rectangle 26"/>
          <p:cNvSpPr/>
          <p:nvPr/>
        </p:nvSpPr>
        <p:spPr>
          <a:xfrm>
            <a:off x="2011680" y="4270502"/>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8" name="Rounded Rectangle 27"/>
          <p:cNvSpPr/>
          <p:nvPr/>
        </p:nvSpPr>
        <p:spPr>
          <a:xfrm>
            <a:off x="2103120" y="4297934"/>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2185416" y="4343654"/>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обучение раз: 500 тыс. объектов</a:t>
            </a:r>
          </a:p>
        </p:txBody>
      </p:sp>
      <p:sp>
        <p:nvSpPr>
          <p:cNvPr id="30" name="Right Arrow 29"/>
          <p:cNvSpPr/>
          <p:nvPr/>
        </p:nvSpPr>
        <p:spPr>
          <a:xfrm>
            <a:off x="5069738" y="4535911"/>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5389778" y="4297934"/>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2" name="TextBox 31"/>
          <p:cNvSpPr txBox="1"/>
          <p:nvPr/>
        </p:nvSpPr>
        <p:spPr>
          <a:xfrm>
            <a:off x="5472074" y="4343654"/>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одно представление → три формата</a:t>
            </a:r>
          </a:p>
        </p:txBody>
      </p:sp>
      <p:sp>
        <p:nvSpPr>
          <p:cNvPr id="33" name="Right Arrow 32"/>
          <p:cNvSpPr/>
          <p:nvPr/>
        </p:nvSpPr>
        <p:spPr>
          <a:xfrm>
            <a:off x="8356396" y="4535911"/>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8676436" y="4297934"/>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758732" y="4343654"/>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объект за 10 секунд</a:t>
            </a:r>
          </a:p>
        </p:txBody>
      </p:sp>
      <p:sp>
        <p:nvSpPr>
          <p:cNvPr id="36" name="TextBox 35"/>
          <p:cNvSpPr txBox="1"/>
          <p:nvPr/>
        </p:nvSpPr>
        <p:spPr>
          <a:xfrm>
            <a:off x="502920" y="5011632"/>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Одна и та же выдача получена двумя разными устройствами</a:t>
            </a:r>
          </a:p>
        </p:txBody>
      </p:sp>
      <p:sp>
        <p:nvSpPr>
          <p:cNvPr id="37" name="Rounded Rectangle 36"/>
          <p:cNvSpPr/>
          <p:nvPr/>
        </p:nvSpPr>
        <p:spPr>
          <a:xfrm>
            <a:off x="374904" y="5318088"/>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409528"/>
            <a:ext cx="11112703" cy="82667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Разрыв возник не от железа.</a:t>
            </a:r>
            <a:r>
              <a:rPr sz="1500" b="0" i="0">
                <a:solidFill>
                  <a:srgbClr val="21295C"/>
                </a:solidFill>
                <a:latin typeface="Arial"/>
              </a:rPr>
              <a:t> Первый способ начинает каждый объект с нуля и тратит на него полный цикл подгонки; второй один раз обучился на полумиллионе объектов — и стоимость переехала из выдачи в обучение.</a:t>
            </a:r>
          </a:p>
        </p:txBody>
      </p:sp>
      <p:sp>
        <p:nvSpPr>
          <p:cNvPr id="39" name="Rectangle 38"/>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Poole et al., arXiv:2209.14988; Microsoft Research TRELLIS, arXiv:2412.01506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Два масштаба одной техники: тридцать секунд на кадр и одна миллисекунда на кадр</a:t>
            </a:r>
          </a:p>
        </p:txBody>
      </p:sp>
      <p:sp>
        <p:nvSpPr>
          <p:cNvPr id="4" name="Rounded Rectangle 3"/>
          <p:cNvSpPr/>
          <p:nvPr/>
        </p:nvSpPr>
        <p:spPr>
          <a:xfrm>
            <a:off x="502920" y="1335024"/>
            <a:ext cx="2673019"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ВЕРХНИЙ МАСШТАБ: ПОЛЕ ИЗЛУЧЕНИЯ, 2020</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30 секунд на кадр</a:t>
            </a:r>
          </a:p>
        </p:txBody>
      </p:sp>
      <p:sp>
        <p:nvSpPr>
          <p:cNvPr id="7" name="TextBox 6"/>
          <p:cNvSpPr txBox="1"/>
          <p:nvPr/>
        </p:nvSpPr>
        <p:spPr>
          <a:xfrm>
            <a:off x="640080"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150–200 миллионов запросов сети на один кадр, сутки-двое обучения на сцену</a:t>
            </a:r>
          </a:p>
        </p:txBody>
      </p:sp>
      <p:sp>
        <p:nvSpPr>
          <p:cNvPr id="8" name="Rounded Rectangle 7"/>
          <p:cNvSpPr/>
          <p:nvPr/>
        </p:nvSpPr>
        <p:spPr>
          <a:xfrm>
            <a:off x="3340531" y="1335024"/>
            <a:ext cx="2673019"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НИЖНИЙ МАСШТАБ: ГРАФИКА РЕАЛЬНОГО ВРЕМЕНИ, 2025</a:t>
            </a:r>
          </a:p>
        </p:txBody>
      </p:sp>
      <p:sp>
        <p:nvSpPr>
          <p:cNvPr id="10" name="TextBox 9"/>
          <p:cNvSpPr txBox="1"/>
          <p:nvPr/>
        </p:nvSpPr>
        <p:spPr>
          <a:xfrm>
            <a:off x="3477691" y="1932846"/>
            <a:ext cx="2398699"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около 1 миллисекунды на кадр</a:t>
            </a:r>
          </a:p>
        </p:txBody>
      </p:sp>
      <p:sp>
        <p:nvSpPr>
          <p:cNvPr id="11" name="TextBox 10"/>
          <p:cNvSpPr txBox="1"/>
          <p:nvPr/>
        </p:nvSpPr>
        <p:spPr>
          <a:xfrm>
            <a:off x="3477691" y="2495645"/>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пять нейросетей на кадр, шестьдесят кадров в секунду, на потребительской плате</a:t>
            </a:r>
          </a:p>
        </p:txBody>
      </p:sp>
      <p:sp>
        <p:nvSpPr>
          <p:cNvPr id="12" name="Rounded Rectangle 11"/>
          <p:cNvSpPr/>
          <p:nvPr/>
        </p:nvSpPr>
        <p:spPr>
          <a:xfrm>
            <a:off x="6178143" y="1335024"/>
            <a:ext cx="2673019" cy="2397378"/>
          </a:xfrm>
          <a:prstGeom prst="roundRect">
            <a:avLst>
              <a:gd name="adj" fmla="val 1271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 БЮДЖЕТА НА ЕДИНИЦУ ВЫХОДА</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примерно в 30 000 раз</a:t>
            </a:r>
          </a:p>
        </p:txBody>
      </p:sp>
      <p:sp>
        <p:nvSpPr>
          <p:cNvPr id="15" name="TextBox 14"/>
          <p:cNvSpPr txBox="1"/>
          <p:nvPr/>
        </p:nvSpPr>
        <p:spPr>
          <a:xfrm>
            <a:off x="6315303" y="275026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разных наук, ни разных классов моделей: и там и там трансформер и градиентный спуск</a:t>
            </a:r>
          </a:p>
        </p:txBody>
      </p:sp>
      <p:sp>
        <p:nvSpPr>
          <p:cNvPr id="16" name="Rounded Rectangle 15"/>
          <p:cNvSpPr/>
          <p:nvPr/>
        </p:nvSpPr>
        <p:spPr>
          <a:xfrm>
            <a:off x="9015755" y="1335024"/>
            <a:ext cx="2673019"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ЭКРАНА, НАРИСОВАННАЯ СЕТЬЮ</a:t>
            </a:r>
          </a:p>
        </p:txBody>
      </p:sp>
      <p:sp>
        <p:nvSpPr>
          <p:cNvPr id="18" name="TextBox 17"/>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 пикселей из каждых 16</a:t>
            </a:r>
          </a:p>
        </p:txBody>
      </p:sp>
      <p:sp>
        <p:nvSpPr>
          <p:cNvPr id="19" name="TextBox 18"/>
          <p:cNvSpPr txBox="1"/>
          <p:nvPr/>
        </p:nvSpPr>
        <p:spPr>
          <a:xfrm>
            <a:off x="9152915" y="275026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четырёхкратной достройке кадров вместе с четырёхкратным повышением разрешения</a:t>
            </a:r>
          </a:p>
        </p:txBody>
      </p:sp>
      <p:sp>
        <p:nvSpPr>
          <p:cNvPr id="20" name="TextBox 19"/>
          <p:cNvSpPr txBox="1"/>
          <p:nvPr/>
        </p:nvSpPr>
        <p:spPr>
          <a:xfrm>
            <a:off x="502920" y="3951858"/>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даёт</a:t>
            </a:r>
          </a:p>
        </p:txBody>
      </p:sp>
      <p:sp>
        <p:nvSpPr>
          <p:cNvPr id="21" name="Rounded Rectangle 20"/>
          <p:cNvSpPr/>
          <p:nvPr/>
        </p:nvSpPr>
        <p:spPr>
          <a:xfrm>
            <a:off x="2011680" y="3915282"/>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2" name="Rounded Rectangle 21"/>
          <p:cNvSpPr/>
          <p:nvPr/>
        </p:nvSpPr>
        <p:spPr>
          <a:xfrm>
            <a:off x="2103120" y="394271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2185416" y="398843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восстанавливает высокое разрешение по истории кадров</a:t>
            </a:r>
          </a:p>
        </p:txBody>
      </p:sp>
      <p:sp>
        <p:nvSpPr>
          <p:cNvPr id="24" name="Rounded Rectangle 23"/>
          <p:cNvSpPr/>
          <p:nvPr/>
        </p:nvSpPr>
        <p:spPr>
          <a:xfrm>
            <a:off x="5298338" y="394271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5380634" y="398843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синтезирует промежуточные кадры между отрисованными</a:t>
            </a:r>
          </a:p>
        </p:txBody>
      </p:sp>
      <p:sp>
        <p:nvSpPr>
          <p:cNvPr id="26" name="Rounded Rectangle 25"/>
          <p:cNvSpPr/>
          <p:nvPr/>
        </p:nvSpPr>
        <p:spPr>
          <a:xfrm>
            <a:off x="8493556" y="394271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8575852" y="398843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было 3,25 мс на кадр 4K, стало около 1 мс</a:t>
            </a:r>
          </a:p>
        </p:txBody>
      </p:sp>
      <p:sp>
        <p:nvSpPr>
          <p:cNvPr id="28" name="TextBox 27"/>
          <p:cNvSpPr txBox="1"/>
          <p:nvPr/>
        </p:nvSpPr>
        <p:spPr>
          <a:xfrm>
            <a:off x="502920" y="4729565"/>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Где ломается</a:t>
            </a:r>
          </a:p>
        </p:txBody>
      </p:sp>
      <p:sp>
        <p:nvSpPr>
          <p:cNvPr id="29" name="Rounded Rectangle 28"/>
          <p:cNvSpPr/>
          <p:nvPr/>
        </p:nvSpPr>
        <p:spPr>
          <a:xfrm>
            <a:off x="2011680" y="4692989"/>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0" name="Rounded Rectangle 29"/>
          <p:cNvSpPr/>
          <p:nvPr/>
        </p:nvSpPr>
        <p:spPr>
          <a:xfrm>
            <a:off x="2103120" y="472042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2185416" y="476614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задержку ввода не уменьшает ни на миллисекунду</a:t>
            </a:r>
          </a:p>
        </p:txBody>
      </p:sp>
      <p:sp>
        <p:nvSpPr>
          <p:cNvPr id="32" name="Rounded Rectangle 31"/>
          <p:cNvSpPr/>
          <p:nvPr/>
        </p:nvSpPr>
        <p:spPr>
          <a:xfrm>
            <a:off x="5298338" y="472042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5380634" y="476614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интерфейс — векторов движения у него нет</a:t>
            </a:r>
          </a:p>
        </p:txBody>
      </p:sp>
      <p:sp>
        <p:nvSpPr>
          <p:cNvPr id="34" name="Rounded Rectangle 33"/>
          <p:cNvSpPr/>
          <p:nvPr/>
        </p:nvSpPr>
        <p:spPr>
          <a:xfrm>
            <a:off x="8493556" y="472042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575852" y="476614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блики, частицы — векторы и глубина неверны по построению</a:t>
            </a:r>
          </a:p>
        </p:txBody>
      </p:sp>
      <p:sp>
        <p:nvSpPr>
          <p:cNvPr id="36" name="TextBox 35"/>
          <p:cNvSpPr txBox="1"/>
          <p:nvPr/>
        </p:nvSpPr>
        <p:spPr>
          <a:xfrm>
            <a:off x="502920" y="543411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Один и тот же приём: что сеть достраивает и где достройка не работает</a:t>
            </a:r>
          </a:p>
        </p:txBody>
      </p:sp>
      <p:sp>
        <p:nvSpPr>
          <p:cNvPr id="37" name="Rounded Rectangle 36"/>
          <p:cNvSpPr/>
          <p:nvPr/>
        </p:nvSpPr>
        <p:spPr>
          <a:xfrm>
            <a:off x="374904" y="5740575"/>
            <a:ext cx="11441887" cy="49563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832015"/>
            <a:ext cx="11112703" cy="404192"/>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«Может ли модель» почти всегда «да», и это ничего не решает.</a:t>
            </a:r>
            <a:r>
              <a:rPr sz="1450" b="0" i="0">
                <a:solidFill>
                  <a:srgbClr val="21295C"/>
                </a:solidFill>
                <a:latin typeface="Arial"/>
              </a:rPr>
              <a:t> Решают за сколько, сколько раз в секунду и на чьём железе.</a:t>
            </a:r>
          </a:p>
        </p:txBody>
      </p:sp>
      <p:sp>
        <p:nvSpPr>
          <p:cNvPr id="39" name="Rectangle 38"/>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RIFE, ECCV 2022, arXiv:2011.06294; Waymo World Model, февраль 2026 (демонстрация без независимой проверки)</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Сгенерированная сетка идёт на переделку: ретопология, развёртка, риггинг</a:t>
            </a:r>
          </a:p>
        </p:txBody>
      </p:sp>
      <p:sp>
        <p:nvSpPr>
          <p:cNvPr id="4" name="Rounded Rectangle 3"/>
          <p:cNvSpPr/>
          <p:nvPr/>
        </p:nvSpPr>
        <p:spPr>
          <a:xfrm>
            <a:off x="502920"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ВЫДАЁТ ГЕНЕРАТОР</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первая форма за единицы секунд</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пригодна к просмотру и к постановке в фон</a:t>
            </a:r>
          </a:p>
        </p:txBody>
      </p:sp>
      <p:sp>
        <p:nvSpPr>
          <p:cNvPr id="8" name="Rounded Rectangle 7"/>
          <p:cNvSpPr/>
          <p:nvPr/>
        </p:nvSpPr>
        <p:spPr>
          <a:xfrm>
            <a:off x="4286402" y="1335024"/>
            <a:ext cx="3618890" cy="2397378"/>
          </a:xfrm>
          <a:prstGeom prst="roundRect">
            <a:avLst>
              <a:gd name="adj" fmla="val 1271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В НЕЙ НЕИЗБЕЖНО НЕ ТАК</a:t>
            </a:r>
          </a:p>
        </p:txBody>
      </p:sp>
      <p:sp>
        <p:nvSpPr>
          <p:cNvPr id="10" name="TextBox 9"/>
          <p:cNvSpPr txBox="1"/>
          <p:nvPr/>
        </p:nvSpPr>
        <p:spPr>
          <a:xfrm>
            <a:off x="4423562" y="1725375"/>
            <a:ext cx="3344570" cy="1156920"/>
          </a:xfrm>
          <a:prstGeom prst="rect">
            <a:avLst/>
          </a:prstGeom>
          <a:noFill/>
        </p:spPr>
        <p:txBody>
          <a:bodyPr wrap="square" lIns="0" rIns="0" tIns="0" bIns="0" anchor="t">
            <a:spAutoFit/>
          </a:bodyPr>
          <a:lstStyle/>
          <a:p>
            <a:pPr algn="l">
              <a:lnSpc>
                <a:spcPct val="108000"/>
              </a:lnSpc>
            </a:pPr>
            <a:r>
              <a:rPr sz="2200" b="1" i="0">
                <a:solidFill>
                  <a:srgbClr val="1C7293"/>
                </a:solidFill>
                <a:latin typeface="Arial"/>
              </a:rPr>
              <a:t>равномерная плотность, нет течения рёбер, нет развёртки</a:t>
            </a:r>
          </a:p>
        </p:txBody>
      </p:sp>
      <p:sp>
        <p:nvSpPr>
          <p:cNvPr id="11" name="TextBox 10"/>
          <p:cNvSpPr txBox="1"/>
          <p:nvPr/>
        </p:nvSpPr>
        <p:spPr>
          <a:xfrm>
            <a:off x="4423562" y="2882296"/>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следует из способа извлечения поверхности, а не из недоработки модели</a:t>
            </a:r>
          </a:p>
        </p:txBody>
      </p:sp>
      <p:sp>
        <p:nvSpPr>
          <p:cNvPr id="12" name="Rounded Rectangle 11"/>
          <p:cNvSpPr/>
          <p:nvPr/>
        </p:nvSpPr>
        <p:spPr>
          <a:xfrm>
            <a:off x="8069884" y="1335024"/>
            <a:ext cx="3618890" cy="2397378"/>
          </a:xfrm>
          <a:prstGeom prst="roundRect">
            <a:avLst>
              <a:gd name="adj" fmla="val 1271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СКОЛЬКО СТАДИЙ КОНВЕЙЕРА ОСТАЁТСЯ ЛЮДЯМ</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три из девяти — и самые дорогие</a:t>
            </a:r>
          </a:p>
        </p:txBody>
      </p:sp>
      <p:sp>
        <p:nvSpPr>
          <p:cNvPr id="15" name="TextBox 14"/>
          <p:cNvSpPr txBox="1"/>
          <p:nvPr/>
        </p:nvSpPr>
        <p:spPr>
          <a:xfrm>
            <a:off x="8207044" y="2750268"/>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ретопология, развёртка, риггинг; автоматический скелет их не отменяет — он ставит кости поверх той сетки, которая есть</a:t>
            </a:r>
          </a:p>
        </p:txBody>
      </p:sp>
      <p:sp>
        <p:nvSpPr>
          <p:cNvPr id="16" name="TextBox 15"/>
          <p:cNvSpPr txBox="1"/>
          <p:nvPr/>
        </p:nvSpPr>
        <p:spPr>
          <a:xfrm>
            <a:off x="502920" y="3951858"/>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Генератор</a:t>
            </a:r>
          </a:p>
        </p:txBody>
      </p:sp>
      <p:sp>
        <p:nvSpPr>
          <p:cNvPr id="17" name="Rounded Rectangle 16"/>
          <p:cNvSpPr/>
          <p:nvPr/>
        </p:nvSpPr>
        <p:spPr>
          <a:xfrm>
            <a:off x="2011680" y="3915282"/>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942714"/>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988434"/>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первая форма за единицы секунд</a:t>
            </a:r>
          </a:p>
        </p:txBody>
      </p:sp>
      <p:sp>
        <p:nvSpPr>
          <p:cNvPr id="20" name="Right Arrow 19"/>
          <p:cNvSpPr/>
          <p:nvPr/>
        </p:nvSpPr>
        <p:spPr>
          <a:xfrm>
            <a:off x="5069738" y="4180691"/>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389778" y="3942714"/>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2" name="TextBox 21"/>
          <p:cNvSpPr txBox="1"/>
          <p:nvPr/>
        </p:nvSpPr>
        <p:spPr>
          <a:xfrm>
            <a:off x="5472074" y="3988434"/>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поверхность решёткой: плотная, неструктурированная</a:t>
            </a:r>
          </a:p>
        </p:txBody>
      </p:sp>
      <p:sp>
        <p:nvSpPr>
          <p:cNvPr id="23" name="TextBox 22"/>
          <p:cNvSpPr txBox="1"/>
          <p:nvPr/>
        </p:nvSpPr>
        <p:spPr>
          <a:xfrm>
            <a:off x="502920" y="4729565"/>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Руками</a:t>
            </a:r>
          </a:p>
        </p:txBody>
      </p:sp>
      <p:sp>
        <p:nvSpPr>
          <p:cNvPr id="24" name="Rounded Rectangle 23"/>
          <p:cNvSpPr/>
          <p:nvPr/>
        </p:nvSpPr>
        <p:spPr>
          <a:xfrm>
            <a:off x="2011680" y="4692989"/>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5" name="Rounded Rectangle 24"/>
          <p:cNvSpPr/>
          <p:nvPr/>
        </p:nvSpPr>
        <p:spPr>
          <a:xfrm>
            <a:off x="2103120" y="4720421"/>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6" name="TextBox 25"/>
          <p:cNvSpPr txBox="1"/>
          <p:nvPr/>
        </p:nvSpPr>
        <p:spPr>
          <a:xfrm>
            <a:off x="2185416" y="4766141"/>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ретопология — сетка строится заново</a:t>
            </a:r>
          </a:p>
        </p:txBody>
      </p:sp>
      <p:sp>
        <p:nvSpPr>
          <p:cNvPr id="27" name="Right Arrow 26"/>
          <p:cNvSpPr/>
          <p:nvPr/>
        </p:nvSpPr>
        <p:spPr>
          <a:xfrm>
            <a:off x="5069738" y="4958398"/>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5389778" y="4720421"/>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5472074" y="4766141"/>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развёртка по спланированным швам</a:t>
            </a:r>
          </a:p>
        </p:txBody>
      </p:sp>
      <p:sp>
        <p:nvSpPr>
          <p:cNvPr id="30" name="Right Arrow 29"/>
          <p:cNvSpPr/>
          <p:nvPr/>
        </p:nvSpPr>
        <p:spPr>
          <a:xfrm>
            <a:off x="8356396" y="4958398"/>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8676436" y="4720421"/>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2" name="TextBox 31"/>
          <p:cNvSpPr txBox="1"/>
          <p:nvPr/>
        </p:nvSpPr>
        <p:spPr>
          <a:xfrm>
            <a:off x="8758732" y="4766141"/>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риггинг — скелет и веса вершин</a:t>
            </a:r>
          </a:p>
        </p:txBody>
      </p:sp>
      <p:sp>
        <p:nvSpPr>
          <p:cNvPr id="33" name="TextBox 32"/>
          <p:cNvSpPr txBox="1"/>
          <p:nvPr/>
        </p:nvSpPr>
        <p:spPr>
          <a:xfrm>
            <a:off x="502920" y="543411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Что происходит с ассетом после «восьми секунд»</a:t>
            </a:r>
          </a:p>
        </p:txBody>
      </p:sp>
      <p:sp>
        <p:nvSpPr>
          <p:cNvPr id="34" name="Rounded Rectangle 33"/>
          <p:cNvSpPr/>
          <p:nvPr/>
        </p:nvSpPr>
        <p:spPr>
          <a:xfrm>
            <a:off x="374904" y="5740575"/>
            <a:ext cx="11441887" cy="49563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832015"/>
            <a:ext cx="11112703" cy="404192"/>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«Ассет за восемь секунд» и «ассет, готовый к работе» — разные вещи.</a:t>
            </a:r>
            <a:r>
              <a:rPr sz="1400" b="0" i="0">
                <a:solidFill>
                  <a:srgbClr val="21295C"/>
                </a:solidFill>
                <a:latin typeface="Arial"/>
              </a:rPr>
              <a:t> Три стадии остаются людям — и это самые дорогие три.</a:t>
            </a:r>
          </a:p>
        </p:txBody>
      </p:sp>
      <p:sp>
        <p:nvSpPr>
          <p:cNvPr id="36" name="Rectangle 35"/>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QuadGPT, Tencent Hunyuan и HKUST, arXiv:2509.21420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 сгенерированного объекта нет размеров</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КАКИХ КООРДИНАТАХ ЖИВЁТ ФОРМА</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безразмерных</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пропорции есть, величины нет</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РАЗМЕРОВ, ПРИГОДНЫХ ДЛЯ ЧЕРТЕЖА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ни одного</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обучена на формах; обмеров в обучении не было, и взяться размеру неоткуда</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ПЯТИ КЛАССИЧЕСКИХ ВХОДОВ МОДЕЛЬ ТРОНУЛА</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один, и добавила шестой</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лазерный сканер как мерил размеры, так и мерит</a:t>
            </a:r>
          </a:p>
        </p:txBody>
      </p:sp>
      <p:sp>
        <p:nvSpPr>
          <p:cNvPr id="16" name="TextBox 15"/>
          <p:cNvSpPr txBox="1"/>
          <p:nvPr/>
        </p:nvSpPr>
        <p:spPr>
          <a:xfrm>
            <a:off x="502920" y="3529371"/>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Генератор формы</a:t>
            </a:r>
          </a:p>
        </p:txBody>
      </p:sp>
      <p:sp>
        <p:nvSpPr>
          <p:cNvPr id="17" name="Rounded Rectangle 16"/>
          <p:cNvSpPr/>
          <p:nvPr/>
        </p:nvSpPr>
        <p:spPr>
          <a:xfrm>
            <a:off x="2011680" y="3492795"/>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520227"/>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565947"/>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 описание словами</a:t>
            </a:r>
          </a:p>
        </p:txBody>
      </p:sp>
      <p:sp>
        <p:nvSpPr>
          <p:cNvPr id="20" name="Right Arrow 19"/>
          <p:cNvSpPr/>
          <p:nvPr/>
        </p:nvSpPr>
        <p:spPr>
          <a:xfrm>
            <a:off x="5069738" y="3874907"/>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389778" y="3520227"/>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2" name="TextBox 21"/>
          <p:cNvSpPr txBox="1"/>
          <p:nvPr/>
        </p:nvSpPr>
        <p:spPr>
          <a:xfrm>
            <a:off x="5472074" y="3565947"/>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поверхность за секунды, координаты безразмерные</a:t>
            </a:r>
          </a:p>
        </p:txBody>
      </p:sp>
      <p:sp>
        <p:nvSpPr>
          <p:cNvPr id="23" name="Right Arrow 22"/>
          <p:cNvSpPr/>
          <p:nvPr/>
        </p:nvSpPr>
        <p:spPr>
          <a:xfrm>
            <a:off x="8356396" y="3874907"/>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76436" y="3520227"/>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8758732" y="3565947"/>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масштаб назначает человек на глаз</a:t>
            </a:r>
          </a:p>
        </p:txBody>
      </p:sp>
      <p:sp>
        <p:nvSpPr>
          <p:cNvPr id="26" name="TextBox 25"/>
          <p:cNvSpPr txBox="1"/>
          <p:nvPr/>
        </p:nvSpPr>
        <p:spPr>
          <a:xfrm>
            <a:off x="502920" y="4540483"/>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Система проектирования</a:t>
            </a:r>
          </a:p>
        </p:txBody>
      </p:sp>
      <p:sp>
        <p:nvSpPr>
          <p:cNvPr id="27" name="Rounded Rectangle 26"/>
          <p:cNvSpPr/>
          <p:nvPr/>
        </p:nvSpPr>
        <p:spPr>
          <a:xfrm>
            <a:off x="2011680" y="4503907"/>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8" name="Rounded Rectangle 27"/>
          <p:cNvSpPr/>
          <p:nvPr/>
        </p:nvSpPr>
        <p:spPr>
          <a:xfrm>
            <a:off x="2103120" y="4531339"/>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2185416" y="4577059"/>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 параметры и связи между ними</a:t>
            </a:r>
          </a:p>
        </p:txBody>
      </p:sp>
      <p:sp>
        <p:nvSpPr>
          <p:cNvPr id="30" name="Right Arrow 29"/>
          <p:cNvSpPr/>
          <p:nvPr/>
        </p:nvSpPr>
        <p:spPr>
          <a:xfrm>
            <a:off x="5069738" y="476931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5389778" y="4531339"/>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2" name="TextBox 31"/>
          <p:cNvSpPr txBox="1"/>
          <p:nvPr/>
        </p:nvSpPr>
        <p:spPr>
          <a:xfrm>
            <a:off x="5472074" y="4577059"/>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размеры, допуски, материал — часть самой модели</a:t>
            </a:r>
          </a:p>
        </p:txBody>
      </p:sp>
      <p:sp>
        <p:nvSpPr>
          <p:cNvPr id="33" name="Right Arrow 32"/>
          <p:cNvSpPr/>
          <p:nvPr/>
        </p:nvSpPr>
        <p:spPr>
          <a:xfrm>
            <a:off x="8356396" y="4769316"/>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8676436" y="4531339"/>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758732" y="4577059"/>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чертёж, по которому изготавливают и принимают</a:t>
            </a:r>
          </a:p>
        </p:txBody>
      </p:sp>
      <p:sp>
        <p:nvSpPr>
          <p:cNvPr id="36" name="TextBox 35"/>
          <p:cNvSpPr txBox="1"/>
          <p:nvPr/>
        </p:nvSpPr>
        <p:spPr>
          <a:xfrm>
            <a:off x="502920" y="5245037"/>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инструмента на одном месте конвейера: у одного величин нет, у другого они и есть предмет</a:t>
            </a:r>
          </a:p>
        </p:txBody>
      </p:sp>
      <p:sp>
        <p:nvSpPr>
          <p:cNvPr id="37" name="Rounded Rectangle 36"/>
          <p:cNvSpPr/>
          <p:nvPr/>
        </p:nvSpPr>
        <p:spPr>
          <a:xfrm>
            <a:off x="374904" y="5551493"/>
            <a:ext cx="11441887" cy="68471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642933"/>
            <a:ext cx="11112703" cy="593274"/>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Генератор формы стоит до расчёта, а критерий отбора остаётся снаружи, у человека.</a:t>
            </a:r>
            <a:r>
              <a:rPr sz="1450" b="0" i="0">
                <a:solidFill>
                  <a:srgbClr val="21295C"/>
                </a:solidFill>
                <a:latin typeface="Arial"/>
              </a:rPr>
              <a:t> «Кронштейн под нагрузку» выглядит как кронштейн и не несёт ни нагрузки, ни материала, ни допуска — проверить расчётом нечего.</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Чего в открытых источниках не нашлось</a:t>
            </a:r>
          </a:p>
        </p:txBody>
      </p:sp>
      <p:sp>
        <p:nvSpPr>
          <p:cNvPr id="4" name="Rounded Rectangle 3"/>
          <p:cNvSpPr/>
          <p:nvPr/>
        </p:nvSpPr>
        <p:spPr>
          <a:xfrm>
            <a:off x="502920" y="1335024"/>
            <a:ext cx="3618890" cy="1808914"/>
          </a:xfrm>
          <a:prstGeom prst="roundRect">
            <a:avLst>
              <a:gd name="adj" fmla="val 16849"/>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СОДЕРЖАТЕЛЬНЫХ ПОПАДАНИЙ ПО СТОИМОСТИ ТРЁХМЕРНОГО</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ноль</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сплошная проверка всей подборки материалов о ценах</a:t>
            </a:r>
          </a:p>
        </p:txBody>
      </p:sp>
      <p:sp>
        <p:nvSpPr>
          <p:cNvPr id="8" name="Rounded Rectangle 7"/>
          <p:cNvSpPr/>
          <p:nvPr/>
        </p:nvSpPr>
        <p:spPr>
          <a:xfrm>
            <a:off x="4286402" y="1335024"/>
            <a:ext cx="3618890" cy="1808914"/>
          </a:xfrm>
          <a:prstGeom prst="roundRect">
            <a:avLst>
              <a:gd name="adj" fmla="val 1684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НЕТ ПОИМЁННО</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четыре величины</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генерации за единицу выхода · ставка моделлера · цена входа в реальное время · доля работы, которую ассет закрывает</a:t>
            </a:r>
          </a:p>
        </p:txBody>
      </p:sp>
      <p:sp>
        <p:nvSpPr>
          <p:cNvPr id="12" name="Rounded Rectangle 11"/>
          <p:cNvSpPr/>
          <p:nvPr/>
        </p:nvSpPr>
        <p:spPr>
          <a:xfrm>
            <a:off x="8069884" y="1335024"/>
            <a:ext cx="3618890" cy="1808914"/>
          </a:xfrm>
          <a:prstGeom prst="roundRect">
            <a:avLst>
              <a:gd name="adj" fmla="val 16849"/>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 КАКИХ МОДАЛЬНОСТЕЙ ЗАМЕРЫ ЕСТЬ</a:t>
            </a:r>
          </a:p>
        </p:txBody>
      </p:sp>
      <p:sp>
        <p:nvSpPr>
          <p:cNvPr id="14" name="TextBox 13"/>
          <p:cNvSpPr txBox="1"/>
          <p:nvPr/>
        </p:nvSpPr>
        <p:spPr>
          <a:xfrm>
            <a:off x="8207044" y="1725375"/>
            <a:ext cx="3344570"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изображение с 2023, дубляж с 2024, видео с 2025</a:t>
            </a:r>
          </a:p>
        </p:txBody>
      </p:sp>
      <p:sp>
        <p:nvSpPr>
          <p:cNvPr id="15" name="TextBox 14"/>
          <p:cNvSpPr txBox="1"/>
          <p:nvPr/>
        </p:nvSpPr>
        <p:spPr>
          <a:xfrm>
            <a:off x="8207044" y="237304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трёхмерного на конец 2026 — нет; технология вышла из лаборатории два года назад</a:t>
            </a:r>
          </a:p>
        </p:txBody>
      </p:sp>
      <p:sp>
        <p:nvSpPr>
          <p:cNvPr id="16" name="TextBox 15"/>
          <p:cNvSpPr txBox="1"/>
          <p:nvPr/>
        </p:nvSpPr>
        <p:spPr>
          <a:xfrm>
            <a:off x="502920" y="3363394"/>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Где замеры есть</a:t>
            </a:r>
          </a:p>
        </p:txBody>
      </p:sp>
      <p:sp>
        <p:nvSpPr>
          <p:cNvPr id="17" name="Rounded Rectangle 16"/>
          <p:cNvSpPr/>
          <p:nvPr/>
        </p:nvSpPr>
        <p:spPr>
          <a:xfrm>
            <a:off x="2011680" y="3326818"/>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354250"/>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399970"/>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изображение — с 2023 года</a:t>
            </a:r>
          </a:p>
        </p:txBody>
      </p:sp>
      <p:sp>
        <p:nvSpPr>
          <p:cNvPr id="20" name="Rounded Rectangle 19"/>
          <p:cNvSpPr/>
          <p:nvPr/>
        </p:nvSpPr>
        <p:spPr>
          <a:xfrm>
            <a:off x="5298338" y="3354250"/>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5380634" y="3399970"/>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дубляж — с 2024 года</a:t>
            </a:r>
          </a:p>
        </p:txBody>
      </p:sp>
      <p:sp>
        <p:nvSpPr>
          <p:cNvPr id="22" name="Rounded Rectangle 21"/>
          <p:cNvSpPr/>
          <p:nvPr/>
        </p:nvSpPr>
        <p:spPr>
          <a:xfrm>
            <a:off x="8493556" y="3354250"/>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575852" y="3399970"/>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видео — с 2025 года</a:t>
            </a:r>
          </a:p>
        </p:txBody>
      </p:sp>
      <p:sp>
        <p:nvSpPr>
          <p:cNvPr id="24" name="TextBox 23"/>
          <p:cNvSpPr txBox="1"/>
          <p:nvPr/>
        </p:nvSpPr>
        <p:spPr>
          <a:xfrm>
            <a:off x="502920" y="3985186"/>
            <a:ext cx="1307592" cy="899574"/>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Трёхмерное</a:t>
            </a:r>
          </a:p>
        </p:txBody>
      </p:sp>
      <p:sp>
        <p:nvSpPr>
          <p:cNvPr id="25" name="Rounded Rectangle 24"/>
          <p:cNvSpPr/>
          <p:nvPr/>
        </p:nvSpPr>
        <p:spPr>
          <a:xfrm>
            <a:off x="2103120" y="3976042"/>
            <a:ext cx="3103778" cy="457200"/>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26" name="Rounded Rectangle 25"/>
          <p:cNvSpPr/>
          <p:nvPr/>
        </p:nvSpPr>
        <p:spPr>
          <a:xfrm>
            <a:off x="5298338" y="3976042"/>
            <a:ext cx="3103778" cy="457200"/>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27" name="Rounded Rectangle 26"/>
          <p:cNvSpPr/>
          <p:nvPr/>
        </p:nvSpPr>
        <p:spPr>
          <a:xfrm>
            <a:off x="8493556" y="3976042"/>
            <a:ext cx="3103778" cy="457200"/>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2103120" y="4478962"/>
            <a:ext cx="9494215" cy="414942"/>
          </a:xfrm>
          <a:prstGeom prst="rect">
            <a:avLst/>
          </a:prstGeom>
          <a:noFill/>
        </p:spPr>
        <p:txBody>
          <a:bodyPr wrap="square" lIns="0" rIns="0" tIns="0" bIns="0" anchor="t">
            <a:spAutoFit/>
          </a:bodyPr>
          <a:lstStyle/>
          <a:p>
            <a:pPr algn="ctr">
              <a:lnSpc>
                <a:spcPct val="110000"/>
              </a:lnSpc>
            </a:pPr>
            <a:r>
              <a:rPr sz="1200" b="1" i="0">
                <a:solidFill>
                  <a:srgbClr val="065A82"/>
                </a:solidFill>
                <a:latin typeface="Arial"/>
              </a:rPr>
              <a:t>ни одной из четырёх величин: цена генерации за единицу выхода · ставка моделлера за ту же работу · цена входа в реальное время · доля работы, которую закрывает сгенерированный ассет</a:t>
            </a:r>
          </a:p>
        </p:txBody>
      </p:sp>
      <p:sp>
        <p:nvSpPr>
          <p:cNvPr id="29" name="TextBox 28"/>
          <p:cNvSpPr txBox="1"/>
          <p:nvPr/>
        </p:nvSpPr>
        <p:spPr>
          <a:xfrm>
            <a:off x="502920" y="499448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У трёх модальностей вечера замеры стоимости опубликованы; у четвёртой нет ни одной из четырёх величин</a:t>
            </a:r>
          </a:p>
        </p:txBody>
      </p:sp>
      <p:sp>
        <p:nvSpPr>
          <p:cNvPr id="30" name="Rounded Rectangle 29"/>
          <p:cNvSpPr/>
          <p:nvPr/>
        </p:nvSpPr>
        <p:spPr>
          <a:xfrm>
            <a:off x="374904" y="5300945"/>
            <a:ext cx="11441887" cy="84863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392385"/>
            <a:ext cx="11112703" cy="843822"/>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Это сведение, а не пробел.</a:t>
            </a:r>
            <a:r>
              <a:rPr sz="1450" b="0" i="0">
                <a:solidFill>
                  <a:srgbClr val="21295C"/>
                </a:solidFill>
                <a:latin typeface="Arial"/>
              </a:rPr>
              <a:t> Знать, что замеров ещё не опубликовано, полезнее, чем получить красивое число неизвестного происхождения: кратность «в тысячу раз быстрее художника» вышла бы делением измеренного на выдуманное.</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колонка «Трёхмерное»</a:t>
            </a:r>
          </a:p>
        </p:txBody>
      </p:sp>
      <p:sp>
        <p:nvSpPr>
          <p:cNvPr id="4" name="Rounded Rectangle 3"/>
          <p:cNvSpPr/>
          <p:nvPr/>
        </p:nvSpPr>
        <p:spPr>
          <a:xfrm>
            <a:off x="374904" y="1243584"/>
            <a:ext cx="11441887" cy="47789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3864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Четыре колонки из пяти.</a:t>
            </a:r>
            <a:r>
              <a:rPr sz="1500" b="0" i="0">
                <a:solidFill>
                  <a:srgbClr val="21295C"/>
                </a:solidFill>
                <a:latin typeface="Arial"/>
              </a:rPr>
              <a:t> Две строки пусты у всех четырёх модальностей подряд: точные величины и ответ «кто отвечает».</a:t>
            </a:r>
          </a:p>
        </p:txBody>
      </p:sp>
      <p:sp>
        <p:nvSpPr>
          <p:cNvPr id="6" name="Rectangle 5"/>
          <p:cNvSpPr/>
          <p:nvPr/>
        </p:nvSpPr>
        <p:spPr>
          <a:xfrm>
            <a:off x="502920" y="1831202"/>
            <a:ext cx="2788920" cy="305623"/>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1895210"/>
            <a:ext cx="2660903"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Тип задачи</a:t>
            </a:r>
          </a:p>
        </p:txBody>
      </p:sp>
      <p:sp>
        <p:nvSpPr>
          <p:cNvPr id="8" name="Rectangle 7"/>
          <p:cNvSpPr/>
          <p:nvPr/>
        </p:nvSpPr>
        <p:spPr>
          <a:xfrm>
            <a:off x="3291839" y="1831202"/>
            <a:ext cx="1679387" cy="305623"/>
          </a:xfrm>
          <a:prstGeom prst="rect">
            <a:avLst/>
          </a:prstGeom>
          <a:solidFill>
            <a:srgbClr val="065A82"/>
          </a:solidFill>
          <a:ln>
            <a:noFill/>
          </a:ln>
          <a:effectLst/>
        </p:spPr>
        <p:txBody>
          <a:bodyPr rtlCol="0" anchor="ctr"/>
          <a:lstStyle/>
          <a:p>
            <a:pPr algn="ctr"/>
          </a:p>
        </p:txBody>
      </p:sp>
      <p:sp>
        <p:nvSpPr>
          <p:cNvPr id="9" name="TextBox 8"/>
          <p:cNvSpPr txBox="1"/>
          <p:nvPr/>
        </p:nvSpPr>
        <p:spPr>
          <a:xfrm>
            <a:off x="3355847"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Изображение</a:t>
            </a:r>
          </a:p>
        </p:txBody>
      </p:sp>
      <p:sp>
        <p:nvSpPr>
          <p:cNvPr id="10" name="Rectangle 9"/>
          <p:cNvSpPr/>
          <p:nvPr/>
        </p:nvSpPr>
        <p:spPr>
          <a:xfrm>
            <a:off x="4971227" y="1831202"/>
            <a:ext cx="1679387" cy="305623"/>
          </a:xfrm>
          <a:prstGeom prst="rect">
            <a:avLst/>
          </a:prstGeom>
          <a:solidFill>
            <a:srgbClr val="065A82"/>
          </a:solidFill>
          <a:ln>
            <a:noFill/>
          </a:ln>
          <a:effectLst/>
        </p:spPr>
        <p:txBody>
          <a:bodyPr rtlCol="0" anchor="ctr"/>
          <a:lstStyle/>
          <a:p>
            <a:pPr algn="ctr"/>
          </a:p>
        </p:txBody>
      </p:sp>
      <p:sp>
        <p:nvSpPr>
          <p:cNvPr id="11" name="TextBox 10"/>
          <p:cNvSpPr txBox="1"/>
          <p:nvPr/>
        </p:nvSpPr>
        <p:spPr>
          <a:xfrm>
            <a:off x="5035235"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Звук</a:t>
            </a:r>
          </a:p>
        </p:txBody>
      </p:sp>
      <p:sp>
        <p:nvSpPr>
          <p:cNvPr id="12" name="Rectangle 11"/>
          <p:cNvSpPr/>
          <p:nvPr/>
        </p:nvSpPr>
        <p:spPr>
          <a:xfrm>
            <a:off x="6650614" y="1831202"/>
            <a:ext cx="1679387" cy="305623"/>
          </a:xfrm>
          <a:prstGeom prst="rect">
            <a:avLst/>
          </a:prstGeom>
          <a:solidFill>
            <a:srgbClr val="065A82"/>
          </a:solidFill>
          <a:ln>
            <a:noFill/>
          </a:ln>
          <a:effectLst/>
        </p:spPr>
        <p:txBody>
          <a:bodyPr rtlCol="0" anchor="ctr"/>
          <a:lstStyle/>
          <a:p>
            <a:pPr algn="ctr"/>
          </a:p>
        </p:txBody>
      </p:sp>
      <p:sp>
        <p:nvSpPr>
          <p:cNvPr id="13" name="TextBox 12"/>
          <p:cNvSpPr txBox="1"/>
          <p:nvPr/>
        </p:nvSpPr>
        <p:spPr>
          <a:xfrm>
            <a:off x="6714622"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Видео</a:t>
            </a:r>
          </a:p>
        </p:txBody>
      </p:sp>
      <p:sp>
        <p:nvSpPr>
          <p:cNvPr id="14" name="Rectangle 13"/>
          <p:cNvSpPr/>
          <p:nvPr/>
        </p:nvSpPr>
        <p:spPr>
          <a:xfrm>
            <a:off x="8330001" y="1831202"/>
            <a:ext cx="1679387" cy="305623"/>
          </a:xfrm>
          <a:prstGeom prst="rect">
            <a:avLst/>
          </a:prstGeom>
          <a:solidFill>
            <a:srgbClr val="065A82"/>
          </a:solidFill>
          <a:ln>
            <a:noFill/>
          </a:ln>
          <a:effectLst/>
        </p:spPr>
        <p:txBody>
          <a:bodyPr rtlCol="0" anchor="ctr"/>
          <a:lstStyle/>
          <a:p>
            <a:pPr algn="ctr"/>
          </a:p>
        </p:txBody>
      </p:sp>
      <p:sp>
        <p:nvSpPr>
          <p:cNvPr id="15" name="TextBox 14"/>
          <p:cNvSpPr txBox="1"/>
          <p:nvPr/>
        </p:nvSpPr>
        <p:spPr>
          <a:xfrm>
            <a:off x="8394009"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Трёхмерное</a:t>
            </a:r>
          </a:p>
        </p:txBody>
      </p:sp>
      <p:sp>
        <p:nvSpPr>
          <p:cNvPr id="16" name="Rectangle 15"/>
          <p:cNvSpPr/>
          <p:nvPr/>
        </p:nvSpPr>
        <p:spPr>
          <a:xfrm>
            <a:off x="10009388" y="1831202"/>
            <a:ext cx="1679387" cy="305623"/>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1895210"/>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Распознавание</a:t>
            </a:r>
          </a:p>
        </p:txBody>
      </p:sp>
      <p:sp>
        <p:nvSpPr>
          <p:cNvPr id="18" name="Rectangle 17"/>
          <p:cNvSpPr/>
          <p:nvPr/>
        </p:nvSpPr>
        <p:spPr>
          <a:xfrm>
            <a:off x="8330001" y="2086534"/>
            <a:ext cx="1679387" cy="50292"/>
          </a:xfrm>
          <a:prstGeom prst="rect">
            <a:avLst/>
          </a:prstGeom>
          <a:solidFill>
            <a:srgbClr val="F0AB00"/>
          </a:solidFill>
          <a:ln>
            <a:noFill/>
          </a:ln>
          <a:effectLst/>
        </p:spPr>
        <p:txBody>
          <a:bodyPr rtlCol="0" anchor="ctr"/>
          <a:lstStyle/>
          <a:p>
            <a:pPr algn="ctr"/>
          </a:p>
        </p:txBody>
      </p:sp>
      <p:sp>
        <p:nvSpPr>
          <p:cNvPr id="19" name="Rectangle 18"/>
          <p:cNvSpPr/>
          <p:nvPr/>
        </p:nvSpPr>
        <p:spPr>
          <a:xfrm>
            <a:off x="502920" y="2136826"/>
            <a:ext cx="2788920" cy="652750"/>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566928" y="2200834"/>
            <a:ext cx="2660903" cy="524734"/>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Породить первое приближение</a:t>
            </a:r>
          </a:p>
          <a:p>
            <a:pPr algn="l">
              <a:lnSpc>
                <a:spcPct val="113000"/>
              </a:lnSpc>
              <a:spcBef>
                <a:spcPts val="200"/>
              </a:spcBef>
            </a:pPr>
            <a:r>
              <a:rPr sz="850" b="0" i="1">
                <a:solidFill>
                  <a:srgbClr val="1C7293"/>
                </a:solidFill>
                <a:latin typeface="Arial"/>
              </a:rPr>
              <a:t>получить варианты облика, пока решение ещё не принято</a:t>
            </a:r>
          </a:p>
        </p:txBody>
      </p:sp>
      <p:sp>
        <p:nvSpPr>
          <p:cNvPr id="21" name="Rectangle 20"/>
          <p:cNvSpPr/>
          <p:nvPr/>
        </p:nvSpPr>
        <p:spPr>
          <a:xfrm>
            <a:off x="3291839"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3355847"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0,034–0,05 $ за изображение</a:t>
            </a:r>
          </a:p>
        </p:txBody>
      </p:sp>
      <p:sp>
        <p:nvSpPr>
          <p:cNvPr id="23" name="Rectangle 22"/>
          <p:cNvSpPr/>
          <p:nvPr/>
        </p:nvSpPr>
        <p:spPr>
          <a:xfrm>
            <a:off x="4971227"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4" name="TextBox 23"/>
          <p:cNvSpPr txBox="1"/>
          <p:nvPr/>
        </p:nvSpPr>
        <p:spPr>
          <a:xfrm>
            <a:off x="5035235"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дубляж 0,03–0,072 $ за минуту</a:t>
            </a:r>
          </a:p>
        </p:txBody>
      </p:sp>
      <p:sp>
        <p:nvSpPr>
          <p:cNvPr id="25" name="Rectangle 24"/>
          <p:cNvSpPr/>
          <p:nvPr/>
        </p:nvSpPr>
        <p:spPr>
          <a:xfrm>
            <a:off x="6650614"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6" name="TextBox 25"/>
          <p:cNvSpPr txBox="1"/>
          <p:nvPr/>
        </p:nvSpPr>
        <p:spPr>
          <a:xfrm>
            <a:off x="6714622"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цена выпуска ниже в 10–20 раз</a:t>
            </a:r>
          </a:p>
        </p:txBody>
      </p:sp>
      <p:sp>
        <p:nvSpPr>
          <p:cNvPr id="27" name="Rectangle 26"/>
          <p:cNvSpPr/>
          <p:nvPr/>
        </p:nvSpPr>
        <p:spPr>
          <a:xfrm>
            <a:off x="8330001"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8" name="TextBox 27"/>
          <p:cNvSpPr txBox="1"/>
          <p:nvPr/>
        </p:nvSpPr>
        <p:spPr>
          <a:xfrm>
            <a:off x="8394009"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единицы секунд на вариант</a:t>
            </a:r>
          </a:p>
        </p:txBody>
      </p:sp>
      <p:sp>
        <p:nvSpPr>
          <p:cNvPr id="29" name="Rectangle 28"/>
          <p:cNvSpPr/>
          <p:nvPr/>
        </p:nvSpPr>
        <p:spPr>
          <a:xfrm>
            <a:off x="10009388" y="2136826"/>
            <a:ext cx="1679387" cy="652750"/>
          </a:xfrm>
          <a:prstGeom prst="rect">
            <a:avLst/>
          </a:prstGeom>
          <a:solidFill>
            <a:srgbClr val="F4F7FA"/>
          </a:solidFill>
          <a:ln w="9525">
            <a:solidFill>
              <a:srgbClr val="D9E2EC"/>
            </a:solidFill>
          </a:ln>
          <a:effectLst/>
        </p:spPr>
        <p:txBody>
          <a:bodyPr rtlCol="0" anchor="ctr"/>
          <a:lstStyle/>
          <a:p>
            <a:pPr algn="ctr"/>
          </a:p>
        </p:txBody>
      </p:sp>
      <p:sp>
        <p:nvSpPr>
          <p:cNvPr id="30" name="Rectangle 29"/>
          <p:cNvSpPr/>
          <p:nvPr/>
        </p:nvSpPr>
        <p:spPr>
          <a:xfrm>
            <a:off x="502920" y="2789576"/>
            <a:ext cx="2788920" cy="697152"/>
          </a:xfrm>
          <a:prstGeom prst="rect">
            <a:avLst/>
          </a:prstGeom>
          <a:solidFill>
            <a:srgbClr val="F4F7FA"/>
          </a:solidFill>
          <a:ln w="9525">
            <a:solidFill>
              <a:srgbClr val="D9E2EC"/>
            </a:solidFill>
          </a:ln>
          <a:effectLst/>
        </p:spPr>
        <p:txBody>
          <a:bodyPr rtlCol="0" anchor="ctr"/>
          <a:lstStyle/>
          <a:p>
            <a:pPr algn="ctr"/>
          </a:p>
        </p:txBody>
      </p:sp>
      <p:sp>
        <p:nvSpPr>
          <p:cNvPr id="31" name="TextBox 30"/>
          <p:cNvSpPr txBox="1"/>
          <p:nvPr/>
        </p:nvSpPr>
        <p:spPr>
          <a:xfrm>
            <a:off x="566928" y="2853584"/>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Довести до производственного качества</a:t>
            </a:r>
          </a:p>
          <a:p>
            <a:pPr algn="l">
              <a:lnSpc>
                <a:spcPct val="113000"/>
              </a:lnSpc>
              <a:spcBef>
                <a:spcPts val="200"/>
              </a:spcBef>
            </a:pPr>
            <a:r>
              <a:rPr sz="850" b="0" i="1">
                <a:solidFill>
                  <a:srgbClr val="1C7293"/>
                </a:solidFill>
                <a:latin typeface="Arial"/>
              </a:rPr>
              <a:t>отобрать, доработать и выпустить годное</a:t>
            </a:r>
          </a:p>
        </p:txBody>
      </p:sp>
      <p:sp>
        <p:nvSpPr>
          <p:cNvPr id="32" name="Rectangle 31"/>
          <p:cNvSpPr/>
          <p:nvPr/>
        </p:nvSpPr>
        <p:spPr>
          <a:xfrm>
            <a:off x="3291839"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3" name="TextBox 32"/>
          <p:cNvSpPr txBox="1"/>
          <p:nvPr/>
        </p:nvSpPr>
        <p:spPr>
          <a:xfrm>
            <a:off x="3355847"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адаптеры и ручная правка</a:t>
            </a:r>
          </a:p>
        </p:txBody>
      </p:sp>
      <p:sp>
        <p:nvSpPr>
          <p:cNvPr id="34" name="Rectangle 33"/>
          <p:cNvSpPr/>
          <p:nvPr/>
        </p:nvSpPr>
        <p:spPr>
          <a:xfrm>
            <a:off x="4971227"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5" name="TextBox 34"/>
          <p:cNvSpPr txBox="1"/>
          <p:nvPr/>
        </p:nvSpPr>
        <p:spPr>
          <a:xfrm>
            <a:off x="5035235"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ручная правка дикции</a:t>
            </a:r>
          </a:p>
        </p:txBody>
      </p:sp>
      <p:sp>
        <p:nvSpPr>
          <p:cNvPr id="36" name="Rectangle 35"/>
          <p:cNvSpPr/>
          <p:nvPr/>
        </p:nvSpPr>
        <p:spPr>
          <a:xfrm>
            <a:off x="6650614"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7" name="TextBox 36"/>
          <p:cNvSpPr txBox="1"/>
          <p:nvPr/>
        </p:nvSpPr>
        <p:spPr>
          <a:xfrm>
            <a:off x="6714622"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ручной отбор и склейка</a:t>
            </a:r>
          </a:p>
        </p:txBody>
      </p:sp>
      <p:sp>
        <p:nvSpPr>
          <p:cNvPr id="38" name="Rectangle 37"/>
          <p:cNvSpPr/>
          <p:nvPr/>
        </p:nvSpPr>
        <p:spPr>
          <a:xfrm>
            <a:off x="8330001"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9" name="TextBox 38"/>
          <p:cNvSpPr txBox="1"/>
          <p:nvPr/>
        </p:nvSpPr>
        <p:spPr>
          <a:xfrm>
            <a:off x="8394009"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ретопология, развёртка, риггинг остаются людям</a:t>
            </a:r>
          </a:p>
        </p:txBody>
      </p:sp>
      <p:sp>
        <p:nvSpPr>
          <p:cNvPr id="40" name="Rectangle 39"/>
          <p:cNvSpPr/>
          <p:nvPr/>
        </p:nvSpPr>
        <p:spPr>
          <a:xfrm>
            <a:off x="10009388"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41" name="Rectangle 40"/>
          <p:cNvSpPr/>
          <p:nvPr/>
        </p:nvSpPr>
        <p:spPr>
          <a:xfrm>
            <a:off x="502920" y="3486728"/>
            <a:ext cx="2788920" cy="660839"/>
          </a:xfrm>
          <a:prstGeom prst="rect">
            <a:avLst/>
          </a:prstGeom>
          <a:solidFill>
            <a:srgbClr val="FFFFFF"/>
          </a:solidFill>
          <a:ln w="9525">
            <a:solidFill>
              <a:srgbClr val="D9E2EC"/>
            </a:solidFill>
          </a:ln>
          <a:effectLst/>
        </p:spPr>
        <p:txBody>
          <a:bodyPr rtlCol="0" anchor="ctr"/>
          <a:lstStyle/>
          <a:p>
            <a:pPr algn="ctr"/>
          </a:p>
        </p:txBody>
      </p:sp>
      <p:sp>
        <p:nvSpPr>
          <p:cNvPr id="42" name="TextBox 41"/>
          <p:cNvSpPr txBox="1"/>
          <p:nvPr/>
        </p:nvSpPr>
        <p:spPr>
          <a:xfrm>
            <a:off x="566928" y="3550736"/>
            <a:ext cx="2660903" cy="532823"/>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Восстановить существующее</a:t>
            </a:r>
          </a:p>
          <a:p>
            <a:pPr algn="l">
              <a:lnSpc>
                <a:spcPct val="113000"/>
              </a:lnSpc>
              <a:spcBef>
                <a:spcPts val="200"/>
              </a:spcBef>
            </a:pPr>
            <a:r>
              <a:rPr sz="850" b="0" i="1">
                <a:solidFill>
                  <a:srgbClr val="1C7293"/>
                </a:solidFill>
                <a:latin typeface="Arial"/>
              </a:rPr>
              <a:t>вытащить то, что уже записано, но читается плохо</a:t>
            </a:r>
          </a:p>
        </p:txBody>
      </p:sp>
      <p:sp>
        <p:nvSpPr>
          <p:cNvPr id="43" name="Rectangle 42"/>
          <p:cNvSpPr/>
          <p:nvPr/>
        </p:nvSpPr>
        <p:spPr>
          <a:xfrm>
            <a:off x="3291839"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44" name="TextBox 43"/>
          <p:cNvSpPr txBox="1"/>
          <p:nvPr/>
        </p:nvSpPr>
        <p:spPr>
          <a:xfrm>
            <a:off x="3355847"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повышение разрешения архива</a:t>
            </a:r>
          </a:p>
        </p:txBody>
      </p:sp>
      <p:sp>
        <p:nvSpPr>
          <p:cNvPr id="45" name="Rectangle 44"/>
          <p:cNvSpPr/>
          <p:nvPr/>
        </p:nvSpPr>
        <p:spPr>
          <a:xfrm>
            <a:off x="4971227"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46" name="TextBox 45"/>
          <p:cNvSpPr txBox="1"/>
          <p:nvPr/>
        </p:nvSpPr>
        <p:spPr>
          <a:xfrm>
            <a:off x="5035235"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разделение источников</a:t>
            </a:r>
          </a:p>
        </p:txBody>
      </p:sp>
      <p:sp>
        <p:nvSpPr>
          <p:cNvPr id="47" name="Rectangle 46"/>
          <p:cNvSpPr/>
          <p:nvPr/>
        </p:nvSpPr>
        <p:spPr>
          <a:xfrm>
            <a:off x="6650614"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48" name="TextBox 47"/>
          <p:cNvSpPr txBox="1"/>
          <p:nvPr/>
        </p:nvSpPr>
        <p:spPr>
          <a:xfrm>
            <a:off x="6714622"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интерполяция кадров</a:t>
            </a:r>
          </a:p>
        </p:txBody>
      </p:sp>
      <p:sp>
        <p:nvSpPr>
          <p:cNvPr id="49" name="Rectangle 48"/>
          <p:cNvSpPr/>
          <p:nvPr/>
        </p:nvSpPr>
        <p:spPr>
          <a:xfrm>
            <a:off x="8330001"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50" name="TextBox 49"/>
          <p:cNvSpPr txBox="1"/>
          <p:nvPr/>
        </p:nvSpPr>
        <p:spPr>
          <a:xfrm>
            <a:off x="8394009"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сцена из снимков: 41 минута, 134 кадра в секунду</a:t>
            </a:r>
          </a:p>
        </p:txBody>
      </p:sp>
      <p:sp>
        <p:nvSpPr>
          <p:cNvPr id="51" name="Rectangle 50"/>
          <p:cNvSpPr/>
          <p:nvPr/>
        </p:nvSpPr>
        <p:spPr>
          <a:xfrm>
            <a:off x="10009388" y="3486728"/>
            <a:ext cx="1679387" cy="660839"/>
          </a:xfrm>
          <a:prstGeom prst="rect">
            <a:avLst/>
          </a:prstGeom>
          <a:solidFill>
            <a:srgbClr val="F4F7FA"/>
          </a:solidFill>
          <a:ln w="9525">
            <a:solidFill>
              <a:srgbClr val="D9E2EC"/>
            </a:solidFill>
          </a:ln>
          <a:effectLst/>
        </p:spPr>
        <p:txBody>
          <a:bodyPr rtlCol="0" anchor="ctr"/>
          <a:lstStyle/>
          <a:p>
            <a:pPr algn="ctr"/>
          </a:p>
        </p:txBody>
      </p:sp>
      <p:sp>
        <p:nvSpPr>
          <p:cNvPr id="52" name="Rectangle 51"/>
          <p:cNvSpPr/>
          <p:nvPr/>
        </p:nvSpPr>
        <p:spPr>
          <a:xfrm>
            <a:off x="502920" y="4147568"/>
            <a:ext cx="2788920" cy="501783"/>
          </a:xfrm>
          <a:prstGeom prst="rect">
            <a:avLst/>
          </a:prstGeom>
          <a:solidFill>
            <a:srgbClr val="F4F7FA"/>
          </a:solidFill>
          <a:ln w="9525">
            <a:solidFill>
              <a:srgbClr val="D9E2EC"/>
            </a:solidFill>
          </a:ln>
          <a:effectLst/>
        </p:spPr>
        <p:txBody>
          <a:bodyPr rtlCol="0" anchor="ctr"/>
          <a:lstStyle/>
          <a:p>
            <a:pPr algn="ctr"/>
          </a:p>
        </p:txBody>
      </p:sp>
      <p:sp>
        <p:nvSpPr>
          <p:cNvPr id="53" name="TextBox 52"/>
          <p:cNvSpPr txBox="1"/>
          <p:nvPr/>
        </p:nvSpPr>
        <p:spPr>
          <a:xfrm>
            <a:off x="566928" y="4211576"/>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Соблюсти точные величины</a:t>
            </a:r>
          </a:p>
          <a:p>
            <a:pPr algn="l">
              <a:lnSpc>
                <a:spcPct val="113000"/>
              </a:lnSpc>
              <a:spcBef>
                <a:spcPts val="200"/>
              </a:spcBef>
            </a:pPr>
            <a:r>
              <a:rPr sz="850" b="0" i="1">
                <a:solidFill>
                  <a:srgbClr val="1C7293"/>
                </a:solidFill>
                <a:latin typeface="Arial"/>
              </a:rPr>
              <a:t>размеры, допуски, проверяемые условия</a:t>
            </a:r>
          </a:p>
        </p:txBody>
      </p:sp>
      <p:sp>
        <p:nvSpPr>
          <p:cNvPr id="54" name="Rectangle 53"/>
          <p:cNvSpPr/>
          <p:nvPr/>
        </p:nvSpPr>
        <p:spPr>
          <a:xfrm>
            <a:off x="3291839"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55" name="TextBox 54"/>
          <p:cNvSpPr txBox="1"/>
          <p:nvPr/>
        </p:nvSpPr>
        <p:spPr>
          <a:xfrm>
            <a:off x="3355847"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размеров в выдаче не существует</a:t>
            </a:r>
          </a:p>
        </p:txBody>
      </p:sp>
      <p:sp>
        <p:nvSpPr>
          <p:cNvPr id="56" name="Rectangle 55"/>
          <p:cNvSpPr/>
          <p:nvPr/>
        </p:nvSpPr>
        <p:spPr>
          <a:xfrm>
            <a:off x="4971227"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57" name="TextBox 56"/>
          <p:cNvSpPr txBox="1"/>
          <p:nvPr/>
        </p:nvSpPr>
        <p:spPr>
          <a:xfrm>
            <a:off x="5035235"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длина задана до запуска</a:t>
            </a:r>
          </a:p>
        </p:txBody>
      </p:sp>
      <p:sp>
        <p:nvSpPr>
          <p:cNvPr id="58" name="Rectangle 57"/>
          <p:cNvSpPr/>
          <p:nvPr/>
        </p:nvSpPr>
        <p:spPr>
          <a:xfrm>
            <a:off x="6650614"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59" name="TextBox 58"/>
          <p:cNvSpPr txBox="1"/>
          <p:nvPr/>
        </p:nvSpPr>
        <p:spPr>
          <a:xfrm>
            <a:off x="6714622"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физика выучена как корреляция</a:t>
            </a:r>
          </a:p>
        </p:txBody>
      </p:sp>
      <p:sp>
        <p:nvSpPr>
          <p:cNvPr id="60" name="Rectangle 59"/>
          <p:cNvSpPr/>
          <p:nvPr/>
        </p:nvSpPr>
        <p:spPr>
          <a:xfrm>
            <a:off x="8330001"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61" name="TextBox 60"/>
          <p:cNvSpPr txBox="1"/>
          <p:nvPr/>
        </p:nvSpPr>
        <p:spPr>
          <a:xfrm>
            <a:off x="8394009"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размеров в выдаче не существует</a:t>
            </a:r>
          </a:p>
        </p:txBody>
      </p:sp>
      <p:sp>
        <p:nvSpPr>
          <p:cNvPr id="62" name="Rectangle 61"/>
          <p:cNvSpPr/>
          <p:nvPr/>
        </p:nvSpPr>
        <p:spPr>
          <a:xfrm>
            <a:off x="10009388"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63" name="Rectangle 62"/>
          <p:cNvSpPr/>
          <p:nvPr/>
        </p:nvSpPr>
        <p:spPr>
          <a:xfrm>
            <a:off x="502920" y="4649352"/>
            <a:ext cx="2788920" cy="697152"/>
          </a:xfrm>
          <a:prstGeom prst="rect">
            <a:avLst/>
          </a:prstGeom>
          <a:solidFill>
            <a:srgbClr val="FFFFFF"/>
          </a:solidFill>
          <a:ln w="9525">
            <a:solidFill>
              <a:srgbClr val="D9E2EC"/>
            </a:solidFill>
          </a:ln>
          <a:effectLst/>
        </p:spPr>
        <p:txBody>
          <a:bodyPr rtlCol="0" anchor="ctr"/>
          <a:lstStyle/>
          <a:p>
            <a:pPr algn="ctr"/>
          </a:p>
        </p:txBody>
      </p:sp>
      <p:sp>
        <p:nvSpPr>
          <p:cNvPr id="64" name="TextBox 63"/>
          <p:cNvSpPr txBox="1"/>
          <p:nvPr/>
        </p:nvSpPr>
        <p:spPr>
          <a:xfrm>
            <a:off x="566928" y="4713360"/>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Уложиться в бюджет реального времени</a:t>
            </a:r>
          </a:p>
          <a:p>
            <a:pPr algn="l">
              <a:lnSpc>
                <a:spcPct val="113000"/>
              </a:lnSpc>
              <a:spcBef>
                <a:spcPts val="200"/>
              </a:spcBef>
            </a:pPr>
            <a:r>
              <a:rPr sz="850" b="0" i="1">
                <a:solidFill>
                  <a:srgbClr val="1C7293"/>
                </a:solidFill>
                <a:latin typeface="Arial"/>
              </a:rPr>
              <a:t>успеть к сроку кадра, а не к сроку задачи</a:t>
            </a:r>
          </a:p>
        </p:txBody>
      </p:sp>
      <p:sp>
        <p:nvSpPr>
          <p:cNvPr id="65" name="Rectangle 64"/>
          <p:cNvSpPr/>
          <p:nvPr/>
        </p:nvSpPr>
        <p:spPr>
          <a:xfrm>
            <a:off x="3291839"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66" name="TextBox 65"/>
          <p:cNvSpPr txBox="1"/>
          <p:nvPr/>
        </p:nvSpPr>
        <p:spPr>
          <a:xfrm>
            <a:off x="3355847"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неприменимо: кадрового бюджета у стадии нет</a:t>
            </a:r>
          </a:p>
        </p:txBody>
      </p:sp>
      <p:sp>
        <p:nvSpPr>
          <p:cNvPr id="67" name="Rectangle 66"/>
          <p:cNvSpPr/>
          <p:nvPr/>
        </p:nvSpPr>
        <p:spPr>
          <a:xfrm>
            <a:off x="4971227"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68" name="TextBox 67"/>
          <p:cNvSpPr txBox="1"/>
          <p:nvPr/>
        </p:nvSpPr>
        <p:spPr>
          <a:xfrm>
            <a:off x="5035235"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неприменимо: кадрового бюджета у стадии нет</a:t>
            </a:r>
          </a:p>
        </p:txBody>
      </p:sp>
      <p:sp>
        <p:nvSpPr>
          <p:cNvPr id="69" name="Rectangle 68"/>
          <p:cNvSpPr/>
          <p:nvPr/>
        </p:nvSpPr>
        <p:spPr>
          <a:xfrm>
            <a:off x="6650614"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70" name="TextBox 69"/>
          <p:cNvSpPr txBox="1"/>
          <p:nvPr/>
        </p:nvSpPr>
        <p:spPr>
          <a:xfrm>
            <a:off x="6714622"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в кадровый бюджет не укладывается</a:t>
            </a:r>
          </a:p>
        </p:txBody>
      </p:sp>
      <p:sp>
        <p:nvSpPr>
          <p:cNvPr id="71" name="Rectangle 70"/>
          <p:cNvSpPr/>
          <p:nvPr/>
        </p:nvSpPr>
        <p:spPr>
          <a:xfrm>
            <a:off x="8330001"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72" name="TextBox 71"/>
          <p:cNvSpPr txBox="1"/>
          <p:nvPr/>
        </p:nvSpPr>
        <p:spPr>
          <a:xfrm>
            <a:off x="8394009"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около 1 мс на кадр</a:t>
            </a:r>
          </a:p>
        </p:txBody>
      </p:sp>
      <p:sp>
        <p:nvSpPr>
          <p:cNvPr id="73" name="Rectangle 72"/>
          <p:cNvSpPr/>
          <p:nvPr/>
        </p:nvSpPr>
        <p:spPr>
          <a:xfrm>
            <a:off x="10009388"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74" name="Rectangle 73"/>
          <p:cNvSpPr/>
          <p:nvPr/>
        </p:nvSpPr>
        <p:spPr>
          <a:xfrm>
            <a:off x="502920" y="5346504"/>
            <a:ext cx="2788920" cy="501783"/>
          </a:xfrm>
          <a:prstGeom prst="rect">
            <a:avLst/>
          </a:prstGeom>
          <a:solidFill>
            <a:srgbClr val="F4F7FA"/>
          </a:solidFill>
          <a:ln w="9525">
            <a:solidFill>
              <a:srgbClr val="D9E2EC"/>
            </a:solidFill>
          </a:ln>
          <a:effectLst/>
        </p:spPr>
        <p:txBody>
          <a:bodyPr rtlCol="0" anchor="ctr"/>
          <a:lstStyle/>
          <a:p>
            <a:pPr algn="ctr"/>
          </a:p>
        </p:txBody>
      </p:sp>
      <p:sp>
        <p:nvSpPr>
          <p:cNvPr id="75" name="TextBox 74"/>
          <p:cNvSpPr txBox="1"/>
          <p:nvPr/>
        </p:nvSpPr>
        <p:spPr>
          <a:xfrm>
            <a:off x="566928" y="5410512"/>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Ответить «кто отвечает»</a:t>
            </a:r>
          </a:p>
          <a:p>
            <a:pPr algn="l">
              <a:lnSpc>
                <a:spcPct val="113000"/>
              </a:lnSpc>
              <a:spcBef>
                <a:spcPts val="200"/>
              </a:spcBef>
            </a:pPr>
            <a:r>
              <a:rPr sz="850" b="0" i="1">
                <a:solidFill>
                  <a:srgbClr val="1C7293"/>
                </a:solidFill>
                <a:latin typeface="Arial"/>
              </a:rPr>
              <a:t>происхождение, права, подпись под результатом</a:t>
            </a:r>
          </a:p>
        </p:txBody>
      </p:sp>
      <p:sp>
        <p:nvSpPr>
          <p:cNvPr id="76" name="Rectangle 75"/>
          <p:cNvSpPr/>
          <p:nvPr/>
        </p:nvSpPr>
        <p:spPr>
          <a:xfrm>
            <a:off x="3291839"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77" name="TextBox 76"/>
          <p:cNvSpPr txBox="1"/>
          <p:nvPr/>
        </p:nvSpPr>
        <p:spPr>
          <a:xfrm>
            <a:off x="3355847"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78" name="Rectangle 77"/>
          <p:cNvSpPr/>
          <p:nvPr/>
        </p:nvSpPr>
        <p:spPr>
          <a:xfrm>
            <a:off x="4971227"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79" name="TextBox 78"/>
          <p:cNvSpPr txBox="1"/>
          <p:nvPr/>
        </p:nvSpPr>
        <p:spPr>
          <a:xfrm>
            <a:off x="5035235"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80" name="Rectangle 79"/>
          <p:cNvSpPr/>
          <p:nvPr/>
        </p:nvSpPr>
        <p:spPr>
          <a:xfrm>
            <a:off x="6650614"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81" name="TextBox 80"/>
          <p:cNvSpPr txBox="1"/>
          <p:nvPr/>
        </p:nvSpPr>
        <p:spPr>
          <a:xfrm>
            <a:off x="6714622"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82" name="Rectangle 81"/>
          <p:cNvSpPr/>
          <p:nvPr/>
        </p:nvSpPr>
        <p:spPr>
          <a:xfrm>
            <a:off x="8330001"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83" name="TextBox 82"/>
          <p:cNvSpPr txBox="1"/>
          <p:nvPr/>
        </p:nvSpPr>
        <p:spPr>
          <a:xfrm>
            <a:off x="8394009"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84" name="Rectangle 83"/>
          <p:cNvSpPr/>
          <p:nvPr/>
        </p:nvSpPr>
        <p:spPr>
          <a:xfrm>
            <a:off x="10009388"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85" name="Rounded Rectangle 84"/>
          <p:cNvSpPr/>
          <p:nvPr/>
        </p:nvSpPr>
        <p:spPr>
          <a:xfrm>
            <a:off x="502920" y="5930584"/>
            <a:ext cx="11185855" cy="305623"/>
          </a:xfrm>
          <a:prstGeom prst="roundRect">
            <a:avLst>
              <a:gd name="adj" fmla="val 14000"/>
            </a:avLst>
          </a:prstGeom>
          <a:solidFill>
            <a:srgbClr val="FEF5E0"/>
          </a:solidFill>
          <a:ln>
            <a:noFill/>
          </a:ln>
          <a:effectLst/>
        </p:spPr>
        <p:txBody>
          <a:bodyPr rtlCol="0" anchor="ctr"/>
          <a:lstStyle/>
          <a:p>
            <a:pPr algn="ctr"/>
          </a:p>
        </p:txBody>
      </p:sp>
      <p:sp>
        <p:nvSpPr>
          <p:cNvPr id="86" name="Rectangle 85"/>
          <p:cNvSpPr/>
          <p:nvPr/>
        </p:nvSpPr>
        <p:spPr>
          <a:xfrm>
            <a:off x="502920" y="5930584"/>
            <a:ext cx="68580" cy="305623"/>
          </a:xfrm>
          <a:prstGeom prst="rect">
            <a:avLst/>
          </a:prstGeom>
          <a:solidFill>
            <a:srgbClr val="F0AB00"/>
          </a:solidFill>
          <a:ln>
            <a:noFill/>
          </a:ln>
          <a:effectLst/>
        </p:spPr>
        <p:txBody>
          <a:bodyPr rtlCol="0" anchor="ctr"/>
          <a:lstStyle/>
          <a:p>
            <a:pPr algn="ctr"/>
          </a:p>
        </p:txBody>
      </p:sp>
      <p:sp>
        <p:nvSpPr>
          <p:cNvPr id="87" name="TextBox 86"/>
          <p:cNvSpPr txBox="1"/>
          <p:nvPr/>
        </p:nvSpPr>
        <p:spPr>
          <a:xfrm>
            <a:off x="685800" y="5994592"/>
            <a:ext cx="10783519" cy="17760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АДРЕС ПЛАТЕЖА   Изображение — отбор, права · Звук — права, узнавание · Видео — отбор · Трёхмерное — узнавание</a:t>
            </a:r>
          </a:p>
        </p:txBody>
      </p:sp>
      <p:sp>
        <p:nvSpPr>
          <p:cNvPr id="88" name="Rectangle 8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571347"/>
          </a:xfrm>
          <a:prstGeom prst="roundRect">
            <a:avLst>
              <a:gd name="adj" fmla="val 8534"/>
            </a:avLst>
          </a:prstGeom>
          <a:solidFill>
            <a:srgbClr val="F4F7FA"/>
          </a:solidFill>
          <a:ln w="19050">
            <a:solidFill>
              <a:srgbClr val="1C7293"/>
            </a:solidFill>
          </a:ln>
          <a:effectLst/>
        </p:spPr>
        <p:txBody>
          <a:bodyPr rtlCol="0" anchor="ctr"/>
          <a:lstStyle/>
          <a:p>
            <a:pPr algn="ctr"/>
          </a:p>
        </p:txBody>
      </p:sp>
      <p:pic>
        <p:nvPicPr>
          <p:cNvPr id="5" name="Picture 4" descr="s78-herculaneum-papyrus-1521.jpg"/>
          <p:cNvPicPr>
            <a:picLocks noChangeAspect="1"/>
          </p:cNvPicPr>
          <p:nvPr/>
        </p:nvPicPr>
        <p:blipFill>
          <a:blip r:embed="rId2"/>
          <a:stretch>
            <a:fillRect/>
          </a:stretch>
        </p:blipFill>
        <p:spPr>
          <a:xfrm>
            <a:off x="6949440" y="1051560"/>
            <a:ext cx="4602175" cy="3297027"/>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5. Распознавание и происхождение</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547029"/>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Четыре раздела подряд мы разбирали модель, которая порождает. Эта — читает.</a:t>
            </a:r>
            <a:r>
              <a:rPr sz="1550" b="0" i="0">
                <a:solidFill>
                  <a:srgbClr val="21295C"/>
                </a:solidFill>
                <a:latin typeface="Arial"/>
              </a:rPr>
              <a:t> Те же блоки внимания, то же обучение, зачастую буквально те же веса — и обратная задача. Из обратности следует всё остальное: другая экономика, другая проверяемость, другие границы.</a:t>
            </a:r>
          </a:p>
        </p:txBody>
      </p:sp>
      <p:sp>
        <p:nvSpPr>
          <p:cNvPr id="9" name="TextBox 8"/>
          <p:cNvSpPr txBox="1"/>
          <p:nvPr/>
        </p:nvSpPr>
        <p:spPr>
          <a:xfrm>
            <a:off x="704088" y="3951835"/>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1 разбор возможностей · 2 редакционных разбора · 2 упоминания</a:t>
            </a:r>
          </a:p>
        </p:txBody>
      </p:sp>
      <p:sp>
        <p:nvSpPr>
          <p:cNvPr id="10" name="TextBox 9"/>
          <p:cNvSpPr txBox="1"/>
          <p:nvPr/>
        </p:nvSpPr>
        <p:spPr>
          <a:xfrm>
            <a:off x="704088" y="4720609"/>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Разбор: свитки Геркуланума — свиток прочитан целиком</a:t>
            </a:r>
            <a:r>
              <a:rPr sz="1550" b="0" i="0">
                <a:solidFill>
                  <a:srgbClr val="21295C"/>
                </a:solidFill>
                <a:latin typeface="Arial"/>
              </a:rPr>
              <a:t> · </a:t>
            </a:r>
            <a:r>
              <a:rPr sz="1550" b="1" i="0">
                <a:solidFill>
                  <a:srgbClr val="21295C"/>
                </a:solidFill>
                <a:latin typeface="Arial"/>
              </a:rPr>
              <a:t>Разбор: CNET — 41 исправление из 77 статей</a:t>
            </a:r>
            <a:r>
              <a:rPr sz="1550" b="0" i="0">
                <a:solidFill>
                  <a:srgbClr val="21295C"/>
                </a:solidFill>
                <a:latin typeface="Arial"/>
              </a:rPr>
              <a:t> · </a:t>
            </a:r>
            <a:r>
              <a:rPr sz="1550" b="1" i="0">
                <a:solidFill>
                  <a:srgbClr val="21295C"/>
                </a:solidFill>
                <a:latin typeface="Arial"/>
              </a:rPr>
              <a:t>Разбор: российские медиа — 18% статей со следами генерации</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 её делали без модели</a:t>
            </a:r>
          </a:p>
        </p:txBody>
      </p:sp>
      <p:sp>
        <p:nvSpPr>
          <p:cNvPr id="4" name="Rounded Rectangle 3"/>
          <p:cNvSpPr/>
          <p:nvPr/>
        </p:nvSpPr>
        <p:spPr>
          <a:xfrm>
            <a:off x="502920" y="1335024"/>
            <a:ext cx="2535760" cy="3206516"/>
          </a:xfrm>
          <a:prstGeom prst="roundRect">
            <a:avLst>
              <a:gd name="adj" fmla="val 1202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6144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РЕДАКЦИОННАЯ ПРОВЕРКА ФАКТОВ — КЛАССИЧЕСКИЙ РЕЖИМ</a:t>
            </a:r>
          </a:p>
        </p:txBody>
      </p:sp>
      <p:sp>
        <p:nvSpPr>
          <p:cNvPr id="6" name="TextBox 5"/>
          <p:cNvSpPr txBox="1"/>
          <p:nvPr/>
        </p:nvSpPr>
        <p:spPr>
          <a:xfrm>
            <a:off x="640080" y="2140317"/>
            <a:ext cx="2261440" cy="511873"/>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40–61% статей содержат хотя бы одну ошибку</a:t>
            </a:r>
          </a:p>
        </p:txBody>
      </p:sp>
      <p:sp>
        <p:nvSpPr>
          <p:cNvPr id="7" name="TextBox 6"/>
          <p:cNvSpPr txBox="1"/>
          <p:nvPr/>
        </p:nvSpPr>
        <p:spPr>
          <a:xfrm>
            <a:off x="640080" y="2652191"/>
            <a:ext cx="226144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это обычная редакция, без всякой модели</a:t>
            </a:r>
          </a:p>
        </p:txBody>
      </p:sp>
      <p:sp>
        <p:nvSpPr>
          <p:cNvPr id="8" name="Rounded Rectangle 7"/>
          <p:cNvSpPr/>
          <p:nvPr/>
        </p:nvSpPr>
        <p:spPr>
          <a:xfrm>
            <a:off x="3203272" y="1335024"/>
            <a:ext cx="2535760" cy="3206516"/>
          </a:xfrm>
          <a:prstGeom prst="roundRect">
            <a:avLst>
              <a:gd name="adj" fmla="val 1202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340432" y="1472184"/>
            <a:ext cx="226144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НИХ ИСПРАВЛЯЕТСЯ ПУБЛИЧНО</a:t>
            </a:r>
          </a:p>
        </p:txBody>
      </p:sp>
      <p:sp>
        <p:nvSpPr>
          <p:cNvPr id="10" name="TextBox 9"/>
          <p:cNvSpPr txBox="1"/>
          <p:nvPr/>
        </p:nvSpPr>
        <p:spPr>
          <a:xfrm>
            <a:off x="3340432" y="1932846"/>
            <a:ext cx="226144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около 2%</a:t>
            </a:r>
          </a:p>
        </p:txBody>
      </p:sp>
      <p:sp>
        <p:nvSpPr>
          <p:cNvPr id="11" name="TextBox 10"/>
          <p:cNvSpPr txBox="1"/>
          <p:nvPr/>
        </p:nvSpPr>
        <p:spPr>
          <a:xfrm>
            <a:off x="3340432" y="2359845"/>
            <a:ext cx="226144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 есть ошибается каждая вторая статья, а признаётся это в каждой пятидесятой</a:t>
            </a:r>
          </a:p>
        </p:txBody>
      </p:sp>
      <p:sp>
        <p:nvSpPr>
          <p:cNvPr id="12" name="Rounded Rectangle 11"/>
          <p:cNvSpPr/>
          <p:nvPr/>
        </p:nvSpPr>
        <p:spPr>
          <a:xfrm>
            <a:off x="5903625" y="1335024"/>
            <a:ext cx="2535760" cy="3206516"/>
          </a:xfrm>
          <a:prstGeom prst="roundRect">
            <a:avLst>
              <a:gd name="adj" fmla="val 1202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040785" y="1472184"/>
            <a:ext cx="226144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ЭКСПЕРТИЗА ПОДЛИННОСТИ И РУЧНАЯ РЕСТАВРАЦИЯ</a:t>
            </a:r>
          </a:p>
        </p:txBody>
      </p:sp>
      <p:sp>
        <p:nvSpPr>
          <p:cNvPr id="14" name="TextBox 13"/>
          <p:cNvSpPr txBox="1"/>
          <p:nvPr/>
        </p:nvSpPr>
        <p:spPr>
          <a:xfrm>
            <a:off x="6040785" y="2140317"/>
            <a:ext cx="226144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недели и месяцы, стоимости нет</a:t>
            </a:r>
          </a:p>
        </p:txBody>
      </p:sp>
      <p:sp>
        <p:nvSpPr>
          <p:cNvPr id="15" name="TextBox 14"/>
          <p:cNvSpPr txBox="1"/>
          <p:nvPr/>
        </p:nvSpPr>
        <p:spPr>
          <a:xfrm>
            <a:off x="6040785" y="3348163"/>
            <a:ext cx="2261440"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практика описана, цифры не опубликованы — ни одна кратность относительно экспертизы в разделе не считается</a:t>
            </a:r>
          </a:p>
        </p:txBody>
      </p:sp>
      <p:sp>
        <p:nvSpPr>
          <p:cNvPr id="16" name="Rounded Rectangle 15"/>
          <p:cNvSpPr/>
          <p:nvPr/>
        </p:nvSpPr>
        <p:spPr>
          <a:xfrm>
            <a:off x="374904" y="4632980"/>
            <a:ext cx="8192498" cy="1603227"/>
          </a:xfrm>
          <a:prstGeom prst="roundRect">
            <a:avLst>
              <a:gd name="adj" fmla="val 19011"/>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724420"/>
            <a:ext cx="7863314" cy="1511787"/>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Эту пару стоит прочитать дважды.</a:t>
            </a:r>
            <a:r>
              <a:rPr sz="1350" b="0" i="0">
                <a:solidFill>
                  <a:srgbClr val="21295C"/>
                </a:solidFill>
                <a:latin typeface="Arial"/>
              </a:rPr>
              <a:t> Классическая редакция без всякой модели ошибается в каждой второй статье и признаёт это в каждой пятидесятой. Без этой базы числа следующих разборов читаются совершенно иначе.</a:t>
            </a:r>
          </a:p>
          <a:p>
            <a:pPr algn="l">
              <a:lnSpc>
                <a:spcPct val="126000"/>
              </a:lnSpc>
              <a:spcBef>
                <a:spcPts val="700"/>
              </a:spcBef>
            </a:pPr>
            <a:r>
              <a:rPr sz="1350" b="0" i="0">
                <a:solidFill>
                  <a:srgbClr val="21295C"/>
                </a:solidFill>
                <a:latin typeface="Arial"/>
              </a:rPr>
              <a:t/>
            </a:r>
            <a:r>
              <a:rPr sz="1350" b="1" i="0">
                <a:solidFill>
                  <a:srgbClr val="21295C"/>
                </a:solidFill>
                <a:latin typeface="Arial"/>
              </a:rPr>
              <a:t>Ни один из трёх вопросов не отвечает на вопрос «правда ли это».</a:t>
            </a:r>
            <a:r>
              <a:rPr sz="1350" b="0" i="0">
                <a:solidFill>
                  <a:srgbClr val="21295C"/>
                </a:solidFill>
                <a:latin typeface="Arial"/>
              </a:rPr>
              <a:t> Подлинная фотография может иллюстрировать ложное утверждение, сгенерированная — сопровождать точный текст.</a:t>
            </a:r>
          </a:p>
        </p:txBody>
      </p:sp>
      <p:sp>
        <p:nvSpPr>
          <p:cNvPr id="18" name="Rounded Rectangle 17"/>
          <p:cNvSpPr/>
          <p:nvPr/>
        </p:nvSpPr>
        <p:spPr>
          <a:xfrm>
            <a:off x="8750282" y="1335024"/>
            <a:ext cx="2938492" cy="4389120"/>
          </a:xfrm>
          <a:prstGeom prst="roundRect">
            <a:avLst>
              <a:gd name="adj" fmla="val 10372"/>
            </a:avLst>
          </a:prstGeom>
          <a:solidFill>
            <a:srgbClr val="F4F7FA"/>
          </a:solidFill>
          <a:ln w="19050">
            <a:solidFill>
              <a:srgbClr val="1C7293"/>
            </a:solidFill>
          </a:ln>
          <a:effectLst/>
        </p:spPr>
        <p:txBody>
          <a:bodyPr rtlCol="0" anchor="ctr"/>
          <a:lstStyle/>
          <a:p>
            <a:pPr algn="ctr"/>
          </a:p>
        </p:txBody>
      </p:sp>
      <p:pic>
        <p:nvPicPr>
          <p:cNvPr id="19" name="Picture 18" descr="s79-piaggio-machine-1756.jpg"/>
          <p:cNvPicPr>
            <a:picLocks noChangeAspect="1"/>
          </p:cNvPicPr>
          <p:nvPr/>
        </p:nvPicPr>
        <p:blipFill>
          <a:blip r:embed="rId2"/>
          <a:stretch>
            <a:fillRect/>
          </a:stretch>
        </p:blipFill>
        <p:spPr>
          <a:xfrm>
            <a:off x="8887442" y="1472184"/>
            <a:ext cx="2664172"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газетных материалов</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свитки Геркуланума — свиток прочитан целиком</a:t>
            </a:r>
          </a:p>
        </p:txBody>
      </p:sp>
      <p:pic>
        <p:nvPicPr>
          <p:cNvPr id="4" name="Picture 3" descr="s80-herculaneum-papyri.jpg"/>
          <p:cNvPicPr>
            <a:picLocks noChangeAspect="1"/>
          </p:cNvPicPr>
          <p:nvPr/>
        </p:nvPicPr>
        <p:blipFill>
          <a:blip r:embed="rId2"/>
          <a:srcRect t="26434" b="26434"/>
          <a:stretch>
            <a:fillRect/>
          </a:stretch>
        </p:blipFill>
        <p:spPr>
          <a:xfrm>
            <a:off x="502920" y="1335024"/>
            <a:ext cx="11185855" cy="4572000"/>
          </a:xfrm>
          <a:prstGeom prst="rect">
            <a:avLst/>
          </a:prstGeom>
        </p:spPr>
      </p:pic>
      <p:cxnSp>
        <p:nvCxnSpPr>
          <p:cNvPr id="5" name="Connector 4"/>
          <p:cNvCxnSpPr/>
          <p:nvPr/>
        </p:nvCxnSpPr>
        <p:spPr>
          <a:xfrm>
            <a:off x="3337560" y="1883664"/>
            <a:ext cx="856692" cy="0"/>
          </a:xfrm>
          <a:prstGeom prst="line">
            <a:avLst/>
          </a:prstGeom>
          <a:ln w="50800">
            <a:solidFill>
              <a:srgbClr val="FFFFFF"/>
            </a:solidFill>
          </a:ln>
          <a:effectLst/>
        </p:spPr>
      </p:cxnSp>
      <p:cxnSp>
        <p:nvCxnSpPr>
          <p:cNvPr id="6" name="Connector 5"/>
          <p:cNvCxnSpPr/>
          <p:nvPr/>
        </p:nvCxnSpPr>
        <p:spPr>
          <a:xfrm>
            <a:off x="3337560" y="1883664"/>
            <a:ext cx="856692" cy="0"/>
          </a:xfrm>
          <a:prstGeom prst="line">
            <a:avLst/>
          </a:prstGeom>
          <a:ln w="19050">
            <a:solidFill>
              <a:srgbClr val="065A82"/>
            </a:solidFill>
          </a:ln>
          <a:effectLst/>
        </p:spPr>
      </p:cxnSp>
      <p:cxnSp>
        <p:nvCxnSpPr>
          <p:cNvPr id="7" name="Connector 6"/>
          <p:cNvCxnSpPr/>
          <p:nvPr/>
        </p:nvCxnSpPr>
        <p:spPr>
          <a:xfrm>
            <a:off x="3337560" y="4169664"/>
            <a:ext cx="1080409" cy="0"/>
          </a:xfrm>
          <a:prstGeom prst="line">
            <a:avLst/>
          </a:prstGeom>
          <a:ln w="50800">
            <a:solidFill>
              <a:srgbClr val="FFFFFF"/>
            </a:solidFill>
          </a:ln>
          <a:effectLst/>
        </p:spPr>
      </p:cxnSp>
      <p:cxnSp>
        <p:nvCxnSpPr>
          <p:cNvPr id="8" name="Connector 7"/>
          <p:cNvCxnSpPr/>
          <p:nvPr/>
        </p:nvCxnSpPr>
        <p:spPr>
          <a:xfrm>
            <a:off x="3337560" y="4169664"/>
            <a:ext cx="1080409" cy="0"/>
          </a:xfrm>
          <a:prstGeom prst="line">
            <a:avLst/>
          </a:prstGeom>
          <a:ln w="19050">
            <a:solidFill>
              <a:srgbClr val="065A82"/>
            </a:solidFill>
          </a:ln>
          <a:effectLst/>
        </p:spPr>
      </p:cxnSp>
      <p:cxnSp>
        <p:nvCxnSpPr>
          <p:cNvPr id="9" name="Connector 8"/>
          <p:cNvCxnSpPr/>
          <p:nvPr/>
        </p:nvCxnSpPr>
        <p:spPr>
          <a:xfrm flipH="1">
            <a:off x="8109301" y="3849624"/>
            <a:ext cx="744834" cy="0"/>
          </a:xfrm>
          <a:prstGeom prst="line">
            <a:avLst/>
          </a:prstGeom>
          <a:ln w="50800">
            <a:solidFill>
              <a:srgbClr val="FFFFFF"/>
            </a:solidFill>
          </a:ln>
          <a:effectLst/>
        </p:spPr>
      </p:cxnSp>
      <p:cxnSp>
        <p:nvCxnSpPr>
          <p:cNvPr id="10" name="Connector 9"/>
          <p:cNvCxnSpPr/>
          <p:nvPr/>
        </p:nvCxnSpPr>
        <p:spPr>
          <a:xfrm flipH="1">
            <a:off x="8109301" y="3849624"/>
            <a:ext cx="744834" cy="0"/>
          </a:xfrm>
          <a:prstGeom prst="line">
            <a:avLst/>
          </a:prstGeom>
          <a:ln w="19050">
            <a:solidFill>
              <a:srgbClr val="065A82"/>
            </a:solidFill>
          </a:ln>
          <a:effectLst/>
        </p:spPr>
      </p:cxnSp>
      <p:sp>
        <p:nvSpPr>
          <p:cNvPr id="11" name="Rounded Rectangle 10"/>
          <p:cNvSpPr/>
          <p:nvPr/>
        </p:nvSpPr>
        <p:spPr>
          <a:xfrm>
            <a:off x="4107384" y="1796796"/>
            <a:ext cx="173736" cy="173736"/>
          </a:xfrm>
          <a:prstGeom prst="roundRect">
            <a:avLst>
              <a:gd name="adj" fmla="val 50000"/>
            </a:avLst>
          </a:prstGeom>
          <a:solidFill>
            <a:srgbClr val="FFFFFF"/>
          </a:solidFill>
          <a:ln>
            <a:noFill/>
          </a:ln>
          <a:effectLst/>
        </p:spPr>
        <p:txBody>
          <a:bodyPr rtlCol="0" anchor="ctr"/>
          <a:lstStyle/>
          <a:p>
            <a:pPr algn="ctr"/>
          </a:p>
        </p:txBody>
      </p:sp>
      <p:sp>
        <p:nvSpPr>
          <p:cNvPr id="12" name="Rounded Rectangle 11"/>
          <p:cNvSpPr/>
          <p:nvPr/>
        </p:nvSpPr>
        <p:spPr>
          <a:xfrm>
            <a:off x="4134816" y="1824228"/>
            <a:ext cx="118872" cy="118872"/>
          </a:xfrm>
          <a:prstGeom prst="roundRect">
            <a:avLst>
              <a:gd name="adj" fmla="val 50000"/>
            </a:avLst>
          </a:prstGeom>
          <a:solidFill>
            <a:srgbClr val="065A82"/>
          </a:solidFill>
          <a:ln>
            <a:noFill/>
          </a:ln>
          <a:effectLst/>
        </p:spPr>
        <p:txBody>
          <a:bodyPr rtlCol="0" anchor="ctr"/>
          <a:lstStyle/>
          <a:p>
            <a:pPr algn="ctr"/>
          </a:p>
        </p:txBody>
      </p:sp>
      <p:sp>
        <p:nvSpPr>
          <p:cNvPr id="13" name="Rounded Rectangle 12"/>
          <p:cNvSpPr/>
          <p:nvPr/>
        </p:nvSpPr>
        <p:spPr>
          <a:xfrm>
            <a:off x="4331101" y="4082796"/>
            <a:ext cx="173736" cy="173736"/>
          </a:xfrm>
          <a:prstGeom prst="roundRect">
            <a:avLst>
              <a:gd name="adj" fmla="val 50000"/>
            </a:avLst>
          </a:prstGeom>
          <a:solidFill>
            <a:srgbClr val="FFFFFF"/>
          </a:solidFill>
          <a:ln>
            <a:noFill/>
          </a:ln>
          <a:effectLst/>
        </p:spPr>
        <p:txBody>
          <a:bodyPr rtlCol="0" anchor="ctr"/>
          <a:lstStyle/>
          <a:p>
            <a:pPr algn="ctr"/>
          </a:p>
        </p:txBody>
      </p:sp>
      <p:sp>
        <p:nvSpPr>
          <p:cNvPr id="14" name="Rounded Rectangle 13"/>
          <p:cNvSpPr/>
          <p:nvPr/>
        </p:nvSpPr>
        <p:spPr>
          <a:xfrm>
            <a:off x="4358533" y="4110228"/>
            <a:ext cx="118872" cy="118872"/>
          </a:xfrm>
          <a:prstGeom prst="roundRect">
            <a:avLst>
              <a:gd name="adj" fmla="val 50000"/>
            </a:avLst>
          </a:prstGeom>
          <a:solidFill>
            <a:srgbClr val="065A82"/>
          </a:solidFill>
          <a:ln>
            <a:noFill/>
          </a:ln>
          <a:effectLst/>
        </p:spPr>
        <p:txBody>
          <a:bodyPr rtlCol="0" anchor="ctr"/>
          <a:lstStyle/>
          <a:p>
            <a:pPr algn="ctr"/>
          </a:p>
        </p:txBody>
      </p:sp>
      <p:sp>
        <p:nvSpPr>
          <p:cNvPr id="15" name="Rounded Rectangle 14"/>
          <p:cNvSpPr/>
          <p:nvPr/>
        </p:nvSpPr>
        <p:spPr>
          <a:xfrm>
            <a:off x="8022433" y="3762756"/>
            <a:ext cx="173736" cy="173736"/>
          </a:xfrm>
          <a:prstGeom prst="roundRect">
            <a:avLst>
              <a:gd name="adj" fmla="val 50000"/>
            </a:avLst>
          </a:prstGeom>
          <a:solidFill>
            <a:srgbClr val="FFFFFF"/>
          </a:solidFill>
          <a:ln>
            <a:noFill/>
          </a:ln>
          <a:effectLst/>
        </p:spPr>
        <p:txBody>
          <a:bodyPr rtlCol="0" anchor="ctr"/>
          <a:lstStyle/>
          <a:p>
            <a:pPr algn="ctr"/>
          </a:p>
        </p:txBody>
      </p:sp>
      <p:sp>
        <p:nvSpPr>
          <p:cNvPr id="16" name="Rounded Rectangle 15"/>
          <p:cNvSpPr/>
          <p:nvPr/>
        </p:nvSpPr>
        <p:spPr>
          <a:xfrm>
            <a:off x="8049865" y="3790187"/>
            <a:ext cx="118872" cy="118872"/>
          </a:xfrm>
          <a:prstGeom prst="roundRect">
            <a:avLst>
              <a:gd name="adj" fmla="val 50000"/>
            </a:avLst>
          </a:prstGeom>
          <a:solidFill>
            <a:srgbClr val="065A82"/>
          </a:solidFill>
          <a:ln>
            <a:noFill/>
          </a:ln>
          <a:effectLst/>
        </p:spPr>
        <p:txBody>
          <a:bodyPr rtlCol="0" anchor="ctr"/>
          <a:lstStyle/>
          <a:p>
            <a:pPr algn="ctr"/>
          </a:p>
        </p:txBody>
      </p:sp>
      <p:sp>
        <p:nvSpPr>
          <p:cNvPr id="17" name="Rounded Rectangle 16"/>
          <p:cNvSpPr/>
          <p:nvPr/>
        </p:nvSpPr>
        <p:spPr>
          <a:xfrm>
            <a:off x="502920" y="1600200"/>
            <a:ext cx="2834640" cy="1296443"/>
          </a:xfrm>
          <a:prstGeom prst="roundRect">
            <a:avLst>
              <a:gd name="adj" fmla="val 23510"/>
            </a:avLst>
          </a:prstGeom>
          <a:solidFill>
            <a:srgbClr val="F4F7FA"/>
          </a:solidFill>
          <a:ln w="19050">
            <a:solidFill>
              <a:srgbClr val="1C7293"/>
            </a:solidFill>
          </a:ln>
          <a:effectLst/>
        </p:spPr>
        <p:txBody>
          <a:bodyPr rtlCol="0" anchor="ctr"/>
          <a:lstStyle/>
          <a:p>
            <a:pPr algn="ctr"/>
          </a:p>
        </p:txBody>
      </p:sp>
      <p:sp>
        <p:nvSpPr>
          <p:cNvPr id="18" name="Rounded Rectangle 17"/>
          <p:cNvSpPr/>
          <p:nvPr/>
        </p:nvSpPr>
        <p:spPr>
          <a:xfrm>
            <a:off x="630936" y="1728216"/>
            <a:ext cx="310896" cy="310896"/>
          </a:xfrm>
          <a:prstGeom prst="roundRect">
            <a:avLst>
              <a:gd name="adj" fmla="val 50000"/>
            </a:avLst>
          </a:prstGeom>
          <a:solidFill>
            <a:srgbClr val="F0AB00"/>
          </a:solidFill>
          <a:ln>
            <a:noFill/>
          </a:ln>
          <a:effectLst/>
        </p:spPr>
        <p:txBody>
          <a:bodyPr rtlCol="0" anchor="ctr"/>
          <a:lstStyle/>
          <a:p>
            <a:pPr algn="ctr"/>
          </a:p>
        </p:txBody>
      </p:sp>
      <p:sp>
        <p:nvSpPr>
          <p:cNvPr id="19" name="TextBox 18"/>
          <p:cNvSpPr txBox="1"/>
          <p:nvPr/>
        </p:nvSpPr>
        <p:spPr>
          <a:xfrm>
            <a:off x="630936" y="1741932"/>
            <a:ext cx="310896" cy="310896"/>
          </a:xfrm>
          <a:prstGeom prst="rect">
            <a:avLst/>
          </a:prstGeom>
          <a:noFill/>
        </p:spPr>
        <p:txBody>
          <a:bodyPr wrap="square" lIns="0" rIns="0" tIns="0" bIns="0" anchor="ctr">
            <a:spAutoFit/>
          </a:bodyPr>
          <a:lstStyle/>
          <a:p>
            <a:pPr algn="ctr">
              <a:lnSpc>
                <a:spcPct val="100000"/>
              </a:lnSpc>
            </a:pPr>
            <a:r>
              <a:rPr sz="1200" b="1" i="0">
                <a:solidFill>
                  <a:srgbClr val="21295C"/>
                </a:solidFill>
                <a:latin typeface="Arial"/>
              </a:rPr>
              <a:t>1</a:t>
            </a:r>
          </a:p>
        </p:txBody>
      </p:sp>
      <p:sp>
        <p:nvSpPr>
          <p:cNvPr id="20" name="TextBox 19"/>
          <p:cNvSpPr txBox="1"/>
          <p:nvPr/>
        </p:nvSpPr>
        <p:spPr>
          <a:xfrm>
            <a:off x="1033272" y="1728216"/>
            <a:ext cx="2176272" cy="310896"/>
          </a:xfrm>
          <a:prstGeom prst="rect">
            <a:avLst/>
          </a:prstGeom>
          <a:noFill/>
        </p:spPr>
        <p:txBody>
          <a:bodyPr wrap="square" lIns="0" rIns="0" tIns="0" bIns="0" anchor="t">
            <a:spAutoFit/>
          </a:bodyPr>
          <a:lstStyle/>
          <a:p>
            <a:pPr algn="l">
              <a:lnSpc>
                <a:spcPct val="110000"/>
              </a:lnSpc>
            </a:pPr>
            <a:r>
              <a:rPr sz="1400" b="1" i="0">
                <a:solidFill>
                  <a:srgbClr val="21295C"/>
                </a:solidFill>
                <a:latin typeface="Arial"/>
              </a:rPr>
              <a:t>Слой витка</a:t>
            </a:r>
          </a:p>
        </p:txBody>
      </p:sp>
      <p:sp>
        <p:nvSpPr>
          <p:cNvPr id="21" name="TextBox 20"/>
          <p:cNvSpPr txBox="1"/>
          <p:nvPr/>
        </p:nvSpPr>
        <p:spPr>
          <a:xfrm>
            <a:off x="630936" y="2112264"/>
            <a:ext cx="2578608" cy="656363"/>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поверхность вьётся спиралью внутри угольного цилиндра — читать её надо, не разворачивая</a:t>
            </a:r>
          </a:p>
        </p:txBody>
      </p:sp>
      <p:sp>
        <p:nvSpPr>
          <p:cNvPr id="22" name="Rounded Rectangle 21"/>
          <p:cNvSpPr/>
          <p:nvPr/>
        </p:nvSpPr>
        <p:spPr>
          <a:xfrm>
            <a:off x="502920" y="3886200"/>
            <a:ext cx="2834640" cy="1515231"/>
          </a:xfrm>
          <a:prstGeom prst="roundRect">
            <a:avLst>
              <a:gd name="adj" fmla="val 20115"/>
            </a:avLst>
          </a:prstGeom>
          <a:solidFill>
            <a:srgbClr val="F4F7FA"/>
          </a:solidFill>
          <a:ln w="19050">
            <a:solidFill>
              <a:srgbClr val="1C7293"/>
            </a:solidFill>
          </a:ln>
          <a:effectLst/>
        </p:spPr>
        <p:txBody>
          <a:bodyPr rtlCol="0" anchor="ctr"/>
          <a:lstStyle/>
          <a:p>
            <a:pPr algn="ctr"/>
          </a:p>
        </p:txBody>
      </p:sp>
      <p:sp>
        <p:nvSpPr>
          <p:cNvPr id="23" name="Rounded Rectangle 22"/>
          <p:cNvSpPr/>
          <p:nvPr/>
        </p:nvSpPr>
        <p:spPr>
          <a:xfrm>
            <a:off x="630936" y="4014215"/>
            <a:ext cx="310896" cy="310896"/>
          </a:xfrm>
          <a:prstGeom prst="roundRect">
            <a:avLst>
              <a:gd name="adj" fmla="val 50000"/>
            </a:avLst>
          </a:prstGeom>
          <a:solidFill>
            <a:srgbClr val="F0AB00"/>
          </a:solidFill>
          <a:ln>
            <a:noFill/>
          </a:ln>
          <a:effectLst/>
        </p:spPr>
        <p:txBody>
          <a:bodyPr rtlCol="0" anchor="ctr"/>
          <a:lstStyle/>
          <a:p>
            <a:pPr algn="ctr"/>
          </a:p>
        </p:txBody>
      </p:sp>
      <p:sp>
        <p:nvSpPr>
          <p:cNvPr id="24" name="TextBox 23"/>
          <p:cNvSpPr txBox="1"/>
          <p:nvPr/>
        </p:nvSpPr>
        <p:spPr>
          <a:xfrm>
            <a:off x="630936" y="4027931"/>
            <a:ext cx="310896" cy="310896"/>
          </a:xfrm>
          <a:prstGeom prst="rect">
            <a:avLst/>
          </a:prstGeom>
          <a:noFill/>
        </p:spPr>
        <p:txBody>
          <a:bodyPr wrap="square" lIns="0" rIns="0" tIns="0" bIns="0" anchor="ctr">
            <a:spAutoFit/>
          </a:bodyPr>
          <a:lstStyle/>
          <a:p>
            <a:pPr algn="ctr">
              <a:lnSpc>
                <a:spcPct val="100000"/>
              </a:lnSpc>
            </a:pPr>
            <a:r>
              <a:rPr sz="1200" b="1" i="0">
                <a:solidFill>
                  <a:srgbClr val="21295C"/>
                </a:solidFill>
                <a:latin typeface="Arial"/>
              </a:rPr>
              <a:t>2</a:t>
            </a:r>
          </a:p>
        </p:txBody>
      </p:sp>
      <p:sp>
        <p:nvSpPr>
          <p:cNvPr id="25" name="TextBox 24"/>
          <p:cNvSpPr txBox="1"/>
          <p:nvPr/>
        </p:nvSpPr>
        <p:spPr>
          <a:xfrm>
            <a:off x="1033272" y="4014215"/>
            <a:ext cx="2176272" cy="310896"/>
          </a:xfrm>
          <a:prstGeom prst="rect">
            <a:avLst/>
          </a:prstGeom>
          <a:noFill/>
        </p:spPr>
        <p:txBody>
          <a:bodyPr wrap="square" lIns="0" rIns="0" tIns="0" bIns="0" anchor="t">
            <a:spAutoFit/>
          </a:bodyPr>
          <a:lstStyle/>
          <a:p>
            <a:pPr algn="l">
              <a:lnSpc>
                <a:spcPct val="110000"/>
              </a:lnSpc>
            </a:pPr>
            <a:r>
              <a:rPr sz="1400" b="1" i="0">
                <a:solidFill>
                  <a:srgbClr val="21295C"/>
                </a:solidFill>
                <a:latin typeface="Arial"/>
              </a:rPr>
              <a:t>Место разрыва</a:t>
            </a:r>
          </a:p>
        </p:txBody>
      </p:sp>
      <p:sp>
        <p:nvSpPr>
          <p:cNvPr id="26" name="TextBox 25"/>
          <p:cNvSpPr txBox="1"/>
          <p:nvPr/>
        </p:nvSpPr>
        <p:spPr>
          <a:xfrm>
            <a:off x="630936" y="4398264"/>
            <a:ext cx="2578608" cy="875151"/>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развернуть обугленный свиток означает раскрошить; за два с половиной века так погибла часть собрания</a:t>
            </a:r>
          </a:p>
        </p:txBody>
      </p:sp>
      <p:sp>
        <p:nvSpPr>
          <p:cNvPr id="27" name="Rounded Rectangle 26"/>
          <p:cNvSpPr/>
          <p:nvPr/>
        </p:nvSpPr>
        <p:spPr>
          <a:xfrm>
            <a:off x="8854135" y="3566160"/>
            <a:ext cx="2834640" cy="10776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Rounded Rectangle 27"/>
          <p:cNvSpPr/>
          <p:nvPr/>
        </p:nvSpPr>
        <p:spPr>
          <a:xfrm>
            <a:off x="8982151" y="3694176"/>
            <a:ext cx="310896" cy="310896"/>
          </a:xfrm>
          <a:prstGeom prst="roundRect">
            <a:avLst>
              <a:gd name="adj" fmla="val 50000"/>
            </a:avLst>
          </a:prstGeom>
          <a:solidFill>
            <a:srgbClr val="F0AB00"/>
          </a:solidFill>
          <a:ln>
            <a:noFill/>
          </a:ln>
          <a:effectLst/>
        </p:spPr>
        <p:txBody>
          <a:bodyPr rtlCol="0" anchor="ctr"/>
          <a:lstStyle/>
          <a:p>
            <a:pPr algn="ctr"/>
          </a:p>
        </p:txBody>
      </p:sp>
      <p:sp>
        <p:nvSpPr>
          <p:cNvPr id="29" name="TextBox 28"/>
          <p:cNvSpPr txBox="1"/>
          <p:nvPr/>
        </p:nvSpPr>
        <p:spPr>
          <a:xfrm>
            <a:off x="8982151" y="3707891"/>
            <a:ext cx="310896" cy="310896"/>
          </a:xfrm>
          <a:prstGeom prst="rect">
            <a:avLst/>
          </a:prstGeom>
          <a:noFill/>
        </p:spPr>
        <p:txBody>
          <a:bodyPr wrap="square" lIns="0" rIns="0" tIns="0" bIns="0" anchor="ctr">
            <a:spAutoFit/>
          </a:bodyPr>
          <a:lstStyle/>
          <a:p>
            <a:pPr algn="ctr">
              <a:lnSpc>
                <a:spcPct val="100000"/>
              </a:lnSpc>
            </a:pPr>
            <a:r>
              <a:rPr sz="1200" b="1" i="0">
                <a:solidFill>
                  <a:srgbClr val="21295C"/>
                </a:solidFill>
                <a:latin typeface="Arial"/>
              </a:rPr>
              <a:t>3</a:t>
            </a:r>
          </a:p>
        </p:txBody>
      </p:sp>
      <p:sp>
        <p:nvSpPr>
          <p:cNvPr id="30" name="TextBox 29"/>
          <p:cNvSpPr txBox="1"/>
          <p:nvPr/>
        </p:nvSpPr>
        <p:spPr>
          <a:xfrm>
            <a:off x="9384487" y="3694176"/>
            <a:ext cx="2176272" cy="310896"/>
          </a:xfrm>
          <a:prstGeom prst="rect">
            <a:avLst/>
          </a:prstGeom>
          <a:noFill/>
        </p:spPr>
        <p:txBody>
          <a:bodyPr wrap="square" lIns="0" rIns="0" tIns="0" bIns="0" anchor="t">
            <a:spAutoFit/>
          </a:bodyPr>
          <a:lstStyle/>
          <a:p>
            <a:pPr algn="l">
              <a:lnSpc>
                <a:spcPct val="110000"/>
              </a:lnSpc>
            </a:pPr>
            <a:r>
              <a:rPr sz="1400" b="1" i="0">
                <a:solidFill>
                  <a:srgbClr val="21295C"/>
                </a:solidFill>
                <a:latin typeface="Arial"/>
              </a:rPr>
              <a:t>След чернил</a:t>
            </a:r>
          </a:p>
        </p:txBody>
      </p:sp>
      <p:sp>
        <p:nvSpPr>
          <p:cNvPr id="31" name="TextBox 30"/>
          <p:cNvSpPr txBox="1"/>
          <p:nvPr/>
        </p:nvSpPr>
        <p:spPr>
          <a:xfrm>
            <a:off x="8982151" y="4078224"/>
            <a:ext cx="2578608" cy="437575"/>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видны глазом на уже открытом фрагменте</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Vesuvius Challenge и EduceLab, проф. Брент Силз, Университет Кентукки, совместно с Национальной библиотекой Неаполя</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читают неразвёрнутый свиток — и по каким датам</a:t>
            </a:r>
          </a:p>
        </p:txBody>
      </p:sp>
      <p:sp>
        <p:nvSpPr>
          <p:cNvPr id="4" name="TextBox 3"/>
          <p:cNvSpPr txBox="1"/>
          <p:nvPr/>
        </p:nvSpPr>
        <p:spPr>
          <a:xfrm>
            <a:off x="502920" y="1371600"/>
            <a:ext cx="1307592" cy="13528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Как читают свиток</a:t>
            </a:r>
          </a:p>
        </p:txBody>
      </p:sp>
      <p:sp>
        <p:nvSpPr>
          <p:cNvPr id="5" name="Rounded Rectangle 4"/>
          <p:cNvSpPr/>
          <p:nvPr/>
        </p:nvSpPr>
        <p:spPr>
          <a:xfrm>
            <a:off x="1920240" y="1335024"/>
            <a:ext cx="2236393" cy="1425988"/>
          </a:xfrm>
          <a:prstGeom prst="roundRect">
            <a:avLst>
              <a:gd name="adj" fmla="val 21374"/>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1334548"/>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рентгеновская томография обугленного цилиндра: послойное просвечивание</a:t>
            </a:r>
          </a:p>
        </p:txBody>
      </p:sp>
      <p:sp>
        <p:nvSpPr>
          <p:cNvPr id="7" name="Right Arrow 6"/>
          <p:cNvSpPr/>
          <p:nvPr/>
        </p:nvSpPr>
        <p:spPr>
          <a:xfrm>
            <a:off x="4202353" y="1979438"/>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1425988"/>
          </a:xfrm>
          <a:prstGeom prst="roundRect">
            <a:avLst>
              <a:gd name="adj" fmla="val 2137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513249" y="1380744"/>
            <a:ext cx="2071801" cy="133454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цифровое разворачивание: спираль папируса распрямляется в плоскость</a:t>
            </a:r>
          </a:p>
        </p:txBody>
      </p:sp>
      <p:sp>
        <p:nvSpPr>
          <p:cNvPr id="10" name="Right Arrow 9"/>
          <p:cNvSpPr/>
          <p:nvPr/>
        </p:nvSpPr>
        <p:spPr>
          <a:xfrm>
            <a:off x="6713067" y="1979438"/>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1425988"/>
          </a:xfrm>
          <a:prstGeom prst="roundRect">
            <a:avLst>
              <a:gd name="adj" fmla="val 21374"/>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7023963" y="1380744"/>
            <a:ext cx="2071801" cy="133454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поиск следов чернил: углерод на обугленном папирусе</a:t>
            </a:r>
          </a:p>
        </p:txBody>
      </p:sp>
      <p:sp>
        <p:nvSpPr>
          <p:cNvPr id="13" name="Right Arrow 12"/>
          <p:cNvSpPr/>
          <p:nvPr/>
        </p:nvSpPr>
        <p:spPr>
          <a:xfrm>
            <a:off x="9223781" y="1979438"/>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1425988"/>
          </a:xfrm>
          <a:prstGeom prst="roundRect">
            <a:avLst>
              <a:gd name="adj" fmla="val 21374"/>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1334548"/>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изображение распрямлённой поверхности с проявленными чернилами</a:t>
            </a:r>
          </a:p>
        </p:txBody>
      </p:sp>
      <p:sp>
        <p:nvSpPr>
          <p:cNvPr id="16" name="TextBox 15"/>
          <p:cNvSpPr txBox="1"/>
          <p:nvPr/>
        </p:nvSpPr>
        <p:spPr>
          <a:xfrm>
            <a:off x="502920" y="279758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Машина отвечает на один вопрос — где здесь чернила; обе её задачи имеют проверяемый ответ</a:t>
            </a:r>
          </a:p>
        </p:txBody>
      </p:sp>
      <p:sp>
        <p:nvSpPr>
          <p:cNvPr id="17" name="Rectangle 16"/>
          <p:cNvSpPr/>
          <p:nvPr/>
        </p:nvSpPr>
        <p:spPr>
          <a:xfrm>
            <a:off x="1202035" y="3583350"/>
            <a:ext cx="9787623" cy="50292"/>
          </a:xfrm>
          <a:prstGeom prst="rect">
            <a:avLst/>
          </a:prstGeom>
          <a:solidFill>
            <a:srgbClr val="1C7293"/>
          </a:solidFill>
          <a:ln>
            <a:noFill/>
          </a:ln>
          <a:effectLst/>
        </p:spPr>
        <p:txBody>
          <a:bodyPr rtlCol="0" anchor="ctr"/>
          <a:lstStyle/>
          <a:p>
            <a:pPr algn="ctr"/>
          </a:p>
        </p:txBody>
      </p:sp>
      <p:sp>
        <p:nvSpPr>
          <p:cNvPr id="18" name="Rounded Rectangle 17"/>
          <p:cNvSpPr/>
          <p:nvPr/>
        </p:nvSpPr>
        <p:spPr>
          <a:xfrm>
            <a:off x="1818855" y="3526200"/>
            <a:ext cx="164592" cy="164592"/>
          </a:xfrm>
          <a:prstGeom prst="roundRect">
            <a:avLst>
              <a:gd name="adj" fmla="val 50000"/>
            </a:avLst>
          </a:prstGeom>
          <a:solidFill>
            <a:srgbClr val="065A82"/>
          </a:solidFill>
          <a:ln>
            <a:noFill/>
          </a:ln>
          <a:effectLst/>
        </p:spPr>
        <p:txBody>
          <a:bodyPr rtlCol="0" anchor="ctr"/>
          <a:lstStyle/>
          <a:p>
            <a:pPr algn="ctr"/>
          </a:p>
        </p:txBody>
      </p:sp>
      <p:sp>
        <p:nvSpPr>
          <p:cNvPr id="19" name="TextBox 18"/>
          <p:cNvSpPr txBox="1"/>
          <p:nvPr/>
        </p:nvSpPr>
        <p:spPr>
          <a:xfrm>
            <a:off x="502920" y="3191711"/>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Первое слово</a:t>
            </a:r>
          </a:p>
        </p:txBody>
      </p:sp>
      <p:sp>
        <p:nvSpPr>
          <p:cNvPr id="20" name="Rounded Rectangle 19"/>
          <p:cNvSpPr/>
          <p:nvPr/>
        </p:nvSpPr>
        <p:spPr>
          <a:xfrm>
            <a:off x="4615319" y="3526200"/>
            <a:ext cx="164592" cy="164592"/>
          </a:xfrm>
          <a:prstGeom prst="roundRect">
            <a:avLst>
              <a:gd name="adj" fmla="val 50000"/>
            </a:avLst>
          </a:prstGeom>
          <a:solidFill>
            <a:srgbClr val="065A82"/>
          </a:solidFill>
          <a:ln>
            <a:noFill/>
          </a:ln>
          <a:effectLst/>
        </p:spPr>
        <p:txBody>
          <a:bodyPr rtlCol="0" anchor="ctr"/>
          <a:lstStyle/>
          <a:p>
            <a:pPr algn="ctr"/>
          </a:p>
        </p:txBody>
      </p:sp>
      <p:sp>
        <p:nvSpPr>
          <p:cNvPr id="21" name="TextBox 20"/>
          <p:cNvSpPr txBox="1"/>
          <p:nvPr/>
        </p:nvSpPr>
        <p:spPr>
          <a:xfrm>
            <a:off x="3299383" y="3191711"/>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Связные отрывки</a:t>
            </a:r>
          </a:p>
        </p:txBody>
      </p:sp>
      <p:sp>
        <p:nvSpPr>
          <p:cNvPr id="22" name="Rounded Rectangle 21"/>
          <p:cNvSpPr/>
          <p:nvPr/>
        </p:nvSpPr>
        <p:spPr>
          <a:xfrm>
            <a:off x="7411783" y="3526200"/>
            <a:ext cx="164592" cy="164592"/>
          </a:xfrm>
          <a:prstGeom prst="roundRect">
            <a:avLst>
              <a:gd name="adj" fmla="val 50000"/>
            </a:avLst>
          </a:prstGeom>
          <a:solidFill>
            <a:srgbClr val="065A82"/>
          </a:solidFill>
          <a:ln>
            <a:noFill/>
          </a:ln>
          <a:effectLst/>
        </p:spPr>
        <p:txBody>
          <a:bodyPr rtlCol="0" anchor="ctr"/>
          <a:lstStyle/>
          <a:p>
            <a:pPr algn="ctr"/>
          </a:p>
        </p:txBody>
      </p:sp>
      <p:sp>
        <p:nvSpPr>
          <p:cNvPr id="23" name="TextBox 22"/>
          <p:cNvSpPr txBox="1"/>
          <p:nvPr/>
        </p:nvSpPr>
        <p:spPr>
          <a:xfrm>
            <a:off x="6095847" y="3191711"/>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Сочинения опознаны</a:t>
            </a:r>
          </a:p>
        </p:txBody>
      </p:sp>
      <p:sp>
        <p:nvSpPr>
          <p:cNvPr id="24" name="Rounded Rectangle 23"/>
          <p:cNvSpPr/>
          <p:nvPr/>
        </p:nvSpPr>
        <p:spPr>
          <a:xfrm>
            <a:off x="10208247" y="3526200"/>
            <a:ext cx="164592" cy="164592"/>
          </a:xfrm>
          <a:prstGeom prst="roundRect">
            <a:avLst>
              <a:gd name="adj" fmla="val 50000"/>
            </a:avLst>
          </a:prstGeom>
          <a:solidFill>
            <a:srgbClr val="065A82"/>
          </a:solidFill>
          <a:ln>
            <a:noFill/>
          </a:ln>
          <a:effectLst/>
        </p:spPr>
        <p:txBody>
          <a:bodyPr rtlCol="0" anchor="ctr"/>
          <a:lstStyle/>
          <a:p>
            <a:pPr algn="ctr"/>
          </a:p>
        </p:txBody>
      </p:sp>
      <p:sp>
        <p:nvSpPr>
          <p:cNvPr id="25" name="TextBox 24"/>
          <p:cNvSpPr txBox="1"/>
          <p:nvPr/>
        </p:nvSpPr>
        <p:spPr>
          <a:xfrm>
            <a:off x="8892311" y="3191711"/>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Свиток целиком</a:t>
            </a:r>
          </a:p>
        </p:txBody>
      </p:sp>
      <p:sp>
        <p:nvSpPr>
          <p:cNvPr id="26" name="Rectangle 25"/>
          <p:cNvSpPr/>
          <p:nvPr/>
        </p:nvSpPr>
        <p:spPr>
          <a:xfrm>
            <a:off x="1886521" y="3690792"/>
            <a:ext cx="29260" cy="329184"/>
          </a:xfrm>
          <a:prstGeom prst="rect">
            <a:avLst/>
          </a:prstGeom>
          <a:solidFill>
            <a:srgbClr val="065A82"/>
          </a:solidFill>
          <a:ln>
            <a:noFill/>
          </a:ln>
          <a:effectLst/>
        </p:spPr>
        <p:txBody>
          <a:bodyPr rtlCol="0" anchor="ctr"/>
          <a:lstStyle/>
          <a:p>
            <a:pPr algn="ctr"/>
          </a:p>
        </p:txBody>
      </p:sp>
      <p:sp>
        <p:nvSpPr>
          <p:cNvPr id="27" name="Rounded Rectangle 26"/>
          <p:cNvSpPr/>
          <p:nvPr/>
        </p:nvSpPr>
        <p:spPr>
          <a:xfrm>
            <a:off x="557784" y="4019976"/>
            <a:ext cx="2686735" cy="1284571"/>
          </a:xfrm>
          <a:prstGeom prst="roundRect">
            <a:avLst>
              <a:gd name="adj" fmla="val 23727"/>
            </a:avLst>
          </a:prstGeom>
          <a:solidFill>
            <a:srgbClr val="F4F7FA"/>
          </a:solidFill>
          <a:ln w="16510">
            <a:solidFill>
              <a:srgbClr val="1C7293"/>
            </a:solidFill>
          </a:ln>
          <a:effectLst/>
        </p:spPr>
        <p:txBody>
          <a:bodyPr rtlCol="0" anchor="ctr"/>
          <a:lstStyle/>
          <a:p>
            <a:pPr algn="ctr"/>
          </a:p>
        </p:txBody>
      </p:sp>
      <p:sp>
        <p:nvSpPr>
          <p:cNvPr id="28" name="Rounded Rectangle 27"/>
          <p:cNvSpPr/>
          <p:nvPr/>
        </p:nvSpPr>
        <p:spPr>
          <a:xfrm>
            <a:off x="685800" y="4147992"/>
            <a:ext cx="964891"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окт. 2023</a:t>
            </a:r>
          </a:p>
        </p:txBody>
      </p:sp>
      <p:sp>
        <p:nvSpPr>
          <p:cNvPr id="29" name="TextBox 28"/>
          <p:cNvSpPr txBox="1"/>
          <p:nvPr/>
        </p:nvSpPr>
        <p:spPr>
          <a:xfrm>
            <a:off x="685800" y="4504608"/>
            <a:ext cx="2430703" cy="67192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ΠΟΡΦΥΡΑϹ, «пурпур» — приз 40 000 $, нашёл двадцатиоднолетний участник</a:t>
            </a:r>
          </a:p>
        </p:txBody>
      </p:sp>
      <p:sp>
        <p:nvSpPr>
          <p:cNvPr id="30" name="Rectangle 29"/>
          <p:cNvSpPr/>
          <p:nvPr/>
        </p:nvSpPr>
        <p:spPr>
          <a:xfrm>
            <a:off x="4682985" y="3690792"/>
            <a:ext cx="29260" cy="329184"/>
          </a:xfrm>
          <a:prstGeom prst="rect">
            <a:avLst/>
          </a:prstGeom>
          <a:solidFill>
            <a:srgbClr val="065A82"/>
          </a:solidFill>
          <a:ln>
            <a:noFill/>
          </a:ln>
          <a:effectLst/>
        </p:spPr>
        <p:txBody>
          <a:bodyPr rtlCol="0" anchor="ctr"/>
          <a:lstStyle/>
          <a:p>
            <a:pPr algn="ctr"/>
          </a:p>
        </p:txBody>
      </p:sp>
      <p:sp>
        <p:nvSpPr>
          <p:cNvPr id="31" name="Rounded Rectangle 30"/>
          <p:cNvSpPr/>
          <p:nvPr/>
        </p:nvSpPr>
        <p:spPr>
          <a:xfrm>
            <a:off x="3354247" y="4019976"/>
            <a:ext cx="2686735" cy="1284571"/>
          </a:xfrm>
          <a:prstGeom prst="roundRect">
            <a:avLst>
              <a:gd name="adj" fmla="val 23727"/>
            </a:avLst>
          </a:prstGeom>
          <a:solidFill>
            <a:srgbClr val="F4F7FA"/>
          </a:solidFill>
          <a:ln w="16510">
            <a:solidFill>
              <a:srgbClr val="1C7293"/>
            </a:solidFill>
          </a:ln>
          <a:effectLst/>
        </p:spPr>
        <p:txBody>
          <a:bodyPr rtlCol="0" anchor="ctr"/>
          <a:lstStyle/>
          <a:p>
            <a:pPr algn="ctr"/>
          </a:p>
        </p:txBody>
      </p:sp>
      <p:sp>
        <p:nvSpPr>
          <p:cNvPr id="32" name="Rounded Rectangle 31"/>
          <p:cNvSpPr/>
          <p:nvPr/>
        </p:nvSpPr>
        <p:spPr>
          <a:xfrm>
            <a:off x="3482263" y="4147992"/>
            <a:ext cx="1151518"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февр. 2024</a:t>
            </a:r>
          </a:p>
        </p:txBody>
      </p:sp>
      <p:sp>
        <p:nvSpPr>
          <p:cNvPr id="33" name="TextBox 32"/>
          <p:cNvSpPr txBox="1"/>
          <p:nvPr/>
        </p:nvSpPr>
        <p:spPr>
          <a:xfrm>
            <a:off x="3482263" y="4504608"/>
            <a:ext cx="2430703" cy="67192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несколько связных отрывков одного свитка, главный приз 700 000 $</a:t>
            </a:r>
          </a:p>
        </p:txBody>
      </p:sp>
      <p:sp>
        <p:nvSpPr>
          <p:cNvPr id="34" name="Rectangle 33"/>
          <p:cNvSpPr/>
          <p:nvPr/>
        </p:nvSpPr>
        <p:spPr>
          <a:xfrm>
            <a:off x="7479449" y="3690792"/>
            <a:ext cx="29260" cy="329184"/>
          </a:xfrm>
          <a:prstGeom prst="rect">
            <a:avLst/>
          </a:prstGeom>
          <a:solidFill>
            <a:srgbClr val="065A82"/>
          </a:solidFill>
          <a:ln>
            <a:noFill/>
          </a:ln>
          <a:effectLst/>
        </p:spPr>
        <p:txBody>
          <a:bodyPr rtlCol="0" anchor="ctr"/>
          <a:lstStyle/>
          <a:p>
            <a:pPr algn="ctr"/>
          </a:p>
        </p:txBody>
      </p:sp>
      <p:sp>
        <p:nvSpPr>
          <p:cNvPr id="35" name="Rounded Rectangle 34"/>
          <p:cNvSpPr/>
          <p:nvPr/>
        </p:nvSpPr>
        <p:spPr>
          <a:xfrm>
            <a:off x="6150711" y="4019976"/>
            <a:ext cx="2686735" cy="1508546"/>
          </a:xfrm>
          <a:prstGeom prst="roundRect">
            <a:avLst>
              <a:gd name="adj" fmla="val 20204"/>
            </a:avLst>
          </a:prstGeom>
          <a:solidFill>
            <a:srgbClr val="F4F7FA"/>
          </a:solidFill>
          <a:ln w="16510">
            <a:solidFill>
              <a:srgbClr val="1C7293"/>
            </a:solidFill>
          </a:ln>
          <a:effectLst/>
        </p:spPr>
        <p:txBody>
          <a:bodyPr rtlCol="0" anchor="ctr"/>
          <a:lstStyle/>
          <a:p>
            <a:pPr algn="ctr"/>
          </a:p>
        </p:txBody>
      </p:sp>
      <p:sp>
        <p:nvSpPr>
          <p:cNvPr id="36" name="Rounded Rectangle 35"/>
          <p:cNvSpPr/>
          <p:nvPr/>
        </p:nvSpPr>
        <p:spPr>
          <a:xfrm>
            <a:off x="6278727" y="4147992"/>
            <a:ext cx="108244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2024–2025</a:t>
            </a:r>
          </a:p>
        </p:txBody>
      </p:sp>
      <p:sp>
        <p:nvSpPr>
          <p:cNvPr id="37" name="TextBox 36"/>
          <p:cNvSpPr txBox="1"/>
          <p:nvPr/>
        </p:nvSpPr>
        <p:spPr>
          <a:xfrm>
            <a:off x="6278727" y="4504608"/>
            <a:ext cx="2430703" cy="89589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Филодем, «О пороках» (PHerc. 172) — первый найденный заголовок; «О богах» (PHerc. 139)</a:t>
            </a:r>
          </a:p>
        </p:txBody>
      </p:sp>
      <p:sp>
        <p:nvSpPr>
          <p:cNvPr id="38" name="Rectangle 37"/>
          <p:cNvSpPr/>
          <p:nvPr/>
        </p:nvSpPr>
        <p:spPr>
          <a:xfrm>
            <a:off x="10275912" y="3690792"/>
            <a:ext cx="29260" cy="329184"/>
          </a:xfrm>
          <a:prstGeom prst="rect">
            <a:avLst/>
          </a:prstGeom>
          <a:solidFill>
            <a:srgbClr val="065A82"/>
          </a:solidFill>
          <a:ln>
            <a:noFill/>
          </a:ln>
          <a:effectLst/>
        </p:spPr>
        <p:txBody>
          <a:bodyPr rtlCol="0" anchor="ctr"/>
          <a:lstStyle/>
          <a:p>
            <a:pPr algn="ctr"/>
          </a:p>
        </p:txBody>
      </p:sp>
      <p:sp>
        <p:nvSpPr>
          <p:cNvPr id="39" name="Rounded Rectangle 38"/>
          <p:cNvSpPr/>
          <p:nvPr/>
        </p:nvSpPr>
        <p:spPr>
          <a:xfrm>
            <a:off x="8947175" y="4019976"/>
            <a:ext cx="2686735" cy="1284571"/>
          </a:xfrm>
          <a:prstGeom prst="roundRect">
            <a:avLst>
              <a:gd name="adj" fmla="val 23727"/>
            </a:avLst>
          </a:prstGeom>
          <a:solidFill>
            <a:srgbClr val="F4F7FA"/>
          </a:solidFill>
          <a:ln w="16510">
            <a:solidFill>
              <a:srgbClr val="1C7293"/>
            </a:solidFill>
          </a:ln>
          <a:effectLst/>
        </p:spPr>
        <p:txBody>
          <a:bodyPr rtlCol="0" anchor="ctr"/>
          <a:lstStyle/>
          <a:p>
            <a:pPr algn="ctr"/>
          </a:p>
        </p:txBody>
      </p:sp>
      <p:sp>
        <p:nvSpPr>
          <p:cNvPr id="40" name="Rounded Rectangle 39"/>
          <p:cNvSpPr/>
          <p:nvPr/>
        </p:nvSpPr>
        <p:spPr>
          <a:xfrm>
            <a:off x="9075191" y="4147992"/>
            <a:ext cx="108235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25.06.2026</a:t>
            </a:r>
          </a:p>
        </p:txBody>
      </p:sp>
      <p:sp>
        <p:nvSpPr>
          <p:cNvPr id="41" name="TextBox 40"/>
          <p:cNvSpPr txBox="1"/>
          <p:nvPr/>
        </p:nvSpPr>
        <p:spPr>
          <a:xfrm>
            <a:off x="9075191" y="4504608"/>
            <a:ext cx="2430703" cy="67192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PHerc. 1667 прочитан целиком, от начала до конца — впервые примерно за две тысячи лет</a:t>
            </a:r>
          </a:p>
        </p:txBody>
      </p:sp>
      <p:sp>
        <p:nvSpPr>
          <p:cNvPr id="42" name="TextBox 41"/>
          <p:cNvSpPr txBox="1"/>
          <p:nvPr/>
        </p:nvSpPr>
        <p:spPr>
          <a:xfrm>
            <a:off x="502920" y="5674827"/>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веха дешифровки свитка</a:t>
            </a:r>
          </a:p>
        </p:txBody>
      </p:sp>
      <p:sp>
        <p:nvSpPr>
          <p:cNvPr id="43" name="TextBox 42"/>
          <p:cNvSpPr txBox="1"/>
          <p:nvPr/>
        </p:nvSpPr>
        <p:spPr>
          <a:xfrm>
            <a:off x="502920" y="5985723"/>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Как это шло по датам</a:t>
            </a:r>
          </a:p>
        </p:txBody>
      </p:sp>
      <p:sp>
        <p:nvSpPr>
          <p:cNvPr id="44" name="Rectangle 4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5" name="TextBox 4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Vesuvius Challenge и EduceLab, проф. Брент Силз, Университет Кентукки, совместно с Национальной библиотекой Неаполя</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Свиток Геркуланума и «Волшебник страны Оз» в Sphere: ноль домысленного против девяноста процентов</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7" name="Rectangle 6"/>
          <p:cNvSpPr/>
          <p:nvPr/>
        </p:nvSpPr>
        <p:spPr>
          <a:xfrm>
            <a:off x="980694" y="1841406"/>
            <a:ext cx="50292" cy="164592"/>
          </a:xfrm>
          <a:prstGeom prst="rect">
            <a:avLst/>
          </a:prstGeom>
          <a:solidFill>
            <a:srgbClr val="065A82"/>
          </a:solidFill>
          <a:ln>
            <a:noFill/>
          </a:ln>
          <a:effectLst/>
        </p:spPr>
        <p:txBody>
          <a:bodyPr rtlCol="0" anchor="ctr"/>
          <a:lstStyle/>
          <a:p>
            <a:pPr algn="ctr"/>
          </a:p>
        </p:txBody>
      </p:sp>
      <p:sp>
        <p:nvSpPr>
          <p:cNvPr id="8" name="TextBox 7"/>
          <p:cNvSpPr txBox="1"/>
          <p:nvPr/>
        </p:nvSpPr>
        <p:spPr>
          <a:xfrm>
            <a:off x="-1790623" y="1335024"/>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a:t>
            </a:r>
          </a:p>
          <a:p>
            <a:pPr algn="ctr">
              <a:lnSpc>
                <a:spcPct val="110000"/>
              </a:lnSpc>
            </a:pPr>
            <a:r>
              <a:rPr sz="1200" b="0" i="0">
                <a:solidFill>
                  <a:srgbClr val="21295C"/>
                </a:solidFill>
                <a:latin typeface="Arial"/>
              </a:rPr>
              <a:t>Свиток</a:t>
            </a:r>
          </a:p>
        </p:txBody>
      </p:sp>
      <p:sp>
        <p:nvSpPr>
          <p:cNvPr id="9" name="Rectangle 8"/>
          <p:cNvSpPr/>
          <p:nvPr/>
        </p:nvSpPr>
        <p:spPr>
          <a:xfrm>
            <a:off x="10142707" y="2056290"/>
            <a:ext cx="50292" cy="1645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7371389" y="2312322"/>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90</a:t>
            </a:r>
          </a:p>
          <a:p>
            <a:pPr algn="ctr">
              <a:lnSpc>
                <a:spcPct val="110000"/>
              </a:lnSpc>
            </a:pPr>
            <a:r>
              <a:rPr sz="1200" b="0" i="0">
                <a:solidFill>
                  <a:srgbClr val="21295C"/>
                </a:solidFill>
                <a:latin typeface="Arial"/>
              </a:rPr>
              <a:t>«Оз» в Sphere</a:t>
            </a:r>
          </a:p>
        </p:txBody>
      </p:sp>
      <p:sp>
        <p:nvSpPr>
          <p:cNvPr id="11" name="TextBox 10"/>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кадра на выходе, порождённый моделью · доля изображения, которой в исходных данных не было</a:t>
            </a:r>
          </a:p>
        </p:txBody>
      </p:sp>
      <p:sp>
        <p:nvSpPr>
          <p:cNvPr id="12" name="TextBox 11"/>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Техника соседняя, доля домысленного различается на два порядка</a:t>
            </a:r>
          </a:p>
        </p:txBody>
      </p:sp>
      <p:sp>
        <p:nvSpPr>
          <p:cNvPr id="13" name="Rounded Rectangle 12"/>
          <p:cNvSpPr/>
          <p:nvPr/>
        </p:nvSpPr>
        <p:spPr>
          <a:xfrm>
            <a:off x="502920" y="3527496"/>
            <a:ext cx="5437479" cy="1830887"/>
          </a:xfrm>
          <a:prstGeom prst="roundRect">
            <a:avLst>
              <a:gd name="adj" fmla="val 16647"/>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Свиток Геркуланума</a:t>
            </a:r>
          </a:p>
        </p:txBody>
      </p:sp>
      <p:sp>
        <p:nvSpPr>
          <p:cNvPr id="15" name="TextBox 14"/>
          <p:cNvSpPr txBox="1"/>
          <p:nvPr/>
        </p:nvSpPr>
        <p:spPr>
          <a:xfrm>
            <a:off x="667512" y="4039123"/>
            <a:ext cx="5108295" cy="1163812"/>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исходный материал: обугленный папирус, около 1,4 метра</a:t>
            </a:r>
          </a:p>
          <a:p>
            <a:pPr algn="l">
              <a:lnSpc>
                <a:spcPct val="126000"/>
              </a:lnSpc>
            </a:pPr>
            <a:r>
              <a:rPr sz="1050" b="0" i="0">
                <a:solidFill>
                  <a:srgbClr val="21295C"/>
                </a:solidFill>
                <a:latin typeface="Arial"/>
              </a:rPr>
              <a:t>• что делает машина: находит чернила на томограмме</a:t>
            </a:r>
          </a:p>
          <a:p>
            <a:pPr algn="l">
              <a:lnSpc>
                <a:spcPct val="126000"/>
              </a:lnSpc>
            </a:pPr>
            <a:r>
              <a:rPr sz="1050" b="0" i="0">
                <a:solidFill>
                  <a:srgbClr val="21295C"/>
                </a:solidFill>
                <a:latin typeface="Arial"/>
              </a:rPr>
              <a:t>• кто читает результат: люди, греческий текст</a:t>
            </a:r>
          </a:p>
          <a:p>
            <a:pPr algn="l">
              <a:lnSpc>
                <a:spcPct val="126000"/>
              </a:lnSpc>
            </a:pPr>
            <a:r>
              <a:rPr sz="1050" b="0" i="0">
                <a:solidFill>
                  <a:srgbClr val="21295C"/>
                </a:solidFill>
                <a:latin typeface="Arial"/>
              </a:rPr>
              <a:t>• классический режим: не существует — альтернатива одна, не прочитать никогда</a:t>
            </a:r>
          </a:p>
          <a:p>
            <a:pPr algn="l">
              <a:lnSpc>
                <a:spcPct val="126000"/>
              </a:lnSpc>
            </a:pPr>
            <a:r>
              <a:rPr sz="1050" b="0" i="0">
                <a:solidFill>
                  <a:srgbClr val="21295C"/>
                </a:solidFill>
                <a:latin typeface="Arial"/>
              </a:rPr>
              <a:t>• что переехало: граница возможного</a:t>
            </a:r>
          </a:p>
        </p:txBody>
      </p:sp>
      <p:sp>
        <p:nvSpPr>
          <p:cNvPr id="16" name="Rounded Rectangle 15"/>
          <p:cNvSpPr/>
          <p:nvPr/>
        </p:nvSpPr>
        <p:spPr>
          <a:xfrm>
            <a:off x="6251295" y="3527496"/>
            <a:ext cx="5437479" cy="1830887"/>
          </a:xfrm>
          <a:prstGeom prst="roundRect">
            <a:avLst>
              <a:gd name="adj" fmla="val 16647"/>
            </a:avLst>
          </a:prstGeom>
          <a:solidFill>
            <a:srgbClr val="FFFFFF"/>
          </a:solidFill>
          <a:ln w="19050">
            <a:solidFill>
              <a:srgbClr val="028090"/>
            </a:solidFill>
          </a:ln>
          <a:effectLst/>
        </p:spPr>
        <p:txBody>
          <a:bodyPr rtlCol="0" anchor="ctr"/>
          <a:lstStyle/>
          <a:p>
            <a:pPr algn="ctr"/>
          </a:p>
        </p:txBody>
      </p:sp>
      <p:sp>
        <p:nvSpPr>
          <p:cNvPr id="17" name="TextBox 16"/>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«Волшебник страны Оз» в Sphere</a:t>
            </a:r>
          </a:p>
        </p:txBody>
      </p:sp>
      <p:sp>
        <p:nvSpPr>
          <p:cNvPr id="18" name="TextBox 17"/>
          <p:cNvSpPr txBox="1"/>
          <p:nvPr/>
        </p:nvSpPr>
        <p:spPr>
          <a:xfrm>
            <a:off x="6415887" y="4039123"/>
            <a:ext cx="5108295" cy="1163812"/>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исходный материал: плёнка 1939 года, кадр 4:3</a:t>
            </a:r>
          </a:p>
          <a:p>
            <a:pPr algn="l">
              <a:lnSpc>
                <a:spcPct val="126000"/>
              </a:lnSpc>
            </a:pPr>
            <a:r>
              <a:rPr sz="1100" b="0" i="0">
                <a:solidFill>
                  <a:srgbClr val="21295C"/>
                </a:solidFill>
                <a:latin typeface="Arial"/>
              </a:rPr>
              <a:t>• что делает машина: достраивает кадр по сторонам и повышает разрешение</a:t>
            </a:r>
          </a:p>
          <a:p>
            <a:pPr algn="l">
              <a:lnSpc>
                <a:spcPct val="126000"/>
              </a:lnSpc>
            </a:pPr>
            <a:r>
              <a:rPr sz="1100" b="0" i="0">
                <a:solidFill>
                  <a:srgbClr val="21295C"/>
                </a:solidFill>
                <a:latin typeface="Arial"/>
              </a:rPr>
              <a:t>• кто читает результат: зритель, как «тот самый фильм»</a:t>
            </a:r>
          </a:p>
          <a:p>
            <a:pPr algn="l">
              <a:lnSpc>
                <a:spcPct val="126000"/>
              </a:lnSpc>
            </a:pPr>
            <a:r>
              <a:rPr sz="1100" b="0" i="0">
                <a:solidFill>
                  <a:srgbClr val="21295C"/>
                </a:solidFill>
                <a:latin typeface="Arial"/>
              </a:rPr>
              <a:t>• классический режим: существует, не посчитан</a:t>
            </a:r>
          </a:p>
          <a:p>
            <a:pPr algn="l">
              <a:lnSpc>
                <a:spcPct val="126000"/>
              </a:lnSpc>
            </a:pPr>
            <a:r>
              <a:rPr sz="1100" b="0" i="0">
                <a:solidFill>
                  <a:srgbClr val="21295C"/>
                </a:solidFill>
                <a:latin typeface="Arial"/>
              </a:rPr>
              <a:t>• что переехало: граница между восстановлением и выдумыванием</a:t>
            </a:r>
          </a:p>
        </p:txBody>
      </p:sp>
      <p:sp>
        <p:nvSpPr>
          <p:cNvPr id="19" name="Rounded Rectangle 18"/>
          <p:cNvSpPr/>
          <p:nvPr/>
        </p:nvSpPr>
        <p:spPr>
          <a:xfrm>
            <a:off x="502920" y="5541264"/>
            <a:ext cx="11185855"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0" name="Rounded Rectangle 19"/>
          <p:cNvSpPr/>
          <p:nvPr/>
        </p:nvSpPr>
        <p:spPr>
          <a:xfrm>
            <a:off x="685800" y="5724144"/>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1" name="TextBox 20"/>
          <p:cNvSpPr txBox="1"/>
          <p:nvPr/>
        </p:nvSpPr>
        <p:spPr>
          <a:xfrm>
            <a:off x="1574764" y="5733761"/>
            <a:ext cx="9931130" cy="309949"/>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граница — можно ли проверить результат независимо от того, кто его получил</a:t>
            </a:r>
          </a:p>
        </p:txBody>
      </p:sp>
      <p:sp>
        <p:nvSpPr>
          <p:cNvPr id="22" name="Rectangle 21"/>
          <p:cNvSpPr/>
          <p:nvPr/>
        </p:nvSpPr>
        <p:spPr>
          <a:xfrm>
            <a:off x="502920" y="70136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Устройство распознавателя: те же блоки внимания, обратная задача</a:t>
            </a:r>
          </a:p>
        </p:txBody>
      </p:sp>
      <p:sp>
        <p:nvSpPr>
          <p:cNvPr id="4" name="Rounded Rectangle 3"/>
          <p:cNvSpPr/>
          <p:nvPr/>
        </p:nvSpPr>
        <p:spPr>
          <a:xfrm>
            <a:off x="502920"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STEAM: ДОЛЯ РЕЛИЗОВ ГОДА С РАСКРЫТИЕМ ГЕНЕРАТИВНЫХ СРЕДСТВ</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10,9% → 19,9% → 30,8%</a:t>
            </a:r>
          </a:p>
        </p:txBody>
      </p:sp>
      <p:sp>
        <p:nvSpPr>
          <p:cNvPr id="7" name="TextBox 6"/>
          <p:cNvSpPr txBox="1"/>
          <p:nvPr/>
        </p:nvSpPr>
        <p:spPr>
          <a:xfrm>
            <a:off x="640080"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2024 · 2025 · к июлю 2026; подтверждено вторым независимым счётом по 53 597 релизам</a:t>
            </a:r>
          </a:p>
        </p:txBody>
      </p:sp>
      <p:sp>
        <p:nvSpPr>
          <p:cNvPr id="8" name="Rounded Rectangle 7"/>
          <p:cNvSpPr/>
          <p:nvPr/>
        </p:nvSpPr>
        <p:spPr>
          <a:xfrm>
            <a:off x="6178143" y="1335024"/>
            <a:ext cx="5510631"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АВТОДУБЛЯЖ YOUTUBE: ДОЛЯ ВРЕМЕНИ ПРОСМОТРА НА ДОРОЖКАХ НЕ ОСНОВНОГО ЯЗЫКА</a:t>
            </a:r>
          </a:p>
        </p:txBody>
      </p:sp>
      <p:sp>
        <p:nvSpPr>
          <p:cNvPr id="10" name="TextBox 9"/>
          <p:cNvSpPr txBox="1"/>
          <p:nvPr/>
        </p:nvSpPr>
        <p:spPr>
          <a:xfrm>
            <a:off x="6315303" y="193284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свыше 25%</a:t>
            </a:r>
          </a:p>
        </p:txBody>
      </p:sp>
      <p:sp>
        <p:nvSpPr>
          <p:cNvPr id="11" name="TextBox 10"/>
          <p:cNvSpPr txBox="1"/>
          <p:nvPr/>
        </p:nvSpPr>
        <p:spPr>
          <a:xfrm>
            <a:off x="6315303"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нулевая — у автора, снимавшего на одном языке, аудитории на других языках раньше не было вовсе</a:t>
            </a:r>
          </a:p>
        </p:txBody>
      </p:sp>
      <p:sp>
        <p:nvSpPr>
          <p:cNvPr id="12" name="Rounded Rectangle 11"/>
          <p:cNvSpPr/>
          <p:nvPr/>
        </p:nvSpPr>
        <p:spPr>
          <a:xfrm>
            <a:off x="502920" y="3102372"/>
            <a:ext cx="5364327"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13" name="Rounded Rectangle 12"/>
          <p:cNvSpPr/>
          <p:nvPr/>
        </p:nvSpPr>
        <p:spPr>
          <a:xfrm>
            <a:off x="630936" y="3230388"/>
            <a:ext cx="5108295" cy="256032"/>
          </a:xfrm>
          <a:prstGeom prst="roundRect">
            <a:avLst>
              <a:gd name="adj" fmla="val 38000"/>
            </a:avLst>
          </a:prstGeom>
          <a:solidFill>
            <a:srgbClr val="E6F2F4"/>
          </a:solidFill>
          <a:ln>
            <a:noFill/>
          </a:ln>
          <a:effectLst/>
        </p:spPr>
        <p:txBody>
          <a:bodyPr rtlCol="0" anchor="ctr"/>
          <a:lstStyle/>
          <a:p>
            <a:pPr algn="ctr"/>
          </a:p>
        </p:txBody>
      </p:sp>
      <p:sp>
        <p:nvSpPr>
          <p:cNvPr id="14" name="TextBox 13"/>
          <p:cNvSpPr txBox="1"/>
          <p:nvPr/>
        </p:nvSpPr>
        <p:spPr>
          <a:xfrm>
            <a:off x="685800" y="3230388"/>
            <a:ext cx="4998567"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патч → токен</a:t>
            </a:r>
          </a:p>
        </p:txBody>
      </p:sp>
      <p:sp>
        <p:nvSpPr>
          <p:cNvPr id="15" name="TextBox 14"/>
          <p:cNvSpPr txBox="1"/>
          <p:nvPr/>
        </p:nvSpPr>
        <p:spPr>
          <a:xfrm>
            <a:off x="630936" y="3577860"/>
            <a:ext cx="5108295"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Модель зрения (ViT)</a:t>
            </a:r>
          </a:p>
        </p:txBody>
      </p:sp>
      <p:sp>
        <p:nvSpPr>
          <p:cNvPr id="16" name="TextBox 15"/>
          <p:cNvSpPr txBox="1"/>
          <p:nvPr/>
        </p:nvSpPr>
        <p:spPr>
          <a:xfrm>
            <a:off x="630936" y="3945929"/>
            <a:ext cx="5108295"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картинка режется на патчи; обычный трансформер-энкодер, те же блоки внимания</a:t>
            </a:r>
          </a:p>
          <a:p>
            <a:pPr algn="l">
              <a:lnSpc>
                <a:spcPct val="114000"/>
              </a:lnSpc>
              <a:spcBef>
                <a:spcPts val="400"/>
              </a:spcBef>
            </a:pPr>
            <a:r>
              <a:rPr sz="1350" b="0" i="0">
                <a:solidFill>
                  <a:srgbClr val="21295C"/>
                </a:solidFill>
                <a:latin typeface="Arial"/>
              </a:rPr>
              <a:t/>
            </a:r>
            <a:r>
              <a:rPr sz="1350" b="0" i="0">
                <a:solidFill>
                  <a:srgbClr val="21295C"/>
                </a:solidFill>
                <a:latin typeface="Arial"/>
              </a:rPr>
              <a:t>один прямой проход — метка; дешевле порождения на порядки против десятков шагов снятия шума</a:t>
            </a:r>
          </a:p>
        </p:txBody>
      </p:sp>
      <p:sp>
        <p:nvSpPr>
          <p:cNvPr id="17" name="Right Arrow 16"/>
          <p:cNvSpPr/>
          <p:nvPr/>
        </p:nvSpPr>
        <p:spPr>
          <a:xfrm>
            <a:off x="5958687" y="4024192"/>
            <a:ext cx="274320" cy="146304"/>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6324447" y="3102372"/>
            <a:ext cx="5364327"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452463" y="3230388"/>
            <a:ext cx="5108295" cy="256032"/>
          </a:xfrm>
          <a:prstGeom prst="roundRect">
            <a:avLst>
              <a:gd name="adj" fmla="val 38000"/>
            </a:avLst>
          </a:prstGeom>
          <a:solidFill>
            <a:srgbClr val="E6F2F4"/>
          </a:solidFill>
          <a:ln>
            <a:noFill/>
          </a:ln>
          <a:effectLst/>
        </p:spPr>
        <p:txBody>
          <a:bodyPr rtlCol="0" anchor="ctr"/>
          <a:lstStyle/>
          <a:p>
            <a:pPr algn="ctr"/>
          </a:p>
        </p:txBody>
      </p:sp>
      <p:sp>
        <p:nvSpPr>
          <p:cNvPr id="20" name="TextBox 19"/>
          <p:cNvSpPr txBox="1"/>
          <p:nvPr/>
        </p:nvSpPr>
        <p:spPr>
          <a:xfrm>
            <a:off x="6507327" y="3230388"/>
            <a:ext cx="4998567"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картинка + текст → общее пространство</a:t>
            </a:r>
          </a:p>
        </p:txBody>
      </p:sp>
      <p:sp>
        <p:nvSpPr>
          <p:cNvPr id="21" name="TextBox 20"/>
          <p:cNvSpPr txBox="1"/>
          <p:nvPr/>
        </p:nvSpPr>
        <p:spPr>
          <a:xfrm>
            <a:off x="6452463" y="3577860"/>
            <a:ext cx="5108295"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Пара энкодеров (CLIP)</a:t>
            </a:r>
          </a:p>
        </p:txBody>
      </p:sp>
      <p:sp>
        <p:nvSpPr>
          <p:cNvPr id="22" name="TextBox 21"/>
          <p:cNvSpPr txBox="1"/>
          <p:nvPr/>
        </p:nvSpPr>
        <p:spPr>
          <a:xfrm>
            <a:off x="6452463" y="3945929"/>
            <a:ext cx="5108295"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энкодер картинки и энкодер текста учатся вместе на 400 млн пар «изображение — подпись»</a:t>
            </a:r>
          </a:p>
          <a:p>
            <a:pPr algn="l">
              <a:lnSpc>
                <a:spcPct val="114000"/>
              </a:lnSpc>
              <a:spcBef>
                <a:spcPts val="400"/>
              </a:spcBef>
            </a:pPr>
            <a:r>
              <a:rPr sz="1350" b="0" i="0">
                <a:solidFill>
                  <a:srgbClr val="21295C"/>
                </a:solidFill>
                <a:latin typeface="Arial"/>
              </a:rPr>
              <a:t/>
            </a:r>
            <a:r>
              <a:rPr sz="1350" b="0" i="0">
                <a:solidFill>
                  <a:srgbClr val="21295C"/>
                </a:solidFill>
                <a:latin typeface="Arial"/>
              </a:rPr>
              <a:t>оба проецируют вход в одно общее пространство; обучение — угадать, какая подпись какому изображению</a:t>
            </a:r>
          </a:p>
        </p:txBody>
      </p:sp>
      <p:sp>
        <p:nvSpPr>
          <p:cNvPr id="23" name="Rounded Rectangle 22"/>
          <p:cNvSpPr/>
          <p:nvPr/>
        </p:nvSpPr>
        <p:spPr>
          <a:xfrm>
            <a:off x="374904" y="5183755"/>
            <a:ext cx="11441887" cy="101675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5275195"/>
            <a:ext cx="11112703" cy="961012"/>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Порождение и распознавание расходятся в трёх местах:</a:t>
            </a:r>
            <a:r>
              <a:rPr sz="1100" b="0" i="0">
                <a:solidFill>
                  <a:srgbClr val="21295C"/>
                </a:solidFill>
                <a:latin typeface="Arial"/>
              </a:rPr>
              <a:t> стоимость, проверяемость, обучение. У распознавателя есть эталонная разметка — правильного ответа на «нарисуй дракона» не существует.</a:t>
            </a:r>
          </a:p>
          <a:p>
            <a:pPr algn="l">
              <a:lnSpc>
                <a:spcPct val="126000"/>
              </a:lnSpc>
              <a:spcBef>
                <a:spcPts val="700"/>
              </a:spcBef>
            </a:pPr>
            <a:r>
              <a:rPr sz="1100" b="0" i="0">
                <a:solidFill>
                  <a:srgbClr val="21295C"/>
                </a:solidFill>
                <a:latin typeface="Arial"/>
              </a:rPr>
              <a:t/>
            </a:r>
            <a:r>
              <a:rPr sz="1100" b="1" i="0">
                <a:solidFill>
                  <a:srgbClr val="21295C"/>
                </a:solidFill>
                <a:latin typeface="Arial"/>
              </a:rPr>
              <a:t>Игры — единственная отрасль вечера со счётом, а не опросом.</a:t>
            </a:r>
            <a:r>
              <a:rPr sz="1100" b="0" i="0">
                <a:solidFill>
                  <a:srgbClr val="21295C"/>
                </a:solidFill>
                <a:latin typeface="Arial"/>
              </a:rPr>
              <a:t> Раскрытие обязательно по факту, добровольно по содержанию — доля читается как нижняя граница.</a:t>
            </a:r>
          </a:p>
        </p:txBody>
      </p:sp>
      <p:sp>
        <p:nvSpPr>
          <p:cNvPr id="25" name="Rectangle 24"/>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Dosovitskiy et al., ICLR 2021, arXiv:2010.11929; Radford et al., ICML 2021, arXiv:2103.00020; Nature, октябрь 2024, doi:10.1038/s41586-024-08025-4; публичные страницы раскрытия Steam; сообщения площадки о дубляже, 11 февраля 2025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Распознаватель сгенерированного на незнакомой модели</a:t>
            </a:r>
          </a:p>
        </p:txBody>
      </p:sp>
      <p:sp>
        <p:nvSpPr>
          <p:cNvPr id="4" name="Rounded Rectangle 3"/>
          <p:cNvSpPr/>
          <p:nvPr/>
        </p:nvSpPr>
        <p:spPr>
          <a:xfrm>
            <a:off x="502920" y="1335024"/>
            <a:ext cx="11185855"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ПЛОЩАДЬ ПОД КРИВОЙ В ТОЙ ЖЕ СТРОКЕ ТАБЛИЦЫ</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94,9</a:t>
            </a:r>
          </a:p>
        </p:txBody>
      </p:sp>
      <p:sp>
        <p:nvSpPr>
          <p:cNvPr id="7" name="TextBox 6"/>
          <p:cNvSpPr txBox="1"/>
          <p:nvPr/>
        </p:nvSpPr>
        <p:spPr>
          <a:xfrm>
            <a:off x="640080" y="2152374"/>
            <a:ext cx="1091153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ДРУГАЯ мера: 0,5 из 1 — монета, 1,0 — без промаха. Здесь 0,949, то есть «отлично», при решении, не отличимом от монеты. Если приёмка смотрела на эту величину, она увидела отличный распознаватель</a:t>
            </a:r>
          </a:p>
        </p:txBody>
      </p:sp>
      <p:sp>
        <p:nvSpPr>
          <p:cNvPr id="8" name="Rectangle 7"/>
          <p:cNvSpPr/>
          <p:nvPr/>
        </p:nvSpPr>
        <p:spPr>
          <a:xfrm>
            <a:off x="754380" y="3565875"/>
            <a:ext cx="10682935" cy="50292"/>
          </a:xfrm>
          <a:prstGeom prst="rect">
            <a:avLst/>
          </a:prstGeom>
          <a:solidFill>
            <a:srgbClr val="1C7293"/>
          </a:solidFill>
          <a:ln>
            <a:noFill/>
          </a:ln>
          <a:effectLst/>
        </p:spPr>
        <p:txBody>
          <a:bodyPr rtlCol="0" anchor="ctr"/>
          <a:lstStyle/>
          <a:p>
            <a:pPr algn="ctr"/>
          </a:p>
        </p:txBody>
      </p:sp>
      <p:sp>
        <p:nvSpPr>
          <p:cNvPr id="9" name="TextBox 8"/>
          <p:cNvSpPr txBox="1"/>
          <p:nvPr/>
        </p:nvSpPr>
        <p:spPr>
          <a:xfrm>
            <a:off x="388620" y="365274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45</a:t>
            </a:r>
          </a:p>
        </p:txBody>
      </p:sp>
      <p:sp>
        <p:nvSpPr>
          <p:cNvPr id="10" name="TextBox 9"/>
          <p:cNvSpPr txBox="1"/>
          <p:nvPr/>
        </p:nvSpPr>
        <p:spPr>
          <a:xfrm>
            <a:off x="11071555" y="365274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11" name="Rectangle 10"/>
          <p:cNvSpPr/>
          <p:nvPr/>
        </p:nvSpPr>
        <p:spPr>
          <a:xfrm>
            <a:off x="836676" y="3485408"/>
            <a:ext cx="37033" cy="211226"/>
          </a:xfrm>
          <a:prstGeom prst="rect">
            <a:avLst/>
          </a:prstGeom>
          <a:solidFill>
            <a:srgbClr val="FFFFFF"/>
          </a:solidFill>
          <a:ln>
            <a:noFill/>
          </a:ln>
          <a:effectLst/>
        </p:spPr>
        <p:txBody>
          <a:bodyPr rtlCol="0" anchor="ctr"/>
          <a:lstStyle/>
          <a:p>
            <a:pPr algn="ctr"/>
          </a:p>
        </p:txBody>
      </p:sp>
      <p:sp>
        <p:nvSpPr>
          <p:cNvPr id="12" name="Rectangle 11"/>
          <p:cNvSpPr/>
          <p:nvPr/>
        </p:nvSpPr>
        <p:spPr>
          <a:xfrm>
            <a:off x="910742" y="3485408"/>
            <a:ext cx="37033" cy="211226"/>
          </a:xfrm>
          <a:prstGeom prst="rect">
            <a:avLst/>
          </a:prstGeom>
          <a:solidFill>
            <a:srgbClr val="FFFFFF"/>
          </a:solidFill>
          <a:ln>
            <a:noFill/>
          </a:ln>
          <a:effectLst/>
        </p:spPr>
        <p:txBody>
          <a:bodyPr rtlCol="0" anchor="ctr"/>
          <a:lstStyle/>
          <a:p>
            <a:pPr algn="ctr"/>
          </a:p>
        </p:txBody>
      </p:sp>
      <p:sp>
        <p:nvSpPr>
          <p:cNvPr id="13" name="Rectangle 12"/>
          <p:cNvSpPr/>
          <p:nvPr/>
        </p:nvSpPr>
        <p:spPr>
          <a:xfrm>
            <a:off x="2128259" y="3401283"/>
            <a:ext cx="50292" cy="164592"/>
          </a:xfrm>
          <a:prstGeom prst="rect">
            <a:avLst/>
          </a:prstGeom>
          <a:solidFill>
            <a:srgbClr val="065A82"/>
          </a:solidFill>
          <a:ln>
            <a:noFill/>
          </a:ln>
          <a:effectLst/>
        </p:spPr>
        <p:txBody>
          <a:bodyPr rtlCol="0" anchor="ctr"/>
          <a:lstStyle/>
          <a:p>
            <a:pPr algn="ctr"/>
          </a:p>
        </p:txBody>
      </p:sp>
      <p:sp>
        <p:nvSpPr>
          <p:cNvPr id="14" name="TextBox 13"/>
          <p:cNvSpPr txBox="1"/>
          <p:nvPr/>
        </p:nvSpPr>
        <p:spPr>
          <a:xfrm>
            <a:off x="1034819" y="2894901"/>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51,2</a:t>
            </a:r>
          </a:p>
          <a:p>
            <a:pPr algn="ctr">
              <a:lnSpc>
                <a:spcPct val="110000"/>
              </a:lnSpc>
            </a:pPr>
            <a:r>
              <a:rPr sz="1200" b="0" i="0">
                <a:solidFill>
                  <a:srgbClr val="21295C"/>
                </a:solidFill>
                <a:latin typeface="Arial"/>
              </a:rPr>
              <a:t>ADM</a:t>
            </a:r>
          </a:p>
        </p:txBody>
      </p:sp>
      <p:sp>
        <p:nvSpPr>
          <p:cNvPr id="15" name="Rectangle 14"/>
          <p:cNvSpPr/>
          <p:nvPr/>
        </p:nvSpPr>
        <p:spPr>
          <a:xfrm>
            <a:off x="2257823" y="3616167"/>
            <a:ext cx="50292" cy="1645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1164383" y="3872199"/>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51,9</a:t>
            </a:r>
          </a:p>
          <a:p>
            <a:pPr algn="ctr">
              <a:lnSpc>
                <a:spcPct val="110000"/>
              </a:lnSpc>
            </a:pPr>
            <a:r>
              <a:rPr sz="1200" b="0" i="0">
                <a:solidFill>
                  <a:srgbClr val="21295C"/>
                </a:solidFill>
                <a:latin typeface="Arial"/>
              </a:rPr>
              <a:t>DALL·E 2</a:t>
            </a:r>
          </a:p>
        </p:txBody>
      </p:sp>
      <p:sp>
        <p:nvSpPr>
          <p:cNvPr id="17" name="Rectangle 16"/>
          <p:cNvSpPr/>
          <p:nvPr/>
        </p:nvSpPr>
        <p:spPr>
          <a:xfrm>
            <a:off x="4367862" y="3401283"/>
            <a:ext cx="50292" cy="164592"/>
          </a:xfrm>
          <a:prstGeom prst="rect">
            <a:avLst/>
          </a:prstGeom>
          <a:solidFill>
            <a:srgbClr val="065A82"/>
          </a:solidFill>
          <a:ln>
            <a:noFill/>
          </a:ln>
          <a:effectLst/>
        </p:spPr>
        <p:txBody>
          <a:bodyPr rtlCol="0" anchor="ctr"/>
          <a:lstStyle/>
          <a:p>
            <a:pPr algn="ctr"/>
          </a:p>
        </p:txBody>
      </p:sp>
      <p:sp>
        <p:nvSpPr>
          <p:cNvPr id="18" name="TextBox 17"/>
          <p:cNvSpPr txBox="1"/>
          <p:nvPr/>
        </p:nvSpPr>
        <p:spPr>
          <a:xfrm>
            <a:off x="3274423" y="2894901"/>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63,3</a:t>
            </a:r>
          </a:p>
          <a:p>
            <a:pPr algn="ctr">
              <a:lnSpc>
                <a:spcPct val="110000"/>
              </a:lnSpc>
            </a:pPr>
            <a:r>
              <a:rPr sz="1200" b="0" i="0">
                <a:solidFill>
                  <a:srgbClr val="21295C"/>
                </a:solidFill>
                <a:latin typeface="Arial"/>
              </a:rPr>
              <a:t>после обрезки и пережатия</a:t>
            </a:r>
          </a:p>
        </p:txBody>
      </p:sp>
      <p:sp>
        <p:nvSpPr>
          <p:cNvPr id="19" name="Rectangle 18"/>
          <p:cNvSpPr/>
          <p:nvPr/>
        </p:nvSpPr>
        <p:spPr>
          <a:xfrm>
            <a:off x="10809035" y="3616167"/>
            <a:ext cx="50292" cy="164592"/>
          </a:xfrm>
          <a:prstGeom prst="rect">
            <a:avLst/>
          </a:prstGeom>
          <a:solidFill>
            <a:srgbClr val="065A82"/>
          </a:solidFill>
          <a:ln>
            <a:noFill/>
          </a:ln>
          <a:effectLst/>
        </p:spPr>
        <p:txBody>
          <a:bodyPr rtlCol="0" anchor="ctr"/>
          <a:lstStyle/>
          <a:p>
            <a:pPr algn="ctr"/>
          </a:p>
        </p:txBody>
      </p:sp>
      <p:sp>
        <p:nvSpPr>
          <p:cNvPr id="20" name="TextBox 19"/>
          <p:cNvSpPr txBox="1"/>
          <p:nvPr/>
        </p:nvSpPr>
        <p:spPr>
          <a:xfrm>
            <a:off x="9715596" y="3872199"/>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98,1</a:t>
            </a:r>
          </a:p>
          <a:p>
            <a:pPr algn="ctr">
              <a:lnSpc>
                <a:spcPct val="110000"/>
              </a:lnSpc>
            </a:pPr>
            <a:r>
              <a:rPr sz="1200" b="0" i="0">
                <a:solidFill>
                  <a:srgbClr val="21295C"/>
                </a:solidFill>
                <a:latin typeface="Arial"/>
              </a:rPr>
              <a:t>StyleGAN2</a:t>
            </a:r>
          </a:p>
        </p:txBody>
      </p:sp>
      <p:sp>
        <p:nvSpPr>
          <p:cNvPr id="21" name="Rectangle 20"/>
          <p:cNvSpPr/>
          <p:nvPr/>
        </p:nvSpPr>
        <p:spPr>
          <a:xfrm>
            <a:off x="11142200" y="3401283"/>
            <a:ext cx="50292" cy="164592"/>
          </a:xfrm>
          <a:prstGeom prst="rect">
            <a:avLst/>
          </a:prstGeom>
          <a:solidFill>
            <a:srgbClr val="065A82"/>
          </a:solidFill>
          <a:ln>
            <a:noFill/>
          </a:ln>
          <a:effectLst/>
        </p:spPr>
        <p:txBody>
          <a:bodyPr rtlCol="0" anchor="ctr"/>
          <a:lstStyle/>
          <a:p>
            <a:pPr algn="ctr"/>
          </a:p>
        </p:txBody>
      </p:sp>
      <p:sp>
        <p:nvSpPr>
          <p:cNvPr id="22" name="TextBox 21"/>
          <p:cNvSpPr txBox="1"/>
          <p:nvPr/>
        </p:nvSpPr>
        <p:spPr>
          <a:xfrm>
            <a:off x="10048760" y="2894901"/>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99,9</a:t>
            </a:r>
          </a:p>
          <a:p>
            <a:pPr algn="ctr">
              <a:lnSpc>
                <a:spcPct val="110000"/>
              </a:lnSpc>
            </a:pPr>
            <a:r>
              <a:rPr sz="1200" b="0" i="0">
                <a:solidFill>
                  <a:srgbClr val="21295C"/>
                </a:solidFill>
                <a:latin typeface="Arial"/>
              </a:rPr>
              <a:t>своё семейство</a:t>
            </a:r>
          </a:p>
        </p:txBody>
      </p:sp>
      <p:sp>
        <p:nvSpPr>
          <p:cNvPr id="23" name="TextBox 22"/>
          <p:cNvSpPr txBox="1"/>
          <p:nvPr/>
        </p:nvSpPr>
        <p:spPr>
          <a:xfrm>
            <a:off x="502920" y="4396870"/>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верных ответов при рабочем пороге · один и тот же распознаватель, разные источники изображений</a:t>
            </a:r>
          </a:p>
        </p:txBody>
      </p:sp>
      <p:sp>
        <p:nvSpPr>
          <p:cNvPr id="24" name="TextBox 23"/>
          <p:cNvSpPr txBox="1"/>
          <p:nvPr/>
        </p:nvSpPr>
        <p:spPr>
          <a:xfrm>
            <a:off x="502920" y="4689478"/>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Своё семейство · чужое семейство · та же картинка после обычной обработки. Половина шкалы — подбрасывание монеты</a:t>
            </a:r>
          </a:p>
        </p:txBody>
      </p:sp>
      <p:sp>
        <p:nvSpPr>
          <p:cNvPr id="25" name="Rounded Rectangle 24"/>
          <p:cNvSpPr/>
          <p:nvPr/>
        </p:nvSpPr>
        <p:spPr>
          <a:xfrm>
            <a:off x="374904" y="4995934"/>
            <a:ext cx="11441887" cy="1240273"/>
          </a:xfrm>
          <a:prstGeom prst="roundRect">
            <a:avLst>
              <a:gd name="adj" fmla="val 2457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5087374"/>
            <a:ext cx="5373471" cy="114883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Выбор между двумя честными цифрами решает, поставите вы такую систему в работу или нет.</a:t>
            </a:r>
          </a:p>
          <a:p>
            <a:pPr algn="l">
              <a:lnSpc>
                <a:spcPct val="126000"/>
              </a:lnSpc>
              <a:spcBef>
                <a:spcPts val="700"/>
              </a:spcBef>
            </a:pPr>
            <a:r>
              <a:rPr sz="1250" b="0" i="0">
                <a:solidFill>
                  <a:srgbClr val="21295C"/>
                </a:solidFill>
                <a:latin typeface="Arial"/>
              </a:rPr>
              <a:t/>
            </a:r>
            <a:r>
              <a:rPr sz="1250" b="0" i="0">
                <a:solidFill>
                  <a:srgbClr val="21295C"/>
                </a:solidFill>
                <a:latin typeface="Arial"/>
              </a:rPr>
              <a:t>• спрашивайте долю верных ответов при рабочем пороге, а не площадь под кривой</a:t>
            </a:r>
          </a:p>
        </p:txBody>
      </p:sp>
      <p:sp>
        <p:nvSpPr>
          <p:cNvPr id="27" name="TextBox 26"/>
          <p:cNvSpPr txBox="1"/>
          <p:nvPr/>
        </p:nvSpPr>
        <p:spPr>
          <a:xfrm>
            <a:off x="6278727" y="5087374"/>
            <a:ext cx="5373471" cy="1148833"/>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спрашивайте у поставщика, на чём распознаватель измерен, и сверяйте с тем, на чём будете применять</a:t>
            </a:r>
          </a:p>
          <a:p>
            <a:pPr algn="l">
              <a:lnSpc>
                <a:spcPct val="126000"/>
              </a:lnSpc>
              <a:spcBef>
                <a:spcPts val="700"/>
              </a:spcBef>
            </a:pPr>
            <a:r>
              <a:rPr sz="1250" b="0" i="0">
                <a:solidFill>
                  <a:srgbClr val="21295C"/>
                </a:solidFill>
                <a:latin typeface="Arial"/>
              </a:rPr>
              <a:t/>
            </a:r>
            <a:r>
              <a:rPr sz="1250" b="0" i="0">
                <a:solidFill>
                  <a:srgbClr val="21295C"/>
                </a:solidFill>
                <a:latin typeface="Arial"/>
              </a:rPr>
              <a:t>• починка существует и неполная: среднее по тем же двенадцати генераторам поднимается с 75,8 до 87,8, а DALL·E 2 остаётся на 66,9</a:t>
            </a:r>
          </a:p>
        </p:txBody>
      </p:sp>
      <p:sp>
        <p:nvSpPr>
          <p:cNvPr id="28" name="Rectangle 27"/>
          <p:cNvSpPr/>
          <p:nvPr/>
        </p:nvSpPr>
        <p:spPr>
          <a:xfrm>
            <a:off x="6091275" y="5087374"/>
            <a:ext cx="9144" cy="1079103"/>
          </a:xfrm>
          <a:prstGeom prst="rect">
            <a:avLst/>
          </a:prstGeom>
          <a:solidFill>
            <a:srgbClr val="D9E2EC"/>
          </a:solidFill>
          <a:ln>
            <a:noFill/>
          </a:ln>
          <a:effectLst/>
        </p:spPr>
        <p:txBody>
          <a:bodyPr rtlCol="0" anchor="ctr"/>
          <a:lstStyle/>
          <a:p>
            <a:pPr algn="ct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Corvi et al., ICASSP 2023, arXiv:2211.00680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Обход подписи камеры: эксплойт и дыра в спецификации</a:t>
            </a:r>
          </a:p>
        </p:txBody>
      </p:sp>
      <p:sp>
        <p:nvSpPr>
          <p:cNvPr id="4" name="Rounded Rectangle 3"/>
          <p:cNvSpPr/>
          <p:nvPr/>
        </p:nvSpPr>
        <p:spPr>
          <a:xfrm>
            <a:off x="502920" y="1335024"/>
            <a:ext cx="5437479" cy="2664364"/>
          </a:xfrm>
          <a:prstGeom prst="roundRect">
            <a:avLst>
              <a:gd name="adj" fmla="val 11439"/>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25 августа 2026 — эксплойт StrongBox</a:t>
            </a:r>
          </a:p>
        </p:txBody>
      </p:sp>
      <p:sp>
        <p:nvSpPr>
          <p:cNvPr id="6" name="TextBox 5"/>
          <p:cNvSpPr txBox="1"/>
          <p:nvPr/>
        </p:nvSpPr>
        <p:spPr>
          <a:xfrm>
            <a:off x="667512" y="1846650"/>
            <a:ext cx="5108295" cy="1997289"/>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нужен root на устройстве (CVE-2026-43499 — обычная уязвимость ядра Linux, не специфичная для камеры)</a:t>
            </a:r>
          </a:p>
          <a:p>
            <a:pPr algn="l">
              <a:lnSpc>
                <a:spcPct val="126000"/>
              </a:lnSpc>
            </a:pPr>
            <a:r>
              <a:rPr sz="1200" b="0" i="0">
                <a:solidFill>
                  <a:srgbClr val="21295C"/>
                </a:solidFill>
                <a:latin typeface="Arial"/>
              </a:rPr>
              <a:t>• с root атакующий просит аппаратный модуль StrongBox подписать произвольные данные тем же ключом, что и настоящая камера</a:t>
            </a:r>
          </a:p>
          <a:p>
            <a:pPr algn="l">
              <a:lnSpc>
                <a:spcPct val="126000"/>
              </a:lnSpc>
            </a:pPr>
            <a:r>
              <a:rPr sz="1200" b="0" i="0">
                <a:solidFill>
                  <a:srgbClr val="21295C"/>
                </a:solidFill>
                <a:latin typeface="Arial"/>
              </a:rPr>
              <a:t>• жертва — Pixel Camera: наивысший сертификат доверия C2PA, Assurance Level 2 — ломается образцовый случай, не слабый</a:t>
            </a:r>
          </a:p>
          <a:p>
            <a:pPr algn="l">
              <a:lnSpc>
                <a:spcPct val="126000"/>
              </a:lnSpc>
            </a:pPr>
            <a:r>
              <a:rPr sz="1200" b="0" i="0">
                <a:solidFill>
                  <a:srgbClr val="21295C"/>
                </a:solidFill>
                <a:latin typeface="Arial"/>
              </a:rPr>
              <a:t>• Google: «Won't fix (infeasible)», вознаграждение 7 500 $ — починка означала бы перестроить весь конвейер внутри защищённого анклава</a:t>
            </a:r>
          </a:p>
        </p:txBody>
      </p:sp>
      <p:sp>
        <p:nvSpPr>
          <p:cNvPr id="7" name="Rounded Rectangle 6"/>
          <p:cNvSpPr/>
          <p:nvPr/>
        </p:nvSpPr>
        <p:spPr>
          <a:xfrm>
            <a:off x="6251295" y="1335024"/>
            <a:ext cx="5437479" cy="2664364"/>
          </a:xfrm>
          <a:prstGeom prst="roundRect">
            <a:avLst>
              <a:gd name="adj" fmla="val 11439"/>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2 октября 2026 — дыра в спецификации</a:t>
            </a:r>
          </a:p>
        </p:txBody>
      </p:sp>
      <p:sp>
        <p:nvSpPr>
          <p:cNvPr id="9" name="TextBox 8"/>
          <p:cNvSpPr txBox="1"/>
          <p:nvPr/>
        </p:nvSpPr>
        <p:spPr>
          <a:xfrm>
            <a:off x="6415887" y="1846650"/>
            <a:ext cx="5108295" cy="1997289"/>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root не нужен вовсе, доступ к устройству не нужен — ломается не телефон, а формат</a:t>
            </a:r>
          </a:p>
          <a:p>
            <a:pPr algn="l">
              <a:lnSpc>
                <a:spcPct val="126000"/>
              </a:lnSpc>
            </a:pPr>
            <a:r>
              <a:rPr sz="1000" b="0" i="0">
                <a:solidFill>
                  <a:srgbClr val="21295C"/>
                </a:solidFill>
                <a:latin typeface="Arial"/>
              </a:rPr>
              <a:t>• «исключаемые диапазоны байт»: из хеша исключается весь файл, подпись и метка времени стоят над пустой строкой</a:t>
            </a:r>
          </a:p>
          <a:p>
            <a:pPr algn="l">
              <a:lnSpc>
                <a:spcPct val="126000"/>
              </a:lnSpc>
            </a:pPr>
            <a:r>
              <a:rPr sz="1000" b="0" i="0">
                <a:solidFill>
                  <a:srgbClr val="21295C"/>
                </a:solidFill>
                <a:latin typeface="Arial"/>
              </a:rPr>
              <a:t>• иллюстрация устройства: сфотографировать лотерейный билет, вписать в снимок номера, объявленные ПОСЛЕ съёмки — подпись продолжает утверждать, что снимок старше розыгрыша</a:t>
            </a:r>
          </a:p>
          <a:p>
            <a:pPr algn="l">
              <a:lnSpc>
                <a:spcPct val="126000"/>
              </a:lnSpc>
            </a:pPr>
            <a:r>
              <a:rPr sz="1000" b="0" i="0">
                <a:solidFill>
                  <a:srgbClr val="21295C"/>
                </a:solidFill>
                <a:latin typeface="Arial"/>
              </a:rPr>
              <a:t>• о большом исключаемом диапазоне предупреждал Нил Кравец ещё в июне 2025 года; на день публикации разбора — ни правки спецификации, ни исправления</a:t>
            </a:r>
          </a:p>
        </p:txBody>
      </p:sp>
      <p:sp>
        <p:nvSpPr>
          <p:cNvPr id="10" name="Rounded Rectangle 9"/>
          <p:cNvSpPr/>
          <p:nvPr/>
        </p:nvSpPr>
        <p:spPr>
          <a:xfrm>
            <a:off x="374904" y="4090828"/>
            <a:ext cx="11441887" cy="1267555"/>
          </a:xfrm>
          <a:prstGeom prst="roundRect">
            <a:avLst>
              <a:gd name="adj" fmla="val 24046"/>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182268"/>
            <a:ext cx="11112703" cy="1176115"/>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Два открытия одного исследователя, и их нельзя сливать в одно:</a:t>
            </a:r>
            <a:r>
              <a:rPr sz="1350" b="0" i="0">
                <a:solidFill>
                  <a:srgbClr val="21295C"/>
                </a:solidFill>
                <a:latin typeface="Arial"/>
              </a:rPr>
              <a:t> у одного событие требует root на устройстве, у другого — нет ничего, кроме самого файла.</a:t>
            </a:r>
          </a:p>
          <a:p>
            <a:pPr algn="l">
              <a:lnSpc>
                <a:spcPct val="126000"/>
              </a:lnSpc>
              <a:spcBef>
                <a:spcPts val="700"/>
              </a:spcBef>
            </a:pPr>
            <a:r>
              <a:rPr sz="1350" b="0" i="0">
                <a:solidFill>
                  <a:srgbClr val="21295C"/>
                </a:solidFill>
                <a:latin typeface="Arial"/>
              </a:rPr>
              <a:t/>
            </a:r>
            <a:r>
              <a:rPr sz="1350" b="1" i="0">
                <a:solidFill>
                  <a:srgbClr val="21295C"/>
                </a:solidFill>
                <a:latin typeface="Arial"/>
              </a:rPr>
              <a:t>В обоих криптография отработала ровно так, как обещала</a:t>
            </a:r>
            <a:r>
              <a:rPr sz="1350" b="0" i="0">
                <a:solidFill>
                  <a:srgbClr val="21295C"/>
                </a:solidFill>
                <a:latin typeface="Arial"/>
              </a:rPr>
              <a:t> — подпись подлинная, хеш сходится. Провалилось то, чего подпись не покрывает.</a:t>
            </a:r>
          </a:p>
        </p:txBody>
      </p:sp>
      <p:sp>
        <p:nvSpPr>
          <p:cNvPr id="12" name="Rounded Rectangle 11"/>
          <p:cNvSpPr/>
          <p:nvPr/>
        </p:nvSpPr>
        <p:spPr>
          <a:xfrm>
            <a:off x="502920" y="5541264"/>
            <a:ext cx="11185855"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3" name="Rounded Rectangle 12"/>
          <p:cNvSpPr/>
          <p:nvPr/>
        </p:nvSpPr>
        <p:spPr>
          <a:xfrm>
            <a:off x="685800" y="5724144"/>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14" name="TextBox 13"/>
          <p:cNvSpPr txBox="1"/>
          <p:nvPr/>
        </p:nvSpPr>
        <p:spPr>
          <a:xfrm>
            <a:off x="1574764" y="5733761"/>
            <a:ext cx="9931130" cy="309949"/>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подпись удостоверяет, КТО подписал, — не ЧТО происходило перед объективом</a:t>
            </a:r>
          </a:p>
        </p:txBody>
      </p:sp>
      <p:sp>
        <p:nvSpPr>
          <p:cNvPr id="15" name="Rectangle 1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David Buchanan (retr0id), «C2PA Cameras Do Not Survive Contact With Reality», личный блог исследователя, 25 августа 2026 (первое открытие) и 2 октября 2026 (второе); CVE-2026-43499; независимый разбор второго открытия — workos.com, с цитатами первоисточника</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CNET — 41 исправление из 77 статей</a:t>
            </a:r>
          </a:p>
        </p:txBody>
      </p:sp>
      <p:sp>
        <p:nvSpPr>
          <p:cNvPr id="4" name="Rounded Rectangle 3"/>
          <p:cNvSpPr/>
          <p:nvPr/>
        </p:nvSpPr>
        <p:spPr>
          <a:xfrm>
            <a:off x="502920" y="1335024"/>
            <a:ext cx="1635175" cy="3917577"/>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60855"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ЕДИНИЦА, В КОТОРОЙ ПОСЧИТАНЫ ОБЕ СТОРОНЫ</a:t>
            </a:r>
          </a:p>
        </p:txBody>
      </p:sp>
      <p:sp>
        <p:nvSpPr>
          <p:cNvPr id="6" name="TextBox 5"/>
          <p:cNvSpPr txBox="1"/>
          <p:nvPr/>
        </p:nvSpPr>
        <p:spPr>
          <a:xfrm>
            <a:off x="640080" y="2347789"/>
            <a:ext cx="1360855"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доля материалов, потребовавших исправления</a:t>
            </a:r>
          </a:p>
        </p:txBody>
      </p:sp>
      <p:sp>
        <p:nvSpPr>
          <p:cNvPr id="7" name="TextBox 6"/>
          <p:cNvSpPr txBox="1"/>
          <p:nvPr/>
        </p:nvSpPr>
        <p:spPr>
          <a:xfrm>
            <a:off x="640080" y="3199161"/>
            <a:ext cx="136085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редкость: обычно одна из сторон измерена в других единицах или не измерена вовсе</a:t>
            </a:r>
          </a:p>
        </p:txBody>
      </p:sp>
      <p:sp>
        <p:nvSpPr>
          <p:cNvPr id="8" name="Rounded Rectangle 7"/>
          <p:cNvSpPr/>
          <p:nvPr/>
        </p:nvSpPr>
        <p:spPr>
          <a:xfrm>
            <a:off x="2302687" y="1335024"/>
            <a:ext cx="1635175" cy="3917577"/>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439847" y="1472184"/>
            <a:ext cx="136085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МАШИННЫЙ КОНВЕЙЕР ИЗДАНИЯ, НОЯБРЬ 2022 — ЯНВАРЬ 2023</a:t>
            </a:r>
          </a:p>
        </p:txBody>
      </p:sp>
      <p:sp>
        <p:nvSpPr>
          <p:cNvPr id="10" name="TextBox 9"/>
          <p:cNvSpPr txBox="1"/>
          <p:nvPr/>
        </p:nvSpPr>
        <p:spPr>
          <a:xfrm>
            <a:off x="2439847" y="2555260"/>
            <a:ext cx="1360855" cy="477923"/>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41 из 77 статей, то есть 53%</a:t>
            </a:r>
          </a:p>
        </p:txBody>
      </p:sp>
      <p:sp>
        <p:nvSpPr>
          <p:cNvPr id="11" name="TextBox 10"/>
          <p:cNvSpPr txBox="1"/>
          <p:nvPr/>
        </p:nvSpPr>
        <p:spPr>
          <a:xfrm>
            <a:off x="2439847" y="3033184"/>
            <a:ext cx="136085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часть исправлений существенные — включая арифметику в объяснительном материале про сложный процент</a:t>
            </a:r>
          </a:p>
        </p:txBody>
      </p:sp>
      <p:sp>
        <p:nvSpPr>
          <p:cNvPr id="12" name="Rounded Rectangle 11"/>
          <p:cNvSpPr/>
          <p:nvPr/>
        </p:nvSpPr>
        <p:spPr>
          <a:xfrm>
            <a:off x="4102455" y="1335024"/>
            <a:ext cx="1635175" cy="3917577"/>
          </a:xfrm>
          <a:prstGeom prst="roundRect">
            <a:avLst>
              <a:gd name="adj" fmla="val 1864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239615" y="1472184"/>
            <a:ext cx="136085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ОБЫЧНАЯ РЕДАКЦИЯ БЕЗ ВСЯКОЙ МОДЕЛИ</a:t>
            </a:r>
          </a:p>
        </p:txBody>
      </p:sp>
      <p:sp>
        <p:nvSpPr>
          <p:cNvPr id="14" name="TextBox 13"/>
          <p:cNvSpPr txBox="1"/>
          <p:nvPr/>
        </p:nvSpPr>
        <p:spPr>
          <a:xfrm>
            <a:off x="4239615" y="2140317"/>
            <a:ext cx="1360855"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40–61% статей с хотя бы одной ошибкой</a:t>
            </a:r>
          </a:p>
        </p:txBody>
      </p:sp>
      <p:sp>
        <p:nvSpPr>
          <p:cNvPr id="15" name="TextBox 14"/>
          <p:cNvSpPr txBox="1"/>
          <p:nvPr/>
        </p:nvSpPr>
        <p:spPr>
          <a:xfrm>
            <a:off x="4239615" y="2787990"/>
            <a:ext cx="136085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53% лежат внутри этого коридора, а не за ним</a:t>
            </a:r>
          </a:p>
        </p:txBody>
      </p:sp>
      <p:sp>
        <p:nvSpPr>
          <p:cNvPr id="16" name="Rounded Rectangle 15"/>
          <p:cNvSpPr/>
          <p:nvPr/>
        </p:nvSpPr>
        <p:spPr>
          <a:xfrm>
            <a:off x="5902223" y="1335024"/>
            <a:ext cx="1635175" cy="3917577"/>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039383"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ИСПРАВЛЯЕТСЯ ПУБЛИЧНО</a:t>
            </a:r>
          </a:p>
        </p:txBody>
      </p:sp>
      <p:sp>
        <p:nvSpPr>
          <p:cNvPr id="18" name="TextBox 17"/>
          <p:cNvSpPr txBox="1"/>
          <p:nvPr/>
        </p:nvSpPr>
        <p:spPr>
          <a:xfrm>
            <a:off x="6039383" y="1932846"/>
            <a:ext cx="136085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около половины против примерно 2%</a:t>
            </a:r>
          </a:p>
        </p:txBody>
      </p:sp>
      <p:sp>
        <p:nvSpPr>
          <p:cNvPr id="19" name="TextBox 18"/>
          <p:cNvSpPr txBox="1"/>
          <p:nvPr/>
        </p:nvSpPr>
        <p:spPr>
          <a:xfrm>
            <a:off x="6039383" y="2580519"/>
            <a:ext cx="1360855" cy="253492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вот здесь разрыв и обнаружен: машинный конвейер под огласку исправил половину демонстративно, классический режим десятилетиями живёт с той же частотой ошибок</a:t>
            </a:r>
          </a:p>
        </p:txBody>
      </p:sp>
      <p:sp>
        <p:nvSpPr>
          <p:cNvPr id="20" name="Rounded Rectangle 19"/>
          <p:cNvSpPr/>
          <p:nvPr/>
        </p:nvSpPr>
        <p:spPr>
          <a:xfrm>
            <a:off x="374904" y="5344041"/>
            <a:ext cx="11441887" cy="89216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435481"/>
            <a:ext cx="11112703" cy="80072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Правило отсюда полезнее утверждения «модель ошибается чаще»: замеренный провал новой технологии сравнивают с замеренным поведением старой, а не с воображаемым.</a:t>
            </a:r>
          </a:p>
          <a:p>
            <a:pPr algn="l">
              <a:lnSpc>
                <a:spcPct val="126000"/>
              </a:lnSpc>
              <a:spcBef>
                <a:spcPts val="700"/>
              </a:spcBef>
            </a:pPr>
            <a:r>
              <a:rPr sz="1000" b="0" i="0">
                <a:solidFill>
                  <a:srgbClr val="21295C"/>
                </a:solidFill>
                <a:latin typeface="Arial"/>
              </a:rPr>
              <a:t/>
            </a:r>
            <a:r>
              <a:rPr sz="1000" b="0" i="1">
                <a:solidFill>
                  <a:srgbClr val="1C7293"/>
                </a:solidFill>
                <a:latin typeface="Arial"/>
              </a:rPr>
              <a:t>Оба классических режима посчитаны в одной единице с моделью — сравнение полное.</a:t>
            </a:r>
          </a:p>
        </p:txBody>
      </p:sp>
      <p:sp>
        <p:nvSpPr>
          <p:cNvPr id="22" name="Rounded Rectangle 21"/>
          <p:cNvSpPr/>
          <p:nvPr/>
        </p:nvSpPr>
        <p:spPr>
          <a:xfrm>
            <a:off x="7848295" y="1335024"/>
            <a:ext cx="3840480" cy="3759225"/>
          </a:xfrm>
          <a:prstGeom prst="roundRect">
            <a:avLst>
              <a:gd name="adj" fmla="val 8108"/>
            </a:avLst>
          </a:prstGeom>
          <a:solidFill>
            <a:srgbClr val="F4F7FA"/>
          </a:solidFill>
          <a:ln w="19050">
            <a:solidFill>
              <a:srgbClr val="1C7293"/>
            </a:solidFill>
          </a:ln>
          <a:effectLst/>
        </p:spPr>
        <p:txBody>
          <a:bodyPr rtlCol="0" anchor="ctr"/>
          <a:lstStyle/>
          <a:p>
            <a:pPr algn="ctr"/>
          </a:p>
        </p:txBody>
      </p:sp>
      <p:pic>
        <p:nvPicPr>
          <p:cNvPr id="23" name="Picture 22" descr="s86-cnet-ai-engine-article.png"/>
          <p:cNvPicPr>
            <a:picLocks noChangeAspect="1"/>
          </p:cNvPicPr>
          <p:nvPr/>
        </p:nvPicPr>
        <p:blipFill>
          <a:blip r:embed="rId2"/>
          <a:stretch>
            <a:fillRect/>
          </a:stretch>
        </p:blipFill>
        <p:spPr>
          <a:xfrm>
            <a:off x="7985455" y="1472184"/>
            <a:ext cx="3566160" cy="3484905"/>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CNET, «CNET Is Testing an AI Engine. Here's What We've Learned, Mistakes and All», 25 января 2023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российские медиа — 18% статей со следами генерации</a:t>
            </a:r>
          </a:p>
        </p:txBody>
      </p:sp>
      <p:sp>
        <p:nvSpPr>
          <p:cNvPr id="4" name="Rounded Rectangle 3"/>
          <p:cNvSpPr/>
          <p:nvPr/>
        </p:nvSpPr>
        <p:spPr>
          <a:xfrm>
            <a:off x="502920" y="1335024"/>
            <a:ext cx="5571439"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РЕДАКЦИИ С ДОЛЕЙ МАШИННЫХ СТАТЕЙ СВЫШЕ 20%</a:t>
            </a:r>
          </a:p>
        </p:txBody>
      </p:sp>
      <p:sp>
        <p:nvSpPr>
          <p:cNvPr id="6" name="TextBox 5"/>
          <p:cNvSpPr txBox="1"/>
          <p:nvPr/>
        </p:nvSpPr>
        <p:spPr>
          <a:xfrm>
            <a:off x="640080" y="1725375"/>
            <a:ext cx="529711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экспертов на 1000 слов −22%</a:t>
            </a:r>
          </a:p>
        </p:txBody>
      </p:sp>
      <p:sp>
        <p:nvSpPr>
          <p:cNvPr id="7" name="TextBox 6"/>
          <p:cNvSpPr txBox="1"/>
          <p:nvPr/>
        </p:nvSpPr>
        <p:spPr>
          <a:xfrm>
            <a:off x="640080" y="2152374"/>
            <a:ext cx="529711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их же собственного уровня 2020–2022 годов</a:t>
            </a:r>
          </a:p>
        </p:txBody>
      </p:sp>
      <p:sp>
        <p:nvSpPr>
          <p:cNvPr id="8" name="Rounded Rectangle 7"/>
          <p:cNvSpPr/>
          <p:nvPr/>
        </p:nvSpPr>
        <p:spPr>
          <a:xfrm>
            <a:off x="502920" y="2665369"/>
            <a:ext cx="5571439"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40080" y="2802529"/>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РЕДАКЦИИ ПОЧТИ БЕЗ МАШИННЫХ СТАТЕЙ</a:t>
            </a:r>
          </a:p>
        </p:txBody>
      </p:sp>
      <p:sp>
        <p:nvSpPr>
          <p:cNvPr id="10" name="TextBox 9"/>
          <p:cNvSpPr txBox="1"/>
          <p:nvPr/>
        </p:nvSpPr>
        <p:spPr>
          <a:xfrm>
            <a:off x="640080" y="3055721"/>
            <a:ext cx="529711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 за тот же период</a:t>
            </a:r>
          </a:p>
        </p:txBody>
      </p:sp>
      <p:sp>
        <p:nvSpPr>
          <p:cNvPr id="11" name="TextBox 10"/>
          <p:cNvSpPr txBox="1"/>
          <p:nvPr/>
        </p:nvSpPr>
        <p:spPr>
          <a:xfrm>
            <a:off x="640080" y="3482720"/>
            <a:ext cx="529711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корпус, та же процедура, те же годы — этот контрфакт и делает разбор сильнейшим</a:t>
            </a:r>
          </a:p>
        </p:txBody>
      </p:sp>
      <p:sp>
        <p:nvSpPr>
          <p:cNvPr id="12" name="Rounded Rectangle 11"/>
          <p:cNvSpPr/>
          <p:nvPr/>
        </p:nvSpPr>
        <p:spPr>
          <a:xfrm>
            <a:off x="374904" y="4727448"/>
            <a:ext cx="11441887" cy="1508760"/>
          </a:xfrm>
          <a:prstGeom prst="roundRect">
            <a:avLst>
              <a:gd name="adj" fmla="val 20202"/>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4818888"/>
            <a:ext cx="11112703" cy="141732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Единица, в которой посчитаны обе стороны, — плотность живого свидетельства на тысячу слов.</a:t>
            </a:r>
            <a:r>
              <a:rPr sz="1400" b="0" i="0">
                <a:solidFill>
                  <a:srgbClr val="21295C"/>
                </a:solidFill>
                <a:latin typeface="Arial"/>
              </a:rPr>
              <a:t> Обе половины получены одной процедурой на одном корпусе: 254 610 статей из 174 российских изданий, с 2020 года по второй квартал 2026-го.</a:t>
            </a:r>
          </a:p>
          <a:p>
            <a:pPr algn="l">
              <a:lnSpc>
                <a:spcPct val="126000"/>
              </a:lnSpc>
              <a:spcBef>
                <a:spcPts val="700"/>
              </a:spcBef>
            </a:pPr>
            <a:r>
              <a:rPr sz="1400" b="0" i="0">
                <a:solidFill>
                  <a:srgbClr val="21295C"/>
                </a:solidFill>
                <a:latin typeface="Arial"/>
              </a:rPr>
              <a:t/>
            </a:r>
            <a:r>
              <a:rPr sz="1400" b="1" i="0">
                <a:solidFill>
                  <a:srgbClr val="21295C"/>
                </a:solidFill>
                <a:latin typeface="Arial"/>
              </a:rPr>
              <a:t>Почему 18 процентов — нижняя граница.</a:t>
            </a:r>
            <a:r>
              <a:rPr sz="1400" b="0" i="0">
                <a:solidFill>
                  <a:srgbClr val="21295C"/>
                </a:solidFill>
                <a:latin typeface="Arial"/>
              </a:rPr>
              <a:t> Распознаватели не обобщаются на чужую модель. Рядом стоят ещё две величины: 13 процентов прироста машинной лексики у людей и 27 процентов корпуса с частичными признаками.</a:t>
            </a:r>
          </a:p>
        </p:txBody>
      </p:sp>
      <p:sp>
        <p:nvSpPr>
          <p:cNvPr id="14" name="Rounded Rectangle 13"/>
          <p:cNvSpPr/>
          <p:nvPr/>
        </p:nvSpPr>
        <p:spPr>
          <a:xfrm>
            <a:off x="6385255" y="1335024"/>
            <a:ext cx="5303520" cy="3392424"/>
          </a:xfrm>
          <a:prstGeom prst="roundRect">
            <a:avLst>
              <a:gd name="adj" fmla="val 8984"/>
            </a:avLst>
          </a:prstGeom>
          <a:solidFill>
            <a:srgbClr val="F4F7FA"/>
          </a:solidFill>
          <a:ln w="19050">
            <a:solidFill>
              <a:srgbClr val="1C7293"/>
            </a:solidFill>
          </a:ln>
          <a:effectLst/>
        </p:spPr>
        <p:txBody>
          <a:bodyPr rtlCol="0" anchor="ctr"/>
          <a:lstStyle/>
          <a:p>
            <a:pPr algn="ctr"/>
          </a:p>
        </p:txBody>
      </p:sp>
      <p:pic>
        <p:nvPicPr>
          <p:cNvPr id="15" name="Picture 14" descr="s87-dolya-statey-po-kvartalam.png"/>
          <p:cNvPicPr>
            <a:picLocks noChangeAspect="1"/>
          </p:cNvPicPr>
          <p:nvPr/>
        </p:nvPicPr>
        <p:blipFill>
          <a:blip r:embed="rId2"/>
          <a:stretch>
            <a:fillRect/>
          </a:stretch>
        </p:blipFill>
        <p:spPr>
          <a:xfrm>
            <a:off x="6522415" y="1472184"/>
            <a:ext cx="5029200" cy="3118104"/>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Кирилл Пшинник, сооснователь Zerocoder, публикация 16 октября 2026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колонка «Распознавание» — карта полна</a:t>
            </a:r>
          </a:p>
        </p:txBody>
      </p:sp>
      <p:sp>
        <p:nvSpPr>
          <p:cNvPr id="4" name="Rectangle 3"/>
          <p:cNvSpPr/>
          <p:nvPr/>
        </p:nvSpPr>
        <p:spPr>
          <a:xfrm>
            <a:off x="502920" y="1478868"/>
            <a:ext cx="2788920" cy="287863"/>
          </a:xfrm>
          <a:prstGeom prst="rect">
            <a:avLst/>
          </a:prstGeom>
          <a:solidFill>
            <a:srgbClr val="21295C"/>
          </a:solidFill>
          <a:ln>
            <a:noFill/>
          </a:ln>
          <a:effectLst/>
        </p:spPr>
        <p:txBody>
          <a:bodyPr rtlCol="0" anchor="ctr"/>
          <a:lstStyle/>
          <a:p>
            <a:pPr algn="ctr"/>
          </a:p>
        </p:txBody>
      </p:sp>
      <p:sp>
        <p:nvSpPr>
          <p:cNvPr id="5" name="TextBox 4"/>
          <p:cNvSpPr txBox="1"/>
          <p:nvPr/>
        </p:nvSpPr>
        <p:spPr>
          <a:xfrm>
            <a:off x="566928" y="1542876"/>
            <a:ext cx="2660903"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Тип задачи</a:t>
            </a:r>
          </a:p>
        </p:txBody>
      </p:sp>
      <p:sp>
        <p:nvSpPr>
          <p:cNvPr id="6" name="Rectangle 5"/>
          <p:cNvSpPr/>
          <p:nvPr/>
        </p:nvSpPr>
        <p:spPr>
          <a:xfrm>
            <a:off x="3291839" y="1478868"/>
            <a:ext cx="1679387" cy="287863"/>
          </a:xfrm>
          <a:prstGeom prst="rect">
            <a:avLst/>
          </a:prstGeom>
          <a:solidFill>
            <a:srgbClr val="065A82"/>
          </a:solidFill>
          <a:ln>
            <a:noFill/>
          </a:ln>
          <a:effectLst/>
        </p:spPr>
        <p:txBody>
          <a:bodyPr rtlCol="0" anchor="ctr"/>
          <a:lstStyle/>
          <a:p>
            <a:pPr algn="ctr"/>
          </a:p>
        </p:txBody>
      </p:sp>
      <p:sp>
        <p:nvSpPr>
          <p:cNvPr id="7" name="TextBox 6"/>
          <p:cNvSpPr txBox="1"/>
          <p:nvPr/>
        </p:nvSpPr>
        <p:spPr>
          <a:xfrm>
            <a:off x="3355847"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Изображение</a:t>
            </a:r>
          </a:p>
        </p:txBody>
      </p:sp>
      <p:sp>
        <p:nvSpPr>
          <p:cNvPr id="8" name="Rectangle 7"/>
          <p:cNvSpPr/>
          <p:nvPr/>
        </p:nvSpPr>
        <p:spPr>
          <a:xfrm>
            <a:off x="4971227" y="1478868"/>
            <a:ext cx="1679387" cy="287863"/>
          </a:xfrm>
          <a:prstGeom prst="rect">
            <a:avLst/>
          </a:prstGeom>
          <a:solidFill>
            <a:srgbClr val="065A82"/>
          </a:solidFill>
          <a:ln>
            <a:noFill/>
          </a:ln>
          <a:effectLst/>
        </p:spPr>
        <p:txBody>
          <a:bodyPr rtlCol="0" anchor="ctr"/>
          <a:lstStyle/>
          <a:p>
            <a:pPr algn="ctr"/>
          </a:p>
        </p:txBody>
      </p:sp>
      <p:sp>
        <p:nvSpPr>
          <p:cNvPr id="9" name="TextBox 8"/>
          <p:cNvSpPr txBox="1"/>
          <p:nvPr/>
        </p:nvSpPr>
        <p:spPr>
          <a:xfrm>
            <a:off x="5035235"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Звук</a:t>
            </a:r>
          </a:p>
        </p:txBody>
      </p:sp>
      <p:sp>
        <p:nvSpPr>
          <p:cNvPr id="10" name="Rectangle 9"/>
          <p:cNvSpPr/>
          <p:nvPr/>
        </p:nvSpPr>
        <p:spPr>
          <a:xfrm>
            <a:off x="6650614" y="1478868"/>
            <a:ext cx="1679387" cy="287863"/>
          </a:xfrm>
          <a:prstGeom prst="rect">
            <a:avLst/>
          </a:prstGeom>
          <a:solidFill>
            <a:srgbClr val="065A82"/>
          </a:solidFill>
          <a:ln>
            <a:noFill/>
          </a:ln>
          <a:effectLst/>
        </p:spPr>
        <p:txBody>
          <a:bodyPr rtlCol="0" anchor="ctr"/>
          <a:lstStyle/>
          <a:p>
            <a:pPr algn="ctr"/>
          </a:p>
        </p:txBody>
      </p:sp>
      <p:sp>
        <p:nvSpPr>
          <p:cNvPr id="11" name="TextBox 10"/>
          <p:cNvSpPr txBox="1"/>
          <p:nvPr/>
        </p:nvSpPr>
        <p:spPr>
          <a:xfrm>
            <a:off x="6714622"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Видео</a:t>
            </a:r>
          </a:p>
        </p:txBody>
      </p:sp>
      <p:sp>
        <p:nvSpPr>
          <p:cNvPr id="12" name="Rectangle 11"/>
          <p:cNvSpPr/>
          <p:nvPr/>
        </p:nvSpPr>
        <p:spPr>
          <a:xfrm>
            <a:off x="8330001" y="1478868"/>
            <a:ext cx="1679387" cy="287863"/>
          </a:xfrm>
          <a:prstGeom prst="rect">
            <a:avLst/>
          </a:prstGeom>
          <a:solidFill>
            <a:srgbClr val="065A82"/>
          </a:solidFill>
          <a:ln>
            <a:noFill/>
          </a:ln>
          <a:effectLst/>
        </p:spPr>
        <p:txBody>
          <a:bodyPr rtlCol="0" anchor="ctr"/>
          <a:lstStyle/>
          <a:p>
            <a:pPr algn="ctr"/>
          </a:p>
        </p:txBody>
      </p:sp>
      <p:sp>
        <p:nvSpPr>
          <p:cNvPr id="13" name="TextBox 12"/>
          <p:cNvSpPr txBox="1"/>
          <p:nvPr/>
        </p:nvSpPr>
        <p:spPr>
          <a:xfrm>
            <a:off x="8394009"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Трёхмерное</a:t>
            </a:r>
          </a:p>
        </p:txBody>
      </p:sp>
      <p:sp>
        <p:nvSpPr>
          <p:cNvPr id="14" name="Rectangle 13"/>
          <p:cNvSpPr/>
          <p:nvPr/>
        </p:nvSpPr>
        <p:spPr>
          <a:xfrm>
            <a:off x="10009388" y="1478868"/>
            <a:ext cx="1679387" cy="287863"/>
          </a:xfrm>
          <a:prstGeom prst="rect">
            <a:avLst/>
          </a:prstGeom>
          <a:solidFill>
            <a:srgbClr val="065A82"/>
          </a:solidFill>
          <a:ln>
            <a:noFill/>
          </a:ln>
          <a:effectLst/>
        </p:spPr>
        <p:txBody>
          <a:bodyPr rtlCol="0" anchor="ctr"/>
          <a:lstStyle/>
          <a:p>
            <a:pPr algn="ctr"/>
          </a:p>
        </p:txBody>
      </p:sp>
      <p:sp>
        <p:nvSpPr>
          <p:cNvPr id="15" name="TextBox 14"/>
          <p:cNvSpPr txBox="1"/>
          <p:nvPr/>
        </p:nvSpPr>
        <p:spPr>
          <a:xfrm>
            <a:off x="10073396"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Распознавание</a:t>
            </a:r>
          </a:p>
        </p:txBody>
      </p:sp>
      <p:sp>
        <p:nvSpPr>
          <p:cNvPr id="16" name="Rectangle 15"/>
          <p:cNvSpPr/>
          <p:nvPr/>
        </p:nvSpPr>
        <p:spPr>
          <a:xfrm>
            <a:off x="10009388" y="1716440"/>
            <a:ext cx="1679387" cy="50292"/>
          </a:xfrm>
          <a:prstGeom prst="rect">
            <a:avLst/>
          </a:prstGeom>
          <a:solidFill>
            <a:srgbClr val="F0AB00"/>
          </a:solidFill>
          <a:ln>
            <a:noFill/>
          </a:ln>
          <a:effectLst/>
        </p:spPr>
        <p:txBody>
          <a:bodyPr rtlCol="0" anchor="ctr"/>
          <a:lstStyle/>
          <a:p>
            <a:pPr algn="ctr"/>
          </a:p>
        </p:txBody>
      </p:sp>
      <p:sp>
        <p:nvSpPr>
          <p:cNvPr id="17" name="Rectangle 16"/>
          <p:cNvSpPr/>
          <p:nvPr/>
        </p:nvSpPr>
        <p:spPr>
          <a:xfrm>
            <a:off x="502920" y="1766732"/>
            <a:ext cx="2788920" cy="599467"/>
          </a:xfrm>
          <a:prstGeom prst="rect">
            <a:avLst/>
          </a:prstGeom>
          <a:solidFill>
            <a:srgbClr val="FFFFFF"/>
          </a:solidFill>
          <a:ln w="9525">
            <a:solidFill>
              <a:srgbClr val="D9E2EC"/>
            </a:solidFill>
          </a:ln>
          <a:effectLst/>
        </p:spPr>
        <p:txBody>
          <a:bodyPr rtlCol="0" anchor="ctr"/>
          <a:lstStyle/>
          <a:p>
            <a:pPr algn="ctr"/>
          </a:p>
        </p:txBody>
      </p:sp>
      <p:sp>
        <p:nvSpPr>
          <p:cNvPr id="18" name="TextBox 17"/>
          <p:cNvSpPr txBox="1"/>
          <p:nvPr/>
        </p:nvSpPr>
        <p:spPr>
          <a:xfrm>
            <a:off x="566928" y="1830740"/>
            <a:ext cx="2660903" cy="471451"/>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Породить первое приближение</a:t>
            </a:r>
          </a:p>
          <a:p>
            <a:pPr algn="l">
              <a:lnSpc>
                <a:spcPct val="113000"/>
              </a:lnSpc>
              <a:spcBef>
                <a:spcPts val="200"/>
              </a:spcBef>
            </a:pPr>
            <a:r>
              <a:rPr sz="750" b="0" i="1">
                <a:solidFill>
                  <a:srgbClr val="1C7293"/>
                </a:solidFill>
                <a:latin typeface="Arial"/>
              </a:rPr>
              <a:t>получить варианты облика, пока решение ещё не принято</a:t>
            </a:r>
          </a:p>
        </p:txBody>
      </p:sp>
      <p:sp>
        <p:nvSpPr>
          <p:cNvPr id="19" name="Rectangle 18"/>
          <p:cNvSpPr/>
          <p:nvPr/>
        </p:nvSpPr>
        <p:spPr>
          <a:xfrm>
            <a:off x="3291839"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3355847"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0,034–0,05 $ за изображение</a:t>
            </a:r>
          </a:p>
        </p:txBody>
      </p:sp>
      <p:sp>
        <p:nvSpPr>
          <p:cNvPr id="21" name="Rectangle 20"/>
          <p:cNvSpPr/>
          <p:nvPr/>
        </p:nvSpPr>
        <p:spPr>
          <a:xfrm>
            <a:off x="4971227"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5035235"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дубляж 0,03–0,072 $ за минуту</a:t>
            </a:r>
          </a:p>
        </p:txBody>
      </p:sp>
      <p:sp>
        <p:nvSpPr>
          <p:cNvPr id="23" name="Rectangle 22"/>
          <p:cNvSpPr/>
          <p:nvPr/>
        </p:nvSpPr>
        <p:spPr>
          <a:xfrm>
            <a:off x="6650614"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4" name="TextBox 23"/>
          <p:cNvSpPr txBox="1"/>
          <p:nvPr/>
        </p:nvSpPr>
        <p:spPr>
          <a:xfrm>
            <a:off x="6714622"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цена выпуска ниже в 10–20 раз</a:t>
            </a:r>
          </a:p>
        </p:txBody>
      </p:sp>
      <p:sp>
        <p:nvSpPr>
          <p:cNvPr id="25" name="Rectangle 24"/>
          <p:cNvSpPr/>
          <p:nvPr/>
        </p:nvSpPr>
        <p:spPr>
          <a:xfrm>
            <a:off x="8330001"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6" name="TextBox 25"/>
          <p:cNvSpPr txBox="1"/>
          <p:nvPr/>
        </p:nvSpPr>
        <p:spPr>
          <a:xfrm>
            <a:off x="8394009"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единицы секунд на вариант</a:t>
            </a:r>
          </a:p>
        </p:txBody>
      </p:sp>
      <p:sp>
        <p:nvSpPr>
          <p:cNvPr id="27" name="Rectangle 26"/>
          <p:cNvSpPr/>
          <p:nvPr/>
        </p:nvSpPr>
        <p:spPr>
          <a:xfrm>
            <a:off x="10009388"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8" name="TextBox 27"/>
          <p:cNvSpPr txBox="1"/>
          <p:nvPr/>
        </p:nvSpPr>
        <p:spPr>
          <a:xfrm>
            <a:off x="10073396"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неприменимо: порождение не задача стадии</a:t>
            </a:r>
          </a:p>
        </p:txBody>
      </p:sp>
      <p:sp>
        <p:nvSpPr>
          <p:cNvPr id="29" name="Rectangle 28"/>
          <p:cNvSpPr/>
          <p:nvPr/>
        </p:nvSpPr>
        <p:spPr>
          <a:xfrm>
            <a:off x="502920" y="2366200"/>
            <a:ext cx="2788920" cy="466261"/>
          </a:xfrm>
          <a:prstGeom prst="rect">
            <a:avLst/>
          </a:prstGeom>
          <a:solidFill>
            <a:srgbClr val="F4F7FA"/>
          </a:solidFill>
          <a:ln w="9525">
            <a:solidFill>
              <a:srgbClr val="D9E2EC"/>
            </a:solidFill>
          </a:ln>
          <a:effectLst/>
        </p:spPr>
        <p:txBody>
          <a:bodyPr rtlCol="0" anchor="ctr"/>
          <a:lstStyle/>
          <a:p>
            <a:pPr algn="ctr"/>
          </a:p>
        </p:txBody>
      </p:sp>
      <p:sp>
        <p:nvSpPr>
          <p:cNvPr id="30" name="TextBox 29"/>
          <p:cNvSpPr txBox="1"/>
          <p:nvPr/>
        </p:nvSpPr>
        <p:spPr>
          <a:xfrm>
            <a:off x="566928" y="2430208"/>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Довести до производственного качества</a:t>
            </a:r>
          </a:p>
          <a:p>
            <a:pPr algn="l">
              <a:lnSpc>
                <a:spcPct val="113000"/>
              </a:lnSpc>
              <a:spcBef>
                <a:spcPts val="200"/>
              </a:spcBef>
            </a:pPr>
            <a:r>
              <a:rPr sz="750" b="0" i="1">
                <a:solidFill>
                  <a:srgbClr val="1C7293"/>
                </a:solidFill>
                <a:latin typeface="Arial"/>
              </a:rPr>
              <a:t>отобрать, доработать и выпустить годное</a:t>
            </a:r>
          </a:p>
        </p:txBody>
      </p:sp>
      <p:sp>
        <p:nvSpPr>
          <p:cNvPr id="31" name="Rectangle 30"/>
          <p:cNvSpPr/>
          <p:nvPr/>
        </p:nvSpPr>
        <p:spPr>
          <a:xfrm>
            <a:off x="3291839"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2" name="TextBox 31"/>
          <p:cNvSpPr txBox="1"/>
          <p:nvPr/>
        </p:nvSpPr>
        <p:spPr>
          <a:xfrm>
            <a:off x="3355847"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адаптеры и ручная правка</a:t>
            </a:r>
          </a:p>
        </p:txBody>
      </p:sp>
      <p:sp>
        <p:nvSpPr>
          <p:cNvPr id="33" name="Rectangle 32"/>
          <p:cNvSpPr/>
          <p:nvPr/>
        </p:nvSpPr>
        <p:spPr>
          <a:xfrm>
            <a:off x="4971227"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4" name="TextBox 33"/>
          <p:cNvSpPr txBox="1"/>
          <p:nvPr/>
        </p:nvSpPr>
        <p:spPr>
          <a:xfrm>
            <a:off x="5035235"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ручная правка дикции</a:t>
            </a:r>
          </a:p>
        </p:txBody>
      </p:sp>
      <p:sp>
        <p:nvSpPr>
          <p:cNvPr id="35" name="Rectangle 34"/>
          <p:cNvSpPr/>
          <p:nvPr/>
        </p:nvSpPr>
        <p:spPr>
          <a:xfrm>
            <a:off x="6650614"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6" name="TextBox 35"/>
          <p:cNvSpPr txBox="1"/>
          <p:nvPr/>
        </p:nvSpPr>
        <p:spPr>
          <a:xfrm>
            <a:off x="6714622"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ручной отбор и склейка</a:t>
            </a:r>
          </a:p>
        </p:txBody>
      </p:sp>
      <p:sp>
        <p:nvSpPr>
          <p:cNvPr id="37" name="Rectangle 36"/>
          <p:cNvSpPr/>
          <p:nvPr/>
        </p:nvSpPr>
        <p:spPr>
          <a:xfrm>
            <a:off x="8330001"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8" name="TextBox 37"/>
          <p:cNvSpPr txBox="1"/>
          <p:nvPr/>
        </p:nvSpPr>
        <p:spPr>
          <a:xfrm>
            <a:off x="8394009"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ретопология, развёртка, риггинг остаются людям</a:t>
            </a:r>
          </a:p>
        </p:txBody>
      </p:sp>
      <p:sp>
        <p:nvSpPr>
          <p:cNvPr id="39" name="Rectangle 38"/>
          <p:cNvSpPr/>
          <p:nvPr/>
        </p:nvSpPr>
        <p:spPr>
          <a:xfrm>
            <a:off x="10009388"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40" name="TextBox 39"/>
          <p:cNvSpPr txBox="1"/>
          <p:nvPr/>
        </p:nvSpPr>
        <p:spPr>
          <a:xfrm>
            <a:off x="10073396"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человек в контуре с нормой времени</a:t>
            </a:r>
          </a:p>
        </p:txBody>
      </p:sp>
      <p:sp>
        <p:nvSpPr>
          <p:cNvPr id="41" name="Rectangle 40"/>
          <p:cNvSpPr/>
          <p:nvPr/>
        </p:nvSpPr>
        <p:spPr>
          <a:xfrm>
            <a:off x="502920" y="2832462"/>
            <a:ext cx="2788920" cy="466261"/>
          </a:xfrm>
          <a:prstGeom prst="rect">
            <a:avLst/>
          </a:prstGeom>
          <a:solidFill>
            <a:srgbClr val="FFFFFF"/>
          </a:solidFill>
          <a:ln w="9525">
            <a:solidFill>
              <a:srgbClr val="D9E2EC"/>
            </a:solidFill>
          </a:ln>
          <a:effectLst/>
        </p:spPr>
        <p:txBody>
          <a:bodyPr rtlCol="0" anchor="ctr"/>
          <a:lstStyle/>
          <a:p>
            <a:pPr algn="ctr"/>
          </a:p>
        </p:txBody>
      </p:sp>
      <p:sp>
        <p:nvSpPr>
          <p:cNvPr id="42" name="TextBox 41"/>
          <p:cNvSpPr txBox="1"/>
          <p:nvPr/>
        </p:nvSpPr>
        <p:spPr>
          <a:xfrm>
            <a:off x="566928" y="2896470"/>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Восстановить существующее</a:t>
            </a:r>
          </a:p>
          <a:p>
            <a:pPr algn="l">
              <a:lnSpc>
                <a:spcPct val="113000"/>
              </a:lnSpc>
              <a:spcBef>
                <a:spcPts val="200"/>
              </a:spcBef>
            </a:pPr>
            <a:r>
              <a:rPr sz="750" b="0" i="1">
                <a:solidFill>
                  <a:srgbClr val="1C7293"/>
                </a:solidFill>
                <a:latin typeface="Arial"/>
              </a:rPr>
              <a:t>вытащить то, что уже записано, но читается плохо</a:t>
            </a:r>
          </a:p>
        </p:txBody>
      </p:sp>
      <p:sp>
        <p:nvSpPr>
          <p:cNvPr id="43" name="Rectangle 42"/>
          <p:cNvSpPr/>
          <p:nvPr/>
        </p:nvSpPr>
        <p:spPr>
          <a:xfrm>
            <a:off x="3291839"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44" name="TextBox 43"/>
          <p:cNvSpPr txBox="1"/>
          <p:nvPr/>
        </p:nvSpPr>
        <p:spPr>
          <a:xfrm>
            <a:off x="3355847"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повышение разрешения архива</a:t>
            </a:r>
          </a:p>
        </p:txBody>
      </p:sp>
      <p:sp>
        <p:nvSpPr>
          <p:cNvPr id="45" name="Rectangle 44"/>
          <p:cNvSpPr/>
          <p:nvPr/>
        </p:nvSpPr>
        <p:spPr>
          <a:xfrm>
            <a:off x="4971227"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46" name="TextBox 45"/>
          <p:cNvSpPr txBox="1"/>
          <p:nvPr/>
        </p:nvSpPr>
        <p:spPr>
          <a:xfrm>
            <a:off x="5035235"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разделение источников</a:t>
            </a:r>
          </a:p>
        </p:txBody>
      </p:sp>
      <p:sp>
        <p:nvSpPr>
          <p:cNvPr id="47" name="Rectangle 46"/>
          <p:cNvSpPr/>
          <p:nvPr/>
        </p:nvSpPr>
        <p:spPr>
          <a:xfrm>
            <a:off x="6650614"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48" name="TextBox 47"/>
          <p:cNvSpPr txBox="1"/>
          <p:nvPr/>
        </p:nvSpPr>
        <p:spPr>
          <a:xfrm>
            <a:off x="6714622"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интерполяция кадров</a:t>
            </a:r>
          </a:p>
        </p:txBody>
      </p:sp>
      <p:sp>
        <p:nvSpPr>
          <p:cNvPr id="49" name="Rectangle 48"/>
          <p:cNvSpPr/>
          <p:nvPr/>
        </p:nvSpPr>
        <p:spPr>
          <a:xfrm>
            <a:off x="8330001"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50" name="TextBox 49"/>
          <p:cNvSpPr txBox="1"/>
          <p:nvPr/>
        </p:nvSpPr>
        <p:spPr>
          <a:xfrm>
            <a:off x="8394009"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сцена из снимков: 41 минута, 134 кадра в секунду</a:t>
            </a:r>
          </a:p>
        </p:txBody>
      </p:sp>
      <p:sp>
        <p:nvSpPr>
          <p:cNvPr id="51" name="Rectangle 50"/>
          <p:cNvSpPr/>
          <p:nvPr/>
        </p:nvSpPr>
        <p:spPr>
          <a:xfrm>
            <a:off x="10009388"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52" name="TextBox 51"/>
          <p:cNvSpPr txBox="1"/>
          <p:nvPr/>
        </p:nvSpPr>
        <p:spPr>
          <a:xfrm>
            <a:off x="10073396"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да: свиток прочитан целиком, ответ проверяем</a:t>
            </a:r>
          </a:p>
        </p:txBody>
      </p:sp>
      <p:sp>
        <p:nvSpPr>
          <p:cNvPr id="53" name="Rectangle 52"/>
          <p:cNvSpPr/>
          <p:nvPr/>
        </p:nvSpPr>
        <p:spPr>
          <a:xfrm>
            <a:off x="502920" y="3298723"/>
            <a:ext cx="2788920" cy="466261"/>
          </a:xfrm>
          <a:prstGeom prst="rect">
            <a:avLst/>
          </a:prstGeom>
          <a:solidFill>
            <a:srgbClr val="F4F7FA"/>
          </a:solidFill>
          <a:ln w="9525">
            <a:solidFill>
              <a:srgbClr val="D9E2EC"/>
            </a:solidFill>
          </a:ln>
          <a:effectLst/>
        </p:spPr>
        <p:txBody>
          <a:bodyPr rtlCol="0" anchor="ctr"/>
          <a:lstStyle/>
          <a:p>
            <a:pPr algn="ctr"/>
          </a:p>
        </p:txBody>
      </p:sp>
      <p:sp>
        <p:nvSpPr>
          <p:cNvPr id="54" name="TextBox 53"/>
          <p:cNvSpPr txBox="1"/>
          <p:nvPr/>
        </p:nvSpPr>
        <p:spPr>
          <a:xfrm>
            <a:off x="566928" y="3362731"/>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Соблюсти точные величины</a:t>
            </a:r>
          </a:p>
          <a:p>
            <a:pPr algn="l">
              <a:lnSpc>
                <a:spcPct val="113000"/>
              </a:lnSpc>
              <a:spcBef>
                <a:spcPts val="200"/>
              </a:spcBef>
            </a:pPr>
            <a:r>
              <a:rPr sz="750" b="0" i="1">
                <a:solidFill>
                  <a:srgbClr val="1C7293"/>
                </a:solidFill>
                <a:latin typeface="Arial"/>
              </a:rPr>
              <a:t>размеры, допуски, проверяемые условия</a:t>
            </a:r>
          </a:p>
        </p:txBody>
      </p:sp>
      <p:sp>
        <p:nvSpPr>
          <p:cNvPr id="55" name="Rectangle 54"/>
          <p:cNvSpPr/>
          <p:nvPr/>
        </p:nvSpPr>
        <p:spPr>
          <a:xfrm>
            <a:off x="3291839"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56" name="TextBox 55"/>
          <p:cNvSpPr txBox="1"/>
          <p:nvPr/>
        </p:nvSpPr>
        <p:spPr>
          <a:xfrm>
            <a:off x="3355847"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размеров в выдаче не существует</a:t>
            </a:r>
          </a:p>
        </p:txBody>
      </p:sp>
      <p:sp>
        <p:nvSpPr>
          <p:cNvPr id="57" name="Rectangle 56"/>
          <p:cNvSpPr/>
          <p:nvPr/>
        </p:nvSpPr>
        <p:spPr>
          <a:xfrm>
            <a:off x="4971227"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58" name="TextBox 57"/>
          <p:cNvSpPr txBox="1"/>
          <p:nvPr/>
        </p:nvSpPr>
        <p:spPr>
          <a:xfrm>
            <a:off x="5035235"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длина задана до запуска</a:t>
            </a:r>
          </a:p>
        </p:txBody>
      </p:sp>
      <p:sp>
        <p:nvSpPr>
          <p:cNvPr id="59" name="Rectangle 58"/>
          <p:cNvSpPr/>
          <p:nvPr/>
        </p:nvSpPr>
        <p:spPr>
          <a:xfrm>
            <a:off x="6650614"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60" name="TextBox 59"/>
          <p:cNvSpPr txBox="1"/>
          <p:nvPr/>
        </p:nvSpPr>
        <p:spPr>
          <a:xfrm>
            <a:off x="6714622"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физика выучена как корреляция</a:t>
            </a:r>
          </a:p>
        </p:txBody>
      </p:sp>
      <p:sp>
        <p:nvSpPr>
          <p:cNvPr id="61" name="Rectangle 60"/>
          <p:cNvSpPr/>
          <p:nvPr/>
        </p:nvSpPr>
        <p:spPr>
          <a:xfrm>
            <a:off x="8330001"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62" name="TextBox 61"/>
          <p:cNvSpPr txBox="1"/>
          <p:nvPr/>
        </p:nvSpPr>
        <p:spPr>
          <a:xfrm>
            <a:off x="8394009"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размеров в выдаче не существует</a:t>
            </a:r>
          </a:p>
        </p:txBody>
      </p:sp>
      <p:sp>
        <p:nvSpPr>
          <p:cNvPr id="63" name="Rectangle 62"/>
          <p:cNvSpPr/>
          <p:nvPr/>
        </p:nvSpPr>
        <p:spPr>
          <a:xfrm>
            <a:off x="10009388"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64" name="TextBox 63"/>
          <p:cNvSpPr txBox="1"/>
          <p:nvPr/>
        </p:nvSpPr>
        <p:spPr>
          <a:xfrm>
            <a:off x="10073396"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да: эталонная разметка даёт число</a:t>
            </a:r>
          </a:p>
        </p:txBody>
      </p:sp>
      <p:sp>
        <p:nvSpPr>
          <p:cNvPr id="65" name="Rectangle 64"/>
          <p:cNvSpPr/>
          <p:nvPr/>
        </p:nvSpPr>
        <p:spPr>
          <a:xfrm>
            <a:off x="502920" y="3764985"/>
            <a:ext cx="2788920" cy="466261"/>
          </a:xfrm>
          <a:prstGeom prst="rect">
            <a:avLst/>
          </a:prstGeom>
          <a:solidFill>
            <a:srgbClr val="FFFFFF"/>
          </a:solidFill>
          <a:ln w="9525">
            <a:solidFill>
              <a:srgbClr val="D9E2EC"/>
            </a:solidFill>
          </a:ln>
          <a:effectLst/>
        </p:spPr>
        <p:txBody>
          <a:bodyPr rtlCol="0" anchor="ctr"/>
          <a:lstStyle/>
          <a:p>
            <a:pPr algn="ctr"/>
          </a:p>
        </p:txBody>
      </p:sp>
      <p:sp>
        <p:nvSpPr>
          <p:cNvPr id="66" name="TextBox 65"/>
          <p:cNvSpPr txBox="1"/>
          <p:nvPr/>
        </p:nvSpPr>
        <p:spPr>
          <a:xfrm>
            <a:off x="566928" y="3828993"/>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Уложиться в бюджет реального времени</a:t>
            </a:r>
          </a:p>
          <a:p>
            <a:pPr algn="l">
              <a:lnSpc>
                <a:spcPct val="113000"/>
              </a:lnSpc>
              <a:spcBef>
                <a:spcPts val="200"/>
              </a:spcBef>
            </a:pPr>
            <a:r>
              <a:rPr sz="750" b="0" i="1">
                <a:solidFill>
                  <a:srgbClr val="1C7293"/>
                </a:solidFill>
                <a:latin typeface="Arial"/>
              </a:rPr>
              <a:t>успеть к сроку кадра, а не к сроку задачи</a:t>
            </a:r>
          </a:p>
        </p:txBody>
      </p:sp>
      <p:sp>
        <p:nvSpPr>
          <p:cNvPr id="67" name="Rectangle 66"/>
          <p:cNvSpPr/>
          <p:nvPr/>
        </p:nvSpPr>
        <p:spPr>
          <a:xfrm>
            <a:off x="3291839"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68" name="TextBox 67"/>
          <p:cNvSpPr txBox="1"/>
          <p:nvPr/>
        </p:nvSpPr>
        <p:spPr>
          <a:xfrm>
            <a:off x="3355847"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неприменимо: кадрового бюджета у стадии нет</a:t>
            </a:r>
          </a:p>
        </p:txBody>
      </p:sp>
      <p:sp>
        <p:nvSpPr>
          <p:cNvPr id="69" name="Rectangle 68"/>
          <p:cNvSpPr/>
          <p:nvPr/>
        </p:nvSpPr>
        <p:spPr>
          <a:xfrm>
            <a:off x="4971227"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0" name="TextBox 69"/>
          <p:cNvSpPr txBox="1"/>
          <p:nvPr/>
        </p:nvSpPr>
        <p:spPr>
          <a:xfrm>
            <a:off x="5035235"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неприменимо: кадрового бюджета у стадии нет</a:t>
            </a:r>
          </a:p>
        </p:txBody>
      </p:sp>
      <p:sp>
        <p:nvSpPr>
          <p:cNvPr id="71" name="Rectangle 70"/>
          <p:cNvSpPr/>
          <p:nvPr/>
        </p:nvSpPr>
        <p:spPr>
          <a:xfrm>
            <a:off x="6650614"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2" name="TextBox 71"/>
          <p:cNvSpPr txBox="1"/>
          <p:nvPr/>
        </p:nvSpPr>
        <p:spPr>
          <a:xfrm>
            <a:off x="6714622"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в кадровый бюджет не укладывается</a:t>
            </a:r>
          </a:p>
        </p:txBody>
      </p:sp>
      <p:sp>
        <p:nvSpPr>
          <p:cNvPr id="73" name="Rectangle 72"/>
          <p:cNvSpPr/>
          <p:nvPr/>
        </p:nvSpPr>
        <p:spPr>
          <a:xfrm>
            <a:off x="8330001"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4" name="TextBox 73"/>
          <p:cNvSpPr txBox="1"/>
          <p:nvPr/>
        </p:nvSpPr>
        <p:spPr>
          <a:xfrm>
            <a:off x="8394009"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около 1 мс на кадр</a:t>
            </a:r>
          </a:p>
        </p:txBody>
      </p:sp>
      <p:sp>
        <p:nvSpPr>
          <p:cNvPr id="75" name="Rectangle 74"/>
          <p:cNvSpPr/>
          <p:nvPr/>
        </p:nvSpPr>
        <p:spPr>
          <a:xfrm>
            <a:off x="10009388"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6" name="TextBox 75"/>
          <p:cNvSpPr txBox="1"/>
          <p:nvPr/>
        </p:nvSpPr>
        <p:spPr>
          <a:xfrm>
            <a:off x="10073396"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да: модерация на потоке</a:t>
            </a:r>
          </a:p>
        </p:txBody>
      </p:sp>
      <p:sp>
        <p:nvSpPr>
          <p:cNvPr id="77" name="Rectangle 76"/>
          <p:cNvSpPr/>
          <p:nvPr/>
        </p:nvSpPr>
        <p:spPr>
          <a:xfrm>
            <a:off x="502920" y="4231247"/>
            <a:ext cx="2788920" cy="466261"/>
          </a:xfrm>
          <a:prstGeom prst="rect">
            <a:avLst/>
          </a:prstGeom>
          <a:solidFill>
            <a:srgbClr val="F4F7FA"/>
          </a:solidFill>
          <a:ln w="9525">
            <a:solidFill>
              <a:srgbClr val="D9E2EC"/>
            </a:solidFill>
          </a:ln>
          <a:effectLst/>
        </p:spPr>
        <p:txBody>
          <a:bodyPr rtlCol="0" anchor="ctr"/>
          <a:lstStyle/>
          <a:p>
            <a:pPr algn="ctr"/>
          </a:p>
        </p:txBody>
      </p:sp>
      <p:sp>
        <p:nvSpPr>
          <p:cNvPr id="78" name="TextBox 77"/>
          <p:cNvSpPr txBox="1"/>
          <p:nvPr/>
        </p:nvSpPr>
        <p:spPr>
          <a:xfrm>
            <a:off x="566928" y="4295255"/>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Ответить «кто отвечает»</a:t>
            </a:r>
          </a:p>
          <a:p>
            <a:pPr algn="l">
              <a:lnSpc>
                <a:spcPct val="113000"/>
              </a:lnSpc>
              <a:spcBef>
                <a:spcPts val="200"/>
              </a:spcBef>
            </a:pPr>
            <a:r>
              <a:rPr sz="750" b="0" i="1">
                <a:solidFill>
                  <a:srgbClr val="1C7293"/>
                </a:solidFill>
                <a:latin typeface="Arial"/>
              </a:rPr>
              <a:t>происхождение, права, подпись под результатом</a:t>
            </a:r>
          </a:p>
        </p:txBody>
      </p:sp>
      <p:sp>
        <p:nvSpPr>
          <p:cNvPr id="79" name="Rectangle 78"/>
          <p:cNvSpPr/>
          <p:nvPr/>
        </p:nvSpPr>
        <p:spPr>
          <a:xfrm>
            <a:off x="3291839"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0" name="TextBox 79"/>
          <p:cNvSpPr txBox="1"/>
          <p:nvPr/>
        </p:nvSpPr>
        <p:spPr>
          <a:xfrm>
            <a:off x="3355847"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1" name="Rectangle 80"/>
          <p:cNvSpPr/>
          <p:nvPr/>
        </p:nvSpPr>
        <p:spPr>
          <a:xfrm>
            <a:off x="4971227"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2" name="TextBox 81"/>
          <p:cNvSpPr txBox="1"/>
          <p:nvPr/>
        </p:nvSpPr>
        <p:spPr>
          <a:xfrm>
            <a:off x="5035235"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3" name="Rectangle 82"/>
          <p:cNvSpPr/>
          <p:nvPr/>
        </p:nvSpPr>
        <p:spPr>
          <a:xfrm>
            <a:off x="6650614"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4" name="TextBox 83"/>
          <p:cNvSpPr txBox="1"/>
          <p:nvPr/>
        </p:nvSpPr>
        <p:spPr>
          <a:xfrm>
            <a:off x="6714622"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5" name="Rectangle 84"/>
          <p:cNvSpPr/>
          <p:nvPr/>
        </p:nvSpPr>
        <p:spPr>
          <a:xfrm>
            <a:off x="8330001"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6" name="TextBox 85"/>
          <p:cNvSpPr txBox="1"/>
          <p:nvPr/>
        </p:nvSpPr>
        <p:spPr>
          <a:xfrm>
            <a:off x="8394009"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7" name="Rectangle 86"/>
          <p:cNvSpPr/>
          <p:nvPr/>
        </p:nvSpPr>
        <p:spPr>
          <a:xfrm>
            <a:off x="10009388"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8" name="TextBox 87"/>
          <p:cNvSpPr txBox="1"/>
          <p:nvPr/>
        </p:nvSpPr>
        <p:spPr>
          <a:xfrm>
            <a:off x="10073396"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частично: подпись снаружи, и она про подписавшего</a:t>
            </a:r>
          </a:p>
        </p:txBody>
      </p:sp>
      <p:sp>
        <p:nvSpPr>
          <p:cNvPr id="89" name="Rounded Rectangle 88"/>
          <p:cNvSpPr/>
          <p:nvPr/>
        </p:nvSpPr>
        <p:spPr>
          <a:xfrm>
            <a:off x="502920" y="4779805"/>
            <a:ext cx="11185855" cy="287863"/>
          </a:xfrm>
          <a:prstGeom prst="roundRect">
            <a:avLst>
              <a:gd name="adj" fmla="val 14000"/>
            </a:avLst>
          </a:prstGeom>
          <a:solidFill>
            <a:srgbClr val="FEF5E0"/>
          </a:solidFill>
          <a:ln>
            <a:noFill/>
          </a:ln>
          <a:effectLst/>
        </p:spPr>
        <p:txBody>
          <a:bodyPr rtlCol="0" anchor="ctr"/>
          <a:lstStyle/>
          <a:p>
            <a:pPr algn="ctr"/>
          </a:p>
        </p:txBody>
      </p:sp>
      <p:sp>
        <p:nvSpPr>
          <p:cNvPr id="90" name="Rectangle 89"/>
          <p:cNvSpPr/>
          <p:nvPr/>
        </p:nvSpPr>
        <p:spPr>
          <a:xfrm>
            <a:off x="502920" y="4779805"/>
            <a:ext cx="68580" cy="287863"/>
          </a:xfrm>
          <a:prstGeom prst="rect">
            <a:avLst/>
          </a:prstGeom>
          <a:solidFill>
            <a:srgbClr val="F0AB00"/>
          </a:solidFill>
          <a:ln>
            <a:noFill/>
          </a:ln>
          <a:effectLst/>
        </p:spPr>
        <p:txBody>
          <a:bodyPr rtlCol="0" anchor="ctr"/>
          <a:lstStyle/>
          <a:p>
            <a:pPr algn="ctr"/>
          </a:p>
        </p:txBody>
      </p:sp>
      <p:sp>
        <p:nvSpPr>
          <p:cNvPr id="91" name="TextBox 90"/>
          <p:cNvSpPr txBox="1"/>
          <p:nvPr/>
        </p:nvSpPr>
        <p:spPr>
          <a:xfrm>
            <a:off x="685800" y="4843813"/>
            <a:ext cx="10783519" cy="159847"/>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АДРЕС ПЛАТЕЖА   Изображение — отбор, права · Звук — права, узнавание · Видео — отбор · Трёхмерное — узнавание · Распознавание — узнавание</a:t>
            </a:r>
          </a:p>
        </p:txBody>
      </p:sp>
      <p:sp>
        <p:nvSpPr>
          <p:cNvPr id="92" name="Rounded Rectangle 91"/>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93" name="Rounded Rectangle 92"/>
          <p:cNvSpPr/>
          <p:nvPr/>
        </p:nvSpPr>
        <p:spPr>
          <a:xfrm>
            <a:off x="685800" y="5578786"/>
            <a:ext cx="1598971"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Адрес платежа</a:t>
            </a:r>
          </a:p>
        </p:txBody>
      </p:sp>
      <p:sp>
        <p:nvSpPr>
          <p:cNvPr id="94" name="TextBox 93"/>
          <p:cNvSpPr txBox="1"/>
          <p:nvPr/>
        </p:nvSpPr>
        <p:spPr>
          <a:xfrm>
            <a:off x="2504227" y="5433429"/>
            <a:ext cx="9001667"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накапливается теми же шагами — отбор · права · узнавание; у обоих разборов раздела он один — узнавание</a:t>
            </a:r>
          </a:p>
        </p:txBody>
      </p:sp>
      <p:sp>
        <p:nvSpPr>
          <p:cNvPr id="95" name="Rectangle 9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96" name="TextBox 9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Кирилл Пшинник, сооснователь Zerocoder, публикация 16 октября 2026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8065986" y="914400"/>
            <a:ext cx="3622788" cy="4937760"/>
          </a:xfrm>
          <a:prstGeom prst="roundRect">
            <a:avLst>
              <a:gd name="adj" fmla="val 8413"/>
            </a:avLst>
          </a:prstGeom>
          <a:solidFill>
            <a:srgbClr val="F4F7FA"/>
          </a:solidFill>
          <a:ln w="19050">
            <a:solidFill>
              <a:srgbClr val="1C7293"/>
            </a:solidFill>
          </a:ln>
          <a:effectLst/>
        </p:spPr>
        <p:txBody>
          <a:bodyPr rtlCol="0" anchor="ctr"/>
          <a:lstStyle/>
          <a:p>
            <a:pPr algn="ctr"/>
          </a:p>
        </p:txBody>
      </p:sp>
      <p:pic>
        <p:nvPicPr>
          <p:cNvPr id="5" name="Picture 4" descr="s88-contact-sheet.jpg"/>
          <p:cNvPicPr>
            <a:picLocks noChangeAspect="1"/>
          </p:cNvPicPr>
          <p:nvPr/>
        </p:nvPicPr>
        <p:blipFill>
          <a:blip r:embed="rId2"/>
          <a:stretch>
            <a:fillRect/>
          </a:stretch>
        </p:blipFill>
        <p:spPr>
          <a:xfrm>
            <a:off x="8203146" y="1051560"/>
            <a:ext cx="3348468" cy="4663440"/>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Раздел 6. Сборка</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24493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Пять разделов шли по модальностям и дали тринадцать разобранных случаев. Здесь не прибавится ни одного нового</a:t>
            </a:r>
            <a:r>
              <a:rPr sz="1550" b="0" i="0">
                <a:solidFill>
                  <a:srgbClr val="21295C"/>
                </a:solidFill>
                <a:latin typeface="Arial"/>
              </a:rPr>
              <a:t> — прибавится то, чего по отдельности в них не было: одна фраза, которой всё это можно сказать.</a:t>
            </a:r>
          </a:p>
        </p:txBody>
      </p:sp>
      <p:sp>
        <p:nvSpPr>
          <p:cNvPr id="9" name="TextBox 8"/>
          <p:cNvSpPr txBox="1"/>
          <p:nvPr/>
        </p:nvSpPr>
        <p:spPr>
          <a:xfrm>
            <a:off x="704088" y="3217513"/>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Три адреса · четыре рынка · четыре критерия отказа.</a:t>
            </a:r>
            <a:r>
              <a:rPr sz="1550" b="0" i="0">
                <a:solidFill>
                  <a:srgbClr val="21295C"/>
                </a:solidFill>
                <a:latin typeface="Arial"/>
              </a:rPr>
              <a:t> И отдельно — куда идёт индустрия, по устройству рынка: оно меняется медленнее номеров версий.</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Исполнение перестало быть дефицитом. Что теперь дефицит — и в каких единицах за него платят?</a:t>
            </a:r>
          </a:p>
        </p:txBody>
      </p:sp>
      <p:sp>
        <p:nvSpPr>
          <p:cNvPr id="4" name="Rounded Rectangle 3"/>
          <p:cNvSpPr/>
          <p:nvPr/>
        </p:nvSpPr>
        <p:spPr>
          <a:xfrm>
            <a:off x="502920"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ПОДЕШЕВЕЛО</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исполнение</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измерено во всех пяти модальностях</a:t>
            </a:r>
          </a:p>
        </p:txBody>
      </p:sp>
      <p:sp>
        <p:nvSpPr>
          <p:cNvPr id="8" name="Rounded Rectangle 7"/>
          <p:cNvSpPr/>
          <p:nvPr/>
        </p:nvSpPr>
        <p:spPr>
          <a:xfrm>
            <a:off x="6178143"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НЕ ПОДЕШЕВЕЛО</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выбор, происхождение, подтверждение</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каждым стоит разобранный случай с посчитанной классикой</a:t>
            </a:r>
          </a:p>
        </p:txBody>
      </p:sp>
      <p:sp>
        <p:nvSpPr>
          <p:cNvPr id="12" name="TextBox 11"/>
          <p:cNvSpPr txBox="1"/>
          <p:nvPr/>
        </p:nvSpPr>
        <p:spPr>
          <a:xfrm>
            <a:off x="502920" y="3110657"/>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ОТБОР</a:t>
            </a:r>
          </a:p>
        </p:txBody>
      </p:sp>
      <p:sp>
        <p:nvSpPr>
          <p:cNvPr id="13" name="Rounded Rectangle 12"/>
          <p:cNvSpPr/>
          <p:nvPr/>
        </p:nvSpPr>
        <p:spPr>
          <a:xfrm>
            <a:off x="2011680" y="3074081"/>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Rounded Rectangle 13"/>
          <p:cNvSpPr/>
          <p:nvPr/>
        </p:nvSpPr>
        <p:spPr>
          <a:xfrm>
            <a:off x="2103120" y="3101513"/>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2185416" y="3147233"/>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забракованные попытки</a:t>
            </a:r>
          </a:p>
        </p:txBody>
      </p:sp>
      <p:sp>
        <p:nvSpPr>
          <p:cNvPr id="16" name="Rounded Rectangle 15"/>
          <p:cNvSpPr/>
          <p:nvPr/>
        </p:nvSpPr>
        <p:spPr>
          <a:xfrm>
            <a:off x="5298338" y="3101513"/>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5380634" y="3147233"/>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300–400 генераций на 15 склеек: брак 96 %</a:t>
            </a:r>
          </a:p>
        </p:txBody>
      </p:sp>
      <p:sp>
        <p:nvSpPr>
          <p:cNvPr id="18" name="Rounded Rectangle 17"/>
          <p:cNvSpPr/>
          <p:nvPr/>
        </p:nvSpPr>
        <p:spPr>
          <a:xfrm>
            <a:off x="8493556" y="3101513"/>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8575852" y="3147233"/>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заработан изображением и видео</a:t>
            </a:r>
          </a:p>
        </p:txBody>
      </p:sp>
      <p:sp>
        <p:nvSpPr>
          <p:cNvPr id="20" name="TextBox 19"/>
          <p:cNvSpPr txBox="1"/>
          <p:nvPr/>
        </p:nvSpPr>
        <p:spPr>
          <a:xfrm>
            <a:off x="502920" y="3888363"/>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ПРАВА</a:t>
            </a:r>
          </a:p>
        </p:txBody>
      </p:sp>
      <p:sp>
        <p:nvSpPr>
          <p:cNvPr id="21" name="Rounded Rectangle 20"/>
          <p:cNvSpPr/>
          <p:nvPr/>
        </p:nvSpPr>
        <p:spPr>
          <a:xfrm>
            <a:off x="2011680" y="3851787"/>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2" name="Rounded Rectangle 21"/>
          <p:cNvSpPr/>
          <p:nvPr/>
        </p:nvSpPr>
        <p:spPr>
          <a:xfrm>
            <a:off x="2103120" y="387921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2185416" y="392493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деньги за доступ к материалу</a:t>
            </a:r>
          </a:p>
        </p:txBody>
      </p:sp>
      <p:sp>
        <p:nvSpPr>
          <p:cNvPr id="24" name="Rounded Rectangle 23"/>
          <p:cNvSpPr/>
          <p:nvPr/>
        </p:nvSpPr>
        <p:spPr>
          <a:xfrm>
            <a:off x="5298338" y="387921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5380634" y="392493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1,5 млрд $ на 482 460 произведений ≈ 3 100 за одно</a:t>
            </a:r>
          </a:p>
        </p:txBody>
      </p:sp>
      <p:sp>
        <p:nvSpPr>
          <p:cNvPr id="26" name="Rounded Rectangle 25"/>
          <p:cNvSpPr/>
          <p:nvPr/>
        </p:nvSpPr>
        <p:spPr>
          <a:xfrm>
            <a:off x="8493556" y="387921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8575852" y="392493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заработан звуком и изображением</a:t>
            </a:r>
          </a:p>
        </p:txBody>
      </p:sp>
      <p:sp>
        <p:nvSpPr>
          <p:cNvPr id="28" name="TextBox 27"/>
          <p:cNvSpPr txBox="1"/>
          <p:nvPr/>
        </p:nvSpPr>
        <p:spPr>
          <a:xfrm>
            <a:off x="502920" y="4666069"/>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УЗНАВАНИЕ</a:t>
            </a:r>
          </a:p>
        </p:txBody>
      </p:sp>
      <p:sp>
        <p:nvSpPr>
          <p:cNvPr id="29" name="Rounded Rectangle 28"/>
          <p:cNvSpPr/>
          <p:nvPr/>
        </p:nvSpPr>
        <p:spPr>
          <a:xfrm>
            <a:off x="2011680" y="4629493"/>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0" name="Rounded Rectangle 29"/>
          <p:cNvSpPr/>
          <p:nvPr/>
        </p:nvSpPr>
        <p:spPr>
          <a:xfrm>
            <a:off x="2103120" y="4656925"/>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2185416" y="4702645"/>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доля верных решений, труд проверяющего</a:t>
            </a:r>
          </a:p>
        </p:txBody>
      </p:sp>
      <p:sp>
        <p:nvSpPr>
          <p:cNvPr id="32" name="Rounded Rectangle 31"/>
          <p:cNvSpPr/>
          <p:nvPr/>
        </p:nvSpPr>
        <p:spPr>
          <a:xfrm>
            <a:off x="5298338" y="4656925"/>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5380634" y="4702645"/>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99,9 % на своей модели, 51,9 % на незнакомой</a:t>
            </a:r>
          </a:p>
        </p:txBody>
      </p:sp>
      <p:sp>
        <p:nvSpPr>
          <p:cNvPr id="34" name="Rounded Rectangle 33"/>
          <p:cNvSpPr/>
          <p:nvPr/>
        </p:nvSpPr>
        <p:spPr>
          <a:xfrm>
            <a:off x="8493556" y="4656925"/>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575852" y="4702645"/>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заработан распознаванием</a:t>
            </a:r>
          </a:p>
        </p:txBody>
      </p:sp>
      <p:sp>
        <p:nvSpPr>
          <p:cNvPr id="36" name="Rounded Rectangle 35"/>
          <p:cNvSpPr/>
          <p:nvPr/>
        </p:nvSpPr>
        <p:spPr>
          <a:xfrm>
            <a:off x="374904" y="5388912"/>
            <a:ext cx="11441887" cy="84729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7" name="TextBox 36"/>
          <p:cNvSpPr txBox="1"/>
          <p:nvPr/>
        </p:nvSpPr>
        <p:spPr>
          <a:xfrm>
            <a:off x="539496" y="5480352"/>
            <a:ext cx="11112703" cy="755855"/>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Платят за отбор, за права и за узнавание.</a:t>
            </a:r>
          </a:p>
          <a:p>
            <a:pPr algn="l">
              <a:lnSpc>
                <a:spcPct val="126000"/>
              </a:lnSpc>
              <a:spcBef>
                <a:spcPts val="700"/>
              </a:spcBef>
            </a:pPr>
            <a:r>
              <a:rPr sz="1100" b="0" i="0">
                <a:solidFill>
                  <a:srgbClr val="21295C"/>
                </a:solidFill>
                <a:latin typeface="Arial"/>
              </a:rPr>
              <a:t/>
            </a:r>
            <a:r>
              <a:rPr sz="1100" b="1" i="0">
                <a:solidFill>
                  <a:srgbClr val="21295C"/>
                </a:solidFill>
                <a:latin typeface="Arial"/>
              </a:rPr>
              <a:t>Отрезвляющая мера того же счёта:</a:t>
            </a:r>
            <a:r>
              <a:rPr sz="1100" b="0" i="0">
                <a:solidFill>
                  <a:srgbClr val="21295C"/>
                </a:solidFill>
                <a:latin typeface="Arial"/>
              </a:rPr>
              <a:t> на российской бирже сгенерированная иллюстрация дешевле обычной в 2,16 раза — вдвое при трёх порядках падения цены исполнения. Из цены заказа ушло исполнение; отбор и ответственность в ней остались.</a:t>
            </a:r>
          </a:p>
        </p:txBody>
      </p:sp>
      <p:sp>
        <p:nvSpPr>
          <p:cNvPr id="38" name="Rectangle 37"/>
          <p:cNvSpPr/>
          <p:nvPr/>
        </p:nvSpPr>
        <p:spPr>
          <a:xfrm>
            <a:off x="502920" y="726829"/>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Доля каталога не равна доле денег: четыре рынка, измерявшие независимо</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СОВПАЛО У ЧЕТЫРЁХ ПЛОЩАДОК</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доля каталога не равна доле денег</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разных странах, разными методами, по разным модальностям</a:t>
            </a:r>
          </a:p>
        </p:txBody>
      </p:sp>
      <p:sp>
        <p:nvSpPr>
          <p:cNvPr id="8" name="TextBox 7"/>
          <p:cNvSpPr txBox="1"/>
          <p:nvPr/>
        </p:nvSpPr>
        <p:spPr>
          <a:xfrm>
            <a:off x="502920" y="2720233"/>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Deezer, июнь 2026</a:t>
            </a:r>
          </a:p>
        </p:txBody>
      </p:sp>
      <p:sp>
        <p:nvSpPr>
          <p:cNvPr id="9" name="Rounded Rectangle 8"/>
          <p:cNvSpPr/>
          <p:nvPr/>
        </p:nvSpPr>
        <p:spPr>
          <a:xfrm>
            <a:off x="2011680" y="2683657"/>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71108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75680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более 50 % суточной загрузки</a:t>
            </a:r>
          </a:p>
        </p:txBody>
      </p:sp>
      <p:sp>
        <p:nvSpPr>
          <p:cNvPr id="12" name="Rounded Rectangle 11"/>
          <p:cNvSpPr/>
          <p:nvPr/>
        </p:nvSpPr>
        <p:spPr>
          <a:xfrm>
            <a:off x="5298338" y="271108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5380634" y="275680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1–3 % всех прослушиваний</a:t>
            </a:r>
          </a:p>
        </p:txBody>
      </p:sp>
      <p:sp>
        <p:nvSpPr>
          <p:cNvPr id="14" name="Rounded Rectangle 13"/>
          <p:cNvSpPr/>
          <p:nvPr/>
        </p:nvSpPr>
        <p:spPr>
          <a:xfrm>
            <a:off x="8493556" y="271108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8575852" y="275680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январе 2025 было 10 %</a:t>
            </a:r>
          </a:p>
        </p:txBody>
      </p:sp>
      <p:sp>
        <p:nvSpPr>
          <p:cNvPr id="16" name="TextBox 15"/>
          <p:cNvSpPr txBox="1"/>
          <p:nvPr/>
        </p:nvSpPr>
        <p:spPr>
          <a:xfrm>
            <a:off x="502920" y="3342025"/>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Steam, к июлю 2026</a:t>
            </a:r>
          </a:p>
        </p:txBody>
      </p:sp>
      <p:sp>
        <p:nvSpPr>
          <p:cNvPr id="17" name="Rounded Rectangle 16"/>
          <p:cNvSpPr/>
          <p:nvPr/>
        </p:nvSpPr>
        <p:spPr>
          <a:xfrm>
            <a:off x="2011680" y="3305449"/>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33288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37860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30,8 % релизов года с раскрытием</a:t>
            </a:r>
          </a:p>
        </p:txBody>
      </p:sp>
      <p:sp>
        <p:nvSpPr>
          <p:cNvPr id="20" name="Rounded Rectangle 19"/>
          <p:cNvSpPr/>
          <p:nvPr/>
        </p:nvSpPr>
        <p:spPr>
          <a:xfrm>
            <a:off x="5298338" y="333288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5380634" y="337860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10–27 % оценочных продаж</a:t>
            </a:r>
          </a:p>
        </p:txBody>
      </p:sp>
      <p:sp>
        <p:nvSpPr>
          <p:cNvPr id="22" name="Rounded Rectangle 21"/>
          <p:cNvSpPr/>
          <p:nvPr/>
        </p:nvSpPr>
        <p:spPr>
          <a:xfrm>
            <a:off x="8493556" y="333288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575852" y="337860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2024-м было 3–6 %</a:t>
            </a:r>
          </a:p>
        </p:txBody>
      </p:sp>
      <p:sp>
        <p:nvSpPr>
          <p:cNvPr id="24" name="TextBox 23"/>
          <p:cNvSpPr txBox="1"/>
          <p:nvPr/>
        </p:nvSpPr>
        <p:spPr>
          <a:xfrm>
            <a:off x="502920" y="4119732"/>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Аудиокниги США, 2025</a:t>
            </a:r>
          </a:p>
        </p:txBody>
      </p:sp>
      <p:sp>
        <p:nvSpPr>
          <p:cNvPr id="25" name="Rounded Rectangle 24"/>
          <p:cNvSpPr/>
          <p:nvPr/>
        </p:nvSpPr>
        <p:spPr>
          <a:xfrm>
            <a:off x="2011680" y="4083156"/>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4110588"/>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4156308"/>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каталог 750 000 наименований, рост 43 % за год</a:t>
            </a:r>
          </a:p>
        </p:txBody>
      </p:sp>
      <p:sp>
        <p:nvSpPr>
          <p:cNvPr id="28" name="Rounded Rectangle 27"/>
          <p:cNvSpPr/>
          <p:nvPr/>
        </p:nvSpPr>
        <p:spPr>
          <a:xfrm>
            <a:off x="5298338" y="4110588"/>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5380634" y="4156308"/>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0,03 % продаж из 2,43 млрд $</a:t>
            </a:r>
          </a:p>
        </p:txBody>
      </p:sp>
      <p:sp>
        <p:nvSpPr>
          <p:cNvPr id="30" name="Rounded Rectangle 29"/>
          <p:cNvSpPr/>
          <p:nvPr/>
        </p:nvSpPr>
        <p:spPr>
          <a:xfrm>
            <a:off x="8493556" y="4110588"/>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8575852" y="4156308"/>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машинный голос пробовали 16 %</a:t>
            </a:r>
          </a:p>
        </p:txBody>
      </p:sp>
      <p:sp>
        <p:nvSpPr>
          <p:cNvPr id="32" name="TextBox 31"/>
          <p:cNvSpPr txBox="1"/>
          <p:nvPr/>
        </p:nvSpPr>
        <p:spPr>
          <a:xfrm>
            <a:off x="502920" y="4897438"/>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Яндекс Музыка, 2026</a:t>
            </a:r>
          </a:p>
        </p:txBody>
      </p:sp>
      <p:sp>
        <p:nvSpPr>
          <p:cNvPr id="33" name="Rounded Rectangle 32"/>
          <p:cNvSpPr/>
          <p:nvPr/>
        </p:nvSpPr>
        <p:spPr>
          <a:xfrm>
            <a:off x="2011680" y="4860862"/>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4" name="Rounded Rectangle 33"/>
          <p:cNvSpPr/>
          <p:nvPr/>
        </p:nvSpPr>
        <p:spPr>
          <a:xfrm>
            <a:off x="2103120" y="488829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2185416" y="493401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около 40 % новых треков в месяц</a:t>
            </a:r>
          </a:p>
        </p:txBody>
      </p:sp>
      <p:sp>
        <p:nvSpPr>
          <p:cNvPr id="36" name="Rounded Rectangle 35"/>
          <p:cNvSpPr/>
          <p:nvPr/>
        </p:nvSpPr>
        <p:spPr>
          <a:xfrm>
            <a:off x="5298338" y="488829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5380634" y="493401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каждый десятый трек чарта</a:t>
            </a:r>
          </a:p>
        </p:txBody>
      </p:sp>
      <p:sp>
        <p:nvSpPr>
          <p:cNvPr id="38" name="Rounded Rectangle 37"/>
          <p:cNvSpPr/>
          <p:nvPr/>
        </p:nvSpPr>
        <p:spPr>
          <a:xfrm>
            <a:off x="8493556" y="488829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9" name="TextBox 38"/>
          <p:cNvSpPr txBox="1"/>
          <p:nvPr/>
        </p:nvSpPr>
        <p:spPr>
          <a:xfrm>
            <a:off x="8575852" y="493401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выборка 5,7 млн профилей</a:t>
            </a:r>
          </a:p>
        </p:txBody>
      </p:sp>
      <p:sp>
        <p:nvSpPr>
          <p:cNvPr id="40" name="Rounded Rectangle 39"/>
          <p:cNvSpPr/>
          <p:nvPr/>
        </p:nvSpPr>
        <p:spPr>
          <a:xfrm>
            <a:off x="374904" y="5620280"/>
            <a:ext cx="11441887" cy="61592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1" name="TextBox 40"/>
          <p:cNvSpPr txBox="1"/>
          <p:nvPr/>
        </p:nvSpPr>
        <p:spPr>
          <a:xfrm>
            <a:off x="539496" y="5711720"/>
            <a:ext cx="11112703" cy="524487"/>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Измеряют предложение, а выводы делают о востребованности:</a:t>
            </a:r>
            <a:r>
              <a:rPr sz="1300" b="0" i="0">
                <a:solidFill>
                  <a:srgbClr val="21295C"/>
                </a:solidFill>
                <a:latin typeface="Arial"/>
              </a:rPr>
              <a:t> объём производства перестал быть свидетельством спроса. Разницу заполняет накрутка — на музыкальной площадке она измерена: 85 % прослушиваний машинных треков демонетизированы.</a:t>
            </a:r>
          </a:p>
        </p:txBody>
      </p:sp>
      <p:sp>
        <p:nvSpPr>
          <p:cNvPr id="42" name="Rectangle 41"/>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Deezer Newsroom, июль 2026</a:t>
            </a:r>
            <a:r>
              <a:rPr sz="1200" b="0" i="1">
                <a:solidFill>
                  <a:srgbClr val="1C7293"/>
                </a:solidFill>
                <a:latin typeface="Arial"/>
              </a:rPr>
              <a:t> · </a:t>
            </a:r>
            <a:r>
              <a:rPr sz="1200" b="0" i="1">
                <a:solidFill>
                  <a:srgbClr val="1C7293"/>
                </a:solidFill>
                <a:latin typeface="Arial"/>
              </a:rPr>
              <a:t>Cinevva, 20 июля 2026 и независимый счёт Totally Human по 53 597 релизам</a:t>
            </a:r>
            <a:r>
              <a:rPr sz="1200" b="0" i="1">
                <a:solidFill>
                  <a:srgbClr val="1C7293"/>
                </a:solidFill>
                <a:latin typeface="Arial"/>
              </a:rPr>
              <a:t> · </a:t>
            </a:r>
            <a:r>
              <a:rPr sz="1200" b="0" i="1">
                <a:solidFill>
                  <a:srgbClr val="1C7293"/>
                </a:solidFill>
                <a:latin typeface="Arial"/>
              </a:rPr>
              <a:t>Audio Publishers Association и Edison Research, итоги 2025</a:t>
            </a:r>
            <a:r>
              <a:rPr sz="1200" b="0" i="1">
                <a:solidFill>
                  <a:srgbClr val="1C7293"/>
                </a:solidFill>
                <a:latin typeface="Arial"/>
              </a:rPr>
              <a:t> · </a:t>
            </a:r>
            <a:r>
              <a:rPr sz="1200" b="0" i="1">
                <a:solidFill>
                  <a:srgbClr val="1C7293"/>
                </a:solidFill>
                <a:latin typeface="Arial"/>
              </a:rPr>
              <a:t>независимый замер по 5,7 млн профилей Яндекс Музыки</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Куда идёт индустрия: устройство рынка вместо номеров версий</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КАРТИНОЧНЫЕ МОДЕЛИ ПЕРЕСТАЛИ РАСТИ</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SD v1 в 2022 и SD 3 в 2024 — одно и то же число операций</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те же два года вычисления передовых языковых моделей росли вчетверо-впятеро в год</a:t>
            </a:r>
          </a:p>
        </p:txBody>
      </p:sp>
      <p:sp>
        <p:nvSpPr>
          <p:cNvPr id="8" name="TextBox 7"/>
          <p:cNvSpPr txBox="1"/>
          <p:nvPr/>
        </p:nvSpPr>
        <p:spPr>
          <a:xfrm>
            <a:off x="502920" y="2720233"/>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Картиночные, 2022 → 2024</a:t>
            </a:r>
          </a:p>
        </p:txBody>
      </p:sp>
      <p:sp>
        <p:nvSpPr>
          <p:cNvPr id="9" name="Rounded Rectangle 8"/>
          <p:cNvSpPr/>
          <p:nvPr/>
        </p:nvSpPr>
        <p:spPr>
          <a:xfrm>
            <a:off x="2011680" y="2683657"/>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вычисления на обучение не выросли вовсе</a:t>
            </a:r>
          </a:p>
        </p:txBody>
      </p:sp>
      <p:sp>
        <p:nvSpPr>
          <p:cNvPr id="12" name="Right Arrow 11"/>
          <p:cNvSpPr/>
          <p:nvPr/>
        </p:nvSpPr>
        <p:spPr>
          <a:xfrm>
            <a:off x="4248073" y="3182472"/>
            <a:ext cx="182880" cy="137160"/>
          </a:xfrm>
          <a:prstGeom prst="rightArrow">
            <a:avLst/>
          </a:prstGeom>
          <a:solidFill>
            <a:srgbClr val="1C7293"/>
          </a:solidFill>
          <a:ln>
            <a:noFill/>
          </a:ln>
          <a:effectLst/>
        </p:spPr>
        <p:txBody>
          <a:bodyPr rtlCol="0" anchor="ctr"/>
          <a:lstStyle/>
          <a:p>
            <a:pPr algn="ctr"/>
          </a:p>
        </p:txBody>
      </p:sp>
      <p:sp>
        <p:nvSpPr>
          <p:cNvPr id="13" name="Rounded Rectangle 12"/>
          <p:cNvSpPr/>
          <p:nvPr/>
        </p:nvSpPr>
        <p:spPr>
          <a:xfrm>
            <a:off x="4568113"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4" name="TextBox 13"/>
          <p:cNvSpPr txBox="1"/>
          <p:nvPr/>
        </p:nvSpPr>
        <p:spPr>
          <a:xfrm>
            <a:off x="4650409"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16 каналов латентного представления вместо 4</a:t>
            </a:r>
          </a:p>
        </p:txBody>
      </p:sp>
      <p:sp>
        <p:nvSpPr>
          <p:cNvPr id="15" name="Right Arrow 14"/>
          <p:cNvSpPr/>
          <p:nvPr/>
        </p:nvSpPr>
        <p:spPr>
          <a:xfrm>
            <a:off x="6713067" y="3182472"/>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7033107"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7115403"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диффузионный трансформер и спрямлённый поток</a:t>
            </a:r>
          </a:p>
        </p:txBody>
      </p:sp>
      <p:sp>
        <p:nvSpPr>
          <p:cNvPr id="18" name="Right Arrow 17"/>
          <p:cNvSpPr/>
          <p:nvPr/>
        </p:nvSpPr>
        <p:spPr>
          <a:xfrm>
            <a:off x="9178061" y="3182472"/>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9498101"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9580397"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дистилляция с тысячи шагов до четырёх</a:t>
            </a:r>
          </a:p>
        </p:txBody>
      </p:sp>
      <p:sp>
        <p:nvSpPr>
          <p:cNvPr id="21" name="TextBox 20"/>
          <p:cNvSpPr txBox="1"/>
          <p:nvPr/>
        </p:nvSpPr>
        <p:spPr>
          <a:xfrm>
            <a:off x="502920" y="3964750"/>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Передовые языковые, 2022 → 2024</a:t>
            </a:r>
          </a:p>
        </p:txBody>
      </p:sp>
      <p:sp>
        <p:nvSpPr>
          <p:cNvPr id="22" name="Rounded Rectangle 21"/>
          <p:cNvSpPr/>
          <p:nvPr/>
        </p:nvSpPr>
        <p:spPr>
          <a:xfrm>
            <a:off x="2011680" y="3928174"/>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3" name="Rounded Rectangle 22"/>
          <p:cNvSpPr/>
          <p:nvPr/>
        </p:nvSpPr>
        <p:spPr>
          <a:xfrm>
            <a:off x="2103120"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4" name="TextBox 23"/>
          <p:cNvSpPr txBox="1"/>
          <p:nvPr/>
        </p:nvSpPr>
        <p:spPr>
          <a:xfrm>
            <a:off x="2185416"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вычисления росли вчетверо-впятеро в год</a:t>
            </a:r>
          </a:p>
        </p:txBody>
      </p:sp>
      <p:sp>
        <p:nvSpPr>
          <p:cNvPr id="25" name="Right Arrow 24"/>
          <p:cNvSpPr/>
          <p:nvPr/>
        </p:nvSpPr>
        <p:spPr>
          <a:xfrm>
            <a:off x="4248073" y="442698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4568113"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4650409"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рычагом оставался размер модели и корпуса</a:t>
            </a:r>
          </a:p>
        </p:txBody>
      </p:sp>
      <p:sp>
        <p:nvSpPr>
          <p:cNvPr id="28" name="Right Arrow 27"/>
          <p:cNvSpPr/>
          <p:nvPr/>
        </p:nvSpPr>
        <p:spPr>
          <a:xfrm>
            <a:off x="6713067" y="4426988"/>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7033107"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7115403"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обучение дороже картиночного в 200–400 раз</a:t>
            </a:r>
          </a:p>
        </p:txBody>
      </p:sp>
      <p:sp>
        <p:nvSpPr>
          <p:cNvPr id="31" name="Right Arrow 30"/>
          <p:cNvSpPr/>
          <p:nvPr/>
        </p:nvSpPr>
        <p:spPr>
          <a:xfrm>
            <a:off x="9178061" y="4426988"/>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9498101"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9580397"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каждый запуск дешевле картиночного в 40–60 раз</a:t>
            </a:r>
          </a:p>
        </p:txBody>
      </p:sp>
      <p:sp>
        <p:nvSpPr>
          <p:cNvPr id="34" name="Rounded Rectangle 33"/>
          <p:cNvSpPr/>
          <p:nvPr/>
        </p:nvSpPr>
        <p:spPr>
          <a:xfrm>
            <a:off x="374904" y="5154403"/>
            <a:ext cx="11441887" cy="108180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245843"/>
            <a:ext cx="11112703" cy="99036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Номер версии меняется быстрее, чем устройство рынка.</a:t>
            </a:r>
            <a:r>
              <a:rPr sz="1250" b="0" i="0">
                <a:solidFill>
                  <a:srgbClr val="21295C"/>
                </a:solidFill>
                <a:latin typeface="Arial"/>
              </a:rPr>
              <a:t> Решения о внедрении принимают по второму: он держится годами, а номер — недели.</a:t>
            </a:r>
          </a:p>
          <a:p>
            <a:pPr algn="l">
              <a:lnSpc>
                <a:spcPct val="126000"/>
              </a:lnSpc>
              <a:spcBef>
                <a:spcPts val="700"/>
              </a:spcBef>
            </a:pPr>
            <a:r>
              <a:rPr sz="1250" b="0" i="0">
                <a:solidFill>
                  <a:srgbClr val="21295C"/>
                </a:solidFill>
                <a:latin typeface="Arial"/>
              </a:rPr>
              <a:t/>
            </a:r>
            <a:r>
              <a:rPr sz="1250" b="1" i="0">
                <a:solidFill>
                  <a:srgbClr val="21295C"/>
                </a:solidFill>
                <a:latin typeface="Arial"/>
              </a:rPr>
              <a:t>Главный рычаг — токенизатор; размер модели здесь вторичен.</a:t>
            </a:r>
            <a:r>
              <a:rPr sz="1250" b="0" i="0">
                <a:solidFill>
                  <a:srgbClr val="21295C"/>
                </a:solidFill>
                <a:latin typeface="Arial"/>
              </a:rPr>
              <a:t> Кэша у картиночной модели нет и быть не может: расшумление на каждом шаге переписывает все 4096 токенов.</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карточка модели Stable Diffusion v1</a:t>
            </a:r>
            <a:r>
              <a:rPr sz="1200" b="0" i="1">
                <a:solidFill>
                  <a:srgbClr val="1C7293"/>
                </a:solidFill>
                <a:latin typeface="Arial"/>
              </a:rPr>
              <a:t> · </a:t>
            </a:r>
            <a:r>
              <a:rPr sz="1200" b="0" i="1">
                <a:solidFill>
                  <a:srgbClr val="1C7293"/>
                </a:solidFill>
                <a:latin typeface="Arial"/>
              </a:rPr>
              <a:t>Genie 3, Google DeepMind, август 2025</a:t>
            </a:r>
            <a:r>
              <a:rPr sz="1200" b="0" i="1">
                <a:solidFill>
                  <a:srgbClr val="1C7293"/>
                </a:solidFill>
                <a:latin typeface="Arial"/>
              </a:rPr>
              <a:t> · </a:t>
            </a:r>
            <a:r>
              <a:rPr sz="1200" b="0" i="1">
                <a:solidFill>
                  <a:srgbClr val="1C7293"/>
                </a:solidFill>
                <a:latin typeface="Arial"/>
              </a:rPr>
              <a:t>выпуск Suno v6 от 09.09.2026 и ElevenMusic от 01.04.2026</a:t>
            </a:r>
            <a:r>
              <a:rPr sz="1200" b="0" i="1">
                <a:solidFill>
                  <a:srgbClr val="1C7293"/>
                </a:solidFill>
                <a:latin typeface="Arial"/>
              </a:rPr>
              <a:t> · </a:t>
            </a:r>
            <a:r>
              <a:rPr sz="1200" b="0" i="1">
                <a:solidFill>
                  <a:srgbClr val="1C7293"/>
                </a:solidFill>
                <a:latin typeface="Arial"/>
              </a:rPr>
              <a:t>четыре отраслевых обзора рынка за 2026 год</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Куда идёт индустрия: права, мировые модели и размер рынка</a:t>
            </a:r>
          </a:p>
        </p:txBody>
      </p:sp>
      <p:sp>
        <p:nvSpPr>
          <p:cNvPr id="4" name="Rounded Rectangle 3"/>
          <p:cNvSpPr/>
          <p:nvPr/>
        </p:nvSpPr>
        <p:spPr>
          <a:xfrm>
            <a:off x="502920"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СПОР О ПРОИСХОЖДЕНИИ ОБУЧАЮЩИХ ДАННЫХ</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стал условием работы продукта</a:t>
            </a:r>
          </a:p>
        </p:txBody>
      </p:sp>
      <p:sp>
        <p:nvSpPr>
          <p:cNvPr id="7" name="TextBox 6"/>
          <p:cNvSpPr txBox="1"/>
          <p:nvPr/>
        </p:nvSpPr>
        <p:spPr>
          <a:xfrm>
            <a:off x="640080" y="2152374"/>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Suno с 09.09.2026, ElevenMusic с 01.04.2026 — на лицензированном материале. Там, где правообладатель крупный, вопрос закрывается лицензией раньше суда</a:t>
            </a:r>
          </a:p>
        </p:txBody>
      </p:sp>
      <p:sp>
        <p:nvSpPr>
          <p:cNvPr id="8" name="Rounded Rectangle 7"/>
          <p:cNvSpPr/>
          <p:nvPr/>
        </p:nvSpPr>
        <p:spPr>
          <a:xfrm>
            <a:off x="6178143"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МИРОВЫЕ МОДЕЛИ — ОТДЕЛЬНАЯ МОДАЛЬНОСТЬ</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720p, 24 кадра/с, связность несколько минут</a:t>
            </a:r>
          </a:p>
        </p:txBody>
      </p:sp>
      <p:sp>
        <p:nvSpPr>
          <p:cNvPr id="11" name="TextBox 10"/>
          <p:cNvSpPr txBox="1"/>
          <p:nvPr/>
        </p:nvSpPr>
        <p:spPr>
          <a:xfrm>
            <a:off x="6315303"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10–20 секунд у предшественников; видеомодель порождает запись, мировая — пространство, в котором можно находиться</a:t>
            </a:r>
          </a:p>
        </p:txBody>
      </p:sp>
      <p:sp>
        <p:nvSpPr>
          <p:cNvPr id="12" name="Rectangle 11"/>
          <p:cNvSpPr/>
          <p:nvPr/>
        </p:nvSpPr>
        <p:spPr>
          <a:xfrm>
            <a:off x="754380" y="3956299"/>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21</a:t>
            </a:r>
          </a:p>
        </p:txBody>
      </p:sp>
      <p:sp>
        <p:nvSpPr>
          <p:cNvPr id="15" name="Rectangle 14"/>
          <p:cNvSpPr/>
          <p:nvPr/>
        </p:nvSpPr>
        <p:spPr>
          <a:xfrm>
            <a:off x="2512543" y="3791707"/>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258773" y="3285324"/>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3,16</a:t>
            </a:r>
          </a:p>
          <a:p>
            <a:pPr algn="ctr">
              <a:lnSpc>
                <a:spcPct val="110000"/>
              </a:lnSpc>
            </a:pPr>
            <a:r>
              <a:rPr sz="1200" b="0" i="0">
                <a:solidFill>
                  <a:srgbClr val="21295C"/>
                </a:solidFill>
                <a:latin typeface="Arial"/>
              </a:rPr>
              <a:t>нижняя оценка</a:t>
            </a:r>
          </a:p>
        </p:txBody>
      </p:sp>
      <p:sp>
        <p:nvSpPr>
          <p:cNvPr id="17" name="Rectangle 16"/>
          <p:cNvSpPr/>
          <p:nvPr/>
        </p:nvSpPr>
        <p:spPr>
          <a:xfrm>
            <a:off x="10288136" y="4006591"/>
            <a:ext cx="50292" cy="1645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7516818" y="4262623"/>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19,2</a:t>
            </a:r>
          </a:p>
          <a:p>
            <a:pPr algn="ctr">
              <a:lnSpc>
                <a:spcPct val="110000"/>
              </a:lnSpc>
            </a:pPr>
            <a:r>
              <a:rPr sz="1200" b="0" i="0">
                <a:solidFill>
                  <a:srgbClr val="21295C"/>
                </a:solidFill>
                <a:latin typeface="Arial"/>
              </a:rPr>
              <a:t>верхняя оценка</a:t>
            </a:r>
          </a:p>
        </p:txBody>
      </p:sp>
      <p:sp>
        <p:nvSpPr>
          <p:cNvPr id="19" name="TextBox 18"/>
          <p:cNvSpPr txBox="1"/>
          <p:nvPr/>
        </p:nvSpPr>
        <p:spPr>
          <a:xfrm>
            <a:off x="502920" y="47872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миллиарды долларов — размер одного и того же рынка за 2026 год · один рынок, один год, четыре отраслевых обзора</a:t>
            </a:r>
          </a:p>
        </p:txBody>
      </p:sp>
      <p:sp>
        <p:nvSpPr>
          <p:cNvPr id="20" name="TextBox 19"/>
          <p:cNvSpPr txBox="1"/>
          <p:nvPr/>
        </p:nvSpPr>
        <p:spPr>
          <a:xfrm>
            <a:off x="502920" y="50799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Все четыре оценки согласны лишь в темпе роста — 14–34 % в год</a:t>
            </a:r>
          </a:p>
        </p:txBody>
      </p:sp>
      <p:sp>
        <p:nvSpPr>
          <p:cNvPr id="21" name="Rounded Rectangle 20"/>
          <p:cNvSpPr/>
          <p:nvPr/>
        </p:nvSpPr>
        <p:spPr>
          <a:xfrm>
            <a:off x="374904" y="5386357"/>
            <a:ext cx="11441887" cy="84985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5477797"/>
            <a:ext cx="11112703" cy="75841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величины, по которым читают направление.</a:t>
            </a:r>
            <a:r>
              <a:rPr sz="1500" b="0" i="0">
                <a:solidFill>
                  <a:srgbClr val="21295C"/>
                </a:solidFill>
                <a:latin typeface="Arial"/>
              </a:rPr>
              <a:t> Ни одна из них не меняется с номером версии: право, класс задачи и граница рынка держатся годами.</a:t>
            </a: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карточка модели Stable Diffusion v1</a:t>
            </a:r>
            <a:r>
              <a:rPr sz="1200" b="0" i="1">
                <a:solidFill>
                  <a:srgbClr val="1C7293"/>
                </a:solidFill>
                <a:latin typeface="Arial"/>
              </a:rPr>
              <a:t> · </a:t>
            </a:r>
            <a:r>
              <a:rPr sz="1200" b="0" i="1">
                <a:solidFill>
                  <a:srgbClr val="1C7293"/>
                </a:solidFill>
                <a:latin typeface="Arial"/>
              </a:rPr>
              <a:t>Genie 3, Google DeepMind, август 2025</a:t>
            </a:r>
            <a:r>
              <a:rPr sz="1200" b="0" i="1">
                <a:solidFill>
                  <a:srgbClr val="1C7293"/>
                </a:solidFill>
                <a:latin typeface="Arial"/>
              </a:rPr>
              <a:t> · </a:t>
            </a:r>
            <a:r>
              <a:rPr sz="1200" b="0" i="1">
                <a:solidFill>
                  <a:srgbClr val="1C7293"/>
                </a:solidFill>
                <a:latin typeface="Arial"/>
              </a:rPr>
              <a:t>независимая проверка WRBench, 23 модели, июнь 2026 (arXiv:2606.20545)</a:t>
            </a:r>
            <a:r>
              <a:rPr sz="1200" b="0" i="1">
                <a:solidFill>
                  <a:srgbClr val="1C7293"/>
                </a:solidFill>
                <a:latin typeface="Arial"/>
              </a:rPr>
              <a:t> · </a:t>
            </a:r>
            <a:r>
              <a:rPr sz="1200" b="0" i="1">
                <a:solidFill>
                  <a:srgbClr val="1C7293"/>
                </a:solidFill>
                <a:latin typeface="Arial"/>
              </a:rPr>
              <a:t>выпуск Suno v6 от 09.09.2026 и ElevenMusic от 01.04.2026</a:t>
            </a:r>
            <a:r>
              <a:rPr sz="1200" b="0" i="1">
                <a:solidFill>
                  <a:srgbClr val="1C7293"/>
                </a:solidFill>
                <a:latin typeface="Arial"/>
              </a:rPr>
              <a:t> · </a:t>
            </a:r>
            <a:r>
              <a:rPr sz="1200" b="0" i="1">
                <a:solidFill>
                  <a:srgbClr val="1C7293"/>
                </a:solidFill>
                <a:latin typeface="Arial"/>
              </a:rPr>
              <a:t>четыре отраслевых обзора рынка за 2026 год</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критерия отказа: когда модель — не тот инструмент</a:t>
            </a:r>
          </a:p>
        </p:txBody>
      </p:sp>
      <p:sp>
        <p:nvSpPr>
          <p:cNvPr id="4" name="TextBox 3"/>
          <p:cNvSpPr txBox="1"/>
          <p:nvPr/>
        </p:nvSpPr>
        <p:spPr>
          <a:xfrm>
            <a:off x="502920" y="1371600"/>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1. Точные величины</a:t>
            </a:r>
          </a:p>
        </p:txBody>
      </p:sp>
      <p:sp>
        <p:nvSpPr>
          <p:cNvPr id="5" name="Rounded Rectangle 4"/>
          <p:cNvSpPr/>
          <p:nvPr/>
        </p:nvSpPr>
        <p:spPr>
          <a:xfrm>
            <a:off x="2011680" y="1335024"/>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требованиях есть единицы, допуски, материалы, кинематика</a:t>
            </a:r>
          </a:p>
        </p:txBody>
      </p:sp>
      <p:sp>
        <p:nvSpPr>
          <p:cNvPr id="8" name="Right Arrow 7"/>
          <p:cNvSpPr/>
          <p:nvPr/>
        </p:nvSpPr>
        <p:spPr>
          <a:xfrm>
            <a:off x="5069738" y="1717135"/>
            <a:ext cx="182880" cy="137160"/>
          </a:xfrm>
          <a:prstGeom prst="rightArrow">
            <a:avLst/>
          </a:prstGeom>
          <a:solidFill>
            <a:srgbClr val="1C7293"/>
          </a:solidFill>
          <a:ln>
            <a:noFill/>
          </a:ln>
          <a:effectLst/>
        </p:spPr>
        <p:txBody>
          <a:bodyPr rtlCol="0" anchor="ctr"/>
          <a:lstStyle/>
          <a:p>
            <a:pPr algn="ctr"/>
          </a:p>
        </p:txBody>
      </p:sp>
      <p:sp>
        <p:nvSpPr>
          <p:cNvPr id="9" name="Rounded Rectangle 8"/>
          <p:cNvSpPr/>
          <p:nvPr/>
        </p:nvSpPr>
        <p:spPr>
          <a:xfrm>
            <a:off x="5389778" y="1362456"/>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0" name="TextBox 9"/>
          <p:cNvSpPr txBox="1"/>
          <p:nvPr/>
        </p:nvSpPr>
        <p:spPr>
          <a:xfrm>
            <a:off x="5472074" y="1408176"/>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внутри картинки ничего этого нет: нечего измерить и нечем проверить расчётом</a:t>
            </a:r>
          </a:p>
        </p:txBody>
      </p:sp>
      <p:sp>
        <p:nvSpPr>
          <p:cNvPr id="11" name="Right Arrow 10"/>
          <p:cNvSpPr/>
          <p:nvPr/>
        </p:nvSpPr>
        <p:spPr>
          <a:xfrm>
            <a:off x="8356396" y="1717135"/>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8676436" y="1362456"/>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8758732" y="1408176"/>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система автоматизированного проектирования</a:t>
            </a:r>
          </a:p>
        </p:txBody>
      </p:sp>
      <p:sp>
        <p:nvSpPr>
          <p:cNvPr id="14" name="TextBox 13"/>
          <p:cNvSpPr txBox="1"/>
          <p:nvPr/>
        </p:nvSpPr>
        <p:spPr>
          <a:xfrm>
            <a:off x="502920" y="2382711"/>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 Источник и ссылка</a:t>
            </a:r>
          </a:p>
        </p:txBody>
      </p:sp>
      <p:sp>
        <p:nvSpPr>
          <p:cNvPr id="15" name="Rounded Rectangle 14"/>
          <p:cNvSpPr/>
          <p:nvPr/>
        </p:nvSpPr>
        <p:spPr>
          <a:xfrm>
            <a:off x="2011680" y="2346135"/>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373567"/>
            <a:ext cx="2920898"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419287"/>
            <a:ext cx="2756306"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требованиях есть «на основании» или «со ссылкой»</a:t>
            </a:r>
          </a:p>
        </p:txBody>
      </p:sp>
      <p:sp>
        <p:nvSpPr>
          <p:cNvPr id="18" name="Right Arrow 17"/>
          <p:cNvSpPr/>
          <p:nvPr/>
        </p:nvSpPr>
        <p:spPr>
          <a:xfrm>
            <a:off x="5069738" y="284494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389778" y="2373567"/>
            <a:ext cx="2920898"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5472074" y="2419287"/>
            <a:ext cx="2756306"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вклад обучающего примера размазан по миллиардам весов: такой записи не существует</a:t>
            </a:r>
          </a:p>
        </p:txBody>
      </p:sp>
      <p:sp>
        <p:nvSpPr>
          <p:cNvPr id="21" name="Right Arrow 20"/>
          <p:cNvSpPr/>
          <p:nvPr/>
        </p:nvSpPr>
        <p:spPr>
          <a:xfrm>
            <a:off x="8356396" y="2844949"/>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676436" y="2373567"/>
            <a:ext cx="2920898"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758732" y="2419287"/>
            <a:ext cx="2756306"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поиск по базе, обратный поиск по изображению, архив</a:t>
            </a:r>
          </a:p>
        </p:txBody>
      </p:sp>
      <p:sp>
        <p:nvSpPr>
          <p:cNvPr id="24" name="TextBox 23"/>
          <p:cNvSpPr txBox="1"/>
          <p:nvPr/>
        </p:nvSpPr>
        <p:spPr>
          <a:xfrm>
            <a:off x="502920" y="3627228"/>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3. Постоянство объекта</a:t>
            </a:r>
          </a:p>
        </p:txBody>
      </p:sp>
      <p:sp>
        <p:nvSpPr>
          <p:cNvPr id="25" name="Rounded Rectangle 24"/>
          <p:cNvSpPr/>
          <p:nvPr/>
        </p:nvSpPr>
        <p:spPr>
          <a:xfrm>
            <a:off x="2011680" y="3590652"/>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3618084"/>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3663804"/>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персонаж, товар или интерфейс узнаваем во всей серии</a:t>
            </a:r>
          </a:p>
        </p:txBody>
      </p:sp>
      <p:sp>
        <p:nvSpPr>
          <p:cNvPr id="28" name="Right Arrow 27"/>
          <p:cNvSpPr/>
          <p:nvPr/>
        </p:nvSpPr>
        <p:spPr>
          <a:xfrm>
            <a:off x="5069738" y="3972763"/>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389778" y="3618084"/>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5472074" y="3663804"/>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понятия «тот же самый» в модели нет; связность деградирует с длиной</a:t>
            </a:r>
          </a:p>
        </p:txBody>
      </p:sp>
      <p:sp>
        <p:nvSpPr>
          <p:cNvPr id="31" name="Right Arrow 30"/>
          <p:cNvSpPr/>
          <p:nvPr/>
        </p:nvSpPr>
        <p:spPr>
          <a:xfrm>
            <a:off x="8356396" y="3972763"/>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76436" y="3618084"/>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8758732" y="3663804"/>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идентичность держат снаружи модели</a:t>
            </a:r>
          </a:p>
        </p:txBody>
      </p:sp>
      <p:sp>
        <p:nvSpPr>
          <p:cNvPr id="34" name="TextBox 33"/>
          <p:cNvSpPr txBox="1"/>
          <p:nvPr/>
        </p:nvSpPr>
        <p:spPr>
          <a:xfrm>
            <a:off x="502920" y="4638339"/>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4. Нужное уже в записи</a:t>
            </a:r>
          </a:p>
        </p:txBody>
      </p:sp>
      <p:sp>
        <p:nvSpPr>
          <p:cNvPr id="35" name="Rounded Rectangle 34"/>
          <p:cNvSpPr/>
          <p:nvPr/>
        </p:nvSpPr>
        <p:spPr>
          <a:xfrm>
            <a:off x="2011680" y="4601763"/>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6" name="Rounded Rectangle 35"/>
          <p:cNvSpPr/>
          <p:nvPr/>
        </p:nvSpPr>
        <p:spPr>
          <a:xfrm>
            <a:off x="2103120" y="4629195"/>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2185416" y="4674915"/>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нужное записано, но читается плохо</a:t>
            </a:r>
          </a:p>
        </p:txBody>
      </p:sp>
      <p:sp>
        <p:nvSpPr>
          <p:cNvPr id="38" name="Right Arrow 37"/>
          <p:cNvSpPr/>
          <p:nvPr/>
        </p:nvSpPr>
        <p:spPr>
          <a:xfrm>
            <a:off x="5069738" y="4983875"/>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5389778" y="4629195"/>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0" name="TextBox 39"/>
          <p:cNvSpPr txBox="1"/>
          <p:nvPr/>
        </p:nvSpPr>
        <p:spPr>
          <a:xfrm>
            <a:off x="5472074" y="4674915"/>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модель добавит то, чего не было, и так же убедительно</a:t>
            </a:r>
          </a:p>
        </p:txBody>
      </p:sp>
      <p:sp>
        <p:nvSpPr>
          <p:cNvPr id="41" name="Right Arrow 40"/>
          <p:cNvSpPr/>
          <p:nvPr/>
        </p:nvSpPr>
        <p:spPr>
          <a:xfrm>
            <a:off x="8356396" y="4983875"/>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8676436" y="4629195"/>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3" name="TextBox 42"/>
          <p:cNvSpPr txBox="1"/>
          <p:nvPr/>
        </p:nvSpPr>
        <p:spPr>
          <a:xfrm>
            <a:off x="8758732" y="4674915"/>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разделение источников, шумоподавление, сверхразрешение</a:t>
            </a:r>
          </a:p>
        </p:txBody>
      </p:sp>
      <p:sp>
        <p:nvSpPr>
          <p:cNvPr id="44" name="TextBox 43"/>
          <p:cNvSpPr txBox="1"/>
          <p:nvPr/>
        </p:nvSpPr>
        <p:spPr>
          <a:xfrm>
            <a:off x="502920" y="557629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Один и тот же разбор на каждый критерий: признак задачи → почему метод её не берёт → чем работать вместо</a:t>
            </a: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Делл'Аква и соавт., «Navigating the Jagged Technological Frontier», SSRN 4573321, 18.09.2023 (полевой опыт с Boston Consulting Group)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Почему критерии пишут до начала работы</a:t>
            </a:r>
          </a:p>
        </p:txBody>
      </p:sp>
      <p:sp>
        <p:nvSpPr>
          <p:cNvPr id="4" name="Rounded Rectangle 3"/>
          <p:cNvSpPr/>
          <p:nvPr/>
        </p:nvSpPr>
        <p:spPr>
          <a:xfrm>
            <a:off x="502920" y="1335024"/>
            <a:ext cx="3618890" cy="2135210"/>
          </a:xfrm>
          <a:prstGeom prst="roundRect">
            <a:avLst>
              <a:gd name="adj" fmla="val 1427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ВНУТРИ КРУГА ЗАДАЧ, КОТОРЫЙ МОДЕЛЬ ТЯНЕТ</a:t>
            </a:r>
          </a:p>
        </p:txBody>
      </p:sp>
      <p:sp>
        <p:nvSpPr>
          <p:cNvPr id="6" name="TextBox 5"/>
          <p:cNvSpPr txBox="1"/>
          <p:nvPr/>
        </p:nvSpPr>
        <p:spPr>
          <a:xfrm>
            <a:off x="640080" y="1932846"/>
            <a:ext cx="3344570" cy="766497"/>
          </a:xfrm>
          <a:prstGeom prst="rect">
            <a:avLst/>
          </a:prstGeom>
          <a:noFill/>
        </p:spPr>
        <p:txBody>
          <a:bodyPr wrap="square" lIns="0" rIns="0" tIns="0" bIns="0" anchor="t">
            <a:spAutoFit/>
          </a:bodyPr>
          <a:lstStyle/>
          <a:p>
            <a:pPr algn="l">
              <a:lnSpc>
                <a:spcPct val="108000"/>
              </a:lnSpc>
            </a:pPr>
            <a:r>
              <a:rPr sz="2150" b="1" i="0">
                <a:solidFill>
                  <a:srgbClr val="21295C"/>
                </a:solidFill>
                <a:latin typeface="Arial"/>
              </a:rPr>
              <a:t>на 12,2 % больше задач и на 25,1 % быстрее</a:t>
            </a:r>
          </a:p>
        </p:txBody>
      </p:sp>
      <p:sp>
        <p:nvSpPr>
          <p:cNvPr id="7" name="TextBox 6"/>
          <p:cNvSpPr txBox="1"/>
          <p:nvPr/>
        </p:nvSpPr>
        <p:spPr>
          <a:xfrm>
            <a:off x="640080" y="269934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работавших без модели, при более высоком качестве — крупный выигрыш по меркам полевых опытов</a:t>
            </a:r>
          </a:p>
        </p:txBody>
      </p:sp>
      <p:sp>
        <p:nvSpPr>
          <p:cNvPr id="8" name="Rounded Rectangle 7"/>
          <p:cNvSpPr/>
          <p:nvPr/>
        </p:nvSpPr>
        <p:spPr>
          <a:xfrm>
            <a:off x="4286402" y="1335024"/>
            <a:ext cx="3618890" cy="2135210"/>
          </a:xfrm>
          <a:prstGeom prst="roundRect">
            <a:avLst>
              <a:gd name="adj" fmla="val 1427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НА ЭТОЙ ЗАДАЧЕ</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19 процентных пунктов</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единица названа вслух: это разница ДОЛЕЙ верных решений, а не процентов от процента</a:t>
            </a:r>
          </a:p>
        </p:txBody>
      </p:sp>
      <p:sp>
        <p:nvSpPr>
          <p:cNvPr id="12" name="Rounded Rectangle 11"/>
          <p:cNvSpPr/>
          <p:nvPr/>
        </p:nvSpPr>
        <p:spPr>
          <a:xfrm>
            <a:off x="8069884" y="1335024"/>
            <a:ext cx="3618890" cy="2135210"/>
          </a:xfrm>
          <a:prstGeom prst="roundRect">
            <a:avLst>
              <a:gd name="adj" fmla="val 1427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ОТСЮДА ПРАВИЛО</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критерии пишутся до начала работы</a:t>
            </a:r>
          </a:p>
        </p:txBody>
      </p:sp>
      <p:sp>
        <p:nvSpPr>
          <p:cNvPr id="15" name="TextBox 14"/>
          <p:cNvSpPr txBox="1"/>
          <p:nvPr/>
        </p:nvSpPr>
        <p:spPr>
          <a:xfrm>
            <a:off x="8207044"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границу применимости изнутри задачи не видно; результат меряется по секундомеру и по доле верных решений</a:t>
            </a:r>
          </a:p>
        </p:txBody>
      </p:sp>
      <p:sp>
        <p:nvSpPr>
          <p:cNvPr id="16" name="Rectangle 15"/>
          <p:cNvSpPr/>
          <p:nvPr/>
        </p:nvSpPr>
        <p:spPr>
          <a:xfrm>
            <a:off x="754380" y="4324089"/>
            <a:ext cx="10682935" cy="50292"/>
          </a:xfrm>
          <a:prstGeom prst="rect">
            <a:avLst/>
          </a:prstGeom>
          <a:solidFill>
            <a:srgbClr val="1C7293"/>
          </a:solidFill>
          <a:ln>
            <a:noFill/>
          </a:ln>
          <a:effectLst/>
        </p:spPr>
        <p:txBody>
          <a:bodyPr rtlCol="0" anchor="ctr"/>
          <a:lstStyle/>
          <a:p>
            <a:pPr algn="ctr"/>
          </a:p>
        </p:txBody>
      </p:sp>
      <p:sp>
        <p:nvSpPr>
          <p:cNvPr id="17" name="TextBox 16"/>
          <p:cNvSpPr txBox="1"/>
          <p:nvPr/>
        </p:nvSpPr>
        <p:spPr>
          <a:xfrm>
            <a:off x="388620" y="441095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50</a:t>
            </a:r>
          </a:p>
        </p:txBody>
      </p:sp>
      <p:sp>
        <p:nvSpPr>
          <p:cNvPr id="18" name="TextBox 17"/>
          <p:cNvSpPr txBox="1"/>
          <p:nvPr/>
        </p:nvSpPr>
        <p:spPr>
          <a:xfrm>
            <a:off x="11071555" y="441095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90</a:t>
            </a:r>
          </a:p>
        </p:txBody>
      </p:sp>
      <p:sp>
        <p:nvSpPr>
          <p:cNvPr id="19" name="Rectangle 18"/>
          <p:cNvSpPr/>
          <p:nvPr/>
        </p:nvSpPr>
        <p:spPr>
          <a:xfrm>
            <a:off x="836676" y="4243621"/>
            <a:ext cx="37033" cy="211226"/>
          </a:xfrm>
          <a:prstGeom prst="rect">
            <a:avLst/>
          </a:prstGeom>
          <a:solidFill>
            <a:srgbClr val="FFFFFF"/>
          </a:solidFill>
          <a:ln>
            <a:noFill/>
          </a:ln>
          <a:effectLst/>
        </p:spPr>
        <p:txBody>
          <a:bodyPr rtlCol="0" anchor="ctr"/>
          <a:lstStyle/>
          <a:p>
            <a:pPr algn="ctr"/>
          </a:p>
        </p:txBody>
      </p:sp>
      <p:sp>
        <p:nvSpPr>
          <p:cNvPr id="20" name="Rectangle 19"/>
          <p:cNvSpPr/>
          <p:nvPr/>
        </p:nvSpPr>
        <p:spPr>
          <a:xfrm>
            <a:off x="910742" y="4243621"/>
            <a:ext cx="37033" cy="211226"/>
          </a:xfrm>
          <a:prstGeom prst="rect">
            <a:avLst/>
          </a:prstGeom>
          <a:solidFill>
            <a:srgbClr val="FFFFFF"/>
          </a:solidFill>
          <a:ln>
            <a:noFill/>
          </a:ln>
          <a:effectLst/>
        </p:spPr>
        <p:txBody>
          <a:bodyPr rtlCol="0" anchor="ctr"/>
          <a:lstStyle/>
          <a:p>
            <a:pPr algn="ctr"/>
          </a:p>
        </p:txBody>
      </p:sp>
      <p:sp>
        <p:nvSpPr>
          <p:cNvPr id="21" name="Rectangle 20"/>
          <p:cNvSpPr/>
          <p:nvPr/>
        </p:nvSpPr>
        <p:spPr>
          <a:xfrm>
            <a:off x="3525697" y="4159497"/>
            <a:ext cx="50292" cy="1645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1686534" y="365311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60</a:t>
            </a:r>
          </a:p>
          <a:p>
            <a:pPr algn="ctr">
              <a:lnSpc>
                <a:spcPct val="110000"/>
              </a:lnSpc>
            </a:pPr>
            <a:r>
              <a:rPr sz="1200" b="0" i="0">
                <a:solidFill>
                  <a:srgbClr val="21295C"/>
                </a:solidFill>
                <a:latin typeface="Arial"/>
              </a:rPr>
              <a:t>с моделью</a:t>
            </a:r>
          </a:p>
        </p:txBody>
      </p:sp>
      <p:sp>
        <p:nvSpPr>
          <p:cNvPr id="23" name="Rectangle 22"/>
          <p:cNvSpPr/>
          <p:nvPr/>
        </p:nvSpPr>
        <p:spPr>
          <a:xfrm>
            <a:off x="6070701" y="4374381"/>
            <a:ext cx="50292" cy="16459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4231538" y="4630413"/>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70</a:t>
            </a:r>
          </a:p>
          <a:p>
            <a:pPr algn="ctr">
              <a:lnSpc>
                <a:spcPct val="110000"/>
              </a:lnSpc>
            </a:pPr>
            <a:r>
              <a:rPr sz="1200" b="0" i="0">
                <a:solidFill>
                  <a:srgbClr val="21295C"/>
                </a:solidFill>
                <a:latin typeface="Arial"/>
              </a:rPr>
              <a:t>с моделью и обучением работе с запросами</a:t>
            </a:r>
          </a:p>
        </p:txBody>
      </p:sp>
      <p:sp>
        <p:nvSpPr>
          <p:cNvPr id="25" name="Rectangle 24"/>
          <p:cNvSpPr/>
          <p:nvPr/>
        </p:nvSpPr>
        <p:spPr>
          <a:xfrm>
            <a:off x="9760957" y="4159497"/>
            <a:ext cx="50292" cy="164592"/>
          </a:xfrm>
          <a:prstGeom prst="rect">
            <a:avLst/>
          </a:prstGeom>
          <a:solidFill>
            <a:srgbClr val="065A82"/>
          </a:solidFill>
          <a:ln>
            <a:noFill/>
          </a:ln>
          <a:effectLst/>
        </p:spPr>
        <p:txBody>
          <a:bodyPr rtlCol="0" anchor="ctr"/>
          <a:lstStyle/>
          <a:p>
            <a:pPr algn="ctr"/>
          </a:p>
        </p:txBody>
      </p:sp>
      <p:sp>
        <p:nvSpPr>
          <p:cNvPr id="26" name="TextBox 25"/>
          <p:cNvSpPr txBox="1"/>
          <p:nvPr/>
        </p:nvSpPr>
        <p:spPr>
          <a:xfrm>
            <a:off x="7921793" y="365311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84,5</a:t>
            </a:r>
          </a:p>
          <a:p>
            <a:pPr algn="ctr">
              <a:lnSpc>
                <a:spcPct val="110000"/>
              </a:lnSpc>
            </a:pPr>
            <a:r>
              <a:rPr sz="1200" b="0" i="0">
                <a:solidFill>
                  <a:srgbClr val="21295C"/>
                </a:solidFill>
                <a:latin typeface="Arial"/>
              </a:rPr>
              <a:t>без модели</a:t>
            </a:r>
          </a:p>
        </p:txBody>
      </p:sp>
      <p:sp>
        <p:nvSpPr>
          <p:cNvPr id="27" name="TextBox 26"/>
          <p:cNvSpPr txBox="1"/>
          <p:nvPr/>
        </p:nvSpPr>
        <p:spPr>
          <a:xfrm>
            <a:off x="502920" y="515508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верных решений на одной и той же задаче · задача за пределами круга; 758 консультантов, три условия</a:t>
            </a:r>
          </a:p>
        </p:txBody>
      </p:sp>
      <p:sp>
        <p:nvSpPr>
          <p:cNvPr id="28" name="Rounded Rectangle 27"/>
          <p:cNvSpPr/>
          <p:nvPr/>
        </p:nvSpPr>
        <p:spPr>
          <a:xfrm>
            <a:off x="374904" y="5465979"/>
            <a:ext cx="11441887" cy="77022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557419"/>
            <a:ext cx="11112703" cy="6787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Вред приходит из невидимости границы, а качество самого инструмента тут ни при чём.</a:t>
            </a:r>
            <a:r>
              <a:rPr sz="1500" b="0" i="0">
                <a:solidFill>
                  <a:srgbClr val="21295C"/>
                </a:solidFill>
                <a:latin typeface="Arial"/>
              </a:rPr>
              <a:t> Задача за пределами круга внешне ничем не отличалась от остальных восемнадцати.</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Делл'Аква и соавт., «Navigating the Jagged Technological Frontier», SSRN 4573321, 18.09.2023 (полевой опыт с Boston Consulting Group)</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Пэн против METR: та же работа, измерения расходятся в знаке</a:t>
            </a:r>
          </a:p>
        </p:txBody>
      </p:sp>
      <p:sp>
        <p:nvSpPr>
          <p:cNvPr id="4" name="Rounded Rectangle 3"/>
          <p:cNvSpPr/>
          <p:nvPr/>
        </p:nvSpPr>
        <p:spPr>
          <a:xfrm>
            <a:off x="502920"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МЕЖДУ ЗАМЕРОМ И САМООЦЕНКОЙ</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39 процентных пунктов самообмана</a:t>
            </a:r>
          </a:p>
        </p:txBody>
      </p:sp>
      <p:sp>
        <p:nvSpPr>
          <p:cNvPr id="7" name="TextBox 6"/>
          <p:cNvSpPr txBox="1"/>
          <p:nvPr/>
        </p:nvSpPr>
        <p:spPr>
          <a:xfrm>
            <a:off x="640080"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между «на 19 % медленнее» по секундомеру и «уверен, что на 20 % быстрее» после работы</a:t>
            </a:r>
          </a:p>
        </p:txBody>
      </p:sp>
      <p:sp>
        <p:nvSpPr>
          <p:cNvPr id="8" name="Rounded Rectangle 7"/>
          <p:cNvSpPr/>
          <p:nvPr/>
        </p:nvSpPr>
        <p:spPr>
          <a:xfrm>
            <a:off x="6178143"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ДЕЛАТЬ ВМЕСТО ОПРОСА САМООЦЕНКИ</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30–50 своих типовых задач и секундомер</a:t>
            </a:r>
          </a:p>
        </p:txBody>
      </p:sp>
      <p:sp>
        <p:nvSpPr>
          <p:cNvPr id="11" name="TextBox 10"/>
          <p:cNvSpPr txBox="1"/>
          <p:nvPr/>
        </p:nvSpPr>
        <p:spPr>
          <a:xfrm>
            <a:off x="6315303"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для картинок это дешевле, чем для текста: оценка одного образца занимает секунды</a:t>
            </a:r>
          </a:p>
        </p:txBody>
      </p:sp>
      <p:sp>
        <p:nvSpPr>
          <p:cNvPr id="12" name="Rectangle 11"/>
          <p:cNvSpPr/>
          <p:nvPr/>
        </p:nvSpPr>
        <p:spPr>
          <a:xfrm>
            <a:off x="754380" y="3956299"/>
            <a:ext cx="10682935" cy="50292"/>
          </a:xfrm>
          <a:prstGeom prst="rect">
            <a:avLst/>
          </a:prstGeom>
          <a:solidFill>
            <a:srgbClr val="1C7293"/>
          </a:solidFill>
          <a:ln>
            <a:noFill/>
          </a:ln>
          <a:effectLst/>
        </p:spPr>
        <p:txBody>
          <a:bodyPr rtlCol="0" anchor="ctr"/>
          <a:lstStyle/>
          <a:p>
            <a:pPr algn="ctr"/>
          </a:p>
        </p:txBody>
      </p:sp>
      <p:sp>
        <p:nvSpPr>
          <p:cNvPr id="13" name="Rectangle 12"/>
          <p:cNvSpPr/>
          <p:nvPr/>
        </p:nvSpPr>
        <p:spPr>
          <a:xfrm>
            <a:off x="6070701" y="3700267"/>
            <a:ext cx="50292" cy="562356"/>
          </a:xfrm>
          <a:prstGeom prst="rect">
            <a:avLst/>
          </a:prstGeom>
          <a:solidFill>
            <a:srgbClr val="556070"/>
          </a:solidFill>
          <a:ln>
            <a:noFill/>
          </a:ln>
          <a:effectLst/>
        </p:spPr>
        <p:txBody>
          <a:bodyPr rtlCol="0" anchor="ctr"/>
          <a:lstStyle/>
          <a:p>
            <a:pPr algn="ctr"/>
          </a:p>
        </p:txBody>
      </p:sp>
      <p:sp>
        <p:nvSpPr>
          <p:cNvPr id="14" name="TextBox 13"/>
          <p:cNvSpPr txBox="1"/>
          <p:nvPr/>
        </p:nvSpPr>
        <p:spPr>
          <a:xfrm>
            <a:off x="5775807" y="4230619"/>
            <a:ext cx="640080" cy="201168"/>
          </a:xfrm>
          <a:prstGeom prst="rect">
            <a:avLst/>
          </a:prstGeom>
          <a:noFill/>
        </p:spPr>
        <p:txBody>
          <a:bodyPr wrap="square" lIns="0" rIns="0" tIns="0" bIns="0" anchor="t">
            <a:spAutoFit/>
          </a:bodyPr>
          <a:lstStyle/>
          <a:p>
            <a:pPr algn="ctr">
              <a:lnSpc>
                <a:spcPct val="100000"/>
              </a:lnSpc>
            </a:pPr>
            <a:r>
              <a:rPr sz="1200" b="0" i="1">
                <a:solidFill>
                  <a:srgbClr val="556070"/>
                </a:solidFill>
                <a:latin typeface="Arial"/>
              </a:rPr>
              <a:t>ноль</a:t>
            </a:r>
          </a:p>
        </p:txBody>
      </p:sp>
      <p:sp>
        <p:nvSpPr>
          <p:cNvPr id="15" name="TextBox 14"/>
          <p:cNvSpPr txBox="1"/>
          <p:nvPr/>
        </p:nvSpPr>
        <p:spPr>
          <a:xfrm>
            <a:off x="388620"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-60</a:t>
            </a:r>
          </a:p>
        </p:txBody>
      </p:sp>
      <p:sp>
        <p:nvSpPr>
          <p:cNvPr id="16" name="TextBox 15"/>
          <p:cNvSpPr txBox="1"/>
          <p:nvPr/>
        </p:nvSpPr>
        <p:spPr>
          <a:xfrm>
            <a:off x="11071555"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60</a:t>
            </a:r>
          </a:p>
        </p:txBody>
      </p:sp>
      <p:sp>
        <p:nvSpPr>
          <p:cNvPr id="17" name="Rectangle 16"/>
          <p:cNvSpPr/>
          <p:nvPr/>
        </p:nvSpPr>
        <p:spPr>
          <a:xfrm>
            <a:off x="1336994" y="3791707"/>
            <a:ext cx="50292" cy="164592"/>
          </a:xfrm>
          <a:prstGeom prst="rect">
            <a:avLst/>
          </a:prstGeom>
          <a:solidFill>
            <a:srgbClr val="065A82"/>
          </a:solidFill>
          <a:ln>
            <a:noFill/>
          </a:ln>
          <a:effectLst/>
        </p:spPr>
        <p:txBody>
          <a:bodyPr rtlCol="0" anchor="ctr"/>
          <a:lstStyle/>
          <a:p>
            <a:pPr algn="ctr"/>
          </a:p>
        </p:txBody>
      </p:sp>
      <p:sp>
        <p:nvSpPr>
          <p:cNvPr id="18" name="TextBox 17"/>
          <p:cNvSpPr txBox="1"/>
          <p:nvPr/>
        </p:nvSpPr>
        <p:spPr>
          <a:xfrm>
            <a:off x="243555" y="3285324"/>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-55,8</a:t>
            </a:r>
          </a:p>
          <a:p>
            <a:pPr algn="ctr">
              <a:lnSpc>
                <a:spcPct val="110000"/>
              </a:lnSpc>
            </a:pPr>
            <a:r>
              <a:rPr sz="1200" b="0" i="0">
                <a:solidFill>
                  <a:srgbClr val="21295C"/>
                </a:solidFill>
                <a:latin typeface="Arial"/>
              </a:rPr>
              <a:t>Пэн: с нуля</a:t>
            </a:r>
          </a:p>
        </p:txBody>
      </p:sp>
      <p:sp>
        <p:nvSpPr>
          <p:cNvPr id="19" name="Rectangle 18"/>
          <p:cNvSpPr/>
          <p:nvPr/>
        </p:nvSpPr>
        <p:spPr>
          <a:xfrm>
            <a:off x="2762196" y="4006591"/>
            <a:ext cx="50292" cy="164592"/>
          </a:xfrm>
          <a:prstGeom prst="rect">
            <a:avLst/>
          </a:prstGeom>
          <a:solidFill>
            <a:srgbClr val="065A82"/>
          </a:solidFill>
          <a:ln>
            <a:noFill/>
          </a:ln>
          <a:effectLst/>
        </p:spPr>
        <p:txBody>
          <a:bodyPr rtlCol="0" anchor="ctr"/>
          <a:lstStyle/>
          <a:p>
            <a:pPr algn="ctr"/>
          </a:p>
        </p:txBody>
      </p:sp>
      <p:sp>
        <p:nvSpPr>
          <p:cNvPr id="20" name="TextBox 19"/>
          <p:cNvSpPr txBox="1"/>
          <p:nvPr/>
        </p:nvSpPr>
        <p:spPr>
          <a:xfrm>
            <a:off x="1668757" y="4262623"/>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-39</a:t>
            </a:r>
          </a:p>
          <a:p>
            <a:pPr algn="ctr">
              <a:lnSpc>
                <a:spcPct val="110000"/>
              </a:lnSpc>
            </a:pPr>
            <a:r>
              <a:rPr sz="1200" b="0" i="0">
                <a:solidFill>
                  <a:srgbClr val="21295C"/>
                </a:solidFill>
                <a:latin typeface="Arial"/>
              </a:rPr>
              <a:t>34 экономиста</a:t>
            </a:r>
          </a:p>
        </p:txBody>
      </p:sp>
      <p:sp>
        <p:nvSpPr>
          <p:cNvPr id="21" name="Rectangle 20"/>
          <p:cNvSpPr/>
          <p:nvPr/>
        </p:nvSpPr>
        <p:spPr>
          <a:xfrm>
            <a:off x="4034698" y="3791707"/>
            <a:ext cx="50292" cy="164592"/>
          </a:xfrm>
          <a:prstGeom prst="rect">
            <a:avLst/>
          </a:prstGeom>
          <a:solidFill>
            <a:srgbClr val="065A82"/>
          </a:solidFill>
          <a:ln>
            <a:noFill/>
          </a:ln>
          <a:effectLst/>
        </p:spPr>
        <p:txBody>
          <a:bodyPr rtlCol="0" anchor="ctr"/>
          <a:lstStyle/>
          <a:p>
            <a:pPr algn="ctr"/>
          </a:p>
        </p:txBody>
      </p:sp>
      <p:sp>
        <p:nvSpPr>
          <p:cNvPr id="22" name="TextBox 21"/>
          <p:cNvSpPr txBox="1"/>
          <p:nvPr/>
        </p:nvSpPr>
        <p:spPr>
          <a:xfrm>
            <a:off x="2941259" y="3285324"/>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-24</a:t>
            </a:r>
          </a:p>
          <a:p>
            <a:pPr algn="ctr">
              <a:lnSpc>
                <a:spcPct val="110000"/>
              </a:lnSpc>
            </a:pPr>
            <a:r>
              <a:rPr sz="1200" b="0" i="0">
                <a:solidFill>
                  <a:srgbClr val="21295C"/>
                </a:solidFill>
                <a:latin typeface="Arial"/>
              </a:rPr>
              <a:t>сами, до работы</a:t>
            </a:r>
          </a:p>
        </p:txBody>
      </p:sp>
      <p:sp>
        <p:nvSpPr>
          <p:cNvPr id="23" name="Rectangle 22"/>
          <p:cNvSpPr/>
          <p:nvPr/>
        </p:nvSpPr>
        <p:spPr>
          <a:xfrm>
            <a:off x="4374032" y="4006591"/>
            <a:ext cx="50292" cy="16459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3280592" y="4262623"/>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-20</a:t>
            </a:r>
          </a:p>
          <a:p>
            <a:pPr algn="ctr">
              <a:lnSpc>
                <a:spcPct val="110000"/>
              </a:lnSpc>
            </a:pPr>
            <a:r>
              <a:rPr sz="1200" b="0" i="0">
                <a:solidFill>
                  <a:srgbClr val="21295C"/>
                </a:solidFill>
                <a:latin typeface="Arial"/>
              </a:rPr>
              <a:t>сами, после</a:t>
            </a:r>
          </a:p>
        </p:txBody>
      </p:sp>
      <p:sp>
        <p:nvSpPr>
          <p:cNvPr id="25" name="Rectangle 24"/>
          <p:cNvSpPr/>
          <p:nvPr/>
        </p:nvSpPr>
        <p:spPr>
          <a:xfrm>
            <a:off x="7682537" y="3791707"/>
            <a:ext cx="50292" cy="1645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6589097" y="3285324"/>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19</a:t>
            </a:r>
          </a:p>
          <a:p>
            <a:pPr algn="ctr">
              <a:lnSpc>
                <a:spcPct val="110000"/>
              </a:lnSpc>
            </a:pPr>
            <a:r>
              <a:rPr sz="1200" b="0" i="0">
                <a:solidFill>
                  <a:srgbClr val="21295C"/>
                </a:solidFill>
                <a:latin typeface="Arial"/>
              </a:rPr>
              <a:t>METR: зрелая база</a:t>
            </a:r>
          </a:p>
        </p:txBody>
      </p:sp>
      <p:sp>
        <p:nvSpPr>
          <p:cNvPr id="27" name="TextBox 26"/>
          <p:cNvSpPr txBox="1"/>
          <p:nvPr/>
        </p:nvSpPr>
        <p:spPr>
          <a:xfrm>
            <a:off x="502920" y="47872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времени на задачу: влево — быстрее, вправо — медленнее · та же работа без инструмента, принятая за ноль</a:t>
            </a:r>
          </a:p>
        </p:txBody>
      </p:sp>
      <p:sp>
        <p:nvSpPr>
          <p:cNvPr id="28" name="TextBox 27"/>
          <p:cNvSpPr txBox="1"/>
          <p:nvPr/>
        </p:nvSpPr>
        <p:spPr>
          <a:xfrm>
            <a:off x="502920" y="50799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Четыре прогноза слева от нуля, единственный секундомер в зрелой базе — справа</a:t>
            </a:r>
          </a:p>
        </p:txBody>
      </p:sp>
      <p:sp>
        <p:nvSpPr>
          <p:cNvPr id="29" name="Rounded Rectangle 28"/>
          <p:cNvSpPr/>
          <p:nvPr/>
        </p:nvSpPr>
        <p:spPr>
          <a:xfrm>
            <a:off x="374904" y="5386357"/>
            <a:ext cx="11441887" cy="84985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477797"/>
            <a:ext cx="11112703" cy="758410"/>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Разницу создаёт база, в которой работают.</a:t>
            </a:r>
            <a:r>
              <a:rPr sz="1100" b="0" i="0">
                <a:solidFill>
                  <a:srgbClr val="21295C"/>
                </a:solidFill>
                <a:latin typeface="Arial"/>
              </a:rPr>
              <a:t> У Пэна 95 разработчиков писали HTTP-сервер с нуля; у METR 16 опытных разработчиков брали 246 настоящих задач в своих репозиториях — свыше миллиона строк кода каждый.</a:t>
            </a:r>
          </a:p>
          <a:p>
            <a:pPr algn="l">
              <a:lnSpc>
                <a:spcPct val="126000"/>
              </a:lnSpc>
              <a:spcBef>
                <a:spcPts val="700"/>
              </a:spcBef>
            </a:pPr>
            <a:r>
              <a:rPr sz="1100" b="0" i="0">
                <a:solidFill>
                  <a:srgbClr val="21295C"/>
                </a:solidFill>
                <a:latin typeface="Arial"/>
              </a:rPr>
              <a:t/>
            </a:r>
            <a:r>
              <a:rPr sz="1100" b="1" i="0">
                <a:solidFill>
                  <a:srgbClr val="21295C"/>
                </a:solidFill>
                <a:latin typeface="Arial"/>
              </a:rPr>
              <a:t>За точность прогноза платили:</a:t>
            </a:r>
            <a:r>
              <a:rPr sz="1100" b="0" i="0">
                <a:solidFill>
                  <a:srgbClr val="21295C"/>
                </a:solidFill>
                <a:latin typeface="Arial"/>
              </a:rPr>
              <a:t> вознаграждение считалось от величины промаха. Не помогло ни одной из четырёх групп.</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Пэн и соавт., «The Impact of AI on Developer Productivity: Evidence from GitHub Copilot», arXiv:2302.06590, 13.02.2023</a:t>
            </a:r>
            <a:r>
              <a:rPr sz="1200" b="0" i="1">
                <a:solidFill>
                  <a:srgbClr val="1C7293"/>
                </a:solidFill>
                <a:latin typeface="Arial"/>
              </a:rPr>
              <a:t> · </a:t>
            </a:r>
            <a:r>
              <a:rPr sz="1200" b="0" i="1">
                <a:solidFill>
                  <a:srgbClr val="1C7293"/>
                </a:solidFill>
                <a:latin typeface="Arial"/>
              </a:rPr>
              <a:t>METR, «Measuring the Impact of Early-2025 AI on Experienced Open-Source Developer Productivity», 10.07.2025, arXiv:2507.09089</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Обрушение разнообразия: Цзюй и Арал, 2 234 участника — и режим, при котором его нет</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ПРОИЗВОДИТЕЛЬНОСТЬ В ПОЛЕВОМ ОПЫТЕ</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50 % больше объявлений В РАСЧЁТЕ НА УЧАСТНИКА</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единица названа: на общий объём выпуска команды это число без пересчёта не переносится</a:t>
            </a:r>
          </a:p>
        </p:txBody>
      </p:sp>
      <p:sp>
        <p:nvSpPr>
          <p:cNvPr id="8" name="TextBox 7"/>
          <p:cNvSpPr txBox="1"/>
          <p:nvPr/>
        </p:nvSpPr>
        <p:spPr>
          <a:xfrm>
            <a:off x="502920" y="2720233"/>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 лаборатории, 453</a:t>
            </a:r>
          </a:p>
        </p:txBody>
      </p:sp>
      <p:sp>
        <p:nvSpPr>
          <p:cNvPr id="9" name="Rounded Rectangle 8"/>
          <p:cNvSpPr/>
          <p:nvPr/>
        </p:nvSpPr>
        <p:spPr>
          <a:xfrm>
            <a:off x="2011680" y="2683657"/>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71108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75680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время на задание меньше на 40 %, качество выше на 18 %</a:t>
            </a:r>
          </a:p>
        </p:txBody>
      </p:sp>
      <p:sp>
        <p:nvSpPr>
          <p:cNvPr id="12" name="Rounded Rectangle 11"/>
          <p:cNvSpPr/>
          <p:nvPr/>
        </p:nvSpPr>
        <p:spPr>
          <a:xfrm>
            <a:off x="5298338" y="271108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5380634" y="275680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черновик ужался вдвое, правка выросла вдвое</a:t>
            </a:r>
          </a:p>
        </p:txBody>
      </p:sp>
      <p:sp>
        <p:nvSpPr>
          <p:cNvPr id="14" name="Rounded Rectangle 13"/>
          <p:cNvSpPr/>
          <p:nvPr/>
        </p:nvSpPr>
        <p:spPr>
          <a:xfrm>
            <a:off x="8493556" y="271108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8575852" y="275680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предрегистрированный рандомизированный опыт</a:t>
            </a:r>
          </a:p>
        </p:txBody>
      </p:sp>
      <p:sp>
        <p:nvSpPr>
          <p:cNvPr id="16" name="TextBox 15"/>
          <p:cNvSpPr txBox="1"/>
          <p:nvPr/>
        </p:nvSpPr>
        <p:spPr>
          <a:xfrm>
            <a:off x="502920" y="349794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 поле, 2 234</a:t>
            </a:r>
          </a:p>
        </p:txBody>
      </p:sp>
      <p:sp>
        <p:nvSpPr>
          <p:cNvPr id="17" name="Rounded Rectangle 16"/>
          <p:cNvSpPr/>
          <p:nvPr/>
        </p:nvSpPr>
        <p:spPr>
          <a:xfrm>
            <a:off x="2011680" y="3461364"/>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488796"/>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534516"/>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11 024 объявления, проверка на реальных показах</a:t>
            </a:r>
          </a:p>
        </p:txBody>
      </p:sp>
      <p:sp>
        <p:nvSpPr>
          <p:cNvPr id="20" name="Rounded Rectangle 19"/>
          <p:cNvSpPr/>
          <p:nvPr/>
        </p:nvSpPr>
        <p:spPr>
          <a:xfrm>
            <a:off x="5298338" y="3488796"/>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5380634" y="3534516"/>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на 50 % больше объявлений на участника</a:t>
            </a:r>
          </a:p>
        </p:txBody>
      </p:sp>
      <p:sp>
        <p:nvSpPr>
          <p:cNvPr id="22" name="Rounded Rectangle 21"/>
          <p:cNvSpPr/>
          <p:nvPr/>
        </p:nvSpPr>
        <p:spPr>
          <a:xfrm>
            <a:off x="8493556" y="3488796"/>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575852" y="3534516"/>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текст выигрывает, изображение проигрывает</a:t>
            </a:r>
          </a:p>
        </p:txBody>
      </p:sp>
      <p:sp>
        <p:nvSpPr>
          <p:cNvPr id="24" name="TextBox 23"/>
          <p:cNvSpPr txBox="1"/>
          <p:nvPr/>
        </p:nvSpPr>
        <p:spPr>
          <a:xfrm>
            <a:off x="502920" y="4202494"/>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опыта на одном и том же удешевлении пробы: в лаборатории на типовых текстах и в поле на творческой задаче</a:t>
            </a:r>
          </a:p>
        </p:txBody>
      </p:sp>
      <p:sp>
        <p:nvSpPr>
          <p:cNvPr id="25" name="Rounded Rectangle 24"/>
          <p:cNvSpPr/>
          <p:nvPr/>
        </p:nvSpPr>
        <p:spPr>
          <a:xfrm>
            <a:off x="374904" y="4508950"/>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600390"/>
            <a:ext cx="11112703" cy="163581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Одно и то же удешевление пробы, два режима работы человека с моделью.</a:t>
            </a:r>
            <a:r>
              <a:rPr sz="1500" b="0" i="0">
                <a:solidFill>
                  <a:srgbClr val="21295C"/>
                </a:solidFill>
                <a:latin typeface="Arial"/>
              </a:rPr>
              <a:t> Лабораторный опыт мерил время и качество по судейским оценкам, полевой — поведением настоящей аудитории, без судей вовсе. Границу между частями работы оба нашли одинаково зазубренной: текстовая часть у команд с моделью выигрывает, изобразительная проигрывает.</a:t>
            </a:r>
          </a:p>
        </p:txBody>
      </p:sp>
      <p:sp>
        <p:nvSpPr>
          <p:cNvPr id="27" name="Rectangle 26"/>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Ной С., Чжан У., Science 381(6654):187–192, 14.07.2023, doi:10.1126/science.adh2586 (рабочая версия MIT — 02.03.2023)</a:t>
            </a:r>
            <a:r>
              <a:rPr sz="1200" b="0" i="1">
                <a:solidFill>
                  <a:srgbClr val="1C7293"/>
                </a:solidFill>
                <a:latin typeface="Arial"/>
              </a:rPr>
              <a:t> · </a:t>
            </a:r>
            <a:r>
              <a:rPr sz="1200" b="0" i="1">
                <a:solidFill>
                  <a:srgbClr val="1C7293"/>
                </a:solidFill>
                <a:latin typeface="Arial"/>
              </a:rPr>
              <a:t>Цзюй Х., Арал С., «Collaborating with AI Agents», arXiv:2503.18238, MIT IDE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Два режима работы человека с моделью, и разброс схлопывается только в одном</a:t>
            </a:r>
          </a:p>
        </p:txBody>
      </p:sp>
      <p:sp>
        <p:nvSpPr>
          <p:cNvPr id="4" name="TextBox 3"/>
          <p:cNvSpPr txBox="1"/>
          <p:nvPr/>
        </p:nvSpPr>
        <p:spPr>
          <a:xfrm>
            <a:off x="502920" y="1371600"/>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Разброс схлопывается</a:t>
            </a:r>
          </a:p>
        </p:txBody>
      </p:sp>
      <p:sp>
        <p:nvSpPr>
          <p:cNvPr id="5" name="Rounded Rectangle 4"/>
          <p:cNvSpPr/>
          <p:nvPr/>
        </p:nvSpPr>
        <p:spPr>
          <a:xfrm>
            <a:off x="2011680" y="1335024"/>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человек делегирует работу целиком и говорит с моделью как с собеседником</a:t>
            </a:r>
          </a:p>
        </p:txBody>
      </p:sp>
      <p:sp>
        <p:nvSpPr>
          <p:cNvPr id="8" name="Rounded Rectangle 7"/>
          <p:cNvSpPr/>
          <p:nvPr/>
        </p:nvSpPr>
        <p:spPr>
          <a:xfrm>
            <a:off x="5298338" y="1362456"/>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5380634" y="1408176"/>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работы выходят заметно более похожими друг на друга</a:t>
            </a:r>
          </a:p>
        </p:txBody>
      </p:sp>
      <p:sp>
        <p:nvSpPr>
          <p:cNvPr id="10" name="Rounded Rectangle 9"/>
          <p:cNvSpPr/>
          <p:nvPr/>
        </p:nvSpPr>
        <p:spPr>
          <a:xfrm>
            <a:off x="8493556" y="1362456"/>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8575852" y="1408176"/>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если ценность в отклонении от центра ожиданий — режим её уничтожает</a:t>
            </a:r>
          </a:p>
        </p:txBody>
      </p:sp>
      <p:sp>
        <p:nvSpPr>
          <p:cNvPr id="12" name="TextBox 11"/>
          <p:cNvSpPr txBox="1"/>
          <p:nvPr/>
        </p:nvSpPr>
        <p:spPr>
          <a:xfrm>
            <a:off x="502920" y="2382711"/>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Не схлопывается</a:t>
            </a:r>
          </a:p>
        </p:txBody>
      </p:sp>
      <p:sp>
        <p:nvSpPr>
          <p:cNvPr id="13" name="Rounded Rectangle 12"/>
          <p:cNvSpPr/>
          <p:nvPr/>
        </p:nvSpPr>
        <p:spPr>
          <a:xfrm>
            <a:off x="2011680" y="2346135"/>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Rounded Rectangle 13"/>
          <p:cNvSpPr/>
          <p:nvPr/>
        </p:nvSpPr>
        <p:spPr>
          <a:xfrm>
            <a:off x="2103120" y="2373567"/>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2185416" y="2419287"/>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человек ставит задачу, разбирает результат, ставит следующую</a:t>
            </a:r>
          </a:p>
        </p:txBody>
      </p:sp>
      <p:sp>
        <p:nvSpPr>
          <p:cNvPr id="16" name="Rounded Rectangle 15"/>
          <p:cNvSpPr/>
          <p:nvPr/>
        </p:nvSpPr>
        <p:spPr>
          <a:xfrm>
            <a:off x="5298338" y="2373567"/>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5380634" y="2419287"/>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обрушения разнообразия в опыте не наблюдается вовсе</a:t>
            </a:r>
          </a:p>
        </p:txBody>
      </p:sp>
      <p:sp>
        <p:nvSpPr>
          <p:cNvPr id="18" name="Rounded Rectangle 17"/>
          <p:cNvSpPr/>
          <p:nvPr/>
        </p:nvSpPr>
        <p:spPr>
          <a:xfrm>
            <a:off x="8493556" y="2373567"/>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8575852" y="2419287"/>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выше и производительность, и качество по всем измерениям сразу</a:t>
            </a:r>
          </a:p>
        </p:txBody>
      </p:sp>
      <p:sp>
        <p:nvSpPr>
          <p:cNvPr id="20" name="TextBox 19"/>
          <p:cNvSpPr txBox="1"/>
          <p:nvPr/>
        </p:nvSpPr>
        <p:spPr>
          <a:xfrm>
            <a:off x="502920" y="332067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Одно и то же удешевление пробы, два режима работы человека с моделью</a:t>
            </a:r>
          </a:p>
        </p:txBody>
      </p:sp>
      <p:sp>
        <p:nvSpPr>
          <p:cNvPr id="21" name="Rounded Rectangle 20"/>
          <p:cNvSpPr/>
          <p:nvPr/>
        </p:nvSpPr>
        <p:spPr>
          <a:xfrm>
            <a:off x="374904" y="3627126"/>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3718566"/>
            <a:ext cx="11112703" cy="251764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Режим выбирает человек. Это единственный рычаг на кадре.</a:t>
            </a:r>
            <a:r>
              <a:rPr sz="1500" b="0" i="0">
                <a:solidFill>
                  <a:srgbClr val="21295C"/>
                </a:solidFill>
                <a:latin typeface="Arial"/>
              </a:rPr>
              <a:t> Первый режим называется делегированием, второй — задачно-ориентированным взаимодействием. Различает их то, кто держит решение; инструмент в обоих один и тот же.</a:t>
            </a:r>
          </a:p>
          <a:p>
            <a:pPr algn="l">
              <a:lnSpc>
                <a:spcPct val="126000"/>
              </a:lnSpc>
              <a:spcBef>
                <a:spcPts val="700"/>
              </a:spcBef>
            </a:pPr>
            <a:r>
              <a:rPr sz="1500" b="0" i="0">
                <a:solidFill>
                  <a:srgbClr val="21295C"/>
                </a:solidFill>
                <a:latin typeface="Arial"/>
              </a:rPr>
              <a:t/>
            </a:r>
            <a:r>
              <a:rPr sz="1500" b="1" i="0">
                <a:solidFill>
                  <a:srgbClr val="21295C"/>
                </a:solidFill>
                <a:latin typeface="Arial"/>
              </a:rPr>
              <a:t>Мера разнообразия у авторов опыта такая:</a:t>
            </a:r>
            <a:r>
              <a:rPr sz="1500" b="0" i="0">
                <a:solidFill>
                  <a:srgbClr val="21295C"/>
                </a:solidFill>
                <a:latin typeface="Arial"/>
              </a:rPr>
              <a:t> семьдесят тысяч вариантов из одной модели менее разнообразны, чем семьдесят вариантов от семидесяти разных людей.</a:t>
            </a:r>
          </a:p>
        </p:txBody>
      </p:sp>
      <p:sp>
        <p:nvSpPr>
          <p:cNvPr id="23" name="Rectangle 2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Ной С., Чжан У., Science 381(6654):187–192, 14.07.2023, doi:10.1126/science.adh2586 (рабочая версия MIT — 02.03.2023)</a:t>
            </a:r>
            <a:r>
              <a:rPr sz="1200" b="0" i="1">
                <a:solidFill>
                  <a:srgbClr val="1C7293"/>
                </a:solidFill>
                <a:latin typeface="Arial"/>
              </a:rPr>
              <a:t> · </a:t>
            </a:r>
            <a:r>
              <a:rPr sz="1200" b="0" i="1">
                <a:solidFill>
                  <a:srgbClr val="1C7293"/>
                </a:solidFill>
                <a:latin typeface="Arial"/>
              </a:rPr>
              <a:t>Цзюй Х., Арал С., «Collaborating with AI Agents», arXiv:2503.18238, MIT IDE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Счёт сквозной линии: тринадцать разборов и три неравные части</a:t>
            </a:r>
          </a:p>
        </p:txBody>
      </p:sp>
      <p:sp>
        <p:nvSpPr>
          <p:cNvPr id="4" name="Rounded Rectangle 3"/>
          <p:cNvSpPr/>
          <p:nvPr/>
        </p:nvSpPr>
        <p:spPr>
          <a:xfrm>
            <a:off x="502920" y="1335024"/>
            <a:ext cx="5571439"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РАЗОБРАНО ПОДРОБНО ЗА ВЕЧЕР</a:t>
            </a:r>
          </a:p>
        </p:txBody>
      </p:sp>
      <p:sp>
        <p:nvSpPr>
          <p:cNvPr id="6" name="TextBox 5"/>
          <p:cNvSpPr txBox="1"/>
          <p:nvPr/>
        </p:nvSpPr>
        <p:spPr>
          <a:xfrm>
            <a:off x="640080" y="1725375"/>
            <a:ext cx="529711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13 случаев</a:t>
            </a:r>
          </a:p>
        </p:txBody>
      </p:sp>
      <p:sp>
        <p:nvSpPr>
          <p:cNvPr id="7" name="TextBox 6"/>
          <p:cNvSpPr txBox="1"/>
          <p:nvPr/>
        </p:nvSpPr>
        <p:spPr>
          <a:xfrm>
            <a:off x="640080" y="2152374"/>
            <a:ext cx="529711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плюс один правовой разбор вне этого знаменателя. Сложение сходится: 7 + 3 + 3 = 13</a:t>
            </a:r>
          </a:p>
        </p:txBody>
      </p:sp>
      <p:sp>
        <p:nvSpPr>
          <p:cNvPr id="8" name="Rounded Rectangle 7"/>
          <p:cNvSpPr/>
          <p:nvPr/>
        </p:nvSpPr>
        <p:spPr>
          <a:xfrm>
            <a:off x="374904" y="2803461"/>
            <a:ext cx="5827471" cy="3373002"/>
          </a:xfrm>
          <a:prstGeom prst="roundRect">
            <a:avLst>
              <a:gd name="adj" fmla="val 903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894901"/>
            <a:ext cx="5498287" cy="3341306"/>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Семь, где обе стороны измерены в одной единице:</a:t>
            </a:r>
            <a:r>
              <a:rPr sz="1100" b="0" i="0">
                <a:solidFill>
                  <a:srgbClr val="21295C"/>
                </a:solidFill>
                <a:latin typeface="Arial"/>
              </a:rPr>
              <a:t> цена изображения · микродрамы · ролик к финалу НБА · рождественская кампания · редакция, выпускавшая машинные статьи · российские издания · дубляж.</a:t>
            </a:r>
          </a:p>
          <a:p>
            <a:pPr algn="l">
              <a:lnSpc>
                <a:spcPct val="126000"/>
              </a:lnSpc>
              <a:spcBef>
                <a:spcPts val="700"/>
              </a:spcBef>
            </a:pPr>
            <a:r>
              <a:rPr sz="1100" b="0" i="0">
                <a:solidFill>
                  <a:srgbClr val="21295C"/>
                </a:solidFill>
                <a:latin typeface="Arial"/>
              </a:rPr>
              <a:t/>
            </a:r>
            <a:r>
              <a:rPr sz="1100" b="1" i="0">
                <a:solidFill>
                  <a:srgbClr val="21295C"/>
                </a:solidFill>
                <a:latin typeface="Arial"/>
              </a:rPr>
              <a:t>Три, где базы со стороны классики нет, и это названо вслух:</a:t>
            </a:r>
            <a:r>
              <a:rPr sz="1100" b="0" i="0">
                <a:solidFill>
                  <a:srgbClr val="21295C"/>
                </a:solidFill>
                <a:latin typeface="Arial"/>
              </a:rPr>
              <a:t> сколько стоил тот же баннер у штатного дизайнера · сколько часов записи требует банкирование голоса по протоколу клиники · сколько стоит классическая доработка под купол.</a:t>
            </a:r>
          </a:p>
          <a:p>
            <a:pPr algn="l">
              <a:lnSpc>
                <a:spcPct val="126000"/>
              </a:lnSpc>
              <a:spcBef>
                <a:spcPts val="700"/>
              </a:spcBef>
            </a:pPr>
            <a:r>
              <a:rPr sz="1100" b="0" i="0">
                <a:solidFill>
                  <a:srgbClr val="21295C"/>
                </a:solidFill>
                <a:latin typeface="Arial"/>
              </a:rPr>
              <a:t/>
            </a:r>
            <a:r>
              <a:rPr sz="1100" b="1" i="0">
                <a:solidFill>
                  <a:srgbClr val="21295C"/>
                </a:solidFill>
                <a:latin typeface="Arial"/>
              </a:rPr>
              <a:t>Три, где классического режима не существует вовсе:</a:t>
            </a:r>
            <a:r>
              <a:rPr sz="1100" b="0" i="0">
                <a:solidFill>
                  <a:srgbClr val="21295C"/>
                </a:solidFill>
                <a:latin typeface="Arial"/>
              </a:rPr>
              <a:t> перегородка сделана оптимизацией без обученной модели · голос актёра в классическом режиме либо отсутствует, либо чужой · у свитков альтернатива одна, не прочитать никогда.</a:t>
            </a:r>
          </a:p>
          <a:p>
            <a:pPr algn="l">
              <a:lnSpc>
                <a:spcPct val="126000"/>
              </a:lnSpc>
              <a:spcBef>
                <a:spcPts val="700"/>
              </a:spcBef>
            </a:pPr>
            <a:r>
              <a:rPr sz="1100" b="0" i="0">
                <a:solidFill>
                  <a:srgbClr val="21295C"/>
                </a:solidFill>
                <a:latin typeface="Arial"/>
              </a:rPr>
              <a:t/>
            </a:r>
            <a:r>
              <a:rPr sz="1100" b="1" i="0">
                <a:solidFill>
                  <a:srgbClr val="21295C"/>
                </a:solidFill>
                <a:latin typeface="Arial"/>
              </a:rPr>
              <a:t>Ноль — удобная база:</a:t>
            </a:r>
            <a:r>
              <a:rPr sz="1100" b="0" i="0">
                <a:solidFill>
                  <a:srgbClr val="21295C"/>
                </a:solidFill>
                <a:latin typeface="Arial"/>
              </a:rPr>
              <a:t> он всегда даёт впечатляющее число и всегда неверен, потому что до модели работу кто-то делал. Седьмой разбор пограничный и назван: у дубляжа первый классический режим посчитан, второй, субтитры, назван без числа.</a:t>
            </a:r>
          </a:p>
        </p:txBody>
      </p:sp>
      <p:sp>
        <p:nvSpPr>
          <p:cNvPr id="10" name="Rounded Rectangle 9"/>
          <p:cNvSpPr/>
          <p:nvPr/>
        </p:nvSpPr>
        <p:spPr>
          <a:xfrm>
            <a:off x="6385255" y="1335024"/>
            <a:ext cx="5303520" cy="2889503"/>
          </a:xfrm>
          <a:prstGeom prst="roundRect">
            <a:avLst>
              <a:gd name="adj" fmla="val 10548"/>
            </a:avLst>
          </a:prstGeom>
          <a:solidFill>
            <a:srgbClr val="F4F7FA"/>
          </a:solidFill>
          <a:ln w="19050">
            <a:solidFill>
              <a:srgbClr val="1C7293"/>
            </a:solidFill>
          </a:ln>
          <a:effectLst/>
        </p:spPr>
        <p:txBody>
          <a:bodyPr rtlCol="0" anchor="ctr"/>
          <a:lstStyle/>
          <a:p>
            <a:pPr algn="ctr"/>
          </a:p>
        </p:txBody>
      </p:sp>
      <p:pic>
        <p:nvPicPr>
          <p:cNvPr id="11" name="Picture 10" descr="s95-schyot-skvoznoy-linii.png"/>
          <p:cNvPicPr>
            <a:picLocks noChangeAspect="1"/>
          </p:cNvPicPr>
          <p:nvPr/>
        </p:nvPicPr>
        <p:blipFill>
          <a:blip r:embed="rId2"/>
          <a:stretch>
            <a:fillRect/>
          </a:stretch>
        </p:blipFill>
        <p:spPr>
          <a:xfrm>
            <a:off x="6522415" y="1472184"/>
            <a:ext cx="5029200" cy="2615184"/>
          </a:xfrm>
          <a:prstGeom prst="rect">
            <a:avLst/>
          </a:prstGeom>
        </p:spPr>
      </p:pic>
      <p:sp>
        <p:nvSpPr>
          <p:cNvPr id="12" name="Rectangle 11"/>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Подешевела не работа — подешевела ошибка</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1950</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2040</a:t>
            </a:r>
          </a:p>
        </p:txBody>
      </p:sp>
      <p:sp>
        <p:nvSpPr>
          <p:cNvPr id="7" name="Rectangle 6"/>
          <p:cNvSpPr/>
          <p:nvPr/>
        </p:nvSpPr>
        <p:spPr>
          <a:xfrm>
            <a:off x="836676" y="1925531"/>
            <a:ext cx="37033" cy="211226"/>
          </a:xfrm>
          <a:prstGeom prst="rect">
            <a:avLst/>
          </a:prstGeom>
          <a:solidFill>
            <a:srgbClr val="FFFFFF"/>
          </a:solidFill>
          <a:ln>
            <a:noFill/>
          </a:ln>
          <a:effectLst/>
        </p:spPr>
        <p:txBody>
          <a:bodyPr rtlCol="0" anchor="ctr"/>
          <a:lstStyle/>
          <a:p>
            <a:pPr algn="ctr"/>
          </a:p>
        </p:txBody>
      </p:sp>
      <p:sp>
        <p:nvSpPr>
          <p:cNvPr id="8" name="Rectangle 7"/>
          <p:cNvSpPr/>
          <p:nvPr/>
        </p:nvSpPr>
        <p:spPr>
          <a:xfrm>
            <a:off x="910742" y="1925531"/>
            <a:ext cx="37033" cy="211226"/>
          </a:xfrm>
          <a:prstGeom prst="rect">
            <a:avLst/>
          </a:prstGeom>
          <a:solidFill>
            <a:srgbClr val="FFFFFF"/>
          </a:solidFill>
          <a:ln>
            <a:noFill/>
          </a:ln>
          <a:effectLst/>
        </p:spPr>
        <p:txBody>
          <a:bodyPr rtlCol="0" anchor="ctr"/>
          <a:lstStyle/>
          <a:p>
            <a:pPr algn="ctr"/>
          </a:p>
        </p:txBody>
      </p:sp>
      <p:sp>
        <p:nvSpPr>
          <p:cNvPr id="9" name="Rectangle 8"/>
          <p:cNvSpPr/>
          <p:nvPr/>
        </p:nvSpPr>
        <p:spPr>
          <a:xfrm>
            <a:off x="2224918" y="1841406"/>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546399" y="1335024"/>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1961</a:t>
            </a:r>
          </a:p>
          <a:p>
            <a:pPr algn="ctr">
              <a:lnSpc>
                <a:spcPct val="110000"/>
              </a:lnSpc>
            </a:pPr>
            <a:r>
              <a:rPr sz="1200" b="0" i="0">
                <a:solidFill>
                  <a:srgbClr val="21295C"/>
                </a:solidFill>
                <a:latin typeface="Arial"/>
              </a:rPr>
              <a:t>Первое из семи удешевлений</a:t>
            </a:r>
          </a:p>
        </p:txBody>
      </p:sp>
      <p:sp>
        <p:nvSpPr>
          <p:cNvPr id="11" name="Rectangle 10"/>
          <p:cNvSpPr/>
          <p:nvPr/>
        </p:nvSpPr>
        <p:spPr>
          <a:xfrm>
            <a:off x="9124706" y="2056290"/>
            <a:ext cx="50292" cy="164592"/>
          </a:xfrm>
          <a:prstGeom prst="rect">
            <a:avLst/>
          </a:prstGeom>
          <a:solidFill>
            <a:srgbClr val="F0AB00"/>
          </a:solidFill>
          <a:ln>
            <a:noFill/>
          </a:ln>
          <a:effectLst/>
        </p:spPr>
        <p:txBody>
          <a:bodyPr rtlCol="0" anchor="ctr"/>
          <a:lstStyle/>
          <a:p>
            <a:pPr algn="ctr"/>
          </a:p>
        </p:txBody>
      </p:sp>
      <p:sp>
        <p:nvSpPr>
          <p:cNvPr id="12" name="TextBox 11"/>
          <p:cNvSpPr txBox="1"/>
          <p:nvPr/>
        </p:nvSpPr>
        <p:spPr>
          <a:xfrm>
            <a:off x="6353388" y="2312322"/>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2022</a:t>
            </a:r>
          </a:p>
          <a:p>
            <a:pPr algn="ctr">
              <a:lnSpc>
                <a:spcPct val="110000"/>
              </a:lnSpc>
            </a:pPr>
            <a:r>
              <a:rPr sz="1200" b="0" i="0">
                <a:solidFill>
                  <a:srgbClr val="21295C"/>
                </a:solidFill>
                <a:latin typeface="Arial"/>
              </a:rPr>
              <a:t>Подешевело другое звено — ошибочная проба</a:t>
            </a:r>
          </a:p>
        </p:txBody>
      </p:sp>
      <p:sp>
        <p:nvSpPr>
          <p:cNvPr id="13" name="TextBox 12"/>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год · семь удешевлений, каждый раз исчезала операция посредничества</a:t>
            </a:r>
          </a:p>
        </p:txBody>
      </p:sp>
      <p:sp>
        <p:nvSpPr>
          <p:cNvPr id="14" name="TextBox 13"/>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первое приближение замысла стало стоить доли цента: сделать 70 000 вариантов и выбрать один стало дешевле, чем сделать один и попасть</a:t>
            </a:r>
          </a:p>
        </p:txBody>
      </p:sp>
      <p:sp>
        <p:nvSpPr>
          <p:cNvPr id="15" name="Rounded Rectangle 14"/>
          <p:cNvSpPr/>
          <p:nvPr/>
        </p:nvSpPr>
        <p:spPr>
          <a:xfrm>
            <a:off x="502920" y="3527496"/>
            <a:ext cx="5437479" cy="2708711"/>
          </a:xfrm>
          <a:prstGeom prst="roundRect">
            <a:avLst>
              <a:gd name="adj" fmla="val 11252"/>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Выиграли те, кто научился выбирать</a:t>
            </a:r>
          </a:p>
        </p:txBody>
      </p:sp>
      <p:sp>
        <p:nvSpPr>
          <p:cNvPr id="17" name="TextBox 16"/>
          <p:cNvSpPr txBox="1"/>
          <p:nvPr/>
        </p:nvSpPr>
        <p:spPr>
          <a:xfrm>
            <a:off x="667512" y="4039123"/>
            <a:ext cx="5108295" cy="2041636"/>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один человек с 300–400 генерациями и двумя днями собирает ролик для финала НБА</a:t>
            </a:r>
          </a:p>
          <a:p>
            <a:pPr algn="l">
              <a:lnSpc>
                <a:spcPct val="126000"/>
              </a:lnSpc>
            </a:pPr>
            <a:r>
              <a:rPr sz="1100" b="0" i="0">
                <a:solidFill>
                  <a:srgbClr val="21295C"/>
                </a:solidFill>
                <a:latin typeface="Arial"/>
              </a:rPr>
              <a:t>• пятеро специалистов и тридцать дней дают рождественскую кампанию мирового бренда</a:t>
            </a:r>
          </a:p>
          <a:p>
            <a:pPr algn="l">
              <a:lnSpc>
                <a:spcPct val="126000"/>
              </a:lnSpc>
            </a:pPr>
            <a:r>
              <a:rPr sz="1100" b="0" i="0">
                <a:solidFill>
                  <a:srgbClr val="21295C"/>
                </a:solidFill>
                <a:latin typeface="Arial"/>
              </a:rPr>
              <a:t>• отрасль микродрам переходит на новый способ производства за один год</a:t>
            </a:r>
          </a:p>
          <a:p>
            <a:pPr algn="l">
              <a:lnSpc>
                <a:spcPct val="126000"/>
              </a:lnSpc>
            </a:pPr>
            <a:r>
              <a:rPr sz="1100" b="0" i="0">
                <a:solidFill>
                  <a:srgbClr val="21295C"/>
                </a:solidFill>
                <a:latin typeface="Arial"/>
              </a:rPr>
              <a:t>• человек, потерявший голос, получает его обратно по минутам старых записей</a:t>
            </a:r>
          </a:p>
          <a:p>
            <a:pPr algn="l">
              <a:lnSpc>
                <a:spcPct val="126000"/>
              </a:lnSpc>
            </a:pPr>
            <a:r>
              <a:rPr sz="1100" b="0" i="0">
                <a:solidFill>
                  <a:srgbClr val="21295C"/>
                </a:solidFill>
                <a:latin typeface="Arial"/>
              </a:rPr>
              <a:t>• свиток, который нельзя было развернуть, прочитан целиком</a:t>
            </a:r>
          </a:p>
        </p:txBody>
      </p:sp>
      <p:sp>
        <p:nvSpPr>
          <p:cNvPr id="18" name="Rounded Rectangle 17"/>
          <p:cNvSpPr/>
          <p:nvPr/>
        </p:nvSpPr>
        <p:spPr>
          <a:xfrm>
            <a:off x="6251295" y="3527496"/>
            <a:ext cx="5437479" cy="2708711"/>
          </a:xfrm>
          <a:prstGeom prst="roundRect">
            <a:avLst>
              <a:gd name="adj" fmla="val 11252"/>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Платят те, кого раньше узнавали бесплатно</a:t>
            </a:r>
          </a:p>
        </p:txBody>
      </p:sp>
      <p:sp>
        <p:nvSpPr>
          <p:cNvPr id="20" name="TextBox 19"/>
          <p:cNvSpPr txBox="1"/>
          <p:nvPr/>
        </p:nvSpPr>
        <p:spPr>
          <a:xfrm>
            <a:off x="6415887" y="4039123"/>
            <a:ext cx="5108295" cy="2041636"/>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голос, лицо, подпись и манера перестали подтверждать себя сами</a:t>
            </a:r>
          </a:p>
          <a:p>
            <a:pPr algn="l">
              <a:lnSpc>
                <a:spcPct val="126000"/>
              </a:lnSpc>
            </a:pPr>
            <a:r>
              <a:rPr sz="1250" b="0" i="0">
                <a:solidFill>
                  <a:srgbClr val="21295C"/>
                </a:solidFill>
                <a:latin typeface="Arial"/>
              </a:rPr>
              <a:t>• подтверждение стало стоить денег и труда проверяющего</a:t>
            </a:r>
          </a:p>
          <a:p>
            <a:pPr algn="l">
              <a:lnSpc>
                <a:spcPct val="126000"/>
              </a:lnSpc>
            </a:pPr>
            <a:r>
              <a:rPr sz="1250" b="0" i="0">
                <a:solidFill>
                  <a:srgbClr val="21295C"/>
                </a:solidFill>
                <a:latin typeface="Arial"/>
              </a:rPr>
              <a:t>• распознаватель, дающий 99,9 % верных решений на знакомой модели, на незнакомой даёт 51,9 % — монету</a:t>
            </a:r>
          </a:p>
          <a:p>
            <a:pPr algn="l">
              <a:lnSpc>
                <a:spcPct val="126000"/>
              </a:lnSpc>
            </a:pPr>
            <a:r>
              <a:rPr sz="1250" b="0" i="0">
                <a:solidFill>
                  <a:srgbClr val="21295C"/>
                </a:solidFill>
                <a:latin typeface="Arial"/>
              </a:rPr>
              <a:t>• в редакциях с высокой долей машинных статей экспертов на 1 000 слов стало меньше на 22 %</a:t>
            </a:r>
          </a:p>
          <a:p>
            <a:pPr algn="l">
              <a:lnSpc>
                <a:spcPct val="126000"/>
              </a:lnSpc>
            </a:pPr>
            <a:r>
              <a:rPr sz="1250" b="0" i="0">
                <a:solidFill>
                  <a:srgbClr val="21295C"/>
                </a:solidFill>
                <a:latin typeface="Arial"/>
              </a:rPr>
              <a:t>• счёт за дешёвую ошибку выставлен, и выставлен не всем поровну</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65015" y="91440"/>
            <a:ext cx="7223759" cy="5435249"/>
          </a:xfrm>
          <a:prstGeom prst="roundRect">
            <a:avLst>
              <a:gd name="adj" fmla="val 5607"/>
            </a:avLst>
          </a:prstGeom>
          <a:solidFill>
            <a:srgbClr val="F4F7FA"/>
          </a:solidFill>
          <a:ln w="19050">
            <a:solidFill>
              <a:srgbClr val="1C7293"/>
            </a:solidFill>
          </a:ln>
          <a:effectLst/>
        </p:spPr>
        <p:txBody>
          <a:bodyPr rtlCol="0" anchor="ctr"/>
          <a:lstStyle/>
          <a:p>
            <a:pPr algn="ctr"/>
          </a:p>
        </p:txBody>
      </p:sp>
      <p:pic>
        <p:nvPicPr>
          <p:cNvPr id="4" name="Picture 3" descr="s97-hollywood-deepfake.jpg"/>
          <p:cNvPicPr>
            <a:picLocks noChangeAspect="1"/>
          </p:cNvPicPr>
          <p:nvPr/>
        </p:nvPicPr>
        <p:blipFill>
          <a:blip r:embed="rId2"/>
          <a:stretch>
            <a:fillRect/>
          </a:stretch>
        </p:blipFill>
        <p:spPr>
          <a:xfrm>
            <a:off x="4510735" y="137160"/>
            <a:ext cx="7132320" cy="5343809"/>
          </a:xfrm>
          <a:prstGeom prst="rect">
            <a:avLst/>
          </a:prstGeom>
        </p:spPr>
      </p:pic>
      <p:sp>
        <p:nvSpPr>
          <p:cNvPr id="5" name="TextBox 4"/>
          <p:cNvSpPr txBox="1"/>
          <p:nvPr/>
        </p:nvSpPr>
        <p:spPr>
          <a:xfrm>
            <a:off x="502920" y="365760"/>
            <a:ext cx="3651199"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Долг вперёд: Лекция 14</a:t>
            </a:r>
          </a:p>
        </p:txBody>
      </p:sp>
      <p:sp>
        <p:nvSpPr>
          <p:cNvPr id="6" name="Rounded Rectangle 5"/>
          <p:cNvSpPr/>
          <p:nvPr/>
        </p:nvSpPr>
        <p:spPr>
          <a:xfrm>
            <a:off x="502920" y="1335024"/>
            <a:ext cx="3651199" cy="2012613"/>
          </a:xfrm>
          <a:prstGeom prst="roundRect">
            <a:avLst>
              <a:gd name="adj" fmla="val 15144"/>
            </a:avLst>
          </a:prstGeom>
          <a:solidFill>
            <a:srgbClr val="F4F7FA"/>
          </a:solidFill>
          <a:ln w="15240">
            <a:solidFill>
              <a:srgbClr val="1C7293"/>
            </a:solidFill>
          </a:ln>
          <a:effectLst/>
        </p:spPr>
        <p:txBody>
          <a:bodyPr rtlCol="0" anchor="ctr"/>
          <a:lstStyle/>
          <a:p>
            <a:pPr algn="ctr"/>
          </a:p>
        </p:txBody>
      </p:sp>
      <p:sp>
        <p:nvSpPr>
          <p:cNvPr id="7" name="TextBox 6"/>
          <p:cNvSpPr txBox="1"/>
          <p:nvPr/>
        </p:nvSpPr>
        <p:spPr>
          <a:xfrm>
            <a:off x="640080" y="1472184"/>
            <a:ext cx="337687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ОСТАЁТСЯ ЗА КАДРОМ СЕГОДНЯ</a:t>
            </a:r>
          </a:p>
        </p:txBody>
      </p:sp>
      <p:sp>
        <p:nvSpPr>
          <p:cNvPr id="8" name="TextBox 7"/>
          <p:cNvSpPr txBox="1"/>
          <p:nvPr/>
        </p:nvSpPr>
        <p:spPr>
          <a:xfrm>
            <a:off x="640080" y="1725375"/>
            <a:ext cx="337687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подделка личности, голосовое мошенничество, обход проверок при найме, распознаватели внутри контура защиты</a:t>
            </a:r>
          </a:p>
        </p:txBody>
      </p:sp>
      <p:sp>
        <p:nvSpPr>
          <p:cNvPr id="9" name="TextBox 8"/>
          <p:cNvSpPr txBox="1"/>
          <p:nvPr/>
        </p:nvSpPr>
        <p:spPr>
          <a:xfrm>
            <a:off x="640080" y="2576747"/>
            <a:ext cx="337687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 атак, который появляется, когда подтверждение перестаёт быть бесплатным</a:t>
            </a:r>
          </a:p>
        </p:txBody>
      </p:sp>
      <p:sp>
        <p:nvSpPr>
          <p:cNvPr id="10" name="Rounded Rectangle 9"/>
          <p:cNvSpPr/>
          <p:nvPr/>
        </p:nvSpPr>
        <p:spPr>
          <a:xfrm>
            <a:off x="502920" y="3512229"/>
            <a:ext cx="3651199" cy="1799484"/>
          </a:xfrm>
          <a:prstGeom prst="roundRect">
            <a:avLst>
              <a:gd name="adj" fmla="val 16938"/>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640080" y="3649389"/>
            <a:ext cx="337687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КУДА ЭТО УХОДИТ</a:t>
            </a:r>
          </a:p>
        </p:txBody>
      </p:sp>
      <p:sp>
        <p:nvSpPr>
          <p:cNvPr id="12" name="TextBox 11"/>
          <p:cNvSpPr txBox="1"/>
          <p:nvPr/>
        </p:nvSpPr>
        <p:spPr>
          <a:xfrm>
            <a:off x="640080" y="3902581"/>
            <a:ext cx="337687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Лекция 14</a:t>
            </a:r>
          </a:p>
        </p:txBody>
      </p:sp>
      <p:sp>
        <p:nvSpPr>
          <p:cNvPr id="13" name="TextBox 12"/>
          <p:cNvSpPr txBox="1"/>
          <p:nvPr/>
        </p:nvSpPr>
        <p:spPr>
          <a:xfrm>
            <a:off x="640080" y="4329580"/>
            <a:ext cx="337687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там распознаватель вернётся элементом системы безопасности: пороги, цена ложной тревоги, человек, принимающий решение по подсказке</a:t>
            </a:r>
          </a:p>
        </p:txBody>
      </p:sp>
      <p:sp>
        <p:nvSpPr>
          <p:cNvPr id="14" name="Rounded Rectangle 13"/>
          <p:cNvSpPr/>
          <p:nvPr/>
        </p:nvSpPr>
        <p:spPr>
          <a:xfrm>
            <a:off x="374904" y="5490113"/>
            <a:ext cx="11441887" cy="74609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581553"/>
            <a:ext cx="11112703" cy="654654"/>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Исполнение перестало быть дефицитом, и это хорошая новость:</a:t>
            </a:r>
            <a:r>
              <a:rPr sz="1200" b="0" i="0">
                <a:solidFill>
                  <a:srgbClr val="21295C"/>
                </a:solidFill>
                <a:latin typeface="Arial"/>
              </a:rPr>
              <a:t> работа переехала на шаг, который не подешевел, и шаг этот называется отбором.</a:t>
            </a:r>
          </a:p>
          <a:p>
            <a:pPr algn="l">
              <a:lnSpc>
                <a:spcPct val="126000"/>
              </a:lnSpc>
              <a:spcBef>
                <a:spcPts val="700"/>
              </a:spcBef>
            </a:pPr>
            <a:r>
              <a:rPr sz="1650" b="0" i="0">
                <a:solidFill>
                  <a:srgbClr val="21295C"/>
                </a:solidFill>
                <a:latin typeface="Arial"/>
              </a:rPr>
              <a:t/>
            </a:r>
            <a:r>
              <a:rPr sz="1650" b="1" i="0">
                <a:solidFill>
                  <a:srgbClr val="21295C"/>
                </a:solidFill>
                <a:latin typeface="Arial"/>
              </a:rPr>
              <a:t>Вопросы</a:t>
            </a:r>
          </a:p>
        </p:txBody>
      </p:sp>
      <p:sp>
        <p:nvSpPr>
          <p:cNvPr id="16" name="Rectangle 15"/>
          <p:cNvSpPr/>
          <p:nvPr/>
        </p:nvSpPr>
        <p:spPr>
          <a:xfrm>
            <a:off x="502920" y="8201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