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она будет разобрана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он выстроен не по интересности, а по цене единицы</a:t>
            </a:r>
          </a:p>
          <a:p>
            <a:r>
              <a:t>выхода. Неподвижное изображение идёт первым, потому что его единица самая дешёвая из всех на</a:t>
            </a:r>
          </a:p>
          <a:p>
            <a:r>
              <a:t>два-три порядка: практика там самая зрелая, числа есть по обе стороны счёта, и именно на этой</a:t>
            </a:r>
          </a:p>
          <a:p>
            <a:r>
              <a:t>модальности уместно разобрать устройство метода на той глубине, которой он требует. Дальше цена</a:t>
            </a:r>
          </a:p>
          <a:p>
            <a:r>
              <a:t>единицы растёт по разделам на порядки, и вместе с ней растёт доля задач, которые модель не</a:t>
            </a:r>
          </a:p>
          <a:p>
            <a:r>
              <a:t>закрывает. К трёхмерной сцене мы придём туда, где устройство отличное, а случая с посчитанными</a:t>
            </a:r>
          </a:p>
          <a:p>
            <a:r>
              <a:t>обеими сторонами в открытых источниках нет ни одного, — и это будет сказано вслух, а не</a:t>
            </a:r>
          </a:p>
          <a:p>
            <a:r>
              <a:t>замазано 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a:t>
            </a:r>
          </a:p>
          <a:p>
            <a:r>
              <a:t>замыслом и носителем. Ксерография перенесла рисунок напрямую, и штат фильма составил примерно</a:t>
            </a:r>
          </a:p>
          <a:p>
            <a:r>
              <a:t>половину состава «Спящей красавицы» 1959 года при вдвое меньших стоимости и сроке. Одна деталь</a:t>
            </a:r>
          </a:p>
          <a:p>
            <a:r>
              <a:t>здесь говорит о природе таких переходов больше, чем сами числа: сюжет про девяносто девять</a:t>
            </a:r>
          </a:p>
          <a:p>
            <a:r>
              <a:t>пятнистых щенков выбрали потому, что новый способ сделал его выполнимым — вручную отрисовать все</a:t>
            </a:r>
          </a:p>
          <a:p>
            <a:r>
              <a:t>пятна было нереально. Инструмент определил содержание. И тут же уехало вправо: узнаваемое</a:t>
            </a:r>
          </a:p>
          <a:p>
            <a:r>
              <a:t>неряшливое начертание линии шестидесятых, контур печатался со всеми карандашными шероховатостями,</a:t>
            </a:r>
          </a:p>
          <a:p>
            <a:r>
              <a:t>и Уолт 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не из-за техники, а из-за урока, который переносится на</a:t>
            </a:r>
          </a:p>
          <a:p>
            <a:r>
              <a:t>сегодня без единой поправки. Алгоритм вырос из обработки сейсмических данных при поиске нефти,</a:t>
            </a:r>
          </a:p>
          <a:p>
            <a:r>
              <a:t>первый год применялся как точечная заплатка, а в 1998-м запись Шер «Believe» вывела экстремальные</a:t>
            </a:r>
          </a:p>
          <a:p>
            <a:r>
              <a:t>настройки в художественный приём. Инструмент, сделанный ради исправления брака, за один год стал</a:t>
            </a:r>
          </a:p>
          <a:p>
            <a:r>
              <a:t>источником нового звучания — и разговор «это обман слушателя» шёл дословно теми же словами,</a:t>
            </a:r>
          </a:p>
          <a:p>
            <a:r>
              <a:t>какими сегодня 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прошла путь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Здесь важно, что единица обеих сторон — именно готовая минута, а</a:t>
            </a:r>
          </a:p>
          <a:p>
            <a:r>
              <a:t>не час студийного времени: часовые ставки звукозаписи в эту бухгалтерию не складываются, и</a:t>
            </a:r>
          </a:p>
          <a:p>
            <a:r>
              <a:t>смешивать их нельзя.</a:t>
            </a:r>
          </a:p>
          <a:p>
            <a:r>
              <a:t/>
            </a:r>
          </a:p>
          <a:p>
            <a:r>
              <a:t>Выпуск микродрамы — это уже не отдельная операция, а целый продукт, и масштаб соответствующий.</a:t>
            </a:r>
          </a:p>
          <a:p>
            <a:r>
              <a:t>Короткий вертикальный сериальный выпуск обычным производством в Китае стоил свыше миллиона</a:t>
            </a:r>
          </a:p>
          <a:p>
            <a:r>
              <a:t>юаней, около ста тридцати семи тысяч долларов. С генеративным конвейером — пятьдесят—сто тысяч</a:t>
            </a:r>
          </a:p>
          <a:p>
            <a:r>
              <a:t>юаней, семь—четырнадцать тысяч долларов за выпуск. Падение в десять—двадцать раз. За восемь</a:t>
            </a:r>
          </a:p>
          <a:p>
            <a:r>
              <a:t>месяцев 2026 года вышло 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Это не случайность</a:t>
            </a:r>
          </a:p>
          <a:p>
            <a:r>
              <a:t>и не погрешность измерения, а закономерность, которая будет держать весь вечер. Чем дороже</a:t>
            </a:r>
          </a:p>
          <a:p>
            <a:r>
              <a:t>единица выхода, тем меньшую долю в её цене составляет та самая операция, которую модель</a:t>
            </a:r>
          </a:p>
          <a:p>
            <a:r>
              <a:t>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и это не оформительское решение, а</a:t>
            </a:r>
          </a:p>
          <a:p>
            <a:r>
              <a:t>необходимость: четыре цента и сто тридцать семь тысяч долларов на одной линейной шкале просто</a:t>
            </a:r>
          </a:p>
          <a:p>
            <a:r>
              <a:t>не помещаются — меньший столбец выродился бы в линию толщиной в волос. Лог-шкала позволяет</a:t>
            </a:r>
          </a:p>
          <a:p>
            <a:r>
              <a:t>увидеть то, ради чего кадр собран: все три пары отстоят друг от друга на сопоставимое</a:t>
            </a:r>
          </a:p>
          <a:p>
            <a:r>
              <a:t>расстояние, хотя абсолютные величины 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 окажется не одним дефицитом, а</a:t>
            </a:r>
          </a:p>
          <a:p>
            <a:r>
              <a:t>тремя адресами, по которым теперь уходит платёж, и каждый из них будет назван по имени в конце</a:t>
            </a:r>
          </a:p>
          <a:p>
            <a:r>
              <a:t>вечера: отбор, права, узнавание. Отбор — потому что пробовать стало бесплатно, а выбирать нет, и</a:t>
            </a:r>
          </a:p>
          <a:p>
            <a:r>
              <a:t>процедуры отбора раньше попросту не существовало: пробовали мало, потому что проба стоила денег.</a:t>
            </a:r>
          </a:p>
          <a:p>
            <a:r>
              <a:t>Права — потому что от того, чем обучена модель, зависит, что из её выхода вообще можно выпустить,</a:t>
            </a:r>
          </a:p>
          <a:p>
            <a:r>
              <a:t>и три крупные юрисдикции отвечают на это по-разному. Узнавание — потому что подпись, голос, лицо</a:t>
            </a:r>
          </a:p>
          <a:p>
            <a:r>
              <a:t>и 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не по типу инструмента, а по типу решения, которое надо принять.</a:t>
            </a:r>
          </a:p>
          <a:p>
            <a:r>
              <a:t>Разница существенная. Если резать по инструментам, получится список продуктов, который устареет</a:t>
            </a:r>
          </a:p>
          <a:p>
            <a:r>
              <a:t>к следующему семестру. Если резать по типу задачи, получится сетка, в которую новый продукт</a:t>
            </a:r>
          </a:p>
          <a:p>
            <a:r>
              <a:t>просто ложится клеткой, и это та форма знания, которая переживает смену поколений 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эта клетка — главный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модальностью не является —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a:t>
            </a:r>
          </a:p>
          <a:p>
            <a:r>
              <a:t>производству: право на голос исполнителя, происхождение обучающих данных, маркировка</a:t>
            </a:r>
          </a:p>
          <a:p>
            <a:r>
              <a:t>синтетического содержимого на выпуске. Граница проходит по предмету, а не по технологии, и это</a:t>
            </a:r>
          </a:p>
          <a:p>
            <a:r>
              <a:t>стоит проговорить до первого разбора, потому что иначе она кажется произвольной. Одна и та же</a:t>
            </a:r>
          </a:p>
          <a:p>
            <a:r>
              <a:t>модель клонирования голоса в этом вечере — инструмент, вернувший актёру возможность работать</a:t>
            </a:r>
          </a:p>
          <a:p>
            <a:r>
              <a:t>после того, как болезнь отняла у него голос; в разговоре о безопасности та же модель —</a:t>
            </a:r>
          </a:p>
          <a:p>
            <a:r>
              <a:t>инструмент телефонного мошенничества. Обе рамки верны одновременно, и ни одна не отменяет</a:t>
            </a:r>
          </a:p>
          <a:p>
            <a:r>
              <a:t>другую. Разбирать их вперемешку значит получить вечер, где после каждого измеренного выигрыша</a:t>
            </a:r>
          </a:p>
          <a:p>
            <a:r>
              <a:t>идёт страшная история, а после каждой страшной истории — оправдание, и ни одно из двух не</a:t>
            </a:r>
          </a:p>
          <a:p>
            <a:r>
              <a:t>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a:t>
            </a:r>
          </a:p>
          <a:p>
            <a:r>
              <a:t>моделей. Но у этой лекции есть и своё — то, чего в разговоре про языковые модели быть не</a:t>
            </a:r>
          </a:p>
          <a:p>
            <a:r>
              <a:t>могло: почему привычные рычаги управления выходом работают иначе или отсутствуют по</a:t>
            </a:r>
          </a:p>
          <a:p>
            <a:r>
              <a:t>построению. Маскирование запрещённых вариантов, гарантия формата на уровне декодирования,</a:t>
            </a:r>
          </a:p>
          <a:p>
            <a:r>
              <a:t>подкладывание источника истины — три приёма, на которых держится инженерная работа с языковой</a:t>
            </a:r>
          </a:p>
          <a:p>
            <a:r>
              <a:t>моделью, и каждый из трёх здесь либо устроен иначе, либо не существует вовсе. Это самая</a:t>
            </a:r>
          </a:p>
          <a:p>
            <a:r>
              <a:t>содержательная часть технического блока, и она целиком про границы переноса знания, которое</a:t>
            </a:r>
          </a:p>
          <a:p>
            <a:r>
              <a:t>аудитория уже имеет.</a:t>
            </a:r>
          </a:p>
          <a:p>
            <a:r>
              <a:t/>
            </a:r>
          </a:p>
          <a:p>
            <a:r>
              <a:t>Третий кусок — рынок труда целиком и обзор юрисдикций по странам. Это единственный пункт, где</a:t>
            </a:r>
          </a:p>
          <a:p>
            <a:r>
              <a:t>решение принято не по предмету, а по бюджету, и сказать это честнее, чем придумывать</a:t>
            </a:r>
          </a:p>
          <a:p>
            <a:r>
              <a:t>содержательное объяснение. Материал собран, проверен и лежит в главе как чтение для</a:t>
            </a:r>
          </a:p>
          <a:p>
            <a:r>
              <a:t>самостоятельной работы: там и прогнозы занятости с разбором того, какие из них не</a:t>
            </a:r>
          </a:p>
          <a:p>
            <a:r>
              <a:t>подтвердились прямой проверкой первоисточников, и правовая картина по странам в подробностях.</a:t>
            </a:r>
          </a:p>
          <a:p>
            <a:r>
              <a:t>Причина, по которой этого нет на кадрах, арифметическая: пласт цены занимает примерно пятую</a:t>
            </a:r>
          </a:p>
          <a:p>
            <a:r>
              <a:t>часть вечера, а правовой ландшафт по странам в такой объём не укладывается, не вытеснив</a:t>
            </a:r>
          </a:p>
          <a:p>
            <a:r>
              <a:t>разговор о возможностях. Поэтому право здесь предъявлено двумя кадрами — одним подробным</a:t>
            </a:r>
          </a:p>
          <a:p>
            <a:r>
              <a:t>разбором судебного решения и одним списком из восьми строк, где у каждой строки стоит статус, —</a:t>
            </a:r>
          </a:p>
          <a:p>
            <a:r>
              <a:t>а не обзором по юрисдикциям.</a:t>
            </a:r>
          </a:p>
          <a:p>
            <a:r>
              <a:t/>
            </a:r>
          </a:p>
          <a:p>
            <a:r>
              <a:t>Отдельно стоит сказать о том, чего нет по другой причине — потому что проверка его не</a:t>
            </a:r>
          </a:p>
          <a:p>
            <a:r>
              <a:t>подтвердила.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несколько громких цифр,</a:t>
            </a:r>
          </a:p>
          <a:p>
            <a:r>
              <a:t>которые кочуют по отраслевым обзорам, при проверке оказались либо выводом прессы, выданным за</a:t>
            </a:r>
          </a:p>
          <a:p>
            <a:r>
              <a:t>факт, либо статистикой совсем о другом, либо делом, которого не существует. Этого на кадрах не</a:t>
            </a:r>
          </a:p>
          <a:p>
            <a:r>
              <a:t>будет вовсе, и список снятого лежит в главе — не как оправдание, а как рабочий пример того,</a:t>
            </a:r>
          </a:p>
          <a:p>
            <a:r>
              <a:t>сколько именно уходит в брак при честной проверке отраслевого обзора.</a:t>
            </a:r>
          </a:p>
          <a:p>
            <a:r>
              <a:t/>
            </a:r>
          </a:p>
          <a:p>
            <a:r>
              <a:t>И последнее, уже про форму. На этом кадре нет строки «наверняка что-то ещё пропущено». Пробел</a:t>
            </a:r>
          </a:p>
          <a:p>
            <a:r>
              <a:t>либо назван содержательно, либо его нет; оговорка общего вида не информирует ни о чём и только</a:t>
            </a:r>
          </a:p>
          <a:p>
            <a:r>
              <a:t>создаёт впечатление, что автор чего-то не договаривает. Три названных куска — это всё, что</a:t>
            </a:r>
          </a:p>
          <a:p>
            <a:r>
              <a:t>вынесено, и каждый из них имеет адрес.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и стоит он первым не по важности, а по цене единицы. Одно изображение —</a:t>
            </a:r>
          </a:p>
          <a:p>
            <a:r>
              <a:t>самая дешёвая единица выхода из всех пяти модальностей, дешевле следующей на два-три порядка.</a:t>
            </a:r>
          </a:p>
          <a:p>
            <a:r>
              <a:t>Из этого следует всё остальное: практика здесь самая зрелая, потому что пробовать начали раньше</a:t>
            </a:r>
          </a:p>
          <a:p>
            <a:r>
              <a:t>всех и дешевле всех; числа есть по обе стороны счёта, потому что классический режим тоже</a:t>
            </a:r>
          </a:p>
          <a:p>
            <a:r>
              <a:t>измерен; и именно здесь уместно разобрать устройство метода на той глубине, которой он</a:t>
            </a:r>
          </a:p>
          <a:p>
            <a:r>
              <a:t>требует. Всё, что устроено в изображении, повторяется с поправками в звуке, видео и трёхмерной</a:t>
            </a:r>
          </a:p>
          <a:p>
            <a:r>
              <a:t>сцене — разбирать это по второму разу в каждом разделе незачем, поэтому несущий технический</a:t>
            </a:r>
          </a:p>
          <a:p>
            <a:r>
              <a:t>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Речь идёт о трёх смежных</a:t>
            </a:r>
          </a:p>
          <a:p>
            <a:r>
              <a:t>продуктах, которые в производстве различают строго, потому что у них разные заказчики, сроки и</a:t>
            </a:r>
          </a:p>
          <a:p>
            <a:r>
              <a:t>цены. Концепт-арт — изображение, которое существует, чтобы договориться: как выглядит персонаж,</a:t>
            </a:r>
          </a:p>
          <a:p>
            <a:r>
              <a:t>транспорт, локация, упаковка, интерфейс. Его никто не выпускает наружу, он живёт внутри</a:t>
            </a:r>
          </a:p>
          <a:p>
            <a:r>
              <a:t>производства и умирает, когда решение принято. Иллюстрация — изображение, которое идёт в</a:t>
            </a:r>
          </a:p>
          <a:p>
            <a:r>
              <a:t>продукт: в статью, на обложку, в рекламный баннер, в карточку товара. Ключевой кадр — одно</a:t>
            </a:r>
          </a:p>
          <a:p>
            <a:r>
              <a:t>изображение, задающее визуальный язык всей рекламной кампании, от билборда до баннера в</a:t>
            </a:r>
          </a:p>
          <a:p>
            <a:r>
              <a:t>приложении; из него потом выводят десятки адаптаций под разные форматы.</a:t>
            </a:r>
          </a:p>
          <a:p>
            <a:r>
              <a:t/>
            </a:r>
          </a:p>
          <a:p>
            <a:r>
              <a:t>Путать эти три вещи при счёте экономии нельзя, и вот почему это важно практически: сто концептов</a:t>
            </a:r>
          </a:p>
          <a:p>
            <a:r>
              <a:t>стоят столько же, сколько одна иллюстрация, потому что концепт не доводят. Любое сравнение «было</a:t>
            </a:r>
          </a:p>
          <a:p>
            <a:r>
              <a:t>столько, стало столько» разваливается, если по одну сторону стоит концепт, а по другую —</a:t>
            </a:r>
          </a:p>
          <a:p>
            <a:r>
              <a:t>доведённая до выпуска иллюстрация. Эти три продукта живут и на разных стадиях производства:</a:t>
            </a:r>
          </a:p>
          <a:p>
            <a:r>
              <a:t>концепт-арт — там, где ищут облик; ключевой кадр — на подготовке к съёмкам; иллюстрация — уже в</a:t>
            </a:r>
          </a:p>
          <a:p>
            <a:r>
              <a:t>производстве.</a:t>
            </a:r>
          </a:p>
          <a:p>
            <a:r>
              <a:t/>
            </a:r>
          </a:p>
          <a:p>
            <a:r>
              <a:t>Что на входе у этой стадии. Словесное описание задачи: что изображено, в каком настроении, в</a:t>
            </a:r>
          </a:p>
          <a:p>
            <a:r>
              <a:t>каком формате, под какой бренд, с какими ограничениями. К нему прилагаются образцы — «вот так</a:t>
            </a:r>
          </a:p>
          <a:p>
            <a:r>
              <a:t>должно выглядеть», — фирменные требования (цвета, шрифты, допустимые приёмы) и технические</a:t>
            </a:r>
          </a:p>
          <a:p>
            <a:r>
              <a:t>требования к файлу. Вопрос, который на этом решают, в производстве формулируется короче, чем</a:t>
            </a:r>
          </a:p>
          <a:p>
            <a:r>
              <a:t>кажется: «как это выглядит». Он отличается от вопроса «что это такое», на который отвечает</a:t>
            </a:r>
          </a:p>
          <a:p>
            <a:r>
              <a:t>чертёж, и от вопроса «сколько этого», на который отвечает таблица. Граница эта пройдёт через</a:t>
            </a:r>
          </a:p>
          <a:p>
            <a:r>
              <a:t>весь раздел и вернётся отдельным кадром там, где речь пойдёт о том, почему генератор не</a:t>
            </a:r>
          </a:p>
          <a:p>
            <a:r>
              <a:t>заменяет систему автоматизированного проектирования.</a:t>
            </a:r>
          </a:p>
          <a:p>
            <a:r>
              <a:t/>
            </a:r>
          </a:p>
          <a:p>
            <a:r>
              <a:t>Способов получить такие данные четыре, и до 2022 года их было ровно четыре. Заказ у</a:t>
            </a:r>
          </a:p>
          <a:p>
            <a:r>
              <a:t>исполнителя: художник, иллюстратор или фотограф получает задание и возвращает работу через</a:t>
            </a:r>
          </a:p>
          <a:p>
            <a:r>
              <a:t>срок. Готовое из библиотеки: покупают лицензию на уже существующее изображение в стоковом</a:t>
            </a:r>
          </a:p>
          <a:p>
            <a:r>
              <a:t>агентстве. Собственная съёмка под каталог — для товарной съёмки, где нужен именно этот предмет;</a:t>
            </a:r>
          </a:p>
          <a:p>
            <a:r>
              <a:t>этот способ генерацией не замещается по определению задачи. Сборка из частей: коллаж,</a:t>
            </a:r>
          </a:p>
          <a:p>
            <a:r>
              <a:t>обработка, переработка уже имеющегося материала в редакторе. Пятым способом с 2022 года стала</a:t>
            </a:r>
          </a:p>
          <a:p>
            <a:r>
              <a:t>генерация.</a:t>
            </a:r>
          </a:p>
          <a:p>
            <a:r>
              <a:t/>
            </a:r>
          </a:p>
          <a:p>
            <a:r>
              <a:t>Решение, которое принимает стадия, одно: утвердить облик до того, как потрачены большие деньги.</a:t>
            </a:r>
          </a:p>
          <a:p>
            <a:r>
              <a:t>Концепт утверждают прежде, чем художники начнут рисовать финальные кадры; ключевой кадр</a:t>
            </a:r>
          </a:p>
          <a:p>
            <a:r>
              <a:t>утверждают прежде, чем заказана площадка и напечатаны билборды. Именно поэтому стадия стоит в</a:t>
            </a:r>
          </a:p>
          <a:p>
            <a:r>
              <a:t>самом начале производственного порядка — и это не вопрос удобства, а вопрос арифметики ошибки:</a:t>
            </a:r>
          </a:p>
          <a:p>
            <a:r>
              <a:t>ошибка здесь дёшево исправляется и дорого обходится, если её пропустить дальше по циклу.</a:t>
            </a:r>
          </a:p>
          <a:p>
            <a:r>
              <a:t/>
            </a:r>
          </a:p>
          <a:p>
            <a:r>
              <a:t>И отсюда главное наблюдение, из которого вырастет весь раздел. Вся экономика этой стадии</a:t>
            </a:r>
          </a:p>
          <a:p>
            <a:r>
              <a:t>держится на одном отношении: сколько вариантов мы можем позволить себе посмотреть, прежде чем</a:t>
            </a:r>
          </a:p>
          <a:p>
            <a:r>
              <a:t>выбрать один. До 2022 года это отношение задавалось ценой одного варианта, и потому было</a:t>
            </a:r>
          </a:p>
          <a:p>
            <a:r>
              <a:t>небольшим — три-четыре эскиза, редко больше. Генеративная модель ударила по этой модальности</a:t>
            </a:r>
          </a:p>
          <a:p>
            <a:r>
              <a:t>первой и сильнее всего не потому, что она хорошо рисует, а потому, что она изменила ровно ту</a:t>
            </a:r>
          </a:p>
          <a:p>
            <a:r>
              <a:t>величину, вокруг которой стадия была устроена. Стадия, которая раньше была самой экономной по</a:t>
            </a:r>
          </a:p>
          <a:p>
            <a:r>
              <a:t>числу проб во всём производстве, стала самой щедрой, — и это перестроило не инструмент, а</a:t>
            </a:r>
          </a:p>
          <a:p>
            <a:r>
              <a:t>порядок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база для всего раздела, и без неё ни одно «во столько-то раз дешевле» не читается. Пять</a:t>
            </a:r>
          </a:p>
          <a:p>
            <a:r>
              <a:t>классических режимов, каждый с опубликованной ценой, и единица у всех одна — цена одной годной</a:t>
            </a:r>
          </a:p>
          <a:p>
            <a:r>
              <a:t>картинки.</a:t>
            </a:r>
          </a:p>
          <a:p>
            <a:r>
              <a:t/>
            </a:r>
          </a:p>
          <a:p>
            <a:r>
              <a:t>Режим первый, заказ у исполнителя. Типовое задание у фрилансера среднего уровня — пятьдесят—сто</a:t>
            </a:r>
          </a:p>
          <a:p>
            <a:r>
              <a:t>пятьдесят долларов со сроком один—три дня; часовая ставка дизайнера по анализу тысячи профилей</a:t>
            </a:r>
          </a:p>
          <a:p>
            <a:r>
              <a:t>на бирже составляет сорок девять долларов шестьдесят пять центов. Отдельная полоса сверху —</a:t>
            </a:r>
          </a:p>
          <a:p>
            <a:r>
              <a:t>фирменный стиль и работа высшего уровня площадки, от трёхсот до пяти тысяч долларов. В России</a:t>
            </a:r>
          </a:p>
          <a:p>
            <a:r>
              <a:t>страница цен по выборке из трёх тысяч восьмисот сорока восьми анкет иллюстраторов Москвы даёт:</a:t>
            </a:r>
          </a:p>
          <a:p>
            <a:r>
              <a:t>цифровая иллюстрация от трёх тысяч восьмисот шестидесяти рублей, векторная от полутора тысяч,</a:t>
            </a:r>
          </a:p>
          <a:p>
            <a:r>
              <a:t>иллюстрация к детской книге от трёх тысяч, рекламный баннер — от пятисот рублей. Оговорка здесь</a:t>
            </a:r>
          </a:p>
          <a:p>
            <a:r>
              <a:t>обязательна и теряться не должна: это «от», то есть нижняя граница объявленных ставок, а вовсе</a:t>
            </a:r>
          </a:p>
          <a:p>
            <a:r>
              <a:t>не среднее по рынку. Если взять её за среднее, российская классика окажется искусственно</a:t>
            </a:r>
          </a:p>
          <a:p>
            <a:r>
              <a:t>дешёвой, и всякий разрыв с генерацией сожмётся.</a:t>
            </a:r>
          </a:p>
          <a:p>
            <a:r>
              <a:t/>
            </a:r>
          </a:p>
          <a:p>
            <a:r>
              <a:t>Режим второй, готовое из стоковой библиотеки, — и он интереснее остальных, потому что ломается</a:t>
            </a:r>
          </a:p>
          <a:p>
            <a:r>
              <a:t>изнутри. Розничная лицензия на одно изображение стоит сто тридцать — четыреста девяносто девять</a:t>
            </a:r>
          </a:p>
          <a:p>
            <a:r>
              <a:t>долларов. По подписке, оптом, то же самое изображение обходится примерно в два доллара</a:t>
            </a:r>
          </a:p>
          <a:p>
            <a:r>
              <a:t>пятьдесят центов. Разница между розницей и оптом внутри одного и того же режима — в</a:t>
            </a:r>
          </a:p>
          <a:p>
            <a:r>
              <a:t>пятьдесят—двести раз. Это надо увидеть до того, как читать любые сравнения с генерацией:</a:t>
            </a:r>
          </a:p>
          <a:p>
            <a:r>
              <a:t>выбор базы внутри самой классики меняет итоговый разрыв на два порядка, и человек, который</a:t>
            </a:r>
          </a:p>
          <a:p>
            <a:r>
              <a:t>хочет получить нужный ему вывод, может получить любой, просто выбрав удобную строку</a:t>
            </a:r>
          </a:p>
          <a:p>
            <a:r>
              <a:t>прейскуранта. Отсюда практическое правило, которое уносится дальше: услышав «в тысячу раз</a:t>
            </a:r>
          </a:p>
          <a:p>
            <a:r>
              <a:t>дешевле», спрашивайте не про генерацию, а про то, какую именно классику взяли базой.</a:t>
            </a:r>
          </a:p>
          <a:p>
            <a:r>
              <a:t/>
            </a:r>
          </a:p>
          <a:p>
            <a:r>
              <a:t>Режим третий — микросток двухтысячных, историческая форма того же самого. iStock и Shutterstock</a:t>
            </a:r>
          </a:p>
          <a:p>
            <a:r>
              <a:t>продавали изображение по двадцать пять центов — доллару за штуку против «от нескольких сотен до</a:t>
            </a:r>
          </a:p>
          <a:p>
            <a:r>
              <a:t>нескольких тысяч долларов» в классических агентствах. Этот режим стоит здесь как исторический</a:t>
            </a:r>
          </a:p>
          <a:p>
            <a:r>
              <a:t>контрапункт, и значение его трудно переоценить: обвал цены единицы изображения на три порядка в</a:t>
            </a:r>
          </a:p>
          <a:p>
            <a:r>
              <a:t>этой отрасли уже происходил один раз, двадцать лет назад, и рынок после него уцелел,</a:t>
            </a:r>
          </a:p>
          <a:p>
            <a:r>
              <a:t>разделившись на «дёшево и много» и «дорого и именно это».</a:t>
            </a:r>
          </a:p>
          <a:p>
            <a:r>
              <a:t/>
            </a:r>
          </a:p>
          <a:p>
            <a:r>
              <a:t>Режим четвёртый — заказная съёмка под каталог, сотни долларов за предметную съёмку.</a:t>
            </a:r>
          </a:p>
          <a:p>
            <a:r>
              <a:t>Применяется там, где нужен именно этот физический предмет, и генерацией не замещается по</a:t>
            </a:r>
          </a:p>
          <a:p>
            <a:r>
              <a:t>определению задачи: сгенерировать можно похожий предмет, а нужен этот.</a:t>
            </a:r>
          </a:p>
          <a:p>
            <a:r>
              <a:t/>
            </a:r>
          </a:p>
          <a:p>
            <a:r>
              <a:t>Режим пятый — собственный штатный дизайнер, и у него цены нет. Есть зарплата и загрузка. Это</a:t>
            </a:r>
          </a:p>
          <a:p>
            <a:r>
              <a:t>кажется мелочью, но именно этот режим оказывается классикой в случае корпоративного заказчика,</a:t>
            </a:r>
          </a:p>
          <a:p>
            <a:r>
              <a:t>и именно по нему публичных чисел почти не бывает. Один из трёх разборов этого раздела упрётся</a:t>
            </a:r>
          </a:p>
          <a:p>
            <a:r>
              <a:t>ровно в эту стену: случай измерен со стороны модели до последней минуты обучения, а со стороны</a:t>
            </a:r>
          </a:p>
          <a:p>
            <a:r>
              <a:t>классики не посчитан, потому что внутреннюю ставку своего дизайнера компании не публикуют.</a:t>
            </a:r>
          </a:p>
          <a:p>
            <a:r>
              <a:t/>
            </a:r>
          </a:p>
          <a:p>
            <a:r>
              <a:t>Две точки из шестидесятилетней цепочки стоят здесь же, как память о том, что это не первый</a:t>
            </a:r>
          </a:p>
          <a:p>
            <a:r>
              <a:t>такой разговор. Ксерография у Disney в 1961 году: штат вдвое меньше, обводка тушью исчезла,</a:t>
            </a:r>
          </a:p>
          <a:p>
            <a:r>
              <a:t>отдел туши исчез, аниматор остался. Photoshop в 1990-м: триста долларов за час на выделенной</a:t>
            </a:r>
          </a:p>
          <a:p>
            <a:r>
              <a:t>системе против восьмисот девяноста пяти за лицензию навсегда, допечатный цех исчез, ретушёр</a:t>
            </a:r>
          </a:p>
          <a:p>
            <a:r>
              <a:t>остался. В обоих случаях профессия пересела на другой инструмент, а объём произведённого вырос</a:t>
            </a:r>
          </a:p>
          <a:p>
            <a:r>
              <a:t>сильнее, чем упала цена.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готовое из стоковой библиотеки — интереснее остальных, потому что</a:t>
            </a:r>
          </a:p>
          <a:p>
            <a:r>
              <a:t>ломается изнутри, без всякого участия генеративных моделей. Розничная лицензия на одно</a:t>
            </a:r>
          </a:p>
          <a:p>
            <a:r>
              <a:t>изображение стоит сто тридцать — четыреста девяносто девять долларов. По подписке, оптом, то же</a:t>
            </a:r>
          </a:p>
          <a:p>
            <a:r>
              <a:t>самое изображение обходится примерно в два доллара пятьдесят центов. Это один товар, один</a:t>
            </a:r>
          </a:p>
          <a:p>
            <a:r>
              <a:t>поставщик, один прейскурант — и разница между двумя строками в нём составляет от пятидесяти до</a:t>
            </a:r>
          </a:p>
          <a:p>
            <a:r>
              <a:t>двухсот раз.</a:t>
            </a:r>
          </a:p>
          <a:p>
            <a:r>
              <a:t/>
            </a:r>
          </a:p>
          <a:p>
            <a:r>
              <a:t>Разница эта не аномалия и не ошибка счёта: это два разных способа покупать. Розницу берут</a:t>
            </a:r>
          </a:p>
          <a:p>
            <a:r>
              <a:t>разово, под конкретный материал, когда нужна именно эта фотография и нужна сегодня. Опт берут</a:t>
            </a:r>
          </a:p>
          <a:p>
            <a:r>
              <a:t>потоком, под поток задач, когда заранее известно, что в месяц уйдёт несколько десятков</a:t>
            </a:r>
          </a:p>
          <a:p>
            <a:r>
              <a:t>изображений и какие именно — неважно. Разные покупатели, разные договоры, разные отделы внутри</a:t>
            </a:r>
          </a:p>
          <a:p>
            <a:r>
              <a:t>покупающей компании.</a:t>
            </a:r>
          </a:p>
          <a:p>
            <a:r>
              <a:t/>
            </a:r>
          </a:p>
          <a:p>
            <a:r>
              <a:t>Практическое следствие прямое, и уносить из раздела стоит именно его. Любое сравнение вида «во</a:t>
            </a:r>
          </a:p>
          <a:p>
            <a:r>
              <a:t>столько-то раз дешевле» зависит от того, какую из этих двух цен взяли базой, и зависит на два</a:t>
            </a:r>
          </a:p>
          <a:p>
            <a:r>
              <a:t>порядка. Человек, которому нужен определённый вывод, получит любой, просто выбрав удобную</a:t>
            </a:r>
          </a:p>
          <a:p>
            <a:r>
              <a:t>строку прейскуранта: взяв розницу, он покажет разрыв в четырнадцать тысяч раз, взяв опт — в</a:t>
            </a:r>
          </a:p>
          <a:p>
            <a:r>
              <a:t>семьдесят три. Оба числа верны арифметически, и оба посчитаны от настоящего тарифа настоящего</a:t>
            </a:r>
          </a:p>
          <a:p>
            <a:r>
              <a:t>поставщика. Неверен в такой паре не счёт, а умолчание о том, что база была выбрана.</a:t>
            </a:r>
          </a:p>
          <a:p>
            <a:r>
              <a:t/>
            </a:r>
          </a:p>
          <a:p>
            <a:r>
              <a:t>Отсюда привычка, которую стоит завести до того, как читать любой отраслевой обзор: услышав «в</a:t>
            </a:r>
          </a:p>
          <a:p>
            <a:r>
              <a:t>тысячу раз дешевле», спрашивайте не про генерацию, а про то, какую именно классику взяли базой.</a:t>
            </a:r>
          </a:p>
          <a:p>
            <a:r>
              <a:t>Вопрос короткий, задаётся за секунду и отсеивает большинство громких сравнений — в них база либо</a:t>
            </a:r>
          </a:p>
          <a:p>
            <a:r>
              <a:t>не названа вовсе, либо названа общим словом вроде «стоковое изображение», за которым, как теперь</a:t>
            </a:r>
          </a:p>
          <a:p>
            <a:r>
              <a:t>видно, скрываются два тарифа, отличающиеся на два порядка.</a:t>
            </a:r>
          </a:p>
          <a:p>
            <a:r>
              <a:t/>
            </a:r>
          </a:p>
          <a:p>
            <a:r>
              <a:t>То же самое правило работает и в обратную сторону, и это важнее. Собирая собственный счёт,</a:t>
            </a:r>
          </a:p>
          <a:p>
            <a:r>
              <a:t>назовите базу первым, а не последним: не «генерация дешевле в столько-то раз», а «мы сравниваем</a:t>
            </a:r>
          </a:p>
          <a:p>
            <a:r>
              <a:t>с оптовой подпиской, по которой закупали в прошлом году, — вот её тариф, вот наш объём». Тогда</a:t>
            </a:r>
          </a:p>
          <a:p>
            <a:r>
              <a:t>число читается, проверяется и переживает спор; без названной базы оно не переживает первого же</a:t>
            </a:r>
          </a:p>
          <a:p>
            <a:r>
              <a:t>вопроса.</a:t>
            </a:r>
          </a:p>
          <a:p>
            <a:r>
              <a:t/>
            </a:r>
          </a:p>
          <a:p>
            <a:r>
              <a:t>И последнее — про то, что этот разброс говорит о самой отрасли. Два порядка между розницей и</a:t>
            </a:r>
          </a:p>
          <a:p>
            <a:r>
              <a:t>оптом существовали задолго до всяких моделей и держались на том, что у изображения нет</a:t>
            </a:r>
          </a:p>
          <a:p>
            <a:r>
              <a:t>себестоимости копии: вторая продажа той же фотографии стоит поставщику ноль. Ровно это свойство</a:t>
            </a:r>
          </a:p>
          <a:p>
            <a:r>
              <a:t>и сделало возможным микросток двухтысячных, а потом — обвал, который разбирается дальше в</a:t>
            </a:r>
          </a:p>
          <a:p>
            <a:r>
              <a:t>разделе. Когда себестоимость копии равна нулю, цена определяется не издержками, а тем, во</a:t>
            </a:r>
          </a:p>
          <a:p>
            <a:r>
              <a:t>сколько покупателю обходится альтернатива. Генерация изменила именно альтернативу, и поэтому</a:t>
            </a:r>
          </a:p>
          <a:p>
            <a:r>
              <a:t>удар пришёлся не по какой-то одной строке прейскуранта, а по всему прейскуранту сразу.</a:t>
            </a:r>
          </a:p>
          <a:p>
            <a:r>
              <a:t/>
            </a:r>
          </a:p>
          <a:p>
            <a:r>
              <a:t>Полезно заодно знать, откуда берётся сама вилка в пятьдесят—двести раз, а не только её величина.</a:t>
            </a:r>
          </a:p>
          <a:p>
            <a:r>
              <a:t>Розничная цена платится за право использовать снимок в одном конкретном материале, часто с</a:t>
            </a:r>
          </a:p>
          <a:p>
            <a:r>
              <a:t>расширенными условиями: тираж, территория, срок, возможность перепродажи готового макета. Оптовая</a:t>
            </a:r>
          </a:p>
          <a:p>
            <a:r>
              <a:t>подписка продаёт то же изображение на стандартных условиях и на поток, и покупатель заранее</a:t>
            </a:r>
          </a:p>
          <a:p>
            <a:r>
              <a:t>соглашается, что снимок увидят на сотне других сайтов. То есть разница в цене — это не разница в</a:t>
            </a:r>
          </a:p>
          <a:p>
            <a:r>
              <a:t>качестве файла, а разница в эксклюзивности и в объёме прав. Это стоит произнести вслух, потому</a:t>
            </a:r>
          </a:p>
          <a:p>
            <a:r>
              <a:t>что при сравнении с генерацией объём прав обычно вообще не упоминают, хотя именно он и отличает</a:t>
            </a:r>
          </a:p>
          <a:p>
            <a:r>
              <a:t>две строки прейскуранта друг от друга сильнее, чем что-либо ещё.</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продолжает ту же цепочку, с которой начался вечер, но теперь внутри одной модальности</a:t>
            </a:r>
          </a:p>
          <a:p>
            <a:r>
              <a:t>— и ровно поэтому он полезен. Две точки, обе до всякой обученной модели, обе с опубликованными</a:t>
            </a:r>
          </a:p>
          <a:p>
            <a:r>
              <a:t>числами, и обе устроены одинаково.</a:t>
            </a:r>
          </a:p>
          <a:p>
            <a:r>
              <a:t/>
            </a:r>
          </a:p>
          <a:p>
            <a:r>
              <a:t>1961 год, «101 далматинец». До ксерографии отдел туши вручную обводил карандашный рисунок</a:t>
            </a:r>
          </a:p>
          <a:p>
            <a:r>
              <a:t>аниматора на целлулоидной плёнке. Это и есть операция посредничества в чистом виде: человек</a:t>
            </a:r>
          </a:p>
          <a:p>
            <a:r>
              <a:t>переносил чужой замысел с одного носителя на другой, ничего к нему не добавляя, и именно за</a:t>
            </a:r>
          </a:p>
          <a:p>
            <a:r>
              <a:t>точность переноса ему платили. Ксерография перенесла рисунок на целлулоид напрямую. Штат фильма</a:t>
            </a:r>
          </a:p>
          <a:p>
            <a:r>
              <a:t>составил примерно половину состава «Спящей красавицы» 1959 года, стоимость и срок сократились</a:t>
            </a:r>
          </a:p>
          <a:p>
            <a:r>
              <a:t>примерно вдвое.</a:t>
            </a:r>
          </a:p>
          <a:p>
            <a:r>
              <a:t/>
            </a:r>
          </a:p>
          <a:p>
            <a:r>
              <a:t>Деталь, которая говорит о природе таких переходов больше, чем сами числа: сюжет про девяносто</a:t>
            </a:r>
          </a:p>
          <a:p>
            <a:r>
              <a:t>девять пятнистых щенков выбрали потому, что новый способ сделал его выполнимым — вручную</a:t>
            </a:r>
          </a:p>
          <a:p>
            <a:r>
              <a:t>отрисовать все пятна было нереально. Инструмент определил содержание. Это постоянное свойство</a:t>
            </a:r>
          </a:p>
          <a:p>
            <a:r>
              <a:t>подобных переходов, и оно вернётся в разговоре про генерацию: дешёвый инструмент не просто</a:t>
            </a:r>
          </a:p>
          <a:p>
            <a:r>
              <a:t>удешевляет то, что делали раньше, он делает возможным то, чего раньше не делали вовсе, и именно</a:t>
            </a:r>
          </a:p>
          <a:p>
            <a:r>
              <a:t>эта вторая половина обычно интереснее первой.</a:t>
            </a:r>
          </a:p>
          <a:p>
            <a:r>
              <a:t/>
            </a:r>
          </a:p>
          <a:p>
            <a:r>
              <a:t>И тут же — то, что уехало вправо. Узнаваемое неряшливое начертание линии шестидесятых: контур</a:t>
            </a:r>
          </a:p>
          <a:p>
            <a:r>
              <a:t>печатался со всеми карандашными шероховатостями, которые раньше вычищала тушь. Уолт Дисней это</a:t>
            </a:r>
          </a:p>
          <a:p>
            <a:r>
              <a:t>начертание публично не любил. Переход дал выигрыш в штате и сроке и забрал ровно то, что отдел</a:t>
            </a:r>
          </a:p>
          <a:p>
            <a:r>
              <a:t>туши производил помимо переноса, — чистоту линии. Никто этого заранее не считал, потому что</a:t>
            </a:r>
          </a:p>
          <a:p>
            <a:r>
              <a:t>никто не считал работу отдела туши работой по улучшению, пока она была бесплатным побочным</a:t>
            </a:r>
          </a:p>
          <a:p>
            <a:r>
              <a:t>следствием основной операции.</a:t>
            </a:r>
          </a:p>
          <a:p>
            <a:r>
              <a:t/>
            </a:r>
          </a:p>
          <a:p>
            <a:r>
              <a:t>1990 год, Photoshop 1.0, вышел девятнадцатого февраля. До него профессиональная ретушь шла на</a:t>
            </a:r>
          </a:p>
          <a:p>
            <a:r>
              <a:t>выделенных системах класса Scitex по цене около трёхсот долларов за час работы. Лицензия</a:t>
            </a:r>
          </a:p>
          <a:p>
            <a:r>
              <a:t>Photoshop стоила восемьсот девяносто пять долларов единовременно — то есть окупалась меньше</a:t>
            </a:r>
          </a:p>
          <a:p>
            <a:r>
              <a:t>чем за три часа работы на Scitex. Для масштаба: конкурирующий продукт того же года стоил тысячу</a:t>
            </a:r>
          </a:p>
          <a:p>
            <a:r>
              <a:t>девятьсот девяносто пять долларов. Падение цены часа — примерно три порядка, и вместе с ним</a:t>
            </a:r>
          </a:p>
          <a:p>
            <a:r>
              <a:t>исчез допечатный цех как отдельная профессия. Ретушёр при этом никуда не делся: он пересел за</a:t>
            </a:r>
          </a:p>
          <a:p>
            <a:r>
              <a:t>другой инструмент.</a:t>
            </a:r>
          </a:p>
          <a:p>
            <a:r>
              <a:t/>
            </a:r>
          </a:p>
          <a:p>
            <a:r>
              <a:t>Та же деталь про уехавшее вправо есть и здесь, просто она менее заметна. Правка изображения</a:t>
            </a:r>
          </a:p>
          <a:p>
            <a:r>
              <a:t>перестала быть заметной операцией: на выделенной системе за триста долларов в час ретушь была</a:t>
            </a:r>
          </a:p>
          <a:p>
            <a:r>
              <a:t>событием, которое кто-то заказывал, оплачивал и принимал, а значит, оставляла след. Лицензия за</a:t>
            </a:r>
          </a:p>
          <a:p>
            <a:r>
              <a:t>восемьсот девяносто пять долларов убрала и цену, и след разом — и отсюда растёт весь</a:t>
            </a:r>
          </a:p>
          <a:p>
            <a:r>
              <a:t>последующий спор о том, можно ли верить опубликованному снимку. Спор этот не закрыт до сих пор,</a:t>
            </a:r>
          </a:p>
          <a:p>
            <a:r>
              <a:t>и в разделах про голос и про происхождение он вернётся в точности в той же форме.</a:t>
            </a:r>
          </a:p>
          <a:p>
            <a:r>
              <a:t/>
            </a:r>
          </a:p>
          <a:p>
            <a:r>
              <a:t>Общее у двух точек — та самая форма, ради которой кадр стоит в разделе. Исчезла операция, а не</a:t>
            </a:r>
          </a:p>
          <a:p>
            <a:r>
              <a:t>профессия. Объём произведённого вырос сильнее, чем упала цена: изображений стало обрабатываться</a:t>
            </a:r>
          </a:p>
          <a:p>
            <a:r>
              <a:t>несопоставимо больше, и суммарно на это тратилось не меньше денег, чем прежде. И в обоих</a:t>
            </a:r>
          </a:p>
          <a:p>
            <a:r>
              <a:t>случаях возник спор о подлинности результата — «это уже не рисунок Диснея», «этому снимку</a:t>
            </a:r>
          </a:p>
          <a:p>
            <a:r>
              <a:t>теперь нельзя верить», — и ни один из этих споров не был закрыт техническим аргументом.</a:t>
            </a:r>
          </a:p>
          <a:p>
            <a:r>
              <a:t>Закрылись они иначе: сменилось поколение, и новая норма перестала казаться спорной.</a:t>
            </a:r>
          </a:p>
          <a:p>
            <a:r>
              <a:t/>
            </a:r>
          </a:p>
          <a:p>
            <a:r>
              <a:t>Вот на этом фоне и надо читать то, что начинается дальше. Когда через кадр пойдёт разговор про</a:t>
            </a:r>
          </a:p>
          <a:p>
            <a:r>
              <a:t>генерацию, первым желанием будет поставить её в тот же ряд третьей точкой — и это желание надо</a:t>
            </a:r>
          </a:p>
          <a:p>
            <a:r>
              <a:t>проверить, а не принять. Проверка окажется отрицательной: у генерации другой разряд, потому</a:t>
            </a:r>
          </a:p>
          <a:p>
            <a:r>
              <a:t>что дешевеет не исполнение уже принятого решения, а момент до решения. Но чтобы это различие</a:t>
            </a:r>
          </a:p>
          <a:p>
            <a:r>
              <a:t>увидеть, надо сначала как следует разглядеть, как выглядят настоящие удешевления исполнения, —</a:t>
            </a:r>
          </a:p>
          <a:p>
            <a:r>
              <a:t>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 посчитаны</a:t>
            </a:r>
          </a:p>
          <a:p>
            <a:r>
              <a:t>числом в той же единице, что и модель. Таких случаев за весь вечер немного, и стоит замечать,</a:t>
            </a:r>
          </a:p>
          <a:p>
            <a:r>
              <a:t>когда они встречаются.</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пятьдесят—сто пятьдесят долларов и один—три дня, в</a:t>
            </a:r>
          </a:p>
          <a:p>
            <a:r>
              <a:t>России от трёх тысяч восьмисот шестидесяти рублей. Цена противоположной ошибки — «не стали</a:t>
            </a:r>
          </a:p>
          <a:p>
            <a:r>
              <a:t>пробовать вариант, который сработал бы» — числом в источниках по мировому рынку не названа ни</a:t>
            </a:r>
          </a:p>
          <a:p>
            <a:r>
              <a:t>разу. Это важно признать, а не заполнить оценкой: именно вторая ошибка и есть предмет всего</a:t>
            </a:r>
          </a:p>
          <a:p>
            <a:r>
              <a:t>вечера, и то, что её почти никто не считает, само по себе содержательно. Измеренное значение для</a:t>
            </a:r>
          </a:p>
          <a:p>
            <a:r>
              <a:t>неё в этом разделе всё-таки появится, но из другого источника — из собственного материала</a:t>
            </a:r>
          </a:p>
          <a:p>
            <a:r>
              <a:t>российской редакции, и дальше оно будет браться оттуда с явным указанием, откуда взято.</a:t>
            </a:r>
          </a:p>
          <a:p>
            <a:r>
              <a:t/>
            </a:r>
          </a:p>
          <a:p>
            <a:r>
              <a:t>Шаг второй — оба классических режима, посчитанные той же ценой. Заказная работа: пятьдесят—сто</a:t>
            </a:r>
          </a:p>
          <a:p>
            <a:r>
              <a:t>пятьдесят долларов за задание со сроком один—три дня, часовая ставка сорок девять долларов</a:t>
            </a:r>
          </a:p>
          <a:p>
            <a:r>
              <a:t>шестьдесят пять центов по анализу тысячи профилей, в России — от трёх тысяч восьмисот</a:t>
            </a:r>
          </a:p>
          <a:p>
            <a:r>
              <a:t>шестидесяти рублей по выборке из трёх тысяч восьмисот сорока восьми анкет. Готовое из</a:t>
            </a:r>
          </a:p>
          <a:p>
            <a:r>
              <a:t>библиотеки: сто тридцать — четыреста девяносто девять долларов в рознице, около двух долларов</a:t>
            </a:r>
          </a:p>
          <a:p>
            <a:r>
              <a:t>пятидесяти центов оптом по подписке, микросток двухтысячных — двадцать пять центов — доллар.</a:t>
            </a:r>
          </a:p>
          <a:p>
            <a:r>
              <a:t>Единица у всех одна: доллар за изображение. И одно допущение проговаривается вслух, потому что</a:t>
            </a:r>
          </a:p>
          <a:p>
            <a:r>
              <a:t>без него счёт нечестен: «за задание» приравнено к «за изображение», тогда как задание у</a:t>
            </a:r>
          </a:p>
          <a:p>
            <a:r>
              <a:t>исполнителя нередко включает правки и несколько ракурсов. Если это учесть, разрыв сократится —</a:t>
            </a:r>
          </a:p>
          <a:p>
            <a:r>
              <a:t>насколько именно, по открытым источникам сказать нельзя.</a:t>
            </a:r>
          </a:p>
          <a:p>
            <a:r>
              <a:t/>
            </a:r>
          </a:p>
          <a:p>
            <a:r>
              <a:t>Шаг третий — модель. Изображение 1024×1024 у программного доступа Google стоит три целых</a:t>
            </a:r>
          </a:p>
          <a:p>
            <a:r>
              <a:t>тридцать шесть сотых цента, в двойном разрешении — пять центов, в четырёхкратном — одиннадцать</a:t>
            </a:r>
          </a:p>
          <a:p>
            <a:r>
              <a:t>с небольшим. Midjourney по базовой подписке и Adobe Firefly на базовом тарифе дают примерно по</a:t>
            </a:r>
          </a:p>
          <a:p>
            <a:r>
              <a:t>пять центов. Против заказной работы это разрыв в тысячу—четыре с половиной тысячи раз, против</a:t>
            </a:r>
          </a:p>
          <a:p>
            <a:r>
              <a:t>розницы стока — до четырнадцати тысяч семисот, против опта — семьдесят три. Три разных базы</a:t>
            </a:r>
          </a:p>
          <a:p>
            <a:r>
              <a:t>дают три разных числа, и все три надо называть вместе: иначе выбор базы делает вывод за</a:t>
            </a:r>
          </a:p>
          <a:p>
            <a:r>
              <a:t>слушателя, и фраза «в четырнадцать тысяч раз дешевле» звучит правдой, оставаясь при этом</a:t>
            </a:r>
          </a:p>
          <a:p>
            <a:r>
              <a:t>подобранной.</a:t>
            </a:r>
          </a:p>
          <a:p>
            <a:r>
              <a:t/>
            </a:r>
          </a:p>
          <a:p>
            <a:r>
              <a:t>Отдельная строка здесь важнее всех трёх предыдущих. Собственный вывод на арендованной</a:t>
            </a:r>
          </a:p>
          <a:p>
            <a:r>
              <a:t>видеокарте: SDXL на RTX 4090 при аренде восемьдесят девять центов в час и скорости около двух и</a:t>
            </a:r>
          </a:p>
          <a:p>
            <a:r>
              <a:t>шести десятых секунды на изображение даёт шестьдесят четыре цента за тысячу изображений —</a:t>
            </a:r>
          </a:p>
          <a:p>
            <a:r>
              <a:t>против тридцати трёх долларов шестидесяти центов за ту же тысячу у программного доступа.</a:t>
            </a:r>
          </a:p>
          <a:p>
            <a:r>
              <a:t>В тридцать—пятьдесят раз дешевле. И у этой дешевизны три названные цены, ни одна из которых не</a:t>
            </a:r>
          </a:p>
          <a:p>
            <a:r>
              <a:t>попадает в прейскурант. Первая — лицензия на веса: самая качественная из дешёвых моделей</a:t>
            </a:r>
          </a:p>
          <a:p>
            <a:r>
              <a:t>распространяется по некоммерческой лицензии, то есть коммерчески закрыта, а открытые</a:t>
            </a:r>
          </a:p>
          <a:p>
            <a:r>
              <a:t>альтернативы слабее. Вторая — полная загрузка карты: карта, арендованная на час и простоявшая</a:t>
            </a:r>
          </a:p>
          <a:p>
            <a:r>
              <a:t>сорок минут, стоит те же восемьдесят девять центов, и при ста изображениях в час выходит восемь</a:t>
            </a:r>
          </a:p>
          <a:p>
            <a:r>
              <a:t>долларов девяносто центов за тысячу, то есть дороже некоторых тарифов. Третья — инженер,</a:t>
            </a:r>
          </a:p>
          <a:p>
            <a:r>
              <a:t>которого ни один из этих расчётов не содержит вовсе.</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обучена на двух миллиардах трёхстах двадцати миллионах пар</a:t>
            </a:r>
          </a:p>
          <a:p>
            <a:r>
              <a:t>«изображение — текст», сто пятьдесят тысяч часов на видеокартах A100. У закрытых моделей состав</a:t>
            </a:r>
          </a:p>
          <a:p>
            <a:r>
              <a:t>обучающего набора не раскрывается — это свойство рынка, а не упущение исследования, и называть</a:t>
            </a:r>
          </a:p>
          <a:p>
            <a:r>
              <a:t>его надо прямо. И ещё один честный пробел: как правка пользователя возвращается в обучение</a:t>
            </a:r>
          </a:p>
          <a:p>
            <a:r>
              <a:t>закрытой 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a:t>
            </a:r>
          </a:p>
          <a:p>
            <a:r>
              <a:t>вошедших в минутный ролик. Всё остальное, что ходит по отраслевым обзорам под видом такого</a:t>
            </a:r>
          </a:p>
          <a:p>
            <a:r>
              <a:t>отношения, при проверке оказывается материалом сайтов, продающих генерацию, без методики и без</a:t>
            </a:r>
          </a:p>
          <a:p>
            <a:r>
              <a:t>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лучший российский случай раздела для инженерной аудитории, и лучший он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четырёхсот шестидесяти пяти тысяч тонн</a:t>
            </a:r>
          </a:p>
          <a:p>
            <a:r>
              <a:t>углекислого газа в год. Это и есть база, относительно которой читается всё остальное: экономия</a:t>
            </a:r>
          </a:p>
          <a:p>
            <a:r>
              <a:t>массы здесь не эстетическая и не маркетинговая, она прямо конвертируется в топливо и в выбросы.</a:t>
            </a:r>
          </a:p>
          <a:p>
            <a:r>
              <a:t>Цена ошибки поэтому считается не в рублях за эскиз, а в тоннах топлива за срок службы машины, и</a:t>
            </a:r>
          </a:p>
          <a:p>
            <a:r>
              <a:t>это первая причина, по которой случай вообще попал в лекцию про творческое производство: он</a:t>
            </a:r>
          </a:p>
          <a:p>
            <a:r>
              <a:t>показывает, как выглядит та же форма разбора, когда единица измерения взята из инженерии.</a:t>
            </a:r>
          </a:p>
          <a:p>
            <a:r>
              <a:t/>
            </a:r>
          </a:p>
          <a:p>
            <a:r>
              <a:t>Шаг второй — классические режимы, и вот где случай отличается от двух предыдущих. Второго</a:t>
            </a:r>
          </a:p>
          <a:p>
            <a:r>
              <a:t>режима в задаче нет, и причина названа: критерий отбора здесь задан физикой. Перегородка должна</a:t>
            </a:r>
          </a:p>
          <a:p>
            <a:r>
              <a:t>держать нагрузку при минимальной массе — это проверяемое условие, про любой вариант за секунду</a:t>
            </a:r>
          </a:p>
          <a:p>
            <a:r>
              <a:t>можно сказать, выполнено оно или нарушено. Поэтому альтернатива ровно одна: обычный расчёт и</a:t>
            </a:r>
          </a:p>
          <a:p>
            <a:r>
              <a:t>проектирование перегородки. Она посчитана в той же единице: шестьдесят пять килограммов против</a:t>
            </a:r>
          </a:p>
          <a:p>
            <a:r>
              <a:t>тридцати пяти, то есть минус сорок пять процентов массы. «Второго режима не существует» — это</a:t>
            </a:r>
          </a:p>
          <a:p>
            <a:r>
              <a:t>полноценный вердикт, а не пробел в исследовании, и различать эти две вещи полезно: пробел</a:t>
            </a:r>
          </a:p>
          <a:p>
            <a:r>
              <a:t>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Программа</a:t>
            </a:r>
          </a:p>
          <a:p>
            <a:r>
              <a:t>порождающего проектирования перебрала десятки тысяч вариантов геометрии по заданной модели</a:t>
            </a:r>
          </a:p>
          <a:p>
            <a:r>
              <a:t>клеточного роста кости. Это оптимизация под заданный критерий: алгоритм генерирует варианты,</a:t>
            </a:r>
          </a:p>
          <a:p>
            <a:r>
              <a:t>считает для каждого целевую функцию и отбрасывает худшие. Ни обучения на данных, ни весов, ни</a:t>
            </a:r>
          </a:p>
          <a:p>
            <a:r>
              <a:t>выученного распределения здесь нет ни в каком виде.</a:t>
            </a:r>
          </a:p>
          <a:p>
            <a:r>
              <a:t/>
            </a:r>
          </a:p>
          <a:p>
            <a:r>
              <a:t>Зачем тогда этот случай в лекции. Затем, что он ходит по отраслевым обзорам как пример того,</a:t>
            </a:r>
          </a:p>
          <a:p>
            <a:r>
              <a:t>что «искусственный интеллект спроектировал деталь самолёта и облегчил её на сорок пять</a:t>
            </a:r>
          </a:p>
          <a:p>
            <a:r>
              <a:t>процентов», и это ошибка ровно того класса, который весь вечер разбирается. Приписать выигрыш</a:t>
            </a:r>
          </a:p>
          <a:p>
            <a:r>
              <a:t>обученной модели там, где его дала классическая оптимизация, — это не придирка к терминам. Это</a:t>
            </a:r>
          </a:p>
          <a:p>
            <a:r>
              <a:t>ведёт к неверному решению в собственном проекте: человек, поверивший такому обзору, пойдёт</a:t>
            </a:r>
          </a:p>
          <a:p>
            <a:r>
              <a:t>искать генеративную модель под задачу, у которой есть проверяемый критерий, и потратит</a:t>
            </a:r>
          </a:p>
          <a:p>
            <a:r>
              <a:t>несколько месяцев на инструмент, который для этой задачи не нужен, вместо того чтобы взять</a:t>
            </a:r>
          </a:p>
          <a:p>
            <a:r>
              <a:t>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на тот момент</a:t>
            </a:r>
          </a:p>
          <a:p>
            <a:r>
              <a:t>крупнейшая напечатанная деталь салона самолёта. Обучено ни на чём — обучения в контуре нет. Это</a:t>
            </a:r>
          </a:p>
          <a:p>
            <a:r>
              <a:t>и есть предъявляемая подмена, названная одной строкой. Стоит заметить и обратное: порождающее</a:t>
            </a:r>
          </a:p>
          <a:p>
            <a:r>
              <a:t>проектирование не стало от этого слабее. Оно действительно дало сорок пять процентов массы, и</a:t>
            </a:r>
          </a:p>
          <a:p>
            <a:r>
              <a:t>дало их средствами, которые инженер в состоянии проверить расчётом, — именно эта проверяемость</a:t>
            </a:r>
          </a:p>
          <a:p>
            <a:r>
              <a:t>и делает случай удобным образцом того, как читается всякий отраслевой обзор.</a:t>
            </a:r>
          </a:p>
          <a:p>
            <a:r>
              <a:t/>
            </a:r>
          </a:p>
          <a:p>
            <a:r>
              <a:t>Связка, которой на самом кадре места не нашлось, стоит того, чтобы её произнести: критерий</a:t>
            </a:r>
          </a:p>
          <a:p>
            <a:r>
              <a:t>отбора здесь задан физикой — держать нагрузку при минимальной массе есть проверяемое условие, а</a:t>
            </a:r>
          </a:p>
          <a:p>
            <a:r>
              <a:t>не вкусовое суждение. Именно поэтому альтернатива ровно одна и посчитана в той же единице, и</a:t>
            </a:r>
          </a:p>
          <a:p>
            <a:r>
              <a:t>именно поэтому разбор переворачивается на третьем шаге. Следующий кадр разбирает условие отбора</a:t>
            </a:r>
          </a:p>
          <a:p>
            <a:r>
              <a:t>отдельно, потому что применяется оно не к одному этому случаю, а ко всем.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пятый шаг предыдущего разбора, вынесенный отдельно, потому что он применяется не к одному</a:t>
            </a:r>
          </a:p>
          <a:p>
            <a:r>
              <a:t>случаю, а ко всем. Условие простое: изменение должно быть вызвано именно обученной моделью.</a:t>
            </a:r>
          </a:p>
          <a:p>
            <a:r>
              <a:t>Уберите модель мысленно — если остальное продолжает работать, случай не засчитывается.</a:t>
            </a:r>
          </a:p>
          <a:p>
            <a:r>
              <a:t/>
            </a:r>
          </a:p>
          <a:p>
            <a:r>
              <a:t>Проверим на перегородке. Уберите обученную модель — перебор по критерию остаётся, расчёт</a:t>
            </a:r>
          </a:p>
          <a:p>
            <a:r>
              <a:t>прочности остаётся, печать из сплава остаётся, выигрыш в сорок пять процентов массы остаётся.</a:t>
            </a:r>
          </a:p>
          <a:p>
            <a:r>
              <a:t>Не остаётся ничего, что исчезло бы вместе с моделью, потому что модели в контуре не было.</a:t>
            </a:r>
          </a:p>
          <a:p>
            <a:r>
              <a:t>Условие отбора не проходит, и это не придирка к словам: вся экономия здесь произведена</a:t>
            </a:r>
          </a:p>
          <a:p>
            <a:r>
              <a:t>оптимизацией под заданный критерий, то есть инструментом, который существовал задолго до</a:t>
            </a:r>
          </a:p>
          <a:p>
            <a:r>
              <a:t>генеративных моделей и работает по понятному человеку правилу.</a:t>
            </a:r>
          </a:p>
          <a:p>
            <a:r>
              <a:t/>
            </a:r>
          </a:p>
          <a:p>
            <a:r>
              <a:t>Теперь проверим на соседнем разборе, где редакция дообучала модель на сорока картинках.</a:t>
            </a:r>
          </a:p>
          <a:p>
            <a:r>
              <a:t>Уберите обученную модель — останутся сорок картинок и ноутбук, но сорока шести уникальных</a:t>
            </a:r>
          </a:p>
          <a:p>
            <a:r>
              <a:t>плакатов за февраль не останется. Останется ровно то, что было до неё: дизайнер, срок и</a:t>
            </a:r>
          </a:p>
          <a:p>
            <a:r>
              <a:t>стоимость, которых публикация, правда, не называет. Условие отбора проходит, и случай</a:t>
            </a:r>
          </a:p>
          <a:p>
            <a:r>
              <a:t>засчитывается — даже при том, что классическая сторона в нём не посчитана.</a:t>
            </a:r>
          </a:p>
          <a:p>
            <a:r>
              <a:t/>
            </a:r>
          </a:p>
          <a:p>
            <a:r>
              <a:t>Сравнение двух проверок рядом даёт то, ради чего условие вообще заведено. Оно отделяет случаи,</a:t>
            </a:r>
          </a:p>
          <a:p>
            <a:r>
              <a:t>где модель что-то изменила, от случаев, где она просто присутствовала в рассказе. Третий класс,</a:t>
            </a:r>
          </a:p>
          <a:p>
            <a:r>
              <a:t>самый частый в отраслевых обзорах, — случаи, где модели не было вовсе, а слово «искусственный</a:t>
            </a:r>
          </a:p>
          <a:p>
            <a:r>
              <a:t>интеллект» появилось в пересказе. Перегородка Airbus попала во второй; а вот обзор, который</a:t>
            </a:r>
          </a:p>
          <a:p>
            <a:r>
              <a:t>про неё пишет «ИИ спроектировал деталь самолёта», создал третий.</a:t>
            </a:r>
          </a:p>
          <a:p>
            <a:r>
              <a:t/>
            </a:r>
          </a:p>
          <a:p>
            <a:r>
              <a:t>Что уехало вправо, и почему разбор стоит именно в разделе про изображение. Переехал критерий</a:t>
            </a:r>
          </a:p>
          <a:p>
            <a:r>
              <a:t>отбора, и в этом урок. Там, где критерий задан физикой, спора об авторстве не возникает вовсе:</a:t>
            </a:r>
          </a:p>
          <a:p>
            <a:r>
              <a:t>никто не спрашивает, кому принадлежит перегородка, потому что ответ «той, что весит тридцать</a:t>
            </a:r>
          </a:p>
          <a:p>
            <a:r>
              <a:t>пять килограммов и проходит расчёт» устраивает всех. Спор появляется ровно там, где критерий</a:t>
            </a:r>
          </a:p>
          <a:p>
            <a:r>
              <a:t>вкусовой, — и весь остальной вечер именно про это. Концепт, иллюстрация, ключевой кадр, голос,</a:t>
            </a:r>
          </a:p>
          <a:p>
            <a:r>
              <a:t>лицо, музыкальный трек: во всех этих задачах нет проверяемого предиката, по которому можно</a:t>
            </a:r>
          </a:p>
          <a:p>
            <a:r>
              <a:t>сказать «вот этот вариант правильный». Поэтому отбор там делает человек, поэтому он стоит</a:t>
            </a:r>
          </a:p>
          <a:p>
            <a:r>
              <a:t>денег, и поэтому спор об 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она занимает одну минуту и не требует ни доступа к системе, ни разговора с</a:t>
            </a:r>
          </a:p>
          <a:p>
            <a:r>
              <a:t>поставщиком, — а отсеивает она ту самую долю отраслевых обзоров, на которой строятся неверные</a:t>
            </a:r>
          </a:p>
          <a:p>
            <a:r>
              <a:t>решения о собственном проекте. И работает она в обе стороны: там, где после мысленного удаления</a:t>
            </a:r>
          </a:p>
          <a:p>
            <a:r>
              <a:t>модели не остаётся ничего, случай стоит разбирать всерьёз и искать у него вторую сторону счёта.</a:t>
            </a:r>
          </a:p>
          <a:p>
            <a:r>
              <a:t/>
            </a:r>
          </a:p>
          <a:p>
            <a:r>
              <a:t>Полезно заранее знать и типичные возражения, потому что условие кажется слишком строгим, пока</a:t>
            </a:r>
          </a:p>
          <a:p>
            <a:r>
              <a:t>его не применишь. Первое: «но ведь порождающее проектирование тоже называют генеративным».</a:t>
            </a:r>
          </a:p>
          <a:p>
            <a:r>
              <a:t>Называют, и путаница не случайна — слово одно, а классы инструментов разные: в одном случае</a:t>
            </a:r>
          </a:p>
          <a:p>
            <a:r>
              <a:t>алгоритм перебирает варианты по заданной человеком целевой функции, в другом сеть выдаёт выход</a:t>
            </a:r>
          </a:p>
          <a:p>
            <a:r>
              <a:t>из выученного на данных распределения. Признак разведения простой: спросите, на чём инструмент</a:t>
            </a:r>
          </a:p>
          <a:p>
            <a:r>
              <a:t>обучен. Если ответ «ни на чём, он считает» — и работа при этом идёт, — перед вами оптимизация.</a:t>
            </a:r>
          </a:p>
          <a:p>
            <a:r>
              <a:t/>
            </a:r>
          </a:p>
          <a:p>
            <a:r>
              <a:t>Второе возражение: «какая разница, если результат получен». Разница появляется ровно тогда,</a:t>
            </a:r>
          </a:p>
          <a:p>
            <a:r>
              <a:t>когда результат пытаются повторить в другом проекте. Оптимизация переносится правилом: опишите</a:t>
            </a:r>
          </a:p>
          <a:p>
            <a:r>
              <a:t>критерий и граничные условия — инструмент сработает так же. Обученная модель переносится</a:t>
            </a:r>
          </a:p>
          <a:p>
            <a:r>
              <a:t>данными: без набора, похожего на тот, на котором она училась, результат не воспроизводится. Это</a:t>
            </a:r>
          </a:p>
          <a:p>
            <a:r>
              <a:t>два разных плана работ, два разных бюджета и два разных перечня рисков, и выбор между ними</a:t>
            </a:r>
          </a:p>
          <a:p>
            <a:r>
              <a:t>делается в самом начале, когда сменить решение дёшево.</a:t>
            </a:r>
          </a:p>
          <a:p>
            <a:r>
              <a:t/>
            </a:r>
          </a:p>
          <a:p>
            <a:r>
              <a:t>Третье возражение: «условие отсекает слишком много случаев». Отсекает, и это его работа. Из</a:t>
            </a:r>
          </a:p>
          <a:p>
            <a:r>
              <a:t>трёх подробных разборов раздела условие проходит полтора: случай редакции проходит целиком,</a:t>
            </a:r>
          </a:p>
          <a:p>
            <a:r>
              <a:t>случай обвала цены единицы проходит по модели и не проходит по полноте счёта, перегородка не</a:t>
            </a:r>
          </a:p>
          <a:p>
            <a:r>
              <a:t>проходит вовсе. Такая пропорция и есть честная картина отрасли на сегодня, 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и обе интересны. В пользу российской модели: её веса</a:t>
            </a:r>
          </a:p>
          <a:p>
            <a:r>
              <a:t>разложены по девяти официальным репозиториям, сумма по ним около четырёх тысяч семисот, а</a:t>
            </a:r>
          </a:p>
          <a:p>
            <a:r>
              <a:t>вместе с квантованными сборками сообщества — около пятнадцати тысяч. Значит, разрыв не</a:t>
            </a:r>
          </a:p>
          <a:p>
            <a:r>
              <a:t>тысячекратный, а примерно сорокакратный. Против: все семьдесят девять репозиториев лаборатории</a:t>
            </a:r>
          </a:p>
          <a:p>
            <a:r>
              <a:t>вместе дают семьдесят семь тысяч загрузок, но семьдесят тысяч из них — служебные кодировщики,</a:t>
            </a:r>
          </a:p>
          <a:p>
            <a:r>
              <a:t>которые тянут чужие конвейеры, а у собственно генеративных моделей счёт идёт на сотни. Читать</a:t>
            </a:r>
          </a:p>
          <a:p>
            <a:r>
              <a:t>это как замер качества нельзя — это замер принятия: сколько инженеров в мире взяли веса и</a:t>
            </a:r>
          </a:p>
          <a:p>
            <a:r>
              <a:t>запустили их у себя. Три честные причины разрыва: вокруг зарубежных моделей выросли тысячи</a:t>
            </a:r>
          </a:p>
          <a:p>
            <a:r>
              <a:t>дообученных вариантов и руководств; время на рынке три года против одного месяца; и</a:t>
            </a:r>
          </a:p>
          <a:p>
            <a:r>
              <a:t>русскоязычное преимущество ничего не стоит англоязычному разработчику, который и формирует</a:t>
            </a:r>
          </a:p>
          <a:p>
            <a:r>
              <a:t>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потому что обе стороны первоисточники.</a:t>
            </a:r>
          </a:p>
          <a:p>
            <a:r>
              <a:t>Крупнейшее российское облако перепродаёт двадцать семь моделей одного зарубежного поставщика,</a:t>
            </a:r>
          </a:p>
          <a:p>
            <a:r>
              <a:t>девять другого и девять третьего — то есть ровно те, чьи поставщики Россию обслуживать</a:t>
            </a:r>
          </a:p>
          <a:p>
            <a:r>
              <a:t>отказались. Официальный долларовый прейскурант пересчитывается по внутреннему курсу сто</a:t>
            </a:r>
          </a:p>
          <a:p>
            <a:r>
              <a:t>девяносто шесть рублей сорок две копейки за доллар против восьмидесяти рублей сорока девяти</a:t>
            </a:r>
          </a:p>
          <a:p>
            <a:r>
              <a:t>копеек у Центробанка, и множитель совпадает до второго знака по девяти моделям сразу. В</a:t>
            </a:r>
          </a:p>
          <a:p>
            <a:r>
              <a:t>деньгах: миллион входных плюс миллион выходных токенов обходятся в тысячу четыреста сорок</a:t>
            </a:r>
          </a:p>
          <a:p>
            <a:r>
              <a:t>девять рублей напрямую против трёх тысяч пятисот тридцати шести через посредника — переплата</a:t>
            </a:r>
          </a:p>
          <a:p>
            <a:r>
              <a:t>две тысячи восемьдесят семь рублей. Числа перепроверены двумя независимыми маршрутами и совпали</a:t>
            </a:r>
          </a:p>
          <a:p>
            <a:r>
              <a:t>до копейки. Существенная оговорка: на российские, китайские и открытые модели, которые это же</a:t>
            </a:r>
          </a:p>
          <a:p>
            <a:r>
              <a:t>облако хостит у себя, множитель не распространяется, там цена своя и часто очень низкая.</a:t>
            </a:r>
          </a:p>
          <a:p>
            <a:r>
              <a:t>Два и сорок четыре сотых — это цена дотягивания до модели, которая вас обслуживать не хочет, и</a:t>
            </a:r>
          </a:p>
          <a:p>
            <a:r>
              <a:t>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которое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одной штуки — ни доли рынка, ни числа генераций, ни экономии у заказчика, ни</a:t>
            </a:r>
          </a:p>
          <a:p>
            <a:r>
              <a:t>судебных исходов. Поэтому происхождение данных как товарное свойство здесь названо, а подробным</a:t>
            </a:r>
          </a:p>
          <a:p>
            <a:r>
              <a:t>разбором не назначено,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Генерация —</a:t>
            </a:r>
          </a:p>
          <a:p>
            <a:r>
              <a:t>цикл: предсказали распределение на словаре, выбрали один токен правилом сэмплинга, дописали в</a:t>
            </a:r>
          </a:p>
          <a:p>
            <a:r>
              <a:t>контекст, повторили. Чтобы получить тысячу токенов, нужна тысяча последовательных проходов</a:t>
            </a:r>
          </a:p>
          <a:p>
            <a:r>
              <a:t>сети.</a:t>
            </a:r>
          </a:p>
          <a:p>
            <a:r>
              <a:t/>
            </a:r>
          </a:p>
          <a:p>
            <a:r>
              <a:t>Что это семейство делает хорошо: произвольную длину выхода — цикл просто не останавливают;</a:t>
            </a:r>
          </a:p>
          <a:p>
            <a:r>
              <a:t>точную условную вероятность каждого шага, откуда растут логиты, температура и гарантированный</a:t>
            </a:r>
          </a:p>
          <a:p>
            <a:r>
              <a:t>формат вывода; и естественную причинность, когда шаг видит всё, что было до него. Чего оно</a:t>
            </a:r>
          </a:p>
          <a:p>
            <a:r>
              <a:t>принципиально не умеет — исправлять уже написанное. Токен, попавший в контекст, становится</a:t>
            </a:r>
          </a:p>
          <a:p>
            <a:r>
              <a:t>условием для всех следующих; отсюда наблюдение, что расхождение в одном младшем разряде</a:t>
            </a:r>
          </a:p>
          <a:p>
            <a:r>
              <a:t>разносится авторегрессией по всему ответу. Переписать второй абзац, когда написан десятый, в</a:t>
            </a:r>
          </a:p>
          <a:p>
            <a:r>
              <a:t>самом механизме не предусмотрено.</a:t>
            </a:r>
          </a:p>
          <a:p>
            <a:r>
              <a:t/>
            </a:r>
          </a:p>
          <a:p>
            <a:r>
              <a:t>И цена: число шагов равно длине выхода. Для текста это нормально — тысяча токенов. Для картинки</a:t>
            </a:r>
          </a:p>
          <a:p>
            <a:r>
              <a:t>1024×1024 в сыром виде это три миллиона сто сорок пять тысяч семьсот двадцать восемь чисел, и</a:t>
            </a:r>
          </a:p>
          <a:p>
            <a:r>
              <a:t>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 Отличие</a:t>
            </a:r>
          </a:p>
          <a:p>
            <a:r>
              <a:t>от первого семейства помещается в одну фразу: авторегрессия достраивает объект по частям,</a:t>
            </a:r>
          </a:p>
          <a:p>
            <a:r>
              <a:t>расшумление правит весь объект сразу, но много раз.</a:t>
            </a:r>
          </a:p>
          <a:p>
            <a:r>
              <a:t/>
            </a:r>
          </a:p>
          <a:p>
            <a:r>
              <a:t>Что это семейство делает хорошо: глобальную согласованность — на каждом шаге сеть видит всю</a:t>
            </a:r>
          </a:p>
          <a:p>
            <a:r>
              <a:t>картинку и может переставить композицию, пока шум ещё велик; фиксированную размерность выхода,</a:t>
            </a:r>
          </a:p>
          <a:p>
            <a:r>
              <a:t>ровно то, что нужно изображению; и параллельность внутри шага — все единицы обрабатываются</a:t>
            </a:r>
          </a:p>
          <a:p>
            <a:r>
              <a:t>одним проходом. Чего оно не умеет принципиально — выдать вероятность вот этой конкретной</a:t>
            </a:r>
          </a:p>
          <a:p>
            <a:r>
              <a:t>картинки. Точного правдоподобия у него нет, а значит, нет ни логитов, ни температуры, ни</a:t>
            </a:r>
          </a:p>
          <a:p>
            <a:r>
              <a:t>маскирования запрещённых вариантов. Нет и частичного вывода: до последнего шага промежуточные</a:t>
            </a:r>
          </a:p>
          <a:p>
            <a:r>
              <a:t>состояния — это шум, у них нет смысла сами по себе. Остановиться на полуслове нельзя: половина</a:t>
            </a:r>
          </a:p>
          <a:p>
            <a:r>
              <a:t>шагов даёт мутную картинку, а вовсе не половину картинки. Это различие ещё вернётся, когда</a:t>
            </a:r>
          </a:p>
          <a:p>
            <a:r>
              <a:t>речь пойдёт о том, почему у генератора нет механических гарантий формы.</a:t>
            </a:r>
          </a:p>
          <a:p>
            <a:r>
              <a:t/>
            </a:r>
          </a:p>
          <a:p>
            <a:r>
              <a:t>Цена второго семейства устроена зеркально первому: число шагов не зависит от размера выхода,</a:t>
            </a:r>
          </a:p>
          <a:p>
            <a:r>
              <a:t>оно задано сэмплером. Было тысяча в 2020 году, стало двадцать—пятьдесят на практике и один—четыре</a:t>
            </a:r>
          </a:p>
          <a:p>
            <a:r>
              <a:t>в дистиллированных моделях.</a:t>
            </a:r>
          </a:p>
          <a:p>
            <a:r>
              <a:t/>
            </a:r>
          </a:p>
          <a:p>
            <a:r>
              <a:t>Почему семейств именно два, а не три и не одно. Разделение структурное: текст дискретен,</a:t>
            </a:r>
          </a:p>
          <a:p>
            <a:r>
              <a:t>изображение непрерывно. Текст уже разбит на конечный словарь, по нему естественно считать</a:t>
            </a:r>
          </a:p>
          <a:p>
            <a:r>
              <a:t>вероятности. Изображение — непрерывный сигнал, и попытки квантовать его в словарь работали, но</a:t>
            </a:r>
          </a:p>
          <a:p>
            <a:r>
              <a:t>проигрывали по качеству деталей.</a:t>
            </a:r>
          </a:p>
          <a:p>
            <a:r>
              <a:t/>
            </a:r>
          </a:p>
          <a:p>
            <a:r>
              <a:t>И граница размывается с обеих сторон — это надо сказать, иначе «два семейства» превратятся в</a:t>
            </a:r>
          </a:p>
          <a:p>
            <a:r>
              <a:t>догму. Авторегрессия вернулась в изображения: современные мультимодальные модели генерируют</a:t>
            </a:r>
          </a:p>
          <a:p>
            <a:r>
              <a:t>картинку токенами в той же сети, что пишет текст, — отсюда их заметно лучшее понимание сложных</a:t>
            </a:r>
          </a:p>
          <a:p>
            <a:r>
              <a:t>инструкций и текста внутри кадра, и отсюда же их заметно бо́льшая цена за кадр. Расшумление</a:t>
            </a:r>
          </a:p>
          <a:p>
            <a:r>
              <a:t>пришло в текст: диффузионные языковые модели генерируют его расшумлением всего блока сразу,</a:t>
            </a:r>
          </a:p>
          <a:p>
            <a:r>
              <a:t>ради скорости; направление молодое, и продуктовая зрелость на 2026 год не доказана. А посередине</a:t>
            </a:r>
          </a:p>
          <a:p>
            <a:r>
              <a:t>живёт спрямлённый поток, который формально уже не диффузия, и индустрия последних двух лет ушла</a:t>
            </a:r>
          </a:p>
          <a:p>
            <a:r>
              <a:t>туда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Каноническая формулировка прямого процесса — работа Хо, Джайна и Аббеля 2020 года;</a:t>
            </a:r>
          </a:p>
          <a:p>
            <a:r>
              <a:t>предшественник — работа Соль-Дикштейна и соавторов 2015-го.</a:t>
            </a:r>
          </a:p>
          <a:p>
            <a:r>
              <a:t/>
            </a:r>
          </a:p>
          <a:p>
            <a:r>
              <a:t>Берём настоящую картинку и T раз подмешиваем в неё немного гауссова шума. На каждом шаге</a:t>
            </a:r>
          </a:p>
          <a:p>
            <a:r>
              <a:t>прежнее изображение слегка ужимается, и к нему добавляется случайная добавка заданной силы;</a:t>
            </a:r>
          </a:p>
          <a:p>
            <a:r>
              <a:t>сила задана коэффициентом, который в исходной работе рос от одной десятитысячной до двух сотых</a:t>
            </a:r>
          </a:p>
          <a:p>
            <a:r>
              <a:t>за тысячу шагов. После тысячи таких шагов от картинки не остаётся ничего — чистый шум.</a:t>
            </a:r>
          </a:p>
          <a:p>
            <a:r>
              <a:t/>
            </a:r>
          </a:p>
          <a:p>
            <a:r>
              <a:t>Одно свойство прямого процесса делает всю конструкцию работоспособной: до любого шага можно</a:t>
            </a:r>
          </a:p>
          <a:p>
            <a:r>
              <a:t>прыгнуть сразу, не прокручивая цикл. Зашумлённая картинка на шаге t — это линейная смесь</a:t>
            </a:r>
          </a:p>
          <a:p>
            <a:r>
              <a:t>оригинала и шума, где доля оригинала плавно едет от почти единицы до почти нуля по известной</a:t>
            </a:r>
          </a:p>
          <a:p>
            <a:r>
              <a:t>формуле.</a:t>
            </a:r>
          </a:p>
          <a:p>
            <a:r>
              <a:t/>
            </a:r>
          </a:p>
          <a:p>
            <a:r>
              <a:t>И отсюда главное для понимания экономики метода: прямой процесс не содержит ни одного</a:t>
            </a:r>
          </a:p>
          <a:p>
            <a:r>
              <a:t>обучаемого параметра. Это формула, её не надо учить, она считается мгновенно. Поэтому обучение</a:t>
            </a:r>
          </a:p>
          <a:p>
            <a:r>
              <a:t>устроено дёшево: берём случайный номер шага, по формуле делаем зашумлённую картинку и учим сеть</a:t>
            </a:r>
          </a:p>
          <a:p>
            <a:r>
              <a:t>на одном шаге. Прокручивать длинную цепочку не нужно. Ровно в этом причина, по которой</a:t>
            </a:r>
          </a:p>
          <a:p>
            <a:r>
              <a:t>расшумление вытеснило состязательные сети: там обучение требовало поддерживать равновесие двух</a:t>
            </a:r>
          </a:p>
          <a:p>
            <a:r>
              <a:t>сетей и постоянно расходилось, здесь функция потерь — обычное среднеквадратичное отклонение, и</a:t>
            </a:r>
          </a:p>
          <a:p>
            <a:r>
              <a:t>обучение устойчиво по построению.</a:t>
            </a:r>
          </a:p>
          <a:p>
            <a:r>
              <a:t/>
            </a:r>
          </a:p>
          <a:p>
            <a:r>
              <a:t>Обратный шаг тоже гауссов, и вся задача сводится к предсказанию его среднего. Авторы показали,</a:t>
            </a:r>
          </a:p>
          <a:p>
            <a:r>
              <a:t>что удобнее всего перепараметризовать это как предсказание шума: сеть получает на вход</a:t>
            </a:r>
          </a:p>
          <a:p>
            <a:r>
              <a:t>зашумлённую картинку и номер шага, а на выходе говорит — вот этот шум я тут вижу. Дальше шум</a:t>
            </a:r>
          </a:p>
          <a:p>
            <a:r>
              <a:t>вычитается, и получается следующее приближение.</a:t>
            </a:r>
          </a:p>
          <a:p>
            <a:r>
              <a:t/>
            </a:r>
          </a:p>
          <a:p>
            <a:r>
              <a:t>Вариантов того, что именно предсказывает сеть, три, и знать их стоит, потому что их названия</a:t>
            </a:r>
          </a:p>
          <a:p>
            <a:r>
              <a:t>встречаются в настройках любого открытого инструмента. Предсказание шума — исходный вариант,</a:t>
            </a:r>
          </a:p>
          <a:p>
            <a:r>
              <a:t>на нём стоят Stable Diffusion первой версии и базовая вторая. Предсказание исходной картинки —</a:t>
            </a:r>
          </a:p>
          <a:p>
            <a:r>
              <a:t>ранние работы. Предсказание скорости, то есть комбинации первых двух, — вторая с небольшим</a:t>
            </a:r>
          </a:p>
          <a:p>
            <a:r>
              <a:t>версия, уточняющая модель SDXL и почти все дистилляции.</a:t>
            </a:r>
          </a:p>
          <a:p>
            <a:r>
              <a:t/>
            </a:r>
          </a:p>
          <a:p>
            <a:r>
              <a:t>Почему победила скорость, стоит понять, потому что это типичный пример инженерного выбора</a:t>
            </a:r>
          </a:p>
          <a:p>
            <a:r>
              <a:t>между двумя вырождающимися крайностями. Предсказание шума вырождается на малом шуме: сеть</a:t>
            </a:r>
          </a:p>
          <a:p>
            <a:r>
              <a:t>просят угадать почти нулевой остаток, и сигнал тонет в численной погрешности. Предсказание</a:t>
            </a:r>
          </a:p>
          <a:p>
            <a:r>
              <a:t>исходной картинки вырождается на большом: угадать изображение из чистого шума невозможно,</a:t>
            </a:r>
          </a:p>
          <a:p>
            <a:r>
              <a:t>сеть вынуждена угадывать слишком много. Скорость — комбинация обоих, и у неё содержательная</a:t>
            </a:r>
          </a:p>
          <a:p>
            <a:r>
              <a:t>цель на всём диапазоне расписания. Для дистилляции в малое число шагов это оказалось</a:t>
            </a:r>
          </a:p>
          <a:p>
            <a:r>
              <a:t>решающим, и именно поэтому почти все быстрые модели сегодня устроены так.</a:t>
            </a:r>
          </a:p>
          <a:p>
            <a:r>
              <a:t/>
            </a:r>
          </a:p>
          <a:p>
            <a:r>
              <a:t>Отдельного внимания заслуживает то, как сила подмешиваемого шума меняется с номером шага: это</a:t>
            </a:r>
          </a:p>
          <a:p>
            <a:r>
              <a:t>называется расписанием шума, и это часть постановки задачи, а не гиперпараметр на вкус. Здесь</a:t>
            </a:r>
          </a:p>
          <a:p>
            <a:r>
              <a:t>есть хороший пример инженерной ошибки, которую нашли не сразу. Чем больше картинка, тем больше</a:t>
            </a:r>
          </a:p>
          <a:p>
            <a:r>
              <a:t>в ней избыточности между соседними точками и тем меньше шума нужно, чтобы разрушить</a:t>
            </a:r>
          </a:p>
          <a:p>
            <a:r>
              <a:t>содержание. Расписание, настроенное на маленькое разрешение, на большом оставляет картинку</a:t>
            </a:r>
          </a:p>
          <a:p>
            <a:r>
              <a:t>недоразрушенной: на последнем шаге она всё ещё узнаваема, и модель никогда не учится строить</a:t>
            </a:r>
          </a:p>
          <a:p>
            <a:r>
              <a:t>композицию с нуля. Это явно сформулировали и исправили в 2024 году, введя сдвиг временной шкалы</a:t>
            </a:r>
          </a:p>
          <a:p>
            <a:r>
              <a:t>в зависимости от разрешения; то, что в интерфейсах называется сдвигом, — это оно. Диагностически</a:t>
            </a:r>
          </a:p>
          <a:p>
            <a:r>
              <a:t>полезное следствие: если у модели нормальные текстуры и разваливающаяся компоновка, смотреть</a:t>
            </a:r>
          </a:p>
          <a:p>
            <a:r>
              <a:t>надо сюда.</a:t>
            </a:r>
          </a:p>
          <a:p>
            <a:r>
              <a:t/>
            </a:r>
          </a:p>
          <a:p>
            <a:r>
              <a:t>И граница параллели с курсом, которую надо назвать прямо, потому что аудитория достроит её</a:t>
            </a:r>
          </a:p>
          <a:p>
            <a:r>
              <a:t>сама и достроит неверно. Вопрос «что стоит на выходе модели» для языковой модели имеет ответ:</a:t>
            </a:r>
          </a:p>
          <a:p>
            <a:r>
              <a:t>распределение вероятностей на словаре. Выход дискретен и нормирован, сумма равна единице, и из</a:t>
            </a:r>
          </a:p>
          <a:p>
            <a:r>
              <a:t>этого вырастают логиты, температура и логарифмическая вероятность как мера уверенности. Здесь</a:t>
            </a:r>
          </a:p>
          <a:p>
            <a:r>
              <a:t>на выходе вектор той же размерности, что вход: величина непрерывная, нормировки нет, вероятности</a:t>
            </a:r>
          </a:p>
          <a:p>
            <a:r>
              <a:t>нет. Это не деталь реализации. Это причина, по которой у генератора изображений нет и не может</a:t>
            </a:r>
          </a:p>
          <a:p>
            <a:r>
              <a:t>быть меры уверенности в собственном выводе — и дальше из неё вырастет сразу несколько границ</a:t>
            </a:r>
          </a:p>
          <a:p>
            <a:r>
              <a:t>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Обучение не задаёт, сколько шагов делать при запуске. Это отдельный выбор, и делает его</a:t>
            </a:r>
          </a:p>
          <a:p>
            <a:r>
              <a:t>сэмплер — решатель. Обратный процесс записывается как решение дифференциального уравнения, и</a:t>
            </a:r>
          </a:p>
          <a:p>
            <a:r>
              <a:t>дальше это обычная численная математика: чем точнее метод, тем меньше шагов нужно для той же</a:t>
            </a:r>
          </a:p>
          <a:p>
            <a:r>
              <a:t>ошибки.</a:t>
            </a:r>
          </a:p>
          <a:p>
            <a:r>
              <a:t/>
            </a:r>
          </a:p>
          <a:p>
            <a:r>
              <a:t>Лестница устроена так. Исходный вариант 2020 года — тысяча шагов: честная марковская цепочка, на</a:t>
            </a:r>
          </a:p>
          <a:p>
            <a:r>
              <a:t>каждом шаге подмешивается новый случайный шум, процесс стохастический. Следующая ступень того же</a:t>
            </a:r>
          </a:p>
          <a:p>
            <a:r>
              <a:t>года — двадцать—сто шагов: тот же обученный предсказатель шума, но процесс переписан как</a:t>
            </a:r>
          </a:p>
          <a:p>
            <a:r>
              <a:t>детерминированный, и шаги стало можно пропускать. Прямые численные схемы первого и второго</a:t>
            </a:r>
          </a:p>
          <a:p>
            <a:r>
              <a:t>порядка дают двадцать—пятьдесят. Методы высокого порядка, построенные на точном решении линейной</a:t>
            </a:r>
          </a:p>
          <a:p>
            <a:r>
              <a:t>части уравнения, — десять—двадцать. Предиктор-корректор поверх той же идеи — пять—десять.</a:t>
            </a:r>
          </a:p>
          <a:p>
            <a:r>
              <a:t/>
            </a:r>
          </a:p>
          <a:p>
            <a:r>
              <a:t>Главное, что надо проговорить вслух: все эти сэмплеры работают с одной и той же обученной</a:t>
            </a:r>
          </a:p>
          <a:p>
            <a:r>
              <a:t>сетью. Переключение сэмплера — смена численного метода, веса при этом не трогаются. Инженерная</a:t>
            </a:r>
          </a:p>
          <a:p>
            <a:r>
              <a:t>ценность наблюдения прямая: «качество выросло после смены сэмплера» означает, что вы уменьшили</a:t>
            </a:r>
          </a:p>
          <a:p>
            <a:r>
              <a:t>ошибку дискретизации, и обратно — сэмплер нельзя дообучить, у него нет параметров, кроме числа</a:t>
            </a:r>
          </a:p>
          <a:p>
            <a:r>
              <a:t>шагов и пары коэффициентов. И второе следствие, которое экономит деньги: больше шагов не значит</a:t>
            </a:r>
          </a:p>
          <a:p>
            <a:r>
              <a:t>лучше. После тридцати—пятидесяти шагов у современных моделей прирост уходит в шум, а время</a:t>
            </a:r>
          </a:p>
          <a:p>
            <a:r>
              <a:t>растёт линейно.</a:t>
            </a:r>
          </a:p>
          <a:p>
            <a:r>
              <a:t/>
            </a:r>
          </a:p>
          <a:p>
            <a:r>
              <a:t>Ниже десяти шагов численными методами уже не спуститься — там нужно менять веса, и это</a:t>
            </a:r>
          </a:p>
          <a:p>
            <a:r>
              <a:t>дистилляция ровно в том смысле, который курс дал раньше: ученик учится воспроизводить выход</a:t>
            </a:r>
          </a:p>
          <a:p>
            <a:r>
              <a:t>учителя, и обучающий сигнал генерирует сам учитель. Здесь ученик и учитель — обычно одна и та же</a:t>
            </a:r>
          </a:p>
          <a:p>
            <a:r>
              <a:t>архитектура, а воспроизводится результат нескольких шагов сэмплера за один шаг.</a:t>
            </a:r>
          </a:p>
          <a:p>
            <a:r>
              <a:t/>
            </a:r>
          </a:p>
          <a:p>
            <a:r>
              <a:t>Способов дистилляции несколько. Постепенная: ученик за один шаг воспроизводит то, что учитель</a:t>
            </a:r>
          </a:p>
          <a:p>
            <a:r>
              <a:t>делает за два, процедуру повторяют, каждый раз вдвое сокращая цепочку, — так тысяча доходит до</a:t>
            </a:r>
          </a:p>
          <a:p>
            <a:r>
              <a:t>четырёх. Дистилляция согласованности: сеть учат из любой точки траектории сразу попадать в её</a:t>
            </a:r>
          </a:p>
          <a:p>
            <a:r>
              <a:t>конечную точку, два—четыре шага. Состязательная: к потере дистилляции добавляют состязательную,</a:t>
            </a:r>
          </a:p>
          <a:p>
            <a:r>
              <a:t>и дискриминатор убирает замыленность, которой страдают чистые дистилляции, — один—четыре шага.</a:t>
            </a:r>
          </a:p>
          <a:p>
            <a:r>
              <a:t>И отдельно дистилляция обусловливания: эффект двойного прохода вшивают в веса, чтобы не вызывать</a:t>
            </a:r>
          </a:p>
          <a:p>
            <a:r>
              <a:t>сеть дважды на каждом шаге.</a:t>
            </a:r>
          </a:p>
          <a:p>
            <a:r>
              <a:t/>
            </a:r>
          </a:p>
          <a:p>
            <a:r>
              <a:t>Чем за это заплачено — обязательная половина разбора, и без неё лестница становится рекламой.</a:t>
            </a:r>
          </a:p>
          <a:p>
            <a:r>
              <a:t>Дистилляция в один—четыре шага стабильно уменьшает разнообразие выхода: ученик сходится к</a:t>
            </a:r>
          </a:p>
          <a:p>
            <a:r>
              <a:t>усреднённому хорошему ответу учителя, и десять генераций по одному описанию при разных</a:t>
            </a:r>
          </a:p>
          <a:p>
            <a:r>
              <a:t>стартовых шумах оказываются похожими сильнее, чем у недистиллированной модели. Это ровно тот</a:t>
            </a:r>
          </a:p>
          <a:p>
            <a:r>
              <a:t>потолок способностей ученика, который курс назвал применительно к языковым моделям; здесь он</a:t>
            </a:r>
          </a:p>
          <a:p>
            <a:r>
              <a:t>проявился в вариативности вместо точности.</a:t>
            </a:r>
          </a:p>
          <a:p>
            <a:r>
              <a:t/>
            </a:r>
          </a:p>
          <a:p>
            <a:r>
              <a:t>И вот тут видно, почему этот обмен нельзя оценивать вообще, в отрыве от задачи. Для</a:t>
            </a:r>
          </a:p>
          <a:p>
            <a:r>
              <a:t>продуктового конвейера, где нужен один приличный кадр за секунду, обмен выгодный: разнообразие</a:t>
            </a:r>
          </a:p>
          <a:p>
            <a:r>
              <a:t>там не нужно, нужна скорость и предсказуемость. Для творческого перебора вариантов — это потеря</a:t>
            </a:r>
          </a:p>
          <a:p>
            <a:r>
              <a:t>главного, потому что перебор вариантов и есть весь выигрыш, ради которого вечер и собран. Модель,</a:t>
            </a:r>
          </a:p>
          <a:p>
            <a:r>
              <a:t>дистиллированная до четырёх шагов, стоит дешевле и отдаёт вам меньше того, за чем вы пришли.</a:t>
            </a:r>
          </a:p>
          <a:p>
            <a:r>
              <a:t/>
            </a:r>
          </a:p>
          <a:p>
            <a:r>
              <a:t>Арифметика выигрыша считается на кадре за минуту. Генерация 1024×1024 на недистиллированной</a:t>
            </a:r>
          </a:p>
          <a:p>
            <a:r>
              <a:t>модели: пятьдесят шагов, помноженные на два прохода на шаг ради направляющего коэффициента, —</a:t>
            </a:r>
          </a:p>
          <a:p>
            <a:r>
              <a:t>сто проходов сети. Её дистиллированная родственница того же размера: четыре шага по одному</a:t>
            </a:r>
          </a:p>
          <a:p>
            <a:r>
              <a:t>проходу, обусловливание уже вшито в веса, — четыре прохода. Разница в двадцать пять раз при том</a:t>
            </a:r>
          </a:p>
          <a:p>
            <a:r>
              <a:t>же размере сети. Сверка с измерением сходится по порядку: первая занимает около двадцати секунд</a:t>
            </a:r>
          </a:p>
          <a:p>
            <a:r>
              <a:t>на игровой видеокарте верхнего уровня, вторая — около трёх; отношение примерно шесть целых семь</a:t>
            </a:r>
          </a:p>
          <a:p>
            <a:r>
              <a:t>десятых при расчётных двенадцати с половиной, и расхождение объясняется худшей загрузкой карты</a:t>
            </a:r>
          </a:p>
          <a:p>
            <a:r>
              <a:t>при малом числе шагов. Вот и ответ на вопрос, почему одна картинка может стоить и секунду, и</a:t>
            </a:r>
          </a:p>
          <a:p>
            <a:r>
              <a:t>полминуты: решает число шагов, а размер модели здесь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главное практическое: диффузионная сеть не</a:t>
            </a:r>
          </a:p>
          <a:p>
            <a:r>
              <a:t>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Вот ключевое число всего блока: картинка 1024×1024 — это 4096 токенов. Ровно того сорта токенов,</a:t>
            </a:r>
          </a:p>
          <a:p>
            <a:r>
              <a:t>по которым считается карта внимания каждый-против-каждого. Плюс текстовые токены обусловливания:</a:t>
            </a:r>
          </a:p>
          <a:p>
            <a:r>
              <a:t>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главная: картинка, прошедшая через автокодировщик и обратно, уже не идентична оригиналу, причём</a:t>
            </a:r>
          </a:p>
          <a:p>
            <a:r>
              <a:t>не идентична ещё до того, как к ней притронулась генеративная модель. Это стоит проверить</a:t>
            </a:r>
          </a:p>
          <a:p>
            <a:r>
              <a:t>руками: прогнать фотографию через кодирование и декодирование без всякой генерации и посмотреть</a:t>
            </a:r>
          </a:p>
          <a:p>
            <a:r>
              <a:t>разницу. Пятиминутный опыт, объясняющий половину артефактов, которые вы видели в 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a:t>
            </a:r>
          </a:p>
          <a:p>
            <a:r>
              <a:t/>
            </a:r>
          </a:p>
          <a:p>
            <a:r>
              <a:t>Первое структурное обстоятельство: описание не попадает в диффузионную сеть напрямую. Его</a:t>
            </a:r>
          </a:p>
          <a:p>
            <a:r>
              <a:t>сначала обрабатывает отдельная, замороженная, обученная кем-то другим текстовая модель, и</a:t>
            </a:r>
          </a:p>
          <a:p>
            <a:r>
              <a:t>генератор видит только её выход — последовательность векторов. Конвейер снова собран из</a:t>
            </a:r>
          </a:p>
          <a:p>
            <a:r>
              <a:t>независимо обученных частей. У SD3 таких частей четыре: автокодировщик плюс три текстовых</a:t>
            </a:r>
          </a:p>
          <a:p>
            <a:r>
              <a:t>кодировщика, и сверх них сама диффузионная сеть.</a:t>
            </a:r>
          </a:p>
          <a:p>
            <a:r>
              <a:t/>
            </a:r>
          </a:p>
          <a:p>
            <a:r>
              <a:t>Поколения различаются тем, какие кодировщики берут. Первая версия Stable Diffusion брала</a:t>
            </a:r>
          </a:p>
          <a:p>
            <a:r>
              <a:t>текстовую половину контрастно обученной модели на сто двадцать три миллиона параметров, окно —</a:t>
            </a:r>
          </a:p>
          <a:p>
            <a:r>
              <a:t>семьдесят семь токенов. SDXL взяла две такие и склеила выходы. SD3 — три, включая большую</a:t>
            </a:r>
          </a:p>
          <a:p>
            <a:r>
              <a:t>языковую модель. FLUX.1 — две, причём языковая даёт потокенные представления до пятисот</a:t>
            </a:r>
          </a:p>
          <a:p>
            <a:r>
              <a:t>двенадцати токенов.</a:t>
            </a:r>
          </a:p>
          <a:p>
            <a:r>
              <a:t/>
            </a:r>
          </a:p>
          <a:p>
            <a:r>
              <a:t>Почему индустрия ушла от контрастных кодировщиков к обычным языковым, стоит понять. Контрастная</a:t>
            </a:r>
          </a:p>
          <a:p>
            <a:r>
              <a:t>модель обучена сближать вектор картинки и вектор подписи целиком: её текстовая половина хорошо</a:t>
            </a:r>
          </a:p>
          <a:p>
            <a:r>
              <a:t>кодирует, про что картинка, и плохо — синтаксис, порядок слов, отрицание, точные формулировки.</a:t>
            </a:r>
          </a:p>
          <a:p>
            <a:r>
              <a:t>Обычная языковая модель обучена на тексте и кодирует структуру фразы. В 2022 году было впервые</a:t>
            </a:r>
          </a:p>
          <a:p>
            <a:r>
              <a:t>показано: увеличение текстового кодировщика даёт больший прирост качества, чем увеличение самой</a:t>
            </a:r>
          </a:p>
          <a:p>
            <a:r>
              <a:t>диффузионной сети. Индустрия этот вывод усвоила, и вся колонка кодировщиков — его следствие.</a:t>
            </a:r>
          </a:p>
          <a:p>
            <a:r>
              <a:t/>
            </a:r>
          </a:p>
          <a:p>
            <a:r>
              <a:t>Измеренное следствие стоит знать и в практическом виде. Авторы SD3 обучали модель с выпадением</a:t>
            </a:r>
          </a:p>
          <a:p>
            <a:r>
              <a:t>текстовых кодировщиков и проверяли, что будет, если убрать самый большой из них при запуске. Их</a:t>
            </a:r>
          </a:p>
          <a:p>
            <a:r>
              <a:t>вывод: он важен для сложных описаний — с высокой детализацией или с длинным текстом по буквам, —</a:t>
            </a:r>
          </a:p>
          <a:p>
            <a:r>
              <a:t>а для большинства описаний его удаление сохраняет конкурентное качество. То есть большой</a:t>
            </a:r>
          </a:p>
          <a:p>
            <a:r>
              <a:t>кодировщик оплачивает ровно две вещи: длинные сложные инструкции и текст внутри картинки, —</a:t>
            </a:r>
          </a:p>
          <a:p>
            <a:r>
              <a:t>именно те две, в которых генераторы были плохи до 2024 года. Инженерное следствие прямое: это</a:t>
            </a:r>
          </a:p>
          <a:p>
            <a:r>
              <a:t>четыре с половиной миллиарда параметров в памяти, и если задача не требует ни длинных описаний,</a:t>
            </a:r>
          </a:p>
          <a:p>
            <a:r>
              <a:t>ни надписей, его можно не грузить.</a:t>
            </a:r>
          </a:p>
          <a:p>
            <a:r>
              <a:t/>
            </a:r>
          </a:p>
          <a:p>
            <a:r>
              <a:t>Теперь сам механизм. В поколении U-Net текстовые векторы влияют на расшумление через</a:t>
            </a:r>
          </a:p>
          <a:p>
            <a:r>
              <a:t>перекрёстное внимание, и это ровно механизм, разобранный курсом,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 «визитная карточка слова» и «смысл,</a:t>
            </a:r>
          </a:p>
          <a:p>
            <a:r>
              <a:t>который вольётся, если слово выбрали». Структурное наблюдение «Q про текущий шаг, K и V про</a:t>
            </a:r>
          </a:p>
          <a:p>
            <a:r>
              <a:t>контекст» превращается здесь в «Q про картинку, K и V про текст». Карта внимания получается</a:t>
            </a:r>
          </a:p>
          <a:p>
            <a:r>
              <a:t>прямоугольной: четыре тысячи областей картинки против семидесяти семи слов описания. И эта карта</a:t>
            </a:r>
          </a:p>
          <a:p>
            <a:r>
              <a:t>интерпретируема буквально: её можно отрисовать и увидеть, какие области откликнулись на слово</a:t>
            </a:r>
          </a:p>
          <a:p>
            <a:r>
              <a:t>«кот». На этом построены все инструменты просмотра карт внимания и методы редактирования по</a:t>
            </a:r>
          </a:p>
          <a:p>
            <a:r>
              <a:t>описанию.</a:t>
            </a:r>
          </a:p>
          <a:p>
            <a:r>
              <a:t/>
            </a:r>
          </a:p>
          <a:p>
            <a:r>
              <a:t>В поколении трансформеров перекрёстного внимания больше нет: текстовые и изобразительные токены</a:t>
            </a:r>
          </a:p>
          <a:p>
            <a:r>
              <a:t>склеивают в одну последовательность и пропускают через обычное совместное внимание. Карта</a:t>
            </a:r>
          </a:p>
          <a:p>
            <a:r>
              <a:t>становится квадратной — четыре тысячи шестьсот восемь на столько же у SD3, — и текст «видит»</a:t>
            </a:r>
          </a:p>
          <a:p>
            <a:r>
              <a:t>картинку так же, как картинка видит текст. Задача, которую этим решали, формулируется просто: в</a:t>
            </a:r>
          </a:p>
          <a:p>
            <a:r>
              <a:t>прежней схеме текст был односторонним входом, и для сложных описаний вроде «надпись горчицей на</a:t>
            </a:r>
          </a:p>
          <a:p>
            <a:r>
              <a:t>булочке» этого не хватало.</a:t>
            </a:r>
          </a:p>
          <a:p>
            <a:r>
              <a:t/>
            </a:r>
          </a:p>
          <a:p>
            <a:r>
              <a:t>Остальные каналы обусловливания устроены по тому же принципу. Картинка как условие: стартуем с</a:t>
            </a:r>
          </a:p>
          <a:p>
            <a:r>
              <a:t>зашумлённого до некоторого уровня оригинала, и ползунок «сила» — это ровно «с какого шага</a:t>
            </a:r>
          </a:p>
          <a:p>
            <a:r>
              <a:t>расписания начать». Маска: шум подмешивается только внутрь маски, снаружи латент на каждом шаге</a:t>
            </a:r>
          </a:p>
          <a:p>
            <a:r>
              <a:t>возвращается к исходному. Структурное условие — карта глубины, края, поза скелета. Образец стиля</a:t>
            </a:r>
          </a:p>
          <a:p>
            <a:r>
              <a:t>или лица: кодируется и подаётся как дополнительные токены внимания, то есть «описание, но</a:t>
            </a:r>
          </a:p>
          <a:p>
            <a:r>
              <a:t>картинкой».</a:t>
            </a:r>
          </a:p>
          <a:p>
            <a:r>
              <a:t/>
            </a:r>
          </a:p>
          <a:p>
            <a:r>
              <a:t>И общий принцип, который надо зафиксировать, потому что из него вырастут сразу три границы</a:t>
            </a:r>
          </a:p>
          <a:p>
            <a:r>
              <a:t>метода: любое обусловливание в этом семействе — это добавление ещё одного набора векторов во</a:t>
            </a:r>
          </a:p>
          <a:p>
            <a:r>
              <a:t>внимание или ещё одного слагаемого в предсказание шума. Жёстких ограничений, которые нельзя</a:t>
            </a:r>
          </a:p>
          <a:p>
            <a:r>
              <a:t>нарушить, среди них нет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параллель аудитория достроит сама, и она неверна по существу. Разбирать её надо, а не</a:t>
            </a:r>
          </a:p>
          <a:p>
            <a:r>
              <a:t>упоминать, потому что неверная параллель, оставленная без разбора, работает как знание и ведёт</a:t>
            </a:r>
          </a:p>
          <a:p>
            <a:r>
              <a:t>к неверным решениям в собственной работе.</a:t>
            </a:r>
          </a:p>
          <a:p>
            <a:r>
              <a:t/>
            </a:r>
          </a:p>
          <a:p>
            <a:r>
              <a:t>Сначала про то, где аналогия всё-таки работает, — иначе разбор выглядит придиркой. Оба</a:t>
            </a:r>
          </a:p>
          <a:p>
            <a:r>
              <a:t>параметра — единственная «ручка творчества», доступная пользователю при запуске. Оба не меняют</a:t>
            </a:r>
          </a:p>
          <a:p>
            <a:r>
              <a:t>веса и не добавляют знаний. У обоих есть рабочий диапазон, за которым выход деградирует. Оба —</a:t>
            </a:r>
          </a:p>
          <a:p>
            <a:r>
              <a:t>свойство процедуры вывода, обучение от них не зависит. Четырёх совпадений достаточно, чтобы</a:t>
            </a:r>
          </a:p>
          <a:p>
            <a:r>
              <a:t>параллель казалась убедительной.</a:t>
            </a:r>
          </a:p>
          <a:p>
            <a:r>
              <a:t/>
            </a:r>
          </a:p>
          <a:p>
            <a:r>
              <a:t>Теперь четыре различия, и каждое существенное. Первое и главное — что параметр делает с</a:t>
            </a:r>
          </a:p>
          <a:p>
            <a:r>
              <a:t>«мнением» модели. Температура не делает с ним ничего: курс формулирует это жёстко — порядок</a:t>
            </a:r>
          </a:p>
          <a:p>
            <a:r>
              <a:t>кандидатов не меняется никогда, меняется лишь то, насколько уверенно выборка держится этого</a:t>
            </a:r>
          </a:p>
          <a:p>
            <a:r>
              <a:t>порядка. Температура — делитель логитов, она перекраивает остроту уже посчитанного</a:t>
            </a:r>
          </a:p>
          <a:p>
            <a:r>
              <a:t>распределения. CFG меняет само предсказание: он экстраполирует за пределы того, что сеть</a:t>
            </a:r>
          </a:p>
          <a:p>
            <a:r>
              <a:t>выдала, и при коэффициенте семь итоговый вектор лежит там, где модель не предсказывала ничего.</a:t>
            </a:r>
          </a:p>
          <a:p>
            <a:r>
              <a:t>Второе — направление эффекта, и оно противоположное: рост температуры даёт больше случайности и</a:t>
            </a:r>
          </a:p>
          <a:p>
            <a:r>
              <a:t>меньше предсказуемости, рост CFG даёт меньше разнообразия и более жёсткое следование описанию.</a:t>
            </a:r>
          </a:p>
          <a:p>
            <a:r>
              <a:t>Третье — цена: у температуры ноль, одно деление над готовыми логитами; у CFG два прохода сети на</a:t>
            </a:r>
          </a:p>
          <a:p>
            <a:r>
              <a:t>каждом шаге. Четвёртое — где сидит случайность: у языковой модели в работе сэмплера, на каждом</a:t>
            </a:r>
          </a:p>
          <a:p>
            <a:r>
              <a:t>шаге; здесь — в стартовом шуме, и CFG к случайности отношения не имеет вовсе.</a:t>
            </a:r>
          </a:p>
          <a:p>
            <a:r>
              <a:t/>
            </a:r>
          </a:p>
          <a:p>
            <a:r>
              <a:t>Как это устроено внутри. При обучении модель учат одновременно условной и безусловной:</a:t>
            </a:r>
          </a:p>
          <a:p>
            <a:r>
              <a:t>примерно в десяти процентах случаев описание заменяют пустой строкой, и одна сеть умеет оба</a:t>
            </a:r>
          </a:p>
          <a:p>
            <a:r>
              <a:t>режима. При запуске на каждом шаге сеть вызывают дважды — с описанием и без, — берут разность</a:t>
            </a:r>
          </a:p>
          <a:p>
            <a:r>
              <a:t>между двумя предсказаниями («куда именно тянет описание») и перешагивают в эту сторону с</a:t>
            </a:r>
          </a:p>
          <a:p>
            <a:r>
              <a:t>коэффициентом. При коэффициенте единица формула вырождается в обычную условную генерацию; при</a:t>
            </a:r>
          </a:p>
          <a:p>
            <a:r>
              <a:t>большем идёт экстраполяция за пределы предсказанного. Типичные значения по поколениям: у ранних</a:t>
            </a:r>
          </a:p>
          <a:p>
            <a:r>
              <a:t>моделей семь—восемь, у SDXL пять—восемь, у SD3 четыре—пять, у FLUX.1 три с половиной.</a:t>
            </a:r>
          </a:p>
          <a:p>
            <a:r>
              <a:t/>
            </a:r>
          </a:p>
          <a:p>
            <a:r>
              <a:t>Цена названа прямо: два прохода сети на каждом шаге вместо одного, то есть генерация с CFG</a:t>
            </a:r>
          </a:p>
          <a:p>
            <a:r>
              <a:t>вдвое дороже. Отсюда отдельный приём — вшить эффект в веса и вызывать сеть один раз. Так устроены</a:t>
            </a:r>
          </a:p>
          <a:p>
            <a:r>
              <a:t>дистиллированные модели, и именно поэтому их ползунок «направление» ведёт себя иначе</a:t>
            </a:r>
          </a:p>
          <a:p>
            <a:r>
              <a:t>классического: это уже число, поданное сети на вход как признак, а не множитель экстраполяции.</a:t>
            </a:r>
          </a:p>
          <a:p>
            <a:r>
              <a:t/>
            </a:r>
          </a:p>
          <a:p>
            <a:r>
              <a:t>Что ломается на высоком коэффициенте, и у этого есть механизм, а не фольклор. Экстраполяция в</a:t>
            </a:r>
          </a:p>
          <a:p>
            <a:r>
              <a:t>формуле ничем не ограничена. При росте коэффициента дисперсия предсказанного шума уходит за</a:t>
            </a:r>
          </a:p>
          <a:p>
            <a:r>
              <a:t>пределы статистики, на которой обучался автокодировщик: латенты получают амплитуды, которые</a:t>
            </a:r>
          </a:p>
          <a:p>
            <a:r>
              <a:t>декодер корректно восстановить не умеет. На картинке это видно как пересвет и потеря деталей в</a:t>
            </a:r>
          </a:p>
          <a:p>
            <a:r>
              <a:t>светлом, кислотная перенасыщенность цвета, жёсткие контуры и «пластиковая» текстура, развал</a:t>
            </a:r>
          </a:p>
          <a:p>
            <a:r>
              <a:t>композиции на совсем больших значениях и падение разнообразия — описание продавливается</a:t>
            </a:r>
          </a:p>
          <a:p>
            <a:r>
              <a:t>настолько, что разные стартовые шумы дают почти одно и то же. Проблема признана и чинится</a:t>
            </a:r>
          </a:p>
          <a:p>
            <a:r>
              <a:t>отдельными работами: показано, что за перенасыщенность отвечает параллельная составляющая</a:t>
            </a:r>
          </a:p>
          <a:p>
            <a:r>
              <a:t>вектора обновления, а за качество — ортогональная, и первую предложено приглушать.</a:t>
            </a:r>
          </a:p>
          <a:p>
            <a:r>
              <a:t/>
            </a:r>
          </a:p>
          <a:p>
            <a:r>
              <a:t>Практическое правило для инженера. CFG — это не ползунок качества. Это сила, с которой вы</a:t>
            </a:r>
          </a:p>
          <a:p>
            <a:r>
              <a:t>продавливаете выход за границу того, что модель считает правдоподобным. Чем сильнее давите, тем</a:t>
            </a:r>
          </a:p>
          <a:p>
            <a:r>
              <a:t>точнее следование описанию и тем дальше результат от распределения настоящих картинок. Есть</a:t>
            </a:r>
          </a:p>
          <a:p>
            <a:r>
              <a:t>вилка, за которой следование перестаёт расти, тогда как артефакты продолжают.</a:t>
            </a:r>
          </a:p>
          <a:p>
            <a:r>
              <a:t/>
            </a:r>
          </a:p>
          <a:p>
            <a:r>
              <a:t>И отдельно про негативное описание, потому что вокруг него больше всего фольклора. В формуле</a:t>
            </a:r>
          </a:p>
          <a:p>
            <a:r>
              <a:t>предсказание без описания можно заменить другим текстом, и тогда экстраполяция идёт от</a:t>
            </a:r>
          </a:p>
          <a:p>
            <a:r>
              <a:t>негативного описания к позитивному. Это вся механика. Два вывода стоят того, чтобы их</a:t>
            </a:r>
          </a:p>
          <a:p>
            <a:r>
              <a:t>произнести. Первый: это ничего не запрещает. Нет никакой проверки «а нет ли на картинке лишних</a:t>
            </a:r>
          </a:p>
          <a:p>
            <a:r>
              <a:t>пальцев» — есть вектор направления, от которого отталкиваются. Аналога маскирования логитов</a:t>
            </a:r>
          </a:p>
          <a:p>
            <a:r>
              <a:t>здесь нет и быть не может: выход непрерывен, маскировать нечего. Второй: негативное описание</a:t>
            </a:r>
          </a:p>
          <a:p>
            <a:r>
              <a:t>бесплатно по вычислениям, потому что второй проход и так делался. А в моделях с</a:t>
            </a:r>
          </a:p>
          <a:p>
            <a:r>
              <a:t>дистиллированным обусловливанием второго прохода нет, и негативное описание там либо не</a:t>
            </a:r>
          </a:p>
          <a:p>
            <a:r>
              <a:t>работает, либо требует включить настоящий CFG и заплатить вдвое — частый источник недоумения</a:t>
            </a:r>
          </a:p>
          <a:p>
            <a:r>
              <a:t>при переходе между поколениями моделей.</a:t>
            </a:r>
          </a:p>
          <a:p>
            <a:r>
              <a:t/>
            </a:r>
          </a:p>
          <a:p>
            <a:r>
              <a:t>Связка, которой на самом кадре места не нашлось: негативное описание ничего не запрещает — это</a:t>
            </a:r>
          </a:p>
          <a:p>
            <a:r>
              <a:t>вторая точка опоры, от которой отталкиваются, а не проверка «нет ли лишних пальцев». И общее у</a:t>
            </a:r>
          </a:p>
          <a:p>
            <a:r>
              <a:t>двух параметров всё же есть: оба — единственная «ручка творчества» при запуске, оба не меняют</a:t>
            </a:r>
          </a:p>
          <a:p>
            <a:r>
              <a:t>веса и не добавляют знаний, и у обоих есть рабочий диапазон, за которым выход деградирует.</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изображений переехала из</a:t>
            </a:r>
          </a:p>
          <a:p>
            <a:r>
              <a:t>мира свёрточных сетей в тот же трансформер, который курс уже разбирал, — и переехала потому,</a:t>
            </a:r>
          </a:p>
          <a:p>
            <a:r>
              <a:t>что там работает масштабирование.</a:t>
            </a:r>
          </a:p>
          <a:p>
            <a:r>
              <a:t/>
            </a:r>
          </a:p>
          <a:p>
            <a:r>
              <a:t>U-Net придуман для сегментации медицинских снимков. Свёрточная сеть последовательно уменьшает</a:t>
            </a:r>
          </a:p>
          <a:p>
            <a:r>
              <a:t>разрешение, наращивая число каналов, потом симметрично восстанавливает его, причём каждому</a:t>
            </a:r>
          </a:p>
          <a:p>
            <a:r>
              <a:t>уровню восстанавливающей ветви напрямую прокидывается выход соответствующего уровня сжимающей;</a:t>
            </a:r>
          </a:p>
          <a:p>
            <a:r>
              <a:t>на схеме это похоже на букву U. Расшумлению подошло по построению: вход и выход одного размера,</a:t>
            </a:r>
          </a:p>
          <a:p>
            <a:r>
              <a:t>и нужна работа одновременно на всех масштабах — композиция на грубом, текстура на мелком. Текст</a:t>
            </a:r>
          </a:p>
          <a:p>
            <a:r>
              <a:t>попадал внутрь блоками перекрёстного внимания, то есть трансформерные блоки там уже были — как</a:t>
            </a:r>
          </a:p>
          <a:p>
            <a:r>
              <a:t>вставки внутрь свёрточного каркаса, а не как сам каркас.</a:t>
            </a:r>
          </a:p>
          <a:p>
            <a:r>
              <a:t/>
            </a:r>
          </a:p>
          <a:p>
            <a:r>
              <a:t>Ушли от него по причине, которую стоит назвать точно: свёрточный каркас несёт встроенные</a:t>
            </a:r>
          </a:p>
          <a:p>
            <a:r>
              <a:t>допущения о структуре картинки — локальность, инвариантность к сдвигу, — и эти допущения</a:t>
            </a:r>
          </a:p>
          <a:p>
            <a:r>
              <a:t>помогают на малых данных и мешают на больших, потому что сеть перестаёт масштабироваться</a:t>
            </a:r>
          </a:p>
          <a:p>
            <a:r>
              <a:t>предсказуемо. Про трансформеры к 2022 году было известно обратное.</a:t>
            </a:r>
          </a:p>
          <a:p>
            <a:r>
              <a:t/>
            </a:r>
          </a:p>
          <a:p>
            <a:r>
              <a:t>Работа про трансформер вместо U-Net вышла в декабре 2022 года, и из неё выросла практически вся</a:t>
            </a:r>
          </a:p>
          <a:p>
            <a:r>
              <a:t>линия последующих лет. Латент нарезается на патчи, каждый патч линейно проецируется в вектор —</a:t>
            </a:r>
          </a:p>
          <a:p>
            <a:r>
              <a:t>это ровно входная таблица представлений, разобранная курсом, только вместо поиска по словарю</a:t>
            </a:r>
          </a:p>
          <a:p>
            <a:r>
              <a:t>здесь линейная проекция, потому что вход непрерывен. Добавляются позиционные представления,</a:t>
            </a:r>
          </a:p>
          <a:p>
            <a:r>
              <a:t>дальше идут стандартные трансформерные блоки: многоголовое самовнимание, полносвязный слой,</a:t>
            </a:r>
          </a:p>
          <a:p>
            <a:r>
              <a:t>нормализация, остаточные связи.</a:t>
            </a:r>
          </a:p>
          <a:p>
            <a:r>
              <a:t/>
            </a:r>
          </a:p>
          <a:p>
            <a:r>
              <a:t>Измерение из приложения этой статьи стоит целого кадра. Три модели на одном наборе и одном</a:t>
            </a:r>
          </a:p>
          <a:p>
            <a:r>
              <a:t>бюджете обучения: у первой шестьсот семьдесят шесть миллионов параметров, семь целых тридцать</a:t>
            </a:r>
          </a:p>
          <a:p>
            <a:r>
              <a:t>девять сотых гигафлопс на проход и метрика расстояния сто шесть целых сорок одна сотая; у</a:t>
            </a:r>
          </a:p>
          <a:p>
            <a:r>
              <a:t>третьей шестьсот семьдесят пять миллионов параметров, сто восемнадцать целых шестьдесят четыре</a:t>
            </a:r>
          </a:p>
          <a:p>
            <a:r>
              <a:t>сотых гигафлопс и метрика девятнадцать целых сорок семь сотых — меньше здесь лучше. Число</a:t>
            </a:r>
          </a:p>
          <a:p>
            <a:r>
              <a:t>параметров практически одинаковое. Разница только в размере патча, то есть в том, на сколько</a:t>
            </a:r>
          </a:p>
          <a:p>
            <a:r>
              <a:t>токенов порезали один и тот же латент. Шестнадцатикратный рост вычислений даёт пятикратное</a:t>
            </a:r>
          </a:p>
          <a:p>
            <a:r>
              <a:t>улучшение метрики при неизменном размере модели. Это прямое подтверждение тезиса курса в новой</a:t>
            </a:r>
          </a:p>
          <a:p>
            <a:r>
              <a:t>области: стоимость и качество здесь определяются длиной последовательности, а не числом весов.</a:t>
            </a:r>
          </a:p>
          <a:p>
            <a:r>
              <a:t>И это же — место, где припев вечера предъявляется измерением: рычаг сидит в том, как нарезали</a:t>
            </a:r>
          </a:p>
          <a:p>
            <a:r>
              <a:t>вход.</a:t>
            </a:r>
          </a:p>
          <a:p>
            <a:r>
              <a:t/>
            </a:r>
          </a:p>
          <a:p>
            <a:r>
              <a:t>Следующее поколение решало конкретную проблему: в прежних схемах текст был односторонним входом</a:t>
            </a:r>
          </a:p>
          <a:p>
            <a:r>
              <a:t>— картинка смотрит на текст, текст на картинку нет, — и для сложных описаний этого не хватало.</a:t>
            </a:r>
          </a:p>
          <a:p>
            <a:r>
              <a:t>Решение: склеить токены текста и изображения в одну последовательность и пропустить через одно</a:t>
            </a:r>
          </a:p>
          <a:p>
            <a:r>
              <a:t>совместное внимание. Существенная деталь — раздельные веса: нормализации, проекции и</a:t>
            </a:r>
          </a:p>
          <a:p>
            <a:r>
              <a:t>полносвязные слои свои у текста и у картинки, общая только операция внимания.</a:t>
            </a:r>
          </a:p>
          <a:p>
            <a:r>
              <a:t/>
            </a:r>
          </a:p>
          <a:p>
            <a:r>
              <a:t>Спрямлённый поток формально уже не диффузия. Идея: диффузия идёт от данных к шуму кривым путём,</a:t>
            </a:r>
          </a:p>
          <a:p>
            <a:r>
              <a:t>заданным расписанием; обратный путь тоже кривой, и численное интегрирование кривой требует</a:t>
            </a:r>
          </a:p>
          <a:p>
            <a:r>
              <a:t>много шагов. Спрямлённый поток соединяет шум и данные прямой линией и учит сеть предсказывать</a:t>
            </a:r>
          </a:p>
          <a:p>
            <a:r>
              <a:t>скорость движения по этой прямой, которая вдоль прямой постоянна. Если истинная траектория</a:t>
            </a:r>
          </a:p>
          <a:p>
            <a:r>
              <a:t>прямая, сколь угодно крупный шаг численного метода не вносит ошибки; в идеальном пределе</a:t>
            </a:r>
          </a:p>
          <a:p>
            <a:r>
              <a:t>сэмплирование — один шаг. На практике идеала нет, траектории пересекаются и усредняются, но</a:t>
            </a:r>
          </a:p>
          <a:p>
            <a:r>
              <a:t>путь заметно прямее, и двадцать—тридцать шагов дают то, на что диффузии нужно пятьдесят—сто.</a:t>
            </a:r>
          </a:p>
          <a:p>
            <a:r>
              <a:t/>
            </a:r>
          </a:p>
          <a:p>
            <a:r>
              <a:t>Терминологическая честность: называть всё это диффузией сегодня строго говоря неточно — прямого</a:t>
            </a:r>
          </a:p>
          <a:p>
            <a:r>
              <a:t>процесса зашумления там нет, есть обучение векторного поля вдоль прямой. Индустрия сохраняет</a:t>
            </a:r>
          </a:p>
          <a:p>
            <a:r>
              <a:t>слово по инерции и потому, что интерфейсы, сэмплеры и адаптеры общие. Сказать это стоит один</a:t>
            </a:r>
          </a:p>
          <a:p>
            <a:r>
              <a:t>раз, иначе студент, открывший код современной модели, не найдёт там ни одного коэффициента</a:t>
            </a:r>
          </a:p>
          <a:p>
            <a:r>
              <a:t>расписания и решит, что ошибся файлом.</a:t>
            </a:r>
          </a:p>
          <a:p>
            <a:r>
              <a:t/>
            </a:r>
          </a:p>
          <a:p>
            <a:r>
              <a:t>Про воспроизводимость стоит знать две вещи, и вторая важнее первой. Вся случайность</a:t>
            </a:r>
          </a:p>
          <a:p>
            <a:r>
              <a:t>детерминированного сэмплера сосредоточена в стартовом шуме, и число, которым инициализирован</a:t>
            </a:r>
          </a:p>
          <a:p>
            <a:r>
              <a:t>генератор псевдослучайных чисел, фиксирует результат: те же веса, тот же сэмплер, то же число</a:t>
            </a:r>
          </a:p>
          <a:p>
            <a:r>
              <a:t>шагов дают ту же картинку. Это один из немногих пунктов, где медиа-модель воспроизводимее</a:t>
            </a:r>
          </a:p>
          <a:p>
            <a:r>
              <a:t>языковой — там температура, выставленная в ноль, детерминизма не даёт, и замер дал восемьдесят</a:t>
            </a:r>
          </a:p>
          <a:p>
            <a:r>
              <a:t>разных ответов на тысячу запусков одного запроса. Но «воспроизводимо» означает гораздо больше</a:t>
            </a:r>
          </a:p>
          <a:p>
            <a:r>
              <a:t>условий, чем кажется: весь список занимает одиннадцать позиций, от версии автокодировщика до</a:t>
            </a:r>
          </a:p>
          <a:p>
            <a:r>
              <a:t>модели видеокарты, и любая из них меняет результат. Практически это значит, что художественное</a:t>
            </a:r>
          </a:p>
          <a:p>
            <a:r>
              <a:t>решение, найденное подбором, невоспроизводимо через полгода, если весь список не зафиксирован</a:t>
            </a:r>
          </a:p>
          <a:p>
            <a:r>
              <a:t>как артефакт сборки. Отсюда прямое инженерное требование: генеративный конвейер нужно</a:t>
            </a:r>
          </a:p>
          <a:p>
            <a:r>
              <a:t>версионировать как сборку программного продукта.</a:t>
            </a:r>
          </a:p>
          <a:p>
            <a:r>
              <a:t/>
            </a:r>
          </a:p>
          <a:p>
            <a:r>
              <a:t>И чего внутри нет совсем — каждое отсутствие содержательно. Нет каузальной маски: языковая</a:t>
            </a:r>
          </a:p>
          <a:p>
            <a:r>
              <a:t>модель не имеет права смотреть вперёд, изображение смотрит во все стороны, внимание здесь</a:t>
            </a:r>
          </a:p>
          <a:p>
            <a:r>
              <a:t>двунаправленное по построению. Нет кэша ключей и значений, и это принципиально. Нет словаря и</a:t>
            </a:r>
          </a:p>
          <a:p>
            <a:r>
              <a:t>логитов — выход непрерывен. Нет длины выхода как переменной — размер картинки задан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которую курс уже вводил — описание, поиск по документам, дообучение, дистилляция, —</a:t>
            </a:r>
          </a:p>
          <a:p>
            <a:r>
              <a:t>работает и здесь, но средняя ступень богаче: кроме «обучить адаптер» есть «подключить готовый</a:t>
            </a:r>
          </a:p>
          <a:p>
            <a:r>
              <a:t>управляющий модуль», и это часто дешевле.</a:t>
            </a:r>
          </a:p>
          <a:p>
            <a:r>
              <a:t/>
            </a:r>
          </a:p>
          <a:p>
            <a:r>
              <a:t>LoRA — то же самое, что в разговоре про языковые модели: низкоранговые матрицы-адаптеры в</a:t>
            </a:r>
          </a:p>
          <a:p>
            <a:r>
              <a:t>выбранные слои при замороженной базе, только слои здесь в диффузионном трансформере и в</a:t>
            </a:r>
          </a:p>
          <a:p>
            <a:r>
              <a:t>перекрёстном внимании. Размер — десятки—сотни мегабайт.</a:t>
            </a:r>
          </a:p>
          <a:p>
            <a:r>
              <a:t/>
            </a:r>
          </a:p>
          <a:p>
            <a:r>
              <a:t>Текстовая инверсия — самый экономный приём из всех, и для понимания механизма он полезнее</a:t>
            </a:r>
          </a:p>
          <a:p>
            <a:r>
              <a:t>остальных. Обучается ровно один вектор, который становится «новым словом» в словаре текстового</a:t>
            </a:r>
          </a:p>
          <a:p>
            <a:r>
              <a:t>кодировщика; сама модель при этом не меняется вовсе. Авторам хватило трёх—пяти изображений</a:t>
            </a:r>
          </a:p>
          <a:p>
            <a:r>
              <a:t>концепта, а размер результата — килобайты. Это хорошая иллюстрация того, насколько много уже</a:t>
            </a:r>
          </a:p>
          <a:p>
            <a:r>
              <a:t>лежит в замороженной базе: чтобы научить её изображать конкретный объект, не нужно менять</a:t>
            </a:r>
          </a:p>
          <a:p>
            <a:r>
              <a:t>веса — достаточно найти точку в пространстве представлений, куда этот объект попадает.</a:t>
            </a:r>
          </a:p>
          <a:p>
            <a:r>
              <a:t/>
            </a:r>
          </a:p>
          <a:p>
            <a:r>
              <a:t>DreamBooth — дообучение самой модели так, чтобы она связала редкий идентификатор с конкретным</a:t>
            </a:r>
          </a:p>
          <a:p>
            <a:r>
              <a:t>объектом, плюс особая функция потерь, не дающая забыть класс целиком. На практике делается</a:t>
            </a:r>
          </a:p>
          <a:p>
            <a:r>
              <a:t>поверх LoRA, иначе размер результата измеряется гигабайтами.</a:t>
            </a:r>
          </a:p>
          <a:p>
            <a:r>
              <a:t/>
            </a:r>
          </a:p>
          <a:p>
            <a:r>
              <a:t>ControlNet — обучаемая копия сжимающей половины модели, принимающая структурное условие: края,</a:t>
            </a:r>
          </a:p>
          <a:p>
            <a:r>
              <a:t>карту глубины, позу скелета. Условие вливается в замороженный оригинал через свёртки,</a:t>
            </a:r>
          </a:p>
          <a:p>
            <a:r>
              <a:t>инициализированные нулём, — то есть в начале обучения адаптер не влияет ни на что, и модель</a:t>
            </a:r>
          </a:p>
          <a:p>
            <a:r>
              <a:t>постепенно учится им пользоваться, не ломая базу. Размер — сотни мегабайт.</a:t>
            </a:r>
          </a:p>
          <a:p>
            <a:r>
              <a:t/>
            </a:r>
          </a:p>
          <a:p>
            <a:r>
              <a:t>IP-Adapter — «описание картинкой»: образец кодируется и подаётся отдельным перекрёстным</a:t>
            </a:r>
          </a:p>
          <a:p>
            <a:r>
              <a:t>вниманием, параллельно текстовому. Авторы заявляют качество полного дообучения при двадцати</a:t>
            </a:r>
          </a:p>
          <a:p>
            <a:r>
              <a:t>двух миллионах параметров, и размер результата — десятки мегабайт.</a:t>
            </a:r>
          </a:p>
          <a:p>
            <a:r>
              <a:t/>
            </a:r>
          </a:p>
          <a:p>
            <a:r>
              <a:t>Главный структурный тезис тот же, что курс уже сформулировал: база заморожена, учится</a:t>
            </a:r>
          </a:p>
          <a:p>
            <a:r>
              <a:t>маленький довесок, довески модульны и складываются. Складываются они здесь буквально: на одну</a:t>
            </a:r>
          </a:p>
          <a:p>
            <a:r>
              <a:t>базовую модель одновременно вешают адаптер стиля, структурное условие позы и образец лица.</a:t>
            </a:r>
          </a:p>
          <a:p>
            <a:r>
              <a:t>Именно эта складываемость сделала открытые веса рабочим инструментом в производстве — не</a:t>
            </a:r>
          </a:p>
          <a:p>
            <a:r>
              <a:t>качество базовой модели само по себе, а возможность собрать под свою задачу конфигурацию из</a:t>
            </a:r>
          </a:p>
          <a:p>
            <a:r>
              <a:t>чужих кусков за часы вместо месяцев.</a:t>
            </a:r>
          </a:p>
          <a:p>
            <a:r>
              <a:t/>
            </a:r>
          </a:p>
          <a:p>
            <a:r>
              <a:t>Границу надо назвать, потому что она определяет, сколько будет стоить решение. ControlNet и</a:t>
            </a:r>
          </a:p>
          <a:p>
            <a:r>
              <a:t>IP-Adapter — это обусловливание, то есть работа при запуске: веса при этом не меняются. По</a:t>
            </a:r>
          </a:p>
          <a:p>
            <a:r>
              <a:t>водоразделу, который курс уже провёл, они стоят на стороне «разместить знание». LoRA и</a:t>
            </a:r>
          </a:p>
          <a:p>
            <a:r>
              <a:t>DreamBooth — на стороне «закодировать поведение». Классификация полезна практически: вопрос</a:t>
            </a:r>
          </a:p>
          <a:p>
            <a:r>
              <a:t>«нам нужно дообучить модель под нашего персонажа» в половине случаев закрывается образцом лица</a:t>
            </a:r>
          </a:p>
          <a:p>
            <a:r>
              <a:t>за ноль часов обучения — ровно как вопрос «нам нужно дообучить языковую модель под нашу</a:t>
            </a:r>
          </a:p>
          <a:p>
            <a:r>
              <a:t>документацию» в половине случаев закрывается поиском по документам.</a:t>
            </a:r>
          </a:p>
          <a:p>
            <a:r>
              <a:t/>
            </a:r>
          </a:p>
          <a:p>
            <a:r>
              <a:t>И отдельно стоит сказать то, ради чего этот кадр вообще стоит в техническом блоке. Здесь</a:t>
            </a:r>
          </a:p>
          <a:p>
            <a:r>
              <a:t>параллель с языковыми моделями работает полностью, и это надо назвать совпадением вслух.</a:t>
            </a:r>
          </a:p>
          <a:p>
            <a:r>
              <a:t>В блоке было уже несколько мест, где перенос знания оказывался ложным: температура и</a:t>
            </a:r>
          </a:p>
          <a:p>
            <a:r>
              <a:t>направляющий коэффициент управляют разными вещами; кэш, на котором стоит вся экономика</a:t>
            </a:r>
          </a:p>
          <a:p>
            <a:r>
              <a:t>языковых моделей, здесь невозможен; подкладывания источника истины не существует. На этом фоне</a:t>
            </a:r>
          </a:p>
          <a:p>
            <a:r>
              <a:t>легко прийти к выводу, что переносить нельзя ничего, — и это была бы вторая ошибка, зеркальная</a:t>
            </a:r>
          </a:p>
          <a:p>
            <a:r>
              <a:t>первой. Дообучение адаптером переносится без поправок: та же идея, та же экономика, те же</a:t>
            </a:r>
          </a:p>
          <a:p>
            <a:r>
              <a:t>размеры довесков, тот же выбор между «разместить знание» и «закодировать поведение». Умение</a:t>
            </a:r>
          </a:p>
          <a:p>
            <a:r>
              <a:t>различать, где перенос 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половина сводной таблицы всего технического блока. Каждая её строка опирается на</a:t>
            </a:r>
          </a:p>
          <a:p>
            <a:r>
              <a:t>термин, который курс уже ввёл для языковых моделей, и показывает, во что он превращается в</a:t>
            </a:r>
          </a:p>
          <a:p>
            <a:r>
              <a:t>медиа-модели или почему исчезает по построению. Второе интереснее первого: исчезновение всегда</a:t>
            </a:r>
          </a:p>
          <a:p>
            <a:r>
              <a:t>показывает механизм, тогда как превращение можно принять за перемену названия.</a:t>
            </a:r>
          </a:p>
          <a:p>
            <a:r>
              <a:t/>
            </a:r>
          </a:p>
          <a:p>
            <a:r>
              <a:t>Первая строка — единица данных, и из неё следует почти всё остальное. У языковой модели это</a:t>
            </a:r>
          </a:p>
          <a:p>
            <a:r>
              <a:t>токен: идентификатор из словаря примерно в двести тысяч позиций, причём словарь зафиксирован до</a:t>
            </a:r>
          </a:p>
          <a:p>
            <a:r>
              <a:t>обучения и после него не меняется. У медиа-модели единица — латентный патч: квадрат два на два</a:t>
            </a:r>
          </a:p>
          <a:p>
            <a:r>
              <a:t>ячейки латента по шестнадцать каналов, то есть шестьдесят четыре числа, и это непрерывный</a:t>
            </a:r>
          </a:p>
          <a:p>
            <a:r>
              <a:t>вектор, а не номер в списке. Словаря нет вовсе. Отсюда прямое следствие, к которому курс</a:t>
            </a:r>
          </a:p>
          <a:p>
            <a:r>
              <a:t>вернётся ещё дважды: маскировать нечего, запрещать нечему. Все приёмы, которые в работе с</a:t>
            </a:r>
          </a:p>
          <a:p>
            <a:r>
              <a:t>языковой моделью опираются на существование конечного списка допустимых продолжений, здесь не</a:t>
            </a:r>
          </a:p>
          <a:p>
            <a:r>
              <a:t>имеют предмета.</a:t>
            </a:r>
          </a:p>
          <a:p>
            <a:r>
              <a:t/>
            </a:r>
          </a:p>
          <a:p>
            <a:r>
              <a:t>Вторая строка — сколько этих единиц. У языковой модели число единиц задаётся длиной описания</a:t>
            </a:r>
          </a:p>
          <a:p>
            <a:r>
              <a:t>плюс длиной ответа и ограничено окном в сто двадцать восемь тысяч — миллион. У медиа-модели оно</a:t>
            </a:r>
          </a:p>
          <a:p>
            <a:r>
              <a:t>задано размером выхода и известно до запуска: картинка тысяча двадцать четыре на тысячу двадцать</a:t>
            </a:r>
          </a:p>
          <a:p>
            <a:r>
              <a:t>четыре — это ровно четыре тысячи девяносто шесть токенов, ни больше ни меньше. Величина не</a:t>
            </a:r>
          </a:p>
          <a:p>
            <a:r>
              <a:t>переменная, а параметр.</a:t>
            </a:r>
          </a:p>
          <a:p>
            <a:r>
              <a:t/>
            </a:r>
          </a:p>
          <a:p>
            <a:r>
              <a:t>Третья строка — что именно предсказывается. У языковой модели это распределение вероятностей на</a:t>
            </a:r>
          </a:p>
          <a:p>
            <a:r>
              <a:t>весь словарь, и сумма его равна единице: у каждого кандидата есть число, которое можно прочесть,</a:t>
            </a:r>
          </a:p>
          <a:p>
            <a:r>
              <a:t>сравнить и использовать как меру уверенности. У медиа-модели на выходе вектор той же формы, что</a:t>
            </a:r>
          </a:p>
          <a:p>
            <a:r>
              <a:t>вход. Нормировки нет, вероятности нет. Это и есть то место, где кончается перенос привычки</a:t>
            </a:r>
          </a:p>
          <a:p>
            <a:r>
              <a:t>«посмотреть, насколько модель уверена»: смотреть не на что, и не потому, что поставщик не</a:t>
            </a:r>
          </a:p>
          <a:p>
            <a:r>
              <a:t>показывает, а потому, что величины не существует.</a:t>
            </a:r>
          </a:p>
          <a:p>
            <a:r>
              <a:t/>
            </a:r>
          </a:p>
          <a:p>
            <a:r>
              <a:t>Четвёртая строка — роль контекста. У языковой модели вся история служит условием для каждого</a:t>
            </a:r>
          </a:p>
          <a:p>
            <a:r>
              <a:t>следующего токена и растёт по ходу работы. У медиа-модели описание — постоянное условие,</a:t>
            </a:r>
          </a:p>
          <a:p>
            <a:r>
              <a:t>неизменное на всех пятидесяти шагах; истории нет вообще. Эта разница кажется мелкой, пока не</a:t>
            </a:r>
          </a:p>
          <a:p>
            <a:r>
              <a:t>доходит до вопроса, куда подложить источник истины: места «рядом с вопросом» здесь нет.</a:t>
            </a:r>
          </a:p>
          <a:p>
            <a:r>
              <a:t/>
            </a:r>
          </a:p>
          <a:p>
            <a:r>
              <a:t>Пятая строка — число проходов сети. У языковой модели N проходов на N токенов: длинный ответ</a:t>
            </a:r>
          </a:p>
          <a:p>
            <a:r>
              <a:t>дороже короткого ровно во столько раз, во сколько он длиннее. У медиа-модели проходов столько,</a:t>
            </a:r>
          </a:p>
          <a:p>
            <a:r>
              <a:t>сколько назначил сэмплер, от одного до пятидесяти, и от размера выхода это число не зависит</a:t>
            </a:r>
          </a:p>
          <a:p>
            <a:r>
              <a:t>вовсе.</a:t>
            </a:r>
          </a:p>
          <a:p>
            <a:r>
              <a:t/>
            </a:r>
          </a:p>
          <a:p>
            <a:r>
              <a:t>Шестая строка — кэш, и она самая недооценённая. Вокруг того, что ключи и значения кэшируемы, а</a:t>
            </a:r>
          </a:p>
          <a:p>
            <a:r>
              <a:t>запрос нет, построена целая экономика: отсюда асимметрия предзаполнения и генерации, отсюда</a:t>
            </a:r>
          </a:p>
          <a:p>
            <a:r>
              <a:t>тарифы на кэширование описания, отсюда совет держать стабильный префикс. В медиа-модели от этой</a:t>
            </a:r>
          </a:p>
          <a:p>
            <a:r>
              <a:t>экономики не остаётся ничего, и реализация тут ни при чём. Кэш работает, пока ключи и значения</a:t>
            </a:r>
          </a:p>
          <a:p>
            <a:r>
              <a:t>относятся к уже обработанному и больше не меняющемуся контексту; расшумление на каждом шаге</a:t>
            </a:r>
          </a:p>
          <a:p>
            <a:r>
              <a:t>переписывает все четыре тысячи девяносто шесть токенов сразу, то есть неизменного контекста</a:t>
            </a:r>
          </a:p>
          <a:p>
            <a:r>
              <a:t>здесь нет. Это напрямую объясняет, почему одна картинка стоит как тысячи токенов текста: у</a:t>
            </a:r>
          </a:p>
          <a:p>
            <a:r>
              <a:t>языковой модели каждый следующий токен дешевеет за счёт кэша, у медиа-модели каждый следующий</a:t>
            </a:r>
          </a:p>
          <a:p>
            <a:r>
              <a:t>шаг стоит ровно столько же, сколько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сводной таблицы собирает то, что инженер переносит на новый инструмент охотнее</a:t>
            </a:r>
          </a:p>
          <a:p>
            <a:r>
              <a:t>всего, — рычаги управления и привычку чинить ошибку. Именно здесь перенос ломается чаще, чем в</a:t>
            </a:r>
          </a:p>
          <a:p>
            <a:r>
              <a:t>устройстве, и ломается тише: рычаг с тем же названием существует, но делает другое.</a:t>
            </a:r>
          </a:p>
          <a:p>
            <a:r>
              <a:t/>
            </a:r>
          </a:p>
          <a:p>
            <a:r>
              <a:t>Про гарантии формы. Курс показал красивый механизм: грамматика схемы маскирует невалидные токены,</a:t>
            </a:r>
          </a:p>
          <a:p>
            <a:r>
              <a:t>и невалидный формат физически не может быть сгенерирован — именно не может, а не «обычно не</a:t>
            </a:r>
          </a:p>
          <a:p>
            <a:r>
              <a:t>генерируется». Инженер к этому привыкает: формат гарантируется на уровне декодирования, и это</a:t>
            </a:r>
          </a:p>
          <a:p>
            <a:r>
              <a:t>ощущается как базовое свойство инструмента. В медиа-моделях такого рычага нет ни одного. «Ровно</a:t>
            </a:r>
          </a:p>
          <a:p>
            <a:r>
              <a:t>три объекта», «логотип в соотношении шестнадцать к девяти с полем в десять процентов», «шрифт не</a:t>
            </a:r>
          </a:p>
          <a:p>
            <a:r>
              <a:t>меняется между кадрами» — всё это просьбы, а не ограничения. Проверка остаётся снаружи модели, в</a:t>
            </a:r>
          </a:p>
          <a:p>
            <a:r>
              <a:t>конвейере, и это архитектурное требование, а не рекомендация. Отсюда же разница в том, как</a:t>
            </a:r>
          </a:p>
          <a:p>
            <a:r>
              <a:t>читается список рычагов: температура, отсечение по вероятности и маскирование логитов работают</a:t>
            </a:r>
          </a:p>
          <a:p>
            <a:r>
              <a:t>над посчитанным распределением, а CFG, негативное описание и адаптеры работают над непрерывным</a:t>
            </a:r>
          </a:p>
          <a:p>
            <a:r>
              <a:t>вектором, у которого распределения нет.</a:t>
            </a:r>
          </a:p>
          <a:p>
            <a:r>
              <a:t/>
            </a:r>
          </a:p>
          <a:p>
            <a:r>
              <a:t>Про галлюцинацию. Разница лежит в природе ошибки, и из неё следует разница в лечении. Ложное</a:t>
            </a:r>
          </a:p>
          <a:p>
            <a:r>
              <a:t>утверждение языковой модели — это ошибка содержания: модель сказала, что событие произошло в</a:t>
            </a:r>
          </a:p>
          <a:p>
            <a:r>
              <a:t>таком-то году, а оно произошло в другом. Проверяется обращением к источнику, и на этом стоит</a:t>
            </a:r>
          </a:p>
          <a:p>
            <a:r>
              <a:t>весь поиск по документам. Ошибка медиа-модели другая: это правдоподобная невозможность. Шесть</a:t>
            </a:r>
          </a:p>
          <a:p>
            <a:r>
              <a:t>пальцев, тень не от того источника света, отражение без оригинала, резьба без шага, разъём с</a:t>
            </a:r>
          </a:p>
          <a:p>
            <a:r>
              <a:t>лишним контактом. Проверяется обращением к физике и геометрии, и источника, который можно</a:t>
            </a:r>
          </a:p>
          <a:p>
            <a:r>
              <a:t>подложить, не существует.</a:t>
            </a:r>
          </a:p>
          <a:p>
            <a:r>
              <a:t/>
            </a:r>
          </a:p>
          <a:p>
            <a:r>
              <a:t>Классы таких ошибок чинятся по-разному, и различать их практически полезно. Анатомия и счёт — у</a:t>
            </a:r>
          </a:p>
          <a:p>
            <a:r>
              <a:t>модели нет понятия дискретного объекта, лечится обусловливанием позой, перегенерацией или ручной</a:t>
            </a:r>
          </a:p>
          <a:p>
            <a:r>
              <a:t>правкой. Физика и свет — модель выучила корреляции внешнего вида, и внутри модели это не лечится</a:t>
            </a:r>
          </a:p>
          <a:p>
            <a:r>
              <a:t>вовсе. Текст — потеря высоких частот в автокодировщике плюс слабый текстовый кодировщик, лечится</a:t>
            </a:r>
          </a:p>
          <a:p>
            <a:r>
              <a:t>шестнадцатиканальным автокодировщиком и большой языковой моделью на входе, а надёжно — вставкой</a:t>
            </a:r>
          </a:p>
          <a:p>
            <a:r>
              <a:t>текста отдельным слоем вне генератора. Техническая невозможность — модель не знает технических</a:t>
            </a:r>
          </a:p>
          <a:p>
            <a:r>
              <a:t>характеристик и не считает размеров, и правильный вывод здесь, что генератор не тот инструмент.</a:t>
            </a:r>
          </a:p>
          <a:p>
            <a:r>
              <a:t>Непостоянство между кадрами — между кадрами нет объекта, который «тот же»; лечится</a:t>
            </a:r>
          </a:p>
          <a:p>
            <a:r>
              <a:t>обусловливанием и образцами, полностью не решено. Воспроизведение обучающего примера — следствие</a:t>
            </a:r>
          </a:p>
          <a:p>
            <a:r>
              <a:t>дубликатов в корпусе, лечится дедупликацией корпуса и фильтрами на выходе.</a:t>
            </a:r>
          </a:p>
          <a:p>
            <a:r>
              <a:t/>
            </a:r>
          </a:p>
          <a:p>
            <a:r>
              <a:t>Две последние строки короткие, но дорогие. Длина выхода у языковой модели переменная и решается</a:t>
            </a:r>
          </a:p>
          <a:p>
            <a:r>
              <a:t>по ходу стоп-токеном; у медиа-модели она задана до запуска, и остановиться раньше нельзя —</a:t>
            </a:r>
          </a:p>
          <a:p>
            <a:r>
              <a:t>картинка либо готова целиком, либо не готова. Провенанс: у ответа с поиском по документам есть</a:t>
            </a:r>
          </a:p>
          <a:p>
            <a:r>
              <a:t>ссылка на документ, у сгенерированного кадра её нет и не может быть, потому что вклад каждого</a:t>
            </a:r>
          </a:p>
          <a:p>
            <a:r>
              <a:t>обучающего примера размазан по миллиардам весов.</a:t>
            </a:r>
          </a:p>
          <a:p>
            <a:r>
              <a:t/>
            </a:r>
          </a:p>
          <a:p>
            <a:r>
              <a:t>И последнее — уже про то, как пользоваться обеими половинами таблицы. Она не доказывает, что</a:t>
            </a:r>
          </a:p>
          <a:p>
            <a:r>
              <a:t>медиа-модель хуже языковой или наоборот. Она показывает, какие именно привычки переносятся, а</a:t>
            </a:r>
          </a:p>
          <a:p>
            <a:r>
              <a:t>какие нет, и это полезнее любого сравнения качества, потому что качество меняется с каждым</a:t>
            </a:r>
          </a:p>
          <a:p>
            <a:r>
              <a:t>поколением моделей, а перечисленные различия следуют из постановки задачи и не изменятся.</a:t>
            </a:r>
          </a:p>
          <a:p>
            <a:r>
              <a:t>Непрерывный выход не станет дискретным; условие, неизменное на всех шагах, не станет растущей</a:t>
            </a:r>
          </a:p>
          <a:p>
            <a:r>
              <a:t>историей; провенанс, которого нет в весах, не появится в следующей версии. Строки этой таблицы —</a:t>
            </a:r>
          </a:p>
          <a:p>
            <a:r>
              <a:t>это то, что останется верным, когда все названные сегодня продукты сменятся.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контринтуитивный кадр блока для этой аудитории, и он весь построен на измеренных числах.</a:t>
            </a:r>
          </a:p>
          <a:p>
            <a:r>
              <a:t/>
            </a:r>
          </a:p>
          <a:p>
            <a:r>
              <a:t>Четыре верхние строки и три нижние смотрят в разные стороны, и это не парадокс, а следствие</a:t>
            </a:r>
          </a:p>
          <a:p>
            <a:r>
              <a:t>устройства, разобранного предыдущими кадрами. Обучить картиночную модель в двести—четыреста раз</a:t>
            </a:r>
          </a:p>
          <a:p>
            <a:r>
              <a:t>дешевле, чем передовую языковую, — и каждый её запуск в сорок—шестьдесят раз прожорливее.</a:t>
            </a:r>
          </a:p>
          <a:p>
            <a:r>
              <a:t/>
            </a:r>
          </a:p>
          <a:p>
            <a:r>
              <a:t>Сверху. Вычислений на обучение Stable Diffusion первой версии потрачено пять с двадцатью двумя</a:t>
            </a:r>
          </a:p>
          <a:p>
            <a:r>
              <a:t>нулями операций; у передовых языковых моделей — от четырёхсот двадцати до семи с половиной</a:t>
            </a:r>
          </a:p>
          <a:p>
            <a:r>
              <a:t>тысяч раз больше. Часов видеокарт: сто пятьдесят тысяч против примерно пятидесяти семи</a:t>
            </a:r>
          </a:p>
          <a:p>
            <a:r>
              <a:t>миллионов у GPT-4 и тридцати миллионов восьмисот тысяч у открытой модели на четыреста пять</a:t>
            </a:r>
          </a:p>
          <a:p>
            <a:r>
              <a:t>миллиардов параметров. Денег: шестьсот тысяч долларов аренды против семидесяти восьми с</a:t>
            </a:r>
          </a:p>
          <a:p>
            <a:r>
              <a:t>половиной миллионов и ста девяноста одного миллиона. Размер весов: четыре целых двадцать семь</a:t>
            </a:r>
          </a:p>
          <a:p>
            <a:r>
              <a:t>сотых гигабайта против примерно восьмисот десяти.</a:t>
            </a:r>
          </a:p>
          <a:p>
            <a:r>
              <a:t/>
            </a:r>
          </a:p>
          <a:p>
            <a:r>
              <a:t>Снизу всё наоборот. Пять с половиной петафлопс на одну картинку против четырнадцати сотых</a:t>
            </a:r>
          </a:p>
          <a:p>
            <a:r>
              <a:t>петафлопса на тысячу токенов текста. Две целых девятьсот семь тысячных киловатт-часа на тысячу</a:t>
            </a:r>
          </a:p>
          <a:p>
            <a:r>
              <a:t>генераций против сорока семи тысячных на тысячу ответов. И самое наглядное: сто двадцать</a:t>
            </a:r>
          </a:p>
          <a:p>
            <a:r>
              <a:t>долларов за миллион токенов картинки против двенадцати долларов за миллион токенов текста у</a:t>
            </a:r>
          </a:p>
          <a:p>
            <a:r>
              <a:t>одной и той же модели — она сама оценивает свой выход картинкой вдесятеро дороже.</a:t>
            </a:r>
          </a:p>
          <a:p>
            <a:r>
              <a:t/>
            </a:r>
          </a:p>
          <a:p>
            <a:r>
              <a:t>Откуда берутся сорок раз, считается из чисел предыдущих кадров за минуту, и этот счёт стоит</a:t>
            </a:r>
          </a:p>
          <a:p>
            <a:r>
              <a:t>проделать. Одна картинка 1024×1024: длина последовательности — четыре тысячи девяносто шесть</a:t>
            </a:r>
          </a:p>
          <a:p>
            <a:r>
              <a:t>токенов картинки плюс пятьсот двенадцать текста, итого четыре тысячи шестьсот восемь; один</a:t>
            </a:r>
          </a:p>
          <a:p>
            <a:r>
              <a:t>прямой проход по стандартной оценке — около одиннадцати сотых петафлопса; пятьдесят шагов</a:t>
            </a:r>
          </a:p>
          <a:p>
            <a:r>
              <a:t>сэмплера дают около пяти с половиной петафлопс. Ответ языковой модели на тысячу токенов при</a:t>
            </a:r>
          </a:p>
          <a:p>
            <a:r>
              <a:t>семидесяти миллиардах параметров — около четырнадцати сотых петафлопса. Отношение — примерно</a:t>
            </a:r>
          </a:p>
          <a:p>
            <a:r>
              <a:t>тридцать девять.</a:t>
            </a:r>
          </a:p>
          <a:p>
            <a:r>
              <a:t/>
            </a:r>
          </a:p>
          <a:p>
            <a:r>
              <a:t>А теперь то же самое для дистиллированной модели в четыре шага: сорок четыре сотых петафлопса,</a:t>
            </a:r>
          </a:p>
          <a:p>
            <a:r>
              <a:t>и отношение падает до трёх. Вывод для кадра: «почему картинка дорогая» — это на порядок больше</a:t>
            </a:r>
          </a:p>
          <a:p>
            <a:r>
              <a:t>вопрос числа шагов, чем размера модели. Сверка с живым измерением сходится по порядку:</a:t>
            </a:r>
          </a:p>
          <a:p>
            <a:r>
              <a:t>недистиллированная модель занимает около двадцати секунд на игровой карте верхнего уровня,</a:t>
            </a:r>
          </a:p>
          <a:p>
            <a:r>
              <a:t>дистиллированная — около трёх, отношение примерно шесть целых семь десятых при расчётных</a:t>
            </a:r>
          </a:p>
          <a:p>
            <a:r>
              <a:t>двенадцати с половиной; расхождение объясняется худшей загрузкой карты при малом числе шагов.</a:t>
            </a:r>
          </a:p>
          <a:p>
            <a:r>
              <a:t/>
            </a:r>
          </a:p>
          <a:p>
            <a:r>
              <a:t>И самое интересное наблюдение кадра: картиночные модели перестали расти. Stable Diffusion</a:t>
            </a:r>
          </a:p>
          <a:p>
            <a:r>
              <a:t>первой версии в 2022 году и SD3 в 2024-м потратили на обучение одно и то же число операций, и</a:t>
            </a:r>
          </a:p>
          <a:p>
            <a:r>
              <a:t>это названо прямо в их собственной статье. За те же два года вычисления передовых языковых</a:t>
            </a:r>
          </a:p>
          <a:p>
            <a:r>
              <a:t>моделей росли в четыре—пять раз в год, а амортизированная стоимость — в два и четыре десятых</a:t>
            </a:r>
          </a:p>
          <a:p>
            <a:r>
              <a:t>раза в год начиная с 2016-го. Содержательный тезис: разрыв увеличивается не потому, что</a:t>
            </a:r>
          </a:p>
          <a:p>
            <a:r>
              <a:t>картинки дешевеют, а потому, что языковые модели дорожают. Прямое следствие, видимое на рынке:</a:t>
            </a:r>
          </a:p>
          <a:p>
            <a:r>
              <a:t>базовых языковых моделей переднего края — единицы, а серьёзных базовых генераторов изображений</a:t>
            </a:r>
          </a:p>
          <a:p>
            <a:r>
              <a:t>и видео — десятки, включая полностью открытые. Это арифметика, а не щедрость.</a:t>
            </a:r>
          </a:p>
          <a:p>
            <a:r>
              <a:t/>
            </a:r>
          </a:p>
          <a:p>
            <a:r>
              <a:t>Отдельное наблюдение про прозрачность, и оно идёт в минус картиночному лагерю. По нескольким</a:t>
            </a:r>
          </a:p>
          <a:p>
            <a:r>
              <a:t>ключевым моделям этого семейства не раскрыты ни часы видеокарт, ни стоимость, ни объём</a:t>
            </a:r>
          </a:p>
          <a:p>
            <a:r>
              <a:t>вычислений — у независимых счётчиков соответствующие поля пустые. По открытым весам можно</a:t>
            </a:r>
          </a:p>
          <a:p>
            <a:r>
              <a:t>посчитать размер модели и нельзя посчитать стоимость её создания, и прозрачность здесь хуже,</a:t>
            </a:r>
          </a:p>
          <a:p>
            <a:r>
              <a:t>чем у языковых моделей, при том что сами веса открыты. Это полезное напоминание о том, что</a:t>
            </a:r>
          </a:p>
          <a:p>
            <a:r>
              <a:t>«открытая модель» и «прозрачная модель» — разные свойства.</a:t>
            </a:r>
          </a:p>
          <a:p>
            <a:r>
              <a:t/>
            </a:r>
          </a:p>
          <a:p>
            <a:r>
              <a:t>Инженерное следствие, которое и есть вывод блока. У медиа-моделей почти вся стоимость владения</a:t>
            </a:r>
          </a:p>
          <a:p>
            <a:r>
              <a:t>сидит в запуске, у передовых языковых исторически — в обучении. Отсюда разная экономика</a:t>
            </a:r>
          </a:p>
          <a:p>
            <a:r>
              <a:t>продуктов: одни раздают веса и продают доступ и мощности, другие веса защищают, потому что в</a:t>
            </a:r>
          </a:p>
          <a:p>
            <a:r>
              <a:t>них вложено то, что нельзя повторить за сто пятьдесят тысяч часов видеокарт. И отсюда</a:t>
            </a:r>
          </a:p>
          <a:p>
            <a:r>
              <a:t>прикладное правило для человека, который считает бюджет проекта: для генеративного медиа</a:t>
            </a:r>
          </a:p>
          <a:p>
            <a:r>
              <a:t>прогноз нагрузки важнее выбора модели. Ошибка в выборе модели стоит процентов, ошибка в оценке</a:t>
            </a:r>
          </a:p>
          <a:p>
            <a:r>
              <a:t>числа генераций — 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важно отличать от временных дефектов: «модель</a:t>
            </a:r>
          </a:p>
          <a:p>
            <a:r>
              <a:t>пока плохо рисует руки» и «у модели нет понятия объекта» — утверждения разного рода, и второе</a:t>
            </a:r>
          </a:p>
          <a:p>
            <a:r>
              <a:t>не чинится обучением.</a:t>
            </a:r>
          </a:p>
          <a:p>
            <a:r>
              <a:t/>
            </a:r>
          </a:p>
          <a:p>
            <a:r>
              <a:t>Отказ первый — текст внутри изображения, и у него две независимые причины. Первая —</a:t>
            </a:r>
          </a:p>
          <a:p>
            <a:r>
              <a:t>автокодировщик. Буква это высокочастотная структура, где значима каждая линия и каждый просвет</a:t>
            </a:r>
          </a:p>
          <a:p>
            <a:r>
              <a:t>между линиями. Сжатие в сорок восемь раз, на котором работала классическая Stable Diffusion,</a:t>
            </a:r>
          </a:p>
          <a:p>
            <a:r>
              <a:t>размывает её ещё до того, как к изображению притронется генеративная сеть. Измеренная величина</a:t>
            </a:r>
          </a:p>
          <a:p>
            <a:r>
              <a:t>потери — двадцать пять целых двенадцать сотых децибела при четырёхканальном латенте против</a:t>
            </a:r>
          </a:p>
          <a:p>
            <a:r>
              <a:t>двадцати восьми целых шестидесяти двух сотых при шестнадцатиканальном; эти три с половиной</a:t>
            </a:r>
          </a:p>
          <a:p>
            <a:r>
              <a:t>децибела и есть разница между псевдобуквами и читаемой надписью. Вторая причина — текстовый</a:t>
            </a:r>
          </a:p>
          <a:p>
            <a:r>
              <a:t>кодировщик: контрастно обученный кодировщик хорошо кодирует, про что картинка, и плохо — точную</a:t>
            </a:r>
          </a:p>
          <a:p>
            <a:r>
              <a:t>последовательность символов. Когда авторы SD3 убирали большую языковую модель из входа, из всех</a:t>
            </a:r>
          </a:p>
          <a:p>
            <a:r>
              <a:t>классов задач деградировали ровно два: сложные детализированные описания и длинный текст по</a:t>
            </a:r>
          </a:p>
          <a:p>
            <a:r>
              <a:t>буквам.</a:t>
            </a:r>
          </a:p>
          <a:p>
            <a:r>
              <a:t/>
            </a:r>
          </a:p>
          <a:p>
            <a:r>
              <a:t>К 2024–2026 годам проблема смягчена: шестнадцать каналов в латенте плюс большой текстовый</a:t>
            </a:r>
          </a:p>
          <a:p>
            <a:r>
              <a:t>кодировщик плюс совместное внимание. Закрыта она при этом не была, и граница проходит там, где</a:t>
            </a:r>
          </a:p>
          <a:p>
            <a:r>
              <a:t>и должна проходить по устройству: длинные строки, мелкий кегль, нелатинские письменности,</a:t>
            </a:r>
          </a:p>
          <a:p>
            <a:r>
              <a:t>кириллица остаются ненадёжными. Это самая быстро меняющаяся позиция списка, и в день чтения её</a:t>
            </a:r>
          </a:p>
          <a:p>
            <a:r>
              <a:t>стоит проверить заново.</a:t>
            </a:r>
          </a:p>
          <a:p>
            <a:r>
              <a:t/>
            </a:r>
          </a:p>
          <a:p>
            <a:r>
              <a:t>Инженерное правило, которое отсюда следует, стоит унести целиком. Надписи в производственных</a:t>
            </a:r>
          </a:p>
          <a:p>
            <a:r>
              <a:t>материалах не генерируют — их накладывают. Отдельным слоем, настоящим шрифтом, вне генератора.</a:t>
            </a:r>
          </a:p>
          <a:p>
            <a:r>
              <a:t>Это тот случай, когда правильный ответ звучит как «здесь модель не нужна»: векторный текст</a:t>
            </a:r>
          </a:p>
          <a:p>
            <a:r>
              <a:t>поверх растрового фона решает задачу точно, дёшево, редактируемо и с гарантией, а генерация</a:t>
            </a:r>
          </a:p>
          <a:p>
            <a:r>
              <a:t>решает её вероятностно и без гарантии. Качество результата при удачной попытке у обоих способов</a:t>
            </a:r>
          </a:p>
          <a:p>
            <a:r>
              <a:t>сопоставимо. Разница в том, что у первого неудачных попыток нет вовсе — и это и есть</a:t>
            </a:r>
          </a:p>
          <a:p>
            <a:r>
              <a:t>экономический аргумент, а не эстетический.</a:t>
            </a:r>
          </a:p>
          <a:p>
            <a:r>
              <a:t/>
            </a:r>
          </a:p>
          <a:p>
            <a:r>
              <a:t>Отказ второй — счёт объектов и пространственные отношения, и это измеренный воспроизводимый</a:t>
            </a:r>
          </a:p>
          <a:p>
            <a:r>
              <a:t>провал, а не анекдот про шесть пальцев. Специализированные наборы задач для оценки композиции</a:t>
            </a:r>
          </a:p>
          <a:p>
            <a:r>
              <a:t>выделяют счёт и пространственные отношения в отдельные категории именно потому, что там</a:t>
            </a:r>
          </a:p>
          <a:p>
            <a:r>
              <a:t>результаты систематически хуже остальных: авторы прямо пишут, что счёт требует от модели</a:t>
            </a:r>
          </a:p>
          <a:p>
            <a:r>
              <a:t>соответствия точным мощностям множеств, и установившиеся модели показывают здесь заметные</a:t>
            </a:r>
          </a:p>
          <a:p>
            <a:r>
              <a:t>дефициты.</a:t>
            </a:r>
          </a:p>
          <a:p>
            <a:r>
              <a:t/>
            </a:r>
          </a:p>
          <a:p>
            <a:r>
              <a:t>Причина лежит ровно в том, что предсказывает сеть. Модель не считает объекты — она предсказывает</a:t>
            </a:r>
          </a:p>
          <a:p>
            <a:r>
              <a:t>числа в ячейках латента. Слово «три» в описании это токен, который влияет на распределение весов</a:t>
            </a:r>
          </a:p>
          <a:p>
            <a:r>
              <a:t>внимания, а вовсе не счётчик, который кто-то уменьшает. Понятия дискретного объекта в механизме</a:t>
            </a:r>
          </a:p>
          <a:p>
            <a:r>
              <a:t>нет ни в каком виде: нет ни идентификаторов, ни слоёв сцены, ни состояния, которое переносилось</a:t>
            </a:r>
          </a:p>
          <a:p>
            <a:r>
              <a:t>бы между частями изображения. Природа здесь ровно та же, что у «слепоты к буквам», разобранной</a:t>
            </a:r>
          </a:p>
          <a:p>
            <a:r>
              <a:t>курсом применительно к языковым моделям: у механизма нет доступа к той сущности, о которой</a:t>
            </a:r>
          </a:p>
          <a:p>
            <a:r>
              <a:t>спрашивают. И лечится это так же — внешней проверкой: детектор объектов посчитал, число не</a:t>
            </a:r>
          </a:p>
          <a:p>
            <a:r>
              <a:t>сошлось, перегенерировали. Навыком счёта это не лечится, потому что считать нечему.</a:t>
            </a:r>
          </a:p>
          <a:p>
            <a:r>
              <a:t/>
            </a:r>
          </a:p>
          <a:p>
            <a:r>
              <a:t>Отказ третий — следствие второго, и он окажется самым дорогим в разделе про видео. Раз понятия</a:t>
            </a:r>
          </a:p>
          <a:p>
            <a:r>
              <a:t>объекта нет, то и «вот этот стул — тот же самый стул» между двумя генерациями не существует.</a:t>
            </a:r>
          </a:p>
          <a:p>
            <a:r>
              <a:t>Согласованность достигается статистически — общим стартовым шумом, образцом лица, адаптером, —</a:t>
            </a:r>
          </a:p>
          <a:p>
            <a:r>
              <a:t>и поэтому она вероятностна и деградирует с длиной серии. Любой конвейер, которому нужен один и</a:t>
            </a:r>
          </a:p>
          <a:p>
            <a:r>
              <a:t>тот же персонаж, товар или интерфейс в серии кадров, обязан держать идентичность снаружи</a:t>
            </a:r>
          </a:p>
          <a:p>
            <a:r>
              <a:t>модели. Это архитектура конвейера, а не настройка генератора, и проект, в котором это не</a:t>
            </a:r>
          </a:p>
          <a:p>
            <a:r>
              <a:t>спроектировано, обнаруживает проблему на десятом кадре, когда переделывать дорого.</a:t>
            </a:r>
          </a:p>
          <a:p>
            <a:r>
              <a:t/>
            </a:r>
          </a:p>
          <a:p>
            <a:r>
              <a:t>И последнее, ради чего кадр стоит сразу после технического блока. Все три отказа — следствие</a:t>
            </a:r>
          </a:p>
          <a:p>
            <a:r>
              <a:t>одного и того же свойства: картинка сжата в компактное непрерывное представление без словаря.</a:t>
            </a:r>
          </a:p>
          <a:p>
            <a:r>
              <a:t>Ровно это свойство кадром раньше давало выигрыш — полтора порядка вычислений на каждом шаге,</a:t>
            </a:r>
          </a:p>
          <a:p>
            <a:r>
              <a:t>генерация на потребительской видеокарте, цена попытки в три цента. Одно и то же решение,</a:t>
            </a:r>
          </a:p>
          <a:p>
            <a:r>
              <a:t>прочитанное с двух сторон: оно сделало попытку бесплатной и оно же сделало букву ненадёжной.</a:t>
            </a:r>
          </a:p>
          <a:p>
            <a:r>
              <a:t>Это не компромисс, который кто-то выбрал по небрежности, — это одна вещь, у которой две</a:t>
            </a:r>
          </a:p>
          <a:p>
            <a:r>
              <a:t>стороны, и инженерная зрелость состоит в том, чтобы видеть обе сразу.</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отдельно, потому что он про способ думать, а не про ещё один отказ. Три</a:t>
            </a:r>
          </a:p>
          <a:p>
            <a:r>
              <a:t>ограничения, разобранные кадром раньше, обычно читают как список недостатков, который следующая</a:t>
            </a:r>
          </a:p>
          <a:p>
            <a:r>
              <a:t>версия модели закроет. Это неверно, и неверно проверяемым образом: все три следуют из того же</a:t>
            </a:r>
          </a:p>
          <a:p>
            <a:r>
              <a:t>свойства, которое дало выигрыш, и закрыть их, не отменив выигрыш, нельзя.</a:t>
            </a:r>
          </a:p>
          <a:p>
            <a:r>
              <a:t/>
            </a:r>
          </a:p>
          <a:p>
            <a:r>
              <a:t>Свойство одно — сжатие в сорок восемь раз, которое превратило три миллиона сто сорок пять тысяч</a:t>
            </a:r>
          </a:p>
          <a:p>
            <a:r>
              <a:t>семьсот двадцать восемь чисел в четыре тысячи девяносто шесть токенов. Что оно дало: полтора</a:t>
            </a:r>
          </a:p>
          <a:p>
            <a:r>
              <a:t>порядка вычислений, и не однократно, а на каждом из десятков шагов расшумления. Отсюда генерация</a:t>
            </a:r>
          </a:p>
          <a:p>
            <a:r>
              <a:t>на карте с шестью—восемью гигабайтами памяти в августе две тысячи двадцать второго, отсюда</a:t>
            </a:r>
          </a:p>
          <a:p>
            <a:r>
              <a:t>открытые веса как рабочий инструмент, отсюда цена одной попытки в три-четыре сотых доллара</a:t>
            </a:r>
          </a:p>
          <a:p>
            <a:r>
              <a:t>против пятидесяти—ста пятидесяти за заказ. Весь первый разбор раздела стоит на этом свойстве.</a:t>
            </a:r>
          </a:p>
          <a:p>
            <a:r>
              <a:t/>
            </a:r>
          </a:p>
          <a:p>
            <a:r>
              <a:t>Что оно забрало, читается по той же строке. Буква — высокочастотная структура, в которой значима</a:t>
            </a:r>
          </a:p>
          <a:p>
            <a:r>
              <a:t>каждая линия, и сжатие размывает её ещё до того, как к картинке притронется генеративная сеть:</a:t>
            </a:r>
          </a:p>
          <a:p>
            <a:r>
              <a:t>измеренная потеря качества восстановления составляет двадцать пять и двенадцать сотых децибела</a:t>
            </a:r>
          </a:p>
          <a:p>
            <a:r>
              <a:t>на четырёх каналах против двадцати восьми и шестидесяти двух сотых на шестнадцати. Лицо на</a:t>
            </a:r>
          </a:p>
          <a:p>
            <a:r>
              <a:t>дальнем плане занимает единицы ячеек латента — восстанавливать в нём нечего. Понятия дискретного</a:t>
            </a:r>
          </a:p>
          <a:p>
            <a:r>
              <a:t>объекта в механизме нет вовсе, поэтому считать объекты не то чтобы трудно: считать нечему.</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Сжатие всегда что-то выбрасывает, и выброшенное</a:t>
            </a:r>
          </a:p>
          <a:p>
            <a:r>
              <a:t>всегда оказывается тем, что значимо в какой-то задаче; вопрос только в том, ваша ли это задача.</a:t>
            </a:r>
          </a:p>
          <a:p>
            <a:r>
              <a:t/>
            </a:r>
          </a:p>
          <a:p>
            <a:r>
              <a:t>Отсюда же и практический вывод по надписям, который стоит унести дословно: надписи в</a:t>
            </a:r>
          </a:p>
          <a:p>
            <a:r>
              <a:t>производственных материалах не генерируют, их накладывают — отдельным слоем, настоящим шрифтом,</a:t>
            </a:r>
          </a:p>
          <a:p>
            <a:r>
              <a:t>вне генератора. У этого способа неудачных попыток нет вовсе, он не требует ни перегенерации, ни</a:t>
            </a:r>
          </a:p>
          <a:p>
            <a:r>
              <a:t>проверки, и он дешевле любой попытки добиться читаемой надписи от модели. Решение здесь не в том,</a:t>
            </a:r>
          </a:p>
          <a:p>
            <a:r>
              <a:t>чтобы взять модель получше, а в том, чтобы вынести задачу из модели наружу.</a:t>
            </a:r>
          </a:p>
          <a:p>
            <a:r>
              <a:t/>
            </a:r>
          </a:p>
          <a:p>
            <a:r>
              <a:t>И последнее, уже про чтение обзоров. Когда в обзоре написано «новая версия наконец научилась</a:t>
            </a:r>
          </a:p>
          <a:p>
            <a:r>
              <a:t>рисовать текст», полезно спросить, за счёт чего. Обычно ответ — шестнадцатиканальный</a:t>
            </a:r>
          </a:p>
          <a:p>
            <a:r>
              <a:t>автокодировщик вместо четырёхканального, то есть меньшее сжатие, то есть больше вычислений на</a:t>
            </a:r>
          </a:p>
          <a:p>
            <a:r>
              <a:t>каждом шаге. Это не исчезновение ограничения, а покупка качества за ту самую величину, экономия</a:t>
            </a:r>
          </a:p>
          <a:p>
            <a:r>
              <a:t>которой и сделала метод дешёвым. Выигрыш и отказ ходят парой, и знать, какой именно размен</a:t>
            </a:r>
          </a:p>
          <a:p>
            <a:r>
              <a:t>сделан в вашей версии, полезнее, чем знать список новых возможностей.</a:t>
            </a:r>
          </a:p>
          <a:p>
            <a:r>
              <a:t/>
            </a:r>
          </a:p>
          <a:p>
            <a:r>
              <a:t>Стоит заметить и обратную сторону того же правила, иначе оно читается как совет не пользоваться</a:t>
            </a:r>
          </a:p>
          <a:p>
            <a:r>
              <a:t>инструментом. Сжатие выбрасывает высокие частоты и мелкие детали — и ровно поэтому генерация</a:t>
            </a:r>
          </a:p>
          <a:p>
            <a:r>
              <a:t>отлично работает там, где значима композиция, цвет, настроение и общая форма, то есть на</a:t>
            </a:r>
          </a:p>
          <a:p>
            <a:r>
              <a:t>стадии, где облик ещё ищут. Отказы и выигрыш распределены по стадиям производства, а не по</a:t>
            </a:r>
          </a:p>
          <a:p>
            <a:r>
              <a:t>качеству модели: на поиске облика свойство работает на вас, на выпуске готового материала —</a:t>
            </a:r>
          </a:p>
          <a:p>
            <a:r>
              <a:t>против. Знание границы позволяет не выбирать между «пользоваться» и «не пользоваться», а</a:t>
            </a:r>
          </a:p>
          <a:p>
            <a:r>
              <a:t>расставить инструмент по стадиям, и это куда более инженерный ответ, чем оба крайних.</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самое важное ограничение раздела для инженерной аудитории, и оно сформулировано так, чтобы</a:t>
            </a:r>
          </a:p>
          <a:p>
            <a:r>
              <a:t>его можно было проверить до запуска проекта, а не после.</a:t>
            </a:r>
          </a:p>
          <a:p>
            <a:r>
              <a:t/>
            </a:r>
          </a:p>
          <a:p>
            <a:r>
              <a:t>Генератор производит картинку объекта. Модели объекта внутри картинки нет: нет единиц</a:t>
            </a:r>
          </a:p>
          <a:p>
            <a:r>
              <a:t>измерения, нет допусков, нет материалов, нет кинематики, нет ограничений как проверяемых</a:t>
            </a:r>
          </a:p>
          <a:p>
            <a:r>
              <a:t>условий, нет дерева построения. Изображение детали, на котором похоже, что резьба М12, не</a:t>
            </a:r>
          </a:p>
          <a:p>
            <a:r>
              <a:t>содержит резьбы М12 — оно содержит точки растра, статистически похожие на фотографии резьбы.</a:t>
            </a:r>
          </a:p>
          <a:p>
            <a:r>
              <a:t>Разница между этими двумя вещами не терминологическая: в первом случае по изображению можно</a:t>
            </a:r>
          </a:p>
          <a:p>
            <a:r>
              <a:t>нарезать резьбу, во втором нельзя, потому что нечего нарезать.</a:t>
            </a:r>
          </a:p>
          <a:p>
            <a:r>
              <a:t/>
            </a:r>
          </a:p>
          <a:p>
            <a:r>
              <a:t>Из этого следуют четыре практических запрета, и каждый проверяется за секунду.</a:t>
            </a:r>
          </a:p>
          <a:p>
            <a:r>
              <a:t/>
            </a:r>
          </a:p>
          <a:p>
            <a:r>
              <a:t>Нельзя измерить: снять размер с генерации нечем, масштаба в изображении нет. Даже если</a:t>
            </a:r>
          </a:p>
          <a:p>
            <a:r>
              <a:t>поставить в кадр линейку, модель нарисует линейку, статистически похожую на линейку, с делениями</a:t>
            </a:r>
          </a:p>
          <a:p>
            <a:r>
              <a:t>в произвольных местах.</a:t>
            </a:r>
          </a:p>
          <a:p>
            <a:r>
              <a:t/>
            </a:r>
          </a:p>
          <a:p>
            <a:r>
              <a:t>Нельзя проверить: сгенерированная конструкция не проходила ни прочностного расчёта, ни проверки</a:t>
            </a:r>
          </a:p>
          <a:p>
            <a:r>
              <a:t>собираемости. И вот здесь стоит остановиться, потому что это и есть опасная часть. Непроверенная</a:t>
            </a:r>
          </a:p>
          <a:p>
            <a:r>
              <a:t>конструкция выглядит ровно так же, как прошедшая проверку. У ошибки нет внешнего признака, по</a:t>
            </a:r>
          </a:p>
          <a:p>
            <a:r>
              <a:t>которому её поймал бы беглый взгляд или согласование. Именно это делает ограничение опасным, а</a:t>
            </a:r>
          </a:p>
          <a:p>
            <a:r>
              <a:t>не просто неудобным: неудобное ограничение заставляет делать лишнюю работу, опасное позволяет</a:t>
            </a:r>
          </a:p>
          <a:p>
            <a:r>
              <a:t>не делать нужную и не заметить этого.</a:t>
            </a:r>
          </a:p>
          <a:p>
            <a:r>
              <a:t/>
            </a:r>
          </a:p>
          <a:p>
            <a:r>
              <a:t>Нельзя изготовить: на выходе нет геометрии, которую примет станок. Растровая картинка не</a:t>
            </a:r>
          </a:p>
          <a:p>
            <a:r>
              <a:t>конвертируется в траекторию инструмента, и попытки это автоматизировать упираются в то же</a:t>
            </a:r>
          </a:p>
          <a:p>
            <a:r>
              <a:t>самое — восстанавливать приходится то, чего в изображении не было.</a:t>
            </a:r>
          </a:p>
          <a:p>
            <a:r>
              <a:t/>
            </a:r>
          </a:p>
          <a:p>
            <a:r>
              <a:t>Нельзя сопровождать: дерева построения нет, значит, «поменять диаметр и пересчитать»</a:t>
            </a:r>
          </a:p>
          <a:p>
            <a:r>
              <a:t>невозможно. Любое изменение требует новой генерации, а новая генерация даёт другую деталь, а не</a:t>
            </a:r>
          </a:p>
          <a:p>
            <a:r>
              <a:t>изменённую ту же самую. Это прямое следствие того, что между двумя генерациями нет объекта,</a:t>
            </a:r>
          </a:p>
          <a:p>
            <a:r>
              <a:t>который «тот же».</a:t>
            </a:r>
          </a:p>
          <a:p>
            <a:r>
              <a:t/>
            </a:r>
          </a:p>
          <a:p>
            <a:r>
              <a:t>Честная вторая половина обязательна, иначе кадр превращается в запрет вместо критерия. Генератор</a:t>
            </a:r>
          </a:p>
          <a:p>
            <a:r>
              <a:t>в том же конвейере полезен, и места его применения называются точно. На стадии поиска облика —</a:t>
            </a:r>
          </a:p>
          <a:p>
            <a:r>
              <a:t>раскадровка идей, варианты формы, настроение; здесь он работает ровно так, как работает в</a:t>
            </a:r>
          </a:p>
          <a:p>
            <a:r>
              <a:t>рекламе, и по той же экономике. В визуализации уже посчитанного — рендер по готовой геометрии,</a:t>
            </a:r>
          </a:p>
          <a:p>
            <a:r>
              <a:t>окружение, свет: здесь геометрия пришла из расчёта, а модель занимается тем, чем и должна, —</a:t>
            </a:r>
          </a:p>
          <a:p>
            <a:r>
              <a:t>внешним видом. В презентационных материалах.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
            </a:r>
          </a:p>
          <a:p>
            <a:r>
              <a:t>Формулировка, которую стоит унести целиком: генератор отвечает на вопрос «как это выглядит»,</a:t>
            </a:r>
          </a:p>
          <a:p>
            <a:r>
              <a:t>САПР отвечает на вопрос «что это такое». Подменять второй первым — подлог, а не экономия. Эти</a:t>
            </a:r>
          </a:p>
          <a:p>
            <a:r>
              <a:t>два вопроса были разведены ещё в описании самой стадии: вопрос «как это выглядит» и есть</a:t>
            </a:r>
          </a:p>
          <a:p>
            <a:r>
              <a:t>предмет концепт-арта, иллюстрации и ключевого кадра, и именно поэтому модель вошла в эту</a:t>
            </a:r>
          </a:p>
          <a:p>
            <a:r>
              <a:t>стадию первой и сильнее всего. Проблемы начинаются тогда, когда инструмент, отвечающий на один</a:t>
            </a:r>
          </a:p>
          <a:p>
            <a:r>
              <a:t>вопрос, применяют к другому, потому что картинка на выходе выглядит убедительно в обоих</a:t>
            </a:r>
          </a:p>
          <a:p>
            <a:r>
              <a:t>случаях.</a:t>
            </a:r>
          </a:p>
          <a:p>
            <a:r>
              <a:t/>
            </a:r>
          </a:p>
          <a:p>
            <a:r>
              <a:t>Связка с разбором бионической перегородки из этого же раздела прямая, и её стоит проговорить.</a:t>
            </a:r>
          </a:p>
          <a:p>
            <a:r>
              <a:t>Там выигрыш в сорок пять процентов массы дала оптимизация под физический критерий, а обученной</a:t>
            </a:r>
          </a:p>
          <a:p>
            <a:r>
              <a:t>модели в контуре не было вовсе — и ошибка состояла в том, что выигрыш ей приписали. Здесь</a:t>
            </a:r>
          </a:p>
          <a:p>
            <a:r>
              <a:t>ровно тот же сюжет с другого конца: там выигрыш приписали модели задним числом, здесь модель</a:t>
            </a:r>
          </a:p>
          <a:p>
            <a:r>
              <a:t>пытаются поставить туда, где нужен решатель, заранее. Обе ошибки — одного класса, и обе</a:t>
            </a:r>
          </a:p>
          <a:p>
            <a:r>
              <a:t>ловятся одним вопросом: что в этой задаче является критерием и можно ли его проверить</a:t>
            </a:r>
          </a:p>
          <a:p>
            <a:r>
              <a:t>вычислением. Если можно — нужен инструмент, который считает. Если критерий вкусовой — тогда</a:t>
            </a:r>
          </a:p>
          <a:p>
            <a:r>
              <a:t>генератор, и тогда же появляются отбор, права и спор об авторстве.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пришедший из работы с языковыми моделями, задаёт этот вопрос одним из первых, и</a:t>
            </a:r>
          </a:p>
          <a:p>
            <a:r>
              <a:t>задаёт справедливо: у нас есть приём, которым чинят уверенное враньё — положить источник в</a:t>
            </a:r>
          </a:p>
          <a:p>
            <a:r>
              <a:t>контекст и потребовать ссылку. Где такой же приём для картинок? Ответ: его нет, и причина</a:t>
            </a:r>
          </a:p>
          <a:p>
            <a:r>
              <a:t>устройственная, а не продуктовая. Разберём механизм по шагам, потому что без разбора ответ</a:t>
            </a:r>
          </a:p>
          <a:p>
            <a:r>
              <a:t>звучит как отговорка.</a:t>
            </a:r>
          </a:p>
          <a:p>
            <a:r>
              <a:t/>
            </a:r>
          </a:p>
          <a:p>
            <a:r>
              <a:t>Шаг первый: куда в языковой модели кладут источник. В контекст — последовательность токенов,</a:t>
            </a:r>
          </a:p>
          <a:p>
            <a:r>
              <a:t>которую модель читает прежде, чем начать отвечать. Документ попадает туда как текст, занимает</a:t>
            </a:r>
          </a:p>
          <a:p>
            <a:r>
              <a:t>место рядом с вопросом, и механизм внимания может на него сослаться. Выход при этом дискретен,</a:t>
            </a:r>
          </a:p>
          <a:p>
            <a:r>
              <a:t>и у каждого выданного токена есть вероятность, которую можно проверить.</a:t>
            </a:r>
          </a:p>
          <a:p>
            <a:r>
              <a:t/>
            </a:r>
          </a:p>
          <a:p>
            <a:r>
              <a:t>Шаг второй: куда это положить в расшумлении. Контекста в том смысле, в каком курс о нём</a:t>
            </a:r>
          </a:p>
          <a:p>
            <a:r>
              <a:t>говорил, здесь нет вовсе. Описание — постоянное условие, неизменное на всех пятидесяти шагах, и</a:t>
            </a:r>
          </a:p>
          <a:p>
            <a:r>
              <a:t>оно входит в сеть как набор векторов, смещающих внимание. Истории нет, накопления нет, места</a:t>
            </a:r>
          </a:p>
          <a:p>
            <a:r>
              <a:t>«рядом с вопросом» нет. Положить документ некуда: единственный вход, кроме стартового шума, —</a:t>
            </a:r>
          </a:p>
          <a:p>
            <a:r>
              <a:t>это каналы обусловливания, и все они передают геометрию и стиль, а не утверждения.</a:t>
            </a:r>
          </a:p>
          <a:p>
            <a:r>
              <a:t/>
            </a:r>
          </a:p>
          <a:p>
            <a:r>
              <a:t>Шаг третий: что обусловливание делает на самом деле. Карта глубины говорит «здесь объект</a:t>
            </a:r>
          </a:p>
          <a:p>
            <a:r>
              <a:t>ближе». Поза скелета говорит «рука поднята». Образец лица говорит «похоже на это». Ни один из</a:t>
            </a:r>
          </a:p>
          <a:p>
            <a:r>
              <a:t>этих каналов не способен передать утверждение вида «у этой модели двигателя шесть болтов</a:t>
            </a:r>
          </a:p>
          <a:p>
            <a:r>
              <a:t>крепления», потому что у них нет ни формы для утверждения, ни механизма проверки выполнения.</a:t>
            </a:r>
          </a:p>
          <a:p>
            <a:r>
              <a:t>Обусловливание подсказывает форму, а не истину — и это та формулировка, которую стоит унести</a:t>
            </a:r>
          </a:p>
          <a:p>
            <a:r>
              <a:t>целиком.</a:t>
            </a:r>
          </a:p>
          <a:p>
            <a:r>
              <a:t/>
            </a:r>
          </a:p>
          <a:p>
            <a:r>
              <a:t>Шаг четвёртый: почему нет и механизма цитирования. Поиск по документам работает в паре с</a:t>
            </a:r>
          </a:p>
          <a:p>
            <a:r>
              <a:t>требованием ссылки: модель обязана указать, откуда взяла. У сгенерированного кадра провенанса</a:t>
            </a:r>
          </a:p>
          <a:p>
            <a:r>
              <a:t>не существует физически — вклад каждого обучающего примера размазан по миллиардам весов.</a:t>
            </a:r>
          </a:p>
          <a:p>
            <a:r>
              <a:t>Сказать, откуда взялась эта текстура, этот силуэт, эта поза, нельзя по единственной причине:</a:t>
            </a:r>
          </a:p>
          <a:p>
            <a:r>
              <a:t>такой информации нет. Поставщик её не прячет и не отказывается раскрывать — её не существует.</a:t>
            </a:r>
          </a:p>
          <a:p>
            <a:r>
              <a:t>Это важное различение, потому что первое лечится регулированием, а второе не лечится ничем.</a:t>
            </a:r>
          </a:p>
          <a:p>
            <a:r>
              <a:t/>
            </a:r>
          </a:p>
          <a:p>
            <a:r>
              <a:t>Три практических последствия, и у каждого есть действие.</a:t>
            </a:r>
          </a:p>
          <a:p>
            <a:r>
              <a:t/>
            </a:r>
          </a:p>
          <a:p>
            <a:r>
              <a:t>Первое: правовая проверка выхода изнутри модели невозможна. Похоже ли это на чужую охраняемую</a:t>
            </a:r>
          </a:p>
          <a:p>
            <a:r>
              <a:t>работу — определяется только сравнением снаружи, обратным поиском по изображению. Никакой</a:t>
            </a:r>
          </a:p>
          <a:p>
            <a:r>
              <a:t>настройкой генератора нельзя добиться гарантии «этот кадр ни на что чужое не похож».</a:t>
            </a:r>
          </a:p>
          <a:p>
            <a:r>
              <a:t/>
            </a:r>
          </a:p>
          <a:p>
            <a:r>
              <a:t>Второе: «удалить один факт» из модели нельзя — то же ограничение, которое курс назвал для весов</a:t>
            </a:r>
          </a:p>
          <a:p>
            <a:r>
              <a:t>языковой модели. Отсюда вся индустрия фильтров на выходе вместо правок внутри: если из модели</a:t>
            </a:r>
          </a:p>
          <a:p>
            <a:r>
              <a:t>нельзя вынуть конкретное знание, остаётся ловить результат.</a:t>
            </a:r>
          </a:p>
          <a:p>
            <a:r>
              <a:t/>
            </a:r>
          </a:p>
          <a:p>
            <a:r>
              <a:t>Третье: отсюда же берутся подпись происхождения и встроенный водяной знак. Раз происхождение</a:t>
            </a:r>
          </a:p>
          <a:p>
            <a:r>
              <a:t>нельзя восстановить из содержимого, его прикрепляют снаружи как подписанные метаданные. Это</a:t>
            </a:r>
          </a:p>
          <a:p>
            <a:r>
              <a:t>инженерное признание того, что внутри модели задача не решается, и стоит читать это именно так,</a:t>
            </a:r>
          </a:p>
          <a:p>
            <a:r>
              <a:t>а не как дополнительную удобную функцию.</a:t>
            </a:r>
          </a:p>
          <a:p>
            <a:r>
              <a:t/>
            </a:r>
          </a:p>
          <a:p>
            <a:r>
              <a:t>И финальное обобщение, которое, вероятно, главный вывод всего технического блока. Нормальное</a:t>
            </a:r>
          </a:p>
          <a:p>
            <a:r>
              <a:t>техническое задание формулируется ограничениями: ровно три элемента, фирменный синий с</a:t>
            </a:r>
          </a:p>
          <a:p>
            <a:r>
              <a:t>конкретным кодом, поле не менее десяти миллиметров, одинаковый шрифт во всех кадрах, логотип</a:t>
            </a:r>
          </a:p>
          <a:p>
            <a:r>
              <a:t>без искажения пропорций. Все эти требования — проверяемые условия: про любой результат можно за</a:t>
            </a:r>
          </a:p>
          <a:p>
            <a:r>
              <a:t>секунду сказать, выполнено оно или нарушено. Модель, разобранная техническим блоком, условий на</a:t>
            </a:r>
          </a:p>
          <a:p>
            <a:r>
              <a:t>вход не принимает. Она принимает текст, попадающий во внимание как смещение; числовой</a:t>
            </a:r>
          </a:p>
          <a:p>
            <a:r>
              <a:t>коэффициент экстраполяции; дополнительные тензоры-условия. Ни одно из этого не является</a:t>
            </a:r>
          </a:p>
          <a:p>
            <a:r>
              <a:t>ограничением, которое нельзя нарушить.</a:t>
            </a:r>
          </a:p>
          <a:p>
            <a:r>
              <a:t/>
            </a:r>
          </a:p>
          <a:p>
            <a:r>
              <a:t>Контраст здесь максимально резкий, и его стоит назвать прямо. Курс показал механизм, который</a:t>
            </a:r>
          </a:p>
          <a:p>
            <a:r>
              <a:t>ограничением является: грамматика схемы маскирует невалидные токены при декодировании, и</a:t>
            </a:r>
          </a:p>
          <a:p>
            <a:r>
              <a:t>невалидный формат физически не может быть сгенерирован — именно не может, и «обычно не</a:t>
            </a:r>
          </a:p>
          <a:p>
            <a:r>
              <a:t>генерируется» тут слишком слабая формулировка. Инженер к этому привыкает и переносит ожидание</a:t>
            </a:r>
          </a:p>
          <a:p>
            <a:r>
              <a:t>на новое семейство. Аналога здесь нет, и он не появится, пока выход непрерывен: маскировать</a:t>
            </a:r>
          </a:p>
          <a:p>
            <a:r>
              <a:t>нечего, запрещать нечему, непрерывную величину нельзя вычеркнуть из словаря, которого не</a:t>
            </a:r>
          </a:p>
          <a:p>
            <a:r>
              <a:t>существует.</a:t>
            </a:r>
          </a:p>
          <a:p>
            <a:r>
              <a:t/>
            </a:r>
          </a:p>
          <a:p>
            <a:r>
              <a:t>Инженерный вывод, который и есть содержание кадра: соответствие техническому заданию в</a:t>
            </a:r>
          </a:p>
          <a:p>
            <a:r>
              <a:t>генеративном медиа-конвейере обеспечивается контуром вокруг модели — проверкой на выходе,</a:t>
            </a:r>
          </a:p>
          <a:p>
            <a:r>
              <a:t>детектором, человеком-валидатором, перегенерацией по отказу. Это ровно та конструкция</a:t>
            </a:r>
          </a:p>
          <a:p>
            <a:r>
              <a:t>«человек-валидатор», которую курс поставил обязательным элементом агентной системы, и здесь она</a:t>
            </a:r>
          </a:p>
          <a:p>
            <a:r>
              <a:t>перестаёт быть рекомендацией: это единственный способ выполнить техническое задание. Проект, в</a:t>
            </a:r>
          </a:p>
          <a:p>
            <a:r>
              <a:t>котором контур не спроектирован, не имеет механизма выполнить требования заказчика, сколько бы</a:t>
            </a:r>
          </a:p>
          <a:p>
            <a:r>
              <a:t>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у обеих половин одна, доллар за одну годную</a:t>
            </a:r>
          </a:p>
          <a:p>
            <a:r>
              <a:t>картинку, и потому они сопоставимы.</a:t>
            </a:r>
          </a:p>
          <a:p>
            <a:r>
              <a:t/>
            </a:r>
          </a:p>
          <a:p>
            <a:r>
              <a:t>Начать стоит с того, на чём этот продавец зарабатывал, — это и есть якорь единицы. Розничная</a:t>
            </a:r>
          </a:p>
          <a:p>
            <a:r>
              <a:t>лицензия на одно изображение стоила сто тридцать — четыреста девяносто девять долларов,</a:t>
            </a:r>
          </a:p>
          <a:p>
            <a:r>
              <a:t>оптовая по подписке — около двух долларов пятидесяти центов. Против трёх с третью — пяти</a:t>
            </a:r>
          </a:p>
          <a:p>
            <a:r>
              <a:t>центов у генерации это разрыв от семидесяти трёх раз к опту до четырнадцати тысяч семисот к</a:t>
            </a:r>
          </a:p>
          <a:p>
            <a:r>
              <a:t>рознице. Вся бизнес-модель стояла на том, что готовое изображение стоит денег, потому что его</a:t>
            </a:r>
          </a:p>
          <a:p>
            <a:r>
              <a:t>кто-то снял.</a:t>
            </a:r>
          </a:p>
          <a:p>
            <a:r>
              <a:t/>
            </a:r>
          </a:p>
          <a:p>
            <a:r>
              <a:t>И сразу честный пробел, который надо назвать прежде, чем читать остальное, потому что он</a:t>
            </a:r>
          </a:p>
          <a:p>
            <a:r>
              <a:t>объясняет, почему кадр устроен именно так. Измеренного ряда ставки самого иллюстратора год к</a:t>
            </a:r>
          </a:p>
          <a:p>
            <a:r>
              <a:t>году — то есть ответа на вопрос «сколько она была в 2021-м и сколько стала в 2026-м» — в</a:t>
            </a:r>
          </a:p>
          <a:p>
            <a:r>
              <a:t>источниках нет. Уровень классических ставок известен, динамика не измерена. Подставлять сюда</a:t>
            </a:r>
          </a:p>
          <a:p>
            <a:r>
              <a:t>оценку или чьё-нибудь впечатление нельзя: курс этого не принимает, и здесь правило работает</a:t>
            </a:r>
          </a:p>
          <a:p>
            <a:r>
              <a:t>против удобного вывода, а не за него. Поэтому обвал предъявляется там, где он действительно</a:t>
            </a:r>
          </a:p>
          <a:p>
            <a:r>
              <a:t>посчитан, — на балансе продавца изображений, а не в доходе исполнителя.</a:t>
            </a:r>
          </a:p>
          <a:p>
            <a:r>
              <a:t/>
            </a:r>
          </a:p>
          <a:p>
            <a:r>
              <a:t>А там он посчитан подробно, и сюжет этот интереснее любой ставки. Подписчики стокового агентства</a:t>
            </a:r>
          </a:p>
          <a:p>
            <a:r>
              <a:t>за год: триста двадцать одна тысяча против двухсот сорока тысяч, то есть минус двадцать пять</a:t>
            </a:r>
          </a:p>
          <a:p>
            <a:r>
              <a:t>процентов. Выручка минус два с половиной процента, до двухсот двадцати девяти миллионов ста</a:t>
            </a:r>
          </a:p>
          <a:p>
            <a:r>
              <a:t>тысяч долларов. Слияние с крупнейшим конкурентом расторгнуто седьмого июля 2026 года после</a:t>
            </a:r>
          </a:p>
          <a:p>
            <a:r>
              <a:t>того, как британский регулятор поставил условием продажу всего редакционного бизнеса</a:t>
            </a:r>
          </a:p>
          <a:p>
            <a:r>
              <a:t>приобретаемой компании. Торги на бирже остановлены двадцать девятого сентября. Заранее</a:t>
            </a:r>
          </a:p>
          <a:p>
            <a:r>
              <a:t>согласованное банкротство подано двенадцатого—тринадцатого октября при долге около двух</a:t>
            </a:r>
          </a:p>
          <a:p>
            <a:r>
              <a:t>миллиардов ста миллионов долларов; семья владельцев вместе с партнёром вносит до пятисот</a:t>
            </a:r>
          </a:p>
          <a:p>
            <a:r>
              <a:t>тридцати трёх миллионов, кредиторы списывают двести семьдесят. И причину назвала сама компания:</a:t>
            </a:r>
          </a:p>
          <a:p>
            <a:r>
              <a:t>растущее давление изображений, созданных моделями. Это её собственная формулировка в</a:t>
            </a:r>
          </a:p>
          <a:p>
            <a:r>
              <a:t>корпоративном сообщении, а не вывод обозревателя.</a:t>
            </a:r>
          </a:p>
          <a:p>
            <a:r>
              <a:t/>
            </a:r>
          </a:p>
          <a:p>
            <a:r>
              <a:t>Прежняя ходовая формулировка «два крупнейших стоковых агентства консолидируются в ответ на</a:t>
            </a:r>
          </a:p>
          <a:p>
            <a:r>
              <a:t>искусственный интеллект» снята: слияние не состоялось, и правильная формулировка звучит иначе —</a:t>
            </a:r>
          </a:p>
          <a:p>
            <a:r>
              <a:t>попытка защититься не сработала. Это полезный частный случай того, как отраслевая аналитика</a:t>
            </a:r>
          </a:p>
          <a:p>
            <a:r>
              <a:t>устаревает: утверждение было верным в момент объявления сделки и перестало быть верным через</a:t>
            </a:r>
          </a:p>
          <a:p>
            <a:r>
              <a:t>год, а цитировать его продолжают.</a:t>
            </a:r>
          </a:p>
          <a:p>
            <a:r>
              <a:t/>
            </a:r>
          </a:p>
          <a:p>
            <a:r>
              <a:t>Исторический контрапункт превращает этот сюжет из новости в урок, и ради него кадр стоит в</a:t>
            </a:r>
          </a:p>
          <a:p>
            <a:r>
              <a:t>разделе. В 2006 году та же компания купила микросток — то есть владелец дорогой библиотеки</a:t>
            </a:r>
          </a:p>
          <a:p>
            <a:r>
              <a:t>купил собственного разрушителя цены. И это сработало: рынок разделился на «дёшево и много» и</a:t>
            </a:r>
          </a:p>
          <a:p>
            <a:r>
              <a:t>«дорого и именно это», верхний сегмент выжил, а покупатель остался в нём главным. Через</a:t>
            </a:r>
          </a:p>
          <a:p>
            <a:r>
              <a:t>двадцать лет тот же манёвр был повторён в сторону конкурента, и на этот раз он не прошёл.</a:t>
            </a:r>
          </a:p>
          <a:p>
            <a:r>
              <a:t/>
            </a:r>
          </a:p>
          <a:p>
            <a:r>
              <a:t>Разницу стоит проговорить точно, потому что в ней и лежит ось вечера, предъявленная на</a:t>
            </a:r>
          </a:p>
          <a:p>
            <a:r>
              <a:t>балансе одной компании. Микросток был новым каналом продажи той же вещи — фотографии, снятой</a:t>
            </a:r>
          </a:p>
          <a:p>
            <a:r>
              <a:t>человеком, которую кто-то лицензирует. Канал можно купить: у него есть владелец, выручка и</a:t>
            </a:r>
          </a:p>
          <a:p>
            <a:r>
              <a:t>цена. Генерация — это отсутствие вещи, которую нужно лицензировать, и купить её владельца</a:t>
            </a:r>
          </a:p>
          <a:p>
            <a:r>
              <a:t>невозможно, потому что владельца нет. Это и есть разница между удешевлением операции и</a:t>
            </a:r>
          </a:p>
          <a:p>
            <a:r>
              <a:t>обесцениванием попытки: в первом случае объект сделки сохраняется и меняет цену, во втором</a:t>
            </a:r>
          </a:p>
          <a:p>
            <a:r>
              <a:t>объект сделки исчезает.</a:t>
            </a:r>
          </a:p>
          <a:p>
            <a:r>
              <a:t/>
            </a:r>
          </a:p>
          <a:p>
            <a:r>
              <a:t>Для студента здесь практический вывод, а не злорадство, и формулируется он одной парой фраз.</a:t>
            </a:r>
          </a:p>
          <a:p>
            <a:r>
              <a:t>Когда дешевеет канал, выживает тот, кто его купит. Когда обесценивается сама единица, покупать</a:t>
            </a:r>
          </a:p>
          <a:p>
            <a:r>
              <a:t>нечего, и выживает тот, кто продаёт что-то другое: права на изображение с подтверждённым</a:t>
            </a:r>
          </a:p>
          <a:p>
            <a:r>
              <a:t>происхождением, редакционный архив, который невозможно сгенерировать, или доступ к съёмке</a:t>
            </a:r>
          </a:p>
          <a:p>
            <a:r>
              <a:t>события, которое произошло один раз. Все три уцелевших товара объединяет одно свойство — их</a:t>
            </a:r>
          </a:p>
          <a:p>
            <a:r>
              <a:t>ценность держится не на изображении как таковом, а на том, что за ним стоит проверяемый факт.</a:t>
            </a:r>
          </a:p>
          <a:p>
            <a:r>
              <a:t>И это прямо подводит к следующей паре кадров, где речь пойдёт о том, чем вообще обучены эти</a:t>
            </a:r>
          </a:p>
          <a:p>
            <a:r>
              <a:t>модели и что из их выхода 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манёвра одного и того же игрока с разницей в двадцать лет, и сравнение их — самое полезное,</a:t>
            </a:r>
          </a:p>
          <a:p>
            <a:r>
              <a:t>что даёт этот разбор. В обоих случаях владелец дорогой библиотеки видит, что цена единицы его</a:t>
            </a:r>
          </a:p>
          <a:p>
            <a:r>
              <a:t>товара обрушилась, и в обоих случаях отвечает покупкой. В первом случае манёвр сработал, во</a:t>
            </a:r>
          </a:p>
          <a:p>
            <a:r>
              <a:t>втором не прошёл, и причина различия не в исполнении.</a:t>
            </a:r>
          </a:p>
          <a:p>
            <a:r>
              <a:t/>
            </a:r>
          </a:p>
          <a:p>
            <a:r>
              <a:t>Две тысячи шестой год. Классические агентства продавали изображение по цене от нескольких сотен</a:t>
            </a:r>
          </a:p>
          <a:p>
            <a:r>
              <a:t>до нескольких тысяч долларов; микросток продавал то же самое по двадцать пять центов — доллару</a:t>
            </a:r>
          </a:p>
          <a:p>
            <a:r>
              <a:t>за штуку. Владелец дорогой библиотеки купил микросток, то есть собственного разрушителя цены.</a:t>
            </a:r>
          </a:p>
          <a:p>
            <a:r>
              <a:t>Рынок после этого разделился на «дёшево и много» и «дорого и именно это», верхний сегмент выжил,</a:t>
            </a:r>
          </a:p>
          <a:p>
            <a:r>
              <a:t>и покупатель остался в нём главным. Манёвр сработал, потому что микросток был новым КАНАЛОМ</a:t>
            </a:r>
          </a:p>
          <a:p>
            <a:r>
              <a:t>продажи той же самой вещи — фотографии, снятой человеком. Канал можно купить: у него есть</a:t>
            </a:r>
          </a:p>
          <a:p>
            <a:r>
              <a:t>владелец, есть договор, есть цена.</a:t>
            </a:r>
          </a:p>
          <a:p>
            <a:r>
              <a:t/>
            </a:r>
          </a:p>
          <a:p>
            <a:r>
              <a:t>Две тысячи двадцать шестой год. Тот же игрок пытается объединиться с конкурентом. Слияние</a:t>
            </a:r>
          </a:p>
          <a:p>
            <a:r>
              <a:t>расторгнуто седьмого июля после условия регулятора продать весь редакционный бизнес; торги</a:t>
            </a:r>
          </a:p>
          <a:p>
            <a:r>
              <a:t>остановлены двадцать девятого сентября; заранее согласованное банкротство подано двенадцатого —</a:t>
            </a:r>
          </a:p>
          <a:p>
            <a:r>
              <a:t>тринадцатого октября. Манёвр не прошёл, и дело не в регуляторе: даже состоявшееся слияние двух</a:t>
            </a:r>
          </a:p>
          <a:p>
            <a:r>
              <a:t>продавцов фотографий не вернуло бы цену единицы, потому что обесценилась не их доля рынка, а сам</a:t>
            </a:r>
          </a:p>
          <a:p>
            <a:r>
              <a:t>товар.</a:t>
            </a:r>
          </a:p>
          <a:p>
            <a:r>
              <a:t/>
            </a:r>
          </a:p>
          <a:p>
            <a:r>
              <a:t>Разница между двумя случаями формулируется одной строкой, и строку эту стоит унести целиком.</a:t>
            </a:r>
          </a:p>
          <a:p>
            <a:r>
              <a:t>Генерация — это ОТСУТСТВИЕ ВЕЩИ, которую нужно лицензировать. Купить её владельца невозможно,</a:t>
            </a:r>
          </a:p>
          <a:p>
            <a:r>
              <a:t>потому что владельца нет: нет компании, у которой можно приобрести право на то, чтобы люди</a:t>
            </a:r>
          </a:p>
          <a:p>
            <a:r>
              <a:t>перестали генерировать картинки, и нет договора, который это право оформил бы. Когда дешевеет</a:t>
            </a:r>
          </a:p>
          <a:p>
            <a:r>
              <a:t>канал, выживает тот, кто канал купит. Когда обесценивается сама единица, покупать нечего.</a:t>
            </a:r>
          </a:p>
          <a:p>
            <a:r>
              <a:t/>
            </a:r>
          </a:p>
          <a:p>
            <a:r>
              <a:t>Отдельно стоит снять прежнюю формулировку, которая ходила по обзорам в начале две тысячи</a:t>
            </a:r>
          </a:p>
          <a:p>
            <a:r>
              <a:t>двадцать шестого: «продавцы изображений консолидируются в ответ на искусственный интеллект».</a:t>
            </a:r>
          </a:p>
          <a:p>
            <a:r>
              <a:t>Звучит она как описание стратегии, а по факту описывает попытку защититься, которая не</a:t>
            </a:r>
          </a:p>
          <a:p>
            <a:r>
              <a:t>сработала. Разница между «отрасль консолидируется» и «попытка защититься провалилась»</a:t>
            </a:r>
          </a:p>
          <a:p>
            <a:r>
              <a:t>практическая: на первом утверждении можно строить прогноз, на втором — только вывод о том, что</a:t>
            </a:r>
          </a:p>
          <a:p>
            <a:r>
              <a:t>прогнозировать рано.</a:t>
            </a:r>
          </a:p>
          <a:p>
            <a:r>
              <a:t/>
            </a:r>
          </a:p>
          <a:p>
            <a:r>
              <a:t>Что отсюда уносит инженер, а не биржевой обозреватель. Прежде чем планировать ответ на</a:t>
            </a:r>
          </a:p>
          <a:p>
            <a:r>
              <a:t>удешевление, спросите, что именно подешевело: канал доставки вашего товара или сам товар. Это</a:t>
            </a:r>
          </a:p>
          <a:p>
            <a:r>
              <a:t>разные положения, и лечатся они по-разному. Подешевевший канал покупают, перехватывают или</a:t>
            </a:r>
          </a:p>
          <a:p>
            <a:r>
              <a:t>обходят — он чей-то, и с ним можно договориться. Обесценившаяся единица не лечится покупкой</a:t>
            </a:r>
          </a:p>
          <a:p>
            <a:r>
              <a:t>вовсе: единственный ход здесь — найти, что в вашей работе не является этой единицей, и перенести</a:t>
            </a:r>
          </a:p>
          <a:p>
            <a:r>
              <a:t>туда цену. Для продавца изображений таким остатком оказался редакционный архив, то есть снимки</a:t>
            </a:r>
          </a:p>
          <a:p>
            <a:r>
              <a:t>конкретных событий, которых не существует в сгенерированном виде по определению, — и показательно,</a:t>
            </a:r>
          </a:p>
          <a:p>
            <a:r>
              <a:t>что именно его регулятор потребовал продать, а сделка на этом и рассыпалась.</a:t>
            </a:r>
          </a:p>
          <a:p>
            <a:r>
              <a:t/>
            </a:r>
          </a:p>
          <a:p>
            <a:r>
              <a:t>И последнее — про то, как эта пара случаев читается в собственной работе. Проверка занимает одну</a:t>
            </a:r>
          </a:p>
          <a:p>
            <a:r>
              <a:t>минуту: выпишите, за что именно вам платят, и спросите по каждой строке, существует ли у неё</a:t>
            </a:r>
          </a:p>
          <a:p>
            <a:r>
              <a:t>владелец. Там, где владелец есть, удешевление проходит как смена поставщика, и к нему можно</a:t>
            </a:r>
          </a:p>
          <a:p>
            <a:r>
              <a:t>подготовиться договором. Там, где владельца нет, договариваться не с кем, и единственный честный</a:t>
            </a:r>
          </a:p>
          <a:p>
            <a:r>
              <a:t>план — заранее знать, какая часть работы останется, когда единица обесценится до нуля. Для</a:t>
            </a:r>
          </a:p>
          <a:p>
            <a:r>
              <a:t>продавца изображений такой частью оказался архив конкретных событий; для исполнителя, скорее</a:t>
            </a:r>
          </a:p>
          <a:p>
            <a:r>
              <a:t>всего, ею окажется отбор и ответственность за выпуск, то есть ровно то, что весь вечер уезжает</a:t>
            </a:r>
          </a:p>
          <a:p>
            <a:r>
              <a:t>вправо.</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a:t>
            </a:r>
          </a:p>
          <a:p>
            <a:r>
              <a:t>это сказано прямо, а не замаскировано. Форма пяти шагов написана под случай применения модели в</a:t>
            </a:r>
          </a:p>
          <a:p>
            <a:r>
              <a:t>производстве; у судебного решения нет ни цены обеих ошибок в одних единицах, ни классического</a:t>
            </a:r>
          </a:p>
          <a:p>
            <a:r>
              <a:t>режима, ни имени изделия-исполнителя. Поэтому разбор идёт по своей форме: что суд решил, чего</a:t>
            </a:r>
          </a:p>
          <a:p>
            <a:r>
              <a:t>он не решил, чем это отличается от соседней юрисдикции.</a:t>
            </a:r>
          </a:p>
          <a:p>
            <a:r>
              <a:t/>
            </a:r>
          </a:p>
          <a:p>
            <a:r>
              <a:t>Что решено. Высокий суд Англии и Уэльса, судья Джоанна Смит, четвёртого ноября 2025 года: веса</a:t>
            </a:r>
          </a:p>
          <a:p>
            <a:r>
              <a:t>модели — это математические параметры, и они не являются контрафактной копией по британскому</a:t>
            </a:r>
          </a:p>
          <a:p>
            <a:r>
              <a:t>закону об авторском праве; вторичное нарушение не доказано. Узкая победа истца пришла по</a:t>
            </a:r>
          </a:p>
          <a:p>
            <a:r>
              <a:t>товарному знаку: в сгенерированных изображениях обнаруживались артефакты его водяных знаков.</a:t>
            </a:r>
          </a:p>
          <a:p>
            <a:r>
              <a:t>Деталь эта кажется технической, а на самом деле она и есть главный инженерный вывод кадра:</a:t>
            </a:r>
          </a:p>
          <a:p>
            <a:r>
              <a:t>выиграть удалось ровно по тому каналу, где нарушение видно на выходе, то есть там, где внешняя</a:t>
            </a:r>
          </a:p>
          <a:p>
            <a:r>
              <a:t>проверка результата вообще возможна.</a:t>
            </a:r>
          </a:p>
          <a:p>
            <a:r>
              <a:t/>
            </a:r>
          </a:p>
          <a:p>
            <a:r>
              <a:t>Список того, чего суд не решил, важнее списка решённого, и читать его надо целиком. Законно ли</a:t>
            </a:r>
          </a:p>
          <a:p>
            <a:r>
              <a:t>само обучение — не решено. Что было бы, если бы обучение доказуемо шло в британской</a:t>
            </a:r>
          </a:p>
          <a:p>
            <a:r>
              <a:t>юрисдикции, — не решено. Устоит ли вывод о весах в апелляции — неизвестно: разрешение на</a:t>
            </a:r>
          </a:p>
          <a:p>
            <a:r>
              <a:t>апелляцию получено в январе 2026 года, причём вопрос признан новым и важным, а у довода истца</a:t>
            </a:r>
          </a:p>
          <a:p>
            <a:r>
              <a:t>найдена реальная перспектива успеха; решения апелляционного суда на конец октября 2026 года</a:t>
            </a:r>
          </a:p>
          <a:p>
            <a:r>
              <a:t>нет. И отдельно: сколько именно человеческого вклада достаточно для возникновения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a:t>
            </a:r>
          </a:p>
          <a:p>
            <a:r>
              <a:t>истец сам отказался от основных требований — по обучению и по выходам модели: не хватило</a:t>
            </a:r>
          </a:p>
          <a:p>
            <a:r>
              <a:t>доказательств, что обучение происходило в британской юрисдикции. В Великобритании отсутствует</a:t>
            </a:r>
          </a:p>
          <a:p>
            <a:r>
              <a:t>доктрина добросовестного использования в американском смысле; есть узкие исключения, в которые</a:t>
            </a:r>
          </a:p>
          <a:p>
            <a:r>
              <a:t>обучение коммерческой модели не укладывается. Отсюда главное, что выносится из разбора: один и</a:t>
            </a:r>
          </a:p>
          <a:p>
            <a:r>
              <a:t>тот же спор в двух юрисдикциях проигрывают двумя разными способами — в США потому, что обучение</a:t>
            </a:r>
          </a:p>
          <a:p>
            <a:r>
              <a:t>на законно приобретённых материалах признают преобразующим использованием, в Великобритании</a:t>
            </a:r>
          </a:p>
          <a:p>
            <a:r>
              <a:t>потому, что истец не доказал, где оно физически происходило.</a:t>
            </a:r>
          </a:p>
          <a:p>
            <a:r>
              <a:t/>
            </a:r>
          </a:p>
          <a:p>
            <a:r>
              <a:t>Формулировка «британский суд признал обучение моделей законным» неверна, и встречается она</a:t>
            </a:r>
          </a:p>
          <a:p>
            <a:r>
              <a:t>постоянно. Суд не рассматривал законность обучения: требование было снято самим истцом до того,</a:t>
            </a:r>
          </a:p>
          <a:p>
            <a:r>
              <a:t>как до него дошло дело. Разница между «суд решил, что это законно» и «суд не стал это</a:t>
            </a:r>
          </a:p>
          <a:p>
            <a:r>
              <a:t>рассматривать, потому что истец отозвал требование» — это ровно та разница, за смешение которой</a:t>
            </a:r>
          </a:p>
          <a:p>
            <a:r>
              <a:t>курс бьёт отдельно, и она практическая: на первом утверждении можно строить проект, на втором</a:t>
            </a:r>
          </a:p>
          <a:p>
            <a:r>
              <a:t>нельзя. Проверять эту разницу приходится почти в каждом правовом заголовке, и приём проверки</a:t>
            </a:r>
          </a:p>
          <a:p>
            <a:r>
              <a:t>один: найти, по какому требованию вынесено решение, и сверить его с тем, о чём написан заголовок.</a:t>
            </a:r>
          </a:p>
          <a:p>
            <a:r>
              <a:t/>
            </a:r>
          </a:p>
          <a:p>
            <a:r>
              <a:t>Что отсюда уносит инженер, а не юрист. Первое: веса модели и обучающий набор — разные объекты</a:t>
            </a:r>
          </a:p>
          <a:p>
            <a:r>
              <a:t>права, и суд в этом деле разделил их явно. Второе: место обучения имеет значение, и для</a:t>
            </a:r>
          </a:p>
          <a:p>
            <a:r>
              <a:t>распределённой инфраструктуры это вопрос, на который проект должен уметь ответить документами,</a:t>
            </a:r>
          </a:p>
          <a:p>
            <a:r>
              <a:t>— то есть это требование к журналированию, а не к юридическому отделу.</a:t>
            </a:r>
          </a:p>
          <a:p>
            <a:r>
              <a:t/>
            </a:r>
          </a:p>
          <a:p>
            <a:r>
              <a:t>Третье, и самое важное практически: читая правовую новость, различайте пять статусов — иск</a:t>
            </a:r>
          </a:p>
          <a:p>
            <a:r>
              <a:t>подан, решение вынесено, мировое без признания вины, закон принят, закон вступил в силу. Это</a:t>
            </a:r>
          </a:p>
          <a:p>
            <a:r>
              <a:t>дело даёт сразу два из них: по весам — решение вынесено и обжаловано, по обучению — ничего, то</a:t>
            </a:r>
          </a:p>
          <a:p>
            <a:r>
              <a:t>есть статуса нет вовсе. Строить проект на «решении, которого нет», — самая дешёвая и самая</a:t>
            </a:r>
          </a:p>
          <a:p>
            <a:r>
              <a:t>частая ошибка в этой области, и стоит она ровно столько, сколько стоит переделка, когда</a:t>
            </a:r>
          </a:p>
          <a:p>
            <a:r>
              <a:t>апелляция решит иначе.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Экономика, которая стоит рядом с судебным решением, полезна как упражнение в счёте, и считать</a:t>
            </a:r>
          </a:p>
          <a:p>
            <a:r>
              <a:t>её стоит вместе с залом. Внутри обучающего корпуса оказалось двенадцать миллионов триста тысяч</a:t>
            </a:r>
          </a:p>
          <a:p>
            <a:r>
              <a:t>изображений истца из примерно пяти миллиардов восьмисот пятидесяти миллионов пар. То есть доля</a:t>
            </a:r>
          </a:p>
          <a:p>
            <a:r>
              <a:t>истца в корпусе — около двух десятых процента; это первое число, которое стоит произнести, и</a:t>
            </a:r>
          </a:p>
          <a:p>
            <a:r>
              <a:t>оно само по себе мало о чём говорит, пока к нему не приложен тариф.</a:t>
            </a:r>
          </a:p>
          <a:p>
            <a:r>
              <a:t/>
            </a:r>
          </a:p>
          <a:p>
            <a:r>
              <a:t>Дальше начинается то, ради чего кадр и стоит. По оптовому тарифу в два доллара пятьдесят центов</a:t>
            </a:r>
          </a:p>
          <a:p>
            <a:r>
              <a:t>за изображение двенадцать миллионов триста тысяч дают около тридцати миллионов семисот</a:t>
            </a:r>
          </a:p>
          <a:p>
            <a:r>
              <a:t>пятидесяти тысяч долларов. По розничному тарифу в сто тридцать долларов те же двенадцать</a:t>
            </a:r>
          </a:p>
          <a:p>
            <a:r>
              <a:t>миллионов триста тысяч дают около миллиарда шестисот миллионов. Разброс в пятьдесят раз</a:t>
            </a:r>
          </a:p>
          <a:p>
            <a:r>
              <a:t>получается от одного только выбора тарифа внутри классического режима — то есть никакой</a:t>
            </a:r>
          </a:p>
          <a:p>
            <a:r>
              <a:t>генерации, никакой новой технологии, одна строка прейскуранта. Это ровно то же наблюдение,</a:t>
            </a:r>
          </a:p>
          <a:p>
            <a:r>
              <a:t>которым открывался раздел, когда речь шла о цене одной годной картинки, и здесь оно возвращается</a:t>
            </a:r>
          </a:p>
          <a:p>
            <a:r>
              <a:t>в правовой рамке: выбирая базу, человек выбирает вывод.</a:t>
            </a:r>
          </a:p>
          <a:p>
            <a:r>
              <a:t/>
            </a:r>
          </a:p>
          <a:p>
            <a:r>
              <a:t>Третья величина рядом — та, по которой рынок договорился на самом деле. В музыке после</a:t>
            </a:r>
          </a:p>
          <a:p>
            <a:r>
              <a:t>урегулирований согласованная ставка составила две десятых — пять десятых цента за генерацию,</a:t>
            </a:r>
          </a:p>
          <a:p>
            <a:r>
              <a:t>то есть на три-четыре порядка ниже стокового тарифа за единицу. Сравнивать её с тарифом за</a:t>
            </a:r>
          </a:p>
          <a:p>
            <a:r>
              <a:t>изображение напрямую нельзя: это разные модальности и разные единицы, — но порядок величины</a:t>
            </a:r>
          </a:p>
          <a:p>
            <a:r>
              <a:t>говорит о том, во что рынок оценивает одно обращение к модели, когда платит добровольно и</a:t>
            </a:r>
          </a:p>
          <a:p>
            <a:r>
              <a:t>заранее, а не по решению суда.</a:t>
            </a:r>
          </a:p>
          <a:p>
            <a:r>
              <a:t/>
            </a:r>
          </a:p>
          <a:p>
            <a:r>
              <a:t>Четвёртая величина — статутный потолок: ставка за произведение, умноженная на число</a:t>
            </a:r>
          </a:p>
          <a:p>
            <a:r>
              <a:t>произведений, даёт свыше девяти миллиардов. Это арифметика, а не требование: такой суммы никто</a:t>
            </a:r>
          </a:p>
          <a:p>
            <a:r>
              <a:t>не присуждал и, по всему судя, не присудит. Встречая её в заголовке, стоит помнить, из чего она</a:t>
            </a:r>
          </a:p>
          <a:p>
            <a:r>
              <a:t>получена, — и это общий навык чтения правовых новостей, а не частность одного дела.</a:t>
            </a:r>
          </a:p>
          <a:p>
            <a:r>
              <a:t/>
            </a:r>
          </a:p>
          <a:p>
            <a:r>
              <a:t>Что отсюда уносит инженер. Первое: прежде чем повторять сумму иска, спросите, по какому тарифу</a:t>
            </a:r>
          </a:p>
          <a:p>
            <a:r>
              <a:t>она посчитана и кто этот тариф выбрал. Между оптом и розницей внутри одного прейскуранта лежат</a:t>
            </a:r>
          </a:p>
          <a:p>
            <a:r>
              <a:t>два порядка, и человек, которому нужен определённый вывод, получит его, просто взяв удобную</a:t>
            </a:r>
          </a:p>
          <a:p>
            <a:r>
              <a:t>строку. Второе: узкая победа в этом деле пришла по товарному знаку, то есть по единственному</a:t>
            </a:r>
          </a:p>
          <a:p>
            <a:r>
              <a:t>каналу, где нарушение видно на выходе — водяной знак воспроизвёлся в кадре. Это прямое следствие</a:t>
            </a:r>
          </a:p>
          <a:p>
            <a:r>
              <a:t>того, что провенанса у кадра не существует: проверка возможна только снаружи, по содержимому</a:t>
            </a:r>
          </a:p>
          <a:p>
            <a:r>
              <a:t>результата, и выиграть удалось ровно там, где такая внешняя проверка сработала. Третье, и самое</a:t>
            </a:r>
          </a:p>
          <a:p>
            <a:r>
              <a:t>практическое: если в вашем проекте есть риск воспроизведения чужой охраняемой работы, единственный</a:t>
            </a:r>
          </a:p>
          <a:p>
            <a:r>
              <a:t>работающий механизм контроля — внешний, то есть обратный поиск по изображению на выпуске, а не</a:t>
            </a:r>
          </a:p>
          <a:p>
            <a:r>
              <a:t>настройка внутри модели.</a:t>
            </a:r>
          </a:p>
          <a:p>
            <a:r>
              <a:t/>
            </a:r>
          </a:p>
          <a:p>
            <a:r>
              <a:t>И последнее — про то, чего в этом счёте нет вовсе. Ни одна из четырёх величин не отвечает на</a:t>
            </a:r>
          </a:p>
          <a:p>
            <a:r>
              <a:t>вопрос, сколько потерял конкретный автор, чьё изображение попало в корпус. Доля в корпусе —</a:t>
            </a:r>
          </a:p>
          <a:p>
            <a:r>
              <a:t>это не доля во вкладе: двенадцать миллионов изображений одного поставщика влияют на веса не</a:t>
            </a:r>
          </a:p>
          <a:p>
            <a:r>
              <a:t>пропорционально своему числу, а в зависимости от того, сколько среди них дубликатов и насколько</a:t>
            </a:r>
          </a:p>
          <a:p>
            <a:r>
              <a:t>они отличаются от остального корпуса. Измеренного способа посчитать вклад одного примера в</a:t>
            </a:r>
          </a:p>
          <a:p>
            <a:r>
              <a:t>обученную модель на сегодня нет, и это не пробел конкретного дела, а свойство предмета. Поэтому</a:t>
            </a:r>
          </a:p>
          <a:p>
            <a:r>
              <a:t>все суммы, которые называются в исках, считаются по тарифам за доступ к произведению, а не за</a:t>
            </a:r>
          </a:p>
          <a:p>
            <a:r>
              <a:t>его вклад, — и об этом стоит помнить, когда очередной обзор переводит такую сумму в «ущерб</a:t>
            </a:r>
          </a:p>
          <a:p>
            <a:r>
              <a:t>авторам».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a:t>
            </a:r>
          </a:p>
          <a:p>
            <a:r>
              <a:t>показывать ответ: модель весит четыре целых двадцать семь сотых гигабайта и обучена на двух</a:t>
            </a:r>
          </a:p>
          <a:p>
            <a:r>
              <a:t>миллиардах трёхстах двадцати миллионах изображений — сколько байт весов приходится на одно</a:t>
            </a:r>
          </a:p>
          <a:p>
            <a:r>
              <a:t>обучающее изображение: килобайт, сто байт или меньше одной буквы? Интуиция почти всегда</a:t>
            </a:r>
          </a:p>
          <a:p>
            <a:r>
              <a:t>завышает, и именно поэтому ответ попадает.</a:t>
            </a:r>
          </a:p>
          <a:p>
            <a:r>
              <a:t/>
            </a:r>
          </a:p>
          <a:p>
            <a:r>
              <a:t>Четыре миллиарда двести шестьдесят пять миллионов сто сорок шесть тысяч триста четыре байта</a:t>
            </a:r>
          </a:p>
          <a:p>
            <a:r>
              <a:t>весов, делённые на два миллиарда триста двадцать миллионов изображений, дают один и</a:t>
            </a:r>
          </a:p>
          <a:p>
            <a:r>
              <a:t>восемьдесят четыре сотых байта на картинку. Один символ кириллицы в распространённой кодировке</a:t>
            </a:r>
          </a:p>
          <a:p>
            <a:r>
              <a:t>занимает ровно два байта. То есть на каждую картинку, которую модель видела при обучении, в ней</a:t>
            </a:r>
          </a:p>
          <a:p>
            <a:r>
              <a:t>приходится меньше места, чем на одну букву этой фразы.</a:t>
            </a:r>
          </a:p>
          <a:p>
            <a:r>
              <a:t/>
            </a:r>
          </a:p>
          <a:p>
            <a:r>
              <a:t>Сама картинка в том же корпусе весит в среднем сорок одну тысячу триста семьдесят девять байт —</a:t>
            </a:r>
          </a:p>
          <a:p>
            <a:r>
              <a:t>это измерено, а не оценено: инструмент скачивания набора отчитался о двухстах сорока терабайтах</a:t>
            </a:r>
          </a:p>
          <a:p>
            <a:r>
              <a:t>на пять миллиардов восемьсот миллионов изображений. Степень сжатия по корпусу получается двадцать</a:t>
            </a:r>
          </a:p>
          <a:p>
            <a:r>
              <a:t>две тысячи пятьсот восемь раз.</a:t>
            </a:r>
          </a:p>
          <a:p>
            <a:r>
              <a:t/>
            </a:r>
          </a:p>
          <a:p>
            <a:r>
              <a:t>Чтобы вывод не держался на одном делении, его стоит пересчитать двумя другими способами. В</a:t>
            </a:r>
          </a:p>
          <a:p>
            <a:r>
              <a:t>полной точности модель весит семь целых семь десятых гигабайта, и это даёт три целых тридцать</a:t>
            </a:r>
          </a:p>
          <a:p>
            <a:r>
              <a:t>две сотых байта на картинку. Против ста шестидесяти миллионов примеров, с которыми сверялись</a:t>
            </a:r>
          </a:p>
          <a:p>
            <a:r>
              <a:t>авторы работы об извлечении, выходит двадцать шесть целых семь десятых байта, то есть треть</a:t>
            </a:r>
          </a:p>
          <a:p>
            <a:r>
              <a:t>строки текста, — при том что файл изображения пятьсот двенадцать на пятьсот двенадцать короче</a:t>
            </a:r>
          </a:p>
          <a:p>
            <a:r>
              <a:t>двадцати тысяч байт не бывает. Даже по самому щедрому к версии «модель хранит картинки» счёту</a:t>
            </a:r>
          </a:p>
          <a:p>
            <a:r>
              <a:t>она в полторы тысячи раз меньше того, на чём училась. И вспомогательное наблюдение, которое</a:t>
            </a:r>
          </a:p>
          <a:p>
            <a:r>
              <a:t>хорошо работает рядом: репозиторий одних только ссылок и подписей, без единой картинки, весит</a:t>
            </a:r>
          </a:p>
          <a:p>
            <a:r>
              <a:t>четыреста шестьдесят семь гигабайт, а в пересчёте на все пары около одного и восемнадцати сотых</a:t>
            </a:r>
          </a:p>
          <a:p>
            <a:r>
              <a:t>терабайта, — то есть список ссылок весит в двести семьдесят пять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триста пятьдесят тысяч самых</a:t>
            </a:r>
          </a:p>
          <a:p>
            <a:r>
              <a:t>дублированных примеров обучающего набора, сгенерировали по пятьсот кандидатов на каждый — сто</a:t>
            </a:r>
          </a:p>
          <a:p>
            <a:r>
              <a:t>семьдесят пять миллионов изображений — и нашли сто девять извлечённых: девяносто четыре по</a:t>
            </a:r>
          </a:p>
          <a:p>
            <a:r>
              <a:t>формальному критерию плюс тринадцать при ручной разметке. В долях это шестьдесят две миллионных</a:t>
            </a:r>
          </a:p>
          <a:p>
            <a:r>
              <a:t>доли процента от сгенерированного и три сотых процента от самых дублированных запросов.</a:t>
            </a:r>
          </a:p>
          <a:p>
            <a:r>
              <a:t/>
            </a:r>
          </a:p>
          <a:p>
            <a:r>
              <a:t>Механизм назван в самой статье, и он здесь главное. Извлечение удаётся чаще всего тогда, когда</a:t>
            </a:r>
          </a:p>
          <a:p>
            <a:r>
              <a:t>изображение было продублировано в корпусе минимум сто раз; при таком уровне дублирования такие</a:t>
            </a:r>
          </a:p>
          <a:p>
            <a:r>
              <a:t>примеры составляют примерно один на миллион обучающих. Карточка модели подтверждает это с</a:t>
            </a:r>
          </a:p>
          <a:p>
            <a:r>
              <a:t>другой стороны: никаких мер по дедупликации набора данных не применялось, и запоминание</a:t>
            </a:r>
          </a:p>
          <a:p>
            <a:r>
              <a:t>изображений, дублированных в обучающих данных, авторы наблюдают сами.</a:t>
            </a:r>
          </a:p>
          <a:p>
            <a:r>
              <a:t/>
            </a:r>
          </a:p>
          <a:p>
            <a:r>
              <a:t>Формулировка, которую стоит унести, состоит из двух половин, и обе обязательны. Модель не</a:t>
            </a:r>
          </a:p>
          <a:p>
            <a:r>
              <a:t>хранит картинки: на одну приходится один и восемьдесят четыре сотых байта, и этого физически не</a:t>
            </a:r>
          </a:p>
          <a:p>
            <a:r>
              <a:t>хватит ни на что. Но картинка, попавшая в обучающий набор сто раз, перестаёт быть одной из двух</a:t>
            </a:r>
          </a:p>
          <a:p>
            <a:r>
              <a:t>миллиардов, и её можно вытащить. Запоминается дубликат, а не корпус. Первая половина без второй</a:t>
            </a:r>
          </a:p>
          <a:p>
            <a:r>
              <a:t>— реклама, вторая без первой — обвинение, и ровно поэтому в публичном споре обе стороны</a:t>
            </a:r>
          </a:p>
          <a:p>
            <a:r>
              <a:t>цитируют по одной половине и обе 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юридический риск имеет численную ручку, и</a:t>
            </a:r>
          </a:p>
          <a:p>
            <a:r>
              <a:t>ручка эта находится не в модели, а в подготовке данных — то есть ровно там же, где сидит</a:t>
            </a:r>
          </a:p>
          <a:p>
            <a:r>
              <a:t>главный рычаг стоимости.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Жанр этого кадра обзорный, и устроен он так, что каждая строка несёт наблюдение и статус, а не</a:t>
            </a:r>
          </a:p>
          <a:p>
            <a:r>
              <a:t>имя дела. Список из имён — это библиография, её место в материалах для чтения; на кадре имя</a:t>
            </a:r>
          </a:p>
          <a:p>
            <a:r>
              <a:t>дела не говорит ничему, кроме того, что оно существует.</a:t>
            </a:r>
          </a:p>
          <a:p>
            <a:r>
              <a:t/>
            </a:r>
          </a:p>
          <a:p>
            <a:r>
              <a:t>Различение статусов обязательно, потому что их смешение превращает незавершённый спор в</a:t>
            </a:r>
          </a:p>
          <a:p>
            <a:r>
              <a:t>свершившийся факт. Восемь строк дают пять разных статусов, и ни один не равен другому.</a:t>
            </a:r>
          </a:p>
          <a:p>
            <a:r>
              <a:t/>
            </a:r>
          </a:p>
          <a:p>
            <a:r>
              <a:t>«Закон принят» и «закон вступил в силу» различаются на четыре месяца в случае Европейского</a:t>
            </a:r>
          </a:p>
          <a:p>
            <a:r>
              <a:t>союза и на семь месяцев в случае России — и всё это время формулировка «действует» будет</a:t>
            </a:r>
          </a:p>
          <a:p>
            <a:r>
              <a:t>неверной. Российский рамочный закон подписан в июле 2026 года и действует с сентября, а нормы</a:t>
            </a:r>
          </a:p>
          <a:p>
            <a:r>
              <a:t>об обучении и о маркировке вступают в силу первого марта 2027-го. Проект, построенный сегодня</a:t>
            </a:r>
          </a:p>
          <a:p>
            <a:r>
              <a:t>на утверждении «маркировка обязательна», построен на том, чего ещё нет, — и на том, чего не</a:t>
            </a:r>
          </a:p>
          <a:p>
            <a:r>
              <a:t>будет в предполагаемом виде, потому что маркировка там оформлена как право автора, а</a:t>
            </a:r>
          </a:p>
          <a:p>
            <a:r>
              <a:t>обязанность площадки сводится к тому, чтобы дать техническую возможность.</a:t>
            </a:r>
          </a:p>
          <a:p>
            <a:r>
              <a:t/>
            </a:r>
          </a:p>
          <a:p>
            <a:r>
              <a:t>Но самое практичное в этой строке — то, кому разрешили учить. Статья десятая вводит статутное</a:t>
            </a:r>
          </a:p>
          <a:p>
            <a:r>
              <a:t>исключение на обучение по модели opt-out: произведение считается доступным, пока</a:t>
            </a:r>
          </a:p>
          <a:p>
            <a:r>
              <a:t>правообладатель сам не заявил отказ, и при правомерном доступе к экземпляру. Норма щедрая и</a:t>
            </a:r>
          </a:p>
          <a:p>
            <a:r>
              <a:t>устроена так же, как европейская. Разница в одном слове: исключение дано **только суверенным и</a:t>
            </a:r>
          </a:p>
          <a:p>
            <a:r>
              <a:t>национальным** большим фундаментальным моделям, для прочих его в законе нет вовсе. Один и тот</a:t>
            </a:r>
          </a:p>
          <a:p>
            <a:r>
              <a:t>же обучающий прогон на одном и том же корпусе оказывается законен или незаконен в зависимости</a:t>
            </a:r>
          </a:p>
          <a:p>
            <a:r>
              <a:t>от того, какой моделью числится та, которую вы учите. Для инженера, планирующего дообучение на</a:t>
            </a:r>
          </a:p>
          <a:p>
            <a:r>
              <a:t>чужих материалах, это первый вопрос о проекте, а не формальность.</a:t>
            </a:r>
          </a:p>
          <a:p>
            <a:r>
              <a:t/>
            </a:r>
          </a:p>
          <a:p>
            <a:r>
              <a:t>И статус у строки свой, которого нет в перечне пяти: норма спорна. С октября 2026 года</a:t>
            </a:r>
          </a:p>
          <a:p>
            <a:r>
              <a:t>обсуждается её правка, причём спорят о том, что ещё не начало действовать. Строить проект на</a:t>
            </a:r>
          </a:p>
          <a:p>
            <a:r>
              <a:t>норме, которую в этот момент переписывают, нельзя ни в сторону «уже можно», ни в сторону «уже</a:t>
            </a:r>
          </a:p>
          <a:p>
            <a:r>
              <a:t>нельзя».</a:t>
            </a:r>
          </a:p>
          <a:p>
            <a:r>
              <a:t/>
            </a:r>
          </a:p>
          <a:p>
            <a:r>
              <a:t>«Мировое соглашение» не создаёт прецедента и не признаёт вины. Полтора миллиарда долларов</a:t>
            </a:r>
          </a:p>
          <a:p>
            <a:r>
              <a:t>заплачены за хранение пиратской библиотеки, а обучение на законно купленных книгах тот же судья</a:t>
            </a:r>
          </a:p>
          <a:p>
            <a:r>
              <a:t>прямо назвал исключительно преобразующим использованием — противоположные по смыслу половины</a:t>
            </a:r>
          </a:p>
          <a:p>
            <a:r>
              <a:t>одного события, и цитируется обычно только первая. Вышло около трёх тысяч долларов на</a:t>
            </a:r>
          </a:p>
          <a:p>
            <a:r>
              <a:t>произведение при примерно пятистах тысячах произведений; окончательное одобрение —</a:t>
            </a:r>
          </a:p>
          <a:p>
            <a:r>
              <a:t>двадцатого июля 2026 года.</a:t>
            </a:r>
          </a:p>
          <a:p>
            <a:r>
              <a:t/>
            </a:r>
          </a:p>
          <a:p>
            <a:r>
              <a:t>«Решение вынесено» и «решение окончательное» различаются наличием апелляции. В британском деле</a:t>
            </a:r>
          </a:p>
          <a:p>
            <a:r>
              <a:t>апелляция разрешена по признанию вопроса новым и важным, решения нет. В американском деле об</a:t>
            </a:r>
          </a:p>
          <a:p>
            <a:r>
              <a:t>авторстве точка поставлена: отказ в пересмотре второго марта 2026 года оставил в силе правило,</a:t>
            </a:r>
          </a:p>
          <a:p>
            <a:r>
              <a:t>по которому у сгенерированного без человеческого вклада авторства нет. Но и здесь не решено,</a:t>
            </a:r>
          </a:p>
          <a:p>
            <a:r>
              <a:t>сколько именно вклада достаточно, — а именно это будет решать судьбу большинства реальных</a:t>
            </a:r>
          </a:p>
          <a:p>
            <a:r>
              <a:t>случаев, потому что чистой машинной генерации без человека в производстве почти не бывает.</a:t>
            </a:r>
          </a:p>
          <a:p>
            <a:r>
              <a:t/>
            </a:r>
          </a:p>
          <a:p>
            <a:r>
              <a:t>Пара российских дел стоит отдельно, потому что учит суждению лучше любого единичного решения.</a:t>
            </a:r>
          </a:p>
          <a:p>
            <a:r>
              <a:t>Одна юрисдикция: дипфейк суд защитил, признав нейросеть дополнительным инструментом обработки и</a:t>
            </a:r>
          </a:p>
          <a:p>
            <a:r>
              <a:t>присудив пятьсот тысяч рублей, и это прошло три инстанции; сгенерированные изображения тот же</a:t>
            </a:r>
          </a:p>
          <a:p>
            <a:r>
              <a:t>правопорядок не защитил, определив ввод запросов техническим трудом, — пока решение первой</a:t>
            </a:r>
          </a:p>
          <a:p>
            <a:r>
              <a:t>инстанции, подана апелляция. Противоречия нет: в первом случае был исходный материал, который</a:t>
            </a:r>
          </a:p>
          <a:p>
            <a:r>
              <a:t>обрабатывали, во втором его не было. Граница проходит по наличию человеческого вклада — ровно</a:t>
            </a:r>
          </a:p>
          <a:p>
            <a:r>
              <a:t>там, где её провёл американский суд, при том что правопорядки разные.</a:t>
            </a:r>
          </a:p>
          <a:p>
            <a:r>
              <a:t/>
            </a:r>
          </a:p>
          <a:p>
            <a:r>
              <a:t>Навык, который отсюда нужен инженеру, один: прежде чем строить проект на правовом утверждении,</a:t>
            </a:r>
          </a:p>
          <a:p>
            <a:r>
              <a:t>спросить, какой у него статус из пяти. Это дешёвая проверка, и она отсеивает большинство</a:t>
            </a:r>
          </a:p>
          <a:p>
            <a:r>
              <a:t>отраслевых заголовков.</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сорок шесть</a:t>
            </a:r>
          </a:p>
          <a:p>
            <a:r>
              <a:t>уникальных плакатов за месяц силами трёх человек при полутора часах дообучения на одной игровой</a:t>
            </a:r>
          </a:p>
          <a:p>
            <a:r>
              <a:t>видеокарте и наборе из сорока картинок. Где границы: пять названы механизмом, а не симптомом, и</a:t>
            </a:r>
          </a:p>
          <a:p>
            <a:r>
              <a:t>ни одна не закроется следующей версией модели. Что идёт дальше по циклу: отбор — тридцать—сто</a:t>
            </a:r>
          </a:p>
          <a:p>
            <a:r>
              <a:t>генераций и полчаса просмотра на одну пригодную, две трети результата брак; права — чем обучена</a:t>
            </a:r>
          </a:p>
          <a:p>
            <a:r>
              <a:t>модель, известно только у открытых; воспроизводимость — решение, найденное подбором,</a:t>
            </a:r>
          </a:p>
          <a:p>
            <a:r>
              <a:t>невоспроизводимо через полгода без манифеста из одиннадцати позиций. И отдельно — риск</a:t>
            </a:r>
          </a:p>
          <a:p>
            <a:r>
              <a:t>приписать модели чужой выигрыш.</a:t>
            </a:r>
          </a:p>
          <a:p>
            <a:r>
              <a:t/>
            </a:r>
          </a:p>
          <a:p>
            <a:r>
              <a:t>И про колонку карты. Две клетки заполнены словами «пусто» и «не тот инструмент», и оба раза это</a:t>
            </a:r>
          </a:p>
          <a:p>
            <a:r>
              <a:t>свойство метода, а не пробел исследования: провенанса нет потому, что вклад обучающего примера</a:t>
            </a:r>
          </a:p>
          <a:p>
            <a:r>
              <a:t>размазан по весам, а технических данных нет потому, что на выходе изображение. Клетка</a:t>
            </a:r>
          </a:p>
          <a:p>
            <a:r>
              <a:t>восстановления помечена как «есть без счёта» — это честное состояние: приём работает и</a:t>
            </a:r>
          </a:p>
          <a:p>
            <a:r>
              <a:t>применяется, а измеренного случая с посчитанными обеими сторонами по этой модальности найти не</a:t>
            </a:r>
          </a:p>
          <a:p>
            <a:r>
              <a:t>удалось. Адрес платежа в этом разделе распределился между отбором и правами; узнавание не</a:t>
            </a:r>
          </a:p>
          <a:p>
            <a:r>
              <a:t>прозвучало ни разу, и это тоже свойство модальности — у неподвижного изображения нет подписи,</a:t>
            </a:r>
          </a:p>
          <a:p>
            <a:r>
              <a:t>которая подтверждалась бы сама собой. Оно появится там, где такая подпись есть.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более того, для инженерной аудитории она полезнее, потому что</a:t>
            </a:r>
          </a:p>
          <a:p>
            <a:r>
              <a:t>отвечает на 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У этого раздела адрес двойной: отбор — все три подробных</a:t>
            </a:r>
          </a:p>
          <a:p>
            <a:r>
              <a:t>разбора, и права — правовой разбор и три упоминания. Узнавание в разделе не звучит ни разу, и</a:t>
            </a:r>
          </a:p>
          <a:p>
            <a:r>
              <a:t>это свойство модальности: у неподвижного изображения нет подписи, которая подтверждалась бы</a:t>
            </a:r>
          </a:p>
          <a:p>
            <a:r>
              <a:t>сама собой. В разделе про голос 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самая дешёвая демонстрация всей лекции и самая убедительная.</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генерацией оно не является по постановке задачи,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на уровне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Пение профессиональным клонированием не поддерживается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здесь главный параметр всей стадии: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сделала возможной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которое принимается на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самая важная часть описания стадии, потому что без неё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с ней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 применялся как точечное исправление отдельной фальшивой ноты.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потраченные человеком, которому их отпущено немного. Мерить это в долларах нельзя, и на кадре это говорится вслух.</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Он существует, он дёшев, он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подаваться должен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в рамках программы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Вот где выигрыш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принятия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и это редкий случай в разделе, где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что происходит с моделью голоса при смене версии базовой модели поставщика, не описано нигде.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это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которая у нас есть, измеряет аудиторию: до 25 процентов зрителей тестовых каналов, получивших автоматический дубляж, выбирают неанглийскую дорожку. Это доля аудитории, и подаётся она именно так; упущенной выручки за ней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за использование копии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измерением он не является.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отдельная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числа их сравнивать между собой нельзя — это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с соглашением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Второго режима в задаче не существует, и причина у этого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 существует.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числом не является,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оно отмечается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это первая новая запись за одиннадцать лет, и она дебютировала на 45-м месте эфирного кантри-чарта —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Это первый громкий случай, где права на голос оформлены прижизненно и явно, и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подаваться оно должно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Объявления о движении доступны глухим пассажирам прямо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и вопрос «использовался ли ИИ» заменяется этим.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независимо от того, сколько ускорителей под неё подложить.</a:t>
            </a:r>
          </a:p>
          <a:p>
            <a:r>
              <a:t/>
            </a:r>
          </a:p>
          <a:p>
            <a:r>
              <a:t>Слово «остаточное» означает буквально следующее.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точная в постановке и расходящаяся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это было показано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дают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 поставщик считает этот параметр достойным названия, и это само по себе показательно. DiffRhythm 2 ушла на 5 герц. Stable Audio 2 работает на 21,5 герца и сопровождает это прямым объяснением: в отличие от прежних работ, работающих с частотами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стоит сказать,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остаётся единственным, что компания сказала об устройстве.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тем самым подменом базы, который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просто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И качество результата при этом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при взятии обучающего фрагмента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и во что оно обходится практике, разбирается в этом же разделе отдельным кадром.</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не риторическая, она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Самое убедительное доказательство — существование оракула.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таким образом, проходит по постановке задачи; технология по обе её стороны может оказаться одной и той же, и инженеру надо уметь определять, по какую сторону находится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не является восстановлением записанного.</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прямо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очень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тембром не покрывается, и именно её у исполнителя покупают дорого.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является ошибкой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является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конкретную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при взятии обучающего фрагмента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который слышно и который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Это жёсткий потолок: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таким образом, есть результат того же самого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просто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является его биометрией,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разбирается следующим кадром.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с ответственностью в десять тысяч долларов или реальные убытки.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для работы,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ключевая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на претензию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эту историю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 это не забота о гибкости, это перенос всего будущего риска на того, кто подписывает. Добросовестная практика состоит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просто считают они разные вещи.</a:t>
            </a:r>
          </a:p>
          <a:p>
            <a:r>
              <a:t/>
            </a:r>
          </a:p>
          <a:p>
            <a:r>
              <a:t>Сравнивать со стоковой лицензией в 20–100 долларов надо именно сорок центов, и тогда разрыв составляет от пятидесяти до двухсот пятидесяти раз вместо тысяч. Это по-прежнему огромная величина; она просто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трёх до семи центов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генерацией не является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случай,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это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какой план попадёт в монтаж,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одиночная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стадий стоит держать целиком, и причина у этого одна: все восемь способов получить изображение сосуществуют, и ни один из семи прежних не отменён восьмым.</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именно эта операция и стала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восьмой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восьми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это съёмочная группа от пятидесяти человек и производственный цикл год. Российская полоса того же ремесла опубликована отраслевыми прайс-обзорами: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Разница с 2022–2026 годами состоит не в том, что картинка синтетическая — она была синтетической и здесь, — а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Все пять классических режимов имеют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стоит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Это важная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Цена обеих ошибок названа экономической механикой отрасли, и названа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прослеживается поквартально, и ряд этот стоит привести целиком, потому что растёт в нём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названа модель Seedance 2.0, выпущенная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Переехало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Скорость этого перехода стоит сопоставить с базой.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же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формулируется одной фразой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Самая чистая иллюстрация оси всей лекции, и числа в ней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классическое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И нечестность этого сравнения называется на том же месте.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Корректная формулировка звучит так: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потому что это существенная деталь для инженерной аудитории.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Стоит представить себе эти два-три дня конкретно, потому что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классическая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главное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Отдельно стоит развести два года, потому что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потому что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весь кадр стоит.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самое важное для инженера.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просто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Это самый бесспорный случай раздела, и ценен он именно наличием базы. Названы обе стороны: полдня и минуты. Кратность из них считается, и она огромная, но считается она от измеренного режима, а не от воздуха. Вторая важная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самое ценное — оговорка супервайзера эффектов, и её нельзя терять: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очень дёшево на фоне сорока тысяч классического бюджета, и это очень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они читаются как то, чем являются, — как перемещение дорогого места внутри цепочки.</a:t>
            </a:r>
          </a:p>
          <a:p>
            <a:r>
              <a:t/>
            </a:r>
          </a:p>
          <a:p>
            <a:r>
              <a:t>Стоит обратить внимание и на то, как в первом случае устроена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Заявлено сооснователем компании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стоит он на кадре именно в этом качестве — как пример утверждения,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измерением она не является,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является демонстрацией: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просто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есть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он стоит произнесения вслух.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Самое наглядное объяснение того, почему разработчики платят за полное трёхмерное внимание, дала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он не является.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Важно, что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и её стоит проговорить вслух: один и тот же принцип — «не подглядывать вперёд» — в двух разных по устройству слоях.</a:t>
            </a:r>
          </a:p>
          <a:p>
            <a:r>
              <a:t/>
            </a:r>
          </a:p>
          <a:p>
            <a:r>
              <a:t>Побочное следствие, полезное как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это делает возможными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который стоит унести: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о которой стоит помнить при монтаже.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потому что умение воспроизвести этот счёт полезнее, чем умение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самый трудноустранимый: даже если бы вычисления были бесплатны, учиться длинной сцене было бы не на чем.</a:t>
            </a:r>
          </a:p>
          <a:p>
            <a:r>
              <a:t/>
            </a:r>
          </a:p>
          <a:p>
            <a:r>
              <a:t>Размен сформулирован разработчиками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вывод технического блока,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заголовок статьи буквально гласит: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является оценкой.</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покупается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это само по себе сведение: вам показали множитель, который легче объяснить, и спрятали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 результат работы четырёх механизмов,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их тратить бессмысленно.</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самого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просто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самое важное наблюдение, которое снимает романтику с понятия «модель мира»: объектное постоянство в интерактивном режиме — это размер окна; свойством мира оно не является.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в октябре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 и поэтому кадр стоит дольше остальных.</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лучшее, что есть в этой работе.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стоит отдельного внимания: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почему это самое важное утверждение раздела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стоит того, чтобы его знать.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организационной мелочью он не является.</a:t>
            </a:r>
          </a:p>
          <a:p>
            <a:r>
              <a:t/>
            </a:r>
          </a:p>
          <a:p>
            <a:r>
              <a:t>Парный рабочий ответ, без которого раздел был бы обвинением. Обе модели мигрировали, и простым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выводится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Это важная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шестидесятишестисекундный ролик.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главный рычаг на коэффициент отбора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это главное, что карта показывает: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просто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сказать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Он собран устройство-тяжёлым сознательно: у трёхмерного отличное, измеренное, рецензируемое устройство и очень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отсутствует значительная часть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главный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Эту деталь стоит отметить отдельно, потому что она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ассета состоит из девяти стадий, и назвать их по именам важно по одной причине: граница применимости генератора пройдёт ровно по этому списку: три стадии он закрывает, четыре оставляет людям нетронутыми. Самая дешёвая из девяти — блокинг, грубая форма из коробок и цилиндров, на которой проверяют силуэт и пропорции; она существует для того, чтобы выбросить неудачный замысел до того, как в него вложится детализация. Стоимость отказа на блокинге измеряется часами, на стадии анимации — неделями.</a:t>
            </a:r>
          </a:p>
          <a:p>
            <a:r>
              <a:t/>
            </a:r>
          </a:p>
          <a:p>
            <a:r>
              <a:t>Перечислить девять стадий по именам стоит целиком, потому что граница применимости генератора пройдёт ровно по этому списку, и без имён её негде будет провести. Первый участок — поиск облика. Концепт: изображение или набросок, по которому принимается решение «делаем или не делаем». Блокинг: грубая форма из коробок, цилиндров и сфер, на которой проверяют силуэт и пропорции. Скульптинг: доведение формы до миллионов треугольников, когда появляются складки, поры и мелкий рельеф.</a:t>
            </a:r>
          </a:p>
          <a:p>
            <a:r>
              <a:t/>
            </a:r>
          </a:p>
          <a:p>
            <a:r>
              <a:t>Второй участок — подготовка к производству, и он самый дорогой. Ретопология: поверх вылепленной формы строится заново чистая сетка — та, по которой потом можно будет анимировать, с петлями рёбер вокруг суставов, рта и века. Развёртка: поверхность разрезается по спланированным швам и раскладывается в плоскость, чтобы на неё можно было нанести рисунок без искажений и без видимых стыков. Текстурирование: по этой развёртке рисуются карты цвета, шероховатости, отражения и микрорельефа. Риггинг: внутрь ставится скелет, вершины привязываются к костям с весами, сверху собираются управляющие элементы, которыми объект потом двигают.</a:t>
            </a:r>
          </a:p>
          <a:p>
            <a:r>
              <a:t/>
            </a:r>
          </a:p>
          <a:p>
            <a:r>
              <a:t>Третий участок — использование. Анимация и расчёт ткани: форма деформируется по костям, ткань и волосы считаются физикой. Рендер и сборка: из сцены получается изображение, которое пойдёт в монтаж.</a:t>
            </a:r>
          </a:p>
          <a:p>
            <a:r>
              <a:t/>
            </a:r>
          </a:p>
          <a:p>
            <a:r>
              <a:t>Девять стадий, собранные в три участка, — это и есть «как это делали без модели», и делали так тридцать лет. Внутри каждого участка стоимость отказа разная, и разница эта не косметическая: выбросить неудачный замысел на блокинге стоит часов, на стадии анимации — недель. Весь порядок конвейера построен ровно на этой арифметике: сначала дешёвые решения о форме, потом дорогие вложения в неё. Когда дальше в разделе речь пойдёт о том, что генератор «выдаёт ассет за восемь секунд», держите этот список перед глазами и спрашивайте, какие именно из девяти стадий он закрывает. Ответ окажется неожиданно скромным, и он виден прямо из устройства метода, а не из чьих-то оценок.</a:t>
            </a:r>
          </a:p>
          <a:p>
            <a:r>
              <a:t/>
            </a:r>
          </a:p>
          <a:p>
            <a:r>
              <a:t>Из этого же списка видно, почему автоматический скелет, которым хвалятся генераторы с 2026 года, не закрывает риггинг. Скелет ставится поверх той сетки, которая есть; если сетка построена не по анатомии, кости окажутся в ней там, где удобно алгоритму, а не там, где у объекта сгибается сустав. Деформация при этом будет считаться честно — и честно давать смятую поверхность на каждом сгибе.</a:t>
            </a:r>
          </a:p>
          <a:p>
            <a:r>
              <a:t/>
            </a:r>
          </a:p>
          <a:p>
            <a:r>
              <a:t>И последнее, что стоит унести с этого кадра. Конвейер из девяти стадий — не бюрократия и не наследие: это порядок, в котором дешёвые решения принимаются раньше дорогих. Любая технология, которая обещает «пропустить середину», обязана ответить, кто теперь принимает те решения, которые принимались на пропущенных стадиях, и за чей счёт исправляются ошибки, которые на них ловились. Это вопрос, который стоит задавать не только про трёхмерную графику.</a:t>
            </a:r>
          </a:p>
          <a:p>
            <a:r>
              <a:t/>
            </a:r>
          </a:p>
          <a:p>
            <a:r>
              <a:t>Стоит назвать и единицу, в которой этот конвейер меряют в производстве. Она человеко-центричная: не «миллионы треугольников», а человеко-дни на ассет и число кругов правок до приёмки. В этой единице три стадии второго участка — ретопология, развёртка и риггинг — и оказываются самыми дорогими: они требуют не вкуса, а знания анатомии, знания того, как объект будет двигаться, и дисциплины. Именно поэтому их отдают отдельным специалистам, а не художнику, который вылепил форму.</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исходные данные в производстве пять, и перечислять их стоит полностью, потому что дальше придётся сказать, какие из них модель затронула. Фотограмметрия: объект обходят с камерой и снимают сотнями кадров с перекрытием, после чего процедура калибровки по движению камеры восстанавливает, откуда каждый кадр сделан, и попутно выдаёт разреженное облако точек — несколько десятков тысяч точек, уверенно опознанных на нескольких снимках сразу. Это облако стоит запомнить: через несколько кадров оно окажется стартовой точкой самого быстрого метода восстановления, который отрасль знает. Дальше лазерное сканирование, ручное моделирование, захват движения и покупка готового ассета из каталога.</a:t>
            </a:r>
          </a:p>
          <a:p>
            <a:r>
              <a:t/>
            </a:r>
          </a:p>
          <a:p>
            <a:r>
              <a:t>Остальные четыре способа стоит назвать так же подробно. Лазерное сканирование: прибор измеряет расстояние до поверхности и строит облако точек напрямую — точнее фотограмметрии по геометрии и беднее по цвету. Ручное моделирование в редакторе: единственный способ получить объект, которого в природе не существует, и до 2022 года единственный способ вообще. Захват движения: даёт не форму, а изменение формы во времени — то, как объект двигается. Покупка готового ассета из каталога: самый дешёвый путь и самый узкий, потому что берёте вы то, что кто-то уже сделал, а не то, что вам нужно.</a:t>
            </a:r>
          </a:p>
          <a:p>
            <a:r>
              <a:t/>
            </a:r>
          </a:p>
          <a:p>
            <a:r>
              <a:t>Теперь главное, ради чего список приведён полностью. Обученная модель добавила к этим пяти шестой вход — текстовое описание. Это новый способ, которого раньше не было вовсе: раньше, чтобы получить объект, нужно было либо снять существующий, либо вылепить несуществующий руками. Кроме того, модель заметно удешевила первый способ: набор снимков превращается в пригодную сцену за минуты вместо суток, и дальше в разделе это будет показано числами. Остальные четыре способа она оставила ровно такими, какими они были.</a:t>
            </a:r>
          </a:p>
          <a:p>
            <a:r>
              <a:t/>
            </a:r>
          </a:p>
          <a:p>
            <a:r>
              <a:t>Отдельно стоит задержаться на лазерном сканере, и задержаться не ради полноты списка. Сканер как мерил размеры, так и мерит: его выход — это координаты в метрах, с погрешностью, которую можно назвать. Ни один из входов, появившихся вместе с обученной моделью, размеров не даёт и дать не может, и через несколько кадров раздел покажет, почему это ограничение не закрывается следующей версией модели, а следует из устройства метода. Запомните эту асимметрию: приборные способы получения данных измеряют, порождающие — правдоподобно выглядят. Для инженера это ровно та развилка, по которой выбирают инструмент: если результат пойдёт в чертёж, на станок или в расчёт, вам нужен способ, который меряет, а не способ, который угадывает.</a:t>
            </a:r>
          </a:p>
          <a:p>
            <a:r>
              <a:t/>
            </a:r>
          </a:p>
          <a:p>
            <a:r>
              <a:t>Полезно заметить и то, чего в этом списке нет ни у одного из шести входов. Ни фотограмметрия, ни сканирование, ни захват движения, ни каталог, ни ручное моделирование, ни текстовое описание не дают ответа на вопрос «кто автор исходных данных и на каких условиях их можно использовать». У первых четырёх ответ известен из обстоятельств съёмки или из договора на каталог; у шестого его нет нигде, потому что форма получена снятием шума, а не взята из какого-то одного обучающего примера. Эта строка — «ответить кто отвечает» — останется пустой в накопительной карте вечера и у трёхмерного, и у всех остальных порождающих модальностей.</a:t>
            </a:r>
          </a:p>
          <a:p>
            <a:r>
              <a:t/>
            </a:r>
          </a:p>
          <a:p>
            <a:r>
              <a:t>Для практики из всего этого следует простая проверка, которую можно сделать до того, как выбирать инструмент. Выпишите, что у вас на входе: снимки существующего объекта, прибор, который его меряет, запись движения, каталог или одно только описание словами. Вход определяет задачу, задача определяет, есть ли у результата проверяемый ответ, а наличие проверяемого ответа определяет, можно ли вообще оценивать работу числом. Там, где на входе снимки, у вас есть отложенный кадр и мера совпадения. Там, где на входе только слова, меры не существует — и всякий, кто называет вам в этом случае процент качества, считает его от чего-то, чего он вам не показал.</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потому, что он про то же самое свойство: про то, что считается снятым. Вторая: у него отсутствует значительная часть того, чего требует форма подробного разбора, и каждый пробел назван на своём месте, а не замазан.</a:t>
            </a:r>
          </a:p>
          <a:p>
            <a:r>
              <a:t/>
            </a:r>
          </a:p>
          <a:p>
            <a:r>
              <a:t>Цена обеих ошибок названа быть не может.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появляется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 где техника соседняя, а этика противоположная.</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Повторю формулировку, потому что она — главный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Отдельно стоит отметить, где именно в этом разборе дыра самая болезненная. Не в деньгах — деньги здесь, может быть, и правда коммерческая тайна. Дыра в том, что не описано, кто и по какому порогу принимал покадровое решение «достраивать или нет». Это ведь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именно такое место: не где названа технология, а где названо решение и тот, кто его принял. Там, где решение есть, а принявшего нет, у вас не разбор, а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не измерение, а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требуется та самая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требования к топологии и есть главная переменная задачи.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Наблюдается постоянство объектов: покрашенная стена остаётся покрашенной после того, как пользователь ушёл и вернулся, — свойство, отсутствие которого в разделе про видео было названо главным ограничением модальности.</a:t>
            </a:r>
          </a:p>
          <a:p>
            <a:r>
              <a:t/>
            </a:r>
          </a:p>
          <a:p>
            <a:r>
              <a:t>Почему это заслуживает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тем, что покрашенная стена остаётся покрашенной после того, как камера ушла и вернулась: связность среды держится несколько минут против десяти-двадцати секунд у предшественников того же класса. Случаев промышленного применения с посчитанным исходом у направления нет ни одного, и сведений о стоимости вывода тоже.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главный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Самая важная колонка в таблице — качество, и терять её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Регуляризации в методе нет вовсе — ничто не мешает ему описывать сцену средствами, физически бессмысленными, лишь бы совпали исходные снимки.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Никакой трёхмерной разметки не требуется вообще.</a:t>
            </a:r>
          </a:p>
          <a:p>
            <a:r>
              <a:t/>
            </a:r>
          </a:p>
          <a:p>
            <a:r>
              <a:t>Работа 2023 года сменила представление ещё раз, и этот размен учебный.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Дальше чередуются оптимизация параметров и управление плотностью: кляксы клонируются там, где деталей не хватает, разделяются там, где одна пытается описать слишком много, и удаляются там, где ничего не дают.</a:t>
            </a:r>
          </a:p>
          <a:p>
            <a:r>
              <a:t/>
            </a:r>
          </a:p>
          <a:p>
            <a:r>
              <a:t>Почему получилось реальное время.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Сравнение двух устройств полезно свести в одну строку, потому что именно из устройства, а не из размера модели, берутся все четыре измеренные величины. Поле излучения хранит сцену как функцию: спрашиваешь точку и направление — получаешь плотность и цвет. Чтобы получить пиксель, надо опросить эту функцию десятки раз вдоль луча, а лучей столько, сколько пикселей. Отсюда сто пятьдесят-двести миллионов запросов сети на один кадр и тридцать секунд на кадр. Гауссово спрыскивание хранит сцену как список объектов: у каждой кляксы есть положение, форма, ориентация, непрозрачность и цвет, зависящий от направления взгляда. Чтобы получить кадр, надо спроецировать каждую кляксу на экран и смешать их в правильном порядке — ровно та операция, под которую видеокарты проектировались тридцать лет.</a:t>
            </a:r>
          </a:p>
          <a:p>
            <a:r>
              <a:t/>
            </a:r>
          </a:p>
          <a:p>
            <a:r>
              <a:t>Поэтому разница тут по природе операции, а не по объёму вычислений, и поэтому же она такая большая. Две тысячи двести раз по скорости показа — это не ускорение одного и того же счёта, это замена счёта другим счётом.</a:t>
            </a:r>
          </a:p>
          <a:p>
            <a:r>
              <a:t/>
            </a:r>
          </a:p>
          <a:p>
            <a:r>
              <a:t>Одно обстоятельство в устройстве второго метода стоит отметить особо, потому что оно часто теряется в пересказах. Спрыскивание начинает не с пустоты, а с того самого разреженного облака точек, которое и так остаётся после калибровки камер по движению. То есть бесплатный побочный продукт классической фотограмметрии оказался хорошей стартовой точкой для обученного метода. Дальше чередуются оптимизация параметров клякс и управление их плотностью: кляксы клонируются там, где деталей не хватает, разделяются там, где одна пытается описать слишком много, и удаляются там, где ничего не дают. Типичная сцена после тридцати тысяч шагов — от двухсот до пятисот тысяч гауссиан.</a:t>
            </a:r>
          </a:p>
          <a:p>
            <a:r>
              <a:t/>
            </a:r>
          </a:p>
          <a:p>
            <a:r>
              <a:t>И честный список дефектов изображения, названный авторами: вытянутые пятнистые кляксы в плохо просмотренных областях сцены, внезапные переключения порядка смешивания при движении камеры и полное отсутствие регуляризации. Последнее стоит повторить, потому что оно определяет границу применимости: метод не обязан описывать сцену физически осмысленно, он обязан воспроизвести снимки. Там, где от восстановленной сцены потребуется что-то, кроме внешнего вида с просмотренных ракурсов, это ограничение проявится сразу.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Обычные предположения, которые называют в ответ на этот вопрос, стоит перебрать по очереди, потому что каждое проверяется той же таблицей.</a:t>
            </a:r>
          </a:p>
          <a:p>
            <a:r>
              <a:t/>
            </a:r>
          </a:p>
          <a:p>
            <a:r>
              <a:t>Качеством изображения — нет. Пиковое отношение сигнала к шуму у гауссова спрыскивания 27,21 против 27,69 у поля излучения; разница меньше полудецибела, глазом не различается. На интерьерном наборе данных счёт и вовсе паритетный: 29,41 против 29,40. Качество не было разменной монетой ни в какой мере.</a:t>
            </a:r>
          </a:p>
          <a:p>
            <a:r>
              <a:t/>
            </a:r>
          </a:p>
          <a:p>
            <a:r>
              <a:t>Временем обучения — тоже нет, и это самое контринтуитивное в таблице: обучение не просто не выросло, оно упало вместе с остальным, с сорока восьми часов до сорока одной минуты. Обычно ускорение показа покупают более долгой подготовкой; здесь подготовка подешевела одновременно с показом.</a:t>
            </a:r>
          </a:p>
          <a:p>
            <a:r>
              <a:t/>
            </a:r>
          </a:p>
          <a:p>
            <a:r>
              <a:t>Универсальностью метода — частично верно, но не измерено, и поэтому в счёт не берётся. Авторы называют дефекты: вытянутые пятнистые кляксы в плохо просмотренных областях, внезапные переключения порядка смешивания при движении камеры, полное отсутствие регуляризации — ничто в методе не мешает ему описывать сцену средствами, физически бессмысленными, лишь бы совпали снимки. Всё это настоящие ограничения, но числа у них нет, и подставлять на их место оценку нельзя.</a:t>
            </a:r>
          </a:p>
          <a:p>
            <a:r>
              <a:t/>
            </a:r>
          </a:p>
          <a:p>
            <a:r>
              <a:t>Заплачено размером. Восемь целых шесть десятых мегабайта превратились в семьсот тридцать четыре — рост примерно в восемьдесят пять раз. И это не единственная форма, в которой размер предъявляет счёт: при обучении больших сцен пиковое потребление видеопамяти, по словам самих авторов, может превышать двадцать гигабайт, а показ обученной сцены требует нескольких сотен мегабайт на саму модель плюс от тридцати до пятисот мегабайт на растеризатор. Рядом с пятью мегабайтами поля излучения это обратная сторона того самого трёхтысячекратного сжатия: его разменяли обратно и получили за это три порядка по частоте кадров.</a:t>
            </a:r>
          </a:p>
          <a:p>
            <a:r>
              <a:t/>
            </a:r>
          </a:p>
          <a:p>
            <a:r>
              <a:t>Второй слой ответа — тот, ради которого этот кадр вообще стоит в лекции, и он не про графику. Вопрос «что за это заплачено» имеет ответ всегда. Любое инженерное решение, которое улучшает одну величину, ухудшает какую-то другую: время против памяти, точность против скорости, общность против качества на частном случае. Когда в описании технологии названа только выигравшая величина, это означает ровно одно — проигравшую не показали, и найти её придётся самому.</a:t>
            </a:r>
          </a:p>
          <a:p>
            <a:r>
              <a:t/>
            </a:r>
          </a:p>
          <a:p>
            <a:r>
              <a:t>Разница между двумя жанрами текста здесь видна наглядно. В рецензируемой работе четвёртая колонка стояла в той же таблице, что и первые три: авторы сами напечатали, что память выросла почти на два порядка, и сами перечислили дефекты своего метода. В сообщении для прессы этой колонки не было бы — там остались бы «в две тысячи раз быстрее» и «реальное время на потребительской карте». Оба утверждения были бы правдой. Картина, которую они складывают, была бы неполной ровно на цену.</a:t>
            </a:r>
          </a:p>
          <a:p>
            <a:r>
              <a:t/>
            </a:r>
          </a:p>
          <a:p>
            <a:r>
              <a:t>Стоит заметить и то, кто именно платит по этому счёту в практической работе. Семьсот тридцать четыре мегабайта на сцену — величина, безразличная исследователю и решающая для того, кто эту сцену доставляет пользователю: по сети, в мобильное приложение, в музейный киоск, на устройство с ограниченной памятью. Метод, который на рабочей станции показывает сто тридцать четыре кадра в секунду, в этих условиях может вовсе не запуститься, и выбирать между двумя представлениями придётся по тому требованию, которое в статье не измерялось. Это и есть обычная судьба четвёртой колонки: она не важна там, где метод разрабатывали, и становится главной там, где его применяют.</a:t>
            </a:r>
          </a:p>
          <a:p>
            <a:r>
              <a:t/>
            </a:r>
          </a:p>
          <a:p>
            <a:r>
              <a:t>Отсюда рабочая привычка, которую стоит унести из раздела: читая про любую новую технику, искать четвёртую колонку. Если её нет в тексте — искать в статье, на которую текст ссылается; если статьи нет — считать, что величина существует и просто не названа. Это не недоверие к авторам, это чтение по жанру: статья обязана называть ограничения, сообщение для прессы не обязано.</a:t>
            </a:r>
          </a:p>
          <a:p>
            <a:r>
              <a:t/>
            </a:r>
          </a:p>
          <a:p>
            <a:r>
              <a:t>И вторая половина ответа, которую легко потерять. Заплачено не качеством: разница меньше полудецибела, на интерьерном наборе счёт поровну. Заплачено и не временем обучения: оно тоже упало — с 48 часов до 41 минуты 33 секунд на ту же сцену и том же ускорителе. Три величины из четырёх улучшились, и ровно поэтому четвёртую — размер сцены, выросший примерно в 85 раз, — так легко не заметить, если её не искать специально.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вот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это первоклассное, потому что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отвечается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подход устроен изящно, и изящность стоит понять, прежде чем считать его медленным. Предобученная плоская диффузионная модель не меняется вообще — ни одного шага дообучения. Вместо этого берут случайно заданное трёхмерное поле излучения и оптимизируют его так, чтобы изображения этого поля со случайных ракурсов получали высокую оценку у плоской модели. То есть модель, которая умеет только плоские картинки, используется как судья трёхмерной формы: если со всех сторон выглядит как то, что просили, значит форма получилась. Трёхмерных обучающих данных для этого не нужно совсем, и в 2022 году это было главным достоинством подхода — трёхмерных корпусов нужного масштаба попросту не существовало.</a:t>
            </a:r>
          </a:p>
          <a:p>
            <a:r>
              <a:t/>
            </a:r>
          </a:p>
          <a:p>
            <a:r>
              <a:t>Цена изящности видна в одной фразе авторов: время поровну делится между рендером поля и прогоном диффузионной модели. Полный проход сети делается на каждом из пятнадцати тысяч шагов. Отсюда полтора часа на один объект на четырёхчиповой машине, причём при рендере в шестьдесят четыре пикселя по стороне — то есть даже эти полтора часа потрачены на крошечную картинку.</a:t>
            </a:r>
          </a:p>
          <a:p>
            <a:r>
              <a:t/>
            </a:r>
          </a:p>
          <a:p>
            <a:r>
              <a:t>Второй подход меняет место, где тратится вычисление; железо при этом остаётся тем же. Внутреннее представление устроено как разреженная трёхмерная сетка плюс плотные признаки, собранные с нескольких видов; из одного такого представления декодируются три разных формата — поле излучения, кляксы и сетка многоугольников. Генератор — трансформер на спрямлённом потоке, та же архитектура, которую раздел про плоские изображения разбирал подробно. Старшая модель линии — два миллиарда параметров, обучена на шестидесяти четырёх ускорителях за четыреста тысяч шагов на корпусе в пятьсот тысяч объектов. Заявленная скорость выдачи — около десяти секунд. Соседняя линия того же семейства даёт честную раскладку по стадиям: около четырёх секунд на многовидовое изображение и около семи на восстановление геометрии, итого около одиннадцати.</a:t>
            </a:r>
          </a:p>
          <a:p>
            <a:r>
              <a:t/>
            </a:r>
          </a:p>
          <a:p>
            <a:r>
              <a:t>Поставьте два устройства рядом и посмотрите, что в них общего и чем они различаются. Общее: оба получают объект, которого в природе нет, и ни у одного из них нет отложенного снимка, с которым результат можно сверить. Значит, у обоих нет меры правильности — есть только пригодность, и судит её человек.</a:t>
            </a:r>
          </a:p>
          <a:p>
            <a:r>
              <a:t/>
            </a:r>
          </a:p>
          <a:p>
            <a:r>
              <a:t>Различие — в том, где лежит знание о трёхмерном. У первого способа его нет нигде: плоская модель знает только, как выглядят картинки, и трёхмерность возникает из требования «нравиться этой модели со всех случайных ракурсов сразу». Это изящно и это же источник его известных дефектов: объект, который со всех сторон похож на лицо, может оказаться лицом с обеих сторон головы, потому что плоскому судье такой ракурс нравится ничуть не меньше. У второго способа знание о трёхмерном лежит в корпусе: полмиллиона объектов, на которых генератор видел, как устроены настоящие формы.</a:t>
            </a:r>
          </a:p>
          <a:p>
            <a:r>
              <a:t/>
            </a:r>
          </a:p>
          <a:p>
            <a:r>
              <a:t>Отсюда и практическая развилка, которая переживёт обе конкретные работы. Метод без трёхмерных данных применим там, где таких данных нет вовсе, — и платит временем и дефектами геометрии. Метод с корпусом быстр и устойчив внутри того, что в корпусе было, и выдаёт правдоподобную чепуху за пределами. Вопрос «на чём обучено» здесь не формальность для юриста: это прямое описание границы, за которой инструмент перестаёт работать, и задавать его надо до внедрения, а не после.</a:t>
            </a:r>
          </a:p>
          <a:p>
            <a:r>
              <a:t/>
            </a:r>
          </a:p>
          <a:p>
            <a:r>
              <a:t>Напоследок — одна деталь, которая показывает, насколько эти два устройства разные по требованиям к инфраструктуре. Первому нужна одна машина и полтора часа на каждый объект, и больше ничего: ни корпуса, ни обучения, ни хранения весов. Второму нужны шестьдесят четыре ускорителя, четыреста тысяч шагов обучения и полмиллиона размеченных объектов — один раз, после чего каждый следующий объект стоит десять секунд. Это две разные экономики, и выбор между ними зависит не от того, какая технология новее, а от того, сколько объектов вам нужно.</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 главные числа здесь,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Для инженера из этого следует рабочее правило, и оно шире графики. Когда обсуждается применение модели в продукте, обсуждается почти всегда бюджет. Вопрос «может ли модель это сделать» сегодня чаще всего имеет ответ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Чего у него нет, надо сказать так же отчётливо: ни одного случая промышленного применения с посчитанным исходом, ни сведений о стоимости вывода, ни сопоставления с классическим режимом — построением интерактивной среды в движке — ни по срокам, ни по деньгам.</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Стоит разобрать, как именно этот бюджет выдерживают, потому что работа тут инженерная, а не вычислительная. 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 и самовнимание стало оценивать относительную важность каждого пикселя по всему кадру и по нескольким кадрам сразу, тогда как свёрточная модель, по формулировке разработчика, анализирует локальный контекст.</a:t>
            </a:r>
          </a:p>
          <a:p>
            <a:r>
              <a:t/>
            </a:r>
          </a:p>
          <a:p>
            <a:r>
              <a:t>Обязательная вторая половина — чего это не делает.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Трудные места производитель называет сам: интерфейс, у которого нет векторов движения; блики и отражения, для которых векторы движения неверны по построению; частицы, лучи и полупрозрачность, для которых неверен буфер глубины. Их формулировка точна: такие эффекты склонны доминировать в восприятии пользователя, хотя их доля в пикселях относительно мала. Отдельно назван шлейф за движущимися объектами — дефект свёрточной модели, ради устранения которого и ставили трансформер.</a:t>
            </a:r>
          </a:p>
          <a:p>
            <a:r>
              <a:t/>
            </a:r>
          </a:p>
          <a:p>
            <a:r>
              <a:t>Стоит сказать, почему список «чего не умеет» здесь не оговорка, а половина содержания. Каждый из названных случаев следует из устройства метода, а не из недоработки версии. Интерфейс не имеет векторов движения — их просто неоткуда взять, потому что интерфейс не часть трёхмерной сцены. Для бликов и отражений векторы движения неверны по построению: отражение движется не так, как движется отражающая поверхность. Для частиц, лучей и полупрозрачности неверен буфер глубины — у полупрозрачного пикселя нет одной глубины. Разработчик сам отмечает, что такие эффекты «склонны доминировать в восприятии, хотя их доля в пикселях мала»: глаз цепляется именно за них, и артефакт там заметнее, чем на любой стене.</a:t>
            </a:r>
          </a:p>
          <a:p>
            <a:r>
              <a:t/>
            </a:r>
          </a:p>
          <a:p>
            <a:r>
              <a:t>Отдельно про задержку ввода, потому что это самая частая подмена в разговоре о достройке кадров. Достройка показывает игроку больше кадров, но не ускоряет реакцию системы на его действие ни на миллисекунду: промежуточный кадр синтезирован между двумя уже отрисованными, то есть он показывает прошлое, а не будущее. Число кадров в секунду выросло, отзывчивость — нет. Это ровно тот случай, когда улучшилась метрика, а не то, ради чего метрику вводили, и он стоит того, чтобы запомнить его как образец.</a:t>
            </a:r>
          </a:p>
          <a:p>
            <a:r>
              <a:t/>
            </a:r>
          </a:p>
          <a:p>
            <a:r>
              <a:t>Для инженера отсюда следует проверяемое правило, которое шире графики.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И последнее — о единице, в которой всё это считается. 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сильный аргумент раздела,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ключевое,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a:p>
            <a:r>
              <a:t/>
            </a:r>
          </a:p>
          <a:p>
            <a:r>
              <a:t>Для рабочего решения из этого следует проверяемый критерий, и формулируется он одной строкой. Если объект будет анимироваться, попадёт в крупный план или на него нужно нанести рисунок с заданным масштабом — генератор закрывает только поиск облика, а подготовка к производству остаётся в смете целиком. Если объект стоит в фоне, не двигается и не рассматривается вблизи — генератор закрывает работу от начала до конца. Между этими двумя случаями разница не в качестве выдачи, а в том, какие стадии конвейера за ней последуют, и решается она до запуска генератора, а не после.</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a:t>
            </a:r>
          </a:p>
          <a:p>
            <a:r>
              <a:t/>
            </a:r>
          </a:p>
          <a:p>
            <a:r>
              <a:t>Разложим эти три стадии по именам ещё раз, теперь с точки зрения того, кто их делает и почему их нельзя пропустить.</a:t>
            </a:r>
          </a:p>
          <a:p>
            <a:r>
              <a:t/>
            </a:r>
          </a:p>
          <a:p>
            <a:r>
              <a:t>Ретопология. Поверх полученной от генератора плотной сетки строится заново чистая: с равномерным по смыслу, а не по шагу решётки распределением многоугольников, с петлями рёбер вокруг суставов, рта и века. Делает это человек, который знает, как объект будет двигаться. Пропустить стадию нельзя не из педантизма: по сетке без петель деформация считается честно и честно даёт смятую поверхность на каждом сгибе.</a:t>
            </a:r>
          </a:p>
          <a:p>
            <a:r>
              <a:t/>
            </a:r>
          </a:p>
          <a:p>
            <a:r>
              <a:t>Развёртка. Поверхность разрезается по спланированным швам и раскладывается в плоскость. Швы планируют там, где их не будет видно, и так, чтобы масштаб рисунка на разных частях объекта совпадал. Автоматическое разрезание кладёт швы где придётся и масштаб не держит; на фоновом объекте это незаметно, на крупном плане — заметно сразу.</a:t>
            </a:r>
          </a:p>
          <a:p>
            <a:r>
              <a:t/>
            </a:r>
          </a:p>
          <a:p>
            <a:r>
              <a:t>Риггинг. Внутрь ставится скелет, вершины привязываются к костям с весами, сверху собираются управляющие элементы. Автоматический скелет, который генераторы ставят с 2026 года и на человекоподобные, и на четвероногие, и на птичьи формы, этой стадии не отменяет: он ставит кости поверх той сетки, которая есть, со всеми её свойствами.</a:t>
            </a:r>
          </a:p>
          <a:p>
            <a:r>
              <a:t/>
            </a:r>
          </a:p>
          <a:p>
            <a:r>
              <a:t>Отсюда и практическая формулировка, которая не зависит от версии генератора. «Ассет за восемь секунд» и «ассет, готовый к работе» — разные вещи, и разница между ними не в качестве выдачи, а в том, какие стадии конвейера выдача закрывает. Генератор закрывает поиск облика — то место, где нужно быстро посмотреть двадцать вариантов и выбросить девятнадцать, — и закрывает фоновые объекты, которые не анимируются и не попадают в крупный план. Подготовка к производству остаётся людям целиком, и это три самые дорогие стадии из девяти.</a:t>
            </a:r>
          </a:p>
          <a:p>
            <a:r>
              <a:t/>
            </a:r>
          </a:p>
          <a:p>
            <a:r>
              <a:t>Стоит добавить, откуда берётся сама неизбежность. Геометрия в трёхмерной диффузии рождается не как сетка, а как поле: модель выдаёт для каждой точки пространства расстояние до поверхности либо плотность, и поверхность — это множество точек, где поле принимает заданное значение. Чтобы получить из такого поля многоугольники, по пространству проходят регулярной решёткой и в каждой её ячейке строят кусочек поверхности. Решётка регулярна — значит, многоугольники распределяются по шагу решётки, а не по сложности формы: на ровной стене их столько же, сколько на сложенном пальце.</a:t>
            </a:r>
          </a:p>
          <a:p>
            <a:r>
              <a:t/>
            </a:r>
          </a:p>
          <a:p>
            <a:r>
              <a:t>Авторы коммерческого генератора пишут это про собственное изделие, а не про чужое: «сетки затем извлекаются алгоритмами изоповерхности, что неизбежно приводит к неструктурированным плотным сеткам». Когда ограничение называет продавец, а не критик, спорить с ним незачем — его можно прямо класть в требования к процессу.</a:t>
            </a:r>
          </a:p>
          <a:p>
            <a:r>
              <a:t/>
            </a:r>
          </a:p>
          <a:p>
            <a:r>
              <a:t>И ещё одно, что стоит держать в голове при чтении любых обещаний автоматизации конвейера. Генератор не «ускоряет» девять стадий — он закрывает некоторые из них целиком и не касается остальных. Разница существенна: ускорение можно масштабировать деньгами, а незакрытая стадия остаётся в смете в полном объёме, сколько бы вы ни потратили на генератор.</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не является заменой системе автоматизированного проектирования,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Стоит поставить рядом контрпример из начала вечера, потому что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Стоит отдельно предупредить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строка эта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система проектирования им не заменяется.</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это и будет самое полезное наблюдение всей карты.</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Это и есть главное,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не оценками, а тем, что измерено, и обязательно оставляйте клетки со словом «нет» и названной причиной. Пустая строка по всему ряду — самое ценное, что такая сетка может вам показать: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Экономика этой стадии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самый красивый случай всей лекции — единственный, где у выигрыша нет оборотной стороны, и единственный, где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И главное, ради чего этот кадр стоит до разборов, а не после. Из четырёх классических режимов у трёх чисел нет, и ни одна кратность относительно них в разделе не считается. У четвёртого — редакционной проверки фактов — база есть, и она контринтуитивная: независимые аудиты точности дают от сорока до шестидесяти одного процента газетных статей, содержащих хотя бы одну ошибку, при публичном исправлении около двух процентов. Это основание, относительно которого дальше будет считаться самый известный редакционный провал машинной эпохи; без этой пары тот случай читается совершенно иначе.</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И последнее про порядок. Эта стадия стоит в вечере последней не из вежливости к остальным: она работает с готовым артефактом, то есть с тем, что четыре предыдущих модальности произвели. Чем дешевле становилось производство, тем дороже становилось её собственное решение, и в этом вся сюжетная связь раздела с предыдущими.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a:t>
            </a:r>
          </a:p>
          <a:p>
            <a:r>
              <a:t/>
            </a:r>
          </a:p>
          <a:p>
            <a:r>
              <a:t>Именно из этой необратимости следует, почему здесь так важна норма времени на проверку, а не только точность инструмента. Любая система, ускоряющая выпуск, смещает соотношение между скоростью конвейера и скоростью проверки; если второе не выросло, разрыв заполняется ошибками, и заполняется молча.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как мы увидим на измерениях,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Подлинная фотография может иллюстрировать ложное утверждение; сгенерированная иллюстрация может сопровождать точный текст. Подмена одного вопроса другим — самая частая ошибка в обсуждении этой темы, и встречается она у людей, которые устройство понимают.</a:t>
            </a:r>
          </a:p>
          <a:p>
            <a:r>
              <a:t/>
            </a:r>
          </a:p>
          <a:p>
            <a:r>
              <a:t>Способы получения данных для суждения делятся на три семейства,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«что здесь изображено или написано» — у задачи есть проверяемый ответ, значит можно требовать число и мерить его на своих данных. Если на второй — «как это сделано»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«кто за это отвечает» — техника вам поможет только частично, потому что это вопрос про людей, договоры и процедуры, и обученная модель в него не входит и войти не может.</a:t>
            </a:r>
          </a:p>
          <a:p>
            <a:r>
              <a:t/>
            </a:r>
          </a:p>
          <a:p>
            <a:r>
              <a:t>И заметьте, куда обученная модель в эту раскладку вошла, а куда нет. В первое семейство — физические методы — она вошла как способ прочесть то, что уже измерили приборы: томограф даёт плотности, распознаватель отвечает, где в них чернила. Во второе — цифровые следы — она вошла как распознаватель происхождения. В третье — редакционные и экспертные процедуры — не вошла и войти не может: звонок источнику, второй независимый источник, сверка с первичным документом и ответственный редактор не заменяются вычислением, потому что их содержание — это чья-то персональная ответственность, а не признак в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красивый случай лекции и единственный в ней, где у выигрыша нет оборотной стороны. Разбирается он по той же форме, что и все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И вот ключевая половина разбора: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и это не дефект материала, а свойство задачи. Там, где обе ошибки необратимы, выбор делается не арифметикой, а решением о допустимом риске, и принимает его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является порождением.</a:t>
            </a:r>
          </a:p>
          <a:p>
            <a:r>
              <a:t/>
            </a:r>
          </a:p>
          <a:p>
            <a:r>
              <a:t>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На выходе — объём, в котором видно, что внутри угольного цилиндра есть слои.</a:t>
            </a:r>
          </a:p>
          <a:p>
            <a:r>
              <a:t/>
            </a:r>
          </a:p>
          <a:p>
            <a:r>
              <a:t>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a:t>
            </a:r>
          </a:p>
          <a:p>
            <a:r>
              <a:t/>
            </a:r>
          </a:p>
          <a:p>
            <a:r>
              <a:t>Шаг третий — тот, ради которого понадобилась обученная модель. Античные чернила углеродные, и на обугленном папирусе они по плотности почти не отличаются от основы. Глаз на томограмме этой разницы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a:t>
            </a:r>
          </a:p>
          <a:p>
            <a:r>
              <a:t/>
            </a:r>
          </a:p>
          <a:p>
            <a:r>
              <a:t>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Это важно знать, потому что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форма застёжки на пальто не взята ни из какого конкретного обучающего изображения, она получена снятием шума, и проверить её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a:t>
            </a:r>
          </a:p>
          <a:p>
            <a:r>
              <a:t/>
            </a:r>
          </a:p>
          <a:p>
            <a:r>
              <a:t>Отсюда и общее правило выбора, которое стоит унести далеко за пределы античных папирусов.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И напоследок — о том, что отличает этот распознаватель от распознавателей, о которых пойдёт речь дальше в разделе.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 — о природе человека, побуждении и нравственном совершенствовании.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Пробел у разбора один, и он называется честно: объём и состав обучающей выборки распознавателя чернил в доступных публикациях не раскрыты.</a:t>
            </a:r>
          </a:p>
          <a:p>
            <a:r>
              <a:t/>
            </a:r>
          </a:p>
          <a:p>
            <a:r>
              <a:t>Стоит задержаться на устройстве этой работы, потому что оно само по себе инженерный урок. Задачу решили не штатной лабораторией с бюджетом, а открытым соревнованием с денежными призами: оцифрованные томограммы выложили публично, назначили награды за проверяемые достижения — первое слово, первые связные отрывки, первый прочитанный свиток — и приняли решения от кого угодно. Первое слово прочёл двадцатиоднолетний студент. Бо́льшую часть команды, дочитавшей свиток до конца, составляют бывшие участники конкурса.</a:t>
            </a:r>
          </a:p>
          <a:p>
            <a:r>
              <a:t/>
            </a:r>
          </a:p>
          <a:p>
            <a:r>
              <a:t>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И про даты. Между первым словом в октябре 2023 года и целиком прочитанным свитком в июне 2026-го прошло меньше трёх лет — срок, за который в этой области успевает смениться поколение моделей. Промежуточные вехи важны не меньше итога: несколько связных отрывков в феврале 2024-го, опознание сочинений Филодема и первый найденный заголовок. Каждая веха — проверяемая, объявленная заранее и оплаченная.</a:t>
            </a:r>
          </a:p>
          <a:p>
            <a:r>
              <a:t/>
            </a:r>
          </a:p>
          <a:p>
            <a:r>
              <a:t>Для инженерной практики из этой хронологии стоит унести две вещи. Первая: вехи были объявлены заранее и были проверяемы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a:t>
            </a:r>
          </a:p>
          <a:p>
            <a:r>
              <a:t/>
            </a:r>
          </a:p>
          <a:p>
            <a:r>
              <a:t>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 Это не аргумент против лабораторий; это наблюдение о том, какой тип задачи хорошо разбирается на проверяемые куски и распараллеливается между незнакомыми людьми.</a:t>
            </a:r>
          </a:p>
          <a:p>
            <a:r>
              <a:t/>
            </a:r>
          </a:p>
          <a:p>
            <a:r>
              <a:t>И одно наблюдение про то, как вообще устроены такие хронологии. Между первой публикацией метода и первым практическим результатом здесь прошли годы работы с томограммами, которые лежали оцифрованными задолго до того. Данные были, инструмент появился позже, а соединил их формат, который позволил попробовать многим. Это обычный порядок: узкое место редко бывает в данных и редко в модели — чаще оно в том, кому разрешено попробовать.</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формулируется одной фразой: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наличие независимой проверки,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и это важно не упустить.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упоминания, и оба стоят здесь ради своих знаменателей.</a:t>
            </a:r>
          </a:p>
          <a:p>
            <a:r>
              <a:t/>
            </a:r>
          </a:p>
          <a:p>
            <a:r>
              <a:t>Первое. Steam, крупнейшая площадка цифровой дистрибуции игр, с января 2024 года требует от разработчиков раскрывать применение генеративных средств и показывает это раскрытие публично на странице игры. Отсюда редкость на фоне всего остального материала вечера: счёт, который может повторить посторонний человек, вместо опроса или оценки аналитика.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и даёт ту же годовую раскладку. У второго счёта есть и то, чего нет у первого: игры с раскрытием собирают от десяти до двадцати семи процентов оценочных продаж периода против трёх-шести процентов в 2024 году, составляя при этом треть релизов.</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а не как точное значение.</a:t>
            </a:r>
          </a:p>
          <a:p>
            <a:r>
              <a:t/>
            </a:r>
          </a:p>
          <a:p>
            <a:r>
              <a:t>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Стоит отметить, почему именно игры дали этот ряд,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Площадка с обязательным раскрытием заменяет всё это прямым счётом — и обходится это ей в одно правило публикации. Отсюда полезное наблюдение для любой отрасли: там, где нужна достоверная доля, дешевле ввести обязательное раскрытие, чем строить измеритель.</a:t>
            </a:r>
          </a:p>
          <a:p>
            <a:r>
              <a:t/>
            </a:r>
          </a:p>
          <a:p>
            <a:r>
              <a:t>Второе упоминание. YouTube выкатил автоматический дубляж на всю партнёрскую программу одиннадцатого февраля 2025 года; восемь языков на старте, в сентябре 2025-го начат пилот синхронизации губ под дублированную дорожку. Единственное опубликованное число об эффекте — до двадцати пяти процентов зрителей тестовых каналов выбирают неанглийскую дорожку.</a:t>
            </a:r>
          </a:p>
          <a:p>
            <a:r>
              <a:t/>
            </a:r>
          </a:p>
          <a:p>
            <a:r>
              <a:t>База для этой четверти — ноль, и это надо произнести, иначе число выглядит перераспределением существующей аудитории. У автора, снимающего на одном языке, аудитории на других языках раньше не было вовсе, и дубляж для неё не заказывался: ставка диктора — десятки и сотни долларов за готовую минуту — делает локализацию любительского канала бессмысленной экономически. То есть четверть зрителей пришла из пустоты, никого не заместив. Это та же фигура, что во всём вечере: подешевела попытка, и появился рынок, которого не было. Охват программы в авторах требует сверки: сообщения компании называют более трёх миллионов авторов на февраль 2025 года и восемьдесят миллионов к июню того же года — это разные величины из разных сообщений, и сводить их надо до того, как число пойдёт на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Главный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модели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главная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берётся размеченный набор, модель выдаёт распределение по классам, оно сравнивается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достигается подстройкой знака под содержимое; знак живёт в пикселях и переживает потерю служебных полей. В тексте тот же приём трогает ровно то место, которое называли единственной частью конвейера под прямым управлением пользователя, — процедуру выбора следующего токена; обучение модели не трогается вообще. И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 — выбирать там не из чего. Маркировка слабее всего работает ровно там, где её хотелось бы больше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стоит попробовать предсказать ответ самому: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примерам на модель поднимают среднее до восьмидесяти семи и восьми десятых, а DALL·E 2 остаётся на шестидесяти шести и девяти десятых, ADM — на семидесяти и восьми.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как пример утечки признака — она полезна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И ещё одна пара чисел из той же таблицы, показывающая, что дело не в обработке файла.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идеален для курса ровно потому, что в нём ничего не сломалось технически.</a:t>
            </a:r>
          </a:p>
          <a:p>
            <a:r>
              <a:t/>
            </a:r>
          </a:p>
          <a:p>
            <a:r>
              <a:t>Хронология короткая. В августе 2025 года производитель фотокамер добавил поддержку криптографических удостоверений содержимого в прошивку профессиональной модели — двадцать седьмого числа. Через несколько дней исследователь показал,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подтвердил неисправность и приостановил сервис подлинности; двадцать первого сентября отозвал все выданные сертификаты — через двадцать пять дней после запуска. И добивающая деталь: распространённые проверяющие программы по умолчанию не проверяют отзыв, поэтому снимок с отозванным сертификатом продолжает проходить проверку до сих пор.</a:t>
            </a:r>
          </a:p>
          <a:p>
            <a:r>
              <a:t/>
            </a:r>
          </a:p>
          <a:p>
            <a:r>
              <a:t>Происхождение удостоверяют двумя противоположными способами, и разобрать их стоит до разбора самого случая, потому что провалился здесь ровно один из двух.</a:t>
            </a:r>
          </a:p>
          <a:p>
            <a:r>
              <a:t/>
            </a:r>
          </a:p>
          <a:p>
            <a:r>
              <a:t>Подпись снаружи. В файл встраивается манифест: кто автор, чем создано, что применялось при обработке, — и всё это подписывается сертификатом. Привязка хрупкая по построению: снимок экрана, пересжатие, срезанные площадкой служебные поля — и манифеста нет. Подпись живёт рядом с изображением, а не внутри него.</a:t>
            </a:r>
          </a:p>
          <a:p>
            <a:r>
              <a:t/>
            </a:r>
          </a:p>
          <a:p>
            <a:r>
              <a:t>Знак внутри. Две сети обучаются вместе: одна вставляет в изображение незаметный знак, другая его находит. Знак живёт в пикселях, поэтому переживает потерю служебных полей, пересохранение и снимок экрана. У текста такой знак живёт на энтропии выбора следующего слова — и слабеет ровно там, где нужен больше всего: короткий текст, низкая температура, код и фактические ответы маркируются плохо, потому что выбирать не из чего.</a:t>
            </a:r>
          </a:p>
          <a:p>
            <a:r>
              <a:t/>
            </a:r>
          </a:p>
          <a:p>
            <a:r>
              <a:t>Случай Nikon — про первый способ, и провалился в нём не механизм, а допущение, на котором механизм стоял.</a:t>
            </a:r>
          </a:p>
          <a:p>
            <a:r>
              <a:t/>
            </a:r>
          </a:p>
          <a:p>
            <a:r>
              <a:t>Что именно здесь произошло. Криптография отработала безупречно: подпись подлинная, сертификат валидный на момент подписания, хеш сходится, цепочка не нарушена — механизм выполнил ровно то, что обещал. Провалилась система доверия, и провалилась в единственном месте, которое криптография не покрывает: подписывающая сторона подписала то, чего не снимала.</a:t>
            </a:r>
          </a:p>
          <a:p>
            <a:r>
              <a:t/>
            </a:r>
          </a:p>
          <a:p>
            <a:r>
              <a:t>Отсюда формулировка, которую стоит унести из раздела целиком: подпись удостоверяет, кто подписал, а не что происходило перед объективом. Это тот же класс ошибки, который курс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ровно один вопрос: какое именно утверждение оно делает проверяемым. Здесь проверяемым становится утверждение «это подписано вот этой камерой с вот этим серийным номером», и оно действительно проверяемо; утверждение «это было перед объективом» не становится проверяемым ни в какой мере.</a:t>
            </a:r>
          </a:p>
          <a:p>
            <a:r>
              <a:t/>
            </a:r>
          </a:p>
          <a:p>
            <a:r>
              <a:t>Хронологию стоит держать в голове целиком, потому что её сжатость — часть содержания. Двадцать седьмого августа 2025 года производитель добавляет поддержку криптографических удостоверений содержимого в прошивку профессиональной камеры. Через несколько дней независимый исследователь показывает,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подтверждает неисправность и приостанавливает сервис подлинности. Двадцать первого сентября отзывает все выданные сертификаты. Двадцать пять дней от запуска до полного отзыва.</a:t>
            </a:r>
          </a:p>
          <a:p>
            <a:r>
              <a:t/>
            </a:r>
          </a:p>
          <a:p>
            <a:r>
              <a:t>Скорость здесь работает в обе стороны. С одной — производитель отреагировал честно и быстро, и это стоит отметить. С другой — двадцати пяти дней хватило, чтобы в обращение попали подписанные файлы, которые проверяющие программы по умолчанию до сих пор принимают, потому что отзыв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a:t>
            </a:r>
          </a:p>
          <a:p>
            <a:r>
              <a:t/>
            </a:r>
          </a:p>
          <a:p>
            <a:r>
              <a:t>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 И это ровно то же место, где проходила граница в предыдущем разделе: модель выдаёт правдоподобие, а соответствие обеспечивается вне её.</a:t>
            </a:r>
          </a:p>
          <a:p>
            <a:r>
              <a:t/>
            </a:r>
          </a:p>
          <a:p>
            <a:r>
              <a:t>И общая мысль, которой закрываются обе половины раздела. Граница между снятым и синтезированным размылась штатным рабочим конвейером, а не атакой злоумышленника.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Снимок с мультиэкспозицией подписан настоящей камерой настоящим сертификатом и изображает то, чего не было, — и это тоже штатный режим съёмки, существовавший задолго до генеративных моделей. Инструменты, которые строятся против злоумышленника, против такого размывания не работают, потому что злоумышленника здесь нет.</a:t>
            </a:r>
          </a:p>
          <a:p>
            <a:r>
              <a:t/>
            </a:r>
          </a:p>
          <a:p>
            <a:r>
              <a:t>Повторю, что именно здесь сломалось, потому что это самое поучительное место раздела. Не сломалась криптография: подпись подлинная, сертификат на момент подписания валидный, хеш сходится, цепочка цела, механизм выполнил ровно то, что обещал. Сломалось допущение, которое все вокруг механизма держали в голове и никто не записал: «если подписала камера, значит снято камерой». Режим мультиэкспозиции — штатная функция, существующая десятилетиями, — это допущение опровергает, и опровергает без всякого злого умысла.</a:t>
            </a:r>
          </a:p>
          <a:p>
            <a:r>
              <a:t/>
            </a:r>
          </a:p>
          <a:p>
            <a:r>
              <a:t>Добивающая деталь, которая делает случай ещё полезнее: распространённые проверяющие программы по умолчанию не проверяют отзыв сертификата. То есть производитель отозвал все выданные сертификаты двадцать первого сентября, а снимок с отозванным сертификатом продолжает проходить проверку до сих пор. Отзыв существует в реестре и не существует в поведении проверяющих — классическая болезнь всякой инфраструктуры доверия, и она не про камеры.</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подписал; интересует — что происходило перед объективом; связывает их допущение, которое камера нарушает штатно.</a:t>
            </a:r>
          </a:p>
          <a:p>
            <a:r>
              <a:t/>
            </a:r>
          </a:p>
          <a:p>
            <a:r>
              <a:t>И последнее, что замыкает обе половины раздела. Граница между снятым и синтезированным размылась не атакой злоумышленника, а штатным рабочим конвейером. Кадр, вышедший из нейросетевой графики реального времени, не снимал и не рисовал никто: пятнадцать пикселей из шестнадцати сгенерированы сетью, и это не подделка, а штатный режим работы видеокарты. Снимок с мультиэкспозицией подписан настоящей камерой настоящим сертификатом и изображает то, чего перед объективом не было. Ни в одном из двух случаев нет обмана; в обоих есть расхождение между тем, что система удостоверяет, и тем, что человек из её удостоверения вычитывает.</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не сопровождаемая нормой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Это и есть то, что стоит унести из случая в собственную работу: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потому что вывод из него контринтуитивный и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Внутренний движок генерировал объяснительные финансовые статьи, публиковавшиеся под редакционной подписью; имя изделия публично не названо — искали и не нашли. Самое важное в этом шаге: заявленная редакционная проверка существовала. Человек в контуре был, и именно этот контур пропустил сорок один материал.</a:t>
            </a:r>
          </a:p>
          <a:p>
            <a:r>
              <a:t/>
            </a:r>
          </a:p>
          <a:p>
            <a:r>
              <a:t>Чем это чинится — рабочий ответ отрасли, и он стоит рядом на том же кадре. Ни одна из принятых мер не потребовала лучшей модели; все потребовали названного человека на названном шаге. Крупное информационное агентство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Научное издательство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Измеренный отклик аудитории на это: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a:t>
            </a:r>
          </a:p>
          <a:p>
            <a:r>
              <a:t/>
            </a:r>
          </a:p>
          <a:p>
            <a:r>
              <a:t>Стоит заметить, что общего у всех четырёх норм. Ни одна не запрещает применение модели и ни одна не вводит порога качества.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То есть отрасль ответила не техническим требованием, а назначением ответственного — ровно потому, что провал был не техническим.</a:t>
            </a:r>
          </a:p>
          <a:p>
            <a:r>
              <a:t/>
            </a:r>
          </a:p>
          <a:p>
            <a:r>
              <a:t>Для инженера это образец того, как вообще чинятся такие провалы. Когда конвейер ускорился, а норма проверки осталась прежней, добавление ещё одной модели в конвейер разрыва не закрывает. Закрывает его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Устройство случая стоит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Это и есть самое важное наблюдение разбора.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a:p>
            <a:r>
              <a:t/>
            </a:r>
          </a:p>
          <a:p>
            <a:r>
              <a:t>И измеренный отклик аудитории, который стоит рядом с нормами: опрос шести стран, около двенадцати тысяч респондентов, показал устойчивое требование помечать материал, созданный с участием модели, и одновременно — готовность читать такой материал, если он помечен. То есть требование аудитории адресовано не технологии, а раскрытию: не «не применяйте», а «скажите, что применили».</a:t>
            </a:r>
          </a:p>
          <a:p>
            <a:r>
              <a:t/>
            </a:r>
          </a:p>
          <a:p>
            <a:r>
              <a:t>Наконец, стоит произнести вслух то, чего ни одна из четырёх норм не содержит, — порога точности. Никто не написал «модель допускается, если доля ошибок ниже такой-то».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 именно из-за открытой методики случай вообще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самый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и это главное, что раздел передаёт дальше.</a:t>
            </a:r>
          </a:p>
          <a:p>
            <a:r>
              <a:t/>
            </a:r>
          </a:p>
          <a:p>
            <a:r>
              <a:t>Карта вечера заполняется здесь в последний раз, и прочитать её стоит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Для практики из поперечного чтения карты следует приём, который стоит унести дальше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оно встречается,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которое стоит произнести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шести случаях посчитаны обе стороны — сколько стоило без модели и сколько стало с ней, в одной и той же единице. В четырёх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есть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это примерно пятьсот тысяч произведений, то есть порядка трёх тысяч долларов за произведение, а после вычета расходов и гонораров — около трёх тысяч ста.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и согласованная ставка составила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просто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встречается,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раскрытие использования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даёт тот же ряд и добавляет недостающую половину: игры с раскрытием собирают от десяти до двадцати семи процентов оценочных продаж. Треть релизов против десятой-четверти денег.</a:t>
            </a:r>
          </a:p>
          <a:p>
            <a:r>
              <a:t/>
            </a:r>
          </a:p>
          <a:p>
            <a:r>
              <a:t>Здесь нужно внимание к знаменателю, и это ровно то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ключевое: выручка от машинной озвучки составила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своего метода: распознаватель читает описания и сопутствующие сведения, сам звук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и он же лучшее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выводы делаются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 протухло к моменту, когда его прочтут. Условие здесь одно: на кадр выносится устройство рынка, которое меняется медленнее номеров версий. Список моделей, собранный в октябре 2026 года, устареет раньше, чем его успеют проверить; за пять дней до сдачи материала закрыли предварительный доступ к одной из ведущих видеомоделей. Поэтому ниже наблюдения об устройстве, и под каждым измерение.</a:t>
            </a:r>
          </a:p>
          <a:p>
            <a:r>
              <a:t/>
            </a:r>
          </a:p>
          <a:p>
            <a:r>
              <a:t>Первое наблюдение — самое неожиданное во всём техническом пласте вечера. Картиночные модели перестали расти в вычислениях. Stable Diffusion v1 в 2022 году и Stable Diffusion 3 в 2024-м обучены одним и тем же числом операций: полторы сотни тысяч часов работы ускорителя в первом случае, и второй за два года к этому ничего не прибавил. За те же два года вычисления на обучение передовых языковых моделей росли вчетверо-впятеро в год. Прогресс в изображении шёл совершенно другими средствами: шестнадцатиканальное латентное представление вместо четырёхканального, диффузионный трансформер вместо свёрточной архитектуры, спрямлённый поток вместо стохастического расписания, дистилляция числа шагов с тысячи до четырёх. Архитектура и представление данных сделали то, чего в языковых моделях добивались вычислениями. Это и есть последнее произнесение мысли, которая прошла через весь вечер: главный рычаг — токенизатор; размер модели здесь вторичен.</a:t>
            </a:r>
          </a:p>
          <a:p>
            <a:r>
              <a:t/>
            </a:r>
          </a:p>
          <a:p>
            <a:r>
              <a:t>Рядом стоит второе измерение, и знак у него меняется между обучением и запуском. Обучить модель изображения в двести-четыреста раз дешевле передовой языковой, и при этом каждый её запуск дороже в сорок-шестьдесят раз. Причина разобрана в первом разделе: кэша нет и быть не может — расшумление на каждом шаге переписывает все четыре с небольшим тысячи токенов картинки целиком, тогда как языковая модель сохраняет уже обработанный контекст и к нему не возвращается. Отсюда прямое следствие для того, кто думает входить в эту разработку: порог входа в собственную модель изображения на порядки ниже, чем в собственную языковую, и выигрывает здесь тот, кто придумал лучшее представление данных.</a:t>
            </a:r>
          </a:p>
          <a:p>
            <a:r>
              <a:t/>
            </a:r>
          </a:p>
          <a:p>
            <a:r>
              <a:t>Второе наблюдение следует из первого. Лидерство в генерации видео за 2026 год перешло к открытым весам и китайским разработчикам, а самый громкий западный продукт отрасли закрыт — и закрыт после того, как по его демонстрационному ролику было остановлено строительство студии на восемьсот миллионов долларов. Экономика, названная числом: на пике у этого продукта был около миллиона пользователей при оценочной стоимости эксплуатации около миллиона долларов в сутки, то есть доллар на пользователя в день. Генерация видео не была бесплатной ни секунды; платил не пользователь. Отсюда вывод, переносимый на любой проект: зависимость от чужого сервиса — проектный риск, и место ему в плане проекта рядом с прочими рисками. Два разбора этой лекции построены на инструменте, который закрылся.</a:t>
            </a:r>
          </a:p>
          <a:p>
            <a:r>
              <a:t/>
            </a:r>
          </a:p>
          <a:p>
            <a:r>
              <a:t>Повторю первое наблюдение в одной строке, потому что оно и есть сквозной припев вечера, произносимый здесь в четвёртый и последний раз: главный рычаг — токенизатор; размер модели здесь вторичен. Прогресс в картиночных моделях за два года шёл не вычислениями на обучение, а представлением данных — шестнадцать каналов латентного представления вместо четырёх, диффузионный трансформер вместо прежней архитектуры, спрямлённый поток, дистилляция с тысячи шагов до четырёх. Каждый из этих шагов меняет то, в каком виде модель видит картинку, а не то, сколько в ней весов.</a:t>
            </a:r>
          </a:p>
          <a:p>
            <a:r>
              <a:t/>
            </a:r>
          </a:p>
          <a:p>
            <a:r>
              <a:t>И следствие для входа на рынок, которое из первого наблюдения вытекает прямо. Обучить модель изображения в двести-четыреста раз дешевле, чем передовую языковую, — порог входа в эту модальность заметно ниже. Зато каждый её запуск дороже в сорок-шестьдесят раз: кэша нет и быть не может, потому что расшумление на каждом шаге переписывает все четыре тысячи девяносто шесть токенов разом, и переиспользовать прошлый шаг нечего. Экономика здесь обратная языковой: дёшево войти, дорого работать.</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Третье наблюдение. Обе ведущие музыкальные площадки перешли на обучение на лицензированном материале, и партнёры названы поимённо вместо описания данных общими словами. Спор о происхождении обучающих данных не выиграл никто — он стал условием работы продукта. Это и самый проверяемый прогноз, который лекция может дать: там, где правообладатель крупный и организованный — музыка, кино, новости, — вопрос закроется лицензией раньше, чем судом; там, где правообладатель мелкий и рассеянный — иллюстрация, фотография, озвучка, — закрывать его будет некому, и там сохранится нынешнее положение.</a:t>
            </a:r>
          </a:p>
          <a:p>
            <a:r>
              <a:t/>
            </a:r>
          </a:p>
          <a:p>
            <a:r>
              <a:t>Четвёртое. Мировые модели — отдельная модальность. По текстовому описанию порождается интерактивная трёхмерная среда в реальном времени, связность держится несколько минут подряд против десяти-двадцати секунд у предшественников, и наблюдается постоянство объектов: покрашенная стена остаётся покрашенной после ухода и возвращения — ровно то свойство, отсутствие которого в разделе про видео названо главным ограничением. Видеомодель порождает запись. Мировая модель порождает пространство, в котором можно находиться.</a:t>
            </a:r>
          </a:p>
          <a:p>
            <a:r>
              <a:t/>
            </a:r>
          </a:p>
          <a:p>
            <a:r>
              <a:t>Пятое, и оно же прививка от отраслевых прогнозов вообще. Четыре обзора оценили размер одного и того же рынка за один и тот же 2026 год в три и шестнадцать сотых миллиарда долларов и в девятнадцать и две десятых — разброс в шесть раз, вызванный только тем, где проведена граница рынка. Выбирать из них правильную цифру бессмысленно. Согласованный факт в них ровно один: темп от четырнадцати до тридцати четырёх процентов в год. Все четыре согласны, что рынок растёт быстро, и ни одна не знает, насколько он велик. Добавьте сюда самое цитируемое число отрасли — «более пятнадцати миллиардов сгенерированных изображений», измеренное пятнадцатого августа 2023 года и с тех пор ни разу не обновлявшееся, хотя его продолжают приводить как текущее, — и получится полный набор привычек чтения отраслевой статистики: проверь определение, проверь базу, проверь дату.</a:t>
            </a:r>
          </a:p>
          <a:p>
            <a:r>
              <a:t/>
            </a:r>
          </a:p>
          <a:p>
            <a:r>
              <a:t>Три эти величины стоит держать вместе, потому что ни одна из них не меняется с номером версии. Право на обучающий материал держится годами и меняется решениями судов и переговорами правообладателей. Класс задачи — порождает модель запись или порождает пространство, в котором можно находиться, — это свойство устройства, а не настройки. Граница рынка — то, что считают рынком, — вообще определение, и именно поэтому четыре оценки одного и того же 2026 года разошлись в шесть раз: от 3,16 миллиарда долларов до 19,2 миллиарда. Согласны все четыре только в темпе: от четырнадцати до тридцати четырёх процентов в год.</a:t>
            </a:r>
          </a:p>
          <a:p>
            <a:r>
              <a:t/>
            </a:r>
          </a:p>
          <a:p>
            <a:r>
              <a:t>Отсюда и практическое правило чтения отраслевых прогнозов. Размеру рынка в них верить нельзя — он получен из определения, которого вы не видели. Темпу верить можно осторожнее: он устойчив между оценками, то есть его не придумывали, а считали по одним и тем же наблюдаемым рядам. А самое надёжное в таких обзорах — не цифры вовсе, а перечисление того, что игроки считают предметом конкуренции: оно меняется медленно и говорит об устройстве отрасли больше, чем любой миллиард.</a:t>
            </a:r>
          </a:p>
          <a:p>
            <a:r>
              <a:t/>
            </a:r>
          </a:p>
          <a:p>
            <a:r>
              <a:t>И короткое замечание о том, почему этот кадр стоит в Сборке, а не в техническом разделе. Инженеру, который решает, вкладываться ли в направление, номер версии не говорит ничего: он меняется каждые несколько недель и каждый раз обещает прорыв. Устройство рынка — кто платит, за что платит и чем ограничен — держится годами и предсказывает, что будет доступно через год, 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и самая применимая её часть.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определяется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главное, что делает эти четыре правила работающими: их выносят в письменный вид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и вред приходит из невидимости этой границы: качество самого инструмента тут ни при чём. Раз не видно — единственный способ ею управлять состоит в том, чтобы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Самое важное в этом опыте —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И последнее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Ключевое свойство этой задачи — она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самая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принимается меньше сорока четырёх процентов сгенерированного, а около девяти процентов рабочего времени уходит на чтение и чистку выдачи.</a:t>
            </a:r>
          </a:p>
          <a:p>
            <a:r>
              <a:t/>
            </a:r>
          </a:p>
          <a:p>
            <a:r>
              <a:t>Но главное в этой паре другое, и ради этого она стоит в Сборке.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составляет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страховка от того, чтобы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 хороший повод запомнить, что между препринтом и публикацией цифры двигаются, и подписывать их надо тем документом, из которого взял.</a:t>
            </a:r>
          </a:p>
          <a:p>
            <a:r>
              <a:t/>
            </a:r>
          </a:p>
          <a:p>
            <a:r>
              <a:t>Но самое важное в этом опыте — то,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самый неожиданный: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главное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не метафора, а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главный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стоит назвать,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пятидесяти до четырёхсот пятидесяти долларов за готовую минуту у диктора против трёх-семи центов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просто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которые встречаются в отраслевых обзорах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который выставлен за дешёвую ошибку, и он выставлен не всем поровну.</a:t>
            </a:r>
          </a:p>
          <a:p>
            <a:r>
              <a:t/>
            </a:r>
          </a:p>
          <a:p>
            <a:r>
              <a:t>Стоит заметить, чем восьмое удешевление отличается от семи предыдущих. Отличие тут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от этого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и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Дело тут вовсе не во внимательности смотрящего: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t-j.ru/marketing-ai/"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adsknews.autodesk.com/en/news/autodesk-airbus-generative-design-aerospace-factory/"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thesphere.com/"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arxiv.org/abs/2308.04079"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arxiv.org/abs/2412.01506"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arxiv.org/abs/2509.21420" TargetMode="Externa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scrollprize.org/" TargetMode="Externa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net.com/tech/cnet-is-testing-an-ai-engine-heres-what-weve-learned-mistakes-and-all/" TargetMode="Externa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 век</a:t>
            </a:r>
          </a:p>
        </p:txBody>
      </p:sp>
      <p:sp>
        <p:nvSpPr>
          <p:cNvPr id="5" name="Rounded Rectangle 4"/>
          <p:cNvSpPr/>
          <p:nvPr/>
        </p:nvSpPr>
        <p:spPr>
          <a:xfrm>
            <a:off x="192024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1961 — обводка тушью на целлулоиде; штат вдвое меньше</a:t>
            </a:r>
          </a:p>
        </p:txBody>
      </p:sp>
      <p:sp>
        <p:nvSpPr>
          <p:cNvPr id="7" name="Right Arrow 6"/>
          <p:cNvSpPr/>
          <p:nvPr/>
        </p:nvSpPr>
        <p:spPr>
          <a:xfrm>
            <a:off x="3284675" y="191342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1990 — допечатный цех; $300 за час против $895 навсегда</a:t>
            </a:r>
          </a:p>
        </p:txBody>
      </p:sp>
      <p:sp>
        <p:nvSpPr>
          <p:cNvPr id="10" name="Right Arrow 9"/>
          <p:cNvSpPr/>
          <p:nvPr/>
        </p:nvSpPr>
        <p:spPr>
          <a:xfrm>
            <a:off x="4877710" y="191342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1989–2003 — физическая склейка плёнки; рабочее место $50–80 тыс.</a:t>
            </a:r>
          </a:p>
        </p:txBody>
      </p:sp>
      <p:sp>
        <p:nvSpPr>
          <p:cNvPr id="13" name="Right Arrow 12"/>
          <p:cNvSpPr/>
          <p:nvPr/>
        </p:nvSpPr>
        <p:spPr>
          <a:xfrm>
            <a:off x="6470746" y="191342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2811865"/>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XXI век</a:t>
            </a:r>
          </a:p>
        </p:txBody>
      </p:sp>
      <p:sp>
        <p:nvSpPr>
          <p:cNvPr id="17" name="Rounded Rectangle 16"/>
          <p:cNvSpPr/>
          <p:nvPr/>
        </p:nvSpPr>
        <p:spPr>
          <a:xfrm>
            <a:off x="1920240"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35369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35369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2019 — экспедиция за фоном; 1 326 панелей, дуга 270°</a:t>
            </a:r>
          </a:p>
        </p:txBody>
      </p:sp>
      <p:sp>
        <p:nvSpPr>
          <p:cNvPr id="25" name="TextBox 24"/>
          <p:cNvSpPr txBox="1"/>
          <p:nvPr/>
        </p:nvSpPr>
        <p:spPr>
          <a:xfrm>
            <a:off x="502920" y="4105826"/>
            <a:ext cx="75151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4619753"/>
            <a:ext cx="7771173"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11193"/>
            <a:ext cx="7441989" cy="152501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Поворотная точка — 2000-е.</a:t>
            </a:r>
            <a:r>
              <a:rPr sz="1500" b="0" i="0">
                <a:solidFill>
                  <a:srgbClr val="21295C"/>
                </a:solidFill>
                <a:latin typeface="Arial"/>
              </a:rPr>
              <a:t> Обвал цены единицы на три порядка в этой же отрасли уже случался, и рынок уцелел, разделившись на «дёшево и много» и «дорого и именно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Rounded Rectangle 15"/>
          <p:cNvSpPr/>
          <p:nvPr/>
        </p:nvSpPr>
        <p:spPr>
          <a:xfrm>
            <a:off x="374904" y="3159934"/>
            <a:ext cx="11441887" cy="1670288"/>
          </a:xfrm>
          <a:prstGeom prst="roundRect">
            <a:avLst>
              <a:gd name="adj" fmla="val 1824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1374"/>
            <a:ext cx="5373471" cy="2984833"/>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p:txBody>
      </p:sp>
      <p:sp>
        <p:nvSpPr>
          <p:cNvPr id="18" name="TextBox 17"/>
          <p:cNvSpPr txBox="1"/>
          <p:nvPr/>
        </p:nvSpPr>
        <p:spPr>
          <a:xfrm>
            <a:off x="6278727" y="3251374"/>
            <a:ext cx="5373471" cy="2984833"/>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Подешевело не исполнение. Подешевела неудачная попытка — а выбирать по-прежнему некому.</a:t>
            </a:r>
          </a:p>
        </p:txBody>
      </p:sp>
      <p:sp>
        <p:nvSpPr>
          <p:cNvPr id="19" name="Rectangle 18"/>
          <p:cNvSpPr/>
          <p:nvPr/>
        </p:nvSpPr>
        <p:spPr>
          <a:xfrm>
            <a:off x="6091275" y="3251374"/>
            <a:ext cx="9144" cy="1395968"/>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$0,034–0,05</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3340531"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$0,03–0,072</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6315303"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9015755"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1C7293"/>
                </a:solidFill>
                <a:latin typeface="Arial"/>
              </a:rPr>
              <a:t>×10–20 у самого дорогого, ×1 000–4 500 у самого дешёвого</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3225948"/>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17388"/>
            <a:ext cx="11112703"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этой лекции нет</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374904" y="3401355"/>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проходит по предмету, а не по технологии.</a:t>
            </a:r>
            <a:r>
              <a:rPr sz="1500" b="0" i="0">
                <a:solidFill>
                  <a:srgbClr val="21295C"/>
                </a:solidFill>
                <a:latin typeface="Arial"/>
              </a:rPr>
              <a:t> Одна и та же модель клонирования голоса сегодня — инструмент, вернувший актёру работу; в разговоре о безопасности та же модель — инструмент телефонного мошенничества. Обе рамки верны одновременно, и разбирать их вперемешку нельзя.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1. Неподвижное изображение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и не «сколько этого» — на него отвечает таблица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продукта</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концепт-арт — договориться об облике, наружу не выходит</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иллюстрация — идёт в продукт</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ключевой кадр — задаёт язык всей кампании</a:t>
            </a:r>
          </a:p>
        </p:txBody>
      </p:sp>
      <p:sp>
        <p:nvSpPr>
          <p:cNvPr id="15" name="TextBox 14"/>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на входе</a:t>
            </a:r>
          </a:p>
        </p:txBody>
      </p:sp>
      <p:sp>
        <p:nvSpPr>
          <p:cNvPr id="16" name="Rounded Rectangle 15"/>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бриф</a:t>
            </a:r>
          </a:p>
        </p:txBody>
      </p:sp>
      <p:sp>
        <p:nvSpPr>
          <p:cNvPr id="18" name="Rounded Rectangle 17"/>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референс</a:t>
            </a:r>
          </a:p>
        </p:txBody>
      </p:sp>
      <p:sp>
        <p:nvSpPr>
          <p:cNvPr id="20" name="Rounded Rectangle 19"/>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фирменный стиль</a:t>
            </a:r>
          </a:p>
        </p:txBody>
      </p:sp>
      <p:sp>
        <p:nvSpPr>
          <p:cNvPr id="22" name="Rounded Rectangle 21"/>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файлу</a:t>
            </a:r>
          </a:p>
        </p:txBody>
      </p:sp>
      <p:sp>
        <p:nvSpPr>
          <p:cNvPr id="24" name="TextBox 23"/>
          <p:cNvSpPr txBox="1"/>
          <p:nvPr/>
        </p:nvSpPr>
        <p:spPr>
          <a:xfrm>
            <a:off x="502920" y="443892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получают</a:t>
            </a:r>
          </a:p>
        </p:txBody>
      </p:sp>
      <p:sp>
        <p:nvSpPr>
          <p:cNvPr id="25" name="Rounded Rectangle 24"/>
          <p:cNvSpPr/>
          <p:nvPr/>
        </p:nvSpPr>
        <p:spPr>
          <a:xfrm>
            <a:off x="1920240"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заказ у исполнителя</a:t>
            </a:r>
          </a:p>
        </p:txBody>
      </p:sp>
      <p:sp>
        <p:nvSpPr>
          <p:cNvPr id="27" name="Rounded Rectangle 26"/>
          <p:cNvSpPr/>
          <p:nvPr/>
        </p:nvSpPr>
        <p:spPr>
          <a:xfrm>
            <a:off x="439894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8124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готовое из библиотеки</a:t>
            </a:r>
          </a:p>
        </p:txBody>
      </p:sp>
      <p:sp>
        <p:nvSpPr>
          <p:cNvPr id="29" name="Rounded Rectangle 28"/>
          <p:cNvSpPr/>
          <p:nvPr/>
        </p:nvSpPr>
        <p:spPr>
          <a:xfrm>
            <a:off x="687765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695995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съёмка под каталог</a:t>
            </a:r>
          </a:p>
        </p:txBody>
      </p:sp>
      <p:sp>
        <p:nvSpPr>
          <p:cNvPr id="31" name="Rounded Rectangle 30"/>
          <p:cNvSpPr/>
          <p:nvPr/>
        </p:nvSpPr>
        <p:spPr>
          <a:xfrm>
            <a:off x="935636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43866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сборка в редакторе</a:t>
            </a:r>
          </a:p>
        </p:txBody>
      </p:sp>
      <p:sp>
        <p:nvSpPr>
          <p:cNvPr id="33" name="TextBox 32"/>
          <p:cNvSpPr txBox="1"/>
          <p:nvPr/>
        </p:nvSpPr>
        <p:spPr>
          <a:xfrm>
            <a:off x="502920" y="51519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целиком: что делают, из чего и чем. Внутри ряда порядка нет — это перечни</a:t>
            </a:r>
          </a:p>
        </p:txBody>
      </p:sp>
      <p:sp>
        <p:nvSpPr>
          <p:cNvPr id="34" name="Rounded Rectangle 33"/>
          <p:cNvSpPr/>
          <p:nvPr/>
        </p:nvSpPr>
        <p:spPr>
          <a:xfrm>
            <a:off x="374904" y="5454650"/>
            <a:ext cx="11441887" cy="78155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546090"/>
            <a:ext cx="11112703" cy="6901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утвердить облик до того, как потрачены большие деньги.</a:t>
            </a:r>
            <a:r>
              <a:rPr sz="1500" b="0" i="0">
                <a:solidFill>
                  <a:srgbClr val="21295C"/>
                </a:solidFill>
                <a:latin typeface="Arial"/>
              </a:rPr>
              <a:t> Вся её экономика держится на одном отношении — сколько вариантов можно позволить себе посмотреть, прежде чем выбрать один.</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 три класса классики</a:t>
            </a:r>
          </a:p>
        </p:txBody>
      </p:sp>
      <p:sp>
        <p:nvSpPr>
          <p:cNvPr id="4" name="Rounded Rectangle 3"/>
          <p:cNvSpPr/>
          <p:nvPr/>
        </p:nvSpPr>
        <p:spPr>
          <a:xfrm>
            <a:off x="502920"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 У ИСПОЛНИТЕЛЯ</a:t>
            </a:r>
          </a:p>
        </p:txBody>
      </p:sp>
      <p:sp>
        <p:nvSpPr>
          <p:cNvPr id="6" name="TextBox 5"/>
          <p:cNvSpPr txBox="1"/>
          <p:nvPr/>
        </p:nvSpPr>
        <p:spPr>
          <a:xfrm>
            <a:off x="640080" y="1932846"/>
            <a:ext cx="1831177"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$50–150 за задание, 1–3 дня</a:t>
            </a:r>
          </a:p>
        </p:txBody>
      </p:sp>
      <p:sp>
        <p:nvSpPr>
          <p:cNvPr id="7" name="TextBox 6"/>
          <p:cNvSpPr txBox="1"/>
          <p:nvPr/>
        </p:nvSpPr>
        <p:spPr>
          <a:xfrm>
            <a:off x="640080" y="2529594"/>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часовая ставка дизайнера $49,65 по анализу тысячи профилей; верхняя полоса — фирменный стиль, $300–5 000</a:t>
            </a:r>
          </a:p>
        </p:txBody>
      </p:sp>
      <p:sp>
        <p:nvSpPr>
          <p:cNvPr id="8" name="Rounded Rectangle 7"/>
          <p:cNvSpPr/>
          <p:nvPr/>
        </p:nvSpPr>
        <p:spPr>
          <a:xfrm>
            <a:off x="2773009"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РОССИИ, ЗА ОДНУ ЦИФРОВУЮ ИЛЛЮСТРАЦИЮ</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3 860 ₽</a:t>
            </a:r>
          </a:p>
        </p:txBody>
      </p:sp>
      <p:sp>
        <p:nvSpPr>
          <p:cNvPr id="11" name="TextBox 10"/>
          <p:cNvSpPr txBox="1"/>
          <p:nvPr/>
        </p:nvSpPr>
        <p:spPr>
          <a:xfrm>
            <a:off x="2910169" y="256731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рекламный баннер 1400×626 — от 500 ₽. Это «от», нижняя граница объявленных ставок, не среднее по рынку</a:t>
            </a:r>
          </a:p>
        </p:txBody>
      </p:sp>
      <p:sp>
        <p:nvSpPr>
          <p:cNvPr id="12" name="Rounded Rectangle 11"/>
          <p:cNvSpPr/>
          <p:nvPr/>
        </p:nvSpPr>
        <p:spPr>
          <a:xfrm>
            <a:off x="504309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ЗАКАЗНАЯ СЪЁМКА ПОД КАТАЛОГ</a:t>
            </a:r>
          </a:p>
        </p:txBody>
      </p:sp>
      <p:sp>
        <p:nvSpPr>
          <p:cNvPr id="14" name="TextBox 13"/>
          <p:cNvSpPr txBox="1"/>
          <p:nvPr/>
        </p:nvSpPr>
        <p:spPr>
          <a:xfrm>
            <a:off x="518025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сотни долларов</a:t>
            </a:r>
          </a:p>
        </p:txBody>
      </p:sp>
      <p:sp>
        <p:nvSpPr>
          <p:cNvPr id="15" name="TextBox 14"/>
          <p:cNvSpPr txBox="1"/>
          <p:nvPr/>
        </p:nvSpPr>
        <p:spPr>
          <a:xfrm>
            <a:off x="5180258"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нужен именно этот физический предмет — генерацией не замещается по определению задачи</a:t>
            </a:r>
          </a:p>
        </p:txBody>
      </p:sp>
      <p:sp>
        <p:nvSpPr>
          <p:cNvPr id="16" name="Rounded Rectangle 15"/>
          <p:cNvSpPr/>
          <p:nvPr/>
        </p:nvSpPr>
        <p:spPr>
          <a:xfrm>
            <a:off x="731318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МИКРОСТОК 2000-Х</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$0,25–1 за штуку</a:t>
            </a:r>
          </a:p>
        </p:txBody>
      </p:sp>
      <p:sp>
        <p:nvSpPr>
          <p:cNvPr id="19" name="TextBox 18"/>
          <p:cNvSpPr txBox="1"/>
          <p:nvPr/>
        </p:nvSpPr>
        <p:spPr>
          <a:xfrm>
            <a:off x="7450348"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«от нескольких сотен до нескольких тысяч» в классических агентствах до него</a:t>
            </a:r>
          </a:p>
        </p:txBody>
      </p:sp>
      <p:sp>
        <p:nvSpPr>
          <p:cNvPr id="20" name="Rounded Rectangle 19"/>
          <p:cNvSpPr/>
          <p:nvPr/>
        </p:nvSpPr>
        <p:spPr>
          <a:xfrm>
            <a:off x="9583277" y="1335024"/>
            <a:ext cx="2105497" cy="285004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ШТАТНЫЙ ДИЗАЙНЕР</a:t>
            </a:r>
          </a:p>
        </p:txBody>
      </p:sp>
      <p:sp>
        <p:nvSpPr>
          <p:cNvPr id="22" name="TextBox 21"/>
          <p:cNvSpPr txBox="1"/>
          <p:nvPr/>
        </p:nvSpPr>
        <p:spPr>
          <a:xfrm>
            <a:off x="9720437" y="1725375"/>
            <a:ext cx="1831177"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цены нет — есть зарплата и загрузка</a:t>
            </a:r>
          </a:p>
        </p:txBody>
      </p:sp>
      <p:sp>
        <p:nvSpPr>
          <p:cNvPr id="23" name="TextBox 22"/>
          <p:cNvSpPr txBox="1"/>
          <p:nvPr/>
        </p:nvSpPr>
        <p:spPr>
          <a:xfrm>
            <a:off x="9720437" y="278044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этот режим оказывается классикой у корпоративного заказчика, и публичных чисел по нему почти не бывает</a:t>
            </a:r>
          </a:p>
        </p:txBody>
      </p:sp>
      <p:sp>
        <p:nvSpPr>
          <p:cNvPr id="24" name="Rounded Rectangle 23"/>
          <p:cNvSpPr/>
          <p:nvPr/>
        </p:nvSpPr>
        <p:spPr>
          <a:xfrm>
            <a:off x="374904" y="427650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367947"/>
            <a:ext cx="11112703" cy="18682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у всех пяти режимов одна — доллар за одну годную картинку.</a:t>
            </a:r>
            <a:r>
              <a:rPr sz="1500" b="0" i="0">
                <a:solidFill>
                  <a:srgbClr val="21295C"/>
                </a:solidFill>
                <a:latin typeface="Arial"/>
              </a:rPr>
              <a:t> Но выбор базы делается внутри самой классики, и он меняет любой будущий разрыв на два порядка.</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страница цен по выборке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iStock 2000, Shutterstock 2003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сток, две цены за одно изображение</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Розничная лицензия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$130–499 за одно изображение</a:t>
            </a:r>
          </a:p>
          <a:p>
            <a:pPr algn="l">
              <a:lnSpc>
                <a:spcPct val="126000"/>
              </a:lnSpc>
            </a:pPr>
            <a:r>
              <a:rPr sz="1450" b="0" i="0">
                <a:solidFill>
                  <a:srgbClr val="21295C"/>
                </a:solidFill>
                <a:latin typeface="Arial"/>
              </a:rPr>
              <a:t>• покупают разово, под конкретный материал</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Та же картинка по подписке, оптом</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≈$2,50 за одно изображение</a:t>
            </a:r>
          </a:p>
          <a:p>
            <a:pPr algn="l">
              <a:lnSpc>
                <a:spcPct val="126000"/>
              </a:lnSpc>
            </a:pPr>
            <a:r>
              <a:rPr sz="1450" b="0" i="0">
                <a:solidFill>
                  <a:srgbClr val="21295C"/>
                </a:solidFill>
                <a:latin typeface="Arial"/>
              </a:rPr>
              <a:t>• покупают потоком, под поток задач</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Разница внутри одного режима — в пятьдесят–двести раз.</a:t>
            </a:r>
            <a:r>
              <a:rPr sz="1500" b="0" i="0">
                <a:solidFill>
                  <a:srgbClr val="21295C"/>
                </a:solidFill>
                <a:latin typeface="Arial"/>
              </a:rPr>
              <a:t> Услышав «в тысячу раз дешевле», спрашивайте про базу: какую именно классику взяли для сравнения.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прейскуранты стоковых агентств: розничная лицензия и подписка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Классическая цепочка: два удешевления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ОБЩЕГО У ОБЕИХ ТОЧЕК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исчезла операция, а не профессия</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объём произведённого вырос сильнее, чем упала цена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1961 · ксерография</a:t>
            </a:r>
          </a:p>
        </p:txBody>
      </p:sp>
      <p:sp>
        <p:nvSpPr>
          <p:cNvPr id="9" name="Rounded Rectangle 8"/>
          <p:cNvSpPr/>
          <p:nvPr/>
        </p:nvSpPr>
        <p:spPr>
          <a:xfrm>
            <a:off x="1920240"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исчезла обводка тушью</a:t>
            </a:r>
          </a:p>
        </p:txBody>
      </p:sp>
      <p:sp>
        <p:nvSpPr>
          <p:cNvPr id="11" name="Rounded Rectangle 10"/>
          <p:cNvSpPr/>
          <p:nvPr/>
        </p:nvSpPr>
        <p:spPr>
          <a:xfrm>
            <a:off x="439894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48124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штат ×0,5 к 1959 году</a:t>
            </a:r>
          </a:p>
        </p:txBody>
      </p:sp>
      <p:sp>
        <p:nvSpPr>
          <p:cNvPr id="13" name="Rounded Rectangle 12"/>
          <p:cNvSpPr/>
          <p:nvPr/>
        </p:nvSpPr>
        <p:spPr>
          <a:xfrm>
            <a:off x="687765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695995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аниматор остался</a:t>
            </a:r>
          </a:p>
        </p:txBody>
      </p:sp>
      <p:sp>
        <p:nvSpPr>
          <p:cNvPr id="15" name="Rounded Rectangle 14"/>
          <p:cNvSpPr/>
          <p:nvPr/>
        </p:nvSpPr>
        <p:spPr>
          <a:xfrm>
            <a:off x="935636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943866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«неряшливая» линия</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1990 · Photoshop 1.0</a:t>
            </a:r>
          </a:p>
        </p:txBody>
      </p:sp>
      <p:sp>
        <p:nvSpPr>
          <p:cNvPr id="18" name="Rounded Rectangle 17"/>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 допечатный цех</a:t>
            </a:r>
          </a:p>
        </p:txBody>
      </p:sp>
      <p:sp>
        <p:nvSpPr>
          <p:cNvPr id="20" name="Rounded Rectangle 19"/>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$300 за час против $895 навсегда</a:t>
            </a:r>
          </a:p>
        </p:txBody>
      </p:sp>
      <p:sp>
        <p:nvSpPr>
          <p:cNvPr id="22" name="Rounded Rectangle 21"/>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ретушёр остался</a:t>
            </a:r>
          </a:p>
        </p:txBody>
      </p:sp>
      <p:sp>
        <p:nvSpPr>
          <p:cNvPr id="24" name="Rounded Rectangle 23"/>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спор о достоверности</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точки одной модальности; внутри точки порядка нет</a:t>
            </a:r>
          </a:p>
        </p:txBody>
      </p:sp>
      <p:sp>
        <p:nvSpPr>
          <p:cNvPr id="27" name="Rounded Rectangle 26"/>
          <p:cNvSpPr/>
          <p:nvPr/>
        </p:nvSpPr>
        <p:spPr>
          <a:xfrm>
            <a:off x="374904" y="459530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 точки — исчезнувшая операция-посредник, а не новая возможность.</a:t>
            </a:r>
            <a:r>
              <a:rPr sz="1500" b="0" i="0">
                <a:solidFill>
                  <a:srgbClr val="21295C"/>
                </a:solidFill>
                <a:latin typeface="Arial"/>
              </a:rPr>
              <a:t> Профессия в обоих случаях осталась и пересела на другой инструмент, а объём произведённого вырос сильнее, чем упала цена.</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ounded Rectangle 3"/>
          <p:cNvSpPr/>
          <p:nvPr/>
        </p:nvSpPr>
        <p:spPr>
          <a:xfrm>
            <a:off x="502920"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ЗАКАЗ У ИСПОЛНИТЕЛЯ</a:t>
            </a:r>
          </a:p>
        </p:txBody>
      </p:sp>
      <p:sp>
        <p:nvSpPr>
          <p:cNvPr id="6" name="TextBox 5"/>
          <p:cNvSpPr txBox="1"/>
          <p:nvPr/>
        </p:nvSpPr>
        <p:spPr>
          <a:xfrm>
            <a:off x="640080" y="1932846"/>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$50–150 за задание, 1–3 дня</a:t>
            </a:r>
          </a:p>
        </p:txBody>
      </p:sp>
      <p:sp>
        <p:nvSpPr>
          <p:cNvPr id="7" name="TextBox 6"/>
          <p:cNvSpPr txBox="1"/>
          <p:nvPr/>
        </p:nvSpPr>
        <p:spPr>
          <a:xfrm>
            <a:off x="640080" y="26993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 от 3 860 ₽ за цифровую иллюстрацию</a:t>
            </a:r>
          </a:p>
        </p:txBody>
      </p:sp>
      <p:sp>
        <p:nvSpPr>
          <p:cNvPr id="8" name="Rounded Rectangle 7"/>
          <p:cNvSpPr/>
          <p:nvPr/>
        </p:nvSpPr>
        <p:spPr>
          <a:xfrm>
            <a:off x="3340531"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ГОТОВОЕ ИЗ БИБЛИОТЕКИ</a:t>
            </a:r>
          </a:p>
        </p:txBody>
      </p:sp>
      <p:sp>
        <p:nvSpPr>
          <p:cNvPr id="10" name="TextBox 9"/>
          <p:cNvSpPr txBox="1"/>
          <p:nvPr/>
        </p:nvSpPr>
        <p:spPr>
          <a:xfrm>
            <a:off x="3477691" y="193284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$130–499 розница · ≈$2,50 опт</a:t>
            </a:r>
          </a:p>
        </p:txBody>
      </p:sp>
      <p:sp>
        <p:nvSpPr>
          <p:cNvPr id="11" name="TextBox 10"/>
          <p:cNvSpPr txBox="1"/>
          <p:nvPr/>
        </p:nvSpPr>
        <p:spPr>
          <a:xfrm>
            <a:off x="3477691"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микросток 2000-х — $0,25–1</a:t>
            </a:r>
          </a:p>
        </p:txBody>
      </p:sp>
      <p:sp>
        <p:nvSpPr>
          <p:cNvPr id="12" name="Rounded Rectangle 11"/>
          <p:cNvSpPr/>
          <p:nvPr/>
        </p:nvSpPr>
        <p:spPr>
          <a:xfrm>
            <a:off x="6178143"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ГЕНЕРАЦИЯ</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$0,034–0,05 за изображение</a:t>
            </a:r>
          </a:p>
        </p:txBody>
      </p:sp>
      <p:sp>
        <p:nvSpPr>
          <p:cNvPr id="15" name="TextBox 14"/>
          <p:cNvSpPr txBox="1"/>
          <p:nvPr/>
        </p:nvSpPr>
        <p:spPr>
          <a:xfrm>
            <a:off x="6315303"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1024×1024; 4K у того же поставщика — $0,113</a:t>
            </a:r>
          </a:p>
        </p:txBody>
      </p:sp>
      <p:sp>
        <p:nvSpPr>
          <p:cNvPr id="16" name="Rounded Rectangle 15"/>
          <p:cNvSpPr/>
          <p:nvPr/>
        </p:nvSpPr>
        <p:spPr>
          <a:xfrm>
            <a:off x="9015755" y="1335024"/>
            <a:ext cx="2673019" cy="1923967"/>
          </a:xfrm>
          <a:prstGeom prst="roundRect">
            <a:avLst>
              <a:gd name="adj" fmla="val 1584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 ТРИ ЧИСЛА СРАЗУ, ОТ ТРЁХ РАЗНЫХ БАЗ</a:t>
            </a:r>
          </a:p>
        </p:txBody>
      </p:sp>
      <p:sp>
        <p:nvSpPr>
          <p:cNvPr id="18" name="TextBox 17"/>
          <p:cNvSpPr txBox="1"/>
          <p:nvPr/>
        </p:nvSpPr>
        <p:spPr>
          <a:xfrm>
            <a:off x="9152915" y="1932846"/>
            <a:ext cx="2398699" cy="511873"/>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×1 000–4 500 к заказу · ×73 к опту · ×14 700 к рознице</a:t>
            </a:r>
          </a:p>
        </p:txBody>
      </p:sp>
      <p:sp>
        <p:nvSpPr>
          <p:cNvPr id="19" name="TextBox 18"/>
          <p:cNvSpPr txBox="1"/>
          <p:nvPr/>
        </p:nvSpPr>
        <p:spPr>
          <a:xfrm>
            <a:off x="9152915" y="24447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называть надо все три: одно число делает вывод за слушателя</a:t>
            </a:r>
          </a:p>
        </p:txBody>
      </p:sp>
      <p:sp>
        <p:nvSpPr>
          <p:cNvPr id="20" name="Rounded Rectangle 19"/>
          <p:cNvSpPr/>
          <p:nvPr/>
        </p:nvSpPr>
        <p:spPr>
          <a:xfrm>
            <a:off x="502920" y="3423583"/>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3560743"/>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СВОЯ ВИДЕОКАРТА В АРЕНДУ</a:t>
            </a:r>
          </a:p>
        </p:txBody>
      </p:sp>
      <p:sp>
        <p:nvSpPr>
          <p:cNvPr id="22" name="TextBox 21"/>
          <p:cNvSpPr txBox="1"/>
          <p:nvPr/>
        </p:nvSpPr>
        <p:spPr>
          <a:xfrm>
            <a:off x="640080" y="3813934"/>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≈$0,64 за тысячу изображений против $33,6 у программного доступа</a:t>
            </a:r>
          </a:p>
        </p:txBody>
      </p:sp>
      <p:sp>
        <p:nvSpPr>
          <p:cNvPr id="23" name="TextBox 22"/>
          <p:cNvSpPr txBox="1"/>
          <p:nvPr/>
        </p:nvSpPr>
        <p:spPr>
          <a:xfrm>
            <a:off x="640080" y="4240933"/>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30–50 раз дешевле — и три цены этой дешевизны в прейскурант не попадают</a:t>
            </a:r>
          </a:p>
        </p:txBody>
      </p:sp>
      <p:sp>
        <p:nvSpPr>
          <p:cNvPr id="24" name="Rounded Rectangle 23"/>
          <p:cNvSpPr/>
          <p:nvPr/>
        </p:nvSpPr>
        <p:spPr>
          <a:xfrm>
            <a:off x="374904" y="4680777"/>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772217"/>
            <a:ext cx="11112703" cy="14639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«Заказали и не подошло» — $50–150 и 1–3 дня, в России от 3 860 ₽. «Не стали пробовать вариант, который сработал бы» — по мировому рынку числом не названа ни разу.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Вправо уехал отбор: единицей учёта становится то, что ушло заказчику, а не то, что сгенерировано.</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171693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1,5 часа на одной RTX 3080 (16 ГБ, ноутбук)</a:t>
            </a:r>
          </a:p>
        </p:txBody>
      </p:sp>
      <p:sp>
        <p:nvSpPr>
          <p:cNvPr id="7" name="TextBox 6"/>
          <p:cNvSpPr txBox="1"/>
          <p:nvPr/>
        </p:nvSpPr>
        <p:spPr>
          <a:xfrm>
            <a:off x="640080" y="2373048"/>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265877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9593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2795930" y="1725375"/>
            <a:ext cx="171693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 уникальных плакатов за февраль</a:t>
            </a:r>
          </a:p>
        </p:txBody>
      </p:sp>
      <p:sp>
        <p:nvSpPr>
          <p:cNvPr id="11" name="TextBox 10"/>
          <p:cNvSpPr txBox="1"/>
          <p:nvPr/>
        </p:nvSpPr>
        <p:spPr>
          <a:xfrm>
            <a:off x="2795930" y="2169349"/>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48146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9517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4951780" y="1725375"/>
            <a:ext cx="171693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4951780" y="2576747"/>
            <a:ext cx="17169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502920" y="3519774"/>
            <a:ext cx="3069183" cy="2089001"/>
          </a:xfrm>
          <a:prstGeom prst="roundRect">
            <a:avLst>
              <a:gd name="adj" fmla="val 1459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640080" y="3910125"/>
            <a:ext cx="279486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две трети баннеров нужной кликабельности не дали</a:t>
            </a:r>
          </a:p>
        </p:txBody>
      </p:sp>
      <p:sp>
        <p:nvSpPr>
          <p:cNvPr id="19" name="TextBox 18"/>
          <p:cNvSpPr txBox="1"/>
          <p:nvPr/>
        </p:nvSpPr>
        <p:spPr>
          <a:xfrm>
            <a:off x="640080" y="4837884"/>
            <a:ext cx="27948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3736695" y="3519774"/>
            <a:ext cx="3069183" cy="2089001"/>
          </a:xfrm>
          <a:prstGeom prst="roundRect">
            <a:avLst>
              <a:gd name="adj" fmla="val 1459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873855"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3873855" y="3910125"/>
            <a:ext cx="27948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3873855" y="4337124"/>
            <a:ext cx="27948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374904" y="5700215"/>
            <a:ext cx="11441887" cy="535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791655"/>
            <a:ext cx="11112703" cy="444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Снято до разбора.</a:t>
            </a:r>
            <a:r>
              <a:rPr sz="1100" b="0" i="0">
                <a:solidFill>
                  <a:srgbClr val="21295C"/>
                </a:solidFill>
                <a:latin typeface="Arial"/>
              </a:rPr>
              <a:t> Отраслевой обзор утверждает, что редакция отказалась от стоков в пользу Kandinsky. В публикации нет ни того, ни другого: названы Midjourney и Stable Diffusion, и речь о баннерах.</a:t>
            </a:r>
          </a:p>
        </p:txBody>
      </p:sp>
      <p:sp>
        <p:nvSpPr>
          <p:cNvPr id="26" name="Rounded Rectangle 25"/>
          <p:cNvSpPr/>
          <p:nvPr/>
        </p:nvSpPr>
        <p:spPr>
          <a:xfrm>
            <a:off x="7116775" y="1335024"/>
            <a:ext cx="4572000" cy="2554477"/>
          </a:xfrm>
          <a:prstGeom prst="roundRect">
            <a:avLst>
              <a:gd name="adj" fmla="val 11931"/>
            </a:avLst>
          </a:prstGeom>
          <a:solidFill>
            <a:srgbClr val="F4F7FA"/>
          </a:solidFill>
          <a:ln w="19050">
            <a:solidFill>
              <a:srgbClr val="1C7293"/>
            </a:solidFill>
          </a:ln>
          <a:effectLst/>
        </p:spPr>
        <p:txBody>
          <a:bodyPr rtlCol="0" anchor="ctr"/>
          <a:lstStyle/>
          <a:p>
            <a:pPr algn="ctr"/>
          </a:p>
        </p:txBody>
      </p:sp>
      <p:pic>
        <p:nvPicPr>
          <p:cNvPr id="27" name="Picture 26" descr="s13-tj-oblozhka.png"/>
          <p:cNvPicPr>
            <a:picLocks noChangeAspect="1"/>
          </p:cNvPicPr>
          <p:nvPr/>
        </p:nvPicPr>
        <p:blipFill>
          <a:blip r:embed="rId2"/>
          <a:stretch>
            <a:fillRect/>
          </a:stretch>
        </p:blipFill>
        <p:spPr>
          <a:xfrm>
            <a:off x="7253935" y="1472184"/>
            <a:ext cx="4297680" cy="228015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ОБЫЧНЫЙ РАСЧЁТ И ПРОЕКТИРОВАНИЕ ПЕРЕГОРОДКИ</a:t>
            </a:r>
          </a:p>
        </p:txBody>
      </p:sp>
      <p:sp>
        <p:nvSpPr>
          <p:cNvPr id="6" name="TextBox 5"/>
          <p:cNvSpPr txBox="1"/>
          <p:nvPr/>
        </p:nvSpPr>
        <p:spPr>
          <a:xfrm>
            <a:off x="64008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982259"/>
            <a:ext cx="153405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247589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1305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261305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2613050" y="2982259"/>
            <a:ext cx="153405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4448860" y="1335024"/>
            <a:ext cx="1808378" cy="3613914"/>
          </a:xfrm>
          <a:prstGeom prst="roundRect">
            <a:avLst>
              <a:gd name="adj" fmla="val 1685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586020" y="1472184"/>
            <a:ext cx="153405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4586020" y="2347789"/>
            <a:ext cx="1534058"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до 465 000 тонн CO₂ в год</a:t>
            </a:r>
          </a:p>
        </p:txBody>
      </p:sp>
      <p:sp>
        <p:nvSpPr>
          <p:cNvPr id="15" name="TextBox 14"/>
          <p:cNvSpPr txBox="1"/>
          <p:nvPr/>
        </p:nvSpPr>
        <p:spPr>
          <a:xfrm>
            <a:off x="4586020" y="2910587"/>
            <a:ext cx="1534058"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374904" y="504037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131818"/>
            <a:ext cx="11112703" cy="1104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 проверяемое условие. Поэтому альтернатива ровно одна, и она посчитана в той же единице.</a:t>
            </a:r>
          </a:p>
        </p:txBody>
      </p:sp>
      <p:sp>
        <p:nvSpPr>
          <p:cNvPr id="18" name="Rounded Rectangle 17"/>
          <p:cNvSpPr/>
          <p:nvPr/>
        </p:nvSpPr>
        <p:spPr>
          <a:xfrm>
            <a:off x="6568135" y="1335024"/>
            <a:ext cx="5120640" cy="3509342"/>
          </a:xfrm>
          <a:prstGeom prst="roundRect">
            <a:avLst>
              <a:gd name="adj" fmla="val 8685"/>
            </a:avLst>
          </a:prstGeom>
          <a:solidFill>
            <a:srgbClr val="F4F7FA"/>
          </a:solidFill>
          <a:ln w="19050">
            <a:solidFill>
              <a:srgbClr val="1C7293"/>
            </a:solidFill>
          </a:ln>
          <a:effectLst/>
        </p:spPr>
        <p:txBody>
          <a:bodyPr rtlCol="0" anchor="ctr"/>
          <a:lstStyle/>
          <a:p>
            <a:pPr algn="ctr"/>
          </a:p>
        </p:txBody>
      </p:sp>
      <p:pic>
        <p:nvPicPr>
          <p:cNvPr id="19" name="Picture 18" descr="s14-airbus-peregorodka.jpg"/>
          <p:cNvPicPr>
            <a:picLocks noChangeAspect="1"/>
          </p:cNvPicPr>
          <p:nvPr/>
        </p:nvPicPr>
        <p:blipFill>
          <a:blip r:embed="rId2"/>
          <a:stretch>
            <a:fillRect/>
          </a:stretch>
        </p:blipFill>
        <p:spPr>
          <a:xfrm>
            <a:off x="6705295" y="1472184"/>
            <a:ext cx="4846320" cy="3235022"/>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Autodesk News, «Autodesk and Airbus: generative design in the aerospace factory»,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Условие отбора: уберите обученную модель и посмотрите, что останется</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ОБУЧЕННОЙ МОДЕЛИ В КОНТУРЕ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вовсе</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перебор десятков тысяч вариантов геометрии по заданному критерию — это оптимизация, а не обученная модель</a:t>
            </a:r>
          </a:p>
        </p:txBody>
      </p:sp>
      <p:sp>
        <p:nvSpPr>
          <p:cNvPr id="8" name="Rounded Rectangle 7"/>
          <p:cNvSpPr/>
          <p:nvPr/>
        </p:nvSpPr>
        <p:spPr>
          <a:xfrm>
            <a:off x="502920" y="2683657"/>
            <a:ext cx="5437479" cy="2781612"/>
          </a:xfrm>
          <a:prstGeom prst="roundRect">
            <a:avLst>
              <a:gd name="adj" fmla="val 1095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останется здесь</a:t>
            </a:r>
          </a:p>
        </p:txBody>
      </p:sp>
      <p:sp>
        <p:nvSpPr>
          <p:cNvPr id="10" name="TextBox 9"/>
          <p:cNvSpPr txBox="1"/>
          <p:nvPr/>
        </p:nvSpPr>
        <p:spPr>
          <a:xfrm>
            <a:off x="667512" y="3195284"/>
            <a:ext cx="5108295" cy="211453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по критерию — останется</a:t>
            </a:r>
          </a:p>
          <a:p>
            <a:pPr algn="l">
              <a:lnSpc>
                <a:spcPct val="126000"/>
              </a:lnSpc>
            </a:pPr>
            <a:r>
              <a:rPr sz="1450" b="0" i="0">
                <a:solidFill>
                  <a:srgbClr val="21295C"/>
                </a:solidFill>
                <a:latin typeface="Arial"/>
              </a:rPr>
              <a:t>• расчёт прочности — останется</a:t>
            </a:r>
          </a:p>
          <a:p>
            <a:pPr algn="l">
              <a:lnSpc>
                <a:spcPct val="126000"/>
              </a:lnSpc>
            </a:pPr>
            <a:r>
              <a:rPr sz="1450" b="0" i="0">
                <a:solidFill>
                  <a:srgbClr val="21295C"/>
                </a:solidFill>
                <a:latin typeface="Arial"/>
              </a:rPr>
              <a:t>• печать из сплава — останется</a:t>
            </a:r>
          </a:p>
          <a:p>
            <a:pPr algn="l">
              <a:lnSpc>
                <a:spcPct val="126000"/>
              </a:lnSpc>
            </a:pPr>
            <a:r>
              <a:rPr sz="1450" b="0" i="0">
                <a:solidFill>
                  <a:srgbClr val="21295C"/>
                </a:solidFill>
                <a:latin typeface="Arial"/>
              </a:rPr>
              <a:t>• выигрыш −45% массы — останется</a:t>
            </a:r>
          </a:p>
        </p:txBody>
      </p:sp>
      <p:sp>
        <p:nvSpPr>
          <p:cNvPr id="11" name="Rounded Rectangle 10"/>
          <p:cNvSpPr/>
          <p:nvPr/>
        </p:nvSpPr>
        <p:spPr>
          <a:xfrm>
            <a:off x="6251295" y="2683657"/>
            <a:ext cx="5437479" cy="2781612"/>
          </a:xfrm>
          <a:prstGeom prst="roundRect">
            <a:avLst>
              <a:gd name="adj" fmla="val 10957"/>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останется в соседнем разборе, где редакция дообучала модель</a:t>
            </a:r>
          </a:p>
        </p:txBody>
      </p:sp>
      <p:sp>
        <p:nvSpPr>
          <p:cNvPr id="13" name="TextBox 12"/>
          <p:cNvSpPr txBox="1"/>
          <p:nvPr/>
        </p:nvSpPr>
        <p:spPr>
          <a:xfrm>
            <a:off x="6415887" y="3441735"/>
            <a:ext cx="5108295" cy="186808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сорок картинок — останутся</a:t>
            </a:r>
          </a:p>
          <a:p>
            <a:pPr algn="l">
              <a:lnSpc>
                <a:spcPct val="126000"/>
              </a:lnSpc>
            </a:pPr>
            <a:r>
              <a:rPr sz="1450" b="0" i="0">
                <a:solidFill>
                  <a:srgbClr val="21295C"/>
                </a:solidFill>
                <a:latin typeface="Arial"/>
              </a:rPr>
              <a:t>• ноутбук — останется</a:t>
            </a:r>
          </a:p>
          <a:p>
            <a:pPr algn="l">
              <a:lnSpc>
                <a:spcPct val="126000"/>
              </a:lnSpc>
            </a:pPr>
            <a:r>
              <a:rPr sz="1450" b="0" i="0">
                <a:solidFill>
                  <a:srgbClr val="21295C"/>
                </a:solidFill>
                <a:latin typeface="Arial"/>
              </a:rPr>
              <a:t>• а 46 плакатов за месяц — нет</a:t>
            </a:r>
          </a:p>
          <a:p>
            <a:pPr algn="l">
              <a:lnSpc>
                <a:spcPct val="126000"/>
              </a:lnSpc>
            </a:pPr>
            <a:r>
              <a:rPr sz="1450" b="0" i="0">
                <a:solidFill>
                  <a:srgbClr val="21295C"/>
                </a:solidFill>
                <a:latin typeface="Arial"/>
              </a:rPr>
              <a:t>• условие отбора проходит</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Условие отбора: уберите обученную модель — если остальное продолжает работать, случай не засчитывается.</a:t>
            </a:r>
            <a:r>
              <a:rPr sz="1450" b="0" i="0">
                <a:solidFill>
                  <a:srgbClr val="21295C"/>
                </a:solidFill>
                <a:latin typeface="Arial"/>
              </a:rPr>
              <a:t> Там, где критерий задан физикой, спора об авторстве не возникает вовсе.</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725375"/>
            <a:ext cx="2398699"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461 у Kandinsky 6.0 Pro против 622 299 у FLUX.1-dev</a:t>
            </a:r>
          </a:p>
        </p:txBody>
      </p:sp>
      <p:sp>
        <p:nvSpPr>
          <p:cNvPr id="7" name="TextBox 6"/>
          <p:cNvSpPr txBox="1"/>
          <p:nvPr/>
        </p:nvSpPr>
        <p:spPr>
          <a:xfrm>
            <a:off x="640080" y="220329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3340531"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3477691"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FRIDA 597 351 · GigaAM v3 426 500</a:t>
            </a:r>
          </a:p>
        </p:txBody>
      </p:sp>
      <p:sp>
        <p:nvSpPr>
          <p:cNvPr id="11" name="TextBox 10"/>
          <p:cNvSpPr txBox="1"/>
          <p:nvPr/>
        </p:nvSpPr>
        <p:spPr>
          <a:xfrm>
            <a:off x="3477691" y="26484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6178143"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6315303" y="1932846"/>
            <a:ext cx="239869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196,42 ₽/$ против 80,49 у Центробанка</a:t>
            </a:r>
          </a:p>
        </p:txBody>
      </p:sp>
      <p:sp>
        <p:nvSpPr>
          <p:cNvPr id="15" name="TextBox 14"/>
          <p:cNvSpPr txBox="1"/>
          <p:nvPr/>
        </p:nvSpPr>
        <p:spPr>
          <a:xfrm>
            <a:off x="6315303" y="258051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9015755" y="1335024"/>
            <a:ext cx="2673019" cy="2016386"/>
          </a:xfrm>
          <a:prstGeom prst="roundRect">
            <a:avLst>
              <a:gd name="adj" fmla="val 1511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9152915"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3442850"/>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34290"/>
            <a:ext cx="11112703" cy="27019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отечественных сервиса дают противоположные права на один и тот же результат.</a:t>
            </a:r>
            <a:r>
              <a:rPr sz="1500" b="0" i="0">
                <a:solidFill>
                  <a:srgbClr val="21295C"/>
                </a:solidFill>
                <a:latin typeface="Arial"/>
              </a:rPr>
              <a:t> Один отдаёт исключительные права пользователю, второй оставляет их за собой. Разница между «можно выпускать» и «нельзя» читается только в пользовательском соглашении.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Семейств генерации два, и они решают разные задачи</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текст дискретен, изображение непрерывно</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конечному словарю естественно считать вероятности; непрерывный сигнал квантовать в словарь пробовали — проигрывало по качеству деталей</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КАРТИНКИ ДЛЯ АВТОРЕГРЕССИИ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1024×1024 в сыром виде — 3 145 728 чисел</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авторегрессия по точкам изображения на такой длине не живёт</a:t>
            </a:r>
          </a:p>
        </p:txBody>
      </p:sp>
      <p:sp>
        <p:nvSpPr>
          <p:cNvPr id="12" name="Rounded Rectangle 11"/>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3496568"/>
            <a:ext cx="1904572" cy="40161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3496568"/>
            <a:ext cx="161196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15" name="Rectangle 14"/>
          <p:cNvSpPr/>
          <p:nvPr/>
        </p:nvSpPr>
        <p:spPr>
          <a:xfrm>
            <a:off x="2444068" y="3496568"/>
            <a:ext cx="4947254" cy="40161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90372" y="3496568"/>
            <a:ext cx="46546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Авторегрессия</a:t>
            </a:r>
          </a:p>
        </p:txBody>
      </p:sp>
      <p:sp>
        <p:nvSpPr>
          <p:cNvPr id="17" name="Rectangle 16"/>
          <p:cNvSpPr/>
          <p:nvPr/>
        </p:nvSpPr>
        <p:spPr>
          <a:xfrm>
            <a:off x="7391322" y="3496568"/>
            <a:ext cx="4260876" cy="40161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37626" y="3496568"/>
            <a:ext cx="396826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Расшумление</a:t>
            </a:r>
          </a:p>
        </p:txBody>
      </p:sp>
      <p:sp>
        <p:nvSpPr>
          <p:cNvPr id="19" name="Rectangle 18"/>
          <p:cNvSpPr/>
          <p:nvPr/>
        </p:nvSpPr>
        <p:spPr>
          <a:xfrm>
            <a:off x="539496" y="3898180"/>
            <a:ext cx="1904572" cy="63863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898180"/>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Что предсказывает</a:t>
            </a:r>
          </a:p>
        </p:txBody>
      </p:sp>
      <p:sp>
        <p:nvSpPr>
          <p:cNvPr id="21" name="Rectangle 20"/>
          <p:cNvSpPr/>
          <p:nvPr/>
        </p:nvSpPr>
        <p:spPr>
          <a:xfrm>
            <a:off x="2444068" y="3898180"/>
            <a:ext cx="4947254" cy="638632"/>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2590372" y="3898180"/>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следующий токен — распределение на словаре ~200 тыс.</a:t>
            </a:r>
          </a:p>
        </p:txBody>
      </p:sp>
      <p:sp>
        <p:nvSpPr>
          <p:cNvPr id="23" name="Rectangle 22"/>
          <p:cNvSpPr/>
          <p:nvPr/>
        </p:nvSpPr>
        <p:spPr>
          <a:xfrm>
            <a:off x="7391322" y="3898180"/>
            <a:ext cx="4260876"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537626" y="3898180"/>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шум — вектор той же формы, что вход</a:t>
            </a:r>
          </a:p>
        </p:txBody>
      </p:sp>
      <p:sp>
        <p:nvSpPr>
          <p:cNvPr id="25" name="Rectangle 24"/>
          <p:cNvSpPr/>
          <p:nvPr/>
        </p:nvSpPr>
        <p:spPr>
          <a:xfrm>
            <a:off x="539496" y="4536812"/>
            <a:ext cx="1904572" cy="63863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4536812"/>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Сколько проходов</a:t>
            </a:r>
          </a:p>
        </p:txBody>
      </p:sp>
      <p:sp>
        <p:nvSpPr>
          <p:cNvPr id="27" name="Rectangle 26"/>
          <p:cNvSpPr/>
          <p:nvPr/>
        </p:nvSpPr>
        <p:spPr>
          <a:xfrm>
            <a:off x="2444068" y="4536812"/>
            <a:ext cx="4947254" cy="63863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590372" y="4536812"/>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столько, какова длина выхода</a:t>
            </a:r>
          </a:p>
        </p:txBody>
      </p:sp>
      <p:sp>
        <p:nvSpPr>
          <p:cNvPr id="29" name="Rectangle 28"/>
          <p:cNvSpPr/>
          <p:nvPr/>
        </p:nvSpPr>
        <p:spPr>
          <a:xfrm>
            <a:off x="7391322" y="4536812"/>
            <a:ext cx="4260876" cy="63863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537626" y="4536812"/>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сколько назначил сэмплер: от 1 до 50</a:t>
            </a:r>
          </a:p>
        </p:txBody>
      </p:sp>
      <p:sp>
        <p:nvSpPr>
          <p:cNvPr id="31" name="Rectangle 30"/>
          <p:cNvSpPr/>
          <p:nvPr/>
        </p:nvSpPr>
        <p:spPr>
          <a:xfrm>
            <a:off x="539496" y="5175445"/>
            <a:ext cx="1904572" cy="63863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5175445"/>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Умеет</a:t>
            </a:r>
          </a:p>
        </p:txBody>
      </p:sp>
      <p:sp>
        <p:nvSpPr>
          <p:cNvPr id="33" name="Rectangle 32"/>
          <p:cNvSpPr/>
          <p:nvPr/>
        </p:nvSpPr>
        <p:spPr>
          <a:xfrm>
            <a:off x="2444068" y="5175445"/>
            <a:ext cx="4947254" cy="63863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2590372" y="5175445"/>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произвольная длина, точная вероятность шага</a:t>
            </a:r>
          </a:p>
        </p:txBody>
      </p:sp>
      <p:sp>
        <p:nvSpPr>
          <p:cNvPr id="35" name="Rectangle 34"/>
          <p:cNvSpPr/>
          <p:nvPr/>
        </p:nvSpPr>
        <p:spPr>
          <a:xfrm>
            <a:off x="7391322" y="5175445"/>
            <a:ext cx="4260876" cy="63863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37626" y="5175445"/>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глобальная согласованность: видит весь объект</a:t>
            </a:r>
          </a:p>
        </p:txBody>
      </p:sp>
      <p:sp>
        <p:nvSpPr>
          <p:cNvPr id="37" name="Rectangle 36"/>
          <p:cNvSpPr/>
          <p:nvPr/>
        </p:nvSpPr>
        <p:spPr>
          <a:xfrm>
            <a:off x="539496" y="5814077"/>
            <a:ext cx="190457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5814077"/>
            <a:ext cx="161196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Не умеет</a:t>
            </a:r>
          </a:p>
        </p:txBody>
      </p:sp>
      <p:sp>
        <p:nvSpPr>
          <p:cNvPr id="39" name="Rectangle 38"/>
          <p:cNvSpPr/>
          <p:nvPr/>
        </p:nvSpPr>
        <p:spPr>
          <a:xfrm>
            <a:off x="2444068" y="5814077"/>
            <a:ext cx="4947254"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0372" y="5814077"/>
            <a:ext cx="465464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исправлять уже написанное</a:t>
            </a:r>
          </a:p>
        </p:txBody>
      </p:sp>
      <p:sp>
        <p:nvSpPr>
          <p:cNvPr id="41" name="Rectangle 40"/>
          <p:cNvSpPr/>
          <p:nvPr/>
        </p:nvSpPr>
        <p:spPr>
          <a:xfrm>
            <a:off x="7391322" y="5814077"/>
            <a:ext cx="4260876"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37626" y="5814077"/>
            <a:ext cx="396826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выдать вероятность конкретной картинки</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Прямой процесс портит, обратный восстанавливает</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ПАРАЛЛЕЛЬ С ЯЗЫКОВОЙ МОДЕЛЬЮ КОНЧАЕТСЯ</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выходе вектор той же формы, что вход — нормировки нет, вероятности нет</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генератора изображений нет и не может быть логарифмической вероятности ответа и вытекающей из неё меры уверенности</a:t>
            </a:r>
          </a:p>
        </p:txBody>
      </p:sp>
      <p:sp>
        <p:nvSpPr>
          <p:cNvPr id="8" name="TextBox 7"/>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Прямой — портит</a:t>
            </a:r>
          </a:p>
        </p:txBody>
      </p:sp>
      <p:sp>
        <p:nvSpPr>
          <p:cNvPr id="9" name="Rounded Rectangle 8"/>
          <p:cNvSpPr/>
          <p:nvPr/>
        </p:nvSpPr>
        <p:spPr>
          <a:xfrm>
            <a:off x="1920240"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настоящая картинка</a:t>
            </a:r>
          </a:p>
        </p:txBody>
      </p:sp>
      <p:sp>
        <p:nvSpPr>
          <p:cNvPr id="11" name="Right Arrow 10"/>
          <p:cNvSpPr/>
          <p:nvPr/>
        </p:nvSpPr>
        <p:spPr>
          <a:xfrm>
            <a:off x="4202353" y="3362022"/>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4430953"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4513249"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подмешали немного шума</a:t>
            </a:r>
          </a:p>
        </p:txBody>
      </p:sp>
      <p:sp>
        <p:nvSpPr>
          <p:cNvPr id="14" name="Right Arrow 13"/>
          <p:cNvSpPr/>
          <p:nvPr/>
        </p:nvSpPr>
        <p:spPr>
          <a:xfrm>
            <a:off x="6713067" y="3362022"/>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6941667"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7023963"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подмешали ещё</a:t>
            </a:r>
          </a:p>
        </p:txBody>
      </p:sp>
      <p:sp>
        <p:nvSpPr>
          <p:cNvPr id="17" name="Right Arrow 16"/>
          <p:cNvSpPr/>
          <p:nvPr/>
        </p:nvSpPr>
        <p:spPr>
          <a:xfrm>
            <a:off x="9223781" y="3362022"/>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9452381"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9534677"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a:t>
            </a:r>
          </a:p>
        </p:txBody>
      </p:sp>
      <p:sp>
        <p:nvSpPr>
          <p:cNvPr id="20" name="TextBox 19"/>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Обратный: убирает шум</a:t>
            </a:r>
          </a:p>
        </p:txBody>
      </p:sp>
      <p:sp>
        <p:nvSpPr>
          <p:cNvPr id="21" name="Rounded Rectangle 20"/>
          <p:cNvSpPr/>
          <p:nvPr/>
        </p:nvSpPr>
        <p:spPr>
          <a:xfrm>
            <a:off x="1920240"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a:t>
            </a:r>
          </a:p>
        </p:txBody>
      </p:sp>
      <p:sp>
        <p:nvSpPr>
          <p:cNvPr id="23" name="Right Arrow 22"/>
          <p:cNvSpPr/>
          <p:nvPr/>
        </p:nvSpPr>
        <p:spPr>
          <a:xfrm>
            <a:off x="4202353" y="422136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сеть: «вот этот шум я тут вижу»</a:t>
            </a:r>
          </a:p>
        </p:txBody>
      </p:sp>
      <p:sp>
        <p:nvSpPr>
          <p:cNvPr id="26" name="Right Arrow 25"/>
          <p:cNvSpPr/>
          <p:nvPr/>
        </p:nvSpPr>
        <p:spPr>
          <a:xfrm>
            <a:off x="6713067" y="4221367"/>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вычли, получили приближение</a:t>
            </a:r>
          </a:p>
        </p:txBody>
      </p:sp>
      <p:sp>
        <p:nvSpPr>
          <p:cNvPr id="29" name="Right Arrow 28"/>
          <p:cNvSpPr/>
          <p:nvPr/>
        </p:nvSpPr>
        <p:spPr>
          <a:xfrm>
            <a:off x="9223781" y="4221367"/>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картинка</a:t>
            </a:r>
          </a:p>
        </p:txBody>
      </p:sp>
      <p:sp>
        <p:nvSpPr>
          <p:cNvPr id="32" name="TextBox 31"/>
          <p:cNvSpPr txBox="1"/>
          <p:nvPr/>
        </p:nvSpPr>
        <p:spPr>
          <a:xfrm>
            <a:off x="502920" y="468304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шума слева направо и обратно. До любого шага прямого процесса можно прыгнуть сразу: обучаемых параметров в нём ноль</a:t>
            </a:r>
          </a:p>
        </p:txBody>
      </p:sp>
      <p:sp>
        <p:nvSpPr>
          <p:cNvPr id="33" name="Rounded Rectangle 32"/>
          <p:cNvSpPr/>
          <p:nvPr/>
        </p:nvSpPr>
        <p:spPr>
          <a:xfrm>
            <a:off x="374904" y="4985728"/>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077168"/>
            <a:ext cx="11112703" cy="11590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именно предсказывает сеть — три варианта, и их названия встречаются в настройках любого открытого инструмента.</a:t>
            </a:r>
            <a:r>
              <a:rPr sz="1500" b="0" i="0">
                <a:solidFill>
                  <a:srgbClr val="21295C"/>
                </a:solidFill>
                <a:latin typeface="Arial"/>
              </a:rPr>
              <a:t> Шум — вырождается на малом шуме. Исходную картинку — вырождается на большом. Скорость — комбинация обоих, содержательная цель на всём диапазоне, и поэтому победила.</a:t>
            </a: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Лестница числа шагов: 1000 → 4</a:t>
            </a:r>
          </a:p>
        </p:txBody>
      </p:sp>
      <p:sp>
        <p:nvSpPr>
          <p:cNvPr id="4" name="Rounded Rectangle 3"/>
          <p:cNvSpPr/>
          <p:nvPr/>
        </p:nvSpPr>
        <p:spPr>
          <a:xfrm>
            <a:off x="502920"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FLUX.1 DEV, 1024×1024</a:t>
            </a:r>
          </a:p>
        </p:txBody>
      </p:sp>
      <p:sp>
        <p:nvSpPr>
          <p:cNvPr id="6" name="TextBox 5"/>
          <p:cNvSpPr txBox="1"/>
          <p:nvPr/>
        </p:nvSpPr>
        <p:spPr>
          <a:xfrm>
            <a:off x="640080" y="1932846"/>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 шагов × 2 прохода на шаг ради CFG = 100 проходов сети</a:t>
            </a:r>
          </a:p>
        </p:txBody>
      </p:sp>
      <p:sp>
        <p:nvSpPr>
          <p:cNvPr id="7" name="TextBox 6"/>
          <p:cNvSpPr txBox="1"/>
          <p:nvPr/>
        </p:nvSpPr>
        <p:spPr>
          <a:xfrm>
            <a:off x="640080" y="23768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≈20 секунд на RTX 4090</a:t>
            </a:r>
          </a:p>
        </p:txBody>
      </p:sp>
      <p:sp>
        <p:nvSpPr>
          <p:cNvPr id="8" name="Rounded Rectangle 7"/>
          <p:cNvSpPr/>
          <p:nvPr/>
        </p:nvSpPr>
        <p:spPr>
          <a:xfrm>
            <a:off x="3340531"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FLUX.1 SCHNELL, ТА ЖЕ СЕТЬ ПО РАЗМЕРУ</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шага × 1 проход, обусловливание дистиллировано = 4 прохода</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≈3 секунды на той же карте</a:t>
            </a:r>
          </a:p>
        </p:txBody>
      </p:sp>
      <p:sp>
        <p:nvSpPr>
          <p:cNvPr id="12" name="Rounded Rectangle 11"/>
          <p:cNvSpPr/>
          <p:nvPr/>
        </p:nvSpPr>
        <p:spPr>
          <a:xfrm>
            <a:off x="6178143" y="1335024"/>
            <a:ext cx="2673019" cy="2529405"/>
          </a:xfrm>
          <a:prstGeom prst="roundRect">
            <a:avLst>
              <a:gd name="adj" fmla="val 120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в двадцать пять раз при том же размере сети</a:t>
            </a:r>
          </a:p>
        </p:txBody>
      </p:sp>
      <p:sp>
        <p:nvSpPr>
          <p:cNvPr id="15" name="TextBox 14"/>
          <p:cNvSpPr txBox="1"/>
          <p:nvPr/>
        </p:nvSpPr>
        <p:spPr>
          <a:xfrm>
            <a:off x="6315303" y="288229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расчётная; на измерении — ≈6,7 раза, расхождение от худшей загрузки карты при малом числе шагов</a:t>
            </a:r>
          </a:p>
        </p:txBody>
      </p:sp>
      <p:sp>
        <p:nvSpPr>
          <p:cNvPr id="16" name="Rounded Rectangle 15"/>
          <p:cNvSpPr/>
          <p:nvPr/>
        </p:nvSpPr>
        <p:spPr>
          <a:xfrm>
            <a:off x="9015755"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ЗАПЛАЧЕНО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разнообразием выхода</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ученик сходится к усреднённому хорошему ответу учителя: десять стартовых шумов дают похожие картинки</a:t>
            </a:r>
          </a:p>
        </p:txBody>
      </p:sp>
      <p:sp>
        <p:nvSpPr>
          <p:cNvPr id="20" name="Rounded Rectangle 19"/>
          <p:cNvSpPr/>
          <p:nvPr/>
        </p:nvSpPr>
        <p:spPr>
          <a:xfrm>
            <a:off x="502920" y="4047309"/>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94360" y="4093029"/>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1000 — DDPM, 2020</a:t>
            </a:r>
          </a:p>
        </p:txBody>
      </p:sp>
      <p:sp>
        <p:nvSpPr>
          <p:cNvPr id="22" name="Rounded Rectangle 21"/>
          <p:cNvSpPr/>
          <p:nvPr/>
        </p:nvSpPr>
        <p:spPr>
          <a:xfrm>
            <a:off x="2762036" y="4248477"/>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853476" y="4294197"/>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20–100 — DDIM, 2020</a:t>
            </a:r>
          </a:p>
        </p:txBody>
      </p:sp>
      <p:sp>
        <p:nvSpPr>
          <p:cNvPr id="24" name="Rounded Rectangle 23"/>
          <p:cNvSpPr/>
          <p:nvPr/>
        </p:nvSpPr>
        <p:spPr>
          <a:xfrm>
            <a:off x="5021153" y="4449645"/>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112593" y="449536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10–20 — DPM-Solver, 2022</a:t>
            </a:r>
          </a:p>
        </p:txBody>
      </p:sp>
      <p:sp>
        <p:nvSpPr>
          <p:cNvPr id="26" name="Rounded Rectangle 25"/>
          <p:cNvSpPr/>
          <p:nvPr/>
        </p:nvSpPr>
        <p:spPr>
          <a:xfrm>
            <a:off x="7280269" y="4650813"/>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371709" y="4696533"/>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2–4 — согласованность</a:t>
            </a:r>
          </a:p>
        </p:txBody>
      </p:sp>
      <p:sp>
        <p:nvSpPr>
          <p:cNvPr id="28" name="Rounded Rectangle 27"/>
          <p:cNvSpPr/>
          <p:nvPr/>
        </p:nvSpPr>
        <p:spPr>
          <a:xfrm>
            <a:off x="9539386" y="4851981"/>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9630826" y="4897701"/>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1–4 — состязательная</a:t>
            </a:r>
          </a:p>
        </p:txBody>
      </p:sp>
      <p:sp>
        <p:nvSpPr>
          <p:cNvPr id="30" name="Rounded Rectangle 29"/>
          <p:cNvSpPr/>
          <p:nvPr/>
        </p:nvSpPr>
        <p:spPr>
          <a:xfrm>
            <a:off x="374904" y="5638175"/>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729615"/>
            <a:ext cx="11112703" cy="50659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Первые три ступени не трогают веса — это смена численного метода. Последние две меняют.</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соавт., 2020</a:t>
            </a:r>
            <a:r>
              <a:rPr sz="1200" b="0" i="1">
                <a:solidFill>
                  <a:srgbClr val="1C7293"/>
                </a:solidFill>
                <a:latin typeface="Arial"/>
              </a:rPr>
              <a:t> · </a:t>
            </a:r>
            <a:r>
              <a:rPr sz="1200" b="0" i="1">
                <a:solidFill>
                  <a:srgbClr val="1C7293"/>
                </a:solidFill>
                <a:latin typeface="Arial"/>
              </a:rPr>
              <a:t>Song, Meng, Ermon, 2020</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Lu и соавт., 2022</a:t>
            </a:r>
            <a:r>
              <a:rPr sz="1200" b="0" i="1">
                <a:solidFill>
                  <a:srgbClr val="1C7293"/>
                </a:solidFill>
                <a:latin typeface="Arial"/>
              </a:rPr>
              <a:t> · </a:t>
            </a:r>
            <a:r>
              <a:rPr sz="1200" b="0" i="1">
                <a:solidFill>
                  <a:srgbClr val="1C7293"/>
                </a:solidFill>
                <a:latin typeface="Arial"/>
              </a:rPr>
              <a:t>Zhao и соавт., 2023</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пиксели: 1024 · 1024 · 3 = 3 145 728 чисел</a:t>
            </a:r>
          </a:p>
        </p:txBody>
      </p:sp>
      <p:sp>
        <p:nvSpPr>
          <p:cNvPr id="18" name="Right Arrow 17"/>
          <p:cNvSpPr/>
          <p:nvPr/>
        </p:nvSpPr>
        <p:spPr>
          <a:xfrm>
            <a:off x="4094378" y="399198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16 каналов: 128 · 128 · 16 = 262 144 числа</a:t>
            </a:r>
          </a:p>
        </p:txBody>
      </p:sp>
      <p:sp>
        <p:nvSpPr>
          <p:cNvPr id="21" name="Right Arrow 20"/>
          <p:cNvSpPr/>
          <p:nvPr/>
        </p:nvSpPr>
        <p:spPr>
          <a:xfrm>
            <a:off x="7914436" y="399198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трансформера, патч 2×2: 64 · 64 = 4 096 токенов</a:t>
            </a:r>
          </a:p>
        </p:txBody>
      </p:sp>
      <p:sp>
        <p:nvSpPr>
          <p:cNvPr id="24" name="TextBox 23"/>
          <p:cNvSpPr txBox="1"/>
          <p:nvPr/>
        </p:nvSpPr>
        <p:spPr>
          <a:xfrm>
            <a:off x="502920" y="445365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475634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47780"/>
            <a:ext cx="11112703" cy="13884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Квадратичность никуда не делась.</a:t>
            </a:r>
            <a:r>
              <a:rPr sz="150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Описание — постоянное условие на всех шагах, истории нет</a:t>
            </a:r>
          </a:p>
        </p:txBody>
      </p:sp>
      <p:sp>
        <p:nvSpPr>
          <p:cNvPr id="4" name="Rounded Rectangle 3"/>
          <p:cNvSpPr/>
          <p:nvPr/>
        </p:nvSpPr>
        <p:spPr>
          <a:xfrm>
            <a:off x="502920" y="1335024"/>
            <a:ext cx="3618890" cy="2604850"/>
          </a:xfrm>
          <a:prstGeom prst="roundRect">
            <a:avLst>
              <a:gd name="adj" fmla="val 1170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РАСХОЖДЕНИЕ, НАЗВАННОЕ ПРЯМО</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истории нет вообще</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 постоянное условие, неизменное на всех пятидесяти шагах; накопления нет, места «рядом с вопросом» нет</a:t>
            </a:r>
          </a:p>
        </p:txBody>
      </p:sp>
      <p:sp>
        <p:nvSpPr>
          <p:cNvPr id="8" name="Rounded Rectangle 7"/>
          <p:cNvSpPr/>
          <p:nvPr/>
        </p:nvSpPr>
        <p:spPr>
          <a:xfrm>
            <a:off x="4286402"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ТЕКСТОВЫЙ КОДИРОВЩИК — ЧУЖАЯ ЗАМОРОЖЕННАЯ МОДЕЛЬ ВНУТРИ ГЕНЕРАТОРА</a:t>
            </a:r>
          </a:p>
        </p:txBody>
      </p:sp>
      <p:sp>
        <p:nvSpPr>
          <p:cNvPr id="10" name="TextBox 9"/>
          <p:cNvSpPr txBox="1"/>
          <p:nvPr/>
        </p:nvSpPr>
        <p:spPr>
          <a:xfrm>
            <a:off x="4423562" y="2140317"/>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11" name="TextBox 10"/>
          <p:cNvSpPr txBox="1"/>
          <p:nvPr/>
        </p:nvSpPr>
        <p:spPr>
          <a:xfrm>
            <a:off x="4423562" y="295774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конвейер снова собран из независимо обученных частей: автокодировщик плюс кодировщики текста плюс сама диффузионная сеть</a:t>
            </a:r>
          </a:p>
        </p:txBody>
      </p:sp>
      <p:sp>
        <p:nvSpPr>
          <p:cNvPr id="12" name="Rounded Rectangle 11"/>
          <p:cNvSpPr/>
          <p:nvPr/>
        </p:nvSpPr>
        <p:spPr>
          <a:xfrm>
            <a:off x="8069884"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ИЗМЕРЕННОЕ СЛЕДСТВИЕ</a:t>
            </a:r>
          </a:p>
        </p:txBody>
      </p:sp>
      <p:sp>
        <p:nvSpPr>
          <p:cNvPr id="14" name="TextBox 13"/>
          <p:cNvSpPr txBox="1"/>
          <p:nvPr/>
        </p:nvSpPr>
        <p:spPr>
          <a:xfrm>
            <a:off x="8207044" y="1725375"/>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увеличение текстового кодировщика даёт больший прирост, чем увеличение самой диффузионной сети</a:t>
            </a:r>
          </a:p>
        </p:txBody>
      </p:sp>
      <p:sp>
        <p:nvSpPr>
          <p:cNvPr id="15" name="TextBox 14"/>
          <p:cNvSpPr txBox="1"/>
          <p:nvPr/>
        </p:nvSpPr>
        <p:spPr>
          <a:xfrm>
            <a:off x="8207044" y="239851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T5-XXL оплачивает ровно две вещи: длинные сложные инструкции и текст внутри картинки</a:t>
            </a:r>
          </a:p>
        </p:txBody>
      </p:sp>
      <p:sp>
        <p:nvSpPr>
          <p:cNvPr id="16" name="TextBox 15"/>
          <p:cNvSpPr txBox="1"/>
          <p:nvPr/>
        </p:nvSpPr>
        <p:spPr>
          <a:xfrm>
            <a:off x="502920" y="415933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U-Net, SD 1.x–SDXL</a:t>
            </a:r>
          </a:p>
        </p:txBody>
      </p:sp>
      <p:sp>
        <p:nvSpPr>
          <p:cNvPr id="17" name="Rounded Rectangle 16"/>
          <p:cNvSpPr/>
          <p:nvPr/>
        </p:nvSpPr>
        <p:spPr>
          <a:xfrm>
            <a:off x="1920240"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Q ← латент картинки</a:t>
            </a:r>
          </a:p>
        </p:txBody>
      </p:sp>
      <p:sp>
        <p:nvSpPr>
          <p:cNvPr id="19" name="Rounded Rectangle 18"/>
          <p:cNvSpPr/>
          <p:nvPr/>
        </p:nvSpPr>
        <p:spPr>
          <a:xfrm>
            <a:off x="439894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8124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K, V ← токены описания</a:t>
            </a:r>
          </a:p>
        </p:txBody>
      </p:sp>
      <p:sp>
        <p:nvSpPr>
          <p:cNvPr id="21" name="Rounded Rectangle 20"/>
          <p:cNvSpPr/>
          <p:nvPr/>
        </p:nvSpPr>
        <p:spPr>
          <a:xfrm>
            <a:off x="687765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95995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4 096 × 77 слов</a:t>
            </a:r>
          </a:p>
        </p:txBody>
      </p:sp>
      <p:sp>
        <p:nvSpPr>
          <p:cNvPr id="23" name="Rounded Rectangle 22"/>
          <p:cNvSpPr/>
          <p:nvPr/>
        </p:nvSpPr>
        <p:spPr>
          <a:xfrm>
            <a:off x="935636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43866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её можно отрисовать</a:t>
            </a:r>
          </a:p>
        </p:txBody>
      </p:sp>
      <p:sp>
        <p:nvSpPr>
          <p:cNvPr id="25" name="TextBox 24"/>
          <p:cNvSpPr txBox="1"/>
          <p:nvPr/>
        </p:nvSpPr>
        <p:spPr>
          <a:xfrm>
            <a:off x="502920" y="501867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MMDiT, SD3 и FLUX</a:t>
            </a:r>
          </a:p>
        </p:txBody>
      </p:sp>
      <p:sp>
        <p:nvSpPr>
          <p:cNvPr id="26" name="Rounded Rectangle 25"/>
          <p:cNvSpPr/>
          <p:nvPr/>
        </p:nvSpPr>
        <p:spPr>
          <a:xfrm>
            <a:off x="1920240"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и картинка вместе</a:t>
            </a:r>
          </a:p>
        </p:txBody>
      </p:sp>
      <p:sp>
        <p:nvSpPr>
          <p:cNvPr id="28" name="Rounded Rectangle 27"/>
          <p:cNvSpPr/>
          <p:nvPr/>
        </p:nvSpPr>
        <p:spPr>
          <a:xfrm>
            <a:off x="439894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48124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внимание в обе стороны</a:t>
            </a:r>
          </a:p>
        </p:txBody>
      </p:sp>
      <p:sp>
        <p:nvSpPr>
          <p:cNvPr id="30" name="Rounded Rectangle 29"/>
          <p:cNvSpPr/>
          <p:nvPr/>
        </p:nvSpPr>
        <p:spPr>
          <a:xfrm>
            <a:off x="687765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95995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4 608 × 4 608</a:t>
            </a:r>
          </a:p>
        </p:txBody>
      </p:sp>
      <p:sp>
        <p:nvSpPr>
          <p:cNvPr id="32" name="Rounded Rectangle 31"/>
          <p:cNvSpPr/>
          <p:nvPr/>
        </p:nvSpPr>
        <p:spPr>
          <a:xfrm>
            <a:off x="935636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943866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смотрит на картинку</a:t>
            </a:r>
          </a:p>
        </p:txBody>
      </p:sp>
      <p:sp>
        <p:nvSpPr>
          <p:cNvPr id="34" name="Rounded Rectangle 33"/>
          <p:cNvSpPr/>
          <p:nvPr/>
        </p:nvSpPr>
        <p:spPr>
          <a:xfrm>
            <a:off x="374904" y="5786581"/>
            <a:ext cx="11441887" cy="44962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878021"/>
            <a:ext cx="11112703" cy="35818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механизм Q/K/V: «Q про текущий шаг, K и V про контекст» превращается в «Q про картинку, K и V про текст».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в поколении U-Net</a:t>
            </a:r>
            <a:r>
              <a:rPr sz="1200" b="0" i="1">
                <a:solidFill>
                  <a:srgbClr val="1C7293"/>
                </a:solidFill>
                <a:latin typeface="Arial"/>
              </a:rPr>
              <a:t> · </a:t>
            </a:r>
            <a:r>
              <a:rPr sz="1200" b="0" i="1">
                <a:solidFill>
                  <a:srgbClr val="1C7293"/>
                </a:solidFill>
                <a:latin typeface="Arial"/>
              </a:rPr>
              <a:t>совместное внимание MMDiT, техническая статья SD3, 2024</a:t>
            </a:r>
            <a:r>
              <a:rPr sz="1200" b="0" i="1">
                <a:solidFill>
                  <a:srgbClr val="1C7293"/>
                </a:solidFill>
                <a:latin typeface="Arial"/>
              </a:rPr>
              <a:t> · </a:t>
            </a:r>
            <a:r>
              <a:rPr sz="1200" b="0" i="1">
                <a:solidFill>
                  <a:srgbClr val="1C7293"/>
                </a:solidFill>
                <a:latin typeface="Arial"/>
              </a:rPr>
              <a:t>Imagen, 2022 — о роли текстового кодировщика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CFG — это не температура</a:t>
            </a:r>
          </a:p>
        </p:txBody>
      </p:sp>
      <p:sp>
        <p:nvSpPr>
          <p:cNvPr id="4" name="Rounded Rectangle 3"/>
          <p:cNvSpPr/>
          <p:nvPr/>
        </p:nvSpPr>
        <p:spPr>
          <a:xfrm>
            <a:off x="502920"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ОБУЧЕНИИ</a:t>
            </a:r>
          </a:p>
        </p:txBody>
      </p:sp>
      <p:sp>
        <p:nvSpPr>
          <p:cNvPr id="6" name="TextBox 5"/>
          <p:cNvSpPr txBox="1"/>
          <p:nvPr/>
        </p:nvSpPr>
        <p:spPr>
          <a:xfrm>
            <a:off x="640080" y="1725375"/>
            <a:ext cx="3344570"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примерно в 10% случаев описание заменяют пустой строкой</a:t>
            </a:r>
          </a:p>
        </p:txBody>
      </p:sp>
      <p:sp>
        <p:nvSpPr>
          <p:cNvPr id="7" name="TextBox 6"/>
          <p:cNvSpPr txBox="1"/>
          <p:nvPr/>
        </p:nvSpPr>
        <p:spPr>
          <a:xfrm>
            <a:off x="640080" y="22542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сеть умеет оба режима — условный и безусловный</a:t>
            </a:r>
          </a:p>
        </p:txBody>
      </p:sp>
      <p:sp>
        <p:nvSpPr>
          <p:cNvPr id="8" name="Rounded Rectangle 7"/>
          <p:cNvSpPr/>
          <p:nvPr/>
        </p:nvSpPr>
        <p:spPr>
          <a:xfrm>
            <a:off x="4286402"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ЗАПУСКЕ</a:t>
            </a:r>
          </a:p>
        </p:txBody>
      </p:sp>
      <p:sp>
        <p:nvSpPr>
          <p:cNvPr id="10" name="TextBox 9"/>
          <p:cNvSpPr txBox="1"/>
          <p:nvPr/>
        </p:nvSpPr>
        <p:spPr>
          <a:xfrm>
            <a:off x="4423562"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сеть вызывают дважды — с описанием и без, результаты экстраполируют</a:t>
            </a:r>
          </a:p>
        </p:txBody>
      </p:sp>
      <p:sp>
        <p:nvSpPr>
          <p:cNvPr id="11" name="TextBox 10"/>
          <p:cNvSpPr txBox="1"/>
          <p:nvPr/>
        </p:nvSpPr>
        <p:spPr>
          <a:xfrm>
            <a:off x="4423562" y="26785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типичные значения: SD 1.5 — 7–8, SDXL — 5–8, SD3 — 4–5, FLUX.1 dev — 3,5</a:t>
            </a:r>
          </a:p>
        </p:txBody>
      </p:sp>
      <p:sp>
        <p:nvSpPr>
          <p:cNvPr id="12" name="Rounded Rectangle 11"/>
          <p:cNvSpPr/>
          <p:nvPr/>
        </p:nvSpPr>
        <p:spPr>
          <a:xfrm>
            <a:off x="8069884" y="1335024"/>
            <a:ext cx="3618890" cy="2576558"/>
          </a:xfrm>
          <a:prstGeom prst="roundRect">
            <a:avLst>
              <a:gd name="adj" fmla="val 1182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НАСТОЯЩИЙ АНАЛОГ ТЕМПЕРАТУРЫ ЗДЕСЬ</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стартовый шум плюс стохастичность сэмплера</a:t>
            </a:r>
          </a:p>
        </p:txBody>
      </p:sp>
      <p:sp>
        <p:nvSpPr>
          <p:cNvPr id="15" name="TextBox 14"/>
          <p:cNvSpPr txBox="1"/>
          <p:nvPr/>
        </p:nvSpPr>
        <p:spPr>
          <a:xfrm>
            <a:off x="8207044" y="314069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они отвечают за то, насколько разные выходы получаются при одном запросе</a:t>
            </a:r>
          </a:p>
        </p:txBody>
      </p:sp>
      <p:sp>
        <p:nvSpPr>
          <p:cNvPr id="16" name="Rounded Rectangle 15"/>
          <p:cNvSpPr/>
          <p:nvPr/>
        </p:nvSpPr>
        <p:spPr>
          <a:xfrm>
            <a:off x="502920" y="4094462"/>
            <a:ext cx="5437479" cy="2141745"/>
          </a:xfrm>
          <a:prstGeom prst="roundRect">
            <a:avLst>
              <a:gd name="adj" fmla="val 1423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4991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Температура</a:t>
            </a:r>
          </a:p>
        </p:txBody>
      </p:sp>
      <p:sp>
        <p:nvSpPr>
          <p:cNvPr id="18" name="TextBox 17"/>
          <p:cNvSpPr txBox="1"/>
          <p:nvPr/>
        </p:nvSpPr>
        <p:spPr>
          <a:xfrm>
            <a:off x="667512" y="4606089"/>
            <a:ext cx="5108295" cy="147467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Что делает с мнением модели: ничего. Порядок кандидатов не меняется никогда; это делитель логитов, он перекраивает остроту уже посчитанного распределения</a:t>
            </a:r>
          </a:p>
          <a:p>
            <a:pPr algn="l">
              <a:lnSpc>
                <a:spcPct val="126000"/>
              </a:lnSpc>
            </a:pPr>
            <a:r>
              <a:rPr sz="1200" b="0" i="0">
                <a:solidFill>
                  <a:srgbClr val="21295C"/>
                </a:solidFill>
                <a:latin typeface="Arial"/>
              </a:rPr>
              <a:t>• Направление: рост → больше случайности, меньше предсказуемости</a:t>
            </a:r>
          </a:p>
          <a:p>
            <a:pPr algn="l">
              <a:lnSpc>
                <a:spcPct val="126000"/>
              </a:lnSpc>
            </a:pPr>
            <a:r>
              <a:rPr sz="1200" b="0" i="0">
                <a:solidFill>
                  <a:srgbClr val="21295C"/>
                </a:solidFill>
                <a:latin typeface="Arial"/>
              </a:rPr>
              <a:t>• Цена вычислений: ноль — одно деление над готовыми логитами</a:t>
            </a:r>
          </a:p>
          <a:p>
            <a:pPr algn="l">
              <a:lnSpc>
                <a:spcPct val="126000"/>
              </a:lnSpc>
            </a:pPr>
            <a:r>
              <a:rPr sz="1200" b="0" i="0">
                <a:solidFill>
                  <a:srgbClr val="21295C"/>
                </a:solidFill>
                <a:latin typeface="Arial"/>
              </a:rPr>
              <a:t>• Где сидит случайность: в работе сэмплера, на каждом шаге</a:t>
            </a:r>
          </a:p>
        </p:txBody>
      </p:sp>
      <p:sp>
        <p:nvSpPr>
          <p:cNvPr id="19" name="Rounded Rectangle 18"/>
          <p:cNvSpPr/>
          <p:nvPr/>
        </p:nvSpPr>
        <p:spPr>
          <a:xfrm>
            <a:off x="6251295" y="4094462"/>
            <a:ext cx="5437479" cy="2141745"/>
          </a:xfrm>
          <a:prstGeom prst="roundRect">
            <a:avLst>
              <a:gd name="adj" fmla="val 1423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4991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CFG</a:t>
            </a:r>
          </a:p>
        </p:txBody>
      </p:sp>
      <p:sp>
        <p:nvSpPr>
          <p:cNvPr id="21" name="TextBox 20"/>
          <p:cNvSpPr txBox="1"/>
          <p:nvPr/>
        </p:nvSpPr>
        <p:spPr>
          <a:xfrm>
            <a:off x="6415887" y="4606089"/>
            <a:ext cx="5108295" cy="1474670"/>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Меняет само предсказание. Экстраполирует за пределы того, что сеть выдала: при w = 7 итоговый вектор лежит там, где модель не предсказывала ничего</a:t>
            </a:r>
          </a:p>
          <a:p>
            <a:pPr algn="l">
              <a:lnSpc>
                <a:spcPct val="126000"/>
              </a:lnSpc>
            </a:pPr>
            <a:r>
              <a:rPr sz="1050" b="0" i="0">
                <a:solidFill>
                  <a:srgbClr val="21295C"/>
                </a:solidFill>
                <a:latin typeface="Arial"/>
              </a:rPr>
              <a:t>• Направление: рост → МЕНЬШЕ разнообразия, сильнее следование описанию. Противоположное</a:t>
            </a:r>
          </a:p>
          <a:p>
            <a:pPr algn="l">
              <a:lnSpc>
                <a:spcPct val="126000"/>
              </a:lnSpc>
            </a:pPr>
            <a:r>
              <a:rPr sz="1050" b="0" i="0">
                <a:solidFill>
                  <a:srgbClr val="21295C"/>
                </a:solidFill>
                <a:latin typeface="Arial"/>
              </a:rPr>
              <a:t>• Цена вычислений: два прохода сети на каждом шаге</a:t>
            </a:r>
          </a:p>
          <a:p>
            <a:pPr algn="l">
              <a:lnSpc>
                <a:spcPct val="126000"/>
              </a:lnSpc>
            </a:pPr>
            <a:r>
              <a:rPr sz="1050" b="0" i="0">
                <a:solidFill>
                  <a:srgbClr val="21295C"/>
                </a:solidFill>
                <a:latin typeface="Arial"/>
              </a:rPr>
              <a:t>• К случайности отношения не имеет вовсе: она сидит в стартовом шуме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 — о природе перенасыщенности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U-Net → DiT → MMDiT → спрямлённый поток</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 СОВСЕМ, И КАЖДОЕ ОТСУТСТВИЕ СОДЕРЖАТЕЛЬНО</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каузальной маски · кэша ключей и значений · словаря и логитов · длины выхода как переменной</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изображение смотрит во все стороны, внимание двунаправленное по построению</a:t>
            </a:r>
          </a:p>
        </p:txBody>
      </p:sp>
      <p:sp>
        <p:nvSpPr>
          <p:cNvPr id="8" name="Rounded Rectangle 7"/>
          <p:cNvSpPr/>
          <p:nvPr/>
        </p:nvSpPr>
        <p:spPr>
          <a:xfrm>
            <a:off x="502920"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85216"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U-Net, 2015–2023: свёрточный каркас, трансформерные блоки вставками</a:t>
            </a:r>
          </a:p>
        </p:txBody>
      </p:sp>
      <p:sp>
        <p:nvSpPr>
          <p:cNvPr id="10" name="Right Arrow 9"/>
          <p:cNvSpPr/>
          <p:nvPr/>
        </p:nvSpPr>
        <p:spPr>
          <a:xfrm>
            <a:off x="3139363" y="359967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3367963"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3450259"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DiT, декабрь 2022: латент режется на патчи, каждый проецируется в вектор</a:t>
            </a:r>
          </a:p>
        </p:txBody>
      </p:sp>
      <p:sp>
        <p:nvSpPr>
          <p:cNvPr id="13" name="Right Arrow 12"/>
          <p:cNvSpPr/>
          <p:nvPr/>
        </p:nvSpPr>
        <p:spPr>
          <a:xfrm>
            <a:off x="6004407" y="359967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33007"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15303"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MMDiT, март 2024: текст и картинка в одной последовательности</a:t>
            </a:r>
          </a:p>
        </p:txBody>
      </p:sp>
      <p:sp>
        <p:nvSpPr>
          <p:cNvPr id="16" name="Right Arrow 15"/>
          <p:cNvSpPr/>
          <p:nvPr/>
        </p:nvSpPr>
        <p:spPr>
          <a:xfrm>
            <a:off x="8869451" y="359967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9098051"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9180347"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спрямлённый поток, 2022→2026: шум и данные соединены прямой</a:t>
            </a:r>
          </a:p>
        </p:txBody>
      </p:sp>
      <p:sp>
        <p:nvSpPr>
          <p:cNvPr id="19" name="TextBox 18"/>
          <p:cNvSpPr txBox="1"/>
          <p:nvPr/>
        </p:nvSpPr>
        <p:spPr>
          <a:xfrm>
            <a:off x="502920" y="429899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поколения несущей архитектуры, слева направо — время</a:t>
            </a:r>
          </a:p>
        </p:txBody>
      </p:sp>
      <p:sp>
        <p:nvSpPr>
          <p:cNvPr id="20" name="Rounded Rectangle 19"/>
          <p:cNvSpPr/>
          <p:nvPr/>
        </p:nvSpPr>
        <p:spPr>
          <a:xfrm>
            <a:off x="374904" y="460168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93120"/>
            <a:ext cx="11112703" cy="15430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Измерение, ради которого стоит весь кадр.</a:t>
            </a:r>
            <a:r>
              <a:rPr sz="1500" b="0" i="0">
                <a:solidFill>
                  <a:srgbClr val="21295C"/>
                </a:solidFill>
                <a:latin typeface="Arial"/>
              </a:rPr>
              <a:t> DiT-XL/8 — 676 млн параметров, 7,39 Гфлопс, расстояние Фреше 106,41. DiT-XL/2 — 675 млн параметров, 118,64 Гфлопс, расстояние Фреше 19,47 (меньше — лучше).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Весов столько же. Токенов в шестнадцать раз больше.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Адаптеры: три уровня управления поверх одной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ДОВЕСКА ПРОТИВ БАЗЫ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килобайтов (один вектор) до сотен мегабайт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текстовой инверсии авторам хватило 3–5 изображений концепта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СПОСОБ ДООБУЧЕНИЯ, ЧТО В ЯЗЫКОВЫХ МОДЕЛЯХ</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совпадение — и оно названо совпадением</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параллель здесь работает полностью, в отличие от CFG и температуры; важно различать, где перенос честный, а где ложный</a:t>
            </a:r>
          </a:p>
        </p:txBody>
      </p:sp>
      <p:sp>
        <p:nvSpPr>
          <p:cNvPr id="12" name="Rounded Rectangle 11"/>
          <p:cNvSpPr/>
          <p:nvPr/>
        </p:nvSpPr>
        <p:spPr>
          <a:xfrm>
            <a:off x="502920" y="3285324"/>
            <a:ext cx="5437479" cy="2179945"/>
          </a:xfrm>
          <a:prstGeom prst="roundRect">
            <a:avLst>
              <a:gd name="adj" fmla="val 1398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4407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Разместить знание: веса не меняются</a:t>
            </a:r>
          </a:p>
        </p:txBody>
      </p:sp>
      <p:sp>
        <p:nvSpPr>
          <p:cNvPr id="14" name="TextBox 13"/>
          <p:cNvSpPr txBox="1"/>
          <p:nvPr/>
        </p:nvSpPr>
        <p:spPr>
          <a:xfrm>
            <a:off x="667512"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ControlNet — структурное условие</a:t>
            </a:r>
          </a:p>
          <a:p>
            <a:pPr algn="l">
              <a:lnSpc>
                <a:spcPct val="126000"/>
              </a:lnSpc>
            </a:pPr>
            <a:r>
              <a:rPr sz="1450" b="0" i="0">
                <a:solidFill>
                  <a:srgbClr val="21295C"/>
                </a:solidFill>
                <a:latin typeface="Arial"/>
              </a:rPr>
              <a:t>• IP-Adapter — образец стиля или лица</a:t>
            </a:r>
          </a:p>
          <a:p>
            <a:pPr algn="l">
              <a:lnSpc>
                <a:spcPct val="126000"/>
              </a:lnSpc>
            </a:pPr>
            <a:r>
              <a:rPr sz="1450" b="0" i="0">
                <a:solidFill>
                  <a:srgbClr val="21295C"/>
                </a:solidFill>
                <a:latin typeface="Arial"/>
              </a:rPr>
              <a:t>• вопрос «нам нужно дообучить модель под нашего персонажа» в половине случаев закрывается образцом лица за ноль часов обучения</a:t>
            </a:r>
          </a:p>
        </p:txBody>
      </p:sp>
      <p:sp>
        <p:nvSpPr>
          <p:cNvPr id="15" name="Rounded Rectangle 14"/>
          <p:cNvSpPr/>
          <p:nvPr/>
        </p:nvSpPr>
        <p:spPr>
          <a:xfrm>
            <a:off x="6251295" y="3285324"/>
            <a:ext cx="5437479" cy="2179945"/>
          </a:xfrm>
          <a:prstGeom prst="roundRect">
            <a:avLst>
              <a:gd name="adj" fmla="val 13982"/>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4407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Закодировать поведение: веса обучаются</a:t>
            </a:r>
          </a:p>
        </p:txBody>
      </p:sp>
      <p:sp>
        <p:nvSpPr>
          <p:cNvPr id="17" name="TextBox 16"/>
          <p:cNvSpPr txBox="1"/>
          <p:nvPr/>
        </p:nvSpPr>
        <p:spPr>
          <a:xfrm>
            <a:off x="6415887"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LoRA — низкоранговые адаптеры</a:t>
            </a:r>
          </a:p>
          <a:p>
            <a:pPr algn="l">
              <a:lnSpc>
                <a:spcPct val="126000"/>
              </a:lnSpc>
            </a:pPr>
            <a:r>
              <a:rPr sz="1450" b="0" i="0">
                <a:solidFill>
                  <a:srgbClr val="21295C"/>
                </a:solidFill>
                <a:latin typeface="Arial"/>
              </a:rPr>
              <a:t>• DreamBooth — дообучение самой модели</a:t>
            </a:r>
          </a:p>
          <a:p>
            <a:pPr algn="l">
              <a:lnSpc>
                <a:spcPct val="126000"/>
              </a:lnSpc>
            </a:pPr>
            <a:r>
              <a:rPr sz="1450" b="0" i="0">
                <a:solidFill>
                  <a:srgbClr val="21295C"/>
                </a:solidFill>
                <a:latin typeface="Arial"/>
              </a:rPr>
              <a:t>• это та же ступень, что и дообучение языковой модели: та же лестница, только средняя ступень богаче</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Довески складываются буквально:</a:t>
            </a:r>
            <a:r>
              <a:rPr sz="1450" b="0" i="0">
                <a:solidFill>
                  <a:srgbClr val="21295C"/>
                </a:solidFill>
                <a:latin typeface="Arial"/>
              </a:rPr>
              <a:t> на одну базу одновременно вешают адаптер стиля, структурное условие позы и образец лица. Именно эта складываемость сделала открытые веса рабочим инструментом в производстве.</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Языковая модель против медиа-модели: шесть строк расхождения в устройстве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90352" cy="44719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977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7" name="Rectangle 6"/>
          <p:cNvSpPr/>
          <p:nvPr/>
        </p:nvSpPr>
        <p:spPr>
          <a:xfrm>
            <a:off x="2429848" y="1335024"/>
            <a:ext cx="4554452"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76152" y="1335024"/>
            <a:ext cx="42618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Языковая модель</a:t>
            </a:r>
          </a:p>
        </p:txBody>
      </p:sp>
      <p:sp>
        <p:nvSpPr>
          <p:cNvPr id="9" name="Rectangle 8"/>
          <p:cNvSpPr/>
          <p:nvPr/>
        </p:nvSpPr>
        <p:spPr>
          <a:xfrm>
            <a:off x="6984301" y="1335024"/>
            <a:ext cx="4667897"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30605" y="1335024"/>
            <a:ext cx="4375289"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Медиа-модель</a:t>
            </a:r>
          </a:p>
        </p:txBody>
      </p:sp>
      <p:sp>
        <p:nvSpPr>
          <p:cNvPr id="11" name="Rectangle 10"/>
          <p:cNvSpPr/>
          <p:nvPr/>
        </p:nvSpPr>
        <p:spPr>
          <a:xfrm>
            <a:off x="539496" y="1782217"/>
            <a:ext cx="1890352" cy="729794"/>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8221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Единица данных</a:t>
            </a:r>
          </a:p>
        </p:txBody>
      </p:sp>
      <p:sp>
        <p:nvSpPr>
          <p:cNvPr id="13" name="Rectangle 12"/>
          <p:cNvSpPr/>
          <p:nvPr/>
        </p:nvSpPr>
        <p:spPr>
          <a:xfrm>
            <a:off x="2429848" y="1782217"/>
            <a:ext cx="4554452" cy="72979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576152" y="178221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токен из словаря ~200 тыс., зафиксированного до обучения</a:t>
            </a:r>
          </a:p>
        </p:txBody>
      </p:sp>
      <p:sp>
        <p:nvSpPr>
          <p:cNvPr id="15" name="Rectangle 14"/>
          <p:cNvSpPr/>
          <p:nvPr/>
        </p:nvSpPr>
        <p:spPr>
          <a:xfrm>
            <a:off x="6984301" y="1782217"/>
            <a:ext cx="4667897" cy="72979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30605" y="1782217"/>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латентный патч — непрерывный вектор из 64 чисел. </a:t>
            </a:r>
            <a:r>
              <a:rPr sz="1550" b="1" i="0">
                <a:solidFill>
                  <a:srgbClr val="21295C"/>
                </a:solidFill>
                <a:latin typeface="Arial"/>
              </a:rPr>
              <a:t>Словаря нет</a:t>
            </a:r>
          </a:p>
        </p:txBody>
      </p:sp>
      <p:sp>
        <p:nvSpPr>
          <p:cNvPr id="17" name="Rectangle 16"/>
          <p:cNvSpPr/>
          <p:nvPr/>
        </p:nvSpPr>
        <p:spPr>
          <a:xfrm>
            <a:off x="539496" y="2512011"/>
            <a:ext cx="1890352" cy="729794"/>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12011"/>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Сколько единиц</a:t>
            </a:r>
          </a:p>
        </p:txBody>
      </p:sp>
      <p:sp>
        <p:nvSpPr>
          <p:cNvPr id="19" name="Rectangle 18"/>
          <p:cNvSpPr/>
          <p:nvPr/>
        </p:nvSpPr>
        <p:spPr>
          <a:xfrm>
            <a:off x="2429848" y="2512011"/>
            <a:ext cx="4554452" cy="729794"/>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576152" y="2512011"/>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длина описания плюс ответа; окно 128 тыс. — 1 млн</a:t>
            </a:r>
          </a:p>
        </p:txBody>
      </p:sp>
      <p:sp>
        <p:nvSpPr>
          <p:cNvPr id="21" name="Rectangle 20"/>
          <p:cNvSpPr/>
          <p:nvPr/>
        </p:nvSpPr>
        <p:spPr>
          <a:xfrm>
            <a:off x="6984301" y="2512011"/>
            <a:ext cx="4667897" cy="72979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30605" y="2512011"/>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задано размером выхода: 1024×1024 → </a:t>
            </a:r>
            <a:r>
              <a:rPr sz="1550" b="1" i="0">
                <a:solidFill>
                  <a:srgbClr val="21295C"/>
                </a:solidFill>
                <a:latin typeface="Arial"/>
              </a:rPr>
              <a:t>4096</a:t>
            </a:r>
          </a:p>
        </p:txBody>
      </p:sp>
      <p:sp>
        <p:nvSpPr>
          <p:cNvPr id="23" name="Rectangle 22"/>
          <p:cNvSpPr/>
          <p:nvPr/>
        </p:nvSpPr>
        <p:spPr>
          <a:xfrm>
            <a:off x="539496" y="3241805"/>
            <a:ext cx="1890352" cy="72979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241805"/>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Что предсказывает</a:t>
            </a:r>
          </a:p>
        </p:txBody>
      </p:sp>
      <p:sp>
        <p:nvSpPr>
          <p:cNvPr id="25" name="Rectangle 24"/>
          <p:cNvSpPr/>
          <p:nvPr/>
        </p:nvSpPr>
        <p:spPr>
          <a:xfrm>
            <a:off x="2429848" y="3241805"/>
            <a:ext cx="4554452" cy="729794"/>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576152" y="3241805"/>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распределение вероятностей на словарь, сумма = 1</a:t>
            </a:r>
          </a:p>
        </p:txBody>
      </p:sp>
      <p:sp>
        <p:nvSpPr>
          <p:cNvPr id="27" name="Rectangle 26"/>
          <p:cNvSpPr/>
          <p:nvPr/>
        </p:nvSpPr>
        <p:spPr>
          <a:xfrm>
            <a:off x="6984301" y="3241805"/>
            <a:ext cx="4667897" cy="729794"/>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30605" y="3241805"/>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вектор той же формы, что вход. </a:t>
            </a:r>
            <a:r>
              <a:rPr sz="1550" b="1" i="0">
                <a:solidFill>
                  <a:srgbClr val="21295C"/>
                </a:solidFill>
                <a:latin typeface="Arial"/>
              </a:rPr>
              <a:t>Нормировки нет</a:t>
            </a:r>
          </a:p>
        </p:txBody>
      </p:sp>
      <p:sp>
        <p:nvSpPr>
          <p:cNvPr id="29" name="Rectangle 28"/>
          <p:cNvSpPr/>
          <p:nvPr/>
        </p:nvSpPr>
        <p:spPr>
          <a:xfrm>
            <a:off x="539496" y="3971599"/>
            <a:ext cx="1890352" cy="72979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971599"/>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Роль контекста</a:t>
            </a:r>
          </a:p>
        </p:txBody>
      </p:sp>
      <p:sp>
        <p:nvSpPr>
          <p:cNvPr id="31" name="Rectangle 30"/>
          <p:cNvSpPr/>
          <p:nvPr/>
        </p:nvSpPr>
        <p:spPr>
          <a:xfrm>
            <a:off x="2429848" y="3971599"/>
            <a:ext cx="4554452" cy="72979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576152" y="3971599"/>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история растёт и служит условием следующего токена</a:t>
            </a:r>
          </a:p>
        </p:txBody>
      </p:sp>
      <p:sp>
        <p:nvSpPr>
          <p:cNvPr id="33" name="Rectangle 32"/>
          <p:cNvSpPr/>
          <p:nvPr/>
        </p:nvSpPr>
        <p:spPr>
          <a:xfrm>
            <a:off x="6984301" y="3971599"/>
            <a:ext cx="4667897" cy="72979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30605" y="3971599"/>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описание — </a:t>
            </a:r>
            <a:r>
              <a:rPr sz="1550" b="1" i="0">
                <a:solidFill>
                  <a:srgbClr val="21295C"/>
                </a:solidFill>
                <a:latin typeface="Arial"/>
              </a:rPr>
              <a:t>постоянное</a:t>
            </a:r>
            <a:r>
              <a:rPr sz="1550" b="0" i="0">
                <a:solidFill>
                  <a:srgbClr val="21295C"/>
                </a:solidFill>
                <a:latin typeface="Arial"/>
              </a:rPr>
              <a:t> условие на всех шагах. Истории нет</a:t>
            </a:r>
          </a:p>
        </p:txBody>
      </p:sp>
      <p:sp>
        <p:nvSpPr>
          <p:cNvPr id="35" name="Rectangle 34"/>
          <p:cNvSpPr/>
          <p:nvPr/>
        </p:nvSpPr>
        <p:spPr>
          <a:xfrm>
            <a:off x="539496" y="4701393"/>
            <a:ext cx="1890352" cy="72979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701393"/>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Число проходов</a:t>
            </a:r>
          </a:p>
        </p:txBody>
      </p:sp>
      <p:sp>
        <p:nvSpPr>
          <p:cNvPr id="37" name="Rectangle 36"/>
          <p:cNvSpPr/>
          <p:nvPr/>
        </p:nvSpPr>
        <p:spPr>
          <a:xfrm>
            <a:off x="2429848" y="4701393"/>
            <a:ext cx="4554452" cy="72979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576152" y="4701393"/>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N проходов на N токенов</a:t>
            </a:r>
          </a:p>
        </p:txBody>
      </p:sp>
      <p:sp>
        <p:nvSpPr>
          <p:cNvPr id="39" name="Rectangle 38"/>
          <p:cNvSpPr/>
          <p:nvPr/>
        </p:nvSpPr>
        <p:spPr>
          <a:xfrm>
            <a:off x="6984301" y="4701393"/>
            <a:ext cx="4667897" cy="72979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30605" y="4701393"/>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S проходов </a:t>
            </a:r>
            <a:r>
              <a:rPr sz="1550" b="1" i="0">
                <a:solidFill>
                  <a:srgbClr val="21295C"/>
                </a:solidFill>
                <a:latin typeface="Arial"/>
              </a:rPr>
              <a:t>независимо</a:t>
            </a:r>
            <a:r>
              <a:rPr sz="1550" b="0" i="0">
                <a:solidFill>
                  <a:srgbClr val="21295C"/>
                </a:solidFill>
                <a:latin typeface="Arial"/>
              </a:rPr>
              <a:t> от размера выхода, S от 1 до 50</a:t>
            </a:r>
          </a:p>
        </p:txBody>
      </p:sp>
      <p:sp>
        <p:nvSpPr>
          <p:cNvPr id="41" name="Rectangle 40"/>
          <p:cNvSpPr/>
          <p:nvPr/>
        </p:nvSpPr>
        <p:spPr>
          <a:xfrm>
            <a:off x="539496" y="5431187"/>
            <a:ext cx="1890352" cy="72979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543118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Кэш</a:t>
            </a:r>
          </a:p>
        </p:txBody>
      </p:sp>
      <p:sp>
        <p:nvSpPr>
          <p:cNvPr id="43" name="Rectangle 42"/>
          <p:cNvSpPr/>
          <p:nvPr/>
        </p:nvSpPr>
        <p:spPr>
          <a:xfrm>
            <a:off x="2429848" y="5431187"/>
            <a:ext cx="4554452" cy="72979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2576152" y="543118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работает: ключи и значения относятся к неизменному контексту</a:t>
            </a:r>
          </a:p>
        </p:txBody>
      </p:sp>
      <p:sp>
        <p:nvSpPr>
          <p:cNvPr id="45" name="Rectangle 44"/>
          <p:cNvSpPr/>
          <p:nvPr/>
        </p:nvSpPr>
        <p:spPr>
          <a:xfrm>
            <a:off x="6984301" y="5431187"/>
            <a:ext cx="4667897" cy="72979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130605" y="5431187"/>
            <a:ext cx="4375289"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невозможен</a:t>
            </a:r>
            <a:r>
              <a:rPr sz="1550" b="0" i="0">
                <a:solidFill>
                  <a:srgbClr val="21295C"/>
                </a:solidFill>
                <a:latin typeface="Arial"/>
              </a:rPr>
              <a:t>: все 4096 токенов меняются каждый шаг</a:t>
            </a:r>
          </a:p>
        </p:txBody>
      </p:sp>
      <p:sp>
        <p:nvSpPr>
          <p:cNvPr id="47" name="Rectangle 46"/>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Языковая модель против медиа-модели: ещё пять строк — управление, ошибка, провенанс</a:t>
            </a:r>
          </a:p>
        </p:txBody>
      </p:sp>
      <p:sp>
        <p:nvSpPr>
          <p:cNvPr id="4" name="Rounded Rectangle 3"/>
          <p:cNvSpPr/>
          <p:nvPr/>
        </p:nvSpPr>
        <p:spPr>
          <a:xfrm>
            <a:off x="374904" y="1243584"/>
            <a:ext cx="11441887" cy="4963033"/>
          </a:xfrm>
          <a:prstGeom prst="roundRect">
            <a:avLst>
              <a:gd name="adj" fmla="val 614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771865"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479257"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311361" y="1335024"/>
            <a:ext cx="61917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57665" y="1335024"/>
            <a:ext cx="58991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Языковая модель</a:t>
            </a:r>
          </a:p>
        </p:txBody>
      </p:sp>
      <p:sp>
        <p:nvSpPr>
          <p:cNvPr id="9" name="Rectangle 8"/>
          <p:cNvSpPr/>
          <p:nvPr/>
        </p:nvSpPr>
        <p:spPr>
          <a:xfrm>
            <a:off x="8503094" y="1335024"/>
            <a:ext cx="3149104"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8649398" y="1335024"/>
            <a:ext cx="285649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Медиа-модель</a:t>
            </a:r>
          </a:p>
        </p:txBody>
      </p:sp>
      <p:sp>
        <p:nvSpPr>
          <p:cNvPr id="11" name="Rectangle 10"/>
          <p:cNvSpPr/>
          <p:nvPr/>
        </p:nvSpPr>
        <p:spPr>
          <a:xfrm>
            <a:off x="539496" y="1763984"/>
            <a:ext cx="1771865" cy="95769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1479257"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Чем управляется выход</a:t>
            </a:r>
          </a:p>
        </p:txBody>
      </p:sp>
      <p:sp>
        <p:nvSpPr>
          <p:cNvPr id="13" name="Rectangle 12"/>
          <p:cNvSpPr/>
          <p:nvPr/>
        </p:nvSpPr>
        <p:spPr>
          <a:xfrm>
            <a:off x="2311361" y="1763984"/>
            <a:ext cx="6191733" cy="95769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457665" y="1763984"/>
            <a:ext cx="5899125"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температура, отсечение по вероятности (top-p), маскирование логитов, грамматика схемы — </a:t>
            </a:r>
            <a:r>
              <a:rPr sz="1450" b="1" i="0">
                <a:solidFill>
                  <a:srgbClr val="21295C"/>
                </a:solidFill>
                <a:latin typeface="Arial"/>
              </a:rPr>
              <a:t>механическая гарантия формы</a:t>
            </a:r>
          </a:p>
        </p:txBody>
      </p:sp>
      <p:sp>
        <p:nvSpPr>
          <p:cNvPr id="15" name="Rectangle 14"/>
          <p:cNvSpPr/>
          <p:nvPr/>
        </p:nvSpPr>
        <p:spPr>
          <a:xfrm>
            <a:off x="8503094" y="1763984"/>
            <a:ext cx="3149104" cy="95769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649398" y="1763984"/>
            <a:ext cx="2856496"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CFG, негативное описание, адаптеры. </a:t>
            </a:r>
            <a:r>
              <a:rPr sz="1450" b="1" i="0">
                <a:solidFill>
                  <a:srgbClr val="21295C"/>
                </a:solidFill>
                <a:latin typeface="Arial"/>
              </a:rPr>
              <a:t>Гарантий нет ни одной</a:t>
            </a:r>
          </a:p>
        </p:txBody>
      </p:sp>
      <p:sp>
        <p:nvSpPr>
          <p:cNvPr id="17" name="Rectangle 16"/>
          <p:cNvSpPr/>
          <p:nvPr/>
        </p:nvSpPr>
        <p:spPr>
          <a:xfrm>
            <a:off x="539496" y="2721682"/>
            <a:ext cx="1771865" cy="95769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21682"/>
            <a:ext cx="1479257"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Галлюцинация</a:t>
            </a:r>
          </a:p>
        </p:txBody>
      </p:sp>
      <p:sp>
        <p:nvSpPr>
          <p:cNvPr id="19" name="Rectangle 18"/>
          <p:cNvSpPr/>
          <p:nvPr/>
        </p:nvSpPr>
        <p:spPr>
          <a:xfrm>
            <a:off x="2311361" y="2721682"/>
            <a:ext cx="6191733" cy="95769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457665" y="2721682"/>
            <a:ext cx="5899125"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уверенное ложное </a:t>
            </a:r>
            <a:r>
              <a:rPr sz="1450" b="1" i="0">
                <a:solidFill>
                  <a:srgbClr val="21295C"/>
                </a:solidFill>
                <a:latin typeface="Arial"/>
              </a:rPr>
              <a:t>утверждение</a:t>
            </a:r>
            <a:r>
              <a:rPr sz="1450" b="0" i="0">
                <a:solidFill>
                  <a:srgbClr val="21295C"/>
                </a:solidFill>
                <a:latin typeface="Arial"/>
              </a:rPr>
              <a:t> — проверяется по источнику</a:t>
            </a:r>
          </a:p>
        </p:txBody>
      </p:sp>
      <p:sp>
        <p:nvSpPr>
          <p:cNvPr id="21" name="Rectangle 20"/>
          <p:cNvSpPr/>
          <p:nvPr/>
        </p:nvSpPr>
        <p:spPr>
          <a:xfrm>
            <a:off x="8503094" y="2721682"/>
            <a:ext cx="3149104" cy="95769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649398" y="2721682"/>
            <a:ext cx="2856496"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правдоподобная </a:t>
            </a:r>
            <a:r>
              <a:rPr sz="1450" b="1" i="0">
                <a:solidFill>
                  <a:srgbClr val="21295C"/>
                </a:solidFill>
                <a:latin typeface="Arial"/>
              </a:rPr>
              <a:t>невозможность</a:t>
            </a:r>
            <a:r>
              <a:rPr sz="1450" b="0" i="0">
                <a:solidFill>
                  <a:srgbClr val="21295C"/>
                </a:solidFill>
                <a:latin typeface="Arial"/>
              </a:rPr>
              <a:t> — проверяется физикой</a:t>
            </a:r>
          </a:p>
        </p:txBody>
      </p:sp>
      <p:sp>
        <p:nvSpPr>
          <p:cNvPr id="23" name="Rectangle 22"/>
          <p:cNvSpPr/>
          <p:nvPr/>
        </p:nvSpPr>
        <p:spPr>
          <a:xfrm>
            <a:off x="539496" y="3679380"/>
            <a:ext cx="1771865" cy="95769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679380"/>
            <a:ext cx="1479257"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Чем её чинят</a:t>
            </a:r>
          </a:p>
        </p:txBody>
      </p:sp>
      <p:sp>
        <p:nvSpPr>
          <p:cNvPr id="25" name="Rectangle 24"/>
          <p:cNvSpPr/>
          <p:nvPr/>
        </p:nvSpPr>
        <p:spPr>
          <a:xfrm>
            <a:off x="2311361" y="3679380"/>
            <a:ext cx="6191733" cy="95769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457665" y="3679380"/>
            <a:ext cx="5899125"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подложить источник в контекст и потребовать ссылку</a:t>
            </a:r>
          </a:p>
        </p:txBody>
      </p:sp>
      <p:sp>
        <p:nvSpPr>
          <p:cNvPr id="27" name="Rectangle 26"/>
          <p:cNvSpPr/>
          <p:nvPr/>
        </p:nvSpPr>
        <p:spPr>
          <a:xfrm>
            <a:off x="8503094" y="3679380"/>
            <a:ext cx="3149104" cy="95769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649398" y="3679380"/>
            <a:ext cx="2856496"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ничем аналогичным</a:t>
            </a:r>
            <a:r>
              <a:rPr sz="1450" b="0" i="0">
                <a:solidFill>
                  <a:srgbClr val="21295C"/>
                </a:solidFill>
                <a:latin typeface="Arial"/>
              </a:rPr>
              <a:t>: обусловливание подсказывает форму</a:t>
            </a:r>
          </a:p>
        </p:txBody>
      </p:sp>
      <p:sp>
        <p:nvSpPr>
          <p:cNvPr id="29" name="Rectangle 28"/>
          <p:cNvSpPr/>
          <p:nvPr/>
        </p:nvSpPr>
        <p:spPr>
          <a:xfrm>
            <a:off x="539496" y="4637078"/>
            <a:ext cx="1771865" cy="69332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637078"/>
            <a:ext cx="1479257"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Длина выхода</a:t>
            </a:r>
          </a:p>
        </p:txBody>
      </p:sp>
      <p:sp>
        <p:nvSpPr>
          <p:cNvPr id="31" name="Rectangle 30"/>
          <p:cNvSpPr/>
          <p:nvPr/>
        </p:nvSpPr>
        <p:spPr>
          <a:xfrm>
            <a:off x="2311361" y="4637078"/>
            <a:ext cx="6191733" cy="69332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457665" y="4637078"/>
            <a:ext cx="58991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переменная, решается стоп-токеном</a:t>
            </a:r>
          </a:p>
        </p:txBody>
      </p:sp>
      <p:sp>
        <p:nvSpPr>
          <p:cNvPr id="33" name="Rectangle 32"/>
          <p:cNvSpPr/>
          <p:nvPr/>
        </p:nvSpPr>
        <p:spPr>
          <a:xfrm>
            <a:off x="8503094" y="4637078"/>
            <a:ext cx="3149104" cy="69332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649398" y="4637078"/>
            <a:ext cx="2856496"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задана до запуска</a:t>
            </a:r>
            <a:r>
              <a:rPr sz="1450" b="0" i="0">
                <a:solidFill>
                  <a:srgbClr val="21295C"/>
                </a:solidFill>
                <a:latin typeface="Arial"/>
              </a:rPr>
              <a:t>, остановиться раньше нельзя</a:t>
            </a:r>
          </a:p>
        </p:txBody>
      </p:sp>
      <p:sp>
        <p:nvSpPr>
          <p:cNvPr id="35" name="Rectangle 34"/>
          <p:cNvSpPr/>
          <p:nvPr/>
        </p:nvSpPr>
        <p:spPr>
          <a:xfrm>
            <a:off x="539496" y="5330408"/>
            <a:ext cx="1771865" cy="69332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5330408"/>
            <a:ext cx="1479257"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Провенанс</a:t>
            </a:r>
          </a:p>
        </p:txBody>
      </p:sp>
      <p:sp>
        <p:nvSpPr>
          <p:cNvPr id="37" name="Rectangle 36"/>
          <p:cNvSpPr/>
          <p:nvPr/>
        </p:nvSpPr>
        <p:spPr>
          <a:xfrm>
            <a:off x="2311361" y="5330408"/>
            <a:ext cx="6191733" cy="693329"/>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457665" y="5330408"/>
            <a:ext cx="58991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 ответа с поиском по документам </a:t>
            </a:r>
            <a:r>
              <a:rPr sz="1450" b="1" i="0">
                <a:solidFill>
                  <a:srgbClr val="21295C"/>
                </a:solidFill>
                <a:latin typeface="Arial"/>
              </a:rPr>
              <a:t>есть</a:t>
            </a:r>
            <a:r>
              <a:rPr sz="1450" b="0" i="0">
                <a:solidFill>
                  <a:srgbClr val="21295C"/>
                </a:solidFill>
                <a:latin typeface="Arial"/>
              </a:rPr>
              <a:t> ссылка</a:t>
            </a:r>
          </a:p>
        </p:txBody>
      </p:sp>
      <p:sp>
        <p:nvSpPr>
          <p:cNvPr id="39" name="Rectangle 38"/>
          <p:cNvSpPr/>
          <p:nvPr/>
        </p:nvSpPr>
        <p:spPr>
          <a:xfrm>
            <a:off x="8503094" y="5330408"/>
            <a:ext cx="3149104" cy="693329"/>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649398" y="5330408"/>
            <a:ext cx="2856496"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 кадра её </a:t>
            </a:r>
            <a:r>
              <a:rPr sz="1450" b="1" i="0">
                <a:solidFill>
                  <a:srgbClr val="21295C"/>
                </a:solidFill>
                <a:latin typeface="Arial"/>
              </a:rPr>
              <a:t>нет и не может быть</a:t>
            </a:r>
          </a:p>
        </p:txBody>
      </p:sp>
      <p:sp>
        <p:nvSpPr>
          <p:cNvPr id="41" name="Rectangle 4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Обучить дешевле в 200–400 раз, запустить дороже в 40–60</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НАБЛЮДЕНИЕ В МИНУС КАРТИНОЧНОМУ ЛАГЕРЮ</a:t>
            </a:r>
          </a:p>
        </p:txBody>
      </p:sp>
      <p:sp>
        <p:nvSpPr>
          <p:cNvPr id="10" name="TextBox 9"/>
          <p:cNvSpPr txBox="1"/>
          <p:nvPr/>
        </p:nvSpPr>
        <p:spPr>
          <a:xfrm>
            <a:off x="6315303" y="1725375"/>
            <a:ext cx="5236311"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по SDXL, FLUX.1 и DALL·E 3 не раскрыты ни часы видеокарт, ни стоимость, ни объём вычислений</a:t>
            </a:r>
          </a:p>
        </p:txBody>
      </p:sp>
      <p:sp>
        <p:nvSpPr>
          <p:cNvPr id="11" name="TextBox 10"/>
          <p:cNvSpPr txBox="1"/>
          <p:nvPr/>
        </p:nvSpPr>
        <p:spPr>
          <a:xfrm>
            <a:off x="6315303" y="2305148"/>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открытым весам можно посчитать размер модели и нельзя посчитать стоимость её создания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a:t>
            </a:r>
          </a:p>
        </p:txBody>
      </p:sp>
      <p:sp>
        <p:nvSpPr>
          <p:cNvPr id="15" name="Rectangle 14"/>
          <p:cNvSpPr/>
          <p:nvPr/>
        </p:nvSpPr>
        <p:spPr>
          <a:xfrm>
            <a:off x="1218227"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20935"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0,14</a:t>
            </a:r>
          </a:p>
          <a:p>
            <a:pPr algn="ctr">
              <a:lnSpc>
                <a:spcPct val="110000"/>
              </a:lnSpc>
            </a:pPr>
            <a:r>
              <a:rPr sz="1200" b="0" i="0">
                <a:solidFill>
                  <a:srgbClr val="21295C"/>
                </a:solidFill>
                <a:latin typeface="Arial"/>
              </a:rPr>
              <a:t>ответ языковой модели, 1000 токенов</a:t>
            </a:r>
          </a:p>
        </p:txBody>
      </p:sp>
      <p:sp>
        <p:nvSpPr>
          <p:cNvPr id="17" name="Rectangle 16"/>
          <p:cNvSpPr/>
          <p:nvPr/>
        </p:nvSpPr>
        <p:spPr>
          <a:xfrm>
            <a:off x="1727228" y="4006591"/>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111934"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0,44</a:t>
            </a:r>
          </a:p>
          <a:p>
            <a:pPr algn="ctr">
              <a:lnSpc>
                <a:spcPct val="110000"/>
              </a:lnSpc>
            </a:pPr>
            <a:r>
              <a:rPr sz="1200" b="0" i="0">
                <a:solidFill>
                  <a:srgbClr val="21295C"/>
                </a:solidFill>
                <a:latin typeface="Arial"/>
              </a:rPr>
              <a:t>та же картинка, 4 шага</a:t>
            </a:r>
          </a:p>
        </p:txBody>
      </p:sp>
      <p:sp>
        <p:nvSpPr>
          <p:cNvPr id="19" name="Rectangle 18"/>
          <p:cNvSpPr/>
          <p:nvPr/>
        </p:nvSpPr>
        <p:spPr>
          <a:xfrm>
            <a:off x="10312374" y="3791707"/>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8473211"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a:t>
            </a:r>
          </a:p>
          <a:p>
            <a:pPr algn="ctr">
              <a:lnSpc>
                <a:spcPct val="110000"/>
              </a:lnSpc>
            </a:pPr>
            <a:r>
              <a:rPr sz="1200" b="0" i="0">
                <a:solidFill>
                  <a:srgbClr val="21295C"/>
                </a:solidFill>
                <a:latin typeface="Arial"/>
              </a:rPr>
              <a:t>картинка 1024×1024, 50 шагов</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петафлопс вычислений на одну единицу выхода · один ответ либо одна картинка</a:t>
            </a:r>
          </a:p>
        </p:txBody>
      </p:sp>
      <p:sp>
        <p:nvSpPr>
          <p:cNvPr id="22" name="TextBox 21"/>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Разрыв создаёт число шагов; размер модели здесь вторичен</a:t>
            </a:r>
          </a:p>
        </p:txBody>
      </p:sp>
      <p:sp>
        <p:nvSpPr>
          <p:cNvPr id="23" name="Rounded Rectangle 22"/>
          <p:cNvSpPr/>
          <p:nvPr/>
        </p:nvSpPr>
        <p:spPr>
          <a:xfrm>
            <a:off x="374904" y="5386357"/>
            <a:ext cx="11441887" cy="8187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Обучить дешевле:</a:t>
            </a:r>
            <a:r>
              <a:rPr sz="1150" b="0" i="0">
                <a:solidFill>
                  <a:srgbClr val="21295C"/>
                </a:solidFill>
                <a:latin typeface="Arial"/>
              </a:rPr>
              <a:t> 150 000 часов видеокарт против ≈57 млн у передовой языковой, $0,6 млн аренды против $78,4 млн, веса 4,27 ГБ против ≈810 ГБ.</a:t>
            </a:r>
          </a:p>
          <a:p>
            <a:pPr algn="l">
              <a:lnSpc>
                <a:spcPct val="126000"/>
              </a:lnSpc>
              <a:spcBef>
                <a:spcPts val="700"/>
              </a:spcBef>
            </a:pPr>
            <a:r>
              <a:rPr sz="1150" b="0" i="0">
                <a:solidFill>
                  <a:srgbClr val="21295C"/>
                </a:solidFill>
                <a:latin typeface="Arial"/>
              </a:rPr>
              <a:t/>
            </a:r>
            <a:r>
              <a:rPr sz="1150" b="1" i="0">
                <a:solidFill>
                  <a:srgbClr val="21295C"/>
                </a:solidFill>
                <a:latin typeface="Arial"/>
              </a:rPr>
              <a:t>Запустить дороже:</a:t>
            </a:r>
            <a:r>
              <a:rPr sz="1150" b="0" i="0">
                <a:solidFill>
                  <a:srgbClr val="21295C"/>
                </a:solidFill>
                <a:latin typeface="Arial"/>
              </a:rPr>
              <a:t> 2,907 кВт·ч на тысячу генераций против 0,047 и $120 за миллион токенов картинки против $12 за миллион токенов текста у той же модели.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(число операций)</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Чего метод не умеет: текст внутри изображения, анатомия, счёт объектов</a:t>
            </a:r>
          </a:p>
        </p:txBody>
      </p:sp>
      <p:sp>
        <p:nvSpPr>
          <p:cNvPr id="4" name="Rounded Rectangle 3"/>
          <p:cNvSpPr/>
          <p:nvPr/>
        </p:nvSpPr>
        <p:spPr>
          <a:xfrm>
            <a:off x="502920"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ВНУТРИ ИЗОБРАЖЕНИЯ</a:t>
            </a:r>
          </a:p>
        </p:txBody>
      </p:sp>
      <p:sp>
        <p:nvSpPr>
          <p:cNvPr id="6" name="TextBox 5"/>
          <p:cNvSpPr txBox="1"/>
          <p:nvPr/>
        </p:nvSpPr>
        <p:spPr>
          <a:xfrm>
            <a:off x="640080"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25,12 дБ на 4 каналах против 28,62 дБ на 16</a:t>
            </a:r>
          </a:p>
        </p:txBody>
      </p:sp>
      <p:sp>
        <p:nvSpPr>
          <p:cNvPr id="7" name="TextBox 6"/>
          <p:cNvSpPr txBox="1"/>
          <p:nvPr/>
        </p:nvSpPr>
        <p:spPr>
          <a:xfrm>
            <a:off x="640080" y="254656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эти три с половиной децибела и есть разница между псевдобуквами и читаемой надписью. Вторая причина — текстовый кодировщик: при его удалении деградируют ровно два класса задач, и один из них — длинный текст по буквам</a:t>
            </a:r>
          </a:p>
        </p:txBody>
      </p:sp>
      <p:sp>
        <p:nvSpPr>
          <p:cNvPr id="8" name="Rounded Rectangle 7"/>
          <p:cNvSpPr/>
          <p:nvPr/>
        </p:nvSpPr>
        <p:spPr>
          <a:xfrm>
            <a:off x="3340531"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ОБЪЕКТОВ</a:t>
            </a:r>
          </a:p>
        </p:txBody>
      </p:sp>
      <p:sp>
        <p:nvSpPr>
          <p:cNvPr id="10" name="TextBox 9"/>
          <p:cNvSpPr txBox="1"/>
          <p:nvPr/>
        </p:nvSpPr>
        <p:spPr>
          <a:xfrm>
            <a:off x="3477691"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выделен в отдельную категорию наборов оценки — именно потому, что результаты там систематически хуже остальных</a:t>
            </a:r>
          </a:p>
        </p:txBody>
      </p:sp>
      <p:sp>
        <p:nvSpPr>
          <p:cNvPr id="11" name="TextBox 10"/>
          <p:cNvSpPr txBox="1"/>
          <p:nvPr/>
        </p:nvSpPr>
        <p:spPr>
          <a:xfrm>
            <a:off x="3477691" y="29841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токен, влияющий на распределение весов внимания, а не счётчик, который кто-то уменьшает</a:t>
            </a:r>
          </a:p>
        </p:txBody>
      </p:sp>
      <p:sp>
        <p:nvSpPr>
          <p:cNvPr id="12" name="Rounded Rectangle 11"/>
          <p:cNvSpPr/>
          <p:nvPr/>
        </p:nvSpPr>
        <p:spPr>
          <a:xfrm>
            <a:off x="6178143"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«вот этот стул — тот же самый стул» не существует</a:t>
            </a:r>
          </a:p>
        </p:txBody>
      </p:sp>
      <p:sp>
        <p:nvSpPr>
          <p:cNvPr id="15" name="TextBox 14"/>
          <p:cNvSpPr txBox="1"/>
          <p:nvPr/>
        </p:nvSpPr>
        <p:spPr>
          <a:xfrm>
            <a:off x="6315303" y="3119001"/>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нет понятия объекта, согласованность достигается статистически и деградирует с длиной серии</a:t>
            </a:r>
          </a:p>
        </p:txBody>
      </p:sp>
      <p:sp>
        <p:nvSpPr>
          <p:cNvPr id="16" name="Rounded Rectangle 15"/>
          <p:cNvSpPr/>
          <p:nvPr/>
        </p:nvSpPr>
        <p:spPr>
          <a:xfrm>
            <a:off x="9015755" y="1335024"/>
            <a:ext cx="2673019" cy="303865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ПРАВИЛО, КОТОРОЕ ОТСЮДА СЛЕДУЕТ</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надписи в производственных материалах не генерируют — их накладывают</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отдельным слоем, настоящим шрифтом, вне генератора. У первого способа неудачных попыток нет вовсе</a:t>
            </a:r>
          </a:p>
        </p:txBody>
      </p:sp>
      <p:sp>
        <p:nvSpPr>
          <p:cNvPr id="20" name="Rounded Rectangle 19"/>
          <p:cNvSpPr/>
          <p:nvPr/>
        </p:nvSpPr>
        <p:spPr>
          <a:xfrm>
            <a:off x="374904" y="446511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56557"/>
            <a:ext cx="11112703" cy="16796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Все три отказа — следствие латентного патча и отсутствия словаря, то есть ровно того, что кадром раньше давало выигрыш.</a:t>
            </a:r>
          </a:p>
        </p:txBody>
      </p:sp>
      <p:sp>
        <p:nvSpPr>
          <p:cNvPr id="22" name="Rectangle 2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Одно и то же свойство, прочитанное с двух сторон</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это свойство дало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сжатие в 48 раз — полтора порядка вычислений на каждом из десятков шагов</a:t>
            </a:r>
          </a:p>
          <a:p>
            <a:pPr algn="l">
              <a:lnSpc>
                <a:spcPct val="126000"/>
              </a:lnSpc>
            </a:pPr>
            <a:r>
              <a:rPr sz="1450" b="0" i="0">
                <a:solidFill>
                  <a:srgbClr val="21295C"/>
                </a:solidFill>
                <a:latin typeface="Arial"/>
              </a:rPr>
              <a:t>• 512×512 на карте с 6–8 ГБ в августе 2022</a:t>
            </a:r>
          </a:p>
          <a:p>
            <a:pPr algn="l">
              <a:lnSpc>
                <a:spcPct val="126000"/>
              </a:lnSpc>
            </a:pPr>
            <a:r>
              <a:rPr sz="1450" b="0" i="0">
                <a:solidFill>
                  <a:srgbClr val="21295C"/>
                </a:solidFill>
                <a:latin typeface="Arial"/>
              </a:rPr>
              <a:t>• цена одной попытки $0,034–0,05 против $50–150 за заказ</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свойство забрало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буква размывается ещё ДО того, как к картинке притронется генеративная сеть</a:t>
            </a:r>
          </a:p>
          <a:p>
            <a:pPr algn="l">
              <a:lnSpc>
                <a:spcPct val="126000"/>
              </a:lnSpc>
            </a:pPr>
            <a:r>
              <a:rPr sz="1450" b="0" i="0">
                <a:solidFill>
                  <a:srgbClr val="21295C"/>
                </a:solidFill>
                <a:latin typeface="Arial"/>
              </a:rPr>
              <a:t>• лицо на дальнем плане занимает единицы ячеек латента</a:t>
            </a:r>
          </a:p>
          <a:p>
            <a:pPr algn="l">
              <a:lnSpc>
                <a:spcPct val="126000"/>
              </a:lnSpc>
            </a:pPr>
            <a:r>
              <a:rPr sz="1450" b="0" i="0">
                <a:solidFill>
                  <a:srgbClr val="21295C"/>
                </a:solidFill>
                <a:latin typeface="Arial"/>
              </a:rPr>
              <a:t>• понятия дискретного объекта в механизме нет — считать нечему</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и отказ пришли из одного места. Выбирая инструмент, спрашивайте, что именно он сжал, чтобы стать дешёвым.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Точных размеров нет: генератор не заменяет САПР</a:t>
            </a:r>
          </a:p>
        </p:txBody>
      </p:sp>
      <p:sp>
        <p:nvSpPr>
          <p:cNvPr id="4" name="Rounded Rectangle 3"/>
          <p:cNvSpPr/>
          <p:nvPr/>
        </p:nvSpPr>
        <p:spPr>
          <a:xfrm>
            <a:off x="502920"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КАРТИНКИ НЕТ</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единиц измерения · допусков · материалов · кинематики · ограничений как проверяемых условий · дерева построения</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вещей, и ни одна не появится в следующей версии модели</a:t>
            </a:r>
          </a:p>
        </p:txBody>
      </p:sp>
      <p:sp>
        <p:nvSpPr>
          <p:cNvPr id="8" name="Rounded Rectangle 7"/>
          <p:cNvSpPr/>
          <p:nvPr/>
        </p:nvSpPr>
        <p:spPr>
          <a:xfrm>
            <a:off x="4286402"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ОГРАНИЧЕНИЕ ОПАСНО, А НЕ ПРОСТО НЕУДОБНО</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непроверенная конструкция выглядит точно так же, как проверенная</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ошибки нет внешнего признака — значит, её не поймает ни беглый взгляд, ни согласование</a:t>
            </a:r>
          </a:p>
        </p:txBody>
      </p:sp>
      <p:sp>
        <p:nvSpPr>
          <p:cNvPr id="12" name="Rounded Rectangle 11"/>
          <p:cNvSpPr/>
          <p:nvPr/>
        </p:nvSpPr>
        <p:spPr>
          <a:xfrm>
            <a:off x="8069884"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14" name="TextBox 13"/>
          <p:cNvSpPr txBox="1"/>
          <p:nvPr/>
        </p:nvSpPr>
        <p:spPr>
          <a:xfrm>
            <a:off x="8207044" y="1932846"/>
            <a:ext cx="3344570"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генератор отвечает на вопрос «как это выглядит». САПР отвечает на вопрос «что это такое»</a:t>
            </a:r>
          </a:p>
        </p:txBody>
      </p:sp>
      <p:sp>
        <p:nvSpPr>
          <p:cNvPr id="15" name="TextBox 14"/>
          <p:cNvSpPr txBox="1"/>
          <p:nvPr/>
        </p:nvSpPr>
        <p:spPr>
          <a:xfrm>
            <a:off x="8207044" y="27078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16" name="Rounded Rectangle 15"/>
          <p:cNvSpPr/>
          <p:nvPr/>
        </p:nvSpPr>
        <p:spPr>
          <a:xfrm>
            <a:off x="502920" y="3839838"/>
            <a:ext cx="5437479" cy="1882884"/>
          </a:xfrm>
          <a:prstGeom prst="roundRect">
            <a:avLst>
              <a:gd name="adj" fmla="val 161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99528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Чего нельзя</a:t>
            </a:r>
          </a:p>
        </p:txBody>
      </p:sp>
      <p:sp>
        <p:nvSpPr>
          <p:cNvPr id="18" name="TextBox 17"/>
          <p:cNvSpPr txBox="1"/>
          <p:nvPr/>
        </p:nvSpPr>
        <p:spPr>
          <a:xfrm>
            <a:off x="667512" y="4351465"/>
            <a:ext cx="5108295" cy="121580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Нельзя измерить — снять размер нечем, масштаба в изображении нет</a:t>
            </a:r>
          </a:p>
          <a:p>
            <a:pPr algn="l">
              <a:lnSpc>
                <a:spcPct val="126000"/>
              </a:lnSpc>
            </a:pPr>
            <a:r>
              <a:rPr sz="1000" b="0" i="0">
                <a:solidFill>
                  <a:srgbClr val="21295C"/>
                </a:solidFill>
                <a:latin typeface="Arial"/>
              </a:rPr>
              <a:t>• Нельзя проверить — конструкция не проходила ни прочностного расчёта, ни проверки собираемости, и ВЫГЛЯДИТ ровно так же, как прошедшая</a:t>
            </a:r>
          </a:p>
          <a:p>
            <a:pPr algn="l">
              <a:lnSpc>
                <a:spcPct val="126000"/>
              </a:lnSpc>
            </a:pPr>
            <a:r>
              <a:rPr sz="1000" b="0" i="0">
                <a:solidFill>
                  <a:srgbClr val="21295C"/>
                </a:solidFill>
                <a:latin typeface="Arial"/>
              </a:rPr>
              <a:t>• Нельзя изготовить — на выходе нет геометрии, которую примет станок</a:t>
            </a:r>
          </a:p>
          <a:p>
            <a:pPr algn="l">
              <a:lnSpc>
                <a:spcPct val="126000"/>
              </a:lnSpc>
            </a:pPr>
            <a:r>
              <a:rPr sz="1000" b="0" i="0">
                <a:solidFill>
                  <a:srgbClr val="21295C"/>
                </a:solidFill>
                <a:latin typeface="Arial"/>
              </a:rPr>
              <a:t>• Нельзя сопровождать — дерева построения нет, «поменять диаметр и пересчитать» невозможно</a:t>
            </a:r>
          </a:p>
        </p:txBody>
      </p:sp>
      <p:sp>
        <p:nvSpPr>
          <p:cNvPr id="19" name="Rounded Rectangle 18"/>
          <p:cNvSpPr/>
          <p:nvPr/>
        </p:nvSpPr>
        <p:spPr>
          <a:xfrm>
            <a:off x="6251295" y="3839838"/>
            <a:ext cx="5437479" cy="1882884"/>
          </a:xfrm>
          <a:prstGeom prst="roundRect">
            <a:avLst>
              <a:gd name="adj" fmla="val 16187"/>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99528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Где генератор в том же конвейере полезен</a:t>
            </a:r>
          </a:p>
        </p:txBody>
      </p:sp>
      <p:sp>
        <p:nvSpPr>
          <p:cNvPr id="21" name="TextBox 20"/>
          <p:cNvSpPr txBox="1"/>
          <p:nvPr/>
        </p:nvSpPr>
        <p:spPr>
          <a:xfrm>
            <a:off x="6415887" y="4351465"/>
            <a:ext cx="5108295" cy="121580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На стадии поиска облика — раскадровка идей, варианты формы, настроение</a:t>
            </a:r>
          </a:p>
          <a:p>
            <a:pPr algn="l">
              <a:lnSpc>
                <a:spcPct val="126000"/>
              </a:lnSpc>
            </a:pPr>
            <a:r>
              <a:rPr sz="1050" b="0" i="0">
                <a:solidFill>
                  <a:srgbClr val="21295C"/>
                </a:solidFill>
                <a:latin typeface="Arial"/>
              </a:rPr>
              <a:t>• В визуализации уже посчитанного — рендер по готовой геометрии, окружение, свет</a:t>
            </a:r>
          </a:p>
          <a:p>
            <a:pPr algn="l">
              <a:lnSpc>
                <a:spcPct val="126000"/>
              </a:lnSpc>
            </a:pPr>
            <a:r>
              <a:rPr sz="1050" b="0" i="0">
                <a:solidFill>
                  <a:srgbClr val="21295C"/>
                </a:solidFill>
                <a:latin typeface="Arial"/>
              </a:rPr>
              <a:t>• В презентационных материалах</a:t>
            </a:r>
          </a:p>
          <a:p>
            <a:pPr algn="l">
              <a:lnSpc>
                <a:spcPct val="126000"/>
              </a:lnSpc>
            </a:pPr>
            <a:r>
              <a:rPr sz="1050" b="0" i="0">
                <a:solidFill>
                  <a:srgbClr val="21295C"/>
                </a:solidFill>
                <a:latin typeface="Arial"/>
              </a:rPr>
              <a:t>• Граница проходит там, где картинка перестаёт быть иллюстрацией</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Изображение детали, на котором «похоже, что резьба М12», не содержит резьбы М12: в нём точки растра, похожие на фотографии резьбы.</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«RAG для картинок» — категориальная ошибка</a:t>
            </a:r>
          </a:p>
        </p:txBody>
      </p:sp>
      <p:sp>
        <p:nvSpPr>
          <p:cNvPr id="4" name="Rounded Rectangle 3"/>
          <p:cNvSpPr/>
          <p:nvPr/>
        </p:nvSpPr>
        <p:spPr>
          <a:xfrm>
            <a:off x="502920"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ПРАВОВАЯ ПРОВЕРКА ВЫХОДА ИЗНУТРИ МОДЕЛИ</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невозможна</a:t>
            </a:r>
          </a:p>
        </p:txBody>
      </p:sp>
      <p:sp>
        <p:nvSpPr>
          <p:cNvPr id="7" name="TextBox 6"/>
          <p:cNvSpPr txBox="1"/>
          <p:nvPr/>
        </p:nvSpPr>
        <p:spPr>
          <a:xfrm>
            <a:off x="640080" y="235984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похоже ли это на чужую охраняемую работу — определяется только сравнением снаружи, обратным поиском по изображению</a:t>
            </a:r>
          </a:p>
        </p:txBody>
      </p:sp>
      <p:sp>
        <p:nvSpPr>
          <p:cNvPr id="8" name="Rounded Rectangle 7"/>
          <p:cNvSpPr/>
          <p:nvPr/>
        </p:nvSpPr>
        <p:spPr>
          <a:xfrm>
            <a:off x="3340531"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«УДАЛИТЬ ОДИН ФАКТ» ИЗ МОДЕЛИ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нельзя</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же ограничение, что у весов языковой модели. Отсюда вся индустрия фильтров НА ВЫХОДЕ вместо правок внутри</a:t>
            </a:r>
          </a:p>
        </p:txBody>
      </p:sp>
      <p:sp>
        <p:nvSpPr>
          <p:cNvPr id="12" name="Rounded Rectangle 11"/>
          <p:cNvSpPr/>
          <p:nvPr/>
        </p:nvSpPr>
        <p:spPr>
          <a:xfrm>
            <a:off x="6178143"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ВЗЯЛИСЬ ПОДПИСЬ ПРОИСХОЖДЕНИЯ И ВСТРОЕННЫЙ ВОДЯНОЙ ЗНАК</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оттуда же</a:t>
            </a:r>
          </a:p>
        </p:txBody>
      </p:sp>
      <p:sp>
        <p:nvSpPr>
          <p:cNvPr id="15" name="TextBox 14"/>
          <p:cNvSpPr txBox="1"/>
          <p:nvPr/>
        </p:nvSpPr>
        <p:spPr>
          <a:xfrm>
            <a:off x="6315303"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происхождение нельзя восстановить из содержимого, его прикрепляют снаружи как подписанные метаданные. Это инженерное признание того, что внутри модели задача не решается</a:t>
            </a:r>
          </a:p>
        </p:txBody>
      </p:sp>
      <p:sp>
        <p:nvSpPr>
          <p:cNvPr id="16" name="Rounded Rectangle 15"/>
          <p:cNvSpPr/>
          <p:nvPr/>
        </p:nvSpPr>
        <p:spPr>
          <a:xfrm>
            <a:off x="9015755" y="1335024"/>
            <a:ext cx="2673019" cy="284815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ВЫВОД ОДНОЙ СТРОКОЙ</a:t>
            </a:r>
          </a:p>
        </p:txBody>
      </p:sp>
      <p:sp>
        <p:nvSpPr>
          <p:cNvPr id="18" name="TextBox 17"/>
          <p:cNvSpPr txBox="1"/>
          <p:nvPr/>
        </p:nvSpPr>
        <p:spPr>
          <a:xfrm>
            <a:off x="9152915" y="1725375"/>
            <a:ext cx="2398699"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ложное утверждение проверяется обращением к источнику, невозможная картинка — обращением к физике</a:t>
            </a:r>
          </a:p>
        </p:txBody>
      </p:sp>
      <p:sp>
        <p:nvSpPr>
          <p:cNvPr id="19" name="TextBox 18"/>
          <p:cNvSpPr txBox="1"/>
          <p:nvPr/>
        </p:nvSpPr>
        <p:spPr>
          <a:xfrm>
            <a:off x="9152915" y="278044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подкладывать в расшумление нечего, потому что оно не устроено как ответ на вопрос по документу</a:t>
            </a:r>
          </a:p>
        </p:txBody>
      </p:sp>
      <p:sp>
        <p:nvSpPr>
          <p:cNvPr id="20" name="Rounded Rectangle 19"/>
          <p:cNvSpPr/>
          <p:nvPr/>
        </p:nvSpPr>
        <p:spPr>
          <a:xfrm>
            <a:off x="502920"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85216"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техническое задание</a:t>
            </a:r>
          </a:p>
        </p:txBody>
      </p:sp>
      <p:sp>
        <p:nvSpPr>
          <p:cNvPr id="22" name="Right Arrow 21"/>
          <p:cNvSpPr/>
          <p:nvPr/>
        </p:nvSpPr>
        <p:spPr>
          <a:xfrm>
            <a:off x="3139363" y="465400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3367963"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450259"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и условия обусловливания</a:t>
            </a:r>
          </a:p>
        </p:txBody>
      </p:sp>
      <p:sp>
        <p:nvSpPr>
          <p:cNvPr id="25" name="Right Arrow 24"/>
          <p:cNvSpPr/>
          <p:nvPr/>
        </p:nvSpPr>
        <p:spPr>
          <a:xfrm>
            <a:off x="6004407" y="4654002"/>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33007"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15303"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 серая, без ручек управления</a:t>
            </a:r>
          </a:p>
        </p:txBody>
      </p:sp>
      <p:sp>
        <p:nvSpPr>
          <p:cNvPr id="28" name="Right Arrow 27"/>
          <p:cNvSpPr/>
          <p:nvPr/>
        </p:nvSpPr>
        <p:spPr>
          <a:xfrm>
            <a:off x="8869451" y="465400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098051"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180347"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снаружи: детектор, метрика, человек</a:t>
            </a:r>
          </a:p>
        </p:txBody>
      </p:sp>
      <p:sp>
        <p:nvSpPr>
          <p:cNvPr id="31" name="TextBox 30"/>
          <p:cNvSpPr txBox="1"/>
          <p:nvPr/>
        </p:nvSpPr>
        <p:spPr>
          <a:xfrm>
            <a:off x="502920" y="511567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вокруг модели: ограничения живут в нём. При «не годно» — возврат к описанию и условиям</a:t>
            </a:r>
          </a:p>
        </p:txBody>
      </p:sp>
      <p:sp>
        <p:nvSpPr>
          <p:cNvPr id="32" name="Rounded Rectangle 31"/>
          <p:cNvSpPr/>
          <p:nvPr/>
        </p:nvSpPr>
        <p:spPr>
          <a:xfrm>
            <a:off x="374904" y="5418362"/>
            <a:ext cx="11441887" cy="81784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509802"/>
            <a:ext cx="11112703" cy="7264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приём, которым чинят уверенное враньё: положить источник в контекст и потребовать ссылку. Такого же для картинок нет, и причина устройственная.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стало с продавцом изображений</a:t>
            </a:r>
          </a:p>
        </p:txBody>
      </p:sp>
      <p:sp>
        <p:nvSpPr>
          <p:cNvPr id="4" name="Rounded Rectangle 3"/>
          <p:cNvSpPr/>
          <p:nvPr/>
        </p:nvSpPr>
        <p:spPr>
          <a:xfrm>
            <a:off x="502920"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 СТОКОВОГО АГЕНТСТВА ЗА ГОД</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321 000 → 240 000, то есть −25%</a:t>
            </a:r>
          </a:p>
        </p:txBody>
      </p:sp>
      <p:sp>
        <p:nvSpPr>
          <p:cNvPr id="7" name="TextBox 6"/>
          <p:cNvSpPr txBox="1"/>
          <p:nvPr/>
        </p:nvSpPr>
        <p:spPr>
          <a:xfrm>
            <a:off x="640080"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выручка −2,5% до $229,1 млн</a:t>
            </a:r>
          </a:p>
        </p:txBody>
      </p:sp>
      <p:sp>
        <p:nvSpPr>
          <p:cNvPr id="8" name="Rounded Rectangle 7"/>
          <p:cNvSpPr/>
          <p:nvPr/>
        </p:nvSpPr>
        <p:spPr>
          <a:xfrm>
            <a:off x="3340531"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ЯКОРЬ ЕДИНИЦЫ: НА ЧЁМ ЭТОТ ПРОДАВЕЦ ЗАРАБАТЫВАЛ</a:t>
            </a:r>
          </a:p>
        </p:txBody>
      </p:sp>
      <p:sp>
        <p:nvSpPr>
          <p:cNvPr id="10" name="TextBox 9"/>
          <p:cNvSpPr txBox="1"/>
          <p:nvPr/>
        </p:nvSpPr>
        <p:spPr>
          <a:xfrm>
            <a:off x="3477691"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$130–499 розница · ≈$2,50 опт за одно изображение</a:t>
            </a:r>
          </a:p>
        </p:txBody>
      </p:sp>
      <p:sp>
        <p:nvSpPr>
          <p:cNvPr id="11" name="TextBox 10"/>
          <p:cNvSpPr txBox="1"/>
          <p:nvPr/>
        </p:nvSpPr>
        <p:spPr>
          <a:xfrm>
            <a:off x="3477691" y="265219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$0,034–0,05 у генерации — разрыв ×73 к опту и до ×14 700 к рознице</a:t>
            </a:r>
          </a:p>
        </p:txBody>
      </p:sp>
      <p:sp>
        <p:nvSpPr>
          <p:cNvPr id="12" name="Rounded Rectangle 11"/>
          <p:cNvSpPr/>
          <p:nvPr/>
        </p:nvSpPr>
        <p:spPr>
          <a:xfrm>
            <a:off x="6178143" y="1335024"/>
            <a:ext cx="2673019" cy="286513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КОНЧИЛОСЬ</a:t>
            </a:r>
          </a:p>
        </p:txBody>
      </p:sp>
      <p:sp>
        <p:nvSpPr>
          <p:cNvPr id="14" name="TextBox 13"/>
          <p:cNvSpPr txBox="1"/>
          <p:nvPr/>
        </p:nvSpPr>
        <p:spPr>
          <a:xfrm>
            <a:off x="6315303" y="1725375"/>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долг ≈$2,1 млрд, заранее согласованное банкротство подано 12–13 октября 2026</a:t>
            </a:r>
          </a:p>
        </p:txBody>
      </p:sp>
      <p:sp>
        <p:nvSpPr>
          <p:cNvPr id="15" name="TextBox 14"/>
          <p:cNvSpPr txBox="1"/>
          <p:nvPr/>
        </p:nvSpPr>
        <p:spPr>
          <a:xfrm>
            <a:off x="6315303" y="2373048"/>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с конкурентом расторгнуто 7 июля 2026 после условия регулятора продать весь редакционный бизнес; торги остановлены 29 сентября; семья с партнёром вносит до $533 млн, кредиторы списывают $270 млн</a:t>
            </a:r>
          </a:p>
        </p:txBody>
      </p:sp>
      <p:sp>
        <p:nvSpPr>
          <p:cNvPr id="16" name="Rounded Rectangle 15"/>
          <p:cNvSpPr/>
          <p:nvPr/>
        </p:nvSpPr>
        <p:spPr>
          <a:xfrm>
            <a:off x="9015755"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ПРИЧИНУ НАЗВАЛА САМА КОМПАНИЯ</a:t>
            </a:r>
          </a:p>
        </p:txBody>
      </p:sp>
      <p:sp>
        <p:nvSpPr>
          <p:cNvPr id="18" name="TextBox 17"/>
          <p:cNvSpPr txBox="1"/>
          <p:nvPr/>
        </p:nvSpPr>
        <p:spPr>
          <a:xfrm>
            <a:off x="9152915" y="1932846"/>
            <a:ext cx="2398699" cy="927759"/>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«растущее давление изображений, созданных ИИ»</a:t>
            </a:r>
          </a:p>
        </p:txBody>
      </p:sp>
      <p:sp>
        <p:nvSpPr>
          <p:cNvPr id="19" name="TextBox 18"/>
          <p:cNvSpPr txBox="1"/>
          <p:nvPr/>
        </p:nvSpPr>
        <p:spPr>
          <a:xfrm>
            <a:off x="9152915" y="286060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её собственная формулировка, а не вывод обозревателя</a:t>
            </a:r>
          </a:p>
        </p:txBody>
      </p:sp>
      <p:sp>
        <p:nvSpPr>
          <p:cNvPr id="20" name="Rounded Rectangle 19"/>
          <p:cNvSpPr/>
          <p:nvPr/>
        </p:nvSpPr>
        <p:spPr>
          <a:xfrm>
            <a:off x="374904" y="4291596"/>
            <a:ext cx="11441887" cy="74961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383036"/>
            <a:ext cx="11112703" cy="1853171"/>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Измеренного ряда ставки самого иллюстратора год к году в источниках нет: обвал предъявлен там, где он посчитан, — на балансе продавца изображений.</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манёвр с разницей в двадцать лет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2006 — купить разрушителя цены. Сработало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владелец дорогой библиотеки покупает микросток</a:t>
            </a:r>
          </a:p>
          <a:p>
            <a:pPr algn="l">
              <a:lnSpc>
                <a:spcPct val="126000"/>
              </a:lnSpc>
            </a:pPr>
            <a:r>
              <a:rPr sz="1450" b="0" i="0">
                <a:solidFill>
                  <a:srgbClr val="21295C"/>
                </a:solidFill>
                <a:latin typeface="Arial"/>
              </a:rPr>
              <a:t>• рынок разделился на «дёшево и много» и «дорого и именно это»</a:t>
            </a:r>
          </a:p>
          <a:p>
            <a:pPr algn="l">
              <a:lnSpc>
                <a:spcPct val="126000"/>
              </a:lnSpc>
            </a:pPr>
            <a:r>
              <a:rPr sz="1450" b="0" i="0">
                <a:solidFill>
                  <a:srgbClr val="21295C"/>
                </a:solidFill>
                <a:latin typeface="Arial"/>
              </a:rPr>
              <a:t>• верхний сегмент выжил, и покупатель остался в нём главным</a:t>
            </a:r>
          </a:p>
          <a:p>
            <a:pPr algn="l">
              <a:lnSpc>
                <a:spcPct val="126000"/>
              </a:lnSpc>
            </a:pPr>
            <a:r>
              <a:rPr sz="1450" b="0" i="0">
                <a:solidFill>
                  <a:srgbClr val="21295C"/>
                </a:solidFill>
                <a:latin typeface="Arial"/>
              </a:rPr>
              <a:t>• микросток был НОВЫМ КАНАЛОМ продажи той же вещи — фотографии, снятой человеком</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2026 — купить конкурента. Не прошло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слияние расторгнуто условием регулятора</a:t>
            </a:r>
          </a:p>
          <a:p>
            <a:pPr algn="l">
              <a:lnSpc>
                <a:spcPct val="126000"/>
              </a:lnSpc>
            </a:pPr>
            <a:r>
              <a:rPr sz="1450" b="0" i="0">
                <a:solidFill>
                  <a:srgbClr val="21295C"/>
                </a:solidFill>
                <a:latin typeface="Arial"/>
              </a:rPr>
              <a:t>• торги остановлены, подано банкротство</a:t>
            </a:r>
          </a:p>
          <a:p>
            <a:pPr algn="l">
              <a:lnSpc>
                <a:spcPct val="126000"/>
              </a:lnSpc>
            </a:pPr>
            <a:r>
              <a:rPr sz="1450" b="0" i="0">
                <a:solidFill>
                  <a:srgbClr val="21295C"/>
                </a:solidFill>
                <a:latin typeface="Arial"/>
              </a:rPr>
              <a:t>• прежняя формулировка «консолидируются в ответ на ИИ» снята: правильная — попытка защититься не сработала</a:t>
            </a:r>
          </a:p>
          <a:p>
            <a:pPr algn="l">
              <a:lnSpc>
                <a:spcPct val="126000"/>
              </a:lnSpc>
            </a:pPr>
            <a:r>
              <a:rPr sz="1450" b="0" i="0">
                <a:solidFill>
                  <a:srgbClr val="21295C"/>
                </a:solidFill>
                <a:latin typeface="Arial"/>
              </a:rPr>
              <a:t>• генерация — ОТСУТСТВИЕ ВЕЩИ, которую нужно лицензировать. Купить её владельца невозможно: владельца нет</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Когда дешевеет канал, выживает тот, кто его купит. Когда обесценивается сама единица, покупать нечего: владельца у неё нет.</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корпоративные сообщения Getty Images, 2006 и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Правовой разбор: Getty против Stability — что суд решил и чего не решил</a:t>
            </a:r>
          </a:p>
        </p:txBody>
      </p:sp>
      <p:sp>
        <p:nvSpPr>
          <p:cNvPr id="4" name="Rounded Rectangle 3"/>
          <p:cNvSpPr/>
          <p:nvPr/>
        </p:nvSpPr>
        <p:spPr>
          <a:xfrm>
            <a:off x="502920" y="1335024"/>
            <a:ext cx="27034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725375"/>
            <a:ext cx="242910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2576747"/>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3370935" y="1335024"/>
            <a:ext cx="27034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3508095" y="1725375"/>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3508095" y="2542797"/>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502920" y="3689523"/>
            <a:ext cx="5571439" cy="1648596"/>
          </a:xfrm>
          <a:prstGeom prst="roundRect">
            <a:avLst>
              <a:gd name="adj" fmla="val 184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826683"/>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ИСТЕЦ ПРОИГРАЛ — И ЭТО НЕ ТО, ЧТО ВСЕ ДУМАЮТ</a:t>
            </a:r>
          </a:p>
        </p:txBody>
      </p:sp>
      <p:sp>
        <p:nvSpPr>
          <p:cNvPr id="14" name="TextBox 13"/>
          <p:cNvSpPr txBox="1"/>
          <p:nvPr/>
        </p:nvSpPr>
        <p:spPr>
          <a:xfrm>
            <a:off x="640080" y="4079874"/>
            <a:ext cx="5297119"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в ходе слушаний июня 2025 года он САМ отказался от основных требований</a:t>
            </a:r>
          </a:p>
        </p:txBody>
      </p:sp>
      <p:sp>
        <p:nvSpPr>
          <p:cNvPr id="15" name="TextBox 14"/>
          <p:cNvSpPr txBox="1"/>
          <p:nvPr/>
        </p:nvSpPr>
        <p:spPr>
          <a:xfrm>
            <a:off x="640080" y="4778472"/>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хватило доказательств, что обучение происходило в британской юрисдикции. Формулировка «суд признал обучение законным» неверна</a:t>
            </a:r>
          </a:p>
        </p:txBody>
      </p:sp>
      <p:sp>
        <p:nvSpPr>
          <p:cNvPr id="16" name="Rounded Rectangle 15"/>
          <p:cNvSpPr/>
          <p:nvPr/>
        </p:nvSpPr>
        <p:spPr>
          <a:xfrm>
            <a:off x="374904" y="5429559"/>
            <a:ext cx="11441887" cy="8066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520999"/>
            <a:ext cx="11112703" cy="7152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Чего суд не решил:</a:t>
            </a:r>
            <a:r>
              <a:rPr sz="1500" b="0" i="0">
                <a:solidFill>
                  <a:srgbClr val="21295C"/>
                </a:solidFill>
                <a:latin typeface="Arial"/>
              </a:rPr>
              <a:t> законно ли само обучение · что было бы, если бы обучение доказуемо шло в Великобритании · устоит ли вывод о весах в апелляции.</a:t>
            </a:r>
          </a:p>
        </p:txBody>
      </p:sp>
      <p:sp>
        <p:nvSpPr>
          <p:cNvPr id="18" name="Rounded Rectangle 17"/>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9" name="Picture 18" descr="s30-royal-courts.jpg"/>
          <p:cNvPicPr>
            <a:picLocks noChangeAspect="1"/>
          </p:cNvPicPr>
          <p:nvPr/>
        </p:nvPicPr>
        <p:blipFill>
          <a:blip r:embed="rId2"/>
          <a:stretch>
            <a:fillRect/>
          </a:stretch>
        </p:blipFill>
        <p:spPr>
          <a:xfrm>
            <a:off x="6522415" y="1472184"/>
            <a:ext cx="5029200" cy="335149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против Stability: экономика рядом с решением</a:t>
            </a:r>
          </a:p>
        </p:txBody>
      </p:sp>
      <p:sp>
        <p:nvSpPr>
          <p:cNvPr id="4" name="Rounded Rectangle 3"/>
          <p:cNvSpPr/>
          <p:nvPr/>
        </p:nvSpPr>
        <p:spPr>
          <a:xfrm>
            <a:off x="502920"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12,3 млн изображений истца из ≈5,85 млрд пар</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оптовому тарифу $2,50 это ≈$30,75 млн; по рознице $130 — ≈$1,6 млрд. Разброс в пятьдесят раз даёт один только выбор тарифа внутри классического режима</a:t>
            </a:r>
          </a:p>
        </p:txBody>
      </p:sp>
      <p:sp>
        <p:nvSpPr>
          <p:cNvPr id="8" name="Rounded Rectangle 7"/>
          <p:cNvSpPr/>
          <p:nvPr/>
        </p:nvSpPr>
        <p:spPr>
          <a:xfrm>
            <a:off x="6178143"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ДЛЯ СРАВНЕНИЯ — РЕАЛЬНО СОГЛАСОВАННАЯ СТАВКА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$0,002–0,005 за генерацию</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три-четыре порядка ниже стокового тарифа за единицу. Статутный потолок свыше $9 млрд — величина теоретическая и никем не присуждённая</a:t>
            </a:r>
          </a:p>
        </p:txBody>
      </p:sp>
      <p:sp>
        <p:nvSpPr>
          <p:cNvPr id="12" name="Rounded Rectangle 11"/>
          <p:cNvSpPr/>
          <p:nvPr/>
        </p:nvSpPr>
        <p:spPr>
          <a:xfrm>
            <a:off x="374904" y="3405128"/>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спор в США проигрывают иначе:</a:t>
            </a:r>
            <a:r>
              <a:rPr sz="1500" b="0" i="0">
                <a:solidFill>
                  <a:srgbClr val="21295C"/>
                </a:solidFill>
                <a:latin typeface="Arial"/>
              </a:rPr>
              <a:t> там обучение на законно приобретённых материалах признают преобразующим использованием, в Великобритании — истец не доказал, где оно физически происходило.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Встречая сумму иска в заголовке, спросите, по какому тарифу она посчитана.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решение 4 ноября 2025 года</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4 265 146 304 байта ÷ 2 320 000 000 изображений = 1,84 байта</a:t>
            </a:r>
          </a:p>
        </p:txBody>
      </p:sp>
      <p:sp>
        <p:nvSpPr>
          <p:cNvPr id="7" name="TextBox 6"/>
          <p:cNvSpPr txBox="1"/>
          <p:nvPr/>
        </p:nvSpPr>
        <p:spPr>
          <a:xfrm>
            <a:off x="640080" y="216934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символ кириллицы в этой кодировке занимает ровно два байта — то есть меньше, чем на одну букву этой фразы</a:t>
            </a:r>
          </a:p>
        </p:txBody>
      </p:sp>
      <p:sp>
        <p:nvSpPr>
          <p:cNvPr id="8" name="Rounded Rectangle 7"/>
          <p:cNvSpPr/>
          <p:nvPr/>
        </p:nvSpPr>
        <p:spPr>
          <a:xfrm>
            <a:off x="3340531"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СТЕПЕНЬ СЖАТИЯ ПО КОРПУСУ</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×22 508</a:t>
            </a:r>
          </a:p>
        </p:txBody>
      </p:sp>
      <p:sp>
        <p:nvSpPr>
          <p:cNvPr id="11" name="TextBox 10"/>
          <p:cNvSpPr txBox="1"/>
          <p:nvPr/>
        </p:nvSpPr>
        <p:spPr>
          <a:xfrm>
            <a:off x="3477691" y="2359845"/>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 картинка в том же корпусе весит в среднем 41 379 байт: это измерено — инструмент скачивания отчитался о 240 ТБ на 5,8 млрд изображений</a:t>
            </a:r>
          </a:p>
        </p:txBody>
      </p:sp>
      <p:sp>
        <p:nvSpPr>
          <p:cNvPr id="12" name="Rounded Rectangle 11"/>
          <p:cNvSpPr/>
          <p:nvPr/>
        </p:nvSpPr>
        <p:spPr>
          <a:xfrm>
            <a:off x="6178143"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АЛЬТЕРНАТИВНЫХ СЧЁТА, ЧТОБЫ ВЫВОД НЕ ДЕРЖАЛСЯ НА ОДНОМ ДЕЛЕНИИ</a:t>
            </a:r>
          </a:p>
        </p:txBody>
      </p:sp>
      <p:sp>
        <p:nvSpPr>
          <p:cNvPr id="14" name="TextBox 13"/>
          <p:cNvSpPr txBox="1"/>
          <p:nvPr/>
        </p:nvSpPr>
        <p:spPr>
          <a:xfrm>
            <a:off x="6315303" y="23477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3,32 байта в полной точности · 26,7 байта против 160 млн примеров</a:t>
            </a:r>
          </a:p>
        </p:txBody>
      </p:sp>
      <p:sp>
        <p:nvSpPr>
          <p:cNvPr id="15" name="TextBox 14"/>
          <p:cNvSpPr txBox="1"/>
          <p:nvPr/>
        </p:nvSpPr>
        <p:spPr>
          <a:xfrm>
            <a:off x="6315303" y="2995462"/>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по самому щедрому к версии «модель хранит картинки» счёту она в полторы тысячи раз меньше того, на чём училась: файл JPEG 512×512 короче двадцати тысяч байт не бывает</a:t>
            </a:r>
          </a:p>
        </p:txBody>
      </p:sp>
      <p:sp>
        <p:nvSpPr>
          <p:cNvPr id="16" name="Rounded Rectangle 15"/>
          <p:cNvSpPr/>
          <p:nvPr/>
        </p:nvSpPr>
        <p:spPr>
          <a:xfrm>
            <a:off x="9015755" y="1335024"/>
            <a:ext cx="2673019" cy="327630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ВСПОМОГАТЕЛЬНОЕ НАБЛЮДЕНИЕ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репозиторий одних только ссылок и подписей весит 467 ГБ</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пересчёте на все пары около 1,18 ТБ — то есть список ссылок весит в 275 раз больше, чем вся модель</a:t>
            </a:r>
          </a:p>
        </p:txBody>
      </p:sp>
      <p:sp>
        <p:nvSpPr>
          <p:cNvPr id="20" name="Rounded Rectangle 19"/>
          <p:cNvSpPr/>
          <p:nvPr/>
        </p:nvSpPr>
        <p:spPr>
          <a:xfrm>
            <a:off x="374904" y="4702766"/>
            <a:ext cx="11441887" cy="1533441"/>
          </a:xfrm>
          <a:prstGeom prst="roundRect">
            <a:avLst>
              <a:gd name="adj" fmla="val 1987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206"/>
            <a:ext cx="11112703" cy="144200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Модель весит 4,27 ГБ и обучена на 2,32 млрд изображений. Сколько байт приходится на одно обучающее изображение: килобайт, сто байт или меньше буквы?</a:t>
            </a:r>
          </a:p>
          <a:p>
            <a:pPr algn="l">
              <a:lnSpc>
                <a:spcPct val="126000"/>
              </a:lnSpc>
              <a:spcBef>
                <a:spcPts val="700"/>
              </a:spcBef>
            </a:pPr>
            <a:r>
              <a:rPr sz="1250" b="0" i="0">
                <a:solidFill>
                  <a:srgbClr val="21295C"/>
                </a:solidFill>
                <a:latin typeface="Arial"/>
              </a:rPr>
              <a:t/>
            </a:r>
            <a:r>
              <a:rPr sz="1250" b="1" i="0">
                <a:solidFill>
                  <a:srgbClr val="21295C"/>
                </a:solidFill>
                <a:latin typeface="Arial"/>
              </a:rPr>
              <a:t>И всё же дубликаты запоминаются.</a:t>
            </a:r>
            <a:r>
              <a:rPr sz="1250" b="0" i="0">
                <a:solidFill>
                  <a:srgbClr val="21295C"/>
                </a:solidFill>
                <a:latin typeface="Arial"/>
              </a:rPr>
              <a:t> Отобрали 350 000 самых дублированных примеров, сгенерировали 175 миллионов кандидатов — и нашли 109 извлечённых: 0,000062% от сгенерированного, 0,031% от самых дублированных запросов. Порог — сто дубликатов в корпусе.</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Первая половина без второй — реклама. Вторая без первой — обвинение.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Восемь строк правового контура, каждая со статусом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США: авторства у сгенерированного без человеческого вклада нет</a:t>
            </a:r>
            <a:r>
              <a:rPr sz="1500" b="0" i="0">
                <a:solidFill>
                  <a:srgbClr val="21295C"/>
                </a:solidFill>
                <a:latin typeface="Arial"/>
              </a:rPr>
              <a:t> → решение окончательное (отказ в пересмотре 2 марта 2026)</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США: $1,5 млрд — за хранение пиратской библиотеки, а не за обучение.</a:t>
            </a:r>
            <a:r>
              <a:rPr sz="1500" b="0" i="0">
                <a:solidFill>
                  <a:srgbClr val="21295C"/>
                </a:solidFill>
                <a:latin typeface="Arial"/>
              </a:rPr>
              <a:t> ≈$3 000 на произведение → мировое, вины не признано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Великобритания: веса модели копией произведения не являются.</a:t>
            </a:r>
            <a:r>
              <a:rPr sz="1500" b="0" i="0">
                <a:solidFill>
                  <a:srgbClr val="21295C"/>
                </a:solidFill>
                <a:latin typeface="Arial"/>
              </a:rPr>
              <a:t> Истец не доказал, где шло обучение → обжаловано, решения апелляции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ЕС: раскрытие и машиночитаемая маркировка обязательны,</a:t>
            </a:r>
            <a:r>
              <a:rPr sz="1500" b="0" i="0">
                <a:solidFill>
                  <a:srgbClr val="21295C"/>
                </a:solidFill>
                <a:latin typeface="Arial"/>
              </a:rPr>
              <a:t> санкция до 15 млн € или 3% оборота → закон в силе со 2 августа 2026</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РФ: исключение на обучение (opt-out) дано только суверенным и национальным моделям;</a:t>
            </a:r>
            <a:r>
              <a:rPr sz="1500" b="0" i="0">
                <a:solidFill>
                  <a:srgbClr val="21295C"/>
                </a:solidFill>
                <a:latin typeface="Arial"/>
              </a:rPr>
              <a:t> маркировка — право автора → нормы с 1 марта 2027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РФ: дипфейк суд защитил (500 000 ₽), сгенерированные изображения — нет</a:t>
            </a:r>
            <a:r>
              <a:rPr sz="1500" b="0" i="0">
                <a:solidFill>
                  <a:srgbClr val="21295C"/>
                </a:solidFill>
                <a:latin typeface="Arial"/>
              </a:rPr>
              <a:t> («технический, а не творческий труд») → три инстанции против первой с апелляцией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Голос: в России отдельной охраны нет,</a:t>
            </a:r>
            <a:r>
              <a:rPr sz="1500" b="0" i="0">
                <a:solidFill>
                  <a:srgbClr val="21295C"/>
                </a:solidFill>
                <a:latin typeface="Arial"/>
              </a:rPr>
              <a:t> проект не поддержан правительством; в США — законы двух штатов → расхождение юрисдикций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Музыка: рынок решил быстрее суда</a:t>
            </a:r>
            <a:r>
              <a:rPr sz="1500" b="0" i="0">
                <a:solidFill>
                  <a:srgbClr val="21295C"/>
                </a:solidFill>
                <a:latin typeface="Arial"/>
              </a:rPr>
              <a:t> — лицензии $0,002–0,005 за генерацию → сделки при незакрытых исках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разных статусов: иск подан · решение вынесено · мировое без признания вины · закон в силе · закон принят, в силу не вступил.</a:t>
            </a:r>
          </a:p>
        </p:txBody>
      </p:sp>
      <p:sp>
        <p:nvSpPr>
          <p:cNvPr id="7" name="Rectangle 6"/>
          <p:cNvSpPr/>
          <p:nvPr/>
        </p:nvSpPr>
        <p:spPr>
          <a:xfrm>
            <a:off x="6091275" y="1335024"/>
            <a:ext cx="9144" cy="48115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решение Высокого суда Англии и Уэльса, 4 ноября 2025</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300" b="0" i="0">
                <a:solidFill>
                  <a:srgbClr val="21295C"/>
                </a:solidFill>
                <a:latin typeface="Arial"/>
              </a:rPr>
              <a:t/>
            </a:r>
            <a:r>
              <a:rPr sz="13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47" name="Rectangle 46"/>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55" name="Rectangle 54"/>
          <p:cNvSpPr/>
          <p:nvPr/>
        </p:nvSpPr>
        <p:spPr>
          <a:xfrm>
            <a:off x="4971227"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Б</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16" name="Rounded Rectangle 15"/>
          <p:cNvSpPr/>
          <p:nvPr/>
        </p:nvSpPr>
        <p:spPr>
          <a:xfrm>
            <a:off x="374904" y="2592217"/>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11112703"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3618890"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чьим голосом и какой музыкой говорит материал</a:t>
            </a:r>
          </a:p>
        </p:txBody>
      </p:sp>
      <p:sp>
        <p:nvSpPr>
          <p:cNvPr id="7" name="TextBox 6"/>
          <p:cNvSpPr txBox="1"/>
          <p:nvPr/>
        </p:nvSpPr>
        <p:spPr>
          <a:xfrm>
            <a:off x="640080"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принимается до записи, меняется дорого</a:t>
            </a:r>
          </a:p>
        </p:txBody>
      </p:sp>
      <p:sp>
        <p:nvSpPr>
          <p:cNvPr id="8" name="Rounded Rectangle 7"/>
          <p:cNvSpPr/>
          <p:nvPr/>
        </p:nvSpPr>
        <p:spPr>
          <a:xfrm>
            <a:off x="4286402"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ПОКУПАЕТСЯ ВМЕСТЕ С ГОЛОСОМ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срок · территория · тип носителя</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координаты, каждая оплачивается отдельной строкой</a:t>
            </a:r>
          </a:p>
        </p:txBody>
      </p:sp>
      <p:sp>
        <p:nvSpPr>
          <p:cNvPr id="12" name="Rounded Rectangle 11"/>
          <p:cNvSpPr/>
          <p:nvPr/>
        </p:nvSpPr>
        <p:spPr>
          <a:xfrm>
            <a:off x="8069884"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ВЫХОДА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картинка 1024×1024 — 4 096 токенов; пять секунд видео высокой чёткости — 249 240</a:t>
            </a:r>
          </a:p>
        </p:txBody>
      </p:sp>
      <p:sp>
        <p:nvSpPr>
          <p:cNvPr id="16" name="Rounded Rectangle 15"/>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8" name="TextBox 17"/>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Синтез речи: текст плюс выбранный голос → звучащая речь</a:t>
            </a:r>
          </a:p>
          <a:p>
            <a:pPr algn="l">
              <a:lnSpc>
                <a:spcPct val="126000"/>
              </a:lnSpc>
            </a:pPr>
            <a:r>
              <a:rPr sz="100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100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1000" b="0" i="0">
                <a:solidFill>
                  <a:srgbClr val="21295C"/>
                </a:solidFill>
                <a:latin typeface="Arial"/>
              </a:rPr>
              <a:t>• Генерация музыки: описание словами → готовый трек</a:t>
            </a:r>
          </a:p>
          <a:p>
            <a:pPr algn="l">
              <a:lnSpc>
                <a:spcPct val="126000"/>
              </a:lnSpc>
            </a:pPr>
            <a:r>
              <a:rPr sz="1000" b="0" i="0">
                <a:solidFill>
                  <a:srgbClr val="21295C"/>
                </a:solidFill>
                <a:latin typeface="Arial"/>
              </a:rPr>
              <a:t>• Разделение источников: сведённая запись → отдельно вокал, барабаны, бас</a:t>
            </a:r>
          </a:p>
        </p:txBody>
      </p:sp>
      <p:sp>
        <p:nvSpPr>
          <p:cNvPr id="19" name="Rounded Rectangle 18"/>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1" name="TextBox 20"/>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950" b="0" i="0">
                <a:solidFill>
                  <a:srgbClr val="21295C"/>
                </a:solidFill>
                <a:latin typeface="Arial"/>
              </a:rPr>
              <a:t>• Домашняя будка: диктор у себя, заказчик подключается удалённо</a:t>
            </a:r>
          </a:p>
          <a:p>
            <a:pPr algn="l">
              <a:lnSpc>
                <a:spcPct val="126000"/>
              </a:lnSpc>
            </a:pPr>
            <a:r>
              <a:rPr sz="950" b="0" i="0">
                <a:solidFill>
                  <a:srgbClr val="21295C"/>
                </a:solidFill>
                <a:latin typeface="Arial"/>
              </a:rPr>
              <a:t>• Удалённая сессия с режиссурой: правка дубль за дублем по сети</a:t>
            </a:r>
          </a:p>
          <a:p>
            <a:pPr algn="l">
              <a:lnSpc>
                <a:spcPct val="126000"/>
              </a:lnSpc>
            </a:pPr>
            <a:r>
              <a:rPr sz="950" b="0" i="0">
                <a:solidFill>
                  <a:srgbClr val="21295C"/>
                </a:solidFill>
                <a:latin typeface="Arial"/>
              </a:rPr>
              <a:t>• Архив: радиоэфиры, интервью, прежние роли, корпоративные начитки</a:t>
            </a:r>
          </a:p>
          <a:p>
            <a:pPr algn="l">
              <a:lnSpc>
                <a:spcPct val="126000"/>
              </a:lnSpc>
            </a:pPr>
            <a:r>
              <a:rPr sz="95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950" b="0" i="0">
                <a:solidFill>
                  <a:srgbClr val="21295C"/>
                </a:solidFill>
                <a:latin typeface="Arial"/>
              </a:rPr>
              <a:t>• Лицензированная библиотека: двадцать тысяч часов музыки с оформленными правами</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Узнаваемость — то, чего нет ни у иллюстрации, ни у фона в кадре: голос опознаётся слушателем как принадлежащий конкретному человеку. Поэтому за звук платят по каждой координате использования отдельно.</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260862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773009"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910169"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910169"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504309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5180258"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731318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745034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200–1 500 $ за минуту</a:t>
            </a:r>
          </a:p>
        </p:txBody>
      </p:sp>
      <p:sp>
        <p:nvSpPr>
          <p:cNvPr id="19" name="TextBox 18"/>
          <p:cNvSpPr txBox="1"/>
          <p:nvPr/>
        </p:nvSpPr>
        <p:spPr>
          <a:xfrm>
            <a:off x="7450348" y="275026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9583277"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9720437"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956,75 $ за четыре часа</a:t>
            </a:r>
          </a:p>
        </p:txBody>
      </p:sp>
      <p:sp>
        <p:nvSpPr>
          <p:cNvPr id="23" name="TextBox 22"/>
          <p:cNvSpPr txBox="1"/>
          <p:nvPr/>
        </p:nvSpPr>
        <p:spPr>
          <a:xfrm>
            <a:off x="9720437" y="294076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4126526"/>
            <a:ext cx="5437479" cy="2109681"/>
          </a:xfrm>
          <a:prstGeom prst="roundRect">
            <a:avLst>
              <a:gd name="adj" fmla="val 1444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28197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4638152"/>
            <a:ext cx="5108295" cy="1442607"/>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Живой диктор: доллар за готовую минуту, со всеми дублями внутри цены</a:t>
            </a:r>
          </a:p>
          <a:p>
            <a:pPr algn="l">
              <a:lnSpc>
                <a:spcPct val="126000"/>
              </a:lnSpc>
            </a:pPr>
            <a:r>
              <a:rPr sz="1200" b="0" i="0">
                <a:solidFill>
                  <a:srgbClr val="21295C"/>
                </a:solidFill>
                <a:latin typeface="Arial"/>
              </a:rPr>
              <a:t>• Стоковая лицензия на трек: 20–100 $ — правильная опорная пара для генерации</a:t>
            </a:r>
          </a:p>
          <a:p>
            <a:pPr algn="l">
              <a:lnSpc>
                <a:spcPct val="126000"/>
              </a:lnSpc>
            </a:pPr>
            <a:r>
              <a:rPr sz="12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6251295" y="4126526"/>
            <a:ext cx="5437479" cy="2109681"/>
          </a:xfrm>
          <a:prstGeom prst="roundRect">
            <a:avLst>
              <a:gd name="adj" fmla="val 1444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28197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6415887" y="4638152"/>
            <a:ext cx="5108295" cy="144260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«НЕ УСПЕТЬ»</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голос теряется навсегда</a:t>
            </a:r>
          </a:p>
        </p:txBody>
      </p:sp>
      <p:sp>
        <p:nvSpPr>
          <p:cNvPr id="7" name="TextBox 6"/>
          <p:cNvSpPr txBox="1"/>
          <p:nvPr/>
        </p:nvSpPr>
        <p:spPr>
          <a:xfrm>
            <a:off x="640080" y="314069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a:t>
            </a:r>
          </a:p>
        </p:txBody>
      </p:sp>
      <p:sp>
        <p:nvSpPr>
          <p:cNvPr id="8" name="Rounded Rectangle 7"/>
          <p:cNvSpPr/>
          <p:nvPr/>
        </p:nvSpPr>
        <p:spPr>
          <a:xfrm>
            <a:off x="2773009"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«ЗАПИСАТЬ РАНО»</a:t>
            </a:r>
          </a:p>
        </p:txBody>
      </p:sp>
      <p:sp>
        <p:nvSpPr>
          <p:cNvPr id="10" name="TextBox 9"/>
          <p:cNvSpPr txBox="1"/>
          <p:nvPr/>
        </p:nvSpPr>
        <p:spPr>
          <a:xfrm>
            <a:off x="2910169" y="1932846"/>
            <a:ext cx="1831177"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часы и силы в худший период жизни</a:t>
            </a:r>
          </a:p>
        </p:txBody>
      </p:sp>
      <p:sp>
        <p:nvSpPr>
          <p:cNvPr id="11" name="TextBox 10"/>
          <p:cNvSpPr txBox="1"/>
          <p:nvPr/>
        </p:nvSpPr>
        <p:spPr>
          <a:xfrm>
            <a:off x="2910169" y="2987917"/>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денежной шкалы у этого случая нет, и это свойство случая</a:t>
            </a:r>
          </a:p>
        </p:txBody>
      </p:sp>
      <p:sp>
        <p:nvSpPr>
          <p:cNvPr id="12" name="Rounded Rectangle 11"/>
          <p:cNvSpPr/>
          <p:nvPr/>
        </p:nvSpPr>
        <p:spPr>
          <a:xfrm>
            <a:off x="5043098" y="1335024"/>
            <a:ext cx="2105497" cy="3202744"/>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БАНКИРОВАНИЕ ГОЛОСА</a:t>
            </a:r>
          </a:p>
        </p:txBody>
      </p:sp>
      <p:sp>
        <p:nvSpPr>
          <p:cNvPr id="14" name="TextBox 13"/>
          <p:cNvSpPr txBox="1"/>
          <p:nvPr/>
        </p:nvSpPr>
        <p:spPr>
          <a:xfrm>
            <a:off x="5180258"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5" name="TextBox 14"/>
          <p:cNvSpPr txBox="1"/>
          <p:nvPr/>
        </p:nvSpPr>
        <p:spPr>
          <a:xfrm>
            <a:off x="5180258" y="355563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часов записи по протоколу, ни стоимости услуги</a:t>
            </a:r>
          </a:p>
        </p:txBody>
      </p:sp>
      <p:sp>
        <p:nvSpPr>
          <p:cNvPr id="16" name="Rounded Rectangle 15"/>
          <p:cNvSpPr/>
          <p:nvPr/>
        </p:nvSpPr>
        <p:spPr>
          <a:xfrm>
            <a:off x="7313188"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БЕЗЛИЧНЫЙ ГОЛОС ИЗ КОРОБКИ</a:t>
            </a:r>
          </a:p>
        </p:txBody>
      </p:sp>
      <p:sp>
        <p:nvSpPr>
          <p:cNvPr id="18" name="TextBox 17"/>
          <p:cNvSpPr txBox="1"/>
          <p:nvPr/>
        </p:nvSpPr>
        <p:spPr>
          <a:xfrm>
            <a:off x="7450348" y="2347789"/>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дёшев и доступен давно</a:t>
            </a:r>
          </a:p>
        </p:txBody>
      </p:sp>
      <p:sp>
        <p:nvSpPr>
          <p:cNvPr id="19" name="TextBox 18"/>
          <p:cNvSpPr txBox="1"/>
          <p:nvPr/>
        </p:nvSpPr>
        <p:spPr>
          <a:xfrm>
            <a:off x="7450348" y="3555634"/>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ту же единицу не складывается: даёт другой исход, человек говорит чужим голосом</a:t>
            </a:r>
          </a:p>
        </p:txBody>
      </p:sp>
      <p:sp>
        <p:nvSpPr>
          <p:cNvPr id="20" name="Rounded Rectangle 19"/>
          <p:cNvSpPr/>
          <p:nvPr/>
        </p:nvSpPr>
        <p:spPr>
          <a:xfrm>
            <a:off x="9583277"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22" name="TextBox 21"/>
          <p:cNvSpPr txBox="1"/>
          <p:nvPr/>
        </p:nvSpPr>
        <p:spPr>
          <a:xfrm>
            <a:off x="9720437" y="1725375"/>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23" name="TextBox 22"/>
          <p:cNvSpPr txBox="1"/>
          <p:nvPr/>
        </p:nvSpPr>
        <p:spPr>
          <a:xfrm>
            <a:off x="9720437" y="237304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a:t>
            </a:r>
          </a:p>
        </p:txBody>
      </p:sp>
      <p:sp>
        <p:nvSpPr>
          <p:cNvPr id="24" name="TextBox 23"/>
          <p:cNvSpPr txBox="1"/>
          <p:nvPr/>
        </p:nvSpPr>
        <p:spPr>
          <a:xfrm>
            <a:off x="502920" y="475722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Искали и не нашли</a:t>
            </a:r>
          </a:p>
        </p:txBody>
      </p:sp>
      <p:sp>
        <p:nvSpPr>
          <p:cNvPr id="25" name="Rounded Rectangle 24"/>
          <p:cNvSpPr/>
          <p:nvPr/>
        </p:nvSpPr>
        <p:spPr>
          <a:xfrm>
            <a:off x="1920240"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Сколько часов записи требует протокол банкирования</a:t>
            </a:r>
          </a:p>
        </p:txBody>
      </p:sp>
      <p:sp>
        <p:nvSpPr>
          <p:cNvPr id="27" name="Right Arrow 26"/>
          <p:cNvSpPr/>
          <p:nvPr/>
        </p:nvSpPr>
        <p:spPr>
          <a:xfrm>
            <a:off x="5039258" y="5008589"/>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Сколько стоит услуга в клинике</a:t>
            </a:r>
          </a:p>
        </p:txBody>
      </p:sp>
      <p:sp>
        <p:nvSpPr>
          <p:cNvPr id="30" name="Right Arrow 29"/>
          <p:cNvSpPr/>
          <p:nvPr/>
        </p:nvSpPr>
        <p:spPr>
          <a:xfrm>
            <a:off x="8386876" y="5008589"/>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Тогда обе стороны считались бы в часах человека</a:t>
            </a:r>
          </a:p>
        </p:txBody>
      </p:sp>
      <p:sp>
        <p:nvSpPr>
          <p:cNvPr id="33" name="TextBox 32"/>
          <p:cNvSpPr txBox="1"/>
          <p:nvPr/>
        </p:nvSpPr>
        <p:spPr>
          <a:xfrm>
            <a:off x="502920" y="547026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Какое одно число сделало бы сравнение полным</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10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1000" b="0" i="0">
                <a:solidFill>
                  <a:srgbClr val="21295C"/>
                </a:solidFill>
                <a:latin typeface="Arial"/>
              </a:rPr>
              <a:t>• До четверти зрителей тестовых каналов, получивших автоматический дубляж, выбирают неанглийскую дорожку</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не измеряется</a:t>
            </a:r>
          </a:p>
        </p:txBody>
      </p:sp>
      <p:sp>
        <p:nvSpPr>
          <p:cNvPr id="8" name="Rounded Rectangle 7"/>
          <p:cNvSpPr/>
          <p:nvPr/>
        </p:nvSpPr>
        <p:spPr>
          <a:xfrm>
            <a:off x="2773009" y="1335024"/>
            <a:ext cx="2105497" cy="31084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2910169" y="1932846"/>
            <a:ext cx="1831177"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его нет, и причина медицинская</a:t>
            </a:r>
          </a:p>
        </p:txBody>
      </p:sp>
      <p:sp>
        <p:nvSpPr>
          <p:cNvPr id="11" name="TextBox 10"/>
          <p:cNvSpPr txBox="1"/>
          <p:nvPr/>
        </p:nvSpPr>
        <p:spPr>
          <a:xfrm>
            <a:off x="2910169" y="3038842"/>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2014; остаются роль без голоса или чужой голос — другой исход, а не другая цена</a:t>
            </a:r>
          </a:p>
        </p:txBody>
      </p:sp>
      <p:sp>
        <p:nvSpPr>
          <p:cNvPr id="12" name="Rounded Rectangle 11"/>
          <p:cNvSpPr/>
          <p:nvPr/>
        </p:nvSpPr>
        <p:spPr>
          <a:xfrm>
            <a:off x="504309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ДАННЫХ</a:t>
            </a:r>
          </a:p>
        </p:txBody>
      </p:sp>
      <p:sp>
        <p:nvSpPr>
          <p:cNvPr id="14" name="TextBox 13"/>
          <p:cNvSpPr txBox="1"/>
          <p:nvPr/>
        </p:nvSpPr>
        <p:spPr>
          <a:xfrm>
            <a:off x="5180258" y="1725375"/>
            <a:ext cx="1831177"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примерно в десять раз меньше обычного</a:t>
            </a:r>
          </a:p>
        </p:txBody>
      </p:sp>
      <p:sp>
        <p:nvSpPr>
          <p:cNvPr id="15" name="TextBox 14"/>
          <p:cNvSpPr txBox="1"/>
          <p:nvPr/>
        </p:nvSpPr>
        <p:spPr>
          <a:xfrm>
            <a:off x="5180258" y="252582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именно часов архива — не названо; «в десять раз меньше» числом не является</a:t>
            </a:r>
          </a:p>
        </p:txBody>
      </p:sp>
      <p:sp>
        <p:nvSpPr>
          <p:cNvPr id="16" name="Rounded Rectangle 15"/>
          <p:cNvSpPr/>
          <p:nvPr/>
        </p:nvSpPr>
        <p:spPr>
          <a:xfrm>
            <a:off x="731318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СГЕНЕРИРОВАНО МОДЕЛЕЙ ГОЛОСА</a:t>
            </a:r>
          </a:p>
        </p:txBody>
      </p:sp>
      <p:sp>
        <p:nvSpPr>
          <p:cNvPr id="18" name="TextBox 17"/>
          <p:cNvSpPr txBox="1"/>
          <p:nvPr/>
        </p:nvSpPr>
        <p:spPr>
          <a:xfrm>
            <a:off x="7450348" y="1932846"/>
            <a:ext cx="1831177"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больше сорока, выбрана одна</a:t>
            </a:r>
          </a:p>
        </p:txBody>
      </p:sp>
      <p:sp>
        <p:nvSpPr>
          <p:cNvPr id="19" name="TextBox 18"/>
          <p:cNvSpPr txBox="1"/>
          <p:nvPr/>
        </p:nvSpPr>
        <p:spPr>
          <a:xfrm>
            <a:off x="7450348" y="296245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механика, что даст дальше 400 генераций на 15 склеек</a:t>
            </a:r>
          </a:p>
        </p:txBody>
      </p:sp>
      <p:sp>
        <p:nvSpPr>
          <p:cNvPr id="20" name="Rounded Rectangle 19"/>
          <p:cNvSpPr/>
          <p:nvPr/>
        </p:nvSpPr>
        <p:spPr>
          <a:xfrm>
            <a:off x="9583277"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В ОТКРЫТЫХ ИСТОЧНИКАХ</a:t>
            </a:r>
          </a:p>
        </p:txBody>
      </p:sp>
      <p:sp>
        <p:nvSpPr>
          <p:cNvPr id="22" name="TextBox 21"/>
          <p:cNvSpPr txBox="1"/>
          <p:nvPr/>
        </p:nvSpPr>
        <p:spPr>
          <a:xfrm>
            <a:off x="9720437" y="2140317"/>
            <a:ext cx="1831177"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технических публикаций по проекту</a:t>
            </a:r>
          </a:p>
        </p:txBody>
      </p:sp>
      <p:sp>
        <p:nvSpPr>
          <p:cNvPr id="23" name="TextBox 22"/>
          <p:cNvSpPr txBox="1"/>
          <p:nvPr/>
        </p:nvSpPr>
        <p:spPr>
          <a:xfrm>
            <a:off x="9720437" y="3322701"/>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компания поглощена, её блог закрыт; искали добросовестно и не нашли</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Каждое наблюдение здесь держится на выборе инструмента под задачу: где запись существует, её разделяют; где её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КАДР КОДЕКА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13,3 миллисекунды</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кадров в секунду; это же и архитектурная задержка модели</a:t>
            </a:r>
          </a:p>
        </p:txBody>
      </p:sp>
      <p:sp>
        <p:nvSpPr>
          <p:cNvPr id="8" name="Rounded Rectangle 7"/>
          <p:cNvSpPr/>
          <p:nvPr/>
        </p:nvSpPr>
        <p:spPr>
          <a:xfrm>
            <a:off x="3340531"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КАСКАД, А НЕ ОДНА КНИГА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80 бит на кадр</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плоская книга потребовала бы два в восьмидесятой степени векторов; восемь книг по 1 024 — обычная таблица</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ГЛУБИНА КАСКАДА ПОЧТИ БЕСПЛАТНА, ШИРИНА КНИГИ ДОРОГА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4,01 · 3,98 · 3,92</a:t>
            </a:r>
          </a:p>
        </p:txBody>
      </p:sp>
      <p:sp>
        <p:nvSpPr>
          <p:cNvPr id="15" name="TextBox 14"/>
          <p:cNvSpPr txBox="1"/>
          <p:nvPr/>
        </p:nvSpPr>
        <p:spPr>
          <a:xfrm>
            <a:off x="6315303"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книг по 1 024 · 16 по 32 · 80 однобитных — качество по одной шкале при одном и том же битрейте</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 ТОКЕНИЗАТОР КРОШЕЧНЫЙ</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8,4 млн параметров</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в 2,4 раза быстрее реального времени на одном ядре процессора смартфона; дорог генератор поверх него</a:t>
            </a:r>
          </a:p>
        </p:txBody>
      </p:sp>
      <p:sp>
        <p:nvSpPr>
          <p:cNvPr id="20" name="TextBox 19"/>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Кодек</a:t>
            </a:r>
          </a:p>
        </p:txBody>
      </p:sp>
      <p:sp>
        <p:nvSpPr>
          <p:cNvPr id="21" name="Rounded Rectangle 20"/>
          <p:cNvSpPr/>
          <p:nvPr/>
        </p:nvSpPr>
        <p:spPr>
          <a:xfrm>
            <a:off x="1920240"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Волна: 24 000 отсчётов в секунду</a:t>
            </a:r>
          </a:p>
        </p:txBody>
      </p:sp>
      <p:sp>
        <p:nvSpPr>
          <p:cNvPr id="23" name="Right Arrow 22"/>
          <p:cNvSpPr/>
          <p:nvPr/>
        </p:nvSpPr>
        <p:spPr>
          <a:xfrm>
            <a:off x="4202353" y="432204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Свёрточный кодировщик: один вектор на 320 отсчётов</a:t>
            </a:r>
          </a:p>
        </p:txBody>
      </p:sp>
      <p:sp>
        <p:nvSpPr>
          <p:cNvPr id="26" name="Right Arrow 25"/>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Остаточное квантование: каскад из 8 книг по 1 024 вектора</a:t>
            </a:r>
          </a:p>
        </p:txBody>
      </p:sp>
      <p:sp>
        <p:nvSpPr>
          <p:cNvPr id="29" name="Right Arrow 28"/>
          <p:cNvSpPr/>
          <p:nvPr/>
        </p:nvSpPr>
        <p:spPr>
          <a:xfrm>
            <a:off x="9223781" y="432204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собирает волну обратно</a:t>
            </a:r>
          </a:p>
        </p:txBody>
      </p:sp>
      <p:sp>
        <p:nvSpPr>
          <p:cNvPr id="32" name="TextBox 31"/>
          <p:cNvSpPr txBox="1"/>
          <p:nvPr/>
        </p:nvSpPr>
        <p:spPr>
          <a:xfrm>
            <a:off x="502920" y="49025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звук становится токенами</a:t>
            </a:r>
          </a:p>
        </p:txBody>
      </p:sp>
      <p:sp>
        <p:nvSpPr>
          <p:cNvPr id="33" name="Rounded Rectangle 32"/>
          <p:cNvSpPr/>
          <p:nvPr/>
        </p:nvSpPr>
        <p:spPr>
          <a:xfrm>
            <a:off x="502920" y="52966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54521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35" name="TextBox 34"/>
          <p:cNvSpPr txBox="1"/>
          <p:nvPr/>
        </p:nvSpPr>
        <p:spPr>
          <a:xfrm>
            <a:off x="667512" y="5808299"/>
            <a:ext cx="5108295" cy="75024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изображения: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36" name="Rounded Rectangle 35"/>
          <p:cNvSpPr/>
          <p:nvPr/>
        </p:nvSpPr>
        <p:spPr>
          <a:xfrm>
            <a:off x="6251295" y="52966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54521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8" name="TextBox 37"/>
          <p:cNvSpPr txBox="1"/>
          <p:nvPr/>
        </p:nvSpPr>
        <p:spPr>
          <a:xfrm>
            <a:off x="6415887"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Минута с компакт-диска: 5 292 000 отсчётов</a:t>
            </a:r>
          </a:p>
          <a:p>
            <a:pPr algn="l">
              <a:lnSpc>
                <a:spcPct val="126000"/>
              </a:lnSpc>
            </a:pPr>
            <a:r>
              <a:rPr sz="900" b="0" i="0">
                <a:solidFill>
                  <a:srgbClr val="21295C"/>
                </a:solidFill>
                <a:latin typeface="Arial"/>
              </a:rPr>
              <a:t>• Та же минута у кодека, восемь книг: 36 000 токенов — в 147 раз меньше</a:t>
            </a:r>
          </a:p>
          <a:p>
            <a:pPr algn="l">
              <a:lnSpc>
                <a:spcPct val="126000"/>
              </a:lnSpc>
            </a:pPr>
            <a:r>
              <a:rPr sz="90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00" b="0" i="0">
                <a:solidFill>
                  <a:srgbClr val="21295C"/>
                </a:solidFill>
                <a:latin typeface="Arial"/>
              </a:rPr>
              <a:t>• Минута речи, записанная текстом: около 200 токенов — звук дороже текста в 180 раз</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2105497" cy="236908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7,5 ГЕРЦА</a:t>
            </a:r>
          </a:p>
        </p:txBody>
      </p:sp>
      <p:sp>
        <p:nvSpPr>
          <p:cNvPr id="6" name="TextBox 5"/>
          <p:cNvSpPr txBox="1"/>
          <p:nvPr/>
        </p:nvSpPr>
        <p:spPr>
          <a:xfrm>
            <a:off x="640080" y="1725375"/>
            <a:ext cx="1831177"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девяносто минут связного диалога</a:t>
            </a:r>
          </a:p>
        </p:txBody>
      </p:sp>
      <p:sp>
        <p:nvSpPr>
          <p:cNvPr id="7" name="TextBox 6"/>
          <p:cNvSpPr txBox="1"/>
          <p:nvPr/>
        </p:nvSpPr>
        <p:spPr>
          <a:xfrm>
            <a:off x="640080" y="2678597"/>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длина взялась отсюда, а не из размера генератора</a:t>
            </a:r>
          </a:p>
        </p:txBody>
      </p:sp>
      <p:sp>
        <p:nvSpPr>
          <p:cNvPr id="8" name="Rounded Rectangle 7"/>
          <p:cNvSpPr/>
          <p:nvPr/>
        </p:nvSpPr>
        <p:spPr>
          <a:xfrm>
            <a:off x="2773009"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5 ГЕРЦ</a:t>
            </a:r>
          </a:p>
        </p:txBody>
      </p:sp>
      <p:sp>
        <p:nvSpPr>
          <p:cNvPr id="10" name="TextBox 9"/>
          <p:cNvSpPr txBox="1"/>
          <p:nvPr/>
        </p:nvSpPr>
        <p:spPr>
          <a:xfrm>
            <a:off x="2910169" y="1725375"/>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самая низкая частота поколения</a:t>
            </a:r>
          </a:p>
        </p:txBody>
      </p:sp>
      <p:sp>
        <p:nvSpPr>
          <p:cNvPr id="11" name="TextBox 10"/>
          <p:cNvSpPr txBox="1"/>
          <p:nvPr/>
        </p:nvSpPr>
        <p:spPr>
          <a:xfrm>
            <a:off x="2910169" y="2831371"/>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DiffRhythm 2, музыкальная генерация длинной формы</a:t>
            </a:r>
          </a:p>
        </p:txBody>
      </p:sp>
      <p:sp>
        <p:nvSpPr>
          <p:cNvPr id="12" name="Rounded Rectangle 11"/>
          <p:cNvSpPr/>
          <p:nvPr/>
        </p:nvSpPr>
        <p:spPr>
          <a:xfrm>
            <a:off x="5043098"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ГЕРЦ</a:t>
            </a:r>
          </a:p>
        </p:txBody>
      </p:sp>
      <p:sp>
        <p:nvSpPr>
          <p:cNvPr id="14" name="TextBox 13"/>
          <p:cNvSpPr txBox="1"/>
          <p:nvPr/>
        </p:nvSpPr>
        <p:spPr>
          <a:xfrm>
            <a:off x="5180258" y="1725375"/>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вынесены прямо в имя модели</a:t>
            </a:r>
          </a:p>
        </p:txBody>
      </p:sp>
      <p:sp>
        <p:nvSpPr>
          <p:cNvPr id="15" name="TextBox 14"/>
          <p:cNvSpPr txBox="1"/>
          <p:nvPr/>
        </p:nvSpPr>
        <p:spPr>
          <a:xfrm>
            <a:off x="5180258" y="293322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Qwen3-TTS; поставщик считает параметр достойным названия</a:t>
            </a:r>
          </a:p>
        </p:txBody>
      </p:sp>
      <p:sp>
        <p:nvSpPr>
          <p:cNvPr id="16" name="Rounded Rectangle 15"/>
          <p:cNvSpPr/>
          <p:nvPr/>
        </p:nvSpPr>
        <p:spPr>
          <a:xfrm>
            <a:off x="7313188"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21,5 ГЕРЦА</a:t>
            </a:r>
          </a:p>
        </p:txBody>
      </p:sp>
      <p:sp>
        <p:nvSpPr>
          <p:cNvPr id="18" name="TextBox 17"/>
          <p:cNvSpPr txBox="1"/>
          <p:nvPr/>
        </p:nvSpPr>
        <p:spPr>
          <a:xfrm>
            <a:off x="7450348" y="1725375"/>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против 40–150 у прежних работ</a:t>
            </a:r>
          </a:p>
        </p:txBody>
      </p:sp>
      <p:sp>
        <p:nvSpPr>
          <p:cNvPr id="19" name="TextBox 18"/>
          <p:cNvSpPr txBox="1"/>
          <p:nvPr/>
        </p:nvSpPr>
        <p:spPr>
          <a:xfrm>
            <a:off x="7450348" y="23560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Stable Audio 2; авторы прямо объясняют этим возможность длинной формы</a:t>
            </a:r>
          </a:p>
        </p:txBody>
      </p:sp>
      <p:sp>
        <p:nvSpPr>
          <p:cNvPr id="20" name="Rounded Rectangle 19"/>
          <p:cNvSpPr/>
          <p:nvPr/>
        </p:nvSpPr>
        <p:spPr>
          <a:xfrm>
            <a:off x="9583277"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22" name="TextBox 21"/>
          <p:cNvSpPr txBox="1"/>
          <p:nvPr/>
        </p:nvSpPr>
        <p:spPr>
          <a:xfrm>
            <a:off x="9720437" y="1725375"/>
            <a:ext cx="1831177"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минута речи — от 9 000 до 36 000 токенов</a:t>
            </a:r>
          </a:p>
        </p:txBody>
      </p:sp>
      <p:sp>
        <p:nvSpPr>
          <p:cNvPr id="23" name="TextBox 22"/>
          <p:cNvSpPr txBox="1"/>
          <p:nvPr/>
        </p:nvSpPr>
        <p:spPr>
          <a:xfrm>
            <a:off x="9720437" y="218632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24" name="Rounded Rectangle 23"/>
          <p:cNvSpPr/>
          <p:nvPr/>
        </p:nvSpPr>
        <p:spPr>
          <a:xfrm>
            <a:off x="374904" y="379555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3886991"/>
            <a:ext cx="11112703"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Rounded Rectangle 3"/>
          <p:cNvSpPr/>
          <p:nvPr/>
        </p:nvSpPr>
        <p:spPr>
          <a:xfrm>
            <a:off x="502920"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СРАВНЕНИЯ</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время генерации минуты звука</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колонки получены одной методикой в одной статье</a:t>
            </a:r>
          </a:p>
        </p:txBody>
      </p:sp>
      <p:sp>
        <p:nvSpPr>
          <p:cNvPr id="8" name="Rounded Rectangle 7"/>
          <p:cNvSpPr/>
          <p:nvPr/>
        </p:nvSpPr>
        <p:spPr>
          <a:xfrm>
            <a:off x="3340531"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АВТОРЕГРЕССИЯ, ДВЕ МИНУТЫ → ЧЕТЫРЕ МИНУТЫ СОРОК ПЯТЬ СЕКУНД</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6:38 → 12:53</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растёт линейно с длиной: каждый токен требует своего прохода</a:t>
            </a:r>
          </a:p>
        </p:txBody>
      </p:sp>
      <p:sp>
        <p:nvSpPr>
          <p:cNvPr id="12" name="Rounded Rectangle 11"/>
          <p:cNvSpPr/>
          <p:nvPr/>
        </p:nvSpPr>
        <p:spPr>
          <a:xfrm>
            <a:off x="6178143" y="1335024"/>
            <a:ext cx="2673019"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ТА ЖЕ ПАРА ДЛИН</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 → 13 с</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число шагов решателя фиксировано и от размера выхода не зависит</a:t>
            </a:r>
          </a:p>
        </p:txBody>
      </p:sp>
      <p:sp>
        <p:nvSpPr>
          <p:cNvPr id="16" name="Rounded Rectangle 15"/>
          <p:cNvSpPr/>
          <p:nvPr/>
        </p:nvSpPr>
        <p:spPr>
          <a:xfrm>
            <a:off x="9015755"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ПО ТОЙ ЖЕ МЕТРИКЕ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204,03 и 218,02 против 79,09 и 81,96</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 лучше; разрыв по времени доходит до шестидесяти раз при вдвое лучшем качестве</a:t>
            </a:r>
          </a:p>
        </p:txBody>
      </p:sp>
      <p:sp>
        <p:nvSpPr>
          <p:cNvPr id="20" name="Rounded Rectangle 19"/>
          <p:cNvSpPr/>
          <p:nvPr/>
        </p:nvSpPr>
        <p:spPr>
          <a:xfrm>
            <a:off x="502920" y="3745533"/>
            <a:ext cx="5437479" cy="1977189"/>
          </a:xfrm>
          <a:prstGeom prst="roundRect">
            <a:avLst>
              <a:gd name="adj" fmla="val 1541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90098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22" name="TextBox 21"/>
          <p:cNvSpPr txBox="1"/>
          <p:nvPr/>
        </p:nvSpPr>
        <p:spPr>
          <a:xfrm>
            <a:off x="667512" y="4257160"/>
            <a:ext cx="5108295" cy="131011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900" b="0" i="0">
                <a:solidFill>
                  <a:srgbClr val="21295C"/>
                </a:solidFill>
                <a:latin typeface="Arial"/>
              </a:rPr>
              <a:t>• Плоская развёртка: 6 000 шагов, качество 0,86</a:t>
            </a:r>
          </a:p>
          <a:p>
            <a:pPr algn="l">
              <a:lnSpc>
                <a:spcPct val="126000"/>
              </a:lnSpc>
            </a:pPr>
            <a:r>
              <a:rPr sz="9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9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23" name="Rounded Rectangle 22"/>
          <p:cNvSpPr/>
          <p:nvPr/>
        </p:nvSpPr>
        <p:spPr>
          <a:xfrm>
            <a:off x="6251295" y="3745533"/>
            <a:ext cx="5437479" cy="1977189"/>
          </a:xfrm>
          <a:prstGeom prst="roundRect">
            <a:avLst>
              <a:gd name="adj" fmla="val 1541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90098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25" name="TextBox 24"/>
          <p:cNvSpPr txBox="1"/>
          <p:nvPr/>
        </p:nvSpPr>
        <p:spPr>
          <a:xfrm>
            <a:off x="6415887" y="4257160"/>
            <a:ext cx="5108295" cy="131011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9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9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900" b="0" i="0">
                <a:solidFill>
                  <a:srgbClr val="21295C"/>
                </a:solidFill>
                <a:latin typeface="Arial"/>
              </a:rPr>
              <a:t>• Тишина обрезается: переменная длина получена обучением, ограничение осталось</a:t>
            </a:r>
          </a:p>
        </p:txBody>
      </p:sp>
      <p:sp>
        <p:nvSpPr>
          <p:cNvPr id="26" name="Rounded Rectangle 25"/>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ounded Rectangle 3"/>
          <p:cNvSpPr/>
          <p:nvPr/>
        </p:nvSpPr>
        <p:spPr>
          <a:xfrm>
            <a:off x="502920" y="1335024"/>
            <a:ext cx="2105497" cy="242189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ИДЕАЛЬНАЯ МАСКА, ВЫЧИСЛЕННАЯ ПРИ ЗНАНИИ ИСТИННЫХ ДОРОЖЕК</a:t>
            </a:r>
          </a:p>
        </p:txBody>
      </p:sp>
      <p:sp>
        <p:nvSpPr>
          <p:cNvPr id="6" name="TextBox 5"/>
          <p:cNvSpPr txBox="1"/>
          <p:nvPr/>
        </p:nvSpPr>
        <p:spPr>
          <a:xfrm>
            <a:off x="640080" y="2347789"/>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8,22 дБ</a:t>
            </a:r>
          </a:p>
        </p:txBody>
      </p:sp>
      <p:sp>
        <p:nvSpPr>
          <p:cNvPr id="7" name="TextBox 6"/>
          <p:cNvSpPr txBox="1"/>
          <p:nvPr/>
        </p:nvSpPr>
        <p:spPr>
          <a:xfrm>
            <a:off x="640080" y="277478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граница всех методов, работающих маскированием спектрограммы</a:t>
            </a:r>
          </a:p>
        </p:txBody>
      </p:sp>
      <p:sp>
        <p:nvSpPr>
          <p:cNvPr id="8" name="Rounded Rectangle 7"/>
          <p:cNvSpPr/>
          <p:nvPr/>
        </p:nvSpPr>
        <p:spPr>
          <a:xfrm>
            <a:off x="2773009"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SPLEETER</a:t>
            </a:r>
          </a:p>
        </p:txBody>
      </p:sp>
      <p:sp>
        <p:nvSpPr>
          <p:cNvPr id="10" name="TextBox 9"/>
          <p:cNvSpPr txBox="1"/>
          <p:nvPr/>
        </p:nvSpPr>
        <p:spPr>
          <a:xfrm>
            <a:off x="2910169"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5,91 дБ</a:t>
            </a:r>
          </a:p>
        </p:txBody>
      </p:sp>
      <p:sp>
        <p:nvSpPr>
          <p:cNvPr id="11" name="TextBox 10"/>
          <p:cNvSpPr txBox="1"/>
          <p:nvPr/>
        </p:nvSpPr>
        <p:spPr>
          <a:xfrm>
            <a:off x="2910169" y="2152374"/>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массовый инструмент предыдущего поколения</a:t>
            </a:r>
          </a:p>
        </p:txBody>
      </p:sp>
      <p:sp>
        <p:nvSpPr>
          <p:cNvPr id="12" name="Rounded Rectangle 11"/>
          <p:cNvSpPr/>
          <p:nvPr/>
        </p:nvSpPr>
        <p:spPr>
          <a:xfrm>
            <a:off x="5043098"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HYBRID DEMUCS</a:t>
            </a:r>
          </a:p>
        </p:txBody>
      </p:sp>
      <p:sp>
        <p:nvSpPr>
          <p:cNvPr id="14" name="TextBox 13"/>
          <p:cNvSpPr txBox="1"/>
          <p:nvPr/>
        </p:nvSpPr>
        <p:spPr>
          <a:xfrm>
            <a:off x="5180258"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8,34 дБ</a:t>
            </a:r>
          </a:p>
        </p:txBody>
      </p:sp>
      <p:sp>
        <p:nvSpPr>
          <p:cNvPr id="15" name="TextBox 14"/>
          <p:cNvSpPr txBox="1"/>
          <p:nvPr/>
        </p:nvSpPr>
        <p:spPr>
          <a:xfrm>
            <a:off x="5180258" y="215237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превышение границы маскирующих методов</a:t>
            </a:r>
          </a:p>
        </p:txBody>
      </p:sp>
      <p:sp>
        <p:nvSpPr>
          <p:cNvPr id="16" name="Rounded Rectangle 15"/>
          <p:cNvSpPr/>
          <p:nvPr/>
        </p:nvSpPr>
        <p:spPr>
          <a:xfrm>
            <a:off x="7313188"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SPARSE HT DEMUCS, ДООБУЧЕННЫЙ</a:t>
            </a:r>
          </a:p>
        </p:txBody>
      </p:sp>
      <p:sp>
        <p:nvSpPr>
          <p:cNvPr id="18" name="TextBox 17"/>
          <p:cNvSpPr txBox="1"/>
          <p:nvPr/>
        </p:nvSpPr>
        <p:spPr>
          <a:xfrm>
            <a:off x="745034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9,20 дБ</a:t>
            </a:r>
          </a:p>
        </p:txBody>
      </p:sp>
      <p:sp>
        <p:nvSpPr>
          <p:cNvPr id="19" name="TextBox 18"/>
          <p:cNvSpPr txBox="1"/>
          <p:nvPr/>
        </p:nvSpPr>
        <p:spPr>
          <a:xfrm>
            <a:off x="7450348" y="2359845"/>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идеальной маски на 0,98 дБ</a:t>
            </a:r>
          </a:p>
        </p:txBody>
      </p:sp>
      <p:sp>
        <p:nvSpPr>
          <p:cNvPr id="20" name="Rounded Rectangle 19"/>
          <p:cNvSpPr/>
          <p:nvPr/>
        </p:nvSpPr>
        <p:spPr>
          <a:xfrm>
            <a:off x="9583277"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BS-ROFORMER И MEL-BAND ROFORMER, 2023</a:t>
            </a:r>
          </a:p>
        </p:txBody>
      </p:sp>
      <p:sp>
        <p:nvSpPr>
          <p:cNvPr id="22" name="TextBox 21"/>
          <p:cNvSpPr txBox="1"/>
          <p:nvPr/>
        </p:nvSpPr>
        <p:spPr>
          <a:xfrm>
            <a:off x="9720437"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11,99 дБ</a:t>
            </a:r>
          </a:p>
        </p:txBody>
      </p:sp>
      <p:sp>
        <p:nvSpPr>
          <p:cNvPr id="23" name="TextBox 22"/>
          <p:cNvSpPr txBox="1"/>
          <p:nvPr/>
        </p:nvSpPr>
        <p:spPr>
          <a:xfrm>
            <a:off x="9720437" y="2567316"/>
            <a:ext cx="1831177"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текущий передний край</a:t>
            </a:r>
          </a:p>
        </p:txBody>
      </p:sp>
      <p:sp>
        <p:nvSpPr>
          <p:cNvPr id="24" name="Rounded Rectangle 23"/>
          <p:cNvSpPr/>
          <p:nvPr/>
        </p:nvSpPr>
        <p:spPr>
          <a:xfrm>
            <a:off x="502920" y="3939802"/>
            <a:ext cx="5437479" cy="1782920"/>
          </a:xfrm>
          <a:prstGeom prst="roundRect">
            <a:avLst>
              <a:gd name="adj" fmla="val 1709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09525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6" name="TextBox 25"/>
          <p:cNvSpPr txBox="1"/>
          <p:nvPr/>
        </p:nvSpPr>
        <p:spPr>
          <a:xfrm>
            <a:off x="667512" y="4451428"/>
            <a:ext cx="5108295" cy="111584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Микс считается суммой дорожек; задача — вернуть слагаемые</a:t>
            </a:r>
          </a:p>
          <a:p>
            <a:pPr algn="l">
              <a:lnSpc>
                <a:spcPct val="126000"/>
              </a:lnSpc>
            </a:pPr>
            <a:r>
              <a:rPr sz="900" b="0" i="0">
                <a:solidFill>
                  <a:srgbClr val="21295C"/>
                </a:solidFill>
                <a:latin typeface="Arial"/>
              </a:rPr>
              <a:t>• Эталон существует: исходные изолированные дорожки</a:t>
            </a:r>
          </a:p>
          <a:p>
            <a:pPr algn="l">
              <a:lnSpc>
                <a:spcPct val="126000"/>
              </a:lnSpc>
            </a:pPr>
            <a:r>
              <a:rPr sz="9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900" b="0" i="0">
                <a:solidFill>
                  <a:srgbClr val="21295C"/>
                </a:solidFill>
                <a:latin typeface="Arial"/>
              </a:rPr>
              <a:t>• Есть оракул — верхняя граница, вычисленная при знании ответа</a:t>
            </a:r>
          </a:p>
          <a:p>
            <a:pPr algn="l">
              <a:lnSpc>
                <a:spcPct val="126000"/>
              </a:lnSpc>
            </a:pPr>
            <a:r>
              <a:rPr sz="9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7" name="Rounded Rectangle 26"/>
          <p:cNvSpPr/>
          <p:nvPr/>
        </p:nvSpPr>
        <p:spPr>
          <a:xfrm>
            <a:off x="6251295" y="3939802"/>
            <a:ext cx="5437479" cy="1782920"/>
          </a:xfrm>
          <a:prstGeom prst="roundRect">
            <a:avLst>
              <a:gd name="adj" fmla="val 1709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09525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9" name="TextBox 28"/>
          <p:cNvSpPr txBox="1"/>
          <p:nvPr/>
        </p:nvSpPr>
        <p:spPr>
          <a:xfrm>
            <a:off x="6415887" y="4451428"/>
            <a:ext cx="5108295" cy="111584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9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900" b="0" i="0">
                <a:solidFill>
                  <a:srgbClr val="21295C"/>
                </a:solidFill>
                <a:latin typeface="Arial"/>
              </a:rPr>
              <a:t>• Понятия идеального оракула у генеративной модели нет вовсе</a:t>
            </a:r>
          </a:p>
          <a:p>
            <a:pPr algn="l">
              <a:lnSpc>
                <a:spcPct val="126000"/>
              </a:lnSpc>
            </a:pPr>
            <a:r>
              <a:rPr sz="9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32" name="Rectangle 3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ВНУТРИ ЕСТЬ</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распределение, обусловленное образцом</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звучание воспроизводится полностью</a:t>
            </a:r>
          </a:p>
        </p:txBody>
      </p:sp>
      <p:sp>
        <p:nvSpPr>
          <p:cNvPr id="8" name="Rounded Rectangle 7"/>
          <p:cNvSpPr/>
          <p:nvPr/>
        </p:nvSpPr>
        <p:spPr>
          <a:xfrm>
            <a:off x="3340531"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a:t>
            </a:r>
          </a:p>
        </p:txBody>
      </p:sp>
      <p:sp>
        <p:nvSpPr>
          <p:cNvPr id="10" name="TextBox 9"/>
          <p:cNvSpPr txBox="1"/>
          <p:nvPr/>
        </p:nvSpPr>
        <p:spPr>
          <a:xfrm>
            <a:off x="3477691" y="1725375"/>
            <a:ext cx="2398699"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манера, репертуар, пределы диапазона, дыхание, решение о подаче</a:t>
            </a:r>
          </a:p>
        </p:txBody>
      </p:sp>
      <p:sp>
        <p:nvSpPr>
          <p:cNvPr id="11" name="TextBox 10"/>
          <p:cNvSpPr txBox="1"/>
          <p:nvPr/>
        </p:nvSpPr>
        <p:spPr>
          <a:xfrm>
            <a:off x="3477691" y="242397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сущности «исполнитель» в модели не существует</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КОРЕНЬ — В ДАННЫХ</a:t>
            </a:r>
          </a:p>
        </p:txBody>
      </p:sp>
      <p:sp>
        <p:nvSpPr>
          <p:cNvPr id="14" name="TextBox 13"/>
          <p:cNvSpPr txBox="1"/>
          <p:nvPr/>
        </p:nvSpPr>
        <p:spPr>
          <a:xfrm>
            <a:off x="6315303" y="1725375"/>
            <a:ext cx="2398699" cy="927759"/>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главный обучающий корпус собран из аудиокниг</a:t>
            </a:r>
          </a:p>
        </p:txBody>
      </p:sp>
      <p:sp>
        <p:nvSpPr>
          <p:cNvPr id="15" name="TextBox 14"/>
          <p:cNvSpPr txBox="1"/>
          <p:nvPr/>
        </p:nvSpPr>
        <p:spPr>
          <a:xfrm>
            <a:off x="6315303" y="265313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подавляющее большинство высказываний произнесено в читательской манере</a:t>
            </a:r>
          </a:p>
        </p:txBody>
      </p:sp>
      <p:sp>
        <p:nvSpPr>
          <p:cNvPr id="16" name="Rounded Rectangle 15"/>
          <p:cNvSpPr/>
          <p:nvPr/>
        </p:nvSpPr>
        <p:spPr>
          <a:xfrm>
            <a:off x="9015755"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ГРАНИЦА ПРИМЕНИМОСТИ</a:t>
            </a:r>
          </a:p>
        </p:txBody>
      </p:sp>
      <p:sp>
        <p:nvSpPr>
          <p:cNvPr id="18" name="TextBox 17"/>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произнести — да, сыграть — нет</a:t>
            </a:r>
          </a:p>
        </p:txBody>
      </p:sp>
      <p:sp>
        <p:nvSpPr>
          <p:cNvPr id="19" name="TextBox 18"/>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проверять надо именно её, до запуска, а не после приёмки</a:t>
            </a:r>
          </a:p>
        </p:txBody>
      </p:sp>
      <p:sp>
        <p:nvSpPr>
          <p:cNvPr id="20" name="Rounded Rectangle 19"/>
          <p:cNvSpPr/>
          <p:nvPr/>
        </p:nvSpPr>
        <p:spPr>
          <a:xfrm>
            <a:off x="502920" y="3675747"/>
            <a:ext cx="5437479" cy="1789522"/>
          </a:xfrm>
          <a:prstGeom prst="roundRect">
            <a:avLst>
              <a:gd name="adj" fmla="val 1703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83119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2" name="TextBox 21"/>
          <p:cNvSpPr txBox="1"/>
          <p:nvPr/>
        </p:nvSpPr>
        <p:spPr>
          <a:xfrm>
            <a:off x="667512" y="4187374"/>
            <a:ext cx="5108295" cy="112244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3" name="Rounded Rectangle 22"/>
          <p:cNvSpPr/>
          <p:nvPr/>
        </p:nvSpPr>
        <p:spPr>
          <a:xfrm>
            <a:off x="6251295" y="3675747"/>
            <a:ext cx="5437479" cy="1789522"/>
          </a:xfrm>
          <a:prstGeom prst="roundRect">
            <a:avLst>
              <a:gd name="adj" fmla="val 17032"/>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83119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5" name="TextBox 24"/>
          <p:cNvSpPr txBox="1"/>
          <p:nvPr/>
        </p:nvSpPr>
        <p:spPr>
          <a:xfrm>
            <a:off x="6415887" y="4187374"/>
            <a:ext cx="5108295" cy="112244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6" name="Rounded Rectangle 25"/>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2673019"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РОССИЙСКОГО ПРОЕКТА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внесён и не поддержан</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не «закон готовится» и не «закон принят» — различать статусы обязательно</a:t>
            </a:r>
          </a:p>
        </p:txBody>
      </p:sp>
      <p:sp>
        <p:nvSpPr>
          <p:cNvPr id="8" name="Rounded Rectangle 7"/>
          <p:cNvSpPr/>
          <p:nvPr/>
        </p:nvSpPr>
        <p:spPr>
          <a:xfrm>
            <a:off x="3340531"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ЗАКОНОВ ДВУХ ШТАТОВ США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приняты и в силе</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при этом применённых дел по ним не найдено</a:t>
            </a:r>
          </a:p>
        </p:txBody>
      </p:sp>
      <p:sp>
        <p:nvSpPr>
          <p:cNvPr id="12" name="Rounded Rectangle 11"/>
          <p:cNvSpPr/>
          <p:nvPr/>
        </p:nvSpPr>
        <p:spPr>
          <a:xfrm>
            <a:off x="6178143"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ФЕДЕРАЛЬНОГО ПРОЕКТА США</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одобрен комитетом, не принят</a:t>
            </a:r>
          </a:p>
        </p:txBody>
      </p:sp>
      <p:sp>
        <p:nvSpPr>
          <p:cNvPr id="15" name="TextBox 14"/>
          <p:cNvSpPr txBox="1"/>
          <p:nvPr/>
        </p:nvSpPr>
        <p:spPr>
          <a:xfrm>
            <a:off x="6315303" y="314069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возражение одного сенатора остановило единогласное принятие</a:t>
            </a:r>
          </a:p>
        </p:txBody>
      </p:sp>
      <p:sp>
        <p:nvSpPr>
          <p:cNvPr id="16" name="Rounded Rectangle 15"/>
          <p:cNvSpPr/>
          <p:nvPr/>
        </p:nvSpPr>
        <p:spPr>
          <a:xfrm>
            <a:off x="9015755"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18" name="TextBox 17"/>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просят лицензию, а не запрет</a:t>
            </a:r>
          </a:p>
        </p:txBody>
      </p:sp>
      <p:sp>
        <p:nvSpPr>
          <p:cNvPr id="19" name="TextBox 18"/>
          <p:cNvSpPr txBox="1"/>
          <p:nvPr/>
        </p:nvSpPr>
        <p:spPr>
          <a:xfrm>
            <a:off x="9152915" y="29332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a:t>
            </a:r>
          </a:p>
        </p:txBody>
      </p:sp>
      <p:sp>
        <p:nvSpPr>
          <p:cNvPr id="20" name="Rounded Rectangle 19"/>
          <p:cNvSpPr/>
          <p:nvPr/>
        </p:nvSpPr>
        <p:spPr>
          <a:xfrm>
            <a:off x="502920" y="4098234"/>
            <a:ext cx="5437479" cy="2137973"/>
          </a:xfrm>
          <a:prstGeom prst="roundRect">
            <a:avLst>
              <a:gd name="adj" fmla="val 1425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25368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Россия</a:t>
            </a:r>
          </a:p>
        </p:txBody>
      </p:sp>
      <p:sp>
        <p:nvSpPr>
          <p:cNvPr id="22" name="TextBox 21"/>
          <p:cNvSpPr txBox="1"/>
          <p:nvPr/>
        </p:nvSpPr>
        <p:spPr>
          <a:xfrm>
            <a:off x="667512" y="4609861"/>
            <a:ext cx="5108295" cy="1470898"/>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Отдельной охраны голоса в Гражданском кодексе нет</a:t>
            </a:r>
          </a:p>
          <a:p>
            <a:pPr algn="l">
              <a:lnSpc>
                <a:spcPct val="126000"/>
              </a:lnSpc>
            </a:pPr>
            <a:r>
              <a:rPr sz="1000" b="0" i="0">
                <a:solidFill>
                  <a:srgbClr val="21295C"/>
                </a:solidFill>
                <a:latin typeface="Arial"/>
              </a:rPr>
              <a:t>• Защита персональных данных — если удастся доказать, что запись является биометрией</a:t>
            </a:r>
          </a:p>
          <a:p>
            <a:pPr algn="l">
              <a:lnSpc>
                <a:spcPct val="126000"/>
              </a:lnSpc>
            </a:pPr>
            <a:r>
              <a:rPr sz="1000" b="0" i="0">
                <a:solidFill>
                  <a:srgbClr val="21295C"/>
                </a:solidFill>
                <a:latin typeface="Arial"/>
              </a:rPr>
              <a:t>• Смежные права — на конкретную фонограмму, но не на голос как таковой</a:t>
            </a:r>
          </a:p>
          <a:p>
            <a:pPr algn="l">
              <a:lnSpc>
                <a:spcPct val="126000"/>
              </a:lnSpc>
            </a:pPr>
            <a:r>
              <a:rPr sz="1000" b="0" i="0">
                <a:solidFill>
                  <a:srgbClr val="21295C"/>
                </a:solidFill>
                <a:latin typeface="Arial"/>
              </a:rPr>
              <a:t>• Защита чести и достоинства — если использование порочит</a:t>
            </a:r>
          </a:p>
          <a:p>
            <a:pPr algn="l">
              <a:lnSpc>
                <a:spcPct val="126000"/>
              </a:lnSpc>
            </a:pPr>
            <a:r>
              <a:rPr sz="1000" b="0" i="0">
                <a:solidFill>
                  <a:srgbClr val="21295C"/>
                </a:solidFill>
                <a:latin typeface="Arial"/>
              </a:rPr>
              <a:t>• Проект статьи 152.3 внесён в сентябре 2024 года; правительством не поддержан, решение комиссии 20 января 2025 года; на октябрь 2026 года не принят</a:t>
            </a:r>
          </a:p>
        </p:txBody>
      </p:sp>
      <p:sp>
        <p:nvSpPr>
          <p:cNvPr id="23" name="Rounded Rectangle 22"/>
          <p:cNvSpPr/>
          <p:nvPr/>
        </p:nvSpPr>
        <p:spPr>
          <a:xfrm>
            <a:off x="6251295" y="4098234"/>
            <a:ext cx="5437479" cy="2137973"/>
          </a:xfrm>
          <a:prstGeom prst="roundRect">
            <a:avLst>
              <a:gd name="adj" fmla="val 14256"/>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25368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США</a:t>
            </a:r>
          </a:p>
        </p:txBody>
      </p:sp>
      <p:sp>
        <p:nvSpPr>
          <p:cNvPr id="25" name="TextBox 24"/>
          <p:cNvSpPr txBox="1"/>
          <p:nvPr/>
        </p:nvSpPr>
        <p:spPr>
          <a:xfrm>
            <a:off x="6415887" y="4609861"/>
            <a:ext cx="5108295" cy="1470898"/>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Теннесси: закон добавил голос к праву публичности — подписан 21 марта 2024 года, действует с 1 июля 2024 года</a:t>
            </a:r>
          </a:p>
          <a:p>
            <a:pPr algn="l">
              <a:lnSpc>
                <a:spcPct val="126000"/>
              </a:lnSpc>
            </a:pPr>
            <a:r>
              <a:rPr sz="900" b="0" i="0">
                <a:solidFill>
                  <a:srgbClr val="21295C"/>
                </a:solidFill>
                <a:latin typeface="Arial"/>
              </a:rPr>
              <a:t>• Калифорния: закон о цифровых репликах умерших действует с 1 января 2025 года, ответственность — десять тысяч долларов или реальные убытки</a:t>
            </a:r>
          </a:p>
          <a:p>
            <a:pPr algn="l">
              <a:lnSpc>
                <a:spcPct val="126000"/>
              </a:lnSpc>
            </a:pPr>
            <a:r>
              <a:rPr sz="900" b="0" i="0">
                <a:solidFill>
                  <a:srgbClr val="21295C"/>
                </a:solidFill>
                <a:latin typeface="Arial"/>
              </a:rPr>
              <a:t>• Применённых в суде дел по обоим законам найти не удалось</a:t>
            </a:r>
          </a:p>
          <a:p>
            <a:pPr algn="l">
              <a:lnSpc>
                <a:spcPct val="126000"/>
              </a:lnSpc>
            </a:pPr>
            <a:r>
              <a:rPr sz="900" b="0" i="0">
                <a:solidFill>
                  <a:srgbClr val="21295C"/>
                </a:solidFill>
                <a:latin typeface="Arial"/>
              </a:rPr>
              <a:t>• Федерального закона нет: профильный проект единогласно одобрен судебным комитетом Сената 18 июня 2026 года, 30 сентября 2026 года при попытке принять его единогласным согласием один сенатор возразил; ни одной палатой не принят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ounded Rectangle 3"/>
          <p:cNvSpPr/>
          <p:nvPr/>
        </p:nvSpPr>
        <p:spPr>
          <a:xfrm>
            <a:off x="502920"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2019</a:t>
            </a:r>
          </a:p>
        </p:txBody>
      </p:sp>
      <p:sp>
        <p:nvSpPr>
          <p:cNvPr id="6" name="TextBox 5"/>
          <p:cNvSpPr txBox="1"/>
          <p:nvPr/>
        </p:nvSpPr>
        <p:spPr>
          <a:xfrm>
            <a:off x="640080" y="1725375"/>
            <a:ext cx="145282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600 страниц начитки для банка</a:t>
            </a:r>
          </a:p>
        </p:txBody>
      </p:sp>
      <p:sp>
        <p:nvSpPr>
          <p:cNvPr id="7" name="TextBox 6"/>
          <p:cNvSpPr txBox="1"/>
          <p:nvPr/>
        </p:nvSpPr>
        <p:spPr>
          <a:xfrm>
            <a:off x="640080" y="2169349"/>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словам актрисы, в договоре нет ни слова «синтез», ни упоминания нейросетей</a:t>
            </a:r>
          </a:p>
        </p:txBody>
      </p:sp>
      <p:sp>
        <p:nvSpPr>
          <p:cNvPr id="8" name="Rounded Rectangle 7"/>
          <p:cNvSpPr/>
          <p:nvPr/>
        </p:nvSpPr>
        <p:spPr>
          <a:xfrm>
            <a:off x="2394661"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821"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a:t>
            </a:r>
          </a:p>
        </p:txBody>
      </p:sp>
      <p:sp>
        <p:nvSpPr>
          <p:cNvPr id="10" name="TextBox 9"/>
          <p:cNvSpPr txBox="1"/>
          <p:nvPr/>
        </p:nvSpPr>
        <p:spPr>
          <a:xfrm>
            <a:off x="2531821" y="1725375"/>
            <a:ext cx="145282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голос в сторонней рекламе и доступен для синтеза на сторонних площадках</a:t>
            </a:r>
          </a:p>
        </p:txBody>
      </p:sp>
      <p:sp>
        <p:nvSpPr>
          <p:cNvPr id="11" name="TextBox 10"/>
          <p:cNvSpPr txBox="1"/>
          <p:nvPr/>
        </p:nvSpPr>
        <p:spPr>
          <a:xfrm>
            <a:off x="2531821" y="2984145"/>
            <a:ext cx="145282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из-за этого актриса потеряла часть работы</a:t>
            </a:r>
          </a:p>
        </p:txBody>
      </p:sp>
      <p:sp>
        <p:nvSpPr>
          <p:cNvPr id="12" name="Rounded Rectangle 11"/>
          <p:cNvSpPr/>
          <p:nvPr/>
        </p:nvSpPr>
        <p:spPr>
          <a:xfrm>
            <a:off x="4286402"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3562"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 АПРЕЛЯ 2023</a:t>
            </a:r>
          </a:p>
        </p:txBody>
      </p:sp>
      <p:sp>
        <p:nvSpPr>
          <p:cNvPr id="14" name="TextBox 13"/>
          <p:cNvSpPr txBox="1"/>
          <p:nvPr/>
        </p:nvSpPr>
        <p:spPr>
          <a:xfrm>
            <a:off x="4423562" y="1725375"/>
            <a:ext cx="1452829"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предложена компенсация около двух месячных заработков</a:t>
            </a:r>
          </a:p>
        </p:txBody>
      </p:sp>
      <p:sp>
        <p:nvSpPr>
          <p:cNvPr id="15" name="TextBox 14"/>
          <p:cNvSpPr txBox="1"/>
          <p:nvPr/>
        </p:nvSpPr>
        <p:spPr>
          <a:xfrm>
            <a:off x="4423562" y="2780446"/>
            <a:ext cx="145282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условии полного отказа от претензий; отклонено</a:t>
            </a:r>
          </a:p>
        </p:txBody>
      </p:sp>
      <p:sp>
        <p:nvSpPr>
          <p:cNvPr id="16" name="Rounded Rectangle 15"/>
          <p:cNvSpPr/>
          <p:nvPr/>
        </p:nvSpPr>
        <p:spPr>
          <a:xfrm>
            <a:off x="6178143"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30 АВГУСТА 2023</a:t>
            </a:r>
          </a:p>
        </p:txBody>
      </p:sp>
      <p:sp>
        <p:nvSpPr>
          <p:cNvPr id="18" name="TextBox 17"/>
          <p:cNvSpPr txBox="1"/>
          <p:nvPr/>
        </p:nvSpPr>
        <p:spPr>
          <a:xfrm>
            <a:off x="6315303" y="1725375"/>
            <a:ext cx="145282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иск почти на 6 млн ₽</a:t>
            </a:r>
          </a:p>
        </p:txBody>
      </p:sp>
      <p:sp>
        <p:nvSpPr>
          <p:cNvPr id="19" name="TextBox 18"/>
          <p:cNvSpPr txBox="1"/>
          <p:nvPr/>
        </p:nvSpPr>
        <p:spPr>
          <a:xfrm>
            <a:off x="6315303" y="2474897"/>
            <a:ext cx="145282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удаление голоса из открытого доступа, защита чести и достоинства; петиция собрала около 26 тысяч подписей</a:t>
            </a:r>
          </a:p>
        </p:txBody>
      </p:sp>
      <p:sp>
        <p:nvSpPr>
          <p:cNvPr id="20" name="Rounded Rectangle 19"/>
          <p:cNvSpPr/>
          <p:nvPr/>
        </p:nvSpPr>
        <p:spPr>
          <a:xfrm>
            <a:off x="8069884" y="1335024"/>
            <a:ext cx="1727149" cy="2966981"/>
          </a:xfrm>
          <a:prstGeom prst="roundRect">
            <a:avLst>
              <a:gd name="adj" fmla="val 17647"/>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8207044"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АВГУСТА 2024</a:t>
            </a:r>
          </a:p>
        </p:txBody>
      </p:sp>
      <p:sp>
        <p:nvSpPr>
          <p:cNvPr id="22" name="TextBox 21"/>
          <p:cNvSpPr txBox="1"/>
          <p:nvPr/>
        </p:nvSpPr>
        <p:spPr>
          <a:xfrm>
            <a:off x="8207044" y="1725375"/>
            <a:ext cx="145282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иске отказано</a:t>
            </a:r>
          </a:p>
        </p:txBody>
      </p:sp>
      <p:sp>
        <p:nvSpPr>
          <p:cNvPr id="23" name="TextBox 22"/>
          <p:cNvSpPr txBox="1"/>
          <p:nvPr/>
        </p:nvSpPr>
        <p:spPr>
          <a:xfrm>
            <a:off x="8207044" y="254279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защиту голоса как нематериального блага суд обошёл, не оценивая</a:t>
            </a:r>
          </a:p>
        </p:txBody>
      </p:sp>
      <p:sp>
        <p:nvSpPr>
          <p:cNvPr id="24" name="Rounded Rectangle 23"/>
          <p:cNvSpPr/>
          <p:nvPr/>
        </p:nvSpPr>
        <p:spPr>
          <a:xfrm>
            <a:off x="9961626"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10098786"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ОКТЯБРЬ 2026</a:t>
            </a:r>
          </a:p>
        </p:txBody>
      </p:sp>
      <p:sp>
        <p:nvSpPr>
          <p:cNvPr id="26" name="TextBox 25"/>
          <p:cNvSpPr txBox="1"/>
          <p:nvPr/>
        </p:nvSpPr>
        <p:spPr>
          <a:xfrm>
            <a:off x="10098786" y="1725375"/>
            <a:ext cx="145282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итог апелляции установить не удалось</a:t>
            </a:r>
          </a:p>
        </p:txBody>
      </p:sp>
      <p:sp>
        <p:nvSpPr>
          <p:cNvPr id="27" name="TextBox 26"/>
          <p:cNvSpPr txBox="1"/>
          <p:nvPr/>
        </p:nvSpPr>
        <p:spPr>
          <a:xfrm>
            <a:off x="10098786" y="247489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обжаловалось; по открытым источникам результат не найден</a:t>
            </a:r>
          </a:p>
        </p:txBody>
      </p:sp>
      <p:sp>
        <p:nvSpPr>
          <p:cNvPr id="28" name="Rectangle 27"/>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6178143" y="1335024"/>
            <a:ext cx="5510631"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92356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41258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41258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1" name="TextBox 20"/>
          <p:cNvSpPr txBox="1"/>
          <p:nvPr/>
        </p:nvSpPr>
        <p:spPr>
          <a:xfrm>
            <a:off x="502920" y="52582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74722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27" name="Right Arrow 26"/>
          <p:cNvSpPr/>
          <p:nvPr/>
        </p:nvSpPr>
        <p:spPr>
          <a:xfrm>
            <a:off x="8386876" y="57472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64465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Восемь способов получить изображение: семь прежних и один новый</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ВОСЕМЬ, И НИ ОДИН ИЗ СЕМИ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Стадии, существовавшие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и визуальные эффекты</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000" b="0" i="0">
                <a:solidFill>
                  <a:srgbClr val="21295C"/>
                </a:solidFill>
                <a:latin typeface="Arial"/>
              </a:rPr>
              <a:t>• Оживление кадра: на входе готовая картинка, на выходе движение из неё</a:t>
            </a:r>
          </a:p>
          <a:p>
            <a:pPr algn="l">
              <a:lnSpc>
                <a:spcPct val="126000"/>
              </a:lnSpc>
            </a:pPr>
            <a:r>
              <a:rPr sz="1000" b="0" i="0">
                <a:solidFill>
                  <a:srgbClr val="21295C"/>
                </a:solidFill>
                <a:latin typeface="Arial"/>
              </a:rPr>
              <a:t>• Продление сцены: модель достраивает клип вперёд или назад от последнего кадра</a:t>
            </a:r>
          </a:p>
          <a:p>
            <a:pPr algn="l">
              <a:lnSpc>
                <a:spcPct val="126000"/>
              </a:lnSpc>
            </a:pPr>
            <a:r>
              <a:rPr sz="1000" b="0" i="0">
                <a:solidFill>
                  <a:srgbClr val="21295C"/>
                </a:solidFill>
                <a:latin typeface="Arial"/>
              </a:rPr>
              <a:t>• Вход генеративной цепочки — текст, иногда стартовый кадр, иногда до десяти опорных кадров и до пятнадцати референсов на одну генерацию</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ТЕЛЕВИЗИОННЫЙ РОЛИК, РОССИЯ</a:t>
            </a:r>
          </a:p>
        </p:txBody>
      </p:sp>
      <p:sp>
        <p:nvSpPr>
          <p:cNvPr id="6" name="TextBox 5"/>
          <p:cNvSpPr txBox="1"/>
          <p:nvPr/>
        </p:nvSpPr>
        <p:spPr>
          <a:xfrm>
            <a:off x="640080"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300 000–800 000 ₽</a:t>
            </a:r>
          </a:p>
        </p:txBody>
      </p:sp>
      <p:sp>
        <p:nvSpPr>
          <p:cNvPr id="7" name="TextBox 6"/>
          <p:cNvSpPr txBox="1"/>
          <p:nvPr/>
        </p:nvSpPr>
        <p:spPr>
          <a:xfrm>
            <a:off x="640080" y="295774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студийная съёмка один-два дня, группа 3–5 человек</a:t>
            </a:r>
          </a:p>
        </p:txBody>
      </p:sp>
      <p:sp>
        <p:nvSpPr>
          <p:cNvPr id="8" name="Rounded Rectangle 7"/>
          <p:cNvSpPr/>
          <p:nvPr/>
        </p:nvSpPr>
        <p:spPr>
          <a:xfrm>
            <a:off x="2773009"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СРЕДНИЙ УРОВЕНЬ</a:t>
            </a:r>
          </a:p>
        </p:txBody>
      </p:sp>
      <p:sp>
        <p:nvSpPr>
          <p:cNvPr id="10" name="TextBox 9"/>
          <p:cNvSpPr txBox="1"/>
          <p:nvPr/>
        </p:nvSpPr>
        <p:spPr>
          <a:xfrm>
            <a:off x="2910169"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800 000–2 500 000 ₽</a:t>
            </a:r>
          </a:p>
        </p:txBody>
      </p:sp>
      <p:sp>
        <p:nvSpPr>
          <p:cNvPr id="11" name="TextBox 10"/>
          <p:cNvSpPr txBox="1"/>
          <p:nvPr/>
        </p:nvSpPr>
        <p:spPr>
          <a:xfrm>
            <a:off x="2910169" y="2542797"/>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два-четыре съёмочных дня</a:t>
            </a:r>
          </a:p>
        </p:txBody>
      </p:sp>
      <p:sp>
        <p:nvSpPr>
          <p:cNvPr id="12" name="Rounded Rectangle 11"/>
          <p:cNvSpPr/>
          <p:nvPr/>
        </p:nvSpPr>
        <p:spPr>
          <a:xfrm>
            <a:off x="504309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ПРЕМИАЛЬНЫЙ</a:t>
            </a:r>
          </a:p>
        </p:txBody>
      </p:sp>
      <p:sp>
        <p:nvSpPr>
          <p:cNvPr id="14" name="TextBox 13"/>
          <p:cNvSpPr txBox="1"/>
          <p:nvPr/>
        </p:nvSpPr>
        <p:spPr>
          <a:xfrm>
            <a:off x="5180258" y="1725375"/>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2 500 000–10 000 000 ₽ и выше</a:t>
            </a:r>
          </a:p>
        </p:txBody>
      </p:sp>
      <p:sp>
        <p:nvSpPr>
          <p:cNvPr id="15" name="TextBox 14"/>
          <p:cNvSpPr txBox="1"/>
          <p:nvPr/>
        </p:nvSpPr>
        <p:spPr>
          <a:xfrm>
            <a:off x="5180258" y="233909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группа 10–20 человек, спецэффекты; гонорар известного актёра — от 500 000 ₽ за съёмочный день</a:t>
            </a:r>
          </a:p>
        </p:txBody>
      </p:sp>
      <p:sp>
        <p:nvSpPr>
          <p:cNvPr id="16" name="Rounded Rectangle 15"/>
          <p:cNvSpPr/>
          <p:nvPr/>
        </p:nvSpPr>
        <p:spPr>
          <a:xfrm>
            <a:off x="731318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8" name="TextBox 17"/>
          <p:cNvSpPr txBox="1"/>
          <p:nvPr/>
        </p:nvSpPr>
        <p:spPr>
          <a:xfrm>
            <a:off x="7450348" y="2555260"/>
            <a:ext cx="1831177"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группа от пятидесяти человек, цикл год</a:t>
            </a:r>
          </a:p>
        </p:txBody>
      </p:sp>
      <p:sp>
        <p:nvSpPr>
          <p:cNvPr id="19" name="TextBox 18"/>
          <p:cNvSpPr txBox="1"/>
          <p:nvPr/>
        </p:nvSpPr>
        <p:spPr>
          <a:xfrm>
            <a:off x="7450348" y="338117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20" name="Rounded Rectangle 19"/>
          <p:cNvSpPr/>
          <p:nvPr/>
        </p:nvSpPr>
        <p:spPr>
          <a:xfrm>
            <a:off x="9583277" y="1335024"/>
            <a:ext cx="2105497" cy="341776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22" name="TextBox 21"/>
          <p:cNvSpPr txBox="1"/>
          <p:nvPr/>
        </p:nvSpPr>
        <p:spPr>
          <a:xfrm>
            <a:off x="9720437" y="2140317"/>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23" name="TextBox 22"/>
          <p:cNvSpPr txBox="1"/>
          <p:nvPr/>
        </p:nvSpPr>
        <p:spPr>
          <a:xfrm>
            <a:off x="9720437" y="334816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24" name="Rounded Rectangle 23"/>
          <p:cNvSpPr/>
          <p:nvPr/>
        </p:nvSpPr>
        <p:spPr>
          <a:xfrm>
            <a:off x="502920" y="493566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09111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26" name="TextBox 25"/>
          <p:cNvSpPr txBox="1"/>
          <p:nvPr/>
        </p:nvSpPr>
        <p:spPr>
          <a:xfrm>
            <a:off x="667512"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Российская полоса: 300 000–800 000 ₽ базовый, 800 000–2 500 000 средний, 2 500 000–10 000 000 премиальный</a:t>
            </a:r>
          </a:p>
          <a:p>
            <a:pPr algn="l">
              <a:lnSpc>
                <a:spcPct val="126000"/>
              </a:lnSpc>
            </a:pPr>
            <a:r>
              <a:rPr sz="900" b="0" i="0">
                <a:solidFill>
                  <a:srgbClr val="21295C"/>
                </a:solidFill>
                <a:latin typeface="Arial"/>
              </a:rPr>
              <a:t>• Музыка отдельно: лицензионный трек 10 000–50 000 ₽, оригинальный от 150 000 ₽</a:t>
            </a:r>
          </a:p>
          <a:p>
            <a:pPr algn="l">
              <a:lnSpc>
                <a:spcPct val="126000"/>
              </a:lnSpc>
            </a:pPr>
            <a:r>
              <a:rPr sz="900" b="0" i="0">
                <a:solidFill>
                  <a:srgbClr val="21295C"/>
                </a:solidFill>
                <a:latin typeface="Arial"/>
              </a:rPr>
              <a:t>• Общая единица: 300 000 ₽ за 30-секундный ролик — 10 000 ₽ за секунду эфира</a:t>
            </a:r>
          </a:p>
        </p:txBody>
      </p:sp>
      <p:sp>
        <p:nvSpPr>
          <p:cNvPr id="27" name="Rounded Rectangle 26"/>
          <p:cNvSpPr/>
          <p:nvPr/>
        </p:nvSpPr>
        <p:spPr>
          <a:xfrm>
            <a:off x="6251295" y="493566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509111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9" name="TextBox 28"/>
          <p:cNvSpPr txBox="1"/>
          <p:nvPr/>
        </p:nvSpPr>
        <p:spPr>
          <a:xfrm>
            <a:off x="6415887"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Живая микродрама 2024 года: свыше 1 млн юаней за выпуск, около 137 тысяч долларов</a:t>
            </a:r>
          </a:p>
          <a:p>
            <a:pPr algn="l">
              <a:lnSpc>
                <a:spcPct val="126000"/>
              </a:lnSpc>
            </a:pPr>
            <a:r>
              <a:rPr sz="900" b="0" i="0">
                <a:solidFill>
                  <a:srgbClr val="21295C"/>
                </a:solidFill>
                <a:latin typeface="Arial"/>
              </a:rPr>
              <a:t>• «Ирландец», 2019: бюджет со 125 до 159 млн $ на 1 750 планах омоложения</a:t>
            </a:r>
          </a:p>
          <a:p>
            <a:pPr algn="l">
              <a:lnSpc>
                <a:spcPct val="126000"/>
              </a:lnSpc>
            </a:pPr>
            <a:r>
              <a:rPr sz="900" b="0" i="0">
                <a:solidFill>
                  <a:srgbClr val="21295C"/>
                </a:solidFill>
                <a:latin typeface="Arial"/>
              </a:rPr>
              <a:t>• Супервайзер: в пересчёте на план — как в обычном фильме; планов здесь на два фильма</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a:t>
            </a:r>
          </a:p>
        </p:txBody>
      </p:sp>
      <p:sp>
        <p:nvSpPr>
          <p:cNvPr id="8" name="Rounded Rectangle 7"/>
          <p:cNvSpPr/>
          <p:nvPr/>
        </p:nvSpPr>
        <p:spPr>
          <a:xfrm>
            <a:off x="3340531"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ЖИВАЯ МИКРОДРАМА 2024 ГОДА</a:t>
            </a:r>
          </a:p>
        </p:txBody>
      </p:sp>
      <p:sp>
        <p:nvSpPr>
          <p:cNvPr id="10" name="TextBox 9"/>
          <p:cNvSpPr txBox="1"/>
          <p:nvPr/>
        </p:nvSpPr>
        <p:spPr>
          <a:xfrm>
            <a:off x="3477691" y="2140317"/>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свыше 1 млн юаней за выпуск</a:t>
            </a:r>
          </a:p>
        </p:txBody>
      </p:sp>
      <p:sp>
        <p:nvSpPr>
          <p:cNvPr id="11" name="TextBox 10"/>
          <p:cNvSpPr txBox="1"/>
          <p:nvPr/>
        </p:nvSpPr>
        <p:spPr>
          <a:xfrm>
            <a:off x="3477691" y="290681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137 тысяч долларов: съёмка с актёрами, площадкой и группой</a:t>
            </a:r>
          </a:p>
        </p:txBody>
      </p:sp>
      <p:sp>
        <p:nvSpPr>
          <p:cNvPr id="12" name="Rounded Rectangle 11"/>
          <p:cNvSpPr/>
          <p:nvPr/>
        </p:nvSpPr>
        <p:spPr>
          <a:xfrm>
            <a:off x="6178143"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КИНОПРОКАТ КАК КАНАЛ ТОЙ ЖЕ АУДИТОРИИ</a:t>
            </a:r>
          </a:p>
        </p:txBody>
      </p:sp>
      <p:sp>
        <p:nvSpPr>
          <p:cNvPr id="14" name="TextBox 13"/>
          <p:cNvSpPr txBox="1"/>
          <p:nvPr/>
        </p:nvSpPr>
        <p:spPr>
          <a:xfrm>
            <a:off x="6315303" y="2140317"/>
            <a:ext cx="2398699"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около 100 млрд юаней в 2025, свыше 120 млрд в 2026</a:t>
            </a:r>
          </a:p>
        </p:txBody>
      </p:sp>
      <p:sp>
        <p:nvSpPr>
          <p:cNvPr id="15" name="TextBox 14"/>
          <p:cNvSpPr txBox="1"/>
          <p:nvPr/>
        </p:nvSpPr>
        <p:spPr>
          <a:xfrm>
            <a:off x="6315303" y="260126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2026 году рынок микродрам впервые превосходит весь кинопрокат страны</a:t>
            </a:r>
          </a:p>
        </p:txBody>
      </p:sp>
      <p:sp>
        <p:nvSpPr>
          <p:cNvPr id="16" name="Rounded Rectangle 15"/>
          <p:cNvSpPr/>
          <p:nvPr/>
        </p:nvSpPr>
        <p:spPr>
          <a:xfrm>
            <a:off x="9015755" y="1335024"/>
            <a:ext cx="2673019" cy="2342681"/>
          </a:xfrm>
          <a:prstGeom prst="roundRect">
            <a:avLst>
              <a:gd name="adj" fmla="val 1301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9152915"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50–100 тыс. юаней за выпуск</a:t>
            </a:r>
          </a:p>
        </p:txBody>
      </p:sp>
      <p:sp>
        <p:nvSpPr>
          <p:cNvPr id="19" name="TextBox 18"/>
          <p:cNvSpPr txBox="1"/>
          <p:nvPr/>
        </p:nvSpPr>
        <p:spPr>
          <a:xfrm>
            <a:off x="9152915" y="2491872"/>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7–14 тысяч долларов; падение в 10–20 раз от классического режима, не от нуля</a:t>
            </a:r>
          </a:p>
        </p:txBody>
      </p:sp>
      <p:sp>
        <p:nvSpPr>
          <p:cNvPr id="20" name="Rounded Rectangle 19"/>
          <p:cNvSpPr/>
          <p:nvPr/>
        </p:nvSpPr>
        <p:spPr>
          <a:xfrm>
            <a:off x="502920"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a:t>
            </a:r>
          </a:p>
        </p:txBody>
      </p:sp>
      <p:sp>
        <p:nvSpPr>
          <p:cNvPr id="22" name="TextBox 21"/>
          <p:cNvSpPr txBox="1"/>
          <p:nvPr/>
        </p:nvSpPr>
        <p:spPr>
          <a:xfrm>
            <a:off x="640080" y="4232649"/>
            <a:ext cx="3344570"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430 000 выпусков за восемь месяцев, доля сгенерированных более 90 %</a:t>
            </a:r>
          </a:p>
        </p:txBody>
      </p:sp>
      <p:sp>
        <p:nvSpPr>
          <p:cNvPr id="23" name="TextBox 22"/>
          <p:cNvSpPr txBox="1"/>
          <p:nvPr/>
        </p:nvSpPr>
        <p:spPr>
          <a:xfrm>
            <a:off x="640080" y="472754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I квартал — около 128 000 при доле свыше 95 %; первое полугодие — 367 000 при доле более 74 %</a:t>
            </a:r>
          </a:p>
        </p:txBody>
      </p:sp>
      <p:sp>
        <p:nvSpPr>
          <p:cNvPr id="24" name="Rounded Rectangle 23"/>
          <p:cNvSpPr/>
          <p:nvPr/>
        </p:nvSpPr>
        <p:spPr>
          <a:xfrm>
            <a:off x="4286402"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4423562"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ТЕМП ИЮЛЯ 2026</a:t>
            </a:r>
          </a:p>
        </p:txBody>
      </p:sp>
      <p:sp>
        <p:nvSpPr>
          <p:cNvPr id="26" name="TextBox 25"/>
          <p:cNvSpPr txBox="1"/>
          <p:nvPr/>
        </p:nvSpPr>
        <p:spPr>
          <a:xfrm>
            <a:off x="4423562" y="4232649"/>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одна сгенерированная микродрама каждые 36 секунд</a:t>
            </a:r>
          </a:p>
        </p:txBody>
      </p:sp>
      <p:sp>
        <p:nvSpPr>
          <p:cNvPr id="27" name="TextBox 26"/>
          <p:cNvSpPr txBox="1"/>
          <p:nvPr/>
        </p:nvSpPr>
        <p:spPr>
          <a:xfrm>
            <a:off x="4423562" y="48293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измерение предложения; о востребованности оно не говорит ничего</a:t>
            </a:r>
          </a:p>
        </p:txBody>
      </p:sp>
      <p:sp>
        <p:nvSpPr>
          <p:cNvPr id="28" name="Rounded Rectangle 27"/>
          <p:cNvSpPr/>
          <p:nvPr/>
        </p:nvSpPr>
        <p:spPr>
          <a:xfrm>
            <a:off x="8069884"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8207044"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СКОРОСТЬ ПЕРЕХОДА ПРОТИВ БАЗЫ</a:t>
            </a:r>
          </a:p>
        </p:txBody>
      </p:sp>
      <p:sp>
        <p:nvSpPr>
          <p:cNvPr id="30" name="TextBox 29"/>
          <p:cNvSpPr txBox="1"/>
          <p:nvPr/>
        </p:nvSpPr>
        <p:spPr>
          <a:xfrm>
            <a:off x="8207044" y="423264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года против четырнадцати лет</a:t>
            </a:r>
          </a:p>
        </p:txBody>
      </p:sp>
      <p:sp>
        <p:nvSpPr>
          <p:cNvPr id="31" name="TextBox 30"/>
          <p:cNvSpPr txBox="1"/>
          <p:nvPr/>
        </p:nvSpPr>
        <p:spPr>
          <a:xfrm>
            <a:off x="8207044" y="5050071"/>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нелинейному монтажу понадобилось с 1989 по 2003 год, чтобы вытеснить физическую склейку плёнки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831177"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300–400 генераций на 15 пригодных склеек</a:t>
            </a:r>
          </a:p>
        </p:txBody>
      </p:sp>
      <p:sp>
        <p:nvSpPr>
          <p:cNvPr id="7" name="TextBox 6"/>
          <p:cNvSpPr txBox="1"/>
          <p:nvPr/>
        </p:nvSpPr>
        <p:spPr>
          <a:xfrm>
            <a:off x="640080" y="2203299"/>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неудачная попытка — секунды вычислений и центы; пропущенная удачная — весь ролик</a:t>
            </a:r>
          </a:p>
        </p:txBody>
      </p:sp>
      <p:sp>
        <p:nvSpPr>
          <p:cNvPr id="8" name="Rounded Rectangle 7"/>
          <p:cNvSpPr/>
          <p:nvPr/>
        </p:nvSpPr>
        <p:spPr>
          <a:xfrm>
            <a:off x="2773009"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ПРОИЗВОДСТВО РОЛИКА ТОГО ЖЕ СЛОТА</a:t>
            </a:r>
          </a:p>
        </p:txBody>
      </p:sp>
      <p:sp>
        <p:nvSpPr>
          <p:cNvPr id="10" name="TextBox 9"/>
          <p:cNvSpPr txBox="1"/>
          <p:nvPr/>
        </p:nvSpPr>
        <p:spPr>
          <a:xfrm>
            <a:off x="2910169" y="2555260"/>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40 000 $</a:t>
            </a:r>
          </a:p>
        </p:txBody>
      </p:sp>
      <p:sp>
        <p:nvSpPr>
          <p:cNvPr id="11" name="TextBox 10"/>
          <p:cNvSpPr txBox="1"/>
          <p:nvPr/>
        </p:nvSpPr>
        <p:spPr>
          <a:xfrm>
            <a:off x="2910169" y="337268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автором относительно: снижение стоимости на 95 процентов</a:t>
            </a:r>
          </a:p>
        </p:txBody>
      </p:sp>
      <p:sp>
        <p:nvSpPr>
          <p:cNvPr id="12" name="Rounded Rectangle 11"/>
          <p:cNvSpPr/>
          <p:nvPr/>
        </p:nvSpPr>
        <p:spPr>
          <a:xfrm>
            <a:off x="5043098"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РОССИЙСКАЯ ОПОРНАЯ ПОЛОСА</a:t>
            </a:r>
          </a:p>
        </p:txBody>
      </p:sp>
      <p:sp>
        <p:nvSpPr>
          <p:cNvPr id="14" name="TextBox 13"/>
          <p:cNvSpPr txBox="1"/>
          <p:nvPr/>
        </p:nvSpPr>
        <p:spPr>
          <a:xfrm>
            <a:off x="5180258" y="2347789"/>
            <a:ext cx="1831177"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10 000 ₽ за секунду эфирного материала</a:t>
            </a:r>
          </a:p>
        </p:txBody>
      </p:sp>
      <p:sp>
        <p:nvSpPr>
          <p:cNvPr id="15" name="TextBox 14"/>
          <p:cNvSpPr txBox="1"/>
          <p:nvPr/>
        </p:nvSpPr>
        <p:spPr>
          <a:xfrm>
            <a:off x="5180258" y="282571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300 000 ₽ за тридцатисекундный ролик; против 4–10 ₽ за секунду генерации при курсе около 80 ₽ за доллар</a:t>
            </a:r>
          </a:p>
        </p:txBody>
      </p:sp>
      <p:sp>
        <p:nvSpPr>
          <p:cNvPr id="16" name="Rounded Rectangle 15"/>
          <p:cNvSpPr/>
          <p:nvPr/>
        </p:nvSpPr>
        <p:spPr>
          <a:xfrm>
            <a:off x="7313188" y="1335024"/>
            <a:ext cx="2105497" cy="301979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2 000 $, один человек, 2–3 дня</a:t>
            </a:r>
          </a:p>
        </p:txBody>
      </p:sp>
      <p:sp>
        <p:nvSpPr>
          <p:cNvPr id="19" name="TextBox 18"/>
          <p:cNvSpPr txBox="1"/>
          <p:nvPr/>
        </p:nvSpPr>
        <p:spPr>
          <a:xfrm>
            <a:off x="7450348" y="2322123"/>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Veo 3; подсказки по этой работе опубликованы</a:t>
            </a:r>
          </a:p>
        </p:txBody>
      </p:sp>
      <p:sp>
        <p:nvSpPr>
          <p:cNvPr id="20" name="Rounded Rectangle 19"/>
          <p:cNvSpPr/>
          <p:nvPr/>
        </p:nvSpPr>
        <p:spPr>
          <a:xfrm>
            <a:off x="9583277"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a:t>
            </a:r>
          </a:p>
        </p:txBody>
      </p:sp>
      <p:sp>
        <p:nvSpPr>
          <p:cNvPr id="22" name="TextBox 21"/>
          <p:cNvSpPr txBox="1"/>
          <p:nvPr/>
        </p:nvSpPr>
        <p:spPr>
          <a:xfrm>
            <a:off x="9720437"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96 %</a:t>
            </a:r>
          </a:p>
        </p:txBody>
      </p:sp>
      <p:sp>
        <p:nvSpPr>
          <p:cNvPr id="23" name="TextBox 22"/>
          <p:cNvSpPr txBox="1"/>
          <p:nvPr/>
        </p:nvSpPr>
        <p:spPr>
          <a:xfrm>
            <a:off x="9720437" y="215237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400 к 15; экономия равна цене попытки, делённой на долю годного</a:t>
            </a:r>
          </a:p>
        </p:txBody>
      </p:sp>
      <p:sp>
        <p:nvSpPr>
          <p:cNvPr id="24" name="Rounded Rectangle 23"/>
          <p:cNvSpPr/>
          <p:nvPr/>
        </p:nvSpPr>
        <p:spPr>
          <a:xfrm>
            <a:off x="502920" y="4519408"/>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56568"/>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КОТОРУЮ НЕЛЬЗЯ ПОТЕРЯТЬ</a:t>
            </a:r>
          </a:p>
        </p:txBody>
      </p:sp>
      <p:sp>
        <p:nvSpPr>
          <p:cNvPr id="26" name="TextBox 25"/>
          <p:cNvSpPr txBox="1"/>
          <p:nvPr/>
        </p:nvSpPr>
        <p:spPr>
          <a:xfrm>
            <a:off x="640080" y="4909759"/>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это финал НБА, Супербоул здесь ни при чём</a:t>
            </a:r>
          </a:p>
        </p:txBody>
      </p:sp>
      <p:sp>
        <p:nvSpPr>
          <p:cNvPr id="27" name="TextBox 26"/>
          <p:cNvSpPr txBox="1"/>
          <p:nvPr/>
        </p:nvSpPr>
        <p:spPr>
          <a:xfrm>
            <a:off x="640080" y="533675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лига американского футбола рекламу предсказательных рынков не берёт; ошибка кочует по пересказам</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82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932846"/>
            <a:ext cx="145282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раньше — съёмочный день внутри годового цикла, теперь — одна генерация внутри месячного</a:t>
            </a:r>
          </a:p>
        </p:txBody>
      </p:sp>
      <p:sp>
        <p:nvSpPr>
          <p:cNvPr id="7" name="TextBox 6"/>
          <p:cNvSpPr txBox="1"/>
          <p:nvPr/>
        </p:nvSpPr>
        <p:spPr>
          <a:xfrm>
            <a:off x="640080" y="3191616"/>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величина, подтверждённая первым лицом компании</a:t>
            </a:r>
          </a:p>
        </p:txBody>
      </p:sp>
      <p:sp>
        <p:nvSpPr>
          <p:cNvPr id="8" name="Rounded Rectangle 7"/>
          <p:cNvSpPr/>
          <p:nvPr/>
        </p:nvSpPr>
        <p:spPr>
          <a:xfrm>
            <a:off x="2394661"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821" y="1472184"/>
            <a:ext cx="145282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СЪЁМКА РОЛИКА ТАКОЙ СЛОЖНОСТИ</a:t>
            </a:r>
          </a:p>
        </p:txBody>
      </p:sp>
      <p:sp>
        <p:nvSpPr>
          <p:cNvPr id="10" name="TextBox 9"/>
          <p:cNvSpPr txBox="1"/>
          <p:nvPr/>
        </p:nvSpPr>
        <p:spPr>
          <a:xfrm>
            <a:off x="2531821" y="2555260"/>
            <a:ext cx="1452829"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группа от 50 человек, цикл год</a:t>
            </a:r>
          </a:p>
        </p:txBody>
      </p:sp>
      <p:sp>
        <p:nvSpPr>
          <p:cNvPr id="11" name="TextBox 10"/>
          <p:cNvSpPr txBox="1"/>
          <p:nvPr/>
        </p:nvSpPr>
        <p:spPr>
          <a:xfrm>
            <a:off x="2531821" y="3016209"/>
            <a:ext cx="145282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формулировка директора по маркетингу: цикл схлопнулся «с года примерно до месяца»</a:t>
            </a:r>
          </a:p>
        </p:txBody>
      </p:sp>
      <p:sp>
        <p:nvSpPr>
          <p:cNvPr id="12" name="Rounded Rectangle 11"/>
          <p:cNvSpPr/>
          <p:nvPr/>
        </p:nvSpPr>
        <p:spPr>
          <a:xfrm>
            <a:off x="4286402"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3562" y="1472184"/>
            <a:ext cx="1452829" cy="1498018"/>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ПОВТОРНАЯ СЪЁМКА ОРИГИНАЛА 1995 ГОДА ПРЕЖНИМ СПОСОБОМ</a:t>
            </a:r>
          </a:p>
        </p:txBody>
      </p:sp>
      <p:sp>
        <p:nvSpPr>
          <p:cNvPr id="14" name="TextBox 13"/>
          <p:cNvSpPr txBox="1"/>
          <p:nvPr/>
        </p:nvSpPr>
        <p:spPr>
          <a:xfrm>
            <a:off x="4423562" y="2970202"/>
            <a:ext cx="1452829"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один ролик — одна съёмка</a:t>
            </a:r>
          </a:p>
        </p:txBody>
      </p:sp>
      <p:sp>
        <p:nvSpPr>
          <p:cNvPr id="15" name="TextBox 14"/>
          <p:cNvSpPr txBox="1"/>
          <p:nvPr/>
        </p:nvSpPr>
        <p:spPr>
          <a:xfrm>
            <a:off x="4423562" y="3999811"/>
            <a:ext cx="145282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съёмочный период, одна смета</a:t>
            </a:r>
          </a:p>
        </p:txBody>
      </p:sp>
      <p:sp>
        <p:nvSpPr>
          <p:cNvPr id="16" name="Rounded Rectangle 15"/>
          <p:cNvSpPr/>
          <p:nvPr/>
        </p:nvSpPr>
        <p:spPr>
          <a:xfrm>
            <a:off x="6178143"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6315303" y="1725375"/>
            <a:ext cx="145282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свыше 70 000 клипов, 5 специалистов, 30 дней</a:t>
            </a:r>
          </a:p>
        </p:txBody>
      </p:sp>
      <p:sp>
        <p:nvSpPr>
          <p:cNvPr id="19" name="TextBox 18"/>
          <p:cNvSpPr txBox="1"/>
          <p:nvPr/>
        </p:nvSpPr>
        <p:spPr>
          <a:xfrm>
            <a:off x="6315303" y="257674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студии и четыре разные модели; какие именно четыре — не называет ни один источник</a:t>
            </a:r>
          </a:p>
        </p:txBody>
      </p:sp>
      <p:sp>
        <p:nvSpPr>
          <p:cNvPr id="20" name="Rounded Rectangle 19"/>
          <p:cNvSpPr/>
          <p:nvPr/>
        </p:nvSpPr>
        <p:spPr>
          <a:xfrm>
            <a:off x="8069884" y="1335024"/>
            <a:ext cx="1727149" cy="3297049"/>
          </a:xfrm>
          <a:prstGeom prst="roundRect">
            <a:avLst>
              <a:gd name="adj" fmla="val 17647"/>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8207044" y="1472184"/>
            <a:ext cx="145282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ПРИ ЭТОМ В КАМПАНИИ ЗАНЯТО</a:t>
            </a:r>
          </a:p>
        </p:txBody>
      </p:sp>
      <p:sp>
        <p:nvSpPr>
          <p:cNvPr id="22" name="TextBox 21"/>
          <p:cNvSpPr txBox="1"/>
          <p:nvPr/>
        </p:nvSpPr>
        <p:spPr>
          <a:xfrm>
            <a:off x="8207044" y="2140317"/>
            <a:ext cx="1452829"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около 100 человек</a:t>
            </a:r>
          </a:p>
        </p:txBody>
      </p:sp>
      <p:sp>
        <p:nvSpPr>
          <p:cNvPr id="23" name="TextBox 22"/>
          <p:cNvSpPr txBox="1"/>
          <p:nvPr/>
        </p:nvSpPr>
        <p:spPr>
          <a:xfrm>
            <a:off x="8207044" y="2940765"/>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примерно столько же, сколько на классической кампании прежних лет</a:t>
            </a:r>
          </a:p>
        </p:txBody>
      </p:sp>
      <p:sp>
        <p:nvSpPr>
          <p:cNvPr id="24" name="Rounded Rectangle 23"/>
          <p:cNvSpPr/>
          <p:nvPr/>
        </p:nvSpPr>
        <p:spPr>
          <a:xfrm>
            <a:off x="9961626"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10098786" y="1472184"/>
            <a:ext cx="145282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ОГОВОРКА, ОБЯЗАТЕЛЬНАЯ НА КАДРЕ</a:t>
            </a:r>
          </a:p>
        </p:txBody>
      </p:sp>
      <p:sp>
        <p:nvSpPr>
          <p:cNvPr id="26" name="TextBox 25"/>
          <p:cNvSpPr txBox="1"/>
          <p:nvPr/>
        </p:nvSpPr>
        <p:spPr>
          <a:xfrm>
            <a:off x="10098786" y="2140317"/>
            <a:ext cx="145282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сколько из 70 000 клипов вошло в монтаж, не раскрыто нигде</a:t>
            </a:r>
          </a:p>
        </p:txBody>
      </p:sp>
      <p:sp>
        <p:nvSpPr>
          <p:cNvPr id="27" name="TextBox 26"/>
          <p:cNvSpPr txBox="1"/>
          <p:nvPr/>
        </p:nvSpPr>
        <p:spPr>
          <a:xfrm>
            <a:off x="10098786" y="2991690"/>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ходовое «70 000 клипов ради тридцати секунд» — вывод, выдаваемый за факт</a:t>
            </a:r>
          </a:p>
        </p:txBody>
      </p:sp>
      <p:sp>
        <p:nvSpPr>
          <p:cNvPr id="28" name="Rounded Rectangle 27"/>
          <p:cNvSpPr/>
          <p:nvPr/>
        </p:nvSpPr>
        <p:spPr>
          <a:xfrm>
            <a:off x="502920" y="4796665"/>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640080" y="4933825"/>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a:t>
            </a:r>
          </a:p>
        </p:txBody>
      </p:sp>
      <p:sp>
        <p:nvSpPr>
          <p:cNvPr id="30" name="TextBox 29"/>
          <p:cNvSpPr txBox="1"/>
          <p:nvPr/>
        </p:nvSpPr>
        <p:spPr>
          <a:xfrm>
            <a:off x="640080" y="5187016"/>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компания раскрыть отказалась</a:t>
            </a:r>
          </a:p>
        </p:txBody>
      </p:sp>
      <p:sp>
        <p:nvSpPr>
          <p:cNvPr id="31" name="TextBox 30"/>
          <p:cNvSpPr txBox="1"/>
          <p:nvPr/>
        </p:nvSpPr>
        <p:spPr>
          <a:xfrm>
            <a:off x="640080" y="5614016"/>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встречное утверждение «обошлось примерно столько же» принадлежит разбору третьей стороны; независимой цифры нет ни у одной стороны</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КЛАССИЧЕСКАЯ КАМПАНИЯ</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съёмочная группа от пятидесяти плюс всё вокруг неё</a:t>
            </a:r>
          </a:p>
        </p:txBody>
      </p:sp>
      <p:sp>
        <p:nvSpPr>
          <p:cNvPr id="8" name="Rounded Rectangle 7"/>
          <p:cNvSpPr/>
          <p:nvPr/>
        </p:nvSpPr>
        <p:spPr>
          <a:xfrm>
            <a:off x="3340531"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ГЕНЕРАТИВНАЯ КАМПАНИЯ</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пятеро нажимали кнопку, девяносто пять делали остальное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СРОК</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 → месяц</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двенадцатикратно; подтверждено первым лицом компании</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ЧИСЛО ПРОБ</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одна съёмка → свыше 70 000 клипов</a:t>
            </a:r>
          </a:p>
        </p:txBody>
      </p:sp>
      <p:sp>
        <p:nvSpPr>
          <p:cNvPr id="19" name="TextBox 18"/>
          <p:cNvSpPr txBox="1"/>
          <p:nvPr/>
        </p:nvSpPr>
        <p:spPr>
          <a:xfrm>
            <a:off x="9152915"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вошло в монтаж, не раскрыто</a:t>
            </a:r>
          </a:p>
        </p:txBody>
      </p:sp>
      <p:sp>
        <p:nvSpPr>
          <p:cNvPr id="20" name="Rounded Rectangle 19"/>
          <p:cNvSpPr/>
          <p:nvPr/>
        </p:nvSpPr>
        <p:spPr>
          <a:xfrm>
            <a:off x="374904" y="340512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Проверять такие сообщения надо одним вопросом: названо число исполнителей операции или число участников работы?</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ПЯТЕРО НА ПЯТЬСОТ ПЛАНОВ</a:t>
            </a:r>
          </a:p>
        </p:txBody>
      </p:sp>
      <p:sp>
        <p:nvSpPr>
          <p:cNvPr id="6" name="TextBox 5"/>
          <p:cNvSpPr txBox="1"/>
          <p:nvPr/>
        </p:nvSpPr>
        <p:spPr>
          <a:xfrm>
            <a:off x="640080"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более 80 % из примерно 500 планов с эффектами</a:t>
            </a:r>
          </a:p>
        </p:txBody>
      </p:sp>
      <p:sp>
        <p:nvSpPr>
          <p:cNvPr id="7" name="TextBox 6"/>
          <p:cNvSpPr txBox="1"/>
          <p:nvPr/>
        </p:nvSpPr>
        <p:spPr>
          <a:xfrm>
            <a:off x="640080" y="2580519"/>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независимая студия из пяти человек; фильм получил «Оскар» за лучшую картину</a:t>
            </a:r>
          </a:p>
        </p:txBody>
      </p:sp>
      <p:sp>
        <p:nvSpPr>
          <p:cNvPr id="8" name="Rounded Rectangle 7"/>
          <p:cNvSpPr/>
          <p:nvPr/>
        </p:nvSpPr>
        <p:spPr>
          <a:xfrm>
            <a:off x="2773009"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10" name="TextBox 9"/>
          <p:cNvSpPr txBox="1"/>
          <p:nvPr/>
        </p:nvSpPr>
        <p:spPr>
          <a:xfrm>
            <a:off x="2910169"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11" name="TextBox 10"/>
          <p:cNvSpPr txBox="1"/>
          <p:nvPr/>
        </p:nvSpPr>
        <p:spPr>
          <a:xfrm>
            <a:off x="2910169" y="295774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12" name="Rounded Rectangle 11"/>
          <p:cNvSpPr/>
          <p:nvPr/>
        </p:nvSpPr>
        <p:spPr>
          <a:xfrm>
            <a:off x="5043098" y="1335024"/>
            <a:ext cx="2105497" cy="284249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6" name="Rounded Rectangle 15"/>
          <p:cNvSpPr/>
          <p:nvPr/>
        </p:nvSpPr>
        <p:spPr>
          <a:xfrm>
            <a:off x="7313188"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9" name="TextBox 18"/>
          <p:cNvSpPr txBox="1"/>
          <p:nvPr/>
        </p:nvSpPr>
        <p:spPr>
          <a:xfrm>
            <a:off x="7450348" y="25427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20" name="Rounded Rectangle 19"/>
          <p:cNvSpPr/>
          <p:nvPr/>
        </p:nvSpPr>
        <p:spPr>
          <a:xfrm>
            <a:off x="9583277"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22" name="TextBox 21"/>
          <p:cNvSpPr txBox="1"/>
          <p:nvPr/>
        </p:nvSpPr>
        <p:spPr>
          <a:xfrm>
            <a:off x="9720437" y="2555260"/>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23" name="TextBox 22"/>
          <p:cNvSpPr txBox="1"/>
          <p:nvPr/>
        </p:nvSpPr>
        <p:spPr>
          <a:xfrm>
            <a:off x="9720437" y="340663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4" name="Rounded Rectangle 23"/>
          <p:cNvSpPr/>
          <p:nvPr/>
        </p:nvSpPr>
        <p:spPr>
          <a:xfrm>
            <a:off x="374904" y="4268962"/>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360402"/>
            <a:ext cx="11112703" cy="18758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Относительно этих двух масштабов и читаются все числа раздела: что в генеративном случае считается дёшево, а что дорого, имеет смысл только рядом с ними.</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2773009" y="1335024"/>
            <a:ext cx="2105497" cy="388362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504309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731318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9583277"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543810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92712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92712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92712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662644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3618890"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ЕДИНИЦА ДАННЫХ РЯДОМ С ДВУМЯ ПРЕЖНИМИ</a:t>
            </a:r>
          </a:p>
        </p:txBody>
      </p:sp>
      <p:sp>
        <p:nvSpPr>
          <p:cNvPr id="6" name="TextBox 5"/>
          <p:cNvSpPr txBox="1"/>
          <p:nvPr/>
        </p:nvSpPr>
        <p:spPr>
          <a:xfrm>
            <a:off x="640080" y="1932846"/>
            <a:ext cx="3344570" cy="783472"/>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патч пространства-времени</a:t>
            </a:r>
          </a:p>
        </p:txBody>
      </p:sp>
      <p:sp>
        <p:nvSpPr>
          <p:cNvPr id="7" name="TextBox 6"/>
          <p:cNvSpPr txBox="1"/>
          <p:nvPr/>
        </p:nvSpPr>
        <p:spPr>
          <a:xfrm>
            <a:off x="640080" y="2716319"/>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токен языковой модели — номер из словаря; латентный патч изображения — непрерывный вектор; патч видео — тот же вектор, растянутый во времени</a:t>
            </a:r>
          </a:p>
        </p:txBody>
      </p:sp>
      <p:sp>
        <p:nvSpPr>
          <p:cNvPr id="8" name="Rounded Rectangle 7"/>
          <p:cNvSpPr/>
          <p:nvPr/>
        </p:nvSpPr>
        <p:spPr>
          <a:xfrm>
            <a:off x="4286402"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«изображение — это просто видео из одного кадра»</a:t>
            </a:r>
          </a:p>
        </p:txBody>
      </p:sp>
      <p:sp>
        <p:nvSpPr>
          <p:cNvPr id="11" name="TextBox 10"/>
          <p:cNvSpPr txBox="1"/>
          <p:nvPr/>
        </p:nvSpPr>
        <p:spPr>
          <a:xfrm>
            <a:off x="4423562"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12" name="Rounded Rectangle 11"/>
          <p:cNvSpPr/>
          <p:nvPr/>
        </p:nvSpPr>
        <p:spPr>
          <a:xfrm>
            <a:off x="8069884"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РАЗРЕШЕНИЕ И ДЛИТЕЛЬНОСТЬ — ЭТО ФОРМА СЕТКИ</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горизонтальный, вертикальный и всё между ними</a:t>
            </a:r>
          </a:p>
        </p:txBody>
      </p:sp>
      <p:sp>
        <p:nvSpPr>
          <p:cNvPr id="15" name="TextBox 14"/>
          <p:cNvSpPr txBox="1"/>
          <p:nvPr/>
        </p:nvSpPr>
        <p:spPr>
          <a:xfrm>
            <a:off x="8207044" y="3140692"/>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отдельных режимов: патчи расставляются в сетку нужного размера</a:t>
            </a:r>
          </a:p>
        </p:txBody>
      </p:sp>
      <p:sp>
        <p:nvSpPr>
          <p:cNvPr id="16" name="TextBox 15"/>
          <p:cNvSpPr txBox="1"/>
          <p:nvPr/>
        </p:nvSpPr>
        <p:spPr>
          <a:xfrm>
            <a:off x="502920" y="3919795"/>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Видеомодель</a:t>
            </a:r>
          </a:p>
        </p:txBody>
      </p:sp>
      <p:sp>
        <p:nvSpPr>
          <p:cNvPr id="17" name="Rounded Rectangle 16"/>
          <p:cNvSpPr/>
          <p:nvPr/>
        </p:nvSpPr>
        <p:spPr>
          <a:xfrm>
            <a:off x="1920240"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 сжимается в низкоразмерное латентное пространство</a:t>
            </a:r>
          </a:p>
        </p:txBody>
      </p:sp>
      <p:sp>
        <p:nvSpPr>
          <p:cNvPr id="19" name="Right Arrow 18"/>
          <p:cNvSpPr/>
          <p:nvPr/>
        </p:nvSpPr>
        <p:spPr>
          <a:xfrm>
            <a:off x="4202353" y="44088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Представление раскладывается на патчи пространства-времени</a:t>
            </a:r>
          </a:p>
        </p:txBody>
      </p:sp>
      <p:sp>
        <p:nvSpPr>
          <p:cNvPr id="22" name="Right Arrow 21"/>
          <p:cNvSpPr/>
          <p:nvPr/>
        </p:nvSpPr>
        <p:spPr>
          <a:xfrm>
            <a:off x="6713067" y="44088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Патчи работают как токены трансформера</a:t>
            </a:r>
          </a:p>
        </p:txBody>
      </p:sp>
      <p:sp>
        <p:nvSpPr>
          <p:cNvPr id="25" name="Right Arrow 24"/>
          <p:cNvSpPr/>
          <p:nvPr/>
        </p:nvSpPr>
        <p:spPr>
          <a:xfrm>
            <a:off x="9223781" y="44088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задаётся формой сетки патчей</a:t>
            </a:r>
          </a:p>
        </p:txBody>
      </p:sp>
      <p:sp>
        <p:nvSpPr>
          <p:cNvPr id="28" name="TextBox 27"/>
          <p:cNvSpPr txBox="1"/>
          <p:nvPr/>
        </p:nvSpPr>
        <p:spPr>
          <a:xfrm>
            <a:off x="502920" y="51081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движущееся изображение становится токенами</a:t>
            </a:r>
          </a:p>
        </p:txBody>
      </p:sp>
      <p:sp>
        <p:nvSpPr>
          <p:cNvPr id="29" name="Rounded Rectangle 28"/>
          <p:cNvSpPr/>
          <p:nvPr/>
        </p:nvSpPr>
        <p:spPr>
          <a:xfrm>
            <a:off x="374904" y="5410818"/>
            <a:ext cx="11441887" cy="82538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502258"/>
            <a:ext cx="11112703" cy="7339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2616578"/>
          </a:xfrm>
          <a:prstGeom prst="roundRect">
            <a:avLst>
              <a:gd name="adj" fmla="val 1164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9495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Автокодировщик работает токенизатором, модель стоит поверх него</a:t>
            </a:r>
          </a:p>
          <a:p>
            <a:pPr algn="l">
              <a:lnSpc>
                <a:spcPct val="126000"/>
              </a:lnSpc>
            </a:pPr>
            <a:r>
              <a:rPr sz="1450" b="0" i="0">
                <a:solidFill>
                  <a:srgbClr val="21295C"/>
                </a:solidFill>
                <a:latin typeface="Arial"/>
              </a:rPr>
              <a:t>• Расшумление переписывает все токены на каждом шаге</a:t>
            </a:r>
          </a:p>
          <a:p>
            <a:pPr algn="l">
              <a:lnSpc>
                <a:spcPct val="126000"/>
              </a:lnSpc>
            </a:pPr>
            <a:r>
              <a:rPr sz="145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2616578"/>
          </a:xfrm>
          <a:prstGeom prst="roundRect">
            <a:avLst>
              <a:gd name="adj" fmla="val 1164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94950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Сжатие идёт не только по пространству, но и по времени</a:t>
            </a:r>
          </a:p>
          <a:p>
            <a:pPr algn="l">
              <a:lnSpc>
                <a:spcPct val="126000"/>
              </a:lnSpc>
            </a:pPr>
            <a:r>
              <a:rPr sz="14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4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4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2105497" cy="327253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ТРЁХМЕРНОГО СЖАТИЯ, ИЗМЕРЕННЫЙ В АБЛЯЦИИ</a:t>
            </a:r>
          </a:p>
        </p:txBody>
      </p:sp>
      <p:sp>
        <p:nvSpPr>
          <p:cNvPr id="6" name="TextBox 5"/>
          <p:cNvSpPr txBox="1"/>
          <p:nvPr/>
        </p:nvSpPr>
        <p:spPr>
          <a:xfrm>
            <a:off x="640080" y="2555260"/>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мерцание 93,2 → 86,3</a:t>
            </a:r>
          </a:p>
        </p:txBody>
      </p:sp>
      <p:sp>
        <p:nvSpPr>
          <p:cNvPr id="7" name="TextBox 6"/>
          <p:cNvSpPr txBox="1"/>
          <p:nvPr/>
        </p:nvSpPr>
        <p:spPr>
          <a:xfrm>
            <a:off x="640080" y="337268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переход от двумерного автокодировщика к трёхмерному</a:t>
            </a:r>
          </a:p>
        </p:txBody>
      </p:sp>
      <p:sp>
        <p:nvSpPr>
          <p:cNvPr id="8" name="Rounded Rectangle 7"/>
          <p:cNvSpPr/>
          <p:nvPr/>
        </p:nvSpPr>
        <p:spPr>
          <a:xfrm>
            <a:off x="2773009"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КАУЗАЛЬНОСТЬ ПО ВРЕМЕНИ — БУКВАЛЬНО</a:t>
            </a:r>
          </a:p>
        </p:txBody>
      </p:sp>
      <p:sp>
        <p:nvSpPr>
          <p:cNvPr id="10" name="TextBox 9"/>
          <p:cNvSpPr txBox="1"/>
          <p:nvPr/>
        </p:nvSpPr>
        <p:spPr>
          <a:xfrm>
            <a:off x="2910169"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все отступы размещаются в начале свёрточного пространства</a:t>
            </a:r>
          </a:p>
        </p:txBody>
      </p:sp>
      <p:sp>
        <p:nvSpPr>
          <p:cNvPr id="11" name="TextBox 10"/>
          <p:cNvSpPr txBox="1"/>
          <p:nvPr/>
        </p:nvSpPr>
        <p:spPr>
          <a:xfrm>
            <a:off x="2910169"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гарантирует, что будущая информация не влияет на настоящие и прошлые предсказания» — тот же приём, что каузальная маска внимания</a:t>
            </a:r>
          </a:p>
        </p:txBody>
      </p:sp>
      <p:sp>
        <p:nvSpPr>
          <p:cNvPr id="12" name="Rounded Rectangle 11"/>
          <p:cNvSpPr/>
          <p:nvPr/>
        </p:nvSpPr>
        <p:spPr>
          <a:xfrm>
            <a:off x="504309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 трёх до шестнадцати, у самой сжимающей модели до 128</a:t>
            </a:r>
          </a:p>
        </p:txBody>
      </p:sp>
      <p:sp>
        <p:nvSpPr>
          <p:cNvPr id="15" name="TextBox 14"/>
          <p:cNvSpPr txBox="1"/>
          <p:nvPr/>
        </p:nvSpPr>
        <p:spPr>
          <a:xfrm>
            <a:off x="5180258" y="2580519"/>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числа каналов компенсирует силу сжатия</a:t>
            </a:r>
          </a:p>
        </p:txBody>
      </p:sp>
      <p:sp>
        <p:nvSpPr>
          <p:cNvPr id="16" name="Rounded Rectangle 15"/>
          <p:cNvSpPr/>
          <p:nvPr/>
        </p:nvSpPr>
        <p:spPr>
          <a:xfrm>
            <a:off x="731318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РЕАЛЬНЫЕ КОЭФФИЦИЕНТЫ СЖАТИЯ, ВРЕМЯ × ВЫСОТА × ШИРИНА</a:t>
            </a:r>
          </a:p>
        </p:txBody>
      </p:sp>
      <p:sp>
        <p:nvSpPr>
          <p:cNvPr id="18" name="TextBox 17"/>
          <p:cNvSpPr txBox="1"/>
          <p:nvPr/>
        </p:nvSpPr>
        <p:spPr>
          <a:xfrm>
            <a:off x="7450348"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4×8×8 у трёх моделей 2024–2025 · 8×8×8 · 8×32×32</a:t>
            </a:r>
          </a:p>
        </p:txBody>
      </p:sp>
      <p:sp>
        <p:nvSpPr>
          <p:cNvPr id="19" name="TextBox 18"/>
          <p:cNvSpPr txBox="1"/>
          <p:nvPr/>
        </p:nvSpPr>
        <p:spPr>
          <a:xfrm>
            <a:off x="7450348"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последней размер патча равен единице — патча нет вовсе, 128 каналов</a:t>
            </a:r>
          </a:p>
        </p:txBody>
      </p:sp>
      <p:sp>
        <p:nvSpPr>
          <p:cNvPr id="20" name="Rounded Rectangle 19"/>
          <p:cNvSpPr/>
          <p:nvPr/>
        </p:nvSpPr>
        <p:spPr>
          <a:xfrm>
            <a:off x="9583277"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ПРЕДЕЛ — ИЗМЕРЕНО</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при 16×16×8 «сходимость модели становится крайне затруднённой»</a:t>
            </a:r>
          </a:p>
        </p:txBody>
      </p:sp>
      <p:sp>
        <p:nvSpPr>
          <p:cNvPr id="23" name="TextBox 22"/>
          <p:cNvSpPr txBox="1"/>
          <p:nvPr/>
        </p:nvSpPr>
        <p:spPr>
          <a:xfrm>
            <a:off x="9720437" y="278421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при соответствующем увеличении числа каналов; бесплатного сжатия не бывает</a:t>
            </a:r>
          </a:p>
        </p:txBody>
      </p:sp>
      <p:sp>
        <p:nvSpPr>
          <p:cNvPr id="24" name="TextBox 23"/>
          <p:cNvSpPr txBox="1"/>
          <p:nvPr/>
        </p:nvSpPr>
        <p:spPr>
          <a:xfrm>
            <a:off x="502920" y="48270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 латентных кадров</a:t>
            </a:r>
          </a:p>
        </p:txBody>
      </p:sp>
      <p:sp>
        <p:nvSpPr>
          <p:cNvPr id="25" name="Rounded Rectangle 24"/>
          <p:cNvSpPr/>
          <p:nvPr/>
        </p:nvSpPr>
        <p:spPr>
          <a:xfrm>
            <a:off x="1920240"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кадр кодируется отдельно, только пространственно</a:t>
            </a:r>
          </a:p>
        </p:txBody>
      </p:sp>
      <p:sp>
        <p:nvSpPr>
          <p:cNvPr id="27" name="Right Arrow 26"/>
          <p:cNvSpPr/>
          <p:nvPr/>
        </p:nvSpPr>
        <p:spPr>
          <a:xfrm>
            <a:off x="4202353" y="53160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Остальные кадры сжимаются по времени в заданное число раз</a:t>
            </a:r>
          </a:p>
        </p:txBody>
      </p:sp>
      <p:sp>
        <p:nvSpPr>
          <p:cNvPr id="30" name="Right Arrow 29"/>
          <p:cNvSpPr/>
          <p:nvPr/>
        </p:nvSpPr>
        <p:spPr>
          <a:xfrm>
            <a:off x="6713067" y="5316024"/>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Латентных кадров = остальные ÷ коэффициент + 1</a:t>
            </a:r>
          </a:p>
        </p:txBody>
      </p:sp>
      <p:sp>
        <p:nvSpPr>
          <p:cNvPr id="33" name="Right Arrow 32"/>
          <p:cNvSpPr/>
          <p:nvPr/>
        </p:nvSpPr>
        <p:spPr>
          <a:xfrm>
            <a:off x="9223781" y="5316024"/>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Отсюда «кратное четырём плюс один» и «кратное восьми плюс один»</a:t>
            </a:r>
          </a:p>
        </p:txBody>
      </p:sp>
      <p:sp>
        <p:nvSpPr>
          <p:cNvPr id="36" name="TextBox 35"/>
          <p:cNvSpPr txBox="1"/>
          <p:nvPr/>
        </p:nvSpPr>
        <p:spPr>
          <a:xfrm>
            <a:off x="502920" y="60153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Почему в интерфейсах стоят 49, 81, 121, 129 и 257 кадров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2105497" cy="31084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a:t>
            </a:r>
          </a:p>
        </p:txBody>
      </p:sp>
      <p:sp>
        <p:nvSpPr>
          <p:cNvPr id="6" name="TextBox 5"/>
          <p:cNvSpPr txBox="1"/>
          <p:nvPr/>
        </p:nvSpPr>
        <p:spPr>
          <a:xfrm>
            <a:off x="640080" y="1725375"/>
            <a:ext cx="1831177" cy="724060"/>
          </a:xfrm>
          <a:prstGeom prst="rect">
            <a:avLst/>
          </a:prstGeom>
          <a:noFill/>
        </p:spPr>
        <p:txBody>
          <a:bodyPr wrap="square" lIns="0" rIns="0" tIns="0" bIns="0" anchor="t">
            <a:spAutoFit/>
          </a:bodyPr>
          <a:lstStyle/>
          <a:p>
            <a:pPr algn="l">
              <a:lnSpc>
                <a:spcPct val="108000"/>
              </a:lnSpc>
            </a:pPr>
            <a:r>
              <a:rPr sz="1350" b="1" i="0">
                <a:solidFill>
                  <a:srgbClr val="1C7293"/>
                </a:solidFill>
                <a:latin typeface="Arial"/>
              </a:rPr>
              <a:t>разрешение втрое → обучение в сорок раз медленнее</a:t>
            </a:r>
          </a:p>
        </p:txBody>
      </p:sp>
      <p:sp>
        <p:nvSpPr>
          <p:cNvPr id="7" name="TextBox 6"/>
          <p:cNvSpPr txBox="1"/>
          <p:nvPr/>
        </p:nvSpPr>
        <p:spPr>
          <a:xfrm>
            <a:off x="640080" y="244943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129 кадров при 768 точках против 256 точек</a:t>
            </a:r>
          </a:p>
        </p:txBody>
      </p:sp>
      <p:sp>
        <p:nvSpPr>
          <p:cNvPr id="8" name="Rounded Rectangle 7"/>
          <p:cNvSpPr/>
          <p:nvPr/>
        </p:nvSpPr>
        <p:spPr>
          <a:xfrm>
            <a:off x="2773009"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БЕРЁТСЯ ИМЕННО СОРОК</a:t>
            </a:r>
          </a:p>
        </p:txBody>
      </p:sp>
      <p:sp>
        <p:nvSpPr>
          <p:cNvPr id="10" name="TextBox 9"/>
          <p:cNvSpPr txBox="1"/>
          <p:nvPr/>
        </p:nvSpPr>
        <p:spPr>
          <a:xfrm>
            <a:off x="2910169" y="1932846"/>
            <a:ext cx="1831177"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между девяткой и восьмьюдесятью</a:t>
            </a:r>
          </a:p>
        </p:txBody>
      </p:sp>
      <p:sp>
        <p:nvSpPr>
          <p:cNvPr id="11" name="TextBox 10"/>
          <p:cNvSpPr txBox="1"/>
          <p:nvPr/>
        </p:nvSpPr>
        <p:spPr>
          <a:xfrm>
            <a:off x="2910169" y="2495645"/>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втрое по стороне — вдевятеро по точкам и патчам; внимание квадратично и даёт около восьмидесяти, остальная сеть растёт линейно и разбавляет множитель</a:t>
            </a:r>
          </a:p>
        </p:txBody>
      </p:sp>
      <p:sp>
        <p:nvSpPr>
          <p:cNvPr id="12" name="Rounded Rectangle 11"/>
          <p:cNvSpPr/>
          <p:nvPr/>
        </p:nvSpPr>
        <p:spPr>
          <a:xfrm>
            <a:off x="504309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СХОДИТСЯ</a:t>
            </a:r>
          </a:p>
        </p:txBody>
      </p:sp>
      <p:sp>
        <p:nvSpPr>
          <p:cNvPr id="14" name="TextBox 13"/>
          <p:cNvSpPr txBox="1"/>
          <p:nvPr/>
        </p:nvSpPr>
        <p:spPr>
          <a:xfrm>
            <a:off x="5180258"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арифметика предсказывает порядок, замер подтверждает</a:t>
            </a:r>
          </a:p>
        </p:txBody>
      </p:sp>
      <p:sp>
        <p:nvSpPr>
          <p:cNvPr id="15" name="TextBox 14"/>
          <p:cNvSpPr txBox="1"/>
          <p:nvPr/>
        </p:nvSpPr>
        <p:spPr>
          <a:xfrm>
            <a:off x="5180258"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сорок лежит ровно там, где и должно для сети, где внимание составляет заметную, но не подавляющую долю вычислений</a:t>
            </a:r>
          </a:p>
        </p:txBody>
      </p:sp>
      <p:sp>
        <p:nvSpPr>
          <p:cNvPr id="16" name="Rounded Rectangle 15"/>
          <p:cNvSpPr/>
          <p:nvPr/>
        </p:nvSpPr>
        <p:spPr>
          <a:xfrm>
            <a:off x="731318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18" name="TextBox 17"/>
          <p:cNvSpPr txBox="1"/>
          <p:nvPr/>
        </p:nvSpPr>
        <p:spPr>
          <a:xfrm>
            <a:off x="7450348" y="1932846"/>
            <a:ext cx="1831177"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десятисекундный клип втрое дороже пятисекундного</a:t>
            </a:r>
          </a:p>
        </p:txBody>
      </p:sp>
      <p:sp>
        <p:nvSpPr>
          <p:cNvPr id="19" name="TextBox 18"/>
          <p:cNvSpPr txBox="1"/>
          <p:nvPr/>
        </p:nvSpPr>
        <p:spPr>
          <a:xfrm>
            <a:off x="7450348" y="2707831"/>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секунда длинного клипа на 50 процентов дороже; скидки за объём здесь нет, есть наценка</a:t>
            </a:r>
          </a:p>
        </p:txBody>
      </p:sp>
      <p:sp>
        <p:nvSpPr>
          <p:cNvPr id="20" name="Rounded Rectangle 19"/>
          <p:cNvSpPr/>
          <p:nvPr/>
        </p:nvSpPr>
        <p:spPr>
          <a:xfrm>
            <a:off x="9583277"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ПРИЧИНЫ, ПО КОТОРЫМ КЛИП ДЛИТСЯ ПЯТЬ-ДЕСЯТЬ СЕКУНД</a:t>
            </a:r>
          </a:p>
        </p:txBody>
      </p:sp>
      <p:sp>
        <p:nvSpPr>
          <p:cNvPr id="22" name="TextBox 21"/>
          <p:cNvSpPr txBox="1"/>
          <p:nvPr/>
        </p:nvSpPr>
        <p:spPr>
          <a:xfrm>
            <a:off x="9720437" y="2347789"/>
            <a:ext cx="1831177"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квадратичность · память · данные</a:t>
            </a:r>
          </a:p>
        </p:txBody>
      </p:sp>
      <p:sp>
        <p:nvSpPr>
          <p:cNvPr id="23" name="TextBox 22"/>
          <p:cNvSpPr txBox="1"/>
          <p:nvPr/>
        </p:nvSpPr>
        <p:spPr>
          <a:xfrm>
            <a:off x="9720437" y="3250086"/>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обучающие клипы сами короткие: 35 миллионов односценовых клипов, каждый в среднем около шести секунд</a:t>
            </a:r>
          </a:p>
        </p:txBody>
      </p:sp>
      <p:sp>
        <p:nvSpPr>
          <p:cNvPr id="24" name="Rounded Rectangle 23"/>
          <p:cNvSpPr/>
          <p:nvPr/>
        </p:nvSpPr>
        <p:spPr>
          <a:xfrm>
            <a:off x="374904" y="453490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26343"/>
            <a:ext cx="11112703" cy="160986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Длина, разрешение и частота кадров покупаются нелинейно, и арифметика предсказывает это раньше замера: втрое по стороне кадра — вдевятеро по числу точек, а внимание квадратично по их числу.</a:t>
            </a:r>
          </a:p>
        </p:txBody>
      </p:sp>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105497" cy="3487545"/>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2773009"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2910169"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4 160 × 24 × 2 = 199 680 $</a:t>
            </a:r>
          </a:p>
        </p:txBody>
      </p:sp>
      <p:sp>
        <p:nvSpPr>
          <p:cNvPr id="11" name="TextBox 10"/>
          <p:cNvSpPr txBox="1"/>
          <p:nvPr/>
        </p:nvSpPr>
        <p:spPr>
          <a:xfrm>
            <a:off x="2910169" y="294076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504309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5180258" y="2580519"/>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731318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7450348" y="1725375"/>
            <a:ext cx="1831177"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токенов с 76 000 до 19 000</a:t>
            </a:r>
          </a:p>
        </p:txBody>
      </p:sp>
      <p:sp>
        <p:nvSpPr>
          <p:cNvPr id="19" name="TextBox 18"/>
          <p:cNvSpPr txBox="1"/>
          <p:nvPr/>
        </p:nvSpPr>
        <p:spPr>
          <a:xfrm>
            <a:off x="7450348" y="24748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9583277"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9720437" y="278421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504202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541221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5412215"/>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5412215"/>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599271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Rounded Rectangle 19"/>
          <p:cNvSpPr/>
          <p:nvPr/>
        </p:nvSpPr>
        <p:spPr>
          <a:xfrm>
            <a:off x="374904" y="5059239"/>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50679"/>
            <a:ext cx="11112703" cy="108552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Объектное постоянство в интерактивном режиме — это размер окна, и свойством мира оно не является.</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2105497" cy="3068831"/>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И ОНА ЧЕСТНАЯ</a:t>
            </a:r>
          </a:p>
        </p:txBody>
      </p:sp>
      <p:sp>
        <p:nvSpPr>
          <p:cNvPr id="6" name="TextBox 5"/>
          <p:cNvSpPr txBox="1"/>
          <p:nvPr/>
        </p:nvSpPr>
        <p:spPr>
          <a:xfrm>
            <a:off x="640080"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два дубля одной и той же реальной сцены = 100 %</a:t>
            </a:r>
          </a:p>
        </p:txBody>
      </p:sp>
      <p:sp>
        <p:nvSpPr>
          <p:cNvPr id="7" name="TextBox 6"/>
          <p:cNvSpPr txBox="1"/>
          <p:nvPr/>
        </p:nvSpPr>
        <p:spPr>
          <a:xfrm>
            <a:off x="640080" y="2373048"/>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планка показывает, насколько сама реальность повторяет себя; вместо абстрактного идеала — воспроизводимость физического мира</a:t>
            </a:r>
          </a:p>
        </p:txBody>
      </p:sp>
      <p:sp>
        <p:nvSpPr>
          <p:cNvPr id="8" name="Rounded Rectangle 7"/>
          <p:cNvSpPr/>
          <p:nvPr/>
        </p:nvSpPr>
        <p:spPr>
          <a:xfrm>
            <a:off x="2773009"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ЧЕГО СОБРАНО ИСПЫТАНИЕ</a:t>
            </a:r>
          </a:p>
        </p:txBody>
      </p:sp>
      <p:sp>
        <p:nvSpPr>
          <p:cNvPr id="10" name="TextBox 9"/>
          <p:cNvSpPr txBox="1"/>
          <p:nvPr/>
        </p:nvSpPr>
        <p:spPr>
          <a:xfrm>
            <a:off x="2910169"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396 реальных видеозаписей, 66 сценариев, по три ракурса, по два дубля</a:t>
            </a:r>
          </a:p>
        </p:txBody>
      </p:sp>
      <p:sp>
        <p:nvSpPr>
          <p:cNvPr id="11" name="TextBox 10"/>
          <p:cNvSpPr txBox="1"/>
          <p:nvPr/>
        </p:nvSpPr>
        <p:spPr>
          <a:xfrm>
            <a:off x="2910169" y="278421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проверялись шесть ведущих систем своего времени</a:t>
            </a:r>
          </a:p>
        </p:txBody>
      </p:sp>
      <p:sp>
        <p:nvSpPr>
          <p:cNvPr id="12" name="Rounded Rectangle 11"/>
          <p:cNvSpPr/>
          <p:nvPr/>
        </p:nvSpPr>
        <p:spPr>
          <a:xfrm>
            <a:off x="504309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РЕЗУЛЬТАТ ЛУЧШЕЙ МОДЕЛИ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29,5 %</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«все оценённые модели показывают большой разрыв… что указывает на серьёзно ограниченное физическое понимание»</a:t>
            </a:r>
          </a:p>
        </p:txBody>
      </p:sp>
      <p:sp>
        <p:nvSpPr>
          <p:cNvPr id="16" name="Rounded Rectangle 15"/>
          <p:cNvSpPr/>
          <p:nvPr/>
        </p:nvSpPr>
        <p:spPr>
          <a:xfrm>
            <a:off x="731318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18" name="TextBox 17"/>
          <p:cNvSpPr txBox="1"/>
          <p:nvPr/>
        </p:nvSpPr>
        <p:spPr>
          <a:xfrm>
            <a:off x="7450348"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−0,46 при уровне значимости 0,249</a:t>
            </a:r>
          </a:p>
        </p:txBody>
      </p:sp>
      <p:sp>
        <p:nvSpPr>
          <p:cNvPr id="19" name="TextBox 18"/>
          <p:cNvSpPr txBox="1"/>
          <p:nvPr/>
        </p:nvSpPr>
        <p:spPr>
          <a:xfrm>
            <a:off x="7450348" y="27879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видео одной из систем труднее всего отличить от настоящих — что ровно ничего не говорит о том, упадёт ли мяч в ящик</a:t>
            </a:r>
          </a:p>
        </p:txBody>
      </p:sp>
      <p:sp>
        <p:nvSpPr>
          <p:cNvPr id="20" name="Rounded Rectangle 19"/>
          <p:cNvSpPr/>
          <p:nvPr/>
        </p:nvSpPr>
        <p:spPr>
          <a:xfrm>
            <a:off x="9583277"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22" name="TextBox 21"/>
          <p:cNvSpPr txBox="1"/>
          <p:nvPr/>
        </p:nvSpPr>
        <p:spPr>
          <a:xfrm>
            <a:off x="9720437" y="1932846"/>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справляются с размазыванием краски по стеклу и выливанием жидкости на резиновую утку</a:t>
            </a:r>
          </a:p>
        </p:txBody>
      </p:sp>
      <p:sp>
        <p:nvSpPr>
          <p:cNvPr id="23" name="TextBox 22"/>
          <p:cNvSpPr txBox="1"/>
          <p:nvPr/>
        </p:nvSpPr>
        <p:spPr>
          <a:xfrm>
            <a:off x="9720437" y="298791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с разрезанием мандарина ножом</a:t>
            </a:r>
          </a:p>
        </p:txBody>
      </p:sp>
      <p:sp>
        <p:nvSpPr>
          <p:cNvPr id="24" name="Rounded Rectangle 23"/>
          <p:cNvSpPr/>
          <p:nvPr/>
        </p:nvSpPr>
        <p:spPr>
          <a:xfrm>
            <a:off x="374904" y="449529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586735"/>
            <a:ext cx="11112703" cy="16494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Правдоподобие и понимание расходятся. Приёмка по принципу «выглядит убедительно» в этой модальности не работает.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3140692"/>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2773009"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2910169"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остановлено расширение студии на 800 млн $</a:t>
            </a:r>
          </a:p>
        </p:txBody>
      </p:sp>
      <p:sp>
        <p:nvSpPr>
          <p:cNvPr id="11" name="TextBox 10"/>
          <p:cNvSpPr txBox="1"/>
          <p:nvPr/>
        </p:nvSpPr>
        <p:spPr>
          <a:xfrm>
            <a:off x="2910169"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5043098" y="1335024"/>
            <a:ext cx="2105497" cy="413164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5180258"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5180258" y="237304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7313188"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7450348" y="2347789"/>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7450348" y="3199161"/>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9583277"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9720437" y="2347789"/>
            <a:ext cx="1831177"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преемник назван, путь перехода дан</a:t>
            </a:r>
          </a:p>
        </p:txBody>
      </p:sp>
      <p:sp>
        <p:nvSpPr>
          <p:cNvPr id="23" name="TextBox 22"/>
          <p:cNvSpPr txBox="1"/>
          <p:nvPr/>
        </p:nvSpPr>
        <p:spPr>
          <a:xfrm>
            <a:off x="9720437" y="3428322"/>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68612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17514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02077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509787"/>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509787"/>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35541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8844430"/>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8844430"/>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54375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«AIR HEAD», АПРЕЛЬ 2024</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к 1</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собственная оценка авторов: отношение исходного материала к вошедшему</a:t>
            </a:r>
          </a:p>
        </p:txBody>
      </p:sp>
      <p:sp>
        <p:nvSpPr>
          <p:cNvPr id="8" name="Rounded Rectangle 7"/>
          <p:cNvSpPr/>
          <p:nvPr/>
        </p:nvSpPr>
        <p:spPr>
          <a:xfrm>
            <a:off x="2773009"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БЕЗ КОТОРОЙ ЭТО ЧИСЛО НЕ ЧИТАЕТСЯ</a:t>
            </a:r>
          </a:p>
        </p:txBody>
      </p:sp>
      <p:sp>
        <p:nvSpPr>
          <p:cNvPr id="10" name="TextBox 9"/>
          <p:cNvSpPr txBox="1"/>
          <p:nvPr/>
        </p:nvSpPr>
        <p:spPr>
          <a:xfrm>
            <a:off x="2910169" y="2140317"/>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десятки к одному в документалистике, около десяти к одному в постановочной рекламе</a:t>
            </a:r>
          </a:p>
        </p:txBody>
      </p:sp>
      <p:sp>
        <p:nvSpPr>
          <p:cNvPr id="11" name="TextBox 10"/>
          <p:cNvSpPr txBox="1"/>
          <p:nvPr/>
        </p:nvSpPr>
        <p:spPr>
          <a:xfrm>
            <a:off x="2910169" y="3195389"/>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не изобрела отбор — она увеличила его на порядок-полтора против того режима, которому подражает</a:t>
            </a:r>
          </a:p>
        </p:txBody>
      </p:sp>
      <p:sp>
        <p:nvSpPr>
          <p:cNvPr id="12" name="Rounded Rectangle 11"/>
          <p:cNvSpPr/>
          <p:nvPr/>
        </p:nvSpPr>
        <p:spPr>
          <a:xfrm>
            <a:off x="5043098" y="1335024"/>
            <a:ext cx="2105497" cy="35969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14" name="TextBox 13"/>
          <p:cNvSpPr txBox="1"/>
          <p:nvPr/>
        </p:nvSpPr>
        <p:spPr>
          <a:xfrm>
            <a:off x="5180258" y="1932846"/>
            <a:ext cx="1831177" cy="749522"/>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сотни итеративных планов → пара десятков</a:t>
            </a:r>
          </a:p>
        </p:txBody>
      </p:sp>
      <p:sp>
        <p:nvSpPr>
          <p:cNvPr id="15" name="TextBox 14"/>
          <p:cNvSpPr txBox="1"/>
          <p:nvPr/>
        </p:nvSpPr>
        <p:spPr>
          <a:xfrm>
            <a:off x="5180258" y="2682369"/>
            <a:ext cx="1831177"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шестидесятишестисекундный ролик. Единственное защитимое в публичном поле отношение генераций к годному: названо первоисточником, с именами студии и режиссёра</a:t>
            </a:r>
          </a:p>
        </p:txBody>
      </p:sp>
      <p:sp>
        <p:nvSpPr>
          <p:cNvPr id="16" name="Rounded Rectangle 15"/>
          <p:cNvSpPr/>
          <p:nvPr/>
        </p:nvSpPr>
        <p:spPr>
          <a:xfrm>
            <a:off x="7313188"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ЕГО НЕЛЬЗЯ ПЕРЕНОСИТЬ</a:t>
            </a:r>
          </a:p>
        </p:txBody>
      </p:sp>
      <p:sp>
        <p:nvSpPr>
          <p:cNvPr id="18" name="TextBox 17"/>
          <p:cNvSpPr txBox="1"/>
          <p:nvPr/>
        </p:nvSpPr>
        <p:spPr>
          <a:xfrm>
            <a:off x="7450348" y="1932846"/>
            <a:ext cx="1831177"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это один ролик одной студии</a:t>
            </a:r>
          </a:p>
        </p:txBody>
      </p:sp>
      <p:sp>
        <p:nvSpPr>
          <p:cNvPr id="19" name="TextBox 18"/>
          <p:cNvSpPr txBox="1"/>
          <p:nvPr/>
        </p:nvSpPr>
        <p:spPr>
          <a:xfrm>
            <a:off x="7450348" y="308976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кампании с семьюдесятью тысячами клипов доля вошедших не раскрыта нигде, и подставлять сюда чужое отношение значит выдумывать</a:t>
            </a:r>
          </a:p>
        </p:txBody>
      </p:sp>
      <p:sp>
        <p:nvSpPr>
          <p:cNvPr id="20" name="Rounded Rectangle 19"/>
          <p:cNvSpPr/>
          <p:nvPr/>
        </p:nvSpPr>
        <p:spPr>
          <a:xfrm>
            <a:off x="9583277"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ЭТОЙ ЛЕКЦИИ НЕ УПОТРЕБЛЯЕТСЯ</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«три генерации на годный кадр» и «шесть-двенадцать на один удачный»</a:t>
            </a:r>
          </a:p>
        </p:txBody>
      </p:sp>
      <p:sp>
        <p:nvSpPr>
          <p:cNvPr id="23" name="TextBox 22"/>
          <p:cNvSpPr txBox="1"/>
          <p:nvPr/>
        </p:nvSpPr>
        <p:spPr>
          <a:xfrm>
            <a:off x="9720437"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цифры происходят из материалов сайтов, продающих генерацию, и не содержат ни методологии, ни выборки</a:t>
            </a:r>
          </a:p>
        </p:txBody>
      </p:sp>
      <p:sp>
        <p:nvSpPr>
          <p:cNvPr id="24" name="Rounded Rectangle 23"/>
          <p:cNvSpPr/>
          <p:nvPr/>
        </p:nvSpPr>
        <p:spPr>
          <a:xfrm>
            <a:off x="374904" y="502340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114843"/>
            <a:ext cx="11112703" cy="112136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Между ценой одной попытки и ценой одного годного результата стоит коэффициент отбора, которого в прейскуранте нет ни словом.</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2140317"/>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737066"/>
            <a:ext cx="162118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2700178" y="1932846"/>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750268"/>
            <a:ext cx="1621186"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3017906"/>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4760277" y="2140317"/>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838915"/>
            <a:ext cx="162118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4444370"/>
            <a:ext cx="6271736"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35810"/>
            <a:ext cx="5942552" cy="17003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Отрасль держит под словом «трёхмерная графика» три разные вещи:</a:t>
            </a:r>
            <a:r>
              <a:rPr sz="150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Классический конвейер ассета и пять способов получить данные</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Поиск облика</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блокинг — грубая форма из коробок и сфер</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скульптинг до миллионов треугольников</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Подготовка к производству</a:t>
            </a:r>
          </a:p>
        </p:txBody>
      </p:sp>
      <p:sp>
        <p:nvSpPr>
          <p:cNvPr id="14" name="Rounded Rectangle 13"/>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вылепленной</a:t>
            </a:r>
          </a:p>
        </p:txBody>
      </p:sp>
      <p:sp>
        <p:nvSpPr>
          <p:cNvPr id="16" name="Right Arrow 15"/>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по швам</a:t>
            </a:r>
          </a:p>
        </p:txBody>
      </p:sp>
      <p:sp>
        <p:nvSpPr>
          <p:cNvPr id="19" name="Right Arrow 18"/>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текстурирование</a:t>
            </a:r>
          </a:p>
        </p:txBody>
      </p:sp>
      <p:sp>
        <p:nvSpPr>
          <p:cNvPr id="22" name="Right Arrow 21"/>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и привязка вершин</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Использование</a:t>
            </a:r>
          </a:p>
        </p:txBody>
      </p:sp>
      <p:sp>
        <p:nvSpPr>
          <p:cNvPr id="26" name="Rounded Rectangle 25"/>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анимация и расчёт ткани</a:t>
            </a:r>
          </a:p>
        </p:txBody>
      </p:sp>
      <p:sp>
        <p:nvSpPr>
          <p:cNvPr id="28" name="Right Arrow 27"/>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рендер и сборка</a:t>
            </a:r>
          </a:p>
        </p:txBody>
      </p:sp>
      <p:sp>
        <p:nvSpPr>
          <p:cNvPr id="31" name="TextBox 30"/>
          <p:cNvSpPr txBox="1"/>
          <p:nvPr/>
        </p:nvSpPr>
        <p:spPr>
          <a:xfrm>
            <a:off x="502920" y="451628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конвейер ассета: девять стадий, собранные в три участка</a:t>
            </a:r>
          </a:p>
        </p:txBody>
      </p:sp>
      <p:sp>
        <p:nvSpPr>
          <p:cNvPr id="32" name="Rounded Rectangle 31"/>
          <p:cNvSpPr/>
          <p:nvPr/>
        </p:nvSpPr>
        <p:spPr>
          <a:xfrm>
            <a:off x="374904" y="48189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вошла в этот конвейер не целиком.</a:t>
            </a:r>
            <a:r>
              <a:rPr sz="1500" b="0" i="0">
                <a:solidFill>
                  <a:srgbClr val="21295C"/>
                </a:solidFill>
                <a:latin typeface="Arial"/>
              </a:rPr>
              <a:t> Она добавила шестой вход и удешевила первый; семь стадий из девяти остались там же, где были.</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способов получить данные о реальном объекте и что из них тронула модель</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классических способов получить данные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фотограмметрия: обход с камерой, сотни кадров с перекрытием; побочный продукт — разреженное облако точек</a:t>
            </a:r>
          </a:p>
          <a:p>
            <a:pPr algn="l">
              <a:lnSpc>
                <a:spcPct val="126000"/>
              </a:lnSpc>
            </a:pPr>
            <a:r>
              <a:rPr sz="1350" b="0" i="0">
                <a:solidFill>
                  <a:srgbClr val="21295C"/>
                </a:solidFill>
                <a:latin typeface="Arial"/>
              </a:rPr>
              <a:t>• лазерное сканирование: прибор меряет расстояние, точнее по геометрии и беднее по цвету</a:t>
            </a:r>
          </a:p>
          <a:p>
            <a:pPr algn="l">
              <a:lnSpc>
                <a:spcPct val="126000"/>
              </a:lnSpc>
            </a:pPr>
            <a:r>
              <a:rPr sz="1350" b="0" i="0">
                <a:solidFill>
                  <a:srgbClr val="21295C"/>
                </a:solidFill>
                <a:latin typeface="Arial"/>
              </a:rPr>
              <a:t>• ручное моделирование в редакторе — единственный способ получить объект, которого не существует</a:t>
            </a:r>
          </a:p>
          <a:p>
            <a:pPr algn="l">
              <a:lnSpc>
                <a:spcPct val="126000"/>
              </a:lnSpc>
            </a:pPr>
            <a:r>
              <a:rPr sz="1350" b="0" i="0">
                <a:solidFill>
                  <a:srgbClr val="21295C"/>
                </a:solidFill>
                <a:latin typeface="Arial"/>
              </a:rPr>
              <a:t>• захват движения: даёт изменение формы во времени</a:t>
            </a:r>
          </a:p>
          <a:p>
            <a:pPr algn="l">
              <a:lnSpc>
                <a:spcPct val="126000"/>
              </a:lnSpc>
            </a:pPr>
            <a:r>
              <a:rPr sz="1350" b="0" i="0">
                <a:solidFill>
                  <a:srgbClr val="21295C"/>
                </a:solidFill>
                <a:latin typeface="Arial"/>
              </a:rPr>
              <a:t>• готовые библиотеки: самый дешёвый путь и самый узкий</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из этого тронула модель</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добавила шестой вход — текстовое описание</a:t>
            </a:r>
          </a:p>
          <a:p>
            <a:pPr algn="l">
              <a:lnSpc>
                <a:spcPct val="126000"/>
              </a:lnSpc>
            </a:pPr>
            <a:r>
              <a:rPr sz="1450" b="0" i="0">
                <a:solidFill>
                  <a:srgbClr val="21295C"/>
                </a:solidFill>
                <a:latin typeface="Arial"/>
              </a:rPr>
              <a:t>• удешевила первый: набор снимков превращается в сцену за минуты вместо суток</a:t>
            </a:r>
          </a:p>
          <a:p>
            <a:pPr algn="l">
              <a:lnSpc>
                <a:spcPct val="126000"/>
              </a:lnSpc>
            </a:pPr>
            <a:r>
              <a:rPr sz="1450" b="0" i="0">
                <a:solidFill>
                  <a:srgbClr val="21295C"/>
                </a:solidFill>
                <a:latin typeface="Arial"/>
              </a:rPr>
              <a:t>• остальные четыре оставила как были</a:t>
            </a:r>
          </a:p>
          <a:p>
            <a:pPr algn="l">
              <a:lnSpc>
                <a:spcPct val="126000"/>
              </a:lnSpc>
            </a:pPr>
            <a:r>
              <a:rPr sz="1450" b="0" i="0">
                <a:solidFill>
                  <a:srgbClr val="21295C"/>
                </a:solidFill>
                <a:latin typeface="Arial"/>
              </a:rPr>
              <a:t>• лазерный сканер как мерил размеры, так и мерит, и дальше станет понятно, почему это важнее, чем кажется</a:t>
            </a:r>
          </a:p>
        </p:txBody>
      </p:sp>
      <p:sp>
        <p:nvSpPr>
          <p:cNvPr id="10" name="Rounded Rectangle 9"/>
          <p:cNvSpPr/>
          <p:nvPr/>
        </p:nvSpPr>
        <p:spPr>
          <a:xfrm>
            <a:off x="374904" y="453542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добавила один вход и удешевила один — и не добавила ни одного измерения.</a:t>
            </a:r>
          </a:p>
        </p:txBody>
      </p:sp>
      <p:sp>
        <p:nvSpPr>
          <p:cNvPr id="12" name="Rectangle 1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932846"/>
            <a:ext cx="1438166"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плёнка 1939 года, кадр 4:3</a:t>
            </a:r>
          </a:p>
        </p:txBody>
      </p:sp>
      <p:sp>
        <p:nvSpPr>
          <p:cNvPr id="7" name="TextBox 6"/>
          <p:cNvSpPr txBox="1"/>
          <p:nvPr/>
        </p:nvSpPr>
        <p:spPr>
          <a:xfrm>
            <a:off x="640080" y="2512620"/>
            <a:ext cx="1438166"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2379998" y="1335024"/>
            <a:ext cx="1712486" cy="3446051"/>
          </a:xfrm>
          <a:prstGeom prst="roundRect">
            <a:avLst>
              <a:gd name="adj" fmla="val 1779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17158"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2517158" y="1932846"/>
            <a:ext cx="1438166"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свыше 90% кадра</a:t>
            </a:r>
          </a:p>
        </p:txBody>
      </p:sp>
      <p:sp>
        <p:nvSpPr>
          <p:cNvPr id="11" name="TextBox 10"/>
          <p:cNvSpPr txBox="1"/>
          <p:nvPr/>
        </p:nvSpPr>
        <p:spPr>
          <a:xfrm>
            <a:off x="2517158" y="2682369"/>
            <a:ext cx="143816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4257076"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394236"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4394236" y="2347789"/>
            <a:ext cx="143816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4394236" y="3165211"/>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6134155"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271315"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6271315" y="2347789"/>
            <a:ext cx="1438166"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не опубликована</a:t>
            </a:r>
          </a:p>
        </p:txBody>
      </p:sp>
      <p:sp>
        <p:nvSpPr>
          <p:cNvPr id="19" name="TextBox 18"/>
          <p:cNvSpPr txBox="1"/>
          <p:nvPr/>
        </p:nvSpPr>
        <p:spPr>
          <a:xfrm>
            <a:off x="6271315" y="2910587"/>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Rounded Rectangle 19"/>
          <p:cNvSpPr/>
          <p:nvPr/>
        </p:nvSpPr>
        <p:spPr>
          <a:xfrm>
            <a:off x="374904" y="4872515"/>
            <a:ext cx="7599753" cy="1363692"/>
          </a:xfrm>
          <a:prstGeom prst="roundRect">
            <a:avLst>
              <a:gd name="adj" fmla="val 223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63955"/>
            <a:ext cx="7270569" cy="12722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Авторы формулируют прямо: то, что они делают, — «не реставрация в духе Скорсезе».</a:t>
            </a:r>
            <a:r>
              <a:rPr sz="1500" b="0" i="0">
                <a:solidFill>
                  <a:srgbClr val="21295C"/>
                </a:solidFill>
                <a:latin typeface="Arial"/>
              </a:rPr>
              <a:t> Граница между восстановлением и выдумыванием переехала молча, внутри работы, которую зритель покупает как «тот самый фильм».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Сравнение одностороннее: классический режим назван, и своего числа у него нет.</a:t>
            </a:r>
          </a:p>
        </p:txBody>
      </p:sp>
      <p:sp>
        <p:nvSpPr>
          <p:cNvPr id="22" name="Rounded Rectangle 21"/>
          <p:cNvSpPr/>
          <p:nvPr/>
        </p:nvSpPr>
        <p:spPr>
          <a:xfrm>
            <a:off x="8157537" y="1335024"/>
            <a:ext cx="3531237" cy="4389120"/>
          </a:xfrm>
          <a:prstGeom prst="roundRect">
            <a:avLst>
              <a:gd name="adj" fmla="val 8631"/>
            </a:avLst>
          </a:prstGeom>
          <a:solidFill>
            <a:srgbClr val="F4F7FA"/>
          </a:solidFill>
          <a:ln w="19050">
            <a:solidFill>
              <a:srgbClr val="1C7293"/>
            </a:solidFill>
          </a:ln>
          <a:effectLst/>
        </p:spPr>
        <p:txBody>
          <a:bodyPr rtlCol="0" anchor="ctr"/>
          <a:lstStyle/>
          <a:p>
            <a:pPr algn="ctr"/>
          </a:p>
        </p:txBody>
      </p:sp>
      <p:pic>
        <p:nvPicPr>
          <p:cNvPr id="23" name="Picture 22" descr="s69-wizard-of-oz-1939.jpg"/>
          <p:cNvPicPr>
            <a:picLocks noChangeAspect="1"/>
          </p:cNvPicPr>
          <p:nvPr/>
        </p:nvPicPr>
        <p:blipFill>
          <a:blip r:embed="rId2"/>
          <a:stretch>
            <a:fillRect/>
          </a:stretch>
        </p:blipFill>
        <p:spPr>
          <a:xfrm>
            <a:off x="8294697" y="1472184"/>
            <a:ext cx="3256917" cy="4114800"/>
          </a:xfrm>
          <a:prstGeom prst="rect">
            <a:avLst/>
          </a:prstGeom>
        </p:spPr>
      </p:pic>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Sphere Entertainment и Warner Bros., заявления о проекте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в этом разборе посчитано и что нет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Два классических режима — оба названы, ни один не посчитан</a:t>
            </a:r>
          </a:p>
        </p:txBody>
      </p:sp>
      <p:sp>
        <p:nvSpPr>
          <p:cNvPr id="6" name="TextBox 5"/>
          <p:cNvSpPr txBox="1"/>
          <p:nvPr/>
        </p:nvSpPr>
        <p:spPr>
          <a:xfrm>
            <a:off x="667512" y="2093101"/>
            <a:ext cx="5108295" cy="219543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реставрация и доработка под купол обычным путём: практика существует, стоимости в источниках нет</a:t>
            </a:r>
          </a:p>
          <a:p>
            <a:pPr algn="l">
              <a:lnSpc>
                <a:spcPct val="126000"/>
              </a:lnSpc>
            </a:pPr>
            <a:r>
              <a:rPr sz="1450" b="0" i="0">
                <a:solidFill>
                  <a:srgbClr val="21295C"/>
                </a:solidFill>
                <a:latin typeface="Arial"/>
              </a:rPr>
              <a:t>• показать оригинальный кадр 4:3 без достройки, оставив остальной экран тёмным: назван самими авторами как рассмотренный и отвергнутый, числа тоже нет</a:t>
            </a:r>
          </a:p>
          <a:p>
            <a:pPr algn="l">
              <a:lnSpc>
                <a:spcPct val="126000"/>
              </a:lnSpc>
            </a:pPr>
            <a:r>
              <a:rPr sz="1450" b="0" i="0">
                <a:solidFill>
                  <a:srgbClr val="21295C"/>
                </a:solidFill>
                <a:latin typeface="Arial"/>
              </a:rPr>
              <a:t>• поэтому выигрыш не объявляется вовсе: посчитанный от нуля, он ничего не измеряет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Как это сделано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вход — исходная плёнка 1939 года; выход — изображение под сферический экран</a:t>
            </a:r>
          </a:p>
          <a:p>
            <a:pPr algn="l">
              <a:lnSpc>
                <a:spcPct val="126000"/>
              </a:lnSpc>
            </a:pPr>
            <a:r>
              <a:rPr sz="1150" b="0" i="0">
                <a:solidFill>
                  <a:srgbClr val="21295C"/>
                </a:solidFill>
                <a:latin typeface="Arial"/>
              </a:rPr>
              <a:t>• Imagen, Veo и Gemini (Google DeepMind и Google Cloud) для достройки и дорисовки</a:t>
            </a:r>
          </a:p>
          <a:p>
            <a:pPr algn="l">
              <a:lnSpc>
                <a:spcPct val="126000"/>
              </a:lnSpc>
            </a:pPr>
            <a:r>
              <a:rPr sz="1150" b="0" i="0">
                <a:solidFill>
                  <a:srgbClr val="21295C"/>
                </a:solidFill>
                <a:latin typeface="Arial"/>
              </a:rPr>
              <a:t>• Topaz Video AI для повышения разрешения и работы с зерном; права — Warner Bros.</a:t>
            </a:r>
          </a:p>
          <a:p>
            <a:pPr algn="l">
              <a:lnSpc>
                <a:spcPct val="126000"/>
              </a:lnSpc>
            </a:pPr>
            <a:r>
              <a:rPr sz="1150" b="0" i="0">
                <a:solidFill>
                  <a:srgbClr val="21295C"/>
                </a:solidFill>
                <a:latin typeface="Arial"/>
              </a:rPr>
              <a:t>• партитура Герберта Стотхарта перезаписана, добавлены эффекты зала</a:t>
            </a:r>
          </a:p>
          <a:p>
            <a:pPr algn="l">
              <a:lnSpc>
                <a:spcPct val="126000"/>
              </a:lnSpc>
            </a:pPr>
            <a:r>
              <a:rPr sz="1150" b="0" i="0">
                <a:solidFill>
                  <a:srgbClr val="21295C"/>
                </a:solidFill>
                <a:latin typeface="Arial"/>
              </a:rPr>
              <a:t>• на чём обучены применённые модели — не раскрыто; кто и по какому порогу решал покадрово «достраивать или нет» — не описано ни в одном доступном источнике</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не объявляется вовсе.</a:t>
            </a:r>
            <a:r>
              <a:rPr sz="1500" b="0" i="0">
                <a:solidFill>
                  <a:srgbClr val="21295C"/>
                </a:solidFill>
                <a:latin typeface="Arial"/>
              </a:rPr>
              <a:t> Классический режим назван обеими своими формами, и ни у одной из них нет опубликованной цены — посчитанный от нуля выигрыш ничего не измеряет.</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1 326 панелей, дуга 270°</a:t>
            </a:r>
          </a:p>
        </p:txBody>
      </p:sp>
      <p:sp>
        <p:nvSpPr>
          <p:cNvPr id="7" name="TextBox 6"/>
          <p:cNvSpPr txBox="1"/>
          <p:nvPr/>
        </p:nvSpPr>
        <p:spPr>
          <a:xfrm>
            <a:off x="640080" y="2910587"/>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414930" y="1335024"/>
            <a:ext cx="1747418" cy="319142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2552090" y="2140317"/>
            <a:ext cx="1473098"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в среднем 8 секунд</a:t>
            </a:r>
          </a:p>
        </p:txBody>
      </p:sp>
      <p:sp>
        <p:nvSpPr>
          <p:cNvPr id="11" name="TextBox 10"/>
          <p:cNvSpPr txBox="1"/>
          <p:nvPr/>
        </p:nvSpPr>
        <p:spPr>
          <a:xfrm>
            <a:off x="2552090" y="2906815"/>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32694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4464100" y="2750268"/>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932846"/>
            <a:ext cx="14730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70 раз</a:t>
            </a:r>
          </a:p>
        </p:txBody>
      </p:sp>
      <p:sp>
        <p:nvSpPr>
          <p:cNvPr id="7" name="TextBox 6"/>
          <p:cNvSpPr txBox="1"/>
          <p:nvPr/>
        </p:nvSpPr>
        <p:spPr>
          <a:xfrm>
            <a:off x="640080" y="2376820"/>
            <a:ext cx="1473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241493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2552090" y="1725375"/>
            <a:ext cx="1473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2 200 раз</a:t>
            </a:r>
          </a:p>
        </p:txBody>
      </p:sp>
      <p:sp>
        <p:nvSpPr>
          <p:cNvPr id="11" name="TextBox 10"/>
          <p:cNvSpPr txBox="1"/>
          <p:nvPr/>
        </p:nvSpPr>
        <p:spPr>
          <a:xfrm>
            <a:off x="2552090" y="2373048"/>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4326940" y="1335024"/>
            <a:ext cx="1747418" cy="286890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4464100" y="2140317"/>
            <a:ext cx="1473098"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больше примерно в 85 раз</a:t>
            </a:r>
          </a:p>
        </p:txBody>
      </p:sp>
      <p:sp>
        <p:nvSpPr>
          <p:cNvPr id="15" name="TextBox 14"/>
          <p:cNvSpPr txBox="1"/>
          <p:nvPr/>
        </p:nvSpPr>
        <p:spPr>
          <a:xfrm>
            <a:off x="4464100" y="2584291"/>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Rounded Rectangle 15"/>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18303"/>
            <a:ext cx="11112703" cy="15179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Качество не менялось: разница меньше полудецибела, глазом неразличима.</a:t>
            </a:r>
            <a:r>
              <a:rPr sz="1500" b="0" i="0">
                <a:solidFill>
                  <a:srgbClr val="21295C"/>
                </a:solidFill>
                <a:latin typeface="Arial"/>
              </a:rPr>
              <a:t> Поменялась одна экономика — и поменялась сразу в обе стороны.</a:t>
            </a:r>
          </a:p>
        </p:txBody>
      </p:sp>
      <p:sp>
        <p:nvSpPr>
          <p:cNvPr id="18" name="Rounded Rectangle 17"/>
          <p:cNvSpPr/>
          <p:nvPr/>
        </p:nvSpPr>
        <p:spPr>
          <a:xfrm>
            <a:off x="6385255" y="1335024"/>
            <a:ext cx="5303520" cy="3291839"/>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19" name="Picture 18" descr="s71-3dgs-viewer.jpg"/>
          <p:cNvPicPr>
            <a:picLocks noChangeAspect="1"/>
          </p:cNvPicPr>
          <p:nvPr/>
        </p:nvPicPr>
        <p:blipFill>
          <a:blip r:embed="rId2"/>
          <a:stretch>
            <a:fillRect/>
          </a:stretch>
        </p:blipFill>
        <p:spPr>
          <a:xfrm>
            <a:off x="6522415" y="1472184"/>
            <a:ext cx="5029200" cy="3017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Kerbl et al., SIGGRAPH 2023, arXiv:2308.04079; Mildenhall et al., ECCV 2020, arXiv:2003.08934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Поле излучения и гауссово спрыскивание: два устройства одной сцены</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Поле излучения (NeRF), 2020 — как устроено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сцена — одна небольшая сеть: на вопрос «что в точке, если смотреть оттуда» отвечает плотностью и цветом</a:t>
            </a:r>
          </a:p>
          <a:p>
            <a:pPr algn="l">
              <a:lnSpc>
                <a:spcPct val="126000"/>
              </a:lnSpc>
            </a:pPr>
            <a:r>
              <a:rPr sz="1400" b="0" i="0">
                <a:solidFill>
                  <a:srgbClr val="21295C"/>
                </a:solidFill>
                <a:latin typeface="Arial"/>
              </a:rPr>
              <a:t>• картинка собирается прогонами сети вдоль луча: 150–200 миллионов запросов на один кадр</a:t>
            </a:r>
          </a:p>
          <a:p>
            <a:pPr algn="l">
              <a:lnSpc>
                <a:spcPct val="126000"/>
              </a:lnSpc>
            </a:pPr>
            <a:r>
              <a:rPr sz="1400" b="0" i="0">
                <a:solidFill>
                  <a:srgbClr val="21295C"/>
                </a:solidFill>
                <a:latin typeface="Arial"/>
              </a:rPr>
              <a:t>• обучение 48 часов · показ 0,06 кадра в секунду · 8,6 МБ на сцену · качество 27,69</a:t>
            </a:r>
          </a:p>
          <a:p>
            <a:pPr algn="l">
              <a:lnSpc>
                <a:spcPct val="126000"/>
              </a:lnSpc>
            </a:pPr>
            <a:r>
              <a:rPr sz="1400" b="0" i="0">
                <a:solidFill>
                  <a:srgbClr val="21295C"/>
                </a:solidFill>
                <a:latin typeface="Arial"/>
              </a:rPr>
              <a:t>• классический метод того же назначения требовал больше 15 гигабайт на сцену — сжатие примерно в три тысячи раз</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Гауссово спрыскивание, 2023 — как устроено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сцена — множество вытянутых полупрозрачных клякс с положением, формой, прозрачностью и цветом</a:t>
            </a:r>
          </a:p>
          <a:p>
            <a:pPr algn="l">
              <a:lnSpc>
                <a:spcPct val="126000"/>
              </a:lnSpc>
            </a:pPr>
            <a:r>
              <a:rPr sz="1450" b="0" i="0">
                <a:solidFill>
                  <a:srgbClr val="21295C"/>
                </a:solidFill>
                <a:latin typeface="Arial"/>
              </a:rPr>
              <a:t>• начинают с разреженного облака точек, которое и так остаётся после калибровки камер</a:t>
            </a:r>
          </a:p>
          <a:p>
            <a:pPr algn="l">
              <a:lnSpc>
                <a:spcPct val="126000"/>
              </a:lnSpc>
            </a:pPr>
            <a:r>
              <a:rPr sz="1450" b="0" i="0">
                <a:solidFill>
                  <a:srgbClr val="21295C"/>
                </a:solidFill>
                <a:latin typeface="Arial"/>
              </a:rPr>
              <a:t>• показ — одна проекция на кляксу на обычном растеризаторе, а не сотни прогонов сети</a:t>
            </a:r>
          </a:p>
          <a:p>
            <a:pPr algn="l">
              <a:lnSpc>
                <a:spcPct val="126000"/>
              </a:lnSpc>
            </a:pPr>
            <a:r>
              <a:rPr sz="1450" b="0" i="0">
                <a:solidFill>
                  <a:srgbClr val="21295C"/>
                </a:solidFill>
                <a:latin typeface="Arial"/>
              </a:rPr>
              <a:t>• обучение 41 мин 33 с · показ 134 кадра в секунду · 734 МБ на сцену · качество 27,21</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Разницу создаёт устройство сцены, а не размер модели.</a:t>
            </a:r>
            <a:r>
              <a:rPr sz="1500" b="0" i="0">
                <a:solidFill>
                  <a:srgbClr val="21295C"/>
                </a:solidFill>
                <a:latin typeface="Arial"/>
              </a:rPr>
              <a:t> Одно хранит сцену как сеть и опрашивает её лучами; другое хранит её как кляксы и проецирует их обычным растеризатором.</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заплачено размером сцены</a:t>
            </a:r>
          </a:p>
        </p:txBody>
      </p:sp>
      <p:sp>
        <p:nvSpPr>
          <p:cNvPr id="4" name="Rounded Rectangle 3"/>
          <p:cNvSpPr/>
          <p:nvPr/>
        </p:nvSpPr>
        <p:spPr>
          <a:xfrm>
            <a:off x="50292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ВЫИГРАЛИ В ПОКАЗЕ</a:t>
            </a:r>
          </a:p>
        </p:txBody>
      </p:sp>
      <p:sp>
        <p:nvSpPr>
          <p:cNvPr id="6" name="TextBox 5"/>
          <p:cNvSpPr txBox="1"/>
          <p:nvPr/>
        </p:nvSpPr>
        <p:spPr>
          <a:xfrm>
            <a:off x="640080" y="1932846"/>
            <a:ext cx="1473098"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примерно в 2 200 раз</a:t>
            </a:r>
          </a:p>
        </p:txBody>
      </p:sp>
      <p:sp>
        <p:nvSpPr>
          <p:cNvPr id="7" name="TextBox 6"/>
          <p:cNvSpPr txBox="1"/>
          <p:nvPr/>
        </p:nvSpPr>
        <p:spPr>
          <a:xfrm>
            <a:off x="640080" y="2682369"/>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на той же сцене</a:t>
            </a:r>
          </a:p>
        </p:txBody>
      </p:sp>
      <p:sp>
        <p:nvSpPr>
          <p:cNvPr id="8" name="Rounded Rectangle 7"/>
          <p:cNvSpPr/>
          <p:nvPr/>
        </p:nvSpPr>
        <p:spPr>
          <a:xfrm>
            <a:off x="2414930" y="1335024"/>
            <a:ext cx="1747418" cy="2617109"/>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 РАЗМЕРОМ</a:t>
            </a:r>
          </a:p>
        </p:txBody>
      </p:sp>
      <p:sp>
        <p:nvSpPr>
          <p:cNvPr id="10" name="TextBox 9"/>
          <p:cNvSpPr txBox="1"/>
          <p:nvPr/>
        </p:nvSpPr>
        <p:spPr>
          <a:xfrm>
            <a:off x="2552090" y="1932846"/>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85 раз</a:t>
            </a:r>
          </a:p>
        </p:txBody>
      </p:sp>
      <p:sp>
        <p:nvSpPr>
          <p:cNvPr id="11" name="TextBox 10"/>
          <p:cNvSpPr txBox="1"/>
          <p:nvPr/>
        </p:nvSpPr>
        <p:spPr>
          <a:xfrm>
            <a:off x="2552090" y="2733293"/>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на ту же сцену</a:t>
            </a:r>
          </a:p>
        </p:txBody>
      </p:sp>
      <p:sp>
        <p:nvSpPr>
          <p:cNvPr id="12" name="Rounded Rectangle 11"/>
          <p:cNvSpPr/>
          <p:nvPr/>
        </p:nvSpPr>
        <p:spPr>
          <a:xfrm>
            <a:off x="432694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ПРИ ЭТОМ</a:t>
            </a:r>
          </a:p>
        </p:txBody>
      </p:sp>
      <p:sp>
        <p:nvSpPr>
          <p:cNvPr id="14" name="TextBox 13"/>
          <p:cNvSpPr txBox="1"/>
          <p:nvPr/>
        </p:nvSpPr>
        <p:spPr>
          <a:xfrm>
            <a:off x="4464100" y="1932846"/>
            <a:ext cx="1473098"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разница меньше полудецибела</a:t>
            </a:r>
          </a:p>
        </p:txBody>
      </p:sp>
      <p:sp>
        <p:nvSpPr>
          <p:cNvPr id="15" name="TextBox 14"/>
          <p:cNvSpPr txBox="1"/>
          <p:nvPr/>
        </p:nvSpPr>
        <p:spPr>
          <a:xfrm>
            <a:off x="4464100" y="2758756"/>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27,69 против 27,21; на интерьерном наборе 29,40 против 29,41 — поровну</a:t>
            </a:r>
          </a:p>
        </p:txBody>
      </p:sp>
      <p:sp>
        <p:nvSpPr>
          <p:cNvPr id="16" name="Rounded Rectangle 15"/>
          <p:cNvSpPr/>
          <p:nvPr/>
        </p:nvSpPr>
        <p:spPr>
          <a:xfrm>
            <a:off x="374904" y="4139660"/>
            <a:ext cx="11441887" cy="2096547"/>
          </a:xfrm>
          <a:prstGeom prst="roundRect">
            <a:avLst>
              <a:gd name="adj" fmla="val 145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231100"/>
            <a:ext cx="11112703" cy="20051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«что за это заплачено» имеет ответ всегда.</a:t>
            </a:r>
            <a:r>
              <a:rPr sz="1500" b="0" i="0">
                <a:solidFill>
                  <a:srgbClr val="21295C"/>
                </a:solidFill>
                <a:latin typeface="Arial"/>
              </a:rPr>
              <a:t> Когда в описании технологии названа только выигравшая величина, проигравшую не показали: в рецензируемой работе она стояла в той же таблице четвёртой колонкой.</a:t>
            </a:r>
          </a:p>
        </p:txBody>
      </p:sp>
      <p:sp>
        <p:nvSpPr>
          <p:cNvPr id="18" name="Rounded Rectangle 17"/>
          <p:cNvSpPr/>
          <p:nvPr/>
        </p:nvSpPr>
        <p:spPr>
          <a:xfrm>
            <a:off x="6385255" y="1335024"/>
            <a:ext cx="5303520" cy="2804636"/>
          </a:xfrm>
          <a:prstGeom prst="roundRect">
            <a:avLst>
              <a:gd name="adj" fmla="val 10867"/>
            </a:avLst>
          </a:prstGeom>
          <a:solidFill>
            <a:srgbClr val="F4F7FA"/>
          </a:solidFill>
          <a:ln w="19050">
            <a:solidFill>
              <a:srgbClr val="1C7293"/>
            </a:solidFill>
          </a:ln>
          <a:effectLst/>
        </p:spPr>
        <p:txBody>
          <a:bodyPr rtlCol="0" anchor="ctr"/>
          <a:lstStyle/>
          <a:p>
            <a:pPr algn="ctr"/>
          </a:p>
        </p:txBody>
      </p:sp>
      <p:pic>
        <p:nvPicPr>
          <p:cNvPr id="19" name="Picture 18" descr="s72-polycam-splatting.png"/>
          <p:cNvPicPr>
            <a:picLocks noChangeAspect="1"/>
          </p:cNvPicPr>
          <p:nvPr/>
        </p:nvPicPr>
        <p:blipFill>
          <a:blip r:embed="rId2"/>
          <a:stretch>
            <a:fillRect/>
          </a:stretch>
        </p:blipFill>
        <p:spPr>
          <a:xfrm>
            <a:off x="6522415" y="1472184"/>
            <a:ext cx="5029200" cy="2530316"/>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Kerbl et al., SIGGRAPH 2023, arXiv:2308.04079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1,5 часа на объект</a:t>
            </a:r>
          </a:p>
        </p:txBody>
      </p:sp>
      <p:sp>
        <p:nvSpPr>
          <p:cNvPr id="7" name="TextBox 6"/>
          <p:cNvSpPr txBox="1"/>
          <p:nvPr/>
        </p:nvSpPr>
        <p:spPr>
          <a:xfrm>
            <a:off x="640080" y="291058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241493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2552090" y="2140317"/>
            <a:ext cx="147309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10 секунд на объект</a:t>
            </a:r>
          </a:p>
        </p:txBody>
      </p:sp>
      <p:sp>
        <p:nvSpPr>
          <p:cNvPr id="11" name="TextBox 10"/>
          <p:cNvSpPr txBox="1"/>
          <p:nvPr/>
        </p:nvSpPr>
        <p:spPr>
          <a:xfrm>
            <a:off x="2552090" y="2652191"/>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4326940" y="1335024"/>
            <a:ext cx="1747418" cy="2806663"/>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4464100" y="1725375"/>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500 раз</a:t>
            </a:r>
          </a:p>
        </p:txBody>
      </p:sp>
      <p:sp>
        <p:nvSpPr>
          <p:cNvPr id="15" name="TextBox 14"/>
          <p:cNvSpPr txBox="1"/>
          <p:nvPr/>
        </p:nvSpPr>
        <p:spPr>
          <a:xfrm>
            <a:off x="4464100" y="2525822"/>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Rounded Rectangle 15"/>
          <p:cNvSpPr/>
          <p:nvPr/>
        </p:nvSpPr>
        <p:spPr>
          <a:xfrm>
            <a:off x="374904" y="423312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24567"/>
            <a:ext cx="11112703" cy="19116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возник не от железа.</a:t>
            </a:r>
            <a:r>
              <a:rPr sz="15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18" name="Rounded Rectangle 17"/>
          <p:cNvSpPr/>
          <p:nvPr/>
        </p:nvSpPr>
        <p:spPr>
          <a:xfrm>
            <a:off x="6385255" y="1335024"/>
            <a:ext cx="5303520" cy="1766775"/>
          </a:xfrm>
          <a:prstGeom prst="roundRect">
            <a:avLst>
              <a:gd name="adj" fmla="val 17251"/>
            </a:avLst>
          </a:prstGeom>
          <a:solidFill>
            <a:srgbClr val="F4F7FA"/>
          </a:solidFill>
          <a:ln w="19050">
            <a:solidFill>
              <a:srgbClr val="1C7293"/>
            </a:solidFill>
          </a:ln>
          <a:effectLst/>
        </p:spPr>
        <p:txBody>
          <a:bodyPr rtlCol="0" anchor="ctr"/>
          <a:lstStyle/>
          <a:p>
            <a:pPr algn="ctr"/>
          </a:p>
        </p:txBody>
      </p:sp>
      <p:pic>
        <p:nvPicPr>
          <p:cNvPr id="19" name="Picture 18" descr="s73-nerf-pipeline.jpg"/>
          <p:cNvPicPr>
            <a:picLocks noChangeAspect="1"/>
          </p:cNvPicPr>
          <p:nvPr/>
        </p:nvPicPr>
        <p:blipFill>
          <a:blip r:embed="rId2"/>
          <a:stretch>
            <a:fillRect/>
          </a:stretch>
        </p:blipFill>
        <p:spPr>
          <a:xfrm>
            <a:off x="6522415" y="1472184"/>
            <a:ext cx="5029200" cy="1492455"/>
          </a:xfrm>
          <a:prstGeom prst="rect">
            <a:avLst/>
          </a:prstGeom>
        </p:spPr>
      </p:pic>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Poole et al., arXiv:2209.14988; Microsoft Research TRELLIS, arXiv:2412.01506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устроены оба способа получить объект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Оптимизация через рендер — как это работает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плоская диффузионная модель не меняется вообще</a:t>
            </a:r>
          </a:p>
          <a:p>
            <a:pPr algn="l">
              <a:lnSpc>
                <a:spcPct val="126000"/>
              </a:lnSpc>
            </a:pPr>
            <a:r>
              <a:rPr sz="1350" b="0" i="0">
                <a:solidFill>
                  <a:srgbClr val="21295C"/>
                </a:solidFill>
                <a:latin typeface="Arial"/>
              </a:rPr>
              <a:t>• случайно заданное поле излучения подкручивают так, чтобы его виды со случайных ракурсов нравились этой модели</a:t>
            </a:r>
          </a:p>
          <a:p>
            <a:pPr algn="l">
              <a:lnSpc>
                <a:spcPct val="126000"/>
              </a:lnSpc>
            </a:pPr>
            <a:r>
              <a:rPr sz="1350" b="0" i="0">
                <a:solidFill>
                  <a:srgbClr val="21295C"/>
                </a:solidFill>
                <a:latin typeface="Arial"/>
              </a:rPr>
              <a:t>• трёхмерных обучающих данных не нужно совсем: модель, обученная на картинках, работает судьёй формы</a:t>
            </a:r>
          </a:p>
          <a:p>
            <a:pPr algn="l">
              <a:lnSpc>
                <a:spcPct val="126000"/>
              </a:lnSpc>
            </a:pPr>
            <a:r>
              <a:rPr sz="1350" b="0" i="0">
                <a:solidFill>
                  <a:srgbClr val="21295C"/>
                </a:solidFill>
                <a:latin typeface="Arial"/>
              </a:rPr>
              <a:t>• цена изящности: время поровну делится между рендером поля и прогоном модели, и полный прогон делается на каждом из пятнадцати тысяч шагов</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сразу в трёхмерном — как это работает</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одно внутреннее представление декодируется в три формата: поле излучения, кляксы и сетку многоугольников</a:t>
            </a:r>
          </a:p>
          <a:p>
            <a:pPr algn="l">
              <a:lnSpc>
                <a:spcPct val="126000"/>
              </a:lnSpc>
            </a:pPr>
            <a:r>
              <a:rPr sz="1450" b="0" i="0">
                <a:solidFill>
                  <a:srgbClr val="21295C"/>
                </a:solidFill>
                <a:latin typeface="Arial"/>
              </a:rPr>
              <a:t>• генератор — трансформер на спрямлённом потоке, та же архитектура, что для плоских изображений</a:t>
            </a:r>
          </a:p>
          <a:p>
            <a:pPr algn="l">
              <a:lnSpc>
                <a:spcPct val="126000"/>
              </a:lnSpc>
            </a:pPr>
            <a:r>
              <a:rPr sz="1450" b="0" i="0">
                <a:solidFill>
                  <a:srgbClr val="21295C"/>
                </a:solidFill>
                <a:latin typeface="Arial"/>
              </a:rPr>
              <a:t>• старшая модель 2 миллиарда параметров, обучена на 64 ускорителях, 400 тысяч шагов, корпус 500 тысяч объектов</a:t>
            </a:r>
          </a:p>
          <a:p>
            <a:pPr algn="l">
              <a:lnSpc>
                <a:spcPct val="126000"/>
              </a:lnSpc>
            </a:pPr>
            <a:r>
              <a:rPr sz="1450" b="0" i="0">
                <a:solidFill>
                  <a:srgbClr val="21295C"/>
                </a:solidFill>
                <a:latin typeface="Arial"/>
              </a:rPr>
              <a:t>• на выдачу остаётся один прямой проход — стоимость перенесена из выдачи в обучение</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Трёхмерных обучающих данных первому способу не нужно ни одного.</a:t>
            </a:r>
            <a:r>
              <a:rPr sz="1500" b="0" i="0">
                <a:solidFill>
                  <a:srgbClr val="21295C"/>
                </a:solidFill>
                <a:latin typeface="Arial"/>
              </a:rPr>
              <a:t> Второму нужен корпус в полмиллиона объектов — и именно туда переехала стоимость.</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2140317"/>
            <a:ext cx="1383715"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30 секунд на кадр</a:t>
            </a:r>
          </a:p>
        </p:txBody>
      </p:sp>
      <p:sp>
        <p:nvSpPr>
          <p:cNvPr id="7" name="TextBox 6"/>
          <p:cNvSpPr txBox="1"/>
          <p:nvPr/>
        </p:nvSpPr>
        <p:spPr>
          <a:xfrm>
            <a:off x="640080" y="2652191"/>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2325547"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62707" y="1472184"/>
            <a:ext cx="13837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2462707" y="2555260"/>
            <a:ext cx="13837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1 миллисекунды на кадр</a:t>
            </a:r>
          </a:p>
        </p:txBody>
      </p:sp>
      <p:sp>
        <p:nvSpPr>
          <p:cNvPr id="11" name="TextBox 10"/>
          <p:cNvSpPr txBox="1"/>
          <p:nvPr/>
        </p:nvSpPr>
        <p:spPr>
          <a:xfrm>
            <a:off x="2462707" y="3202933"/>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4148175" y="1335024"/>
            <a:ext cx="1658035" cy="3483773"/>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85335" y="1472184"/>
            <a:ext cx="138371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4285335" y="2347789"/>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примерно в 30 000 раз</a:t>
            </a:r>
          </a:p>
        </p:txBody>
      </p:sp>
      <p:sp>
        <p:nvSpPr>
          <p:cNvPr id="15" name="TextBox 14"/>
          <p:cNvSpPr txBox="1"/>
          <p:nvPr/>
        </p:nvSpPr>
        <p:spPr>
          <a:xfrm>
            <a:off x="4285335" y="2995462"/>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5970803"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6107963" y="2140317"/>
            <a:ext cx="138371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15 пикселей из каждых 16</a:t>
            </a:r>
          </a:p>
        </p:txBody>
      </p:sp>
      <p:sp>
        <p:nvSpPr>
          <p:cNvPr id="19" name="TextBox 18"/>
          <p:cNvSpPr txBox="1"/>
          <p:nvPr/>
        </p:nvSpPr>
        <p:spPr>
          <a:xfrm>
            <a:off x="6107963" y="2720091"/>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Rounded Rectangle 19"/>
          <p:cNvSpPr/>
          <p:nvPr/>
        </p:nvSpPr>
        <p:spPr>
          <a:xfrm>
            <a:off x="374904" y="491023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001677"/>
            <a:ext cx="11112703" cy="12345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«может ли модель это сделать» на переднем крае почти всегда имеет ответ «да», и он ничего не решает.</a:t>
            </a:r>
            <a:r>
              <a:rPr sz="1500" b="0" i="0">
                <a:solidFill>
                  <a:srgbClr val="21295C"/>
                </a:solidFill>
                <a:latin typeface="Arial"/>
              </a:rPr>
              <a:t> Решают три других: за сколько, сколько раз в секунду и на чьём железе.</a:t>
            </a:r>
          </a:p>
        </p:txBody>
      </p:sp>
      <p:sp>
        <p:nvSpPr>
          <p:cNvPr id="22" name="Rounded Rectangle 21"/>
          <p:cNvSpPr/>
          <p:nvPr/>
        </p:nvSpPr>
        <p:spPr>
          <a:xfrm>
            <a:off x="7939735" y="1335024"/>
            <a:ext cx="3749039" cy="2660475"/>
          </a:xfrm>
          <a:prstGeom prst="roundRect">
            <a:avLst>
              <a:gd name="adj" fmla="val 11456"/>
            </a:avLst>
          </a:prstGeom>
          <a:solidFill>
            <a:srgbClr val="F4F7FA"/>
          </a:solidFill>
          <a:ln w="19050">
            <a:solidFill>
              <a:srgbClr val="1C7293"/>
            </a:solidFill>
          </a:ln>
          <a:effectLst/>
        </p:spPr>
        <p:txBody>
          <a:bodyPr rtlCol="0" anchor="ctr"/>
          <a:lstStyle/>
          <a:p>
            <a:pPr algn="ctr"/>
          </a:p>
        </p:txBody>
      </p:sp>
      <p:pic>
        <p:nvPicPr>
          <p:cNvPr id="23" name="Picture 22" descr="s74-rtx5090-board.png"/>
          <p:cNvPicPr>
            <a:picLocks noChangeAspect="1"/>
          </p:cNvPicPr>
          <p:nvPr/>
        </p:nvPicPr>
        <p:blipFill>
          <a:blip r:embed="rId2"/>
          <a:stretch>
            <a:fillRect/>
          </a:stretch>
        </p:blipFill>
        <p:spPr>
          <a:xfrm>
            <a:off x="8076895" y="1472184"/>
            <a:ext cx="3474720" cy="2386155"/>
          </a:xfrm>
          <a:prstGeom prst="rect">
            <a:avLst/>
          </a:prstGeom>
        </p:spPr>
      </p:pic>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Что нейросетевая графика реального времени умеет и чего не умеет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графика реального времени даёт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повышение разрешения: движок считает кадр низким, сеть восстанавливает высокое по истории кадров, векторам движения и буферу глубины</a:t>
            </a:r>
          </a:p>
          <a:p>
            <a:pPr algn="l">
              <a:lnSpc>
                <a:spcPct val="126000"/>
              </a:lnSpc>
            </a:pPr>
            <a:r>
              <a:rPr sz="1200" b="0" i="0">
                <a:solidFill>
                  <a:srgbClr val="21295C"/>
                </a:solidFill>
                <a:latin typeface="Arial"/>
              </a:rPr>
              <a:t>• достройку кадров: модель синтезирует промежуточный кадр между двумя отрисованными</a:t>
            </a:r>
          </a:p>
          <a:p>
            <a:pPr algn="l">
              <a:lnSpc>
                <a:spcPct val="126000"/>
              </a:lnSpc>
            </a:pPr>
            <a:r>
              <a:rPr sz="1200" b="0" i="0">
                <a:solidFill>
                  <a:srgbClr val="21295C"/>
                </a:solidFill>
                <a:latin typeface="Arial"/>
              </a:rPr>
              <a:t>• в прошлом поколении один кадр 4K стоил около 3,25 миллисекунды, в новом каждый из трёх достраиваемых — около 1</a:t>
            </a:r>
          </a:p>
          <a:p>
            <a:pPr algn="l">
              <a:lnSpc>
                <a:spcPct val="126000"/>
              </a:lnSpc>
            </a:pPr>
            <a:r>
              <a:rPr sz="1200" b="0" i="0">
                <a:solidFill>
                  <a:srgbClr val="21295C"/>
                </a:solidFill>
                <a:latin typeface="Arial"/>
              </a:rPr>
              <a:t>• приём инженерный, а не вычислительный: сеть разрезана пополам, бо́льшая половина считается раз на пару кадров; аппаратный блок оптического потока заменён сетью</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она не делает и где ломается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задержку ввода достройка кадров не уменьшает: игрок видит больше кадров, а реакция на его действие не ускоряется ни на миллисекунду</a:t>
            </a:r>
          </a:p>
          <a:p>
            <a:pPr algn="l">
              <a:lnSpc>
                <a:spcPct val="126000"/>
              </a:lnSpc>
            </a:pPr>
            <a:r>
              <a:rPr sz="1350" b="0" i="0">
                <a:solidFill>
                  <a:srgbClr val="21295C"/>
                </a:solidFill>
                <a:latin typeface="Arial"/>
              </a:rPr>
              <a:t>• интерфейс — векторов движения у него нет</a:t>
            </a:r>
          </a:p>
          <a:p>
            <a:pPr algn="l">
              <a:lnSpc>
                <a:spcPct val="126000"/>
              </a:lnSpc>
            </a:pPr>
            <a:r>
              <a:rPr sz="1350" b="0" i="0">
                <a:solidFill>
                  <a:srgbClr val="21295C"/>
                </a:solidFill>
                <a:latin typeface="Arial"/>
              </a:rPr>
              <a:t>• блики и отражения — векторы движения для них неверны по построению</a:t>
            </a:r>
          </a:p>
          <a:p>
            <a:pPr algn="l">
              <a:lnSpc>
                <a:spcPct val="126000"/>
              </a:lnSpc>
            </a:pPr>
            <a:r>
              <a:rPr sz="1350" b="0" i="0">
                <a:solidFill>
                  <a:srgbClr val="21295C"/>
                </a:solidFill>
                <a:latin typeface="Arial"/>
              </a:rPr>
              <a:t>• частицы, лучи и полупрозрачность — неверен буфер глубины; по словам разработчика, такие эффекты «склонны доминировать в восприятии, хотя их доля в пикселях мала»</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Приём инженерный, а не вычислительный.</a:t>
            </a:r>
            <a:r>
              <a:rPr sz="1500" b="0" i="0">
                <a:solidFill>
                  <a:srgbClr val="21295C"/>
                </a:solidFill>
                <a:latin typeface="Arial"/>
              </a:rPr>
              <a:t> Сеть разрезана пополам, бо́льшая половина считается раз на пару кадров, аппаратный блок оптического потока заменён сетью.</a:t>
            </a:r>
          </a:p>
        </p:txBody>
      </p:sp>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932846"/>
            <a:ext cx="1872788"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первая форма за единицы секунд</a:t>
            </a:r>
          </a:p>
        </p:txBody>
      </p:sp>
      <p:sp>
        <p:nvSpPr>
          <p:cNvPr id="7" name="TextBox 6"/>
          <p:cNvSpPr txBox="1"/>
          <p:nvPr/>
        </p:nvSpPr>
        <p:spPr>
          <a:xfrm>
            <a:off x="640080" y="2987917"/>
            <a:ext cx="187278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2814620" y="1335024"/>
            <a:ext cx="2147108" cy="3501691"/>
          </a:xfrm>
          <a:prstGeom prst="roundRect">
            <a:avLst>
              <a:gd name="adj" fmla="val 14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517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2951780" y="1932846"/>
            <a:ext cx="187278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2951780" y="2580519"/>
            <a:ext cx="187278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5126321"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263481" y="1472184"/>
            <a:ext cx="187278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5263481" y="2140317"/>
            <a:ext cx="187278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три из девяти — и самые дорогие</a:t>
            </a:r>
          </a:p>
        </p:txBody>
      </p:sp>
      <p:sp>
        <p:nvSpPr>
          <p:cNvPr id="15" name="TextBox 14"/>
          <p:cNvSpPr txBox="1"/>
          <p:nvPr/>
        </p:nvSpPr>
        <p:spPr>
          <a:xfrm>
            <a:off x="5263481" y="3220851"/>
            <a:ext cx="187278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Rounded Rectangle 15"/>
          <p:cNvSpPr/>
          <p:nvPr/>
        </p:nvSpPr>
        <p:spPr>
          <a:xfrm>
            <a:off x="374904" y="4928155"/>
            <a:ext cx="7026542"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19595"/>
            <a:ext cx="6697358" cy="12166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«Ассет за восемь секунд» и «ассет, готовый к работе» — разные вещи.</a:t>
            </a:r>
            <a:r>
              <a:rPr sz="1500" b="0" i="0">
                <a:solidFill>
                  <a:srgbClr val="21295C"/>
                </a:solidFill>
                <a:latin typeface="Arial"/>
              </a:rPr>
              <a:t> Генератор закрывает поиск облика и фоновые объекты; подготовка к производству остаётся людям целиком.</a:t>
            </a:r>
          </a:p>
        </p:txBody>
      </p:sp>
      <p:sp>
        <p:nvSpPr>
          <p:cNvPr id="18" name="Rounded Rectangle 17"/>
          <p:cNvSpPr/>
          <p:nvPr/>
        </p:nvSpPr>
        <p:spPr>
          <a:xfrm>
            <a:off x="7584326" y="1335024"/>
            <a:ext cx="4104448" cy="4389120"/>
          </a:xfrm>
          <a:prstGeom prst="roundRect">
            <a:avLst>
              <a:gd name="adj" fmla="val 7426"/>
            </a:avLst>
          </a:prstGeom>
          <a:solidFill>
            <a:srgbClr val="F4F7FA"/>
          </a:solidFill>
          <a:ln w="19050">
            <a:solidFill>
              <a:srgbClr val="1C7293"/>
            </a:solidFill>
          </a:ln>
          <a:effectLst/>
        </p:spPr>
        <p:txBody>
          <a:bodyPr rtlCol="0" anchor="ctr"/>
          <a:lstStyle/>
          <a:p>
            <a:pPr algn="ctr"/>
          </a:p>
        </p:txBody>
      </p:sp>
      <p:pic>
        <p:nvPicPr>
          <p:cNvPr id="19" name="Picture 18" descr="s75-wireframe-human.jpg"/>
          <p:cNvPicPr>
            <a:picLocks noChangeAspect="1"/>
          </p:cNvPicPr>
          <p:nvPr/>
        </p:nvPicPr>
        <p:blipFill>
          <a:blip r:embed="rId2"/>
          <a:stretch>
            <a:fillRect/>
          </a:stretch>
        </p:blipFill>
        <p:spPr>
          <a:xfrm>
            <a:off x="7721486" y="1472184"/>
            <a:ext cx="3830128" cy="41148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QuadGPT, Tencent Hunyuan и HKUST, arXiv:2509.21420 (2025)</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происходит с ассетом после «восьми секунд»</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5" name="Rounded Rectangle 4"/>
          <p:cNvSpPr/>
          <p:nvPr/>
        </p:nvSpPr>
        <p:spPr>
          <a:xfrm>
            <a:off x="1920240" y="1335024"/>
            <a:ext cx="4747107" cy="95069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4582515" cy="859250"/>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первая форма за единицы секунд</a:t>
            </a:r>
          </a:p>
        </p:txBody>
      </p:sp>
      <p:sp>
        <p:nvSpPr>
          <p:cNvPr id="7" name="Right Arrow 6"/>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поверхность извлечена решёткой: плотная, неструктурированная</a:t>
            </a:r>
          </a:p>
        </p:txBody>
      </p:sp>
      <p:sp>
        <p:nvSpPr>
          <p:cNvPr id="10" name="TextBox 9"/>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11" name="Rounded Rectangle 10"/>
          <p:cNvSpPr/>
          <p:nvPr/>
        </p:nvSpPr>
        <p:spPr>
          <a:xfrm>
            <a:off x="1920240"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полученной</a:t>
            </a:r>
          </a:p>
        </p:txBody>
      </p:sp>
      <p:sp>
        <p:nvSpPr>
          <p:cNvPr id="13" name="Right Arrow 12"/>
          <p:cNvSpPr/>
          <p:nvPr/>
        </p:nvSpPr>
        <p:spPr>
          <a:xfrm>
            <a:off x="5039258" y="283878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 разрез по спланированным швам под рисунок</a:t>
            </a:r>
          </a:p>
        </p:txBody>
      </p:sp>
      <p:sp>
        <p:nvSpPr>
          <p:cNvPr id="16" name="Right Arrow 15"/>
          <p:cNvSpPr/>
          <p:nvPr/>
        </p:nvSpPr>
        <p:spPr>
          <a:xfrm>
            <a:off x="8386876"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внутрь, вершины на кости с весами</a:t>
            </a:r>
          </a:p>
        </p:txBody>
      </p:sp>
      <p:sp>
        <p:nvSpPr>
          <p:cNvPr id="19" name="TextBox 18"/>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происходит с ассетом после «восьми секунд»</a:t>
            </a:r>
          </a:p>
        </p:txBody>
      </p:sp>
      <p:sp>
        <p:nvSpPr>
          <p:cNvPr id="20" name="Rounded Rectangle 19"/>
          <p:cNvSpPr/>
          <p:nvPr/>
        </p:nvSpPr>
        <p:spPr>
          <a:xfrm>
            <a:off x="374904" y="3721968"/>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13408"/>
            <a:ext cx="11112703" cy="24227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стадии из девяти остаются людям — и это самые дорогие три.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ВЫДАННАЯ ФОРМА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такая по пропорциям и никакая по величине; масштаб назначает человек на глаз или по соседнему объекту</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РАЗМЕРОВ ИЗ ВЫДАЧИ МОЖНО ПОСТАВИТЬ В ЧЕРТЁЖ</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а не на обмерах, и взяться размеру неоткуда</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СПОСОБОВ ПОЛУЧИТЬ ДАННЫЕ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 — и это ровно та работа, которую генератор не делает</a:t>
            </a:r>
          </a:p>
        </p:txBody>
      </p:sp>
      <p:sp>
        <p:nvSpPr>
          <p:cNvPr id="16" name="Rounded Rectangle 15"/>
          <p:cNvSpPr/>
          <p:nvPr/>
        </p:nvSpPr>
        <p:spPr>
          <a:xfrm>
            <a:off x="502920" y="3704039"/>
            <a:ext cx="5437479" cy="2018683"/>
          </a:xfrm>
          <a:prstGeom prst="roundRect">
            <a:avLst>
              <a:gd name="adj" fmla="val 1509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859487"/>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генератор формы даёт</a:t>
            </a:r>
          </a:p>
        </p:txBody>
      </p:sp>
      <p:sp>
        <p:nvSpPr>
          <p:cNvPr id="18" name="TextBox 17"/>
          <p:cNvSpPr txBox="1"/>
          <p:nvPr/>
        </p:nvSpPr>
        <p:spPr>
          <a:xfrm>
            <a:off x="667512" y="4215666"/>
            <a:ext cx="5108295" cy="135160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правдоподобную поверхность по описанию словами, за единицы секунд</a:t>
            </a:r>
          </a:p>
          <a:p>
            <a:pPr algn="l">
              <a:lnSpc>
                <a:spcPct val="126000"/>
              </a:lnSpc>
            </a:pPr>
            <a:r>
              <a:rPr sz="1150" b="0" i="0">
                <a:solidFill>
                  <a:srgbClr val="21295C"/>
                </a:solidFill>
                <a:latin typeface="Arial"/>
              </a:rPr>
              <a:t>• двадцать вариантов облика за полчаса вместо одного наброска за полдня</a:t>
            </a:r>
          </a:p>
          <a:p>
            <a:pPr algn="l">
              <a:lnSpc>
                <a:spcPct val="126000"/>
              </a:lnSpc>
            </a:pPr>
            <a:r>
              <a:rPr sz="1150" b="0" i="0">
                <a:solidFill>
                  <a:srgbClr val="21295C"/>
                </a:solidFill>
                <a:latin typeface="Arial"/>
              </a:rPr>
              <a:t>• объект, которого в природе нет, — без единого снимка на входе</a:t>
            </a:r>
          </a:p>
          <a:p>
            <a:pPr algn="l">
              <a:lnSpc>
                <a:spcPct val="126000"/>
              </a:lnSpc>
            </a:pPr>
            <a:r>
              <a:rPr sz="1150" b="0" i="0">
                <a:solidFill>
                  <a:srgbClr val="21295C"/>
                </a:solidFill>
                <a:latin typeface="Arial"/>
              </a:rPr>
              <a:t>• пригодность к просмотру и к постановке в фон</a:t>
            </a:r>
          </a:p>
        </p:txBody>
      </p:sp>
      <p:sp>
        <p:nvSpPr>
          <p:cNvPr id="19" name="Rounded Rectangle 18"/>
          <p:cNvSpPr/>
          <p:nvPr/>
        </p:nvSpPr>
        <p:spPr>
          <a:xfrm>
            <a:off x="6251295" y="3704039"/>
            <a:ext cx="5437479" cy="2018683"/>
          </a:xfrm>
          <a:prstGeom prst="roundRect">
            <a:avLst>
              <a:gd name="adj" fmla="val 15098"/>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859487"/>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он не даёт и дать не может</a:t>
            </a:r>
          </a:p>
        </p:txBody>
      </p:sp>
      <p:sp>
        <p:nvSpPr>
          <p:cNvPr id="21" name="TextBox 20"/>
          <p:cNvSpPr txBox="1"/>
          <p:nvPr/>
        </p:nvSpPr>
        <p:spPr>
          <a:xfrm>
            <a:off x="6415887" y="4215666"/>
            <a:ext cx="5108295" cy="1351608"/>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ни одного размера, который можно поставить в чертёж</a:t>
            </a:r>
          </a:p>
          <a:p>
            <a:pPr algn="l">
              <a:lnSpc>
                <a:spcPct val="126000"/>
              </a:lnSpc>
            </a:pPr>
            <a:r>
              <a:rPr sz="950" b="0" i="0">
                <a:solidFill>
                  <a:srgbClr val="21295C"/>
                </a:solidFill>
                <a:latin typeface="Arial"/>
              </a:rPr>
              <a:t>• ни материала, ни нагрузки, ни допуска: «кронштейн под нагрузку» выглядит как кронштейн и не несёт ничего из этого</a:t>
            </a:r>
          </a:p>
          <a:p>
            <a:pPr algn="l">
              <a:lnSpc>
                <a:spcPct val="126000"/>
              </a:lnSpc>
            </a:pPr>
            <a:r>
              <a:rPr sz="950" b="0" i="0">
                <a:solidFill>
                  <a:srgbClr val="21295C"/>
                </a:solidFill>
                <a:latin typeface="Arial"/>
              </a:rPr>
              <a:t>• связей между параметрами: в системе проектирования изменил диаметр — пересчиталась посадка, здесь менять нечего</a:t>
            </a:r>
          </a:p>
          <a:p>
            <a:pPr algn="l">
              <a:lnSpc>
                <a:spcPct val="126000"/>
              </a:lnSpc>
            </a:pPr>
            <a:r>
              <a:rPr sz="950" b="0" i="0">
                <a:solidFill>
                  <a:srgbClr val="21295C"/>
                </a:solidFill>
                <a:latin typeface="Arial"/>
              </a:rPr>
              <a:t>• критерия отбора: он остаётся снаружи, у человека, и в трёхмерном этот человек вдобавок обязан назначить масштаб</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Генератор формы стоит до расчёта, а критерий отбора остаётся снаружи, у человека.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Rounded Rectangle 15"/>
          <p:cNvSpPr/>
          <p:nvPr/>
        </p:nvSpPr>
        <p:spPr>
          <a:xfrm>
            <a:off x="374904" y="3235378"/>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26818"/>
            <a:ext cx="11112703" cy="2909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сведение, а не пробел.</a:t>
            </a:r>
            <a:r>
              <a:rPr sz="1500" b="0" i="0">
                <a:solidFill>
                  <a:srgbClr val="21295C"/>
                </a:solidFill>
                <a:latin typeface="Arial"/>
              </a:rPr>
              <a:t> Знать, что замеров ещё не опубликовано, полезнее, чем получить красивое число неизвестного происхождения: кратность «в тысячу раз быстрее художника» вышла бы делением измеренного на выдуманное.</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7789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864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1202"/>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895210"/>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1202"/>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1202"/>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1202"/>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1202"/>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1202"/>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895210"/>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86534"/>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36826"/>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0834"/>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36826"/>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89576"/>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53584"/>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риггинг остаются людям</a:t>
            </a:r>
          </a:p>
        </p:txBody>
      </p:sp>
      <p:sp>
        <p:nvSpPr>
          <p:cNvPr id="40" name="Rectangle 39"/>
          <p:cNvSpPr/>
          <p:nvPr/>
        </p:nvSpPr>
        <p:spPr>
          <a:xfrm>
            <a:off x="10009388"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86728"/>
            <a:ext cx="2788920" cy="66083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0736"/>
            <a:ext cx="2660903" cy="532823"/>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минута, 134 кадра в секунду</a:t>
            </a:r>
          </a:p>
        </p:txBody>
      </p:sp>
      <p:sp>
        <p:nvSpPr>
          <p:cNvPr id="51" name="Rectangle 50"/>
          <p:cNvSpPr/>
          <p:nvPr/>
        </p:nvSpPr>
        <p:spPr>
          <a:xfrm>
            <a:off x="10009388" y="3486728"/>
            <a:ext cx="1679387" cy="660839"/>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140317"/>
            <a:ext cx="2261440"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40–61% статей содержат хотя бы одну ошибку</a:t>
            </a:r>
          </a:p>
        </p:txBody>
      </p:sp>
      <p:sp>
        <p:nvSpPr>
          <p:cNvPr id="7" name="TextBox 6"/>
          <p:cNvSpPr txBox="1"/>
          <p:nvPr/>
        </p:nvSpPr>
        <p:spPr>
          <a:xfrm>
            <a:off x="640080" y="2652191"/>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3206516"/>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3340432" y="1932846"/>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359845"/>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6040785" y="2140317"/>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348163"/>
            <a:ext cx="226144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4632980"/>
            <a:ext cx="8192498"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24420"/>
            <a:ext cx="7863314" cy="15117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Эту пару стоит прочитать дважды.</a:t>
            </a:r>
            <a:r>
              <a:rPr sz="150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вопроса о происхождении и четыре классических способа ответить</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вопроса, которые постоянно смешивают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что здесь изображено или написано — чтение нечитаемого, атрибуция, поиск по архиву, разметка, перевод. Ответ проверяем</a:t>
            </a:r>
          </a:p>
          <a:p>
            <a:pPr algn="l">
              <a:lnSpc>
                <a:spcPct val="126000"/>
              </a:lnSpc>
            </a:pPr>
            <a:r>
              <a:rPr sz="1100" b="0" i="0">
                <a:solidFill>
                  <a:srgbClr val="21295C"/>
                </a:solidFill>
                <a:latin typeface="Arial"/>
              </a:rPr>
              <a:t>• как это сделано — снято камерой или синтезировано. Ответ вероятностный и крайне чувствителен к тому, видел ли распознаватель ту модель, которая это породила</a:t>
            </a:r>
          </a:p>
          <a:p>
            <a:pPr algn="l">
              <a:lnSpc>
                <a:spcPct val="126000"/>
              </a:lnSpc>
            </a:pPr>
            <a:r>
              <a:rPr sz="1100" b="0" i="0">
                <a:solidFill>
                  <a:srgbClr val="21295C"/>
                </a:solidFill>
                <a:latin typeface="Arial"/>
              </a:rPr>
              <a:t>• кто за это отвечает — цепочка от съёмки до публикации, подписи, права, ответственный редактор. Ответ про людей и организации, не про содержимое</a:t>
            </a:r>
          </a:p>
          <a:p>
            <a:pPr algn="l">
              <a:lnSpc>
                <a:spcPct val="126000"/>
              </a:lnSpc>
            </a:pPr>
            <a:r>
              <a:rPr sz="1100" b="0" i="0">
                <a:solidFill>
                  <a:srgbClr val="21295C"/>
                </a:solidFill>
                <a:latin typeface="Arial"/>
              </a:rPr>
              <a:t>• ни один из трёх не отвечает на вопрос «правда ли это»: подлинная фотография может иллюстрировать ложное утверждение, сгенерированная — сопровождать точный текст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Откуда берут данные для суждения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физические методы: рентгеновская томография, рентгенофлуоресцентный анализ, инфракрасная рефлектография, ультрафиолет, спектральный анализ пигментов, радиоуглерод, дендрохронология</a:t>
            </a:r>
          </a:p>
          <a:p>
            <a:pPr algn="l">
              <a:lnSpc>
                <a:spcPct val="126000"/>
              </a:lnSpc>
            </a:pPr>
            <a:r>
              <a:rPr sz="1100" b="0" i="0">
                <a:solidFill>
                  <a:srgbClr val="21295C"/>
                </a:solidFill>
                <a:latin typeface="Arial"/>
              </a:rPr>
              <a:t>• цифровые следы: служебные поля файла, история правок, контрольные суммы, обратный поиск по изображению. Самое дешёвое семейство и самое хрупкое — пересохранение или снимок экрана уничтожают следы начисто</a:t>
            </a:r>
          </a:p>
          <a:p>
            <a:pPr algn="l">
              <a:lnSpc>
                <a:spcPct val="126000"/>
              </a:lnSpc>
            </a:pPr>
            <a:r>
              <a:rPr sz="1100" b="0" i="0">
                <a:solidFill>
                  <a:srgbClr val="21295C"/>
                </a:solidFill>
                <a:latin typeface="Arial"/>
              </a:rPr>
              <a:t>• редакционные и экспертные процедуры: звонок источнику, второй независимый источник, сверка с первичным документом, профильный эксперт</a:t>
            </a:r>
          </a:p>
          <a:p>
            <a:pPr algn="l">
              <a:lnSpc>
                <a:spcPct val="126000"/>
              </a:lnSpc>
            </a:pPr>
            <a:r>
              <a:rPr sz="1100" b="0" i="0">
                <a:solidFill>
                  <a:srgbClr val="21295C"/>
                </a:solidFill>
                <a:latin typeface="Arial"/>
              </a:rPr>
              <a:t>• модель вошла в первое семейство как способ прочесть то, что измерили приборы, и во второе как распознаватель. В третье она не вошла и не может</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из трёх вопросов не отвечает на вопрос «правда ли это».</a:t>
            </a:r>
            <a:r>
              <a:rPr sz="1500" b="0" i="0">
                <a:solidFill>
                  <a:srgbClr val="21295C"/>
                </a:solidFill>
                <a:latin typeface="Arial"/>
              </a:rPr>
              <a:t> Подлинная фотография может иллюстрировать ложное утверждение, сгенерированная — сопровождать точный текст.</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sp>
        <p:nvSpPr>
          <p:cNvPr id="4" name="Rounded Rectangle 3"/>
          <p:cNvSpPr/>
          <p:nvPr/>
        </p:nvSpPr>
        <p:spPr>
          <a:xfrm>
            <a:off x="502920"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ПОПЫТКИ ПРОЧЕСТЬ КЛАССИЧЕСКИМ СПОСОБОМ</a:t>
            </a:r>
          </a:p>
        </p:txBody>
      </p:sp>
      <p:sp>
        <p:nvSpPr>
          <p:cNvPr id="6" name="TextBox 5"/>
          <p:cNvSpPr txBox="1"/>
          <p:nvPr/>
        </p:nvSpPr>
        <p:spPr>
          <a:xfrm>
            <a:off x="640080" y="2347789"/>
            <a:ext cx="1337995"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уничтожение предмета</a:t>
            </a:r>
          </a:p>
        </p:txBody>
      </p:sp>
      <p:sp>
        <p:nvSpPr>
          <p:cNvPr id="7" name="TextBox 6"/>
          <p:cNvSpPr txBox="1"/>
          <p:nvPr/>
        </p:nvSpPr>
        <p:spPr>
          <a:xfrm>
            <a:off x="640080" y="2910587"/>
            <a:ext cx="13379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развернуть обугленный свиток означает его раскрошить; за два с половиной века так погибла часть собрания</a:t>
            </a:r>
          </a:p>
        </p:txBody>
      </p:sp>
      <p:sp>
        <p:nvSpPr>
          <p:cNvPr id="8" name="Rounded Rectangle 7"/>
          <p:cNvSpPr/>
          <p:nvPr/>
        </p:nvSpPr>
        <p:spPr>
          <a:xfrm>
            <a:off x="2279827"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ОТКАЗА ОТ ПОПЫТКИ</a:t>
            </a:r>
          </a:p>
        </p:txBody>
      </p:sp>
      <p:sp>
        <p:nvSpPr>
          <p:cNvPr id="10" name="TextBox 9"/>
          <p:cNvSpPr txBox="1"/>
          <p:nvPr/>
        </p:nvSpPr>
        <p:spPr>
          <a:xfrm>
            <a:off x="2416987" y="1932846"/>
            <a:ext cx="1337995"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текст не прочитан никогда</a:t>
            </a:r>
          </a:p>
        </p:txBody>
      </p:sp>
      <p:sp>
        <p:nvSpPr>
          <p:cNvPr id="11" name="TextBox 10"/>
          <p:cNvSpPr txBox="1"/>
          <p:nvPr/>
        </p:nvSpPr>
        <p:spPr>
          <a:xfrm>
            <a:off x="2416987" y="3064304"/>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существует в единственном экземпляре, обе ошибки окончательны</a:t>
            </a:r>
          </a:p>
        </p:txBody>
      </p:sp>
      <p:sp>
        <p:nvSpPr>
          <p:cNvPr id="12" name="Rounded Rectangle 11"/>
          <p:cNvSpPr/>
          <p:nvPr/>
        </p:nvSpPr>
        <p:spPr>
          <a:xfrm>
            <a:off x="4056735" y="1335024"/>
            <a:ext cx="1612315" cy="3402671"/>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ПРОЧИТАНО 25 ИЮНЯ 2026 ГОДА</a:t>
            </a:r>
          </a:p>
        </p:txBody>
      </p:sp>
      <p:sp>
        <p:nvSpPr>
          <p:cNvPr id="14" name="TextBox 13"/>
          <p:cNvSpPr txBox="1"/>
          <p:nvPr/>
        </p:nvSpPr>
        <p:spPr>
          <a:xfrm>
            <a:off x="4193895" y="1932846"/>
            <a:ext cx="133799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PHerc. 1667 целиком</a:t>
            </a:r>
          </a:p>
        </p:txBody>
      </p:sp>
      <p:sp>
        <p:nvSpPr>
          <p:cNvPr id="15" name="TextBox 14"/>
          <p:cNvSpPr txBox="1"/>
          <p:nvPr/>
        </p:nvSpPr>
        <p:spPr>
          <a:xfrm>
            <a:off x="4193895" y="2580519"/>
            <a:ext cx="13379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1,4 метра папируса, около 22 колонок греческого текста, впервые примерно за две тысячи лет</a:t>
            </a:r>
          </a:p>
        </p:txBody>
      </p:sp>
      <p:sp>
        <p:nvSpPr>
          <p:cNvPr id="16" name="Rounded Rectangle 15"/>
          <p:cNvSpPr/>
          <p:nvPr/>
        </p:nvSpPr>
        <p:spPr>
          <a:xfrm>
            <a:off x="5833643"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ДОМЫСЛЕНО МАШИНОЙ</a:t>
            </a:r>
          </a:p>
        </p:txBody>
      </p:sp>
      <p:sp>
        <p:nvSpPr>
          <p:cNvPr id="18" name="TextBox 17"/>
          <p:cNvSpPr txBox="1"/>
          <p:nvPr/>
        </p:nvSpPr>
        <p:spPr>
          <a:xfrm>
            <a:off x="5970803" y="193284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одной буквы</a:t>
            </a:r>
          </a:p>
        </p:txBody>
      </p:sp>
      <p:sp>
        <p:nvSpPr>
          <p:cNvPr id="19" name="TextBox 18"/>
          <p:cNvSpPr txBox="1"/>
          <p:nvPr/>
        </p:nvSpPr>
        <p:spPr>
          <a:xfrm>
            <a:off x="5970803" y="3140692"/>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отвечает на вопрос «где здесь чернила» — задача с проверяемым ответом</a:t>
            </a:r>
          </a:p>
        </p:txBody>
      </p:sp>
      <p:sp>
        <p:nvSpPr>
          <p:cNvPr id="20" name="Rounded Rectangle 19"/>
          <p:cNvSpPr/>
          <p:nvPr/>
        </p:nvSpPr>
        <p:spPr>
          <a:xfrm>
            <a:off x="374904" y="4829135"/>
            <a:ext cx="11441887" cy="51196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20575"/>
            <a:ext cx="11112703" cy="1315632"/>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Сравнение одностороннее по свойству задачи: второго классического режима не существует, и причина названа.</a:t>
            </a:r>
          </a:p>
        </p:txBody>
      </p:sp>
      <p:sp>
        <p:nvSpPr>
          <p:cNvPr id="22" name="Rounded Rectangle 21"/>
          <p:cNvSpPr/>
          <p:nvPr/>
        </p:nvSpPr>
        <p:spPr>
          <a:xfrm>
            <a:off x="7756855" y="1335024"/>
            <a:ext cx="3931920" cy="3446145"/>
          </a:xfrm>
          <a:prstGeom prst="roundRect">
            <a:avLst>
              <a:gd name="adj" fmla="val 8844"/>
            </a:avLst>
          </a:prstGeom>
          <a:solidFill>
            <a:srgbClr val="F4F7FA"/>
          </a:solidFill>
          <a:ln w="19050">
            <a:solidFill>
              <a:srgbClr val="1C7293"/>
            </a:solidFill>
          </a:ln>
          <a:effectLst/>
        </p:spPr>
        <p:txBody>
          <a:bodyPr rtlCol="0" anchor="ctr"/>
          <a:lstStyle/>
          <a:p>
            <a:pPr algn="ctr"/>
          </a:p>
        </p:txBody>
      </p:sp>
      <p:pic>
        <p:nvPicPr>
          <p:cNvPr id="23" name="Picture 22" descr="s80-herculaneum-papyri.jpg"/>
          <p:cNvPicPr>
            <a:picLocks noChangeAspect="1"/>
          </p:cNvPicPr>
          <p:nvPr/>
        </p:nvPicPr>
        <p:blipFill>
          <a:blip r:embed="rId2"/>
          <a:stretch>
            <a:fillRect/>
          </a:stretch>
        </p:blipFill>
        <p:spPr>
          <a:xfrm>
            <a:off x="7894015" y="1472184"/>
            <a:ext cx="3657600" cy="3171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делает машина</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вход — рентгеновская томография обугленного свитка: послойное просвечивание, дающее трёхмерную плотность</a:t>
            </a:r>
          </a:p>
          <a:p>
            <a:pPr algn="l">
              <a:lnSpc>
                <a:spcPct val="126000"/>
              </a:lnSpc>
            </a:pPr>
            <a:r>
              <a:rPr sz="1200" b="0" i="0">
                <a:solidFill>
                  <a:srgbClr val="21295C"/>
                </a:solidFill>
                <a:latin typeface="Arial"/>
              </a:rPr>
              <a:t>• первое: цифровое разворачивание слоёв — вьющаяся спиралью поверхность папируса математически распрямляется в плоскость</a:t>
            </a:r>
          </a:p>
          <a:p>
            <a:pPr algn="l">
              <a:lnSpc>
                <a:spcPct val="126000"/>
              </a:lnSpc>
            </a:pPr>
            <a:r>
              <a:rPr sz="1200" b="0" i="0">
                <a:solidFill>
                  <a:srgbClr val="21295C"/>
                </a:solidFill>
                <a:latin typeface="Arial"/>
              </a:rPr>
              <a:t>• второе: обнаружение следов чернил. Античные чернила углеродные и на обугленном папирусе по плотности почти не отличаются от основы — распознаватель обучен видеть разницу, которую глаз на томограмме не различает</a:t>
            </a:r>
          </a:p>
          <a:p>
            <a:pPr algn="l">
              <a:lnSpc>
                <a:spcPct val="126000"/>
              </a:lnSpc>
            </a:pPr>
            <a:r>
              <a:rPr sz="1200" b="0" i="0">
                <a:solidFill>
                  <a:srgbClr val="21295C"/>
                </a:solidFill>
                <a:latin typeface="Arial"/>
              </a:rPr>
              <a:t>• выход — изображение распрямлённой поверхности с проявленными чернилами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делают люди и чего мы не знаем</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греческий текст читают люди — машина его не восстанавливает и окончаний не предполагает</a:t>
            </a:r>
          </a:p>
          <a:p>
            <a:pPr algn="l">
              <a:lnSpc>
                <a:spcPct val="126000"/>
              </a:lnSpc>
            </a:pPr>
            <a:r>
              <a:rPr sz="1150" b="0" i="0">
                <a:solidFill>
                  <a:srgbClr val="21295C"/>
                </a:solidFill>
                <a:latin typeface="Arial"/>
              </a:rPr>
              <a:t>• Vesuvius Challenge и лаборатория EduceLab, профессор Брент Силз, Университет Кентукки, с Национальной библиотекой Неаполя</a:t>
            </a:r>
          </a:p>
          <a:p>
            <a:pPr algn="l">
              <a:lnSpc>
                <a:spcPct val="126000"/>
              </a:lnSpc>
            </a:pPr>
            <a:r>
              <a:rPr sz="1150" b="0" i="0">
                <a:solidFill>
                  <a:srgbClr val="21295C"/>
                </a:solidFill>
                <a:latin typeface="Arial"/>
              </a:rPr>
              <a:t>• задача решена открытым соревнованием с денежными призами, а не штатной лабораторией: бо́льшую часть дочитавшей команды составляют бывшие участники конкурса, а первое слово прочёл двадцатиоднолетний студент</a:t>
            </a:r>
          </a:p>
          <a:p>
            <a:pPr algn="l">
              <a:lnSpc>
                <a:spcPct val="126000"/>
              </a:lnSpc>
            </a:pPr>
            <a:r>
              <a:rPr sz="1150" b="0" i="0">
                <a:solidFill>
                  <a:srgbClr val="21295C"/>
                </a:solidFill>
                <a:latin typeface="Arial"/>
              </a:rPr>
              <a:t>• объём и состав обучающей выборки распознавателя чернил в доступных публикациях не раскрыты — единственный точечный пробел разбора</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Машина отвечает на один вопрос: где здесь чернила.</a:t>
            </a:r>
            <a:r>
              <a:rPr sz="1500" b="0" i="0">
                <a:solidFill>
                  <a:srgbClr val="21295C"/>
                </a:solidFill>
                <a:latin typeface="Arial"/>
              </a:rPr>
              <a:t> Распрямление поверхности и поиск чернил — две задачи с проверяемым ответом; чтение остаётся людям.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шло по датам</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Конкурс</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октябрь 2023 — первое слово изнутри свитка: ΠΟΡΦΥΡΑϹ, «пурпур»; приз 40 000 $</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2024 — несколько связных отрывков, главный приз 700 000 $</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опознаны сочинения Филодема: «О пороках», книга 1 — первый найденный заголовок</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июня 2026 — свиток прочитан целиком, от начала до конца</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это шло по датам</a:t>
            </a:r>
          </a:p>
        </p:txBody>
      </p:sp>
      <p:sp>
        <p:nvSpPr>
          <p:cNvPr id="17" name="Rounded Rectangle 16"/>
          <p:cNvSpPr/>
          <p:nvPr/>
        </p:nvSpPr>
        <p:spPr>
          <a:xfrm>
            <a:off x="374904" y="3100271"/>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11112703"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Задачу решило открытое соревнование, а не штатная лаборатория.</a:t>
            </a:r>
            <a:r>
              <a:rPr sz="1500" b="0" i="0">
                <a:solidFill>
                  <a:srgbClr val="21295C"/>
                </a:solidFill>
                <a:latin typeface="Arial"/>
              </a:rPr>
              <a:t> Бо́льшую часть дочитавшей команды составляют бывшие участники конкурса.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ПРИЗНАК, ПО КОТОРОМУ ПРОХОДИТ ГРАНИЦА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есть ли независимая проверка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технология и не доля тронутого: существует ли способ проверить результат независимо от того, кто его получил</a:t>
            </a:r>
          </a:p>
        </p:txBody>
      </p:sp>
      <p:sp>
        <p:nvSpPr>
          <p:cNvPr id="8" name="Rounded Rectangle 7"/>
          <p:cNvSpPr/>
          <p:nvPr/>
        </p:nvSpPr>
        <p:spPr>
          <a:xfrm>
            <a:off x="502920" y="2683657"/>
            <a:ext cx="5437479" cy="2781612"/>
          </a:xfrm>
          <a:prstGeom prst="roundRect">
            <a:avLst>
              <a:gd name="adj" fmla="val 1095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0" name="TextBox 9"/>
          <p:cNvSpPr txBox="1"/>
          <p:nvPr/>
        </p:nvSpPr>
        <p:spPr>
          <a:xfrm>
            <a:off x="667512" y="3195284"/>
            <a:ext cx="5108295" cy="2114537"/>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исходный материал: обугленный папирус, около 1,4 метра</a:t>
            </a:r>
          </a:p>
          <a:p>
            <a:pPr algn="l">
              <a:lnSpc>
                <a:spcPct val="126000"/>
              </a:lnSpc>
            </a:pPr>
            <a:r>
              <a:rPr sz="1400" b="0" i="0">
                <a:solidFill>
                  <a:srgbClr val="21295C"/>
                </a:solidFill>
                <a:latin typeface="Arial"/>
              </a:rPr>
              <a:t>• что делает машина: находит чернила на томограмме</a:t>
            </a:r>
          </a:p>
          <a:p>
            <a:pPr algn="l">
              <a:lnSpc>
                <a:spcPct val="126000"/>
              </a:lnSpc>
            </a:pPr>
            <a:r>
              <a:rPr sz="1400" b="0" i="0">
                <a:solidFill>
                  <a:srgbClr val="21295C"/>
                </a:solidFill>
                <a:latin typeface="Arial"/>
              </a:rPr>
              <a:t>• доля домысленного: 0%</a:t>
            </a:r>
          </a:p>
          <a:p>
            <a:pPr algn="l">
              <a:lnSpc>
                <a:spcPct val="126000"/>
              </a:lnSpc>
            </a:pPr>
            <a:r>
              <a:rPr sz="1400" b="0" i="0">
                <a:solidFill>
                  <a:srgbClr val="21295C"/>
                </a:solidFill>
                <a:latin typeface="Arial"/>
              </a:rPr>
              <a:t>• кто читает результат: люди, греческий текст</a:t>
            </a:r>
          </a:p>
          <a:p>
            <a:pPr algn="l">
              <a:lnSpc>
                <a:spcPct val="126000"/>
              </a:lnSpc>
            </a:pPr>
            <a:r>
              <a:rPr sz="140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1400" b="0" i="0">
                <a:solidFill>
                  <a:srgbClr val="21295C"/>
                </a:solidFill>
                <a:latin typeface="Arial"/>
              </a:rPr>
              <a:t>• что переехало: граница возможного</a:t>
            </a:r>
          </a:p>
        </p:txBody>
      </p:sp>
      <p:sp>
        <p:nvSpPr>
          <p:cNvPr id="11" name="Rounded Rectangle 10"/>
          <p:cNvSpPr/>
          <p:nvPr/>
        </p:nvSpPr>
        <p:spPr>
          <a:xfrm>
            <a:off x="6251295" y="2683657"/>
            <a:ext cx="5437479" cy="2781612"/>
          </a:xfrm>
          <a:prstGeom prst="roundRect">
            <a:avLst>
              <a:gd name="adj" fmla="val 10957"/>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3" name="TextBox 12"/>
          <p:cNvSpPr txBox="1"/>
          <p:nvPr/>
        </p:nvSpPr>
        <p:spPr>
          <a:xfrm>
            <a:off x="6415887" y="3195284"/>
            <a:ext cx="5108295" cy="211453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исходный материал: плёнка 1939 года, кадр 4:3</a:t>
            </a:r>
          </a:p>
          <a:p>
            <a:pPr algn="l">
              <a:lnSpc>
                <a:spcPct val="126000"/>
              </a:lnSpc>
            </a:pPr>
            <a:r>
              <a:rPr sz="1300" b="0" i="0">
                <a:solidFill>
                  <a:srgbClr val="21295C"/>
                </a:solidFill>
                <a:latin typeface="Arial"/>
              </a:rPr>
              <a:t>• что делает машина: достраивает кадр по сторонам и повышает разрешение</a:t>
            </a:r>
          </a:p>
          <a:p>
            <a:pPr algn="l">
              <a:lnSpc>
                <a:spcPct val="126000"/>
              </a:lnSpc>
            </a:pPr>
            <a:r>
              <a:rPr sz="1300" b="0" i="0">
                <a:solidFill>
                  <a:srgbClr val="21295C"/>
                </a:solidFill>
                <a:latin typeface="Arial"/>
              </a:rPr>
              <a:t>• доля домысленного: свыше 90% кадра тронуто</a:t>
            </a:r>
          </a:p>
          <a:p>
            <a:pPr algn="l">
              <a:lnSpc>
                <a:spcPct val="126000"/>
              </a:lnSpc>
            </a:pPr>
            <a:r>
              <a:rPr sz="1300" b="0" i="0">
                <a:solidFill>
                  <a:srgbClr val="21295C"/>
                </a:solidFill>
                <a:latin typeface="Arial"/>
              </a:rPr>
              <a:t>• кто читает результат: зритель, как «тот самый фильм»</a:t>
            </a:r>
          </a:p>
          <a:p>
            <a:pPr algn="l">
              <a:lnSpc>
                <a:spcPct val="126000"/>
              </a:lnSpc>
            </a:pPr>
            <a:r>
              <a:rPr sz="1300" b="0" i="0">
                <a:solidFill>
                  <a:srgbClr val="21295C"/>
                </a:solidFill>
                <a:latin typeface="Arial"/>
              </a:rPr>
              <a:t>• классический режим: существует, не посчитан</a:t>
            </a:r>
          </a:p>
          <a:p>
            <a:pPr algn="l">
              <a:lnSpc>
                <a:spcPct val="126000"/>
              </a:lnSpc>
            </a:pPr>
            <a:r>
              <a:rPr sz="1300" b="0" i="0">
                <a:solidFill>
                  <a:srgbClr val="21295C"/>
                </a:solidFill>
                <a:latin typeface="Arial"/>
              </a:rPr>
              <a:t>• что переехало: граница между восстановлением и выдумыванием</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Границу проводит один признак: существует ли способ проверить результат независимо от того, кто его получил.</a:t>
            </a:r>
            <a:r>
              <a:rPr sz="1450" b="0" i="0">
                <a:solidFill>
                  <a:srgbClr val="21295C"/>
                </a:solidFill>
                <a:latin typeface="Arial"/>
              </a:rPr>
              <a:t> Ни технология, ни доля тронутого её не определяют.</a:t>
            </a:r>
          </a:p>
        </p:txBody>
      </p:sp>
      <p:sp>
        <p:nvSpPr>
          <p:cNvPr id="16" name="Rectangle 15"/>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Steam и автоматический дубляж: два счёта со знаменателем</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2024 ГОДА С РАСКРЫТИЕМ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10,9%</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2024 году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2025 ГОДА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2025 году</a:t>
            </a:r>
          </a:p>
        </p:txBody>
      </p:sp>
      <p:sp>
        <p:nvSpPr>
          <p:cNvPr id="12" name="Rounded Rectangle 11"/>
          <p:cNvSpPr/>
          <p:nvPr/>
        </p:nvSpPr>
        <p:spPr>
          <a:xfrm>
            <a:off x="502920" y="2665369"/>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2026 ГОДА К ИЮЛЮ</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30,8%</a:t>
            </a:r>
          </a:p>
        </p:txBody>
      </p:sp>
      <p:sp>
        <p:nvSpPr>
          <p:cNvPr id="15" name="TextBox 14"/>
          <p:cNvSpPr txBox="1"/>
          <p:nvPr/>
        </p:nvSpPr>
        <p:spPr>
          <a:xfrm>
            <a:off x="640080" y="34827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2026 году к июлю; ряд подтверждён вторым независимым счётом по 53 597 релизам</a:t>
            </a:r>
          </a:p>
        </p:txBody>
      </p:sp>
      <p:sp>
        <p:nvSpPr>
          <p:cNvPr id="16" name="Rounded Rectangle 15"/>
          <p:cNvSpPr/>
          <p:nvPr/>
        </p:nvSpPr>
        <p:spPr>
          <a:xfrm>
            <a:off x="6178143" y="2665369"/>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АВТОМАТИЧЕСКИЙ ДУБЛЯЖ: ВЫБИРАЮТ НЕАНГЛИЙСКУЮ ДОРОЖКУ</a:t>
            </a:r>
          </a:p>
        </p:txBody>
      </p:sp>
      <p:sp>
        <p:nvSpPr>
          <p:cNvPr id="18" name="TextBox 17"/>
          <p:cNvSpPr txBox="1"/>
          <p:nvPr/>
        </p:nvSpPr>
        <p:spPr>
          <a:xfrm>
            <a:off x="6315303" y="3263192"/>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25% зрителей</a:t>
            </a:r>
          </a:p>
        </p:txBody>
      </p:sp>
      <p:sp>
        <p:nvSpPr>
          <p:cNvPr id="19" name="TextBox 18"/>
          <p:cNvSpPr txBox="1"/>
          <p:nvPr/>
        </p:nvSpPr>
        <p:spPr>
          <a:xfrm>
            <a:off x="6315303" y="3690191"/>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ноль: у автора, снимающего на одном языке, аудитории на других языках раньше не было вовсе, и дубляж для неё не заказывался</a:t>
            </a:r>
          </a:p>
        </p:txBody>
      </p:sp>
      <p:sp>
        <p:nvSpPr>
          <p:cNvPr id="20" name="Rounded Rectangle 19"/>
          <p:cNvSpPr/>
          <p:nvPr/>
        </p:nvSpPr>
        <p:spPr>
          <a:xfrm>
            <a:off x="374904" y="434127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432718"/>
            <a:ext cx="11112703" cy="18034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Раскрытие обязательно по факту и добровольно по содержанию — поэтому все три доли читаются как нижняя граница.</a:t>
            </a:r>
            <a:r>
              <a:rPr sz="1500" b="0" i="0">
                <a:solidFill>
                  <a:srgbClr val="21295C"/>
                </a:solidFill>
                <a:latin typeface="Arial"/>
              </a:rPr>
              <a:t> Игры — единственная отрасль вечера, где есть счёт, а не опрос.</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публичные страницы раскрытия Steam; сообщения площадки о дубляже, 11 февраля 2025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3618890"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ЗРЕНИЯ НА ПАТЧАХ: РАЗМЕРЫ</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307 · 632 млн параметров</a:t>
            </a:r>
          </a:p>
        </p:txBody>
      </p:sp>
      <p:sp>
        <p:nvSpPr>
          <p:cNvPr id="7" name="TextBox 6"/>
          <p:cNvSpPr txBox="1"/>
          <p:nvPr/>
        </p:nvSpPr>
        <p:spPr>
          <a:xfrm>
            <a:off x="640080" y="2542797"/>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размера линейки; длина последовательности обратно пропорциональна квадрату размера патча — тот же закон, что в генерации изображений</a:t>
            </a:r>
          </a:p>
        </p:txBody>
      </p:sp>
      <p:sp>
        <p:nvSpPr>
          <p:cNvPr id="8" name="Rounded Rectangle 7"/>
          <p:cNvSpPr/>
          <p:nvPr/>
        </p:nvSpPr>
        <p:spPr>
          <a:xfrm>
            <a:off x="4286402" y="1335024"/>
            <a:ext cx="3618890"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 ЭНКОДЕРОВ: НА ЧЁМ ОБУЧЕНА</a:t>
            </a:r>
          </a:p>
        </p:txBody>
      </p:sp>
      <p:sp>
        <p:nvSpPr>
          <p:cNvPr id="10" name="TextBox 9"/>
          <p:cNvSpPr txBox="1"/>
          <p:nvPr/>
        </p:nvSpPr>
        <p:spPr>
          <a:xfrm>
            <a:off x="4423562" y="1725375"/>
            <a:ext cx="3344570"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400 млн пар «изображение — подпись»</a:t>
            </a:r>
          </a:p>
        </p:txBody>
      </p:sp>
      <p:sp>
        <p:nvSpPr>
          <p:cNvPr id="11" name="TextBox 10"/>
          <p:cNvSpPr txBox="1"/>
          <p:nvPr/>
        </p:nvSpPr>
        <p:spPr>
          <a:xfrm>
            <a:off x="4423562" y="240699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задача обучения — угадать, какая подпись какому изображению из пачки соответствует</a:t>
            </a:r>
          </a:p>
        </p:txBody>
      </p:sp>
      <p:sp>
        <p:nvSpPr>
          <p:cNvPr id="12" name="Rounded Rectangle 11"/>
          <p:cNvSpPr/>
          <p:nvPr/>
        </p:nvSpPr>
        <p:spPr>
          <a:xfrm>
            <a:off x="8069884" y="1335024"/>
            <a:ext cx="3618890"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РАСПОЗНАВАНИЕ ДЕШЕВЛЕ ПОРОЖДЕНИЯ</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один прямой проход</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десятков шагов снятия шума или десятков токенов подряд — разница на порядки, и поэтому распознавание ставят на поток</a:t>
            </a:r>
          </a:p>
        </p:txBody>
      </p:sp>
      <p:sp>
        <p:nvSpPr>
          <p:cNvPr id="16" name="Rounded Rectangle 15"/>
          <p:cNvSpPr/>
          <p:nvPr/>
        </p:nvSpPr>
        <p:spPr>
          <a:xfrm>
            <a:off x="502920" y="3707811"/>
            <a:ext cx="5437479" cy="2528396"/>
          </a:xfrm>
          <a:prstGeom prst="roundRect">
            <a:avLst>
              <a:gd name="adj" fmla="val 1205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8632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совпадает с порождающей моделью</a:t>
            </a:r>
          </a:p>
        </p:txBody>
      </p:sp>
      <p:sp>
        <p:nvSpPr>
          <p:cNvPr id="18" name="TextBox 17"/>
          <p:cNvSpPr txBox="1"/>
          <p:nvPr/>
        </p:nvSpPr>
        <p:spPr>
          <a:xfrm>
            <a:off x="667512" y="4219438"/>
            <a:ext cx="5108295" cy="1861321"/>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те же блоки внимания с теми же запросами, ключами и значениями</a:t>
            </a:r>
          </a:p>
          <a:p>
            <a:pPr algn="l">
              <a:lnSpc>
                <a:spcPct val="126000"/>
              </a:lnSpc>
            </a:pPr>
            <a:r>
              <a:rPr sz="1150" b="0" i="0">
                <a:solidFill>
                  <a:srgbClr val="21295C"/>
                </a:solidFill>
                <a:latin typeface="Arial"/>
              </a:rPr>
              <a:t>• тот же механизм эмбеддинга и то же дообучение низкоранговыми адаптерами</a:t>
            </a:r>
          </a:p>
          <a:p>
            <a:pPr algn="l">
              <a:lnSpc>
                <a:spcPct val="126000"/>
              </a:lnSpc>
            </a:pPr>
            <a:r>
              <a:rPr sz="1150" b="0" i="0">
                <a:solidFill>
                  <a:srgbClr val="21295C"/>
                </a:solidFill>
                <a:latin typeface="Arial"/>
              </a:rPr>
              <a:t>• та же развязка «представление входа отдельно, модель отдельно»: патч здесь — ровно то же, чем токен был в тексте</a:t>
            </a:r>
          </a:p>
          <a:p>
            <a:pPr algn="l">
              <a:lnSpc>
                <a:spcPct val="126000"/>
              </a:lnSpc>
            </a:pPr>
            <a:r>
              <a:rPr sz="1150" b="0" i="0">
                <a:solidFill>
                  <a:srgbClr val="21295C"/>
                </a:solidFill>
                <a:latin typeface="Arial"/>
              </a:rPr>
              <a:t>• масштаб обучения бьёт встроенное знание о локальности: на малых данных свёрточная сеть выигрывает, на сотнях миллионов изображений проигрывает — 88,55% верных ответов</a:t>
            </a:r>
          </a:p>
        </p:txBody>
      </p:sp>
      <p:sp>
        <p:nvSpPr>
          <p:cNvPr id="19" name="Rounded Rectangle 18"/>
          <p:cNvSpPr/>
          <p:nvPr/>
        </p:nvSpPr>
        <p:spPr>
          <a:xfrm>
            <a:off x="6251295" y="3707811"/>
            <a:ext cx="5437479" cy="2528396"/>
          </a:xfrm>
          <a:prstGeom prst="roundRect">
            <a:avLst>
              <a:gd name="adj" fmla="val 1205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8632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расходится — и что из этого следует</a:t>
            </a:r>
          </a:p>
        </p:txBody>
      </p:sp>
      <p:sp>
        <p:nvSpPr>
          <p:cNvPr id="21" name="TextBox 20"/>
          <p:cNvSpPr txBox="1"/>
          <p:nvPr/>
        </p:nvSpPr>
        <p:spPr>
          <a:xfrm>
            <a:off x="6415887" y="4219438"/>
            <a:ext cx="5108295" cy="186132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стоимость: один прямой проход против десятков шагов, значит модерацию каждого файла и разметку всего архива можно ставить на поток</a:t>
            </a:r>
          </a:p>
          <a:p>
            <a:pPr algn="l">
              <a:lnSpc>
                <a:spcPct val="126000"/>
              </a:lnSpc>
            </a:pPr>
            <a:r>
              <a:rPr sz="1000" b="0" i="0">
                <a:solidFill>
                  <a:srgbClr val="21295C"/>
                </a:solidFill>
                <a:latin typeface="Arial"/>
              </a:rPr>
              <a:t>• проверяемость: у распознавателя есть эталонная разметка, правильного ответа на «нарисуй дракона» не существует</a:t>
            </a:r>
          </a:p>
          <a:p>
            <a:pPr algn="l">
              <a:lnSpc>
                <a:spcPct val="126000"/>
              </a:lnSpc>
            </a:pPr>
            <a:r>
              <a:rPr sz="1000" b="0" i="0">
                <a:solidFill>
                  <a:srgbClr val="21295C"/>
                </a:solidFill>
                <a:latin typeface="Arial"/>
              </a:rPr>
              <a:t>• обучение проще, чем в генерации: показывают настоящие и синтетические, просят разделить — и вся дальнейшая судьба определяется тем, ЧЬИ синтетические показывали</a:t>
            </a:r>
          </a:p>
          <a:p>
            <a:pPr algn="l">
              <a:lnSpc>
                <a:spcPct val="126000"/>
              </a:lnSpc>
            </a:pPr>
            <a:r>
              <a:rPr sz="1000" b="0" i="0">
                <a:solidFill>
                  <a:srgbClr val="21295C"/>
                </a:solidFill>
                <a:latin typeface="Arial"/>
              </a:rPr>
              <a:t>• где задача формулируется как «найти среди существующего», генератор — неправильный инструмент, и правильный стоит рядом</a:t>
            </a:r>
          </a:p>
        </p:txBody>
      </p:sp>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ТОМ СЕМЕЙСТВЕ, НА КОТОРОМ ОБУЧЕН</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99,9% верных ответов</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столько же после обрезки, сжатия и пережатия — внутри своего семейства распознаватель прочный</a:t>
            </a:r>
          </a:p>
        </p:txBody>
      </p:sp>
      <p:sp>
        <p:nvSpPr>
          <p:cNvPr id="8" name="Rounded Rectangle 7"/>
          <p:cNvSpPr/>
          <p:nvPr/>
        </p:nvSpPr>
        <p:spPr>
          <a:xfrm>
            <a:off x="4286402"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DALL·E 2 — МОДЕЛИ ДРУГОГО СЕМЕЙСТВА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51,9%</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подбрасывание монеты, причём на чистом несжатом файле, без всякой обработки</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94,9</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0,5 из 1 — монета, 1,0 — без промаха; здесь 0,949, то есть «отлично», при решении, не отличимом от монеты</a:t>
            </a:r>
          </a:p>
        </p:txBody>
      </p:sp>
      <p:sp>
        <p:nvSpPr>
          <p:cNvPr id="16" name="Rounded Rectangle 15"/>
          <p:cNvSpPr/>
          <p:nvPr/>
        </p:nvSpPr>
        <p:spPr>
          <a:xfrm>
            <a:off x="502920" y="3313616"/>
            <a:ext cx="5437479" cy="2409106"/>
          </a:xfrm>
          <a:prstGeom prst="roundRect">
            <a:avLst>
              <a:gd name="adj" fmla="val 126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46906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показывает таблица — три разных вывода</a:t>
            </a:r>
          </a:p>
        </p:txBody>
      </p:sp>
      <p:sp>
        <p:nvSpPr>
          <p:cNvPr id="18" name="TextBox 17"/>
          <p:cNvSpPr txBox="1"/>
          <p:nvPr/>
        </p:nvSpPr>
        <p:spPr>
          <a:xfrm>
            <a:off x="667512" y="3825242"/>
            <a:ext cx="5108295" cy="1742032"/>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смена генератора убивает распознаватель: 99,9 на обученном семействе против 51,9 на DALL·E 2 и 51,2 на ADM</a:t>
            </a:r>
          </a:p>
          <a:p>
            <a:pPr algn="l">
              <a:lnSpc>
                <a:spcPct val="126000"/>
              </a:lnSpc>
            </a:pPr>
            <a:r>
              <a:rPr sz="1050" b="0" i="0">
                <a:solidFill>
                  <a:srgbClr val="21295C"/>
                </a:solidFill>
                <a:latin typeface="Arial"/>
              </a:rPr>
              <a:t>• обычная обработка убивает его там, где он работал: 98,1 на StyleGAN2 падает до 63,3 после обрезки, изменения размера и пережатия — то есть соцсеть ломает распознаватель, не имея такого намерения</a:t>
            </a:r>
          </a:p>
          <a:p>
            <a:pPr algn="l">
              <a:lnSpc>
                <a:spcPct val="126000"/>
              </a:lnSpc>
            </a:pPr>
            <a:r>
              <a:rPr sz="1050" b="0" i="0">
                <a:solidFill>
                  <a:srgbClr val="21295C"/>
                </a:solidFill>
                <a:latin typeface="Arial"/>
              </a:rPr>
              <a:t>• ловушка приёмки: качество приемлемо по площади под кривой и почти случайно по доле верных ответов — порог, подобранный на обучающих данных, уезжает на данных другого происхождения</a:t>
            </a:r>
          </a:p>
        </p:txBody>
      </p:sp>
      <p:sp>
        <p:nvSpPr>
          <p:cNvPr id="19" name="Rounded Rectangle 18"/>
          <p:cNvSpPr/>
          <p:nvPr/>
        </p:nvSpPr>
        <p:spPr>
          <a:xfrm>
            <a:off x="6251295" y="3313616"/>
            <a:ext cx="5437479" cy="2409106"/>
          </a:xfrm>
          <a:prstGeom prst="roundRect">
            <a:avLst>
              <a:gd name="adj" fmla="val 1265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46906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из этого следует для работы</a:t>
            </a:r>
          </a:p>
        </p:txBody>
      </p:sp>
      <p:sp>
        <p:nvSpPr>
          <p:cNvPr id="21" name="TextBox 20"/>
          <p:cNvSpPr txBox="1"/>
          <p:nvPr/>
        </p:nvSpPr>
        <p:spPr>
          <a:xfrm>
            <a:off x="6415887" y="3825242"/>
            <a:ext cx="5108295" cy="1742032"/>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спрашивайте долю верных ответов при рабочем пороге, а не площадь под кривой</a:t>
            </a:r>
          </a:p>
          <a:p>
            <a:pPr algn="l">
              <a:lnSpc>
                <a:spcPct val="126000"/>
              </a:lnSpc>
            </a:pPr>
            <a:r>
              <a:rPr sz="1000" b="0" i="0">
                <a:solidFill>
                  <a:srgbClr val="21295C"/>
                </a:solidFill>
                <a:latin typeface="Arial"/>
              </a:rPr>
              <a:t>• спрашивайте у поставщика, на чём распознаватель измерен, и сверяйте с тем, на чём вы собираетесь его применять</a:t>
            </a:r>
          </a:p>
          <a:p>
            <a:pPr algn="l">
              <a:lnSpc>
                <a:spcPct val="126000"/>
              </a:lnSpc>
            </a:pPr>
            <a:r>
              <a:rPr sz="1000" b="0" i="0">
                <a:solidFill>
                  <a:srgbClr val="21295C"/>
                </a:solidFill>
                <a:latin typeface="Arial"/>
              </a:rPr>
              <a:t>• починка существует и неполная: дообучение, слияние с прежним распознавателем и калибровка по двум примерам на модель поднимают среднее до 87,8, а DALL·E 2 остаётся на 66,9</a:t>
            </a:r>
          </a:p>
          <a:p>
            <a:pPr algn="l">
              <a:lnSpc>
                <a:spcPct val="126000"/>
              </a:lnSpc>
            </a:pPr>
            <a:r>
              <a:rPr sz="1000" b="0" i="0">
                <a:solidFill>
                  <a:srgbClr val="21295C"/>
                </a:solidFill>
                <a:latin typeface="Arial"/>
              </a:rPr>
              <a:t>• вывод авторов дословно: «мы по-прежнему не можем надёжно детектировать изображения с артефактами, существенно отличными от виденных при обучении»</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Выбор между двумя честными цифрами решает, поставите вы такую систему в работу или нет.</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Подпись камеры Nikon Z6III: отозванные сертификаты</a:t>
            </a:r>
          </a:p>
        </p:txBody>
      </p:sp>
      <p:sp>
        <p:nvSpPr>
          <p:cNvPr id="4" name="Rounded Rectangle 3"/>
          <p:cNvSpPr/>
          <p:nvPr/>
        </p:nvSpPr>
        <p:spPr>
          <a:xfrm>
            <a:off x="502920"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27 АВГУСТА 2025</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поддержка удостоверений в прошивке</a:t>
            </a:r>
          </a:p>
        </p:txBody>
      </p:sp>
      <p:sp>
        <p:nvSpPr>
          <p:cNvPr id="7" name="TextBox 6"/>
          <p:cNvSpPr txBox="1"/>
          <p:nvPr/>
        </p:nvSpPr>
        <p:spPr>
          <a:xfrm>
            <a:off x="640080" y="29332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производитель добавил криптографические удостоверения содержимого в профессиональную модель</a:t>
            </a:r>
          </a:p>
        </p:txBody>
      </p:sp>
      <p:sp>
        <p:nvSpPr>
          <p:cNvPr id="8" name="Rounded Rectangle 7"/>
          <p:cNvSpPr/>
          <p:nvPr/>
        </p:nvSpPr>
        <p:spPr>
          <a:xfrm>
            <a:off x="3340531"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ЧЕРЕЗ НЕСКОЛЬКО ДНЕЙ</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подписано нефотографическое изображение</a:t>
            </a:r>
          </a:p>
        </p:txBody>
      </p:sp>
      <p:sp>
        <p:nvSpPr>
          <p:cNvPr id="11" name="TextBox 10"/>
          <p:cNvSpPr txBox="1"/>
          <p:nvPr/>
        </p:nvSpPr>
        <p:spPr>
          <a:xfrm>
            <a:off x="3477691" y="26785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исследователь показал: через режим мультиэкспозиции камера подписывает сгенерированную картинку</a:t>
            </a:r>
          </a:p>
        </p:txBody>
      </p:sp>
      <p:sp>
        <p:nvSpPr>
          <p:cNvPr id="12" name="Rounded Rectangle 11"/>
          <p:cNvSpPr/>
          <p:nvPr/>
        </p:nvSpPr>
        <p:spPr>
          <a:xfrm>
            <a:off x="6178143" y="1335024"/>
            <a:ext cx="2673019"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СЕНТЯБРЯ — 21 СЕНТЯБРЯ 2025</a:t>
            </a:r>
          </a:p>
        </p:txBody>
      </p:sp>
      <p:sp>
        <p:nvSpPr>
          <p:cNvPr id="14" name="TextBox 13"/>
          <p:cNvSpPr txBox="1"/>
          <p:nvPr/>
        </p:nvSpPr>
        <p:spPr>
          <a:xfrm>
            <a:off x="6315303" y="1932846"/>
            <a:ext cx="2398699" cy="825909"/>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сервис приостановлен, все сертификаты отозваны</a:t>
            </a:r>
          </a:p>
        </p:txBody>
      </p:sp>
      <p:sp>
        <p:nvSpPr>
          <p:cNvPr id="15" name="TextBox 14"/>
          <p:cNvSpPr txBox="1"/>
          <p:nvPr/>
        </p:nvSpPr>
        <p:spPr>
          <a:xfrm>
            <a:off x="6315303" y="275875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через двадцать пять дней после запуска</a:t>
            </a:r>
          </a:p>
        </p:txBody>
      </p:sp>
      <p:sp>
        <p:nvSpPr>
          <p:cNvPr id="16" name="Rounded Rectangle 15"/>
          <p:cNvSpPr/>
          <p:nvPr/>
        </p:nvSpPr>
        <p:spPr>
          <a:xfrm>
            <a:off x="9015755"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РАСПРОСТРАНЁННЫЕ ПРОВЕРЯЮЩИЕ ПРОГРАММЫ</a:t>
            </a:r>
          </a:p>
        </p:txBody>
      </p:sp>
      <p:sp>
        <p:nvSpPr>
          <p:cNvPr id="18" name="TextBox 17"/>
          <p:cNvSpPr txBox="1"/>
          <p:nvPr/>
        </p:nvSpPr>
        <p:spPr>
          <a:xfrm>
            <a:off x="9152915"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отзыв по умолчанию не проверяют</a:t>
            </a:r>
          </a:p>
        </p:txBody>
      </p:sp>
      <p:sp>
        <p:nvSpPr>
          <p:cNvPr id="19" name="TextBox 18"/>
          <p:cNvSpPr txBox="1"/>
          <p:nvPr/>
        </p:nvSpPr>
        <p:spPr>
          <a:xfrm>
            <a:off x="9152915" y="314069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поэтому снимок с отозванным сертификатом продолжает проходить проверку до сих пор</a:t>
            </a:r>
          </a:p>
        </p:txBody>
      </p:sp>
      <p:sp>
        <p:nvSpPr>
          <p:cNvPr id="20" name="Rounded Rectangle 19"/>
          <p:cNvSpPr/>
          <p:nvPr/>
        </p:nvSpPr>
        <p:spPr>
          <a:xfrm>
            <a:off x="374904" y="400679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98234"/>
            <a:ext cx="11112703" cy="21379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Происхождение удостоверяют двумя противоположными способами: подпись снаружи файла и знак внутри пикселей.</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сломалось и что не сломалось</a:t>
            </a:r>
          </a:p>
        </p:txBody>
      </p:sp>
      <p:sp>
        <p:nvSpPr>
          <p:cNvPr id="4" name="Rounded Rectangle 3"/>
          <p:cNvSpPr/>
          <p:nvPr/>
        </p:nvSpPr>
        <p:spPr>
          <a:xfrm>
            <a:off x="502920" y="1335024"/>
            <a:ext cx="2630271" cy="3108960"/>
          </a:xfrm>
          <a:prstGeom prst="roundRect">
            <a:avLst>
              <a:gd name="adj" fmla="val 115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отработало</a:t>
            </a:r>
          </a:p>
        </p:txBody>
      </p:sp>
      <p:sp>
        <p:nvSpPr>
          <p:cNvPr id="6" name="TextBox 5"/>
          <p:cNvSpPr txBox="1"/>
          <p:nvPr/>
        </p:nvSpPr>
        <p:spPr>
          <a:xfrm>
            <a:off x="667512" y="1846650"/>
            <a:ext cx="23010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подпись подлинная, сертификат валидный на момент подписания</a:t>
            </a:r>
          </a:p>
          <a:p>
            <a:pPr algn="l">
              <a:lnSpc>
                <a:spcPct val="126000"/>
              </a:lnSpc>
            </a:pPr>
            <a:r>
              <a:rPr sz="1450" b="0" i="0">
                <a:solidFill>
                  <a:srgbClr val="21295C"/>
                </a:solidFill>
                <a:latin typeface="Arial"/>
              </a:rPr>
              <a:t>• хеш сходится, цепочка не нарушена</a:t>
            </a:r>
          </a:p>
          <a:p>
            <a:pPr algn="l">
              <a:lnSpc>
                <a:spcPct val="126000"/>
              </a:lnSpc>
            </a:pPr>
            <a:r>
              <a:rPr sz="1450" b="0" i="0">
                <a:solidFill>
                  <a:srgbClr val="21295C"/>
                </a:solidFill>
                <a:latin typeface="Arial"/>
              </a:rPr>
              <a:t>• механизм выполнил ровно то, что обещал</a:t>
            </a:r>
          </a:p>
        </p:txBody>
      </p:sp>
      <p:sp>
        <p:nvSpPr>
          <p:cNvPr id="7" name="Rounded Rectangle 6"/>
          <p:cNvSpPr/>
          <p:nvPr/>
        </p:nvSpPr>
        <p:spPr>
          <a:xfrm>
            <a:off x="3444087" y="1335024"/>
            <a:ext cx="2630271" cy="3108960"/>
          </a:xfrm>
          <a:prstGeom prst="roundRect">
            <a:avLst>
              <a:gd name="adj" fmla="val 11588"/>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3608679" y="1490472"/>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провалилось</a:t>
            </a:r>
          </a:p>
        </p:txBody>
      </p:sp>
      <p:sp>
        <p:nvSpPr>
          <p:cNvPr id="9" name="TextBox 8"/>
          <p:cNvSpPr txBox="1"/>
          <p:nvPr/>
        </p:nvSpPr>
        <p:spPr>
          <a:xfrm>
            <a:off x="3608679" y="1846650"/>
            <a:ext cx="2301087" cy="244188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подписывающая сторона подписала то, чего не снимала</a:t>
            </a:r>
          </a:p>
          <a:p>
            <a:pPr algn="l">
              <a:lnSpc>
                <a:spcPct val="126000"/>
              </a:lnSpc>
            </a:pPr>
            <a:r>
              <a:rPr sz="900" b="0" i="0">
                <a:solidFill>
                  <a:srgbClr val="21295C"/>
                </a:solidFill>
                <a:latin typeface="Arial"/>
              </a:rPr>
              <a:t>• подпись удостоверяет, КТО подписал, а не ЧТО происходило перед объективом</a:t>
            </a:r>
          </a:p>
          <a:p>
            <a:pPr algn="l">
              <a:lnSpc>
                <a:spcPct val="126000"/>
              </a:lnSpc>
            </a:pPr>
            <a:r>
              <a:rPr sz="900" b="0" i="0">
                <a:solidFill>
                  <a:srgbClr val="21295C"/>
                </a:solidFill>
                <a:latin typeface="Arial"/>
              </a:rPr>
              <a:t>• у сгенерированного кадра вдобавок нет и не может быть ссылки на источник детали: форма застёжки на пальто не взята ни из какого обучающего изображения, она получена снятием шума</a:t>
            </a:r>
          </a:p>
          <a:p>
            <a:pPr algn="l">
              <a:lnSpc>
                <a:spcPct val="126000"/>
              </a:lnSpc>
            </a:pPr>
            <a:r>
              <a:rPr sz="900" b="0" i="0">
                <a:solidFill>
                  <a:srgbClr val="21295C"/>
                </a:solidFill>
                <a:latin typeface="Arial"/>
              </a:rPr>
              <a:t>• значит «поиск по документам для картинок» — ошибка в постановке задачи, а не функция, которую когда-нибудь доделают</a:t>
            </a:r>
          </a:p>
        </p:txBody>
      </p:sp>
      <p:sp>
        <p:nvSpPr>
          <p:cNvPr id="10" name="Rounded Rectangle 9"/>
          <p:cNvSpPr/>
          <p:nvPr/>
        </p:nvSpPr>
        <p:spPr>
          <a:xfrm>
            <a:off x="374904" y="4960834"/>
            <a:ext cx="11441887" cy="1275373"/>
          </a:xfrm>
          <a:prstGeom prst="roundRect">
            <a:avLst>
              <a:gd name="adj" fmla="val 238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5052274"/>
            <a:ext cx="11112703" cy="118393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Подпись удостоверяет, КТО подписал, а не ЧТО происходило перед объективом.</a:t>
            </a:r>
            <a:r>
              <a:rPr sz="1500" b="0" i="0">
                <a:solidFill>
                  <a:srgbClr val="21295C"/>
                </a:solidFill>
                <a:latin typeface="Arial"/>
              </a:rPr>
              <a:t> Граница между снятым и синтезированным размылась штатным рабочим конвейером, а не атакой злоумышленника: кадр из нейросетевой графики не снимал и не рисовал никто.</a:t>
            </a:r>
          </a:p>
        </p:txBody>
      </p:sp>
      <p:sp>
        <p:nvSpPr>
          <p:cNvPr id="12" name="Rounded Rectangle 11"/>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3" name="Picture 12" descr="s85-nikon-z6iii.jpg"/>
          <p:cNvPicPr>
            <a:picLocks noChangeAspect="1"/>
          </p:cNvPicPr>
          <p:nvPr/>
        </p:nvPicPr>
        <p:blipFill>
          <a:blip r:embed="rId2"/>
          <a:stretch>
            <a:fillRect/>
          </a:stretch>
        </p:blipFill>
        <p:spPr>
          <a:xfrm>
            <a:off x="6522415" y="1472184"/>
            <a:ext cx="5029200" cy="335149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2347789"/>
            <a:ext cx="136085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доля материалов, потребовавших исправления</a:t>
            </a:r>
          </a:p>
        </p:txBody>
      </p:sp>
      <p:sp>
        <p:nvSpPr>
          <p:cNvPr id="7" name="TextBox 6"/>
          <p:cNvSpPr txBox="1"/>
          <p:nvPr/>
        </p:nvSpPr>
        <p:spPr>
          <a:xfrm>
            <a:off x="640080" y="3199161"/>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2302687"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39847" y="1472184"/>
            <a:ext cx="136085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2439847" y="2555260"/>
            <a:ext cx="136085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41 из 77 статей, то есть 53%</a:t>
            </a:r>
          </a:p>
        </p:txBody>
      </p:sp>
      <p:sp>
        <p:nvSpPr>
          <p:cNvPr id="11" name="TextBox 10"/>
          <p:cNvSpPr txBox="1"/>
          <p:nvPr/>
        </p:nvSpPr>
        <p:spPr>
          <a:xfrm>
            <a:off x="2439847" y="3033184"/>
            <a:ext cx="13608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4102455" y="1335024"/>
            <a:ext cx="1635175" cy="3917577"/>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39615" y="1472184"/>
            <a:ext cx="136085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4239615" y="2140317"/>
            <a:ext cx="136085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40–61% статей с хотя бы одной ошибкой</a:t>
            </a:r>
          </a:p>
        </p:txBody>
      </p:sp>
      <p:sp>
        <p:nvSpPr>
          <p:cNvPr id="15" name="TextBox 14"/>
          <p:cNvSpPr txBox="1"/>
          <p:nvPr/>
        </p:nvSpPr>
        <p:spPr>
          <a:xfrm>
            <a:off x="4239615" y="2787990"/>
            <a:ext cx="136085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5902223"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039383" y="1932846"/>
            <a:ext cx="136085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половины против примерно 2%</a:t>
            </a:r>
          </a:p>
        </p:txBody>
      </p:sp>
      <p:sp>
        <p:nvSpPr>
          <p:cNvPr id="19" name="TextBox 18"/>
          <p:cNvSpPr txBox="1"/>
          <p:nvPr/>
        </p:nvSpPr>
        <p:spPr>
          <a:xfrm>
            <a:off x="6039383" y="2580519"/>
            <a:ext cx="136085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374904" y="5344041"/>
            <a:ext cx="11441887" cy="892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35481"/>
            <a:ext cx="11112703" cy="80072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Правило отсюда полезнее утверждения «модель ошибается чаще»: замеренный провал новой технологии сравнивают с замеренным поведением старой, а не с воображаемым.</a:t>
            </a:r>
          </a:p>
          <a:p>
            <a:pPr algn="l">
              <a:lnSpc>
                <a:spcPct val="126000"/>
              </a:lnSpc>
              <a:spcBef>
                <a:spcPts val="700"/>
              </a:spcBef>
            </a:pPr>
            <a:r>
              <a:rPr sz="1000" b="0" i="0">
                <a:solidFill>
                  <a:srgbClr val="21295C"/>
                </a:solidFill>
                <a:latin typeface="Arial"/>
              </a:rPr>
              <a:t/>
            </a:r>
            <a:r>
              <a:rPr sz="1000" b="0" i="1">
                <a:solidFill>
                  <a:srgbClr val="1C7293"/>
                </a:solidFill>
                <a:latin typeface="Arial"/>
              </a:rPr>
              <a:t>Оба классических режима посчитаны в одной единице с моделью — сравнение полное.</a:t>
            </a:r>
          </a:p>
        </p:txBody>
      </p:sp>
      <p:sp>
        <p:nvSpPr>
          <p:cNvPr id="22" name="Rounded Rectangle 21"/>
          <p:cNvSpPr/>
          <p:nvPr/>
        </p:nvSpPr>
        <p:spPr>
          <a:xfrm>
            <a:off x="7848295" y="1335024"/>
            <a:ext cx="3840480" cy="3759225"/>
          </a:xfrm>
          <a:prstGeom prst="roundRect">
            <a:avLst>
              <a:gd name="adj" fmla="val 8108"/>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985455" y="1472184"/>
            <a:ext cx="3566160" cy="348490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устроено в редакции и что написали другие</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Как это было устроено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внутренний движок генерировал объяснительные финансовые статьи</a:t>
            </a:r>
          </a:p>
          <a:p>
            <a:pPr algn="l">
              <a:lnSpc>
                <a:spcPct val="126000"/>
              </a:lnSpc>
            </a:pPr>
            <a:r>
              <a:rPr sz="1450" b="0" i="0">
                <a:solidFill>
                  <a:srgbClr val="21295C"/>
                </a:solidFill>
                <a:latin typeface="Arial"/>
              </a:rPr>
              <a:t>• публиковались под редакционной подписью «CNET Money Staff»</a:t>
            </a:r>
          </a:p>
          <a:p>
            <a:pPr algn="l">
              <a:lnSpc>
                <a:spcPct val="126000"/>
              </a:lnSpc>
            </a:pPr>
            <a:r>
              <a:rPr sz="1450" b="0" i="0">
                <a:solidFill>
                  <a:srgbClr val="21295C"/>
                </a:solidFill>
                <a:latin typeface="Arial"/>
              </a:rPr>
              <a:t>• имя изделия публично не названо — искали, не нашли</a:t>
            </a:r>
          </a:p>
          <a:p>
            <a:pPr algn="l">
              <a:lnSpc>
                <a:spcPct val="126000"/>
              </a:lnSpc>
            </a:pPr>
            <a:r>
              <a:rPr sz="1450" b="0" i="0">
                <a:solidFill>
                  <a:srgbClr val="21295C"/>
                </a:solidFill>
                <a:latin typeface="Arial"/>
              </a:rPr>
              <a:t>• заявленная редакционная проверка существовала. Человек в контуре был — и именно этот контур пропустил сорок один материал</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это чинят — и ни одна мера не потребовала лучшей модели</a:t>
            </a:r>
          </a:p>
        </p:txBody>
      </p:sp>
      <p:sp>
        <p:nvSpPr>
          <p:cNvPr id="9" name="TextBox 8"/>
          <p:cNvSpPr txBox="1"/>
          <p:nvPr/>
        </p:nvSpPr>
        <p:spPr>
          <a:xfrm>
            <a:off x="6415887" y="2093101"/>
            <a:ext cx="5108295" cy="219543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Associated Press, 15 августа 2023: вывод генеративного инструмента переопределён как непроверенный исходный материал — снимается сам вопрос «можно ли публиковать без проверки»</a:t>
            </a:r>
          </a:p>
          <a:p>
            <a:pPr algn="l">
              <a:lnSpc>
                <a:spcPct val="126000"/>
              </a:lnSpc>
            </a:pPr>
            <a:r>
              <a:rPr sz="1100" b="0" i="0">
                <a:solidFill>
                  <a:srgbClr val="21295C"/>
                </a:solidFill>
                <a:latin typeface="Arial"/>
              </a:rPr>
              <a:t>• Guardian, 16 июня 2023, обновлено 4 марта 2026: значимые сгенерированные элементы требуют явного разрешения старшего редактора</a:t>
            </a:r>
          </a:p>
          <a:p>
            <a:pPr algn="l">
              <a:lnSpc>
                <a:spcPct val="126000"/>
              </a:lnSpc>
            </a:pPr>
            <a:r>
              <a:rPr sz="1100" b="0" i="0">
                <a:solidFill>
                  <a:srgbClr val="21295C"/>
                </a:solidFill>
                <a:latin typeface="Arial"/>
              </a:rPr>
              <a:t>• BBC: в любом применении модели в редакционных целях должна быть старшая редакционная фигура, ответственная и подотчётная</a:t>
            </a:r>
          </a:p>
          <a:p>
            <a:pPr algn="l">
              <a:lnSpc>
                <a:spcPct val="126000"/>
              </a:lnSpc>
            </a:pPr>
            <a:r>
              <a:rPr sz="1100" b="0" i="0">
                <a:solidFill>
                  <a:srgbClr val="21295C"/>
                </a:solidFill>
                <a:latin typeface="Arial"/>
              </a:rPr>
              <a:t>• Springer Nature: применение, подменяющее экспертное суждение, не разрешено вовсе, независимо от качества вывода</a:t>
            </a:r>
          </a:p>
        </p:txBody>
      </p:sp>
      <p:sp>
        <p:nvSpPr>
          <p:cNvPr id="10" name="Rounded Rectangle 9"/>
          <p:cNvSpPr/>
          <p:nvPr/>
        </p:nvSpPr>
        <p:spPr>
          <a:xfrm>
            <a:off x="374904" y="453542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одна из четырёх норм не запрещает модель</a:t>
            </a:r>
            <a:r>
              <a:rPr sz="1500" b="0" i="0">
                <a:solidFill>
                  <a:srgbClr val="21295C"/>
                </a:solidFill>
                <a:latin typeface="Arial"/>
              </a:rPr>
              <a:t> — все четыре называют человека, отвечающего за выпуск.</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CNET, «CNET Is Testing an AI Engine. Here's What We've Learned, Mistakes and All», 25 января 2023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2673019" cy="2635027"/>
          </a:xfrm>
          <a:prstGeom prst="roundRect">
            <a:avLst>
              <a:gd name="adj" fmla="val 1156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1932846"/>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плотность живого свидетельства на тысячу слов</a:t>
            </a:r>
          </a:p>
        </p:txBody>
      </p:sp>
      <p:sp>
        <p:nvSpPr>
          <p:cNvPr id="7" name="TextBox 6"/>
          <p:cNvSpPr txBox="1"/>
          <p:nvPr/>
        </p:nvSpPr>
        <p:spPr>
          <a:xfrm>
            <a:off x="640080" y="298791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половины получены одной процедурой на одном корпусе, поэтому их можно ставить рядом без подтасовки</a:t>
            </a:r>
          </a:p>
        </p:txBody>
      </p:sp>
      <p:sp>
        <p:nvSpPr>
          <p:cNvPr id="8" name="Rounded Rectangle 7"/>
          <p:cNvSpPr/>
          <p:nvPr/>
        </p:nvSpPr>
        <p:spPr>
          <a:xfrm>
            <a:off x="3340531" y="1335024"/>
            <a:ext cx="2673019" cy="2635027"/>
          </a:xfrm>
          <a:prstGeom prst="roundRect">
            <a:avLst>
              <a:gd name="adj" fmla="val 1156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11" name="TextBox 10"/>
          <p:cNvSpPr txBox="1"/>
          <p:nvPr/>
        </p:nvSpPr>
        <p:spPr>
          <a:xfrm>
            <a:off x="3477691"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12" name="Rounded Rectangle 11"/>
          <p:cNvSpPr/>
          <p:nvPr/>
        </p:nvSpPr>
        <p:spPr>
          <a:xfrm>
            <a:off x="6178143" y="1335024"/>
            <a:ext cx="2673019" cy="2635027"/>
          </a:xfrm>
          <a:prstGeom prst="roundRect">
            <a:avLst>
              <a:gd name="adj" fmla="val 1156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вот этот контрфакт и делает разбор сильнейшим</a:t>
            </a:r>
          </a:p>
        </p:txBody>
      </p:sp>
      <p:sp>
        <p:nvSpPr>
          <p:cNvPr id="16" name="Rounded Rectangle 15"/>
          <p:cNvSpPr/>
          <p:nvPr/>
        </p:nvSpPr>
        <p:spPr>
          <a:xfrm>
            <a:off x="9015755" y="1335024"/>
            <a:ext cx="2673019" cy="2635027"/>
          </a:xfrm>
          <a:prstGeom prst="roundRect">
            <a:avLst>
              <a:gd name="adj" fmla="val 115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СТАТЕЙ СО СЛЕДАМИ ГЕНЕРАЦИИ, II КВАРТАЛ 2026</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выборки в 254 610 статей 174 российских изданий</a:t>
            </a:r>
          </a:p>
        </p:txBody>
      </p:sp>
      <p:sp>
        <p:nvSpPr>
          <p:cNvPr id="20" name="Rounded Rectangle 19"/>
          <p:cNvSpPr/>
          <p:nvPr/>
        </p:nvSpPr>
        <p:spPr>
          <a:xfrm>
            <a:off x="502920" y="4152931"/>
            <a:ext cx="5437479" cy="2083276"/>
          </a:xfrm>
          <a:prstGeom prst="roundRect">
            <a:avLst>
              <a:gd name="adj" fmla="val 1463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30837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Кривая доли и её разрез</a:t>
            </a:r>
          </a:p>
        </p:txBody>
      </p:sp>
      <p:sp>
        <p:nvSpPr>
          <p:cNvPr id="22" name="TextBox 21"/>
          <p:cNvSpPr txBox="1"/>
          <p:nvPr/>
        </p:nvSpPr>
        <p:spPr>
          <a:xfrm>
            <a:off x="667512" y="4664558"/>
            <a:ext cx="5108295" cy="1416201"/>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IV квартал 2022 и ранее — 0–0,08%: это ложные срабатывания самих распознавателей, то есть ноль</a:t>
            </a:r>
          </a:p>
          <a:p>
            <a:pPr algn="l">
              <a:lnSpc>
                <a:spcPct val="126000"/>
              </a:lnSpc>
            </a:pPr>
            <a:r>
              <a:rPr sz="900" b="0" i="0">
                <a:solidFill>
                  <a:srgbClr val="21295C"/>
                </a:solidFill>
                <a:latin typeface="Arial"/>
              </a:rPr>
              <a:t>• IV квартал 2023 — 0,88% · IV квартал 2024 — 5,7% · IV квартал 2025 — 14% · II квартал 2026 — 18%</a:t>
            </a:r>
          </a:p>
          <a:p>
            <a:pPr algn="l">
              <a:lnSpc>
                <a:spcPct val="126000"/>
              </a:lnSpc>
            </a:pPr>
            <a:r>
              <a:rPr sz="900" b="0" i="0">
                <a:solidFill>
                  <a:srgbClr val="21295C"/>
                </a:solidFill>
                <a:latin typeface="Arial"/>
              </a:rPr>
              <a:t>• по эшелонам: федеральные около 10%, второй эшелон 23–25%, местные и нишевые 7,9%</a:t>
            </a:r>
          </a:p>
          <a:p>
            <a:pPr algn="l">
              <a:lnSpc>
                <a:spcPct val="126000"/>
              </a:lnSpc>
            </a:pPr>
            <a:r>
              <a:rPr sz="900" b="0" i="0">
                <a:solidFill>
                  <a:srgbClr val="21295C"/>
                </a:solidFill>
                <a:latin typeface="Arial"/>
              </a:rPr>
              <a:t>• по темам больше всего затронуты дом, еда и здоровье; меньше всего политика и происшествия — не более 2,8%</a:t>
            </a:r>
          </a:p>
        </p:txBody>
      </p:sp>
      <p:sp>
        <p:nvSpPr>
          <p:cNvPr id="23" name="Rounded Rectangle 22"/>
          <p:cNvSpPr/>
          <p:nvPr/>
        </p:nvSpPr>
        <p:spPr>
          <a:xfrm>
            <a:off x="6251295" y="4152931"/>
            <a:ext cx="5437479" cy="2083276"/>
          </a:xfrm>
          <a:prstGeom prst="roundRect">
            <a:avLst>
              <a:gd name="adj" fmla="val 14630"/>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30837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мерили и что это меняет в чтении числа</a:t>
            </a:r>
          </a:p>
        </p:txBody>
      </p:sp>
      <p:sp>
        <p:nvSpPr>
          <p:cNvPr id="25" name="TextBox 24"/>
          <p:cNvSpPr txBox="1"/>
          <p:nvPr/>
        </p:nvSpPr>
        <p:spPr>
          <a:xfrm>
            <a:off x="6415887" y="4664558"/>
            <a:ext cx="5108295" cy="141620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254 610 статей из 174 российских изданий, с 2020 года по второй квартал 2026-го</a:t>
            </a:r>
          </a:p>
          <a:p>
            <a:pPr algn="l">
              <a:lnSpc>
                <a:spcPct val="126000"/>
              </a:lnSpc>
            </a:pPr>
            <a:r>
              <a:rPr sz="1000" b="0" i="0">
                <a:solidFill>
                  <a:srgbClr val="21295C"/>
                </a:solidFill>
                <a:latin typeface="Arial"/>
              </a:rPr>
              <a:t>• два открытых распознавателя, статья относится к машинным при среднем балле не ниже 0,5; сверка третьим распознавателем</a:t>
            </a:r>
          </a:p>
          <a:p>
            <a:pPr algn="l">
              <a:lnSpc>
                <a:spcPct val="126000"/>
              </a:lnSpc>
            </a:pPr>
            <a:r>
              <a:rPr sz="1000" b="0" i="0">
                <a:solidFill>
                  <a:srgbClr val="21295C"/>
                </a:solidFill>
                <a:latin typeface="Arial"/>
              </a:rPr>
              <a:t>• распознаватели не обобщаются на чужую модель — значит 18 процентов читаются как нижняя граница, а не как точное значение</a:t>
            </a:r>
          </a:p>
          <a:p>
            <a:pPr algn="l">
              <a:lnSpc>
                <a:spcPct val="126000"/>
              </a:lnSpc>
            </a:pPr>
            <a:r>
              <a:rPr sz="1000" b="0" i="0">
                <a:solidFill>
                  <a:srgbClr val="21295C"/>
                </a:solidFill>
                <a:latin typeface="Arial"/>
              </a:rPr>
              <a:t>• 13% прироста машинной лексики в текстах, написанных людьми, и 27% корпуса с частичными признаками: влияние шире доли полностью машинных статей</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95328"/>
            <a:ext cx="2788920" cy="314504"/>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59336"/>
            <a:ext cx="2660903"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Тип задачи</a:t>
            </a:r>
          </a:p>
        </p:txBody>
      </p:sp>
      <p:sp>
        <p:nvSpPr>
          <p:cNvPr id="6" name="Rectangle 5"/>
          <p:cNvSpPr/>
          <p:nvPr/>
        </p:nvSpPr>
        <p:spPr>
          <a:xfrm>
            <a:off x="3291839" y="1495328"/>
            <a:ext cx="1679387" cy="314504"/>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Изображение</a:t>
            </a:r>
          </a:p>
        </p:txBody>
      </p:sp>
      <p:sp>
        <p:nvSpPr>
          <p:cNvPr id="8" name="Rectangle 7"/>
          <p:cNvSpPr/>
          <p:nvPr/>
        </p:nvSpPr>
        <p:spPr>
          <a:xfrm>
            <a:off x="4971227" y="1495328"/>
            <a:ext cx="1679387" cy="314504"/>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Звук</a:t>
            </a:r>
          </a:p>
        </p:txBody>
      </p:sp>
      <p:sp>
        <p:nvSpPr>
          <p:cNvPr id="10" name="Rectangle 9"/>
          <p:cNvSpPr/>
          <p:nvPr/>
        </p:nvSpPr>
        <p:spPr>
          <a:xfrm>
            <a:off x="6650614" y="1495328"/>
            <a:ext cx="1679387" cy="31450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Видео</a:t>
            </a:r>
          </a:p>
        </p:txBody>
      </p:sp>
      <p:sp>
        <p:nvSpPr>
          <p:cNvPr id="12" name="Rectangle 11"/>
          <p:cNvSpPr/>
          <p:nvPr/>
        </p:nvSpPr>
        <p:spPr>
          <a:xfrm>
            <a:off x="8330001" y="1495328"/>
            <a:ext cx="1679387" cy="31450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Трёхмерное</a:t>
            </a:r>
          </a:p>
        </p:txBody>
      </p:sp>
      <p:sp>
        <p:nvSpPr>
          <p:cNvPr id="14" name="Rectangle 13"/>
          <p:cNvSpPr/>
          <p:nvPr/>
        </p:nvSpPr>
        <p:spPr>
          <a:xfrm>
            <a:off x="10009388" y="1495328"/>
            <a:ext cx="1679387" cy="314504"/>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Распознавание</a:t>
            </a:r>
          </a:p>
        </p:txBody>
      </p:sp>
      <p:sp>
        <p:nvSpPr>
          <p:cNvPr id="16" name="Rectangle 15"/>
          <p:cNvSpPr/>
          <p:nvPr/>
        </p:nvSpPr>
        <p:spPr>
          <a:xfrm>
            <a:off x="10009388" y="17595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809832"/>
            <a:ext cx="2788920" cy="687481"/>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73840"/>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Породить первое приближение</a:t>
            </a:r>
          </a:p>
          <a:p>
            <a:pPr algn="l">
              <a:lnSpc>
                <a:spcPct val="113000"/>
              </a:lnSpc>
              <a:spcBef>
                <a:spcPts val="200"/>
              </a:spcBef>
            </a:pPr>
            <a:r>
              <a:rPr sz="90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0,034–0,05 $ за изображение</a:t>
            </a:r>
          </a:p>
        </p:txBody>
      </p:sp>
      <p:sp>
        <p:nvSpPr>
          <p:cNvPr id="21" name="Rectangle 20"/>
          <p:cNvSpPr/>
          <p:nvPr/>
        </p:nvSpPr>
        <p:spPr>
          <a:xfrm>
            <a:off x="4971227"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дубляж 0,03–0,072 $ за минуту</a:t>
            </a:r>
          </a:p>
        </p:txBody>
      </p:sp>
      <p:sp>
        <p:nvSpPr>
          <p:cNvPr id="23" name="Rectangle 22"/>
          <p:cNvSpPr/>
          <p:nvPr/>
        </p:nvSpPr>
        <p:spPr>
          <a:xfrm>
            <a:off x="6650614"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цена выпуска ниже в 10–20 раз</a:t>
            </a:r>
          </a:p>
        </p:txBody>
      </p:sp>
      <p:sp>
        <p:nvSpPr>
          <p:cNvPr id="25" name="Rectangle 24"/>
          <p:cNvSpPr/>
          <p:nvPr/>
        </p:nvSpPr>
        <p:spPr>
          <a:xfrm>
            <a:off x="8330001"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единицы секунд на вариант</a:t>
            </a:r>
          </a:p>
        </p:txBody>
      </p:sp>
      <p:sp>
        <p:nvSpPr>
          <p:cNvPr id="27" name="Rectangle 26"/>
          <p:cNvSpPr/>
          <p:nvPr/>
        </p:nvSpPr>
        <p:spPr>
          <a:xfrm>
            <a:off x="10009388"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порождение не задача стадии</a:t>
            </a:r>
          </a:p>
        </p:txBody>
      </p:sp>
      <p:sp>
        <p:nvSpPr>
          <p:cNvPr id="29" name="Rectangle 28"/>
          <p:cNvSpPr/>
          <p:nvPr/>
        </p:nvSpPr>
        <p:spPr>
          <a:xfrm>
            <a:off x="502920" y="2497313"/>
            <a:ext cx="2788920" cy="723793"/>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561321"/>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Довести до производственного качества</a:t>
            </a:r>
          </a:p>
          <a:p>
            <a:pPr algn="l">
              <a:lnSpc>
                <a:spcPct val="113000"/>
              </a:lnSpc>
              <a:spcBef>
                <a:spcPts val="200"/>
              </a:spcBef>
            </a:pPr>
            <a:r>
              <a:rPr sz="900" b="0" i="1">
                <a:solidFill>
                  <a:srgbClr val="1C7293"/>
                </a:solidFill>
                <a:latin typeface="Arial"/>
              </a:rPr>
              <a:t>отобрать, доработать и выпустить годное</a:t>
            </a:r>
          </a:p>
        </p:txBody>
      </p:sp>
      <p:sp>
        <p:nvSpPr>
          <p:cNvPr id="31" name="Rectangle 30"/>
          <p:cNvSpPr/>
          <p:nvPr/>
        </p:nvSpPr>
        <p:spPr>
          <a:xfrm>
            <a:off x="3291839"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адаптеры и ручная правка</a:t>
            </a:r>
          </a:p>
        </p:txBody>
      </p:sp>
      <p:sp>
        <p:nvSpPr>
          <p:cNvPr id="33" name="Rectangle 32"/>
          <p:cNvSpPr/>
          <p:nvPr/>
        </p:nvSpPr>
        <p:spPr>
          <a:xfrm>
            <a:off x="4971227"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ручная правка дикции</a:t>
            </a:r>
          </a:p>
        </p:txBody>
      </p:sp>
      <p:sp>
        <p:nvSpPr>
          <p:cNvPr id="35" name="Rectangle 34"/>
          <p:cNvSpPr/>
          <p:nvPr/>
        </p:nvSpPr>
        <p:spPr>
          <a:xfrm>
            <a:off x="6650614"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ручной отбор и склейка</a:t>
            </a:r>
          </a:p>
        </p:txBody>
      </p:sp>
      <p:sp>
        <p:nvSpPr>
          <p:cNvPr id="37" name="Rectangle 36"/>
          <p:cNvSpPr/>
          <p:nvPr/>
        </p:nvSpPr>
        <p:spPr>
          <a:xfrm>
            <a:off x="8330001"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ретопология, развёртка, риггинг остаются людям</a:t>
            </a:r>
          </a:p>
        </p:txBody>
      </p:sp>
      <p:sp>
        <p:nvSpPr>
          <p:cNvPr id="39" name="Rectangle 38"/>
          <p:cNvSpPr/>
          <p:nvPr/>
        </p:nvSpPr>
        <p:spPr>
          <a:xfrm>
            <a:off x="10009388"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человек в контуре с нормой времени</a:t>
            </a:r>
          </a:p>
        </p:txBody>
      </p:sp>
      <p:sp>
        <p:nvSpPr>
          <p:cNvPr id="41" name="Rectangle 40"/>
          <p:cNvSpPr/>
          <p:nvPr/>
        </p:nvSpPr>
        <p:spPr>
          <a:xfrm>
            <a:off x="502920" y="3221107"/>
            <a:ext cx="2788920" cy="68748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285115"/>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Восстановить существующее</a:t>
            </a:r>
          </a:p>
          <a:p>
            <a:pPr algn="l">
              <a:lnSpc>
                <a:spcPct val="113000"/>
              </a:lnSpc>
              <a:spcBef>
                <a:spcPts val="200"/>
              </a:spcBef>
            </a:pPr>
            <a:r>
              <a:rPr sz="900" b="0" i="1">
                <a:solidFill>
                  <a:srgbClr val="1C7293"/>
                </a:solidFill>
                <a:latin typeface="Arial"/>
              </a:rPr>
              <a:t>вытащить то, что уже записано, но читается плохо</a:t>
            </a:r>
          </a:p>
        </p:txBody>
      </p:sp>
      <p:sp>
        <p:nvSpPr>
          <p:cNvPr id="43" name="Rectangle 42"/>
          <p:cNvSpPr/>
          <p:nvPr/>
        </p:nvSpPr>
        <p:spPr>
          <a:xfrm>
            <a:off x="3291839"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повышение разрешения архива</a:t>
            </a:r>
          </a:p>
        </p:txBody>
      </p:sp>
      <p:sp>
        <p:nvSpPr>
          <p:cNvPr id="45" name="Rectangle 44"/>
          <p:cNvSpPr/>
          <p:nvPr/>
        </p:nvSpPr>
        <p:spPr>
          <a:xfrm>
            <a:off x="4971227"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разделение источников</a:t>
            </a:r>
          </a:p>
        </p:txBody>
      </p:sp>
      <p:sp>
        <p:nvSpPr>
          <p:cNvPr id="47" name="Rectangle 46"/>
          <p:cNvSpPr/>
          <p:nvPr/>
        </p:nvSpPr>
        <p:spPr>
          <a:xfrm>
            <a:off x="6650614"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интерполяция кадров</a:t>
            </a:r>
          </a:p>
        </p:txBody>
      </p:sp>
      <p:sp>
        <p:nvSpPr>
          <p:cNvPr id="49" name="Rectangle 48"/>
          <p:cNvSpPr/>
          <p:nvPr/>
        </p:nvSpPr>
        <p:spPr>
          <a:xfrm>
            <a:off x="8330001"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сцена из снимков: 41 минута, 134 кадра в секунду</a:t>
            </a:r>
          </a:p>
        </p:txBody>
      </p:sp>
      <p:sp>
        <p:nvSpPr>
          <p:cNvPr id="51" name="Rectangle 50"/>
          <p:cNvSpPr/>
          <p:nvPr/>
        </p:nvSpPr>
        <p:spPr>
          <a:xfrm>
            <a:off x="10009388"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свиток прочитан целиком, ответ проверяем</a:t>
            </a:r>
          </a:p>
        </p:txBody>
      </p:sp>
      <p:sp>
        <p:nvSpPr>
          <p:cNvPr id="53" name="Rectangle 52"/>
          <p:cNvSpPr/>
          <p:nvPr/>
        </p:nvSpPr>
        <p:spPr>
          <a:xfrm>
            <a:off x="502920" y="3908588"/>
            <a:ext cx="2788920" cy="519544"/>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972596"/>
            <a:ext cx="2660903" cy="391528"/>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Соблюсти точные величины</a:t>
            </a:r>
          </a:p>
          <a:p>
            <a:pPr algn="l">
              <a:lnSpc>
                <a:spcPct val="113000"/>
              </a:lnSpc>
              <a:spcBef>
                <a:spcPts val="200"/>
              </a:spcBef>
            </a:pPr>
            <a:r>
              <a:rPr sz="900" b="0" i="1">
                <a:solidFill>
                  <a:srgbClr val="1C7293"/>
                </a:solidFill>
                <a:latin typeface="Arial"/>
              </a:rPr>
              <a:t>размеры, допуски, проверяемые условия</a:t>
            </a:r>
          </a:p>
        </p:txBody>
      </p:sp>
      <p:sp>
        <p:nvSpPr>
          <p:cNvPr id="55" name="Rectangle 54"/>
          <p:cNvSpPr/>
          <p:nvPr/>
        </p:nvSpPr>
        <p:spPr>
          <a:xfrm>
            <a:off x="3291839"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57" name="Rectangle 56"/>
          <p:cNvSpPr/>
          <p:nvPr/>
        </p:nvSpPr>
        <p:spPr>
          <a:xfrm>
            <a:off x="4971227"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длина задана до запуска</a:t>
            </a:r>
          </a:p>
        </p:txBody>
      </p:sp>
      <p:sp>
        <p:nvSpPr>
          <p:cNvPr id="59" name="Rectangle 58"/>
          <p:cNvSpPr/>
          <p:nvPr/>
        </p:nvSpPr>
        <p:spPr>
          <a:xfrm>
            <a:off x="6650614"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физика выучена как корреляция</a:t>
            </a:r>
          </a:p>
        </p:txBody>
      </p:sp>
      <p:sp>
        <p:nvSpPr>
          <p:cNvPr id="61" name="Rectangle 60"/>
          <p:cNvSpPr/>
          <p:nvPr/>
        </p:nvSpPr>
        <p:spPr>
          <a:xfrm>
            <a:off x="8330001"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63" name="Rectangle 62"/>
          <p:cNvSpPr/>
          <p:nvPr/>
        </p:nvSpPr>
        <p:spPr>
          <a:xfrm>
            <a:off x="10009388"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эталонная разметка даёт число</a:t>
            </a:r>
          </a:p>
        </p:txBody>
      </p:sp>
      <p:sp>
        <p:nvSpPr>
          <p:cNvPr id="65" name="Rectangle 64"/>
          <p:cNvSpPr/>
          <p:nvPr/>
        </p:nvSpPr>
        <p:spPr>
          <a:xfrm>
            <a:off x="502920" y="4428132"/>
            <a:ext cx="2788920" cy="723793"/>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4492140"/>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Уложиться в бюджет реального времени</a:t>
            </a:r>
          </a:p>
          <a:p>
            <a:pPr algn="l">
              <a:lnSpc>
                <a:spcPct val="113000"/>
              </a:lnSpc>
              <a:spcBef>
                <a:spcPts val="200"/>
              </a:spcBef>
            </a:pPr>
            <a:r>
              <a:rPr sz="900" b="0" i="1">
                <a:solidFill>
                  <a:srgbClr val="1C7293"/>
                </a:solidFill>
                <a:latin typeface="Arial"/>
              </a:rPr>
              <a:t>успеть к сроку кадра, а не к сроку задачи</a:t>
            </a:r>
          </a:p>
        </p:txBody>
      </p:sp>
      <p:sp>
        <p:nvSpPr>
          <p:cNvPr id="67" name="Rectangle 66"/>
          <p:cNvSpPr/>
          <p:nvPr/>
        </p:nvSpPr>
        <p:spPr>
          <a:xfrm>
            <a:off x="3291839"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69" name="Rectangle 68"/>
          <p:cNvSpPr/>
          <p:nvPr/>
        </p:nvSpPr>
        <p:spPr>
          <a:xfrm>
            <a:off x="4971227"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71" name="Rectangle 70"/>
          <p:cNvSpPr/>
          <p:nvPr/>
        </p:nvSpPr>
        <p:spPr>
          <a:xfrm>
            <a:off x="6650614"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в кадровый бюджет не укладывается</a:t>
            </a:r>
          </a:p>
        </p:txBody>
      </p:sp>
      <p:sp>
        <p:nvSpPr>
          <p:cNvPr id="73" name="Rectangle 72"/>
          <p:cNvSpPr/>
          <p:nvPr/>
        </p:nvSpPr>
        <p:spPr>
          <a:xfrm>
            <a:off x="8330001"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около 1 мс на кадр</a:t>
            </a:r>
          </a:p>
        </p:txBody>
      </p:sp>
      <p:sp>
        <p:nvSpPr>
          <p:cNvPr id="75" name="Rectangle 74"/>
          <p:cNvSpPr/>
          <p:nvPr/>
        </p:nvSpPr>
        <p:spPr>
          <a:xfrm>
            <a:off x="10009388"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модерация на потоке</a:t>
            </a:r>
          </a:p>
        </p:txBody>
      </p:sp>
      <p:sp>
        <p:nvSpPr>
          <p:cNvPr id="77" name="Rectangle 76"/>
          <p:cNvSpPr/>
          <p:nvPr/>
        </p:nvSpPr>
        <p:spPr>
          <a:xfrm>
            <a:off x="502920" y="5151926"/>
            <a:ext cx="2788920" cy="68748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5215934"/>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Ответить «кто отвечает»</a:t>
            </a:r>
          </a:p>
          <a:p>
            <a:pPr algn="l">
              <a:lnSpc>
                <a:spcPct val="113000"/>
              </a:lnSpc>
              <a:spcBef>
                <a:spcPts val="200"/>
              </a:spcBef>
            </a:pPr>
            <a:r>
              <a:rPr sz="900" b="0" i="1">
                <a:solidFill>
                  <a:srgbClr val="1C7293"/>
                </a:solidFill>
                <a:latin typeface="Arial"/>
              </a:rPr>
              <a:t>происхождение, права, подпись под результатом</a:t>
            </a:r>
          </a:p>
        </p:txBody>
      </p:sp>
      <p:sp>
        <p:nvSpPr>
          <p:cNvPr id="79" name="Rectangle 78"/>
          <p:cNvSpPr/>
          <p:nvPr/>
        </p:nvSpPr>
        <p:spPr>
          <a:xfrm>
            <a:off x="3291839"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1" name="Rectangle 80"/>
          <p:cNvSpPr/>
          <p:nvPr/>
        </p:nvSpPr>
        <p:spPr>
          <a:xfrm>
            <a:off x="4971227"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3" name="Rectangle 82"/>
          <p:cNvSpPr/>
          <p:nvPr/>
        </p:nvSpPr>
        <p:spPr>
          <a:xfrm>
            <a:off x="6650614"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5" name="Rectangle 84"/>
          <p:cNvSpPr/>
          <p:nvPr/>
        </p:nvSpPr>
        <p:spPr>
          <a:xfrm>
            <a:off x="8330001"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7" name="Rectangle 86"/>
          <p:cNvSpPr/>
          <p:nvPr/>
        </p:nvSpPr>
        <p:spPr>
          <a:xfrm>
            <a:off x="10009388"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5921703"/>
            <a:ext cx="11185855" cy="314504"/>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5921703"/>
            <a:ext cx="68580" cy="314504"/>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5985711"/>
            <a:ext cx="10783519" cy="18648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ectangle 9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3" name="TextBox 9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по обе стороны и в одной единице во всех пяти модальностях</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один из трёх не метафора: за каждым стоит разобранный случай с посчитанной классикой</a:t>
            </a:r>
          </a:p>
        </p:txBody>
      </p:sp>
      <p:sp>
        <p:nvSpPr>
          <p:cNvPr id="12" name="Rounded Rectangle 11"/>
          <p:cNvSpPr/>
          <p:nvPr/>
        </p:nvSpPr>
        <p:spPr>
          <a:xfrm>
            <a:off x="374904" y="31938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Платят за отбор, за права и за узнавание. У каждого адреса своя единица счёта.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просмотренные и забракованные попытки: </a:t>
            </a:r>
            <a:r>
              <a:rPr sz="1500" b="1" i="0">
                <a:solidFill>
                  <a:srgbClr val="21295C"/>
                </a:solidFill>
                <a:latin typeface="Arial"/>
              </a:rPr>
              <a:t>300–400 генераций на 15 пригодных склеек</a:t>
            </a:r>
            <a:r>
              <a:rPr sz="1500" b="0" i="0">
                <a:solidFill>
                  <a:srgbClr val="21295C"/>
                </a:solidFill>
                <a:latin typeface="Arial"/>
              </a:rPr>
              <a:t>, брак 96 %</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ПРАВА</a:t>
            </a:r>
            <a:r>
              <a:rPr sz="1500" b="0" i="0">
                <a:solidFill>
                  <a:srgbClr val="21295C"/>
                </a:solidFill>
                <a:latin typeface="Arial"/>
              </a:rPr>
              <a:t> — деньги за доступ к обучающему материалу и к результату: </a:t>
            </a:r>
            <a:r>
              <a:rPr sz="1500" b="1" i="0">
                <a:solidFill>
                  <a:srgbClr val="21295C"/>
                </a:solidFill>
                <a:latin typeface="Arial"/>
              </a:rPr>
              <a:t>1,5 млрд долларов на ~500 000 произведений</a:t>
            </a:r>
            <a:r>
              <a:rPr sz="1500" b="0" i="0">
                <a:solidFill>
                  <a:srgbClr val="21295C"/>
                </a:solidFill>
                <a:latin typeface="Arial"/>
              </a:rPr>
              <a:t>, около 3 000 за произведение</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УЗНАВАНИЕ</a:t>
            </a:r>
            <a:r>
              <a:rPr sz="1500" b="0" i="0">
                <a:solidFill>
                  <a:srgbClr val="21295C"/>
                </a:solidFill>
                <a:latin typeface="Arial"/>
              </a:rPr>
              <a:t> — доля верных решений о происхождении: </a:t>
            </a:r>
            <a:r>
              <a:rPr sz="1500" b="1" i="0">
                <a:solidFill>
                  <a:srgbClr val="21295C"/>
                </a:solidFill>
                <a:latin typeface="Arial"/>
              </a:rPr>
              <a:t>99,9 % на своей модели и 51,9 % на незнакомой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Отрезвляющая мера того же счёта:</a:t>
            </a:r>
            <a:r>
              <a:rPr sz="1500" b="0" i="0">
                <a:solidFill>
                  <a:srgbClr val="21295C"/>
                </a:solidFill>
                <a:latin typeface="Arial"/>
              </a:rPr>
              <a:t> на российской бирже сгенерированная иллюстрация дешевле обычной </a:t>
            </a:r>
            <a:r>
              <a:rPr sz="1500" b="1" i="0">
                <a:solidFill>
                  <a:srgbClr val="21295C"/>
                </a:solidFill>
                <a:latin typeface="Arial"/>
              </a:rPr>
              <a:t>в 2,16 раза</a:t>
            </a:r>
            <a:r>
              <a:rPr sz="1500" b="0" i="0">
                <a:solidFill>
                  <a:srgbClr val="21295C"/>
                </a:solidFill>
                <a:latin typeface="Arial"/>
              </a:rPr>
              <a:t> — при том что цена самого исполнения упала на три порядка.</a:t>
            </a:r>
          </a:p>
        </p:txBody>
      </p:sp>
      <p:sp>
        <p:nvSpPr>
          <p:cNvPr id="15" name="Rectangle 14"/>
          <p:cNvSpPr/>
          <p:nvPr/>
        </p:nvSpPr>
        <p:spPr>
          <a:xfrm>
            <a:off x="6091275" y="3285324"/>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3618890" cy="2267237"/>
          </a:xfrm>
          <a:prstGeom prst="roundRect">
            <a:avLst>
              <a:gd name="adj" fmla="val 1344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Rounded Rectangle 7"/>
          <p:cNvSpPr/>
          <p:nvPr/>
        </p:nvSpPr>
        <p:spPr>
          <a:xfrm>
            <a:off x="4286402" y="1335024"/>
            <a:ext cx="3618890" cy="2267237"/>
          </a:xfrm>
          <a:prstGeom prst="roundRect">
            <a:avLst>
              <a:gd name="adj" fmla="val 1344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СЛЕДУЕТ ДЛЯ ИНЖЕНЕРА</a:t>
            </a:r>
          </a:p>
        </p:txBody>
      </p:sp>
      <p:sp>
        <p:nvSpPr>
          <p:cNvPr id="10" name="TextBox 9"/>
          <p:cNvSpPr txBox="1"/>
          <p:nvPr/>
        </p:nvSpPr>
        <p:spPr>
          <a:xfrm>
            <a:off x="4423562" y="1725375"/>
            <a:ext cx="3344570"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объём производства перестал быть свидетельством спроса</a:t>
            </a:r>
          </a:p>
        </p:txBody>
      </p:sp>
      <p:sp>
        <p:nvSpPr>
          <p:cNvPr id="11" name="TextBox 10"/>
          <p:cNvSpPr txBox="1"/>
          <p:nvPr/>
        </p:nvSpPr>
        <p:spPr>
          <a:xfrm>
            <a:off x="4423562" y="2831371"/>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 всех четырёх случаях измеряют предложение, а выводы делают о востребованности</a:t>
            </a:r>
          </a:p>
        </p:txBody>
      </p:sp>
      <p:sp>
        <p:nvSpPr>
          <p:cNvPr id="12" name="Rounded Rectangle 11"/>
          <p:cNvSpPr/>
          <p:nvPr/>
        </p:nvSpPr>
        <p:spPr>
          <a:xfrm>
            <a:off x="8069884" y="1335024"/>
            <a:ext cx="3618890" cy="2267237"/>
          </a:xfrm>
          <a:prstGeom prst="roundRect">
            <a:avLst>
              <a:gd name="adj" fmla="val 1344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ЗАРАНЕЕ ИЗВЕСТНАЯ ТРЕТЬЯ ВЕЛИЧИНА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разницу немедленно заполняет накрутка</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музыкальной площадке она измерена: 85 % прослушиваний машинных треков</a:t>
            </a:r>
          </a:p>
        </p:txBody>
      </p:sp>
      <p:sp>
        <p:nvSpPr>
          <p:cNvPr id="16" name="Rounded Rectangle 15"/>
          <p:cNvSpPr/>
          <p:nvPr/>
        </p:nvSpPr>
        <p:spPr>
          <a:xfrm>
            <a:off x="374904" y="3693701"/>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85141"/>
            <a:ext cx="5373471" cy="245106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Музыкальная площадка Deezer, июнь 2026.</a:t>
            </a:r>
            <a:r>
              <a:rPr sz="1500" b="0" i="0">
                <a:solidFill>
                  <a:srgbClr val="21295C"/>
                </a:solidFill>
                <a:latin typeface="Arial"/>
              </a:rPr>
              <a:t> В производстве: </a:t>
            </a:r>
            <a:r>
              <a:rPr sz="1500" b="1" i="0">
                <a:solidFill>
                  <a:srgbClr val="21295C"/>
                </a:solidFill>
                <a:latin typeface="Arial"/>
              </a:rPr>
              <a:t>более половины суточной загрузки</a:t>
            </a:r>
            <a:r>
              <a:rPr sz="1500" b="0" i="0">
                <a:solidFill>
                  <a:srgbClr val="21295C"/>
                </a:solidFill>
                <a:latin typeface="Arial"/>
              </a:rPr>
              <a:t>, около 90 000 треков в сутки на пике (в январе 2025 года — 10 %). В деньгах: </a:t>
            </a:r>
            <a:r>
              <a:rPr sz="1500" b="1" i="0">
                <a:solidFill>
                  <a:srgbClr val="21295C"/>
                </a:solidFill>
                <a:latin typeface="Arial"/>
              </a:rPr>
              <a:t>1–3 % прослушиваний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Магазин игр Steam, к июлю 2026.</a:t>
            </a:r>
            <a:r>
              <a:rPr sz="1500" b="0" i="0">
                <a:solidFill>
                  <a:srgbClr val="21295C"/>
                </a:solidFill>
                <a:latin typeface="Arial"/>
              </a:rPr>
              <a:t> В производстве: </a:t>
            </a:r>
            <a:r>
              <a:rPr sz="1500" b="1" i="0">
                <a:solidFill>
                  <a:srgbClr val="21295C"/>
                </a:solidFill>
                <a:latin typeface="Arial"/>
              </a:rPr>
              <a:t>30,8 % релизов года</a:t>
            </a:r>
            <a:r>
              <a:rPr sz="1500" b="0" i="0">
                <a:solidFill>
                  <a:srgbClr val="21295C"/>
                </a:solidFill>
                <a:latin typeface="Arial"/>
              </a:rPr>
              <a:t> с раскрытием. В деньгах: </a:t>
            </a:r>
            <a:r>
              <a:rPr sz="1500" b="1" i="0">
                <a:solidFill>
                  <a:srgbClr val="21295C"/>
                </a:solidFill>
                <a:latin typeface="Arial"/>
              </a:rPr>
              <a:t>10–27 % оценочных продаж</a:t>
            </a:r>
            <a:r>
              <a:rPr sz="1500" b="0" i="0">
                <a:solidFill>
                  <a:srgbClr val="21295C"/>
                </a:solidFill>
                <a:latin typeface="Arial"/>
              </a:rPr>
              <a:t>.</a:t>
            </a:r>
          </a:p>
        </p:txBody>
      </p:sp>
      <p:sp>
        <p:nvSpPr>
          <p:cNvPr id="18" name="TextBox 17"/>
          <p:cNvSpPr txBox="1"/>
          <p:nvPr/>
        </p:nvSpPr>
        <p:spPr>
          <a:xfrm>
            <a:off x="6278727" y="3785141"/>
            <a:ext cx="5373471" cy="245106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Аудиокниги США, итоги 2025.</a:t>
            </a:r>
            <a:r>
              <a:rPr sz="1500" b="0" i="0">
                <a:solidFill>
                  <a:srgbClr val="21295C"/>
                </a:solidFill>
                <a:latin typeface="Arial"/>
              </a:rPr>
              <a:t> В производстве: каталог </a:t>
            </a:r>
            <a:r>
              <a:rPr sz="1500" b="1" i="0">
                <a:solidFill>
                  <a:srgbClr val="21295C"/>
                </a:solidFill>
                <a:latin typeface="Arial"/>
              </a:rPr>
              <a:t>более 750 000 наименований, плюс 43 % за год</a:t>
            </a:r>
            <a:r>
              <a:rPr sz="1500" b="0" i="0">
                <a:solidFill>
                  <a:srgbClr val="21295C"/>
                </a:solidFill>
                <a:latin typeface="Arial"/>
              </a:rPr>
              <a:t>. В деньгах: </a:t>
            </a:r>
            <a:r>
              <a:rPr sz="1500" b="1" i="0">
                <a:solidFill>
                  <a:srgbClr val="21295C"/>
                </a:solidFill>
                <a:latin typeface="Arial"/>
              </a:rPr>
              <a:t>0,03 % продаж</a:t>
            </a:r>
            <a:r>
              <a:rPr sz="1500" b="0" i="0">
                <a:solidFill>
                  <a:srgbClr val="21295C"/>
                </a:solidFill>
                <a:latin typeface="Arial"/>
              </a:rPr>
              <a:t> из 2,43 млрд долларов поступлений издателей.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Яндекс Музыка, 2026.</a:t>
            </a:r>
            <a:r>
              <a:rPr sz="1500" b="0" i="0">
                <a:solidFill>
                  <a:srgbClr val="21295C"/>
                </a:solidFill>
                <a:latin typeface="Arial"/>
              </a:rPr>
              <a:t> В производстве: </a:t>
            </a:r>
            <a:r>
              <a:rPr sz="1500" b="1" i="0">
                <a:solidFill>
                  <a:srgbClr val="21295C"/>
                </a:solidFill>
                <a:latin typeface="Arial"/>
              </a:rPr>
              <a:t>около 40 % новых треков в месяц</a:t>
            </a:r>
            <a:r>
              <a:rPr sz="1500" b="0" i="0">
                <a:solidFill>
                  <a:srgbClr val="21295C"/>
                </a:solidFill>
                <a:latin typeface="Arial"/>
              </a:rPr>
              <a:t>. Во внимании: </a:t>
            </a:r>
            <a:r>
              <a:rPr sz="1500" b="1" i="0">
                <a:solidFill>
                  <a:srgbClr val="21295C"/>
                </a:solidFill>
                <a:latin typeface="Arial"/>
              </a:rPr>
              <a:t>каждый десятый трек чарта</a:t>
            </a:r>
            <a:r>
              <a:rPr sz="1500" b="0" i="0">
                <a:solidFill>
                  <a:srgbClr val="21295C"/>
                </a:solidFill>
                <a:latin typeface="Arial"/>
              </a:rPr>
              <a:t>. Выборка — 5,7 млн профилей.</a:t>
            </a:r>
          </a:p>
        </p:txBody>
      </p:sp>
      <p:sp>
        <p:nvSpPr>
          <p:cNvPr id="19" name="Rectangle 18"/>
          <p:cNvSpPr/>
          <p:nvPr/>
        </p:nvSpPr>
        <p:spPr>
          <a:xfrm>
            <a:off x="6091275" y="3785141"/>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устройство рынка вместо номеров версий</a:t>
            </a:r>
          </a:p>
        </p:txBody>
      </p:sp>
      <p:sp>
        <p:nvSpPr>
          <p:cNvPr id="4" name="Rounded Rectangle 3"/>
          <p:cNvSpPr/>
          <p:nvPr/>
        </p:nvSpPr>
        <p:spPr>
          <a:xfrm>
            <a:off x="502920" y="1335024"/>
            <a:ext cx="3618890" cy="2212540"/>
          </a:xfrm>
          <a:prstGeom prst="roundRect">
            <a:avLst>
              <a:gd name="adj" fmla="val 137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932846"/>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Stable Diffusion v1 в 2022 и Stable Diffusion 3 в 2024 — одно и то же число операций на обучение</a:t>
            </a:r>
          </a:p>
        </p:txBody>
      </p:sp>
      <p:sp>
        <p:nvSpPr>
          <p:cNvPr id="7" name="TextBox 6"/>
          <p:cNvSpPr txBox="1"/>
          <p:nvPr/>
        </p:nvSpPr>
        <p:spPr>
          <a:xfrm>
            <a:off x="640080" y="2580519"/>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вчетверо-впятеро в год</a:t>
            </a:r>
          </a:p>
        </p:txBody>
      </p:sp>
      <p:sp>
        <p:nvSpPr>
          <p:cNvPr id="8" name="Rounded Rectangle 7"/>
          <p:cNvSpPr/>
          <p:nvPr/>
        </p:nvSpPr>
        <p:spPr>
          <a:xfrm>
            <a:off x="4286402" y="1335024"/>
            <a:ext cx="3618890" cy="2212540"/>
          </a:xfrm>
          <a:prstGeom prst="roundRect">
            <a:avLst>
              <a:gd name="adj" fmla="val 137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ШЁЛ ПРОГРЕСС ВМЕСТО ВЫЧИСЛЕНИЙ</a:t>
            </a:r>
          </a:p>
        </p:txBody>
      </p:sp>
      <p:sp>
        <p:nvSpPr>
          <p:cNvPr id="10" name="TextBox 9"/>
          <p:cNvSpPr txBox="1"/>
          <p:nvPr/>
        </p:nvSpPr>
        <p:spPr>
          <a:xfrm>
            <a:off x="4423562" y="1932846"/>
            <a:ext cx="3344570"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шестнадцать каналов латентного представления вместо четырёх, диффузионный трансформер вместо U-Net, спрямлённый поток, дистилляция с тысячи шагов до четырёх</a:t>
            </a:r>
          </a:p>
        </p:txBody>
      </p:sp>
      <p:sp>
        <p:nvSpPr>
          <p:cNvPr id="11" name="TextBox 10"/>
          <p:cNvSpPr txBox="1"/>
          <p:nvPr/>
        </p:nvSpPr>
        <p:spPr>
          <a:xfrm>
            <a:off x="4423562" y="298791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главный рычаг — токенизатор; размер модели здесь вторичен</a:t>
            </a:r>
          </a:p>
        </p:txBody>
      </p:sp>
      <p:sp>
        <p:nvSpPr>
          <p:cNvPr id="12" name="Rounded Rectangle 11"/>
          <p:cNvSpPr/>
          <p:nvPr/>
        </p:nvSpPr>
        <p:spPr>
          <a:xfrm>
            <a:off x="8069884" y="1335024"/>
            <a:ext cx="3618890" cy="2212540"/>
          </a:xfrm>
          <a:prstGeom prst="roundRect">
            <a:avLst>
              <a:gd name="adj" fmla="val 137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СЛЕДСТВИЕ ДЛЯ ВХОДА НА РЫНОК</a:t>
            </a:r>
          </a:p>
        </p:txBody>
      </p:sp>
      <p:sp>
        <p:nvSpPr>
          <p:cNvPr id="14" name="TextBox 13"/>
          <p:cNvSpPr txBox="1"/>
          <p:nvPr/>
        </p:nvSpPr>
        <p:spPr>
          <a:xfrm>
            <a:off x="8207044" y="1725375"/>
            <a:ext cx="3344570"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обучить модель изображения в 200–400 раз дешевле передовой языковой</a:t>
            </a:r>
          </a:p>
        </p:txBody>
      </p:sp>
      <p:sp>
        <p:nvSpPr>
          <p:cNvPr id="15" name="TextBox 14"/>
          <p:cNvSpPr txBox="1"/>
          <p:nvPr/>
        </p:nvSpPr>
        <p:spPr>
          <a:xfrm>
            <a:off x="8207044" y="218632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каждый её запуск дороже в 40–60 раз: кэша нет и быть не может, расшумление на каждом шаге переписывает все 4096 токенов</a:t>
            </a:r>
          </a:p>
        </p:txBody>
      </p:sp>
      <p:sp>
        <p:nvSpPr>
          <p:cNvPr id="16" name="Rounded Rectangle 15"/>
          <p:cNvSpPr/>
          <p:nvPr/>
        </p:nvSpPr>
        <p:spPr>
          <a:xfrm>
            <a:off x="374904" y="363900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0444"/>
            <a:ext cx="11112703" cy="25057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Номер версии меняется быстрее, чем устройство рынка.</a:t>
            </a:r>
            <a:r>
              <a:rPr sz="1500" b="0" i="0">
                <a:solidFill>
                  <a:srgbClr val="21295C"/>
                </a:solidFill>
                <a:latin typeface="Arial"/>
              </a:rPr>
              <a:t> Решения о внедрении принимают по второму: он держится годами, а номер — недели.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права, мировые модели и размер рынка</a:t>
            </a:r>
          </a:p>
        </p:txBody>
      </p:sp>
      <p:sp>
        <p:nvSpPr>
          <p:cNvPr id="4" name="Rounded Rectangle 3"/>
          <p:cNvSpPr/>
          <p:nvPr/>
        </p:nvSpPr>
        <p:spPr>
          <a:xfrm>
            <a:off x="502920" y="1335024"/>
            <a:ext cx="3618890" cy="2608622"/>
          </a:xfrm>
          <a:prstGeom prst="roundRect">
            <a:avLst>
              <a:gd name="adj" fmla="val 116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СПОР О ПРОИСХОЖДЕНИИ ОБУЧАЮЩИХ ДАННЫХ</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стал условием работы продукта</a:t>
            </a:r>
          </a:p>
        </p:txBody>
      </p:sp>
      <p:sp>
        <p:nvSpPr>
          <p:cNvPr id="7" name="TextBox 6"/>
          <p:cNvSpPr txBox="1"/>
          <p:nvPr/>
        </p:nvSpPr>
        <p:spPr>
          <a:xfrm>
            <a:off x="640080" y="2750268"/>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музыкальные площадки перешли на лицензированный материал: Suno с 09.09.2026, ElevenMusic с 01.04.2026. Там, где правообладатель крупный и организованный, вопрос закрывается лицензией раньше суда</a:t>
            </a:r>
          </a:p>
        </p:txBody>
      </p:sp>
      <p:sp>
        <p:nvSpPr>
          <p:cNvPr id="8" name="Rounded Rectangle 7"/>
          <p:cNvSpPr/>
          <p:nvPr/>
        </p:nvSpPr>
        <p:spPr>
          <a:xfrm>
            <a:off x="4286402" y="1335024"/>
            <a:ext cx="3618890" cy="2608622"/>
          </a:xfrm>
          <a:prstGeom prst="roundRect">
            <a:avLst>
              <a:gd name="adj" fmla="val 116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МИРОВЫЕ МОДЕЛИ — ОТДЕЛЬНАЯ МОДАЛЬНОСТЬ</a:t>
            </a:r>
          </a:p>
        </p:txBody>
      </p:sp>
      <p:sp>
        <p:nvSpPr>
          <p:cNvPr id="10" name="TextBox 9"/>
          <p:cNvSpPr txBox="1"/>
          <p:nvPr/>
        </p:nvSpPr>
        <p:spPr>
          <a:xfrm>
            <a:off x="4423562" y="1932846"/>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720p, 24 кадра в секунду, связность несколько минут против 10–20 секунд у предшественников</a:t>
            </a:r>
          </a:p>
        </p:txBody>
      </p:sp>
      <p:sp>
        <p:nvSpPr>
          <p:cNvPr id="11" name="TextBox 10"/>
          <p:cNvSpPr txBox="1"/>
          <p:nvPr/>
        </p:nvSpPr>
        <p:spPr>
          <a:xfrm>
            <a:off x="4423562" y="2580519"/>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видеомодель порождает запись, мировая модель порождает пространство, в котором можно находиться</a:t>
            </a:r>
          </a:p>
        </p:txBody>
      </p:sp>
      <p:sp>
        <p:nvSpPr>
          <p:cNvPr id="12" name="Rounded Rectangle 11"/>
          <p:cNvSpPr/>
          <p:nvPr/>
        </p:nvSpPr>
        <p:spPr>
          <a:xfrm>
            <a:off x="8069884" y="1335024"/>
            <a:ext cx="3618890" cy="2608622"/>
          </a:xfrm>
          <a:prstGeom prst="roundRect">
            <a:avLst>
              <a:gd name="adj" fmla="val 1168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ПРОГНОЗУ РАЗМЕРА ВЕРИТЬ НЕЛЬЗЯ</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3,16 млрд долларов и 19,2 млрд за один и тот же 2026 год</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шестикратный разброс вызван только определением границ рынка; все четыре оценки согласны лишь в темпе — 14–34 % в год</a:t>
            </a:r>
          </a:p>
        </p:txBody>
      </p:sp>
      <p:sp>
        <p:nvSpPr>
          <p:cNvPr id="16" name="Rounded Rectangle 15"/>
          <p:cNvSpPr/>
          <p:nvPr/>
        </p:nvSpPr>
        <p:spPr>
          <a:xfrm>
            <a:off x="374904" y="403508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26526"/>
            <a:ext cx="11112703" cy="210968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величины, по которым читают направление.</a:t>
            </a:r>
            <a:r>
              <a:rPr sz="1500" b="0" i="0">
                <a:solidFill>
                  <a:srgbClr val="21295C"/>
                </a:solidFill>
                <a:latin typeface="Arial"/>
              </a:rPr>
              <a:t> Ни одна из них не меняется с номером версии: право, класс задачи и граница рынка держатся годами.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КРИТЕРИИ ВЫНОСЯТ В ПИСЬМЕННЫЙ ВИД ДО РАБОТЫ</a:t>
            </a:r>
          </a:p>
        </p:txBody>
      </p:sp>
      <p:sp>
        <p:nvSpPr>
          <p:cNvPr id="6" name="TextBox 5"/>
          <p:cNvSpPr txBox="1"/>
          <p:nvPr/>
        </p:nvSpPr>
        <p:spPr>
          <a:xfrm>
            <a:off x="640080" y="2140317"/>
            <a:ext cx="2398699"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758 консультантов, три условия: без модели, с моделью, с моделью и обучением работе с запросами</a:t>
            </a:r>
          </a:p>
        </p:txBody>
      </p:sp>
      <p:sp>
        <p:nvSpPr>
          <p:cNvPr id="7" name="TextBox 6"/>
          <p:cNvSpPr txBox="1"/>
          <p:nvPr/>
        </p:nvSpPr>
        <p:spPr>
          <a:xfrm>
            <a:off x="640080" y="319538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задачи настоящие рабочие, от творческих до аналитических</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10" name="TextBox 9"/>
          <p:cNvSpPr txBox="1"/>
          <p:nvPr/>
        </p:nvSpPr>
        <p:spPr>
          <a:xfrm>
            <a:off x="3477691"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против работавших без модели — на 12,2 % больше задач и на 25,1 % быстрее, при более высоком качестве</a:t>
            </a:r>
          </a:p>
        </p:txBody>
      </p:sp>
      <p:sp>
        <p:nvSpPr>
          <p:cNvPr id="11" name="TextBox 10"/>
          <p:cNvSpPr txBox="1"/>
          <p:nvPr/>
        </p:nvSpPr>
        <p:spPr>
          <a:xfrm>
            <a:off x="3477691" y="278421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крупный выигрыш по меркам полевых опытов в консультировании</a:t>
            </a:r>
          </a:p>
        </p:txBody>
      </p:sp>
      <p:sp>
        <p:nvSpPr>
          <p:cNvPr id="12" name="Rounded Rectangle 11"/>
          <p:cNvSpPr/>
          <p:nvPr/>
        </p:nvSpPr>
        <p:spPr>
          <a:xfrm>
            <a:off x="6178143"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ОДНОЙ ЗАДАЧЕ ЗА ПРЕДЕЛАМИ КРУГА — ДОЛЯ ВЕРНЫХ РЕШЕНИЙ</a:t>
            </a:r>
          </a:p>
        </p:txBody>
      </p:sp>
      <p:sp>
        <p:nvSpPr>
          <p:cNvPr id="14" name="TextBox 13"/>
          <p:cNvSpPr txBox="1"/>
          <p:nvPr/>
        </p:nvSpPr>
        <p:spPr>
          <a:xfrm>
            <a:off x="6315303" y="2140317"/>
            <a:ext cx="2398699" cy="851372"/>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84,5 % без модели против 60 % и 70 % в двух условиях с ней: на 19 процентных пунктов реже</a:t>
            </a:r>
          </a:p>
        </p:txBody>
      </p:sp>
      <p:sp>
        <p:nvSpPr>
          <p:cNvPr id="15" name="TextBox 14"/>
          <p:cNvSpPr txBox="1"/>
          <p:nvPr/>
        </p:nvSpPr>
        <p:spPr>
          <a:xfrm>
            <a:off x="6315303" y="299169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Задача внешне ничем не отличалась от остальных восемнадцати</a:t>
            </a:r>
          </a:p>
        </p:txBody>
      </p:sp>
      <p:sp>
        <p:nvSpPr>
          <p:cNvPr id="16" name="Rounded Rectangle 15"/>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8" name="TextBox 17"/>
          <p:cNvSpPr txBox="1"/>
          <p:nvPr/>
        </p:nvSpPr>
        <p:spPr>
          <a:xfrm>
            <a:off x="9152915"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границу применимости изнутри задачи не видно — значит, критерии пишутся до начала работы, а результат меряется по секундомеру и по доле верных решений</a:t>
            </a:r>
          </a:p>
        </p:txBody>
      </p:sp>
      <p:sp>
        <p:nvSpPr>
          <p:cNvPr id="19" name="TextBox 18"/>
          <p:cNvSpPr txBox="1"/>
          <p:nvPr/>
        </p:nvSpPr>
        <p:spPr>
          <a:xfrm>
            <a:off x="9152915" y="29841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вред приходит из невидимости границы; качество самого инструмента тут ни при чём</a:t>
            </a:r>
          </a:p>
        </p:txBody>
      </p:sp>
      <p:sp>
        <p:nvSpPr>
          <p:cNvPr id="20" name="Rounded Rectangle 19"/>
          <p:cNvSpPr/>
          <p:nvPr/>
        </p:nvSpPr>
        <p:spPr>
          <a:xfrm>
            <a:off x="374904" y="40652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Вред приходит из невидимости границы, а качество самого инструмента тут ни при чём.</a:t>
            </a:r>
            <a:r>
              <a:rPr sz="1500" b="0" i="0">
                <a:solidFill>
                  <a:srgbClr val="21295C"/>
                </a:solidFill>
                <a:latin typeface="Arial"/>
              </a:rPr>
              <a:t> Задача за пределами круга внешне ничем не отличалась от остальных восемнадцати.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2673019" cy="282741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ВЫДАЧИ ПРИНИМАЕТСЯ В ЗРЕЛОЙ БАЗЕ</a:t>
            </a:r>
          </a:p>
        </p:txBody>
      </p:sp>
      <p:sp>
        <p:nvSpPr>
          <p:cNvPr id="6" name="TextBox 5"/>
          <p:cNvSpPr txBox="1"/>
          <p:nvPr/>
        </p:nvSpPr>
        <p:spPr>
          <a:xfrm>
            <a:off x="640080" y="2140317"/>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меньше 44 % сгенерированного</a:t>
            </a:r>
          </a:p>
        </p:txBody>
      </p:sp>
      <p:sp>
        <p:nvSpPr>
          <p:cNvPr id="7" name="TextBox 6"/>
          <p:cNvSpPr txBox="1"/>
          <p:nvPr/>
        </p:nvSpPr>
        <p:spPr>
          <a:xfrm>
            <a:off x="640080" y="285589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около 9 % рабочего времени уходит на чтение и чистку выдачи</a:t>
            </a:r>
          </a:p>
        </p:txBody>
      </p:sp>
      <p:sp>
        <p:nvSpPr>
          <p:cNvPr id="8" name="Rounded Rectangle 7"/>
          <p:cNvSpPr/>
          <p:nvPr/>
        </p:nvSpPr>
        <p:spPr>
          <a:xfrm>
            <a:off x="3340531" y="1335024"/>
            <a:ext cx="2673019" cy="2827410"/>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10" name="TextBox 9"/>
          <p:cNvSpPr txBox="1"/>
          <p:nvPr/>
        </p:nvSpPr>
        <p:spPr>
          <a:xfrm>
            <a:off x="3477691" y="1932846"/>
            <a:ext cx="2398699" cy="630698"/>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39 процентных пунктов самообмана</a:t>
            </a:r>
          </a:p>
        </p:txBody>
      </p:sp>
      <p:sp>
        <p:nvSpPr>
          <p:cNvPr id="11" name="TextBox 10"/>
          <p:cNvSpPr txBox="1"/>
          <p:nvPr/>
        </p:nvSpPr>
        <p:spPr>
          <a:xfrm>
            <a:off x="3477691" y="256354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12" name="Rounded Rectangle 11"/>
          <p:cNvSpPr/>
          <p:nvPr/>
        </p:nvSpPr>
        <p:spPr>
          <a:xfrm>
            <a:off x="6178143" y="1335024"/>
            <a:ext cx="2673019" cy="282741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ОПЫТ НЕ ДОКАЗЫВАЕТ — ПЕРЕЧИСЛЕНО САМИМИ АВТОРАМИ</a:t>
            </a:r>
          </a:p>
        </p:txBody>
      </p:sp>
      <p:sp>
        <p:nvSpPr>
          <p:cNvPr id="14" name="TextBox 13"/>
          <p:cNvSpPr txBox="1"/>
          <p:nvPr/>
        </p:nvSpPr>
        <p:spPr>
          <a:xfrm>
            <a:off x="6315303" y="2140317"/>
            <a:ext cx="2398699" cy="1462469"/>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что модели не ускоряют большинство разработчиков; что вывод переносится за пределы опытных разработчиков открытого кода; что через год будет так же</a:t>
            </a:r>
          </a:p>
        </p:txBody>
      </p:sp>
      <p:sp>
        <p:nvSpPr>
          <p:cNvPr id="15" name="TextBox 14"/>
          <p:cNvSpPr txBox="1"/>
          <p:nvPr/>
        </p:nvSpPr>
        <p:spPr>
          <a:xfrm>
            <a:off x="6315303" y="360278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оговорку стоит произносить вместе с числом</a:t>
            </a:r>
          </a:p>
        </p:txBody>
      </p:sp>
      <p:sp>
        <p:nvSpPr>
          <p:cNvPr id="16" name="Rounded Rectangle 15"/>
          <p:cNvSpPr/>
          <p:nvPr/>
        </p:nvSpPr>
        <p:spPr>
          <a:xfrm>
            <a:off x="9015755" y="1335024"/>
            <a:ext cx="2673019" cy="282741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30–50 своих типовых задач и секундомер</a:t>
            </a:r>
          </a:p>
        </p:txBody>
      </p:sp>
      <p:sp>
        <p:nvSpPr>
          <p:cNvPr id="19" name="TextBox 18"/>
          <p:cNvSpPr txBox="1"/>
          <p:nvPr/>
        </p:nvSpPr>
        <p:spPr>
          <a:xfrm>
            <a:off x="9152915" y="25465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20" name="Rounded Rectangle 19"/>
          <p:cNvSpPr/>
          <p:nvPr/>
        </p:nvSpPr>
        <p:spPr>
          <a:xfrm>
            <a:off x="374904" y="4253874"/>
            <a:ext cx="11441887" cy="1982333"/>
          </a:xfrm>
          <a:prstGeom prst="roundRect">
            <a:avLst>
              <a:gd name="adj" fmla="val 153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345314"/>
            <a:ext cx="11112703" cy="189089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Задача с нуля. Пэн и соавт., февраль 2023.</a:t>
            </a:r>
            <a:r>
              <a:rPr sz="1400" b="0" i="0">
                <a:solidFill>
                  <a:srgbClr val="21295C"/>
                </a:solidFill>
                <a:latin typeface="Arial"/>
              </a:rPr>
              <a:t> 95 профессиональных разработчиков, один HTTP-сервер на JavaScript как можно быстрее. Время на задачу — </a:t>
            </a:r>
            <a:r>
              <a:rPr sz="1400" b="1" i="0">
                <a:solidFill>
                  <a:srgbClr val="21295C"/>
                </a:solidFill>
                <a:latin typeface="Arial"/>
              </a:rPr>
              <a:t>на 55,8 % меньше</a:t>
            </a:r>
            <a:r>
              <a:rPr sz="1400" b="0" i="0">
                <a:solidFill>
                  <a:srgbClr val="21295C"/>
                </a:solidFill>
                <a:latin typeface="Arial"/>
              </a:rPr>
              <a:t>: 71 минута против 161.</a:t>
            </a:r>
          </a:p>
          <a:p>
            <a:pPr algn="l">
              <a:lnSpc>
                <a:spcPct val="126000"/>
              </a:lnSpc>
              <a:spcBef>
                <a:spcPts val="700"/>
              </a:spcBef>
            </a:pPr>
            <a:r>
              <a:rPr sz="1400" b="0" i="0">
                <a:solidFill>
                  <a:srgbClr val="21295C"/>
                </a:solidFill>
                <a:latin typeface="Arial"/>
              </a:rPr>
              <a:t/>
            </a:r>
            <a:r>
              <a:rPr sz="1400" b="1" i="0">
                <a:solidFill>
                  <a:srgbClr val="21295C"/>
                </a:solidFill>
                <a:latin typeface="Arial"/>
              </a:rPr>
              <a:t>Та же работа в зрелой кодовой базе. METR, 10 июля 2025.</a:t>
            </a:r>
            <a:r>
              <a:rPr sz="1400" b="0" i="0">
                <a:solidFill>
                  <a:srgbClr val="21295C"/>
                </a:solidFill>
                <a:latin typeface="Arial"/>
              </a:rPr>
              <a:t> 16 опытных разработчиков, </a:t>
            </a:r>
            <a:r>
              <a:rPr sz="1400" b="1" i="0">
                <a:solidFill>
                  <a:srgbClr val="21295C"/>
                </a:solidFill>
                <a:latin typeface="Arial"/>
              </a:rPr>
              <a:t>246 настоящих задач</a:t>
            </a:r>
            <a:r>
              <a:rPr sz="1400" b="0" i="0">
                <a:solidFill>
                  <a:srgbClr val="21295C"/>
                </a:solidFill>
                <a:latin typeface="Arial"/>
              </a:rPr>
              <a:t> в собственных репозиториях свыше миллиона строк. Время на задачу — </a:t>
            </a:r>
            <a:r>
              <a:rPr sz="1400" b="1" i="0">
                <a:solidFill>
                  <a:srgbClr val="21295C"/>
                </a:solidFill>
                <a:latin typeface="Arial"/>
              </a:rPr>
              <a:t>на 19 % больше</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1" i="0">
                <a:solidFill>
                  <a:srgbClr val="21295C"/>
                </a:solidFill>
                <a:latin typeface="Arial"/>
              </a:rPr>
              <a:t>Разницу создаёт база, в которой работают:</a:t>
            </a:r>
            <a:r>
              <a:rPr sz="1400" b="0" i="0">
                <a:solidFill>
                  <a:srgbClr val="21295C"/>
                </a:solidFill>
                <a:latin typeface="Arial"/>
              </a:rPr>
              <a:t> пустой проект против кодовой базы с историей решений и неявными договорённостями.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3618890" cy="2190850"/>
          </a:xfrm>
          <a:prstGeom prst="roundRect">
            <a:avLst>
              <a:gd name="adj" fmla="val 139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ОСЬ ВЕЧЕРА, ПРОВЕРЕННАЯ В КОНТРОЛИРУЕМОМ ОПЫТЕ</a:t>
            </a:r>
          </a:p>
        </p:txBody>
      </p:sp>
      <p:sp>
        <p:nvSpPr>
          <p:cNvPr id="6" name="TextBox 5"/>
          <p:cNvSpPr txBox="1"/>
          <p:nvPr/>
        </p:nvSpPr>
        <p:spPr>
          <a:xfrm>
            <a:off x="640080" y="1932846"/>
            <a:ext cx="3344570"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453 профессионала: время на задание меньше на 40 %, качество выше на 18 %</a:t>
            </a:r>
          </a:p>
        </p:txBody>
      </p:sp>
      <p:sp>
        <p:nvSpPr>
          <p:cNvPr id="7" name="TextBox 6"/>
          <p:cNvSpPr txBox="1"/>
          <p:nvPr/>
        </p:nvSpPr>
        <p:spPr>
          <a:xfrm>
            <a:off x="640080" y="239379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предрегистрированный рандомизированный опыт на типовых рабочих текстах; журнальная версия</a:t>
            </a:r>
          </a:p>
        </p:txBody>
      </p:sp>
      <p:sp>
        <p:nvSpPr>
          <p:cNvPr id="8" name="Rounded Rectangle 7"/>
          <p:cNvSpPr/>
          <p:nvPr/>
        </p:nvSpPr>
        <p:spPr>
          <a:xfrm>
            <a:off x="4286402" y="1335024"/>
            <a:ext cx="3618890" cy="2190850"/>
          </a:xfrm>
          <a:prstGeom prst="roundRect">
            <a:avLst>
              <a:gd name="adj" fmla="val 1391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ПЕРЕСТРОИЛОСЬ ВНУТРИ РАБОТЫ</a:t>
            </a:r>
          </a:p>
        </p:txBody>
      </p:sp>
      <p:sp>
        <p:nvSpPr>
          <p:cNvPr id="10" name="TextBox 9"/>
          <p:cNvSpPr txBox="1"/>
          <p:nvPr/>
        </p:nvSpPr>
        <p:spPr>
          <a:xfrm>
            <a:off x="4423562" y="1725375"/>
            <a:ext cx="3344570"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черновик ужался более чем вдвое, правка выросла более чем вдвое</a:t>
            </a:r>
          </a:p>
        </p:txBody>
      </p:sp>
      <p:sp>
        <p:nvSpPr>
          <p:cNvPr id="11" name="TextBox 10"/>
          <p:cNvSpPr txBox="1"/>
          <p:nvPr/>
        </p:nvSpPr>
        <p:spPr>
          <a:xfrm>
            <a:off x="4423562" y="275498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вмешательства — четверть времени на замысел, половина на черновик, четверть на правку. Рабочая версия MIT, 444 участника</a:t>
            </a:r>
          </a:p>
        </p:txBody>
      </p:sp>
      <p:sp>
        <p:nvSpPr>
          <p:cNvPr id="12" name="Rounded Rectangle 11"/>
          <p:cNvSpPr/>
          <p:nvPr/>
        </p:nvSpPr>
        <p:spPr>
          <a:xfrm>
            <a:off x="8069884" y="1335024"/>
            <a:ext cx="3618890" cy="2190850"/>
          </a:xfrm>
          <a:prstGeom prst="roundRect">
            <a:avLst>
              <a:gd name="adj" fmla="val 139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ПОЛЕВОЙ ОПЫТ НА ТВОРЧЕСКОЙ ЗАДАЧЕ</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2 234 участника, 11 024 рекламных объявления, проверка на реальных показах</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поведением настоящей аудитории, без судейских оценок</a:t>
            </a:r>
          </a:p>
        </p:txBody>
      </p:sp>
      <p:sp>
        <p:nvSpPr>
          <p:cNvPr id="16" name="Rounded Rectangle 15"/>
          <p:cNvSpPr/>
          <p:nvPr/>
        </p:nvSpPr>
        <p:spPr>
          <a:xfrm>
            <a:off x="502920" y="3690466"/>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82762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a:t>
            </a:r>
          </a:p>
        </p:txBody>
      </p:sp>
      <p:sp>
        <p:nvSpPr>
          <p:cNvPr id="18" name="TextBox 17"/>
          <p:cNvSpPr txBox="1"/>
          <p:nvPr/>
        </p:nvSpPr>
        <p:spPr>
          <a:xfrm>
            <a:off x="640080" y="4080817"/>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19" name="TextBox 18"/>
          <p:cNvSpPr txBox="1"/>
          <p:nvPr/>
        </p:nvSpPr>
        <p:spPr>
          <a:xfrm>
            <a:off x="640080" y="489824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20" name="Rounded Rectangle 19"/>
          <p:cNvSpPr/>
          <p:nvPr/>
        </p:nvSpPr>
        <p:spPr>
          <a:xfrm>
            <a:off x="6178143" y="3690466"/>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315303" y="382762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РАЗОШЛОСЬ ПО ЧАСТЯМ РАБОТЫ</a:t>
            </a:r>
          </a:p>
        </p:txBody>
      </p:sp>
      <p:sp>
        <p:nvSpPr>
          <p:cNvPr id="22" name="TextBox 21"/>
          <p:cNvSpPr txBox="1"/>
          <p:nvPr/>
        </p:nvSpPr>
        <p:spPr>
          <a:xfrm>
            <a:off x="6315303" y="4080817"/>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текстовая часть у команд с моделью выигрывает, изобразительная проигрывает</a:t>
            </a:r>
          </a:p>
        </p:txBody>
      </p:sp>
      <p:sp>
        <p:nvSpPr>
          <p:cNvPr id="23" name="TextBox 22"/>
          <p:cNvSpPr txBox="1"/>
          <p:nvPr/>
        </p:nvSpPr>
        <p:spPr>
          <a:xfrm>
            <a:off x="6315303" y="5288663"/>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зазубренная граница, увиденная внутри одной задачи</a:t>
            </a:r>
          </a:p>
        </p:txBody>
      </p:sp>
      <p:sp>
        <p:nvSpPr>
          <p:cNvPr id="24" name="Rounded Rectangle 23"/>
          <p:cNvSpPr/>
          <p:nvPr/>
        </p:nvSpPr>
        <p:spPr>
          <a:xfrm>
            <a:off x="374904" y="5728506"/>
            <a:ext cx="11441887" cy="50770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819946"/>
            <a:ext cx="11112703" cy="41626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p>
        </p:txBody>
      </p:sp>
      <p:sp>
        <p:nvSpPr>
          <p:cNvPr id="26" name="Rectangle 25"/>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Когда разброс схлопывается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человек ДЕЛЕГИРУЕТ работу модели целиком и общается с ней как с собеседником</a:t>
            </a:r>
          </a:p>
          <a:p>
            <a:pPr algn="l">
              <a:lnSpc>
                <a:spcPct val="126000"/>
              </a:lnSpc>
            </a:pPr>
            <a:r>
              <a:rPr sz="1450" b="0" i="0">
                <a:solidFill>
                  <a:srgbClr val="21295C"/>
                </a:solidFill>
                <a:latin typeface="Arial"/>
              </a:rPr>
              <a:t>• работы выходят заметно более похожими друг на друга</a:t>
            </a:r>
          </a:p>
          <a:p>
            <a:pPr algn="l">
              <a:lnSpc>
                <a:spcPct val="126000"/>
              </a:lnSpc>
            </a:pPr>
            <a:r>
              <a:rPr sz="145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a:p>
            <a:pPr algn="l">
              <a:lnSpc>
                <a:spcPct val="126000"/>
              </a:lnSpc>
            </a:pPr>
            <a:r>
              <a:rPr sz="1450" b="0" i="0">
                <a:solidFill>
                  <a:srgbClr val="21295C"/>
                </a:solidFill>
                <a:latin typeface="Arial"/>
              </a:rPr>
              <a:t>• если ценность работы в отклонении от центра ожиданий — этот режим её уничтожает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Когда не схлопывается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ЗАДАЧНО-ОРИЕНТИРОВАННОЕ взаимодействие: человек ставит задачу, разбирает результат, ставит следующую</a:t>
            </a:r>
          </a:p>
          <a:p>
            <a:pPr algn="l">
              <a:lnSpc>
                <a:spcPct val="126000"/>
              </a:lnSpc>
            </a:pPr>
            <a:r>
              <a:rPr sz="1450" b="0" i="0">
                <a:solidFill>
                  <a:srgbClr val="21295C"/>
                </a:solidFill>
                <a:latin typeface="Arial"/>
              </a:rPr>
              <a:t>• обрушения разнообразия в опыте не наблюдается вовсе</a:t>
            </a:r>
          </a:p>
          <a:p>
            <a:pPr algn="l">
              <a:lnSpc>
                <a:spcPct val="126000"/>
              </a:lnSpc>
            </a:pPr>
            <a:r>
              <a:rPr sz="1450" b="0" i="0">
                <a:solidFill>
                  <a:srgbClr val="21295C"/>
                </a:solidFill>
                <a:latin typeface="Arial"/>
              </a:rPr>
              <a:t>• при этом выше и производительность, и качество — по всем измерениям сразу</a:t>
            </a:r>
          </a:p>
          <a:p>
            <a:pPr algn="l">
              <a:lnSpc>
                <a:spcPct val="126000"/>
              </a:lnSpc>
            </a:pPr>
            <a:r>
              <a:rPr sz="1450" b="0" i="0">
                <a:solidFill>
                  <a:srgbClr val="21295C"/>
                </a:solidFill>
                <a:latin typeface="Arial"/>
              </a:rPr>
              <a:t>• режим выбирает человек, и это единственный рычаг на кадре</a:t>
            </a:r>
          </a:p>
        </p:txBody>
      </p:sp>
      <p:sp>
        <p:nvSpPr>
          <p:cNvPr id="10" name="Rounded Rectangle 9"/>
          <p:cNvSpPr/>
          <p:nvPr/>
        </p:nvSpPr>
        <p:spPr>
          <a:xfrm>
            <a:off x="374904" y="453542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p>
        </p:txBody>
      </p:sp>
      <p:sp>
        <p:nvSpPr>
          <p:cNvPr id="12" name="Rectangle 1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2105497" cy="3904374"/>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вечер; плюс один правовой разбор вне этого знаменателя</a:t>
            </a:r>
          </a:p>
        </p:txBody>
      </p:sp>
      <p:sp>
        <p:nvSpPr>
          <p:cNvPr id="8" name="Rounded Rectangle 7"/>
          <p:cNvSpPr/>
          <p:nvPr/>
        </p:nvSpPr>
        <p:spPr>
          <a:xfrm>
            <a:off x="2773009"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ПОСЧИТАН ОТ КЛАССИЧЕСКОГО РЕЖИМА</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a:t>
            </a:r>
          </a:p>
        </p:txBody>
      </p:sp>
      <p:sp>
        <p:nvSpPr>
          <p:cNvPr id="11" name="TextBox 10"/>
          <p:cNvSpPr txBox="1"/>
          <p:nvPr/>
        </p:nvSpPr>
        <p:spPr>
          <a:xfrm>
            <a:off x="2910169" y="2567316"/>
            <a:ext cx="1831177"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стороны измерены в одной единице: цена изображения · микродрамы · ролик к финалу НБА · рождественская кампания · редакция, выпускавшая машинные статьи · российские издания · дубляж</a:t>
            </a:r>
          </a:p>
        </p:txBody>
      </p:sp>
      <p:sp>
        <p:nvSpPr>
          <p:cNvPr id="12" name="Rounded Rectangle 11"/>
          <p:cNvSpPr/>
          <p:nvPr/>
        </p:nvSpPr>
        <p:spPr>
          <a:xfrm>
            <a:off x="5043098"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БАЗЫ СО СТОРОНЫ КЛАССИКИ НЕТ, И ЭТО НАЗВАНО ВСЛУХ</a:t>
            </a:r>
          </a:p>
        </p:txBody>
      </p:sp>
      <p:sp>
        <p:nvSpPr>
          <p:cNvPr id="14" name="TextBox 13"/>
          <p:cNvSpPr txBox="1"/>
          <p:nvPr/>
        </p:nvSpPr>
        <p:spPr>
          <a:xfrm>
            <a:off x="5180258"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a:t>
            </a:r>
          </a:p>
        </p:txBody>
      </p:sp>
      <p:sp>
        <p:nvSpPr>
          <p:cNvPr id="15" name="TextBox 14"/>
          <p:cNvSpPr txBox="1"/>
          <p:nvPr/>
        </p:nvSpPr>
        <p:spPr>
          <a:xfrm>
            <a:off x="5180258" y="2567316"/>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стоил тот же баннер у штатного дизайнера — в публикации не сказано; сколько часов записи требует банкирование голоса по протоколу клиники — не назвал никто; стоимости классической доработки под купол в источниках нет</a:t>
            </a:r>
          </a:p>
        </p:txBody>
      </p:sp>
      <p:sp>
        <p:nvSpPr>
          <p:cNvPr id="16" name="Rounded Rectangle 15"/>
          <p:cNvSpPr/>
          <p:nvPr/>
        </p:nvSpPr>
        <p:spPr>
          <a:xfrm>
            <a:off x="7313188"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КЛАССИЧЕСКОГО РЕЖИМА НЕ СУЩЕСТВУЕТ ВОВСЕ</a:t>
            </a:r>
          </a:p>
        </p:txBody>
      </p:sp>
      <p:sp>
        <p:nvSpPr>
          <p:cNvPr id="18" name="TextBox 17"/>
          <p:cNvSpPr txBox="1"/>
          <p:nvPr/>
        </p:nvSpPr>
        <p:spPr>
          <a:xfrm>
            <a:off x="7450348"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a:t>
            </a:r>
          </a:p>
        </p:txBody>
      </p:sp>
      <p:sp>
        <p:nvSpPr>
          <p:cNvPr id="19" name="TextBox 18"/>
          <p:cNvSpPr txBox="1"/>
          <p:nvPr/>
        </p:nvSpPr>
        <p:spPr>
          <a:xfrm>
            <a:off x="7450348" y="2567316"/>
            <a:ext cx="1831177"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это свойство самой задачи: перегородка сделана оптимизацией без обученной модели; голос актёра в классическом режиме либо отсутствует, либо чужой; у свитков альтернатива — «не прочитать никогда»</a:t>
            </a:r>
          </a:p>
        </p:txBody>
      </p:sp>
      <p:sp>
        <p:nvSpPr>
          <p:cNvPr id="20" name="Rounded Rectangle 19"/>
          <p:cNvSpPr/>
          <p:nvPr/>
        </p:nvSpPr>
        <p:spPr>
          <a:xfrm>
            <a:off x="9583277"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СЛОЖЕНИЕ</a:t>
            </a:r>
          </a:p>
        </p:txBody>
      </p:sp>
      <p:sp>
        <p:nvSpPr>
          <p:cNvPr id="22" name="TextBox 21"/>
          <p:cNvSpPr txBox="1"/>
          <p:nvPr/>
        </p:nvSpPr>
        <p:spPr>
          <a:xfrm>
            <a:off x="9720437"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+ 3 + 3 = 13</a:t>
            </a:r>
          </a:p>
        </p:txBody>
      </p:sp>
      <p:sp>
        <p:nvSpPr>
          <p:cNvPr id="23" name="TextBox 22"/>
          <p:cNvSpPr txBox="1"/>
          <p:nvPr/>
        </p:nvSpPr>
        <p:spPr>
          <a:xfrm>
            <a:off x="9720437" y="2542797"/>
            <a:ext cx="1831177"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сходится</a:t>
            </a:r>
          </a:p>
        </p:txBody>
      </p:sp>
      <p:sp>
        <p:nvSpPr>
          <p:cNvPr id="24" name="Rounded Rectangle 23"/>
          <p:cNvSpPr/>
          <p:nvPr/>
        </p:nvSpPr>
        <p:spPr>
          <a:xfrm>
            <a:off x="374904" y="533083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22278"/>
            <a:ext cx="11112703" cy="81392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Ноль — удобная база:</a:t>
            </a:r>
            <a:r>
              <a:rPr sz="1500" b="0" i="0">
                <a:solidFill>
                  <a:srgbClr val="21295C"/>
                </a:solidFill>
                <a:latin typeface="Arial"/>
              </a:rPr>
              <a:t> он всегда даёт впечатляющее число и всегда неверен, потому что до модели работу кто-то делал. Поэтому счёт ведётся от классического режима.</a:t>
            </a:r>
          </a:p>
        </p:txBody>
      </p:sp>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ounded Rectangle 3"/>
          <p:cNvSpPr/>
          <p:nvPr/>
        </p:nvSpPr>
        <p:spPr>
          <a:xfrm>
            <a:off x="502920"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ШЕСТЬДЕСЯТ ЛЕТ, СЕМЬ УДЕШЕВЛЕНИЙ</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каждый раз исчезала операция посредничества</a:t>
            </a:r>
          </a:p>
        </p:txBody>
      </p:sp>
      <p:sp>
        <p:nvSpPr>
          <p:cNvPr id="7" name="TextBox 6"/>
          <p:cNvSpPr txBox="1"/>
          <p:nvPr/>
        </p:nvSpPr>
        <p:spPr>
          <a:xfrm>
            <a:off x="640080" y="293322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обводка тушью, допечатный цех, физическая склейка плёнки, дубль ради одной ноты, заказная съёмка под каталог, ручная анимация лица, экспедиция за фоном</a:t>
            </a:r>
          </a:p>
        </p:txBody>
      </p:sp>
      <p:sp>
        <p:nvSpPr>
          <p:cNvPr id="8" name="Rounded Rectangle 7"/>
          <p:cNvSpPr/>
          <p:nvPr/>
        </p:nvSpPr>
        <p:spPr>
          <a:xfrm>
            <a:off x="4286402" y="1335024"/>
            <a:ext cx="3618890"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 ГОД</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подешевело другое звено — ошибочная проба</a:t>
            </a:r>
          </a:p>
        </p:txBody>
      </p:sp>
      <p:sp>
        <p:nvSpPr>
          <p:cNvPr id="11" name="TextBox 10"/>
          <p:cNvSpPr txBox="1"/>
          <p:nvPr/>
        </p:nvSpPr>
        <p:spPr>
          <a:xfrm>
            <a:off x="4423562"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приближение замысла стало стоить доли цента, и весь выигрыш индустрии берётся отсюда</a:t>
            </a:r>
          </a:p>
        </p:txBody>
      </p:sp>
      <p:sp>
        <p:nvSpPr>
          <p:cNvPr id="12" name="Rounded Rectangle 11"/>
          <p:cNvSpPr/>
          <p:nvPr/>
        </p:nvSpPr>
        <p:spPr>
          <a:xfrm>
            <a:off x="8069884"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СЛЕДУЕТ</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сделать 70 000 вариантов и выбрать один стало дешевле, чем сделать один и попасть</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поэтому исполнение перестроилось в последнюю очередь, а в первую — отбор</a:t>
            </a:r>
          </a:p>
        </p:txBody>
      </p:sp>
      <p:sp>
        <p:nvSpPr>
          <p:cNvPr id="16" name="Rounded Rectangle 15"/>
          <p:cNvSpPr/>
          <p:nvPr/>
        </p:nvSpPr>
        <p:spPr>
          <a:xfrm>
            <a:off x="502920" y="4098234"/>
            <a:ext cx="5437479" cy="2137973"/>
          </a:xfrm>
          <a:prstGeom prst="roundRect">
            <a:avLst>
              <a:gd name="adj" fmla="val 1425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5368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Выиграли те, кто научился выбирать</a:t>
            </a:r>
          </a:p>
        </p:txBody>
      </p:sp>
      <p:sp>
        <p:nvSpPr>
          <p:cNvPr id="18" name="TextBox 17"/>
          <p:cNvSpPr txBox="1"/>
          <p:nvPr/>
        </p:nvSpPr>
        <p:spPr>
          <a:xfrm>
            <a:off x="667512" y="4609861"/>
            <a:ext cx="5108295" cy="14708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105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1050" b="0" i="0">
                <a:solidFill>
                  <a:srgbClr val="21295C"/>
                </a:solidFill>
                <a:latin typeface="Arial"/>
              </a:rPr>
              <a:t>• отрасль микродрам переходит на новый способ производства за один год</a:t>
            </a:r>
          </a:p>
          <a:p>
            <a:pPr algn="l">
              <a:lnSpc>
                <a:spcPct val="126000"/>
              </a:lnSpc>
            </a:pPr>
            <a:r>
              <a:rPr sz="105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1050" b="0" i="0">
                <a:solidFill>
                  <a:srgbClr val="21295C"/>
                </a:solidFill>
                <a:latin typeface="Arial"/>
              </a:rPr>
              <a:t>• свиток, который нельзя было развернуть, прочитан целиком</a:t>
            </a:r>
          </a:p>
        </p:txBody>
      </p:sp>
      <p:sp>
        <p:nvSpPr>
          <p:cNvPr id="19" name="Rounded Rectangle 18"/>
          <p:cNvSpPr/>
          <p:nvPr/>
        </p:nvSpPr>
        <p:spPr>
          <a:xfrm>
            <a:off x="6251295" y="4098234"/>
            <a:ext cx="5437479" cy="2137973"/>
          </a:xfrm>
          <a:prstGeom prst="roundRect">
            <a:avLst>
              <a:gd name="adj" fmla="val 14256"/>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5368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Платят те, кого раньше узнавали бесплатно</a:t>
            </a:r>
          </a:p>
        </p:txBody>
      </p:sp>
      <p:sp>
        <p:nvSpPr>
          <p:cNvPr id="21" name="TextBox 20"/>
          <p:cNvSpPr txBox="1"/>
          <p:nvPr/>
        </p:nvSpPr>
        <p:spPr>
          <a:xfrm>
            <a:off x="6415887" y="4609861"/>
            <a:ext cx="5108295" cy="14708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голос, лицо, подпись и манера перестали подтверждать себя сами</a:t>
            </a:r>
          </a:p>
          <a:p>
            <a:pPr algn="l">
              <a:lnSpc>
                <a:spcPct val="126000"/>
              </a:lnSpc>
            </a:pPr>
            <a:r>
              <a:rPr sz="1050" b="0" i="0">
                <a:solidFill>
                  <a:srgbClr val="21295C"/>
                </a:solidFill>
                <a:latin typeface="Arial"/>
              </a:rPr>
              <a:t>• подтверждение стало стоить денег и труда проверяющего</a:t>
            </a:r>
          </a:p>
          <a:p>
            <a:pPr algn="l">
              <a:lnSpc>
                <a:spcPct val="126000"/>
              </a:lnSpc>
            </a:pPr>
            <a:r>
              <a:rPr sz="105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105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1050" b="0" i="0">
                <a:solidFill>
                  <a:srgbClr val="21295C"/>
                </a:solidFill>
                <a:latin typeface="Arial"/>
              </a:rPr>
              <a:t>• счёт за дешёвую ошибку выставлен, и выставлен не всем поровну</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725375"/>
            <a:ext cx="337687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2576747"/>
            <a:ext cx="337687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502920" y="3512229"/>
            <a:ext cx="365119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49389"/>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640080" y="3902581"/>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29580"/>
            <a:ext cx="337687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и это хорошая новость:</a:t>
            </a:r>
            <a:r>
              <a:rPr sz="1200" b="0" i="0">
                <a:solidFill>
                  <a:srgbClr val="21295C"/>
                </a:solidFill>
                <a:latin typeface="Arial"/>
              </a:rPr>
              <a:t> работа переехала на шаг, который не подешевел, и шаг этот называется отбором.</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