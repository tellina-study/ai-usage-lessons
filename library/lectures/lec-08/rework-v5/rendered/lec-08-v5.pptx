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мы разберём её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выстроен он по цене единицы выхода. Неподвижное</a:t>
            </a:r>
          </a:p>
          <a:p>
            <a:r>
              <a:t>изображение идёт первым, потому что его единица самая дешёвая из всех на два-три порядка:</a:t>
            </a:r>
          </a:p>
          <a:p>
            <a:r>
              <a:t>практика там самая зрелая, числа есть по обе стороны счёта, и именно на этой модальности</a:t>
            </a:r>
          </a:p>
          <a:p>
            <a:r>
              <a:t>уместно разобрать устройство метода на той глубине, которой он требует. Дальше цена единицы</a:t>
            </a:r>
          </a:p>
          <a:p>
            <a:r>
              <a:t>растёт по разделам на порядки, и вместе с ней растёт доля задач, которые модель не закрывает. К</a:t>
            </a:r>
          </a:p>
          <a:p>
            <a:r>
              <a:t>трёхмерной сцене мы придём туда, где устройство отличное, а случая с посчитанными обеими</a:t>
            </a:r>
          </a:p>
          <a:p>
            <a:r>
              <a:t>сторонами в открытых источниках нет ни одного, — и это будет сказано вслух, а не замазано</a:t>
            </a:r>
          </a:p>
          <a:p>
            <a:r>
              <a:t>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 замыслом</a:t>
            </a:r>
          </a:p>
          <a:p>
            <a:r>
              <a:t>и носителем. Ксерография перенесла рисунок напрямую, и штат фильма составил примерно половину от</a:t>
            </a:r>
          </a:p>
          <a:p>
            <a:r>
              <a:t>«Спящей красавицы» 1959 года при вдвое меньших стоимости и сроке. Одна деталь здесь говорит о</a:t>
            </a:r>
          </a:p>
          <a:p>
            <a:r>
              <a:t>природе таких переходов больше, чем сами числа: сюжет про девяносто девять пятнистых щенков</a:t>
            </a:r>
          </a:p>
          <a:p>
            <a:r>
              <a:t>выбрали потому, что новый способ сделал его выполнимым — вручную отрисовать все пятна было</a:t>
            </a:r>
          </a:p>
          <a:p>
            <a:r>
              <a:t>нереально. Инструмент определил содержание. И тут же уехало вправо: узнаваемое неряшливое</a:t>
            </a:r>
          </a:p>
          <a:p>
            <a:r>
              <a:t>начертание линии шестидесятых, контур печатался со всеми карандашными шероховатостями, и Уолт</a:t>
            </a:r>
          </a:p>
          <a:p>
            <a:r>
              <a:t>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из-за урока, который переносится на сегодня без единой</a:t>
            </a:r>
          </a:p>
          <a:p>
            <a:r>
              <a:t>поправки. Алгоритм вырос из обработки сейсмических данных при поиске нефти, первый год применялся</a:t>
            </a:r>
          </a:p>
          <a:p>
            <a:r>
              <a:t>как точечная заплатка, а в 1998-м запись Шер «Believe» вывела экстремальные настройки в</a:t>
            </a:r>
          </a:p>
          <a:p>
            <a:r>
              <a:t>художественный приём. Инструмент, сделанный ради исправления брака, за один год стал источником</a:t>
            </a:r>
          </a:p>
          <a:p>
            <a:r>
              <a:t>нового звучания — и разговор «это обман слушателя» шёл дословно теми же словами, какими сегодня</a:t>
            </a:r>
          </a:p>
          <a:p>
            <a:r>
              <a:t>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выросла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Единица обеих сторон — именно готовая минута, а не час</a:t>
            </a:r>
          </a:p>
          <a:p>
            <a:r>
              <a:t>студийного времени: часовые ставки звукозаписи в эту бухгалтерию не складываются, и смешивать</a:t>
            </a:r>
          </a:p>
          <a:p>
            <a:r>
              <a:t>их нельзя.</a:t>
            </a:r>
          </a:p>
          <a:p>
            <a:r>
              <a:t/>
            </a:r>
          </a:p>
          <a:p>
            <a:r>
              <a:t>Выпуск микродрамы — это уже целый продукт, и масштаб соответствующий. Короткий вертикальный</a:t>
            </a:r>
          </a:p>
          <a:p>
            <a:r>
              <a:t>сериальный выпуск обычным производством в Китае стоил свыше миллиона юаней, около ста тридцати</a:t>
            </a:r>
          </a:p>
          <a:p>
            <a:r>
              <a:t>семи тысяч долларов. С генеративным конвейером — пятьдесят—сто тысяч юаней, семь—четырнадцать</a:t>
            </a:r>
          </a:p>
          <a:p>
            <a:r>
              <a:t>тысяч долларов за выпуск. Падение в десять—двадцать раз. За восемь месяцев 2026 года вышло</a:t>
            </a:r>
          </a:p>
          <a:p>
            <a:r>
              <a:t>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Случайностью и</a:t>
            </a:r>
          </a:p>
          <a:p>
            <a:r>
              <a:t>погрешностью измерения это не объясняется. Это закономерность, и держать она будет весь вечер.</a:t>
            </a:r>
          </a:p>
          <a:p>
            <a:r>
              <a:t>Чем дороже единица выхода, тем меньшую долю в её цене составляет та самая операция, которую</a:t>
            </a:r>
          </a:p>
          <a:p>
            <a:r>
              <a:t>модель 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по необходимости: четыре цента и сто</a:t>
            </a:r>
          </a:p>
          <a:p>
            <a:r>
              <a:t>тридцать семь тысяч долларов на одной линейной шкале просто не помещаются — меньший столбец</a:t>
            </a:r>
          </a:p>
          <a:p>
            <a:r>
              <a:t>выродился бы в линию толщиной в волос. Лог-шкала позволяет увидеть то, ради чего кадр собран:</a:t>
            </a:r>
          </a:p>
          <a:p>
            <a:r>
              <a:t>все три пары отстоят друг от друга на сопоставимое расстояние, хотя абсолютные величины</a:t>
            </a:r>
          </a:p>
          <a:p>
            <a:r>
              <a:t>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Ответом окажутся три адреса, по которым</a:t>
            </a:r>
          </a:p>
          <a:p>
            <a:r>
              <a:t>теперь уходит платёж, и каждый из них будет назван по имени в конце вечера: отбор, права,</a:t>
            </a:r>
          </a:p>
          <a:p>
            <a:r>
              <a:t>узнавание. Отбор — потому что пробовать стало бесплатно, а выбирать нет, и процедуры отбора</a:t>
            </a:r>
          </a:p>
          <a:p>
            <a:r>
              <a:t>раньше попросту не существовало: пробовали мало, потому что проба стоила денег. Права — потому</a:t>
            </a:r>
          </a:p>
          <a:p>
            <a:r>
              <a:t>что от того, чем обучена модель, зависит, что из её выхода вообще можно выпустить, и три крупные</a:t>
            </a:r>
          </a:p>
          <a:p>
            <a:r>
              <a:t>юрисдикции отвечают на это по-разному. Узнавание — потому что подпись, голос, лицо и</a:t>
            </a:r>
          </a:p>
          <a:p>
            <a:r>
              <a:t>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по типу решения, которое надо принять. Разница с делением по</a:t>
            </a:r>
          </a:p>
          <a:p>
            <a:r>
              <a:t>инструментам существенная. Если резать по инструментам, получится список продуктов, который</a:t>
            </a:r>
          </a:p>
          <a:p>
            <a:r>
              <a:t>устареет к следующему семестру. Если резать по типу задачи, получится сетка, в которую новый</a:t>
            </a:r>
          </a:p>
          <a:p>
            <a:r>
              <a:t>продукт просто ложится клеткой, и это та форма знания, которая переживает смену поколений</a:t>
            </a:r>
          </a:p>
          <a:p>
            <a:r>
              <a:t>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в этой клетке —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 не модальность,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0 уже показал, ЧТО подешевело — неудачная попытка, а не исполнение — и ПОЧЕМУ это</a:t>
            </a:r>
          </a:p>
          <a:p>
            <a:r>
              <a:t>экономически важно. Эта фигура — о другом: о том, КАК устроена сама работа модели, пока запрос</a:t>
            </a:r>
          </a:p>
          <a:p>
            <a:r>
              <a:t>не стал результатом. До сих пор в курсе были только схемы устройства — из каких частей собран</a:t>
            </a:r>
          </a:p>
          <a:p>
            <a:r>
              <a:t>генератор. Схемы работы, то есть «что происходит с запросом по шагам», в этой лекции до сих пор</a:t>
            </a:r>
          </a:p>
          <a:p>
            <a:r>
              <a:t>не было ни одной. Вот она, и пока — пустая: читается слева направо, запрос входит, где-то</a:t>
            </a:r>
          </a:p>
          <a:p>
            <a:r>
              <a:t>попадает внутрь модели, с какой-то точки начинается будущий результат, дальше идёт шаг, который</a:t>
            </a:r>
          </a:p>
          <a:p>
            <a:r>
              <a:t>повторяется N раз, из последнего повтора получается то, что видно человеку, и это и есть</a:t>
            </a:r>
          </a:p>
          <a:p>
            <a:r>
              <a:t>результат.</a:t>
            </a:r>
          </a:p>
          <a:p>
            <a:r>
              <a:t/>
            </a:r>
          </a:p>
          <a:p>
            <a:r>
              <a:t>Четыре числа будут названы на каждом из пяти разделов, и все четыре — про одну и ту же фигуру.</a:t>
            </a:r>
          </a:p>
          <a:p>
            <a:r>
              <a:t>Сколько раз повторяется шаг — и от чего это число зависит: от сэмплера, от глубины каскада, от</a:t>
            </a:r>
          </a:p>
          <a:p>
            <a:r>
              <a:t>того, есть ли у метода обученный общий приор или каждый объект учится заново. Где участвует</a:t>
            </a:r>
          </a:p>
          <a:p>
            <a:r>
              <a:t>запрос — на каждом шаге или только в начале. Что внутри меняется, а что остаётся прежним. И одно</a:t>
            </a:r>
          </a:p>
          <a:p>
            <a:r>
              <a:t>узкое место на раздел — то единственное место метода, которое держит всю экономику, названное</a:t>
            </a:r>
          </a:p>
          <a:p>
            <a:r>
              <a:t>золотом.</a:t>
            </a:r>
          </a:p>
          <a:p>
            <a:r>
              <a:t/>
            </a:r>
          </a:p>
          <a:p>
            <a:r>
              <a:t>У фигуры есть вторая дорожка, и она понадобится в каждом из пяти разделов: запрос с примером.</a:t>
            </a:r>
          </a:p>
          <a:p>
            <a:r>
              <a:t>Образец — исходная картинка, которую нужно доделать, референс голоса, фотографии объекта, кадр,</a:t>
            </a:r>
          </a:p>
          <a:p>
            <a:r>
              <a:t>который нужно продолжить, — входит в ту же фигуру в одной точке, на старте: стартовое состояние</a:t>
            </a:r>
          </a:p>
          <a:p>
            <a:r>
              <a:t>берётся не из шума, а из примера, и дальше путь тот же самый. Раздел про распознавание пройдёт</a:t>
            </a:r>
          </a:p>
          <a:p>
            <a:r>
              <a:t>фигуру в обратную сторону: там решается не «как получить изображение из запроса», а «что</a:t>
            </a:r>
          </a:p>
          <a:p>
            <a:r>
              <a:t>изображено на этой картинке», и стрелка, которая везде здесь смотрит вправо, там развернётся —</a:t>
            </a:r>
          </a:p>
          <a:p>
            <a:r>
              <a:t>это не нарушение фигуры, а её обратная задача, та же машинерия, поставленная отвечать на другой</a:t>
            </a:r>
          </a:p>
          <a:p>
            <a:r>
              <a:t>вопрос. В конце вечера, в Сборке, пять заполненных фигур встанут в одну таблицу — по строке на</a:t>
            </a:r>
          </a:p>
          <a:p>
            <a:r>
              <a:t>модальность, по столбцу на старт и на узкое место.</a:t>
            </a:r>
          </a:p>
          <a:p>
            <a:r>
              <a:t/>
            </a:r>
          </a:p>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 производству:</a:t>
            </a:r>
          </a:p>
          <a:p>
            <a:r>
              <a:t>право на голос исполнителя, происхождение обучающих данных, маркировка синтетического содержимого</a:t>
            </a:r>
          </a:p>
          <a:p>
            <a:r>
              <a:t>на выпуске. Одна и та же модель клонирования голоса в этом вечере — инструмент, вернувший актёру</a:t>
            </a:r>
          </a:p>
          <a:p>
            <a:r>
              <a:t>возможность работать после того, как болезнь отняла у него голос; в разговоре о безопасности та</a:t>
            </a:r>
          </a:p>
          <a:p>
            <a:r>
              <a:t>же модель — инструмент телефонного мошенничества. Обе рамки верны одновременно, и ни одна не</a:t>
            </a:r>
          </a:p>
          <a:p>
            <a:r>
              <a:t>отменяет другую. Разбирать их вперемешку значит получить вечер, где после каждого измеренного</a:t>
            </a:r>
          </a:p>
          <a:p>
            <a:r>
              <a:t>выигрыша идёт страшная история, а после каждой страшной истории — оправдание, и ни одно из двух</a:t>
            </a:r>
          </a:p>
          <a:p>
            <a:r>
              <a:t>не 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 моделей.</a:t>
            </a:r>
          </a:p>
          <a:p>
            <a:r>
              <a:t>Но у этой лекции есть и своё — то, чего в разговоре про языковые модели быть не могло: почему</a:t>
            </a:r>
          </a:p>
          <a:p>
            <a:r>
              <a:t>привычные рычаги управления выходом работают иначе или отсутствуют по построению, и это разберёт</a:t>
            </a:r>
          </a:p>
          <a:p>
            <a:r>
              <a:t>раздел 1.</a:t>
            </a:r>
          </a:p>
          <a:p>
            <a:r>
              <a:t/>
            </a:r>
          </a:p>
          <a:p>
            <a:r>
              <a:t>Третий кусок — рынок труда целиком и обзор юрисдикций по странам. Это единственный пункт, где</a:t>
            </a:r>
          </a:p>
          <a:p>
            <a:r>
              <a:t>решение принято по бюджету, и сказать это честнее, чем придумывать содержательное объяснение.</a:t>
            </a:r>
          </a:p>
          <a:p>
            <a:r>
              <a:t>Материал собран, проверен и лежит в главе как чтение для самостоятельной работы. Причина, по</a:t>
            </a:r>
          </a:p>
          <a:p>
            <a:r>
              <a:t>которой этого нет на кадрах, арифметическая: пласт цены занимает примерно пятую часть вечера, а</a:t>
            </a:r>
          </a:p>
          <a:p>
            <a:r>
              <a:t>правовой ландшафт по странам в такой объём не укладывается, не вытеснив разговор о возможностях.</a:t>
            </a:r>
          </a:p>
          <a:p>
            <a:r>
              <a:t>Отдельно: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 список снятого лежит в главе</a:t>
            </a:r>
          </a:p>
          <a:p>
            <a:r>
              <a:t>рабочим примером того, сколько уходит в брак при честной проверке отраслевого обзора.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Первым он стоит по цене единицы, и важность тут ни при чём. Одно</a:t>
            </a:r>
          </a:p>
          <a:p>
            <a:r>
              <a:t>изображение — самая дешёвая единица выхода из всех пяти модальностей, дешевле следующей на</a:t>
            </a:r>
          </a:p>
          <a:p>
            <a:r>
              <a:t>два-три порядка. Из этого следует всё остальное: практика здесь самая зрелая, потому что</a:t>
            </a:r>
          </a:p>
          <a:p>
            <a:r>
              <a:t>пробовать начали раньше всех и дешевле всех; числа есть по обе стороны счёта, потому что</a:t>
            </a:r>
          </a:p>
          <a:p>
            <a:r>
              <a:t>классический режим тоже измерен; и именно здесь уместно разобрать устройство метода на той</a:t>
            </a:r>
          </a:p>
          <a:p>
            <a:r>
              <a:t>глубине, которой он требует. Всё, что устроено в изображении, повторяется с поправками в звуке,</a:t>
            </a:r>
          </a:p>
          <a:p>
            <a:r>
              <a:t>видео и трёхмерной сцене — разбирать это по второму разу в каждом разделе незачем, поэтому</a:t>
            </a:r>
          </a:p>
          <a:p>
            <a:r>
              <a:t>несущий технический 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Стадия отвечает за три</a:t>
            </a:r>
          </a:p>
          <a:p>
            <a:r>
              <a:t>смежных продукта, которые в производстве различают строго, потому что у них разные заказчики,</a:t>
            </a:r>
          </a:p>
          <a:p>
            <a:r>
              <a:t>сроки и цены. Концепт-арт — договориться об облике, наружу не выходит, живёт внутри производства</a:t>
            </a:r>
          </a:p>
          <a:p>
            <a:r>
              <a:t>и умирает, когда решение принято. Иллюстрация — идёт в продукт: статью, обложку, рекламный</a:t>
            </a:r>
          </a:p>
          <a:p>
            <a:r>
              <a:t>баннер, карточку товара. Ключевой кадр — одно изображение, задающее визуальный язык всей</a:t>
            </a:r>
          </a:p>
          <a:p>
            <a:r>
              <a:t>кампании, от билборда до баннера в приложении. Путать их при счёте экономии нельзя: сто</a:t>
            </a:r>
          </a:p>
          <a:p>
            <a:r>
              <a:t>концептов стоят столько же, сколько одна доведённая иллюстрация, потому что концепт не доводят.</a:t>
            </a:r>
          </a:p>
          <a:p>
            <a:r>
              <a:t/>
            </a:r>
          </a:p>
          <a:p>
            <a:r>
              <a:t>И прежде чем переходить к цифрам, стоит назвать план самого раздела: когда исполнение</a:t>
            </a:r>
          </a:p>
          <a:p>
            <a:r>
              <a:t>подешевело до нуля, бизнес платит за три вещи — отбор, права, узнавание. Этот раздел</a:t>
            </a:r>
          </a:p>
          <a:p>
            <a:r>
              <a:t>разворачивает первые два: сначала разбор отбора на цене единицы и на домашней видеокарте</a:t>
            </a:r>
          </a:p>
          <a:p>
            <a:r>
              <a:t>редакции, потом права — чем обучена модель и что решил суд. Узнавание — подпись, которая</a:t>
            </a:r>
          </a:p>
          <a:p>
            <a:r>
              <a:t>подтверждается сама собой, — здесь только называется; развёрнутый разбор у него будет в</a:t>
            </a:r>
          </a:p>
          <a:p>
            <a:r>
              <a:t>разделе про голос, где подделка голоса и есть сюжет.</a:t>
            </a:r>
          </a:p>
          <a:p>
            <a:r>
              <a:t/>
            </a:r>
          </a:p>
          <a:p>
            <a:r>
              <a:t>Что на входе: словесное описание задачи — что изображено, в каком настроении, под какой бренд,</a:t>
            </a:r>
          </a:p>
          <a:p>
            <a:r>
              <a:t>с какими ограничениями; к нему прилагаются образцы, фирменные и технические требования. Вопрос,</a:t>
            </a:r>
          </a:p>
          <a:p>
            <a:r>
              <a:t>который на этом решают, короче, чем кажется: «как это выглядит», в отличие от «что это такое»</a:t>
            </a:r>
          </a:p>
          <a:p>
            <a:r>
              <a:t>(чертёж) и «сколько этого» (таблица). Эта граница вернётся отдельным кадром там, где речь пойдёт</a:t>
            </a:r>
          </a:p>
          <a:p>
            <a:r>
              <a:t>о том, почему генератор не заменяет систему автоматизированного проектирования.</a:t>
            </a:r>
          </a:p>
          <a:p>
            <a:r>
              <a:t/>
            </a:r>
          </a:p>
          <a:p>
            <a:r>
              <a:t>Способов получить такие данные четыре, и до 2022 года их было ровно четыре: заказ у исполнителя,</a:t>
            </a:r>
          </a:p>
          <a:p>
            <a:r>
              <a:t>готовое из библиотеки, собственная съёмка под каталог (генерацией не замещается по определению</a:t>
            </a:r>
          </a:p>
          <a:p>
            <a:r>
              <a:t>задачи — нужен именно этот физический предмет), сборка из частей в редакторе. Пятым способом с</a:t>
            </a:r>
          </a:p>
          <a:p>
            <a:r>
              <a:t>2022 года стала генерация.</a:t>
            </a:r>
          </a:p>
          <a:p>
            <a:r>
              <a:t/>
            </a:r>
          </a:p>
          <a:p>
            <a:r>
              <a:t>Решение, которое принимает стадия, одно: утвердить облик до того, как потрачены большие деньги.</a:t>
            </a:r>
          </a:p>
          <a:p>
            <a:r>
              <a:t>Именно поэтому стадия стоит в начале производственного порядка — ошибка здесь дёшево исправляется</a:t>
            </a:r>
          </a:p>
          <a:p>
            <a:r>
              <a:t>и дорого обходится, если пропустить её дальше по циклу. И отсюда наблюдение, из которого вырастет</a:t>
            </a:r>
          </a:p>
          <a:p>
            <a:r>
              <a:t>весь раздел: экономика стадии держится на одном отношении — сколько вариантов можно позволить себе</a:t>
            </a:r>
          </a:p>
          <a:p>
            <a:r>
              <a:t>посмотреть, прежде чем выбрать один. До 2022 года это отношение задавалось ценой одного варианта и</a:t>
            </a:r>
          </a:p>
          <a:p>
            <a:r>
              <a:t>было небольшим — три-четыре эскиза, редко больше.</a:t>
            </a:r>
          </a:p>
          <a:p>
            <a:r>
              <a:t/>
            </a:r>
          </a:p>
          <a:p>
            <a:r>
              <a:t>Классика шла по четырём ступеням, каждая с опубликованной ценой, и единица у всех одна — цена</a:t>
            </a:r>
          </a:p>
          <a:p>
            <a:r>
              <a:t>одной годной картинки. Заказ у исполнителя: типовое задание у фрилансера среднего уровня —</a:t>
            </a:r>
          </a:p>
          <a:p>
            <a:r>
              <a:t>$50–150 со сроком 1–3 дня; часовая ставка по анализу тысячи профилей на бирже — $49,65. Внутри той</a:t>
            </a:r>
          </a:p>
          <a:p>
            <a:r>
              <a:t>же ступени — российский вариант: по выборке из 3 848 анкет иллюстраторов Москвы цифровая</a:t>
            </a:r>
          </a:p>
          <a:p>
            <a:r>
              <a:t>иллюстрация от 3 860 ₽, рекламный баннер — от 500 ₽; оговорка обязательна — это «от», нижняя</a:t>
            </a:r>
          </a:p>
          <a:p>
            <a:r>
              <a:t>граница объявленных ставок, а не среднее по рынку, и если принять её за среднее, российская</a:t>
            </a:r>
          </a:p>
          <a:p>
            <a:r>
              <a:t>классика окажется искусственно дешёвой. Вторая ступень — заказная съёмка под</a:t>
            </a:r>
          </a:p>
          <a:p>
            <a:r>
              <a:t>каталог — сотни долларов, применяется там, где нужен именно этот предмет, и генерацией не</a:t>
            </a:r>
          </a:p>
          <a:p>
            <a:r>
              <a:t>замещается по определению задачи. Третья ступень — микросток двухтысячных: $0,25–1 за штуку,</a:t>
            </a:r>
          </a:p>
          <a:p>
            <a:r>
              <a:t>против «от нескольких сотен до нескольких тысяч» в классических агентствах до него; обвал цены</a:t>
            </a:r>
          </a:p>
          <a:p>
            <a:r>
              <a:t>единицы на три порядка в этой отрасли уже происходил один раз, двадцать лет назад, и рынок уцелел,</a:t>
            </a:r>
          </a:p>
          <a:p>
            <a:r>
              <a:t>разделившись на «дёшево и много» и «дорого и именно это». Четвёртая ступень — штатный дизайнер:</a:t>
            </a:r>
          </a:p>
          <a:p>
            <a:r>
              <a:t>цены нет, есть зарплата и загрузка; это кажется</a:t>
            </a:r>
          </a:p>
          <a:p>
            <a:r>
              <a:t>мелочью, но именно этот режим оказывается классикой у корпоративного заказчика, и именно по нему</a:t>
            </a:r>
          </a:p>
          <a:p>
            <a:r>
              <a:t>публичных чисел почти не бывает. Один из разборов раздела упрётся ровно в эту стену: случай измерен</a:t>
            </a:r>
          </a:p>
          <a:p>
            <a:r>
              <a:t>со стороны модели до последней минуты обучения, а со стороны классики не посчитан, потому что</a:t>
            </a:r>
          </a:p>
          <a:p>
            <a:r>
              <a:t>внутреннюю ставку своего дизайнера компании не публикуют.</a:t>
            </a:r>
          </a:p>
          <a:p>
            <a:r>
              <a:t/>
            </a:r>
          </a:p>
          <a:p>
            <a:r>
              <a:t>Две точки из шестидесятилетней цепочки стоят здесь же памятью о том, что это не первый такой</a:t>
            </a:r>
          </a:p>
          <a:p>
            <a:r>
              <a:t>разговор, и обе устроены одинаково. 1961 год, «101 далматинец»: до ксерографии отдел туши вручную</a:t>
            </a:r>
          </a:p>
          <a:p>
            <a:r>
              <a:t>обводил карандашный рисунок аниматора на целлулоидной плёнке — операция посредничества в чистом</a:t>
            </a:r>
          </a:p>
          <a:p>
            <a:r>
              <a:t>виде, и платили именно за точность переноса. Ксерография перенесла рисунок на целлулоид напрямую:</a:t>
            </a:r>
          </a:p>
          <a:p>
            <a:r>
              <a:t>штат фильма составил примерно половину от «Спящей красавицы» 1959 года. Деталь, которая говорит о</a:t>
            </a:r>
          </a:p>
          <a:p>
            <a:r>
              <a:t>природе таких переходов больше, чем числа: сюжет про девяносто девять пятнистых щенков выбрали</a:t>
            </a:r>
          </a:p>
          <a:p>
            <a:r>
              <a:t>потому, что новый способ сделал его выполнимым — вручную отрисовать все пятна было нереально.</a:t>
            </a:r>
          </a:p>
          <a:p>
            <a:r>
              <a:t>Инструмент определил содержание. И тут же — то, что уехало вправо: узнаваемое неряшливое</a:t>
            </a:r>
          </a:p>
          <a:p>
            <a:r>
              <a:t>начертание линии шестидесятых, которое раньше вычищала тушь; Уолт Дисней его публично не любил.</a:t>
            </a:r>
          </a:p>
          <a:p>
            <a:r>
              <a:t/>
            </a:r>
          </a:p>
          <a:p>
            <a:r>
              <a:t>1990 год, Photoshop 1.0, вышел 19 февраля. До него профессиональная ретушь шла на выделенных</a:t>
            </a:r>
          </a:p>
          <a:p>
            <a:r>
              <a:t>системах класса Scitex по цене около $300 за час; лицензия Photoshop стоила $895 единовременно —</a:t>
            </a:r>
          </a:p>
          <a:p>
            <a:r>
              <a:t>окупалась меньше чем за три часа работы на Scitex. Падение цены часа — примерно три порядка, и</a:t>
            </a:r>
          </a:p>
          <a:p>
            <a:r>
              <a:t>вместе с ним исчез допечатный цех. Ретушёр при этом никуда не делся: он пересел за другой</a:t>
            </a:r>
          </a:p>
          <a:p>
            <a:r>
              <a:t>инструмент. Уехало вправо здесь то же самое, только заметно меньше: правка перестала быть событием,</a:t>
            </a:r>
          </a:p>
          <a:p>
            <a:r>
              <a:t>которое кто-то заказывал, оплачивал и принимал, — и отсюда растёт весь последующий спор о том,</a:t>
            </a:r>
          </a:p>
          <a:p>
            <a:r>
              <a:t>можно ли верить опубликованному снимку. Этот спор не закрыт до сих пор, и в разделах про голос и</a:t>
            </a:r>
          </a:p>
          <a:p>
            <a:r>
              <a:t>про происхождение он вернётся в точности в той же форме.</a:t>
            </a:r>
          </a:p>
          <a:p>
            <a:r>
              <a:t/>
            </a:r>
          </a:p>
          <a:p>
            <a:r>
              <a:t>Общее у двух точек — та самая форма, ради которой они стоят здесь. Исчезла операция, а не</a:t>
            </a:r>
          </a:p>
          <a:p>
            <a:r>
              <a:t>профессия. Объём произведённого вырос сильнее, чем упала цена. И в обоих случаях возник спор о</a:t>
            </a:r>
          </a:p>
          <a:p>
            <a:r>
              <a:t>подлинности результата, который не был закрыт техническим аргументом — закрылся он тем, что</a:t>
            </a:r>
          </a:p>
          <a:p>
            <a:r>
              <a:t>сменилось поколение и новая норма перестала казаться спорной.</a:t>
            </a:r>
          </a:p>
          <a:p>
            <a:r>
              <a:t/>
            </a:r>
          </a:p>
          <a:p>
            <a:r>
              <a:t>Вот на этом фоне и надо читать то, что начинается дальше. Первым желанием будет поставить</a:t>
            </a:r>
          </a:p>
          <a:p>
            <a:r>
              <a:t>генерацию в тот же ряд третьей точкой — и это желание надо проверить, а не принять. Проверка</a:t>
            </a:r>
          </a:p>
          <a:p>
            <a:r>
              <a:t>окажется отрицательной: у генерации другой разряд, потому что дешевеет не исполнение уже принятого</a:t>
            </a:r>
          </a:p>
          <a:p>
            <a:r>
              <a:t>решения, а момент до решения — исчезла цена ошибочной пробы, а не цена переноса с одного носителя</a:t>
            </a:r>
          </a:p>
          <a:p>
            <a:r>
              <a:t>на другой. Но чтобы это различие увидеть, надо сначала как следует разглядеть, как выглядят</a:t>
            </a:r>
          </a:p>
          <a:p>
            <a:r>
              <a:t>настоящие удешевления исполнения, — 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a:t>
            </a:r>
          </a:p>
          <a:p>
            <a:r>
              <a:t>посчитаны числом в той же единице, что и модель. Таких случаев за весь вечер немного, и стоит</a:t>
            </a:r>
          </a:p>
          <a:p>
            <a:r>
              <a:t>замечать, когда они встречаются. Адрес платежа — отбор: вся дешевизна генерации тут же</a:t>
            </a:r>
          </a:p>
          <a:p>
            <a:r>
              <a:t>создаёт работу по выбору годного кадра, и дальше разбор считает именно её.</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$50–150 и 1–3 дня, в России от 3 860 ₽. Цена</a:t>
            </a:r>
          </a:p>
          <a:p>
            <a:r>
              <a:t>противоположной ошибки — «не стали пробовать вариант, который сработал бы» — числом в</a:t>
            </a:r>
          </a:p>
          <a:p>
            <a:r>
              <a:t>источниках по мировому рынку не названа ни разу. Это важно признать, а не заполнить оценкой:</a:t>
            </a:r>
          </a:p>
          <a:p>
            <a:r>
              <a:t>именно вторая ошибка и есть предмет всего вечера, и то, что её почти никто не считает, само по</a:t>
            </a:r>
          </a:p>
          <a:p>
            <a:r>
              <a:t>себе содержательно. Измеренное значение для неё в этом разделе всё-таки появится, но из другого</a:t>
            </a:r>
          </a:p>
          <a:p>
            <a:r>
              <a:t>источника — из материала редакции, разбираемого следующим кадром, с явным указанием, откуда</a:t>
            </a:r>
          </a:p>
          <a:p>
            <a:r>
              <a:t>взято.</a:t>
            </a:r>
          </a:p>
          <a:p>
            <a:r>
              <a:t/>
            </a:r>
          </a:p>
          <a:p>
            <a:r>
              <a:t>Шаг второй — оба классических режима, посчитанные той же ценой. Заказная работа: $50–150 за</a:t>
            </a:r>
          </a:p>
          <a:p>
            <a:r>
              <a:t>задание со сроком 1–3 дня, часовая ставка $49,65 по анализу тысячи профилей, в России — от</a:t>
            </a:r>
          </a:p>
          <a:p>
            <a:r>
              <a:t>3 860 ₽ по выборке из 3 848 анкет. Готовое из библиотеки: $130–499 в рознице, ≈$2,50 оптом по</a:t>
            </a:r>
          </a:p>
          <a:p>
            <a:r>
              <a:t>подписке, микросток двухтысячных — $0,25–1. Единица у всех одна: доллар за изображение. Одно</a:t>
            </a:r>
          </a:p>
          <a:p>
            <a:r>
              <a:t>допущение проговаривается вслух, потому что без него счёт нечестен: «за задание» приравнено к</a:t>
            </a:r>
          </a:p>
          <a:p>
            <a:r>
              <a:t>«за изображение», тогда как задание у исполнителя нередко включает правки и несколько ракурсов;</a:t>
            </a:r>
          </a:p>
          <a:p>
            <a:r>
              <a:t>если это учесть, разрыв сократится — насколько именно, по открытым источникам сказать нельзя.</a:t>
            </a:r>
          </a:p>
          <a:p>
            <a:r>
              <a:t/>
            </a:r>
          </a:p>
          <a:p>
            <a:r>
              <a:t>И здесь же — вторая половина классического режима, которая ломается изнутри, без всякого</a:t>
            </a:r>
          </a:p>
          <a:p>
            <a:r>
              <a:t>участия генеративных моделей. Розничная лицензия на одно изображение стоит $130–499; по</a:t>
            </a:r>
          </a:p>
          <a:p>
            <a:r>
              <a:t>подписке, оптом, то же самое изображение обходится ≈$2,50. Это один товар, один поставщик, один</a:t>
            </a:r>
          </a:p>
          <a:p>
            <a:r>
              <a:t>прейскурант — и разница между двумя строками в нём составляет от пятидесяти до двухсот раз.</a:t>
            </a:r>
          </a:p>
          <a:p>
            <a:r>
              <a:t>Разница эта не аномалия: розницу берут разово, под конкретный материал, когда нужна именно эта</a:t>
            </a:r>
          </a:p>
          <a:p>
            <a:r>
              <a:t>картинка сегодня; опт берут потоком, под поток задач. Разные покупатели, разные договоры. Отсюда</a:t>
            </a:r>
          </a:p>
          <a:p>
            <a:r>
              <a:t>практическое правило, которое стоит унести прежде любого отраслевого обзора: услышав «в тысячу</a:t>
            </a:r>
          </a:p>
          <a:p>
            <a:r>
              <a:t>раз дешевле», спрашивайте не про генерацию, а про то, какую именно классику взяли базой. Вопрос</a:t>
            </a:r>
          </a:p>
          <a:p>
            <a:r>
              <a:t>короткий и отсеивает большинство громких сравнений — в них база либо не названа вовсе, либо</a:t>
            </a:r>
          </a:p>
          <a:p>
            <a:r>
              <a:t>названа общим словом вроде «стоковое изображение», за которым скрываются два тарифа, отличающиеся</a:t>
            </a:r>
          </a:p>
          <a:p>
            <a:r>
              <a:t>на два порядка. Собирая собственный счёт, правило работает и в обратную сторону: называйте базу</a:t>
            </a:r>
          </a:p>
          <a:p>
            <a:r>
              <a:t>первым, а не «дешевле в столько-то раз» — без названной базы число не переживает первого же</a:t>
            </a:r>
          </a:p>
          <a:p>
            <a:r>
              <a:t>вопроса.</a:t>
            </a:r>
          </a:p>
          <a:p>
            <a:r>
              <a:t/>
            </a:r>
          </a:p>
          <a:p>
            <a:r>
              <a:t>Шаг третий — модель. Изображение 1024×1024 у программного доступа Google стоит $0,0336, в</a:t>
            </a:r>
          </a:p>
          <a:p>
            <a:r>
              <a:t>двойном разрешении — $0,05, в четырёхкратном — $0,113. Midjourney по базовой подписке и Adobe</a:t>
            </a:r>
          </a:p>
          <a:p>
            <a:r>
              <a:t>Firefly на базовом тарифе дают примерно по пять центов. Против заказной работы это разрыв в</a:t>
            </a:r>
          </a:p>
          <a:p>
            <a:r>
              <a:t>1 000–4 500 раз, против розницы стока — до 14 700, против опта — 73. Три разных базы дают три</a:t>
            </a:r>
          </a:p>
          <a:p>
            <a:r>
              <a:t>разных числа, и все три надо называть вместе: иначе выбор базы делает вывод за слушателя.</a:t>
            </a:r>
          </a:p>
          <a:p>
            <a:r>
              <a:t/>
            </a:r>
          </a:p>
          <a:p>
            <a:r>
              <a:t>Отдельная строка здесь важнее всех трёх предыдущих. Собственный вывод на арендованной</a:t>
            </a:r>
          </a:p>
          <a:p>
            <a:r>
              <a:t>видеокарте: SDXL на RTX 4090 при аренде $0,89 в час и скорости ≈2,6 секунды на изображение даёт</a:t>
            </a:r>
          </a:p>
          <a:p>
            <a:r>
              <a:t>$0,64 за тысячу изображений — против $33,60 за ту же тысячу у программного доступа, то есть в</a:t>
            </a:r>
          </a:p>
          <a:p>
            <a:r>
              <a:t>30–50 раз дешевле. И у этой дешевизны три названные цены, ни одна из которых не попадает в</a:t>
            </a:r>
          </a:p>
          <a:p>
            <a:r>
              <a:t>прейскурант. Первая — лицензия на веса: самая качественная из дешёвых моделей распространяется</a:t>
            </a:r>
          </a:p>
          <a:p>
            <a:r>
              <a:t>некоммерчески, открытые альтернативы слабее. Вторая — полная загрузка карты: карта, арендованная</a:t>
            </a:r>
          </a:p>
          <a:p>
            <a:r>
              <a:t>на час и простоявшая сорок минут, стоит те же $0,89, и при ста изображениях в час выходит $8,90</a:t>
            </a:r>
          </a:p>
          <a:p>
            <a:r>
              <a:t>за тысячу — дороже некоторых тарифов. Третья — инженер, которого ни в одном из расчётов нет.</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 на 2,32 млрд пар «изображение — текст», 150 000 часов на A100.</a:t>
            </a:r>
          </a:p>
          <a:p>
            <a:r>
              <a:t>У закрытых моделей состав обучающего набора не раскрывается — это свойство рынка, а не упущение</a:t>
            </a:r>
          </a:p>
          <a:p>
            <a:r>
              <a:t>исследования. И честный пробел: как правка пользователя возвращается в обучение закрытой</a:t>
            </a:r>
          </a:p>
          <a:p>
            <a:r>
              <a:t>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 вошедших</a:t>
            </a:r>
          </a:p>
          <a:p>
            <a:r>
              <a:t>в минутный ролик (кадр Toys «R» Us Studios × Native Foreign). Всё остальное, что ходит по</a:t>
            </a:r>
          </a:p>
          <a:p>
            <a:r>
              <a:t>отраслевым обзорам под видом такого отношения, при проверке оказывается материалом сайтов,</a:t>
            </a:r>
          </a:p>
          <a:p>
            <a:r>
              <a:t>продающих генерацию, без методики и без 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российский случай для инженерной аудитории полезнее прочих в разделе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 а проверяется это одним мысленным действием — убрать модель и</a:t>
            </a:r>
          </a:p>
          <a:p>
            <a:r>
              <a:t>посмотреть, что останется.</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465 000 тонн CO₂ в год. Это и есть база,</a:t>
            </a:r>
          </a:p>
          <a:p>
            <a:r>
              <a:t>относительно которой читается всё остальное: экономия массы здесь не эстетическая и не</a:t>
            </a:r>
          </a:p>
          <a:p>
            <a:r>
              <a:t>маркетинговая, она прямо переводится в топливо и в выбросы.</a:t>
            </a:r>
          </a:p>
          <a:p>
            <a:r>
              <a:t/>
            </a:r>
          </a:p>
          <a:p>
            <a:r>
              <a:t>Шаг второй — классические режимы, и вот где случай отличается от двух предыдущих разборов</a:t>
            </a:r>
          </a:p>
          <a:p>
            <a:r>
              <a:t>раздела. Второго режима в задаче нет, и причина названа: критерий отбора здесь задан физикой.</a:t>
            </a:r>
          </a:p>
          <a:p>
            <a:r>
              <a:t>Перегородка должна держать нагрузку при минимальной массе — проверяемое условие, про любой</a:t>
            </a:r>
          </a:p>
          <a:p>
            <a:r>
              <a:t>вариант за секунду можно сказать, выполнено оно или нарушено. Поэтому альтернатива ровно одна:</a:t>
            </a:r>
          </a:p>
          <a:p>
            <a:r>
              <a:t>обычный расчёт и проектирование перегородки, посчитанная в той же единице: 65 кг против 35, то</a:t>
            </a:r>
          </a:p>
          <a:p>
            <a:r>
              <a:t>есть −45% массы. «Второго режима не существует» — это полноценный вердикт, а не пробел</a:t>
            </a:r>
          </a:p>
          <a:p>
            <a:r>
              <a:t>исследования: пробел 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Autodesk</a:t>
            </a:r>
          </a:p>
          <a:p>
            <a:r>
              <a:t>Project Dreamcatcher перебрал десятки тысяч вариантов геометрии по заданной модели клеточного</a:t>
            </a:r>
          </a:p>
          <a:p>
            <a:r>
              <a:t>роста кости. Это оптимизация под заданный критерий: алгоритм генерирует варианты, считает для</a:t>
            </a:r>
          </a:p>
          <a:p>
            <a:r>
              <a:t>каждого целевую функцию и отбрасывает худшие. Ни обучения на данных, ни весов, ни выученного</a:t>
            </a:r>
          </a:p>
          <a:p>
            <a:r>
              <a:t>распределения здесь нет ни в каком виде. Зачем тогда этот случай в лекции: он ходит по</a:t>
            </a:r>
          </a:p>
          <a:p>
            <a:r>
              <a:t>отраслевым обзорам как пример того, что «искусственный интеллект спроектировал деталь самолёта и</a:t>
            </a:r>
          </a:p>
          <a:p>
            <a:r>
              <a:t>облегчил её на 45%», и это ошибка ровно того класса, который весь вечер разбирается. Приписать</a:t>
            </a:r>
          </a:p>
          <a:p>
            <a:r>
              <a:t>выигрыш обученной модели там, где его дала классическая оптимизация, ведёт к неверному решению в</a:t>
            </a:r>
          </a:p>
          <a:p>
            <a:r>
              <a:t>собственном проекте: человек, поверивший такому обзору, потратит месяцы на инструмент, который</a:t>
            </a:r>
          </a:p>
          <a:p>
            <a:r>
              <a:t>для этой задачи не нужен, вместо того чтобы взять 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 на тот момент</a:t>
            </a:r>
          </a:p>
          <a:p>
            <a:r>
              <a:t>крупнейшая напечатанная деталь салона самолёта. Обучено ни на чём — обучения в контуре нет вовсе.</a:t>
            </a:r>
          </a:p>
          <a:p>
            <a:r>
              <a:t>Стоит заметить и обратное: порождающее проектирование не стало от этого слабее. Оно действительно</a:t>
            </a:r>
          </a:p>
          <a:p>
            <a:r>
              <a:t>дало 45% массы, и дало их средствами, которые инженер в состоянии проверить расчётом, — именно</a:t>
            </a:r>
          </a:p>
          <a:p>
            <a:r>
              <a:t>эта проверяемость и делает случай удобным образцом того, как читается всякий отраслевой обзор.</a:t>
            </a:r>
          </a:p>
          <a:p>
            <a:r>
              <a:t/>
            </a:r>
          </a:p>
          <a:p>
            <a:r>
              <a:t>Шаг пятый — условие отбора, применённое буквально. Оно отделяет случаи, где модель что-то</a:t>
            </a:r>
          </a:p>
          <a:p>
            <a:r>
              <a:t>изменила, от случаев, где она просто присутствовала в рассказе. Проверим на перегородке: уберите</a:t>
            </a:r>
          </a:p>
          <a:p>
            <a:r>
              <a:t>обученную модель — перебор по критерию остаётся, расчёт прочности остаётся, печать из сплава</a:t>
            </a:r>
          </a:p>
          <a:p>
            <a:r>
              <a:t>остаётся, выигрыш в 45% массы остаётся. Не остаётся ничего, что исчезло бы вместе с моделью,</a:t>
            </a:r>
          </a:p>
          <a:p>
            <a:r>
              <a:t>потому что модели в контуре не было. Условие не проходит. Теперь проверим на соседнем разборе</a:t>
            </a:r>
          </a:p>
          <a:p>
            <a:r>
              <a:t>раздела, где редакция дообучала модель на сорока картинках: уберите модель — останутся сорок</a:t>
            </a:r>
          </a:p>
          <a:p>
            <a:r>
              <a:t>картинок и ноутбук, но сорока шести уникальных плакатов за февраль не останется. Условие проходит,</a:t>
            </a:r>
          </a:p>
          <a:p>
            <a:r>
              <a:t>и случай засчитывается — даже при том, что классическая сторона в нём не посчитана. Третий класс,</a:t>
            </a:r>
          </a:p>
          <a:p>
            <a:r>
              <a:t>самый частый в отраслевых обзорах и в этом сравнении не представленный, — случаи, где модели не</a:t>
            </a:r>
          </a:p>
          <a:p>
            <a:r>
              <a:t>было вовсе, а слово «искусственный интеллект» появилось только в пересказе.</a:t>
            </a:r>
          </a:p>
          <a:p>
            <a:r>
              <a:t/>
            </a:r>
          </a:p>
          <a:p>
            <a:r>
              <a:t>Что уехало вправо, и почему разбор стоит именно в разделе про изображение. Переехал критерий</a:t>
            </a:r>
          </a:p>
          <a:p>
            <a:r>
              <a:t>отбора. Там, где критерий задан физикой, спора об авторстве не возникает вовсе: никто не</a:t>
            </a:r>
          </a:p>
          <a:p>
            <a:r>
              <a:t>спрашивает, кому принадлежит перегородка, потому что ответ «той, что весит 35 кг и проходит</a:t>
            </a:r>
          </a:p>
          <a:p>
            <a:r>
              <a:t>расчёт» устраивает всех. Спор появляется ровно там, где критерий вкусовой, — и весь остальной</a:t>
            </a:r>
          </a:p>
          <a:p>
            <a:r>
              <a:t>вечер именно про это: концепт, иллюстрация, ключевой кадр, голос, лицо, музыкальный трек — во</a:t>
            </a:r>
          </a:p>
          <a:p>
            <a:r>
              <a:t>всех этих задачах нет проверяемого предиката, по которому можно сказать «вот этот вариант</a:t>
            </a:r>
          </a:p>
          <a:p>
            <a:r>
              <a:t>правильный». Поэтому отбор там делает человек, поэтому он стоит денег, и поэтому спор об</a:t>
            </a:r>
          </a:p>
          <a:p>
            <a:r>
              <a:t>авторстве не закрывается техническим аргументом.</a:t>
            </a:r>
          </a:p>
          <a:p>
            <a:r>
              <a:t/>
            </a:r>
          </a:p>
          <a:p>
            <a:r>
              <a:t>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Привычка</a:t>
            </a:r>
          </a:p>
          <a:p>
            <a:r>
              <a:t>дешёвая — минута, без доступа к системе и без разговора с поставщиком, — а отсеивает она именно</a:t>
            </a:r>
          </a:p>
          <a:p>
            <a:r>
              <a:t>ту долю отраслевых обзоров, на которой строятся неверные решения о собственном проекте. Типичное</a:t>
            </a:r>
          </a:p>
          <a:p>
            <a:r>
              <a:t>возражение — «но ведь порождающее проектирование тоже называют генеративным». Называют, и</a:t>
            </a:r>
          </a:p>
          <a:p>
            <a:r>
              <a:t>путаница не случайна: слово одно, а классы инструментов разные. Развести их просто: спросите, на</a:t>
            </a:r>
          </a:p>
          <a:p>
            <a:r>
              <a:t>чём инструмент обучен; если ответ «ни на чём, он считает» — перед вами оптимизация. Второе</a:t>
            </a:r>
          </a:p>
          <a:p>
            <a:r>
              <a:t>возражение — «какая разница, если результат получен»: разница появляется, когда результат</a:t>
            </a:r>
          </a:p>
          <a:p>
            <a:r>
              <a:t>пытаются повторить в другом проекте. Оптимизация переносится правилом (опишите критерий — сработает</a:t>
            </a:r>
          </a:p>
          <a:p>
            <a:r>
              <a:t>так же), обученная модель переносится данными (без набора, похожего на обучающий, результат не</a:t>
            </a:r>
          </a:p>
          <a:p>
            <a:r>
              <a:t>воспроизводится). Из трёх подробных разборов раздела условие отбора проходит полтора: случай</a:t>
            </a:r>
          </a:p>
          <a:p>
            <a:r>
              <a:t>редакции проходит целиком, случай обвала цены единицы проходит по модели и не проходит по полноте</a:t>
            </a:r>
          </a:p>
          <a:p>
            <a:r>
              <a:t>счёта, перегородка не проходит вовсе — и такая пропорция есть честная картина отрасли на сегодня,</a:t>
            </a:r>
          </a:p>
          <a:p>
            <a:r>
              <a:t>а не дефект подборки.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В пользу российской модели: её веса разложены по девяти</a:t>
            </a:r>
          </a:p>
          <a:p>
            <a:r>
              <a:t>официальным репозиториям, сумма по ним около четырёх тысяч семисот, а вместе с квантованными</a:t>
            </a:r>
          </a:p>
          <a:p>
            <a:r>
              <a:t>сборками сообщества — около пятнадцати тысяч; значит, разрыв не тысячекратный, а примерно</a:t>
            </a:r>
          </a:p>
          <a:p>
            <a:r>
              <a:t>сорокакратный. Против: все семьдесят девять репозиториев лаборатории вместе дают семьдесят семь</a:t>
            </a:r>
          </a:p>
          <a:p>
            <a:r>
              <a:t>тысяч загрузок, но семьдесят тысяч из них — служебные кодировщики, которые тянут чужие конвейеры,</a:t>
            </a:r>
          </a:p>
          <a:p>
            <a:r>
              <a:t>а у собственно генеративных моделей счёт идёт на сотни. Читать это как замер качества нельзя —</a:t>
            </a:r>
          </a:p>
          <a:p>
            <a:r>
              <a:t>это замер принятия: сколько инженеров в мире взяли веса и запустили их у себя. Три честные</a:t>
            </a:r>
          </a:p>
          <a:p>
            <a:r>
              <a:t>причины разрыва: вокруг зарубежных моделей выросли тысячи дообученных вариантов и руководств;</a:t>
            </a:r>
          </a:p>
          <a:p>
            <a:r>
              <a:t>время на рынке три года против одного месяца; и русскоязычное преимущество ничего не стоит</a:t>
            </a:r>
          </a:p>
          <a:p>
            <a:r>
              <a:t>англоязычному разработчику, который формирует 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 двум первоисточникам. Крупнейшее</a:t>
            </a:r>
          </a:p>
          <a:p>
            <a:r>
              <a:t>российское облако перепродаёт двадцать семь моделей одного зарубежного поставщика, девять</a:t>
            </a:r>
          </a:p>
          <a:p>
            <a:r>
              <a:t>другого и девять третьего — ровно те, чьи поставщики Россию обслуживать отказались. Официальный</a:t>
            </a:r>
          </a:p>
          <a:p>
            <a:r>
              <a:t>долларовый прейскурант пересчитывается по внутреннему курсу 196,42 ₽/$ против 80,49 у</a:t>
            </a:r>
          </a:p>
          <a:p>
            <a:r>
              <a:t>Центробанка, и множитель 2,44× совпадает до второго знака по девяти моделям сразу. В деньгах:</a:t>
            </a:r>
          </a:p>
          <a:p>
            <a:r>
              <a:t>миллион входных плюс миллион выходных токенов обходятся в 1 449 ₽ напрямую против 3 536 ₽ через</a:t>
            </a:r>
          </a:p>
          <a:p>
            <a:r>
              <a:t>посредника — переплата 2 087 ₽. Оговорка: на российские, китайские и открытые модели, которые</a:t>
            </a:r>
          </a:p>
          <a:p>
            <a:r>
              <a:t>это же облако хостит у себя, множитель не распространяется — там цена своя и часто низкая. 2,44×</a:t>
            </a:r>
          </a:p>
          <a:p>
            <a:r>
              <a:t>— цена дотягивания до модели, которая вас обслуживать не хочет, и 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 оно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одного — ни доли рынка, ни числа генераций, ни экономии у заказчика, ни судебных</a:t>
            </a:r>
          </a:p>
          <a:p>
            <a:r>
              <a:t>исходов. Поэтому происхождение данных как товарное свойство здесь названо, а подробным разбором</a:t>
            </a:r>
          </a:p>
          <a:p>
            <a:r>
              <a:t>не стало,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Чтобы получить</a:t>
            </a:r>
          </a:p>
          <a:p>
            <a:r>
              <a:t>тысячу токенов, нужна тысяча последовательных проходов сети. Что это семейство делает хорошо:</a:t>
            </a:r>
          </a:p>
          <a:p>
            <a:r>
              <a:t>произвольную длину выхода, точную условную вероятность каждого шага (откуда логиты, температура и</a:t>
            </a:r>
          </a:p>
          <a:p>
            <a:r>
              <a:t>гарантированный формат вывода) и естественную причинность. Чего оно принципиально не умеет —</a:t>
            </a:r>
          </a:p>
          <a:p>
            <a:r>
              <a:t>исправлять уже написанное: токен, попавший в контекст, становится условием для всех следующих.</a:t>
            </a:r>
          </a:p>
          <a:p>
            <a:r>
              <a:t>И цена: число шагов равно длине выхода — для картинки 1024×1024 в сыром виде это 3 145 728</a:t>
            </a:r>
          </a:p>
          <a:p>
            <a:r>
              <a:t>чисел, и 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a:t>
            </a:r>
          </a:p>
          <a:p>
            <a:r>
              <a:t>Авторегрессия достраивает объект по частям, расшумление правит весь объект сразу, но много раз.</a:t>
            </a:r>
          </a:p>
          <a:p>
            <a:r>
              <a:t>Оно делает хорошо глобальную согласованность и параллельность внутри шага; не умеет принципиально</a:t>
            </a:r>
          </a:p>
          <a:p>
            <a:r>
              <a:t>выдать вероятность вот этой конкретной картинки — точного правдоподобия у него нет, а значит, нет</a:t>
            </a:r>
          </a:p>
          <a:p>
            <a:r>
              <a:t>ни логитов, ни температуры, ни маскирования. Остановиться на полуслове нельзя: половина шагов</a:t>
            </a:r>
          </a:p>
          <a:p>
            <a:r>
              <a:t>даёт мутную картинку, а не половину картинки. Цена второго семейства устроена зеркально первому:</a:t>
            </a:r>
          </a:p>
          <a:p>
            <a:r>
              <a:t>число шагов не зависит от размера выхода, оно задано сэмплером — было 1000 в 2020 году, стало</a:t>
            </a:r>
          </a:p>
          <a:p>
            <a:r>
              <a:t>20–50 на практике и 1–4 в дистиллированных моделях.</a:t>
            </a:r>
          </a:p>
          <a:p>
            <a:r>
              <a:t/>
            </a:r>
          </a:p>
          <a:p>
            <a:r>
              <a:t>Почему семейств именно два, а не три и не одно. Разделение не по модальности — не «текст</a:t>
            </a:r>
          </a:p>
          <a:p>
            <a:r>
              <a:t>дискретен, изображение непрерывно», — а по стратегии генерации. У текста словарь был всегда,</a:t>
            </a:r>
          </a:p>
          <a:p>
            <a:r>
              <a:t>потому что текст и так разбит на конечный набор лексем. Но изображение дискретным словарём</a:t>
            </a:r>
          </a:p>
          <a:p>
            <a:r>
              <a:t>описать можно, и это не эксперимент с проигрышем по деталям, а устройство двух самых массовых</a:t>
            </a:r>
          </a:p>
          <a:p>
            <a:r>
              <a:t>коммерческих инструментов на конец 2026 года: с 25 марта 2025 года встроенная в ChatGPT генерация</a:t>
            </a:r>
          </a:p>
          <a:p>
            <a:r>
              <a:t>GPT-4o авторегрессивна по дискретному словарю токенов картинки — в отличие от DALL·E, работавшего</a:t>
            </a:r>
          </a:p>
          <a:p>
            <a:r>
              <a:t>диффузией; с августа 2025 года тем же путём идёт Gemini 2.5 Flash Image, «Nano Banana». Всё, что</a:t>
            </a:r>
          </a:p>
          <a:p>
            <a:r>
              <a:t>этот и следующие технические кадры разбирают дальше, — устройство диффузионного и поточного</a:t>
            </a:r>
          </a:p>
          <a:p>
            <a:r>
              <a:t>семейства: Stable Diffusion, SD3, FLUX, Imagen. У авторегрессионного по токенам картинки словарь</a:t>
            </a:r>
          </a:p>
          <a:p>
            <a:r>
              <a:t>есть, и цена за это не нулевая: число шагов считается не в пикселях, а в токенах картинки — сотни</a:t>
            </a:r>
          </a:p>
          <a:p>
            <a:r>
              <a:t>и тысячи вместо двадцати–пятидесяти параллельных шагов диффузии, — и доступ только через закрытый</a:t>
            </a:r>
          </a:p>
          <a:p>
            <a:r>
              <a:t>расчётный API. Граница размывается и в третью сторону: расшумление пришло в текст (диффузионные</a:t>
            </a:r>
          </a:p>
          <a:p>
            <a:r>
              <a:t>языковые модели, направление молодое), а посередине живёт спрямлённый поток, формально уже не</a:t>
            </a:r>
          </a:p>
          <a:p>
            <a:r>
              <a:t>диффузия, куда индустрия последних двух лет ушла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a:p>
            <a:r>
              <a:t/>
            </a:r>
          </a:p>
          <a:p>
            <a:r>
              <a:t>Дальше технический блок разбирает устройство диффузионного и поточного семейства по частям: два</a:t>
            </a:r>
          </a:p>
          <a:p>
            <a:r>
              <a:t>семейства уже названы, прямой и обратный процесс, латентный патч, обусловливание, архитектуры,</a:t>
            </a:r>
          </a:p>
          <a:p>
            <a:r>
              <a:t>адаптеры. Этот кадр нужен затем, чтобы сразу увидеть, как они сходятся в одну картину — от строки</a:t>
            </a:r>
          </a:p>
          <a:p>
            <a:r>
              <a:t>описания на входе до файла на выходе.</a:t>
            </a:r>
          </a:p>
          <a:p>
            <a:r>
              <a:t/>
            </a:r>
          </a:p>
          <a:p>
            <a:r>
              <a:t>Путь начинается ещё до диффузионной сети. Описание словами в неё не попадает вовсе: сначала его</a:t>
            </a:r>
          </a:p>
          <a:p>
            <a:r>
              <a:t>читает отдельная текстовая модель — замороженная, обученная кем-то другим и раньше. У SD3 таких</a:t>
            </a:r>
          </a:p>
          <a:p>
            <a:r>
              <a:t>текстовых кодировщиков три, у FLUX.1 — два. Структурно это значит: часть качества генератора вам</a:t>
            </a:r>
          </a:p>
          <a:p>
            <a:r>
              <a:t>не принадлежит, она пришла вместе с чужой моделью. Измерение здесь прямое и для интуиции</a:t>
            </a:r>
          </a:p>
          <a:p>
            <a:r>
              <a:t>неудобное — увеличение текстового кодировщика даёт больший прирост качества, чем увеличение самой</a:t>
            </a:r>
          </a:p>
          <a:p>
            <a:r>
              <a:t>диффузионной сети. Самый крупный из них, T5-XXL, оплачивает ровно две вещи: длинные сложные</a:t>
            </a:r>
          </a:p>
          <a:p>
            <a:r>
              <a:t>инструкции и текст внутри картинки.</a:t>
            </a:r>
          </a:p>
          <a:p>
            <a:r>
              <a:t/>
            </a:r>
          </a:p>
          <a:p>
            <a:r>
              <a:t>Дальше идёт то, что обычно и называют «моделью». Работа ведётся в латенте — сжатом представлении</a:t>
            </a:r>
          </a:p>
          <a:p>
            <a:r>
              <a:t>картинки размером 128×128×16, то есть 262 144 числа; точек растра, которых у картинки 3 145 728,</a:t>
            </a:r>
          </a:p>
          <a:p>
            <a:r>
              <a:t>сеть расшумления не видит вовсе. Стартовое содержимое латента — чистый шум от генератора</a:t>
            </a:r>
          </a:p>
          <a:p>
            <a:r>
              <a:t>псевдослучайных чисел; именно он, а не «температура», отвечает за то, насколько разными выйдут</a:t>
            </a:r>
          </a:p>
          <a:p>
            <a:r>
              <a:t>картинки по одному описанию. Описание всё это время стоит неподвижно: оно условие, одинаковое на</a:t>
            </a:r>
          </a:p>
          <a:p>
            <a:r>
              <a:t>первом проходе и на последнем. Истории нет, накопления нет, места «рядом с вопросом» нет — отсюда</a:t>
            </a:r>
          </a:p>
          <a:p>
            <a:r>
              <a:t>растёт всё, что раздел дальше говорит о невозможности подложить в генерацию источник истины.</a:t>
            </a:r>
          </a:p>
          <a:p>
            <a:r>
              <a:t/>
            </a:r>
          </a:p>
          <a:p>
            <a:r>
              <a:t>Выход — третья часть. Латент разворачивает в точки растра декодировщик того же автокодировщика,</a:t>
            </a:r>
          </a:p>
          <a:p>
            <a:r>
              <a:t>который латент и определил. Это снова отдельно обученная модель, и у неё измеренный потолок:</a:t>
            </a:r>
          </a:p>
          <a:p>
            <a:r>
              <a:t>восстановление на четырёхканальном латенте даёт 25,12 дБ против 28,62 дБ на шестнадцатиканальном.</a:t>
            </a:r>
          </a:p>
          <a:p>
            <a:r>
              <a:t>Даже если сеть расшумления сработает идеально, картинка пройдёт через декодировщик, и то, что он</a:t>
            </a:r>
          </a:p>
          <a:p>
            <a:r>
              <a:t>размыл, обратно не появится. Буква — высокочастотная структура — страдает первой; поэтому вопрос</a:t>
            </a:r>
          </a:p>
          <a:p>
            <a:r>
              <a:t>«почему на картинке псевдобуквы» решается выбором автокодировщика, подбор описания здесь</a:t>
            </a:r>
          </a:p>
          <a:p>
            <a:r>
              <a:t>бессилен.</a:t>
            </a:r>
          </a:p>
          <a:p>
            <a:r>
              <a:t/>
            </a:r>
          </a:p>
          <a:p>
            <a:r>
              <a:t>Главное, что стоит унести: конвейер собран из частей, обученных порознь. Из этого следует, что</a:t>
            </a:r>
          </a:p>
          <a:p>
            <a:r>
              <a:t>части меняют по отдельности — один и тот же автокодировщик живёт под разными диффузионными</a:t>
            </a:r>
          </a:p>
          <a:p>
            <a:r>
              <a:t>сетями; что странное поведение на стыке частей есть системное свойство такой сборки, и чинить его</a:t>
            </a:r>
          </a:p>
          <a:p>
            <a:r>
              <a:t>в своей интеграции бесполезно; и практическое правило выбора — прежде чем спрашивать, насколько</a:t>
            </a:r>
          </a:p>
          <a:p>
            <a:r>
              <a:t>велика модель, спросите, какой у неё автокодировщик и какой текстовый кодировщик. Главный рычаг —</a:t>
            </a:r>
          </a:p>
          <a:p>
            <a:r>
              <a:t>токенизатор; размер модели здесь вторичен.</a:t>
            </a:r>
          </a:p>
          <a:p>
            <a:r>
              <a:t/>
            </a:r>
          </a:p>
          <a:p>
            <a:r>
              <a:t>И чего в этой схеме нет совсем. Нет словаря — ни на входе сети расшумления, ни на выходе: там</a:t>
            </a:r>
          </a:p>
          <a:p>
            <a:r>
              <a:t>непрерывные векторы. Нет нормировки и вероятности: спросить сеть «насколько ты уверена» попросту</a:t>
            </a:r>
          </a:p>
          <a:p>
            <a:r>
              <a:t>нечем. Нет кэша ключей и значений: на каждом проходе меняются все токены латента сразу. Нет</a:t>
            </a:r>
          </a:p>
          <a:p>
            <a:r>
              <a:t>переменной длины выхода: размер картинки задан до запуска. Каждое из этих отсутствий дальше в</a:t>
            </a:r>
          </a:p>
          <a:p>
            <a:r>
              <a:t>разделе превращается в конкретное ограничение инструмента, и ни одно не исчезнет в следующей</a:t>
            </a:r>
          </a:p>
          <a:p>
            <a:r>
              <a:t>версии модели: все четыре следуют из устройства, которое на этом кадре нарисовано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и есть то самое «от запроса до результата», которого раздел до сих пор не показывал прямо: схема устройства (`s16`) объясняла, из каких частей собран генератор, а здесь — что именно происходит с запросом, пока он не стал картинкой.</a:t>
            </a:r>
          </a:p>
          <a:p>
            <a:r>
              <a:t/>
            </a:r>
          </a:p>
          <a:p>
            <a:r>
              <a:t>Чистая дорожка. Кодировщик текста (замороженный, необучаемый на этом шаге) превращает описание в набор векторов один раз, и дальше эти векторы участвуют как Key и Value перекрёстного внимания на каждом из 20–50 проходов расшумления — ровно то устройство Q/K/V, которое курс ввёл на языковых моделях, только Query здесь берётся из латента картинки, а не из текста. Стартовая точка — латент 128×128 (с шестнадцатью или четырьмя каналами, в зависимости от поколения автокодировщика), заполненный чистым гауссовым шумом. Сеть предсказывает (в зависимости от параметризации) шум, исходную картинку или скорость, и по этому предсказанию латент немного правится в сторону чистого изображения. Шаг повторяется 20–50 раз — число задаёт сэмплер, а не архитектура и не размер сети: в 2020 году честная марковская цепочка требовала 1000 таких проходов, численные методы высокого порядка снизили это до 20–50 без потери качества, а дистилляция (ученик учится по одному проходу воспроизводить то, что учитель делает за два, и так 1000 доходит до 4) — до 1–4. Последний проход отдаёт латент автокодировщику, который разворачивает его в пиксели.</a:t>
            </a:r>
          </a:p>
          <a:p>
            <a:r>
              <a:t/>
            </a:r>
          </a:p>
          <a:p>
            <a:r>
              <a:t>Дорожка с примером отличается ровно в одной точке — старте. Вместо чистого шума латент берётся из исходной картинки, закодированной тем же автокодировщиком, и зашумлён не до конца, а до уровня t по расписанию шума; параметр, который в интерфейсах называют «strength», — это ровно выбор, с какого шага расписания начинать. Чем меньше шум на старте, тем меньше шагов нужно пройти до чистого изображения, и тем ближе результат к исходной картинке. Условие (текст) и устройство каждого прохода не меняются; меняется только то, с какой точки латентной траектории запуск начался. Тот же приём — маска: шум подмешивается только внутрь выделенной области, снаружи латент на каждом шаге возвращается к исходному без изменений.</a:t>
            </a:r>
          </a:p>
          <a:p>
            <a:r>
              <a:t/>
            </a:r>
          </a:p>
          <a:p>
            <a:r>
              <a:t>Чем расплачивается узкое место. Каждый из 20–50 проходов — это полный проход всей сети по латенту, а при включённом управлении по силе описания (CFG) — два проходы на шаг, не один: 50 шагов дают 100 проходов сети. Недистиллированная модель 1024×1024 на этом считает ≈20 секунд на игровой карте верхнего уровня; дистиллированная родственница того же размера — 4 шага, обусловливание уже вшито в веса, 4 прохода, ≈3 секунды. Разница — 25 раз при абсолютно том же размере сети: решает число проходов, а не вес модели. Плата за дистилляцию — не бесплатная экономия: ученик сходится к усреднённому хорошему ответу учителя, и десять генераций по одному описанию при разных стартовых шумах получаются похожими друг на друга сильнее, чем у недистиллированной модели. Для продуктового конвейера, где нужен один приличный кадр в секунду, обмен выгодный; для творческого перебора вариантов — потеря ровно того разнообразия, ради которого перебор и затевается.</a:t>
            </a:r>
          </a:p>
          <a:p>
            <a:r>
              <a:t/>
            </a:r>
          </a:p>
          <a:p>
            <a:r>
              <a:t>И граница параллели с языковой моделью, которую стоит держать рядом с этой схемой. У языковой модели на выходе — распределение вероятностей на словарь: дискретно, нормировано, отсюда логиты и температура. Здесь на выходе каждого прохода — вектор той же размерности, что латент: непрерывный, без нормировки, без вероятности. Поэтому у генератора изображений нет и не может быть меры уверенности в собственном выводе — а у текстового условия, в отличие от латента, мера уверенности есть, потому что оно было предсказано другой моделью, а не этой.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практическое следствие: диффузионная сеть</a:t>
            </a:r>
          </a:p>
          <a:p>
            <a:r>
              <a:t>не 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И вот число, на котором держится весь блок: картинка 1024×1024 — это 4096 токенов. Ровно того</a:t>
            </a:r>
          </a:p>
          <a:p>
            <a:r>
              <a:t>сорта токенов, по которым считается карта внимания каждый-против-каждого. Плюс текстовые токены</a:t>
            </a:r>
          </a:p>
          <a:p>
            <a:r>
              <a:t>обусловливания: 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здесь несущая: картинка, прошедшая через автокодировщик и обратно, уже не идентична оригиналу,</a:t>
            </a:r>
          </a:p>
          <a:p>
            <a:r>
              <a:t>причём не идентична ещё до того, как к ней притронулась генеративная модель. Это стоит</a:t>
            </a:r>
          </a:p>
          <a:p>
            <a:r>
              <a:t>проверить руками: прогнать фотографию через кодирование и декодирование без всякой генерации и</a:t>
            </a:r>
          </a:p>
          <a:p>
            <a:r>
              <a:t>посмотреть разницу. Пятиминутный опыт, объясняющий половину артефактов, которые вы видели в</a:t>
            </a:r>
          </a:p>
          <a:p>
            <a:r>
              <a:t>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 Описание не попадает в диффузионную сеть напрямую: его сначала</a:t>
            </a:r>
          </a:p>
          <a:p>
            <a:r>
              <a:t>обрабатывает отдельная, замороженная текстовая модель, и генератор видит только её выход —</a:t>
            </a:r>
          </a:p>
          <a:p>
            <a:r>
              <a:t>последовательность векторов. У SD3 таких частей четыре: автокодировщик плюс три текстовых</a:t>
            </a:r>
          </a:p>
          <a:p>
            <a:r>
              <a:t>кодировщика, и сверх них сама диффузионная сеть. Поколения различаются тем, какие кодировщики</a:t>
            </a:r>
          </a:p>
          <a:p>
            <a:r>
              <a:t>берут: первая SD — контрастную модель на 123 млн параметров, окно 77 токенов; SDXL — две такие;</a:t>
            </a:r>
          </a:p>
          <a:p>
            <a:r>
              <a:t>SD3 — три, включая большую языковую модель; FLUX.1 — две, причём языковая даёт потокенные</a:t>
            </a:r>
          </a:p>
          <a:p>
            <a:r>
              <a:t>представления до 512 токенов.</a:t>
            </a:r>
          </a:p>
          <a:p>
            <a:r>
              <a:t/>
            </a:r>
          </a:p>
          <a:p>
            <a:r>
              <a:t>Почему индустрия ушла от контрастных кодировщиков к обычным языковым: контрастная модель хорошо</a:t>
            </a:r>
          </a:p>
          <a:p>
            <a:r>
              <a:t>кодирует, про что картинка, и плохо — синтаксис, порядок слов, отрицание. В 2022 году впервые</a:t>
            </a:r>
          </a:p>
          <a:p>
            <a:r>
              <a:t>показано: увеличение текстового кодировщика даёт больший прирост качества, чем увеличение самой</a:t>
            </a:r>
          </a:p>
          <a:p>
            <a:r>
              <a:t>диффузионной сети. Измеренное следствие в практическом виде: авторы SD3 проверяли, что будет при</a:t>
            </a:r>
          </a:p>
          <a:p>
            <a:r>
              <a:t>удалении самого большого кодировщика — он важен для сложных описаний и текста внутри картинки, а</a:t>
            </a:r>
          </a:p>
          <a:p>
            <a:r>
              <a:t>для большинства описаний его удаление сохраняет конкурентное качество. Для инженера это значит</a:t>
            </a:r>
          </a:p>
          <a:p>
            <a:r>
              <a:t>прямо: 4,5 млрд параметров в памяти, и если задача не требует длинных описаний и надписей, его</a:t>
            </a:r>
          </a:p>
          <a:p>
            <a:r>
              <a:t>можно не грузить.</a:t>
            </a:r>
          </a:p>
          <a:p>
            <a:r>
              <a:t/>
            </a:r>
          </a:p>
          <a:p>
            <a:r>
              <a:t>Теперь сам механизм обусловливания. В поколении U-Net текстовые векторы влияют через</a:t>
            </a:r>
          </a:p>
          <a:p>
            <a:r>
              <a:t>перекрёстное внимание — тот же механизм, что курс уже разобрал,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«Q про текущий шаг, K и V про контекст»</a:t>
            </a:r>
          </a:p>
          <a:p>
            <a:r>
              <a:t>превращается здесь в «Q про картинку, K и V про текст». Карта внимания получается прямоугольной:</a:t>
            </a:r>
          </a:p>
          <a:p>
            <a:r>
              <a:t>4 096 областей картинки против 77 слов описания, и её можно буквально отрисовать и увидеть, какие</a:t>
            </a:r>
          </a:p>
          <a:p>
            <a:r>
              <a:t>области откликнулись на слово «кот». В поколении трансформеров перекрёстного внимания больше нет:</a:t>
            </a:r>
          </a:p>
          <a:p>
            <a:r>
              <a:t>текстовые и изобразительные токены склеивают в одну последовательность и пропускают через</a:t>
            </a:r>
          </a:p>
          <a:p>
            <a:r>
              <a:t>совместное внимание. Карта становится квадратной — 4 608 на столько же у SD3, — и текст «видит»</a:t>
            </a:r>
          </a:p>
          <a:p>
            <a:r>
              <a:t>картинку так же, как картинка видит текст; решали этим задачу «надпись горчицей на булочке»,</a:t>
            </a:r>
          </a:p>
          <a:p>
            <a:r>
              <a:t>где прежний односторонний вход не хватало.</a:t>
            </a:r>
          </a:p>
          <a:p>
            <a:r>
              <a:t/>
            </a:r>
          </a:p>
          <a:p>
            <a:r>
              <a:t>Остальные каналы обусловливания устроены по тому же принципу: картинка как условие — старт с</a:t>
            </a:r>
          </a:p>
          <a:p>
            <a:r>
              <a:t>зашумлённого оригинала; маска — шум подмешивается только внутри неё; структурное условие — карта</a:t>
            </a:r>
          </a:p>
          <a:p>
            <a:r>
              <a:t>глубины, края, поза; образец стиля или лица — «описание, но картинкой». Общий принцип: любое</a:t>
            </a:r>
          </a:p>
          <a:p>
            <a:r>
              <a:t>обусловливание в этом семействе — добавление ещё одного набора векторов во внимание или ещё</a:t>
            </a:r>
          </a:p>
          <a:p>
            <a:r>
              <a:t>одного слагаемого в предсказание шума. Жёстких ограничений среди них нет ни одного — и отсюда</a:t>
            </a:r>
          </a:p>
          <a:p>
            <a:r>
              <a:t>прямой переход к вопросу, которым аудитория задаётся сама и неверно: а разве направляющий</a:t>
            </a:r>
          </a:p>
          <a:p>
            <a:r>
              <a:t>коэффициент (CFG) не делает то же самое, что температура в языковой модели?</a:t>
            </a:r>
          </a:p>
          <a:p>
            <a:r>
              <a:t/>
            </a:r>
          </a:p>
          <a:p>
            <a:r>
              <a:t>Параллель неверна по существу, и разбирать её надо, а не упоминать, потому что оставленная без</a:t>
            </a:r>
          </a:p>
          <a:p>
            <a:r>
              <a:t>разбора она работает как знание и ведёт к неверным решениям. Сначала — где аналогия работает:</a:t>
            </a:r>
          </a:p>
          <a:p>
            <a:r>
              <a:t>оба параметра — единственная «ручка творчества» при запуске, оба не меняют веса и не добавляют</a:t>
            </a:r>
          </a:p>
          <a:p>
            <a:r>
              <a:t>знаний, у обоих есть рабочий диапазон, за которым выход деградирует, оба — свойство процедуры</a:t>
            </a:r>
          </a:p>
          <a:p>
            <a:r>
              <a:t>вывода. Четырёх совпадений достаточно, чтобы параллель казалась убедительной. Теперь четыре</a:t>
            </a:r>
          </a:p>
          <a:p>
            <a:r>
              <a:t>различия. Первое и несущее: что параметр делает с «мнением» модели. Температура — делитель</a:t>
            </a:r>
          </a:p>
          <a:p>
            <a:r>
              <a:t>логитов, порядок кандидатов не меняется никогда. CFG меняет само предсказание: экстраполирует за</a:t>
            </a:r>
          </a:p>
          <a:p>
            <a:r>
              <a:t>пределы того, что сеть выдала, и при коэффициенте семь итоговый вектор лежит там, где модель не</a:t>
            </a:r>
          </a:p>
          <a:p>
            <a:r>
              <a:t>предсказывала ничего. Второе — направление: рост температуры даёт больше случайности, рост CFG —</a:t>
            </a:r>
          </a:p>
          <a:p>
            <a:r>
              <a:t>меньше разнообразия и жёсткое следование описанию, противоположное. Третье — цена: у температуры</a:t>
            </a:r>
          </a:p>
          <a:p>
            <a:r>
              <a:t>ноль, у CFG два прохода сети на каждом шаге. Четвёртое — где сидит случайность: у языковой модели</a:t>
            </a:r>
          </a:p>
          <a:p>
            <a:r>
              <a:t>в сэмплере на каждом шаге, здесь — в стартовом шуме, и CFG к случайности отношения не имеет.</a:t>
            </a:r>
          </a:p>
          <a:p>
            <a:r>
              <a:t/>
            </a:r>
          </a:p>
          <a:p>
            <a:r>
              <a:t>Как это устроено внутри. При обучении модель учат одновременно условной и безусловной: ≈10%</a:t>
            </a:r>
          </a:p>
          <a:p>
            <a:r>
              <a:t>описаний заменяют пустой строкой. При запуске сеть вызывают дважды — с описанием и без, — берут</a:t>
            </a:r>
          </a:p>
          <a:p>
            <a:r>
              <a:t>разность и перешагивают в эту сторону с коэффициентом. Типичные значения: у ранних моделей 7–8,</a:t>
            </a:r>
          </a:p>
          <a:p>
            <a:r>
              <a:t>SDXL 5–8, SD3 4–5, FLUX.1 3,5. Цена названа прямо: два прохода вместо одного, генерация с CFG</a:t>
            </a:r>
          </a:p>
          <a:p>
            <a:r>
              <a:t>вдвое дороже; отсюда дистиллированные модели вшивают эффект в веса и вызывают сеть один раз —</a:t>
            </a:r>
          </a:p>
          <a:p>
            <a:r>
              <a:t>их ползунок «направление» ведёт себя иначе классического: это число, поданное на вход как</a:t>
            </a:r>
          </a:p>
          <a:p>
            <a:r>
              <a:t>признак, а не множитель экстраполяции.</a:t>
            </a:r>
          </a:p>
          <a:p>
            <a:r>
              <a:t/>
            </a:r>
          </a:p>
          <a:p>
            <a:r>
              <a:t>Что ломается на высоком коэффициенте — и у этого есть механизм, а не фольклор. При росте</a:t>
            </a:r>
          </a:p>
          <a:p>
            <a:r>
              <a:t>коэффициента дисперсия предсказанного шума уходит за пределы статистики, на которой обучался</a:t>
            </a:r>
          </a:p>
          <a:p>
            <a:r>
              <a:t>автокодировщик: декодер корректно восстановить такие амплитуды не умеет. На картинке это видно</a:t>
            </a:r>
          </a:p>
          <a:p>
            <a:r>
              <a:t>как пересвет, кислотная перенасыщенность цвета, «пластиковая» текстура, развал композиции и</a:t>
            </a:r>
          </a:p>
          <a:p>
            <a:r>
              <a:t>падение разнообразия. Практическое правило: CFG — не ползунок качества, это сила, с которой вы</a:t>
            </a:r>
          </a:p>
          <a:p>
            <a:r>
              <a:t>продавливаете выход за границу того, что модель считает правдоподобным. Негативное описание</a:t>
            </a:r>
          </a:p>
          <a:p>
            <a:r>
              <a:t>работает той же формулой с заменой безусловного предсказания на предсказание по другому тексту;</a:t>
            </a:r>
          </a:p>
          <a:p>
            <a:r>
              <a:t>оно ничего не запрещает — аналога маскирования логитов здесь нет и быть не может — и бесплатно</a:t>
            </a:r>
          </a:p>
          <a:p>
            <a:r>
              <a:t>по вычислениям, потому что второй проход и так делался; в моделях с дистиллированным</a:t>
            </a:r>
          </a:p>
          <a:p>
            <a:r>
              <a:t>обусловливанием второго прохода нет, и там оно либо не работает, либо требует включить настоящий</a:t>
            </a:r>
          </a:p>
          <a:p>
            <a:r>
              <a:t>CFG и заплатить вдвое — частый источник недоумения при переходе между поколениями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переехала из мира</a:t>
            </a:r>
          </a:p>
          <a:p>
            <a:r>
              <a:t>свёрточных сетей в тот же трансформер, который курс уже разбирал, — и переехала потому, что там</a:t>
            </a:r>
          </a:p>
          <a:p>
            <a:r>
              <a:t>работает масштабирование.</a:t>
            </a:r>
          </a:p>
          <a:p>
            <a:r>
              <a:t/>
            </a:r>
          </a:p>
          <a:p>
            <a:r>
              <a:t>U-Net придуман для сегментации медицинских снимков: свёрточная сеть уменьшает разрешение,</a:t>
            </a:r>
          </a:p>
          <a:p>
            <a:r>
              <a:t>наращивая каналы, потом симметрично восстанавливает, прокидывая выход каждого уровня сжимающей</a:t>
            </a:r>
          </a:p>
          <a:p>
            <a:r>
              <a:t>ветви в восстанавливающую. Расшумлению подошло по построению: вход и выход одного размера, нужна</a:t>
            </a:r>
          </a:p>
          <a:p>
            <a:r>
              <a:t>работа на всех масштабах. Текст попадал внутрь блоками перекрёстного внимания — трансформерные</a:t>
            </a:r>
          </a:p>
          <a:p>
            <a:r>
              <a:t>блоки там уже были, как вставки внутрь свёрточного каркаса, а не как сам каркас. Ушли от него</a:t>
            </a:r>
          </a:p>
          <a:p>
            <a:r>
              <a:t>потому, что свёрточный каркас несёт встроенные допущения о структуре картинки (локальность,</a:t>
            </a:r>
          </a:p>
          <a:p>
            <a:r>
              <a:t>инвариантность к сдвигу), которые помогают на малых данных и мешают на больших — сеть перестаёт</a:t>
            </a:r>
          </a:p>
          <a:p>
            <a:r>
              <a:t>масштабироваться предсказуемо.</a:t>
            </a:r>
          </a:p>
          <a:p>
            <a:r>
              <a:t/>
            </a:r>
          </a:p>
          <a:p>
            <a:r>
              <a:t>Работа про трансформер вместо U-Net вышла в декабре 2022 года. Латент нарезается на патчи, каждый</a:t>
            </a:r>
          </a:p>
          <a:p>
            <a:r>
              <a:t>патч линейно проецируется в вектор — та же входная таблица представлений, разобранная курсом,</a:t>
            </a:r>
          </a:p>
          <a:p>
            <a:r>
              <a:t>только вместо поиска по словарю здесь линейная проекция, потому что вход непрерывен. Измерение из</a:t>
            </a:r>
          </a:p>
          <a:p>
            <a:r>
              <a:t>приложения этой статьи стоит целого кадра: три модели на одном наборе и бюджете обучения, число</a:t>
            </a:r>
          </a:p>
          <a:p>
            <a:r>
              <a:t>параметров практически одинаковое, разница только в размере патча — на сколько токенов порезали</a:t>
            </a:r>
          </a:p>
          <a:p>
            <a:r>
              <a:t>один и тот же латент. Шестнадцатикратный рост вычислений даёт пятикратное улучшение метрики при</a:t>
            </a:r>
          </a:p>
          <a:p>
            <a:r>
              <a:t>неизменном размере модели — прямое подтверждение тезиса курса в новой области: стоимость и</a:t>
            </a:r>
          </a:p>
          <a:p>
            <a:r>
              <a:t>качество определяются длиной последовательности, а не числом весов. Здесь припев вечера</a:t>
            </a:r>
          </a:p>
          <a:p>
            <a:r>
              <a:t>предъявляется измерением: рычаг сидит в том, как нарезали вход.</a:t>
            </a:r>
          </a:p>
          <a:p>
            <a:r>
              <a:t/>
            </a:r>
          </a:p>
          <a:p>
            <a:r>
              <a:t>Следующее поколение, MMDiT, решало конкретную проблему: в прежних схемах текст был односторонним</a:t>
            </a:r>
          </a:p>
          <a:p>
            <a:r>
              <a:t>входом, и для сложных описаний этого не хватало. Решение — склеить токены текста и изображения в</a:t>
            </a:r>
          </a:p>
          <a:p>
            <a:r>
              <a:t>одну последовательность и пропустить через одно совместное внимание, с раздельными весами</a:t>
            </a:r>
          </a:p>
          <a:p>
            <a:r>
              <a:t>нормализации и проекций у текста и картинки, общая только операция внимания.</a:t>
            </a:r>
          </a:p>
          <a:p>
            <a:r>
              <a:t/>
            </a:r>
          </a:p>
          <a:p>
            <a:r>
              <a:t>Спрямлённый поток формально уже не диффузия: диффузия идёт от данных к шуму кривым путём,</a:t>
            </a:r>
          </a:p>
          <a:p>
            <a:r>
              <a:t>обратный путь тоже кривой, и интегрирование требует много шагов. Спрямлённый поток соединяет шум</a:t>
            </a:r>
          </a:p>
          <a:p>
            <a:r>
              <a:t>и данные прямой линией и учит сеть предсказывать скорость движения по ней — если траектория</a:t>
            </a:r>
          </a:p>
          <a:p>
            <a:r>
              <a:t>прямая, крупный шаг не вносит ошибки, и в пределе сэмплирование — один шаг. На практике идеала</a:t>
            </a:r>
          </a:p>
          <a:p>
            <a:r>
              <a:t>нет, но путь заметно прямее: 20–30 шагов дают то, на что диффузии нужно 50–100. Терминологическая</a:t>
            </a:r>
          </a:p>
          <a:p>
            <a:r>
              <a:t>честность: называть это диффузией сегодня строго говоря неточно — прямого процесса зашумления там</a:t>
            </a:r>
          </a:p>
          <a:p>
            <a:r>
              <a:t>нет, есть обучение векторного поля вдоль прямой; индустрия сохраняет слово по инерции и потому,</a:t>
            </a:r>
          </a:p>
          <a:p>
            <a:r>
              <a:t>что интерфейсы, сэмплеры и адаптеры общие.</a:t>
            </a:r>
          </a:p>
          <a:p>
            <a:r>
              <a:t/>
            </a:r>
          </a:p>
          <a:p>
            <a:r>
              <a:t>Про воспроизводимость — две вещи, вторая важнее первой. Вся случайность детерминированного</a:t>
            </a:r>
          </a:p>
          <a:p>
            <a:r>
              <a:t>сэмплера сосредоточена в стартовом шуме: те же веса, тот же сэмплер, то же число шагов дают ту</a:t>
            </a:r>
          </a:p>
          <a:p>
            <a:r>
              <a:t>же картинку. Это один из немногих пунктов, где медиа-модель воспроизводимее языковой — там</a:t>
            </a:r>
          </a:p>
          <a:p>
            <a:r>
              <a:t>температура, выставленная в ноль, детерминизма не даёт: стандартный vLLM, 1000 запросов одного</a:t>
            </a:r>
          </a:p>
          <a:p>
            <a:r>
              <a:t>запроса при нулевой температуре — 80 разных ответов (Thinking Machines Lab, «Defeating</a:t>
            </a:r>
          </a:p>
          <a:p>
            <a:r>
              <a:t>Nondeterminism in LLM Inference», сентябрь 2025, модель Qwen3-235B-A22B; виновата зависимость</a:t>
            </a:r>
          </a:p>
          <a:p>
            <a:r>
              <a:t>вычислительных ядер от размера пакета). Но «воспроизводимо» означает гораздо больше условий, чем</a:t>
            </a:r>
          </a:p>
          <a:p>
            <a:r>
              <a:t>кажется: весь список — 11 позиций, от версии автокодировщика до модели видеокарты, и любая из них</a:t>
            </a:r>
          </a:p>
          <a:p>
            <a:r>
              <a:t>меняет результат. Отсюда прямое требование: генеративный конвейер нужно версионировать как сборку</a:t>
            </a:r>
          </a:p>
          <a:p>
            <a:r>
              <a:t>программного продукта.</a:t>
            </a:r>
          </a:p>
          <a:p>
            <a:r>
              <a:t/>
            </a:r>
          </a:p>
          <a:p>
            <a:r>
              <a:t>И чего внутри нет совсем — каждое отсутствие содержательно. Нет каузальной маски: изображение</a:t>
            </a:r>
          </a:p>
          <a:p>
            <a:r>
              <a:t>смотрит во все стороны, внимание двунаправленное по построению. Нет кэша ключей и значений. Нет</a:t>
            </a:r>
          </a:p>
          <a:p>
            <a:r>
              <a:t>словаря и логитов — выход непрерывен. Нет длины выхода как переменной — размер задан до запуска.</a:t>
            </a:r>
          </a:p>
          <a:p>
            <a:r>
              <a:t/>
            </a:r>
          </a:p>
          <a:p>
            <a:r>
              <a:t>Поверх любой из этих четырёх архитектур работает один и тот же способ дообучения — лестница,</a:t>
            </a:r>
          </a:p>
          <a:p>
            <a:r>
              <a:t>которую курс уже ввёл для языковых моделей (описание, поиск по документам, дообучение,</a:t>
            </a:r>
          </a:p>
          <a:p>
            <a:r>
              <a:t>дистилляция), только средняя ступень здесь богаче: кроме «обучить адаптер» есть «подключить</a:t>
            </a:r>
          </a:p>
          <a:p>
            <a:r>
              <a:t>готовый управляющий модуль», и это часто дешевле. LoRA — низкоранговые матрицы-адаптеры в</a:t>
            </a:r>
          </a:p>
          <a:p>
            <a:r>
              <a:t>выбранные слои при замороженной базе, десятки–сотни МБ. Текстовая инверсия — самый экономный</a:t>
            </a:r>
          </a:p>
          <a:p>
            <a:r>
              <a:t>приём: обучается один вектор, становящийся «новым словом» в словаре текстового кодировщика, сама</a:t>
            </a:r>
          </a:p>
          <a:p>
            <a:r>
              <a:t>модель не меняется, авторам хватило 3–5 изображений концепта, результат — килобайты. DreamBooth —</a:t>
            </a:r>
          </a:p>
          <a:p>
            <a:r>
              <a:t>дообучение самой модели со связкой редкого идентификатора и объекта; на практике делается поверх</a:t>
            </a:r>
          </a:p>
          <a:p>
            <a:r>
              <a:t>LoRA, иначе гигабайты. ControlNet — обучаемая копия сжимающей половины модели, принимающая</a:t>
            </a:r>
          </a:p>
          <a:p>
            <a:r>
              <a:t>структурное условие через свёртки, инициализированные нулём, — сотни МБ. IP-Adapter — «описание</a:t>
            </a:r>
          </a:p>
          <a:p>
            <a:r>
              <a:t>картинкой»: образец кодируется отдельным перекрёстным вниманием параллельно текстовому; авторы</a:t>
            </a:r>
          </a:p>
          <a:p>
            <a:r>
              <a:t>заявляют качество полного дообучения при 22 млн параметров, десятки МБ.</a:t>
            </a:r>
          </a:p>
          <a:p>
            <a:r>
              <a:t/>
            </a:r>
          </a:p>
          <a:p>
            <a:r>
              <a:t>Структурный тезис тот же, что курс уже сформулировал: база заморожена, учится маленький довесок,</a:t>
            </a:r>
          </a:p>
          <a:p>
            <a:r>
              <a:t>довески модульны и складываются — здесь буквально: на одну базовую модель одновременно вешают</a:t>
            </a:r>
          </a:p>
          <a:p>
            <a:r>
              <a:t>адаптер стиля, структурное условие позы и образец лица, и все три работают вместе, не мешая друг</a:t>
            </a:r>
          </a:p>
          <a:p>
            <a:r>
              <a:t>другу. Именно эта складываемость сделала открытые веса рабочим инструментом в производстве: можно</a:t>
            </a:r>
          </a:p>
          <a:p>
            <a:r>
              <a:t>собрать конфигурацию из чужих кусков за часы вместо месяцев.</a:t>
            </a:r>
          </a:p>
          <a:p>
            <a:r>
              <a:t/>
            </a:r>
          </a:p>
          <a:p>
            <a:r>
              <a:t>Водораздел, который определяет, сколько будет стоить решение: ControlNet и IP-Adapter — это</a:t>
            </a:r>
          </a:p>
          <a:p>
            <a:r>
              <a:t>обусловливание, работа при запуске, веса не меняются, они стоят на стороне «разместить знание».</a:t>
            </a:r>
          </a:p>
          <a:p>
            <a:r>
              <a:t>LoRA и DreamBooth — на стороне «закодировать поведение». Вопрос «нам нужно дообучить модель под</a:t>
            </a:r>
          </a:p>
          <a:p>
            <a:r>
              <a:t>нашего персонажа» в половине случаев закрывается образцом лица за ноль часов обучения — ровно как</a:t>
            </a:r>
          </a:p>
          <a:p>
            <a:r>
              <a:t>«нам нужно дообучить языковую модель под нашу документацию» в половине случаев закрывается</a:t>
            </a:r>
          </a:p>
          <a:p>
            <a:r>
              <a:t>поиском по документам.</a:t>
            </a:r>
          </a:p>
          <a:p>
            <a:r>
              <a:t/>
            </a:r>
          </a:p>
          <a:p>
            <a:r>
              <a:t>И отдельно — то, ради чего адаптеры вообще стоят в техническом блоке. Здесь параллель с языковыми</a:t>
            </a:r>
          </a:p>
          <a:p>
            <a:r>
              <a:t>моделями работает полностью, и это надо назвать совпадением вслух. В блоке было уже несколько</a:t>
            </a:r>
          </a:p>
          <a:p>
            <a:r>
              <a:t>мест, где перенос знания оказывался ложным: температура и CFG управляют разными вещами, кэш здесь</a:t>
            </a:r>
          </a:p>
          <a:p>
            <a:r>
              <a:t>невозможен, подкладывания источника истины не существует. Легко прийти к выводу, что переносить</a:t>
            </a:r>
          </a:p>
          <a:p>
            <a:r>
              <a:t>нельзя ничего, — и это была бы вторая ошибка, зеркальная первой. Дообучение адаптером переносится</a:t>
            </a:r>
          </a:p>
          <a:p>
            <a:r>
              <a:t>без поправок: та же идея, та же экономика, те же размеры довесков. Умение различать, где перенос</a:t>
            </a:r>
          </a:p>
          <a:p>
            <a:r>
              <a:t>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Сводная таблица всего технического блока опирается на термин, который курс уже ввёл для</a:t>
            </a:r>
          </a:p>
          <a:p>
            <a:r>
              <a:t>языковых моделей, и показывает, во что он превращается в медиа-модели или почему исчезает по</a:t>
            </a:r>
          </a:p>
          <a:p>
            <a:r>
              <a:t>построению — исчезновение всегда показывает механизм, превращение можно принять за перемену</a:t>
            </a:r>
          </a:p>
          <a:p>
            <a:r>
              <a:t>названия. Правая колонка — про диффузию и поток: Stable Diffusion, SD3, FLUX, Imagen.</a:t>
            </a:r>
          </a:p>
          <a:p>
            <a:r>
              <a:t/>
            </a:r>
          </a:p>
          <a:p>
            <a:r>
              <a:t>Первая строка — единица данных, из неё следует почти всё остальное. У языковой модели это</a:t>
            </a:r>
          </a:p>
          <a:p>
            <a:r>
              <a:t>токен: идентификатор из словаря примерно в 200 тыс. позиций, зафиксированного до обучения. У</a:t>
            </a:r>
          </a:p>
          <a:p>
            <a:r>
              <a:t>медиа-модели единица — латентный патч: 2×2 ячейки латента по 16 каналов, 64 числа, непрерывный</a:t>
            </a:r>
          </a:p>
          <a:p>
            <a:r>
              <a:t>вектор. Словаря нет вовсе: маскировать нечего, запрещать нечему.</a:t>
            </a:r>
          </a:p>
          <a:p>
            <a:r>
              <a:t/>
            </a:r>
          </a:p>
          <a:p>
            <a:r>
              <a:t>Вторая — сколько этих единиц: у языковой модели задано длиной описания плюс ответа и окном</a:t>
            </a:r>
          </a:p>
          <a:p>
            <a:r>
              <a:t>128 тыс. — 1 млн; у медиа-модели — размером выхода, известным до запуска: 1024×1024 — ровно</a:t>
            </a:r>
          </a:p>
          <a:p>
            <a:r>
              <a:t>4096 токенов, параметр, а не переменная.</a:t>
            </a:r>
          </a:p>
          <a:p>
            <a:r>
              <a:t/>
            </a:r>
          </a:p>
          <a:p>
            <a:r>
              <a:t>Третья — что именно предсказывается: у языковой — распределение вероятностей на весь словарь,</a:t>
            </a:r>
          </a:p>
          <a:p>
            <a:r>
              <a:t>сумма равна единице, есть мера уверенности. У медиа-модели — вектор той же формы, что вход.</a:t>
            </a:r>
          </a:p>
          <a:p>
            <a:r>
              <a:t>Нормировки нет, вероятности нет: смотреть не на что, и не потому, что поставщик не показывает, а</a:t>
            </a:r>
          </a:p>
          <a:p>
            <a:r>
              <a:t>потому, что величины не существует.</a:t>
            </a:r>
          </a:p>
          <a:p>
            <a:r>
              <a:t/>
            </a:r>
          </a:p>
          <a:p>
            <a:r>
              <a:t>Четвёртая — роль контекста: у языковой история растёт и служит условием следующего токена. У</a:t>
            </a:r>
          </a:p>
          <a:p>
            <a:r>
              <a:t>диффузии и потока описание — постоянное условие, неизменное на всех пятидесяти шагах; истории</a:t>
            </a:r>
          </a:p>
          <a:p>
            <a:r>
              <a:t>нет вообще. Разница кажется мелкой, пока не доходит до вопроса, куда подложить источник истины:</a:t>
            </a:r>
          </a:p>
          <a:p>
            <a:r>
              <a:t>места «рядом с вопросом» здесь нет.</a:t>
            </a:r>
          </a:p>
          <a:p>
            <a:r>
              <a:t/>
            </a:r>
          </a:p>
          <a:p>
            <a:r>
              <a:t>Пятая — число проходов: N на N токенов у языковой модели; у медиа-модели — сколько назначил</a:t>
            </a:r>
          </a:p>
          <a:p>
            <a:r>
              <a:t>сэмплер, от одного до пятидесяти, независимо от размера выхода.</a:t>
            </a:r>
          </a:p>
          <a:p>
            <a:r>
              <a:t/>
            </a:r>
          </a:p>
          <a:p>
            <a:r>
              <a:t>Шестая — кэш, и её недооценивают чаще прочих. У языковой модели ключи и значения кэшируемы, пока</a:t>
            </a:r>
          </a:p>
          <a:p>
            <a:r>
              <a:t>относятся к неизменному контексту — отсюда асимметрия предзаполнения и генерации, тарифы на</a:t>
            </a:r>
          </a:p>
          <a:p>
            <a:r>
              <a:t>кэширование. У диффузии и потока от этой экономики не остаётся ничего: расшумление на каждом</a:t>
            </a:r>
          </a:p>
          <a:p>
            <a:r>
              <a:t>шаге переписывает все 4096 токенов сразу, неизменного контекста здесь нет. Это напрямую</a:t>
            </a:r>
          </a:p>
          <a:p>
            <a:r>
              <a:t>объясняет, почему одна картинка стоит как тысячи токенов текста: у языковой модели каждый</a:t>
            </a:r>
          </a:p>
          <a:p>
            <a:r>
              <a:t>следующий токен дешевеет за счёт кэша, у диффузии и потока каждый следующий шаг стоит ровно</a:t>
            </a:r>
          </a:p>
          <a:p>
            <a:r>
              <a:t>столько же, сколько первый.</a:t>
            </a:r>
          </a:p>
          <a:p>
            <a:r>
              <a:t/>
            </a:r>
          </a:p>
          <a:p>
            <a:r>
              <a:t>Седьмая — чем управляется выход. Курс показал механизм, который действительно является</a:t>
            </a:r>
          </a:p>
          <a:p>
            <a:r>
              <a:t>ограничением: грамматика схемы маскирует невалидные токены, и невалидный формат физически не</a:t>
            </a:r>
          </a:p>
          <a:p>
            <a:r>
              <a:t>может быть сгенерирован. В медиа-моделях такого рычага нет ни одного: CFG, негативное описание,</a:t>
            </a:r>
          </a:p>
          <a:p>
            <a:r>
              <a:t>адаптеры работают над непрерывным вектором, у которого распределения нет, и это просьбы, а не</a:t>
            </a:r>
          </a:p>
          <a:p>
            <a:r>
              <a:t>ограничения — проверка остаётся снаружи модели, в конвейере.</a:t>
            </a:r>
          </a:p>
          <a:p>
            <a:r>
              <a:t/>
            </a:r>
          </a:p>
          <a:p>
            <a:r>
              <a:t>Восьмая — галлюцинация, и разница лежит в природе ошибки. У языковой модели это ошибка</a:t>
            </a:r>
          </a:p>
          <a:p>
            <a:r>
              <a:t>содержания — проверяется по источнику. У медиа-модели — правдоподобная невозможность (шесть</a:t>
            </a:r>
          </a:p>
          <a:p>
            <a:r>
              <a:t>пальцев, отражение без источника, резьба без шага) — проверяется физикой и геометрией. Девятая —</a:t>
            </a:r>
          </a:p>
          <a:p>
            <a:r>
              <a:t>чем её чинят: подложить источник в контекст и потребовать ссылку работает у языковой модели и не</a:t>
            </a:r>
          </a:p>
          <a:p>
            <a:r>
              <a:t>работает ни у одной архитектуры генерации изображений — у расшумления контекста нет вовсе, у</a:t>
            </a:r>
          </a:p>
          <a:p>
            <a:r>
              <a:t>авторегрессии он есть, но ни один токен картинки не сверяется с внешним фактом на выходе.</a:t>
            </a:r>
          </a:p>
          <a:p>
            <a:r>
              <a:t/>
            </a:r>
          </a:p>
          <a:p>
            <a:r>
              <a:t>Десятая и одиннадцатая короткие, но дорогие. Длина выхода у языковой модели переменная и решается</a:t>
            </a:r>
          </a:p>
          <a:p>
            <a:r>
              <a:t>стоп-токеном; у медиа-модели задана до запуска, остановиться раньше нельзя. Провенанс: у ответа с</a:t>
            </a:r>
          </a:p>
          <a:p>
            <a:r>
              <a:t>поиском по документам есть ссылка на документ; у сгенерированного кадра его нет и не может быть,</a:t>
            </a:r>
          </a:p>
          <a:p>
            <a:r>
              <a:t>потому что вклад каждого обучающего примера размазан по миллиардам весов.</a:t>
            </a:r>
          </a:p>
          <a:p>
            <a:r>
              <a:t/>
            </a:r>
          </a:p>
          <a:p>
            <a:r>
              <a:t>И граница, без которой одиннадцать строк превращаются в догму. С 2025 года есть и другое, ходовое</a:t>
            </a:r>
          </a:p>
          <a:p>
            <a:r>
              <a:t>семейство — авторегрессия по дискретным токенам картинки: GPT-Image, встроенная в ChatGPT</a:t>
            </a:r>
          </a:p>
          <a:p>
            <a:r>
              <a:t>генерация GPT-4o с 25 марта 2025 года (сама OpenAI называет её авторегрессионной, в отличие от</a:t>
            </a:r>
          </a:p>
          <a:p>
            <a:r>
              <a:t>диффузионного DALL·E), и Gemini 2.5 Flash Image с августа 2025 года. У неё из первых шести строк</a:t>
            </a:r>
          </a:p>
          <a:p>
            <a:r>
              <a:t>расходятся пять: словарь есть и дискретен; предсказывается распределение на этот словарь; контекст</a:t>
            </a:r>
          </a:p>
          <a:p>
            <a:r>
              <a:t>растёт тем же механизмом, что у языковой модели; число проходов равно числу токенов изображения;</a:t>
            </a:r>
          </a:p>
          <a:p>
            <a:r>
              <a:t>кэш работает ровно как у языковой модели, а дороговизна — от числа последовательных токенов на</a:t>
            </a:r>
          </a:p>
          <a:p>
            <a:r>
              <a:t>кадр, сотни-тысячи против двадцати-пятидесяти параллельных шагов диффузии. Не меняется только</a:t>
            </a:r>
          </a:p>
          <a:p>
            <a:r>
              <a:t>вторая строка: сколько токенов будет в кадре решено заранее размером изображения, а не</a:t>
            </a:r>
          </a:p>
          <a:p>
            <a:r>
              <a:t>стоп-токеном. Классы ошибок при этом лечатся по-разному и для медиа-модели вообще не лечатся</a:t>
            </a:r>
          </a:p>
          <a:p>
            <a:r>
              <a:t>внутри: анатомия и счёт — обусловливанием позой или перегенерацией; физика и свет — не лечится</a:t>
            </a:r>
          </a:p>
          <a:p>
            <a:r>
              <a:t>вовсе; текст — вставкой слоем вне генератора; техническая невозможность — выводом «генератор не</a:t>
            </a:r>
          </a:p>
          <a:p>
            <a:r>
              <a:t>тот инструмент».</a:t>
            </a:r>
          </a:p>
          <a:p>
            <a:r>
              <a:t/>
            </a:r>
          </a:p>
          <a:p>
            <a:r>
              <a:t>Теперь экономический разворот, и для этой аудитории он контринтуитивен. Четыре верхние строки и</a:t>
            </a:r>
          </a:p>
          <a:p>
            <a:r>
              <a:t>три нижние смотрят в разные стороны: обучить картиночную модель в 200–400 раз дешевле, чем</a:t>
            </a:r>
          </a:p>
          <a:p>
            <a:r>
              <a:t>передовую языковую, — и каждый её запуск в 40–60 раз прожорливее.</a:t>
            </a:r>
          </a:p>
          <a:p>
            <a:r>
              <a:t/>
            </a:r>
          </a:p>
          <a:p>
            <a:r>
              <a:t>Сверху: вычислений на обучение SD v1 — 5·10²² операций; у передовых языковых — от 420 до 7 600</a:t>
            </a:r>
          </a:p>
          <a:p>
            <a:r>
              <a:t>раз больше. Часов видеокарт: 150 000 против ≈57 млн у GPT-4 и 30,8 млн у Llama 3.1 405B. Денег:</a:t>
            </a:r>
          </a:p>
          <a:p>
            <a:r>
              <a:t>$0,6 млн аренды против $78,4 млн и $191,4 млн. Размер весов: 4,27 ГБ против ≈810 ГБ.</a:t>
            </a:r>
          </a:p>
          <a:p>
            <a:r>
              <a:t/>
            </a:r>
          </a:p>
          <a:p>
            <a:r>
              <a:t>Снизу всё наоборот: 5,5 петафлопс на картинку против 0,14 петафлопс на 1000 токенов текста;</a:t>
            </a:r>
          </a:p>
          <a:p>
            <a:r>
              <a:t>2,907 кВт·ч на 1000 генераций против 0,047 на 1000 ответов; $120 за млн токенов картинки против</a:t>
            </a:r>
          </a:p>
          <a:p>
            <a:r>
              <a:t>$12 за млн токенов текста у ОДНОЙ и ТОЙ ЖЕ модели — она сама оценивает свой выход картинкой</a:t>
            </a:r>
          </a:p>
          <a:p>
            <a:r>
              <a:t>вдесятеро дороже. Откуда берутся сорок раз, считается за минуту: 4096 токенов картинки плюс 512</a:t>
            </a:r>
          </a:p>
          <a:p>
            <a:r>
              <a:t>текста = 4608; один проход ≈0,11 петафлопс; 50 шагов сэмплера дают ≈5,5 петафлопс; ответ языковой</a:t>
            </a:r>
          </a:p>
          <a:p>
            <a:r>
              <a:t>модели на 1000 токенов при 70 млрд параметров — ≈0,14 петафлопс; отношение ≈39. Для</a:t>
            </a:r>
          </a:p>
          <a:p>
            <a:r>
              <a:t>дистиллированной модели в 4 шага — 0,44 петафлопс, отношение падает до 3. Вывод: «почему картинка</a:t>
            </a:r>
          </a:p>
          <a:p>
            <a:r>
              <a:t>дорогая» — на порядок больше вопрос числа шагов, чем размера модели.</a:t>
            </a:r>
          </a:p>
          <a:p>
            <a:r>
              <a:t/>
            </a:r>
          </a:p>
          <a:p>
            <a:r>
              <a:t>И наблюдение кадра: картиночные модели перестали расти. SD v1 в 2022 и SD3 в 2024 потратили на</a:t>
            </a:r>
          </a:p>
          <a:p>
            <a:r>
              <a:t>обучение одно и то же число операций — названо прямо в их собственной статье. За те же два года</a:t>
            </a:r>
          </a:p>
          <a:p>
            <a:r>
              <a:t>вычисления передовых языковых моделей росли в 4–5 раз в год, амортизированная стоимость — в 2,4</a:t>
            </a:r>
          </a:p>
          <a:p>
            <a:r>
              <a:t>раза в год с 2016-го. Разрыв увеличивается не потому, что картинки дешевеют, а потому, что</a:t>
            </a:r>
          </a:p>
          <a:p>
            <a:r>
              <a:t>языковые модели дорожают; видимое следствие на рынке — базовых языковых моделей переднего края</a:t>
            </a:r>
          </a:p>
          <a:p>
            <a:r>
              <a:t>единицы, а серьёзных базовых генераторов изображений и видео десятки, включая полностью открытые.</a:t>
            </a:r>
          </a:p>
          <a:p>
            <a:r>
              <a:t>Это арифметика, а не щедрость.</a:t>
            </a:r>
          </a:p>
          <a:p>
            <a:r>
              <a:t/>
            </a:r>
          </a:p>
          <a:p>
            <a:r>
              <a:t>Прозрачность здесь хуже, чем у языковых моделей, при открытых весах: из пяти картиночных</a:t>
            </a:r>
          </a:p>
          <a:p>
            <a:r>
              <a:t>моделей, по которым лекция считает обучение, числа раскрыты только по двум — SD v1 и SD3; по</a:t>
            </a:r>
          </a:p>
          <a:p>
            <a:r>
              <a:t>SDXL, FLUX.1 и DALL·E 3 не раскрыты ни часы видеокарт, ни стоимость, ни объём вычислений. «Открытая</a:t>
            </a:r>
          </a:p>
          <a:p>
            <a:r>
              <a:t>модель» и «прозрачная модель» — разные свойства.</a:t>
            </a:r>
          </a:p>
          <a:p>
            <a:r>
              <a:t/>
            </a:r>
          </a:p>
          <a:p>
            <a:r>
              <a:t>Инженерный вывод блока: у медиа-моделей почти вся стоимость владения сидит в запуске, у передовых</a:t>
            </a:r>
          </a:p>
          <a:p>
            <a:r>
              <a:t>языковых исторически — в обучении. Отсюда разная экономика продуктов: одни раздают веса и продают</a:t>
            </a:r>
          </a:p>
          <a:p>
            <a:r>
              <a:t>доступ и мощности, другие веса защищают, потому что в них вложено то, что нельзя повторить за</a:t>
            </a:r>
          </a:p>
          <a:p>
            <a:r>
              <a:t>150 000 часов видеокарт. И прикладное правило: для генеративного медиа прогноз нагрузки важнее</a:t>
            </a:r>
          </a:p>
          <a:p>
            <a:r>
              <a:t>выбора модели — ошибка в выборе модели стоит процентов, ошибка в оценке числа генераций —</a:t>
            </a:r>
          </a:p>
          <a:p>
            <a:r>
              <a:t>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надо отличать от временных дефектов: «модель</a:t>
            </a:r>
          </a:p>
          <a:p>
            <a:r>
              <a:t>пока плохо рисует руки» и «у модели нет понятия объекта» — утверждения разного рода, и второе не</a:t>
            </a:r>
          </a:p>
          <a:p>
            <a:r>
              <a:t>чинится обучением.</a:t>
            </a:r>
          </a:p>
          <a:p>
            <a:r>
              <a:t/>
            </a:r>
          </a:p>
          <a:p>
            <a:r>
              <a:t>Отказ первый — текст внутри изображения, у него две независимые причины. Первая — автокодировщик:</a:t>
            </a:r>
          </a:p>
          <a:p>
            <a:r>
              <a:t>буква — высокочастотная структура, сжатие в 48 раз размывает её ещё до того, как к изображению</a:t>
            </a:r>
          </a:p>
          <a:p>
            <a:r>
              <a:t>притронется генеративная сеть; измеренная потеря — 25,12 дБ на четырёхканальном латенте против</a:t>
            </a:r>
          </a:p>
          <a:p>
            <a:r>
              <a:t>28,62 дБ на шестнадцатиканальном, и эти 3,5 децибела и есть разница между псевдобуквами и</a:t>
            </a:r>
          </a:p>
          <a:p>
            <a:r>
              <a:t>читаемой надписью. Вторая причина — текстовый кодировщик: контрастно обученный хорошо кодирует,</a:t>
            </a:r>
          </a:p>
          <a:p>
            <a:r>
              <a:t>про что картинка, и плохо — точную последовательность символов; при удалении большой языковой</a:t>
            </a:r>
          </a:p>
          <a:p>
            <a:r>
              <a:t>модели из входа деградируют ровно два класса задач — сложные детализированные описания и длинный</a:t>
            </a:r>
          </a:p>
          <a:p>
            <a:r>
              <a:t>текст по буквам. К 2024–2026 годам проблема смягчена шестнадцатью каналами латента, большим</a:t>
            </a:r>
          </a:p>
          <a:p>
            <a:r>
              <a:t>текстовым кодировщиком и совместным внимением, но не закрыта: длинные строки, мелкий кегль,</a:t>
            </a:r>
          </a:p>
          <a:p>
            <a:r>
              <a:t>нелатинские письменности, кириллица остаются ненадёжными. Инженерное правило, которое отсюда</a:t>
            </a:r>
          </a:p>
          <a:p>
            <a:r>
              <a:t>следует: надписи в производственных материалах не генерируют — их накладывают отдельным слоем,</a:t>
            </a:r>
          </a:p>
          <a:p>
            <a:r>
              <a:t>настоящим шрифтом, вне генератора. Это случай, когда правильный ответ звучит как «здесь модель не</a:t>
            </a:r>
          </a:p>
          <a:p>
            <a:r>
              <a:t>нужна»: векторный текст поверх растрового фона решает задачу точно, дёшево, редактируемо и с</a:t>
            </a:r>
          </a:p>
          <a:p>
            <a:r>
              <a:t>гарантией, а у генерации неудачных попыток не бывает только у первого способа.</a:t>
            </a:r>
          </a:p>
          <a:p>
            <a:r>
              <a:t/>
            </a:r>
          </a:p>
          <a:p>
            <a:r>
              <a:t>Отказ второй — счёт объектов и пространственные отношения, измеренный воспроизводимый провал, а</a:t>
            </a:r>
          </a:p>
          <a:p>
            <a:r>
              <a:t>не анекдот про шесть пальцев. Специализированные наборы задач выделяют счёт в отдельную категорию</a:t>
            </a:r>
          </a:p>
          <a:p>
            <a:r>
              <a:t>именно потому, что результаты там систематически хуже остальных, и это держится даже там, где у</a:t>
            </a:r>
          </a:p>
          <a:p>
            <a:r>
              <a:t>модели есть словарь: у GPT-4o, авторегрессионного по дискретным токенам, счёт на GenEval — 0,85</a:t>
            </a:r>
          </a:p>
          <a:p>
            <a:r>
              <a:t>против собственного присутствия объекта почти 0,99, а на GenOlympiad 2026 года лучшая модель</a:t>
            </a:r>
          </a:p>
          <a:p>
            <a:r>
              <a:t>момента набирает всего 23,9 из 100 именно на оси счёта. Значит, дискретность словаря не та</a:t>
            </a:r>
          </a:p>
          <a:p>
            <a:r>
              <a:t>причина, которая чинит или держит счёт. Причина лежит в том, что предсказывает сеть: модель не</a:t>
            </a:r>
          </a:p>
          <a:p>
            <a:r>
              <a:t>считает объекты — она предсказывает числа в ячейках латента или вес внимания на позицию словаря.</a:t>
            </a:r>
          </a:p>
          <a:p>
            <a:r>
              <a:t>Слово «три» в описании — токен, влияющий на распределение весов внимания, а не счётчик. Понятия</a:t>
            </a:r>
          </a:p>
          <a:p>
            <a:r>
              <a:t>дискретного объекта в механизме нет ни в каком виде. И лечится это так же, как «слепота к буквам»</a:t>
            </a:r>
          </a:p>
          <a:p>
            <a:r>
              <a:t>у языковых моделей, — внешней проверкой: детектор посчитал, число не сошлось, перегенерировали.</a:t>
            </a:r>
          </a:p>
          <a:p>
            <a:r>
              <a:t>Навыком счёта это не лечится ни у одной архитектуры, потому что считать нечему.</a:t>
            </a:r>
          </a:p>
          <a:p>
            <a:r>
              <a:t/>
            </a:r>
          </a:p>
          <a:p>
            <a:r>
              <a:t>Отказ третий — и здесь семейства расходятся настоящим образом. У диффузии понятия объекта нет</a:t>
            </a:r>
          </a:p>
          <a:p>
            <a:r>
              <a:t>вовсе, «вот этот стул — тот же самый стул» между двумя генерациями не существует: согласованность</a:t>
            </a:r>
          </a:p>
          <a:p>
            <a:r>
              <a:t>достигается статистически — общим стартовым шумом, образцом лица, адаптером, — и деградирует с</a:t>
            </a:r>
          </a:p>
          <a:p>
            <a:r>
              <a:t>длиной серии. У авторегрессионного семейства по токенам картинки (с 2025 года) есть подлинная</a:t>
            </a:r>
          </a:p>
          <a:p>
            <a:r>
              <a:t>растущая история в общем токен-потоке, и независимые оценки показывают заметно лучшую</a:t>
            </a:r>
          </a:p>
          <a:p>
            <a:r>
              <a:t>согласованность персонажа — лучшую, не решённую: drift на длинных сериях документирован и здесь,</a:t>
            </a:r>
          </a:p>
          <a:p>
            <a:r>
              <a:t>просто окно устойчивости шире. Любой конвейер, которому нужен один и тот же персонаж, товар или</a:t>
            </a:r>
          </a:p>
          <a:p>
            <a:r>
              <a:t>интерфейс в серии кадров, обязан держать идентичность снаружи модели — у обоих семейств, с разным</a:t>
            </a:r>
          </a:p>
          <a:p>
            <a:r>
              <a:t>запасом прочности.</a:t>
            </a:r>
          </a:p>
          <a:p>
            <a:r>
              <a:t/>
            </a:r>
          </a:p>
          <a:p>
            <a:r>
              <a:t>И теперь — одно свойство, прочитанное с двух сторон, а не ещё один отказ в списке. Ограничения</a:t>
            </a:r>
          </a:p>
          <a:p>
            <a:r>
              <a:t>выше обычно читают как недостатки, которые следующая версия модели закроет. Для буквы и лица на</a:t>
            </a:r>
          </a:p>
          <a:p>
            <a:r>
              <a:t>дальнем плане это неверно проверяемым образом: оба следуют из того же свойства, которое дало</a:t>
            </a:r>
          </a:p>
          <a:p>
            <a:r>
              <a:t>выигрыш, и закрыть их, не отменив выигрыш, нельзя. Свойство — сжатие в 48 раз, превратившее</a:t>
            </a:r>
          </a:p>
          <a:p>
            <a:r>
              <a:t>3 145 728 чисел в 4096 токенов. Что оно дало: полтора порядка вычислений на каждом из десятков</a:t>
            </a:r>
          </a:p>
          <a:p>
            <a:r>
              <a:t>шагов, отсюда генерация на карте с 6–8 ГБ в августе 2022 года, открытые веса как рабочий</a:t>
            </a:r>
          </a:p>
          <a:p>
            <a:r>
              <a:t>инструмент, цена попытки $0,034–0,05 против $50–150 за заказ. Что оно забрало: буква размывается</a:t>
            </a:r>
          </a:p>
          <a:p>
            <a:r>
              <a:t>ещё до генерации; лицо на дальнем плане занимает единицы ячеек латента — восстанавливать в нём</a:t>
            </a:r>
          </a:p>
          <a:p>
            <a:r>
              <a:t>нечего; регулярные мелкие текстуры «кипят», тонкие длинные структуры рвутся при декодировании.</a:t>
            </a:r>
          </a:p>
          <a:p>
            <a:r>
              <a:t>Счёт объектов в этот список не входит: он остаётся слабейшей категорией композиции и у</a:t>
            </a:r>
          </a:p>
          <a:p>
            <a:r>
              <a:t>архитектур без всякого сжатия в непрерывный латент, с настоящим дискретным словарём — причина</a:t>
            </a:r>
          </a:p>
          <a:p>
            <a:r>
              <a:t>там другая и глубже, и не лечится ни большим автокодировщиком, ни словарём.</a:t>
            </a:r>
          </a:p>
          <a:p>
            <a:r>
              <a:t/>
            </a:r>
          </a:p>
          <a:p>
            <a:r>
              <a:t>Из этого следует правило выбора инструмента, которое переносится далеко за пределы генерации</a:t>
            </a:r>
          </a:p>
          <a:p>
            <a:r>
              <a:t>картинок: спрашивайте не «умеет ли инструмент такое-то», а «что именно он сжал, чтобы стать</a:t>
            </a:r>
          </a:p>
          <a:p>
            <a:r>
              <a:t>дешёвым». Ответ на второй вопрос предсказывает отказы, которых в документации ещё нет, тогда как</a:t>
            </a:r>
          </a:p>
          <a:p>
            <a:r>
              <a:t>ответ на первый устаревает с каждым выпуском. Когда в обзоре написано «новая версия наконец</a:t>
            </a:r>
          </a:p>
          <a:p>
            <a:r>
              <a:t>научилась рисовать текст», полезно спросить, за счёт чего: обычно ответ — больший автокодировщик,</a:t>
            </a:r>
          </a:p>
          <a:p>
            <a:r>
              <a:t>то есть меньшее сжатие, то есть больше вычислений на каждом шаге. Ограничение не исчезло —</a:t>
            </a:r>
          </a:p>
          <a:p>
            <a:r>
              <a:t>качество куплено за ту самую величину, экономия которой и сделала метод дешёвым.</a:t>
            </a:r>
          </a:p>
          <a:p>
            <a:r>
              <a:t/>
            </a:r>
          </a:p>
          <a:p>
            <a:r>
              <a:t>У правила есть и обратная сторона, иначе оно читается как совет не пользоваться инструментом.</a:t>
            </a:r>
          </a:p>
          <a:p>
            <a:r>
              <a:t>Сжатие выбрасывает высокие частоты и мелкие детали — и ровно поэтому генерация отлично работает</a:t>
            </a:r>
          </a:p>
          <a:p>
            <a:r>
              <a:t>там, где значима композиция, цвет, настроение и общая форма, то есть на стадии, где облик ещё</a:t>
            </a:r>
          </a:p>
          <a:p>
            <a:r>
              <a:t>ищут. Отказы и выигрыш распределены по стадиям производства, а не по качеству модели: на поиске</a:t>
            </a:r>
          </a:p>
          <a:p>
            <a:r>
              <a:t>облика свойство работает на вас, на выпуске готового материала — против. Знание границы избавляет</a:t>
            </a:r>
          </a:p>
          <a:p>
            <a:r>
              <a:t>от выбора между «пользоваться» и «не пользоваться»: инструмент расставляют по стадиям, и это</a:t>
            </a:r>
          </a:p>
          <a:p>
            <a:r>
              <a:t>инженерный ответ, а не крайность.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раздела для инженерной аудитории сформулировано так, чтобы его можно было</a:t>
            </a:r>
          </a:p>
          <a:p>
            <a:r>
              <a:t>проверить до запуска проекта, а не после. Генератор производит картинку объекта. Модели объекта</a:t>
            </a:r>
          </a:p>
          <a:p>
            <a:r>
              <a:t>внутри картинки нет: нет единиц измерения, нет допусков, нет материалов, нет кинематики, нет</a:t>
            </a:r>
          </a:p>
          <a:p>
            <a:r>
              <a:t>ограничений как проверяемых условий, нет дерева построения. Изображение детали, на котором</a:t>
            </a:r>
          </a:p>
          <a:p>
            <a:r>
              <a:t>похоже, что резьба М12, не содержит резьбы М12 — оно содержит точки растра, статистически похожие</a:t>
            </a:r>
          </a:p>
          <a:p>
            <a:r>
              <a:t>на фотографии резьбы: по первому можно нарезать резьбу, по второму нельзя, потому что нечего</a:t>
            </a:r>
          </a:p>
          <a:p>
            <a:r>
              <a:t>нарезать.</a:t>
            </a:r>
          </a:p>
          <a:p>
            <a:r>
              <a:t/>
            </a:r>
          </a:p>
          <a:p>
            <a:r>
              <a:t>Отсюда четыре практических запрета, каждый проверяется за секунду. Нельзя измерить: снять размер</a:t>
            </a:r>
          </a:p>
          <a:p>
            <a:r>
              <a:t>с генерации нечем, масштаба в изображении нет — даже линейка в кадре нарисуется статистически</a:t>
            </a:r>
          </a:p>
          <a:p>
            <a:r>
              <a:t>похожей, с делениями в произвольных местах. Нельзя проверить — и здесь опасная часть:</a:t>
            </a:r>
          </a:p>
          <a:p>
            <a:r>
              <a:t>сгенерированная конструкция не проходила ни прочностного расчёта, ни проверки собираемости, и</a:t>
            </a:r>
          </a:p>
          <a:p>
            <a:r>
              <a:t>выглядит ровно так же, как прошедшая. У ошибки нет внешнего признака, по которому её поймал бы</a:t>
            </a:r>
          </a:p>
          <a:p>
            <a:r>
              <a:t>беглый взгляд или согласование; неудобное ограничение заставляет делать лишнюю работу, опасное</a:t>
            </a:r>
          </a:p>
          <a:p>
            <a:r>
              <a:t>позволяет не делать нужную и не заметить этого. Нельзя изготовить: на выходе нет геометрии, которую</a:t>
            </a:r>
          </a:p>
          <a:p>
            <a:r>
              <a:t>примет станок. Нельзя сопровождать: дерева построения нет, значит, «поменять диаметр и</a:t>
            </a:r>
          </a:p>
          <a:p>
            <a:r>
              <a:t>пересчитать» невозможно — любое изменение требует новой генерации, а новая генерация даёт другую</a:t>
            </a:r>
          </a:p>
          <a:p>
            <a:r>
              <a:t>деталь, а не изменённую ту же самую.</a:t>
            </a:r>
          </a:p>
          <a:p>
            <a:r>
              <a:t/>
            </a:r>
          </a:p>
          <a:p>
            <a:r>
              <a:t>Честная вторая половина обязательна, иначе кадр превращается в запрет вместо критерия. На стадии</a:t>
            </a:r>
          </a:p>
          <a:p>
            <a:r>
              <a:t>поиска облика генератор работает ровно так, как в рекламе, и по той же экономике. В визуализации</a:t>
            </a:r>
          </a:p>
          <a:p>
            <a:r>
              <a:t>уже посчитанного геометрия пришла из расчёта, а модель занимается тем, чем должна — внешним</a:t>
            </a:r>
          </a:p>
          <a:p>
            <a:r>
              <a:t>видом. В презентационных материалах — тоже.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Формулировка, которую стоит унести: генератор отвечает на вопрос «как это выглядит», САПР</a:t>
            </a:r>
          </a:p>
          <a:p>
            <a:r>
              <a:t>отвечает на вопрос «что это такое»; подменять второй первым — подлог, а не экономия. Связка с</a:t>
            </a:r>
          </a:p>
          <a:p>
            <a:r>
              <a:t>разбором бионической перегородки прямая: там выигрыш приписали модели задним числом, здесь модель</a:t>
            </a:r>
          </a:p>
          <a:p>
            <a:r>
              <a:t>пытаются поставить туда, где нужен решатель, заранее — обе ошибки одного класса, и обе ловятся</a:t>
            </a:r>
          </a:p>
          <a:p>
            <a:r>
              <a:t>одним вопросом: что в этой задаче критерий и можно ли его проверить вычислением.</a:t>
            </a:r>
          </a:p>
          <a:p>
            <a:r>
              <a:t/>
            </a:r>
          </a:p>
          <a:p>
            <a:r>
              <a:t>Тот же класс ограничения виден и с другой стороны, и к нему инженер, пришедший из работы с</a:t>
            </a:r>
          </a:p>
          <a:p>
            <a:r>
              <a:t>языковыми моделями, приходит одним из первых вопросов: у нас есть приём, которым чинят уверенное</a:t>
            </a:r>
          </a:p>
          <a:p>
            <a:r>
              <a:t>враньё — положить источник в контекст и потребовать ссылку; где такой же приём для картинок?</a:t>
            </a:r>
          </a:p>
          <a:p>
            <a:r>
              <a:t>Ответа нет, и причина устройственная, а не продуктовая. По шагам: в языковой модели источник</a:t>
            </a:r>
          </a:p>
          <a:p>
            <a:r>
              <a:t>попадает в контекст — последовательность токенов, которую модель читает прежде, чем отвечать, и</a:t>
            </a:r>
          </a:p>
          <a:p>
            <a:r>
              <a:t>внимание может на него сослаться. В диффузии и потоке контекста в этом смысле нет вовсе: описание</a:t>
            </a:r>
          </a:p>
          <a:p>
            <a:r>
              <a:t>— постоянное условие, неизменное на всех пятидесяти шагах, и входит как набор векторов, смещающих</a:t>
            </a:r>
          </a:p>
          <a:p>
            <a:r>
              <a:t>внимание; положить документ некуда, единственный вход кроме стартового шума — каналы</a:t>
            </a:r>
          </a:p>
          <a:p>
            <a:r>
              <a:t>обусловливания, а они передают геометрию и стиль, а не утверждения. У авторегрессии по токенам</a:t>
            </a:r>
          </a:p>
          <a:p>
            <a:r>
              <a:t>картинки (с 2025 года) контекст в буквальном смысле есть и растёт тем же механизмом, что у</a:t>
            </a:r>
          </a:p>
          <a:p>
            <a:r>
              <a:t>языковой модели, и туда можно положить референсное изображение или текст, — но это не чинит</a:t>
            </a:r>
          </a:p>
          <a:p>
            <a:r>
              <a:t>задачу: ни один токен картинки, дискретный он или непрерывный, не верифицируется против внешнего</a:t>
            </a:r>
          </a:p>
          <a:p>
            <a:r>
              <a:t>факта на выходе ни у одной архитектуры 2026 года.</a:t>
            </a:r>
          </a:p>
          <a:p>
            <a:r>
              <a:t/>
            </a:r>
          </a:p>
          <a:p>
            <a:r>
              <a:t>Что обусловливание делает на самом деле: карта глубины говорит «здесь объект ближе», поза —</a:t>
            </a:r>
          </a:p>
          <a:p>
            <a:r>
              <a:t>«рука поднята», образец лица — «похоже на это». Ни один канал не способен передать утверждение</a:t>
            </a:r>
          </a:p>
          <a:p>
            <a:r>
              <a:t>вида «у этой модели двигателя шесть болтов крепления» — у них нет ни формы для утверждения, ни</a:t>
            </a:r>
          </a:p>
          <a:p>
            <a:r>
              <a:t>механизма проверки выполнения. Обусловливание подсказывает форму, а не истину. И нет механизма</a:t>
            </a:r>
          </a:p>
          <a:p>
            <a:r>
              <a:t>цитирования: поиск по документам работает в паре с требованием ссылки, а у сгенерированного кадра</a:t>
            </a:r>
          </a:p>
          <a:p>
            <a:r>
              <a:t>провенанса не существует физически — вклад каждого обучающего примера размазан по миллиардам</a:t>
            </a:r>
          </a:p>
          <a:p>
            <a:r>
              <a:t>весов; поставщик его не прячет, его не существует.</a:t>
            </a:r>
          </a:p>
          <a:p>
            <a:r>
              <a:t/>
            </a:r>
          </a:p>
          <a:p>
            <a:r>
              <a:t>Три практических последствия. Первое: правовая проверка выхода изнутри модели невозможна —</a:t>
            </a:r>
          </a:p>
          <a:p>
            <a:r>
              <a:t>похоже ли это на чужую охраняемую работу определяется только сравнением снаружи, обратным</a:t>
            </a:r>
          </a:p>
          <a:p>
            <a:r>
              <a:t>поиском по изображению. Второе: «удалить один факт» из модели нельзя — то же ограничение, что у</a:t>
            </a:r>
          </a:p>
          <a:p>
            <a:r>
              <a:t>весов языковой модели, отсюда вся индустрия фильтров на выходе вместо правок внутри. Третье:</a:t>
            </a:r>
          </a:p>
          <a:p>
            <a:r>
              <a:t>отсюда же берутся подпись происхождения и встроенный водяной знак — инженерное признание того, что</a:t>
            </a:r>
          </a:p>
          <a:p>
            <a:r>
              <a:t>внутри модели задача не решается, а не дополнительная удобная функция.</a:t>
            </a:r>
          </a:p>
          <a:p>
            <a:r>
              <a:t/>
            </a:r>
          </a:p>
          <a:p>
            <a:r>
              <a:t>Контраст с языковой моделью резкий: там грамматика схемы маскирует невалидные токены при</a:t>
            </a:r>
          </a:p>
          <a:p>
            <a:r>
              <a:t>декодировании, и невалидный формат физически не может быть сгенерирован. Здесь аналога нет, и он</a:t>
            </a:r>
          </a:p>
          <a:p>
            <a:r>
              <a:t>не появится, пока выход непрерывен: маскировать нечего, запрещать нечему, непрерывную величину</a:t>
            </a:r>
          </a:p>
          <a:p>
            <a:r>
              <a:t>нельзя вычеркнуть из словаря, которого не существует. Инженерный вывод, объединяющий оба</a:t>
            </a:r>
          </a:p>
          <a:p>
            <a:r>
              <a:t>ограничения кадра: соответствие техническому заданию в генеративном медиа-конвейере обеспечивается</a:t>
            </a:r>
          </a:p>
          <a:p>
            <a:r>
              <a:t>контуром вокруг модели — проверкой на выходе, детектором, человеком-валидатором, перегенерацией по</a:t>
            </a:r>
          </a:p>
          <a:p>
            <a:r>
              <a:t>отказу. Это та же конструкция «человек-валидатор», которую курс поставил обязательным элементом</a:t>
            </a:r>
          </a:p>
          <a:p>
            <a:r>
              <a:t>агентной системы, и здесь она перестаёт быть рекомендацией: это единственный способ выполнить</a:t>
            </a:r>
          </a:p>
          <a:p>
            <a:r>
              <a:t>техническое задание. Проект, в котором контур не спроектирован, не имеет механизма выполнить</a:t>
            </a:r>
          </a:p>
          <a:p>
            <a:r>
              <a:t>требования заказчика, сколько бы 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та же — доллар за одну годную картинку.</a:t>
            </a:r>
          </a:p>
          <a:p>
            <a:r>
              <a:t/>
            </a:r>
          </a:p>
          <a:p>
            <a:r>
              <a:t>Начать стоит с якоря единицы: розничная лицензия стоила $130–499, оптовая по подписке — ≈$2,50.</a:t>
            </a:r>
          </a:p>
          <a:p>
            <a:r>
              <a:t>Против $0,034–0,05 у генерации это разрыв от 73 раз к опту до 14 700 к рознице. Вся бизнес-модель</a:t>
            </a:r>
          </a:p>
          <a:p>
            <a:r>
              <a:t>стояла на том, что готовое изображение стоит денег, потому что его кто-то снял. И сразу честный</a:t>
            </a:r>
          </a:p>
          <a:p>
            <a:r>
              <a:t>пробел, который объясняет, почему кадр устроен именно так: измеренного ряда ставки самого</a:t>
            </a:r>
          </a:p>
          <a:p>
            <a:r>
              <a:t>иллюстратора год к году в источниках нет. Уровень классических ставок известен, динамика не</a:t>
            </a:r>
          </a:p>
          <a:p>
            <a:r>
              <a:t>измерена, и подставлять сюда оценку нельзя — правило здесь работает против удобного вывода, а не</a:t>
            </a:r>
          </a:p>
          <a:p>
            <a:r>
              <a:t>за него. Поэтому обвал предъявляется там, где он посчитан, — на балансе продавца изображений.</a:t>
            </a:r>
          </a:p>
          <a:p>
            <a:r>
              <a:t/>
            </a:r>
          </a:p>
          <a:p>
            <a:r>
              <a:t>А там он посчитан подробно. Подписчики стокового агентства за год: 321 000 против 240 000, то</a:t>
            </a:r>
          </a:p>
          <a:p>
            <a:r>
              <a:t>есть −25%; выручка −2,5%, до $229,1 млн. Слияние с крупнейшим конкурентом расторгнуто 7 июля</a:t>
            </a:r>
          </a:p>
          <a:p>
            <a:r>
              <a:t>2026 года после того, как британский регулятор поставил условием продажу всего редакционного</a:t>
            </a:r>
          </a:p>
          <a:p>
            <a:r>
              <a:t>бизнеса приобретаемой компании. Торги на бирже остановлены 29 сентября. Заранее согласованное</a:t>
            </a:r>
          </a:p>
          <a:p>
            <a:r>
              <a:t>банкротство подано 12–13 октября при долге ≈$2,1 млрд; семья владельцев с партнёром вносит до</a:t>
            </a:r>
          </a:p>
          <a:p>
            <a:r>
              <a:t>$533 млн, кредиторы списывают $270 млн. Причину назвала сама компания: растущее давление</a:t>
            </a:r>
          </a:p>
          <a:p>
            <a:r>
              <a:t>изображений, созданных моделями, — собственная формулировка в корпоративном сообщении, а не</a:t>
            </a:r>
          </a:p>
          <a:p>
            <a:r>
              <a:t>вывод обозревателя. Прежняя ходовая формулировка «два крупнейших стоковых агентства</a:t>
            </a:r>
          </a:p>
          <a:p>
            <a:r>
              <a:t>консолидируются в ответ на искусственный интеллект» снята: слияние не состоялось, и звучать это</a:t>
            </a:r>
          </a:p>
          <a:p>
            <a:r>
              <a:t>должно иначе — попытка защититься не сработала.</a:t>
            </a:r>
          </a:p>
          <a:p>
            <a:r>
              <a:t/>
            </a:r>
          </a:p>
          <a:p>
            <a:r>
              <a:t>Исторический контрапункт превращает сюжет из новости в урок, и ради него кадр стоит в разделе</a:t>
            </a:r>
          </a:p>
          <a:p>
            <a:r>
              <a:t>именно таким — сравнением двух манёвров одного игрока с разницей в двадцать лет. 2006 год:</a:t>
            </a:r>
          </a:p>
          <a:p>
            <a:r>
              <a:t>классические агентства продавали изображение по $100–1000s, микросток — по $0,25–1. Владелец</a:t>
            </a:r>
          </a:p>
          <a:p>
            <a:r>
              <a:t>дорогой библиотеки купил микросток, то есть собственного разрушителя цены. Рынок разделился на</a:t>
            </a:r>
          </a:p>
          <a:p>
            <a:r>
              <a:t>«дёшево и много» и «дорого и именно это», верхний сегмент выжил, покупатель остался в нём главным.</a:t>
            </a:r>
          </a:p>
          <a:p>
            <a:r>
              <a:t>Манёвр сработал, потому что микросток был НОВЫМ КАНАЛОМ продажи той же самой вещи — фотографии,</a:t>
            </a:r>
          </a:p>
          <a:p>
            <a:r>
              <a:t>снятой человеком; канал можно купить, у него есть владелец, договор, цена.</a:t>
            </a:r>
          </a:p>
          <a:p>
            <a:r>
              <a:t/>
            </a:r>
          </a:p>
          <a:p>
            <a:r>
              <a:t>2026 год: тот же игрок пытается объединиться с конкурентом. Манёвр не прошёл, и регулятор здесь</a:t>
            </a:r>
          </a:p>
          <a:p>
            <a:r>
              <a:t>ни при чём: даже состоявшееся слияние двух продавцов фотографий не вернуло бы цену единицы,</a:t>
            </a:r>
          </a:p>
          <a:p>
            <a:r>
              <a:t>потому что обесценилась не их доля рынка, а сам товар. Разница формулируется одной строкой:</a:t>
            </a:r>
          </a:p>
          <a:p>
            <a:r>
              <a:t>генерация — ОТСУТСТВИЕ ВЕЩИ, которую нужно лицензировать. Купить её владельца невозможно, потому</a:t>
            </a:r>
          </a:p>
          <a:p>
            <a:r>
              <a:t>что владельца нет: нет компании, у которой можно приобрести право на то, чтобы люди перестали</a:t>
            </a:r>
          </a:p>
          <a:p>
            <a:r>
              <a:t>генерировать картинки, и нет договора, который это право оформил бы. Когда дешевеет канал,</a:t>
            </a:r>
          </a:p>
          <a:p>
            <a:r>
              <a:t>выживает тот, кто канал купит. Когда обесценивается сама единица, покупать нечего.</a:t>
            </a:r>
          </a:p>
          <a:p>
            <a:r>
              <a:t/>
            </a:r>
          </a:p>
          <a:p>
            <a:r>
              <a:t>Для студента здесь практический вывод, а не злорадство. Прежде чем планировать ответ на</a:t>
            </a:r>
          </a:p>
          <a:p>
            <a:r>
              <a:t>удешевление, спросите, что именно подешевело: канал доставки товара или сам товар. Подешевевший</a:t>
            </a:r>
          </a:p>
          <a:p>
            <a:r>
              <a:t>канал покупают, перехватывают или обходят — он чей-то, с ним можно договориться. Обесценившаяся</a:t>
            </a:r>
          </a:p>
          <a:p>
            <a:r>
              <a:t>единица не лечится покупкой вовсе: единственный ход — найти, что в вашей работе не является этой</a:t>
            </a:r>
          </a:p>
          <a:p>
            <a:r>
              <a:t>единицей, и перенести туда цену. Для продавца изображений таким остатком оказался редакционный</a:t>
            </a:r>
          </a:p>
          <a:p>
            <a:r>
              <a:t>архив — снимки конкретных событий, которых не существует в сгенерированном виде по определению, —</a:t>
            </a:r>
          </a:p>
          <a:p>
            <a:r>
              <a:t>и показательно, что именно его регулятор потребовал продать, а сделка на этом и рассыпалась. Все</a:t>
            </a:r>
          </a:p>
          <a:p>
            <a:r>
              <a:t>три уцелевших товара, которые видны в этой истории — права на изображение с подтверждённым</a:t>
            </a:r>
          </a:p>
          <a:p>
            <a:r>
              <a:t>происхождением, редакционный архив, доступ к съёмке события, которое произошло один раз, —</a:t>
            </a:r>
          </a:p>
          <a:p>
            <a:r>
              <a:t>объединяет одно свойство: их ценность держится не на изображении как таковом, а на том, что за</a:t>
            </a:r>
          </a:p>
          <a:p>
            <a:r>
              <a:t>ним стоит проверяемый факт. Для исполнителя, скорее всего, таким остатком окажется отбор и</a:t>
            </a:r>
          </a:p>
          <a:p>
            <a:r>
              <a:t>ответственность за выпуск — ровно то, что весь вечер уезжает вправо. Это прямо подводит к</a:t>
            </a:r>
          </a:p>
          <a:p>
            <a:r>
              <a:t>следующей паре кадров, где речь пойдёт о том, чем вообще обучены эти модели и что из их выхода</a:t>
            </a:r>
          </a:p>
          <a:p>
            <a:r>
              <a:t>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 показывать ответ: модель весит 4,27 ГБ и обучена на</a:t>
            </a:r>
          </a:p>
          <a:p>
            <a:r>
              <a:t>2,32 млрд изображений — сколько байт весов приходится на одно обучающее изображение: килобайт,</a:t>
            </a:r>
          </a:p>
          <a:p>
            <a:r>
              <a:t>сто байт или меньше одной буквы? Интуиция почти всегда завышает, и именно поэтому ответ попадает.</a:t>
            </a:r>
          </a:p>
          <a:p>
            <a:r>
              <a:t>Адрес платежа здесь — права: именно это деление и есть первый шаг к вопросу, кому принадлежит то,</a:t>
            </a:r>
          </a:p>
          <a:p>
            <a:r>
              <a:t>что получилось.</a:t>
            </a:r>
          </a:p>
          <a:p>
            <a:r>
              <a:t/>
            </a:r>
          </a:p>
          <a:p>
            <a:r>
              <a:t>4 265 146 304 байта весов, делённые на 2 320 000 000 изображений, дают 1,84 байта на картинку.</a:t>
            </a:r>
          </a:p>
          <a:p>
            <a:r>
              <a:t>Один символ кириллицы в распространённой кодировке занимает ровно два байта. То есть на каждую</a:t>
            </a:r>
          </a:p>
          <a:p>
            <a:r>
              <a:t>картинку, которую модель видела при обучении, в ней приходится меньше места, чем на одну букву</a:t>
            </a:r>
          </a:p>
          <a:p>
            <a:r>
              <a:t>этой фразы.</a:t>
            </a:r>
          </a:p>
          <a:p>
            <a:r>
              <a:t/>
            </a:r>
          </a:p>
          <a:p>
            <a:r>
              <a:t>Сама картинка в том же корпусе весит в среднем 41 379 байт — это измерено, а не оценено:</a:t>
            </a:r>
          </a:p>
          <a:p>
            <a:r>
              <a:t>инструмент скачивания набора отчитался о 240 ТБ на 5,8 млрд изображений. Степень сжатия по</a:t>
            </a:r>
          </a:p>
          <a:p>
            <a:r>
              <a:t>корпусу получается 22 508 раз.</a:t>
            </a:r>
          </a:p>
          <a:p>
            <a:r>
              <a:t/>
            </a:r>
          </a:p>
          <a:p>
            <a:r>
              <a:t>Чтобы вывод не держался на одном делении, его стоит пересчитать двумя другими способами. В</a:t>
            </a:r>
          </a:p>
          <a:p>
            <a:r>
              <a:t>полной точности модель весит 7,7 ГБ, и это даёт 3,32 байта на картинку. Против 160 млн примеров,</a:t>
            </a:r>
          </a:p>
          <a:p>
            <a:r>
              <a:t>с которыми сверялись авторы работы об извлечении, выходит 26,7 байта, то есть треть строки</a:t>
            </a:r>
          </a:p>
          <a:p>
            <a:r>
              <a:t>текста, — при том что файл изображения 512×512 короче двадцати тысяч байт не бывает. Даже по</a:t>
            </a:r>
          </a:p>
          <a:p>
            <a:r>
              <a:t>самому щедрому к версии «модель хранит картинки» счёту она в полторы тысячи раз меньше того, на</a:t>
            </a:r>
          </a:p>
          <a:p>
            <a:r>
              <a:t>чём училась. Рядом хорошо работает вспомогательное наблюдение: репозиторий одних только ссылок и</a:t>
            </a:r>
          </a:p>
          <a:p>
            <a:r>
              <a:t>подписей, без единой картинки, весит 467 ГБ, а в пересчёте на все пары около 1,18 ТБ — то есть</a:t>
            </a:r>
          </a:p>
          <a:p>
            <a:r>
              <a:t>список ссылок весит в 275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350 000 самых дублированных примеров</a:t>
            </a:r>
          </a:p>
          <a:p>
            <a:r>
              <a:t>обучающего набора, сгенерировали по 500 кандидатов на каждый — 175 млн изображений — и нашли 109</a:t>
            </a:r>
          </a:p>
          <a:p>
            <a:r>
              <a:t>извлечённых: 94 по формальному критерию плюс 13 при ручной разметке. В долях это 0,000062% от</a:t>
            </a:r>
          </a:p>
          <a:p>
            <a:r>
              <a:t>сгенерированного и 0,031% от самых дублированных запросов.</a:t>
            </a:r>
          </a:p>
          <a:p>
            <a:r>
              <a:t/>
            </a:r>
          </a:p>
          <a:p>
            <a:r>
              <a:t>Механизм назван в самой статье. Извлечение удаётся чаще всего тогда, когда изображение было</a:t>
            </a:r>
          </a:p>
          <a:p>
            <a:r>
              <a:t>продублировано в корпусе минимум сто раз; при таком уровне дублирования такие примеры составляют</a:t>
            </a:r>
          </a:p>
          <a:p>
            <a:r>
              <a:t>примерно один на миллион обучающих. Карточка модели подтверждает это с другой стороны: никаких</a:t>
            </a:r>
          </a:p>
          <a:p>
            <a:r>
              <a:t>мер по дедупликации набора данных не применялось, и запоминание изображений, дублированных в</a:t>
            </a:r>
          </a:p>
          <a:p>
            <a:r>
              <a:t>обучающих данных, авторы наблюдают сами.</a:t>
            </a:r>
          </a:p>
          <a:p>
            <a:r>
              <a:t/>
            </a:r>
          </a:p>
          <a:p>
            <a:r>
              <a:t>Формулировка, которую стоит унести, состоит из двух половин, и обе обязательны. Модель не хранит</a:t>
            </a:r>
          </a:p>
          <a:p>
            <a:r>
              <a:t>картинки: на одну приходится 1,84 байта, и этого физически не хватит ни на что. Но картинка,</a:t>
            </a:r>
          </a:p>
          <a:p>
            <a:r>
              <a:t>попавшая в обучающий набор сто раз, перестаёт быть одной из двух миллиардов, и её можно вытащить.</a:t>
            </a:r>
          </a:p>
          <a:p>
            <a:r>
              <a:t>Запоминается дубликат, а не корпус. Первая половина без второй — реклама, вторая без первой —</a:t>
            </a:r>
          </a:p>
          <a:p>
            <a:r>
              <a:t>обвинение, и ровно поэтому в публичном споре обе стороны цитируют по одной половине и обе</a:t>
            </a:r>
          </a:p>
          <a:p>
            <a:r>
              <a:t>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у юридического риска есть численная ручка, и</a:t>
            </a:r>
          </a:p>
          <a:p>
            <a:r>
              <a:t>ручка эта — в подготовке данных, ровно там же, где сидит главный рычаг стоимости.</a:t>
            </a:r>
          </a:p>
          <a:p>
            <a:r>
              <a:t/>
            </a:r>
          </a:p>
          <a:p>
            <a:r>
              <a:t>И это устройство, а не отдельная тема, выводит права. Если машина не хранит и не конструирует</a:t>
            </a:r>
          </a:p>
          <a:p>
            <a:r>
              <a:t>объекты, а статистически галлюцинирует их из шума, то из того же самого устройства, что разобрано</a:t>
            </a:r>
          </a:p>
          <a:p>
            <a:r>
              <a:t>здесь, следует: она не копирует. А если не копирует — остаётся только узкий канал товарного</a:t>
            </a:r>
          </a:p>
          <a:p>
            <a:r>
              <a:t>знака, то есть артефакт, который виден на выходе. Эта цепочка — «не конструирует → не копирует →</a:t>
            </a:r>
          </a:p>
          <a:p>
            <a:r>
              <a:t>только товарный знак» — и есть мост к следующему кадру, где её читает суд.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 у</a:t>
            </a:r>
          </a:p>
          <a:p>
            <a:r>
              <a:t>судебного решения нет ни цены обеих ошибок в одних единицах, ни классического режима, ни имени</a:t>
            </a:r>
          </a:p>
          <a:p>
            <a:r>
              <a:t>изделия-исполнителя. Поэтому разбор идёт по своей форме: что суд решил, чего он не решил, чем это</a:t>
            </a:r>
          </a:p>
          <a:p>
            <a:r>
              <a:t>отличается от соседней юрисдикции. Адрес платежа здесь — права, и предыдущий кадр подвёл к нему</a:t>
            </a:r>
          </a:p>
          <a:p>
            <a:r>
              <a:t>прямой цепочкой: модель не конструирует объект → значит не копирует → значит остаётся только</a:t>
            </a:r>
          </a:p>
          <a:p>
            <a:r>
              <a:t>товарный знак. Решение суда и есть вторая опора этой цепочки, а не первая.</a:t>
            </a:r>
          </a:p>
          <a:p>
            <a:r>
              <a:t/>
            </a:r>
          </a:p>
          <a:p>
            <a:r>
              <a:t>Что решено. Высокий суд Англии и Уэльса, судья Джоанна Смит, 4 ноября 2025 года: веса модели —</a:t>
            </a:r>
          </a:p>
          <a:p>
            <a:r>
              <a:t>математические параметры, и они не являются контрафактной копией по британскому закону об</a:t>
            </a:r>
          </a:p>
          <a:p>
            <a:r>
              <a:t>авторском праве; вторичное нарушение не доказано. Узкая победа истца пришла по товарному знаку:</a:t>
            </a:r>
          </a:p>
          <a:p>
            <a:r>
              <a:t>в сгенерированных изображениях обнаруживались артефакты его водяных знаков. Деталь эта кажется</a:t>
            </a:r>
          </a:p>
          <a:p>
            <a:r>
              <a:t>технической, а она и есть инженерный вывод кадра: выиграть удалось ровно по тому каналу, где</a:t>
            </a:r>
          </a:p>
          <a:p>
            <a:r>
              <a:t>нарушение видно на выходе, то есть там, где внешняя проверка результата вообще возможна — ровно</a:t>
            </a:r>
          </a:p>
          <a:p>
            <a:r>
              <a:t>так же, как предыдущий кадр показал: провенанса внутри модели не существует, проверка выносится</a:t>
            </a:r>
          </a:p>
          <a:p>
            <a:r>
              <a:t>наружу.</a:t>
            </a:r>
          </a:p>
          <a:p>
            <a:r>
              <a:t/>
            </a:r>
          </a:p>
          <a:p>
            <a:r>
              <a:t>Список того, чего суд не решил, важнее списка решённого. Законно ли само обучение — не решено.</a:t>
            </a:r>
          </a:p>
          <a:p>
            <a:r>
              <a:t>Что было бы, если бы обучение доказуемо шло в британской юрисдикции, — не решено. Устоит ли вывод</a:t>
            </a:r>
          </a:p>
          <a:p>
            <a:r>
              <a:t>о весах в апелляции — неизвестно: разрешение получено в январе 2026 года, вопрос признан новым и</a:t>
            </a:r>
          </a:p>
          <a:p>
            <a:r>
              <a:t>важным, у довода истца найдена реальная перспектива успеха; решения апелляционного суда на конец</a:t>
            </a:r>
          </a:p>
          <a:p>
            <a:r>
              <a:t>октября 2026 года нет. И отдельно: сколько именно человеческого вклада достаточно для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 истец</a:t>
            </a:r>
          </a:p>
          <a:p>
            <a:r>
              <a:t>сам отказался от основных требований — по обучению и по выходам модели: не хватило доказательств,</a:t>
            </a:r>
          </a:p>
          <a:p>
            <a:r>
              <a:t>что обучение происходило в британской юрисдикции. В Великобритании нет доктрины добросовестного</a:t>
            </a:r>
          </a:p>
          <a:p>
            <a:r>
              <a:t>использования в американском смысле; есть узкие исключения, в которые обучение коммерческой</a:t>
            </a:r>
          </a:p>
          <a:p>
            <a:r>
              <a:t>модели не укладывается. Один и тот же спор в двух юрисдикциях проигрывают двумя разными</a:t>
            </a:r>
          </a:p>
          <a:p>
            <a:r>
              <a:t>способами: в США — потому, что обучение на законно приобретённых материалах признают</a:t>
            </a:r>
          </a:p>
          <a:p>
            <a:r>
              <a:t>преобразующим использованием; в Великобритании — потому, что истец не доказал, где оно физически</a:t>
            </a:r>
          </a:p>
          <a:p>
            <a:r>
              <a:t>происходило. Формулировка «британский суд признал обучение моделей законным» неверна и</a:t>
            </a:r>
          </a:p>
          <a:p>
            <a:r>
              <a:t>встречается постоянно: суд не рассматривал законность обучения, требование было снято самим</a:t>
            </a:r>
          </a:p>
          <a:p>
            <a:r>
              <a:t>истцом. Разница между «суд решил, что это законно» и «суд не стал это рассматривать» —</a:t>
            </a:r>
          </a:p>
          <a:p>
            <a:r>
              <a:t>практическая: на первом утверждении можно строить проект, на втором нельзя.</a:t>
            </a:r>
          </a:p>
          <a:p>
            <a:r>
              <a:t/>
            </a:r>
          </a:p>
          <a:p>
            <a:r>
              <a:t>Экономика стоит рядом с решением, и считать её полезно вместе с залом. Внутри обучающего корпуса</a:t>
            </a:r>
          </a:p>
          <a:p>
            <a:r>
              <a:t>оказалось 12,3 млн изображений истца из ≈5,85 млрд пар — доля около 0,2%, и это число само по</a:t>
            </a:r>
          </a:p>
          <a:p>
            <a:r>
              <a:t>себе мало о чём говорит, пока к нему не приложен тариф. По оптовому тарифу $2,50 за изображение —</a:t>
            </a:r>
          </a:p>
          <a:p>
            <a:r>
              <a:t>≈$30,75 млн. По розничному $130 — ≈$1,6 млрд. Разброс в пятьдесят раз получается от одного</a:t>
            </a:r>
          </a:p>
          <a:p>
            <a:r>
              <a:t>только выбора тарифа внутри классического режима — то есть никакой генерации, одна строка</a:t>
            </a:r>
          </a:p>
          <a:p>
            <a:r>
              <a:t>прейскуранта; это то же наблюдение, которым открывался раздел, здесь оно возвращается в правовой</a:t>
            </a:r>
          </a:p>
          <a:p>
            <a:r>
              <a:t>рамке. Третья величина — та, по которой рынок договорился на самом деле: в музыке после</a:t>
            </a:r>
          </a:p>
          <a:p>
            <a:r>
              <a:t>урегулирований согласованная ставка составила $0,002–0,005 за генерацию, на три-четыре порядка</a:t>
            </a:r>
          </a:p>
          <a:p>
            <a:r>
              <a:t>ниже стокового тарифа за единицу; сравнивать напрямую нельзя — разные модальности, — но порядок</a:t>
            </a:r>
          </a:p>
          <a:p>
            <a:r>
              <a:t>величины говорит, во что рынок оценивает одно обращение к модели, когда платит добровольно.</a:t>
            </a:r>
          </a:p>
          <a:p>
            <a:r>
              <a:t>Четвёртая величина — статутный потолок: ставка на число произведений даёт свыше $9 млрд; это</a:t>
            </a:r>
          </a:p>
          <a:p>
            <a:r>
              <a:t>арифметика, а не присуждённое требование, и встречая такую сумму в заголовке, стоит помнить, из</a:t>
            </a:r>
          </a:p>
          <a:p>
            <a:r>
              <a:t>чего она получена.</a:t>
            </a:r>
          </a:p>
          <a:p>
            <a:r>
              <a:t/>
            </a:r>
          </a:p>
          <a:p>
            <a:r>
              <a:t>Что отсюда уносит инженер. Первое: веса модели и обучающий набор — разные объекты права, суд это</a:t>
            </a:r>
          </a:p>
          <a:p>
            <a:r>
              <a:t>разделил явно. Второе: место обучения имеет значение, и для распределённой инфраструктуры это</a:t>
            </a:r>
          </a:p>
          <a:p>
            <a:r>
              <a:t>вопрос, на который проект должен уметь ответить документами — требование к журналированию, а не</a:t>
            </a:r>
          </a:p>
          <a:p>
            <a:r>
              <a:t>к юридическому отделу. Третье: прежде чем повторять сумму иска, спросите, по какому тарифу она</a:t>
            </a:r>
          </a:p>
          <a:p>
            <a:r>
              <a:t>посчитана и кто этот тариф выбрал. Четвёртое: узкая победа пришла по каналу, где нарушение видно</a:t>
            </a:r>
          </a:p>
          <a:p>
            <a:r>
              <a:t>на выходе, — значит, если в вашем проекте есть риск воспроизведения чужой охраняемой работы,</a:t>
            </a:r>
          </a:p>
          <a:p>
            <a:r>
              <a:t>единственный работающий механизм контроля внешний: обратный поиск по изображению на выпуске, а не</a:t>
            </a:r>
          </a:p>
          <a:p>
            <a:r>
              <a:t>настройка внутри модели. И последнее — чего в этом счёте нет вовсе: ни одна из названных величин</a:t>
            </a:r>
          </a:p>
          <a:p>
            <a:r>
              <a:t>не отвечает на вопрос, сколько потерял конкретный автор, чьё изображение попало в корпус. Доля в</a:t>
            </a:r>
          </a:p>
          <a:p>
            <a:r>
              <a:t>корпусе — не доля во вкладе, и измеренного способа посчитать вклад одного примера в обученную</a:t>
            </a:r>
          </a:p>
          <a:p>
            <a:r>
              <a:t>модель на сегодня нет; это не пробел конкретного дела, а свойство предмета.</a:t>
            </a:r>
          </a:p>
          <a:p>
            <a:r>
              <a:t/>
            </a:r>
          </a:p>
          <a:p>
            <a:r>
              <a:t>Различайте пять статусов, встречая правовую новость: иск подан · решение вынесено · мировое без</a:t>
            </a:r>
          </a:p>
          <a:p>
            <a:r>
              <a:t>признания вины · закон в силе · закон принят, в силу не вступил. «Закон принят» и «закон вступил</a:t>
            </a:r>
          </a:p>
          <a:p>
            <a:r>
              <a:t>в силу» различаются на четыре месяца в случае ЕС и на семь месяцев в случае России: российский</a:t>
            </a:r>
          </a:p>
          <a:p>
            <a:r>
              <a:t>рамочный закон подписан в июле 2026 и действует с сентября, а нормы об обучении и маркировке</a:t>
            </a:r>
          </a:p>
          <a:p>
            <a:r>
              <a:t>вступают в силу 1 марта 2027-го. Прикладной смысл российской нормы — кому разрешили учить:</a:t>
            </a:r>
          </a:p>
          <a:p>
            <a:r>
              <a:t>статья 10 вводит статутное исключение на обучение по модели opt-out, но только суверенным и</a:t>
            </a:r>
          </a:p>
          <a:p>
            <a:r>
              <a:t>национальным большим фундаментальным моделям — для прочих исключения в законе нет вовсе, и норма</a:t>
            </a:r>
          </a:p>
          <a:p>
            <a:r>
              <a:t>к тому же спорна, с октября 2026 обсуждается её правка. «Мировое соглашение» не создаёт</a:t>
            </a:r>
          </a:p>
          <a:p>
            <a:r>
              <a:t>прецедента: $1,5 млрд в американском книжном деле заплачены за хранение пиратской библиотеки, а</a:t>
            </a:r>
          </a:p>
          <a:p>
            <a:r>
              <a:t>обучение на законно купленных книгах тот же судья назвал преобразующим использованием —</a:t>
            </a:r>
          </a:p>
          <a:p>
            <a:r>
              <a:t>противоположные по смыслу половины одного события, цитируется обычно только первая. «Решение</a:t>
            </a:r>
          </a:p>
          <a:p>
            <a:r>
              <a:t>вынесено» и «решение окончательное» различаются наличием апелляции: в британском деле апелляция</a:t>
            </a:r>
          </a:p>
          <a:p>
            <a:r>
              <a:t>разрешена, решения нет; в американском деле об авторстве точка поставлена отказом в пересмотре</a:t>
            </a:r>
          </a:p>
          <a:p>
            <a:r>
              <a:t>2 марта 2026 года — но и там не решено, сколько именно вклада достаточно для авторства. Пара</a:t>
            </a:r>
          </a:p>
          <a:p>
            <a:r>
              <a:t>российских дел учит тому же на одном правопорядке: дипфейк суд защитил (нейросеть — дополнительный</a:t>
            </a:r>
          </a:p>
          <a:p>
            <a:r>
              <a:t>инструмент обработки, 500 000 ₽), сгенерированные изображения не защитил («ввод запросов —</a:t>
            </a:r>
          </a:p>
          <a:p>
            <a:r>
              <a:t>технический, а не творческий труд»); противоречия нет, в первом случае был исходный материал, во</a:t>
            </a:r>
          </a:p>
          <a:p>
            <a:r>
              <a:t>втором не было. Навык один: прежде чем строить проект на правовом утверждении, спросите, какой у</a:t>
            </a:r>
          </a:p>
          <a:p>
            <a:r>
              <a:t>него статус из пяти — дешёвая проверка, отсеивающая большинство отраслевых заголовков.</a:t>
            </a:r>
          </a:p>
          <a:p>
            <a:r>
              <a:t/>
            </a:r>
          </a:p>
          <a:p>
            <a:r>
              <a:t>Три строки обзора юрисдикций, которые не укладываются в сюжет Getty, но тем же вопросом о</a:t>
            </a:r>
          </a:p>
          <a:p>
            <a:r>
              <a:t>статусе и отвечают. ЕС: раскрытие и машиночитаемая маркировка синтетического контента обязательны,</a:t>
            </a:r>
          </a:p>
          <a:p>
            <a:r>
              <a:t>санкция до 15 млн евро или 3% оборота, закон в силе со 2 августа 2026 (переходный период по уже</a:t>
            </a:r>
          </a:p>
          <a:p>
            <a:r>
              <a:t>бывшим на рынке системам — до 2 декабря 2026); отдельно отложены были высокорисковые системы, а</a:t>
            </a:r>
          </a:p>
          <a:p>
            <a:r>
              <a:t>не эта статья. Голос: в России отдельной охраны нет — проект статьи ГК внесён через месяц после</a:t>
            </a:r>
          </a:p>
          <a:p>
            <a:r>
              <a:t>проигранного дела об использовании голоса и правительством не поддержан; в США действуют закон</a:t>
            </a:r>
          </a:p>
          <a:p>
            <a:r>
              <a:t>штата Теннесси и калифорнийский акт, федерального закона нет — расхождение юрисдикций, а не общий</a:t>
            </a:r>
          </a:p>
          <a:p>
            <a:r>
              <a:t>стандарт. Музыка: рынок здесь решил быстрее суда — лейблы перешли от исков к лицензиям по той же</a:t>
            </a:r>
          </a:p>
          <a:p>
            <a:r>
              <a:t>ставке $0,002–0,005 за генерацию, при этом часть истцов продолжает судиться параллельно с</a:t>
            </a:r>
          </a:p>
          <a:p>
            <a:r>
              <a:t>подписанными сделками (29.10.2025 и 25.11.2025).</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46 уникальных</a:t>
            </a:r>
          </a:p>
          <a:p>
            <a:r>
              <a:t>плакатов за месяц силами трёх человек при полутора часах дообучения на одной игровой видеокарте</a:t>
            </a:r>
          </a:p>
          <a:p>
            <a:r>
              <a:t>и наборе из сорока картинок. Где границы: пять названы механизмом, а не симптомом, и ни одна не</a:t>
            </a:r>
          </a:p>
          <a:p>
            <a:r>
              <a:t>закроется следующей версией модели. Что идёт дальше по циклу: отбор — 30–100 генераций и полчаса</a:t>
            </a:r>
          </a:p>
          <a:p>
            <a:r>
              <a:t>просмотра на одну пригодную, две трети результата брак; права — чем обучена модель, известно</a:t>
            </a:r>
          </a:p>
          <a:p>
            <a:r>
              <a:t>только у открытых, а статус правовой нормы нужно сверять по пяти уровням твёрдости;</a:t>
            </a:r>
          </a:p>
          <a:p>
            <a:r>
              <a:t>воспроизводимость — решение, найденное подбором, невоспроизводимо через полгода без манифеста из</a:t>
            </a:r>
          </a:p>
          <a:p>
            <a:r>
              <a:t>одиннадцати позиций. И отдельно — риск приписать модели чужой выигрыш, показанный разбором</a:t>
            </a:r>
          </a:p>
          <a:p>
            <a:r>
              <a:t>бионической перегородки.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из шести предъявлений карты с заполненной колонкой. Строки заданы с самого начала вечера</a:t>
            </a:r>
          </a:p>
          <a:p>
            <a:r>
              <a:t>и не меняются; колонка «Изображение» закрывается сейчас, остальные четыре добавятся по одной в</a:t>
            </a:r>
          </a:p>
          <a:p>
            <a:r>
              <a:t>конце каждого следующего раздела. Смотреть на карту стоит не как на итог раздела, а как на</a:t>
            </a:r>
          </a:p>
          <a:p>
            <a:r>
              <a:t>накопительную ведомость: к концу вечера по ней будет видно, где модель закрывает тип задачи во</a:t>
            </a:r>
          </a:p>
          <a:p>
            <a:r>
              <a:t>всех модальностях, а где не закрывает ни в одной.</a:t>
            </a:r>
          </a:p>
          <a:p>
            <a:r>
              <a:t/>
            </a:r>
          </a:p>
          <a:p>
            <a:r>
              <a:t>Породить первое приближение — клетка заполнена числом и заполнена с обеих сторон: три-четыре</a:t>
            </a:r>
          </a:p>
          <a:p>
            <a:r>
              <a:t>сотых доллара за изображение против пятидесяти—ста пятидесяти за заказ и двух с половиной —</a:t>
            </a:r>
          </a:p>
          <a:p>
            <a:r>
              <a:t>четырёхсот девяноста девяти за сток. Это единственная клетка раздела, где обе стороны счёта</a:t>
            </a:r>
          </a:p>
          <a:p>
            <a:r>
              <a:t>посчитаны в одной единице, и именно поэтому раздел и начинается с неё.</a:t>
            </a:r>
          </a:p>
          <a:p>
            <a:r>
              <a:t/>
            </a:r>
          </a:p>
          <a:p>
            <a:r>
              <a:t>Довести до производственного качества — сюда переехала работа. Тридцать—сто генераций и около</a:t>
            </a:r>
          </a:p>
          <a:p>
            <a:r>
              <a:t>получаса просмотра на одну пригодную иллюстрацию, и две трети результата всё равно брак по</a:t>
            </a:r>
          </a:p>
          <a:p>
            <a:r>
              <a:t>целевому показателю. Числа взяты из разбора редакции, то есть из единственного случая раздела,</a:t>
            </a:r>
          </a:p>
          <a:p>
            <a:r>
              <a:t>где команда посчитала собственный отбор и опубликовала результат.</a:t>
            </a:r>
          </a:p>
          <a:p>
            <a:r>
              <a:t/>
            </a:r>
          </a:p>
          <a:p>
            <a:r>
              <a:t>Восстановить существующее — клетка заполнена, но вне разборов раздела: повышение разрешения и</a:t>
            </a:r>
          </a:p>
          <a:p>
            <a:r>
              <a:t>реставрация архива существуют как зрелая практика, а посчитанного случая с обеими сторонами в</a:t>
            </a:r>
          </a:p>
          <a:p>
            <a:r>
              <a:t>источниках этого раздела нет. Это честный пробел, названный пробелом, а не отсутствие приёма.</a:t>
            </a:r>
          </a:p>
          <a:p>
            <a:r>
              <a:t/>
            </a:r>
          </a:p>
          <a:p>
            <a:r>
              <a:t>Соблюсти точные величины — отказ, и отказ по механизму: размеров, допусков и дерева построения</a:t>
            </a:r>
          </a:p>
          <a:p>
            <a:r>
              <a:t>внутри картинки нет и не появится в следующей версии модели. Клетка с отказом — такой же</a:t>
            </a:r>
          </a:p>
          <a:p>
            <a:r>
              <a:t>результат, как клетка с числом, и для инженерной аудитории она даже полезнее: отвечает на</a:t>
            </a:r>
          </a:p>
          <a:p>
            <a:r>
              <a:t>вопрос «стоит ли вообще пробовать» до того, как потрачено время.</a:t>
            </a:r>
          </a:p>
          <a:p>
            <a:r>
              <a:t/>
            </a:r>
          </a:p>
          <a:p>
            <a:r>
              <a:t>Уложиться в бюджет реального времени — в этом разделе не предъявлялось. Ближайшее измеренное</a:t>
            </a:r>
          </a:p>
          <a:p>
            <a:r>
              <a:t>рядом: около трёх секунд на кадр у дистиллированной модели против двадцати у недистиллированной</a:t>
            </a:r>
          </a:p>
          <a:p>
            <a:r>
              <a:t>на той же карте. Это не кадровый бюджет, и выдавать одно за другое нельзя: разница между</a:t>
            </a:r>
          </a:p>
          <a:p>
            <a:r>
              <a:t>«картинка за три секунды» и «кадр за шестнадцать миллисекунд» — это разница в классе задачи, и</a:t>
            </a:r>
          </a:p>
          <a:p>
            <a:r>
              <a:t>она станет видна в разделе про трёхмерную сцену.</a:t>
            </a:r>
          </a:p>
          <a:p>
            <a:r>
              <a:t/>
            </a:r>
          </a:p>
          <a:p>
            <a:r>
              <a:t>Ответить «кто отвечает» — пусто по построению. Провенанса у сгенерированного кадра не существует</a:t>
            </a:r>
          </a:p>
          <a:p>
            <a:r>
              <a:t>физически: вклад каждого обучающего примера размазан по миллиардам весов, и проверка выносится</a:t>
            </a:r>
          </a:p>
          <a:p>
            <a:r>
              <a:t>наружу — обратным поиском по изображению, подписанными метаданными, журналом запросов. Это не</a:t>
            </a:r>
          </a:p>
          <a:p>
            <a:r>
              <a:t>недоработка поставщика и не временное состояние отрасли.</a:t>
            </a:r>
          </a:p>
          <a:p>
            <a:r>
              <a:t/>
            </a:r>
          </a:p>
          <a:p>
            <a:r>
              <a:t>Под сеткой идёт полоса адреса платежа — число, подтверждающее то, что раздел назвал в самом</a:t>
            </a:r>
          </a:p>
          <a:p>
            <a:r>
              <a:t>начале, на кадре описания стадии: отбор, права, узнавание. У этого раздела адрес двойной: отбор</a:t>
            </a:r>
          </a:p>
          <a:p>
            <a:r>
              <a:t>— все три подробных разбора, и права — правовой разбор, разбор устройства обучения и упоминания.</a:t>
            </a:r>
          </a:p>
          <a:p>
            <a:r>
              <a:t>Узнавание в разделе не звучит развёрнуто, и это свойство модальности, названное заранее: у</a:t>
            </a:r>
          </a:p>
          <a:p>
            <a:r>
              <a:t>неподвижного изображения нет подписи, которая подтверждалась бы сама собой. В разделе про голос</a:t>
            </a:r>
          </a:p>
          <a:p>
            <a:r>
              <a:t>эта клетка заполнится первой.</a:t>
            </a:r>
          </a:p>
          <a:p>
            <a:r>
              <a:t/>
            </a:r>
          </a:p>
          <a:p>
            <a:r>
              <a:t>И вывод раздела, который стоит произнести целиком. Единица подешевела на три-четыре порядка от</a:t>
            </a:r>
          </a:p>
          <a:p>
            <a:r>
              <a:t>любой из трёх классических баз — и именно «от любой из трёх», потому что выбор базы внутри самой</a:t>
            </a:r>
          </a:p>
          <a:p>
            <a:r>
              <a:t>классики меняет разрыв на два порядка. Пять границ названы механизмом, а не симптомом: текст</a:t>
            </a:r>
          </a:p>
          <a:p>
            <a:r>
              <a:t>внутри изображения, счёт объектов, согласованность между генерациями, точные величины,</a:t>
            </a:r>
          </a:p>
          <a:p>
            <a:r>
              <a:t>происхождение. Вправо уехали отбор, права и воспроизводимость. И отдельно — риск приписать</a:t>
            </a:r>
          </a:p>
          <a:p>
            <a:r>
              <a:t>модели чужой выигрыш: из трёх подробных разборов раздела один этот риск предъявил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демонстрация дешевле и убедительнее любой другой в лекции.</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по самой постановке задачи это не генерация,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как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Профессиональное клонирование не поддерживает пение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пять стадий, которые в обиходе называются одним словом и различаются между собой и данными, и задачей, и тем, кто отвечает за результат. Синтез речи превращает письменный текст в звучащую речь; голос при этом — свойство системы, дикторский набор существует отдельно от любого живого исполнителя. Клонирование голоса, в договорной терминологии профсоюзов — цифровая реплика, строит модель голоса конкретного человека и дальше озвучивает ею произвольный текст; здесь появляется второй участник со своими правами —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получает сведённую запись и возвращает составные дорожки, ничего нового не синтезируя: искомое физически присутствует во входном сигнале.</a:t>
            </a:r>
          </a:p>
          <a:p>
            <a:r>
              <a:t/>
            </a:r>
          </a:p>
          <a:p>
            <a:r>
              <a:t>Способов добыть материал для этих пяти ремёсел меньше, чем кажется, и каждый живёт до сих пор. Студийная сессия — основной способ последние семьдесят лет: кабина, микрофон, звукорежиссёр, несколько дублей на фразу. Домашняя будка с середины 2010-х стала массовой и открыла ценовую полосу, которую раздел считает дальше. Удалённая сессия с режиссурой держит правку дубль за дублем по сети. Архив — записи, сделанные когда-то для другой цели, и для клонирования умерших или утративших речь это единственный источник. Банкирование голоса — клиническая практика: человек с диагнозом, грозящим потерей речи, заранее записывает большой корпус слов и фраз, пока ещё говорит внятно. Лицензированная библиотека даёт обучающий материал с оформленными правами — двадцать тысяч часов музыки у одной открытой модели.</a:t>
            </a:r>
          </a:p>
          <a:p>
            <a:r>
              <a:t/>
            </a:r>
          </a:p>
          <a:p>
            <a:r>
              <a:t>Решение этой стадии простое, а следствий у него три. Срок и территория: голос в эфире покупают на срок, на территорию и на тип носителя, и каждая координата стоит отдельных денег, в отличие от изображения, которое покупают один раз. Узнаваемость: голос опознаётся слушателем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 архив корпоративных начиток 2019 года делался для колл-центра, а в 2022-м оказался обучающим набором, и спор об этом разбирается на единственном российском деле, дошедшем до решения.</a:t>
            </a:r>
          </a:p>
          <a:p>
            <a:r>
              <a:t/>
            </a:r>
          </a:p>
          <a:p>
            <a:r>
              <a:t>Без описания классики любой выигрыш модели придётся считать от нуля, а выигрыш, посчитанный от нуля, курс не принимает. Три классических режима посчитаны в одной единице — цене готовой минуты, со всеми дублями внутри цены. Живой диктор: мировая полоса по отраслевым справочникам ставок — $50–450 за готовую минуту, с тремя сегментами по опыту (начинающий 50–150, средний 150–350, старший от 350, у верхушки за тысячу); ширина диапазона — девять раз между верхом и низом, и так же будет устроена дальше полоса цены генерации, сравнивать которую с этой надо полосой с полосой. Отдельная строка — право на эфир: запись и право её транслировать — разные покупки, и заказчик платит дважды; по справочнику редакции 2026 года национальная реклама стоит от $650 сверх сессии, год национального эфира — $3 200–3 500, бессрочный выкуп — до $6 500. Стоковая музыка по лицензии: $20–100 за стандартную, $100–500 и выше за расширенную; в России 10 000–50 000 ₽ за лицензионный трек из библиотеки, от 150 000 ₽ за оригинальный. Это и есть правильная опорная пара для сравнения с генерацией — оригинальная партитура на заказ ($200–1 500 за минуту) живёт в другой природе продукта, и сопоставление с ней даёт фальшивые пять-шесть порядков.</a:t>
            </a:r>
          </a:p>
          <a:p>
            <a:r>
              <a:t/>
            </a:r>
          </a:p>
          <a:p>
            <a:r>
              <a:t>Договорная ставка на цифровую копию голоса стоит здесь же отдельной строкой, потому что она единственная в своём роде: там, где голос копируется, профсоюз успел назначить цену раньше законодателя. Сессия согласия на создание цифровой реплики — $956,75 за четыре часа, $1 914,25 за шесть, плюс 16,5% в профсоюзные фонды сверху; использование копии в рекламе — по полуторной сессионной ставке. До любого закона о голосе отрасль назначила копированию цену сама, договором, — единственное место лекции, где синтетическая версия оказывается дороже человеческой.</a:t>
            </a:r>
          </a:p>
          <a:p>
            <a:r>
              <a:t/>
            </a:r>
          </a:p>
          <a:p>
            <a:r>
              <a:t>Два честных пробела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 раздела.</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инструментом точечно исправляли отдельную фальшивую ноту.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именно здесь оба семейства генеративных моделей работают на одной и той же задаче бок о бок, и сравнить их можно измерением, а не аналогией.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человека, которому их отпущено немного. Мерить это в долларах нельзя, и на кадре так и сказано.</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Существует, дёшев,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 его надо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по программе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Выигрыш здесь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 редкий в разделе случай, когда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ни слова о том, что происходит с моделью голоса при смене версии базовой модели поставщика.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измеряет внимание, и единицу её надо назвать точно, потому что в пересказах она подменяется. Площадка сообщила: у авторов, выложивших многоязычные дорожки, свыше двадцати пяти процентов времени просмотра пришлось на показы не на основном языке видео. Единица здесь — время просмотра; доля зрителей так никогда не считалась. Язык в формулировке площадки — «не основной для этого ролика»; слово «неанглийский» появилось уже в пересказах. Знаменатель: время просмотра тех каналов, которые дорожки выложили; сколько это каналов, площадка не раскрыла — пилот называют небольшим и поимённо из него известны три автора. Упущенной выручки за этой долей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когда копию используют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это не измерение.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своя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сравнивать их числа нельзя —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по соглашению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Классического режима у этой задачи не существует вовсе, и причина тому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 не число,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отмечено оно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одиннадцать лет без новых записей — и дебют на 45-м месте эфирного кантри-чарта,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Первый громкий случай, где права на голос оформлены прижизненно и явно, —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должно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 его надо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Сообщения о движении доходят до глухих пассажиров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 этот вопрос и заменяет «использовался ли ИИ».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сколько ускорителей под неё ни подложи.</a:t>
            </a:r>
          </a:p>
          <a:p>
            <a:r>
              <a:t/>
            </a:r>
          </a:p>
          <a:p>
            <a:r>
              <a:t>Слово «остаточное» надо понимать буквально.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 в постановке и расходится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показано это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и есть «от запроса до результата» для звука: предыдущий кадр (`s41`) показывал устройство кодека — из каких частей он собран; здесь — что именно происходит с запросом, пока он не стал волной.</a:t>
            </a:r>
          </a:p>
          <a:p>
            <a:r>
              <a:t/>
            </a:r>
          </a:p>
          <a:p>
            <a:r>
              <a:t>Механизм описан в открытой литературе дословно. Система VALL-E переформулировала синтез речи как языковое моделирование дискретных кодов: фонемы текста превращаются в условие, а речь — в матрицу кодовых токенов (десять секунд звука при токенизаторе EnCodec на 75 Гц и восьми уровнях квантования — это матрица 750×8). Авторегрессионная ступень предсказывает только первую книгу — по одному кадру за проход, как обычная языковая модель. Неавторегрессионная ступень достраивает книги со второй по восьмую: она вызывается семь раз, и каждый раз правит весь кадр целиком, а не один токен, — ровно тот же принцип «весь объект за один проход, много раз», который курс уже видел у расшумления картинки, только здесь повторов не двадцать-пятьдесят, а семь, и считаются они не шагами решателя, а уровнями кодовой книги.</a:t>
            </a:r>
          </a:p>
          <a:p>
            <a:r>
              <a:t/>
            </a:r>
          </a:p>
          <a:p>
            <a:r>
              <a:t>Текст участвует не один раз в начале, а на каждом из этих восьми проходов: он стоит в общем префиксе последовательности, и модель отсчитывает от него внимание на каждом шаге генерации — то же устройство, которое курс уже видел у расшумления картинки (там текст — Key и Value перекрёстного внимания на каждом из 20–50 проходов расшумления), только контекст здесь растёт по токенам, как у обычной языковой модели, а не держится постоянным условием на фиксированном латенте.</a:t>
            </a:r>
          </a:p>
          <a:p>
            <a:r>
              <a:t/>
            </a:r>
          </a:p>
          <a:p>
            <a:r>
              <a:t>Дорожка с образцом отличается не механизмом, а длиной входа. Акустический образец голоса кодируется тем же кодеком и становится префиксом той же последовательности — моделью уже решено, что говорить дальше в том же тембре; абляции показывают чистое разделение ролей: без акустической подсказки сходство голоса падает с 0,585 до 0,236, без текстовой — доля ошибочных слов растёт с 3,0 до 19,6 процента. Содержание даёт текст, личность даёт образец, и это два разных входа в один и тот же префикс, не два разных устройства.</a:t>
            </a:r>
          </a:p>
          <a:p>
            <a:r>
              <a:t/>
            </a:r>
          </a:p>
          <a:p>
            <a:r>
              <a:t>Узкое место здесь не генератор, а сам кодек — ровно то, что разбирает соседний кадр о частоте кадров. Чем ниже частота кадров токенизатора, тем длиннее возможный выход при том же окне контекста генератора; но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 — токенизатор звука крошечный, дорог генератор, который стоит поверх него, но предел качества ставит именно токенизатор.</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поставщик счёл этот параметр достойным названия. DiffRhythm 2 ушла на 5 герц. Stable Audio 2 работает на 21,5 герца и сопровождает это прямым объяснением: в отличие от прежних работ, где частота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больше компания об устройстве не сказала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той самой подменой базы, которую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только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Притом и результат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во что оно обходится практике, разбирает отдельный кадр этого же раздела.</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Нагляднее всего это доказывает оракул.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стало быть, проходит по постановке задачи; технология по обе её стороны может оказаться одной и той же, и инженеру надо уметь определять, по какую сторону лёг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ничего из записанного не восстанавливает.</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сами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совсем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 не покрывает, и покупают у исполнителя дорого именно её.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ошибка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задана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он слышен, и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Предел жёсткий: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стало быть, — результат того же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только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 его биометрия,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 следующий кадр.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Ответственность там сформулирована как большее из двух: десять тысяч долларов либо сумма реально понесённых убытков — то есть десять тысяч это нижняя граница взыскания, а не потолок и не альтернатива на выбор нарушителя.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несущая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в ответ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это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выглядит заботой о гибкости, а переносит весь будущий риск на того, кто подписывает. Добросовестная практика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считают они разное.</a:t>
            </a:r>
          </a:p>
          <a:p>
            <a:r>
              <a:t/>
            </a:r>
          </a:p>
          <a:p>
            <a:r>
              <a:t>Сравнивать со стоковой лицензией в 20–100 долларов надо именно сорок центов, и тогда разрыв выходит от пятидесяти до двухсот пятидесяти раз вместо тысяч. Это по-прежнему огромная величина; она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0,03 до 0,072 доллара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к генерации не относится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разбор,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 какой план попадёт в монтаж, —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считаются число людей и срок: бюджет там не раскрыт.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стоит держать целиком, и причина одна: все девять способов получить изображение сосуществуют, и ни один из восьми прежних не отменён девятым. Стадий, из которых собирается движущееся изображение, до 2022 года было восемь, и ни одна из них с приходом модели не исчезла — к ним добавились три новые.</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девятый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девяти способов своя область, где он дешевле и надёжнее остальных, и генерация заняла то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 съёмочная группа от пятидесяти человек и производственный цикл год. Российская полоса того же ремесла опубликована отраслевыми обзорами цен: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Картинка и здесь была синтетической; разница с 2022–2026 годами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У всех пяти классических режимов — съёмочная смена, графика у подрядчика, нелинейный монтаж, покадровый расчёт на вычислительной ферме, светодиодная сцена реального времени — есть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надо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Цену обеих ошибок называет экономическая механика отрасли —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виден поквартально, и весь ряд стоит привести целиком: растёт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называют модель Seedance 2.0, вышедшую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Сместилось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У этой скорости есть база для сравнения.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умещается в одну фразу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ось всей лекции видна без примесей, и числа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съёмочное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Нечестность этого сравнения названа тут же.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Точная формулировка: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Эти два-три дня стоит представить конкретно: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Два года надо развести: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a:t>
            </a:r>
          </a:p>
          <a:p>
            <a:r>
              <a:t/>
            </a:r>
          </a:p>
          <a:p>
            <a:r>
              <a:t>Цену компания раскрыть отказалась, сказав лишь, что вышло дешевле и быстрее обычного. Встречное утверждение, что обошлось примерно столько же, принадлежит разбору третьей стороны: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кадр и поставлен.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прямо инженерное.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Спорить в этом случае не о чем, и ценен он именно наличием базы. Названы обе стороны: полдня и минуты. Кратность из них считается, и она огромная — но от измеренного режима, а не от воздуха. Вторая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всё держится на оговорке супервайзера эффектов, и терять её нельзя: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дёшево на фоне сорока тысяч классического бюджета и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 как перемещение дорогого места внутри цепочки.</a:t>
            </a:r>
          </a:p>
          <a:p>
            <a:r>
              <a:t/>
            </a:r>
          </a:p>
          <a:p>
            <a:r>
              <a:t>В первом случае примечательна и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Сооснователь компании заявил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на кадре он стоит именно в этом качестве — как утверждение,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не измерение,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демонстрация: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его стоит назвать прямо.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Почему разработчики платят за полное трёхмерное внимание, нагляднее всего объяснила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здесь нет.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a:p>
            <a:r>
              <a:t/>
            </a:r>
          </a:p>
          <a:p>
            <a:r>
              <a:t>Та же экономика рычага видна и в цене обучения, и это стоит унести из прежнего кадра про сжатие (снят при переборке 29.10.2026 — на его месте встал путь от запроса к результату). Единственная полная публичная раскладка стоимости обучения видеомодели принадлежит Open-Sora 2.0: статья называется «обучение видеомодели коммерческого уровня за двести тысяч долларов», и раскладка по стадиям даёт 4 160 ускорительных дней при ставке два доллара за час — 4 160 × 24 × 2 = 199 680 $, число сходится. Источник удешевления авторы называют прямо: подняли коэффициент пространственного сжатия до 32, сократив токены с 76 000 до 19 000 на пять секунд, и получили пятикратный рост пропускной способности обучения при неизменных 11 миллиардах параметров. Рычаг — тот же автокодировщик, что несёт и цену связи между кадрами на этом самом кадре: одна настройка решает и то, сколько стоит обучение, и то, сколько стоит внимание.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один и тот же принцип — «не подглядывать вперёд» — в двух разных по устройству слоях.</a:t>
            </a:r>
          </a:p>
          <a:p>
            <a:r>
              <a:t/>
            </a:r>
          </a:p>
          <a:p>
            <a:r>
              <a:t>Побочное следствие —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отсюда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которую монтажёру надо держать в уме.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воспроизвести этот счёт полезнее, чем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трудноустранимый: даже если бы вычисления были бесплатны, учиться длинной сцене было бы не на чем.</a:t>
            </a:r>
          </a:p>
          <a:p>
            <a:r>
              <a:t/>
            </a:r>
          </a:p>
          <a:p>
            <a:r>
              <a:t>Разработчики формулируют размен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в лекции схема не устройства, а работы: не из каких частей модель собрана, а что именно происходит с запросом между вводом и готовым клипом. Устройство каждой части — патчи пространства-времени и причинный трёхмерный автокодировщик — уже разобрано на двух предыдущих кадрах; здесь те же детали встают в один путь, который зал видел пунктиром, а не целиком.</a:t>
            </a:r>
          </a:p>
          <a:p>
            <a:r>
              <a:t/>
            </a:r>
          </a:p>
          <a:p>
            <a:r>
              <a:t>Путь начинается с кодировщика текста — той же замороженной сети, что в неподвижной картинке: она ничему не учится здесь заново, только переводит слова запроса в вектор. Дальше — старт: латентные патчи пространства-времени, расставленные в сетку нужного размера; без затравки они заполнены случайным шумом, с затравкой первый срез фиксирован кадром, закодированным отдельно тем же приёмом, что в причинном автокодировщике. Это ровно то структурное отличие, которое вторая дорожка обязана показать: не другой механизм, а другая точка старта одного и того же механизма.</a:t>
            </a:r>
          </a:p>
          <a:p>
            <a:r>
              <a:t/>
            </a:r>
          </a:p>
          <a:p>
            <a:r>
              <a:t>Повторяемый шаг — расшумление всего блока патчей целиком, за один проход сети с полным трёхмерным вниманием, и повторяется он от двадцати до пятидесяти раз независимо от того, есть затравка или нет: число шагов расшумления не знает о предыстории, оно знает только о целевом качестве. На каждом из этих шагов вектор запроса участвует заново через кросс-внимание — тот же механизм, что в изображении, растянутый на дополнительное измерение времени. Это и отвечает на вопрос «где участвует запрос»: не на старте и не эпизодически, а на каждом без исключения шаге, от первого до последнего.</a:t>
            </a:r>
          </a:p>
          <a:p>
            <a:r>
              <a:t/>
            </a:r>
          </a:p>
          <a:p>
            <a:r>
              <a:t>Что меняется и что остаётся — стоит назвать раздельно. Меняются значения патчей: на первом шаге это почти чистый шум или фиксированный первый кадр, на последнем — согласованное содержание, которое декодировщик превратит в пиксели. Не меняется ни сетка патчей, ни декодировщик, ни то, как кросс-внимание читает вектор текста. У дорожки с затравкой это правило выполняется буквально: единственная переменная между двумя путями — содержимое первого среза на шаге ноль.</a:t>
            </a:r>
          </a:p>
          <a:p>
            <a:r>
              <a:t/>
            </a:r>
          </a:p>
          <a:p>
            <a:r>
              <a:t>Узкое место — одно, и оно не в размере модели и не в кодировщике, а в самом механизме внимания. Полное трёхмерное внимание без всякого кэша значит, что каждый из двадцати-пятидесяти проходов пересчитывает связи между всеми патчами заново, не вынося за скобки то, что уже посчитано на предыдущем шаге — ровно та цена, которую курс уже называл на соседнем кадре: раздельное по пространству и времени внимание дешевле в тридцать один раз, но за эту экономию платят тем, что голова человека в кадре i+1 не может напрямую обратиться к голове в кадре i. Разработчики сознательно платят дороже за прямую связь между кадрами — и именно это узкое место объясняет, почему клип длится секунды, а не минуты, вне зависимости от того, из какой дорожки он запущен.</a:t>
            </a:r>
          </a:p>
          <a:p>
            <a:r>
              <a:t/>
            </a:r>
          </a:p>
          <a:p>
            <a:r>
              <a:t>Отсюда прямой мост к следующим кадрам раздела: та же схема, тот же цикл — а дальше раздел показывает, чего этот цикл не умеет и чем он измеримо ограничен.</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держится на четырёх механизмах,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они пропадут зря.</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Так устроено всё семейство, и дело здесь не в недосмотре одной модели.</a:t>
            </a:r>
          </a:p>
          <a:p>
            <a:r>
              <a:t/>
            </a:r>
          </a:p>
          <a:p>
            <a:r>
              <a:t>Одно уточнение про слово «механизм». Ни один из трёх не задумывался как способ удержать объект: временное сжатие заводили ради объёма, трёхмерное внимание — ради качества, позиционное кодирование — ради того, чтобы модель вообще различала порядок. Постоянство объекта получилось у них как побочный эффект, и ровно поэтому оно так легко кончается: за него никто не отвечает по замыслу. Это полезно помнить всякий раз, когда у системы просят свойства, которого в её постановке задачи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наблюдение, которое снимает романтику с понятия «модель мира»: объектное постоянство в интерактивном режиме — это размер окна; никакого свойства мира за ним нет.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15 октября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о режимах отказа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сильная сторона работы.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что это утверждение значит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знать его стоит.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в разряд организационных мелочей он не попадает.</a:t>
            </a:r>
          </a:p>
          <a:p>
            <a:r>
              <a:t/>
            </a:r>
          </a:p>
          <a:p>
            <a:r>
              <a:t>Парный рабочий ответ, без которого раздел был бы обвинением. Обе модели мигрировали, и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выведено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ролик длиной 66 секунд.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и рычаг на коэффициент отбора известен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в том, насколько жёстко описан годный результат, и лишь потом в модели.</a:t>
            </a:r>
          </a:p>
          <a:p>
            <a:r>
              <a:t/>
            </a:r>
          </a:p>
          <a:p>
            <a:r>
              <a:t>И напоследок о том, почему отбор назван скрытой ценой, а не просто ценой. В смете он не стоит отдельной строкой ни у кого: прейскуранты считают генерации, подрядчики считают дни, а время на просмотр сотен клипов растворяется в слове «постпродакшн». Строка появляется только тогда, когда её туда поставят руками, и поставить её — часть инженерной работы, а не бухгалтерской.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карта показывает ровно это: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названа причина отказа, а не одно голое слово «нет».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и переписывать их не придётся.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a:p>
            <a:r>
              <a:t/>
            </a:r>
          </a:p>
          <a:p>
            <a:r>
              <a:t>Отдельно стоит сказать, чего карта не делает. Она не сравнивает модальности по качеству и не говорит, какая из них «лучше»: клетка «0,034–0,05 доллара за изображение» и клетка «цена выпуска ниже в 10–20 раз» измерены в разных единицах и рядом стоят только потому, что отвечают на один и тот же вопрос. Карта отвечает на вопрос «что здесь вообще можно поручить модели», а не на вопрос «где она сильнее». Второй вопрос в такой сетке не решается, и попытка вычитать из неё рейтинг модальностей — самая вероятная ошибка чтения.</a:t>
            </a:r>
          </a:p>
          <a:p>
            <a:r>
              <a:t/>
            </a:r>
          </a:p>
          <a:p>
            <a:r>
              <a:t>Пользоваться картой за пределами лекции проще всего так: взять свою задачу, определить, в какую из шести строк она попадает, и прочитать клетку своей модальности. Если в клетке число — есть измеренный случай, и можно оттолкнуться от него. Если «нет» с причиной — причина названа, и она обычно сильнее любой настройки. Если «неприменимо» — вопрос к этой стадии не задаётся, и это тоже ответ.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сделать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Перекос в сторону устройства здесь сознательный: у трёхмерного отличное, измеренное, рецензируемое устройство и совсем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нет значительной части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Эта деталь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Решение, которое принимает стадия, стоит назвать отдельно, потому что из него следует её место в порядке производства. Стадия утверждает форму — и утверждает её до того, как в эту форму вложатся все последующие работы. Анимация деформирует сетку по костям. Расчёт ткани считает натяжение по рёбрам. Свет считается по нормалям к поверхности. Наложение рисунка идёт по развёртке. Каждая из этих работ опирается на геометрию как на данность, поэтому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 Именно поэтому трёхмерная стадия стоит в производстве там, где стоит, и именно поэтому единица её выхода самая дорогая в ряду модальностей вечера: плоский кадр обязан быть убедителен с одной точки зрения, кадр видео — с одной точки и на протяжении нескольких секунд, а трёхмерный объект верен со всех сторон сразу и во всех позах, включая те, в которые его поставят через полгода другие люди для другой сцены.</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Пятая и последняя из шести схем работы в этой лекции, и она — единственная, где путь от запроса до результата устроен не расшумлением готовой модели, а оптимизацией с нуля. Разница стоит того, чтобы её проговорить явно, потому что форма пути та же самая — запрос, старт, повторяемый шаг, результат, — а числа внутри неё отличаются на порядки, и это само по себе урок.</a:t>
            </a:r>
          </a:p>
          <a:p>
            <a:r>
              <a:t/>
            </a:r>
          </a:p>
          <a:p>
            <a:r>
              <a:t>Дорожка с текстом — метод DreamFusion. Предобученная плоская диффузионная модель не меняется вообще: она выступает судьёй, оценивающим, насколько правдоподобно с разных ракурсов выглядит случайно инициализированное поле излучения. Повторяемый шаг — отрисовать поле со случайного ракурса, получить оценку от судьи, сделать шаг оптимизации параметров поля в сторону более высокой оценки. Этот шаг повторяется пятнадцать тысяч раз, около полутора часов на четырёхчиповой машине, и причина именно в судье: полный проход диффузионной модели делается на каждом из пятнадцати тысяч шагов, а не один раз на старте.</a:t>
            </a:r>
          </a:p>
          <a:p>
            <a:r>
              <a:t/>
            </a:r>
          </a:p>
          <a:p>
            <a:r>
              <a:t>Дорожка со снимками — гауссово спрыскивание. Камеры калибруются по снимкам объекта, и калибровка попутно отдаёт разреженное облако точек — тот самый побочный продукт фотограмметрии. Облако становится стартом: гауссианы — вытянутые полупрозрачные кляксы с положением и цветом — инициализируются в его точках. Повторяемый шаг — отрисовать сцену с известного, снятого ракурса, сравнить с настоящей фотографией, сделать шаг оптимизации параметров гауссиан, время от времени ещё и поправить их число — клонировать там, где не хватает деталей, разделить, где одна клякса взяла на себя слишком много, удалить там, где толку нет. Этот шаг повторяется тридцать тысяч раз, около сорока одной минуты на одном ускорителе.</a:t>
            </a:r>
          </a:p>
          <a:p>
            <a:r>
              <a:t/>
            </a:r>
          </a:p>
          <a:p>
            <a:r>
              <a:t>Где участвует запрос — в обеих дорожках ответ один, и он нетривиален: не на старте, а на каждом из всех повторов. У текста это полный проход модели-судьи на каждом шаге; у снимков — сравнение отрисовки с настоящей фотографией на каждом шаге. Это не кросс-внимание, как в изображении и видео, а другой механизм — сигнал обучения, а не условие генерации, — но роль та же: без запроса, предъявляемого заново на каждом шаге, оптимизация не знает, куда двигаться.</a:t>
            </a:r>
          </a:p>
          <a:p>
            <a:r>
              <a:t/>
            </a:r>
          </a:p>
          <a:p>
            <a:r>
              <a:t>Что меняется и что остаётся: параметры представления — координаты и цвет поля или положение, форма и цвет гауссиан — меняются на каждом шаге. Само представление, то есть то, какого рода объект считается сценой, не меняется, хотя у гауссиан меняется даже их число.</a:t>
            </a:r>
          </a:p>
          <a:p>
            <a:r>
              <a:t/>
            </a:r>
          </a:p>
          <a:p>
            <a:r>
              <a:t>Узкое место этой модальности — не автокодировщик и не внимание, а сам масштаб повторения. Там, где у готовой диффузионной модели есть общий обученный приор — общее знание, накопленное на множестве прежних объектов, — и хватает двадцати-пятидесяти шагов расшумления, здесь приора нет: каждый объект оптимизируется с нуля, и за это платят тремя-четырьмя порядками больше повторов. Ровно эту цену отменяет нативная трёхмерная диффузия вроде TRELLIS, разобранная дальше в разделе: она один раз обучилась на полумиллионе объектов и теперь делает один проход за секунды — тот же урок об амортизации, что курс уже показывал на языковых моделях и на плоской генерации, только здесь его можно увидеть в виде прямого контраста: пятнадцать тысяч шагов против одного прохода на тех же пятнадцати словах запроса.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конвейер трёхмерного ассета состоит из девяти стадий, собранных в три участка: поиск облика (концепт, блокинг, скульптинг), подготовка к производству (ретопология, развёртка, текстурирование, риггинг) и использование (анимация и расчёт ткани, рендер и сборка). Перечислить их по именам важно по одной причине — граница применимости генератора проходит ровно по этому списку.</a:t>
            </a:r>
          </a:p>
          <a:p>
            <a:r>
              <a:t/>
            </a:r>
          </a:p>
          <a:p>
            <a:r>
              <a:t>Обученная модель трогает две стадии из девяти, и обе — в первом, самом дешёвом участке. Концепт — изображение или набросок, по которому принимается решение «делаем или не делаем» — теперь можно получить текстовым описанием за секунды вместо часов эскиза. Блокинг — грубая форма из коробок и сфер, на которой проверяют силуэт и пропорции, — ускоряется тем же способом: черновую форму видно раньше, чем раньше. Больше модель не трогает ничего: семь стадий из девяти, и это как раз семь самых дорогих, остаются ровно там же, где были до неё.</a:t>
            </a:r>
          </a:p>
          <a:p>
            <a:r>
              <a:t/>
            </a:r>
          </a:p>
          <a:p>
            <a:r>
              <a:t>Почему именно эти семь не поддаются. Ретопология требует знания анатомии и того, как объект будет двигаться — чистую сетку строят заново поверх вылепленной формы, с петлями рёбер вокруг суставов. Развёртка и текстурирование требуют дисциплины разметки швов. Риггинг — скелет и привязка вершин — ставится поверх готовой сетки, и если сетка не по анатомии, кости окажутся там, где удобно алгоритму, а не там, где у объекта сгибается сустав; автоматический скелет, которым хвалятся генераторы с 2026 года, эту стадию не закрывает, он на неё садится. Анимация, расчёт ткани и финальный рендер опираются на геометрию как на данность — любая её ошибка переезжает вправо и дорожает на каждом шаге.</a:t>
            </a:r>
          </a:p>
          <a:p>
            <a:r>
              <a:t/>
            </a:r>
          </a:p>
          <a:p>
            <a:r>
              <a:t>Данные о реальном объекте по-прежнему получают теми же пятью классическими способами. Фотограмметрия — объект обходят с камерой и снимают сотнями кадров с перекрытием, калибровка попутно отдаёт разреженное облако точек. Лазерное сканирование — прибор меряет расстояние напрямую, точнее по форме и беднее по цвету. Ручное моделирование — единственный способ получить объект, которого не существует. Захват движения даёт не форму, а то, как объект двигается. Готовые библиотеки — самый дешёвый путь и самый узкий. Модель добавила к этим пяти шестой вход — текстовое описание — и удешевила первый из пяти, фотограмметрию: набор снимков превращается в пригодную сцену за минуты вместо суток, а не часы ручной обработки. Остальные четыре способа она не затронула вовсе, и ни один из шести входов не добавил ни одного измерения: лазерный сканер как мерил размеры в метрах, так и мерит, а результат порождающего входа — только правдоподобен, и это асимметрия, которая не закрывается следующей версией модели, потому что она следует из устройства метода, а не из его качества.</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что он про то же свойство — про то, что считается снятым. Вторая: многого из того, чего требует форма подробного разбора, у него нет, и каждый пробел назван на своём месте, а не замазан.</a:t>
            </a:r>
          </a:p>
          <a:p>
            <a:r>
              <a:t/>
            </a:r>
          </a:p>
          <a:p>
            <a:r>
              <a:t>Цену обеих ошибок назвать нельзя.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виден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a:t>
            </a:r>
          </a:p>
          <a:p>
            <a:r>
              <a:t/>
            </a:r>
          </a:p>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Запомните эту пару чисел в правильном порядке: свыше девяноста процентов кадра тронуто — и ни одной опубликованной цены ни у одного классического режима. Первое число звучит сильно и измерено только с одной стороны; второе — молчание, и молчание это ровно того рода, которое в рекламных материалах заполняют красивой кратностью. Разбор здесь кратность не называет сознательно, и это решение, а не пробел подготовки: выигрыш, посчитанный от нуля, не измеряет ничего, кроме готовности считавшего.</a:t>
            </a:r>
          </a:p>
          <a:p>
            <a:r>
              <a:t/>
            </a:r>
          </a:p>
          <a:p>
            <a:r>
              <a:t>Повторю формулировку, потому что она — несущий инженерный приём всего вечера. Чтобы назвать выигрыш, нужны обе стороны в одной единице: сколько стоила работа классическим режимом и сколько стала стоить с моделью. Здесь есть только вторая половина — и вторая половина измерена вдобавок не в деньгах, а в доле тронутого кадра, то есть вообще в другой единице, чем та, в которой считалась бы классическая доработка. Две разные единицы рядом не образуют сравнения; они образуют впечатление.</a:t>
            </a:r>
          </a:p>
          <a:p>
            <a:r>
              <a:t/>
            </a:r>
          </a:p>
          <a:p>
            <a:r>
              <a:t>Болезненнее всего в этом разборе — не деньги: они здесь, может быть, и правда коммерческая тайна. Дыра в том, что не описано, кто и по какому порогу принимал покадровое решение «достраивать или нет». Это и есть то самое место, где проходит граница между реставрацией и сочинением, и это решение принимал живой человек — иначе кадр не вышел бы. В любом разборе, который вам покажут, ищите место, где названо решение и тот, кто его принял. Названная технология этого места не заменяет. Там, где решение есть, а принявшего нет, вам показывают описание изделия.</a:t>
            </a:r>
          </a:p>
          <a:p>
            <a:r>
              <a:t/>
            </a:r>
          </a:p>
          <a:p>
            <a:r>
              <a:t>Для практики отсюда следует короткая проверка. Увидев заявление вида «система сделала X», задайте три вопроса по порядку: в какой единице измерен X; в той же ли единице измерено то, что было до системы; и названо ли, кто внутри процесса принимал решения, которые нельзя автоматизировать. Если на первый вопрос ответ есть, а на второй и третий нет — перед вами сообщение для прессы, даже если оно опубликовано в научном формате.</a:t>
            </a:r>
          </a:p>
          <a:p>
            <a:r>
              <a:t/>
            </a:r>
          </a:p>
          <a:p>
            <a:r>
              <a:t>И ещё одна деталь, важная для чтения любых таких разборов. Имена применённых изделий здесь известны — Imagen, Veo, Gemini для достройки, Topaz Video AI для разрешения и зерна, — а вот на чём эти модели обучены, не раскрыто. Знание названия продукта и знание того, что внутри него, — разные вещи, и первое часто подменяет второе. Для оценки результата важно второе: именно обучающий материал определяет, какие продолжения декораций модель считает правдоподобными, и именно он остаётся за закрытой дверью.</a:t>
            </a:r>
          </a:p>
          <a:p>
            <a:r>
              <a:t/>
            </a:r>
          </a:p>
          <a:p>
            <a:r>
              <a:t>Последнее, что стоит унести с этого кадра. Случай с «Волшебником страны Оз» — не про то, хорошо это или плохо. Он про то, что решение о границе между восстановлением и сочинением было принято внутри производственного процесса, без объявления, и зритель, покупая билет, об этом решении не знает. Через два раздела этот случай встанет в пару со свитками Геркуланума, где техника соседняя — обученная модель восстанавливает изображение, которого в исходных данных нет, — а этика противоположная, и различает их ровно один признак: существует ли независимый способ проверить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нужна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они и есть та переменная, от которой всё зависит.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Про объект, оставленный камерой и увиденный снова, разработчик показал ролик, где стена остаётся покрашенной. Независимая проверка июня 2026 года на двадцати трёх моделях находит у мировых моделей то же ограничение, что и у видеомоделей из раздела про видео: объект возвращается таким, каким его видели последний раз, а не таким, каким стал бы за прошедшее время, — разница лишь в размере окна, минуты вместо секунд.</a:t>
            </a:r>
          </a:p>
          <a:p>
            <a:r>
              <a:t/>
            </a:r>
          </a:p>
          <a:p>
            <a:r>
              <a:t>Почему это стоит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a:p>
            <a:r>
              <a:t/>
            </a:r>
          </a:p>
          <a:p>
            <a:r>
              <a:t>И последнее число, без которого «720p при 24 кадрах в секунду» читается не так, как надо. По числу пикселей в секунду это примерно вчетверо ниже принятого в играх уровня — 1080p при 60 кадрах. Направление, которое называют моделями мира, впечатляет не разрешением и не частотой, а устройством: следующий кадр строится не только по описанию, а по внутреннему состоянию сцены и действию пользователя, и это держит связность среды несколько минут против десяти-двадцати секунд у предшественников того же класса — окно шире, а не постоянство иначе. Случай промышленного применения у направления уже есть: с февраля 2026 года Waymo использует модель на основе Genie 3 для симуляции редких сценариев вождения при подготовке водителей. Посчитанного исхода в нём по-прежнему нет: сравнения с реальными показателями безопасности никто не опубликовал, и сведений о стоимости вывода тоже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Работа 2023 года сменила представление ещё раз.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Колонку качества в этой таблице терять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 метод обязан воспроизвести снимки, а не описать сцену физически осмысленно. Типичная сцена после тридцати тысяч шагов — от двухсот до пятисот тысяч гауссиан.</a:t>
            </a:r>
          </a:p>
          <a:p>
            <a:r>
              <a:t/>
            </a:r>
          </a:p>
          <a:p>
            <a:r>
              <a:t>Полная раскладка цены, названная самими авторами, а не их критиками, выглядит так. При обучении больших сцен пиковое потребление видеопамяти, по их словам, «может превышать 20 гигабайт». Показ требует нескольких сотен мегабайт на саму модель сцены и ещё от тридцати до пятисот мегабайт на растеризатор. Это и есть цена, и её стоит читать как образец: в рецензируемой работе проигравшая величина стояла в той же таблице четвёртой колонкой, а в сообщении для прессы её бы там не было.</a:t>
            </a:r>
          </a:p>
          <a:p>
            <a:r>
              <a:t/>
            </a:r>
          </a:p>
          <a:p>
            <a:r>
              <a:t>И практический вывод, который переживёт обе конкретные работы, и ради которого на этот кадр раньше вели отдельным кадром-ответом. Когда вам показывают таблицу из четырёх колонок и три из них улучшились, первым делом ищите четвёртую. Если её в таблице нет, это не значит, что её нет в природе: это значит, что считавший её не показал. В рецензируемой работе авторы сами поставили память рядом со скоростью — потому что рецензент спросил бы. В сообщении для прессы спрашивать некому.</a:t>
            </a:r>
          </a:p>
          <a:p>
            <a:r>
              <a:t/>
            </a:r>
          </a:p>
          <a:p>
            <a:r>
              <a:t>Для практики из сравнения двух устройств следует вопрос, который стоит задавать раньше всех остальных: в каком виде система хранит то, с чем работает. Ответ на него предсказывает и скорость, и объём, и то, какие операции окажутся дешёвыми, а какие невозможными, — задолго до того, как вы увидите чей-нибудь замер.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Полтора часа против десяти секунд — разрыв примерно в пятьсот раз. И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у этой пары есть, и вот какое: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a:p>
            <a:r>
              <a:t/>
            </a:r>
          </a:p>
          <a:p>
            <a:r>
              <a:t>Полтора часа и десять секунд стоит разложить по стадиям, чтобы было видно, за что именно платят. У первого способа время поровну делится между рендером поля излучения и прогоном плоской диффузионной модели, и полный прогон делается на каждом из пятнадцати тысяч шагов — при рендере в шестьдесят четыре пикселя по стороне. У второго соседняя линия того же семейства даёт честную раскладку: около четырёх секунд на многовидовое изображение и около семи на восстановление геометрии, итого около одиннадцати. Обе раскладки опубликованы авторами, и обе стоит спрашивать у любого поставщика: не «сколько занимает выдача», а «из чего эта выдача складывается».</a:t>
            </a:r>
          </a:p>
          <a:p>
            <a:r>
              <a:t/>
            </a:r>
          </a:p>
          <a:p>
            <a:r>
              <a:t>И короткое предупреждение против частой ошибки чтения. Пятьсот раз — это не «модель стала в пятьсот раз умнее» и не «работа стала в пятьсот раз дешевле». Это расстояние между двумя инженерными решениями одной задачи, разделёнными двумя годами. Человека в этой паре нет вовсе, и любая фраза вида «в пятьсот раз быстрее художника», построенная из этого числа, получена делением измеренного на выдуманное.</a:t>
            </a:r>
          </a:p>
          <a:p>
            <a:r>
              <a:t/>
            </a:r>
          </a:p>
          <a:p>
            <a:r>
              <a:t>Запомните и общую фигуру, потому что встретите её ещё не раз. Стоимость в машинном обучении почти никогда не исчезает — она переезжает. Из выдачи в обучение, из вычислений в данные, из работы инженера в работу разметчика. Вопрос «куда она переехала» заменяет собой вопрос «сколько сэкономили», и ответ на него гораздо честнее.</a:t>
            </a:r>
          </a:p>
          <a:p>
            <a:r>
              <a:t/>
            </a:r>
          </a:p>
          <a:p>
            <a:r>
              <a:t>И один вопрос, который стоит задавать любому поставщику такой системы: сколько стоит ваш вывод и сколько стоило ваше обучение. Дешёвый вывод почти всегда означает, что стоимость перенесена в обучение, — и это хорошо ровно до тех пор, пока ваша задача лежит внутри того корпуса, на котором обучались.</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Миллисекунды здесь — несущие числа,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a:t>
            </a:r>
          </a:p>
          <a:p>
            <a:r>
              <a:t/>
            </a:r>
          </a:p>
          <a:p>
            <a:r>
              <a:t>Обязательная вторая половина — чего это не делает, и список «чего не умеет» здесь половина содержания, потому что каждый случай следует из устройства метода, а не из недоработки версии.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 число кадров в секунду выросло, отзывчивость нет, и это ровно тот случай, когда улучшилась метрика, а не то, ради чего метрику вводили. Трудные места производитель называет сам: интерфейс, у которого нет векторов движения — их просто неоткуда взять, потому что интерфейс не часть трёхмерной сцены; блики и отражения, для которых векторы движения неверны по построению, потому что отражение движется не так, как движется отражающая поверхность; частицы, лучи и полупрозрачность, для которых неверен буфер глубины — у полупрозрачного пикселя нет одной глубины. Их формулировка точна: такие эффекты «склонны доминировать в восприятии пользователя, хотя их доля в пикселях относительно мала» — глаз цепляется именно за них, и артефакт там заметнее, чем на любой стене. Отдельно назван шлейф за движущимися объектами — дефект свёрточной модели, ради устранения которого и ставили трансформер.</a:t>
            </a:r>
          </a:p>
          <a:p>
            <a:r>
              <a:t/>
            </a:r>
          </a:p>
          <a:p>
            <a:r>
              <a:t>Для инженера из этого следует рабочее правило, и оно шире графики. Когда обсуждают применение модели в продукте, обсуждают почти всегда бюджет. На вопрос «может ли модель это сделать» сегодня чаще всего отвечают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 Если система улучшает показатель косвенно — достраивая, предсказывая, интерполируя, — спросите, какие свойства исходного процесса при этом сохранились, а какие нет: обычно сохраняется то, что меряет показатель, и теряется то, ради чего показатель вводили.</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Случай промышленного применения у направления уже есть: с февраля 2026 года Waymo использует модель на основе Genie 3 для симуляции редких сценариев вождения при подготовке водителей. Чего у него нет, надо сказать так же отчётливо: посчитанного исхода (сравнения с реальными показателями безопасности), сведений о стоимости вывода и сопоставления с классическим режимом — построением интерактивной среды в движке — ни по срокам, ни по деньгам.</a:t>
            </a:r>
          </a:p>
          <a:p>
            <a:r>
              <a:t/>
            </a:r>
          </a:p>
          <a:p>
            <a:r>
              <a:t>Доля экрана, нарисованная сетью, — пятнадцать пикселей из каждых шестнадцати при четырёхкратной достройке кадров вместе с четырёхкратным повышением разрешения. Это число стоит произносить вслух хотя бы раз, потому что оно переворачивает привычное деление на «настоящую графику» и «ИИ-картинки». Человек, который считает искусственным интеллектом генератор изображений в браузере и не считает им настройку качества в собственной игре, ошибается ровно наоборот: вторая работает у него на столе шестьдесят раз в секунду и рисует почти весь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аргумент, на котором раздел стоит,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несущее,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 Ретопология — чистую сетку строят заново поверх полученной, с петлями рёбер вокруг суставов, рта и века. Развёртка — по спланированным швам, чтобы на неё можно было нанести рисунок без искажений. Риггинг — внутрь ставится скелет, вершины привязываются к костям с весами.</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систему автоматизированного проектирования не заменяет,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Рядом стоит поставить контрпример из начала вечера: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Отдельно —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a:p>
            <a:r>
              <a:t/>
            </a:r>
          </a:p>
          <a:p>
            <a:r>
              <a:t>Про вторую половину этой картины забывать не стоит: генератор формы даёт двадцать вариантов облика за полчаса там, где раньше был один набросок за полдня, и даёт объект, которого в природе нет, — без единого снимка на входе. Выданная форма вполне пригодна к просмотру и к постановке в фон. Запрета на инструмент тут нет; есть точное место, где он кончается.</a:t>
            </a:r>
          </a:p>
          <a:p>
            <a:r>
              <a:t/>
            </a:r>
          </a:p>
          <a:p>
            <a:r>
              <a:t>Кончается он на связях между параметрами. В системе автоматизированного проектирования модель — это зависимости: изменил диаметр, пересчиталась посадка, изменился допуск. У выданной поверхности менять нечего, потому что связей в ней не записано. И критерий отбора остаётся снаружи, у человека, — причём в трёхмерном этот человек вдобавок обязан назначить масштаб, которого в выдаче нет.</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она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и систему проектирования он не заменяет.</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И короткое замечание о том, как вообще читать отсутствие числа. Отсутствие публичного замера — это сведение о зрелости направления, а не дефект подготовки материала. У плоского изображения такие замеры есть с 2023 года, у дубляжа — с 2024-го, у видео — с 2025-го; у трёхмерного на конец 2026 года их нет. Технология вышла из лаборатории два года назад, и это ровно то, чего от неё стоит ожидать: сначала появляются демонстрации, потом внедрения, потом — те, кто считал деньги, начинают публиковать. Знать, что считающих ещё нет, полезнее, чем получить красивое число неизвестного происхождения.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ради этого карта и ведётся весь вечер.</a:t>
            </a:r>
          </a:p>
          <a:p>
            <a:r>
              <a:t/>
            </a:r>
          </a:p>
          <a:p>
            <a:r>
              <a:t>Карта вечера — одна на всю лекцию, и она накапливается: после каждой модальности в ней появляется одна новая колонка, а строки остаются теми же шестью. Прочитать её после четвёртой колонки стоит целиком, потому что именно здесь впервые видно, что в ней повторяется.</a:t>
            </a:r>
          </a:p>
          <a:p>
            <a:r>
              <a:t/>
            </a:r>
          </a:p>
          <a:p>
            <a:r>
              <a:t>Строка «породить первое приближение» заполнена везде и везде дёшево: от трёх с половиной центов за изображение до единиц секунд на трёхмерный вариант. Строка «довести до производственного качества» заполнена везде и везде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Строка «восстановить существующее» заполнена везде и везде это сильная сторона метода, потому что у восстановления есть отложенный эталон, с которым результат можно сверить.</a:t>
            </a:r>
          </a:p>
          <a:p>
            <a:r>
              <a:t/>
            </a:r>
          </a:p>
          <a:p>
            <a:r>
              <a:t>А дальше идут две строки, в которых стоит «нет» по всему ряду. «Соблюсти точные величины» — нет у изображения, нет у звука, нет у видео, нет у трёхмерного, и причина каждый раз называется своя, хотя по сути она одна: модель обучена на том, как вещи выглядят и звучат, а не на том, какие они по величине. «Ответить кто отвечает» — нет везде, и тоже по одной причине: источник детали не записан нигде, потому что деталь получена снятием шума, а не взята из какого-то одного обучающего примера.</a:t>
            </a:r>
          </a:p>
          <a:p>
            <a:r>
              <a:t/>
            </a:r>
          </a:p>
          <a:p>
            <a:r>
              <a:t>Вот что карта показывает и чего не показал бы ни один отдельный разбор. Две пустые строки — не свойство конкретной модели и не недоработка конкретного года. Они одинаковы у четырёх разных модальностей с разными архитектурами, разными корпусами и разными производителями, и значит, это свойство класса методов. На следующем кадре появится пятая колонка, и впервые за вечер в этих двух строках что-то изменится.</a:t>
            </a:r>
          </a:p>
          <a:p>
            <a:r>
              <a:t/>
            </a:r>
          </a:p>
          <a:p>
            <a:r>
              <a:t>Для практики отсюда следует привычка, полезная далеко за пределами этой лекции. Когда вы оцениваете новый класс инструментов, стройте такую же сетку сами: по одной оси — типы задач, которые вам нужно решать, по другой — инструменты или модальности. Заполняйте её тем, что измерено, и обязательно оставляйте клетки со словом «нет» и названной причиной. Пустая строка по всему ряду — находка, ради которой такую сетку и строят: она означает, что перед вами ограничение класса, а не отставание конкретного поставщика, и ждать, что его закроет следующая версия, не стоит.</a:t>
            </a:r>
          </a:p>
          <a:p>
            <a:r>
              <a:t/>
            </a:r>
          </a:p>
          <a:p>
            <a:r>
              <a:t>И практическое следствие для чтения любой такой сетки. Пустая клетка и клетка со словом «нет» — разные утверждения. Пустая значит «мы не проверяли»; «нет» с названной причиной значит «проверяли, не работает, вот почему». В этой карте пустых клеток нет ни одной: везде либо число, либо «нет» с причиной, либо «неприменимо» с причиной. Так и стоит вести собственные сетки.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Эта стадия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случай, единственный в лекции: у выигрыша нет оборотной стороны, и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Числа классического режима стоит повторить медленно, потому что без них следующие разборы читаются неверно. Независимые аудиты точности газетных материалов дают от сорока до шестидесяти одного процента статей, содержащих хотя бы одну ошибку. Публично исправляется около двух процентов. То есть обычная редакция, без всякой обученной модели, ошибается примерно в каждой второй статье и признаёт это примерно в каждой пятидесятой. Эту пару стоит прочитать дважды — она и есть база, относительно которой будут читаться оба редакционных разбора раздела.</a:t>
            </a:r>
          </a:p>
          <a:p>
            <a:r>
              <a:t/>
            </a:r>
          </a:p>
          <a:p>
            <a:r>
              <a:t>У двух других классических режимов — экспертизы подлинности и ручной реставрации — числа отсутствуют. Практика описана, сроки называются в неделях и месяцах, а стоимости в источниках нет. Поэтому ни одна кратность относительно экспертизы в этом разделе не считается, и это решение, а не пробел подготовки.</a:t>
            </a:r>
          </a:p>
          <a:p>
            <a:r>
              <a:t/>
            </a:r>
          </a:p>
          <a:p>
            <a:r>
              <a:t>Решений стадия принимает два, и оба бинарные, и оба необратимые по последствиям. Первое — «выпускать или нет»: в редакции, на площадке, в прокате. Второе — «считать подлинным или нет»: в музее, в суде, в архиве. Выпущенное нельзя не выпустить: опровержение читает меньшая часть тех, кто прочёл исходный материал. Атрибуцию отзывают скандалом, а не приказом, и репутационная цена отзыва ложится на того, кто её присваивал. Именно из этой необратимости следует, почему здесь так важна норма времени на проверку, а не только точность инструмента.</a:t>
            </a:r>
          </a:p>
          <a:p>
            <a:r>
              <a:t/>
            </a:r>
          </a:p>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Подмена одного вопроса другим — самая частая ошибка в обсуждении этой темы, и встречается она у людей, которые устройство понимают.</a:t>
            </a:r>
          </a:p>
          <a:p>
            <a:r>
              <a:t/>
            </a:r>
          </a:p>
          <a:p>
            <a:r>
              <a:t>Данные для суждения добывают тремя семействами способов,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Для практики из этой раскладки следует правило выбора инструмента, которое стоит применять раньше всех технических вопросов. Сначала определите, на какой из трёх вопросов вы отвечаете. Если на первый — у задачи есть проверяемый ответ, значит можно требовать число и мерить его на своих данных. Если на второй — ответ вероятностный и крайне чувствителен к происхождению материала, значит число поставщика к вашим данным не относится, пока вы его не перемерили. Если на третий — техника поможет только частично, потому что это вопрос про людей, договоры и процедуры, и обученная модель в него не входит и войти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случай лекции, где у выигрыша нет оборотной стороны. Разбирается он по той же форме, что и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Держится весь разбор на одном: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a:p>
            <a:r>
              <a:t/>
            </a:r>
          </a:p>
          <a:p>
            <a:r>
              <a:t>Напомню, почему у этого случая нет кратности и почему её отсутствие здесь — не слабость разбора. Классического режима с тем же результатом не существует: развернуть свиток означает его уничтожить, а других способов добраться до поверхности у свёрнутого обугленного цилиндра нет. Делить не на что. Выигрыш здесь измеряется не в разах, а в том, что множество прочитанных текстов перестало быть пустым.</a:t>
            </a:r>
          </a:p>
          <a:p>
            <a:r>
              <a:t/>
            </a:r>
          </a:p>
          <a:p>
            <a:r>
              <a:t>Это единственный случай вечера, где у выигрыша нет названной оборотной стороны, — и именно поэтому он стоит в лекции, которая в остальном занята ценой. Ни один специалист не потерял работы: филологов, читающих геркуланумские свитки, стало больше, а не меньше, потому что появился материал. Никакая граница не сдвинулась молча: предмет остался цел, результат проверяем, домысленного ноль.</a:t>
            </a:r>
          </a:p>
          <a:p>
            <a:r>
              <a:t/>
            </a:r>
          </a:p>
          <a:p>
            <a:r>
              <a:t>И то, что переехало, стоит назвать точно. Переехала не стоимость, а граница возможного. Работа, которой не существовало в природе, стала существовать; через два кадра этот случай встанет в пару с «Волшебником страны Оз», где техника соседняя, а исход противоположный.</a:t>
            </a:r>
          </a:p>
          <a:p>
            <a:r>
              <a:t/>
            </a:r>
          </a:p>
          <a:p>
            <a:r>
              <a:t>И ещё одна особенность, которая делает этот случай пригодным для учебного разбора. Предмет существует в единственном экземпляре, и обе ошибки — попытаться и не попытаться — одинаково окончательны. Денежной шкалы у такой пары нет и быть не может — это свойство задачи. Там, где обе ошибки необратимы, выбирает не арифметика — выбирает человек, решая, какой риск допустим.</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Разложим это по шагам, потому что каждый шаг здесь — отдельная инженерная задача с проверяемым ответом, и ни один из них не порождение. Шаг первый: просвечивание. Свиток кладут под источник рентгеновского излучения и снимают множество проекций с разных углов; по ним восстанавливается трёхмерное поле плотности — то же, что делает медицинский томограф, только с гораздо большим разрешением. Шаг второй: цифровое разворачивание. Поверхность папируса вьётся спиралью внутри объёма; её надо найти, проследить и математически распрямить в плоскость. Это задача геометрии, и у неё есть проверяемый критерий: распрямлённая поверхность не должна рваться и не должна сама себя пересекать. Шаг третий — тот, ради которого понадобилась обученная модель. Глаз на томограмме разницы между чернилами и основой не видит; распознаватель обучен видеть её — не домысливать буквы, а отвечать на вопрос «есть в этой точке чернила или нет». Ответ проверяем: там, где участки удавалось сверить, предсказание сходилось с реальностью. Шаг четвёртый: изображение распрямлённой поверхности с проявленными чернилами отдают людям. Греческий текст читают филологи. Машина не восстанавливает утраченное, не предполагает окончаний и не достраивает повреждённое по смыслу.</a:t>
            </a:r>
          </a:p>
          <a:p>
            <a:r>
              <a:t/>
            </a:r>
          </a:p>
          <a:p>
            <a:r>
              <a:t>Единственный точечный пробел разбора назову прямо: объём и состав обучающей выборки распознавателя чернил в доступных публикациях не раскрыты. Именно обучающая выборка определяет, перенесётся ли метод на свитки другой сохранности.</a:t>
            </a:r>
          </a:p>
          <a:p>
            <a:r>
              <a:t/>
            </a:r>
          </a:p>
          <a:p>
            <a:r>
              <a:t>Полезно сравнить эту задачу с порождением, потому что внешне они похожи: и там и там обученная модель выдаёт изображение, которого в исходных данных нет. Разница в том, откуда берётся содержание выданного. У порождения оно берётся из статистики обучающего корпуса и проверить его нечем, кроме правдоподобия. Здесь содержание берётся из измерения: чернила на томограмме физически присутствуют, модель только отделяет их от основы, и у ответа есть эталон — участки, которые удалось сверить независимо. Отсюда общее правило выбора: прежде чем применять обученную модель к восстановлению чего бы то ни было, спросите, чем будет проверен результат. Если есть эталон или независимый способ сверки — задача реставрационная, и модель в ней уместна. Если эталона нет и единственный критерий — правдоподобие, задача художественная, и результат надо так и называть.</a:t>
            </a:r>
          </a:p>
          <a:p>
            <a:r>
              <a:t/>
            </a:r>
          </a:p>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Почему это сработало именно здесь, стоит понять, потому что сработает оно не везде. У задачи был проверяемый критерий: прочитанное слово либо складывается в греческий текст, который узнают филологи, либо нет. Там, где критерий проверяем и объявлен заранее, открытое соревнование собирает больше попыток, чем любая лаборатория, и отбирает из них лучшую честно. Там, где критерия нет и результат оценивается вкусом, тот же формат даёт шум.</a:t>
            </a:r>
          </a:p>
          <a:p>
            <a:r>
              <a:t/>
            </a:r>
          </a:p>
          <a:p>
            <a:r>
              <a:t>Для инженерной практики из этой хронологии стоит унести две вещи. Первая: вехи объявляли заранее и формулировали проверяемо — не «улучшить качество чтения», а «прочесть слово», «прочесть связный отрывок», «прочесть свиток». Формулировка цели в проверяемых терминах — половина успеха такого формата, и она же то, чего чаще всего не хватает внутренним проектам. Вторая: деньги здесь платили за результат, а не за попытку. Сорок тысяч долларов за первое слово и семьсот тысяч за связные отрывки — суммы, ничтожные по меркам научной программы, и они собрали работу, которую программа не собрала за двести пятьдесят лет.</a:t>
            </a:r>
          </a:p>
          <a:p>
            <a:r>
              <a:t/>
            </a:r>
          </a:p>
          <a:p>
            <a:r>
              <a:t>И напоследок — чем этот распознаватель отличается от тех, что встретятся в разделе дальше. Здесь у задачи есть эталонная разметка: участки, на которых известно, где чернила, и по которым метод проверяется. Поэтому у ответа есть число, и число это проверяемо третьей стороной. Дальше в разделе встретится распознаватель, у которого число тоже есть, а проверяемость уезжает, как только меняется происхождение материала, — и сравнить эти два случая полезно.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укладывается в одну фразу: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независимая проверка,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распознавателя есть эталонная разметка — правильного ответа на «нарисуй дракона» не существует. Игры — единственная отрасль вечера со счётом, а не опросом: раскрытие обязательно по факту, добровольно по содержанию, доля читается как нижняя граница.</a:t>
            </a:r>
          </a:p>
          <a:p>
            <a:r>
              <a:t/>
            </a:r>
          </a:p>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Несущий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принятая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берут размеченный набор, модель выдаёт распределение по классам, его сравнивают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достигают, подстраивая знак под содержимое; знак живёт в пикселях и переживает потерю служебных полей.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a:t>
            </a:r>
          </a:p>
          <a:p>
            <a:r>
              <a:t/>
            </a:r>
          </a:p>
          <a:p>
            <a:r>
              <a:t>Три вещи совпадают у распознавателя с порождающей моделью буквально. Те же блоки внимания с теми же запросами, ключами и значениями. Тот же механизм эмбеддинга и то же дообучение низкоранговыми адаптерами. И та же развязка «представление входа отдельно, модель отдельно»: патч здесь — ровно то же, чем токен был в тексте, и способ нарезки входа решает больше, чем размер самой сети.</a:t>
            </a:r>
          </a:p>
          <a:p>
            <a:r>
              <a:t/>
            </a:r>
          </a:p>
          <a:p>
            <a:r>
              <a:t>Отдельно стоит запомнить, что масштаб обучения бьёт встроенное знание о локальности: модель зрения на патчах, у которой встроенного знания о соседстве пикселей нет вовсе, на сотнях миллионов изображений выходит на 88,55 процента верных ответов и обходит свёрточные сети. Это то же наблюдение, что и в тексте, — достаточно большой корпус заменяет встроенные допущения о строении данных.</a:t>
            </a:r>
          </a:p>
          <a:p>
            <a:r>
              <a:t/>
            </a:r>
          </a:p>
          <a:p>
            <a:r>
              <a:t>Практический вывод из всей этой пары: там, где задача формулируется как «найти среди существующего», генератор — неправильный инструмент, и правильный стоит рядом. Дешевизна прямого прохода означает, что модерацию каждого загружаемого файла и разметку всего архива можно ставить на поток; десятки шагов снятия шума на каждую единицу выхода такой возможности не дают.</a:t>
            </a:r>
          </a:p>
          <a:p>
            <a:r>
              <a:t/>
            </a:r>
          </a:p>
          <a:p>
            <a:r>
              <a:t>Два упоминания со знаменателем, и оба стоят здесь не потому, что их разбирает звуковая дорожка этого раздела (запись `r5` не называет ни Steam, ни автодубляж ни словом — это материал курса, не ход её дуги), а потому, что они несут редкую для вечера вещь: счёт, который может повторить посторонний человек, вместо опроса или оценки аналитика.</a:t>
            </a:r>
          </a:p>
          <a:p>
            <a:r>
              <a:t/>
            </a:r>
          </a:p>
          <a:p>
            <a:r>
              <a:t>Steam, площадка цифровой дистрибуции компьютерных игр, с января 2024 года требует от разработчиков раскрывать применение генеративных средств и показывает это раскрытие публично на странице игры.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У второго счёта есть и то, чего нет у первого: игры с раскрытием собирают от десяти до двадцати семи процентов оценочных продаж того же периода против трёх-шести процентов в 2024 году, составляя при этом треть релизов.</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Второе упоминание. YouTube включил автоматический дубляж на всей партнёрской программе одиннадцатого февраля 2025 года; восемь языков на старте. Единственное опубликованное число об эффекте — свыше двадцати пяти процентов времени просмотра на каналах, выложивших многоязычные дорожки, приходится на показы не на основном языке видео. Сколько это каналов, площадка не раскрыла, и знаменатель остаётся без числа у этой стороны счёта. База для этой четверти — ноль, и это надо произнести, иначе число выглядит перераспределением существующего внимания: у автора, снимающего на одном языке, аудитории на других языках раньше не было вовсе, и дубляж для неё не заказывался — ставка диктора делает локализацию любительского канала бессмысленной экономически. То есть эта четверть времени просмотра пришла из пустоты, ничего не заместив. Это та же фигура, что во всём вечере: подешевела попытка, и появился рынок, которого не было.</a:t>
            </a:r>
          </a:p>
          <a:p>
            <a:r>
              <a:t/>
            </a:r>
          </a:p>
          <a:p>
            <a:r>
              <a:t>Почему именно игры дали ряд со знаменателем,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Отсюда полезное наблюдение для любой отрасли: там, где нужна достоверная доля, дешевле ввести обязательное раскрытие, чем строить измеритель.</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попробуйте предсказать ответ сами: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настоящим и двум синтетическим примерам на каждую модель поднимают среднее с семидесяти пяти и восьми десятых до восьмидесяти семи и восьми десятых. Знаменатель этого среднего надо назвать, иначе оно читается как «вообще»: среднее считается по тем же двенадцати генераторам, которыми измерен и исходный результат, — ProGAN, StyleGAN2, StyleGAN3, BigGAN, EG3D, Taming Transformers, DALL·E Mini, DALL·E 2, GLIDE, латентная диффузия, Stable Diffusion и ADM. И внутри этого среднего два генератора остаются внизу: DALL·E 2 — шестьдесят шесть и девять десятых, ADM — семьдесят и восемь. То есть среднее подняли, а дыру не закрыли.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 пример утечки признака, полезный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a:p>
            <a:r>
              <a:t/>
            </a:r>
          </a:p>
          <a:p>
            <a:r>
              <a:t>Ещё одна пара чисел из той же таблицы: обработка файла здесь ни при чём. На DALL·E 2 распознаватель даёт 51,9 процента на чистом несжатом файле, без всякой обработки; после прохождения через соцсеть — ровно 50,0. То есть он и так уже монета, и сжатие площадки её не портит, потому что портить нечего. Для сравнения: на знакомом семействе он даёт 99,9 и держит 99,9 после обрезки, сжатия и пережатия. Прочность внутри своего семейства и беспомощность за его пределами — это одно и то же свойство, увиденное с двух сторон.</a:t>
            </a:r>
          </a:p>
          <a:p>
            <a:r>
              <a:t/>
            </a:r>
          </a:p>
          <a:p>
            <a:r>
              <a:t>Отдельно стоит произнести вывод авторов работы дословно, потому что он сильнее любого пересказа: «мы по-прежнему не можем надёжно детектировать изображения с артефактами, существенно отличными от виденных при обучении». Это сказано не критиками метода, а теми, кто его измерял.</a:t>
            </a:r>
          </a:p>
          <a:p>
            <a:r>
              <a:t/>
            </a:r>
          </a:p>
          <a:p>
            <a:r>
              <a:t>Починка, о которой идёт речь в последней строке кадра, складывается из трёх приёмов разом: дообучения, слияния нового распознавателя с прежним и калибровки по двум примерам на каждую модель. Среднее по тем же двенадцати генераторам поднимается с 75,8 до 87,8 процента — и это настоящий прогресс. Но DALL·E 2 после всей починки остаётся на 66,9, а ADM на 70,8: до рабочего качества приёмки не дотягивает ни один из двух.</a:t>
            </a:r>
          </a:p>
          <a:p>
            <a:r>
              <a:t/>
            </a:r>
          </a:p>
          <a:p>
            <a:r>
              <a:t>И третий вывод той же таблицы, который легко потерять за первыми двумя: обычная обработка ломает распознаватель там, где он работал. На StyleGAN2 он давал 98,1 процента; после обрезки, изменения размера и пережатия — 63,3. То есть соцсеть, которая просто пережимает загруженную картинку, ломает распознаватель, не имея такого намерения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происхождение снимка отрасль говорит двумя противоположными способами: подпись снаружи файла и знак внутри пикселей. Подпись снаружи — в файл встраивается манифест: кто автор, чем создано, что применялось, — и подписывается сертификатом; привязка хрупкая по построению, снимок экрана или пересжатие её рвут. Знак внутри живёт в пикселях и такую обработку переживает, но у него свой предел — слабеет там, где выбирать почти не из чего. Оба открытия этого кадра — про первый способ, про подпись снаружи, и оба — про то, что криптография в них не сломалась ни разу.</a:t>
            </a:r>
          </a:p>
          <a:p>
            <a:r>
              <a:t/>
            </a:r>
          </a:p>
          <a:p>
            <a:r>
              <a:t>Первое открытие, 25 августа 2026 года. Исследователь Дэвид Бьюкенен (псевдоним retr0id) показал на собственном блоге обход подписи камеры Google Pixel без всякой пересъёмки экрана. Условие — root на устройстве, полученный известным локальным эксплойтом повышения привилегий (CVE-2026-43499, уязвимость ядра Linux, use-after-free в rtmutex — обычный баг операционной системы, никак не специфичный для камер). С root атакующий не крадёт ключ: он просит аппаратный защищённый модуль StrongBox подписать произвольные данные, в том числе полностью сгенерированное изображение, тем же ключом, которым подписывает настоящая камера. Пострадавшее приложение — Pixel Camera — на момент находки несло наивысший сертификат доверия программы C2PA Conformance, Assurance Level 2: ломается не слабый случай, а образцовый. Google признала уязвимость, выплатила семь тысяч пятьсот долларов и закрыла отчёт статусом «не будет исправлено, неосуществимо» — исправление означало бы перестроить весь конвейер обработки изображения так, чтобы он целиком работал внутри защищённого анклава.</a:t>
            </a:r>
          </a:p>
          <a:p>
            <a:r>
              <a:t/>
            </a:r>
          </a:p>
          <a:p>
            <a:r>
              <a:t>Второе открытие, пять недель спустя, 2 октября 2026 года, — и это НЕ то же самое, хотя исследователь тот же и тема та же. Здесь сломан не телефон конкретного производителя, а сама спецификация C2PA, и сломана без root, без эксплойта, без доступа к устройству вообще. Механизм — «исключаемые диапазоны байт», предусмотренные самой спецификацией: из того, что покрывает хеш и подпись, можно исключить произвольный участок файла, и ничто не мешает исключить его целиком. Подпись и метка времени в таком файле стоят буквально над пустой строкой — математически корректная подпись ничего содержательного не удостоверяет. Иллюстрация, которую даёт сам разбор: сфотографировать настоящий лотерейный билет до розыгрыша, затем вписать в уже подписанный снимок номера, объявленные после съёмки, — подпись продолжает утверждать, что снимок снят раньше розыгрыша. Предупреждали об этом заранее: о слишком широком исключаемом диапазоне ещё в июне 2025 года писал независимый исследователь Нил Кравец — за год до находки ничего не изменилось, и на день публикации разбора ни правки спецификации, ни исправления вендора не объявлено.</a:t>
            </a:r>
          </a:p>
          <a:p>
            <a:r>
              <a:t/>
            </a:r>
          </a:p>
          <a:p>
            <a:r>
              <a:t>Почему их нельзя склеивать в одно «обход подписи камеры». У событий разное условие входа, и это не формальность. Августовское честно назвать можно только с оговоркой «нужен root» — без неё аудитория услышит «подпись камеры ничего не стоит», что для августовского случая неправда: без root атаки нет. Октябрьское, наоборот, даёт право именно на эту сильную формулировку, потому что для него не нужно ничего — ни root, ни доступа к устройству, только сам файл. Сложенные вместе без условий, два открытия образуют утверждение сильнее одного источника и слабее другого — ровно та ошибка точности, за которую курс бьёт отдельно.</a:t>
            </a:r>
          </a:p>
          <a:p>
            <a:r>
              <a:t/>
            </a:r>
          </a:p>
          <a:p>
            <a:r>
              <a:t>Что общего у обоих, несмотря на разные условия. Криптография в обоих случаях отработала ровно так, как было написано: подпись подлинная, цепочка не нарушена, математика сходится. Провалилось не шифрование — провалилось допущение, которое все вокруг механизма держали в голове и никто не записал: «если файл подписан, значит подписант ручается за содержимое». Августовский случай нарушает это допущение, подменяя данные, которые подписывает легитимный ключ. Октябрьский нарушает его ещё радикальнее: подписывать вообще не обязательно что-то содержательное.</a:t>
            </a:r>
          </a:p>
          <a:p>
            <a:r>
              <a:t/>
            </a:r>
          </a:p>
          <a:p>
            <a:r>
              <a:t>Отсюда формулировка, которую стоит унести из раздела целиком: подпись удостоверяет, КТО (и чем) подписал, а не ЧТО происходило перед объективом, и в октябрьском случае — даже не то, что вообще было что подписывать. Это тот же класс ошибки, который курс уже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один и тот же вопрос — какое именно утверждение оно делает проверяемым, — и для обоих открытий этого кадра честный ответ один: проверяемо, кто держит ключ; не проверяемо, что было в кадре.</a:t>
            </a:r>
          </a:p>
          <a:p>
            <a:r>
              <a:t/>
            </a:r>
          </a:p>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 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a:t>
            </a:r>
          </a:p>
          <a:p>
            <a:r>
              <a:t/>
            </a:r>
          </a:p>
          <a:p>
            <a:r>
              <a:t>Общая мысль, которой закрываются обе половины раздела. Граница между снятым и синтезированным размылась штатным рабочим конвейером и дырой в самой спецификации, а не атакой злоумышленника из фильма про хакеров.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Файл с подписанной подделкой несёт настоящий сертификат настоящего ключа и изображает то, чего перед объективом не было, — и в октябрьском случае для этого даже не нужен root, только знание формата.</a:t>
            </a:r>
          </a:p>
          <a:p>
            <a:r>
              <a:t/>
            </a:r>
          </a:p>
          <a:p>
            <a:r>
              <a:t>Для практики отсюда следует вопрос, который надо задавать любой системе подтверждения подлинности: что именно она удостоверяет и какое допущение связывает удостоверенное с тем, что вас на самом деле интересует. Здесь удостоверяется, кто (и чем) подписал; интересует — что происходило перед объективом; связывает их допущение, которое оба открытия нарушают — одно с root, другое вовсе без него.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Что переехало. Переехала ответственность за проверку — без нормы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Унести из случая в собственную работу стоит вот что: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Повторю сопоставление в правильном порядке — в нём вся ценность разбора. Пятьдесят три процента материалов машинного конвейера потребовали исправлений. Коридор обычной редакции без всякой модели — от сорока до шестидесяти одного процента. Пятьдесят три лежат внутри коридора, а не за ним: по частоте ошибок разрыва между двумя режимами не обнаружено вовсе.</a:t>
            </a:r>
          </a:p>
          <a:p>
            <a:r>
              <a:t/>
            </a:r>
          </a:p>
          <a:p>
            <a:r>
              <a:t>Разрыв обнаружен в другом месте, и он большой. Машинный конвейер под огласку исправил около половины материалов публично; классический режим десятилетиями живёт с той же частотой ошибок и публично исправляет около двух процентов. То есть новая технология оказалась не хуже по ошибкам и заметно честнее по признанию — не потому, что она лучше, а потому, что на неё смотрели.</a:t>
            </a:r>
          </a:p>
          <a:p>
            <a:r>
              <a:t/>
            </a:r>
          </a:p>
          <a:p>
            <a:r>
              <a:t>Отсюда правило, полезнее утверждения «модель ошибается чаще»: замеренный провал новой технологии сравнивают с замеренным поведением старой, а не с воображаемым. Воображаемая старая технология не ошибается никогда, и относительно неё любая новая выглядит катастрофой.</a:t>
            </a:r>
          </a:p>
          <a:p>
            <a:r>
              <a:t/>
            </a:r>
          </a:p>
          <a:p>
            <a:r>
              <a:t>Устройство случая надо знать точно. С ноября 2022 по январь 2023 года технологическое издание выпустило семьдесят семь статей, подготовленных внутренним машинным движком и опубликованных под редакционной подписью «CNET Money Staff»; имя изделия публично не названо — искали, не нашли. Заявленная редакционная проверка существовала: человек в контуре был. Именно этот контур пропустил сорок один материал, часть ошибок — существенные, включая арифметику в объяснительном материале про сложный процент.</a:t>
            </a:r>
          </a:p>
          <a:p>
            <a:r>
              <a:t/>
            </a:r>
          </a:p>
          <a:p>
            <a:r>
              <a:t>Чем это чинится — рабочий ответ отрасли, и он стоит рядом с числами разбора. Ни одна из принятых мер не потребовала лучшей модели; все потребовали названного человека на названном шаге. Associated Press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Что общего у всех четырёх норм. Ни одна не запрещает применение модели и ни одна не вводит порога качества — и это не упущение: порог был бы бессмысленным, потому что частота ошибок у классического режима лежит в коридоре от сорока до шестидесяти одного процента, и любой порог ниже этого запретил бы заодно и обычную редакцию. Все четыре называют человека: старшего редактора, дающего разрешение; редакционную фигуру, ответственную и подотчётную; редактора, проверяющего вывод как непроверенный исходный материал. Закрывает разрыв между скоростью конвейера и скоростью проверки одно из двух: либо норма времени на проверку, выраженная в часах и поставленная в план, либо названный человек, который подписывается под выпуском и у которого есть право не подписать.</a:t>
            </a:r>
          </a:p>
          <a:p>
            <a:r>
              <a:t/>
            </a:r>
          </a:p>
          <a:p>
            <a:r>
              <a:t>Измеренный отклик аудитории: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 требование аудитории адресовано раскрытию, не запрету — «скажите, что применили», а не «не применяйте».</a:t>
            </a:r>
          </a:p>
          <a:p>
            <a:r>
              <a:t/>
            </a:r>
          </a:p>
          <a:p>
            <a:r>
              <a:t>К этому наблюдению разбор и сводится. «Человек в контуре» — не мера безопасности сама по себе. Мерой он становится тогда, когда у него есть норма времени на проверку, соразмерная скорости конвейера, и право остановить выпуск. Без этих двух условий человек в контуре превращается в подпись под чужой работой, которую он физически не успел прочесть.</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из-за неё случай и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И третья половина счёта, та самая, которую легко потерять. Цена «выпустить машинный текст» измерена в той же единице, что и всё остальное: прямых цитат в текстах таких редакций в 2,1 раза меньше, комментариев экспертов — в 2,6 раза меньше, средняя длина материала — 773 слова против 1 090. Это не стилистические наблюдения: каждая из трёх величин считает присутствие в тексте живого свидетельства, то есть того, за чем редакция должна была пойти к человеку.</a:t>
            </a:r>
          </a:p>
          <a:p>
            <a:r>
              <a:t/>
            </a:r>
          </a:p>
          <a:p>
            <a:r>
              <a:t>Разрез выборки по эшелонам изданий показывает, что доля распределена неравномерно: у федеральных изданий она около десяти процентов, у второго эшелона двадцать три — двадцать пять, у местных и нишевых семь и девять десятых. По темам больше всего затронуты дом, еда и здоровье; меньше всего политика и происшествия — там не более двух и восьми десятых процента. Чем выше цена ошибки в теме, тем реже редакция доверяет её машине, и это распределение само по себе читается как отраслевая оценка риска.</a:t>
            </a:r>
          </a:p>
          <a:p>
            <a:r>
              <a:t/>
            </a:r>
          </a:p>
          <a:p>
            <a:r>
              <a:t>Про методику счёта стоит знать ещё одну деталь. Статья относилась к машинным при среднем балле двух открытых распознавателей не ниже половины, с дополнительной сверкой третьим распознавателем. Это разумная процедура, и у неё есть ровно тот же предел, который разбирался кадром раньше: распознаватель, обученный на одном семействе генераторов, на чужом работает хуже. Поэтому восемнадцать процентов — нижняя граница, а не точное значение.</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 это раздел и передаёт дальше.</a:t>
            </a:r>
          </a:p>
          <a:p>
            <a:r>
              <a:t/>
            </a:r>
          </a:p>
          <a:p>
            <a:r>
              <a:t>Карта вечера заполняется здесь в последний раз, и читать её надо поперёк, по строкам, а не по колонкам. Именно поперечное чтение показывает то, чего не показал бы ни один отдельный разбор.</a:t>
            </a:r>
          </a:p>
          <a:p>
            <a:r>
              <a:t/>
            </a:r>
          </a:p>
          <a:p>
            <a:r>
              <a:t>Строка «породить первое приближение». Заполнена у четырёх модальностей и везде дёшево: от трёх с половиной центов за изображение до единиц секунд на трёхмерный вариант. У распознавания в этой строке стоит «неприменимо»: порождение не задача этой стадии, и это честнее, чем ставить прочерк.</a:t>
            </a:r>
          </a:p>
          <a:p>
            <a:r>
              <a:t/>
            </a:r>
          </a:p>
          <a:p>
            <a:r>
              <a:t>Строка «довести до производственного качества». Заполнена у всех пяти и заполнена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человек в контуре с нормой времени у распознавания. Породить стало дёшево везде; довести до годного не подешевело нигде.</a:t>
            </a:r>
          </a:p>
          <a:p>
            <a:r>
              <a:t/>
            </a:r>
          </a:p>
          <a:p>
            <a:r>
              <a:t>Строка «восстановить существующее». Заполнена у всех пяти, и везде это сильная сторона метода, потому что у восстановления есть отложенный эталон.</a:t>
            </a:r>
          </a:p>
          <a:p>
            <a:r>
              <a:t/>
            </a:r>
          </a:p>
          <a:p>
            <a:r>
              <a:t>И две строки, ради которых карту стоило вести весь вечер. «Соблюсти точные величины» — «нет» у изображения, у звука, у видео, у трёхмерного, и впервые «да» у распознавания: эталонная разметка даёт число. «Ответить кто отвечает» — «нет» у всех четырёх порождающих и «частично» у распознавания: подпись существует, но она про подписавшего, а не про то, что было перед объективом.</a:t>
            </a:r>
          </a:p>
          <a:p>
            <a:r>
              <a:t/>
            </a:r>
          </a:p>
          <a:p>
            <a:r>
              <a:t>Вот это и есть итог пяти разделов, выраженный сеткой. Две пустые строки одинаковы у четырёх разных модальностей с разными архитектурами, разными корпусами и разными производителями — значит, это свойство класса методов, а не отставание чьей-то версии. И ответ по ним даёт единственная модальность, которая не порождает, а читает. Отсюда же читается полоса под сеткой: адрес платежа накапливался теми же шагами — отбор, права, узнавание, — и у последних двух разделов он один и тот же.</a:t>
            </a:r>
          </a:p>
          <a:p>
            <a:r>
              <a:t/>
            </a:r>
          </a:p>
          <a:p>
            <a:r>
              <a:t>Из поперечного чтения карты следует приём, годный далеко за пределами этой лекции. Когда вы оцениваете класс инструментов, стройте такую сетку сами: по одной оси типы задач, которые вам нужно решать, по другой — инструменты. Заполняйте клетки измеренным, а там, где измеренного нет, пишите «нет» или «неприменимо» с названной причиной — голого прочерка не оставляйте. Голый прочерк читается как «забыли проверить», а названная причина — как сведение.</a:t>
            </a:r>
          </a:p>
          <a:p>
            <a:r>
              <a:t/>
            </a:r>
          </a:p>
          <a:p>
            <a:r>
              <a:t>Ценность такой сетки — в строках, а не в клетках. Одна пустая клетка — частный случай. Пустая строка по всему ряду — свойство класса методов, и это единственное наблюдение, ради которого стоит вести сетку целиком, а не смотреть инструменты по одному.</a:t>
            </a:r>
          </a:p>
          <a:p>
            <a:r>
              <a:t/>
            </a:r>
          </a:p>
          <a:p>
            <a:r>
              <a:t>И последнее. Карта предъявлялась шесть раз за вечер и каждый раз в одном и том же виде: те же шесть строк, те же имена колонок, те же клетки. Это не педантизм вёрстки — это единственный способ, которым накопительная сетка вообще работает: зритель должен узнавать строку, а не перечитывать её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случается,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и произнести его надо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семи случаях выигрыш посчитан от классического режима — то есть обе стороны измерены в одной и той же единице, и видно, сколько стоило без модели и сколько стало с ней. В трёх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a:t>
            </a:r>
          </a:p>
          <a:p>
            <a:r>
              <a:t/>
            </a:r>
          </a:p>
          <a:p>
            <a:r>
              <a:t>Один из семи стоит на границе, и прятать это не нужно — наоборот, назвать. Дубляж: первый его классический режим, живой диктор по 50–450 долларов за готовую минуту, измерен ровно в той единице, в которой считается синтез, и потому выигрыш там честный; второй режим, субтитры, назван и своего тарифа за минуту не имеет. По форме разбора эта строка проходит по графе «второй режим без числа»; по вопросу «от чего посчитан выигрыш» она попадает к посчитанным. Оба утверждения верны одновременно, и именно поэтому счёт показывается целиком, а не выдаётся готовым числом.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вечера эта фигура стояла пустой: запрос, вход, старт, шаг, повторяемый N раз, выход,</a:t>
            </a:r>
          </a:p>
          <a:p>
            <a:r>
              <a:t>результат — шесть станций без единого числа. Пять разделов заполнили её по-своему, и здесь — не</a:t>
            </a:r>
          </a:p>
          <a:p>
            <a:r>
              <a:t>новый разбор, а одна строка на каждый: с чего реально начинается работа и где у метода теснее</a:t>
            </a:r>
          </a:p>
          <a:p>
            <a:r>
              <a:t>всего.</a:t>
            </a:r>
          </a:p>
          <a:p>
            <a:r>
              <a:t/>
            </a:r>
          </a:p>
          <a:p>
            <a:r>
              <a:t>Неподвижное изображение начинает с латента сто двадцать восемь на сто двадцать восемь точек,</a:t>
            </a:r>
          </a:p>
          <a:p>
            <a:r>
              <a:t>залитого чистым шумом, и проходит двадцать-пятьдесят одинаковых проходов расшумления; узкое</a:t>
            </a:r>
          </a:p>
          <a:p>
            <a:r>
              <a:t>место — автокодировщик, тот же модуль, который сжимает картинку в латент и потом разворачивает</a:t>
            </a:r>
          </a:p>
          <a:p>
            <a:r>
              <a:t>его обратно: он обучен один раз и дальше не меняется, какую бы модель поверх него ни поставили.</a:t>
            </a:r>
          </a:p>
          <a:p>
            <a:r>
              <a:t/>
            </a:r>
          </a:p>
          <a:p>
            <a:r>
              <a:t>Звук начинает не с шума, а с токенов кодека: первая кодовая книга решается авторегрессией,</a:t>
            </a:r>
          </a:p>
          <a:p>
            <a:r>
              <a:t>следующие семь уточняют её; узкое место — не генератор, а сам декодировщик кодека: частота</a:t>
            </a:r>
          </a:p>
          <a:p>
            <a:r>
              <a:t>кадров и глубина каскада ставят потолок качества раньше, чем успевает сработать модель сверху.</a:t>
            </a:r>
          </a:p>
          <a:p>
            <a:r>
              <a:t/>
            </a:r>
          </a:p>
          <a:p>
            <a:r>
              <a:t>Видео начинает с патчей пространства-времени — той же идеи, что и у картинки, только с</a:t>
            </a:r>
          </a:p>
          <a:p>
            <a:r>
              <a:t>добавленным измерением времени; узкое место снова автокодировщик, и снова именно он решает,</a:t>
            </a:r>
          </a:p>
          <a:p>
            <a:r>
              <a:t>сколько стоит и обучение, и внимание между кадрами.</a:t>
            </a:r>
          </a:p>
          <a:p>
            <a:r>
              <a:t/>
            </a:r>
          </a:p>
          <a:p>
            <a:r>
              <a:t>Трёхмерная сцена не начинает с шума вовсе: старт — облако точек или калиброванные снимки, и шаг</a:t>
            </a:r>
          </a:p>
          <a:p>
            <a:r>
              <a:t>повторяется не двадцать-пятьдесят, а тридцать тысяч раз, потому что общего обученного приора</a:t>
            </a:r>
          </a:p>
          <a:p>
            <a:r>
              <a:t>здесь нет и каждый объект учится заново; узкое место — память: сцена из гауссиан занимает на</a:t>
            </a:r>
          </a:p>
          <a:p>
            <a:r>
              <a:t>два порядка больше места, чем снимки, с которых она собрана.</a:t>
            </a:r>
          </a:p>
          <a:p>
            <a:r>
              <a:t/>
            </a:r>
          </a:p>
          <a:p>
            <a:r>
              <a:t>Распознавание проходит фигуру в обратную сторону: старт — патчи того же изображения, шаг — те же</a:t>
            </a:r>
          </a:p>
          <a:p>
            <a:r>
              <a:t>блоки внимания, двенадцать-тридцать два слоя, а на выходе не картинка, а одно число — оценка, а</a:t>
            </a:r>
          </a:p>
          <a:p>
            <a:r>
              <a:t>не результат, который можно показать кому-то ещё.</a:t>
            </a:r>
          </a:p>
          <a:p>
            <a:r>
              <a:t/>
            </a:r>
          </a:p>
          <a:p>
            <a:r>
              <a:t>Пять разных стартов, пять разных узких мест, а общего у них одно: механика внутри — те же блоки</a:t>
            </a:r>
          </a:p>
          <a:p>
            <a:r>
              <a:t>внимания и то же обучение сетью предсказывать следующее приближение, — и разным оказывается</a:t>
            </a:r>
          </a:p>
          <a:p>
            <a:r>
              <a:t>только то, с чего она начинается и где ей теснее всего. Это и есть ответ на вопрос, который</a:t>
            </a:r>
          </a:p>
          <a:p>
            <a:r>
              <a:t>фигура держала пустым весь вечер.</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База такая. При объявлении мирового говорили о примерно пятистах тысячах произведений, и полтора миллиарда, делённые на это число, дают порядка трёх тысяч долларов за произведение. Окончательный список оказался точнее и меньше — четыреста восемьдесят две тысячи четыреста шестьдесят произведений, — и то же деление даёт около трёх тысяч ста. Это одна и та же величина с двумя разными знаменателями, а не выплата до и после вычета: три тысячи сто — валовое распределение на одно признанное произведение, из которого ещё вычитаются гонорары адвокатов и расходы на администрирование. Гонорары суд срезал с запрошенных ста восьмидесяти семи с половиной миллионов до ста одного с половиной, то есть до шести и восьми десятых процента фонда, и после их вычета на произведение останется меньше трёх тысяч, а не больше. Вычет уменьшает — и если где-то он у вас увеличивает, перепутаны знаменатели.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согласованная ставка —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случается,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раскрывать применение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за три года — с середины 2023 по середину 2026 — даёт тот же ряд и добавляет недостающую половину: игры с раскрытием собирают от десяти до двадцати семи процентов оценочных продаж. Знаменатель здесь надо назвать целиком, иначе доля повисает: это оценочные продажи игр, вышедших за тот же период, а не вся выручка магазина и не продажи всего каталога; величина оценочная, не аудированная выручка площадки. База во времени тоже есть: в 2024 году та же доля составляла от трёх до шести процентов. Треть релизов против десятой-четверти денег.</a:t>
            </a:r>
          </a:p>
          <a:p>
            <a:r>
              <a:t/>
            </a:r>
          </a:p>
          <a:p>
            <a:r>
              <a:t>Здесь нужно внимание к знаменателю — то самое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выручка от машинной озвучки —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метода: распознаватель читает описания и сопутствующие сведения, звука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 и заодно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 делают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a:t>
            </a:r>
          </a:p>
          <a:p>
            <a:r>
              <a:t>протухло к моменту, когда его прочтут. Условие здесь одно: на кадр выносится устройство рынка,</a:t>
            </a:r>
          </a:p>
          <a:p>
            <a:r>
              <a:t>которое меняется медленнее номеров версий. Список моделей, собранный в октябре 2026 года,</a:t>
            </a:r>
          </a:p>
          <a:p>
            <a:r>
              <a:t>устареет раньше, чем его успеют проверить; за пять дней до сдачи материала закрыли</a:t>
            </a:r>
          </a:p>
          <a:p>
            <a:r>
              <a:t>предварительный доступ к одной из ведущих видеомоделей. Поэтому ниже четыре наблюдения об</a:t>
            </a:r>
          </a:p>
          <a:p>
            <a:r>
              <a:t>устройстве, и под каждым измерение.</a:t>
            </a:r>
          </a:p>
          <a:p>
            <a:r>
              <a:t/>
            </a:r>
          </a:p>
          <a:p>
            <a:r>
              <a:t>Первое наблюдение — самое неожиданное во всём техническом пласте вечера. Картиночные модели</a:t>
            </a:r>
          </a:p>
          <a:p>
            <a:r>
              <a:t>перестали расти в вычислениях. Stable Diffusion v1 в 2022 году и Stable Diffusion 3 в 2024-м</a:t>
            </a:r>
          </a:p>
          <a:p>
            <a:r>
              <a:t>обучены одним и тем же числом операций: полторы сотни тысяч часов работы ускорителя в первом</a:t>
            </a:r>
          </a:p>
          <a:p>
            <a:r>
              <a:t>случае, и второй за два года к этому ничего не прибавил. За те же два года вычисления на</a:t>
            </a:r>
          </a:p>
          <a:p>
            <a:r>
              <a:t>обучение передовых языковых моделей росли вчетверо-впятеро в год. Прогресс в изображении шёл</a:t>
            </a:r>
          </a:p>
          <a:p>
            <a:r>
              <a:t>совершенно другими средствами: шестнадцатиканальное латентное представление вместо</a:t>
            </a:r>
          </a:p>
          <a:p>
            <a:r>
              <a:t>четырёхканального, диффузионный трансформер вместо свёрточной архитектуры, спрямлённый поток</a:t>
            </a:r>
          </a:p>
          <a:p>
            <a:r>
              <a:t>вместо стохастического расписания, дистилляция числа шагов с тысячи до четырёх. Архитектура и</a:t>
            </a:r>
          </a:p>
          <a:p>
            <a:r>
              <a:t>представление данных сделали то, чего в языковых моделях добивались вычислениями. Это и есть</a:t>
            </a:r>
          </a:p>
          <a:p>
            <a:r>
              <a:t>последнее произнесение мысли, которая прошла через весь вечер: главный рычаг — токенизатор;</a:t>
            </a:r>
          </a:p>
          <a:p>
            <a:r>
              <a:t>размер модели здесь вторичен.</a:t>
            </a:r>
          </a:p>
          <a:p>
            <a:r>
              <a:t/>
            </a:r>
          </a:p>
          <a:p>
            <a:r>
              <a:t>Рядом с первым наблюдением стоит измерение, у которого знак меняется между обучением и</a:t>
            </a:r>
          </a:p>
          <a:p>
            <a:r>
              <a:t>запуском. Обучить модель изображения в двести-четыреста раз дешевле передовой языковой, и при</a:t>
            </a:r>
          </a:p>
          <a:p>
            <a:r>
              <a:t>этом каждый её запуск дороже в сорок-шестьдесят раз. Причина разобрана в первом разделе: кэша</a:t>
            </a:r>
          </a:p>
          <a:p>
            <a:r>
              <a:t>нет и быть не может — расшумление на каждом шаге переписывает все четыре с небольшим тысячи</a:t>
            </a:r>
          </a:p>
          <a:p>
            <a:r>
              <a:t>токенов картинки целиком, тогда как языковая модель сохраняет уже обработанный контекст и к нему</a:t>
            </a:r>
          </a:p>
          <a:p>
            <a:r>
              <a:t>не возвращается. Отсюда прямое следствие для того, кто думает входить в эту разработку: порог</a:t>
            </a:r>
          </a:p>
          <a:p>
            <a:r>
              <a:t>входа в собственную модель изображения на порядки ниже, чем в собственную языковую, и выигрывает</a:t>
            </a:r>
          </a:p>
          <a:p>
            <a:r>
              <a:t>здесь тот, кто придумал лучшее представление данных.</a:t>
            </a:r>
          </a:p>
          <a:p>
            <a:r>
              <a:t/>
            </a:r>
          </a:p>
          <a:p>
            <a:r>
              <a:t>Второе наблюдение следует из первого, и это о лидерстве. Генерация видео за 2026 год перешла к</a:t>
            </a:r>
          </a:p>
          <a:p>
            <a:r>
              <a:t>открытым весам и китайским разработчикам, а самый громкий западный продукт отрасли закрыт — и</a:t>
            </a:r>
          </a:p>
          <a:p>
            <a:r>
              <a:t>закрыт после того, как по его демонстрационному ролику остановили строительство студии на</a:t>
            </a:r>
          </a:p>
          <a:p>
            <a:r>
              <a:t>восемьсот миллионов долларов. Экономика, названная числом: на пике у этого продукта был около</a:t>
            </a:r>
          </a:p>
          <a:p>
            <a:r>
              <a:t>миллиона пользователей при оценочной стоимости эксплуатации около миллиона долларов в сутки, то</a:t>
            </a:r>
          </a:p>
          <a:p>
            <a:r>
              <a:t>есть доллар на пользователя в день. Генерация видео не была бесплатной ни секунды; платил не</a:t>
            </a:r>
          </a:p>
          <a:p>
            <a:r>
              <a:t>пользователь. Отсюда вывод, переносимый куда угодно: зависимость от чужого сервиса — проектный</a:t>
            </a:r>
          </a:p>
          <a:p>
            <a:r>
              <a:t>риск, и место ему в плане рядом с прочими рисками. Два разбора этой лекции построены на</a:t>
            </a:r>
          </a:p>
          <a:p>
            <a:r>
              <a:t>инструменте, который закрылся.</a:t>
            </a:r>
          </a:p>
          <a:p>
            <a:r>
              <a:t/>
            </a:r>
          </a:p>
          <a:p>
            <a:r>
              <a:t>Третье наблюдение — про права, и оно самое проверяемое. Обе ведущие музыкальные площадки</a:t>
            </a:r>
          </a:p>
          <a:p>
            <a:r>
              <a:t>перешли на обучение на лицензированном материале, и партнёры названы поимённо вместо описания</a:t>
            </a:r>
          </a:p>
          <a:p>
            <a:r>
              <a:t>данных общими словами. Спор о происхождении обучающих данных не выиграл никто — он стал условием</a:t>
            </a:r>
          </a:p>
          <a:p>
            <a:r>
              <a:t>работы продукта. Это и самый проверяемый прогноз, который лекция может дать: там, где</a:t>
            </a:r>
          </a:p>
          <a:p>
            <a:r>
              <a:t>правообладатель крупный и организованный — музыка, кино, новости, — вопрос закроется лицензией</a:t>
            </a:r>
          </a:p>
          <a:p>
            <a:r>
              <a:t>раньше, чем судом; там, где правообладатель мелкий и рассеянный — иллюстрация, фотография,</a:t>
            </a:r>
          </a:p>
          <a:p>
            <a:r>
              <a:t>озвучка, — закрывать его будет некому, и там сохранится нынешнее положение.</a:t>
            </a:r>
          </a:p>
          <a:p>
            <a:r>
              <a:t/>
            </a:r>
          </a:p>
          <a:p>
            <a:r>
              <a:t>Четвёртое наблюдение — мировые модели как отдельная модальность. По текстовому описанию</a:t>
            </a:r>
          </a:p>
          <a:p>
            <a:r>
              <a:t>порождается интерактивная трёхмерная среда в реальном времени, связность держится несколько</a:t>
            </a:r>
          </a:p>
          <a:p>
            <a:r>
              <a:t>минут подряд против десяти-двадцати секунд у предшественников, и устроена она иначе: следующий</a:t>
            </a:r>
          </a:p>
          <a:p>
            <a:r>
              <a:t>кадр строится не только по описанию, а по внутреннему состоянию сцены и действию пользователя.</a:t>
            </a:r>
          </a:p>
          <a:p>
            <a:r>
              <a:t>Про объект, оставленный камерой и увиденный снова, разработчик показал в августе 2025 года</a:t>
            </a:r>
          </a:p>
          <a:p>
            <a:r>
              <a:t>ролик, где стена остаётся покрашенной. Независимая проверка июня 2026 года на двадцати трёх</a:t>
            </a:r>
          </a:p>
          <a:p>
            <a:r>
              <a:t>моделях находит у мировых моделей то же ограничение, что и у видеомоделей из раздела про видео:</a:t>
            </a:r>
          </a:p>
          <a:p>
            <a:r>
              <a:t>объект возвращается таким, каким его видели последний раз, а не таким, каким стал бы за</a:t>
            </a:r>
          </a:p>
          <a:p>
            <a:r>
              <a:t>прошедшее время, — разница только в размере окна, минуты вместо секунд. Это не опровержение</a:t>
            </a:r>
          </a:p>
          <a:p>
            <a:r>
              <a:t>раздела про видео, а подтверждение его же вывода: постоянство — размер окна, а не свойство мира.</a:t>
            </a:r>
          </a:p>
          <a:p>
            <a:r>
              <a:t>Видеомодель порождает запись. Мировая модель порождает пространство, в котором можно находиться.</a:t>
            </a:r>
          </a:p>
          <a:p>
            <a:r>
              <a:t/>
            </a:r>
          </a:p>
          <a:p>
            <a:r>
              <a:t>И последнее, пятое — прививка от отраслевых прогнозов вообще. Четыре обзора оценили размер</a:t>
            </a:r>
          </a:p>
          <a:p>
            <a:r>
              <a:t>одного и того же рынка за один и тот же 2026 год в три и шестнадцать сотых миллиарда долларов и</a:t>
            </a:r>
          </a:p>
          <a:p>
            <a:r>
              <a:t>в девятнадцать и две десятых — разброс в шесть раз, вызванный только тем, где проведена граница</a:t>
            </a:r>
          </a:p>
          <a:p>
            <a:r>
              <a:t>рынка. Выбирать из них правильную цифру бессмысленно. Согласованный факт в них ровно один: темп</a:t>
            </a:r>
          </a:p>
          <a:p>
            <a:r>
              <a:t>от четырнадцати до тридцати четырёх процентов в год. Все четыре согласны, что рынок растёт</a:t>
            </a:r>
          </a:p>
          <a:p>
            <a:r>
              <a:t>быстро, и ни одна не знает, насколько он велик. Добавьте сюда самое цитируемое число отрасли —</a:t>
            </a:r>
          </a:p>
          <a:p>
            <a:r>
              <a:t>«более пятнадцати миллиардов сгенерированных изображений», измеренное пятнадцатого августа 2023</a:t>
            </a:r>
          </a:p>
          <a:p>
            <a:r>
              <a:t>года и с тех пор ни разу не обновлявшееся, хотя его продолжают приводить как текущее, — и</a:t>
            </a:r>
          </a:p>
          <a:p>
            <a:r>
              <a:t>получится полный набор привычек чтения отраслевой статистики: проверь определение, проверь базу,</a:t>
            </a:r>
          </a:p>
          <a:p>
            <a:r>
              <a:t>проверь дату.</a:t>
            </a:r>
          </a:p>
          <a:p>
            <a:r>
              <a:t/>
            </a:r>
          </a:p>
          <a:p>
            <a:r>
              <a:t>Три величины стоит держать вместе, потому что ни одна из них не меняется с номером версии. Право</a:t>
            </a:r>
          </a:p>
          <a:p>
            <a:r>
              <a:t>на обучающий материал держится годами и меняется решениями судов и переговорами правообладателей.</a:t>
            </a:r>
          </a:p>
          <a:p>
            <a:r>
              <a:t>Класс задачи — порождает модель запись или порождает пространство, в котором можно находиться, —</a:t>
            </a:r>
          </a:p>
          <a:p>
            <a:r>
              <a:t>это свойство устройства, а не настройки. Граница рынка — то, что считают рынком, — вообще</a:t>
            </a:r>
          </a:p>
          <a:p>
            <a:r>
              <a:t>определение, и именно поэтому четыре оценки одного и того же 2026 года разошлись в шесть раз: от</a:t>
            </a:r>
          </a:p>
          <a:p>
            <a:r>
              <a:t>3,16 миллиарда долларов до 19,2 миллиарда, сходясь только в темпе: от четырнадцати до тридцати</a:t>
            </a:r>
          </a:p>
          <a:p>
            <a:r>
              <a:t>четырёх процентов в год.</a:t>
            </a:r>
          </a:p>
          <a:p>
            <a:r>
              <a:t/>
            </a:r>
          </a:p>
          <a:p>
            <a:r>
              <a:t>Отсюда и практическое правило чтения отраслевых прогнозов. Размеру рынка в них верить нельзя — он</a:t>
            </a:r>
          </a:p>
          <a:p>
            <a:r>
              <a:t>получен из определения, которого вы не видели. Темпу верить можно осторожнее: он устойчив между</a:t>
            </a:r>
          </a:p>
          <a:p>
            <a:r>
              <a:t>оценками, то есть его не придумывали, а считали по одним и тем же наблюдаемым рядам. А надёжнее</a:t>
            </a:r>
          </a:p>
          <a:p>
            <a:r>
              <a:t>всего в таких обзорах перечисление того, что игроки считают предметом конкуренции: оно меняется</a:t>
            </a:r>
          </a:p>
          <a:p>
            <a:r>
              <a:t>медленно и говорит об устройстве отрасли больше, чем любой миллиард.</a:t>
            </a:r>
          </a:p>
          <a:p>
            <a:r>
              <a:t/>
            </a:r>
          </a:p>
          <a:p>
            <a:r>
              <a:t>И короткое замечание о том, почему весь этот кадр стоит в Сборке, а не в техническом разделе.</a:t>
            </a:r>
          </a:p>
          <a:p>
            <a:r>
              <a:t>Инженеру, который решает, вкладываться ли в направление, номер версии не говорит ничего: он</a:t>
            </a:r>
          </a:p>
          <a:p>
            <a:r>
              <a:t>меняется каждые несколько недель и каждый раз обещает прорыв. Устройство рынка — кто платит, за</a:t>
            </a:r>
          </a:p>
          <a:p>
            <a:r>
              <a:t>что платит и чем ограничен — держится годами и предсказывает, что будет доступно через год,</a:t>
            </a:r>
          </a:p>
          <a:p>
            <a:r>
              <a:t>гораздо лучше. Читать надо его.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решают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Все четыре критерия объединяет одно свойство, ради которого их стоило выписывать отдельно: каждый выведен из устройства метода, а не из соображений осторожности. Поэтому ни один из них не закроется следующей версией модели — закрыть их может только другой класс методов. Это и отличает критерий отказа от предостережения.</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что делает эти четыре правила работающими: их записывают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Вред приходит из невидимости этой границы: качество самого инструмента тут ни при чём. Раз не видно — управлять ею можно единственным способом: записать критерии заранее и мерить результат.</a:t>
            </a:r>
          </a:p>
          <a:p>
            <a:r>
              <a:t/>
            </a:r>
          </a:p>
          <a:p>
            <a:r>
              <a:t>Числа этого опыта стоит повторить с единицами, потому что их легко перепутать между собой. Внутри круга задач, который модель тянет: участники с ней сделали на 12,2 процента больше задач и на 25,1 процента быстрее, при более высоком качестве. Это крупный выигрыш по меркам полевых опытов в консультировании, и отрицать его незачем.</a:t>
            </a:r>
          </a:p>
          <a:p>
            <a:r>
              <a:t/>
            </a:r>
          </a:p>
          <a:p>
            <a:r>
              <a:t>На одной задаче за пределами круга: доля верных решений 84,5 процента без модели против 60 и 70 процентов в двух условиях с ней. Разница — девятнадцать процентных пунктов, и единицу тут надо называть вслух: это разница долей, а не относительное падение. «На девятнадцать процентов реже» описывало бы другую величину.</a:t>
            </a:r>
          </a:p>
          <a:p>
            <a:r>
              <a:t/>
            </a:r>
          </a:p>
          <a:p>
            <a:r>
              <a:t>Важна в этом опыте не величина провала, а его невидимость. Задача за пределами круга внешне ничем не отличалась от остальных восемнадцати: тот же формат, тот же объём, та же предметная область. Участники не могли понять, что перешли границу, потому что граница не проявляется внутри задачи — она проявляется только в результате, и только если результат с чем-то сравнить.</a:t>
            </a:r>
          </a:p>
          <a:p>
            <a:r>
              <a:t/>
            </a:r>
          </a:p>
          <a:p>
            <a:r>
              <a:t>Отсюда и вывод, который делает четыре критерия рабочими. Критерии применимости пишутся до начала работы, а не в момент, когда что-то пошло не так, — потому что в момент, когда что-то пошло не так, вы этого не заметите. И меряется результат двумя вещами: секундомером и долей верных решений, а не ощущением участников. Про ощущения участников следующий кадр скажет отдельно, и скажет неприятное.</a:t>
            </a:r>
          </a:p>
          <a:p>
            <a:r>
              <a:t/>
            </a:r>
          </a:p>
          <a:p>
            <a:r>
              <a:t>И последнее замечание о том, как читать этот опыт, чтобы не вычитать из него больше, чем в нём есть. Семьсот пятьдесят восемь консультантов — это консультанты, а не инженеры и не врачи; задачи были настоящими рабочими, от творческих до аналитических, но это задачи консалтинга. Переносить проценты на другую профессию нельзя. Переносить можно устройство результата: внутри круга — выигрыш, за его пределами — провал, граница изнутри задачи не видна. Именно это устройство и воспроизводится в других предметных областях, а конкретные числа у каждой свои, и мерить их надо самому.</a:t>
            </a:r>
          </a:p>
          <a:p>
            <a:r>
              <a:t/>
            </a:r>
          </a:p>
          <a:p>
            <a:r>
              <a:t>Отдельно — про формулировку «вред приходит из невидимости границы». Качество самого инструмента тут ни при чём: та же модель на задачах внутри круга давала крупный выигрыш. Опасна не модель, а отсутствие у работающего способа понять, по какую сторону границы он сейчас находится.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Задача здесь —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и обе величины надо брать со своими знаменателями. Принимается меньше сорока четырёх процентов предложений модели — счёт идёт по предложениям, которые участник в редакторе принимает или отклоняет, а не по строкам и не по задачам, и собран он по тринадцати участникам из шестнадцати: трое работали на собственной подписке, и эти данные с них не снялись. Около девяти процентов рабочего времени уходит на чтение и чистку выдачи — это замер по сорока четырём задачам из двухсот сорока шести, у которых есть размеченная видеозапись экрана. Рядом стоит третья величина того же ряда: трое из четырёх участников говорят, что читают каждую строку машинного кода, а больше половины — что принятое приходится серьёзно переделывать.</a:t>
            </a:r>
          </a:p>
          <a:p>
            <a:r>
              <a:t/>
            </a:r>
          </a:p>
          <a:p>
            <a:r>
              <a:t>Но в Сборке эта пара стоит ради другого: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не даёт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a:p>
            <a:r>
              <a:t/>
            </a:r>
          </a:p>
          <a:p>
            <a:r>
              <a:t>Авторы опыта METR сами перечислили, чего он не доказывает, и эту оговорку стоит произносить вместе с числом. Он не доказывает, что модели не ускоряют большинство разработчиков. Он не доказывает, что вывод переносится за пределы опытных разработчиков открытого кода. И он не доказывает, что через год будет так же.</a:t>
            </a:r>
          </a:p>
          <a:p>
            <a:r>
              <a:t/>
            </a:r>
          </a:p>
          <a:p>
            <a:r>
              <a:t>Две величины из того же замера объясняют, куда девается время. В зрелой базе принимается меньше сорока четырёх процентов предложений модели — знаменатель здесь предложения, которые участник принимает или отклоняет прямо в редакторе, счёт по тринадцати участникам из шестнадцати. И около девяти процентов рабочего времени уходит на чтение и чистку выданного: это замер по сорока четырём задачам из двухсот сорока шести, у которых была размеченная видеозапись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Хороший повод запомнить: между препринтом и публикацией цифры двигаются, и подписывать их надо тем документом, из которого взял.</a:t>
            </a:r>
          </a:p>
          <a:p>
            <a:r>
              <a:t/>
            </a:r>
          </a:p>
          <a:p>
            <a:r>
              <a:t>Но вес этого опыта в другом: в том,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неожиданнее прочих: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a:p>
            <a:r>
              <a:t/>
            </a:r>
          </a:p>
          <a:p>
            <a:r>
              <a:t>И короткая формулировка, которую стоит унести с этого кадра целиком: дешёвая проба смещает распределение результатов к центру ожиданий. Выигрывает тот, кому нужен надёжный средний результат. Проигрывает тот, чья ценность в отклонении от среднего, — и проигрывает он незаметно, потому что каждая отдельная работа при этом становится лучше.</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само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Разложим два режима по именам, потому что различает их не инструмент и не задача, а то, как человек себя в этой паре ведёт.</a:t>
            </a:r>
          </a:p>
          <a:p>
            <a:r>
              <a:t/>
            </a:r>
          </a:p>
          <a:p>
            <a:r>
              <a:t>Режим первый — делегирование. Человек отдаёт работу модели целиком и говорит с ней как с собеседником: формулирует, получает, принимает. Здесь и наступает сужение разброса: работы выходят заметно более похожими друг на друга, потому что все они приходят из одного распределения, сдвинутого к середине ожидаемого. Семьдесят тысяч вариантов, порождённых одной моделью, менее разнообразны, чем семьдесят вариантов от семидесяти разных людей, — и это измеренное свойство. Там, где ценность работы состоит именно в отклонении от центра ожиданий, этот режим её уничтожает.</a:t>
            </a:r>
          </a:p>
          <a:p>
            <a:r>
              <a:t/>
            </a:r>
          </a:p>
          <a:p>
            <a:r>
              <a:t>Режим второй — задачно-ориентированный. Человек ставит задачу, разбирает результат, ставит следующую. Решение о том, что считать годным, остаётся у него, и распределение формируется его отбором, а не распределением модели. В этом режиме обрушения разнообразия в опыте не наблюдается вовсе — и при этом выше и производительность, и качество, по всем измерениям сразу.</a:t>
            </a:r>
          </a:p>
          <a:p>
            <a:r>
              <a:t/>
            </a:r>
          </a:p>
          <a:p>
            <a:r>
              <a:t>Это и есть практический вывод кадра, и он редкий по форме: у эффекта есть выключатель, и выключатель в руках человека. Не у поставщика модели, не у регулятора, не у следующей версии — у того, кто сидит перед экраном и решает, отдать ли работу целиком или вести её шагами. Условие здесь важнее самого эффекта: сужение разброса — не свойство технологии, а свойство одного из двух способов ею пользоваться.</a:t>
            </a:r>
          </a:p>
          <a:p>
            <a:r>
              <a:t/>
            </a:r>
          </a:p>
          <a:p>
            <a:r>
              <a:t>Для практики из этого следует проверяемое требование к процессу, а не к инструменту. Если вы вводите обученную модель туда, где ценится несходство результатов — в проектирование вариантов, в рекламные тексты, в поиск технических решений, — запишите в регламент, что человек ставит задачу и разбирает результат, а не принимает выданное целиком. Это не вопрос вкуса и не дисциплина ради дисциплины: разница между двумя режимами измерена на двух тысячах с лишним участников и одиннадцати тысячах объявлений, и проверена поведением настоящей аудитории, а не судейскими оценками.</a:t>
            </a:r>
          </a:p>
          <a:p>
            <a:r>
              <a:t/>
            </a:r>
          </a:p>
          <a:p>
            <a:r>
              <a:t>И вот чем этот опыт отличается от большинства: качество здесь мерили не судейскими оценками, а поведением настоящей аудитории на реальных показах — одиннадцать тысяч двадцать четыре объявления, две тысячи двести тридцать четыре участника. Судейская оценка измеряет, что нравится судье; показ измеряет, что сработало. Для вывода о разнообразии это принципиально: судья как раз склонен выше оценивать работу, сдвинутую к центру ожиданий.</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50 до 450 долларов за готовую минуту у диктора против 0,03–0,072 доллара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отраслевых обзоров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за дешёвую ошибку, и выставлен он не всем поровну.</a:t>
            </a:r>
          </a:p>
          <a:p>
            <a:r>
              <a:t/>
            </a:r>
          </a:p>
          <a:p>
            <a:r>
              <a:t>Восьмое удешевление отличается от семи предыдущих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Внимательность смотрящего тут ничего не решает: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t-j.ru/marketing-ai/"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sknews.autodesk.com/en/news/autodesk-airbus-generative-design-aerospace-factory/"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09.14988" TargetMode="External"/><Relationship Id="rId3" Type="http://schemas.openxmlformats.org/officeDocument/2006/relationships/hyperlink" Target="https://arxiv.org/abs/2308.04079" TargetMode="Externa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scrollprize.org/"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www.cnet.com/tech/cnet-is-testing-an-ai-engine-heres-what-weve-learned-mistakes-and-all/"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0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TextBox 3"/>
          <p:cNvSpPr txBox="1"/>
          <p:nvPr/>
        </p:nvSpPr>
        <p:spPr>
          <a:xfrm>
            <a:off x="502920" y="1371600"/>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 век</a:t>
            </a:r>
          </a:p>
        </p:txBody>
      </p:sp>
      <p:sp>
        <p:nvSpPr>
          <p:cNvPr id="5" name="Rounded Rectangle 4"/>
          <p:cNvSpPr/>
          <p:nvPr/>
        </p:nvSpPr>
        <p:spPr>
          <a:xfrm>
            <a:off x="192024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1961 — обводка тушью на целлулоиде; штат вдвое меньше</a:t>
            </a:r>
          </a:p>
        </p:txBody>
      </p:sp>
      <p:sp>
        <p:nvSpPr>
          <p:cNvPr id="7" name="Right Arrow 6"/>
          <p:cNvSpPr/>
          <p:nvPr/>
        </p:nvSpPr>
        <p:spPr>
          <a:xfrm>
            <a:off x="3284675" y="191342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13275"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595571"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1990 — допечатный цех; $300 за час против $895 навсегда</a:t>
            </a:r>
          </a:p>
        </p:txBody>
      </p:sp>
      <p:sp>
        <p:nvSpPr>
          <p:cNvPr id="10" name="Right Arrow 9"/>
          <p:cNvSpPr/>
          <p:nvPr/>
        </p:nvSpPr>
        <p:spPr>
          <a:xfrm>
            <a:off x="4877710" y="191342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0631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18860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1989–2003 — физическая склейка плёнки; рабочее место $50–80 тыс.</a:t>
            </a:r>
          </a:p>
        </p:txBody>
      </p:sp>
      <p:sp>
        <p:nvSpPr>
          <p:cNvPr id="13" name="Right Arrow 12"/>
          <p:cNvSpPr/>
          <p:nvPr/>
        </p:nvSpPr>
        <p:spPr>
          <a:xfrm>
            <a:off x="6470746" y="191342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699346"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781642"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1997 — дубль ради одной ноты; коррекция высоты тона</a:t>
            </a:r>
          </a:p>
        </p:txBody>
      </p:sp>
      <p:sp>
        <p:nvSpPr>
          <p:cNvPr id="16" name="TextBox 15"/>
          <p:cNvSpPr txBox="1"/>
          <p:nvPr/>
        </p:nvSpPr>
        <p:spPr>
          <a:xfrm>
            <a:off x="502920" y="2811865"/>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XXI век</a:t>
            </a:r>
          </a:p>
        </p:txBody>
      </p:sp>
      <p:sp>
        <p:nvSpPr>
          <p:cNvPr id="17" name="Rounded Rectangle 16"/>
          <p:cNvSpPr/>
          <p:nvPr/>
        </p:nvSpPr>
        <p:spPr>
          <a:xfrm>
            <a:off x="1920240"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2000-е — заказная съёмка под каталог; от сотен долларов до $0,25</a:t>
            </a:r>
          </a:p>
        </p:txBody>
      </p:sp>
      <p:sp>
        <p:nvSpPr>
          <p:cNvPr id="19" name="Right Arrow 18"/>
          <p:cNvSpPr/>
          <p:nvPr/>
        </p:nvSpPr>
        <p:spPr>
          <a:xfrm>
            <a:off x="3815687" y="335369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44287"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26583"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2002 · 2009 — ручная анимация лица; захват стал измерением</a:t>
            </a:r>
          </a:p>
        </p:txBody>
      </p:sp>
      <p:sp>
        <p:nvSpPr>
          <p:cNvPr id="22" name="Right Arrow 21"/>
          <p:cNvSpPr/>
          <p:nvPr/>
        </p:nvSpPr>
        <p:spPr>
          <a:xfrm>
            <a:off x="5939734" y="335369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168334"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250630"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2019 — экспедиция за фоном; 1 326 панелей, дуга 270°</a:t>
            </a:r>
          </a:p>
        </p:txBody>
      </p:sp>
      <p:sp>
        <p:nvSpPr>
          <p:cNvPr id="25" name="TextBox 24"/>
          <p:cNvSpPr txBox="1"/>
          <p:nvPr/>
        </p:nvSpPr>
        <p:spPr>
          <a:xfrm>
            <a:off x="502920" y="4105826"/>
            <a:ext cx="75151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время; вторая строка продолжает первую. Исчезала операция-посредник; профессия оставалась</a:t>
            </a:r>
          </a:p>
        </p:txBody>
      </p:sp>
      <p:sp>
        <p:nvSpPr>
          <p:cNvPr id="26" name="Rounded Rectangle 25"/>
          <p:cNvSpPr/>
          <p:nvPr/>
        </p:nvSpPr>
        <p:spPr>
          <a:xfrm>
            <a:off x="374904" y="4619753"/>
            <a:ext cx="7771173"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711193"/>
            <a:ext cx="7441989" cy="152501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Поворотная точка — 2000-е.</a:t>
            </a:r>
            <a:r>
              <a:rPr sz="1500" b="0" i="0">
                <a:solidFill>
                  <a:srgbClr val="21295C"/>
                </a:solidFill>
                <a:latin typeface="Arial"/>
              </a:rPr>
              <a:t> Обвал цены единицы на три порядка в этой же отрасли уже случался, и рынок уцелел, разделившись на «дёшево и много» и «дорого и именно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одна из семи строк не даёт исчезнувшей профессии.</a:t>
            </a:r>
          </a:p>
        </p:txBody>
      </p:sp>
      <p:sp>
        <p:nvSpPr>
          <p:cNvPr id="28" name="Rounded Rectangle 27"/>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29" name="Picture 28"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ТОГО ЖЕ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названо первым лицом компании</a:t>
            </a:r>
          </a:p>
        </p:txBody>
      </p:sp>
      <p:sp>
        <p:nvSpPr>
          <p:cNvPr id="8" name="Rounded Rectangle 7"/>
          <p:cNvSpPr/>
          <p:nvPr/>
        </p:nvSpPr>
        <p:spPr>
          <a:xfrm>
            <a:off x="4286402"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МОДЕЛЬЮ, 2025</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733470"/>
          </a:xfrm>
          <a:prstGeom prst="roundRect">
            <a:avLst>
              <a:gd name="adj" fmla="val 175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 есть измеренный факт строки</a:t>
            </a:r>
          </a:p>
        </p:txBody>
      </p:sp>
      <p:sp>
        <p:nvSpPr>
          <p:cNvPr id="16" name="TextBox 15"/>
          <p:cNvSpPr txBox="1"/>
          <p:nvPr/>
        </p:nvSpPr>
        <p:spPr>
          <a:xfrm>
            <a:off x="502920" y="328795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19" name="Right Arrow 18"/>
          <p:cNvSpPr/>
          <p:nvPr/>
        </p:nvSpPr>
        <p:spPr>
          <a:xfrm>
            <a:off x="5039258" y="3539315"/>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проба стоит как результат: $50–150 и 1–3 дня</a:t>
            </a:r>
          </a:p>
        </p:txBody>
      </p:sp>
      <p:sp>
        <p:nvSpPr>
          <p:cNvPr id="22" name="Right Arrow 21"/>
          <p:cNvSpPr/>
          <p:nvPr/>
        </p:nvSpPr>
        <p:spPr>
          <a:xfrm>
            <a:off x="8386876" y="353931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два-три варианта</a:t>
            </a:r>
          </a:p>
        </p:txBody>
      </p:sp>
      <p:sp>
        <p:nvSpPr>
          <p:cNvPr id="25" name="TextBox 24"/>
          <p:cNvSpPr txBox="1"/>
          <p:nvPr/>
        </p:nvSpPr>
        <p:spPr>
          <a:xfrm>
            <a:off x="502920" y="414729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28" name="Right Arrow 27"/>
          <p:cNvSpPr/>
          <p:nvPr/>
        </p:nvSpPr>
        <p:spPr>
          <a:xfrm>
            <a:off x="5039258" y="439866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10720"/>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156440"/>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проба стоит $0,034–0,05 и секунды</a:t>
            </a:r>
          </a:p>
        </p:txBody>
      </p:sp>
      <p:sp>
        <p:nvSpPr>
          <p:cNvPr id="31" name="Right Arrow 30"/>
          <p:cNvSpPr/>
          <p:nvPr/>
        </p:nvSpPr>
        <p:spPr>
          <a:xfrm>
            <a:off x="8386876" y="439866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сотни — выбирать их некому</a:t>
            </a:r>
          </a:p>
        </p:txBody>
      </p:sp>
      <p:sp>
        <p:nvSpPr>
          <p:cNvPr id="34" name="Rounded Rectangle 33"/>
          <p:cNvSpPr/>
          <p:nvPr/>
        </p:nvSpPr>
        <p:spPr>
          <a:xfrm>
            <a:off x="374904" y="4915202"/>
            <a:ext cx="11441887" cy="1321005"/>
          </a:xfrm>
          <a:prstGeom prst="roundRect">
            <a:avLst>
              <a:gd name="adj" fmla="val 23073"/>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06642"/>
            <a:ext cx="11112703" cy="1229565"/>
          </a:xfrm>
          <a:prstGeom prst="rect">
            <a:avLst/>
          </a:prstGeom>
          <a:noFill/>
        </p:spPr>
        <p:txBody>
          <a:bodyPr wrap="square" lIns="0" rIns="0" tIns="0" bIns="0" anchor="t">
            <a:spAutoFit/>
          </a:bodyPr>
          <a:lstStyle/>
          <a:p>
            <a:pPr algn="l">
              <a:lnSpc>
                <a:spcPct val="126000"/>
              </a:lnSpc>
            </a:pPr>
            <a:r>
              <a:rPr sz="1150" b="0" i="1">
                <a:solidFill>
                  <a:srgbClr val="1C7293"/>
                </a:solidFill>
                <a:latin typeface="Arial"/>
              </a:rPr>
              <a:t>Сколько из 70 000 клипов вошло в монтаж — не раскрыто ни одним источником. Арифметику «выиграли в тысячи раз» отсюда вывести нельзя: делить не на что.</a:t>
            </a:r>
          </a:p>
          <a:p>
            <a:pPr algn="l">
              <a:lnSpc>
                <a:spcPct val="126000"/>
              </a:lnSpc>
              <a:spcBef>
                <a:spcPts val="700"/>
              </a:spcBef>
            </a:pPr>
            <a:r>
              <a:rPr sz="1150" b="0" i="0">
                <a:solidFill>
                  <a:srgbClr val="21295C"/>
                </a:solidFill>
                <a:latin typeface="Arial"/>
              </a:rPr>
              <a:t/>
            </a:r>
            <a:r>
              <a:rPr sz="1150" b="0" i="1">
                <a:solidFill>
                  <a:srgbClr val="1C7293"/>
                </a:solidFill>
                <a:latin typeface="Arial"/>
              </a:rPr>
              <a:t>Единственное защитимое отношение генераций к годному: Toys «R» Us, 2024 — сотни планов на минутный ролик, в монтаж вошло несколько десятков.</a:t>
            </a:r>
          </a:p>
          <a:p>
            <a:pPr algn="l">
              <a:lnSpc>
                <a:spcPct val="126000"/>
              </a:lnSpc>
              <a:spcBef>
                <a:spcPts val="700"/>
              </a:spcBef>
            </a:pPr>
            <a:r>
              <a:rPr sz="1450" b="0" i="0">
                <a:solidFill>
                  <a:srgbClr val="21295C"/>
                </a:solidFill>
                <a:latin typeface="Arial"/>
              </a:rPr>
              <a:t/>
            </a:r>
            <a:r>
              <a:rPr sz="1450" b="1" i="0">
                <a:solidFill>
                  <a:srgbClr val="21295C"/>
                </a:solidFill>
                <a:latin typeface="Arial"/>
              </a:rPr>
              <a:t>Подешевело не исполнение. Подешевела неудачная попытка — а выбирать по-прежнему некому.</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ИЗОБРАЖЕНИЕ</a:t>
            </a:r>
          </a:p>
        </p:txBody>
      </p:sp>
      <p:sp>
        <p:nvSpPr>
          <p:cNvPr id="6" name="TextBox 5"/>
          <p:cNvSpPr txBox="1"/>
          <p:nvPr/>
        </p:nvSpPr>
        <p:spPr>
          <a:xfrm>
            <a:off x="640080"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$0,034–0,05</a:t>
            </a:r>
          </a:p>
        </p:txBody>
      </p:sp>
      <p:sp>
        <p:nvSpPr>
          <p:cNvPr id="7" name="TextBox 6"/>
          <p:cNvSpPr txBox="1"/>
          <p:nvPr/>
        </p:nvSpPr>
        <p:spPr>
          <a:xfrm>
            <a:off x="640080" y="2257996"/>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заказная иллюстрация $50–150 за задание в 1–3 дня</a:t>
            </a:r>
          </a:p>
        </p:txBody>
      </p:sp>
      <p:sp>
        <p:nvSpPr>
          <p:cNvPr id="8" name="Rounded Rectangle 7"/>
          <p:cNvSpPr/>
          <p:nvPr/>
        </p:nvSpPr>
        <p:spPr>
          <a:xfrm>
            <a:off x="2188387"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25547"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МИНУТА ДУБЛЯЖА</a:t>
            </a:r>
          </a:p>
        </p:txBody>
      </p:sp>
      <p:sp>
        <p:nvSpPr>
          <p:cNvPr id="10" name="TextBox 9"/>
          <p:cNvSpPr txBox="1"/>
          <p:nvPr/>
        </p:nvSpPr>
        <p:spPr>
          <a:xfrm>
            <a:off x="2325547"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$0,03–0,072</a:t>
            </a:r>
          </a:p>
        </p:txBody>
      </p:sp>
      <p:sp>
        <p:nvSpPr>
          <p:cNvPr id="11" name="TextBox 10"/>
          <p:cNvSpPr txBox="1"/>
          <p:nvPr/>
        </p:nvSpPr>
        <p:spPr>
          <a:xfrm>
            <a:off x="2325547" y="2257996"/>
            <a:ext cx="12465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диктор $50–450 за готовую минуту</a:t>
            </a:r>
          </a:p>
        </p:txBody>
      </p:sp>
      <p:sp>
        <p:nvSpPr>
          <p:cNvPr id="12" name="Rounded Rectangle 11"/>
          <p:cNvSpPr/>
          <p:nvPr/>
        </p:nvSpPr>
        <p:spPr>
          <a:xfrm>
            <a:off x="3873855"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11015"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 МИКРОДРАМЫ</a:t>
            </a:r>
          </a:p>
        </p:txBody>
      </p:sp>
      <p:sp>
        <p:nvSpPr>
          <p:cNvPr id="14" name="TextBox 13"/>
          <p:cNvSpPr txBox="1"/>
          <p:nvPr/>
        </p:nvSpPr>
        <p:spPr>
          <a:xfrm>
            <a:off x="4011015" y="1932846"/>
            <a:ext cx="124655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4011015" y="2750268"/>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выпуск обычным производством свыше 1 млн юаней, ≈$137 тыс.</a:t>
            </a:r>
          </a:p>
        </p:txBody>
      </p:sp>
      <p:sp>
        <p:nvSpPr>
          <p:cNvPr id="16" name="Rounded Rectangle 15"/>
          <p:cNvSpPr/>
          <p:nvPr/>
        </p:nvSpPr>
        <p:spPr>
          <a:xfrm>
            <a:off x="5559323" y="1335024"/>
            <a:ext cx="1520875" cy="3242352"/>
          </a:xfrm>
          <a:prstGeom prst="roundRect">
            <a:avLst>
              <a:gd name="adj" fmla="val 2004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696483"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ВСЕХ ТРЁХ</a:t>
            </a:r>
          </a:p>
        </p:txBody>
      </p:sp>
      <p:sp>
        <p:nvSpPr>
          <p:cNvPr id="18" name="TextBox 17"/>
          <p:cNvSpPr txBox="1"/>
          <p:nvPr/>
        </p:nvSpPr>
        <p:spPr>
          <a:xfrm>
            <a:off x="5696483" y="1932846"/>
            <a:ext cx="1246555" cy="1258770"/>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×10–20 у самого дорогого, ×1 000–4 500 у самого дешёвого</a:t>
            </a:r>
          </a:p>
        </p:txBody>
      </p:sp>
      <p:sp>
        <p:nvSpPr>
          <p:cNvPr id="19" name="TextBox 18"/>
          <p:cNvSpPr txBox="1"/>
          <p:nvPr/>
        </p:nvSpPr>
        <p:spPr>
          <a:xfrm>
            <a:off x="5696483" y="3191616"/>
            <a:ext cx="12465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дешевле единица, тем больше разрыв</a:t>
            </a:r>
          </a:p>
        </p:txBody>
      </p:sp>
      <p:sp>
        <p:nvSpPr>
          <p:cNvPr id="20" name="Rounded Rectangle 19"/>
          <p:cNvSpPr/>
          <p:nvPr/>
        </p:nvSpPr>
        <p:spPr>
          <a:xfrm>
            <a:off x="374904" y="4668816"/>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60256"/>
            <a:ext cx="11112703" cy="14759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2" name="Rounded Rectangle 21"/>
          <p:cNvSpPr/>
          <p:nvPr/>
        </p:nvSpPr>
        <p:spPr>
          <a:xfrm>
            <a:off x="7391095" y="1335024"/>
            <a:ext cx="4297680" cy="2121781"/>
          </a:xfrm>
          <a:prstGeom prst="roundRect">
            <a:avLst>
              <a:gd name="adj" fmla="val 14365"/>
            </a:avLst>
          </a:prstGeom>
          <a:solidFill>
            <a:srgbClr val="F4F7FA"/>
          </a:solidFill>
          <a:ln w="19050">
            <a:solidFill>
              <a:srgbClr val="1C7293"/>
            </a:solidFill>
          </a:ln>
          <a:effectLst/>
        </p:spPr>
        <p:txBody>
          <a:bodyPr rtlCol="0" anchor="ctr"/>
          <a:lstStyle/>
          <a:p>
            <a:pPr algn="ctr"/>
          </a:p>
        </p:txBody>
      </p:sp>
      <p:pic>
        <p:nvPicPr>
          <p:cNvPr id="23" name="Picture 22" descr="s04-tsena-proby.png"/>
          <p:cNvPicPr>
            <a:picLocks noChangeAspect="1"/>
          </p:cNvPicPr>
          <p:nvPr/>
        </p:nvPicPr>
        <p:blipFill>
          <a:blip r:embed="rId2"/>
          <a:stretch>
            <a:fillRect/>
          </a:stretch>
        </p:blipFill>
        <p:spPr>
          <a:xfrm>
            <a:off x="7528255" y="1472184"/>
            <a:ext cx="4023360" cy="184746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Путь от запроса к результату: одна фигура на пять разделов вперёд</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БЕЗОПАСНОСТЬ, ПОДДЕЛКИ, ЗЛОУПОТРЕБЛЕНИЕ</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АГЕНТЫ, ИНСТРУМЕНТЫ, ПРОГРАММНЫЙ ДОСТУП</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РЫНОК ТРУДА И ОБЗОР ЮРИСДИКЦИЙ ПО СТРАНАМ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502920" y="3492795"/>
            <a:ext cx="354573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538515"/>
            <a:ext cx="338114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запрос</a:t>
            </a:r>
          </a:p>
        </p:txBody>
      </p:sp>
      <p:sp>
        <p:nvSpPr>
          <p:cNvPr id="18" name="Right Arrow 17"/>
          <p:cNvSpPr/>
          <p:nvPr/>
        </p:nvSpPr>
        <p:spPr>
          <a:xfrm>
            <a:off x="4094378" y="366191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492795"/>
            <a:ext cx="354573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538515"/>
            <a:ext cx="338114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как попадает внутрь</a:t>
            </a:r>
          </a:p>
        </p:txBody>
      </p:sp>
      <p:sp>
        <p:nvSpPr>
          <p:cNvPr id="21" name="Right Arrow 20"/>
          <p:cNvSpPr/>
          <p:nvPr/>
        </p:nvSpPr>
        <p:spPr>
          <a:xfrm>
            <a:off x="7914436" y="36619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492795"/>
            <a:ext cx="354573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538515"/>
            <a:ext cx="338114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с чего начинается результат</a:t>
            </a:r>
          </a:p>
        </p:txBody>
      </p:sp>
      <p:sp>
        <p:nvSpPr>
          <p:cNvPr id="24" name="Rounded Rectangle 23"/>
          <p:cNvSpPr/>
          <p:nvPr/>
        </p:nvSpPr>
        <p:spPr>
          <a:xfrm>
            <a:off x="502920" y="4114492"/>
            <a:ext cx="354573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85216" y="4160212"/>
            <a:ext cx="338114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шаг, повторяемый N раз</a:t>
            </a:r>
          </a:p>
        </p:txBody>
      </p:sp>
      <p:sp>
        <p:nvSpPr>
          <p:cNvPr id="26" name="Right Arrow 25"/>
          <p:cNvSpPr/>
          <p:nvPr/>
        </p:nvSpPr>
        <p:spPr>
          <a:xfrm>
            <a:off x="4094378" y="4283609"/>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322978" y="4114492"/>
            <a:ext cx="354573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405274" y="4160212"/>
            <a:ext cx="338114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как получается видимое</a:t>
            </a:r>
          </a:p>
        </p:txBody>
      </p:sp>
      <p:sp>
        <p:nvSpPr>
          <p:cNvPr id="29" name="Right Arrow 28"/>
          <p:cNvSpPr/>
          <p:nvPr/>
        </p:nvSpPr>
        <p:spPr>
          <a:xfrm>
            <a:off x="7914436" y="4283609"/>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8143036" y="4114492"/>
            <a:ext cx="354573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8225332" y="4160212"/>
            <a:ext cx="338114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результат</a:t>
            </a:r>
          </a:p>
        </p:txBody>
      </p:sp>
      <p:sp>
        <p:nvSpPr>
          <p:cNvPr id="32" name="Rounded Rectangle 31"/>
          <p:cNvSpPr/>
          <p:nvPr/>
        </p:nvSpPr>
        <p:spPr>
          <a:xfrm>
            <a:off x="374904" y="468132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72765"/>
            <a:ext cx="11112703" cy="1463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Эта фигура — пустая.</a:t>
            </a:r>
            <a:r>
              <a:rPr sz="1500" b="0" i="0">
                <a:solidFill>
                  <a:srgbClr val="21295C"/>
                </a:solidFill>
                <a:latin typeface="Arial"/>
              </a:rPr>
              <a:t> Пять следующих разделов заполнят в ней свои числа: что повторяется, где участвует запрос, что меняется, где узкое место.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Чего в этой лекции нет.</a:t>
            </a:r>
            <a:r>
              <a:rPr sz="1500" b="0" i="0">
                <a:solidFill>
                  <a:srgbClr val="21295C"/>
                </a:solidFill>
                <a:latin typeface="Arial"/>
              </a:rPr>
              <a:t> Граница проходит по предмету, а не по технологии — у каждого исключения назван адрес.</a:t>
            </a:r>
          </a:p>
        </p:txBody>
      </p:sp>
      <p:sp>
        <p:nvSpPr>
          <p:cNvPr id="34" name="Rectangle 33"/>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863043"/>
          </a:xfrm>
          <a:prstGeom prst="roundRect">
            <a:avLst>
              <a:gd name="adj" fmla="val 10646"/>
            </a:avLst>
          </a:prstGeom>
          <a:solidFill>
            <a:srgbClr val="F4F7FA"/>
          </a:solidFill>
          <a:ln w="19050">
            <a:solidFill>
              <a:srgbClr val="1C7293"/>
            </a:solidFill>
          </a:ln>
          <a:effectLst/>
        </p:spPr>
        <p:txBody>
          <a:bodyPr rtlCol="0" anchor="ctr"/>
          <a:lstStyle/>
          <a:p>
            <a:pPr algn="ctr"/>
          </a:p>
        </p:txBody>
      </p:sp>
      <p:pic>
        <p:nvPicPr>
          <p:cNvPr id="5" name="Picture 4" descr="s08-planshet-eskizy.jpg"/>
          <p:cNvPicPr>
            <a:picLocks noChangeAspect="1"/>
          </p:cNvPicPr>
          <p:nvPr/>
        </p:nvPicPr>
        <p:blipFill>
          <a:blip r:embed="rId2"/>
          <a:stretch>
            <a:fillRect/>
          </a:stretch>
        </p:blipFill>
        <p:spPr>
          <a:xfrm>
            <a:off x="6949440" y="1051560"/>
            <a:ext cx="4602175" cy="2588723"/>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1. Неподвижное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это за работа: стадия, классика и два удешевления до всякой модели</a:t>
            </a:r>
          </a:p>
        </p:txBody>
      </p:sp>
      <p:sp>
        <p:nvSpPr>
          <p:cNvPr id="4" name="Rounded Rectangle 3"/>
          <p:cNvSpPr/>
          <p:nvPr/>
        </p:nvSpPr>
        <p:spPr>
          <a:xfrm>
            <a:off x="502920" y="1335024"/>
            <a:ext cx="3618890" cy="2020158"/>
          </a:xfrm>
          <a:prstGeom prst="roundRect">
            <a:avLst>
              <a:gd name="adj" fmla="val 150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НА КОТОРЫЙ ОТВЕЧАЕТ СТАДИЯ</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«что это такое» — на него отвечает чертёж; не «сколько этого» — на него отвечает таблица</a:t>
            </a:r>
          </a:p>
        </p:txBody>
      </p:sp>
      <p:sp>
        <p:nvSpPr>
          <p:cNvPr id="8" name="Rounded Rectangle 7"/>
          <p:cNvSpPr/>
          <p:nvPr/>
        </p:nvSpPr>
        <p:spPr>
          <a:xfrm>
            <a:off x="4286402" y="1335024"/>
            <a:ext cx="3618890" cy="2020158"/>
          </a:xfrm>
          <a:prstGeom prst="roundRect">
            <a:avLst>
              <a:gd name="adj" fmla="val 150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КЛАССИКА — ЧЕТЫРЕ СТУПЕНИ ЦЕНЫ</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исполнитель $50–150 (РФ — от 3 860 ₽) · сотни $ за съёмку · микросток $0,25–1 · штатный дизайнер — цены нет</a:t>
            </a:r>
          </a:p>
        </p:txBody>
      </p:sp>
      <p:sp>
        <p:nvSpPr>
          <p:cNvPr id="11" name="TextBox 10"/>
          <p:cNvSpPr txBox="1"/>
          <p:nvPr/>
        </p:nvSpPr>
        <p:spPr>
          <a:xfrm>
            <a:off x="4423562" y="2373048"/>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съёмка под каталог генерацией не замещается по определению задачи; у штатного дизайнера публичных чисел почти не бывает</a:t>
            </a:r>
          </a:p>
        </p:txBody>
      </p:sp>
      <p:sp>
        <p:nvSpPr>
          <p:cNvPr id="12" name="Rounded Rectangle 11"/>
          <p:cNvSpPr/>
          <p:nvPr/>
        </p:nvSpPr>
        <p:spPr>
          <a:xfrm>
            <a:off x="8069884" y="1335024"/>
            <a:ext cx="3618890" cy="2020158"/>
          </a:xfrm>
          <a:prstGeom prst="roundRect">
            <a:avLst>
              <a:gd name="adj" fmla="val 150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УДЕШЕВЛЕНИЯ ДО ВСЯКОЙ МОДЕЛИ</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ксерография, 1961 — штат ×0,5 · Photoshop, 1990 — $300/ч против $895 навсегда</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обоих случаях исчезла операция-посредник, а не профессия; объём произведённого вырос сильнее, чем упала цена</a:t>
            </a:r>
          </a:p>
        </p:txBody>
      </p:sp>
      <p:sp>
        <p:nvSpPr>
          <p:cNvPr id="16" name="Rounded Rectangle 15"/>
          <p:cNvSpPr/>
          <p:nvPr/>
        </p:nvSpPr>
        <p:spPr>
          <a:xfrm>
            <a:off x="502920" y="351977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5693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АДРЕСА ПЛАТЕЖА ЭТОГО РАЗДЕЛА</a:t>
            </a:r>
          </a:p>
        </p:txBody>
      </p:sp>
      <p:sp>
        <p:nvSpPr>
          <p:cNvPr id="18" name="TextBox 17"/>
          <p:cNvSpPr txBox="1"/>
          <p:nvPr/>
        </p:nvSpPr>
        <p:spPr>
          <a:xfrm>
            <a:off x="640080" y="391012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отбор · права · узнавание</a:t>
            </a:r>
          </a:p>
        </p:txBody>
      </p:sp>
      <p:sp>
        <p:nvSpPr>
          <p:cNvPr id="19" name="TextBox 18"/>
          <p:cNvSpPr txBox="1"/>
          <p:nvPr/>
        </p:nvSpPr>
        <p:spPr>
          <a:xfrm>
            <a:off x="640080" y="433712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раздел платит по первым двум развёрнуто; узнавание — упоминанием, всплывёт в разделе про голос</a:t>
            </a:r>
          </a:p>
        </p:txBody>
      </p:sp>
      <p:sp>
        <p:nvSpPr>
          <p:cNvPr id="20" name="Rounded Rectangle 19"/>
          <p:cNvSpPr/>
          <p:nvPr/>
        </p:nvSpPr>
        <p:spPr>
          <a:xfrm>
            <a:off x="374904" y="4776968"/>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868408"/>
            <a:ext cx="11112703" cy="13677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одно: утвердить облик до того, как потрачены большие деньги.</a:t>
            </a:r>
            <a:r>
              <a:rPr sz="1500" b="0" i="0">
                <a:solidFill>
                  <a:srgbClr val="21295C"/>
                </a:solidFill>
                <a:latin typeface="Arial"/>
              </a:rPr>
              <a:t> До 2022 года классика шла по четырём ступеням, и везде дешевело исполнение уже принятого решения, а не момент выбора.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За что в этом разделе платят: отбор, права, узнавание.</a:t>
            </a:r>
          </a:p>
        </p:txBody>
      </p:sp>
      <p:sp>
        <p:nvSpPr>
          <p:cNvPr id="22" name="Rectangle 2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выборка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 iStock 2000, Shutterstock 2003</a:t>
            </a:r>
            <a:r>
              <a:rPr sz="1200" b="0" i="1">
                <a:solidFill>
                  <a:srgbClr val="1C7293"/>
                </a:solidFill>
                <a:latin typeface="Arial"/>
              </a:rPr>
              <a:t> · </a:t>
            </a: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ectangle 3"/>
          <p:cNvSpPr/>
          <p:nvPr/>
        </p:nvSpPr>
        <p:spPr>
          <a:xfrm>
            <a:off x="1851079" y="1385316"/>
            <a:ext cx="237744" cy="118872"/>
          </a:xfrm>
          <a:prstGeom prst="rect">
            <a:avLst/>
          </a:prstGeom>
          <a:solidFill>
            <a:srgbClr val="21295C"/>
          </a:solidFill>
          <a:ln>
            <a:noFill/>
          </a:ln>
          <a:effectLst/>
        </p:spPr>
        <p:txBody>
          <a:bodyPr rtlCol="0" anchor="ctr"/>
          <a:lstStyle/>
          <a:p>
            <a:pPr algn="ctr"/>
          </a:p>
        </p:txBody>
      </p:sp>
      <p:sp>
        <p:nvSpPr>
          <p:cNvPr id="5" name="TextBox 4"/>
          <p:cNvSpPr txBox="1"/>
          <p:nvPr/>
        </p:nvSpPr>
        <p:spPr>
          <a:xfrm>
            <a:off x="2161975" y="1335024"/>
            <a:ext cx="1681543" cy="219456"/>
          </a:xfrm>
          <a:prstGeom prst="rect">
            <a:avLst/>
          </a:prstGeom>
          <a:noFill/>
        </p:spPr>
        <p:txBody>
          <a:bodyPr wrap="square" lIns="0" rIns="0" tIns="0" bIns="0" anchor="ctr">
            <a:spAutoFit/>
          </a:bodyPr>
          <a:lstStyle/>
          <a:p>
            <a:pPr algn="l">
              <a:lnSpc>
                <a:spcPct val="100000"/>
              </a:lnSpc>
            </a:pPr>
            <a:r>
              <a:rPr sz="1200" b="1" i="0">
                <a:solidFill>
                  <a:srgbClr val="21295C"/>
                </a:solidFill>
                <a:latin typeface="Arial"/>
              </a:rPr>
              <a:t>Классический режим</a:t>
            </a:r>
          </a:p>
        </p:txBody>
      </p:sp>
      <p:sp>
        <p:nvSpPr>
          <p:cNvPr id="6" name="Rectangle 5"/>
          <p:cNvSpPr/>
          <p:nvPr/>
        </p:nvSpPr>
        <p:spPr>
          <a:xfrm>
            <a:off x="4154415" y="1385316"/>
            <a:ext cx="237744" cy="118872"/>
          </a:xfrm>
          <a:prstGeom prst="rect">
            <a:avLst/>
          </a:prstGeom>
          <a:solidFill>
            <a:srgbClr val="028090"/>
          </a:solidFill>
          <a:ln>
            <a:noFill/>
          </a:ln>
          <a:effectLst/>
        </p:spPr>
        <p:txBody>
          <a:bodyPr rtlCol="0" anchor="ctr"/>
          <a:lstStyle/>
          <a:p>
            <a:pPr algn="ctr"/>
          </a:p>
        </p:txBody>
      </p:sp>
      <p:sp>
        <p:nvSpPr>
          <p:cNvPr id="7" name="TextBox 6"/>
          <p:cNvSpPr txBox="1"/>
          <p:nvPr/>
        </p:nvSpPr>
        <p:spPr>
          <a:xfrm>
            <a:off x="4465311" y="1335024"/>
            <a:ext cx="885825" cy="219456"/>
          </a:xfrm>
          <a:prstGeom prst="rect">
            <a:avLst/>
          </a:prstGeom>
          <a:noFill/>
        </p:spPr>
        <p:txBody>
          <a:bodyPr wrap="square" lIns="0" rIns="0" tIns="0" bIns="0" anchor="ctr">
            <a:spAutoFit/>
          </a:bodyPr>
          <a:lstStyle/>
          <a:p>
            <a:pPr algn="l">
              <a:lnSpc>
                <a:spcPct val="100000"/>
              </a:lnSpc>
            </a:pPr>
            <a:r>
              <a:rPr sz="1200" b="1" i="0">
                <a:solidFill>
                  <a:srgbClr val="028090"/>
                </a:solidFill>
                <a:latin typeface="Arial"/>
              </a:rPr>
              <a:t>Генерация</a:t>
            </a:r>
          </a:p>
        </p:txBody>
      </p:sp>
      <p:sp>
        <p:nvSpPr>
          <p:cNvPr id="8" name="Rectangle 7"/>
          <p:cNvSpPr/>
          <p:nvPr/>
        </p:nvSpPr>
        <p:spPr>
          <a:xfrm>
            <a:off x="1846507" y="1664207"/>
            <a:ext cx="9144" cy="2414016"/>
          </a:xfrm>
          <a:prstGeom prst="rect">
            <a:avLst/>
          </a:prstGeom>
          <a:solidFill>
            <a:srgbClr val="D9E2EC"/>
          </a:solidFill>
          <a:ln>
            <a:noFill/>
          </a:ln>
          <a:effectLst/>
        </p:spPr>
        <p:txBody>
          <a:bodyPr rtlCol="0" anchor="ctr"/>
          <a:lstStyle/>
          <a:p>
            <a:pPr algn="ctr"/>
          </a:p>
        </p:txBody>
      </p:sp>
      <p:sp>
        <p:nvSpPr>
          <p:cNvPr id="9" name="Rectangle 8"/>
          <p:cNvSpPr/>
          <p:nvPr/>
        </p:nvSpPr>
        <p:spPr>
          <a:xfrm>
            <a:off x="2339789" y="1664207"/>
            <a:ext cx="9144" cy="2414016"/>
          </a:xfrm>
          <a:prstGeom prst="rect">
            <a:avLst/>
          </a:prstGeom>
          <a:solidFill>
            <a:srgbClr val="D9E2EC"/>
          </a:solidFill>
          <a:ln>
            <a:noFill/>
          </a:ln>
          <a:effectLst/>
        </p:spPr>
        <p:txBody>
          <a:bodyPr rtlCol="0" anchor="ctr"/>
          <a:lstStyle/>
          <a:p>
            <a:pPr algn="ctr"/>
          </a:p>
        </p:txBody>
      </p:sp>
      <p:sp>
        <p:nvSpPr>
          <p:cNvPr id="10" name="Rectangle 9"/>
          <p:cNvSpPr/>
          <p:nvPr/>
        </p:nvSpPr>
        <p:spPr>
          <a:xfrm>
            <a:off x="2833070" y="1664207"/>
            <a:ext cx="9144" cy="2414016"/>
          </a:xfrm>
          <a:prstGeom prst="rect">
            <a:avLst/>
          </a:prstGeom>
          <a:solidFill>
            <a:srgbClr val="D9E2EC"/>
          </a:solidFill>
          <a:ln>
            <a:noFill/>
          </a:ln>
          <a:effectLst/>
        </p:spPr>
        <p:txBody>
          <a:bodyPr rtlCol="0" anchor="ctr"/>
          <a:lstStyle/>
          <a:p>
            <a:pPr algn="ctr"/>
          </a:p>
        </p:txBody>
      </p:sp>
      <p:sp>
        <p:nvSpPr>
          <p:cNvPr id="11" name="Rectangle 10"/>
          <p:cNvSpPr/>
          <p:nvPr/>
        </p:nvSpPr>
        <p:spPr>
          <a:xfrm>
            <a:off x="3326351" y="1664207"/>
            <a:ext cx="9144" cy="2414016"/>
          </a:xfrm>
          <a:prstGeom prst="rect">
            <a:avLst/>
          </a:prstGeom>
          <a:solidFill>
            <a:srgbClr val="D9E2EC"/>
          </a:solidFill>
          <a:ln>
            <a:noFill/>
          </a:ln>
          <a:effectLst/>
        </p:spPr>
        <p:txBody>
          <a:bodyPr rtlCol="0" anchor="ctr"/>
          <a:lstStyle/>
          <a:p>
            <a:pPr algn="ctr"/>
          </a:p>
        </p:txBody>
      </p:sp>
      <p:sp>
        <p:nvSpPr>
          <p:cNvPr id="12" name="Rectangle 11"/>
          <p:cNvSpPr/>
          <p:nvPr/>
        </p:nvSpPr>
        <p:spPr>
          <a:xfrm>
            <a:off x="3819633" y="1664207"/>
            <a:ext cx="9144" cy="2414016"/>
          </a:xfrm>
          <a:prstGeom prst="rect">
            <a:avLst/>
          </a:prstGeom>
          <a:solidFill>
            <a:srgbClr val="D9E2EC"/>
          </a:solidFill>
          <a:ln>
            <a:noFill/>
          </a:ln>
          <a:effectLst/>
        </p:spPr>
        <p:txBody>
          <a:bodyPr rtlCol="0" anchor="ctr"/>
          <a:lstStyle/>
          <a:p>
            <a:pPr algn="ctr"/>
          </a:p>
        </p:txBody>
      </p:sp>
      <p:sp>
        <p:nvSpPr>
          <p:cNvPr id="13" name="Rectangle 12"/>
          <p:cNvSpPr/>
          <p:nvPr/>
        </p:nvSpPr>
        <p:spPr>
          <a:xfrm>
            <a:off x="4312914" y="1664207"/>
            <a:ext cx="9144" cy="2414016"/>
          </a:xfrm>
          <a:prstGeom prst="rect">
            <a:avLst/>
          </a:prstGeom>
          <a:solidFill>
            <a:srgbClr val="D9E2EC"/>
          </a:solidFill>
          <a:ln>
            <a:noFill/>
          </a:ln>
          <a:effectLst/>
        </p:spPr>
        <p:txBody>
          <a:bodyPr rtlCol="0" anchor="ctr"/>
          <a:lstStyle/>
          <a:p>
            <a:pPr algn="ctr"/>
          </a:p>
        </p:txBody>
      </p:sp>
      <p:sp>
        <p:nvSpPr>
          <p:cNvPr id="14" name="TextBox 13"/>
          <p:cNvSpPr txBox="1"/>
          <p:nvPr/>
        </p:nvSpPr>
        <p:spPr>
          <a:xfrm>
            <a:off x="502920" y="1851536"/>
            <a:ext cx="1220143" cy="228847"/>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У исполнителя</a:t>
            </a:r>
          </a:p>
        </p:txBody>
      </p:sp>
      <p:sp>
        <p:nvSpPr>
          <p:cNvPr id="15" name="Rectangle 14"/>
          <p:cNvSpPr/>
          <p:nvPr/>
        </p:nvSpPr>
        <p:spPr>
          <a:xfrm>
            <a:off x="1851079" y="1664207"/>
            <a:ext cx="1973125" cy="256032"/>
          </a:xfrm>
          <a:prstGeom prst="rect">
            <a:avLst/>
          </a:prstGeom>
          <a:solidFill>
            <a:srgbClr val="21295C"/>
          </a:solidFill>
          <a:ln>
            <a:noFill/>
          </a:ln>
          <a:effectLst/>
        </p:spPr>
        <p:txBody>
          <a:bodyPr rtlCol="0" anchor="ctr"/>
          <a:lstStyle/>
          <a:p>
            <a:pPr algn="ctr"/>
          </a:p>
        </p:txBody>
      </p:sp>
      <p:sp>
        <p:nvSpPr>
          <p:cNvPr id="16" name="TextBox 15"/>
          <p:cNvSpPr txBox="1"/>
          <p:nvPr/>
        </p:nvSpPr>
        <p:spPr>
          <a:xfrm>
            <a:off x="3915645" y="1664207"/>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$50–150</a:t>
            </a:r>
          </a:p>
        </p:txBody>
      </p:sp>
      <p:sp>
        <p:nvSpPr>
          <p:cNvPr id="17" name="Rectangle 16"/>
          <p:cNvSpPr/>
          <p:nvPr/>
        </p:nvSpPr>
        <p:spPr>
          <a:xfrm>
            <a:off x="1851079" y="2011679"/>
            <a:ext cx="307437" cy="256032"/>
          </a:xfrm>
          <a:prstGeom prst="rect">
            <a:avLst/>
          </a:prstGeom>
          <a:solidFill>
            <a:srgbClr val="028090"/>
          </a:solidFill>
          <a:ln>
            <a:noFill/>
          </a:ln>
          <a:effectLst/>
        </p:spPr>
        <p:txBody>
          <a:bodyPr rtlCol="0" anchor="ctr"/>
          <a:lstStyle/>
          <a:p>
            <a:pPr algn="ctr"/>
          </a:p>
        </p:txBody>
      </p:sp>
      <p:sp>
        <p:nvSpPr>
          <p:cNvPr id="18" name="TextBox 17"/>
          <p:cNvSpPr txBox="1"/>
          <p:nvPr/>
        </p:nvSpPr>
        <p:spPr>
          <a:xfrm>
            <a:off x="2249956" y="2011679"/>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$0,034–0,05</a:t>
            </a:r>
          </a:p>
        </p:txBody>
      </p:sp>
      <p:sp>
        <p:nvSpPr>
          <p:cNvPr id="19" name="Rounded Rectangle 18"/>
          <p:cNvSpPr/>
          <p:nvPr/>
        </p:nvSpPr>
        <p:spPr>
          <a:xfrm>
            <a:off x="5617159" y="1682495"/>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200" b="1">
                <a:solidFill>
                  <a:srgbClr val="21295C"/>
                </a:solidFill>
                <a:latin typeface="Arial"/>
              </a:rPr>
              <a:t>×1 000–4 500</a:t>
            </a:r>
          </a:p>
        </p:txBody>
      </p:sp>
      <p:sp>
        <p:nvSpPr>
          <p:cNvPr id="20" name="TextBox 19"/>
          <p:cNvSpPr txBox="1"/>
          <p:nvPr/>
        </p:nvSpPr>
        <p:spPr>
          <a:xfrm>
            <a:off x="502920" y="2692784"/>
            <a:ext cx="1220143" cy="228847"/>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Сток, розница</a:t>
            </a:r>
          </a:p>
        </p:txBody>
      </p:sp>
      <p:sp>
        <p:nvSpPr>
          <p:cNvPr id="21" name="Rectangle 20"/>
          <p:cNvSpPr/>
          <p:nvPr/>
        </p:nvSpPr>
        <p:spPr>
          <a:xfrm>
            <a:off x="1851079" y="2505456"/>
            <a:ext cx="2208480" cy="256032"/>
          </a:xfrm>
          <a:prstGeom prst="rect">
            <a:avLst/>
          </a:prstGeom>
          <a:solidFill>
            <a:srgbClr val="21295C"/>
          </a:solidFill>
          <a:ln>
            <a:noFill/>
          </a:ln>
          <a:effectLst/>
        </p:spPr>
        <p:txBody>
          <a:bodyPr rtlCol="0" anchor="ctr"/>
          <a:lstStyle/>
          <a:p>
            <a:pPr algn="ctr"/>
          </a:p>
        </p:txBody>
      </p:sp>
      <p:sp>
        <p:nvSpPr>
          <p:cNvPr id="22" name="TextBox 21"/>
          <p:cNvSpPr txBox="1"/>
          <p:nvPr/>
        </p:nvSpPr>
        <p:spPr>
          <a:xfrm>
            <a:off x="4151000" y="2505456"/>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$130–499</a:t>
            </a:r>
          </a:p>
        </p:txBody>
      </p:sp>
      <p:sp>
        <p:nvSpPr>
          <p:cNvPr id="23" name="Rectangle 22"/>
          <p:cNvSpPr/>
          <p:nvPr/>
        </p:nvSpPr>
        <p:spPr>
          <a:xfrm>
            <a:off x="1851079" y="2852927"/>
            <a:ext cx="307437" cy="256032"/>
          </a:xfrm>
          <a:prstGeom prst="rect">
            <a:avLst/>
          </a:prstGeom>
          <a:solidFill>
            <a:srgbClr val="028090"/>
          </a:solidFill>
          <a:ln>
            <a:noFill/>
          </a:ln>
          <a:effectLst/>
        </p:spPr>
        <p:txBody>
          <a:bodyPr rtlCol="0" anchor="ctr"/>
          <a:lstStyle/>
          <a:p>
            <a:pPr algn="ctr"/>
          </a:p>
        </p:txBody>
      </p:sp>
      <p:sp>
        <p:nvSpPr>
          <p:cNvPr id="24" name="TextBox 23"/>
          <p:cNvSpPr txBox="1"/>
          <p:nvPr/>
        </p:nvSpPr>
        <p:spPr>
          <a:xfrm>
            <a:off x="2249956" y="2852927"/>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$0,034–0,05</a:t>
            </a:r>
          </a:p>
        </p:txBody>
      </p:sp>
      <p:sp>
        <p:nvSpPr>
          <p:cNvPr id="25" name="Rounded Rectangle 24"/>
          <p:cNvSpPr/>
          <p:nvPr/>
        </p:nvSpPr>
        <p:spPr>
          <a:xfrm>
            <a:off x="5617159" y="2523744"/>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200" b="1">
                <a:solidFill>
                  <a:srgbClr val="21295C"/>
                </a:solidFill>
                <a:latin typeface="Arial"/>
              </a:rPr>
              <a:t>×14 700</a:t>
            </a:r>
          </a:p>
        </p:txBody>
      </p:sp>
      <p:sp>
        <p:nvSpPr>
          <p:cNvPr id="26" name="TextBox 25"/>
          <p:cNvSpPr txBox="1"/>
          <p:nvPr/>
        </p:nvSpPr>
        <p:spPr>
          <a:xfrm>
            <a:off x="502920" y="3534032"/>
            <a:ext cx="1220143" cy="228847"/>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Сток, опт</a:t>
            </a:r>
          </a:p>
        </p:txBody>
      </p:sp>
      <p:sp>
        <p:nvSpPr>
          <p:cNvPr id="27" name="Rectangle 26"/>
          <p:cNvSpPr/>
          <p:nvPr/>
        </p:nvSpPr>
        <p:spPr>
          <a:xfrm>
            <a:off x="1851079" y="3346703"/>
            <a:ext cx="1182859" cy="256032"/>
          </a:xfrm>
          <a:prstGeom prst="rect">
            <a:avLst/>
          </a:prstGeom>
          <a:solidFill>
            <a:srgbClr val="21295C"/>
          </a:solidFill>
          <a:ln>
            <a:noFill/>
          </a:ln>
          <a:effectLst/>
        </p:spPr>
        <p:txBody>
          <a:bodyPr rtlCol="0" anchor="ctr"/>
          <a:lstStyle/>
          <a:p>
            <a:pPr algn="ctr"/>
          </a:p>
        </p:txBody>
      </p:sp>
      <p:sp>
        <p:nvSpPr>
          <p:cNvPr id="28" name="TextBox 27"/>
          <p:cNvSpPr txBox="1"/>
          <p:nvPr/>
        </p:nvSpPr>
        <p:spPr>
          <a:xfrm>
            <a:off x="3125378" y="3346703"/>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≈$2,50</a:t>
            </a:r>
          </a:p>
        </p:txBody>
      </p:sp>
      <p:sp>
        <p:nvSpPr>
          <p:cNvPr id="29" name="Rectangle 28"/>
          <p:cNvSpPr/>
          <p:nvPr/>
        </p:nvSpPr>
        <p:spPr>
          <a:xfrm>
            <a:off x="1851079" y="3694176"/>
            <a:ext cx="307437" cy="256032"/>
          </a:xfrm>
          <a:prstGeom prst="rect">
            <a:avLst/>
          </a:prstGeom>
          <a:solidFill>
            <a:srgbClr val="028090"/>
          </a:solidFill>
          <a:ln>
            <a:noFill/>
          </a:ln>
          <a:effectLst/>
        </p:spPr>
        <p:txBody>
          <a:bodyPr rtlCol="0" anchor="ctr"/>
          <a:lstStyle/>
          <a:p>
            <a:pPr algn="ctr"/>
          </a:p>
        </p:txBody>
      </p:sp>
      <p:sp>
        <p:nvSpPr>
          <p:cNvPr id="30" name="TextBox 29"/>
          <p:cNvSpPr txBox="1"/>
          <p:nvPr/>
        </p:nvSpPr>
        <p:spPr>
          <a:xfrm>
            <a:off x="2249956" y="3694176"/>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$0,034–0,05</a:t>
            </a:r>
          </a:p>
        </p:txBody>
      </p:sp>
      <p:sp>
        <p:nvSpPr>
          <p:cNvPr id="31" name="Rounded Rectangle 30"/>
          <p:cNvSpPr/>
          <p:nvPr/>
        </p:nvSpPr>
        <p:spPr>
          <a:xfrm>
            <a:off x="5617159" y="3364991"/>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200" b="1">
                <a:solidFill>
                  <a:srgbClr val="21295C"/>
                </a:solidFill>
                <a:latin typeface="Arial"/>
              </a:rPr>
              <a:t>×73</a:t>
            </a:r>
          </a:p>
        </p:txBody>
      </p:sp>
      <p:sp>
        <p:nvSpPr>
          <p:cNvPr id="32" name="Rectangle 31"/>
          <p:cNvSpPr/>
          <p:nvPr/>
        </p:nvSpPr>
        <p:spPr>
          <a:xfrm>
            <a:off x="1851079" y="4078223"/>
            <a:ext cx="2466407" cy="41148"/>
          </a:xfrm>
          <a:prstGeom prst="rect">
            <a:avLst/>
          </a:prstGeom>
          <a:solidFill>
            <a:srgbClr val="1C7293"/>
          </a:solidFill>
          <a:ln>
            <a:noFill/>
          </a:ln>
          <a:effectLst/>
        </p:spPr>
        <p:txBody>
          <a:bodyPr rtlCol="0" anchor="ctr"/>
          <a:lstStyle/>
          <a:p>
            <a:pPr algn="ctr"/>
          </a:p>
        </p:txBody>
      </p:sp>
      <p:sp>
        <p:nvSpPr>
          <p:cNvPr id="33" name="Rectangle 32"/>
          <p:cNvSpPr/>
          <p:nvPr/>
        </p:nvSpPr>
        <p:spPr>
          <a:xfrm>
            <a:off x="1830505" y="4119371"/>
            <a:ext cx="41148" cy="128016"/>
          </a:xfrm>
          <a:prstGeom prst="rect">
            <a:avLst/>
          </a:prstGeom>
          <a:solidFill>
            <a:srgbClr val="1C7293"/>
          </a:solidFill>
          <a:ln>
            <a:noFill/>
          </a:ln>
          <a:effectLst/>
        </p:spPr>
        <p:txBody>
          <a:bodyPr rtlCol="0" anchor="ctr"/>
          <a:lstStyle/>
          <a:p>
            <a:pPr algn="ctr"/>
          </a:p>
        </p:txBody>
      </p:sp>
      <p:sp>
        <p:nvSpPr>
          <p:cNvPr id="34" name="TextBox 33"/>
          <p:cNvSpPr txBox="1"/>
          <p:nvPr/>
        </p:nvSpPr>
        <p:spPr>
          <a:xfrm>
            <a:off x="1302439" y="4265675"/>
            <a:ext cx="1097280" cy="210312"/>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0,01</a:t>
            </a:r>
          </a:p>
        </p:txBody>
      </p:sp>
      <p:sp>
        <p:nvSpPr>
          <p:cNvPr id="35" name="Rectangle 34"/>
          <p:cNvSpPr/>
          <p:nvPr/>
        </p:nvSpPr>
        <p:spPr>
          <a:xfrm>
            <a:off x="2323787" y="4119371"/>
            <a:ext cx="41148" cy="128016"/>
          </a:xfrm>
          <a:prstGeom prst="rect">
            <a:avLst/>
          </a:prstGeom>
          <a:solidFill>
            <a:srgbClr val="1C7293"/>
          </a:solidFill>
          <a:ln>
            <a:noFill/>
          </a:ln>
          <a:effectLst/>
        </p:spPr>
        <p:txBody>
          <a:bodyPr rtlCol="0" anchor="ctr"/>
          <a:lstStyle/>
          <a:p>
            <a:pPr algn="ctr"/>
          </a:p>
        </p:txBody>
      </p:sp>
      <p:sp>
        <p:nvSpPr>
          <p:cNvPr id="36" name="Rectangle 35"/>
          <p:cNvSpPr/>
          <p:nvPr/>
        </p:nvSpPr>
        <p:spPr>
          <a:xfrm>
            <a:off x="2817068" y="4119371"/>
            <a:ext cx="41148" cy="128016"/>
          </a:xfrm>
          <a:prstGeom prst="rect">
            <a:avLst/>
          </a:prstGeom>
          <a:solidFill>
            <a:srgbClr val="1C7293"/>
          </a:solidFill>
          <a:ln>
            <a:noFill/>
          </a:ln>
          <a:effectLst/>
        </p:spPr>
        <p:txBody>
          <a:bodyPr rtlCol="0" anchor="ctr"/>
          <a:lstStyle/>
          <a:p>
            <a:pPr algn="ctr"/>
          </a:p>
        </p:txBody>
      </p:sp>
      <p:sp>
        <p:nvSpPr>
          <p:cNvPr id="37" name="TextBox 36"/>
          <p:cNvSpPr txBox="1"/>
          <p:nvPr/>
        </p:nvSpPr>
        <p:spPr>
          <a:xfrm>
            <a:off x="2289002" y="4265675"/>
            <a:ext cx="1097280" cy="210312"/>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a:t>
            </a:r>
          </a:p>
        </p:txBody>
      </p:sp>
      <p:sp>
        <p:nvSpPr>
          <p:cNvPr id="38" name="Rectangle 37"/>
          <p:cNvSpPr/>
          <p:nvPr/>
        </p:nvSpPr>
        <p:spPr>
          <a:xfrm>
            <a:off x="3310349" y="4119371"/>
            <a:ext cx="41148" cy="128016"/>
          </a:xfrm>
          <a:prstGeom prst="rect">
            <a:avLst/>
          </a:prstGeom>
          <a:solidFill>
            <a:srgbClr val="1C7293"/>
          </a:solidFill>
          <a:ln>
            <a:noFill/>
          </a:ln>
          <a:effectLst/>
        </p:spPr>
        <p:txBody>
          <a:bodyPr rtlCol="0" anchor="ctr"/>
          <a:lstStyle/>
          <a:p>
            <a:pPr algn="ctr"/>
          </a:p>
        </p:txBody>
      </p:sp>
      <p:sp>
        <p:nvSpPr>
          <p:cNvPr id="39" name="Rectangle 38"/>
          <p:cNvSpPr/>
          <p:nvPr/>
        </p:nvSpPr>
        <p:spPr>
          <a:xfrm>
            <a:off x="3803631" y="4119371"/>
            <a:ext cx="41148" cy="128016"/>
          </a:xfrm>
          <a:prstGeom prst="rect">
            <a:avLst/>
          </a:prstGeom>
          <a:solidFill>
            <a:srgbClr val="1C7293"/>
          </a:solidFill>
          <a:ln>
            <a:noFill/>
          </a:ln>
          <a:effectLst/>
        </p:spPr>
        <p:txBody>
          <a:bodyPr rtlCol="0" anchor="ctr"/>
          <a:lstStyle/>
          <a:p>
            <a:pPr algn="ctr"/>
          </a:p>
        </p:txBody>
      </p:sp>
      <p:sp>
        <p:nvSpPr>
          <p:cNvPr id="40" name="TextBox 39"/>
          <p:cNvSpPr txBox="1"/>
          <p:nvPr/>
        </p:nvSpPr>
        <p:spPr>
          <a:xfrm>
            <a:off x="3275565" y="4265675"/>
            <a:ext cx="1097280" cy="210312"/>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41" name="Rectangle 40"/>
          <p:cNvSpPr/>
          <p:nvPr/>
        </p:nvSpPr>
        <p:spPr>
          <a:xfrm>
            <a:off x="4296912" y="4119371"/>
            <a:ext cx="41148" cy="128016"/>
          </a:xfrm>
          <a:prstGeom prst="rect">
            <a:avLst/>
          </a:prstGeom>
          <a:solidFill>
            <a:srgbClr val="1C7293"/>
          </a:solidFill>
          <a:ln>
            <a:noFill/>
          </a:ln>
          <a:effectLst/>
        </p:spPr>
        <p:txBody>
          <a:bodyPr rtlCol="0" anchor="ctr"/>
          <a:lstStyle/>
          <a:p>
            <a:pPr algn="ctr"/>
          </a:p>
        </p:txBody>
      </p:sp>
      <p:sp>
        <p:nvSpPr>
          <p:cNvPr id="42" name="TextBox 41"/>
          <p:cNvSpPr txBox="1"/>
          <p:nvPr/>
        </p:nvSpPr>
        <p:spPr>
          <a:xfrm>
            <a:off x="1851079" y="4549139"/>
            <a:ext cx="2466407"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доллары за одно изображение · шкала логарифмическая</a:t>
            </a:r>
          </a:p>
        </p:txBody>
      </p:sp>
      <p:sp>
        <p:nvSpPr>
          <p:cNvPr id="43" name="Rounded Rectangle 42"/>
          <p:cNvSpPr/>
          <p:nvPr/>
        </p:nvSpPr>
        <p:spPr>
          <a:xfrm>
            <a:off x="374904" y="5055522"/>
            <a:ext cx="11441887" cy="118068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146962"/>
            <a:ext cx="11112703" cy="1089245"/>
          </a:xfrm>
          <a:prstGeom prst="rect">
            <a:avLst/>
          </a:prstGeom>
          <a:noFill/>
        </p:spPr>
        <p:txBody>
          <a:bodyPr wrap="square" lIns="0" rIns="0" tIns="0" bIns="0" anchor="t">
            <a:spAutoFit/>
          </a:bodyPr>
          <a:lstStyle/>
          <a:p>
            <a:pPr algn="l">
              <a:lnSpc>
                <a:spcPct val="126000"/>
              </a:lnSpc>
            </a:pPr>
            <a:r>
              <a:rPr sz="950" b="0" i="1">
                <a:solidFill>
                  <a:srgbClr val="1C7293"/>
                </a:solidFill>
                <a:latin typeface="Arial"/>
              </a:rPr>
              <a:t>Адрес платежа: ОТБОР.</a:t>
            </a:r>
          </a:p>
          <a:p>
            <a:pPr algn="l">
              <a:lnSpc>
                <a:spcPct val="126000"/>
              </a:lnSpc>
              <a:spcBef>
                <a:spcPts val="700"/>
              </a:spcBef>
            </a:pPr>
            <a:r>
              <a:rPr sz="1200" b="0" i="0">
                <a:solidFill>
                  <a:srgbClr val="21295C"/>
                </a:solidFill>
                <a:latin typeface="Arial"/>
              </a:rPr>
              <a:t/>
            </a:r>
            <a:r>
              <a:rPr sz="1200" b="1" i="0">
                <a:solidFill>
                  <a:srgbClr val="21295C"/>
                </a:solidFill>
                <a:latin typeface="Arial"/>
              </a:rPr>
              <a:t>Цена обеих ошибок.</a:t>
            </a:r>
            <a:r>
              <a:rPr sz="1200" b="0" i="0">
                <a:solidFill>
                  <a:srgbClr val="21295C"/>
                </a:solidFill>
                <a:latin typeface="Arial"/>
              </a:rPr>
              <a:t> «Заказали и не подошло» — $50–150 и 1–3 дня, в России от 3 860 ₽. «Не стали пробовать вариант, который сработал бы» — по мировому рынку числом не названа ни разу.</a:t>
            </a:r>
          </a:p>
          <a:p>
            <a:pPr algn="l">
              <a:lnSpc>
                <a:spcPct val="126000"/>
              </a:lnSpc>
              <a:spcBef>
                <a:spcPts val="700"/>
              </a:spcBef>
            </a:pPr>
            <a:r>
              <a:rPr sz="1200" b="0" i="0">
                <a:solidFill>
                  <a:srgbClr val="21295C"/>
                </a:solidFill>
                <a:latin typeface="Arial"/>
              </a:rPr>
              <a:t/>
            </a:r>
            <a:r>
              <a:rPr sz="1200" b="1" i="0">
                <a:solidFill>
                  <a:srgbClr val="21295C"/>
                </a:solidFill>
                <a:latin typeface="Arial"/>
              </a:rPr>
              <a:t>Вправо уехал отбор: единицей учёта становится то, что ушло заказчику, а не то, что сгенерировано.</a:t>
            </a:r>
          </a:p>
        </p:txBody>
      </p:sp>
      <p:sp>
        <p:nvSpPr>
          <p:cNvPr id="45" name="Rounded Rectangle 44"/>
          <p:cNvSpPr/>
          <p:nvPr/>
        </p:nvSpPr>
        <p:spPr>
          <a:xfrm>
            <a:off x="7756855" y="1335024"/>
            <a:ext cx="3931920" cy="2331720"/>
          </a:xfrm>
          <a:prstGeom prst="roundRect">
            <a:avLst>
              <a:gd name="adj" fmla="val 13071"/>
            </a:avLst>
          </a:prstGeom>
          <a:solidFill>
            <a:srgbClr val="F4F7FA"/>
          </a:solidFill>
          <a:ln w="19050">
            <a:solidFill>
              <a:srgbClr val="1C7293"/>
            </a:solidFill>
          </a:ln>
          <a:effectLst/>
        </p:spPr>
        <p:txBody>
          <a:bodyPr rtlCol="0" anchor="ctr"/>
          <a:lstStyle/>
          <a:p>
            <a:pPr algn="ctr"/>
          </a:p>
        </p:txBody>
      </p:sp>
      <p:pic>
        <p:nvPicPr>
          <p:cNvPr id="46" name="Picture 45" descr="s12-toys-r-us-sora-kadr.jpg"/>
          <p:cNvPicPr>
            <a:picLocks noChangeAspect="1"/>
          </p:cNvPicPr>
          <p:nvPr/>
        </p:nvPicPr>
        <p:blipFill>
          <a:blip r:embed="rId2"/>
          <a:stretch>
            <a:fillRect/>
          </a:stretch>
        </p:blipFill>
        <p:spPr>
          <a:xfrm>
            <a:off x="7894015" y="1472184"/>
            <a:ext cx="3657600" cy="2057400"/>
          </a:xfrm>
          <a:prstGeom prst="rect">
            <a:avLst/>
          </a:prstGeom>
        </p:spPr>
      </p:pic>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2235098" cy="1867384"/>
          </a:xfrm>
          <a:prstGeom prst="roundRect">
            <a:avLst>
              <a:gd name="adj" fmla="val 1632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607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a:t>
            </a:r>
          </a:p>
        </p:txBody>
      </p:sp>
      <p:sp>
        <p:nvSpPr>
          <p:cNvPr id="6" name="TextBox 5"/>
          <p:cNvSpPr txBox="1"/>
          <p:nvPr/>
        </p:nvSpPr>
        <p:spPr>
          <a:xfrm>
            <a:off x="640080" y="1725375"/>
            <a:ext cx="1960778" cy="494898"/>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1,5 часа на одной RTX 3080 (16 ГБ, ноутбук)</a:t>
            </a:r>
          </a:p>
        </p:txBody>
      </p:sp>
      <p:sp>
        <p:nvSpPr>
          <p:cNvPr id="7" name="TextBox 6"/>
          <p:cNvSpPr txBox="1"/>
          <p:nvPr/>
        </p:nvSpPr>
        <p:spPr>
          <a:xfrm>
            <a:off x="640080" y="2220274"/>
            <a:ext cx="19607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для дообучения — 40 изображений поверх общедоступной базовой модели</a:t>
            </a:r>
          </a:p>
        </p:txBody>
      </p:sp>
      <p:sp>
        <p:nvSpPr>
          <p:cNvPr id="8" name="Rounded Rectangle 7"/>
          <p:cNvSpPr/>
          <p:nvPr/>
        </p:nvSpPr>
        <p:spPr>
          <a:xfrm>
            <a:off x="2902610" y="1335024"/>
            <a:ext cx="2235098" cy="1867384"/>
          </a:xfrm>
          <a:prstGeom prst="roundRect">
            <a:avLst>
              <a:gd name="adj" fmla="val 1632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039770" y="1472184"/>
            <a:ext cx="19607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a:t>
            </a:r>
          </a:p>
        </p:txBody>
      </p:sp>
      <p:sp>
        <p:nvSpPr>
          <p:cNvPr id="10" name="TextBox 9"/>
          <p:cNvSpPr txBox="1"/>
          <p:nvPr/>
        </p:nvSpPr>
        <p:spPr>
          <a:xfrm>
            <a:off x="3039770" y="1725375"/>
            <a:ext cx="196077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46 уникальных плакатов за февраль</a:t>
            </a:r>
          </a:p>
        </p:txBody>
      </p:sp>
      <p:sp>
        <p:nvSpPr>
          <p:cNvPr id="11" name="TextBox 10"/>
          <p:cNvSpPr txBox="1"/>
          <p:nvPr/>
        </p:nvSpPr>
        <p:spPr>
          <a:xfrm>
            <a:off x="3039770" y="2237249"/>
            <a:ext cx="196077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этого — 23 визуализации для первого запущенного курса</a:t>
            </a:r>
          </a:p>
        </p:txBody>
      </p:sp>
      <p:sp>
        <p:nvSpPr>
          <p:cNvPr id="12" name="Rounded Rectangle 11"/>
          <p:cNvSpPr/>
          <p:nvPr/>
        </p:nvSpPr>
        <p:spPr>
          <a:xfrm>
            <a:off x="5302300" y="1335024"/>
            <a:ext cx="2235098" cy="1867384"/>
          </a:xfrm>
          <a:prstGeom prst="roundRect">
            <a:avLst>
              <a:gd name="adj" fmla="val 1632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439460" y="1472184"/>
            <a:ext cx="19607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a:t>
            </a:r>
          </a:p>
        </p:txBody>
      </p:sp>
      <p:sp>
        <p:nvSpPr>
          <p:cNvPr id="14" name="TextBox 13"/>
          <p:cNvSpPr txBox="1"/>
          <p:nvPr/>
        </p:nvSpPr>
        <p:spPr>
          <a:xfrm>
            <a:off x="5439460" y="1725375"/>
            <a:ext cx="196077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30–100 генераций и ≈полчаса на одну итоговую иллюстрацию</a:t>
            </a:r>
          </a:p>
        </p:txBody>
      </p:sp>
      <p:sp>
        <p:nvSpPr>
          <p:cNvPr id="15" name="TextBox 14"/>
          <p:cNvSpPr txBox="1"/>
          <p:nvPr/>
        </p:nvSpPr>
        <p:spPr>
          <a:xfrm>
            <a:off x="5439460" y="2373048"/>
            <a:ext cx="196077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перепробовано 12 разных моделей</a:t>
            </a:r>
          </a:p>
        </p:txBody>
      </p:sp>
      <p:sp>
        <p:nvSpPr>
          <p:cNvPr id="16" name="Rounded Rectangle 15"/>
          <p:cNvSpPr/>
          <p:nvPr/>
        </p:nvSpPr>
        <p:spPr>
          <a:xfrm>
            <a:off x="502920" y="3367000"/>
            <a:ext cx="3434943" cy="1979607"/>
          </a:xfrm>
          <a:prstGeom prst="roundRect">
            <a:avLst>
              <a:gd name="adj" fmla="val 1539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504160"/>
            <a:ext cx="31606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ПОПАДАНИЕ</a:t>
            </a:r>
          </a:p>
        </p:txBody>
      </p:sp>
      <p:sp>
        <p:nvSpPr>
          <p:cNvPr id="18" name="TextBox 17"/>
          <p:cNvSpPr txBox="1"/>
          <p:nvPr/>
        </p:nvSpPr>
        <p:spPr>
          <a:xfrm>
            <a:off x="640080" y="3757351"/>
            <a:ext cx="3160623" cy="1029608"/>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две трети баннеров нужной кликабельности не дали</a:t>
            </a:r>
          </a:p>
        </p:txBody>
      </p:sp>
      <p:sp>
        <p:nvSpPr>
          <p:cNvPr id="19" name="TextBox 18"/>
          <p:cNvSpPr txBox="1"/>
          <p:nvPr/>
        </p:nvSpPr>
        <p:spPr>
          <a:xfrm>
            <a:off x="640080" y="4786960"/>
            <a:ext cx="316062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лучший баннер — в 2–3 раза эффективнее среднего; конверсия держалась 25–30%</a:t>
            </a:r>
          </a:p>
        </p:txBody>
      </p:sp>
      <p:sp>
        <p:nvSpPr>
          <p:cNvPr id="20" name="Rounded Rectangle 19"/>
          <p:cNvSpPr/>
          <p:nvPr/>
        </p:nvSpPr>
        <p:spPr>
          <a:xfrm>
            <a:off x="4102455" y="3367000"/>
            <a:ext cx="3434943" cy="1979607"/>
          </a:xfrm>
          <a:prstGeom prst="roundRect">
            <a:avLst>
              <a:gd name="adj" fmla="val 1539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4239615" y="3504160"/>
            <a:ext cx="316062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СО СТОРОНЫ КЛАССИКИ</a:t>
            </a:r>
          </a:p>
        </p:txBody>
      </p:sp>
      <p:sp>
        <p:nvSpPr>
          <p:cNvPr id="22" name="TextBox 21"/>
          <p:cNvSpPr txBox="1"/>
          <p:nvPr/>
        </p:nvSpPr>
        <p:spPr>
          <a:xfrm>
            <a:off x="4239615" y="3757351"/>
            <a:ext cx="316062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4239615" y="4184350"/>
            <a:ext cx="316062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 «дизайнер под каждую задачу», — но ни стоимости, ни срока одного баннера у дизайнера до модели в публикации нет</a:t>
            </a:r>
          </a:p>
        </p:txBody>
      </p:sp>
      <p:sp>
        <p:nvSpPr>
          <p:cNvPr id="24" name="Rounded Rectangle 23"/>
          <p:cNvSpPr/>
          <p:nvPr/>
        </p:nvSpPr>
        <p:spPr>
          <a:xfrm>
            <a:off x="374904" y="5438047"/>
            <a:ext cx="11441887" cy="79816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529487"/>
            <a:ext cx="11112703" cy="706720"/>
          </a:xfrm>
          <a:prstGeom prst="rect">
            <a:avLst/>
          </a:prstGeom>
          <a:noFill/>
        </p:spPr>
        <p:txBody>
          <a:bodyPr wrap="square" lIns="0" rIns="0" tIns="0" bIns="0" anchor="t">
            <a:spAutoFit/>
          </a:bodyPr>
          <a:lstStyle/>
          <a:p>
            <a:pPr algn="l">
              <a:lnSpc>
                <a:spcPct val="126000"/>
              </a:lnSpc>
            </a:pPr>
            <a:r>
              <a:rPr sz="900" b="0" i="1">
                <a:solidFill>
                  <a:srgbClr val="1C7293"/>
                </a:solidFill>
                <a:latin typeface="Arial"/>
              </a:rPr>
              <a:t>Адрес платежа: ОТБОР.</a:t>
            </a:r>
          </a:p>
          <a:p>
            <a:pPr algn="l">
              <a:lnSpc>
                <a:spcPct val="126000"/>
              </a:lnSpc>
              <a:spcBef>
                <a:spcPts val="700"/>
              </a:spcBef>
            </a:pPr>
            <a:r>
              <a:rPr sz="1100" b="0" i="0">
                <a:solidFill>
                  <a:srgbClr val="21295C"/>
                </a:solidFill>
                <a:latin typeface="Arial"/>
              </a:rPr>
              <a:t/>
            </a:r>
            <a:r>
              <a:rPr sz="1100" b="1" i="0">
                <a:solidFill>
                  <a:srgbClr val="21295C"/>
                </a:solidFill>
                <a:latin typeface="Arial"/>
              </a:rPr>
              <a:t>Снято до разбора.</a:t>
            </a:r>
            <a:r>
              <a:rPr sz="1100" b="0" i="0">
                <a:solidFill>
                  <a:srgbClr val="21295C"/>
                </a:solidFill>
                <a:latin typeface="Arial"/>
              </a:rPr>
              <a:t> Отраслевой обзор утверждает, что редакция отказалась от стоков в пользу Kandinsky. В публикации нет ни того, ни другого: названы Midjourney и Stable Diffusion, и речь о баннерах.</a:t>
            </a:r>
          </a:p>
        </p:txBody>
      </p:sp>
      <p:sp>
        <p:nvSpPr>
          <p:cNvPr id="26" name="Rounded Rectangle 25"/>
          <p:cNvSpPr/>
          <p:nvPr/>
        </p:nvSpPr>
        <p:spPr>
          <a:xfrm>
            <a:off x="7848295" y="1335024"/>
            <a:ext cx="3840480" cy="2166366"/>
          </a:xfrm>
          <a:prstGeom prst="roundRect">
            <a:avLst>
              <a:gd name="adj" fmla="val 14069"/>
            </a:avLst>
          </a:prstGeom>
          <a:solidFill>
            <a:srgbClr val="F4F7FA"/>
          </a:solidFill>
          <a:ln w="19050">
            <a:solidFill>
              <a:srgbClr val="1C7293"/>
            </a:solidFill>
          </a:ln>
          <a:effectLst/>
        </p:spPr>
        <p:txBody>
          <a:bodyPr rtlCol="0" anchor="ctr"/>
          <a:lstStyle/>
          <a:p>
            <a:pPr algn="ctr"/>
          </a:p>
        </p:txBody>
      </p:sp>
      <p:pic>
        <p:nvPicPr>
          <p:cNvPr id="27" name="Picture 26" descr="s13-tj-oblozhka.png"/>
          <p:cNvPicPr>
            <a:picLocks noChangeAspect="1"/>
          </p:cNvPicPr>
          <p:nvPr/>
        </p:nvPicPr>
        <p:blipFill>
          <a:blip r:embed="rId2"/>
          <a:stretch>
            <a:fillRect/>
          </a:stretch>
        </p:blipFill>
        <p:spPr>
          <a:xfrm>
            <a:off x="7985455" y="1472184"/>
            <a:ext cx="3566160" cy="1892046"/>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3618890"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РАСЧЁТ ПЕРЕГОРОДКИ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альтернатива: критерий задан физикой, вкусового выбора в задаче нет</a:t>
            </a:r>
          </a:p>
        </p:txBody>
      </p:sp>
      <p:sp>
        <p:nvSpPr>
          <p:cNvPr id="8" name="Rounded Rectangle 7"/>
          <p:cNvSpPr/>
          <p:nvPr/>
        </p:nvSpPr>
        <p:spPr>
          <a:xfrm>
            <a:off x="4286402" y="1335024"/>
            <a:ext cx="3618890"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ГЕОМЕТРИЯ ПО МОДЕЛИ КЛЕТОЧНОГО РОСТА КОСТИ</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массы; напечатано из сплава Scalmalloy, крупнейшая на тот момент напечатанная деталь салона</a:t>
            </a:r>
          </a:p>
        </p:txBody>
      </p:sp>
      <p:sp>
        <p:nvSpPr>
          <p:cNvPr id="12" name="Rounded Rectangle 11"/>
          <p:cNvSpPr/>
          <p:nvPr/>
        </p:nvSpPr>
        <p:spPr>
          <a:xfrm>
            <a:off x="8069884" y="1335024"/>
            <a:ext cx="3618890"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В ТОЙ ЕДИНИЦЕ, В КОТОРОЙ ЕЁ СЧИТАЕТ ОТРАСЛЬ</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 465 000 тонн CO₂ в год</a:t>
            </a:r>
          </a:p>
        </p:txBody>
      </p:sp>
      <p:sp>
        <p:nvSpPr>
          <p:cNvPr id="15" name="TextBox 14"/>
          <p:cNvSpPr txBox="1"/>
          <p:nvPr/>
        </p:nvSpPr>
        <p:spPr>
          <a:xfrm>
            <a:off x="8207044" y="2750268"/>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Airbus при распространении подхода на портфель заказов A320: лишний килограмм в салоне — топливо на весь срок службы машины</a:t>
            </a:r>
          </a:p>
        </p:txBody>
      </p:sp>
      <p:sp>
        <p:nvSpPr>
          <p:cNvPr id="16" name="Rounded Rectangle 15"/>
          <p:cNvSpPr/>
          <p:nvPr/>
        </p:nvSpPr>
        <p:spPr>
          <a:xfrm>
            <a:off x="502920" y="389699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403415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УСЛОВИЕ ОТБОРА: УБЕРИТЕ МОДЕЛЬ МЫСЛЕННО</a:t>
            </a:r>
          </a:p>
        </p:txBody>
      </p:sp>
      <p:sp>
        <p:nvSpPr>
          <p:cNvPr id="18" name="TextBox 17"/>
          <p:cNvSpPr txBox="1"/>
          <p:nvPr/>
        </p:nvSpPr>
        <p:spPr>
          <a:xfrm>
            <a:off x="640080" y="4287346"/>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здесь не исчезает ничего — перебор, расчёт, печать остаются</a:t>
            </a:r>
          </a:p>
        </p:txBody>
      </p:sp>
      <p:sp>
        <p:nvSpPr>
          <p:cNvPr id="19" name="TextBox 18"/>
          <p:cNvSpPr txBox="1"/>
          <p:nvPr/>
        </p:nvSpPr>
        <p:spPr>
          <a:xfrm>
            <a:off x="640080" y="4714345"/>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в контуре не было вовсе; на соседнем разборе (Т—Ж) без модели не остаётся 46 плакатов — там условие проходит</a:t>
            </a:r>
          </a:p>
        </p:txBody>
      </p:sp>
      <p:sp>
        <p:nvSpPr>
          <p:cNvPr id="20" name="Rounded Rectangle 19"/>
          <p:cNvSpPr/>
          <p:nvPr/>
        </p:nvSpPr>
        <p:spPr>
          <a:xfrm>
            <a:off x="374904" y="515418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245628"/>
            <a:ext cx="11112703" cy="9905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Критерий задан физикой: держать нагрузку при минимальной массе. Альтернатива ровно одна, и она посчитана в той же единице.</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Autodesk News, «Autodesk and Airbus: generative design in the aerospace factory», 2016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694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СКАЧИВАНИЙ ЗА 30 ДНЕЙ</a:t>
            </a:r>
          </a:p>
        </p:txBody>
      </p:sp>
      <p:sp>
        <p:nvSpPr>
          <p:cNvPr id="6" name="TextBox 5"/>
          <p:cNvSpPr txBox="1"/>
          <p:nvPr/>
        </p:nvSpPr>
        <p:spPr>
          <a:xfrm>
            <a:off x="640080" y="1932846"/>
            <a:ext cx="126941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461 у Kandinsky 6.0 Pro против 622 299 у FLUX.1-dev</a:t>
            </a:r>
          </a:p>
        </p:txBody>
      </p:sp>
      <p:sp>
        <p:nvSpPr>
          <p:cNvPr id="7" name="TextBox 6"/>
          <p:cNvSpPr txBox="1"/>
          <p:nvPr/>
        </p:nvSpPr>
        <p:spPr>
          <a:xfrm>
            <a:off x="640080" y="2784218"/>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том же замере SDXL — 4 282 392, китайская Wan 2.2 — 3 901</a:t>
            </a:r>
          </a:p>
        </p:txBody>
      </p:sp>
      <p:sp>
        <p:nvSpPr>
          <p:cNvPr id="8" name="Rounded Rectangle 7"/>
          <p:cNvSpPr/>
          <p:nvPr/>
        </p:nvSpPr>
        <p:spPr>
          <a:xfrm>
            <a:off x="2211247"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48407"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ЛАБОРАТОРИЯ, НО ДЛЯ РУССКОЙ РЕЧИ И ТЕКСТА</a:t>
            </a:r>
          </a:p>
        </p:txBody>
      </p:sp>
      <p:sp>
        <p:nvSpPr>
          <p:cNvPr id="10" name="TextBox 9"/>
          <p:cNvSpPr txBox="1"/>
          <p:nvPr/>
        </p:nvSpPr>
        <p:spPr>
          <a:xfrm>
            <a:off x="2348407" y="2555260"/>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FRIDA 597 351 · GigaAM v3 426 500</a:t>
            </a:r>
          </a:p>
        </p:txBody>
      </p:sp>
      <p:sp>
        <p:nvSpPr>
          <p:cNvPr id="11" name="TextBox 10"/>
          <p:cNvSpPr txBox="1"/>
          <p:nvPr/>
        </p:nvSpPr>
        <p:spPr>
          <a:xfrm>
            <a:off x="2348407" y="3202933"/>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3919575"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56735" y="1472184"/>
            <a:ext cx="12694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ВНУТРЕННИЙ КУРС ПОСРЕДНИКА</a:t>
            </a:r>
          </a:p>
        </p:txBody>
      </p:sp>
      <p:sp>
        <p:nvSpPr>
          <p:cNvPr id="14" name="TextBox 13"/>
          <p:cNvSpPr txBox="1"/>
          <p:nvPr/>
        </p:nvSpPr>
        <p:spPr>
          <a:xfrm>
            <a:off x="4056735" y="2140317"/>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196,42 ₽/$ против 80,49 у Центробанка</a:t>
            </a:r>
          </a:p>
        </p:txBody>
      </p:sp>
      <p:sp>
        <p:nvSpPr>
          <p:cNvPr id="15" name="TextBox 14"/>
          <p:cNvSpPr txBox="1"/>
          <p:nvPr/>
        </p:nvSpPr>
        <p:spPr>
          <a:xfrm>
            <a:off x="4056735" y="2787990"/>
            <a:ext cx="12694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множитель 2,44× совпал до второго знака по девяти моделям сразу</a:t>
            </a:r>
          </a:p>
        </p:txBody>
      </p:sp>
      <p:sp>
        <p:nvSpPr>
          <p:cNvPr id="16" name="Rounded Rectangle 15"/>
          <p:cNvSpPr/>
          <p:nvPr/>
        </p:nvSpPr>
        <p:spPr>
          <a:xfrm>
            <a:off x="5627903" y="1335024"/>
            <a:ext cx="1543735" cy="3263099"/>
          </a:xfrm>
          <a:prstGeom prst="roundRect">
            <a:avLst>
              <a:gd name="adj" fmla="val 1974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765063"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ПРОВЕРЯЕМЫХ ЧИСЕЛ ПО «ЮРИДИЧЕСКИ ЧИСТОЙ» МОДЕЛИ</a:t>
            </a:r>
          </a:p>
        </p:txBody>
      </p:sp>
      <p:sp>
        <p:nvSpPr>
          <p:cNvPr id="18" name="TextBox 17"/>
          <p:cNvSpPr txBox="1"/>
          <p:nvPr/>
        </p:nvSpPr>
        <p:spPr>
          <a:xfrm>
            <a:off x="5765063" y="2555260"/>
            <a:ext cx="126941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5765063" y="2982259"/>
            <a:ext cx="12694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рынка, ни числа генераций, ни экономии у заказчика, ни судебных исходов</a:t>
            </a:r>
          </a:p>
        </p:txBody>
      </p:sp>
      <p:sp>
        <p:nvSpPr>
          <p:cNvPr id="20" name="Rounded Rectangle 19"/>
          <p:cNvSpPr/>
          <p:nvPr/>
        </p:nvSpPr>
        <p:spPr>
          <a:xfrm>
            <a:off x="374904" y="4689563"/>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81003"/>
            <a:ext cx="11112703" cy="1455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отечественных сервиса дают противоположные права на один и тот же результат.</a:t>
            </a:r>
            <a:r>
              <a:rPr sz="1500" b="0" i="0">
                <a:solidFill>
                  <a:srgbClr val="21295C"/>
                </a:solidFill>
                <a:latin typeface="Arial"/>
              </a:rPr>
              <a:t> Один отдаёт исключительные права пользователю, второй оставляет их за собой. Разница между «можно выпускать» и «нельзя» читается только в пользовательском соглашении.</a:t>
            </a:r>
          </a:p>
        </p:txBody>
      </p:sp>
      <p:sp>
        <p:nvSpPr>
          <p:cNvPr id="22" name="Rounded Rectangle 21"/>
          <p:cNvSpPr/>
          <p:nvPr/>
        </p:nvSpPr>
        <p:spPr>
          <a:xfrm>
            <a:off x="7482535" y="1335024"/>
            <a:ext cx="4206240" cy="2079793"/>
          </a:xfrm>
          <a:prstGeom prst="roundRect">
            <a:avLst>
              <a:gd name="adj" fmla="val 14655"/>
            </a:avLst>
          </a:prstGeom>
          <a:solidFill>
            <a:srgbClr val="F4F7FA"/>
          </a:solidFill>
          <a:ln w="19050">
            <a:solidFill>
              <a:srgbClr val="1C7293"/>
            </a:solidFill>
          </a:ln>
          <a:effectLst/>
        </p:spPr>
        <p:txBody>
          <a:bodyPr rtlCol="0" anchor="ctr"/>
          <a:lstStyle/>
          <a:p>
            <a:pPr algn="ctr"/>
          </a:p>
        </p:txBody>
      </p:sp>
      <p:pic>
        <p:nvPicPr>
          <p:cNvPr id="23" name="Picture 22" descr="s15-skachivaniya.png"/>
          <p:cNvPicPr>
            <a:picLocks noChangeAspect="1"/>
          </p:cNvPicPr>
          <p:nvPr/>
        </p:nvPicPr>
        <p:blipFill>
          <a:blip r:embed="rId2"/>
          <a:stretch>
            <a:fillRect/>
          </a:stretch>
        </p:blipFill>
        <p:spPr>
          <a:xfrm>
            <a:off x="7619695" y="1472184"/>
            <a:ext cx="3931919" cy="1805473"/>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Семейств генерации два, и генератор каждого собран из частей, обученных порознь</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СЕМЕЙСТВ ИМЕННО ДВА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частям — или целиком много раз</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дискретность против непрерывности: у картиночной авторегрессии (GPT-Image, Nano Banana, с 2025 года) дискретный словарь токенов тоже есть</a:t>
            </a:r>
          </a:p>
        </p:txBody>
      </p:sp>
      <p:sp>
        <p:nvSpPr>
          <p:cNvPr id="8" name="Rounded Rectangle 7"/>
          <p:cNvSpPr/>
          <p:nvPr/>
        </p:nvSpPr>
        <p:spPr>
          <a:xfrm>
            <a:off x="502920" y="2894901"/>
            <a:ext cx="3423818" cy="2473728"/>
          </a:xfrm>
          <a:prstGeom prst="roundRect">
            <a:avLst>
              <a:gd name="adj" fmla="val 12321"/>
            </a:avLst>
          </a:prstGeom>
          <a:solidFill>
            <a:srgbClr val="F4F7FA"/>
          </a:solidFill>
          <a:ln w="19050">
            <a:solidFill>
              <a:srgbClr val="1C7293"/>
            </a:solidFill>
          </a:ln>
          <a:effectLst/>
        </p:spPr>
        <p:txBody>
          <a:bodyPr rtlCol="0" anchor="ctr"/>
          <a:lstStyle/>
          <a:p>
            <a:pPr algn="ctr"/>
          </a:p>
        </p:txBody>
      </p:sp>
      <p:sp>
        <p:nvSpPr>
          <p:cNvPr id="9" name="Rounded Rectangle 8"/>
          <p:cNvSpPr/>
          <p:nvPr/>
        </p:nvSpPr>
        <p:spPr>
          <a:xfrm>
            <a:off x="630936" y="3022917"/>
            <a:ext cx="3167786" cy="256032"/>
          </a:xfrm>
          <a:prstGeom prst="roundRect">
            <a:avLst>
              <a:gd name="adj" fmla="val 38000"/>
            </a:avLst>
          </a:prstGeom>
          <a:solidFill>
            <a:srgbClr val="E6F2F4"/>
          </a:solidFill>
          <a:ln>
            <a:noFill/>
          </a:ln>
          <a:effectLst/>
        </p:spPr>
        <p:txBody>
          <a:bodyPr rtlCol="0" anchor="ctr"/>
          <a:lstStyle/>
          <a:p>
            <a:pPr algn="ctr"/>
          </a:p>
        </p:txBody>
      </p:sp>
      <p:sp>
        <p:nvSpPr>
          <p:cNvPr id="10" name="TextBox 9"/>
          <p:cNvSpPr txBox="1"/>
          <p:nvPr/>
        </p:nvSpPr>
        <p:spPr>
          <a:xfrm>
            <a:off x="685800" y="3022917"/>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вход · чужая модель</a:t>
            </a:r>
          </a:p>
        </p:txBody>
      </p:sp>
      <p:sp>
        <p:nvSpPr>
          <p:cNvPr id="11" name="TextBox 10"/>
          <p:cNvSpPr txBox="1"/>
          <p:nvPr/>
        </p:nvSpPr>
        <p:spPr>
          <a:xfrm>
            <a:off x="630936" y="3370389"/>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Текстовый кодировщик</a:t>
            </a:r>
          </a:p>
        </p:txBody>
      </p:sp>
      <p:sp>
        <p:nvSpPr>
          <p:cNvPr id="12" name="TextBox 11"/>
          <p:cNvSpPr txBox="1"/>
          <p:nvPr/>
        </p:nvSpPr>
        <p:spPr>
          <a:xfrm>
            <a:off x="630936" y="3738457"/>
            <a:ext cx="3167786" cy="1502155"/>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описание читает отдельная замороженная модель — у SD3 их три, у FLUX.1 два</a:t>
            </a:r>
          </a:p>
          <a:p>
            <a:pPr algn="l">
              <a:lnSpc>
                <a:spcPct val="114000"/>
              </a:lnSpc>
              <a:spcBef>
                <a:spcPts val="400"/>
              </a:spcBef>
            </a:pPr>
            <a:r>
              <a:rPr sz="1350" b="0" i="0">
                <a:solidFill>
                  <a:srgbClr val="21295C"/>
                </a:solidFill>
                <a:latin typeface="Arial"/>
              </a:rPr>
              <a:t/>
            </a:r>
            <a:r>
              <a:rPr sz="1350" b="0" i="0">
                <a:solidFill>
                  <a:srgbClr val="21295C"/>
                </a:solidFill>
                <a:latin typeface="Arial"/>
              </a:rPr>
              <a:t>увеличение кодировщика даёт больший прирост, чем увеличение диффузионной сети</a:t>
            </a:r>
          </a:p>
        </p:txBody>
      </p:sp>
      <p:sp>
        <p:nvSpPr>
          <p:cNvPr id="13" name="Right Arrow 12"/>
          <p:cNvSpPr/>
          <p:nvPr/>
        </p:nvSpPr>
        <p:spPr>
          <a:xfrm>
            <a:off x="4018178" y="4058613"/>
            <a:ext cx="274320" cy="146304"/>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4383938" y="2894901"/>
            <a:ext cx="3423818" cy="2473728"/>
          </a:xfrm>
          <a:prstGeom prst="roundRect">
            <a:avLst>
              <a:gd name="adj" fmla="val 12321"/>
            </a:avLst>
          </a:prstGeom>
          <a:solidFill>
            <a:srgbClr val="F4F7FA"/>
          </a:solidFill>
          <a:ln w="19050">
            <a:solidFill>
              <a:srgbClr val="1C7293"/>
            </a:solidFill>
          </a:ln>
          <a:effectLst/>
        </p:spPr>
        <p:txBody>
          <a:bodyPr rtlCol="0" anchor="ctr"/>
          <a:lstStyle/>
          <a:p>
            <a:pPr algn="ctr"/>
          </a:p>
        </p:txBody>
      </p:sp>
      <p:sp>
        <p:nvSpPr>
          <p:cNvPr id="15" name="Rounded Rectangle 14"/>
          <p:cNvSpPr/>
          <p:nvPr/>
        </p:nvSpPr>
        <p:spPr>
          <a:xfrm>
            <a:off x="4511954" y="3022917"/>
            <a:ext cx="3167786" cy="256032"/>
          </a:xfrm>
          <a:prstGeom prst="roundRect">
            <a:avLst>
              <a:gd name="adj" fmla="val 38000"/>
            </a:avLst>
          </a:prstGeom>
          <a:solidFill>
            <a:srgbClr val="E6F2F4"/>
          </a:solidFill>
          <a:ln>
            <a:noFill/>
          </a:ln>
          <a:effectLst/>
        </p:spPr>
        <p:txBody>
          <a:bodyPr rtlCol="0" anchor="ctr"/>
          <a:lstStyle/>
          <a:p>
            <a:pPr algn="ctr"/>
          </a:p>
        </p:txBody>
      </p:sp>
      <p:sp>
        <p:nvSpPr>
          <p:cNvPr id="16" name="TextBox 15"/>
          <p:cNvSpPr txBox="1"/>
          <p:nvPr/>
        </p:nvSpPr>
        <p:spPr>
          <a:xfrm>
            <a:off x="4566818" y="3022917"/>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работа</a:t>
            </a:r>
          </a:p>
        </p:txBody>
      </p:sp>
      <p:sp>
        <p:nvSpPr>
          <p:cNvPr id="17" name="TextBox 16"/>
          <p:cNvSpPr txBox="1"/>
          <p:nvPr/>
        </p:nvSpPr>
        <p:spPr>
          <a:xfrm>
            <a:off x="4511954" y="3370389"/>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Сеть расшумления</a:t>
            </a:r>
          </a:p>
        </p:txBody>
      </p:sp>
      <p:sp>
        <p:nvSpPr>
          <p:cNvPr id="18" name="TextBox 17"/>
          <p:cNvSpPr txBox="1"/>
          <p:nvPr/>
        </p:nvSpPr>
        <p:spPr>
          <a:xfrm>
            <a:off x="4511954" y="3738457"/>
            <a:ext cx="3167786" cy="1502155"/>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латент 128×128×16, от 1 до 50 проходов</a:t>
            </a:r>
          </a:p>
          <a:p>
            <a:pPr algn="l">
              <a:lnSpc>
                <a:spcPct val="114000"/>
              </a:lnSpc>
              <a:spcBef>
                <a:spcPts val="400"/>
              </a:spcBef>
            </a:pPr>
            <a:r>
              <a:rPr sz="1350" b="0" i="0">
                <a:solidFill>
                  <a:srgbClr val="21295C"/>
                </a:solidFill>
                <a:latin typeface="Arial"/>
              </a:rPr>
              <a:t/>
            </a:r>
            <a:r>
              <a:rPr sz="1350" b="0" i="0">
                <a:solidFill>
                  <a:srgbClr val="21295C"/>
                </a:solidFill>
                <a:latin typeface="Arial"/>
              </a:rPr>
              <a:t>описание — условие, неизменное на всех шагах; истории нет</a:t>
            </a:r>
          </a:p>
        </p:txBody>
      </p:sp>
      <p:sp>
        <p:nvSpPr>
          <p:cNvPr id="19" name="Right Arrow 18"/>
          <p:cNvSpPr/>
          <p:nvPr/>
        </p:nvSpPr>
        <p:spPr>
          <a:xfrm>
            <a:off x="7899196" y="4058613"/>
            <a:ext cx="274320" cy="146304"/>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264956" y="2894901"/>
            <a:ext cx="3423818" cy="2473728"/>
          </a:xfrm>
          <a:prstGeom prst="roundRect">
            <a:avLst>
              <a:gd name="adj" fmla="val 12321"/>
            </a:avLst>
          </a:prstGeom>
          <a:solidFill>
            <a:srgbClr val="F4F7FA"/>
          </a:solidFill>
          <a:ln w="31750">
            <a:solidFill>
              <a:srgbClr val="F0AB00"/>
            </a:solidFill>
          </a:ln>
          <a:effectLst/>
        </p:spPr>
        <p:txBody>
          <a:bodyPr rtlCol="0" anchor="ctr"/>
          <a:lstStyle/>
          <a:p>
            <a:pPr algn="ctr"/>
          </a:p>
        </p:txBody>
      </p:sp>
      <p:sp>
        <p:nvSpPr>
          <p:cNvPr id="21" name="Rounded Rectangle 20"/>
          <p:cNvSpPr/>
          <p:nvPr/>
        </p:nvSpPr>
        <p:spPr>
          <a:xfrm>
            <a:off x="8392972" y="3022917"/>
            <a:ext cx="3167786" cy="256032"/>
          </a:xfrm>
          <a:prstGeom prst="roundRect">
            <a:avLst>
              <a:gd name="adj" fmla="val 38000"/>
            </a:avLst>
          </a:prstGeom>
          <a:solidFill>
            <a:srgbClr val="F0AB00"/>
          </a:solidFill>
          <a:ln>
            <a:noFill/>
          </a:ln>
          <a:effectLst/>
        </p:spPr>
        <p:txBody>
          <a:bodyPr rtlCol="0" anchor="ctr"/>
          <a:lstStyle/>
          <a:p>
            <a:pPr algn="ctr"/>
          </a:p>
        </p:txBody>
      </p:sp>
      <p:sp>
        <p:nvSpPr>
          <p:cNvPr id="22" name="TextBox 21"/>
          <p:cNvSpPr txBox="1"/>
          <p:nvPr/>
        </p:nvSpPr>
        <p:spPr>
          <a:xfrm>
            <a:off x="8447836" y="3022917"/>
            <a:ext cx="3058058" cy="256032"/>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выход · узкое место</a:t>
            </a:r>
          </a:p>
        </p:txBody>
      </p:sp>
      <p:sp>
        <p:nvSpPr>
          <p:cNvPr id="23" name="TextBox 22"/>
          <p:cNvSpPr txBox="1"/>
          <p:nvPr/>
        </p:nvSpPr>
        <p:spPr>
          <a:xfrm>
            <a:off x="8392972" y="3370389"/>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Автокодировщик</a:t>
            </a:r>
          </a:p>
        </p:txBody>
      </p:sp>
      <p:sp>
        <p:nvSpPr>
          <p:cNvPr id="24" name="TextBox 23"/>
          <p:cNvSpPr txBox="1"/>
          <p:nvPr/>
        </p:nvSpPr>
        <p:spPr>
          <a:xfrm>
            <a:off x="8392972" y="3738457"/>
            <a:ext cx="3167786" cy="1502155"/>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декодировщик разворачивает латент в точки растра 1024×1024</a:t>
            </a:r>
          </a:p>
          <a:p>
            <a:pPr algn="l">
              <a:lnSpc>
                <a:spcPct val="114000"/>
              </a:lnSpc>
              <a:spcBef>
                <a:spcPts val="400"/>
              </a:spcBef>
            </a:pPr>
            <a:r>
              <a:rPr sz="1350" b="0" i="0">
                <a:solidFill>
                  <a:srgbClr val="21295C"/>
                </a:solidFill>
                <a:latin typeface="Arial"/>
              </a:rPr>
              <a:t/>
            </a:r>
            <a:r>
              <a:rPr sz="1350" b="0" i="0">
                <a:solidFill>
                  <a:srgbClr val="21295C"/>
                </a:solidFill>
                <a:latin typeface="Arial"/>
              </a:rPr>
              <a:t>25,12 дБ на 4 каналах против 28,62 на 16 — размытое не вернётся</a:t>
            </a:r>
          </a:p>
        </p:txBody>
      </p:sp>
      <p:sp>
        <p:nvSpPr>
          <p:cNvPr id="25" name="Rounded Rectangle 24"/>
          <p:cNvSpPr/>
          <p:nvPr/>
        </p:nvSpPr>
        <p:spPr>
          <a:xfrm>
            <a:off x="374904" y="5460069"/>
            <a:ext cx="11441887" cy="77613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551509"/>
            <a:ext cx="11112703" cy="68469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Два семейства: авторегрессия достраивает объект по частям, расшумление правит весь объект сразу, но много раз.</a:t>
            </a:r>
          </a:p>
          <a:p>
            <a:pPr algn="l">
              <a:lnSpc>
                <a:spcPct val="126000"/>
              </a:lnSpc>
              <a:spcBef>
                <a:spcPts val="700"/>
              </a:spcBef>
            </a:pPr>
            <a:r>
              <a:rPr sz="1300" b="0" i="0">
                <a:solidFill>
                  <a:srgbClr val="21295C"/>
                </a:solidFill>
                <a:latin typeface="Arial"/>
              </a:rPr>
              <a:t/>
            </a:r>
            <a:r>
              <a:rPr sz="1300" b="1" i="0">
                <a:solidFill>
                  <a:srgbClr val="21295C"/>
                </a:solidFill>
                <a:latin typeface="Arial"/>
              </a:rPr>
              <a:t>От строки описания до файла на выходе работают три независимо обученные модели.</a:t>
            </a:r>
            <a:r>
              <a:rPr sz="1300" b="0" i="0">
                <a:solidFill>
                  <a:srgbClr val="21295C"/>
                </a:solidFill>
                <a:latin typeface="Arial"/>
              </a:rPr>
              <a:t> Диффузионная сеть — только средняя из них.</a:t>
            </a:r>
          </a:p>
        </p:txBody>
      </p:sp>
      <p:sp>
        <p:nvSpPr>
          <p:cNvPr id="27" name="Rectangle 26"/>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Rombach и соавт., 2021</a:t>
            </a:r>
            <a:r>
              <a:rPr sz="1200" b="0" i="1">
                <a:solidFill>
                  <a:srgbClr val="1C7293"/>
                </a:solidFill>
                <a:latin typeface="Arial"/>
              </a:rPr>
              <a:t> · </a:t>
            </a: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Imagen, 2022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от запроса к результату: расшумление латента</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ПОВТОРЫ И УЧАСТИЕ ЗАПРОСА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20–50 проходов</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задано сэмплером, не размером сети; текст — условие на каждом из них, не только на первом; было 1000 в 2020-м</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МЕНЯЕТСЯ, УЗКОЕ МЕСТО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латент — каждый раз; условие — нет</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узкое место — само число проходов: дистилляция до 4 даёт то же время в 25 раз быстрее</a:t>
            </a:r>
          </a:p>
        </p:txBody>
      </p:sp>
      <p:sp>
        <p:nvSpPr>
          <p:cNvPr id="12" name="TextBox 11"/>
          <p:cNvSpPr txBox="1"/>
          <p:nvPr/>
        </p:nvSpPr>
        <p:spPr>
          <a:xfrm>
            <a:off x="502920" y="3321900"/>
            <a:ext cx="1307592" cy="776363"/>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Чистый запрос</a:t>
            </a:r>
          </a:p>
        </p:txBody>
      </p:sp>
      <p:sp>
        <p:nvSpPr>
          <p:cNvPr id="13" name="Rounded Rectangle 12"/>
          <p:cNvSpPr/>
          <p:nvPr/>
        </p:nvSpPr>
        <p:spPr>
          <a:xfrm>
            <a:off x="3538728" y="3285324"/>
            <a:ext cx="6622999" cy="84951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3630168" y="3312756"/>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3712464" y="3358476"/>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текст — условие навсегда</a:t>
            </a:r>
          </a:p>
        </p:txBody>
      </p:sp>
      <p:sp>
        <p:nvSpPr>
          <p:cNvPr id="16" name="Right Arrow 15"/>
          <p:cNvSpPr/>
          <p:nvPr/>
        </p:nvSpPr>
        <p:spPr>
          <a:xfrm>
            <a:off x="5011597" y="36415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331637" y="3312756"/>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8" name="TextBox 17"/>
          <p:cNvSpPr txBox="1"/>
          <p:nvPr/>
        </p:nvSpPr>
        <p:spPr>
          <a:xfrm>
            <a:off x="5413933" y="3358476"/>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латент 128×128, чистый шум</a:t>
            </a:r>
          </a:p>
        </p:txBody>
      </p:sp>
      <p:sp>
        <p:nvSpPr>
          <p:cNvPr id="19" name="Right Arrow 18"/>
          <p:cNvSpPr/>
          <p:nvPr/>
        </p:nvSpPr>
        <p:spPr>
          <a:xfrm>
            <a:off x="6713067" y="364150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7033107" y="3312756"/>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115403" y="3358476"/>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расшумление ×20–50</a:t>
            </a:r>
          </a:p>
        </p:txBody>
      </p:sp>
      <p:sp>
        <p:nvSpPr>
          <p:cNvPr id="22" name="Right Arrow 21"/>
          <p:cNvSpPr/>
          <p:nvPr/>
        </p:nvSpPr>
        <p:spPr>
          <a:xfrm>
            <a:off x="8414537" y="364150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734577" y="3312756"/>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8816873" y="3358476"/>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в пиксели</a:t>
            </a:r>
          </a:p>
        </p:txBody>
      </p:sp>
      <p:sp>
        <p:nvSpPr>
          <p:cNvPr id="25" name="TextBox 24"/>
          <p:cNvSpPr txBox="1"/>
          <p:nvPr/>
        </p:nvSpPr>
        <p:spPr>
          <a:xfrm>
            <a:off x="502920" y="4281144"/>
            <a:ext cx="1307592" cy="776363"/>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Запрос с примером</a:t>
            </a:r>
          </a:p>
        </p:txBody>
      </p:sp>
      <p:sp>
        <p:nvSpPr>
          <p:cNvPr id="26" name="Rounded Rectangle 25"/>
          <p:cNvSpPr/>
          <p:nvPr/>
        </p:nvSpPr>
        <p:spPr>
          <a:xfrm>
            <a:off x="3538728" y="4244568"/>
            <a:ext cx="6622999" cy="84951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7" name="Rounded Rectangle 26"/>
          <p:cNvSpPr/>
          <p:nvPr/>
        </p:nvSpPr>
        <p:spPr>
          <a:xfrm>
            <a:off x="3630168" y="4272000"/>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8" name="TextBox 27"/>
          <p:cNvSpPr txBox="1"/>
          <p:nvPr/>
        </p:nvSpPr>
        <p:spPr>
          <a:xfrm>
            <a:off x="3712464" y="4317720"/>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текст — условие навсегда</a:t>
            </a:r>
          </a:p>
        </p:txBody>
      </p:sp>
      <p:sp>
        <p:nvSpPr>
          <p:cNvPr id="29" name="Right Arrow 28"/>
          <p:cNvSpPr/>
          <p:nvPr/>
        </p:nvSpPr>
        <p:spPr>
          <a:xfrm>
            <a:off x="5011597" y="460074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331637" y="4272000"/>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5413933" y="4317720"/>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латент картинки, шум частичный</a:t>
            </a:r>
          </a:p>
        </p:txBody>
      </p:sp>
      <p:sp>
        <p:nvSpPr>
          <p:cNvPr id="32" name="Right Arrow 31"/>
          <p:cNvSpPr/>
          <p:nvPr/>
        </p:nvSpPr>
        <p:spPr>
          <a:xfrm>
            <a:off x="6713067" y="4600746"/>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7033107" y="4272000"/>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7115403" y="4317720"/>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расшумление, шагов меньше</a:t>
            </a:r>
          </a:p>
        </p:txBody>
      </p:sp>
      <p:sp>
        <p:nvSpPr>
          <p:cNvPr id="35" name="Right Arrow 34"/>
          <p:cNvSpPr/>
          <p:nvPr/>
        </p:nvSpPr>
        <p:spPr>
          <a:xfrm>
            <a:off x="8414537" y="4600746"/>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734577" y="4272000"/>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816873" y="4317720"/>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в пиксели</a:t>
            </a:r>
          </a:p>
        </p:txBody>
      </p:sp>
      <p:sp>
        <p:nvSpPr>
          <p:cNvPr id="38" name="Rounded Rectangle 37"/>
          <p:cNvSpPr/>
          <p:nvPr/>
        </p:nvSpPr>
        <p:spPr>
          <a:xfrm>
            <a:off x="2011680" y="3285324"/>
            <a:ext cx="1325880" cy="1808759"/>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39" name="TextBox 38"/>
          <p:cNvSpPr txBox="1"/>
          <p:nvPr/>
        </p:nvSpPr>
        <p:spPr>
          <a:xfrm>
            <a:off x="2084832" y="3331044"/>
            <a:ext cx="1179576" cy="1717319"/>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запрос</a:t>
            </a:r>
          </a:p>
        </p:txBody>
      </p:sp>
      <p:sp>
        <p:nvSpPr>
          <p:cNvPr id="40" name="Rectangle 39"/>
          <p:cNvSpPr/>
          <p:nvPr/>
        </p:nvSpPr>
        <p:spPr>
          <a:xfrm>
            <a:off x="3337560" y="3694080"/>
            <a:ext cx="201168" cy="32004"/>
          </a:xfrm>
          <a:prstGeom prst="rect">
            <a:avLst/>
          </a:prstGeom>
          <a:solidFill>
            <a:srgbClr val="1C7293"/>
          </a:solidFill>
          <a:ln>
            <a:noFill/>
          </a:ln>
          <a:effectLst/>
        </p:spPr>
        <p:txBody>
          <a:bodyPr rtlCol="0" anchor="ctr"/>
          <a:lstStyle/>
          <a:p>
            <a:pPr algn="ctr"/>
          </a:p>
        </p:txBody>
      </p:sp>
      <p:sp>
        <p:nvSpPr>
          <p:cNvPr id="41" name="Rectangle 40"/>
          <p:cNvSpPr/>
          <p:nvPr/>
        </p:nvSpPr>
        <p:spPr>
          <a:xfrm>
            <a:off x="3337560" y="4653324"/>
            <a:ext cx="201168" cy="32004"/>
          </a:xfrm>
          <a:prstGeom prst="rect">
            <a:avLst/>
          </a:prstGeom>
          <a:solidFill>
            <a:srgbClr val="1C7293"/>
          </a:solidFill>
          <a:ln>
            <a:noFill/>
          </a:ln>
          <a:effectLst/>
        </p:spPr>
        <p:txBody>
          <a:bodyPr rtlCol="0" anchor="ctr"/>
          <a:lstStyle/>
          <a:p>
            <a:pPr algn="ctr"/>
          </a:p>
        </p:txBody>
      </p:sp>
      <p:sp>
        <p:nvSpPr>
          <p:cNvPr id="42" name="Rounded Rectangle 41"/>
          <p:cNvSpPr/>
          <p:nvPr/>
        </p:nvSpPr>
        <p:spPr>
          <a:xfrm>
            <a:off x="10362895" y="3285324"/>
            <a:ext cx="1325880" cy="1808759"/>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43" name="TextBox 42"/>
          <p:cNvSpPr txBox="1"/>
          <p:nvPr/>
        </p:nvSpPr>
        <p:spPr>
          <a:xfrm>
            <a:off x="10436047" y="3331044"/>
            <a:ext cx="1179576" cy="1717319"/>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результат</a:t>
            </a:r>
          </a:p>
        </p:txBody>
      </p:sp>
      <p:sp>
        <p:nvSpPr>
          <p:cNvPr id="44" name="Rectangle 43"/>
          <p:cNvSpPr/>
          <p:nvPr/>
        </p:nvSpPr>
        <p:spPr>
          <a:xfrm>
            <a:off x="10161727" y="3694080"/>
            <a:ext cx="201168" cy="32004"/>
          </a:xfrm>
          <a:prstGeom prst="rect">
            <a:avLst/>
          </a:prstGeom>
          <a:solidFill>
            <a:srgbClr val="1C7293"/>
          </a:solidFill>
          <a:ln>
            <a:noFill/>
          </a:ln>
          <a:effectLst/>
        </p:spPr>
        <p:txBody>
          <a:bodyPr rtlCol="0" anchor="ctr"/>
          <a:lstStyle/>
          <a:p>
            <a:pPr algn="ctr"/>
          </a:p>
        </p:txBody>
      </p:sp>
      <p:sp>
        <p:nvSpPr>
          <p:cNvPr id="45" name="Rectangle 44"/>
          <p:cNvSpPr/>
          <p:nvPr/>
        </p:nvSpPr>
        <p:spPr>
          <a:xfrm>
            <a:off x="10161727" y="4653324"/>
            <a:ext cx="201168" cy="32004"/>
          </a:xfrm>
          <a:prstGeom prst="rect">
            <a:avLst/>
          </a:prstGeom>
          <a:solidFill>
            <a:srgbClr val="1C7293"/>
          </a:solidFill>
          <a:ln>
            <a:noFill/>
          </a:ln>
          <a:effectLst/>
        </p:spPr>
        <p:txBody>
          <a:bodyPr rtlCol="0" anchor="ctr"/>
          <a:lstStyle/>
          <a:p>
            <a:pPr algn="ctr"/>
          </a:p>
        </p:txBody>
      </p:sp>
      <p:sp>
        <p:nvSpPr>
          <p:cNvPr id="46" name="Rounded Rectangle 45"/>
          <p:cNvSpPr/>
          <p:nvPr/>
        </p:nvSpPr>
        <p:spPr>
          <a:xfrm>
            <a:off x="374904" y="5185523"/>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7" name="TextBox 46"/>
          <p:cNvSpPr txBox="1"/>
          <p:nvPr/>
        </p:nvSpPr>
        <p:spPr>
          <a:xfrm>
            <a:off x="539496" y="5276963"/>
            <a:ext cx="11112703" cy="9592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Запрос входит один раз и держится условием на каждом из 20–50 проходов — меняется не он, а латент.</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Rombach и соавт., 2021</a:t>
            </a:r>
            <a:r>
              <a:rPr sz="1200" b="0" i="1">
                <a:solidFill>
                  <a:srgbClr val="1C7293"/>
                </a:solidFill>
                <a:latin typeface="Arial"/>
              </a:rPr>
              <a:t> · </a:t>
            </a: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Sadat и соавт., 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ПОТЕРЯЛ АВТОКОДИРОВЩИК, ИЗМЕРЕНО</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ПРЯМОЕ СРАВНЕНИЕ ЕДИНИЦ</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 ДАЛО НА ПРАКТИКЕ</a:t>
            </a:r>
          </a:p>
        </p:txBody>
      </p:sp>
      <p:sp>
        <p:nvSpPr>
          <p:cNvPr id="14" name="TextBox 13"/>
          <p:cNvSpPr txBox="1"/>
          <p:nvPr/>
        </p:nvSpPr>
        <p:spPr>
          <a:xfrm>
            <a:off x="8207044" y="1725375"/>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49187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502920"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пиксели: 1024 · 1024 · 3 = 3 145 728 чисел</a:t>
            </a:r>
          </a:p>
        </p:txBody>
      </p:sp>
      <p:sp>
        <p:nvSpPr>
          <p:cNvPr id="18" name="Right Arrow 17"/>
          <p:cNvSpPr/>
          <p:nvPr/>
        </p:nvSpPr>
        <p:spPr>
          <a:xfrm>
            <a:off x="4094378" y="399198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16 каналов: 128 · 128 · 16 = 262 144 числа</a:t>
            </a:r>
          </a:p>
        </p:txBody>
      </p:sp>
      <p:sp>
        <p:nvSpPr>
          <p:cNvPr id="21" name="Right Arrow 20"/>
          <p:cNvSpPr/>
          <p:nvPr/>
        </p:nvSpPr>
        <p:spPr>
          <a:xfrm>
            <a:off x="7914436" y="399198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трансформера, патч 2×2: 64 · 64 = 4 096 токенов</a:t>
            </a:r>
          </a:p>
        </p:txBody>
      </p:sp>
      <p:sp>
        <p:nvSpPr>
          <p:cNvPr id="24" name="TextBox 23"/>
          <p:cNvSpPr txBox="1"/>
          <p:nvPr/>
        </p:nvSpPr>
        <p:spPr>
          <a:xfrm>
            <a:off x="502920" y="445365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ступени сжатия: площадь честно пропорциональна числу значений</a:t>
            </a:r>
          </a:p>
        </p:txBody>
      </p:sp>
      <p:sp>
        <p:nvSpPr>
          <p:cNvPr id="25" name="Rounded Rectangle 24"/>
          <p:cNvSpPr/>
          <p:nvPr/>
        </p:nvSpPr>
        <p:spPr>
          <a:xfrm>
            <a:off x="374904" y="475634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47780"/>
            <a:ext cx="11112703" cy="13884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Квадратичность никуда не делась.</a:t>
            </a:r>
            <a:r>
              <a:rPr sz="1500" b="0" i="0">
                <a:solidFill>
                  <a:srgbClr val="21295C"/>
                </a:solidFill>
                <a:latin typeface="Arial"/>
              </a:rPr>
              <a:t> 4 096 токенов — ≈16,8 млн пар на голову на слой, 16 384 токена — ≈268 млн: удвоение стороны картинки увеличивает стоимость внимания в шестнадцать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Описание — постоянное условие на всех шагах. И CFG — это не температура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U-Net, SD 1.x–SDXL</a:t>
            </a:r>
          </a:p>
        </p:txBody>
      </p:sp>
      <p:sp>
        <p:nvSpPr>
          <p:cNvPr id="5" name="Rounded Rectangle 4"/>
          <p:cNvSpPr/>
          <p:nvPr/>
        </p:nvSpPr>
        <p:spPr>
          <a:xfrm>
            <a:off x="1920240"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Q ← латент картинки</a:t>
            </a:r>
          </a:p>
        </p:txBody>
      </p:sp>
      <p:sp>
        <p:nvSpPr>
          <p:cNvPr id="7" name="Rounded Rectangle 6"/>
          <p:cNvSpPr/>
          <p:nvPr/>
        </p:nvSpPr>
        <p:spPr>
          <a:xfrm>
            <a:off x="439894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K, V ← токены описания</a:t>
            </a:r>
          </a:p>
        </p:txBody>
      </p:sp>
      <p:sp>
        <p:nvSpPr>
          <p:cNvPr id="9" name="Rounded Rectangle 8"/>
          <p:cNvSpPr/>
          <p:nvPr/>
        </p:nvSpPr>
        <p:spPr>
          <a:xfrm>
            <a:off x="687765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4 096 × 77 слов</a:t>
            </a:r>
          </a:p>
        </p:txBody>
      </p:sp>
      <p:sp>
        <p:nvSpPr>
          <p:cNvPr id="11" name="Rounded Rectangle 10"/>
          <p:cNvSpPr/>
          <p:nvPr/>
        </p:nvSpPr>
        <p:spPr>
          <a:xfrm>
            <a:off x="935636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её можно отрисовать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MMDiT, SD3 и FLUX</a:t>
            </a:r>
          </a:p>
        </p:txBody>
      </p:sp>
      <p:sp>
        <p:nvSpPr>
          <p:cNvPr id="14" name="Rounded Rectangle 13"/>
          <p:cNvSpPr/>
          <p:nvPr/>
        </p:nvSpPr>
        <p:spPr>
          <a:xfrm>
            <a:off x="1920240" y="219436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и картинка вместе</a:t>
            </a:r>
          </a:p>
        </p:txBody>
      </p:sp>
      <p:sp>
        <p:nvSpPr>
          <p:cNvPr id="16" name="Rounded Rectangle 15"/>
          <p:cNvSpPr/>
          <p:nvPr/>
        </p:nvSpPr>
        <p:spPr>
          <a:xfrm>
            <a:off x="4398949" y="219436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24008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внимание в обе стороны</a:t>
            </a:r>
          </a:p>
        </p:txBody>
      </p:sp>
      <p:sp>
        <p:nvSpPr>
          <p:cNvPr id="18" name="Rounded Rectangle 17"/>
          <p:cNvSpPr/>
          <p:nvPr/>
        </p:nvSpPr>
        <p:spPr>
          <a:xfrm>
            <a:off x="6877659" y="219436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24008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4 608 × 4 608</a:t>
            </a:r>
          </a:p>
        </p:txBody>
      </p:sp>
      <p:sp>
        <p:nvSpPr>
          <p:cNvPr id="20" name="Rounded Rectangle 19"/>
          <p:cNvSpPr/>
          <p:nvPr/>
        </p:nvSpPr>
        <p:spPr>
          <a:xfrm>
            <a:off x="9356369" y="219436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24008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смотрит на картинку</a:t>
            </a:r>
          </a:p>
        </p:txBody>
      </p:sp>
      <p:sp>
        <p:nvSpPr>
          <p:cNvPr id="22" name="Rounded Rectangle 21"/>
          <p:cNvSpPr/>
          <p:nvPr/>
        </p:nvSpPr>
        <p:spPr>
          <a:xfrm>
            <a:off x="502920" y="3090291"/>
            <a:ext cx="5437479" cy="2044373"/>
          </a:xfrm>
          <a:prstGeom prst="roundRect">
            <a:avLst>
              <a:gd name="adj" fmla="val 14909"/>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667512" y="324573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Температура</a:t>
            </a:r>
          </a:p>
        </p:txBody>
      </p:sp>
      <p:sp>
        <p:nvSpPr>
          <p:cNvPr id="24" name="TextBox 23"/>
          <p:cNvSpPr txBox="1"/>
          <p:nvPr/>
        </p:nvSpPr>
        <p:spPr>
          <a:xfrm>
            <a:off x="667512" y="3601918"/>
            <a:ext cx="5108295" cy="13772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Мнение модели: не меняет — делитель логитов</a:t>
            </a:r>
          </a:p>
          <a:p>
            <a:pPr algn="l">
              <a:lnSpc>
                <a:spcPct val="126000"/>
              </a:lnSpc>
            </a:pPr>
            <a:r>
              <a:rPr sz="1450" b="0" i="0">
                <a:solidFill>
                  <a:srgbClr val="21295C"/>
                </a:solidFill>
                <a:latin typeface="Arial"/>
              </a:rPr>
              <a:t>• Направление: рост → больше случайности</a:t>
            </a:r>
          </a:p>
          <a:p>
            <a:pPr algn="l">
              <a:lnSpc>
                <a:spcPct val="126000"/>
              </a:lnSpc>
            </a:pPr>
            <a:r>
              <a:rPr sz="1450" b="0" i="0">
                <a:solidFill>
                  <a:srgbClr val="21295C"/>
                </a:solidFill>
                <a:latin typeface="Arial"/>
              </a:rPr>
              <a:t>• Цена: ноль — одно деление</a:t>
            </a:r>
          </a:p>
          <a:p>
            <a:pPr algn="l">
              <a:lnSpc>
                <a:spcPct val="126000"/>
              </a:lnSpc>
            </a:pPr>
            <a:r>
              <a:rPr sz="1450" b="0" i="0">
                <a:solidFill>
                  <a:srgbClr val="21295C"/>
                </a:solidFill>
                <a:latin typeface="Arial"/>
              </a:rPr>
              <a:t>• Случайность: в сэмплере, на каждом шаге</a:t>
            </a:r>
          </a:p>
        </p:txBody>
      </p:sp>
      <p:sp>
        <p:nvSpPr>
          <p:cNvPr id="25" name="Rounded Rectangle 24"/>
          <p:cNvSpPr/>
          <p:nvPr/>
        </p:nvSpPr>
        <p:spPr>
          <a:xfrm>
            <a:off x="6251295" y="3090291"/>
            <a:ext cx="5437479" cy="2044373"/>
          </a:xfrm>
          <a:prstGeom prst="roundRect">
            <a:avLst>
              <a:gd name="adj" fmla="val 14909"/>
            </a:avLst>
          </a:prstGeom>
          <a:solidFill>
            <a:srgbClr val="FFFFFF"/>
          </a:solidFill>
          <a:ln w="19050">
            <a:solidFill>
              <a:srgbClr val="028090"/>
            </a:solidFill>
          </a:ln>
          <a:effectLst/>
        </p:spPr>
        <p:txBody>
          <a:bodyPr rtlCol="0" anchor="ctr"/>
          <a:lstStyle/>
          <a:p>
            <a:pPr algn="ctr"/>
          </a:p>
        </p:txBody>
      </p:sp>
      <p:sp>
        <p:nvSpPr>
          <p:cNvPr id="26" name="TextBox 25"/>
          <p:cNvSpPr txBox="1"/>
          <p:nvPr/>
        </p:nvSpPr>
        <p:spPr>
          <a:xfrm>
            <a:off x="6415887" y="324573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CFG</a:t>
            </a:r>
          </a:p>
        </p:txBody>
      </p:sp>
      <p:sp>
        <p:nvSpPr>
          <p:cNvPr id="27" name="TextBox 26"/>
          <p:cNvSpPr txBox="1"/>
          <p:nvPr/>
        </p:nvSpPr>
        <p:spPr>
          <a:xfrm>
            <a:off x="6415887" y="3601918"/>
            <a:ext cx="5108295" cy="1377298"/>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Мнение модели: меняет — экстраполирует за пределы предсказанного</a:t>
            </a:r>
          </a:p>
          <a:p>
            <a:pPr algn="l">
              <a:lnSpc>
                <a:spcPct val="126000"/>
              </a:lnSpc>
            </a:pPr>
            <a:r>
              <a:rPr sz="1350" b="0" i="0">
                <a:solidFill>
                  <a:srgbClr val="21295C"/>
                </a:solidFill>
                <a:latin typeface="Arial"/>
              </a:rPr>
              <a:t>• Направление: рост → МЕНЬШЕ разнообразия</a:t>
            </a:r>
          </a:p>
          <a:p>
            <a:pPr algn="l">
              <a:lnSpc>
                <a:spcPct val="126000"/>
              </a:lnSpc>
            </a:pPr>
            <a:r>
              <a:rPr sz="1350" b="0" i="0">
                <a:solidFill>
                  <a:srgbClr val="21295C"/>
                </a:solidFill>
                <a:latin typeface="Arial"/>
              </a:rPr>
              <a:t>• Цена: два прохода сети на шаге</a:t>
            </a:r>
          </a:p>
          <a:p>
            <a:pPr algn="l">
              <a:lnSpc>
                <a:spcPct val="126000"/>
              </a:lnSpc>
            </a:pPr>
            <a:r>
              <a:rPr sz="1350" b="0" i="0">
                <a:solidFill>
                  <a:srgbClr val="21295C"/>
                </a:solidFill>
                <a:latin typeface="Arial"/>
              </a:rPr>
              <a:t>• Случайность: не при чём — она в стартовом шуме</a:t>
            </a:r>
          </a:p>
        </p:txBody>
      </p:sp>
      <p:sp>
        <p:nvSpPr>
          <p:cNvPr id="28" name="Rounded Rectangle 27"/>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Тот же механизм Q/K/V: «Q про текущий шаг, K и V про контекст» превращается в «Q про картинку, K и V про текст».</a:t>
            </a:r>
          </a:p>
          <a:p>
            <a:pPr algn="l">
              <a:lnSpc>
                <a:spcPct val="126000"/>
              </a:lnSpc>
              <a:spcBef>
                <a:spcPts val="700"/>
              </a:spcBef>
            </a:pPr>
            <a:r>
              <a:rPr sz="1350" b="0" i="0">
                <a:solidFill>
                  <a:srgbClr val="21295C"/>
                </a:solidFill>
                <a:latin typeface="Arial"/>
              </a:rPr>
              <a:t/>
            </a:r>
            <a:r>
              <a:rPr sz="1350" b="1" i="0">
                <a:solidFill>
                  <a:srgbClr val="21295C"/>
                </a:solidFill>
                <a:latin typeface="Arial"/>
              </a:rPr>
              <a:t>CFG — это не температура.</a:t>
            </a:r>
            <a:r>
              <a:rPr sz="1350" b="0" i="0">
                <a:solidFill>
                  <a:srgbClr val="21295C"/>
                </a:solidFill>
                <a:latin typeface="Arial"/>
              </a:rPr>
              <a:t> Температура не меняет мнение модели и ничего не стоит. CFG меняет само предсказание и стоит вторым проходом сети на каждом шаге.</a:t>
            </a:r>
          </a:p>
        </p:txBody>
      </p:sp>
      <p:sp>
        <p:nvSpPr>
          <p:cNvPr id="30" name="Rectangle 2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U-Net</a:t>
            </a:r>
            <a:r>
              <a:rPr sz="1200" b="0" i="1">
                <a:solidFill>
                  <a:srgbClr val="1C7293"/>
                </a:solidFill>
                <a:latin typeface="Arial"/>
              </a:rPr>
              <a:t> · </a:t>
            </a:r>
            <a:r>
              <a:rPr sz="1200" b="0" i="1">
                <a:solidFill>
                  <a:srgbClr val="1C7293"/>
                </a:solidFill>
                <a:latin typeface="Arial"/>
              </a:rPr>
              <a:t>совместное внимание MMDiT, SD3, 2024</a:t>
            </a:r>
            <a:r>
              <a:rPr sz="1200" b="0" i="1">
                <a:solidFill>
                  <a:srgbClr val="1C7293"/>
                </a:solidFill>
                <a:latin typeface="Arial"/>
              </a:rPr>
              <a:t> · </a:t>
            </a:r>
            <a:r>
              <a:rPr sz="1200" b="0" i="1">
                <a:solidFill>
                  <a:srgbClr val="1C7293"/>
                </a:solidFill>
                <a:latin typeface="Arial"/>
              </a:rPr>
              <a:t>Imagen, 2022</a:t>
            </a:r>
            <a:r>
              <a:rPr sz="1200" b="0" i="1">
                <a:solidFill>
                  <a:srgbClr val="1C7293"/>
                </a:solidFill>
                <a:latin typeface="Arial"/>
              </a:rPr>
              <a:t> · </a:t>
            </a: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U-Net → DiT → MMDiT → спрямлённый поток, и адаптеры поверх любой из них</a:t>
            </a:r>
          </a:p>
        </p:txBody>
      </p:sp>
      <p:sp>
        <p:nvSpPr>
          <p:cNvPr id="4" name="Rounded Rectangle 3"/>
          <p:cNvSpPr/>
          <p:nvPr/>
        </p:nvSpPr>
        <p:spPr>
          <a:xfrm>
            <a:off x="502920" y="1335024"/>
            <a:ext cx="3618890" cy="2067310"/>
          </a:xfrm>
          <a:prstGeom prst="roundRect">
            <a:avLst>
              <a:gd name="adj" fmla="val 1474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ИЗМЕРЕНИЕ, РАДИ КОТОРОГО СТОИТ ВЕСЬ КАДР</a:t>
            </a:r>
          </a:p>
        </p:txBody>
      </p:sp>
      <p:sp>
        <p:nvSpPr>
          <p:cNvPr id="6" name="TextBox 5"/>
          <p:cNvSpPr txBox="1"/>
          <p:nvPr/>
        </p:nvSpPr>
        <p:spPr>
          <a:xfrm>
            <a:off x="640080" y="1932846"/>
            <a:ext cx="3344570" cy="851372"/>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DiT-XL/8 — 676 млн парам., 7,39 Гфлопс, расстояние Фреше 106,41 · DiT-XL/2 — 675 млн, 118,64 Гфлопс, 19,47 (меньше — лучше)</a:t>
            </a:r>
          </a:p>
        </p:txBody>
      </p:sp>
      <p:sp>
        <p:nvSpPr>
          <p:cNvPr id="7" name="TextBox 6"/>
          <p:cNvSpPr txBox="1"/>
          <p:nvPr/>
        </p:nvSpPr>
        <p:spPr>
          <a:xfrm>
            <a:off x="640080" y="278421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рычаг сидит в том, как нарезали вход, а не в числе весов</a:t>
            </a:r>
          </a:p>
        </p:txBody>
      </p:sp>
      <p:sp>
        <p:nvSpPr>
          <p:cNvPr id="8" name="Rounded Rectangle 7"/>
          <p:cNvSpPr/>
          <p:nvPr/>
        </p:nvSpPr>
        <p:spPr>
          <a:xfrm>
            <a:off x="4286402" y="1335024"/>
            <a:ext cx="3618890" cy="2067310"/>
          </a:xfrm>
          <a:prstGeom prst="roundRect">
            <a:avLst>
              <a:gd name="adj" fmla="val 1474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ПОВЕРХ ЗАМОРОЖЕННОЙ БАЗЫ — ДОВЕСКИ ДВУХ РОДОВ</a:t>
            </a:r>
          </a:p>
        </p:txBody>
      </p:sp>
      <p:sp>
        <p:nvSpPr>
          <p:cNvPr id="10" name="TextBox 9"/>
          <p:cNvSpPr txBox="1"/>
          <p:nvPr/>
        </p:nvSpPr>
        <p:spPr>
          <a:xfrm>
            <a:off x="4423562" y="1932846"/>
            <a:ext cx="3344570"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LoRA/текстовая инверсия/DreamBooth обучают веса · ControlNet/IP-Adapter — веса не трогают</a:t>
            </a:r>
          </a:p>
        </p:txBody>
      </p:sp>
      <p:sp>
        <p:nvSpPr>
          <p:cNvPr id="11" name="TextBox 10"/>
          <p:cNvSpPr txBox="1"/>
          <p:nvPr/>
        </p:nvSpPr>
        <p:spPr>
          <a:xfrm>
            <a:off x="4423562" y="263144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лестница, что дообучение языковой модели; довески складываются буквально — стиль + поза + лицо на одной базе</a:t>
            </a:r>
          </a:p>
        </p:txBody>
      </p:sp>
      <p:sp>
        <p:nvSpPr>
          <p:cNvPr id="12" name="Rounded Rectangle 11"/>
          <p:cNvSpPr/>
          <p:nvPr/>
        </p:nvSpPr>
        <p:spPr>
          <a:xfrm>
            <a:off x="8069884" y="1335024"/>
            <a:ext cx="3618890" cy="2067310"/>
          </a:xfrm>
          <a:prstGeom prst="roundRect">
            <a:avLst>
              <a:gd name="adj" fmla="val 1474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ВОСПРОИЗВОДИМОСТЬ — 11 УСЛОВИЙ СРАЗУ</a:t>
            </a:r>
          </a:p>
        </p:txBody>
      </p:sp>
      <p:sp>
        <p:nvSpPr>
          <p:cNvPr id="14" name="TextBox 13"/>
          <p:cNvSpPr txBox="1"/>
          <p:nvPr/>
        </p:nvSpPr>
        <p:spPr>
          <a:xfrm>
            <a:off x="8207044" y="1932846"/>
            <a:ext cx="3344570"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веса + автокодировщик + адаптеры + seed + сэмплер + шаги + CFG + разрешение + версия + точность + карта</a:t>
            </a:r>
          </a:p>
        </p:txBody>
      </p:sp>
      <p:sp>
        <p:nvSpPr>
          <p:cNvPr id="15" name="TextBox 14"/>
          <p:cNvSpPr txBox="1"/>
          <p:nvPr/>
        </p:nvSpPr>
        <p:spPr>
          <a:xfrm>
            <a:off x="8207044" y="260598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языковой модели при температуре 0 не так: 1000 запросов к vLLM дали 80 разных ответов (Thinking Machines Lab, 2025)</a:t>
            </a:r>
          </a:p>
        </p:txBody>
      </p:sp>
      <p:sp>
        <p:nvSpPr>
          <p:cNvPr id="16" name="Rounded Rectangle 15"/>
          <p:cNvSpPr/>
          <p:nvPr/>
        </p:nvSpPr>
        <p:spPr>
          <a:xfrm>
            <a:off x="502920" y="3585214"/>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630934"/>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U-Net, 2015–2023: свёрточный каркас, трансформерные блоки вставками</a:t>
            </a:r>
          </a:p>
        </p:txBody>
      </p:sp>
      <p:sp>
        <p:nvSpPr>
          <p:cNvPr id="18" name="Right Arrow 17"/>
          <p:cNvSpPr/>
          <p:nvPr/>
        </p:nvSpPr>
        <p:spPr>
          <a:xfrm>
            <a:off x="3139363" y="411080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3367963" y="3585214"/>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450259" y="3630934"/>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DiT, декабрь 2022: латент режется на патчи, каждый проецируется в вектор</a:t>
            </a:r>
          </a:p>
        </p:txBody>
      </p:sp>
      <p:sp>
        <p:nvSpPr>
          <p:cNvPr id="21" name="Right Arrow 20"/>
          <p:cNvSpPr/>
          <p:nvPr/>
        </p:nvSpPr>
        <p:spPr>
          <a:xfrm>
            <a:off x="6004407" y="4110804"/>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233007" y="3585214"/>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6315303" y="3630934"/>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MMDiT, март 2024: текст и картинка в одной последовательности</a:t>
            </a:r>
          </a:p>
        </p:txBody>
      </p:sp>
      <p:sp>
        <p:nvSpPr>
          <p:cNvPr id="24" name="Right Arrow 23"/>
          <p:cNvSpPr/>
          <p:nvPr/>
        </p:nvSpPr>
        <p:spPr>
          <a:xfrm>
            <a:off x="8869451" y="411080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9098051" y="3585214"/>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9180347" y="3630934"/>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спрямлённый поток, 2022→2026: шум и данные соединены прямой</a:t>
            </a:r>
          </a:p>
        </p:txBody>
      </p:sp>
      <p:sp>
        <p:nvSpPr>
          <p:cNvPr id="27" name="TextBox 26"/>
          <p:cNvSpPr txBox="1"/>
          <p:nvPr/>
        </p:nvSpPr>
        <p:spPr>
          <a:xfrm>
            <a:off x="502920" y="481013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поколения несущей архитектуры, слева направо — время</a:t>
            </a:r>
          </a:p>
        </p:txBody>
      </p:sp>
      <p:sp>
        <p:nvSpPr>
          <p:cNvPr id="28" name="Rounded Rectangle 27"/>
          <p:cNvSpPr/>
          <p:nvPr/>
        </p:nvSpPr>
        <p:spPr>
          <a:xfrm>
            <a:off x="374904" y="5112813"/>
            <a:ext cx="11441887" cy="11233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04253"/>
            <a:ext cx="11112703" cy="103195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Весов столько же — токенов в 16 раз больше, и это даёт пятикратное улучшение метрики.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Поверх любой архитектуры — адаптеры: база заморожена, учится маленький довесок, довески складываются буквально.</a:t>
            </a:r>
          </a:p>
        </p:txBody>
      </p:sp>
      <p:sp>
        <p:nvSpPr>
          <p:cNvPr id="30" name="Rectangle 2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r>
              <a:rPr sz="1200" b="0" i="1">
                <a:solidFill>
                  <a:srgbClr val="1C7293"/>
                </a:solidFill>
                <a:latin typeface="Arial"/>
              </a:rPr>
              <a:t> · </a:t>
            </a: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Языковая модель против медиа-модели: устройство, управление — и обучить дешевле, запустить дороже</a:t>
            </a:r>
          </a:p>
        </p:txBody>
      </p:sp>
      <p:sp>
        <p:nvSpPr>
          <p:cNvPr id="4" name="Rounded Rectangle 3"/>
          <p:cNvSpPr/>
          <p:nvPr/>
        </p:nvSpPr>
        <p:spPr>
          <a:xfrm>
            <a:off x="502920"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SD3 в 2024 — одно и то же число операций обучения</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 4–5 раз в год; разрыв растёт не потому, что картинки дешевеют, а потому, что языковые модели дорожают</a:t>
            </a:r>
          </a:p>
        </p:txBody>
      </p:sp>
      <p:sp>
        <p:nvSpPr>
          <p:cNvPr id="8" name="Rounded Rectangle 7"/>
          <p:cNvSpPr/>
          <p:nvPr/>
        </p:nvSpPr>
        <p:spPr>
          <a:xfrm>
            <a:off x="6178143"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ПРОЗРАЧНОСТЬ — ХУЖЕ, ЧЕМ У ЯЗЫКОВЫХ МОДЕЛЕЙ</a:t>
            </a:r>
          </a:p>
        </p:txBody>
      </p:sp>
      <p:sp>
        <p:nvSpPr>
          <p:cNvPr id="10" name="TextBox 9"/>
          <p:cNvSpPr txBox="1"/>
          <p:nvPr/>
        </p:nvSpPr>
        <p:spPr>
          <a:xfrm>
            <a:off x="6315303" y="1725375"/>
            <a:ext cx="5236311"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из пяти картиночных моделей числа раскрыты только у двух: SD v1 и SD3</a:t>
            </a:r>
          </a:p>
        </p:txBody>
      </p:sp>
      <p:sp>
        <p:nvSpPr>
          <p:cNvPr id="11" name="TextBox 10"/>
          <p:cNvSpPr txBox="1"/>
          <p:nvPr/>
        </p:nvSpPr>
        <p:spPr>
          <a:xfrm>
            <a:off x="6315303" y="24748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открытым весам считается размер модели, но не стоимость её создания</a:t>
            </a:r>
          </a:p>
        </p:txBody>
      </p:sp>
      <p:sp>
        <p:nvSpPr>
          <p:cNvPr id="12" name="Rounded Rectangle 11"/>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13" name="Rectangle 12"/>
          <p:cNvSpPr/>
          <p:nvPr/>
        </p:nvSpPr>
        <p:spPr>
          <a:xfrm>
            <a:off x="539496" y="3496568"/>
            <a:ext cx="2362176" cy="365760"/>
          </a:xfrm>
          <a:prstGeom prst="rect">
            <a:avLst/>
          </a:prstGeom>
          <a:solidFill>
            <a:srgbClr val="065A82"/>
          </a:solidFill>
          <a:ln>
            <a:noFill/>
          </a:ln>
          <a:effectLst/>
        </p:spPr>
        <p:txBody>
          <a:bodyPr rtlCol="0" anchor="ctr"/>
          <a:lstStyle/>
          <a:p>
            <a:pPr algn="ctr"/>
          </a:p>
        </p:txBody>
      </p:sp>
      <p:sp>
        <p:nvSpPr>
          <p:cNvPr id="14" name="TextBox 13"/>
          <p:cNvSpPr txBox="1"/>
          <p:nvPr/>
        </p:nvSpPr>
        <p:spPr>
          <a:xfrm>
            <a:off x="685800" y="3496568"/>
            <a:ext cx="2069568" cy="365760"/>
          </a:xfrm>
          <a:prstGeom prst="rect">
            <a:avLst/>
          </a:prstGeom>
          <a:noFill/>
        </p:spPr>
        <p:txBody>
          <a:bodyPr wrap="square" lIns="0" rIns="0" tIns="0" bIns="0" anchor="ctr">
            <a:spAutoFit/>
          </a:bodyPr>
          <a:lstStyle/>
          <a:p>
            <a:pPr algn="l">
              <a:lnSpc>
                <a:spcPct val="116000"/>
              </a:lnSpc>
            </a:pPr>
            <a:r>
              <a:rPr sz="950" b="1" i="0">
                <a:solidFill>
                  <a:srgbClr val="FFFFFF"/>
                </a:solidFill>
                <a:latin typeface="Arial"/>
              </a:rPr>
              <a:t/>
            </a:r>
          </a:p>
        </p:txBody>
      </p:sp>
      <p:sp>
        <p:nvSpPr>
          <p:cNvPr id="15" name="Rectangle 14"/>
          <p:cNvSpPr/>
          <p:nvPr/>
        </p:nvSpPr>
        <p:spPr>
          <a:xfrm>
            <a:off x="2901672" y="3496568"/>
            <a:ext cx="4176165" cy="365760"/>
          </a:xfrm>
          <a:prstGeom prst="rect">
            <a:avLst/>
          </a:prstGeom>
          <a:solidFill>
            <a:srgbClr val="065A82"/>
          </a:solidFill>
          <a:ln>
            <a:noFill/>
          </a:ln>
          <a:effectLst/>
        </p:spPr>
        <p:txBody>
          <a:bodyPr rtlCol="0" anchor="ctr"/>
          <a:lstStyle/>
          <a:p>
            <a:pPr algn="ctr"/>
          </a:p>
        </p:txBody>
      </p:sp>
      <p:sp>
        <p:nvSpPr>
          <p:cNvPr id="16" name="TextBox 15"/>
          <p:cNvSpPr txBox="1"/>
          <p:nvPr/>
        </p:nvSpPr>
        <p:spPr>
          <a:xfrm>
            <a:off x="3047976" y="3496568"/>
            <a:ext cx="3883557" cy="365760"/>
          </a:xfrm>
          <a:prstGeom prst="rect">
            <a:avLst/>
          </a:prstGeom>
          <a:noFill/>
        </p:spPr>
        <p:txBody>
          <a:bodyPr wrap="square" lIns="0" rIns="0" tIns="0" bIns="0" anchor="ctr">
            <a:spAutoFit/>
          </a:bodyPr>
          <a:lstStyle/>
          <a:p>
            <a:pPr algn="l">
              <a:lnSpc>
                <a:spcPct val="116000"/>
              </a:lnSpc>
            </a:pPr>
            <a:r>
              <a:rPr sz="950" b="1" i="0">
                <a:solidFill>
                  <a:srgbClr val="FFFFFF"/>
                </a:solidFill>
                <a:latin typeface="Arial"/>
              </a:rPr>
              <a:t>Языковая модель</a:t>
            </a:r>
          </a:p>
        </p:txBody>
      </p:sp>
      <p:sp>
        <p:nvSpPr>
          <p:cNvPr id="17" name="Rectangle 16"/>
          <p:cNvSpPr/>
          <p:nvPr/>
        </p:nvSpPr>
        <p:spPr>
          <a:xfrm>
            <a:off x="7077837" y="3496568"/>
            <a:ext cx="4574361" cy="365760"/>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224141" y="3496568"/>
            <a:ext cx="4281753" cy="365760"/>
          </a:xfrm>
          <a:prstGeom prst="rect">
            <a:avLst/>
          </a:prstGeom>
          <a:noFill/>
        </p:spPr>
        <p:txBody>
          <a:bodyPr wrap="square" lIns="0" rIns="0" tIns="0" bIns="0" anchor="ctr">
            <a:spAutoFit/>
          </a:bodyPr>
          <a:lstStyle/>
          <a:p>
            <a:pPr algn="l">
              <a:lnSpc>
                <a:spcPct val="116000"/>
              </a:lnSpc>
            </a:pPr>
            <a:r>
              <a:rPr sz="950" b="1" i="0">
                <a:solidFill>
                  <a:srgbClr val="FFFFFF"/>
                </a:solidFill>
                <a:latin typeface="Arial"/>
              </a:rPr>
              <a:t>Медиа-модель (расшумление / поток)</a:t>
            </a:r>
          </a:p>
        </p:txBody>
      </p:sp>
      <p:sp>
        <p:nvSpPr>
          <p:cNvPr id="19" name="Rectangle 18"/>
          <p:cNvSpPr/>
          <p:nvPr/>
        </p:nvSpPr>
        <p:spPr>
          <a:xfrm>
            <a:off x="539496" y="3862328"/>
            <a:ext cx="2362176" cy="3657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800" y="3862328"/>
            <a:ext cx="2069568" cy="365760"/>
          </a:xfrm>
          <a:prstGeom prst="rect">
            <a:avLst/>
          </a:prstGeom>
          <a:noFill/>
        </p:spPr>
        <p:txBody>
          <a:bodyPr wrap="square" lIns="0" rIns="0" tIns="0" bIns="0" anchor="ctr">
            <a:spAutoFit/>
          </a:bodyPr>
          <a:lstStyle/>
          <a:p>
            <a:pPr algn="l">
              <a:lnSpc>
                <a:spcPct val="116000"/>
              </a:lnSpc>
            </a:pPr>
            <a:r>
              <a:rPr sz="950" b="1" i="0">
                <a:solidFill>
                  <a:srgbClr val="21295C"/>
                </a:solidFill>
                <a:latin typeface="Arial"/>
              </a:rPr>
              <a:t>Единица данных</a:t>
            </a:r>
          </a:p>
        </p:txBody>
      </p:sp>
      <p:sp>
        <p:nvSpPr>
          <p:cNvPr id="21" name="Rectangle 20"/>
          <p:cNvSpPr/>
          <p:nvPr/>
        </p:nvSpPr>
        <p:spPr>
          <a:xfrm>
            <a:off x="2901672" y="3862328"/>
            <a:ext cx="4176165" cy="365760"/>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3047976" y="3862328"/>
            <a:ext cx="3883557" cy="365760"/>
          </a:xfrm>
          <a:prstGeom prst="rect">
            <a:avLst/>
          </a:prstGeom>
          <a:noFill/>
        </p:spPr>
        <p:txBody>
          <a:bodyPr wrap="square" lIns="0" rIns="0" tIns="0" bIns="0" anchor="ctr">
            <a:spAutoFit/>
          </a:bodyPr>
          <a:lstStyle/>
          <a:p>
            <a:pPr algn="l">
              <a:lnSpc>
                <a:spcPct val="116000"/>
              </a:lnSpc>
            </a:pPr>
            <a:r>
              <a:rPr sz="950" b="0" i="0">
                <a:solidFill>
                  <a:srgbClr val="21295C"/>
                </a:solidFill>
                <a:latin typeface="Arial"/>
              </a:rPr>
              <a:t>токен из словаря ~200 тыс.</a:t>
            </a:r>
          </a:p>
        </p:txBody>
      </p:sp>
      <p:sp>
        <p:nvSpPr>
          <p:cNvPr id="23" name="Rectangle 22"/>
          <p:cNvSpPr/>
          <p:nvPr/>
        </p:nvSpPr>
        <p:spPr>
          <a:xfrm>
            <a:off x="7077837" y="3862328"/>
            <a:ext cx="4574361" cy="365760"/>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7224141" y="3862328"/>
            <a:ext cx="4281753" cy="365760"/>
          </a:xfrm>
          <a:prstGeom prst="rect">
            <a:avLst/>
          </a:prstGeom>
          <a:noFill/>
        </p:spPr>
        <p:txBody>
          <a:bodyPr wrap="square" lIns="0" rIns="0" tIns="0" bIns="0" anchor="ctr">
            <a:spAutoFit/>
          </a:bodyPr>
          <a:lstStyle/>
          <a:p>
            <a:pPr algn="l">
              <a:lnSpc>
                <a:spcPct val="116000"/>
              </a:lnSpc>
            </a:pPr>
            <a:r>
              <a:rPr sz="950" b="0" i="0">
                <a:solidFill>
                  <a:srgbClr val="21295C"/>
                </a:solidFill>
                <a:latin typeface="Arial"/>
              </a:rPr>
              <a:t>латентный патч, непрерывный вектор. </a:t>
            </a:r>
            <a:r>
              <a:rPr sz="950" b="1" i="0">
                <a:solidFill>
                  <a:srgbClr val="21295C"/>
                </a:solidFill>
                <a:latin typeface="Arial"/>
              </a:rPr>
              <a:t>Словаря нет</a:t>
            </a:r>
          </a:p>
        </p:txBody>
      </p:sp>
      <p:sp>
        <p:nvSpPr>
          <p:cNvPr id="25" name="Rectangle 24"/>
          <p:cNvSpPr/>
          <p:nvPr/>
        </p:nvSpPr>
        <p:spPr>
          <a:xfrm>
            <a:off x="539496" y="4228088"/>
            <a:ext cx="2362176" cy="3657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4228088"/>
            <a:ext cx="2069568" cy="365760"/>
          </a:xfrm>
          <a:prstGeom prst="rect">
            <a:avLst/>
          </a:prstGeom>
          <a:noFill/>
        </p:spPr>
        <p:txBody>
          <a:bodyPr wrap="square" lIns="0" rIns="0" tIns="0" bIns="0" anchor="ctr">
            <a:spAutoFit/>
          </a:bodyPr>
          <a:lstStyle/>
          <a:p>
            <a:pPr algn="l">
              <a:lnSpc>
                <a:spcPct val="116000"/>
              </a:lnSpc>
            </a:pPr>
            <a:r>
              <a:rPr sz="950" b="1" i="0">
                <a:solidFill>
                  <a:srgbClr val="21295C"/>
                </a:solidFill>
                <a:latin typeface="Arial"/>
              </a:rPr>
              <a:t>Кэш</a:t>
            </a:r>
          </a:p>
        </p:txBody>
      </p:sp>
      <p:sp>
        <p:nvSpPr>
          <p:cNvPr id="27" name="Rectangle 26"/>
          <p:cNvSpPr/>
          <p:nvPr/>
        </p:nvSpPr>
        <p:spPr>
          <a:xfrm>
            <a:off x="2901672" y="4228088"/>
            <a:ext cx="4176165" cy="3657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3047976" y="4228088"/>
            <a:ext cx="3883557" cy="365760"/>
          </a:xfrm>
          <a:prstGeom prst="rect">
            <a:avLst/>
          </a:prstGeom>
          <a:noFill/>
        </p:spPr>
        <p:txBody>
          <a:bodyPr wrap="square" lIns="0" rIns="0" tIns="0" bIns="0" anchor="ctr">
            <a:spAutoFit/>
          </a:bodyPr>
          <a:lstStyle/>
          <a:p>
            <a:pPr algn="l">
              <a:lnSpc>
                <a:spcPct val="116000"/>
              </a:lnSpc>
            </a:pPr>
            <a:r>
              <a:rPr sz="950" b="0" i="0">
                <a:solidFill>
                  <a:srgbClr val="21295C"/>
                </a:solidFill>
                <a:latin typeface="Arial"/>
              </a:rPr>
              <a:t>работает на неизменном контексте</a:t>
            </a:r>
          </a:p>
        </p:txBody>
      </p:sp>
      <p:sp>
        <p:nvSpPr>
          <p:cNvPr id="29" name="Rectangle 28"/>
          <p:cNvSpPr/>
          <p:nvPr/>
        </p:nvSpPr>
        <p:spPr>
          <a:xfrm>
            <a:off x="7077837" y="4228088"/>
            <a:ext cx="4574361" cy="365760"/>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224141" y="4228088"/>
            <a:ext cx="4281753" cy="365760"/>
          </a:xfrm>
          <a:prstGeom prst="rect">
            <a:avLst/>
          </a:prstGeom>
          <a:noFill/>
        </p:spPr>
        <p:txBody>
          <a:bodyPr wrap="square" lIns="0" rIns="0" tIns="0" bIns="0" anchor="ctr">
            <a:spAutoFit/>
          </a:bodyPr>
          <a:lstStyle/>
          <a:p>
            <a:pPr algn="l">
              <a:lnSpc>
                <a:spcPct val="116000"/>
              </a:lnSpc>
            </a:pPr>
            <a:r>
              <a:rPr sz="950" b="1" i="0">
                <a:solidFill>
                  <a:srgbClr val="21295C"/>
                </a:solidFill>
                <a:latin typeface="Arial"/>
              </a:rPr>
              <a:t>невозможен</a:t>
            </a:r>
            <a:r>
              <a:rPr sz="950" b="0" i="0">
                <a:solidFill>
                  <a:srgbClr val="21295C"/>
                </a:solidFill>
                <a:latin typeface="Arial"/>
              </a:rPr>
              <a:t>: все 4096 токенов меняются каждый шаг</a:t>
            </a:r>
          </a:p>
        </p:txBody>
      </p:sp>
      <p:sp>
        <p:nvSpPr>
          <p:cNvPr id="31" name="Rectangle 30"/>
          <p:cNvSpPr/>
          <p:nvPr/>
        </p:nvSpPr>
        <p:spPr>
          <a:xfrm>
            <a:off x="539496" y="4593848"/>
            <a:ext cx="2362176" cy="3657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4593848"/>
            <a:ext cx="2069568" cy="365760"/>
          </a:xfrm>
          <a:prstGeom prst="rect">
            <a:avLst/>
          </a:prstGeom>
          <a:noFill/>
        </p:spPr>
        <p:txBody>
          <a:bodyPr wrap="square" lIns="0" rIns="0" tIns="0" bIns="0" anchor="ctr">
            <a:spAutoFit/>
          </a:bodyPr>
          <a:lstStyle/>
          <a:p>
            <a:pPr algn="l">
              <a:lnSpc>
                <a:spcPct val="116000"/>
              </a:lnSpc>
            </a:pPr>
            <a:r>
              <a:rPr sz="950" b="1" i="0">
                <a:solidFill>
                  <a:srgbClr val="21295C"/>
                </a:solidFill>
                <a:latin typeface="Arial"/>
              </a:rPr>
              <a:t>Чем управляется выход</a:t>
            </a:r>
          </a:p>
        </p:txBody>
      </p:sp>
      <p:sp>
        <p:nvSpPr>
          <p:cNvPr id="33" name="Rectangle 32"/>
          <p:cNvSpPr/>
          <p:nvPr/>
        </p:nvSpPr>
        <p:spPr>
          <a:xfrm>
            <a:off x="2901672" y="4593848"/>
            <a:ext cx="4176165" cy="3657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3047976" y="4593848"/>
            <a:ext cx="3883557" cy="365760"/>
          </a:xfrm>
          <a:prstGeom prst="rect">
            <a:avLst/>
          </a:prstGeom>
          <a:noFill/>
        </p:spPr>
        <p:txBody>
          <a:bodyPr wrap="square" lIns="0" rIns="0" tIns="0" bIns="0" anchor="ctr">
            <a:spAutoFit/>
          </a:bodyPr>
          <a:lstStyle/>
          <a:p>
            <a:pPr algn="l">
              <a:lnSpc>
                <a:spcPct val="116000"/>
              </a:lnSpc>
            </a:pPr>
            <a:r>
              <a:rPr sz="950" b="0" i="0">
                <a:solidFill>
                  <a:srgbClr val="21295C"/>
                </a:solidFill>
                <a:latin typeface="Arial"/>
              </a:rPr>
              <a:t>температура, маскирование — </a:t>
            </a:r>
            <a:r>
              <a:rPr sz="950" b="1" i="0">
                <a:solidFill>
                  <a:srgbClr val="21295C"/>
                </a:solidFill>
                <a:latin typeface="Arial"/>
              </a:rPr>
              <a:t>гарантия формы</a:t>
            </a:r>
          </a:p>
        </p:txBody>
      </p:sp>
      <p:sp>
        <p:nvSpPr>
          <p:cNvPr id="35" name="Rectangle 34"/>
          <p:cNvSpPr/>
          <p:nvPr/>
        </p:nvSpPr>
        <p:spPr>
          <a:xfrm>
            <a:off x="7077837" y="4593848"/>
            <a:ext cx="4574361" cy="3657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224141" y="4593848"/>
            <a:ext cx="4281753" cy="365760"/>
          </a:xfrm>
          <a:prstGeom prst="rect">
            <a:avLst/>
          </a:prstGeom>
          <a:noFill/>
        </p:spPr>
        <p:txBody>
          <a:bodyPr wrap="square" lIns="0" rIns="0" tIns="0" bIns="0" anchor="ctr">
            <a:spAutoFit/>
          </a:bodyPr>
          <a:lstStyle/>
          <a:p>
            <a:pPr algn="l">
              <a:lnSpc>
                <a:spcPct val="116000"/>
              </a:lnSpc>
            </a:pPr>
            <a:r>
              <a:rPr sz="950" b="0" i="0">
                <a:solidFill>
                  <a:srgbClr val="21295C"/>
                </a:solidFill>
                <a:latin typeface="Arial"/>
              </a:rPr>
              <a:t>CFG, адаптеры. </a:t>
            </a:r>
            <a:r>
              <a:rPr sz="950" b="1" i="0">
                <a:solidFill>
                  <a:srgbClr val="21295C"/>
                </a:solidFill>
                <a:latin typeface="Arial"/>
              </a:rPr>
              <a:t>Гарантий нет ни одной</a:t>
            </a:r>
          </a:p>
        </p:txBody>
      </p:sp>
      <p:sp>
        <p:nvSpPr>
          <p:cNvPr id="37" name="Rectangle 36"/>
          <p:cNvSpPr/>
          <p:nvPr/>
        </p:nvSpPr>
        <p:spPr>
          <a:xfrm>
            <a:off x="539496" y="4959608"/>
            <a:ext cx="2362176" cy="3657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4959608"/>
            <a:ext cx="2069568" cy="365760"/>
          </a:xfrm>
          <a:prstGeom prst="rect">
            <a:avLst/>
          </a:prstGeom>
          <a:noFill/>
        </p:spPr>
        <p:txBody>
          <a:bodyPr wrap="square" lIns="0" rIns="0" tIns="0" bIns="0" anchor="ctr">
            <a:spAutoFit/>
          </a:bodyPr>
          <a:lstStyle/>
          <a:p>
            <a:pPr algn="l">
              <a:lnSpc>
                <a:spcPct val="116000"/>
              </a:lnSpc>
            </a:pPr>
            <a:r>
              <a:rPr sz="950" b="1" i="0">
                <a:solidFill>
                  <a:srgbClr val="21295C"/>
                </a:solidFill>
                <a:latin typeface="Arial"/>
              </a:rPr>
              <a:t>Провенанс</a:t>
            </a:r>
          </a:p>
        </p:txBody>
      </p:sp>
      <p:sp>
        <p:nvSpPr>
          <p:cNvPr id="39" name="Rectangle 38"/>
          <p:cNvSpPr/>
          <p:nvPr/>
        </p:nvSpPr>
        <p:spPr>
          <a:xfrm>
            <a:off x="2901672" y="4959608"/>
            <a:ext cx="4176165" cy="3657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47976" y="4959608"/>
            <a:ext cx="3883557" cy="365760"/>
          </a:xfrm>
          <a:prstGeom prst="rect">
            <a:avLst/>
          </a:prstGeom>
          <a:noFill/>
        </p:spPr>
        <p:txBody>
          <a:bodyPr wrap="square" lIns="0" rIns="0" tIns="0" bIns="0" anchor="ctr">
            <a:spAutoFit/>
          </a:bodyPr>
          <a:lstStyle/>
          <a:p>
            <a:pPr algn="l">
              <a:lnSpc>
                <a:spcPct val="116000"/>
              </a:lnSpc>
            </a:pPr>
            <a:r>
              <a:rPr sz="950" b="0" i="0">
                <a:solidFill>
                  <a:srgbClr val="21295C"/>
                </a:solidFill>
                <a:latin typeface="Arial"/>
              </a:rPr>
              <a:t>у ответа с поиском — </a:t>
            </a:r>
            <a:r>
              <a:rPr sz="950" b="1" i="0">
                <a:solidFill>
                  <a:srgbClr val="21295C"/>
                </a:solidFill>
                <a:latin typeface="Arial"/>
              </a:rPr>
              <a:t>есть</a:t>
            </a:r>
            <a:r>
              <a:rPr sz="950" b="0" i="0">
                <a:solidFill>
                  <a:srgbClr val="21295C"/>
                </a:solidFill>
                <a:latin typeface="Arial"/>
              </a:rPr>
              <a:t> ссылка</a:t>
            </a:r>
          </a:p>
        </p:txBody>
      </p:sp>
      <p:sp>
        <p:nvSpPr>
          <p:cNvPr id="41" name="Rectangle 40"/>
          <p:cNvSpPr/>
          <p:nvPr/>
        </p:nvSpPr>
        <p:spPr>
          <a:xfrm>
            <a:off x="7077837" y="4959608"/>
            <a:ext cx="4574361" cy="3657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224141" y="4959608"/>
            <a:ext cx="4281753" cy="365760"/>
          </a:xfrm>
          <a:prstGeom prst="rect">
            <a:avLst/>
          </a:prstGeom>
          <a:noFill/>
        </p:spPr>
        <p:txBody>
          <a:bodyPr wrap="square" lIns="0" rIns="0" tIns="0" bIns="0" anchor="ctr">
            <a:spAutoFit/>
          </a:bodyPr>
          <a:lstStyle/>
          <a:p>
            <a:pPr algn="l">
              <a:lnSpc>
                <a:spcPct val="116000"/>
              </a:lnSpc>
            </a:pPr>
            <a:r>
              <a:rPr sz="950" b="0" i="0">
                <a:solidFill>
                  <a:srgbClr val="21295C"/>
                </a:solidFill>
                <a:latin typeface="Arial"/>
              </a:rPr>
              <a:t>у кадра её </a:t>
            </a:r>
            <a:r>
              <a:rPr sz="950" b="1" i="0">
                <a:solidFill>
                  <a:srgbClr val="21295C"/>
                </a:solidFill>
                <a:latin typeface="Arial"/>
              </a:rPr>
              <a:t>нет и не может быть</a:t>
            </a:r>
          </a:p>
        </p:txBody>
      </p:sp>
      <p:sp>
        <p:nvSpPr>
          <p:cNvPr id="43" name="TextBox 42"/>
          <p:cNvSpPr txBox="1"/>
          <p:nvPr/>
        </p:nvSpPr>
        <p:spPr>
          <a:xfrm>
            <a:off x="539496" y="5471672"/>
            <a:ext cx="11112703" cy="194897"/>
          </a:xfrm>
          <a:prstGeom prst="rect">
            <a:avLst/>
          </a:prstGeom>
          <a:noFill/>
        </p:spPr>
        <p:txBody>
          <a:bodyPr wrap="square" lIns="0" rIns="0" tIns="0" bIns="0" anchor="t">
            <a:spAutoFit/>
          </a:bodyPr>
          <a:lstStyle/>
          <a:p>
            <a:pPr algn="l">
              <a:lnSpc>
                <a:spcPct val="124000"/>
              </a:lnSpc>
            </a:pPr>
            <a:r>
              <a:rPr sz="1000" b="0" i="1">
                <a:solidFill>
                  <a:srgbClr val="1C7293"/>
                </a:solidFill>
                <a:latin typeface="Arial"/>
              </a:rPr>
              <a:t>Полная таблица — одиннадцать строк, остальные семь — в заметках.</a:t>
            </a:r>
          </a:p>
        </p:txBody>
      </p:sp>
      <p:sp>
        <p:nvSpPr>
          <p:cNvPr id="44" name="TextBox 43"/>
          <p:cNvSpPr txBox="1"/>
          <p:nvPr/>
        </p:nvSpPr>
        <p:spPr>
          <a:xfrm>
            <a:off x="539496" y="5812873"/>
            <a:ext cx="11112703" cy="409284"/>
          </a:xfrm>
          <a:prstGeom prst="rect">
            <a:avLst/>
          </a:prstGeom>
          <a:noFill/>
        </p:spPr>
        <p:txBody>
          <a:bodyPr wrap="square" lIns="0" rIns="0" tIns="0" bIns="0" anchor="t">
            <a:spAutoFit/>
          </a:bodyPr>
          <a:lstStyle/>
          <a:p>
            <a:pPr algn="l">
              <a:lnSpc>
                <a:spcPct val="124000"/>
              </a:lnSpc>
            </a:pPr>
            <a:r>
              <a:rPr sz="1050" b="1" i="0">
                <a:solidFill>
                  <a:srgbClr val="21295C"/>
                </a:solidFill>
                <a:latin typeface="Arial"/>
              </a:rPr>
              <a:t>Обучить дешевле:</a:t>
            </a:r>
            <a:r>
              <a:rPr sz="1000" b="0" i="0">
                <a:solidFill>
                  <a:srgbClr val="21295C"/>
                </a:solidFill>
                <a:latin typeface="Arial"/>
              </a:rPr>
              <a:t> 150 000 часов видеокарт против ≈57 млн у передовой языковой. </a:t>
            </a:r>
            <a:r>
              <a:rPr sz="1050" b="1" i="0">
                <a:solidFill>
                  <a:srgbClr val="21295C"/>
                </a:solidFill>
                <a:latin typeface="Arial"/>
              </a:rPr>
              <a:t>Запустить дороже:</a:t>
            </a:r>
            <a:r>
              <a:rPr sz="1000" b="0" i="0">
                <a:solidFill>
                  <a:srgbClr val="21295C"/>
                </a:solidFill>
                <a:latin typeface="Arial"/>
              </a:rPr>
              <a:t> $120 за млн токенов картинки против $12 за млн текста у той же модели.</a:t>
            </a:r>
          </a:p>
        </p:txBody>
      </p:sp>
      <p:sp>
        <p:nvSpPr>
          <p:cNvPr id="45" name="Rectangle 44"/>
          <p:cNvSpPr/>
          <p:nvPr/>
        </p:nvSpPr>
        <p:spPr>
          <a:xfrm>
            <a:off x="502920" y="701366"/>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OpenAI, Addendum to GPT-4o System Card, 25.03.2025</a:t>
            </a:r>
            <a:r>
              <a:rPr sz="1200" b="0" i="1">
                <a:solidFill>
                  <a:srgbClr val="1C7293"/>
                </a:solidFill>
                <a:latin typeface="Arial"/>
              </a:rPr>
              <a:t> · </a:t>
            </a:r>
            <a:r>
              <a:rPr sz="1200" b="0" i="1">
                <a:solidFill>
                  <a:srgbClr val="1C7293"/>
                </a:solidFill>
                <a:latin typeface="Arial"/>
              </a:rPr>
              <a:t>Gemini 2.5 Flash Image, 2025</a:t>
            </a:r>
            <a:r>
              <a:rPr sz="1200" b="0" i="1">
                <a:solidFill>
                  <a:srgbClr val="1C7293"/>
                </a:solidFill>
                <a:latin typeface="Arial"/>
              </a:rPr>
              <a:t> · </a:t>
            </a: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Чего метод не умеет — и одно свойство, прочитанное с двух сторон</a:t>
            </a:r>
          </a:p>
        </p:txBody>
      </p:sp>
      <p:sp>
        <p:nvSpPr>
          <p:cNvPr id="4" name="Rounded Rectangle 3"/>
          <p:cNvSpPr/>
          <p:nvPr/>
        </p:nvSpPr>
        <p:spPr>
          <a:xfrm>
            <a:off x="502920" y="1335024"/>
            <a:ext cx="2673019" cy="2486025"/>
          </a:xfrm>
          <a:prstGeom prst="roundRect">
            <a:avLst>
              <a:gd name="adj" fmla="val 122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1 — ТЕКСТ: 25,12 ДБ НА 4 КАНАЛАХ ПРОТИВ 28,62 ДБ НА 16</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эти 3,5 децибела — разница между псевдобуквами и читаемой надписью</a:t>
            </a:r>
          </a:p>
        </p:txBody>
      </p:sp>
      <p:sp>
        <p:nvSpPr>
          <p:cNvPr id="7" name="TextBox 6"/>
          <p:cNvSpPr txBox="1"/>
          <p:nvPr/>
        </p:nvSpPr>
        <p:spPr>
          <a:xfrm>
            <a:off x="640080" y="278799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причина — текстовый кодировщик: без него деградируют длинный текст и сложные описания</a:t>
            </a:r>
          </a:p>
        </p:txBody>
      </p:sp>
      <p:sp>
        <p:nvSpPr>
          <p:cNvPr id="8" name="Rounded Rectangle 7"/>
          <p:cNvSpPr/>
          <p:nvPr/>
        </p:nvSpPr>
        <p:spPr>
          <a:xfrm>
            <a:off x="3340531" y="1335024"/>
            <a:ext cx="2673019" cy="2486025"/>
          </a:xfrm>
          <a:prstGeom prst="roundRect">
            <a:avLst>
              <a:gd name="adj" fmla="val 122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2 — СЧЁТ: ДЕРЖИТСЯ И СО СЛОВАРЁМ</a:t>
            </a:r>
          </a:p>
        </p:txBody>
      </p:sp>
      <p:sp>
        <p:nvSpPr>
          <p:cNvPr id="10" name="TextBox 9"/>
          <p:cNvSpPr txBox="1"/>
          <p:nvPr/>
        </p:nvSpPr>
        <p:spPr>
          <a:xfrm>
            <a:off x="3477691"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GPT-4o 0,85 против присутствия ≈0,99; лучшая модель 2026 — 23,9 из 100 (GenOlympiad)</a:t>
            </a:r>
          </a:p>
        </p:txBody>
      </p:sp>
      <p:sp>
        <p:nvSpPr>
          <p:cNvPr id="11" name="TextBox 10"/>
          <p:cNvSpPr txBox="1"/>
          <p:nvPr/>
        </p:nvSpPr>
        <p:spPr>
          <a:xfrm>
            <a:off x="3477691" y="278421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слово «три» — вес внимания, не счётчик</a:t>
            </a:r>
          </a:p>
        </p:txBody>
      </p:sp>
      <p:sp>
        <p:nvSpPr>
          <p:cNvPr id="12" name="Rounded Rectangle 11"/>
          <p:cNvSpPr/>
          <p:nvPr/>
        </p:nvSpPr>
        <p:spPr>
          <a:xfrm>
            <a:off x="6178143" y="1335024"/>
            <a:ext cx="2673019" cy="2486025"/>
          </a:xfrm>
          <a:prstGeom prst="roundRect">
            <a:avLst>
              <a:gd name="adj" fmla="val 1226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3 — СОГЛАСОВАННОСТЬ МЕЖДУ ГЕНЕРАЦИЯМИ</a:t>
            </a:r>
          </a:p>
        </p:txBody>
      </p:sp>
      <p:sp>
        <p:nvSpPr>
          <p:cNvPr id="14" name="TextBox 13"/>
          <p:cNvSpPr txBox="1"/>
          <p:nvPr/>
        </p:nvSpPr>
        <p:spPr>
          <a:xfrm>
            <a:off x="6315303" y="2140317"/>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у диффузии не существует; у авторегрессии лучше, не решено</a:t>
            </a:r>
          </a:p>
        </p:txBody>
      </p:sp>
      <p:sp>
        <p:nvSpPr>
          <p:cNvPr id="15" name="TextBox 14"/>
          <p:cNvSpPr txBox="1"/>
          <p:nvPr/>
        </p:nvSpPr>
        <p:spPr>
          <a:xfrm>
            <a:off x="6315303" y="283891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диффузия: нет истории. Авторегрессия: растущий контекст, drift остаётся на длинных сериях</a:t>
            </a:r>
          </a:p>
        </p:txBody>
      </p:sp>
      <p:sp>
        <p:nvSpPr>
          <p:cNvPr id="16" name="Rounded Rectangle 15"/>
          <p:cNvSpPr/>
          <p:nvPr/>
        </p:nvSpPr>
        <p:spPr>
          <a:xfrm>
            <a:off x="9015755" y="1335024"/>
            <a:ext cx="2673019" cy="2486025"/>
          </a:xfrm>
          <a:prstGeom prst="roundRect">
            <a:avLst>
              <a:gd name="adj" fmla="val 1226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СВОЙСТВО — ДВЕ СТОРОНЫ</a:t>
            </a:r>
          </a:p>
        </p:txBody>
      </p:sp>
      <p:sp>
        <p:nvSpPr>
          <p:cNvPr id="18" name="TextBox 17"/>
          <p:cNvSpPr txBox="1"/>
          <p:nvPr/>
        </p:nvSpPr>
        <p:spPr>
          <a:xfrm>
            <a:off x="9152915" y="1932846"/>
            <a:ext cx="2398699"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дало: сжатие ×48 → карта 6–8 ГБ, $0,034–0,05 за попытку</a:t>
            </a:r>
          </a:p>
        </p:txBody>
      </p:sp>
      <p:sp>
        <p:nvSpPr>
          <p:cNvPr id="19" name="TextBox 18"/>
          <p:cNvSpPr txBox="1"/>
          <p:nvPr/>
        </p:nvSpPr>
        <p:spPr>
          <a:xfrm>
            <a:off x="9152915" y="237682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забрало: буква размывается ДО генерации, лицо на дальнем плане — единицы ячеек латента</a:t>
            </a:r>
          </a:p>
        </p:txBody>
      </p:sp>
      <p:sp>
        <p:nvSpPr>
          <p:cNvPr id="20" name="TextBox 19"/>
          <p:cNvSpPr txBox="1"/>
          <p:nvPr/>
        </p:nvSpPr>
        <p:spPr>
          <a:xfrm>
            <a:off x="502920" y="40405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Буква</a:t>
            </a:r>
          </a:p>
        </p:txBody>
      </p:sp>
      <p:sp>
        <p:nvSpPr>
          <p:cNvPr id="21" name="Rounded Rectangle 20"/>
          <p:cNvSpPr/>
          <p:nvPr/>
        </p:nvSpPr>
        <p:spPr>
          <a:xfrm>
            <a:off x="1920240" y="40039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0496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сжатие в 48 раз</a:t>
            </a:r>
          </a:p>
        </p:txBody>
      </p:sp>
      <p:sp>
        <p:nvSpPr>
          <p:cNvPr id="23" name="Right Arrow 22"/>
          <p:cNvSpPr/>
          <p:nvPr/>
        </p:nvSpPr>
        <p:spPr>
          <a:xfrm>
            <a:off x="5039258" y="417304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40039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40496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размыта до генератора</a:t>
            </a:r>
          </a:p>
        </p:txBody>
      </p:sp>
      <p:sp>
        <p:nvSpPr>
          <p:cNvPr id="26" name="Right Arrow 25"/>
          <p:cNvSpPr/>
          <p:nvPr/>
        </p:nvSpPr>
        <p:spPr>
          <a:xfrm>
            <a:off x="8386876" y="417304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40039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40496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псевдобуквы</a:t>
            </a:r>
          </a:p>
        </p:txBody>
      </p:sp>
      <p:sp>
        <p:nvSpPr>
          <p:cNvPr id="29" name="TextBox 28"/>
          <p:cNvSpPr txBox="1"/>
          <p:nvPr/>
        </p:nvSpPr>
        <p:spPr>
          <a:xfrm>
            <a:off x="502920" y="46622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a:t>
            </a:r>
          </a:p>
        </p:txBody>
      </p:sp>
      <p:sp>
        <p:nvSpPr>
          <p:cNvPr id="30" name="Rounded Rectangle 29"/>
          <p:cNvSpPr/>
          <p:nvPr/>
        </p:nvSpPr>
        <p:spPr>
          <a:xfrm>
            <a:off x="1920240" y="46256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713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нет единицы объекта</a:t>
            </a:r>
          </a:p>
        </p:txBody>
      </p:sp>
      <p:sp>
        <p:nvSpPr>
          <p:cNvPr id="32" name="Right Arrow 31"/>
          <p:cNvSpPr/>
          <p:nvPr/>
        </p:nvSpPr>
        <p:spPr>
          <a:xfrm>
            <a:off x="5039258" y="4794742"/>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6256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5350154" y="46713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«три» — вес внимания</a:t>
            </a:r>
          </a:p>
        </p:txBody>
      </p:sp>
      <p:sp>
        <p:nvSpPr>
          <p:cNvPr id="35" name="Right Arrow 34"/>
          <p:cNvSpPr/>
          <p:nvPr/>
        </p:nvSpPr>
        <p:spPr>
          <a:xfrm>
            <a:off x="8386876" y="479474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6256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713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считать нечему</a:t>
            </a:r>
          </a:p>
        </p:txBody>
      </p:sp>
      <p:sp>
        <p:nvSpPr>
          <p:cNvPr id="38" name="Rounded Rectangle 37"/>
          <p:cNvSpPr/>
          <p:nvPr/>
        </p:nvSpPr>
        <p:spPr>
          <a:xfrm>
            <a:off x="374904" y="5192459"/>
            <a:ext cx="11441887" cy="10437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83899"/>
            <a:ext cx="11112703" cy="952308"/>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отказа, причины разные. Текст — цена того же сжатия, которое дало дешёвую попытку. Счёт и согласованность — другая причина, и она держится даже со словарём.</a:t>
            </a:r>
          </a:p>
          <a:p>
            <a:pPr algn="l">
              <a:lnSpc>
                <a:spcPct val="126000"/>
              </a:lnSpc>
              <a:spcBef>
                <a:spcPts val="700"/>
              </a:spcBef>
            </a:pPr>
            <a:r>
              <a:rPr sz="1450" b="0" i="0">
                <a:solidFill>
                  <a:srgbClr val="21295C"/>
                </a:solidFill>
                <a:latin typeface="Arial"/>
              </a:rPr>
              <a:t/>
            </a:r>
            <a:r>
              <a:rPr sz="1450" b="1" i="0">
                <a:solidFill>
                  <a:srgbClr val="21295C"/>
                </a:solidFill>
                <a:latin typeface="Arial"/>
              </a:rPr>
              <a:t>Выигрыш и отказ пришли из одного места — спрашивайте, что инструмент сжал, чтобы стать дешёвым.</a:t>
            </a:r>
          </a:p>
        </p:txBody>
      </p:sp>
      <p:sp>
        <p:nvSpPr>
          <p:cNvPr id="40" name="Rectangle 3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1" name="TextBox 4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GenEval, GenEval-2 (2026, arXiv:2512.16853), GenOlympiad (2026, arXiv:2610.26850), T2I-CompBench++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Точных размеров нет: генератор не заменяет САПР. И «RAG для картинок» — категориальная ошибка</a:t>
            </a:r>
          </a:p>
        </p:txBody>
      </p:sp>
      <p:sp>
        <p:nvSpPr>
          <p:cNvPr id="4" name="Rounded Rectangle 3"/>
          <p:cNvSpPr/>
          <p:nvPr/>
        </p:nvSpPr>
        <p:spPr>
          <a:xfrm>
            <a:off x="502920" y="1335024"/>
            <a:ext cx="5510631" cy="1979607"/>
          </a:xfrm>
          <a:prstGeom prst="roundRect">
            <a:avLst>
              <a:gd name="adj" fmla="val 1539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ФОРМУЛИРОВКА, КОТОРУЮ СТОИТ УНЕСТИ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генератор отвечает «как это выглядит». САПР отвечает «что это такое»</a:t>
            </a:r>
          </a:p>
        </p:txBody>
      </p:sp>
      <p:sp>
        <p:nvSpPr>
          <p:cNvPr id="7" name="TextBox 6"/>
          <p:cNvSpPr txBox="1"/>
          <p:nvPr/>
        </p:nvSpPr>
        <p:spPr>
          <a:xfrm>
            <a:off x="640080" y="29332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подменять второй первым — подлог, а не экономия</a:t>
            </a:r>
          </a:p>
        </p:txBody>
      </p:sp>
      <p:sp>
        <p:nvSpPr>
          <p:cNvPr id="8" name="Rounded Rectangle 7"/>
          <p:cNvSpPr/>
          <p:nvPr/>
        </p:nvSpPr>
        <p:spPr>
          <a:xfrm>
            <a:off x="6178143" y="1335024"/>
            <a:ext cx="5510631" cy="1979607"/>
          </a:xfrm>
          <a:prstGeom prst="roundRect">
            <a:avLst>
              <a:gd name="adj" fmla="val 1539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ПРОВЕРКА — ДЛЯ ТЕКСТОВОГО ЗАДАНИЯ</a:t>
            </a:r>
          </a:p>
        </p:txBody>
      </p:sp>
      <p:sp>
        <p:nvSpPr>
          <p:cNvPr id="10" name="TextBox 9"/>
          <p:cNvSpPr txBox="1"/>
          <p:nvPr/>
        </p:nvSpPr>
        <p:spPr>
          <a:xfrm>
            <a:off x="6315303" y="1725375"/>
            <a:ext cx="5236311" cy="1029608"/>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подложить источник в контекст работает у языковой модели и не у одной архитектуры генерации изображений</a:t>
            </a:r>
          </a:p>
        </p:txBody>
      </p:sp>
      <p:sp>
        <p:nvSpPr>
          <p:cNvPr id="11" name="TextBox 10"/>
          <p:cNvSpPr txBox="1"/>
          <p:nvPr/>
        </p:nvSpPr>
        <p:spPr>
          <a:xfrm>
            <a:off x="6315303" y="275498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расшумления контекста нет вовсе; у авторегрессии контекст есть, но токен не сверяется с фактом</a:t>
            </a:r>
          </a:p>
        </p:txBody>
      </p:sp>
      <p:sp>
        <p:nvSpPr>
          <p:cNvPr id="12" name="Rounded Rectangle 11"/>
          <p:cNvSpPr/>
          <p:nvPr/>
        </p:nvSpPr>
        <p:spPr>
          <a:xfrm>
            <a:off x="502920" y="3497511"/>
            <a:ext cx="5437479" cy="1637153"/>
          </a:xfrm>
          <a:prstGeom prst="roundRect">
            <a:avLst>
              <a:gd name="adj" fmla="val 18617"/>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65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Чего нельзя</a:t>
            </a:r>
          </a:p>
        </p:txBody>
      </p:sp>
      <p:sp>
        <p:nvSpPr>
          <p:cNvPr id="14" name="TextBox 13"/>
          <p:cNvSpPr txBox="1"/>
          <p:nvPr/>
        </p:nvSpPr>
        <p:spPr>
          <a:xfrm>
            <a:off x="667512" y="4009137"/>
            <a:ext cx="5108295" cy="970079"/>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Измерить — масштаба в изображении нет</a:t>
            </a:r>
          </a:p>
          <a:p>
            <a:pPr algn="l">
              <a:lnSpc>
                <a:spcPct val="126000"/>
              </a:lnSpc>
            </a:pPr>
            <a:r>
              <a:rPr sz="1250" b="0" i="0">
                <a:solidFill>
                  <a:srgbClr val="21295C"/>
                </a:solidFill>
                <a:latin typeface="Arial"/>
              </a:rPr>
              <a:t>• Проверить — ВЫГЛЯДИТ как прошедшая расчёт, а не прошла</a:t>
            </a:r>
          </a:p>
          <a:p>
            <a:pPr algn="l">
              <a:lnSpc>
                <a:spcPct val="126000"/>
              </a:lnSpc>
            </a:pPr>
            <a:r>
              <a:rPr sz="1250" b="0" i="0">
                <a:solidFill>
                  <a:srgbClr val="21295C"/>
                </a:solidFill>
                <a:latin typeface="Arial"/>
              </a:rPr>
              <a:t>• Изготовить и сопровождать — геометрии и дерева построения нет</a:t>
            </a:r>
          </a:p>
        </p:txBody>
      </p:sp>
      <p:sp>
        <p:nvSpPr>
          <p:cNvPr id="15" name="Rounded Rectangle 14"/>
          <p:cNvSpPr/>
          <p:nvPr/>
        </p:nvSpPr>
        <p:spPr>
          <a:xfrm>
            <a:off x="6251295" y="3497511"/>
            <a:ext cx="5437479" cy="1637153"/>
          </a:xfrm>
          <a:prstGeom prst="roundRect">
            <a:avLst>
              <a:gd name="adj" fmla="val 18617"/>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65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Где генератор полезен</a:t>
            </a:r>
          </a:p>
        </p:txBody>
      </p:sp>
      <p:sp>
        <p:nvSpPr>
          <p:cNvPr id="17" name="TextBox 16"/>
          <p:cNvSpPr txBox="1"/>
          <p:nvPr/>
        </p:nvSpPr>
        <p:spPr>
          <a:xfrm>
            <a:off x="6415887" y="4009137"/>
            <a:ext cx="5108295" cy="970079"/>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Поиск облика — раскадровка, варианты формы</a:t>
            </a:r>
          </a:p>
          <a:p>
            <a:pPr algn="l">
              <a:lnSpc>
                <a:spcPct val="126000"/>
              </a:lnSpc>
            </a:pPr>
            <a:r>
              <a:rPr sz="1400" b="0" i="0">
                <a:solidFill>
                  <a:srgbClr val="21295C"/>
                </a:solidFill>
                <a:latin typeface="Arial"/>
              </a:rPr>
              <a:t>• Визуализация уже посчитанного — рендер, свет</a:t>
            </a:r>
          </a:p>
          <a:p>
            <a:pPr algn="l">
              <a:lnSpc>
                <a:spcPct val="126000"/>
              </a:lnSpc>
            </a:pPr>
            <a:r>
              <a:rPr sz="1400" b="0" i="0">
                <a:solidFill>
                  <a:srgbClr val="21295C"/>
                </a:solidFill>
                <a:latin typeface="Arial"/>
              </a:rPr>
              <a:t>• Граница: там, где картинка становится источником данных</a:t>
            </a:r>
          </a:p>
        </p:txBody>
      </p:sp>
      <p:sp>
        <p:nvSpPr>
          <p:cNvPr id="18" name="Rounded Rectangle 17"/>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Изображение детали, на котором «похоже, что резьба М12», не содержит резьбы М12: в нём точки растра, похожие на фотографии резьбы.</a:t>
            </a:r>
          </a:p>
          <a:p>
            <a:pPr algn="l">
              <a:lnSpc>
                <a:spcPct val="126000"/>
              </a:lnSpc>
              <a:spcBef>
                <a:spcPts val="700"/>
              </a:spcBef>
            </a:pPr>
            <a:r>
              <a:rPr sz="1250" b="0" i="0">
                <a:solidFill>
                  <a:srgbClr val="21295C"/>
                </a:solidFill>
                <a:latin typeface="Arial"/>
              </a:rPr>
              <a:t/>
            </a:r>
            <a:r>
              <a:rPr sz="1250" b="1" i="0">
                <a:solidFill>
                  <a:srgbClr val="21295C"/>
                </a:solidFill>
                <a:latin typeface="Arial"/>
              </a:rPr>
              <a:t>Есть приём, которым чинят уверенное враньё языковой модели: источник в контекст, ссылка на выходе. Для картинок он не работает ни у одной архитектуры, и причины разные.</a:t>
            </a:r>
          </a:p>
        </p:txBody>
      </p:sp>
      <p:sp>
        <p:nvSpPr>
          <p:cNvPr id="20" name="Rectangle 19"/>
          <p:cNvSpPr/>
          <p:nvPr/>
        </p:nvSpPr>
        <p:spPr>
          <a:xfrm>
            <a:off x="502920" y="701366"/>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OpenAI, Addendum to GPT-4o System Card, 25.03.2025</a:t>
            </a:r>
            <a:r>
              <a:rPr sz="1200" b="0" i="1">
                <a:solidFill>
                  <a:srgbClr val="1C7293"/>
                </a:solidFill>
                <a:latin typeface="Arial"/>
              </a:rPr>
              <a:t> · </a:t>
            </a:r>
            <a:r>
              <a:rPr sz="1200" b="0" i="1">
                <a:solidFill>
                  <a:srgbClr val="1C7293"/>
                </a:solidFill>
                <a:latin typeface="Arial"/>
              </a:rPr>
              <a:t>Gemini 2.5 Flash Image,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стало с продавцом изображений: один и тот же манёвр с разницей в двадцать лет</a:t>
            </a:r>
          </a:p>
        </p:txBody>
      </p:sp>
      <p:sp>
        <p:nvSpPr>
          <p:cNvPr id="4" name="Rounded Rectangle 3"/>
          <p:cNvSpPr/>
          <p:nvPr/>
        </p:nvSpPr>
        <p:spPr>
          <a:xfrm>
            <a:off x="502920" y="1335024"/>
            <a:ext cx="5474055" cy="3080015"/>
          </a:xfrm>
          <a:prstGeom prst="roundRect">
            <a:avLst>
              <a:gd name="adj" fmla="val 989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9616"/>
            <a:ext cx="5144871" cy="27159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2006 — купить разрушителя цены. Сработало</a:t>
            </a:r>
          </a:p>
        </p:txBody>
      </p:sp>
      <p:sp>
        <p:nvSpPr>
          <p:cNvPr id="6" name="TextBox 5"/>
          <p:cNvSpPr txBox="1"/>
          <p:nvPr/>
        </p:nvSpPr>
        <p:spPr>
          <a:xfrm>
            <a:off x="667512" y="1880942"/>
            <a:ext cx="5144871"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Событие</a:t>
            </a:r>
          </a:p>
        </p:txBody>
      </p:sp>
      <p:sp>
        <p:nvSpPr>
          <p:cNvPr id="7" name="TextBox 6"/>
          <p:cNvSpPr txBox="1"/>
          <p:nvPr/>
        </p:nvSpPr>
        <p:spPr>
          <a:xfrm>
            <a:off x="667512" y="2120561"/>
            <a:ext cx="5144871" cy="483785"/>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цена падает — классика $100s–$1000s против микростока $0,25–1</a:t>
            </a:r>
          </a:p>
        </p:txBody>
      </p:sp>
      <p:sp>
        <p:nvSpPr>
          <p:cNvPr id="8" name="TextBox 7"/>
          <p:cNvSpPr txBox="1"/>
          <p:nvPr/>
        </p:nvSpPr>
        <p:spPr>
          <a:xfrm>
            <a:off x="868680" y="2695786"/>
            <a:ext cx="4943703"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Реакция</a:t>
            </a:r>
          </a:p>
        </p:txBody>
      </p:sp>
      <p:sp>
        <p:nvSpPr>
          <p:cNvPr id="9" name="TextBox 8"/>
          <p:cNvSpPr txBox="1"/>
          <p:nvPr/>
        </p:nvSpPr>
        <p:spPr>
          <a:xfrm>
            <a:off x="868680" y="2935405"/>
            <a:ext cx="4943703" cy="483785"/>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владелец библиотеки покупает микросток — своего разрушителя цены</a:t>
            </a:r>
          </a:p>
        </p:txBody>
      </p:sp>
      <p:sp>
        <p:nvSpPr>
          <p:cNvPr id="10" name="Rounded Rectangle 9"/>
          <p:cNvSpPr/>
          <p:nvPr/>
        </p:nvSpPr>
        <p:spPr>
          <a:xfrm>
            <a:off x="667512" y="3547206"/>
            <a:ext cx="5144871" cy="703241"/>
          </a:xfrm>
          <a:prstGeom prst="roundRect">
            <a:avLst>
              <a:gd name="adj" fmla="val 14000"/>
            </a:avLst>
          </a:prstGeom>
          <a:solidFill>
            <a:srgbClr val="F0AB00"/>
          </a:solidFill>
          <a:ln>
            <a:noFill/>
          </a:ln>
          <a:effectLst/>
        </p:spPr>
        <p:txBody>
          <a:bodyPr rtlCol="0" anchor="ctr"/>
          <a:lstStyle/>
          <a:p>
            <a:pPr algn="ctr"/>
          </a:p>
        </p:txBody>
      </p:sp>
      <p:sp>
        <p:nvSpPr>
          <p:cNvPr id="11" name="TextBox 10"/>
          <p:cNvSpPr txBox="1"/>
          <p:nvPr/>
        </p:nvSpPr>
        <p:spPr>
          <a:xfrm>
            <a:off x="777240" y="3656934"/>
            <a:ext cx="4925415" cy="483785"/>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верхний сегмент выжил — микросток был НОВЫМ КАНАЛОМ продажи той же вещи</a:t>
            </a:r>
          </a:p>
        </p:txBody>
      </p:sp>
      <p:sp>
        <p:nvSpPr>
          <p:cNvPr id="12" name="Rounded Rectangle 11"/>
          <p:cNvSpPr/>
          <p:nvPr/>
        </p:nvSpPr>
        <p:spPr>
          <a:xfrm>
            <a:off x="6214719" y="1335024"/>
            <a:ext cx="5474055" cy="3080015"/>
          </a:xfrm>
          <a:prstGeom prst="roundRect">
            <a:avLst>
              <a:gd name="adj" fmla="val 9896"/>
            </a:avLst>
          </a:prstGeom>
          <a:solidFill>
            <a:srgbClr val="F4F7FA"/>
          </a:solidFill>
          <a:ln w="19050">
            <a:solidFill>
              <a:srgbClr val="028090"/>
            </a:solidFill>
          </a:ln>
          <a:effectLst/>
        </p:spPr>
        <p:txBody>
          <a:bodyPr rtlCol="0" anchor="ctr"/>
          <a:lstStyle/>
          <a:p>
            <a:pPr algn="ctr"/>
          </a:p>
        </p:txBody>
      </p:sp>
      <p:sp>
        <p:nvSpPr>
          <p:cNvPr id="13" name="TextBox 12"/>
          <p:cNvSpPr txBox="1"/>
          <p:nvPr/>
        </p:nvSpPr>
        <p:spPr>
          <a:xfrm>
            <a:off x="6379311" y="1499616"/>
            <a:ext cx="5144871" cy="27159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2026 — купить конкурента. Не прошло</a:t>
            </a:r>
          </a:p>
        </p:txBody>
      </p:sp>
      <p:sp>
        <p:nvSpPr>
          <p:cNvPr id="14" name="TextBox 13"/>
          <p:cNvSpPr txBox="1"/>
          <p:nvPr/>
        </p:nvSpPr>
        <p:spPr>
          <a:xfrm>
            <a:off x="6379311" y="1880942"/>
            <a:ext cx="5144871"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Событие</a:t>
            </a:r>
          </a:p>
        </p:txBody>
      </p:sp>
      <p:sp>
        <p:nvSpPr>
          <p:cNvPr id="15" name="TextBox 14"/>
          <p:cNvSpPr txBox="1"/>
          <p:nvPr/>
        </p:nvSpPr>
        <p:spPr>
          <a:xfrm>
            <a:off x="6379311" y="2120561"/>
            <a:ext cx="5144871" cy="241892"/>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цена падает снова — теперь из-за генерации</a:t>
            </a:r>
          </a:p>
        </p:txBody>
      </p:sp>
      <p:sp>
        <p:nvSpPr>
          <p:cNvPr id="16" name="TextBox 15"/>
          <p:cNvSpPr txBox="1"/>
          <p:nvPr/>
        </p:nvSpPr>
        <p:spPr>
          <a:xfrm>
            <a:off x="6580479" y="2453893"/>
            <a:ext cx="4943703"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Реакция</a:t>
            </a:r>
          </a:p>
        </p:txBody>
      </p:sp>
      <p:sp>
        <p:nvSpPr>
          <p:cNvPr id="17" name="TextBox 16"/>
          <p:cNvSpPr txBox="1"/>
          <p:nvPr/>
        </p:nvSpPr>
        <p:spPr>
          <a:xfrm>
            <a:off x="6580479" y="2693512"/>
            <a:ext cx="4943703" cy="241892"/>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тот же игрок пытается объединиться с конкурентом</a:t>
            </a:r>
          </a:p>
        </p:txBody>
      </p:sp>
      <p:sp>
        <p:nvSpPr>
          <p:cNvPr id="18" name="Rounded Rectangle 17"/>
          <p:cNvSpPr/>
          <p:nvPr/>
        </p:nvSpPr>
        <p:spPr>
          <a:xfrm>
            <a:off x="6379311" y="3063421"/>
            <a:ext cx="5144871" cy="703241"/>
          </a:xfrm>
          <a:prstGeom prst="roundRect">
            <a:avLst>
              <a:gd name="adj" fmla="val 14000"/>
            </a:avLst>
          </a:prstGeom>
          <a:solidFill>
            <a:srgbClr val="F0AB00"/>
          </a:solidFill>
          <a:ln>
            <a:noFill/>
          </a:ln>
          <a:effectLst/>
        </p:spPr>
        <p:txBody>
          <a:bodyPr rtlCol="0" anchor="ctr"/>
          <a:lstStyle/>
          <a:p>
            <a:pPr algn="ctr"/>
          </a:p>
        </p:txBody>
      </p:sp>
      <p:sp>
        <p:nvSpPr>
          <p:cNvPr id="19" name="TextBox 18"/>
          <p:cNvSpPr txBox="1"/>
          <p:nvPr/>
        </p:nvSpPr>
        <p:spPr>
          <a:xfrm>
            <a:off x="6489039" y="3173149"/>
            <a:ext cx="4925415" cy="483785"/>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генерация — ОТСУТСТВИЕ ВЕЩИ: владельца нет, купить некого</a:t>
            </a:r>
          </a:p>
        </p:txBody>
      </p:sp>
      <p:sp>
        <p:nvSpPr>
          <p:cNvPr id="20" name="Rounded Rectangle 19"/>
          <p:cNvSpPr/>
          <p:nvPr/>
        </p:nvSpPr>
        <p:spPr>
          <a:xfrm>
            <a:off x="502920" y="4597919"/>
            <a:ext cx="11185855" cy="5660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49224" y="4744223"/>
            <a:ext cx="10893247" cy="273484"/>
          </a:xfrm>
          <a:prstGeom prst="rect">
            <a:avLst/>
          </a:prstGeom>
          <a:noFill/>
        </p:spPr>
        <p:txBody>
          <a:bodyPr wrap="square" lIns="0" rIns="0" tIns="0" bIns="0" anchor="t">
            <a:spAutoFit/>
          </a:bodyPr>
          <a:lstStyle/>
          <a:p>
            <a:pPr algn="ctr">
              <a:lnSpc>
                <a:spcPct val="116000"/>
              </a:lnSpc>
            </a:pPr>
            <a:r>
              <a:rPr sz="1500" b="1" i="0">
                <a:solidFill>
                  <a:srgbClr val="21295C"/>
                </a:solidFill>
                <a:latin typeface="Arial"/>
              </a:rPr>
              <a:t>Дешевеет канал — купит тот, кто выживет. Обесценивается единица — покупать нечего</a:t>
            </a:r>
          </a:p>
        </p:txBody>
      </p:sp>
      <p:sp>
        <p:nvSpPr>
          <p:cNvPr id="22" name="Rounded Rectangle 21"/>
          <p:cNvSpPr/>
          <p:nvPr/>
        </p:nvSpPr>
        <p:spPr>
          <a:xfrm>
            <a:off x="374904" y="5255452"/>
            <a:ext cx="11441887" cy="89793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346892"/>
            <a:ext cx="11112703" cy="8893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Подписчики: 321 000 → 240 000 за год. Долг ≈$2,1 млрд, банкротство — октябрь 2026.</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Когда дешевеет канал, выживает тот, кто его купит. Когда обесценивается сама единица, покупать нечего: владельца у неё нет.</a:t>
            </a: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отчётность и корпоративные сообщения Getty Images, 2006 и 2026</a:t>
            </a:r>
            <a:r>
              <a:rPr sz="1200" b="0" i="1">
                <a:solidFill>
                  <a:srgbClr val="1C7293"/>
                </a:solidFill>
                <a:latin typeface="Arial"/>
              </a:rPr>
              <a:t> · </a:t>
            </a:r>
            <a:r>
              <a:rPr sz="1200" b="0" i="1">
                <a:solidFill>
                  <a:srgbClr val="1C7293"/>
                </a:solidFill>
                <a:latin typeface="Arial"/>
              </a:rPr>
              <a:t>прейскуранты стоковых агентств</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3618890"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a:t>
            </a:r>
          </a:p>
        </p:txBody>
      </p:sp>
      <p:sp>
        <p:nvSpPr>
          <p:cNvPr id="6" name="TextBox 5"/>
          <p:cNvSpPr txBox="1"/>
          <p:nvPr/>
        </p:nvSpPr>
        <p:spPr>
          <a:xfrm>
            <a:off x="640080" y="1725375"/>
            <a:ext cx="3344570"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4,27 ГБ ÷ 2,32 млрд изображений = 1,84 байта</a:t>
            </a:r>
          </a:p>
        </p:txBody>
      </p:sp>
      <p:sp>
        <p:nvSpPr>
          <p:cNvPr id="7" name="TextBox 6"/>
          <p:cNvSpPr txBox="1"/>
          <p:nvPr/>
        </p:nvSpPr>
        <p:spPr>
          <a:xfrm>
            <a:off x="640080" y="24409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буквы кириллицы; сжатие по корпусу ×22 508 — картинка в корпусе весит в среднем 41 379 байт</a:t>
            </a:r>
          </a:p>
        </p:txBody>
      </p:sp>
      <p:sp>
        <p:nvSpPr>
          <p:cNvPr id="8" name="Rounded Rectangle 7"/>
          <p:cNvSpPr/>
          <p:nvPr/>
        </p:nvSpPr>
        <p:spPr>
          <a:xfrm>
            <a:off x="4286402" y="1335024"/>
            <a:ext cx="3618890"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ДАЖЕ ПО САМОМУ ЩЕДРОМУ СЧЁТУ</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26,7 байта на картинку</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160 млн сверенных примеров — в полторы тысячи раз меньше JPEG 512×512 (короче 20 000 байт не бывает)</a:t>
            </a:r>
          </a:p>
        </p:txBody>
      </p:sp>
      <p:sp>
        <p:nvSpPr>
          <p:cNvPr id="12" name="Rounded Rectangle 11"/>
          <p:cNvSpPr/>
          <p:nvPr/>
        </p:nvSpPr>
        <p:spPr>
          <a:xfrm>
            <a:off x="8069884" y="1335024"/>
            <a:ext cx="3618890"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ИЗВЛЕЧЕНО CARLINI И СОАВТ., 2023</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109 изображений из 175 млн кандидатов</a:t>
            </a:r>
          </a:p>
        </p:txBody>
      </p:sp>
      <p:sp>
        <p:nvSpPr>
          <p:cNvPr id="15" name="TextBox 14"/>
          <p:cNvSpPr txBox="1"/>
          <p:nvPr/>
        </p:nvSpPr>
        <p:spPr>
          <a:xfrm>
            <a:off x="8207044" y="2542797"/>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отобрали 350 000 самых дублированных примеров, сгенерировали по 500 на каждый; порог извлечения — сто дубликатов в корпусе</a:t>
            </a:r>
          </a:p>
        </p:txBody>
      </p:sp>
      <p:sp>
        <p:nvSpPr>
          <p:cNvPr id="16" name="Rounded Rectangle 15"/>
          <p:cNvSpPr/>
          <p:nvPr/>
        </p:nvSpPr>
        <p:spPr>
          <a:xfrm>
            <a:off x="374904" y="3616371"/>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07811"/>
            <a:ext cx="5373471" cy="2528396"/>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Адрес платежа: ПРАВА.</a:t>
            </a:r>
          </a:p>
        </p:txBody>
      </p:sp>
      <p:sp>
        <p:nvSpPr>
          <p:cNvPr id="18" name="TextBox 17"/>
          <p:cNvSpPr txBox="1"/>
          <p:nvPr/>
        </p:nvSpPr>
        <p:spPr>
          <a:xfrm>
            <a:off x="6278727" y="3707811"/>
            <a:ext cx="5373471" cy="25283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весит 4,27 ГБ, обучена на 2,32 млрд изображений — 1,84 байта на картинку.</a:t>
            </a:r>
          </a:p>
          <a:p>
            <a:pPr algn="l">
              <a:lnSpc>
                <a:spcPct val="126000"/>
              </a:lnSpc>
              <a:spcBef>
                <a:spcPts val="700"/>
              </a:spcBef>
            </a:pPr>
            <a:r>
              <a:rPr sz="1500" b="0" i="0">
                <a:solidFill>
                  <a:srgbClr val="21295C"/>
                </a:solidFill>
                <a:latin typeface="Arial"/>
              </a:rPr>
              <a:t/>
            </a:r>
            <a:r>
              <a:rPr sz="1500" b="1" i="0">
                <a:solidFill>
                  <a:srgbClr val="21295C"/>
                </a:solidFill>
                <a:latin typeface="Arial"/>
              </a:rPr>
              <a:t>И всё же дубликаты запоминаются:</a:t>
            </a:r>
            <a:r>
              <a:rPr sz="1500" b="0" i="0">
                <a:solidFill>
                  <a:srgbClr val="21295C"/>
                </a:solidFill>
                <a:latin typeface="Arial"/>
              </a:rPr>
              <a:t> 109 извлечённых из 175 млн кандидатов, при пороге сто дубликатов в корпусе. Первая половина без второй — реклама, вторая без первой — обвинение.</a:t>
            </a:r>
          </a:p>
        </p:txBody>
      </p:sp>
      <p:sp>
        <p:nvSpPr>
          <p:cNvPr id="19" name="Rectangle 18"/>
          <p:cNvSpPr/>
          <p:nvPr/>
        </p:nvSpPr>
        <p:spPr>
          <a:xfrm>
            <a:off x="6091275" y="3707811"/>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Правовой разбор: Getty против Stability — что суд решил, чего не решил, и во что это оценено</a:t>
            </a:r>
          </a:p>
        </p:txBody>
      </p:sp>
      <p:sp>
        <p:nvSpPr>
          <p:cNvPr id="4" name="Rounded Rectangle 3"/>
          <p:cNvSpPr/>
          <p:nvPr/>
        </p:nvSpPr>
        <p:spPr>
          <a:xfrm>
            <a:off x="502920" y="1335024"/>
            <a:ext cx="3618890" cy="2857587"/>
          </a:xfrm>
          <a:prstGeom prst="roundRect">
            <a:avLst>
              <a:gd name="adj" fmla="val 106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РЕШЕНО</a:t>
            </a:r>
          </a:p>
        </p:txBody>
      </p:sp>
      <p:sp>
        <p:nvSpPr>
          <p:cNvPr id="6" name="TextBox 5"/>
          <p:cNvSpPr txBox="1"/>
          <p:nvPr/>
        </p:nvSpPr>
        <p:spPr>
          <a:xfrm>
            <a:off x="640080" y="1725375"/>
            <a:ext cx="3344570" cy="851372"/>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веса модели — математические параметры и не являются контрафактной копией</a:t>
            </a:r>
          </a:p>
        </p:txBody>
      </p:sp>
      <p:sp>
        <p:nvSpPr>
          <p:cNvPr id="7" name="TextBox 6"/>
          <p:cNvSpPr txBox="1"/>
          <p:nvPr/>
        </p:nvSpPr>
        <p:spPr>
          <a:xfrm>
            <a:off x="640080" y="25767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4286402" y="1335024"/>
            <a:ext cx="3618890" cy="2857587"/>
          </a:xfrm>
          <a:prstGeom prst="roundRect">
            <a:avLst>
              <a:gd name="adj" fmla="val 106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УЗКАЯ ПОБЕДА ИСТЦА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товарному знаку</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сгенерированных изображениях обнаруживались артефакты водяных знаков истца</a:t>
            </a:r>
          </a:p>
        </p:txBody>
      </p:sp>
      <p:sp>
        <p:nvSpPr>
          <p:cNvPr id="12" name="Rounded Rectangle 11"/>
          <p:cNvSpPr/>
          <p:nvPr/>
        </p:nvSpPr>
        <p:spPr>
          <a:xfrm>
            <a:off x="8069884" y="1335024"/>
            <a:ext cx="3618890" cy="2857587"/>
          </a:xfrm>
          <a:prstGeom prst="roundRect">
            <a:avLst>
              <a:gd name="adj" fmla="val 1066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ОБУЧАЮЩЕГО КОРПУСА — РАЗБРОС ОЦЕНКИ В 50 РАЗ ОТ ОДНОГО ВЫБОРА ТАРИФА</a:t>
            </a:r>
          </a:p>
        </p:txBody>
      </p:sp>
      <p:sp>
        <p:nvSpPr>
          <p:cNvPr id="14" name="TextBox 13"/>
          <p:cNvSpPr txBox="1"/>
          <p:nvPr/>
        </p:nvSpPr>
        <p:spPr>
          <a:xfrm>
            <a:off x="8207044" y="2140317"/>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12,3 млн изображений истца из ≈5,85 млрд пар: по опту $2,50 — ≈$30,75 млн; по рознице $130 — ≈$1,6 млрд</a:t>
            </a:r>
          </a:p>
        </p:txBody>
      </p:sp>
      <p:sp>
        <p:nvSpPr>
          <p:cNvPr id="15" name="TextBox 14"/>
          <p:cNvSpPr txBox="1"/>
          <p:nvPr/>
        </p:nvSpPr>
        <p:spPr>
          <a:xfrm>
            <a:off x="8207044" y="2787990"/>
            <a:ext cx="3344570"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реально согласованная ставка (музыка, после урегулирований) — $0,002–0,005 за генерацию, на три-четыре порядка ниже стокового тарифа. Статутный потолок свыше $9 млрд — величина теоретическая, никем не присуждённая</a:t>
            </a:r>
          </a:p>
        </p:txBody>
      </p:sp>
      <p:sp>
        <p:nvSpPr>
          <p:cNvPr id="16" name="Rounded Rectangle 15"/>
          <p:cNvSpPr/>
          <p:nvPr/>
        </p:nvSpPr>
        <p:spPr>
          <a:xfrm>
            <a:off x="374904" y="4284051"/>
            <a:ext cx="11441887" cy="1775625"/>
          </a:xfrm>
          <a:prstGeom prst="roundRect">
            <a:avLst>
              <a:gd name="adj" fmla="val 1716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75491"/>
            <a:ext cx="11112703" cy="1684185"/>
          </a:xfrm>
          <a:prstGeom prst="rect">
            <a:avLst/>
          </a:prstGeom>
          <a:noFill/>
        </p:spPr>
        <p:txBody>
          <a:bodyPr wrap="square" lIns="0" rIns="0" tIns="0" bIns="0" anchor="t">
            <a:spAutoFit/>
          </a:bodyPr>
          <a:lstStyle/>
          <a:p>
            <a:pPr algn="l">
              <a:lnSpc>
                <a:spcPct val="126000"/>
              </a:lnSpc>
            </a:pPr>
            <a:r>
              <a:rPr sz="950" b="0" i="1">
                <a:solidFill>
                  <a:srgbClr val="1C7293"/>
                </a:solidFill>
                <a:latin typeface="Arial"/>
              </a:rPr>
              <a:t>Адрес платежа: ПРАВА.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Чего суд не решил:</a:t>
            </a:r>
            <a:r>
              <a:rPr sz="1200" b="0" i="0">
                <a:solidFill>
                  <a:srgbClr val="21295C"/>
                </a:solidFill>
                <a:latin typeface="Arial"/>
              </a:rPr>
              <a:t> законно ли само обучение · что было бы, если бы обучение доказуемо шло в Великобритании · устоит ли вывод о весах в апелляции.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Внутри корпуса — 12,3 млн изображений истца из ≈5,85 млрд пар.</a:t>
            </a:r>
            <a:r>
              <a:rPr sz="1200" b="0" i="0">
                <a:solidFill>
                  <a:srgbClr val="21295C"/>
                </a:solidFill>
                <a:latin typeface="Arial"/>
              </a:rPr>
              <a:t> По опту $2,50 это ≈$30,75 млн; по рознице $130 — ≈$1,6 млрд. Разброс в пятьдесят раз даёт один только выбор тарифа. Реально согласованная ставка — на три-четыре порядка ниже.</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Прежде чем строить проект на правовом утверждении, спросите, какой у него статус из пяти:</a:t>
            </a:r>
            <a:r>
              <a:rPr sz="1200" b="0" i="0">
                <a:solidFill>
                  <a:srgbClr val="21295C"/>
                </a:solidFill>
                <a:latin typeface="Arial"/>
              </a:rPr>
              <a:t> иск подан · решение вынесено · мировое без признания вины · закон в силе · закон принят, в силу не вступил.</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условия лицензионных соглашений лейблов, 29.10.2025 и 25.11.2025</a:t>
            </a:r>
            <a:r>
              <a:rPr sz="1200" b="0" i="1">
                <a:solidFill>
                  <a:srgbClr val="1C7293"/>
                </a:solidFill>
                <a:latin typeface="Arial"/>
              </a:rPr>
              <a:t> · </a:t>
            </a:r>
            <a:r>
              <a:rPr sz="1200" b="0" i="1">
                <a:solidFill>
                  <a:srgbClr val="1C7293"/>
                </a:solidFill>
                <a:latin typeface="Arial"/>
              </a:rPr>
              <a:t>отказ в пересмотре, США, 2 марта 2026</a:t>
            </a:r>
            <a:r>
              <a:rPr sz="1200" b="0" i="1">
                <a:solidFill>
                  <a:srgbClr val="1C7293"/>
                </a:solidFill>
                <a:latin typeface="Arial"/>
              </a:rPr>
              <a:t> · </a:t>
            </a:r>
            <a:r>
              <a:rPr sz="1200" b="0" i="1">
                <a:solidFill>
                  <a:srgbClr val="1C7293"/>
                </a:solidFill>
                <a:latin typeface="Arial"/>
              </a:rPr>
              <a:t>Регламент ЕС об ИИ, применяется со 2 августа 2026</a:t>
            </a:r>
            <a:r>
              <a:rPr sz="1200" b="0" i="1">
                <a:solidFill>
                  <a:srgbClr val="1C7293"/>
                </a:solidFill>
                <a:latin typeface="Arial"/>
              </a:rPr>
              <a:t> · </a:t>
            </a:r>
            <a:r>
              <a:rPr sz="1200" b="0" i="1">
                <a:solidFill>
                  <a:srgbClr val="1C7293"/>
                </a:solidFill>
                <a:latin typeface="Arial"/>
              </a:rPr>
              <a:t>ФЗ № 243-ФЗ, действует с 01.09.2026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заполнена колонка «Изображение»</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Единица подешевела на три-четыре порядка от любой из трёх классических баз. Пять границ названы механизмом, а не симптомом.</a:t>
            </a:r>
          </a:p>
          <a:p>
            <a:pPr algn="l">
              <a:lnSpc>
                <a:spcPct val="126000"/>
              </a:lnSpc>
              <a:spcBef>
                <a:spcPts val="700"/>
              </a:spcBef>
            </a:pPr>
            <a:r>
              <a:rPr sz="1300" b="0" i="0">
                <a:solidFill>
                  <a:srgbClr val="21295C"/>
                </a:solidFill>
                <a:latin typeface="Arial"/>
              </a:rPr>
              <a:t/>
            </a:r>
            <a:r>
              <a:rPr sz="1300" b="1" i="0">
                <a:solidFill>
                  <a:srgbClr val="21295C"/>
                </a:solidFill>
                <a:latin typeface="Arial"/>
              </a:rPr>
              <a:t>Вправо уехали отбор, права и воспроизводимость — и отдельно риск приписать модели чужой выигрыш.</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Звук</a:t>
            </a:r>
          </a:p>
        </p:txBody>
      </p:sp>
      <p:sp>
        <p:nvSpPr>
          <p:cNvPr id="12" name="Rectangle 11"/>
          <p:cNvSpPr/>
          <p:nvPr/>
        </p:nvSpPr>
        <p:spPr>
          <a:xfrm>
            <a:off x="6650614"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3291839"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29" name="Rectangle 28"/>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1" name="Rectangle 30"/>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37" name="Rectangle 36"/>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39" name="Rectangle 38"/>
          <p:cNvSpPr/>
          <p:nvPr/>
        </p:nvSpPr>
        <p:spPr>
          <a:xfrm>
            <a:off x="4971227"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45" name="Rectangle 44"/>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47" name="Rectangle 46"/>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53" name="Rectangle 52"/>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55" name="Rectangle 54"/>
          <p:cNvSpPr/>
          <p:nvPr/>
        </p:nvSpPr>
        <p:spPr>
          <a:xfrm>
            <a:off x="4971227"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61" name="Rectangle 6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63" name="Rectangle 6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А</a:t>
            </a:r>
          </a:p>
        </p:txBody>
      </p:sp>
      <p:sp>
        <p:nvSpPr>
          <p:cNvPr id="9" name="Rounded Rectangle 8"/>
          <p:cNvSpPr/>
          <p:nvPr/>
        </p:nvSpPr>
        <p:spPr>
          <a:xfrm>
            <a:off x="3630168" y="2711089"/>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3712464" y="2756809"/>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1" name="TextBox 10"/>
          <p:cNvSpPr txBox="1"/>
          <p:nvPr/>
        </p:nvSpPr>
        <p:spPr>
          <a:xfrm>
            <a:off x="502920" y="334202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Б</a:t>
            </a:r>
          </a:p>
        </p:txBody>
      </p:sp>
      <p:sp>
        <p:nvSpPr>
          <p:cNvPr id="12" name="Rounded Rectangle 11"/>
          <p:cNvSpPr/>
          <p:nvPr/>
        </p:nvSpPr>
        <p:spPr>
          <a:xfrm>
            <a:off x="3630168" y="3332881"/>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3712464" y="3378601"/>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4" name="Rounded Rectangle 13"/>
          <p:cNvSpPr/>
          <p:nvPr/>
        </p:nvSpPr>
        <p:spPr>
          <a:xfrm>
            <a:off x="2011680"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один и тот же человек</a:t>
            </a:r>
          </a:p>
        </p:txBody>
      </p:sp>
      <p:sp>
        <p:nvSpPr>
          <p:cNvPr id="16" name="Rectangle 15"/>
          <p:cNvSpPr/>
          <p:nvPr/>
        </p:nvSpPr>
        <p:spPr>
          <a:xfrm>
            <a:off x="3337560" y="2923687"/>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3545479"/>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ответ — поднятая рука</a:t>
            </a:r>
          </a:p>
        </p:txBody>
      </p:sp>
      <p:sp>
        <p:nvSpPr>
          <p:cNvPr id="20" name="Rectangle 19"/>
          <p:cNvSpPr/>
          <p:nvPr/>
        </p:nvSpPr>
        <p:spPr>
          <a:xfrm>
            <a:off x="10161727" y="2923687"/>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3545479"/>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89066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дорожки одинаковой длины и звучат подряд, без подписи и без паузы между ними</a:t>
            </a:r>
          </a:p>
        </p:txBody>
      </p:sp>
      <p:sp>
        <p:nvSpPr>
          <p:cNvPr id="23" name="Rounded Rectangle 22"/>
          <p:cNvSpPr/>
          <p:nvPr/>
        </p:nvSpPr>
        <p:spPr>
          <a:xfrm>
            <a:off x="374904" y="4197121"/>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88561"/>
            <a:ext cx="11112703" cy="194764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это делали без модели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ПЯТЬ РЕМЁСЕЛ И РЕШЕНИЕ СТАДИИ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синтез · клонирование · дубляж · музыка · разделение</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 чьим голосом и какой музыкой говорит материал; узнаваемость и срок/территория — того, чего нет у картинки</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КЛАССИКА 1–2 — ДИКТОР И ПРАВО НА ЭФИР</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$50–450 за минуту + $650–6 500 сверх сессии</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диктор — та же единица, в которой дальше считается модель; запись и право её транслировать — разные покупки</a:t>
            </a:r>
          </a:p>
        </p:txBody>
      </p:sp>
      <p:sp>
        <p:nvSpPr>
          <p:cNvPr id="12" name="Rounded Rectangle 11"/>
          <p:cNvSpPr/>
          <p:nvPr/>
        </p:nvSpPr>
        <p:spPr>
          <a:xfrm>
            <a:off x="502920" y="3267036"/>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КЛАССИКА 3 — СТОКОВАЯ МУЗЫКА ПО ЛИЦЕНЗИИ</a:t>
            </a:r>
          </a:p>
        </p:txBody>
      </p:sp>
      <p:sp>
        <p:nvSpPr>
          <p:cNvPr id="14" name="TextBox 13"/>
          <p:cNvSpPr txBox="1"/>
          <p:nvPr/>
        </p:nvSpPr>
        <p:spPr>
          <a:xfrm>
            <a:off x="640080" y="3657387"/>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за трек</a:t>
            </a:r>
          </a:p>
        </p:txBody>
      </p:sp>
      <p:sp>
        <p:nvSpPr>
          <p:cNvPr id="15" name="TextBox 14"/>
          <p:cNvSpPr txBox="1"/>
          <p:nvPr/>
        </p:nvSpPr>
        <p:spPr>
          <a:xfrm>
            <a:off x="640080" y="408438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 опорная пара для сравнения с генерацией, не оригинальная партитура на заказ</a:t>
            </a:r>
          </a:p>
        </p:txBody>
      </p:sp>
      <p:sp>
        <p:nvSpPr>
          <p:cNvPr id="16" name="Rounded Rectangle 15"/>
          <p:cNvSpPr/>
          <p:nvPr/>
        </p:nvSpPr>
        <p:spPr>
          <a:xfrm>
            <a:off x="6178143" y="3267036"/>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ЧЕСТНЫХ ПРОБЕЛА</a:t>
            </a:r>
          </a:p>
        </p:txBody>
      </p:sp>
      <p:sp>
        <p:nvSpPr>
          <p:cNvPr id="18" name="TextBox 17"/>
          <p:cNvSpPr txBox="1"/>
          <p:nvPr/>
        </p:nvSpPr>
        <p:spPr>
          <a:xfrm>
            <a:off x="6315303" y="3657387"/>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банкирование голоса · субтитры — без числа</a:t>
            </a:r>
          </a:p>
        </p:txBody>
      </p:sp>
      <p:sp>
        <p:nvSpPr>
          <p:cNvPr id="19" name="TextBox 18"/>
          <p:cNvSpPr txBox="1"/>
          <p:nvPr/>
        </p:nvSpPr>
        <p:spPr>
          <a:xfrm>
            <a:off x="6315303" y="447481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публикация не называет ни часов клинического протокола, ни тарифа субтитрования за минуту</a:t>
            </a:r>
          </a:p>
        </p:txBody>
      </p:sp>
      <p:sp>
        <p:nvSpPr>
          <p:cNvPr id="20" name="Rounded Rectangle 19"/>
          <p:cNvSpPr/>
          <p:nvPr/>
        </p:nvSpPr>
        <p:spPr>
          <a:xfrm>
            <a:off x="374904" y="5125897"/>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217337"/>
            <a:ext cx="11112703" cy="10188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Пять ремёсел, одно слово. Решение стадии — чьим голосом и какой музыкой говорит готовый материал.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Классика считала это в цене готовой минуты — ровно в той единице, в которой дальше считается модель.</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654395" cy="3425304"/>
          </a:xfrm>
          <a:prstGeom prst="roundRect">
            <a:avLst>
              <a:gd name="adj" fmla="val 114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8007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8007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 успеть — голос теряется навсегда; записать рано — часы и силы в худший период жизни</a:t>
            </a:r>
          </a:p>
        </p:txBody>
      </p:sp>
      <p:sp>
        <p:nvSpPr>
          <p:cNvPr id="7" name="TextBox 6"/>
          <p:cNvSpPr txBox="1"/>
          <p:nvPr/>
        </p:nvSpPr>
        <p:spPr>
          <a:xfrm>
            <a:off x="640080" y="2576747"/>
            <a:ext cx="238007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 денежной шкалы у второй ошибки нет, и это свойство случая</a:t>
            </a:r>
          </a:p>
        </p:txBody>
      </p:sp>
      <p:sp>
        <p:nvSpPr>
          <p:cNvPr id="8" name="Rounded Rectangle 7"/>
          <p:cNvSpPr/>
          <p:nvPr/>
        </p:nvSpPr>
        <p:spPr>
          <a:xfrm>
            <a:off x="3321907" y="1335024"/>
            <a:ext cx="2654395" cy="3425304"/>
          </a:xfrm>
          <a:prstGeom prst="roundRect">
            <a:avLst>
              <a:gd name="adj" fmla="val 1148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59067" y="1472184"/>
            <a:ext cx="238007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459067" y="1725375"/>
            <a:ext cx="238007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1" name="TextBox 10"/>
          <p:cNvSpPr txBox="1"/>
          <p:nvPr/>
        </p:nvSpPr>
        <p:spPr>
          <a:xfrm>
            <a:off x="3459067" y="2933220"/>
            <a:ext cx="238007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банкирование голоса: ни часов записи по протоколу, ни стоимости услуги в клинике. Безличный голос из коробки дёшев и доступен давно, но в ту же единицу не складывается — он даёт другой исход, человек говорит чужим голосом</a:t>
            </a:r>
          </a:p>
        </p:txBody>
      </p:sp>
      <p:sp>
        <p:nvSpPr>
          <p:cNvPr id="12" name="Rounded Rectangle 11"/>
          <p:cNvSpPr/>
          <p:nvPr/>
        </p:nvSpPr>
        <p:spPr>
          <a:xfrm>
            <a:off x="6140894" y="1335024"/>
            <a:ext cx="2654395" cy="3425304"/>
          </a:xfrm>
          <a:prstGeom prst="roundRect">
            <a:avLst>
              <a:gd name="adj" fmla="val 114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278054" y="1472184"/>
            <a:ext cx="238007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6278054" y="1725375"/>
            <a:ext cx="2380075"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 минуты записи для копии, 1–3 часа для дообучения</a:t>
            </a:r>
          </a:p>
        </p:txBody>
      </p:sp>
      <p:sp>
        <p:nvSpPr>
          <p:cNvPr id="15" name="TextBox 14"/>
          <p:cNvSpPr txBox="1"/>
          <p:nvPr/>
        </p:nvSpPr>
        <p:spPr>
          <a:xfrm>
            <a:off x="6278054" y="2169349"/>
            <a:ext cx="238007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 Переехал не бюджет, а момент, когда решение надо принять</a:t>
            </a:r>
          </a:p>
        </p:txBody>
      </p:sp>
      <p:sp>
        <p:nvSpPr>
          <p:cNvPr id="16" name="Rounded Rectangle 15"/>
          <p:cNvSpPr/>
          <p:nvPr/>
        </p:nvSpPr>
        <p:spPr>
          <a:xfrm>
            <a:off x="9106186" y="1335024"/>
            <a:ext cx="2582588" cy="3732645"/>
          </a:xfrm>
          <a:prstGeom prst="roundRect">
            <a:avLst>
              <a:gd name="adj" fmla="val 11802"/>
            </a:avLst>
          </a:prstGeom>
          <a:solidFill>
            <a:srgbClr val="F4F7FA"/>
          </a:solidFill>
          <a:ln w="19050">
            <a:solidFill>
              <a:srgbClr val="1C7293"/>
            </a:solidFill>
          </a:ln>
          <a:effectLst/>
        </p:spPr>
        <p:txBody>
          <a:bodyPr rtlCol="0" anchor="ctr"/>
          <a:lstStyle/>
          <a:p>
            <a:pPr algn="ctr"/>
          </a:p>
        </p:txBody>
      </p:sp>
      <p:pic>
        <p:nvPicPr>
          <p:cNvPr id="17" name="Picture 16" descr="s37-peter-scott-morgan-portret.jpg"/>
          <p:cNvPicPr>
            <a:picLocks noChangeAspect="1"/>
          </p:cNvPicPr>
          <p:nvPr/>
        </p:nvPicPr>
        <p:blipFill>
          <a:blip r:embed="rId2"/>
          <a:stretch>
            <a:fillRect/>
          </a:stretch>
        </p:blipFill>
        <p:spPr>
          <a:xfrm>
            <a:off x="9243346" y="1472184"/>
            <a:ext cx="2308268" cy="3458325"/>
          </a:xfrm>
          <a:prstGeom prst="rect">
            <a:avLst/>
          </a:prstGeom>
        </p:spPr>
      </p:pic>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156928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Что переехало</a:t>
            </a:r>
          </a:p>
        </p:txBody>
      </p:sp>
      <p:sp>
        <p:nvSpPr>
          <p:cNvPr id="20" name="TextBox 19"/>
          <p:cNvSpPr txBox="1"/>
          <p:nvPr/>
        </p:nvSpPr>
        <p:spPr>
          <a:xfrm>
            <a:off x="2474543" y="5433429"/>
            <a:ext cx="9031351"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Переехал момент решения: право на модель голоса после человека решается договором, не нормой</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278799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2773009"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910169" y="2140317"/>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50–450 $ за готовую минуту</a:t>
            </a:r>
          </a:p>
        </p:txBody>
      </p:sp>
      <p:sp>
        <p:nvSpPr>
          <p:cNvPr id="11" name="TextBox 10"/>
          <p:cNvSpPr txBox="1"/>
          <p:nvPr/>
        </p:nvSpPr>
        <p:spPr>
          <a:xfrm>
            <a:off x="2910169" y="2771016"/>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504309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5180258" y="1932846"/>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тарифа за минуту в подборке нет</a:t>
            </a:r>
          </a:p>
        </p:txBody>
      </p:sp>
      <p:sp>
        <p:nvSpPr>
          <p:cNvPr id="15" name="TextBox 14"/>
          <p:cNvSpPr txBox="1"/>
          <p:nvPr/>
        </p:nvSpPr>
        <p:spPr>
          <a:xfrm>
            <a:off x="5180258" y="303884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731318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0,03–0,072 $ за минуту речи</a:t>
            </a:r>
          </a:p>
        </p:txBody>
      </p:sp>
      <p:sp>
        <p:nvSpPr>
          <p:cNvPr id="19" name="TextBox 18"/>
          <p:cNvSpPr txBox="1"/>
          <p:nvPr/>
        </p:nvSpPr>
        <p:spPr>
          <a:xfrm>
            <a:off x="7450348" y="24239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9583277" y="1335024"/>
            <a:ext cx="2105497" cy="247470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9720437" y="275026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3992612"/>
            <a:ext cx="5437479" cy="1730110"/>
          </a:xfrm>
          <a:prstGeom prst="roundRect">
            <a:avLst>
              <a:gd name="adj" fmla="val 1761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4806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4504239"/>
            <a:ext cx="5108295" cy="106303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9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900" b="0" i="0">
                <a:solidFill>
                  <a:srgbClr val="21295C"/>
                </a:solidFill>
                <a:latin typeface="Arial"/>
              </a:rPr>
              <a:t>• Свыше четверти времени просмотра на каналах, включивших дубляж, приходится на дорожки не основного языка видео. Знаменатель — время просмотра этих каналов; сколько их, площадка не раскрыла</a:t>
            </a:r>
          </a:p>
        </p:txBody>
      </p:sp>
      <p:sp>
        <p:nvSpPr>
          <p:cNvPr id="27" name="Rounded Rectangle 26"/>
          <p:cNvSpPr/>
          <p:nvPr/>
        </p:nvSpPr>
        <p:spPr>
          <a:xfrm>
            <a:off x="6251295" y="3992612"/>
            <a:ext cx="5437479" cy="1730110"/>
          </a:xfrm>
          <a:prstGeom prst="roundRect">
            <a:avLst>
              <a:gd name="adj" fmla="val 1761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4806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6415887" y="4504239"/>
            <a:ext cx="5108295" cy="106303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50" b="0" i="0">
                <a:solidFill>
                  <a:srgbClr val="21295C"/>
                </a:solidFill>
                <a:latin typeface="Arial"/>
              </a:rPr>
              <a:t>• Эмоция: из голого текста не берётся, проставляется разметкой руками</a:t>
            </a:r>
          </a:p>
          <a:p>
            <a:pPr algn="l">
              <a:lnSpc>
                <a:spcPct val="126000"/>
              </a:lnSpc>
            </a:pPr>
            <a:r>
              <a:rPr sz="95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5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Экономия идёт на том, что заказчик замечает последним: нормализация текста у быстрой модели отключена ради низкой задержки.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655301"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8098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8098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42797"/>
            <a:ext cx="238098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это не измеряется</a:t>
            </a:r>
          </a:p>
        </p:txBody>
      </p:sp>
      <p:sp>
        <p:nvSpPr>
          <p:cNvPr id="8" name="Rounded Rectangle 7"/>
          <p:cNvSpPr/>
          <p:nvPr/>
        </p:nvSpPr>
        <p:spPr>
          <a:xfrm>
            <a:off x="3322813" y="1335024"/>
            <a:ext cx="2655301"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59973" y="1472184"/>
            <a:ext cx="238098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3459973" y="1725375"/>
            <a:ext cx="238098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его нет, и причина медицинская</a:t>
            </a:r>
          </a:p>
        </p:txBody>
      </p:sp>
      <p:sp>
        <p:nvSpPr>
          <p:cNvPr id="11" name="TextBox 10"/>
          <p:cNvSpPr txBox="1"/>
          <p:nvPr/>
        </p:nvSpPr>
        <p:spPr>
          <a:xfrm>
            <a:off x="3459973" y="2933220"/>
            <a:ext cx="2380981"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2014 год — другой исход, а не другая цена</a:t>
            </a:r>
          </a:p>
        </p:txBody>
      </p:sp>
      <p:sp>
        <p:nvSpPr>
          <p:cNvPr id="12" name="Rounded Rectangle 11"/>
          <p:cNvSpPr/>
          <p:nvPr/>
        </p:nvSpPr>
        <p:spPr>
          <a:xfrm>
            <a:off x="6142707" y="1335024"/>
            <a:ext cx="2655301"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279867" y="1472184"/>
            <a:ext cx="238098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6279867" y="1725375"/>
            <a:ext cx="2380981"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больше сорока моделей голоса, выбрана одна</a:t>
            </a:r>
          </a:p>
        </p:txBody>
      </p:sp>
      <p:sp>
        <p:nvSpPr>
          <p:cNvPr id="15" name="TextBox 14"/>
          <p:cNvSpPr txBox="1"/>
          <p:nvPr/>
        </p:nvSpPr>
        <p:spPr>
          <a:xfrm>
            <a:off x="6279867" y="2882296"/>
            <a:ext cx="238098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архив записей актёра, данных примерно в десять раз меньше обычного</a:t>
            </a:r>
          </a:p>
        </p:txBody>
      </p:sp>
      <p:sp>
        <p:nvSpPr>
          <p:cNvPr id="16" name="Rounded Rectangle 15"/>
          <p:cNvSpPr/>
          <p:nvPr/>
        </p:nvSpPr>
        <p:spPr>
          <a:xfrm>
            <a:off x="9108905" y="1335024"/>
            <a:ext cx="2579870" cy="3732645"/>
          </a:xfrm>
          <a:prstGeom prst="roundRect">
            <a:avLst>
              <a:gd name="adj" fmla="val 11814"/>
            </a:avLst>
          </a:prstGeom>
          <a:solidFill>
            <a:srgbClr val="F4F7FA"/>
          </a:solidFill>
          <a:ln w="19050">
            <a:solidFill>
              <a:srgbClr val="1C7293"/>
            </a:solidFill>
          </a:ln>
          <a:effectLst/>
        </p:spPr>
        <p:txBody>
          <a:bodyPr rtlCol="0" anchor="ctr"/>
          <a:lstStyle/>
          <a:p>
            <a:pPr algn="ctr"/>
          </a:p>
        </p:txBody>
      </p:sp>
      <p:pic>
        <p:nvPicPr>
          <p:cNvPr id="17" name="Picture 16" descr="s39-val-kilmer-portret.jpg"/>
          <p:cNvPicPr>
            <a:picLocks noChangeAspect="1"/>
          </p:cNvPicPr>
          <p:nvPr/>
        </p:nvPicPr>
        <p:blipFill>
          <a:blip r:embed="rId2"/>
          <a:stretch>
            <a:fillRect/>
          </a:stretch>
        </p:blipFill>
        <p:spPr>
          <a:xfrm>
            <a:off x="9246065" y="1472184"/>
            <a:ext cx="2305550" cy="3458325"/>
          </a:xfrm>
          <a:prstGeom prst="rect">
            <a:avLst/>
          </a:prstGeom>
        </p:spPr>
      </p:pic>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156928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Что переехало</a:t>
            </a:r>
          </a:p>
        </p:txBody>
      </p:sp>
      <p:sp>
        <p:nvSpPr>
          <p:cNvPr id="20" name="TextBox 19"/>
          <p:cNvSpPr txBox="1"/>
          <p:nvPr/>
        </p:nvSpPr>
        <p:spPr>
          <a:xfrm>
            <a:off x="2474543" y="5433429"/>
            <a:ext cx="9031351"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Переехал прецедент: модель голоса переживает человека, и дальше ею распоряжается договор, не право</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99527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2773009"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2910169"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504309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5180258" y="1932846"/>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8860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731318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7450348"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7450348"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9583277"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27502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502920" y="449488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3204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40080" y="488524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31223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ounded Rectangle 27"/>
          <p:cNvSpPr/>
          <p:nvPr/>
        </p:nvSpPr>
        <p:spPr>
          <a:xfrm>
            <a:off x="374904" y="5752083"/>
            <a:ext cx="11441887" cy="4841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43523"/>
            <a:ext cx="11112703" cy="3926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Каждое наблюдение здесь держится на выборе инструмента под задачу: где запись существует, её разделяют; где её нет — порождают.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3423818" cy="2097450"/>
          </a:xfrm>
          <a:prstGeom prst="roundRect">
            <a:avLst>
              <a:gd name="adj" fmla="val 14531"/>
            </a:avLst>
          </a:prstGeom>
          <a:solidFill>
            <a:srgbClr val="F4F7FA"/>
          </a:solidFill>
          <a:ln w="19050">
            <a:solidFill>
              <a:srgbClr val="1C7293"/>
            </a:solidFill>
          </a:ln>
          <a:effectLst/>
        </p:spPr>
        <p:txBody>
          <a:bodyPr rtlCol="0" anchor="ctr"/>
          <a:lstStyle/>
          <a:p>
            <a:pPr algn="ctr"/>
          </a:p>
        </p:txBody>
      </p:sp>
      <p:sp>
        <p:nvSpPr>
          <p:cNvPr id="5" name="Rounded Rectangle 4"/>
          <p:cNvSpPr/>
          <p:nvPr/>
        </p:nvSpPr>
        <p:spPr>
          <a:xfrm>
            <a:off x="630936" y="1463040"/>
            <a:ext cx="3167786" cy="256032"/>
          </a:xfrm>
          <a:prstGeom prst="roundRect">
            <a:avLst>
              <a:gd name="adj" fmla="val 38000"/>
            </a:avLst>
          </a:prstGeom>
          <a:solidFill>
            <a:srgbClr val="E6F2F4"/>
          </a:solidFill>
          <a:ln>
            <a:noFill/>
          </a:ln>
          <a:effectLst/>
        </p:spPr>
        <p:txBody>
          <a:bodyPr rtlCol="0" anchor="ctr"/>
          <a:lstStyle/>
          <a:p>
            <a:pPr algn="ctr"/>
          </a:p>
        </p:txBody>
      </p:sp>
      <p:sp>
        <p:nvSpPr>
          <p:cNvPr id="6" name="TextBox 5"/>
          <p:cNvSpPr txBox="1"/>
          <p:nvPr/>
        </p:nvSpPr>
        <p:spPr>
          <a:xfrm>
            <a:off x="685800" y="1463040"/>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вход</a:t>
            </a:r>
          </a:p>
        </p:txBody>
      </p:sp>
      <p:sp>
        <p:nvSpPr>
          <p:cNvPr id="7" name="TextBox 6"/>
          <p:cNvSpPr txBox="1"/>
          <p:nvPr/>
        </p:nvSpPr>
        <p:spPr>
          <a:xfrm>
            <a:off x="630936"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Свёрточный кодировщик</a:t>
            </a:r>
          </a:p>
        </p:txBody>
      </p:sp>
      <p:sp>
        <p:nvSpPr>
          <p:cNvPr id="8" name="TextBox 7"/>
          <p:cNvSpPr txBox="1"/>
          <p:nvPr/>
        </p:nvSpPr>
        <p:spPr>
          <a:xfrm>
            <a:off x="630936" y="2178580"/>
            <a:ext cx="3167786" cy="112587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волна 24 000 отсчётов в секунду → один вектор на 320 отсчётов</a:t>
            </a:r>
          </a:p>
          <a:p>
            <a:pPr algn="l">
              <a:lnSpc>
                <a:spcPct val="114000"/>
              </a:lnSpc>
              <a:spcBef>
                <a:spcPts val="400"/>
              </a:spcBef>
            </a:pPr>
            <a:r>
              <a:rPr sz="1200" b="0" i="0">
                <a:solidFill>
                  <a:srgbClr val="21295C"/>
                </a:solidFill>
                <a:latin typeface="Arial"/>
              </a:rPr>
              <a:t/>
            </a:r>
            <a:r>
              <a:rPr sz="1200" b="0" i="0">
                <a:solidFill>
                  <a:srgbClr val="21295C"/>
                </a:solidFill>
                <a:latin typeface="Arial"/>
              </a:rPr>
              <a:t>75 кадров в секунду, один кадр — 13,3 миллисекунды: архитектурная задержка модели</a:t>
            </a:r>
          </a:p>
        </p:txBody>
      </p:sp>
      <p:sp>
        <p:nvSpPr>
          <p:cNvPr id="9" name="Right Arrow 8"/>
          <p:cNvSpPr/>
          <p:nvPr/>
        </p:nvSpPr>
        <p:spPr>
          <a:xfrm>
            <a:off x="4018178" y="2310597"/>
            <a:ext cx="274320" cy="146304"/>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383938" y="1335024"/>
            <a:ext cx="3423818" cy="2097450"/>
          </a:xfrm>
          <a:prstGeom prst="roundRect">
            <a:avLst>
              <a:gd name="adj" fmla="val 14531"/>
            </a:avLst>
          </a:prstGeom>
          <a:solidFill>
            <a:srgbClr val="F4F7FA"/>
          </a:solidFill>
          <a:ln w="31750">
            <a:solidFill>
              <a:srgbClr val="F0AB00"/>
            </a:solidFill>
          </a:ln>
          <a:effectLst/>
        </p:spPr>
        <p:txBody>
          <a:bodyPr rtlCol="0" anchor="ctr"/>
          <a:lstStyle/>
          <a:p>
            <a:pPr algn="ctr"/>
          </a:p>
        </p:txBody>
      </p:sp>
      <p:sp>
        <p:nvSpPr>
          <p:cNvPr id="11" name="Rounded Rectangle 10"/>
          <p:cNvSpPr/>
          <p:nvPr/>
        </p:nvSpPr>
        <p:spPr>
          <a:xfrm>
            <a:off x="4511954" y="1463040"/>
            <a:ext cx="3167786" cy="256032"/>
          </a:xfrm>
          <a:prstGeom prst="roundRect">
            <a:avLst>
              <a:gd name="adj" fmla="val 38000"/>
            </a:avLst>
          </a:prstGeom>
          <a:solidFill>
            <a:srgbClr val="F0AB00"/>
          </a:solidFill>
          <a:ln>
            <a:noFill/>
          </a:ln>
          <a:effectLst/>
        </p:spPr>
        <p:txBody>
          <a:bodyPr rtlCol="0" anchor="ctr"/>
          <a:lstStyle/>
          <a:p>
            <a:pPr algn="ctr"/>
          </a:p>
        </p:txBody>
      </p:sp>
      <p:sp>
        <p:nvSpPr>
          <p:cNvPr id="12" name="TextBox 11"/>
          <p:cNvSpPr txBox="1"/>
          <p:nvPr/>
        </p:nvSpPr>
        <p:spPr>
          <a:xfrm>
            <a:off x="4566818" y="1463040"/>
            <a:ext cx="3058058" cy="256032"/>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работа · узкое место</a:t>
            </a:r>
          </a:p>
        </p:txBody>
      </p:sp>
      <p:sp>
        <p:nvSpPr>
          <p:cNvPr id="13" name="TextBox 12"/>
          <p:cNvSpPr txBox="1"/>
          <p:nvPr/>
        </p:nvSpPr>
        <p:spPr>
          <a:xfrm>
            <a:off x="4511954"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Остаточное квантование</a:t>
            </a:r>
          </a:p>
        </p:txBody>
      </p:sp>
      <p:sp>
        <p:nvSpPr>
          <p:cNvPr id="14" name="TextBox 13"/>
          <p:cNvSpPr txBox="1"/>
          <p:nvPr/>
        </p:nvSpPr>
        <p:spPr>
          <a:xfrm>
            <a:off x="4511954" y="2178580"/>
            <a:ext cx="3167786" cy="112587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каскад из 8 кодовых книг по 1 024 вектора — каждая уточняет ошибку предыдущей</a:t>
            </a:r>
          </a:p>
          <a:p>
            <a:pPr algn="l">
              <a:lnSpc>
                <a:spcPct val="114000"/>
              </a:lnSpc>
              <a:spcBef>
                <a:spcPts val="400"/>
              </a:spcBef>
            </a:pPr>
            <a:r>
              <a:rPr sz="1200" b="0" i="0">
                <a:solidFill>
                  <a:srgbClr val="21295C"/>
                </a:solidFill>
                <a:latin typeface="Arial"/>
              </a:rPr>
              <a:t/>
            </a:r>
            <a:r>
              <a:rPr sz="1200" b="0" i="0">
                <a:solidFill>
                  <a:srgbClr val="21295C"/>
                </a:solidFill>
                <a:latin typeface="Arial"/>
              </a:rPr>
              <a:t>одна плоская книга потребовала бы два в восьмидесятой степени векторов; восемь книг по 1 024 — уже обычная таблица</a:t>
            </a:r>
          </a:p>
        </p:txBody>
      </p:sp>
      <p:sp>
        <p:nvSpPr>
          <p:cNvPr id="15" name="Right Arrow 14"/>
          <p:cNvSpPr/>
          <p:nvPr/>
        </p:nvSpPr>
        <p:spPr>
          <a:xfrm>
            <a:off x="7899196" y="2310597"/>
            <a:ext cx="274320" cy="146304"/>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264956" y="1335024"/>
            <a:ext cx="3423818" cy="2097450"/>
          </a:xfrm>
          <a:prstGeom prst="roundRect">
            <a:avLst>
              <a:gd name="adj" fmla="val 14531"/>
            </a:avLst>
          </a:prstGeom>
          <a:solidFill>
            <a:srgbClr val="F4F7FA"/>
          </a:solidFill>
          <a:ln w="19050">
            <a:solidFill>
              <a:srgbClr val="1C7293"/>
            </a:solidFill>
          </a:ln>
          <a:effectLst/>
        </p:spPr>
        <p:txBody>
          <a:bodyPr rtlCol="0" anchor="ctr"/>
          <a:lstStyle/>
          <a:p>
            <a:pPr algn="ctr"/>
          </a:p>
        </p:txBody>
      </p:sp>
      <p:sp>
        <p:nvSpPr>
          <p:cNvPr id="17" name="Rounded Rectangle 16"/>
          <p:cNvSpPr/>
          <p:nvPr/>
        </p:nvSpPr>
        <p:spPr>
          <a:xfrm>
            <a:off x="8392972" y="1463040"/>
            <a:ext cx="3167786" cy="256032"/>
          </a:xfrm>
          <a:prstGeom prst="roundRect">
            <a:avLst>
              <a:gd name="adj" fmla="val 38000"/>
            </a:avLst>
          </a:prstGeom>
          <a:solidFill>
            <a:srgbClr val="E6F2F4"/>
          </a:solidFill>
          <a:ln>
            <a:noFill/>
          </a:ln>
          <a:effectLst/>
        </p:spPr>
        <p:txBody>
          <a:bodyPr rtlCol="0" anchor="ctr"/>
          <a:lstStyle/>
          <a:p>
            <a:pPr algn="ctr"/>
          </a:p>
        </p:txBody>
      </p:sp>
      <p:sp>
        <p:nvSpPr>
          <p:cNvPr id="18" name="TextBox 17"/>
          <p:cNvSpPr txBox="1"/>
          <p:nvPr/>
        </p:nvSpPr>
        <p:spPr>
          <a:xfrm>
            <a:off x="8447836" y="1463040"/>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выход</a:t>
            </a:r>
          </a:p>
        </p:txBody>
      </p:sp>
      <p:sp>
        <p:nvSpPr>
          <p:cNvPr id="19" name="TextBox 18"/>
          <p:cNvSpPr txBox="1"/>
          <p:nvPr/>
        </p:nvSpPr>
        <p:spPr>
          <a:xfrm>
            <a:off x="8392972"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Декодировщик</a:t>
            </a:r>
          </a:p>
        </p:txBody>
      </p:sp>
      <p:sp>
        <p:nvSpPr>
          <p:cNvPr id="20" name="TextBox 19"/>
          <p:cNvSpPr txBox="1"/>
          <p:nvPr/>
        </p:nvSpPr>
        <p:spPr>
          <a:xfrm>
            <a:off x="8392972" y="2178580"/>
            <a:ext cx="3167786" cy="112587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собирает волну обратно из токенов, обучается сквозно вместе с кодировщиком</a:t>
            </a:r>
          </a:p>
          <a:p>
            <a:pPr algn="l">
              <a:lnSpc>
                <a:spcPct val="114000"/>
              </a:lnSpc>
              <a:spcBef>
                <a:spcPts val="400"/>
              </a:spcBef>
            </a:pPr>
            <a:r>
              <a:rPr sz="1200" b="0" i="0">
                <a:solidFill>
                  <a:srgbClr val="21295C"/>
                </a:solidFill>
                <a:latin typeface="Arial"/>
              </a:rPr>
              <a:t/>
            </a:r>
            <a:r>
              <a:rPr sz="1200" b="0" i="0">
                <a:solidFill>
                  <a:srgbClr val="21295C"/>
                </a:solidFill>
                <a:latin typeface="Arial"/>
              </a:rPr>
              <a:t>минута звука — 36 000 токенов при восьми книгах, в 147 раз меньше 5 292 000 отсчётов с компакт-диска</a:t>
            </a:r>
          </a:p>
        </p:txBody>
      </p:sp>
      <p:sp>
        <p:nvSpPr>
          <p:cNvPr id="21" name="Rectangle 20"/>
          <p:cNvSpPr/>
          <p:nvPr/>
        </p:nvSpPr>
        <p:spPr>
          <a:xfrm>
            <a:off x="6084874" y="3487338"/>
            <a:ext cx="21945" cy="274320"/>
          </a:xfrm>
          <a:prstGeom prst="rect">
            <a:avLst/>
          </a:prstGeom>
          <a:solidFill>
            <a:srgbClr val="065A82"/>
          </a:solidFill>
          <a:ln>
            <a:noFill/>
          </a:ln>
          <a:effectLst/>
        </p:spPr>
        <p:txBody>
          <a:bodyPr rtlCol="0" anchor="ctr"/>
          <a:lstStyle/>
          <a:p>
            <a:pPr algn="ctr"/>
          </a:p>
        </p:txBody>
      </p:sp>
      <p:sp>
        <p:nvSpPr>
          <p:cNvPr id="22" name="Rounded Rectangle 21"/>
          <p:cNvSpPr/>
          <p:nvPr/>
        </p:nvSpPr>
        <p:spPr>
          <a:xfrm>
            <a:off x="6036411" y="3427902"/>
            <a:ext cx="118872" cy="118872"/>
          </a:xfrm>
          <a:prstGeom prst="roundRect">
            <a:avLst>
              <a:gd name="adj" fmla="val 50000"/>
            </a:avLst>
          </a:prstGeom>
          <a:solidFill>
            <a:srgbClr val="065A82"/>
          </a:solidFill>
          <a:ln>
            <a:noFill/>
          </a:ln>
          <a:effectLst/>
        </p:spPr>
        <p:txBody>
          <a:bodyPr rtlCol="0" anchor="ctr"/>
          <a:lstStyle/>
          <a:p>
            <a:pPr algn="ctr"/>
          </a:p>
        </p:txBody>
      </p:sp>
      <p:sp>
        <p:nvSpPr>
          <p:cNvPr id="23" name="Rounded Rectangle 22"/>
          <p:cNvSpPr/>
          <p:nvPr/>
        </p:nvSpPr>
        <p:spPr>
          <a:xfrm>
            <a:off x="502920" y="3761658"/>
            <a:ext cx="11185855" cy="4747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21792" y="3880530"/>
            <a:ext cx="10948111" cy="23702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глубина каскада почти бесплатна, ширина книги дорога: 4,01 · 3,98 · 3,92 при 8 · 16 · 80 книгах</a:t>
            </a:r>
          </a:p>
        </p:txBody>
      </p:sp>
      <p:sp>
        <p:nvSpPr>
          <p:cNvPr id="25" name="Rounded Rectangle 24"/>
          <p:cNvSpPr/>
          <p:nvPr/>
        </p:nvSpPr>
        <p:spPr>
          <a:xfrm>
            <a:off x="502920" y="4419302"/>
            <a:ext cx="5437479" cy="1816905"/>
          </a:xfrm>
          <a:prstGeom prst="roundRect">
            <a:avLst>
              <a:gd name="adj" fmla="val 1677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667512" y="457475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27" name="TextBox 26"/>
          <p:cNvSpPr txBox="1"/>
          <p:nvPr/>
        </p:nvSpPr>
        <p:spPr>
          <a:xfrm>
            <a:off x="667512" y="4930929"/>
            <a:ext cx="5108295" cy="1149830"/>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Токен языковой модели: номер из словаря в 200 тысяч записей, готового до обучения</a:t>
            </a:r>
          </a:p>
          <a:p>
            <a:pPr algn="l">
              <a:lnSpc>
                <a:spcPct val="126000"/>
              </a:lnSpc>
            </a:pPr>
            <a:r>
              <a:rPr sz="950" b="0" i="0">
                <a:solidFill>
                  <a:srgbClr val="21295C"/>
                </a:solidFill>
                <a:latin typeface="Arial"/>
              </a:rPr>
              <a:t>• Латентный патч диффузионной модели: вектор, словаря нет; картинка 1024×1024 — 4 096 патчей</a:t>
            </a:r>
          </a:p>
          <a:p>
            <a:pPr algn="l">
              <a:lnSpc>
                <a:spcPct val="126000"/>
              </a:lnSpc>
            </a:pPr>
            <a:r>
              <a:rPr sz="950" b="0" i="0">
                <a:solidFill>
                  <a:srgbClr val="21295C"/>
                </a:solidFill>
                <a:latin typeface="Arial"/>
              </a:rPr>
              <a:t>• Аудиотокен: номер из кодовой книги, книг несколько, каждая уточняет ошибку прежней</a:t>
            </a:r>
          </a:p>
        </p:txBody>
      </p:sp>
      <p:sp>
        <p:nvSpPr>
          <p:cNvPr id="28" name="Rounded Rectangle 27"/>
          <p:cNvSpPr/>
          <p:nvPr/>
        </p:nvSpPr>
        <p:spPr>
          <a:xfrm>
            <a:off x="6251295" y="4419302"/>
            <a:ext cx="5437479" cy="1816905"/>
          </a:xfrm>
          <a:prstGeom prst="roundRect">
            <a:avLst>
              <a:gd name="adj" fmla="val 16775"/>
            </a:avLst>
          </a:prstGeom>
          <a:solidFill>
            <a:srgbClr val="FFFFFF"/>
          </a:solidFill>
          <a:ln w="19050">
            <a:solidFill>
              <a:srgbClr val="028090"/>
            </a:solidFill>
          </a:ln>
          <a:effectLst/>
        </p:spPr>
        <p:txBody>
          <a:bodyPr rtlCol="0" anchor="ctr"/>
          <a:lstStyle/>
          <a:p>
            <a:pPr algn="ctr"/>
          </a:p>
        </p:txBody>
      </p:sp>
      <p:sp>
        <p:nvSpPr>
          <p:cNvPr id="29" name="TextBox 28"/>
          <p:cNvSpPr txBox="1"/>
          <p:nvPr/>
        </p:nvSpPr>
        <p:spPr>
          <a:xfrm>
            <a:off x="6415887" y="457475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0" name="TextBox 29"/>
          <p:cNvSpPr txBox="1"/>
          <p:nvPr/>
        </p:nvSpPr>
        <p:spPr>
          <a:xfrm>
            <a:off x="6415887" y="4930929"/>
            <a:ext cx="5108295" cy="1149830"/>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Минута с компакт-диска: 5 292 000 отсчётов</a:t>
            </a:r>
          </a:p>
          <a:p>
            <a:pPr algn="l">
              <a:lnSpc>
                <a:spcPct val="126000"/>
              </a:lnSpc>
            </a:pPr>
            <a:r>
              <a:rPr sz="950" b="0" i="0">
                <a:solidFill>
                  <a:srgbClr val="21295C"/>
                </a:solidFill>
                <a:latin typeface="Arial"/>
              </a:rPr>
              <a:t>• Та же минута у кодека, восемь книг: 36 000 токенов — в 147 раз меньше</a:t>
            </a:r>
          </a:p>
          <a:p>
            <a:pPr algn="l">
              <a:lnSpc>
                <a:spcPct val="126000"/>
              </a:lnSpc>
            </a:pPr>
            <a:r>
              <a:rPr sz="95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50" b="0" i="0">
                <a:solidFill>
                  <a:srgbClr val="21295C"/>
                </a:solidFill>
                <a:latin typeface="Arial"/>
              </a:rPr>
              <a:t>• Минута речи, записанная текстом: около 200 токенов — звук дороже текста в 180 раз</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от запроса к результату: от текста к звуку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ПОВТОРЫ И УЧАСТИЕ ЗАПРОСА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проходов на весь кадр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глубины каскада кодека (8 книг), не от размера генератора; текст — условие на каждом проходе, не только в начале</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МЕНЯЕТСЯ, УЗКОЕ МЕСТО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книга 1 — решена раз; книги 2–8 — уточняют</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узкое место — частота кадров и глубина каскада самого кодека: генератор не бывает лучше своего декодировщика</a:t>
            </a:r>
          </a:p>
        </p:txBody>
      </p:sp>
      <p:sp>
        <p:nvSpPr>
          <p:cNvPr id="12" name="TextBox 11"/>
          <p:cNvSpPr txBox="1"/>
          <p:nvPr/>
        </p:nvSpPr>
        <p:spPr>
          <a:xfrm>
            <a:off x="502920" y="33219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Чистый запрос</a:t>
            </a:r>
          </a:p>
        </p:txBody>
      </p:sp>
      <p:sp>
        <p:nvSpPr>
          <p:cNvPr id="13" name="Rounded Rectangle 12"/>
          <p:cNvSpPr/>
          <p:nvPr/>
        </p:nvSpPr>
        <p:spPr>
          <a:xfrm>
            <a:off x="3538728" y="3285324"/>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3630168" y="3312756"/>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3712464" y="3358476"/>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текст — условие навсегда</a:t>
            </a:r>
          </a:p>
        </p:txBody>
      </p:sp>
      <p:sp>
        <p:nvSpPr>
          <p:cNvPr id="16" name="Right Arrow 15"/>
          <p:cNvSpPr/>
          <p:nvPr/>
        </p:nvSpPr>
        <p:spPr>
          <a:xfrm>
            <a:off x="5011597" y="3628535"/>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331637" y="3312756"/>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8" name="TextBox 17"/>
          <p:cNvSpPr txBox="1"/>
          <p:nvPr/>
        </p:nvSpPr>
        <p:spPr>
          <a:xfrm>
            <a:off x="5413933" y="3358476"/>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книга 1: авторегрессия</a:t>
            </a:r>
          </a:p>
        </p:txBody>
      </p:sp>
      <p:sp>
        <p:nvSpPr>
          <p:cNvPr id="19" name="Right Arrow 18"/>
          <p:cNvSpPr/>
          <p:nvPr/>
        </p:nvSpPr>
        <p:spPr>
          <a:xfrm>
            <a:off x="6713067" y="3628535"/>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7033107" y="3312756"/>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115403" y="3358476"/>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книги 2–8: 7 проходов</a:t>
            </a:r>
          </a:p>
        </p:txBody>
      </p:sp>
      <p:sp>
        <p:nvSpPr>
          <p:cNvPr id="22" name="Right Arrow 21"/>
          <p:cNvSpPr/>
          <p:nvPr/>
        </p:nvSpPr>
        <p:spPr>
          <a:xfrm>
            <a:off x="8414537" y="362853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734577" y="3312756"/>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8816873" y="3358476"/>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декодировщик → волна</a:t>
            </a:r>
          </a:p>
        </p:txBody>
      </p:sp>
      <p:sp>
        <p:nvSpPr>
          <p:cNvPr id="25" name="TextBox 24"/>
          <p:cNvSpPr txBox="1"/>
          <p:nvPr/>
        </p:nvSpPr>
        <p:spPr>
          <a:xfrm>
            <a:off x="502920" y="425521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Запрос с образцом</a:t>
            </a:r>
          </a:p>
        </p:txBody>
      </p:sp>
      <p:sp>
        <p:nvSpPr>
          <p:cNvPr id="26" name="Rounded Rectangle 25"/>
          <p:cNvSpPr/>
          <p:nvPr/>
        </p:nvSpPr>
        <p:spPr>
          <a:xfrm>
            <a:off x="3538728" y="4218634"/>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7" name="Rounded Rectangle 26"/>
          <p:cNvSpPr/>
          <p:nvPr/>
        </p:nvSpPr>
        <p:spPr>
          <a:xfrm>
            <a:off x="3630168" y="4246066"/>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8" name="TextBox 27"/>
          <p:cNvSpPr txBox="1"/>
          <p:nvPr/>
        </p:nvSpPr>
        <p:spPr>
          <a:xfrm>
            <a:off x="3712464" y="4291786"/>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текст + префикс образца</a:t>
            </a:r>
          </a:p>
        </p:txBody>
      </p:sp>
      <p:sp>
        <p:nvSpPr>
          <p:cNvPr id="29" name="Right Arrow 28"/>
          <p:cNvSpPr/>
          <p:nvPr/>
        </p:nvSpPr>
        <p:spPr>
          <a:xfrm>
            <a:off x="5011597" y="4561845"/>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331637" y="4246066"/>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5413933" y="4291786"/>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книга 1: тембр в префиксе</a:t>
            </a:r>
          </a:p>
        </p:txBody>
      </p:sp>
      <p:sp>
        <p:nvSpPr>
          <p:cNvPr id="32" name="Right Arrow 31"/>
          <p:cNvSpPr/>
          <p:nvPr/>
        </p:nvSpPr>
        <p:spPr>
          <a:xfrm>
            <a:off x="6713067" y="456184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7033107" y="4246066"/>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7115403" y="4291786"/>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книги 2–8: те же 7 проходов</a:t>
            </a:r>
          </a:p>
        </p:txBody>
      </p:sp>
      <p:sp>
        <p:nvSpPr>
          <p:cNvPr id="35" name="Right Arrow 34"/>
          <p:cNvSpPr/>
          <p:nvPr/>
        </p:nvSpPr>
        <p:spPr>
          <a:xfrm>
            <a:off x="8414537" y="456184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734577" y="4246066"/>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816873" y="4291786"/>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декодировщик → волна тембром</a:t>
            </a:r>
          </a:p>
        </p:txBody>
      </p:sp>
      <p:sp>
        <p:nvSpPr>
          <p:cNvPr id="38" name="Rounded Rectangle 37"/>
          <p:cNvSpPr/>
          <p:nvPr/>
        </p:nvSpPr>
        <p:spPr>
          <a:xfrm>
            <a:off x="2011680" y="3285324"/>
            <a:ext cx="1325880" cy="1756891"/>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39" name="TextBox 38"/>
          <p:cNvSpPr txBox="1"/>
          <p:nvPr/>
        </p:nvSpPr>
        <p:spPr>
          <a:xfrm>
            <a:off x="2084832" y="3331044"/>
            <a:ext cx="1179576" cy="1665451"/>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запрос</a:t>
            </a:r>
          </a:p>
        </p:txBody>
      </p:sp>
      <p:sp>
        <p:nvSpPr>
          <p:cNvPr id="40" name="Rectangle 39"/>
          <p:cNvSpPr/>
          <p:nvPr/>
        </p:nvSpPr>
        <p:spPr>
          <a:xfrm>
            <a:off x="3337560" y="3681113"/>
            <a:ext cx="201168" cy="32004"/>
          </a:xfrm>
          <a:prstGeom prst="rect">
            <a:avLst/>
          </a:prstGeom>
          <a:solidFill>
            <a:srgbClr val="1C7293"/>
          </a:solidFill>
          <a:ln>
            <a:noFill/>
          </a:ln>
          <a:effectLst/>
        </p:spPr>
        <p:txBody>
          <a:bodyPr rtlCol="0" anchor="ctr"/>
          <a:lstStyle/>
          <a:p>
            <a:pPr algn="ctr"/>
          </a:p>
        </p:txBody>
      </p:sp>
      <p:sp>
        <p:nvSpPr>
          <p:cNvPr id="41" name="Rectangle 40"/>
          <p:cNvSpPr/>
          <p:nvPr/>
        </p:nvSpPr>
        <p:spPr>
          <a:xfrm>
            <a:off x="3337560" y="4614423"/>
            <a:ext cx="201168" cy="32004"/>
          </a:xfrm>
          <a:prstGeom prst="rect">
            <a:avLst/>
          </a:prstGeom>
          <a:solidFill>
            <a:srgbClr val="1C7293"/>
          </a:solidFill>
          <a:ln>
            <a:noFill/>
          </a:ln>
          <a:effectLst/>
        </p:spPr>
        <p:txBody>
          <a:bodyPr rtlCol="0" anchor="ctr"/>
          <a:lstStyle/>
          <a:p>
            <a:pPr algn="ctr"/>
          </a:p>
        </p:txBody>
      </p:sp>
      <p:sp>
        <p:nvSpPr>
          <p:cNvPr id="42" name="Rounded Rectangle 41"/>
          <p:cNvSpPr/>
          <p:nvPr/>
        </p:nvSpPr>
        <p:spPr>
          <a:xfrm>
            <a:off x="10362895" y="3285324"/>
            <a:ext cx="1325880" cy="1756891"/>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43" name="TextBox 42"/>
          <p:cNvSpPr txBox="1"/>
          <p:nvPr/>
        </p:nvSpPr>
        <p:spPr>
          <a:xfrm>
            <a:off x="10436047" y="3331044"/>
            <a:ext cx="1179576" cy="1665451"/>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результат: звук</a:t>
            </a:r>
          </a:p>
        </p:txBody>
      </p:sp>
      <p:sp>
        <p:nvSpPr>
          <p:cNvPr id="44" name="Rectangle 43"/>
          <p:cNvSpPr/>
          <p:nvPr/>
        </p:nvSpPr>
        <p:spPr>
          <a:xfrm>
            <a:off x="10161727" y="3681113"/>
            <a:ext cx="201168" cy="32004"/>
          </a:xfrm>
          <a:prstGeom prst="rect">
            <a:avLst/>
          </a:prstGeom>
          <a:solidFill>
            <a:srgbClr val="1C7293"/>
          </a:solidFill>
          <a:ln>
            <a:noFill/>
          </a:ln>
          <a:effectLst/>
        </p:spPr>
        <p:txBody>
          <a:bodyPr rtlCol="0" anchor="ctr"/>
          <a:lstStyle/>
          <a:p>
            <a:pPr algn="ctr"/>
          </a:p>
        </p:txBody>
      </p:sp>
      <p:sp>
        <p:nvSpPr>
          <p:cNvPr id="45" name="Rectangle 44"/>
          <p:cNvSpPr/>
          <p:nvPr/>
        </p:nvSpPr>
        <p:spPr>
          <a:xfrm>
            <a:off x="10161727" y="4614423"/>
            <a:ext cx="201168" cy="32004"/>
          </a:xfrm>
          <a:prstGeom prst="rect">
            <a:avLst/>
          </a:prstGeom>
          <a:solidFill>
            <a:srgbClr val="1C7293"/>
          </a:solidFill>
          <a:ln>
            <a:noFill/>
          </a:ln>
          <a:effectLst/>
        </p:spPr>
        <p:txBody>
          <a:bodyPr rtlCol="0" anchor="ctr"/>
          <a:lstStyle/>
          <a:p>
            <a:pPr algn="ctr"/>
          </a:p>
        </p:txBody>
      </p:sp>
      <p:sp>
        <p:nvSpPr>
          <p:cNvPr id="46" name="Rounded Rectangle 45"/>
          <p:cNvSpPr/>
          <p:nvPr/>
        </p:nvSpPr>
        <p:spPr>
          <a:xfrm>
            <a:off x="374904" y="513365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7" name="TextBox 46"/>
          <p:cNvSpPr txBox="1"/>
          <p:nvPr/>
        </p:nvSpPr>
        <p:spPr>
          <a:xfrm>
            <a:off x="539496" y="5225096"/>
            <a:ext cx="11112703" cy="10111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Текст держится условием на всех проходах. Книга 1 решена один раз — книги 2–8 уточняют её семь проходов подряд.</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VALL-E (Wang и соавт., 2023)</a:t>
            </a:r>
            <a:r>
              <a:rPr sz="1200" b="0" i="1">
                <a:solidFill>
                  <a:srgbClr val="1C7293"/>
                </a:solidFill>
                <a:latin typeface="Arial"/>
              </a:rPr>
              <a:t> · </a:t>
            </a:r>
            <a:r>
              <a:rPr sz="1200" b="0" i="1">
                <a:solidFill>
                  <a:srgbClr val="1C7293"/>
                </a:solidFill>
                <a:latin typeface="Arial"/>
              </a:rPr>
              <a:t>SoundStream</a:t>
            </a:r>
            <a:r>
              <a:rPr sz="1200" b="0" i="1">
                <a:solidFill>
                  <a:srgbClr val="1C7293"/>
                </a:solidFill>
                <a:latin typeface="Arial"/>
              </a:rPr>
              <a:t> · </a:t>
            </a:r>
            <a:r>
              <a:rPr sz="1200" b="0" i="1">
                <a:solidFill>
                  <a:srgbClr val="1C7293"/>
                </a:solidFill>
                <a:latin typeface="Arial"/>
              </a:rPr>
              <a:t>EnCodec</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5510631" cy="2010727"/>
          </a:xfrm>
          <a:prstGeom prst="roundRect">
            <a:avLst>
              <a:gd name="adj" fmla="val 151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ДЕВЯНОСТО МИНУТ СВЯЗНОГО ДИАЛОГА ВЗЯЛИСЬ ОТСЮДА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 герца</a:t>
            </a:r>
          </a:p>
        </p:txBody>
      </p:sp>
      <p:sp>
        <p:nvSpPr>
          <p:cNvPr id="7" name="TextBox 6"/>
          <p:cNvSpPr txBox="1"/>
          <p:nvPr/>
        </p:nvSpPr>
        <p:spPr>
          <a:xfrm>
            <a:off x="640080" y="2152374"/>
            <a:ext cx="5236311"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из размера генератора. У DiffRhythm 2 — 5 герц, самая низкая частота поколения, музыкальная генерация длинной формы; Qwen3-TTS вынес свои 12 герц прямо в имя модели; Stable Audio 2 держит 21,5 против 40–150 у прежних работ и прямо объясняет этим возможность длинной формы</a:t>
            </a:r>
          </a:p>
        </p:txBody>
      </p:sp>
      <p:sp>
        <p:nvSpPr>
          <p:cNvPr id="8" name="Rounded Rectangle 7"/>
          <p:cNvSpPr/>
          <p:nvPr/>
        </p:nvSpPr>
        <p:spPr>
          <a:xfrm>
            <a:off x="6178143" y="1335024"/>
            <a:ext cx="5510631"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12" name="Rectangle 11"/>
          <p:cNvSpPr/>
          <p:nvPr/>
        </p:nvSpPr>
        <p:spPr>
          <a:xfrm>
            <a:off x="754380" y="4199606"/>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30</a:t>
            </a:r>
          </a:p>
        </p:txBody>
      </p:sp>
      <p:sp>
        <p:nvSpPr>
          <p:cNvPr id="15" name="Rectangle 14"/>
          <p:cNvSpPr/>
          <p:nvPr/>
        </p:nvSpPr>
        <p:spPr>
          <a:xfrm>
            <a:off x="2677363" y="403501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1304277"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a:t>
            </a:r>
          </a:p>
          <a:p>
            <a:pPr algn="ctr">
              <a:lnSpc>
                <a:spcPct val="110000"/>
              </a:lnSpc>
            </a:pPr>
            <a:r>
              <a:rPr sz="1200" b="0" i="0">
                <a:solidFill>
                  <a:srgbClr val="21295C"/>
                </a:solidFill>
                <a:latin typeface="Arial"/>
              </a:rPr>
              <a:t>DiffRhythm 2</a:t>
            </a:r>
          </a:p>
        </p:txBody>
      </p:sp>
      <p:sp>
        <p:nvSpPr>
          <p:cNvPr id="17" name="Rectangle 16"/>
          <p:cNvSpPr/>
          <p:nvPr/>
        </p:nvSpPr>
        <p:spPr>
          <a:xfrm>
            <a:off x="3525697" y="4249898"/>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2152611"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7,5</a:t>
            </a:r>
          </a:p>
          <a:p>
            <a:pPr algn="ctr">
              <a:lnSpc>
                <a:spcPct val="110000"/>
              </a:lnSpc>
            </a:pPr>
            <a:r>
              <a:rPr sz="1200" b="0" i="0">
                <a:solidFill>
                  <a:srgbClr val="21295C"/>
                </a:solidFill>
                <a:latin typeface="Arial"/>
              </a:rPr>
              <a:t>VibeVoice</a:t>
            </a:r>
          </a:p>
        </p:txBody>
      </p:sp>
      <p:sp>
        <p:nvSpPr>
          <p:cNvPr id="19" name="Rectangle 18"/>
          <p:cNvSpPr/>
          <p:nvPr/>
        </p:nvSpPr>
        <p:spPr>
          <a:xfrm>
            <a:off x="5052700" y="4035014"/>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3679614"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Qwen3-TTS</a:t>
            </a:r>
          </a:p>
        </p:txBody>
      </p:sp>
      <p:sp>
        <p:nvSpPr>
          <p:cNvPr id="21" name="Rectangle 20"/>
          <p:cNvSpPr/>
          <p:nvPr/>
        </p:nvSpPr>
        <p:spPr>
          <a:xfrm>
            <a:off x="8276371" y="4249898"/>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6903285"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21,5</a:t>
            </a:r>
          </a:p>
          <a:p>
            <a:pPr algn="ctr">
              <a:lnSpc>
                <a:spcPct val="110000"/>
              </a:lnSpc>
            </a:pPr>
            <a:r>
              <a:rPr sz="1200" b="0" i="0">
                <a:solidFill>
                  <a:srgbClr val="21295C"/>
                </a:solidFill>
                <a:latin typeface="Arial"/>
              </a:rPr>
              <a:t>Stable Audio 2</a:t>
            </a:r>
          </a:p>
        </p:txBody>
      </p:sp>
      <p:sp>
        <p:nvSpPr>
          <p:cNvPr id="23" name="TextBox 22"/>
          <p:cNvSpPr txBox="1"/>
          <p:nvPr/>
        </p:nvSpPr>
        <p:spPr>
          <a:xfrm>
            <a:off x="502920" y="503060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кадров кодека в секунду, герц</a:t>
            </a:r>
          </a:p>
        </p:txBody>
      </p:sp>
      <p:sp>
        <p:nvSpPr>
          <p:cNvPr id="24" name="Rounded Rectangle 23"/>
          <p:cNvSpPr/>
          <p:nvPr/>
        </p:nvSpPr>
        <p:spPr>
          <a:xfrm>
            <a:off x="374904" y="5341496"/>
            <a:ext cx="11441887" cy="89471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32936"/>
            <a:ext cx="11112703" cy="803271"/>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Частота кадров кодека — архитектурное решение, определяющее, какая длина вообще возможна;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Авторегрессия</a:t>
            </a:r>
          </a:p>
        </p:txBody>
      </p:sp>
      <p:sp>
        <p:nvSpPr>
          <p:cNvPr id="5" name="Rounded Rectangle 4"/>
          <p:cNvSpPr/>
          <p:nvPr/>
        </p:nvSpPr>
        <p:spPr>
          <a:xfrm>
            <a:off x="3538728" y="1335024"/>
            <a:ext cx="8150047"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6 мин 38 с</a:t>
            </a:r>
          </a:p>
        </p:txBody>
      </p:sp>
      <p:sp>
        <p:nvSpPr>
          <p:cNvPr id="8" name="Rounded Rectangle 7"/>
          <p:cNvSpPr/>
          <p:nvPr/>
        </p:nvSpPr>
        <p:spPr>
          <a:xfrm>
            <a:off x="5644819"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727115"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12 мин 53 с</a:t>
            </a:r>
          </a:p>
        </p:txBody>
      </p:sp>
      <p:sp>
        <p:nvSpPr>
          <p:cNvPr id="10" name="Rounded Rectangle 9"/>
          <p:cNvSpPr/>
          <p:nvPr/>
        </p:nvSpPr>
        <p:spPr>
          <a:xfrm>
            <a:off x="7659471"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7741767"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растёт линейно: каждый токен — свой проход</a:t>
            </a:r>
          </a:p>
        </p:txBody>
      </p:sp>
      <p:sp>
        <p:nvSpPr>
          <p:cNvPr id="12" name="Rounded Rectangle 11"/>
          <p:cNvSpPr/>
          <p:nvPr/>
        </p:nvSpPr>
        <p:spPr>
          <a:xfrm>
            <a:off x="9674123"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756419"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204,03 и 218,02</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a:t>
            </a:r>
          </a:p>
        </p:txBody>
      </p:sp>
      <p:sp>
        <p:nvSpPr>
          <p:cNvPr id="15" name="Rounded Rectangle 14"/>
          <p:cNvSpPr/>
          <p:nvPr/>
        </p:nvSpPr>
        <p:spPr>
          <a:xfrm>
            <a:off x="3538728" y="2346135"/>
            <a:ext cx="8150047"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3630168"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3712464"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13 с</a:t>
            </a:r>
          </a:p>
        </p:txBody>
      </p:sp>
      <p:sp>
        <p:nvSpPr>
          <p:cNvPr id="18" name="Rounded Rectangle 17"/>
          <p:cNvSpPr/>
          <p:nvPr/>
        </p:nvSpPr>
        <p:spPr>
          <a:xfrm>
            <a:off x="5644819"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5727115"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13 с</a:t>
            </a:r>
          </a:p>
        </p:txBody>
      </p:sp>
      <p:sp>
        <p:nvSpPr>
          <p:cNvPr id="20" name="Rounded Rectangle 19"/>
          <p:cNvSpPr/>
          <p:nvPr/>
        </p:nvSpPr>
        <p:spPr>
          <a:xfrm>
            <a:off x="7659471"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741767"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не растёт: шагов решателя фиксированное число</a:t>
            </a:r>
          </a:p>
        </p:txBody>
      </p:sp>
      <p:sp>
        <p:nvSpPr>
          <p:cNvPr id="22" name="Rounded Rectangle 21"/>
          <p:cNvSpPr/>
          <p:nvPr/>
        </p:nvSpPr>
        <p:spPr>
          <a:xfrm>
            <a:off x="9674123"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756419"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79,09 и 81,96</a:t>
            </a:r>
          </a:p>
        </p:txBody>
      </p:sp>
      <p:sp>
        <p:nvSpPr>
          <p:cNvPr id="24" name="Rounded Rectangle 23"/>
          <p:cNvSpPr/>
          <p:nvPr/>
        </p:nvSpPr>
        <p:spPr>
          <a:xfrm>
            <a:off x="2011680" y="1335024"/>
            <a:ext cx="1325880" cy="214590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25" name="TextBox 24"/>
          <p:cNvSpPr txBox="1"/>
          <p:nvPr/>
        </p:nvSpPr>
        <p:spPr>
          <a:xfrm>
            <a:off x="2084832" y="1380744"/>
            <a:ext cx="1179576" cy="205446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минута звука</a:t>
            </a:r>
          </a:p>
        </p:txBody>
      </p:sp>
      <p:sp>
        <p:nvSpPr>
          <p:cNvPr id="26" name="Rectangle 25"/>
          <p:cNvSpPr/>
          <p:nvPr/>
        </p:nvSpPr>
        <p:spPr>
          <a:xfrm>
            <a:off x="3337560" y="1769713"/>
            <a:ext cx="201168" cy="32004"/>
          </a:xfrm>
          <a:prstGeom prst="rect">
            <a:avLst/>
          </a:prstGeom>
          <a:solidFill>
            <a:srgbClr val="1C7293"/>
          </a:solidFill>
          <a:ln>
            <a:noFill/>
          </a:ln>
          <a:effectLst/>
        </p:spPr>
        <p:txBody>
          <a:bodyPr rtlCol="0" anchor="ctr"/>
          <a:lstStyle/>
          <a:p>
            <a:pPr algn="ctr"/>
          </a:p>
        </p:txBody>
      </p:sp>
      <p:sp>
        <p:nvSpPr>
          <p:cNvPr id="27" name="Rectangle 26"/>
          <p:cNvSpPr/>
          <p:nvPr/>
        </p:nvSpPr>
        <p:spPr>
          <a:xfrm>
            <a:off x="3337560" y="2897527"/>
            <a:ext cx="201168" cy="32004"/>
          </a:xfrm>
          <a:prstGeom prst="rect">
            <a:avLst/>
          </a:prstGeom>
          <a:solidFill>
            <a:srgbClr val="1C7293"/>
          </a:solidFill>
          <a:ln>
            <a:noFill/>
          </a:ln>
          <a:effectLst/>
        </p:spPr>
        <p:txBody>
          <a:bodyPr rtlCol="0" anchor="ctr"/>
          <a:lstStyle/>
          <a:p>
            <a:pPr algn="ctr"/>
          </a:p>
        </p:txBody>
      </p:sp>
      <p:sp>
        <p:nvSpPr>
          <p:cNvPr id="28" name="Rounded Rectangle 27"/>
          <p:cNvSpPr/>
          <p:nvPr/>
        </p:nvSpPr>
        <p:spPr>
          <a:xfrm>
            <a:off x="502920" y="3663804"/>
            <a:ext cx="5437479" cy="2058918"/>
          </a:xfrm>
          <a:prstGeom prst="roundRect">
            <a:avLst>
              <a:gd name="adj" fmla="val 14803"/>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667512" y="38192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30" name="TextBox 29"/>
          <p:cNvSpPr txBox="1"/>
          <p:nvPr/>
        </p:nvSpPr>
        <p:spPr>
          <a:xfrm>
            <a:off x="667512"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1000" b="0" i="0">
                <a:solidFill>
                  <a:srgbClr val="21295C"/>
                </a:solidFill>
                <a:latin typeface="Arial"/>
              </a:rPr>
              <a:t>• Плоская развёртка: 6 000 шагов, качество 0,86</a:t>
            </a:r>
          </a:p>
          <a:p>
            <a:pPr algn="l">
              <a:lnSpc>
                <a:spcPct val="126000"/>
              </a:lnSpc>
            </a:pPr>
            <a:r>
              <a:rPr sz="10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10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31" name="Rounded Rectangle 30"/>
          <p:cNvSpPr/>
          <p:nvPr/>
        </p:nvSpPr>
        <p:spPr>
          <a:xfrm>
            <a:off x="6251295" y="3663804"/>
            <a:ext cx="5437479" cy="2058918"/>
          </a:xfrm>
          <a:prstGeom prst="roundRect">
            <a:avLst>
              <a:gd name="adj" fmla="val 14803"/>
            </a:avLst>
          </a:prstGeom>
          <a:solidFill>
            <a:srgbClr val="FFFFFF"/>
          </a:solidFill>
          <a:ln w="19050">
            <a:solidFill>
              <a:srgbClr val="028090"/>
            </a:solidFill>
          </a:ln>
          <a:effectLst/>
        </p:spPr>
        <p:txBody>
          <a:bodyPr rtlCol="0" anchor="ctr"/>
          <a:lstStyle/>
          <a:p>
            <a:pPr algn="ctr"/>
          </a:p>
        </p:txBody>
      </p:sp>
      <p:sp>
        <p:nvSpPr>
          <p:cNvPr id="32" name="TextBox 31"/>
          <p:cNvSpPr txBox="1"/>
          <p:nvPr/>
        </p:nvSpPr>
        <p:spPr>
          <a:xfrm>
            <a:off x="6415887" y="38192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33" name="TextBox 32"/>
          <p:cNvSpPr txBox="1"/>
          <p:nvPr/>
        </p:nvSpPr>
        <p:spPr>
          <a:xfrm>
            <a:off x="6415887"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10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10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1000" b="0" i="0">
                <a:solidFill>
                  <a:srgbClr val="21295C"/>
                </a:solidFill>
                <a:latin typeface="Arial"/>
              </a:rPr>
              <a:t>• Тишина обрезается: переменная длина получена обучением, ограничение осталось</a:t>
            </a:r>
          </a:p>
        </p:txBody>
      </p:sp>
      <p:sp>
        <p:nvSpPr>
          <p:cNvPr id="34" name="Rounded Rectangle 33"/>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14</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925076"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551991"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5,91</a:t>
            </a:r>
          </a:p>
          <a:p>
            <a:pPr algn="ctr">
              <a:lnSpc>
                <a:spcPct val="110000"/>
              </a:lnSpc>
            </a:pPr>
            <a:r>
              <a:rPr sz="1200" b="0" i="0">
                <a:solidFill>
                  <a:srgbClr val="21295C"/>
                </a:solidFill>
                <a:latin typeface="Arial"/>
              </a:rPr>
              <a:t>Spleeter</a:t>
            </a:r>
          </a:p>
        </p:txBody>
      </p:sp>
      <p:sp>
        <p:nvSpPr>
          <p:cNvPr id="11" name="Rectangle 10"/>
          <p:cNvSpPr/>
          <p:nvPr/>
        </p:nvSpPr>
        <p:spPr>
          <a:xfrm>
            <a:off x="5276660"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3903574"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8,22</a:t>
            </a:r>
          </a:p>
          <a:p>
            <a:pPr algn="ctr">
              <a:lnSpc>
                <a:spcPct val="110000"/>
              </a:lnSpc>
            </a:pPr>
            <a:r>
              <a:rPr sz="1200" b="0" i="0">
                <a:solidFill>
                  <a:srgbClr val="21295C"/>
                </a:solidFill>
                <a:latin typeface="Arial"/>
              </a:rPr>
              <a:t>Идеальная маска</a:t>
            </a:r>
          </a:p>
        </p:txBody>
      </p:sp>
      <p:sp>
        <p:nvSpPr>
          <p:cNvPr id="13" name="Rectangle 12"/>
          <p:cNvSpPr/>
          <p:nvPr/>
        </p:nvSpPr>
        <p:spPr>
          <a:xfrm>
            <a:off x="6274301" y="1841406"/>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4901216"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9,20</a:t>
            </a:r>
          </a:p>
          <a:p>
            <a:pPr algn="ctr">
              <a:lnSpc>
                <a:spcPct val="110000"/>
              </a:lnSpc>
            </a:pPr>
            <a:r>
              <a:rPr sz="1200" b="0" i="0">
                <a:solidFill>
                  <a:srgbClr val="21295C"/>
                </a:solidFill>
                <a:latin typeface="Arial"/>
              </a:rPr>
              <a:t>Sparse HT Demucs</a:t>
            </a:r>
          </a:p>
        </p:txBody>
      </p:sp>
      <p:sp>
        <p:nvSpPr>
          <p:cNvPr id="15" name="Rectangle 14"/>
          <p:cNvSpPr/>
          <p:nvPr/>
        </p:nvSpPr>
        <p:spPr>
          <a:xfrm>
            <a:off x="9114526" y="2056290"/>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741440"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11,99</a:t>
            </a:r>
          </a:p>
          <a:p>
            <a:pPr algn="ctr">
              <a:lnSpc>
                <a:spcPct val="110000"/>
              </a:lnSpc>
            </a:pPr>
            <a:r>
              <a:rPr sz="1200" b="0" i="0">
                <a:solidFill>
                  <a:srgbClr val="21295C"/>
                </a:solidFill>
                <a:latin typeface="Arial"/>
              </a:rPr>
              <a:t>BS-RoFormer, 2023</a:t>
            </a:r>
          </a:p>
        </p:txBody>
      </p:sp>
      <p:sp>
        <p:nvSpPr>
          <p:cNvPr id="17" name="TextBox 16"/>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дБ, сигнал к искажению на вокале · идеальная маска — потолок маскирования; Hybrid Demucs перешагнул его первым, 8,34 дБ</a:t>
            </a:r>
          </a:p>
        </p:txBody>
      </p:sp>
      <p:sp>
        <p:nvSpPr>
          <p:cNvPr id="18" name="TextBox 17"/>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Оракул вычислен при знании истинных дорожек</a:t>
            </a:r>
          </a:p>
        </p:txBody>
      </p:sp>
      <p:sp>
        <p:nvSpPr>
          <p:cNvPr id="19" name="Rounded Rectangle 18"/>
          <p:cNvSpPr/>
          <p:nvPr/>
        </p:nvSpPr>
        <p:spPr>
          <a:xfrm>
            <a:off x="502920" y="3527496"/>
            <a:ext cx="5437479" cy="2195226"/>
          </a:xfrm>
          <a:prstGeom prst="roundRect">
            <a:avLst>
              <a:gd name="adj" fmla="val 13884"/>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1" name="TextBox 20"/>
          <p:cNvSpPr txBox="1"/>
          <p:nvPr/>
        </p:nvSpPr>
        <p:spPr>
          <a:xfrm>
            <a:off x="667512" y="4039123"/>
            <a:ext cx="5108295" cy="152815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Микс считается суммой дорожек; задача — вернуть слагаемые</a:t>
            </a:r>
          </a:p>
          <a:p>
            <a:pPr algn="l">
              <a:lnSpc>
                <a:spcPct val="126000"/>
              </a:lnSpc>
            </a:pPr>
            <a:r>
              <a:rPr sz="1000" b="0" i="0">
                <a:solidFill>
                  <a:srgbClr val="21295C"/>
                </a:solidFill>
                <a:latin typeface="Arial"/>
              </a:rPr>
              <a:t>• Эталон существует: исходные изолированные дорожки</a:t>
            </a:r>
          </a:p>
          <a:p>
            <a:pPr algn="l">
              <a:lnSpc>
                <a:spcPct val="126000"/>
              </a:lnSpc>
            </a:pPr>
            <a:r>
              <a:rPr sz="10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1000" b="0" i="0">
                <a:solidFill>
                  <a:srgbClr val="21295C"/>
                </a:solidFill>
                <a:latin typeface="Arial"/>
              </a:rPr>
              <a:t>• Есть оракул — верхняя граница, вычисленная при знании ответа</a:t>
            </a:r>
          </a:p>
          <a:p>
            <a:pPr algn="l">
              <a:lnSpc>
                <a:spcPct val="126000"/>
              </a:lnSpc>
            </a:pPr>
            <a:r>
              <a:rPr sz="10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2" name="Rounded Rectangle 21"/>
          <p:cNvSpPr/>
          <p:nvPr/>
        </p:nvSpPr>
        <p:spPr>
          <a:xfrm>
            <a:off x="6251295" y="3527496"/>
            <a:ext cx="5437479" cy="2195226"/>
          </a:xfrm>
          <a:prstGeom prst="roundRect">
            <a:avLst>
              <a:gd name="adj" fmla="val 13884"/>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4" name="TextBox 23"/>
          <p:cNvSpPr txBox="1"/>
          <p:nvPr/>
        </p:nvSpPr>
        <p:spPr>
          <a:xfrm>
            <a:off x="6415887" y="4039123"/>
            <a:ext cx="5108295" cy="152815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11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1100" b="0" i="0">
                <a:solidFill>
                  <a:srgbClr val="21295C"/>
                </a:solidFill>
                <a:latin typeface="Arial"/>
              </a:rPr>
              <a:t>• Понятия идеального оракула у генеративной модели нет вовсе</a:t>
            </a:r>
          </a:p>
          <a:p>
            <a:pPr algn="l">
              <a:lnSpc>
                <a:spcPct val="126000"/>
              </a:lnSpc>
            </a:pPr>
            <a:r>
              <a:rPr sz="11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25" name="Rounded Rectangle 2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TextBox 3"/>
          <p:cNvSpPr txBox="1"/>
          <p:nvPr/>
        </p:nvSpPr>
        <p:spPr>
          <a:xfrm>
            <a:off x="502920" y="137160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Звучание</a:t>
            </a:r>
          </a:p>
        </p:txBody>
      </p:sp>
      <p:sp>
        <p:nvSpPr>
          <p:cNvPr id="5" name="Rounded Rectangle 4"/>
          <p:cNvSpPr/>
          <p:nvPr/>
        </p:nvSpPr>
        <p:spPr>
          <a:xfrm>
            <a:off x="3538728" y="1335024"/>
            <a:ext cx="6622999"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распределение, обусловленное образцом</a:t>
            </a:r>
          </a:p>
        </p:txBody>
      </p:sp>
      <p:sp>
        <p:nvSpPr>
          <p:cNvPr id="8" name="Rounded Rectangle 7"/>
          <p:cNvSpPr/>
          <p:nvPr/>
        </p:nvSpPr>
        <p:spPr>
          <a:xfrm>
            <a:off x="6895947"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978243"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тембр воспроизводится полностью</a:t>
            </a:r>
          </a:p>
        </p:txBody>
      </p:sp>
      <p:sp>
        <p:nvSpPr>
          <p:cNvPr id="10" name="TextBox 9"/>
          <p:cNvSpPr txBox="1"/>
          <p:nvPr/>
        </p:nvSpPr>
        <p:spPr>
          <a:xfrm>
            <a:off x="502920" y="2149306"/>
            <a:ext cx="1307592" cy="105548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Исполнитель</a:t>
            </a:r>
          </a:p>
        </p:txBody>
      </p:sp>
      <p:sp>
        <p:nvSpPr>
          <p:cNvPr id="11" name="Rounded Rectangle 10"/>
          <p:cNvSpPr/>
          <p:nvPr/>
        </p:nvSpPr>
        <p:spPr>
          <a:xfrm>
            <a:off x="3630168"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2" name="Rounded Rectangle 11"/>
          <p:cNvSpPr/>
          <p:nvPr/>
        </p:nvSpPr>
        <p:spPr>
          <a:xfrm>
            <a:off x="6895947"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3630168" y="2798996"/>
            <a:ext cx="6440119"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манера · репертуар · пределы диапазона · дыхание · решение о подаче — ни одного из этого внутри нет</a:t>
            </a:r>
          </a:p>
        </p:txBody>
      </p:sp>
      <p:sp>
        <p:nvSpPr>
          <p:cNvPr id="14" name="Rounded Rectangle 13"/>
          <p:cNvSpPr/>
          <p:nvPr/>
        </p:nvSpPr>
        <p:spPr>
          <a:xfrm>
            <a:off x="2011680"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образец голоса</a:t>
            </a:r>
          </a:p>
        </p:txBody>
      </p:sp>
      <p:sp>
        <p:nvSpPr>
          <p:cNvPr id="16" name="Rectangle 15"/>
          <p:cNvSpPr/>
          <p:nvPr/>
        </p:nvSpPr>
        <p:spPr>
          <a:xfrm>
            <a:off x="3337560" y="1653011"/>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2661048"/>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произнести — да, сыграть — нет</a:t>
            </a:r>
          </a:p>
        </p:txBody>
      </p:sp>
      <p:sp>
        <p:nvSpPr>
          <p:cNvPr id="20" name="Rectangle 19"/>
          <p:cNvSpPr/>
          <p:nvPr/>
        </p:nvSpPr>
        <p:spPr>
          <a:xfrm>
            <a:off x="10161727" y="1653011"/>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2661048"/>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31452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Корень — в данных: обучающий корпус собран из аудиокниг</a:t>
            </a:r>
          </a:p>
        </p:txBody>
      </p:sp>
      <p:sp>
        <p:nvSpPr>
          <p:cNvPr id="23" name="Rounded Rectangle 22"/>
          <p:cNvSpPr/>
          <p:nvPr/>
        </p:nvSpPr>
        <p:spPr>
          <a:xfrm>
            <a:off x="502920" y="3712418"/>
            <a:ext cx="5437479" cy="1752851"/>
          </a:xfrm>
          <a:prstGeom prst="roundRect">
            <a:avLst>
              <a:gd name="adj" fmla="val 17388"/>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67512" y="386786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5" name="TextBox 24"/>
          <p:cNvSpPr txBox="1"/>
          <p:nvPr/>
        </p:nvSpPr>
        <p:spPr>
          <a:xfrm>
            <a:off x="667512"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Формулировка разработчиков: «недостаёт тонкого контроля паралингвистических деталей»</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пения не поддерживает — сказано в документации</a:t>
            </a:r>
          </a:p>
        </p:txBody>
      </p:sp>
      <p:sp>
        <p:nvSpPr>
          <p:cNvPr id="26" name="Rounded Rectangle 25"/>
          <p:cNvSpPr/>
          <p:nvPr/>
        </p:nvSpPr>
        <p:spPr>
          <a:xfrm>
            <a:off x="6251295" y="3712418"/>
            <a:ext cx="5437479" cy="1752851"/>
          </a:xfrm>
          <a:prstGeom prst="roundRect">
            <a:avLst>
              <a:gd name="adj" fmla="val 17388"/>
            </a:avLst>
          </a:prstGeom>
          <a:solidFill>
            <a:srgbClr val="FFFFFF"/>
          </a:solidFill>
          <a:ln w="19050">
            <a:solidFill>
              <a:srgbClr val="028090"/>
            </a:solidFill>
          </a:ln>
          <a:effectLst/>
        </p:spPr>
        <p:txBody>
          <a:bodyPr rtlCol="0" anchor="ctr"/>
          <a:lstStyle/>
          <a:p>
            <a:pPr algn="ctr"/>
          </a:p>
        </p:txBody>
      </p:sp>
      <p:sp>
        <p:nvSpPr>
          <p:cNvPr id="27" name="TextBox 26"/>
          <p:cNvSpPr txBox="1"/>
          <p:nvPr/>
        </p:nvSpPr>
        <p:spPr>
          <a:xfrm>
            <a:off x="6415887" y="386786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8" name="TextBox 27"/>
          <p:cNvSpPr txBox="1"/>
          <p:nvPr/>
        </p:nvSpPr>
        <p:spPr>
          <a:xfrm>
            <a:off x="6415887"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9" name="Rounded Rectangle 2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просят лицензию, а не запрет</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 Применённых в суде дел по законам обоих штатов найти не удалось</a:t>
            </a:r>
          </a:p>
        </p:txBody>
      </p:sp>
      <p:sp>
        <p:nvSpPr>
          <p:cNvPr id="8" name="TextBox 7"/>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a:t>
            </a:r>
          </a:p>
        </p:txBody>
      </p:sp>
      <p:sp>
        <p:nvSpPr>
          <p:cNvPr id="9" name="Rounded Rectangle 8"/>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2024: внесён</a:t>
            </a:r>
          </a:p>
        </p:txBody>
      </p:sp>
      <p:sp>
        <p:nvSpPr>
          <p:cNvPr id="12" name="Right Arrow 11"/>
          <p:cNvSpPr/>
          <p:nvPr/>
        </p:nvSpPr>
        <p:spPr>
          <a:xfrm>
            <a:off x="5069738" y="3082353"/>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389778"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5472074"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январь 2025: не поддержан</a:t>
            </a:r>
          </a:p>
        </p:txBody>
      </p:sp>
      <p:sp>
        <p:nvSpPr>
          <p:cNvPr id="15" name="Right Arrow 14"/>
          <p:cNvSpPr/>
          <p:nvPr/>
        </p:nvSpPr>
        <p:spPr>
          <a:xfrm>
            <a:off x="8356396" y="308235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676436"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8758732"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октябрь 2026: не принят</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штаты</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Теннесси: в силе с 1 июля 2024</a:t>
            </a:r>
          </a:p>
        </p:txBody>
      </p:sp>
      <p:sp>
        <p:nvSpPr>
          <p:cNvPr id="22" name="Right Arrow 21"/>
          <p:cNvSpPr/>
          <p:nvPr/>
        </p:nvSpPr>
        <p:spPr>
          <a:xfrm>
            <a:off x="5069738" y="370414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5389778"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5472074"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Калифорния: с 1 января 2025</a:t>
            </a:r>
          </a:p>
        </p:txBody>
      </p:sp>
      <p:sp>
        <p:nvSpPr>
          <p:cNvPr id="25" name="Right Arrow 24"/>
          <p:cNvSpPr/>
          <p:nvPr/>
        </p:nvSpPr>
        <p:spPr>
          <a:xfrm>
            <a:off x="8356396" y="3704145"/>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8676436"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758732"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применённых дел не найдено</a:t>
            </a:r>
          </a:p>
        </p:txBody>
      </p:sp>
      <p:sp>
        <p:nvSpPr>
          <p:cNvPr id="28" name="TextBox 27"/>
          <p:cNvSpPr txBox="1"/>
          <p:nvPr/>
        </p:nvSpPr>
        <p:spPr>
          <a:xfrm>
            <a:off x="502920" y="4175061"/>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федерация</a:t>
            </a:r>
          </a:p>
        </p:txBody>
      </p:sp>
      <p:sp>
        <p:nvSpPr>
          <p:cNvPr id="29" name="Rounded Rectangle 28"/>
          <p:cNvSpPr/>
          <p:nvPr/>
        </p:nvSpPr>
        <p:spPr>
          <a:xfrm>
            <a:off x="2011680" y="4138485"/>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июнь 2026: одобрен комитетом</a:t>
            </a:r>
          </a:p>
        </p:txBody>
      </p:sp>
      <p:sp>
        <p:nvSpPr>
          <p:cNvPr id="32" name="Right Arrow 31"/>
          <p:cNvSpPr/>
          <p:nvPr/>
        </p:nvSpPr>
        <p:spPr>
          <a:xfrm>
            <a:off x="5069738" y="440389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389778"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5472074"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2026: возразил сенатор</a:t>
            </a:r>
          </a:p>
        </p:txBody>
      </p:sp>
      <p:sp>
        <p:nvSpPr>
          <p:cNvPr id="35" name="Right Arrow 34"/>
          <p:cNvSpPr/>
          <p:nvPr/>
        </p:nvSpPr>
        <p:spPr>
          <a:xfrm>
            <a:off x="8356396" y="440389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76436"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758732"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ни одной палатой не принят</a:t>
            </a:r>
          </a:p>
        </p:txBody>
      </p:sp>
      <p:sp>
        <p:nvSpPr>
          <p:cNvPr id="38" name="TextBox 37"/>
          <p:cNvSpPr txBox="1"/>
          <p:nvPr/>
        </p:nvSpPr>
        <p:spPr>
          <a:xfrm>
            <a:off x="502920" y="487961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разные линии, и ни одна не кончилась применённым в суде делом</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ectangle 3"/>
          <p:cNvSpPr/>
          <p:nvPr/>
        </p:nvSpPr>
        <p:spPr>
          <a:xfrm>
            <a:off x="994009" y="1726662"/>
            <a:ext cx="6875259" cy="50292"/>
          </a:xfrm>
          <a:prstGeom prst="rect">
            <a:avLst/>
          </a:prstGeom>
          <a:solidFill>
            <a:srgbClr val="1C7293"/>
          </a:solidFill>
          <a:ln>
            <a:noFill/>
          </a:ln>
          <a:effectLst/>
        </p:spPr>
        <p:txBody>
          <a:bodyPr rtlCol="0" anchor="ctr"/>
          <a:lstStyle/>
          <a:p>
            <a:pPr algn="ctr"/>
          </a:p>
        </p:txBody>
      </p:sp>
      <p:sp>
        <p:nvSpPr>
          <p:cNvPr id="5" name="Rounded Rectangle 4"/>
          <p:cNvSpPr/>
          <p:nvPr/>
        </p:nvSpPr>
        <p:spPr>
          <a:xfrm>
            <a:off x="140280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6" name="TextBox 5"/>
          <p:cNvSpPr txBox="1"/>
          <p:nvPr/>
        </p:nvSpPr>
        <p:spPr>
          <a:xfrm>
            <a:off x="502920"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2019: начитка</a:t>
            </a:r>
          </a:p>
        </p:txBody>
      </p:sp>
      <p:sp>
        <p:nvSpPr>
          <p:cNvPr id="7" name="Rounded Rectangle 6"/>
          <p:cNvSpPr/>
          <p:nvPr/>
        </p:nvSpPr>
        <p:spPr>
          <a:xfrm>
            <a:off x="336716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8" name="TextBox 7"/>
          <p:cNvSpPr txBox="1"/>
          <p:nvPr/>
        </p:nvSpPr>
        <p:spPr>
          <a:xfrm>
            <a:off x="246727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2022: голос в рекламе</a:t>
            </a:r>
          </a:p>
        </p:txBody>
      </p:sp>
      <p:sp>
        <p:nvSpPr>
          <p:cNvPr id="9" name="Rounded Rectangle 8"/>
          <p:cNvSpPr/>
          <p:nvPr/>
        </p:nvSpPr>
        <p:spPr>
          <a:xfrm>
            <a:off x="533152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10" name="TextBox 9"/>
          <p:cNvSpPr txBox="1"/>
          <p:nvPr/>
        </p:nvSpPr>
        <p:spPr>
          <a:xfrm>
            <a:off x="443163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2023: иск</a:t>
            </a:r>
          </a:p>
        </p:txBody>
      </p:sp>
      <p:sp>
        <p:nvSpPr>
          <p:cNvPr id="11" name="Rounded Rectangle 10"/>
          <p:cNvSpPr/>
          <p:nvPr/>
        </p:nvSpPr>
        <p:spPr>
          <a:xfrm>
            <a:off x="729588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12" name="TextBox 11"/>
          <p:cNvSpPr txBox="1"/>
          <p:nvPr/>
        </p:nvSpPr>
        <p:spPr>
          <a:xfrm>
            <a:off x="639599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2024: решение</a:t>
            </a:r>
          </a:p>
        </p:txBody>
      </p:sp>
      <p:sp>
        <p:nvSpPr>
          <p:cNvPr id="13" name="Rectangle 12"/>
          <p:cNvSpPr/>
          <p:nvPr/>
        </p:nvSpPr>
        <p:spPr>
          <a:xfrm>
            <a:off x="1470469" y="1834104"/>
            <a:ext cx="29260" cy="329183"/>
          </a:xfrm>
          <a:prstGeom prst="rect">
            <a:avLst/>
          </a:prstGeom>
          <a:solidFill>
            <a:srgbClr val="065A82"/>
          </a:solidFill>
          <a:ln>
            <a:noFill/>
          </a:ln>
          <a:effectLst/>
        </p:spPr>
        <p:txBody>
          <a:bodyPr rtlCol="0" anchor="ctr"/>
          <a:lstStyle/>
          <a:p>
            <a:pPr algn="ctr"/>
          </a:p>
        </p:txBody>
      </p:sp>
      <p:sp>
        <p:nvSpPr>
          <p:cNvPr id="14" name="Rounded Rectangle 13"/>
          <p:cNvSpPr/>
          <p:nvPr/>
        </p:nvSpPr>
        <p:spPr>
          <a:xfrm>
            <a:off x="557784" y="2163288"/>
            <a:ext cx="1854631" cy="1508546"/>
          </a:xfrm>
          <a:prstGeom prst="roundRect">
            <a:avLst>
              <a:gd name="adj" fmla="val 20204"/>
            </a:avLst>
          </a:prstGeom>
          <a:solidFill>
            <a:srgbClr val="F4F7FA"/>
          </a:solidFill>
          <a:ln w="16510">
            <a:solidFill>
              <a:srgbClr val="1C7293"/>
            </a:solidFill>
          </a:ln>
          <a:effectLst/>
        </p:spPr>
        <p:txBody>
          <a:bodyPr rtlCol="0" anchor="ctr"/>
          <a:lstStyle/>
          <a:p>
            <a:pPr algn="ctr"/>
          </a:p>
        </p:txBody>
      </p:sp>
      <p:sp>
        <p:nvSpPr>
          <p:cNvPr id="15" name="Rounded Rectangle 14"/>
          <p:cNvSpPr/>
          <p:nvPr/>
        </p:nvSpPr>
        <p:spPr>
          <a:xfrm>
            <a:off x="685800"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2019</a:t>
            </a:r>
          </a:p>
        </p:txBody>
      </p:sp>
      <p:sp>
        <p:nvSpPr>
          <p:cNvPr id="16" name="TextBox 15"/>
          <p:cNvSpPr txBox="1"/>
          <p:nvPr/>
        </p:nvSpPr>
        <p:spPr>
          <a:xfrm>
            <a:off x="685800" y="2647920"/>
            <a:ext cx="1598599" cy="89589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около 600 страниц начитки для банка; слова «синтез» в договоре не было</a:t>
            </a:r>
          </a:p>
        </p:txBody>
      </p:sp>
      <p:sp>
        <p:nvSpPr>
          <p:cNvPr id="17" name="Rectangle 16"/>
          <p:cNvSpPr/>
          <p:nvPr/>
        </p:nvSpPr>
        <p:spPr>
          <a:xfrm>
            <a:off x="3434829" y="1834104"/>
            <a:ext cx="29260" cy="329183"/>
          </a:xfrm>
          <a:prstGeom prst="rect">
            <a:avLst/>
          </a:prstGeom>
          <a:solidFill>
            <a:srgbClr val="065A82"/>
          </a:solidFill>
          <a:ln>
            <a:noFill/>
          </a:ln>
          <a:effectLst/>
        </p:spPr>
        <p:txBody>
          <a:bodyPr rtlCol="0" anchor="ctr"/>
          <a:lstStyle/>
          <a:p>
            <a:pPr algn="ctr"/>
          </a:p>
        </p:txBody>
      </p:sp>
      <p:sp>
        <p:nvSpPr>
          <p:cNvPr id="18" name="Rounded Rectangle 17"/>
          <p:cNvSpPr/>
          <p:nvPr/>
        </p:nvSpPr>
        <p:spPr>
          <a:xfrm>
            <a:off x="2522143" y="2163288"/>
            <a:ext cx="1854631" cy="1732521"/>
          </a:xfrm>
          <a:prstGeom prst="roundRect">
            <a:avLst>
              <a:gd name="adj" fmla="val 17592"/>
            </a:avLst>
          </a:prstGeom>
          <a:solidFill>
            <a:srgbClr val="F4F7FA"/>
          </a:solidFill>
          <a:ln w="16510">
            <a:solidFill>
              <a:srgbClr val="1C7293"/>
            </a:solidFill>
          </a:ln>
          <a:effectLst/>
        </p:spPr>
        <p:txBody>
          <a:bodyPr rtlCol="0" anchor="ctr"/>
          <a:lstStyle/>
          <a:p>
            <a:pPr algn="ctr"/>
          </a:p>
        </p:txBody>
      </p:sp>
      <p:sp>
        <p:nvSpPr>
          <p:cNvPr id="19" name="Rounded Rectangle 18"/>
          <p:cNvSpPr/>
          <p:nvPr/>
        </p:nvSpPr>
        <p:spPr>
          <a:xfrm>
            <a:off x="265015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2022</a:t>
            </a:r>
          </a:p>
        </p:txBody>
      </p:sp>
      <p:sp>
        <p:nvSpPr>
          <p:cNvPr id="20" name="TextBox 19"/>
          <p:cNvSpPr txBox="1"/>
          <p:nvPr/>
        </p:nvSpPr>
        <p:spPr>
          <a:xfrm>
            <a:off x="2650159" y="2647920"/>
            <a:ext cx="1598599" cy="111987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голос обнаружен в сторонней рекламе, доступен для синтеза на сторонних площадках</a:t>
            </a:r>
          </a:p>
        </p:txBody>
      </p:sp>
      <p:sp>
        <p:nvSpPr>
          <p:cNvPr id="21" name="Rectangle 20"/>
          <p:cNvSpPr/>
          <p:nvPr/>
        </p:nvSpPr>
        <p:spPr>
          <a:xfrm>
            <a:off x="5399189" y="1834104"/>
            <a:ext cx="29260" cy="329183"/>
          </a:xfrm>
          <a:prstGeom prst="rect">
            <a:avLst/>
          </a:prstGeom>
          <a:solidFill>
            <a:srgbClr val="065A82"/>
          </a:solidFill>
          <a:ln>
            <a:noFill/>
          </a:ln>
          <a:effectLst/>
        </p:spPr>
        <p:txBody>
          <a:bodyPr rtlCol="0" anchor="ctr"/>
          <a:lstStyle/>
          <a:p>
            <a:pPr algn="ctr"/>
          </a:p>
        </p:txBody>
      </p:sp>
      <p:sp>
        <p:nvSpPr>
          <p:cNvPr id="22" name="Rounded Rectangle 21"/>
          <p:cNvSpPr/>
          <p:nvPr/>
        </p:nvSpPr>
        <p:spPr>
          <a:xfrm>
            <a:off x="4486503" y="2163288"/>
            <a:ext cx="1854631" cy="1732521"/>
          </a:xfrm>
          <a:prstGeom prst="roundRect">
            <a:avLst>
              <a:gd name="adj" fmla="val 17592"/>
            </a:avLst>
          </a:prstGeom>
          <a:solidFill>
            <a:srgbClr val="F4F7FA"/>
          </a:solidFill>
          <a:ln w="16510">
            <a:solidFill>
              <a:srgbClr val="1C7293"/>
            </a:solidFill>
          </a:ln>
          <a:effectLst/>
        </p:spPr>
        <p:txBody>
          <a:bodyPr rtlCol="0" anchor="ctr"/>
          <a:lstStyle/>
          <a:p>
            <a:pPr algn="ctr"/>
          </a:p>
        </p:txBody>
      </p:sp>
      <p:sp>
        <p:nvSpPr>
          <p:cNvPr id="23" name="Rounded Rectangle 22"/>
          <p:cNvSpPr/>
          <p:nvPr/>
        </p:nvSpPr>
        <p:spPr>
          <a:xfrm>
            <a:off x="461451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2023</a:t>
            </a:r>
          </a:p>
        </p:txBody>
      </p:sp>
      <p:sp>
        <p:nvSpPr>
          <p:cNvPr id="24" name="TextBox 23"/>
          <p:cNvSpPr txBox="1"/>
          <p:nvPr/>
        </p:nvSpPr>
        <p:spPr>
          <a:xfrm>
            <a:off x="4614519" y="2647920"/>
            <a:ext cx="1598599" cy="111987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иск почти на 6 млн ₽, подан 30 августа после отказа от компенсации в два месячных заработка</a:t>
            </a:r>
          </a:p>
        </p:txBody>
      </p:sp>
      <p:sp>
        <p:nvSpPr>
          <p:cNvPr id="25" name="Rectangle 24"/>
          <p:cNvSpPr/>
          <p:nvPr/>
        </p:nvSpPr>
        <p:spPr>
          <a:xfrm>
            <a:off x="7363548" y="1834104"/>
            <a:ext cx="29260" cy="329183"/>
          </a:xfrm>
          <a:prstGeom prst="rect">
            <a:avLst/>
          </a:prstGeom>
          <a:solidFill>
            <a:srgbClr val="065A82"/>
          </a:solidFill>
          <a:ln>
            <a:noFill/>
          </a:ln>
          <a:effectLst/>
        </p:spPr>
        <p:txBody>
          <a:bodyPr rtlCol="0" anchor="ctr"/>
          <a:lstStyle/>
          <a:p>
            <a:pPr algn="ctr"/>
          </a:p>
        </p:txBody>
      </p:sp>
      <p:sp>
        <p:nvSpPr>
          <p:cNvPr id="26" name="Rounded Rectangle 25"/>
          <p:cNvSpPr/>
          <p:nvPr/>
        </p:nvSpPr>
        <p:spPr>
          <a:xfrm>
            <a:off x="6450863" y="2163288"/>
            <a:ext cx="1854631" cy="1508546"/>
          </a:xfrm>
          <a:prstGeom prst="roundRect">
            <a:avLst>
              <a:gd name="adj" fmla="val 20204"/>
            </a:avLst>
          </a:prstGeom>
          <a:solidFill>
            <a:srgbClr val="F4F7FA"/>
          </a:solidFill>
          <a:ln w="16510">
            <a:solidFill>
              <a:srgbClr val="1C7293"/>
            </a:solidFill>
          </a:ln>
          <a:effectLst/>
        </p:spPr>
        <p:txBody>
          <a:bodyPr rtlCol="0" anchor="ctr"/>
          <a:lstStyle/>
          <a:p>
            <a:pPr algn="ctr"/>
          </a:p>
        </p:txBody>
      </p:sp>
      <p:sp>
        <p:nvSpPr>
          <p:cNvPr id="27" name="Rounded Rectangle 26"/>
          <p:cNvSpPr/>
          <p:nvPr/>
        </p:nvSpPr>
        <p:spPr>
          <a:xfrm>
            <a:off x="657887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2024</a:t>
            </a:r>
          </a:p>
        </p:txBody>
      </p:sp>
      <p:sp>
        <p:nvSpPr>
          <p:cNvPr id="28" name="TextBox 27"/>
          <p:cNvSpPr txBox="1"/>
          <p:nvPr/>
        </p:nvSpPr>
        <p:spPr>
          <a:xfrm>
            <a:off x="6578879" y="2647920"/>
            <a:ext cx="1598599" cy="89589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 иске отказано: суд разрешил спор о голосе как спор о договоре</a:t>
            </a:r>
          </a:p>
        </p:txBody>
      </p:sp>
      <p:sp>
        <p:nvSpPr>
          <p:cNvPr id="29" name="TextBox 28"/>
          <p:cNvSpPr txBox="1"/>
          <p:nvPr/>
        </p:nvSpPr>
        <p:spPr>
          <a:xfrm>
            <a:off x="502920" y="4042113"/>
            <a:ext cx="78574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стадия единственного российского дела о синтезированном голосе</a:t>
            </a:r>
          </a:p>
        </p:txBody>
      </p:sp>
      <p:sp>
        <p:nvSpPr>
          <p:cNvPr id="30" name="TextBox 29"/>
          <p:cNvSpPr txBox="1"/>
          <p:nvPr/>
        </p:nvSpPr>
        <p:spPr>
          <a:xfrm>
            <a:off x="502920" y="4353009"/>
            <a:ext cx="78574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Единственное российское дело о синтезированном голосе, дошедшее до решения</a:t>
            </a:r>
          </a:p>
        </p:txBody>
      </p:sp>
      <p:sp>
        <p:nvSpPr>
          <p:cNvPr id="31" name="Rounded Rectangle 30"/>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32" name="Picture 31" descr="s48-andronova-afisha-portret.png"/>
          <p:cNvPicPr>
            <a:picLocks noChangeAspect="1"/>
          </p:cNvPicPr>
          <p:nvPr/>
        </p:nvPicPr>
        <p:blipFill>
          <a:blip r:embed="rId2"/>
          <a:stretch>
            <a:fillRect/>
          </a:stretch>
        </p:blipFill>
        <p:spPr>
          <a:xfrm>
            <a:off x="8808415" y="1472184"/>
            <a:ext cx="2743200" cy="4114800"/>
          </a:xfrm>
          <a:prstGeom prst="rect">
            <a:avLst/>
          </a:prstGeom>
        </p:spPr>
      </p:pic>
      <p:sp>
        <p:nvSpPr>
          <p:cNvPr id="33" name="Rectangle 3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637877"/>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701885"/>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637877"/>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637877"/>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857687"/>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907979"/>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971987"/>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 за изображение</a:t>
            </a:r>
          </a:p>
        </p:txBody>
      </p:sp>
      <p:sp>
        <p:nvSpPr>
          <p:cNvPr id="37" name="Rectangle 36"/>
          <p:cNvSpPr/>
          <p:nvPr/>
        </p:nvSpPr>
        <p:spPr>
          <a:xfrm>
            <a:off x="4971227"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 за минуту</a:t>
            </a:r>
          </a:p>
        </p:txBody>
      </p:sp>
      <p:sp>
        <p:nvSpPr>
          <p:cNvPr id="39" name="Rectangle 38"/>
          <p:cNvSpPr/>
          <p:nvPr/>
        </p:nvSpPr>
        <p:spPr>
          <a:xfrm>
            <a:off x="6650614"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195842"/>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259850"/>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483705"/>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547713"/>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771568"/>
            <a:ext cx="2788920" cy="412188"/>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835576"/>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в выдаче не существует</a:t>
            </a:r>
          </a:p>
        </p:txBody>
      </p:sp>
      <p:sp>
        <p:nvSpPr>
          <p:cNvPr id="64" name="Rectangle 63"/>
          <p:cNvSpPr/>
          <p:nvPr/>
        </p:nvSpPr>
        <p:spPr>
          <a:xfrm>
            <a:off x="4971227"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93322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 права, ставки, страховка, согласования</a:t>
            </a:r>
          </a:p>
        </p:txBody>
      </p:sp>
      <p:sp>
        <p:nvSpPr>
          <p:cNvPr id="8" name="Rounded Rectangle 7"/>
          <p:cNvSpPr/>
          <p:nvPr/>
        </p:nvSpPr>
        <p:spPr>
          <a:xfrm>
            <a:off x="6178143" y="1335024"/>
            <a:ext cx="5510631"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TextBox 11"/>
          <p:cNvSpPr txBox="1"/>
          <p:nvPr/>
        </p:nvSpPr>
        <p:spPr>
          <a:xfrm>
            <a:off x="502920" y="3712323"/>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3" name="Rounded Rectangle 12"/>
          <p:cNvSpPr/>
          <p:nvPr/>
        </p:nvSpPr>
        <p:spPr>
          <a:xfrm>
            <a:off x="1920240" y="367574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72146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5" name="Right Arrow 14"/>
          <p:cNvSpPr/>
          <p:nvPr/>
        </p:nvSpPr>
        <p:spPr>
          <a:xfrm>
            <a:off x="5039258" y="408251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67574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72146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18" name="Right Arrow 17"/>
          <p:cNvSpPr/>
          <p:nvPr/>
        </p:nvSpPr>
        <p:spPr>
          <a:xfrm>
            <a:off x="8386876" y="408251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67574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72146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Отснятое к вышедшему: 10:1 в рекламе, десятки:1 в документалистике</a:t>
            </a:r>
          </a:p>
        </p:txBody>
      </p:sp>
      <p:sp>
        <p:nvSpPr>
          <p:cNvPr id="21" name="TextBox 20"/>
          <p:cNvSpPr txBox="1"/>
          <p:nvPr/>
        </p:nvSpPr>
        <p:spPr>
          <a:xfrm>
            <a:off x="502920" y="480931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2" name="Rounded Rectangle 21"/>
          <p:cNvSpPr/>
          <p:nvPr/>
        </p:nvSpPr>
        <p:spPr>
          <a:xfrm>
            <a:off x="1920240" y="4772742"/>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818462"/>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4" name="Right Arrow 23"/>
          <p:cNvSpPr/>
          <p:nvPr/>
        </p:nvSpPr>
        <p:spPr>
          <a:xfrm>
            <a:off x="5039258" y="517950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772742"/>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4818462"/>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сотни клипов, сверка персонажа, сборка сцены</a:t>
            </a:r>
          </a:p>
        </p:txBody>
      </p:sp>
      <p:sp>
        <p:nvSpPr>
          <p:cNvPr id="27" name="Right Arrow 26"/>
          <p:cNvSpPr/>
          <p:nvPr/>
        </p:nvSpPr>
        <p:spPr>
          <a:xfrm>
            <a:off x="8386876" y="517950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772742"/>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818462"/>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0" name="TextBox 29"/>
          <p:cNvSpPr txBox="1"/>
          <p:nvPr/>
        </p:nvSpPr>
        <p:spPr>
          <a:xfrm>
            <a:off x="502920" y="576000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Одиннадцать стадий производства и девять способов получить изображение</a:t>
            </a:r>
          </a:p>
        </p:txBody>
      </p:sp>
      <p:sp>
        <p:nvSpPr>
          <p:cNvPr id="4" name="Rounded Rectangle 3"/>
          <p:cNvSpPr/>
          <p:nvPr/>
        </p:nvSpPr>
        <p:spPr>
          <a:xfrm>
            <a:off x="502920" y="1335024"/>
            <a:ext cx="11185855"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ДЕВЯТЬ, И НИ ОДИН ИЗ ВОСЬМИ ПРЕЖНИХ НЕ ОТМЕНЁН</a:t>
            </a:r>
          </a:p>
        </p:txBody>
      </p:sp>
      <p:sp>
        <p:nvSpPr>
          <p:cNvPr id="6" name="TextBox 5"/>
          <p:cNvSpPr txBox="1"/>
          <p:nvPr/>
        </p:nvSpPr>
        <p:spPr>
          <a:xfrm>
            <a:off x="640080" y="1725375"/>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3322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Восемь стадий, существовавших до 2022 года</a:t>
            </a:r>
          </a:p>
        </p:txBody>
      </p:sp>
      <p:sp>
        <p:nvSpPr>
          <p:cNvPr id="10" name="TextBox 9"/>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Съёмочный период: камера, свет, грим, исполнители; учёт в днях и планах</a:t>
            </a:r>
          </a:p>
          <a:p>
            <a:pPr algn="l">
              <a:lnSpc>
                <a:spcPct val="126000"/>
              </a:lnSpc>
            </a:pPr>
            <a:r>
              <a:rPr sz="950" b="0" i="0">
                <a:solidFill>
                  <a:srgbClr val="21295C"/>
                </a:solidFill>
                <a:latin typeface="Arial"/>
              </a:rPr>
              <a:t>• Монтаж выбирает и склеивает планы, композитинг собирает кадр из слоёв</a:t>
            </a:r>
          </a:p>
          <a:p>
            <a:pPr algn="l">
              <a:lnSpc>
                <a:spcPct val="126000"/>
              </a:lnSpc>
            </a:pPr>
            <a:r>
              <a:rPr sz="95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50" b="0" i="0">
                <a:solidFill>
                  <a:srgbClr val="21295C"/>
                </a:solidFill>
                <a:latin typeface="Arial"/>
              </a:rPr>
              <a:t>• Цветокоррекция приводит материал к единому виду</a:t>
            </a:r>
          </a:p>
          <a:p>
            <a:pPr algn="l">
              <a:lnSpc>
                <a:spcPct val="126000"/>
              </a:lnSpc>
            </a:pPr>
            <a:r>
              <a:rPr sz="950" b="0" i="0">
                <a:solidFill>
                  <a:srgbClr val="21295C"/>
                </a:solidFill>
                <a:latin typeface="Arial"/>
              </a:rPr>
              <a:t>• Визуальные эффекты добавляют то, чего на площадке не было</a:t>
            </a:r>
          </a:p>
          <a:p>
            <a:pPr algn="l">
              <a:lnSpc>
                <a:spcPct val="126000"/>
              </a:lnSpc>
            </a:pPr>
            <a:r>
              <a:rPr sz="950" b="0" i="0">
                <a:solidFill>
                  <a:srgbClr val="21295C"/>
                </a:solidFill>
                <a:latin typeface="Arial"/>
              </a:rPr>
              <a:t>• Виртуальное производство, с 2019: фон со светодиодной стены прямо в камеру</a:t>
            </a:r>
          </a:p>
          <a:p>
            <a:pPr algn="l">
              <a:lnSpc>
                <a:spcPct val="126000"/>
              </a:lnSpc>
            </a:pPr>
            <a:r>
              <a:rPr sz="950" b="0" i="0">
                <a:solidFill>
                  <a:srgbClr val="21295C"/>
                </a:solidFill>
                <a:latin typeface="Arial"/>
              </a:rPr>
              <a:t>• Анимация производит изображение без съёмки вовсе</a:t>
            </a:r>
          </a:p>
        </p:txBody>
      </p:sp>
      <p:sp>
        <p:nvSpPr>
          <p:cNvPr id="11" name="Rounded Rectangle 10"/>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Три стадии, появившиеся с 2022 года</a:t>
            </a:r>
          </a:p>
        </p:txBody>
      </p:sp>
      <p:sp>
        <p:nvSpPr>
          <p:cNvPr id="13" name="TextBox 12"/>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1100" b="0" i="0">
                <a:solidFill>
                  <a:srgbClr val="21295C"/>
                </a:solidFill>
                <a:latin typeface="Arial"/>
              </a:rPr>
              <a:t>• Оживление кадра: на входе готовая картинка, на выходе движение из неё</a:t>
            </a:r>
          </a:p>
          <a:p>
            <a:pPr algn="l">
              <a:lnSpc>
                <a:spcPct val="126000"/>
              </a:lnSpc>
            </a:pPr>
            <a:r>
              <a:rPr sz="1100" b="0" i="0">
                <a:solidFill>
                  <a:srgbClr val="21295C"/>
                </a:solidFill>
                <a:latin typeface="Arial"/>
              </a:rPr>
              <a:t>• Продление сцены: модель достраивает клип вперёд или назад от последнего кадра</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Правильный ответ на вопрос «чем снимать» в половине случаев остаётся «камерой»: светодиодный объём не отменил хромакей, хромакей не отменил экспедицию, генерация не отменила съёмку.</a:t>
            </a: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508941" cy="3031109"/>
          </a:xfrm>
          <a:prstGeom prst="roundRect">
            <a:avLst>
              <a:gd name="adj" fmla="val 1214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62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ОДНОГО РОЛИКА, РОССИЯ</a:t>
            </a:r>
          </a:p>
        </p:txBody>
      </p:sp>
      <p:sp>
        <p:nvSpPr>
          <p:cNvPr id="6" name="TextBox 5"/>
          <p:cNvSpPr txBox="1"/>
          <p:nvPr/>
        </p:nvSpPr>
        <p:spPr>
          <a:xfrm>
            <a:off x="640080" y="1932846"/>
            <a:ext cx="223462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300 000 до 10 000 000 ₽</a:t>
            </a:r>
          </a:p>
        </p:txBody>
      </p:sp>
      <p:sp>
        <p:nvSpPr>
          <p:cNvPr id="7" name="TextBox 6"/>
          <p:cNvSpPr txBox="1"/>
          <p:nvPr/>
        </p:nvSpPr>
        <p:spPr>
          <a:xfrm>
            <a:off x="640080" y="2750268"/>
            <a:ext cx="2234621"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базовый 300 000–800 000 ₽, группа 3–5 человек · средний 800 000–2 500 000 ₽, актёры · премиальный от 2 500 000 ₽, группа 10–20 человек. Гонорар известного актёра — от 500 000 ₽ за съёмочный день</a:t>
            </a:r>
          </a:p>
        </p:txBody>
      </p:sp>
      <p:sp>
        <p:nvSpPr>
          <p:cNvPr id="8" name="Rounded Rectangle 7"/>
          <p:cNvSpPr/>
          <p:nvPr/>
        </p:nvSpPr>
        <p:spPr>
          <a:xfrm>
            <a:off x="3176453" y="1335024"/>
            <a:ext cx="2508941" cy="3031109"/>
          </a:xfrm>
          <a:prstGeom prst="roundRect">
            <a:avLst>
              <a:gd name="adj" fmla="val 1214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3613" y="1472184"/>
            <a:ext cx="2234621"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0" name="TextBox 9"/>
          <p:cNvSpPr txBox="1"/>
          <p:nvPr/>
        </p:nvSpPr>
        <p:spPr>
          <a:xfrm>
            <a:off x="3313613" y="2555260"/>
            <a:ext cx="2234621" cy="1004146"/>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группа от пятидесяти человек, цикл год</a:t>
            </a:r>
          </a:p>
        </p:txBody>
      </p:sp>
      <p:sp>
        <p:nvSpPr>
          <p:cNvPr id="11" name="TextBox 10"/>
          <p:cNvSpPr txBox="1"/>
          <p:nvPr/>
        </p:nvSpPr>
        <p:spPr>
          <a:xfrm>
            <a:off x="3313613" y="3559406"/>
            <a:ext cx="223462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12" name="Rounded Rectangle 11"/>
          <p:cNvSpPr/>
          <p:nvPr/>
        </p:nvSpPr>
        <p:spPr>
          <a:xfrm>
            <a:off x="5849987" y="1335024"/>
            <a:ext cx="2508941" cy="3031109"/>
          </a:xfrm>
          <a:prstGeom prst="roundRect">
            <a:avLst>
              <a:gd name="adj" fmla="val 1214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7147" y="1472184"/>
            <a:ext cx="223462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14" name="TextBox 13"/>
          <p:cNvSpPr txBox="1"/>
          <p:nvPr/>
        </p:nvSpPr>
        <p:spPr>
          <a:xfrm>
            <a:off x="5987147" y="1932846"/>
            <a:ext cx="223462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15" name="TextBox 14"/>
          <p:cNvSpPr txBox="1"/>
          <p:nvPr/>
        </p:nvSpPr>
        <p:spPr>
          <a:xfrm>
            <a:off x="5987147" y="3140692"/>
            <a:ext cx="2234621"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16" name="Rounded Rectangle 15"/>
          <p:cNvSpPr/>
          <p:nvPr/>
        </p:nvSpPr>
        <p:spPr>
          <a:xfrm>
            <a:off x="502920" y="4549013"/>
            <a:ext cx="3772556" cy="1687194"/>
          </a:xfrm>
          <a:prstGeom prst="roundRect">
            <a:avLst>
              <a:gd name="adj" fmla="val 1806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704461"/>
            <a:ext cx="3443372"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18" name="TextBox 17"/>
          <p:cNvSpPr txBox="1"/>
          <p:nvPr/>
        </p:nvSpPr>
        <p:spPr>
          <a:xfrm>
            <a:off x="667512" y="5060639"/>
            <a:ext cx="3443372" cy="102012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Музыка отдельно: лицензионный трек 10 000–50 000 ₽, оригинальный от 150 000 ₽</a:t>
            </a:r>
          </a:p>
          <a:p>
            <a:pPr algn="l">
              <a:lnSpc>
                <a:spcPct val="126000"/>
              </a:lnSpc>
            </a:pPr>
            <a:r>
              <a:rPr sz="1250" b="0" i="0">
                <a:solidFill>
                  <a:srgbClr val="21295C"/>
                </a:solidFill>
                <a:latin typeface="Arial"/>
              </a:rPr>
              <a:t>• Общая единица: 300 000 ₽ за 30-секундный ролик — 10 000 ₽ за секунду эфира</a:t>
            </a:r>
          </a:p>
        </p:txBody>
      </p:sp>
      <p:sp>
        <p:nvSpPr>
          <p:cNvPr id="19" name="Rounded Rectangle 18"/>
          <p:cNvSpPr/>
          <p:nvPr/>
        </p:nvSpPr>
        <p:spPr>
          <a:xfrm>
            <a:off x="4586372" y="4549013"/>
            <a:ext cx="3772556" cy="1687194"/>
          </a:xfrm>
          <a:prstGeom prst="roundRect">
            <a:avLst>
              <a:gd name="adj" fmla="val 1806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750964" y="4704461"/>
            <a:ext cx="3443372"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1" name="TextBox 20"/>
          <p:cNvSpPr txBox="1"/>
          <p:nvPr/>
        </p:nvSpPr>
        <p:spPr>
          <a:xfrm>
            <a:off x="4750964" y="5060639"/>
            <a:ext cx="3443372" cy="1020120"/>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Микродрама 2024 года, живая съёмка: свыше 1 млн юаней за выпуск, около 137 тысяч долларов</a:t>
            </a:r>
          </a:p>
          <a:p>
            <a:pPr algn="l">
              <a:lnSpc>
                <a:spcPct val="126000"/>
              </a:lnSpc>
            </a:pPr>
            <a:r>
              <a:rPr sz="950" b="0" i="0">
                <a:solidFill>
                  <a:srgbClr val="21295C"/>
                </a:solidFill>
                <a:latin typeface="Arial"/>
              </a:rPr>
              <a:t>• «Ирландец», 2019: бюджет со 125 до 159 млн $ на 1 750 планах омоложения</a:t>
            </a:r>
          </a:p>
          <a:p>
            <a:pPr algn="l">
              <a:lnSpc>
                <a:spcPct val="126000"/>
              </a:lnSpc>
            </a:pPr>
            <a:r>
              <a:rPr sz="950" b="0" i="0">
                <a:solidFill>
                  <a:srgbClr val="21295C"/>
                </a:solidFill>
                <a:latin typeface="Arial"/>
              </a:rPr>
              <a:t>• Супервайзер: цена плана та же, а планов на два фильма</a:t>
            </a:r>
          </a:p>
        </p:txBody>
      </p:sp>
      <p:sp>
        <p:nvSpPr>
          <p:cNvPr id="22" name="Rounded Rectangle 21"/>
          <p:cNvSpPr/>
          <p:nvPr/>
        </p:nvSpPr>
        <p:spPr>
          <a:xfrm>
            <a:off x="8669825" y="1335024"/>
            <a:ext cx="3018949" cy="4389120"/>
          </a:xfrm>
          <a:prstGeom prst="roundRect">
            <a:avLst>
              <a:gd name="adj" fmla="val 10096"/>
            </a:avLst>
          </a:prstGeom>
          <a:solidFill>
            <a:srgbClr val="F4F7FA"/>
          </a:solidFill>
          <a:ln w="19050">
            <a:solidFill>
              <a:srgbClr val="1C7293"/>
            </a:solidFill>
          </a:ln>
          <a:effectLst/>
        </p:spPr>
        <p:txBody>
          <a:bodyPr rtlCol="0" anchor="ctr"/>
          <a:lstStyle/>
          <a:p>
            <a:pPr algn="ctr"/>
          </a:p>
        </p:txBody>
      </p:sp>
      <p:pic>
        <p:nvPicPr>
          <p:cNvPr id="23" name="Picture 22" descr="s52-svetovaya-ferma-na-naturnoy-ploshchadke.jpg"/>
          <p:cNvPicPr>
            <a:picLocks noChangeAspect="1"/>
          </p:cNvPicPr>
          <p:nvPr/>
        </p:nvPicPr>
        <p:blipFill>
          <a:blip r:embed="rId2"/>
          <a:stretch>
            <a:fillRect/>
          </a:stretch>
        </p:blipFill>
        <p:spPr>
          <a:xfrm>
            <a:off x="8806985" y="1472184"/>
            <a:ext cx="2744629" cy="4114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23730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 отрасли</a:t>
            </a:r>
          </a:p>
        </p:txBody>
      </p:sp>
      <p:sp>
        <p:nvSpPr>
          <p:cNvPr id="8" name="Rounded Rectangle 7"/>
          <p:cNvSpPr/>
          <p:nvPr/>
        </p:nvSpPr>
        <p:spPr>
          <a:xfrm>
            <a:off x="3175704"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2864" y="1472184"/>
            <a:ext cx="2233872"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2864" y="1932846"/>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живой выпуск свыше 1 млн юаней · кинопрокат ≈100 млрд юаней в 2025</a:t>
            </a:r>
          </a:p>
        </p:txBody>
      </p:sp>
      <p:sp>
        <p:nvSpPr>
          <p:cNvPr id="11" name="TextBox 10"/>
          <p:cNvSpPr txBox="1"/>
          <p:nvPr/>
        </p:nvSpPr>
        <p:spPr>
          <a:xfrm>
            <a:off x="3312864" y="2580519"/>
            <a:ext cx="2233872"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≈137 тыс. $ за живой выпуск; кинопрокат — канал той же аудитории, свыше 120 млрд в 2026</a:t>
            </a:r>
          </a:p>
        </p:txBody>
      </p:sp>
      <p:sp>
        <p:nvSpPr>
          <p:cNvPr id="12" name="Rounded Rectangle 11"/>
          <p:cNvSpPr/>
          <p:nvPr/>
        </p:nvSpPr>
        <p:spPr>
          <a:xfrm>
            <a:off x="5848489" y="1335024"/>
            <a:ext cx="2508192"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5649"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5649" y="1725375"/>
            <a:ext cx="2233872"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50–100 тыс. юаней за выпуск</a:t>
            </a:r>
          </a:p>
        </p:txBody>
      </p:sp>
      <p:sp>
        <p:nvSpPr>
          <p:cNvPr id="15" name="TextBox 14"/>
          <p:cNvSpPr txBox="1"/>
          <p:nvPr/>
        </p:nvSpPr>
        <p:spPr>
          <a:xfrm>
            <a:off x="5985649" y="24409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≈7–14 тыс. $: в 10–20 раз дешевле классического режима, не нуля</a:t>
            </a:r>
          </a:p>
        </p:txBody>
      </p:sp>
      <p:sp>
        <p:nvSpPr>
          <p:cNvPr id="16" name="Rounded Rectangle 15"/>
          <p:cNvSpPr/>
          <p:nvPr/>
        </p:nvSpPr>
        <p:spPr>
          <a:xfrm>
            <a:off x="502920" y="3727245"/>
            <a:ext cx="785376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64405"/>
            <a:ext cx="757944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ТЕМП, СКОРОСТЬ ПЕРЕХОДА</a:t>
            </a:r>
          </a:p>
        </p:txBody>
      </p:sp>
      <p:sp>
        <p:nvSpPr>
          <p:cNvPr id="18" name="TextBox 17"/>
          <p:cNvSpPr txBox="1"/>
          <p:nvPr/>
        </p:nvSpPr>
        <p:spPr>
          <a:xfrm>
            <a:off x="640080" y="4117596"/>
            <a:ext cx="757944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430 000 выпусков за восемь месяцев, сгенерированных более 90 %</a:t>
            </a:r>
          </a:p>
        </p:txBody>
      </p:sp>
      <p:sp>
        <p:nvSpPr>
          <p:cNvPr id="19" name="TextBox 18"/>
          <p:cNvSpPr txBox="1"/>
          <p:nvPr/>
        </p:nvSpPr>
        <p:spPr>
          <a:xfrm>
            <a:off x="640080" y="4935019"/>
            <a:ext cx="75794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темп июля 2026 — одна каждые 36 секунд; переход занял около года против четырнадцати лет у нелинейного монтажа</a:t>
            </a:r>
          </a:p>
        </p:txBody>
      </p:sp>
      <p:sp>
        <p:nvSpPr>
          <p:cNvPr id="20" name="Rounded Rectangle 19"/>
          <p:cNvSpPr/>
          <p:nvPr/>
        </p:nvSpPr>
        <p:spPr>
          <a:xfrm>
            <a:off x="8667577" y="1335024"/>
            <a:ext cx="3021197" cy="4389120"/>
          </a:xfrm>
          <a:prstGeom prst="roundRect">
            <a:avLst>
              <a:gd name="adj" fmla="val 10088"/>
            </a:avLst>
          </a:prstGeom>
          <a:solidFill>
            <a:srgbClr val="F4F7FA"/>
          </a:solidFill>
          <a:ln w="19050">
            <a:solidFill>
              <a:srgbClr val="1C7293"/>
            </a:solidFill>
          </a:ln>
          <a:effectLst/>
        </p:spPr>
        <p:txBody>
          <a:bodyPr rtlCol="0" anchor="ctr"/>
          <a:lstStyle/>
          <a:p>
            <a:pPr algn="ctr"/>
          </a:p>
        </p:txBody>
      </p:sp>
      <p:pic>
        <p:nvPicPr>
          <p:cNvPr id="21" name="Picture 20" descr="s53-microdrama-caixin-portret.jpg"/>
          <p:cNvPicPr>
            <a:picLocks noChangeAspect="1"/>
          </p:cNvPicPr>
          <p:nvPr/>
        </p:nvPicPr>
        <p:blipFill>
          <a:blip r:embed="rId2"/>
          <a:stretch>
            <a:fillRect/>
          </a:stretch>
        </p:blipFill>
        <p:spPr>
          <a:xfrm>
            <a:off x="8804737" y="1472184"/>
            <a:ext cx="2746877"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785917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758485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КЛАССИКА ПРОТИВ МОДЕЛИ, В ДЕНЬГАХ</a:t>
            </a:r>
          </a:p>
        </p:txBody>
      </p:sp>
      <p:sp>
        <p:nvSpPr>
          <p:cNvPr id="6" name="TextBox 5"/>
          <p:cNvSpPr txBox="1"/>
          <p:nvPr/>
        </p:nvSpPr>
        <p:spPr>
          <a:xfrm>
            <a:off x="640080" y="1725375"/>
            <a:ext cx="758485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≈40 000 $ · 10 000 ₽/сек  →  2 000 $ · 4–10 ₽/сек</a:t>
            </a:r>
          </a:p>
        </p:txBody>
      </p:sp>
      <p:sp>
        <p:nvSpPr>
          <p:cNvPr id="7" name="TextBox 6"/>
          <p:cNvSpPr txBox="1"/>
          <p:nvPr/>
        </p:nvSpPr>
        <p:spPr>
          <a:xfrm>
            <a:off x="640080" y="2152374"/>
            <a:ext cx="758485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снижение 95 % от бюджета того же слота — финал НБА, не Супербоул</a:t>
            </a:r>
          </a:p>
        </p:txBody>
      </p:sp>
      <p:sp>
        <p:nvSpPr>
          <p:cNvPr id="8" name="Rounded Rectangle 7"/>
          <p:cNvSpPr/>
          <p:nvPr/>
        </p:nvSpPr>
        <p:spPr>
          <a:xfrm>
            <a:off x="1851660" y="2683657"/>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683657"/>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300–400</a:t>
            </a:r>
          </a:p>
        </p:txBody>
      </p:sp>
      <p:sp>
        <p:nvSpPr>
          <p:cNvPr id="10" name="TextBox 9"/>
          <p:cNvSpPr txBox="1"/>
          <p:nvPr/>
        </p:nvSpPr>
        <p:spPr>
          <a:xfrm>
            <a:off x="5440680" y="2683657"/>
            <a:ext cx="2921419"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генераций, отсмотренных одним человеком</a:t>
            </a:r>
          </a:p>
        </p:txBody>
      </p:sp>
      <p:sp>
        <p:nvSpPr>
          <p:cNvPr id="11" name="Rectangle 10"/>
          <p:cNvSpPr/>
          <p:nvPr/>
        </p:nvSpPr>
        <p:spPr>
          <a:xfrm>
            <a:off x="502920" y="3543193"/>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754210"/>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Генерация</a:t>
            </a:r>
          </a:p>
        </p:txBody>
      </p:sp>
      <p:sp>
        <p:nvSpPr>
          <p:cNvPr id="13" name="TextBox 12"/>
          <p:cNvSpPr txBox="1"/>
          <p:nvPr/>
        </p:nvSpPr>
        <p:spPr>
          <a:xfrm>
            <a:off x="5440680" y="3543193"/>
            <a:ext cx="2921419"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Генерация</a:t>
            </a:r>
          </a:p>
          <a:p>
            <a:pPr algn="l">
              <a:lnSpc>
                <a:spcPct val="116000"/>
              </a:lnSpc>
              <a:spcBef>
                <a:spcPts val="400"/>
              </a:spcBef>
            </a:pPr>
            <a:r>
              <a:rPr sz="1350" b="0" i="0">
                <a:solidFill>
                  <a:srgbClr val="21295C"/>
                </a:solidFill>
                <a:latin typeface="Arial"/>
              </a:rPr>
              <a:t>секунды и центы за попытку</a:t>
            </a:r>
          </a:p>
        </p:txBody>
      </p:sp>
      <p:sp>
        <p:nvSpPr>
          <p:cNvPr id="14" name="Rectangle 13"/>
          <p:cNvSpPr/>
          <p:nvPr/>
        </p:nvSpPr>
        <p:spPr>
          <a:xfrm>
            <a:off x="2103120" y="4302145"/>
            <a:ext cx="1371600" cy="728703"/>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411873"/>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302145"/>
            <a:ext cx="2921419" cy="728703"/>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350" b="0" i="0">
                <a:solidFill>
                  <a:srgbClr val="21295C"/>
                </a:solidFill>
                <a:latin typeface="Arial"/>
              </a:rPr>
              <a:t>сверка персонажа; брак 96 %</a:t>
            </a:r>
          </a:p>
        </p:txBody>
      </p:sp>
      <p:sp>
        <p:nvSpPr>
          <p:cNvPr id="17" name="Rounded Rectangle 16"/>
          <p:cNvSpPr/>
          <p:nvPr/>
        </p:nvSpPr>
        <p:spPr>
          <a:xfrm>
            <a:off x="1851660" y="5213729"/>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213729"/>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15</a:t>
            </a:r>
          </a:p>
        </p:txBody>
      </p:sp>
      <p:sp>
        <p:nvSpPr>
          <p:cNvPr id="19" name="TextBox 18"/>
          <p:cNvSpPr txBox="1"/>
          <p:nvPr/>
        </p:nvSpPr>
        <p:spPr>
          <a:xfrm>
            <a:off x="5440680" y="5213729"/>
            <a:ext cx="2921419"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пригодных склеек</a:t>
            </a:r>
          </a:p>
        </p:txBody>
      </p:sp>
      <p:sp>
        <p:nvSpPr>
          <p:cNvPr id="20" name="Rounded Rectangle 19"/>
          <p:cNvSpPr/>
          <p:nvPr/>
        </p:nvSpPr>
        <p:spPr>
          <a:xfrm>
            <a:off x="8672995" y="1335024"/>
            <a:ext cx="3015779" cy="4389120"/>
          </a:xfrm>
          <a:prstGeom prst="roundRect">
            <a:avLst>
              <a:gd name="adj" fmla="val 10106"/>
            </a:avLst>
          </a:prstGeom>
          <a:solidFill>
            <a:srgbClr val="F4F7FA"/>
          </a:solidFill>
          <a:ln w="19050">
            <a:solidFill>
              <a:srgbClr val="1C7293"/>
            </a:solidFill>
          </a:ln>
          <a:effectLst/>
        </p:spPr>
        <p:txBody>
          <a:bodyPr rtlCol="0" anchor="ctr"/>
          <a:lstStyle/>
          <a:p>
            <a:pPr algn="ctr"/>
          </a:p>
        </p:txBody>
      </p:sp>
      <p:pic>
        <p:nvPicPr>
          <p:cNvPr id="21" name="Picture 20" descr="s54-kalshi-ad-frame-portret.png"/>
          <p:cNvPicPr>
            <a:picLocks noChangeAspect="1"/>
          </p:cNvPicPr>
          <p:nvPr/>
        </p:nvPicPr>
        <p:blipFill>
          <a:blip r:embed="rId2"/>
          <a:stretch>
            <a:fillRect/>
          </a:stretch>
        </p:blipFill>
        <p:spPr>
          <a:xfrm>
            <a:off x="8810155" y="1472184"/>
            <a:ext cx="2741459"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7855864"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758154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КАМПАНИИ ЗАНЯТО, КАК И В КЛАССИКЕ</a:t>
            </a:r>
          </a:p>
        </p:txBody>
      </p:sp>
      <p:sp>
        <p:nvSpPr>
          <p:cNvPr id="6" name="TextBox 5"/>
          <p:cNvSpPr txBox="1"/>
          <p:nvPr/>
        </p:nvSpPr>
        <p:spPr>
          <a:xfrm>
            <a:off x="640080" y="1725375"/>
            <a:ext cx="7581544"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7" name="TextBox 6"/>
          <p:cNvSpPr txBox="1"/>
          <p:nvPr/>
        </p:nvSpPr>
        <p:spPr>
          <a:xfrm>
            <a:off x="640080" y="2152374"/>
            <a:ext cx="7581544"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цикл схлопнулся с года до месяца — единственная величина, подтверждённая первым лицом компании</a:t>
            </a:r>
          </a:p>
        </p:txBody>
      </p:sp>
      <p:sp>
        <p:nvSpPr>
          <p:cNvPr id="8" name="Rounded Rectangle 7"/>
          <p:cNvSpPr/>
          <p:nvPr/>
        </p:nvSpPr>
        <p:spPr>
          <a:xfrm>
            <a:off x="1851660" y="2683657"/>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683657"/>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70 000</a:t>
            </a:r>
          </a:p>
        </p:txBody>
      </p:sp>
      <p:sp>
        <p:nvSpPr>
          <p:cNvPr id="10" name="TextBox 9"/>
          <p:cNvSpPr txBox="1"/>
          <p:nvPr/>
        </p:nvSpPr>
        <p:spPr>
          <a:xfrm>
            <a:off x="5440680" y="2683657"/>
            <a:ext cx="2918104"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клипов за 30 дней</a:t>
            </a:r>
          </a:p>
        </p:txBody>
      </p:sp>
      <p:sp>
        <p:nvSpPr>
          <p:cNvPr id="11" name="Rectangle 10"/>
          <p:cNvSpPr/>
          <p:nvPr/>
        </p:nvSpPr>
        <p:spPr>
          <a:xfrm>
            <a:off x="502920" y="3543193"/>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754210"/>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Генерация</a:t>
            </a:r>
          </a:p>
        </p:txBody>
      </p:sp>
      <p:sp>
        <p:nvSpPr>
          <p:cNvPr id="13" name="TextBox 12"/>
          <p:cNvSpPr txBox="1"/>
          <p:nvPr/>
        </p:nvSpPr>
        <p:spPr>
          <a:xfrm>
            <a:off x="5440680" y="3543193"/>
            <a:ext cx="2918104"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Генерация</a:t>
            </a:r>
          </a:p>
          <a:p>
            <a:pPr algn="l">
              <a:lnSpc>
                <a:spcPct val="116000"/>
              </a:lnSpc>
              <a:spcBef>
                <a:spcPts val="400"/>
              </a:spcBef>
            </a:pPr>
            <a:r>
              <a:rPr sz="1350" b="0" i="0">
                <a:solidFill>
                  <a:srgbClr val="21295C"/>
                </a:solidFill>
                <a:latin typeface="Arial"/>
              </a:rPr>
              <a:t>три студии, четыре модели</a:t>
            </a:r>
          </a:p>
        </p:txBody>
      </p:sp>
      <p:sp>
        <p:nvSpPr>
          <p:cNvPr id="14" name="Rectangle 13"/>
          <p:cNvSpPr/>
          <p:nvPr/>
        </p:nvSpPr>
        <p:spPr>
          <a:xfrm>
            <a:off x="2103120" y="4302145"/>
            <a:ext cx="1371600" cy="801760"/>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448402"/>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302145"/>
            <a:ext cx="2918104" cy="801760"/>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350" b="0" i="0">
                <a:solidFill>
                  <a:srgbClr val="21295C"/>
                </a:solidFill>
                <a:latin typeface="Arial"/>
              </a:rPr>
              <a:t>сколько вошло в монтаж, не раскрыто</a:t>
            </a:r>
          </a:p>
        </p:txBody>
      </p:sp>
      <p:sp>
        <p:nvSpPr>
          <p:cNvPr id="17" name="Rounded Rectangle 16"/>
          <p:cNvSpPr/>
          <p:nvPr/>
        </p:nvSpPr>
        <p:spPr>
          <a:xfrm>
            <a:off x="1851660" y="5286786"/>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286786"/>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a:t>
            </a:r>
          </a:p>
        </p:txBody>
      </p:sp>
      <p:sp>
        <p:nvSpPr>
          <p:cNvPr id="19" name="TextBox 18"/>
          <p:cNvSpPr txBox="1"/>
          <p:nvPr/>
        </p:nvSpPr>
        <p:spPr>
          <a:xfrm>
            <a:off x="5440680" y="5286786"/>
            <a:ext cx="2918104"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готовый ролик</a:t>
            </a:r>
          </a:p>
        </p:txBody>
      </p:sp>
      <p:sp>
        <p:nvSpPr>
          <p:cNvPr id="20" name="Rounded Rectangle 19"/>
          <p:cNvSpPr/>
          <p:nvPr/>
        </p:nvSpPr>
        <p:spPr>
          <a:xfrm>
            <a:off x="8669680" y="1335024"/>
            <a:ext cx="3019094" cy="4389120"/>
          </a:xfrm>
          <a:prstGeom prst="roundRect">
            <a:avLst>
              <a:gd name="adj" fmla="val 10095"/>
            </a:avLst>
          </a:prstGeom>
          <a:solidFill>
            <a:srgbClr val="F4F7FA"/>
          </a:solidFill>
          <a:ln w="19050">
            <a:solidFill>
              <a:srgbClr val="1C7293"/>
            </a:solidFill>
          </a:ln>
          <a:effectLst/>
        </p:spPr>
        <p:txBody>
          <a:bodyPr rtlCol="0" anchor="ctr"/>
          <a:lstStyle/>
          <a:p>
            <a:pPr algn="ctr"/>
          </a:p>
        </p:txBody>
      </p:sp>
      <p:pic>
        <p:nvPicPr>
          <p:cNvPr id="21" name="Picture 20" descr="s55-coca-cola-christmas-truck-portret.jpg"/>
          <p:cNvPicPr>
            <a:picLocks noChangeAspect="1"/>
          </p:cNvPicPr>
          <p:nvPr/>
        </p:nvPicPr>
        <p:blipFill>
          <a:blip r:embed="rId2"/>
          <a:stretch>
            <a:fillRect/>
          </a:stretch>
        </p:blipFill>
        <p:spPr>
          <a:xfrm>
            <a:off x="8806840" y="1472184"/>
            <a:ext cx="2744774"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TextBox 3"/>
          <p:cNvSpPr txBox="1"/>
          <p:nvPr/>
        </p:nvSpPr>
        <p:spPr>
          <a:xfrm>
            <a:off x="502920" y="1335024"/>
            <a:ext cx="11185855" cy="274320"/>
          </a:xfrm>
          <a:prstGeom prst="rect">
            <a:avLst/>
          </a:prstGeom>
          <a:noFill/>
        </p:spPr>
        <p:txBody>
          <a:bodyPr wrap="square" lIns="0" rIns="0" tIns="0" bIns="0" anchor="t">
            <a:spAutoFit/>
          </a:bodyPr>
          <a:lstStyle/>
          <a:p>
            <a:pPr algn="l">
              <a:lnSpc>
                <a:spcPct val="100000"/>
              </a:lnSpc>
            </a:pPr>
            <a:r>
              <a:rPr sz="1500" b="1" i="0">
                <a:solidFill>
                  <a:srgbClr val="065A82"/>
                </a:solidFill>
                <a:latin typeface="Arial"/>
              </a:rPr>
              <a:t>100 человек в кампании</a:t>
            </a:r>
          </a:p>
        </p:txBody>
      </p:sp>
      <p:sp>
        <p:nvSpPr>
          <p:cNvPr id="5" name="Rounded Rectangle 4"/>
          <p:cNvSpPr/>
          <p:nvPr/>
        </p:nvSpPr>
        <p:spPr>
          <a:xfrm>
            <a:off x="538721"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6" name="Trapezoid 5"/>
          <p:cNvSpPr/>
          <p:nvPr/>
        </p:nvSpPr>
        <p:spPr>
          <a:xfrm>
            <a:off x="502920"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7" name="Rounded Rectangle 6"/>
          <p:cNvSpPr/>
          <p:nvPr/>
        </p:nvSpPr>
        <p:spPr>
          <a:xfrm>
            <a:off x="770200"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8" name="Trapezoid 7"/>
          <p:cNvSpPr/>
          <p:nvPr/>
        </p:nvSpPr>
        <p:spPr>
          <a:xfrm>
            <a:off x="734399"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9" name="Rounded Rectangle 8"/>
          <p:cNvSpPr/>
          <p:nvPr/>
        </p:nvSpPr>
        <p:spPr>
          <a:xfrm>
            <a:off x="1001680"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0" name="Trapezoid 9"/>
          <p:cNvSpPr/>
          <p:nvPr/>
        </p:nvSpPr>
        <p:spPr>
          <a:xfrm>
            <a:off x="965879"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1" name="Rounded Rectangle 10"/>
          <p:cNvSpPr/>
          <p:nvPr/>
        </p:nvSpPr>
        <p:spPr>
          <a:xfrm>
            <a:off x="1233159"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2" name="Trapezoid 11"/>
          <p:cNvSpPr/>
          <p:nvPr/>
        </p:nvSpPr>
        <p:spPr>
          <a:xfrm>
            <a:off x="1197358"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3" name="Rounded Rectangle 12"/>
          <p:cNvSpPr/>
          <p:nvPr/>
        </p:nvSpPr>
        <p:spPr>
          <a:xfrm>
            <a:off x="1464639"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4" name="Trapezoid 13"/>
          <p:cNvSpPr/>
          <p:nvPr/>
        </p:nvSpPr>
        <p:spPr>
          <a:xfrm>
            <a:off x="1428838"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5" name="Rounded Rectangle 14"/>
          <p:cNvSpPr/>
          <p:nvPr/>
        </p:nvSpPr>
        <p:spPr>
          <a:xfrm>
            <a:off x="1696119"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 name="Trapezoid 15"/>
          <p:cNvSpPr/>
          <p:nvPr/>
        </p:nvSpPr>
        <p:spPr>
          <a:xfrm>
            <a:off x="166031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 name="Rounded Rectangle 16"/>
          <p:cNvSpPr/>
          <p:nvPr/>
        </p:nvSpPr>
        <p:spPr>
          <a:xfrm>
            <a:off x="1927598"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 name="Trapezoid 17"/>
          <p:cNvSpPr/>
          <p:nvPr/>
        </p:nvSpPr>
        <p:spPr>
          <a:xfrm>
            <a:off x="189179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 name="Rounded Rectangle 18"/>
          <p:cNvSpPr/>
          <p:nvPr/>
        </p:nvSpPr>
        <p:spPr>
          <a:xfrm>
            <a:off x="2159078"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 name="Trapezoid 19"/>
          <p:cNvSpPr/>
          <p:nvPr/>
        </p:nvSpPr>
        <p:spPr>
          <a:xfrm>
            <a:off x="212327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1" name="Rounded Rectangle 20"/>
          <p:cNvSpPr/>
          <p:nvPr/>
        </p:nvSpPr>
        <p:spPr>
          <a:xfrm>
            <a:off x="2390557"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2" name="Trapezoid 21"/>
          <p:cNvSpPr/>
          <p:nvPr/>
        </p:nvSpPr>
        <p:spPr>
          <a:xfrm>
            <a:off x="2354756"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3" name="Rounded Rectangle 22"/>
          <p:cNvSpPr/>
          <p:nvPr/>
        </p:nvSpPr>
        <p:spPr>
          <a:xfrm>
            <a:off x="2622037"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4" name="Trapezoid 23"/>
          <p:cNvSpPr/>
          <p:nvPr/>
        </p:nvSpPr>
        <p:spPr>
          <a:xfrm>
            <a:off x="2586236"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5" name="Rounded Rectangle 24"/>
          <p:cNvSpPr/>
          <p:nvPr/>
        </p:nvSpPr>
        <p:spPr>
          <a:xfrm>
            <a:off x="538721"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6" name="Trapezoid 25"/>
          <p:cNvSpPr/>
          <p:nvPr/>
        </p:nvSpPr>
        <p:spPr>
          <a:xfrm>
            <a:off x="502920"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7" name="Rounded Rectangle 26"/>
          <p:cNvSpPr/>
          <p:nvPr/>
        </p:nvSpPr>
        <p:spPr>
          <a:xfrm>
            <a:off x="770200"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8" name="Trapezoid 27"/>
          <p:cNvSpPr/>
          <p:nvPr/>
        </p:nvSpPr>
        <p:spPr>
          <a:xfrm>
            <a:off x="734399"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9" name="Rounded Rectangle 28"/>
          <p:cNvSpPr/>
          <p:nvPr/>
        </p:nvSpPr>
        <p:spPr>
          <a:xfrm>
            <a:off x="1001680"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0" name="Trapezoid 29"/>
          <p:cNvSpPr/>
          <p:nvPr/>
        </p:nvSpPr>
        <p:spPr>
          <a:xfrm>
            <a:off x="965879"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1" name="Rounded Rectangle 30"/>
          <p:cNvSpPr/>
          <p:nvPr/>
        </p:nvSpPr>
        <p:spPr>
          <a:xfrm>
            <a:off x="123315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2" name="Trapezoid 31"/>
          <p:cNvSpPr/>
          <p:nvPr/>
        </p:nvSpPr>
        <p:spPr>
          <a:xfrm>
            <a:off x="1197358"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3" name="Rounded Rectangle 32"/>
          <p:cNvSpPr/>
          <p:nvPr/>
        </p:nvSpPr>
        <p:spPr>
          <a:xfrm>
            <a:off x="146463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4" name="Trapezoid 33"/>
          <p:cNvSpPr/>
          <p:nvPr/>
        </p:nvSpPr>
        <p:spPr>
          <a:xfrm>
            <a:off x="1428838"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5" name="Rounded Rectangle 34"/>
          <p:cNvSpPr/>
          <p:nvPr/>
        </p:nvSpPr>
        <p:spPr>
          <a:xfrm>
            <a:off x="169611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6" name="Trapezoid 35"/>
          <p:cNvSpPr/>
          <p:nvPr/>
        </p:nvSpPr>
        <p:spPr>
          <a:xfrm>
            <a:off x="166031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7" name="Rounded Rectangle 36"/>
          <p:cNvSpPr/>
          <p:nvPr/>
        </p:nvSpPr>
        <p:spPr>
          <a:xfrm>
            <a:off x="1927598"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8" name="Trapezoid 37"/>
          <p:cNvSpPr/>
          <p:nvPr/>
        </p:nvSpPr>
        <p:spPr>
          <a:xfrm>
            <a:off x="189179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9" name="Rounded Rectangle 38"/>
          <p:cNvSpPr/>
          <p:nvPr/>
        </p:nvSpPr>
        <p:spPr>
          <a:xfrm>
            <a:off x="2159078"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0" name="Trapezoid 39"/>
          <p:cNvSpPr/>
          <p:nvPr/>
        </p:nvSpPr>
        <p:spPr>
          <a:xfrm>
            <a:off x="212327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1" name="Rounded Rectangle 40"/>
          <p:cNvSpPr/>
          <p:nvPr/>
        </p:nvSpPr>
        <p:spPr>
          <a:xfrm>
            <a:off x="2390557"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2" name="Trapezoid 41"/>
          <p:cNvSpPr/>
          <p:nvPr/>
        </p:nvSpPr>
        <p:spPr>
          <a:xfrm>
            <a:off x="2354756"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3" name="Rounded Rectangle 42"/>
          <p:cNvSpPr/>
          <p:nvPr/>
        </p:nvSpPr>
        <p:spPr>
          <a:xfrm>
            <a:off x="2622037"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4" name="Trapezoid 43"/>
          <p:cNvSpPr/>
          <p:nvPr/>
        </p:nvSpPr>
        <p:spPr>
          <a:xfrm>
            <a:off x="2586236"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5" name="Rounded Rectangle 44"/>
          <p:cNvSpPr/>
          <p:nvPr/>
        </p:nvSpPr>
        <p:spPr>
          <a:xfrm>
            <a:off x="538721"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6" name="Trapezoid 45"/>
          <p:cNvSpPr/>
          <p:nvPr/>
        </p:nvSpPr>
        <p:spPr>
          <a:xfrm>
            <a:off x="502920"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7" name="Rounded Rectangle 46"/>
          <p:cNvSpPr/>
          <p:nvPr/>
        </p:nvSpPr>
        <p:spPr>
          <a:xfrm>
            <a:off x="770200"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8" name="Trapezoid 47"/>
          <p:cNvSpPr/>
          <p:nvPr/>
        </p:nvSpPr>
        <p:spPr>
          <a:xfrm>
            <a:off x="734399"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9" name="Rounded Rectangle 48"/>
          <p:cNvSpPr/>
          <p:nvPr/>
        </p:nvSpPr>
        <p:spPr>
          <a:xfrm>
            <a:off x="1001680"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0" name="Trapezoid 49"/>
          <p:cNvSpPr/>
          <p:nvPr/>
        </p:nvSpPr>
        <p:spPr>
          <a:xfrm>
            <a:off x="965879"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1" name="Rounded Rectangle 50"/>
          <p:cNvSpPr/>
          <p:nvPr/>
        </p:nvSpPr>
        <p:spPr>
          <a:xfrm>
            <a:off x="123315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2" name="Trapezoid 51"/>
          <p:cNvSpPr/>
          <p:nvPr/>
        </p:nvSpPr>
        <p:spPr>
          <a:xfrm>
            <a:off x="1197358"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3" name="Rounded Rectangle 52"/>
          <p:cNvSpPr/>
          <p:nvPr/>
        </p:nvSpPr>
        <p:spPr>
          <a:xfrm>
            <a:off x="146463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4" name="Trapezoid 53"/>
          <p:cNvSpPr/>
          <p:nvPr/>
        </p:nvSpPr>
        <p:spPr>
          <a:xfrm>
            <a:off x="1428838"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5" name="Rounded Rectangle 54"/>
          <p:cNvSpPr/>
          <p:nvPr/>
        </p:nvSpPr>
        <p:spPr>
          <a:xfrm>
            <a:off x="169611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6" name="Trapezoid 55"/>
          <p:cNvSpPr/>
          <p:nvPr/>
        </p:nvSpPr>
        <p:spPr>
          <a:xfrm>
            <a:off x="166031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7" name="Rounded Rectangle 56"/>
          <p:cNvSpPr/>
          <p:nvPr/>
        </p:nvSpPr>
        <p:spPr>
          <a:xfrm>
            <a:off x="1927598"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8" name="Trapezoid 57"/>
          <p:cNvSpPr/>
          <p:nvPr/>
        </p:nvSpPr>
        <p:spPr>
          <a:xfrm>
            <a:off x="189179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9" name="Rounded Rectangle 58"/>
          <p:cNvSpPr/>
          <p:nvPr/>
        </p:nvSpPr>
        <p:spPr>
          <a:xfrm>
            <a:off x="2159078"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0" name="Trapezoid 59"/>
          <p:cNvSpPr/>
          <p:nvPr/>
        </p:nvSpPr>
        <p:spPr>
          <a:xfrm>
            <a:off x="212327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1" name="Rounded Rectangle 60"/>
          <p:cNvSpPr/>
          <p:nvPr/>
        </p:nvSpPr>
        <p:spPr>
          <a:xfrm>
            <a:off x="2390557"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2" name="Trapezoid 61"/>
          <p:cNvSpPr/>
          <p:nvPr/>
        </p:nvSpPr>
        <p:spPr>
          <a:xfrm>
            <a:off x="2354756"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3" name="Rounded Rectangle 62"/>
          <p:cNvSpPr/>
          <p:nvPr/>
        </p:nvSpPr>
        <p:spPr>
          <a:xfrm>
            <a:off x="2622037"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4" name="Trapezoid 63"/>
          <p:cNvSpPr/>
          <p:nvPr/>
        </p:nvSpPr>
        <p:spPr>
          <a:xfrm>
            <a:off x="2586236"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5" name="Rounded Rectangle 64"/>
          <p:cNvSpPr/>
          <p:nvPr/>
        </p:nvSpPr>
        <p:spPr>
          <a:xfrm>
            <a:off x="538721"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6" name="Trapezoid 65"/>
          <p:cNvSpPr/>
          <p:nvPr/>
        </p:nvSpPr>
        <p:spPr>
          <a:xfrm>
            <a:off x="502920"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7" name="Rounded Rectangle 66"/>
          <p:cNvSpPr/>
          <p:nvPr/>
        </p:nvSpPr>
        <p:spPr>
          <a:xfrm>
            <a:off x="770200"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8" name="Trapezoid 67"/>
          <p:cNvSpPr/>
          <p:nvPr/>
        </p:nvSpPr>
        <p:spPr>
          <a:xfrm>
            <a:off x="734399"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9" name="Rounded Rectangle 68"/>
          <p:cNvSpPr/>
          <p:nvPr/>
        </p:nvSpPr>
        <p:spPr>
          <a:xfrm>
            <a:off x="1001680"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0" name="Trapezoid 69"/>
          <p:cNvSpPr/>
          <p:nvPr/>
        </p:nvSpPr>
        <p:spPr>
          <a:xfrm>
            <a:off x="965879"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1" name="Rounded Rectangle 70"/>
          <p:cNvSpPr/>
          <p:nvPr/>
        </p:nvSpPr>
        <p:spPr>
          <a:xfrm>
            <a:off x="123315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2" name="Trapezoid 71"/>
          <p:cNvSpPr/>
          <p:nvPr/>
        </p:nvSpPr>
        <p:spPr>
          <a:xfrm>
            <a:off x="1197358"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3" name="Rounded Rectangle 72"/>
          <p:cNvSpPr/>
          <p:nvPr/>
        </p:nvSpPr>
        <p:spPr>
          <a:xfrm>
            <a:off x="146463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4" name="Trapezoid 73"/>
          <p:cNvSpPr/>
          <p:nvPr/>
        </p:nvSpPr>
        <p:spPr>
          <a:xfrm>
            <a:off x="1428838"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5" name="Rounded Rectangle 74"/>
          <p:cNvSpPr/>
          <p:nvPr/>
        </p:nvSpPr>
        <p:spPr>
          <a:xfrm>
            <a:off x="169611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6" name="Trapezoid 75"/>
          <p:cNvSpPr/>
          <p:nvPr/>
        </p:nvSpPr>
        <p:spPr>
          <a:xfrm>
            <a:off x="166031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7" name="Rounded Rectangle 76"/>
          <p:cNvSpPr/>
          <p:nvPr/>
        </p:nvSpPr>
        <p:spPr>
          <a:xfrm>
            <a:off x="1927598"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8" name="Trapezoid 77"/>
          <p:cNvSpPr/>
          <p:nvPr/>
        </p:nvSpPr>
        <p:spPr>
          <a:xfrm>
            <a:off x="189179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9" name="Rounded Rectangle 78"/>
          <p:cNvSpPr/>
          <p:nvPr/>
        </p:nvSpPr>
        <p:spPr>
          <a:xfrm>
            <a:off x="2159078"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0" name="Trapezoid 79"/>
          <p:cNvSpPr/>
          <p:nvPr/>
        </p:nvSpPr>
        <p:spPr>
          <a:xfrm>
            <a:off x="212327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1" name="Rounded Rectangle 80"/>
          <p:cNvSpPr/>
          <p:nvPr/>
        </p:nvSpPr>
        <p:spPr>
          <a:xfrm>
            <a:off x="2390557"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2" name="Trapezoid 81"/>
          <p:cNvSpPr/>
          <p:nvPr/>
        </p:nvSpPr>
        <p:spPr>
          <a:xfrm>
            <a:off x="2354756"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3" name="Rounded Rectangle 82"/>
          <p:cNvSpPr/>
          <p:nvPr/>
        </p:nvSpPr>
        <p:spPr>
          <a:xfrm>
            <a:off x="2622037"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4" name="Trapezoid 83"/>
          <p:cNvSpPr/>
          <p:nvPr/>
        </p:nvSpPr>
        <p:spPr>
          <a:xfrm>
            <a:off x="2586236"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5" name="Rounded Rectangle 84"/>
          <p:cNvSpPr/>
          <p:nvPr/>
        </p:nvSpPr>
        <p:spPr>
          <a:xfrm>
            <a:off x="538721"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6" name="Trapezoid 85"/>
          <p:cNvSpPr/>
          <p:nvPr/>
        </p:nvSpPr>
        <p:spPr>
          <a:xfrm>
            <a:off x="502920"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7" name="Rounded Rectangle 86"/>
          <p:cNvSpPr/>
          <p:nvPr/>
        </p:nvSpPr>
        <p:spPr>
          <a:xfrm>
            <a:off x="770200"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8" name="Trapezoid 87"/>
          <p:cNvSpPr/>
          <p:nvPr/>
        </p:nvSpPr>
        <p:spPr>
          <a:xfrm>
            <a:off x="734399"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9" name="Rounded Rectangle 88"/>
          <p:cNvSpPr/>
          <p:nvPr/>
        </p:nvSpPr>
        <p:spPr>
          <a:xfrm>
            <a:off x="1001680"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0" name="Trapezoid 89"/>
          <p:cNvSpPr/>
          <p:nvPr/>
        </p:nvSpPr>
        <p:spPr>
          <a:xfrm>
            <a:off x="965879"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1" name="Rounded Rectangle 90"/>
          <p:cNvSpPr/>
          <p:nvPr/>
        </p:nvSpPr>
        <p:spPr>
          <a:xfrm>
            <a:off x="123315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2" name="Trapezoid 91"/>
          <p:cNvSpPr/>
          <p:nvPr/>
        </p:nvSpPr>
        <p:spPr>
          <a:xfrm>
            <a:off x="1197358"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3" name="Rounded Rectangle 92"/>
          <p:cNvSpPr/>
          <p:nvPr/>
        </p:nvSpPr>
        <p:spPr>
          <a:xfrm>
            <a:off x="146463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4" name="Trapezoid 93"/>
          <p:cNvSpPr/>
          <p:nvPr/>
        </p:nvSpPr>
        <p:spPr>
          <a:xfrm>
            <a:off x="1428838"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5" name="Rounded Rectangle 94"/>
          <p:cNvSpPr/>
          <p:nvPr/>
        </p:nvSpPr>
        <p:spPr>
          <a:xfrm>
            <a:off x="169611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6" name="Trapezoid 95"/>
          <p:cNvSpPr/>
          <p:nvPr/>
        </p:nvSpPr>
        <p:spPr>
          <a:xfrm>
            <a:off x="166031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7" name="Rounded Rectangle 96"/>
          <p:cNvSpPr/>
          <p:nvPr/>
        </p:nvSpPr>
        <p:spPr>
          <a:xfrm>
            <a:off x="1927598"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8" name="Trapezoid 97"/>
          <p:cNvSpPr/>
          <p:nvPr/>
        </p:nvSpPr>
        <p:spPr>
          <a:xfrm>
            <a:off x="189179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9" name="Rounded Rectangle 98"/>
          <p:cNvSpPr/>
          <p:nvPr/>
        </p:nvSpPr>
        <p:spPr>
          <a:xfrm>
            <a:off x="2159078"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0" name="Trapezoid 99"/>
          <p:cNvSpPr/>
          <p:nvPr/>
        </p:nvSpPr>
        <p:spPr>
          <a:xfrm>
            <a:off x="212327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1" name="Rounded Rectangle 100"/>
          <p:cNvSpPr/>
          <p:nvPr/>
        </p:nvSpPr>
        <p:spPr>
          <a:xfrm>
            <a:off x="2390557"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2" name="Trapezoid 101"/>
          <p:cNvSpPr/>
          <p:nvPr/>
        </p:nvSpPr>
        <p:spPr>
          <a:xfrm>
            <a:off x="2354756"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3" name="Rounded Rectangle 102"/>
          <p:cNvSpPr/>
          <p:nvPr/>
        </p:nvSpPr>
        <p:spPr>
          <a:xfrm>
            <a:off x="2622037"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4" name="Trapezoid 103"/>
          <p:cNvSpPr/>
          <p:nvPr/>
        </p:nvSpPr>
        <p:spPr>
          <a:xfrm>
            <a:off x="2586236"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5" name="Rounded Rectangle 104"/>
          <p:cNvSpPr/>
          <p:nvPr/>
        </p:nvSpPr>
        <p:spPr>
          <a:xfrm>
            <a:off x="538721"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6" name="Trapezoid 105"/>
          <p:cNvSpPr/>
          <p:nvPr/>
        </p:nvSpPr>
        <p:spPr>
          <a:xfrm>
            <a:off x="502920"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7" name="Rounded Rectangle 106"/>
          <p:cNvSpPr/>
          <p:nvPr/>
        </p:nvSpPr>
        <p:spPr>
          <a:xfrm>
            <a:off x="770200"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8" name="Trapezoid 107"/>
          <p:cNvSpPr/>
          <p:nvPr/>
        </p:nvSpPr>
        <p:spPr>
          <a:xfrm>
            <a:off x="734399"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9" name="Rounded Rectangle 108"/>
          <p:cNvSpPr/>
          <p:nvPr/>
        </p:nvSpPr>
        <p:spPr>
          <a:xfrm>
            <a:off x="1001680"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0" name="Trapezoid 109"/>
          <p:cNvSpPr/>
          <p:nvPr/>
        </p:nvSpPr>
        <p:spPr>
          <a:xfrm>
            <a:off x="965879"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1" name="Rounded Rectangle 110"/>
          <p:cNvSpPr/>
          <p:nvPr/>
        </p:nvSpPr>
        <p:spPr>
          <a:xfrm>
            <a:off x="123315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2" name="Trapezoid 111"/>
          <p:cNvSpPr/>
          <p:nvPr/>
        </p:nvSpPr>
        <p:spPr>
          <a:xfrm>
            <a:off x="1197358"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3" name="Rounded Rectangle 112"/>
          <p:cNvSpPr/>
          <p:nvPr/>
        </p:nvSpPr>
        <p:spPr>
          <a:xfrm>
            <a:off x="146463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4" name="Trapezoid 113"/>
          <p:cNvSpPr/>
          <p:nvPr/>
        </p:nvSpPr>
        <p:spPr>
          <a:xfrm>
            <a:off x="1428838"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5" name="Rounded Rectangle 114"/>
          <p:cNvSpPr/>
          <p:nvPr/>
        </p:nvSpPr>
        <p:spPr>
          <a:xfrm>
            <a:off x="169611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6" name="Trapezoid 115"/>
          <p:cNvSpPr/>
          <p:nvPr/>
        </p:nvSpPr>
        <p:spPr>
          <a:xfrm>
            <a:off x="166031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7" name="Rounded Rectangle 116"/>
          <p:cNvSpPr/>
          <p:nvPr/>
        </p:nvSpPr>
        <p:spPr>
          <a:xfrm>
            <a:off x="1927598"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8" name="Trapezoid 117"/>
          <p:cNvSpPr/>
          <p:nvPr/>
        </p:nvSpPr>
        <p:spPr>
          <a:xfrm>
            <a:off x="189179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9" name="Rounded Rectangle 118"/>
          <p:cNvSpPr/>
          <p:nvPr/>
        </p:nvSpPr>
        <p:spPr>
          <a:xfrm>
            <a:off x="2159078"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0" name="Trapezoid 119"/>
          <p:cNvSpPr/>
          <p:nvPr/>
        </p:nvSpPr>
        <p:spPr>
          <a:xfrm>
            <a:off x="212327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1" name="Rounded Rectangle 120"/>
          <p:cNvSpPr/>
          <p:nvPr/>
        </p:nvSpPr>
        <p:spPr>
          <a:xfrm>
            <a:off x="2390557"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2" name="Trapezoid 121"/>
          <p:cNvSpPr/>
          <p:nvPr/>
        </p:nvSpPr>
        <p:spPr>
          <a:xfrm>
            <a:off x="2354756"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3" name="Rounded Rectangle 122"/>
          <p:cNvSpPr/>
          <p:nvPr/>
        </p:nvSpPr>
        <p:spPr>
          <a:xfrm>
            <a:off x="2622037"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4" name="Trapezoid 123"/>
          <p:cNvSpPr/>
          <p:nvPr/>
        </p:nvSpPr>
        <p:spPr>
          <a:xfrm>
            <a:off x="2586236"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5" name="Rounded Rectangle 124"/>
          <p:cNvSpPr/>
          <p:nvPr/>
        </p:nvSpPr>
        <p:spPr>
          <a:xfrm>
            <a:off x="538721"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6" name="Trapezoid 125"/>
          <p:cNvSpPr/>
          <p:nvPr/>
        </p:nvSpPr>
        <p:spPr>
          <a:xfrm>
            <a:off x="502920"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7" name="Rounded Rectangle 126"/>
          <p:cNvSpPr/>
          <p:nvPr/>
        </p:nvSpPr>
        <p:spPr>
          <a:xfrm>
            <a:off x="770200"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8" name="Trapezoid 127"/>
          <p:cNvSpPr/>
          <p:nvPr/>
        </p:nvSpPr>
        <p:spPr>
          <a:xfrm>
            <a:off x="734399"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9" name="Rounded Rectangle 128"/>
          <p:cNvSpPr/>
          <p:nvPr/>
        </p:nvSpPr>
        <p:spPr>
          <a:xfrm>
            <a:off x="1001680"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0" name="Trapezoid 129"/>
          <p:cNvSpPr/>
          <p:nvPr/>
        </p:nvSpPr>
        <p:spPr>
          <a:xfrm>
            <a:off x="965879"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1" name="Rounded Rectangle 130"/>
          <p:cNvSpPr/>
          <p:nvPr/>
        </p:nvSpPr>
        <p:spPr>
          <a:xfrm>
            <a:off x="123315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2" name="Trapezoid 131"/>
          <p:cNvSpPr/>
          <p:nvPr/>
        </p:nvSpPr>
        <p:spPr>
          <a:xfrm>
            <a:off x="1197358"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3" name="Rounded Rectangle 132"/>
          <p:cNvSpPr/>
          <p:nvPr/>
        </p:nvSpPr>
        <p:spPr>
          <a:xfrm>
            <a:off x="146463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4" name="Trapezoid 133"/>
          <p:cNvSpPr/>
          <p:nvPr/>
        </p:nvSpPr>
        <p:spPr>
          <a:xfrm>
            <a:off x="1428838"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5" name="Rounded Rectangle 134"/>
          <p:cNvSpPr/>
          <p:nvPr/>
        </p:nvSpPr>
        <p:spPr>
          <a:xfrm>
            <a:off x="169611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6" name="Trapezoid 135"/>
          <p:cNvSpPr/>
          <p:nvPr/>
        </p:nvSpPr>
        <p:spPr>
          <a:xfrm>
            <a:off x="166031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7" name="Rounded Rectangle 136"/>
          <p:cNvSpPr/>
          <p:nvPr/>
        </p:nvSpPr>
        <p:spPr>
          <a:xfrm>
            <a:off x="1927598"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8" name="Trapezoid 137"/>
          <p:cNvSpPr/>
          <p:nvPr/>
        </p:nvSpPr>
        <p:spPr>
          <a:xfrm>
            <a:off x="189179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9" name="Rounded Rectangle 138"/>
          <p:cNvSpPr/>
          <p:nvPr/>
        </p:nvSpPr>
        <p:spPr>
          <a:xfrm>
            <a:off x="2159078"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0" name="Trapezoid 139"/>
          <p:cNvSpPr/>
          <p:nvPr/>
        </p:nvSpPr>
        <p:spPr>
          <a:xfrm>
            <a:off x="212327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1" name="Rounded Rectangle 140"/>
          <p:cNvSpPr/>
          <p:nvPr/>
        </p:nvSpPr>
        <p:spPr>
          <a:xfrm>
            <a:off x="2390557"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2" name="Trapezoid 141"/>
          <p:cNvSpPr/>
          <p:nvPr/>
        </p:nvSpPr>
        <p:spPr>
          <a:xfrm>
            <a:off x="2354756"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3" name="Rounded Rectangle 142"/>
          <p:cNvSpPr/>
          <p:nvPr/>
        </p:nvSpPr>
        <p:spPr>
          <a:xfrm>
            <a:off x="2622037"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4" name="Trapezoid 143"/>
          <p:cNvSpPr/>
          <p:nvPr/>
        </p:nvSpPr>
        <p:spPr>
          <a:xfrm>
            <a:off x="2586236"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5" name="Rounded Rectangle 144"/>
          <p:cNvSpPr/>
          <p:nvPr/>
        </p:nvSpPr>
        <p:spPr>
          <a:xfrm>
            <a:off x="538721"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6" name="Trapezoid 145"/>
          <p:cNvSpPr/>
          <p:nvPr/>
        </p:nvSpPr>
        <p:spPr>
          <a:xfrm>
            <a:off x="502920"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7" name="Rounded Rectangle 146"/>
          <p:cNvSpPr/>
          <p:nvPr/>
        </p:nvSpPr>
        <p:spPr>
          <a:xfrm>
            <a:off x="770200"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8" name="Trapezoid 147"/>
          <p:cNvSpPr/>
          <p:nvPr/>
        </p:nvSpPr>
        <p:spPr>
          <a:xfrm>
            <a:off x="734399"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9" name="Rounded Rectangle 148"/>
          <p:cNvSpPr/>
          <p:nvPr/>
        </p:nvSpPr>
        <p:spPr>
          <a:xfrm>
            <a:off x="1001680"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0" name="Trapezoid 149"/>
          <p:cNvSpPr/>
          <p:nvPr/>
        </p:nvSpPr>
        <p:spPr>
          <a:xfrm>
            <a:off x="965879"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1" name="Rounded Rectangle 150"/>
          <p:cNvSpPr/>
          <p:nvPr/>
        </p:nvSpPr>
        <p:spPr>
          <a:xfrm>
            <a:off x="123315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2" name="Trapezoid 151"/>
          <p:cNvSpPr/>
          <p:nvPr/>
        </p:nvSpPr>
        <p:spPr>
          <a:xfrm>
            <a:off x="1197358"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3" name="Rounded Rectangle 152"/>
          <p:cNvSpPr/>
          <p:nvPr/>
        </p:nvSpPr>
        <p:spPr>
          <a:xfrm>
            <a:off x="146463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4" name="Trapezoid 153"/>
          <p:cNvSpPr/>
          <p:nvPr/>
        </p:nvSpPr>
        <p:spPr>
          <a:xfrm>
            <a:off x="1428838"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5" name="Rounded Rectangle 154"/>
          <p:cNvSpPr/>
          <p:nvPr/>
        </p:nvSpPr>
        <p:spPr>
          <a:xfrm>
            <a:off x="169611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6" name="Trapezoid 155"/>
          <p:cNvSpPr/>
          <p:nvPr/>
        </p:nvSpPr>
        <p:spPr>
          <a:xfrm>
            <a:off x="166031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7" name="Rounded Rectangle 156"/>
          <p:cNvSpPr/>
          <p:nvPr/>
        </p:nvSpPr>
        <p:spPr>
          <a:xfrm>
            <a:off x="1927598"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8" name="Trapezoid 157"/>
          <p:cNvSpPr/>
          <p:nvPr/>
        </p:nvSpPr>
        <p:spPr>
          <a:xfrm>
            <a:off x="189179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9" name="Rounded Rectangle 158"/>
          <p:cNvSpPr/>
          <p:nvPr/>
        </p:nvSpPr>
        <p:spPr>
          <a:xfrm>
            <a:off x="2159078"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0" name="Trapezoid 159"/>
          <p:cNvSpPr/>
          <p:nvPr/>
        </p:nvSpPr>
        <p:spPr>
          <a:xfrm>
            <a:off x="212327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1" name="Rounded Rectangle 160"/>
          <p:cNvSpPr/>
          <p:nvPr/>
        </p:nvSpPr>
        <p:spPr>
          <a:xfrm>
            <a:off x="2390557"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2" name="Trapezoid 161"/>
          <p:cNvSpPr/>
          <p:nvPr/>
        </p:nvSpPr>
        <p:spPr>
          <a:xfrm>
            <a:off x="2354756"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3" name="Rounded Rectangle 162"/>
          <p:cNvSpPr/>
          <p:nvPr/>
        </p:nvSpPr>
        <p:spPr>
          <a:xfrm>
            <a:off x="2622037"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4" name="Trapezoid 163"/>
          <p:cNvSpPr/>
          <p:nvPr/>
        </p:nvSpPr>
        <p:spPr>
          <a:xfrm>
            <a:off x="2586236"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5" name="Rounded Rectangle 164"/>
          <p:cNvSpPr/>
          <p:nvPr/>
        </p:nvSpPr>
        <p:spPr>
          <a:xfrm>
            <a:off x="538721"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6" name="Trapezoid 165"/>
          <p:cNvSpPr/>
          <p:nvPr/>
        </p:nvSpPr>
        <p:spPr>
          <a:xfrm>
            <a:off x="502920"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7" name="Rounded Rectangle 166"/>
          <p:cNvSpPr/>
          <p:nvPr/>
        </p:nvSpPr>
        <p:spPr>
          <a:xfrm>
            <a:off x="770200"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8" name="Trapezoid 167"/>
          <p:cNvSpPr/>
          <p:nvPr/>
        </p:nvSpPr>
        <p:spPr>
          <a:xfrm>
            <a:off x="734399"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9" name="Rounded Rectangle 168"/>
          <p:cNvSpPr/>
          <p:nvPr/>
        </p:nvSpPr>
        <p:spPr>
          <a:xfrm>
            <a:off x="1001680"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0" name="Trapezoid 169"/>
          <p:cNvSpPr/>
          <p:nvPr/>
        </p:nvSpPr>
        <p:spPr>
          <a:xfrm>
            <a:off x="965879"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1" name="Rounded Rectangle 170"/>
          <p:cNvSpPr/>
          <p:nvPr/>
        </p:nvSpPr>
        <p:spPr>
          <a:xfrm>
            <a:off x="123315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2" name="Trapezoid 171"/>
          <p:cNvSpPr/>
          <p:nvPr/>
        </p:nvSpPr>
        <p:spPr>
          <a:xfrm>
            <a:off x="1197358"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3" name="Rounded Rectangle 172"/>
          <p:cNvSpPr/>
          <p:nvPr/>
        </p:nvSpPr>
        <p:spPr>
          <a:xfrm>
            <a:off x="146463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4" name="Trapezoid 173"/>
          <p:cNvSpPr/>
          <p:nvPr/>
        </p:nvSpPr>
        <p:spPr>
          <a:xfrm>
            <a:off x="1428838"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5" name="Rounded Rectangle 174"/>
          <p:cNvSpPr/>
          <p:nvPr/>
        </p:nvSpPr>
        <p:spPr>
          <a:xfrm>
            <a:off x="169611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6" name="Trapezoid 175"/>
          <p:cNvSpPr/>
          <p:nvPr/>
        </p:nvSpPr>
        <p:spPr>
          <a:xfrm>
            <a:off x="166031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7" name="Rounded Rectangle 176"/>
          <p:cNvSpPr/>
          <p:nvPr/>
        </p:nvSpPr>
        <p:spPr>
          <a:xfrm>
            <a:off x="1927598"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8" name="Trapezoid 177"/>
          <p:cNvSpPr/>
          <p:nvPr/>
        </p:nvSpPr>
        <p:spPr>
          <a:xfrm>
            <a:off x="189179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9" name="Rounded Rectangle 178"/>
          <p:cNvSpPr/>
          <p:nvPr/>
        </p:nvSpPr>
        <p:spPr>
          <a:xfrm>
            <a:off x="2159078"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0" name="Trapezoid 179"/>
          <p:cNvSpPr/>
          <p:nvPr/>
        </p:nvSpPr>
        <p:spPr>
          <a:xfrm>
            <a:off x="212327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1" name="Rounded Rectangle 180"/>
          <p:cNvSpPr/>
          <p:nvPr/>
        </p:nvSpPr>
        <p:spPr>
          <a:xfrm>
            <a:off x="2390557"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2" name="Trapezoid 181"/>
          <p:cNvSpPr/>
          <p:nvPr/>
        </p:nvSpPr>
        <p:spPr>
          <a:xfrm>
            <a:off x="2354756"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3" name="Rounded Rectangle 182"/>
          <p:cNvSpPr/>
          <p:nvPr/>
        </p:nvSpPr>
        <p:spPr>
          <a:xfrm>
            <a:off x="2622037"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4" name="Trapezoid 183"/>
          <p:cNvSpPr/>
          <p:nvPr/>
        </p:nvSpPr>
        <p:spPr>
          <a:xfrm>
            <a:off x="2586236"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5" name="Rounded Rectangle 184"/>
          <p:cNvSpPr/>
          <p:nvPr/>
        </p:nvSpPr>
        <p:spPr>
          <a:xfrm>
            <a:off x="538721"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6" name="Trapezoid 185"/>
          <p:cNvSpPr/>
          <p:nvPr/>
        </p:nvSpPr>
        <p:spPr>
          <a:xfrm>
            <a:off x="502920"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7" name="Rounded Rectangle 186"/>
          <p:cNvSpPr/>
          <p:nvPr/>
        </p:nvSpPr>
        <p:spPr>
          <a:xfrm>
            <a:off x="770200"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8" name="Trapezoid 187"/>
          <p:cNvSpPr/>
          <p:nvPr/>
        </p:nvSpPr>
        <p:spPr>
          <a:xfrm>
            <a:off x="734399"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9" name="Rounded Rectangle 188"/>
          <p:cNvSpPr/>
          <p:nvPr/>
        </p:nvSpPr>
        <p:spPr>
          <a:xfrm>
            <a:off x="1001680"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0" name="Trapezoid 189"/>
          <p:cNvSpPr/>
          <p:nvPr/>
        </p:nvSpPr>
        <p:spPr>
          <a:xfrm>
            <a:off x="965879"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1" name="Rounded Rectangle 190"/>
          <p:cNvSpPr/>
          <p:nvPr/>
        </p:nvSpPr>
        <p:spPr>
          <a:xfrm>
            <a:off x="123315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2" name="Trapezoid 191"/>
          <p:cNvSpPr/>
          <p:nvPr/>
        </p:nvSpPr>
        <p:spPr>
          <a:xfrm>
            <a:off x="1197358"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3" name="Rounded Rectangle 192"/>
          <p:cNvSpPr/>
          <p:nvPr/>
        </p:nvSpPr>
        <p:spPr>
          <a:xfrm>
            <a:off x="146463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4" name="Trapezoid 193"/>
          <p:cNvSpPr/>
          <p:nvPr/>
        </p:nvSpPr>
        <p:spPr>
          <a:xfrm>
            <a:off x="1428838"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5" name="Rounded Rectangle 194"/>
          <p:cNvSpPr/>
          <p:nvPr/>
        </p:nvSpPr>
        <p:spPr>
          <a:xfrm>
            <a:off x="169611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6" name="Trapezoid 195"/>
          <p:cNvSpPr/>
          <p:nvPr/>
        </p:nvSpPr>
        <p:spPr>
          <a:xfrm>
            <a:off x="166031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7" name="Rounded Rectangle 196"/>
          <p:cNvSpPr/>
          <p:nvPr/>
        </p:nvSpPr>
        <p:spPr>
          <a:xfrm>
            <a:off x="1927598"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8" name="Trapezoid 197"/>
          <p:cNvSpPr/>
          <p:nvPr/>
        </p:nvSpPr>
        <p:spPr>
          <a:xfrm>
            <a:off x="189179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9" name="Rounded Rectangle 198"/>
          <p:cNvSpPr/>
          <p:nvPr/>
        </p:nvSpPr>
        <p:spPr>
          <a:xfrm>
            <a:off x="2159078"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0" name="Trapezoid 199"/>
          <p:cNvSpPr/>
          <p:nvPr/>
        </p:nvSpPr>
        <p:spPr>
          <a:xfrm>
            <a:off x="212327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1" name="Rounded Rectangle 200"/>
          <p:cNvSpPr/>
          <p:nvPr/>
        </p:nvSpPr>
        <p:spPr>
          <a:xfrm>
            <a:off x="2390557"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2" name="Trapezoid 201"/>
          <p:cNvSpPr/>
          <p:nvPr/>
        </p:nvSpPr>
        <p:spPr>
          <a:xfrm>
            <a:off x="2354756"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3" name="Rounded Rectangle 202"/>
          <p:cNvSpPr/>
          <p:nvPr/>
        </p:nvSpPr>
        <p:spPr>
          <a:xfrm>
            <a:off x="2622037"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4" name="Trapezoid 203"/>
          <p:cNvSpPr/>
          <p:nvPr/>
        </p:nvSpPr>
        <p:spPr>
          <a:xfrm>
            <a:off x="2586236"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5" name="Rounded Rectangle 204"/>
          <p:cNvSpPr/>
          <p:nvPr/>
        </p:nvSpPr>
        <p:spPr>
          <a:xfrm>
            <a:off x="3219109" y="2726303"/>
            <a:ext cx="130418" cy="130418"/>
          </a:xfrm>
          <a:prstGeom prst="roundRect">
            <a:avLst>
              <a:gd name="adj" fmla="val 50000"/>
            </a:avLst>
          </a:prstGeom>
          <a:solidFill>
            <a:srgbClr val="F0AB00"/>
          </a:solidFill>
          <a:ln>
            <a:noFill/>
          </a:ln>
          <a:effectLst/>
        </p:spPr>
        <p:txBody>
          <a:bodyPr rtlCol="0" anchor="ctr"/>
          <a:lstStyle/>
          <a:p>
            <a:pPr algn="ctr"/>
          </a:p>
        </p:txBody>
      </p:sp>
      <p:sp>
        <p:nvSpPr>
          <p:cNvPr id="206" name="Trapezoid 205"/>
          <p:cNvSpPr/>
          <p:nvPr/>
        </p:nvSpPr>
        <p:spPr>
          <a:xfrm>
            <a:off x="3165407" y="2875901"/>
            <a:ext cx="237821" cy="233985"/>
          </a:xfrm>
          <a:prstGeom prst="trapezoid">
            <a:avLst>
              <a:gd name="adj" fmla="val 20000"/>
            </a:avLst>
          </a:prstGeom>
          <a:solidFill>
            <a:srgbClr val="F0AB00"/>
          </a:solidFill>
          <a:ln>
            <a:noFill/>
          </a:ln>
          <a:effectLst/>
        </p:spPr>
        <p:txBody>
          <a:bodyPr rtlCol="0" anchor="ctr"/>
          <a:lstStyle/>
          <a:p>
            <a:pPr algn="ctr"/>
          </a:p>
        </p:txBody>
      </p:sp>
      <p:sp>
        <p:nvSpPr>
          <p:cNvPr id="207" name="TextBox 206"/>
          <p:cNvSpPr txBox="1"/>
          <p:nvPr/>
        </p:nvSpPr>
        <p:spPr>
          <a:xfrm>
            <a:off x="3567821" y="2726303"/>
            <a:ext cx="8120953" cy="328181"/>
          </a:xfrm>
          <a:prstGeom prst="rect">
            <a:avLst/>
          </a:prstGeom>
          <a:noFill/>
        </p:spPr>
        <p:txBody>
          <a:bodyPr wrap="square" lIns="0" rIns="0" tIns="0" bIns="0" anchor="ctr">
            <a:spAutoFit/>
          </a:bodyPr>
          <a:lstStyle/>
          <a:p>
            <a:pPr algn="l">
              <a:lnSpc>
                <a:spcPct val="116000"/>
              </a:lnSpc>
            </a:pPr>
            <a:r>
              <a:rPr sz="1800" b="1" i="0">
                <a:solidFill>
                  <a:srgbClr val="21295C"/>
                </a:solidFill>
                <a:latin typeface="Arial"/>
              </a:rPr>
              <a:t>5 из 100</a:t>
            </a:r>
            <a:r>
              <a:rPr sz="1400" b="0" i="0">
                <a:solidFill>
                  <a:srgbClr val="21295C"/>
                </a:solidFill>
                <a:latin typeface="Arial"/>
              </a:rPr>
              <a:t>  нажимали кнопку — генерировали</a:t>
            </a:r>
          </a:p>
        </p:txBody>
      </p:sp>
      <p:sp>
        <p:nvSpPr>
          <p:cNvPr id="208" name="Rounded Rectangle 207"/>
          <p:cNvSpPr/>
          <p:nvPr/>
        </p:nvSpPr>
        <p:spPr>
          <a:xfrm>
            <a:off x="3219109" y="3428731"/>
            <a:ext cx="130418" cy="130418"/>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9" name="Trapezoid 208"/>
          <p:cNvSpPr/>
          <p:nvPr/>
        </p:nvSpPr>
        <p:spPr>
          <a:xfrm>
            <a:off x="3165407" y="3578328"/>
            <a:ext cx="237821" cy="233985"/>
          </a:xfrm>
          <a:prstGeom prst="trapezoid">
            <a:avLst>
              <a:gd name="adj" fmla="val 20000"/>
            </a:avLst>
          </a:prstGeom>
          <a:noFill/>
          <a:ln w="12700">
            <a:solidFill>
              <a:srgbClr val="1C7293"/>
            </a:solidFill>
          </a:ln>
          <a:effectLst/>
        </p:spPr>
        <p:txBody>
          <a:bodyPr rtlCol="0" anchor="ctr"/>
          <a:lstStyle/>
          <a:p>
            <a:pPr algn="ctr"/>
          </a:p>
        </p:txBody>
      </p:sp>
      <p:sp>
        <p:nvSpPr>
          <p:cNvPr id="210" name="TextBox 209"/>
          <p:cNvSpPr txBox="1"/>
          <p:nvPr/>
        </p:nvSpPr>
        <p:spPr>
          <a:xfrm>
            <a:off x="3567821" y="3328805"/>
            <a:ext cx="8120953" cy="583434"/>
          </a:xfrm>
          <a:prstGeom prst="rect">
            <a:avLst/>
          </a:prstGeom>
          <a:noFill/>
        </p:spPr>
        <p:txBody>
          <a:bodyPr wrap="square" lIns="0" rIns="0" tIns="0" bIns="0" anchor="ctr">
            <a:spAutoFit/>
          </a:bodyPr>
          <a:lstStyle/>
          <a:p>
            <a:pPr algn="l">
              <a:lnSpc>
                <a:spcPct val="116000"/>
              </a:lnSpc>
            </a:pPr>
            <a:r>
              <a:rPr sz="1800" b="1" i="0">
                <a:solidFill>
                  <a:srgbClr val="21295C"/>
                </a:solidFill>
                <a:latin typeface="Arial"/>
              </a:rPr>
              <a:t>95 из 100</a:t>
            </a:r>
            <a:r>
              <a:rPr sz="1400" b="0" i="0">
                <a:solidFill>
                  <a:srgbClr val="21295C"/>
                </a:solidFill>
                <a:latin typeface="Arial"/>
              </a:rPr>
              <a:t>  отбирали, сводили, проверяли права — столько же, сколько в классической кампании прежних лет</a:t>
            </a:r>
          </a:p>
        </p:txBody>
      </p:sp>
      <p:sp>
        <p:nvSpPr>
          <p:cNvPr id="211" name="Rounded Rectangle 210"/>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2" name="Rounded Rectangle 211"/>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13" name="TextBox 212"/>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Проверяйте такие сообщения одним вопросом: названо число исполнителей операции или число участников работы?</a:t>
            </a:r>
          </a:p>
        </p:txBody>
      </p:sp>
      <p:sp>
        <p:nvSpPr>
          <p:cNvPr id="214" name="Rectangle 2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7" name="TextBox 6"/>
          <p:cNvSpPr txBox="1"/>
          <p:nvPr/>
        </p:nvSpPr>
        <p:spPr>
          <a:xfrm>
            <a:off x="640080"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8" name="Rounded Rectangle 7"/>
          <p:cNvSpPr/>
          <p:nvPr/>
        </p:nvSpPr>
        <p:spPr>
          <a:xfrm>
            <a:off x="3340531" y="1335024"/>
            <a:ext cx="2673019" cy="2612394"/>
          </a:xfrm>
          <a:prstGeom prst="roundRect">
            <a:avLst>
              <a:gd name="adj" fmla="val 1166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2" name="Rounded Rectangle 11"/>
          <p:cNvSpPr/>
          <p:nvPr/>
        </p:nvSpPr>
        <p:spPr>
          <a:xfrm>
            <a:off x="6178143"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5" name="TextBox 14"/>
          <p:cNvSpPr txBox="1"/>
          <p:nvPr/>
        </p:nvSpPr>
        <p:spPr>
          <a:xfrm>
            <a:off x="6315303" y="2542797"/>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16" name="Rounded Rectangle 15"/>
          <p:cNvSpPr/>
          <p:nvPr/>
        </p:nvSpPr>
        <p:spPr>
          <a:xfrm>
            <a:off x="9015755"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18" name="TextBox 17"/>
          <p:cNvSpPr txBox="1"/>
          <p:nvPr/>
        </p:nvSpPr>
        <p:spPr>
          <a:xfrm>
            <a:off x="9152915" y="2140317"/>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пересчёте на план — столько же, сколько в обычном фильме с эффектами</a:t>
            </a:r>
          </a:p>
        </p:txBody>
      </p:sp>
      <p:sp>
        <p:nvSpPr>
          <p:cNvPr id="19" name="TextBox 18"/>
          <p:cNvSpPr txBox="1"/>
          <p:nvPr/>
        </p:nvSpPr>
        <p:spPr>
          <a:xfrm>
            <a:off x="9152915" y="29916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0" name="Rectangle 19"/>
          <p:cNvSpPr/>
          <p:nvPr/>
        </p:nvSpPr>
        <p:spPr>
          <a:xfrm>
            <a:off x="754380" y="4801272"/>
            <a:ext cx="10682935" cy="50292"/>
          </a:xfrm>
          <a:prstGeom prst="rect">
            <a:avLst/>
          </a:prstGeom>
          <a:solidFill>
            <a:srgbClr val="1C7293"/>
          </a:solidFill>
          <a:ln>
            <a:noFill/>
          </a:ln>
          <a:effectLst/>
        </p:spPr>
        <p:txBody>
          <a:bodyPr rtlCol="0" anchor="ctr"/>
          <a:lstStyle/>
          <a:p>
            <a:pPr algn="ctr"/>
          </a:p>
        </p:txBody>
      </p:sp>
      <p:sp>
        <p:nvSpPr>
          <p:cNvPr id="21" name="TextBox 20"/>
          <p:cNvSpPr txBox="1"/>
          <p:nvPr/>
        </p:nvSpPr>
        <p:spPr>
          <a:xfrm>
            <a:off x="388620" y="488814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22" name="TextBox 21"/>
          <p:cNvSpPr txBox="1"/>
          <p:nvPr/>
        </p:nvSpPr>
        <p:spPr>
          <a:xfrm>
            <a:off x="11071555" y="488814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1900</a:t>
            </a:r>
          </a:p>
        </p:txBody>
      </p:sp>
      <p:sp>
        <p:nvSpPr>
          <p:cNvPr id="23" name="Rectangle 22"/>
          <p:cNvSpPr/>
          <p:nvPr/>
        </p:nvSpPr>
        <p:spPr>
          <a:xfrm>
            <a:off x="3659645" y="4636680"/>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888327" y="4130298"/>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500</a:t>
            </a:r>
          </a:p>
          <a:p>
            <a:pPr algn="ctr">
              <a:lnSpc>
                <a:spcPct val="110000"/>
              </a:lnSpc>
            </a:pPr>
            <a:r>
              <a:rPr sz="1200" b="0" i="0">
                <a:solidFill>
                  <a:srgbClr val="21295C"/>
                </a:solidFill>
                <a:latin typeface="Arial"/>
              </a:rPr>
              <a:t>Фильм — лауреат «Оскара»</a:t>
            </a:r>
          </a:p>
        </p:txBody>
      </p:sp>
      <p:sp>
        <p:nvSpPr>
          <p:cNvPr id="25" name="Rectangle 24"/>
          <p:cNvSpPr/>
          <p:nvPr/>
        </p:nvSpPr>
        <p:spPr>
          <a:xfrm>
            <a:off x="10357023" y="4851564"/>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7585705" y="510759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1 750</a:t>
            </a:r>
          </a:p>
          <a:p>
            <a:pPr algn="ctr">
              <a:lnSpc>
                <a:spcPct val="110000"/>
              </a:lnSpc>
            </a:pPr>
            <a:r>
              <a:rPr sz="1200" b="0" i="0">
                <a:solidFill>
                  <a:srgbClr val="21295C"/>
                </a:solidFill>
                <a:latin typeface="Arial"/>
              </a:rPr>
              <a:t>«Ирландец», 2019</a:t>
            </a:r>
          </a:p>
        </p:txBody>
      </p:sp>
      <p:sp>
        <p:nvSpPr>
          <p:cNvPr id="27" name="TextBox 26"/>
          <p:cNvSpPr txBox="1"/>
          <p:nvPr/>
        </p:nvSpPr>
        <p:spPr>
          <a:xfrm>
            <a:off x="502920" y="563226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планов с эффектами в одном фильме · у фильма-лауреата более 80 % из примерно 500 планов закрыла независимая студия из пяти человек</a:t>
            </a:r>
          </a:p>
        </p:txBody>
      </p:sp>
      <p:sp>
        <p:nvSpPr>
          <p:cNvPr id="28" name="TextBox 27"/>
          <p:cNvSpPr txBox="1"/>
          <p:nvPr/>
        </p:nvSpPr>
        <p:spPr>
          <a:xfrm>
            <a:off x="502920" y="59248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эти два масштаба — мера для всех чисел раздела</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932846"/>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бюджет фильма 45 млн $</a:t>
            </a:r>
          </a:p>
        </p:txBody>
      </p:sp>
      <p:sp>
        <p:nvSpPr>
          <p:cNvPr id="7" name="TextBox 6"/>
          <p:cNvSpPr txBox="1"/>
          <p:nvPr/>
        </p:nvSpPr>
        <p:spPr>
          <a:xfrm>
            <a:off x="640080" y="2546569"/>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одного роста бюджета «Ирландца» (125→159 млн). Вторая половина обязательна: фильм разгромлен критикой — «пластиковые» лица</a:t>
            </a:r>
          </a:p>
        </p:txBody>
      </p:sp>
      <p:sp>
        <p:nvSpPr>
          <p:cNvPr id="8" name="Rounded Rectangle 7"/>
          <p:cNvSpPr/>
          <p:nvPr/>
        </p:nvSpPr>
        <p:spPr>
          <a:xfrm>
            <a:off x="2773009" y="1335024"/>
            <a:ext cx="2105497" cy="3202744"/>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2910169"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2910169" y="3555634"/>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нет: режим назван «месяцами», стоимость не названа</a:t>
            </a:r>
          </a:p>
        </p:txBody>
      </p:sp>
      <p:sp>
        <p:nvSpPr>
          <p:cNvPr id="12" name="Rounded Rectangle 11"/>
          <p:cNvSpPr/>
          <p:nvPr/>
        </p:nvSpPr>
        <p:spPr>
          <a:xfrm>
            <a:off x="5043098"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5180258"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5180258" y="2991690"/>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реплики; одобрено профсоюзом — тем же, что бастовал в 2023</a:t>
            </a:r>
          </a:p>
        </p:txBody>
      </p:sp>
      <p:sp>
        <p:nvSpPr>
          <p:cNvPr id="16" name="Rounded Rectangle 15"/>
          <p:cNvSpPr/>
          <p:nvPr/>
        </p:nvSpPr>
        <p:spPr>
          <a:xfrm>
            <a:off x="7313188"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7450348" y="2347789"/>
            <a:ext cx="1831177"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тридцать секунд, 9 февраля 2026</a:t>
            </a:r>
          </a:p>
        </p:txBody>
      </p:sp>
      <p:sp>
        <p:nvSpPr>
          <p:cNvPr id="19" name="TextBox 18"/>
          <p:cNvSpPr txBox="1"/>
          <p:nvPr/>
        </p:nvSpPr>
        <p:spPr>
          <a:xfrm>
            <a:off x="7450348" y="292756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июнь 2024</a:t>
            </a:r>
          </a:p>
        </p:txBody>
      </p:sp>
      <p:sp>
        <p:nvSpPr>
          <p:cNvPr id="20" name="Rounded Rectangle 19"/>
          <p:cNvSpPr/>
          <p:nvPr/>
        </p:nvSpPr>
        <p:spPr>
          <a:xfrm>
            <a:off x="9583277"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9720437" y="1932846"/>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291153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4757224"/>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4720648"/>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766368"/>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524623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720648"/>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4766368"/>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5246238"/>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720648"/>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766368"/>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5246238"/>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720648"/>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766368"/>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59455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«изображение — это просто видео из одного кадра»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8" name="Rounded Rectangle 7"/>
          <p:cNvSpPr/>
          <p:nvPr/>
        </p:nvSpPr>
        <p:spPr>
          <a:xfrm>
            <a:off x="502920" y="2683657"/>
            <a:ext cx="3423818" cy="1989942"/>
          </a:xfrm>
          <a:prstGeom prst="roundRect">
            <a:avLst>
              <a:gd name="adj" fmla="val 15317"/>
            </a:avLst>
          </a:prstGeom>
          <a:solidFill>
            <a:srgbClr val="F4F7FA"/>
          </a:solidFill>
          <a:ln w="31750">
            <a:solidFill>
              <a:srgbClr val="F0AB00"/>
            </a:solidFill>
          </a:ln>
          <a:effectLst/>
        </p:spPr>
        <p:txBody>
          <a:bodyPr rtlCol="0" anchor="ctr"/>
          <a:lstStyle/>
          <a:p>
            <a:pPr algn="ctr"/>
          </a:p>
        </p:txBody>
      </p:sp>
      <p:sp>
        <p:nvSpPr>
          <p:cNvPr id="9" name="Rounded Rectangle 8"/>
          <p:cNvSpPr/>
          <p:nvPr/>
        </p:nvSpPr>
        <p:spPr>
          <a:xfrm>
            <a:off x="630936" y="2811673"/>
            <a:ext cx="3167786" cy="256032"/>
          </a:xfrm>
          <a:prstGeom prst="roundRect">
            <a:avLst>
              <a:gd name="adj" fmla="val 38000"/>
            </a:avLst>
          </a:prstGeom>
          <a:solidFill>
            <a:srgbClr val="F0AB00"/>
          </a:solidFill>
          <a:ln>
            <a:noFill/>
          </a:ln>
          <a:effectLst/>
        </p:spPr>
        <p:txBody>
          <a:bodyPr rtlCol="0" anchor="ctr"/>
          <a:lstStyle/>
          <a:p>
            <a:pPr algn="ctr"/>
          </a:p>
        </p:txBody>
      </p:sp>
      <p:sp>
        <p:nvSpPr>
          <p:cNvPr id="10" name="TextBox 9"/>
          <p:cNvSpPr txBox="1"/>
          <p:nvPr/>
        </p:nvSpPr>
        <p:spPr>
          <a:xfrm>
            <a:off x="685800" y="2811673"/>
            <a:ext cx="3058058" cy="256032"/>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вход · узкое место</a:t>
            </a:r>
          </a:p>
        </p:txBody>
      </p:sp>
      <p:sp>
        <p:nvSpPr>
          <p:cNvPr id="11" name="TextBox 10"/>
          <p:cNvSpPr txBox="1"/>
          <p:nvPr/>
        </p:nvSpPr>
        <p:spPr>
          <a:xfrm>
            <a:off x="630936" y="3159145"/>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Автокодировщик</a:t>
            </a:r>
          </a:p>
        </p:txBody>
      </p:sp>
      <p:sp>
        <p:nvSpPr>
          <p:cNvPr id="12" name="TextBox 11"/>
          <p:cNvSpPr txBox="1"/>
          <p:nvPr/>
        </p:nvSpPr>
        <p:spPr>
          <a:xfrm>
            <a:off x="630936" y="3527214"/>
            <a:ext cx="3167786"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сжимает видео в латентное пространство</a:t>
            </a:r>
          </a:p>
          <a:p>
            <a:pPr algn="l">
              <a:lnSpc>
                <a:spcPct val="114000"/>
              </a:lnSpc>
              <a:spcBef>
                <a:spcPts val="400"/>
              </a:spcBef>
            </a:pPr>
            <a:r>
              <a:rPr sz="1350" b="0" i="0">
                <a:solidFill>
                  <a:srgbClr val="21295C"/>
                </a:solidFill>
                <a:latin typeface="Arial"/>
              </a:rPr>
              <a:t/>
            </a:r>
            <a:r>
              <a:rPr sz="1350" b="0" i="0">
                <a:solidFill>
                  <a:srgbClr val="21295C"/>
                </a:solidFill>
                <a:latin typeface="Arial"/>
              </a:rPr>
              <a:t>коэффициент сжатия решает всё: длину, разрешение, число токенов</a:t>
            </a:r>
          </a:p>
        </p:txBody>
      </p:sp>
      <p:sp>
        <p:nvSpPr>
          <p:cNvPr id="13" name="Right Arrow 12"/>
          <p:cNvSpPr/>
          <p:nvPr/>
        </p:nvSpPr>
        <p:spPr>
          <a:xfrm>
            <a:off x="4018178" y="3605477"/>
            <a:ext cx="274320" cy="146304"/>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4383938" y="2683657"/>
            <a:ext cx="3423818" cy="1989942"/>
          </a:xfrm>
          <a:prstGeom prst="roundRect">
            <a:avLst>
              <a:gd name="adj" fmla="val 15317"/>
            </a:avLst>
          </a:prstGeom>
          <a:solidFill>
            <a:srgbClr val="F4F7FA"/>
          </a:solidFill>
          <a:ln w="19050">
            <a:solidFill>
              <a:srgbClr val="1C7293"/>
            </a:solidFill>
          </a:ln>
          <a:effectLst/>
        </p:spPr>
        <p:txBody>
          <a:bodyPr rtlCol="0" anchor="ctr"/>
          <a:lstStyle/>
          <a:p>
            <a:pPr algn="ctr"/>
          </a:p>
        </p:txBody>
      </p:sp>
      <p:sp>
        <p:nvSpPr>
          <p:cNvPr id="15" name="Rounded Rectangle 14"/>
          <p:cNvSpPr/>
          <p:nvPr/>
        </p:nvSpPr>
        <p:spPr>
          <a:xfrm>
            <a:off x="4511954" y="2811673"/>
            <a:ext cx="3167786" cy="256032"/>
          </a:xfrm>
          <a:prstGeom prst="roundRect">
            <a:avLst>
              <a:gd name="adj" fmla="val 38000"/>
            </a:avLst>
          </a:prstGeom>
          <a:solidFill>
            <a:srgbClr val="E6F2F4"/>
          </a:solidFill>
          <a:ln>
            <a:noFill/>
          </a:ln>
          <a:effectLst/>
        </p:spPr>
        <p:txBody>
          <a:bodyPr rtlCol="0" anchor="ctr"/>
          <a:lstStyle/>
          <a:p>
            <a:pPr algn="ctr"/>
          </a:p>
        </p:txBody>
      </p:sp>
      <p:sp>
        <p:nvSpPr>
          <p:cNvPr id="16" name="TextBox 15"/>
          <p:cNvSpPr txBox="1"/>
          <p:nvPr/>
        </p:nvSpPr>
        <p:spPr>
          <a:xfrm>
            <a:off x="4566818" y="2811673"/>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работа</a:t>
            </a:r>
          </a:p>
        </p:txBody>
      </p:sp>
      <p:sp>
        <p:nvSpPr>
          <p:cNvPr id="17" name="TextBox 16"/>
          <p:cNvSpPr txBox="1"/>
          <p:nvPr/>
        </p:nvSpPr>
        <p:spPr>
          <a:xfrm>
            <a:off x="4511954" y="3159145"/>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Патчи пространства-времени</a:t>
            </a:r>
          </a:p>
        </p:txBody>
      </p:sp>
      <p:sp>
        <p:nvSpPr>
          <p:cNvPr id="18" name="TextBox 17"/>
          <p:cNvSpPr txBox="1"/>
          <p:nvPr/>
        </p:nvSpPr>
        <p:spPr>
          <a:xfrm>
            <a:off x="4511954" y="3527214"/>
            <a:ext cx="3167786"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та же единица, что токен текста — вектор, растянутый во времени</a:t>
            </a:r>
          </a:p>
          <a:p>
            <a:pPr algn="l">
              <a:lnSpc>
                <a:spcPct val="114000"/>
              </a:lnSpc>
              <a:spcBef>
                <a:spcPts val="400"/>
              </a:spcBef>
            </a:pPr>
            <a:r>
              <a:rPr sz="1350" b="0" i="0">
                <a:solidFill>
                  <a:srgbClr val="21295C"/>
                </a:solidFill>
                <a:latin typeface="Arial"/>
              </a:rPr>
              <a:t/>
            </a:r>
            <a:r>
              <a:rPr sz="1350" b="0" i="0">
                <a:solidFill>
                  <a:srgbClr val="21295C"/>
                </a:solidFill>
                <a:latin typeface="Arial"/>
              </a:rPr>
              <a:t>расставляются в сетку нужного размера, без отдельных режимов</a:t>
            </a:r>
          </a:p>
        </p:txBody>
      </p:sp>
      <p:sp>
        <p:nvSpPr>
          <p:cNvPr id="19" name="Right Arrow 18"/>
          <p:cNvSpPr/>
          <p:nvPr/>
        </p:nvSpPr>
        <p:spPr>
          <a:xfrm>
            <a:off x="7899196" y="3605477"/>
            <a:ext cx="274320" cy="146304"/>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264956" y="2683657"/>
            <a:ext cx="3423818" cy="1989942"/>
          </a:xfrm>
          <a:prstGeom prst="roundRect">
            <a:avLst>
              <a:gd name="adj" fmla="val 15317"/>
            </a:avLst>
          </a:prstGeom>
          <a:solidFill>
            <a:srgbClr val="F4F7FA"/>
          </a:solidFill>
          <a:ln w="19050">
            <a:solidFill>
              <a:srgbClr val="1C7293"/>
            </a:solidFill>
          </a:ln>
          <a:effectLst/>
        </p:spPr>
        <p:txBody>
          <a:bodyPr rtlCol="0" anchor="ctr"/>
          <a:lstStyle/>
          <a:p>
            <a:pPr algn="ctr"/>
          </a:p>
        </p:txBody>
      </p:sp>
      <p:sp>
        <p:nvSpPr>
          <p:cNvPr id="21" name="Rounded Rectangle 20"/>
          <p:cNvSpPr/>
          <p:nvPr/>
        </p:nvSpPr>
        <p:spPr>
          <a:xfrm>
            <a:off x="8392972" y="2811673"/>
            <a:ext cx="3167786" cy="256032"/>
          </a:xfrm>
          <a:prstGeom prst="roundRect">
            <a:avLst>
              <a:gd name="adj" fmla="val 38000"/>
            </a:avLst>
          </a:prstGeom>
          <a:solidFill>
            <a:srgbClr val="E6F2F4"/>
          </a:solidFill>
          <a:ln>
            <a:noFill/>
          </a:ln>
          <a:effectLst/>
        </p:spPr>
        <p:txBody>
          <a:bodyPr rtlCol="0" anchor="ctr"/>
          <a:lstStyle/>
          <a:p>
            <a:pPr algn="ctr"/>
          </a:p>
        </p:txBody>
      </p:sp>
      <p:sp>
        <p:nvSpPr>
          <p:cNvPr id="22" name="TextBox 21"/>
          <p:cNvSpPr txBox="1"/>
          <p:nvPr/>
        </p:nvSpPr>
        <p:spPr>
          <a:xfrm>
            <a:off x="8447836" y="2811673"/>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выход</a:t>
            </a:r>
          </a:p>
        </p:txBody>
      </p:sp>
      <p:sp>
        <p:nvSpPr>
          <p:cNvPr id="23" name="TextBox 22"/>
          <p:cNvSpPr txBox="1"/>
          <p:nvPr/>
        </p:nvSpPr>
        <p:spPr>
          <a:xfrm>
            <a:off x="8392972" y="3159145"/>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Трансформер</a:t>
            </a:r>
          </a:p>
        </p:txBody>
      </p:sp>
      <p:sp>
        <p:nvSpPr>
          <p:cNvPr id="24" name="TextBox 23"/>
          <p:cNvSpPr txBox="1"/>
          <p:nvPr/>
        </p:nvSpPr>
        <p:spPr>
          <a:xfrm>
            <a:off x="8392972" y="3527214"/>
            <a:ext cx="3167786"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патчи работают как токены трансформера</a:t>
            </a:r>
          </a:p>
          <a:p>
            <a:pPr algn="l">
              <a:lnSpc>
                <a:spcPct val="114000"/>
              </a:lnSpc>
              <a:spcBef>
                <a:spcPts val="400"/>
              </a:spcBef>
            </a:pPr>
            <a:r>
              <a:rPr sz="1350" b="0" i="0">
                <a:solidFill>
                  <a:srgbClr val="21295C"/>
                </a:solidFill>
                <a:latin typeface="Arial"/>
              </a:rPr>
              <a:t/>
            </a:r>
            <a:r>
              <a:rPr sz="1350" b="0" i="0">
                <a:solidFill>
                  <a:srgbClr val="21295C"/>
                </a:solidFill>
                <a:latin typeface="Arial"/>
              </a:rPr>
              <a:t>размер выхода задаётся формой сетки патчей</a:t>
            </a:r>
          </a:p>
        </p:txBody>
      </p:sp>
      <p:sp>
        <p:nvSpPr>
          <p:cNvPr id="25" name="Rectangle 24"/>
          <p:cNvSpPr/>
          <p:nvPr/>
        </p:nvSpPr>
        <p:spPr>
          <a:xfrm>
            <a:off x="2203856" y="4728464"/>
            <a:ext cx="21945" cy="274320"/>
          </a:xfrm>
          <a:prstGeom prst="rect">
            <a:avLst/>
          </a:prstGeom>
          <a:solidFill>
            <a:srgbClr val="065A82"/>
          </a:solidFill>
          <a:ln>
            <a:noFill/>
          </a:ln>
          <a:effectLst/>
        </p:spPr>
        <p:txBody>
          <a:bodyPr rtlCol="0" anchor="ctr"/>
          <a:lstStyle/>
          <a:p>
            <a:pPr algn="ctr"/>
          </a:p>
        </p:txBody>
      </p:sp>
      <p:sp>
        <p:nvSpPr>
          <p:cNvPr id="26" name="Rounded Rectangle 25"/>
          <p:cNvSpPr/>
          <p:nvPr/>
        </p:nvSpPr>
        <p:spPr>
          <a:xfrm>
            <a:off x="2155393" y="4669028"/>
            <a:ext cx="118872" cy="118872"/>
          </a:xfrm>
          <a:prstGeom prst="roundRect">
            <a:avLst>
              <a:gd name="adj" fmla="val 50000"/>
            </a:avLst>
          </a:prstGeom>
          <a:solidFill>
            <a:srgbClr val="065A82"/>
          </a:solidFill>
          <a:ln>
            <a:noFill/>
          </a:ln>
          <a:effectLst/>
        </p:spPr>
        <p:txBody>
          <a:bodyPr rtlCol="0" anchor="ctr"/>
          <a:lstStyle/>
          <a:p>
            <a:pPr algn="ctr"/>
          </a:p>
        </p:txBody>
      </p:sp>
      <p:sp>
        <p:nvSpPr>
          <p:cNvPr id="27" name="Rounded Rectangle 26"/>
          <p:cNvSpPr/>
          <p:nvPr/>
        </p:nvSpPr>
        <p:spPr>
          <a:xfrm>
            <a:off x="502920" y="5002784"/>
            <a:ext cx="11185855" cy="4747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621792" y="5121656"/>
            <a:ext cx="10948111" cy="23702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размер модели в расчёте стоимости не участвует ни разу — рычаг на стороне автокодировщика</a:t>
            </a:r>
          </a:p>
        </p:txBody>
      </p:sp>
      <p:sp>
        <p:nvSpPr>
          <p:cNvPr id="29" name="Rounded Rectangle 28"/>
          <p:cNvSpPr/>
          <p:nvPr/>
        </p:nvSpPr>
        <p:spPr>
          <a:xfrm>
            <a:off x="374904" y="5568989"/>
            <a:ext cx="11441887" cy="6672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60429"/>
            <a:ext cx="11112703" cy="575778"/>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Параллель строят сами разработчики и формулируют дословно: там, где у больших языковых моделей есть текстовые токены, у видеомодели есть визуальные патчи.</a:t>
            </a:r>
          </a:p>
        </p:txBody>
      </p:sp>
      <p:sp>
        <p:nvSpPr>
          <p:cNvPr id="31" name="Rectangle 3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106144"/>
            <a:ext cx="5437479" cy="1961524"/>
          </a:xfrm>
          <a:prstGeom prst="roundRect">
            <a:avLst>
              <a:gd name="adj" fmla="val 155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26159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14" name="TextBox 13"/>
          <p:cNvSpPr txBox="1"/>
          <p:nvPr/>
        </p:nvSpPr>
        <p:spPr>
          <a:xfrm>
            <a:off x="667512" y="3617771"/>
            <a:ext cx="5108295" cy="129444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Автокодировщик работает токенизатором, модель стоит поверх него</a:t>
            </a:r>
          </a:p>
          <a:p>
            <a:pPr algn="l">
              <a:lnSpc>
                <a:spcPct val="126000"/>
              </a:lnSpc>
            </a:pPr>
            <a:r>
              <a:rPr sz="1300" b="0" i="0">
                <a:solidFill>
                  <a:srgbClr val="21295C"/>
                </a:solidFill>
                <a:latin typeface="Arial"/>
              </a:rPr>
              <a:t>• Расшумление переписывает все токены на каждом шаге</a:t>
            </a:r>
          </a:p>
          <a:p>
            <a:pPr algn="l">
              <a:lnSpc>
                <a:spcPct val="126000"/>
              </a:lnSpc>
            </a:pPr>
            <a:r>
              <a:rPr sz="1300" b="0" i="0">
                <a:solidFill>
                  <a:srgbClr val="21295C"/>
                </a:solidFill>
                <a:latin typeface="Arial"/>
              </a:rPr>
              <a:t>• Кэша нет и быть не может: экономика тарифов языковых моделей сюда не переносится</a:t>
            </a:r>
          </a:p>
        </p:txBody>
      </p:sp>
      <p:sp>
        <p:nvSpPr>
          <p:cNvPr id="15" name="Rounded Rectangle 14"/>
          <p:cNvSpPr/>
          <p:nvPr/>
        </p:nvSpPr>
        <p:spPr>
          <a:xfrm>
            <a:off x="6251295" y="3106144"/>
            <a:ext cx="5437479" cy="1961524"/>
          </a:xfrm>
          <a:prstGeom prst="roundRect">
            <a:avLst>
              <a:gd name="adj" fmla="val 1553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26159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17" name="TextBox 16"/>
          <p:cNvSpPr txBox="1"/>
          <p:nvPr/>
        </p:nvSpPr>
        <p:spPr>
          <a:xfrm>
            <a:off x="6415887" y="3617771"/>
            <a:ext cx="5108295" cy="129444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Сжатие идёт не только по пространству, но и по времени</a:t>
            </a:r>
          </a:p>
          <a:p>
            <a:pPr algn="l">
              <a:lnSpc>
                <a:spcPct val="126000"/>
              </a:lnSpc>
            </a:pPr>
            <a:r>
              <a:rPr sz="1000" b="0" i="0">
                <a:solidFill>
                  <a:srgbClr val="21295C"/>
                </a:solidFill>
                <a:latin typeface="Arial"/>
              </a:rPr>
              <a:t>• Позиционное кодирование тройное: две пространственные координаты и одна временная</a:t>
            </a:r>
          </a:p>
          <a:p>
            <a:pPr algn="l">
              <a:lnSpc>
                <a:spcPct val="126000"/>
              </a:lnSpc>
            </a:pPr>
            <a:r>
              <a:rPr sz="1000" b="0" i="0">
                <a:solidFill>
                  <a:srgbClr val="21295C"/>
                </a:solidFill>
                <a:latin typeface="Arial"/>
              </a:rPr>
              <a:t>• Выбор: полное трёхмерное внимание или раздельное, и у выбора посчитанная цена</a:t>
            </a:r>
          </a:p>
          <a:p>
            <a:pPr algn="l">
              <a:lnSpc>
                <a:spcPct val="126000"/>
              </a:lnSpc>
            </a:pPr>
            <a:r>
              <a:rPr sz="1000" b="0" i="0">
                <a:solidFill>
                  <a:srgbClr val="21295C"/>
                </a:solidFill>
                <a:latin typeface="Arial"/>
              </a:rPr>
              <a:t>• Отчёт известной видеомодели деталей не раскрывает: цифра «по ней» — реконструкция</a:t>
            </a:r>
          </a:p>
        </p:txBody>
      </p:sp>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0" name="TextBox 19"/>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 трёх до шестнадцати, у самой сжимающей — до 128</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компенсирует силу сжатия</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КОЭФФИЦИЕНТЫ СЖАТИЯ</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4×8×8 у трёх моделей · 8×8×8 · 8×32×32</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 высота × ширина; у последней патча нет вовсе</a:t>
            </a:r>
          </a:p>
        </p:txBody>
      </p:sp>
      <p:sp>
        <p:nvSpPr>
          <p:cNvPr id="12" name="Rounded Rectangle 11"/>
          <p:cNvSpPr/>
          <p:nvPr/>
        </p:nvSpPr>
        <p:spPr>
          <a:xfrm>
            <a:off x="502920" y="3074081"/>
            <a:ext cx="3423818" cy="2024678"/>
          </a:xfrm>
          <a:prstGeom prst="roundRect">
            <a:avLst>
              <a:gd name="adj" fmla="val 15054"/>
            </a:avLst>
          </a:prstGeom>
          <a:solidFill>
            <a:srgbClr val="F4F7FA"/>
          </a:solidFill>
          <a:ln w="19050">
            <a:solidFill>
              <a:srgbClr val="1C7293"/>
            </a:solidFill>
          </a:ln>
          <a:effectLst/>
        </p:spPr>
        <p:txBody>
          <a:bodyPr rtlCol="0" anchor="ctr"/>
          <a:lstStyle/>
          <a:p>
            <a:pPr algn="ctr"/>
          </a:p>
        </p:txBody>
      </p:sp>
      <p:sp>
        <p:nvSpPr>
          <p:cNvPr id="13" name="Rounded Rectangle 12"/>
          <p:cNvSpPr/>
          <p:nvPr/>
        </p:nvSpPr>
        <p:spPr>
          <a:xfrm>
            <a:off x="630936" y="3202097"/>
            <a:ext cx="3167786" cy="256032"/>
          </a:xfrm>
          <a:prstGeom prst="roundRect">
            <a:avLst>
              <a:gd name="adj" fmla="val 38000"/>
            </a:avLst>
          </a:prstGeom>
          <a:solidFill>
            <a:srgbClr val="E6F2F4"/>
          </a:solidFill>
          <a:ln>
            <a:noFill/>
          </a:ln>
          <a:effectLst/>
        </p:spPr>
        <p:txBody>
          <a:bodyPr rtlCol="0" anchor="ctr"/>
          <a:lstStyle/>
          <a:p>
            <a:pPr algn="ctr"/>
          </a:p>
        </p:txBody>
      </p:sp>
      <p:sp>
        <p:nvSpPr>
          <p:cNvPr id="14" name="TextBox 13"/>
          <p:cNvSpPr txBox="1"/>
          <p:nvPr/>
        </p:nvSpPr>
        <p:spPr>
          <a:xfrm>
            <a:off x="685800" y="3202097"/>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вход</a:t>
            </a:r>
          </a:p>
        </p:txBody>
      </p:sp>
      <p:sp>
        <p:nvSpPr>
          <p:cNvPr id="15" name="TextBox 14"/>
          <p:cNvSpPr txBox="1"/>
          <p:nvPr/>
        </p:nvSpPr>
        <p:spPr>
          <a:xfrm>
            <a:off x="630936" y="3549569"/>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Вход: кадры видео</a:t>
            </a:r>
          </a:p>
        </p:txBody>
      </p:sp>
      <p:sp>
        <p:nvSpPr>
          <p:cNvPr id="16" name="TextBox 15"/>
          <p:cNvSpPr txBox="1"/>
          <p:nvPr/>
        </p:nvSpPr>
        <p:spPr>
          <a:xfrm>
            <a:off x="630936" y="3917637"/>
            <a:ext cx="3167786" cy="1053106"/>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первый кадр кодируется отдельно</a:t>
            </a:r>
          </a:p>
          <a:p>
            <a:pPr algn="l">
              <a:lnSpc>
                <a:spcPct val="114000"/>
              </a:lnSpc>
              <a:spcBef>
                <a:spcPts val="400"/>
              </a:spcBef>
            </a:pPr>
            <a:r>
              <a:rPr sz="1350" b="0" i="0">
                <a:solidFill>
                  <a:srgbClr val="21295C"/>
                </a:solidFill>
                <a:latin typeface="Arial"/>
              </a:rPr>
              <a:t/>
            </a:r>
            <a:r>
              <a:rPr sz="1350" b="0" i="0">
                <a:solidFill>
                  <a:srgbClr val="21295C"/>
                </a:solidFill>
                <a:latin typeface="Arial"/>
              </a:rPr>
              <a:t>остальные сжимаются по времени</a:t>
            </a:r>
          </a:p>
        </p:txBody>
      </p:sp>
      <p:sp>
        <p:nvSpPr>
          <p:cNvPr id="17" name="Right Arrow 16"/>
          <p:cNvSpPr/>
          <p:nvPr/>
        </p:nvSpPr>
        <p:spPr>
          <a:xfrm>
            <a:off x="4018178" y="4013268"/>
            <a:ext cx="274320" cy="146304"/>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4383938" y="3074081"/>
            <a:ext cx="3423818" cy="2024678"/>
          </a:xfrm>
          <a:prstGeom prst="roundRect">
            <a:avLst>
              <a:gd name="adj" fmla="val 15054"/>
            </a:avLst>
          </a:prstGeom>
          <a:solidFill>
            <a:srgbClr val="F4F7FA"/>
          </a:solidFill>
          <a:ln w="31750">
            <a:solidFill>
              <a:srgbClr val="F0AB00"/>
            </a:solidFill>
          </a:ln>
          <a:effectLst/>
        </p:spPr>
        <p:txBody>
          <a:bodyPr rtlCol="0" anchor="ctr"/>
          <a:lstStyle/>
          <a:p>
            <a:pPr algn="ctr"/>
          </a:p>
        </p:txBody>
      </p:sp>
      <p:sp>
        <p:nvSpPr>
          <p:cNvPr id="19" name="Rounded Rectangle 18"/>
          <p:cNvSpPr/>
          <p:nvPr/>
        </p:nvSpPr>
        <p:spPr>
          <a:xfrm>
            <a:off x="4511954" y="3202097"/>
            <a:ext cx="3167786" cy="256032"/>
          </a:xfrm>
          <a:prstGeom prst="roundRect">
            <a:avLst>
              <a:gd name="adj" fmla="val 38000"/>
            </a:avLst>
          </a:prstGeom>
          <a:solidFill>
            <a:srgbClr val="F0AB00"/>
          </a:solidFill>
          <a:ln>
            <a:noFill/>
          </a:ln>
          <a:effectLst/>
        </p:spPr>
        <p:txBody>
          <a:bodyPr rtlCol="0" anchor="ctr"/>
          <a:lstStyle/>
          <a:p>
            <a:pPr algn="ctr"/>
          </a:p>
        </p:txBody>
      </p:sp>
      <p:sp>
        <p:nvSpPr>
          <p:cNvPr id="20" name="TextBox 19"/>
          <p:cNvSpPr txBox="1"/>
          <p:nvPr/>
        </p:nvSpPr>
        <p:spPr>
          <a:xfrm>
            <a:off x="4566818" y="3202097"/>
            <a:ext cx="3058058" cy="256032"/>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работа · узкое место</a:t>
            </a:r>
          </a:p>
        </p:txBody>
      </p:sp>
      <p:sp>
        <p:nvSpPr>
          <p:cNvPr id="21" name="TextBox 20"/>
          <p:cNvSpPr txBox="1"/>
          <p:nvPr/>
        </p:nvSpPr>
        <p:spPr>
          <a:xfrm>
            <a:off x="4511954" y="3549569"/>
            <a:ext cx="3167786" cy="553256"/>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Каузальная трёхмерная свёртка</a:t>
            </a:r>
          </a:p>
        </p:txBody>
      </p:sp>
      <p:sp>
        <p:nvSpPr>
          <p:cNvPr id="22" name="TextBox 21"/>
          <p:cNvSpPr txBox="1"/>
          <p:nvPr/>
        </p:nvSpPr>
        <p:spPr>
          <a:xfrm>
            <a:off x="4511954" y="4194265"/>
            <a:ext cx="3167786" cy="776477"/>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отступы в начале — будущее не влияет на прошлое</a:t>
            </a:r>
          </a:p>
          <a:p>
            <a:pPr algn="l">
              <a:lnSpc>
                <a:spcPct val="114000"/>
              </a:lnSpc>
              <a:spcBef>
                <a:spcPts val="400"/>
              </a:spcBef>
            </a:pPr>
            <a:r>
              <a:rPr sz="1350" b="0" i="0">
                <a:solidFill>
                  <a:srgbClr val="21295C"/>
                </a:solidFill>
                <a:latin typeface="Arial"/>
              </a:rPr>
              <a:t/>
            </a:r>
            <a:r>
              <a:rPr sz="1350" b="0" i="0">
                <a:solidFill>
                  <a:srgbClr val="21295C"/>
                </a:solidFill>
                <a:latin typeface="Arial"/>
              </a:rPr>
              <a:t>тот же приём, что маска внимания</a:t>
            </a:r>
          </a:p>
        </p:txBody>
      </p:sp>
      <p:sp>
        <p:nvSpPr>
          <p:cNvPr id="23" name="Right Arrow 22"/>
          <p:cNvSpPr/>
          <p:nvPr/>
        </p:nvSpPr>
        <p:spPr>
          <a:xfrm>
            <a:off x="7899196" y="4013268"/>
            <a:ext cx="274320" cy="146304"/>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264956" y="3074081"/>
            <a:ext cx="3423818" cy="2024678"/>
          </a:xfrm>
          <a:prstGeom prst="roundRect">
            <a:avLst>
              <a:gd name="adj" fmla="val 15054"/>
            </a:avLst>
          </a:prstGeom>
          <a:solidFill>
            <a:srgbClr val="F4F7FA"/>
          </a:solidFill>
          <a:ln w="19050">
            <a:solidFill>
              <a:srgbClr val="1C7293"/>
            </a:solidFill>
          </a:ln>
          <a:effectLst/>
        </p:spPr>
        <p:txBody>
          <a:bodyPr rtlCol="0" anchor="ctr"/>
          <a:lstStyle/>
          <a:p>
            <a:pPr algn="ctr"/>
          </a:p>
        </p:txBody>
      </p:sp>
      <p:sp>
        <p:nvSpPr>
          <p:cNvPr id="25" name="Rounded Rectangle 24"/>
          <p:cNvSpPr/>
          <p:nvPr/>
        </p:nvSpPr>
        <p:spPr>
          <a:xfrm>
            <a:off x="8392972" y="3202097"/>
            <a:ext cx="3167786" cy="256032"/>
          </a:xfrm>
          <a:prstGeom prst="roundRect">
            <a:avLst>
              <a:gd name="adj" fmla="val 38000"/>
            </a:avLst>
          </a:prstGeom>
          <a:solidFill>
            <a:srgbClr val="E6F2F4"/>
          </a:solidFill>
          <a:ln>
            <a:noFill/>
          </a:ln>
          <a:effectLst/>
        </p:spPr>
        <p:txBody>
          <a:bodyPr rtlCol="0" anchor="ctr"/>
          <a:lstStyle/>
          <a:p>
            <a:pPr algn="ctr"/>
          </a:p>
        </p:txBody>
      </p:sp>
      <p:sp>
        <p:nvSpPr>
          <p:cNvPr id="26" name="TextBox 25"/>
          <p:cNvSpPr txBox="1"/>
          <p:nvPr/>
        </p:nvSpPr>
        <p:spPr>
          <a:xfrm>
            <a:off x="8447836" y="3202097"/>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выход</a:t>
            </a:r>
          </a:p>
        </p:txBody>
      </p:sp>
      <p:sp>
        <p:nvSpPr>
          <p:cNvPr id="27" name="TextBox 26"/>
          <p:cNvSpPr txBox="1"/>
          <p:nvPr/>
        </p:nvSpPr>
        <p:spPr>
          <a:xfrm>
            <a:off x="8392972" y="3549569"/>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Латент</a:t>
            </a:r>
          </a:p>
        </p:txBody>
      </p:sp>
      <p:sp>
        <p:nvSpPr>
          <p:cNvPr id="28" name="TextBox 27"/>
          <p:cNvSpPr txBox="1"/>
          <p:nvPr/>
        </p:nvSpPr>
        <p:spPr>
          <a:xfrm>
            <a:off x="8392972" y="3917637"/>
            <a:ext cx="3167786" cy="1053106"/>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кадров = остальные ÷ коэффициент + 1</a:t>
            </a:r>
          </a:p>
          <a:p>
            <a:pPr algn="l">
              <a:lnSpc>
                <a:spcPct val="114000"/>
              </a:lnSpc>
              <a:spcBef>
                <a:spcPts val="400"/>
              </a:spcBef>
            </a:pPr>
            <a:r>
              <a:rPr sz="1350" b="0" i="0">
                <a:solidFill>
                  <a:srgbClr val="21295C"/>
                </a:solidFill>
                <a:latin typeface="Arial"/>
              </a:rPr>
              <a:t/>
            </a:r>
            <a:r>
              <a:rPr sz="1350" b="0" i="0">
                <a:solidFill>
                  <a:srgbClr val="21295C"/>
                </a:solidFill>
                <a:latin typeface="Arial"/>
              </a:rPr>
              <a:t>отсюда «кратное 4/8 плюс один» — 49, 81, 121, 129, 257</a:t>
            </a:r>
          </a:p>
        </p:txBody>
      </p:sp>
      <p:sp>
        <p:nvSpPr>
          <p:cNvPr id="29" name="Rectangle 28"/>
          <p:cNvSpPr/>
          <p:nvPr/>
        </p:nvSpPr>
        <p:spPr>
          <a:xfrm>
            <a:off x="6084874" y="5153623"/>
            <a:ext cx="21945" cy="274320"/>
          </a:xfrm>
          <a:prstGeom prst="rect">
            <a:avLst/>
          </a:prstGeom>
          <a:solidFill>
            <a:srgbClr val="065A82"/>
          </a:solidFill>
          <a:ln>
            <a:noFill/>
          </a:ln>
          <a:effectLst/>
        </p:spPr>
        <p:txBody>
          <a:bodyPr rtlCol="0" anchor="ctr"/>
          <a:lstStyle/>
          <a:p>
            <a:pPr algn="ctr"/>
          </a:p>
        </p:txBody>
      </p:sp>
      <p:sp>
        <p:nvSpPr>
          <p:cNvPr id="30" name="Rounded Rectangle 29"/>
          <p:cNvSpPr/>
          <p:nvPr/>
        </p:nvSpPr>
        <p:spPr>
          <a:xfrm>
            <a:off x="6036411" y="5094187"/>
            <a:ext cx="118872" cy="118872"/>
          </a:xfrm>
          <a:prstGeom prst="roundRect">
            <a:avLst>
              <a:gd name="adj" fmla="val 50000"/>
            </a:avLst>
          </a:prstGeom>
          <a:solidFill>
            <a:srgbClr val="065A82"/>
          </a:solidFill>
          <a:ln>
            <a:noFill/>
          </a:ln>
          <a:effectLst/>
        </p:spPr>
        <p:txBody>
          <a:bodyPr rtlCol="0" anchor="ctr"/>
          <a:lstStyle/>
          <a:p>
            <a:pPr algn="ctr"/>
          </a:p>
        </p:txBody>
      </p:sp>
      <p:sp>
        <p:nvSpPr>
          <p:cNvPr id="31" name="Rounded Rectangle 30"/>
          <p:cNvSpPr/>
          <p:nvPr/>
        </p:nvSpPr>
        <p:spPr>
          <a:xfrm>
            <a:off x="502920" y="5427943"/>
            <a:ext cx="11185855" cy="4747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621792" y="5546815"/>
            <a:ext cx="10948111" cy="23702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мерцание 93,2 → 86,3 при переходе к трёхмерному автокодировщику; при 16×16×8 «сходимость крайне затруднена»</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десятисекундный клип втрое дороже пятисекундного</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скидки за объём здесь нет, есть наценка</a:t>
            </a:r>
          </a:p>
        </p:txBody>
      </p:sp>
      <p:sp>
        <p:nvSpPr>
          <p:cNvPr id="8" name="Rectangle 7"/>
          <p:cNvSpPr/>
          <p:nvPr/>
        </p:nvSpPr>
        <p:spPr>
          <a:xfrm>
            <a:off x="754380" y="3354632"/>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0" name="TextBox 9"/>
          <p:cNvSpPr txBox="1"/>
          <p:nvPr/>
        </p:nvSpPr>
        <p:spPr>
          <a:xfrm>
            <a:off x="11071555"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1" name="Rectangle 10"/>
          <p:cNvSpPr/>
          <p:nvPr/>
        </p:nvSpPr>
        <p:spPr>
          <a:xfrm>
            <a:off x="1998695" y="3190040"/>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159532"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a:t>
            </a:r>
          </a:p>
          <a:p>
            <a:pPr algn="ctr">
              <a:lnSpc>
                <a:spcPct val="110000"/>
              </a:lnSpc>
            </a:pPr>
            <a:r>
              <a:rPr sz="1200" b="0" i="0">
                <a:solidFill>
                  <a:srgbClr val="21295C"/>
                </a:solidFill>
                <a:latin typeface="Arial"/>
              </a:rPr>
              <a:t>Линейно</a:t>
            </a:r>
          </a:p>
        </p:txBody>
      </p:sp>
      <p:sp>
        <p:nvSpPr>
          <p:cNvPr id="13" name="Rectangle 12"/>
          <p:cNvSpPr/>
          <p:nvPr/>
        </p:nvSpPr>
        <p:spPr>
          <a:xfrm>
            <a:off x="5505145" y="3404924"/>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3665982" y="3660956"/>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40</a:t>
            </a:r>
          </a:p>
          <a:p>
            <a:pPr algn="ctr">
              <a:lnSpc>
                <a:spcPct val="110000"/>
              </a:lnSpc>
            </a:pPr>
            <a:r>
              <a:rPr sz="1200" b="0" i="0">
                <a:solidFill>
                  <a:srgbClr val="21295C"/>
                </a:solidFill>
                <a:latin typeface="Arial"/>
              </a:rPr>
              <a:t>Измерено</a:t>
            </a:r>
          </a:p>
        </p:txBody>
      </p:sp>
      <p:sp>
        <p:nvSpPr>
          <p:cNvPr id="15" name="Rectangle 14"/>
          <p:cNvSpPr/>
          <p:nvPr/>
        </p:nvSpPr>
        <p:spPr>
          <a:xfrm>
            <a:off x="10029596" y="3190040"/>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8190433"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80</a:t>
            </a:r>
          </a:p>
          <a:p>
            <a:pPr algn="ctr">
              <a:lnSpc>
                <a:spcPct val="110000"/>
              </a:lnSpc>
            </a:pPr>
            <a:r>
              <a:rPr sz="1200" b="0" i="0">
                <a:solidFill>
                  <a:srgbClr val="21295C"/>
                </a:solidFill>
                <a:latin typeface="Arial"/>
              </a:rPr>
              <a:t>Квадратично</a:t>
            </a:r>
          </a:p>
        </p:txBody>
      </p:sp>
      <p:sp>
        <p:nvSpPr>
          <p:cNvPr id="17" name="TextBox 16"/>
          <p:cNvSpPr txBox="1"/>
          <p:nvPr/>
        </p:nvSpPr>
        <p:spPr>
          <a:xfrm>
            <a:off x="502920" y="418562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во сколько раз медленнее обучение при утроении стороны кадра · 129 кадров при 256 точках = один раз</a:t>
            </a:r>
          </a:p>
        </p:txBody>
      </p:sp>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0" name="TextBox 19"/>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Длина, разрешение и частота кадров покупаются нелинейно: втрое по стороне — вдевятеро по точкам, внимание квадратично</a:t>
            </a:r>
          </a:p>
        </p:txBody>
      </p:sp>
      <p:sp>
        <p:nvSpPr>
          <p:cNvPr id="21" name="Rectangle 2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Путь от запроса к результату: расшумление пространства-времени</a:t>
            </a:r>
          </a:p>
        </p:txBody>
      </p:sp>
      <p:sp>
        <p:nvSpPr>
          <p:cNvPr id="4" name="Rounded Rectangle 3"/>
          <p:cNvSpPr/>
          <p:nvPr/>
        </p:nvSpPr>
        <p:spPr>
          <a:xfrm>
            <a:off x="502920" y="1335024"/>
            <a:ext cx="2673019" cy="2059766"/>
          </a:xfrm>
          <a:prstGeom prst="roundRect">
            <a:avLst>
              <a:gd name="adj" fmla="val 147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ПОВТОРОВ ШАГА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20–50</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диапазон, с затравкой и без</a:t>
            </a:r>
          </a:p>
        </p:txBody>
      </p:sp>
      <p:sp>
        <p:nvSpPr>
          <p:cNvPr id="8" name="Rounded Rectangle 7"/>
          <p:cNvSpPr/>
          <p:nvPr/>
        </p:nvSpPr>
        <p:spPr>
          <a:xfrm>
            <a:off x="3340531" y="1335024"/>
            <a:ext cx="2673019" cy="2059766"/>
          </a:xfrm>
          <a:prstGeom prst="roundRect">
            <a:avLst>
              <a:gd name="adj" fmla="val 1479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УЧАСТВУЕТ ЗАПРОС</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каждом шаге</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кросс-внимание держит вектор весь цикл</a:t>
            </a:r>
          </a:p>
        </p:txBody>
      </p:sp>
      <p:sp>
        <p:nvSpPr>
          <p:cNvPr id="12" name="Rounded Rectangle 11"/>
          <p:cNvSpPr/>
          <p:nvPr/>
        </p:nvSpPr>
        <p:spPr>
          <a:xfrm>
            <a:off x="6178143" y="1335024"/>
            <a:ext cx="2673019" cy="2059766"/>
          </a:xfrm>
          <a:prstGeom prst="roundRect">
            <a:avLst>
              <a:gd name="adj" fmla="val 1479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МЕНЯЕТСЯ / ЧТО ОСТАЁТСЯ</a:t>
            </a:r>
          </a:p>
        </p:txBody>
      </p:sp>
      <p:sp>
        <p:nvSpPr>
          <p:cNvPr id="14" name="TextBox 13"/>
          <p:cNvSpPr txBox="1"/>
          <p:nvPr/>
        </p:nvSpPr>
        <p:spPr>
          <a:xfrm>
            <a:off x="6315303" y="1932846"/>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значения патчей — да; сетка и декодировщик — нет</a:t>
            </a:r>
          </a:p>
        </p:txBody>
      </p:sp>
      <p:sp>
        <p:nvSpPr>
          <p:cNvPr id="15" name="TextBox 14"/>
          <p:cNvSpPr txBox="1"/>
          <p:nvPr/>
        </p:nvSpPr>
        <p:spPr>
          <a:xfrm>
            <a:off x="6315303" y="283514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затравки меняется только старт</a:t>
            </a:r>
          </a:p>
        </p:txBody>
      </p:sp>
      <p:sp>
        <p:nvSpPr>
          <p:cNvPr id="16" name="Rounded Rectangle 15"/>
          <p:cNvSpPr/>
          <p:nvPr/>
        </p:nvSpPr>
        <p:spPr>
          <a:xfrm>
            <a:off x="9015755" y="1335024"/>
            <a:ext cx="2673019" cy="2059766"/>
          </a:xfrm>
          <a:prstGeom prst="roundRect">
            <a:avLst>
              <a:gd name="adj" fmla="val 14797"/>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УЗКОЕ МЕСТО</a:t>
            </a:r>
          </a:p>
        </p:txBody>
      </p:sp>
      <p:sp>
        <p:nvSpPr>
          <p:cNvPr id="18" name="TextBox 17"/>
          <p:cNvSpPr txBox="1"/>
          <p:nvPr/>
        </p:nvSpPr>
        <p:spPr>
          <a:xfrm>
            <a:off x="9152915" y="1725375"/>
            <a:ext cx="2398699" cy="1004146"/>
          </a:xfrm>
          <a:prstGeom prst="rect">
            <a:avLst/>
          </a:prstGeom>
          <a:noFill/>
        </p:spPr>
        <p:txBody>
          <a:bodyPr wrap="square" lIns="0" rIns="0" tIns="0" bIns="0" anchor="t">
            <a:spAutoFit/>
          </a:bodyPr>
          <a:lstStyle/>
          <a:p>
            <a:pPr algn="l">
              <a:lnSpc>
                <a:spcPct val="108000"/>
              </a:lnSpc>
            </a:pPr>
            <a:r>
              <a:rPr sz="1900" b="1" i="0">
                <a:solidFill>
                  <a:srgbClr val="1C7293"/>
                </a:solidFill>
                <a:latin typeface="Arial"/>
              </a:rPr>
              <a:t>трёхмерное внимание без кэша на всех шагах</a:t>
            </a:r>
          </a:p>
        </p:txBody>
      </p:sp>
      <p:sp>
        <p:nvSpPr>
          <p:cNvPr id="19" name="TextBox 18"/>
          <p:cNvSpPr txBox="1"/>
          <p:nvPr/>
        </p:nvSpPr>
        <p:spPr>
          <a:xfrm>
            <a:off x="9152915" y="2729521"/>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раздельное дешевле в 31 раз, но теряет связь кадров</a:t>
            </a:r>
          </a:p>
        </p:txBody>
      </p:sp>
      <p:sp>
        <p:nvSpPr>
          <p:cNvPr id="20" name="TextBox 19"/>
          <p:cNvSpPr txBox="1"/>
          <p:nvPr/>
        </p:nvSpPr>
        <p:spPr>
          <a:xfrm>
            <a:off x="502920" y="3614246"/>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Чистый текст</a:t>
            </a:r>
          </a:p>
        </p:txBody>
      </p:sp>
      <p:sp>
        <p:nvSpPr>
          <p:cNvPr id="21" name="Rounded Rectangle 20"/>
          <p:cNvSpPr/>
          <p:nvPr/>
        </p:nvSpPr>
        <p:spPr>
          <a:xfrm>
            <a:off x="3538728" y="3577670"/>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3630168" y="3605102"/>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3712464" y="3650822"/>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кодировщик текста, заморожен</a:t>
            </a:r>
          </a:p>
        </p:txBody>
      </p:sp>
      <p:sp>
        <p:nvSpPr>
          <p:cNvPr id="24" name="Right Arrow 23"/>
          <p:cNvSpPr/>
          <p:nvPr/>
        </p:nvSpPr>
        <p:spPr>
          <a:xfrm>
            <a:off x="5011597" y="392088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331637" y="3605102"/>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5413933" y="3650822"/>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старт: шум в решётке патчей</a:t>
            </a:r>
          </a:p>
        </p:txBody>
      </p:sp>
      <p:sp>
        <p:nvSpPr>
          <p:cNvPr id="27" name="Right Arrow 26"/>
          <p:cNvSpPr/>
          <p:nvPr/>
        </p:nvSpPr>
        <p:spPr>
          <a:xfrm>
            <a:off x="6713067" y="392088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7033107" y="3605102"/>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7115403" y="3650822"/>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расшумление ×20–50, без кэша</a:t>
            </a:r>
          </a:p>
        </p:txBody>
      </p:sp>
      <p:sp>
        <p:nvSpPr>
          <p:cNvPr id="30" name="Right Arrow 29"/>
          <p:cNvSpPr/>
          <p:nvPr/>
        </p:nvSpPr>
        <p:spPr>
          <a:xfrm>
            <a:off x="8414537" y="392088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734577" y="3605102"/>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8816873" y="3650822"/>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декодировщик → кадры</a:t>
            </a:r>
          </a:p>
        </p:txBody>
      </p:sp>
      <p:sp>
        <p:nvSpPr>
          <p:cNvPr id="33" name="TextBox 32"/>
          <p:cNvSpPr txBox="1"/>
          <p:nvPr/>
        </p:nvSpPr>
        <p:spPr>
          <a:xfrm>
            <a:off x="502920" y="4547556"/>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 кадр-затравка</a:t>
            </a:r>
          </a:p>
        </p:txBody>
      </p:sp>
      <p:sp>
        <p:nvSpPr>
          <p:cNvPr id="34" name="Rounded Rectangle 33"/>
          <p:cNvSpPr/>
          <p:nvPr/>
        </p:nvSpPr>
        <p:spPr>
          <a:xfrm>
            <a:off x="3538728" y="4510980"/>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5" name="Rounded Rectangle 34"/>
          <p:cNvSpPr/>
          <p:nvPr/>
        </p:nvSpPr>
        <p:spPr>
          <a:xfrm>
            <a:off x="3630168" y="4538412"/>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3712464" y="4584132"/>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 первый кадр отдельно</a:t>
            </a:r>
          </a:p>
        </p:txBody>
      </p:sp>
      <p:sp>
        <p:nvSpPr>
          <p:cNvPr id="37" name="Right Arrow 36"/>
          <p:cNvSpPr/>
          <p:nvPr/>
        </p:nvSpPr>
        <p:spPr>
          <a:xfrm>
            <a:off x="5011597" y="485419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5331637" y="4538412"/>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5413933" y="4584132"/>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старт: первый срез — кадр</a:t>
            </a:r>
          </a:p>
        </p:txBody>
      </p:sp>
      <p:sp>
        <p:nvSpPr>
          <p:cNvPr id="40" name="Right Arrow 39"/>
          <p:cNvSpPr/>
          <p:nvPr/>
        </p:nvSpPr>
        <p:spPr>
          <a:xfrm>
            <a:off x="6713067" y="4854191"/>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7033107" y="4538412"/>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2" name="TextBox 41"/>
          <p:cNvSpPr txBox="1"/>
          <p:nvPr/>
        </p:nvSpPr>
        <p:spPr>
          <a:xfrm>
            <a:off x="7115403" y="4584132"/>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тот же цикл ×20–50</a:t>
            </a:r>
          </a:p>
        </p:txBody>
      </p:sp>
      <p:sp>
        <p:nvSpPr>
          <p:cNvPr id="43" name="Right Arrow 42"/>
          <p:cNvSpPr/>
          <p:nvPr/>
        </p:nvSpPr>
        <p:spPr>
          <a:xfrm>
            <a:off x="8414537" y="4854191"/>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8734577" y="4538412"/>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5" name="TextBox 44"/>
          <p:cNvSpPr txBox="1"/>
          <p:nvPr/>
        </p:nvSpPr>
        <p:spPr>
          <a:xfrm>
            <a:off x="8816873" y="4584132"/>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декодировщик → продолжение</a:t>
            </a:r>
          </a:p>
        </p:txBody>
      </p:sp>
      <p:sp>
        <p:nvSpPr>
          <p:cNvPr id="46" name="Rounded Rectangle 45"/>
          <p:cNvSpPr/>
          <p:nvPr/>
        </p:nvSpPr>
        <p:spPr>
          <a:xfrm>
            <a:off x="2011680" y="3577670"/>
            <a:ext cx="1325880" cy="1756891"/>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47" name="TextBox 46"/>
          <p:cNvSpPr txBox="1"/>
          <p:nvPr/>
        </p:nvSpPr>
        <p:spPr>
          <a:xfrm>
            <a:off x="2084832" y="3623390"/>
            <a:ext cx="1179576" cy="1665451"/>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ЗАПРОС</a:t>
            </a:r>
          </a:p>
        </p:txBody>
      </p:sp>
      <p:sp>
        <p:nvSpPr>
          <p:cNvPr id="48" name="Rectangle 47"/>
          <p:cNvSpPr/>
          <p:nvPr/>
        </p:nvSpPr>
        <p:spPr>
          <a:xfrm>
            <a:off x="3337560" y="3973459"/>
            <a:ext cx="201168" cy="32004"/>
          </a:xfrm>
          <a:prstGeom prst="rect">
            <a:avLst/>
          </a:prstGeom>
          <a:solidFill>
            <a:srgbClr val="1C7293"/>
          </a:solidFill>
          <a:ln>
            <a:noFill/>
          </a:ln>
          <a:effectLst/>
        </p:spPr>
        <p:txBody>
          <a:bodyPr rtlCol="0" anchor="ctr"/>
          <a:lstStyle/>
          <a:p>
            <a:pPr algn="ctr"/>
          </a:p>
        </p:txBody>
      </p:sp>
      <p:sp>
        <p:nvSpPr>
          <p:cNvPr id="49" name="Rectangle 48"/>
          <p:cNvSpPr/>
          <p:nvPr/>
        </p:nvSpPr>
        <p:spPr>
          <a:xfrm>
            <a:off x="3337560" y="4906769"/>
            <a:ext cx="201168" cy="32004"/>
          </a:xfrm>
          <a:prstGeom prst="rect">
            <a:avLst/>
          </a:prstGeom>
          <a:solidFill>
            <a:srgbClr val="1C7293"/>
          </a:solidFill>
          <a:ln>
            <a:noFill/>
          </a:ln>
          <a:effectLst/>
        </p:spPr>
        <p:txBody>
          <a:bodyPr rtlCol="0" anchor="ctr"/>
          <a:lstStyle/>
          <a:p>
            <a:pPr algn="ctr"/>
          </a:p>
        </p:txBody>
      </p:sp>
      <p:sp>
        <p:nvSpPr>
          <p:cNvPr id="50" name="Rounded Rectangle 49"/>
          <p:cNvSpPr/>
          <p:nvPr/>
        </p:nvSpPr>
        <p:spPr>
          <a:xfrm>
            <a:off x="10362895" y="3577670"/>
            <a:ext cx="1325880" cy="1756891"/>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51" name="TextBox 50"/>
          <p:cNvSpPr txBox="1"/>
          <p:nvPr/>
        </p:nvSpPr>
        <p:spPr>
          <a:xfrm>
            <a:off x="10436047" y="3623390"/>
            <a:ext cx="1179576" cy="1665451"/>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РЕЗУЛЬТАТ</a:t>
            </a:r>
          </a:p>
        </p:txBody>
      </p:sp>
      <p:sp>
        <p:nvSpPr>
          <p:cNvPr id="52" name="Rectangle 51"/>
          <p:cNvSpPr/>
          <p:nvPr/>
        </p:nvSpPr>
        <p:spPr>
          <a:xfrm>
            <a:off x="10161727" y="3973459"/>
            <a:ext cx="201168" cy="32004"/>
          </a:xfrm>
          <a:prstGeom prst="rect">
            <a:avLst/>
          </a:prstGeom>
          <a:solidFill>
            <a:srgbClr val="1C7293"/>
          </a:solidFill>
          <a:ln>
            <a:noFill/>
          </a:ln>
          <a:effectLst/>
        </p:spPr>
        <p:txBody>
          <a:bodyPr rtlCol="0" anchor="ctr"/>
          <a:lstStyle/>
          <a:p>
            <a:pPr algn="ctr"/>
          </a:p>
        </p:txBody>
      </p:sp>
      <p:sp>
        <p:nvSpPr>
          <p:cNvPr id="53" name="Rectangle 52"/>
          <p:cNvSpPr/>
          <p:nvPr/>
        </p:nvSpPr>
        <p:spPr>
          <a:xfrm>
            <a:off x="10161727" y="4906769"/>
            <a:ext cx="201168" cy="32004"/>
          </a:xfrm>
          <a:prstGeom prst="rect">
            <a:avLst/>
          </a:prstGeom>
          <a:solidFill>
            <a:srgbClr val="1C7293"/>
          </a:solidFill>
          <a:ln>
            <a:noFill/>
          </a:ln>
          <a:effectLst/>
        </p:spPr>
        <p:txBody>
          <a:bodyPr rtlCol="0" anchor="ctr"/>
          <a:lstStyle/>
          <a:p>
            <a:pPr algn="ctr"/>
          </a:p>
        </p:txBody>
      </p:sp>
      <p:sp>
        <p:nvSpPr>
          <p:cNvPr id="54" name="Rounded Rectangle 53"/>
          <p:cNvSpPr/>
          <p:nvPr/>
        </p:nvSpPr>
        <p:spPr>
          <a:xfrm>
            <a:off x="374904" y="5426002"/>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5" name="TextBox 54"/>
          <p:cNvSpPr txBox="1"/>
          <p:nvPr/>
        </p:nvSpPr>
        <p:spPr>
          <a:xfrm>
            <a:off x="539496" y="5517442"/>
            <a:ext cx="11112703" cy="71876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Запрос держит каждый из двадцати-пятидесяти шагов до конца; у затравки меняется только старт.</a:t>
            </a:r>
          </a:p>
        </p:txBody>
      </p:sp>
      <p:sp>
        <p:nvSpPr>
          <p:cNvPr id="56" name="Rectangle 5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57" name="TextBox 5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HunyuanVideo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17" name="Rounded Rectangle 16"/>
          <p:cNvSpPr/>
          <p:nvPr/>
        </p:nvSpPr>
        <p:spPr>
          <a:xfrm>
            <a:off x="1920240"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19" name="Rounded Rectangle 18"/>
          <p:cNvSpPr/>
          <p:nvPr/>
        </p:nvSpPr>
        <p:spPr>
          <a:xfrm>
            <a:off x="6877659"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38033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410601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197456"/>
            <a:ext cx="11112703" cy="20387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02733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02733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02733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и то же ограничение, сказанное двумя языками: «память примерно на минуту» и «кэш, старые кадры вытесняются»</a:t>
            </a:r>
          </a:p>
        </p:txBody>
      </p:sp>
      <p:sp>
        <p:nvSpPr>
          <p:cNvPr id="16" name="Rounded Rectangle 15"/>
          <p:cNvSpPr/>
          <p:nvPr/>
        </p:nvSpPr>
        <p:spPr>
          <a:xfrm>
            <a:off x="9015755" y="1335024"/>
            <a:ext cx="2673019" cy="302733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TextBox 19"/>
          <p:cNvSpPr txBox="1"/>
          <p:nvPr/>
        </p:nvSpPr>
        <p:spPr>
          <a:xfrm>
            <a:off x="502920" y="4581816"/>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Смещение экспозиции</a:t>
            </a:r>
          </a:p>
        </p:txBody>
      </p:sp>
      <p:sp>
        <p:nvSpPr>
          <p:cNvPr id="21" name="Rounded Rectangle 20"/>
          <p:cNvSpPr/>
          <p:nvPr/>
        </p:nvSpPr>
        <p:spPr>
          <a:xfrm>
            <a:off x="1920240" y="4545240"/>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590960"/>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 обучении на входе истинный контекст</a:t>
            </a:r>
          </a:p>
        </p:txBody>
      </p:sp>
      <p:sp>
        <p:nvSpPr>
          <p:cNvPr id="23" name="Right Arrow 22"/>
          <p:cNvSpPr/>
          <p:nvPr/>
        </p:nvSpPr>
        <p:spPr>
          <a:xfrm>
            <a:off x="5039258" y="495200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4545240"/>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4590960"/>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 показе на входе собственный несовершенный выход</a:t>
            </a:r>
          </a:p>
        </p:txBody>
      </p:sp>
      <p:sp>
        <p:nvSpPr>
          <p:cNvPr id="26" name="Right Arrow 25"/>
          <p:cNvSpPr/>
          <p:nvPr/>
        </p:nvSpPr>
        <p:spPr>
          <a:xfrm>
            <a:off x="8386876" y="495200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4545240"/>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4590960"/>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Ошибка накапливается от кадра к кадру</a:t>
            </a:r>
          </a:p>
        </p:txBody>
      </p:sp>
      <p:sp>
        <p:nvSpPr>
          <p:cNvPr id="29" name="TextBox 28"/>
          <p:cNvSpPr txBox="1"/>
          <p:nvPr/>
        </p:nvSpPr>
        <p:spPr>
          <a:xfrm>
            <a:off x="502920" y="553250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объектное постоянство в интерактивном режиме — это размер окна, и свойством мира оно не является</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коэффициент −0,46 при значимости 0,249</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видео одной из систем труднее всего отличить от настоящих</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справляются с размазыванием краски и выливанием жидкости</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разрезанием мандарина</a:t>
            </a:r>
          </a:p>
        </p:txBody>
      </p:sp>
      <p:sp>
        <p:nvSpPr>
          <p:cNvPr id="12" name="Rectangle 11"/>
          <p:cNvSpPr/>
          <p:nvPr/>
        </p:nvSpPr>
        <p:spPr>
          <a:xfrm>
            <a:off x="754380" y="3745055"/>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383192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383192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110</a:t>
            </a:r>
          </a:p>
        </p:txBody>
      </p:sp>
      <p:sp>
        <p:nvSpPr>
          <p:cNvPr id="15" name="Rectangle 14"/>
          <p:cNvSpPr/>
          <p:nvPr/>
        </p:nvSpPr>
        <p:spPr>
          <a:xfrm>
            <a:off x="10235253" y="379534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463935" y="4051379"/>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100</a:t>
            </a:r>
          </a:p>
          <a:p>
            <a:pPr algn="ctr">
              <a:lnSpc>
                <a:spcPct val="110000"/>
              </a:lnSpc>
            </a:pPr>
            <a:r>
              <a:rPr sz="1200" b="0" i="0">
                <a:solidFill>
                  <a:srgbClr val="21295C"/>
                </a:solidFill>
                <a:latin typeface="Arial"/>
              </a:rPr>
              <a:t>Два дубля одной сцены</a:t>
            </a:r>
          </a:p>
        </p:txBody>
      </p:sp>
      <p:sp>
        <p:nvSpPr>
          <p:cNvPr id="17" name="Rectangle 16"/>
          <p:cNvSpPr/>
          <p:nvPr/>
        </p:nvSpPr>
        <p:spPr>
          <a:xfrm>
            <a:off x="3710788" y="3580463"/>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939471" y="3074081"/>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29,5</a:t>
            </a:r>
          </a:p>
          <a:p>
            <a:pPr algn="ctr">
              <a:lnSpc>
                <a:spcPct val="110000"/>
              </a:lnSpc>
            </a:pPr>
            <a:r>
              <a:rPr sz="1200" b="0" i="0">
                <a:solidFill>
                  <a:srgbClr val="21295C"/>
                </a:solidFill>
                <a:latin typeface="Arial"/>
              </a:rPr>
              <a:t>Лучшая из шести моделей</a:t>
            </a:r>
          </a:p>
        </p:txBody>
      </p:sp>
      <p:sp>
        <p:nvSpPr>
          <p:cNvPr id="19" name="TextBox 18"/>
          <p:cNvSpPr txBox="1"/>
          <p:nvPr/>
        </p:nvSpPr>
        <p:spPr>
          <a:xfrm>
            <a:off x="502920" y="457605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процентов от верхней планки · 396 видеозаписей, 66 сценариев, по три ракурса, по два дубля</a:t>
            </a:r>
          </a:p>
        </p:txBody>
      </p:sp>
      <p:sp>
        <p:nvSpPr>
          <p:cNvPr id="20" name="Rounded Rectangle 19"/>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Rounded Rectangle 20"/>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2" name="TextBox 21"/>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Правдоподобие и понимание расходятся. Приёмка «выглядит убедительно» в этой модальности не работает</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673019" cy="1716495"/>
          </a:xfrm>
          <a:prstGeom prst="roundRect">
            <a:avLst>
              <a:gd name="adj" fmla="val 1775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13 месяцев</a:t>
            </a:r>
          </a:p>
        </p:txBody>
      </p:sp>
      <p:sp>
        <p:nvSpPr>
          <p:cNvPr id="7" name="TextBox 6"/>
          <p:cNvSpPr txBox="1"/>
          <p:nvPr/>
        </p:nvSpPr>
        <p:spPr>
          <a:xfrm>
            <a:off x="640080"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выключен 22 октября 2026</a:t>
            </a:r>
          </a:p>
        </p:txBody>
      </p:sp>
      <p:sp>
        <p:nvSpPr>
          <p:cNvPr id="8" name="Rounded Rectangle 7"/>
          <p:cNvSpPr/>
          <p:nvPr/>
        </p:nvSpPr>
        <p:spPr>
          <a:xfrm>
            <a:off x="3340531" y="1335024"/>
            <a:ext cx="2673019" cy="1716495"/>
          </a:xfrm>
          <a:prstGeom prst="roundRect">
            <a:avLst>
              <a:gd name="adj" fmla="val 1775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ПО ПОКАЗАННОМУ ВМЕСТО ИЗМЕРЕННОГО</a:t>
            </a:r>
          </a:p>
        </p:txBody>
      </p:sp>
      <p:sp>
        <p:nvSpPr>
          <p:cNvPr id="10" name="TextBox 9"/>
          <p:cNvSpPr txBox="1"/>
          <p:nvPr/>
        </p:nvSpPr>
        <p:spPr>
          <a:xfrm>
            <a:off x="3477691" y="1932846"/>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остановлено расширение студии на 800 млн $</a:t>
            </a:r>
          </a:p>
        </p:txBody>
      </p:sp>
      <p:sp>
        <p:nvSpPr>
          <p:cNvPr id="11" name="TextBox 10"/>
          <p:cNvSpPr txBox="1"/>
          <p:nvPr/>
        </p:nvSpPr>
        <p:spPr>
          <a:xfrm>
            <a:off x="3477691" y="24447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 в феврале 2024, по первым примерам</a:t>
            </a:r>
          </a:p>
        </p:txBody>
      </p:sp>
      <p:sp>
        <p:nvSpPr>
          <p:cNvPr id="12" name="Rounded Rectangle 11"/>
          <p:cNvSpPr/>
          <p:nvPr/>
        </p:nvSpPr>
        <p:spPr>
          <a:xfrm>
            <a:off x="6178143" y="1335024"/>
            <a:ext cx="2673019" cy="1716495"/>
          </a:xfrm>
          <a:prstGeom prst="roundRect">
            <a:avLst>
              <a:gd name="adj" fmla="val 1775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6315303" y="1725375"/>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6315303" y="23730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 около миллиона; видео не было бесплатным</a:t>
            </a:r>
          </a:p>
        </p:txBody>
      </p:sp>
      <p:sp>
        <p:nvSpPr>
          <p:cNvPr id="16" name="Rounded Rectangle 15"/>
          <p:cNvSpPr/>
          <p:nvPr/>
        </p:nvSpPr>
        <p:spPr>
          <a:xfrm>
            <a:off x="9015755" y="1335024"/>
            <a:ext cx="2673019" cy="1716495"/>
          </a:xfrm>
          <a:prstGeom prst="roundRect">
            <a:avLst>
              <a:gd name="adj" fmla="val 1775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a:t>
            </a:r>
          </a:p>
        </p:txBody>
      </p:sp>
      <p:sp>
        <p:nvSpPr>
          <p:cNvPr id="18" name="TextBox 17"/>
          <p:cNvSpPr txBox="1"/>
          <p:nvPr/>
        </p:nvSpPr>
        <p:spPr>
          <a:xfrm>
            <a:off x="9152915" y="1725375"/>
            <a:ext cx="2398699"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9 мес. вместо 3 лет: сдвиг на год</a:t>
            </a:r>
          </a:p>
        </p:txBody>
      </p:sp>
      <p:sp>
        <p:nvSpPr>
          <p:cNvPr id="19" name="TextBox 18"/>
          <p:cNvSpPr txBox="1"/>
          <p:nvPr/>
        </p:nvSpPr>
        <p:spPr>
          <a:xfrm>
            <a:off x="9152915" y="249187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остался без партнёра; премьера — Q1 2027</a:t>
            </a:r>
          </a:p>
        </p:txBody>
      </p:sp>
      <p:sp>
        <p:nvSpPr>
          <p:cNvPr id="20" name="TextBox 19"/>
          <p:cNvSpPr txBox="1"/>
          <p:nvPr/>
        </p:nvSpPr>
        <p:spPr>
          <a:xfrm>
            <a:off x="502920" y="32709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1" name="Rounded Rectangle 20"/>
          <p:cNvSpPr/>
          <p:nvPr/>
        </p:nvSpPr>
        <p:spPr>
          <a:xfrm>
            <a:off x="1920240" y="323439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8011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3" name="Right Arrow 22"/>
          <p:cNvSpPr/>
          <p:nvPr/>
        </p:nvSpPr>
        <p:spPr>
          <a:xfrm>
            <a:off x="6713067" y="340351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23439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28011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26" name="TextBox 25"/>
          <p:cNvSpPr txBox="1"/>
          <p:nvPr/>
        </p:nvSpPr>
        <p:spPr>
          <a:xfrm>
            <a:off x="502920" y="389267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27" name="Rounded Rectangle 26"/>
          <p:cNvSpPr/>
          <p:nvPr/>
        </p:nvSpPr>
        <p:spPr>
          <a:xfrm>
            <a:off x="1920240" y="385609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390181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 2 поколение, приложение + обход вод. знака</a:t>
            </a:r>
          </a:p>
        </p:txBody>
      </p:sp>
      <p:sp>
        <p:nvSpPr>
          <p:cNvPr id="29" name="Right Arrow 28"/>
          <p:cNvSpPr/>
          <p:nvPr/>
        </p:nvSpPr>
        <p:spPr>
          <a:xfrm>
            <a:off x="6713067" y="4025213"/>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385609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390181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 $1 млрд / 3 года — против 3 профсоюза</a:t>
            </a:r>
          </a:p>
        </p:txBody>
      </p:sp>
      <p:sp>
        <p:nvSpPr>
          <p:cNvPr id="32" name="TextBox 31"/>
          <p:cNvSpPr txBox="1"/>
          <p:nvPr/>
        </p:nvSpPr>
        <p:spPr>
          <a:xfrm>
            <a:off x="502920" y="451436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33" name="Rounded Rectangle 32"/>
          <p:cNvSpPr/>
          <p:nvPr/>
        </p:nvSpPr>
        <p:spPr>
          <a:xfrm>
            <a:off x="1920240" y="447779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2351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сделка не состоялась</a:t>
            </a:r>
          </a:p>
        </p:txBody>
      </p:sp>
      <p:sp>
        <p:nvSpPr>
          <p:cNvPr id="35" name="Right Arrow 34"/>
          <p:cNvSpPr/>
          <p:nvPr/>
        </p:nvSpPr>
        <p:spPr>
          <a:xfrm>
            <a:off x="6713067" y="4646910"/>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6941667" y="447779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7023963" y="452351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 / 24 сент: закрыты приложение и доступ</a:t>
            </a:r>
          </a:p>
        </p:txBody>
      </p:sp>
      <p:sp>
        <p:nvSpPr>
          <p:cNvPr id="38" name="TextBox 37"/>
          <p:cNvSpPr txBox="1"/>
          <p:nvPr/>
        </p:nvSpPr>
        <p:spPr>
          <a:xfrm>
            <a:off x="502920" y="498976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39" name="Rounded Rectangle 38"/>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0" name="Rounded Rectangle 39"/>
          <p:cNvSpPr/>
          <p:nvPr/>
        </p:nvSpPr>
        <p:spPr>
          <a:xfrm>
            <a:off x="685800" y="5724144"/>
            <a:ext cx="150937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Парный ответ</a:t>
            </a:r>
          </a:p>
        </p:txBody>
      </p:sp>
      <p:sp>
        <p:nvSpPr>
          <p:cNvPr id="41" name="TextBox 40"/>
          <p:cNvSpPr txBox="1"/>
          <p:nvPr/>
        </p:nvSpPr>
        <p:spPr>
          <a:xfrm>
            <a:off x="2414633" y="5733761"/>
            <a:ext cx="9091262"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преемник назван, путь перехода дан</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сотни итеративных планов → пара десятков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ролик длиной 66 секунд — названо первоисточником, с именами студии и режиссёра</a:t>
            </a:r>
          </a:p>
        </p:txBody>
      </p:sp>
      <p:sp>
        <p:nvSpPr>
          <p:cNvPr id="8" name="Rounded Rectangle 7"/>
          <p:cNvSpPr/>
          <p:nvPr/>
        </p:nvSpPr>
        <p:spPr>
          <a:xfrm>
            <a:off x="1851660" y="2683657"/>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683657"/>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300</a:t>
            </a:r>
          </a:p>
        </p:txBody>
      </p:sp>
      <p:sp>
        <p:nvSpPr>
          <p:cNvPr id="10" name="TextBox 9"/>
          <p:cNvSpPr txBox="1"/>
          <p:nvPr/>
        </p:nvSpPr>
        <p:spPr>
          <a:xfrm>
            <a:off x="5440680" y="2683657"/>
            <a:ext cx="6248095"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исходного материала на один вошедший кадр — «Air Head», 2024</a:t>
            </a:r>
          </a:p>
        </p:txBody>
      </p:sp>
      <p:sp>
        <p:nvSpPr>
          <p:cNvPr id="11" name="Rectangle 10"/>
          <p:cNvSpPr/>
          <p:nvPr/>
        </p:nvSpPr>
        <p:spPr>
          <a:xfrm>
            <a:off x="502920" y="3543193"/>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754210"/>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Классический режим — база</a:t>
            </a:r>
          </a:p>
        </p:txBody>
      </p:sp>
      <p:sp>
        <p:nvSpPr>
          <p:cNvPr id="13" name="TextBox 12"/>
          <p:cNvSpPr txBox="1"/>
          <p:nvPr/>
        </p:nvSpPr>
        <p:spPr>
          <a:xfrm>
            <a:off x="5440680" y="3543193"/>
            <a:ext cx="6248095"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Классический режим — база</a:t>
            </a:r>
          </a:p>
          <a:p>
            <a:pPr algn="l">
              <a:lnSpc>
                <a:spcPct val="116000"/>
              </a:lnSpc>
              <a:spcBef>
                <a:spcPts val="400"/>
              </a:spcBef>
            </a:pPr>
            <a:r>
              <a:rPr sz="1350" b="0" i="0">
                <a:solidFill>
                  <a:srgbClr val="21295C"/>
                </a:solidFill>
                <a:latin typeface="Arial"/>
              </a:rPr>
              <a:t>десятки к одному в документалистике, около десяти в рекламе</a:t>
            </a:r>
          </a:p>
        </p:txBody>
      </p:sp>
      <p:sp>
        <p:nvSpPr>
          <p:cNvPr id="14" name="Rectangle 13"/>
          <p:cNvSpPr/>
          <p:nvPr/>
        </p:nvSpPr>
        <p:spPr>
          <a:xfrm>
            <a:off x="2103120" y="4302145"/>
            <a:ext cx="1371600" cy="728703"/>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411873"/>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302145"/>
            <a:ext cx="6248095" cy="728703"/>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350" b="0" i="0">
                <a:solidFill>
                  <a:srgbClr val="21295C"/>
                </a:solidFill>
                <a:latin typeface="Arial"/>
              </a:rPr>
              <a:t>модель увеличила отбор на порядок-полтора против того, чему подражает</a:t>
            </a:r>
          </a:p>
        </p:txBody>
      </p:sp>
      <p:sp>
        <p:nvSpPr>
          <p:cNvPr id="17" name="Rounded Rectangle 16"/>
          <p:cNvSpPr/>
          <p:nvPr/>
        </p:nvSpPr>
        <p:spPr>
          <a:xfrm>
            <a:off x="1851660" y="5213729"/>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213729"/>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a:t>
            </a:r>
          </a:p>
        </p:txBody>
      </p:sp>
      <p:sp>
        <p:nvSpPr>
          <p:cNvPr id="19" name="TextBox 18"/>
          <p:cNvSpPr txBox="1"/>
          <p:nvPr/>
        </p:nvSpPr>
        <p:spPr>
          <a:xfrm>
            <a:off x="5440680" y="5213729"/>
            <a:ext cx="6248095"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кадр, вошедший в монтаж</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172252"/>
          </a:xfrm>
          <a:prstGeom prst="roundRect">
            <a:avLst>
              <a:gd name="adj" fmla="val 9608"/>
            </a:avLst>
          </a:prstGeom>
          <a:solidFill>
            <a:srgbClr val="F4F7FA"/>
          </a:solidFill>
          <a:ln w="19050">
            <a:solidFill>
              <a:srgbClr val="1C7293"/>
            </a:solidFill>
          </a:ln>
          <a:effectLst/>
        </p:spPr>
        <p:txBody>
          <a:bodyPr rtlCol="0" anchor="ctr"/>
          <a:lstStyle/>
          <a:p>
            <a:pPr algn="ctr"/>
          </a:p>
        </p:txBody>
      </p:sp>
      <p:pic>
        <p:nvPicPr>
          <p:cNvPr id="5" name="Picture 4" descr="s67-sphere-vegas.jpg"/>
          <p:cNvPicPr>
            <a:picLocks noChangeAspect="1"/>
          </p:cNvPicPr>
          <p:nvPr/>
        </p:nvPicPr>
        <p:blipFill>
          <a:blip r:embed="rId2"/>
          <a:stretch>
            <a:fillRect/>
          </a:stretch>
        </p:blipFill>
        <p:spPr>
          <a:xfrm>
            <a:off x="6949440" y="1051560"/>
            <a:ext cx="4602175" cy="2897932"/>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4. Трёхмерная сцена и реальное время</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9" name="TextBox 8"/>
          <p:cNvSpPr txBox="1"/>
          <p:nvPr/>
        </p:nvSpPr>
        <p:spPr>
          <a:xfrm>
            <a:off x="704088" y="3951835"/>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10" name="TextBox 9"/>
          <p:cNvSpPr txBox="1"/>
          <p:nvPr/>
        </p:nvSpPr>
        <p:spPr>
          <a:xfrm>
            <a:off x="704088" y="5022699"/>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РЕАЛЬНОМ ВРЕМЕНИ</a:t>
            </a:r>
          </a:p>
        </p:txBody>
      </p:sp>
      <p:sp>
        <p:nvSpPr>
          <p:cNvPr id="6" name="TextBox 5"/>
          <p:cNvSpPr txBox="1"/>
          <p:nvPr/>
        </p:nvSpPr>
        <p:spPr>
          <a:xfrm>
            <a:off x="640080" y="2140317"/>
            <a:ext cx="1621186"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16,7 миллисекунды</a:t>
            </a:r>
          </a:p>
        </p:txBody>
      </p:sp>
      <p:sp>
        <p:nvSpPr>
          <p:cNvPr id="7" name="TextBox 6"/>
          <p:cNvSpPr txBox="1"/>
          <p:nvPr/>
        </p:nvSpPr>
        <p:spPr>
          <a:xfrm>
            <a:off x="640080" y="2737066"/>
            <a:ext cx="162118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2563018"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0178" y="1472184"/>
            <a:ext cx="162118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КИНО</a:t>
            </a:r>
          </a:p>
        </p:txBody>
      </p:sp>
      <p:sp>
        <p:nvSpPr>
          <p:cNvPr id="10" name="TextBox 9"/>
          <p:cNvSpPr txBox="1"/>
          <p:nvPr/>
        </p:nvSpPr>
        <p:spPr>
          <a:xfrm>
            <a:off x="2700178" y="1932846"/>
            <a:ext cx="162118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2700178" y="2750268"/>
            <a:ext cx="1621186"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4623117" y="1335024"/>
            <a:ext cx="1895506" cy="3017906"/>
          </a:xfrm>
          <a:prstGeom prst="roundRect">
            <a:avLst>
              <a:gd name="adj" fmla="val 1608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0277"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ДВУМЯ БЮДЖЕТАМИ</a:t>
            </a:r>
          </a:p>
        </p:txBody>
      </p:sp>
      <p:sp>
        <p:nvSpPr>
          <p:cNvPr id="14" name="TextBox 13"/>
          <p:cNvSpPr txBox="1"/>
          <p:nvPr/>
        </p:nvSpPr>
        <p:spPr>
          <a:xfrm>
            <a:off x="4760277" y="2140317"/>
            <a:ext cx="1621186" cy="698597"/>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четыре-пять порядков</a:t>
            </a:r>
          </a:p>
        </p:txBody>
      </p:sp>
      <p:sp>
        <p:nvSpPr>
          <p:cNvPr id="15" name="TextBox 14"/>
          <p:cNvSpPr txBox="1"/>
          <p:nvPr/>
        </p:nvSpPr>
        <p:spPr>
          <a:xfrm>
            <a:off x="4760277" y="2838915"/>
            <a:ext cx="162118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он и определяет всё остальное устройство конвейера</a:t>
            </a:r>
          </a:p>
        </p:txBody>
      </p:sp>
      <p:sp>
        <p:nvSpPr>
          <p:cNvPr id="16" name="Rounded Rectangle 15"/>
          <p:cNvSpPr/>
          <p:nvPr/>
        </p:nvSpPr>
        <p:spPr>
          <a:xfrm>
            <a:off x="374904" y="4444370"/>
            <a:ext cx="6271736" cy="1462564"/>
          </a:xfrm>
          <a:prstGeom prst="roundRect">
            <a:avLst>
              <a:gd name="adj" fmla="val 208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35810"/>
            <a:ext cx="5942552" cy="170039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Отрасль держит под словом «трёхмерная графика» три разные вещи:</a:t>
            </a:r>
            <a:r>
              <a:rPr sz="1500" b="0" i="0">
                <a:solidFill>
                  <a:srgbClr val="21295C"/>
                </a:solidFill>
                <a:latin typeface="Arial"/>
              </a:rPr>
              <a:t> ассет, сцену и бюджет на кадр. Решение стадии — утвердить форму до того, как в неё вложатся анимация, расчёт ткани и свет.</a:t>
            </a:r>
          </a:p>
        </p:txBody>
      </p:sp>
      <p:sp>
        <p:nvSpPr>
          <p:cNvPr id="18" name="Rounded Rectangle 17"/>
          <p:cNvSpPr/>
          <p:nvPr/>
        </p:nvSpPr>
        <p:spPr>
          <a:xfrm>
            <a:off x="6829520" y="1335024"/>
            <a:ext cx="4859254"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9" name="Picture 18" descr="s68-3d-model-stages.png"/>
          <p:cNvPicPr>
            <a:picLocks noChangeAspect="1"/>
          </p:cNvPicPr>
          <p:nvPr/>
        </p:nvPicPr>
        <p:blipFill>
          <a:blip r:embed="rId2"/>
          <a:stretch>
            <a:fillRect/>
          </a:stretch>
        </p:blipFill>
        <p:spPr>
          <a:xfrm>
            <a:off x="6966680" y="1472184"/>
            <a:ext cx="4584934"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от запроса к результату: трёхмерная сцена</a:t>
            </a:r>
          </a:p>
        </p:txBody>
      </p:sp>
      <p:sp>
        <p:nvSpPr>
          <p:cNvPr id="4" name="Rounded Rectangle 3"/>
          <p:cNvSpPr/>
          <p:nvPr/>
        </p:nvSpPr>
        <p:spPr>
          <a:xfrm>
            <a:off x="502920" y="1335024"/>
            <a:ext cx="2673019" cy="2143698"/>
          </a:xfrm>
          <a:prstGeom prst="roundRect">
            <a:avLst>
              <a:gd name="adj" fmla="val 142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ПОВТОРОВ ШАГА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15 000 (текст) · 30 000 (снимки)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оптимизация с нуля на объект — не расшумление готовой модели</a:t>
            </a:r>
          </a:p>
        </p:txBody>
      </p:sp>
      <p:sp>
        <p:nvSpPr>
          <p:cNvPr id="8" name="Rounded Rectangle 7"/>
          <p:cNvSpPr/>
          <p:nvPr/>
        </p:nvSpPr>
        <p:spPr>
          <a:xfrm>
            <a:off x="3340531" y="1335024"/>
            <a:ext cx="2673019" cy="2143698"/>
          </a:xfrm>
          <a:prstGeom prst="roundRect">
            <a:avLst>
              <a:gd name="adj" fmla="val 142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УЧАСТВУЕТ ЗАПРОС</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каждом из всех повторов</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судья или сравнение со снимком держат каждый шаг, не только старт</a:t>
            </a:r>
          </a:p>
        </p:txBody>
      </p:sp>
      <p:sp>
        <p:nvSpPr>
          <p:cNvPr id="12" name="Rounded Rectangle 11"/>
          <p:cNvSpPr/>
          <p:nvPr/>
        </p:nvSpPr>
        <p:spPr>
          <a:xfrm>
            <a:off x="6178143" y="1335024"/>
            <a:ext cx="2673019" cy="2143698"/>
          </a:xfrm>
          <a:prstGeom prst="roundRect">
            <a:avLst>
              <a:gd name="adj" fmla="val 1421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МЕНЯЕТСЯ / ЧТО ОСТАЁТСЯ</a:t>
            </a:r>
          </a:p>
        </p:txBody>
      </p:sp>
      <p:sp>
        <p:nvSpPr>
          <p:cNvPr id="14" name="TextBox 13"/>
          <p:cNvSpPr txBox="1"/>
          <p:nvPr/>
        </p:nvSpPr>
        <p:spPr>
          <a:xfrm>
            <a:off x="6315303" y="1932846"/>
            <a:ext cx="2398699"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параметры поля или гауссиан — каждый шаг; представление — нет</a:t>
            </a:r>
          </a:p>
        </p:txBody>
      </p:sp>
      <p:sp>
        <p:nvSpPr>
          <p:cNvPr id="15" name="TextBox 14"/>
          <p:cNvSpPr txBox="1"/>
          <p:nvPr/>
        </p:nvSpPr>
        <p:spPr>
          <a:xfrm>
            <a:off x="6315303" y="270783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число гауссиан тоже меняется: клонируются, делятся, удаляются</a:t>
            </a:r>
          </a:p>
        </p:txBody>
      </p:sp>
      <p:sp>
        <p:nvSpPr>
          <p:cNvPr id="16" name="Rounded Rectangle 15"/>
          <p:cNvSpPr/>
          <p:nvPr/>
        </p:nvSpPr>
        <p:spPr>
          <a:xfrm>
            <a:off x="9015755" y="1335024"/>
            <a:ext cx="2673019" cy="2143698"/>
          </a:xfrm>
          <a:prstGeom prst="roundRect">
            <a:avLst>
              <a:gd name="adj" fmla="val 1421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УЗКОЕ МЕСТО</a:t>
            </a:r>
          </a:p>
        </p:txBody>
      </p:sp>
      <p:sp>
        <p:nvSpPr>
          <p:cNvPr id="18" name="TextBox 17"/>
          <p:cNvSpPr txBox="1"/>
          <p:nvPr/>
        </p:nvSpPr>
        <p:spPr>
          <a:xfrm>
            <a:off x="9152915" y="1725375"/>
            <a:ext cx="2398699" cy="825909"/>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на три-четыре порядка больше повторов, чем у готовой модели</a:t>
            </a:r>
          </a:p>
        </p:txBody>
      </p:sp>
      <p:sp>
        <p:nvSpPr>
          <p:cNvPr id="19" name="TextBox 18"/>
          <p:cNvSpPr txBox="1"/>
          <p:nvPr/>
        </p:nvSpPr>
        <p:spPr>
          <a:xfrm>
            <a:off x="9152915" y="255128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нет общего приора: каждый объект учится заново, а не расшумляется за 20–50 шагов</a:t>
            </a:r>
          </a:p>
        </p:txBody>
      </p:sp>
      <p:sp>
        <p:nvSpPr>
          <p:cNvPr id="20" name="TextBox 19"/>
          <p:cNvSpPr txBox="1"/>
          <p:nvPr/>
        </p:nvSpPr>
        <p:spPr>
          <a:xfrm>
            <a:off x="502920" y="3698178"/>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Текст</a:t>
            </a:r>
          </a:p>
        </p:txBody>
      </p:sp>
      <p:sp>
        <p:nvSpPr>
          <p:cNvPr id="21" name="Rounded Rectangle 20"/>
          <p:cNvSpPr/>
          <p:nvPr/>
        </p:nvSpPr>
        <p:spPr>
          <a:xfrm>
            <a:off x="3538728" y="3661602"/>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3630168" y="368903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3712464" y="373475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модель-судья, не меняется</a:t>
            </a:r>
          </a:p>
        </p:txBody>
      </p:sp>
      <p:sp>
        <p:nvSpPr>
          <p:cNvPr id="24" name="Right Arrow 23"/>
          <p:cNvSpPr/>
          <p:nvPr/>
        </p:nvSpPr>
        <p:spPr>
          <a:xfrm>
            <a:off x="5011597" y="400481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331637" y="368903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5413933" y="373475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старт: случайное поле</a:t>
            </a:r>
          </a:p>
        </p:txBody>
      </p:sp>
      <p:sp>
        <p:nvSpPr>
          <p:cNvPr id="27" name="Right Arrow 26"/>
          <p:cNvSpPr/>
          <p:nvPr/>
        </p:nvSpPr>
        <p:spPr>
          <a:xfrm>
            <a:off x="6713067" y="400481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7033107" y="368903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7115403" y="373475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отрисовка → оценка судьёй → шаг ×15 000</a:t>
            </a:r>
          </a:p>
        </p:txBody>
      </p:sp>
      <p:sp>
        <p:nvSpPr>
          <p:cNvPr id="30" name="Right Arrow 29"/>
          <p:cNvSpPr/>
          <p:nvPr/>
        </p:nvSpPr>
        <p:spPr>
          <a:xfrm>
            <a:off x="8414537" y="4004812"/>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734577" y="368903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8816873" y="373475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сетка из поля</a:t>
            </a:r>
          </a:p>
        </p:txBody>
      </p:sp>
      <p:sp>
        <p:nvSpPr>
          <p:cNvPr id="33" name="TextBox 32"/>
          <p:cNvSpPr txBox="1"/>
          <p:nvPr/>
        </p:nvSpPr>
        <p:spPr>
          <a:xfrm>
            <a:off x="502920" y="4631487"/>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Снимки объекта</a:t>
            </a:r>
          </a:p>
        </p:txBody>
      </p:sp>
      <p:sp>
        <p:nvSpPr>
          <p:cNvPr id="34" name="Rounded Rectangle 33"/>
          <p:cNvSpPr/>
          <p:nvPr/>
        </p:nvSpPr>
        <p:spPr>
          <a:xfrm>
            <a:off x="3538728" y="4594911"/>
            <a:ext cx="6622999"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5" name="Rounded Rectangle 34"/>
          <p:cNvSpPr/>
          <p:nvPr/>
        </p:nvSpPr>
        <p:spPr>
          <a:xfrm>
            <a:off x="3630168" y="4622343"/>
            <a:ext cx="1335709"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3712464" y="4668063"/>
            <a:ext cx="1171117"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калибровка камер → облако точек</a:t>
            </a:r>
          </a:p>
        </p:txBody>
      </p:sp>
      <p:sp>
        <p:nvSpPr>
          <p:cNvPr id="37" name="Right Arrow 36"/>
          <p:cNvSpPr/>
          <p:nvPr/>
        </p:nvSpPr>
        <p:spPr>
          <a:xfrm>
            <a:off x="5011597" y="5041858"/>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5331637" y="4622343"/>
            <a:ext cx="1335709"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5413933" y="4668063"/>
            <a:ext cx="1171117"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старт: гауссианы из облака</a:t>
            </a:r>
          </a:p>
        </p:txBody>
      </p:sp>
      <p:sp>
        <p:nvSpPr>
          <p:cNvPr id="40" name="Right Arrow 39"/>
          <p:cNvSpPr/>
          <p:nvPr/>
        </p:nvSpPr>
        <p:spPr>
          <a:xfrm>
            <a:off x="6713067" y="5041858"/>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7033107" y="4622343"/>
            <a:ext cx="1335709"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2" name="TextBox 41"/>
          <p:cNvSpPr txBox="1"/>
          <p:nvPr/>
        </p:nvSpPr>
        <p:spPr>
          <a:xfrm>
            <a:off x="7115403" y="4668063"/>
            <a:ext cx="1171117"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отрисовка → сравнение со снимком → шаг ×30 000</a:t>
            </a:r>
          </a:p>
        </p:txBody>
      </p:sp>
      <p:sp>
        <p:nvSpPr>
          <p:cNvPr id="43" name="Right Arrow 42"/>
          <p:cNvSpPr/>
          <p:nvPr/>
        </p:nvSpPr>
        <p:spPr>
          <a:xfrm>
            <a:off x="8414537" y="5041858"/>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8734577" y="4622343"/>
            <a:ext cx="1335709"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5" name="TextBox 44"/>
          <p:cNvSpPr txBox="1"/>
          <p:nvPr/>
        </p:nvSpPr>
        <p:spPr>
          <a:xfrm>
            <a:off x="8816873" y="4668063"/>
            <a:ext cx="1171117"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сетка из гауссиан</a:t>
            </a:r>
          </a:p>
        </p:txBody>
      </p:sp>
      <p:sp>
        <p:nvSpPr>
          <p:cNvPr id="46" name="Rounded Rectangle 45"/>
          <p:cNvSpPr/>
          <p:nvPr/>
        </p:nvSpPr>
        <p:spPr>
          <a:xfrm>
            <a:off x="2011680" y="3661602"/>
            <a:ext cx="1325880" cy="1964362"/>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47" name="TextBox 46"/>
          <p:cNvSpPr txBox="1"/>
          <p:nvPr/>
        </p:nvSpPr>
        <p:spPr>
          <a:xfrm>
            <a:off x="2084832" y="3707322"/>
            <a:ext cx="1179576" cy="1872922"/>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ЗАПРОС</a:t>
            </a:r>
          </a:p>
        </p:txBody>
      </p:sp>
      <p:sp>
        <p:nvSpPr>
          <p:cNvPr id="48" name="Rectangle 47"/>
          <p:cNvSpPr/>
          <p:nvPr/>
        </p:nvSpPr>
        <p:spPr>
          <a:xfrm>
            <a:off x="3337560" y="4057390"/>
            <a:ext cx="201168" cy="32004"/>
          </a:xfrm>
          <a:prstGeom prst="rect">
            <a:avLst/>
          </a:prstGeom>
          <a:solidFill>
            <a:srgbClr val="1C7293"/>
          </a:solidFill>
          <a:ln>
            <a:noFill/>
          </a:ln>
          <a:effectLst/>
        </p:spPr>
        <p:txBody>
          <a:bodyPr rtlCol="0" anchor="ctr"/>
          <a:lstStyle/>
          <a:p>
            <a:pPr algn="ctr"/>
          </a:p>
        </p:txBody>
      </p:sp>
      <p:sp>
        <p:nvSpPr>
          <p:cNvPr id="49" name="Rectangle 48"/>
          <p:cNvSpPr/>
          <p:nvPr/>
        </p:nvSpPr>
        <p:spPr>
          <a:xfrm>
            <a:off x="3337560" y="5094436"/>
            <a:ext cx="201168" cy="32004"/>
          </a:xfrm>
          <a:prstGeom prst="rect">
            <a:avLst/>
          </a:prstGeom>
          <a:solidFill>
            <a:srgbClr val="1C7293"/>
          </a:solidFill>
          <a:ln>
            <a:noFill/>
          </a:ln>
          <a:effectLst/>
        </p:spPr>
        <p:txBody>
          <a:bodyPr rtlCol="0" anchor="ctr"/>
          <a:lstStyle/>
          <a:p>
            <a:pPr algn="ctr"/>
          </a:p>
        </p:txBody>
      </p:sp>
      <p:sp>
        <p:nvSpPr>
          <p:cNvPr id="50" name="Rounded Rectangle 49"/>
          <p:cNvSpPr/>
          <p:nvPr/>
        </p:nvSpPr>
        <p:spPr>
          <a:xfrm>
            <a:off x="10362895" y="3661602"/>
            <a:ext cx="1325880" cy="1964362"/>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51" name="TextBox 50"/>
          <p:cNvSpPr txBox="1"/>
          <p:nvPr/>
        </p:nvSpPr>
        <p:spPr>
          <a:xfrm>
            <a:off x="10436047" y="3707322"/>
            <a:ext cx="1179576" cy="1872922"/>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РЕЗУЛЬТАТ</a:t>
            </a:r>
          </a:p>
        </p:txBody>
      </p:sp>
      <p:sp>
        <p:nvSpPr>
          <p:cNvPr id="52" name="Rectangle 51"/>
          <p:cNvSpPr/>
          <p:nvPr/>
        </p:nvSpPr>
        <p:spPr>
          <a:xfrm>
            <a:off x="10161727" y="4057390"/>
            <a:ext cx="201168" cy="32004"/>
          </a:xfrm>
          <a:prstGeom prst="rect">
            <a:avLst/>
          </a:prstGeom>
          <a:solidFill>
            <a:srgbClr val="1C7293"/>
          </a:solidFill>
          <a:ln>
            <a:noFill/>
          </a:ln>
          <a:effectLst/>
        </p:spPr>
        <p:txBody>
          <a:bodyPr rtlCol="0" anchor="ctr"/>
          <a:lstStyle/>
          <a:p>
            <a:pPr algn="ctr"/>
          </a:p>
        </p:txBody>
      </p:sp>
      <p:sp>
        <p:nvSpPr>
          <p:cNvPr id="53" name="Rectangle 52"/>
          <p:cNvSpPr/>
          <p:nvPr/>
        </p:nvSpPr>
        <p:spPr>
          <a:xfrm>
            <a:off x="10161727" y="5094436"/>
            <a:ext cx="201168" cy="32004"/>
          </a:xfrm>
          <a:prstGeom prst="rect">
            <a:avLst/>
          </a:prstGeom>
          <a:solidFill>
            <a:srgbClr val="1C7293"/>
          </a:solidFill>
          <a:ln>
            <a:noFill/>
          </a:ln>
          <a:effectLst/>
        </p:spPr>
        <p:txBody>
          <a:bodyPr rtlCol="0" anchor="ctr"/>
          <a:lstStyle/>
          <a:p>
            <a:pPr algn="ctr"/>
          </a:p>
        </p:txBody>
      </p:sp>
      <p:sp>
        <p:nvSpPr>
          <p:cNvPr id="54" name="Rounded Rectangle 53"/>
          <p:cNvSpPr/>
          <p:nvPr/>
        </p:nvSpPr>
        <p:spPr>
          <a:xfrm>
            <a:off x="374904" y="5717404"/>
            <a:ext cx="11441887" cy="5188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5" name="TextBox 54"/>
          <p:cNvSpPr txBox="1"/>
          <p:nvPr/>
        </p:nvSpPr>
        <p:spPr>
          <a:xfrm>
            <a:off x="539496" y="5808844"/>
            <a:ext cx="11112703" cy="42736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Судья или снимок держит каждый шаг оптимизации — и шагов на три-четыре порядка больше, чем в готовой диффузионной модели.</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7" name="TextBox 5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Jain, Barron, Mildenhall, 2022, Kerbl, Kopanas, Leimkühler, Drettakis, SIGGRAPH 2023</a:t>
            </a:r>
            <a:r>
              <a:rPr sz="1200" b="0" i="1">
                <a:solidFill>
                  <a:srgbClr val="1C7293"/>
                </a:solidFill>
                <a:latin typeface="Arial"/>
              </a:rPr>
              <a:t> · </a:t>
            </a:r>
            <a:r>
              <a:rPr sz="1200" b="0" i="1" u="sng">
                <a:solidFill>
                  <a:srgbClr val="065A82"/>
                </a:solidFill>
                <a:latin typeface="Arial"/>
                <a:hlinkClick r:id="rId3"/>
              </a:rPr>
              <a:t>arxiv.org/abs/2308.04079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конвейер ассета: что тронула модель</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ПОЛУЧАЮТ ДАННЫЕ О РЕАЛЬНОМ ОБЪЕКТЕ</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фотограмметрия · лазерное сканирование · ручное моделирование · захват движения · готовые библиотеки</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изменений; модель добавила шестой — текст</a:t>
            </a:r>
          </a:p>
        </p:txBody>
      </p:sp>
      <p:sp>
        <p:nvSpPr>
          <p:cNvPr id="8" name="Rounded Rectangle 7"/>
          <p:cNvSpPr/>
          <p:nvPr/>
        </p:nvSpPr>
        <p:spPr>
          <a:xfrm>
            <a:off x="502920" y="3074081"/>
            <a:ext cx="11185855" cy="3128274"/>
          </a:xfrm>
          <a:prstGeom prst="roundRect">
            <a:avLst>
              <a:gd name="adj" fmla="val 974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777240" y="3348401"/>
            <a:ext cx="10637215" cy="1539059"/>
          </a:xfrm>
          <a:prstGeom prst="rect">
            <a:avLst/>
          </a:prstGeom>
          <a:noFill/>
        </p:spPr>
        <p:txBody>
          <a:bodyPr wrap="square" lIns="0" rIns="0" tIns="0" bIns="0" anchor="t">
            <a:spAutoFit/>
          </a:bodyPr>
          <a:lstStyle/>
          <a:p>
            <a:pPr algn="ctr">
              <a:lnSpc>
                <a:spcPct val="102000"/>
              </a:lnSpc>
            </a:pPr>
            <a:r>
              <a:rPr sz="9600" b="1" i="0">
                <a:solidFill>
                  <a:srgbClr val="21295C"/>
                </a:solidFill>
                <a:latin typeface="Arial"/>
              </a:rPr>
              <a:t>2 из 9</a:t>
            </a:r>
          </a:p>
        </p:txBody>
      </p:sp>
      <p:sp>
        <p:nvSpPr>
          <p:cNvPr id="10" name="Rectangle 9"/>
          <p:cNvSpPr/>
          <p:nvPr/>
        </p:nvSpPr>
        <p:spPr>
          <a:xfrm>
            <a:off x="5364327" y="5106916"/>
            <a:ext cx="1463040" cy="68580"/>
          </a:xfrm>
          <a:prstGeom prst="rect">
            <a:avLst/>
          </a:prstGeom>
          <a:solidFill>
            <a:srgbClr val="F0AB00"/>
          </a:solidFill>
          <a:ln>
            <a:noFill/>
          </a:ln>
          <a:effectLst/>
        </p:spPr>
        <p:txBody>
          <a:bodyPr rtlCol="0" anchor="ctr"/>
          <a:lstStyle/>
          <a:p>
            <a:pPr algn="ctr"/>
          </a:p>
        </p:txBody>
      </p:sp>
      <p:sp>
        <p:nvSpPr>
          <p:cNvPr id="11" name="TextBox 10"/>
          <p:cNvSpPr txBox="1"/>
          <p:nvPr/>
        </p:nvSpPr>
        <p:spPr>
          <a:xfrm>
            <a:off x="777240" y="5285224"/>
            <a:ext cx="10637215" cy="291717"/>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стадий конвейера ассета тронула модель — концепт (эскиз) и блокинг (черновая форма)</a:t>
            </a:r>
          </a:p>
        </p:txBody>
      </p:sp>
      <p:sp>
        <p:nvSpPr>
          <p:cNvPr id="12" name="TextBox 11"/>
          <p:cNvSpPr txBox="1"/>
          <p:nvPr/>
        </p:nvSpPr>
        <p:spPr>
          <a:xfrm>
            <a:off x="777240" y="5668381"/>
            <a:ext cx="10637215" cy="259653"/>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против семи нетронутых — ретопология (чистая сетка), риггинг (скелет и привязка), рендер и другие</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ИСХОДНЫЙ МАТЕРИАЛ</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плёнка 1939 года, кадр 4:3</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разбора</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ТРОНУТО МОДЕЛЬЮ</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свыше 90% кадра</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достроено по сторонам до сферического экрана</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ПРОДАНО БИЛЕТОВ, АВГУСТ 2025 — НАЧАЛО 2026</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6315303"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фильм 1939 года доступен к просмотру где угодно и бесплатно — платят за формат показа</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ОБОИХ КЛАССИЧЕСКИХ РЕЖИМОВ</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19" name="TextBox 18"/>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правообладатель, ни технологический партнёр, ни площадка цифр не раскрывали</a:t>
            </a:r>
          </a:p>
        </p:txBody>
      </p:sp>
      <p:sp>
        <p:nvSpPr>
          <p:cNvPr id="20" name="TextBox 19"/>
          <p:cNvSpPr txBox="1"/>
          <p:nvPr/>
        </p:nvSpPr>
        <p:spPr>
          <a:xfrm>
            <a:off x="502920" y="3740615"/>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Классические режимы</a:t>
            </a:r>
          </a:p>
        </p:txBody>
      </p:sp>
      <p:sp>
        <p:nvSpPr>
          <p:cNvPr id="21" name="Rounded Rectangle 20"/>
          <p:cNvSpPr/>
          <p:nvPr/>
        </p:nvSpPr>
        <p:spPr>
          <a:xfrm>
            <a:off x="2011680" y="370403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731471"/>
            <a:ext cx="4564227"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777191"/>
            <a:ext cx="4399635"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реставрация и доработка под купол обычным путём, числа нет</a:t>
            </a:r>
          </a:p>
        </p:txBody>
      </p:sp>
      <p:sp>
        <p:nvSpPr>
          <p:cNvPr id="24" name="Right Arrow 23"/>
          <p:cNvSpPr/>
          <p:nvPr/>
        </p:nvSpPr>
        <p:spPr>
          <a:xfrm>
            <a:off x="6713067" y="396944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3731471"/>
            <a:ext cx="4564227"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3777191"/>
            <a:ext cx="4399635"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показ 4:3 без достройки — рассмотрен и отвергнут, числа тоже нет</a:t>
            </a:r>
          </a:p>
        </p:txBody>
      </p:sp>
      <p:sp>
        <p:nvSpPr>
          <p:cNvPr id="27" name="TextBox 26"/>
          <p:cNvSpPr txBox="1"/>
          <p:nvPr/>
        </p:nvSpPr>
        <p:spPr>
          <a:xfrm>
            <a:off x="502920" y="4518321"/>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сделано</a:t>
            </a:r>
          </a:p>
        </p:txBody>
      </p:sp>
      <p:sp>
        <p:nvSpPr>
          <p:cNvPr id="28" name="Rounded Rectangle 27"/>
          <p:cNvSpPr/>
          <p:nvPr/>
        </p:nvSpPr>
        <p:spPr>
          <a:xfrm>
            <a:off x="2011680" y="4481745"/>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9" name="Rounded Rectangle 28"/>
          <p:cNvSpPr/>
          <p:nvPr/>
        </p:nvSpPr>
        <p:spPr>
          <a:xfrm>
            <a:off x="2103120" y="4509177"/>
            <a:ext cx="4564227"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2185416" y="4554897"/>
            <a:ext cx="4399635"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1939 года, достройка — Imagen, Veo, Gemini</a:t>
            </a:r>
          </a:p>
        </p:txBody>
      </p:sp>
      <p:sp>
        <p:nvSpPr>
          <p:cNvPr id="31" name="Right Arrow 30"/>
          <p:cNvSpPr/>
          <p:nvPr/>
        </p:nvSpPr>
        <p:spPr>
          <a:xfrm>
            <a:off x="6713067" y="47471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4509177"/>
            <a:ext cx="4564227"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4554897"/>
            <a:ext cx="4399635"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разрешение — Topaz Video AI; права — Warner Bros.</a:t>
            </a:r>
          </a:p>
        </p:txBody>
      </p:sp>
      <p:sp>
        <p:nvSpPr>
          <p:cNvPr id="34" name="TextBox 33"/>
          <p:cNvSpPr txBox="1"/>
          <p:nvPr/>
        </p:nvSpPr>
        <p:spPr>
          <a:xfrm>
            <a:off x="502920" y="522287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классических режима названы, ни один не посчитан — выигрыш не объявляется вовсе</a:t>
            </a:r>
          </a:p>
        </p:txBody>
      </p:sp>
      <p:sp>
        <p:nvSpPr>
          <p:cNvPr id="35" name="Rounded Rectangle 34"/>
          <p:cNvSpPr/>
          <p:nvPr/>
        </p:nvSpPr>
        <p:spPr>
          <a:xfrm>
            <a:off x="374904" y="5529331"/>
            <a:ext cx="11441887" cy="706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620771"/>
            <a:ext cx="11112703" cy="6154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реставрация в духе Скорсезе» — так говорят сами авторы.</a:t>
            </a:r>
            <a:r>
              <a:rPr sz="1500" b="0" i="0">
                <a:solidFill>
                  <a:srgbClr val="21295C"/>
                </a:solidFill>
                <a:latin typeface="Arial"/>
              </a:rPr>
              <a:t> Выигрыш не объявляется вовсе: оба классических режима названы, ни у одного нет цены.</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Sphere Entertainment и Warner Bros., заявления о проекте 2025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СВЕТОДИОДНАЯ СТЕНА STAGECRAFT, ОКТЯБРЬ 2019</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1 326 панелей, дуга 270°</a:t>
            </a:r>
          </a:p>
        </p:txBody>
      </p:sp>
      <p:sp>
        <p:nvSpPr>
          <p:cNvPr id="7" name="TextBox 6"/>
          <p:cNvSpPr txBox="1"/>
          <p:nvPr/>
        </p:nvSpPr>
        <p:spPr>
          <a:xfrm>
            <a:off x="640080" y="2910587"/>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2414930" y="1335024"/>
            <a:ext cx="1747418" cy="3191427"/>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TRIPO: ПЕРВАЯ ВЫДАЧА АССЕТА</a:t>
            </a:r>
          </a:p>
        </p:txBody>
      </p:sp>
      <p:sp>
        <p:nvSpPr>
          <p:cNvPr id="10" name="TextBox 9"/>
          <p:cNvSpPr txBox="1"/>
          <p:nvPr/>
        </p:nvSpPr>
        <p:spPr>
          <a:xfrm>
            <a:off x="2552090" y="2140317"/>
            <a:ext cx="1473098"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в среднем 8 секунд</a:t>
            </a:r>
          </a:p>
        </p:txBody>
      </p:sp>
      <p:sp>
        <p:nvSpPr>
          <p:cNvPr id="11" name="TextBox 10"/>
          <p:cNvSpPr txBox="1"/>
          <p:nvPr/>
        </p:nvSpPr>
        <p:spPr>
          <a:xfrm>
            <a:off x="2552090" y="2906815"/>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432694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GENIE 3: СРЕДА ПО ОПИСАНИЮ</a:t>
            </a:r>
          </a:p>
        </p:txBody>
      </p:sp>
      <p:sp>
        <p:nvSpPr>
          <p:cNvPr id="14" name="TextBox 13"/>
          <p:cNvSpPr txBox="1"/>
          <p:nvPr/>
        </p:nvSpPr>
        <p:spPr>
          <a:xfrm>
            <a:off x="446410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4464100" y="2750268"/>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изображения без съёмки началась не в 2024 году.</a:t>
            </a:r>
            <a:r>
              <a:rPr sz="1500" b="0" i="0">
                <a:solidFill>
                  <a:srgbClr val="21295C"/>
                </a:solidFill>
                <a:latin typeface="Arial"/>
              </a:rPr>
              <a:t> Фон светодиодной сцены никто не снимал уже в 2019-м — он посчитан в движке. Изменился способ его получить: сцену строили вручную, теперь её описывают словами.</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70-led-volume-studio.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DeepMind, Genie 3, август 2025</a:t>
            </a:r>
            <a:r>
              <a:rPr sz="1200" b="0" i="1">
                <a:solidFill>
                  <a:srgbClr val="1C7293"/>
                </a:solidFill>
                <a:latin typeface="Arial"/>
              </a:rPr>
              <a:t> · </a:t>
            </a:r>
            <a:r>
              <a:rPr sz="1200" b="0" i="1">
                <a:solidFill>
                  <a:srgbClr val="1C7293"/>
                </a:solidFill>
                <a:latin typeface="Arial"/>
              </a:rPr>
              <a:t>независимая проверка WRBench, 23 модели, июнь 2026 (arXiv:2606.20545)</a:t>
            </a:r>
            <a:r>
              <a:rPr sz="1200" b="0" i="1">
                <a:solidFill>
                  <a:srgbClr val="1C7293"/>
                </a:solidFill>
                <a:latin typeface="Arial"/>
              </a:rPr>
              <a:t> · </a:t>
            </a:r>
            <a:r>
              <a:rPr sz="1200" b="0" i="1">
                <a:solidFill>
                  <a:srgbClr val="1C7293"/>
                </a:solidFill>
                <a:latin typeface="Arial"/>
              </a:rPr>
              <a:t>Waymo World Model, февраль 2026 (демонстрация без независимой проверки)</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ОБУЧЕНИЕ ОДНОЙ СЦЕНЫ</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быстрее примерно в 70 раз</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часов у поля излучения против 41 минуты 33 секунд у спрыскивания, одна и та же сцена и один и тот же ускоритель</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 СЦЕНЫ</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быстрее примерно в 2 200 раз</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 из научного проекта в интерактивный показ</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ПАМЯТЬ НА СЦЕНУ — ЦЕНА РАЗМЕНА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примерно в 85 раз</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это и есть та четвёртая величина, которой заплачено</a:t>
            </a:r>
          </a:p>
        </p:txBody>
      </p:sp>
      <p:sp>
        <p:nvSpPr>
          <p:cNvPr id="16" name="TextBox 15"/>
          <p:cNvSpPr txBox="1"/>
          <p:nvPr/>
        </p:nvSpPr>
        <p:spPr>
          <a:xfrm>
            <a:off x="502920" y="3533144"/>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Поле излучения, 2020</a:t>
            </a:r>
          </a:p>
        </p:txBody>
      </p:sp>
      <p:sp>
        <p:nvSpPr>
          <p:cNvPr id="17" name="Rounded Rectangle 16"/>
          <p:cNvSpPr/>
          <p:nvPr/>
        </p:nvSpPr>
        <p:spPr>
          <a:xfrm>
            <a:off x="2011680" y="3496568"/>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524000"/>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69720"/>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одна сеть: точка и взгляд → плотность и цвет</a:t>
            </a:r>
          </a:p>
        </p:txBody>
      </p:sp>
      <p:sp>
        <p:nvSpPr>
          <p:cNvPr id="20" name="Right Arrow 19"/>
          <p:cNvSpPr/>
          <p:nvPr/>
        </p:nvSpPr>
        <p:spPr>
          <a:xfrm>
            <a:off x="5069738" y="3761977"/>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524000"/>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569720"/>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150–200 млн запросов сети вдоль луча</a:t>
            </a:r>
          </a:p>
        </p:txBody>
      </p:sp>
      <p:sp>
        <p:nvSpPr>
          <p:cNvPr id="23" name="Right Arrow 22"/>
          <p:cNvSpPr/>
          <p:nvPr/>
        </p:nvSpPr>
        <p:spPr>
          <a:xfrm>
            <a:off x="8356396" y="376197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524000"/>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569720"/>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48 часов · 0,06 кадра/с · 8,6 МБ</a:t>
            </a:r>
          </a:p>
        </p:txBody>
      </p:sp>
      <p:sp>
        <p:nvSpPr>
          <p:cNvPr id="26" name="TextBox 25"/>
          <p:cNvSpPr txBox="1"/>
          <p:nvPr/>
        </p:nvSpPr>
        <p:spPr>
          <a:xfrm>
            <a:off x="502920" y="431085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Гауссово спрыскивание</a:t>
            </a:r>
          </a:p>
        </p:txBody>
      </p:sp>
      <p:sp>
        <p:nvSpPr>
          <p:cNvPr id="27" name="Rounded Rectangle 26"/>
          <p:cNvSpPr/>
          <p:nvPr/>
        </p:nvSpPr>
        <p:spPr>
          <a:xfrm>
            <a:off x="2011680" y="427427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3017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3474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вытянутые полупрозрачные кляксы</a:t>
            </a:r>
          </a:p>
        </p:txBody>
      </p:sp>
      <p:sp>
        <p:nvSpPr>
          <p:cNvPr id="30" name="Right Arrow 29"/>
          <p:cNvSpPr/>
          <p:nvPr/>
        </p:nvSpPr>
        <p:spPr>
          <a:xfrm>
            <a:off x="5069738" y="4539683"/>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3017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3474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одна проекция на кляксу растеризатором</a:t>
            </a:r>
          </a:p>
        </p:txBody>
      </p:sp>
      <p:sp>
        <p:nvSpPr>
          <p:cNvPr id="33" name="Right Arrow 32"/>
          <p:cNvSpPr/>
          <p:nvPr/>
        </p:nvSpPr>
        <p:spPr>
          <a:xfrm>
            <a:off x="8356396" y="4539683"/>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3017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3474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41 минута · 134 кадра/с · 734 МБ</a:t>
            </a:r>
          </a:p>
        </p:txBody>
      </p:sp>
      <p:sp>
        <p:nvSpPr>
          <p:cNvPr id="36" name="TextBox 35"/>
          <p:cNvSpPr txBox="1"/>
          <p:nvPr/>
        </p:nvSpPr>
        <p:spPr>
          <a:xfrm>
            <a:off x="502920" y="501540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Разницу создаёт устройство сцены, а не размер модели</a:t>
            </a:r>
          </a:p>
        </p:txBody>
      </p:sp>
      <p:sp>
        <p:nvSpPr>
          <p:cNvPr id="37" name="Rounded Rectangle 36"/>
          <p:cNvSpPr/>
          <p:nvPr/>
        </p:nvSpPr>
        <p:spPr>
          <a:xfrm>
            <a:off x="374904" y="5321860"/>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413300"/>
            <a:ext cx="11112703" cy="82290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Качество не менялось: разница меньше полудецибела, глазом неразличима.</a:t>
            </a:r>
            <a:r>
              <a:rPr sz="1500" b="0" i="0">
                <a:solidFill>
                  <a:srgbClr val="21295C"/>
                </a:solidFill>
                <a:latin typeface="Arial"/>
              </a:rPr>
              <a:t> Поменялась одна экономика, и поменялась сразу в обе стороны — разницу создаёт устройство сцены, а не размер модели.</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ОПТИМИЗАЦИЯ ЧЕРЕЗ РЕНДЕР (DREAMFUSION, 2022)</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1,5 часа на объект</a:t>
            </a:r>
          </a:p>
        </p:txBody>
      </p:sp>
      <p:sp>
        <p:nvSpPr>
          <p:cNvPr id="7" name="TextBox 6"/>
          <p:cNvSpPr txBox="1"/>
          <p:nvPr/>
        </p:nvSpPr>
        <p:spPr>
          <a:xfrm>
            <a:off x="640080"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СРАЗУ В ТРЁХМЕРНОМ (TRELLIS, 2024)</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 секунд на объект</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примерно в 500 раз</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TextBox 15"/>
          <p:cNvSpPr txBox="1"/>
          <p:nvPr/>
        </p:nvSpPr>
        <p:spPr>
          <a:xfrm>
            <a:off x="502920" y="3529371"/>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Оптимизация через рендер</a:t>
            </a:r>
          </a:p>
        </p:txBody>
      </p:sp>
      <p:sp>
        <p:nvSpPr>
          <p:cNvPr id="17" name="Rounded Rectangle 16"/>
          <p:cNvSpPr/>
          <p:nvPr/>
        </p:nvSpPr>
        <p:spPr>
          <a:xfrm>
            <a:off x="2011680" y="3492795"/>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52022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6594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не меняется — судья формы</a:t>
            </a:r>
          </a:p>
        </p:txBody>
      </p:sp>
      <p:sp>
        <p:nvSpPr>
          <p:cNvPr id="20" name="Right Arrow 19"/>
          <p:cNvSpPr/>
          <p:nvPr/>
        </p:nvSpPr>
        <p:spPr>
          <a:xfrm>
            <a:off x="5069738" y="3758205"/>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52022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56594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15 000 шагов рендера со случайных ракурсов</a:t>
            </a:r>
          </a:p>
        </p:txBody>
      </p:sp>
      <p:sp>
        <p:nvSpPr>
          <p:cNvPr id="23" name="Right Arrow 22"/>
          <p:cNvSpPr/>
          <p:nvPr/>
        </p:nvSpPr>
        <p:spPr>
          <a:xfrm>
            <a:off x="8356396" y="375820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52022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56594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за 1,5 часа</a:t>
            </a:r>
          </a:p>
        </p:txBody>
      </p:sp>
      <p:sp>
        <p:nvSpPr>
          <p:cNvPr id="26" name="TextBox 25"/>
          <p:cNvSpPr txBox="1"/>
          <p:nvPr/>
        </p:nvSpPr>
        <p:spPr>
          <a:xfrm>
            <a:off x="502920" y="430707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 сразу в трёхмерном</a:t>
            </a:r>
          </a:p>
        </p:txBody>
      </p:sp>
      <p:sp>
        <p:nvSpPr>
          <p:cNvPr id="27" name="Rounded Rectangle 26"/>
          <p:cNvSpPr/>
          <p:nvPr/>
        </p:nvSpPr>
        <p:spPr>
          <a:xfrm>
            <a:off x="2011680" y="427050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29793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34365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раз: 500 тыс. объектов</a:t>
            </a:r>
          </a:p>
        </p:txBody>
      </p:sp>
      <p:sp>
        <p:nvSpPr>
          <p:cNvPr id="30" name="Right Arrow 29"/>
          <p:cNvSpPr/>
          <p:nvPr/>
        </p:nvSpPr>
        <p:spPr>
          <a:xfrm>
            <a:off x="5069738" y="453591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29793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34365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одно представление → три формата</a:t>
            </a:r>
          </a:p>
        </p:txBody>
      </p:sp>
      <p:sp>
        <p:nvSpPr>
          <p:cNvPr id="33" name="Right Arrow 32"/>
          <p:cNvSpPr/>
          <p:nvPr/>
        </p:nvSpPr>
        <p:spPr>
          <a:xfrm>
            <a:off x="8356396" y="4535911"/>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29793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34365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за 10 секунд</a:t>
            </a:r>
          </a:p>
        </p:txBody>
      </p:sp>
      <p:sp>
        <p:nvSpPr>
          <p:cNvPr id="36" name="TextBox 35"/>
          <p:cNvSpPr txBox="1"/>
          <p:nvPr/>
        </p:nvSpPr>
        <p:spPr>
          <a:xfrm>
            <a:off x="502920" y="50116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Одна и та же выдача получена двумя разными устройствами</a:t>
            </a:r>
          </a:p>
        </p:txBody>
      </p:sp>
      <p:sp>
        <p:nvSpPr>
          <p:cNvPr id="37" name="Rounded Rectangle 36"/>
          <p:cNvSpPr/>
          <p:nvPr/>
        </p:nvSpPr>
        <p:spPr>
          <a:xfrm>
            <a:off x="374904" y="531808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409528"/>
            <a:ext cx="11112703" cy="8266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возник не от железа.</a:t>
            </a:r>
            <a:r>
              <a:rPr sz="150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39" name="Rectangle 38"/>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ВЕРХНИЙ МАСШТАБ: ПОЛЕ ИЗЛУЧЕНИЯ, 2020</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30 секунд на кадр</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150–200 миллионов запросов сети на один кадр, сутки-двое обучения на сцену</a:t>
            </a:r>
          </a:p>
        </p:txBody>
      </p:sp>
      <p:sp>
        <p:nvSpPr>
          <p:cNvPr id="8" name="Rounded Rectangle 7"/>
          <p:cNvSpPr/>
          <p:nvPr/>
        </p:nvSpPr>
        <p:spPr>
          <a:xfrm>
            <a:off x="3340531"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НИЖНИЙ МАСШТАБ: ГРАФИКА РЕАЛЬНОГО ВРЕМЕНИ, 2025</a:t>
            </a:r>
          </a:p>
        </p:txBody>
      </p:sp>
      <p:sp>
        <p:nvSpPr>
          <p:cNvPr id="10" name="TextBox 9"/>
          <p:cNvSpPr txBox="1"/>
          <p:nvPr/>
        </p:nvSpPr>
        <p:spPr>
          <a:xfrm>
            <a:off x="3477691" y="1932846"/>
            <a:ext cx="2398699"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около 1 миллисекунды на кадр</a:t>
            </a:r>
          </a:p>
        </p:txBody>
      </p:sp>
      <p:sp>
        <p:nvSpPr>
          <p:cNvPr id="11" name="TextBox 10"/>
          <p:cNvSpPr txBox="1"/>
          <p:nvPr/>
        </p:nvSpPr>
        <p:spPr>
          <a:xfrm>
            <a:off x="3477691" y="24956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пять нейросетей на кадр, шестьдесят кадров в секунду, на потребительской плате</a:t>
            </a:r>
          </a:p>
        </p:txBody>
      </p:sp>
      <p:sp>
        <p:nvSpPr>
          <p:cNvPr id="12" name="Rounded Rectangle 11"/>
          <p:cNvSpPr/>
          <p:nvPr/>
        </p:nvSpPr>
        <p:spPr>
          <a:xfrm>
            <a:off x="6178143" y="1335024"/>
            <a:ext cx="2673019"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БЮДЖЕТА НА ЕДИНИЦУ ВЫХОДА</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примерно в 30 000 раз</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разных наук, ни разных классов моделей: и там и там трансформер и градиентный спуск</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ЭКРАНА, НАРИСОВАННАЯ СЕТЬЮ</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пикселей из каждых 16</a:t>
            </a:r>
          </a:p>
        </p:txBody>
      </p:sp>
      <p:sp>
        <p:nvSpPr>
          <p:cNvPr id="19" name="TextBox 18"/>
          <p:cNvSpPr txBox="1"/>
          <p:nvPr/>
        </p:nvSpPr>
        <p:spPr>
          <a:xfrm>
            <a:off x="9152915"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четырёхкратной достройке кадров вместе с четырёхкратным повышением разрешения</a:t>
            </a:r>
          </a:p>
        </p:txBody>
      </p:sp>
      <p:sp>
        <p:nvSpPr>
          <p:cNvPr id="20" name="TextBox 19"/>
          <p:cNvSpPr txBox="1"/>
          <p:nvPr/>
        </p:nvSpPr>
        <p:spPr>
          <a:xfrm>
            <a:off x="502920" y="395185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даёт</a:t>
            </a:r>
          </a:p>
        </p:txBody>
      </p:sp>
      <p:sp>
        <p:nvSpPr>
          <p:cNvPr id="21" name="Rounded Rectangle 20"/>
          <p:cNvSpPr/>
          <p:nvPr/>
        </p:nvSpPr>
        <p:spPr>
          <a:xfrm>
            <a:off x="2011680" y="391528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94271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8843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восстанавливает высокое разрешение по истории кадров</a:t>
            </a:r>
          </a:p>
        </p:txBody>
      </p:sp>
      <p:sp>
        <p:nvSpPr>
          <p:cNvPr id="24" name="Rounded Rectangle 23"/>
          <p:cNvSpPr/>
          <p:nvPr/>
        </p:nvSpPr>
        <p:spPr>
          <a:xfrm>
            <a:off x="5298338" y="394271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5380634" y="398843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синтезирует промежуточные кадры между отрисованными</a:t>
            </a:r>
          </a:p>
        </p:txBody>
      </p:sp>
      <p:sp>
        <p:nvSpPr>
          <p:cNvPr id="26" name="Rounded Rectangle 25"/>
          <p:cNvSpPr/>
          <p:nvPr/>
        </p:nvSpPr>
        <p:spPr>
          <a:xfrm>
            <a:off x="8493556" y="394271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575852" y="398843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было 3,25 мс на кадр 4K, стало около 1 мс</a:t>
            </a:r>
          </a:p>
        </p:txBody>
      </p:sp>
      <p:sp>
        <p:nvSpPr>
          <p:cNvPr id="28" name="TextBox 27"/>
          <p:cNvSpPr txBox="1"/>
          <p:nvPr/>
        </p:nvSpPr>
        <p:spPr>
          <a:xfrm>
            <a:off x="502920" y="4729565"/>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ломается</a:t>
            </a:r>
          </a:p>
        </p:txBody>
      </p:sp>
      <p:sp>
        <p:nvSpPr>
          <p:cNvPr id="29" name="Rounded Rectangle 28"/>
          <p:cNvSpPr/>
          <p:nvPr/>
        </p:nvSpPr>
        <p:spPr>
          <a:xfrm>
            <a:off x="2011680" y="469298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72042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76614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задержку ввода не уменьшает ни на миллисекунду</a:t>
            </a:r>
          </a:p>
        </p:txBody>
      </p:sp>
      <p:sp>
        <p:nvSpPr>
          <p:cNvPr id="32" name="Rounded Rectangle 31"/>
          <p:cNvSpPr/>
          <p:nvPr/>
        </p:nvSpPr>
        <p:spPr>
          <a:xfrm>
            <a:off x="5298338" y="472042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5380634" y="476614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интерфейс — векторов движения у него нет</a:t>
            </a:r>
          </a:p>
        </p:txBody>
      </p:sp>
      <p:sp>
        <p:nvSpPr>
          <p:cNvPr id="34" name="Rounded Rectangle 33"/>
          <p:cNvSpPr/>
          <p:nvPr/>
        </p:nvSpPr>
        <p:spPr>
          <a:xfrm>
            <a:off x="8493556" y="472042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575852" y="476614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блики, частицы — векторы и глубина неверны по построению</a:t>
            </a:r>
          </a:p>
        </p:txBody>
      </p:sp>
      <p:sp>
        <p:nvSpPr>
          <p:cNvPr id="36" name="TextBox 35"/>
          <p:cNvSpPr txBox="1"/>
          <p:nvPr/>
        </p:nvSpPr>
        <p:spPr>
          <a:xfrm>
            <a:off x="502920" y="543411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приём: что сеть достраивает и где достройка не работает</a:t>
            </a:r>
          </a:p>
        </p:txBody>
      </p:sp>
      <p:sp>
        <p:nvSpPr>
          <p:cNvPr id="37" name="Rounded Rectangle 36"/>
          <p:cNvSpPr/>
          <p:nvPr/>
        </p:nvSpPr>
        <p:spPr>
          <a:xfrm>
            <a:off x="374904" y="5740575"/>
            <a:ext cx="11441887" cy="49563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832015"/>
            <a:ext cx="11112703" cy="40419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«Может ли модель» почти всегда «да», и это ничего не решает.</a:t>
            </a:r>
            <a:r>
              <a:rPr sz="1450" b="0" i="0">
                <a:solidFill>
                  <a:srgbClr val="21295C"/>
                </a:solidFill>
                <a:latin typeface="Arial"/>
              </a:rPr>
              <a:t> Решают за сколько, сколько раз в секунду и на чьём железе.</a:t>
            </a:r>
          </a:p>
        </p:txBody>
      </p:sp>
      <p:sp>
        <p:nvSpPr>
          <p:cNvPr id="39" name="Rectangle 38"/>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 Waymo World Model, февраль 2026 (демонстрация без независимой проверки)</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3618890"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ВЫДАЁТ ГЕНЕРАТОР</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первая форма за единицы секунд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пригодна к просмотру и к постановке в фон</a:t>
            </a:r>
          </a:p>
        </p:txBody>
      </p:sp>
      <p:sp>
        <p:nvSpPr>
          <p:cNvPr id="8" name="Rounded Rectangle 7"/>
          <p:cNvSpPr/>
          <p:nvPr/>
        </p:nvSpPr>
        <p:spPr>
          <a:xfrm>
            <a:off x="4286402" y="1335024"/>
            <a:ext cx="3618890"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НЕЙ НЕИЗБЕЖНО НЕ ТАК</a:t>
            </a:r>
          </a:p>
        </p:txBody>
      </p:sp>
      <p:sp>
        <p:nvSpPr>
          <p:cNvPr id="10" name="TextBox 9"/>
          <p:cNvSpPr txBox="1"/>
          <p:nvPr/>
        </p:nvSpPr>
        <p:spPr>
          <a:xfrm>
            <a:off x="4423562" y="1725375"/>
            <a:ext cx="3344570"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4423562" y="288229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следует из способа извлечения поверхности, а не из недоработки модели</a:t>
            </a:r>
          </a:p>
        </p:txBody>
      </p:sp>
      <p:sp>
        <p:nvSpPr>
          <p:cNvPr id="12" name="Rounded Rectangle 11"/>
          <p:cNvSpPr/>
          <p:nvPr/>
        </p:nvSpPr>
        <p:spPr>
          <a:xfrm>
            <a:off x="8069884" y="1335024"/>
            <a:ext cx="3618890"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СТАДИЙ КОНВЕЙЕРА ОСТАЁТСЯ ЛЮДЯМ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из девяти — и самые дорогие</a:t>
            </a:r>
          </a:p>
        </p:txBody>
      </p:sp>
      <p:sp>
        <p:nvSpPr>
          <p:cNvPr id="15" name="TextBox 14"/>
          <p:cNvSpPr txBox="1"/>
          <p:nvPr/>
        </p:nvSpPr>
        <p:spPr>
          <a:xfrm>
            <a:off x="8207044" y="2750268"/>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ретопология, развёртка, риггинг; автоматический скелет их не отменяет — он ставит кости поверх той сетки, которая есть</a:t>
            </a:r>
          </a:p>
        </p:txBody>
      </p:sp>
      <p:sp>
        <p:nvSpPr>
          <p:cNvPr id="16" name="TextBox 15"/>
          <p:cNvSpPr txBox="1"/>
          <p:nvPr/>
        </p:nvSpPr>
        <p:spPr>
          <a:xfrm>
            <a:off x="502920" y="395185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17" name="Rounded Rectangle 16"/>
          <p:cNvSpPr/>
          <p:nvPr/>
        </p:nvSpPr>
        <p:spPr>
          <a:xfrm>
            <a:off x="2011680" y="391528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94271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98843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первая форма за единицы секунд</a:t>
            </a:r>
          </a:p>
        </p:txBody>
      </p:sp>
      <p:sp>
        <p:nvSpPr>
          <p:cNvPr id="20" name="Right Arrow 19"/>
          <p:cNvSpPr/>
          <p:nvPr/>
        </p:nvSpPr>
        <p:spPr>
          <a:xfrm>
            <a:off x="5069738" y="418069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94271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98843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поверхность решёткой: плотная, неструктурированная</a:t>
            </a:r>
          </a:p>
        </p:txBody>
      </p:sp>
      <p:sp>
        <p:nvSpPr>
          <p:cNvPr id="23" name="TextBox 22"/>
          <p:cNvSpPr txBox="1"/>
          <p:nvPr/>
        </p:nvSpPr>
        <p:spPr>
          <a:xfrm>
            <a:off x="502920" y="4729565"/>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a:t>
            </a:r>
          </a:p>
        </p:txBody>
      </p:sp>
      <p:sp>
        <p:nvSpPr>
          <p:cNvPr id="24" name="Rounded Rectangle 23"/>
          <p:cNvSpPr/>
          <p:nvPr/>
        </p:nvSpPr>
        <p:spPr>
          <a:xfrm>
            <a:off x="2011680" y="469298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Rounded Rectangle 24"/>
          <p:cNvSpPr/>
          <p:nvPr/>
        </p:nvSpPr>
        <p:spPr>
          <a:xfrm>
            <a:off x="2103120" y="4720421"/>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2185416" y="4766141"/>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ретопология — сетка строится заново</a:t>
            </a:r>
          </a:p>
        </p:txBody>
      </p:sp>
      <p:sp>
        <p:nvSpPr>
          <p:cNvPr id="27" name="Right Arrow 26"/>
          <p:cNvSpPr/>
          <p:nvPr/>
        </p:nvSpPr>
        <p:spPr>
          <a:xfrm>
            <a:off x="5069738" y="495839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389778" y="4720421"/>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472074" y="4766141"/>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развёртка по спланированным швам</a:t>
            </a:r>
          </a:p>
        </p:txBody>
      </p:sp>
      <p:sp>
        <p:nvSpPr>
          <p:cNvPr id="30" name="Right Arrow 29"/>
          <p:cNvSpPr/>
          <p:nvPr/>
        </p:nvSpPr>
        <p:spPr>
          <a:xfrm>
            <a:off x="8356396" y="4958398"/>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76436" y="4720421"/>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8758732" y="4766141"/>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риггинг — скелет и веса вершин</a:t>
            </a:r>
          </a:p>
        </p:txBody>
      </p:sp>
      <p:sp>
        <p:nvSpPr>
          <p:cNvPr id="33" name="TextBox 32"/>
          <p:cNvSpPr txBox="1"/>
          <p:nvPr/>
        </p:nvSpPr>
        <p:spPr>
          <a:xfrm>
            <a:off x="502920" y="543411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Что происходит с ассетом после «восьми секунд»</a:t>
            </a:r>
          </a:p>
        </p:txBody>
      </p:sp>
      <p:sp>
        <p:nvSpPr>
          <p:cNvPr id="34" name="Rounded Rectangle 33"/>
          <p:cNvSpPr/>
          <p:nvPr/>
        </p:nvSpPr>
        <p:spPr>
          <a:xfrm>
            <a:off x="374904" y="5740575"/>
            <a:ext cx="11441887" cy="49563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832015"/>
            <a:ext cx="11112703" cy="40419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«Ассет за восемь секунд» и «ассет, готовый к работе» — разные вещи.</a:t>
            </a:r>
            <a:r>
              <a:rPr sz="1400" b="0" i="0">
                <a:solidFill>
                  <a:srgbClr val="21295C"/>
                </a:solidFill>
                <a:latin typeface="Arial"/>
              </a:rPr>
              <a:t> Три стадии остаются людям — и это самые дорогие три.</a:t>
            </a:r>
          </a:p>
        </p:txBody>
      </p:sp>
      <p:sp>
        <p:nvSpPr>
          <p:cNvPr id="36" name="Rectangle 3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КАКИХ КООРДИНАТАХ ЖИВЁТ ФОРМА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пропорции есть, величины нет</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РАЗМЕРОВ, ПРИГОДНЫХ ДЛЯ ЧЕРТЕЖА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обучена на формах; обмеров в обучении не было, и взяться размеру неоткуда</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ПЯТИ КЛАССИЧЕСКИХ ВХОДОВ МОДЕЛЬ ТРОНУЛА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лазерный сканер как мерил размеры, так и мерит</a:t>
            </a:r>
          </a:p>
        </p:txBody>
      </p:sp>
      <p:sp>
        <p:nvSpPr>
          <p:cNvPr id="16" name="TextBox 15"/>
          <p:cNvSpPr txBox="1"/>
          <p:nvPr/>
        </p:nvSpPr>
        <p:spPr>
          <a:xfrm>
            <a:off x="502920" y="352937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 формы</a:t>
            </a:r>
          </a:p>
        </p:txBody>
      </p:sp>
      <p:sp>
        <p:nvSpPr>
          <p:cNvPr id="17" name="Rounded Rectangle 16"/>
          <p:cNvSpPr/>
          <p:nvPr/>
        </p:nvSpPr>
        <p:spPr>
          <a:xfrm>
            <a:off x="2011680" y="349279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описание словами</a:t>
            </a:r>
          </a:p>
        </p:txBody>
      </p:sp>
      <p:sp>
        <p:nvSpPr>
          <p:cNvPr id="20" name="Right Arrow 19"/>
          <p:cNvSpPr/>
          <p:nvPr/>
        </p:nvSpPr>
        <p:spPr>
          <a:xfrm>
            <a:off x="5069738" y="3874907"/>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поверхность за секунды, координаты безразмерные</a:t>
            </a:r>
          </a:p>
        </p:txBody>
      </p:sp>
      <p:sp>
        <p:nvSpPr>
          <p:cNvPr id="23" name="Right Arrow 22"/>
          <p:cNvSpPr/>
          <p:nvPr/>
        </p:nvSpPr>
        <p:spPr>
          <a:xfrm>
            <a:off x="8356396" y="387490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масштаб назначает человек на глаз</a:t>
            </a:r>
          </a:p>
        </p:txBody>
      </p:sp>
      <p:sp>
        <p:nvSpPr>
          <p:cNvPr id="26" name="TextBox 25"/>
          <p:cNvSpPr txBox="1"/>
          <p:nvPr/>
        </p:nvSpPr>
        <p:spPr>
          <a:xfrm>
            <a:off x="502920" y="454048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Система проектирования</a:t>
            </a:r>
          </a:p>
        </p:txBody>
      </p:sp>
      <p:sp>
        <p:nvSpPr>
          <p:cNvPr id="27" name="Rounded Rectangle 26"/>
          <p:cNvSpPr/>
          <p:nvPr/>
        </p:nvSpPr>
        <p:spPr>
          <a:xfrm>
            <a:off x="2011680" y="450390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параметры и связи между ними</a:t>
            </a:r>
          </a:p>
        </p:txBody>
      </p:sp>
      <p:sp>
        <p:nvSpPr>
          <p:cNvPr id="30" name="Right Arrow 29"/>
          <p:cNvSpPr/>
          <p:nvPr/>
        </p:nvSpPr>
        <p:spPr>
          <a:xfrm>
            <a:off x="5069738" y="47693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размеры, допуски, материал — часть самой модели</a:t>
            </a:r>
          </a:p>
        </p:txBody>
      </p:sp>
      <p:sp>
        <p:nvSpPr>
          <p:cNvPr id="33" name="Right Arrow 32"/>
          <p:cNvSpPr/>
          <p:nvPr/>
        </p:nvSpPr>
        <p:spPr>
          <a:xfrm>
            <a:off x="8356396" y="47693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чертёж, по которому изготавливают и принимают</a:t>
            </a:r>
          </a:p>
        </p:txBody>
      </p:sp>
      <p:sp>
        <p:nvSpPr>
          <p:cNvPr id="36" name="TextBox 35"/>
          <p:cNvSpPr txBox="1"/>
          <p:nvPr/>
        </p:nvSpPr>
        <p:spPr>
          <a:xfrm>
            <a:off x="502920" y="524503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инструмента на одном месте конвейера: у одного величин нет, у другого они и есть предмет</a:t>
            </a:r>
          </a:p>
        </p:txBody>
      </p:sp>
      <p:sp>
        <p:nvSpPr>
          <p:cNvPr id="37" name="Rounded Rectangle 36"/>
          <p:cNvSpPr/>
          <p:nvPr/>
        </p:nvSpPr>
        <p:spPr>
          <a:xfrm>
            <a:off x="374904" y="5551493"/>
            <a:ext cx="11441887" cy="68471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642933"/>
            <a:ext cx="11112703" cy="59327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Генератор формы стоит до расчёта, а критерий отбора остаётся снаружи, у человека.</a:t>
            </a:r>
            <a:r>
              <a:rPr sz="1450" b="0" i="0">
                <a:solidFill>
                  <a:srgbClr val="21295C"/>
                </a:solidFill>
                <a:latin typeface="Arial"/>
              </a:rPr>
              <a:t> «Кронштейн под нагрузку» выглядит как кронштейн и не несёт ни нагрузки, ни материала, ни допуска — проверить расчётом нечего.</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СОДЕРЖАТЕЛЬНЫХ ПОПАДАНИЙ ПО СТОИМОСТИ ТРЁХМЕРНОГО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ПОИМЁННО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КАКИХ МОДАЛЬНОСТЕЙ ЗАМЕРЫ ЕСТЬ</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трёхмерного на конец 2026 — нет; технология вышла из лаборатории два года назад</a:t>
            </a:r>
          </a:p>
        </p:txBody>
      </p:sp>
      <p:sp>
        <p:nvSpPr>
          <p:cNvPr id="16" name="TextBox 15"/>
          <p:cNvSpPr txBox="1"/>
          <p:nvPr/>
        </p:nvSpPr>
        <p:spPr>
          <a:xfrm>
            <a:off x="502920" y="3363394"/>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замеры есть</a:t>
            </a:r>
          </a:p>
        </p:txBody>
      </p:sp>
      <p:sp>
        <p:nvSpPr>
          <p:cNvPr id="17" name="Rounded Rectangle 16"/>
          <p:cNvSpPr/>
          <p:nvPr/>
        </p:nvSpPr>
        <p:spPr>
          <a:xfrm>
            <a:off x="2011680" y="3326818"/>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 с 2023 года</a:t>
            </a:r>
          </a:p>
        </p:txBody>
      </p:sp>
      <p:sp>
        <p:nvSpPr>
          <p:cNvPr id="20" name="Rounded Rectangle 19"/>
          <p:cNvSpPr/>
          <p:nvPr/>
        </p:nvSpPr>
        <p:spPr>
          <a:xfrm>
            <a:off x="5298338"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дубляж — с 2024 года</a:t>
            </a:r>
          </a:p>
        </p:txBody>
      </p:sp>
      <p:sp>
        <p:nvSpPr>
          <p:cNvPr id="22" name="Rounded Rectangle 21"/>
          <p:cNvSpPr/>
          <p:nvPr/>
        </p:nvSpPr>
        <p:spPr>
          <a:xfrm>
            <a:off x="8493556"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видео — с 2025 года</a:t>
            </a:r>
          </a:p>
        </p:txBody>
      </p:sp>
      <p:sp>
        <p:nvSpPr>
          <p:cNvPr id="24" name="TextBox 23"/>
          <p:cNvSpPr txBox="1"/>
          <p:nvPr/>
        </p:nvSpPr>
        <p:spPr>
          <a:xfrm>
            <a:off x="502920" y="3985186"/>
            <a:ext cx="1307592" cy="899574"/>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Трёхмерное</a:t>
            </a:r>
          </a:p>
        </p:txBody>
      </p:sp>
      <p:sp>
        <p:nvSpPr>
          <p:cNvPr id="25" name="Rounded Rectangle 24"/>
          <p:cNvSpPr/>
          <p:nvPr/>
        </p:nvSpPr>
        <p:spPr>
          <a:xfrm>
            <a:off x="2103120"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5298338"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Rounded Rectangle 26"/>
          <p:cNvSpPr/>
          <p:nvPr/>
        </p:nvSpPr>
        <p:spPr>
          <a:xfrm>
            <a:off x="8493556"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2103120" y="4478962"/>
            <a:ext cx="9494215"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одной из четырёх величин: цена генерации за единицу выхода · ставка моделлера за ту же работу · цена входа в реальное время · доля работы, которую закрывает сгенерированный ассет</a:t>
            </a:r>
          </a:p>
        </p:txBody>
      </p:sp>
      <p:sp>
        <p:nvSpPr>
          <p:cNvPr id="29" name="TextBox 28"/>
          <p:cNvSpPr txBox="1"/>
          <p:nvPr/>
        </p:nvSpPr>
        <p:spPr>
          <a:xfrm>
            <a:off x="502920" y="49944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У трёх модальностей вечера замеры стоимости опубликованы; у четвёртой нет ни одной из четырёх величин</a:t>
            </a:r>
          </a:p>
        </p:txBody>
      </p:sp>
      <p:sp>
        <p:nvSpPr>
          <p:cNvPr id="30" name="Rounded Rectangle 29"/>
          <p:cNvSpPr/>
          <p:nvPr/>
        </p:nvSpPr>
        <p:spPr>
          <a:xfrm>
            <a:off x="374904" y="5300945"/>
            <a:ext cx="11441887" cy="84863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392385"/>
            <a:ext cx="11112703" cy="84382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Это сведение, а не пробел.</a:t>
            </a:r>
            <a:r>
              <a:rPr sz="1450" b="0" i="0">
                <a:solidFill>
                  <a:srgbClr val="21295C"/>
                </a:solidFill>
                <a:latin typeface="Arial"/>
              </a:rPr>
              <a:t> Знать, что замеров ещё не опубликовано, полезнее, чем получить красивое число неизвестного происхождения: кратность «в тысячу раз быстрее художника» вышла бы делением измеренного на выдуманное.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«Трёхмерное»</a:t>
            </a:r>
          </a:p>
        </p:txBody>
      </p:sp>
      <p:sp>
        <p:nvSpPr>
          <p:cNvPr id="4" name="Rounded Rectangle 3"/>
          <p:cNvSpPr/>
          <p:nvPr/>
        </p:nvSpPr>
        <p:spPr>
          <a:xfrm>
            <a:off x="374904" y="1243584"/>
            <a:ext cx="11441887" cy="47789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864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колонки из пяти.</a:t>
            </a:r>
            <a:r>
              <a:rPr sz="1500" b="0" i="0">
                <a:solidFill>
                  <a:srgbClr val="21295C"/>
                </a:solidFill>
                <a:latin typeface="Arial"/>
              </a:rPr>
              <a:t> Две строки пусты у всех четырёх модальностей подряд: точные величины и ответ «кто отвечает».</a:t>
            </a:r>
          </a:p>
        </p:txBody>
      </p:sp>
      <p:sp>
        <p:nvSpPr>
          <p:cNvPr id="6" name="Rectangle 5"/>
          <p:cNvSpPr/>
          <p:nvPr/>
        </p:nvSpPr>
        <p:spPr>
          <a:xfrm>
            <a:off x="502920" y="1831202"/>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895210"/>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1202"/>
            <a:ext cx="1679387" cy="305623"/>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Изображение</a:t>
            </a:r>
          </a:p>
        </p:txBody>
      </p:sp>
      <p:sp>
        <p:nvSpPr>
          <p:cNvPr id="10" name="Rectangle 9"/>
          <p:cNvSpPr/>
          <p:nvPr/>
        </p:nvSpPr>
        <p:spPr>
          <a:xfrm>
            <a:off x="4971227" y="1831202"/>
            <a:ext cx="1679387" cy="30562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Звук</a:t>
            </a:r>
          </a:p>
        </p:txBody>
      </p:sp>
      <p:sp>
        <p:nvSpPr>
          <p:cNvPr id="12" name="Rectangle 11"/>
          <p:cNvSpPr/>
          <p:nvPr/>
        </p:nvSpPr>
        <p:spPr>
          <a:xfrm>
            <a:off x="6650614" y="1831202"/>
            <a:ext cx="1679387" cy="30562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Видео</a:t>
            </a:r>
          </a:p>
        </p:txBody>
      </p:sp>
      <p:sp>
        <p:nvSpPr>
          <p:cNvPr id="14" name="Rectangle 13"/>
          <p:cNvSpPr/>
          <p:nvPr/>
        </p:nvSpPr>
        <p:spPr>
          <a:xfrm>
            <a:off x="8330001" y="1831202"/>
            <a:ext cx="1679387" cy="30562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8394009"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Трёхмерное</a:t>
            </a:r>
          </a:p>
        </p:txBody>
      </p:sp>
      <p:sp>
        <p:nvSpPr>
          <p:cNvPr id="16" name="Rectangle 15"/>
          <p:cNvSpPr/>
          <p:nvPr/>
        </p:nvSpPr>
        <p:spPr>
          <a:xfrm>
            <a:off x="10009388" y="1831202"/>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895210"/>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8330001" y="2086534"/>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136826"/>
            <a:ext cx="2788920" cy="652750"/>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200834"/>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0,034–0,05 $ за изображение</a:t>
            </a:r>
          </a:p>
        </p:txBody>
      </p:sp>
      <p:sp>
        <p:nvSpPr>
          <p:cNvPr id="23" name="Rectangle 22"/>
          <p:cNvSpPr/>
          <p:nvPr/>
        </p:nvSpPr>
        <p:spPr>
          <a:xfrm>
            <a:off x="4971227"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дубляж 0,03–0,072 $ за минуту</a:t>
            </a:r>
          </a:p>
        </p:txBody>
      </p:sp>
      <p:sp>
        <p:nvSpPr>
          <p:cNvPr id="25" name="Rectangle 24"/>
          <p:cNvSpPr/>
          <p:nvPr/>
        </p:nvSpPr>
        <p:spPr>
          <a:xfrm>
            <a:off x="6650614"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цена выпуска ниже в 10–20 раз</a:t>
            </a:r>
          </a:p>
        </p:txBody>
      </p:sp>
      <p:sp>
        <p:nvSpPr>
          <p:cNvPr id="27" name="Rectangle 26"/>
          <p:cNvSpPr/>
          <p:nvPr/>
        </p:nvSpPr>
        <p:spPr>
          <a:xfrm>
            <a:off x="8330001"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8394009"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единицы секунд на вариант</a:t>
            </a:r>
          </a:p>
        </p:txBody>
      </p:sp>
      <p:sp>
        <p:nvSpPr>
          <p:cNvPr id="29" name="Rectangle 28"/>
          <p:cNvSpPr/>
          <p:nvPr/>
        </p:nvSpPr>
        <p:spPr>
          <a:xfrm>
            <a:off x="10009388" y="2136826"/>
            <a:ext cx="1679387" cy="652750"/>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502920" y="2789576"/>
            <a:ext cx="2788920" cy="697152"/>
          </a:xfrm>
          <a:prstGeom prst="rect">
            <a:avLst/>
          </a:prstGeom>
          <a:solidFill>
            <a:srgbClr val="F4F7FA"/>
          </a:solidFill>
          <a:ln w="9525">
            <a:solidFill>
              <a:srgbClr val="D9E2EC"/>
            </a:solidFill>
          </a:ln>
          <a:effectLst/>
        </p:spPr>
        <p:txBody>
          <a:bodyPr rtlCol="0" anchor="ctr"/>
          <a:lstStyle/>
          <a:p>
            <a:pPr algn="ctr"/>
          </a:p>
        </p:txBody>
      </p:sp>
      <p:sp>
        <p:nvSpPr>
          <p:cNvPr id="31" name="TextBox 30"/>
          <p:cNvSpPr txBox="1"/>
          <p:nvPr/>
        </p:nvSpPr>
        <p:spPr>
          <a:xfrm>
            <a:off x="566928" y="2853584"/>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32" name="Rectangle 31"/>
          <p:cNvSpPr/>
          <p:nvPr/>
        </p:nvSpPr>
        <p:spPr>
          <a:xfrm>
            <a:off x="3291839"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3" name="TextBox 32"/>
          <p:cNvSpPr txBox="1"/>
          <p:nvPr/>
        </p:nvSpPr>
        <p:spPr>
          <a:xfrm>
            <a:off x="3355847"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адаптеры и ручная правка</a:t>
            </a:r>
          </a:p>
        </p:txBody>
      </p:sp>
      <p:sp>
        <p:nvSpPr>
          <p:cNvPr id="34" name="Rectangle 33"/>
          <p:cNvSpPr/>
          <p:nvPr/>
        </p:nvSpPr>
        <p:spPr>
          <a:xfrm>
            <a:off x="4971227"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5" name="TextBox 34"/>
          <p:cNvSpPr txBox="1"/>
          <p:nvPr/>
        </p:nvSpPr>
        <p:spPr>
          <a:xfrm>
            <a:off x="5035235"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ручная правка дикции</a:t>
            </a:r>
          </a:p>
        </p:txBody>
      </p:sp>
      <p:sp>
        <p:nvSpPr>
          <p:cNvPr id="36" name="Rectangle 35"/>
          <p:cNvSpPr/>
          <p:nvPr/>
        </p:nvSpPr>
        <p:spPr>
          <a:xfrm>
            <a:off x="6650614"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7" name="TextBox 36"/>
          <p:cNvSpPr txBox="1"/>
          <p:nvPr/>
        </p:nvSpPr>
        <p:spPr>
          <a:xfrm>
            <a:off x="6714622"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ручной отбор и склейка</a:t>
            </a:r>
          </a:p>
        </p:txBody>
      </p:sp>
      <p:sp>
        <p:nvSpPr>
          <p:cNvPr id="38" name="Rectangle 37"/>
          <p:cNvSpPr/>
          <p:nvPr/>
        </p:nvSpPr>
        <p:spPr>
          <a:xfrm>
            <a:off x="8330001"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9" name="TextBox 38"/>
          <p:cNvSpPr txBox="1"/>
          <p:nvPr/>
        </p:nvSpPr>
        <p:spPr>
          <a:xfrm>
            <a:off x="8394009"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ретопология, развёртка, риггинг остаются людям</a:t>
            </a:r>
          </a:p>
        </p:txBody>
      </p:sp>
      <p:sp>
        <p:nvSpPr>
          <p:cNvPr id="40" name="Rectangle 39"/>
          <p:cNvSpPr/>
          <p:nvPr/>
        </p:nvSpPr>
        <p:spPr>
          <a:xfrm>
            <a:off x="10009388"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502920" y="3486728"/>
            <a:ext cx="2788920" cy="66083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550736"/>
            <a:ext cx="2660903" cy="532823"/>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43" name="Rectangle 42"/>
          <p:cNvSpPr/>
          <p:nvPr/>
        </p:nvSpPr>
        <p:spPr>
          <a:xfrm>
            <a:off x="3291839"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повышение разрешения архива</a:t>
            </a:r>
          </a:p>
        </p:txBody>
      </p:sp>
      <p:sp>
        <p:nvSpPr>
          <p:cNvPr id="45" name="Rectangle 44"/>
          <p:cNvSpPr/>
          <p:nvPr/>
        </p:nvSpPr>
        <p:spPr>
          <a:xfrm>
            <a:off x="4971227"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разделение источников</a:t>
            </a:r>
          </a:p>
        </p:txBody>
      </p:sp>
      <p:sp>
        <p:nvSpPr>
          <p:cNvPr id="47" name="Rectangle 46"/>
          <p:cNvSpPr/>
          <p:nvPr/>
        </p:nvSpPr>
        <p:spPr>
          <a:xfrm>
            <a:off x="6650614"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интерполяция кадров</a:t>
            </a:r>
          </a:p>
        </p:txBody>
      </p:sp>
      <p:sp>
        <p:nvSpPr>
          <p:cNvPr id="49" name="Rectangle 48"/>
          <p:cNvSpPr/>
          <p:nvPr/>
        </p:nvSpPr>
        <p:spPr>
          <a:xfrm>
            <a:off x="8330001"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сцена из снимков: 41 минута, 134 кадра в секунду</a:t>
            </a:r>
          </a:p>
        </p:txBody>
      </p:sp>
      <p:sp>
        <p:nvSpPr>
          <p:cNvPr id="51" name="Rectangle 50"/>
          <p:cNvSpPr/>
          <p:nvPr/>
        </p:nvSpPr>
        <p:spPr>
          <a:xfrm>
            <a:off x="10009388" y="3486728"/>
            <a:ext cx="1679387" cy="660839"/>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53" name="TextBox 52"/>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54" name="Rectangle 53"/>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5" name="TextBox 54"/>
          <p:cNvSpPr txBox="1"/>
          <p:nvPr/>
        </p:nvSpPr>
        <p:spPr>
          <a:xfrm>
            <a:off x="3355847"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56" name="Rectangle 55"/>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TextBox 56"/>
          <p:cNvSpPr txBox="1"/>
          <p:nvPr/>
        </p:nvSpPr>
        <p:spPr>
          <a:xfrm>
            <a:off x="5035235"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длина задана до запуска</a:t>
            </a:r>
          </a:p>
        </p:txBody>
      </p:sp>
      <p:sp>
        <p:nvSpPr>
          <p:cNvPr id="58" name="Rectangle 57"/>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TextBox 58"/>
          <p:cNvSpPr txBox="1"/>
          <p:nvPr/>
        </p:nvSpPr>
        <p:spPr>
          <a:xfrm>
            <a:off x="6714622"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физика выучена как корреляция</a:t>
            </a:r>
          </a:p>
        </p:txBody>
      </p:sp>
      <p:sp>
        <p:nvSpPr>
          <p:cNvPr id="60" name="Rectangle 59"/>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8394009"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62" name="Rectangle 61"/>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3" name="Rectangle 62"/>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65" name="Rectangle 64"/>
          <p:cNvSpPr/>
          <p:nvPr/>
        </p:nvSpPr>
        <p:spPr>
          <a:xfrm>
            <a:off x="3291839"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7" name="Rectangle 66"/>
          <p:cNvSpPr/>
          <p:nvPr/>
        </p:nvSpPr>
        <p:spPr>
          <a:xfrm>
            <a:off x="4971227"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9" name="Rectangle 68"/>
          <p:cNvSpPr/>
          <p:nvPr/>
        </p:nvSpPr>
        <p:spPr>
          <a:xfrm>
            <a:off x="6650614"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в кадровый бюджет не укладывается</a:t>
            </a:r>
          </a:p>
        </p:txBody>
      </p:sp>
      <p:sp>
        <p:nvSpPr>
          <p:cNvPr id="71" name="Rectangle 70"/>
          <p:cNvSpPr/>
          <p:nvPr/>
        </p:nvSpPr>
        <p:spPr>
          <a:xfrm>
            <a:off x="8330001"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около 1 мс на кадр</a:t>
            </a:r>
          </a:p>
        </p:txBody>
      </p:sp>
      <p:sp>
        <p:nvSpPr>
          <p:cNvPr id="73" name="Rectangle 72"/>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74" name="Rectangle 73"/>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75" name="TextBox 74"/>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76" name="Rectangle 75"/>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7" name="TextBox 76"/>
          <p:cNvSpPr txBox="1"/>
          <p:nvPr/>
        </p:nvSpPr>
        <p:spPr>
          <a:xfrm>
            <a:off x="3355847"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78" name="Rectangle 77"/>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035235"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0" name="Rectangle 79"/>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6714622"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2" name="Rectangle 81"/>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8394009"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4" name="Rectangle 83"/>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5" name="Rounded Rectangle 84"/>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86" name="Rectangle 85"/>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87" name="TextBox 86"/>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88" name="Rectangle 8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571347"/>
          </a:xfrm>
          <a:prstGeom prst="roundRect">
            <a:avLst>
              <a:gd name="adj" fmla="val 8534"/>
            </a:avLst>
          </a:prstGeom>
          <a:solidFill>
            <a:srgbClr val="F4F7FA"/>
          </a:solidFill>
          <a:ln w="19050">
            <a:solidFill>
              <a:srgbClr val="1C7293"/>
            </a:solidFill>
          </a:ln>
          <a:effectLst/>
        </p:spPr>
        <p:txBody>
          <a:bodyPr rtlCol="0" anchor="ctr"/>
          <a:lstStyle/>
          <a:p>
            <a:pPr algn="ctr"/>
          </a:p>
        </p:txBody>
      </p:sp>
      <p:pic>
        <p:nvPicPr>
          <p:cNvPr id="5" name="Picture 4" descr="s78-herculaneum-papyrus-1521.jpg"/>
          <p:cNvPicPr>
            <a:picLocks noChangeAspect="1"/>
          </p:cNvPicPr>
          <p:nvPr/>
        </p:nvPicPr>
        <p:blipFill>
          <a:blip r:embed="rId2"/>
          <a:stretch>
            <a:fillRect/>
          </a:stretch>
        </p:blipFill>
        <p:spPr>
          <a:xfrm>
            <a:off x="6949440" y="1051560"/>
            <a:ext cx="4602175" cy="3297027"/>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5. Распознавание и происхождение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10" name="TextBox 9"/>
          <p:cNvSpPr txBox="1"/>
          <p:nvPr/>
        </p:nvSpPr>
        <p:spPr>
          <a:xfrm>
            <a:off x="704088" y="472060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2140317"/>
            <a:ext cx="2261440"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40–61% статей содержат хотя бы одну ошибку</a:t>
            </a:r>
          </a:p>
        </p:txBody>
      </p:sp>
      <p:sp>
        <p:nvSpPr>
          <p:cNvPr id="7" name="TextBox 6"/>
          <p:cNvSpPr txBox="1"/>
          <p:nvPr/>
        </p:nvSpPr>
        <p:spPr>
          <a:xfrm>
            <a:off x="640080" y="2652191"/>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3203272" y="1335024"/>
            <a:ext cx="2535760" cy="3206516"/>
          </a:xfrm>
          <a:prstGeom prst="roundRect">
            <a:avLst>
              <a:gd name="adj" fmla="val 120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40432" y="1472184"/>
            <a:ext cx="226144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ИСПРАВЛЯЕТСЯ ПУБЛИЧНО</a:t>
            </a:r>
          </a:p>
        </p:txBody>
      </p:sp>
      <p:sp>
        <p:nvSpPr>
          <p:cNvPr id="10" name="TextBox 9"/>
          <p:cNvSpPr txBox="1"/>
          <p:nvPr/>
        </p:nvSpPr>
        <p:spPr>
          <a:xfrm>
            <a:off x="3340432" y="1932846"/>
            <a:ext cx="226144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3340432" y="2359845"/>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5903625"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040785"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ЭКСПЕРТИЗА ПОДЛИННОСТИ И РУЧНАЯ РЕСТАВРАЦИЯ</a:t>
            </a:r>
          </a:p>
        </p:txBody>
      </p:sp>
      <p:sp>
        <p:nvSpPr>
          <p:cNvPr id="14" name="TextBox 13"/>
          <p:cNvSpPr txBox="1"/>
          <p:nvPr/>
        </p:nvSpPr>
        <p:spPr>
          <a:xfrm>
            <a:off x="6040785" y="2140317"/>
            <a:ext cx="226144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6040785" y="3348163"/>
            <a:ext cx="226144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374904" y="4632980"/>
            <a:ext cx="8192498" cy="1603227"/>
          </a:xfrm>
          <a:prstGeom prst="roundRect">
            <a:avLst>
              <a:gd name="adj" fmla="val 1901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24420"/>
            <a:ext cx="7863314" cy="151178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Эту пару стоит прочитать дважды.</a:t>
            </a:r>
            <a:r>
              <a:rPr sz="1350" b="0" i="0">
                <a:solidFill>
                  <a:srgbClr val="21295C"/>
                </a:solidFill>
                <a:latin typeface="Arial"/>
              </a:rPr>
              <a:t> Классическая редакция без всякой модели ошибается в каждой второй статье и признаёт это в каждой пятидесятой. Без этой базы числа следующих разборов читаются совершенно иначе.</a:t>
            </a:r>
          </a:p>
          <a:p>
            <a:pPr algn="l">
              <a:lnSpc>
                <a:spcPct val="126000"/>
              </a:lnSpc>
              <a:spcBef>
                <a:spcPts val="700"/>
              </a:spcBef>
            </a:pPr>
            <a:r>
              <a:rPr sz="1350" b="0" i="0">
                <a:solidFill>
                  <a:srgbClr val="21295C"/>
                </a:solidFill>
                <a:latin typeface="Arial"/>
              </a:rPr>
              <a:t/>
            </a:r>
            <a:r>
              <a:rPr sz="1350" b="1" i="0">
                <a:solidFill>
                  <a:srgbClr val="21295C"/>
                </a:solidFill>
                <a:latin typeface="Arial"/>
              </a:rPr>
              <a:t>Ни один из трёх вопросов не отвечает на вопрос «правда ли это».</a:t>
            </a:r>
            <a:r>
              <a:rPr sz="1350" b="0" i="0">
                <a:solidFill>
                  <a:srgbClr val="21295C"/>
                </a:solidFill>
                <a:latin typeface="Arial"/>
              </a:rPr>
              <a:t> Подлинная фотография может иллюстрировать ложное утверждение, сгенерированная — сопровождать точный текст.</a:t>
            </a:r>
          </a:p>
        </p:txBody>
      </p:sp>
      <p:sp>
        <p:nvSpPr>
          <p:cNvPr id="18" name="Rounded Rectangle 17"/>
          <p:cNvSpPr/>
          <p:nvPr/>
        </p:nvSpPr>
        <p:spPr>
          <a:xfrm>
            <a:off x="8750282" y="1335024"/>
            <a:ext cx="2938492" cy="4389120"/>
          </a:xfrm>
          <a:prstGeom prst="roundRect">
            <a:avLst>
              <a:gd name="adj" fmla="val 10372"/>
            </a:avLst>
          </a:prstGeom>
          <a:solidFill>
            <a:srgbClr val="F4F7FA"/>
          </a:solidFill>
          <a:ln w="19050">
            <a:solidFill>
              <a:srgbClr val="1C7293"/>
            </a:solidFill>
          </a:ln>
          <a:effectLst/>
        </p:spPr>
        <p:txBody>
          <a:bodyPr rtlCol="0" anchor="ctr"/>
          <a:lstStyle/>
          <a:p>
            <a:pPr algn="ctr"/>
          </a:p>
        </p:txBody>
      </p:sp>
      <p:pic>
        <p:nvPicPr>
          <p:cNvPr id="19" name="Picture 18" descr="s79-piaggio-machine-1756.jpg"/>
          <p:cNvPicPr>
            <a:picLocks noChangeAspect="1"/>
          </p:cNvPicPr>
          <p:nvPr/>
        </p:nvPicPr>
        <p:blipFill>
          <a:blip r:embed="rId2"/>
          <a:stretch>
            <a:fillRect/>
          </a:stretch>
        </p:blipFill>
        <p:spPr>
          <a:xfrm>
            <a:off x="8887442" y="1472184"/>
            <a:ext cx="2664172"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pic>
        <p:nvPicPr>
          <p:cNvPr id="4" name="Picture 3" descr="s80-herculaneum-papyri.jpg"/>
          <p:cNvPicPr>
            <a:picLocks noChangeAspect="1"/>
          </p:cNvPicPr>
          <p:nvPr/>
        </p:nvPicPr>
        <p:blipFill>
          <a:blip r:embed="rId2"/>
          <a:srcRect t="26434" b="26434"/>
          <a:stretch>
            <a:fillRect/>
          </a:stretch>
        </p:blipFill>
        <p:spPr>
          <a:xfrm>
            <a:off x="502920" y="1335024"/>
            <a:ext cx="11185855" cy="4572000"/>
          </a:xfrm>
          <a:prstGeom prst="rect">
            <a:avLst/>
          </a:prstGeom>
        </p:spPr>
      </p:pic>
      <p:cxnSp>
        <p:nvCxnSpPr>
          <p:cNvPr id="5" name="Connector 4"/>
          <p:cNvCxnSpPr/>
          <p:nvPr/>
        </p:nvCxnSpPr>
        <p:spPr>
          <a:xfrm>
            <a:off x="3337560" y="1883664"/>
            <a:ext cx="856692" cy="0"/>
          </a:xfrm>
          <a:prstGeom prst="line">
            <a:avLst/>
          </a:prstGeom>
          <a:ln w="50800">
            <a:solidFill>
              <a:srgbClr val="FFFFFF"/>
            </a:solidFill>
          </a:ln>
          <a:effectLst/>
        </p:spPr>
      </p:cxnSp>
      <p:cxnSp>
        <p:nvCxnSpPr>
          <p:cNvPr id="6" name="Connector 5"/>
          <p:cNvCxnSpPr/>
          <p:nvPr/>
        </p:nvCxnSpPr>
        <p:spPr>
          <a:xfrm>
            <a:off x="3337560" y="1883664"/>
            <a:ext cx="856692" cy="0"/>
          </a:xfrm>
          <a:prstGeom prst="line">
            <a:avLst/>
          </a:prstGeom>
          <a:ln w="19050">
            <a:solidFill>
              <a:srgbClr val="065A82"/>
            </a:solidFill>
          </a:ln>
          <a:effectLst/>
        </p:spPr>
      </p:cxnSp>
      <p:cxnSp>
        <p:nvCxnSpPr>
          <p:cNvPr id="7" name="Connector 6"/>
          <p:cNvCxnSpPr/>
          <p:nvPr/>
        </p:nvCxnSpPr>
        <p:spPr>
          <a:xfrm>
            <a:off x="3337560" y="4169664"/>
            <a:ext cx="1080409" cy="0"/>
          </a:xfrm>
          <a:prstGeom prst="line">
            <a:avLst/>
          </a:prstGeom>
          <a:ln w="50800">
            <a:solidFill>
              <a:srgbClr val="FFFFFF"/>
            </a:solidFill>
          </a:ln>
          <a:effectLst/>
        </p:spPr>
      </p:cxnSp>
      <p:cxnSp>
        <p:nvCxnSpPr>
          <p:cNvPr id="8" name="Connector 7"/>
          <p:cNvCxnSpPr/>
          <p:nvPr/>
        </p:nvCxnSpPr>
        <p:spPr>
          <a:xfrm>
            <a:off x="3337560" y="4169664"/>
            <a:ext cx="1080409" cy="0"/>
          </a:xfrm>
          <a:prstGeom prst="line">
            <a:avLst/>
          </a:prstGeom>
          <a:ln w="19050">
            <a:solidFill>
              <a:srgbClr val="065A82"/>
            </a:solidFill>
          </a:ln>
          <a:effectLst/>
        </p:spPr>
      </p:cxnSp>
      <p:cxnSp>
        <p:nvCxnSpPr>
          <p:cNvPr id="9" name="Connector 8"/>
          <p:cNvCxnSpPr/>
          <p:nvPr/>
        </p:nvCxnSpPr>
        <p:spPr>
          <a:xfrm flipH="1">
            <a:off x="8109301" y="3849624"/>
            <a:ext cx="744834" cy="0"/>
          </a:xfrm>
          <a:prstGeom prst="line">
            <a:avLst/>
          </a:prstGeom>
          <a:ln w="50800">
            <a:solidFill>
              <a:srgbClr val="FFFFFF"/>
            </a:solidFill>
          </a:ln>
          <a:effectLst/>
        </p:spPr>
      </p:cxnSp>
      <p:cxnSp>
        <p:nvCxnSpPr>
          <p:cNvPr id="10" name="Connector 9"/>
          <p:cNvCxnSpPr/>
          <p:nvPr/>
        </p:nvCxnSpPr>
        <p:spPr>
          <a:xfrm flipH="1">
            <a:off x="8109301" y="3849624"/>
            <a:ext cx="744834" cy="0"/>
          </a:xfrm>
          <a:prstGeom prst="line">
            <a:avLst/>
          </a:prstGeom>
          <a:ln w="19050">
            <a:solidFill>
              <a:srgbClr val="065A82"/>
            </a:solidFill>
          </a:ln>
          <a:effectLst/>
        </p:spPr>
      </p:cxnSp>
      <p:sp>
        <p:nvSpPr>
          <p:cNvPr id="11" name="Rounded Rectangle 10"/>
          <p:cNvSpPr/>
          <p:nvPr/>
        </p:nvSpPr>
        <p:spPr>
          <a:xfrm>
            <a:off x="4107384" y="1796796"/>
            <a:ext cx="173736" cy="173736"/>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4134816" y="1824228"/>
            <a:ext cx="118872" cy="118872"/>
          </a:xfrm>
          <a:prstGeom prst="roundRect">
            <a:avLst>
              <a:gd name="adj" fmla="val 50000"/>
            </a:avLst>
          </a:prstGeom>
          <a:solidFill>
            <a:srgbClr val="065A82"/>
          </a:solidFill>
          <a:ln>
            <a:noFill/>
          </a:ln>
          <a:effectLst/>
        </p:spPr>
        <p:txBody>
          <a:bodyPr rtlCol="0" anchor="ctr"/>
          <a:lstStyle/>
          <a:p>
            <a:pPr algn="ctr"/>
          </a:p>
        </p:txBody>
      </p:sp>
      <p:sp>
        <p:nvSpPr>
          <p:cNvPr id="13" name="Rounded Rectangle 12"/>
          <p:cNvSpPr/>
          <p:nvPr/>
        </p:nvSpPr>
        <p:spPr>
          <a:xfrm>
            <a:off x="4331101" y="4082796"/>
            <a:ext cx="173736" cy="173736"/>
          </a:xfrm>
          <a:prstGeom prst="roundRect">
            <a:avLst>
              <a:gd name="adj" fmla="val 50000"/>
            </a:avLst>
          </a:prstGeom>
          <a:solidFill>
            <a:srgbClr val="FFFFFF"/>
          </a:solidFill>
          <a:ln>
            <a:noFill/>
          </a:ln>
          <a:effectLst/>
        </p:spPr>
        <p:txBody>
          <a:bodyPr rtlCol="0" anchor="ctr"/>
          <a:lstStyle/>
          <a:p>
            <a:pPr algn="ctr"/>
          </a:p>
        </p:txBody>
      </p:sp>
      <p:sp>
        <p:nvSpPr>
          <p:cNvPr id="14" name="Rounded Rectangle 13"/>
          <p:cNvSpPr/>
          <p:nvPr/>
        </p:nvSpPr>
        <p:spPr>
          <a:xfrm>
            <a:off x="4358533" y="4110228"/>
            <a:ext cx="118872" cy="118872"/>
          </a:xfrm>
          <a:prstGeom prst="roundRect">
            <a:avLst>
              <a:gd name="adj" fmla="val 50000"/>
            </a:avLst>
          </a:prstGeom>
          <a:solidFill>
            <a:srgbClr val="065A82"/>
          </a:solidFill>
          <a:ln>
            <a:noFill/>
          </a:ln>
          <a:effectLst/>
        </p:spPr>
        <p:txBody>
          <a:bodyPr rtlCol="0" anchor="ctr"/>
          <a:lstStyle/>
          <a:p>
            <a:pPr algn="ctr"/>
          </a:p>
        </p:txBody>
      </p:sp>
      <p:sp>
        <p:nvSpPr>
          <p:cNvPr id="15" name="Rounded Rectangle 14"/>
          <p:cNvSpPr/>
          <p:nvPr/>
        </p:nvSpPr>
        <p:spPr>
          <a:xfrm>
            <a:off x="8022433" y="3762756"/>
            <a:ext cx="173736" cy="173736"/>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8049865" y="3790187"/>
            <a:ext cx="118872" cy="118872"/>
          </a:xfrm>
          <a:prstGeom prst="roundRect">
            <a:avLst>
              <a:gd name="adj" fmla="val 50000"/>
            </a:avLst>
          </a:prstGeom>
          <a:solidFill>
            <a:srgbClr val="065A82"/>
          </a:solidFill>
          <a:ln>
            <a:noFill/>
          </a:ln>
          <a:effectLst/>
        </p:spPr>
        <p:txBody>
          <a:bodyPr rtlCol="0" anchor="ctr"/>
          <a:lstStyle/>
          <a:p>
            <a:pPr algn="ctr"/>
          </a:p>
        </p:txBody>
      </p:sp>
      <p:sp>
        <p:nvSpPr>
          <p:cNvPr id="17" name="Rounded Rectangle 16"/>
          <p:cNvSpPr/>
          <p:nvPr/>
        </p:nvSpPr>
        <p:spPr>
          <a:xfrm>
            <a:off x="502920" y="1600200"/>
            <a:ext cx="2834640" cy="1296443"/>
          </a:xfrm>
          <a:prstGeom prst="roundRect">
            <a:avLst>
              <a:gd name="adj" fmla="val 23510"/>
            </a:avLst>
          </a:prstGeom>
          <a:solidFill>
            <a:srgbClr val="F4F7FA"/>
          </a:solidFill>
          <a:ln w="19050">
            <a:solidFill>
              <a:srgbClr val="1C7293"/>
            </a:solidFill>
          </a:ln>
          <a:effectLst/>
        </p:spPr>
        <p:txBody>
          <a:bodyPr rtlCol="0" anchor="ctr"/>
          <a:lstStyle/>
          <a:p>
            <a:pPr algn="ctr"/>
          </a:p>
        </p:txBody>
      </p:sp>
      <p:sp>
        <p:nvSpPr>
          <p:cNvPr id="18" name="Rounded Rectangle 17"/>
          <p:cNvSpPr/>
          <p:nvPr/>
        </p:nvSpPr>
        <p:spPr>
          <a:xfrm>
            <a:off x="630936" y="1728216"/>
            <a:ext cx="310896" cy="310896"/>
          </a:xfrm>
          <a:prstGeom prst="roundRect">
            <a:avLst>
              <a:gd name="adj" fmla="val 50000"/>
            </a:avLst>
          </a:prstGeom>
          <a:solidFill>
            <a:srgbClr val="F0AB00"/>
          </a:solidFill>
          <a:ln>
            <a:noFill/>
          </a:ln>
          <a:effectLst/>
        </p:spPr>
        <p:txBody>
          <a:bodyPr rtlCol="0" anchor="ctr"/>
          <a:lstStyle/>
          <a:p>
            <a:pPr algn="ctr"/>
          </a:p>
        </p:txBody>
      </p:sp>
      <p:sp>
        <p:nvSpPr>
          <p:cNvPr id="19" name="TextBox 18"/>
          <p:cNvSpPr txBox="1"/>
          <p:nvPr/>
        </p:nvSpPr>
        <p:spPr>
          <a:xfrm>
            <a:off x="630936" y="1741932"/>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1</a:t>
            </a:r>
          </a:p>
        </p:txBody>
      </p:sp>
      <p:sp>
        <p:nvSpPr>
          <p:cNvPr id="20" name="TextBox 19"/>
          <p:cNvSpPr txBox="1"/>
          <p:nvPr/>
        </p:nvSpPr>
        <p:spPr>
          <a:xfrm>
            <a:off x="1033272" y="1728216"/>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Слой витка</a:t>
            </a:r>
          </a:p>
        </p:txBody>
      </p:sp>
      <p:sp>
        <p:nvSpPr>
          <p:cNvPr id="21" name="TextBox 20"/>
          <p:cNvSpPr txBox="1"/>
          <p:nvPr/>
        </p:nvSpPr>
        <p:spPr>
          <a:xfrm>
            <a:off x="630936" y="2112264"/>
            <a:ext cx="2578608" cy="656363"/>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поверхность вьётся спиралью внутри угольного цилиндра — читать её надо, не разворачивая</a:t>
            </a:r>
          </a:p>
        </p:txBody>
      </p:sp>
      <p:sp>
        <p:nvSpPr>
          <p:cNvPr id="22" name="Rounded Rectangle 21"/>
          <p:cNvSpPr/>
          <p:nvPr/>
        </p:nvSpPr>
        <p:spPr>
          <a:xfrm>
            <a:off x="502920" y="3886200"/>
            <a:ext cx="2834640" cy="1515231"/>
          </a:xfrm>
          <a:prstGeom prst="roundRect">
            <a:avLst>
              <a:gd name="adj" fmla="val 20115"/>
            </a:avLst>
          </a:prstGeom>
          <a:solidFill>
            <a:srgbClr val="F4F7FA"/>
          </a:solidFill>
          <a:ln w="19050">
            <a:solidFill>
              <a:srgbClr val="1C7293"/>
            </a:solidFill>
          </a:ln>
          <a:effectLst/>
        </p:spPr>
        <p:txBody>
          <a:bodyPr rtlCol="0" anchor="ctr"/>
          <a:lstStyle/>
          <a:p>
            <a:pPr algn="ctr"/>
          </a:p>
        </p:txBody>
      </p:sp>
      <p:sp>
        <p:nvSpPr>
          <p:cNvPr id="23" name="Rounded Rectangle 22"/>
          <p:cNvSpPr/>
          <p:nvPr/>
        </p:nvSpPr>
        <p:spPr>
          <a:xfrm>
            <a:off x="630936" y="4014215"/>
            <a:ext cx="310896" cy="310896"/>
          </a:xfrm>
          <a:prstGeom prst="roundRect">
            <a:avLst>
              <a:gd name="adj" fmla="val 50000"/>
            </a:avLst>
          </a:prstGeom>
          <a:solidFill>
            <a:srgbClr val="F0AB00"/>
          </a:solidFill>
          <a:ln>
            <a:noFill/>
          </a:ln>
          <a:effectLst/>
        </p:spPr>
        <p:txBody>
          <a:bodyPr rtlCol="0" anchor="ctr"/>
          <a:lstStyle/>
          <a:p>
            <a:pPr algn="ctr"/>
          </a:p>
        </p:txBody>
      </p:sp>
      <p:sp>
        <p:nvSpPr>
          <p:cNvPr id="24" name="TextBox 23"/>
          <p:cNvSpPr txBox="1"/>
          <p:nvPr/>
        </p:nvSpPr>
        <p:spPr>
          <a:xfrm>
            <a:off x="630936" y="4027931"/>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2</a:t>
            </a:r>
          </a:p>
        </p:txBody>
      </p:sp>
      <p:sp>
        <p:nvSpPr>
          <p:cNvPr id="25" name="TextBox 24"/>
          <p:cNvSpPr txBox="1"/>
          <p:nvPr/>
        </p:nvSpPr>
        <p:spPr>
          <a:xfrm>
            <a:off x="1033272" y="4014215"/>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Место разрыва</a:t>
            </a:r>
          </a:p>
        </p:txBody>
      </p:sp>
      <p:sp>
        <p:nvSpPr>
          <p:cNvPr id="26" name="TextBox 25"/>
          <p:cNvSpPr txBox="1"/>
          <p:nvPr/>
        </p:nvSpPr>
        <p:spPr>
          <a:xfrm>
            <a:off x="630936" y="4398264"/>
            <a:ext cx="2578608" cy="875151"/>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развернуть обугленный свиток означает раскрошить; за два с половиной века так погибла часть собрания</a:t>
            </a:r>
          </a:p>
        </p:txBody>
      </p:sp>
      <p:sp>
        <p:nvSpPr>
          <p:cNvPr id="27" name="Rounded Rectangle 26"/>
          <p:cNvSpPr/>
          <p:nvPr/>
        </p:nvSpPr>
        <p:spPr>
          <a:xfrm>
            <a:off x="8854135" y="3566160"/>
            <a:ext cx="2834640" cy="1077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Rounded Rectangle 27"/>
          <p:cNvSpPr/>
          <p:nvPr/>
        </p:nvSpPr>
        <p:spPr>
          <a:xfrm>
            <a:off x="8982151" y="3694176"/>
            <a:ext cx="310896" cy="310896"/>
          </a:xfrm>
          <a:prstGeom prst="roundRect">
            <a:avLst>
              <a:gd name="adj" fmla="val 50000"/>
            </a:avLst>
          </a:prstGeom>
          <a:solidFill>
            <a:srgbClr val="F0AB00"/>
          </a:solidFill>
          <a:ln>
            <a:noFill/>
          </a:ln>
          <a:effectLst/>
        </p:spPr>
        <p:txBody>
          <a:bodyPr rtlCol="0" anchor="ctr"/>
          <a:lstStyle/>
          <a:p>
            <a:pPr algn="ctr"/>
          </a:p>
        </p:txBody>
      </p:sp>
      <p:sp>
        <p:nvSpPr>
          <p:cNvPr id="29" name="TextBox 28"/>
          <p:cNvSpPr txBox="1"/>
          <p:nvPr/>
        </p:nvSpPr>
        <p:spPr>
          <a:xfrm>
            <a:off x="8982151" y="3707891"/>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3</a:t>
            </a:r>
          </a:p>
        </p:txBody>
      </p:sp>
      <p:sp>
        <p:nvSpPr>
          <p:cNvPr id="30" name="TextBox 29"/>
          <p:cNvSpPr txBox="1"/>
          <p:nvPr/>
        </p:nvSpPr>
        <p:spPr>
          <a:xfrm>
            <a:off x="9384487" y="3694176"/>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След чернил</a:t>
            </a:r>
          </a:p>
        </p:txBody>
      </p:sp>
      <p:sp>
        <p:nvSpPr>
          <p:cNvPr id="31" name="TextBox 30"/>
          <p:cNvSpPr txBox="1"/>
          <p:nvPr/>
        </p:nvSpPr>
        <p:spPr>
          <a:xfrm>
            <a:off x="8982151" y="4078224"/>
            <a:ext cx="2578608" cy="437575"/>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видны глазом на уже открытом фрагменте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читают неразвёрнутый свиток — и по каким датам</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читают свиток</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рентгеновская томография обугленного цилиндра: послойное просвечивание</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цифровое разворачивание: спираль папируса распрямляется в плоскость</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поиск следов чернил: углерод на обугленном папирусе</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изображение распрямлённой поверхности с проявленными чернилами</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Машина отвечает на один вопрос — где здесь чернила; обе её задачи имеют проверяемый ответ</a:t>
            </a:r>
          </a:p>
        </p:txBody>
      </p:sp>
      <p:sp>
        <p:nvSpPr>
          <p:cNvPr id="17" name="Rectangle 16"/>
          <p:cNvSpPr/>
          <p:nvPr/>
        </p:nvSpPr>
        <p:spPr>
          <a:xfrm>
            <a:off x="1202035" y="3583350"/>
            <a:ext cx="9787623" cy="50292"/>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818855" y="3526200"/>
            <a:ext cx="164592" cy="164592"/>
          </a:xfrm>
          <a:prstGeom prst="roundRect">
            <a:avLst>
              <a:gd name="adj" fmla="val 50000"/>
            </a:avLst>
          </a:prstGeom>
          <a:solidFill>
            <a:srgbClr val="065A82"/>
          </a:solidFill>
          <a:ln>
            <a:noFill/>
          </a:ln>
          <a:effectLst/>
        </p:spPr>
        <p:txBody>
          <a:bodyPr rtlCol="0" anchor="ctr"/>
          <a:lstStyle/>
          <a:p>
            <a:pPr algn="ctr"/>
          </a:p>
        </p:txBody>
      </p:sp>
      <p:sp>
        <p:nvSpPr>
          <p:cNvPr id="19" name="TextBox 18"/>
          <p:cNvSpPr txBox="1"/>
          <p:nvPr/>
        </p:nvSpPr>
        <p:spPr>
          <a:xfrm>
            <a:off x="502920" y="3191711"/>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Первое слово</a:t>
            </a:r>
          </a:p>
        </p:txBody>
      </p:sp>
      <p:sp>
        <p:nvSpPr>
          <p:cNvPr id="20" name="Rounded Rectangle 19"/>
          <p:cNvSpPr/>
          <p:nvPr/>
        </p:nvSpPr>
        <p:spPr>
          <a:xfrm>
            <a:off x="4615319" y="3526200"/>
            <a:ext cx="164592" cy="164592"/>
          </a:xfrm>
          <a:prstGeom prst="roundRect">
            <a:avLst>
              <a:gd name="adj" fmla="val 50000"/>
            </a:avLst>
          </a:prstGeom>
          <a:solidFill>
            <a:srgbClr val="065A82"/>
          </a:solidFill>
          <a:ln>
            <a:noFill/>
          </a:ln>
          <a:effectLst/>
        </p:spPr>
        <p:txBody>
          <a:bodyPr rtlCol="0" anchor="ctr"/>
          <a:lstStyle/>
          <a:p>
            <a:pPr algn="ctr"/>
          </a:p>
        </p:txBody>
      </p:sp>
      <p:sp>
        <p:nvSpPr>
          <p:cNvPr id="21" name="TextBox 20"/>
          <p:cNvSpPr txBox="1"/>
          <p:nvPr/>
        </p:nvSpPr>
        <p:spPr>
          <a:xfrm>
            <a:off x="3299383" y="3191711"/>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Связные отрывки</a:t>
            </a:r>
          </a:p>
        </p:txBody>
      </p:sp>
      <p:sp>
        <p:nvSpPr>
          <p:cNvPr id="22" name="Rounded Rectangle 21"/>
          <p:cNvSpPr/>
          <p:nvPr/>
        </p:nvSpPr>
        <p:spPr>
          <a:xfrm>
            <a:off x="7411783" y="3526200"/>
            <a:ext cx="164592" cy="164592"/>
          </a:xfrm>
          <a:prstGeom prst="roundRect">
            <a:avLst>
              <a:gd name="adj" fmla="val 50000"/>
            </a:avLst>
          </a:prstGeom>
          <a:solidFill>
            <a:srgbClr val="065A82"/>
          </a:solidFill>
          <a:ln>
            <a:noFill/>
          </a:ln>
          <a:effectLst/>
        </p:spPr>
        <p:txBody>
          <a:bodyPr rtlCol="0" anchor="ctr"/>
          <a:lstStyle/>
          <a:p>
            <a:pPr algn="ctr"/>
          </a:p>
        </p:txBody>
      </p:sp>
      <p:sp>
        <p:nvSpPr>
          <p:cNvPr id="23" name="TextBox 22"/>
          <p:cNvSpPr txBox="1"/>
          <p:nvPr/>
        </p:nvSpPr>
        <p:spPr>
          <a:xfrm>
            <a:off x="6095847" y="3191711"/>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Сочинения опознаны</a:t>
            </a:r>
          </a:p>
        </p:txBody>
      </p:sp>
      <p:sp>
        <p:nvSpPr>
          <p:cNvPr id="24" name="Rounded Rectangle 23"/>
          <p:cNvSpPr/>
          <p:nvPr/>
        </p:nvSpPr>
        <p:spPr>
          <a:xfrm>
            <a:off x="10208247" y="3526200"/>
            <a:ext cx="164592" cy="164592"/>
          </a:xfrm>
          <a:prstGeom prst="roundRect">
            <a:avLst>
              <a:gd name="adj" fmla="val 50000"/>
            </a:avLst>
          </a:prstGeom>
          <a:solidFill>
            <a:srgbClr val="065A82"/>
          </a:solidFill>
          <a:ln>
            <a:noFill/>
          </a:ln>
          <a:effectLst/>
        </p:spPr>
        <p:txBody>
          <a:bodyPr rtlCol="0" anchor="ctr"/>
          <a:lstStyle/>
          <a:p>
            <a:pPr algn="ctr"/>
          </a:p>
        </p:txBody>
      </p:sp>
      <p:sp>
        <p:nvSpPr>
          <p:cNvPr id="25" name="TextBox 24"/>
          <p:cNvSpPr txBox="1"/>
          <p:nvPr/>
        </p:nvSpPr>
        <p:spPr>
          <a:xfrm>
            <a:off x="8892311" y="3191711"/>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Свиток целиком</a:t>
            </a:r>
          </a:p>
        </p:txBody>
      </p:sp>
      <p:sp>
        <p:nvSpPr>
          <p:cNvPr id="26" name="Rectangle 25"/>
          <p:cNvSpPr/>
          <p:nvPr/>
        </p:nvSpPr>
        <p:spPr>
          <a:xfrm>
            <a:off x="1886521" y="3690792"/>
            <a:ext cx="29260" cy="329184"/>
          </a:xfrm>
          <a:prstGeom prst="rect">
            <a:avLst/>
          </a:prstGeom>
          <a:solidFill>
            <a:srgbClr val="065A82"/>
          </a:solidFill>
          <a:ln>
            <a:noFill/>
          </a:ln>
          <a:effectLst/>
        </p:spPr>
        <p:txBody>
          <a:bodyPr rtlCol="0" anchor="ctr"/>
          <a:lstStyle/>
          <a:p>
            <a:pPr algn="ctr"/>
          </a:p>
        </p:txBody>
      </p:sp>
      <p:sp>
        <p:nvSpPr>
          <p:cNvPr id="27" name="Rounded Rectangle 26"/>
          <p:cNvSpPr/>
          <p:nvPr/>
        </p:nvSpPr>
        <p:spPr>
          <a:xfrm>
            <a:off x="557784" y="4019976"/>
            <a:ext cx="2686735" cy="1284571"/>
          </a:xfrm>
          <a:prstGeom prst="roundRect">
            <a:avLst>
              <a:gd name="adj" fmla="val 23727"/>
            </a:avLst>
          </a:prstGeom>
          <a:solidFill>
            <a:srgbClr val="F4F7FA"/>
          </a:solidFill>
          <a:ln w="16510">
            <a:solidFill>
              <a:srgbClr val="1C7293"/>
            </a:solidFill>
          </a:ln>
          <a:effectLst/>
        </p:spPr>
        <p:txBody>
          <a:bodyPr rtlCol="0" anchor="ctr"/>
          <a:lstStyle/>
          <a:p>
            <a:pPr algn="ctr"/>
          </a:p>
        </p:txBody>
      </p:sp>
      <p:sp>
        <p:nvSpPr>
          <p:cNvPr id="28" name="Rounded Rectangle 27"/>
          <p:cNvSpPr/>
          <p:nvPr/>
        </p:nvSpPr>
        <p:spPr>
          <a:xfrm>
            <a:off x="685800" y="4147992"/>
            <a:ext cx="964891"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окт. 2023</a:t>
            </a:r>
          </a:p>
        </p:txBody>
      </p:sp>
      <p:sp>
        <p:nvSpPr>
          <p:cNvPr id="29" name="TextBox 28"/>
          <p:cNvSpPr txBox="1"/>
          <p:nvPr/>
        </p:nvSpPr>
        <p:spPr>
          <a:xfrm>
            <a:off x="685800" y="4504608"/>
            <a:ext cx="2430703" cy="67192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ΠΟΡΦΥΡΑϹ, «пурпур» — приз 40 000 $, нашёл двадцатиоднолетний участник</a:t>
            </a:r>
          </a:p>
        </p:txBody>
      </p:sp>
      <p:sp>
        <p:nvSpPr>
          <p:cNvPr id="30" name="Rectangle 29"/>
          <p:cNvSpPr/>
          <p:nvPr/>
        </p:nvSpPr>
        <p:spPr>
          <a:xfrm>
            <a:off x="4682985" y="3690792"/>
            <a:ext cx="29260" cy="329184"/>
          </a:xfrm>
          <a:prstGeom prst="rect">
            <a:avLst/>
          </a:prstGeom>
          <a:solidFill>
            <a:srgbClr val="065A82"/>
          </a:solidFill>
          <a:ln>
            <a:noFill/>
          </a:ln>
          <a:effectLst/>
        </p:spPr>
        <p:txBody>
          <a:bodyPr rtlCol="0" anchor="ctr"/>
          <a:lstStyle/>
          <a:p>
            <a:pPr algn="ctr"/>
          </a:p>
        </p:txBody>
      </p:sp>
      <p:sp>
        <p:nvSpPr>
          <p:cNvPr id="31" name="Rounded Rectangle 30"/>
          <p:cNvSpPr/>
          <p:nvPr/>
        </p:nvSpPr>
        <p:spPr>
          <a:xfrm>
            <a:off x="3354247" y="4019976"/>
            <a:ext cx="2686735" cy="1284571"/>
          </a:xfrm>
          <a:prstGeom prst="roundRect">
            <a:avLst>
              <a:gd name="adj" fmla="val 23727"/>
            </a:avLst>
          </a:prstGeom>
          <a:solidFill>
            <a:srgbClr val="F4F7FA"/>
          </a:solidFill>
          <a:ln w="16510">
            <a:solidFill>
              <a:srgbClr val="1C7293"/>
            </a:solidFill>
          </a:ln>
          <a:effectLst/>
        </p:spPr>
        <p:txBody>
          <a:bodyPr rtlCol="0" anchor="ctr"/>
          <a:lstStyle/>
          <a:p>
            <a:pPr algn="ctr"/>
          </a:p>
        </p:txBody>
      </p:sp>
      <p:sp>
        <p:nvSpPr>
          <p:cNvPr id="32" name="Rounded Rectangle 31"/>
          <p:cNvSpPr/>
          <p:nvPr/>
        </p:nvSpPr>
        <p:spPr>
          <a:xfrm>
            <a:off x="3482263" y="4147992"/>
            <a:ext cx="1151518"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февр. 2024</a:t>
            </a:r>
          </a:p>
        </p:txBody>
      </p:sp>
      <p:sp>
        <p:nvSpPr>
          <p:cNvPr id="33" name="TextBox 32"/>
          <p:cNvSpPr txBox="1"/>
          <p:nvPr/>
        </p:nvSpPr>
        <p:spPr>
          <a:xfrm>
            <a:off x="3482263" y="4504608"/>
            <a:ext cx="2430703" cy="67192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несколько связных отрывков одного свитка, главный приз 700 000 $</a:t>
            </a:r>
          </a:p>
        </p:txBody>
      </p:sp>
      <p:sp>
        <p:nvSpPr>
          <p:cNvPr id="34" name="Rectangle 33"/>
          <p:cNvSpPr/>
          <p:nvPr/>
        </p:nvSpPr>
        <p:spPr>
          <a:xfrm>
            <a:off x="7479449" y="3690792"/>
            <a:ext cx="29260" cy="329184"/>
          </a:xfrm>
          <a:prstGeom prst="rect">
            <a:avLst/>
          </a:prstGeom>
          <a:solidFill>
            <a:srgbClr val="065A82"/>
          </a:solidFill>
          <a:ln>
            <a:noFill/>
          </a:ln>
          <a:effectLst/>
        </p:spPr>
        <p:txBody>
          <a:bodyPr rtlCol="0" anchor="ctr"/>
          <a:lstStyle/>
          <a:p>
            <a:pPr algn="ctr"/>
          </a:p>
        </p:txBody>
      </p:sp>
      <p:sp>
        <p:nvSpPr>
          <p:cNvPr id="35" name="Rounded Rectangle 34"/>
          <p:cNvSpPr/>
          <p:nvPr/>
        </p:nvSpPr>
        <p:spPr>
          <a:xfrm>
            <a:off x="6150711" y="4019976"/>
            <a:ext cx="2686735" cy="1508546"/>
          </a:xfrm>
          <a:prstGeom prst="roundRect">
            <a:avLst>
              <a:gd name="adj" fmla="val 20204"/>
            </a:avLst>
          </a:prstGeom>
          <a:solidFill>
            <a:srgbClr val="F4F7FA"/>
          </a:solidFill>
          <a:ln w="16510">
            <a:solidFill>
              <a:srgbClr val="1C7293"/>
            </a:solidFill>
          </a:ln>
          <a:effectLst/>
        </p:spPr>
        <p:txBody>
          <a:bodyPr rtlCol="0" anchor="ctr"/>
          <a:lstStyle/>
          <a:p>
            <a:pPr algn="ctr"/>
          </a:p>
        </p:txBody>
      </p:sp>
      <p:sp>
        <p:nvSpPr>
          <p:cNvPr id="36" name="Rounded Rectangle 35"/>
          <p:cNvSpPr/>
          <p:nvPr/>
        </p:nvSpPr>
        <p:spPr>
          <a:xfrm>
            <a:off x="6278727" y="4147992"/>
            <a:ext cx="108244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2024–2025</a:t>
            </a:r>
          </a:p>
        </p:txBody>
      </p:sp>
      <p:sp>
        <p:nvSpPr>
          <p:cNvPr id="37" name="TextBox 36"/>
          <p:cNvSpPr txBox="1"/>
          <p:nvPr/>
        </p:nvSpPr>
        <p:spPr>
          <a:xfrm>
            <a:off x="6278727" y="4504608"/>
            <a:ext cx="2430703" cy="89589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Филодем, «О пороках» (PHerc. 172) — первый найденный заголовок; «О богах» (PHerc. 139)</a:t>
            </a:r>
          </a:p>
        </p:txBody>
      </p:sp>
      <p:sp>
        <p:nvSpPr>
          <p:cNvPr id="38" name="Rectangle 37"/>
          <p:cNvSpPr/>
          <p:nvPr/>
        </p:nvSpPr>
        <p:spPr>
          <a:xfrm>
            <a:off x="10275912" y="3690792"/>
            <a:ext cx="29260" cy="329184"/>
          </a:xfrm>
          <a:prstGeom prst="rect">
            <a:avLst/>
          </a:prstGeom>
          <a:solidFill>
            <a:srgbClr val="065A82"/>
          </a:solidFill>
          <a:ln>
            <a:noFill/>
          </a:ln>
          <a:effectLst/>
        </p:spPr>
        <p:txBody>
          <a:bodyPr rtlCol="0" anchor="ctr"/>
          <a:lstStyle/>
          <a:p>
            <a:pPr algn="ctr"/>
          </a:p>
        </p:txBody>
      </p:sp>
      <p:sp>
        <p:nvSpPr>
          <p:cNvPr id="39" name="Rounded Rectangle 38"/>
          <p:cNvSpPr/>
          <p:nvPr/>
        </p:nvSpPr>
        <p:spPr>
          <a:xfrm>
            <a:off x="8947175" y="4019976"/>
            <a:ext cx="2686735" cy="1284571"/>
          </a:xfrm>
          <a:prstGeom prst="roundRect">
            <a:avLst>
              <a:gd name="adj" fmla="val 23727"/>
            </a:avLst>
          </a:prstGeom>
          <a:solidFill>
            <a:srgbClr val="F4F7FA"/>
          </a:solidFill>
          <a:ln w="16510">
            <a:solidFill>
              <a:srgbClr val="1C7293"/>
            </a:solidFill>
          </a:ln>
          <a:effectLst/>
        </p:spPr>
        <p:txBody>
          <a:bodyPr rtlCol="0" anchor="ctr"/>
          <a:lstStyle/>
          <a:p>
            <a:pPr algn="ctr"/>
          </a:p>
        </p:txBody>
      </p:sp>
      <p:sp>
        <p:nvSpPr>
          <p:cNvPr id="40" name="Rounded Rectangle 39"/>
          <p:cNvSpPr/>
          <p:nvPr/>
        </p:nvSpPr>
        <p:spPr>
          <a:xfrm>
            <a:off x="9075191" y="4147992"/>
            <a:ext cx="108235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25.06.2026</a:t>
            </a:r>
          </a:p>
        </p:txBody>
      </p:sp>
      <p:sp>
        <p:nvSpPr>
          <p:cNvPr id="41" name="TextBox 40"/>
          <p:cNvSpPr txBox="1"/>
          <p:nvPr/>
        </p:nvSpPr>
        <p:spPr>
          <a:xfrm>
            <a:off x="9075191" y="4504608"/>
            <a:ext cx="2430703" cy="67192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PHerc. 1667 прочитан целиком, от начала до конца — впервые примерно за две тысячи лет</a:t>
            </a:r>
          </a:p>
        </p:txBody>
      </p:sp>
      <p:sp>
        <p:nvSpPr>
          <p:cNvPr id="42" name="TextBox 41"/>
          <p:cNvSpPr txBox="1"/>
          <p:nvPr/>
        </p:nvSpPr>
        <p:spPr>
          <a:xfrm>
            <a:off x="502920" y="567482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веха дешифровки свитка</a:t>
            </a:r>
          </a:p>
        </p:txBody>
      </p:sp>
      <p:sp>
        <p:nvSpPr>
          <p:cNvPr id="43" name="TextBox 42"/>
          <p:cNvSpPr txBox="1"/>
          <p:nvPr/>
        </p:nvSpPr>
        <p:spPr>
          <a:xfrm>
            <a:off x="502920" y="598572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Как это шло по датам</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980694"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790623"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a:t>
            </a:r>
          </a:p>
          <a:p>
            <a:pPr algn="ctr">
              <a:lnSpc>
                <a:spcPct val="110000"/>
              </a:lnSpc>
            </a:pPr>
            <a:r>
              <a:rPr sz="1200" b="0" i="0">
                <a:solidFill>
                  <a:srgbClr val="21295C"/>
                </a:solidFill>
                <a:latin typeface="Arial"/>
              </a:rPr>
              <a:t>Свиток</a:t>
            </a:r>
          </a:p>
        </p:txBody>
      </p:sp>
      <p:sp>
        <p:nvSpPr>
          <p:cNvPr id="9" name="Rectangle 8"/>
          <p:cNvSpPr/>
          <p:nvPr/>
        </p:nvSpPr>
        <p:spPr>
          <a:xfrm>
            <a:off x="10142707" y="2056290"/>
            <a:ext cx="50292" cy="1645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7371389"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90</a:t>
            </a:r>
          </a:p>
          <a:p>
            <a:pPr algn="ctr">
              <a:lnSpc>
                <a:spcPct val="110000"/>
              </a:lnSpc>
            </a:pPr>
            <a:r>
              <a:rPr sz="1200" b="0" i="0">
                <a:solidFill>
                  <a:srgbClr val="21295C"/>
                </a:solidFill>
                <a:latin typeface="Arial"/>
              </a:rPr>
              <a:t>«Оз» в Sphere</a:t>
            </a:r>
          </a:p>
        </p:txBody>
      </p:sp>
      <p:sp>
        <p:nvSpPr>
          <p:cNvPr id="11" name="TextBox 10"/>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кадра на выходе, порождённый моделью · доля изображения, которой в исходных данных не было</a:t>
            </a:r>
          </a:p>
        </p:txBody>
      </p:sp>
      <p:sp>
        <p:nvSpPr>
          <p:cNvPr id="12" name="TextBox 11"/>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Техника соседняя, доля домысленного различается на два порядка</a:t>
            </a:r>
          </a:p>
        </p:txBody>
      </p:sp>
      <p:sp>
        <p:nvSpPr>
          <p:cNvPr id="13" name="Rounded Rectangle 12"/>
          <p:cNvSpPr/>
          <p:nvPr/>
        </p:nvSpPr>
        <p:spPr>
          <a:xfrm>
            <a:off x="502920" y="3527496"/>
            <a:ext cx="5437479" cy="1830887"/>
          </a:xfrm>
          <a:prstGeom prst="roundRect">
            <a:avLst>
              <a:gd name="adj" fmla="val 16647"/>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Свиток Геркуланума</a:t>
            </a:r>
          </a:p>
        </p:txBody>
      </p:sp>
      <p:sp>
        <p:nvSpPr>
          <p:cNvPr id="15" name="TextBox 14"/>
          <p:cNvSpPr txBox="1"/>
          <p:nvPr/>
        </p:nvSpPr>
        <p:spPr>
          <a:xfrm>
            <a:off x="667512" y="4039123"/>
            <a:ext cx="5108295" cy="1163812"/>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исходный материал: обугленный папирус, около 1,4 метра</a:t>
            </a:r>
          </a:p>
          <a:p>
            <a:pPr algn="l">
              <a:lnSpc>
                <a:spcPct val="126000"/>
              </a:lnSpc>
            </a:pPr>
            <a:r>
              <a:rPr sz="1050" b="0" i="0">
                <a:solidFill>
                  <a:srgbClr val="21295C"/>
                </a:solidFill>
                <a:latin typeface="Arial"/>
              </a:rPr>
              <a:t>• что делает машина: находит чернила на томограмме</a:t>
            </a:r>
          </a:p>
          <a:p>
            <a:pPr algn="l">
              <a:lnSpc>
                <a:spcPct val="126000"/>
              </a:lnSpc>
            </a:pPr>
            <a:r>
              <a:rPr sz="1050" b="0" i="0">
                <a:solidFill>
                  <a:srgbClr val="21295C"/>
                </a:solidFill>
                <a:latin typeface="Arial"/>
              </a:rPr>
              <a:t>• кто читает результат: люди, греческий текст</a:t>
            </a:r>
          </a:p>
          <a:p>
            <a:pPr algn="l">
              <a:lnSpc>
                <a:spcPct val="126000"/>
              </a:lnSpc>
            </a:pPr>
            <a:r>
              <a:rPr sz="1050" b="0" i="0">
                <a:solidFill>
                  <a:srgbClr val="21295C"/>
                </a:solidFill>
                <a:latin typeface="Arial"/>
              </a:rPr>
              <a:t>• классический режим: не существует — альтернатива одна, не прочитать никогда</a:t>
            </a:r>
          </a:p>
          <a:p>
            <a:pPr algn="l">
              <a:lnSpc>
                <a:spcPct val="126000"/>
              </a:lnSpc>
            </a:pPr>
            <a:r>
              <a:rPr sz="1050" b="0" i="0">
                <a:solidFill>
                  <a:srgbClr val="21295C"/>
                </a:solidFill>
                <a:latin typeface="Arial"/>
              </a:rPr>
              <a:t>• что переехало: граница возможного</a:t>
            </a:r>
          </a:p>
        </p:txBody>
      </p:sp>
      <p:sp>
        <p:nvSpPr>
          <p:cNvPr id="16" name="Rounded Rectangle 15"/>
          <p:cNvSpPr/>
          <p:nvPr/>
        </p:nvSpPr>
        <p:spPr>
          <a:xfrm>
            <a:off x="6251295" y="3527496"/>
            <a:ext cx="5437479" cy="1830887"/>
          </a:xfrm>
          <a:prstGeom prst="roundRect">
            <a:avLst>
              <a:gd name="adj" fmla="val 16647"/>
            </a:avLst>
          </a:prstGeom>
          <a:solidFill>
            <a:srgbClr val="FFFFFF"/>
          </a:solidFill>
          <a:ln w="19050">
            <a:solidFill>
              <a:srgbClr val="028090"/>
            </a:solidFill>
          </a:ln>
          <a:effectLst/>
        </p:spPr>
        <p:txBody>
          <a:bodyPr rtlCol="0" anchor="ctr"/>
          <a:lstStyle/>
          <a:p>
            <a:pPr algn="ctr"/>
          </a:p>
        </p:txBody>
      </p:sp>
      <p:sp>
        <p:nvSpPr>
          <p:cNvPr id="17" name="TextBox 16"/>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«Волшебник страны Оз» в Sphere</a:t>
            </a:r>
          </a:p>
        </p:txBody>
      </p:sp>
      <p:sp>
        <p:nvSpPr>
          <p:cNvPr id="18" name="TextBox 17"/>
          <p:cNvSpPr txBox="1"/>
          <p:nvPr/>
        </p:nvSpPr>
        <p:spPr>
          <a:xfrm>
            <a:off x="6415887" y="4039123"/>
            <a:ext cx="5108295" cy="1163812"/>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исходный материал: плёнка 1939 года, кадр 4:3</a:t>
            </a:r>
          </a:p>
          <a:p>
            <a:pPr algn="l">
              <a:lnSpc>
                <a:spcPct val="126000"/>
              </a:lnSpc>
            </a:pPr>
            <a:r>
              <a:rPr sz="1100" b="0" i="0">
                <a:solidFill>
                  <a:srgbClr val="21295C"/>
                </a:solidFill>
                <a:latin typeface="Arial"/>
              </a:rPr>
              <a:t>• что делает машина: достраивает кадр по сторонам и повышает разрешение</a:t>
            </a:r>
          </a:p>
          <a:p>
            <a:pPr algn="l">
              <a:lnSpc>
                <a:spcPct val="126000"/>
              </a:lnSpc>
            </a:pPr>
            <a:r>
              <a:rPr sz="1100" b="0" i="0">
                <a:solidFill>
                  <a:srgbClr val="21295C"/>
                </a:solidFill>
                <a:latin typeface="Arial"/>
              </a:rPr>
              <a:t>• кто читает результат: зритель, как «тот самый фильм»</a:t>
            </a:r>
          </a:p>
          <a:p>
            <a:pPr algn="l">
              <a:lnSpc>
                <a:spcPct val="126000"/>
              </a:lnSpc>
            </a:pPr>
            <a:r>
              <a:rPr sz="1100" b="0" i="0">
                <a:solidFill>
                  <a:srgbClr val="21295C"/>
                </a:solidFill>
                <a:latin typeface="Arial"/>
              </a:rPr>
              <a:t>• классический режим: существует, не посчитан</a:t>
            </a:r>
          </a:p>
          <a:p>
            <a:pPr algn="l">
              <a:lnSpc>
                <a:spcPct val="126000"/>
              </a:lnSpc>
            </a:pPr>
            <a:r>
              <a:rPr sz="1100" b="0" i="0">
                <a:solidFill>
                  <a:srgbClr val="21295C"/>
                </a:solidFill>
                <a:latin typeface="Arial"/>
              </a:rPr>
              <a:t>• что переехало: граница между восстановлением и выдумыванием</a:t>
            </a:r>
          </a:p>
        </p:txBody>
      </p:sp>
      <p:sp>
        <p:nvSpPr>
          <p:cNvPr id="19" name="Rounded Rectangle 18"/>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Rounded Rectangle 19"/>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1" name="TextBox 20"/>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граница — можно ли проверить результат независимо от того, кто его получил</a:t>
            </a:r>
          </a:p>
        </p:txBody>
      </p:sp>
      <p:sp>
        <p:nvSpPr>
          <p:cNvPr id="22" name="Rectangle 21"/>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5364327" cy="1989942"/>
          </a:xfrm>
          <a:prstGeom prst="roundRect">
            <a:avLst>
              <a:gd name="adj" fmla="val 15317"/>
            </a:avLst>
          </a:prstGeom>
          <a:solidFill>
            <a:srgbClr val="F4F7FA"/>
          </a:solidFill>
          <a:ln w="19050">
            <a:solidFill>
              <a:srgbClr val="1C7293"/>
            </a:solidFill>
          </a:ln>
          <a:effectLst/>
        </p:spPr>
        <p:txBody>
          <a:bodyPr rtlCol="0" anchor="ctr"/>
          <a:lstStyle/>
          <a:p>
            <a:pPr algn="ctr"/>
          </a:p>
        </p:txBody>
      </p:sp>
      <p:sp>
        <p:nvSpPr>
          <p:cNvPr id="5" name="Rounded Rectangle 4"/>
          <p:cNvSpPr/>
          <p:nvPr/>
        </p:nvSpPr>
        <p:spPr>
          <a:xfrm>
            <a:off x="630936" y="1463040"/>
            <a:ext cx="5108295" cy="256032"/>
          </a:xfrm>
          <a:prstGeom prst="roundRect">
            <a:avLst>
              <a:gd name="adj" fmla="val 38000"/>
            </a:avLst>
          </a:prstGeom>
          <a:solidFill>
            <a:srgbClr val="E6F2F4"/>
          </a:solidFill>
          <a:ln>
            <a:noFill/>
          </a:ln>
          <a:effectLst/>
        </p:spPr>
        <p:txBody>
          <a:bodyPr rtlCol="0" anchor="ctr"/>
          <a:lstStyle/>
          <a:p>
            <a:pPr algn="ctr"/>
          </a:p>
        </p:txBody>
      </p:sp>
      <p:sp>
        <p:nvSpPr>
          <p:cNvPr id="6" name="TextBox 5"/>
          <p:cNvSpPr txBox="1"/>
          <p:nvPr/>
        </p:nvSpPr>
        <p:spPr>
          <a:xfrm>
            <a:off x="685800" y="1463040"/>
            <a:ext cx="4998567"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патч → токен</a:t>
            </a:r>
          </a:p>
        </p:txBody>
      </p:sp>
      <p:sp>
        <p:nvSpPr>
          <p:cNvPr id="7" name="TextBox 6"/>
          <p:cNvSpPr txBox="1"/>
          <p:nvPr/>
        </p:nvSpPr>
        <p:spPr>
          <a:xfrm>
            <a:off x="630936" y="1810512"/>
            <a:ext cx="5108295"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Модель зрения (ViT)</a:t>
            </a:r>
          </a:p>
        </p:txBody>
      </p:sp>
      <p:sp>
        <p:nvSpPr>
          <p:cNvPr id="8" name="TextBox 7"/>
          <p:cNvSpPr txBox="1"/>
          <p:nvPr/>
        </p:nvSpPr>
        <p:spPr>
          <a:xfrm>
            <a:off x="630936" y="2178580"/>
            <a:ext cx="5108295"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картинка режется на патчи; обычный трансформер-энкодер, те же блоки внимания</a:t>
            </a:r>
          </a:p>
          <a:p>
            <a:pPr algn="l">
              <a:lnSpc>
                <a:spcPct val="114000"/>
              </a:lnSpc>
              <a:spcBef>
                <a:spcPts val="400"/>
              </a:spcBef>
            </a:pPr>
            <a:r>
              <a:rPr sz="1350" b="0" i="0">
                <a:solidFill>
                  <a:srgbClr val="21295C"/>
                </a:solidFill>
                <a:latin typeface="Arial"/>
              </a:rPr>
              <a:t/>
            </a:r>
            <a:r>
              <a:rPr sz="1350" b="0" i="0">
                <a:solidFill>
                  <a:srgbClr val="21295C"/>
                </a:solidFill>
                <a:latin typeface="Arial"/>
              </a:rPr>
              <a:t>один прямой проход — метка; дешевле порождения на порядки против десятков шагов снятия шума</a:t>
            </a:r>
          </a:p>
        </p:txBody>
      </p:sp>
      <p:sp>
        <p:nvSpPr>
          <p:cNvPr id="9" name="Right Arrow 8"/>
          <p:cNvSpPr/>
          <p:nvPr/>
        </p:nvSpPr>
        <p:spPr>
          <a:xfrm>
            <a:off x="5958687" y="2256843"/>
            <a:ext cx="274320" cy="146304"/>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324447" y="1335024"/>
            <a:ext cx="5364327" cy="1989942"/>
          </a:xfrm>
          <a:prstGeom prst="roundRect">
            <a:avLst>
              <a:gd name="adj" fmla="val 15317"/>
            </a:avLst>
          </a:prstGeom>
          <a:solidFill>
            <a:srgbClr val="F4F7FA"/>
          </a:solidFill>
          <a:ln w="19050">
            <a:solidFill>
              <a:srgbClr val="1C7293"/>
            </a:solidFill>
          </a:ln>
          <a:effectLst/>
        </p:spPr>
        <p:txBody>
          <a:bodyPr rtlCol="0" anchor="ctr"/>
          <a:lstStyle/>
          <a:p>
            <a:pPr algn="ctr"/>
          </a:p>
        </p:txBody>
      </p:sp>
      <p:sp>
        <p:nvSpPr>
          <p:cNvPr id="11" name="Rounded Rectangle 10"/>
          <p:cNvSpPr/>
          <p:nvPr/>
        </p:nvSpPr>
        <p:spPr>
          <a:xfrm>
            <a:off x="6452463" y="1463040"/>
            <a:ext cx="5108295" cy="256032"/>
          </a:xfrm>
          <a:prstGeom prst="roundRect">
            <a:avLst>
              <a:gd name="adj" fmla="val 38000"/>
            </a:avLst>
          </a:prstGeom>
          <a:solidFill>
            <a:srgbClr val="E6F2F4"/>
          </a:solidFill>
          <a:ln>
            <a:noFill/>
          </a:ln>
          <a:effectLst/>
        </p:spPr>
        <p:txBody>
          <a:bodyPr rtlCol="0" anchor="ctr"/>
          <a:lstStyle/>
          <a:p>
            <a:pPr algn="ctr"/>
          </a:p>
        </p:txBody>
      </p:sp>
      <p:sp>
        <p:nvSpPr>
          <p:cNvPr id="12" name="TextBox 11"/>
          <p:cNvSpPr txBox="1"/>
          <p:nvPr/>
        </p:nvSpPr>
        <p:spPr>
          <a:xfrm>
            <a:off x="6507327" y="1463040"/>
            <a:ext cx="4998567"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картинка + текст → общее пространство</a:t>
            </a:r>
          </a:p>
        </p:txBody>
      </p:sp>
      <p:sp>
        <p:nvSpPr>
          <p:cNvPr id="13" name="TextBox 12"/>
          <p:cNvSpPr txBox="1"/>
          <p:nvPr/>
        </p:nvSpPr>
        <p:spPr>
          <a:xfrm>
            <a:off x="6452463" y="1810512"/>
            <a:ext cx="5108295"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Пара энкодеров (CLIP)</a:t>
            </a:r>
          </a:p>
        </p:txBody>
      </p:sp>
      <p:sp>
        <p:nvSpPr>
          <p:cNvPr id="14" name="TextBox 13"/>
          <p:cNvSpPr txBox="1"/>
          <p:nvPr/>
        </p:nvSpPr>
        <p:spPr>
          <a:xfrm>
            <a:off x="6452463" y="2178580"/>
            <a:ext cx="5108295"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энкодер картинки и энкодер текста учатся вместе на 400 млн пар «изображение — подпись»</a:t>
            </a:r>
          </a:p>
          <a:p>
            <a:pPr algn="l">
              <a:lnSpc>
                <a:spcPct val="114000"/>
              </a:lnSpc>
              <a:spcBef>
                <a:spcPts val="400"/>
              </a:spcBef>
            </a:pPr>
            <a:r>
              <a:rPr sz="1350" b="0" i="0">
                <a:solidFill>
                  <a:srgbClr val="21295C"/>
                </a:solidFill>
                <a:latin typeface="Arial"/>
              </a:rPr>
              <a:t/>
            </a:r>
            <a:r>
              <a:rPr sz="1350" b="0" i="0">
                <a:solidFill>
                  <a:srgbClr val="21295C"/>
                </a:solidFill>
                <a:latin typeface="Arial"/>
              </a:rPr>
              <a:t>оба проецируют вход в одно общее пространство; обучение — угадать, какая подпись какому изображению</a:t>
            </a:r>
          </a:p>
        </p:txBody>
      </p:sp>
      <p:sp>
        <p:nvSpPr>
          <p:cNvPr id="15" name="Right Arrow 14"/>
          <p:cNvSpPr/>
          <p:nvPr/>
        </p:nvSpPr>
        <p:spPr>
          <a:xfrm>
            <a:off x="502920" y="3507846"/>
            <a:ext cx="11185855" cy="960120"/>
          </a:xfrm>
          <a:prstGeom prst="rightArrow">
            <a:avLst>
              <a:gd name="adj1" fmla="val 82000"/>
              <a:gd name="adj2" fmla="val 8000"/>
            </a:avLst>
          </a:prstGeom>
          <a:solidFill>
            <a:srgbClr val="F0AB00"/>
          </a:solidFill>
          <a:ln>
            <a:noFill/>
          </a:ln>
          <a:effectLst/>
        </p:spPr>
        <p:txBody>
          <a:bodyPr rtlCol="0" anchor="ctr"/>
          <a:lstStyle/>
          <a:p>
            <a:pPr algn="ctr"/>
          </a:p>
        </p:txBody>
      </p:sp>
      <p:sp>
        <p:nvSpPr>
          <p:cNvPr id="16" name="TextBox 15"/>
          <p:cNvSpPr txBox="1"/>
          <p:nvPr/>
        </p:nvSpPr>
        <p:spPr>
          <a:xfrm>
            <a:off x="722376" y="3690813"/>
            <a:ext cx="10198303" cy="594185"/>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Генерация</a:t>
            </a:r>
          </a:p>
          <a:p>
            <a:pPr algn="l">
              <a:lnSpc>
                <a:spcPct val="116000"/>
              </a:lnSpc>
              <a:spcBef>
                <a:spcPts val="300"/>
              </a:spcBef>
            </a:pPr>
            <a:r>
              <a:rPr sz="1450" b="0" i="0">
                <a:solidFill>
                  <a:srgbClr val="21295C"/>
                </a:solidFill>
                <a:latin typeface="Arial"/>
              </a:rPr>
              <a:t/>
            </a:r>
            <a:r>
              <a:rPr sz="1450" b="0" i="0">
                <a:solidFill>
                  <a:srgbClr val="21295C"/>
                </a:solidFill>
                <a:latin typeface="Arial"/>
              </a:rPr>
              <a:t>запрос участвует на каждом из 20–50 шагов; меняется латент, эмбеддинг запроса заморожен</a:t>
            </a:r>
          </a:p>
        </p:txBody>
      </p:sp>
      <p:sp>
        <p:nvSpPr>
          <p:cNvPr id="17" name="Left Arrow 16"/>
          <p:cNvSpPr/>
          <p:nvPr/>
        </p:nvSpPr>
        <p:spPr>
          <a:xfrm>
            <a:off x="502920" y="4687422"/>
            <a:ext cx="11185855" cy="960120"/>
          </a:xfrm>
          <a:prstGeom prst="leftArrow">
            <a:avLst>
              <a:gd name="adj1" fmla="val 82000"/>
              <a:gd name="adj2" fmla="val 8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1271016" y="4870389"/>
            <a:ext cx="10198303" cy="594185"/>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Распознавание</a:t>
            </a:r>
          </a:p>
          <a:p>
            <a:pPr algn="l">
              <a:lnSpc>
                <a:spcPct val="116000"/>
              </a:lnSpc>
              <a:spcBef>
                <a:spcPts val="300"/>
              </a:spcBef>
            </a:pPr>
            <a:r>
              <a:rPr sz="1450" b="0" i="0">
                <a:solidFill>
                  <a:srgbClr val="21295C"/>
                </a:solidFill>
                <a:latin typeface="Arial"/>
              </a:rPr>
              <a:t/>
            </a:r>
            <a:r>
              <a:rPr sz="1450" b="0" i="0">
                <a:solidFill>
                  <a:srgbClr val="21295C"/>
                </a:solidFill>
                <a:latin typeface="Arial"/>
              </a:rPr>
              <a:t>запрос входит один раз; 12–32 слоя за один проход, узкое место — одно число</a:t>
            </a:r>
          </a:p>
        </p:txBody>
      </p:sp>
      <p:sp>
        <p:nvSpPr>
          <p:cNvPr id="19" name="Rounded Rectangle 18"/>
          <p:cNvSpPr/>
          <p:nvPr/>
        </p:nvSpPr>
        <p:spPr>
          <a:xfrm>
            <a:off x="374904" y="5738982"/>
            <a:ext cx="11441887" cy="49722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830422"/>
            <a:ext cx="11112703" cy="4057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Порождение и распознавание расходятся в трёх местах:</a:t>
            </a:r>
            <a:r>
              <a:rPr sz="1500" b="0" i="0">
                <a:solidFill>
                  <a:srgbClr val="21295C"/>
                </a:solidFill>
                <a:latin typeface="Arial"/>
              </a:rPr>
              <a:t> стоимость, проверяемость, обучение.</a:t>
            </a:r>
          </a:p>
        </p:txBody>
      </p:sp>
      <p:sp>
        <p:nvSpPr>
          <p:cNvPr id="21" name="Rectangle 2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 публичные страницы раскрытия Steam; сообщения площадки о дубляже, 11 февраля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В ТОЙ ЖЕ СТРОКЕ ТАБЛИЦЫ</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94,9</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мера: 0,5 из 1 — монета, 1,0 — без промаха. Здесь 0,949, то есть «отлично», при решении, не отличимом от монеты. Если приёмка смотрела на эту величину, она увидела отличный распознаватель</a:t>
            </a:r>
          </a:p>
        </p:txBody>
      </p:sp>
      <p:sp>
        <p:nvSpPr>
          <p:cNvPr id="8" name="Rectangle 7"/>
          <p:cNvSpPr/>
          <p:nvPr/>
        </p:nvSpPr>
        <p:spPr>
          <a:xfrm>
            <a:off x="754380" y="3565875"/>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45</a:t>
            </a:r>
          </a:p>
        </p:txBody>
      </p:sp>
      <p:sp>
        <p:nvSpPr>
          <p:cNvPr id="10" name="TextBox 9"/>
          <p:cNvSpPr txBox="1"/>
          <p:nvPr/>
        </p:nvSpPr>
        <p:spPr>
          <a:xfrm>
            <a:off x="11071555"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11" name="Rectangle 10"/>
          <p:cNvSpPr/>
          <p:nvPr/>
        </p:nvSpPr>
        <p:spPr>
          <a:xfrm>
            <a:off x="836676" y="3485408"/>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485408"/>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2128259" y="3401283"/>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1034819"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51,2</a:t>
            </a:r>
          </a:p>
          <a:p>
            <a:pPr algn="ctr">
              <a:lnSpc>
                <a:spcPct val="110000"/>
              </a:lnSpc>
            </a:pPr>
            <a:r>
              <a:rPr sz="1200" b="0" i="0">
                <a:solidFill>
                  <a:srgbClr val="21295C"/>
                </a:solidFill>
                <a:latin typeface="Arial"/>
              </a:rPr>
              <a:t>ADM</a:t>
            </a:r>
          </a:p>
        </p:txBody>
      </p:sp>
      <p:sp>
        <p:nvSpPr>
          <p:cNvPr id="15" name="Rectangle 14"/>
          <p:cNvSpPr/>
          <p:nvPr/>
        </p:nvSpPr>
        <p:spPr>
          <a:xfrm>
            <a:off x="2257823" y="3616167"/>
            <a:ext cx="50292" cy="1645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1164383"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51,9</a:t>
            </a:r>
          </a:p>
          <a:p>
            <a:pPr algn="ctr">
              <a:lnSpc>
                <a:spcPct val="110000"/>
              </a:lnSpc>
            </a:pPr>
            <a:r>
              <a:rPr sz="1200" b="0" i="0">
                <a:solidFill>
                  <a:srgbClr val="21295C"/>
                </a:solidFill>
                <a:latin typeface="Arial"/>
              </a:rPr>
              <a:t>DALL·E 2</a:t>
            </a:r>
          </a:p>
        </p:txBody>
      </p:sp>
      <p:sp>
        <p:nvSpPr>
          <p:cNvPr id="17" name="Rectangle 16"/>
          <p:cNvSpPr/>
          <p:nvPr/>
        </p:nvSpPr>
        <p:spPr>
          <a:xfrm>
            <a:off x="4367862" y="3401283"/>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274423"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63,3</a:t>
            </a:r>
          </a:p>
          <a:p>
            <a:pPr algn="ctr">
              <a:lnSpc>
                <a:spcPct val="110000"/>
              </a:lnSpc>
            </a:pPr>
            <a:r>
              <a:rPr sz="1200" b="0" i="0">
                <a:solidFill>
                  <a:srgbClr val="21295C"/>
                </a:solidFill>
                <a:latin typeface="Arial"/>
              </a:rPr>
              <a:t>после обрезки и пережатия</a:t>
            </a:r>
          </a:p>
        </p:txBody>
      </p:sp>
      <p:sp>
        <p:nvSpPr>
          <p:cNvPr id="19" name="Rectangle 18"/>
          <p:cNvSpPr/>
          <p:nvPr/>
        </p:nvSpPr>
        <p:spPr>
          <a:xfrm>
            <a:off x="10809035" y="3616167"/>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9715596"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98,1</a:t>
            </a:r>
          </a:p>
          <a:p>
            <a:pPr algn="ctr">
              <a:lnSpc>
                <a:spcPct val="110000"/>
              </a:lnSpc>
            </a:pPr>
            <a:r>
              <a:rPr sz="1200" b="0" i="0">
                <a:solidFill>
                  <a:srgbClr val="21295C"/>
                </a:solidFill>
                <a:latin typeface="Arial"/>
              </a:rPr>
              <a:t>StyleGAN2</a:t>
            </a:r>
          </a:p>
        </p:txBody>
      </p:sp>
      <p:sp>
        <p:nvSpPr>
          <p:cNvPr id="21" name="Rectangle 20"/>
          <p:cNvSpPr/>
          <p:nvPr/>
        </p:nvSpPr>
        <p:spPr>
          <a:xfrm>
            <a:off x="11142200" y="3401283"/>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10048760"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99,9</a:t>
            </a:r>
          </a:p>
          <a:p>
            <a:pPr algn="ctr">
              <a:lnSpc>
                <a:spcPct val="110000"/>
              </a:lnSpc>
            </a:pPr>
            <a:r>
              <a:rPr sz="1200" b="0" i="0">
                <a:solidFill>
                  <a:srgbClr val="21295C"/>
                </a:solidFill>
                <a:latin typeface="Arial"/>
              </a:rPr>
              <a:t>своё семейство</a:t>
            </a:r>
          </a:p>
        </p:txBody>
      </p:sp>
      <p:sp>
        <p:nvSpPr>
          <p:cNvPr id="23" name="TextBox 22"/>
          <p:cNvSpPr txBox="1"/>
          <p:nvPr/>
        </p:nvSpPr>
        <p:spPr>
          <a:xfrm>
            <a:off x="502920" y="439687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ответов при рабочем пороге · один и тот же распознаватель, разные источники изображений</a:t>
            </a:r>
          </a:p>
        </p:txBody>
      </p:sp>
      <p:sp>
        <p:nvSpPr>
          <p:cNvPr id="24" name="TextBox 23"/>
          <p:cNvSpPr txBox="1"/>
          <p:nvPr/>
        </p:nvSpPr>
        <p:spPr>
          <a:xfrm>
            <a:off x="502920" y="468947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Своё семейство · чужое семейство · та же картинка после обычной обработки. Половина шкалы — подбрасывание монеты</a:t>
            </a:r>
          </a:p>
        </p:txBody>
      </p:sp>
      <p:sp>
        <p:nvSpPr>
          <p:cNvPr id="25" name="Rounded Rectangle 24"/>
          <p:cNvSpPr/>
          <p:nvPr/>
        </p:nvSpPr>
        <p:spPr>
          <a:xfrm>
            <a:off x="374904" y="4995934"/>
            <a:ext cx="11441887" cy="1240273"/>
          </a:xfrm>
          <a:prstGeom prst="roundRect">
            <a:avLst>
              <a:gd name="adj" fmla="val 2457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087374"/>
            <a:ext cx="5373471" cy="114883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Выбор между двумя честными цифрами решает, поставите вы такую систему в работу или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спрашивайте долю верных ответов при рабочем пороге, а не площадь под кривой</a:t>
            </a:r>
          </a:p>
        </p:txBody>
      </p:sp>
      <p:sp>
        <p:nvSpPr>
          <p:cNvPr id="27" name="TextBox 26"/>
          <p:cNvSpPr txBox="1"/>
          <p:nvPr/>
        </p:nvSpPr>
        <p:spPr>
          <a:xfrm>
            <a:off x="6278727" y="5087374"/>
            <a:ext cx="5373471" cy="114883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спрашивайте у поставщика, на чём распознаватель измерен, и сверяйте с тем, на чём будете применять</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починка существует и неполная: среднее по тем же двенадцати генераторам поднимается с 75,8 до 87,8, а DALL·E 2 остаётся на 66,9</a:t>
            </a:r>
          </a:p>
        </p:txBody>
      </p:sp>
      <p:sp>
        <p:nvSpPr>
          <p:cNvPr id="28" name="Rectangle 27"/>
          <p:cNvSpPr/>
          <p:nvPr/>
        </p:nvSpPr>
        <p:spPr>
          <a:xfrm>
            <a:off x="6091275" y="5087374"/>
            <a:ext cx="9144" cy="107910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подписи камеры: эксплойт и дыра в спецификации</a:t>
            </a:r>
          </a:p>
        </p:txBody>
      </p:sp>
      <p:sp>
        <p:nvSpPr>
          <p:cNvPr id="4" name="Rounded Rectangle 3"/>
          <p:cNvSpPr/>
          <p:nvPr/>
        </p:nvSpPr>
        <p:spPr>
          <a:xfrm>
            <a:off x="502920" y="1335024"/>
            <a:ext cx="5437479" cy="2664364"/>
          </a:xfrm>
          <a:prstGeom prst="roundRect">
            <a:avLst>
              <a:gd name="adj" fmla="val 11439"/>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25 августа 2026 — эксплойт StrongBox</a:t>
            </a:r>
          </a:p>
        </p:txBody>
      </p:sp>
      <p:sp>
        <p:nvSpPr>
          <p:cNvPr id="6" name="TextBox 5"/>
          <p:cNvSpPr txBox="1"/>
          <p:nvPr/>
        </p:nvSpPr>
        <p:spPr>
          <a:xfrm>
            <a:off x="667512" y="1846650"/>
            <a:ext cx="5108295" cy="1997289"/>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нужен root на устройстве (CVE-2026-43499 — обычная уязвимость ядра Linux, не специфичная для камеры)</a:t>
            </a:r>
          </a:p>
          <a:p>
            <a:pPr algn="l">
              <a:lnSpc>
                <a:spcPct val="126000"/>
              </a:lnSpc>
            </a:pPr>
            <a:r>
              <a:rPr sz="1200" b="0" i="0">
                <a:solidFill>
                  <a:srgbClr val="21295C"/>
                </a:solidFill>
                <a:latin typeface="Arial"/>
              </a:rPr>
              <a:t>• с root атакующий просит аппаратный модуль StrongBox подписать произвольные данные тем же ключом, что и настоящая камера</a:t>
            </a:r>
          </a:p>
          <a:p>
            <a:pPr algn="l">
              <a:lnSpc>
                <a:spcPct val="126000"/>
              </a:lnSpc>
            </a:pPr>
            <a:r>
              <a:rPr sz="1200" b="0" i="0">
                <a:solidFill>
                  <a:srgbClr val="21295C"/>
                </a:solidFill>
                <a:latin typeface="Arial"/>
              </a:rPr>
              <a:t>• жертва — Pixel Camera: наивысший сертификат доверия C2PA, Assurance Level 2 — ломается образцовый случай, не слабый</a:t>
            </a:r>
          </a:p>
          <a:p>
            <a:pPr algn="l">
              <a:lnSpc>
                <a:spcPct val="126000"/>
              </a:lnSpc>
            </a:pPr>
            <a:r>
              <a:rPr sz="1200" b="0" i="0">
                <a:solidFill>
                  <a:srgbClr val="21295C"/>
                </a:solidFill>
                <a:latin typeface="Arial"/>
              </a:rPr>
              <a:t>• Google: «Won't fix (infeasible)», вознаграждение 7 500 $ — починка означала бы перестроить весь конвейер внутри защищённого анклава</a:t>
            </a:r>
          </a:p>
        </p:txBody>
      </p:sp>
      <p:sp>
        <p:nvSpPr>
          <p:cNvPr id="7" name="Rounded Rectangle 6"/>
          <p:cNvSpPr/>
          <p:nvPr/>
        </p:nvSpPr>
        <p:spPr>
          <a:xfrm>
            <a:off x="6251295" y="1335024"/>
            <a:ext cx="5437479" cy="2664364"/>
          </a:xfrm>
          <a:prstGeom prst="roundRect">
            <a:avLst>
              <a:gd name="adj" fmla="val 11439"/>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2 октября 2026 — дыра в спецификации</a:t>
            </a:r>
          </a:p>
        </p:txBody>
      </p:sp>
      <p:sp>
        <p:nvSpPr>
          <p:cNvPr id="9" name="TextBox 8"/>
          <p:cNvSpPr txBox="1"/>
          <p:nvPr/>
        </p:nvSpPr>
        <p:spPr>
          <a:xfrm>
            <a:off x="6415887" y="1846650"/>
            <a:ext cx="5108295" cy="199728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root не нужен вовсе, доступ к устройству не нужен — ломается не телефон, а формат</a:t>
            </a:r>
          </a:p>
          <a:p>
            <a:pPr algn="l">
              <a:lnSpc>
                <a:spcPct val="126000"/>
              </a:lnSpc>
            </a:pPr>
            <a:r>
              <a:rPr sz="1000" b="0" i="0">
                <a:solidFill>
                  <a:srgbClr val="21295C"/>
                </a:solidFill>
                <a:latin typeface="Arial"/>
              </a:rPr>
              <a:t>• «исключаемые диапазоны байт»: из хеша исключается весь файл, подпись и метка времени стоят над пустой строкой</a:t>
            </a:r>
          </a:p>
          <a:p>
            <a:pPr algn="l">
              <a:lnSpc>
                <a:spcPct val="126000"/>
              </a:lnSpc>
            </a:pPr>
            <a:r>
              <a:rPr sz="1000" b="0" i="0">
                <a:solidFill>
                  <a:srgbClr val="21295C"/>
                </a:solidFill>
                <a:latin typeface="Arial"/>
              </a:rPr>
              <a:t>• иллюстрация устройства: сфотографировать лотерейный билет, вписать в снимок номера, объявленные ПОСЛЕ съёмки — подпись продолжает утверждать, что снимок старше розыгрыша</a:t>
            </a:r>
          </a:p>
          <a:p>
            <a:pPr algn="l">
              <a:lnSpc>
                <a:spcPct val="126000"/>
              </a:lnSpc>
            </a:pPr>
            <a:r>
              <a:rPr sz="1000" b="0" i="0">
                <a:solidFill>
                  <a:srgbClr val="21295C"/>
                </a:solidFill>
                <a:latin typeface="Arial"/>
              </a:rPr>
              <a:t>• о большом исключаемом диапазоне предупреждал Нил Кравец ещё в июне 2025 года; на день публикации разбора — ни правки спецификации, ни исправления</a:t>
            </a:r>
          </a:p>
        </p:txBody>
      </p:sp>
      <p:sp>
        <p:nvSpPr>
          <p:cNvPr id="10" name="Rounded Rectangle 9"/>
          <p:cNvSpPr/>
          <p:nvPr/>
        </p:nvSpPr>
        <p:spPr>
          <a:xfrm>
            <a:off x="374904" y="4090828"/>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82268"/>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Два открытия одного исследователя, и их нельзя сливать в одно:</a:t>
            </a:r>
            <a:r>
              <a:rPr sz="1350" b="0" i="0">
                <a:solidFill>
                  <a:srgbClr val="21295C"/>
                </a:solidFill>
                <a:latin typeface="Arial"/>
              </a:rPr>
              <a:t> у одного событие требует root на устройстве, у другого — нет ничего, кроме самого файла.</a:t>
            </a:r>
          </a:p>
          <a:p>
            <a:pPr algn="l">
              <a:lnSpc>
                <a:spcPct val="126000"/>
              </a:lnSpc>
              <a:spcBef>
                <a:spcPts val="700"/>
              </a:spcBef>
            </a:pPr>
            <a:r>
              <a:rPr sz="1350" b="0" i="0">
                <a:solidFill>
                  <a:srgbClr val="21295C"/>
                </a:solidFill>
                <a:latin typeface="Arial"/>
              </a:rPr>
              <a:t/>
            </a:r>
            <a:r>
              <a:rPr sz="1350" b="1" i="0">
                <a:solidFill>
                  <a:srgbClr val="21295C"/>
                </a:solidFill>
                <a:latin typeface="Arial"/>
              </a:rPr>
              <a:t>В обоих криптография отработала ровно так, как обещала</a:t>
            </a:r>
            <a:r>
              <a:rPr sz="1350" b="0" i="0">
                <a:solidFill>
                  <a:srgbClr val="21295C"/>
                </a:solidFill>
                <a:latin typeface="Arial"/>
              </a:rPr>
              <a:t> — подпись подлинная, хеш сходится. Провалилось то, чего подпись не покрывает.</a:t>
            </a:r>
          </a:p>
        </p:txBody>
      </p:sp>
      <p:sp>
        <p:nvSpPr>
          <p:cNvPr id="12" name="Rounded Rectangle 11"/>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Rounded Rectangle 12"/>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14" name="TextBox 13"/>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подпись удостоверяет, КТО подписал, — не ЧТО происходило перед объективом</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David Buchanan (retr0id), «C2PA Cameras Do Not Survive Contact With Reality», личный блог исследователя, 25 августа 2026 (первое открытие) и 2 октября 2026 (второе); CVE-2026-43499; независимый разбор второго открытия — workos.com, с цитатами первоисточника</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6085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2347789"/>
            <a:ext cx="136085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доля материалов, потребовавших исправления</a:t>
            </a:r>
          </a:p>
        </p:txBody>
      </p:sp>
      <p:sp>
        <p:nvSpPr>
          <p:cNvPr id="7" name="TextBox 6"/>
          <p:cNvSpPr txBox="1"/>
          <p:nvPr/>
        </p:nvSpPr>
        <p:spPr>
          <a:xfrm>
            <a:off x="640080" y="3199161"/>
            <a:ext cx="13608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редкость: обычно одна из сторон измерена в других единицах или не измерена вовсе</a:t>
            </a:r>
          </a:p>
        </p:txBody>
      </p:sp>
      <p:sp>
        <p:nvSpPr>
          <p:cNvPr id="8" name="Rounded Rectangle 7"/>
          <p:cNvSpPr/>
          <p:nvPr/>
        </p:nvSpPr>
        <p:spPr>
          <a:xfrm>
            <a:off x="2302687"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39847" y="1472184"/>
            <a:ext cx="136085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МАШИННЫЙ КОНВЕЙЕР ИЗДАНИЯ, НОЯБРЬ 2022 — ЯНВАРЬ 2023</a:t>
            </a:r>
          </a:p>
        </p:txBody>
      </p:sp>
      <p:sp>
        <p:nvSpPr>
          <p:cNvPr id="10" name="TextBox 9"/>
          <p:cNvSpPr txBox="1"/>
          <p:nvPr/>
        </p:nvSpPr>
        <p:spPr>
          <a:xfrm>
            <a:off x="2439847" y="2555260"/>
            <a:ext cx="1360855"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41 из 77 статей, то есть 53%</a:t>
            </a:r>
          </a:p>
        </p:txBody>
      </p:sp>
      <p:sp>
        <p:nvSpPr>
          <p:cNvPr id="11" name="TextBox 10"/>
          <p:cNvSpPr txBox="1"/>
          <p:nvPr/>
        </p:nvSpPr>
        <p:spPr>
          <a:xfrm>
            <a:off x="2439847" y="3033184"/>
            <a:ext cx="13608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часть исправлений существенные — включая арифметику в объяснительном материале про сложный процент</a:t>
            </a:r>
          </a:p>
        </p:txBody>
      </p:sp>
      <p:sp>
        <p:nvSpPr>
          <p:cNvPr id="12" name="Rounded Rectangle 11"/>
          <p:cNvSpPr/>
          <p:nvPr/>
        </p:nvSpPr>
        <p:spPr>
          <a:xfrm>
            <a:off x="4102455" y="1335024"/>
            <a:ext cx="1635175" cy="3917577"/>
          </a:xfrm>
          <a:prstGeom prst="roundRect">
            <a:avLst>
              <a:gd name="adj" fmla="val 1864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39615" y="1472184"/>
            <a:ext cx="136085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ОБЫЧНАЯ РЕДАКЦИЯ БЕЗ ВСЯКОЙ МОДЕЛИ</a:t>
            </a:r>
          </a:p>
        </p:txBody>
      </p:sp>
      <p:sp>
        <p:nvSpPr>
          <p:cNvPr id="14" name="TextBox 13"/>
          <p:cNvSpPr txBox="1"/>
          <p:nvPr/>
        </p:nvSpPr>
        <p:spPr>
          <a:xfrm>
            <a:off x="4239615" y="2140317"/>
            <a:ext cx="136085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40–61% статей с хотя бы одной ошибкой</a:t>
            </a:r>
          </a:p>
        </p:txBody>
      </p:sp>
      <p:sp>
        <p:nvSpPr>
          <p:cNvPr id="15" name="TextBox 14"/>
          <p:cNvSpPr txBox="1"/>
          <p:nvPr/>
        </p:nvSpPr>
        <p:spPr>
          <a:xfrm>
            <a:off x="4239615" y="2787990"/>
            <a:ext cx="136085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53% лежат внутри этого коридора, а не за ним</a:t>
            </a:r>
          </a:p>
        </p:txBody>
      </p:sp>
      <p:sp>
        <p:nvSpPr>
          <p:cNvPr id="16" name="Rounded Rectangle 15"/>
          <p:cNvSpPr/>
          <p:nvPr/>
        </p:nvSpPr>
        <p:spPr>
          <a:xfrm>
            <a:off x="5902223"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039383"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ИСПРАВЛЯЕТСЯ ПУБЛИЧНО</a:t>
            </a:r>
          </a:p>
        </p:txBody>
      </p:sp>
      <p:sp>
        <p:nvSpPr>
          <p:cNvPr id="18" name="TextBox 17"/>
          <p:cNvSpPr txBox="1"/>
          <p:nvPr/>
        </p:nvSpPr>
        <p:spPr>
          <a:xfrm>
            <a:off x="6039383" y="1932846"/>
            <a:ext cx="136085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половины против примерно 2%</a:t>
            </a:r>
          </a:p>
        </p:txBody>
      </p:sp>
      <p:sp>
        <p:nvSpPr>
          <p:cNvPr id="19" name="TextBox 18"/>
          <p:cNvSpPr txBox="1"/>
          <p:nvPr/>
        </p:nvSpPr>
        <p:spPr>
          <a:xfrm>
            <a:off x="6039383" y="2580519"/>
            <a:ext cx="136085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вот здесь разрыв и обнаружен: машинный конвейер под огласку исправил половину демонстративно, классический режим десятилетиями живёт с той же частотой ошибок</a:t>
            </a:r>
          </a:p>
        </p:txBody>
      </p:sp>
      <p:sp>
        <p:nvSpPr>
          <p:cNvPr id="20" name="Rounded Rectangle 19"/>
          <p:cNvSpPr/>
          <p:nvPr/>
        </p:nvSpPr>
        <p:spPr>
          <a:xfrm>
            <a:off x="374904" y="5344041"/>
            <a:ext cx="11441887" cy="892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35481"/>
            <a:ext cx="11112703" cy="80072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Правило отсюда полезнее утверждения «модель ошибается чаще»: замеренный провал новой технологии сравнивают с замеренным поведением старой, а не с воображаемым.</a:t>
            </a:r>
          </a:p>
          <a:p>
            <a:pPr algn="l">
              <a:lnSpc>
                <a:spcPct val="126000"/>
              </a:lnSpc>
              <a:spcBef>
                <a:spcPts val="700"/>
              </a:spcBef>
            </a:pPr>
            <a:r>
              <a:rPr sz="1000" b="0" i="0">
                <a:solidFill>
                  <a:srgbClr val="21295C"/>
                </a:solidFill>
                <a:latin typeface="Arial"/>
              </a:rPr>
              <a:t/>
            </a:r>
            <a:r>
              <a:rPr sz="1000" b="0" i="1">
                <a:solidFill>
                  <a:srgbClr val="1C7293"/>
                </a:solidFill>
                <a:latin typeface="Arial"/>
              </a:rPr>
              <a:t>Оба классических режима посчитаны в одной единице с моделью — сравнение полное.</a:t>
            </a:r>
          </a:p>
        </p:txBody>
      </p:sp>
      <p:sp>
        <p:nvSpPr>
          <p:cNvPr id="22" name="Rounded Rectangle 21"/>
          <p:cNvSpPr/>
          <p:nvPr/>
        </p:nvSpPr>
        <p:spPr>
          <a:xfrm>
            <a:off x="7848295" y="1335024"/>
            <a:ext cx="3840480" cy="3759225"/>
          </a:xfrm>
          <a:prstGeom prst="roundRect">
            <a:avLst>
              <a:gd name="adj" fmla="val 8108"/>
            </a:avLst>
          </a:prstGeom>
          <a:solidFill>
            <a:srgbClr val="F4F7FA"/>
          </a:solidFill>
          <a:ln w="19050">
            <a:solidFill>
              <a:srgbClr val="1C7293"/>
            </a:solidFill>
          </a:ln>
          <a:effectLst/>
        </p:spPr>
        <p:txBody>
          <a:bodyPr rtlCol="0" anchor="ctr"/>
          <a:lstStyle/>
          <a:p>
            <a:pPr algn="ctr"/>
          </a:p>
        </p:txBody>
      </p:sp>
      <p:pic>
        <p:nvPicPr>
          <p:cNvPr id="23" name="Picture 22" descr="s86-cnet-ai-engine-article.png"/>
          <p:cNvPicPr>
            <a:picLocks noChangeAspect="1"/>
          </p:cNvPicPr>
          <p:nvPr/>
        </p:nvPicPr>
        <p:blipFill>
          <a:blip r:embed="rId2"/>
          <a:stretch>
            <a:fillRect/>
          </a:stretch>
        </p:blipFill>
        <p:spPr>
          <a:xfrm>
            <a:off x="7985455" y="1472184"/>
            <a:ext cx="3566160" cy="348490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CNET, «CNET Is Testing an AI Engine. Here's What We've Learned, Mistakes and All», 25 января 2023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557143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С ДОЛЕЙ МАШИННЫХ СТАТЕЙ СВЫШЕ 20%</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7" name="TextBox 6"/>
          <p:cNvSpPr txBox="1"/>
          <p:nvPr/>
        </p:nvSpPr>
        <p:spPr>
          <a:xfrm>
            <a:off x="640080" y="2152374"/>
            <a:ext cx="52971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их же собственного уровня 2020–2022 годов</a:t>
            </a:r>
          </a:p>
        </p:txBody>
      </p:sp>
      <p:sp>
        <p:nvSpPr>
          <p:cNvPr id="8" name="Rounded Rectangle 7"/>
          <p:cNvSpPr/>
          <p:nvPr/>
        </p:nvSpPr>
        <p:spPr>
          <a:xfrm>
            <a:off x="502920" y="2665369"/>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40080" y="2802529"/>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ПОЧТИ БЕЗ МАШИННЫХ СТАТЕЙ</a:t>
            </a:r>
          </a:p>
        </p:txBody>
      </p:sp>
      <p:sp>
        <p:nvSpPr>
          <p:cNvPr id="10" name="TextBox 9"/>
          <p:cNvSpPr txBox="1"/>
          <p:nvPr/>
        </p:nvSpPr>
        <p:spPr>
          <a:xfrm>
            <a:off x="640080" y="3055721"/>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1" name="TextBox 10"/>
          <p:cNvSpPr txBox="1"/>
          <p:nvPr/>
        </p:nvSpPr>
        <p:spPr>
          <a:xfrm>
            <a:off x="640080" y="3482720"/>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корпус, та же процедура, те же годы — этот контрфакт и делает разбор сильнейшим</a:t>
            </a:r>
          </a:p>
        </p:txBody>
      </p:sp>
      <p:sp>
        <p:nvSpPr>
          <p:cNvPr id="12" name="Rounded Rectangle 11"/>
          <p:cNvSpPr/>
          <p:nvPr/>
        </p:nvSpPr>
        <p:spPr>
          <a:xfrm>
            <a:off x="374904" y="4727448"/>
            <a:ext cx="11441887" cy="1508760"/>
          </a:xfrm>
          <a:prstGeom prst="roundRect">
            <a:avLst>
              <a:gd name="adj" fmla="val 2020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818888"/>
            <a:ext cx="11112703" cy="141732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Единица, в которой посчитаны обе стороны, — плотность живого свидетельства на тысячу слов.</a:t>
            </a:r>
            <a:r>
              <a:rPr sz="1400" b="0" i="0">
                <a:solidFill>
                  <a:srgbClr val="21295C"/>
                </a:solidFill>
                <a:latin typeface="Arial"/>
              </a:rPr>
              <a:t> Обе половины получены одной процедурой на одном корпусе: 254 610 статей из 174 российских изданий, с 2020 года по второй квартал 2026-го.</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Почему 18 процентов — нижняя граница.</a:t>
            </a:r>
            <a:r>
              <a:rPr sz="1400" b="0" i="0">
                <a:solidFill>
                  <a:srgbClr val="21295C"/>
                </a:solidFill>
                <a:latin typeface="Arial"/>
              </a:rPr>
              <a:t> Распознаватели не обобщаются на чужую модель. Рядом стоят ещё две величины: 13 процентов прироста машинной лексики у людей и 27 процентов корпуса с частичными признаками.</a:t>
            </a:r>
          </a:p>
        </p:txBody>
      </p:sp>
      <p:sp>
        <p:nvSpPr>
          <p:cNvPr id="14" name="Rounded Rectangle 13"/>
          <p:cNvSpPr/>
          <p:nvPr/>
        </p:nvSpPr>
        <p:spPr>
          <a:xfrm>
            <a:off x="6385255" y="1335024"/>
            <a:ext cx="5303520" cy="3392424"/>
          </a:xfrm>
          <a:prstGeom prst="roundRect">
            <a:avLst>
              <a:gd name="adj" fmla="val 8984"/>
            </a:avLst>
          </a:prstGeom>
          <a:solidFill>
            <a:srgbClr val="F4F7FA"/>
          </a:solidFill>
          <a:ln w="19050">
            <a:solidFill>
              <a:srgbClr val="1C7293"/>
            </a:solidFill>
          </a:ln>
          <a:effectLst/>
        </p:spPr>
        <p:txBody>
          <a:bodyPr rtlCol="0" anchor="ctr"/>
          <a:lstStyle/>
          <a:p>
            <a:pPr algn="ctr"/>
          </a:p>
        </p:txBody>
      </p:sp>
      <p:pic>
        <p:nvPicPr>
          <p:cNvPr id="15" name="Picture 14" descr="s87-dolya-statey-po-kvartalam.png"/>
          <p:cNvPicPr>
            <a:picLocks noChangeAspect="1"/>
          </p:cNvPicPr>
          <p:nvPr/>
        </p:nvPicPr>
        <p:blipFill>
          <a:blip r:embed="rId2"/>
          <a:stretch>
            <a:fillRect/>
          </a:stretch>
        </p:blipFill>
        <p:spPr>
          <a:xfrm>
            <a:off x="6522415" y="1472184"/>
            <a:ext cx="5029200" cy="3118104"/>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«Распознавание» — карта полна</a:t>
            </a:r>
          </a:p>
        </p:txBody>
      </p:sp>
      <p:sp>
        <p:nvSpPr>
          <p:cNvPr id="4" name="Rectangle 3"/>
          <p:cNvSpPr/>
          <p:nvPr/>
        </p:nvSpPr>
        <p:spPr>
          <a:xfrm>
            <a:off x="502920" y="1478868"/>
            <a:ext cx="2788920" cy="287863"/>
          </a:xfrm>
          <a:prstGeom prst="rect">
            <a:avLst/>
          </a:prstGeom>
          <a:solidFill>
            <a:srgbClr val="21295C"/>
          </a:solidFill>
          <a:ln>
            <a:noFill/>
          </a:ln>
          <a:effectLst/>
        </p:spPr>
        <p:txBody>
          <a:bodyPr rtlCol="0" anchor="ctr"/>
          <a:lstStyle/>
          <a:p>
            <a:pPr algn="ctr"/>
          </a:p>
        </p:txBody>
      </p:sp>
      <p:sp>
        <p:nvSpPr>
          <p:cNvPr id="5" name="TextBox 4"/>
          <p:cNvSpPr txBox="1"/>
          <p:nvPr/>
        </p:nvSpPr>
        <p:spPr>
          <a:xfrm>
            <a:off x="566928" y="1542876"/>
            <a:ext cx="2660903"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Тип задачи</a:t>
            </a:r>
          </a:p>
        </p:txBody>
      </p:sp>
      <p:sp>
        <p:nvSpPr>
          <p:cNvPr id="6" name="Rectangle 5"/>
          <p:cNvSpPr/>
          <p:nvPr/>
        </p:nvSpPr>
        <p:spPr>
          <a:xfrm>
            <a:off x="3291839" y="1478868"/>
            <a:ext cx="1679387" cy="287863"/>
          </a:xfrm>
          <a:prstGeom prst="rect">
            <a:avLst/>
          </a:prstGeom>
          <a:solidFill>
            <a:srgbClr val="065A82"/>
          </a:solidFill>
          <a:ln>
            <a:noFill/>
          </a:ln>
          <a:effectLst/>
        </p:spPr>
        <p:txBody>
          <a:bodyPr rtlCol="0" anchor="ctr"/>
          <a:lstStyle/>
          <a:p>
            <a:pPr algn="ctr"/>
          </a:p>
        </p:txBody>
      </p:sp>
      <p:sp>
        <p:nvSpPr>
          <p:cNvPr id="7" name="TextBox 6"/>
          <p:cNvSpPr txBox="1"/>
          <p:nvPr/>
        </p:nvSpPr>
        <p:spPr>
          <a:xfrm>
            <a:off x="3355847"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Изображение</a:t>
            </a:r>
          </a:p>
        </p:txBody>
      </p:sp>
      <p:sp>
        <p:nvSpPr>
          <p:cNvPr id="8" name="Rectangle 7"/>
          <p:cNvSpPr/>
          <p:nvPr/>
        </p:nvSpPr>
        <p:spPr>
          <a:xfrm>
            <a:off x="4971227" y="1478868"/>
            <a:ext cx="1679387" cy="287863"/>
          </a:xfrm>
          <a:prstGeom prst="rect">
            <a:avLst/>
          </a:prstGeom>
          <a:solidFill>
            <a:srgbClr val="065A82"/>
          </a:solidFill>
          <a:ln>
            <a:noFill/>
          </a:ln>
          <a:effectLst/>
        </p:spPr>
        <p:txBody>
          <a:bodyPr rtlCol="0" anchor="ctr"/>
          <a:lstStyle/>
          <a:p>
            <a:pPr algn="ctr"/>
          </a:p>
        </p:txBody>
      </p:sp>
      <p:sp>
        <p:nvSpPr>
          <p:cNvPr id="9" name="TextBox 8"/>
          <p:cNvSpPr txBox="1"/>
          <p:nvPr/>
        </p:nvSpPr>
        <p:spPr>
          <a:xfrm>
            <a:off x="5035235"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Звук</a:t>
            </a:r>
          </a:p>
        </p:txBody>
      </p:sp>
      <p:sp>
        <p:nvSpPr>
          <p:cNvPr id="10" name="Rectangle 9"/>
          <p:cNvSpPr/>
          <p:nvPr/>
        </p:nvSpPr>
        <p:spPr>
          <a:xfrm>
            <a:off x="6650614" y="1478868"/>
            <a:ext cx="1679387" cy="28786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6714622"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Видео</a:t>
            </a:r>
          </a:p>
        </p:txBody>
      </p:sp>
      <p:sp>
        <p:nvSpPr>
          <p:cNvPr id="12" name="Rectangle 11"/>
          <p:cNvSpPr/>
          <p:nvPr/>
        </p:nvSpPr>
        <p:spPr>
          <a:xfrm>
            <a:off x="8330001" y="1478868"/>
            <a:ext cx="1679387" cy="28786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8394009"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Трёхмерное</a:t>
            </a:r>
          </a:p>
        </p:txBody>
      </p:sp>
      <p:sp>
        <p:nvSpPr>
          <p:cNvPr id="14" name="Rectangle 13"/>
          <p:cNvSpPr/>
          <p:nvPr/>
        </p:nvSpPr>
        <p:spPr>
          <a:xfrm>
            <a:off x="10009388" y="1478868"/>
            <a:ext cx="1679387" cy="28786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10073396"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Распознавание</a:t>
            </a:r>
          </a:p>
        </p:txBody>
      </p:sp>
      <p:sp>
        <p:nvSpPr>
          <p:cNvPr id="16" name="Rectangle 15"/>
          <p:cNvSpPr/>
          <p:nvPr/>
        </p:nvSpPr>
        <p:spPr>
          <a:xfrm>
            <a:off x="10009388" y="1716440"/>
            <a:ext cx="1679387" cy="50292"/>
          </a:xfrm>
          <a:prstGeom prst="rect">
            <a:avLst/>
          </a:prstGeom>
          <a:solidFill>
            <a:srgbClr val="F0AB00"/>
          </a:solidFill>
          <a:ln>
            <a:noFill/>
          </a:ln>
          <a:effectLst/>
        </p:spPr>
        <p:txBody>
          <a:bodyPr rtlCol="0" anchor="ctr"/>
          <a:lstStyle/>
          <a:p>
            <a:pPr algn="ctr"/>
          </a:p>
        </p:txBody>
      </p:sp>
      <p:sp>
        <p:nvSpPr>
          <p:cNvPr id="17" name="Rectangle 16"/>
          <p:cNvSpPr/>
          <p:nvPr/>
        </p:nvSpPr>
        <p:spPr>
          <a:xfrm>
            <a:off x="502920" y="1766732"/>
            <a:ext cx="2788920" cy="599467"/>
          </a:xfrm>
          <a:prstGeom prst="rect">
            <a:avLst/>
          </a:prstGeom>
          <a:solidFill>
            <a:srgbClr val="FFFFFF"/>
          </a:solidFill>
          <a:ln w="9525">
            <a:solidFill>
              <a:srgbClr val="D9E2EC"/>
            </a:solidFill>
          </a:ln>
          <a:effectLst/>
        </p:spPr>
        <p:txBody>
          <a:bodyPr rtlCol="0" anchor="ctr"/>
          <a:lstStyle/>
          <a:p>
            <a:pPr algn="ctr"/>
          </a:p>
        </p:txBody>
      </p:sp>
      <p:sp>
        <p:nvSpPr>
          <p:cNvPr id="18" name="TextBox 17"/>
          <p:cNvSpPr txBox="1"/>
          <p:nvPr/>
        </p:nvSpPr>
        <p:spPr>
          <a:xfrm>
            <a:off x="566928" y="1830740"/>
            <a:ext cx="2660903" cy="471451"/>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Породить первое приближение</a:t>
            </a:r>
          </a:p>
          <a:p>
            <a:pPr algn="l">
              <a:lnSpc>
                <a:spcPct val="113000"/>
              </a:lnSpc>
              <a:spcBef>
                <a:spcPts val="200"/>
              </a:spcBef>
            </a:pPr>
            <a:r>
              <a:rPr sz="750" b="0" i="1">
                <a:solidFill>
                  <a:srgbClr val="1C7293"/>
                </a:solidFill>
                <a:latin typeface="Arial"/>
              </a:rPr>
              <a:t>получить варианты облика, пока решение ещё не принято</a:t>
            </a:r>
          </a:p>
        </p:txBody>
      </p:sp>
      <p:sp>
        <p:nvSpPr>
          <p:cNvPr id="19" name="Rectangle 18"/>
          <p:cNvSpPr/>
          <p:nvPr/>
        </p:nvSpPr>
        <p:spPr>
          <a:xfrm>
            <a:off x="3291839"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3355847"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0,034–0,05 $ за изображение</a:t>
            </a:r>
          </a:p>
        </p:txBody>
      </p:sp>
      <p:sp>
        <p:nvSpPr>
          <p:cNvPr id="21" name="Rectangle 20"/>
          <p:cNvSpPr/>
          <p:nvPr/>
        </p:nvSpPr>
        <p:spPr>
          <a:xfrm>
            <a:off x="4971227"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5035235"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дубляж 0,03–0,072 $ за минуту</a:t>
            </a:r>
          </a:p>
        </p:txBody>
      </p:sp>
      <p:sp>
        <p:nvSpPr>
          <p:cNvPr id="23" name="Rectangle 22"/>
          <p:cNvSpPr/>
          <p:nvPr/>
        </p:nvSpPr>
        <p:spPr>
          <a:xfrm>
            <a:off x="6650614"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6714622"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цена выпуска ниже в 10–20 раз</a:t>
            </a:r>
          </a:p>
        </p:txBody>
      </p:sp>
      <p:sp>
        <p:nvSpPr>
          <p:cNvPr id="25" name="Rectangle 24"/>
          <p:cNvSpPr/>
          <p:nvPr/>
        </p:nvSpPr>
        <p:spPr>
          <a:xfrm>
            <a:off x="8330001"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8394009"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единицы секунд на вариант</a:t>
            </a:r>
          </a:p>
        </p:txBody>
      </p:sp>
      <p:sp>
        <p:nvSpPr>
          <p:cNvPr id="27" name="Rectangle 26"/>
          <p:cNvSpPr/>
          <p:nvPr/>
        </p:nvSpPr>
        <p:spPr>
          <a:xfrm>
            <a:off x="10009388"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10073396"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порождение не задача стадии</a:t>
            </a:r>
          </a:p>
        </p:txBody>
      </p:sp>
      <p:sp>
        <p:nvSpPr>
          <p:cNvPr id="29" name="Rectangle 28"/>
          <p:cNvSpPr/>
          <p:nvPr/>
        </p:nvSpPr>
        <p:spPr>
          <a:xfrm>
            <a:off x="502920" y="2366200"/>
            <a:ext cx="2788920" cy="466261"/>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2430208"/>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Довести до производственного качества</a:t>
            </a:r>
          </a:p>
          <a:p>
            <a:pPr algn="l">
              <a:lnSpc>
                <a:spcPct val="113000"/>
              </a:lnSpc>
              <a:spcBef>
                <a:spcPts val="200"/>
              </a:spcBef>
            </a:pPr>
            <a:r>
              <a:rPr sz="750" b="0" i="1">
                <a:solidFill>
                  <a:srgbClr val="1C7293"/>
                </a:solidFill>
                <a:latin typeface="Arial"/>
              </a:rPr>
              <a:t>отобрать, доработать и выпустить годное</a:t>
            </a:r>
          </a:p>
        </p:txBody>
      </p:sp>
      <p:sp>
        <p:nvSpPr>
          <p:cNvPr id="31" name="Rectangle 30"/>
          <p:cNvSpPr/>
          <p:nvPr/>
        </p:nvSpPr>
        <p:spPr>
          <a:xfrm>
            <a:off x="3291839"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адаптеры и ручная правка</a:t>
            </a:r>
          </a:p>
        </p:txBody>
      </p:sp>
      <p:sp>
        <p:nvSpPr>
          <p:cNvPr id="33" name="Rectangle 32"/>
          <p:cNvSpPr/>
          <p:nvPr/>
        </p:nvSpPr>
        <p:spPr>
          <a:xfrm>
            <a:off x="4971227"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ручная правка дикции</a:t>
            </a:r>
          </a:p>
        </p:txBody>
      </p:sp>
      <p:sp>
        <p:nvSpPr>
          <p:cNvPr id="35" name="Rectangle 34"/>
          <p:cNvSpPr/>
          <p:nvPr/>
        </p:nvSpPr>
        <p:spPr>
          <a:xfrm>
            <a:off x="6650614"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ручной отбор и склейка</a:t>
            </a:r>
          </a:p>
        </p:txBody>
      </p:sp>
      <p:sp>
        <p:nvSpPr>
          <p:cNvPr id="37" name="Rectangle 36"/>
          <p:cNvSpPr/>
          <p:nvPr/>
        </p:nvSpPr>
        <p:spPr>
          <a:xfrm>
            <a:off x="8330001"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8" name="TextBox 37"/>
          <p:cNvSpPr txBox="1"/>
          <p:nvPr/>
        </p:nvSpPr>
        <p:spPr>
          <a:xfrm>
            <a:off x="8394009"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ретопология, развёртка, риггинг остаются людям</a:t>
            </a:r>
          </a:p>
        </p:txBody>
      </p:sp>
      <p:sp>
        <p:nvSpPr>
          <p:cNvPr id="39" name="Rectangle 38"/>
          <p:cNvSpPr/>
          <p:nvPr/>
        </p:nvSpPr>
        <p:spPr>
          <a:xfrm>
            <a:off x="10009388"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10073396"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человек в контуре с нормой времени</a:t>
            </a:r>
          </a:p>
        </p:txBody>
      </p:sp>
      <p:sp>
        <p:nvSpPr>
          <p:cNvPr id="41" name="Rectangle 40"/>
          <p:cNvSpPr/>
          <p:nvPr/>
        </p:nvSpPr>
        <p:spPr>
          <a:xfrm>
            <a:off x="502920" y="2832462"/>
            <a:ext cx="2788920" cy="466261"/>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2896470"/>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Восстановить существующее</a:t>
            </a:r>
          </a:p>
          <a:p>
            <a:pPr algn="l">
              <a:lnSpc>
                <a:spcPct val="113000"/>
              </a:lnSpc>
              <a:spcBef>
                <a:spcPts val="200"/>
              </a:spcBef>
            </a:pPr>
            <a:r>
              <a:rPr sz="750" b="0" i="1">
                <a:solidFill>
                  <a:srgbClr val="1C7293"/>
                </a:solidFill>
                <a:latin typeface="Arial"/>
              </a:rPr>
              <a:t>вытащить то, что уже записано, но читается плохо</a:t>
            </a:r>
          </a:p>
        </p:txBody>
      </p:sp>
      <p:sp>
        <p:nvSpPr>
          <p:cNvPr id="43" name="Rectangle 42"/>
          <p:cNvSpPr/>
          <p:nvPr/>
        </p:nvSpPr>
        <p:spPr>
          <a:xfrm>
            <a:off x="3291839"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повышение разрешения архива</a:t>
            </a:r>
          </a:p>
        </p:txBody>
      </p:sp>
      <p:sp>
        <p:nvSpPr>
          <p:cNvPr id="45" name="Rectangle 44"/>
          <p:cNvSpPr/>
          <p:nvPr/>
        </p:nvSpPr>
        <p:spPr>
          <a:xfrm>
            <a:off x="4971227"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разделение источников</a:t>
            </a:r>
          </a:p>
        </p:txBody>
      </p:sp>
      <p:sp>
        <p:nvSpPr>
          <p:cNvPr id="47" name="Rectangle 46"/>
          <p:cNvSpPr/>
          <p:nvPr/>
        </p:nvSpPr>
        <p:spPr>
          <a:xfrm>
            <a:off x="6650614"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интерполяция кадров</a:t>
            </a:r>
          </a:p>
        </p:txBody>
      </p:sp>
      <p:sp>
        <p:nvSpPr>
          <p:cNvPr id="49" name="Rectangle 48"/>
          <p:cNvSpPr/>
          <p:nvPr/>
        </p:nvSpPr>
        <p:spPr>
          <a:xfrm>
            <a:off x="8330001"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сцена из снимков: 41 минута, 134 кадра в секунду</a:t>
            </a:r>
          </a:p>
        </p:txBody>
      </p:sp>
      <p:sp>
        <p:nvSpPr>
          <p:cNvPr id="51" name="Rectangle 50"/>
          <p:cNvSpPr/>
          <p:nvPr/>
        </p:nvSpPr>
        <p:spPr>
          <a:xfrm>
            <a:off x="10009388"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10073396"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свиток прочитан целиком, ответ проверяем</a:t>
            </a:r>
          </a:p>
        </p:txBody>
      </p:sp>
      <p:sp>
        <p:nvSpPr>
          <p:cNvPr id="53" name="Rectangle 52"/>
          <p:cNvSpPr/>
          <p:nvPr/>
        </p:nvSpPr>
        <p:spPr>
          <a:xfrm>
            <a:off x="502920" y="3298723"/>
            <a:ext cx="2788920" cy="466261"/>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3362731"/>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Соблюсти точные величины</a:t>
            </a:r>
          </a:p>
          <a:p>
            <a:pPr algn="l">
              <a:lnSpc>
                <a:spcPct val="113000"/>
              </a:lnSpc>
              <a:spcBef>
                <a:spcPts val="200"/>
              </a:spcBef>
            </a:pPr>
            <a:r>
              <a:rPr sz="750" b="0" i="1">
                <a:solidFill>
                  <a:srgbClr val="1C7293"/>
                </a:solidFill>
                <a:latin typeface="Arial"/>
              </a:rPr>
              <a:t>размеры, допуски, проверяемые условия</a:t>
            </a:r>
          </a:p>
        </p:txBody>
      </p:sp>
      <p:sp>
        <p:nvSpPr>
          <p:cNvPr id="55" name="Rectangle 54"/>
          <p:cNvSpPr/>
          <p:nvPr/>
        </p:nvSpPr>
        <p:spPr>
          <a:xfrm>
            <a:off x="3291839"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3355847"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размеров в выдаче не существует</a:t>
            </a:r>
          </a:p>
        </p:txBody>
      </p:sp>
      <p:sp>
        <p:nvSpPr>
          <p:cNvPr id="57" name="Rectangle 56"/>
          <p:cNvSpPr/>
          <p:nvPr/>
        </p:nvSpPr>
        <p:spPr>
          <a:xfrm>
            <a:off x="4971227"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5035235"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длина задана до запуска</a:t>
            </a:r>
          </a:p>
        </p:txBody>
      </p:sp>
      <p:sp>
        <p:nvSpPr>
          <p:cNvPr id="59" name="Rectangle 58"/>
          <p:cNvSpPr/>
          <p:nvPr/>
        </p:nvSpPr>
        <p:spPr>
          <a:xfrm>
            <a:off x="6650614"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6714622"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физика выучена как корреляция</a:t>
            </a:r>
          </a:p>
        </p:txBody>
      </p:sp>
      <p:sp>
        <p:nvSpPr>
          <p:cNvPr id="61" name="Rectangle 60"/>
          <p:cNvSpPr/>
          <p:nvPr/>
        </p:nvSpPr>
        <p:spPr>
          <a:xfrm>
            <a:off x="8330001"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8394009"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размеров в выдаче не существует</a:t>
            </a:r>
          </a:p>
        </p:txBody>
      </p:sp>
      <p:sp>
        <p:nvSpPr>
          <p:cNvPr id="63" name="Rectangle 62"/>
          <p:cNvSpPr/>
          <p:nvPr/>
        </p:nvSpPr>
        <p:spPr>
          <a:xfrm>
            <a:off x="10009388"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4" name="TextBox 63"/>
          <p:cNvSpPr txBox="1"/>
          <p:nvPr/>
        </p:nvSpPr>
        <p:spPr>
          <a:xfrm>
            <a:off x="10073396"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эталонная разметка даёт число</a:t>
            </a:r>
          </a:p>
        </p:txBody>
      </p:sp>
      <p:sp>
        <p:nvSpPr>
          <p:cNvPr id="65" name="Rectangle 64"/>
          <p:cNvSpPr/>
          <p:nvPr/>
        </p:nvSpPr>
        <p:spPr>
          <a:xfrm>
            <a:off x="502920" y="3764985"/>
            <a:ext cx="2788920" cy="466261"/>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566928" y="3828993"/>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Уложиться в бюджет реального времени</a:t>
            </a:r>
          </a:p>
          <a:p>
            <a:pPr algn="l">
              <a:lnSpc>
                <a:spcPct val="113000"/>
              </a:lnSpc>
              <a:spcBef>
                <a:spcPts val="200"/>
              </a:spcBef>
            </a:pPr>
            <a:r>
              <a:rPr sz="750" b="0" i="1">
                <a:solidFill>
                  <a:srgbClr val="1C7293"/>
                </a:solidFill>
                <a:latin typeface="Arial"/>
              </a:rPr>
              <a:t>успеть к сроку кадра, а не к сроку задачи</a:t>
            </a:r>
          </a:p>
        </p:txBody>
      </p:sp>
      <p:sp>
        <p:nvSpPr>
          <p:cNvPr id="67" name="Rectangle 66"/>
          <p:cNvSpPr/>
          <p:nvPr/>
        </p:nvSpPr>
        <p:spPr>
          <a:xfrm>
            <a:off x="3291839"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3355847"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кадрового бюджета у стадии нет</a:t>
            </a:r>
          </a:p>
        </p:txBody>
      </p:sp>
      <p:sp>
        <p:nvSpPr>
          <p:cNvPr id="69" name="Rectangle 68"/>
          <p:cNvSpPr/>
          <p:nvPr/>
        </p:nvSpPr>
        <p:spPr>
          <a:xfrm>
            <a:off x="4971227"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035235"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кадрового бюджета у стадии нет</a:t>
            </a:r>
          </a:p>
        </p:txBody>
      </p:sp>
      <p:sp>
        <p:nvSpPr>
          <p:cNvPr id="71" name="Rectangle 70"/>
          <p:cNvSpPr/>
          <p:nvPr/>
        </p:nvSpPr>
        <p:spPr>
          <a:xfrm>
            <a:off x="6650614"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6714622"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в кадровый бюджет не укладывается</a:t>
            </a:r>
          </a:p>
        </p:txBody>
      </p:sp>
      <p:sp>
        <p:nvSpPr>
          <p:cNvPr id="73" name="Rectangle 72"/>
          <p:cNvSpPr/>
          <p:nvPr/>
        </p:nvSpPr>
        <p:spPr>
          <a:xfrm>
            <a:off x="8330001"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8394009"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около 1 мс на кадр</a:t>
            </a:r>
          </a:p>
        </p:txBody>
      </p:sp>
      <p:sp>
        <p:nvSpPr>
          <p:cNvPr id="75" name="Rectangle 74"/>
          <p:cNvSpPr/>
          <p:nvPr/>
        </p:nvSpPr>
        <p:spPr>
          <a:xfrm>
            <a:off x="10009388"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10073396"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модерация на потоке</a:t>
            </a:r>
          </a:p>
        </p:txBody>
      </p:sp>
      <p:sp>
        <p:nvSpPr>
          <p:cNvPr id="77" name="Rectangle 76"/>
          <p:cNvSpPr/>
          <p:nvPr/>
        </p:nvSpPr>
        <p:spPr>
          <a:xfrm>
            <a:off x="502920" y="4231247"/>
            <a:ext cx="2788920" cy="466261"/>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566928" y="4295255"/>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Ответить «кто отвечает»</a:t>
            </a:r>
          </a:p>
          <a:p>
            <a:pPr algn="l">
              <a:lnSpc>
                <a:spcPct val="113000"/>
              </a:lnSpc>
              <a:spcBef>
                <a:spcPts val="200"/>
              </a:spcBef>
            </a:pPr>
            <a:r>
              <a:rPr sz="750" b="0" i="1">
                <a:solidFill>
                  <a:srgbClr val="1C7293"/>
                </a:solidFill>
                <a:latin typeface="Arial"/>
              </a:rPr>
              <a:t>происхождение, права, подпись под результатом</a:t>
            </a:r>
          </a:p>
        </p:txBody>
      </p:sp>
      <p:sp>
        <p:nvSpPr>
          <p:cNvPr id="79" name="Rectangle 78"/>
          <p:cNvSpPr/>
          <p:nvPr/>
        </p:nvSpPr>
        <p:spPr>
          <a:xfrm>
            <a:off x="3291839"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3355847"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1" name="Rectangle 80"/>
          <p:cNvSpPr/>
          <p:nvPr/>
        </p:nvSpPr>
        <p:spPr>
          <a:xfrm>
            <a:off x="4971227"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5035235"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3" name="Rectangle 82"/>
          <p:cNvSpPr/>
          <p:nvPr/>
        </p:nvSpPr>
        <p:spPr>
          <a:xfrm>
            <a:off x="6650614"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6714622"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5" name="Rectangle 84"/>
          <p:cNvSpPr/>
          <p:nvPr/>
        </p:nvSpPr>
        <p:spPr>
          <a:xfrm>
            <a:off x="8330001"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8394009"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7" name="Rectangle 86"/>
          <p:cNvSpPr/>
          <p:nvPr/>
        </p:nvSpPr>
        <p:spPr>
          <a:xfrm>
            <a:off x="10009388"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10073396"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частично: подпись снаружи, и она про подписавшего</a:t>
            </a:r>
          </a:p>
        </p:txBody>
      </p:sp>
      <p:sp>
        <p:nvSpPr>
          <p:cNvPr id="89" name="Rounded Rectangle 88"/>
          <p:cNvSpPr/>
          <p:nvPr/>
        </p:nvSpPr>
        <p:spPr>
          <a:xfrm>
            <a:off x="502920" y="4779805"/>
            <a:ext cx="11185855" cy="287863"/>
          </a:xfrm>
          <a:prstGeom prst="roundRect">
            <a:avLst>
              <a:gd name="adj" fmla="val 14000"/>
            </a:avLst>
          </a:prstGeom>
          <a:solidFill>
            <a:srgbClr val="FEF5E0"/>
          </a:solidFill>
          <a:ln>
            <a:noFill/>
          </a:ln>
          <a:effectLst/>
        </p:spPr>
        <p:txBody>
          <a:bodyPr rtlCol="0" anchor="ctr"/>
          <a:lstStyle/>
          <a:p>
            <a:pPr algn="ctr"/>
          </a:p>
        </p:txBody>
      </p:sp>
      <p:sp>
        <p:nvSpPr>
          <p:cNvPr id="90" name="Rectangle 89"/>
          <p:cNvSpPr/>
          <p:nvPr/>
        </p:nvSpPr>
        <p:spPr>
          <a:xfrm>
            <a:off x="502920" y="4779805"/>
            <a:ext cx="68580" cy="287863"/>
          </a:xfrm>
          <a:prstGeom prst="rect">
            <a:avLst/>
          </a:prstGeom>
          <a:solidFill>
            <a:srgbClr val="F0AB00"/>
          </a:solidFill>
          <a:ln>
            <a:noFill/>
          </a:ln>
          <a:effectLst/>
        </p:spPr>
        <p:txBody>
          <a:bodyPr rtlCol="0" anchor="ctr"/>
          <a:lstStyle/>
          <a:p>
            <a:pPr algn="ctr"/>
          </a:p>
        </p:txBody>
      </p:sp>
      <p:sp>
        <p:nvSpPr>
          <p:cNvPr id="91" name="TextBox 90"/>
          <p:cNvSpPr txBox="1"/>
          <p:nvPr/>
        </p:nvSpPr>
        <p:spPr>
          <a:xfrm>
            <a:off x="685800" y="4843813"/>
            <a:ext cx="10783519" cy="159847"/>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92" name="Rounded Rectangle 91"/>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93" name="Rounded Rectangle 92"/>
          <p:cNvSpPr/>
          <p:nvPr/>
        </p:nvSpPr>
        <p:spPr>
          <a:xfrm>
            <a:off x="685800" y="5578786"/>
            <a:ext cx="1598971"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Адрес платежа</a:t>
            </a:r>
          </a:p>
        </p:txBody>
      </p:sp>
      <p:sp>
        <p:nvSpPr>
          <p:cNvPr id="94" name="TextBox 93"/>
          <p:cNvSpPr txBox="1"/>
          <p:nvPr/>
        </p:nvSpPr>
        <p:spPr>
          <a:xfrm>
            <a:off x="2504227" y="5433429"/>
            <a:ext cx="9001667"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накапливается теми же шагами — отбор · права · узнавание; у обоих разборов раздела он один — узнавание</a:t>
            </a:r>
          </a:p>
        </p:txBody>
      </p:sp>
      <p:sp>
        <p:nvSpPr>
          <p:cNvPr id="95" name="Rectangle 9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6" name="TextBox 9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8065986" y="914400"/>
            <a:ext cx="3622788" cy="4937760"/>
          </a:xfrm>
          <a:prstGeom prst="roundRect">
            <a:avLst>
              <a:gd name="adj" fmla="val 8413"/>
            </a:avLst>
          </a:prstGeom>
          <a:solidFill>
            <a:srgbClr val="F4F7FA"/>
          </a:solidFill>
          <a:ln w="19050">
            <a:solidFill>
              <a:srgbClr val="1C7293"/>
            </a:solidFill>
          </a:ln>
          <a:effectLst/>
        </p:spPr>
        <p:txBody>
          <a:bodyPr rtlCol="0" anchor="ctr"/>
          <a:lstStyle/>
          <a:p>
            <a:pPr algn="ctr"/>
          </a:p>
        </p:txBody>
      </p:sp>
      <p:pic>
        <p:nvPicPr>
          <p:cNvPr id="5" name="Picture 4" descr="s88-contact-sheet.jpg"/>
          <p:cNvPicPr>
            <a:picLocks noChangeAspect="1"/>
          </p:cNvPicPr>
          <p:nvPr/>
        </p:nvPicPr>
        <p:blipFill>
          <a:blip r:embed="rId2"/>
          <a:stretch>
            <a:fillRect/>
          </a:stretch>
        </p:blipFill>
        <p:spPr>
          <a:xfrm>
            <a:off x="8203146" y="1051560"/>
            <a:ext cx="3348468" cy="4663440"/>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9" name="TextBox 8"/>
          <p:cNvSpPr txBox="1"/>
          <p:nvPr/>
        </p:nvSpPr>
        <p:spPr>
          <a:xfrm>
            <a:off x="704088" y="3217513"/>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Путь от запроса к результату: та же фигура, пять разных стартов и узких мест</a:t>
            </a:r>
          </a:p>
        </p:txBody>
      </p:sp>
      <p:sp>
        <p:nvSpPr>
          <p:cNvPr id="4" name="Rounded Rectangle 3"/>
          <p:cNvSpPr/>
          <p:nvPr/>
        </p:nvSpPr>
        <p:spPr>
          <a:xfrm>
            <a:off x="374904" y="1243584"/>
            <a:ext cx="11441887" cy="3554246"/>
          </a:xfrm>
          <a:prstGeom prst="roundRect">
            <a:avLst>
              <a:gd name="adj" fmla="val 857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Та же фигура — пять разных стартов, пять разных узких мест.</a:t>
            </a:r>
          </a:p>
        </p:txBody>
      </p:sp>
      <p:sp>
        <p:nvSpPr>
          <p:cNvPr id="6" name="Rectangle 5"/>
          <p:cNvSpPr/>
          <p:nvPr/>
        </p:nvSpPr>
        <p:spPr>
          <a:xfrm>
            <a:off x="539496" y="1822398"/>
            <a:ext cx="2885531" cy="465425"/>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822398"/>
            <a:ext cx="259292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Модальность</a:t>
            </a:r>
          </a:p>
        </p:txBody>
      </p:sp>
      <p:sp>
        <p:nvSpPr>
          <p:cNvPr id="8" name="Rectangle 7"/>
          <p:cNvSpPr/>
          <p:nvPr/>
        </p:nvSpPr>
        <p:spPr>
          <a:xfrm>
            <a:off x="3425027" y="1822398"/>
            <a:ext cx="5092797" cy="465425"/>
          </a:xfrm>
          <a:prstGeom prst="rect">
            <a:avLst/>
          </a:prstGeom>
          <a:solidFill>
            <a:srgbClr val="065A82"/>
          </a:solidFill>
          <a:ln>
            <a:noFill/>
          </a:ln>
          <a:effectLst/>
        </p:spPr>
        <p:txBody>
          <a:bodyPr rtlCol="0" anchor="ctr"/>
          <a:lstStyle/>
          <a:p>
            <a:pPr algn="ctr"/>
          </a:p>
        </p:txBody>
      </p:sp>
      <p:sp>
        <p:nvSpPr>
          <p:cNvPr id="9" name="TextBox 8"/>
          <p:cNvSpPr txBox="1"/>
          <p:nvPr/>
        </p:nvSpPr>
        <p:spPr>
          <a:xfrm>
            <a:off x="3571331" y="1822398"/>
            <a:ext cx="4800189"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Старт</a:t>
            </a:r>
          </a:p>
        </p:txBody>
      </p:sp>
      <p:sp>
        <p:nvSpPr>
          <p:cNvPr id="10" name="Rectangle 9"/>
          <p:cNvSpPr/>
          <p:nvPr/>
        </p:nvSpPr>
        <p:spPr>
          <a:xfrm>
            <a:off x="8517824" y="1822398"/>
            <a:ext cx="3134374" cy="465425"/>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664128" y="1822398"/>
            <a:ext cx="2841766"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Узкое место</a:t>
            </a:r>
          </a:p>
        </p:txBody>
      </p:sp>
      <p:sp>
        <p:nvSpPr>
          <p:cNvPr id="12" name="Rectangle 11"/>
          <p:cNvSpPr/>
          <p:nvPr/>
        </p:nvSpPr>
        <p:spPr>
          <a:xfrm>
            <a:off x="539496" y="2287823"/>
            <a:ext cx="2885531" cy="465425"/>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287823"/>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Изображение</a:t>
            </a:r>
          </a:p>
        </p:txBody>
      </p:sp>
      <p:sp>
        <p:nvSpPr>
          <p:cNvPr id="14" name="Rectangle 13"/>
          <p:cNvSpPr/>
          <p:nvPr/>
        </p:nvSpPr>
        <p:spPr>
          <a:xfrm>
            <a:off x="3425027" y="2287823"/>
            <a:ext cx="5092797" cy="465425"/>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3571331" y="2287823"/>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латент 128×128, 20–50 шагов</a:t>
            </a:r>
          </a:p>
        </p:txBody>
      </p:sp>
      <p:sp>
        <p:nvSpPr>
          <p:cNvPr id="16" name="Rectangle 15"/>
          <p:cNvSpPr/>
          <p:nvPr/>
        </p:nvSpPr>
        <p:spPr>
          <a:xfrm>
            <a:off x="8517824" y="2287823"/>
            <a:ext cx="3134374" cy="465425"/>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664128" y="2287823"/>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автокодировщик</a:t>
            </a:r>
          </a:p>
        </p:txBody>
      </p:sp>
      <p:sp>
        <p:nvSpPr>
          <p:cNvPr id="18" name="Rectangle 17"/>
          <p:cNvSpPr/>
          <p:nvPr/>
        </p:nvSpPr>
        <p:spPr>
          <a:xfrm>
            <a:off x="539496" y="2753248"/>
            <a:ext cx="2885531" cy="465425"/>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3248"/>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Звук</a:t>
            </a:r>
          </a:p>
        </p:txBody>
      </p:sp>
      <p:sp>
        <p:nvSpPr>
          <p:cNvPr id="20" name="Rectangle 19"/>
          <p:cNvSpPr/>
          <p:nvPr/>
        </p:nvSpPr>
        <p:spPr>
          <a:xfrm>
            <a:off x="3425027" y="2753248"/>
            <a:ext cx="5092797" cy="465425"/>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3571331" y="2753248"/>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токены кодека, 8 книг</a:t>
            </a:r>
          </a:p>
        </p:txBody>
      </p:sp>
      <p:sp>
        <p:nvSpPr>
          <p:cNvPr id="22" name="Rectangle 21"/>
          <p:cNvSpPr/>
          <p:nvPr/>
        </p:nvSpPr>
        <p:spPr>
          <a:xfrm>
            <a:off x="8517824" y="2753248"/>
            <a:ext cx="3134374" cy="465425"/>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664128" y="2753248"/>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декодировщик</a:t>
            </a:r>
          </a:p>
        </p:txBody>
      </p:sp>
      <p:sp>
        <p:nvSpPr>
          <p:cNvPr id="24" name="Rectangle 23"/>
          <p:cNvSpPr/>
          <p:nvPr/>
        </p:nvSpPr>
        <p:spPr>
          <a:xfrm>
            <a:off x="539496" y="3218674"/>
            <a:ext cx="2885531" cy="46542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218674"/>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Видео</a:t>
            </a:r>
          </a:p>
        </p:txBody>
      </p:sp>
      <p:sp>
        <p:nvSpPr>
          <p:cNvPr id="26" name="Rectangle 25"/>
          <p:cNvSpPr/>
          <p:nvPr/>
        </p:nvSpPr>
        <p:spPr>
          <a:xfrm>
            <a:off x="3425027" y="3218674"/>
            <a:ext cx="5092797" cy="465425"/>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3571331" y="3218674"/>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патчи пространства-времени</a:t>
            </a:r>
          </a:p>
        </p:txBody>
      </p:sp>
      <p:sp>
        <p:nvSpPr>
          <p:cNvPr id="28" name="Rectangle 27"/>
          <p:cNvSpPr/>
          <p:nvPr/>
        </p:nvSpPr>
        <p:spPr>
          <a:xfrm>
            <a:off x="8517824" y="3218674"/>
            <a:ext cx="3134374" cy="465425"/>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664128" y="3218674"/>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автокодировщик</a:t>
            </a:r>
          </a:p>
        </p:txBody>
      </p:sp>
      <p:sp>
        <p:nvSpPr>
          <p:cNvPr id="30" name="Rectangle 29"/>
          <p:cNvSpPr/>
          <p:nvPr/>
        </p:nvSpPr>
        <p:spPr>
          <a:xfrm>
            <a:off x="539496" y="3684099"/>
            <a:ext cx="2885531" cy="46542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684099"/>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3D</a:t>
            </a:r>
          </a:p>
        </p:txBody>
      </p:sp>
      <p:sp>
        <p:nvSpPr>
          <p:cNvPr id="32" name="Rectangle 31"/>
          <p:cNvSpPr/>
          <p:nvPr/>
        </p:nvSpPr>
        <p:spPr>
          <a:xfrm>
            <a:off x="3425027" y="3684099"/>
            <a:ext cx="5092797" cy="465425"/>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3571331" y="3684099"/>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точки или виды, 30 000 шагов</a:t>
            </a:r>
          </a:p>
        </p:txBody>
      </p:sp>
      <p:sp>
        <p:nvSpPr>
          <p:cNvPr id="34" name="Rectangle 33"/>
          <p:cNvSpPr/>
          <p:nvPr/>
        </p:nvSpPr>
        <p:spPr>
          <a:xfrm>
            <a:off x="8517824" y="3684099"/>
            <a:ext cx="3134374" cy="465425"/>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664128" y="3684099"/>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память сцены</a:t>
            </a:r>
          </a:p>
        </p:txBody>
      </p:sp>
      <p:sp>
        <p:nvSpPr>
          <p:cNvPr id="36" name="Rectangle 35"/>
          <p:cNvSpPr/>
          <p:nvPr/>
        </p:nvSpPr>
        <p:spPr>
          <a:xfrm>
            <a:off x="539496" y="4149524"/>
            <a:ext cx="2885531" cy="465425"/>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149524"/>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Распознавание</a:t>
            </a:r>
          </a:p>
        </p:txBody>
      </p:sp>
      <p:sp>
        <p:nvSpPr>
          <p:cNvPr id="38" name="Rectangle 37"/>
          <p:cNvSpPr/>
          <p:nvPr/>
        </p:nvSpPr>
        <p:spPr>
          <a:xfrm>
            <a:off x="3425027" y="4149524"/>
            <a:ext cx="5092797" cy="465425"/>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3571331" y="4149524"/>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патчи, 12–32 слоя</a:t>
            </a:r>
          </a:p>
        </p:txBody>
      </p:sp>
      <p:sp>
        <p:nvSpPr>
          <p:cNvPr id="40" name="Rectangle 39"/>
          <p:cNvSpPr/>
          <p:nvPr/>
        </p:nvSpPr>
        <p:spPr>
          <a:xfrm>
            <a:off x="8517824" y="4149524"/>
            <a:ext cx="3134374" cy="465425"/>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664128" y="4149524"/>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одно число</a:t>
            </a: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сведено по принятым кадрам устройства разделов 1–5: s16</a:t>
            </a:r>
            <a:r>
              <a:rPr sz="1200" b="0" i="1">
                <a:solidFill>
                  <a:srgbClr val="1C7293"/>
                </a:solidFill>
                <a:latin typeface="Arial"/>
              </a:rPr>
              <a:t> · </a:t>
            </a:r>
            <a:r>
              <a:rPr sz="1200" b="0" i="1">
                <a:solidFill>
                  <a:srgbClr val="1C7293"/>
                </a:solidFill>
                <a:latin typeface="Arial"/>
              </a:rPr>
              <a:t>s41</a:t>
            </a:r>
            <a:r>
              <a:rPr sz="1200" b="0" i="1">
                <a:solidFill>
                  <a:srgbClr val="1C7293"/>
                </a:solidFill>
                <a:latin typeface="Arial"/>
              </a:rPr>
              <a:t> · </a:t>
            </a:r>
            <a:r>
              <a:rPr sz="1200" b="0" i="1">
                <a:solidFill>
                  <a:srgbClr val="1C7293"/>
                </a:solidFill>
                <a:latin typeface="Arial"/>
              </a:rPr>
              <a:t>s59/s60</a:t>
            </a:r>
            <a:r>
              <a:rPr sz="1200" b="0" i="1">
                <a:solidFill>
                  <a:srgbClr val="1C7293"/>
                </a:solidFill>
                <a:latin typeface="Arial"/>
              </a:rPr>
              <a:t> · </a:t>
            </a:r>
            <a:r>
              <a:rPr sz="1200" b="0" i="1">
                <a:solidFill>
                  <a:srgbClr val="1C7293"/>
                </a:solidFill>
                <a:latin typeface="Arial"/>
              </a:rPr>
              <a:t>s68a/s71</a:t>
            </a:r>
            <a:r>
              <a:rPr sz="1200" b="0" i="1">
                <a:solidFill>
                  <a:srgbClr val="1C7293"/>
                </a:solidFill>
                <a:latin typeface="Arial"/>
              </a:rPr>
              <a:t> · </a:t>
            </a:r>
            <a:r>
              <a:rPr sz="1200" b="0" i="1">
                <a:solidFill>
                  <a:srgbClr val="1C7293"/>
                </a:solidFill>
                <a:latin typeface="Arial"/>
              </a:rPr>
              <a:t>s83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ПОДЕШЕВЕЛО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во всех пяти модальностях</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НЕ ПОДЕШЕВЕЛО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каждым стоит разобранный случай с посчитанной классикой</a:t>
            </a:r>
          </a:p>
        </p:txBody>
      </p:sp>
      <p:sp>
        <p:nvSpPr>
          <p:cNvPr id="12" name="TextBox 11"/>
          <p:cNvSpPr txBox="1"/>
          <p:nvPr/>
        </p:nvSpPr>
        <p:spPr>
          <a:xfrm>
            <a:off x="502920" y="3110657"/>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ОТБОР</a:t>
            </a:r>
          </a:p>
        </p:txBody>
      </p:sp>
      <p:sp>
        <p:nvSpPr>
          <p:cNvPr id="13" name="Rounded Rectangle 12"/>
          <p:cNvSpPr/>
          <p:nvPr/>
        </p:nvSpPr>
        <p:spPr>
          <a:xfrm>
            <a:off x="2011680" y="307408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забракованные попытки</a:t>
            </a:r>
          </a:p>
        </p:txBody>
      </p:sp>
      <p:sp>
        <p:nvSpPr>
          <p:cNvPr id="16" name="Rounded Rectangle 15"/>
          <p:cNvSpPr/>
          <p:nvPr/>
        </p:nvSpPr>
        <p:spPr>
          <a:xfrm>
            <a:off x="5298338"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300–400 генераций на 15 склеек: брак 96 %</a:t>
            </a:r>
          </a:p>
        </p:txBody>
      </p:sp>
      <p:sp>
        <p:nvSpPr>
          <p:cNvPr id="18" name="Rounded Rectangle 17"/>
          <p:cNvSpPr/>
          <p:nvPr/>
        </p:nvSpPr>
        <p:spPr>
          <a:xfrm>
            <a:off x="8493556"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изображением и видео</a:t>
            </a:r>
          </a:p>
        </p:txBody>
      </p:sp>
      <p:sp>
        <p:nvSpPr>
          <p:cNvPr id="20" name="TextBox 19"/>
          <p:cNvSpPr txBox="1"/>
          <p:nvPr/>
        </p:nvSpPr>
        <p:spPr>
          <a:xfrm>
            <a:off x="502920" y="388836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ПРАВА</a:t>
            </a:r>
          </a:p>
        </p:txBody>
      </p:sp>
      <p:sp>
        <p:nvSpPr>
          <p:cNvPr id="21" name="Rounded Rectangle 20"/>
          <p:cNvSpPr/>
          <p:nvPr/>
        </p:nvSpPr>
        <p:spPr>
          <a:xfrm>
            <a:off x="2011680" y="385178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деньги за доступ к материалу</a:t>
            </a:r>
          </a:p>
        </p:txBody>
      </p:sp>
      <p:sp>
        <p:nvSpPr>
          <p:cNvPr id="24" name="Rounded Rectangle 23"/>
          <p:cNvSpPr/>
          <p:nvPr/>
        </p:nvSpPr>
        <p:spPr>
          <a:xfrm>
            <a:off x="5298338"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5380634"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1,5 млрд $ на 482 460 произведений ≈ 3 100 за одно</a:t>
            </a:r>
          </a:p>
        </p:txBody>
      </p:sp>
      <p:sp>
        <p:nvSpPr>
          <p:cNvPr id="26" name="Rounded Rectangle 25"/>
          <p:cNvSpPr/>
          <p:nvPr/>
        </p:nvSpPr>
        <p:spPr>
          <a:xfrm>
            <a:off x="8493556"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575852"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звуком и изображением</a:t>
            </a:r>
          </a:p>
        </p:txBody>
      </p:sp>
      <p:sp>
        <p:nvSpPr>
          <p:cNvPr id="28" name="TextBox 27"/>
          <p:cNvSpPr txBox="1"/>
          <p:nvPr/>
        </p:nvSpPr>
        <p:spPr>
          <a:xfrm>
            <a:off x="502920" y="4666069"/>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УЗНАВАНИЕ</a:t>
            </a:r>
          </a:p>
        </p:txBody>
      </p:sp>
      <p:sp>
        <p:nvSpPr>
          <p:cNvPr id="29" name="Rounded Rectangle 28"/>
          <p:cNvSpPr/>
          <p:nvPr/>
        </p:nvSpPr>
        <p:spPr>
          <a:xfrm>
            <a:off x="2011680" y="4629493"/>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доля верных решений, труд проверяющего</a:t>
            </a:r>
          </a:p>
        </p:txBody>
      </p:sp>
      <p:sp>
        <p:nvSpPr>
          <p:cNvPr id="32" name="Rounded Rectangle 31"/>
          <p:cNvSpPr/>
          <p:nvPr/>
        </p:nvSpPr>
        <p:spPr>
          <a:xfrm>
            <a:off x="5298338"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5380634"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99,9 % на своей модели, 51,9 % на незнакомой</a:t>
            </a:r>
          </a:p>
        </p:txBody>
      </p:sp>
      <p:sp>
        <p:nvSpPr>
          <p:cNvPr id="34" name="Rounded Rectangle 33"/>
          <p:cNvSpPr/>
          <p:nvPr/>
        </p:nvSpPr>
        <p:spPr>
          <a:xfrm>
            <a:off x="8493556"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575852"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распознаванием</a:t>
            </a:r>
          </a:p>
        </p:txBody>
      </p:sp>
      <p:sp>
        <p:nvSpPr>
          <p:cNvPr id="36" name="Rounded Rectangle 35"/>
          <p:cNvSpPr/>
          <p:nvPr/>
        </p:nvSpPr>
        <p:spPr>
          <a:xfrm>
            <a:off x="374904" y="5388912"/>
            <a:ext cx="11441887" cy="84729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480352"/>
            <a:ext cx="11112703" cy="75585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Платят за отбор, за права и за узнавание.</a:t>
            </a:r>
          </a:p>
          <a:p>
            <a:pPr algn="l">
              <a:lnSpc>
                <a:spcPct val="126000"/>
              </a:lnSpc>
              <a:spcBef>
                <a:spcPts val="700"/>
              </a:spcBef>
            </a:pPr>
            <a:r>
              <a:rPr sz="1100" b="0" i="0">
                <a:solidFill>
                  <a:srgbClr val="21295C"/>
                </a:solidFill>
                <a:latin typeface="Arial"/>
              </a:rPr>
              <a:t/>
            </a:r>
            <a:r>
              <a:rPr sz="1100" b="1" i="0">
                <a:solidFill>
                  <a:srgbClr val="21295C"/>
                </a:solidFill>
                <a:latin typeface="Arial"/>
              </a:rPr>
              <a:t>Отрезвляющая мера того же счёта:</a:t>
            </a:r>
            <a:r>
              <a:rPr sz="1100" b="0" i="0">
                <a:solidFill>
                  <a:srgbClr val="21295C"/>
                </a:solidFill>
                <a:latin typeface="Arial"/>
              </a:rPr>
              <a:t> на российской бирже сгенерированная иллюстрация дешевле обычной в 2,16 раза — вдвое при трёх порядках падения цены исполнения. Из цены заказа ушло исполнение; отбор и ответственность в ней остались.</a:t>
            </a:r>
          </a:p>
        </p:txBody>
      </p:sp>
      <p:sp>
        <p:nvSpPr>
          <p:cNvPr id="38" name="Rectangle 3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СОВПАЛО У ЧЕТЫРЁХ ПЛОЩАДОК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разных странах, разными методами, по разным модальностям</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Deezer, июнь 2026</a:t>
            </a:r>
          </a:p>
        </p:txBody>
      </p:sp>
      <p:sp>
        <p:nvSpPr>
          <p:cNvPr id="9" name="Rounded Rectangle 8"/>
          <p:cNvSpPr/>
          <p:nvPr/>
        </p:nvSpPr>
        <p:spPr>
          <a:xfrm>
            <a:off x="2011680" y="268365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более 50 % суточной загрузки</a:t>
            </a:r>
          </a:p>
        </p:txBody>
      </p:sp>
      <p:sp>
        <p:nvSpPr>
          <p:cNvPr id="12" name="Rounded Rectangle 11"/>
          <p:cNvSpPr/>
          <p:nvPr/>
        </p:nvSpPr>
        <p:spPr>
          <a:xfrm>
            <a:off x="5298338"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1–3 % всех прослушиваний</a:t>
            </a:r>
          </a:p>
        </p:txBody>
      </p:sp>
      <p:sp>
        <p:nvSpPr>
          <p:cNvPr id="14" name="Rounded Rectangle 13"/>
          <p:cNvSpPr/>
          <p:nvPr/>
        </p:nvSpPr>
        <p:spPr>
          <a:xfrm>
            <a:off x="8493556"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январе 2025 было 10 %</a:t>
            </a:r>
          </a:p>
        </p:txBody>
      </p:sp>
      <p:sp>
        <p:nvSpPr>
          <p:cNvPr id="16" name="TextBox 15"/>
          <p:cNvSpPr txBox="1"/>
          <p:nvPr/>
        </p:nvSpPr>
        <p:spPr>
          <a:xfrm>
            <a:off x="502920" y="3342025"/>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Steam, к июлю 2026</a:t>
            </a:r>
          </a:p>
        </p:txBody>
      </p:sp>
      <p:sp>
        <p:nvSpPr>
          <p:cNvPr id="17" name="Rounded Rectangle 16"/>
          <p:cNvSpPr/>
          <p:nvPr/>
        </p:nvSpPr>
        <p:spPr>
          <a:xfrm>
            <a:off x="2011680" y="330544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30,8 % релизов года с раскрытием</a:t>
            </a:r>
          </a:p>
        </p:txBody>
      </p:sp>
      <p:sp>
        <p:nvSpPr>
          <p:cNvPr id="20" name="Rounded Rectangle 19"/>
          <p:cNvSpPr/>
          <p:nvPr/>
        </p:nvSpPr>
        <p:spPr>
          <a:xfrm>
            <a:off x="5298338"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10–27 % оценочных продаж</a:t>
            </a:r>
          </a:p>
        </p:txBody>
      </p:sp>
      <p:sp>
        <p:nvSpPr>
          <p:cNvPr id="22" name="Rounded Rectangle 21"/>
          <p:cNvSpPr/>
          <p:nvPr/>
        </p:nvSpPr>
        <p:spPr>
          <a:xfrm>
            <a:off x="8493556"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2024-м было 3–6 %</a:t>
            </a:r>
          </a:p>
        </p:txBody>
      </p:sp>
      <p:sp>
        <p:nvSpPr>
          <p:cNvPr id="24" name="TextBox 23"/>
          <p:cNvSpPr txBox="1"/>
          <p:nvPr/>
        </p:nvSpPr>
        <p:spPr>
          <a:xfrm>
            <a:off x="502920" y="4119732"/>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Аудиокниги США, 2025</a:t>
            </a:r>
          </a:p>
        </p:txBody>
      </p:sp>
      <p:sp>
        <p:nvSpPr>
          <p:cNvPr id="25" name="Rounded Rectangle 24"/>
          <p:cNvSpPr/>
          <p:nvPr/>
        </p:nvSpPr>
        <p:spPr>
          <a:xfrm>
            <a:off x="2011680" y="4083156"/>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каталог 750 000 наименований, рост 43 % за год</a:t>
            </a:r>
          </a:p>
        </p:txBody>
      </p:sp>
      <p:sp>
        <p:nvSpPr>
          <p:cNvPr id="28" name="Rounded Rectangle 27"/>
          <p:cNvSpPr/>
          <p:nvPr/>
        </p:nvSpPr>
        <p:spPr>
          <a:xfrm>
            <a:off x="5298338"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0,03 % продаж из 2,43 млрд $</a:t>
            </a:r>
          </a:p>
        </p:txBody>
      </p:sp>
      <p:sp>
        <p:nvSpPr>
          <p:cNvPr id="30" name="Rounded Rectangle 29"/>
          <p:cNvSpPr/>
          <p:nvPr/>
        </p:nvSpPr>
        <p:spPr>
          <a:xfrm>
            <a:off x="8493556"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машинный голос пробовали 16 %</a:t>
            </a:r>
          </a:p>
        </p:txBody>
      </p:sp>
      <p:sp>
        <p:nvSpPr>
          <p:cNvPr id="32" name="TextBox 31"/>
          <p:cNvSpPr txBox="1"/>
          <p:nvPr/>
        </p:nvSpPr>
        <p:spPr>
          <a:xfrm>
            <a:off x="502920" y="489743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Яндекс Музыка, 2026</a:t>
            </a:r>
          </a:p>
        </p:txBody>
      </p:sp>
      <p:sp>
        <p:nvSpPr>
          <p:cNvPr id="33" name="Rounded Rectangle 32"/>
          <p:cNvSpPr/>
          <p:nvPr/>
        </p:nvSpPr>
        <p:spPr>
          <a:xfrm>
            <a:off x="2011680" y="486086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около 40 % новых треков в месяц</a:t>
            </a:r>
          </a:p>
        </p:txBody>
      </p:sp>
      <p:sp>
        <p:nvSpPr>
          <p:cNvPr id="36" name="Rounded Rectangle 35"/>
          <p:cNvSpPr/>
          <p:nvPr/>
        </p:nvSpPr>
        <p:spPr>
          <a:xfrm>
            <a:off x="5298338"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десятый трек чарта</a:t>
            </a:r>
          </a:p>
        </p:txBody>
      </p:sp>
      <p:sp>
        <p:nvSpPr>
          <p:cNvPr id="38" name="Rounded Rectangle 37"/>
          <p:cNvSpPr/>
          <p:nvPr/>
        </p:nvSpPr>
        <p:spPr>
          <a:xfrm>
            <a:off x="8493556"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выборка 5,7 млн профилей</a:t>
            </a:r>
          </a:p>
        </p:txBody>
      </p:sp>
      <p:sp>
        <p:nvSpPr>
          <p:cNvPr id="40" name="Rounded Rectangle 39"/>
          <p:cNvSpPr/>
          <p:nvPr/>
        </p:nvSpPr>
        <p:spPr>
          <a:xfrm>
            <a:off x="374904" y="5620280"/>
            <a:ext cx="11441887" cy="6159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711720"/>
            <a:ext cx="11112703" cy="52448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Измеряют предложение, а выводы делают о востребованности:</a:t>
            </a:r>
            <a:r>
              <a:rPr sz="1300" b="0" i="0">
                <a:solidFill>
                  <a:srgbClr val="21295C"/>
                </a:solidFill>
                <a:latin typeface="Arial"/>
              </a:rPr>
              <a:t> объём производства перестал быть свидетельством спроса. Разницу заполняет накрутка — на музыкальной площадке она измерена: 85 % прослушиваний машинных треков демонетизированы.</a:t>
            </a: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Куда идёт индустрия: чем ограничено качество, права и размер рынка</a:t>
            </a:r>
          </a:p>
        </p:txBody>
      </p:sp>
      <p:sp>
        <p:nvSpPr>
          <p:cNvPr id="4" name="Rounded Rectangle 3"/>
          <p:cNvSpPr/>
          <p:nvPr/>
        </p:nvSpPr>
        <p:spPr>
          <a:xfrm>
            <a:off x="502920"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932846"/>
            <a:ext cx="3344570" cy="630698"/>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SD v1 (2022) и SD 3 (2024) — одно и то же число операций</a:t>
            </a:r>
          </a:p>
        </p:txBody>
      </p:sp>
      <p:sp>
        <p:nvSpPr>
          <p:cNvPr id="7" name="TextBox 6"/>
          <p:cNvSpPr txBox="1"/>
          <p:nvPr/>
        </p:nvSpPr>
        <p:spPr>
          <a:xfrm>
            <a:off x="640080" y="256354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языковых моделей вычисления росли в 4–5 раз в год</a:t>
            </a:r>
          </a:p>
        </p:txBody>
      </p:sp>
      <p:sp>
        <p:nvSpPr>
          <p:cNvPr id="8" name="Rounded Rectangle 7"/>
          <p:cNvSpPr/>
          <p:nvPr/>
        </p:nvSpPr>
        <p:spPr>
          <a:xfrm>
            <a:off x="4286402"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ПРАВА И МОДАЛЬНОСТЬ — РЕШЕНЫ, НЕ СПОРНЫ</a:t>
            </a:r>
          </a:p>
        </p:txBody>
      </p:sp>
      <p:sp>
        <p:nvSpPr>
          <p:cNvPr id="10" name="TextBox 9"/>
          <p:cNvSpPr txBox="1"/>
          <p:nvPr/>
        </p:nvSpPr>
        <p:spPr>
          <a:xfrm>
            <a:off x="4423562" y="1932846"/>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лицензия стала условием продукта; мировые модели — отдельный класс</a:t>
            </a:r>
          </a:p>
        </p:txBody>
      </p:sp>
      <p:sp>
        <p:nvSpPr>
          <p:cNvPr id="11" name="TextBox 10"/>
          <p:cNvSpPr txBox="1"/>
          <p:nvPr/>
        </p:nvSpPr>
        <p:spPr>
          <a:xfrm>
            <a:off x="4423562" y="28860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Suno и ElevenMusic на лицензии с 2026 года; связность мировых моделей — минуты, не секунды</a:t>
            </a:r>
          </a:p>
        </p:txBody>
      </p:sp>
      <p:sp>
        <p:nvSpPr>
          <p:cNvPr id="12" name="Rounded Rectangle 11"/>
          <p:cNvSpPr/>
          <p:nvPr/>
        </p:nvSpPr>
        <p:spPr>
          <a:xfrm>
            <a:off x="8069884"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ЧЕТЫРЕ ОЦЕНКИ РЫНКА ЗА 2026 ГОД</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3,16–19,2 млрд $ — разброс в 6 раз</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сходятся только в темпе: 14–34 % в год</a:t>
            </a:r>
          </a:p>
        </p:txBody>
      </p:sp>
      <p:sp>
        <p:nvSpPr>
          <p:cNvPr id="16" name="Rounded Rectangle 15"/>
          <p:cNvSpPr/>
          <p:nvPr/>
        </p:nvSpPr>
        <p:spPr>
          <a:xfrm>
            <a:off x="374904" y="3748398"/>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39838"/>
            <a:ext cx="11112703" cy="239636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Устройство рынка меняется медленнее номеров версий.</a:t>
            </a:r>
            <a:r>
              <a:rPr sz="1500" b="0" i="0">
                <a:solidFill>
                  <a:srgbClr val="21295C"/>
                </a:solidFill>
                <a:latin typeface="Arial"/>
              </a:rPr>
              <a:t> Решения о внедрении стоит сверять по нему, не по номеру релиза.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Качество ограничивает токенизатор, не размер модели.</a:t>
            </a:r>
            <a:r>
              <a:rPr sz="1500" b="0" i="0">
                <a:solidFill>
                  <a:srgbClr val="21295C"/>
                </a:solidFill>
                <a:latin typeface="Arial"/>
              </a:rPr>
              <a:t> Кэша у картиночной модели нет и быть не может: расшумление на каждом шаге переписывает все 4096 токенов.</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независимая проверка WRBench, 23 модели, июнь 2026 (arXiv:2606.20545)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Точные величины</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единицы, допуски, материалы, кинематика</a:t>
            </a:r>
          </a:p>
        </p:txBody>
      </p:sp>
      <p:sp>
        <p:nvSpPr>
          <p:cNvPr id="8" name="Right Arrow 7"/>
          <p:cNvSpPr/>
          <p:nvPr/>
        </p:nvSpPr>
        <p:spPr>
          <a:xfrm>
            <a:off x="5069738" y="1717135"/>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5389778"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5472074"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внутри картинки ничего этого нет: нечего измерить и нечем проверить расчётом</a:t>
            </a:r>
          </a:p>
        </p:txBody>
      </p:sp>
      <p:sp>
        <p:nvSpPr>
          <p:cNvPr id="11" name="Right Arrow 10"/>
          <p:cNvSpPr/>
          <p:nvPr/>
        </p:nvSpPr>
        <p:spPr>
          <a:xfrm>
            <a:off x="8356396" y="171713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8676436"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8758732"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система автоматизированного проектирования</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Источник и ссылка</a:t>
            </a:r>
          </a:p>
        </p:txBody>
      </p:sp>
      <p:sp>
        <p:nvSpPr>
          <p:cNvPr id="15" name="Rounded Rectangle 14"/>
          <p:cNvSpPr/>
          <p:nvPr/>
        </p:nvSpPr>
        <p:spPr>
          <a:xfrm>
            <a:off x="2011680" y="2346135"/>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«на основании» или «со ссылкой»</a:t>
            </a:r>
          </a:p>
        </p:txBody>
      </p:sp>
      <p:sp>
        <p:nvSpPr>
          <p:cNvPr id="18" name="Right Arrow 17"/>
          <p:cNvSpPr/>
          <p:nvPr/>
        </p:nvSpPr>
        <p:spPr>
          <a:xfrm>
            <a:off x="5069738" y="284494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389778"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5472074"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вклад обучающего примера размазан по миллиардам весов: такой записи не существует</a:t>
            </a:r>
          </a:p>
        </p:txBody>
      </p:sp>
      <p:sp>
        <p:nvSpPr>
          <p:cNvPr id="21" name="Right Arrow 20"/>
          <p:cNvSpPr/>
          <p:nvPr/>
        </p:nvSpPr>
        <p:spPr>
          <a:xfrm>
            <a:off x="8356396" y="284494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76436"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758732"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поиск по базе, обратный поиск по изображению, архив</a:t>
            </a:r>
          </a:p>
        </p:txBody>
      </p:sp>
      <p:sp>
        <p:nvSpPr>
          <p:cNvPr id="24" name="TextBox 23"/>
          <p:cNvSpPr txBox="1"/>
          <p:nvPr/>
        </p:nvSpPr>
        <p:spPr>
          <a:xfrm>
            <a:off x="502920" y="3627228"/>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Постоянство объекта</a:t>
            </a:r>
          </a:p>
        </p:txBody>
      </p:sp>
      <p:sp>
        <p:nvSpPr>
          <p:cNvPr id="25" name="Rounded Rectangle 24"/>
          <p:cNvSpPr/>
          <p:nvPr/>
        </p:nvSpPr>
        <p:spPr>
          <a:xfrm>
            <a:off x="2011680" y="3590652"/>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персонаж, товар или интерфейс узнаваем во всей серии</a:t>
            </a:r>
          </a:p>
        </p:txBody>
      </p:sp>
      <p:sp>
        <p:nvSpPr>
          <p:cNvPr id="28" name="Right Arrow 27"/>
          <p:cNvSpPr/>
          <p:nvPr/>
        </p:nvSpPr>
        <p:spPr>
          <a:xfrm>
            <a:off x="5069738" y="397276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389778"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5472074"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понятия «тот же самый» в модели нет; связность деградирует с длиной</a:t>
            </a:r>
          </a:p>
        </p:txBody>
      </p:sp>
      <p:sp>
        <p:nvSpPr>
          <p:cNvPr id="31" name="Right Arrow 30"/>
          <p:cNvSpPr/>
          <p:nvPr/>
        </p:nvSpPr>
        <p:spPr>
          <a:xfrm>
            <a:off x="8356396" y="397276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76436"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8758732"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идентичность держат снаружи модели</a:t>
            </a:r>
          </a:p>
        </p:txBody>
      </p:sp>
      <p:sp>
        <p:nvSpPr>
          <p:cNvPr id="34" name="TextBox 33"/>
          <p:cNvSpPr txBox="1"/>
          <p:nvPr/>
        </p:nvSpPr>
        <p:spPr>
          <a:xfrm>
            <a:off x="502920" y="4638339"/>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4. Нужное уже в записи</a:t>
            </a:r>
          </a:p>
        </p:txBody>
      </p:sp>
      <p:sp>
        <p:nvSpPr>
          <p:cNvPr id="35" name="Rounded Rectangle 34"/>
          <p:cNvSpPr/>
          <p:nvPr/>
        </p:nvSpPr>
        <p:spPr>
          <a:xfrm>
            <a:off x="2011680" y="460176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6" name="Rounded Rectangle 35"/>
          <p:cNvSpPr/>
          <p:nvPr/>
        </p:nvSpPr>
        <p:spPr>
          <a:xfrm>
            <a:off x="2103120"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2185416"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нужное записано, но читается плохо</a:t>
            </a:r>
          </a:p>
        </p:txBody>
      </p:sp>
      <p:sp>
        <p:nvSpPr>
          <p:cNvPr id="38" name="Right Arrow 37"/>
          <p:cNvSpPr/>
          <p:nvPr/>
        </p:nvSpPr>
        <p:spPr>
          <a:xfrm>
            <a:off x="5069738" y="4983875"/>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5389778"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5472074"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добавит то, чего не было, и так же убедительно</a:t>
            </a:r>
          </a:p>
        </p:txBody>
      </p:sp>
      <p:sp>
        <p:nvSpPr>
          <p:cNvPr id="41" name="Right Arrow 40"/>
          <p:cNvSpPr/>
          <p:nvPr/>
        </p:nvSpPr>
        <p:spPr>
          <a:xfrm>
            <a:off x="8356396" y="4983875"/>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8676436"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8758732"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разделение источников, шумоподавление, сверхразрешение</a:t>
            </a:r>
          </a:p>
        </p:txBody>
      </p:sp>
      <p:sp>
        <p:nvSpPr>
          <p:cNvPr id="44" name="TextBox 43"/>
          <p:cNvSpPr txBox="1"/>
          <p:nvPr/>
        </p:nvSpPr>
        <p:spPr>
          <a:xfrm>
            <a:off x="502920" y="557629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разбор на каждый критерий: признак задачи → почему метод её не берёт → чем работать вместо</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критерии пишут до начала работы</a:t>
            </a:r>
          </a:p>
        </p:txBody>
      </p:sp>
      <p:sp>
        <p:nvSpPr>
          <p:cNvPr id="4" name="Rounded Rectangle 3"/>
          <p:cNvSpPr/>
          <p:nvPr/>
        </p:nvSpPr>
        <p:spPr>
          <a:xfrm>
            <a:off x="502920"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КРУГА ЗАДАЧ, КОТОРЫЙ МОДЕЛЬ ТЯНЕТ</a:t>
            </a:r>
          </a:p>
        </p:txBody>
      </p:sp>
      <p:sp>
        <p:nvSpPr>
          <p:cNvPr id="6" name="TextBox 5"/>
          <p:cNvSpPr txBox="1"/>
          <p:nvPr/>
        </p:nvSpPr>
        <p:spPr>
          <a:xfrm>
            <a:off x="640080" y="1932846"/>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на 12,2 % больше задач и на 25,1 % быстрее</a:t>
            </a:r>
          </a:p>
        </p:txBody>
      </p:sp>
      <p:sp>
        <p:nvSpPr>
          <p:cNvPr id="7" name="TextBox 6"/>
          <p:cNvSpPr txBox="1"/>
          <p:nvPr/>
        </p:nvSpPr>
        <p:spPr>
          <a:xfrm>
            <a:off x="640080" y="269934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работавших без модели, при более высоком качестве — крупный выигрыш по меркам полевых опытов</a:t>
            </a:r>
          </a:p>
        </p:txBody>
      </p:sp>
      <p:sp>
        <p:nvSpPr>
          <p:cNvPr id="8" name="Rounded Rectangle 7"/>
          <p:cNvSpPr/>
          <p:nvPr/>
        </p:nvSpPr>
        <p:spPr>
          <a:xfrm>
            <a:off x="4286402" y="1335024"/>
            <a:ext cx="3618890" cy="2135210"/>
          </a:xfrm>
          <a:prstGeom prst="roundRect">
            <a:avLst>
              <a:gd name="adj" fmla="val 14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ЭТОЙ ЗАДАЧЕ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19 процентных пунктов</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вслух: это разница ДОЛЕЙ верных решений, а не процентов от процента</a:t>
            </a:r>
          </a:p>
        </p:txBody>
      </p:sp>
      <p:sp>
        <p:nvSpPr>
          <p:cNvPr id="12" name="Rounded Rectangle 11"/>
          <p:cNvSpPr/>
          <p:nvPr/>
        </p:nvSpPr>
        <p:spPr>
          <a:xfrm>
            <a:off x="8069884"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ОТСЮДА ПРАВИЛО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критерии пишутся до начала работы</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границу применимости изнутри задачи не видно; результат меряется по секундомеру и по доле верных решений</a:t>
            </a:r>
          </a:p>
        </p:txBody>
      </p:sp>
      <p:sp>
        <p:nvSpPr>
          <p:cNvPr id="16" name="Rectangle 15"/>
          <p:cNvSpPr/>
          <p:nvPr/>
        </p:nvSpPr>
        <p:spPr>
          <a:xfrm>
            <a:off x="754380" y="4324089"/>
            <a:ext cx="10682935" cy="50292"/>
          </a:xfrm>
          <a:prstGeom prst="rect">
            <a:avLst/>
          </a:prstGeom>
          <a:solidFill>
            <a:srgbClr val="1C7293"/>
          </a:solidFill>
          <a:ln>
            <a:noFill/>
          </a:ln>
          <a:effectLst/>
        </p:spPr>
        <p:txBody>
          <a:bodyPr rtlCol="0" anchor="ctr"/>
          <a:lstStyle/>
          <a:p>
            <a:pPr algn="ctr"/>
          </a:p>
        </p:txBody>
      </p:sp>
      <p:sp>
        <p:nvSpPr>
          <p:cNvPr id="17" name="TextBox 16"/>
          <p:cNvSpPr txBox="1"/>
          <p:nvPr/>
        </p:nvSpPr>
        <p:spPr>
          <a:xfrm>
            <a:off x="388620"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50</a:t>
            </a:r>
          </a:p>
        </p:txBody>
      </p:sp>
      <p:sp>
        <p:nvSpPr>
          <p:cNvPr id="18" name="TextBox 17"/>
          <p:cNvSpPr txBox="1"/>
          <p:nvPr/>
        </p:nvSpPr>
        <p:spPr>
          <a:xfrm>
            <a:off x="11071555"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9" name="Rectangle 18"/>
          <p:cNvSpPr/>
          <p:nvPr/>
        </p:nvSpPr>
        <p:spPr>
          <a:xfrm>
            <a:off x="836676" y="4243621"/>
            <a:ext cx="37033" cy="211226"/>
          </a:xfrm>
          <a:prstGeom prst="rect">
            <a:avLst/>
          </a:prstGeom>
          <a:solidFill>
            <a:srgbClr val="FFFFFF"/>
          </a:solidFill>
          <a:ln>
            <a:noFill/>
          </a:ln>
          <a:effectLst/>
        </p:spPr>
        <p:txBody>
          <a:bodyPr rtlCol="0" anchor="ctr"/>
          <a:lstStyle/>
          <a:p>
            <a:pPr algn="ctr"/>
          </a:p>
        </p:txBody>
      </p:sp>
      <p:sp>
        <p:nvSpPr>
          <p:cNvPr id="20" name="Rectangle 19"/>
          <p:cNvSpPr/>
          <p:nvPr/>
        </p:nvSpPr>
        <p:spPr>
          <a:xfrm>
            <a:off x="910742" y="4243621"/>
            <a:ext cx="37033" cy="211226"/>
          </a:xfrm>
          <a:prstGeom prst="rect">
            <a:avLst/>
          </a:prstGeom>
          <a:solidFill>
            <a:srgbClr val="FFFFFF"/>
          </a:solidFill>
          <a:ln>
            <a:noFill/>
          </a:ln>
          <a:effectLst/>
        </p:spPr>
        <p:txBody>
          <a:bodyPr rtlCol="0" anchor="ctr"/>
          <a:lstStyle/>
          <a:p>
            <a:pPr algn="ctr"/>
          </a:p>
        </p:txBody>
      </p:sp>
      <p:sp>
        <p:nvSpPr>
          <p:cNvPr id="21" name="Rectangle 20"/>
          <p:cNvSpPr/>
          <p:nvPr/>
        </p:nvSpPr>
        <p:spPr>
          <a:xfrm>
            <a:off x="3525697" y="4159497"/>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1686534"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60</a:t>
            </a:r>
          </a:p>
          <a:p>
            <a:pPr algn="ctr">
              <a:lnSpc>
                <a:spcPct val="110000"/>
              </a:lnSpc>
            </a:pPr>
            <a:r>
              <a:rPr sz="1200" b="0" i="0">
                <a:solidFill>
                  <a:srgbClr val="21295C"/>
                </a:solidFill>
                <a:latin typeface="Arial"/>
              </a:rPr>
              <a:t>с моделью</a:t>
            </a:r>
          </a:p>
        </p:txBody>
      </p:sp>
      <p:sp>
        <p:nvSpPr>
          <p:cNvPr id="23" name="Rectangle 22"/>
          <p:cNvSpPr/>
          <p:nvPr/>
        </p:nvSpPr>
        <p:spPr>
          <a:xfrm>
            <a:off x="6070701" y="437438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4231538" y="463041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70</a:t>
            </a:r>
          </a:p>
          <a:p>
            <a:pPr algn="ctr">
              <a:lnSpc>
                <a:spcPct val="110000"/>
              </a:lnSpc>
            </a:pPr>
            <a:r>
              <a:rPr sz="1200" b="0" i="0">
                <a:solidFill>
                  <a:srgbClr val="21295C"/>
                </a:solidFill>
                <a:latin typeface="Arial"/>
              </a:rPr>
              <a:t>с моделью и обучением работе с запросами</a:t>
            </a:r>
          </a:p>
        </p:txBody>
      </p:sp>
      <p:sp>
        <p:nvSpPr>
          <p:cNvPr id="25" name="Rectangle 24"/>
          <p:cNvSpPr/>
          <p:nvPr/>
        </p:nvSpPr>
        <p:spPr>
          <a:xfrm>
            <a:off x="9760957" y="4159497"/>
            <a:ext cx="50292" cy="16459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921793"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84,5</a:t>
            </a:r>
          </a:p>
          <a:p>
            <a:pPr algn="ctr">
              <a:lnSpc>
                <a:spcPct val="110000"/>
              </a:lnSpc>
            </a:pPr>
            <a:r>
              <a:rPr sz="1200" b="0" i="0">
                <a:solidFill>
                  <a:srgbClr val="21295C"/>
                </a:solidFill>
                <a:latin typeface="Arial"/>
              </a:rPr>
              <a:t>без модели</a:t>
            </a:r>
          </a:p>
        </p:txBody>
      </p:sp>
      <p:sp>
        <p:nvSpPr>
          <p:cNvPr id="27" name="TextBox 26"/>
          <p:cNvSpPr txBox="1"/>
          <p:nvPr/>
        </p:nvSpPr>
        <p:spPr>
          <a:xfrm>
            <a:off x="502920" y="515508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решений на одной и той же задаче · задача за пределами круга; 758 консультантов, три условия</a:t>
            </a:r>
          </a:p>
        </p:txBody>
      </p:sp>
      <p:sp>
        <p:nvSpPr>
          <p:cNvPr id="28" name="Rounded Rectangle 27"/>
          <p:cNvSpPr/>
          <p:nvPr/>
        </p:nvSpPr>
        <p:spPr>
          <a:xfrm>
            <a:off x="374904" y="5465979"/>
            <a:ext cx="11441887" cy="77022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557419"/>
            <a:ext cx="11112703" cy="6787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Вред приходит из невидимости границы, а качество самого инструмента тут ни при чём.</a:t>
            </a:r>
            <a:r>
              <a:rPr sz="1500" b="0" i="0">
                <a:solidFill>
                  <a:srgbClr val="21295C"/>
                </a:solidFill>
                <a:latin typeface="Arial"/>
              </a:rPr>
              <a:t> Задача за пределами круга внешне ничем не отличалась от остальных восемнадцати.</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ЗАМЕРОМ И САМООЦЕНКОЙ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39 процентных пунктов самообмана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между «на 19 % медленнее» по секундомеру и «уверен, что на 20 % быстрее» после работы</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ДЕЛАТЬ ВМЕСТО ОПРОСА САМООЦЕНКИ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30–50 своих типовых задач и секундомер</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картинок это дешевле, чем для текста: оценка одного образца занимает секунды</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Rectangle 12"/>
          <p:cNvSpPr/>
          <p:nvPr/>
        </p:nvSpPr>
        <p:spPr>
          <a:xfrm>
            <a:off x="6070701" y="3700267"/>
            <a:ext cx="50292" cy="562356"/>
          </a:xfrm>
          <a:prstGeom prst="rect">
            <a:avLst/>
          </a:prstGeom>
          <a:solidFill>
            <a:srgbClr val="556070"/>
          </a:solidFill>
          <a:ln>
            <a:noFill/>
          </a:ln>
          <a:effectLst/>
        </p:spPr>
        <p:txBody>
          <a:bodyPr rtlCol="0" anchor="ctr"/>
          <a:lstStyle/>
          <a:p>
            <a:pPr algn="ctr"/>
          </a:p>
        </p:txBody>
      </p:sp>
      <p:sp>
        <p:nvSpPr>
          <p:cNvPr id="14" name="TextBox 13"/>
          <p:cNvSpPr txBox="1"/>
          <p:nvPr/>
        </p:nvSpPr>
        <p:spPr>
          <a:xfrm>
            <a:off x="5775807" y="423061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15" name="TextBox 14"/>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6" name="TextBox 15"/>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7" name="Rectangle 16"/>
          <p:cNvSpPr/>
          <p:nvPr/>
        </p:nvSpPr>
        <p:spPr>
          <a:xfrm>
            <a:off x="1336994" y="3791707"/>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243555"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-55,8</a:t>
            </a:r>
          </a:p>
          <a:p>
            <a:pPr algn="ctr">
              <a:lnSpc>
                <a:spcPct val="110000"/>
              </a:lnSpc>
            </a:pPr>
            <a:r>
              <a:rPr sz="1200" b="0" i="0">
                <a:solidFill>
                  <a:srgbClr val="21295C"/>
                </a:solidFill>
                <a:latin typeface="Arial"/>
              </a:rPr>
              <a:t>Пэн: с нуля</a:t>
            </a:r>
          </a:p>
        </p:txBody>
      </p:sp>
      <p:sp>
        <p:nvSpPr>
          <p:cNvPr id="19" name="Rectangle 18"/>
          <p:cNvSpPr/>
          <p:nvPr/>
        </p:nvSpPr>
        <p:spPr>
          <a:xfrm>
            <a:off x="2762196" y="4006591"/>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1668757"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-39</a:t>
            </a:r>
          </a:p>
          <a:p>
            <a:pPr algn="ctr">
              <a:lnSpc>
                <a:spcPct val="110000"/>
              </a:lnSpc>
            </a:pPr>
            <a:r>
              <a:rPr sz="1200" b="0" i="0">
                <a:solidFill>
                  <a:srgbClr val="21295C"/>
                </a:solidFill>
                <a:latin typeface="Arial"/>
              </a:rPr>
              <a:t>34 экономиста</a:t>
            </a:r>
          </a:p>
        </p:txBody>
      </p:sp>
      <p:sp>
        <p:nvSpPr>
          <p:cNvPr id="21" name="Rectangle 20"/>
          <p:cNvSpPr/>
          <p:nvPr/>
        </p:nvSpPr>
        <p:spPr>
          <a:xfrm>
            <a:off x="4034698" y="3791707"/>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2941259"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-24</a:t>
            </a:r>
          </a:p>
          <a:p>
            <a:pPr algn="ctr">
              <a:lnSpc>
                <a:spcPct val="110000"/>
              </a:lnSpc>
            </a:pPr>
            <a:r>
              <a:rPr sz="1200" b="0" i="0">
                <a:solidFill>
                  <a:srgbClr val="21295C"/>
                </a:solidFill>
                <a:latin typeface="Arial"/>
              </a:rPr>
              <a:t>сами, до работы</a:t>
            </a:r>
          </a:p>
        </p:txBody>
      </p:sp>
      <p:sp>
        <p:nvSpPr>
          <p:cNvPr id="23" name="Rectangle 22"/>
          <p:cNvSpPr/>
          <p:nvPr/>
        </p:nvSpPr>
        <p:spPr>
          <a:xfrm>
            <a:off x="4374032" y="400659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3280592"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a:t>
            </a:r>
          </a:p>
          <a:p>
            <a:pPr algn="ctr">
              <a:lnSpc>
                <a:spcPct val="110000"/>
              </a:lnSpc>
            </a:pPr>
            <a:r>
              <a:rPr sz="1200" b="0" i="0">
                <a:solidFill>
                  <a:srgbClr val="21295C"/>
                </a:solidFill>
                <a:latin typeface="Arial"/>
              </a:rPr>
              <a:t>сами, после</a:t>
            </a:r>
          </a:p>
        </p:txBody>
      </p:sp>
      <p:sp>
        <p:nvSpPr>
          <p:cNvPr id="25" name="Rectangle 24"/>
          <p:cNvSpPr/>
          <p:nvPr/>
        </p:nvSpPr>
        <p:spPr>
          <a:xfrm>
            <a:off x="7682537" y="3791707"/>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6589097"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a:t>
            </a:r>
          </a:p>
          <a:p>
            <a:pPr algn="ctr">
              <a:lnSpc>
                <a:spcPct val="110000"/>
              </a:lnSpc>
            </a:pPr>
            <a:r>
              <a:rPr sz="1200" b="0" i="0">
                <a:solidFill>
                  <a:srgbClr val="21295C"/>
                </a:solidFill>
                <a:latin typeface="Arial"/>
              </a:rPr>
              <a:t>METR: зрелая база</a:t>
            </a:r>
          </a:p>
        </p:txBody>
      </p:sp>
      <p:sp>
        <p:nvSpPr>
          <p:cNvPr id="27" name="TextBox 26"/>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времени на задачу: влево — быстрее, вправо — медленнее · та же работа без инструмента, принятая за ноль</a:t>
            </a:r>
          </a:p>
        </p:txBody>
      </p:sp>
      <p:sp>
        <p:nvSpPr>
          <p:cNvPr id="28" name="TextBox 27"/>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прогноза слева от нуля, единственный секундомер в зрелой базе — справа</a:t>
            </a:r>
          </a:p>
        </p:txBody>
      </p:sp>
      <p:sp>
        <p:nvSpPr>
          <p:cNvPr id="29" name="Rounded Rectangle 28"/>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Разницу создаёт база, в которой работают.</a:t>
            </a:r>
            <a:r>
              <a:rPr sz="1100" b="0" i="0">
                <a:solidFill>
                  <a:srgbClr val="21295C"/>
                </a:solidFill>
                <a:latin typeface="Arial"/>
              </a:rPr>
              <a:t> У Пэна 95 разработчиков писали HTTP-сервер с нуля; у METR 16 опытных разработчиков брали 246 настоящих задач в своих репозиториях — свыше миллиона строк кода каждый.</a:t>
            </a:r>
          </a:p>
          <a:p>
            <a:pPr algn="l">
              <a:lnSpc>
                <a:spcPct val="126000"/>
              </a:lnSpc>
              <a:spcBef>
                <a:spcPts val="700"/>
              </a:spcBef>
            </a:pPr>
            <a:r>
              <a:rPr sz="1100" b="0" i="0">
                <a:solidFill>
                  <a:srgbClr val="21295C"/>
                </a:solidFill>
                <a:latin typeface="Arial"/>
              </a:rPr>
              <a:t/>
            </a:r>
            <a:r>
              <a:rPr sz="1100" b="1" i="0">
                <a:solidFill>
                  <a:srgbClr val="21295C"/>
                </a:solidFill>
                <a:latin typeface="Arial"/>
              </a:rPr>
              <a:t>За точность прогноза платили:</a:t>
            </a:r>
            <a:r>
              <a:rPr sz="1100" b="0" i="0">
                <a:solidFill>
                  <a:srgbClr val="21295C"/>
                </a:solidFill>
                <a:latin typeface="Arial"/>
              </a:rPr>
              <a:t> вознаграждение считалось от величины промаха. Не помогло ни одной из четырёх групп.</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ПРОИЗВОДИТЕЛЬНОСТЬ В ПОЛЕВОМ ОПЫТЕ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50 % больше объявлений В РАСЧЁТЕ НА УЧАСТНИКА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на общий объём выпуска команды это число без пересчёта не переносится</a:t>
            </a:r>
          </a:p>
        </p:txBody>
      </p:sp>
      <p:sp>
        <p:nvSpPr>
          <p:cNvPr id="8" name="TextBox 7"/>
          <p:cNvSpPr txBox="1"/>
          <p:nvPr/>
        </p:nvSpPr>
        <p:spPr>
          <a:xfrm>
            <a:off x="502920" y="272023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лаборатории, 453</a:t>
            </a:r>
          </a:p>
        </p:txBody>
      </p:sp>
      <p:sp>
        <p:nvSpPr>
          <p:cNvPr id="9" name="Rounded Rectangle 8"/>
          <p:cNvSpPr/>
          <p:nvPr/>
        </p:nvSpPr>
        <p:spPr>
          <a:xfrm>
            <a:off x="2011680" y="268365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время на задание меньше на 40 %, качество выше на 18 %</a:t>
            </a:r>
          </a:p>
        </p:txBody>
      </p:sp>
      <p:sp>
        <p:nvSpPr>
          <p:cNvPr id="12" name="Rounded Rectangle 11"/>
          <p:cNvSpPr/>
          <p:nvPr/>
        </p:nvSpPr>
        <p:spPr>
          <a:xfrm>
            <a:off x="5298338"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 ужался вдвое, правка выросла вдвое</a:t>
            </a:r>
          </a:p>
        </p:txBody>
      </p:sp>
      <p:sp>
        <p:nvSpPr>
          <p:cNvPr id="14" name="Rounded Rectangle 13"/>
          <p:cNvSpPr/>
          <p:nvPr/>
        </p:nvSpPr>
        <p:spPr>
          <a:xfrm>
            <a:off x="8493556"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предрегистрированный рандомизированный опыт</a:t>
            </a:r>
          </a:p>
        </p:txBody>
      </p:sp>
      <p:sp>
        <p:nvSpPr>
          <p:cNvPr id="16" name="TextBox 15"/>
          <p:cNvSpPr txBox="1"/>
          <p:nvPr/>
        </p:nvSpPr>
        <p:spPr>
          <a:xfrm>
            <a:off x="502920" y="349794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поле, 2 234</a:t>
            </a:r>
          </a:p>
        </p:txBody>
      </p:sp>
      <p:sp>
        <p:nvSpPr>
          <p:cNvPr id="17" name="Rounded Rectangle 16"/>
          <p:cNvSpPr/>
          <p:nvPr/>
        </p:nvSpPr>
        <p:spPr>
          <a:xfrm>
            <a:off x="2011680" y="346136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11 024 объявления, проверка на реальных показах</a:t>
            </a:r>
          </a:p>
        </p:txBody>
      </p:sp>
      <p:sp>
        <p:nvSpPr>
          <p:cNvPr id="20" name="Rounded Rectangle 19"/>
          <p:cNvSpPr/>
          <p:nvPr/>
        </p:nvSpPr>
        <p:spPr>
          <a:xfrm>
            <a:off x="5298338"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 50 % больше объявлений на участника</a:t>
            </a:r>
          </a:p>
        </p:txBody>
      </p:sp>
      <p:sp>
        <p:nvSpPr>
          <p:cNvPr id="22" name="Rounded Rectangle 21"/>
          <p:cNvSpPr/>
          <p:nvPr/>
        </p:nvSpPr>
        <p:spPr>
          <a:xfrm>
            <a:off x="8493556"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текст выигрывает, изображение проигрывает</a:t>
            </a:r>
          </a:p>
        </p:txBody>
      </p:sp>
      <p:sp>
        <p:nvSpPr>
          <p:cNvPr id="24" name="TextBox 23"/>
          <p:cNvSpPr txBox="1"/>
          <p:nvPr/>
        </p:nvSpPr>
        <p:spPr>
          <a:xfrm>
            <a:off x="502920" y="420249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опыта на одном и том же удешевлении пробы: в лаборатории на типовых текстах и в поле на творческой задаче</a:t>
            </a:r>
          </a:p>
        </p:txBody>
      </p:sp>
      <p:sp>
        <p:nvSpPr>
          <p:cNvPr id="25" name="Rounded Rectangle 24"/>
          <p:cNvSpPr/>
          <p:nvPr/>
        </p:nvSpPr>
        <p:spPr>
          <a:xfrm>
            <a:off x="374904" y="4508950"/>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600390"/>
            <a:ext cx="11112703" cy="16358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Одно и то же удешевление пробы, два режима работы человека с моделью.</a:t>
            </a:r>
            <a:r>
              <a:rPr sz="1500" b="0" i="0">
                <a:solidFill>
                  <a:srgbClr val="21295C"/>
                </a:solidFill>
                <a:latin typeface="Arial"/>
              </a:rPr>
              <a:t> Лабораторный опыт мерил время и качество по судейским оценкам, полевой — поведением настоящей аудитории, без судей вовсе. Границу между частями работы оба нашли одинаково зазубренной: текстовая часть у команд с моделью выигрывает, изобразительная проигрывает.</a:t>
            </a:r>
          </a:p>
        </p:txBody>
      </p:sp>
      <p:sp>
        <p:nvSpPr>
          <p:cNvPr id="27" name="Rectangle 26"/>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Два режима работы человека с моделью, и разброс схлопывается только в одном</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Разброс схлопывается</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делегирует работу целиком и говорит с моделью как с собеседником</a:t>
            </a:r>
          </a:p>
        </p:txBody>
      </p:sp>
      <p:sp>
        <p:nvSpPr>
          <p:cNvPr id="8" name="Rounded Rectangle 7"/>
          <p:cNvSpPr/>
          <p:nvPr/>
        </p:nvSpPr>
        <p:spPr>
          <a:xfrm>
            <a:off x="5298338"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380634"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работы выходят заметно более похожими друг на друга</a:t>
            </a:r>
          </a:p>
        </p:txBody>
      </p:sp>
      <p:sp>
        <p:nvSpPr>
          <p:cNvPr id="10" name="Rounded Rectangle 9"/>
          <p:cNvSpPr/>
          <p:nvPr/>
        </p:nvSpPr>
        <p:spPr>
          <a:xfrm>
            <a:off x="8493556"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8575852"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если ценность в отклонении от центра ожиданий — режим её уничтожает</a:t>
            </a:r>
          </a:p>
        </p:txBody>
      </p:sp>
      <p:sp>
        <p:nvSpPr>
          <p:cNvPr id="12" name="TextBox 11"/>
          <p:cNvSpPr txBox="1"/>
          <p:nvPr/>
        </p:nvSpPr>
        <p:spPr>
          <a:xfrm>
            <a:off x="502920" y="238271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 схлопывается</a:t>
            </a:r>
          </a:p>
        </p:txBody>
      </p:sp>
      <p:sp>
        <p:nvSpPr>
          <p:cNvPr id="13" name="Rounded Rectangle 12"/>
          <p:cNvSpPr/>
          <p:nvPr/>
        </p:nvSpPr>
        <p:spPr>
          <a:xfrm>
            <a:off x="2011680" y="234613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ставит задачу, разбирает результат, ставит следующую</a:t>
            </a:r>
          </a:p>
        </p:txBody>
      </p:sp>
      <p:sp>
        <p:nvSpPr>
          <p:cNvPr id="16" name="Rounded Rectangle 15"/>
          <p:cNvSpPr/>
          <p:nvPr/>
        </p:nvSpPr>
        <p:spPr>
          <a:xfrm>
            <a:off x="5298338"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обрушения разнообразия в опыте не наблюдается вовсе</a:t>
            </a:r>
          </a:p>
        </p:txBody>
      </p:sp>
      <p:sp>
        <p:nvSpPr>
          <p:cNvPr id="18" name="Rounded Rectangle 17"/>
          <p:cNvSpPr/>
          <p:nvPr/>
        </p:nvSpPr>
        <p:spPr>
          <a:xfrm>
            <a:off x="8493556"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выше и производительность, и качество по всем измерениям сразу</a:t>
            </a:r>
          </a:p>
        </p:txBody>
      </p:sp>
      <p:sp>
        <p:nvSpPr>
          <p:cNvPr id="20" name="TextBox 19"/>
          <p:cNvSpPr txBox="1"/>
          <p:nvPr/>
        </p:nvSpPr>
        <p:spPr>
          <a:xfrm>
            <a:off x="502920" y="332067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Одно и то же удешевление пробы, два режима работы человека с моделью</a:t>
            </a:r>
          </a:p>
        </p:txBody>
      </p:sp>
      <p:sp>
        <p:nvSpPr>
          <p:cNvPr id="21" name="Rounded Rectangle 20"/>
          <p:cNvSpPr/>
          <p:nvPr/>
        </p:nvSpPr>
        <p:spPr>
          <a:xfrm>
            <a:off x="374904" y="362712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718566"/>
            <a:ext cx="11112703" cy="251764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выбирает человек. Это единственный рычаг на кадре.</a:t>
            </a:r>
            <a:r>
              <a:rPr sz="1500" b="0" i="0">
                <a:solidFill>
                  <a:srgbClr val="21295C"/>
                </a:solidFill>
                <a:latin typeface="Arial"/>
              </a:rPr>
              <a:t> Первый режим называется делегированием, второй — задачно-ориентированным взаимодействием. Различает их то, кто держит решение; инструмент в обоих один и тот 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Мера разнообразия у авторов опыта такая:</a:t>
            </a:r>
            <a:r>
              <a:rPr sz="150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ПОДРОБНО ЗА ВЕЧЕР</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152374"/>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один правовой разбор вне этого знаменателя. Сложение сходится: 7 + 3 + 3 = 13</a:t>
            </a:r>
          </a:p>
        </p:txBody>
      </p:sp>
      <p:sp>
        <p:nvSpPr>
          <p:cNvPr id="8" name="Rounded Rectangle 7"/>
          <p:cNvSpPr/>
          <p:nvPr/>
        </p:nvSpPr>
        <p:spPr>
          <a:xfrm>
            <a:off x="374904" y="2803461"/>
            <a:ext cx="5827471" cy="3373002"/>
          </a:xfrm>
          <a:prstGeom prst="roundRect">
            <a:avLst>
              <a:gd name="adj" fmla="val 90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94901"/>
            <a:ext cx="5498287" cy="334130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Семь, где обе стороны измерены в одной единице:</a:t>
            </a:r>
            <a:r>
              <a:rPr sz="1100" b="0" i="0">
                <a:solidFill>
                  <a:srgbClr val="21295C"/>
                </a:solidFill>
                <a:latin typeface="Arial"/>
              </a:rPr>
              <a:t> цена изображения · микродрамы · ролик к финалу НБА · рождественская кампания · редакция, выпускавшая машинные статьи · российские издания · дубляж.</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базы со стороны классики нет, и это названо вслух:</a:t>
            </a:r>
            <a:r>
              <a:rPr sz="1100" b="0" i="0">
                <a:solidFill>
                  <a:srgbClr val="21295C"/>
                </a:solidFill>
                <a:latin typeface="Arial"/>
              </a:rPr>
              <a:t> сколько стоил тот же баннер у штатного дизайнера · сколько часов записи требует банкирование голоса по протоколу клиники · сколько стоит классическая доработка под купол.</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классического режима не существует вовсе:</a:t>
            </a:r>
            <a:r>
              <a:rPr sz="1100" b="0" i="0">
                <a:solidFill>
                  <a:srgbClr val="21295C"/>
                </a:solidFill>
                <a:latin typeface="Arial"/>
              </a:rPr>
              <a:t> перегородка сделана оптимизацией без обученной модели · голос актёра в классическом режиме либо отсутствует, либо чужой · у свитков альтернатива одна, не прочитать никогда.</a:t>
            </a:r>
          </a:p>
          <a:p>
            <a:pPr algn="l">
              <a:lnSpc>
                <a:spcPct val="126000"/>
              </a:lnSpc>
              <a:spcBef>
                <a:spcPts val="700"/>
              </a:spcBef>
            </a:pPr>
            <a:r>
              <a:rPr sz="1100" b="0" i="0">
                <a:solidFill>
                  <a:srgbClr val="21295C"/>
                </a:solidFill>
                <a:latin typeface="Arial"/>
              </a:rPr>
              <a:t/>
            </a:r>
            <a:r>
              <a:rPr sz="1100" b="1" i="0">
                <a:solidFill>
                  <a:srgbClr val="21295C"/>
                </a:solidFill>
                <a:latin typeface="Arial"/>
              </a:rPr>
              <a:t>Ноль — удобная база:</a:t>
            </a:r>
            <a:r>
              <a:rPr sz="1100" b="0" i="0">
                <a:solidFill>
                  <a:srgbClr val="21295C"/>
                </a:solidFill>
                <a:latin typeface="Arial"/>
              </a:rPr>
              <a:t> он всегда даёт впечатляющее число и всегда неверен, потому что до модели работу кто-то делал. Седьмой разбор пограничный и назван: у дубляжа первый классический режим посчитан, второй, субтитры, назван без числа.</a:t>
            </a:r>
          </a:p>
        </p:txBody>
      </p:sp>
      <p:sp>
        <p:nvSpPr>
          <p:cNvPr id="10" name="Rounded Rectangle 9"/>
          <p:cNvSpPr/>
          <p:nvPr/>
        </p:nvSpPr>
        <p:spPr>
          <a:xfrm>
            <a:off x="6385255" y="1335024"/>
            <a:ext cx="5303520" cy="2889503"/>
          </a:xfrm>
          <a:prstGeom prst="roundRect">
            <a:avLst>
              <a:gd name="adj" fmla="val 10548"/>
            </a:avLst>
          </a:prstGeom>
          <a:solidFill>
            <a:srgbClr val="F4F7FA"/>
          </a:solidFill>
          <a:ln w="19050">
            <a:solidFill>
              <a:srgbClr val="1C7293"/>
            </a:solidFill>
          </a:ln>
          <a:effectLst/>
        </p:spPr>
        <p:txBody>
          <a:bodyPr rtlCol="0" anchor="ctr"/>
          <a:lstStyle/>
          <a:p>
            <a:pPr algn="ctr"/>
          </a:p>
        </p:txBody>
      </p:sp>
      <p:pic>
        <p:nvPicPr>
          <p:cNvPr id="11" name="Picture 10" descr="s95-schyot-skvoznoy-linii.png"/>
          <p:cNvPicPr>
            <a:picLocks noChangeAspect="1"/>
          </p:cNvPicPr>
          <p:nvPr/>
        </p:nvPicPr>
        <p:blipFill>
          <a:blip r:embed="rId2"/>
          <a:stretch>
            <a:fillRect/>
          </a:stretch>
        </p:blipFill>
        <p:spPr>
          <a:xfrm>
            <a:off x="6522415" y="1472184"/>
            <a:ext cx="5029200" cy="2615184"/>
          </a:xfrm>
          <a:prstGeom prst="rect">
            <a:avLst/>
          </a:prstGeom>
        </p:spPr>
      </p:pic>
      <p:sp>
        <p:nvSpPr>
          <p:cNvPr id="12" name="Rectangle 11"/>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1950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2040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22491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39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1961</a:t>
            </a:r>
          </a:p>
          <a:p>
            <a:pPr algn="ctr">
              <a:lnSpc>
                <a:spcPct val="110000"/>
              </a:lnSpc>
            </a:pPr>
            <a:r>
              <a:rPr sz="1200" b="0" i="0">
                <a:solidFill>
                  <a:srgbClr val="21295C"/>
                </a:solidFill>
                <a:latin typeface="Arial"/>
              </a:rPr>
              <a:t>Первое из семи удешевлений</a:t>
            </a:r>
          </a:p>
        </p:txBody>
      </p:sp>
      <p:sp>
        <p:nvSpPr>
          <p:cNvPr id="11" name="Rectangle 10"/>
          <p:cNvSpPr/>
          <p:nvPr/>
        </p:nvSpPr>
        <p:spPr>
          <a:xfrm>
            <a:off x="9124706"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353388"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2022</a:t>
            </a:r>
          </a:p>
          <a:p>
            <a:pPr algn="ctr">
              <a:lnSpc>
                <a:spcPct val="110000"/>
              </a:lnSpc>
            </a:pPr>
            <a:r>
              <a:rPr sz="1200" b="0" i="0">
                <a:solidFill>
                  <a:srgbClr val="21295C"/>
                </a:solidFill>
                <a:latin typeface="Arial"/>
              </a:rPr>
              <a:t>Подешевело другое звено — ошибочная проба</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год · семь удешевлений, каждый раз исчезала операция посредничества</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первое приближение замысла стало стоить доли цента: сделать 70 000 вариантов и выбрать один стало дешевле, чем сделать один и попасть</a:t>
            </a:r>
          </a:p>
        </p:txBody>
      </p:sp>
      <p:sp>
        <p:nvSpPr>
          <p:cNvPr id="15" name="Rounded Rectangle 14"/>
          <p:cNvSpPr/>
          <p:nvPr/>
        </p:nvSpPr>
        <p:spPr>
          <a:xfrm>
            <a:off x="502920" y="3527496"/>
            <a:ext cx="5437479" cy="2708711"/>
          </a:xfrm>
          <a:prstGeom prst="roundRect">
            <a:avLst>
              <a:gd name="adj" fmla="val 1125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Выиграли те, кто научился выбирать</a:t>
            </a:r>
          </a:p>
        </p:txBody>
      </p:sp>
      <p:sp>
        <p:nvSpPr>
          <p:cNvPr id="17" name="TextBox 16"/>
          <p:cNvSpPr txBox="1"/>
          <p:nvPr/>
        </p:nvSpPr>
        <p:spPr>
          <a:xfrm>
            <a:off x="667512" y="4039123"/>
            <a:ext cx="5108295" cy="2041636"/>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один человек с 300–400 генерациями и двумя днями собирает ролик для финала НБА</a:t>
            </a:r>
          </a:p>
          <a:p>
            <a:pPr algn="l">
              <a:lnSpc>
                <a:spcPct val="126000"/>
              </a:lnSpc>
            </a:pPr>
            <a:r>
              <a:rPr sz="1100" b="0" i="0">
                <a:solidFill>
                  <a:srgbClr val="21295C"/>
                </a:solidFill>
                <a:latin typeface="Arial"/>
              </a:rPr>
              <a:t>• пятеро специалистов и тридцать дней дают рождественскую кампанию мирового бренда</a:t>
            </a:r>
          </a:p>
          <a:p>
            <a:pPr algn="l">
              <a:lnSpc>
                <a:spcPct val="126000"/>
              </a:lnSpc>
            </a:pPr>
            <a:r>
              <a:rPr sz="1100" b="0" i="0">
                <a:solidFill>
                  <a:srgbClr val="21295C"/>
                </a:solidFill>
                <a:latin typeface="Arial"/>
              </a:rPr>
              <a:t>• отрасль микродрам переходит на новый способ производства за один год</a:t>
            </a:r>
          </a:p>
          <a:p>
            <a:pPr algn="l">
              <a:lnSpc>
                <a:spcPct val="126000"/>
              </a:lnSpc>
            </a:pPr>
            <a:r>
              <a:rPr sz="1100" b="0" i="0">
                <a:solidFill>
                  <a:srgbClr val="21295C"/>
                </a:solidFill>
                <a:latin typeface="Arial"/>
              </a:rPr>
              <a:t>• человек, потерявший голос, получает его обратно по минутам старых записей</a:t>
            </a:r>
          </a:p>
          <a:p>
            <a:pPr algn="l">
              <a:lnSpc>
                <a:spcPct val="126000"/>
              </a:lnSpc>
            </a:pPr>
            <a:r>
              <a:rPr sz="1100" b="0" i="0">
                <a:solidFill>
                  <a:srgbClr val="21295C"/>
                </a:solidFill>
                <a:latin typeface="Arial"/>
              </a:rPr>
              <a:t>• свиток, который нельзя было развернуть, прочитан целиком</a:t>
            </a:r>
          </a:p>
        </p:txBody>
      </p:sp>
      <p:sp>
        <p:nvSpPr>
          <p:cNvPr id="18" name="Rounded Rectangle 17"/>
          <p:cNvSpPr/>
          <p:nvPr/>
        </p:nvSpPr>
        <p:spPr>
          <a:xfrm>
            <a:off x="6251295" y="3527496"/>
            <a:ext cx="5437479" cy="2708711"/>
          </a:xfrm>
          <a:prstGeom prst="roundRect">
            <a:avLst>
              <a:gd name="adj" fmla="val 11252"/>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Платят те, кого раньше узнавали бесплатно</a:t>
            </a:r>
          </a:p>
        </p:txBody>
      </p:sp>
      <p:sp>
        <p:nvSpPr>
          <p:cNvPr id="20" name="TextBox 19"/>
          <p:cNvSpPr txBox="1"/>
          <p:nvPr/>
        </p:nvSpPr>
        <p:spPr>
          <a:xfrm>
            <a:off x="6415887" y="4039123"/>
            <a:ext cx="5108295" cy="2041636"/>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голос, лицо, подпись и манера перестали подтверждать себя сами</a:t>
            </a:r>
          </a:p>
          <a:p>
            <a:pPr algn="l">
              <a:lnSpc>
                <a:spcPct val="126000"/>
              </a:lnSpc>
            </a:pPr>
            <a:r>
              <a:rPr sz="1250" b="0" i="0">
                <a:solidFill>
                  <a:srgbClr val="21295C"/>
                </a:solidFill>
                <a:latin typeface="Arial"/>
              </a:rPr>
              <a:t>• подтверждение стало стоить денег и труда проверяющего</a:t>
            </a:r>
          </a:p>
          <a:p>
            <a:pPr algn="l">
              <a:lnSpc>
                <a:spcPct val="126000"/>
              </a:lnSpc>
            </a:pPr>
            <a:r>
              <a:rPr sz="1250" b="0" i="0">
                <a:solidFill>
                  <a:srgbClr val="21295C"/>
                </a:solidFill>
                <a:latin typeface="Arial"/>
              </a:rPr>
              <a:t>• распознаватель, дающий 99,9 % верных решений на знакомой модели, на незнакомой даёт 51,9 % — монету</a:t>
            </a:r>
          </a:p>
          <a:p>
            <a:pPr algn="l">
              <a:lnSpc>
                <a:spcPct val="126000"/>
              </a:lnSpc>
            </a:pPr>
            <a:r>
              <a:rPr sz="1250" b="0" i="0">
                <a:solidFill>
                  <a:srgbClr val="21295C"/>
                </a:solidFill>
                <a:latin typeface="Arial"/>
              </a:rPr>
              <a:t>• в редакциях с высокой долей машинных статей экспертов на 1 000 слов стало меньше на 22 %</a:t>
            </a:r>
          </a:p>
          <a:p>
            <a:pPr algn="l">
              <a:lnSpc>
                <a:spcPct val="126000"/>
              </a:lnSpc>
            </a:pPr>
            <a:r>
              <a:rPr sz="1250" b="0" i="0">
                <a:solidFill>
                  <a:srgbClr val="21295C"/>
                </a:solidFill>
                <a:latin typeface="Arial"/>
              </a:rPr>
              <a:t>• счёт за дешёвую ошибку выставлен, и выставлен не всем поровну</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365119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 ЗА КАДРОМ СЕГОДНЯ</a:t>
            </a:r>
          </a:p>
        </p:txBody>
      </p:sp>
      <p:sp>
        <p:nvSpPr>
          <p:cNvPr id="8" name="TextBox 7"/>
          <p:cNvSpPr txBox="1"/>
          <p:nvPr/>
        </p:nvSpPr>
        <p:spPr>
          <a:xfrm>
            <a:off x="640080" y="1725375"/>
            <a:ext cx="337687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подделка личности, голосовое мошенничество, обход проверок при найме, распознаватели внутри контура защиты</a:t>
            </a:r>
          </a:p>
        </p:txBody>
      </p:sp>
      <p:sp>
        <p:nvSpPr>
          <p:cNvPr id="9" name="TextBox 8"/>
          <p:cNvSpPr txBox="1"/>
          <p:nvPr/>
        </p:nvSpPr>
        <p:spPr>
          <a:xfrm>
            <a:off x="640080" y="2576747"/>
            <a:ext cx="337687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атак, который появляется, когда подтверждение перестаёт быть бесплатным</a:t>
            </a:r>
          </a:p>
        </p:txBody>
      </p:sp>
      <p:sp>
        <p:nvSpPr>
          <p:cNvPr id="10" name="Rounded Rectangle 9"/>
          <p:cNvSpPr/>
          <p:nvPr/>
        </p:nvSpPr>
        <p:spPr>
          <a:xfrm>
            <a:off x="502920" y="3512229"/>
            <a:ext cx="365119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640080" y="3649389"/>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КУДА ЭТО УХОДИТ</a:t>
            </a:r>
          </a:p>
        </p:txBody>
      </p:sp>
      <p:sp>
        <p:nvSpPr>
          <p:cNvPr id="12" name="TextBox 11"/>
          <p:cNvSpPr txBox="1"/>
          <p:nvPr/>
        </p:nvSpPr>
        <p:spPr>
          <a:xfrm>
            <a:off x="640080" y="3902581"/>
            <a:ext cx="337687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640080" y="4329580"/>
            <a:ext cx="337687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распознаватель вернётся элементом системы безопасности: пороги, цена ложной тревоги, человек, принимающий решение по подсказке</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Исполнение перестало быть дефицитом, и это хорошая новость:</a:t>
            </a:r>
            <a:r>
              <a:rPr sz="1200" b="0" i="0">
                <a:solidFill>
                  <a:srgbClr val="21295C"/>
                </a:solidFill>
                <a:latin typeface="Arial"/>
              </a:rPr>
              <a:t> работа переехала на шаг, который не подешевел, и шаг этот называется отбором.</a:t>
            </a:r>
          </a:p>
          <a:p>
            <a:pPr algn="l">
              <a:lnSpc>
                <a:spcPct val="126000"/>
              </a:lnSpc>
              <a:spcBef>
                <a:spcPts val="700"/>
              </a:spcBef>
            </a:pPr>
            <a:r>
              <a:rPr sz="1650" b="0" i="0">
                <a:solidFill>
                  <a:srgbClr val="21295C"/>
                </a:solidFill>
                <a:latin typeface="Arial"/>
              </a:rPr>
              <a:t/>
            </a:r>
            <a:r>
              <a:rPr sz="16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