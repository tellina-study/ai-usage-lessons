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раздел устроен иначе остальных, и это сделано нарочно. Каждый другой раздел открывается описанием стадии и только потом доходит до примеров; здесь порядок перевёрнут. Причина сидит в самой модальности. Звук — единственная из пяти, где главное утверждение проверяется ухом слушателя за десять секунд и без единой цифры: сначала звучит оригинальная запись человеческого голоса, сразу за ней — синтезированная копия того же голоса. Неподвижное изображение так предъявить нельзя, его разглядывают; движущееся требует минуты экранного времени; трёхмерная сцена требует интерактивности, которой в зале нет. Десять секунд звука — самая дешёвая демонстрация всей лекции и самая убедительная.</a:t>
            </a:r>
          </a:p>
          <a:p>
            <a:r>
              <a:t/>
            </a:r>
          </a:p>
          <a:p>
            <a:r>
              <a:t>Вторая причина ритмическая. Форма, повторённая шесть раз подряд, перестаёт работать: слушатель начинает предсказывать следующий экран и перестаёт следить за содержанием. Один сознательный сбой ритма назначен заранее, и назначен он сюда, потому что здесь у сбоя есть содержательное оправдание, а не только формальное.</a:t>
            </a:r>
          </a:p>
          <a:p>
            <a:r>
              <a:t/>
            </a:r>
          </a:p>
          <a:p>
            <a:r>
              <a:t>Под словом «звук» в отрасли живут пять разных ремёсел, и дальше они разводятся по именам: синтез речи, клонирование голоса, локализация и дубляж, генерация музыки и разделение источников. Последнее стоит особняком — генерацией оно не является по постановке задачи, и именно на нём раздел показывает границу между восстановлением записанного и выдумыванием того, чего не было.</a:t>
            </a:r>
          </a:p>
          <a:p>
            <a:r>
              <a:t/>
            </a:r>
          </a:p>
          <a:p>
            <a:r>
              <a:t>Три подробных разбора раздела подобраны так, чтобы показать три разных состояния счёта. В первом второй классический режим назван и своего числа не имеет — это говорится вслух. Во втором обе стороны посчитаны в одной единице, и разрыв между ними измеряется тысячами. В третьем классического режима не существует вовсе, и у этого есть медицинская причина. Три разные ситуации, в которых инженеру приходится принимать решение, и все три встречаются в работе чаще, чем хотелось бы.</a:t>
            </a:r>
          </a:p>
          <a:p>
            <a:r>
              <a:t/>
            </a:r>
          </a:p>
          <a:p>
            <a:r>
              <a:t>Шесть упоминаний идут следом, каждое с числом и с базой. Упоминание без числа в этом разделе не ставится вовсе: имя без наблюдения — это библиография, и её место в списке литературы.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существует ради десяти секунд звука, и всё остальное на нём второстепенно. Две дорожки нарочно не подписаны, порядок нарочно не объявлен, ответ нарочно не выведен: как только на экране появляется подсказка, проверка перестаёт быть проверкой.</a:t>
            </a:r>
          </a:p>
          <a:p>
            <a:r>
              <a:t/>
            </a:r>
          </a:p>
          <a:p>
            <a:r>
              <a:t>Что стоит знать про материал, который звучит. Современная система клонирования голоса строит пригодную копию по одной-двум минутам записи; технический минимум, объявленный поставщиком, опускается до десяти секунд суммарного звучания. Этот параметр измерен в открытой литературе. Система VALL-E, переформулировавшая синтез речи как языковое моделирование дискретных кодов, опубликовала зависимость узнаваемости от длины образца: три секунды подсказки дают сходство голоса 0,382, пять секунд — 0,423, десять секунд — 0,484. Заголовочное «клонирование по трём секундам», которое обычно цитируют, верно и при этом половинчато: три секунды работают, десять заметно лучше, и разница между ними видна в измерении.</a:t>
            </a:r>
          </a:p>
          <a:p>
            <a:r>
              <a:t/>
            </a:r>
          </a:p>
          <a:p>
            <a:r>
              <a:t>Второе число, объясняющее, почему копия звучит гладко. Разборчивость синтезированной речи — доля неверно распознанных слов — у системы Voicebox заявлена на уровне 1,9 процента против 5,9 процента у предыдущего поколения на той же выборке. То есть за одно поколение доля ошибок упала втрое. Отдельно измерено разделение ролей внутри системы: без текстовой подсказки доля ошибочных слов 19,6 процента, с ней — 3,0 процента, то есть содержание даёт текст; без акустической подсказки сходство голоса падает с 0,585 до 0,236, то есть личность даёт образец. Две независимые ручки, и каждая отвечает за своё.</a:t>
            </a:r>
          </a:p>
          <a:p>
            <a:r>
              <a:t/>
            </a:r>
          </a:p>
          <a:p>
            <a:r>
              <a:t>Механизм, по которому строится мгновенная копия, стоит назвать точно, потому что он переносится на всё остальное в курсе. Поставщик описывает его дословно как адаптацию по нескольким примерам: модель использует образец как сигнал обусловливания в момент работы, без всякого обновления весов. Это размещение знания, ровно то же по природе, что документ, подложенный языковой модели в контекст. Профессиональная копия устроена иначе: на вход идёт минимум час, в идеале около трёх часов записи, обучение занимает от трёх до шести часов и, по формулировке того же поставщика, действительно изменяет параметры модели. Две разные вещи под одним словом «клонирование», и путать их дорого: от того, какая из них применяется, зависит и качество, и то, где физически оседают данные человека.</a:t>
            </a:r>
          </a:p>
          <a:p>
            <a:r>
              <a:t/>
            </a:r>
          </a:p>
          <a:p>
            <a:r>
              <a:t>Чего копия не умеет, слышно хуже, чем то, что она умеет, и поэтому на десятисекундном показе это не проявится. Голос, снятый со спокойного повествования, звучит иначе, когда его просят выразить сильную эмоцию: сильной эмоции в образце не было, и вывести её из текста система не может. Пение профессиональным клонированием не поддерживается вовсе — ограничение объявлено поставщиком в документации. Эти две границы разбираются дальше в разделе, и обе следуют из устройства, а не из недоработки конкретной версии.</a:t>
            </a:r>
          </a:p>
          <a:p>
            <a:r>
              <a:t/>
            </a:r>
          </a:p>
          <a:p>
            <a:r>
              <a:t>Наконец, про порог входа. Речевая модель на 82 миллиона параметров со свободной лицензией и на код, и на веса работает даже в браузере; обучение её стоило около тысячи долларов. Музыкальная модель на 3,5 миллиарда параметров помещается в восемь гигабайт видеопамяти и на игровой карте работает в 34,5 раза быстрее реального времени — минута музыки за 1,74 секунды. На ноутбуке Apple та же модель даёт 2,27 реального времени. То, что звучит в колонках, не требует ни облака, ни бюджета: оно требует ноутбука и десяти секунд чужого голоса. Из этого и вырастает весь остальной раздел — и возможности, и цена.</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надо развести, — это пять стадий, которые в обиходе называются одним словом и различаются между собой и данными, и задачей, и тем, кто отвечает за результат.</a:t>
            </a:r>
          </a:p>
          <a:p>
            <a:r>
              <a:t/>
            </a:r>
          </a:p>
          <a:p>
            <a:r>
              <a:t>Синтез речи превращает письменный текст в звучащую речь. Заказчик даёт текст, получает дорожку; голос при этом — свойство системы, дикторский набор у поставщика существует отдельно от любого живого исполнителя. Клонирование голоса, в договорной терминологии профсоюзов — цифровая реплика голоса, решает другую задачу: построить модель голоса конкретного человека и дальше озвучивать ею произвольный текст. Здесь появляется второй участник со своими правами, и вместе с ним всё, чего нет у обычного синтеза: согласие, договор, срок действия, посмертные полномочия. Локализация и дубляж переносят готовый звучащий материал на другой язык; классически это три отдельные работы — перевод, укладка и запись актёра дубляжа, у каждой свой исполнитель и свой тариф. Генерация музыки производит произведение по описанию, иногда с вокалом; исходного материала здесь нет вовсе. Разделение источников — пятая стадия, и она стоит особняком: модель получает сведённую запись и возвращает составные дорожки, ничего нового при этом не синтезируется, искомое физически присутствует во входном сигнале.</a:t>
            </a:r>
          </a:p>
          <a:p>
            <a:r>
              <a:t/>
            </a:r>
          </a:p>
          <a:p>
            <a:r>
              <a:t>Вход определяет, что вообще можно спросить у системы. У синтеза речи это текст плюс выбранный голос и, в современных системах, разметка интонации прямо внутри текста; решаемый вопрос — как это должно прозвучать, а ответ проверяется разборчивостью и соответствием интонации смыслу. У клонирования вход — записи голоса человека, и количество записей здесь главный параметр всей стадии: от десяти секунд до трёх часов, и от того, сколько их есть, зависит, какой механизм применим. У дубляжа вход — исходная дорожка и перевод, причём перевод обязан укладываться в длительность оригинальной реплики; это ограничение называется изохронией и в обычном переводе не существует: переводчик дубляжа подбирает формулировку под длительность, жертвуя точностью. У генерации музыки вопрос самый сложный из пяти, потому что правильного ответа у него не существует: на запрос «фанковая басовая линия» нет единственной верной песни, с которой можно сверить результат. У разделения источников эталон есть — исходные изолированные дорожки, — а значит, есть и честная метрика качества; это единственная из пяти стадий, где можно посчитать, насколько система ошиблась.</a:t>
            </a:r>
          </a:p>
          <a:p>
            <a:r>
              <a:t/>
            </a:r>
          </a:p>
          <a:p>
            <a:r>
              <a:t>Перечень способов добычи материала короче, чем кажется, и каждый живёт до сих пор. Студийная сессия — основной способ последние семьдесят лет. Домашняя будка с середины 2010-х стала массовой и именно она сделала возможной ту ценовую полосу, которую раздел считает дальше. Удалённая сессия с режиссурой держит правку в реальном времени. Архив — записи, сделанные когда-то для другой цели, и для клонирования умерших или утративших речь это единственный источник. Банкирование голоса — практика клиническая: человек с диагнозом, грозящим потерей речи, заранее записывает большой корпус слов и фраз. Лицензированная музыкальная библиотека даёт обучающий материал с оформленными правами: двадцать тысяч часов у одной открытой модели, семь тысяч триста часов под свободными лицензиями у другой.</a:t>
            </a:r>
          </a:p>
          <a:p>
            <a:r>
              <a:t/>
            </a:r>
          </a:p>
          <a:p>
            <a:r>
              <a:t>Решение, которое принимается на стадии, звучит просто, а следствий у него три. Первое — срок и территория: изображение покупают один раз, голос в эфире покупают на срок, на территорию и на тип носителя, и каждая координата стоит отдельных денег. Второе — узнаваемость: голос опознаётся как принадлежащий конкретному человеку, и этого свойства нет ни у иллюстрации, ни у фона. Третье отложено во времени: записанный материал живёт дольше договора, по которому сделан, и дольше технологии, под которую записывался. Архив корпоративных начиток 2019 года делался для колл-центра, а в 2022-м оказался обучающим набором — тот же материал, другое употребление, и спор об этом разбирается дальше в разделе на единственном российском деле, дошедшем до решения.</a:t>
            </a:r>
          </a:p>
          <a:p>
            <a:r>
              <a:t/>
            </a:r>
          </a:p>
          <a:p>
            <a:r>
              <a:t>Почему звук стоит в порядке разделов вторым, видно по трём числам одного ряда: картинка размером 1024 на 1024 точки — это 4 096 токенов; минута речи в представлении нейронного кодека — от 9 000 до 36 000 токенов; пять секунд видео высокой чёткости — 249 240 токенов. Звук занимает середину шкалы, и середина эта поучительна: именно здесь оба семейства генеративных моделей работают на одной и той же задаче бок о бок, и сравнить их можно измерением.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самая важная часть описания стадии, потому что без неё любой выигрыш придётся считать от нуля, а выигрыш, посчитанный от нуля, курс не принимает.</a:t>
            </a:r>
          </a:p>
          <a:p>
            <a:r>
              <a:t/>
            </a:r>
          </a:p>
          <a:p>
            <a:r>
              <a:t>Живой диктор, готовая минута. Мировая ценовая полоса по отраслевым справочникам ставок — от 50 до 450 долларов за готовую минуту, и полоса распадается на три сегмента по опыту: начинающий — 50–150 долларов за минуту, средний уровень, от двух до семи лет работы, — 150–350, старший, свыше семи лет, — 350 и выше, у верхушки за тысячу. Единица здесь именно готовая минута, то есть минута материала, принятого заказчиком, со всеми дублями внутри цены. Запоминать стоит ширину диапазона: его верх и низ отличаются в девять раз — ровно так же будет устроен дальше диапазон цены генерации, и сравнивать надо полосу с полосой.</a:t>
            </a:r>
          </a:p>
          <a:p>
            <a:r>
              <a:t/>
            </a:r>
          </a:p>
          <a:p>
            <a:r>
              <a:t>Отдельная строка — право на эфир. Запись и право её транслировать это разные покупки, и заказчик платит дважды. По справочнику ставок редакции 2026 года национальная реклама стоит от 650 долларов сверх сессии; год национального эфира — 3 200–3 500 долларов; бессрочный выкуп — до 6 500 долларов. Вторая плата растёт со сроком и охватом, и именно она делает дикторский бюджет непредсказуемым для заказчика, который считал только запись.</a:t>
            </a:r>
          </a:p>
          <a:p>
            <a:r>
              <a:t/>
            </a:r>
          </a:p>
          <a:p>
            <a:r>
              <a:t>Аудиокнижная ставка живёт в другой единице, и это ловушка счёта, в которую попадают регулярно. Начинающий чтец — 150–250 долларов за час работы, верхушка — 500–1 000 и выше. Час работы и готовая минута в одну бухгалтерию не складываются: час работы даёт разное число готовых минут в зависимости от сложности текста и числа дублей. Попытка сложить их даёт ту самую ложную пару, за которую курс бьёт отдельно.</a:t>
            </a:r>
          </a:p>
          <a:p>
            <a:r>
              <a:t/>
            </a:r>
          </a:p>
          <a:p>
            <a:r>
              <a:t>Договорная ставка на цифровую копию голоса — пункт, который стоит произнести отдельно, потому что он единственный в своём роде. Там, где голос копируется, профсоюз успел назначить цену раньше законодателя. Соглашение определяет отдельную сессию согласия на создание цифровой реплики: 956 долларов 75 центов за четыре часа, 1 914 долларов 25 центов за шесть, плюс 16,5 процента в профсоюзные фонды сверху; использование созданной копии в рекламе оплачивается по полуторной сессионной ставке. Для генерации в реальном времени в соглашении по видеоиграм 2025 года ставка поднята не ниже семикратной с половиной от минимальной. До любого закона о голосе отрасль назначила копированию цену сама, договором, — и это единственное место в лекции, где синтетическая версия оказывается дороже человеческой.</a:t>
            </a:r>
          </a:p>
          <a:p>
            <a:r>
              <a:t/>
            </a:r>
          </a:p>
          <a:p>
            <a:r>
              <a:t>Музыка. Стоковая лицензия на готовый трек — 20–100 долларов за стандартную и 100–500 и выше за расширенную. Оригинальная музыка на заказ — 200–1 500 долларов за минуту; национальная реклама с оригинальной композицией — 5 000–25 000 долларов. Российская полоса того же: лицензионный трек из библиотеки — 10 000–50 000 рублей, оригинальный трек — от 150 000 рублей. Правильная опорная пара для сравнения с генерацией — именно стоковая лицензия: оригинальная партитура и сгенерированный трек различаются по природе продукта, и сопоставление с ней даёт фальшивые пять-шесть порядков.</a:t>
            </a:r>
          </a:p>
          <a:p>
            <a:r>
              <a:t/>
            </a:r>
          </a:p>
          <a:p>
            <a:r>
              <a:t>Два честных пробела, которые надо назвать здесь, потому что от них зависят дальнейшие разборы. Банкирование голоса — клинический режим, при котором человек с диагнозом, грозящим потерей речи, заранее записывает большой корпус. Своего числа у него нет: ни одна публикация подборки не называет, сколько часов записи требует протокол и сколько услуга стоит. Субтитры как альтернатива дубляжу названы в материале, но тарифа за минуту готового материала в подборке тоже нет, хотя величина эта в локализационной отрасли публичная. Оба пробела отмечены и повторятся в разборах.</a:t>
            </a:r>
          </a:p>
          <a:p>
            <a:r>
              <a:t/>
            </a:r>
          </a:p>
          <a:p>
            <a:r>
              <a:t>И точка классической цепочки, без которой раздел повис бы в воздухе. 19 сентября 1997 года вышел Auto-Tune; автор — инженер-геофизик, специалист по цифровой обработке сигналов, и алгоритм вырос из обработки сейсмических данных при поиске нефти. Первый год инструмент применялся как точечное исправление отдельной фальшивой ноты. В 1998 году в одной известной записи экстремальные настройки убрали плавные переходы между нотами и дали звучание, которое немедленно стало художественным приёмом. Урок переносится на 2026 год без единой правки: инструмент, сделанный ради исправления брака, за один год стал источником нового жанра, — а разговор «это обман слушателя» вёлся тогда дословно теми же словами, какими сегодня ведётся разговор о машинном вокале.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бесспорный случай всей лекции, и подавать его стоит именно так. Во всех остальных разборах есть сторона, которой выигрыш обошёлся дорого; здесь такой стороны нет.</a:t>
            </a:r>
          </a:p>
          <a:p>
            <a:r>
              <a:t/>
            </a:r>
          </a:p>
          <a:p>
            <a:r>
              <a:t>Денежной шкалы у случая нет, и это свойство самого случая, а не пробел замера. Цена ошибки «не успеть» — человек теряет собственный голос навсегда: записи, которой хватило бы на модель, после определённого момента взять негде. Цена противоположной ошибки, «записать слишком рано», — часы, потраченные на запись тогда, когда они ещё нужны на другое, и силы, потраченные человеком, которому их отпущено немного. Мерить это в долларах нельзя, и на кадре это говорится вслух.</a:t>
            </a:r>
          </a:p>
          <a:p>
            <a:r>
              <a:t/>
            </a:r>
          </a:p>
          <a:p>
            <a:r>
              <a:t>Первый классический режим — банкирование голоса. Человек с диагнозом «боковой амиотрофический склероз» или «болезнь двигательного нейрона» записывает большой корпус слов и фраз, пока ещё говорит внятно. Режим назван, он реально существует, его применяют клиники — и своего числа он не имеет. Ни часов записи по протоколу, ни стоимости услуги ни один источник нашей подборки не называет. Именно это и определяет полноту сравнения: второй шаг формы требует, чтобы оба классических режима были посчитаны в одной единице с моделью, и здесь это условие не выполнено. Одно-единственное число — сколько часов требует протокол банкирования — сделало бы сравнение полным; мы его искали и не нашли, и скрывать это было бы хуже, чем назвать.</a:t>
            </a:r>
          </a:p>
          <a:p>
            <a:r>
              <a:t/>
            </a:r>
          </a:p>
          <a:p>
            <a:r>
              <a:t>Второй классический режим — синтетический безличный голос из коробки. Он существует, он дёшев, он доступен давно. В ту же единицу он не складывается, потому что даёт другой исход: человек получает возможность говорить, но говорит чужим голосом. Разница здесь проходит не по цене, и свести эти два режима в одну таблицу значило бы соврать о том, что сравнивается.</a:t>
            </a:r>
          </a:p>
          <a:p>
            <a:r>
              <a:t/>
            </a:r>
          </a:p>
          <a:p>
            <a:r>
              <a:t>И отдельно — обстоятельство, из-за которого разбор стоит на границе двух случаев: для человека, который речь уже потерял, первого режима не существует вовсе. Банкирование требует способности говорить внятно, а к моменту, когда диагноз поставлен и осознан, этой способности часто уже нет.</a:t>
            </a:r>
          </a:p>
          <a:p>
            <a:r>
              <a:t/>
            </a:r>
          </a:p>
          <a:p>
            <a:r>
              <a:t>Что даёт модель. Копия строится с существенно меньшего числа записей, чем требует банкирование, — это формулировка поставщика, и числа он тоже не называет, так что честный счёт здесь получается односторонним и подаваться должен как односторонний. Важнее то, что поддаётся проверке: профессиональная лицензия стоит 1 200 долларов в год, и людям с боковым амиотрофическим склерозом и болезнью двигательного нейрона в США она отдаётся бесплатно в рамках программы с двумя фондами. Рядом и бесплатно для всех — встроенная в настройки доступности устройств функция персонального голоса, доступная с 2023 года.</a:t>
            </a:r>
          </a:p>
          <a:p>
            <a:r>
              <a:t/>
            </a:r>
          </a:p>
          <a:p>
            <a:r>
              <a:t>Вот где выигрыш берётся честно: модель работает на том материале, который уже записан. Для человека, у которого есть старые видео, интервью, голосовые сообщения, рабочие созвоны, момент принятия решения сдвигается с «надо успеть записать корпус, пока говорю» на «надо собрать то, что уже есть».</a:t>
            </a:r>
          </a:p>
          <a:p>
            <a:r>
              <a:t/>
            </a:r>
          </a:p>
          <a:p>
            <a:r>
              <a:t>Как это устроено, поставщик документирует сам, и это редкий случай в разделе, где инженерия раскрыта полностью. Мгновенное клонирование: вход — рекомендуемые одна-две минуты звука, технический минимум десять секунд суммарно; механизм описан дословно как адаптация по нескольким примерам, при которой модель использует образец как сигнал обусловливания в момент работы, без всякого обновления весов. Это размещение знания, ровно того же рода, что документ, подложенный языковой модели в контекст. Профессиональное клонирование: вход — минимум час, в идеале около трёх часов; обучение занимает от трёх до шести часов и, по формулировке поставщика, действительно изменяет параметры модели. Вот это уже дообучение в точном смысле. Выход в обоих случаях — синтезированная речь; пение не поддерживается, ограничение объявлено явно.</a:t>
            </a:r>
          </a:p>
          <a:p>
            <a:r>
              <a:t/>
            </a:r>
          </a:p>
          <a:p>
            <a:r>
              <a:t>Порог и согласие устроены жёстче, чем принято думать: профессиональный клон можно создать только собственного голоса, и даже с чужого согласия чужой голос клонировать нельзя. Проверка — голосовая капча, и поставщик сам оговаривает её предел: верификация не может гарантировать, что запись принадлежит запрашивающему, она подтверждает лишь, что он присутствовал и активно участвовал. Признанное ограничение оттуда же: голос, клонированный со спокойного повествования, может звучать иначе, когда его просят выразить сильную эмоцию, — для человека, который собирается жить этим голосом годами, оговорка существенная.</a:t>
            </a:r>
          </a:p>
          <a:p>
            <a:r>
              <a:t/>
            </a:r>
          </a:p>
          <a:p>
            <a:r>
              <a:t>Чего в документации нет: что происходит с моделью голоса при смене версии базовой модели поставщика, не описано нигде. Человек получает голос, который зависит от чужого цикла выпусков, а политики версионирования голосов в открытом доступе нет.</a:t>
            </a:r>
          </a:p>
          <a:p>
            <a:r>
              <a:t/>
            </a:r>
          </a:p>
          <a:p>
            <a:r>
              <a:t>Что переехало. Переехал момент решения. Вправо уехало право: модель голоса существует отдельно от человека и переживает его, а кто ею распоряжается после — решается договором с поставщиком, потому что нормы на этот счёт нет. Это тот же адрес, что у следующего разбора, и тот же, что у дела, которым раздел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счётный разбор раздела: здесь обе стороны названы в одной единице, и разрыв между ними измеряется тысячами.</a:t>
            </a:r>
          </a:p>
          <a:p>
            <a:r>
              <a:t/>
            </a:r>
          </a:p>
          <a:p>
            <a:r>
              <a:t>Цена ошибки «записали и не подошло» названа полностью: это стоимость сессии, от 50 до 450 долларов за готовую минуту, плюс отдельно право на эфир — от 650 долларов за национальную рекламу, 3 200–3 500 за год национального эфира, до 6 500 за бессрочный выкуп. Переписать реплику после сдачи значит собрать диктора заново. Цена противоположной ошибки, «не стали локализовать», числом не названа ни в одном источнике подборки. Ближайшая опора, которая у нас есть, измеряет аудиторию: до 25 процентов зрителей тестовых каналов, получивших автоматический дубляж, выбирают неанглийскую дорожку. Это доля аудитории, и подаётся она именно так; упущенной выручки за ней никто не считал.</a:t>
            </a:r>
          </a:p>
          <a:p>
            <a:r>
              <a:t/>
            </a:r>
          </a:p>
          <a:p>
            <a:r>
              <a:t>Первый классический режим — живой диктор — посчитан в той же единице, что и модель: доллар за готовую минуту, 50–450 по сегментам опыта. Сюда же примыкает договорная ставка на цифровую реплику, 956 долларов 75 центов за четырёхчасовую сессию согласия плюс 16,5 процента в фонды, и полуторная ставка за использование копии в рекламе, — цена, которую отрасль назначила копированию голоса своими силами.</a:t>
            </a:r>
          </a:p>
          <a:p>
            <a:r>
              <a:t/>
            </a:r>
          </a:p>
          <a:p>
            <a:r>
              <a:t>Второй классический режим — субтитры — назван и своего числа не имеет: тарифа субтитрования и укладки за минуту готового материала в подборке нет, хотя величина эта в локализационной отрасли публичная. Аудиокнижная ставка существует — 150–250 долларов за час работы у начинающего, 500–1 000 и выше у верхушки, — но живёт в другой единице и в ту же бухгалтерию не складывается. Отсюда граничное положение разбора между двумя графами: первый режим посчитан полностью, второй назван без числа.</a:t>
            </a:r>
          </a:p>
          <a:p>
            <a:r>
              <a:t/>
            </a:r>
          </a:p>
          <a:p>
            <a:r>
              <a:t>Прейскуранты прочитаны напрямую 27 октября 2026 года. Быстрая модель — 0,04 доллара за тысячу знаков, то есть около 0,036 доллара за минуту речи; качественная — 0,08 доллара за тысячу знаков, около 0,072 за минуту; у третьего поставщика минута речи стоит 0,03 доллара, пакетно 0,015. Пересчёт «знаки в минуту» сделан по норме девятьсот знаков на минуту речи и назван расчётом; измерением он не является. Итог: от 0,03 до 0,072 доллара за минуту против 50–450 долларов у диктора, то есть разрыв от семисот до пятнадцати тысяч раз. Это одна из самых больших дистанций всей лекции, и она посчитана от классического режима — от нуля её считать не пришлось.</a:t>
            </a:r>
          </a:p>
          <a:p>
            <a:r>
              <a:t/>
            </a:r>
          </a:p>
          <a:p>
            <a:r>
              <a:t>Как это устроено. Вход — текст плюс образец голоса, выход — звуковая дорожка. Звук превращается в аудиотокены нейронным кодеком с остаточным квантованием, и дальше работает та же машинерия, что в языковой модели; подробно это разбирается в техническом блоке раздела, здесь важна одна величина, которая объясняет и цену, и длину, — частота кадров кодека. Имена изделий названы на кадре и в источнике: быстрая и качественная линейки одного поставщика, общедоступные с февраля 2026 года, с разметкой интонации тегами прямо в тексте и поддержкой семидесяти с лишним языков; отдельный поставщик синтеза речи; для визуального дубляжа, где переписываются губы в кадре, — отдельная система.</a:t>
            </a:r>
          </a:p>
          <a:p>
            <a:r>
              <a:t/>
            </a:r>
          </a:p>
          <a:p>
            <a:r>
              <a:t>Измеренный размен «скорость против правильности» назван самим поставщиком, и он показателен. Фраза с числом в миллион долларов читается качественной моделью как «один миллион долларов», а быстрой — как «одна тысяча тысяч долларов», потому что вторая намного меньше, хуже обобщает, и нормализация текста у неё по умолчанию отключена ради низкой задержки. Дешёвая модель экономит ровно на том, что заказчик замечает последним и исправляет дороже всего: такую ошибку находят на приёмке готового ролика.</a:t>
            </a:r>
          </a:p>
          <a:p>
            <a:r>
              <a:t/>
            </a:r>
          </a:p>
          <a:p>
            <a:r>
              <a:t>Образцовая подмена базы, которую стоит разобрать отдельно, потому что она повторяется в каждой модальности. Заявленная задержка вывода модели — 75–100 миллисекунд; реальное время до первого звука в работающей системе — 100–200 миллисекунд и выше; буфер проигрывателя типично 500 миллисекунд. Буфер перевешивает всю разницу между поставщиками. Поставщики меряют в разных точках конвейера, и числа их сравнивать между собой нельзя — это тот самый класс ошибки, который курс ловит в каждой лекции.</a:t>
            </a:r>
          </a:p>
          <a:p>
            <a:r>
              <a:t/>
            </a:r>
          </a:p>
          <a:p>
            <a:r>
              <a:t>На чём обучено: по музыкальным моделям того же поставщика — на полностью лицензированных данных, с соглашением с крупным правообладателем; по речевым моделям состав обучающего набора не раскрыт.</a:t>
            </a:r>
          </a:p>
          <a:p>
            <a:r>
              <a:t/>
            </a:r>
          </a:p>
          <a:p>
            <a:r>
              <a:t>Что переехало. Переехала граница продукта: озвучка перестала быть сессией и стала строкой тарифа. У заказчика исчезло планирование под расписание диктора, у диктора исчезла значительная часть короткого заказа. Вправо уехало право на голос, и здесь висит честный ноль: в Гражданском кодексе России отдельной охраны голоса нет, проект соответствующей статьи правительством не поддержан, тогда как в США действуют законы отдельных штатов. Эта дыра разбирается в пласте цены этого же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показывает случай, которого в счётных разделах не бывает: классического режима у задачи нет вовсе, и причина названа.</a:t>
            </a:r>
          </a:p>
          <a:p>
            <a:r>
              <a:t/>
            </a:r>
          </a:p>
          <a:p>
            <a:r>
              <a:t>В деньгах цены обеих ошибок здесь нет и быть не может. Исход двоичный: либо роль звучит голосом актёра, либо не звучит вовсе. Это свойство случая, а не пробел замера, и на кадре оно так и объявляется. Разница между «мы не смогли посчитать» и «считать здесь нечего» принципиальна: первое надо закрывать поиском, второе надо называть вслух и идти дальше.</a:t>
            </a:r>
          </a:p>
          <a:p>
            <a:r>
              <a:t/>
            </a:r>
          </a:p>
          <a:p>
            <a:r>
              <a:t>Второго режима в задаче не существует, и причина у этого медицинская. Голос Вэла Килмера утрачен после трахеотомии при раке горла в 2014 году. Значит, альтернатив ровно две: роль без голоса или роль с чужим голосом. Обе дают другой исход вместо другой цены, поэтому никакой единицы, в которой их можно сложить с моделью, не существует. Курс засчитывает такой вердикт как полноценный; пробелом он не считается.</a:t>
            </a:r>
          </a:p>
          <a:p>
            <a:r>
              <a:t/>
            </a:r>
          </a:p>
          <a:p>
            <a:r>
              <a:t>Что сделала модель. Работали с архивом записей актёра. Данных оказалось примерно в десять раз меньше, чем на обычном проекте такого рода, — под это пришлось дорабатывать алгоритмы. Сгенерировано больше сорока моделей голоса, из них выбрана одна. Сам Килмер о результате сказал, что ему восстановили голос так, как он не считал возможным.</a:t>
            </a:r>
          </a:p>
          <a:p>
            <a:r>
              <a:t/>
            </a:r>
          </a:p>
          <a:p>
            <a:r>
              <a:t>Обратите внимание на форму числа «сорок моделей, выбрана одна». Это ровно та же механика, которая в следующем разделе даст 400 генераций на 15 склеек и 70 000 клипов на полторы дюжины планов: выигрыш берётся из того, что неудачная попытка почти ничего не стоит. В звуке 2021 года она стоила уже достаточно мало, чтобы перебрать сорок вариантов голоса одного человека и выбрать лучший. Запомнить стоит именно это: там, где проба бесплатна, работа переезжает в отбор, и это наблюдение повторится в лекции ещё трижды.</a:t>
            </a:r>
          </a:p>
          <a:p>
            <a:r>
              <a:t/>
            </a:r>
          </a:p>
          <a:p>
            <a:r>
              <a:t>Как это устроено. Вход — архив записей голоса актёра, выход — синтезированная речь для фильма «Топ Ган: Мэверик» 2022 года. Имя изделия — Sonantic, компания, купленная Spotify в 2022 году; сотрудничество с актёром началось в 2021-м. На чём обучено — на собственном архиве Килмера, с явного согласия актёра.</a:t>
            </a:r>
          </a:p>
          <a:p>
            <a:r>
              <a:t/>
            </a:r>
          </a:p>
          <a:p>
            <a:r>
              <a:t>Чего нет. Сколько именно часов архива использовано, не названо: «в десять раз меньше обычного» числом не является, и что считалось обычным проектом, тоже не сказано. Технических публикаций по проекту найти не удалось: компания поглощена, её блог закрыт. Это состояние «искали добросовестно и не нашли», и оно отмечается как есть.</a:t>
            </a:r>
          </a:p>
          <a:p>
            <a:r>
              <a:t/>
            </a:r>
          </a:p>
          <a:p>
            <a:r>
              <a:t>Что переехало. Переехал прецедент. Модель голоса существует и переживает человека: Килмер умер в 2025 году, модель осталась. Кто и на каких условиях распоряжается ею дальше, решается договором, потому что права на этот счёт нет.</a:t>
            </a:r>
          </a:p>
          <a:p>
            <a:r>
              <a:t/>
            </a:r>
          </a:p>
          <a:p>
            <a:r>
              <a:t>И рядом — контрольная точка 2021 года, которая задаёт единственный работающий различитель. В документальном фильме «Roadrunner» модель произнесла три фразы, которые Энтони Бурден написал, но не наговорил; выяснилось это из интервью режиссёра, и в самом фильме это никак не помечено. Технология там и здесь одна и та же. Разница ровно одна: согласие объявлено или нет. Тот же различитель работает в предыдущем разборе, где человек клонирует собственный голос и подтверждает это голосовой капчей, в случае с голосом Дарта Вейдера, где права переданы прижизненно и явно, и в деле, которым закрывается этот раздел, где согласия на синтез в договоре не было вовсе. Инженеру отсюда переносится готовый критерий: вопрос «использовалась ли модель» бесполезен, рабочий вопрос — чьё согласие получено и зафиксировано ли оно в документе.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разбора выше проведены по полной форме. Ниже — шесть случаев, каждый в две-три фразы и каждый с числом: упоминание без числа в этом разделе не ставится вовсе.</a:t>
            </a:r>
          </a:p>
          <a:p>
            <a:r>
              <a:t/>
            </a:r>
          </a:p>
          <a:p>
            <a:r>
              <a:t>Рэнди Трэвис: первая новая запись за одиннадцать лет. Кантри-певец потерял речь после тяжёлого инсульта в 2013 году — парализована правая сторона, повреждена речевая зона. В мае 2024 года вышла песня «Where That Came From»: вокал Трэвиса восстановлен моделью поверх записи 2011 года, спетой его коллегой Джеймсом Дюпре, с участием и согласием самого артиста. База у результата названа дважды: это первая новая запись за одиннадцать лет, и она дебютировала на 45-м месте эфирного кантри-чарта — первое попадание Трэвиса на кантри-радио за двадцать лет. Граница между восстановлением и подменой здесь проходит по тому, кто поёт исходник: поёт Дюпре, тембр принадлежит Трэвису, и вопрос об авторстве исполнения остаётся открытым.</a:t>
            </a:r>
          </a:p>
          <a:p>
            <a:r>
              <a:t/>
            </a:r>
          </a:p>
          <a:p>
            <a:r>
              <a:t>Голос Дарта Вейдера: права оформлены прижизненно. Для сериала «Оби-Ван Кеноби» 2022 года киевская компания Respeecher воспроизвела голос сорокапятилетней давности: Джеймс Эрл Джонс передал права на свои архивные записи, выступил наставником при настройке и в девяносто один год оставил роль; последнее его живое исполнение — одна реплика в фильме 2019 года. Финальные шаги работы шли в Киеве под сиренами воздушной тревоги в первые недели вторжения. Это первый громкий случай, где права на голос оформлены прижизненно и явно, и дальше на него ссылаются все споры.</a:t>
            </a:r>
          </a:p>
          <a:p>
            <a:r>
              <a:t/>
            </a:r>
          </a:p>
          <a:p>
            <a:r>
              <a:t>«Бруталист»: венгерский выговор и оскаровский спор. Фильм снят за 34 съёмочных дня при бюджете 9,6 миллиона долларов и хронометраже 215 минут — оператор картины отдельно заметил, что кино не обязательно всегда стоить 200 миллионов. Венгерские реплики Эдриена Броуди и Фелисити Джонс после работы с педагогом по речи прогонялись через модель вместе с голосом носителя языка, монтажёра звука Давида Янчо; английскую речь не трогали, Respeecher указан в титрах. Публичный спор о том, можно ли давать актёрскую награду за исполнение с машинной правкой, вспыхнул вокруг одного фильма, хотя в том же наградном сезоне тем же сервисом пользовались три номинанта. Броуди получил «Оскар» за лучшую мужскую роль.</a:t>
            </a:r>
          </a:p>
          <a:p>
            <a:r>
              <a:t/>
            </a:r>
          </a:p>
          <a:p>
            <a:r>
              <a:t>«Now and Then»: песня, в которой не сгенерировано ни ноты. Это упоминание несущее, и подаваться оно должно с объяснением разницы, иначе студент унесёт из лекции неверное. 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«Get Back» студия WingNut Films построила систему машинного разделения источников, и в ноябре 2023 года песня вышла — через сорок пять лет после записи демо. Разница с генерацией сидит в постановке задачи: у разделения источников микс считается суммой дорожек, и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Там, где записанное физически присутствует в сигнале, его достают, и ничего не выдумывают.</a:t>
            </a:r>
          </a:p>
          <a:p>
            <a:r>
              <a:t/>
            </a:r>
          </a:p>
          <a:p>
            <a:r>
              <a:t>Signapse: жестовый язык из лаборатории в расписание вокзалов. Фотореалистичный перевод письменного текста на британский и американский жестовые языки к середине 2025 года работает на 2 500 вокзалах Великобритании — то есть на всей сети железных дорог страны — и в крупных аэропортах США. Объявления о движении доступны глухим пассажирам прямо в момент объявления. Устройство важно этически: цифровые «дикторы» построены на съёмках реальных глухих людей, которые получают отчисления. Рядом — пятилетний проект SignGPT на 8,45 миллиона фунтов, объявленный в январе 2025 года, с крупнейшим в мире корпусом жестового языка. Вторая половина обязательна: сообщество глухих спорит о вытеснении живых переводчиков и о том, что аватар не передаёт выражение лица, которое в жестовых языках работает как грамматика; научная критика этого опубликована.</a:t>
            </a:r>
          </a:p>
          <a:p>
            <a:r>
              <a:t/>
            </a:r>
          </a:p>
          <a:p>
            <a:r>
              <a:t>Правила «Грэмми» 2023 года: отрасль первой написала норму. В июне 2023 года Академия записала: награду может получить только человек; работа без человеческого авторства не допускается ни в одну категорию; работы с машинными элементами допускаются, если вклад человека в музыку или текст существенный и более чем ничтожный. Последнее определено — «настолько малый, что им можно пренебречь», — и это как раз то, чего нет ни в одном законе на 2026 год. Инженеру этот критерий полезен в готовом виде: спрашивать надо, что именно сделал человек, и вопрос «использовался ли ИИ» заменяется этим.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работает та же машинерия, что в лекциях про языковые модели, и параллель держится до определённого места. Чтобы применить к звуку аппарат языковой модели, нужен словарь. Его роль играет нейронный аудиокодек.</a:t>
            </a:r>
          </a:p>
          <a:p>
            <a:r>
              <a:t/>
            </a:r>
          </a:p>
          <a:p>
            <a:r>
              <a:t>Устройство кодека простое: свёрточный кодировщик сжимает волну, остаточное квантование превращает непрерывный вектор в набор дискретных номеров, свёрточный декодировщик собирает волну обратно; всё обучается сквозно, одним куском.</a:t>
            </a:r>
          </a:p>
          <a:p>
            <a:r>
              <a:t/>
            </a:r>
          </a:p>
          <a:p>
            <a:r>
              <a:t>Числа, которые стоит держать в голове, взяты из первоисточника. В системе SoundStream кодировщик — это свёртка и четыре блока с шагами прореживания 2, 4, 5 и 8, то есть одно вложение считается каждые 320 входных отсчётов. При частоте дискретизации 24 килогерца это даёт 75 кадров латентного представления в секунду, и один кадр длится 13,3 миллисекунды — это же и есть архитектурная задержка модели. Меньше неё система не ответит никогда, независимо от того, сколько ускорителей под неё подложить.</a:t>
            </a:r>
          </a:p>
          <a:p>
            <a:r>
              <a:t/>
            </a:r>
          </a:p>
          <a:p>
            <a:r>
              <a:t>Слово «остаточное» означает буквально следующее. Первая кодовая книга даёт грубое приближение вектора; из вектора вычитается то, что она закодировала, и остаток подаётся второй книге; третья кодирует ошибку второй. Каждый следующий уровень уточняет предыдущий.</a:t>
            </a:r>
          </a:p>
          <a:p>
            <a:r>
              <a:t/>
            </a:r>
          </a:p>
          <a:p>
            <a:r>
              <a:t>Почему устроено именно так, авторы посчитали прямо. При шести килобитах в секунду и 75 кадрах в секунду на один кадр приходится 80 бит. Одна плоская кодовая книга потребовала бы два в восьмидесятой степени векторов — величину, которую они назвали очевидно неосуществимой. При восьми квантователях каждая книга содержит два в десятой степени, то есть 1 024 вектора, и это уже обычная таблица, помещающаяся в память.</a:t>
            </a:r>
          </a:p>
          <a:p>
            <a:r>
              <a:t/>
            </a:r>
          </a:p>
          <a:p>
            <a:r>
              <a:t>Параллель с подсловным словарём из лекции про языковые модели точная в постановке и расходящаяся в приёме: и там, и тут нужно покрыть огромное пространство, не перечисляя его целиком. Текст решает это слиянием частых пар, звук — каскадом уточнений.</a:t>
            </a:r>
          </a:p>
          <a:p>
            <a:r>
              <a:t/>
            </a:r>
          </a:p>
          <a:p>
            <a:r>
              <a:t>Измеренный размен глубины на ширину, все замеры при шести килобитах в секунду: восемь квантователей с книгой на 1 024 дают качество 4,01 по шкале ViSQOL; шестнадцать с книгой на 32 — 3,98; восемьдесят однобитных — 3,92. Вывод авторов: использование последовательности из восьмидесяти однобитных квантователей ведёт лишь к скромной деградации качества. Для инженера это готовое правило: глубина каскада почти бесплатна, ширина книги дорога.</a:t>
            </a:r>
          </a:p>
          <a:p>
            <a:r>
              <a:t/>
            </a:r>
          </a:p>
          <a:p>
            <a:r>
              <a:t>И масштаб, который стоит произнести вслух: при шести килобитах в секунду кодек на 8,4 миллиона параметров работает быстрее реального времени, в 2,4 раза, на одном ядре процессора смартфона, а при трёх килобитах превосходит традиционный кодек на двенадцати. Токенизатор звука — крошечная модель; дорог генератор, который стоит поверх него.</a:t>
            </a:r>
          </a:p>
          <a:p>
            <a:r>
              <a:t/>
            </a:r>
          </a:p>
          <a:p>
            <a:r>
              <a:t>Теперь арифметика, которая объясняет всё остальное в разделе. Токенов в секунду получается 75, умноженные на число квантователей: два квантователя — 150 токенов в секунду и 9 000 в минуте; четыре — 300 и 18 000; восемь — 600 и 36 000; тридцать два — 2 400 и 144 000. У музыкальной модели числа другие и тоже опубликованы: шаг прореживания 640 при 32 килогерцах даёт 50 кадров в секунду, четыре квантователя с книгой на 2 048 — 200 токенов в секунду, то есть 12 000 токенов в минуте. Тридцать секунд звука — это полторы тысячи шагов генерации.</a:t>
            </a:r>
          </a:p>
          <a:p>
            <a:r>
              <a:t/>
            </a:r>
          </a:p>
          <a:p>
            <a:r>
              <a:t>Сравнение, которое и делает кодек осмысленным. Минута звука с компакт-диска — это 5 292 000 отсчётов. Та же минута в представлении кодека с восемью квантователями — 36 000 токенов, в 147 раз меньше; у музыкальной модели — 12 000 токенов, в 441 раз меньше. В окно контекста на 128 тысяч токенов помещается полторы секунды сырого звука с компакт-диска — или 10,7 минуты того же звука в представлении музыкальной модели. Весь смысл нейронного кодека в генерации — именно этот множитель, и экономия места на диске тут ни при чём.</a:t>
            </a:r>
          </a:p>
          <a:p>
            <a:r>
              <a:t/>
            </a:r>
          </a:p>
          <a:p>
            <a:r>
              <a:t>Отсюда же видно, почему речь дороже текста. Темп речи около 150 слов в минуту, один текстовый токен — примерно три четверти слова, значит минута речи, записанная текстом, — это около 200 токенов. Та же минута как аудиотокены при восьми квантователях — 36 000, то есть в 180 раз больше; при двух квантователях — 9 000, в 45 раз больше.</a:t>
            </a:r>
          </a:p>
          <a:p>
            <a:r>
              <a:t/>
            </a:r>
          </a:p>
          <a:p>
            <a:r>
              <a:t>И единственное расхождение с языковой моделью, которое нельзя замазать аналогией. У текста словарь один. У звука их пришлось завести два, и это было показано измерением. Система AudioLM ввела разделение на семантические токены, которые захватывают долгосрочную структуру и работают на 25 герцах, и акустические, которые отвечают за качество синтеза и дают 600 токенов в секунду. Зачем нужны оба — измерено: акустические дают хорошее восстановление звучания и плохую фонетическую различимость, семантические дают обратное. По отдельности не работает ни то, ни другое. Одного словаря звуку не хватает: нужны «о чём» и «как звучит» отдельно, и это место, где параллель с языковой моделью честно перестаёт достраиваться.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устройства кодека следует практический вывод, и для этого раздела он обязателен: вся конструкция синтеза речи и музыки борется за снижение частоты кадров кодека, потому что это единственный рычаг, которым покупается длина.</a:t>
            </a:r>
          </a:p>
          <a:p>
            <a:r>
              <a:t/>
            </a:r>
          </a:p>
          <a:p>
            <a:r>
              <a:t>Арифметика прямая. Токенов в секунду — это частота кадров, умноженная на число квантователей. Длина окна контекста у генератора ограничена; значит, сколько секунд звука в него влезет, определяется тем, сколько токенов приходится на секунду. Понизили частоту вдвое — вдвое выросла возможная длина при том же окне и том же генераторе. Ни размер модели, ни выбор решателя такого эффекта не дают.</a:t>
            </a:r>
          </a:p>
          <a:p>
            <a:r>
              <a:t/>
            </a:r>
          </a:p>
          <a:p>
            <a:r>
              <a:t>Поколение 2025–2026 годов читается по этому параметру как по паспорту. VibeVoice держит девяносто минут диалога именно потому, что её токенизатор работает на 7,5 герца. Qwen3-TTS вынесла свои 12 герц прямо в имя модели — поставщик считает этот параметр достойным названия, и это само по себе показательно. DiffRhythm 2 ушла на 5 герц. Stable Audio 2 работает на 21,5 герца и сопровождает это прямым объяснением: в отличие от прежних работ, работающих с частотами латента от 40 до 150 герц, их автокодировщик опирается на сильно понижённый латент на 21,5 герца, и сохранение перцептивного качества на низких частотах латента, по формулировке авторов, может быть существенным для обучения генеративных моделей на длинных временных контекстах, позволяя создавать музыку длинной формы.</a:t>
            </a:r>
          </a:p>
          <a:p>
            <a:r>
              <a:t/>
            </a:r>
          </a:p>
          <a:p>
            <a:r>
              <a:t>Обратите внимание на форму утверждения в последней цитате: авторы не обещают, что низкая частота сделает модель лучше. Они говорят, что без неё длинная форма недостижима в принципе. Это разные утверждения, и второе сильнее.</a:t>
            </a:r>
          </a:p>
          <a:p>
            <a:r>
              <a:t/>
            </a:r>
          </a:p>
          <a:p>
            <a:r>
              <a:t>Чем за понижение платят, тоже стоит назвать, иначе рычаг выглядит бесплатным. Каждый кадр при более низкой частоте обязан нести больше информации — иначе декодировщик восстановит меньше, чем было. Компенсируют это либо числом квантователей, либо шириной кодовой книги, либо размерностью латента, и всё это упирается в тот же размен, который измерен на уровне кодека: глубина каскада почти бесплатна, ширина книги дорога. Предел существует и виден на соседних модальностях: в видео авторы одной из моделей дошли до слишком агрессивного сжатия и записали результат — сходимость модели становится крайне затруднённой. Бесплатного сжатия не бывает ни в одной из трёх модальностей.</a:t>
            </a:r>
          </a:p>
          <a:p>
            <a:r>
              <a:t/>
            </a:r>
          </a:p>
          <a:p>
            <a:r>
              <a:t>Второй потолок, который надо держать рядом с этим рычагом: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a:t>
            </a:r>
          </a:p>
          <a:p>
            <a:r>
              <a:t/>
            </a:r>
          </a:p>
          <a:p>
            <a:r>
              <a:t>Отсюда и вывод, который повторится в каждом разделе лекции на своём материале: главный рычаг — токенизатор; размер модели здесь вторичен. В звуке это частота кадров кодека, в изображении — размер латентного патча и коэффициент сжатия автокодировщика, в видео — коэффициент пространственного сжатия. Три модальности, три разных параметра, один и тот же ответ.</a:t>
            </a:r>
          </a:p>
          <a:p>
            <a:r>
              <a:t/>
            </a:r>
          </a:p>
          <a:p>
            <a:r>
              <a:t>Практическое следствие для инженера, который выбирает модель под задачу. Если задача требует длинного выхода — связного диалога, композиции целиком, многоминутной начитки, — смотреть надо сначала на частоту кадров токенизатора, и только потом на число параметров и на заявленное качество. Модель с низкой частотой и скромным генератором даст длинную форму; модель с огромным генератором и высокой частотой не даст её никакими настройками. И наоборот: если задача короткая — реплика, джингл, уведомление, — низкая частота ничего не покупает, а потерянное качество останется с вами.</a:t>
            </a:r>
          </a:p>
          <a:p>
            <a:r>
              <a:t/>
            </a:r>
          </a:p>
          <a:p>
            <a:r>
              <a:t>Отдельно стоит сказать, чего мы про устройство двух главных музыкальных продуктов не знаем. Ни один из них не опубликовал ни статьи, ни технического отчёта, ни карточки модели — ни по одной версии. Продукт с десятками миллионов пользователей не имеет ни одного проверяемого описания устройства. Единственное, что сообщил основатель одного из них в подкасте: их секрет в том, как правильно токенизировать звук. Это совпадает с выводом выше — и остаётся единственным, что компания сказала об устройстве.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Звук — единственная модальность, где обе породы генеративных моделей работают бок о бок на одной и той же задаче, и сравнить их можно измерением, а не рассуждением. Таблица, из которой взяты числа, опубликована в одной статье, то есть обе колонки получены одной методикой; сравнивать замеры из разных работ было бы тем самым подменом базы, который курс ловит в каждой лекции.</a:t>
            </a:r>
          </a:p>
          <a:p>
            <a:r>
              <a:t/>
            </a:r>
          </a:p>
          <a:p>
            <a:r>
              <a:t>Смотреть надо на колонку времени, причём на обе строки каждой модели. У авторегрессионной системы время растёт линейно с длиной: две минуты музыки считаются 6 минут 38 секунд, четыре минуты сорок пять секунд — 12 минут 53 секунды. У диффузионной оно стоит на месте: 13 секунд и там, и там. Причина в устройстве. Авторегрессия делает один проход на каждый порождаемый токен, значит вдвое более длинный выход требует вдвое больше проходов. Диффузия делает фиксированное число шагов решателя независимо от размера выхода: удлинили выход — шагов столько же, просто каждый шаг обрабатывает больший тензор, и на этих масштабах рост почти не виден.</a:t>
            </a:r>
          </a:p>
          <a:p>
            <a:r>
              <a:t/>
            </a:r>
          </a:p>
          <a:p>
            <a:r>
              <a:t>Разрыв в шестьдесят раз здесь структурный: он следует из устройства, и качество инженерной работы тут ни при чём. И качество результата при этом у диффузии вдвое с лишним лучше по той же метрике: 79,09 и 81,96 против 204,03 и 218,02, где меньше значит лучше.</a:t>
            </a:r>
          </a:p>
          <a:p>
            <a:r>
              <a:t/>
            </a:r>
          </a:p>
          <a:p>
            <a:r>
              <a:t>Это ровно то различие, которое курс вводил на языковых моделях: авторегрессия делает столько проходов, сколько токенов, диффузия — фиксированное число проходов независимо от размера выхода. Здесь оно подтверждено измерением в таблице одной статьи, а не аналогией.</a:t>
            </a:r>
          </a:p>
          <a:p>
            <a:r>
              <a:t/>
            </a:r>
          </a:p>
          <a:p>
            <a:r>
              <a:t>У авторегрессии по аудиотокенам есть своя задача, которой нет у текста, и решение её поучительно. Остаточное квантование даёт на каждый кадр несколько параллельных потоков токенов, а авторегрессионный трансформер умеет порождать только один поток. Наивное решение — предсказывать все четыре книги сразу — проваливается, потому что книги условно зависимы: каждая кодирует остаток предыдущей, и предсказать их независимо значит потерять эту связь. Измерено это прямо: при плоской развёртке, когда все книги вытягиваются в одну длинную цепочку, получается 6 000 шагов и качество 0,86 по метрике FAD; при схеме задержки, где на шаге с номером s предсказывается первая книга кадра s, вторая книга кадра s минус один, третья — кадра s минус два, выходит всего 1 500 шагов при качестве 0,96; при наивном параллельном варианте те же 1 500 шагов, но качество 2,58 и заметное падение субъективной оценки. Вывод авторов: сравнимого качества можно достичь за долю этой стоимости простым подходом с задержкой.</a:t>
            </a:r>
          </a:p>
          <a:p>
            <a:r>
              <a:t/>
            </a:r>
          </a:p>
          <a:p>
            <a:r>
              <a:t>У диффузии своя проблема, и её решение тоже стоит знать. Диффузионная модель порождает тензор фиксированной формы, то есть по построению выдаёт ровно одну длительность. Обходят это обусловливанием на время: при взятии обучающего фрагмента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тишина обрезается. Запомнить стоит механизм: переменная длина получена здесь обучением, а само ограничение «размер задан до запуска» никуда не делось, и во что оно обходится практике, разбирается в этом же разделе отдельным кадром.</a:t>
            </a:r>
          </a:p>
          <a:p>
            <a:r>
              <a:t/>
            </a:r>
          </a:p>
          <a:p>
            <a:r>
              <a:t>Инженерный вывод, который переносится за пределы звука. Выбор между двумя семействами делается по профилю задачи. Длинный выход и жёсткий бюджет времени — диффузия: её стоимость не зависит от длины. Выход, который надо наращивать по ходу, с возможностью продолжить начатое, — авторегрессия: у неё есть естественное продолжение последовательности, которого у диффузии нет. Вопрос «диффузия лучше авторегрессии?» смысла не имеет: два класса гарантируют разное и считаются по-разному, и спрашивать надо, какая гарантия нужна вашей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различение несущее для всего курса, и ставить его надо рядом с клонированием голоса, потому что в прессе обе вещи называются одним словом.</a:t>
            </a:r>
          </a:p>
          <a:p>
            <a:r>
              <a:t/>
            </a:r>
          </a:p>
          <a:p>
            <a:r>
              <a:t>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студия построила систему машинного разделения источников, и в ноябре 2023 года песня вышла — через сорок пять лет после записи демо.</a:t>
            </a:r>
          </a:p>
          <a:p>
            <a:r>
              <a:t/>
            </a:r>
          </a:p>
          <a:p>
            <a:r>
              <a:t>Разница с генерацией не риторическая, она сидит в постановке задачи. У разделения источников микс считается суммой дорожек, а задача состоит в том, чтобы вернуть слагаемые;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правильной песни по запросу «фанковая басовая линия» не бывает, и сравнивать результат не с чем. Метрика разделения — отношение сигнала к искажению — буквально содержит в знаменателе отклонение от известного правильного ответа, и такой метрики у генерации быть не может.</a:t>
            </a:r>
          </a:p>
          <a:p>
            <a:r>
              <a:t/>
            </a:r>
          </a:p>
          <a:p>
            <a:r>
              <a:t>Самое убедительное доказательство — существование оракула. Верхнюю границу качества всех методов, работающих маскированием спектрограммы, вычисляют по истинным дорожкам, то есть при знании ответа, и она равна 8,22 децибела. У генеративной модели понятия идеального оракула не существует вовсе: нечего подставить вместо ответа.</a:t>
            </a:r>
          </a:p>
          <a:p>
            <a:r>
              <a:t/>
            </a:r>
          </a:p>
          <a:p>
            <a:r>
              <a:t>Шкала выглядит так. Идеальная маска — 8,22 децибела. Spleeter, массовый инструмент предыдущего поколения, — 5,91. Hybrid Demucs — 8,34. Дообученный Sparse HT Demucs — 9,20. Системы 2023 года класса RoFormer — до 11,99. Сюжет, который отсюда следует: волновые и гибридные модели превзошли оракул масок. Произошло это не потому, что они стали генеративными, а потому, что перестали быть ограничены конкретным видом дискриминативной операции — умножением спектрограммы на вещественную маску. Текущий передний край всё ещё оценивает маски, только комплексные.</a:t>
            </a:r>
          </a:p>
          <a:p>
            <a:r>
              <a:t/>
            </a:r>
          </a:p>
          <a:p>
            <a:r>
              <a:t>Честная оговорка, чтобы тезис не прозвучал догмой: есть класс работ по восстановлению источников, где генерация в разделение возвращается. Там задача шире — вернуть исходные необработанные дорожки из сведённого и отмастеренного микса, где эффекты продакшена нарушают предположение о линейной сумме. Как только линейность нарушена, чистой дискриминации перестаёт хватать, и приходится достраивать то, чего в сигнале уже нет. Граница, таким образом, проходит по постановке задачи; технология по обе её стороны может оказаться одной и той же, и инженеру надо уметь определять, по какую сторону находится его случай.</a:t>
            </a:r>
          </a:p>
          <a:p>
            <a:r>
              <a:t/>
            </a:r>
          </a:p>
          <a:p>
            <a:r>
              <a:t>Как проверять это на своей задаче. Вопрос один: существует ли для вашего входа правильный ответ, который можно было бы предъявить? Если да — задача восстановительная, и мерить её надо расстоянием до этого ответа, а генеративная модель здесь будет выдумывать правдоподобное вместо верного. Если нет — задача генеративная, и требовать от неё метрики точности бессмысленно, мерить придётся пригодностью результата для заказчика. Самая дорогая ошибка в этой паре — применить генератор там, где ответ существовал: получится правдоподобный результат, который невозможно опровергнуть на слух и который при этом не является восстановлением записанного.</a:t>
            </a:r>
          </a:p>
          <a:p>
            <a:r>
              <a:t/>
            </a:r>
          </a:p>
          <a:p>
            <a:r>
              <a:t>Эта же пара вернётся в лекции ещё раз, на другом материале: древний свиток, прочитанный впервые за две тысячи лет, и кинопоказ, где больше девяноста процентов кадра тронуто моделью. Там граница между восстановлением и выдумыванием проходит по тому же месту, и ставить её надо тем же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 свойство метода, а не недоработка конкретного поставщика, и исправлениями версии оно не лечится. Формулировать его надо точно, потому что обиходное «иногда звучит неестественно» задачу не описывает.</a:t>
            </a:r>
          </a:p>
          <a:p>
            <a:r>
              <a:t/>
            </a:r>
          </a:p>
          <a:p>
            <a:r>
              <a:t>Модель голоса воспроизводит звучание, и на этом её знание о человеке заканчивается. Внутри нет сущности «исполнитель», у которой были бы манера, репертуар, пределы диапазона, привычки дыхания и решение о том, как подать строку. Есть распределение, обусловленное образцом: система выучила, как статистически устроен звук этого голоса, и умеет порождать похожий звук. Всё, что исполнитель решает сверх звука, в этом представлении не кодируется вовсе.</a:t>
            </a:r>
          </a:p>
          <a:p>
            <a:r>
              <a:t/>
            </a:r>
          </a:p>
          <a:p>
            <a:r>
              <a:t>Следствия наблюдаемы и названы самими поставщиками, так что здесь не нужно верить критикам на слово. Первое: голос, клонированный со спокойного повествования, звучит иначе, когда его просят выразить сильную эмоцию, — потому что сильной эмоции в образце не было, и вывести её из текста модель не умеет. Второе: разработчики систем синтеза речи прямо пишут, что их системам недостаёт тонкого контроля паралингвистических деталей, например эмоции, и отраслевой ответ на это — разметка руками, квадратные скобки с указаниями прямо в тексте. Управление есть ровно в той мере, в какой вы его проставили; никакого понимания смысла, из которого интонация следовала бы сама, в системе нет.</a:t>
            </a:r>
          </a:p>
          <a:p>
            <a:r>
              <a:t/>
            </a:r>
          </a:p>
          <a:p>
            <a:r>
              <a:t>Корень проблемы — в данных, и он назван ещё в 2023 году: главный обучающий корпус собран из аудиокниг, где подавляющее большинство высказываний произнесено в читательской манере. Модель видела море ровного повествования и очень мало всего остального, поэтому ровное повествование у неё получается, а остальное приходится размечать вручную.</a:t>
            </a:r>
          </a:p>
          <a:p>
            <a:r>
              <a:t/>
            </a:r>
          </a:p>
          <a:p>
            <a:r>
              <a:t>Третье следствие относится к музыке и звучит жёстче: когда музыкальную модель просят о вокале, её генерации содержат мелодии, похожие на вокал, без разборчивых слов. Это тот же класс дефекта, что псевдобуквы на сгенерированной картинке: форма воспроизведена, содержание отсутствует. Полезно держать эти два случая рядом — они из разных модальностей, но болезнь одна, и причина одна: модель оптимизирует правдоподобие формы, а не наличие смысла.</a:t>
            </a:r>
          </a:p>
          <a:p>
            <a:r>
              <a:t/>
            </a:r>
          </a:p>
          <a:p>
            <a:r>
              <a:t>Четвёртое, продуктовое: профессиональное клонирование голоса пения не поддерживает, о чём поставщик сообщает в документации. Это прямой ответ на вопрос, который задают чаще всего, и ответ отрицательный.</a:t>
            </a:r>
          </a:p>
          <a:p>
            <a:r>
              <a:t/>
            </a:r>
          </a:p>
          <a:p>
            <a:r>
              <a:t>Отсюда инженерный вывод, переносимый на любую задачу: модель голоса годится там, где нужно произнести, и перестаёт годиться там, где нужно сыграть. Граница проходит между этими двумя глаголами, и проверять надо именно её. Навигационная подсказка, объявление на вокзале, служебная начитка, озвучка справочного материала — произнести. Роль, песня, рекламное чтение, где интонация и есть продукт, — сыграть.</a:t>
            </a:r>
          </a:p>
          <a:p>
            <a:r>
              <a:t/>
            </a:r>
          </a:p>
          <a:p>
            <a:r>
              <a:t>Для задач, где платят именно за узнавание, у этого есть прямое последствие. Узнаётся тембр, и тембр модель воспроизводит; узнаваемость исполнения тембром не покрывается, и именно её у исполнителя покупают дорого. Слушатель отличит голос, но не сможет сформулировать, чего не хватает, — и приёмка по принципу «похоже на него» перестаёт работать, потому что похоже будет всегда. Единственная работающая приёмка здесь — проверять, выполняет ли результат ту работу, ради которой нанимали исполнителя.</a:t>
            </a:r>
          </a:p>
          <a:p>
            <a:r>
              <a:t/>
            </a:r>
          </a:p>
          <a:p>
            <a:r>
              <a:t>И последнее, о чём стоит помнить при планировании. Эти четыре следствия не закроются следующей версией модели, потому что ни одно из них не является ошибкой обучения: они следуют из того, что модель получает на вход и что оптимизирует. Закрыться они могут только сменой постановки задачи — например, если в обучение войдёт разметка актёрского решения, а не только звук. Пока такого корпуса нет, планировать надо исходя из того, что граница между двумя глаголами останется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ограничение метода прямо вытекает из устройства кодека и генератора, и повторится оно в каждом следующем разделе лекции на своём материале.</a:t>
            </a:r>
          </a:p>
          <a:p>
            <a:r>
              <a:t/>
            </a:r>
          </a:p>
          <a:p>
            <a:r>
              <a:t>Языковая модель решает, когда остановиться, по ходу: она выдаёт служебный токен конца, и длина ответа — результат генерации. Диффузионная модель порождает тензор фиксированной формы, и длина выхода является параметром запуска. Это различие архитектурное, и ни одна настройка его не снимает.</a:t>
            </a:r>
          </a:p>
          <a:p>
            <a:r>
              <a:t/>
            </a:r>
          </a:p>
          <a:p>
            <a:r>
              <a:t>Что из этого следует практически. Нельзя попросить «играй, пока не кончится идея». Нельзя прервать генерацию на середине и получить осмысленный короткий результат: получится обрезок, оборванный там, где его оборвали. Нельзя сгенерировать «примерно минуту» — надо назвать число. Для монтажёра это означает конкретную перестройку работы: длительность планируется до запуска, а не подбирается по ходу, и материал под склейку заказывается с запасом, который потом обрезается.</a:t>
            </a:r>
          </a:p>
          <a:p>
            <a:r>
              <a:t/>
            </a:r>
          </a:p>
          <a:p>
            <a:r>
              <a:t>Обходы существуют и описаны. Первый — обусловливание на длительность: при взятии обучающего фрагмента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после чего тишина обрезается. Второй — достройка следующего фрагмента функцией расширения. Каждый обход платит своим: заполнение тишиной тратит вычисления на пустое окно, а достройка фрагментами ломает структуру, потому что в контекст переносится только последний кусок.</a:t>
            </a:r>
          </a:p>
          <a:p>
            <a:r>
              <a:t/>
            </a:r>
          </a:p>
          <a:p>
            <a:r>
              <a:t>Отсюда же — техническая причина знаменитой жалобы на машинную музыку. Припев, который не возвращается, и мелодия, застрявшая в петле, измерены: у одной известной модели в контекст при наращивании переносится двенадцать секунд предыдущего звука, и модель физически не может сослаться на то, что было минуту назад. У модели с низкой частотой латента, держащей всю композицию в одном окне, повторение мотива появляется само — без всякой специальной работы над «музыкальностью». То есть музыкальная форма здесь следствие того, помещается ли произведение в окно целиком, и это ровно тот же рычаг, что разбирался кадром раньше.</a:t>
            </a:r>
          </a:p>
          <a:p>
            <a:r>
              <a:t/>
            </a:r>
          </a:p>
          <a:p>
            <a:r>
              <a:t>Отдельно стоит назвать ещё один потолок, который слышно и который к генератору отношения не имеет. Генеративная модель не может быть лучше своего декодировщика. Кодек,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Это жёсткий потолок: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a:t>
            </a:r>
          </a:p>
          <a:p>
            <a:r>
              <a:t/>
            </a:r>
          </a:p>
          <a:p>
            <a:r>
              <a:t>Инженерное следствие, которое стоит унести. Если задача требует выхода неизвестной заранее длины — реплики, которая кончается там, где кончается мысль, музыкальной фразы, которая замыкается сама, — диффузионная модель звука не тот инструмент, и обходить это придётся снаружи: нарезкой, монтажом, отдельной логикой остановки. Если длина известна заранее и фиксирована — ограничение не стоит вам ничего. Это тот же тип критерия, что и граница между «произнести» и «сыграть»: его можно проверить до запуска, по постановке задачи, а не после приёмки результата.</a:t>
            </a:r>
          </a:p>
          <a:p>
            <a:r>
              <a:t/>
            </a:r>
          </a:p>
          <a:p>
            <a:r>
              <a:t>Полезно понять, откуда это различие берётся, а не запоминать его как факт. Языковая модель порождает последовательность по одному элементу, и каждый следующий элемент она выбирает, глядя на уже порождённые; среди возможных элементов есть служебный знак конца, и вероятность его выбора растёт по мере того, как высказывание становится завершённым. Длина, таким образом, есть результат того же самого процесса, который порождает содержание. Диффузионная модель устроена иначе: она начинает с поля шума заданного размера и постепенно превращает его в осмысленный сигнал, причём размер поля задаётся в момент, когда шум создаётся, то есть до первого шага. Никакого места, где модель могла бы решить «здесь довольно», в этом процессе нет — все элементы поля обрабатываются на каждом шаге одновременно.</a:t>
            </a:r>
          </a:p>
          <a:p>
            <a:r>
              <a:t/>
            </a:r>
          </a:p>
          <a:p>
            <a:r>
              <a:t>Отсюда же понятно, почему обходы устроены именно так, как устроены, и почему каждый из них половинчатый. Обусловливание на длительность учит модель класть тишину в хвост — то есть длина по-прежнему задана, просто часть выхода объявлена ненужной. Достройка фрагментами разбивает длинный выход на последовательность коротких, и внутри каждого ограничение действует в полной мере, а между ними теряется связь. Третий путь, который сейчас разрабатывается, — назначать каждому элементу поля собственный уровень шума, и тогда часть поля можно достраивать, пока другая уже готова; это соединяет переменную длину, свойственную последовательному порождению, с управляемостью диффузии, но в продуктах массово пока не стоит.</a:t>
            </a:r>
          </a:p>
          <a:p>
            <a:r>
              <a:t/>
            </a:r>
          </a:p>
          <a:p>
            <a:r>
              <a:t>Что это значит при выборе инструмента под конкретный заказ. Служебная начитка фиксированной длины, джингл в тридцать секунд, озвучка ролика под готовый монтаж — ограничение не стоит ничего, длина и так назначена заказчиком. Начитка книги, где главы разной длины, — ограничение стоит нарезки и склейки, то есть человеческого времени на монтаж. Музыкальная подложка, которая должна закончиться ровно на реплике, — ограничение стоит отдельной работы, потому что модель не умеет завершать фразу, она умеет остановиться в назначенной точке. Разница между вторым и третьим случаем существенна: во втором достаточно обрезать, в третьем обрезанное звучит оборванным.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Возможности этого раздела — самые бесспорные в лекции. Цена у них ровно одна, и она правовая: технический объект «модель голоса» существует, а правового объекта «голос» в России нет.</a:t>
            </a:r>
          </a:p>
          <a:p>
            <a:r>
              <a:t/>
            </a:r>
          </a:p>
          <a:p>
            <a:r>
              <a:t>В Гражданском кодексе Российской Федерации отдельной охраны голоса нет. У человека, чей голос скопировали, на октябрь 2026 года есть три инструмента, и каждый достаёт мимо цели. Первый — защита персональных данных, но для этого надо доказать, что запись является его биометрией, а это отдельный спор со своим исходом. Второй — смежные права на конкретную фонограмму, то есть на ту запись, которая была сделана; на голос как таковой они не распространяются, и копия, построенная моделью, фонограммой-оригиналом не является. Третий — статья о защите чести и достоинства, но она работает только если использование порочит, а большинство случаев синтеза не порочит никого. Прямой нормы о голосе нет.</a:t>
            </a:r>
          </a:p>
          <a:p>
            <a:r>
              <a:t/>
            </a:r>
          </a:p>
          <a:p>
            <a:r>
              <a:t>Попытка её ввести документирована полностью, и статусы в ней надо различать строго. Законопроект номер 718834-8 внесён в сентябре 2024 года — через месяц после проигранного дела, которое разбирается следующим кадром. Он предлагал новую статью 152.3 Гражданского кодекса: охрана голоса как личного неимущественного блага по аналогии с действующей охраной изображения, включая имитацию голоса и синтез речи в реальном времени. Правительство проект не поддержало: отрицательная позиция освещена в октябре 2024 года, решение правительственной комиссии по законопроектной деятельности вынесено 20 января 2025 года. Аргументы названы: записи голоса — биометрические персональные данные, согласие на их обработку уже требуется; моральный вред взыскивается по действующему закону; запись голоса — фонограмма, охраняемая смежными правами. На октябрь 2026 года проект не принят. Сказать «в России готовится закон о голосе» было бы неверно: внесён и не поддержан — это другой статус, и он означает, что движения нет.</a:t>
            </a:r>
          </a:p>
          <a:p>
            <a:r>
              <a:t/>
            </a:r>
          </a:p>
          <a:p>
            <a:r>
              <a:t>Позиция отрасли при этом не антитехнологическая, и переврать её было бы нечестно. Союз дикторов России формулирует задачу на собственном сайте дословно: они борются за введение регулирования использования синтеза голоса, чтобы эта технология стала выгодна самим дикторам, а не стала закатом профессии. Просят лицензию, а не запрет. Это важно для инженерной аудитории: сторона, которую принято считать пострадавшей, добивается механизма, по которому технологией можно пользоваться законно и платно.</a:t>
            </a:r>
          </a:p>
          <a:p>
            <a:r>
              <a:t/>
            </a:r>
          </a:p>
          <a:p>
            <a:r>
              <a:t>Для контраста — другая юрисдикция, где нормы приняты. В штате Теннесси закон, добавивший голос к праву публичности, подписан 21 марта 2024 года и действует с 1 июля 2024 года. В Калифорнии закон о цифровых репликах умерших действует с 1 января 2025 года, с ответственностью в десять тысяч долларов или реальные убытки. Обязательная оговорка, без которой картина получится приукрашенной: применённых в суде дел по обоим законам найти не удалось. Норма в силе и норма, проверенная практикой, — разные состояния, и второго здесь пока нет.</a:t>
            </a:r>
          </a:p>
          <a:p>
            <a:r>
              <a:t/>
            </a:r>
          </a:p>
          <a:p>
            <a:r>
              <a:t>Федерального закона в США нет. Профильный законопроект единогласно одобрен судебным комитетом Сената 18 июня 2026 года, но 30 сентября 2026 года при попытке принять его единогласным согласием один из сенаторов возразил, и ни одной палатой он не принят. Это третий статус в одном кадре, и путать его с двумя предыдущими нельзя: одобрение комитетом не есть принятие.</a:t>
            </a:r>
          </a:p>
          <a:p>
            <a:r>
              <a:t/>
            </a:r>
          </a:p>
          <a:p>
            <a:r>
              <a:t>Пять статусов, которые курс требует различать, встречаются в этом разделе почти все: иск подан, решение вынесено, закон принят и в силе, проект внесён и не поддержан, проект одобрен комитетом и не принят. Инженеру это нужно затем, что от статуса зависит, можно ли на норму опираться при планировании работы. На норму в силе опираться можно; на внесённый проект — нельзя, и срок его принятия непредсказуем.</a:t>
            </a:r>
          </a:p>
          <a:p>
            <a:r>
              <a:t/>
            </a:r>
          </a:p>
          <a:p>
            <a:r>
              <a:t>Практический вывод для работы, который следует отсюда прямо: пока прямой нормы нет, единственный работающий инструмент — договор. Всё, что вы хотите иметь право делать с записанным голосом, должно быть названо в документе словом. Чем это кончается, когда слова нет, показывает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российское дело о синтезированном голосе, дошедшее до решения, и прослеживается оно целиком — поэтому разбирать стоит именно его, а не пересказывать слухи о десятке похожих ситуаций.</a:t>
            </a:r>
          </a:p>
          <a:p>
            <a:r>
              <a:t/>
            </a:r>
          </a:p>
          <a:p>
            <a:r>
              <a:t>В 2019 году актриса озвучки Алёна Андронова записала около 600 страниц текста для банка. По её словам, в договоре нет ни слова «синтез», ни упоминания нейросетей; заверяли, что записи нужны для внутренних задач — колл-центра и голосового ассистента. Это ключевая деталь всего дела, и держать её надо в точности: речь идёт об употреблении, которого в документе не предусмотрели никак; запрета, который можно было бы нарушить, там тоже не было.</a:t>
            </a:r>
          </a:p>
          <a:p>
            <a:r>
              <a:t/>
            </a:r>
          </a:p>
          <a:p>
            <a:r>
              <a:t>В 2022 году её голос обнаружился в сторонней рекламе — эротические чаты, призывы донатить; голос оказался доступен для синтеза на сторонних площадках. Из-за этого она потеряла часть работы: заказчики, услышавшие знакомый тембр в таком контексте, перестали обращаться.</a:t>
            </a:r>
          </a:p>
          <a:p>
            <a:r>
              <a:t/>
            </a:r>
          </a:p>
          <a:p>
            <a:r>
              <a:t>7 апреля 2023 года банк на претензию предложил компенсацию примерно в два месячных заработка при условии полного отказа от претензий. Предложение отклонено. 30 августа 2023 года подан иск в Савёловский районный суд Москвы: почти 6 миллионов рублей, удаление голоса из открытого доступа, защита чести и достоинства. В тот же день запущена петиция, собравшая около 26 тысяч подписей.</a:t>
            </a:r>
          </a:p>
          <a:p>
            <a:r>
              <a:t/>
            </a:r>
          </a:p>
          <a:p>
            <a:r>
              <a:t>12 августа 2024 года вынесено решение по делу номер 2-3580/2024: в иске отказано. Суд счёл, что исключительные права на записи, включая право на переработку нейросетью в том числе третьими лицами, перешли по договору и необходимые согласия получены. Защиту голоса как нематериального блага суд обошёл, не оценивая, — то есть вопрос, ради которого дело было интересно, остался нерешённым не потому, что на него ответили отрицательно, а потому, что до него не дошли. Решение обжаловалось; итог апелляции по открытым источникам установить не удалось, и это состояние надо называть как есть, а не домысливать.</a:t>
            </a:r>
          </a:p>
          <a:p>
            <a:r>
              <a:t/>
            </a:r>
          </a:p>
          <a:p>
            <a:r>
              <a:t>Читать это надо так. Суд разрешил спор как спор о договоре. В России голос существует в суде ровно настолько, насколько он описан в бумаге, подписанной пятью годами раньше — тогда, когда слова «синтез» в этой отрасли ещё не было. Дыра, из-за которой дело проиграно, на октябрь 2026 года не закрыта: законопроект, который закрывал бы её, внесён через месяц после решения и правительством не поддержан.</a:t>
            </a:r>
          </a:p>
          <a:p>
            <a:r>
              <a:t/>
            </a:r>
          </a:p>
          <a:p>
            <a:r>
              <a:t>Исход назван прямо, и это принципиально для формы разбора: разбор без исхода — половина разбора. Соблазн рассказать эту историю как историю о несправедливости и остановиться на иске велик, и именно так её чаще всего и пересказывают. Но сам по себе поданный иск ничего не доказывает; доказывает решение, и решение здесь отрицательное.</a:t>
            </a:r>
          </a:p>
          <a:p>
            <a:r>
              <a:t/>
            </a:r>
          </a:p>
          <a:p>
            <a:r>
              <a:t>Для инженера отсюда следует практическое правило, и оно шире темы голоса: договор на запись материала, который может быть использован для обучения модели, обязан называть это использование словом. Отсутствие слова «синтез» в документе 2019 года стоило человеку профессии в её прежнем виде и шести миллионов рублей иска. Это касается любого материала, который человек передаёт организации: записи голоса, фотографий, текстов, кода, разметки. Вопрос, который надо задавать при подписании, звучит так: названо ли в документе словом то употребление, которого я не ожидаю.</a:t>
            </a:r>
          </a:p>
          <a:p>
            <a:r>
              <a:t/>
            </a:r>
          </a:p>
          <a:p>
            <a:r>
              <a:t>И вторая сторона того же правила, адресованная тем, кто договор составляет. Формулировка «включая право на переработку, в том числе третьими лицами» в 2019 году выглядела стандартной оговоркой и именно она решила дело пять лет спустя. Общая широкая формула в договоре — это не забота о гибкости, это перенос всего будущего риска на того, кто подписывает. Добросовестная практика состоит в том, чтобы назвать употребления явно, а не укрыть их под общую формулу, — и отрасль, которая просит лицензию вместо запрета, просит именно этого.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 цене был бы нечестным без одной арифметической поправки, которая работает против красивых чисел из разбора про озвучку.</a:t>
            </a:r>
          </a:p>
          <a:p>
            <a:r>
              <a:t/>
            </a:r>
          </a:p>
          <a:p>
            <a:r>
              <a:t>Повсеместно цитируемая цена сгенерированного трека — около полутора-двух центов. Это цена генерации: столько стоит нажать кнопку и получить результат внутри сервиса. Цена трека, который можно унести и использовать, другая. На тарифе за восемь долларов в месяц пользователю даётся двадцать скачиваний, то есть восемь, делённые на двадцать, — сорок центов за скачиваемый трек. Разница между двумя единицами — двадцать пять раз, и обе цифры при этом верны: просто считают они разные вещи.</a:t>
            </a:r>
          </a:p>
          <a:p>
            <a:r>
              <a:t/>
            </a:r>
          </a:p>
          <a:p>
            <a:r>
              <a:t>Сравнивать со стоковой лицензией в 20–100 долларов надо именно сорок центов, и тогда разрыв составляет от пятидесяти до двухсот пятидесяти раз вместо тысяч. Это по-прежнему огромная величина; она просто на полтора порядка меньше той, которую обычно называют, и инженеру важнее уметь получать правильный порядок, чем помнить красивый.</a:t>
            </a:r>
          </a:p>
          <a:p>
            <a:r>
              <a:t/>
            </a:r>
          </a:p>
          <a:p>
            <a:r>
              <a:t>Метод счёта показан прямо на кадре, потому что ошибка этого класса повторится за вечер ещё не раз. Общая форма её такая: прейскурант называет цену одной попытки, производство интересует цена одного годного результата, и между ними стоит коэффициент отбора, который в прейскуранте не упомянут ни словом. В изображении то же самое давало тридцать-сто генераций на одну пригодную иллюстрацию; в видео, к которому раздел переходит дальше, это будет четыреста генераций на пятнадцать склеек. Правило одно: единица учёта — то, что ушло заказчику.</a:t>
            </a:r>
          </a:p>
          <a:p>
            <a:r>
              <a:t/>
            </a:r>
          </a:p>
          <a:p>
            <a:r>
              <a:t>Теперь вывод раздела, в трёх частях.</a:t>
            </a:r>
          </a:p>
          <a:p>
            <a:r>
              <a:t/>
            </a:r>
          </a:p>
          <a:p>
            <a:r>
              <a:t>Где польза. Там, где задача сводится к воспроизведению известного звучания, модель к 2026 году закрыла её с разрывом в сотни и тысячи раз против классического режима: минута озвучки стоит от трёх до семи центов против 50–450 долларов у диктора. Там, где классического режима не существует вовсе, она дала результат, которого прежде не было ни за какие деньги: голос человеку, утратившему речь, и роль актёру, у которого голос отняла операция.</a:t>
            </a:r>
          </a:p>
          <a:p>
            <a:r>
              <a:t/>
            </a:r>
          </a:p>
          <a:p>
            <a:r>
              <a:t>Где границы. Понятия исполнителя у модели нет, пение не поддерживается, эмоция берётся разметкой, длина выхода назначается до запуска. Качество упирается в декодировщик кодека раньше, чем в размер модели. И самое практичное: часть задач, которые в прессе называют генерацией, генерацией не является — разделение источников вернуло миру песню, не сгенерировав ни одной ноты, и спутать эти две вещи значит выбрать неправильный инструмент.</a:t>
            </a:r>
          </a:p>
          <a:p>
            <a:r>
              <a:t/>
            </a:r>
          </a:p>
          <a:p>
            <a:r>
              <a:t>Какая нагрузка идёт дальше по циклу. Право. Модель голоса переживает человека, а нормы о голосе в российском праве нет; единственное дошедшее до решения дело проиграно потому, что суд читал договор пятилетней давности. Эта нагрузка переходит в раздел о распознавании и происхождении и дальше в Сборку, где называется адрес платежа.</a:t>
            </a:r>
          </a:p>
          <a:p>
            <a:r>
              <a:t/>
            </a:r>
          </a:p>
          <a:p>
            <a:r>
              <a:t>Технический вывод, подтверждённый на материале раздела: главный рычаг здесь — токенизатор. Длина выхода определяется частотой кадров кодека, от 5 до 21,5 герца у моделей 2026 года; размер генератора на неё почти не влияет, а сам кодек при этом умещается в 8,4 миллиона параметров и работает на одном ядре процессора смартфона.</a:t>
            </a:r>
          </a:p>
          <a:p>
            <a:r>
              <a:t/>
            </a:r>
          </a:p>
          <a:p>
            <a:r>
              <a:t>Накопительная карта после двух разделов заполнена на две колонки из пяти. Строки её — шесть типов задач, и каждая следующая модальность добавляет свою колонку, а не переписывает строки. Пустых клеток в заполненных колонках нет: там, где у нас нет измеренного случая, названо, что именно известно и чего не хватает, — это честное состояние, а не пробел отбора. Под картой идёт полоса адреса платежа: у изображения это отбор и права, у звука — права и узнавание. Полоса накапливается теми же шагами, что и колонки, и к Сборке придёт полной.</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модальность вечера устроена сложнее двух предыдущих: производственная цепочка здесь длиннее, стадий больше, а единица выхода дороже и звука, и неподвижной картинки — причём дороже измеримо.</a:t>
            </a:r>
          </a:p>
          <a:p>
            <a:r>
              <a:t/>
            </a:r>
          </a:p>
          <a:p>
            <a:r>
              <a:t>Картинка размером 1024 на 1024 точки — это 4 096 токенов. Пять секунд видео в разрешении 720p — 111 600 токенов, то есть в двадцать семь раз больше. Пять секунд в 1080p — 249 240 токенов, в шестьдесят один раз больше. И по этим токенам надо прогнать двадцать-пятьдесят шагов расшумления, каждый с полным вниманием и без всякого кэша. Это самая дорогая из трёх уже пройденных модальностей, и именно поэтому все рычаги удешевления видны здесь отчётливее всего.</a:t>
            </a:r>
          </a:p>
          <a:p>
            <a:r>
              <a:t/>
            </a:r>
          </a:p>
          <a:p>
            <a:r>
              <a:t>У раздела есть особенность, которой нет у предыдущих: избыток материала. Все западные случаи штучные — один ролик, один фильм, одна сцена, — а первым идёт случай, где на генеративное производство перешла целая отрасль за один год, с полной экономикой. Такое сочетание редкое, и порядок разборов выбран так, чтобы масштаб шёл от отраслевого к единичному: сначала рынок, потом ролик за две тысячи долларов, потом кампания, где ожидание зала расходится с результатом.</a:t>
            </a:r>
          </a:p>
          <a:p>
            <a:r>
              <a:t/>
            </a:r>
          </a:p>
          <a:p>
            <a:r>
              <a:t>Три разбора раздела называются здесь по порядку и дословно совпадают с заголовками своих кадров. Шесть упоминаний идут следом, каждое с числом и с базой.</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Отраслевое название этой модальности — движущееся изображение, и под ним живёт производственная цепочка, устроенная сложнее, чем у звука. Разбирать её имеет смысл с того решения, которое она принимает, и с того, где в ней стоит дорогое место: всё остальное в разделе читается относительно этих двух вещей.</a:t>
            </a:r>
          </a:p>
          <a:p>
            <a:r>
              <a:t/>
            </a:r>
          </a:p>
          <a:p>
            <a:r>
              <a:t>Решение стадии формулируется коротко — что именно увидит зритель в каждую секунду экранного времени. За этим решением идёт самая дорогая цепочка обязательств во всей главе: права на музыку, права на лица в кадре, права на локацию, профсоюзные ставки, страховка, согласования с заказчиком. Поэтому дешевизна отдельного кадра переводится в дешевизну готового ролика далеко не один к одному, и этот зазор — содержание трёх разборов раздела.</a:t>
            </a:r>
          </a:p>
          <a:p>
            <a:r>
              <a:t/>
            </a:r>
          </a:p>
          <a:p>
            <a:r>
              <a:t>Классическая цепочка работает с отснятым материалом — массивом планов, из которых монтажёр выбирает вошедшие. Отношение отснятого к вышедшему это профессиональная величина с собственным названием и известным порядком: в постановочной рекламе около десяти к одному, в документалистике десятки к одному. Вопрос, который решает стадия, звучит так: какой план попадёт в монтаж. Единица учёта на площадке — съёмочный день и план, то есть непрерывный кусок изображения от включения камеры до выключения.</a:t>
            </a:r>
          </a:p>
          <a:p>
            <a:r>
              <a:t/>
            </a:r>
          </a:p>
          <a:p>
            <a:r>
              <a:t>Генеративная цепочка работает с описанием и опорными кадрами. На входе текст, иногда плюс стартовый кадр, иногда плюс набор референсов для закрепления облика персонажа — современные системы берут до десяти опорных кадров и до пятнадцати референсов на одну генерацию. На выходе клип длиной от четырёх до двадцати секунд. Вопрос остаётся прежним, какой план попадёт в монтаж, и в этом главное: стадия отбора не исчезла, она выросла.</a:t>
            </a:r>
          </a:p>
          <a:p>
            <a:r>
              <a:t/>
            </a:r>
          </a:p>
          <a:p>
            <a:r>
              <a:t>Разница между двумя цепочками удобно читается по тому, где в них стоит дорогое место. В классической дорого произвести план: смена, свет, исполнители, разрешение на площадку; отбор при этом дёшев — монтажёр просматривает материал и выбирает. В генеративной дорого отобрать: произвести план стоит центы, а просмотреть несколько сотен клипов, сверить постоянство персонажа между ними и собрать из уцелевших связную сцену стоит человеко-дней. Отношение проб к годному при этом вырастает на порядок-полтора против того режима, которому генерация подражает. Дефицит переехал с одного конца цепочки на другой, и вся экономика раздела про это.</a:t>
            </a:r>
          </a:p>
          <a:p>
            <a:r>
              <a:t/>
            </a:r>
          </a:p>
          <a:p>
            <a:r>
              <a:t>Отсюда и порядок чтения чисел, которые пойдут дальше. Любое сообщение вида «ролик обошёлся в две тысячи долларов вместо сорока» описывает стоимость производства плана и ничего не говорит о стоимости отбора; любое сообщение вида «пятеро сделали кампанию» описывает число исполнителей одной операции и ничего не говорит о числе участников работы. Оба типа сообщений в разделе встретятся, оба будут посчитаны от классического режима, и оба придётся читать с поправкой на то, куда переехала дорогая часть.</a:t>
            </a:r>
          </a:p>
          <a:p>
            <a:r>
              <a:t/>
            </a:r>
          </a:p>
          <a:p>
            <a:r>
              <a:t>Практический вывод для инженера, который выбирает инструмент под задачу: прежде чем планировать экономию на производстве плана, оцените, во сколько обойдётся отбор. Если задача такова, что отбор делает человек и делает его глазами, выигрыш на производстве упирается в человеческую пропускную способность — и дальше уже неважно, сколько стоит одна генерация.</a:t>
            </a:r>
          </a:p>
          <a:p>
            <a:r>
              <a:t/>
            </a:r>
          </a:p>
          <a:p>
            <a:r>
              <a:t>Три разбора раздела выстроены так, чтобы проверить этот вывод на трёх разных масштабах. Китайские микродрамы — промышленное производство, где единица учёта выпуск, а сравнение идёт с живой съёмкой того же формата. Ролик предсказательного рынка к финалу НБА — одиночная работа одного человека, где классический режим посчитан дважды, американским бюджетом слота и российской опорной полосой. Рождественская кампания большого бренда — крупное производство, где интересен не бюджет, который не раскрыт, а число людей и срок. Во всех трёх случаях выигрыш считается от классического режима, и ни в одном — от нуля.</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Перечень стадий стоит держать целиком, и причина у этого одна: все восемь способов получить изображение сосуществуют, и ни один из семи прежних не отменён восьмым.</a:t>
            </a:r>
          </a:p>
          <a:p>
            <a:r>
              <a:t/>
            </a:r>
          </a:p>
          <a:p>
            <a:r>
              <a:t>Съёмочный период — работа на площадке: камера, свет, грим, декорация, исполнители. Единица учёта здесь съёмочный день и план, то есть непрерывный кусок изображения от включения камеры до выключения. Постпроизводство распадается на несколько самостоятельных ремёсел, и каждое из них — отдельная профессия со своим тарифом. Монтаж выбирает и склеивает планы. Композитинг собирает один кадр из нескольких слоёв. Ротоскопирование покадрово выделяет объект из кадра и остаётся самой трудоёмкой из рутинных операций отрасли — именно эта операция и стала первой, куда модель вошла всерьёз, о чём разговор пойдёт на следующих кадрах. Цветокоррекция приводит материал к единому виду. Визуальные эффекты добавляют то, чего на площадке не было.</a:t>
            </a:r>
          </a:p>
          <a:p>
            <a:r>
              <a:t/>
            </a:r>
          </a:p>
          <a:p>
            <a:r>
              <a:t>Виртуальное производство — стадия, появившаяся в 2019 году и стоящая между съёмкой и эффектами: фон выводится на светодиодную стену и попадает прямо в камеру, минуя дорисовку в постпроизводстве. Анимация производит движущееся изображение без съёмки вовсе, и это самостоятельная индустрия, а не способ сэкономить на площадке.</a:t>
            </a:r>
          </a:p>
          <a:p>
            <a:r>
              <a:t/>
            </a:r>
          </a:p>
          <a:p>
            <a:r>
              <a:t>С 2022 года к этому списку добавились три стадии, которых прежде не существовало. Генерация плана по описанию: на входе фраза, на выходе клип в несколько секунд. Оживление кадра: на входе готовая картинка, на выходе движение из неё. Продление сцены: модель достраивает клип вперёд или назад от последнего кадра. Вход генеративной цепочки — текст, иногда стартовый кадр, иногда до десяти опорных кадров и до пятнадцати референсов на одну генерацию; на выходе клип от четырёх до двадцати секунд.</a:t>
            </a:r>
          </a:p>
          <a:p>
            <a:r>
              <a:t/>
            </a:r>
          </a:p>
          <a:p>
            <a:r>
              <a:t>Полный перечень способов получить изображение выглядит так. Съёмка на площадке. Экспедиция — выезд за фоном, который нельзя построить, классическая и самая дорогая форма. Хромакей. Светодиодный объём. Захват движения и захват игры. Стоковая библиотека видео. Архив. Трёхмерный рендер, где съёмки нет вовсе. И с 2022 года генерация — восьмой способ, единственный, где стоимость одной попытки упала до единиц центов.</a:t>
            </a:r>
          </a:p>
          <a:p>
            <a:r>
              <a:t/>
            </a:r>
          </a:p>
          <a:p>
            <a:r>
              <a:t>Главное в этом перечне — его устойчивость. Светодиодный объём 2019 года не отменил хромакей, хромакей не отменил экспедицию, трёхмерный рендер не отменил съёмку. Рынок виртуального производства, появившийся за три года до генеративной волны, продолжал расти больше чем на тридцать процентов в год и после неё — то есть новая технология не вытеснила предыдущую новую технологию, хотя обе решают внешне похожую задачу «получить фон, которого нет».</a:t>
            </a:r>
          </a:p>
          <a:p>
            <a:r>
              <a:t/>
            </a:r>
          </a:p>
          <a:p>
            <a:r>
              <a:t>Инженерное следствие прямое и переносится за пределы этой модальности: выбор способа — это решение по задаче, а не по моде. У каждого из восьми способов своя область, где он дешевле и надёжнее остальных, и генерация заняла не место съёмки, а место, где прежде стоял выбор «снимать дорого или не делать вовсе». Правильный ответ на вопрос «чем снимать» в половине случаев остаётся «камерой», и умение этот ответ дать — часть профессии, а не её отсутствие.</a:t>
            </a:r>
          </a:p>
          <a:p>
            <a:r>
              <a:t/>
            </a:r>
          </a:p>
          <a:p>
            <a:r>
              <a:t>Два столбца здесь стоят именно противопоставлением, а не для экономии места: слева то, что существовало до 2022 года, справа то, чего до него не было. Читать их надо построчно и с одним вопросом — какую из прежних стадий новая заменяет. Честный ответ: ни одну целиком. Генерация плана по описанию ближе всего к съёмке и к трёхмерному рендеру, оживление кадра — к анимации, продление сцены — к композитингу; но ни в одном из трёх случаев прежняя стадия не исчезает из производства, она получает соседа с другой ценой попытки и другим качеством контроля.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любой выигрыш придётся считать от нуля, а выигрыш от нуля курс не принимает. Здесь сразу две единицы учёта, и держать их раздельно обязательно: цена готового выпуска имеет смысл для сериала, цена ролика — для рекламы, и сложить их в одну таблицу значит соврать о том, что сравнивается.</a:t>
            </a:r>
          </a:p>
          <a:p>
            <a:r>
              <a:t/>
            </a:r>
          </a:p>
          <a:p>
            <a:r>
              <a:t>Смена съёмочной группы — базовая единица классического производства. Для рекламного ролика технической сложности, сопоставимой с генеративными случаями раздела, это съёмочная группа от пятидесяти человек и производственный цикл год. Российская полоса того же ремесла опубликована отраслевыми прайс-обзорами: базовый телевизионный ролик — 300 000–800 000 рублей при студийной съёмке один-два дня и группе 3–5 человек; средний уровень, с актёрами и двумя-четырьмя съёмочными днями, — 800 000–2 500 000 рублей; премиальный, с группой 10–20 человек и спецэффектами, — 2 500 000–10 000 000 рублей и выше. Гонорар известного актёра — от 500 000 рублей за съёмочный день. Музыка считается отдельно: лицензионный трек из библиотеки 10 000–50 000 рублей, оригинальный — от 150 000 рублей.</a:t>
            </a:r>
          </a:p>
          <a:p>
            <a:r>
              <a:t/>
            </a:r>
          </a:p>
          <a:p>
            <a:r>
              <a:t>«Ирландец» 2019 года — контрольная точка «дорогого» прямо перед генеративной эпохой.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 Супервайзер эффектов отдельно оговаривал, что в пересчёте на один план это стоит столько же, сколько в обычном фильме с эффектами, и дорого выходит потому, что планов здесь на два фильма. Эту оговорку надо сохранить: она и есть правильная единица счёта, и без неё 159 миллионов читаются как цена технологии, хотя это цена объёма.</a:t>
            </a:r>
          </a:p>
          <a:p>
            <a:r>
              <a:t/>
            </a:r>
          </a:p>
          <a:p>
            <a:r>
              <a:t>Нелинейный монтаж, 1989 год. До него монтаж означал физическую склейку плёнки на монтажном столе. Рабочее место стоило 50 000–80 000 долларов. Дальше хронология замещения, которую стоит запомнить целиком: 1992 — монтажные появляются у ассистентов на больших студиях; 1995 — большинство независимых полных метров заканчивается на них; 1998 — монтажный стол уезжает в кладовку; 2003 — почти все монтажные Северной Америки нелинейные. Четырнадцать лет от первого рабочего места до полного замещения. Это единица измерения скорости отраслевого перехода в доцифровую эпоху, и дальше в разделе она служит базой: китайской микродраме на тот же путь понадобится около года.</a:t>
            </a:r>
          </a:p>
          <a:p>
            <a:r>
              <a:t/>
            </a:r>
          </a:p>
          <a:p>
            <a:r>
              <a:t>«История игрушек», 1995 год, — эталон того, что называлось «невозможно дорого». Бюджет 30 миллионов долларов при мировых сборах 373 миллиона. Вычислительная ферма: 87 двухпроцессорных и 30 четырёхпроцессорных рабочих станций на 100 мегагерц. Один кадр считался от 45 минут до 30 часов в зависимости от сложности; на кадр уходило 300 мегабайт памяти. Весь фильм — около 800 000 машино-часов на 114 200 кадров, то есть на 79 минут экранного времени. Относительно этой величины и надо читать сегодняшние «в десять раз быстрее» и «план за секунды»: тридцать лет назад синтетический кадр стоил машино-часов, сейчас — центов.</a:t>
            </a:r>
          </a:p>
          <a:p>
            <a:r>
              <a:t/>
            </a:r>
          </a:p>
          <a:p>
            <a:r>
              <a:t>StageCraft, октябрь 2019 года, — классика реального времени. Первая постоянная сцена виртуального производства: 1 326 светодиодных панелей с шагом 2,84 миллиметра, высота 6 метров, дуга 270 градусов, площадка диаметром 23 метра; изображение считается движком в реальном времени и попадает прямо в камеру. Больше половины первого сезона снято внутри этой сцены. Важная деталь для оси лекции: это уже генерация изображения без съёмки, только детерминированная. Разница с 2022–2026 годами состоит не в том, что картинка синтетическая — она была синтетической и здесь, — а в том, что раньше её надо было построить вручную в движке, а теперь можно описать словами.</a:t>
            </a:r>
          </a:p>
          <a:p>
            <a:r>
              <a:t/>
            </a:r>
          </a:p>
          <a:p>
            <a:r>
              <a:t>Пять точек выше складываются в одну цепочку, и смысл у неё тот же, что у цепочки в разделе про неподвижное изображение. Каждый раз исчезала операция посредничества: физическая склейка плёнки, экспедиция за фоном, покадровая обводка. Каждый раз профессия пересаживалась на новый инструмент, объём произведённого рос быстрее, чем падала цена, и каждый раз шёл спор об авторстве результата — спор о захвате игры тянется с 2002 года и не закрыт до сих пор: ни одной актёрской награды Академии за роль, целиком сыгранную в захвате, не присуждено. Это ровно тот же спор, что сегодня идёт вокруг машинной правки голоса и машинной генерации плана.</a:t>
            </a:r>
          </a:p>
          <a:p>
            <a:r>
              <a:t/>
            </a:r>
          </a:p>
          <a:p>
            <a:r>
              <a:t>Все пять классических режимов имеют общее свойство, которое стоит произнести отдельно: ни в одном из них неудачная попытка не бесплатна. Съёмочный день стоит съёмочного дня, машино-час стоит машино-часа, панель стоит панели. Именно это свойство и отменилось в 2022 году, и дальше три разбора считают, во сколько раз.</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крупнейший по объёму случай во всём материале лекции и почти неизвестный за пределами отраслевой прессы. Все западные случаи раздела штучные: один ролик, один фильм, одна сцена. Здесь целая отрасль перешла на генеративное видео как на основной способ производства за один год, и у перехода есть полная экономика.</a:t>
            </a:r>
          </a:p>
          <a:p>
            <a:r>
              <a:t/>
            </a:r>
          </a:p>
          <a:p>
            <a:r>
              <a:t>Микродрама — вертикальный сериал из нескольких десятков эпизодов по одной-две минуты, рассчитанный на просмотр с телефона. Жанр сложился в Китае к началу 2020-х и к 2025 году вырос в рынок объёмом около 100 миллиардов юаней; прогноз на 2026 год — свыше 120 миллиардов, и в 2026 году этот рынок впервые превосходит весь кинопрокат страны.</a:t>
            </a:r>
          </a:p>
          <a:p>
            <a:r>
              <a:t/>
            </a:r>
          </a:p>
          <a:p>
            <a:r>
              <a:t>Чтобы цифры читались, стоит удержать устройство продукта. Эпизод длится одну-две минуты и заканчивается на переломе, сезон состоит из нескольких десятков таких эпизодов. Производственно это означает короткие сцены, статичную камеру, крупные планы и минимум сложного движения в кадре — то есть ровно тот набор, с которым генеративная модель справляется лучше всего и в котором её главное ограничение проявляется слабее всего. Отрасль не случайно перешла первой: её жанровая форма оказалась ближе всего к тому, что модель умеет. Это важная оговорка против обобщения: переход произошёл там, где форма продукта совпала с сильной стороной инструмента, и переносить темп на другие жанры нельзя.</a:t>
            </a:r>
          </a:p>
          <a:p>
            <a:r>
              <a:t/>
            </a:r>
          </a:p>
          <a:p>
            <a:r>
              <a:t>Цена обеих ошибок названа экономической механикой отрасли, и названа честно в обе стороны. При себестоимости выпуска свыше миллиона юаней выгодно делать один хороший заход и вкладываться в него. При себестоимости 50–100 тысяч юаней выгодно делать четыреста тысяч заходов и дать аудитории выбрать победителя. Цена промаха упала в десять-двадцать раз; цена пропущенного хита не изменилась ни на юань. Из этого расхождения и выросла вся перестройка.</a:t>
            </a:r>
          </a:p>
          <a:p>
            <a:r>
              <a:t/>
            </a:r>
          </a:p>
          <a:p>
            <a:r>
              <a:t>Первый классический режим — живая микродрама 2024 года. Себестоимость выпуска свыше миллиона юаней, то есть около 137 тысяч долларов: съёмка с актёрами, площадкой и группой по обычному для жанра стандарту. Второй классический режим — кинопрокат как альтернативный канал той же аудитории и тех же денег; посчитан он на уровне рынка, и единица здесь юань, в которой выражены обе стороны.</a:t>
            </a:r>
          </a:p>
          <a:p>
            <a:r>
              <a:t/>
            </a:r>
          </a:p>
          <a:p>
            <a:r>
              <a:t>Модель даёт 50–100 тысяч юаней за выпуск, около 7–14 тысяч долларов, то есть падение в десять-двадцать раз против живой микродрамы 2024 года. База названа, выигрыш посчитан от классического режима.</a:t>
            </a:r>
          </a:p>
          <a:p>
            <a:r>
              <a:t/>
            </a:r>
          </a:p>
          <a:p>
            <a:r>
              <a:t>Объём перехода прослеживается поквартально, и ряд этот стоит привести целиком, потому что растёт в нём не только число, но и доля. Первый квартал 2026 года — около 128 тысяч микродрам, доля сгенерированных свыше 95 процентов. Первое полугодие — 367 тысяч при доле более 74 процентов. Первые восемь месяцев — 430 тысяч при доле более 90 процентов. Темп июля 2026 года — в среднем одна сгенерированная микродрама каждые 36 секунд.</a:t>
            </a:r>
          </a:p>
          <a:p>
            <a:r>
              <a:t/>
            </a:r>
          </a:p>
          <a:p>
            <a:r>
              <a:t>Как это устроено. Технологическим толчком вала названа модель Seedance 2.0, выпущенная в феврале 2026 года; текущая версия на октябрь 2026 года — Seedance 2.5. Здесь же честный пробел: ни одна публикация подборки не раскрывает, что подаётся на вход и как устроен конвейер отдельной микродрамной студии — англоязычные источники описывают рынок, китайскоязычные технические разборы мы не читали. Это пробел нашей работы, и он называется вслух. На чём обучена модель — не раскрыто.</a:t>
            </a:r>
          </a:p>
          <a:p>
            <a:r>
              <a:t/>
            </a:r>
          </a:p>
          <a:p>
            <a:r>
              <a:t>Что в устройстве модальности объясняет эту цену: видео считается патчами пространства-времени; кэш внимания, на котором держится вся экономика тарифов языковых моделей, здесь невозможен — расшумление переписывает все токены на каждом шаге; удвоение стороны кадра даёт квадратичный рост стоимости. Главный рычаг стоимости — коэффициент сжатия автокодировщика, и как именно он работает, разбирается в техническом блоке раздела.</a:t>
            </a:r>
          </a:p>
          <a:p>
            <a:r>
              <a:t/>
            </a:r>
          </a:p>
          <a:p>
            <a:r>
              <a:t>Что переехало. Переехало место конкуренции: с качества отдельного выпуска на объём попыток. Студия, которая в 2024 году соревновалась тем, насколько хорош её единственный заход, в 2026 году соревнуется тем, сколько заходов она способна просеять. Вправо уехало то же, что у музыкальной площадки и у игровой: предложение стало почти бесплатным, спрос за ним не пошёл. Четыреста тридцать тысяч выпусков за восемь месяцев — это измерение предложения, и выводы о востребованности из него не следуют.</a:t>
            </a:r>
          </a:p>
          <a:p>
            <a:r>
              <a:t/>
            </a:r>
          </a:p>
          <a:p>
            <a:r>
              <a:t>Скорость этого перехода стоит сопоставить с базой. Нелинейному монтажу понадобилось четырнадцать лет, чтобы вытеснить физическую склейку плёнки: с 1989 по 2003 год. Китайской микродраме понадобилось около года: февраль 2026 года — выход модели, названной толчком, первый квартал — уже свыше 95 процентов в выборке квартала. Разница с доцифровыми переходами — в темпе, направление же то же самое, и это единственное, что в 2022–2026 годах действительно ново по сравнению со всей шестидесятилетней цепочкой удешевления.</a:t>
            </a:r>
          </a:p>
          <a:p>
            <a:r>
              <a:t/>
            </a:r>
          </a:p>
          <a:p>
            <a:r>
              <a:t>Механика, которая за этим стоит, формулируется одной фразой и переносится на любой рынок: залить канал дешёвыми ставками и дать аудитории выбрать победителя. Она работает ровно до тех пор, пока у аудитории хватает внимания просеивать поток, и ломается там, где внимание кончается раньше, чем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Самая чистая иллюстрация оси всей лекции, и числа в ней названы самим автором работы.</a:t>
            </a:r>
          </a:p>
          <a:p>
            <a:r>
              <a:t/>
            </a:r>
          </a:p>
          <a:p>
            <a:r>
              <a:t>Точность, которую нельзя потерять: это финал Национальной баскетбольной ассоциации. Лига американского футбола рекламу предсказательных рынков не берёт; ошибка кочует по пересказам, и студент проверит её первым.</a:t>
            </a:r>
          </a:p>
          <a:p>
            <a:r>
              <a:t/>
            </a:r>
          </a:p>
          <a:p>
            <a:r>
              <a:t>Цена обеих ошибок названа в соотношении: 300–400 генераций на 15 пригодных склеек. Цена неудачной попытки — секунды вычислений и центы. Цена пропущенной удачной — весь ролик. Именно это расхождение и есть содержание случая.</a:t>
            </a:r>
          </a:p>
          <a:p>
            <a:r>
              <a:t/>
            </a:r>
          </a:p>
          <a:p>
            <a:r>
              <a:t>Первый классический режим — классическое производство ролика того же слота. Автор посчитал его относительно: снижение стоимости на 95 процентов против обычного ролика. При двух тысячах долларов у модели это даёт около сорока тысяч долларов классического бюджета. Второй классический режим — российская опорная полоса для той же работы, чтобы считать в своих единицах: базовый ролик 300 000–800 000 рублей при группе 3–5 человек, средний 800 000–2 500 000, премиум 2 500 000–10 000 000 при группе 10–20 человек. Приводим к общей единице: 300 000 рублей за тридцатисекундный ролик — это 10 000 рублей за секунду готового эфирного материала против 4–10 рублей за секунду генерации при курсе около 80 рублей за доллар, который проверяется в день чтения. Разрыв — от тысячи до двух с половиной тысяч раз, тот же порядок, что у изображения и голоса.</a:t>
            </a:r>
          </a:p>
          <a:p>
            <a:r>
              <a:t/>
            </a:r>
          </a:p>
          <a:p>
            <a:r>
              <a:t>И нечестность этого сравнения называется на том же месте. 300 000 рублей покупают идею, сценарий, раскадровку, площадку, свет, права на музыку, права на лица в кадре, монтаж и сдачу заказчику. Десять центов покупают одну попытку одного плана. Корректная формулировка звучит так: генерация обнуляет стоимость кадра и оставляет нетронутой стоимость ролика. Всё остальное содержание разбора объясняет, чем заполняется разница.</a:t>
            </a:r>
          </a:p>
          <a:p>
            <a:r>
              <a:t/>
            </a:r>
          </a:p>
          <a:p>
            <a:r>
              <a:t>Как это устроено. Вход — текстовые описания планов, причём разбор с опубликованными подсказками доступен публично; выход — видеоклипы, из которых монтируется ролик. Имя изделия — Google Veo 3. На чём обучено — не раскрыто. Порог и действие человека: один человек отсматривает 300–400 генераций и отбирает 15; это и есть вся команда.</a:t>
            </a:r>
          </a:p>
          <a:p>
            <a:r>
              <a:t/>
            </a:r>
          </a:p>
          <a:p>
            <a:r>
              <a:t>Что именно делает человек на входе, стоит разобрать отдельно, потому что это существенная деталь для инженерной аудитории. Подсказки по этой работе опубликованы, и устроены они как режиссёрская экспликация плана: тип кадра, движение камеры, свет, поведение персонажа, эмоция, продолжительность. Входом модели служит структурированное описание, ближе к техническому заданию, чем к запросу в поисковике. Навык, который здесь окупается, называется в отрасли постановкой задачи и переносится между моделями лучше, чем знание конкретного интерфейса.</a:t>
            </a:r>
          </a:p>
          <a:p>
            <a:r>
              <a:t/>
            </a:r>
          </a:p>
          <a:p>
            <a:r>
              <a:t>Устойчивость инструмента: версия Veo 3.1 Preview выключена в программном доступе 22 октября 2026 года, разработчиков переводят на преемника. Это второй выключенный флагман за тринадцать месяцев, и разбирается это в пласте цены раздела.</a:t>
            </a:r>
          </a:p>
          <a:p>
            <a:r>
              <a:t/>
            </a:r>
          </a:p>
          <a:p>
            <a:r>
              <a:t>Стоит представить себе эти два-три дня конкретно, потому что из описания «один человек сделал ролик за два дня» выпадает содержание работы. Человек пишет описание плана, запускает генерацию, ждёт, смотрит, отбраковывает, правит описание, запускает снова. На пятнадцать вошедших склеек приходится от трёхсот до четырёхсот таких циклов. Между ними — сверка: совпадает ли персонаж с предыдущим планом, тот ли свет, та ли камера. Это работа монтажёра и режиссёра одновременно, выполняемая в темпе, который задаёт очередь генерации.</a:t>
            </a:r>
          </a:p>
          <a:p>
            <a:r>
              <a:t/>
            </a:r>
          </a:p>
          <a:p>
            <a:r>
              <a:t>Что переехало. Переехала профессия отбора. Дешевизна здесь берётся из того, что неудачная попытка почти ничего не стоит: соотношение 400 к 15 означает брак 96 процентов. Инженерно это важнее двух тысяч долларов, потому что переносится на любую задачу: экономия равна цене попытки, делённой на долю годного.</a:t>
            </a:r>
          </a:p>
          <a:p>
            <a:r>
              <a:t/>
            </a:r>
          </a:p>
          <a:p>
            <a:r>
              <a:t>Вторая половина той же пары — короткометражка «Air Head», апрель 2024 года. Собственная оценка её авторов: отношение исходного материала к вошедшему 300 к 1. База, без которой это число не читается: в классической документалистике отношение отснятого к вышедшему считается десятками к одному,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И отдельная статья расходов, которой нет ни в одном прейскуранте: у героя того фильма вместо головы воздушный шар, и модель упорно пририсовывала на шар лицо, которое приходилось вычищать покадрово вручную.</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полный публично названный набор чисел по генеративному производству рекламы — и единственный случай, где ожидание зала расходится с результатом настолько, что на нём строится предсказание. Речь о пересъёмке рождественского ролика 1995 года: 2024 год и повтор приёма в 2025-м.</a:t>
            </a:r>
          </a:p>
          <a:p>
            <a:r>
              <a:t/>
            </a:r>
          </a:p>
          <a:p>
            <a:r>
              <a:t>Цена обеих ошибок названа сроком, и это единственная величина, подтверждённая первым лицом компании. Раньше ошибка стоила съёмочного дня внутри годового цикла; теперь — одной генерации внутри месячного.</a:t>
            </a:r>
          </a:p>
          <a:p>
            <a:r>
              <a:t/>
            </a:r>
          </a:p>
          <a:p>
            <a:r>
              <a:t>Первый классический режим — классическая съёмка ролика такой технической сложности: съёмочная группа от пятидесяти человек, срок производства год. Прямая формулировка директора по маркетингу: производственный цикл схлопнулся с года примерно до месяца. Второй классический режим — повторная съёмка оригинала 1995 года так, как это делалось прежде: один ролик — одна съёмка, один съёмочный период, одна смета.</a:t>
            </a:r>
          </a:p>
          <a:p>
            <a:r>
              <a:t/>
            </a:r>
          </a:p>
          <a:p>
            <a:r>
              <a:t>Модель против этих режимов. Свыше 70 000 сгенерированных видеоклипов — число названо самой компанией в её собственном закадровом ролике о производстве. Пять специалистов студии-подрядчика отобрали и довели этот массив за 30 дней. И главное число, ради которого случай попал в главу: в кампании суммарно было занято около 100 человек, примерно столько же, сколько на классической кампании прежних лет. Пятеро — это те, кто нажимал кнопку. Остальные девяносто пять никуда не делись. Любая подача вида «пятеро заменили пятьдесят» — передёргивание, и курс за него бьёт отдельно.</a:t>
            </a:r>
          </a:p>
          <a:p>
            <a:r>
              <a:t/>
            </a:r>
          </a:p>
          <a:p>
            <a:r>
              <a:t>Обязательная оговорка про число 70 000: это число сгенерированных клипов. Сколько из них вошло в монтаж, не раскрыто ни одним источником. Ходовая формулировка «70 000 клипов ради тридцати секунд» — это вывод, выдаваемый за факт, и употреблять её нельзя. Что можно посчитать честно: шестидесятисекундный ролик при средней длине плана около пяти секунд состоит примерно из 12–20 планов, значит отбор имеет порядок одного из 3 500–5 800. Это расчёт, и он назван расчётом. Единственное место в публичных источниках, где отношение проб к годному раскрыто по-настоящему, — другой случай, и переносить его сюда нельзя; он разбирается в пласте цены этого раздела.</a:t>
            </a:r>
          </a:p>
          <a:p>
            <a:r>
              <a:t/>
            </a:r>
          </a:p>
          <a:p>
            <a:r>
              <a:t>Второй расчёт, полезный подрядчику: 70 000 клипов по пять секунд при тарифе 0,05–0,12 доллара за секунду — это 17 500–42 000 долларов одних только вычислений, до зарплат пятерых специалистов, до лицензий, до музыки и до сведения. Для ролика, чей классический бюджет измеряется миллионами, это немного; для подрядчика, взявшегося «сделать дёшево на нейросетях», это весь бюджет. Масштаб для сравнения: годовой рекламный бюджет компании — около 5 миллиардов долларов.</a:t>
            </a:r>
          </a:p>
          <a:p>
            <a:r>
              <a:t/>
            </a:r>
          </a:p>
          <a:p>
            <a:r>
              <a:t>Отдельно стоит развести два года, потому что в пересказах они слипаются. Ролик 2024 года — первая попытка, сделанная тремя студиями на четырёх моделях; именно он собрал волну публичной насмешки и именно по нему сделано медиаизмерение. Ролик 2025 года — повтор приёма на следующий год, с другим распределением работы между подрядчиками; именно ему независимая потребительская панель поставила высшую оценку. Числа 70 000 клипов, пять специалистов и тридцать дней относятся к производственному циклу этой кампании; смешивать оценки аудитории двух разных лет значит сравнивать разные вещи.</a:t>
            </a:r>
          </a:p>
          <a:p>
            <a:r>
              <a:t/>
            </a:r>
          </a:p>
          <a:p>
            <a:r>
              <a:t>Как это устроено. Вход — текстовые описания, выход — видеоклипы примерно по пять секунд, дальше монтаж. Три студии и четыре разные модели; какие именно четыре, не называет ни один источник — первоисточник, где это могло бы быть сказано, закрыт платной стеной и прямым чтением не проверен. Пробел назван. На сам факт «три студии и четыре модели» стоит посмотреть отдельно, потому что он описывает устройство работы лучше любого тарифа: классическая кампания такого масштаба идёт через одного подрядчика с одним конвейером, а здесь заказчик разложил работу на три независимые студии и четыре разные модели — значит, ни одна из моделей не закрывала задачу целиком, и часть производственного решения состояла в том, какой кусок кому отдать. Это же объясняет, куда делись девяносто пять человек из ста: координация трёх подрядчиков, сведение материала, полученного четырьмя разными способами, юридическая проверка, музыка, адаптация под рынки. На чём обучены модели — не раскрыто.</a:t>
            </a:r>
          </a:p>
          <a:p>
            <a:r>
              <a:t/>
            </a:r>
          </a:p>
          <a:p>
            <a:r>
              <a:t>Контур обратной связи замкнут и измерен с обеих сторон — и стороны разошлись. Коммерческое медиаизмерение по ролику 2024 года дало падение доли положительных упоминаний с 12,2 до 3,4 процента и рост отрицательных с 13,5 до 53,4 процента, при том что методология этого измерения не раскрыта, и это честный пробел. Независимая потребительская панель дала повторному ролику 2025 года 5,9 балла из 5,9 возможных. Контролируемый тест и открытая аудитория разошлись полностью, и показывать это надо как есть, без выбора удобной половины.</a:t>
            </a:r>
          </a:p>
          <a:p>
            <a:r>
              <a:t/>
            </a:r>
          </a:p>
          <a:p>
            <a:r>
              <a:t>Цену компания раскрыть отказалась, сказав лишь, что вышло дешевле и быстрее обычного производства. Встречное утверждение, что обошлось примерно столько же, принадлежит разбору третьей стороны. Подавать это следует как спор двух утверждений: независимой цифры нет ни у одной стороны.</a:t>
            </a:r>
          </a:p>
          <a:p>
            <a:r>
              <a:t/>
            </a:r>
          </a:p>
          <a:p>
            <a:r>
              <a:t>Полезно сравнить этот случай с предыдущим по форме выигрыша. У Kalshi выигрыш взят в деньгах: сорок тысяч долларов классического бюджета против двух тысяч. Здесь выигрыш взят во времени: год против месяца, при том же числе людей и нераскрытой смете. Это два разных ответа на один и тот же вопрос «что подешевело», и оба честные — при условии, что названа единица. Подмена единицы и есть самая частая ошибка пересказов. Сказать «дешевле» нельзя: цифры нет. Сказать «меньше людей» нельзя: их столько же. Сказать можно одно — быстрее в двенадцать раз по циклу.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Ожидание зала почти всегда «меньше», и ошибка эта системная. Сообщение «пятеро специалистов сделали ролик» пересказывается как «пятеро заменили пятьдесят», хотя пятеро — это те, кто жал кнопку, а остальные девяносто пять никуда не делись: координация трёх подрядчиков, сведение материала, полученного четырьмя разными способами, юридическая проверка, музыка, адаптация под рынки.</a:t>
            </a:r>
          </a:p>
          <a:p>
            <a:r>
              <a:t/>
            </a:r>
          </a:p>
          <a:p>
            <a:r>
              <a:t>Проверять такие сообщения надо одним вопросом: названо число исполнителей операции или число участников работы? Это два разных числа, и в пресс-релизе почти всегда стоит первое, а читается оно как второе. Переносится вопрос куда угодно: «двое инженеров заменили отдел», «один аналитик делает работу пятерых» — почти всегда речь о том, сколько человек выполняет конкретную операцию, а не о том, сколько человек нужно, чтобы довести работу до выпуска.</a:t>
            </a:r>
          </a:p>
          <a:p>
            <a:r>
              <a:t/>
            </a:r>
          </a:p>
          <a:p>
            <a:r>
              <a:t>Что действительно изменилось, стоит назвать точно, потому что изменение огромное и его не надо преуменьшать. Срок: год против месяца, то есть двенадцатикратно по производственному циклу, и это единственная величина, подтверждённая первым лицом компании. Число проб: одна съёмка против свыше семидесяти тысяч сгенерированных клипов. Это и есть содержание перемены: обвал цены пробы и срока, за который пробу можно сделать. Высвобождения людей здесь не произошло.</a:t>
            </a:r>
          </a:p>
          <a:p>
            <a:r>
              <a:t/>
            </a:r>
          </a:p>
          <a:p>
            <a:r>
              <a:t>И отсюда следует то, ради чего весь кадр стоит. Если число людей не упало, а цена пробы упала на три порядка, значит люди занимаются чем-то другим, чем раньше. Чем именно — видно по составу ста человек: отбором, сведением, согласованием, проверкой прав, адаптацией. Работа переехала с производства на отбор и сборку, и это ровно тот ответ, который раздел даёт на вопрос лекции в своих единицах.</a:t>
            </a:r>
          </a:p>
          <a:p>
            <a:r>
              <a:t/>
            </a:r>
          </a:p>
          <a:p>
            <a:r>
              <a:t>Полезно удержать и то, чего этот кадр не утверждает. Он не утверждает, что генеративное производство нигде не сокращает занятость, — он утверждает, что в этом конкретном, самом полно задокументированном случае не сократило. Обобщать с одного случая нельзя в обе стороны: ни «людей станет меньше», ни «людей всегда останется столько же». Честная формулировка: названное число людей надо проверять вопросом выше, а отраслевой итог считать по занятости, которую никто из участников этой кампании не публиковал.</a:t>
            </a:r>
          </a:p>
          <a:p>
            <a:r>
              <a:t/>
            </a:r>
          </a:p>
          <a:p>
            <a:r>
              <a:t>Стоит разобрать, откуда берётся сама ошибка ожидания, потому что она повторится в любом разговоре об автоматизации. Пресс-релиз описывает операцию: сколько человек делало то, что раньше делала большая группа. Читатель достраивает недостающее: раз операцию делают пятеро, значит остальные не нужны. Достройка эта кажется логичной и почти всегда неверна, потому что операция — только часть работы. Вокруг неё стоят постановка задачи, согласование, права, адаптация, приёмка, и ни одна из этих частей от удешевления операции не исчезает. В разобранном случае это видно в числах: пятеро нажимали кнопку, сто человек делали кампанию.</a:t>
            </a:r>
          </a:p>
          <a:p>
            <a:r>
              <a:t/>
            </a:r>
          </a:p>
          <a:p>
            <a:r>
              <a:t>Второе наблюдение того же ряда касается срока. Сокращение цикла с года до месяца — это не только быстрее, это другой способ принимать решения. При годовом цикле заказчик обязан угадать, что будет уместно через год, и ошибка стоит всего производства. При месячном цикле можно начинать позже, когда обстановка известна точнее, и переделать, если не сошлось. Поэтому сокращение срока ценнее для заказчика, чем простое удешевление: оно снимает необходимость угадывать.</a:t>
            </a:r>
          </a:p>
          <a:p>
            <a:r>
              <a:t/>
            </a:r>
          </a:p>
          <a:p>
            <a:r>
              <a:t>И третье, самое важное для инженера. Там, где не изменилось число людей, но изменилось число проб, следует ожидать роста нагрузки на отбор и сборку. Семьдесят тысяч клипов надо просмотреть, рассортировать, сверить между собой по персонажу, свету и цвету, свести в единый ряд и проверить на права. Это работа, которой при одной съёмке просто не существовало: там отбор шёл из нескольких дублей одного плана. Нагрузка не исчезла и не уменьшилась — она переехала, и считать её надо в человеко-днях просмотра, а не в стоимости генерации.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точки, которые задают шкалу всему разделу: одна показывает, как дёшево стало делать промежуточную операцию, вторая — сколько стоило дорогое производство прямо перед генеративной волной.</a:t>
            </a:r>
          </a:p>
          <a:p>
            <a:r>
              <a:t/>
            </a:r>
          </a:p>
          <a:p>
            <a:r>
              <a:t>Первая. Эффекты фильма «Всё везде и сразу», получившего «Оскар» за лучшую картину, сделала независимая студия из пяти человек: они закрыли более 80 процентов из примерно 500 планов с эффектами. Художник эффектов Эван Халлек применил инструмент выделения фона к сценам «вселенной камней», где персонажей требовалось вырезать из кадра покадрово. Классический режим он описал как очень медленный и мучительный процесс и назвал базу — полдня на один план; с моделью, по его словам, он вырезает персонажей и чисто кладёт на подложку за минуты.</a:t>
            </a:r>
          </a:p>
          <a:p>
            <a:r>
              <a:t/>
            </a:r>
          </a:p>
          <a:p>
            <a:r>
              <a:t>Это самый бесспорный случай раздела, и ценен он именно наличием базы. Названы обе стороны: полдня и минуты. Кратность из них считается, и она огромная, но считается она от измеренного режима, а не от воздуха. Вторая важная деталь: это промежуточный шаг, результат доводился вручную, и ничего заметного вправо не уехало — ни спора об авторстве, ни правового вопроса, ни потери рабочих мест внутри самой студии. Пятеро получили возможность взять заказ, который прежде потребовал бы большой команды, и взяли его.</a:t>
            </a:r>
          </a:p>
          <a:p>
            <a:r>
              <a:t/>
            </a:r>
          </a:p>
          <a:p>
            <a:r>
              <a:t>Вторая точка — «Ирландец» 2019 года.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a:t>
            </a:r>
          </a:p>
          <a:p>
            <a:r>
              <a:t/>
            </a:r>
          </a:p>
          <a:p>
            <a:r>
              <a:t>Здесь самое ценное — оговорка супервайзера эффектов, и её нельзя терять: в пересчёте на один план это стоит столько же, сколько в обычном фильме с эффектами, а дорого выходит потому, что планов здесь на два фильма. Это и есть правильная единица счёта. Без неё 159 миллионов читаются как цена технологии; с ней видно, что цена плана была обычной, а необычным был объём. Ровно та же подмена единицы встречается во всех трёх разборах раздела, и полезно увидеть её сначала на классическом материале, где никакой модели ещё нет.</a:t>
            </a:r>
          </a:p>
          <a:p>
            <a:r>
              <a:t/>
            </a:r>
          </a:p>
          <a:p>
            <a:r>
              <a:t>Зачем держать обе точки рядом. Между ними пять лет и две противоположные истории про одну и ту же отрасль: в одной технология позволила пятерым сделать работу большой команды, в другой она добавила тридцать четыре миллиона к бюджету. Обе правдивы, и обе про эффекты. Разница в том, на что технология тратилась: в первом случае на сокращение рутины, во втором на увеличение объёма сложной работы. Это общий закон всей шестидесятилетней цепочки удешевления, которую лекция прослеживает с самого начала: объём произведённого растёт быстрее, чем падает цена единицы, и экономия на операции не превращается в экономию на проекте автоматически.</a:t>
            </a:r>
          </a:p>
          <a:p>
            <a:r>
              <a:t/>
            </a:r>
          </a:p>
          <a:p>
            <a:r>
              <a:t>Относительно этих двух масштабов и надо читать числа разборов. Ролик за две тысячи долларов — это очень дёшево на фоне сорока тысяч классического бюджета, и это очень мало на фоне ста пятидесяти девяти миллионов. Семьдесят тысяч сгенерированных клипов — это огромный объём проб и при этом семнадцать-сорок две тысячи долларов вычислений, то есть доли процента от бюджета большой кампании. Без двух опорных точек оба числа читаются как сенсация; с ними они читаются как то, чем являются, — как перемещение дорогого места внутри цепочки.</a:t>
            </a:r>
          </a:p>
          <a:p>
            <a:r>
              <a:t/>
            </a:r>
          </a:p>
          <a:p>
            <a:r>
              <a:t>Стоит обратить внимание и на то, как в первом случае устроена сама похвала инструменту. Художник не говорит «инструмент сделал работу за меня»; он описывает конкретную операцию — вырезать персонажа из кадра и положить на подложку, — и называет время до и после. Это образцовая формулировка результата, и её полезно требовать от любого отчёта о внедрении: названа операция, названы обе стороны по времени, названо, что осталось человеку. Отчёт, в котором стоит только кратность, такой проверки не проходит.</a:t>
            </a:r>
          </a:p>
          <a:p>
            <a:r>
              <a:t/>
            </a:r>
          </a:p>
          <a:p>
            <a:r>
              <a:t>Второй случай полезен противоположным уроком. Там тоже есть число, и число огромное, но сама по себе величина бюджета ничего не говорит ни о технологии, ни о её эффективности, пока не названа единица. Правильная единица названа супервайзером, и она переворачивает чтение: цена плана обычная, необычен объём. Без этой строки «Ирландец» читается как доказательство того, что цифровое омоложение разорительно, а с ней — как доказательство того, что разорителен объём, который режиссёр выбрал по художественным соображениям.</a:t>
            </a:r>
          </a:p>
          <a:p>
            <a:r>
              <a:t/>
            </a:r>
          </a:p>
          <a:p>
            <a:r>
              <a:t>Отсюда общий приём чтения чужих чисел, который работает во всех трёх модальностях лекции. Любое большое число в производстве раскладывается на цену единицы и количество единиц. Пока оно не разложено, непонятно, о чём оно свидетельствует. Четыреста тысяч генераций — это много проб или дорогая проба? Сто пятьдесят девять миллионов — это дорогая технология или много планов? Семьдесят тысяч клипов — это дорогая кампания или дешёвая проба, повторённая семьдесят тысяч раз? Ответ в каждом случае даёт только разложение, и в двух из трёх случаев оно уже сделано за нас участниками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события за два года, и каждое — порог, после которого что-то перестало быть экспериментом.</a:t>
            </a:r>
          </a:p>
          <a:p>
            <a:r>
              <a:t/>
            </a:r>
          </a:p>
          <a:p>
            <a:r>
              <a:t>Первое. Фильм «Here» 2024 года: омоложение Тома Хэнкса и Робин Райт считалось во время съёмки, на мониторе, то есть режиссёр и актёр впервые видели то, что снимают. Весь фильм уложился в бюджет 45 миллионов долларов — меньше, чем один только рост бюджета «Ирландца» со 125 до 159 миллионов. Вторая половина обязательна: фильм разгромлен критикой, и часть претензий — именно к «пластиковым» лицам. Технический скачок состоялся, художественный не состоялся; подавать это как триумф нельзя. Полезно держать эти две половины вместе: дешевле и быстрее не означает лучше, и в этом случае разрыв между двумя утверждениями виден лучше всего.</a:t>
            </a:r>
          </a:p>
          <a:p>
            <a:r>
              <a:t/>
            </a:r>
          </a:p>
          <a:p>
            <a:r>
              <a:t>Второе. Сериал «Вечнаут», апрель 2025 года: обрушение здания в Буэнос-Айресе — первый кадр, сгенерированный моделью и попавший в финальный монтаж оригинального сериала площадки. Заявлено сооснователем компании на квартальном звонке: сделано в десять раз быстрее, чем классическими средствами эффектов. И здесь стоит остановиться: знаменателя у этой кратности нет. Ни абсолютного срока — классический режим назван «месяцами», сколько именно, не сказано, — ни стоимости компания не называет. Это образец того, как кратность подаётся без базы, и стоит он на кадре именно в этом качестве — как пример утверждения, которое нельзя проверить. Правило, которое отсюда уносится: услышав «в N раз быстрее», спрашивайте, быстрее чего именно и сколько это «чего» занимало.</a:t>
            </a:r>
          </a:p>
          <a:p>
            <a:r>
              <a:t/>
            </a:r>
          </a:p>
          <a:p>
            <a:r>
              <a:t>Третье. «Watch the Skies», май 2025 года: первый полный метр с визуальным дубляжом. Шведские актёры сами переозвучили свои реплики по-английски, а модель переписала движение губ в кадре под английскую артикуляцию. Классический режим назван обеими половинами: либо субтитры и кратное падение сборов на англоязычном рынке, либо дубляж чужими голосами с заметным рассогласованием губ. Премьера в США 9 мая 2025 года, работа одобрена профсоюзом — тем самым, который в 2023 году бастовал против применения моделей. Вправо уехал вопрос, ответа на который пока нет: что теперь считать оригинальной версией фильма и какая из версий подаётся на фестиваль.</a:t>
            </a:r>
          </a:p>
          <a:p>
            <a:r>
              <a:t/>
            </a:r>
          </a:p>
          <a:p>
            <a:r>
              <a:t>Четвёртое. Супербоул LX, 9 февраля 2026 года: первый преимущественно сгенерированный национальный ролик самого дорогого рекламного эфира планеты — тридцать секунд, марка водки, студия Silverside AI. Отраслевая оценка «половина и более роликов того эфира использовали генеративные средства на каком-то этапе» — это экспертная оценка, измерением она не является, и так её и надо называть. Что измеримо: от первого брендового ролика на генеративной модели в июне 2024 года до национального ролика Супербоула прошло двадцать месяцев.</a:t>
            </a:r>
          </a:p>
          <a:p>
            <a:r>
              <a:t/>
            </a:r>
          </a:p>
          <a:p>
            <a:r>
              <a:t>Пятый случай того же ряда на кадр не вынесен, но назвать его стоит, потому что он про другое. В сентябре 2024 года состоялась первая сделка генеративной компании с голливудской студией: модель обучается на библиотеке самой студии; вице-председатель ожидает экономии миллионов и миллионов долларов, начинают с раскадровок, дальше фоны и эффекты. В 2026 году студия входит в капитал разработчика и планирует серию по своим правам. Содержательная сторона здесь одна и она двойная: обучение на собственной библиотеке — единственный способ обойти спор о происхождении данных и одновременно способ сделать стиль студии воспроизводимым без её авторов.</a:t>
            </a:r>
          </a:p>
          <a:p>
            <a:r>
              <a:t/>
            </a:r>
          </a:p>
          <a:p>
            <a:r>
              <a:t>Что общего у четырёх порогов. Ни один из них не является демонстрацией: каждый — выпущенный продукт, у которого есть дата, заказчик и аудитория. Именно этим они отличаются от роликов, которыми меряют прогресс в новостях. И ни один из них не отменил предыдущий способ работы: омоложение на площадке не отменило постпроизводство, визуальный дубляж не отменил субтитры, ролик Супербоула не отменил съёмку. Порог — это момент, когда способ становится допустимым, а не момент, когда предыдущий способ исчезает.</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языковой моделью здесь строят сами разработчики, и цитировать их стоит дословно: там, где у больших языковых моделей есть текстовые токены, у видеомодели есть визуальные патчи. Устройство описано в два шага: сначала видео сжимается в низкоразмерное латентное пространство, затем представление раскладывается на патчи пространства-времени, и полученные патчи работают как токены трансформера.</a:t>
            </a:r>
          </a:p>
          <a:p>
            <a:r>
              <a:t/>
            </a:r>
          </a:p>
          <a:p>
            <a:r>
              <a:t>Из этой формулировки следуют три вещи, и каждая практична. Первая: видео и изображение — одна задача, потому что изображение это просто видео из одного кадра. Отсюда и обучение на смеси видео с изображениями, и перенос архитектуры из предыдущего раздела без переделки. Вторая: разрешение и длительность — это форма сетки патчей. На работе размер выхода задаётся тем, что случайно инициализированные патчи расставляются в сетку нужного размера; поэтому одна и та же модель выдаёт и горизонтальный кадр, и вертикальный, и всё между ними, без отдельных режимов. Третья: та же развязка «токенизатор отдельно, модель отдельно», что в изображении и в тексте.</a:t>
            </a:r>
          </a:p>
          <a:p>
            <a:r>
              <a:t/>
            </a:r>
          </a:p>
          <a:p>
            <a:r>
              <a:t>Арифметика токенов, которую стоит уметь воспроизвести на бумаге, устроена так. Латентных кадров получается столько: число кадров минус один, делённое на временной коэффициент сжатия, плюс один. Латентная сетка — высота и ширина, делённые на пространственный коэффициент и на размер патча. Токенов — произведение трёх величин. Метод проверяется на чужих опубликованных числах и воспроизводит их: для одной конфигурации расчёт даёт 73 728 токенов при опубликованных «около 73 тысяч»; для другой модели на одном автокодировщике — 76 032 при опубликованных «76 тысяч», на другом — 19 008 при опубликованных «19 тысяч».</a:t>
            </a:r>
          </a:p>
          <a:p>
            <a:r>
              <a:t/>
            </a:r>
          </a:p>
          <a:p>
            <a:r>
              <a:t>Целевой расчёт для пяти секунд при 24 кадрах в секунду, то есть 121 кадра, с автокодировщиком, сжимающим вчетверо по времени и в восемь раз по каждой пространственной оси. Одна картинка 1024 на 1024 — 4 096 токенов. Один кадр высокой чёткости как картинка — 8 040. Пять секунд в 720p — 111 600 токенов, в двадцать семь раз больше картинки. Пять секунд в 1080p — 249 240 токенов, в шестьдесят один раз больше. Те же пять секунд покадрово, без сжатия по времени, — 972 840 токенов, и разница в 3,9 раза есть ровно выигрыш временного сжатия.</a:t>
            </a:r>
          </a:p>
          <a:p>
            <a:r>
              <a:t/>
            </a:r>
          </a:p>
          <a:p>
            <a:r>
              <a:t>Формулировать это надо аккуратно. Разрыв на два-три порядка верен против текста: пять секунд видео — это полтораста страниц, полтора романа ради пяти секунд. Против картинки разрыв гораздо скромнее, и раздувать его нечестно: двадцать семь — шестьдесят один раз, полтора порядка. Против контекста современной языковой модели разрыв уже закрылся: четверть миллиона токенов меньше миллионного окна. Цена сидит в другом: по этим токенам надо прогнать двадцать-пятьдесят шагов расшумления, каждый с полным трёхмерным вниманием и без всякого кэша.</a:t>
            </a:r>
          </a:p>
          <a:p>
            <a:r>
              <a:t/>
            </a:r>
          </a:p>
          <a:p>
            <a:r>
              <a:t>И одна деталь, соединяющая этот раздел с предыдущим. С мая 2025 года ведущая видеомодель порождает изображение вместе со звуком, причём диффузионный процесс применяется к временным аудиолатентам и пространственно-временным видеолатентам одновременно: звук и изображение расшумляются совместно, в одном процессе, каждый в своём латентном представлении. Отдельной архитектурной статьи с деталями найти не удалось — карточка модели здесь потолок публичности, и это надо сказать вслух, оставив правдоподобные догадки при себе.</a:t>
            </a:r>
          </a:p>
          <a:p>
            <a:r>
              <a:t/>
            </a:r>
          </a:p>
          <a:p>
            <a:r>
              <a:t>Инженерный смысл развязки «токенизатор отдельно, модель отдельно» в этой модальности тот же, что в двух предыдущих, и он стоит произнесения вслух. Всё, что определяет длину, разрешение и стоимость генерации, решается на стороне автокодировщика — то есть до того, как в дело вступит сама генеративная модель. Размер модели в этих расчётах не участвует ни разу: ни в числе патчей, ни в числе пар внимания, ни в цене обучения, о которой речь пойдёт дальше. Это тот же вывод, что в звуке дала частота кадров кодека, и его полезно проверять на любой новой модальности первым вопросом: что здесь работает словарём и сколько единиц этого словаря уходит на минуту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Самое наглядное объяснение того, почему разработчики платят за полное трёхмерное внимание, дала подпись к схеме в одной из статей: при раздельном пространственном и временном внимании голова человека в кадре с номером i плюс один не может напрямую обратиться к голове в кадре i, и визуальная информация передаётся только неявно, через другие фоновые патчи. Механика простая: раздельное временное внимание смотрит вдоль одной и той же пространственной позиции, и если объект между кадрами сдвинулся на пять токенов вбок, прямого канала «голова тут — голова там» нет.</a:t>
            </a:r>
          </a:p>
          <a:p>
            <a:r>
              <a:t/>
            </a:r>
          </a:p>
          <a:p>
            <a:r>
              <a:t>Цена посчитана. Для пяти секунд высокой чёткости общее число патчей 249 240, сетка 31 на 8 040. Полное трёхмерное внимание даёт 249 240 в квадрате, то есть 62,1 миллиарда пар. Раздельное даёт 31, умноженное на квадрат 8 040, плюс 8 040, умноженное на квадрат 31, то есть 2,01 миллиарда пар. Раздельное дешевле в 30,9 раза. Ведущие модели сознательно платят тридцатикратную цену по числу пар внимания за то, чтобы голова в следующем кадре видела голову в предыдущем напрямую. Это образцовый инженерный размен: купили согласованность за вычисления и знают, сколько заплатили.</a:t>
            </a:r>
          </a:p>
          <a:p>
            <a:r>
              <a:t/>
            </a:r>
          </a:p>
          <a:p>
            <a:r>
              <a:t>Честная оговорка, обязательная для этого раздела. Технический отчёт по самой известной видеомодели прямо сообщает: детали модели и реализации в этот отчёт не включены. Там нет ни коэффициентов сжатия, ни размера патча, ни числа параметров, ни числа токенов. Любая конкретная цифра по ней, гуляющая по сети, — реконструкция. Поэтому всё счётное ниже взято у открытых моделей, которые свои параметры публикуют.</a:t>
            </a:r>
          </a:p>
          <a:p>
            <a:r>
              <a:t/>
            </a:r>
          </a:p>
          <a:p>
            <a:r>
              <a:t>Что в этой модальности осталось точно таким же, как в неподвижном изображении, стоит проговорить отдельно — иначе раздел читается как рассказ про новую технику, которой он не является. Автокодировщик работает токенизатором, модель стоит поверх него. Расшумление переписывает все токены на каждом шаге, а не дописывает их по одному. Кэша нет и быть не может, и вся экономика тарифов языковых моделей, построенная на повторном использовании посчитанного контекста, сюда не переносится ни строчкой.</a:t>
            </a:r>
          </a:p>
          <a:p>
            <a:r>
              <a:t/>
            </a:r>
          </a:p>
          <a:p>
            <a:r>
              <a:t>Добавляется вместе со временем ровно три вещи. Сжатие идёт не только по пространству, но и по времени. Позиционное кодирование становится тройным: две пространственные координаты и одна временная, и каналы между осями делятся в фиксированной пропорции. И появляется тот самый выбор между полным трёхмерным вниманием и раздельным, у которого есть посчитанная цена. Первые две добавки дешёвые, третья — главная статья расхода всей модальности.</a:t>
            </a:r>
          </a:p>
          <a:p>
            <a:r>
              <a:t/>
            </a:r>
          </a:p>
          <a:p>
            <a:r>
              <a:t>Практический вывод, который переносится за пределы видео: когда архитектура предлагает выбор между «дорого и связно» и «дёшево и несвязно», спрашивайте, во что именно обходится связность и что именно теряется без неё. Здесь на оба вопроса есть числа — тридцатикратная цена и отсутствие прямого канала между кадрами, — и поэтому разговор инженерный. Там, где таких чисел нет, выбор делается на вкус, и это надо называть своим именем.</a:t>
            </a:r>
          </a:p>
          <a:p>
            <a:r>
              <a:t/>
            </a:r>
          </a:p>
          <a:p>
            <a:r>
              <a:t>Как проверить этот расчёт самому, не поверив на слово. Число патчей для пяти секунд высокой чёткости — 249 240, сетка 31 на 8 040. Полное трёхмерное внимание сравнивает каждый патч с каждым: 249 240 в квадрате даёт 62,1 миллиарда пар. Раздельное сравнивает патчи внутри кадра и вдоль времени по отдельности: 31, умноженное на квадрат 8 040, плюс 8 040, умноженное на квадрат 31, — это 2,01 миллиарда. Отношение 30,9. Арифметика умещается в две строки, и в этом её ценность: число, которое можно пересчитать на бумаге, перестаёт быть рекламным.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Отличий трёхмерного автокодировщика от картиночного три, и каждое измерено, а не заявлено.</a:t>
            </a:r>
          </a:p>
          <a:p>
            <a:r>
              <a:t/>
            </a:r>
          </a:p>
          <a:p>
            <a:r>
              <a:t>Первое: свёртки трёхмерные, сжатие идёт и по пространству, и по времени. Авторы одной из открытых моделей формулируют так: автокодировщик сжимает видео и по пространственным, и по временной размерностям, и эта стратегия существенно сокращает длину последовательности и помогает предотвратить мерцание. Эффект посчитан в абляции: переход от двумерного автокодировщика к трёхмерному снижает показатель мерцания с 93,2 до 86,3. Важно, что это замер: убрали одну составляющую — число ухудшилось.</a:t>
            </a:r>
          </a:p>
          <a:p>
            <a:r>
              <a:t/>
            </a:r>
          </a:p>
          <a:p>
            <a:r>
              <a:t>Второе: каузальность по времени — буквально. Авторы пишут, что применяют каузальную по времени свёртку, которая размещает все отступы в начале свёрточного пространства, и это гарантирует, что будущая информация не влияет на настоящие и прошлые предсказания. Это тот же приём, что каузальная маска внимания в языковой модели, только реализованный в свёртке через асимметричный отступ. Параллель здесь точная, и её стоит проговорить вслух: один и тот же принцип — «не подглядывать вперёд» — в двух разных по устройству слоях.</a:t>
            </a:r>
          </a:p>
          <a:p>
            <a:r>
              <a:t/>
            </a:r>
          </a:p>
          <a:p>
            <a:r>
              <a:t>Побочное следствие, полезное как мелочь, которую студент проверит сам. Первый кадр кодируется отдельно, только пространственно, откуда формула: латентных кадров равно числу кадров, делённому на коэффициент, плюс один. Поэтому в интерфейсах видеомоделей стоят странные на вид числа кадров — 49, 81, 121, 129, 257, все вида «кратное четырём плюс один» или «кратное восьми плюс один». Когда вы видите «129 кадров», вы теперь знаете, почему не 128.</a:t>
            </a:r>
          </a:p>
          <a:p>
            <a:r>
              <a:t/>
            </a:r>
          </a:p>
          <a:p>
            <a:r>
              <a:t>Третье: каналов больше — с трёх до шестнадцати, а у самой агрессивно сжимающей модели до 128, чтобы компенсировать силу сжатия. Логика здесь простая: чем сильнее мы сжимаем по пространству и времени, тем больше информации должен нести каждый оставшийся элемент, иначе декодировщик не восстановит то, что было.</a:t>
            </a:r>
          </a:p>
          <a:p>
            <a:r>
              <a:t/>
            </a:r>
          </a:p>
          <a:p>
            <a:r>
              <a:t>Реальные коэффициенты сжатия по времени, высоте и ширине у моделей, которые публикуют свои параметры: у трёх моделей 2024–2025 годов это четыре по времени и восемь по каждой пространственной оси при шестнадцати каналах; у одной — восемь по всем трём осям; у ещё одной — восемь по времени и тридцать два по каждой пространственной оси при 128 каналах, причём у неё размер патча равен единице, то есть отдельного шага разбиения на патчи нет вовсе. Полезно видеть, что разброс здесь большой и что выбор коэффициента — это именно проектное решение, а не отраслевой стандарт.</a:t>
            </a:r>
          </a:p>
          <a:p>
            <a:r>
              <a:t/>
            </a:r>
          </a:p>
          <a:p>
            <a:r>
              <a:t>Где предел сжатия — измерено. В той же абляции авторы дошли до коэффициента шестнадцать на шестнадцать на восемь и записали результат: когда пространственно-временное сжатие слишком агрессивно, даже при соответствующем увеличении числа каналов сходимость модели становится крайне затруднённой. Бесплатного сжатия не бывает, и здесь это зафиксировано строкой таблицы, без всяких рассуждений.</a:t>
            </a:r>
          </a:p>
          <a:p>
            <a:r>
              <a:t/>
            </a:r>
          </a:p>
          <a:p>
            <a:r>
              <a:t>Что значит «причинный» на практике монтажа. Каузальность по времени означает, что первые кадры клипа закодированы без оглядки на последующие, и это делает возможными две вещи. Первая: клип можно кодировать потоком, не дожидаясь его конца, — значит, возможна работа в реальном времени и продление уже существующего фрагмента. Вторая: первый кадр существует как самостоятельная единица, и именно поэтому обусловливание на первый кадр работает так хорошо и так дёшево — его не надо вытаскивать из общего свёрнутого среза. Отсюда же практический совет, который стоит унести: если нужна предсказуемость, начинайте с кадра, оставив описание на второй шаг.</a:t>
            </a:r>
          </a:p>
          <a:p>
            <a:r>
              <a:t/>
            </a:r>
          </a:p>
          <a:p>
            <a:r>
              <a:t>Отдельно стоит сказать, почему мерцание вообще появляется и почему именно сжатие по времени его лечит. Если каждый кадр кодируется и восстанавливается независимо, то мелкие неточности восстановления в соседних кадрах оказываются разными: один и тот же участок фона в двух подряд идущих кадрах восстановится чуть по-разному, и глаз читает это как дрожание текстуры. Когда четыре кадра свёрнуты в один латентный срез, у них общая ошибка восстановления, и дрожать нечему: различия между кадрами внутри среза задаются уже не случайностью, а тем, что модель в этот срез записала. Мерцание — это ровно та цена, которую платит покадровая обработка, и платит она её даже тогда, когда каждый отдельный кадр выглядит безупречно.</a:t>
            </a:r>
          </a:p>
          <a:p>
            <a:r>
              <a:t/>
            </a:r>
          </a:p>
          <a:p>
            <a:r>
              <a:t>И вторая сторона того же приёма, о которой стоит помнить при монтаже. Поскольку кадры внутри среза существуют не по отдельности, точная покадровая правка внутри сгенерированного фрагмента невозможна тем же способом, каким правят отснятый материал: нельзя заменить один кадр из четырёх, оставив три нетронутыми, потому что в латентном представлении этого одного кадра нет. Правка идёт либо целыми фрагментами, либо уже после декодирования, по готовому изображению, обычными средствами постпроизводства. Для монтажёра это означает, что сгенерированный материал ведёт себя как снятый на плёнку: его режут, и переписать его изнутри нечем.</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Квадратичность внимания даёт эффект, который стоит запомнить числом, потому что он объясняет почти всю экономику этой модальности.</a:t>
            </a:r>
          </a:p>
          <a:p>
            <a:r>
              <a:t/>
            </a:r>
          </a:p>
          <a:p>
            <a:r>
              <a:t>Замыкающая цифра из открытой работы: обучение на видео из 129 кадров при разрешении 768 точек в сорок раз медленнее, чем при 256 точках. Авторы называют причину сами: разрыв возникает из-за квадратичной вычислительной сложности самовнимания при росте числа токенов.</a:t>
            </a:r>
          </a:p>
          <a:p>
            <a:r>
              <a:t/>
            </a:r>
          </a:p>
          <a:p>
            <a:r>
              <a:t>Поясним, откуда берётся именно сорок, потому что умение воспроизвести этот счёт полезнее, чем умение запомнить результат. Втрое по стороне кадра — это вдевятеро по числу точек, значит примерно вдевятеро по числу патчей. Внимание квадратично по числу патчей, то есть даёт около восьмидесяти раз. Остальная часть сети — свёртки, полносвязные слои, нормализации — растёт линейно, то есть вдевятеро, и разбавляет этот множитель. Измеренные сорок лежат между линейным девятикратным и квадратичным восьмидесятикратным ростом — ровно там, где и должны лежать для сети, где внимание составляет заметную, но не подавляющую долю вычислений.</a:t>
            </a:r>
          </a:p>
          <a:p>
            <a:r>
              <a:t/>
            </a:r>
          </a:p>
          <a:p>
            <a:r>
              <a:t>Полезно, что это сходится. Арифметика из предыдущего кадра предсказывает порядок величины, и опубликованный замер его подтверждает. Это нечастая ситуация: обычно между расчётом на бумаге и измерением на железе лежит множитель, который никто не может объяснить. Здесь объяснение есть, и оно проверяемо.</a:t>
            </a:r>
          </a:p>
          <a:p>
            <a:r>
              <a:t/>
            </a:r>
          </a:p>
          <a:p>
            <a:r>
              <a:t>Разрешение выросло втрое — обучение замедлилось в сорок раз. На этой арифметике держится всё, что дальше говорится про стоимость: длина, разрешение и частота кадров покупаются нелинейно. Прейскуранты это честно отражают: у одного из поставщиков десятисекундный клип стоит ровно втрое дороже пятисекундного, то есть секунда длинного клипа на пятьдесят процентов дороже. Скидки за объём здесь нет, есть наценка — и это прямо противоположно тому, к чему приучают тарифы на вычисления в других областях.</a:t>
            </a:r>
          </a:p>
          <a:p>
            <a:r>
              <a:t/>
            </a:r>
          </a:p>
          <a:p>
            <a:r>
              <a:t>Отсюда же три ответа на вопрос, который студент задаёт первым: почему клип длится пять-десять секунд.</a:t>
            </a:r>
          </a:p>
          <a:p>
            <a:r>
              <a:t/>
            </a:r>
          </a:p>
          <a:p>
            <a:r>
              <a:t>Квадратичность. Удвоение длины при полном трёхмерном внимании учетверяет стоимость внимания; измеренное подтверждение — сорок к одному выше.</a:t>
            </a:r>
          </a:p>
          <a:p>
            <a:r>
              <a:t/>
            </a:r>
          </a:p>
          <a:p>
            <a:r>
              <a:t>Память. Четверть миллиона токенов на пять секунд высокой чёткости при двадцати-пятидесяти шагах расшумления упирается в предел одного вычислительного узла; ведущая модель держит для этого четыре вида параллелизма одновременно.</a:t>
            </a:r>
          </a:p>
          <a:p>
            <a:r>
              <a:t/>
            </a:r>
          </a:p>
          <a:p>
            <a:r>
              <a:t>Данные. Обучающие клипы сами короткие: в наборе одной из открытых моделей 35 миллионов односценовых клипов, каждый в среднем около шести секунд. Модель не видела длинных непрерывных сцен и потому их не умеет. Это ответ, который чаще всего упускают, а он самый прозаический и самый трудноустранимый: даже если бы вычисления были бесплатны, учиться длинной сцене было бы не на чем.</a:t>
            </a:r>
          </a:p>
          <a:p>
            <a:r>
              <a:t/>
            </a:r>
          </a:p>
          <a:p>
            <a:r>
              <a:t>Размен сформулирован разработчиками прямо: компромиссы в динамике движения ради временного визуального качества, ограниченная длительность видео в пять-десять секунд ради приоритета разрешения. Фактические пределы продуктов на октябрь 2026 года держатся в этой же полосе: четыре, шесть или восемь секунд у одного семейства, до двадцати секунд у другого, до десяти секунд со звуком у третьего, до шестидесяти секунд у отдельной модели с открытыми весами, оптимизированной под сжатие.</a:t>
            </a:r>
          </a:p>
          <a:p>
            <a:r>
              <a:t/>
            </a:r>
          </a:p>
          <a:p>
            <a:r>
              <a:t>Приёмы удлинения за три года прошли пять поколений, и перечислить их стоит, потому что каждое следующее лечит болезнь предыдущего. Расширение в лоб — достроить клип от последнего кадра; работает, накапливает ошибку. Скользящее окно расшумления — назначать больше шума кадрам, появляющимся позже, что отражает большую неопределённость относительно будущего. Независимые уровни шума на каждый токен — самая влиятельная идея линии: она соединяет переменную длину, свойственную авторегрессии, с управляемостью полнопоследовательной диффузии. Каузализация плюс дистилляция — двунаправленный трансформер переделывается в авторегрессионный, пятидесятишаговая модель дистиллируется в четырёхшаговую, появляется кэш и с ним 9,4 кадра в секунду на одной карте. Упаковка кадров по важности — сжимать контекст тем сильнее, чем менее важен кадр, и за счёт этого держать в фиксированном окне тысячи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главный вывод технического блока, и он подтверждает на материале видео то, что в двух предыдущих разделах уже прозвучало на своём материале.</a:t>
            </a:r>
          </a:p>
          <a:p>
            <a:r>
              <a:t/>
            </a:r>
          </a:p>
          <a:p>
            <a:r>
              <a:t>Единственная полная публичная раскладка стоимости обучения видеомодели принадлежит открытой работе, и заголовок статьи буквально гласит: обучение видеомодели коммерческого уровня за двести тысяч долларов. Раскладка по стадиям даёт в сумме 4 160 ускорительных дней при ставке два доллара за час. Арифметика перепроверяется в одно действие: 4 160, умноженные на 24, дают 99 840 ускорительных часов, а те, умноженные на два доллара, дают 199 680 долларов. Модель на 11 миллиардов параметров, качество сопоставимо с коммерческими аналогами.</a:t>
            </a:r>
          </a:p>
          <a:p>
            <a:r>
              <a:t/>
            </a:r>
          </a:p>
          <a:p>
            <a:r>
              <a:t>Перепроверять такие числа стоит всегда, и это самостоятельный навык. Заголовок называет круглое число; раскладка по стадиям даёт ускорительные дни; ставка за час названа отдельно. Если три величины между собой сходятся, заголовку можно верить. Если не сходятся — а это случается чаще, чем хотелось бы, — доверять нельзя ни одной из трёх.</a:t>
            </a:r>
          </a:p>
          <a:p>
            <a:r>
              <a:t/>
            </a:r>
          </a:p>
          <a:p>
            <a:r>
              <a:t>Источник удешевления авторы называют прямо, и это ни железо, ни размер модели. Они пишут, что выявили потенциальную избыточность в пространственном измерении и предложили поднять коэффициент пространственного сжатия до 32, оставив временной равным четырём; это дало пятикратное улучшение пропускной способности обучения. Их автокодировщик сокращает число токенов с 76 тысяч до 19 тысяч для пятисекундного видео при 24 кадрах в секунду и 768 точках, а скорость работы растёт более чем в десять раз.</a:t>
            </a:r>
          </a:p>
          <a:p>
            <a:r>
              <a:t/>
            </a:r>
          </a:p>
          <a:p>
            <a:r>
              <a:t>Запомнить стоит цепочку целиком: подняли коэффициент сжатия — вчетверо сократили число токенов — обучение подешевело до двухсот тысяч долларов. Каждое звено измерено, ни одно не является оценкой.</a:t>
            </a:r>
          </a:p>
          <a:p>
            <a:r>
              <a:t/>
            </a:r>
          </a:p>
          <a:p>
            <a:r>
              <a:t>Для масштаба полезно держать рядом другую исследовательскую видеомодель того же поколения: она обучалась на 6 144 ускорителях, каждый по 700 ватт, при 30 миллиардах параметров, и денежной оценки её авторы не публикуют. Разница между двумя работами не в том, что одна команда способнее другой, а в том, на какой параметр каждая нажимала.</a:t>
            </a:r>
          </a:p>
          <a:p>
            <a:r>
              <a:t/>
            </a:r>
          </a:p>
          <a:p>
            <a:r>
              <a:t>Отсюда вывод, который повторяется в лекции третий раз и каждый раз на новом материале. В видео коэффициент сжатия автокодировщика — рычаг сильнее размера модели и сильнее выбора решателя. Это ровно тот же вывод, что в звуке дала частота кадров кодека, и тот же, что в изображении даёт размер латентного патча. Три модальности, три разных параметра, один и тот же ответ: главный рычаг — токенизатор; размер модели здесь вторичен.</a:t>
            </a:r>
          </a:p>
          <a:p>
            <a:r>
              <a:t/>
            </a:r>
          </a:p>
          <a:p>
            <a:r>
              <a:t>Для инженера, который оценивает чужое заявление о прорыве, из этого следует практический вопрос. Когда вам говорят «новая модель вдвое дешевле», спрашивайте про токенизатор: изменился ли коэффициент сжатия, изменилась ли частота кадров, изменился ли размер патча. Число параметров и мощность железа отвечают на этот вопрос реже. Если изменился — объяснение найдено и его можно проверить. Если нет, а удешевление заявлено кратным, — скорее всего, сравниваются разные вещи: другое разрешение, другая длина, другой режим работы.</a:t>
            </a:r>
          </a:p>
          <a:p>
            <a:r>
              <a:t/>
            </a:r>
          </a:p>
          <a:p>
            <a:r>
              <a:t>И честная граница того же вывода. Сжатие покупается не бесплатно: предел измерен, и за ним сходимость модели становится крайне затруднённой даже при увеличенном числе каналов. Значит, рычаг конечен, и каждое следующее удвоение коэффициента даётся дороже предыдущего. Утверждение «главный рычаг — токенизатор» верно для сегодняшнего положения дел, а не навсегда; верным навсегда остаётся только метод — искать, где в конвейере сидит число единиц данных, и нажимать туда.</a:t>
            </a:r>
          </a:p>
          <a:p>
            <a:r>
              <a:t/>
            </a:r>
          </a:p>
          <a:p>
            <a:r>
              <a:t>Полезно удержать и то, почему этот рычаг оказался сильнее всех остальных именно в видео. Стоимость обучения складывается грубо из трёх множителей: сколько единиц данных обрабатывается, сколько операций приходится на единицу и сколько раз всё это повторяется. Размер модели влияет на второй множитель линейно. Число токенов влияет на первый множитель линейно, а через внимание — ещё и квадратично, потому что число пар растёт как квадрат числа токенов. Поэтому вчетверо меньше токенов даёт экономию заметно большую, чем вчетверо, и никакое уменьшение модели такого эффекта не даст, не разрушив качества.</a:t>
            </a:r>
          </a:p>
          <a:p>
            <a:r>
              <a:t/>
            </a:r>
          </a:p>
          <a:p>
            <a:r>
              <a:t>И ещё одно наблюдение, полезное за пределами этой модальности. Обе величины — коэффициент сжатия и размер модели — публикуются поставщиками с разной охотой. Число параметров называют почти всегда: оно звучит внушительно и ни к чему не обязывает. Коэффициент сжатия автокодировщика называют редко, и открытые модели здесь выгодно отличаются от закрытых. Когда в описании модели есть размер и нет токенизатора, это само по себе сведение: вам показали множитель, который легче объяснить, и спрятали тот, который на самом деле решает. Привычка спрашивать про второй — простой и дешёвый способ отличить техническое описание от рекламного.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главное ограничение модальности, и формулировать его надо именно так. Внутри модели нет сущности «объект», которая существовала бы между кадрами. Постоянство персонажа, одежды и предмета в руке — результат работы четырёх механизмов, и каждый из них конечен.</a:t>
            </a:r>
          </a:p>
          <a:p>
            <a:r>
              <a:t/>
            </a:r>
          </a:p>
          <a:p>
            <a:r>
              <a:t>Механизм первый: общий латент с временным сжатием. Четыре соседних кадра физически свёрнуты в один латентный срез, поэтому по отдельности они не существуют и расходиться им негде. Измеренный эффект — снижение мерцания с 93,2 до 86,3. Кончается он там, где кончается окно сжатия: между соседними срезами связи такого рода уже нет.</a:t>
            </a:r>
          </a:p>
          <a:p>
            <a:r>
              <a:t/>
            </a:r>
          </a:p>
          <a:p>
            <a:r>
              <a:t>Механизм второй: полное трёхмерное внимание — единственный, дающий прямую связь «объект здесь — объект там» при большом смещении. Его цена посчитана: тридцатикратная по числу пар внимания. Кончается он там, где кончается длина клипа, помещающегося в это внимание.</a:t>
            </a:r>
          </a:p>
          <a:p>
            <a:r>
              <a:t/>
            </a:r>
          </a:p>
          <a:p>
            <a:r>
              <a:t>Механизм третий: позиционное кодирование по трём осям — тот же приём, что в языковой модели, но координата теперь тройная, и каналы между осями делятся в фиксированной пропорции. Кончается он на том, что это кодирование сообщает модели, где элемент стоит, а не что это тот же самый элемент.</a:t>
            </a:r>
          </a:p>
          <a:p>
            <a:r>
              <a:t/>
            </a:r>
          </a:p>
          <a:p>
            <a:r>
              <a:t>Механизм четвёртый: обусловливание на первый кадр.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То есть задача переформулирована как достройка пропущенного во времени. Отсюда практический совет, который стоит унести: если нужна предсказуемость, начинайте с кадра, оставив описание на второй шаг, — половина неопределённости снимается одним настоящим кадром.</a:t>
            </a:r>
          </a:p>
          <a:p>
            <a:r>
              <a:t/>
            </a:r>
          </a:p>
          <a:p>
            <a:r>
              <a:t>Почему про это стоит говорить механизмами, а не одной фразой «иногда меняется куртка». Фраза описывает симптом и подсказывает, что дефект случайный и лечится перегенерацией. Перечень механизмов описывает причину и сразу говорит, где граница каждого: окно временного сжатия, длина клипа, помещающегося в полное трёхмерное внимание, и то обстоятельство, что позиционное кодирование отвечает на вопрос «где», а не на вопрос «тот же ли». Зная границы, можно заранее сказать, какая постановка задачи окажется внутри них, а какая снаружи, — и не тратить попытки там, где их тратить бессмысленно.</a:t>
            </a:r>
          </a:p>
          <a:p>
            <a:r>
              <a:t/>
            </a:r>
          </a:p>
          <a:p>
            <a:r>
              <a:t>Четвёртый механизм, обусловливание на первый кадр, стоит в этом ряду особняком, и потому он вынесен с этой схемы. Остальные три работают внутри модели и пользователю не видны; четвёртый — это то, что пользователь делает сам, подавая на вход готовый кадр вместо описания.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и задача переформулируется как достройка пропущенного во времени. Практический вывод из этого — единственная настройка во всём разделе, которая доступна снаружи и ничего не стоит: если нужна предсказуемость, начинайте с кадра, оставив описание на второй шаг.</a:t>
            </a:r>
          </a:p>
          <a:p>
            <a:r>
              <a:t/>
            </a:r>
          </a:p>
          <a:p>
            <a:r>
              <a:t>Порядок чтения схемы такой: сверху вниз механизмы идут от самого дешёвого и самого короткодействующего к самому дорогому. Общий латент бесплатен, но держит только четыре соседних кадра. Полное трёхмерное внимание держит весь клип, но стоит тридцатикратно. Позиционное кодирование стоит почти ничего и не держит ничего — оно только расставляет координаты. Суммарно этого хватает на клип в несколько секунд и не хватает ни на что длиннее, и это не недоработка конкретной модели, а свойство всего семейства.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это ломается, признают сами разработчики, и цитировать их надёжнее, чем критиков. Из того же отчёта, где модель хвалят: она неточно моделирует физику многих базовых взаимодействий, таких как разбивающееся стекло; другие взаимодействия, такие как поедание пищи, не всегда дают корректные изменения состояния объекта; перечислены несогласованности, развивающиеся в длинных образцах, и спонтанные появления объектов.</a:t>
            </a:r>
          </a:p>
          <a:p>
            <a:r>
              <a:t/>
            </a:r>
          </a:p>
          <a:p>
            <a:r>
              <a:t>Накопление ошибки названо в трёх независимых работах и в каждой своим именем. Первое: накопление ошибки в авторегрессионной генерации. Второе, точнее: смещение экспозиции — модели, обученные на истинном контексте, вынуждены на работе порождать последовательности, обусловленные собственными несовершенными выходами. Третье просто называется методами предотвращения дрейфа. Механизм один: каждый следующий кадр строится по предыдущему, а предыдущий уже слегка неверен, и ошибка складывается сама с собой. Лечится это обучением на собственных выходах — то есть тем, что модель во время обучения заставляют работать в том же режиме, в каком она будет работать потом.</a:t>
            </a:r>
          </a:p>
          <a:p>
            <a:r>
              <a:t/>
            </a:r>
          </a:p>
          <a:p>
            <a:r>
              <a:t>И самое важное наблюдение, которое снимает романтику с понятия «модель мира»: объектное постоянство в интерактивном режиме — это размер окна; свойством мира оно не является. Два высказывания об одном и том же факте: у одной системы — зрительная память, простирающаяся назад примерно на одну минуту; у другой — прошлые кадры в скользящем кэше, более старые кадры вытесняются. Первое сказано языком продукта, второе языком инженера. Это одно и то же ограничение.</a:t>
            </a:r>
          </a:p>
          <a:p>
            <a:r>
              <a:t/>
            </a:r>
          </a:p>
          <a:p>
            <a:r>
              <a:t>Что это означает для задач, где важна одна и та же вещь в двух планах. Если продукт требует, чтобы предмет, человек или интерфейс выглядели одинаково в разных кадрах — логотип на упаковке, лицо актёра, модель автомобиля, — то модель этого не гарантирует ни при каких настройках, и обеспечивать это придётся снаружи: закреплением облика опорными кадрами до генерации, проверкой каждого плана человеком, монтажом так, чтобы спорный предмет не попадал в два плана подряд. Рабочий ответ отрасли уже оформился продуктово: модель, вышедшая в октябре 2026 года, принимает до десяти опорных кадров и до пятнадцати референсов на одну генерацию — это прямой ответ ровно на эту задачу, и то, что он понадобился, подтверждает: сама по себе задача не решена.</a:t>
            </a:r>
          </a:p>
          <a:p>
            <a:r>
              <a:t/>
            </a:r>
          </a:p>
          <a:p>
            <a:r>
              <a:t>И критерий, который можно проверить до запуска, а не после приёмки. Спросите, есть ли в вашем ролике объект, который зритель обязан опознать как один и тот же в двух разных планах. Если есть — закладывайте отбор и ручную сверку в смету; если нет — ограничение вам ничего не стоит.</a:t>
            </a:r>
          </a:p>
          <a:p>
            <a:r>
              <a:t/>
            </a:r>
          </a:p>
          <a:p>
            <a:r>
              <a:t>Полезно заметить, какого рода это свидетельство. Все четыре утверждения на кадре — слова самих разработчиков, взятые из того же отчёта и тех же статей, где модели хвалят. Это другой класс доказательства, чем разбор критика: производитель, перечисляющий собственные отказы, не заинтересован их преувеличивать, и список получается коротким, конкретным и проверяемым. Привычка искать именно такие формулировки — раздел «ограничения» в карточке модели, абзац «failure modes» в отчёте — экономит недели: там обычно написано ровно то, обо что вы споткнётесь на второй неделе работы.</a:t>
            </a:r>
          </a:p>
          <a:p>
            <a:r>
              <a:t/>
            </a:r>
          </a:p>
          <a:p>
            <a:r>
              <a:t>И последнее, что стоит унести с этого кадра. Два высказывания об одном и том же ограничении — «зрительная память примерно на одну минуту» и «прошлые кадры в скользящем кэше, более старые вытесняются» — различаются только адресатом. Первое написано для пользователя и звучит как свойство модели; второе написано для инженера и звучит как размер буфера. Когда продуктовая формулировка и инженерная расходятся настолько, верить надо инженерной: она говорит, что будет, когда окно кончится, а продуктовая этот момент обходит молчанием.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есть редкая вещь: ограничение померено, причём с образцовой базой сравнения, и поэтому кадр стоит дольше остальных.</a:t>
            </a:r>
          </a:p>
          <a:p>
            <a:r>
              <a:t/>
            </a:r>
          </a:p>
          <a:p>
            <a:r>
              <a:t>Устройство испытания. Взято 396 реальных видеозаписей, 66 сценариев, по три ракурса на сценарий, и каждая сцена снята дважды. Второй дубль задаёт верхнюю планку: он показывает, насколько сама реальность повторяет себя, когда один и тот же опыт ставят второй раз, и нормируется в сто процентов. Это честная база, и выбор её — лучшее, что есть в этой работе. Сравнивать модель с абстрактным идеалом бессмысленно: идеал недостижим и для самой реальности, потому что мяч, брошенный второй раз, падает немного иначе. Сравнение с воспроизводимостью мира даёт величину, которую можно интерпретировать.</a:t>
            </a:r>
          </a:p>
          <a:p>
            <a:r>
              <a:t/>
            </a:r>
          </a:p>
          <a:p>
            <a:r>
              <a:t>Результат: все оценённые модели показывают большой разрыв, лучшая модель набирает 29,5 процента, что, по формулировке авторов, указывает на серьёзно ограниченное физическое понимание. Проверялись шесть ведущих систем своего времени.</a:t>
            </a:r>
          </a:p>
          <a:p>
            <a:r>
              <a:t/>
            </a:r>
          </a:p>
          <a:p>
            <a:r>
              <a:t>Главный вывод авторов стоит отдельного внимания: визуальный реализм не коррелирует с физическим пониманием. Коэффициент корреляции минус 0,46 при уровне значимости 0,249, то есть связи нет вовсе — ни прямой, ни обратной, величина статистически неотличима от нуля. Более того, видео одной из систем труднее всего отличить от настоящих, и это ровно ничего не говорит о том, упадёт ли мяч в ящик.</a:t>
            </a:r>
          </a:p>
          <a:p>
            <a:r>
              <a:t/>
            </a:r>
          </a:p>
          <a:p>
            <a:r>
              <a:t>Расшифруем, почему это самое важное утверждение раздела для суждения. Человек оценивает сгенерированное видео глазами, и единственный доступный ему признак — похоже или непохоже. Работа показывает, что этот признак не несёт информации о том, правильно ли происходящее в кадре физически. Значит, обычный способ приёмки — посмотреть и решить — в этой модальности структурно не работает: он измеряет ровно ту величину, которая ни с чем не связана.</a:t>
            </a:r>
          </a:p>
          <a:p>
            <a:r>
              <a:t/>
            </a:r>
          </a:p>
          <a:p>
            <a:r>
              <a:t>Конкретика помогает запомнить границу. Модели справляются с размазыванием краски по стеклу и выливанием жидкости на резиновую утку. Не справляются с падением мяча в ящик и с разрезанием мандарина ножом. Закономерность видна: там, где результат размазан и допускает много одинаково правдоподобных исходов, модель попадает; там, где исход один и определён законами механики, она промахивается. Это прямое следствие того, как она обучена: она выучила, как такие сцены обычно выглядят, а не как устроено взаимодействие тел.</a:t>
            </a:r>
          </a:p>
          <a:p>
            <a:r>
              <a:t/>
            </a:r>
          </a:p>
          <a:p>
            <a:r>
              <a:t>Инженерный вывод прямой и переносимый: правдоподобие и понимание расходятся. Любой производственный процесс в этой модальности обязан держать отдельную проверку на то, что происходящее в кадре физически возможно, и проверку эту нельзя поручить тому же глазу, который оценивает картинку. Для рекламы и развлечения цена ошибки здесь низкая; для обучающего материала, инструкции по эксплуатации, демонстрации работы устройства или чего угодно, где зритель будет повторять увиденное, — высокая, и применять генерацию без отдельной проверки нельзя.</a:t>
            </a:r>
          </a:p>
          <a:p>
            <a:r>
              <a:t/>
            </a:r>
          </a:p>
          <a:p>
            <a:r>
              <a:t>И более широкий урок, который переносится далеко за пределы видео. Это общий класс ошибки: признак, который человек использует для оценки, и свойство, которое его на самом деле интересует, могут быть не связаны — и, пока никто не измерил их связь, мы этого не знаем. В языковых моделях тем же свойством обладает беглость текста: гладкость формулировки ничего не говорит о верности утверждения, и курс разбирал это раньше на своём материале. Здесь та же болезнь получила числовое выражение, и именно поэтому кадр стоит в лекции: редко удаётся предъявить измерение для утверждения такого рода.</a:t>
            </a:r>
          </a:p>
          <a:p>
            <a:r>
              <a:t/>
            </a:r>
          </a:p>
          <a:p>
            <a:r>
              <a:t>Что отсюда следует для планирования. Утверждение «следующая версия исправит физику» требует доказательства, которого пока нет: за три года разрыв с воспроизводимостью реальности не закрылся, а связь между реализмом и пониманием не появилась. Планировать надо исходя из того, что проверка физической возможности остаётся снаружи модели и выполняется человеком, который знает предметную область.</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пласта цена одна, и она производственная: в прейскуранте её нет, а в смете она должна быть.</a:t>
            </a:r>
          </a:p>
          <a:p>
            <a:r>
              <a:t/>
            </a:r>
          </a:p>
          <a:p>
            <a:r>
              <a:t>Страница документации одного из поставщиков, прочитанная 27 октября 2026 года, сообщает: предварительный доступ к флагманской видеомодели в программном интерфейсе выключен 22 октября 2026 года, разработчикам предложено мигрировать на другую модель. За тринадцать месяцев до этого тот же путь прошёл другой флагман: приложение закрыто 26 апреля 2026 года, программный доступ — 24 сентября 2026 года.</a:t>
            </a:r>
          </a:p>
          <a:p>
            <a:r>
              <a:t/>
            </a:r>
          </a:p>
          <a:p>
            <a:r>
              <a:t>Цикл второго прослеживается целиком и стоит того, чтобы его знать. Февраль 2024 года: показаны первые примеры, и продюсер Тайлер Перри останавливает расширение студии на 800 миллионов долларов, посмотрев их. Декабрь 2024 года: публичный запуск для подписчиков. 30 сентября 2025 года: второе поколение и приложение; через неделю средства снятия видимого водяного знака расходятся по сети. 11 декабря 2025 года: крупная студия вкладывает миллиард долларов по трёхлетнему лицензионному соглашению, более 200 персонажей внутри сервиса; против — три профсоюза. 24 марта 2026 года: объявлено о прекращении, сделка со студией не состоялась. 26 апреля и 24 сентября 2026 года: закрыто приложение, закрыт программный доступ.</a:t>
            </a:r>
          </a:p>
          <a:p>
            <a:r>
              <a:t/>
            </a:r>
          </a:p>
          <a:p>
            <a:r>
              <a:t>Причины по сообщениям: нехватка вычислительных мощностей, издержки, разворот к корпоративным продуктам. Числа, которые стоит произнести: пользователей на пике около миллиона, затем менее пятисот тысяч; эксплуатация оценочно около миллиона долларов в сутки. Поделите одно на другое — доллар на пользователя в день. Генерация видео не была бесплатной ни секунды; просто платил не пользователь.</a:t>
            </a:r>
          </a:p>
          <a:p>
            <a:r>
              <a:t/>
            </a:r>
          </a:p>
          <a:p>
            <a:r>
              <a:t>Три вывода, и все три инженерные. Первый: остановка стройки на 800 миллионов долларов принята по показанному вместо измеренного — это цена решения, принятого по демонстрационному ролику, и она названа одной цифрой. Второй: два громких случая этой лекции построены на инструменте, который закрылся. Полный метр, заявленный с базой «меньше 30 миллионов долларов и девять месяцев против обычных 100–200 миллионов и трёх лет», после закрытия сервиса остался без технологического партнёра, пропустил заявленную премьеру и сдвинулся на первый квартал 2027 года. Девять месяцев производства против трёх лет ничего не стоят, если инструмент исчез на восьмом месяце. Третий: зависимость от чужого сервиса — проектный риск, и организационной мелочью он не является.</a:t>
            </a:r>
          </a:p>
          <a:p>
            <a:r>
              <a:t/>
            </a:r>
          </a:p>
          <a:p>
            <a:r>
              <a:t>Парный рабочий ответ, без которого раздел был бы обвинением. Обе модели мигрировали, и простым исчезновением это назвать нельзя: преемник назван прямо на той же странице документации, путь перехода дан, а корпоративный контур отделён от предварительного именно для того, чтобы производственная зависимость не ломалась вслед за экспериментальным интерфейсом. То есть поставщик поступил ровно так, как обещал в условиях предварительного доступа, и претензия тут к тому, кто построил на предварительном интерфейсе производственный конвейер.</a:t>
            </a:r>
          </a:p>
          <a:p>
            <a:r>
              <a:t/>
            </a:r>
          </a:p>
          <a:p>
            <a:r>
              <a:t>Три правила планирования, каждое выводится из абзацев выше и ни одно не требует веры в чьи-либо прогнозы.</a:t>
            </a:r>
          </a:p>
          <a:p>
            <a:r>
              <a:t/>
            </a:r>
          </a:p>
          <a:p>
            <a:r>
              <a:t>Первое: срок жизни инструмента входит в смету проекта. Если производственный цикл длиннее года, а инструмент живёт на предварительном интерфейсе, вероятность замены внутри цикла придётся оценивать так же, как оценивают риск ухода ключевого подрядчика. Девять месяцев производства — это как раз тот срок, на котором один флагман успел закрыться.</a:t>
            </a:r>
          </a:p>
          <a:p>
            <a:r>
              <a:t/>
            </a:r>
          </a:p>
          <a:p>
            <a:r>
              <a:t>Второе: переносимость важнее качества на демонстрации. Конвейер, в котором модель заменима — описания планов, опорные кадры и порядок сборки хранятся отдельно от конкретного поставщика, — переживает закрытие; конвейер, настроенный под особенности одной модели, закрывается вместе с ней. Практически это означает хранить подсказки, референсы и правила сборки в своём виде, а не в проекте внутри чужого сервиса.</a:t>
            </a:r>
          </a:p>
          <a:p>
            <a:r>
              <a:t/>
            </a:r>
          </a:p>
          <a:p>
            <a:r>
              <a:t>Третье: обучение команды амортизируется медленнее, чем меняются версии. Это и есть тот счёт, который вынесен в заголовок. Пока команда осваивает поведение одной модели, выходят две новые и выключается одна старая; значит, вкладываться надо в то, что переносится между моделями — в постановку задачи, в сборку, в приёмку, — а настройки конкретного поставщика считать расходным материалом.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за что платят и чего нет в прейскуранте. Прейскурант называет цену одной попытки; производство интересует цена одного годного результата.</a:t>
            </a:r>
          </a:p>
          <a:p>
            <a:r>
              <a:t/>
            </a:r>
          </a:p>
          <a:p>
            <a:r>
              <a:t>Два именных замера, взятых из интервью самих производителей, и один запрет.</a:t>
            </a:r>
          </a:p>
          <a:p>
            <a:r>
              <a:t/>
            </a:r>
          </a:p>
          <a:p>
            <a:r>
              <a:t>«Air Head», апрель 2024 года: собственная оценка авторов — 300 к 1 по отношению исходного материала к вошедшему. Без базы это число не читается, поэтому база называется рядом: в классической документалистике отношение отснятого к вышедшему считается десятками к одному, а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Это важная поправка к привычному рассказу: отбор существовал всегда и всегда стоил человеческого времени; изменилось то, сколько материала приходится просеивать.</a:t>
            </a:r>
          </a:p>
          <a:p>
            <a:r>
              <a:t/>
            </a:r>
          </a:p>
          <a:p>
            <a:r>
              <a:t>Toys "R" Us, июнь 2024 года: сотни итеративных планов сжаты до пары десятков на шестидесятишестисекундный ролик. Это единственное защитимое в публичном поле отношение генераций к годному результату: оно названо первоисточником, с именами студии и режиссёра. Именно поэтому его нельзя переносить на другие кампании — у кампании с семьюдесятью тысячами клипов доля вошедших не раскрыта нигде, и подставлять туда это отношение значит выдумывать число, выдавая его за измеренное.</a:t>
            </a:r>
          </a:p>
          <a:p>
            <a:r>
              <a:t/>
            </a:r>
          </a:p>
          <a:p>
            <a:r>
              <a:t>И запрет. Ходовые цифры «три генерации на годный кадр» и «шесть-двенадцать генераций на один удачный» в этой лекции не употребляются: они происходят из материалов сайтов, продающих генерацию, и не содержат ни методологии, ни выборки. Два замера выше — другой класс доказательства, и разница между ними принципиальна. Полезно унести именно это различение: число, названное тем, кто продаёт инструмент, и число, названное тем, кто инструментом пользовался и отчитался о результате, — разные виды сведений, и смешивать их нельзя даже тогда, когда они совпадают.</a:t>
            </a:r>
          </a:p>
          <a:p>
            <a:r>
              <a:t/>
            </a:r>
          </a:p>
          <a:p>
            <a:r>
              <a:t>Отсюда правило, одинаковое для всех трёх разобранных модальностей: единица учёта — то, что ушло заказчику. Любой расчёт экономии по прейскуранту за генерацию завышен ровно во столько раз, каков коэффициент отбора, и этот коэффициент для вашей задачи никто, кроме вас, не измерит. Практически это означает: прежде чем планировать экономию, сделайте небольшую серию и посчитайте, сколько попыток ушло на одну годную именно в вашей задаче, именно с вашими требованиями к результату.</a:t>
            </a:r>
          </a:p>
          <a:p>
            <a:r>
              <a:t/>
            </a:r>
          </a:p>
          <a:p>
            <a:r>
              <a:t>Рабочий ответ отрасли на эту цену тоже существует и уже оформился продуктово. Главный источник брака — непостоянство персонажа между планами, значит главный рычаг на коэффициент отбора — закрепить облик до генерации: сначала фиксируется персонаж и набор референсов, потом генерируются планы. Модель, вышедшая 15 октября 2026 года, принимает до десяти опорных кадров и до пятнадцати референсов на одну генерацию — это продуктовый ответ ровно на эту задачу.</a:t>
            </a:r>
          </a:p>
          <a:p>
            <a:r>
              <a:t/>
            </a:r>
          </a:p>
          <a:p>
            <a:r>
              <a:t>Что из этого переносится в вашу работу. Коэффициент отбора измеряется только на своей задаче и только своей серией: чужое отношение, даже честно названное первоисточником, описывает чужие требования к результату. Серия из двадцати-тридцати генераций с теми же требованиями, которые предъявит заказчик, даёт собственное число за полдня — и это число, а не прейскурант, надо класть в смету. Тот же приём работает и в обратную сторону: если серия показала отношение хуже, чем у похожей опубликованной работы, разница обычно сидит не в модели, а в том, насколько жёстко описан годный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Накопительная карта после трёх разделов заполнена на три колонки из пяти. Строка «породить первое приближение» растёт слева направо на порядок при каждом переходе, и это главное, что карта показывает: чем дороже единица выхода, тем больше попыток приходится просеивать, чтобы получить одну годную. Дешевизна попытки и дороговизна выбора растут вместе. Под сеткой идёт полоса адреса платежа: у изображения это отбор и права, у звука — права и узнавание, у видео — отбор.</a:t>
            </a:r>
          </a:p>
          <a:p>
            <a:r>
              <a:t/>
            </a:r>
          </a:p>
          <a:p>
            <a:r>
              <a:t>Вывод раздела, в трёх частях. Где польза: производство отдельного плана подешевело на три порядка, и это посчитано от классического режима трижды — микродрама с миллиона юаней до 50–100 тысяч, рекламный ролик с сорока тысяч долларов до двух тысяч, производственный цикл крупной кампании с года до месяца. Ни в одном из трёх случаев выигрыш не считался от нуля. Где границы: между кадрами нет объекта, который «тот же»; физика выучена как корреляция, и лучшая модель даёт 29,5 процента от воспроизводимости самой реальности; длина и разрешение покупаются нелинейно — втрое по разрешению стоит сорокакратно по времени обучения. Какая нагрузка идёт дальше: отбор — 400 генераций на 15 склеек, 300 к одному, сотни планов на пару десятков; и устойчивость инструмента — два флагмана выключены за тринадцать месяцев, и фильм, построенный на одном из них, сдвинулся на год.</a:t>
            </a:r>
          </a:p>
          <a:p>
            <a:r>
              <a:t/>
            </a:r>
          </a:p>
          <a:p>
            <a:r>
              <a:t>Технический вывод на материале раздела: главный рычаг — токенизатор. Коэффициент сжатия автокодировщика, поднятый до 32, сократил число токенов с 76 до 19 тысяч и опустил стоимость обучения коммерческой видеомодели до двухсот тысяч долларов; размер модели при этом остался прежним.</a:t>
            </a:r>
          </a:p>
          <a:p>
            <a:r>
              <a:t/>
            </a:r>
          </a:p>
          <a:p>
            <a:r>
              <a:t>Как читать карту вслух. Первая строка отвечает на вопрос «можно ли этим вообще начать работу» и по всем трём заполненным колонкам отвечает «да, и дёшево». Вторая отвечает на вопрос «можно ли этим закончить» и по всем трём колонкам упирается в ручную работу человека: правку, отбор, склейку. Третья — единственная, где у модели есть честная метрика и верхняя граница, вычисленная при знании ответа. Три нижние строки заполнены словом «нет» или «неприменимо», и в каждой клетке назван не отказ, а причина отказа. Пустых клеток в заполненных колонках нет, и это обязательное свойство карты: там, где измеренного случая у нас не нашлось, сказано, что именно известно и чего не хватает.</a:t>
            </a:r>
          </a:p>
          <a:p>
            <a:r>
              <a:t/>
            </a:r>
          </a:p>
          <a:p>
            <a:r>
              <a:t>Две колонки ещё впереди — трёхмерная сцена и распознавание. Строки при этом не изменятся ни разу: карта накапливается колонками, а не переписывается. Это и есть её польза как инструмента — к концу вечера шесть типов задач окажутся проверены на пяти модальностях одним и тем же вопросом, и сравнивать модальности между собой можно будет построчно, не держа в голове пять разных рассказов.</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510689"/>
          </a:xfrm>
          <a:prstGeom prst="roundRect">
            <a:avLst>
              <a:gd name="adj" fmla="val 12140"/>
            </a:avLst>
          </a:prstGeom>
          <a:solidFill>
            <a:srgbClr val="F4F7FA"/>
          </a:solidFill>
          <a:ln w="19050">
            <a:solidFill>
              <a:srgbClr val="1C7293"/>
            </a:solidFill>
          </a:ln>
          <a:effectLst/>
        </p:spPr>
        <p:txBody>
          <a:bodyPr rtlCol="0" anchor="ctr"/>
          <a:lstStyle/>
          <a:p>
            <a:pPr algn="ctr"/>
          </a:p>
        </p:txBody>
      </p:sp>
      <p:pic>
        <p:nvPicPr>
          <p:cNvPr id="5" name="Picture 4" descr="s33-voiceover-booth.jpg"/>
          <p:cNvPicPr>
            <a:picLocks noChangeAspect="1"/>
          </p:cNvPicPr>
          <p:nvPr/>
        </p:nvPicPr>
        <p:blipFill>
          <a:blip r:embed="rId2"/>
          <a:stretch>
            <a:fillRect/>
          </a:stretch>
        </p:blipFill>
        <p:spPr>
          <a:xfrm>
            <a:off x="6949440" y="1051560"/>
            <a:ext cx="4602175" cy="2236369"/>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2. Синтез речи, голос исполнителя и музыка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Звук — единственная модальность, где главное утверждение раздела проверяется собственным ухом за десять секунд и без единой таблицы. Поэтому здесь сначала показ, потом описание.</a:t>
            </a:r>
          </a:p>
        </p:txBody>
      </p:sp>
      <p:sp>
        <p:nvSpPr>
          <p:cNvPr id="9" name="TextBox 8"/>
          <p:cNvSpPr txBox="1"/>
          <p:nvPr/>
        </p:nvSpPr>
        <p:spPr>
          <a:xfrm>
            <a:off x="704088" y="3649744"/>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голос человеку, у которого его отнимала болезнь · дубляж и локализация · возвращённый голос Вэла Килмера.</a:t>
            </a:r>
          </a:p>
        </p:txBody>
      </p:sp>
      <p:sp>
        <p:nvSpPr>
          <p:cNvPr id="10" name="TextBox 9"/>
          <p:cNvSpPr txBox="1"/>
          <p:nvPr/>
        </p:nvSpPr>
        <p:spPr>
          <a:xfrm>
            <a:off x="704088" y="4720609"/>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 Живой показ — в колонках зала.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голос, две записи. Какая из них настоящая?</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ЗАПИСЬ 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десять секунд</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подписи</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ЗАПИСЬ Б</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десять секунд</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подписи</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ОТВЕТА НА КАДРЕ НЕТ</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отвечает зал</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поднятая рука за А или за Б</a:t>
            </a:r>
          </a:p>
        </p:txBody>
      </p:sp>
      <p:sp>
        <p:nvSpPr>
          <p:cNvPr id="16" name="Rounded Rectangle 15"/>
          <p:cNvSpPr/>
          <p:nvPr/>
        </p:nvSpPr>
        <p:spPr>
          <a:xfrm>
            <a:off x="374904" y="2592217"/>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11112703"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Сейчас прозвучат две записи одного голоса подряд. Одна записана человеком, вторая построена моделью.</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3618890"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чьим голосом и какой музыкой говорит материал</a:t>
            </a:r>
          </a:p>
        </p:txBody>
      </p:sp>
      <p:sp>
        <p:nvSpPr>
          <p:cNvPr id="7" name="TextBox 6"/>
          <p:cNvSpPr txBox="1"/>
          <p:nvPr/>
        </p:nvSpPr>
        <p:spPr>
          <a:xfrm>
            <a:off x="640080"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принимается до записи, меняется дорого</a:t>
            </a:r>
          </a:p>
        </p:txBody>
      </p:sp>
      <p:sp>
        <p:nvSpPr>
          <p:cNvPr id="8" name="Rounded Rectangle 7"/>
          <p:cNvSpPr/>
          <p:nvPr/>
        </p:nvSpPr>
        <p:spPr>
          <a:xfrm>
            <a:off x="4286402"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ПОКУПАЕТСЯ ВМЕСТЕ С ГОЛОСОМ</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срок · территория · тип носителя</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координаты, каждая оплачивается отдельной строкой</a:t>
            </a:r>
          </a:p>
        </p:txBody>
      </p:sp>
      <p:sp>
        <p:nvSpPr>
          <p:cNvPr id="12" name="Rounded Rectangle 11"/>
          <p:cNvSpPr/>
          <p:nvPr/>
        </p:nvSpPr>
        <p:spPr>
          <a:xfrm>
            <a:off x="8069884"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ВЫХОДА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минута речи — от 9 000 до 36 000 токенов</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картинка 1024×1024 — 4 096 токенов; пять секунд видео высокой чёткости — 249 240</a:t>
            </a:r>
          </a:p>
        </p:txBody>
      </p:sp>
      <p:sp>
        <p:nvSpPr>
          <p:cNvPr id="16" name="Rounded Rectangle 15"/>
          <p:cNvSpPr/>
          <p:nvPr/>
        </p:nvSpPr>
        <p:spPr>
          <a:xfrm>
            <a:off x="502920" y="3464504"/>
            <a:ext cx="5437479" cy="2000765"/>
          </a:xfrm>
          <a:prstGeom prst="roundRect">
            <a:avLst>
              <a:gd name="adj" fmla="val 1523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6199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Пять ремёсел и их вход</a:t>
            </a:r>
          </a:p>
        </p:txBody>
      </p:sp>
      <p:sp>
        <p:nvSpPr>
          <p:cNvPr id="18" name="TextBox 17"/>
          <p:cNvSpPr txBox="1"/>
          <p:nvPr/>
        </p:nvSpPr>
        <p:spPr>
          <a:xfrm>
            <a:off x="667512" y="3976131"/>
            <a:ext cx="5108295" cy="133369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Синтез речи: текст плюс выбранный голос → звучащая речь</a:t>
            </a:r>
          </a:p>
          <a:p>
            <a:pPr algn="l">
              <a:lnSpc>
                <a:spcPct val="126000"/>
              </a:lnSpc>
            </a:pPr>
            <a:r>
              <a:rPr sz="1000" b="0" i="0">
                <a:solidFill>
                  <a:srgbClr val="21295C"/>
                </a:solidFill>
                <a:latin typeface="Arial"/>
              </a:rPr>
              <a:t>• Клонирование голоса: записи конкретного человека → его голос на любом тексте</a:t>
            </a:r>
          </a:p>
          <a:p>
            <a:pPr algn="l">
              <a:lnSpc>
                <a:spcPct val="126000"/>
              </a:lnSpc>
            </a:pPr>
            <a:r>
              <a:rPr sz="1000" b="0" i="0">
                <a:solidFill>
                  <a:srgbClr val="21295C"/>
                </a:solidFill>
                <a:latin typeface="Arial"/>
              </a:rPr>
              <a:t>• Локализация и дубляж: исходная дорожка плюс перевод → та же сцена на другом языке</a:t>
            </a:r>
          </a:p>
          <a:p>
            <a:pPr algn="l">
              <a:lnSpc>
                <a:spcPct val="126000"/>
              </a:lnSpc>
            </a:pPr>
            <a:r>
              <a:rPr sz="1000" b="0" i="0">
                <a:solidFill>
                  <a:srgbClr val="21295C"/>
                </a:solidFill>
                <a:latin typeface="Arial"/>
              </a:rPr>
              <a:t>• Генерация музыки: описание словами → готовый трек</a:t>
            </a:r>
          </a:p>
          <a:p>
            <a:pPr algn="l">
              <a:lnSpc>
                <a:spcPct val="126000"/>
              </a:lnSpc>
            </a:pPr>
            <a:r>
              <a:rPr sz="1000" b="0" i="0">
                <a:solidFill>
                  <a:srgbClr val="21295C"/>
                </a:solidFill>
                <a:latin typeface="Arial"/>
              </a:rPr>
              <a:t>• Разделение источников: сведённая запись → отдельно вокал, барабаны, бас</a:t>
            </a:r>
          </a:p>
        </p:txBody>
      </p:sp>
      <p:sp>
        <p:nvSpPr>
          <p:cNvPr id="19" name="Rounded Rectangle 18"/>
          <p:cNvSpPr/>
          <p:nvPr/>
        </p:nvSpPr>
        <p:spPr>
          <a:xfrm>
            <a:off x="6251295" y="3464504"/>
            <a:ext cx="5437479" cy="2000765"/>
          </a:xfrm>
          <a:prstGeom prst="roundRect">
            <a:avLst>
              <a:gd name="adj" fmla="val 15234"/>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6199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материал добывают</a:t>
            </a:r>
          </a:p>
        </p:txBody>
      </p:sp>
      <p:sp>
        <p:nvSpPr>
          <p:cNvPr id="21" name="TextBox 20"/>
          <p:cNvSpPr txBox="1"/>
          <p:nvPr/>
        </p:nvSpPr>
        <p:spPr>
          <a:xfrm>
            <a:off x="6415887" y="3976131"/>
            <a:ext cx="5108295" cy="1333691"/>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Студийная сессия: кабина, микрофон, звукорежиссёр, несколько дублей на фразу</a:t>
            </a:r>
          </a:p>
          <a:p>
            <a:pPr algn="l">
              <a:lnSpc>
                <a:spcPct val="126000"/>
              </a:lnSpc>
            </a:pPr>
            <a:r>
              <a:rPr sz="950" b="0" i="0">
                <a:solidFill>
                  <a:srgbClr val="21295C"/>
                </a:solidFill>
                <a:latin typeface="Arial"/>
              </a:rPr>
              <a:t>• Домашняя будка: диктор у себя, заказчик подключается удалённо</a:t>
            </a:r>
          </a:p>
          <a:p>
            <a:pPr algn="l">
              <a:lnSpc>
                <a:spcPct val="126000"/>
              </a:lnSpc>
            </a:pPr>
            <a:r>
              <a:rPr sz="950" b="0" i="0">
                <a:solidFill>
                  <a:srgbClr val="21295C"/>
                </a:solidFill>
                <a:latin typeface="Arial"/>
              </a:rPr>
              <a:t>• Удалённая сессия с режиссурой: правка дубль за дублем по сети</a:t>
            </a:r>
          </a:p>
          <a:p>
            <a:pPr algn="l">
              <a:lnSpc>
                <a:spcPct val="126000"/>
              </a:lnSpc>
            </a:pPr>
            <a:r>
              <a:rPr sz="950" b="0" i="0">
                <a:solidFill>
                  <a:srgbClr val="21295C"/>
                </a:solidFill>
                <a:latin typeface="Arial"/>
              </a:rPr>
              <a:t>• Архив: радиоэфиры, интервью, прежние роли, корпоративные начитки</a:t>
            </a:r>
          </a:p>
          <a:p>
            <a:pPr algn="l">
              <a:lnSpc>
                <a:spcPct val="126000"/>
              </a:lnSpc>
            </a:pPr>
            <a:r>
              <a:rPr sz="950" b="0" i="0">
                <a:solidFill>
                  <a:srgbClr val="21295C"/>
                </a:solidFill>
                <a:latin typeface="Arial"/>
              </a:rPr>
              <a:t>• Банкирование голоса: клиническая запись корпуса, пока человек говорит внятно</a:t>
            </a:r>
          </a:p>
          <a:p>
            <a:pPr algn="l">
              <a:lnSpc>
                <a:spcPct val="126000"/>
              </a:lnSpc>
            </a:pPr>
            <a:r>
              <a:rPr sz="950" b="0" i="0">
                <a:solidFill>
                  <a:srgbClr val="21295C"/>
                </a:solidFill>
                <a:latin typeface="Arial"/>
              </a:rPr>
              <a:t>• Лицензированная библиотека: двадцать тысяч часов музыки с оформленными правами</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Узнаваемость — то, чего нет ни у иллюстрации, ни у фона в кадре: голос опознаётся слушателем как принадлежащий конкретному человеку. Поэтому за звук платят по каждой координате использования отдельно.</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2608622"/>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ДИКТОР, ГОТОВАЯ МИНУТА</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50–450 $</a:t>
            </a:r>
          </a:p>
        </p:txBody>
      </p:sp>
      <p:sp>
        <p:nvSpPr>
          <p:cNvPr id="7" name="TextBox 6"/>
          <p:cNvSpPr txBox="1"/>
          <p:nvPr/>
        </p:nvSpPr>
        <p:spPr>
          <a:xfrm>
            <a:off x="640080" y="235984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средний 150–350 · старший от 350, у верхушки за тысячу</a:t>
            </a:r>
          </a:p>
        </p:txBody>
      </p:sp>
      <p:sp>
        <p:nvSpPr>
          <p:cNvPr id="8" name="Rounded Rectangle 7"/>
          <p:cNvSpPr/>
          <p:nvPr/>
        </p:nvSpPr>
        <p:spPr>
          <a:xfrm>
            <a:off x="2773009"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НА ЭФИР — ОТДЕЛЬНАЯ СТРОКА</a:t>
            </a:r>
          </a:p>
        </p:txBody>
      </p:sp>
      <p:sp>
        <p:nvSpPr>
          <p:cNvPr id="10" name="TextBox 9"/>
          <p:cNvSpPr txBox="1"/>
          <p:nvPr/>
        </p:nvSpPr>
        <p:spPr>
          <a:xfrm>
            <a:off x="2910169"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650 $ … 6 500 $</a:t>
            </a:r>
          </a:p>
        </p:txBody>
      </p:sp>
      <p:sp>
        <p:nvSpPr>
          <p:cNvPr id="11" name="TextBox 10"/>
          <p:cNvSpPr txBox="1"/>
          <p:nvPr/>
        </p:nvSpPr>
        <p:spPr>
          <a:xfrm>
            <a:off x="2910169"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национальная реклама от 650 · год национального эфира 3 200–3 500 · бессрочный выкуп до 6 500</a:t>
            </a:r>
          </a:p>
        </p:txBody>
      </p:sp>
      <p:sp>
        <p:nvSpPr>
          <p:cNvPr id="12" name="Rounded Rectangle 11"/>
          <p:cNvSpPr/>
          <p:nvPr/>
        </p:nvSpPr>
        <p:spPr>
          <a:xfrm>
            <a:off x="504309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СТОКОВЫЙ ТРЕК ПО ЛИЦЕНЗИИ</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a:t>
            </a:r>
          </a:p>
        </p:txBody>
      </p:sp>
      <p:sp>
        <p:nvSpPr>
          <p:cNvPr id="15" name="TextBox 14"/>
          <p:cNvSpPr txBox="1"/>
          <p:nvPr/>
        </p:nvSpPr>
        <p:spPr>
          <a:xfrm>
            <a:off x="5180258" y="235984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расширенная 100–500 и выше; в России 10 000–50 000 ₽</a:t>
            </a:r>
          </a:p>
        </p:txBody>
      </p:sp>
      <p:sp>
        <p:nvSpPr>
          <p:cNvPr id="16" name="Rounded Rectangle 15"/>
          <p:cNvSpPr/>
          <p:nvPr/>
        </p:nvSpPr>
        <p:spPr>
          <a:xfrm>
            <a:off x="731318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ОРИГИНАЛЬНАЯ МУЗЫКА НА ЗАКАЗ</a:t>
            </a:r>
          </a:p>
        </p:txBody>
      </p:sp>
      <p:sp>
        <p:nvSpPr>
          <p:cNvPr id="18" name="TextBox 17"/>
          <p:cNvSpPr txBox="1"/>
          <p:nvPr/>
        </p:nvSpPr>
        <p:spPr>
          <a:xfrm>
            <a:off x="745034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200–1 500 $ за минуту</a:t>
            </a:r>
          </a:p>
        </p:txBody>
      </p:sp>
      <p:sp>
        <p:nvSpPr>
          <p:cNvPr id="19" name="TextBox 18"/>
          <p:cNvSpPr txBox="1"/>
          <p:nvPr/>
        </p:nvSpPr>
        <p:spPr>
          <a:xfrm>
            <a:off x="7450348" y="2750268"/>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от 150 000 ₽ за трек; с генерацией не сравнивается — другая природа продукта</a:t>
            </a:r>
          </a:p>
        </p:txBody>
      </p:sp>
      <p:sp>
        <p:nvSpPr>
          <p:cNvPr id="20" name="Rounded Rectangle 19"/>
          <p:cNvSpPr/>
          <p:nvPr/>
        </p:nvSpPr>
        <p:spPr>
          <a:xfrm>
            <a:off x="9583277"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ЦИФРОВАЯ КОПИЯ ГОЛОСА ПО ДОГОВОРУ ПРОФСОЮЗА</a:t>
            </a:r>
          </a:p>
        </p:txBody>
      </p:sp>
      <p:sp>
        <p:nvSpPr>
          <p:cNvPr id="22" name="TextBox 21"/>
          <p:cNvSpPr txBox="1"/>
          <p:nvPr/>
        </p:nvSpPr>
        <p:spPr>
          <a:xfrm>
            <a:off x="9720437"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956,75 $ за четыре часа</a:t>
            </a:r>
          </a:p>
        </p:txBody>
      </p:sp>
      <p:sp>
        <p:nvSpPr>
          <p:cNvPr id="23" name="TextBox 22"/>
          <p:cNvSpPr txBox="1"/>
          <p:nvPr/>
        </p:nvSpPr>
        <p:spPr>
          <a:xfrm>
            <a:off x="9720437" y="294076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16,5 % в фонды; использование копии в рекламе — полуторная сессионная ставка</a:t>
            </a:r>
          </a:p>
        </p:txBody>
      </p:sp>
      <p:sp>
        <p:nvSpPr>
          <p:cNvPr id="24" name="Rounded Rectangle 23"/>
          <p:cNvSpPr/>
          <p:nvPr/>
        </p:nvSpPr>
        <p:spPr>
          <a:xfrm>
            <a:off x="502920" y="4126526"/>
            <a:ext cx="5437479" cy="2109681"/>
          </a:xfrm>
          <a:prstGeom prst="roundRect">
            <a:avLst>
              <a:gd name="adj" fmla="val 1444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28197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считается в той же единице</a:t>
            </a:r>
          </a:p>
        </p:txBody>
      </p:sp>
      <p:sp>
        <p:nvSpPr>
          <p:cNvPr id="26" name="TextBox 25"/>
          <p:cNvSpPr txBox="1"/>
          <p:nvPr/>
        </p:nvSpPr>
        <p:spPr>
          <a:xfrm>
            <a:off x="667512" y="4638152"/>
            <a:ext cx="5108295" cy="1442607"/>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Живой диктор: доллар за готовую минуту, со всеми дублями внутри цены</a:t>
            </a:r>
          </a:p>
          <a:p>
            <a:pPr algn="l">
              <a:lnSpc>
                <a:spcPct val="126000"/>
              </a:lnSpc>
            </a:pPr>
            <a:r>
              <a:rPr sz="1200" b="0" i="0">
                <a:solidFill>
                  <a:srgbClr val="21295C"/>
                </a:solidFill>
                <a:latin typeface="Arial"/>
              </a:rPr>
              <a:t>• Стоковая лицензия на трек: 20–100 $ — правильная опорная пара для генерации</a:t>
            </a:r>
          </a:p>
          <a:p>
            <a:pPr algn="l">
              <a:lnSpc>
                <a:spcPct val="126000"/>
              </a:lnSpc>
            </a:pPr>
            <a:r>
              <a:rPr sz="1200" b="0" i="0">
                <a:solidFill>
                  <a:srgbClr val="21295C"/>
                </a:solidFill>
                <a:latin typeface="Arial"/>
              </a:rPr>
              <a:t>• Сессия согласия на цифровую копию: цена назначена договором до всякого закона</a:t>
            </a:r>
          </a:p>
        </p:txBody>
      </p:sp>
      <p:sp>
        <p:nvSpPr>
          <p:cNvPr id="27" name="Rounded Rectangle 26"/>
          <p:cNvSpPr/>
          <p:nvPr/>
        </p:nvSpPr>
        <p:spPr>
          <a:xfrm>
            <a:off x="6251295" y="4126526"/>
            <a:ext cx="5437479" cy="2109681"/>
          </a:xfrm>
          <a:prstGeom prst="roundRect">
            <a:avLst>
              <a:gd name="adj" fmla="val 1444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28197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в ту же единицу не складывается</a:t>
            </a:r>
          </a:p>
        </p:txBody>
      </p:sp>
      <p:sp>
        <p:nvSpPr>
          <p:cNvPr id="29" name="TextBox 28"/>
          <p:cNvSpPr txBox="1"/>
          <p:nvPr/>
        </p:nvSpPr>
        <p:spPr>
          <a:xfrm>
            <a:off x="6415887" y="4638152"/>
            <a:ext cx="5108295" cy="144260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Аудиокнижная ставка: 150–250 $ за час работы у начинающего, 500–1 000 и выше у верхушки — час работы и готовая минута живут в разных бухгалтериях</a:t>
            </a:r>
          </a:p>
          <a:p>
            <a:pPr algn="l">
              <a:lnSpc>
                <a:spcPct val="126000"/>
              </a:lnSpc>
            </a:pPr>
            <a:r>
              <a:rPr sz="900" b="0" i="0">
                <a:solidFill>
                  <a:srgbClr val="21295C"/>
                </a:solidFill>
                <a:latin typeface="Arial"/>
              </a:rPr>
              <a:t>• Оригинальная партитура на заказ: другая природа продукта, сравнение даёт фальшивые пять-шесть порядков</a:t>
            </a:r>
          </a:p>
          <a:p>
            <a:pPr algn="l">
              <a:lnSpc>
                <a:spcPct val="126000"/>
              </a:lnSpc>
            </a:pPr>
            <a:r>
              <a:rPr sz="900" b="0" i="0">
                <a:solidFill>
                  <a:srgbClr val="21295C"/>
                </a:solidFill>
                <a:latin typeface="Arial"/>
              </a:rPr>
              <a:t>• Банкирование голоса в клинике: режим существует, числа часов и стоимости не называет ни один источник</a:t>
            </a:r>
          </a:p>
          <a:p>
            <a:pPr algn="l">
              <a:lnSpc>
                <a:spcPct val="126000"/>
              </a:lnSpc>
            </a:pPr>
            <a:r>
              <a:rPr sz="900" b="0" i="0">
                <a:solidFill>
                  <a:srgbClr val="21295C"/>
                </a:solidFill>
                <a:latin typeface="Arial"/>
              </a:rPr>
              <a:t>• Субтитры вместо дубляжа: режим назван, тарифа за минуту готового материала в подборке нет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редакция 2026; соглашение SAG-AFTRA о цифровых репликах</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голос человеку, у которого его отнимала болезнь</a:t>
            </a:r>
          </a:p>
        </p:txBody>
      </p:sp>
      <p:sp>
        <p:nvSpPr>
          <p:cNvPr id="4" name="Rounded Rectangle 3"/>
          <p:cNvSpPr/>
          <p:nvPr/>
        </p:nvSpPr>
        <p:spPr>
          <a:xfrm>
            <a:off x="502920"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«НЕ УСПЕТЬ»</a:t>
            </a:r>
          </a:p>
        </p:txBody>
      </p:sp>
      <p:sp>
        <p:nvSpPr>
          <p:cNvPr id="6" name="TextBox 5"/>
          <p:cNvSpPr txBox="1"/>
          <p:nvPr/>
        </p:nvSpPr>
        <p:spPr>
          <a:xfrm>
            <a:off x="640080" y="1932846"/>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голос теряется навсегда</a:t>
            </a:r>
          </a:p>
        </p:txBody>
      </p:sp>
      <p:sp>
        <p:nvSpPr>
          <p:cNvPr id="7" name="TextBox 6"/>
          <p:cNvSpPr txBox="1"/>
          <p:nvPr/>
        </p:nvSpPr>
        <p:spPr>
          <a:xfrm>
            <a:off x="640080" y="314069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записи, которой хватило бы на модель, после определённого момента взять негде</a:t>
            </a:r>
          </a:p>
        </p:txBody>
      </p:sp>
      <p:sp>
        <p:nvSpPr>
          <p:cNvPr id="8" name="Rounded Rectangle 7"/>
          <p:cNvSpPr/>
          <p:nvPr/>
        </p:nvSpPr>
        <p:spPr>
          <a:xfrm>
            <a:off x="2773009"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«ЗАПИСАТЬ РАНО»</a:t>
            </a:r>
          </a:p>
        </p:txBody>
      </p:sp>
      <p:sp>
        <p:nvSpPr>
          <p:cNvPr id="10" name="TextBox 9"/>
          <p:cNvSpPr txBox="1"/>
          <p:nvPr/>
        </p:nvSpPr>
        <p:spPr>
          <a:xfrm>
            <a:off x="2910169" y="1932846"/>
            <a:ext cx="1831177"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часы и силы в худший период жизни</a:t>
            </a:r>
          </a:p>
        </p:txBody>
      </p:sp>
      <p:sp>
        <p:nvSpPr>
          <p:cNvPr id="11" name="TextBox 10"/>
          <p:cNvSpPr txBox="1"/>
          <p:nvPr/>
        </p:nvSpPr>
        <p:spPr>
          <a:xfrm>
            <a:off x="2910169" y="2987917"/>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денежной шкалы у этого случая нет, и это свойство случая</a:t>
            </a:r>
          </a:p>
        </p:txBody>
      </p:sp>
      <p:sp>
        <p:nvSpPr>
          <p:cNvPr id="12" name="Rounded Rectangle 11"/>
          <p:cNvSpPr/>
          <p:nvPr/>
        </p:nvSpPr>
        <p:spPr>
          <a:xfrm>
            <a:off x="5043098" y="1335024"/>
            <a:ext cx="2105497" cy="3202744"/>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БАНКИРОВАНИЕ ГОЛОСА</a:t>
            </a:r>
          </a:p>
        </p:txBody>
      </p:sp>
      <p:sp>
        <p:nvSpPr>
          <p:cNvPr id="14" name="TextBox 13"/>
          <p:cNvSpPr txBox="1"/>
          <p:nvPr/>
        </p:nvSpPr>
        <p:spPr>
          <a:xfrm>
            <a:off x="5180258" y="2347789"/>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числа нет ни у одного источника</a:t>
            </a:r>
          </a:p>
        </p:txBody>
      </p:sp>
      <p:sp>
        <p:nvSpPr>
          <p:cNvPr id="15" name="TextBox 14"/>
          <p:cNvSpPr txBox="1"/>
          <p:nvPr/>
        </p:nvSpPr>
        <p:spPr>
          <a:xfrm>
            <a:off x="5180258" y="355563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часов записи по протоколу, ни стоимости услуги</a:t>
            </a:r>
          </a:p>
        </p:txBody>
      </p:sp>
      <p:sp>
        <p:nvSpPr>
          <p:cNvPr id="16" name="Rounded Rectangle 15"/>
          <p:cNvSpPr/>
          <p:nvPr/>
        </p:nvSpPr>
        <p:spPr>
          <a:xfrm>
            <a:off x="7313188"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БЕЗЛИЧНЫЙ ГОЛОС ИЗ КОРОБКИ</a:t>
            </a:r>
          </a:p>
        </p:txBody>
      </p:sp>
      <p:sp>
        <p:nvSpPr>
          <p:cNvPr id="18" name="TextBox 17"/>
          <p:cNvSpPr txBox="1"/>
          <p:nvPr/>
        </p:nvSpPr>
        <p:spPr>
          <a:xfrm>
            <a:off x="7450348" y="2347789"/>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дёшев и доступен давно</a:t>
            </a:r>
          </a:p>
        </p:txBody>
      </p:sp>
      <p:sp>
        <p:nvSpPr>
          <p:cNvPr id="19" name="TextBox 18"/>
          <p:cNvSpPr txBox="1"/>
          <p:nvPr/>
        </p:nvSpPr>
        <p:spPr>
          <a:xfrm>
            <a:off x="7450348" y="3555634"/>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ту же единицу не складывается: даёт другой исход, человек говорит чужим голосом</a:t>
            </a:r>
          </a:p>
        </p:txBody>
      </p:sp>
      <p:sp>
        <p:nvSpPr>
          <p:cNvPr id="20" name="Rounded Rectangle 19"/>
          <p:cNvSpPr/>
          <p:nvPr/>
        </p:nvSpPr>
        <p:spPr>
          <a:xfrm>
            <a:off x="9583277"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22" name="TextBox 21"/>
          <p:cNvSpPr txBox="1"/>
          <p:nvPr/>
        </p:nvSpPr>
        <p:spPr>
          <a:xfrm>
            <a:off x="9720437" y="1725375"/>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1–2 минуты записи для копии, 1–3 часа для дообучения</a:t>
            </a:r>
          </a:p>
        </p:txBody>
      </p:sp>
      <p:sp>
        <p:nvSpPr>
          <p:cNvPr id="23" name="TextBox 22"/>
          <p:cNvSpPr txBox="1"/>
          <p:nvPr/>
        </p:nvSpPr>
        <p:spPr>
          <a:xfrm>
            <a:off x="9720437" y="237304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лицензия 1 200 $ в год, людям с этим диагнозом в США — бесплатно</a:t>
            </a:r>
          </a:p>
        </p:txBody>
      </p:sp>
      <p:sp>
        <p:nvSpPr>
          <p:cNvPr id="24" name="TextBox 23"/>
          <p:cNvSpPr txBox="1"/>
          <p:nvPr/>
        </p:nvSpPr>
        <p:spPr>
          <a:xfrm>
            <a:off x="502920" y="475722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Искали и не нашли</a:t>
            </a:r>
          </a:p>
        </p:txBody>
      </p:sp>
      <p:sp>
        <p:nvSpPr>
          <p:cNvPr id="25" name="Rounded Rectangle 24"/>
          <p:cNvSpPr/>
          <p:nvPr/>
        </p:nvSpPr>
        <p:spPr>
          <a:xfrm>
            <a:off x="1920240" y="472064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76636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Сколько часов записи требует протокол банкирования</a:t>
            </a:r>
          </a:p>
        </p:txBody>
      </p:sp>
      <p:sp>
        <p:nvSpPr>
          <p:cNvPr id="27" name="Right Arrow 26"/>
          <p:cNvSpPr/>
          <p:nvPr/>
        </p:nvSpPr>
        <p:spPr>
          <a:xfrm>
            <a:off x="5039258" y="5008589"/>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267858" y="472064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5350154" y="476636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Сколько стоит услуга в клинике</a:t>
            </a:r>
          </a:p>
        </p:txBody>
      </p:sp>
      <p:sp>
        <p:nvSpPr>
          <p:cNvPr id="30" name="Right Arrow 29"/>
          <p:cNvSpPr/>
          <p:nvPr/>
        </p:nvSpPr>
        <p:spPr>
          <a:xfrm>
            <a:off x="8386876" y="5008589"/>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15476" y="472064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8697772" y="476636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Тогда обе стороны считались бы в часах человека</a:t>
            </a:r>
          </a:p>
        </p:txBody>
      </p:sp>
      <p:sp>
        <p:nvSpPr>
          <p:cNvPr id="33" name="TextBox 32"/>
          <p:cNvSpPr txBox="1"/>
          <p:nvPr/>
        </p:nvSpPr>
        <p:spPr>
          <a:xfrm>
            <a:off x="502920" y="547026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Какое одно число сделало бы сравнение полным</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ElevenLabs Impact Program; Bridging Voice; Scott-Morgan Foundation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дубляж и локализация</a:t>
            </a:r>
          </a:p>
        </p:txBody>
      </p:sp>
      <p:sp>
        <p:nvSpPr>
          <p:cNvPr id="4" name="Rounded Rectangle 3"/>
          <p:cNvSpPr/>
          <p:nvPr/>
        </p:nvSpPr>
        <p:spPr>
          <a:xfrm>
            <a:off x="502920"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«ЗАПИСАЛИ И НЕ ПОДОШЛО»</a:t>
            </a:r>
          </a:p>
        </p:txBody>
      </p:sp>
      <p:sp>
        <p:nvSpPr>
          <p:cNvPr id="6" name="TextBox 5"/>
          <p:cNvSpPr txBox="1"/>
          <p:nvPr/>
        </p:nvSpPr>
        <p:spPr>
          <a:xfrm>
            <a:off x="640080"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сессия 50–450 $ плюс право на эфир 650–6 500 $</a:t>
            </a:r>
          </a:p>
        </p:txBody>
      </p:sp>
      <p:sp>
        <p:nvSpPr>
          <p:cNvPr id="7" name="TextBox 6"/>
          <p:cNvSpPr txBox="1"/>
          <p:nvPr/>
        </p:nvSpPr>
        <p:spPr>
          <a:xfrm>
            <a:off x="640080" y="278799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переписать реплику после сдачи — значит собрать диктора заново</a:t>
            </a:r>
          </a:p>
        </p:txBody>
      </p:sp>
      <p:sp>
        <p:nvSpPr>
          <p:cNvPr id="8" name="Rounded Rectangle 7"/>
          <p:cNvSpPr/>
          <p:nvPr/>
        </p:nvSpPr>
        <p:spPr>
          <a:xfrm>
            <a:off x="2773009"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ЖИВОЙ ДИКТОР</a:t>
            </a:r>
          </a:p>
        </p:txBody>
      </p:sp>
      <p:sp>
        <p:nvSpPr>
          <p:cNvPr id="10" name="TextBox 9"/>
          <p:cNvSpPr txBox="1"/>
          <p:nvPr/>
        </p:nvSpPr>
        <p:spPr>
          <a:xfrm>
            <a:off x="2910169" y="2140317"/>
            <a:ext cx="1831177"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50–450 $ за готовую минуту</a:t>
            </a:r>
          </a:p>
        </p:txBody>
      </p:sp>
      <p:sp>
        <p:nvSpPr>
          <p:cNvPr id="11" name="TextBox 10"/>
          <p:cNvSpPr txBox="1"/>
          <p:nvPr/>
        </p:nvSpPr>
        <p:spPr>
          <a:xfrm>
            <a:off x="2910169" y="2771016"/>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старший от 350; посчитан в той же единице, что модель</a:t>
            </a:r>
          </a:p>
        </p:txBody>
      </p:sp>
      <p:sp>
        <p:nvSpPr>
          <p:cNvPr id="12" name="Rounded Rectangle 11"/>
          <p:cNvSpPr/>
          <p:nvPr/>
        </p:nvSpPr>
        <p:spPr>
          <a:xfrm>
            <a:off x="504309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СУБТИТРЫ</a:t>
            </a:r>
          </a:p>
        </p:txBody>
      </p:sp>
      <p:sp>
        <p:nvSpPr>
          <p:cNvPr id="14" name="TextBox 13"/>
          <p:cNvSpPr txBox="1"/>
          <p:nvPr/>
        </p:nvSpPr>
        <p:spPr>
          <a:xfrm>
            <a:off x="5180258" y="1932846"/>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тарифа за минуту в подборке нет</a:t>
            </a:r>
          </a:p>
        </p:txBody>
      </p:sp>
      <p:sp>
        <p:nvSpPr>
          <p:cNvPr id="15" name="TextBox 14"/>
          <p:cNvSpPr txBox="1"/>
          <p:nvPr/>
        </p:nvSpPr>
        <p:spPr>
          <a:xfrm>
            <a:off x="5180258" y="303884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своего числа не имеет — сказано на месте</a:t>
            </a:r>
          </a:p>
        </p:txBody>
      </p:sp>
      <p:sp>
        <p:nvSpPr>
          <p:cNvPr id="16" name="Rounded Rectangle 15"/>
          <p:cNvSpPr/>
          <p:nvPr/>
        </p:nvSpPr>
        <p:spPr>
          <a:xfrm>
            <a:off x="731318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7450348" y="1725375"/>
            <a:ext cx="1831177"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0,03–0,072 $ за минуту речи</a:t>
            </a:r>
          </a:p>
        </p:txBody>
      </p:sp>
      <p:sp>
        <p:nvSpPr>
          <p:cNvPr id="19" name="TextBox 18"/>
          <p:cNvSpPr txBox="1"/>
          <p:nvPr/>
        </p:nvSpPr>
        <p:spPr>
          <a:xfrm>
            <a:off x="7450348" y="242397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0,04 $ за тысячу знаков у быстрой модели, 0,08 $ у качественной, 0,03 $ у третьего поставщика</a:t>
            </a:r>
          </a:p>
        </p:txBody>
      </p:sp>
      <p:sp>
        <p:nvSpPr>
          <p:cNvPr id="20" name="Rounded Rectangle 19"/>
          <p:cNvSpPr/>
          <p:nvPr/>
        </p:nvSpPr>
        <p:spPr>
          <a:xfrm>
            <a:off x="9583277" y="1335024"/>
            <a:ext cx="2105497" cy="247470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В ОДНОЙ ЕДИНИЦЕ</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700–15 000 раз</a:t>
            </a:r>
          </a:p>
        </p:txBody>
      </p:sp>
      <p:sp>
        <p:nvSpPr>
          <p:cNvPr id="23" name="TextBox 22"/>
          <p:cNvSpPr txBox="1"/>
          <p:nvPr/>
        </p:nvSpPr>
        <p:spPr>
          <a:xfrm>
            <a:off x="9720437" y="275026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от классического режима, не от нуля</a:t>
            </a:r>
          </a:p>
        </p:txBody>
      </p:sp>
      <p:sp>
        <p:nvSpPr>
          <p:cNvPr id="24" name="Rounded Rectangle 23"/>
          <p:cNvSpPr/>
          <p:nvPr/>
        </p:nvSpPr>
        <p:spPr>
          <a:xfrm>
            <a:off x="502920" y="3992612"/>
            <a:ext cx="5437479" cy="1730110"/>
          </a:xfrm>
          <a:prstGeom prst="roundRect">
            <a:avLst>
              <a:gd name="adj" fmla="val 1761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14806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модель закрыла</a:t>
            </a:r>
          </a:p>
        </p:txBody>
      </p:sp>
      <p:sp>
        <p:nvSpPr>
          <p:cNvPr id="26" name="TextBox 25"/>
          <p:cNvSpPr txBox="1"/>
          <p:nvPr/>
        </p:nvSpPr>
        <p:spPr>
          <a:xfrm>
            <a:off x="667512" y="4504239"/>
            <a:ext cx="5108295" cy="1063035"/>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Перенос на другой язык с сохранением тембра говорящего стал кнопкой в браузере</a:t>
            </a:r>
          </a:p>
          <a:p>
            <a:pPr algn="l">
              <a:lnSpc>
                <a:spcPct val="126000"/>
              </a:lnSpc>
            </a:pPr>
            <a:r>
              <a:rPr sz="1000" b="0" i="0">
                <a:solidFill>
                  <a:srgbClr val="21295C"/>
                </a:solidFill>
                <a:latin typeface="Arial"/>
              </a:rPr>
              <a:t>• Семьдесят с лишним языков у одной системы, разметка интонации тегами прямо в тексте</a:t>
            </a:r>
          </a:p>
          <a:p>
            <a:pPr algn="l">
              <a:lnSpc>
                <a:spcPct val="126000"/>
              </a:lnSpc>
            </a:pPr>
            <a:r>
              <a:rPr sz="1000" b="0" i="0">
                <a:solidFill>
                  <a:srgbClr val="21295C"/>
                </a:solidFill>
                <a:latin typeface="Arial"/>
              </a:rPr>
              <a:t>• До четверти зрителей тестовых каналов, получивших автоматический дубляж, выбирают неанглийскую дорожку</a:t>
            </a:r>
          </a:p>
        </p:txBody>
      </p:sp>
      <p:sp>
        <p:nvSpPr>
          <p:cNvPr id="27" name="Rounded Rectangle 26"/>
          <p:cNvSpPr/>
          <p:nvPr/>
        </p:nvSpPr>
        <p:spPr>
          <a:xfrm>
            <a:off x="6251295" y="3992612"/>
            <a:ext cx="5437479" cy="1730110"/>
          </a:xfrm>
          <a:prstGeom prst="roundRect">
            <a:avLst>
              <a:gd name="adj" fmla="val 1761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14806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осталось человеку</a:t>
            </a:r>
          </a:p>
        </p:txBody>
      </p:sp>
      <p:sp>
        <p:nvSpPr>
          <p:cNvPr id="29" name="TextBox 28"/>
          <p:cNvSpPr txBox="1"/>
          <p:nvPr/>
        </p:nvSpPr>
        <p:spPr>
          <a:xfrm>
            <a:off x="6415887" y="4504239"/>
            <a:ext cx="5108295" cy="106303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Укладка: перевод обязан уместиться в длительность оригинальной реплики — это называется изохронией</a:t>
            </a:r>
          </a:p>
          <a:p>
            <a:pPr algn="l">
              <a:lnSpc>
                <a:spcPct val="126000"/>
              </a:lnSpc>
            </a:pPr>
            <a:r>
              <a:rPr sz="950" b="0" i="0">
                <a:solidFill>
                  <a:srgbClr val="21295C"/>
                </a:solidFill>
                <a:latin typeface="Arial"/>
              </a:rPr>
              <a:t>• Эмоция: из голого текста не берётся, проставляется разметкой руками</a:t>
            </a:r>
          </a:p>
          <a:p>
            <a:pPr algn="l">
              <a:lnSpc>
                <a:spcPct val="126000"/>
              </a:lnSpc>
            </a:pPr>
            <a:r>
              <a:rPr sz="950" b="0" i="0">
                <a:solidFill>
                  <a:srgbClr val="21295C"/>
                </a:solidFill>
                <a:latin typeface="Arial"/>
              </a:rPr>
              <a:t>• Синхронизация губ в кадре в состав дубляжа не входит и делается отдельной моделью</a:t>
            </a:r>
          </a:p>
          <a:p>
            <a:pPr algn="l">
              <a:lnSpc>
                <a:spcPct val="126000"/>
              </a:lnSpc>
            </a:pPr>
            <a:r>
              <a:rPr sz="950" b="0" i="0">
                <a:solidFill>
                  <a:srgbClr val="21295C"/>
                </a:solidFill>
                <a:latin typeface="Arial"/>
              </a:rPr>
              <a:t>• Цена ошибки «не стали локализовать» не названа числом ни в одном источнике</a:t>
            </a:r>
          </a:p>
        </p:txBody>
      </p:sp>
      <p:sp>
        <p:nvSpPr>
          <p:cNvPr id="30" name="Rounded Rectangle 29"/>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Экономия идёт на том, что заказчик замечает последним: нормализация текста у быстрой модели отключена ради низкой задержки.</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2026; прейскуранты ElevenLabs и Gemini, прочитаны 27.10.2026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возвращённый голос Вэла Килмера</a:t>
            </a:r>
          </a:p>
        </p:txBody>
      </p:sp>
      <p:sp>
        <p:nvSpPr>
          <p:cNvPr id="4" name="Rounded Rectangle 3"/>
          <p:cNvSpPr/>
          <p:nvPr/>
        </p:nvSpPr>
        <p:spPr>
          <a:xfrm>
            <a:off x="502920"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исход двоичный</a:t>
            </a:r>
          </a:p>
        </p:txBody>
      </p:sp>
      <p:sp>
        <p:nvSpPr>
          <p:cNvPr id="7" name="TextBox 6"/>
          <p:cNvSpPr txBox="1"/>
          <p:nvPr/>
        </p:nvSpPr>
        <p:spPr>
          <a:xfrm>
            <a:off x="640080" y="254279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либо роль звучит голосом актёра, либо не звучит вовсе; в деньгах не измеряется</a:t>
            </a:r>
          </a:p>
        </p:txBody>
      </p:sp>
      <p:sp>
        <p:nvSpPr>
          <p:cNvPr id="8" name="Rounded Rectangle 7"/>
          <p:cNvSpPr/>
          <p:nvPr/>
        </p:nvSpPr>
        <p:spPr>
          <a:xfrm>
            <a:off x="2773009" y="1335024"/>
            <a:ext cx="2105497" cy="310843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a:t>
            </a:r>
          </a:p>
        </p:txBody>
      </p:sp>
      <p:sp>
        <p:nvSpPr>
          <p:cNvPr id="10" name="TextBox 9"/>
          <p:cNvSpPr txBox="1"/>
          <p:nvPr/>
        </p:nvSpPr>
        <p:spPr>
          <a:xfrm>
            <a:off x="2910169" y="1932846"/>
            <a:ext cx="1831177" cy="1105996"/>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его нет, и причина медицинская</a:t>
            </a:r>
          </a:p>
        </p:txBody>
      </p:sp>
      <p:sp>
        <p:nvSpPr>
          <p:cNvPr id="11" name="TextBox 10"/>
          <p:cNvSpPr txBox="1"/>
          <p:nvPr/>
        </p:nvSpPr>
        <p:spPr>
          <a:xfrm>
            <a:off x="2910169" y="3038842"/>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голос утрачен после трахеотомии при раке горла, 2014; остаются роль без голоса или чужой голос — другой исход, а не другая цена</a:t>
            </a:r>
          </a:p>
        </p:txBody>
      </p:sp>
      <p:sp>
        <p:nvSpPr>
          <p:cNvPr id="12" name="Rounded Rectangle 11"/>
          <p:cNvSpPr/>
          <p:nvPr/>
        </p:nvSpPr>
        <p:spPr>
          <a:xfrm>
            <a:off x="504309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ДАННЫХ</a:t>
            </a:r>
          </a:p>
        </p:txBody>
      </p:sp>
      <p:sp>
        <p:nvSpPr>
          <p:cNvPr id="14" name="TextBox 13"/>
          <p:cNvSpPr txBox="1"/>
          <p:nvPr/>
        </p:nvSpPr>
        <p:spPr>
          <a:xfrm>
            <a:off x="5180258" y="1725375"/>
            <a:ext cx="1831177" cy="800447"/>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примерно в десять раз меньше обычного</a:t>
            </a:r>
          </a:p>
        </p:txBody>
      </p:sp>
      <p:sp>
        <p:nvSpPr>
          <p:cNvPr id="15" name="TextBox 14"/>
          <p:cNvSpPr txBox="1"/>
          <p:nvPr/>
        </p:nvSpPr>
        <p:spPr>
          <a:xfrm>
            <a:off x="5180258" y="252582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именно часов архива — не названо; «в десять раз меньше» числом не является</a:t>
            </a:r>
          </a:p>
        </p:txBody>
      </p:sp>
      <p:sp>
        <p:nvSpPr>
          <p:cNvPr id="16" name="Rounded Rectangle 15"/>
          <p:cNvSpPr/>
          <p:nvPr/>
        </p:nvSpPr>
        <p:spPr>
          <a:xfrm>
            <a:off x="731318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СГЕНЕРИРОВАНО МОДЕЛЕЙ ГОЛОСА</a:t>
            </a:r>
          </a:p>
        </p:txBody>
      </p:sp>
      <p:sp>
        <p:nvSpPr>
          <p:cNvPr id="18" name="TextBox 17"/>
          <p:cNvSpPr txBox="1"/>
          <p:nvPr/>
        </p:nvSpPr>
        <p:spPr>
          <a:xfrm>
            <a:off x="7450348" y="1932846"/>
            <a:ext cx="1831177" cy="1029608"/>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больше сорока, выбрана одна</a:t>
            </a:r>
          </a:p>
        </p:txBody>
      </p:sp>
      <p:sp>
        <p:nvSpPr>
          <p:cNvPr id="19" name="TextBox 18"/>
          <p:cNvSpPr txBox="1"/>
          <p:nvPr/>
        </p:nvSpPr>
        <p:spPr>
          <a:xfrm>
            <a:off x="7450348" y="296245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механика, что даст дальше 400 генераций на 15 склеек</a:t>
            </a:r>
          </a:p>
        </p:txBody>
      </p:sp>
      <p:sp>
        <p:nvSpPr>
          <p:cNvPr id="20" name="Rounded Rectangle 19"/>
          <p:cNvSpPr/>
          <p:nvPr/>
        </p:nvSpPr>
        <p:spPr>
          <a:xfrm>
            <a:off x="9583277"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В ОТКРЫТЫХ ИСТОЧНИКАХ</a:t>
            </a:r>
          </a:p>
        </p:txBody>
      </p:sp>
      <p:sp>
        <p:nvSpPr>
          <p:cNvPr id="22" name="TextBox 21"/>
          <p:cNvSpPr txBox="1"/>
          <p:nvPr/>
        </p:nvSpPr>
        <p:spPr>
          <a:xfrm>
            <a:off x="9720437" y="2140317"/>
            <a:ext cx="1831177"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технических публикаций по проекту</a:t>
            </a:r>
          </a:p>
        </p:txBody>
      </p:sp>
      <p:sp>
        <p:nvSpPr>
          <p:cNvPr id="23" name="TextBox 22"/>
          <p:cNvSpPr txBox="1"/>
          <p:nvPr/>
        </p:nvSpPr>
        <p:spPr>
          <a:xfrm>
            <a:off x="9720437" y="3322701"/>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компания поглощена, её блог закрыт; искали добросовестно и не нашли</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Sonantic (куплена Spotify в 2022); «Топ Ган: Мэверик», 2022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наблюдений, каждое с числом</a:t>
            </a:r>
          </a:p>
        </p:txBody>
      </p:sp>
      <p:sp>
        <p:nvSpPr>
          <p:cNvPr id="4" name="Rounded Rectangle 3"/>
          <p:cNvSpPr/>
          <p:nvPr/>
        </p:nvSpPr>
        <p:spPr>
          <a:xfrm>
            <a:off x="502920" y="1335024"/>
            <a:ext cx="2105497" cy="299527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ВОССТАНОВЛЕННЫЙ ВОКАЛ</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дебют на 45-м месте</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новая запись за одиннадцать лет и первое попадание на кантри-радио за двадцать</a:t>
            </a:r>
          </a:p>
        </p:txBody>
      </p:sp>
      <p:sp>
        <p:nvSpPr>
          <p:cNvPr id="8" name="Rounded Rectangle 7"/>
          <p:cNvSpPr/>
          <p:nvPr/>
        </p:nvSpPr>
        <p:spPr>
          <a:xfrm>
            <a:off x="2773009"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ГОЛОС, ВОСПРОИЗВЕДЁННЫЙ ПО АРХИВУ</a:t>
            </a:r>
          </a:p>
        </p:txBody>
      </p:sp>
      <p:sp>
        <p:nvSpPr>
          <p:cNvPr id="10" name="TextBox 9"/>
          <p:cNvSpPr txBox="1"/>
          <p:nvPr/>
        </p:nvSpPr>
        <p:spPr>
          <a:xfrm>
            <a:off x="2910169"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записям сорок пять лет</a:t>
            </a:r>
          </a:p>
        </p:txBody>
      </p:sp>
      <p:sp>
        <p:nvSpPr>
          <p:cNvPr id="11" name="TextBox 10"/>
          <p:cNvSpPr txBox="1"/>
          <p:nvPr/>
        </p:nvSpPr>
        <p:spPr>
          <a:xfrm>
            <a:off x="2910169"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права переданы прижизненно и явно — отсюда и начинается счёт прецедентов</a:t>
            </a:r>
          </a:p>
        </p:txBody>
      </p:sp>
      <p:sp>
        <p:nvSpPr>
          <p:cNvPr id="12" name="Rounded Rectangle 11"/>
          <p:cNvSpPr/>
          <p:nvPr/>
        </p:nvSpPr>
        <p:spPr>
          <a:xfrm>
            <a:off x="504309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МАШИННАЯ ПРАВКА ВЫГОВОРА</a:t>
            </a:r>
          </a:p>
        </p:txBody>
      </p:sp>
      <p:sp>
        <p:nvSpPr>
          <p:cNvPr id="14" name="TextBox 13"/>
          <p:cNvSpPr txBox="1"/>
          <p:nvPr/>
        </p:nvSpPr>
        <p:spPr>
          <a:xfrm>
            <a:off x="5180258" y="1932846"/>
            <a:ext cx="1831177"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трогали только венгерские реплики</a:t>
            </a:r>
          </a:p>
        </p:txBody>
      </p:sp>
      <p:sp>
        <p:nvSpPr>
          <p:cNvPr id="15" name="TextBox 14"/>
          <p:cNvSpPr txBox="1"/>
          <p:nvPr/>
        </p:nvSpPr>
        <p:spPr>
          <a:xfrm>
            <a:off x="5180258" y="28860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английскую речь не трогали; в том же наградном сезоне тем же сервисом пользовались три номинанта</a:t>
            </a:r>
          </a:p>
        </p:txBody>
      </p:sp>
      <p:sp>
        <p:nvSpPr>
          <p:cNvPr id="16" name="Rounded Rectangle 15"/>
          <p:cNvSpPr/>
          <p:nvPr/>
        </p:nvSpPr>
        <p:spPr>
          <a:xfrm>
            <a:off x="731318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ПЕСНЯ, В КОТОРОЙ НЕ СГЕНЕРИРОВАНО НИ НОТЫ</a:t>
            </a:r>
          </a:p>
        </p:txBody>
      </p:sp>
      <p:sp>
        <p:nvSpPr>
          <p:cNvPr id="18" name="TextBox 17"/>
          <p:cNvSpPr txBox="1"/>
          <p:nvPr/>
        </p:nvSpPr>
        <p:spPr>
          <a:xfrm>
            <a:off x="7450348"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сорок пять лет от демо до выпуска</a:t>
            </a:r>
          </a:p>
        </p:txBody>
      </p:sp>
      <p:sp>
        <p:nvSpPr>
          <p:cNvPr id="19" name="TextBox 18"/>
          <p:cNvSpPr txBox="1"/>
          <p:nvPr/>
        </p:nvSpPr>
        <p:spPr>
          <a:xfrm>
            <a:off x="7450348"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попытка свести её в 1995 году провалилась: отделить голос от фортепиано было нечем</a:t>
            </a:r>
          </a:p>
        </p:txBody>
      </p:sp>
      <p:sp>
        <p:nvSpPr>
          <p:cNvPr id="20" name="Rounded Rectangle 19"/>
          <p:cNvSpPr/>
          <p:nvPr/>
        </p:nvSpPr>
        <p:spPr>
          <a:xfrm>
            <a:off x="9583277"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ЖЕСТОВЫЙ ПЕРЕВОД В РАСПИСАНИИ</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2 500 вокзалов</a:t>
            </a:r>
          </a:p>
        </p:txBody>
      </p:sp>
      <p:sp>
        <p:nvSpPr>
          <p:cNvPr id="23" name="TextBox 22"/>
          <p:cNvSpPr txBox="1"/>
          <p:nvPr/>
        </p:nvSpPr>
        <p:spPr>
          <a:xfrm>
            <a:off x="9720437" y="27502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вся железнодорожная сеть Великобритании; аватары построены на съёмках реальных глухих людей, получающих отчисления</a:t>
            </a:r>
          </a:p>
        </p:txBody>
      </p:sp>
      <p:sp>
        <p:nvSpPr>
          <p:cNvPr id="24" name="Rounded Rectangle 23"/>
          <p:cNvSpPr/>
          <p:nvPr/>
        </p:nvSpPr>
        <p:spPr>
          <a:xfrm>
            <a:off x="502920" y="4494889"/>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63204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ОТРАСЛЬ НАПИСАЛА НОРМУ РАНЬШЕ ЗАКОНОДАТЕЛЯ</a:t>
            </a:r>
          </a:p>
        </p:txBody>
      </p:sp>
      <p:sp>
        <p:nvSpPr>
          <p:cNvPr id="26" name="TextBox 25"/>
          <p:cNvSpPr txBox="1"/>
          <p:nvPr/>
        </p:nvSpPr>
        <p:spPr>
          <a:xfrm>
            <a:off x="640080" y="4885240"/>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вклад человека «более чем ничтожный»</a:t>
            </a:r>
          </a:p>
        </p:txBody>
      </p:sp>
      <p:sp>
        <p:nvSpPr>
          <p:cNvPr id="27" name="TextBox 26"/>
          <p:cNvSpPr txBox="1"/>
          <p:nvPr/>
        </p:nvSpPr>
        <p:spPr>
          <a:xfrm>
            <a:off x="640080" y="531223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определение есть в правилах премии 2023 года и отсутствует в любом законе на 2026-й</a:t>
            </a:r>
          </a:p>
        </p:txBody>
      </p:sp>
      <p:sp>
        <p:nvSpPr>
          <p:cNvPr id="28" name="Rounded Rectangle 27"/>
          <p:cNvSpPr/>
          <p:nvPr/>
        </p:nvSpPr>
        <p:spPr>
          <a:xfrm>
            <a:off x="374904" y="5752083"/>
            <a:ext cx="11441887" cy="4841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843523"/>
            <a:ext cx="11112703" cy="392684"/>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Каждое наблюдение здесь держится на выборе инструмента под задачу: там, где запись существует, её разделяют; там, где её нет, — порождают. Норму о человеческом вкладе отрасль написала себе в 2023 году, и в законах такого определения нет до сих пор.</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 06.05.2024; Variety, 2022; CBC, 2026; The Conversation, 2023; Signapse; Forbes, 16.06.2023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Нейронный аудиокодек и остаточное квантование</a:t>
            </a:r>
          </a:p>
        </p:txBody>
      </p:sp>
      <p:sp>
        <p:nvSpPr>
          <p:cNvPr id="4" name="Rounded Rectangle 3"/>
          <p:cNvSpPr/>
          <p:nvPr/>
        </p:nvSpPr>
        <p:spPr>
          <a:xfrm>
            <a:off x="502920"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КАДР КОДЕКА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13,3 миллисекунды</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кадров в секунду; это же и архитектурная задержка модели</a:t>
            </a:r>
          </a:p>
        </p:txBody>
      </p:sp>
      <p:sp>
        <p:nvSpPr>
          <p:cNvPr id="8" name="Rounded Rectangle 7"/>
          <p:cNvSpPr/>
          <p:nvPr/>
        </p:nvSpPr>
        <p:spPr>
          <a:xfrm>
            <a:off x="3340531" y="1335024"/>
            <a:ext cx="2673019" cy="2397378"/>
          </a:xfrm>
          <a:prstGeom prst="roundRect">
            <a:avLst>
              <a:gd name="adj" fmla="val 1271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КАСКАД, А НЕ ОДНА КНИГА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80 бит на кадр</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плоская книга потребовала бы два в восьмидесятой степени векторов; восемь книг по 1 024 — обычная таблица</a:t>
            </a:r>
          </a:p>
        </p:txBody>
      </p:sp>
      <p:sp>
        <p:nvSpPr>
          <p:cNvPr id="12" name="Rounded Rectangle 11"/>
          <p:cNvSpPr/>
          <p:nvPr/>
        </p:nvSpPr>
        <p:spPr>
          <a:xfrm>
            <a:off x="6178143"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ГЛУБИНА КАСКАДА ПОЧТИ БЕСПЛАТНА, ШИРИНА КНИГИ ДОРОГА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4,01 · 3,98 · 3,92</a:t>
            </a:r>
          </a:p>
        </p:txBody>
      </p:sp>
      <p:sp>
        <p:nvSpPr>
          <p:cNvPr id="15" name="TextBox 14"/>
          <p:cNvSpPr txBox="1"/>
          <p:nvPr/>
        </p:nvSpPr>
        <p:spPr>
          <a:xfrm>
            <a:off x="6315303"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книг по 1 024 · 16 по 32 · 80 однобитных — качество по одной шкале при одном и том же битрейте</a:t>
            </a:r>
          </a:p>
        </p:txBody>
      </p:sp>
      <p:sp>
        <p:nvSpPr>
          <p:cNvPr id="16" name="Rounded Rectangle 15"/>
          <p:cNvSpPr/>
          <p:nvPr/>
        </p:nvSpPr>
        <p:spPr>
          <a:xfrm>
            <a:off x="9015755"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САМ ТОКЕНИЗАТОР КРОШЕЧНЫЙ</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8,4 млн параметров</a:t>
            </a:r>
          </a:p>
        </p:txBody>
      </p:sp>
      <p:sp>
        <p:nvSpPr>
          <p:cNvPr id="19" name="TextBox 18"/>
          <p:cNvSpPr txBox="1"/>
          <p:nvPr/>
        </p:nvSpPr>
        <p:spPr>
          <a:xfrm>
            <a:off x="9152915"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работает в 2,4 раза быстрее реального времени на одном ядре процессора смартфона; дорог генератор поверх него</a:t>
            </a:r>
          </a:p>
        </p:txBody>
      </p:sp>
      <p:sp>
        <p:nvSpPr>
          <p:cNvPr id="20" name="TextBox 19"/>
          <p:cNvSpPr txBox="1"/>
          <p:nvPr/>
        </p:nvSpPr>
        <p:spPr>
          <a:xfrm>
            <a:off x="502920" y="395185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Кодек</a:t>
            </a:r>
          </a:p>
        </p:txBody>
      </p:sp>
      <p:sp>
        <p:nvSpPr>
          <p:cNvPr id="21" name="Rounded Rectangle 20"/>
          <p:cNvSpPr/>
          <p:nvPr/>
        </p:nvSpPr>
        <p:spPr>
          <a:xfrm>
            <a:off x="1920240"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Волна: 24 000 отсчётов в секунду</a:t>
            </a:r>
          </a:p>
        </p:txBody>
      </p:sp>
      <p:sp>
        <p:nvSpPr>
          <p:cNvPr id="23" name="Right Arrow 22"/>
          <p:cNvSpPr/>
          <p:nvPr/>
        </p:nvSpPr>
        <p:spPr>
          <a:xfrm>
            <a:off x="4202353" y="432204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Свёрточный кодировщик: один вектор на 320 отсчётов</a:t>
            </a:r>
          </a:p>
        </p:txBody>
      </p:sp>
      <p:sp>
        <p:nvSpPr>
          <p:cNvPr id="26" name="Right Arrow 25"/>
          <p:cNvSpPr/>
          <p:nvPr/>
        </p:nvSpPr>
        <p:spPr>
          <a:xfrm>
            <a:off x="6713067" y="432204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Остаточное квантование: каскад из 8 книг по 1 024 вектора</a:t>
            </a:r>
          </a:p>
        </p:txBody>
      </p:sp>
      <p:sp>
        <p:nvSpPr>
          <p:cNvPr id="29" name="Right Arrow 28"/>
          <p:cNvSpPr/>
          <p:nvPr/>
        </p:nvSpPr>
        <p:spPr>
          <a:xfrm>
            <a:off x="9223781" y="432204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Декодировщик собирает волну обратно</a:t>
            </a:r>
          </a:p>
        </p:txBody>
      </p:sp>
      <p:sp>
        <p:nvSpPr>
          <p:cNvPr id="32" name="TextBox 31"/>
          <p:cNvSpPr txBox="1"/>
          <p:nvPr/>
        </p:nvSpPr>
        <p:spPr>
          <a:xfrm>
            <a:off x="502920" y="49025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звук становится токенами</a:t>
            </a:r>
          </a:p>
        </p:txBody>
      </p:sp>
      <p:sp>
        <p:nvSpPr>
          <p:cNvPr id="33" name="Rounded Rectangle 32"/>
          <p:cNvSpPr/>
          <p:nvPr/>
        </p:nvSpPr>
        <p:spPr>
          <a:xfrm>
            <a:off x="502920" y="52966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667512" y="54521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единицы данных рядом</a:t>
            </a:r>
          </a:p>
        </p:txBody>
      </p:sp>
      <p:sp>
        <p:nvSpPr>
          <p:cNvPr id="35" name="TextBox 34"/>
          <p:cNvSpPr txBox="1"/>
          <p:nvPr/>
        </p:nvSpPr>
        <p:spPr>
          <a:xfrm>
            <a:off x="667512" y="5808299"/>
            <a:ext cx="5108295" cy="75024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Токен языковой модели: номер из словаря в 200 тысяч записей, готового до обучения</a:t>
            </a:r>
          </a:p>
          <a:p>
            <a:pPr algn="l">
              <a:lnSpc>
                <a:spcPct val="126000"/>
              </a:lnSpc>
            </a:pPr>
            <a:r>
              <a:rPr sz="950" b="0" i="0">
                <a:solidFill>
                  <a:srgbClr val="21295C"/>
                </a:solidFill>
                <a:latin typeface="Arial"/>
              </a:rPr>
              <a:t>• Латентный патч изображения: вектор, словаря нет; картинка 1024×1024 — 4 096 патчей</a:t>
            </a:r>
          </a:p>
          <a:p>
            <a:pPr algn="l">
              <a:lnSpc>
                <a:spcPct val="126000"/>
              </a:lnSpc>
            </a:pPr>
            <a:r>
              <a:rPr sz="950" b="0" i="0">
                <a:solidFill>
                  <a:srgbClr val="21295C"/>
                </a:solidFill>
                <a:latin typeface="Arial"/>
              </a:rPr>
              <a:t>• Аудиотокен: номер из кодовой книги, книг несколько, каждая уточняет ошибку прежней</a:t>
            </a:r>
          </a:p>
        </p:txBody>
      </p:sp>
      <p:sp>
        <p:nvSpPr>
          <p:cNvPr id="36" name="Rounded Rectangle 35"/>
          <p:cNvSpPr/>
          <p:nvPr/>
        </p:nvSpPr>
        <p:spPr>
          <a:xfrm>
            <a:off x="6251295" y="52966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37" name="TextBox 36"/>
          <p:cNvSpPr txBox="1"/>
          <p:nvPr/>
        </p:nvSpPr>
        <p:spPr>
          <a:xfrm>
            <a:off x="6415887" y="54521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 что это обходится по объёму</a:t>
            </a:r>
          </a:p>
        </p:txBody>
      </p:sp>
      <p:sp>
        <p:nvSpPr>
          <p:cNvPr id="38" name="TextBox 37"/>
          <p:cNvSpPr txBox="1"/>
          <p:nvPr/>
        </p:nvSpPr>
        <p:spPr>
          <a:xfrm>
            <a:off x="6415887" y="5808299"/>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Минута с компакт-диска: 5 292 000 отсчётов</a:t>
            </a:r>
          </a:p>
          <a:p>
            <a:pPr algn="l">
              <a:lnSpc>
                <a:spcPct val="126000"/>
              </a:lnSpc>
            </a:pPr>
            <a:r>
              <a:rPr sz="900" b="0" i="0">
                <a:solidFill>
                  <a:srgbClr val="21295C"/>
                </a:solidFill>
                <a:latin typeface="Arial"/>
              </a:rPr>
              <a:t>• Та же минута у кодека, восемь книг: 36 000 токенов — в 147 раз меньше</a:t>
            </a:r>
          </a:p>
          <a:p>
            <a:pPr algn="l">
              <a:lnSpc>
                <a:spcPct val="126000"/>
              </a:lnSpc>
            </a:pPr>
            <a:r>
              <a:rPr sz="900" b="0" i="0">
                <a:solidFill>
                  <a:srgbClr val="21295C"/>
                </a:solidFill>
                <a:latin typeface="Arial"/>
              </a:rPr>
              <a:t>• Та же минута у музыкальной модели, четыре книги: 12 000 токенов — в 441 раз меньше</a:t>
            </a:r>
          </a:p>
          <a:p>
            <a:pPr algn="l">
              <a:lnSpc>
                <a:spcPct val="126000"/>
              </a:lnSpc>
            </a:pPr>
            <a:r>
              <a:rPr sz="900" b="0" i="0">
                <a:solidFill>
                  <a:srgbClr val="21295C"/>
                </a:solidFill>
                <a:latin typeface="Arial"/>
              </a:rPr>
              <a:t>• Минута речи, записанная текстом: около 200 токенов — звук дороже текста в 180 раз</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SoundStream; EnCodec; MusicGen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Частота кадров кодека — главный рычаг длины</a:t>
            </a:r>
          </a:p>
        </p:txBody>
      </p:sp>
      <p:sp>
        <p:nvSpPr>
          <p:cNvPr id="4" name="Rounded Rectangle 3"/>
          <p:cNvSpPr/>
          <p:nvPr/>
        </p:nvSpPr>
        <p:spPr>
          <a:xfrm>
            <a:off x="502920" y="1335024"/>
            <a:ext cx="2105497" cy="2369087"/>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7,5 ГЕРЦА</a:t>
            </a:r>
          </a:p>
        </p:txBody>
      </p:sp>
      <p:sp>
        <p:nvSpPr>
          <p:cNvPr id="6" name="TextBox 5"/>
          <p:cNvSpPr txBox="1"/>
          <p:nvPr/>
        </p:nvSpPr>
        <p:spPr>
          <a:xfrm>
            <a:off x="640080" y="1725375"/>
            <a:ext cx="1831177" cy="953221"/>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девяносто минут связного диалога</a:t>
            </a:r>
          </a:p>
        </p:txBody>
      </p:sp>
      <p:sp>
        <p:nvSpPr>
          <p:cNvPr id="7" name="TextBox 6"/>
          <p:cNvSpPr txBox="1"/>
          <p:nvPr/>
        </p:nvSpPr>
        <p:spPr>
          <a:xfrm>
            <a:off x="640080" y="2678597"/>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длина взялась отсюда, а не из размера генератора</a:t>
            </a:r>
          </a:p>
        </p:txBody>
      </p:sp>
      <p:sp>
        <p:nvSpPr>
          <p:cNvPr id="8" name="Rounded Rectangle 7"/>
          <p:cNvSpPr/>
          <p:nvPr/>
        </p:nvSpPr>
        <p:spPr>
          <a:xfrm>
            <a:off x="2773009"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5 ГЕРЦ</a:t>
            </a:r>
          </a:p>
        </p:txBody>
      </p:sp>
      <p:sp>
        <p:nvSpPr>
          <p:cNvPr id="10" name="TextBox 9"/>
          <p:cNvSpPr txBox="1"/>
          <p:nvPr/>
        </p:nvSpPr>
        <p:spPr>
          <a:xfrm>
            <a:off x="2910169" y="1725375"/>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самая низкая частота поколения</a:t>
            </a:r>
          </a:p>
        </p:txBody>
      </p:sp>
      <p:sp>
        <p:nvSpPr>
          <p:cNvPr id="11" name="TextBox 10"/>
          <p:cNvSpPr txBox="1"/>
          <p:nvPr/>
        </p:nvSpPr>
        <p:spPr>
          <a:xfrm>
            <a:off x="2910169" y="2831371"/>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DiffRhythm 2, музыкальная генерация длинной формы</a:t>
            </a:r>
          </a:p>
        </p:txBody>
      </p:sp>
      <p:sp>
        <p:nvSpPr>
          <p:cNvPr id="12" name="Rounded Rectangle 11"/>
          <p:cNvSpPr/>
          <p:nvPr/>
        </p:nvSpPr>
        <p:spPr>
          <a:xfrm>
            <a:off x="5043098"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12 ГЕРЦ</a:t>
            </a:r>
          </a:p>
        </p:txBody>
      </p:sp>
      <p:sp>
        <p:nvSpPr>
          <p:cNvPr id="14" name="TextBox 13"/>
          <p:cNvSpPr txBox="1"/>
          <p:nvPr/>
        </p:nvSpPr>
        <p:spPr>
          <a:xfrm>
            <a:off x="5180258" y="1725375"/>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вынесены прямо в имя модели</a:t>
            </a:r>
          </a:p>
        </p:txBody>
      </p:sp>
      <p:sp>
        <p:nvSpPr>
          <p:cNvPr id="15" name="TextBox 14"/>
          <p:cNvSpPr txBox="1"/>
          <p:nvPr/>
        </p:nvSpPr>
        <p:spPr>
          <a:xfrm>
            <a:off x="5180258" y="293322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Qwen3-TTS; поставщик считает параметр достойным названия</a:t>
            </a:r>
          </a:p>
        </p:txBody>
      </p:sp>
      <p:sp>
        <p:nvSpPr>
          <p:cNvPr id="16" name="Rounded Rectangle 15"/>
          <p:cNvSpPr/>
          <p:nvPr/>
        </p:nvSpPr>
        <p:spPr>
          <a:xfrm>
            <a:off x="7313188"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21,5 ГЕРЦА</a:t>
            </a:r>
          </a:p>
        </p:txBody>
      </p:sp>
      <p:sp>
        <p:nvSpPr>
          <p:cNvPr id="18" name="TextBox 17"/>
          <p:cNvSpPr txBox="1"/>
          <p:nvPr/>
        </p:nvSpPr>
        <p:spPr>
          <a:xfrm>
            <a:off x="7450348" y="1725375"/>
            <a:ext cx="1831177"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против 40–150 у прежних работ</a:t>
            </a:r>
          </a:p>
        </p:txBody>
      </p:sp>
      <p:sp>
        <p:nvSpPr>
          <p:cNvPr id="19" name="TextBox 18"/>
          <p:cNvSpPr txBox="1"/>
          <p:nvPr/>
        </p:nvSpPr>
        <p:spPr>
          <a:xfrm>
            <a:off x="7450348" y="235607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Stable Audio 2; авторы прямо объясняют этим возможность длинной формы</a:t>
            </a:r>
          </a:p>
        </p:txBody>
      </p:sp>
      <p:sp>
        <p:nvSpPr>
          <p:cNvPr id="20" name="Rounded Rectangle 19"/>
          <p:cNvSpPr/>
          <p:nvPr/>
        </p:nvSpPr>
        <p:spPr>
          <a:xfrm>
            <a:off x="9583277"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ПЕРЕСЧЁТ В ОБЪЁМ</a:t>
            </a:r>
          </a:p>
        </p:txBody>
      </p:sp>
      <p:sp>
        <p:nvSpPr>
          <p:cNvPr id="22" name="TextBox 21"/>
          <p:cNvSpPr txBox="1"/>
          <p:nvPr/>
        </p:nvSpPr>
        <p:spPr>
          <a:xfrm>
            <a:off x="9720437" y="1725375"/>
            <a:ext cx="1831177"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минута речи — от 9 000 до 36 000 токенов</a:t>
            </a:r>
          </a:p>
        </p:txBody>
      </p:sp>
      <p:sp>
        <p:nvSpPr>
          <p:cNvPr id="23" name="TextBox 22"/>
          <p:cNvSpPr txBox="1"/>
          <p:nvPr/>
        </p:nvSpPr>
        <p:spPr>
          <a:xfrm>
            <a:off x="9720437" y="218632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минута, записанная текстом, — около 200 токенов</a:t>
            </a:r>
          </a:p>
        </p:txBody>
      </p:sp>
      <p:sp>
        <p:nvSpPr>
          <p:cNvPr id="24" name="Rounded Rectangle 23"/>
          <p:cNvSpPr/>
          <p:nvPr/>
        </p:nvSpPr>
        <p:spPr>
          <a:xfrm>
            <a:off x="374904" y="379555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3886991"/>
            <a:ext cx="11112703"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Частота кадров кодека — архитектурное решение, определяющее, какая длина вообще возможна; прямой аналог коэффициента сжатия автокодировщика в видео и размера латентного патча в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Главный рычаг — токенизатор; размер модели здесь вторичен.</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Qwen3-TTS; DiffRhythm 2; Stable Audio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Авторегрессия против диффузии: измеренный кадр</a:t>
            </a:r>
          </a:p>
        </p:txBody>
      </p:sp>
      <p:sp>
        <p:nvSpPr>
          <p:cNvPr id="4" name="Rounded Rectangle 3"/>
          <p:cNvSpPr/>
          <p:nvPr/>
        </p:nvSpPr>
        <p:spPr>
          <a:xfrm>
            <a:off x="502920"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СРАВНЕНИЯ</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время генерации минуты звука</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колонки получены одной методикой в одной статье</a:t>
            </a:r>
          </a:p>
        </p:txBody>
      </p:sp>
      <p:sp>
        <p:nvSpPr>
          <p:cNvPr id="8" name="Rounded Rectangle 7"/>
          <p:cNvSpPr/>
          <p:nvPr/>
        </p:nvSpPr>
        <p:spPr>
          <a:xfrm>
            <a:off x="3340531"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АВТОРЕГРЕССИЯ, ДВЕ МИНУТЫ → ЧЕТЫРЕ МИНУТЫ СОРОК ПЯТЬ СЕКУНД</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6:38 → 12:53</a:t>
            </a:r>
          </a:p>
        </p:txBody>
      </p:sp>
      <p:sp>
        <p:nvSpPr>
          <p:cNvPr id="11" name="TextBox 10"/>
          <p:cNvSpPr txBox="1"/>
          <p:nvPr/>
        </p:nvSpPr>
        <p:spPr>
          <a:xfrm>
            <a:off x="3477691"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растёт линейно с длиной: каждый токен требует своего прохода</a:t>
            </a:r>
          </a:p>
        </p:txBody>
      </p:sp>
      <p:sp>
        <p:nvSpPr>
          <p:cNvPr id="12" name="Rounded Rectangle 11"/>
          <p:cNvSpPr/>
          <p:nvPr/>
        </p:nvSpPr>
        <p:spPr>
          <a:xfrm>
            <a:off x="6178143" y="1335024"/>
            <a:ext cx="2673019"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ТА ЖЕ ПАРА ДЛИН</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 → 13 с</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число шагов решателя фиксировано и от размера выхода не зависит</a:t>
            </a:r>
          </a:p>
        </p:txBody>
      </p:sp>
      <p:sp>
        <p:nvSpPr>
          <p:cNvPr id="16" name="Rounded Rectangle 15"/>
          <p:cNvSpPr/>
          <p:nvPr/>
        </p:nvSpPr>
        <p:spPr>
          <a:xfrm>
            <a:off x="9015755"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ПО ТОЙ ЖЕ МЕТРИКЕ</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204,03 и 218,02 против 79,09 и 81,96</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 лучше; разрыв по времени доходит до шестидесяти раз при вдвое лучшем качестве</a:t>
            </a:r>
          </a:p>
        </p:txBody>
      </p:sp>
      <p:sp>
        <p:nvSpPr>
          <p:cNvPr id="20" name="Rounded Rectangle 19"/>
          <p:cNvSpPr/>
          <p:nvPr/>
        </p:nvSpPr>
        <p:spPr>
          <a:xfrm>
            <a:off x="502920" y="3745533"/>
            <a:ext cx="5437479" cy="1977189"/>
          </a:xfrm>
          <a:prstGeom prst="roundRect">
            <a:avLst>
              <a:gd name="adj" fmla="val 1541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390098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Авторегрессия: своя задача, которой нет у текста</a:t>
            </a:r>
          </a:p>
        </p:txBody>
      </p:sp>
      <p:sp>
        <p:nvSpPr>
          <p:cNvPr id="22" name="TextBox 21"/>
          <p:cNvSpPr txBox="1"/>
          <p:nvPr/>
        </p:nvSpPr>
        <p:spPr>
          <a:xfrm>
            <a:off x="667512" y="4257160"/>
            <a:ext cx="5108295" cy="131011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Остаточное квантование даёт на каждый кадр несколько параллельных потоков токенов, а трансформер умеет только один</a:t>
            </a:r>
          </a:p>
          <a:p>
            <a:pPr algn="l">
              <a:lnSpc>
                <a:spcPct val="126000"/>
              </a:lnSpc>
            </a:pPr>
            <a:r>
              <a:rPr sz="900" b="0" i="0">
                <a:solidFill>
                  <a:srgbClr val="21295C"/>
                </a:solidFill>
                <a:latin typeface="Arial"/>
              </a:rPr>
              <a:t>• Плоская развёртка: 6 000 шагов, качество 0,86</a:t>
            </a:r>
          </a:p>
          <a:p>
            <a:pPr algn="l">
              <a:lnSpc>
                <a:spcPct val="126000"/>
              </a:lnSpc>
            </a:pPr>
            <a:r>
              <a:rPr sz="900" b="0" i="0">
                <a:solidFill>
                  <a:srgbClr val="21295C"/>
                </a:solidFill>
                <a:latin typeface="Arial"/>
              </a:rPr>
              <a:t>• Схема задержки — первая книга кадра, вторая от предыдущего, третья от позапрошлого: 1 500 шагов, качество 0,96</a:t>
            </a:r>
          </a:p>
          <a:p>
            <a:pPr algn="l">
              <a:lnSpc>
                <a:spcPct val="126000"/>
              </a:lnSpc>
            </a:pPr>
            <a:r>
              <a:rPr sz="900" b="0" i="0">
                <a:solidFill>
                  <a:srgbClr val="21295C"/>
                </a:solidFill>
                <a:latin typeface="Arial"/>
              </a:rPr>
              <a:t>• Наивно предсказать все книги разом: те же 1 500 шагов, но качество 2,58 и заметное падение оценки на слух</a:t>
            </a:r>
          </a:p>
        </p:txBody>
      </p:sp>
      <p:sp>
        <p:nvSpPr>
          <p:cNvPr id="23" name="Rounded Rectangle 22"/>
          <p:cNvSpPr/>
          <p:nvPr/>
        </p:nvSpPr>
        <p:spPr>
          <a:xfrm>
            <a:off x="6251295" y="3745533"/>
            <a:ext cx="5437479" cy="1977189"/>
          </a:xfrm>
          <a:prstGeom prst="roundRect">
            <a:avLst>
              <a:gd name="adj" fmla="val 15415"/>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390098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своя задача, которой нет у текста</a:t>
            </a:r>
          </a:p>
        </p:txBody>
      </p:sp>
      <p:sp>
        <p:nvSpPr>
          <p:cNvPr id="25" name="TextBox 24"/>
          <p:cNvSpPr txBox="1"/>
          <p:nvPr/>
        </p:nvSpPr>
        <p:spPr>
          <a:xfrm>
            <a:off x="6415887" y="4257160"/>
            <a:ext cx="5108295" cy="131011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Модель порождает тензор фиксированной формы, то есть по построению выдаёт одну длительность</a:t>
            </a:r>
          </a:p>
          <a:p>
            <a:pPr algn="l">
              <a:lnSpc>
                <a:spcPct val="126000"/>
              </a:lnSpc>
            </a:pPr>
            <a:r>
              <a:rPr sz="900" b="0" i="0">
                <a:solidFill>
                  <a:srgbClr val="21295C"/>
                </a:solidFill>
                <a:latin typeface="Arial"/>
              </a:rPr>
              <a:t>• Обходят обусловливанием на время: записывают, с какой секунды взят обучающий фрагмент и сколько секунд в исходнике</a:t>
            </a:r>
          </a:p>
          <a:p>
            <a:pPr algn="l">
              <a:lnSpc>
                <a:spcPct val="126000"/>
              </a:lnSpc>
            </a:pPr>
            <a:r>
              <a:rPr sz="900" b="0" i="0">
                <a:solidFill>
                  <a:srgbClr val="21295C"/>
                </a:solidFill>
                <a:latin typeface="Arial"/>
              </a:rPr>
              <a:t>• На работе модель всегда производит окно в 95 секунд и обучена заполнять хвост тишиной с указанного момента</a:t>
            </a:r>
          </a:p>
          <a:p>
            <a:pPr algn="l">
              <a:lnSpc>
                <a:spcPct val="126000"/>
              </a:lnSpc>
            </a:pPr>
            <a:r>
              <a:rPr sz="900" b="0" i="0">
                <a:solidFill>
                  <a:srgbClr val="21295C"/>
                </a:solidFill>
                <a:latin typeface="Arial"/>
              </a:rPr>
              <a:t>• Тишина обрезается: переменная длина получена обучением, ограничение осталось</a:t>
            </a:r>
          </a:p>
        </p:txBody>
      </p:sp>
      <p:sp>
        <p:nvSpPr>
          <p:cNvPr id="26" name="Rounded Rectangle 25"/>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структурный: он следует из устройства обоих семейств, и качество инженерной работы тут ни при чём.</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сравнительный замер Stable Audio 2 и MusicGen-large-stereo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Клонирование голоса и разделение источников — разные инструменты</a:t>
            </a:r>
          </a:p>
        </p:txBody>
      </p:sp>
      <p:sp>
        <p:nvSpPr>
          <p:cNvPr id="4" name="Rounded Rectangle 3"/>
          <p:cNvSpPr/>
          <p:nvPr/>
        </p:nvSpPr>
        <p:spPr>
          <a:xfrm>
            <a:off x="502920" y="1335024"/>
            <a:ext cx="2105497" cy="242189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ИДЕАЛЬНАЯ МАСКА, ВЫЧИСЛЕННАЯ ПРИ ЗНАНИИ ИСТИННЫХ ДОРОЖЕК</a:t>
            </a:r>
          </a:p>
        </p:txBody>
      </p:sp>
      <p:sp>
        <p:nvSpPr>
          <p:cNvPr id="6" name="TextBox 5"/>
          <p:cNvSpPr txBox="1"/>
          <p:nvPr/>
        </p:nvSpPr>
        <p:spPr>
          <a:xfrm>
            <a:off x="640080" y="2347789"/>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8,22 дБ</a:t>
            </a:r>
          </a:p>
        </p:txBody>
      </p:sp>
      <p:sp>
        <p:nvSpPr>
          <p:cNvPr id="7" name="TextBox 6"/>
          <p:cNvSpPr txBox="1"/>
          <p:nvPr/>
        </p:nvSpPr>
        <p:spPr>
          <a:xfrm>
            <a:off x="640080" y="2774788"/>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верхняя граница всех методов, работающих маскированием спектрограммы</a:t>
            </a:r>
          </a:p>
        </p:txBody>
      </p:sp>
      <p:sp>
        <p:nvSpPr>
          <p:cNvPr id="8" name="Rounded Rectangle 7"/>
          <p:cNvSpPr/>
          <p:nvPr/>
        </p:nvSpPr>
        <p:spPr>
          <a:xfrm>
            <a:off x="2773009"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SPLEETER</a:t>
            </a:r>
          </a:p>
        </p:txBody>
      </p:sp>
      <p:sp>
        <p:nvSpPr>
          <p:cNvPr id="10" name="TextBox 9"/>
          <p:cNvSpPr txBox="1"/>
          <p:nvPr/>
        </p:nvSpPr>
        <p:spPr>
          <a:xfrm>
            <a:off x="2910169" y="1725375"/>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5,91 дБ</a:t>
            </a:r>
          </a:p>
        </p:txBody>
      </p:sp>
      <p:sp>
        <p:nvSpPr>
          <p:cNvPr id="11" name="TextBox 10"/>
          <p:cNvSpPr txBox="1"/>
          <p:nvPr/>
        </p:nvSpPr>
        <p:spPr>
          <a:xfrm>
            <a:off x="2910169" y="2152374"/>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массовый инструмент предыдущего поколения</a:t>
            </a:r>
          </a:p>
        </p:txBody>
      </p:sp>
      <p:sp>
        <p:nvSpPr>
          <p:cNvPr id="12" name="Rounded Rectangle 11"/>
          <p:cNvSpPr/>
          <p:nvPr/>
        </p:nvSpPr>
        <p:spPr>
          <a:xfrm>
            <a:off x="5043098"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HYBRID DEMUCS</a:t>
            </a:r>
          </a:p>
        </p:txBody>
      </p:sp>
      <p:sp>
        <p:nvSpPr>
          <p:cNvPr id="14" name="TextBox 13"/>
          <p:cNvSpPr txBox="1"/>
          <p:nvPr/>
        </p:nvSpPr>
        <p:spPr>
          <a:xfrm>
            <a:off x="5180258" y="1725375"/>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8,34 дБ</a:t>
            </a:r>
          </a:p>
        </p:txBody>
      </p:sp>
      <p:sp>
        <p:nvSpPr>
          <p:cNvPr id="15" name="TextBox 14"/>
          <p:cNvSpPr txBox="1"/>
          <p:nvPr/>
        </p:nvSpPr>
        <p:spPr>
          <a:xfrm>
            <a:off x="5180258" y="215237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превышение границы маскирующих методов</a:t>
            </a:r>
          </a:p>
        </p:txBody>
      </p:sp>
      <p:sp>
        <p:nvSpPr>
          <p:cNvPr id="16" name="Rounded Rectangle 15"/>
          <p:cNvSpPr/>
          <p:nvPr/>
        </p:nvSpPr>
        <p:spPr>
          <a:xfrm>
            <a:off x="7313188"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SPARSE HT DEMUCS, ДООБУЧЕННЫЙ</a:t>
            </a:r>
          </a:p>
        </p:txBody>
      </p:sp>
      <p:sp>
        <p:nvSpPr>
          <p:cNvPr id="18" name="TextBox 17"/>
          <p:cNvSpPr txBox="1"/>
          <p:nvPr/>
        </p:nvSpPr>
        <p:spPr>
          <a:xfrm>
            <a:off x="745034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9,20 дБ</a:t>
            </a:r>
          </a:p>
        </p:txBody>
      </p:sp>
      <p:sp>
        <p:nvSpPr>
          <p:cNvPr id="19" name="TextBox 18"/>
          <p:cNvSpPr txBox="1"/>
          <p:nvPr/>
        </p:nvSpPr>
        <p:spPr>
          <a:xfrm>
            <a:off x="7450348" y="2359845"/>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идеальной маски на 0,98 дБ</a:t>
            </a:r>
          </a:p>
        </p:txBody>
      </p:sp>
      <p:sp>
        <p:nvSpPr>
          <p:cNvPr id="20" name="Rounded Rectangle 19"/>
          <p:cNvSpPr/>
          <p:nvPr/>
        </p:nvSpPr>
        <p:spPr>
          <a:xfrm>
            <a:off x="9583277"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BS-ROFORMER И MEL-BAND ROFORMER, 2023</a:t>
            </a:r>
          </a:p>
        </p:txBody>
      </p:sp>
      <p:sp>
        <p:nvSpPr>
          <p:cNvPr id="22" name="TextBox 21"/>
          <p:cNvSpPr txBox="1"/>
          <p:nvPr/>
        </p:nvSpPr>
        <p:spPr>
          <a:xfrm>
            <a:off x="9720437"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 11,99 дБ</a:t>
            </a:r>
          </a:p>
        </p:txBody>
      </p:sp>
      <p:sp>
        <p:nvSpPr>
          <p:cNvPr id="23" name="TextBox 22"/>
          <p:cNvSpPr txBox="1"/>
          <p:nvPr/>
        </p:nvSpPr>
        <p:spPr>
          <a:xfrm>
            <a:off x="9720437" y="2567316"/>
            <a:ext cx="1831177"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текущий передний край</a:t>
            </a:r>
          </a:p>
        </p:txBody>
      </p:sp>
      <p:sp>
        <p:nvSpPr>
          <p:cNvPr id="24" name="Rounded Rectangle 23"/>
          <p:cNvSpPr/>
          <p:nvPr/>
        </p:nvSpPr>
        <p:spPr>
          <a:xfrm>
            <a:off x="502920" y="3939802"/>
            <a:ext cx="5437479" cy="1782920"/>
          </a:xfrm>
          <a:prstGeom prst="roundRect">
            <a:avLst>
              <a:gd name="adj" fmla="val 1709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09525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Разделение источников</a:t>
            </a:r>
          </a:p>
        </p:txBody>
      </p:sp>
      <p:sp>
        <p:nvSpPr>
          <p:cNvPr id="26" name="TextBox 25"/>
          <p:cNvSpPr txBox="1"/>
          <p:nvPr/>
        </p:nvSpPr>
        <p:spPr>
          <a:xfrm>
            <a:off x="667512" y="4451428"/>
            <a:ext cx="5108295" cy="111584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Микс считается суммой дорожек; задача — вернуть слагаемые</a:t>
            </a:r>
          </a:p>
          <a:p>
            <a:pPr algn="l">
              <a:lnSpc>
                <a:spcPct val="126000"/>
              </a:lnSpc>
            </a:pPr>
            <a:r>
              <a:rPr sz="900" b="0" i="0">
                <a:solidFill>
                  <a:srgbClr val="21295C"/>
                </a:solidFill>
                <a:latin typeface="Arial"/>
              </a:rPr>
              <a:t>• Эталон существует: исходные изолированные дорожки</a:t>
            </a:r>
          </a:p>
          <a:p>
            <a:pPr algn="l">
              <a:lnSpc>
                <a:spcPct val="126000"/>
              </a:lnSpc>
            </a:pPr>
            <a:r>
              <a:rPr sz="900" b="0" i="0">
                <a:solidFill>
                  <a:srgbClr val="21295C"/>
                </a:solidFill>
                <a:latin typeface="Arial"/>
              </a:rPr>
              <a:t>• Модель обучается минимизировать ошибку восстановления относительно эталона</a:t>
            </a:r>
          </a:p>
          <a:p>
            <a:pPr algn="l">
              <a:lnSpc>
                <a:spcPct val="126000"/>
              </a:lnSpc>
            </a:pPr>
            <a:r>
              <a:rPr sz="900" b="0" i="0">
                <a:solidFill>
                  <a:srgbClr val="21295C"/>
                </a:solidFill>
                <a:latin typeface="Arial"/>
              </a:rPr>
              <a:t>• Есть оракул — верхняя граница, вычисленная при знании ответа</a:t>
            </a:r>
          </a:p>
          <a:p>
            <a:pPr algn="l">
              <a:lnSpc>
                <a:spcPct val="126000"/>
              </a:lnSpc>
            </a:pPr>
            <a:r>
              <a:rPr sz="900" b="0" i="0">
                <a:solidFill>
                  <a:srgbClr val="21295C"/>
                </a:solidFill>
                <a:latin typeface="Arial"/>
              </a:rPr>
              <a:t>• «Now and Then»: демо 1978 года, попытка свести в 1995-м провалилась — отделить голос от фортепиано было нечем; песня вышла в 2023-м, через сорок пять лет</a:t>
            </a:r>
          </a:p>
        </p:txBody>
      </p:sp>
      <p:sp>
        <p:nvSpPr>
          <p:cNvPr id="27" name="Rounded Rectangle 26"/>
          <p:cNvSpPr/>
          <p:nvPr/>
        </p:nvSpPr>
        <p:spPr>
          <a:xfrm>
            <a:off x="6251295" y="3939802"/>
            <a:ext cx="5437479" cy="1782920"/>
          </a:xfrm>
          <a:prstGeom prst="roundRect">
            <a:avLst>
              <a:gd name="adj" fmla="val 1709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09525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Генерация</a:t>
            </a:r>
          </a:p>
        </p:txBody>
      </p:sp>
      <p:sp>
        <p:nvSpPr>
          <p:cNvPr id="29" name="TextBox 28"/>
          <p:cNvSpPr txBox="1"/>
          <p:nvPr/>
        </p:nvSpPr>
        <p:spPr>
          <a:xfrm>
            <a:off x="6415887" y="4451428"/>
            <a:ext cx="5108295" cy="111584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Эталона нет по определению: «правильной» песни по запросу «фанковая басовая линия» не бывает</a:t>
            </a:r>
          </a:p>
          <a:p>
            <a:pPr algn="l">
              <a:lnSpc>
                <a:spcPct val="126000"/>
              </a:lnSpc>
            </a:pPr>
            <a:r>
              <a:rPr sz="900" b="0" i="0">
                <a:solidFill>
                  <a:srgbClr val="21295C"/>
                </a:solidFill>
                <a:latin typeface="Arial"/>
              </a:rPr>
              <a:t>• Сравнивать результат не с чем, метрики вида «насколько ошиблись» не существует</a:t>
            </a:r>
          </a:p>
          <a:p>
            <a:pPr algn="l">
              <a:lnSpc>
                <a:spcPct val="126000"/>
              </a:lnSpc>
            </a:pPr>
            <a:r>
              <a:rPr sz="900" b="0" i="0">
                <a:solidFill>
                  <a:srgbClr val="21295C"/>
                </a:solidFill>
                <a:latin typeface="Arial"/>
              </a:rPr>
              <a:t>• Понятия идеального оракула у генеративной модели нет вовсе</a:t>
            </a:r>
          </a:p>
          <a:p>
            <a:pPr algn="l">
              <a:lnSpc>
                <a:spcPct val="126000"/>
              </a:lnSpc>
            </a:pPr>
            <a:r>
              <a:rPr sz="900" b="0" i="0">
                <a:solidFill>
                  <a:srgbClr val="21295C"/>
                </a:solidFill>
                <a:latin typeface="Arial"/>
              </a:rPr>
              <a:t>• Там, где записанное физически присутствует в сигнале, его достают; выдумывать его — выбрать не тот инструмент</a:t>
            </a:r>
          </a:p>
        </p:txBody>
      </p:sp>
      <p:sp>
        <p:nvSpPr>
          <p:cNvPr id="30" name="Rounded Rectangle 29"/>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между восстановлением и выдумыванием проходит по существованию оракула.</a:t>
            </a:r>
          </a:p>
        </p:txBody>
      </p:sp>
      <p:sp>
        <p:nvSpPr>
          <p:cNvPr id="32" name="Rectangle 3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Spleeter; Demucs; BS-RoFormer; WingNut Films, 2021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модели нет понятия исполнителя</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ВНУТРИ ЕСТЬ</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распределение, обусловленное образцом</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звучание воспроизводится полностью</a:t>
            </a:r>
          </a:p>
        </p:txBody>
      </p:sp>
      <p:sp>
        <p:nvSpPr>
          <p:cNvPr id="8" name="Rounded Rectangle 7"/>
          <p:cNvSpPr/>
          <p:nvPr/>
        </p:nvSpPr>
        <p:spPr>
          <a:xfrm>
            <a:off x="3340531"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НЕТ</a:t>
            </a:r>
          </a:p>
        </p:txBody>
      </p:sp>
      <p:sp>
        <p:nvSpPr>
          <p:cNvPr id="10" name="TextBox 9"/>
          <p:cNvSpPr txBox="1"/>
          <p:nvPr/>
        </p:nvSpPr>
        <p:spPr>
          <a:xfrm>
            <a:off x="3477691" y="1725375"/>
            <a:ext cx="2398699"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манера, репертуар, пределы диапазона, дыхание, решение о подаче</a:t>
            </a:r>
          </a:p>
        </p:txBody>
      </p:sp>
      <p:sp>
        <p:nvSpPr>
          <p:cNvPr id="11" name="TextBox 10"/>
          <p:cNvSpPr txBox="1"/>
          <p:nvPr/>
        </p:nvSpPr>
        <p:spPr>
          <a:xfrm>
            <a:off x="3477691" y="242397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сущности «исполнитель» в модели не существует</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КОРЕНЬ — В ДАННЫХ</a:t>
            </a:r>
          </a:p>
        </p:txBody>
      </p:sp>
      <p:sp>
        <p:nvSpPr>
          <p:cNvPr id="14" name="TextBox 13"/>
          <p:cNvSpPr txBox="1"/>
          <p:nvPr/>
        </p:nvSpPr>
        <p:spPr>
          <a:xfrm>
            <a:off x="6315303" y="1725375"/>
            <a:ext cx="2398699" cy="927759"/>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главный обучающий корпус собран из аудиокниг</a:t>
            </a:r>
          </a:p>
        </p:txBody>
      </p:sp>
      <p:sp>
        <p:nvSpPr>
          <p:cNvPr id="15" name="TextBox 14"/>
          <p:cNvSpPr txBox="1"/>
          <p:nvPr/>
        </p:nvSpPr>
        <p:spPr>
          <a:xfrm>
            <a:off x="6315303" y="265313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подавляющее большинство высказываний произнесено в читательской манере</a:t>
            </a:r>
          </a:p>
        </p:txBody>
      </p:sp>
      <p:sp>
        <p:nvSpPr>
          <p:cNvPr id="16" name="Rounded Rectangle 15"/>
          <p:cNvSpPr/>
          <p:nvPr/>
        </p:nvSpPr>
        <p:spPr>
          <a:xfrm>
            <a:off x="9015755"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ГРАНИЦА ПРИМЕНИМОСТИ</a:t>
            </a:r>
          </a:p>
        </p:txBody>
      </p:sp>
      <p:sp>
        <p:nvSpPr>
          <p:cNvPr id="18" name="TextBox 17"/>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произнести — да, сыграть — нет</a:t>
            </a:r>
          </a:p>
        </p:txBody>
      </p:sp>
      <p:sp>
        <p:nvSpPr>
          <p:cNvPr id="19" name="TextBox 18"/>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проверять надо именно её, до запуска, а не после приёмки</a:t>
            </a:r>
          </a:p>
        </p:txBody>
      </p:sp>
      <p:sp>
        <p:nvSpPr>
          <p:cNvPr id="20" name="Rounded Rectangle 19"/>
          <p:cNvSpPr/>
          <p:nvPr/>
        </p:nvSpPr>
        <p:spPr>
          <a:xfrm>
            <a:off x="502920" y="3675747"/>
            <a:ext cx="5437479" cy="1789522"/>
          </a:xfrm>
          <a:prstGeom prst="roundRect">
            <a:avLst>
              <a:gd name="adj" fmla="val 17032"/>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383119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Четыре следствия, названные самими поставщиками</a:t>
            </a:r>
          </a:p>
        </p:txBody>
      </p:sp>
      <p:sp>
        <p:nvSpPr>
          <p:cNvPr id="22" name="TextBox 21"/>
          <p:cNvSpPr txBox="1"/>
          <p:nvPr/>
        </p:nvSpPr>
        <p:spPr>
          <a:xfrm>
            <a:off x="667512" y="4187374"/>
            <a:ext cx="5108295" cy="112244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Голос, снятый со спокойного повествования, звучит иначе, когда его просят выразить сильную эмоцию: сильной эмоции в образце не было</a:t>
            </a:r>
          </a:p>
          <a:p>
            <a:pPr algn="l">
              <a:lnSpc>
                <a:spcPct val="126000"/>
              </a:lnSpc>
            </a:pPr>
            <a:r>
              <a:rPr sz="900" b="0" i="0">
                <a:solidFill>
                  <a:srgbClr val="21295C"/>
                </a:solidFill>
                <a:latin typeface="Arial"/>
              </a:rPr>
              <a:t>• Формулировка разработчиков: «недостаёт тонкого контроля паралингвистических деталей»</a:t>
            </a:r>
          </a:p>
          <a:p>
            <a:pPr algn="l">
              <a:lnSpc>
                <a:spcPct val="126000"/>
              </a:lnSpc>
            </a:pPr>
            <a:r>
              <a:rPr sz="900" b="0" i="0">
                <a:solidFill>
                  <a:srgbClr val="21295C"/>
                </a:solidFill>
                <a:latin typeface="Arial"/>
              </a:rPr>
              <a:t>• Музыкальная модель при запросе вокала даёт «мелодии, похожие на вокал, без разборчивых слов»: форма есть, содержания нет</a:t>
            </a:r>
          </a:p>
          <a:p>
            <a:pPr algn="l">
              <a:lnSpc>
                <a:spcPct val="126000"/>
              </a:lnSpc>
            </a:pPr>
            <a:r>
              <a:rPr sz="900" b="0" i="0">
                <a:solidFill>
                  <a:srgbClr val="21295C"/>
                </a:solidFill>
                <a:latin typeface="Arial"/>
              </a:rPr>
              <a:t>• Профессиональное клонирование пения не поддерживает — сказано в документации</a:t>
            </a:r>
          </a:p>
        </p:txBody>
      </p:sp>
      <p:sp>
        <p:nvSpPr>
          <p:cNvPr id="23" name="Rounded Rectangle 22"/>
          <p:cNvSpPr/>
          <p:nvPr/>
        </p:nvSpPr>
        <p:spPr>
          <a:xfrm>
            <a:off x="6251295" y="3675747"/>
            <a:ext cx="5437479" cy="1789522"/>
          </a:xfrm>
          <a:prstGeom prst="roundRect">
            <a:avLst>
              <a:gd name="adj" fmla="val 17032"/>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383119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значит для задач, где платят за узнавание</a:t>
            </a:r>
          </a:p>
        </p:txBody>
      </p:sp>
      <p:sp>
        <p:nvSpPr>
          <p:cNvPr id="25" name="TextBox 24"/>
          <p:cNvSpPr txBox="1"/>
          <p:nvPr/>
        </p:nvSpPr>
        <p:spPr>
          <a:xfrm>
            <a:off x="6415887" y="4187374"/>
            <a:ext cx="5108295" cy="112244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Узнаётся тембр; узнаваемость исполнения тембром не покрывается</a:t>
            </a:r>
          </a:p>
          <a:p>
            <a:pPr algn="l">
              <a:lnSpc>
                <a:spcPct val="126000"/>
              </a:lnSpc>
            </a:pPr>
            <a:r>
              <a:rPr sz="900" b="0" i="0">
                <a:solidFill>
                  <a:srgbClr val="21295C"/>
                </a:solidFill>
                <a:latin typeface="Arial"/>
              </a:rPr>
              <a:t>• Эмоция проставляется разметкой руками — управление есть ровно в той мере, в какой вы его проставили</a:t>
            </a:r>
          </a:p>
          <a:p>
            <a:pPr algn="l">
              <a:lnSpc>
                <a:spcPct val="126000"/>
              </a:lnSpc>
            </a:pPr>
            <a:r>
              <a:rPr sz="900" b="0" i="0">
                <a:solidFill>
                  <a:srgbClr val="21295C"/>
                </a:solidFill>
                <a:latin typeface="Arial"/>
              </a:rPr>
              <a:t>• Тот же класс дефекта, что псевдобуквы на сгенерированной картинке: воспроизведена форма, отсутствует содержание</a:t>
            </a:r>
          </a:p>
          <a:p>
            <a:pPr algn="l">
              <a:lnSpc>
                <a:spcPct val="126000"/>
              </a:lnSpc>
            </a:pPr>
            <a:r>
              <a:rPr sz="900" b="0" i="0">
                <a:solidFill>
                  <a:srgbClr val="21295C"/>
                </a:solidFill>
                <a:latin typeface="Arial"/>
              </a:rPr>
              <a:t>• Приёмка «похоже на него» не работает: похоже будет всегда</a:t>
            </a:r>
          </a:p>
        </p:txBody>
      </p:sp>
      <p:sp>
        <p:nvSpPr>
          <p:cNvPr id="26" name="Rounded Rectangle 25"/>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Модель голоса воспроизводит звучание; на этом её знание о человеке заканчивается. Корень лежит в обучающих данных, и поставщики называют его сами.</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документация ElevenLabs; F5-TTS; Stable Audio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Длина выхода задана до запуска: остановиться раньше нельзя</a:t>
            </a:r>
          </a:p>
        </p:txBody>
      </p:sp>
      <p:sp>
        <p:nvSpPr>
          <p:cNvPr id="4" name="Rounded Rectangle 3"/>
          <p:cNvSpPr/>
          <p:nvPr/>
        </p:nvSpPr>
        <p:spPr>
          <a:xfrm>
            <a:off x="502920" y="1335024"/>
            <a:ext cx="2673019" cy="274442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НЕЛЬЗЯ ПОПРОСИТЬ</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«играй, пока не кончится идея»</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надо назвать число секунд</a:t>
            </a:r>
          </a:p>
        </p:txBody>
      </p:sp>
      <p:sp>
        <p:nvSpPr>
          <p:cNvPr id="8" name="Rounded Rectangle 7"/>
          <p:cNvSpPr/>
          <p:nvPr/>
        </p:nvSpPr>
        <p:spPr>
          <a:xfrm>
            <a:off x="3340531"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ПЕРВЫЙ — ОБУСЛОВЛИВАНИЕ НА ДЛИТЕЛЬНОСТЬ</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пустым окном</a:t>
            </a:r>
          </a:p>
        </p:txBody>
      </p:sp>
      <p:sp>
        <p:nvSpPr>
          <p:cNvPr id="11" name="TextBox 10"/>
          <p:cNvSpPr txBox="1"/>
          <p:nvPr/>
        </p:nvSpPr>
        <p:spPr>
          <a:xfrm>
            <a:off x="3477691"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всегда производит окно в 95 секунд и заполняет хвост тишиной; вычисления на тишину тратятся</a:t>
            </a:r>
          </a:p>
        </p:txBody>
      </p:sp>
      <p:sp>
        <p:nvSpPr>
          <p:cNvPr id="12" name="Rounded Rectangle 11"/>
          <p:cNvSpPr/>
          <p:nvPr/>
        </p:nvSpPr>
        <p:spPr>
          <a:xfrm>
            <a:off x="6178143"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ВТОРОЙ — ДОСТРОЙКА ФРАГМЕНТАМИ</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структурой</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контекст переносится только последний кусок — у одной модели двенадцать секунд предыдущего звука</a:t>
            </a:r>
          </a:p>
        </p:txBody>
      </p:sp>
      <p:sp>
        <p:nvSpPr>
          <p:cNvPr id="16" name="Rounded Rectangle 15"/>
          <p:cNvSpPr/>
          <p:nvPr/>
        </p:nvSpPr>
        <p:spPr>
          <a:xfrm>
            <a:off x="9015755"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ПРИПЕВ НЕ ВОЗВРАЩАЕТСЯ</a:t>
            </a:r>
          </a:p>
        </p:txBody>
      </p:sp>
      <p:sp>
        <p:nvSpPr>
          <p:cNvPr id="18" name="TextBox 17"/>
          <p:cNvSpPr txBox="1"/>
          <p:nvPr/>
        </p:nvSpPr>
        <p:spPr>
          <a:xfrm>
            <a:off x="9152915" y="1932846"/>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модель не может сослаться на то, что было минуту назад</a:t>
            </a:r>
          </a:p>
        </p:txBody>
      </p:sp>
      <p:sp>
        <p:nvSpPr>
          <p:cNvPr id="19" name="TextBox 18"/>
          <p:cNvSpPr txBox="1"/>
          <p:nvPr/>
        </p:nvSpPr>
        <p:spPr>
          <a:xfrm>
            <a:off x="9152915" y="2886068"/>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модели с низкой частотой латента, держащей композицию в одном окне, повторение мотива появляется само</a:t>
            </a:r>
          </a:p>
        </p:txBody>
      </p:sp>
      <p:sp>
        <p:nvSpPr>
          <p:cNvPr id="20" name="TextBox 19"/>
          <p:cNvSpPr txBox="1"/>
          <p:nvPr/>
        </p:nvSpPr>
        <p:spPr>
          <a:xfrm>
            <a:off x="502920" y="429890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 модель</a:t>
            </a:r>
          </a:p>
        </p:txBody>
      </p:sp>
      <p:sp>
        <p:nvSpPr>
          <p:cNvPr id="21" name="Rounded Rectangle 20"/>
          <p:cNvSpPr/>
          <p:nvPr/>
        </p:nvSpPr>
        <p:spPr>
          <a:xfrm>
            <a:off x="1920240"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не задана</a:t>
            </a:r>
          </a:p>
        </p:txBody>
      </p:sp>
      <p:sp>
        <p:nvSpPr>
          <p:cNvPr id="23" name="Right Arrow 22"/>
          <p:cNvSpPr/>
          <p:nvPr/>
        </p:nvSpPr>
        <p:spPr>
          <a:xfrm>
            <a:off x="4202353" y="455026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идёт</a:t>
            </a:r>
          </a:p>
        </p:txBody>
      </p:sp>
      <p:sp>
        <p:nvSpPr>
          <p:cNvPr id="26" name="Right Arrow 25"/>
          <p:cNvSpPr/>
          <p:nvPr/>
        </p:nvSpPr>
        <p:spPr>
          <a:xfrm>
            <a:off x="6713067" y="455026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выдаёт служебный токен конца</a:t>
            </a:r>
          </a:p>
        </p:txBody>
      </p:sp>
      <p:sp>
        <p:nvSpPr>
          <p:cNvPr id="29" name="Right Arrow 28"/>
          <p:cNvSpPr/>
          <p:nvPr/>
        </p:nvSpPr>
        <p:spPr>
          <a:xfrm>
            <a:off x="9223781" y="4550266"/>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результат</a:t>
            </a:r>
          </a:p>
        </p:txBody>
      </p:sp>
      <p:sp>
        <p:nvSpPr>
          <p:cNvPr id="32" name="TextBox 31"/>
          <p:cNvSpPr txBox="1"/>
          <p:nvPr/>
        </p:nvSpPr>
        <p:spPr>
          <a:xfrm>
            <a:off x="502920" y="515824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Диффузионная модель звука</a:t>
            </a:r>
          </a:p>
        </p:txBody>
      </p:sp>
      <p:sp>
        <p:nvSpPr>
          <p:cNvPr id="33" name="Rounded Rectangle 32"/>
          <p:cNvSpPr/>
          <p:nvPr/>
        </p:nvSpPr>
        <p:spPr>
          <a:xfrm>
            <a:off x="1920240"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задана числом</a:t>
            </a:r>
          </a:p>
        </p:txBody>
      </p:sp>
      <p:sp>
        <p:nvSpPr>
          <p:cNvPr id="35" name="Right Arrow 34"/>
          <p:cNvSpPr/>
          <p:nvPr/>
        </p:nvSpPr>
        <p:spPr>
          <a:xfrm>
            <a:off x="4202353" y="540961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Порождается тензор этой формы</a:t>
            </a:r>
          </a:p>
        </p:txBody>
      </p:sp>
      <p:sp>
        <p:nvSpPr>
          <p:cNvPr id="38" name="Right Arrow 37"/>
          <p:cNvSpPr/>
          <p:nvPr/>
        </p:nvSpPr>
        <p:spPr>
          <a:xfrm>
            <a:off x="6713067" y="5409612"/>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Остановиться раньше нечем</a:t>
            </a:r>
          </a:p>
        </p:txBody>
      </p:sp>
      <p:sp>
        <p:nvSpPr>
          <p:cNvPr id="41" name="Right Arrow 40"/>
          <p:cNvSpPr/>
          <p:nvPr/>
        </p:nvSpPr>
        <p:spPr>
          <a:xfrm>
            <a:off x="9223781" y="5409612"/>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параметр</a:t>
            </a:r>
          </a:p>
        </p:txBody>
      </p:sp>
      <p:sp>
        <p:nvSpPr>
          <p:cNvPr id="44" name="TextBox 43"/>
          <p:cNvSpPr txBox="1"/>
          <p:nvPr/>
        </p:nvSpPr>
        <p:spPr>
          <a:xfrm>
            <a:off x="502920" y="58712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принимает решение о длине</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Право на голос: в Гражданском кодексе России охраны нет</a:t>
            </a:r>
          </a:p>
        </p:txBody>
      </p:sp>
      <p:sp>
        <p:nvSpPr>
          <p:cNvPr id="4" name="Rounded Rectangle 3"/>
          <p:cNvSpPr/>
          <p:nvPr/>
        </p:nvSpPr>
        <p:spPr>
          <a:xfrm>
            <a:off x="502920" y="1335024"/>
            <a:ext cx="2673019"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РОССИЙСКОГО ПРОЕКТА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внесён и не поддержан</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не «закон готовится» и не «закон принят» — различать статусы обязательно</a:t>
            </a:r>
          </a:p>
        </p:txBody>
      </p:sp>
      <p:sp>
        <p:nvSpPr>
          <p:cNvPr id="8" name="Rounded Rectangle 7"/>
          <p:cNvSpPr/>
          <p:nvPr/>
        </p:nvSpPr>
        <p:spPr>
          <a:xfrm>
            <a:off x="3340531"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ЗАКОНОВ ДВУХ ШТАТОВ США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приняты и в силе</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при этом применённых дел по ним не найдено</a:t>
            </a:r>
          </a:p>
        </p:txBody>
      </p:sp>
      <p:sp>
        <p:nvSpPr>
          <p:cNvPr id="12" name="Rounded Rectangle 11"/>
          <p:cNvSpPr/>
          <p:nvPr/>
        </p:nvSpPr>
        <p:spPr>
          <a:xfrm>
            <a:off x="6178143"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ФЕДЕРАЛЬНОГО ПРОЕКТА США</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одобрен комитетом, не принят</a:t>
            </a:r>
          </a:p>
        </p:txBody>
      </p:sp>
      <p:sp>
        <p:nvSpPr>
          <p:cNvPr id="15" name="TextBox 14"/>
          <p:cNvSpPr txBox="1"/>
          <p:nvPr/>
        </p:nvSpPr>
        <p:spPr>
          <a:xfrm>
            <a:off x="6315303" y="3140692"/>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возражение одного сенатора остановило единогласное принятие</a:t>
            </a:r>
          </a:p>
        </p:txBody>
      </p:sp>
      <p:sp>
        <p:nvSpPr>
          <p:cNvPr id="16" name="Rounded Rectangle 15"/>
          <p:cNvSpPr/>
          <p:nvPr/>
        </p:nvSpPr>
        <p:spPr>
          <a:xfrm>
            <a:off x="9015755"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ПОЗИЦИЯ ОТРАСЛИ</a:t>
            </a:r>
          </a:p>
        </p:txBody>
      </p:sp>
      <p:sp>
        <p:nvSpPr>
          <p:cNvPr id="18" name="TextBox 17"/>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просят лицензию, а не запрет</a:t>
            </a:r>
          </a:p>
        </p:txBody>
      </p:sp>
      <p:sp>
        <p:nvSpPr>
          <p:cNvPr id="19" name="TextBox 18"/>
          <p:cNvSpPr txBox="1"/>
          <p:nvPr/>
        </p:nvSpPr>
        <p:spPr>
          <a:xfrm>
            <a:off x="9152915" y="293322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Союз дикторов России: «чтобы эта технология стала выгодна самим дикторам, а не стала закатом профессии»</a:t>
            </a:r>
          </a:p>
        </p:txBody>
      </p:sp>
      <p:sp>
        <p:nvSpPr>
          <p:cNvPr id="20" name="Rounded Rectangle 19"/>
          <p:cNvSpPr/>
          <p:nvPr/>
        </p:nvSpPr>
        <p:spPr>
          <a:xfrm>
            <a:off x="502920" y="4098234"/>
            <a:ext cx="5437479" cy="2137973"/>
          </a:xfrm>
          <a:prstGeom prst="roundRect">
            <a:avLst>
              <a:gd name="adj" fmla="val 1425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25368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Россия</a:t>
            </a:r>
          </a:p>
        </p:txBody>
      </p:sp>
      <p:sp>
        <p:nvSpPr>
          <p:cNvPr id="22" name="TextBox 21"/>
          <p:cNvSpPr txBox="1"/>
          <p:nvPr/>
        </p:nvSpPr>
        <p:spPr>
          <a:xfrm>
            <a:off x="667512" y="4609861"/>
            <a:ext cx="5108295" cy="1470898"/>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Отдельной охраны голоса в Гражданском кодексе нет</a:t>
            </a:r>
          </a:p>
          <a:p>
            <a:pPr algn="l">
              <a:lnSpc>
                <a:spcPct val="126000"/>
              </a:lnSpc>
            </a:pPr>
            <a:r>
              <a:rPr sz="1000" b="0" i="0">
                <a:solidFill>
                  <a:srgbClr val="21295C"/>
                </a:solidFill>
                <a:latin typeface="Arial"/>
              </a:rPr>
              <a:t>• Защита персональных данных — если удастся доказать, что запись является биометрией</a:t>
            </a:r>
          </a:p>
          <a:p>
            <a:pPr algn="l">
              <a:lnSpc>
                <a:spcPct val="126000"/>
              </a:lnSpc>
            </a:pPr>
            <a:r>
              <a:rPr sz="1000" b="0" i="0">
                <a:solidFill>
                  <a:srgbClr val="21295C"/>
                </a:solidFill>
                <a:latin typeface="Arial"/>
              </a:rPr>
              <a:t>• Смежные права — на конкретную фонограмму, но не на голос как таковой</a:t>
            </a:r>
          </a:p>
          <a:p>
            <a:pPr algn="l">
              <a:lnSpc>
                <a:spcPct val="126000"/>
              </a:lnSpc>
            </a:pPr>
            <a:r>
              <a:rPr sz="1000" b="0" i="0">
                <a:solidFill>
                  <a:srgbClr val="21295C"/>
                </a:solidFill>
                <a:latin typeface="Arial"/>
              </a:rPr>
              <a:t>• Защита чести и достоинства — если использование порочит</a:t>
            </a:r>
          </a:p>
          <a:p>
            <a:pPr algn="l">
              <a:lnSpc>
                <a:spcPct val="126000"/>
              </a:lnSpc>
            </a:pPr>
            <a:r>
              <a:rPr sz="1000" b="0" i="0">
                <a:solidFill>
                  <a:srgbClr val="21295C"/>
                </a:solidFill>
                <a:latin typeface="Arial"/>
              </a:rPr>
              <a:t>• Проект статьи 152.3 внесён в сентябре 2024 года; правительством не поддержан, решение комиссии 20 января 2025 года; на октябрь 2026 года не принят</a:t>
            </a:r>
          </a:p>
        </p:txBody>
      </p:sp>
      <p:sp>
        <p:nvSpPr>
          <p:cNvPr id="23" name="Rounded Rectangle 22"/>
          <p:cNvSpPr/>
          <p:nvPr/>
        </p:nvSpPr>
        <p:spPr>
          <a:xfrm>
            <a:off x="6251295" y="4098234"/>
            <a:ext cx="5437479" cy="2137973"/>
          </a:xfrm>
          <a:prstGeom prst="roundRect">
            <a:avLst>
              <a:gd name="adj" fmla="val 14256"/>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425368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США</a:t>
            </a:r>
          </a:p>
        </p:txBody>
      </p:sp>
      <p:sp>
        <p:nvSpPr>
          <p:cNvPr id="25" name="TextBox 24"/>
          <p:cNvSpPr txBox="1"/>
          <p:nvPr/>
        </p:nvSpPr>
        <p:spPr>
          <a:xfrm>
            <a:off x="6415887" y="4609861"/>
            <a:ext cx="5108295" cy="1470898"/>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Теннесси: закон добавил голос к праву публичности — подписан 21 марта 2024 года, действует с 1 июля 2024 года</a:t>
            </a:r>
          </a:p>
          <a:p>
            <a:pPr algn="l">
              <a:lnSpc>
                <a:spcPct val="126000"/>
              </a:lnSpc>
            </a:pPr>
            <a:r>
              <a:rPr sz="900" b="0" i="0">
                <a:solidFill>
                  <a:srgbClr val="21295C"/>
                </a:solidFill>
                <a:latin typeface="Arial"/>
              </a:rPr>
              <a:t>• Калифорния: закон о цифровых репликах умерших действует с 1 января 2025 года, ответственность — десять тысяч долларов или реальные убытки</a:t>
            </a:r>
          </a:p>
          <a:p>
            <a:pPr algn="l">
              <a:lnSpc>
                <a:spcPct val="126000"/>
              </a:lnSpc>
            </a:pPr>
            <a:r>
              <a:rPr sz="900" b="0" i="0">
                <a:solidFill>
                  <a:srgbClr val="21295C"/>
                </a:solidFill>
                <a:latin typeface="Arial"/>
              </a:rPr>
              <a:t>• Применённых в суде дел по обоим законам найти не удалось</a:t>
            </a:r>
          </a:p>
          <a:p>
            <a:pPr algn="l">
              <a:lnSpc>
                <a:spcPct val="126000"/>
              </a:lnSpc>
            </a:pPr>
            <a:r>
              <a:rPr sz="900" b="0" i="0">
                <a:solidFill>
                  <a:srgbClr val="21295C"/>
                </a:solidFill>
                <a:latin typeface="Arial"/>
              </a:rPr>
              <a:t>• Федерального закона нет: профильный проект единогласно одобрен судебным комитетом Сената 18 июня 2026 года, 30 сентября 2026 года при попытке принять его единогласным согласием один сенатор возразил; ни одной палатой не принят</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законопроект № 718834-8; ELVIS Act (Теннесси); AB 1836 (Калифорния); Союз дикторов России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Дело Андроновой: 600 страниц начитки 2019 → голос в чужой рекламе 2022 → иск 6 млн ₽</a:t>
            </a:r>
          </a:p>
        </p:txBody>
      </p:sp>
      <p:sp>
        <p:nvSpPr>
          <p:cNvPr id="4" name="Rounded Rectangle 3"/>
          <p:cNvSpPr/>
          <p:nvPr/>
        </p:nvSpPr>
        <p:spPr>
          <a:xfrm>
            <a:off x="502920"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2019</a:t>
            </a:r>
          </a:p>
        </p:txBody>
      </p:sp>
      <p:sp>
        <p:nvSpPr>
          <p:cNvPr id="6" name="TextBox 5"/>
          <p:cNvSpPr txBox="1"/>
          <p:nvPr/>
        </p:nvSpPr>
        <p:spPr>
          <a:xfrm>
            <a:off x="640080" y="1725375"/>
            <a:ext cx="145282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600 страниц начитки для банка</a:t>
            </a:r>
          </a:p>
        </p:txBody>
      </p:sp>
      <p:sp>
        <p:nvSpPr>
          <p:cNvPr id="7" name="TextBox 6"/>
          <p:cNvSpPr txBox="1"/>
          <p:nvPr/>
        </p:nvSpPr>
        <p:spPr>
          <a:xfrm>
            <a:off x="640080" y="2169349"/>
            <a:ext cx="145282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словам актрисы, в договоре нет ни слова «синтез», ни упоминания нейросетей</a:t>
            </a:r>
          </a:p>
        </p:txBody>
      </p:sp>
      <p:sp>
        <p:nvSpPr>
          <p:cNvPr id="8" name="Rounded Rectangle 7"/>
          <p:cNvSpPr/>
          <p:nvPr/>
        </p:nvSpPr>
        <p:spPr>
          <a:xfrm>
            <a:off x="2394661"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821"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2022</a:t>
            </a:r>
          </a:p>
        </p:txBody>
      </p:sp>
      <p:sp>
        <p:nvSpPr>
          <p:cNvPr id="10" name="TextBox 9"/>
          <p:cNvSpPr txBox="1"/>
          <p:nvPr/>
        </p:nvSpPr>
        <p:spPr>
          <a:xfrm>
            <a:off x="2531821" y="1725375"/>
            <a:ext cx="145282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голос в сторонней рекламе и доступен для синтеза на сторонних площадках</a:t>
            </a:r>
          </a:p>
        </p:txBody>
      </p:sp>
      <p:sp>
        <p:nvSpPr>
          <p:cNvPr id="11" name="TextBox 10"/>
          <p:cNvSpPr txBox="1"/>
          <p:nvPr/>
        </p:nvSpPr>
        <p:spPr>
          <a:xfrm>
            <a:off x="2531821" y="2984145"/>
            <a:ext cx="145282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из-за этого актриса потеряла часть работы</a:t>
            </a:r>
          </a:p>
        </p:txBody>
      </p:sp>
      <p:sp>
        <p:nvSpPr>
          <p:cNvPr id="12" name="Rounded Rectangle 11"/>
          <p:cNvSpPr/>
          <p:nvPr/>
        </p:nvSpPr>
        <p:spPr>
          <a:xfrm>
            <a:off x="4286402"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3562"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7 АПРЕЛЯ 2023</a:t>
            </a:r>
          </a:p>
        </p:txBody>
      </p:sp>
      <p:sp>
        <p:nvSpPr>
          <p:cNvPr id="14" name="TextBox 13"/>
          <p:cNvSpPr txBox="1"/>
          <p:nvPr/>
        </p:nvSpPr>
        <p:spPr>
          <a:xfrm>
            <a:off x="4423562" y="1725375"/>
            <a:ext cx="1452829"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предложена компенсация около двух месячных заработков</a:t>
            </a:r>
          </a:p>
        </p:txBody>
      </p:sp>
      <p:sp>
        <p:nvSpPr>
          <p:cNvPr id="15" name="TextBox 14"/>
          <p:cNvSpPr txBox="1"/>
          <p:nvPr/>
        </p:nvSpPr>
        <p:spPr>
          <a:xfrm>
            <a:off x="4423562" y="2780446"/>
            <a:ext cx="145282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условии полного отказа от претензий; отклонено</a:t>
            </a:r>
          </a:p>
        </p:txBody>
      </p:sp>
      <p:sp>
        <p:nvSpPr>
          <p:cNvPr id="16" name="Rounded Rectangle 15"/>
          <p:cNvSpPr/>
          <p:nvPr/>
        </p:nvSpPr>
        <p:spPr>
          <a:xfrm>
            <a:off x="6178143"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30 АВГУСТА 2023</a:t>
            </a:r>
          </a:p>
        </p:txBody>
      </p:sp>
      <p:sp>
        <p:nvSpPr>
          <p:cNvPr id="18" name="TextBox 17"/>
          <p:cNvSpPr txBox="1"/>
          <p:nvPr/>
        </p:nvSpPr>
        <p:spPr>
          <a:xfrm>
            <a:off x="6315303" y="1725375"/>
            <a:ext cx="145282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иск почти на 6 млн ₽</a:t>
            </a:r>
          </a:p>
        </p:txBody>
      </p:sp>
      <p:sp>
        <p:nvSpPr>
          <p:cNvPr id="19" name="TextBox 18"/>
          <p:cNvSpPr txBox="1"/>
          <p:nvPr/>
        </p:nvSpPr>
        <p:spPr>
          <a:xfrm>
            <a:off x="6315303" y="2474897"/>
            <a:ext cx="145282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удаление голоса из открытого доступа, защита чести и достоинства; петиция собрала около 26 тысяч подписей</a:t>
            </a:r>
          </a:p>
        </p:txBody>
      </p:sp>
      <p:sp>
        <p:nvSpPr>
          <p:cNvPr id="20" name="Rounded Rectangle 19"/>
          <p:cNvSpPr/>
          <p:nvPr/>
        </p:nvSpPr>
        <p:spPr>
          <a:xfrm>
            <a:off x="8069884" y="1335024"/>
            <a:ext cx="1727149" cy="2966981"/>
          </a:xfrm>
          <a:prstGeom prst="roundRect">
            <a:avLst>
              <a:gd name="adj" fmla="val 17647"/>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8207044"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12 АВГУСТА 2024</a:t>
            </a:r>
          </a:p>
        </p:txBody>
      </p:sp>
      <p:sp>
        <p:nvSpPr>
          <p:cNvPr id="22" name="TextBox 21"/>
          <p:cNvSpPr txBox="1"/>
          <p:nvPr/>
        </p:nvSpPr>
        <p:spPr>
          <a:xfrm>
            <a:off x="8207044" y="1725375"/>
            <a:ext cx="145282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иске отказано</a:t>
            </a:r>
          </a:p>
        </p:txBody>
      </p:sp>
      <p:sp>
        <p:nvSpPr>
          <p:cNvPr id="23" name="TextBox 22"/>
          <p:cNvSpPr txBox="1"/>
          <p:nvPr/>
        </p:nvSpPr>
        <p:spPr>
          <a:xfrm>
            <a:off x="8207044" y="2542797"/>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защиту голоса как нематериального блага суд обошёл, не оценивая</a:t>
            </a:r>
          </a:p>
        </p:txBody>
      </p:sp>
      <p:sp>
        <p:nvSpPr>
          <p:cNvPr id="24" name="Rounded Rectangle 23"/>
          <p:cNvSpPr/>
          <p:nvPr/>
        </p:nvSpPr>
        <p:spPr>
          <a:xfrm>
            <a:off x="9961626"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10098786"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ОКТЯБРЬ 2026</a:t>
            </a:r>
          </a:p>
        </p:txBody>
      </p:sp>
      <p:sp>
        <p:nvSpPr>
          <p:cNvPr id="26" name="TextBox 25"/>
          <p:cNvSpPr txBox="1"/>
          <p:nvPr/>
        </p:nvSpPr>
        <p:spPr>
          <a:xfrm>
            <a:off x="10098786" y="1725375"/>
            <a:ext cx="145282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итог апелляции установить не удалось</a:t>
            </a:r>
          </a:p>
        </p:txBody>
      </p:sp>
      <p:sp>
        <p:nvSpPr>
          <p:cNvPr id="27" name="TextBox 26"/>
          <p:cNvSpPr txBox="1"/>
          <p:nvPr/>
        </p:nvSpPr>
        <p:spPr>
          <a:xfrm>
            <a:off x="10098786" y="2474897"/>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обжаловалось; по открытым источникам результат не найден</a:t>
            </a:r>
          </a:p>
        </p:txBody>
      </p:sp>
      <p:sp>
        <p:nvSpPr>
          <p:cNvPr id="28" name="Rectangle 27"/>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Савёловский районный суд Москвы, 12.08.2024; Афиша Daily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Поправка к счёту: скачиваемый трек стоит 0,40 $, а не 0,016 $</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ГЕНЕРАЦИИ</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0,016 $ за трек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цитируется повсеместно; считает нажатие кнопки</a:t>
            </a:r>
          </a:p>
        </p:txBody>
      </p:sp>
      <p:sp>
        <p:nvSpPr>
          <p:cNvPr id="8" name="Rounded Rectangle 7"/>
          <p:cNvSpPr/>
          <p:nvPr/>
        </p:nvSpPr>
        <p:spPr>
          <a:xfrm>
            <a:off x="3340531"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СКАЧИВАЕМОГО ТРЕКА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0,40 $</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долларов в месяц делятся на двадцать скачиваний — 8 ÷ 20</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МЕЖДУ ДВУМЯ ЕДИНИЦАМИ</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25 раз</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и та же услуга, разные знаменатели</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СО СТОКОВОЙ ЛИЦЕНЗИЕЙ 20–100 $</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50–250 раз</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в тысячи, как получается при счёте по цене генерации</a:t>
            </a:r>
          </a:p>
        </p:txBody>
      </p:sp>
      <p:sp>
        <p:nvSpPr>
          <p:cNvPr id="20" name="Rectangle 19"/>
          <p:cNvSpPr/>
          <p:nvPr/>
        </p:nvSpPr>
        <p:spPr>
          <a:xfrm>
            <a:off x="502920" y="3637877"/>
            <a:ext cx="2788920" cy="270102"/>
          </a:xfrm>
          <a:prstGeom prst="rect">
            <a:avLst/>
          </a:prstGeom>
          <a:solidFill>
            <a:srgbClr val="21295C"/>
          </a:solidFill>
          <a:ln>
            <a:noFill/>
          </a:ln>
          <a:effectLst/>
        </p:spPr>
        <p:txBody>
          <a:bodyPr rtlCol="0" anchor="ctr"/>
          <a:lstStyle/>
          <a:p>
            <a:pPr algn="ctr"/>
          </a:p>
        </p:txBody>
      </p:sp>
      <p:sp>
        <p:nvSpPr>
          <p:cNvPr id="21" name="TextBox 20"/>
          <p:cNvSpPr txBox="1"/>
          <p:nvPr/>
        </p:nvSpPr>
        <p:spPr>
          <a:xfrm>
            <a:off x="566928" y="3701885"/>
            <a:ext cx="2660903"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Тип задачи</a:t>
            </a:r>
          </a:p>
        </p:txBody>
      </p:sp>
      <p:sp>
        <p:nvSpPr>
          <p:cNvPr id="22" name="Rectangle 21"/>
          <p:cNvSpPr/>
          <p:nvPr/>
        </p:nvSpPr>
        <p:spPr>
          <a:xfrm>
            <a:off x="3291839" y="3637877"/>
            <a:ext cx="1679387" cy="270102"/>
          </a:xfrm>
          <a:prstGeom prst="rect">
            <a:avLst/>
          </a:prstGeom>
          <a:solidFill>
            <a:srgbClr val="065A82"/>
          </a:solidFill>
          <a:ln>
            <a:noFill/>
          </a:ln>
          <a:effectLst/>
        </p:spPr>
        <p:txBody>
          <a:bodyPr rtlCol="0" anchor="ctr"/>
          <a:lstStyle/>
          <a:p>
            <a:pPr algn="ctr"/>
          </a:p>
        </p:txBody>
      </p:sp>
      <p:sp>
        <p:nvSpPr>
          <p:cNvPr id="23" name="TextBox 22"/>
          <p:cNvSpPr txBox="1"/>
          <p:nvPr/>
        </p:nvSpPr>
        <p:spPr>
          <a:xfrm>
            <a:off x="3355847"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Изображение</a:t>
            </a:r>
          </a:p>
        </p:txBody>
      </p:sp>
      <p:sp>
        <p:nvSpPr>
          <p:cNvPr id="24" name="Rectangle 23"/>
          <p:cNvSpPr/>
          <p:nvPr/>
        </p:nvSpPr>
        <p:spPr>
          <a:xfrm>
            <a:off x="4971227" y="3637877"/>
            <a:ext cx="1679387" cy="270102"/>
          </a:xfrm>
          <a:prstGeom prst="rect">
            <a:avLst/>
          </a:prstGeom>
          <a:solidFill>
            <a:srgbClr val="065A82"/>
          </a:solidFill>
          <a:ln>
            <a:noFill/>
          </a:ln>
          <a:effectLst/>
        </p:spPr>
        <p:txBody>
          <a:bodyPr rtlCol="0" anchor="ctr"/>
          <a:lstStyle/>
          <a:p>
            <a:pPr algn="ctr"/>
          </a:p>
        </p:txBody>
      </p:sp>
      <p:sp>
        <p:nvSpPr>
          <p:cNvPr id="25" name="TextBox 24"/>
          <p:cNvSpPr txBox="1"/>
          <p:nvPr/>
        </p:nvSpPr>
        <p:spPr>
          <a:xfrm>
            <a:off x="5035235"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Звук</a:t>
            </a:r>
          </a:p>
        </p:txBody>
      </p:sp>
      <p:sp>
        <p:nvSpPr>
          <p:cNvPr id="26" name="Rectangle 25"/>
          <p:cNvSpPr/>
          <p:nvPr/>
        </p:nvSpPr>
        <p:spPr>
          <a:xfrm>
            <a:off x="6650614"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714622"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Видео</a:t>
            </a:r>
          </a:p>
        </p:txBody>
      </p:sp>
      <p:sp>
        <p:nvSpPr>
          <p:cNvPr id="28" name="Rectangle 27"/>
          <p:cNvSpPr/>
          <p:nvPr/>
        </p:nvSpPr>
        <p:spPr>
          <a:xfrm>
            <a:off x="8330001"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8394009"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Трёхмерное</a:t>
            </a:r>
          </a:p>
        </p:txBody>
      </p:sp>
      <p:sp>
        <p:nvSpPr>
          <p:cNvPr id="30" name="Rectangle 29"/>
          <p:cNvSpPr/>
          <p:nvPr/>
        </p:nvSpPr>
        <p:spPr>
          <a:xfrm>
            <a:off x="10009388"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10073396"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Распознавание</a:t>
            </a:r>
          </a:p>
        </p:txBody>
      </p:sp>
      <p:sp>
        <p:nvSpPr>
          <p:cNvPr id="32" name="Rectangle 31"/>
          <p:cNvSpPr/>
          <p:nvPr/>
        </p:nvSpPr>
        <p:spPr>
          <a:xfrm>
            <a:off x="4971227" y="3857687"/>
            <a:ext cx="1679387" cy="50292"/>
          </a:xfrm>
          <a:prstGeom prst="rect">
            <a:avLst/>
          </a:prstGeom>
          <a:solidFill>
            <a:srgbClr val="F0AB00"/>
          </a:solidFill>
          <a:ln>
            <a:noFill/>
          </a:ln>
          <a:effectLst/>
        </p:spPr>
        <p:txBody>
          <a:bodyPr rtlCol="0" anchor="ctr"/>
          <a:lstStyle/>
          <a:p>
            <a:pPr algn="ctr"/>
          </a:p>
        </p:txBody>
      </p:sp>
      <p:sp>
        <p:nvSpPr>
          <p:cNvPr id="33" name="Rectangle 32"/>
          <p:cNvSpPr/>
          <p:nvPr/>
        </p:nvSpPr>
        <p:spPr>
          <a:xfrm>
            <a:off x="502920" y="3907979"/>
            <a:ext cx="2788920" cy="287863"/>
          </a:xfrm>
          <a:prstGeom prst="rect">
            <a:avLst/>
          </a:prstGeom>
          <a:solidFill>
            <a:srgbClr val="FFFFFF"/>
          </a:solidFill>
          <a:ln w="9525">
            <a:solidFill>
              <a:srgbClr val="D9E2EC"/>
            </a:solidFill>
          </a:ln>
          <a:effectLst/>
        </p:spPr>
        <p:txBody>
          <a:bodyPr rtlCol="0" anchor="ctr"/>
          <a:lstStyle/>
          <a:p>
            <a:pPr algn="ctr"/>
          </a:p>
        </p:txBody>
      </p:sp>
      <p:sp>
        <p:nvSpPr>
          <p:cNvPr id="34" name="TextBox 33"/>
          <p:cNvSpPr txBox="1"/>
          <p:nvPr/>
        </p:nvSpPr>
        <p:spPr>
          <a:xfrm>
            <a:off x="566928" y="3971987"/>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Породить первое приближение</a:t>
            </a:r>
          </a:p>
        </p:txBody>
      </p:sp>
      <p:sp>
        <p:nvSpPr>
          <p:cNvPr id="35" name="Rectangle 34"/>
          <p:cNvSpPr/>
          <p:nvPr/>
        </p:nvSpPr>
        <p:spPr>
          <a:xfrm>
            <a:off x="3291839"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3355847"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0,034–0,05 $ за изображение</a:t>
            </a:r>
          </a:p>
        </p:txBody>
      </p:sp>
      <p:sp>
        <p:nvSpPr>
          <p:cNvPr id="37" name="Rectangle 36"/>
          <p:cNvSpPr/>
          <p:nvPr/>
        </p:nvSpPr>
        <p:spPr>
          <a:xfrm>
            <a:off x="4971227"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5035235"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дубляж 0,03–0,072 $ за минуту</a:t>
            </a:r>
          </a:p>
        </p:txBody>
      </p:sp>
      <p:sp>
        <p:nvSpPr>
          <p:cNvPr id="39" name="Rectangle 38"/>
          <p:cNvSpPr/>
          <p:nvPr/>
        </p:nvSpPr>
        <p:spPr>
          <a:xfrm>
            <a:off x="6650614"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8330001"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10009388"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502920" y="4195842"/>
            <a:ext cx="2788920" cy="287863"/>
          </a:xfrm>
          <a:prstGeom prst="rect">
            <a:avLst/>
          </a:prstGeom>
          <a:solidFill>
            <a:srgbClr val="F4F7FA"/>
          </a:solidFill>
          <a:ln w="9525">
            <a:solidFill>
              <a:srgbClr val="D9E2EC"/>
            </a:solidFill>
          </a:ln>
          <a:effectLst/>
        </p:spPr>
        <p:txBody>
          <a:bodyPr rtlCol="0" anchor="ctr"/>
          <a:lstStyle/>
          <a:p>
            <a:pPr algn="ctr"/>
          </a:p>
        </p:txBody>
      </p:sp>
      <p:sp>
        <p:nvSpPr>
          <p:cNvPr id="43" name="TextBox 42"/>
          <p:cNvSpPr txBox="1"/>
          <p:nvPr/>
        </p:nvSpPr>
        <p:spPr>
          <a:xfrm>
            <a:off x="566928" y="4259850"/>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Довести до производственного качества</a:t>
            </a:r>
          </a:p>
        </p:txBody>
      </p:sp>
      <p:sp>
        <p:nvSpPr>
          <p:cNvPr id="44" name="Rectangle 43"/>
          <p:cNvSpPr/>
          <p:nvPr/>
        </p:nvSpPr>
        <p:spPr>
          <a:xfrm>
            <a:off x="3291839"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5" name="TextBox 44"/>
          <p:cNvSpPr txBox="1"/>
          <p:nvPr/>
        </p:nvSpPr>
        <p:spPr>
          <a:xfrm>
            <a:off x="3355847"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адаптеры и ручная правка</a:t>
            </a:r>
          </a:p>
        </p:txBody>
      </p:sp>
      <p:sp>
        <p:nvSpPr>
          <p:cNvPr id="46" name="Rectangle 45"/>
          <p:cNvSpPr/>
          <p:nvPr/>
        </p:nvSpPr>
        <p:spPr>
          <a:xfrm>
            <a:off x="4971227"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7" name="TextBox 46"/>
          <p:cNvSpPr txBox="1"/>
          <p:nvPr/>
        </p:nvSpPr>
        <p:spPr>
          <a:xfrm>
            <a:off x="5035235"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ручная правка дикции</a:t>
            </a:r>
          </a:p>
        </p:txBody>
      </p:sp>
      <p:sp>
        <p:nvSpPr>
          <p:cNvPr id="48" name="Rectangle 47"/>
          <p:cNvSpPr/>
          <p:nvPr/>
        </p:nvSpPr>
        <p:spPr>
          <a:xfrm>
            <a:off x="6650614"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483705"/>
            <a:ext cx="2788920" cy="287863"/>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547713"/>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Восстановить существующее</a:t>
            </a:r>
          </a:p>
        </p:txBody>
      </p:sp>
      <p:sp>
        <p:nvSpPr>
          <p:cNvPr id="53" name="Rectangle 52"/>
          <p:cNvSpPr/>
          <p:nvPr/>
        </p:nvSpPr>
        <p:spPr>
          <a:xfrm>
            <a:off x="3291839"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повышение разрешения архива</a:t>
            </a:r>
          </a:p>
        </p:txBody>
      </p:sp>
      <p:sp>
        <p:nvSpPr>
          <p:cNvPr id="55" name="Rectangle 54"/>
          <p:cNvSpPr/>
          <p:nvPr/>
        </p:nvSpPr>
        <p:spPr>
          <a:xfrm>
            <a:off x="4971227"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6" name="TextBox 55"/>
          <p:cNvSpPr txBox="1"/>
          <p:nvPr/>
        </p:nvSpPr>
        <p:spPr>
          <a:xfrm>
            <a:off x="5035235"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разделение источников</a:t>
            </a:r>
          </a:p>
        </p:txBody>
      </p:sp>
      <p:sp>
        <p:nvSpPr>
          <p:cNvPr id="57" name="Rectangle 56"/>
          <p:cNvSpPr/>
          <p:nvPr/>
        </p:nvSpPr>
        <p:spPr>
          <a:xfrm>
            <a:off x="6650614"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60" name="Rectangle 59"/>
          <p:cNvSpPr/>
          <p:nvPr/>
        </p:nvSpPr>
        <p:spPr>
          <a:xfrm>
            <a:off x="502920" y="4771568"/>
            <a:ext cx="2788920" cy="412188"/>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566928" y="4835576"/>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Соблюсти точные величины</a:t>
            </a:r>
          </a:p>
        </p:txBody>
      </p:sp>
      <p:sp>
        <p:nvSpPr>
          <p:cNvPr id="62" name="Rectangle 61"/>
          <p:cNvSpPr/>
          <p:nvPr/>
        </p:nvSpPr>
        <p:spPr>
          <a:xfrm>
            <a:off x="3291839"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3" name="TextBox 62"/>
          <p:cNvSpPr txBox="1"/>
          <p:nvPr/>
        </p:nvSpPr>
        <p:spPr>
          <a:xfrm>
            <a:off x="3355847"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размеров в выдаче не существует</a:t>
            </a:r>
          </a:p>
        </p:txBody>
      </p:sp>
      <p:sp>
        <p:nvSpPr>
          <p:cNvPr id="64" name="Rectangle 63"/>
          <p:cNvSpPr/>
          <p:nvPr/>
        </p:nvSpPr>
        <p:spPr>
          <a:xfrm>
            <a:off x="4971227"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5" name="TextBox 64"/>
          <p:cNvSpPr txBox="1"/>
          <p:nvPr/>
        </p:nvSpPr>
        <p:spPr>
          <a:xfrm>
            <a:off x="5035235"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длина задана до запуска</a:t>
            </a:r>
          </a:p>
        </p:txBody>
      </p:sp>
      <p:sp>
        <p:nvSpPr>
          <p:cNvPr id="66" name="Rectangle 65"/>
          <p:cNvSpPr/>
          <p:nvPr/>
        </p:nvSpPr>
        <p:spPr>
          <a:xfrm>
            <a:off x="6650614"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7" name="Rectangle 66"/>
          <p:cNvSpPr/>
          <p:nvPr/>
        </p:nvSpPr>
        <p:spPr>
          <a:xfrm>
            <a:off x="8330001"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183757"/>
            <a:ext cx="2788920" cy="412188"/>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66928" y="5247765"/>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Уложиться в бюджет реального времени</a:t>
            </a:r>
          </a:p>
        </p:txBody>
      </p:sp>
      <p:sp>
        <p:nvSpPr>
          <p:cNvPr id="71" name="Rectangle 70"/>
          <p:cNvSpPr/>
          <p:nvPr/>
        </p:nvSpPr>
        <p:spPr>
          <a:xfrm>
            <a:off x="3291839"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3355847"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3" name="Rectangle 72"/>
          <p:cNvSpPr/>
          <p:nvPr/>
        </p:nvSpPr>
        <p:spPr>
          <a:xfrm>
            <a:off x="4971227"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5035235"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5" name="Rectangle 74"/>
          <p:cNvSpPr/>
          <p:nvPr/>
        </p:nvSpPr>
        <p:spPr>
          <a:xfrm>
            <a:off x="6650614"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6" name="Rectangle 75"/>
          <p:cNvSpPr/>
          <p:nvPr/>
        </p:nvSpPr>
        <p:spPr>
          <a:xfrm>
            <a:off x="8330001"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7" name="Rectangle 76"/>
          <p:cNvSpPr/>
          <p:nvPr/>
        </p:nvSpPr>
        <p:spPr>
          <a:xfrm>
            <a:off x="10009388"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502920" y="5595946"/>
            <a:ext cx="2788920" cy="28786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66928" y="5659954"/>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Ответить «кто отвечает»</a:t>
            </a:r>
          </a:p>
        </p:txBody>
      </p:sp>
      <p:sp>
        <p:nvSpPr>
          <p:cNvPr id="80" name="Rectangle 79"/>
          <p:cNvSpPr/>
          <p:nvPr/>
        </p:nvSpPr>
        <p:spPr>
          <a:xfrm>
            <a:off x="3291839"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3355847"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2" name="Rectangle 81"/>
          <p:cNvSpPr/>
          <p:nvPr/>
        </p:nvSpPr>
        <p:spPr>
          <a:xfrm>
            <a:off x="4971227"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5035235"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4" name="Rectangle 83"/>
          <p:cNvSpPr/>
          <p:nvPr/>
        </p:nvSpPr>
        <p:spPr>
          <a:xfrm>
            <a:off x="6650614"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5" name="Rectangle 84"/>
          <p:cNvSpPr/>
          <p:nvPr/>
        </p:nvSpPr>
        <p:spPr>
          <a:xfrm>
            <a:off x="8330001"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6" name="Rectangle 85"/>
          <p:cNvSpPr/>
          <p:nvPr/>
        </p:nvSpPr>
        <p:spPr>
          <a:xfrm>
            <a:off x="10009388"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7" name="Rounded Rectangle 86"/>
          <p:cNvSpPr/>
          <p:nvPr/>
        </p:nvSpPr>
        <p:spPr>
          <a:xfrm>
            <a:off x="502920" y="5966105"/>
            <a:ext cx="11185855" cy="270102"/>
          </a:xfrm>
          <a:prstGeom prst="roundRect">
            <a:avLst>
              <a:gd name="adj" fmla="val 14000"/>
            </a:avLst>
          </a:prstGeom>
          <a:solidFill>
            <a:srgbClr val="FEF5E0"/>
          </a:solidFill>
          <a:ln>
            <a:noFill/>
          </a:ln>
          <a:effectLst/>
        </p:spPr>
        <p:txBody>
          <a:bodyPr rtlCol="0" anchor="ctr"/>
          <a:lstStyle/>
          <a:p>
            <a:pPr algn="ctr"/>
          </a:p>
        </p:txBody>
      </p:sp>
      <p:sp>
        <p:nvSpPr>
          <p:cNvPr id="88" name="Rectangle 87"/>
          <p:cNvSpPr/>
          <p:nvPr/>
        </p:nvSpPr>
        <p:spPr>
          <a:xfrm>
            <a:off x="502920" y="5966105"/>
            <a:ext cx="68580" cy="270102"/>
          </a:xfrm>
          <a:prstGeom prst="rect">
            <a:avLst/>
          </a:prstGeom>
          <a:solidFill>
            <a:srgbClr val="F0AB00"/>
          </a:solidFill>
          <a:ln>
            <a:noFill/>
          </a:ln>
          <a:effectLst/>
        </p:spPr>
        <p:txBody>
          <a:bodyPr rtlCol="0" anchor="ctr"/>
          <a:lstStyle/>
          <a:p>
            <a:pPr algn="ctr"/>
          </a:p>
        </p:txBody>
      </p:sp>
      <p:sp>
        <p:nvSpPr>
          <p:cNvPr id="89" name="TextBox 88"/>
          <p:cNvSpPr txBox="1"/>
          <p:nvPr/>
        </p:nvSpPr>
        <p:spPr>
          <a:xfrm>
            <a:off x="685800" y="6030113"/>
            <a:ext cx="10783519" cy="142086"/>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АДРЕС ПЛАТЕЖА   Изображение — отбор, права · Звук — права, узнавание</a:t>
            </a:r>
          </a:p>
        </p:txBody>
      </p:sp>
      <p:sp>
        <p:nvSpPr>
          <p:cNvPr id="90" name="Rectangle 8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1" name="TextBox 9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 музыкального сервиса, прочитан 27.10.2026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917558" y="914400"/>
            <a:ext cx="3771217" cy="4937760"/>
          </a:xfrm>
          <a:prstGeom prst="roundRect">
            <a:avLst>
              <a:gd name="adj" fmla="val 8082"/>
            </a:avLst>
          </a:prstGeom>
          <a:solidFill>
            <a:srgbClr val="F4F7FA"/>
          </a:solidFill>
          <a:ln w="19050">
            <a:solidFill>
              <a:srgbClr val="1C7293"/>
            </a:solidFill>
          </a:ln>
          <a:effectLst/>
        </p:spPr>
        <p:txBody>
          <a:bodyPr rtlCol="0" anchor="ctr"/>
          <a:lstStyle/>
          <a:p>
            <a:pPr algn="ctr"/>
          </a:p>
        </p:txBody>
      </p:sp>
      <p:pic>
        <p:nvPicPr>
          <p:cNvPr id="5" name="Picture 4" descr="s50-film-crew-set.jpg"/>
          <p:cNvPicPr>
            <a:picLocks noChangeAspect="1"/>
          </p:cNvPicPr>
          <p:nvPr/>
        </p:nvPicPr>
        <p:blipFill>
          <a:blip r:embed="rId2"/>
          <a:stretch>
            <a:fillRect/>
          </a:stretch>
        </p:blipFill>
        <p:spPr>
          <a:xfrm>
            <a:off x="8054718" y="1051560"/>
            <a:ext cx="3496897" cy="4663440"/>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3. Движущееся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Тот же механизм, что у неподвижной картинки, и на два порядка дороже: пять секунд видео высокой чёткости — </a:t>
            </a:r>
            <a:r>
              <a:rPr sz="1550" b="1" i="0">
                <a:solidFill>
                  <a:srgbClr val="21295C"/>
                </a:solidFill>
                <a:latin typeface="Arial"/>
              </a:rPr>
              <a:t>249 240 токенов</a:t>
            </a:r>
            <a:r>
              <a:rPr sz="1550" b="0" i="0">
                <a:solidFill>
                  <a:srgbClr val="21295C"/>
                </a:solidFill>
                <a:latin typeface="Arial"/>
              </a:rPr>
              <a:t> против </a:t>
            </a:r>
            <a:r>
              <a:rPr sz="1550" b="1" i="0">
                <a:solidFill>
                  <a:srgbClr val="21295C"/>
                </a:solidFill>
                <a:latin typeface="Arial"/>
              </a:rPr>
              <a:t>4 096</a:t>
            </a:r>
            <a:r>
              <a:rPr sz="1550" b="0" i="0">
                <a:solidFill>
                  <a:srgbClr val="21295C"/>
                </a:solidFill>
                <a:latin typeface="Arial"/>
              </a:rPr>
              <a:t> у картинки 1024×1024. Поэтому промышленный масштаб здесь виден невооружённым глазом.</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китайские микродрамы · Kalshi, финал НБА, июнь 2025 · Coca-Cola «Holidays Are Coming».</a:t>
            </a:r>
          </a:p>
        </p:txBody>
      </p:sp>
      <p:sp>
        <p:nvSpPr>
          <p:cNvPr id="10" name="TextBox 9"/>
          <p:cNvSpPr txBox="1"/>
          <p:nvPr/>
        </p:nvSpPr>
        <p:spPr>
          <a:xfrm>
            <a:off x="704088" y="4720609"/>
            <a:ext cx="574243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5510631"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523631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что именно увидит зритель в каждую секунду экранного времени</a:t>
            </a:r>
          </a:p>
        </p:txBody>
      </p:sp>
      <p:sp>
        <p:nvSpPr>
          <p:cNvPr id="7" name="TextBox 6"/>
          <p:cNvSpPr txBox="1"/>
          <p:nvPr/>
        </p:nvSpPr>
        <p:spPr>
          <a:xfrm>
            <a:off x="640080" y="2933220"/>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ним идёт самая длинная цепочка обязательств главы: права на музыку, на лица в кадре, на локацию, профсоюзные ставки, страховка, согласования</a:t>
            </a:r>
          </a:p>
        </p:txBody>
      </p:sp>
      <p:sp>
        <p:nvSpPr>
          <p:cNvPr id="8" name="Rounded Rectangle 7"/>
          <p:cNvSpPr/>
          <p:nvPr/>
        </p:nvSpPr>
        <p:spPr>
          <a:xfrm>
            <a:off x="6178143" y="1335024"/>
            <a:ext cx="5510631"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У ОБЕИХ ЦЕПОЧЕК ОДИН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какой план попадёт в монтаж</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отбора не исчезла — она выросла</a:t>
            </a:r>
          </a:p>
        </p:txBody>
      </p:sp>
      <p:sp>
        <p:nvSpPr>
          <p:cNvPr id="12" name="TextBox 11"/>
          <p:cNvSpPr txBox="1"/>
          <p:nvPr/>
        </p:nvSpPr>
        <p:spPr>
          <a:xfrm>
            <a:off x="502920" y="392356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Классическая</a:t>
            </a:r>
          </a:p>
        </p:txBody>
      </p:sp>
      <p:sp>
        <p:nvSpPr>
          <p:cNvPr id="13" name="Rounded Rectangle 12"/>
          <p:cNvSpPr/>
          <p:nvPr/>
        </p:nvSpPr>
        <p:spPr>
          <a:xfrm>
            <a:off x="1920240"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произвести план: смена, свет, исполнители, разрешение на площадку</a:t>
            </a:r>
          </a:p>
        </p:txBody>
      </p:sp>
      <p:sp>
        <p:nvSpPr>
          <p:cNvPr id="15" name="Right Arrow 14"/>
          <p:cNvSpPr/>
          <p:nvPr/>
        </p:nvSpPr>
        <p:spPr>
          <a:xfrm>
            <a:off x="5039258" y="441258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дёшев: монтажёр просматривает материал и выбирает</a:t>
            </a:r>
          </a:p>
        </p:txBody>
      </p:sp>
      <p:sp>
        <p:nvSpPr>
          <p:cNvPr id="18" name="Right Arrow 17"/>
          <p:cNvSpPr/>
          <p:nvPr/>
        </p:nvSpPr>
        <p:spPr>
          <a:xfrm>
            <a:off x="8386876" y="441258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отснятого к вышедшему: десять к одному в рекламе, десятки к одному в документалистике</a:t>
            </a:r>
          </a:p>
        </p:txBody>
      </p:sp>
      <p:sp>
        <p:nvSpPr>
          <p:cNvPr id="21" name="TextBox 20"/>
          <p:cNvSpPr txBox="1"/>
          <p:nvPr/>
        </p:nvSpPr>
        <p:spPr>
          <a:xfrm>
            <a:off x="502920" y="52582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Генеративная</a:t>
            </a:r>
          </a:p>
        </p:txBody>
      </p:sp>
      <p:sp>
        <p:nvSpPr>
          <p:cNvPr id="22" name="Rounded Rectangle 21"/>
          <p:cNvSpPr/>
          <p:nvPr/>
        </p:nvSpPr>
        <p:spPr>
          <a:xfrm>
            <a:off x="1920240"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Произвести план стоит центы</a:t>
            </a:r>
          </a:p>
        </p:txBody>
      </p:sp>
      <p:sp>
        <p:nvSpPr>
          <p:cNvPr id="24" name="Right Arrow 23"/>
          <p:cNvSpPr/>
          <p:nvPr/>
        </p:nvSpPr>
        <p:spPr>
          <a:xfrm>
            <a:off x="5039258" y="574722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отобрать: просмотреть сотни клипов, сверить постоянство персонажа, собрать связную сцену</a:t>
            </a:r>
          </a:p>
        </p:txBody>
      </p:sp>
      <p:sp>
        <p:nvSpPr>
          <p:cNvPr id="27" name="Right Arrow 26"/>
          <p:cNvSpPr/>
          <p:nvPr/>
        </p:nvSpPr>
        <p:spPr>
          <a:xfrm>
            <a:off x="8386876" y="57472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проб к годному вырастает на порядок-полтора</a:t>
            </a:r>
          </a:p>
        </p:txBody>
      </p:sp>
      <p:sp>
        <p:nvSpPr>
          <p:cNvPr id="30" name="TextBox 29"/>
          <p:cNvSpPr txBox="1"/>
          <p:nvPr/>
        </p:nvSpPr>
        <p:spPr>
          <a:xfrm>
            <a:off x="502920" y="64465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 каждой цепочке стоит дорогое место</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Восемь способов получить изображение: семь прежних и один новый</a:t>
            </a:r>
          </a:p>
        </p:txBody>
      </p:sp>
      <p:sp>
        <p:nvSpPr>
          <p:cNvPr id="4" name="Rounded Rectangle 3"/>
          <p:cNvSpPr/>
          <p:nvPr/>
        </p:nvSpPr>
        <p:spPr>
          <a:xfrm>
            <a:off x="502920" y="1335024"/>
            <a:ext cx="11185855"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СПОСОБОВ ПОЛУЧИТЬ ИЗОБРАЖЕНИЕ ВОСЕМЬ, И НИ ОДИН ИЗ СЕМИ ПРЕЖНИХ НЕ ОТМЕНЁН</a:t>
            </a:r>
          </a:p>
        </p:txBody>
      </p:sp>
      <p:sp>
        <p:nvSpPr>
          <p:cNvPr id="6" name="TextBox 5"/>
          <p:cNvSpPr txBox="1"/>
          <p:nvPr/>
        </p:nvSpPr>
        <p:spPr>
          <a:xfrm>
            <a:off x="640080" y="1725375"/>
            <a:ext cx="1091153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съёмка · экспедиция · хромакей · светодиодный объём · захват движения · стоковая библиотека · архив · трёхмерный рендер · генерация</a:t>
            </a:r>
          </a:p>
        </p:txBody>
      </p:sp>
      <p:sp>
        <p:nvSpPr>
          <p:cNvPr id="7" name="TextBox 6"/>
          <p:cNvSpPr txBox="1"/>
          <p:nvPr/>
        </p:nvSpPr>
        <p:spPr>
          <a:xfrm>
            <a:off x="640080" y="2933220"/>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рынок виртуального производства продолжал расти больше чем на тридцать процентов в год и после генеративной волны</a:t>
            </a:r>
          </a:p>
        </p:txBody>
      </p:sp>
      <p:sp>
        <p:nvSpPr>
          <p:cNvPr id="8" name="Rounded Rectangle 7"/>
          <p:cNvSpPr/>
          <p:nvPr/>
        </p:nvSpPr>
        <p:spPr>
          <a:xfrm>
            <a:off x="502920" y="3464504"/>
            <a:ext cx="5437479" cy="2000765"/>
          </a:xfrm>
          <a:prstGeom prst="roundRect">
            <a:avLst>
              <a:gd name="adj" fmla="val 15234"/>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6199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Стадии, существовавшие до 2022 года</a:t>
            </a:r>
          </a:p>
        </p:txBody>
      </p:sp>
      <p:sp>
        <p:nvSpPr>
          <p:cNvPr id="10" name="TextBox 9"/>
          <p:cNvSpPr txBox="1"/>
          <p:nvPr/>
        </p:nvSpPr>
        <p:spPr>
          <a:xfrm>
            <a:off x="667512" y="3976131"/>
            <a:ext cx="5108295" cy="1333691"/>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Съёмочный период: камера, свет, грим, исполнители; учёт в днях и планах</a:t>
            </a:r>
          </a:p>
          <a:p>
            <a:pPr algn="l">
              <a:lnSpc>
                <a:spcPct val="126000"/>
              </a:lnSpc>
            </a:pPr>
            <a:r>
              <a:rPr sz="950" b="0" i="0">
                <a:solidFill>
                  <a:srgbClr val="21295C"/>
                </a:solidFill>
                <a:latin typeface="Arial"/>
              </a:rPr>
              <a:t>• Монтаж выбирает и склеивает планы; композитинг собирает кадр из слоёв</a:t>
            </a:r>
          </a:p>
          <a:p>
            <a:pPr algn="l">
              <a:lnSpc>
                <a:spcPct val="126000"/>
              </a:lnSpc>
            </a:pPr>
            <a:r>
              <a:rPr sz="950" b="0" i="0">
                <a:solidFill>
                  <a:srgbClr val="21295C"/>
                </a:solidFill>
                <a:latin typeface="Arial"/>
              </a:rPr>
              <a:t>• Ротоскопирование: покадровое выделение объекта, самая трудоёмкая рутина отрасли</a:t>
            </a:r>
          </a:p>
          <a:p>
            <a:pPr algn="l">
              <a:lnSpc>
                <a:spcPct val="126000"/>
              </a:lnSpc>
            </a:pPr>
            <a:r>
              <a:rPr sz="950" b="0" i="0">
                <a:solidFill>
                  <a:srgbClr val="21295C"/>
                </a:solidFill>
                <a:latin typeface="Arial"/>
              </a:rPr>
              <a:t>• Цветокоррекция и визуальные эффекты</a:t>
            </a:r>
          </a:p>
          <a:p>
            <a:pPr algn="l">
              <a:lnSpc>
                <a:spcPct val="126000"/>
              </a:lnSpc>
            </a:pPr>
            <a:r>
              <a:rPr sz="950" b="0" i="0">
                <a:solidFill>
                  <a:srgbClr val="21295C"/>
                </a:solidFill>
                <a:latin typeface="Arial"/>
              </a:rPr>
              <a:t>• Виртуальное производство, с 2019: фон со светодиодной стены прямо в камеру</a:t>
            </a:r>
          </a:p>
          <a:p>
            <a:pPr algn="l">
              <a:lnSpc>
                <a:spcPct val="126000"/>
              </a:lnSpc>
            </a:pPr>
            <a:r>
              <a:rPr sz="950" b="0" i="0">
                <a:solidFill>
                  <a:srgbClr val="21295C"/>
                </a:solidFill>
                <a:latin typeface="Arial"/>
              </a:rPr>
              <a:t>• Анимация производит изображение без съёмки вовсе</a:t>
            </a:r>
          </a:p>
        </p:txBody>
      </p:sp>
      <p:sp>
        <p:nvSpPr>
          <p:cNvPr id="11" name="Rounded Rectangle 10"/>
          <p:cNvSpPr/>
          <p:nvPr/>
        </p:nvSpPr>
        <p:spPr>
          <a:xfrm>
            <a:off x="6251295" y="3464504"/>
            <a:ext cx="5437479" cy="2000765"/>
          </a:xfrm>
          <a:prstGeom prst="roundRect">
            <a:avLst>
              <a:gd name="adj" fmla="val 15234"/>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36199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Стадии, появившиеся с 2022 года</a:t>
            </a:r>
          </a:p>
        </p:txBody>
      </p:sp>
      <p:sp>
        <p:nvSpPr>
          <p:cNvPr id="13" name="TextBox 12"/>
          <p:cNvSpPr txBox="1"/>
          <p:nvPr/>
        </p:nvSpPr>
        <p:spPr>
          <a:xfrm>
            <a:off x="6415887" y="3976131"/>
            <a:ext cx="5108295" cy="133369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Генерация плана по описанию: на входе фраза, на выходе клип в несколько секунд</a:t>
            </a:r>
          </a:p>
          <a:p>
            <a:pPr algn="l">
              <a:lnSpc>
                <a:spcPct val="126000"/>
              </a:lnSpc>
            </a:pPr>
            <a:r>
              <a:rPr sz="1000" b="0" i="0">
                <a:solidFill>
                  <a:srgbClr val="21295C"/>
                </a:solidFill>
                <a:latin typeface="Arial"/>
              </a:rPr>
              <a:t>• Оживление кадра: на входе готовая картинка, на выходе движение из неё</a:t>
            </a:r>
          </a:p>
          <a:p>
            <a:pPr algn="l">
              <a:lnSpc>
                <a:spcPct val="126000"/>
              </a:lnSpc>
            </a:pPr>
            <a:r>
              <a:rPr sz="1000" b="0" i="0">
                <a:solidFill>
                  <a:srgbClr val="21295C"/>
                </a:solidFill>
                <a:latin typeface="Arial"/>
              </a:rPr>
              <a:t>• Продление сцены: модель достраивает клип вперёд или назад от последнего кадра</a:t>
            </a:r>
          </a:p>
          <a:p>
            <a:pPr algn="l">
              <a:lnSpc>
                <a:spcPct val="126000"/>
              </a:lnSpc>
            </a:pPr>
            <a:r>
              <a:rPr sz="1000" b="0" i="0">
                <a:solidFill>
                  <a:srgbClr val="21295C"/>
                </a:solidFill>
                <a:latin typeface="Arial"/>
              </a:rPr>
              <a:t>• Вход генеративной цепочки — текст, иногда стартовый кадр, иногда до десяти опорных кадров и до пятнадцати референсов на одну генерацию</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Правильный ответ на вопрос «чем снимать» в половине случаев остаётся «камерой»: светодиодный объём не отменил хромакей, хромакей не отменил экспедицию, генерация не отменила съёмку.</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БАЗОВЫЙ ТЕЛЕВИЗИОННЫЙ РОЛИК, РОССИЯ</a:t>
            </a:r>
          </a:p>
        </p:txBody>
      </p:sp>
      <p:sp>
        <p:nvSpPr>
          <p:cNvPr id="6" name="TextBox 5"/>
          <p:cNvSpPr txBox="1"/>
          <p:nvPr/>
        </p:nvSpPr>
        <p:spPr>
          <a:xfrm>
            <a:off x="640080" y="2140317"/>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300 000–800 000 ₽</a:t>
            </a:r>
          </a:p>
        </p:txBody>
      </p:sp>
      <p:sp>
        <p:nvSpPr>
          <p:cNvPr id="7" name="TextBox 6"/>
          <p:cNvSpPr txBox="1"/>
          <p:nvPr/>
        </p:nvSpPr>
        <p:spPr>
          <a:xfrm>
            <a:off x="640080" y="295774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студийная съёмка один-два дня, группа 3–5 человек</a:t>
            </a:r>
          </a:p>
        </p:txBody>
      </p:sp>
      <p:sp>
        <p:nvSpPr>
          <p:cNvPr id="8" name="Rounded Rectangle 7"/>
          <p:cNvSpPr/>
          <p:nvPr/>
        </p:nvSpPr>
        <p:spPr>
          <a:xfrm>
            <a:off x="2773009"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СРЕДНИЙ УРОВЕНЬ</a:t>
            </a:r>
          </a:p>
        </p:txBody>
      </p:sp>
      <p:sp>
        <p:nvSpPr>
          <p:cNvPr id="10" name="TextBox 9"/>
          <p:cNvSpPr txBox="1"/>
          <p:nvPr/>
        </p:nvSpPr>
        <p:spPr>
          <a:xfrm>
            <a:off x="2910169"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800 000–2 500 000 ₽</a:t>
            </a:r>
          </a:p>
        </p:txBody>
      </p:sp>
      <p:sp>
        <p:nvSpPr>
          <p:cNvPr id="11" name="TextBox 10"/>
          <p:cNvSpPr txBox="1"/>
          <p:nvPr/>
        </p:nvSpPr>
        <p:spPr>
          <a:xfrm>
            <a:off x="2910169" y="2542797"/>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два-четыре съёмочных дня</a:t>
            </a:r>
          </a:p>
        </p:txBody>
      </p:sp>
      <p:sp>
        <p:nvSpPr>
          <p:cNvPr id="12" name="Rounded Rectangle 11"/>
          <p:cNvSpPr/>
          <p:nvPr/>
        </p:nvSpPr>
        <p:spPr>
          <a:xfrm>
            <a:off x="5043098"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ПРЕМИАЛЬНЫЙ</a:t>
            </a:r>
          </a:p>
        </p:txBody>
      </p:sp>
      <p:sp>
        <p:nvSpPr>
          <p:cNvPr id="14" name="TextBox 13"/>
          <p:cNvSpPr txBox="1"/>
          <p:nvPr/>
        </p:nvSpPr>
        <p:spPr>
          <a:xfrm>
            <a:off x="5180258" y="1725375"/>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2 500 000–10 000 000 ₽ и выше</a:t>
            </a:r>
          </a:p>
        </p:txBody>
      </p:sp>
      <p:sp>
        <p:nvSpPr>
          <p:cNvPr id="15" name="TextBox 14"/>
          <p:cNvSpPr txBox="1"/>
          <p:nvPr/>
        </p:nvSpPr>
        <p:spPr>
          <a:xfrm>
            <a:off x="5180258" y="233909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группа 10–20 человек, спецэффекты; гонорар известного актёра — от 500 000 ₽ за съёмочный день</a:t>
            </a:r>
          </a:p>
        </p:txBody>
      </p:sp>
      <p:sp>
        <p:nvSpPr>
          <p:cNvPr id="16" name="Rounded Rectangle 15"/>
          <p:cNvSpPr/>
          <p:nvPr/>
        </p:nvSpPr>
        <p:spPr>
          <a:xfrm>
            <a:off x="7313188"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РОЛИК ТЕХНИЧЕСКОЙ СЛОЖНОСТИ, СОПОСТАВИМОЙ С ГЕНЕРАТИВНЫМИ СЛУЧАЯМИ РАЗДЕЛА</a:t>
            </a:r>
          </a:p>
        </p:txBody>
      </p:sp>
      <p:sp>
        <p:nvSpPr>
          <p:cNvPr id="18" name="TextBox 17"/>
          <p:cNvSpPr txBox="1"/>
          <p:nvPr/>
        </p:nvSpPr>
        <p:spPr>
          <a:xfrm>
            <a:off x="7450348" y="2555260"/>
            <a:ext cx="1831177"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группа от пятидесяти человек, цикл год</a:t>
            </a:r>
          </a:p>
        </p:txBody>
      </p:sp>
      <p:sp>
        <p:nvSpPr>
          <p:cNvPr id="19" name="TextBox 18"/>
          <p:cNvSpPr txBox="1"/>
          <p:nvPr/>
        </p:nvSpPr>
        <p:spPr>
          <a:xfrm>
            <a:off x="7450348" y="3381170"/>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тот режим, с которым сравнивается кампания из третьего разбора</a:t>
            </a:r>
          </a:p>
        </p:txBody>
      </p:sp>
      <p:sp>
        <p:nvSpPr>
          <p:cNvPr id="20" name="Rounded Rectangle 19"/>
          <p:cNvSpPr/>
          <p:nvPr/>
        </p:nvSpPr>
        <p:spPr>
          <a:xfrm>
            <a:off x="9583277" y="1335024"/>
            <a:ext cx="2105497" cy="3417760"/>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ОБЩЕЕ СВОЙСТВО ВСЕХ КЛАССИЧЕСКИХ РЕЖИМОВ</a:t>
            </a:r>
          </a:p>
        </p:txBody>
      </p:sp>
      <p:sp>
        <p:nvSpPr>
          <p:cNvPr id="22" name="TextBox 21"/>
          <p:cNvSpPr txBox="1"/>
          <p:nvPr/>
        </p:nvSpPr>
        <p:spPr>
          <a:xfrm>
            <a:off x="9720437" y="2140317"/>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неудачная попытка не бесплатна</a:t>
            </a:r>
          </a:p>
        </p:txBody>
      </p:sp>
      <p:sp>
        <p:nvSpPr>
          <p:cNvPr id="23" name="TextBox 22"/>
          <p:cNvSpPr txBox="1"/>
          <p:nvPr/>
        </p:nvSpPr>
        <p:spPr>
          <a:xfrm>
            <a:off x="9720437" y="3348163"/>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съёмочный день стоит съёмочного дня, машино-час — машино-часа, панель — панели. Именно это и отменилось в 2022 году</a:t>
            </a:r>
          </a:p>
        </p:txBody>
      </p:sp>
      <p:sp>
        <p:nvSpPr>
          <p:cNvPr id="24" name="Rounded Rectangle 23"/>
          <p:cNvSpPr/>
          <p:nvPr/>
        </p:nvSpPr>
        <p:spPr>
          <a:xfrm>
            <a:off x="502920" y="4935664"/>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509111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Единица «цена одного ролика»</a:t>
            </a:r>
          </a:p>
        </p:txBody>
      </p:sp>
      <p:sp>
        <p:nvSpPr>
          <p:cNvPr id="26" name="TextBox 25"/>
          <p:cNvSpPr txBox="1"/>
          <p:nvPr/>
        </p:nvSpPr>
        <p:spPr>
          <a:xfrm>
            <a:off x="667512" y="544729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Российская полоса: 300 000–800 000 ₽ базовый, 800 000–2 500 000 средний, 2 500 000–10 000 000 премиальный</a:t>
            </a:r>
          </a:p>
          <a:p>
            <a:pPr algn="l">
              <a:lnSpc>
                <a:spcPct val="126000"/>
              </a:lnSpc>
            </a:pPr>
            <a:r>
              <a:rPr sz="900" b="0" i="0">
                <a:solidFill>
                  <a:srgbClr val="21295C"/>
                </a:solidFill>
                <a:latin typeface="Arial"/>
              </a:rPr>
              <a:t>• Музыка отдельно: лицензионный трек 10 000–50 000 ₽, оригинальный от 150 000 ₽</a:t>
            </a:r>
          </a:p>
          <a:p>
            <a:pPr algn="l">
              <a:lnSpc>
                <a:spcPct val="126000"/>
              </a:lnSpc>
            </a:pPr>
            <a:r>
              <a:rPr sz="900" b="0" i="0">
                <a:solidFill>
                  <a:srgbClr val="21295C"/>
                </a:solidFill>
                <a:latin typeface="Arial"/>
              </a:rPr>
              <a:t>• Общая единица: 300 000 ₽ за 30-секундный ролик — 10 000 ₽ за секунду эфира</a:t>
            </a:r>
          </a:p>
        </p:txBody>
      </p:sp>
      <p:sp>
        <p:nvSpPr>
          <p:cNvPr id="27" name="Rounded Rectangle 26"/>
          <p:cNvSpPr/>
          <p:nvPr/>
        </p:nvSpPr>
        <p:spPr>
          <a:xfrm>
            <a:off x="6251295" y="4935664"/>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509111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Единица «цена одного выпуска»</a:t>
            </a:r>
          </a:p>
        </p:txBody>
      </p:sp>
      <p:sp>
        <p:nvSpPr>
          <p:cNvPr id="29" name="TextBox 28"/>
          <p:cNvSpPr txBox="1"/>
          <p:nvPr/>
        </p:nvSpPr>
        <p:spPr>
          <a:xfrm>
            <a:off x="6415887" y="544729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Живая микродрама 2024 года: свыше 1 млн юаней за выпуск, около 137 тысяч долларов</a:t>
            </a:r>
          </a:p>
          <a:p>
            <a:pPr algn="l">
              <a:lnSpc>
                <a:spcPct val="126000"/>
              </a:lnSpc>
            </a:pPr>
            <a:r>
              <a:rPr sz="900" b="0" i="0">
                <a:solidFill>
                  <a:srgbClr val="21295C"/>
                </a:solidFill>
                <a:latin typeface="Arial"/>
              </a:rPr>
              <a:t>• «Ирландец», 2019: бюджет со 125 до 159 млн $ на 1 750 планах омоложения</a:t>
            </a:r>
          </a:p>
          <a:p>
            <a:pPr algn="l">
              <a:lnSpc>
                <a:spcPct val="126000"/>
              </a:lnSpc>
            </a:pPr>
            <a:r>
              <a:rPr sz="900" b="0" i="0">
                <a:solidFill>
                  <a:srgbClr val="21295C"/>
                </a:solidFill>
                <a:latin typeface="Arial"/>
              </a:rPr>
              <a:t>• Супервайзер: в пересчёте на план — как в обычном фильме; планов здесь на два фильма</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отраслевые прайс-обзоры по российскому рынку; «Ирландец», 2019; Avid Media Composer, 1989; «История игрушек», 1995; StageCraft, 2019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китайские микродрамы</a:t>
            </a:r>
          </a:p>
        </p:txBody>
      </p:sp>
      <p:sp>
        <p:nvSpPr>
          <p:cNvPr id="4" name="Rounded Rectangle 3"/>
          <p:cNvSpPr/>
          <p:nvPr/>
        </p:nvSpPr>
        <p:spPr>
          <a:xfrm>
            <a:off x="502920" y="1335024"/>
            <a:ext cx="2673019" cy="2342681"/>
          </a:xfrm>
          <a:prstGeom prst="roundRect">
            <a:avLst>
              <a:gd name="adj" fmla="val 1301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промах подешевел в 10–20 раз, пропущенный хит не изменился ни на юань</a:t>
            </a:r>
          </a:p>
        </p:txBody>
      </p:sp>
      <p:sp>
        <p:nvSpPr>
          <p:cNvPr id="7" name="TextBox 6"/>
          <p:cNvSpPr txBox="1"/>
          <p:nvPr/>
        </p:nvSpPr>
        <p:spPr>
          <a:xfrm>
            <a:off x="640080" y="23730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этого расхождения и выросла вся перестройка</a:t>
            </a:r>
          </a:p>
        </p:txBody>
      </p:sp>
      <p:sp>
        <p:nvSpPr>
          <p:cNvPr id="8" name="Rounded Rectangle 7"/>
          <p:cNvSpPr/>
          <p:nvPr/>
        </p:nvSpPr>
        <p:spPr>
          <a:xfrm>
            <a:off x="3340531" y="1335024"/>
            <a:ext cx="2673019" cy="2342681"/>
          </a:xfrm>
          <a:prstGeom prst="roundRect">
            <a:avLst>
              <a:gd name="adj" fmla="val 1301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ЖИВАЯ МИКРОДРАМА 2024 ГОДА</a:t>
            </a:r>
          </a:p>
        </p:txBody>
      </p:sp>
      <p:sp>
        <p:nvSpPr>
          <p:cNvPr id="10" name="TextBox 9"/>
          <p:cNvSpPr txBox="1"/>
          <p:nvPr/>
        </p:nvSpPr>
        <p:spPr>
          <a:xfrm>
            <a:off x="3477691" y="2140317"/>
            <a:ext cx="2398699"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свыше 1 млн юаней за выпуск</a:t>
            </a:r>
          </a:p>
        </p:txBody>
      </p:sp>
      <p:sp>
        <p:nvSpPr>
          <p:cNvPr id="11" name="TextBox 10"/>
          <p:cNvSpPr txBox="1"/>
          <p:nvPr/>
        </p:nvSpPr>
        <p:spPr>
          <a:xfrm>
            <a:off x="3477691" y="290681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137 тысяч долларов: съёмка с актёрами, площадкой и группой</a:t>
            </a:r>
          </a:p>
        </p:txBody>
      </p:sp>
      <p:sp>
        <p:nvSpPr>
          <p:cNvPr id="12" name="Rounded Rectangle 11"/>
          <p:cNvSpPr/>
          <p:nvPr/>
        </p:nvSpPr>
        <p:spPr>
          <a:xfrm>
            <a:off x="6178143" y="1335024"/>
            <a:ext cx="2673019" cy="2342681"/>
          </a:xfrm>
          <a:prstGeom prst="roundRect">
            <a:avLst>
              <a:gd name="adj" fmla="val 1301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КИНОПРОКАТ КАК КАНАЛ ТОЙ ЖЕ АУДИТОРИИ</a:t>
            </a:r>
          </a:p>
        </p:txBody>
      </p:sp>
      <p:sp>
        <p:nvSpPr>
          <p:cNvPr id="14" name="TextBox 13"/>
          <p:cNvSpPr txBox="1"/>
          <p:nvPr/>
        </p:nvSpPr>
        <p:spPr>
          <a:xfrm>
            <a:off x="6315303" y="2140317"/>
            <a:ext cx="2398699"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около 100 млрд юаней в 2025, свыше 120 млрд в 2026</a:t>
            </a:r>
          </a:p>
        </p:txBody>
      </p:sp>
      <p:sp>
        <p:nvSpPr>
          <p:cNvPr id="15" name="TextBox 14"/>
          <p:cNvSpPr txBox="1"/>
          <p:nvPr/>
        </p:nvSpPr>
        <p:spPr>
          <a:xfrm>
            <a:off x="6315303" y="260126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2026 году рынок микродрам впервые превосходит весь кинопрокат страны</a:t>
            </a:r>
          </a:p>
        </p:txBody>
      </p:sp>
      <p:sp>
        <p:nvSpPr>
          <p:cNvPr id="16" name="Rounded Rectangle 15"/>
          <p:cNvSpPr/>
          <p:nvPr/>
        </p:nvSpPr>
        <p:spPr>
          <a:xfrm>
            <a:off x="9015755" y="1335024"/>
            <a:ext cx="2673019" cy="2342681"/>
          </a:xfrm>
          <a:prstGeom prst="roundRect">
            <a:avLst>
              <a:gd name="adj" fmla="val 1301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9152915" y="1725375"/>
            <a:ext cx="2398699"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50–100 тыс. юаней за выпуск</a:t>
            </a:r>
          </a:p>
        </p:txBody>
      </p:sp>
      <p:sp>
        <p:nvSpPr>
          <p:cNvPr id="19" name="TextBox 18"/>
          <p:cNvSpPr txBox="1"/>
          <p:nvPr/>
        </p:nvSpPr>
        <p:spPr>
          <a:xfrm>
            <a:off x="9152915" y="2491872"/>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7–14 тысяч долларов; падение в 10–20 раз от классического режима, не от нуля</a:t>
            </a:r>
          </a:p>
        </p:txBody>
      </p:sp>
      <p:sp>
        <p:nvSpPr>
          <p:cNvPr id="20" name="Rounded Rectangle 19"/>
          <p:cNvSpPr/>
          <p:nvPr/>
        </p:nvSpPr>
        <p:spPr>
          <a:xfrm>
            <a:off x="502920" y="3842297"/>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3979457"/>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a:t>
            </a:r>
          </a:p>
        </p:txBody>
      </p:sp>
      <p:sp>
        <p:nvSpPr>
          <p:cNvPr id="22" name="TextBox 21"/>
          <p:cNvSpPr txBox="1"/>
          <p:nvPr/>
        </p:nvSpPr>
        <p:spPr>
          <a:xfrm>
            <a:off x="640080" y="4232649"/>
            <a:ext cx="3344570" cy="494898"/>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430 000 выпусков за восемь месяцев, доля сгенерированных более 90 %</a:t>
            </a:r>
          </a:p>
        </p:txBody>
      </p:sp>
      <p:sp>
        <p:nvSpPr>
          <p:cNvPr id="23" name="TextBox 22"/>
          <p:cNvSpPr txBox="1"/>
          <p:nvPr/>
        </p:nvSpPr>
        <p:spPr>
          <a:xfrm>
            <a:off x="640080" y="472754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I квартал — около 128 000 при доле свыше 95 %; первое полугодие — 367 000 при доле более 74 %</a:t>
            </a:r>
          </a:p>
        </p:txBody>
      </p:sp>
      <p:sp>
        <p:nvSpPr>
          <p:cNvPr id="24" name="Rounded Rectangle 23"/>
          <p:cNvSpPr/>
          <p:nvPr/>
        </p:nvSpPr>
        <p:spPr>
          <a:xfrm>
            <a:off x="4286402" y="3842297"/>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4423562" y="3979457"/>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ТЕМП ИЮЛЯ 2026</a:t>
            </a:r>
          </a:p>
        </p:txBody>
      </p:sp>
      <p:sp>
        <p:nvSpPr>
          <p:cNvPr id="26" name="TextBox 25"/>
          <p:cNvSpPr txBox="1"/>
          <p:nvPr/>
        </p:nvSpPr>
        <p:spPr>
          <a:xfrm>
            <a:off x="4423562" y="4232649"/>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одна сгенерированная микродрама каждые 36 секунд</a:t>
            </a:r>
          </a:p>
        </p:txBody>
      </p:sp>
      <p:sp>
        <p:nvSpPr>
          <p:cNvPr id="27" name="TextBox 26"/>
          <p:cNvSpPr txBox="1"/>
          <p:nvPr/>
        </p:nvSpPr>
        <p:spPr>
          <a:xfrm>
            <a:off x="4423562" y="48293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измерение предложения; о востребованности оно не говорит ничего</a:t>
            </a:r>
          </a:p>
        </p:txBody>
      </p:sp>
      <p:sp>
        <p:nvSpPr>
          <p:cNvPr id="28" name="Rounded Rectangle 27"/>
          <p:cNvSpPr/>
          <p:nvPr/>
        </p:nvSpPr>
        <p:spPr>
          <a:xfrm>
            <a:off x="8069884" y="3842297"/>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29" name="TextBox 28"/>
          <p:cNvSpPr txBox="1"/>
          <p:nvPr/>
        </p:nvSpPr>
        <p:spPr>
          <a:xfrm>
            <a:off x="8207044" y="3979457"/>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СКОРОСТЬ ПЕРЕХОДА ПРОТИВ БАЗЫ</a:t>
            </a:r>
          </a:p>
        </p:txBody>
      </p:sp>
      <p:sp>
        <p:nvSpPr>
          <p:cNvPr id="30" name="TextBox 29"/>
          <p:cNvSpPr txBox="1"/>
          <p:nvPr/>
        </p:nvSpPr>
        <p:spPr>
          <a:xfrm>
            <a:off x="8207044" y="423264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года против четырнадцати лет</a:t>
            </a:r>
          </a:p>
        </p:txBody>
      </p:sp>
      <p:sp>
        <p:nvSpPr>
          <p:cNvPr id="31" name="TextBox 30"/>
          <p:cNvSpPr txBox="1"/>
          <p:nvPr/>
        </p:nvSpPr>
        <p:spPr>
          <a:xfrm>
            <a:off x="8207044" y="5050071"/>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нелинейному монтажу понадобилось с 1989 по 2003 год, чтобы вытеснить физическую склейку плёнки</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Caixin, 01.06.2026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Kalshi, финал НБА, июнь 2025</a:t>
            </a:r>
          </a:p>
        </p:txBody>
      </p:sp>
      <p:sp>
        <p:nvSpPr>
          <p:cNvPr id="4" name="Rounded Rectangle 3"/>
          <p:cNvSpPr/>
          <p:nvPr/>
        </p:nvSpPr>
        <p:spPr>
          <a:xfrm>
            <a:off x="502920"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831177"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300–400 генераций на 15 пригодных склеек</a:t>
            </a:r>
          </a:p>
        </p:txBody>
      </p:sp>
      <p:sp>
        <p:nvSpPr>
          <p:cNvPr id="7" name="TextBox 6"/>
          <p:cNvSpPr txBox="1"/>
          <p:nvPr/>
        </p:nvSpPr>
        <p:spPr>
          <a:xfrm>
            <a:off x="640080" y="2203299"/>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неудачная попытка — секунды вычислений и центы; пропущенная удачная — весь ролик</a:t>
            </a:r>
          </a:p>
        </p:txBody>
      </p:sp>
      <p:sp>
        <p:nvSpPr>
          <p:cNvPr id="8" name="Rounded Rectangle 7"/>
          <p:cNvSpPr/>
          <p:nvPr/>
        </p:nvSpPr>
        <p:spPr>
          <a:xfrm>
            <a:off x="2773009"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ПРОИЗВОДСТВО РОЛИКА ТОГО ЖЕ СЛОТА</a:t>
            </a:r>
          </a:p>
        </p:txBody>
      </p:sp>
      <p:sp>
        <p:nvSpPr>
          <p:cNvPr id="10" name="TextBox 9"/>
          <p:cNvSpPr txBox="1"/>
          <p:nvPr/>
        </p:nvSpPr>
        <p:spPr>
          <a:xfrm>
            <a:off x="2910169" y="2555260"/>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40 000 $</a:t>
            </a:r>
          </a:p>
        </p:txBody>
      </p:sp>
      <p:sp>
        <p:nvSpPr>
          <p:cNvPr id="11" name="TextBox 10"/>
          <p:cNvSpPr txBox="1"/>
          <p:nvPr/>
        </p:nvSpPr>
        <p:spPr>
          <a:xfrm>
            <a:off x="2910169" y="337268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автором относительно: снижение стоимости на 95 процентов</a:t>
            </a:r>
          </a:p>
        </p:txBody>
      </p:sp>
      <p:sp>
        <p:nvSpPr>
          <p:cNvPr id="12" name="Rounded Rectangle 11"/>
          <p:cNvSpPr/>
          <p:nvPr/>
        </p:nvSpPr>
        <p:spPr>
          <a:xfrm>
            <a:off x="5043098"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РОССИЙСКАЯ ОПОРНАЯ ПОЛОСА</a:t>
            </a:r>
          </a:p>
        </p:txBody>
      </p:sp>
      <p:sp>
        <p:nvSpPr>
          <p:cNvPr id="14" name="TextBox 13"/>
          <p:cNvSpPr txBox="1"/>
          <p:nvPr/>
        </p:nvSpPr>
        <p:spPr>
          <a:xfrm>
            <a:off x="5180258" y="2347789"/>
            <a:ext cx="1831177"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10 000 ₽ за секунду эфирного материала</a:t>
            </a:r>
          </a:p>
        </p:txBody>
      </p:sp>
      <p:sp>
        <p:nvSpPr>
          <p:cNvPr id="15" name="TextBox 14"/>
          <p:cNvSpPr txBox="1"/>
          <p:nvPr/>
        </p:nvSpPr>
        <p:spPr>
          <a:xfrm>
            <a:off x="5180258" y="2825713"/>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300 000 ₽ за тридцатисекундный ролик; против 4–10 ₽ за секунду генерации при курсе около 80 ₽ за доллар</a:t>
            </a:r>
          </a:p>
        </p:txBody>
      </p:sp>
      <p:sp>
        <p:nvSpPr>
          <p:cNvPr id="16" name="Rounded Rectangle 15"/>
          <p:cNvSpPr/>
          <p:nvPr/>
        </p:nvSpPr>
        <p:spPr>
          <a:xfrm>
            <a:off x="7313188" y="1335024"/>
            <a:ext cx="2105497" cy="3019792"/>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7450348" y="1725375"/>
            <a:ext cx="1831177"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2 000 $, один человек, 2–3 дня</a:t>
            </a:r>
          </a:p>
        </p:txBody>
      </p:sp>
      <p:sp>
        <p:nvSpPr>
          <p:cNvPr id="19" name="TextBox 18"/>
          <p:cNvSpPr txBox="1"/>
          <p:nvPr/>
        </p:nvSpPr>
        <p:spPr>
          <a:xfrm>
            <a:off x="7450348" y="2322123"/>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Veo 3; подсказки по этой работе опубликованы</a:t>
            </a:r>
          </a:p>
        </p:txBody>
      </p:sp>
      <p:sp>
        <p:nvSpPr>
          <p:cNvPr id="20" name="Rounded Rectangle 19"/>
          <p:cNvSpPr/>
          <p:nvPr/>
        </p:nvSpPr>
        <p:spPr>
          <a:xfrm>
            <a:off x="9583277"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a:t>
            </a:r>
          </a:p>
        </p:txBody>
      </p:sp>
      <p:sp>
        <p:nvSpPr>
          <p:cNvPr id="22" name="TextBox 21"/>
          <p:cNvSpPr txBox="1"/>
          <p:nvPr/>
        </p:nvSpPr>
        <p:spPr>
          <a:xfrm>
            <a:off x="9720437" y="1725375"/>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96 %</a:t>
            </a:r>
          </a:p>
        </p:txBody>
      </p:sp>
      <p:sp>
        <p:nvSpPr>
          <p:cNvPr id="23" name="TextBox 22"/>
          <p:cNvSpPr txBox="1"/>
          <p:nvPr/>
        </p:nvSpPr>
        <p:spPr>
          <a:xfrm>
            <a:off x="9720437" y="215237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400 к 15; экономия равна цене попытки, делённой на долю годного</a:t>
            </a:r>
          </a:p>
        </p:txBody>
      </p:sp>
      <p:sp>
        <p:nvSpPr>
          <p:cNvPr id="24" name="Rounded Rectangle 23"/>
          <p:cNvSpPr/>
          <p:nvPr/>
        </p:nvSpPr>
        <p:spPr>
          <a:xfrm>
            <a:off x="502920" y="4519408"/>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656568"/>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КОТОРУЮ НЕЛЬЗЯ ПОТЕРЯТЬ</a:t>
            </a:r>
          </a:p>
        </p:txBody>
      </p:sp>
      <p:sp>
        <p:nvSpPr>
          <p:cNvPr id="26" name="TextBox 25"/>
          <p:cNvSpPr txBox="1"/>
          <p:nvPr/>
        </p:nvSpPr>
        <p:spPr>
          <a:xfrm>
            <a:off x="640080" y="4909759"/>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это финал НБА, Супербоул здесь ни при чём</a:t>
            </a:r>
          </a:p>
        </p:txBody>
      </p:sp>
      <p:sp>
        <p:nvSpPr>
          <p:cNvPr id="27" name="TextBox 26"/>
          <p:cNvSpPr txBox="1"/>
          <p:nvPr/>
        </p:nvSpPr>
        <p:spPr>
          <a:xfrm>
            <a:off x="640080" y="533675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лига американского футбола рекламу предсказательных рынков не берёт; ошибка кочует по пересказам</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NPR, 23.06.2025; автор работы — Пи-Джей Аккетуро</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Coca-Cola «Holidays Are Coming»</a:t>
            </a:r>
          </a:p>
        </p:txBody>
      </p:sp>
      <p:sp>
        <p:nvSpPr>
          <p:cNvPr id="4" name="Rounded Rectangle 3"/>
          <p:cNvSpPr/>
          <p:nvPr/>
        </p:nvSpPr>
        <p:spPr>
          <a:xfrm>
            <a:off x="502920"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82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932846"/>
            <a:ext cx="145282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раньше — съёмочный день внутри годового цикла, теперь — одна генерация внутри месячного</a:t>
            </a:r>
          </a:p>
        </p:txBody>
      </p:sp>
      <p:sp>
        <p:nvSpPr>
          <p:cNvPr id="7" name="TextBox 6"/>
          <p:cNvSpPr txBox="1"/>
          <p:nvPr/>
        </p:nvSpPr>
        <p:spPr>
          <a:xfrm>
            <a:off x="640080" y="3191616"/>
            <a:ext cx="145282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величина, подтверждённая первым лицом компании</a:t>
            </a:r>
          </a:p>
        </p:txBody>
      </p:sp>
      <p:sp>
        <p:nvSpPr>
          <p:cNvPr id="8" name="Rounded Rectangle 7"/>
          <p:cNvSpPr/>
          <p:nvPr/>
        </p:nvSpPr>
        <p:spPr>
          <a:xfrm>
            <a:off x="2394661"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821" y="1472184"/>
            <a:ext cx="145282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СЪЁМКА РОЛИКА ТАКОЙ СЛОЖНОСТИ</a:t>
            </a:r>
          </a:p>
        </p:txBody>
      </p:sp>
      <p:sp>
        <p:nvSpPr>
          <p:cNvPr id="10" name="TextBox 9"/>
          <p:cNvSpPr txBox="1"/>
          <p:nvPr/>
        </p:nvSpPr>
        <p:spPr>
          <a:xfrm>
            <a:off x="2531821" y="2555260"/>
            <a:ext cx="1452829"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группа от 50 человек, цикл год</a:t>
            </a:r>
          </a:p>
        </p:txBody>
      </p:sp>
      <p:sp>
        <p:nvSpPr>
          <p:cNvPr id="11" name="TextBox 10"/>
          <p:cNvSpPr txBox="1"/>
          <p:nvPr/>
        </p:nvSpPr>
        <p:spPr>
          <a:xfrm>
            <a:off x="2531821" y="3016209"/>
            <a:ext cx="145282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прямая формулировка директора по маркетингу: цикл схлопнулся «с года примерно до месяца»</a:t>
            </a:r>
          </a:p>
        </p:txBody>
      </p:sp>
      <p:sp>
        <p:nvSpPr>
          <p:cNvPr id="12" name="Rounded Rectangle 11"/>
          <p:cNvSpPr/>
          <p:nvPr/>
        </p:nvSpPr>
        <p:spPr>
          <a:xfrm>
            <a:off x="4286402"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3562" y="1472184"/>
            <a:ext cx="1452829" cy="1498018"/>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ПОВТОРНАЯ СЪЁМКА ОРИГИНАЛА 1995 ГОДА ПРЕЖНИМ СПОСОБОМ</a:t>
            </a:r>
          </a:p>
        </p:txBody>
      </p:sp>
      <p:sp>
        <p:nvSpPr>
          <p:cNvPr id="14" name="TextBox 13"/>
          <p:cNvSpPr txBox="1"/>
          <p:nvPr/>
        </p:nvSpPr>
        <p:spPr>
          <a:xfrm>
            <a:off x="4423562" y="2970202"/>
            <a:ext cx="1452829" cy="1029608"/>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один ролик — одна съёмка</a:t>
            </a:r>
          </a:p>
        </p:txBody>
      </p:sp>
      <p:sp>
        <p:nvSpPr>
          <p:cNvPr id="15" name="TextBox 14"/>
          <p:cNvSpPr txBox="1"/>
          <p:nvPr/>
        </p:nvSpPr>
        <p:spPr>
          <a:xfrm>
            <a:off x="4423562" y="3999811"/>
            <a:ext cx="145282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съёмочный период, одна смета</a:t>
            </a:r>
          </a:p>
        </p:txBody>
      </p:sp>
      <p:sp>
        <p:nvSpPr>
          <p:cNvPr id="16" name="Rounded Rectangle 15"/>
          <p:cNvSpPr/>
          <p:nvPr/>
        </p:nvSpPr>
        <p:spPr>
          <a:xfrm>
            <a:off x="6178143"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6315303" y="1725375"/>
            <a:ext cx="145282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свыше 70 000 клипов, 5 специалистов, 30 дней</a:t>
            </a:r>
          </a:p>
        </p:txBody>
      </p:sp>
      <p:sp>
        <p:nvSpPr>
          <p:cNvPr id="19" name="TextBox 18"/>
          <p:cNvSpPr txBox="1"/>
          <p:nvPr/>
        </p:nvSpPr>
        <p:spPr>
          <a:xfrm>
            <a:off x="6315303" y="2576747"/>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студии и четыре разные модели; какие именно четыре — не называет ни один источник</a:t>
            </a:r>
          </a:p>
        </p:txBody>
      </p:sp>
      <p:sp>
        <p:nvSpPr>
          <p:cNvPr id="20" name="Rounded Rectangle 19"/>
          <p:cNvSpPr/>
          <p:nvPr/>
        </p:nvSpPr>
        <p:spPr>
          <a:xfrm>
            <a:off x="8069884" y="1335024"/>
            <a:ext cx="1727149" cy="3297049"/>
          </a:xfrm>
          <a:prstGeom prst="roundRect">
            <a:avLst>
              <a:gd name="adj" fmla="val 17647"/>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8207044" y="1472184"/>
            <a:ext cx="145282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 ПРИ ЭТОМ В КАМПАНИИ ЗАНЯТО</a:t>
            </a:r>
          </a:p>
        </p:txBody>
      </p:sp>
      <p:sp>
        <p:nvSpPr>
          <p:cNvPr id="22" name="TextBox 21"/>
          <p:cNvSpPr txBox="1"/>
          <p:nvPr/>
        </p:nvSpPr>
        <p:spPr>
          <a:xfrm>
            <a:off x="8207044" y="2140317"/>
            <a:ext cx="1452829"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около 100 человек</a:t>
            </a:r>
          </a:p>
        </p:txBody>
      </p:sp>
      <p:sp>
        <p:nvSpPr>
          <p:cNvPr id="23" name="TextBox 22"/>
          <p:cNvSpPr txBox="1"/>
          <p:nvPr/>
        </p:nvSpPr>
        <p:spPr>
          <a:xfrm>
            <a:off x="8207044" y="2940765"/>
            <a:ext cx="145282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примерно столько же, сколько на классической кампании прежних лет</a:t>
            </a:r>
          </a:p>
        </p:txBody>
      </p:sp>
      <p:sp>
        <p:nvSpPr>
          <p:cNvPr id="24" name="Rounded Rectangle 23"/>
          <p:cNvSpPr/>
          <p:nvPr/>
        </p:nvSpPr>
        <p:spPr>
          <a:xfrm>
            <a:off x="9961626"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10098786" y="1472184"/>
            <a:ext cx="145282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ОГОВОРКА, ОБЯЗАТЕЛЬНАЯ НА КАДРЕ</a:t>
            </a:r>
          </a:p>
        </p:txBody>
      </p:sp>
      <p:sp>
        <p:nvSpPr>
          <p:cNvPr id="26" name="TextBox 25"/>
          <p:cNvSpPr txBox="1"/>
          <p:nvPr/>
        </p:nvSpPr>
        <p:spPr>
          <a:xfrm>
            <a:off x="10098786" y="2140317"/>
            <a:ext cx="145282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сколько из 70 000 клипов вошло в монтаж, не раскрыто нигде</a:t>
            </a:r>
          </a:p>
        </p:txBody>
      </p:sp>
      <p:sp>
        <p:nvSpPr>
          <p:cNvPr id="27" name="TextBox 26"/>
          <p:cNvSpPr txBox="1"/>
          <p:nvPr/>
        </p:nvSpPr>
        <p:spPr>
          <a:xfrm>
            <a:off x="10098786" y="2991690"/>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ходовое «70 000 клипов ради тридцати секунд» — вывод, выдаваемый за факт</a:t>
            </a:r>
          </a:p>
        </p:txBody>
      </p:sp>
      <p:sp>
        <p:nvSpPr>
          <p:cNvPr id="28" name="Rounded Rectangle 27"/>
          <p:cNvSpPr/>
          <p:nvPr/>
        </p:nvSpPr>
        <p:spPr>
          <a:xfrm>
            <a:off x="502920" y="4796665"/>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9" name="TextBox 28"/>
          <p:cNvSpPr txBox="1"/>
          <p:nvPr/>
        </p:nvSpPr>
        <p:spPr>
          <a:xfrm>
            <a:off x="640080" y="4933825"/>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a:t>
            </a:r>
          </a:p>
        </p:txBody>
      </p:sp>
      <p:sp>
        <p:nvSpPr>
          <p:cNvPr id="30" name="TextBox 29"/>
          <p:cNvSpPr txBox="1"/>
          <p:nvPr/>
        </p:nvSpPr>
        <p:spPr>
          <a:xfrm>
            <a:off x="640080" y="5187016"/>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компания раскрыть отказалась</a:t>
            </a:r>
          </a:p>
        </p:txBody>
      </p:sp>
      <p:sp>
        <p:nvSpPr>
          <p:cNvPr id="31" name="TextBox 30"/>
          <p:cNvSpPr txBox="1"/>
          <p:nvPr/>
        </p:nvSpPr>
        <p:spPr>
          <a:xfrm>
            <a:off x="640080" y="5614016"/>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встречное утверждение «обошлось примерно столько же» принадлежит разбору третьей стороны; независимой цифры нет ни у одной стороны</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закадровый ролик Coca-Cola о производстве; интервью директора по маркетингу</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людей столько же</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КЛАССИЧЕСКАЯ КАМПАНИЯ</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съёмочная группа от пятидесяти плюс всё вокруг неё</a:t>
            </a:r>
          </a:p>
        </p:txBody>
      </p:sp>
      <p:sp>
        <p:nvSpPr>
          <p:cNvPr id="8" name="Rounded Rectangle 7"/>
          <p:cNvSpPr/>
          <p:nvPr/>
        </p:nvSpPr>
        <p:spPr>
          <a:xfrm>
            <a:off x="3340531"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ГЕНЕРАТИВНАЯ КАМПАНИЯ</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пятеро нажимали кнопку, девяносто пять делали остальное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СРОК</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 → месяц</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двенадцатикратно; подтверждено первым лицом компании</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ЧИСЛО ПРОБ</a:t>
            </a:r>
          </a:p>
        </p:txBody>
      </p:sp>
      <p:sp>
        <p:nvSpPr>
          <p:cNvPr id="18" name="TextBox 17"/>
          <p:cNvSpPr txBox="1"/>
          <p:nvPr/>
        </p:nvSpPr>
        <p:spPr>
          <a:xfrm>
            <a:off x="9152915"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одна съёмка → свыше 70 000 клипов</a:t>
            </a:r>
          </a:p>
        </p:txBody>
      </p:sp>
      <p:sp>
        <p:nvSpPr>
          <p:cNvPr id="19" name="TextBox 18"/>
          <p:cNvSpPr txBox="1"/>
          <p:nvPr/>
        </p:nvSpPr>
        <p:spPr>
          <a:xfrm>
            <a:off x="9152915"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вошло в монтаж, не раскрыто</a:t>
            </a:r>
          </a:p>
        </p:txBody>
      </p:sp>
      <p:sp>
        <p:nvSpPr>
          <p:cNvPr id="20" name="Rounded Rectangle 19"/>
          <p:cNvSpPr/>
          <p:nvPr/>
        </p:nvSpPr>
        <p:spPr>
          <a:xfrm>
            <a:off x="374904" y="340512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11112703"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Проверять такие сообщения надо одним вопросом: названо число исполнителей операции или число участников работы?</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контрольные точки дорогого производства</a:t>
            </a:r>
          </a:p>
        </p:txBody>
      </p:sp>
      <p:sp>
        <p:nvSpPr>
          <p:cNvPr id="4" name="Rounded Rectangle 3"/>
          <p:cNvSpPr/>
          <p:nvPr/>
        </p:nvSpPr>
        <p:spPr>
          <a:xfrm>
            <a:off x="502920"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ПЯТЕРО НА ПЯТЬСОТ ПЛАНОВ</a:t>
            </a:r>
          </a:p>
        </p:txBody>
      </p:sp>
      <p:sp>
        <p:nvSpPr>
          <p:cNvPr id="6" name="TextBox 5"/>
          <p:cNvSpPr txBox="1"/>
          <p:nvPr/>
        </p:nvSpPr>
        <p:spPr>
          <a:xfrm>
            <a:off x="640080"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более 80 % из примерно 500 планов с эффектами</a:t>
            </a:r>
          </a:p>
        </p:txBody>
      </p:sp>
      <p:sp>
        <p:nvSpPr>
          <p:cNvPr id="7" name="TextBox 6"/>
          <p:cNvSpPr txBox="1"/>
          <p:nvPr/>
        </p:nvSpPr>
        <p:spPr>
          <a:xfrm>
            <a:off x="640080" y="2580519"/>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независимая студия из пяти человек; фильм получил «Оскар» за лучшую картину</a:t>
            </a:r>
          </a:p>
        </p:txBody>
      </p:sp>
      <p:sp>
        <p:nvSpPr>
          <p:cNvPr id="8" name="Rounded Rectangle 7"/>
          <p:cNvSpPr/>
          <p:nvPr/>
        </p:nvSpPr>
        <p:spPr>
          <a:xfrm>
            <a:off x="2773009"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ТОЙ ЖЕ ОПЕРАЦИИ НАЗВАНА ХУДОЖНИКОМ ПРЯМО</a:t>
            </a:r>
          </a:p>
        </p:txBody>
      </p:sp>
      <p:sp>
        <p:nvSpPr>
          <p:cNvPr id="10" name="TextBox 9"/>
          <p:cNvSpPr txBox="1"/>
          <p:nvPr/>
        </p:nvSpPr>
        <p:spPr>
          <a:xfrm>
            <a:off x="2910169" y="2140317"/>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полдня на один план</a:t>
            </a:r>
          </a:p>
        </p:txBody>
      </p:sp>
      <p:sp>
        <p:nvSpPr>
          <p:cNvPr id="11" name="TextBox 10"/>
          <p:cNvSpPr txBox="1"/>
          <p:nvPr/>
        </p:nvSpPr>
        <p:spPr>
          <a:xfrm>
            <a:off x="2910169" y="2957740"/>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покадровое вырезание персонажей из кадра — «очень медленный и мучительный процесс»</a:t>
            </a:r>
          </a:p>
        </p:txBody>
      </p:sp>
      <p:sp>
        <p:nvSpPr>
          <p:cNvPr id="12" name="Rounded Rectangle 11"/>
          <p:cNvSpPr/>
          <p:nvPr/>
        </p:nvSpPr>
        <p:spPr>
          <a:xfrm>
            <a:off x="5043098" y="1335024"/>
            <a:ext cx="2105497" cy="284249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ИНСТРУМЕНТОМ ВЫДЕЛЕНИЯ ФОНА</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минуты</a:t>
            </a:r>
          </a:p>
        </p:txBody>
      </p:sp>
      <p:sp>
        <p:nvSpPr>
          <p:cNvPr id="15" name="TextBox 14"/>
          <p:cNvSpPr txBox="1"/>
          <p:nvPr/>
        </p:nvSpPr>
        <p:spPr>
          <a:xfrm>
            <a:off x="5180258" y="2359845"/>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«вырезаю персонажей и чисто кладу на подложку»; промежуточный шаг, результат доводился вручную</a:t>
            </a:r>
          </a:p>
        </p:txBody>
      </p:sp>
      <p:sp>
        <p:nvSpPr>
          <p:cNvPr id="16" name="Rounded Rectangle 15"/>
          <p:cNvSpPr/>
          <p:nvPr/>
        </p:nvSpPr>
        <p:spPr>
          <a:xfrm>
            <a:off x="7313188"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«ИРЛАНДЕЦ», 2019</a:t>
            </a:r>
          </a:p>
        </p:txBody>
      </p:sp>
      <p:sp>
        <p:nvSpPr>
          <p:cNvPr id="18" name="TextBox 17"/>
          <p:cNvSpPr txBox="1"/>
          <p:nvPr/>
        </p:nvSpPr>
        <p:spPr>
          <a:xfrm>
            <a:off x="7450348"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бюджет 125 → 159 млн $</a:t>
            </a:r>
          </a:p>
        </p:txBody>
      </p:sp>
      <p:sp>
        <p:nvSpPr>
          <p:cNvPr id="19" name="TextBox 18"/>
          <p:cNvSpPr txBox="1"/>
          <p:nvPr/>
        </p:nvSpPr>
        <p:spPr>
          <a:xfrm>
            <a:off x="7450348" y="254279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1 750 планов цифрового омоложения, крупнейшее применение приёма в игровом кино на тот момент; подготовка началась за четыре года до выхода</a:t>
            </a:r>
          </a:p>
        </p:txBody>
      </p:sp>
      <p:sp>
        <p:nvSpPr>
          <p:cNvPr id="20" name="Rounded Rectangle 19"/>
          <p:cNvSpPr/>
          <p:nvPr/>
        </p:nvSpPr>
        <p:spPr>
          <a:xfrm>
            <a:off x="9583277"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ПРАВИЛЬНАЯ ЕДИНИЦА СЧЁТА, НАЗВАННАЯ СУПЕРВАЙЗЕРОМ ЭФФЕКТОВ</a:t>
            </a:r>
          </a:p>
        </p:txBody>
      </p:sp>
      <p:sp>
        <p:nvSpPr>
          <p:cNvPr id="22" name="TextBox 21"/>
          <p:cNvSpPr txBox="1"/>
          <p:nvPr/>
        </p:nvSpPr>
        <p:spPr>
          <a:xfrm>
            <a:off x="9720437" y="2555260"/>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 пересчёте на план — столько же, сколько в обычном фильме с эффектами</a:t>
            </a:r>
          </a:p>
        </p:txBody>
      </p:sp>
      <p:sp>
        <p:nvSpPr>
          <p:cNvPr id="23" name="TextBox 22"/>
          <p:cNvSpPr txBox="1"/>
          <p:nvPr/>
        </p:nvSpPr>
        <p:spPr>
          <a:xfrm>
            <a:off x="9720437" y="340663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дорого выходит потому, что планов здесь на два фильма</a:t>
            </a:r>
          </a:p>
        </p:txBody>
      </p:sp>
      <p:sp>
        <p:nvSpPr>
          <p:cNvPr id="24" name="Rounded Rectangle 23"/>
          <p:cNvSpPr/>
          <p:nvPr/>
        </p:nvSpPr>
        <p:spPr>
          <a:xfrm>
            <a:off x="374904" y="4268962"/>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360402"/>
            <a:ext cx="11112703" cy="187580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Относительно этих двух масштабов и читаются все числа раздела: что в генеративном случае считается дёшево, а что дорого, имеет смысл только рядом с ними.</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2023; материалы о производстве «Ирландца»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порога, пройденных за два года</a:t>
            </a:r>
          </a:p>
        </p:txBody>
      </p:sp>
      <p:sp>
        <p:nvSpPr>
          <p:cNvPr id="4" name="Rounded Rectangle 3"/>
          <p:cNvSpPr/>
          <p:nvPr/>
        </p:nvSpPr>
        <p:spPr>
          <a:xfrm>
            <a:off x="502920"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ОМОЛОЖЕНИЕ НА ПЛОЩАДКЕ</a:t>
            </a:r>
          </a:p>
        </p:txBody>
      </p:sp>
      <p:sp>
        <p:nvSpPr>
          <p:cNvPr id="6" name="TextBox 5"/>
          <p:cNvSpPr txBox="1"/>
          <p:nvPr/>
        </p:nvSpPr>
        <p:spPr>
          <a:xfrm>
            <a:off x="640080" y="1932846"/>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бюджет фильма 45 млн $</a:t>
            </a:r>
          </a:p>
        </p:txBody>
      </p:sp>
      <p:sp>
        <p:nvSpPr>
          <p:cNvPr id="7" name="TextBox 6"/>
          <p:cNvSpPr txBox="1"/>
          <p:nvPr/>
        </p:nvSpPr>
        <p:spPr>
          <a:xfrm>
            <a:off x="640080" y="2546569"/>
            <a:ext cx="1831177"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чем один только рост бюджета «Ирландца» со 125 до 159 млн; режиссёр и актёр впервые видели результат во время съёмки. Вторая половина обязательна: фильм разгромлен критикой, часть претензий — к «пластиковым» лицам</a:t>
            </a:r>
          </a:p>
        </p:txBody>
      </p:sp>
      <p:sp>
        <p:nvSpPr>
          <p:cNvPr id="8" name="Rounded Rectangle 7"/>
          <p:cNvSpPr/>
          <p:nvPr/>
        </p:nvSpPr>
        <p:spPr>
          <a:xfrm>
            <a:off x="2773009" y="1335024"/>
            <a:ext cx="2105497" cy="3883627"/>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ПЕРВАЯ ГЕНЕРАТИВНАЯ СЦЕНА В ФИНАЛЬНОМ МОНТАЖЕ</a:t>
            </a:r>
          </a:p>
        </p:txBody>
      </p:sp>
      <p:sp>
        <p:nvSpPr>
          <p:cNvPr id="10" name="TextBox 9"/>
          <p:cNvSpPr txBox="1"/>
          <p:nvPr/>
        </p:nvSpPr>
        <p:spPr>
          <a:xfrm>
            <a:off x="2910169" y="2347789"/>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заявлено «в десять раз быстрее»</a:t>
            </a:r>
          </a:p>
        </p:txBody>
      </p:sp>
      <p:sp>
        <p:nvSpPr>
          <p:cNvPr id="11" name="TextBox 10"/>
          <p:cNvSpPr txBox="1"/>
          <p:nvPr/>
        </p:nvSpPr>
        <p:spPr>
          <a:xfrm>
            <a:off x="2910169" y="3555634"/>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знаменателя у этой кратности нет: классический режим назван «месяцами», сколько именно — не сказано, стоимости компания не называет</a:t>
            </a:r>
          </a:p>
        </p:txBody>
      </p:sp>
      <p:sp>
        <p:nvSpPr>
          <p:cNvPr id="12" name="Rounded Rectangle 11"/>
          <p:cNvSpPr/>
          <p:nvPr/>
        </p:nvSpPr>
        <p:spPr>
          <a:xfrm>
            <a:off x="504309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ПОЛНЫЙ МЕТР С ВИЗУАЛЬНЫМ ДУБЛЯЖОМ</a:t>
            </a:r>
          </a:p>
        </p:txBody>
      </p:sp>
      <p:sp>
        <p:nvSpPr>
          <p:cNvPr id="14" name="TextBox 13"/>
          <p:cNvSpPr txBox="1"/>
          <p:nvPr/>
        </p:nvSpPr>
        <p:spPr>
          <a:xfrm>
            <a:off x="5180258"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губы в кадре переписаны под английскую артикуляцию</a:t>
            </a:r>
          </a:p>
        </p:txBody>
      </p:sp>
      <p:sp>
        <p:nvSpPr>
          <p:cNvPr id="15" name="TextBox 14"/>
          <p:cNvSpPr txBox="1"/>
          <p:nvPr/>
        </p:nvSpPr>
        <p:spPr>
          <a:xfrm>
            <a:off x="5180258"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сами переозвучили свои реплики; работа одобрена профсоюзом, который в 2023 году бастовал против применения моделей</a:t>
            </a:r>
          </a:p>
        </p:txBody>
      </p:sp>
      <p:sp>
        <p:nvSpPr>
          <p:cNvPr id="16" name="Rounded Rectangle 15"/>
          <p:cNvSpPr/>
          <p:nvPr/>
        </p:nvSpPr>
        <p:spPr>
          <a:xfrm>
            <a:off x="731318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НАЦИОНАЛЬНЫЙ РОЛИК САМОГО ДОРОГОГО РЕКЛАМНОГО ЭФИРА</a:t>
            </a:r>
          </a:p>
        </p:txBody>
      </p:sp>
      <p:sp>
        <p:nvSpPr>
          <p:cNvPr id="18" name="TextBox 17"/>
          <p:cNvSpPr txBox="1"/>
          <p:nvPr/>
        </p:nvSpPr>
        <p:spPr>
          <a:xfrm>
            <a:off x="7450348" y="2347789"/>
            <a:ext cx="1831177"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тридцать секунд, 9 февраля 2026</a:t>
            </a:r>
          </a:p>
        </p:txBody>
      </p:sp>
      <p:sp>
        <p:nvSpPr>
          <p:cNvPr id="19" name="TextBox 18"/>
          <p:cNvSpPr txBox="1"/>
          <p:nvPr/>
        </p:nvSpPr>
        <p:spPr>
          <a:xfrm>
            <a:off x="7450348" y="29275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двадцать месяцев от первого брендового ролика на генеративной модели в июне 2024 года</a:t>
            </a:r>
          </a:p>
        </p:txBody>
      </p:sp>
      <p:sp>
        <p:nvSpPr>
          <p:cNvPr id="20" name="Rounded Rectangle 19"/>
          <p:cNvSpPr/>
          <p:nvPr/>
        </p:nvSpPr>
        <p:spPr>
          <a:xfrm>
            <a:off x="9583277"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ИЗМЕРЕНИЕМ ЗДЕСЬ НЕ ЯВЛЯЕТСЯ</a:t>
            </a:r>
          </a:p>
        </p:txBody>
      </p:sp>
      <p:sp>
        <p:nvSpPr>
          <p:cNvPr id="22" name="TextBox 21"/>
          <p:cNvSpPr txBox="1"/>
          <p:nvPr/>
        </p:nvSpPr>
        <p:spPr>
          <a:xfrm>
            <a:off x="9720437" y="1932846"/>
            <a:ext cx="1831177"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«половина и более роликов того эфира»</a:t>
            </a:r>
          </a:p>
        </p:txBody>
      </p:sp>
      <p:sp>
        <p:nvSpPr>
          <p:cNvPr id="23" name="TextBox 22"/>
          <p:cNvSpPr txBox="1"/>
          <p:nvPr/>
        </p:nvSpPr>
        <p:spPr>
          <a:xfrm>
            <a:off x="9720437" y="291153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экспертная оценка отрасли; так её и надо называть</a:t>
            </a:r>
          </a:p>
        </p:txBody>
      </p:sp>
      <p:sp>
        <p:nvSpPr>
          <p:cNvPr id="24" name="TextBox 23"/>
          <p:cNvSpPr txBox="1"/>
          <p:nvPr/>
        </p:nvSpPr>
        <p:spPr>
          <a:xfrm>
            <a:off x="502920" y="543810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Пороги</a:t>
            </a:r>
          </a:p>
        </p:txBody>
      </p:sp>
      <p:sp>
        <p:nvSpPr>
          <p:cNvPr id="25" name="Rounded Rectangle 24"/>
          <p:cNvSpPr/>
          <p:nvPr/>
        </p:nvSpPr>
        <p:spPr>
          <a:xfrm>
            <a:off x="1920240"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2024: омоложение считается на площадке, бюджет фильма 45 млн $</a:t>
            </a:r>
          </a:p>
        </p:txBody>
      </p:sp>
      <p:sp>
        <p:nvSpPr>
          <p:cNvPr id="27" name="Right Arrow 26"/>
          <p:cNvSpPr/>
          <p:nvPr/>
        </p:nvSpPr>
        <p:spPr>
          <a:xfrm>
            <a:off x="4202353" y="592712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апрель 2025: сгенерированная сцена в финальном монтаже</a:t>
            </a:r>
          </a:p>
        </p:txBody>
      </p:sp>
      <p:sp>
        <p:nvSpPr>
          <p:cNvPr id="30" name="Right Arrow 29"/>
          <p:cNvSpPr/>
          <p:nvPr/>
        </p:nvSpPr>
        <p:spPr>
          <a:xfrm>
            <a:off x="6713067" y="592712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май 2025: полный метр с визуальным дубляжом, одобрен профсоюзом</a:t>
            </a:r>
          </a:p>
        </p:txBody>
      </p:sp>
      <p:sp>
        <p:nvSpPr>
          <p:cNvPr id="33" name="Right Arrow 32"/>
          <p:cNvSpPr/>
          <p:nvPr/>
        </p:nvSpPr>
        <p:spPr>
          <a:xfrm>
            <a:off x="9223781" y="5927121"/>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9 февраля 2026: ролик в национальном эфире Супербоула</a:t>
            </a:r>
          </a:p>
        </p:txBody>
      </p:sp>
      <p:sp>
        <p:nvSpPr>
          <p:cNvPr id="36" name="TextBox 35"/>
          <p:cNvSpPr txBox="1"/>
          <p:nvPr/>
        </p:nvSpPr>
        <p:spPr>
          <a:xfrm>
            <a:off x="502920" y="662644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первого брендового ролика на генеративной модели до национального эфира — двадцать месяцев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2024; TechCrunch, 18.07.2025; Flawless AI, 09.05.2025; Semafor, 04.02.2026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Патчи пространства-времени и внимание по пространству-времени</a:t>
            </a:r>
          </a:p>
        </p:txBody>
      </p:sp>
      <p:sp>
        <p:nvSpPr>
          <p:cNvPr id="4" name="Rounded Rectangle 3"/>
          <p:cNvSpPr/>
          <p:nvPr/>
        </p:nvSpPr>
        <p:spPr>
          <a:xfrm>
            <a:off x="502920" y="1335024"/>
            <a:ext cx="3618890"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ЕДИНИЦА ДАННЫХ РЯДОМ С ДВУМЯ ПРЕЖНИМИ</a:t>
            </a:r>
          </a:p>
        </p:txBody>
      </p:sp>
      <p:sp>
        <p:nvSpPr>
          <p:cNvPr id="6" name="TextBox 5"/>
          <p:cNvSpPr txBox="1"/>
          <p:nvPr/>
        </p:nvSpPr>
        <p:spPr>
          <a:xfrm>
            <a:off x="640080" y="1932846"/>
            <a:ext cx="3344570" cy="783472"/>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патч пространства-времени</a:t>
            </a:r>
          </a:p>
        </p:txBody>
      </p:sp>
      <p:sp>
        <p:nvSpPr>
          <p:cNvPr id="7" name="TextBox 6"/>
          <p:cNvSpPr txBox="1"/>
          <p:nvPr/>
        </p:nvSpPr>
        <p:spPr>
          <a:xfrm>
            <a:off x="640080" y="2716319"/>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токен языковой модели — номер из словаря; латентный патч изображения — непрерывный вектор; патч видео — тот же вектор, растянутый во времени</a:t>
            </a:r>
          </a:p>
        </p:txBody>
      </p:sp>
      <p:sp>
        <p:nvSpPr>
          <p:cNvPr id="8" name="Rounded Rectangle 7"/>
          <p:cNvSpPr/>
          <p:nvPr/>
        </p:nvSpPr>
        <p:spPr>
          <a:xfrm>
            <a:off x="4286402"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ВИДЕО И ИЗОБРАЖЕНИЕ — ОДНА ЗАДАЧА</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«изображение — это просто видео из одного кадра»</a:t>
            </a:r>
          </a:p>
        </p:txBody>
      </p:sp>
      <p:sp>
        <p:nvSpPr>
          <p:cNvPr id="11" name="TextBox 10"/>
          <p:cNvSpPr txBox="1"/>
          <p:nvPr/>
        </p:nvSpPr>
        <p:spPr>
          <a:xfrm>
            <a:off x="4423562"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обучение на смеси и перенос архитектуры без переделки</a:t>
            </a:r>
          </a:p>
        </p:txBody>
      </p:sp>
      <p:sp>
        <p:nvSpPr>
          <p:cNvPr id="12" name="Rounded Rectangle 11"/>
          <p:cNvSpPr/>
          <p:nvPr/>
        </p:nvSpPr>
        <p:spPr>
          <a:xfrm>
            <a:off x="8069884"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РАЗРЕШЕНИЕ И ДЛИТЕЛЬНОСТЬ — ЭТО ФОРМА СЕТКИ</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горизонтальный, вертикальный и всё между ними</a:t>
            </a:r>
          </a:p>
        </p:txBody>
      </p:sp>
      <p:sp>
        <p:nvSpPr>
          <p:cNvPr id="15" name="TextBox 14"/>
          <p:cNvSpPr txBox="1"/>
          <p:nvPr/>
        </p:nvSpPr>
        <p:spPr>
          <a:xfrm>
            <a:off x="8207044" y="3140692"/>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отдельных режимов: патчи расставляются в сетку нужного размера</a:t>
            </a:r>
          </a:p>
        </p:txBody>
      </p:sp>
      <p:sp>
        <p:nvSpPr>
          <p:cNvPr id="16" name="TextBox 15"/>
          <p:cNvSpPr txBox="1"/>
          <p:nvPr/>
        </p:nvSpPr>
        <p:spPr>
          <a:xfrm>
            <a:off x="502920" y="3919795"/>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Видеомодель</a:t>
            </a:r>
          </a:p>
        </p:txBody>
      </p:sp>
      <p:sp>
        <p:nvSpPr>
          <p:cNvPr id="17" name="Rounded Rectangle 16"/>
          <p:cNvSpPr/>
          <p:nvPr/>
        </p:nvSpPr>
        <p:spPr>
          <a:xfrm>
            <a:off x="1920240"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 сжимается в низкоразмерное латентное пространство</a:t>
            </a:r>
          </a:p>
        </p:txBody>
      </p:sp>
      <p:sp>
        <p:nvSpPr>
          <p:cNvPr id="19" name="Right Arrow 18"/>
          <p:cNvSpPr/>
          <p:nvPr/>
        </p:nvSpPr>
        <p:spPr>
          <a:xfrm>
            <a:off x="4202353" y="44088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Представление раскладывается на патчи пространства-времени</a:t>
            </a:r>
          </a:p>
        </p:txBody>
      </p:sp>
      <p:sp>
        <p:nvSpPr>
          <p:cNvPr id="22" name="Right Arrow 21"/>
          <p:cNvSpPr/>
          <p:nvPr/>
        </p:nvSpPr>
        <p:spPr>
          <a:xfrm>
            <a:off x="6713067" y="44088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Патчи работают как токены трансформера</a:t>
            </a:r>
          </a:p>
        </p:txBody>
      </p:sp>
      <p:sp>
        <p:nvSpPr>
          <p:cNvPr id="25" name="Right Arrow 24"/>
          <p:cNvSpPr/>
          <p:nvPr/>
        </p:nvSpPr>
        <p:spPr>
          <a:xfrm>
            <a:off x="9223781" y="44088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Размер выхода задаётся формой сетки патчей</a:t>
            </a:r>
          </a:p>
        </p:txBody>
      </p:sp>
      <p:sp>
        <p:nvSpPr>
          <p:cNvPr id="28" name="TextBox 27"/>
          <p:cNvSpPr txBox="1"/>
          <p:nvPr/>
        </p:nvSpPr>
        <p:spPr>
          <a:xfrm>
            <a:off x="502920" y="510813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движущееся изображение становится токенами</a:t>
            </a:r>
          </a:p>
        </p:txBody>
      </p:sp>
      <p:sp>
        <p:nvSpPr>
          <p:cNvPr id="29" name="Rounded Rectangle 28"/>
          <p:cNvSpPr/>
          <p:nvPr/>
        </p:nvSpPr>
        <p:spPr>
          <a:xfrm>
            <a:off x="374904" y="5410818"/>
            <a:ext cx="11441887" cy="82538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502258"/>
            <a:ext cx="11112703" cy="73394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Параллель строят сами разработчики и формулируют дословно: там, где у больших языковых моделей есть текстовые токены, у видеомодели есть визуальные патчи.</a:t>
            </a:r>
          </a:p>
        </p:txBody>
      </p:sp>
      <p:sp>
        <p:nvSpPr>
          <p:cNvPr id="31" name="Rectangle 3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связи между кадрами: 62,1 млрд пар против 2,01 млрд</a:t>
            </a:r>
          </a:p>
        </p:txBody>
      </p:sp>
      <p:sp>
        <p:nvSpPr>
          <p:cNvPr id="4" name="Rounded Rectangle 3"/>
          <p:cNvSpPr/>
          <p:nvPr/>
        </p:nvSpPr>
        <p:spPr>
          <a:xfrm>
            <a:off x="502920"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ПОЛНОГО ТРЁХМЕРНОГО ВНИМАНИЯ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62,1 млрд пар против 2,01 млрд</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пяти секунд высокой чёткости: 249 240 патчей, сетка 31 на 8 040; раздельное внимание дешевле в 30,9 раза</a:t>
            </a:r>
          </a:p>
        </p:txBody>
      </p:sp>
      <p:sp>
        <p:nvSpPr>
          <p:cNvPr id="8" name="Rounded Rectangle 7"/>
          <p:cNvSpPr/>
          <p:nvPr/>
        </p:nvSpPr>
        <p:spPr>
          <a:xfrm>
            <a:off x="6178143"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ЧТО ПЛАТЯТ ЭТИ ТРИДЦАТЬ РАЗ</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прямую связь между кадрами</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раздельном внимании «голова человека в кадре i+1 не может напрямую обратиться к голове в кадре i» — только неявно, через фоновые патчи</a:t>
            </a:r>
          </a:p>
        </p:txBody>
      </p:sp>
      <p:sp>
        <p:nvSpPr>
          <p:cNvPr id="12" name="Rounded Rectangle 11"/>
          <p:cNvSpPr/>
          <p:nvPr/>
        </p:nvSpPr>
        <p:spPr>
          <a:xfrm>
            <a:off x="502920" y="3106144"/>
            <a:ext cx="5437479" cy="2616578"/>
          </a:xfrm>
          <a:prstGeom prst="roundRect">
            <a:avLst>
              <a:gd name="adj" fmla="val 1164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26159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здесь то же, что в неподвижном изображении</a:t>
            </a:r>
          </a:p>
        </p:txBody>
      </p:sp>
      <p:sp>
        <p:nvSpPr>
          <p:cNvPr id="14" name="TextBox 13"/>
          <p:cNvSpPr txBox="1"/>
          <p:nvPr/>
        </p:nvSpPr>
        <p:spPr>
          <a:xfrm>
            <a:off x="667512" y="3617771"/>
            <a:ext cx="5108295" cy="19495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Автокодировщик работает токенизатором, модель стоит поверх него</a:t>
            </a:r>
          </a:p>
          <a:p>
            <a:pPr algn="l">
              <a:lnSpc>
                <a:spcPct val="126000"/>
              </a:lnSpc>
            </a:pPr>
            <a:r>
              <a:rPr sz="1450" b="0" i="0">
                <a:solidFill>
                  <a:srgbClr val="21295C"/>
                </a:solidFill>
                <a:latin typeface="Arial"/>
              </a:rPr>
              <a:t>• Расшумление переписывает все токены на каждом шаге</a:t>
            </a:r>
          </a:p>
          <a:p>
            <a:pPr algn="l">
              <a:lnSpc>
                <a:spcPct val="126000"/>
              </a:lnSpc>
            </a:pPr>
            <a:r>
              <a:rPr sz="1450" b="0" i="0">
                <a:solidFill>
                  <a:srgbClr val="21295C"/>
                </a:solidFill>
                <a:latin typeface="Arial"/>
              </a:rPr>
              <a:t>• Кэша нет и быть не может: экономика тарифов языковых моделей сюда не переносится</a:t>
            </a:r>
          </a:p>
        </p:txBody>
      </p:sp>
      <p:sp>
        <p:nvSpPr>
          <p:cNvPr id="15" name="Rounded Rectangle 14"/>
          <p:cNvSpPr/>
          <p:nvPr/>
        </p:nvSpPr>
        <p:spPr>
          <a:xfrm>
            <a:off x="6251295" y="3106144"/>
            <a:ext cx="5437479" cy="2616578"/>
          </a:xfrm>
          <a:prstGeom prst="roundRect">
            <a:avLst>
              <a:gd name="adj" fmla="val 1164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26159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добавляется вместе со временем</a:t>
            </a:r>
          </a:p>
        </p:txBody>
      </p:sp>
      <p:sp>
        <p:nvSpPr>
          <p:cNvPr id="17" name="TextBox 16"/>
          <p:cNvSpPr txBox="1"/>
          <p:nvPr/>
        </p:nvSpPr>
        <p:spPr>
          <a:xfrm>
            <a:off x="6415887" y="3617771"/>
            <a:ext cx="5108295" cy="1949503"/>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Сжатие идёт не только по пространству, но и по времени</a:t>
            </a:r>
          </a:p>
          <a:p>
            <a:pPr algn="l">
              <a:lnSpc>
                <a:spcPct val="126000"/>
              </a:lnSpc>
            </a:pPr>
            <a:r>
              <a:rPr sz="1400" b="0" i="0">
                <a:solidFill>
                  <a:srgbClr val="21295C"/>
                </a:solidFill>
                <a:latin typeface="Arial"/>
              </a:rPr>
              <a:t>• Позиционное кодирование тройное: две пространственные координаты и одна временная</a:t>
            </a:r>
          </a:p>
          <a:p>
            <a:pPr algn="l">
              <a:lnSpc>
                <a:spcPct val="126000"/>
              </a:lnSpc>
            </a:pPr>
            <a:r>
              <a:rPr sz="1400" b="0" i="0">
                <a:solidFill>
                  <a:srgbClr val="21295C"/>
                </a:solidFill>
                <a:latin typeface="Arial"/>
              </a:rPr>
              <a:t>• Выбор: полное трёхмерное внимание или раздельное, и у выбора посчитанная цена</a:t>
            </a:r>
          </a:p>
          <a:p>
            <a:pPr algn="l">
              <a:lnSpc>
                <a:spcPct val="126000"/>
              </a:lnSpc>
            </a:pPr>
            <a:r>
              <a:rPr sz="1400" b="0" i="0">
                <a:solidFill>
                  <a:srgbClr val="21295C"/>
                </a:solidFill>
                <a:latin typeface="Arial"/>
              </a:rPr>
              <a:t>• Отчёт известной видеомодели деталей не раскрывает: цифра «по ней» — реконструкция</a:t>
            </a:r>
          </a:p>
        </p:txBody>
      </p:sp>
      <p:sp>
        <p:nvSpPr>
          <p:cNvPr id="18" name="Rounded Rectangle 17"/>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Образцовый инженерный размен: согласованность куплена за вычисления, и известно, сколько за неё заплачено.</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Причинный трёхмерный автокодировщик</a:t>
            </a:r>
          </a:p>
        </p:txBody>
      </p:sp>
      <p:sp>
        <p:nvSpPr>
          <p:cNvPr id="4" name="Rounded Rectangle 3"/>
          <p:cNvSpPr/>
          <p:nvPr/>
        </p:nvSpPr>
        <p:spPr>
          <a:xfrm>
            <a:off x="502920" y="1335024"/>
            <a:ext cx="2105497" cy="3272530"/>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ТРЁХМЕРНОГО СЖАТИЯ, ИЗМЕРЕННЫЙ В АБЛЯЦИИ</a:t>
            </a:r>
          </a:p>
        </p:txBody>
      </p:sp>
      <p:sp>
        <p:nvSpPr>
          <p:cNvPr id="6" name="TextBox 5"/>
          <p:cNvSpPr txBox="1"/>
          <p:nvPr/>
        </p:nvSpPr>
        <p:spPr>
          <a:xfrm>
            <a:off x="640080" y="2555260"/>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мерцание 93,2 → 86,3</a:t>
            </a:r>
          </a:p>
        </p:txBody>
      </p:sp>
      <p:sp>
        <p:nvSpPr>
          <p:cNvPr id="7" name="TextBox 6"/>
          <p:cNvSpPr txBox="1"/>
          <p:nvPr/>
        </p:nvSpPr>
        <p:spPr>
          <a:xfrm>
            <a:off x="640080" y="337268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переход от двумерного автокодировщика к трёхмерному</a:t>
            </a:r>
          </a:p>
        </p:txBody>
      </p:sp>
      <p:sp>
        <p:nvSpPr>
          <p:cNvPr id="8" name="Rounded Rectangle 7"/>
          <p:cNvSpPr/>
          <p:nvPr/>
        </p:nvSpPr>
        <p:spPr>
          <a:xfrm>
            <a:off x="2773009"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КАУЗАЛЬНОСТЬ ПО ВРЕМЕНИ — БУКВАЛЬНО</a:t>
            </a:r>
          </a:p>
        </p:txBody>
      </p:sp>
      <p:sp>
        <p:nvSpPr>
          <p:cNvPr id="10" name="TextBox 9"/>
          <p:cNvSpPr txBox="1"/>
          <p:nvPr/>
        </p:nvSpPr>
        <p:spPr>
          <a:xfrm>
            <a:off x="2910169"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все отступы размещаются в начале свёрточного пространства</a:t>
            </a:r>
          </a:p>
        </p:txBody>
      </p:sp>
      <p:sp>
        <p:nvSpPr>
          <p:cNvPr id="11" name="TextBox 10"/>
          <p:cNvSpPr txBox="1"/>
          <p:nvPr/>
        </p:nvSpPr>
        <p:spPr>
          <a:xfrm>
            <a:off x="2910169"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гарантирует, что будущая информация не влияет на настоящие и прошлые предсказания» — тот же приём, что каузальная маска внимания</a:t>
            </a:r>
          </a:p>
        </p:txBody>
      </p:sp>
      <p:sp>
        <p:nvSpPr>
          <p:cNvPr id="12" name="Rounded Rectangle 11"/>
          <p:cNvSpPr/>
          <p:nvPr/>
        </p:nvSpPr>
        <p:spPr>
          <a:xfrm>
            <a:off x="504309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КАНАЛОВ СТАЛО БОЛЬШЕ</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 трёх до шестнадцати, у самой сжимающей модели до 128</a:t>
            </a:r>
          </a:p>
        </p:txBody>
      </p:sp>
      <p:sp>
        <p:nvSpPr>
          <p:cNvPr id="15" name="TextBox 14"/>
          <p:cNvSpPr txBox="1"/>
          <p:nvPr/>
        </p:nvSpPr>
        <p:spPr>
          <a:xfrm>
            <a:off x="5180258" y="2580519"/>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числа каналов компенсирует силу сжатия</a:t>
            </a:r>
          </a:p>
        </p:txBody>
      </p:sp>
      <p:sp>
        <p:nvSpPr>
          <p:cNvPr id="16" name="Rounded Rectangle 15"/>
          <p:cNvSpPr/>
          <p:nvPr/>
        </p:nvSpPr>
        <p:spPr>
          <a:xfrm>
            <a:off x="731318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РЕАЛЬНЫЕ КОЭФФИЦИЕНТЫ СЖАТИЯ, ВРЕМЯ × ВЫСОТА × ШИРИНА</a:t>
            </a:r>
          </a:p>
        </p:txBody>
      </p:sp>
      <p:sp>
        <p:nvSpPr>
          <p:cNvPr id="18" name="TextBox 17"/>
          <p:cNvSpPr txBox="1"/>
          <p:nvPr/>
        </p:nvSpPr>
        <p:spPr>
          <a:xfrm>
            <a:off x="7450348"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4×8×8 у трёх моделей 2024–2025 · 8×8×8 · 8×32×32</a:t>
            </a:r>
          </a:p>
        </p:txBody>
      </p:sp>
      <p:sp>
        <p:nvSpPr>
          <p:cNvPr id="19" name="TextBox 18"/>
          <p:cNvSpPr txBox="1"/>
          <p:nvPr/>
        </p:nvSpPr>
        <p:spPr>
          <a:xfrm>
            <a:off x="7450348"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последней размер патча равен единице — патча нет вовсе, 128 каналов</a:t>
            </a:r>
          </a:p>
        </p:txBody>
      </p:sp>
      <p:sp>
        <p:nvSpPr>
          <p:cNvPr id="20" name="Rounded Rectangle 19"/>
          <p:cNvSpPr/>
          <p:nvPr/>
        </p:nvSpPr>
        <p:spPr>
          <a:xfrm>
            <a:off x="9583277"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ПРЕДЕЛ — ИЗМЕРЕНО</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при 16×16×8 «сходимость модели становится крайне затруднённой»</a:t>
            </a:r>
          </a:p>
        </p:txBody>
      </p:sp>
      <p:sp>
        <p:nvSpPr>
          <p:cNvPr id="23" name="TextBox 22"/>
          <p:cNvSpPr txBox="1"/>
          <p:nvPr/>
        </p:nvSpPr>
        <p:spPr>
          <a:xfrm>
            <a:off x="9720437" y="278421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при соответствующем увеличении числа каналов; бесплатного сжатия не бывает</a:t>
            </a:r>
          </a:p>
        </p:txBody>
      </p:sp>
      <p:sp>
        <p:nvSpPr>
          <p:cNvPr id="24" name="TextBox 23"/>
          <p:cNvSpPr txBox="1"/>
          <p:nvPr/>
        </p:nvSpPr>
        <p:spPr>
          <a:xfrm>
            <a:off x="502920" y="48270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 латентных кадров</a:t>
            </a:r>
          </a:p>
        </p:txBody>
      </p:sp>
      <p:sp>
        <p:nvSpPr>
          <p:cNvPr id="25" name="Rounded Rectangle 24"/>
          <p:cNvSpPr/>
          <p:nvPr/>
        </p:nvSpPr>
        <p:spPr>
          <a:xfrm>
            <a:off x="1920240"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кадр кодируется отдельно, только пространственно</a:t>
            </a:r>
          </a:p>
        </p:txBody>
      </p:sp>
      <p:sp>
        <p:nvSpPr>
          <p:cNvPr id="27" name="Right Arrow 26"/>
          <p:cNvSpPr/>
          <p:nvPr/>
        </p:nvSpPr>
        <p:spPr>
          <a:xfrm>
            <a:off x="4202353" y="53160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Остальные кадры сжимаются по времени в заданное число раз</a:t>
            </a:r>
          </a:p>
        </p:txBody>
      </p:sp>
      <p:sp>
        <p:nvSpPr>
          <p:cNvPr id="30" name="Right Arrow 29"/>
          <p:cNvSpPr/>
          <p:nvPr/>
        </p:nvSpPr>
        <p:spPr>
          <a:xfrm>
            <a:off x="6713067" y="5316024"/>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Латентных кадров = остальные ÷ коэффициент + 1</a:t>
            </a:r>
          </a:p>
        </p:txBody>
      </p:sp>
      <p:sp>
        <p:nvSpPr>
          <p:cNvPr id="33" name="Right Arrow 32"/>
          <p:cNvSpPr/>
          <p:nvPr/>
        </p:nvSpPr>
        <p:spPr>
          <a:xfrm>
            <a:off x="9223781" y="5316024"/>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Отсюда «кратное четырём плюс один» и «кратное восьми плюс один»</a:t>
            </a:r>
          </a:p>
        </p:txBody>
      </p:sp>
      <p:sp>
        <p:nvSpPr>
          <p:cNvPr id="36" name="TextBox 35"/>
          <p:cNvSpPr txBox="1"/>
          <p:nvPr/>
        </p:nvSpPr>
        <p:spPr>
          <a:xfrm>
            <a:off x="502920" y="60153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Почему в интерфейсах стоят 49, 81, 121, 129 и 257 кадров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CogVideoX; HunyuanVideo; Wan 2.1; Movie Gen; LTX-Video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Квадратичность на удвоении стороны: арифметика «сорок к одному»</a:t>
            </a:r>
          </a:p>
        </p:txBody>
      </p:sp>
      <p:sp>
        <p:nvSpPr>
          <p:cNvPr id="4" name="Rounded Rectangle 3"/>
          <p:cNvSpPr/>
          <p:nvPr/>
        </p:nvSpPr>
        <p:spPr>
          <a:xfrm>
            <a:off x="502920" y="1335024"/>
            <a:ext cx="2105497" cy="310843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a:t>
            </a:r>
          </a:p>
        </p:txBody>
      </p:sp>
      <p:sp>
        <p:nvSpPr>
          <p:cNvPr id="6" name="TextBox 5"/>
          <p:cNvSpPr txBox="1"/>
          <p:nvPr/>
        </p:nvSpPr>
        <p:spPr>
          <a:xfrm>
            <a:off x="640080" y="1725375"/>
            <a:ext cx="1831177" cy="724060"/>
          </a:xfrm>
          <a:prstGeom prst="rect">
            <a:avLst/>
          </a:prstGeom>
          <a:noFill/>
        </p:spPr>
        <p:txBody>
          <a:bodyPr wrap="square" lIns="0" rIns="0" tIns="0" bIns="0" anchor="t">
            <a:spAutoFit/>
          </a:bodyPr>
          <a:lstStyle/>
          <a:p>
            <a:pPr algn="l">
              <a:lnSpc>
                <a:spcPct val="108000"/>
              </a:lnSpc>
            </a:pPr>
            <a:r>
              <a:rPr sz="1350" b="1" i="0">
                <a:solidFill>
                  <a:srgbClr val="1C7293"/>
                </a:solidFill>
                <a:latin typeface="Arial"/>
              </a:rPr>
              <a:t>разрешение втрое → обучение в сорок раз медленнее</a:t>
            </a:r>
          </a:p>
        </p:txBody>
      </p:sp>
      <p:sp>
        <p:nvSpPr>
          <p:cNvPr id="7" name="TextBox 6"/>
          <p:cNvSpPr txBox="1"/>
          <p:nvPr/>
        </p:nvSpPr>
        <p:spPr>
          <a:xfrm>
            <a:off x="640080" y="244943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129 кадров при 768 точках против 256 точек</a:t>
            </a:r>
          </a:p>
        </p:txBody>
      </p:sp>
      <p:sp>
        <p:nvSpPr>
          <p:cNvPr id="8" name="Rounded Rectangle 7"/>
          <p:cNvSpPr/>
          <p:nvPr/>
        </p:nvSpPr>
        <p:spPr>
          <a:xfrm>
            <a:off x="2773009"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БЕРЁТСЯ ИМЕННО СОРОК</a:t>
            </a:r>
          </a:p>
        </p:txBody>
      </p:sp>
      <p:sp>
        <p:nvSpPr>
          <p:cNvPr id="10" name="TextBox 9"/>
          <p:cNvSpPr txBox="1"/>
          <p:nvPr/>
        </p:nvSpPr>
        <p:spPr>
          <a:xfrm>
            <a:off x="2910169" y="1932846"/>
            <a:ext cx="1831177"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между девяткой и восьмьюдесятью</a:t>
            </a:r>
          </a:p>
        </p:txBody>
      </p:sp>
      <p:sp>
        <p:nvSpPr>
          <p:cNvPr id="11" name="TextBox 10"/>
          <p:cNvSpPr txBox="1"/>
          <p:nvPr/>
        </p:nvSpPr>
        <p:spPr>
          <a:xfrm>
            <a:off x="2910169" y="2495645"/>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втрое по стороне — вдевятеро по точкам и патчам; внимание квадратично и даёт около восьмидесяти, остальная сеть растёт линейно и разбавляет множитель</a:t>
            </a:r>
          </a:p>
        </p:txBody>
      </p:sp>
      <p:sp>
        <p:nvSpPr>
          <p:cNvPr id="12" name="Rounded Rectangle 11"/>
          <p:cNvSpPr/>
          <p:nvPr/>
        </p:nvSpPr>
        <p:spPr>
          <a:xfrm>
            <a:off x="504309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СХОДИТСЯ</a:t>
            </a:r>
          </a:p>
        </p:txBody>
      </p:sp>
      <p:sp>
        <p:nvSpPr>
          <p:cNvPr id="14" name="TextBox 13"/>
          <p:cNvSpPr txBox="1"/>
          <p:nvPr/>
        </p:nvSpPr>
        <p:spPr>
          <a:xfrm>
            <a:off x="5180258"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арифметика предсказывает порядок, замер подтверждает</a:t>
            </a:r>
          </a:p>
        </p:txBody>
      </p:sp>
      <p:sp>
        <p:nvSpPr>
          <p:cNvPr id="15" name="TextBox 14"/>
          <p:cNvSpPr txBox="1"/>
          <p:nvPr/>
        </p:nvSpPr>
        <p:spPr>
          <a:xfrm>
            <a:off x="5180258" y="278421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сорок лежит ровно там, где и должно для сети, где внимание составляет заметную, но не подавляющую долю вычислений</a:t>
            </a:r>
          </a:p>
        </p:txBody>
      </p:sp>
      <p:sp>
        <p:nvSpPr>
          <p:cNvPr id="16" name="Rounded Rectangle 15"/>
          <p:cNvSpPr/>
          <p:nvPr/>
        </p:nvSpPr>
        <p:spPr>
          <a:xfrm>
            <a:off x="731318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ПРЕЙСКУРАНТ ЭТО ОТРАЖАЕТ</a:t>
            </a:r>
          </a:p>
        </p:txBody>
      </p:sp>
      <p:sp>
        <p:nvSpPr>
          <p:cNvPr id="18" name="TextBox 17"/>
          <p:cNvSpPr txBox="1"/>
          <p:nvPr/>
        </p:nvSpPr>
        <p:spPr>
          <a:xfrm>
            <a:off x="7450348" y="1932846"/>
            <a:ext cx="1831177"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десятисекундный клип втрое дороже пятисекундного</a:t>
            </a:r>
          </a:p>
        </p:txBody>
      </p:sp>
      <p:sp>
        <p:nvSpPr>
          <p:cNvPr id="19" name="TextBox 18"/>
          <p:cNvSpPr txBox="1"/>
          <p:nvPr/>
        </p:nvSpPr>
        <p:spPr>
          <a:xfrm>
            <a:off x="7450348" y="2707831"/>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секунда длинного клипа на 50 процентов дороже; скидки за объём здесь нет, есть наценка</a:t>
            </a:r>
          </a:p>
        </p:txBody>
      </p:sp>
      <p:sp>
        <p:nvSpPr>
          <p:cNvPr id="20" name="Rounded Rectangle 19"/>
          <p:cNvSpPr/>
          <p:nvPr/>
        </p:nvSpPr>
        <p:spPr>
          <a:xfrm>
            <a:off x="9583277"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ПРИЧИНЫ, ПО КОТОРЫМ КЛИП ДЛИТСЯ ПЯТЬ-ДЕСЯТЬ СЕКУНД</a:t>
            </a:r>
          </a:p>
        </p:txBody>
      </p:sp>
      <p:sp>
        <p:nvSpPr>
          <p:cNvPr id="22" name="TextBox 21"/>
          <p:cNvSpPr txBox="1"/>
          <p:nvPr/>
        </p:nvSpPr>
        <p:spPr>
          <a:xfrm>
            <a:off x="9720437" y="2347789"/>
            <a:ext cx="1831177"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квадратичность · память · данные</a:t>
            </a:r>
          </a:p>
        </p:txBody>
      </p:sp>
      <p:sp>
        <p:nvSpPr>
          <p:cNvPr id="23" name="TextBox 22"/>
          <p:cNvSpPr txBox="1"/>
          <p:nvPr/>
        </p:nvSpPr>
        <p:spPr>
          <a:xfrm>
            <a:off x="9720437" y="3250086"/>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обучающие клипы сами короткие: 35 миллионов односценовых клипов, каждый в среднем около шести секунд</a:t>
            </a:r>
          </a:p>
        </p:txBody>
      </p:sp>
      <p:sp>
        <p:nvSpPr>
          <p:cNvPr id="24" name="Rounded Rectangle 23"/>
          <p:cNvSpPr/>
          <p:nvPr/>
        </p:nvSpPr>
        <p:spPr>
          <a:xfrm>
            <a:off x="374904" y="453490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26343"/>
            <a:ext cx="11112703" cy="160986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Длина, разрешение и частота кадров покупаются нелинейно, и арифметика предсказывает это раньше замера: втрое по стороне кадра — вдевятеро по числу точек, а внимание квадратично по их числу.</a:t>
            </a:r>
          </a:p>
        </p:txBody>
      </p:sp>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 прейскурант поставщика видеогенерации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Сжатие — самый сильный рычаг стоимости</a:t>
            </a:r>
          </a:p>
        </p:txBody>
      </p:sp>
      <p:sp>
        <p:nvSpPr>
          <p:cNvPr id="4" name="Rounded Rectangle 3"/>
          <p:cNvSpPr/>
          <p:nvPr/>
        </p:nvSpPr>
        <p:spPr>
          <a:xfrm>
            <a:off x="502920" y="1335024"/>
            <a:ext cx="2105497" cy="3487545"/>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ОБУЧЕНИЯ</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200 000 $</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заголовок статьи буквально гласит: обучение видеомодели коммерческого уровня за двести тысяч долларов</a:t>
            </a:r>
          </a:p>
        </p:txBody>
      </p:sp>
      <p:sp>
        <p:nvSpPr>
          <p:cNvPr id="8" name="Rounded Rectangle 7"/>
          <p:cNvSpPr/>
          <p:nvPr/>
        </p:nvSpPr>
        <p:spPr>
          <a:xfrm>
            <a:off x="2773009"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АРИФМЕТИКА ПЕРЕПРОВЕРЕНА В ОДНО ДЕЙСТВИЕ</a:t>
            </a:r>
          </a:p>
        </p:txBody>
      </p:sp>
      <p:sp>
        <p:nvSpPr>
          <p:cNvPr id="10" name="TextBox 9"/>
          <p:cNvSpPr txBox="1"/>
          <p:nvPr/>
        </p:nvSpPr>
        <p:spPr>
          <a:xfrm>
            <a:off x="2910169"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4 160 × 24 × 2 = 199 680 $</a:t>
            </a:r>
          </a:p>
        </p:txBody>
      </p:sp>
      <p:sp>
        <p:nvSpPr>
          <p:cNvPr id="11" name="TextBox 10"/>
          <p:cNvSpPr txBox="1"/>
          <p:nvPr/>
        </p:nvSpPr>
        <p:spPr>
          <a:xfrm>
            <a:off x="2910169" y="294076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4 160 ускорительных дней при ставке два доллара за час</a:t>
            </a:r>
          </a:p>
        </p:txBody>
      </p:sp>
      <p:sp>
        <p:nvSpPr>
          <p:cNvPr id="12" name="Rounded Rectangle 11"/>
          <p:cNvSpPr/>
          <p:nvPr/>
        </p:nvSpPr>
        <p:spPr>
          <a:xfrm>
            <a:off x="504309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ИМЕННО ПОДНЯЛИ</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пространственного сжатия до 32</a:t>
            </a:r>
          </a:p>
        </p:txBody>
      </p:sp>
      <p:sp>
        <p:nvSpPr>
          <p:cNvPr id="15" name="TextBox 14"/>
          <p:cNvSpPr txBox="1"/>
          <p:nvPr/>
        </p:nvSpPr>
        <p:spPr>
          <a:xfrm>
            <a:off x="5180258" y="2580519"/>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временной оставили равным четырём</a:t>
            </a:r>
          </a:p>
        </p:txBody>
      </p:sp>
      <p:sp>
        <p:nvSpPr>
          <p:cNvPr id="16" name="Rounded Rectangle 15"/>
          <p:cNvSpPr/>
          <p:nvPr/>
        </p:nvSpPr>
        <p:spPr>
          <a:xfrm>
            <a:off x="731318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ВЫШЛО</a:t>
            </a:r>
          </a:p>
        </p:txBody>
      </p:sp>
      <p:sp>
        <p:nvSpPr>
          <p:cNvPr id="18" name="TextBox 17"/>
          <p:cNvSpPr txBox="1"/>
          <p:nvPr/>
        </p:nvSpPr>
        <p:spPr>
          <a:xfrm>
            <a:off x="7450348" y="1725375"/>
            <a:ext cx="1831177"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токенов с 76 000 до 19 000</a:t>
            </a:r>
          </a:p>
        </p:txBody>
      </p:sp>
      <p:sp>
        <p:nvSpPr>
          <p:cNvPr id="19" name="TextBox 18"/>
          <p:cNvSpPr txBox="1"/>
          <p:nvPr/>
        </p:nvSpPr>
        <p:spPr>
          <a:xfrm>
            <a:off x="7450348" y="247489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пятисекундное видео 24 кадра в секунду при 768 точках; пропускная способность обучения выросла впятеро, скорость работы — более чем вдесятеро</a:t>
            </a:r>
          </a:p>
        </p:txBody>
      </p:sp>
      <p:sp>
        <p:nvSpPr>
          <p:cNvPr id="20" name="Rounded Rectangle 19"/>
          <p:cNvSpPr/>
          <p:nvPr/>
        </p:nvSpPr>
        <p:spPr>
          <a:xfrm>
            <a:off x="9583277"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МОДЕЛИ ПРИ ЭТОМ</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11 млрд параметров, качество сопоставимо с коммерческими аналогами</a:t>
            </a:r>
          </a:p>
        </p:txBody>
      </p:sp>
      <p:sp>
        <p:nvSpPr>
          <p:cNvPr id="23" name="TextBox 22"/>
          <p:cNvSpPr txBox="1"/>
          <p:nvPr/>
        </p:nvSpPr>
        <p:spPr>
          <a:xfrm>
            <a:off x="9720437" y="278421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масштаба: другая исследовательская модель того же поколения обучалась на 6 144 ускорителях по 700 ватт при 30 млрд параметров — и денежной оценки её авторы не публикуют</a:t>
            </a:r>
          </a:p>
        </p:txBody>
      </p:sp>
      <p:sp>
        <p:nvSpPr>
          <p:cNvPr id="24" name="TextBox 23"/>
          <p:cNvSpPr txBox="1"/>
          <p:nvPr/>
        </p:nvSpPr>
        <p:spPr>
          <a:xfrm>
            <a:off x="502920" y="504202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Open-Sora 2.0</a:t>
            </a:r>
          </a:p>
        </p:txBody>
      </p:sp>
      <p:sp>
        <p:nvSpPr>
          <p:cNvPr id="25" name="Rounded Rectangle 24"/>
          <p:cNvSpPr/>
          <p:nvPr/>
        </p:nvSpPr>
        <p:spPr>
          <a:xfrm>
            <a:off x="1920240"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Подняли коэффициент пространственного сжатия до 32</a:t>
            </a:r>
          </a:p>
        </p:txBody>
      </p:sp>
      <p:sp>
        <p:nvSpPr>
          <p:cNvPr id="27" name="Right Arrow 26"/>
          <p:cNvSpPr/>
          <p:nvPr/>
        </p:nvSpPr>
        <p:spPr>
          <a:xfrm>
            <a:off x="4202353" y="541221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Число токенов упало с 76 000 до 19 000 на пять секунд</a:t>
            </a:r>
          </a:p>
        </p:txBody>
      </p:sp>
      <p:sp>
        <p:nvSpPr>
          <p:cNvPr id="30" name="Right Arrow 29"/>
          <p:cNvSpPr/>
          <p:nvPr/>
        </p:nvSpPr>
        <p:spPr>
          <a:xfrm>
            <a:off x="6713067" y="5412215"/>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Пропускная способность обучения выросла впятеро</a:t>
            </a:r>
          </a:p>
        </p:txBody>
      </p:sp>
      <p:sp>
        <p:nvSpPr>
          <p:cNvPr id="33" name="Right Arrow 32"/>
          <p:cNvSpPr/>
          <p:nvPr/>
        </p:nvSpPr>
        <p:spPr>
          <a:xfrm>
            <a:off x="9223781" y="5412215"/>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Обучение обошлось в 200 тысяч долларов</a:t>
            </a:r>
          </a:p>
        </p:txBody>
      </p:sp>
      <p:sp>
        <p:nvSpPr>
          <p:cNvPr id="36" name="TextBox 35"/>
          <p:cNvSpPr txBox="1"/>
          <p:nvPr/>
        </p:nvSpPr>
        <p:spPr>
          <a:xfrm>
            <a:off x="502920" y="599271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Цепочка удешевления целиком</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Между кадрами нет объекта, который «тот же»</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Общий латент с временным сжатием</a:t>
            </a:r>
          </a:p>
        </p:txBody>
      </p:sp>
      <p:sp>
        <p:nvSpPr>
          <p:cNvPr id="5" name="Rounded Rectangle 4"/>
          <p:cNvSpPr/>
          <p:nvPr/>
        </p:nvSpPr>
        <p:spPr>
          <a:xfrm>
            <a:off x="1920240"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соседних кадра свёрнуты в один латентный срез</a:t>
            </a:r>
          </a:p>
        </p:txBody>
      </p:sp>
      <p:sp>
        <p:nvSpPr>
          <p:cNvPr id="7" name="Rounded Rectangle 6"/>
          <p:cNvSpPr/>
          <p:nvPr/>
        </p:nvSpPr>
        <p:spPr>
          <a:xfrm>
            <a:off x="5225186"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 отдельности они не существуют</a:t>
            </a:r>
          </a:p>
        </p:txBody>
      </p:sp>
      <p:sp>
        <p:nvSpPr>
          <p:cNvPr id="9" name="Rounded Rectangle 8"/>
          <p:cNvSpPr/>
          <p:nvPr/>
        </p:nvSpPr>
        <p:spPr>
          <a:xfrm>
            <a:off x="8530132"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Мерцание снижено с 93,2 до 86,3</a:t>
            </a:r>
          </a:p>
        </p:txBody>
      </p:sp>
      <p:sp>
        <p:nvSpPr>
          <p:cNvPr id="11" name="TextBox 10"/>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Полное трёхмерное внимание</a:t>
            </a:r>
          </a:p>
        </p:txBody>
      </p:sp>
      <p:sp>
        <p:nvSpPr>
          <p:cNvPr id="12" name="Rounded Rectangle 11"/>
          <p:cNvSpPr/>
          <p:nvPr/>
        </p:nvSpPr>
        <p:spPr>
          <a:xfrm>
            <a:off x="1920240"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Единственный механизм с прямой связью «объект здесь ↔ объект там»</a:t>
            </a:r>
          </a:p>
        </p:txBody>
      </p:sp>
      <p:sp>
        <p:nvSpPr>
          <p:cNvPr id="14" name="Rounded Rectangle 13"/>
          <p:cNvSpPr/>
          <p:nvPr/>
        </p:nvSpPr>
        <p:spPr>
          <a:xfrm>
            <a:off x="6877659"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посчитана: тридцатикратная</a:t>
            </a:r>
          </a:p>
        </p:txBody>
      </p:sp>
      <p:sp>
        <p:nvSpPr>
          <p:cNvPr id="16" name="TextBox 15"/>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Позиционное кодирование по трём осям</a:t>
            </a:r>
          </a:p>
        </p:txBody>
      </p:sp>
      <p:sp>
        <p:nvSpPr>
          <p:cNvPr id="17" name="Rounded Rectangle 16"/>
          <p:cNvSpPr/>
          <p:nvPr/>
        </p:nvSpPr>
        <p:spPr>
          <a:xfrm>
            <a:off x="1920240"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Координата тройная</a:t>
            </a:r>
          </a:p>
        </p:txBody>
      </p:sp>
      <p:sp>
        <p:nvSpPr>
          <p:cNvPr id="19" name="Rounded Rectangle 18"/>
          <p:cNvSpPr/>
          <p:nvPr/>
        </p:nvSpPr>
        <p:spPr>
          <a:xfrm>
            <a:off x="6877659"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Каналы между осями делятся в фиксированной пропорции</a:t>
            </a:r>
          </a:p>
        </p:txBody>
      </p:sp>
      <p:sp>
        <p:nvSpPr>
          <p:cNvPr id="21" name="TextBox 20"/>
          <p:cNvSpPr txBox="1"/>
          <p:nvPr/>
        </p:nvSpPr>
        <p:spPr>
          <a:xfrm>
            <a:off x="502920" y="38033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держится постоянство объекта и где каждый механизм кончается</a:t>
            </a:r>
          </a:p>
        </p:txBody>
      </p:sp>
      <p:sp>
        <p:nvSpPr>
          <p:cNvPr id="22" name="Rounded Rectangle 21"/>
          <p:cNvSpPr/>
          <p:nvPr/>
        </p:nvSpPr>
        <p:spPr>
          <a:xfrm>
            <a:off x="374904" y="4106016"/>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197456"/>
            <a:ext cx="11112703" cy="20387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Внутри модели нет сущности «объект», которая существовала бы между кадрами: постоянство персонажа — результат работы четырёх механизмов, и каждый из них конечен.</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постоянство ломается, признают сами разработчики</a:t>
            </a:r>
          </a:p>
        </p:txBody>
      </p:sp>
      <p:sp>
        <p:nvSpPr>
          <p:cNvPr id="4" name="Rounded Rectangle 3"/>
          <p:cNvSpPr/>
          <p:nvPr/>
        </p:nvSpPr>
        <p:spPr>
          <a:xfrm>
            <a:off x="502920"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ПРИЗНАЮТ САМИ РАЗРАБОТЧИКИ</a:t>
            </a:r>
          </a:p>
        </p:txBody>
      </p:sp>
      <p:sp>
        <p:nvSpPr>
          <p:cNvPr id="6" name="TextBox 5"/>
          <p:cNvSpPr txBox="1"/>
          <p:nvPr/>
        </p:nvSpPr>
        <p:spPr>
          <a:xfrm>
            <a:off x="640080"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«неточно моделирует физику многих базовых взаимодействий, таких как разбивающееся стекло»</a:t>
            </a:r>
          </a:p>
        </p:txBody>
      </p:sp>
      <p:sp>
        <p:nvSpPr>
          <p:cNvPr id="7" name="TextBox 6"/>
          <p:cNvSpPr txBox="1"/>
          <p:nvPr/>
        </p:nvSpPr>
        <p:spPr>
          <a:xfrm>
            <a:off x="640080" y="2784218"/>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же: поедание пищи не всегда даёт корректные изменения состояния объекта; несогласованности в длинных образцах; спонтанные появления объектов</a:t>
            </a:r>
          </a:p>
        </p:txBody>
      </p:sp>
      <p:sp>
        <p:nvSpPr>
          <p:cNvPr id="8" name="Rounded Rectangle 7"/>
          <p:cNvSpPr/>
          <p:nvPr/>
        </p:nvSpPr>
        <p:spPr>
          <a:xfrm>
            <a:off x="3340531"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НАКОПЛЕНИЕ ОШИБКИ НАЗВАНО В ТРЁХ НЕЗАВИСИМЫХ РАБОТАХ</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смещение экспозиции</a:t>
            </a:r>
          </a:p>
        </p:txBody>
      </p:sp>
      <p:sp>
        <p:nvSpPr>
          <p:cNvPr id="11" name="TextBox 10"/>
          <p:cNvSpPr txBox="1"/>
          <p:nvPr/>
        </p:nvSpPr>
        <p:spPr>
          <a:xfrm>
            <a:off x="3477691" y="2957740"/>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модели, обученные на истинном контексте, вынуждены порождать последовательности, обусловленные собственными несовершенными выходами</a:t>
            </a:r>
          </a:p>
        </p:txBody>
      </p:sp>
      <p:sp>
        <p:nvSpPr>
          <p:cNvPr id="12" name="Rounded Rectangle 11"/>
          <p:cNvSpPr/>
          <p:nvPr/>
        </p:nvSpPr>
        <p:spPr>
          <a:xfrm>
            <a:off x="6178143" y="1335024"/>
            <a:ext cx="2673019" cy="3632775"/>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ОБЪЕКТНОЕ ПОСТОЯНСТВО В ИНТЕРАКТИВНОМ РЕЖИМЕ</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размер окна, а не свойство мира</a:t>
            </a:r>
          </a:p>
        </p:txBody>
      </p:sp>
      <p:sp>
        <p:nvSpPr>
          <p:cNvPr id="15" name="TextBox 14"/>
          <p:cNvSpPr txBox="1"/>
          <p:nvPr/>
        </p:nvSpPr>
        <p:spPr>
          <a:xfrm>
            <a:off x="6315303" y="3140692"/>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одной системы — «зрительная память примерно на одну минуту», у другой — «прошлые кадры в скользящем кэше, более старые вытесняются». Одно и то же ограничение, сказанное двумя языками</a:t>
            </a:r>
          </a:p>
        </p:txBody>
      </p:sp>
      <p:sp>
        <p:nvSpPr>
          <p:cNvPr id="16" name="Rounded Rectangle 15"/>
          <p:cNvSpPr/>
          <p:nvPr/>
        </p:nvSpPr>
        <p:spPr>
          <a:xfrm>
            <a:off x="9015755"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ПРАКТИЧЕСКИЙ СОВЕТ, КОТОРЫЙ ПЕРЕНОСИТСЯ</a:t>
            </a:r>
          </a:p>
        </p:txBody>
      </p:sp>
      <p:sp>
        <p:nvSpPr>
          <p:cNvPr id="18" name="TextBox 17"/>
          <p:cNvSpPr txBox="1"/>
          <p:nvPr/>
        </p:nvSpPr>
        <p:spPr>
          <a:xfrm>
            <a:off x="9152915" y="1932846"/>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начинайте с кадра, описание — на второй шаг</a:t>
            </a:r>
          </a:p>
        </p:txBody>
      </p:sp>
      <p:sp>
        <p:nvSpPr>
          <p:cNvPr id="19" name="TextBox 18"/>
          <p:cNvSpPr txBox="1"/>
          <p:nvPr/>
        </p:nvSpPr>
        <p:spPr>
          <a:xfrm>
            <a:off x="9152915" y="308976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неопределённости снимается одним настоящим кадром</a:t>
            </a:r>
          </a:p>
        </p:txBody>
      </p:sp>
      <p:sp>
        <p:nvSpPr>
          <p:cNvPr id="20" name="Rounded Rectangle 19"/>
          <p:cNvSpPr/>
          <p:nvPr/>
        </p:nvSpPr>
        <p:spPr>
          <a:xfrm>
            <a:off x="374904" y="5059239"/>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150679"/>
            <a:ext cx="11112703" cy="108552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Объектное постоянство в интерактивном режиме — это размер окна, и свойством мира оно не является.</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работы по смещению экспозиции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Физика выучена как корреляция, и это измерено</a:t>
            </a:r>
          </a:p>
        </p:txBody>
      </p:sp>
      <p:sp>
        <p:nvSpPr>
          <p:cNvPr id="4" name="Rounded Rectangle 3"/>
          <p:cNvSpPr/>
          <p:nvPr/>
        </p:nvSpPr>
        <p:spPr>
          <a:xfrm>
            <a:off x="502920" y="1335024"/>
            <a:ext cx="2105497" cy="3068831"/>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И ОНА ЧЕСТНАЯ</a:t>
            </a:r>
          </a:p>
        </p:txBody>
      </p:sp>
      <p:sp>
        <p:nvSpPr>
          <p:cNvPr id="6" name="TextBox 5"/>
          <p:cNvSpPr txBox="1"/>
          <p:nvPr/>
        </p:nvSpPr>
        <p:spPr>
          <a:xfrm>
            <a:off x="640080" y="1725375"/>
            <a:ext cx="1831177"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два дубля одной и той же реальной сцены = 100 %</a:t>
            </a:r>
          </a:p>
        </p:txBody>
      </p:sp>
      <p:sp>
        <p:nvSpPr>
          <p:cNvPr id="7" name="TextBox 6"/>
          <p:cNvSpPr txBox="1"/>
          <p:nvPr/>
        </p:nvSpPr>
        <p:spPr>
          <a:xfrm>
            <a:off x="640080" y="2373048"/>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верхняя планка показывает, насколько сама реальность повторяет себя; вместо абстрактного идеала — воспроизводимость физического мира</a:t>
            </a:r>
          </a:p>
        </p:txBody>
      </p:sp>
      <p:sp>
        <p:nvSpPr>
          <p:cNvPr id="8" name="Rounded Rectangle 7"/>
          <p:cNvSpPr/>
          <p:nvPr/>
        </p:nvSpPr>
        <p:spPr>
          <a:xfrm>
            <a:off x="2773009"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ЧЕГО СОБРАНО ИСПЫТАНИЕ</a:t>
            </a:r>
          </a:p>
        </p:txBody>
      </p:sp>
      <p:sp>
        <p:nvSpPr>
          <p:cNvPr id="10" name="TextBox 9"/>
          <p:cNvSpPr txBox="1"/>
          <p:nvPr/>
        </p:nvSpPr>
        <p:spPr>
          <a:xfrm>
            <a:off x="2910169"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396 реальных видеозаписей, 66 сценариев, по три ракурса, по два дубля</a:t>
            </a:r>
          </a:p>
        </p:txBody>
      </p:sp>
      <p:sp>
        <p:nvSpPr>
          <p:cNvPr id="11" name="TextBox 10"/>
          <p:cNvSpPr txBox="1"/>
          <p:nvPr/>
        </p:nvSpPr>
        <p:spPr>
          <a:xfrm>
            <a:off x="2910169" y="278421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проверялись шесть ведущих систем своего времени</a:t>
            </a:r>
          </a:p>
        </p:txBody>
      </p:sp>
      <p:sp>
        <p:nvSpPr>
          <p:cNvPr id="12" name="Rounded Rectangle 11"/>
          <p:cNvSpPr/>
          <p:nvPr/>
        </p:nvSpPr>
        <p:spPr>
          <a:xfrm>
            <a:off x="5043098"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РЕЗУЛЬТАТ ЛУЧШЕЙ МОДЕЛИ</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29,5 %</a:t>
            </a:r>
          </a:p>
        </p:txBody>
      </p:sp>
      <p:sp>
        <p:nvSpPr>
          <p:cNvPr id="15" name="TextBox 14"/>
          <p:cNvSpPr txBox="1"/>
          <p:nvPr/>
        </p:nvSpPr>
        <p:spPr>
          <a:xfrm>
            <a:off x="5180258" y="2359845"/>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авторы: «все оценённые модели показывают большой разрыв… что указывает на серьёзно ограниченное физическое понимание»</a:t>
            </a:r>
          </a:p>
        </p:txBody>
      </p:sp>
      <p:sp>
        <p:nvSpPr>
          <p:cNvPr id="16" name="Rounded Rectangle 15"/>
          <p:cNvSpPr/>
          <p:nvPr/>
        </p:nvSpPr>
        <p:spPr>
          <a:xfrm>
            <a:off x="7313188"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СВЯЗИ МЕЖДУ ПРАВДОПОДОБИЕМ И ПОНИМАНИЕМ НЕТ</a:t>
            </a:r>
          </a:p>
        </p:txBody>
      </p:sp>
      <p:sp>
        <p:nvSpPr>
          <p:cNvPr id="18" name="TextBox 17"/>
          <p:cNvSpPr txBox="1"/>
          <p:nvPr/>
        </p:nvSpPr>
        <p:spPr>
          <a:xfrm>
            <a:off x="7450348"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−0,46 при уровне значимости 0,249</a:t>
            </a:r>
          </a:p>
        </p:txBody>
      </p:sp>
      <p:sp>
        <p:nvSpPr>
          <p:cNvPr id="19" name="TextBox 18"/>
          <p:cNvSpPr txBox="1"/>
          <p:nvPr/>
        </p:nvSpPr>
        <p:spPr>
          <a:xfrm>
            <a:off x="7450348" y="27879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видео одной из систем труднее всего отличить от настоящих — что ровно ничего не говорит о том, упадёт ли мяч в ящик</a:t>
            </a:r>
          </a:p>
        </p:txBody>
      </p:sp>
      <p:sp>
        <p:nvSpPr>
          <p:cNvPr id="20" name="Rounded Rectangle 19"/>
          <p:cNvSpPr/>
          <p:nvPr/>
        </p:nvSpPr>
        <p:spPr>
          <a:xfrm>
            <a:off x="9583277"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ГРАНИЦА ПРОХОДИТ КОНКРЕТНО</a:t>
            </a:r>
          </a:p>
        </p:txBody>
      </p:sp>
      <p:sp>
        <p:nvSpPr>
          <p:cNvPr id="22" name="TextBox 21"/>
          <p:cNvSpPr txBox="1"/>
          <p:nvPr/>
        </p:nvSpPr>
        <p:spPr>
          <a:xfrm>
            <a:off x="9720437" y="1932846"/>
            <a:ext cx="1831177"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справляются с размазыванием краски по стеклу и выливанием жидкости на резиновую утку</a:t>
            </a:r>
          </a:p>
        </p:txBody>
      </p:sp>
      <p:sp>
        <p:nvSpPr>
          <p:cNvPr id="23" name="TextBox 22"/>
          <p:cNvSpPr txBox="1"/>
          <p:nvPr/>
        </p:nvSpPr>
        <p:spPr>
          <a:xfrm>
            <a:off x="9720437" y="298791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справляются с падением мяча в ящик и с разрезанием мандарина ножом</a:t>
            </a:r>
          </a:p>
        </p:txBody>
      </p:sp>
      <p:sp>
        <p:nvSpPr>
          <p:cNvPr id="24" name="Rounded Rectangle 23"/>
          <p:cNvSpPr/>
          <p:nvPr/>
        </p:nvSpPr>
        <p:spPr>
          <a:xfrm>
            <a:off x="374904" y="449529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586735"/>
            <a:ext cx="11112703" cy="16494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Правдоподобие и понимание расходятся. Приёмка по принципу «выглядит убедительно» в этой модальности не работает.</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Physics-IQ</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Инструмент исчезает быстрее, чем окупается обучение команды</a:t>
            </a:r>
          </a:p>
        </p:txBody>
      </p:sp>
      <p:sp>
        <p:nvSpPr>
          <p:cNvPr id="4" name="Rounded Rectangle 3"/>
          <p:cNvSpPr/>
          <p:nvPr/>
        </p:nvSpPr>
        <p:spPr>
          <a:xfrm>
            <a:off x="502920"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ВЫКЛЮЧЕННЫХ ФЛАГМАНА</a:t>
            </a:r>
          </a:p>
        </p:txBody>
      </p:sp>
      <p:sp>
        <p:nvSpPr>
          <p:cNvPr id="6" name="TextBox 5"/>
          <p:cNvSpPr txBox="1"/>
          <p:nvPr/>
        </p:nvSpPr>
        <p:spPr>
          <a:xfrm>
            <a:off x="640080" y="1932846"/>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тринадцать месяцев</a:t>
            </a:r>
          </a:p>
        </p:txBody>
      </p:sp>
      <p:sp>
        <p:nvSpPr>
          <p:cNvPr id="7" name="TextBox 6"/>
          <p:cNvSpPr txBox="1"/>
          <p:nvPr/>
        </p:nvSpPr>
        <p:spPr>
          <a:xfrm>
            <a:off x="640080" y="3140692"/>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 предварительный программный доступ, выключен 22 октября 2026 года; разработчикам предложено мигрировать</a:t>
            </a:r>
          </a:p>
        </p:txBody>
      </p:sp>
      <p:sp>
        <p:nvSpPr>
          <p:cNvPr id="8" name="Rounded Rectangle 7"/>
          <p:cNvSpPr/>
          <p:nvPr/>
        </p:nvSpPr>
        <p:spPr>
          <a:xfrm>
            <a:off x="2773009"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ПРИНЯТОЕ ПО ПОКАЗАННОМУ ВМЕСТО ИЗМЕРЕННОГО</a:t>
            </a:r>
          </a:p>
        </p:txBody>
      </p:sp>
      <p:sp>
        <p:nvSpPr>
          <p:cNvPr id="10" name="TextBox 9"/>
          <p:cNvSpPr txBox="1"/>
          <p:nvPr/>
        </p:nvSpPr>
        <p:spPr>
          <a:xfrm>
            <a:off x="2910169"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остановлено расширение студии на 800 млн $</a:t>
            </a:r>
          </a:p>
        </p:txBody>
      </p:sp>
      <p:sp>
        <p:nvSpPr>
          <p:cNvPr id="11" name="TextBox 10"/>
          <p:cNvSpPr txBox="1"/>
          <p:nvPr/>
        </p:nvSpPr>
        <p:spPr>
          <a:xfrm>
            <a:off x="2910169"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продюсер принял его в феврале 2024 года, посмотрев первые примеры</a:t>
            </a:r>
          </a:p>
        </p:txBody>
      </p:sp>
      <p:sp>
        <p:nvSpPr>
          <p:cNvPr id="12" name="Rounded Rectangle 11"/>
          <p:cNvSpPr/>
          <p:nvPr/>
        </p:nvSpPr>
        <p:spPr>
          <a:xfrm>
            <a:off x="5043098" y="1335024"/>
            <a:ext cx="2105497" cy="413164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ЭКОНОМИКА СЕРВИСА</a:t>
            </a:r>
          </a:p>
        </p:txBody>
      </p:sp>
      <p:sp>
        <p:nvSpPr>
          <p:cNvPr id="14" name="TextBox 13"/>
          <p:cNvSpPr txBox="1"/>
          <p:nvPr/>
        </p:nvSpPr>
        <p:spPr>
          <a:xfrm>
            <a:off x="5180258" y="1725375"/>
            <a:ext cx="1831177"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около 1 млн $ в сутки при менее чем 500 тыс. пользователей</a:t>
            </a:r>
          </a:p>
        </p:txBody>
      </p:sp>
      <p:sp>
        <p:nvSpPr>
          <p:cNvPr id="15" name="TextBox 14"/>
          <p:cNvSpPr txBox="1"/>
          <p:nvPr/>
        </p:nvSpPr>
        <p:spPr>
          <a:xfrm>
            <a:off x="5180258" y="237304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пике около миллиона пользователей; поделите одно на другое — доллар на пользователя в день. Генерация видео не была бесплатной ни секунды, просто платил не пользователь</a:t>
            </a:r>
          </a:p>
        </p:txBody>
      </p:sp>
      <p:sp>
        <p:nvSpPr>
          <p:cNvPr id="16" name="Rounded Rectangle 15"/>
          <p:cNvSpPr/>
          <p:nvPr/>
        </p:nvSpPr>
        <p:spPr>
          <a:xfrm>
            <a:off x="7313188"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СТАЛО С ПРОЕКТОМ, ПОСТРОЕННЫМ НА ЭТОМ ИНСТРУМЕНТЕ</a:t>
            </a:r>
          </a:p>
        </p:txBody>
      </p:sp>
      <p:sp>
        <p:nvSpPr>
          <p:cNvPr id="18" name="TextBox 17"/>
          <p:cNvSpPr txBox="1"/>
          <p:nvPr/>
        </p:nvSpPr>
        <p:spPr>
          <a:xfrm>
            <a:off x="7450348" y="2347789"/>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девять месяцев производства против трёх лет — и сдвиг на год</a:t>
            </a:r>
          </a:p>
        </p:txBody>
      </p:sp>
      <p:sp>
        <p:nvSpPr>
          <p:cNvPr id="19" name="TextBox 18"/>
          <p:cNvSpPr txBox="1"/>
          <p:nvPr/>
        </p:nvSpPr>
        <p:spPr>
          <a:xfrm>
            <a:off x="7450348" y="3199161"/>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метр остался без технологического партнёра, пропустил заявленную премьеру и сдвинулся на первый квартал 2027 года</a:t>
            </a:r>
          </a:p>
        </p:txBody>
      </p:sp>
      <p:sp>
        <p:nvSpPr>
          <p:cNvPr id="20" name="Rounded Rectangle 19"/>
          <p:cNvSpPr/>
          <p:nvPr/>
        </p:nvSpPr>
        <p:spPr>
          <a:xfrm>
            <a:off x="9583277"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ПАРНЫЙ РАБОЧИЙ ОТВЕТ, БЕЗ КОТОРОГО ЭТО БЫЛО БЫ ОБВИНЕНИЕМ</a:t>
            </a:r>
          </a:p>
        </p:txBody>
      </p:sp>
      <p:sp>
        <p:nvSpPr>
          <p:cNvPr id="22" name="TextBox 21"/>
          <p:cNvSpPr txBox="1"/>
          <p:nvPr/>
        </p:nvSpPr>
        <p:spPr>
          <a:xfrm>
            <a:off x="9720437" y="2347789"/>
            <a:ext cx="1831177"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преемник назван, путь перехода дан</a:t>
            </a:r>
          </a:p>
        </p:txBody>
      </p:sp>
      <p:sp>
        <p:nvSpPr>
          <p:cNvPr id="23" name="TextBox 22"/>
          <p:cNvSpPr txBox="1"/>
          <p:nvPr/>
        </p:nvSpPr>
        <p:spPr>
          <a:xfrm>
            <a:off x="9720437" y="3428322"/>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корпоративный контур отделён от предварительного именно затем, чтобы производственная зависимость не ломалась вслед за экспериментальным интерфейсом</a:t>
            </a:r>
          </a:p>
        </p:txBody>
      </p:sp>
      <p:sp>
        <p:nvSpPr>
          <p:cNvPr id="24" name="TextBox 23"/>
          <p:cNvSpPr txBox="1"/>
          <p:nvPr/>
        </p:nvSpPr>
        <p:spPr>
          <a:xfrm>
            <a:off x="502920" y="5686129"/>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2024</a:t>
            </a:r>
          </a:p>
        </p:txBody>
      </p:sp>
      <p:sp>
        <p:nvSpPr>
          <p:cNvPr id="25" name="Rounded Rectangle 24"/>
          <p:cNvSpPr/>
          <p:nvPr/>
        </p:nvSpPr>
        <p:spPr>
          <a:xfrm>
            <a:off x="1920240"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показаны первые примеры</a:t>
            </a:r>
          </a:p>
        </p:txBody>
      </p:sp>
      <p:sp>
        <p:nvSpPr>
          <p:cNvPr id="27" name="Right Arrow 26"/>
          <p:cNvSpPr/>
          <p:nvPr/>
        </p:nvSpPr>
        <p:spPr>
          <a:xfrm>
            <a:off x="6713067" y="6175143"/>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декабрь: публичный запуск для подписчиков</a:t>
            </a:r>
          </a:p>
        </p:txBody>
      </p:sp>
      <p:sp>
        <p:nvSpPr>
          <p:cNvPr id="30" name="TextBox 29"/>
          <p:cNvSpPr txBox="1"/>
          <p:nvPr/>
        </p:nvSpPr>
        <p:spPr>
          <a:xfrm>
            <a:off x="502920" y="7020773"/>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2025</a:t>
            </a:r>
          </a:p>
        </p:txBody>
      </p:sp>
      <p:sp>
        <p:nvSpPr>
          <p:cNvPr id="31" name="Rounded Rectangle 30"/>
          <p:cNvSpPr/>
          <p:nvPr/>
        </p:nvSpPr>
        <p:spPr>
          <a:xfrm>
            <a:off x="1920240"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 сентября: второе поколение и приложение</a:t>
            </a:r>
          </a:p>
        </p:txBody>
      </p:sp>
      <p:sp>
        <p:nvSpPr>
          <p:cNvPr id="33" name="Right Arrow 32"/>
          <p:cNvSpPr/>
          <p:nvPr/>
        </p:nvSpPr>
        <p:spPr>
          <a:xfrm>
            <a:off x="5039258" y="7509787"/>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5267858"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5350154"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через неделю: средства снятия видимого водяного знака расходятся по сети</a:t>
            </a:r>
          </a:p>
        </p:txBody>
      </p:sp>
      <p:sp>
        <p:nvSpPr>
          <p:cNvPr id="36" name="Right Arrow 35"/>
          <p:cNvSpPr/>
          <p:nvPr/>
        </p:nvSpPr>
        <p:spPr>
          <a:xfrm>
            <a:off x="8386876" y="7509787"/>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8615476"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8697772"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11 декабря: студия объявляет лицензионное соглашение на миллиард долларов; против — три профсоюза</a:t>
            </a:r>
          </a:p>
        </p:txBody>
      </p:sp>
      <p:sp>
        <p:nvSpPr>
          <p:cNvPr id="39" name="TextBox 38"/>
          <p:cNvSpPr txBox="1"/>
          <p:nvPr/>
        </p:nvSpPr>
        <p:spPr>
          <a:xfrm>
            <a:off x="502920" y="835541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40" name="Rounded Rectangle 39"/>
          <p:cNvSpPr/>
          <p:nvPr/>
        </p:nvSpPr>
        <p:spPr>
          <a:xfrm>
            <a:off x="1920240"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2002536"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марта: объявлено о прекращении, сделка не состоялась</a:t>
            </a:r>
          </a:p>
        </p:txBody>
      </p:sp>
      <p:sp>
        <p:nvSpPr>
          <p:cNvPr id="42" name="Right Arrow 41"/>
          <p:cNvSpPr/>
          <p:nvPr/>
        </p:nvSpPr>
        <p:spPr>
          <a:xfrm>
            <a:off x="5039258" y="8844430"/>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5267858"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5350154"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26 апреля: закрыто приложение</a:t>
            </a:r>
          </a:p>
        </p:txBody>
      </p:sp>
      <p:sp>
        <p:nvSpPr>
          <p:cNvPr id="45" name="Right Arrow 44"/>
          <p:cNvSpPr/>
          <p:nvPr/>
        </p:nvSpPr>
        <p:spPr>
          <a:xfrm>
            <a:off x="8386876" y="8844430"/>
            <a:ext cx="182880" cy="137160"/>
          </a:xfrm>
          <a:prstGeom prst="rightArrow">
            <a:avLst/>
          </a:prstGeom>
          <a:solidFill>
            <a:srgbClr val="1C7293"/>
          </a:solidFill>
          <a:ln>
            <a:noFill/>
          </a:ln>
          <a:effectLst/>
        </p:spPr>
        <p:txBody>
          <a:bodyPr rtlCol="0" anchor="ctr"/>
          <a:lstStyle/>
          <a:p>
            <a:pPr algn="ctr"/>
          </a:p>
        </p:txBody>
      </p:sp>
      <p:sp>
        <p:nvSpPr>
          <p:cNvPr id="46" name="Rounded Rectangle 45"/>
          <p:cNvSpPr/>
          <p:nvPr/>
        </p:nvSpPr>
        <p:spPr>
          <a:xfrm>
            <a:off x="8615476"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7" name="TextBox 46"/>
          <p:cNvSpPr txBox="1"/>
          <p:nvPr/>
        </p:nvSpPr>
        <p:spPr>
          <a:xfrm>
            <a:off x="8697772"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сентября: закрыт программный доступ</a:t>
            </a:r>
          </a:p>
        </p:txBody>
      </p:sp>
      <p:sp>
        <p:nvSpPr>
          <p:cNvPr id="48" name="TextBox 47"/>
          <p:cNvSpPr txBox="1"/>
          <p:nvPr/>
        </p:nvSpPr>
        <p:spPr>
          <a:xfrm>
            <a:off x="502920" y="954375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цикл одного флагмана: от первых примеров до выключения</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документации поставщика, прочитана 27.10.2026; сообщения о закрытии Sora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Скрытая цена отбора</a:t>
            </a:r>
          </a:p>
        </p:txBody>
      </p:sp>
      <p:sp>
        <p:nvSpPr>
          <p:cNvPr id="4" name="Rounded Rectangle 3"/>
          <p:cNvSpPr/>
          <p:nvPr/>
        </p:nvSpPr>
        <p:spPr>
          <a:xfrm>
            <a:off x="502920"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«AIR HEAD», АПРЕЛЬ 2024</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300 к 1</a:t>
            </a:r>
          </a:p>
        </p:txBody>
      </p:sp>
      <p:sp>
        <p:nvSpPr>
          <p:cNvPr id="7" name="TextBox 6"/>
          <p:cNvSpPr txBox="1"/>
          <p:nvPr/>
        </p:nvSpPr>
        <p:spPr>
          <a:xfrm>
            <a:off x="640080" y="235984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собственная оценка авторов: отношение исходного материала к вошедшему</a:t>
            </a:r>
          </a:p>
        </p:txBody>
      </p:sp>
      <p:sp>
        <p:nvSpPr>
          <p:cNvPr id="8" name="Rounded Rectangle 7"/>
          <p:cNvSpPr/>
          <p:nvPr/>
        </p:nvSpPr>
        <p:spPr>
          <a:xfrm>
            <a:off x="2773009"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БЕЗ КОТОРОЙ ЭТО ЧИСЛО НЕ ЧИТАЕТСЯ</a:t>
            </a:r>
          </a:p>
        </p:txBody>
      </p:sp>
      <p:sp>
        <p:nvSpPr>
          <p:cNvPr id="10" name="TextBox 9"/>
          <p:cNvSpPr txBox="1"/>
          <p:nvPr/>
        </p:nvSpPr>
        <p:spPr>
          <a:xfrm>
            <a:off x="2910169" y="2140317"/>
            <a:ext cx="1831177"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десятки к одному в документалистике, около десяти к одному в постановочной рекламе</a:t>
            </a:r>
          </a:p>
        </p:txBody>
      </p:sp>
      <p:sp>
        <p:nvSpPr>
          <p:cNvPr id="11" name="TextBox 10"/>
          <p:cNvSpPr txBox="1"/>
          <p:nvPr/>
        </p:nvSpPr>
        <p:spPr>
          <a:xfrm>
            <a:off x="2910169" y="3195389"/>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не изобрела отбор — она увеличила его на порядок-полтора против того режима, которому подражает</a:t>
            </a:r>
          </a:p>
        </p:txBody>
      </p:sp>
      <p:sp>
        <p:nvSpPr>
          <p:cNvPr id="12" name="Rounded Rectangle 11"/>
          <p:cNvSpPr/>
          <p:nvPr/>
        </p:nvSpPr>
        <p:spPr>
          <a:xfrm>
            <a:off x="5043098" y="1335024"/>
            <a:ext cx="2105497" cy="359693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TOYS "R" US, ИЮНЬ 2024</a:t>
            </a:r>
          </a:p>
        </p:txBody>
      </p:sp>
      <p:sp>
        <p:nvSpPr>
          <p:cNvPr id="14" name="TextBox 13"/>
          <p:cNvSpPr txBox="1"/>
          <p:nvPr/>
        </p:nvSpPr>
        <p:spPr>
          <a:xfrm>
            <a:off x="5180258" y="1932846"/>
            <a:ext cx="1831177" cy="749522"/>
          </a:xfrm>
          <a:prstGeom prst="rect">
            <a:avLst/>
          </a:prstGeom>
          <a:noFill/>
        </p:spPr>
        <p:txBody>
          <a:bodyPr wrap="square" lIns="0" rIns="0" tIns="0" bIns="0" anchor="t">
            <a:spAutoFit/>
          </a:bodyPr>
          <a:lstStyle/>
          <a:p>
            <a:pPr algn="l">
              <a:lnSpc>
                <a:spcPct val="108000"/>
              </a:lnSpc>
            </a:pPr>
            <a:r>
              <a:rPr sz="1400" b="1" i="0">
                <a:solidFill>
                  <a:srgbClr val="1C7293"/>
                </a:solidFill>
                <a:latin typeface="Arial"/>
              </a:rPr>
              <a:t>сотни итеративных планов → пара десятков</a:t>
            </a:r>
          </a:p>
        </p:txBody>
      </p:sp>
      <p:sp>
        <p:nvSpPr>
          <p:cNvPr id="15" name="TextBox 14"/>
          <p:cNvSpPr txBox="1"/>
          <p:nvPr/>
        </p:nvSpPr>
        <p:spPr>
          <a:xfrm>
            <a:off x="5180258" y="2682369"/>
            <a:ext cx="1831177"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шестидесятишестисекундный ролик. Единственное защитимое в публичном поле отношение генераций к годному: названо первоисточником, с именами студии и режиссёра</a:t>
            </a:r>
          </a:p>
        </p:txBody>
      </p:sp>
      <p:sp>
        <p:nvSpPr>
          <p:cNvPr id="16" name="Rounded Rectangle 15"/>
          <p:cNvSpPr/>
          <p:nvPr/>
        </p:nvSpPr>
        <p:spPr>
          <a:xfrm>
            <a:off x="7313188"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ЕГО НЕЛЬЗЯ ПЕРЕНОСИТЬ</a:t>
            </a:r>
          </a:p>
        </p:txBody>
      </p:sp>
      <p:sp>
        <p:nvSpPr>
          <p:cNvPr id="18" name="TextBox 17"/>
          <p:cNvSpPr txBox="1"/>
          <p:nvPr/>
        </p:nvSpPr>
        <p:spPr>
          <a:xfrm>
            <a:off x="7450348" y="1932846"/>
            <a:ext cx="1831177"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это один ролик одной студии</a:t>
            </a:r>
          </a:p>
        </p:txBody>
      </p:sp>
      <p:sp>
        <p:nvSpPr>
          <p:cNvPr id="19" name="TextBox 18"/>
          <p:cNvSpPr txBox="1"/>
          <p:nvPr/>
        </p:nvSpPr>
        <p:spPr>
          <a:xfrm>
            <a:off x="7450348" y="308976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кампании с семьюдесятью тысячами клипов доля вошедших не раскрыта нигде, и подставлять сюда чужое отношение значит выдумывать</a:t>
            </a:r>
          </a:p>
        </p:txBody>
      </p:sp>
      <p:sp>
        <p:nvSpPr>
          <p:cNvPr id="20" name="Rounded Rectangle 19"/>
          <p:cNvSpPr/>
          <p:nvPr/>
        </p:nvSpPr>
        <p:spPr>
          <a:xfrm>
            <a:off x="9583277"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ЭТОЙ ЛЕКЦИИ НЕ УПОТРЕБЛЯЕТСЯ</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«три генерации на годный кадр» и «шесть-двенадцать на один удачный»</a:t>
            </a:r>
          </a:p>
        </p:txBody>
      </p:sp>
      <p:sp>
        <p:nvSpPr>
          <p:cNvPr id="23" name="TextBox 22"/>
          <p:cNvSpPr txBox="1"/>
          <p:nvPr/>
        </p:nvSpPr>
        <p:spPr>
          <a:xfrm>
            <a:off x="9720437" y="278421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цифры происходят из материалов сайтов, продающих генерацию, и не содержат ни методологии, ни выборки</a:t>
            </a:r>
          </a:p>
        </p:txBody>
      </p:sp>
      <p:sp>
        <p:nvSpPr>
          <p:cNvPr id="24" name="Rounded Rectangle 23"/>
          <p:cNvSpPr/>
          <p:nvPr/>
        </p:nvSpPr>
        <p:spPr>
          <a:xfrm>
            <a:off x="374904" y="502340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114843"/>
            <a:ext cx="11112703" cy="112136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Между ценой одной попытки и ценой одного годного результата стоит коэффициент отбора, которого в прейскуранте нет ни словом.</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«Air Head», апрель 2024; Toys "R" Us, июнь 2024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Накопительная карта: дописана колонка «Видео»</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Дешевизна попытки и дороговизна выбора растут вместе: чем дороже единица выхода, тем больше проб приходится просеивать ради одной годной.</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Звук</a:t>
            </a:r>
          </a:p>
        </p:txBody>
      </p:sp>
      <p:sp>
        <p:nvSpPr>
          <p:cNvPr id="12" name="Rectangle 11"/>
          <p:cNvSpPr/>
          <p:nvPr/>
        </p:nvSpPr>
        <p:spPr>
          <a:xfrm>
            <a:off x="6650614" y="2163730"/>
            <a:ext cx="1679387" cy="32338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6650614"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дубляж 0,03–0,072 $ за минуту</a:t>
            </a:r>
          </a:p>
        </p:txBody>
      </p:sp>
      <p:sp>
        <p:nvSpPr>
          <p:cNvPr id="25" name="Rectangle 24"/>
          <p:cNvSpPr/>
          <p:nvPr/>
        </p:nvSpPr>
        <p:spPr>
          <a:xfrm>
            <a:off x="6650614"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цена выпуска ниже в 10–20 раз</a:t>
            </a:r>
          </a:p>
        </p:txBody>
      </p:sp>
      <p:sp>
        <p:nvSpPr>
          <p:cNvPr id="27" name="Rectangle 26"/>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31" name="Rectangle 30"/>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3" name="Rectangle 32"/>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ручная правка дикции</a:t>
            </a:r>
          </a:p>
        </p:txBody>
      </p:sp>
      <p:sp>
        <p:nvSpPr>
          <p:cNvPr id="35" name="Rectangle 34"/>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ручной отбор и склейка</a:t>
            </a:r>
          </a:p>
        </p:txBody>
      </p:sp>
      <p:sp>
        <p:nvSpPr>
          <p:cNvPr id="37" name="Rectangle 36"/>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40" name="TextBox 39"/>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41" name="Rectangle 40"/>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43" name="Rectangle 42"/>
          <p:cNvSpPr/>
          <p:nvPr/>
        </p:nvSpPr>
        <p:spPr>
          <a:xfrm>
            <a:off x="4971227"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5035235"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разделение источников</a:t>
            </a:r>
          </a:p>
        </p:txBody>
      </p:sp>
      <p:sp>
        <p:nvSpPr>
          <p:cNvPr id="45" name="Rectangle 44"/>
          <p:cNvSpPr/>
          <p:nvPr/>
        </p:nvSpPr>
        <p:spPr>
          <a:xfrm>
            <a:off x="6650614"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6714622"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интерполяция кадров</a:t>
            </a:r>
          </a:p>
        </p:txBody>
      </p:sp>
      <p:sp>
        <p:nvSpPr>
          <p:cNvPr id="47" name="Rectangle 46"/>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50" name="TextBox 49"/>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51" name="Rectangle 50"/>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2" name="TextBox 51"/>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53" name="Rectangle 52"/>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035235"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длина задана до запуска</a:t>
            </a:r>
          </a:p>
        </p:txBody>
      </p:sp>
      <p:sp>
        <p:nvSpPr>
          <p:cNvPr id="55" name="Rectangle 54"/>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6714622"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физика выучена как корреляция</a:t>
            </a:r>
          </a:p>
        </p:txBody>
      </p:sp>
      <p:sp>
        <p:nvSpPr>
          <p:cNvPr id="57" name="Rectangle 56"/>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60" name="TextBox 59"/>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61" name="Rectangle 60"/>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2" name="TextBox 61"/>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3" name="Rectangle 62"/>
          <p:cNvSpPr/>
          <p:nvPr/>
        </p:nvSpPr>
        <p:spPr>
          <a:xfrm>
            <a:off x="4971227"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035235"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5" name="Rectangle 64"/>
          <p:cNvSpPr/>
          <p:nvPr/>
        </p:nvSpPr>
        <p:spPr>
          <a:xfrm>
            <a:off x="6650614"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6714622"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в кадровый бюджет не укладывается</a:t>
            </a:r>
          </a:p>
        </p:txBody>
      </p:sp>
      <p:sp>
        <p:nvSpPr>
          <p:cNvPr id="67" name="Rectangle 6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70" name="TextBox 6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71" name="Rectangle 7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2" name="TextBox 7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3" name="Rectangle 7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4" name="TextBox 73"/>
          <p:cNvSpPr txBox="1"/>
          <p:nvPr/>
        </p:nvSpPr>
        <p:spPr>
          <a:xfrm>
            <a:off x="5035235"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5" name="Rectangle 74"/>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6" name="TextBox 75"/>
          <p:cNvSpPr txBox="1"/>
          <p:nvPr/>
        </p:nvSpPr>
        <p:spPr>
          <a:xfrm>
            <a:off x="6714622"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7" name="Rectangle 76"/>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9" name="Rounded Rectangle 78"/>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80" name="Rectangle 79"/>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81" name="TextBox 80"/>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 · Звук — права, узнавание · Видео — отбор</a:t>
            </a:r>
          </a:p>
        </p:txBody>
      </p:sp>
      <p:sp>
        <p:nvSpPr>
          <p:cNvPr id="82" name="Rectangle 8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