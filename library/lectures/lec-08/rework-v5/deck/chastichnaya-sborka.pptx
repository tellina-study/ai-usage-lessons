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таблица, которая проживёт весь вечер. Она предъявляется шесть раз, и каждый</a:t>
            </a:r>
          </a:p>
          <a:p>
            <a:r>
              <a:t>раз в ней на одну колонку больше. Сейчас в ней подписаны только строки, и этого достаточно: без</a:t>
            </a:r>
          </a:p>
          <a:p>
            <a:r>
              <a:t>строк клетки не значат ничего, а строки задаются один раз и дальше не меняются.</a:t>
            </a:r>
          </a:p>
          <a:p>
            <a:r>
              <a:t/>
            </a:r>
          </a:p>
          <a:p>
            <a:r>
              <a:t>Строк шесть, и выбраны они по типу решения, которое надо принять. Разница с делением по</a:t>
            </a:r>
          </a:p>
          <a:p>
            <a:r>
              <a:t>инструментам существенная. Если резать по инструментам, получится список продуктов, который</a:t>
            </a:r>
          </a:p>
          <a:p>
            <a:r>
              <a:t>устареет к следующему семестру. Если резать по типу задачи, получится сетка, в которую новый</a:t>
            </a:r>
          </a:p>
          <a:p>
            <a:r>
              <a:t>продукт просто ложится клеткой, и это та форма знания, которая переживает смену поколений</a:t>
            </a:r>
          </a:p>
          <a:p>
            <a:r>
              <a:t>моделей.</a:t>
            </a:r>
          </a:p>
          <a:p>
            <a:r>
              <a:t/>
            </a:r>
          </a:p>
          <a:p>
            <a:r>
              <a:t>Породить первое приближение — это стадия, где нужно много дешёвых вариантов и где ни один из</a:t>
            </a:r>
          </a:p>
          <a:p>
            <a:r>
              <a:t>них не пойдёт в продукт напрямую. Концепт, набросок облика, пробный голос, черновая анимация.</a:t>
            </a:r>
          </a:p>
          <a:p>
            <a:r>
              <a:t>Именно сюда модель вошла первой и сильнее всего, и причина ровно в экономике попытки: вся</a:t>
            </a:r>
          </a:p>
          <a:p>
            <a:r>
              <a:t>стадия была устроена вокруг вопроса «сколько вариантов мы можем себе позволить посмотреть,</a:t>
            </a:r>
          </a:p>
          <a:p>
            <a:r>
              <a:t>прежде чем выбрать один», а модель изменила ту самую величину, вокруг которой стадия стояла.</a:t>
            </a:r>
          </a:p>
          <a:p>
            <a:r>
              <a:t/>
            </a:r>
          </a:p>
          <a:p>
            <a:r>
              <a:t>Довести до производственного качества — стадия, куда всё переехало. Отбор, бракераж, доводка,</a:t>
            </a:r>
          </a:p>
          <a:p>
            <a:r>
              <a:t>выпуск. Это новая работа: когда проба стоила денег, её делали мало и смотреть было почти нечего.</a:t>
            </a:r>
          </a:p>
          <a:p>
            <a:r>
              <a:t>Теперь проб тысячи, и в этой клетке — ответ на вопрос, куда ушли деньги.</a:t>
            </a:r>
          </a:p>
          <a:p>
            <a:r>
              <a:t/>
            </a:r>
          </a:p>
          <a:p>
            <a:r>
              <a:t>Восстановить существующее стоит отдельной строкой, потому что это другая задача, и путают её с</a:t>
            </a:r>
          </a:p>
          <a:p>
            <a:r>
              <a:t>порождением постоянно. Повысить разрешение архивной плёнки, вытащить голос из моноплёнки</a:t>
            </a:r>
          </a:p>
          <a:p>
            <a:r>
              <a:t>шестидесятых, прочитать обугленный свиток — здесь модель не придумывает, а реконструирует уже</a:t>
            </a:r>
          </a:p>
          <a:p>
            <a:r>
              <a:t>записанное. Спор вокруг восстановления идёт куда спокойнее, чем вокруг генерации, и это не</a:t>
            </a:r>
          </a:p>
          <a:p>
            <a:r>
              <a:t>случайность: у восстановления есть оригинал, с которым можно сверить результат.</a:t>
            </a:r>
          </a:p>
          <a:p>
            <a:r>
              <a:t/>
            </a:r>
          </a:p>
          <a:p>
            <a:r>
              <a:t>Соблюсти точные величины — строка, которая для инженерной аудитории окажется самой важной, и</a:t>
            </a:r>
          </a:p>
          <a:p>
            <a:r>
              <a:t>заполняться она будет преимущественно отказами. Размер, допуск, проверяемое условие — это</a:t>
            </a:r>
          </a:p>
          <a:p>
            <a:r>
              <a:t>вопросы, на которые изображение объекта не отвечает, потому что внутри изображения нет ни</a:t>
            </a:r>
          </a:p>
          <a:p>
            <a:r>
              <a:t>единиц измерения, ни дерева построения. Клетка, в которой написано «модель — не тот</a:t>
            </a:r>
          </a:p>
          <a:p>
            <a:r>
              <a:t>инструмент», — полноценный результат, а не пробел, и таких клеток в карте будет несколько.</a:t>
            </a:r>
          </a:p>
          <a:p>
            <a:r>
              <a:t/>
            </a:r>
          </a:p>
          <a:p>
            <a:r>
              <a:t>Уложиться в бюджет реального времени — строка про срок кадра, а не про срок задачи. Между</a:t>
            </a:r>
          </a:p>
          <a:p>
            <a:r>
              <a:t>«картинка за двадцать секунд» и «кадр за шестнадцать миллисекунд» лежит не разница в скорости,</a:t>
            </a:r>
          </a:p>
          <a:p>
            <a:r>
              <a:t>а разница в классе инженерной задачи, и это станет видно там, где речь пойдёт о трёхмерной</a:t>
            </a:r>
          </a:p>
          <a:p>
            <a:r>
              <a:t>сцене.</a:t>
            </a:r>
          </a:p>
          <a:p>
            <a:r>
              <a:t/>
            </a:r>
          </a:p>
          <a:p>
            <a:r>
              <a:t>Ответить «кто отвечает» — строка про происхождение и права. Откуда взялась эта деталь, можно ли</a:t>
            </a:r>
          </a:p>
          <a:p>
            <a:r>
              <a:t>это выпускать, кому принадлежит результат, чем подтверждается, что это снято, а не собрано. По</a:t>
            </a:r>
          </a:p>
          <a:p>
            <a:r>
              <a:t>этой строке у неподвижного изображения будет пусто — и пусто по устройству метода, а не потому,</a:t>
            </a:r>
          </a:p>
          <a:p>
            <a:r>
              <a:t>что чего-то не нашли.</a:t>
            </a:r>
          </a:p>
          <a:p>
            <a:r>
              <a:t/>
            </a:r>
          </a:p>
          <a:p>
            <a:r>
              <a:t>Колонок будет пять, и добавляются они по одной в конце каждого раздела, в порядке роста цены</a:t>
            </a:r>
          </a:p>
          <a:p>
            <a:r>
              <a:t>единицы выхода: изображение, звук, видео, трёхмерное, распознавание. Шестой колонки нет</a:t>
            </a:r>
          </a:p>
          <a:p>
            <a:r>
              <a:t>намеренно: сборка — не модальность, она читает готовую карту, а не дописывает её.</a:t>
            </a:r>
          </a:p>
          <a:p>
            <a:r>
              <a:t>Распознавание стоит в ряду особняком и по другой причине: там модель решает обратную задачу —</a:t>
            </a:r>
          </a:p>
          <a:p>
            <a:r>
              <a:t>читает, а не рисует, — и это та же архитектура внимания, развёрнутая в другую сторону.</a:t>
            </a:r>
          </a:p>
          <a:p>
            <a:r>
              <a:t/>
            </a:r>
          </a:p>
          <a:p>
            <a:r>
              <a:t>Под сеткой пойдёт отдельная полоса — адрес платежа. Каждый разбор называет, куда уходит</a:t>
            </a:r>
          </a:p>
          <a:p>
            <a:r>
              <a:t>заплаченное: в отбор, в права или в узнавание, — и к концу вечера станет видно, что адреса</a:t>
            </a:r>
          </a:p>
          <a:p>
            <a:r>
              <a:t>распределены по модальностям неравномерно, а эта неравномерность сама по себе содержательна.</a:t>
            </a:r>
          </a:p>
          <a:p>
            <a:r>
              <a:t/>
            </a:r>
          </a:p>
          <a:p>
            <a:r>
              <a:t>Последнее про эту карту, и оно про честность. К концу вечера часть клеток останется пустой.</a:t>
            </a:r>
          </a:p>
          <a:p>
            <a:r>
              <a:t>Каждая пустая клетка будет названа содержательно: либо «метод сюда не годится, и вот причина»,</a:t>
            </a:r>
          </a:p>
          <a:p>
            <a:r>
              <a:t>либо «приём работает, но случая с посчитанными обеими сторонами в открытых источниках найти не</a:t>
            </a:r>
          </a:p>
          <a:p>
            <a:r>
              <a:t>удалось». Оговорки «наверняка что-то пропущено» на этой карте не будет — пробел называется</a:t>
            </a:r>
          </a:p>
          <a:p>
            <a:r>
              <a:t>своим именем или не называется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Накопительная карта после трёх разделов заполнена на три колонки из пяти. Строка «породить первое приближение» растёт слева направо на порядок при каждом переходе, и карта показывает ровно это: чем дороже единица выхода, тем больше попыток приходится просеивать, чтобы получить одну годную. Дешевизна попытки и дороговизна выбора растут вместе. Под сеткой идёт полоса адреса платежа: у изображения это отбор и права, у звука — права и узнавание, у видео — отбор.</a:t>
            </a:r>
          </a:p>
          <a:p>
            <a:r>
              <a:t/>
            </a:r>
          </a:p>
          <a:p>
            <a:r>
              <a:t>Вывод раздела, в трёх частях. Где польза: производство отдельного плана подешевело на три порядка, и это посчитано от классического режима трижды — микродрама с миллиона юаней до 50–100 тысяч, рекламный ролик с сорока тысяч долларов до двух тысяч, производственный цикл крупной кампании с года до месяца. Ни в одном из трёх случаев выигрыш не считался от нуля. Где границы: между кадрами нет объекта, который «тот же»; физика выучена как корреляция, и лучшая модель даёт 29,5 процента от воспроизводимости самой реальности; длина и разрешение покупаются нелинейно — втрое по разрешению стоит сорокакратно по времени обучения. Какая нагрузка идёт дальше: отбор — 400 генераций на 15 склеек, 300 к одному, сотни планов на пару десятков; и устойчивость инструмента — два флагмана выключены за тринадцать месяцев, и фильм, построенный на одном из них, сдвинулся на год.</a:t>
            </a:r>
          </a:p>
          <a:p>
            <a:r>
              <a:t/>
            </a:r>
          </a:p>
          <a:p>
            <a:r>
              <a:t>Технический вывод на материале раздела: главный рычаг — токенизатор. Коэффициент сжатия автокодировщика, поднятый до 32, сократил число токенов с 76 до 19 тысяч и опустил стоимость обучения коммерческой видеомодели до двухсот тысяч долларов; размер модели при этом остался прежним.</a:t>
            </a:r>
          </a:p>
          <a:p>
            <a:r>
              <a:t/>
            </a:r>
          </a:p>
          <a:p>
            <a:r>
              <a:t>Как читать карту вслух. Первая строка отвечает на вопрос «можно ли этим вообще начать работу» и по всем трём заполненным колонкам отвечает «да, и дёшево». Вторая отвечает на вопрос «можно ли этим закончить» и по всем трём колонкам упирается в ручную работу человека: правку, отбор, склейку. Третья — единственная, где у модели есть честная метрика и верхняя граница, вычисленная при знании ответа. Три нижние строки заполнены словом «нет» или «неприменимо», и в каждой клетке названа причина отказа, а не одно голое слово «нет». Пустых клеток в заполненных колонках нет, и это обязательное свойство карты: там, где измеренного случая у нас не нашлось, сказано, что именно известно и чего не хватает.</a:t>
            </a:r>
          </a:p>
          <a:p>
            <a:r>
              <a:t/>
            </a:r>
          </a:p>
          <a:p>
            <a:r>
              <a:t>Две колонки ещё впереди — трёхмерная сцена и распознавание. Строки при этом не изменятся ни разу: карта накапливается колонками, и переписывать их не придётся. Это и есть её польза как инструмента — к концу вечера шесть типов задач окажутся проверены на пяти модальностях одним и тем же вопросом, и сравнивать модальности между собой можно будет построчно, не держа в голове пять разных рассказов.</a:t>
            </a:r>
          </a:p>
          <a:p>
            <a:r>
              <a:t/>
            </a:r>
          </a:p>
          <a:p>
            <a:r>
              <a:t>Отдельно стоит сказать, чего карта не делает. Она не сравнивает модальности по качеству и не говорит, какая из них «лучше»: клетка «0,034–0,05 доллара за изображение» и клетка «цена выпуска ниже в 10–20 раз» измерены в разных единицах и рядом стоят только потому, что отвечают на один и тот же вопрос. Карта отвечает на вопрос «что здесь вообще можно поручить модели», а не на вопрос «где она сильнее». Второй вопрос в такой сетке не решается, и попытка вычитать из неё рейтинг модальностей — самая вероятная ошибка чтения.</a:t>
            </a:r>
          </a:p>
          <a:p>
            <a:r>
              <a:t/>
            </a:r>
          </a:p>
          <a:p>
            <a:r>
              <a:t>Пользоваться картой за пределами лекции проще всего так: взять свою задачу, определить, в какую из шести строк она попадает, и прочитать клетку своей модальности. Если в клетке число — есть измеренный случай, и можно оттолкнуться от него. Если «нет» с причиной — причина названа, и она обычно сильнее любой настройки. Если «неприменимо» — вопрос к этой стадии не задаётся, и это тоже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Карта вечера: шесть типов задачи, по колонке за раздел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485979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3945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Строки заданы сразу. Колонка добавляется в конце каждого раздела.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39291"/>
            <a:ext cx="2788920" cy="305623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903299"/>
            <a:ext cx="2660903" cy="177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Тип задачи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39" y="1839291"/>
            <a:ext cx="1679387" cy="305623"/>
          </a:xfrm>
          <a:prstGeom prst="rect">
            <a:avLst/>
          </a:prstGeom>
          <a:solidFill>
            <a:srgbClr val="F4F7FA"/>
          </a:solidFill>
          <a:ln w="12700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5847" y="1903299"/>
            <a:ext cx="1551371" cy="177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Изображение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1227" y="1839291"/>
            <a:ext cx="1679387" cy="305623"/>
          </a:xfrm>
          <a:prstGeom prst="rect">
            <a:avLst/>
          </a:prstGeom>
          <a:solidFill>
            <a:srgbClr val="F4F7FA"/>
          </a:solidFill>
          <a:ln w="12700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5235" y="1903299"/>
            <a:ext cx="1551371" cy="177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Звук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0614" y="1839291"/>
            <a:ext cx="1679387" cy="305623"/>
          </a:xfrm>
          <a:prstGeom prst="rect">
            <a:avLst/>
          </a:prstGeom>
          <a:solidFill>
            <a:srgbClr val="F4F7FA"/>
          </a:solidFill>
          <a:ln w="12700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4622" y="1903299"/>
            <a:ext cx="1551371" cy="177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Видео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0001" y="1839291"/>
            <a:ext cx="1679387" cy="305623"/>
          </a:xfrm>
          <a:prstGeom prst="rect">
            <a:avLst/>
          </a:prstGeom>
          <a:solidFill>
            <a:srgbClr val="F4F7FA"/>
          </a:solidFill>
          <a:ln w="12700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4009" y="1903299"/>
            <a:ext cx="1551371" cy="177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Трёхмерное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09388" y="1839291"/>
            <a:ext cx="1679387" cy="305623"/>
          </a:xfrm>
          <a:prstGeom prst="rect">
            <a:avLst/>
          </a:prstGeom>
          <a:solidFill>
            <a:srgbClr val="F4F7FA"/>
          </a:solidFill>
          <a:ln w="12700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73396" y="1903299"/>
            <a:ext cx="1551371" cy="177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Распознавание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144915"/>
            <a:ext cx="2788920" cy="652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208923"/>
            <a:ext cx="2660903" cy="5247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Породить первое приближение</a:t>
            </a:r>
          </a:p>
          <a:p>
            <a:pPr algn="l">
              <a:lnSpc>
                <a:spcPct val="113000"/>
              </a:lnSpc>
              <a:spcBef>
                <a:spcPts val="200"/>
              </a:spcBef>
            </a:pPr>
            <a:r>
              <a:rPr sz="850" b="0" i="1">
                <a:solidFill>
                  <a:srgbClr val="1C7293"/>
                </a:solidFill>
                <a:latin typeface="Arial"/>
              </a:rPr>
              <a:t>получить варианты облика, пока решение ещё не принято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39" y="2144915"/>
            <a:ext cx="1679387" cy="652750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71227" y="2144915"/>
            <a:ext cx="1679387" cy="652750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50614" y="2144915"/>
            <a:ext cx="1679387" cy="652750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30001" y="2144915"/>
            <a:ext cx="1679387" cy="652750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09388" y="2144915"/>
            <a:ext cx="1679387" cy="652750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797665"/>
            <a:ext cx="2788920" cy="697152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861673"/>
            <a:ext cx="2660903" cy="569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Довести до производственного качества</a:t>
            </a:r>
          </a:p>
          <a:p>
            <a:pPr algn="l">
              <a:lnSpc>
                <a:spcPct val="113000"/>
              </a:lnSpc>
              <a:spcBef>
                <a:spcPts val="200"/>
              </a:spcBef>
            </a:pPr>
            <a:r>
              <a:rPr sz="850" b="0" i="1">
                <a:solidFill>
                  <a:srgbClr val="1C7293"/>
                </a:solidFill>
                <a:latin typeface="Arial"/>
              </a:rPr>
              <a:t>отобрать, доработать и выпустить годное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39" y="2797665"/>
            <a:ext cx="1679387" cy="697152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71227" y="2797665"/>
            <a:ext cx="1679387" cy="697152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50614" y="2797665"/>
            <a:ext cx="1679387" cy="697152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30001" y="2797665"/>
            <a:ext cx="1679387" cy="697152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09388" y="2797665"/>
            <a:ext cx="1679387" cy="697152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494818"/>
            <a:ext cx="2788920" cy="652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3558826"/>
            <a:ext cx="2660903" cy="5247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Восстановить существующее</a:t>
            </a:r>
          </a:p>
          <a:p>
            <a:pPr algn="l">
              <a:lnSpc>
                <a:spcPct val="113000"/>
              </a:lnSpc>
              <a:spcBef>
                <a:spcPts val="200"/>
              </a:spcBef>
            </a:pPr>
            <a:r>
              <a:rPr sz="850" b="0" i="1">
                <a:solidFill>
                  <a:srgbClr val="1C7293"/>
                </a:solidFill>
                <a:latin typeface="Arial"/>
              </a:rPr>
              <a:t>вытащить то, что уже записано, но читается плохо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91839" y="3494818"/>
            <a:ext cx="1679387" cy="652750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71227" y="3494818"/>
            <a:ext cx="1679387" cy="652750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50614" y="3494818"/>
            <a:ext cx="1679387" cy="652750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30001" y="3494818"/>
            <a:ext cx="1679387" cy="652750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09388" y="3494818"/>
            <a:ext cx="1679387" cy="652750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4147568"/>
            <a:ext cx="2788920" cy="50178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211576"/>
            <a:ext cx="2660903" cy="373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Соблюсти точные величины</a:t>
            </a:r>
          </a:p>
          <a:p>
            <a:pPr algn="l">
              <a:lnSpc>
                <a:spcPct val="113000"/>
              </a:lnSpc>
              <a:spcBef>
                <a:spcPts val="200"/>
              </a:spcBef>
            </a:pPr>
            <a:r>
              <a:rPr sz="850" b="0" i="1">
                <a:solidFill>
                  <a:srgbClr val="1C7293"/>
                </a:solidFill>
                <a:latin typeface="Arial"/>
              </a:rPr>
              <a:t>размеры, допуски, проверяемые условия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91839" y="4147568"/>
            <a:ext cx="1679387" cy="50178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971227" y="4147568"/>
            <a:ext cx="1679387" cy="50178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650614" y="4147568"/>
            <a:ext cx="1679387" cy="50178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330001" y="4147568"/>
            <a:ext cx="1679387" cy="50178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009388" y="4147568"/>
            <a:ext cx="1679387" cy="50178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649352"/>
            <a:ext cx="2788920" cy="69715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4713360"/>
            <a:ext cx="2660903" cy="569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Уложиться в бюджет реального времени</a:t>
            </a:r>
          </a:p>
          <a:p>
            <a:pPr algn="l">
              <a:lnSpc>
                <a:spcPct val="113000"/>
              </a:lnSpc>
              <a:spcBef>
                <a:spcPts val="200"/>
              </a:spcBef>
            </a:pPr>
            <a:r>
              <a:rPr sz="850" b="0" i="1">
                <a:solidFill>
                  <a:srgbClr val="1C7293"/>
                </a:solidFill>
                <a:latin typeface="Arial"/>
              </a:rPr>
              <a:t>успеть к сроку кадра, а не к сроку задачи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39" y="4649352"/>
            <a:ext cx="1679387" cy="697152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971227" y="4649352"/>
            <a:ext cx="1679387" cy="697152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650614" y="4649352"/>
            <a:ext cx="1679387" cy="697152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330001" y="4649352"/>
            <a:ext cx="1679387" cy="697152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009388" y="4649352"/>
            <a:ext cx="1679387" cy="697152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5346504"/>
            <a:ext cx="2788920" cy="50178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5410512"/>
            <a:ext cx="2660903" cy="373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Ответить «кто отвечает»</a:t>
            </a:r>
          </a:p>
          <a:p>
            <a:pPr algn="l">
              <a:lnSpc>
                <a:spcPct val="113000"/>
              </a:lnSpc>
              <a:spcBef>
                <a:spcPts val="200"/>
              </a:spcBef>
            </a:pPr>
            <a:r>
              <a:rPr sz="850" b="0" i="1">
                <a:solidFill>
                  <a:srgbClr val="1C7293"/>
                </a:solidFill>
                <a:latin typeface="Arial"/>
              </a:rPr>
              <a:t>происхождение, права, подпись под результатом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91839" y="5346504"/>
            <a:ext cx="1679387" cy="50178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71227" y="5346504"/>
            <a:ext cx="1679387" cy="50178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650614" y="5346504"/>
            <a:ext cx="1679387" cy="50178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330001" y="5346504"/>
            <a:ext cx="1679387" cy="50178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009388" y="5346504"/>
            <a:ext cx="1679387" cy="50178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2920" y="5930584"/>
            <a:ext cx="11185855" cy="305623"/>
          </a:xfrm>
          <a:prstGeom prst="roundRect">
            <a:avLst>
              <a:gd name="adj" fmla="val 14000"/>
            </a:avLst>
          </a:prstGeom>
          <a:solidFill>
            <a:srgbClr val="FEF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930584"/>
            <a:ext cx="68580" cy="305623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5800" y="5994592"/>
            <a:ext cx="10783519" cy="177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АДРЕС ПЛАТЕЖА   накапливается по разделам: отбор · права · узнавание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Накопительная карта: дописана колонка «Видео»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4" y="1243584"/>
            <a:ext cx="11441887" cy="81041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" y="1335024"/>
            <a:ext cx="11112703" cy="718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Дешевизна попытки и дороговизна выбора растут вместе: чем дороже единица выхода, тем больше проб приходится просеивать ради одной годной.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63730"/>
            <a:ext cx="2788920" cy="323384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227738"/>
            <a:ext cx="2660903" cy="195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Тип задачи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39" y="2163730"/>
            <a:ext cx="1679387" cy="32338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5847" y="2227738"/>
            <a:ext cx="1551371" cy="195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Изображение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1227" y="2163730"/>
            <a:ext cx="1679387" cy="32338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5235" y="2227738"/>
            <a:ext cx="1551371" cy="195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Звук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0614" y="2163730"/>
            <a:ext cx="1679387" cy="32338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4622" y="2227738"/>
            <a:ext cx="1551371" cy="195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Видео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0001" y="2163730"/>
            <a:ext cx="1679387" cy="323384"/>
          </a:xfrm>
          <a:prstGeom prst="rect">
            <a:avLst/>
          </a:prstGeom>
          <a:solidFill>
            <a:srgbClr val="F4F7FA"/>
          </a:solidFill>
          <a:ln w="12700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4009" y="2227738"/>
            <a:ext cx="1551371" cy="195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Трёхмерное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09388" y="2163730"/>
            <a:ext cx="1679387" cy="323384"/>
          </a:xfrm>
          <a:prstGeom prst="rect">
            <a:avLst/>
          </a:prstGeom>
          <a:solidFill>
            <a:srgbClr val="F4F7FA"/>
          </a:solidFill>
          <a:ln w="12700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73396" y="2227738"/>
            <a:ext cx="1551371" cy="195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Распознавание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50614" y="2436823"/>
            <a:ext cx="1679387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87115"/>
            <a:ext cx="2788920" cy="518753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551123"/>
            <a:ext cx="2660903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Породить первое приближение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39" y="2487115"/>
            <a:ext cx="1679387" cy="518753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5847" y="2551123"/>
            <a:ext cx="1551371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0,034–0,05 $ за изображение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71227" y="2487115"/>
            <a:ext cx="1679387" cy="518753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5235" y="2551123"/>
            <a:ext cx="1551371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дубляж 0,03–0,072 $ за минуту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50614" y="2487115"/>
            <a:ext cx="1679387" cy="518753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4622" y="2551123"/>
            <a:ext cx="1551371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цена выпуска ниже в 10–20 раз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30001" y="2487115"/>
            <a:ext cx="1679387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09388" y="2487115"/>
            <a:ext cx="1679387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005869"/>
            <a:ext cx="2788920" cy="554275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3069877"/>
            <a:ext cx="2660903" cy="4262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Довести до производственного качества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39" y="3005869"/>
            <a:ext cx="1679387" cy="554275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55847" y="3069877"/>
            <a:ext cx="1551371" cy="4262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адаптеры и ручная правка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71227" y="3005869"/>
            <a:ext cx="1679387" cy="554275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35235" y="3069877"/>
            <a:ext cx="1551371" cy="4262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ручная правка дикции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50614" y="3005869"/>
            <a:ext cx="1679387" cy="554275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14622" y="3069877"/>
            <a:ext cx="1551371" cy="4262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ручной отбор и склейка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30001" y="3005869"/>
            <a:ext cx="1679387" cy="554275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09388" y="3005869"/>
            <a:ext cx="1679387" cy="554275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3560144"/>
            <a:ext cx="2788920" cy="518753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3624152"/>
            <a:ext cx="2660903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Восстановить существующее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91839" y="3560144"/>
            <a:ext cx="1679387" cy="518753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55847" y="3624152"/>
            <a:ext cx="1551371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повышение разрешения архива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71227" y="3560144"/>
            <a:ext cx="1679387" cy="518753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35235" y="3624152"/>
            <a:ext cx="1551371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разделение источников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50614" y="3560144"/>
            <a:ext cx="1679387" cy="518753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14622" y="3624152"/>
            <a:ext cx="1551371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интерполяция кадров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001" y="3560144"/>
            <a:ext cx="1679387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09388" y="3560144"/>
            <a:ext cx="1679387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078897"/>
            <a:ext cx="2788920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4142905"/>
            <a:ext cx="2660903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Соблюсти точные величины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91839" y="4078897"/>
            <a:ext cx="1679387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55847" y="4142905"/>
            <a:ext cx="1551371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нет: размеров в выдаче не существует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71227" y="4078897"/>
            <a:ext cx="1679387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35235" y="4142905"/>
            <a:ext cx="1551371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нет: длина задана до запуска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50614" y="4078897"/>
            <a:ext cx="1679387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14622" y="4142905"/>
            <a:ext cx="1551371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нет: физика выучена как корреляция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30001" y="4078897"/>
            <a:ext cx="1679387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009388" y="4078897"/>
            <a:ext cx="1679387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4597651"/>
            <a:ext cx="2788920" cy="71412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4661659"/>
            <a:ext cx="2660903" cy="586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Уложиться в бюджет реального времени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91839" y="4597651"/>
            <a:ext cx="1679387" cy="71412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55847" y="4661659"/>
            <a:ext cx="1551371" cy="586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неприменимо: кадрового бюджета у стадии нет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71227" y="4597651"/>
            <a:ext cx="1679387" cy="71412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35235" y="4661659"/>
            <a:ext cx="1551371" cy="586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неприменимо: кадрового бюджета у стадии нет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50614" y="4597651"/>
            <a:ext cx="1679387" cy="71412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14622" y="4661659"/>
            <a:ext cx="1551371" cy="586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нет: в кадровый бюджет не укладывается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0001" y="4597651"/>
            <a:ext cx="1679387" cy="714122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09388" y="4597651"/>
            <a:ext cx="1679387" cy="714122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" y="5311773"/>
            <a:ext cx="2788920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5375781"/>
            <a:ext cx="2660903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Ответить «кто отвечает»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91839" y="5311773"/>
            <a:ext cx="1679387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355847" y="5375781"/>
            <a:ext cx="1551371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нет: источник детали не записан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971227" y="5311773"/>
            <a:ext cx="1679387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35235" y="5375781"/>
            <a:ext cx="1551371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нет: источник детали не записан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650614" y="5311773"/>
            <a:ext cx="1679387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14622" y="5375781"/>
            <a:ext cx="1551371" cy="390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нет: источник детали не записан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30001" y="5311773"/>
            <a:ext cx="1679387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009388" y="5311773"/>
            <a:ext cx="1679387" cy="518753"/>
          </a:xfrm>
          <a:prstGeom prst="rect">
            <a:avLst/>
          </a:prstGeom>
          <a:solidFill>
            <a:srgbClr val="F4F7FA"/>
          </a:solidFill>
          <a:ln w="9525">
            <a:solidFill>
              <a:srgbClr val="D9E2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02920" y="5912823"/>
            <a:ext cx="11185855" cy="323384"/>
          </a:xfrm>
          <a:prstGeom prst="roundRect">
            <a:avLst>
              <a:gd name="adj" fmla="val 14000"/>
            </a:avLst>
          </a:prstGeom>
          <a:solidFill>
            <a:srgbClr val="FEF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02920" y="5912823"/>
            <a:ext cx="68580" cy="32338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85800" y="5976831"/>
            <a:ext cx="10783519" cy="195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АДРЕС ПЛАТЕЖА   Изображение — отбор, права · Звук — права, узнавание · Видео — отбор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