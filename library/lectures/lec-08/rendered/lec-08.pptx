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 чего начинается эта лекция — с практической демонстрации того, что креативный AI 2026 года это уже не футурология, а доступная за минуту возможность. На сайте suno.com/create любой человек без музыкального образования формулирует запрос на трек по теме плюс жанру плюс языку и получает 30-секундный песенный трек с вокалом и инструментальным сопровождением — за тридцать секунд генерации, по нулевой цене на trial-аккаунте. Три года назад тот же артефакт стоил бы 500-2000 долларов студийному композитору и потребовал бы около недели работы. Если в аудитории нет звукового тракта, демонстрация переключается на изображение через firefly.adobe.com — там же по текстовому промпту за пять секунд генерируется реалистичная картинка, которая в 2022 году требовала бы фрилансера-дизайнера за 50-200 долларов и от одного до трёх дней, либо стокового снимка за 25-100 долларов с ограничениями лицензии. Эти два варианта — музыкальный и визуальный — иллюстрируют одну и ту же базовую динамику: артефакт промышленного качества за секунды без специализированных навыков. Дальше мы будем разбирать, что эта возможность дала индустрии, как она изменила экономику и pipeline, и одновременно — какие категории провалов и юридических рисков она открыла. Здесь же удерживайте важный нюанс: «промышленного качества» в смысле «технически приемлемо для commodity использования» — это не равно «промышленного качества» в смысле «эталонная кампания brand campaign»; различие между этими двумя уровнями — одна из ключевых линий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титульный слайд лекции. Тема — AI в креативных индустриях и медиа: кино и видео, музыка и звук, изображения и иллюстрация, текст и журналистика. Лекция продолжает отраслевой блок курса, начавшийся с разработки ПО, прошедший через финансы и ритейл, инженерное проектирование, медицину и фармацевтику. Эта — пятая отраслевая, и она отличается от предыдущих тем, что креативный AI создаёт публичный, видимый каждому, и юридически связывающий outcome: исполняемый AI-голос знаменитости, иски Sony Music на миллиарды, дипфейк-CFO забирающий 25 миллионов долларов за один звонок. То есть, ставки — не только экономические, но и юридические, и репутационные, и социальные. После короткой паузы мы сразу переходим к центральному вопросу лекции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Центральный вопрос этой лекции звучит так: что AI сделал с креативной индустрией к 2026 году — и где инженеру разумно сказать «здесь AI не нужен». Этот вопрос двусоставен по проекту: обе части равно важны и обе будут развёрнуты в течение лекции. Первая часть — «что AI сделал» — разворачивается через keystone-ось ДОБАВИЛ-ИЗМЕНИЛ-СЛОМАЛ, которая структурирует первые три раздела. Это диагностический blok: какие возможности добавились, как они изменили pipeline и экономику, какой юридический и репутационный долг параллельно накопился. Вторая часть — «где сказать "нет"» — это нормативный блок, который выливается в конкретный чек-лист критериев негативного выбора. Мы не учим студентов запускать AI в любую креативн-задачу — мы учим узнавать, в какие задачи AI ставить разумно, а в какие — отказываться от него до старта. Эти две половины — диагностика и норма — параллельны и одинаково важны для квалифицированного инженерного суждения. Если по итогам лекции студент сможет назвать четыре конкретных критерия отказа от AI в творческом проекте — он унесёт практическую ценность, не зависящую от того, какую модель он будет встраивать через год.</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Дальнейшая структура лекции — шесть разделов плюс Q&amp;A. Сейчас мы в Разделе ноль, который только что начался: открытие, центральный вопрос, keystone-ось. Следующие три раздела структурированы по этой keystone-оси: Раздел один — что AI ДОБАВИЛ, новые возможности, которых не было раньше; Раздел два — что AI ИЗМЕНИЛ в существующих pipeline и экономике; Раздел три — что AI СЛОМАЛ, главный failure budget с конкретными landmark-cases. После этого Раздел четыре переключает регистр с диагностического на нормативный: где инженеру разумно сказать «AI здесь не нужен», какие критерии. Раздел пять даёт чек-лист — практический deliverable, который студент уносит с собой. И завершает лекцию Q&amp;A. На выходе — один чек-лист из пяти вопросов, применимый к любой будущей креативной задаче с AI-составляющей. По времени распределение неравномерное: Раздел три, как главный failure budget, занимает почти треть лекции — это структурно важно для образовательной цели курса. Этот дорожная карта-слайд останется в памяти как ориентир: если в какой-то момент ты не уверен, где мы и куда идём, вспомни эти шесть карточек.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ключевая концептуальная ось всей лекции. Структура построена на одной оси: AI ДОБАВИЛ — что AI ИЗМЕНИЛ — что AI СЛОМАЛ. Это три времени одного процесса, не три параллельные категории. Каждый класс творческого инструмента, появляясь, последовательно проходит все три времени за месяцы. ДОБАВИЛ — момент появления новой возможность. Sora 2 добавил text-to-video с синхронным аудио. Midjourney добавил сохранение персонажа между генерациями. ElevenLabs добавил клонирование голоса из минимального sample. ИЗМЕНИЛ — момент, когда новая возможность проникает в существующий pipeline и меняет его экономику. Cost-per-asset падает в сто-десять тысяч раз. Скорость generation collapses с дней в секунды. Появляются новые профессии — prompt engineer, AI-режиссёр — и одновременно вымываются старые. СЛОМАЛ — момент, когда возможность создаёт новый класс провалов и юридического долга. Sony Music судится с Suno. New York Times судится с OpenAI за двадцать миллионов logs. Arup CFO теряет двадцать пять миллионов долларов на deepfake. Почему именно эта ось: для отраслевой лекции про творческие инструменты есть очень сильный соблазн читать её как «топ инструментов 2026» — обзор Sora 2 vs Veo 3.1 vs Kling 3.0. Такая структура превращает лекцию в маркетинговый sales-brief. Ось «добавил-изменил-сломал» удерживает критический взгляд: каждый класс инструмента сначала появляется как возможность, потом меняет экономику, и одновременно создаёт юридический и репутационный долг. Это ось трёх времён одного процесса, и поэтому она напрямую ведёт к тридцати процентам контента про провалы и ограничения без вытаптывания обзора инструментов.</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разбирать индустриальные кейсы, нужно понимать архитектурно, чем именно один генеративный медиа-инструмент отличается от другого. Не на уровне маркетинговых обещаний, а на уровне фундаментальные ограничения — то есть, какие границы продиктованы самой архитектурой, а не качеством конкретной реализации. Архитектурные семейства в креативный AI к 2026 году группируются в три ключевых класса. Семейство первое — diffusion models. Сюда относятся Stable Diffusion, Midjourney, DALL-E, Imagen, Flux и Adobe Firefly. Принцип работы: модель учится обращать процесс добавления шума. Инженерное следствие критическое: «коммерчески безопасный» Firefly зависит не от архитектуры, а от обучающий корпус — Adobe Stock плюс licensed content. Архитектура у Firefly та же diffusion. То, что делает Firefly безопасным для коммерческое применение — это что именно дали модели на обучении, не как именно модель устроена. Это базовое различие прокидывается через всю главу: вопросы авторского права — это вопросы про training data и сходство вывода, не про математику архитектуры. Семейство второе — latent video transformers: Sora 2, Veo 3.1, Runway, Kling 3.0. Видео представляется не как последовательность пикселей-кадров, а как последовательность токенов в латентном пространстве. Инженерное следствие: Sora 2 имеет 25-секундный предел не потому, что OpenAI «не доработали», а потому что стоимость растёт линейно с длиной латентной последовательности, а временная консистентность ухудшается после 25 секунд. Это объясняет, почему кинематографическое AI-видео в 2026 году собирается из коротких блоков с человеческого лидерства, а не генерируется одним длинным промптом. Семейство третье — neural audio synthesis: авторегрессионный для речи и песен, диффузия для музыки. Клонирование голоса возможно из одной минуты аудио, потому что модель не учится с нуля голосу — она дообучает предобученную foundation-модель на минимальном образце голоса конкретного диктора. Без этой ментальной модели студент не сможет квалифицированно оценить фундаментальные ограничения любого креативный AI-инструмента — он будет повторять маркетинговые утверждения.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только что обозначили концептуальную ось и три семейства моделей. Сейчас входим в первый раздел — AI ДОБАВИЛ. Здесь мы разберём, какие новые возможности появились в креативная индустрия и которых технологически не существовало раньше. Семь слайдов раздела покрывают text-to-video поколения 2026 года, сохранение персонажа между генерациями через cameos и Omni Reference, клонирование голоса и дубляж на несколько языков на уровне ElevenLabs, world models на примере Genie 3, российский контекст с Kandinsky и Шедеврум, и personalisation at scale на примере Adobe Firefly с Lionsgate. На каждой возможность будет мини-провал блок — небольшой намёк на то, что эта же возможность создаёт. Полное разворачивание провалов — в Разделе 3.</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 маю 2026 года text-to-video перестал быть демонстрационной технологией. Три флагманские модели определяют состояние индустрии. OpenAI Sora 2 — релиз в сентябре 2026, максимальная длительность одного клипа 25 секунд, разрешение 1080p, синхронное аудио, character cameos для multi-scene консистентности. Цена API около десяти центов за секунду на 720p, тридцать-пятьдесят центов на 1080p. Google Veo 3.1 — длительность четыре-восемь секунд в зависимости от tier, native audio, цена пять центов за секунду на Lite. Kuaishou Kling 3.0 — релиз пятого февраля 2026, до пятнадцати секунд при native 4K и 60 fps, по блайнд-тестам на Video Arena Kling 3.0 на момент февраля 2026 занимает первое место с ELO 1243, обгоняя Veo и Runway. Что значит «production» в кино-индустрии. Это не замещение of shoot, это усиление pre-production и post-production. Конкретный landmark — партнёрство Lionsgate с Runway, объявлено в сентябре 2024 года. Lionsgate предоставила Runway свой корпус IP для обучения custom-модели; использование — предвизуализация, сториборды, post-production backgrounds, VFX. На звонок по итогам квартала в ноябре 2024 года вице-председатель Lionsgate Майкл Бёрнс подтвердил, что AI-pipeline экономит миллионы и миллионы долларов на pre/post-production. Critically — никто из заявлений Lionsgate не говорит, что AI заменил съёмку. Production кино — это всё ещё actors plus cameras plus locations; AI усиливает стадии before and after shoot. Важный мини-провал блок для входа в Раздел 3: 25 секунд — это не фильм. Кинематографический pipeline всё равно собирается из коротких блоков. Когда Toys R Us попыталась сделать 66-секундный единый Sora-клип для рекламы на Cannes Lions 2024 года, результат вызвал сильный публичный негативная реакция — мы разберём этот case подробно в третьем разделе.</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Одна из самых заметных возможность-улучшений 2024-2026 — сохранение персонажа между генерациями, способность сохранять визуальные характеристики персонажа через множественные генерации. Это критическая возможность для нарратива: без неё AI-video нельзя использовать для multi-scene story. Sora 2 cameos: механизм — пользователь регистрирует «cameo» с определёнными визуальными атрибутами; в последующих video-промптах cameo вызывается по имени, и модель воспроизводит его консистентно. OpenAI заявило о партнёрстве с Disney на миллиард долларов и более для licensed character generation: Disney IP-character'ы могут официально появляться в AI-сгенерированных видео под лицензией Disney. Midjourney Omni Reference в v7: один reference-image персонажа используется в последующих промптах для сохранения пропорций лица, одежды, посадки. По заявлению Midjourney, character preservation accuracy выросла с примерно шестидесяти процентов в v6 до выше восьмидесяти пяти в v7. Runway Gen-4 Director Mode — полноценный скриптинг между сценами: пользователь определяет character'ов, locations, motion patterns как структурированные объекты. Anti-hype для этой возможность: сохранение персонажа между генерациями работает значительно лучше, чем в 2023 году, но multi-scene narrative всё ещё имеет drift. После пяти-десяти сцен мелкие детали — татуировка, шрам, оттенок волос — могут изменяться. Использование промышленного качества требует континьюити-супервайзера, человека, который проверяет каждую сцену на consistency. Это новая профессия — мы вернёмся к ней в разделе про новые роли.</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ElevenLabs к 2026 году стал де-факто стандартом для клонирования голоса и AI-дубляжа. Возможность: клон голоса из одной минуты оригинального аудио, говорит на тридцати двух языках и более, сохраняя характеристики голоса — тембр, темп, эмоциональную окраску. Dubbing Studio — готовый к продакшену инструмент для локализации видео длинного формата между двадцатью девятью языками. До этого продукта традиционная студия дубляжа требовала актёра озвучки для начитки на целевом языке, sound-инженера для микширования, опционально post-sync редактора для синхронизации с губами. Стоимость — пятьдесят-пятьсот долларов за минуту дубляжа на один язык. ElevenLabs Dubbing Studio — меньше одного доллара за минуту на язык, минуты вместо недель. Production в корпоративном секторе: Deutsche Telekom использует ElevenLabs для многоязычных customer-service агентов — один заранее записанный образец голоса CEO, склонированный на тридцать языков и более для регионального общения. Klarna — для автономных AI-агентов работы с клиентами. Блок мини-провала: возможность клонирования голоса одновременно открывает новый класс юридических рисков. Scarlett Johansson против OpenAI «Sky» в мае 2024 года: OpenAI продемонстрировал голос «Sky» в ChatGPT, чрезвычайно похожий на голос Johansson. Johansson ранее отказалась озвучивать ChatGPT, когда Sam Altman лично обратился к ней. OpenAI убрал голос «Sky» в течение недели; формально иска подано не было. Это де-факто победа для прав на образ: возможность клонирования голоса обязывает к явному согласию, даже если технологически голос «всего лишь похож». Этот кейс готовит мост к третьему разделу, где мы разберём другие кейсы голоса и образа под отдельным углом.</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Google DeepMind Genie 3 — публичный релиз двадцать девятого января 2026 года — представляет собой другой класс инструмента, который часто ошибочно сравнивают с видеогенерацияerators. Что делает Genie 3: из текстового промпта — например, «средневековый замок на горе, день, лёгкий ветер» — модель генерирует playable 3D world. Это explorable, navigable среда в режиме реального времени при двадцати четырёх кадрах в секунду, разрешение 720p, consistency сохраняется в течение нескольких минут. Это не sequence пред-определённых кадров, как у Sora или Veo или Runway — это интерактивная среда, реагирующая на действия пользователя: камера, движение, манипуляция объектами. Архитектурно Genie 3 — это совмещение latent diffusion для visual generation с world-model-частью, которая обрабатывает state transitions. Доступ — для US-подписчиков Google AI Ultra. Anti-hype: Genie 3 — не video генератор. Это симулированное окружение генератор. Прямое production в креативных индустриях пока граничные случаи. Пара game-studios экспериментирует с Genie 3 для prototyping levels. Пара film-studios — для разведка локаций, генерировать virtual location вместо travel'а к real location. Образовательный сектор — для immersive learning environments. Frontier-grade использование в production — впереди, по оценкам индустриальных аналитиков. Genie 3 — это пример симбиоза нескольких архитектур в одном AI-system: latent diffusion как Sora плюс reinforcement-learning state model как игровой AI плюс transformer для language understanding. Это иллюстрирует тезис: AI-системы 2026 года — это композитные архитектуры, не monolithic models.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Российский ландшафт generative AI к 2026 году функционален, но не frontier по большинству областей. По изображениям. Sber Kandinsky 6.0 Image анонсирован двадцать восьмого апреля 2026 года. Архитектурно — Mixture-of-Experts. Работает по заявлению Сбера до двух раз быстрее предыдущих версий. Бесплатный доступ через ассистент GigaChat без лимита генераций. Kandinsky 5.0 Video — релиз ноября 2025, открытые веса под Apache 2.0, до десяти секунд при 24 fps, разрешение 768 на 512. Yandex Шедеврум — YandexART 2.7 и гибрид 3.0 beta февраля 2026, бесплатно из РФ без VPN. По видео — frontier gap. Прямого конкурента Sora 2 Pro, Veo 3.1, Kling 3.0 по длительности, разрешению, физике и audio-синху в РФ к моменту лекции не подтверждается. Объяснение структурное, не идеологическое: фронтир-видео-модели требуют capex — десятки тысяч GPU-часов в кластере — и доступа к большим лицензированным видео-датасетам. Концентрация R&amp;D — в США и Китае. Это объективное распределение capex и data access на 2026 год. По музыке и звуку. Sber SymFormer — entry-level vs Suno v5.5; российские «решения» — это агрегаторы-прокси типа GPTunneL, Chad AI, GenAPI, обёрнутые поверх Suno API. То есть RU-аудитория всё равно потребляет западный frontier через локальные wrapper'ы. Sber SaluteSpeech YourVoice — клонирование голоса от нескольких часов аудио, в отличие от ElevenLabs с одной минутой. По legal — Минцифры законопроект восемнадцатого марта 2026 года: TDM-exception для обучения, обязательная маркировка AI-контента, авторство у промпт-пользователя при творческом вкладе, план вступления в силу — первое сентября 2027. Урок для инженера: российский GenAI для медиа в 2026 — это локальное удобство: бесплатность, RU-промпты, доступ без VPN, оплата в рублях. Но не frontier-уровень в видео и музыке. Где задача — быстрый масс-маркет премиум-контент на русском с гарантированным правовым контуром — Kandinsky и Шедеврум конкурентоспособны; где нужны cinematic video, профессиональный вокал — выбор остаётся за Sora и Suno.</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Personalisation at scale — возможность, позволяющая каждому клиенту получать собственный ролик, трек или image, адаптированный к profile. До генеративного AI personalisation в креативной индустрии было ограничено template substitution; сейчас — full re-generation per user. IAB 2026 Video Ad Spend Report: среди ad buyers двадцать один процент уже live с agentic AI для video campaigns, двадцать процентов testing, двадцать пять — planning. US digital video ad spend проектируется свыше восьмидесяти миллиардов долларов в 2026 — впервые превышает шестьдесят процентов всего TV/video ad spend. Adobe Firefly. К 2026 году — двадцать два миллиарда ассетов сгенерировано за два года; четыреста миллионов долларов прямая выручка в фискальный год 2024-25; трёхкратный QoQ growth generation в Q4 FY2025. Корпоративные клиенты: Deloitte, Tapestry, Paramount+, Pepsi, dentsu, Stagwell — все production-ready. Adobe Firefly Foundry, анонс на Adobe MAX 2025 в октябре — bespoke модели on-brand, обучаемые на корпусе IP клиента. Для marketing-агентств это критическая возможность: модель, гарантированно генерирующая в стиле и tonality конкретного бренда. Adobe Firefly — это не только модель, это платформа: на ней интегрировано двенадцать third-party моделей. Архитектурный аспект платформенного слоя подробно покрыт в Лекции 3. Что значит «production» в кино-индустрии. Партнёрство Lionsgate с Runway, объявлено сентябрь 2024. Lionsgate — студия за «Голодными играми», «Saw», «John Wick» — предоставила Runway свой корпус IP для обучения custom-модели. Использование: предвизуализация, сториборды, post-production backgrounds, VFX. Vice Chair Lionsgate Майкл Бёрнс на звонок по итогам квартала ноября 2024 года подтвердил: AI-pipeline экономит миллионы и миллионы долларов на pre- и post-production. Critically: никто из заявлений Lionsgate не говорит, что AI заменил съёмку. Мини-провал: восемьдесят шесть процентов buyers используют GenAI для video creative, сорок процентов всей видеорекламы 2026 — AI-сгенерированный. Но Toys R Us 2024 Sora-ad показал, что adoption не равно success — мы разберём в Разделе 3.</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Заканчиваем Раздел 1 — AI ДОБАВИЛ, новые возможности. Переходим в Раздел 2 — AI ИЗМЕНИЛ. Здесь мы разбираем, как добавленные возможности проникли в существующий pipeline и изменили его экономику. Четыре слайда раздела покрывают обвал стоимости — катастрофическое снижение стоимости-за-актив в сотни и тысячи раз; скорость generation — collapses с дней в секунды; новые профессии — prompt engineer, AI-режиссёр, GenAI процесс specialist; замещение — графические дизайнеры минус семнадцать процентов работ, Shutterstock-фотографы единичные значения в месяц, Getty plus Shutterstock merger за три и семь миллиарда долларов как оборонительная консолидация. Главная ментальная модель раздела — bottom vs middle vs top market: AI вымывает bottom-of-market commodity креативный, оставляет нетронутым top-of-market эталонная кампания, и создаёт новый средний сегмент — коммерчески безопасный корпоративный generation за реальные деньги.</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Главное экономическое изменение, которое AI принёс в креативная индустрия — это catastrophic collapse cost-per-asset. Это не «AI чуть-чуть дешевле»; это два-четыре порядка cheap'е, в зависимости от типам ассетов. Конкретные числа по таблице. Одна иллюстрация: до AI — пятьдесят-двести долларов дизайнер-фрилансер, пятьдесят-пятьсот стоковая фотография. С AI — ноль до двадцати пяти центов. Множитель — двести-десять тысяч раз дешевле. Пятьдесят product lifestyle images: до AI — тысяча-двадцать пять тысяч долларов full photography. С AI — ноль-полтора доллара. Множитель — больше тысячи раз. Одна минута 720p видео: до AI — тысяча-пятьдесят тысяч долларов на съёмку и post-production. С AI на Sora 2 standard, шестьдесят секунд по десять центов — примерно шесть долларов. Множитель — сто пятьдесят-восемь тысяч раз. Dub минуты видео на один язык: до AI — пятьдесят-пятьсот долларов voice actor plus studio. С AI на ElevenLabs — меньше одного доллара. Множитель — пятьдесят-пятьсот раз. Что эта таблица не означает. Она не означает, что креативная industry «потеряет тысячекратно работ». Она означает следующее: marginal cost генерации артефакта упал на два-четыре порядка, но value-add от человеческого лидерства, curation, brand-alignment — не упал; и корпоративный коммерчески-безопасный генерация всё ещё стоит денег. Adobe Firefly четыреста миллионов долларов прямая выручка в 2024-25 показывает, что лицензированный корпус plus процесс plus integration — это полноценный корпоративный SaaS-стек, не «бесплатное добро». Что эта таблица означает. Bottom-of-market — commodity creative — это рынок, исчезающий как separately professionally-priced category. AI generates это за минуты по нулю-полтора доллара. Top-of-market — эталонная кампания direction, original brand campaigns, complex multi-scene narrative — это рынок, где человеческое лидерство остаётся mandatory. Adobe Firefly четыреста миллионов revenue — это эмпирическое доказательство, что средний сегмент — коммерчески безопасный промышленного качества generation — отдельный, быстро растущий сегмент, не bottom-of-market.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Обвал стоимости сопровождается collapse скорости. Это второй экономический фактор, отдельный от cost. Концепт-арт черновик — для game-dev, фильма, рекламы — традиционно дни дизайнер-фрилансер'а или штатного концепт-художника. Через AI — пять-шестьдесят секунд prompt-to-pixel в Midjourney, Imagen 4, Flux 2. B-roll кадр — filler для документального или маркетингового видео — традиционно часы съёмки плюс post-production, либо десять-сто долларов за минуту через сток footage providers. Через AI — пять-шестьдесят секунд через Veo 3.1 или Sora 2. Dubbing длинный формат видео на target-язык — традиционно недели студийной работы. Через AI на ElevenLabs Dubbing Studio — минуты. Исследование концепций в дизайне — три-пять вариантов главной идеи для презентации клиенту — традиционно полу-неделя дизайна. Через AI — минуты на десятки вариантов. Инженерный урок. Скорость collapse меняет cycle time на каждой стадии креативный pipeline. Раньше клиент видел первый concept через неделю; теперь — через минуты. Это не просто экономия — это изменение шаблона работы. Итерационный цикл становится в десять-сто раз плотнее. Это, в свою очередь, требует новых навыков от человека в loop'е: умения формулировать критерии «годен — не годен» быстрее, потому что новых вариантов появляется больше. Если раньше один концепт обсуждался полдня, то теперь за полдня можно отсмотреть пятьдесят концептов и сократить пул до трёх. Это другой режим работы — не «выбрать одно из готового», а «быстро отсеять неподходящее».</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Обвал стоимости и скорости создал новые рыночные роли в креативных индустриях. Эти роли — не «AI заменил designer'а», они между AI-инструментом и финальным client deliverable. Prompt engineer и AI artist — специалист, формирующий промпты и постобработку для получения production-ready output. Существует как отдельная категория на Fiverr и Upwork; стартовые ставки на Upwork двадцать пять-восемьдесят долларов в час по данным 2026 года. AI-режиссёр и AI music producer — supervisor model output, доводящий до production-ready через iterations, постобработка, мультимодальную интеграцию. Аналог художественного директора, но для AI-pipeline. Специалист по AI-процессам — интегратор AI-инструментов в существующие production-pipeline студий. Например, делает Lionsgate plus Adobe Firefly Foundry integration для marketing-агентства. Супервайзер континьюити — относительно новая роль: человек, проверяющий character и scene continuity через AI-сгенерированные мульти-кадровые sequences. Метрики роста. Upwork внутренние данные 2025-2026: семьдесят процентов годового роста в AI/ML subcategory. Пятьдесят два процента gross services volume growth — AI-related. По отчётам Upwork и MBO Partners, independent workers с AI/ML skills получают premium-rates относительно общего рынка фриланса. Что значит «новые профессии». Это не миллион новых дизайнеров. Это специализированный класс работников между AI-инструментом и client deliverable. Они необходимы, потому что raw AI output не равно production-ready output: нужен curation, постобработка, brand-alignment, legal review. Этот класс растёт быстро, но он меньше замещённого класса — мы разберём на следующем слайде.</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Параллельно с появлением новых профессий идёт замещение старых. Это не дискуссионная гипотеза — это уже измеримый процесс с конкретными цифрами. Graphic designers на Upwork: минус семнадцать целых одна сотая процента работ в graphic design category после релиза основных GenAI image tools — Midjourney v6, DALL-E 3, Stable Diffusion XL. Сжатие зарплат: AI-распознавание в сорока процентах работ копирайтеров, оплачивающих десять-девятнадцать долларов в час, против менее десяти процентов в работах шестьдесят плюс долларов в час. Иначе говоря, снижение зарплат снизу: AI-инструменты вымывают именно низкобюджетный фриланс, оставляя нетронутыми высокоценные специализированные роли. Это структурно важно: классическое предсказание «AI усиливает человеческих профессионалов» работает только для средний и верхний сегмент; нижний сегмент — это замещение, а не усиление. Stock photographers. Shutterstock contributors с сотнями фото-загрузок в месяц ушли к единичным значениям в месяц на микросток-форумах. Выручка сегмента Getty Creative упала на минус пять процентов год к году в 2024. Актёры озвучки. Забастовка SAG-AFTRA 2023 четырнадцать июля — девять ноября был мотивирован прямо рисками AI-замещения. Параллельно внедрение ElevenLabs в корпоративном секторе привело к массовому замещению корейских и зарубежных актёров озвучки для коммодити-дубляжа. Консолидация индустрии как ответ. Getty plus Shutterstock merger — объявлен январь 2025, deal value три и семь миллиарда долларов, ожидаемая экономия сто пятьдесят-двести миллионов в течение трёх лет. Это оборонительная консолидация против AI-дисрапшн. Параллельно Shutterstock лицензирует контент AI-компаниям — сто четыре миллиона в 2023, сто тридцать восемь в 2024, двести пятьдесят миллионов прогноз 2027. Это pivot: Shutterstock перестаёт зарабатывать на продаже фото фотографам и переходит на продажу данных AI-компаниям. Для фотографов это структурно негативно — они перестают быть клиентом, они становятся источником данных. Hollywood: SAG-AFTRA плюс WGA AI-оговорки 2023 года — Digital Replicas (цифровые двойники), Synthetic Performers (синтетические исполнители). 2026 — четырёхлетнее продление. Что эти оговорки не покрывают: нижний сегмент фриланс, B-roll актёры, массовка, коммодити-озвучка — этот рынок продолжает сжиматься.</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Завершаем второй раздел про изменения экономики и переходим в Раздел три — главный failure budget этой лекции. Это самый длинный раздел: двадцать четыре минуты, двенадцать кейсов плюс таксономия. Каждый кейс структурирован одинаково: assertion, evidence из verified sources, implication, и явный «Урок для инженера» в Ocean rounded box. Это deliberate — без явного урока кейс остаётся «интересной историей», а нам нужно, чтобы из каждого студент уносил перенесимый принцип. Двенадцать кейсов покрывают четыре landmark copyright lawsuits — NYT против OpenAI, Getty против Stability, Andersen против Stability, RIAA против Suno, плюс Thomson Reuters против Ross как first US ruling rejecting «добросовестное использование»; затем deepfakes — Arup CFO scam на двадцать пять и шесть миллионов долларов и Korea schoolgirl crisis; затем content failures — slop, Sports Illustrated фейковые авторы, Coca-Cola и Toys R Us маркетинговый провал; и завершается raздел consolidated замещение view. После двенадцатого кейса вы должны уметь видеть pattern: AI-failure в творческий — это не один тип риска, а семейство разных, и инженер должен уметь различать, какой именно класс риска применим к его конкретной задаче.</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Парадигма «AI против copyright» — это не один юридический вопрос, а четыре разных категории исков, с разной правовой логикой, разными прецедентами, разными outcome'ами. Инженер, оценивающий AI-инструмент для креативной задачи, обязан понимать, в какую из четырёх категорий попадает его процесс, чтобы корректно оценить risk-профиль. Категория один — training data парсинг данных без лицензии, input side. Иски фокусируются на том, что AI-компания собрала обучающий корпус, включая охраняемый авторским правом работы, без лицензии правообладателей. Theory of harm — сам факт включения protected work в обучающий датасет — нарушение. Outcome зависит от того, признаёт ли суд training «добросовестное использование» в США или его аналоги в других юрисдикциях. Категория два — сходство вывода или memorization, output side. Иски фокусируются на том, что AI воспроизводит охраняемый авторским правом material в output'е — модель memorize и regurgitate training content. Theory of harm — не способ обучения, а способность модели вернуть охраняемый контент при правильном prompt. Категория три — подражание стилю. Иски про генерацию «в стиле конкретный художник». Style сам по себе не копирайтуется в большинстве юрисдикций, но коллективный иск (class action — групповой иск группы истцов в США) artists может выживать MTD на DMCA и публичных правах. Категория четыре — voice и права на образ. Это другой класс правового регулирования — right of publicity. ScarJo против OpenAI Sky, SAG-AFTRA Digital Replicas clause. Урок для инженера: «авторское право AI» — не один вопрос, а четыре разных категории риска. Смотри, какая из четырёх применима к твоему процесс. Если ты строишь продукт на foundation-модели — категория один и два, риск исков типа NYT и Getty. Если ты строишь creator tool, генерирующий «в стиле X» — категория три, риск Andersen-коллективный иск. Если ты используешь voice или face конкретных людей — категория четыре, риск ScarJo и SAG-AFTRA clauses. Эта классификация — основа для всех следующих пяти кейсов раздела.</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из четырёх landmark кейс по авторскому правуов — New York Times против OpenAI. Иск подан в декабре 2023 года. NYT утверждает, что OpenAI обучил GPT-модели на тысячах статей NYT без лицензии, и что ChatGPT воспроизводит охраняемый контент дословно — это так называемая теория дословного цитирования. В ходе истребование доказательств OpenAI было обязано судом выдать двадцать миллионов логов ChatGPT — это огромный объём, который позволит NYT-юристам искать конкретные примеры регургитации. Bloomberg Law освещает дело наиболее детально. Summary Judgment deadline — второе апреля 2026 года, то есть через две недели после нашей лекции. Это означает, что между подачей лекции и публичным ruling по этому делу может пройти буквально несколько недель. Точный исход — открытый вопрос. Что эта дело уже изменило для индустрии. Регургитация как theory of harm — это не теоретический спор; это документированный artifact больших языковых моделей, и любой ответчик в подобных делах должен будет показывать, что у него есть проверка сходства результата. Урок для инженера: если модель может процитировать твой обучающий корпус дословно — это не «добросовестное использование», это infringement evidence. Проверка сходства результата с обучающими данными — обязательна. Что это значит на практике. Если ты строишь продукт на foundation-модели, ты должен иметь технический контроль, отслеживающий, насколько output модели «слишком похож» на её training data. Без такого контроля ты несёшь рег​ургитационный риск, который может стать твоим личным юридическим долгом, не только долгом vendor'а foundation model. Это новый класс инженерной ответственности 2025-2026 годов — и он не появляется ни в одном предыдущем академическом курсе по ML.</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кейс по авторскому праву — Getty Images против Stability AI. Это дело иллюстрирует критически важный для инженеров факт: разные юрисдикции выносят разные решения по одному и тому же типу спора. UK High Court ruling четвёртого ноября 2025 года: Stability AI выиграл primary copyright claims. Ключевая правовая логика по UK Copyright, Designs and Patents Act 1988 — CDPA: weights модели не являются «copy» в смысле UK copyright law. Соответственно, обучение модели на изображениях Getty не является нарушением primary copyright по CDPA. Это победа для AI-индустрии в UK. Параллельно идёт US case с motion to dismiss слушаниями десятого февраля 2026 года. US правовой контур принципиально другой: «добросовестное использование» doctrine в Section 107 Copyright Act с four-factor test. Здесь возможен совершенно противоположный исход. Bird and Bird, специализирующаяся на IP law, опубликовала детальный analysis UK ruling, который мы цитируем в материалах лекции. Что эта split юрисдикций означает практически. Урок для инженера: юрисдикции расходятся. То, что legal в UK по CDPA, не legal в US по «добросовестное использование». Для global deployment проверяй обе. Если ты строишь креативный AI продукт для глобального рынка, у тебя должен быть jurisdiction-aware compliance layer: продукт может вести себя по-разному в зависимости от того, где он deployed. Это не теоретическое требование — это уже эмпирический факт 2025-2026 годов. И ещё один важный нюанс. UK win Stability не означает «no risk in UK». Это означает only «primary copyright claims rejected». Secondary claims — например, trademark или passing-off — могут остаться. И права на образ в любой юрисдикции — это отдельный, не-copyright класс правового регулирования. Юрисдикционный split — это не «UK легализовал AI training», а только «UK ruling по конкретному типу claim».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Третий кейс по авторскому праву — Andersen плюс McKernan плюс Ortiz плюс ещё семь художников против Stability AI, Midjourney и DeviantArt. Это коллективный иск, поданный в январе 2023 года через US District Court, Northern District of California. Главный аргумент — инструменты генеративного AI позволяют пользователям генерировать изображения «в стиле [конкретный художник]», что художники считают нарушением их публичных прав plus авторское право плюс DMCA. Это иск категории три по таксономии предыдущего слайда — подражание стилю. Хронология. В августе 2024 года Judge Orrick отказал в Motion to Dismiss большинства claims. Это означает, что коллективный иск survived initial procedural challenge и переходит в истребование доказательств. Это критически важно — истребование доказательств в коллективном иске в США для AI-компаний означает doсументированные внутренние коммуникации, списки обучающих данных, model checkpoints, всё, что юристы истцов могут истребовать через судебный запрос (subpoena). Третье изменённое заявление (amended complaint) подан двадцать седьмого февраля 2026 года; судебный процесс запланирован на восьмое сентября 2026, то есть через четыре месяца после нашей лекции. Что эта дело уже изменило. Многие смежные AI-компании по изображениям — например, Adobe Firefly — позиционируют себя как коммерчески безопасный именно потому, что Adobe обучает Firefly на Adobe Stock плюс лицензированный контент, не на данных, спарсенных из веба. Это позиционирование напрямую является ответом на риск класса Andersen. Урок для инженера: подражание стилю «в стиле конкретный художник» — не безопасно только потому что стиль формально не охраняется авторским правом. Коллективные иски проходят motion to dismiss по DMCA плюс публичным правам. Если твой продукт позволяет генерировать «в стиле [конкретного живого художника]» — у тебя есть риск класса Andersen, и его нужно учитывать в продуктовый дорожная карта не как теоретический сценарий, а как реалистичный исход. Практическое решение — не разрешать users в промптах называть имена живых художников; маска на этапе фильтрации ввода.</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кейс по авторскому праву — RIAA против Suno и Udio. Иски поданы двадцать четвёртого июня 2024 года Recording Industry Association of America от имени трёх крупных лейблов (Big Three) — UMG, Warner и Sony. Theory — Suno и Udio обучили music generation моделей на каталогах крупных лейблов без лицензии. Хронология settlements распределяется неравномерно по матрице 3 major × 2 defendants. Двадцать девятого октября 2025 года UMG settled с Udio — образовали joint platform для 2026 года; UMG ↔ Suno в переговорах. В сентябре 2025 года Warner подписала licensing deal с Suno (royalty plus equity), но Warner ↔ Udio — litigation продолжается. Sony Music — actively litigating с обоими defendants, push toward summary judgment. Suno Summary Judgment hearing запланирован на июль 2026 года, точная дата подлежит verification ближе к лекции. Что эта последовательность означает практически. Это не «все AI music banned». Это лицензирование под давлением исков — модель, в которой initial lawsuit'ы переводятся в licensing deals. Из шести lawsuit-комбинаций (3 majors × 2 defendants) — четыре уже settled или в переговорах. Это паттерн, который мы видели в музыкальной индустрии не раз: Napster — banned, потом Spotify — licensed; YouTube — initially lawsuit с Viacom, потом Content ID plus licensing. Generative AI music следует тому же эволюционному пути. Урок для инженера: лицензирование под давлением исков — actual outcome: четыре из шести lawsuit-комбинаций settled или в переговорах. Это новый слой бизнес-модели, не «запрет всей AI-музыки». Если ты строишь music-related AI продукт, ожидай licensing requirement как часть business model. Это не делает продукт unbuildable — это делает его более дорогим и более legally compliant. Те, кто строит без licensing infrastructure, столкнутся с тем же тупиком, что и Suno на этапе initial RIAA lawsuit. Те, кто строит с licensing infrastructure с самого начала — следуют Adobe Firefly playbook'у, где лицензированный корпус — это core business asset, не nice-to-have. И самое важное — даже после всех settlements, проверка сходства результата остаётся обязательным независимо от licensing статуса training data: licensing на input не освобождает от ответственности за output, дословно воспроизводящий конкретный protected song.</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Пятый кейс — Thomson Reuters против Ross Intelligence. Это первое в США судебное решение, которое отвергло «добросовестное использование» как защита для AI training. Решение вынесено судьёй Bibas в феврале 2025 года. Конкретика. Ross Intelligence — компания, разрабатывавшая legal search engine на AI-основе. Для обучения модели Ross использовала Westlaw headnotes — короткие summary-аннотации судебных решений, являющиеся охраняемый авторским правом контент Thomson Reuters. Из трёх тысяч использованных headnotes, две тысячи двести были признаны infringed. Судья применил Warhol против Goldsmith four-factor test для «добросовестное использование» и пришёл к выводу, что Ross не проходит этот тест. Важный caveat. Ross — non-generative AI. Это legal search engine, который использовал headnotes для индексации и matching, не для generation нового контента. Применимость этого решения к LLM и diffusion моделям — открытый вопрос. Test cases в эту сторону — NYT против OpenAI, Andersen, Getty US — ещё впереди. Reed Smith опубликовал детальный analysis ruling, который мы цитируем в материалах лекции. Что эта решение уже изменило для индустрии. До февраля 2025 года значительная часть AI-индустрии действовала на предположении, что training на охраняемый авторским правом контент — это transformative «добросовестное использование», и поэтому defensible. Решение Bibas сигнализирует, что эта предположение — не self-evident. Конкретный исход для generative AI ещё не определён, но baseline сдвинулся: «добросовестное использование» надо доказывать, не предполагать. Урок для инженера: «добросовестное использование» — не дефолт. LLM и diffusion test cases впереди — NYT, Andersen, Getty US. Не строй продуктовый дорожная карта на предположении «добросовестное использование» как защита. Если твой business model завязан на use охраняемый авторским правом контент без licensing — это business model на legally unstable foundation. Альтернатива — лицензированный корпус model, как Adobe Firefly: training data — это core business asset, не free externality. Это сейчас выглядит как структурный сдвиг индустрии 2025-2026 годов: licensed data становится дороже, и эта стоимость переходит в product pricing.</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Шестой кейс — Arup CFO-дипфейк scam. Январь 2024 года, Hong Kong. Arup — крупная британская инженерная firm, известная как designer Sydney Opera House и многих других эталонная строений. Сценарий атаки. Финансист Arup в Hong Kong получил email от человека, представившегося CFO компании, с приглашением на видеозвонок для обсуждения confidential transaction. Финансист принял приглашение. На видеозвонке были «CFO» plus пять-шесть других сотрудников компании, узнаваемых лиц и голосов. Все были deepfakes. На звонке «CFO» дал инструкции совершить пятнадцать транзакций на общую сумму двести миллионов гонконгских долларов — двадцать пять и шесть миллиона долларов США. Финансист, следуя инструкциям того, кого он узнал как своего CFO в видеозвонке, выполнил все пятнадцать транзакций. Деньги пропали. Arup обнаружила scam только когда финансист задал routine question CFO напрямую через другой канал. CNN и Fortune опубликовали детальный coverage этого случая. Это первый publicly documented случай корпоративный fraud такого масштаба через deepfake video, и он установил новый baseline корпоративный security risk. Что эта инцидент означает практически. Видеозвонок перестал быть подтверждение личности. В 2024 году технология deepfake-video в реальном времени стала commercially available и cheap. Один scammer с access к public photos и videos target persons может организовать видеозвонок с реалистичными deepfakes одиннадцати-двенадцати человек одновременно. Урок для инженера: видеозвонок не равно подтверждение личности в 2024 году и позже. Финансовые транзакции требуют проверка через независимый канал — обратный звонок по известному номеру, многофакторная аутентификация, в идеале — face-to-face confirmation для крупных сумм. Этот случай — wake-up call для финансовых процесс внутри компаний. Если в твоей компании authorization транзакций основана только на recognition «лица CFO» через видеозвонок — у тебя Arup-class риск, и его нужно закрывать структурно: процессно через mandatory callback, технологически через cryptographic signatures или MFA на транзакциях.</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Седьмой кейс — Korea schoolgirl deepfake crisis. Август 2024 года, Южная Корея. Хочу сразу обозначить — это sensitive content и я буду говорить о нём бережно. Контекст. В августе 2024 года в Южной Корее произошёл массовый scandal с deepfake-порно. Расследование выявило более двухсот Telegram-чатов, где школьники и студенты создавали и обменивались deepfake-порно из selfie-фотографий одноклассниц и учительниц. В период с января по июль 2024 года было выполнено шесть тысяч пятьсот takedown requests — в четыре раза больше, чем за весь 2023 год. Семьдесят четыре процента подозреваемых — подростки в возрасте десять-девятнадцать лет. Между 2021 годом и июлем 2024 года семьсот девяносто три случая были официально reported в правоохранительные органы, но только шестнадцать дел дошли до prosecution. То есть, правоприменительный контроль rate — менее двух процентов. NPR и Daily Star опубликовали детальный coverage. Что эта эпидемия означает структурно. У нас имеется два фактора: первый — широко доступная AI-возможность для generating realistic синтетический контент; второй — слабый legal правоприменительный контроль инфраструктуру для регулирования этой возможность. Результат — массовый class harm для несовершеннолетних. Этот случай stал одним из триггеров EU-инициатив по criminalisation of deepfake porn (вступление в силу к середине 2027 года). Урок для инженера: доступная возможность plus слабый правоприменительный контроль равно массовый class harm. Для AI-инструменты для конечных пользователей обязателен слой безопасности ещё до launch. детекция NSFW-контента, верификация возраста, процесс обработки жалоб для abuse — это не nice-to-have, это must-have для для конечных пользователей продуктов с генеративной составляющей. Если ты запускаешь продукт, который может генерировать likeness реального человека из uploaded photo — у тебя обязательство построить эту защитную инфраструктуру до launch, не после первого incident. Это not просто moral обязательство — после EU 2027 и аналогичных законов в других юрисдикциях, это будет legal обязательство с реальными штрафами и criminal liability для founders.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Восьмой кейс — slop и коллапс моделей. Это не landmark lawsuit; это иллюстрация структурной проблемы качества данных для обучения AI. Slop — это разговорный термин, который вошёл в обиход благодаря Bender, Marcus и другим AI-исследователей в 2024 году. Академический синоним — низкокачественный синтетический контент. Конкретные документированные примеры. Май 2024 года, Google AI Overviews — feature, добавленная к Google Search для генерации summary ответов на запросы. На вопрос «how to keep cheese from sliding off pizza» AI Overview ответил «add ⅛ cup of non-toxic glue to the sauce». Это был шутка из Reddit одиннадцать лет назад, и модель воспроизвела его как фактический совет. Параллельно — на вопрос «how many rocks should I eat per day» AI Overview ответил «at least one small rock per day». Source — сатира The Onion. Эти случаи быстро стали вирусными, и Google убрал большинство фич AI Overview за несколько недель. Что это иллюстрирует. Модель Google Gemini, на которой работал AI Overview, обучалась на огромном corpus веб-данных, который — без curation — включал и шутки из Reddit, и сатира The Onion наряду с реальной информацией. Без контекстная осознанность, отличающего серьёзные источники от шуток и сатиры, модель воспроизводила содержимое как факт. Параллельно — академическая публикация. Shumailov и коллеги, Nature 2024, том 631, страницы 755-759. Эта работа документирует феномен коллапса моделей — рекурсивное обучение модели на синтетических данных, генерируемых предыдущей моделью, приводит к прогрессирующей деградации и сужению разнообразие вывода'а. Авторы называют этот феномен MAD — Model Autophagy Disorder (расстройство аутофагии моделей). Это значит, что для frontier-моделей следующего поколения важно курация обучающих данных — нельзя просто парсить веб и обучать на нём, потому что web всё больше содержит AI-сгенерированный контент. Урок для инженера: качество источников важнее объёма. Модель, обучавшаяся на шутки из Reddit без filter, проигрывает модели на курируемый датасет — даже если curated в десять раз меньше. Это объясняет, почему Adobe Firefly на Adobe Stock плюс лицензированных данных работает лучше, чем чисто данные, спарсенные из веба models на некоторых категориях. Это также объясняет, почему курация данных вендорами стоит реальных денег и почему «бесплатное добро» данных, спарсенных из веба — фальшивая экономия.</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Девятый кейс — Sports Illustrated фейковые авторы plus Amazon Kindle фейковые книги. Ноябрь 2023 года. Futurism, technology magazine, опубликовал investigative exposé: Sports Illustrated — одно из самых известных американских sports magazines — публиковал articles от имени фейковые имена авторов с AI-сгенерированные фото профилей. Например, «Drew Ortiz», представленный как опытный sports writer с фотографией обычного американского репортёра, был полностью fictional. Photo был generated через AI services селящие face photos; статьи были, как минимум частично, AI-сгенерированный. Investigation тогда привела к публичному scandal и к смене руководства SI publisher. Параллельный паттерн на Amazon Kindle. Authors Guild за 2023-2024 годы зафиксировала всплеск фейковых книг на Amazon Kindle с AI-псевдонимами, имитирующими реальных джазовых музыкантов, финансовых консультантов и других profession-figures. Конкретные документированные случаи — Frank Gioia, Ted Alkyer — фейковые имена авторов, выдающие себя за реальных джазовых персоналий. Что эти cases демонстрируют структурно. Накопленное доверие — это key актив бренда для publishers. Sports Illustrated имела многолетнюю репутацию quality sports journalism. AI-псевдонимы за один investigative cycle разрушили эту репутацию — мощно, заметно, и медийно. Аналогично — Amazon Kindle ranking systems оказались легко exploitable AI-клоны, что подорвало доверие к Kindle bestseller list как marker quality. Урок для инженера: накопленное доверие равно key актив бренда. AI-псевдонимы разрушают его моментально. Если ты публикуешь под именем — имя должно быть реальным человеком, либо явно с раскрытием AI-авторства. Это не просто этический принцип — это competitive necessity для publishers, которые хотят сохранять trust своей audience. Если ты строишь content platform с AI-сгенерированный контент — у тебя должен быть transparent disclosure layer. Если ты не маркируешь, какой контент AI-сгенерированный — у тебя SI-class риск, и его исход — публичный exposé плюс потерянная audience trust. На уровне products, это значит — у тебя должны быть UI patterns, явно показывающие AI-сгенерированный контент, и editorial policies, запрещающие AI-псевдонимы.</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Десятый кейс — Toys R Us и Coca-Cola маркетинговый провал. Это два связанных случая 2024 года. Toys R Us — известный американский ритейлер игрушек, перенёсший банкротство в 2017 году и частично возрождённый. В 2024 году компания попыталась сделать prestige креативный comeback через AI: на Cannes Lions 2024 — Каннские Львы, крупнейший фестиваль рекламной индустрии — был представлен 66-секундный единый клип, полностью сгенерированный через Sora 2. Идея была nostalgia-driven: вернуться к founder figure Charles Lazarus с AI-сгенерированный reconstruction. Реакция публики была devastating. Sentiment analysis показал sharp swing. До release клипа: positive sentiment вокруг бренда — двенадцать целых две десятых процента, negative — тринадцать целых пять десятых. После release: positive collapsed до трёх целых четырёх десятых процента, negative spiked до пятидесяти трёх целых четырёх десятых. Это структурный негативный переход на сорок процентных пункта в negative direction. Joe Russo, известный film director, публично quoted: «AI-реклама fucking sucks». Coca-Cola — параллельный случай. Christmas 2024 года Coca-Cola выпустила AI-сгенерированный reconstruction эталонная «Holidays are coming» campaign — повторное эталонная кампания из 1995 года. Reaction была tepid to negative — массовая критика «soulless» nature AI-сгенерированный контент там, где аудитория ожидала emotional человеческого лидерства. Despite этого, Coca-Cola повторила AI-реклама pattern и в 2025 году. Это institutional commitment к AI cost savings даже при измеримый ущерб бренду. Что эти cases демонстрируют. AI-реклама возможен в принципе. Но эталонная сезонная кампания — это территория, где аудитория ожидает человеческое лидерство, и AI-shortcut там создаёт измеримый ущерб бренду. Урок для инженера: AI-реклама возможен, но эталонная сезонная кампания без человеческое лидерство равно ущерб бренду. Доверие к бренду риск измеряется разворот тональности, не CTR. CTR в одной кампании может быть нормальный — это не значит, что бренду не нанесён долгосрочный ущерб. Sentiment analysis — это второй обязательный layer measurement для AI-marketing rollout. И самое главное — где наследие бренда эталонная, там adoption AI-срезание углов является structural decision против капитал бренда. Это не просто «save costs» — это «spend капитал бренда».</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Одиннадцатый кейс — последний в разделе про AI СЛОМАЛ. Это не отдельный case-story; это consolidated view на замещение, которым мы уже частично занимались в Разделе 2. Здесь мы фокусируемся на critical inference: замещение не временный shock, а структурный сдвиг, и инженер должен это понимать до того, как deploys AI-инструмент в креативную индустрию. Три ключевые stats. Первый — минус семнадцать целых одна сотая процента work в Upwork graphic design category после релиза основных GenAI image tools. Это уже не статистически шум — это структурный замещение нижний сегмент graphic design фриланс. Второй — income compression. AI-распознавание в сорока процентах работ копирайтеров, оплачивающих десять-девятнадцать долларов в час, против менее десяти процентов в работах шестьдесят плюс долларов в час. Снижение зарплат снизу. AI-инструменты вымывают нижний сегмент work, оставляя нетронутыми высокоценные специализированные роли. Третий — Hollywood institutional response. SAG-AFTRA plus WGA подписали четырёхлетнее продление с AMPTP в 2026 году. Завоёванные AI-clauses — Digital Replicas, требующие informed consent plus compensation для использования образа реального performer'а; Synthetic Performers regulation; WGA-side — disclosure for AI-сгенерированный material. Что эти оговорки не покрывают — нижний сегмент фриланс, B-roll актёры, массовка, коммодити-озвучка. Этот рынок продолжает сжиматься. Консолидация индустрии как ответ. Getty plus Shutterstock merger три и семь миллиарда долларов в январе 2025 — оборонительная консолидация. Это институциональное признание, что separately сток providers не могут противостоять обвал стоимости. Урок для инженера. Замещение — структурный, не временный шок. Clauses помогают только в верхний сегмент защищённых ролях; нижний сегмент снижение зарплат остаётся. Если ты разрабатываешь AI-инструмент, который deploys в креативную индустрию, проанализируй до launch, какой именно класс работников твой инструмент сместит. Если нижний сегмент commodity work — это уже происходит, и это «легально» в смысле труд law, но создаёт ESG plus regulatory pressure. Если верхний сегмент творческое руководство — это не получится, потому что именно эта зона защищена value-add от human curation. Понимание этого distinction — это часть инженерной зрелости в 2026 году.</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Заканчиваем главный failure budget — Раздел три — и переходим в Раздел четыре. Это переключение регистра с диагностического на нормативный. До этого момента мы разбирали, что AI сделал — добавил, изменил, сломал. Сейчас мы разбираем, где инженеру разумно сказать «здесь AI не нужен». Три слайда раздела покрывают: четыре критерия отказа от AI в творческом проекте — выведенные из уроков Раздела три; три зоны только человеком — где AI принципиально не должен подменять человека; и эмпирическое отторжение конечными пользователями — YouTube AI-превью case как сигнал, что конечный пользовательs замечают и наказывают AI-shortcut. Это не «список запретов» — это набор критериев осознанного выбора. Студент-инженер должен уметь применять эти критерии к конкретной задаче, не запомнить их как dogma. К концу раздела четыре у вас будет mental toolkit для negative choice. Раздел пять переводит этот toolkit в чек-лист к действию.</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центральный нормативный слайд лекции. Здесь мы переводим уроки Раздела три в четыре практических критерия отказа от AI в творческом проекте. Критерий первый — лицензия на обучающие данные. Если у tool нет документированный лицензированный обучающий корпус — у тебя юридический долг по категории один — Andersen и RIAA. Конкретно: использование Stable Diffusion для коммерческий результат создаёт латентный риск коллективного иска. Использование Adobe Firefly — нет, потому что Firefly обучён на Adobe Stock плюс лицензированный контент. Это не выбор инструмента по «качеству», это выбор по структурному соответствию требованиям. Критерий второй — проверка сходства результата. Если outputs могут воспроизвести охраняемый контент дословно — у тебя liability по категории два дословное цитирование NYT. Если ты строишь продукт на foundation-модели, у тебя должен быть технический контроль, отслеживающий сходство вывода с охраняемым исходным контентом. Без этого ты несёшь риск дословного цитирования лично. Критерий третий — voice и likeness consent. Если продукт использует голос или лицо конкретных людей — нужен явное согласие. риск класса ScarJo применяется не только к знаменитостям — к любым узнаваемым реальным людям. Кризис со школьницами в Корее показал, что и селфи несовершеннолетних подпадают под этот критерий. Критерий четвёртый — риск доверия к бренду. Если ты развёртываешь AI для эталонной или исторической кампании — Coca-Cola Christmas, Sports Illustrated by-line, NYT investigative — это структурная трата капитала бренда. Разворот тональности измеримый, и его потеря — не восстанавливается за один цикл. Эти четыре критерия — не «список запретов AI». Это диагностические вопросы. Если по любому из четырёх ты идентифицируешь риск, у тебя три варианта. Вариант A — не использовать AI, использовать альтернативу без AI. Вариант B — митигировать риск структурно: слой лицензирования, проверка сходства результата, инфраструктура получения согласия, дизайн с учётом бренда. Вариант C — принять риск явно, с документированным бизнес-решением и выверенной митигацией. Чего нельзя делать — это случайно взять на себя риск, не зная о нём. Эта четырёхпунктная диагностика — это твой защитный слой.</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Слайд про три зоны, где AI принципиально не должен подменять человека. Это не «AI запрещён» — это «AI как инструмент в руках человека работает, AI как замена человека — нет». Зона первая — расследовательская журналистика. Major newspapers New York Times и Washington Post явно опубликовали AI guidelines, прохибиту​щие использование AI для первичный репортаж. Конкретные components этой prohibition. Проверка источников — журналист должен сам verify, что источник существует и говорит то, что цитируется. AI hallucination любого уровня в этой роли создаёт публичный risk дезинформации. Интервью под запись — AI не может физически провести on-record interview, и transcription через AI требует human review. Журналистика подотчётности — фундаментально требует human ответственности, потому что published story — это commitment writer к truthfulness, и эта ответственность не делегируема алгоритму. Зона вторая — original creative direction (креативное лидерство). Здесь главный аргумент — empirical, не deontological. Toys R Us Cannes 2024 негативная реакция. Coca-Cola Christmas 2024 прохладный приём. SI — фейковые авторы investigation. Все эти cases показывают, что когда аудитория ожидает человеческого креативного лидерства — эталонная campaign, by-line trust, оригинальный голос бренда — AI-срезание углов измеримый damages brand. Это не «AI плох морально», это «audience замечает». Зона третья — длинная связная narrative-композиция. Это техническая граница, а не нормативная. Связный 50-минутный album, multi-act screenplay, full-length novel — это формы narrative, где связность-через-длину превышает current возможность AI моделей. Character непрерывность drift через пять-десять сцен, plot consistency через 90 минут, voice consistency через полный album — все эти требуют human-driven narrative architecture. AI как генератор отдельных elements работает; AI как архитектор связности через длину — пока нет. Что это значит практически. В этих трёх зонах разворачивай AI только как assistive tool под human supervision, никогда как замещение layer. Если твой product positioning «AI заменяет investigative journalist» или «AI генерирует полный связный feature film» — это positioning против структурных границ, и market выявит это негативно.</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Финальный слайд Раздела четыре — YouTube AI-превью. Это empirical confirmation, что конечный пользовательs замечают и наказывают AI-срезание углов. Это мост к Разделу пять — чек-лист к действию. Контекст. К 2024-2025 годам широкое adoption AI image generators привело к тому, что YouTube creators начали использовать AI для генерации превью — наиболее click-driving elementov video. AI-превью выглядели «professional», были cheap to generate (центы вместо $50-200 дизайнер-фрилансер), и быстро распространились. Social Blade Creator Survey декабря 2025 года показал structural rejection by конечный пользовательs. Сорок семь целых три десятых процента creators, попробовавших AI-превью, отказались от них. Не временный эксперимент — окончательный отказ. Причины — три ключевые. Минус двадцать два процента CTR — creepy smooth skin. AI image generators в первую генерацию давали «too smooth» faces, которые viewer воспринимают как unsettling, аналог uncanny valley. Минус девятнадцать процентов CTR — провал текста на мобильных. AI-превью часто содержат AI-сгенерированный text overlays, которые на mobile разрешении становятся нечитаемыми. Минус шестьдесят один и восемь десятых процента first-fifteen-second отвал — mismatched promise versus content. AI thumbnail продаёт one promise, video content delivers different — viewer сразу видит mismatch и leaves. Что эта empirical data означает. Доверие к бренду риск не теоретический — это измеримый CTR plus отвал plus retention. Это не abstract «AI выглядит soulless», это конкретные numbers на YouTube analytics dashboard. Урок для инженера: конечный пользовательs замечают и наказывают AI-срезание углов. Если твой продукт relies на для конечных пользователей AI-сгенерированный visuals, измеряй не только generation cost — измеряй click-through, retention, отношение к бренду. Empirical риск доверия к бренду не теоретический. Это измеримый, и невидимая прямая «exchange rate» между cheap AI generation и lost engagement — реальная business cost. Это завершает Раздел четыре про критерии негативного выбора. На следующем divider'е — Раздел пять с чек-лист к действию.</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пять — последний content-раздел. Здесь главный итог лекции — пятивопросный чек-лист к действию. После лекции студент должен уметь применить этот checklist к любой будущей креативной задаче с AI-составляющей. Один слайд раздела — сам checklist. Структурно это flowchart-decision tree: пять вопросов в order, для каждого — possible answers и follow-up action. Это not just «список вопросов» — это decision framework с branches.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финальный итог лекции — пятивопросный чек-лист к действию. Применяй его до старта любого креативного проекта с AI-составляющей, не после. Вопрос первый — training-data licensing tool. Adobe Firefly — да, лицензированный корпус (Adobe Stock плюс лицензированный). Stable Diffusion — нет, данные, спарсенные из веба data, риск класса Andersen. Midjourney — спорно, риски есть. Это первый filter. Если ты строишь коммерческий продукт на foundation model — выбирай инструмент с документированным лицензированным обучением, иначе у тебя структурный юридический долг. Вопрос второй — проверка сходства результата для охраняемый контент. У продукта должен быть технический контроль, отслеживающий, не воспроизводит ли output модели дословно или substantially охраняемый авторским правом источник. NYT против OpenAI теория дословного цитирования — это уже не теоретический риск, это активная судебная тяжба. Если у тебя нет такого контроля — у тебя риск дословного цитирования лично. Вопрос третий — voice и likeness consent если применимо. Если продукт использует голос или лицо конкретных людей — нужен явное согласие. ScarJo, SAG-AFTRA Digital Replicas, кризис со школьницами в Корее — все случаи показывают, что без инфраструктуры получения согласия у тебя экспозиция к рискам. Это включает использование селфи, загруженных фото, образцов голоса — любой узнаваемый реальный человек. Вопрос четвёртый — IP-чистые инструменты для коммерческого применения. Это интеграция вопросов первого и второго: для коммерческое развёртывание у тебя должен быть сквозной IP-чистый pipeline — licensed обучающий корпус plus проверка сходства результата plus disclosure. Adobe Firefly Foundry представляет это как продукт. Модели на спарсенных данных — это «дёшево начать, дорого довести до релиза». Вопрос пятый — риск доверия к бренду, legacy и эталонная кампания. Если ты deploys AI для category, где аудитория ожидает человеческого креативного лидерства — эталонная сезонная кампания, by-line trust, оригинальный голос бренда — это структурное spending капитал бренда. Coca-Cola Christmas, Toys R Us Cannes, SI by-line — все показывают измеримый cost. Если на любой из пяти вопросов ответ «нет» или «риск идентифицирован» — твой выбор должен быть один из трёх. Вариант A — альтернатива без AI, не использовать AI. Вариант B — структурная митигация: слой лицензирования, проверка сходства, инфраструктура согласия, дизайн с учётом бренда. Вариант C — принять риск явно, с документированным бизнес-решением и выверенной митигацией. Не делай неявное принятие — это самая дорогая ошибка. Если ты применишь эту пятивопросную диагностику к любой креативной задаче с AI-составляющей, у тебя будет защитный слой, обеспечивающий осознанное инженерное суждение. Это главный итог этой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Q&amp;A раздел. Открытое поле для вопросов от аудитории. Если вопросы не идут — три backup-темы, которые я подготовил для дискуссии. Первая — где границы «добросовестное использование» AI training. Thomson Reuters против Ross — first US rejection. NYT против OpenAI SJ — это в две недели. Andersen trial — сентябрь 2026. Можно дискутировать how эти решения сложатся в emerging case law к 2027 году. Вторая — Sora 2 vs Lionsgate, где Hollywood в 2030 году. Lionsgate partnership показал усиление model — Sora 2 возможность показал generation модель. Какая из них доминирует через четыре года — открытый вопрос с прямой связью к career direction для будущих creative engineers. Третья — Минцифры законопроект, что меняется для RU-инженеров. Вступление в силу планируется на первое сентября 2027. TDM-exception, маркировка AI-контента, авторство у промпт-пользователя — какие конкретно practical changes это создаст для российских AI-стартапов и интеграторов. Это особенно полезно для студентов МГТУ, которые скорее всего работать будут в russian regulatory context. Если ни одна из этих тем не вызывает дискуссии — открыт также для unrelated questions по любой части лекции. Особенно если есть вопросы по конкретным cases — Arup, ScarJo, RIAA, NYT — я могу углубиться по любому из двенадцати разобранных кейсов.</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Финальный слайд лекции. На нём — благодарность аудитории и анонс следующей лекции курса. Следующая отраслевая лекция — Лекция девять, AI в авиакосмической отрасли и оборонном комплексе. Это переключение от креативных industries с самым широким публичным контактная поверхность к индустрии с самым высоким regulatory friction и самыми строгими safety requirements. Параллели интересные. Где в креативный AI ставки — это юридический и репутационный долг, в aerospace — это life-critical safety. Где в креативный AI failure ведёт к ущерб бренду, в aerospace failure ведёт к catastrophic loss. Где в креативный AI regulatory контур только формируется — Минцифры законопроект 2027, EU AI Act creator guidelines — в aerospace регуляторы FAA и DoD уже имеют десятилетия структурированных certification frameworks. Это контраст даст ещё одно измерение для понимания, где AI применим и где он структурно сложнее интегрируется. По источникам этой лекции. Все cited исследования, lawsuits, статистики и URL'и доступны через QR-код или в chapter.md в репозитории курса. Это включает Sora 2 release reel, Genie 3 DeepMind blog, ElevenLabs voice library, NYT complaint Bloomberg Law, Andersen docket, RIAA press release, Arup CNN coverage, Korea NPR investigation, Shumailov Nature paper, Futurism SI exposé, и десятки других. Чек-лист из Раздела пять также вынесен отдельным документом в материалах лекции. Спасибо за внимание.</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image" Target="../media/image17.jpg"/><Relationship Id="rId4"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ounded Rectangle 1"/>
          <p:cNvSpPr/>
          <p:nvPr/>
        </p:nvSpPr>
        <p:spPr>
          <a:xfrm>
            <a:off x="411480" y="502920"/>
            <a:ext cx="6126480" cy="3611880"/>
          </a:xfrm>
          <a:prstGeom prst="roundRect">
            <a:avLst>
              <a:gd name="adj" fmla="val 8438"/>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s01-sora-mammoths.png"/>
          <p:cNvPicPr>
            <a:picLocks noChangeAspect="1"/>
          </p:cNvPicPr>
          <p:nvPr/>
        </p:nvPicPr>
        <p:blipFill>
          <a:blip r:embed="rId2"/>
          <a:stretch>
            <a:fillRect/>
          </a:stretch>
        </p:blipFill>
        <p:spPr>
          <a:xfrm>
            <a:off x="502920" y="637222"/>
            <a:ext cx="5943600" cy="3343275"/>
          </a:xfrm>
          <a:prstGeom prst="rect">
            <a:avLst/>
          </a:prstGeom>
        </p:spPr>
      </p:pic>
      <p:sp>
        <p:nvSpPr>
          <p:cNvPr id="4" name="TextBox 3"/>
          <p:cNvSpPr txBox="1"/>
          <p:nvPr/>
        </p:nvSpPr>
        <p:spPr>
          <a:xfrm>
            <a:off x="502920" y="4160520"/>
            <a:ext cx="5943600" cy="274320"/>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OpenAI Sora · кадр text-to-video по промпту «woolly mammoths» · 2024</a:t>
            </a:r>
          </a:p>
        </p:txBody>
      </p:sp>
      <p:sp>
        <p:nvSpPr>
          <p:cNvPr id="5" name="TextBox 4"/>
          <p:cNvSpPr txBox="1"/>
          <p:nvPr/>
        </p:nvSpPr>
        <p:spPr>
          <a:xfrm>
            <a:off x="502920" y="4526280"/>
            <a:ext cx="6035040" cy="960120"/>
          </a:xfrm>
          <a:prstGeom prst="rect">
            <a:avLst/>
          </a:prstGeom>
          <a:noFill/>
        </p:spPr>
        <p:txBody>
          <a:bodyPr wrap="square" lIns="0" rIns="0" tIns="0" bIns="0" anchor="t">
            <a:spAutoFit/>
          </a:bodyPr>
          <a:lstStyle/>
          <a:p>
            <a:pPr algn="l">
              <a:lnSpc>
                <a:spcPct val="115000"/>
              </a:lnSpc>
            </a:pPr>
            <a:r>
              <a:rPr sz="2000" b="1" i="0">
                <a:solidFill>
                  <a:srgbClr val="21295C"/>
                </a:solidFill>
                <a:latin typeface="Arial"/>
              </a:rPr>
              <a:t>AI создаёт артефакт промышленного качества за секунды без специальных навыков.</a:t>
            </a:r>
          </a:p>
        </p:txBody>
      </p:sp>
      <p:sp>
        <p:nvSpPr>
          <p:cNvPr id="6" name="TextBox 5"/>
          <p:cNvSpPr txBox="1"/>
          <p:nvPr/>
        </p:nvSpPr>
        <p:spPr>
          <a:xfrm>
            <a:off x="502920" y="5577840"/>
            <a:ext cx="6035040" cy="365760"/>
          </a:xfrm>
          <a:prstGeom prst="rect">
            <a:avLst/>
          </a:prstGeom>
          <a:noFill/>
        </p:spPr>
        <p:txBody>
          <a:bodyPr wrap="square" lIns="0" rIns="0" tIns="0" bIns="0" anchor="t">
            <a:spAutoFit/>
          </a:bodyPr>
          <a:lstStyle/>
          <a:p>
            <a:pPr algn="l">
              <a:lnSpc>
                <a:spcPct val="125000"/>
              </a:lnSpc>
            </a:pPr>
            <a:r>
              <a:rPr sz="1300" b="1" i="0">
                <a:solidFill>
                  <a:srgbClr val="21295C"/>
                </a:solidFill>
                <a:latin typeface="Arial"/>
              </a:rPr>
              <a:t>Музыка: </a:t>
            </a:r>
            <a:r>
              <a:rPr sz="1300" b="0" i="1">
                <a:solidFill>
                  <a:srgbClr val="6B7685"/>
                </a:solidFill>
                <a:latin typeface="Arial"/>
              </a:rPr>
              <a:t>композитор + неделя + $500-2000  →  </a:t>
            </a:r>
            <a:r>
              <a:rPr sz="1300" b="1" i="0">
                <a:solidFill>
                  <a:srgbClr val="F0AB00"/>
                </a:solidFill>
                <a:latin typeface="Arial"/>
              </a:rPr>
              <a:t>Suno · 30 сек · $0</a:t>
            </a:r>
          </a:p>
        </p:txBody>
      </p:sp>
      <p:sp>
        <p:nvSpPr>
          <p:cNvPr id="7" name="TextBox 6"/>
          <p:cNvSpPr txBox="1"/>
          <p:nvPr/>
        </p:nvSpPr>
        <p:spPr>
          <a:xfrm>
            <a:off x="502920" y="5943600"/>
            <a:ext cx="6035040" cy="365760"/>
          </a:xfrm>
          <a:prstGeom prst="rect">
            <a:avLst/>
          </a:prstGeom>
          <a:noFill/>
        </p:spPr>
        <p:txBody>
          <a:bodyPr wrap="square" lIns="0" rIns="0" tIns="0" bIns="0" anchor="t">
            <a:spAutoFit/>
          </a:bodyPr>
          <a:lstStyle/>
          <a:p>
            <a:pPr algn="l">
              <a:lnSpc>
                <a:spcPct val="125000"/>
              </a:lnSpc>
            </a:pPr>
            <a:r>
              <a:rPr sz="1300" b="1" i="0">
                <a:solidFill>
                  <a:srgbClr val="21295C"/>
                </a:solidFill>
                <a:latin typeface="Arial"/>
              </a:rPr>
              <a:t>Фото: </a:t>
            </a:r>
            <a:r>
              <a:rPr sz="1300" b="0" i="1">
                <a:solidFill>
                  <a:srgbClr val="6B7685"/>
                </a:solidFill>
                <a:latin typeface="Arial"/>
              </a:rPr>
              <a:t>фриланс $50-200 + 1-3 дня  →  </a:t>
            </a:r>
            <a:r>
              <a:rPr sz="1300" b="1" i="0">
                <a:solidFill>
                  <a:srgbClr val="F0AB00"/>
                </a:solidFill>
                <a:latin typeface="Arial"/>
              </a:rPr>
              <a:t>Firefly · 5 сек · $0</a:t>
            </a:r>
          </a:p>
        </p:txBody>
      </p:sp>
      <p:sp>
        <p:nvSpPr>
          <p:cNvPr id="8" name="Rounded Rectangle 7"/>
          <p:cNvSpPr/>
          <p:nvPr/>
        </p:nvSpPr>
        <p:spPr>
          <a:xfrm>
            <a:off x="6903720" y="502920"/>
            <a:ext cx="4846320" cy="5440680"/>
          </a:xfrm>
          <a:prstGeom prst="roundRect">
            <a:avLst>
              <a:gd name="adj" fmla="val 62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86600" y="685800"/>
            <a:ext cx="4480560" cy="365760"/>
          </a:xfrm>
          <a:prstGeom prst="rect">
            <a:avLst/>
          </a:prstGeom>
          <a:noFill/>
        </p:spPr>
        <p:txBody>
          <a:bodyPr wrap="square" lIns="0" rIns="0" tIns="0" bIns="0" anchor="t">
            <a:spAutoFit/>
          </a:bodyPr>
          <a:lstStyle/>
          <a:p>
            <a:pPr algn="ctr">
              <a:lnSpc>
                <a:spcPct val="115000"/>
              </a:lnSpc>
            </a:pPr>
            <a:r>
              <a:rPr sz="1300" b="1" i="0">
                <a:solidFill>
                  <a:srgbClr val="F0AB00"/>
                </a:solidFill>
                <a:latin typeface="Arial"/>
              </a:rPr>
              <a:t>ДЕМО В БРАУЗЕРЕ</a:t>
            </a:r>
          </a:p>
        </p:txBody>
      </p:sp>
      <p:sp>
        <p:nvSpPr>
          <p:cNvPr id="10" name="TextBox 9"/>
          <p:cNvSpPr txBox="1"/>
          <p:nvPr/>
        </p:nvSpPr>
        <p:spPr>
          <a:xfrm>
            <a:off x="7086600" y="1097280"/>
            <a:ext cx="4480560" cy="457200"/>
          </a:xfrm>
          <a:prstGeom prst="rect">
            <a:avLst/>
          </a:prstGeom>
          <a:noFill/>
        </p:spPr>
        <p:txBody>
          <a:bodyPr wrap="square" lIns="0" rIns="0" tIns="0" bIns="0" anchor="t">
            <a:spAutoFit/>
          </a:bodyPr>
          <a:lstStyle/>
          <a:p>
            <a:pPr algn="ctr">
              <a:lnSpc>
                <a:spcPct val="115000"/>
              </a:lnSpc>
            </a:pPr>
            <a:r>
              <a:rPr sz="2000" b="1" i="0">
                <a:solidFill>
                  <a:srgbClr val="21295C"/>
                </a:solidFill>
                <a:latin typeface="Arial"/>
              </a:rPr>
              <a:t>Сгенерируем прямо сейчас</a:t>
            </a:r>
          </a:p>
        </p:txBody>
      </p:sp>
      <p:sp>
        <p:nvSpPr>
          <p:cNvPr id="11" name="Rounded Rectangle 10"/>
          <p:cNvSpPr/>
          <p:nvPr/>
        </p:nvSpPr>
        <p:spPr>
          <a:xfrm>
            <a:off x="7178040" y="1783080"/>
            <a:ext cx="4297680" cy="141732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0" y="1874519"/>
            <a:ext cx="4023360" cy="292608"/>
          </a:xfrm>
          <a:prstGeom prst="rect">
            <a:avLst/>
          </a:prstGeom>
          <a:noFill/>
        </p:spPr>
        <p:txBody>
          <a:bodyPr wrap="square" lIns="0" rIns="0" tIns="0" bIns="0" anchor="t">
            <a:spAutoFit/>
          </a:bodyPr>
          <a:lstStyle/>
          <a:p>
            <a:pPr algn="l">
              <a:lnSpc>
                <a:spcPct val="115000"/>
              </a:lnSpc>
            </a:pPr>
            <a:r>
              <a:rPr sz="1000" b="1" i="0">
                <a:solidFill>
                  <a:srgbClr val="FFFFFF"/>
                </a:solidFill>
                <a:latin typeface="Arial"/>
              </a:rPr>
              <a:t>ОСНОВНОЕ · АУДИО</a:t>
            </a:r>
          </a:p>
        </p:txBody>
      </p:sp>
      <p:sp>
        <p:nvSpPr>
          <p:cNvPr id="13" name="TextBox 12"/>
          <p:cNvSpPr txBox="1"/>
          <p:nvPr/>
        </p:nvSpPr>
        <p:spPr>
          <a:xfrm>
            <a:off x="7315200" y="2212848"/>
            <a:ext cx="4023360" cy="502920"/>
          </a:xfrm>
          <a:prstGeom prst="rect">
            <a:avLst/>
          </a:prstGeom>
          <a:noFill/>
        </p:spPr>
        <p:txBody>
          <a:bodyPr wrap="square" lIns="0" rIns="0" tIns="0" bIns="0" anchor="t">
            <a:spAutoFit/>
          </a:bodyPr>
          <a:lstStyle/>
          <a:p>
            <a:pPr algn="l">
              <a:lnSpc>
                <a:spcPct val="115000"/>
              </a:lnSpc>
            </a:pPr>
            <a:r>
              <a:rPr sz="2000" b="1" i="0">
                <a:solidFill>
                  <a:srgbClr val="FFFFFF"/>
                </a:solidFill>
                <a:latin typeface="Arial"/>
              </a:rPr>
              <a:t>suno.com/create</a:t>
            </a:r>
          </a:p>
        </p:txBody>
      </p:sp>
      <p:sp>
        <p:nvSpPr>
          <p:cNvPr id="14" name="TextBox 13"/>
          <p:cNvSpPr txBox="1"/>
          <p:nvPr/>
        </p:nvSpPr>
        <p:spPr>
          <a:xfrm>
            <a:off x="7315200" y="2743200"/>
            <a:ext cx="4023360" cy="457200"/>
          </a:xfrm>
          <a:prstGeom prst="rect">
            <a:avLst/>
          </a:prstGeom>
          <a:noFill/>
        </p:spPr>
        <p:txBody>
          <a:bodyPr wrap="square" lIns="0" rIns="0" tIns="0" bIns="0" anchor="t">
            <a:spAutoFit/>
          </a:bodyPr>
          <a:lstStyle/>
          <a:p>
            <a:pPr algn="l">
              <a:lnSpc>
                <a:spcPct val="115000"/>
              </a:lnSpc>
            </a:pPr>
            <a:r>
              <a:rPr sz="1100" b="0" i="1">
                <a:solidFill>
                  <a:srgbClr val="FFFFFF"/>
                </a:solidFill>
                <a:latin typeface="Arial"/>
              </a:rPr>
              <a:t>тема + жанр + язык → трек 30 сек</a:t>
            </a:r>
          </a:p>
        </p:txBody>
      </p:sp>
      <p:sp>
        <p:nvSpPr>
          <p:cNvPr id="15" name="Rounded Rectangle 14"/>
          <p:cNvSpPr/>
          <p:nvPr/>
        </p:nvSpPr>
        <p:spPr>
          <a:xfrm>
            <a:off x="7178040" y="3337560"/>
            <a:ext cx="4297680" cy="141732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0" y="3429000"/>
            <a:ext cx="4023360" cy="292608"/>
          </a:xfrm>
          <a:prstGeom prst="rect">
            <a:avLst/>
          </a:prstGeom>
          <a:noFill/>
        </p:spPr>
        <p:txBody>
          <a:bodyPr wrap="square" lIns="0" rIns="0" tIns="0" bIns="0" anchor="t">
            <a:spAutoFit/>
          </a:bodyPr>
          <a:lstStyle/>
          <a:p>
            <a:pPr algn="l">
              <a:lnSpc>
                <a:spcPct val="115000"/>
              </a:lnSpc>
            </a:pPr>
            <a:r>
              <a:rPr sz="1000" b="1" i="0">
                <a:solidFill>
                  <a:srgbClr val="FFFFFF"/>
                </a:solidFill>
                <a:latin typeface="Arial"/>
              </a:rPr>
              <a:t>РЕЗЕРВ · КАРТИНКА</a:t>
            </a:r>
          </a:p>
        </p:txBody>
      </p:sp>
      <p:sp>
        <p:nvSpPr>
          <p:cNvPr id="17" name="TextBox 16"/>
          <p:cNvSpPr txBox="1"/>
          <p:nvPr/>
        </p:nvSpPr>
        <p:spPr>
          <a:xfrm>
            <a:off x="7315200" y="3767328"/>
            <a:ext cx="4023360" cy="502920"/>
          </a:xfrm>
          <a:prstGeom prst="rect">
            <a:avLst/>
          </a:prstGeom>
          <a:noFill/>
        </p:spPr>
        <p:txBody>
          <a:bodyPr wrap="square" lIns="0" rIns="0" tIns="0" bIns="0" anchor="t">
            <a:spAutoFit/>
          </a:bodyPr>
          <a:lstStyle/>
          <a:p>
            <a:pPr algn="l">
              <a:lnSpc>
                <a:spcPct val="115000"/>
              </a:lnSpc>
            </a:pPr>
            <a:r>
              <a:rPr sz="2000" b="1" i="0">
                <a:solidFill>
                  <a:srgbClr val="FFFFFF"/>
                </a:solidFill>
                <a:latin typeface="Arial"/>
              </a:rPr>
              <a:t>firefly.adobe.com</a:t>
            </a:r>
          </a:p>
        </p:txBody>
      </p:sp>
      <p:sp>
        <p:nvSpPr>
          <p:cNvPr id="18" name="TextBox 17"/>
          <p:cNvSpPr txBox="1"/>
          <p:nvPr/>
        </p:nvSpPr>
        <p:spPr>
          <a:xfrm>
            <a:off x="7315200" y="4297680"/>
            <a:ext cx="4023360" cy="457200"/>
          </a:xfrm>
          <a:prstGeom prst="rect">
            <a:avLst/>
          </a:prstGeom>
          <a:noFill/>
        </p:spPr>
        <p:txBody>
          <a:bodyPr wrap="square" lIns="0" rIns="0" tIns="0" bIns="0" anchor="t">
            <a:spAutoFit/>
          </a:bodyPr>
          <a:lstStyle/>
          <a:p>
            <a:pPr algn="l">
              <a:lnSpc>
                <a:spcPct val="115000"/>
              </a:lnSpc>
            </a:pPr>
            <a:r>
              <a:rPr sz="1100" b="0" i="1">
                <a:solidFill>
                  <a:srgbClr val="FFFFFF"/>
                </a:solidFill>
                <a:latin typeface="Arial"/>
              </a:rPr>
              <a:t>текст-промпт → фото за 5 сек</a:t>
            </a:r>
          </a:p>
        </p:txBody>
      </p:sp>
      <p:sp>
        <p:nvSpPr>
          <p:cNvPr id="19" name="Rectangle 18"/>
          <p:cNvSpPr/>
          <p:nvPr/>
        </p:nvSpPr>
        <p:spPr>
          <a:xfrm>
            <a:off x="10652760" y="4937760"/>
            <a:ext cx="777240" cy="777240"/>
          </a:xfrm>
          <a:prstGeom prst="rect">
            <a:avLst/>
          </a:prstGeom>
          <a:solidFill>
            <a:srgbClr val="FFFFFF"/>
          </a:solidFill>
          <a:ln w="1905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652760" y="4937760"/>
            <a:ext cx="777240" cy="77724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QR</a:t>
            </a:r>
          </a:p>
        </p:txBody>
      </p:sp>
      <p:sp>
        <p:nvSpPr>
          <p:cNvPr id="21" name="TextBox 20"/>
          <p:cNvSpPr txBox="1"/>
          <p:nvPr/>
        </p:nvSpPr>
        <p:spPr>
          <a:xfrm>
            <a:off x="7178040" y="5029200"/>
            <a:ext cx="3291840" cy="640080"/>
          </a:xfrm>
          <a:prstGeom prst="rect">
            <a:avLst/>
          </a:prstGeom>
          <a:noFill/>
        </p:spPr>
        <p:txBody>
          <a:bodyPr wrap="square" lIns="0" rIns="0" tIns="0" bIns="0" anchor="ctr">
            <a:spAutoFit/>
          </a:bodyPr>
          <a:lstStyle/>
          <a:p>
            <a:pPr algn="l">
              <a:lnSpc>
                <a:spcPct val="120000"/>
              </a:lnSpc>
            </a:pPr>
            <a:r>
              <a:rPr sz="1000" b="0" i="1">
                <a:solidFill>
                  <a:srgbClr val="21295C"/>
                </a:solidFill>
                <a:latin typeface="Arial"/>
              </a:rPr>
              <a:t>Открой URL на телефоне →</a:t>
            </a:r>
          </a:p>
        </p:txBody>
      </p:sp>
      <p:sp>
        <p:nvSpPr>
          <p:cNvPr id="22" name="TextBox 21"/>
          <p:cNvSpPr txBox="1"/>
          <p:nvPr/>
        </p:nvSpPr>
        <p:spPr>
          <a:xfrm>
            <a:off x="502920" y="6446520"/>
            <a:ext cx="11247120" cy="32004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suno.com · firefly.adobe.com · бесплатный пробный доступ · 30 сек</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7315200" y="1828800"/>
            <a:ext cx="4846320" cy="5029200"/>
          </a:xfrm>
          <a:prstGeom prst="rect">
            <a:avLst/>
          </a:prstGeom>
          <a:noFill/>
        </p:spPr>
        <p:txBody>
          <a:bodyPr wrap="square" lIns="0" rIns="0" tIns="0" bIns="0" anchor="t">
            <a:spAutoFit/>
          </a:bodyPr>
          <a:lstStyle/>
          <a:p>
            <a:pPr algn="l">
              <a:lnSpc>
                <a:spcPct val="100000"/>
              </a:lnSpc>
            </a:pPr>
            <a:r>
              <a:rPr sz="32000" b="1" i="0">
                <a:solidFill>
                  <a:srgbClr val="D9E2EC"/>
                </a:solidFill>
                <a:latin typeface="Arial"/>
              </a:rPr>
              <a:t>08</a:t>
            </a:r>
          </a:p>
        </p:txBody>
      </p:sp>
      <p:sp>
        <p:nvSpPr>
          <p:cNvPr id="3" name="TextBox 2"/>
          <p:cNvSpPr txBox="1"/>
          <p:nvPr/>
        </p:nvSpPr>
        <p:spPr>
          <a:xfrm>
            <a:off x="640080" y="914400"/>
            <a:ext cx="5943600" cy="50292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ЛЕКЦИЯ</a:t>
            </a:r>
          </a:p>
        </p:txBody>
      </p:sp>
      <p:sp>
        <p:nvSpPr>
          <p:cNvPr id="4" name="Rectangle 3"/>
          <p:cNvSpPr/>
          <p:nvPr/>
        </p:nvSpPr>
        <p:spPr>
          <a:xfrm>
            <a:off x="658368" y="1417320"/>
            <a:ext cx="640080" cy="457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28800"/>
            <a:ext cx="7772400" cy="2377440"/>
          </a:xfrm>
          <a:prstGeom prst="rect">
            <a:avLst/>
          </a:prstGeom>
          <a:noFill/>
        </p:spPr>
        <p:txBody>
          <a:bodyPr wrap="square" lIns="0" rIns="0" tIns="0" bIns="0" anchor="t">
            <a:spAutoFit/>
          </a:bodyPr>
          <a:lstStyle/>
          <a:p>
            <a:pPr algn="l">
              <a:lnSpc>
                <a:spcPct val="105000"/>
              </a:lnSpc>
            </a:pPr>
            <a:r>
              <a:rPr sz="5400" b="1" i="0">
                <a:solidFill>
                  <a:srgbClr val="21295C"/>
                </a:solidFill>
                <a:latin typeface="Arial"/>
              </a:rPr>
              <a:t>AI в творческих
индустриях и медиа</a:t>
            </a:r>
          </a:p>
        </p:txBody>
      </p:sp>
      <p:sp>
        <p:nvSpPr>
          <p:cNvPr id="6" name="Rectangle 5"/>
          <p:cNvSpPr/>
          <p:nvPr/>
        </p:nvSpPr>
        <p:spPr>
          <a:xfrm>
            <a:off x="640080" y="4983480"/>
            <a:ext cx="45720" cy="54864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4983480"/>
            <a:ext cx="9601200" cy="640080"/>
          </a:xfrm>
          <a:prstGeom prst="rect">
            <a:avLst/>
          </a:prstGeom>
          <a:noFill/>
        </p:spPr>
        <p:txBody>
          <a:bodyPr wrap="square" lIns="0" rIns="0" tIns="0" bIns="0" anchor="t">
            <a:spAutoFit/>
          </a:bodyPr>
          <a:lstStyle/>
          <a:p>
            <a:pPr algn="l">
              <a:lnSpc>
                <a:spcPct val="125000"/>
              </a:lnSpc>
            </a:pPr>
            <a:r>
              <a:rPr sz="2000" b="0" i="0">
                <a:solidFill>
                  <a:srgbClr val="065A82"/>
                </a:solidFill>
                <a:latin typeface="Arial"/>
              </a:rPr>
              <a:t>Что AI добавил, изменил и сломал — и где сказать «нет».</a:t>
            </a:r>
          </a:p>
        </p:txBody>
      </p:sp>
      <p:sp>
        <p:nvSpPr>
          <p:cNvPr id="8" name="Rounded Rectangle 7"/>
          <p:cNvSpPr/>
          <p:nvPr/>
        </p:nvSpPr>
        <p:spPr>
          <a:xfrm>
            <a:off x="640080" y="5943600"/>
            <a:ext cx="3291840" cy="411480"/>
          </a:xfrm>
          <a:prstGeom prst="roundRect">
            <a:avLst>
              <a:gd name="adj" fmla="val 50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21295C"/>
                </a:solidFill>
                <a:latin typeface="Arial"/>
              </a:rPr>
              <a:t>Лекция 08 · 75 мин · 39 слайдов</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457200"/>
            <a:ext cx="11247120" cy="640080"/>
          </a:xfrm>
          <a:prstGeom prst="rect">
            <a:avLst/>
          </a:prstGeom>
          <a:noFill/>
        </p:spPr>
        <p:txBody>
          <a:bodyPr wrap="square" lIns="0" rIns="0" tIns="0" bIns="0" anchor="t">
            <a:spAutoFit/>
          </a:bodyPr>
          <a:lstStyle/>
          <a:p>
            <a:pPr algn="ctr">
              <a:lnSpc>
                <a:spcPct val="100000"/>
              </a:lnSpc>
            </a:pPr>
            <a:r>
              <a:rPr sz="1800" b="1" i="0">
                <a:solidFill>
                  <a:srgbClr val="028090"/>
                </a:solidFill>
                <a:latin typeface="Arial"/>
              </a:rPr>
              <a:t>ЦЕНТРАЛЬНЫЙ ВОПРОС ЛЕКЦИИ</a:t>
            </a:r>
          </a:p>
        </p:txBody>
      </p:sp>
      <p:sp>
        <p:nvSpPr>
          <p:cNvPr id="3" name="Rounded Rectangle 2"/>
          <p:cNvSpPr/>
          <p:nvPr/>
        </p:nvSpPr>
        <p:spPr>
          <a:xfrm>
            <a:off x="1097280" y="1371600"/>
            <a:ext cx="996696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71600" y="1645920"/>
            <a:ext cx="9418320" cy="3657600"/>
          </a:xfrm>
          <a:prstGeom prst="rect">
            <a:avLst/>
          </a:prstGeom>
          <a:noFill/>
        </p:spPr>
        <p:txBody>
          <a:bodyPr wrap="square" lIns="0" rIns="0" tIns="0" bIns="0" anchor="ctr">
            <a:spAutoFit/>
          </a:bodyPr>
          <a:lstStyle/>
          <a:p>
            <a:pPr algn="l">
              <a:lnSpc>
                <a:spcPct val="130000"/>
              </a:lnSpc>
            </a:pPr>
            <a:r>
              <a:rPr sz="3600" b="1" i="0">
                <a:solidFill>
                  <a:srgbClr val="F0AB00"/>
                </a:solidFill>
                <a:latin typeface="Arial"/>
              </a:rPr>
              <a:t>Что AI сделал </a:t>
            </a:r>
            <a:r>
              <a:rPr sz="3600" b="1" i="0">
                <a:solidFill>
                  <a:srgbClr val="21295C"/>
                </a:solidFill>
                <a:latin typeface="Arial"/>
              </a:rPr>
              <a:t>с креативной индустрией к 2026 —</a:t>
            </a:r>
          </a:p>
          <a:p>
            <a:pPr algn="l">
              <a:lnSpc>
                <a:spcPct val="130000"/>
              </a:lnSpc>
            </a:pPr>
            <a:r>
              <a:rPr sz="3600" b="1" i="0">
                <a:solidFill>
                  <a:srgbClr val="21295C"/>
                </a:solidFill>
                <a:latin typeface="Arial"/>
              </a:rPr>
              <a:t>и где инженеру разумно сказать</a:t>
            </a:r>
          </a:p>
          <a:p>
            <a:pPr algn="l">
              <a:lnSpc>
                <a:spcPct val="130000"/>
              </a:lnSpc>
            </a:pPr>
            <a:r>
              <a:rPr sz="3600" b="1" i="0">
                <a:solidFill>
                  <a:srgbClr val="028090"/>
                </a:solidFill>
                <a:latin typeface="Arial"/>
              </a:rPr>
              <a:t>«здесь AI не нужен»?</a:t>
            </a:r>
          </a:p>
        </p:txBody>
      </p:sp>
      <p:sp>
        <p:nvSpPr>
          <p:cNvPr id="5" name="TextBox 4"/>
          <p:cNvSpPr txBox="1"/>
          <p:nvPr/>
        </p:nvSpPr>
        <p:spPr>
          <a:xfrm>
            <a:off x="502920" y="5760720"/>
            <a:ext cx="11247120" cy="457200"/>
          </a:xfrm>
          <a:prstGeom prst="rect">
            <a:avLst/>
          </a:prstGeom>
          <a:noFill/>
        </p:spPr>
        <p:txBody>
          <a:bodyPr wrap="square" lIns="0" rIns="0" tIns="0" bIns="0" anchor="t">
            <a:spAutoFit/>
          </a:bodyPr>
          <a:lstStyle/>
          <a:p>
            <a:pPr algn="ctr">
              <a:lnSpc>
                <a:spcPct val="115000"/>
              </a:lnSpc>
            </a:pPr>
            <a:r>
              <a:rPr sz="1500" b="0" i="1">
                <a:solidFill>
                  <a:srgbClr val="065A82"/>
                </a:solidFill>
                <a:latin typeface="Arial"/>
              </a:rPr>
              <a:t>Двусоставен по проекту — обе части равно важны.</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Карта лекции — 6 разделов + Q&amp;A</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6 разделов · 75 мин · 1 чек-лист на выходе</a:t>
            </a:r>
          </a:p>
        </p:txBody>
      </p:sp>
      <p:sp>
        <p:nvSpPr>
          <p:cNvPr id="4" name="Rounded Rectangle 3"/>
          <p:cNvSpPr/>
          <p:nvPr/>
        </p:nvSpPr>
        <p:spPr>
          <a:xfrm>
            <a:off x="502920" y="2011680"/>
            <a:ext cx="1737360" cy="3840480"/>
          </a:xfrm>
          <a:prstGeom prst="roundRect">
            <a:avLst>
              <a:gd name="adj" fmla="val 17543"/>
            </a:avLst>
          </a:prstGeom>
          <a:solidFill>
            <a:srgbClr val="F0AB0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02920" y="2286000"/>
            <a:ext cx="1737360" cy="1371600"/>
          </a:xfrm>
          <a:prstGeom prst="rect">
            <a:avLst/>
          </a:prstGeom>
          <a:noFill/>
        </p:spPr>
        <p:txBody>
          <a:bodyPr wrap="square" lIns="0" rIns="0" tIns="0" bIns="0" anchor="t">
            <a:spAutoFit/>
          </a:bodyPr>
          <a:lstStyle/>
          <a:p>
            <a:pPr algn="ctr">
              <a:lnSpc>
                <a:spcPct val="100000"/>
              </a:lnSpc>
            </a:pPr>
            <a:r>
              <a:rPr sz="7200" b="1" i="0">
                <a:solidFill>
                  <a:srgbClr val="FFFFFF"/>
                </a:solidFill>
                <a:latin typeface="Arial"/>
              </a:rPr>
              <a:t>0</a:t>
            </a:r>
          </a:p>
        </p:txBody>
      </p:sp>
      <p:sp>
        <p:nvSpPr>
          <p:cNvPr id="6" name="TextBox 5"/>
          <p:cNvSpPr txBox="1"/>
          <p:nvPr/>
        </p:nvSpPr>
        <p:spPr>
          <a:xfrm>
            <a:off x="594360" y="3840480"/>
            <a:ext cx="1554480" cy="914400"/>
          </a:xfrm>
          <a:prstGeom prst="rect">
            <a:avLst/>
          </a:prstGeom>
          <a:noFill/>
        </p:spPr>
        <p:txBody>
          <a:bodyPr wrap="square" lIns="0" rIns="0" tIns="0" bIns="0" anchor="t">
            <a:spAutoFit/>
          </a:bodyPr>
          <a:lstStyle/>
          <a:p>
            <a:pPr algn="ctr">
              <a:lnSpc>
                <a:spcPct val="120000"/>
              </a:lnSpc>
            </a:pPr>
            <a:r>
              <a:rPr sz="1400" b="1" i="0">
                <a:solidFill>
                  <a:srgbClr val="FFFFFF"/>
                </a:solidFill>
                <a:latin typeface="Arial"/>
              </a:rPr>
              <a:t>Открытие
+ ось лекции</a:t>
            </a:r>
          </a:p>
        </p:txBody>
      </p:sp>
      <p:sp>
        <p:nvSpPr>
          <p:cNvPr id="7" name="TextBox 6"/>
          <p:cNvSpPr txBox="1"/>
          <p:nvPr/>
        </p:nvSpPr>
        <p:spPr>
          <a:xfrm>
            <a:off x="594360" y="4754880"/>
            <a:ext cx="1554480" cy="914400"/>
          </a:xfrm>
          <a:prstGeom prst="rect">
            <a:avLst/>
          </a:prstGeom>
          <a:noFill/>
        </p:spPr>
        <p:txBody>
          <a:bodyPr wrap="square" lIns="0" rIns="0" tIns="0" bIns="0" anchor="t">
            <a:spAutoFit/>
          </a:bodyPr>
          <a:lstStyle/>
          <a:p>
            <a:pPr algn="ctr">
              <a:lnSpc>
                <a:spcPct val="125000"/>
              </a:lnSpc>
            </a:pPr>
            <a:r>
              <a:rPr sz="1000" b="0" i="0">
                <a:solidFill>
                  <a:srgbClr val="FFFFFF"/>
                </a:solidFill>
                <a:latin typeface="Arial"/>
              </a:rPr>
              <a:t>ось 3 времён
+ 3 семейства</a:t>
            </a:r>
          </a:p>
        </p:txBody>
      </p:sp>
      <p:sp>
        <p:nvSpPr>
          <p:cNvPr id="8" name="Rounded Rectangle 7"/>
          <p:cNvSpPr/>
          <p:nvPr/>
        </p:nvSpPr>
        <p:spPr>
          <a:xfrm>
            <a:off x="2404872" y="2011680"/>
            <a:ext cx="1737360" cy="3840480"/>
          </a:xfrm>
          <a:prstGeom prst="roundRect">
            <a:avLst>
              <a:gd name="adj" fmla="val 17543"/>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404872" y="2286000"/>
            <a:ext cx="1737360" cy="1371600"/>
          </a:xfrm>
          <a:prstGeom prst="rect">
            <a:avLst/>
          </a:prstGeom>
          <a:noFill/>
        </p:spPr>
        <p:txBody>
          <a:bodyPr wrap="square" lIns="0" rIns="0" tIns="0" bIns="0" anchor="t">
            <a:spAutoFit/>
          </a:bodyPr>
          <a:lstStyle/>
          <a:p>
            <a:pPr algn="ctr">
              <a:lnSpc>
                <a:spcPct val="100000"/>
              </a:lnSpc>
            </a:pPr>
            <a:r>
              <a:rPr sz="7200" b="1" i="0">
                <a:solidFill>
                  <a:srgbClr val="1C7293"/>
                </a:solidFill>
                <a:latin typeface="Arial"/>
              </a:rPr>
              <a:t>1</a:t>
            </a:r>
          </a:p>
        </p:txBody>
      </p:sp>
      <p:sp>
        <p:nvSpPr>
          <p:cNvPr id="10" name="TextBox 9"/>
          <p:cNvSpPr txBox="1"/>
          <p:nvPr/>
        </p:nvSpPr>
        <p:spPr>
          <a:xfrm>
            <a:off x="2496312" y="3840480"/>
            <a:ext cx="1554480" cy="91440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AI ДОБАВИЛ</a:t>
            </a:r>
          </a:p>
        </p:txBody>
      </p:sp>
      <p:sp>
        <p:nvSpPr>
          <p:cNvPr id="11" name="TextBox 10"/>
          <p:cNvSpPr txBox="1"/>
          <p:nvPr/>
        </p:nvSpPr>
        <p:spPr>
          <a:xfrm>
            <a:off x="2496312" y="4754880"/>
            <a:ext cx="1554480" cy="914400"/>
          </a:xfrm>
          <a:prstGeom prst="rect">
            <a:avLst/>
          </a:prstGeom>
          <a:noFill/>
        </p:spPr>
        <p:txBody>
          <a:bodyPr wrap="square" lIns="0" rIns="0" tIns="0" bIns="0" anchor="t">
            <a:spAutoFit/>
          </a:bodyPr>
          <a:lstStyle/>
          <a:p>
            <a:pPr algn="ctr">
              <a:lnSpc>
                <a:spcPct val="125000"/>
              </a:lnSpc>
            </a:pPr>
            <a:r>
              <a:rPr sz="1000" b="0" i="0">
                <a:solidFill>
                  <a:srgbClr val="6B7685"/>
                </a:solidFill>
                <a:latin typeface="Arial"/>
              </a:rPr>
              <a:t>новые
возможности</a:t>
            </a:r>
          </a:p>
        </p:txBody>
      </p:sp>
      <p:sp>
        <p:nvSpPr>
          <p:cNvPr id="12" name="Rounded Rectangle 11"/>
          <p:cNvSpPr/>
          <p:nvPr/>
        </p:nvSpPr>
        <p:spPr>
          <a:xfrm>
            <a:off x="4306824" y="2011680"/>
            <a:ext cx="1737360" cy="3840480"/>
          </a:xfrm>
          <a:prstGeom prst="roundRect">
            <a:avLst>
              <a:gd name="adj" fmla="val 17543"/>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306824" y="2286000"/>
            <a:ext cx="1737360" cy="1371600"/>
          </a:xfrm>
          <a:prstGeom prst="rect">
            <a:avLst/>
          </a:prstGeom>
          <a:noFill/>
        </p:spPr>
        <p:txBody>
          <a:bodyPr wrap="square" lIns="0" rIns="0" tIns="0" bIns="0" anchor="t">
            <a:spAutoFit/>
          </a:bodyPr>
          <a:lstStyle/>
          <a:p>
            <a:pPr algn="ctr">
              <a:lnSpc>
                <a:spcPct val="100000"/>
              </a:lnSpc>
            </a:pPr>
            <a:r>
              <a:rPr sz="7200" b="1" i="0">
                <a:solidFill>
                  <a:srgbClr val="1C7293"/>
                </a:solidFill>
                <a:latin typeface="Arial"/>
              </a:rPr>
              <a:t>2</a:t>
            </a:r>
          </a:p>
        </p:txBody>
      </p:sp>
      <p:sp>
        <p:nvSpPr>
          <p:cNvPr id="14" name="TextBox 13"/>
          <p:cNvSpPr txBox="1"/>
          <p:nvPr/>
        </p:nvSpPr>
        <p:spPr>
          <a:xfrm>
            <a:off x="4398264" y="3840480"/>
            <a:ext cx="1554480" cy="91440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AI ИЗМЕНИЛ</a:t>
            </a:r>
          </a:p>
        </p:txBody>
      </p:sp>
      <p:sp>
        <p:nvSpPr>
          <p:cNvPr id="15" name="TextBox 14"/>
          <p:cNvSpPr txBox="1"/>
          <p:nvPr/>
        </p:nvSpPr>
        <p:spPr>
          <a:xfrm>
            <a:off x="4398264" y="4754880"/>
            <a:ext cx="1554480" cy="914400"/>
          </a:xfrm>
          <a:prstGeom prst="rect">
            <a:avLst/>
          </a:prstGeom>
          <a:noFill/>
        </p:spPr>
        <p:txBody>
          <a:bodyPr wrap="square" lIns="0" rIns="0" tIns="0" bIns="0" anchor="t">
            <a:spAutoFit/>
          </a:bodyPr>
          <a:lstStyle/>
          <a:p>
            <a:pPr algn="ctr">
              <a:lnSpc>
                <a:spcPct val="125000"/>
              </a:lnSpc>
            </a:pPr>
            <a:r>
              <a:rPr sz="1000" b="0" i="0">
                <a:solidFill>
                  <a:srgbClr val="6B7685"/>
                </a:solidFill>
                <a:latin typeface="Arial"/>
              </a:rPr>
              <a:t>стоимость · скорость
· профессии</a:t>
            </a:r>
          </a:p>
        </p:txBody>
      </p:sp>
      <p:sp>
        <p:nvSpPr>
          <p:cNvPr id="16" name="Rounded Rectangle 15"/>
          <p:cNvSpPr/>
          <p:nvPr/>
        </p:nvSpPr>
        <p:spPr>
          <a:xfrm>
            <a:off x="6208776" y="2011680"/>
            <a:ext cx="1737360" cy="3840480"/>
          </a:xfrm>
          <a:prstGeom prst="roundRect">
            <a:avLst>
              <a:gd name="adj" fmla="val 17543"/>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08776" y="2286000"/>
            <a:ext cx="1737360" cy="1371600"/>
          </a:xfrm>
          <a:prstGeom prst="rect">
            <a:avLst/>
          </a:prstGeom>
          <a:noFill/>
        </p:spPr>
        <p:txBody>
          <a:bodyPr wrap="square" lIns="0" rIns="0" tIns="0" bIns="0" anchor="t">
            <a:spAutoFit/>
          </a:bodyPr>
          <a:lstStyle/>
          <a:p>
            <a:pPr algn="ctr">
              <a:lnSpc>
                <a:spcPct val="100000"/>
              </a:lnSpc>
            </a:pPr>
            <a:r>
              <a:rPr sz="7200" b="1" i="0">
                <a:solidFill>
                  <a:srgbClr val="1C7293"/>
                </a:solidFill>
                <a:latin typeface="Arial"/>
              </a:rPr>
              <a:t>3</a:t>
            </a:r>
          </a:p>
        </p:txBody>
      </p:sp>
      <p:sp>
        <p:nvSpPr>
          <p:cNvPr id="18" name="TextBox 17"/>
          <p:cNvSpPr txBox="1"/>
          <p:nvPr/>
        </p:nvSpPr>
        <p:spPr>
          <a:xfrm>
            <a:off x="6300216" y="3840480"/>
            <a:ext cx="1554480" cy="91440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AI СЛОМАЛ</a:t>
            </a:r>
          </a:p>
        </p:txBody>
      </p:sp>
      <p:sp>
        <p:nvSpPr>
          <p:cNvPr id="19" name="TextBox 18"/>
          <p:cNvSpPr txBox="1"/>
          <p:nvPr/>
        </p:nvSpPr>
        <p:spPr>
          <a:xfrm>
            <a:off x="6300216" y="4754880"/>
            <a:ext cx="1554480" cy="914400"/>
          </a:xfrm>
          <a:prstGeom prst="rect">
            <a:avLst/>
          </a:prstGeom>
          <a:noFill/>
        </p:spPr>
        <p:txBody>
          <a:bodyPr wrap="square" lIns="0" rIns="0" tIns="0" bIns="0" anchor="t">
            <a:spAutoFit/>
          </a:bodyPr>
          <a:lstStyle/>
          <a:p>
            <a:pPr algn="ctr">
              <a:lnSpc>
                <a:spcPct val="125000"/>
              </a:lnSpc>
            </a:pPr>
            <a:r>
              <a:rPr sz="1000" b="0" i="0">
                <a:solidFill>
                  <a:srgbClr val="6B7685"/>
                </a:solidFill>
                <a:latin typeface="Arial"/>
              </a:rPr>
              <a:t>12 кейсов
провалов</a:t>
            </a:r>
          </a:p>
        </p:txBody>
      </p:sp>
      <p:sp>
        <p:nvSpPr>
          <p:cNvPr id="20" name="Rounded Rectangle 19"/>
          <p:cNvSpPr/>
          <p:nvPr/>
        </p:nvSpPr>
        <p:spPr>
          <a:xfrm>
            <a:off x="8110728" y="2011680"/>
            <a:ext cx="1737360" cy="3840480"/>
          </a:xfrm>
          <a:prstGeom prst="roundRect">
            <a:avLst>
              <a:gd name="adj" fmla="val 17543"/>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110728" y="2286000"/>
            <a:ext cx="1737360" cy="1371600"/>
          </a:xfrm>
          <a:prstGeom prst="rect">
            <a:avLst/>
          </a:prstGeom>
          <a:noFill/>
        </p:spPr>
        <p:txBody>
          <a:bodyPr wrap="square" lIns="0" rIns="0" tIns="0" bIns="0" anchor="t">
            <a:spAutoFit/>
          </a:bodyPr>
          <a:lstStyle/>
          <a:p>
            <a:pPr algn="ctr">
              <a:lnSpc>
                <a:spcPct val="100000"/>
              </a:lnSpc>
            </a:pPr>
            <a:r>
              <a:rPr sz="7200" b="1" i="0">
                <a:solidFill>
                  <a:srgbClr val="1C7293"/>
                </a:solidFill>
                <a:latin typeface="Arial"/>
              </a:rPr>
              <a:t>4</a:t>
            </a:r>
          </a:p>
        </p:txBody>
      </p:sp>
      <p:sp>
        <p:nvSpPr>
          <p:cNvPr id="22" name="TextBox 21"/>
          <p:cNvSpPr txBox="1"/>
          <p:nvPr/>
        </p:nvSpPr>
        <p:spPr>
          <a:xfrm>
            <a:off x="8202168" y="3840480"/>
            <a:ext cx="1554480" cy="91440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AI не нужен</a:t>
            </a:r>
          </a:p>
        </p:txBody>
      </p:sp>
      <p:sp>
        <p:nvSpPr>
          <p:cNvPr id="23" name="TextBox 22"/>
          <p:cNvSpPr txBox="1"/>
          <p:nvPr/>
        </p:nvSpPr>
        <p:spPr>
          <a:xfrm>
            <a:off x="8202168" y="4754880"/>
            <a:ext cx="1554480" cy="914400"/>
          </a:xfrm>
          <a:prstGeom prst="rect">
            <a:avLst/>
          </a:prstGeom>
          <a:noFill/>
        </p:spPr>
        <p:txBody>
          <a:bodyPr wrap="square" lIns="0" rIns="0" tIns="0" bIns="0" anchor="t">
            <a:spAutoFit/>
          </a:bodyPr>
          <a:lstStyle/>
          <a:p>
            <a:pPr algn="ctr">
              <a:lnSpc>
                <a:spcPct val="125000"/>
              </a:lnSpc>
            </a:pPr>
            <a:r>
              <a:rPr sz="1000" b="0" i="0">
                <a:solidFill>
                  <a:srgbClr val="6B7685"/>
                </a:solidFill>
                <a:latin typeface="Arial"/>
              </a:rPr>
              <a:t>4 критерия
отказа</a:t>
            </a:r>
          </a:p>
        </p:txBody>
      </p:sp>
      <p:sp>
        <p:nvSpPr>
          <p:cNvPr id="24" name="Rounded Rectangle 23"/>
          <p:cNvSpPr/>
          <p:nvPr/>
        </p:nvSpPr>
        <p:spPr>
          <a:xfrm>
            <a:off x="10012680" y="2011680"/>
            <a:ext cx="1737360" cy="3840480"/>
          </a:xfrm>
          <a:prstGeom prst="roundRect">
            <a:avLst>
              <a:gd name="adj" fmla="val 17543"/>
            </a:avLst>
          </a:prstGeom>
          <a:solidFill>
            <a:srgbClr val="FFFFFF"/>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012680" y="2286000"/>
            <a:ext cx="1737360" cy="1371600"/>
          </a:xfrm>
          <a:prstGeom prst="rect">
            <a:avLst/>
          </a:prstGeom>
          <a:noFill/>
        </p:spPr>
        <p:txBody>
          <a:bodyPr wrap="square" lIns="0" rIns="0" tIns="0" bIns="0" anchor="t">
            <a:spAutoFit/>
          </a:bodyPr>
          <a:lstStyle/>
          <a:p>
            <a:pPr algn="ctr">
              <a:lnSpc>
                <a:spcPct val="100000"/>
              </a:lnSpc>
            </a:pPr>
            <a:r>
              <a:rPr sz="7200" b="1" i="0">
                <a:solidFill>
                  <a:srgbClr val="1C7293"/>
                </a:solidFill>
                <a:latin typeface="Arial"/>
              </a:rPr>
              <a:t>5</a:t>
            </a:r>
          </a:p>
        </p:txBody>
      </p:sp>
      <p:sp>
        <p:nvSpPr>
          <p:cNvPr id="26" name="TextBox 25"/>
          <p:cNvSpPr txBox="1"/>
          <p:nvPr/>
        </p:nvSpPr>
        <p:spPr>
          <a:xfrm>
            <a:off x="10104120" y="3840480"/>
            <a:ext cx="1554480" cy="914400"/>
          </a:xfrm>
          <a:prstGeom prst="rect">
            <a:avLst/>
          </a:prstGeom>
          <a:noFill/>
        </p:spPr>
        <p:txBody>
          <a:bodyPr wrap="square" lIns="0" rIns="0" tIns="0" bIns="0" anchor="t">
            <a:spAutoFit/>
          </a:bodyPr>
          <a:lstStyle/>
          <a:p>
            <a:pPr algn="ctr">
              <a:lnSpc>
                <a:spcPct val="120000"/>
              </a:lnSpc>
            </a:pPr>
            <a:r>
              <a:rPr sz="1400" b="1" i="0">
                <a:solidFill>
                  <a:srgbClr val="21295C"/>
                </a:solidFill>
                <a:latin typeface="Arial"/>
              </a:rPr>
              <a:t>Что делать</a:t>
            </a:r>
          </a:p>
        </p:txBody>
      </p:sp>
      <p:sp>
        <p:nvSpPr>
          <p:cNvPr id="27" name="TextBox 26"/>
          <p:cNvSpPr txBox="1"/>
          <p:nvPr/>
        </p:nvSpPr>
        <p:spPr>
          <a:xfrm>
            <a:off x="10104120" y="4754880"/>
            <a:ext cx="1554480" cy="914400"/>
          </a:xfrm>
          <a:prstGeom prst="rect">
            <a:avLst/>
          </a:prstGeom>
          <a:noFill/>
        </p:spPr>
        <p:txBody>
          <a:bodyPr wrap="square" lIns="0" rIns="0" tIns="0" bIns="0" anchor="t">
            <a:spAutoFit/>
          </a:bodyPr>
          <a:lstStyle/>
          <a:p>
            <a:pPr algn="ctr">
              <a:lnSpc>
                <a:spcPct val="125000"/>
              </a:lnSpc>
            </a:pPr>
            <a:r>
              <a:rPr sz="1000" b="0" i="0">
                <a:solidFill>
                  <a:srgbClr val="6B7685"/>
                </a:solidFill>
                <a:latin typeface="Arial"/>
              </a:rPr>
              <a:t>5-вопросный
чек-лист</a:t>
            </a:r>
          </a:p>
        </p:txBody>
      </p:sp>
      <p:sp>
        <p:nvSpPr>
          <p:cNvPr id="28" name="Rounded Rectangle 27"/>
          <p:cNvSpPr/>
          <p:nvPr/>
        </p:nvSpPr>
        <p:spPr>
          <a:xfrm>
            <a:off x="5029200" y="6126480"/>
            <a:ext cx="2286000" cy="457200"/>
          </a:xfrm>
          <a:prstGeom prst="roundRect">
            <a:avLst>
              <a:gd name="adj" fmla="val 50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400" b="1">
                <a:solidFill>
                  <a:srgbClr val="21295C"/>
                </a:solidFill>
                <a:latin typeface="Arial"/>
              </a:rPr>
              <a:t>+ Q&amp;A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411480"/>
            <a:ext cx="11247120" cy="640080"/>
          </a:xfrm>
          <a:prstGeom prst="rect">
            <a:avLst/>
          </a:prstGeom>
          <a:noFill/>
        </p:spPr>
        <p:txBody>
          <a:bodyPr wrap="square" lIns="0" rIns="0" tIns="0" bIns="0" anchor="t">
            <a:spAutoFit/>
          </a:bodyPr>
          <a:lstStyle/>
          <a:p>
            <a:pPr algn="l">
              <a:lnSpc>
                <a:spcPct val="115000"/>
              </a:lnSpc>
            </a:pPr>
            <a:r>
              <a:rPr sz="4000" b="1" i="0">
                <a:solidFill>
                  <a:srgbClr val="21295C"/>
                </a:solidFill>
                <a:latin typeface="Arial"/>
              </a:rPr>
              <a:t>AI добавил → изменил → сломал</a:t>
            </a:r>
          </a:p>
        </p:txBody>
      </p:sp>
      <p:sp>
        <p:nvSpPr>
          <p:cNvPr id="3" name="TextBox 2"/>
          <p:cNvSpPr txBox="1"/>
          <p:nvPr/>
        </p:nvSpPr>
        <p:spPr>
          <a:xfrm>
            <a:off x="502920" y="1143000"/>
            <a:ext cx="11247120" cy="457200"/>
          </a:xfrm>
          <a:prstGeom prst="rect">
            <a:avLst/>
          </a:prstGeom>
          <a:noFill/>
        </p:spPr>
        <p:txBody>
          <a:bodyPr wrap="square" lIns="0" rIns="0" tIns="0" bIns="0" anchor="t">
            <a:spAutoFit/>
          </a:bodyPr>
          <a:lstStyle/>
          <a:p>
            <a:pPr algn="l">
              <a:lnSpc>
                <a:spcPct val="115000"/>
              </a:lnSpc>
            </a:pPr>
            <a:r>
              <a:rPr sz="1600" b="0" i="1">
                <a:solidFill>
                  <a:srgbClr val="065A82"/>
                </a:solidFill>
                <a:latin typeface="Arial"/>
              </a:rPr>
              <a:t>Три времени одного процесса — каждое поколение творческих инструментов проходит их за месяцы.</a:t>
            </a:r>
          </a:p>
        </p:txBody>
      </p:sp>
      <p:sp>
        <p:nvSpPr>
          <p:cNvPr id="4" name="Rounded Rectangle 3"/>
          <p:cNvSpPr/>
          <p:nvPr/>
        </p:nvSpPr>
        <p:spPr>
          <a:xfrm>
            <a:off x="502920" y="1920240"/>
            <a:ext cx="2286000" cy="132588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2011680"/>
            <a:ext cx="2011680" cy="457200"/>
          </a:xfrm>
          <a:prstGeom prst="rect">
            <a:avLst/>
          </a:prstGeom>
          <a:noFill/>
        </p:spPr>
        <p:txBody>
          <a:bodyPr wrap="square" lIns="0" rIns="0" tIns="0" bIns="0" anchor="t">
            <a:spAutoFit/>
          </a:bodyPr>
          <a:lstStyle/>
          <a:p>
            <a:pPr algn="l">
              <a:lnSpc>
                <a:spcPct val="100000"/>
              </a:lnSpc>
            </a:pPr>
            <a:r>
              <a:rPr sz="2200" b="1" i="0">
                <a:solidFill>
                  <a:srgbClr val="FFFFFF"/>
                </a:solidFill>
                <a:latin typeface="Arial"/>
              </a:rPr>
              <a:t>1</a:t>
            </a:r>
          </a:p>
        </p:txBody>
      </p:sp>
      <p:sp>
        <p:nvSpPr>
          <p:cNvPr id="6" name="TextBox 5"/>
          <p:cNvSpPr txBox="1"/>
          <p:nvPr/>
        </p:nvSpPr>
        <p:spPr>
          <a:xfrm>
            <a:off x="685800" y="2468880"/>
            <a:ext cx="2011680" cy="640080"/>
          </a:xfrm>
          <a:prstGeom prst="rect">
            <a:avLst/>
          </a:prstGeom>
          <a:noFill/>
        </p:spPr>
        <p:txBody>
          <a:bodyPr wrap="square" lIns="0" rIns="0" tIns="0" bIns="0" anchor="t">
            <a:spAutoFit/>
          </a:bodyPr>
          <a:lstStyle/>
          <a:p>
            <a:pPr algn="l">
              <a:lnSpc>
                <a:spcPct val="100000"/>
              </a:lnSpc>
            </a:pPr>
            <a:r>
              <a:rPr sz="2200" b="1" i="0">
                <a:solidFill>
                  <a:srgbClr val="FFFFFF"/>
                </a:solidFill>
                <a:latin typeface="Arial"/>
              </a:rPr>
              <a:t>ДОБАВИЛ</a:t>
            </a:r>
          </a:p>
        </p:txBody>
      </p:sp>
      <p:sp>
        <p:nvSpPr>
          <p:cNvPr id="7" name="Rounded Rectangle 6"/>
          <p:cNvSpPr/>
          <p:nvPr/>
        </p:nvSpPr>
        <p:spPr>
          <a:xfrm>
            <a:off x="2971800" y="1920240"/>
            <a:ext cx="877824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108960" y="2057400"/>
            <a:ext cx="8549640" cy="457200"/>
          </a:xfrm>
          <a:prstGeom prst="rect">
            <a:avLst/>
          </a:prstGeom>
          <a:noFill/>
        </p:spPr>
        <p:txBody>
          <a:bodyPr wrap="square" lIns="0" rIns="0" tIns="0" bIns="0" anchor="t">
            <a:spAutoFit/>
          </a:bodyPr>
          <a:lstStyle/>
          <a:p>
            <a:pPr algn="l">
              <a:lnSpc>
                <a:spcPct val="120000"/>
              </a:lnSpc>
            </a:pPr>
            <a:r>
              <a:rPr sz="1500" b="1" i="0">
                <a:solidFill>
                  <a:srgbClr val="21295C"/>
                </a:solidFill>
                <a:latin typeface="Arial"/>
              </a:rPr>
              <a:t>Новые возможности — то, чего раньше технологически не было.</a:t>
            </a:r>
          </a:p>
        </p:txBody>
      </p:sp>
      <p:sp>
        <p:nvSpPr>
          <p:cNvPr id="9" name="TextBox 8"/>
          <p:cNvSpPr txBox="1"/>
          <p:nvPr/>
        </p:nvSpPr>
        <p:spPr>
          <a:xfrm>
            <a:off x="3108960" y="2514600"/>
            <a:ext cx="8549640" cy="685800"/>
          </a:xfrm>
          <a:prstGeom prst="rect">
            <a:avLst/>
          </a:prstGeom>
          <a:noFill/>
        </p:spPr>
        <p:txBody>
          <a:bodyPr wrap="square" lIns="0" rIns="0" tIns="0" bIns="0" anchor="t">
            <a:spAutoFit/>
          </a:bodyPr>
          <a:lstStyle/>
          <a:p>
            <a:pPr algn="l">
              <a:lnSpc>
                <a:spcPct val="130000"/>
              </a:lnSpc>
            </a:pPr>
            <a:r>
              <a:rPr sz="1200" b="0" i="1">
                <a:solidFill>
                  <a:srgbClr val="6B7685"/>
                </a:solidFill>
                <a:latin typeface="Arial"/>
              </a:rPr>
              <a:t>Sora 2 · 25 сек text-to-video · sync audio. Midjourney Omni Reference. ElevenLabs — клон голоса из 1 мин.</a:t>
            </a:r>
          </a:p>
        </p:txBody>
      </p:sp>
      <p:sp>
        <p:nvSpPr>
          <p:cNvPr id="10" name="Rounded Rectangle 9"/>
          <p:cNvSpPr/>
          <p:nvPr/>
        </p:nvSpPr>
        <p:spPr>
          <a:xfrm>
            <a:off x="502920" y="3383280"/>
            <a:ext cx="2286000" cy="132588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3474720"/>
            <a:ext cx="2011680" cy="457200"/>
          </a:xfrm>
          <a:prstGeom prst="rect">
            <a:avLst/>
          </a:prstGeom>
          <a:noFill/>
        </p:spPr>
        <p:txBody>
          <a:bodyPr wrap="square" lIns="0" rIns="0" tIns="0" bIns="0" anchor="t">
            <a:spAutoFit/>
          </a:bodyPr>
          <a:lstStyle/>
          <a:p>
            <a:pPr algn="l">
              <a:lnSpc>
                <a:spcPct val="100000"/>
              </a:lnSpc>
            </a:pPr>
            <a:r>
              <a:rPr sz="2200" b="1" i="0">
                <a:solidFill>
                  <a:srgbClr val="FFFFFF"/>
                </a:solidFill>
                <a:latin typeface="Arial"/>
              </a:rPr>
              <a:t>2</a:t>
            </a:r>
          </a:p>
        </p:txBody>
      </p:sp>
      <p:sp>
        <p:nvSpPr>
          <p:cNvPr id="12" name="TextBox 11"/>
          <p:cNvSpPr txBox="1"/>
          <p:nvPr/>
        </p:nvSpPr>
        <p:spPr>
          <a:xfrm>
            <a:off x="685800" y="3931920"/>
            <a:ext cx="2011680" cy="640080"/>
          </a:xfrm>
          <a:prstGeom prst="rect">
            <a:avLst/>
          </a:prstGeom>
          <a:noFill/>
        </p:spPr>
        <p:txBody>
          <a:bodyPr wrap="square" lIns="0" rIns="0" tIns="0" bIns="0" anchor="t">
            <a:spAutoFit/>
          </a:bodyPr>
          <a:lstStyle/>
          <a:p>
            <a:pPr algn="l">
              <a:lnSpc>
                <a:spcPct val="100000"/>
              </a:lnSpc>
            </a:pPr>
            <a:r>
              <a:rPr sz="2200" b="1" i="0">
                <a:solidFill>
                  <a:srgbClr val="FFFFFF"/>
                </a:solidFill>
                <a:latin typeface="Arial"/>
              </a:rPr>
              <a:t>ИЗМЕНИЛ</a:t>
            </a:r>
          </a:p>
        </p:txBody>
      </p:sp>
      <p:sp>
        <p:nvSpPr>
          <p:cNvPr id="13" name="Rounded Rectangle 12"/>
          <p:cNvSpPr/>
          <p:nvPr/>
        </p:nvSpPr>
        <p:spPr>
          <a:xfrm>
            <a:off x="2971800" y="3383280"/>
            <a:ext cx="877824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08960" y="3520440"/>
            <a:ext cx="8549640" cy="457200"/>
          </a:xfrm>
          <a:prstGeom prst="rect">
            <a:avLst/>
          </a:prstGeom>
          <a:noFill/>
        </p:spPr>
        <p:txBody>
          <a:bodyPr wrap="square" lIns="0" rIns="0" tIns="0" bIns="0" anchor="t">
            <a:spAutoFit/>
          </a:bodyPr>
          <a:lstStyle/>
          <a:p>
            <a:pPr algn="l">
              <a:lnSpc>
                <a:spcPct val="120000"/>
              </a:lnSpc>
            </a:pPr>
            <a:r>
              <a:rPr sz="1500" b="1" i="0">
                <a:solidFill>
                  <a:srgbClr val="21295C"/>
                </a:solidFill>
                <a:latin typeface="Arial"/>
              </a:rPr>
              <a:t>Стоимость · скорость · профессии — новая экономика креативных индустрий.</a:t>
            </a:r>
          </a:p>
        </p:txBody>
      </p:sp>
      <p:sp>
        <p:nvSpPr>
          <p:cNvPr id="15" name="TextBox 14"/>
          <p:cNvSpPr txBox="1"/>
          <p:nvPr/>
        </p:nvSpPr>
        <p:spPr>
          <a:xfrm>
            <a:off x="3108960" y="3977640"/>
            <a:ext cx="8549640" cy="685800"/>
          </a:xfrm>
          <a:prstGeom prst="rect">
            <a:avLst/>
          </a:prstGeom>
          <a:noFill/>
        </p:spPr>
        <p:txBody>
          <a:bodyPr wrap="square" lIns="0" rIns="0" tIns="0" bIns="0" anchor="t">
            <a:spAutoFit/>
          </a:bodyPr>
          <a:lstStyle/>
          <a:p>
            <a:pPr algn="l">
              <a:lnSpc>
                <a:spcPct val="130000"/>
              </a:lnSpc>
            </a:pPr>
            <a:r>
              <a:rPr sz="1200" b="0" i="1">
                <a:solidFill>
                  <a:srgbClr val="6B7685"/>
                </a:solidFill>
                <a:latin typeface="Arial"/>
              </a:rPr>
              <a:t>Обвал стоимости 100×–10 000× по типам ассетов. Концепт-арт: дни → секунды. Upwork +70% год к году в AI/ML.</a:t>
            </a:r>
          </a:p>
        </p:txBody>
      </p:sp>
      <p:sp>
        <p:nvSpPr>
          <p:cNvPr id="16" name="Rounded Rectangle 15"/>
          <p:cNvSpPr/>
          <p:nvPr/>
        </p:nvSpPr>
        <p:spPr>
          <a:xfrm>
            <a:off x="502920" y="4846320"/>
            <a:ext cx="2286000" cy="1325880"/>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4937759"/>
            <a:ext cx="2011680" cy="457200"/>
          </a:xfrm>
          <a:prstGeom prst="rect">
            <a:avLst/>
          </a:prstGeom>
          <a:noFill/>
        </p:spPr>
        <p:txBody>
          <a:bodyPr wrap="square" lIns="0" rIns="0" tIns="0" bIns="0" anchor="t">
            <a:spAutoFit/>
          </a:bodyPr>
          <a:lstStyle/>
          <a:p>
            <a:pPr algn="l">
              <a:lnSpc>
                <a:spcPct val="100000"/>
              </a:lnSpc>
            </a:pPr>
            <a:r>
              <a:rPr sz="2200" b="1" i="0">
                <a:solidFill>
                  <a:srgbClr val="21295C"/>
                </a:solidFill>
                <a:latin typeface="Arial"/>
              </a:rPr>
              <a:t>3</a:t>
            </a:r>
          </a:p>
        </p:txBody>
      </p:sp>
      <p:sp>
        <p:nvSpPr>
          <p:cNvPr id="18" name="TextBox 17"/>
          <p:cNvSpPr txBox="1"/>
          <p:nvPr/>
        </p:nvSpPr>
        <p:spPr>
          <a:xfrm>
            <a:off x="685800" y="5394959"/>
            <a:ext cx="2011680" cy="640080"/>
          </a:xfrm>
          <a:prstGeom prst="rect">
            <a:avLst/>
          </a:prstGeom>
          <a:noFill/>
        </p:spPr>
        <p:txBody>
          <a:bodyPr wrap="square" lIns="0" rIns="0" tIns="0" bIns="0" anchor="t">
            <a:spAutoFit/>
          </a:bodyPr>
          <a:lstStyle/>
          <a:p>
            <a:pPr algn="l">
              <a:lnSpc>
                <a:spcPct val="100000"/>
              </a:lnSpc>
            </a:pPr>
            <a:r>
              <a:rPr sz="2200" b="1" i="0">
                <a:solidFill>
                  <a:srgbClr val="21295C"/>
                </a:solidFill>
                <a:latin typeface="Arial"/>
              </a:rPr>
              <a:t>СЛОМАЛ</a:t>
            </a:r>
          </a:p>
        </p:txBody>
      </p:sp>
      <p:sp>
        <p:nvSpPr>
          <p:cNvPr id="19" name="Rounded Rectangle 18"/>
          <p:cNvSpPr/>
          <p:nvPr/>
        </p:nvSpPr>
        <p:spPr>
          <a:xfrm>
            <a:off x="2971800" y="4846320"/>
            <a:ext cx="8778240" cy="1325880"/>
          </a:xfrm>
          <a:prstGeom prst="roundRect">
            <a:avLst>
              <a:gd name="adj" fmla="val 2298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108960" y="4983480"/>
            <a:ext cx="8549640" cy="457200"/>
          </a:xfrm>
          <a:prstGeom prst="rect">
            <a:avLst/>
          </a:prstGeom>
          <a:noFill/>
        </p:spPr>
        <p:txBody>
          <a:bodyPr wrap="square" lIns="0" rIns="0" tIns="0" bIns="0" anchor="t">
            <a:spAutoFit/>
          </a:bodyPr>
          <a:lstStyle/>
          <a:p>
            <a:pPr algn="l">
              <a:lnSpc>
                <a:spcPct val="120000"/>
              </a:lnSpc>
            </a:pPr>
            <a:r>
              <a:rPr sz="1500" b="1" i="0">
                <a:solidFill>
                  <a:srgbClr val="21295C"/>
                </a:solidFill>
                <a:latin typeface="Arial"/>
              </a:rPr>
              <a:t>Новый класс провалов и юридического долга.</a:t>
            </a:r>
          </a:p>
        </p:txBody>
      </p:sp>
      <p:sp>
        <p:nvSpPr>
          <p:cNvPr id="21" name="TextBox 20"/>
          <p:cNvSpPr txBox="1"/>
          <p:nvPr/>
        </p:nvSpPr>
        <p:spPr>
          <a:xfrm>
            <a:off x="3108960" y="5440680"/>
            <a:ext cx="8549640" cy="685800"/>
          </a:xfrm>
          <a:prstGeom prst="rect">
            <a:avLst/>
          </a:prstGeom>
          <a:noFill/>
        </p:spPr>
        <p:txBody>
          <a:bodyPr wrap="square" lIns="0" rIns="0" tIns="0" bIns="0" anchor="t">
            <a:spAutoFit/>
          </a:bodyPr>
          <a:lstStyle/>
          <a:p>
            <a:pPr algn="l">
              <a:lnSpc>
                <a:spcPct val="130000"/>
              </a:lnSpc>
            </a:pPr>
            <a:r>
              <a:rPr sz="1200" b="0" i="1">
                <a:solidFill>
                  <a:srgbClr val="6B7685"/>
                </a:solidFill>
                <a:latin typeface="Arial"/>
              </a:rPr>
              <a:t>RIAA против Suno, миллионы Sony. Arup CFO дипфейк $25.6 млн. SI — фейковые авторы. NYT против OpenAI — 20 млн логов.</a:t>
            </a:r>
          </a:p>
        </p:txBody>
      </p:sp>
      <p:sp>
        <p:nvSpPr>
          <p:cNvPr id="22" name="TextBox 21"/>
          <p:cNvSpPr txBox="1"/>
          <p:nvPr/>
        </p:nvSpPr>
        <p:spPr>
          <a:xfrm>
            <a:off x="502920" y="6400800"/>
            <a:ext cx="11247120" cy="320040"/>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Это ось трёх времён одного процесса, не три параллельные категории.</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4008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3 семейства генеративных моделей медиа</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Ментальная модель: каждое семейство → свои фундаментальные ограничения, не зависящие от качества реализации.</a:t>
            </a:r>
          </a:p>
        </p:txBody>
      </p:sp>
      <p:sp>
        <p:nvSpPr>
          <p:cNvPr id="4" name="Rounded Rectangle 3"/>
          <p:cNvSpPr/>
          <p:nvPr/>
        </p:nvSpPr>
        <p:spPr>
          <a:xfrm>
            <a:off x="502920" y="1828800"/>
            <a:ext cx="3627120" cy="4297680"/>
          </a:xfrm>
          <a:prstGeom prst="roundRect">
            <a:avLst>
              <a:gd name="adj" fmla="val 84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0"/>
            <a:ext cx="3627120" cy="50292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920240"/>
            <a:ext cx="3352800" cy="365760"/>
          </a:xfrm>
          <a:prstGeom prst="rect">
            <a:avLst/>
          </a:prstGeom>
          <a:noFill/>
        </p:spPr>
        <p:txBody>
          <a:bodyPr wrap="square" lIns="0" rIns="0" tIns="0" bIns="0" anchor="ctr">
            <a:spAutoFit/>
          </a:bodyPr>
          <a:lstStyle/>
          <a:p>
            <a:pPr algn="l">
              <a:lnSpc>
                <a:spcPct val="100000"/>
              </a:lnSpc>
            </a:pPr>
            <a:r>
              <a:rPr sz="1700" b="1" i="0">
                <a:solidFill>
                  <a:srgbClr val="FFFFFF"/>
                </a:solidFill>
                <a:latin typeface="Arial"/>
              </a:rPr>
              <a:t>1. Диффузионные</a:t>
            </a:r>
          </a:p>
        </p:txBody>
      </p:sp>
      <p:sp>
        <p:nvSpPr>
          <p:cNvPr id="7" name="TextBox 6"/>
          <p:cNvSpPr txBox="1"/>
          <p:nvPr/>
        </p:nvSpPr>
        <p:spPr>
          <a:xfrm>
            <a:off x="667512" y="2514600"/>
            <a:ext cx="3297936" cy="365760"/>
          </a:xfrm>
          <a:prstGeom prst="rect">
            <a:avLst/>
          </a:prstGeom>
          <a:noFill/>
        </p:spPr>
        <p:txBody>
          <a:bodyPr wrap="square" lIns="0" rIns="0" tIns="0" bIns="0" anchor="t">
            <a:spAutoFit/>
          </a:bodyPr>
          <a:lstStyle/>
          <a:p>
            <a:pPr algn="l">
              <a:lnSpc>
                <a:spcPct val="100000"/>
              </a:lnSpc>
            </a:pPr>
            <a:r>
              <a:rPr sz="1000" b="1" i="0">
                <a:solidFill>
                  <a:srgbClr val="028090"/>
                </a:solidFill>
                <a:latin typeface="Arial"/>
              </a:rPr>
              <a:t>ПРИНЦИП</a:t>
            </a:r>
          </a:p>
        </p:txBody>
      </p:sp>
      <p:sp>
        <p:nvSpPr>
          <p:cNvPr id="8" name="TextBox 7"/>
          <p:cNvSpPr txBox="1"/>
          <p:nvPr/>
        </p:nvSpPr>
        <p:spPr>
          <a:xfrm>
            <a:off x="667512" y="2788920"/>
            <a:ext cx="3297936" cy="457200"/>
          </a:xfrm>
          <a:prstGeom prst="rect">
            <a:avLst/>
          </a:prstGeom>
          <a:noFill/>
        </p:spPr>
        <p:txBody>
          <a:bodyPr wrap="square" lIns="0" rIns="0" tIns="0" bIns="0" anchor="t">
            <a:spAutoFit/>
          </a:bodyPr>
          <a:lstStyle/>
          <a:p>
            <a:pPr algn="l">
              <a:lnSpc>
                <a:spcPct val="125000"/>
              </a:lnSpc>
            </a:pPr>
            <a:r>
              <a:rPr sz="1400" b="1" i="1">
                <a:solidFill>
                  <a:srgbClr val="21295C"/>
                </a:solidFill>
                <a:latin typeface="Arial"/>
              </a:rPr>
              <a:t>шум → обращение → изображение</a:t>
            </a:r>
          </a:p>
        </p:txBody>
      </p:sp>
      <p:sp>
        <p:nvSpPr>
          <p:cNvPr id="9" name="TextBox 8"/>
          <p:cNvSpPr txBox="1"/>
          <p:nvPr/>
        </p:nvSpPr>
        <p:spPr>
          <a:xfrm>
            <a:off x="667512" y="3429000"/>
            <a:ext cx="3297936" cy="365760"/>
          </a:xfrm>
          <a:prstGeom prst="rect">
            <a:avLst/>
          </a:prstGeom>
          <a:noFill/>
        </p:spPr>
        <p:txBody>
          <a:bodyPr wrap="square" lIns="0" rIns="0" tIns="0" bIns="0" anchor="t">
            <a:spAutoFit/>
          </a:bodyPr>
          <a:lstStyle/>
          <a:p>
            <a:pPr algn="l">
              <a:lnSpc>
                <a:spcPct val="100000"/>
              </a:lnSpc>
            </a:pPr>
            <a:r>
              <a:rPr sz="1000" b="1" i="0">
                <a:solidFill>
                  <a:srgbClr val="028090"/>
                </a:solidFill>
                <a:latin typeface="Arial"/>
              </a:rPr>
              <a:t>ИНСТРУМЕНТЫ 2026</a:t>
            </a:r>
          </a:p>
        </p:txBody>
      </p:sp>
      <p:sp>
        <p:nvSpPr>
          <p:cNvPr id="10" name="TextBox 9"/>
          <p:cNvSpPr txBox="1"/>
          <p:nvPr/>
        </p:nvSpPr>
        <p:spPr>
          <a:xfrm>
            <a:off x="667512" y="3703320"/>
            <a:ext cx="3297936" cy="1005840"/>
          </a:xfrm>
          <a:prstGeom prst="rect">
            <a:avLst/>
          </a:prstGeom>
          <a:noFill/>
        </p:spPr>
        <p:txBody>
          <a:bodyPr wrap="square" lIns="0" rIns="0" tIns="0" bIns="0" anchor="t">
            <a:spAutoFit/>
          </a:bodyPr>
          <a:lstStyle/>
          <a:p>
            <a:pPr algn="l">
              <a:lnSpc>
                <a:spcPct val="140000"/>
              </a:lnSpc>
            </a:pPr>
            <a:r>
              <a:rPr sz="1200" b="0" i="0">
                <a:solidFill>
                  <a:srgbClr val="6B7685"/>
                </a:solidFill>
                <a:latin typeface="Arial"/>
              </a:rPr>
              <a:t>Stable Diffusion · Midjourney · Flux · DALL-E · Imagen · Adobe Firefly</a:t>
            </a:r>
          </a:p>
        </p:txBody>
      </p:sp>
      <p:sp>
        <p:nvSpPr>
          <p:cNvPr id="11" name="TextBox 10"/>
          <p:cNvSpPr txBox="1"/>
          <p:nvPr/>
        </p:nvSpPr>
        <p:spPr>
          <a:xfrm>
            <a:off x="667512" y="4800600"/>
            <a:ext cx="3297936" cy="365760"/>
          </a:xfrm>
          <a:prstGeom prst="rect">
            <a:avLst/>
          </a:prstGeom>
          <a:noFill/>
        </p:spPr>
        <p:txBody>
          <a:bodyPr wrap="square" lIns="0" rIns="0" tIns="0" bIns="0" anchor="t">
            <a:spAutoFit/>
          </a:bodyPr>
          <a:lstStyle/>
          <a:p>
            <a:pPr algn="l">
              <a:lnSpc>
                <a:spcPct val="100000"/>
              </a:lnSpc>
            </a:pPr>
            <a:r>
              <a:rPr sz="1000" b="1" i="0">
                <a:solidFill>
                  <a:srgbClr val="F0AB00"/>
                </a:solidFill>
                <a:latin typeface="Arial"/>
              </a:rPr>
              <a:t>ИНЖЕНЕРНОЕ СЛЕДСТВИЕ</a:t>
            </a:r>
          </a:p>
        </p:txBody>
      </p:sp>
      <p:sp>
        <p:nvSpPr>
          <p:cNvPr id="12" name="TextBox 11"/>
          <p:cNvSpPr txBox="1"/>
          <p:nvPr/>
        </p:nvSpPr>
        <p:spPr>
          <a:xfrm>
            <a:off x="667512" y="5074920"/>
            <a:ext cx="3297936" cy="960120"/>
          </a:xfrm>
          <a:prstGeom prst="rect">
            <a:avLst/>
          </a:prstGeom>
          <a:noFill/>
        </p:spPr>
        <p:txBody>
          <a:bodyPr wrap="square" lIns="0" rIns="0" tIns="0" bIns="0" anchor="t">
            <a:spAutoFit/>
          </a:bodyPr>
          <a:lstStyle/>
          <a:p>
            <a:pPr algn="l">
              <a:lnSpc>
                <a:spcPct val="130000"/>
              </a:lnSpc>
            </a:pPr>
            <a:r>
              <a:rPr sz="1200" b="1" i="0">
                <a:solidFill>
                  <a:srgbClr val="21295C"/>
                </a:solidFill>
                <a:latin typeface="Arial"/>
              </a:rPr>
              <a:t>«Коммерческая безопасность» зависит от обучающего корпуса, а не от архитектуры.</a:t>
            </a:r>
          </a:p>
        </p:txBody>
      </p:sp>
      <p:sp>
        <p:nvSpPr>
          <p:cNvPr id="13" name="Rounded Rectangle 12"/>
          <p:cNvSpPr/>
          <p:nvPr/>
        </p:nvSpPr>
        <p:spPr>
          <a:xfrm>
            <a:off x="4312920" y="1828800"/>
            <a:ext cx="3627120" cy="4297680"/>
          </a:xfrm>
          <a:prstGeom prst="roundRect">
            <a:avLst>
              <a:gd name="adj" fmla="val 84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312920" y="1828800"/>
            <a:ext cx="3627120" cy="50292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450080" y="1920240"/>
            <a:ext cx="3352800" cy="365760"/>
          </a:xfrm>
          <a:prstGeom prst="rect">
            <a:avLst/>
          </a:prstGeom>
          <a:noFill/>
        </p:spPr>
        <p:txBody>
          <a:bodyPr wrap="square" lIns="0" rIns="0" tIns="0" bIns="0" anchor="ctr">
            <a:spAutoFit/>
          </a:bodyPr>
          <a:lstStyle/>
          <a:p>
            <a:pPr algn="l">
              <a:lnSpc>
                <a:spcPct val="100000"/>
              </a:lnSpc>
            </a:pPr>
            <a:r>
              <a:rPr sz="1700" b="1" i="0">
                <a:solidFill>
                  <a:srgbClr val="FFFFFF"/>
                </a:solidFill>
                <a:latin typeface="Arial"/>
              </a:rPr>
              <a:t>2. Латентные видео-трансформеры</a:t>
            </a:r>
          </a:p>
        </p:txBody>
      </p:sp>
      <p:sp>
        <p:nvSpPr>
          <p:cNvPr id="16" name="TextBox 15"/>
          <p:cNvSpPr txBox="1"/>
          <p:nvPr/>
        </p:nvSpPr>
        <p:spPr>
          <a:xfrm>
            <a:off x="4477512" y="2514600"/>
            <a:ext cx="3297936" cy="365760"/>
          </a:xfrm>
          <a:prstGeom prst="rect">
            <a:avLst/>
          </a:prstGeom>
          <a:noFill/>
        </p:spPr>
        <p:txBody>
          <a:bodyPr wrap="square" lIns="0" rIns="0" tIns="0" bIns="0" anchor="t">
            <a:spAutoFit/>
          </a:bodyPr>
          <a:lstStyle/>
          <a:p>
            <a:pPr algn="l">
              <a:lnSpc>
                <a:spcPct val="100000"/>
              </a:lnSpc>
            </a:pPr>
            <a:r>
              <a:rPr sz="1000" b="1" i="0">
                <a:solidFill>
                  <a:srgbClr val="028090"/>
                </a:solidFill>
                <a:latin typeface="Arial"/>
              </a:rPr>
              <a:t>ПРИНЦИП</a:t>
            </a:r>
          </a:p>
        </p:txBody>
      </p:sp>
      <p:sp>
        <p:nvSpPr>
          <p:cNvPr id="17" name="TextBox 16"/>
          <p:cNvSpPr txBox="1"/>
          <p:nvPr/>
        </p:nvSpPr>
        <p:spPr>
          <a:xfrm>
            <a:off x="4477512" y="2788920"/>
            <a:ext cx="3297936" cy="457200"/>
          </a:xfrm>
          <a:prstGeom prst="rect">
            <a:avLst/>
          </a:prstGeom>
          <a:noFill/>
        </p:spPr>
        <p:txBody>
          <a:bodyPr wrap="square" lIns="0" rIns="0" tIns="0" bIns="0" anchor="t">
            <a:spAutoFit/>
          </a:bodyPr>
          <a:lstStyle/>
          <a:p>
            <a:pPr algn="l">
              <a:lnSpc>
                <a:spcPct val="125000"/>
              </a:lnSpc>
            </a:pPr>
            <a:r>
              <a:rPr sz="1400" b="1" i="1">
                <a:solidFill>
                  <a:srgbClr val="21295C"/>
                </a:solidFill>
                <a:latin typeface="Arial"/>
              </a:rPr>
              <a:t>латентное пространство + временная консистентность</a:t>
            </a:r>
          </a:p>
        </p:txBody>
      </p:sp>
      <p:sp>
        <p:nvSpPr>
          <p:cNvPr id="18" name="TextBox 17"/>
          <p:cNvSpPr txBox="1"/>
          <p:nvPr/>
        </p:nvSpPr>
        <p:spPr>
          <a:xfrm>
            <a:off x="4477512" y="3429000"/>
            <a:ext cx="3297936" cy="365760"/>
          </a:xfrm>
          <a:prstGeom prst="rect">
            <a:avLst/>
          </a:prstGeom>
          <a:noFill/>
        </p:spPr>
        <p:txBody>
          <a:bodyPr wrap="square" lIns="0" rIns="0" tIns="0" bIns="0" anchor="t">
            <a:spAutoFit/>
          </a:bodyPr>
          <a:lstStyle/>
          <a:p>
            <a:pPr algn="l">
              <a:lnSpc>
                <a:spcPct val="100000"/>
              </a:lnSpc>
            </a:pPr>
            <a:r>
              <a:rPr sz="1000" b="1" i="0">
                <a:solidFill>
                  <a:srgbClr val="028090"/>
                </a:solidFill>
                <a:latin typeface="Arial"/>
              </a:rPr>
              <a:t>ИНСТРУМЕНТЫ 2026</a:t>
            </a:r>
          </a:p>
        </p:txBody>
      </p:sp>
      <p:sp>
        <p:nvSpPr>
          <p:cNvPr id="19" name="TextBox 18"/>
          <p:cNvSpPr txBox="1"/>
          <p:nvPr/>
        </p:nvSpPr>
        <p:spPr>
          <a:xfrm>
            <a:off x="4477512" y="3703320"/>
            <a:ext cx="3297936" cy="1005840"/>
          </a:xfrm>
          <a:prstGeom prst="rect">
            <a:avLst/>
          </a:prstGeom>
          <a:noFill/>
        </p:spPr>
        <p:txBody>
          <a:bodyPr wrap="square" lIns="0" rIns="0" tIns="0" bIns="0" anchor="t">
            <a:spAutoFit/>
          </a:bodyPr>
          <a:lstStyle/>
          <a:p>
            <a:pPr algn="l">
              <a:lnSpc>
                <a:spcPct val="140000"/>
              </a:lnSpc>
            </a:pPr>
            <a:r>
              <a:rPr sz="1200" b="0" i="0">
                <a:solidFill>
                  <a:srgbClr val="6B7685"/>
                </a:solidFill>
                <a:latin typeface="Arial"/>
              </a:rPr>
              <a:t>Sora 2 · Veo 3.1 · Runway · Kling 3.0</a:t>
            </a:r>
          </a:p>
        </p:txBody>
      </p:sp>
      <p:sp>
        <p:nvSpPr>
          <p:cNvPr id="20" name="TextBox 19"/>
          <p:cNvSpPr txBox="1"/>
          <p:nvPr/>
        </p:nvSpPr>
        <p:spPr>
          <a:xfrm>
            <a:off x="4477512" y="4800600"/>
            <a:ext cx="3297936" cy="365760"/>
          </a:xfrm>
          <a:prstGeom prst="rect">
            <a:avLst/>
          </a:prstGeom>
          <a:noFill/>
        </p:spPr>
        <p:txBody>
          <a:bodyPr wrap="square" lIns="0" rIns="0" tIns="0" bIns="0" anchor="t">
            <a:spAutoFit/>
          </a:bodyPr>
          <a:lstStyle/>
          <a:p>
            <a:pPr algn="l">
              <a:lnSpc>
                <a:spcPct val="100000"/>
              </a:lnSpc>
            </a:pPr>
            <a:r>
              <a:rPr sz="1000" b="1" i="0">
                <a:solidFill>
                  <a:srgbClr val="F0AB00"/>
                </a:solidFill>
                <a:latin typeface="Arial"/>
              </a:rPr>
              <a:t>ИНЖЕНЕРНОЕ СЛЕДСТВИЕ</a:t>
            </a:r>
          </a:p>
        </p:txBody>
      </p:sp>
      <p:sp>
        <p:nvSpPr>
          <p:cNvPr id="21" name="TextBox 20"/>
          <p:cNvSpPr txBox="1"/>
          <p:nvPr/>
        </p:nvSpPr>
        <p:spPr>
          <a:xfrm>
            <a:off x="4477512" y="5074920"/>
            <a:ext cx="3297936" cy="960120"/>
          </a:xfrm>
          <a:prstGeom prst="rect">
            <a:avLst/>
          </a:prstGeom>
          <a:noFill/>
        </p:spPr>
        <p:txBody>
          <a:bodyPr wrap="square" lIns="0" rIns="0" tIns="0" bIns="0" anchor="t">
            <a:spAutoFit/>
          </a:bodyPr>
          <a:lstStyle/>
          <a:p>
            <a:pPr algn="l">
              <a:lnSpc>
                <a:spcPct val="130000"/>
              </a:lnSpc>
            </a:pPr>
            <a:r>
              <a:rPr sz="1200" b="1" i="0">
                <a:solidFill>
                  <a:srgbClr val="21295C"/>
                </a:solidFill>
                <a:latin typeface="Arial"/>
              </a:rPr>
              <a:t>25-сек предел Sora — стоимость растёт линейно + временной дрейф после ~25 сек.</a:t>
            </a:r>
          </a:p>
        </p:txBody>
      </p:sp>
      <p:sp>
        <p:nvSpPr>
          <p:cNvPr id="22" name="Rounded Rectangle 21"/>
          <p:cNvSpPr/>
          <p:nvPr/>
        </p:nvSpPr>
        <p:spPr>
          <a:xfrm>
            <a:off x="8122920" y="1828800"/>
            <a:ext cx="3627120" cy="4297680"/>
          </a:xfrm>
          <a:prstGeom prst="roundRect">
            <a:avLst>
              <a:gd name="adj" fmla="val 840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8122920" y="1828800"/>
            <a:ext cx="3627120" cy="502920"/>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260080" y="1920240"/>
            <a:ext cx="3352800" cy="365760"/>
          </a:xfrm>
          <a:prstGeom prst="rect">
            <a:avLst/>
          </a:prstGeom>
          <a:noFill/>
        </p:spPr>
        <p:txBody>
          <a:bodyPr wrap="square" lIns="0" rIns="0" tIns="0" bIns="0" anchor="ctr">
            <a:spAutoFit/>
          </a:bodyPr>
          <a:lstStyle/>
          <a:p>
            <a:pPr algn="l">
              <a:lnSpc>
                <a:spcPct val="100000"/>
              </a:lnSpc>
            </a:pPr>
            <a:r>
              <a:rPr sz="1700" b="1" i="0">
                <a:solidFill>
                  <a:srgbClr val="21295C"/>
                </a:solidFill>
                <a:latin typeface="Arial"/>
              </a:rPr>
              <a:t>3. Нейросинтез аудио</a:t>
            </a:r>
          </a:p>
        </p:txBody>
      </p:sp>
      <p:sp>
        <p:nvSpPr>
          <p:cNvPr id="25" name="TextBox 24"/>
          <p:cNvSpPr txBox="1"/>
          <p:nvPr/>
        </p:nvSpPr>
        <p:spPr>
          <a:xfrm>
            <a:off x="8287512" y="2514600"/>
            <a:ext cx="3297936" cy="365760"/>
          </a:xfrm>
          <a:prstGeom prst="rect">
            <a:avLst/>
          </a:prstGeom>
          <a:noFill/>
        </p:spPr>
        <p:txBody>
          <a:bodyPr wrap="square" lIns="0" rIns="0" tIns="0" bIns="0" anchor="t">
            <a:spAutoFit/>
          </a:bodyPr>
          <a:lstStyle/>
          <a:p>
            <a:pPr algn="l">
              <a:lnSpc>
                <a:spcPct val="100000"/>
              </a:lnSpc>
            </a:pPr>
            <a:r>
              <a:rPr sz="1000" b="1" i="0">
                <a:solidFill>
                  <a:srgbClr val="028090"/>
                </a:solidFill>
                <a:latin typeface="Arial"/>
              </a:rPr>
              <a:t>ПРИНЦИП</a:t>
            </a:r>
          </a:p>
        </p:txBody>
      </p:sp>
      <p:sp>
        <p:nvSpPr>
          <p:cNvPr id="26" name="TextBox 25"/>
          <p:cNvSpPr txBox="1"/>
          <p:nvPr/>
        </p:nvSpPr>
        <p:spPr>
          <a:xfrm>
            <a:off x="8287512" y="2788920"/>
            <a:ext cx="3297936" cy="457200"/>
          </a:xfrm>
          <a:prstGeom prst="rect">
            <a:avLst/>
          </a:prstGeom>
          <a:noFill/>
        </p:spPr>
        <p:txBody>
          <a:bodyPr wrap="square" lIns="0" rIns="0" tIns="0" bIns="0" anchor="t">
            <a:spAutoFit/>
          </a:bodyPr>
          <a:lstStyle/>
          <a:p>
            <a:pPr algn="l">
              <a:lnSpc>
                <a:spcPct val="125000"/>
              </a:lnSpc>
            </a:pPr>
            <a:r>
              <a:rPr sz="1400" b="1" i="1">
                <a:solidFill>
                  <a:srgbClr val="21295C"/>
                </a:solidFill>
                <a:latin typeface="Arial"/>
              </a:rPr>
              <a:t>авторегрессионный + диффузия</a:t>
            </a:r>
          </a:p>
        </p:txBody>
      </p:sp>
      <p:sp>
        <p:nvSpPr>
          <p:cNvPr id="27" name="TextBox 26"/>
          <p:cNvSpPr txBox="1"/>
          <p:nvPr/>
        </p:nvSpPr>
        <p:spPr>
          <a:xfrm>
            <a:off x="8287512" y="3429000"/>
            <a:ext cx="3297936" cy="365760"/>
          </a:xfrm>
          <a:prstGeom prst="rect">
            <a:avLst/>
          </a:prstGeom>
          <a:noFill/>
        </p:spPr>
        <p:txBody>
          <a:bodyPr wrap="square" lIns="0" rIns="0" tIns="0" bIns="0" anchor="t">
            <a:spAutoFit/>
          </a:bodyPr>
          <a:lstStyle/>
          <a:p>
            <a:pPr algn="l">
              <a:lnSpc>
                <a:spcPct val="100000"/>
              </a:lnSpc>
            </a:pPr>
            <a:r>
              <a:rPr sz="1000" b="1" i="0">
                <a:solidFill>
                  <a:srgbClr val="028090"/>
                </a:solidFill>
                <a:latin typeface="Arial"/>
              </a:rPr>
              <a:t>ИНСТРУМЕНТЫ 2026</a:t>
            </a:r>
          </a:p>
        </p:txBody>
      </p:sp>
      <p:sp>
        <p:nvSpPr>
          <p:cNvPr id="28" name="TextBox 27"/>
          <p:cNvSpPr txBox="1"/>
          <p:nvPr/>
        </p:nvSpPr>
        <p:spPr>
          <a:xfrm>
            <a:off x="8287512" y="3703320"/>
            <a:ext cx="3297936" cy="1005840"/>
          </a:xfrm>
          <a:prstGeom prst="rect">
            <a:avLst/>
          </a:prstGeom>
          <a:noFill/>
        </p:spPr>
        <p:txBody>
          <a:bodyPr wrap="square" lIns="0" rIns="0" tIns="0" bIns="0" anchor="t">
            <a:spAutoFit/>
          </a:bodyPr>
          <a:lstStyle/>
          <a:p>
            <a:pPr algn="l">
              <a:lnSpc>
                <a:spcPct val="140000"/>
              </a:lnSpc>
            </a:pPr>
            <a:r>
              <a:rPr sz="1200" b="0" i="0">
                <a:solidFill>
                  <a:srgbClr val="6B7685"/>
                </a:solidFill>
                <a:latin typeface="Arial"/>
              </a:rPr>
              <a:t>Suno · Udio · ElevenLabs · Stable Audio</a:t>
            </a:r>
          </a:p>
        </p:txBody>
      </p:sp>
      <p:sp>
        <p:nvSpPr>
          <p:cNvPr id="29" name="TextBox 28"/>
          <p:cNvSpPr txBox="1"/>
          <p:nvPr/>
        </p:nvSpPr>
        <p:spPr>
          <a:xfrm>
            <a:off x="8287512" y="4800600"/>
            <a:ext cx="3297936" cy="365760"/>
          </a:xfrm>
          <a:prstGeom prst="rect">
            <a:avLst/>
          </a:prstGeom>
          <a:noFill/>
        </p:spPr>
        <p:txBody>
          <a:bodyPr wrap="square" lIns="0" rIns="0" tIns="0" bIns="0" anchor="t">
            <a:spAutoFit/>
          </a:bodyPr>
          <a:lstStyle/>
          <a:p>
            <a:pPr algn="l">
              <a:lnSpc>
                <a:spcPct val="100000"/>
              </a:lnSpc>
            </a:pPr>
            <a:r>
              <a:rPr sz="1000" b="1" i="0">
                <a:solidFill>
                  <a:srgbClr val="F0AB00"/>
                </a:solidFill>
                <a:latin typeface="Arial"/>
              </a:rPr>
              <a:t>ИНЖЕНЕРНОЕ СЛЕДСТВИЕ</a:t>
            </a:r>
          </a:p>
        </p:txBody>
      </p:sp>
      <p:sp>
        <p:nvSpPr>
          <p:cNvPr id="30" name="TextBox 29"/>
          <p:cNvSpPr txBox="1"/>
          <p:nvPr/>
        </p:nvSpPr>
        <p:spPr>
          <a:xfrm>
            <a:off x="8287512" y="5074920"/>
            <a:ext cx="3297936" cy="960120"/>
          </a:xfrm>
          <a:prstGeom prst="rect">
            <a:avLst/>
          </a:prstGeom>
          <a:noFill/>
        </p:spPr>
        <p:txBody>
          <a:bodyPr wrap="square" lIns="0" rIns="0" tIns="0" bIns="0" anchor="t">
            <a:spAutoFit/>
          </a:bodyPr>
          <a:lstStyle/>
          <a:p>
            <a:pPr algn="l">
              <a:lnSpc>
                <a:spcPct val="130000"/>
              </a:lnSpc>
            </a:pPr>
            <a:r>
              <a:rPr sz="1200" b="1" i="0">
                <a:solidFill>
                  <a:srgbClr val="21295C"/>
                </a:solidFill>
                <a:latin typeface="Arial"/>
              </a:rPr>
              <a:t>Клон голоса из 1 мин — дообучение предобученной foundation-модели, а не с нуля.</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914400"/>
            <a:ext cx="3657600" cy="4114800"/>
          </a:xfrm>
          <a:prstGeom prst="rect">
            <a:avLst/>
          </a:prstGeom>
          <a:noFill/>
        </p:spPr>
        <p:txBody>
          <a:bodyPr wrap="square" lIns="0" rIns="0" tIns="0" bIns="0" anchor="t">
            <a:spAutoFit/>
          </a:bodyPr>
          <a:lstStyle/>
          <a:p>
            <a:pPr algn="ctr">
              <a:lnSpc>
                <a:spcPct val="100000"/>
              </a:lnSpc>
            </a:pPr>
            <a:r>
              <a:rPr sz="30000" b="1" i="0">
                <a:solidFill>
                  <a:srgbClr val="D9E2EC"/>
                </a:solidFill>
                <a:latin typeface="Arial"/>
              </a:rPr>
              <a:t>1</a:t>
            </a:r>
          </a:p>
        </p:txBody>
      </p:sp>
      <p:sp>
        <p:nvSpPr>
          <p:cNvPr id="3" name="TextBox 2"/>
          <p:cNvSpPr txBox="1"/>
          <p:nvPr/>
        </p:nvSpPr>
        <p:spPr>
          <a:xfrm>
            <a:off x="4297680" y="1463040"/>
            <a:ext cx="7315200" cy="457200"/>
          </a:xfrm>
          <a:prstGeom prst="rect">
            <a:avLst/>
          </a:prstGeom>
          <a:noFill/>
        </p:spPr>
        <p:txBody>
          <a:bodyPr wrap="square" lIns="0" rIns="0" tIns="0" bIns="0" anchor="t">
            <a:spAutoFit/>
          </a:bodyPr>
          <a:lstStyle/>
          <a:p>
            <a:pPr algn="l">
              <a:lnSpc>
                <a:spcPct val="100000"/>
              </a:lnSpc>
            </a:pPr>
            <a:r>
              <a:rPr sz="1800" b="1" i="0">
                <a:solidFill>
                  <a:srgbClr val="028090"/>
                </a:solidFill>
                <a:latin typeface="Arial"/>
              </a:rPr>
              <a:t>РАЗДЕЛ</a:t>
            </a:r>
          </a:p>
        </p:txBody>
      </p:sp>
      <p:sp>
        <p:nvSpPr>
          <p:cNvPr id="4" name="TextBox 3"/>
          <p:cNvSpPr txBox="1"/>
          <p:nvPr/>
        </p:nvSpPr>
        <p:spPr>
          <a:xfrm>
            <a:off x="4297680" y="1965960"/>
            <a:ext cx="7315200" cy="1645920"/>
          </a:xfrm>
          <a:prstGeom prst="rect">
            <a:avLst/>
          </a:prstGeom>
          <a:noFill/>
        </p:spPr>
        <p:txBody>
          <a:bodyPr wrap="square" lIns="0" rIns="0" tIns="0" bIns="0" anchor="t">
            <a:spAutoFit/>
          </a:bodyPr>
          <a:lstStyle/>
          <a:p>
            <a:pPr algn="l">
              <a:lnSpc>
                <a:spcPct val="115000"/>
              </a:lnSpc>
            </a:pPr>
            <a:r>
              <a:rPr sz="4400" b="1" i="0">
                <a:solidFill>
                  <a:srgbClr val="21295C"/>
                </a:solidFill>
                <a:latin typeface="Arial"/>
              </a:rPr>
              <a:t>AI ДОБАВИЛ</a:t>
            </a:r>
          </a:p>
        </p:txBody>
      </p:sp>
      <p:sp>
        <p:nvSpPr>
          <p:cNvPr id="5" name="Rectangle 4"/>
          <p:cNvSpPr/>
          <p:nvPr/>
        </p:nvSpPr>
        <p:spPr>
          <a:xfrm>
            <a:off x="4297680" y="3611880"/>
            <a:ext cx="36576"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434840" y="3611880"/>
            <a:ext cx="7223760" cy="914400"/>
          </a:xfrm>
          <a:prstGeom prst="rect">
            <a:avLst/>
          </a:prstGeom>
          <a:noFill/>
        </p:spPr>
        <p:txBody>
          <a:bodyPr wrap="square" lIns="0" rIns="0" tIns="0" bIns="0" anchor="t">
            <a:spAutoFit/>
          </a:bodyPr>
          <a:lstStyle/>
          <a:p>
            <a:pPr algn="l">
              <a:lnSpc>
                <a:spcPct val="130000"/>
              </a:lnSpc>
            </a:pPr>
            <a:r>
              <a:rPr sz="1600" b="0" i="0">
                <a:solidFill>
                  <a:srgbClr val="065A82"/>
                </a:solidFill>
                <a:latin typeface="Arial"/>
              </a:rPr>
              <a:t>Новые возможности: text-to-video · сохранение персонажа между генерациями · клонирование голоса · модели мира.</a:t>
            </a:r>
          </a:p>
        </p:txBody>
      </p:sp>
      <p:sp>
        <p:nvSpPr>
          <p:cNvPr id="7" name="Rounded Rectangle 6"/>
          <p:cNvSpPr/>
          <p:nvPr/>
        </p:nvSpPr>
        <p:spPr>
          <a:xfrm>
            <a:off x="502920" y="5349240"/>
            <a:ext cx="1783080"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22392"/>
            <a:ext cx="1783080" cy="365760"/>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0</a:t>
            </a:r>
          </a:p>
        </p:txBody>
      </p:sp>
      <p:sp>
        <p:nvSpPr>
          <p:cNvPr id="9" name="TextBox 8"/>
          <p:cNvSpPr txBox="1"/>
          <p:nvPr/>
        </p:nvSpPr>
        <p:spPr>
          <a:xfrm>
            <a:off x="539496" y="5769864"/>
            <a:ext cx="1709928" cy="411479"/>
          </a:xfrm>
          <a:prstGeom prst="rect">
            <a:avLst/>
          </a:prstGeom>
          <a:noFill/>
        </p:spPr>
        <p:txBody>
          <a:bodyPr wrap="square" lIns="0" rIns="0" tIns="0" bIns="0" anchor="t">
            <a:spAutoFit/>
          </a:bodyPr>
          <a:lstStyle/>
          <a:p>
            <a:pPr algn="ctr">
              <a:lnSpc>
                <a:spcPct val="115000"/>
              </a:lnSpc>
            </a:pPr>
            <a:r>
              <a:rPr sz="900" b="0" i="0">
                <a:solidFill>
                  <a:srgbClr val="065A82"/>
                </a:solidFill>
                <a:latin typeface="Arial"/>
              </a:rPr>
              <a:t>Открытие
+ ось лекции</a:t>
            </a:r>
          </a:p>
        </p:txBody>
      </p:sp>
      <p:sp>
        <p:nvSpPr>
          <p:cNvPr id="10" name="Rounded Rectangle 9"/>
          <p:cNvSpPr/>
          <p:nvPr/>
        </p:nvSpPr>
        <p:spPr>
          <a:xfrm>
            <a:off x="2395728" y="5349240"/>
            <a:ext cx="1783080" cy="868680"/>
          </a:xfrm>
          <a:prstGeom prst="roundRect">
            <a:avLst>
              <a:gd name="adj" fmla="val 25000"/>
            </a:avLst>
          </a:prstGeom>
          <a:solidFill>
            <a:srgbClr val="F0AB0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95728" y="5422392"/>
            <a:ext cx="1783080" cy="365760"/>
          </a:xfrm>
          <a:prstGeom prst="rect">
            <a:avLst/>
          </a:prstGeom>
          <a:noFill/>
        </p:spPr>
        <p:txBody>
          <a:bodyPr wrap="square" lIns="0" rIns="0" tIns="0" bIns="0" anchor="t">
            <a:spAutoFit/>
          </a:bodyPr>
          <a:lstStyle/>
          <a:p>
            <a:pPr algn="ctr">
              <a:lnSpc>
                <a:spcPct val="100000"/>
              </a:lnSpc>
            </a:pPr>
            <a:r>
              <a:rPr sz="2200" b="1" i="0">
                <a:solidFill>
                  <a:srgbClr val="FFFFFF"/>
                </a:solidFill>
                <a:latin typeface="Arial"/>
              </a:rPr>
              <a:t>1</a:t>
            </a:r>
          </a:p>
        </p:txBody>
      </p:sp>
      <p:sp>
        <p:nvSpPr>
          <p:cNvPr id="12" name="TextBox 11"/>
          <p:cNvSpPr txBox="1"/>
          <p:nvPr/>
        </p:nvSpPr>
        <p:spPr>
          <a:xfrm>
            <a:off x="2432304" y="5769864"/>
            <a:ext cx="1709928" cy="411479"/>
          </a:xfrm>
          <a:prstGeom prst="rect">
            <a:avLst/>
          </a:prstGeom>
          <a:noFill/>
        </p:spPr>
        <p:txBody>
          <a:bodyPr wrap="square" lIns="0" rIns="0" tIns="0" bIns="0" anchor="t">
            <a:spAutoFit/>
          </a:bodyPr>
          <a:lstStyle/>
          <a:p>
            <a:pPr algn="ctr">
              <a:lnSpc>
                <a:spcPct val="115000"/>
              </a:lnSpc>
            </a:pPr>
            <a:r>
              <a:rPr sz="900" b="1" i="0">
                <a:solidFill>
                  <a:srgbClr val="FFFFFF"/>
                </a:solidFill>
                <a:latin typeface="Arial"/>
              </a:rPr>
              <a:t>AI ДОБАВИЛ</a:t>
            </a:r>
          </a:p>
        </p:txBody>
      </p:sp>
      <p:sp>
        <p:nvSpPr>
          <p:cNvPr id="13" name="Rounded Rectangle 12"/>
          <p:cNvSpPr/>
          <p:nvPr/>
        </p:nvSpPr>
        <p:spPr>
          <a:xfrm>
            <a:off x="4288536" y="5349240"/>
            <a:ext cx="1783080"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88536" y="5422392"/>
            <a:ext cx="1783080" cy="365760"/>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2</a:t>
            </a:r>
          </a:p>
        </p:txBody>
      </p:sp>
      <p:sp>
        <p:nvSpPr>
          <p:cNvPr id="15" name="TextBox 14"/>
          <p:cNvSpPr txBox="1"/>
          <p:nvPr/>
        </p:nvSpPr>
        <p:spPr>
          <a:xfrm>
            <a:off x="4325112" y="5769864"/>
            <a:ext cx="1709928" cy="411479"/>
          </a:xfrm>
          <a:prstGeom prst="rect">
            <a:avLst/>
          </a:prstGeom>
          <a:noFill/>
        </p:spPr>
        <p:txBody>
          <a:bodyPr wrap="square" lIns="0" rIns="0" tIns="0" bIns="0" anchor="t">
            <a:spAutoFit/>
          </a:bodyPr>
          <a:lstStyle/>
          <a:p>
            <a:pPr algn="ctr">
              <a:lnSpc>
                <a:spcPct val="115000"/>
              </a:lnSpc>
            </a:pPr>
            <a:r>
              <a:rPr sz="900" b="0" i="0">
                <a:solidFill>
                  <a:srgbClr val="6B7685"/>
                </a:solidFill>
                <a:latin typeface="Arial"/>
              </a:rPr>
              <a:t>AI ИЗМЕНИЛ</a:t>
            </a:r>
          </a:p>
        </p:txBody>
      </p:sp>
      <p:sp>
        <p:nvSpPr>
          <p:cNvPr id="16" name="Rounded Rectangle 15"/>
          <p:cNvSpPr/>
          <p:nvPr/>
        </p:nvSpPr>
        <p:spPr>
          <a:xfrm>
            <a:off x="6181344" y="5349240"/>
            <a:ext cx="1783080"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81344" y="5422392"/>
            <a:ext cx="1783080" cy="365760"/>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3</a:t>
            </a:r>
          </a:p>
        </p:txBody>
      </p:sp>
      <p:sp>
        <p:nvSpPr>
          <p:cNvPr id="18" name="TextBox 17"/>
          <p:cNvSpPr txBox="1"/>
          <p:nvPr/>
        </p:nvSpPr>
        <p:spPr>
          <a:xfrm>
            <a:off x="6217920" y="5769864"/>
            <a:ext cx="1709928" cy="411479"/>
          </a:xfrm>
          <a:prstGeom prst="rect">
            <a:avLst/>
          </a:prstGeom>
          <a:noFill/>
        </p:spPr>
        <p:txBody>
          <a:bodyPr wrap="square" lIns="0" rIns="0" tIns="0" bIns="0" anchor="t">
            <a:spAutoFit/>
          </a:bodyPr>
          <a:lstStyle/>
          <a:p>
            <a:pPr algn="ctr">
              <a:lnSpc>
                <a:spcPct val="115000"/>
              </a:lnSpc>
            </a:pPr>
            <a:r>
              <a:rPr sz="900" b="0" i="0">
                <a:solidFill>
                  <a:srgbClr val="6B7685"/>
                </a:solidFill>
                <a:latin typeface="Arial"/>
              </a:rPr>
              <a:t>AI СЛОМАЛ</a:t>
            </a:r>
          </a:p>
        </p:txBody>
      </p:sp>
      <p:sp>
        <p:nvSpPr>
          <p:cNvPr id="19" name="Rounded Rectangle 18"/>
          <p:cNvSpPr/>
          <p:nvPr/>
        </p:nvSpPr>
        <p:spPr>
          <a:xfrm>
            <a:off x="8074152" y="5349240"/>
            <a:ext cx="1783080"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74152" y="5422392"/>
            <a:ext cx="1783080" cy="365760"/>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4</a:t>
            </a:r>
          </a:p>
        </p:txBody>
      </p:sp>
      <p:sp>
        <p:nvSpPr>
          <p:cNvPr id="21" name="TextBox 20"/>
          <p:cNvSpPr txBox="1"/>
          <p:nvPr/>
        </p:nvSpPr>
        <p:spPr>
          <a:xfrm>
            <a:off x="8110728" y="5769864"/>
            <a:ext cx="1709928" cy="411479"/>
          </a:xfrm>
          <a:prstGeom prst="rect">
            <a:avLst/>
          </a:prstGeom>
          <a:noFill/>
        </p:spPr>
        <p:txBody>
          <a:bodyPr wrap="square" lIns="0" rIns="0" tIns="0" bIns="0" anchor="t">
            <a:spAutoFit/>
          </a:bodyPr>
          <a:lstStyle/>
          <a:p>
            <a:pPr algn="ctr">
              <a:lnSpc>
                <a:spcPct val="115000"/>
              </a:lnSpc>
            </a:pPr>
            <a:r>
              <a:rPr sz="900" b="0" i="0">
                <a:solidFill>
                  <a:srgbClr val="6B7685"/>
                </a:solidFill>
                <a:latin typeface="Arial"/>
              </a:rPr>
              <a:t>AI не нужен</a:t>
            </a:r>
          </a:p>
        </p:txBody>
      </p:sp>
      <p:sp>
        <p:nvSpPr>
          <p:cNvPr id="22" name="Rounded Rectangle 21"/>
          <p:cNvSpPr/>
          <p:nvPr/>
        </p:nvSpPr>
        <p:spPr>
          <a:xfrm>
            <a:off x="9966960" y="5349240"/>
            <a:ext cx="1783080"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66960" y="5422392"/>
            <a:ext cx="1783080" cy="365760"/>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5</a:t>
            </a:r>
          </a:p>
        </p:txBody>
      </p:sp>
      <p:sp>
        <p:nvSpPr>
          <p:cNvPr id="24" name="TextBox 23"/>
          <p:cNvSpPr txBox="1"/>
          <p:nvPr/>
        </p:nvSpPr>
        <p:spPr>
          <a:xfrm>
            <a:off x="10003536" y="5769864"/>
            <a:ext cx="1709928" cy="411479"/>
          </a:xfrm>
          <a:prstGeom prst="rect">
            <a:avLst/>
          </a:prstGeom>
          <a:noFill/>
        </p:spPr>
        <p:txBody>
          <a:bodyPr wrap="square" lIns="0" rIns="0" tIns="0" bIns="0" anchor="t">
            <a:spAutoFit/>
          </a:bodyPr>
          <a:lstStyle/>
          <a:p>
            <a:pPr algn="ctr">
              <a:lnSpc>
                <a:spcPct val="115000"/>
              </a:lnSpc>
            </a:pPr>
            <a:r>
              <a:rPr sz="900" b="0" i="0">
                <a:solidFill>
                  <a:srgbClr val="6B7685"/>
                </a:solidFill>
                <a:latin typeface="Arial"/>
              </a:rPr>
              <a:t>Что делать</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Text-to-video 2026 — промышленного качества</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3 флагманские модели определяют состояние индустрии</a:t>
            </a:r>
          </a:p>
        </p:txBody>
      </p:sp>
      <p:sp>
        <p:nvSpPr>
          <p:cNvPr id="4" name="Rounded Rectangle 3"/>
          <p:cNvSpPr/>
          <p:nvPr/>
        </p:nvSpPr>
        <p:spPr>
          <a:xfrm>
            <a:off x="502920" y="1828800"/>
            <a:ext cx="2328672" cy="3657600"/>
          </a:xfrm>
          <a:prstGeom prst="roundRect">
            <a:avLst>
              <a:gd name="adj" fmla="val 130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0"/>
            <a:ext cx="2328672" cy="45720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1883664"/>
            <a:ext cx="2109216" cy="365760"/>
          </a:xfrm>
          <a:prstGeom prst="rect">
            <a:avLst/>
          </a:prstGeom>
          <a:noFill/>
        </p:spPr>
        <p:txBody>
          <a:bodyPr wrap="square" lIns="0" rIns="0" tIns="0" bIns="0" anchor="ctr">
            <a:spAutoFit/>
          </a:bodyPr>
          <a:lstStyle/>
          <a:p>
            <a:pPr algn="l">
              <a:lnSpc>
                <a:spcPct val="115000"/>
              </a:lnSpc>
            </a:pPr>
            <a:r>
              <a:rPr sz="1800" b="1" i="0">
                <a:solidFill>
                  <a:srgbClr val="FFFFFF"/>
                </a:solidFill>
                <a:latin typeface="Arial"/>
              </a:rPr>
              <a:t>Sora 2</a:t>
            </a:r>
          </a:p>
        </p:txBody>
      </p:sp>
      <p:sp>
        <p:nvSpPr>
          <p:cNvPr id="7" name="TextBox 6"/>
          <p:cNvSpPr txBox="1"/>
          <p:nvPr/>
        </p:nvSpPr>
        <p:spPr>
          <a:xfrm>
            <a:off x="667512" y="2423160"/>
            <a:ext cx="1999487" cy="365760"/>
          </a:xfrm>
          <a:prstGeom prst="rect">
            <a:avLst/>
          </a:prstGeom>
          <a:noFill/>
        </p:spPr>
        <p:txBody>
          <a:bodyPr wrap="square" lIns="0" rIns="0" tIns="0" bIns="0" anchor="t">
            <a:spAutoFit/>
          </a:bodyPr>
          <a:lstStyle/>
          <a:p>
            <a:pPr algn="l">
              <a:lnSpc>
                <a:spcPct val="115000"/>
              </a:lnSpc>
            </a:pPr>
            <a:r>
              <a:rPr sz="1100" b="1" i="1">
                <a:solidFill>
                  <a:srgbClr val="028090"/>
                </a:solidFill>
                <a:latin typeface="Arial"/>
              </a:rPr>
              <a:t>OpenAI</a:t>
            </a:r>
          </a:p>
        </p:txBody>
      </p:sp>
      <p:sp>
        <p:nvSpPr>
          <p:cNvPr id="8" name="TextBox 7"/>
          <p:cNvSpPr txBox="1"/>
          <p:nvPr/>
        </p:nvSpPr>
        <p:spPr>
          <a:xfrm>
            <a:off x="667512" y="2834640"/>
            <a:ext cx="1999487" cy="914400"/>
          </a:xfrm>
          <a:prstGeom prst="rect">
            <a:avLst/>
          </a:prstGeom>
          <a:noFill/>
        </p:spPr>
        <p:txBody>
          <a:bodyPr wrap="square" lIns="0" rIns="0" tIns="0" bIns="0" anchor="t">
            <a:spAutoFit/>
          </a:bodyPr>
          <a:lstStyle/>
          <a:p>
            <a:pPr algn="l">
              <a:lnSpc>
                <a:spcPct val="135000"/>
              </a:lnSpc>
            </a:pPr>
            <a:r>
              <a:rPr sz="1300" b="1" i="0">
                <a:solidFill>
                  <a:srgbClr val="21295C"/>
                </a:solidFill>
                <a:latin typeface="Arial"/>
              </a:rPr>
              <a:t>25 сек · 1080p · sync audio</a:t>
            </a:r>
          </a:p>
        </p:txBody>
      </p:sp>
      <p:sp>
        <p:nvSpPr>
          <p:cNvPr id="9" name="TextBox 8"/>
          <p:cNvSpPr txBox="1"/>
          <p:nvPr/>
        </p:nvSpPr>
        <p:spPr>
          <a:xfrm>
            <a:off x="667512" y="3840480"/>
            <a:ext cx="1999487" cy="914400"/>
          </a:xfrm>
          <a:prstGeom prst="rect">
            <a:avLst/>
          </a:prstGeom>
          <a:noFill/>
        </p:spPr>
        <p:txBody>
          <a:bodyPr wrap="square" lIns="0" rIns="0" tIns="0" bIns="0" anchor="t">
            <a:spAutoFit/>
          </a:bodyPr>
          <a:lstStyle/>
          <a:p>
            <a:pPr algn="l">
              <a:lnSpc>
                <a:spcPct val="130000"/>
              </a:lnSpc>
            </a:pPr>
            <a:r>
              <a:rPr sz="1300" b="1" i="0">
                <a:solidFill>
                  <a:srgbClr val="F0AB00"/>
                </a:solidFill>
                <a:latin typeface="Arial"/>
              </a:rPr>
              <a:t>$0.10/сек 720p · cameos</a:t>
            </a:r>
          </a:p>
        </p:txBody>
      </p:sp>
      <p:sp>
        <p:nvSpPr>
          <p:cNvPr id="10" name="TextBox 9"/>
          <p:cNvSpPr txBox="1"/>
          <p:nvPr/>
        </p:nvSpPr>
        <p:spPr>
          <a:xfrm>
            <a:off x="667512" y="4754880"/>
            <a:ext cx="1999487" cy="640080"/>
          </a:xfrm>
          <a:prstGeom prst="rect">
            <a:avLst/>
          </a:prstGeom>
          <a:noFill/>
        </p:spPr>
        <p:txBody>
          <a:bodyPr wrap="square" lIns="0" rIns="0" tIns="0" bIns="0" anchor="t">
            <a:spAutoFit/>
          </a:bodyPr>
          <a:lstStyle/>
          <a:p>
            <a:pPr algn="l">
              <a:lnSpc>
                <a:spcPct val="120000"/>
              </a:lnSpc>
            </a:pPr>
            <a:r>
              <a:rPr sz="1000" b="0" i="1">
                <a:solidFill>
                  <a:srgbClr val="6B7685"/>
                </a:solidFill>
                <a:latin typeface="Arial"/>
              </a:rPr>
              <a:t>openai.com/index/sora-2/</a:t>
            </a:r>
          </a:p>
        </p:txBody>
      </p:sp>
      <p:sp>
        <p:nvSpPr>
          <p:cNvPr id="11" name="Rounded Rectangle 10"/>
          <p:cNvSpPr/>
          <p:nvPr/>
        </p:nvSpPr>
        <p:spPr>
          <a:xfrm>
            <a:off x="2996183" y="1828800"/>
            <a:ext cx="2328672" cy="3657600"/>
          </a:xfrm>
          <a:prstGeom prst="roundRect">
            <a:avLst>
              <a:gd name="adj" fmla="val 130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996183" y="1828800"/>
            <a:ext cx="2328672" cy="45720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105912" y="1883664"/>
            <a:ext cx="2109216" cy="365760"/>
          </a:xfrm>
          <a:prstGeom prst="rect">
            <a:avLst/>
          </a:prstGeom>
          <a:noFill/>
        </p:spPr>
        <p:txBody>
          <a:bodyPr wrap="square" lIns="0" rIns="0" tIns="0" bIns="0" anchor="ctr">
            <a:spAutoFit/>
          </a:bodyPr>
          <a:lstStyle/>
          <a:p>
            <a:pPr algn="l">
              <a:lnSpc>
                <a:spcPct val="115000"/>
              </a:lnSpc>
            </a:pPr>
            <a:r>
              <a:rPr sz="1800" b="1" i="0">
                <a:solidFill>
                  <a:srgbClr val="FFFFFF"/>
                </a:solidFill>
                <a:latin typeface="Arial"/>
              </a:rPr>
              <a:t>Veo 3.1</a:t>
            </a:r>
          </a:p>
        </p:txBody>
      </p:sp>
      <p:sp>
        <p:nvSpPr>
          <p:cNvPr id="14" name="TextBox 13"/>
          <p:cNvSpPr txBox="1"/>
          <p:nvPr/>
        </p:nvSpPr>
        <p:spPr>
          <a:xfrm>
            <a:off x="3160776" y="2423160"/>
            <a:ext cx="1999487" cy="365760"/>
          </a:xfrm>
          <a:prstGeom prst="rect">
            <a:avLst/>
          </a:prstGeom>
          <a:noFill/>
        </p:spPr>
        <p:txBody>
          <a:bodyPr wrap="square" lIns="0" rIns="0" tIns="0" bIns="0" anchor="t">
            <a:spAutoFit/>
          </a:bodyPr>
          <a:lstStyle/>
          <a:p>
            <a:pPr algn="l">
              <a:lnSpc>
                <a:spcPct val="115000"/>
              </a:lnSpc>
            </a:pPr>
            <a:r>
              <a:rPr sz="1100" b="1" i="1">
                <a:solidFill>
                  <a:srgbClr val="028090"/>
                </a:solidFill>
                <a:latin typeface="Arial"/>
              </a:rPr>
              <a:t>Google</a:t>
            </a:r>
          </a:p>
        </p:txBody>
      </p:sp>
      <p:sp>
        <p:nvSpPr>
          <p:cNvPr id="15" name="TextBox 14"/>
          <p:cNvSpPr txBox="1"/>
          <p:nvPr/>
        </p:nvSpPr>
        <p:spPr>
          <a:xfrm>
            <a:off x="3160776" y="2834640"/>
            <a:ext cx="1999487" cy="914400"/>
          </a:xfrm>
          <a:prstGeom prst="rect">
            <a:avLst/>
          </a:prstGeom>
          <a:noFill/>
        </p:spPr>
        <p:txBody>
          <a:bodyPr wrap="square" lIns="0" rIns="0" tIns="0" bIns="0" anchor="t">
            <a:spAutoFit/>
          </a:bodyPr>
          <a:lstStyle/>
          <a:p>
            <a:pPr algn="l">
              <a:lnSpc>
                <a:spcPct val="135000"/>
              </a:lnSpc>
            </a:pPr>
            <a:r>
              <a:rPr sz="1300" b="1" i="0">
                <a:solidFill>
                  <a:srgbClr val="21295C"/>
                </a:solidFill>
                <a:latin typeface="Arial"/>
              </a:rPr>
              <a:t>8 сек · 720p/1080p · native audio</a:t>
            </a:r>
          </a:p>
        </p:txBody>
      </p:sp>
      <p:sp>
        <p:nvSpPr>
          <p:cNvPr id="16" name="TextBox 15"/>
          <p:cNvSpPr txBox="1"/>
          <p:nvPr/>
        </p:nvSpPr>
        <p:spPr>
          <a:xfrm>
            <a:off x="3160776" y="3840480"/>
            <a:ext cx="1999487" cy="914400"/>
          </a:xfrm>
          <a:prstGeom prst="rect">
            <a:avLst/>
          </a:prstGeom>
          <a:noFill/>
        </p:spPr>
        <p:txBody>
          <a:bodyPr wrap="square" lIns="0" rIns="0" tIns="0" bIns="0" anchor="t">
            <a:spAutoFit/>
          </a:bodyPr>
          <a:lstStyle/>
          <a:p>
            <a:pPr algn="l">
              <a:lnSpc>
                <a:spcPct val="130000"/>
              </a:lnSpc>
            </a:pPr>
            <a:r>
              <a:rPr sz="1300" b="1" i="0">
                <a:solidFill>
                  <a:srgbClr val="F0AB00"/>
                </a:solidFill>
                <a:latin typeface="Arial"/>
              </a:rPr>
              <a:t>$0.05/сек Lite</a:t>
            </a:r>
          </a:p>
        </p:txBody>
      </p:sp>
      <p:sp>
        <p:nvSpPr>
          <p:cNvPr id="17" name="TextBox 16"/>
          <p:cNvSpPr txBox="1"/>
          <p:nvPr/>
        </p:nvSpPr>
        <p:spPr>
          <a:xfrm>
            <a:off x="3160776" y="4754880"/>
            <a:ext cx="1999487" cy="640080"/>
          </a:xfrm>
          <a:prstGeom prst="rect">
            <a:avLst/>
          </a:prstGeom>
          <a:noFill/>
        </p:spPr>
        <p:txBody>
          <a:bodyPr wrap="square" lIns="0" rIns="0" tIns="0" bIns="0" anchor="t">
            <a:spAutoFit/>
          </a:bodyPr>
          <a:lstStyle/>
          <a:p>
            <a:pPr algn="l">
              <a:lnSpc>
                <a:spcPct val="120000"/>
              </a:lnSpc>
            </a:pPr>
            <a:r>
              <a:rPr sz="1000" b="0" i="1">
                <a:solidFill>
                  <a:srgbClr val="6B7685"/>
                </a:solidFill>
                <a:latin typeface="Arial"/>
              </a:rPr>
              <a:t>Google AI Ultra</a:t>
            </a:r>
          </a:p>
        </p:txBody>
      </p:sp>
      <p:sp>
        <p:nvSpPr>
          <p:cNvPr id="18" name="Rounded Rectangle 17"/>
          <p:cNvSpPr/>
          <p:nvPr/>
        </p:nvSpPr>
        <p:spPr>
          <a:xfrm>
            <a:off x="5489448" y="1828800"/>
            <a:ext cx="2328672" cy="3657600"/>
          </a:xfrm>
          <a:prstGeom prst="roundRect">
            <a:avLst>
              <a:gd name="adj" fmla="val 1308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489448" y="1828800"/>
            <a:ext cx="2328672" cy="457200"/>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599176" y="1883664"/>
            <a:ext cx="2109216" cy="365760"/>
          </a:xfrm>
          <a:prstGeom prst="rect">
            <a:avLst/>
          </a:prstGeom>
          <a:noFill/>
        </p:spPr>
        <p:txBody>
          <a:bodyPr wrap="square" lIns="0" rIns="0" tIns="0" bIns="0" anchor="ctr">
            <a:spAutoFit/>
          </a:bodyPr>
          <a:lstStyle/>
          <a:p>
            <a:pPr algn="l">
              <a:lnSpc>
                <a:spcPct val="115000"/>
              </a:lnSpc>
            </a:pPr>
            <a:r>
              <a:rPr sz="1800" b="1" i="0">
                <a:solidFill>
                  <a:srgbClr val="21295C"/>
                </a:solidFill>
                <a:latin typeface="Arial"/>
              </a:rPr>
              <a:t>Kling 3.0</a:t>
            </a:r>
          </a:p>
        </p:txBody>
      </p:sp>
      <p:sp>
        <p:nvSpPr>
          <p:cNvPr id="21" name="TextBox 20"/>
          <p:cNvSpPr txBox="1"/>
          <p:nvPr/>
        </p:nvSpPr>
        <p:spPr>
          <a:xfrm>
            <a:off x="5654039" y="2423160"/>
            <a:ext cx="1999487" cy="365760"/>
          </a:xfrm>
          <a:prstGeom prst="rect">
            <a:avLst/>
          </a:prstGeom>
          <a:noFill/>
        </p:spPr>
        <p:txBody>
          <a:bodyPr wrap="square" lIns="0" rIns="0" tIns="0" bIns="0" anchor="t">
            <a:spAutoFit/>
          </a:bodyPr>
          <a:lstStyle/>
          <a:p>
            <a:pPr algn="l">
              <a:lnSpc>
                <a:spcPct val="115000"/>
              </a:lnSpc>
            </a:pPr>
            <a:r>
              <a:rPr sz="1100" b="1" i="1">
                <a:solidFill>
                  <a:srgbClr val="028090"/>
                </a:solidFill>
                <a:latin typeface="Arial"/>
              </a:rPr>
              <a:t>Kuaishou</a:t>
            </a:r>
          </a:p>
        </p:txBody>
      </p:sp>
      <p:sp>
        <p:nvSpPr>
          <p:cNvPr id="22" name="TextBox 21"/>
          <p:cNvSpPr txBox="1"/>
          <p:nvPr/>
        </p:nvSpPr>
        <p:spPr>
          <a:xfrm>
            <a:off x="5654039" y="2834640"/>
            <a:ext cx="1999487" cy="914400"/>
          </a:xfrm>
          <a:prstGeom prst="rect">
            <a:avLst/>
          </a:prstGeom>
          <a:noFill/>
        </p:spPr>
        <p:txBody>
          <a:bodyPr wrap="square" lIns="0" rIns="0" tIns="0" bIns="0" anchor="t">
            <a:spAutoFit/>
          </a:bodyPr>
          <a:lstStyle/>
          <a:p>
            <a:pPr algn="l">
              <a:lnSpc>
                <a:spcPct val="135000"/>
              </a:lnSpc>
            </a:pPr>
            <a:r>
              <a:rPr sz="1300" b="1" i="0">
                <a:solidFill>
                  <a:srgbClr val="21295C"/>
                </a:solidFill>
                <a:latin typeface="Arial"/>
              </a:rPr>
              <a:t>15 сек · 4K · 60 fps</a:t>
            </a:r>
          </a:p>
        </p:txBody>
      </p:sp>
      <p:sp>
        <p:nvSpPr>
          <p:cNvPr id="23" name="TextBox 22"/>
          <p:cNvSpPr txBox="1"/>
          <p:nvPr/>
        </p:nvSpPr>
        <p:spPr>
          <a:xfrm>
            <a:off x="5654039" y="3840480"/>
            <a:ext cx="1999487" cy="914400"/>
          </a:xfrm>
          <a:prstGeom prst="rect">
            <a:avLst/>
          </a:prstGeom>
          <a:noFill/>
        </p:spPr>
        <p:txBody>
          <a:bodyPr wrap="square" lIns="0" rIns="0" tIns="0" bIns="0" anchor="t">
            <a:spAutoFit/>
          </a:bodyPr>
          <a:lstStyle/>
          <a:p>
            <a:pPr algn="l">
              <a:lnSpc>
                <a:spcPct val="130000"/>
              </a:lnSpc>
            </a:pPr>
            <a:r>
              <a:rPr sz="1300" b="1" i="0">
                <a:solidFill>
                  <a:srgbClr val="F0AB00"/>
                </a:solidFill>
                <a:latin typeface="Arial"/>
              </a:rPr>
              <a:t>ELO #1 (1243)</a:t>
            </a:r>
          </a:p>
        </p:txBody>
      </p:sp>
      <p:sp>
        <p:nvSpPr>
          <p:cNvPr id="24" name="TextBox 23"/>
          <p:cNvSpPr txBox="1"/>
          <p:nvPr/>
        </p:nvSpPr>
        <p:spPr>
          <a:xfrm>
            <a:off x="5654039" y="4754880"/>
            <a:ext cx="1999487" cy="640080"/>
          </a:xfrm>
          <a:prstGeom prst="rect">
            <a:avLst/>
          </a:prstGeom>
          <a:noFill/>
        </p:spPr>
        <p:txBody>
          <a:bodyPr wrap="square" lIns="0" rIns="0" tIns="0" bIns="0" anchor="t">
            <a:spAutoFit/>
          </a:bodyPr>
          <a:lstStyle/>
          <a:p>
            <a:pPr algn="l">
              <a:lnSpc>
                <a:spcPct val="120000"/>
              </a:lnSpc>
            </a:pPr>
            <a:r>
              <a:rPr sz="1000" b="0" i="1">
                <a:solidFill>
                  <a:srgbClr val="6B7685"/>
                </a:solidFill>
                <a:latin typeface="Arial"/>
              </a:rPr>
              <a:t>5 фев 2026 · 60M creators</a:t>
            </a:r>
          </a:p>
        </p:txBody>
      </p:sp>
      <p:sp>
        <p:nvSpPr>
          <p:cNvPr id="25" name="Rounded Rectangle 24"/>
          <p:cNvSpPr/>
          <p:nvPr/>
        </p:nvSpPr>
        <p:spPr>
          <a:xfrm>
            <a:off x="8001000" y="1828800"/>
            <a:ext cx="384048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83879" y="1920240"/>
            <a:ext cx="3474720" cy="32004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OPENAI SORA · ДЕМО ПРИ ЗАПУСКЕ · YOUTUBE</a:t>
            </a:r>
          </a:p>
        </p:txBody>
      </p:sp>
      <p:pic>
        <p:nvPicPr>
          <p:cNvPr id="27" name="Picture 26" descr="s01-sora-mammoths.png"/>
          <p:cNvPicPr>
            <a:picLocks noChangeAspect="1"/>
          </p:cNvPicPr>
          <p:nvPr/>
        </p:nvPicPr>
        <p:blipFill>
          <a:blip r:embed="rId2"/>
          <a:stretch>
            <a:fillRect/>
          </a:stretch>
        </p:blipFill>
        <p:spPr>
          <a:xfrm>
            <a:off x="8156448" y="2756344"/>
            <a:ext cx="3529584" cy="1985391"/>
          </a:xfrm>
          <a:prstGeom prst="rect">
            <a:avLst/>
          </a:prstGeom>
        </p:spPr>
      </p:pic>
      <p:sp>
        <p:nvSpPr>
          <p:cNvPr id="28" name="TextBox 27"/>
          <p:cNvSpPr txBox="1"/>
          <p:nvPr/>
        </p:nvSpPr>
        <p:spPr>
          <a:xfrm>
            <a:off x="8183879" y="5257800"/>
            <a:ext cx="3474720" cy="274320"/>
          </a:xfrm>
          <a:prstGeom prst="rect">
            <a:avLst/>
          </a:prstGeom>
          <a:noFill/>
        </p:spPr>
        <p:txBody>
          <a:bodyPr wrap="square" lIns="0" rIns="0" tIns="0" bIns="0" anchor="t">
            <a:spAutoFit/>
          </a:bodyPr>
          <a:lstStyle/>
          <a:p>
            <a:pPr algn="l">
              <a:lnSpc>
                <a:spcPct val="115000"/>
              </a:lnSpc>
            </a:pPr>
            <a:r>
              <a:rPr sz="1000" b="0" i="1">
                <a:solidFill>
                  <a:srgbClr val="1C7293"/>
                </a:solidFill>
                <a:latin typeface="Arial"/>
              </a:rPr>
              <a:t>openai.com/index/sora-2/  ·  $0.10/сек</a:t>
            </a:r>
          </a:p>
        </p:txBody>
      </p:sp>
      <p:sp>
        <p:nvSpPr>
          <p:cNvPr id="29" name="Rounded Rectangle 28"/>
          <p:cNvSpPr/>
          <p:nvPr/>
        </p:nvSpPr>
        <p:spPr>
          <a:xfrm>
            <a:off x="502920" y="5669280"/>
            <a:ext cx="11247120" cy="914400"/>
          </a:xfrm>
          <a:prstGeom prst="roundRect">
            <a:avLst>
              <a:gd name="adj" fmla="val 25000"/>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 y="5760720"/>
            <a:ext cx="10917936" cy="292608"/>
          </a:xfrm>
          <a:prstGeom prst="rect">
            <a:avLst/>
          </a:prstGeom>
          <a:noFill/>
        </p:spPr>
        <p:txBody>
          <a:bodyPr wrap="square" lIns="0" rIns="0" tIns="0" bIns="0" anchor="t">
            <a:spAutoFit/>
          </a:bodyPr>
          <a:lstStyle/>
          <a:p>
            <a:pPr algn="l">
              <a:lnSpc>
                <a:spcPct val="100000"/>
              </a:lnSpc>
            </a:pPr>
            <a:r>
              <a:rPr sz="1100" b="1" i="0">
                <a:solidFill>
                  <a:srgbClr val="F0AB00"/>
                </a:solidFill>
                <a:latin typeface="Arial"/>
              </a:rPr>
              <a:t>УРОК ДЛЯ ИНЖЕНЕРА</a:t>
            </a:r>
          </a:p>
        </p:txBody>
      </p:sp>
      <p:sp>
        <p:nvSpPr>
          <p:cNvPr id="31" name="TextBox 30"/>
          <p:cNvSpPr txBox="1"/>
          <p:nvPr/>
        </p:nvSpPr>
        <p:spPr>
          <a:xfrm>
            <a:off x="667512" y="6080760"/>
            <a:ext cx="10917936" cy="411479"/>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Мини-провал: 25 сек — это не фильм. Кинематографический пайплайн собирается из коротких блоков с человеческим руководством (Lionsgate × Runway = усиление, а не замещение).</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Сохранение персонажа: cameos и Omni Reference</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Нарратив из нескольких сцен стал возможен. Без этого AI-видео не работает для истории.</a:t>
            </a:r>
          </a:p>
        </p:txBody>
      </p:sp>
      <p:sp>
        <p:nvSpPr>
          <p:cNvPr id="4" name="Rounded Rectangle 3"/>
          <p:cNvSpPr/>
          <p:nvPr/>
        </p:nvSpPr>
        <p:spPr>
          <a:xfrm>
            <a:off x="502920" y="1828800"/>
            <a:ext cx="5486400" cy="1078992"/>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67512" y="1901952"/>
            <a:ext cx="5157216" cy="292608"/>
          </a:xfrm>
          <a:prstGeom prst="rect">
            <a:avLst/>
          </a:prstGeom>
          <a:noFill/>
        </p:spPr>
        <p:txBody>
          <a:bodyPr wrap="square" lIns="0" rIns="0" tIns="0" bIns="0" anchor="t">
            <a:spAutoFit/>
          </a:bodyPr>
          <a:lstStyle/>
          <a:p>
            <a:pPr algn="l">
              <a:lnSpc>
                <a:spcPct val="100000"/>
              </a:lnSpc>
            </a:pPr>
            <a:r>
              <a:rPr sz="1400" b="1" i="0">
                <a:solidFill>
                  <a:srgbClr val="21295C"/>
                </a:solidFill>
                <a:latin typeface="Arial"/>
              </a:rPr>
              <a:t>Sora 2 cameos</a:t>
            </a:r>
          </a:p>
        </p:txBody>
      </p:sp>
      <p:sp>
        <p:nvSpPr>
          <p:cNvPr id="6" name="TextBox 5"/>
          <p:cNvSpPr txBox="1"/>
          <p:nvPr/>
        </p:nvSpPr>
        <p:spPr>
          <a:xfrm>
            <a:off x="667512" y="2194560"/>
            <a:ext cx="5157216" cy="256032"/>
          </a:xfrm>
          <a:prstGeom prst="rect">
            <a:avLst/>
          </a:prstGeom>
          <a:noFill/>
        </p:spPr>
        <p:txBody>
          <a:bodyPr wrap="square" lIns="0" rIns="0" tIns="0" bIns="0" anchor="t">
            <a:spAutoFit/>
          </a:bodyPr>
          <a:lstStyle/>
          <a:p>
            <a:pPr algn="l">
              <a:lnSpc>
                <a:spcPct val="100000"/>
              </a:lnSpc>
            </a:pPr>
            <a:r>
              <a:rPr sz="1000" b="0" i="1">
                <a:solidFill>
                  <a:srgbClr val="028090"/>
                </a:solidFill>
                <a:latin typeface="Arial"/>
              </a:rPr>
              <a:t>Партнёрство OpenAI + Disney на $1+ млрд</a:t>
            </a:r>
          </a:p>
        </p:txBody>
      </p:sp>
      <p:sp>
        <p:nvSpPr>
          <p:cNvPr id="7" name="TextBox 6"/>
          <p:cNvSpPr txBox="1"/>
          <p:nvPr/>
        </p:nvSpPr>
        <p:spPr>
          <a:xfrm>
            <a:off x="667512" y="2450592"/>
            <a:ext cx="5157216" cy="438912"/>
          </a:xfrm>
          <a:prstGeom prst="rect">
            <a:avLst/>
          </a:prstGeom>
          <a:noFill/>
        </p:spPr>
        <p:txBody>
          <a:bodyPr wrap="square" lIns="0" rIns="0" tIns="0" bIns="0" anchor="t">
            <a:spAutoFit/>
          </a:bodyPr>
          <a:lstStyle/>
          <a:p>
            <a:pPr algn="l">
              <a:lnSpc>
                <a:spcPct val="120000"/>
              </a:lnSpc>
            </a:pPr>
            <a:r>
              <a:rPr sz="1100" b="0" i="0">
                <a:solidFill>
                  <a:srgbClr val="6B7685"/>
                </a:solidFill>
                <a:latin typeface="Arial"/>
              </a:rPr>
              <a:t>Регистрируется персонаж — вызывается по имени в промптах из нескольких сцен.</a:t>
            </a:r>
          </a:p>
        </p:txBody>
      </p:sp>
      <p:sp>
        <p:nvSpPr>
          <p:cNvPr id="8" name="Rounded Rectangle 7"/>
          <p:cNvSpPr/>
          <p:nvPr/>
        </p:nvSpPr>
        <p:spPr>
          <a:xfrm>
            <a:off x="502920" y="2999232"/>
            <a:ext cx="5486400" cy="1078992"/>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67512" y="3072384"/>
            <a:ext cx="5157216" cy="292608"/>
          </a:xfrm>
          <a:prstGeom prst="rect">
            <a:avLst/>
          </a:prstGeom>
          <a:noFill/>
        </p:spPr>
        <p:txBody>
          <a:bodyPr wrap="square" lIns="0" rIns="0" tIns="0" bIns="0" anchor="t">
            <a:spAutoFit/>
          </a:bodyPr>
          <a:lstStyle/>
          <a:p>
            <a:pPr algn="l">
              <a:lnSpc>
                <a:spcPct val="100000"/>
              </a:lnSpc>
            </a:pPr>
            <a:r>
              <a:rPr sz="1400" b="1" i="0">
                <a:solidFill>
                  <a:srgbClr val="21295C"/>
                </a:solidFill>
                <a:latin typeface="Arial"/>
              </a:rPr>
              <a:t>Midjourney Omni Reference (v7)</a:t>
            </a:r>
          </a:p>
        </p:txBody>
      </p:sp>
      <p:sp>
        <p:nvSpPr>
          <p:cNvPr id="10" name="TextBox 9"/>
          <p:cNvSpPr txBox="1"/>
          <p:nvPr/>
        </p:nvSpPr>
        <p:spPr>
          <a:xfrm>
            <a:off x="667512" y="3364992"/>
            <a:ext cx="5157216" cy="256032"/>
          </a:xfrm>
          <a:prstGeom prst="rect">
            <a:avLst/>
          </a:prstGeom>
          <a:noFill/>
        </p:spPr>
        <p:txBody>
          <a:bodyPr wrap="square" lIns="0" rIns="0" tIns="0" bIns="0" anchor="t">
            <a:spAutoFit/>
          </a:bodyPr>
          <a:lstStyle/>
          <a:p>
            <a:pPr algn="l">
              <a:lnSpc>
                <a:spcPct val="100000"/>
              </a:lnSpc>
            </a:pPr>
            <a:r>
              <a:rPr sz="1000" b="0" i="1">
                <a:solidFill>
                  <a:srgbClr val="028090"/>
                </a:solidFill>
                <a:latin typeface="Arial"/>
              </a:rPr>
              <a:t>Точность image-to-image 60% → 85%+</a:t>
            </a:r>
          </a:p>
        </p:txBody>
      </p:sp>
      <p:sp>
        <p:nvSpPr>
          <p:cNvPr id="11" name="TextBox 10"/>
          <p:cNvSpPr txBox="1"/>
          <p:nvPr/>
        </p:nvSpPr>
        <p:spPr>
          <a:xfrm>
            <a:off x="667512" y="3621024"/>
            <a:ext cx="5157216" cy="438912"/>
          </a:xfrm>
          <a:prstGeom prst="rect">
            <a:avLst/>
          </a:prstGeom>
          <a:noFill/>
        </p:spPr>
        <p:txBody>
          <a:bodyPr wrap="square" lIns="0" rIns="0" tIns="0" bIns="0" anchor="t">
            <a:spAutoFit/>
          </a:bodyPr>
          <a:lstStyle/>
          <a:p>
            <a:pPr algn="l">
              <a:lnSpc>
                <a:spcPct val="120000"/>
              </a:lnSpc>
            </a:pPr>
            <a:r>
              <a:rPr sz="1100" b="0" i="0">
                <a:solidFill>
                  <a:srgbClr val="6B7685"/>
                </a:solidFill>
                <a:latin typeface="Arial"/>
              </a:rPr>
              <a:t>Референс-изображение персонажа сохраняет пропорции лица/одежды/посадки.</a:t>
            </a:r>
          </a:p>
        </p:txBody>
      </p:sp>
      <p:sp>
        <p:nvSpPr>
          <p:cNvPr id="12" name="Rounded Rectangle 11"/>
          <p:cNvSpPr/>
          <p:nvPr/>
        </p:nvSpPr>
        <p:spPr>
          <a:xfrm>
            <a:off x="502920" y="4169664"/>
            <a:ext cx="5486400" cy="1078992"/>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67512" y="4242816"/>
            <a:ext cx="5157216" cy="292608"/>
          </a:xfrm>
          <a:prstGeom prst="rect">
            <a:avLst/>
          </a:prstGeom>
          <a:noFill/>
        </p:spPr>
        <p:txBody>
          <a:bodyPr wrap="square" lIns="0" rIns="0" tIns="0" bIns="0" anchor="t">
            <a:spAutoFit/>
          </a:bodyPr>
          <a:lstStyle/>
          <a:p>
            <a:pPr algn="l">
              <a:lnSpc>
                <a:spcPct val="100000"/>
              </a:lnSpc>
            </a:pPr>
            <a:r>
              <a:rPr sz="1400" b="1" i="0">
                <a:solidFill>
                  <a:srgbClr val="21295C"/>
                </a:solidFill>
                <a:latin typeface="Arial"/>
              </a:rPr>
              <a:t>Runway Gen-4 Director Mode</a:t>
            </a:r>
          </a:p>
        </p:txBody>
      </p:sp>
      <p:sp>
        <p:nvSpPr>
          <p:cNvPr id="14" name="TextBox 13"/>
          <p:cNvSpPr txBox="1"/>
          <p:nvPr/>
        </p:nvSpPr>
        <p:spPr>
          <a:xfrm>
            <a:off x="667512" y="4535424"/>
            <a:ext cx="5157216" cy="256032"/>
          </a:xfrm>
          <a:prstGeom prst="rect">
            <a:avLst/>
          </a:prstGeom>
          <a:noFill/>
        </p:spPr>
        <p:txBody>
          <a:bodyPr wrap="square" lIns="0" rIns="0" tIns="0" bIns="0" anchor="t">
            <a:spAutoFit/>
          </a:bodyPr>
          <a:lstStyle/>
          <a:p>
            <a:pPr algn="l">
              <a:lnSpc>
                <a:spcPct val="100000"/>
              </a:lnSpc>
            </a:pPr>
            <a:r>
              <a:rPr sz="1000" b="0" i="1">
                <a:solidFill>
                  <a:srgbClr val="028090"/>
                </a:solidFill>
                <a:latin typeface="Arial"/>
              </a:rPr>
              <a:t>Скриптинг между сценами через структурированные объекты</a:t>
            </a:r>
          </a:p>
        </p:txBody>
      </p:sp>
      <p:sp>
        <p:nvSpPr>
          <p:cNvPr id="15" name="TextBox 14"/>
          <p:cNvSpPr txBox="1"/>
          <p:nvPr/>
        </p:nvSpPr>
        <p:spPr>
          <a:xfrm>
            <a:off x="667512" y="4791456"/>
            <a:ext cx="5157216" cy="438912"/>
          </a:xfrm>
          <a:prstGeom prst="rect">
            <a:avLst/>
          </a:prstGeom>
          <a:noFill/>
        </p:spPr>
        <p:txBody>
          <a:bodyPr wrap="square" lIns="0" rIns="0" tIns="0" bIns="0" anchor="t">
            <a:spAutoFit/>
          </a:bodyPr>
          <a:lstStyle/>
          <a:p>
            <a:pPr algn="l">
              <a:lnSpc>
                <a:spcPct val="120000"/>
              </a:lnSpc>
            </a:pPr>
            <a:r>
              <a:rPr sz="1100" b="0" i="0">
                <a:solidFill>
                  <a:srgbClr val="6B7685"/>
                </a:solidFill>
                <a:latin typeface="Arial"/>
              </a:rPr>
              <a:t>Персонаж + локации + паттерны движения как константы для всех сцен.</a:t>
            </a:r>
          </a:p>
        </p:txBody>
      </p:sp>
      <p:sp>
        <p:nvSpPr>
          <p:cNvPr id="16" name="Rounded Rectangle 15"/>
          <p:cNvSpPr/>
          <p:nvPr/>
        </p:nvSpPr>
        <p:spPr>
          <a:xfrm>
            <a:off x="6400800" y="1828800"/>
            <a:ext cx="5440680" cy="3611880"/>
          </a:xfrm>
          <a:prstGeom prst="roundRect">
            <a:avLst>
              <a:gd name="adj" fmla="val 843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37960" y="1920240"/>
            <a:ext cx="5120640" cy="32004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MIDJOURNEY · РЕФЕРЕНС ПЕРСОНАЖА · «рыцарь в лесу» × «старик»</a:t>
            </a:r>
          </a:p>
        </p:txBody>
      </p:sp>
      <p:pic>
        <p:nvPicPr>
          <p:cNvPr id="18" name="Picture 17" descr="s08-character-grid.png"/>
          <p:cNvPicPr>
            <a:picLocks noChangeAspect="1"/>
          </p:cNvPicPr>
          <p:nvPr/>
        </p:nvPicPr>
        <p:blipFill>
          <a:blip r:embed="rId2"/>
          <a:stretch>
            <a:fillRect/>
          </a:stretch>
        </p:blipFill>
        <p:spPr>
          <a:xfrm>
            <a:off x="6492240" y="2715950"/>
            <a:ext cx="5285232" cy="2157618"/>
          </a:xfrm>
          <a:prstGeom prst="rect">
            <a:avLst/>
          </a:prstGeom>
        </p:spPr>
      </p:pic>
      <p:sp>
        <p:nvSpPr>
          <p:cNvPr id="19" name="Rounded Rectangle 18"/>
          <p:cNvSpPr/>
          <p:nvPr/>
        </p:nvSpPr>
        <p:spPr>
          <a:xfrm>
            <a:off x="502920" y="5532120"/>
            <a:ext cx="11247120" cy="1097280"/>
          </a:xfrm>
          <a:prstGeom prst="roundRect">
            <a:avLst>
              <a:gd name="adj" fmla="val 25000"/>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 y="5623559"/>
            <a:ext cx="10917936" cy="292608"/>
          </a:xfrm>
          <a:prstGeom prst="rect">
            <a:avLst/>
          </a:prstGeom>
          <a:noFill/>
        </p:spPr>
        <p:txBody>
          <a:bodyPr wrap="square" lIns="0" rIns="0" tIns="0" bIns="0" anchor="t">
            <a:spAutoFit/>
          </a:bodyPr>
          <a:lstStyle/>
          <a:p>
            <a:pPr algn="l">
              <a:lnSpc>
                <a:spcPct val="100000"/>
              </a:lnSpc>
            </a:pPr>
            <a:r>
              <a:rPr sz="1100" b="1" i="0">
                <a:solidFill>
                  <a:srgbClr val="F0AB00"/>
                </a:solidFill>
                <a:latin typeface="Arial"/>
              </a:rPr>
              <a:t>УРОК ДЛЯ ИНЖЕНЕРА</a:t>
            </a:r>
          </a:p>
        </p:txBody>
      </p:sp>
      <p:sp>
        <p:nvSpPr>
          <p:cNvPr id="21" name="TextBox 20"/>
          <p:cNvSpPr txBox="1"/>
          <p:nvPr/>
        </p:nvSpPr>
        <p:spPr>
          <a:xfrm>
            <a:off x="667512" y="5943600"/>
            <a:ext cx="10917936" cy="594359"/>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Дрейф между сценами проявляется после 5-10 сцен. Континьюити-супервайзер — новая профессия в творческом пайплайне.</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Клонирование голоса + дубляж на несколько языков</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ElevenLabs: клон голоса из 1 мин аудио → 32+ языков. Промышленное применение в корпоративном секторе.</a:t>
            </a:r>
          </a:p>
        </p:txBody>
      </p:sp>
      <p:sp>
        <p:nvSpPr>
          <p:cNvPr id="4" name="Rounded Rectangle 3"/>
          <p:cNvSpPr/>
          <p:nvPr/>
        </p:nvSpPr>
        <p:spPr>
          <a:xfrm>
            <a:off x="502920" y="1828800"/>
            <a:ext cx="548640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20240"/>
            <a:ext cx="5120640" cy="320040"/>
          </a:xfrm>
          <a:prstGeom prst="rect">
            <a:avLst/>
          </a:prstGeom>
          <a:noFill/>
        </p:spPr>
        <p:txBody>
          <a:bodyPr wrap="square" lIns="0" rIns="0" tIns="0" bIns="0" anchor="t">
            <a:spAutoFit/>
          </a:bodyPr>
          <a:lstStyle/>
          <a:p>
            <a:pPr algn="l">
              <a:lnSpc>
                <a:spcPct val="115000"/>
              </a:lnSpc>
            </a:pPr>
            <a:r>
              <a:rPr sz="1200" b="1" i="0">
                <a:solidFill>
                  <a:srgbClr val="028090"/>
                </a:solidFill>
                <a:latin typeface="Arial"/>
              </a:rPr>
              <a:t>ELEVENLABS · ОФИЦИАЛЬНО · elevenlabs.io</a:t>
            </a:r>
          </a:p>
        </p:txBody>
      </p:sp>
      <p:pic>
        <p:nvPicPr>
          <p:cNvPr id="6" name="Picture 5" descr="s09-elevenlabs.png"/>
          <p:cNvPicPr>
            <a:picLocks noChangeAspect="1"/>
          </p:cNvPicPr>
          <p:nvPr/>
        </p:nvPicPr>
        <p:blipFill>
          <a:blip r:embed="rId2"/>
          <a:stretch>
            <a:fillRect/>
          </a:stretch>
        </p:blipFill>
        <p:spPr>
          <a:xfrm>
            <a:off x="1417319" y="2240280"/>
            <a:ext cx="3657600" cy="1920240"/>
          </a:xfrm>
          <a:prstGeom prst="rect">
            <a:avLst/>
          </a:prstGeom>
        </p:spPr>
      </p:pic>
      <p:sp>
        <p:nvSpPr>
          <p:cNvPr id="7" name="Rounded Rectangle 6"/>
          <p:cNvSpPr/>
          <p:nvPr/>
        </p:nvSpPr>
        <p:spPr>
          <a:xfrm>
            <a:off x="685800" y="4251960"/>
            <a:ext cx="5120640" cy="256032"/>
          </a:xfrm>
          <a:prstGeom prst="roundRect">
            <a:avLst>
              <a:gd name="adj" fmla="val 20000"/>
            </a:avLst>
          </a:prstGeom>
          <a:solidFill>
            <a:srgbClr val="F4F7FA"/>
          </a:solidFill>
          <a:ln w="63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49808" y="4297680"/>
            <a:ext cx="164592" cy="16459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005840" y="4251960"/>
            <a:ext cx="4754880" cy="256032"/>
          </a:xfrm>
          <a:prstGeom prst="rect">
            <a:avLst/>
          </a:prstGeom>
          <a:noFill/>
        </p:spPr>
        <p:txBody>
          <a:bodyPr wrap="square" lIns="0" rIns="0" tIns="0" bIns="0" anchor="ctr">
            <a:spAutoFit/>
          </a:bodyPr>
          <a:lstStyle/>
          <a:p>
            <a:pPr algn="l">
              <a:lnSpc>
                <a:spcPct val="100000"/>
              </a:lnSpc>
            </a:pPr>
            <a:r>
              <a:rPr sz="1000" b="0" i="0">
                <a:solidFill>
                  <a:srgbClr val="21295C"/>
                </a:solidFill>
                <a:latin typeface="Arial"/>
              </a:rPr>
              <a:t>Голос 1  ·  Многоязычный · выразительный</a:t>
            </a:r>
          </a:p>
        </p:txBody>
      </p:sp>
      <p:sp>
        <p:nvSpPr>
          <p:cNvPr id="10" name="Rounded Rectangle 9"/>
          <p:cNvSpPr/>
          <p:nvPr/>
        </p:nvSpPr>
        <p:spPr>
          <a:xfrm>
            <a:off x="685800" y="4544568"/>
            <a:ext cx="5120640" cy="256032"/>
          </a:xfrm>
          <a:prstGeom prst="roundRect">
            <a:avLst>
              <a:gd name="adj" fmla="val 20000"/>
            </a:avLst>
          </a:prstGeom>
          <a:solidFill>
            <a:srgbClr val="F4F7FA"/>
          </a:solidFill>
          <a:ln w="63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749808" y="4590288"/>
            <a:ext cx="164592" cy="164592"/>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4544568"/>
            <a:ext cx="4754880" cy="256032"/>
          </a:xfrm>
          <a:prstGeom prst="rect">
            <a:avLst/>
          </a:prstGeom>
          <a:noFill/>
        </p:spPr>
        <p:txBody>
          <a:bodyPr wrap="square" lIns="0" rIns="0" tIns="0" bIns="0" anchor="ctr">
            <a:spAutoFit/>
          </a:bodyPr>
          <a:lstStyle/>
          <a:p>
            <a:pPr algn="l">
              <a:lnSpc>
                <a:spcPct val="100000"/>
              </a:lnSpc>
            </a:pPr>
            <a:r>
              <a:rPr sz="1000" b="0" i="0">
                <a:solidFill>
                  <a:srgbClr val="21295C"/>
                </a:solidFill>
                <a:latin typeface="Arial"/>
              </a:rPr>
              <a:t>Голос 2  ·  Russian · neutral</a:t>
            </a:r>
          </a:p>
        </p:txBody>
      </p:sp>
      <p:sp>
        <p:nvSpPr>
          <p:cNvPr id="13" name="Rounded Rectangle 12"/>
          <p:cNvSpPr/>
          <p:nvPr/>
        </p:nvSpPr>
        <p:spPr>
          <a:xfrm>
            <a:off x="685800" y="4837176"/>
            <a:ext cx="5120640" cy="256032"/>
          </a:xfrm>
          <a:prstGeom prst="roundRect">
            <a:avLst>
              <a:gd name="adj" fmla="val 20000"/>
            </a:avLst>
          </a:prstGeom>
          <a:solidFill>
            <a:srgbClr val="F4F7FA"/>
          </a:solidFill>
          <a:ln w="63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749808" y="4882896"/>
            <a:ext cx="164592" cy="164592"/>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837176"/>
            <a:ext cx="4754880" cy="256032"/>
          </a:xfrm>
          <a:prstGeom prst="rect">
            <a:avLst/>
          </a:prstGeom>
          <a:noFill/>
        </p:spPr>
        <p:txBody>
          <a:bodyPr wrap="square" lIns="0" rIns="0" tIns="0" bIns="0" anchor="ctr">
            <a:spAutoFit/>
          </a:bodyPr>
          <a:lstStyle/>
          <a:p>
            <a:pPr algn="l">
              <a:lnSpc>
                <a:spcPct val="100000"/>
              </a:lnSpc>
            </a:pPr>
            <a:r>
              <a:rPr sz="1000" b="0" i="0">
                <a:solidFill>
                  <a:srgbClr val="21295C"/>
                </a:solidFill>
                <a:latin typeface="Arial"/>
              </a:rPr>
              <a:t>Голос 3  ·  EN-UK · narrator</a:t>
            </a:r>
          </a:p>
        </p:txBody>
      </p:sp>
      <p:sp>
        <p:nvSpPr>
          <p:cNvPr id="16" name="Rounded Rectangle 15"/>
          <p:cNvSpPr/>
          <p:nvPr/>
        </p:nvSpPr>
        <p:spPr>
          <a:xfrm>
            <a:off x="685800" y="5129784"/>
            <a:ext cx="5120640" cy="256032"/>
          </a:xfrm>
          <a:prstGeom prst="roundRect">
            <a:avLst>
              <a:gd name="adj" fmla="val 20000"/>
            </a:avLst>
          </a:prstGeom>
          <a:solidFill>
            <a:srgbClr val="F4F7FA"/>
          </a:solidFill>
          <a:ln w="63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49808" y="5175504"/>
            <a:ext cx="164592" cy="16459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05840" y="5129784"/>
            <a:ext cx="4754880" cy="256032"/>
          </a:xfrm>
          <a:prstGeom prst="rect">
            <a:avLst/>
          </a:prstGeom>
          <a:noFill/>
        </p:spPr>
        <p:txBody>
          <a:bodyPr wrap="square" lIns="0" rIns="0" tIns="0" bIns="0" anchor="ctr">
            <a:spAutoFit/>
          </a:bodyPr>
          <a:lstStyle/>
          <a:p>
            <a:pPr algn="l">
              <a:lnSpc>
                <a:spcPct val="100000"/>
              </a:lnSpc>
            </a:pPr>
            <a:r>
              <a:rPr sz="1000" b="0" i="0">
                <a:solidFill>
                  <a:srgbClr val="21295C"/>
                </a:solidFill>
                <a:latin typeface="Arial"/>
              </a:rPr>
              <a:t>Голос 4  ·  ScarJo-like soundalike</a:t>
            </a:r>
          </a:p>
        </p:txBody>
      </p:sp>
      <p:sp>
        <p:nvSpPr>
          <p:cNvPr id="19" name="Rounded Rectangle 18"/>
          <p:cNvSpPr/>
          <p:nvPr/>
        </p:nvSpPr>
        <p:spPr>
          <a:xfrm>
            <a:off x="6263640" y="1828800"/>
            <a:ext cx="5577840" cy="1645920"/>
          </a:xfrm>
          <a:prstGeom prst="roundRect">
            <a:avLst>
              <a:gd name="adj" fmla="val 18518"/>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46520" y="1965960"/>
            <a:ext cx="5212080" cy="365760"/>
          </a:xfrm>
          <a:prstGeom prst="rect">
            <a:avLst/>
          </a:prstGeom>
          <a:noFill/>
        </p:spPr>
        <p:txBody>
          <a:bodyPr wrap="square" lIns="0" rIns="0" tIns="0" bIns="0" anchor="t">
            <a:spAutoFit/>
          </a:bodyPr>
          <a:lstStyle/>
          <a:p>
            <a:pPr algn="l">
              <a:lnSpc>
                <a:spcPct val="115000"/>
              </a:lnSpc>
            </a:pPr>
            <a:r>
              <a:rPr sz="1200" b="1" i="0">
                <a:solidFill>
                  <a:srgbClr val="028090"/>
                </a:solidFill>
                <a:latin typeface="Arial"/>
              </a:rPr>
              <a:t>ОБВАЛ СТОИМОСТИ: дубляж на язык</a:t>
            </a:r>
          </a:p>
        </p:txBody>
      </p:sp>
      <p:sp>
        <p:nvSpPr>
          <p:cNvPr id="21" name="TextBox 20"/>
          <p:cNvSpPr txBox="1"/>
          <p:nvPr/>
        </p:nvSpPr>
        <p:spPr>
          <a:xfrm>
            <a:off x="6446520" y="2377440"/>
            <a:ext cx="5212080" cy="731520"/>
          </a:xfrm>
          <a:prstGeom prst="rect">
            <a:avLst/>
          </a:prstGeom>
          <a:noFill/>
        </p:spPr>
        <p:txBody>
          <a:bodyPr wrap="square" lIns="0" rIns="0" tIns="0" bIns="0" anchor="t">
            <a:spAutoFit/>
          </a:bodyPr>
          <a:lstStyle/>
          <a:p>
            <a:pPr algn="l">
              <a:lnSpc>
                <a:spcPct val="110000"/>
              </a:lnSpc>
            </a:pPr>
            <a:r>
              <a:rPr sz="2400" b="1" i="1">
                <a:solidFill>
                  <a:srgbClr val="6B7685"/>
                </a:solidFill>
                <a:latin typeface="Arial"/>
              </a:rPr>
              <a:t>$50-500</a:t>
            </a:r>
            <a:r>
              <a:rPr sz="2600" b="1" i="0">
                <a:solidFill>
                  <a:srgbClr val="21295C"/>
                </a:solidFill>
                <a:latin typeface="Arial"/>
              </a:rPr>
              <a:t>  →  </a:t>
            </a:r>
            <a:r>
              <a:rPr sz="3200" b="1" i="0">
                <a:solidFill>
                  <a:srgbClr val="F0AB00"/>
                </a:solidFill>
                <a:latin typeface="Arial"/>
              </a:rPr>
              <a:t>&lt;$1</a:t>
            </a:r>
            <a:r>
              <a:rPr sz="1800" b="1" i="0">
                <a:solidFill>
                  <a:srgbClr val="21295C"/>
                </a:solidFill>
                <a:latin typeface="Arial"/>
              </a:rPr>
              <a:t>  /мин</a:t>
            </a:r>
          </a:p>
        </p:txBody>
      </p:sp>
      <p:sp>
        <p:nvSpPr>
          <p:cNvPr id="22" name="TextBox 21"/>
          <p:cNvSpPr txBox="1"/>
          <p:nvPr/>
        </p:nvSpPr>
        <p:spPr>
          <a:xfrm>
            <a:off x="6446520" y="3108960"/>
            <a:ext cx="5212080" cy="32004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Длинный формат: недели → минуты (Dubbing Studio, 29 языков)</a:t>
            </a:r>
          </a:p>
        </p:txBody>
      </p:sp>
      <p:sp>
        <p:nvSpPr>
          <p:cNvPr id="23" name="TextBox 22"/>
          <p:cNvSpPr txBox="1"/>
          <p:nvPr/>
        </p:nvSpPr>
        <p:spPr>
          <a:xfrm>
            <a:off x="6263640" y="3611880"/>
            <a:ext cx="5577840" cy="36576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ПРОМЫШЛЕННОЕ ПРИМЕНЕНИЕ</a:t>
            </a:r>
          </a:p>
        </p:txBody>
      </p:sp>
      <p:sp>
        <p:nvSpPr>
          <p:cNvPr id="24" name="Rounded Rectangle 23"/>
          <p:cNvSpPr/>
          <p:nvPr/>
        </p:nvSpPr>
        <p:spPr>
          <a:xfrm>
            <a:off x="6263640" y="3977639"/>
            <a:ext cx="1783080"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Deutsche Telekom</a:t>
            </a:r>
          </a:p>
        </p:txBody>
      </p:sp>
      <p:sp>
        <p:nvSpPr>
          <p:cNvPr id="25" name="Rounded Rectangle 24"/>
          <p:cNvSpPr/>
          <p:nvPr/>
        </p:nvSpPr>
        <p:spPr>
          <a:xfrm>
            <a:off x="8183879" y="3977639"/>
            <a:ext cx="1691640" cy="41148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200" b="1">
                <a:solidFill>
                  <a:srgbClr val="FFFFFF"/>
                </a:solidFill>
                <a:latin typeface="Arial"/>
              </a:rPr>
              <a:t>Klarna</a:t>
            </a:r>
          </a:p>
        </p:txBody>
      </p:sp>
      <p:sp>
        <p:nvSpPr>
          <p:cNvPr id="26" name="Rounded Rectangle 25"/>
          <p:cNvSpPr/>
          <p:nvPr/>
        </p:nvSpPr>
        <p:spPr>
          <a:xfrm>
            <a:off x="10012680" y="3977639"/>
            <a:ext cx="1828800" cy="41148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100" b="1">
                <a:solidFill>
                  <a:srgbClr val="FFFFFF"/>
                </a:solidFill>
                <a:latin typeface="Arial"/>
              </a:rPr>
              <a:t>Multi-language</a:t>
            </a:r>
          </a:p>
        </p:txBody>
      </p:sp>
      <p:sp>
        <p:nvSpPr>
          <p:cNvPr id="27" name="Rounded Rectangle 26"/>
          <p:cNvSpPr/>
          <p:nvPr/>
        </p:nvSpPr>
        <p:spPr>
          <a:xfrm>
            <a:off x="6263640" y="4617720"/>
            <a:ext cx="5577840" cy="1783080"/>
          </a:xfrm>
          <a:prstGeom prst="roundRect">
            <a:avLst>
              <a:gd name="adj" fmla="val 17094"/>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28231" y="4709159"/>
            <a:ext cx="5248655" cy="292608"/>
          </a:xfrm>
          <a:prstGeom prst="rect">
            <a:avLst/>
          </a:prstGeom>
          <a:noFill/>
        </p:spPr>
        <p:txBody>
          <a:bodyPr wrap="square" lIns="0" rIns="0" tIns="0" bIns="0" anchor="t">
            <a:spAutoFit/>
          </a:bodyPr>
          <a:lstStyle/>
          <a:p>
            <a:pPr algn="l">
              <a:lnSpc>
                <a:spcPct val="100000"/>
              </a:lnSpc>
            </a:pPr>
            <a:r>
              <a:rPr sz="1100" b="1" i="0">
                <a:solidFill>
                  <a:srgbClr val="F0AB00"/>
                </a:solidFill>
                <a:latin typeface="Arial"/>
              </a:rPr>
              <a:t>УРОК ДЛЯ ИНЖЕНЕРА</a:t>
            </a:r>
          </a:p>
        </p:txBody>
      </p:sp>
      <p:sp>
        <p:nvSpPr>
          <p:cNvPr id="29" name="TextBox 28"/>
          <p:cNvSpPr txBox="1"/>
          <p:nvPr/>
        </p:nvSpPr>
        <p:spPr>
          <a:xfrm>
            <a:off x="6428231" y="5029200"/>
            <a:ext cx="5248655" cy="128016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МИНИ-ПРОВАЛ: ScarJo против OpenAI «Sky» (май 2024). OpenAI убрал голос за неделю — формально без иска. De-facto win для права на образ: клон голоса обязывает к явное согласие, даже если технологически «всего лишь похож».</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Модели мира — Genie 3 (DeepMind)</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Текст → играбельный 3D-мир @ 24 fps. Это НЕ видеогенерация — это симулированное окружение.</a:t>
            </a:r>
          </a:p>
        </p:txBody>
      </p:sp>
      <p:sp>
        <p:nvSpPr>
          <p:cNvPr id="4" name="Rounded Rectangle 3"/>
          <p:cNvSpPr/>
          <p:nvPr/>
        </p:nvSpPr>
        <p:spPr>
          <a:xfrm>
            <a:off x="502920" y="1828800"/>
            <a:ext cx="64008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20240"/>
            <a:ext cx="6035040" cy="320040"/>
          </a:xfrm>
          <a:prstGeom prst="rect">
            <a:avLst/>
          </a:prstGeom>
          <a:noFill/>
        </p:spPr>
        <p:txBody>
          <a:bodyPr wrap="square" lIns="0" rIns="0" tIns="0" bIns="0" anchor="t">
            <a:spAutoFit/>
          </a:bodyPr>
          <a:lstStyle/>
          <a:p>
            <a:pPr algn="l">
              <a:lnSpc>
                <a:spcPct val="115000"/>
              </a:lnSpc>
            </a:pPr>
            <a:r>
              <a:rPr sz="1200" b="1" i="0">
                <a:solidFill>
                  <a:srgbClr val="028090"/>
                </a:solidFill>
                <a:latin typeface="Arial"/>
              </a:rPr>
              <a:t>GENIE 3 · DEEPMIND · ОФИЦИАЛЬНОЕ ДЕМО</a:t>
            </a:r>
          </a:p>
        </p:txBody>
      </p:sp>
      <p:pic>
        <p:nvPicPr>
          <p:cNvPr id="6" name="Picture 5" descr="s10-genie3-world.png"/>
          <p:cNvPicPr>
            <a:picLocks noChangeAspect="1"/>
          </p:cNvPicPr>
          <p:nvPr/>
        </p:nvPicPr>
        <p:blipFill>
          <a:blip r:embed="rId2"/>
          <a:stretch>
            <a:fillRect/>
          </a:stretch>
        </p:blipFill>
        <p:spPr>
          <a:xfrm>
            <a:off x="817880" y="2286000"/>
            <a:ext cx="5770880" cy="3246120"/>
          </a:xfrm>
          <a:prstGeom prst="rect">
            <a:avLst/>
          </a:prstGeom>
        </p:spPr>
      </p:pic>
      <p:sp>
        <p:nvSpPr>
          <p:cNvPr id="7" name="TextBox 6"/>
          <p:cNvSpPr txBox="1"/>
          <p:nvPr/>
        </p:nvSpPr>
        <p:spPr>
          <a:xfrm>
            <a:off x="685800" y="5577840"/>
            <a:ext cx="6035040" cy="274320"/>
          </a:xfrm>
          <a:prstGeom prst="rect">
            <a:avLst/>
          </a:prstGeom>
          <a:noFill/>
        </p:spPr>
        <p:txBody>
          <a:bodyPr wrap="square" lIns="0" rIns="0" tIns="0" bIns="0" anchor="t">
            <a:spAutoFit/>
          </a:bodyPr>
          <a:lstStyle/>
          <a:p>
            <a:pPr algn="l">
              <a:lnSpc>
                <a:spcPct val="115000"/>
              </a:lnSpc>
            </a:pPr>
            <a:r>
              <a:rPr sz="1100" b="0" i="1">
                <a:solidFill>
                  <a:srgbClr val="1C7293"/>
                </a:solidFill>
                <a:latin typeface="Arial"/>
              </a:rPr>
              <a:t>deepmind.google/blog/genie-3-a-new-frontier-for-world-models</a:t>
            </a:r>
          </a:p>
        </p:txBody>
      </p:sp>
      <p:sp>
        <p:nvSpPr>
          <p:cNvPr id="8" name="TextBox 7"/>
          <p:cNvSpPr txBox="1"/>
          <p:nvPr/>
        </p:nvSpPr>
        <p:spPr>
          <a:xfrm>
            <a:off x="7178040" y="1828800"/>
            <a:ext cx="4663440" cy="365760"/>
          </a:xfrm>
          <a:prstGeom prst="rect">
            <a:avLst/>
          </a:prstGeom>
          <a:noFill/>
        </p:spPr>
        <p:txBody>
          <a:bodyPr wrap="square" lIns="0" rIns="0" tIns="0" bIns="0" anchor="t">
            <a:spAutoFit/>
          </a:bodyPr>
          <a:lstStyle/>
          <a:p>
            <a:pPr algn="l">
              <a:lnSpc>
                <a:spcPct val="115000"/>
              </a:lnSpc>
            </a:pPr>
            <a:r>
              <a:rPr sz="1200" b="1" i="0">
                <a:solidFill>
                  <a:srgbClr val="028090"/>
                </a:solidFill>
                <a:latin typeface="Arial"/>
              </a:rPr>
              <a:t>ХАРАКТЕРИСТИКИ</a:t>
            </a:r>
          </a:p>
        </p:txBody>
      </p:sp>
      <p:sp>
        <p:nvSpPr>
          <p:cNvPr id="9" name="Rounded Rectangle 8"/>
          <p:cNvSpPr/>
          <p:nvPr/>
        </p:nvSpPr>
        <p:spPr>
          <a:xfrm>
            <a:off x="7178040" y="2286000"/>
            <a:ext cx="4663440" cy="640080"/>
          </a:xfrm>
          <a:prstGeom prst="roundRect">
            <a:avLst>
              <a:gd name="adj" fmla="val 2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78040" y="2286000"/>
            <a:ext cx="4663440" cy="640080"/>
          </a:xfrm>
          <a:prstGeom prst="rect">
            <a:avLst/>
          </a:prstGeom>
          <a:noFill/>
        </p:spPr>
        <p:txBody>
          <a:bodyPr wrap="square" lIns="0" rIns="0" tIns="0" bIns="0" anchor="ctr">
            <a:spAutoFit/>
          </a:bodyPr>
          <a:lstStyle/>
          <a:p>
            <a:pPr algn="ctr">
              <a:lnSpc>
                <a:spcPct val="100000"/>
              </a:lnSpc>
            </a:pPr>
            <a:r>
              <a:rPr sz="1800" b="1" i="0">
                <a:solidFill>
                  <a:srgbClr val="FFFFFF"/>
                </a:solidFill>
                <a:latin typeface="Arial"/>
              </a:rPr>
              <a:t>текст → играбельный 3D-мир</a:t>
            </a:r>
          </a:p>
        </p:txBody>
      </p:sp>
      <p:sp>
        <p:nvSpPr>
          <p:cNvPr id="11" name="Rounded Rectangle 10"/>
          <p:cNvSpPr/>
          <p:nvPr/>
        </p:nvSpPr>
        <p:spPr>
          <a:xfrm>
            <a:off x="7178040" y="3063240"/>
            <a:ext cx="4663440" cy="640080"/>
          </a:xfrm>
          <a:prstGeom prst="roundRect">
            <a:avLst>
              <a:gd name="adj" fmla="val 2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78040" y="3063240"/>
            <a:ext cx="4663440" cy="640080"/>
          </a:xfrm>
          <a:prstGeom prst="rect">
            <a:avLst/>
          </a:prstGeom>
          <a:noFill/>
        </p:spPr>
        <p:txBody>
          <a:bodyPr wrap="square" lIns="0" rIns="0" tIns="0" bIns="0" anchor="ctr">
            <a:spAutoFit/>
          </a:bodyPr>
          <a:lstStyle/>
          <a:p>
            <a:pPr algn="ctr">
              <a:lnSpc>
                <a:spcPct val="100000"/>
              </a:lnSpc>
            </a:pPr>
            <a:r>
              <a:rPr sz="1800" b="1" i="0">
                <a:solidFill>
                  <a:srgbClr val="FFFFFF"/>
                </a:solidFill>
                <a:latin typeface="Arial"/>
              </a:rPr>
              <a:t>24 fps · реальное время</a:t>
            </a:r>
          </a:p>
        </p:txBody>
      </p:sp>
      <p:sp>
        <p:nvSpPr>
          <p:cNvPr id="13" name="Rounded Rectangle 12"/>
          <p:cNvSpPr/>
          <p:nvPr/>
        </p:nvSpPr>
        <p:spPr>
          <a:xfrm>
            <a:off x="7178040" y="3840480"/>
            <a:ext cx="4663440" cy="640080"/>
          </a:xfrm>
          <a:prstGeom prst="roundRect">
            <a:avLst>
              <a:gd name="adj" fmla="val 2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78040" y="3840480"/>
            <a:ext cx="4663440" cy="640080"/>
          </a:xfrm>
          <a:prstGeom prst="rect">
            <a:avLst/>
          </a:prstGeom>
          <a:noFill/>
        </p:spPr>
        <p:txBody>
          <a:bodyPr wrap="square" lIns="0" rIns="0" tIns="0" bIns="0" anchor="ctr">
            <a:spAutoFit/>
          </a:bodyPr>
          <a:lstStyle/>
          <a:p>
            <a:pPr algn="ctr">
              <a:lnSpc>
                <a:spcPct val="100000"/>
              </a:lnSpc>
            </a:pPr>
            <a:r>
              <a:rPr sz="1800" b="1" i="0">
                <a:solidFill>
                  <a:srgbClr val="21295C"/>
                </a:solidFill>
                <a:latin typeface="Arial"/>
              </a:rPr>
              <a:t>720p · несколько минут</a:t>
            </a:r>
          </a:p>
        </p:txBody>
      </p:sp>
      <p:sp>
        <p:nvSpPr>
          <p:cNvPr id="15" name="Rounded Rectangle 14"/>
          <p:cNvSpPr/>
          <p:nvPr/>
        </p:nvSpPr>
        <p:spPr>
          <a:xfrm>
            <a:off x="7178040" y="4754880"/>
            <a:ext cx="4663440" cy="1645920"/>
          </a:xfrm>
          <a:prstGeom prst="roundRect">
            <a:avLst>
              <a:gd name="adj" fmla="val 18518"/>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42631" y="4846320"/>
            <a:ext cx="4334255" cy="292608"/>
          </a:xfrm>
          <a:prstGeom prst="rect">
            <a:avLst/>
          </a:prstGeom>
          <a:noFill/>
        </p:spPr>
        <p:txBody>
          <a:bodyPr wrap="square" lIns="0" rIns="0" tIns="0" bIns="0" anchor="t">
            <a:spAutoFit/>
          </a:bodyPr>
          <a:lstStyle/>
          <a:p>
            <a:pPr algn="l">
              <a:lnSpc>
                <a:spcPct val="100000"/>
              </a:lnSpc>
            </a:pPr>
            <a:r>
              <a:rPr sz="1100" b="1" i="0">
                <a:solidFill>
                  <a:srgbClr val="F0AB00"/>
                </a:solidFill>
                <a:latin typeface="Arial"/>
              </a:rPr>
              <a:t>УРОК ДЛЯ ИНЖЕНЕРА</a:t>
            </a:r>
          </a:p>
        </p:txBody>
      </p:sp>
      <p:sp>
        <p:nvSpPr>
          <p:cNvPr id="17" name="TextBox 16"/>
          <p:cNvSpPr txBox="1"/>
          <p:nvPr/>
        </p:nvSpPr>
        <p:spPr>
          <a:xfrm>
            <a:off x="7342631" y="5166360"/>
            <a:ext cx="4334255" cy="114300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Это не видеогенератор — это симулированное окружение. Промышленное использование: пока граничные случаи (прототипы игр, разведка локаций). Передний край — впереди.</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74320"/>
            <a:ext cx="11247120" cy="59436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Российский контекст: локальное удобство vs передний край</a:t>
            </a:r>
          </a:p>
        </p:txBody>
      </p:sp>
      <p:sp>
        <p:nvSpPr>
          <p:cNvPr id="3" name="TextBox 2"/>
          <p:cNvSpPr txBox="1"/>
          <p:nvPr/>
        </p:nvSpPr>
        <p:spPr>
          <a:xfrm>
            <a:off x="502920" y="914400"/>
            <a:ext cx="11247120" cy="365760"/>
          </a:xfrm>
          <a:prstGeom prst="rect">
            <a:avLst/>
          </a:prstGeom>
          <a:noFill/>
        </p:spPr>
        <p:txBody>
          <a:bodyPr wrap="square" lIns="0" rIns="0" tIns="0" bIns="0" anchor="t">
            <a:spAutoFit/>
          </a:bodyPr>
          <a:lstStyle/>
          <a:p>
            <a:pPr algn="l">
              <a:lnSpc>
                <a:spcPct val="115000"/>
              </a:lnSpc>
            </a:pPr>
            <a:r>
              <a:rPr sz="1200" b="0" i="1">
                <a:solidFill>
                  <a:srgbClr val="065A82"/>
                </a:solidFill>
                <a:latin typeface="Arial"/>
              </a:rPr>
              <a:t>Российский GenAI функционален для конечного пользователя + масс-маркета премиум; но не на переднем крае в видео и музыке. Структурно (capex/data), а не идеологически.</a:t>
            </a:r>
          </a:p>
        </p:txBody>
      </p:sp>
      <p:sp>
        <p:nvSpPr>
          <p:cNvPr id="4" name="Rounded Rectangle 3"/>
          <p:cNvSpPr/>
          <p:nvPr/>
        </p:nvSpPr>
        <p:spPr>
          <a:xfrm>
            <a:off x="502920" y="1554480"/>
            <a:ext cx="5029200" cy="2880360"/>
          </a:xfrm>
          <a:prstGeom prst="roundRect">
            <a:avLst>
              <a:gd name="adj" fmla="val 10582"/>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627632"/>
            <a:ext cx="4846320" cy="32004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ШЕДЕВРУМ + KANDINSKY · ОФИЦИАЛЬНЫЕ ИНТЕРФЕЙСЫ</a:t>
            </a:r>
          </a:p>
        </p:txBody>
      </p:sp>
      <p:pic>
        <p:nvPicPr>
          <p:cNvPr id="6" name="Picture 5" descr="s10a-kandinsky-vs-kling.png"/>
          <p:cNvPicPr>
            <a:picLocks noChangeAspect="1"/>
          </p:cNvPicPr>
          <p:nvPr/>
        </p:nvPicPr>
        <p:blipFill>
          <a:blip r:embed="rId2"/>
          <a:stretch>
            <a:fillRect/>
          </a:stretch>
        </p:blipFill>
        <p:spPr>
          <a:xfrm>
            <a:off x="743961" y="1965960"/>
            <a:ext cx="4583693" cy="2240280"/>
          </a:xfrm>
          <a:prstGeom prst="rect">
            <a:avLst/>
          </a:prstGeom>
        </p:spPr>
      </p:pic>
      <p:sp>
        <p:nvSpPr>
          <p:cNvPr id="7" name="TextBox 6"/>
          <p:cNvSpPr txBox="1"/>
          <p:nvPr/>
        </p:nvSpPr>
        <p:spPr>
          <a:xfrm>
            <a:off x="594360" y="4224528"/>
            <a:ext cx="4846320" cy="274320"/>
          </a:xfrm>
          <a:prstGeom prst="rect">
            <a:avLst/>
          </a:prstGeom>
          <a:noFill/>
        </p:spPr>
        <p:txBody>
          <a:bodyPr wrap="square" lIns="0" rIns="0" tIns="0" bIns="0" anchor="t">
            <a:spAutoFit/>
          </a:bodyPr>
          <a:lstStyle/>
          <a:p>
            <a:pPr algn="ctr">
              <a:lnSpc>
                <a:spcPct val="115000"/>
              </a:lnSpc>
            </a:pPr>
            <a:r>
              <a:rPr sz="1000" b="0" i="1">
                <a:solidFill>
                  <a:srgbClr val="6B7685"/>
                </a:solidFill>
                <a:latin typeface="Arial"/>
              </a:rPr>
              <a:t>Источник: appleinsider.ru сравнение Шедеврум vs Kandinsky · 2023</a:t>
            </a:r>
          </a:p>
        </p:txBody>
      </p:sp>
      <p:sp>
        <p:nvSpPr>
          <p:cNvPr id="8" name="Rounded Rectangle 7"/>
          <p:cNvSpPr/>
          <p:nvPr/>
        </p:nvSpPr>
        <p:spPr>
          <a:xfrm>
            <a:off x="5852160" y="1554480"/>
            <a:ext cx="2926079" cy="1303020"/>
          </a:xfrm>
          <a:prstGeom prst="roundRect">
            <a:avLst>
              <a:gd name="adj" fmla="val 233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961888" y="1627632"/>
            <a:ext cx="2706624" cy="274320"/>
          </a:xfrm>
          <a:prstGeom prst="rect">
            <a:avLst/>
          </a:prstGeom>
          <a:noFill/>
        </p:spPr>
        <p:txBody>
          <a:bodyPr wrap="square" lIns="0" rIns="0" tIns="0" bIns="0" anchor="t">
            <a:spAutoFit/>
          </a:bodyPr>
          <a:lstStyle/>
          <a:p>
            <a:pPr algn="l">
              <a:lnSpc>
                <a:spcPct val="115000"/>
              </a:lnSpc>
            </a:pPr>
            <a:r>
              <a:rPr sz="1200" b="1" i="0">
                <a:solidFill>
                  <a:srgbClr val="21295C"/>
                </a:solidFill>
                <a:latin typeface="Arial"/>
              </a:rPr>
              <a:t>Изображения</a:t>
            </a:r>
          </a:p>
        </p:txBody>
      </p:sp>
      <p:sp>
        <p:nvSpPr>
          <p:cNvPr id="10" name="TextBox 9"/>
          <p:cNvSpPr txBox="1"/>
          <p:nvPr/>
        </p:nvSpPr>
        <p:spPr>
          <a:xfrm>
            <a:off x="5961888" y="1920240"/>
            <a:ext cx="2706624" cy="594360"/>
          </a:xfrm>
          <a:prstGeom prst="rect">
            <a:avLst/>
          </a:prstGeom>
          <a:noFill/>
        </p:spPr>
        <p:txBody>
          <a:bodyPr wrap="square" lIns="0" rIns="0" tIns="0" bIns="0" anchor="t">
            <a:spAutoFit/>
          </a:bodyPr>
          <a:lstStyle/>
          <a:p>
            <a:pPr algn="l">
              <a:lnSpc>
                <a:spcPct val="130000"/>
              </a:lnSpc>
            </a:pPr>
            <a:r>
              <a:rPr sz="1000" b="0" i="0">
                <a:solidFill>
                  <a:srgbClr val="6B7685"/>
                </a:solidFill>
                <a:latin typeface="Arial"/>
              </a:rPr>
              <a:t>Kandinsky 6.0 (MoE, бесплатно через GigaChat)
Yandex Шедеврум · YandexART 2.7</a:t>
            </a:r>
          </a:p>
        </p:txBody>
      </p:sp>
      <p:sp>
        <p:nvSpPr>
          <p:cNvPr id="11" name="Rounded Rectangle 10"/>
          <p:cNvSpPr/>
          <p:nvPr/>
        </p:nvSpPr>
        <p:spPr>
          <a:xfrm>
            <a:off x="5961888" y="2446020"/>
            <a:ext cx="2706624" cy="32004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000" b="1">
                <a:solidFill>
                  <a:srgbClr val="FFFFFF"/>
                </a:solidFill>
                <a:latin typeface="Arial"/>
              </a:rPr>
              <a:t>конкурентоспособно</a:t>
            </a:r>
          </a:p>
        </p:txBody>
      </p:sp>
      <p:sp>
        <p:nvSpPr>
          <p:cNvPr id="12" name="Rounded Rectangle 11"/>
          <p:cNvSpPr/>
          <p:nvPr/>
        </p:nvSpPr>
        <p:spPr>
          <a:xfrm>
            <a:off x="8915400" y="1554480"/>
            <a:ext cx="2926079" cy="1303020"/>
          </a:xfrm>
          <a:prstGeom prst="roundRect">
            <a:avLst>
              <a:gd name="adj" fmla="val 233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9025128" y="1627632"/>
            <a:ext cx="2706624" cy="274320"/>
          </a:xfrm>
          <a:prstGeom prst="rect">
            <a:avLst/>
          </a:prstGeom>
          <a:noFill/>
        </p:spPr>
        <p:txBody>
          <a:bodyPr wrap="square" lIns="0" rIns="0" tIns="0" bIns="0" anchor="t">
            <a:spAutoFit/>
          </a:bodyPr>
          <a:lstStyle/>
          <a:p>
            <a:pPr algn="l">
              <a:lnSpc>
                <a:spcPct val="115000"/>
              </a:lnSpc>
            </a:pPr>
            <a:r>
              <a:rPr sz="1200" b="1" i="0">
                <a:solidFill>
                  <a:srgbClr val="21295C"/>
                </a:solidFill>
                <a:latin typeface="Arial"/>
              </a:rPr>
              <a:t>Видео</a:t>
            </a:r>
          </a:p>
        </p:txBody>
      </p:sp>
      <p:sp>
        <p:nvSpPr>
          <p:cNvPr id="14" name="TextBox 13"/>
          <p:cNvSpPr txBox="1"/>
          <p:nvPr/>
        </p:nvSpPr>
        <p:spPr>
          <a:xfrm>
            <a:off x="9025128" y="1920240"/>
            <a:ext cx="2706624" cy="594360"/>
          </a:xfrm>
          <a:prstGeom prst="rect">
            <a:avLst/>
          </a:prstGeom>
          <a:noFill/>
        </p:spPr>
        <p:txBody>
          <a:bodyPr wrap="square" lIns="0" rIns="0" tIns="0" bIns="0" anchor="t">
            <a:spAutoFit/>
          </a:bodyPr>
          <a:lstStyle/>
          <a:p>
            <a:pPr algn="l">
              <a:lnSpc>
                <a:spcPct val="130000"/>
              </a:lnSpc>
            </a:pPr>
            <a:r>
              <a:rPr sz="1000" b="0" i="0">
                <a:solidFill>
                  <a:srgbClr val="6B7685"/>
                </a:solidFill>
                <a:latin typeface="Arial"/>
              </a:rPr>
              <a:t>Kandinsky 5.0 (Apache 2.0)
Отставание от Sora/Veo/Kling</a:t>
            </a:r>
          </a:p>
        </p:txBody>
      </p:sp>
      <p:sp>
        <p:nvSpPr>
          <p:cNvPr id="15" name="Rounded Rectangle 14"/>
          <p:cNvSpPr/>
          <p:nvPr/>
        </p:nvSpPr>
        <p:spPr>
          <a:xfrm>
            <a:off x="9025128" y="2446020"/>
            <a:ext cx="2706624" cy="3200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000" b="1">
                <a:solidFill>
                  <a:srgbClr val="21295C"/>
                </a:solidFill>
                <a:latin typeface="Arial"/>
              </a:rPr>
              <a:t>структурный разрыв</a:t>
            </a:r>
          </a:p>
        </p:txBody>
      </p:sp>
      <p:sp>
        <p:nvSpPr>
          <p:cNvPr id="16" name="Rounded Rectangle 15"/>
          <p:cNvSpPr/>
          <p:nvPr/>
        </p:nvSpPr>
        <p:spPr>
          <a:xfrm>
            <a:off x="5852160" y="2994660"/>
            <a:ext cx="2926079" cy="1303020"/>
          </a:xfrm>
          <a:prstGeom prst="roundRect">
            <a:avLst>
              <a:gd name="adj" fmla="val 233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5961888" y="3067812"/>
            <a:ext cx="2706624" cy="274320"/>
          </a:xfrm>
          <a:prstGeom prst="rect">
            <a:avLst/>
          </a:prstGeom>
          <a:noFill/>
        </p:spPr>
        <p:txBody>
          <a:bodyPr wrap="square" lIns="0" rIns="0" tIns="0" bIns="0" anchor="t">
            <a:spAutoFit/>
          </a:bodyPr>
          <a:lstStyle/>
          <a:p>
            <a:pPr algn="l">
              <a:lnSpc>
                <a:spcPct val="115000"/>
              </a:lnSpc>
            </a:pPr>
            <a:r>
              <a:rPr sz="1200" b="1" i="0">
                <a:solidFill>
                  <a:srgbClr val="21295C"/>
                </a:solidFill>
                <a:latin typeface="Arial"/>
              </a:rPr>
              <a:t>Аудио</a:t>
            </a:r>
          </a:p>
        </p:txBody>
      </p:sp>
      <p:sp>
        <p:nvSpPr>
          <p:cNvPr id="18" name="TextBox 17"/>
          <p:cNvSpPr txBox="1"/>
          <p:nvPr/>
        </p:nvSpPr>
        <p:spPr>
          <a:xfrm>
            <a:off x="5961888" y="3360420"/>
            <a:ext cx="2706624" cy="594360"/>
          </a:xfrm>
          <a:prstGeom prst="rect">
            <a:avLst/>
          </a:prstGeom>
          <a:noFill/>
        </p:spPr>
        <p:txBody>
          <a:bodyPr wrap="square" lIns="0" rIns="0" tIns="0" bIns="0" anchor="t">
            <a:spAutoFit/>
          </a:bodyPr>
          <a:lstStyle/>
          <a:p>
            <a:pPr algn="l">
              <a:lnSpc>
                <a:spcPct val="130000"/>
              </a:lnSpc>
            </a:pPr>
            <a:r>
              <a:rPr sz="1000" b="0" i="0">
                <a:solidFill>
                  <a:srgbClr val="6B7685"/>
                </a:solidFill>
                <a:latin typeface="Arial"/>
              </a:rPr>
              <a:t>SymFormer · SaluteSpeech
Yandex SpeechKit</a:t>
            </a:r>
          </a:p>
        </p:txBody>
      </p:sp>
      <p:sp>
        <p:nvSpPr>
          <p:cNvPr id="19" name="Rounded Rectangle 18"/>
          <p:cNvSpPr/>
          <p:nvPr/>
        </p:nvSpPr>
        <p:spPr>
          <a:xfrm>
            <a:off x="5961888" y="3886200"/>
            <a:ext cx="2706624" cy="3200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000" b="1">
                <a:solidFill>
                  <a:srgbClr val="FFFFFF"/>
                </a:solidFill>
                <a:latin typeface="Arial"/>
              </a:rPr>
              <a:t>ниже ElevenLabs</a:t>
            </a:r>
          </a:p>
        </p:txBody>
      </p:sp>
      <p:sp>
        <p:nvSpPr>
          <p:cNvPr id="20" name="Rounded Rectangle 19"/>
          <p:cNvSpPr/>
          <p:nvPr/>
        </p:nvSpPr>
        <p:spPr>
          <a:xfrm>
            <a:off x="8915400" y="2994660"/>
            <a:ext cx="2926079" cy="1303020"/>
          </a:xfrm>
          <a:prstGeom prst="roundRect">
            <a:avLst>
              <a:gd name="adj" fmla="val 2339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025128" y="3067812"/>
            <a:ext cx="2706624" cy="274320"/>
          </a:xfrm>
          <a:prstGeom prst="rect">
            <a:avLst/>
          </a:prstGeom>
          <a:noFill/>
        </p:spPr>
        <p:txBody>
          <a:bodyPr wrap="square" lIns="0" rIns="0" tIns="0" bIns="0" anchor="t">
            <a:spAutoFit/>
          </a:bodyPr>
          <a:lstStyle/>
          <a:p>
            <a:pPr algn="l">
              <a:lnSpc>
                <a:spcPct val="115000"/>
              </a:lnSpc>
            </a:pPr>
            <a:r>
              <a:rPr sz="1200" b="1" i="0">
                <a:solidFill>
                  <a:srgbClr val="21295C"/>
                </a:solidFill>
                <a:latin typeface="Arial"/>
              </a:rPr>
              <a:t>Правовое поле</a:t>
            </a:r>
          </a:p>
        </p:txBody>
      </p:sp>
      <p:sp>
        <p:nvSpPr>
          <p:cNvPr id="22" name="TextBox 21"/>
          <p:cNvSpPr txBox="1"/>
          <p:nvPr/>
        </p:nvSpPr>
        <p:spPr>
          <a:xfrm>
            <a:off x="9025128" y="3360420"/>
            <a:ext cx="2706624" cy="594360"/>
          </a:xfrm>
          <a:prstGeom prst="rect">
            <a:avLst/>
          </a:prstGeom>
          <a:noFill/>
        </p:spPr>
        <p:txBody>
          <a:bodyPr wrap="square" lIns="0" rIns="0" tIns="0" bIns="0" anchor="t">
            <a:spAutoFit/>
          </a:bodyPr>
          <a:lstStyle/>
          <a:p>
            <a:pPr algn="l">
              <a:lnSpc>
                <a:spcPct val="130000"/>
              </a:lnSpc>
            </a:pPr>
            <a:r>
              <a:rPr sz="1000" b="0" i="0">
                <a:solidFill>
                  <a:srgbClr val="6B7685"/>
                </a:solidFill>
                <a:latin typeface="Arial"/>
              </a:rPr>
              <a:t>Минцифры 18.03.2026
TDM* · маркировка · 01.09.2027</a:t>
            </a:r>
          </a:p>
        </p:txBody>
      </p:sp>
      <p:sp>
        <p:nvSpPr>
          <p:cNvPr id="23" name="Rounded Rectangle 22"/>
          <p:cNvSpPr/>
          <p:nvPr/>
        </p:nvSpPr>
        <p:spPr>
          <a:xfrm>
            <a:off x="9025128" y="3886200"/>
            <a:ext cx="2706624" cy="3200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000" b="1">
                <a:solidFill>
                  <a:srgbClr val="FFFFFF"/>
                </a:solidFill>
                <a:latin typeface="Arial"/>
              </a:rPr>
              <a:t>в процессе</a:t>
            </a:r>
          </a:p>
        </p:txBody>
      </p:sp>
      <p:sp>
        <p:nvSpPr>
          <p:cNvPr id="24" name="TextBox 23"/>
          <p:cNvSpPr txBox="1"/>
          <p:nvPr/>
        </p:nvSpPr>
        <p:spPr>
          <a:xfrm>
            <a:off x="5852160" y="4370832"/>
            <a:ext cx="5989320" cy="274320"/>
          </a:xfrm>
          <a:prstGeom prst="rect">
            <a:avLst/>
          </a:prstGeom>
          <a:noFill/>
        </p:spPr>
        <p:txBody>
          <a:bodyPr wrap="square" lIns="0" rIns="0" tIns="0" bIns="0" anchor="t">
            <a:spAutoFit/>
          </a:bodyPr>
          <a:lstStyle/>
          <a:p>
            <a:pPr algn="l">
              <a:lnSpc>
                <a:spcPct val="100000"/>
              </a:lnSpc>
            </a:pPr>
            <a:r>
              <a:rPr sz="900" b="0" i="1">
                <a:solidFill>
                  <a:srgbClr val="1C7293"/>
                </a:solidFill>
                <a:latin typeface="Arial"/>
              </a:rPr>
              <a:t>* TDM = Text &amp; Data Mining (закон об исключении для исследований)</a:t>
            </a:r>
          </a:p>
        </p:txBody>
      </p:sp>
      <p:sp>
        <p:nvSpPr>
          <p:cNvPr id="25" name="Rounded Rectangle 24"/>
          <p:cNvSpPr/>
          <p:nvPr/>
        </p:nvSpPr>
        <p:spPr>
          <a:xfrm>
            <a:off x="502920" y="4663440"/>
            <a:ext cx="11247120" cy="1691640"/>
          </a:xfrm>
          <a:prstGeom prst="roundRect">
            <a:avLst>
              <a:gd name="adj" fmla="val 18018"/>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67512" y="4754879"/>
            <a:ext cx="10917936" cy="292608"/>
          </a:xfrm>
          <a:prstGeom prst="rect">
            <a:avLst/>
          </a:prstGeom>
          <a:noFill/>
        </p:spPr>
        <p:txBody>
          <a:bodyPr wrap="square" lIns="0" rIns="0" tIns="0" bIns="0" anchor="t">
            <a:spAutoFit/>
          </a:bodyPr>
          <a:lstStyle/>
          <a:p>
            <a:pPr algn="l">
              <a:lnSpc>
                <a:spcPct val="100000"/>
              </a:lnSpc>
            </a:pPr>
            <a:r>
              <a:rPr sz="1100" b="1" i="0">
                <a:solidFill>
                  <a:srgbClr val="F0AB00"/>
                </a:solidFill>
                <a:latin typeface="Arial"/>
              </a:rPr>
              <a:t>УРОК ДЛЯ ИНЖЕНЕРА</a:t>
            </a:r>
          </a:p>
        </p:txBody>
      </p:sp>
      <p:sp>
        <p:nvSpPr>
          <p:cNvPr id="27" name="TextBox 26"/>
          <p:cNvSpPr txBox="1"/>
          <p:nvPr/>
        </p:nvSpPr>
        <p:spPr>
          <a:xfrm>
            <a:off x="667512" y="5074920"/>
            <a:ext cx="10917936" cy="118872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Локальное удобство (бесплатно · RU-промпты · без VPN · рубли · правовой контур) ≠ frontier-уровень в видео и музыке. Концентрация R&amp;D в США/Китае — структурное (capex GPU, видео-датасеты), не идеологическое.</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Персонализация в масштабе + промышленное применение в Голливуде</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Adobe Firefly: $400 млн прямой выручки 2024-25. Lionsgate × Runway — усиление, а не замещение.</a:t>
            </a:r>
          </a:p>
        </p:txBody>
      </p:sp>
      <p:sp>
        <p:nvSpPr>
          <p:cNvPr id="4" name="Rounded Rectangle 3"/>
          <p:cNvSpPr/>
          <p:nvPr/>
        </p:nvSpPr>
        <p:spPr>
          <a:xfrm>
            <a:off x="502920" y="1828800"/>
            <a:ext cx="6400800" cy="4114800"/>
          </a:xfrm>
          <a:prstGeom prst="roundRect">
            <a:avLst>
              <a:gd name="adj" fmla="val 7407"/>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65960"/>
            <a:ext cx="6126480" cy="36576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ADOBE FIREFLY · КОРПОРАТИВНЫЕ КЛИЕНТЫ</a:t>
            </a:r>
          </a:p>
        </p:txBody>
      </p:sp>
      <p:sp>
        <p:nvSpPr>
          <p:cNvPr id="6" name="Rounded Rectangle 5"/>
          <p:cNvSpPr/>
          <p:nvPr/>
        </p:nvSpPr>
        <p:spPr>
          <a:xfrm>
            <a:off x="640080" y="2423160"/>
            <a:ext cx="1874519" cy="457200"/>
          </a:xfrm>
          <a:prstGeom prst="roundRect">
            <a:avLst>
              <a:gd name="adj" fmla="val 1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2423160"/>
            <a:ext cx="1874519" cy="457200"/>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Deloitte</a:t>
            </a:r>
          </a:p>
        </p:txBody>
      </p:sp>
      <p:sp>
        <p:nvSpPr>
          <p:cNvPr id="8" name="Rounded Rectangle 7"/>
          <p:cNvSpPr/>
          <p:nvPr/>
        </p:nvSpPr>
        <p:spPr>
          <a:xfrm>
            <a:off x="2651760" y="2423160"/>
            <a:ext cx="1874519" cy="457200"/>
          </a:xfrm>
          <a:prstGeom prst="roundRect">
            <a:avLst>
              <a:gd name="adj" fmla="val 1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651760" y="2423160"/>
            <a:ext cx="1874519" cy="457200"/>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Tapestry</a:t>
            </a:r>
          </a:p>
        </p:txBody>
      </p:sp>
      <p:sp>
        <p:nvSpPr>
          <p:cNvPr id="10" name="Rounded Rectangle 9"/>
          <p:cNvSpPr/>
          <p:nvPr/>
        </p:nvSpPr>
        <p:spPr>
          <a:xfrm>
            <a:off x="4663440" y="2423160"/>
            <a:ext cx="1874519" cy="457200"/>
          </a:xfrm>
          <a:prstGeom prst="roundRect">
            <a:avLst>
              <a:gd name="adj" fmla="val 1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663440" y="2423160"/>
            <a:ext cx="1874519" cy="457200"/>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Paramount+</a:t>
            </a:r>
          </a:p>
        </p:txBody>
      </p:sp>
      <p:sp>
        <p:nvSpPr>
          <p:cNvPr id="12" name="Rounded Rectangle 11"/>
          <p:cNvSpPr/>
          <p:nvPr/>
        </p:nvSpPr>
        <p:spPr>
          <a:xfrm>
            <a:off x="640080" y="3017520"/>
            <a:ext cx="1874519" cy="457200"/>
          </a:xfrm>
          <a:prstGeom prst="roundRect">
            <a:avLst>
              <a:gd name="adj" fmla="val 1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017520"/>
            <a:ext cx="1874519" cy="457200"/>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Pepsi</a:t>
            </a:r>
          </a:p>
        </p:txBody>
      </p:sp>
      <p:sp>
        <p:nvSpPr>
          <p:cNvPr id="14" name="Rounded Rectangle 13"/>
          <p:cNvSpPr/>
          <p:nvPr/>
        </p:nvSpPr>
        <p:spPr>
          <a:xfrm>
            <a:off x="2651760" y="3017520"/>
            <a:ext cx="1874519" cy="457200"/>
          </a:xfrm>
          <a:prstGeom prst="roundRect">
            <a:avLst>
              <a:gd name="adj" fmla="val 1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2651760" y="3017520"/>
            <a:ext cx="1874519" cy="457200"/>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dentsu</a:t>
            </a:r>
          </a:p>
        </p:txBody>
      </p:sp>
      <p:sp>
        <p:nvSpPr>
          <p:cNvPr id="16" name="Rounded Rectangle 15"/>
          <p:cNvSpPr/>
          <p:nvPr/>
        </p:nvSpPr>
        <p:spPr>
          <a:xfrm>
            <a:off x="4663440" y="3017520"/>
            <a:ext cx="1874519" cy="457200"/>
          </a:xfrm>
          <a:prstGeom prst="roundRect">
            <a:avLst>
              <a:gd name="adj" fmla="val 1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663440" y="3017520"/>
            <a:ext cx="1874519" cy="457200"/>
          </a:xfrm>
          <a:prstGeom prst="rect">
            <a:avLst/>
          </a:prstGeom>
          <a:noFill/>
        </p:spPr>
        <p:txBody>
          <a:bodyPr wrap="square" lIns="0" rIns="0" tIns="0" bIns="0" anchor="ctr">
            <a:spAutoFit/>
          </a:bodyPr>
          <a:lstStyle/>
          <a:p>
            <a:pPr algn="ctr">
              <a:lnSpc>
                <a:spcPct val="115000"/>
              </a:lnSpc>
            </a:pPr>
            <a:r>
              <a:rPr sz="1400" b="1" i="0">
                <a:solidFill>
                  <a:srgbClr val="21295C"/>
                </a:solidFill>
                <a:latin typeface="Arial"/>
              </a:rPr>
              <a:t>Stagwell</a:t>
            </a:r>
          </a:p>
        </p:txBody>
      </p:sp>
      <p:sp>
        <p:nvSpPr>
          <p:cNvPr id="18" name="Rounded Rectangle 17"/>
          <p:cNvSpPr/>
          <p:nvPr/>
        </p:nvSpPr>
        <p:spPr>
          <a:xfrm>
            <a:off x="640080" y="3749039"/>
            <a:ext cx="6126480" cy="2011680"/>
          </a:xfrm>
          <a:prstGeom prst="roundRect">
            <a:avLst>
              <a:gd name="adj" fmla="val 5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9" name="Picture 18" descr="s11-lionsgate-runway.png"/>
          <p:cNvPicPr>
            <a:picLocks noChangeAspect="1"/>
          </p:cNvPicPr>
          <p:nvPr/>
        </p:nvPicPr>
        <p:blipFill>
          <a:blip r:embed="rId2"/>
          <a:stretch>
            <a:fillRect/>
          </a:stretch>
        </p:blipFill>
        <p:spPr>
          <a:xfrm>
            <a:off x="778438" y="3840480"/>
            <a:ext cx="1917843" cy="1280160"/>
          </a:xfrm>
          <a:prstGeom prst="rect">
            <a:avLst/>
          </a:prstGeom>
        </p:spPr>
      </p:pic>
      <p:sp>
        <p:nvSpPr>
          <p:cNvPr id="20" name="TextBox 19"/>
          <p:cNvSpPr txBox="1"/>
          <p:nvPr/>
        </p:nvSpPr>
        <p:spPr>
          <a:xfrm>
            <a:off x="2834640" y="3840480"/>
            <a:ext cx="3840480" cy="365760"/>
          </a:xfrm>
          <a:prstGeom prst="rect">
            <a:avLst/>
          </a:prstGeom>
          <a:noFill/>
        </p:spPr>
        <p:txBody>
          <a:bodyPr wrap="square" lIns="0" rIns="0" tIns="0" bIns="0" anchor="t">
            <a:spAutoFit/>
          </a:bodyPr>
          <a:lstStyle/>
          <a:p>
            <a:pPr algn="l">
              <a:lnSpc>
                <a:spcPct val="115000"/>
              </a:lnSpc>
            </a:pPr>
            <a:r>
              <a:rPr sz="1000" b="1" i="0">
                <a:solidFill>
                  <a:srgbClr val="F0AB00"/>
                </a:solidFill>
                <a:latin typeface="Arial"/>
              </a:rPr>
              <a:t>LIONSGATE × RUNWAY · 18 СЕНТ 2024</a:t>
            </a:r>
          </a:p>
        </p:txBody>
      </p:sp>
      <p:sp>
        <p:nvSpPr>
          <p:cNvPr id="21" name="TextBox 20"/>
          <p:cNvSpPr txBox="1"/>
          <p:nvPr/>
        </p:nvSpPr>
        <p:spPr>
          <a:xfrm>
            <a:off x="2834640" y="4251960"/>
            <a:ext cx="3840480" cy="1280160"/>
          </a:xfrm>
          <a:prstGeom prst="rect">
            <a:avLst/>
          </a:prstGeom>
          <a:noFill/>
        </p:spPr>
        <p:txBody>
          <a:bodyPr wrap="square" lIns="0" rIns="0" tIns="0" bIns="0" anchor="t">
            <a:spAutoFit/>
          </a:bodyPr>
          <a:lstStyle/>
          <a:p>
            <a:pPr algn="l">
              <a:lnSpc>
                <a:spcPct val="130000"/>
              </a:lnSpc>
            </a:pPr>
            <a:r>
              <a:rPr sz="1100" b="0" i="1">
                <a:solidFill>
                  <a:srgbClr val="21295C"/>
                </a:solidFill>
                <a:latin typeface="Arial"/>
              </a:rPr>
              <a:t>«...экономия миллионов и миллионов долларов на препродакшене и постпродакшене»
— Майкл Бёрнс, вице-председатель Lionsgate</a:t>
            </a:r>
          </a:p>
        </p:txBody>
      </p:sp>
      <p:sp>
        <p:nvSpPr>
          <p:cNvPr id="22" name="TextBox 21"/>
          <p:cNvSpPr txBox="1"/>
          <p:nvPr/>
        </p:nvSpPr>
        <p:spPr>
          <a:xfrm>
            <a:off x="777240" y="5212080"/>
            <a:ext cx="5852160" cy="274320"/>
          </a:xfrm>
          <a:prstGeom prst="rect">
            <a:avLst/>
          </a:prstGeom>
          <a:noFill/>
        </p:spPr>
        <p:txBody>
          <a:bodyPr wrap="square" lIns="0" rIns="0" tIns="0" bIns="0" anchor="t">
            <a:spAutoFit/>
          </a:bodyPr>
          <a:lstStyle/>
          <a:p>
            <a:pPr algn="l">
              <a:lnSpc>
                <a:spcPct val="115000"/>
              </a:lnSpc>
            </a:pPr>
            <a:r>
              <a:rPr sz="900" b="0" i="1">
                <a:solidFill>
                  <a:srgbClr val="6B7685"/>
                </a:solidFill>
                <a:latin typeface="Arial"/>
              </a:rPr>
              <a:t>Источник: investors.lionsgate.com · звонок по итогам квартала, ноя 2024</a:t>
            </a:r>
          </a:p>
        </p:txBody>
      </p:sp>
      <p:sp>
        <p:nvSpPr>
          <p:cNvPr id="23" name="TextBox 22"/>
          <p:cNvSpPr txBox="1"/>
          <p:nvPr/>
        </p:nvSpPr>
        <p:spPr>
          <a:xfrm>
            <a:off x="7178040" y="1828800"/>
            <a:ext cx="4663440" cy="36576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МЕТРИКИ 2026</a:t>
            </a:r>
          </a:p>
        </p:txBody>
      </p:sp>
      <p:sp>
        <p:nvSpPr>
          <p:cNvPr id="24" name="Rounded Rectangle 23"/>
          <p:cNvSpPr/>
          <p:nvPr/>
        </p:nvSpPr>
        <p:spPr>
          <a:xfrm>
            <a:off x="7178040" y="2331720"/>
            <a:ext cx="4663440" cy="100584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178040" y="2423160"/>
            <a:ext cx="4663440" cy="502920"/>
          </a:xfrm>
          <a:prstGeom prst="rect">
            <a:avLst/>
          </a:prstGeom>
          <a:noFill/>
        </p:spPr>
        <p:txBody>
          <a:bodyPr wrap="square" lIns="0" rIns="0" tIns="0" bIns="0" anchor="t">
            <a:spAutoFit/>
          </a:bodyPr>
          <a:lstStyle/>
          <a:p>
            <a:pPr algn="ctr">
              <a:lnSpc>
                <a:spcPct val="100000"/>
              </a:lnSpc>
            </a:pPr>
            <a:r>
              <a:rPr sz="3200" b="1" i="0">
                <a:solidFill>
                  <a:srgbClr val="F0AB00"/>
                </a:solidFill>
                <a:latin typeface="Arial"/>
              </a:rPr>
              <a:t>22 млрд+</a:t>
            </a:r>
          </a:p>
        </p:txBody>
      </p:sp>
      <p:sp>
        <p:nvSpPr>
          <p:cNvPr id="26" name="TextBox 25"/>
          <p:cNvSpPr txBox="1"/>
          <p:nvPr/>
        </p:nvSpPr>
        <p:spPr>
          <a:xfrm>
            <a:off x="7178040" y="2971800"/>
            <a:ext cx="4663440" cy="320040"/>
          </a:xfrm>
          <a:prstGeom prst="rect">
            <a:avLst/>
          </a:prstGeom>
          <a:noFill/>
        </p:spPr>
        <p:txBody>
          <a:bodyPr wrap="square" lIns="0" rIns="0" tIns="0" bIns="0" anchor="t">
            <a:spAutoFit/>
          </a:bodyPr>
          <a:lstStyle/>
          <a:p>
            <a:pPr algn="ctr">
              <a:lnSpc>
                <a:spcPct val="100000"/>
              </a:lnSpc>
            </a:pPr>
            <a:r>
              <a:rPr sz="1100" b="0" i="0">
                <a:solidFill>
                  <a:srgbClr val="FFFFFF"/>
                </a:solidFill>
                <a:latin typeface="Arial"/>
              </a:rPr>
              <a:t>ассетов &lt;2 лет</a:t>
            </a:r>
          </a:p>
        </p:txBody>
      </p:sp>
      <p:sp>
        <p:nvSpPr>
          <p:cNvPr id="27" name="Rounded Rectangle 26"/>
          <p:cNvSpPr/>
          <p:nvPr/>
        </p:nvSpPr>
        <p:spPr>
          <a:xfrm>
            <a:off x="7178040" y="3429000"/>
            <a:ext cx="4663440" cy="100584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178040" y="3520440"/>
            <a:ext cx="4663440" cy="502920"/>
          </a:xfrm>
          <a:prstGeom prst="rect">
            <a:avLst/>
          </a:prstGeom>
          <a:noFill/>
        </p:spPr>
        <p:txBody>
          <a:bodyPr wrap="square" lIns="0" rIns="0" tIns="0" bIns="0" anchor="t">
            <a:spAutoFit/>
          </a:bodyPr>
          <a:lstStyle/>
          <a:p>
            <a:pPr algn="ctr">
              <a:lnSpc>
                <a:spcPct val="100000"/>
              </a:lnSpc>
            </a:pPr>
            <a:r>
              <a:rPr sz="3200" b="1" i="0">
                <a:solidFill>
                  <a:srgbClr val="F0AB00"/>
                </a:solidFill>
                <a:latin typeface="Arial"/>
              </a:rPr>
              <a:t>$400 млн</a:t>
            </a:r>
          </a:p>
        </p:txBody>
      </p:sp>
      <p:sp>
        <p:nvSpPr>
          <p:cNvPr id="29" name="TextBox 28"/>
          <p:cNvSpPr txBox="1"/>
          <p:nvPr/>
        </p:nvSpPr>
        <p:spPr>
          <a:xfrm>
            <a:off x="7178040" y="4069080"/>
            <a:ext cx="4663440" cy="320040"/>
          </a:xfrm>
          <a:prstGeom prst="rect">
            <a:avLst/>
          </a:prstGeom>
          <a:noFill/>
        </p:spPr>
        <p:txBody>
          <a:bodyPr wrap="square" lIns="0" rIns="0" tIns="0" bIns="0" anchor="t">
            <a:spAutoFit/>
          </a:bodyPr>
          <a:lstStyle/>
          <a:p>
            <a:pPr algn="ctr">
              <a:lnSpc>
                <a:spcPct val="100000"/>
              </a:lnSpc>
            </a:pPr>
            <a:r>
              <a:rPr sz="1100" b="0" i="0">
                <a:solidFill>
                  <a:srgbClr val="FFFFFF"/>
                </a:solidFill>
                <a:latin typeface="Arial"/>
              </a:rPr>
              <a:t>прямая выручка 2024-25</a:t>
            </a:r>
          </a:p>
        </p:txBody>
      </p:sp>
      <p:sp>
        <p:nvSpPr>
          <p:cNvPr id="30" name="Rounded Rectangle 29"/>
          <p:cNvSpPr/>
          <p:nvPr/>
        </p:nvSpPr>
        <p:spPr>
          <a:xfrm>
            <a:off x="7178040" y="4526279"/>
            <a:ext cx="4663440" cy="100584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178040" y="4617719"/>
            <a:ext cx="4663440" cy="502920"/>
          </a:xfrm>
          <a:prstGeom prst="rect">
            <a:avLst/>
          </a:prstGeom>
          <a:noFill/>
        </p:spPr>
        <p:txBody>
          <a:bodyPr wrap="square" lIns="0" rIns="0" tIns="0" bIns="0" anchor="t">
            <a:spAutoFit/>
          </a:bodyPr>
          <a:lstStyle/>
          <a:p>
            <a:pPr algn="ctr">
              <a:lnSpc>
                <a:spcPct val="100000"/>
              </a:lnSpc>
            </a:pPr>
            <a:r>
              <a:rPr sz="3200" b="1" i="0">
                <a:solidFill>
                  <a:srgbClr val="F0AB00"/>
                </a:solidFill>
                <a:latin typeface="Arial"/>
              </a:rPr>
              <a:t>40%</a:t>
            </a:r>
          </a:p>
        </p:txBody>
      </p:sp>
      <p:sp>
        <p:nvSpPr>
          <p:cNvPr id="32" name="TextBox 31"/>
          <p:cNvSpPr txBox="1"/>
          <p:nvPr/>
        </p:nvSpPr>
        <p:spPr>
          <a:xfrm>
            <a:off x="7178040" y="5166359"/>
            <a:ext cx="4663440" cy="320040"/>
          </a:xfrm>
          <a:prstGeom prst="rect">
            <a:avLst/>
          </a:prstGeom>
          <a:noFill/>
        </p:spPr>
        <p:txBody>
          <a:bodyPr wrap="square" lIns="0" rIns="0" tIns="0" bIns="0" anchor="t">
            <a:spAutoFit/>
          </a:bodyPr>
          <a:lstStyle/>
          <a:p>
            <a:pPr algn="ctr">
              <a:lnSpc>
                <a:spcPct val="100000"/>
              </a:lnSpc>
            </a:pPr>
            <a:r>
              <a:rPr sz="1100" b="0" i="0">
                <a:solidFill>
                  <a:srgbClr val="FFFFFF"/>
                </a:solidFill>
                <a:latin typeface="Arial"/>
              </a:rPr>
              <a:t>видеорекламы — AI-сгенерирована (IAB 2026)</a:t>
            </a:r>
          </a:p>
        </p:txBody>
      </p:sp>
      <p:sp>
        <p:nvSpPr>
          <p:cNvPr id="33" name="Rounded Rectangle 32"/>
          <p:cNvSpPr/>
          <p:nvPr/>
        </p:nvSpPr>
        <p:spPr>
          <a:xfrm>
            <a:off x="502920" y="6035040"/>
            <a:ext cx="11247120" cy="777240"/>
          </a:xfrm>
          <a:prstGeom prst="roundRect">
            <a:avLst>
              <a:gd name="adj" fmla="val 25000"/>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7512" y="6126479"/>
            <a:ext cx="10917936" cy="292608"/>
          </a:xfrm>
          <a:prstGeom prst="rect">
            <a:avLst/>
          </a:prstGeom>
          <a:noFill/>
        </p:spPr>
        <p:txBody>
          <a:bodyPr wrap="square" lIns="0" rIns="0" tIns="0" bIns="0" anchor="t">
            <a:spAutoFit/>
          </a:bodyPr>
          <a:lstStyle/>
          <a:p>
            <a:pPr algn="l">
              <a:lnSpc>
                <a:spcPct val="100000"/>
              </a:lnSpc>
            </a:pPr>
            <a:r>
              <a:rPr sz="1100" b="1" i="0">
                <a:solidFill>
                  <a:srgbClr val="F0AB00"/>
                </a:solidFill>
                <a:latin typeface="Arial"/>
              </a:rPr>
              <a:t>УРОК ДЛЯ ИНЖЕНЕРА</a:t>
            </a:r>
          </a:p>
        </p:txBody>
      </p:sp>
      <p:sp>
        <p:nvSpPr>
          <p:cNvPr id="35" name="TextBox 34"/>
          <p:cNvSpPr txBox="1"/>
          <p:nvPr/>
        </p:nvSpPr>
        <p:spPr>
          <a:xfrm>
            <a:off x="667512" y="6446520"/>
            <a:ext cx="10917936" cy="274319"/>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МИНИ-ПРОВАЛ: 86% закупщиков используют AI, но внедрение ≠ успех. Toys R Us Cannes 2024 — разворот тональности −10 п.п.</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914400"/>
            <a:ext cx="3657600" cy="4114800"/>
          </a:xfrm>
          <a:prstGeom prst="rect">
            <a:avLst/>
          </a:prstGeom>
          <a:noFill/>
        </p:spPr>
        <p:txBody>
          <a:bodyPr wrap="square" lIns="0" rIns="0" tIns="0" bIns="0" anchor="t">
            <a:spAutoFit/>
          </a:bodyPr>
          <a:lstStyle/>
          <a:p>
            <a:pPr algn="ctr">
              <a:lnSpc>
                <a:spcPct val="100000"/>
              </a:lnSpc>
            </a:pPr>
            <a:r>
              <a:rPr sz="30000" b="1" i="0">
                <a:solidFill>
                  <a:srgbClr val="D9E2EC"/>
                </a:solidFill>
                <a:latin typeface="Arial"/>
              </a:rPr>
              <a:t>2</a:t>
            </a:r>
          </a:p>
        </p:txBody>
      </p:sp>
      <p:sp>
        <p:nvSpPr>
          <p:cNvPr id="3" name="TextBox 2"/>
          <p:cNvSpPr txBox="1"/>
          <p:nvPr/>
        </p:nvSpPr>
        <p:spPr>
          <a:xfrm>
            <a:off x="4297680" y="1463040"/>
            <a:ext cx="7315200" cy="457200"/>
          </a:xfrm>
          <a:prstGeom prst="rect">
            <a:avLst/>
          </a:prstGeom>
          <a:noFill/>
        </p:spPr>
        <p:txBody>
          <a:bodyPr wrap="square" lIns="0" rIns="0" tIns="0" bIns="0" anchor="t">
            <a:spAutoFit/>
          </a:bodyPr>
          <a:lstStyle/>
          <a:p>
            <a:pPr algn="l">
              <a:lnSpc>
                <a:spcPct val="100000"/>
              </a:lnSpc>
            </a:pPr>
            <a:r>
              <a:rPr sz="1800" b="1" i="0">
                <a:solidFill>
                  <a:srgbClr val="028090"/>
                </a:solidFill>
                <a:latin typeface="Arial"/>
              </a:rPr>
              <a:t>РАЗДЕЛ</a:t>
            </a:r>
          </a:p>
        </p:txBody>
      </p:sp>
      <p:sp>
        <p:nvSpPr>
          <p:cNvPr id="4" name="TextBox 3"/>
          <p:cNvSpPr txBox="1"/>
          <p:nvPr/>
        </p:nvSpPr>
        <p:spPr>
          <a:xfrm>
            <a:off x="4297680" y="1965960"/>
            <a:ext cx="7315200" cy="1645920"/>
          </a:xfrm>
          <a:prstGeom prst="rect">
            <a:avLst/>
          </a:prstGeom>
          <a:noFill/>
        </p:spPr>
        <p:txBody>
          <a:bodyPr wrap="square" lIns="0" rIns="0" tIns="0" bIns="0" anchor="t">
            <a:spAutoFit/>
          </a:bodyPr>
          <a:lstStyle/>
          <a:p>
            <a:pPr algn="l">
              <a:lnSpc>
                <a:spcPct val="115000"/>
              </a:lnSpc>
            </a:pPr>
            <a:r>
              <a:rPr sz="4400" b="1" i="0">
                <a:solidFill>
                  <a:srgbClr val="21295C"/>
                </a:solidFill>
                <a:latin typeface="Arial"/>
              </a:rPr>
              <a:t>AI ИЗМЕНИЛ</a:t>
            </a:r>
          </a:p>
        </p:txBody>
      </p:sp>
      <p:sp>
        <p:nvSpPr>
          <p:cNvPr id="5" name="Rectangle 4"/>
          <p:cNvSpPr/>
          <p:nvPr/>
        </p:nvSpPr>
        <p:spPr>
          <a:xfrm>
            <a:off x="4297680" y="3611880"/>
            <a:ext cx="36576"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434840" y="3611880"/>
            <a:ext cx="7223760" cy="914400"/>
          </a:xfrm>
          <a:prstGeom prst="rect">
            <a:avLst/>
          </a:prstGeom>
          <a:noFill/>
        </p:spPr>
        <p:txBody>
          <a:bodyPr wrap="square" lIns="0" rIns="0" tIns="0" bIns="0" anchor="t">
            <a:spAutoFit/>
          </a:bodyPr>
          <a:lstStyle/>
          <a:p>
            <a:pPr algn="l">
              <a:lnSpc>
                <a:spcPct val="130000"/>
              </a:lnSpc>
            </a:pPr>
            <a:r>
              <a:rPr sz="1600" b="0" i="0">
                <a:solidFill>
                  <a:srgbClr val="065A82"/>
                </a:solidFill>
                <a:latin typeface="Arial"/>
              </a:rPr>
              <a:t>Обвал стоимости 100×-10 000× · скорость дни → секунды · новые vs потерянные роли.</a:t>
            </a:r>
          </a:p>
        </p:txBody>
      </p:sp>
      <p:sp>
        <p:nvSpPr>
          <p:cNvPr id="7" name="Rounded Rectangle 6"/>
          <p:cNvSpPr/>
          <p:nvPr/>
        </p:nvSpPr>
        <p:spPr>
          <a:xfrm>
            <a:off x="502920" y="5349240"/>
            <a:ext cx="1783080"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22392"/>
            <a:ext cx="1783080" cy="365760"/>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0</a:t>
            </a:r>
          </a:p>
        </p:txBody>
      </p:sp>
      <p:sp>
        <p:nvSpPr>
          <p:cNvPr id="9" name="TextBox 8"/>
          <p:cNvSpPr txBox="1"/>
          <p:nvPr/>
        </p:nvSpPr>
        <p:spPr>
          <a:xfrm>
            <a:off x="539496" y="5769864"/>
            <a:ext cx="1709928" cy="411479"/>
          </a:xfrm>
          <a:prstGeom prst="rect">
            <a:avLst/>
          </a:prstGeom>
          <a:noFill/>
        </p:spPr>
        <p:txBody>
          <a:bodyPr wrap="square" lIns="0" rIns="0" tIns="0" bIns="0" anchor="t">
            <a:spAutoFit/>
          </a:bodyPr>
          <a:lstStyle/>
          <a:p>
            <a:pPr algn="ctr">
              <a:lnSpc>
                <a:spcPct val="115000"/>
              </a:lnSpc>
            </a:pPr>
            <a:r>
              <a:rPr sz="900" b="0" i="0">
                <a:solidFill>
                  <a:srgbClr val="065A82"/>
                </a:solidFill>
                <a:latin typeface="Arial"/>
              </a:rPr>
              <a:t>Открытие
+ ось лекции</a:t>
            </a:r>
          </a:p>
        </p:txBody>
      </p:sp>
      <p:sp>
        <p:nvSpPr>
          <p:cNvPr id="10" name="Rounded Rectangle 9"/>
          <p:cNvSpPr/>
          <p:nvPr/>
        </p:nvSpPr>
        <p:spPr>
          <a:xfrm>
            <a:off x="2395728" y="5349240"/>
            <a:ext cx="1783080"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95728" y="5422392"/>
            <a:ext cx="1783080" cy="365760"/>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1</a:t>
            </a:r>
          </a:p>
        </p:txBody>
      </p:sp>
      <p:sp>
        <p:nvSpPr>
          <p:cNvPr id="12" name="TextBox 11"/>
          <p:cNvSpPr txBox="1"/>
          <p:nvPr/>
        </p:nvSpPr>
        <p:spPr>
          <a:xfrm>
            <a:off x="2432304" y="5769864"/>
            <a:ext cx="1709928" cy="411479"/>
          </a:xfrm>
          <a:prstGeom prst="rect">
            <a:avLst/>
          </a:prstGeom>
          <a:noFill/>
        </p:spPr>
        <p:txBody>
          <a:bodyPr wrap="square" lIns="0" rIns="0" tIns="0" bIns="0" anchor="t">
            <a:spAutoFit/>
          </a:bodyPr>
          <a:lstStyle/>
          <a:p>
            <a:pPr algn="ctr">
              <a:lnSpc>
                <a:spcPct val="115000"/>
              </a:lnSpc>
            </a:pPr>
            <a:r>
              <a:rPr sz="900" b="0" i="0">
                <a:solidFill>
                  <a:srgbClr val="065A82"/>
                </a:solidFill>
                <a:latin typeface="Arial"/>
              </a:rPr>
              <a:t>AI ДОБАВИЛ</a:t>
            </a:r>
          </a:p>
        </p:txBody>
      </p:sp>
      <p:sp>
        <p:nvSpPr>
          <p:cNvPr id="13" name="Rounded Rectangle 12"/>
          <p:cNvSpPr/>
          <p:nvPr/>
        </p:nvSpPr>
        <p:spPr>
          <a:xfrm>
            <a:off x="4288536" y="5349240"/>
            <a:ext cx="1783080" cy="868680"/>
          </a:xfrm>
          <a:prstGeom prst="roundRect">
            <a:avLst>
              <a:gd name="adj" fmla="val 25000"/>
            </a:avLst>
          </a:prstGeom>
          <a:solidFill>
            <a:srgbClr val="F0AB0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88536" y="5422392"/>
            <a:ext cx="1783080" cy="365760"/>
          </a:xfrm>
          <a:prstGeom prst="rect">
            <a:avLst/>
          </a:prstGeom>
          <a:noFill/>
        </p:spPr>
        <p:txBody>
          <a:bodyPr wrap="square" lIns="0" rIns="0" tIns="0" bIns="0" anchor="t">
            <a:spAutoFit/>
          </a:bodyPr>
          <a:lstStyle/>
          <a:p>
            <a:pPr algn="ctr">
              <a:lnSpc>
                <a:spcPct val="100000"/>
              </a:lnSpc>
            </a:pPr>
            <a:r>
              <a:rPr sz="2200" b="1" i="0">
                <a:solidFill>
                  <a:srgbClr val="FFFFFF"/>
                </a:solidFill>
                <a:latin typeface="Arial"/>
              </a:rPr>
              <a:t>2</a:t>
            </a:r>
          </a:p>
        </p:txBody>
      </p:sp>
      <p:sp>
        <p:nvSpPr>
          <p:cNvPr id="15" name="TextBox 14"/>
          <p:cNvSpPr txBox="1"/>
          <p:nvPr/>
        </p:nvSpPr>
        <p:spPr>
          <a:xfrm>
            <a:off x="4325112" y="5769864"/>
            <a:ext cx="1709928" cy="411479"/>
          </a:xfrm>
          <a:prstGeom prst="rect">
            <a:avLst/>
          </a:prstGeom>
          <a:noFill/>
        </p:spPr>
        <p:txBody>
          <a:bodyPr wrap="square" lIns="0" rIns="0" tIns="0" bIns="0" anchor="t">
            <a:spAutoFit/>
          </a:bodyPr>
          <a:lstStyle/>
          <a:p>
            <a:pPr algn="ctr">
              <a:lnSpc>
                <a:spcPct val="115000"/>
              </a:lnSpc>
            </a:pPr>
            <a:r>
              <a:rPr sz="900" b="1" i="0">
                <a:solidFill>
                  <a:srgbClr val="FFFFFF"/>
                </a:solidFill>
                <a:latin typeface="Arial"/>
              </a:rPr>
              <a:t>AI ИЗМЕНИЛ</a:t>
            </a:r>
          </a:p>
        </p:txBody>
      </p:sp>
      <p:sp>
        <p:nvSpPr>
          <p:cNvPr id="16" name="Rounded Rectangle 15"/>
          <p:cNvSpPr/>
          <p:nvPr/>
        </p:nvSpPr>
        <p:spPr>
          <a:xfrm>
            <a:off x="6181344" y="5349240"/>
            <a:ext cx="1783080"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81344" y="5422392"/>
            <a:ext cx="1783080" cy="365760"/>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3</a:t>
            </a:r>
          </a:p>
        </p:txBody>
      </p:sp>
      <p:sp>
        <p:nvSpPr>
          <p:cNvPr id="18" name="TextBox 17"/>
          <p:cNvSpPr txBox="1"/>
          <p:nvPr/>
        </p:nvSpPr>
        <p:spPr>
          <a:xfrm>
            <a:off x="6217920" y="5769864"/>
            <a:ext cx="1709928" cy="411479"/>
          </a:xfrm>
          <a:prstGeom prst="rect">
            <a:avLst/>
          </a:prstGeom>
          <a:noFill/>
        </p:spPr>
        <p:txBody>
          <a:bodyPr wrap="square" lIns="0" rIns="0" tIns="0" bIns="0" anchor="t">
            <a:spAutoFit/>
          </a:bodyPr>
          <a:lstStyle/>
          <a:p>
            <a:pPr algn="ctr">
              <a:lnSpc>
                <a:spcPct val="115000"/>
              </a:lnSpc>
            </a:pPr>
            <a:r>
              <a:rPr sz="900" b="0" i="0">
                <a:solidFill>
                  <a:srgbClr val="6B7685"/>
                </a:solidFill>
                <a:latin typeface="Arial"/>
              </a:rPr>
              <a:t>AI СЛОМАЛ</a:t>
            </a:r>
          </a:p>
        </p:txBody>
      </p:sp>
      <p:sp>
        <p:nvSpPr>
          <p:cNvPr id="19" name="Rounded Rectangle 18"/>
          <p:cNvSpPr/>
          <p:nvPr/>
        </p:nvSpPr>
        <p:spPr>
          <a:xfrm>
            <a:off x="8074152" y="5349240"/>
            <a:ext cx="1783080"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74152" y="5422392"/>
            <a:ext cx="1783080" cy="365760"/>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4</a:t>
            </a:r>
          </a:p>
        </p:txBody>
      </p:sp>
      <p:sp>
        <p:nvSpPr>
          <p:cNvPr id="21" name="TextBox 20"/>
          <p:cNvSpPr txBox="1"/>
          <p:nvPr/>
        </p:nvSpPr>
        <p:spPr>
          <a:xfrm>
            <a:off x="8110728" y="5769864"/>
            <a:ext cx="1709928" cy="411479"/>
          </a:xfrm>
          <a:prstGeom prst="rect">
            <a:avLst/>
          </a:prstGeom>
          <a:noFill/>
        </p:spPr>
        <p:txBody>
          <a:bodyPr wrap="square" lIns="0" rIns="0" tIns="0" bIns="0" anchor="t">
            <a:spAutoFit/>
          </a:bodyPr>
          <a:lstStyle/>
          <a:p>
            <a:pPr algn="ctr">
              <a:lnSpc>
                <a:spcPct val="115000"/>
              </a:lnSpc>
            </a:pPr>
            <a:r>
              <a:rPr sz="900" b="0" i="0">
                <a:solidFill>
                  <a:srgbClr val="6B7685"/>
                </a:solidFill>
                <a:latin typeface="Arial"/>
              </a:rPr>
              <a:t>AI не нужен</a:t>
            </a:r>
          </a:p>
        </p:txBody>
      </p:sp>
      <p:sp>
        <p:nvSpPr>
          <p:cNvPr id="22" name="Rounded Rectangle 21"/>
          <p:cNvSpPr/>
          <p:nvPr/>
        </p:nvSpPr>
        <p:spPr>
          <a:xfrm>
            <a:off x="9966960" y="5349240"/>
            <a:ext cx="1783080"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66960" y="5422392"/>
            <a:ext cx="1783080" cy="365760"/>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5</a:t>
            </a:r>
          </a:p>
        </p:txBody>
      </p:sp>
      <p:sp>
        <p:nvSpPr>
          <p:cNvPr id="24" name="TextBox 23"/>
          <p:cNvSpPr txBox="1"/>
          <p:nvPr/>
        </p:nvSpPr>
        <p:spPr>
          <a:xfrm>
            <a:off x="10003536" y="5769864"/>
            <a:ext cx="1709928" cy="411479"/>
          </a:xfrm>
          <a:prstGeom prst="rect">
            <a:avLst/>
          </a:prstGeom>
          <a:noFill/>
        </p:spPr>
        <p:txBody>
          <a:bodyPr wrap="square" lIns="0" rIns="0" tIns="0" bIns="0" anchor="t">
            <a:spAutoFit/>
          </a:bodyPr>
          <a:lstStyle/>
          <a:p>
            <a:pPr algn="ctr">
              <a:lnSpc>
                <a:spcPct val="115000"/>
              </a:lnSpc>
            </a:pPr>
            <a:r>
              <a:rPr sz="900" b="0" i="0">
                <a:solidFill>
                  <a:srgbClr val="6B7685"/>
                </a:solidFill>
                <a:latin typeface="Arial"/>
              </a:rPr>
              <a:t>Что делать</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Обвал стоимости: 100×–10 000× по типам ассетов</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Маржинальная стоимость генерации — на 2-4 порядка дешевле. Но коммерчески-безопасный корпоративный сегмент — отдельный.</a:t>
            </a:r>
          </a:p>
        </p:txBody>
      </p:sp>
      <p:sp>
        <p:nvSpPr>
          <p:cNvPr id="4" name="Rectangle 3"/>
          <p:cNvSpPr/>
          <p:nvPr/>
        </p:nvSpPr>
        <p:spPr>
          <a:xfrm>
            <a:off x="502920" y="1828800"/>
            <a:ext cx="7772400" cy="457200"/>
          </a:xfrm>
          <a:prstGeom prst="rect">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94360" y="1920240"/>
            <a:ext cx="2103120" cy="27432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АССЕТ</a:t>
            </a:r>
          </a:p>
        </p:txBody>
      </p:sp>
      <p:sp>
        <p:nvSpPr>
          <p:cNvPr id="6" name="TextBox 5"/>
          <p:cNvSpPr txBox="1"/>
          <p:nvPr/>
        </p:nvSpPr>
        <p:spPr>
          <a:xfrm>
            <a:off x="2880360" y="1920240"/>
            <a:ext cx="1645920" cy="27432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ДО</a:t>
            </a:r>
          </a:p>
        </p:txBody>
      </p:sp>
      <p:sp>
        <p:nvSpPr>
          <p:cNvPr id="7" name="TextBox 6"/>
          <p:cNvSpPr txBox="1"/>
          <p:nvPr/>
        </p:nvSpPr>
        <p:spPr>
          <a:xfrm>
            <a:off x="4709159" y="1920240"/>
            <a:ext cx="1645920" cy="27432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ПОСЛЕ</a:t>
            </a:r>
          </a:p>
        </p:txBody>
      </p:sp>
      <p:sp>
        <p:nvSpPr>
          <p:cNvPr id="8" name="TextBox 7"/>
          <p:cNvSpPr txBox="1"/>
          <p:nvPr/>
        </p:nvSpPr>
        <p:spPr>
          <a:xfrm>
            <a:off x="6537959" y="1920240"/>
            <a:ext cx="1645920" cy="274320"/>
          </a:xfrm>
          <a:prstGeom prst="rect">
            <a:avLst/>
          </a:prstGeom>
          <a:noFill/>
        </p:spPr>
        <p:txBody>
          <a:bodyPr wrap="square" lIns="0" rIns="0" tIns="0" bIns="0" anchor="ctr">
            <a:spAutoFit/>
          </a:bodyPr>
          <a:lstStyle/>
          <a:p>
            <a:pPr algn="l">
              <a:lnSpc>
                <a:spcPct val="115000"/>
              </a:lnSpc>
            </a:pPr>
            <a:r>
              <a:rPr sz="1100" b="1" i="0">
                <a:solidFill>
                  <a:srgbClr val="FFFFFF"/>
                </a:solidFill>
                <a:latin typeface="Arial"/>
              </a:rPr>
              <a:t>×</a:t>
            </a:r>
          </a:p>
        </p:txBody>
      </p:sp>
      <p:sp>
        <p:nvSpPr>
          <p:cNvPr id="9" name="Rectangle 8"/>
          <p:cNvSpPr/>
          <p:nvPr/>
        </p:nvSpPr>
        <p:spPr>
          <a:xfrm>
            <a:off x="502920" y="2286000"/>
            <a:ext cx="7772400" cy="822960"/>
          </a:xfrm>
          <a:prstGeom prst="rect">
            <a:avLst/>
          </a:prstGeom>
          <a:solidFill>
            <a:srgbClr val="F4F7FA"/>
          </a:solidFill>
          <a:ln w="63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4360" y="2377440"/>
            <a:ext cx="2103120" cy="640080"/>
          </a:xfrm>
          <a:prstGeom prst="rect">
            <a:avLst/>
          </a:prstGeom>
          <a:noFill/>
        </p:spPr>
        <p:txBody>
          <a:bodyPr wrap="square" lIns="0" rIns="0" tIns="0" bIns="0" anchor="ctr">
            <a:spAutoFit/>
          </a:bodyPr>
          <a:lstStyle/>
          <a:p>
            <a:pPr algn="l">
              <a:lnSpc>
                <a:spcPct val="120000"/>
              </a:lnSpc>
            </a:pPr>
            <a:r>
              <a:rPr sz="1200" b="1" i="0">
                <a:solidFill>
                  <a:srgbClr val="21295C"/>
                </a:solidFill>
                <a:latin typeface="Arial"/>
              </a:rPr>
              <a:t>1 картинка</a:t>
            </a:r>
          </a:p>
        </p:txBody>
      </p:sp>
      <p:sp>
        <p:nvSpPr>
          <p:cNvPr id="11" name="TextBox 10"/>
          <p:cNvSpPr txBox="1"/>
          <p:nvPr/>
        </p:nvSpPr>
        <p:spPr>
          <a:xfrm>
            <a:off x="2880360" y="2377440"/>
            <a:ext cx="1645920" cy="640080"/>
          </a:xfrm>
          <a:prstGeom prst="rect">
            <a:avLst/>
          </a:prstGeom>
          <a:noFill/>
        </p:spPr>
        <p:txBody>
          <a:bodyPr wrap="square" lIns="0" rIns="0" tIns="0" bIns="0" anchor="ctr">
            <a:spAutoFit/>
          </a:bodyPr>
          <a:lstStyle/>
          <a:p>
            <a:pPr algn="l">
              <a:lnSpc>
                <a:spcPct val="120000"/>
              </a:lnSpc>
            </a:pPr>
            <a:r>
              <a:rPr sz="1100" b="0" i="1">
                <a:solidFill>
                  <a:srgbClr val="6B7685"/>
                </a:solidFill>
                <a:latin typeface="Arial"/>
              </a:rPr>
              <a:t>$50-200 фриланс
$25-100 стоковое фото</a:t>
            </a:r>
          </a:p>
        </p:txBody>
      </p:sp>
      <p:sp>
        <p:nvSpPr>
          <p:cNvPr id="12" name="TextBox 11"/>
          <p:cNvSpPr txBox="1"/>
          <p:nvPr/>
        </p:nvSpPr>
        <p:spPr>
          <a:xfrm>
            <a:off x="4709159" y="2377440"/>
            <a:ext cx="1645920" cy="640080"/>
          </a:xfrm>
          <a:prstGeom prst="rect">
            <a:avLst/>
          </a:prstGeom>
          <a:noFill/>
        </p:spPr>
        <p:txBody>
          <a:bodyPr wrap="square" lIns="0" rIns="0" tIns="0" bIns="0" anchor="ctr">
            <a:spAutoFit/>
          </a:bodyPr>
          <a:lstStyle/>
          <a:p>
            <a:pPr algn="l">
              <a:lnSpc>
                <a:spcPct val="120000"/>
              </a:lnSpc>
            </a:pPr>
            <a:r>
              <a:rPr sz="1200" b="1" i="0">
                <a:solidFill>
                  <a:srgbClr val="21295C"/>
                </a:solidFill>
                <a:latin typeface="Arial"/>
              </a:rPr>
              <a:t>$0-0.25</a:t>
            </a:r>
          </a:p>
        </p:txBody>
      </p:sp>
      <p:sp>
        <p:nvSpPr>
          <p:cNvPr id="13" name="TextBox 12"/>
          <p:cNvSpPr txBox="1"/>
          <p:nvPr/>
        </p:nvSpPr>
        <p:spPr>
          <a:xfrm>
            <a:off x="6537959" y="2377440"/>
            <a:ext cx="1645920" cy="640080"/>
          </a:xfrm>
          <a:prstGeom prst="rect">
            <a:avLst/>
          </a:prstGeom>
          <a:noFill/>
        </p:spPr>
        <p:txBody>
          <a:bodyPr wrap="square" lIns="0" rIns="0" tIns="0" bIns="0" anchor="ctr">
            <a:spAutoFit/>
          </a:bodyPr>
          <a:lstStyle/>
          <a:p>
            <a:pPr algn="l">
              <a:lnSpc>
                <a:spcPct val="120000"/>
              </a:lnSpc>
            </a:pPr>
            <a:r>
              <a:rPr sz="1300" b="1" i="0">
                <a:solidFill>
                  <a:srgbClr val="F0AB00"/>
                </a:solidFill>
                <a:latin typeface="Arial"/>
              </a:rPr>
              <a:t>200×-10 000×</a:t>
            </a:r>
          </a:p>
        </p:txBody>
      </p:sp>
      <p:sp>
        <p:nvSpPr>
          <p:cNvPr id="14" name="Rectangle 13"/>
          <p:cNvSpPr/>
          <p:nvPr/>
        </p:nvSpPr>
        <p:spPr>
          <a:xfrm>
            <a:off x="502920" y="3108960"/>
            <a:ext cx="7772400" cy="822960"/>
          </a:xfrm>
          <a:prstGeom prst="rect">
            <a:avLst/>
          </a:prstGeom>
          <a:solidFill>
            <a:srgbClr val="FFFFFF"/>
          </a:solidFill>
          <a:ln w="63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3200400"/>
            <a:ext cx="2103120" cy="640080"/>
          </a:xfrm>
          <a:prstGeom prst="rect">
            <a:avLst/>
          </a:prstGeom>
          <a:noFill/>
        </p:spPr>
        <p:txBody>
          <a:bodyPr wrap="square" lIns="0" rIns="0" tIns="0" bIns="0" anchor="ctr">
            <a:spAutoFit/>
          </a:bodyPr>
          <a:lstStyle/>
          <a:p>
            <a:pPr algn="l">
              <a:lnSpc>
                <a:spcPct val="120000"/>
              </a:lnSpc>
            </a:pPr>
            <a:r>
              <a:rPr sz="1200" b="1" i="0">
                <a:solidFill>
                  <a:srgbClr val="21295C"/>
                </a:solidFill>
                <a:latin typeface="Arial"/>
              </a:rPr>
              <a:t>50 продуктовых картинок</a:t>
            </a:r>
          </a:p>
        </p:txBody>
      </p:sp>
      <p:sp>
        <p:nvSpPr>
          <p:cNvPr id="16" name="TextBox 15"/>
          <p:cNvSpPr txBox="1"/>
          <p:nvPr/>
        </p:nvSpPr>
        <p:spPr>
          <a:xfrm>
            <a:off x="2880360" y="3200400"/>
            <a:ext cx="1645920" cy="640080"/>
          </a:xfrm>
          <a:prstGeom prst="rect">
            <a:avLst/>
          </a:prstGeom>
          <a:noFill/>
        </p:spPr>
        <p:txBody>
          <a:bodyPr wrap="square" lIns="0" rIns="0" tIns="0" bIns="0" anchor="ctr">
            <a:spAutoFit/>
          </a:bodyPr>
          <a:lstStyle/>
          <a:p>
            <a:pPr algn="l">
              <a:lnSpc>
                <a:spcPct val="120000"/>
              </a:lnSpc>
            </a:pPr>
            <a:r>
              <a:rPr sz="1100" b="0" i="1">
                <a:solidFill>
                  <a:srgbClr val="6B7685"/>
                </a:solidFill>
                <a:latin typeface="Arial"/>
              </a:rPr>
              <a:t>$1-25 тыс. фотосет</a:t>
            </a:r>
          </a:p>
        </p:txBody>
      </p:sp>
      <p:sp>
        <p:nvSpPr>
          <p:cNvPr id="17" name="TextBox 16"/>
          <p:cNvSpPr txBox="1"/>
          <p:nvPr/>
        </p:nvSpPr>
        <p:spPr>
          <a:xfrm>
            <a:off x="4709159" y="3200400"/>
            <a:ext cx="1645920" cy="640080"/>
          </a:xfrm>
          <a:prstGeom prst="rect">
            <a:avLst/>
          </a:prstGeom>
          <a:noFill/>
        </p:spPr>
        <p:txBody>
          <a:bodyPr wrap="square" lIns="0" rIns="0" tIns="0" bIns="0" anchor="ctr">
            <a:spAutoFit/>
          </a:bodyPr>
          <a:lstStyle/>
          <a:p>
            <a:pPr algn="l">
              <a:lnSpc>
                <a:spcPct val="120000"/>
              </a:lnSpc>
            </a:pPr>
            <a:r>
              <a:rPr sz="1200" b="1" i="0">
                <a:solidFill>
                  <a:srgbClr val="21295C"/>
                </a:solidFill>
                <a:latin typeface="Arial"/>
              </a:rPr>
              <a:t>$0-1.50</a:t>
            </a:r>
          </a:p>
        </p:txBody>
      </p:sp>
      <p:sp>
        <p:nvSpPr>
          <p:cNvPr id="18" name="TextBox 17"/>
          <p:cNvSpPr txBox="1"/>
          <p:nvPr/>
        </p:nvSpPr>
        <p:spPr>
          <a:xfrm>
            <a:off x="6537959" y="3200400"/>
            <a:ext cx="1645920" cy="640080"/>
          </a:xfrm>
          <a:prstGeom prst="rect">
            <a:avLst/>
          </a:prstGeom>
          <a:noFill/>
        </p:spPr>
        <p:txBody>
          <a:bodyPr wrap="square" lIns="0" rIns="0" tIns="0" bIns="0" anchor="ctr">
            <a:spAutoFit/>
          </a:bodyPr>
          <a:lstStyle/>
          <a:p>
            <a:pPr algn="l">
              <a:lnSpc>
                <a:spcPct val="120000"/>
              </a:lnSpc>
            </a:pPr>
            <a:r>
              <a:rPr sz="1300" b="1" i="0">
                <a:solidFill>
                  <a:srgbClr val="F0AB00"/>
                </a:solidFill>
                <a:latin typeface="Arial"/>
              </a:rPr>
              <a:t>&gt;1 000×</a:t>
            </a:r>
          </a:p>
        </p:txBody>
      </p:sp>
      <p:sp>
        <p:nvSpPr>
          <p:cNvPr id="19" name="Rectangle 18"/>
          <p:cNvSpPr/>
          <p:nvPr/>
        </p:nvSpPr>
        <p:spPr>
          <a:xfrm>
            <a:off x="502920" y="3931920"/>
            <a:ext cx="7772400" cy="822960"/>
          </a:xfrm>
          <a:prstGeom prst="rect">
            <a:avLst/>
          </a:prstGeom>
          <a:solidFill>
            <a:srgbClr val="F4F7FA"/>
          </a:solidFill>
          <a:ln w="63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4023359"/>
            <a:ext cx="2103120" cy="640080"/>
          </a:xfrm>
          <a:prstGeom prst="rect">
            <a:avLst/>
          </a:prstGeom>
          <a:noFill/>
        </p:spPr>
        <p:txBody>
          <a:bodyPr wrap="square" lIns="0" rIns="0" tIns="0" bIns="0" anchor="ctr">
            <a:spAutoFit/>
          </a:bodyPr>
          <a:lstStyle/>
          <a:p>
            <a:pPr algn="l">
              <a:lnSpc>
                <a:spcPct val="120000"/>
              </a:lnSpc>
            </a:pPr>
            <a:r>
              <a:rPr sz="1200" b="1" i="0">
                <a:solidFill>
                  <a:srgbClr val="21295C"/>
                </a:solidFill>
                <a:latin typeface="Arial"/>
              </a:rPr>
              <a:t>1 мин видео 720p</a:t>
            </a:r>
          </a:p>
        </p:txBody>
      </p:sp>
      <p:sp>
        <p:nvSpPr>
          <p:cNvPr id="21" name="TextBox 20"/>
          <p:cNvSpPr txBox="1"/>
          <p:nvPr/>
        </p:nvSpPr>
        <p:spPr>
          <a:xfrm>
            <a:off x="2880360" y="4023359"/>
            <a:ext cx="1645920" cy="640080"/>
          </a:xfrm>
          <a:prstGeom prst="rect">
            <a:avLst/>
          </a:prstGeom>
          <a:noFill/>
        </p:spPr>
        <p:txBody>
          <a:bodyPr wrap="square" lIns="0" rIns="0" tIns="0" bIns="0" anchor="ctr">
            <a:spAutoFit/>
          </a:bodyPr>
          <a:lstStyle/>
          <a:p>
            <a:pPr algn="l">
              <a:lnSpc>
                <a:spcPct val="120000"/>
              </a:lnSpc>
            </a:pPr>
            <a:r>
              <a:rPr sz="1100" b="0" i="1">
                <a:solidFill>
                  <a:srgbClr val="6B7685"/>
                </a:solidFill>
                <a:latin typeface="Arial"/>
              </a:rPr>
              <a:t>$1-50 тыс. съёмка+постпродакшн</a:t>
            </a:r>
          </a:p>
        </p:txBody>
      </p:sp>
      <p:sp>
        <p:nvSpPr>
          <p:cNvPr id="22" name="TextBox 21"/>
          <p:cNvSpPr txBox="1"/>
          <p:nvPr/>
        </p:nvSpPr>
        <p:spPr>
          <a:xfrm>
            <a:off x="4709159" y="4023359"/>
            <a:ext cx="1645920" cy="640080"/>
          </a:xfrm>
          <a:prstGeom prst="rect">
            <a:avLst/>
          </a:prstGeom>
          <a:noFill/>
        </p:spPr>
        <p:txBody>
          <a:bodyPr wrap="square" lIns="0" rIns="0" tIns="0" bIns="0" anchor="ctr">
            <a:spAutoFit/>
          </a:bodyPr>
          <a:lstStyle/>
          <a:p>
            <a:pPr algn="l">
              <a:lnSpc>
                <a:spcPct val="120000"/>
              </a:lnSpc>
            </a:pPr>
            <a:r>
              <a:rPr sz="1200" b="1" i="0">
                <a:solidFill>
                  <a:srgbClr val="21295C"/>
                </a:solidFill>
                <a:latin typeface="Arial"/>
              </a:rPr>
              <a:t>~$6 Sora 2</a:t>
            </a:r>
          </a:p>
        </p:txBody>
      </p:sp>
      <p:sp>
        <p:nvSpPr>
          <p:cNvPr id="23" name="TextBox 22"/>
          <p:cNvSpPr txBox="1"/>
          <p:nvPr/>
        </p:nvSpPr>
        <p:spPr>
          <a:xfrm>
            <a:off x="6537959" y="4023359"/>
            <a:ext cx="1645920" cy="640080"/>
          </a:xfrm>
          <a:prstGeom prst="rect">
            <a:avLst/>
          </a:prstGeom>
          <a:noFill/>
        </p:spPr>
        <p:txBody>
          <a:bodyPr wrap="square" lIns="0" rIns="0" tIns="0" bIns="0" anchor="ctr">
            <a:spAutoFit/>
          </a:bodyPr>
          <a:lstStyle/>
          <a:p>
            <a:pPr algn="l">
              <a:lnSpc>
                <a:spcPct val="120000"/>
              </a:lnSpc>
            </a:pPr>
            <a:r>
              <a:rPr sz="1300" b="1" i="0">
                <a:solidFill>
                  <a:srgbClr val="F0AB00"/>
                </a:solidFill>
                <a:latin typeface="Arial"/>
              </a:rPr>
              <a:t>150×-8 000×</a:t>
            </a:r>
          </a:p>
        </p:txBody>
      </p:sp>
      <p:sp>
        <p:nvSpPr>
          <p:cNvPr id="24" name="Rectangle 23"/>
          <p:cNvSpPr/>
          <p:nvPr/>
        </p:nvSpPr>
        <p:spPr>
          <a:xfrm>
            <a:off x="502920" y="4754880"/>
            <a:ext cx="7772400" cy="822960"/>
          </a:xfrm>
          <a:prstGeom prst="rect">
            <a:avLst/>
          </a:prstGeom>
          <a:solidFill>
            <a:srgbClr val="FFFFFF"/>
          </a:solidFill>
          <a:ln w="63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94360" y="4846320"/>
            <a:ext cx="2103120" cy="640080"/>
          </a:xfrm>
          <a:prstGeom prst="rect">
            <a:avLst/>
          </a:prstGeom>
          <a:noFill/>
        </p:spPr>
        <p:txBody>
          <a:bodyPr wrap="square" lIns="0" rIns="0" tIns="0" bIns="0" anchor="ctr">
            <a:spAutoFit/>
          </a:bodyPr>
          <a:lstStyle/>
          <a:p>
            <a:pPr algn="l">
              <a:lnSpc>
                <a:spcPct val="120000"/>
              </a:lnSpc>
            </a:pPr>
            <a:r>
              <a:rPr sz="1200" b="1" i="0">
                <a:solidFill>
                  <a:srgbClr val="21295C"/>
                </a:solidFill>
                <a:latin typeface="Arial"/>
              </a:rPr>
              <a:t>Дубляж $/мин/язык</a:t>
            </a:r>
          </a:p>
        </p:txBody>
      </p:sp>
      <p:sp>
        <p:nvSpPr>
          <p:cNvPr id="26" name="TextBox 25"/>
          <p:cNvSpPr txBox="1"/>
          <p:nvPr/>
        </p:nvSpPr>
        <p:spPr>
          <a:xfrm>
            <a:off x="2880360" y="4846320"/>
            <a:ext cx="1645920" cy="640080"/>
          </a:xfrm>
          <a:prstGeom prst="rect">
            <a:avLst/>
          </a:prstGeom>
          <a:noFill/>
        </p:spPr>
        <p:txBody>
          <a:bodyPr wrap="square" lIns="0" rIns="0" tIns="0" bIns="0" anchor="ctr">
            <a:spAutoFit/>
          </a:bodyPr>
          <a:lstStyle/>
          <a:p>
            <a:pPr algn="l">
              <a:lnSpc>
                <a:spcPct val="120000"/>
              </a:lnSpc>
            </a:pPr>
            <a:r>
              <a:rPr sz="1100" b="0" i="1">
                <a:solidFill>
                  <a:srgbClr val="6B7685"/>
                </a:solidFill>
                <a:latin typeface="Arial"/>
              </a:rPr>
              <a:t>$50-500 актёр+студия</a:t>
            </a:r>
          </a:p>
        </p:txBody>
      </p:sp>
      <p:sp>
        <p:nvSpPr>
          <p:cNvPr id="27" name="TextBox 26"/>
          <p:cNvSpPr txBox="1"/>
          <p:nvPr/>
        </p:nvSpPr>
        <p:spPr>
          <a:xfrm>
            <a:off x="4709159" y="4846320"/>
            <a:ext cx="1645920" cy="640080"/>
          </a:xfrm>
          <a:prstGeom prst="rect">
            <a:avLst/>
          </a:prstGeom>
          <a:noFill/>
        </p:spPr>
        <p:txBody>
          <a:bodyPr wrap="square" lIns="0" rIns="0" tIns="0" bIns="0" anchor="ctr">
            <a:spAutoFit/>
          </a:bodyPr>
          <a:lstStyle/>
          <a:p>
            <a:pPr algn="l">
              <a:lnSpc>
                <a:spcPct val="120000"/>
              </a:lnSpc>
            </a:pPr>
            <a:r>
              <a:rPr sz="1200" b="1" i="0">
                <a:solidFill>
                  <a:srgbClr val="21295C"/>
                </a:solidFill>
                <a:latin typeface="Arial"/>
              </a:rPr>
              <a:t>&lt;$1 ElevenLabs</a:t>
            </a:r>
          </a:p>
        </p:txBody>
      </p:sp>
      <p:sp>
        <p:nvSpPr>
          <p:cNvPr id="28" name="TextBox 27"/>
          <p:cNvSpPr txBox="1"/>
          <p:nvPr/>
        </p:nvSpPr>
        <p:spPr>
          <a:xfrm>
            <a:off x="6537959" y="4846320"/>
            <a:ext cx="1645920" cy="640080"/>
          </a:xfrm>
          <a:prstGeom prst="rect">
            <a:avLst/>
          </a:prstGeom>
          <a:noFill/>
        </p:spPr>
        <p:txBody>
          <a:bodyPr wrap="square" lIns="0" rIns="0" tIns="0" bIns="0" anchor="ctr">
            <a:spAutoFit/>
          </a:bodyPr>
          <a:lstStyle/>
          <a:p>
            <a:pPr algn="l">
              <a:lnSpc>
                <a:spcPct val="120000"/>
              </a:lnSpc>
            </a:pPr>
            <a:r>
              <a:rPr sz="1300" b="1" i="0">
                <a:solidFill>
                  <a:srgbClr val="F0AB00"/>
                </a:solidFill>
                <a:latin typeface="Arial"/>
              </a:rPr>
              <a:t>50×-500×</a:t>
            </a:r>
          </a:p>
        </p:txBody>
      </p:sp>
      <p:sp>
        <p:nvSpPr>
          <p:cNvPr id="29" name="Rounded Rectangle 28"/>
          <p:cNvSpPr/>
          <p:nvPr/>
        </p:nvSpPr>
        <p:spPr>
          <a:xfrm>
            <a:off x="8458200" y="1828800"/>
            <a:ext cx="3337560" cy="3657600"/>
          </a:xfrm>
          <a:prstGeom prst="roundRect">
            <a:avLst>
              <a:gd name="adj" fmla="val 9132"/>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595360" y="1965960"/>
            <a:ext cx="3108960" cy="365760"/>
          </a:xfrm>
          <a:prstGeom prst="rect">
            <a:avLst/>
          </a:prstGeom>
          <a:noFill/>
        </p:spPr>
        <p:txBody>
          <a:bodyPr wrap="square" lIns="0" rIns="0" tIns="0" bIns="0" anchor="t">
            <a:spAutoFit/>
          </a:bodyPr>
          <a:lstStyle/>
          <a:p>
            <a:pPr algn="l">
              <a:lnSpc>
                <a:spcPct val="115000"/>
              </a:lnSpc>
            </a:pPr>
            <a:r>
              <a:rPr sz="1100" b="1" i="0">
                <a:solidFill>
                  <a:srgbClr val="F0AB00"/>
                </a:solidFill>
                <a:latin typeface="Arial"/>
              </a:rPr>
              <a:t>СРЕДНИЙ СЕГМЕНТ ≠ БЕСПЛАТНО</a:t>
            </a:r>
          </a:p>
        </p:txBody>
      </p:sp>
      <p:sp>
        <p:nvSpPr>
          <p:cNvPr id="31" name="TextBox 30"/>
          <p:cNvSpPr txBox="1"/>
          <p:nvPr/>
        </p:nvSpPr>
        <p:spPr>
          <a:xfrm>
            <a:off x="8595360" y="2331720"/>
            <a:ext cx="3108960" cy="1005840"/>
          </a:xfrm>
          <a:prstGeom prst="rect">
            <a:avLst/>
          </a:prstGeom>
          <a:noFill/>
        </p:spPr>
        <p:txBody>
          <a:bodyPr wrap="square" lIns="0" rIns="0" tIns="0" bIns="0" anchor="ctr">
            <a:spAutoFit/>
          </a:bodyPr>
          <a:lstStyle/>
          <a:p>
            <a:pPr algn="ctr">
              <a:lnSpc>
                <a:spcPct val="100000"/>
              </a:lnSpc>
            </a:pPr>
            <a:r>
              <a:rPr sz="4600" b="1" i="0">
                <a:solidFill>
                  <a:srgbClr val="21295C"/>
                </a:solidFill>
                <a:latin typeface="Arial"/>
              </a:rPr>
              <a:t>$400 млн</a:t>
            </a:r>
          </a:p>
        </p:txBody>
      </p:sp>
      <p:sp>
        <p:nvSpPr>
          <p:cNvPr id="32" name="TextBox 31"/>
          <p:cNvSpPr txBox="1"/>
          <p:nvPr/>
        </p:nvSpPr>
        <p:spPr>
          <a:xfrm>
            <a:off x="8595360" y="3383280"/>
            <a:ext cx="3108960" cy="457200"/>
          </a:xfrm>
          <a:prstGeom prst="rect">
            <a:avLst/>
          </a:prstGeom>
          <a:noFill/>
        </p:spPr>
        <p:txBody>
          <a:bodyPr wrap="square" lIns="0" rIns="0" tIns="0" bIns="0" anchor="t">
            <a:spAutoFit/>
          </a:bodyPr>
          <a:lstStyle/>
          <a:p>
            <a:pPr algn="ctr">
              <a:lnSpc>
                <a:spcPct val="130000"/>
              </a:lnSpc>
            </a:pPr>
            <a:r>
              <a:rPr sz="1100" b="1" i="0">
                <a:solidFill>
                  <a:srgbClr val="21295C"/>
                </a:solidFill>
                <a:latin typeface="Arial"/>
              </a:rPr>
              <a:t>Adobe Firefly
прямая выручка фискальный год 2024-25</a:t>
            </a:r>
          </a:p>
        </p:txBody>
      </p:sp>
      <p:sp>
        <p:nvSpPr>
          <p:cNvPr id="33" name="TextBox 32"/>
          <p:cNvSpPr txBox="1"/>
          <p:nvPr/>
        </p:nvSpPr>
        <p:spPr>
          <a:xfrm>
            <a:off x="8595360" y="4114800"/>
            <a:ext cx="3108960" cy="1280160"/>
          </a:xfrm>
          <a:prstGeom prst="rect">
            <a:avLst/>
          </a:prstGeom>
          <a:noFill/>
        </p:spPr>
        <p:txBody>
          <a:bodyPr wrap="square" lIns="0" rIns="0" tIns="0" bIns="0" anchor="t">
            <a:spAutoFit/>
          </a:bodyPr>
          <a:lstStyle/>
          <a:p>
            <a:pPr algn="l">
              <a:lnSpc>
                <a:spcPct val="130000"/>
              </a:lnSpc>
            </a:pPr>
            <a:r>
              <a:rPr sz="1000" b="0" i="1">
                <a:solidFill>
                  <a:srgbClr val="21295C"/>
                </a:solidFill>
                <a:latin typeface="Arial"/>
              </a:rPr>
              <a:t>лицензированный корпус + процесс + интеграция = корпоративный SaaS-стек
Нижний сегмент вымывается, средний сегмент растёт.</a:t>
            </a:r>
          </a:p>
        </p:txBody>
      </p:sp>
      <p:sp>
        <p:nvSpPr>
          <p:cNvPr id="34" name="TextBox 33"/>
          <p:cNvSpPr txBox="1"/>
          <p:nvPr/>
        </p:nvSpPr>
        <p:spPr>
          <a:xfrm>
            <a:off x="502920" y="6172200"/>
            <a:ext cx="11247120" cy="36576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Источник: ZSky AI, Sora 2 API Pricing, ElevenLabs pricing.</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Скорость: дни → секунды</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Итерационный цикл становится 10-100× плотнее → новые навыки человека.</a:t>
            </a:r>
          </a:p>
        </p:txBody>
      </p:sp>
      <p:sp>
        <p:nvSpPr>
          <p:cNvPr id="4" name="Rounded Rectangle 3"/>
          <p:cNvSpPr/>
          <p:nvPr/>
        </p:nvSpPr>
        <p:spPr>
          <a:xfrm>
            <a:off x="502920" y="1828800"/>
            <a:ext cx="1124712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31520" y="2011680"/>
            <a:ext cx="2560320" cy="685800"/>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Концепт-арт черновик</a:t>
            </a:r>
          </a:p>
        </p:txBody>
      </p:sp>
      <p:sp>
        <p:nvSpPr>
          <p:cNvPr id="6" name="Rounded Rectangle 5"/>
          <p:cNvSpPr/>
          <p:nvPr/>
        </p:nvSpPr>
        <p:spPr>
          <a:xfrm>
            <a:off x="3383280" y="2103120"/>
            <a:ext cx="2377440" cy="502920"/>
          </a:xfrm>
          <a:prstGeom prst="roundRect">
            <a:avLst>
              <a:gd name="adj" fmla="val 20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383280" y="2103120"/>
            <a:ext cx="2377440" cy="502920"/>
          </a:xfrm>
          <a:prstGeom prst="rect">
            <a:avLst/>
          </a:prstGeom>
          <a:noFill/>
        </p:spPr>
        <p:txBody>
          <a:bodyPr wrap="square" lIns="0" rIns="0" tIns="0" bIns="0" anchor="ctr">
            <a:spAutoFit/>
          </a:bodyPr>
          <a:lstStyle/>
          <a:p>
            <a:pPr algn="ctr">
              <a:lnSpc>
                <a:spcPct val="100000"/>
              </a:lnSpc>
            </a:pPr>
            <a:r>
              <a:rPr sz="1100" b="0" i="1">
                <a:solidFill>
                  <a:srgbClr val="1C7293"/>
                </a:solidFill>
                <a:latin typeface="Arial"/>
              </a:rPr>
              <a:t>дни (дизайнер-фрилансер)</a:t>
            </a:r>
          </a:p>
        </p:txBody>
      </p:sp>
      <p:sp>
        <p:nvSpPr>
          <p:cNvPr id="8" name="Right Arrow 7"/>
          <p:cNvSpPr/>
          <p:nvPr/>
        </p:nvSpPr>
        <p:spPr>
          <a:xfrm>
            <a:off x="5897880" y="2194560"/>
            <a:ext cx="548640" cy="3200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583680" y="2103120"/>
            <a:ext cx="1828800" cy="502920"/>
          </a:xfrm>
          <a:prstGeom prst="roundRect">
            <a:avLst>
              <a:gd name="adj" fmla="val 2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583680" y="2103120"/>
            <a:ext cx="1828800" cy="502920"/>
          </a:xfrm>
          <a:prstGeom prst="rect">
            <a:avLst/>
          </a:prstGeom>
          <a:noFill/>
        </p:spPr>
        <p:txBody>
          <a:bodyPr wrap="square" lIns="0" rIns="0" tIns="0" bIns="0" anchor="ctr">
            <a:spAutoFit/>
          </a:bodyPr>
          <a:lstStyle/>
          <a:p>
            <a:pPr algn="ctr">
              <a:lnSpc>
                <a:spcPct val="100000"/>
              </a:lnSpc>
            </a:pPr>
            <a:r>
              <a:rPr sz="1500" b="1" i="0">
                <a:solidFill>
                  <a:srgbClr val="21295C"/>
                </a:solidFill>
                <a:latin typeface="Arial"/>
              </a:rPr>
              <a:t>5-60 сек</a:t>
            </a:r>
          </a:p>
        </p:txBody>
      </p:sp>
      <p:sp>
        <p:nvSpPr>
          <p:cNvPr id="11" name="TextBox 10"/>
          <p:cNvSpPr txBox="1"/>
          <p:nvPr/>
        </p:nvSpPr>
        <p:spPr>
          <a:xfrm>
            <a:off x="8549640" y="2103120"/>
            <a:ext cx="3200400" cy="502920"/>
          </a:xfrm>
          <a:prstGeom prst="rect">
            <a:avLst/>
          </a:prstGeom>
          <a:noFill/>
        </p:spPr>
        <p:txBody>
          <a:bodyPr wrap="square" lIns="0" rIns="0" tIns="0" bIns="0" anchor="ctr">
            <a:spAutoFit/>
          </a:bodyPr>
          <a:lstStyle/>
          <a:p>
            <a:pPr algn="l">
              <a:lnSpc>
                <a:spcPct val="120000"/>
              </a:lnSpc>
            </a:pPr>
            <a:r>
              <a:rPr sz="1100" b="0" i="1">
                <a:solidFill>
                  <a:srgbClr val="6B7685"/>
                </a:solidFill>
                <a:latin typeface="Arial"/>
              </a:rPr>
              <a:t>Midjourney / Flux / Imagen</a:t>
            </a:r>
          </a:p>
        </p:txBody>
      </p:sp>
      <p:sp>
        <p:nvSpPr>
          <p:cNvPr id="12" name="TextBox 11"/>
          <p:cNvSpPr txBox="1"/>
          <p:nvPr/>
        </p:nvSpPr>
        <p:spPr>
          <a:xfrm>
            <a:off x="731520" y="2788920"/>
            <a:ext cx="2560320" cy="685800"/>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B-roll кадр</a:t>
            </a:r>
          </a:p>
        </p:txBody>
      </p:sp>
      <p:sp>
        <p:nvSpPr>
          <p:cNvPr id="13" name="Rounded Rectangle 12"/>
          <p:cNvSpPr/>
          <p:nvPr/>
        </p:nvSpPr>
        <p:spPr>
          <a:xfrm>
            <a:off x="3383280" y="2880360"/>
            <a:ext cx="2377440" cy="502920"/>
          </a:xfrm>
          <a:prstGeom prst="roundRect">
            <a:avLst>
              <a:gd name="adj" fmla="val 20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383280" y="2880360"/>
            <a:ext cx="2377440" cy="502920"/>
          </a:xfrm>
          <a:prstGeom prst="rect">
            <a:avLst/>
          </a:prstGeom>
          <a:noFill/>
        </p:spPr>
        <p:txBody>
          <a:bodyPr wrap="square" lIns="0" rIns="0" tIns="0" bIns="0" anchor="ctr">
            <a:spAutoFit/>
          </a:bodyPr>
          <a:lstStyle/>
          <a:p>
            <a:pPr algn="ctr">
              <a:lnSpc>
                <a:spcPct val="100000"/>
              </a:lnSpc>
            </a:pPr>
            <a:r>
              <a:rPr sz="1100" b="0" i="1">
                <a:solidFill>
                  <a:srgbClr val="1C7293"/>
                </a:solidFill>
                <a:latin typeface="Arial"/>
              </a:rPr>
              <a:t>часы съёмки + постпродакшн</a:t>
            </a:r>
          </a:p>
        </p:txBody>
      </p:sp>
      <p:sp>
        <p:nvSpPr>
          <p:cNvPr id="15" name="Right Arrow 14"/>
          <p:cNvSpPr/>
          <p:nvPr/>
        </p:nvSpPr>
        <p:spPr>
          <a:xfrm>
            <a:off x="5897880" y="2971800"/>
            <a:ext cx="548640" cy="3200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583680" y="2880360"/>
            <a:ext cx="1828800" cy="502920"/>
          </a:xfrm>
          <a:prstGeom prst="roundRect">
            <a:avLst>
              <a:gd name="adj" fmla="val 2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0" y="2880360"/>
            <a:ext cx="1828800" cy="502920"/>
          </a:xfrm>
          <a:prstGeom prst="rect">
            <a:avLst/>
          </a:prstGeom>
          <a:noFill/>
        </p:spPr>
        <p:txBody>
          <a:bodyPr wrap="square" lIns="0" rIns="0" tIns="0" bIns="0" anchor="ctr">
            <a:spAutoFit/>
          </a:bodyPr>
          <a:lstStyle/>
          <a:p>
            <a:pPr algn="ctr">
              <a:lnSpc>
                <a:spcPct val="100000"/>
              </a:lnSpc>
            </a:pPr>
            <a:r>
              <a:rPr sz="1500" b="1" i="0">
                <a:solidFill>
                  <a:srgbClr val="21295C"/>
                </a:solidFill>
                <a:latin typeface="Arial"/>
              </a:rPr>
              <a:t>5-60 сек</a:t>
            </a:r>
          </a:p>
        </p:txBody>
      </p:sp>
      <p:sp>
        <p:nvSpPr>
          <p:cNvPr id="18" name="TextBox 17"/>
          <p:cNvSpPr txBox="1"/>
          <p:nvPr/>
        </p:nvSpPr>
        <p:spPr>
          <a:xfrm>
            <a:off x="8549640" y="2880360"/>
            <a:ext cx="3200400" cy="502920"/>
          </a:xfrm>
          <a:prstGeom prst="rect">
            <a:avLst/>
          </a:prstGeom>
          <a:noFill/>
        </p:spPr>
        <p:txBody>
          <a:bodyPr wrap="square" lIns="0" rIns="0" tIns="0" bIns="0" anchor="ctr">
            <a:spAutoFit/>
          </a:bodyPr>
          <a:lstStyle/>
          <a:p>
            <a:pPr algn="l">
              <a:lnSpc>
                <a:spcPct val="120000"/>
              </a:lnSpc>
            </a:pPr>
            <a:r>
              <a:rPr sz="1100" b="0" i="1">
                <a:solidFill>
                  <a:srgbClr val="6B7685"/>
                </a:solidFill>
                <a:latin typeface="Arial"/>
              </a:rPr>
              <a:t>Veo / Sora</a:t>
            </a:r>
          </a:p>
        </p:txBody>
      </p:sp>
      <p:sp>
        <p:nvSpPr>
          <p:cNvPr id="19" name="TextBox 18"/>
          <p:cNvSpPr txBox="1"/>
          <p:nvPr/>
        </p:nvSpPr>
        <p:spPr>
          <a:xfrm>
            <a:off x="731520" y="3566160"/>
            <a:ext cx="2560320" cy="685800"/>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Дубляж длинного формата</a:t>
            </a:r>
          </a:p>
        </p:txBody>
      </p:sp>
      <p:sp>
        <p:nvSpPr>
          <p:cNvPr id="20" name="Rounded Rectangle 19"/>
          <p:cNvSpPr/>
          <p:nvPr/>
        </p:nvSpPr>
        <p:spPr>
          <a:xfrm>
            <a:off x="3383280" y="3657600"/>
            <a:ext cx="2377440" cy="502920"/>
          </a:xfrm>
          <a:prstGeom prst="roundRect">
            <a:avLst>
              <a:gd name="adj" fmla="val 20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83280" y="3657600"/>
            <a:ext cx="2377440" cy="502920"/>
          </a:xfrm>
          <a:prstGeom prst="rect">
            <a:avLst/>
          </a:prstGeom>
          <a:noFill/>
        </p:spPr>
        <p:txBody>
          <a:bodyPr wrap="square" lIns="0" rIns="0" tIns="0" bIns="0" anchor="ctr">
            <a:spAutoFit/>
          </a:bodyPr>
          <a:lstStyle/>
          <a:p>
            <a:pPr algn="ctr">
              <a:lnSpc>
                <a:spcPct val="100000"/>
              </a:lnSpc>
            </a:pPr>
            <a:r>
              <a:rPr sz="1100" b="0" i="1">
                <a:solidFill>
                  <a:srgbClr val="1C7293"/>
                </a:solidFill>
                <a:latin typeface="Arial"/>
              </a:rPr>
              <a:t>недели в студии</a:t>
            </a:r>
          </a:p>
        </p:txBody>
      </p:sp>
      <p:sp>
        <p:nvSpPr>
          <p:cNvPr id="22" name="Right Arrow 21"/>
          <p:cNvSpPr/>
          <p:nvPr/>
        </p:nvSpPr>
        <p:spPr>
          <a:xfrm>
            <a:off x="5897880" y="3749040"/>
            <a:ext cx="548640" cy="3200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583680" y="3657600"/>
            <a:ext cx="1828800" cy="502920"/>
          </a:xfrm>
          <a:prstGeom prst="roundRect">
            <a:avLst>
              <a:gd name="adj" fmla="val 2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583680" y="3657600"/>
            <a:ext cx="1828800" cy="502920"/>
          </a:xfrm>
          <a:prstGeom prst="rect">
            <a:avLst/>
          </a:prstGeom>
          <a:noFill/>
        </p:spPr>
        <p:txBody>
          <a:bodyPr wrap="square" lIns="0" rIns="0" tIns="0" bIns="0" anchor="ctr">
            <a:spAutoFit/>
          </a:bodyPr>
          <a:lstStyle/>
          <a:p>
            <a:pPr algn="ctr">
              <a:lnSpc>
                <a:spcPct val="100000"/>
              </a:lnSpc>
            </a:pPr>
            <a:r>
              <a:rPr sz="1500" b="1" i="0">
                <a:solidFill>
                  <a:srgbClr val="21295C"/>
                </a:solidFill>
                <a:latin typeface="Arial"/>
              </a:rPr>
              <a:t>минуты</a:t>
            </a:r>
          </a:p>
        </p:txBody>
      </p:sp>
      <p:sp>
        <p:nvSpPr>
          <p:cNvPr id="25" name="TextBox 24"/>
          <p:cNvSpPr txBox="1"/>
          <p:nvPr/>
        </p:nvSpPr>
        <p:spPr>
          <a:xfrm>
            <a:off x="8549640" y="3657600"/>
            <a:ext cx="3200400" cy="502920"/>
          </a:xfrm>
          <a:prstGeom prst="rect">
            <a:avLst/>
          </a:prstGeom>
          <a:noFill/>
        </p:spPr>
        <p:txBody>
          <a:bodyPr wrap="square" lIns="0" rIns="0" tIns="0" bIns="0" anchor="ctr">
            <a:spAutoFit/>
          </a:bodyPr>
          <a:lstStyle/>
          <a:p>
            <a:pPr algn="l">
              <a:lnSpc>
                <a:spcPct val="120000"/>
              </a:lnSpc>
            </a:pPr>
            <a:r>
              <a:rPr sz="1100" b="0" i="1">
                <a:solidFill>
                  <a:srgbClr val="6B7685"/>
                </a:solidFill>
                <a:latin typeface="Arial"/>
              </a:rPr>
              <a:t>ElevenLabs Dubbing Studio</a:t>
            </a:r>
          </a:p>
        </p:txBody>
      </p:sp>
      <p:sp>
        <p:nvSpPr>
          <p:cNvPr id="26" name="TextBox 25"/>
          <p:cNvSpPr txBox="1"/>
          <p:nvPr/>
        </p:nvSpPr>
        <p:spPr>
          <a:xfrm>
            <a:off x="731520" y="4343400"/>
            <a:ext cx="2560320" cy="685800"/>
          </a:xfrm>
          <a:prstGeom prst="rect">
            <a:avLst/>
          </a:prstGeom>
          <a:noFill/>
        </p:spPr>
        <p:txBody>
          <a:bodyPr wrap="square" lIns="0" rIns="0" tIns="0" bIns="0" anchor="ctr">
            <a:spAutoFit/>
          </a:bodyPr>
          <a:lstStyle/>
          <a:p>
            <a:pPr algn="l">
              <a:lnSpc>
                <a:spcPct val="120000"/>
              </a:lnSpc>
            </a:pPr>
            <a:r>
              <a:rPr sz="1400" b="1" i="0">
                <a:solidFill>
                  <a:srgbClr val="21295C"/>
                </a:solidFill>
                <a:latin typeface="Arial"/>
              </a:rPr>
              <a:t>Исследование концепций</a:t>
            </a:r>
          </a:p>
        </p:txBody>
      </p:sp>
      <p:sp>
        <p:nvSpPr>
          <p:cNvPr id="27" name="Rounded Rectangle 26"/>
          <p:cNvSpPr/>
          <p:nvPr/>
        </p:nvSpPr>
        <p:spPr>
          <a:xfrm>
            <a:off x="3383280" y="4434840"/>
            <a:ext cx="2377440" cy="502920"/>
          </a:xfrm>
          <a:prstGeom prst="roundRect">
            <a:avLst>
              <a:gd name="adj" fmla="val 20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3383280" y="4434840"/>
            <a:ext cx="2377440" cy="502920"/>
          </a:xfrm>
          <a:prstGeom prst="rect">
            <a:avLst/>
          </a:prstGeom>
          <a:noFill/>
        </p:spPr>
        <p:txBody>
          <a:bodyPr wrap="square" lIns="0" rIns="0" tIns="0" bIns="0" anchor="ctr">
            <a:spAutoFit/>
          </a:bodyPr>
          <a:lstStyle/>
          <a:p>
            <a:pPr algn="ctr">
              <a:lnSpc>
                <a:spcPct val="100000"/>
              </a:lnSpc>
            </a:pPr>
            <a:r>
              <a:rPr sz="1100" b="0" i="1">
                <a:solidFill>
                  <a:srgbClr val="1C7293"/>
                </a:solidFill>
                <a:latin typeface="Arial"/>
              </a:rPr>
              <a:t>полу-неделя · 3-5 вариантов</a:t>
            </a:r>
          </a:p>
        </p:txBody>
      </p:sp>
      <p:sp>
        <p:nvSpPr>
          <p:cNvPr id="29" name="Right Arrow 28"/>
          <p:cNvSpPr/>
          <p:nvPr/>
        </p:nvSpPr>
        <p:spPr>
          <a:xfrm>
            <a:off x="5897880" y="4526280"/>
            <a:ext cx="548640" cy="320040"/>
          </a:xfrm>
          <a:prstGeom prst="rightArrow">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583680" y="4434840"/>
            <a:ext cx="1828800" cy="502920"/>
          </a:xfrm>
          <a:prstGeom prst="roundRect">
            <a:avLst>
              <a:gd name="adj" fmla="val 2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583680" y="4434840"/>
            <a:ext cx="1828800" cy="502920"/>
          </a:xfrm>
          <a:prstGeom prst="rect">
            <a:avLst/>
          </a:prstGeom>
          <a:noFill/>
        </p:spPr>
        <p:txBody>
          <a:bodyPr wrap="square" lIns="0" rIns="0" tIns="0" bIns="0" anchor="ctr">
            <a:spAutoFit/>
          </a:bodyPr>
          <a:lstStyle/>
          <a:p>
            <a:pPr algn="ctr">
              <a:lnSpc>
                <a:spcPct val="100000"/>
              </a:lnSpc>
            </a:pPr>
            <a:r>
              <a:rPr sz="1500" b="1" i="0">
                <a:solidFill>
                  <a:srgbClr val="21295C"/>
                </a:solidFill>
                <a:latin typeface="Arial"/>
              </a:rPr>
              <a:t>минуты · 10×+</a:t>
            </a:r>
          </a:p>
        </p:txBody>
      </p:sp>
      <p:sp>
        <p:nvSpPr>
          <p:cNvPr id="32" name="TextBox 31"/>
          <p:cNvSpPr txBox="1"/>
          <p:nvPr/>
        </p:nvSpPr>
        <p:spPr>
          <a:xfrm>
            <a:off x="8549640" y="4434840"/>
            <a:ext cx="3200400" cy="502920"/>
          </a:xfrm>
          <a:prstGeom prst="rect">
            <a:avLst/>
          </a:prstGeom>
          <a:noFill/>
        </p:spPr>
        <p:txBody>
          <a:bodyPr wrap="square" lIns="0" rIns="0" tIns="0" bIns="0" anchor="ctr">
            <a:spAutoFit/>
          </a:bodyPr>
          <a:lstStyle/>
          <a:p>
            <a:pPr algn="l">
              <a:lnSpc>
                <a:spcPct val="120000"/>
              </a:lnSpc>
            </a:pPr>
            <a:r>
              <a:rPr sz="1100" b="0" i="1">
                <a:solidFill>
                  <a:srgbClr val="6B7685"/>
                </a:solidFill>
                <a:latin typeface="Arial"/>
              </a:rPr>
              <a:t>итерация плотнее</a:t>
            </a:r>
          </a:p>
        </p:txBody>
      </p:sp>
      <p:sp>
        <p:nvSpPr>
          <p:cNvPr id="33" name="Rounded Rectangle 32"/>
          <p:cNvSpPr/>
          <p:nvPr/>
        </p:nvSpPr>
        <p:spPr>
          <a:xfrm>
            <a:off x="502920" y="5669280"/>
            <a:ext cx="11247120" cy="960120"/>
          </a:xfrm>
          <a:prstGeom prst="roundRect">
            <a:avLst>
              <a:gd name="adj" fmla="val 25000"/>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7512" y="5760720"/>
            <a:ext cx="10917936" cy="292608"/>
          </a:xfrm>
          <a:prstGeom prst="rect">
            <a:avLst/>
          </a:prstGeom>
          <a:noFill/>
        </p:spPr>
        <p:txBody>
          <a:bodyPr wrap="square" lIns="0" rIns="0" tIns="0" bIns="0" anchor="t">
            <a:spAutoFit/>
          </a:bodyPr>
          <a:lstStyle/>
          <a:p>
            <a:pPr algn="l">
              <a:lnSpc>
                <a:spcPct val="100000"/>
              </a:lnSpc>
            </a:pPr>
            <a:r>
              <a:rPr sz="1100" b="1" i="0">
                <a:solidFill>
                  <a:srgbClr val="F0AB00"/>
                </a:solidFill>
                <a:latin typeface="Arial"/>
              </a:rPr>
              <a:t>УРОК ДЛЯ ИНЖЕНЕРА</a:t>
            </a:r>
          </a:p>
        </p:txBody>
      </p:sp>
      <p:sp>
        <p:nvSpPr>
          <p:cNvPr id="35" name="TextBox 34"/>
          <p:cNvSpPr txBox="1"/>
          <p:nvPr/>
        </p:nvSpPr>
        <p:spPr>
          <a:xfrm>
            <a:off x="667512" y="6080760"/>
            <a:ext cx="10917936" cy="45720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Инженерный урок: итерационный цикл 10-100× плотнее → новые навыки человека — формулировать «годен/не годен» быстрее, потому что новых вариантов появляется больше.</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Новые профессии: prompt-инженер · AI-режиссёр · специалист по AI-процессам</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Специализированный класс между AI-инструментом и итоговым продуктом (client deliverable).</a:t>
            </a:r>
          </a:p>
        </p:txBody>
      </p:sp>
      <p:sp>
        <p:nvSpPr>
          <p:cNvPr id="4" name="Rounded Rectangle 3"/>
          <p:cNvSpPr/>
          <p:nvPr/>
        </p:nvSpPr>
        <p:spPr>
          <a:xfrm>
            <a:off x="502920" y="1828800"/>
            <a:ext cx="502920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965960"/>
            <a:ext cx="4663440" cy="36576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UPWORK · КАТЕГОРИЯ AI/ML</a:t>
            </a:r>
          </a:p>
        </p:txBody>
      </p:sp>
      <p:sp>
        <p:nvSpPr>
          <p:cNvPr id="6" name="Rounded Rectangle 5"/>
          <p:cNvSpPr/>
          <p:nvPr/>
        </p:nvSpPr>
        <p:spPr>
          <a:xfrm>
            <a:off x="685800" y="2423160"/>
            <a:ext cx="4663440" cy="45720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423160"/>
            <a:ext cx="4480560" cy="457200"/>
          </a:xfrm>
          <a:prstGeom prst="rect">
            <a:avLst/>
          </a:prstGeom>
          <a:noFill/>
        </p:spPr>
        <p:txBody>
          <a:bodyPr wrap="square" lIns="0" rIns="0" tIns="0" bIns="0" anchor="ctr">
            <a:spAutoFit/>
          </a:bodyPr>
          <a:lstStyle/>
          <a:p>
            <a:pPr algn="l">
              <a:lnSpc>
                <a:spcPct val="115000"/>
              </a:lnSpc>
            </a:pPr>
            <a:r>
              <a:rPr sz="1100" b="0" i="0">
                <a:solidFill>
                  <a:srgbClr val="FFFFFF"/>
                </a:solidFill>
                <a:latin typeface="Arial"/>
              </a:rPr>
              <a:t>Поиск: AI / ML / prompt-инжиниринг</a:t>
            </a:r>
          </a:p>
        </p:txBody>
      </p:sp>
      <p:sp>
        <p:nvSpPr>
          <p:cNvPr id="8" name="Rounded Rectangle 7"/>
          <p:cNvSpPr/>
          <p:nvPr/>
        </p:nvSpPr>
        <p:spPr>
          <a:xfrm>
            <a:off x="685800" y="3017520"/>
            <a:ext cx="4663440" cy="411480"/>
          </a:xfrm>
          <a:prstGeom prst="roundRect">
            <a:avLst>
              <a:gd name="adj" fmla="val 18000"/>
            </a:avLst>
          </a:prstGeom>
          <a:solidFill>
            <a:srgbClr val="F4F7FA"/>
          </a:solidFill>
          <a:ln w="63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3017520"/>
            <a:ext cx="4480560" cy="411480"/>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Prompt-инженер · Midjourney эксперт · $35-65/час</a:t>
            </a:r>
          </a:p>
        </p:txBody>
      </p:sp>
      <p:sp>
        <p:nvSpPr>
          <p:cNvPr id="10" name="Rounded Rectangle 9"/>
          <p:cNvSpPr/>
          <p:nvPr/>
        </p:nvSpPr>
        <p:spPr>
          <a:xfrm>
            <a:off x="685800" y="3520439"/>
            <a:ext cx="4663440" cy="411480"/>
          </a:xfrm>
          <a:prstGeom prst="roundRect">
            <a:avLst>
              <a:gd name="adj" fmla="val 18000"/>
            </a:avLst>
          </a:prstGeom>
          <a:solidFill>
            <a:srgbClr val="F4F7FA"/>
          </a:solidFill>
          <a:ln w="63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3520439"/>
            <a:ext cx="4480560" cy="411480"/>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AI-режиссёр / супервайзер · $50-90/час</a:t>
            </a:r>
          </a:p>
        </p:txBody>
      </p:sp>
      <p:sp>
        <p:nvSpPr>
          <p:cNvPr id="12" name="Rounded Rectangle 11"/>
          <p:cNvSpPr/>
          <p:nvPr/>
        </p:nvSpPr>
        <p:spPr>
          <a:xfrm>
            <a:off x="685800" y="4023360"/>
            <a:ext cx="4663440" cy="411480"/>
          </a:xfrm>
          <a:prstGeom prst="roundRect">
            <a:avLst>
              <a:gd name="adj" fmla="val 18000"/>
            </a:avLst>
          </a:prstGeom>
          <a:solidFill>
            <a:srgbClr val="F4F7FA"/>
          </a:solidFill>
          <a:ln w="63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77240" y="4023360"/>
            <a:ext cx="4480560" cy="411480"/>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Специалист по AI-процессам · корп. · $60-120/час</a:t>
            </a:r>
          </a:p>
        </p:txBody>
      </p:sp>
      <p:sp>
        <p:nvSpPr>
          <p:cNvPr id="14" name="Rounded Rectangle 13"/>
          <p:cNvSpPr/>
          <p:nvPr/>
        </p:nvSpPr>
        <p:spPr>
          <a:xfrm>
            <a:off x="685800" y="4526280"/>
            <a:ext cx="4663440" cy="411480"/>
          </a:xfrm>
          <a:prstGeom prst="roundRect">
            <a:avLst>
              <a:gd name="adj" fmla="val 18000"/>
            </a:avLst>
          </a:prstGeom>
          <a:solidFill>
            <a:srgbClr val="F4F7FA"/>
          </a:solidFill>
          <a:ln w="63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4526280"/>
            <a:ext cx="4480560" cy="411480"/>
          </a:xfrm>
          <a:prstGeom prst="rect">
            <a:avLst/>
          </a:prstGeom>
          <a:noFill/>
        </p:spPr>
        <p:txBody>
          <a:bodyPr wrap="square" lIns="0" rIns="0" tIns="0" bIns="0" anchor="ctr">
            <a:spAutoFit/>
          </a:bodyPr>
          <a:lstStyle/>
          <a:p>
            <a:pPr algn="l">
              <a:lnSpc>
                <a:spcPct val="115000"/>
              </a:lnSpc>
            </a:pPr>
            <a:r>
              <a:rPr sz="1100" b="0" i="0">
                <a:solidFill>
                  <a:srgbClr val="21295C"/>
                </a:solidFill>
                <a:latin typeface="Arial"/>
              </a:rPr>
              <a:t>Супервайзер континьюити · видео · $40-75/час</a:t>
            </a:r>
          </a:p>
        </p:txBody>
      </p:sp>
      <p:sp>
        <p:nvSpPr>
          <p:cNvPr id="16" name="Rounded Rectangle 15"/>
          <p:cNvSpPr/>
          <p:nvPr/>
        </p:nvSpPr>
        <p:spPr>
          <a:xfrm>
            <a:off x="685800" y="5074920"/>
            <a:ext cx="4663440" cy="365760"/>
          </a:xfrm>
          <a:prstGeom prst="roundRect">
            <a:avLst>
              <a:gd name="adj" fmla="val 50000"/>
            </a:avLst>
          </a:prstGeom>
          <a:solidFill>
            <a:srgbClr val="FEF5E0"/>
          </a:solidFill>
          <a:ln w="1524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000" b="1">
                <a:solidFill>
                  <a:srgbClr val="21295C"/>
                </a:solidFill>
                <a:latin typeface="Arial"/>
              </a:rPr>
              <a:t>Upwork +70% год к году · 52% объёма услуг — AI</a:t>
            </a:r>
          </a:p>
        </p:txBody>
      </p:sp>
      <p:sp>
        <p:nvSpPr>
          <p:cNvPr id="17" name="TextBox 16"/>
          <p:cNvSpPr txBox="1"/>
          <p:nvPr/>
        </p:nvSpPr>
        <p:spPr>
          <a:xfrm>
            <a:off x="5806440" y="1828800"/>
            <a:ext cx="6035040" cy="36576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4 НОВЫЕ РОЛИ</a:t>
            </a:r>
          </a:p>
        </p:txBody>
      </p:sp>
      <p:sp>
        <p:nvSpPr>
          <p:cNvPr id="18" name="Rounded Rectangle 17"/>
          <p:cNvSpPr/>
          <p:nvPr/>
        </p:nvSpPr>
        <p:spPr>
          <a:xfrm>
            <a:off x="5806440" y="2286000"/>
            <a:ext cx="603504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943600" y="2331720"/>
            <a:ext cx="5760720" cy="274320"/>
          </a:xfrm>
          <a:prstGeom prst="rect">
            <a:avLst/>
          </a:prstGeom>
          <a:noFill/>
        </p:spPr>
        <p:txBody>
          <a:bodyPr wrap="square" lIns="0" rIns="0" tIns="0" bIns="0" anchor="t">
            <a:spAutoFit/>
          </a:bodyPr>
          <a:lstStyle/>
          <a:p>
            <a:pPr algn="l">
              <a:lnSpc>
                <a:spcPct val="100000"/>
              </a:lnSpc>
            </a:pPr>
            <a:r>
              <a:rPr sz="1200" b="1" i="0">
                <a:solidFill>
                  <a:srgbClr val="21295C"/>
                </a:solidFill>
                <a:latin typeface="Arial"/>
              </a:rPr>
              <a:t>Prompt-инженер / AI-художник</a:t>
            </a:r>
          </a:p>
        </p:txBody>
      </p:sp>
      <p:sp>
        <p:nvSpPr>
          <p:cNvPr id="20" name="TextBox 19"/>
          <p:cNvSpPr txBox="1"/>
          <p:nvPr/>
        </p:nvSpPr>
        <p:spPr>
          <a:xfrm>
            <a:off x="5943600" y="2596896"/>
            <a:ext cx="5760720" cy="256032"/>
          </a:xfrm>
          <a:prstGeom prst="rect">
            <a:avLst/>
          </a:prstGeom>
          <a:noFill/>
        </p:spPr>
        <p:txBody>
          <a:bodyPr wrap="square" lIns="0" rIns="0" tIns="0" bIns="0" anchor="t">
            <a:spAutoFit/>
          </a:bodyPr>
          <a:lstStyle/>
          <a:p>
            <a:pPr algn="l">
              <a:lnSpc>
                <a:spcPct val="115000"/>
              </a:lnSpc>
            </a:pPr>
            <a:r>
              <a:rPr sz="1000" b="0" i="0">
                <a:solidFill>
                  <a:srgbClr val="6B7685"/>
                </a:solidFill>
                <a:latin typeface="Arial"/>
              </a:rPr>
              <a:t>Формирует промпты + постобработка → готовый к промышленному применению результат</a:t>
            </a:r>
          </a:p>
        </p:txBody>
      </p:sp>
      <p:sp>
        <p:nvSpPr>
          <p:cNvPr id="21" name="TextBox 20"/>
          <p:cNvSpPr txBox="1"/>
          <p:nvPr/>
        </p:nvSpPr>
        <p:spPr>
          <a:xfrm>
            <a:off x="5943600" y="2834640"/>
            <a:ext cx="5760720" cy="201168"/>
          </a:xfrm>
          <a:prstGeom prst="rect">
            <a:avLst/>
          </a:prstGeom>
          <a:noFill/>
        </p:spPr>
        <p:txBody>
          <a:bodyPr wrap="square" lIns="0" rIns="0" tIns="0" bIns="0" anchor="t">
            <a:spAutoFit/>
          </a:bodyPr>
          <a:lstStyle/>
          <a:p>
            <a:pPr algn="l">
              <a:lnSpc>
                <a:spcPct val="100000"/>
              </a:lnSpc>
            </a:pPr>
            <a:r>
              <a:rPr sz="1000" b="1" i="1">
                <a:solidFill>
                  <a:srgbClr val="F0AB00"/>
                </a:solidFill>
                <a:latin typeface="Arial"/>
              </a:rPr>
              <a:t>$25-80/час</a:t>
            </a:r>
          </a:p>
        </p:txBody>
      </p:sp>
      <p:sp>
        <p:nvSpPr>
          <p:cNvPr id="22" name="Rounded Rectangle 21"/>
          <p:cNvSpPr/>
          <p:nvPr/>
        </p:nvSpPr>
        <p:spPr>
          <a:xfrm>
            <a:off x="5806440" y="3154680"/>
            <a:ext cx="603504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943600" y="3200400"/>
            <a:ext cx="5760720" cy="274320"/>
          </a:xfrm>
          <a:prstGeom prst="rect">
            <a:avLst/>
          </a:prstGeom>
          <a:noFill/>
        </p:spPr>
        <p:txBody>
          <a:bodyPr wrap="square" lIns="0" rIns="0" tIns="0" bIns="0" anchor="t">
            <a:spAutoFit/>
          </a:bodyPr>
          <a:lstStyle/>
          <a:p>
            <a:pPr algn="l">
              <a:lnSpc>
                <a:spcPct val="100000"/>
              </a:lnSpc>
            </a:pPr>
            <a:r>
              <a:rPr sz="1200" b="1" i="0">
                <a:solidFill>
                  <a:srgbClr val="21295C"/>
                </a:solidFill>
                <a:latin typeface="Arial"/>
              </a:rPr>
              <a:t>AI-режиссёр / AI-музыкальный продюсер</a:t>
            </a:r>
          </a:p>
        </p:txBody>
      </p:sp>
      <p:sp>
        <p:nvSpPr>
          <p:cNvPr id="24" name="TextBox 23"/>
          <p:cNvSpPr txBox="1"/>
          <p:nvPr/>
        </p:nvSpPr>
        <p:spPr>
          <a:xfrm>
            <a:off x="5943600" y="3465576"/>
            <a:ext cx="5760720" cy="256032"/>
          </a:xfrm>
          <a:prstGeom prst="rect">
            <a:avLst/>
          </a:prstGeom>
          <a:noFill/>
        </p:spPr>
        <p:txBody>
          <a:bodyPr wrap="square" lIns="0" rIns="0" tIns="0" bIns="0" anchor="t">
            <a:spAutoFit/>
          </a:bodyPr>
          <a:lstStyle/>
          <a:p>
            <a:pPr algn="l">
              <a:lnSpc>
                <a:spcPct val="115000"/>
              </a:lnSpc>
            </a:pPr>
            <a:r>
              <a:rPr sz="1000" b="0" i="0">
                <a:solidFill>
                  <a:srgbClr val="6B7685"/>
                </a:solidFill>
                <a:latin typeface="Arial"/>
              </a:rPr>
              <a:t>Супервайзер вывода моделей: итерации + постобработка + мультимодальность</a:t>
            </a:r>
          </a:p>
        </p:txBody>
      </p:sp>
      <p:sp>
        <p:nvSpPr>
          <p:cNvPr id="25" name="TextBox 24"/>
          <p:cNvSpPr txBox="1"/>
          <p:nvPr/>
        </p:nvSpPr>
        <p:spPr>
          <a:xfrm>
            <a:off x="5943600" y="3703320"/>
            <a:ext cx="5760720" cy="201168"/>
          </a:xfrm>
          <a:prstGeom prst="rect">
            <a:avLst/>
          </a:prstGeom>
          <a:noFill/>
        </p:spPr>
        <p:txBody>
          <a:bodyPr wrap="square" lIns="0" rIns="0" tIns="0" bIns="0" anchor="t">
            <a:spAutoFit/>
          </a:bodyPr>
          <a:lstStyle/>
          <a:p>
            <a:pPr algn="l">
              <a:lnSpc>
                <a:spcPct val="100000"/>
              </a:lnSpc>
            </a:pPr>
            <a:r>
              <a:rPr sz="1000" b="1" i="1">
                <a:solidFill>
                  <a:srgbClr val="F0AB00"/>
                </a:solidFill>
                <a:latin typeface="Arial"/>
              </a:rPr>
              <a:t>Аналог арт-директора</a:t>
            </a:r>
          </a:p>
        </p:txBody>
      </p:sp>
      <p:sp>
        <p:nvSpPr>
          <p:cNvPr id="26" name="Rounded Rectangle 25"/>
          <p:cNvSpPr/>
          <p:nvPr/>
        </p:nvSpPr>
        <p:spPr>
          <a:xfrm>
            <a:off x="5806440" y="4023360"/>
            <a:ext cx="603504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943600" y="4069080"/>
            <a:ext cx="5760720" cy="274320"/>
          </a:xfrm>
          <a:prstGeom prst="rect">
            <a:avLst/>
          </a:prstGeom>
          <a:noFill/>
        </p:spPr>
        <p:txBody>
          <a:bodyPr wrap="square" lIns="0" rIns="0" tIns="0" bIns="0" anchor="t">
            <a:spAutoFit/>
          </a:bodyPr>
          <a:lstStyle/>
          <a:p>
            <a:pPr algn="l">
              <a:lnSpc>
                <a:spcPct val="100000"/>
              </a:lnSpc>
            </a:pPr>
            <a:r>
              <a:rPr sz="1200" b="1" i="0">
                <a:solidFill>
                  <a:srgbClr val="21295C"/>
                </a:solidFill>
                <a:latin typeface="Arial"/>
              </a:rPr>
              <a:t>Специалист по AI-процессам</a:t>
            </a:r>
          </a:p>
        </p:txBody>
      </p:sp>
      <p:sp>
        <p:nvSpPr>
          <p:cNvPr id="28" name="TextBox 27"/>
          <p:cNvSpPr txBox="1"/>
          <p:nvPr/>
        </p:nvSpPr>
        <p:spPr>
          <a:xfrm>
            <a:off x="5943600" y="4334256"/>
            <a:ext cx="5760720" cy="256032"/>
          </a:xfrm>
          <a:prstGeom prst="rect">
            <a:avLst/>
          </a:prstGeom>
          <a:noFill/>
        </p:spPr>
        <p:txBody>
          <a:bodyPr wrap="square" lIns="0" rIns="0" tIns="0" bIns="0" anchor="t">
            <a:spAutoFit/>
          </a:bodyPr>
          <a:lstStyle/>
          <a:p>
            <a:pPr algn="l">
              <a:lnSpc>
                <a:spcPct val="115000"/>
              </a:lnSpc>
            </a:pPr>
            <a:r>
              <a:rPr sz="1000" b="0" i="0">
                <a:solidFill>
                  <a:srgbClr val="6B7685"/>
                </a:solidFill>
                <a:latin typeface="Arial"/>
              </a:rPr>
              <a:t>Интегратор AI-инструментов в производственные процессы студий</a:t>
            </a:r>
          </a:p>
        </p:txBody>
      </p:sp>
      <p:sp>
        <p:nvSpPr>
          <p:cNvPr id="29" name="TextBox 28"/>
          <p:cNvSpPr txBox="1"/>
          <p:nvPr/>
        </p:nvSpPr>
        <p:spPr>
          <a:xfrm>
            <a:off x="5943600" y="4572000"/>
            <a:ext cx="5760720" cy="201168"/>
          </a:xfrm>
          <a:prstGeom prst="rect">
            <a:avLst/>
          </a:prstGeom>
          <a:noFill/>
        </p:spPr>
        <p:txBody>
          <a:bodyPr wrap="square" lIns="0" rIns="0" tIns="0" bIns="0" anchor="t">
            <a:spAutoFit/>
          </a:bodyPr>
          <a:lstStyle/>
          <a:p>
            <a:pPr algn="l">
              <a:lnSpc>
                <a:spcPct val="100000"/>
              </a:lnSpc>
            </a:pPr>
            <a:r>
              <a:rPr sz="1000" b="1" i="1">
                <a:solidFill>
                  <a:srgbClr val="F0AB00"/>
                </a:solidFill>
                <a:latin typeface="Arial"/>
              </a:rPr>
              <a:t>развёртывания Adobe Firefly Foundry</a:t>
            </a:r>
          </a:p>
        </p:txBody>
      </p:sp>
      <p:sp>
        <p:nvSpPr>
          <p:cNvPr id="30" name="Rounded Rectangle 29"/>
          <p:cNvSpPr/>
          <p:nvPr/>
        </p:nvSpPr>
        <p:spPr>
          <a:xfrm>
            <a:off x="5806440" y="4892040"/>
            <a:ext cx="603504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943600" y="4937759"/>
            <a:ext cx="5760720" cy="274320"/>
          </a:xfrm>
          <a:prstGeom prst="rect">
            <a:avLst/>
          </a:prstGeom>
          <a:noFill/>
        </p:spPr>
        <p:txBody>
          <a:bodyPr wrap="square" lIns="0" rIns="0" tIns="0" bIns="0" anchor="t">
            <a:spAutoFit/>
          </a:bodyPr>
          <a:lstStyle/>
          <a:p>
            <a:pPr algn="l">
              <a:lnSpc>
                <a:spcPct val="100000"/>
              </a:lnSpc>
            </a:pPr>
            <a:r>
              <a:rPr sz="1200" b="1" i="0">
                <a:solidFill>
                  <a:srgbClr val="21295C"/>
                </a:solidFill>
                <a:latin typeface="Arial"/>
              </a:rPr>
              <a:t>Супервайзер непрерывности</a:t>
            </a:r>
          </a:p>
        </p:txBody>
      </p:sp>
      <p:sp>
        <p:nvSpPr>
          <p:cNvPr id="32" name="TextBox 31"/>
          <p:cNvSpPr txBox="1"/>
          <p:nvPr/>
        </p:nvSpPr>
        <p:spPr>
          <a:xfrm>
            <a:off x="5943600" y="5202936"/>
            <a:ext cx="5760720" cy="256032"/>
          </a:xfrm>
          <a:prstGeom prst="rect">
            <a:avLst/>
          </a:prstGeom>
          <a:noFill/>
        </p:spPr>
        <p:txBody>
          <a:bodyPr wrap="square" lIns="0" rIns="0" tIns="0" bIns="0" anchor="t">
            <a:spAutoFit/>
          </a:bodyPr>
          <a:lstStyle/>
          <a:p>
            <a:pPr algn="l">
              <a:lnSpc>
                <a:spcPct val="115000"/>
              </a:lnSpc>
            </a:pPr>
            <a:r>
              <a:rPr sz="1000" b="0" i="0">
                <a:solidFill>
                  <a:srgbClr val="6B7685"/>
                </a:solidFill>
                <a:latin typeface="Arial"/>
              </a:rPr>
              <a:t>Проверка непрерывности персонажа/сцены в мульти-кадровых последовательностях</a:t>
            </a:r>
          </a:p>
        </p:txBody>
      </p:sp>
      <p:sp>
        <p:nvSpPr>
          <p:cNvPr id="33" name="TextBox 32"/>
          <p:cNvSpPr txBox="1"/>
          <p:nvPr/>
        </p:nvSpPr>
        <p:spPr>
          <a:xfrm>
            <a:off x="5943600" y="5440679"/>
            <a:ext cx="5760720" cy="201168"/>
          </a:xfrm>
          <a:prstGeom prst="rect">
            <a:avLst/>
          </a:prstGeom>
          <a:noFill/>
        </p:spPr>
        <p:txBody>
          <a:bodyPr wrap="square" lIns="0" rIns="0" tIns="0" bIns="0" anchor="t">
            <a:spAutoFit/>
          </a:bodyPr>
          <a:lstStyle/>
          <a:p>
            <a:pPr algn="l">
              <a:lnSpc>
                <a:spcPct val="100000"/>
              </a:lnSpc>
            </a:pPr>
            <a:r>
              <a:rPr sz="1000" b="1" i="1">
                <a:solidFill>
                  <a:srgbClr val="F0AB00"/>
                </a:solidFill>
                <a:latin typeface="Arial"/>
              </a:rPr>
              <a:t>Контроль дрейфа между сценами</a:t>
            </a:r>
          </a:p>
        </p:txBody>
      </p:sp>
      <p:sp>
        <p:nvSpPr>
          <p:cNvPr id="34" name="Rounded Rectangle 33"/>
          <p:cNvSpPr/>
          <p:nvPr/>
        </p:nvSpPr>
        <p:spPr>
          <a:xfrm>
            <a:off x="502920" y="5760720"/>
            <a:ext cx="11247120" cy="914400"/>
          </a:xfrm>
          <a:prstGeom prst="roundRect">
            <a:avLst>
              <a:gd name="adj" fmla="val 25000"/>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67512" y="5852159"/>
            <a:ext cx="10917936" cy="292608"/>
          </a:xfrm>
          <a:prstGeom prst="rect">
            <a:avLst/>
          </a:prstGeom>
          <a:noFill/>
        </p:spPr>
        <p:txBody>
          <a:bodyPr wrap="square" lIns="0" rIns="0" tIns="0" bIns="0" anchor="t">
            <a:spAutoFit/>
          </a:bodyPr>
          <a:lstStyle/>
          <a:p>
            <a:pPr algn="l">
              <a:lnSpc>
                <a:spcPct val="100000"/>
              </a:lnSpc>
            </a:pPr>
            <a:r>
              <a:rPr sz="1100" b="1" i="0">
                <a:solidFill>
                  <a:srgbClr val="F0AB00"/>
                </a:solidFill>
                <a:latin typeface="Arial"/>
              </a:rPr>
              <a:t>УРОК ДЛЯ ИНЖЕНЕРА</a:t>
            </a:r>
          </a:p>
        </p:txBody>
      </p:sp>
      <p:sp>
        <p:nvSpPr>
          <p:cNvPr id="36" name="TextBox 35"/>
          <p:cNvSpPr txBox="1"/>
          <p:nvPr/>
        </p:nvSpPr>
        <p:spPr>
          <a:xfrm>
            <a:off x="667512" y="6172200"/>
            <a:ext cx="10917936" cy="411479"/>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Новые роли — между AI-инструментом и итоговым продуктом для клиента. Растут быстро, но меньше замещённого класса.</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Замещение: −17% графический дизайн · Shutterstock единичные значения</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Снижение зарплат снизу — структурная, не временная. Консолидация индустрии как ответ.</a:t>
            </a:r>
          </a:p>
        </p:txBody>
      </p:sp>
      <p:sp>
        <p:nvSpPr>
          <p:cNvPr id="4" name="Rounded Rectangle 3"/>
          <p:cNvSpPr/>
          <p:nvPr/>
        </p:nvSpPr>
        <p:spPr>
          <a:xfrm>
            <a:off x="502920" y="1828800"/>
            <a:ext cx="365760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3383280" cy="274320"/>
          </a:xfrm>
          <a:prstGeom prst="rect">
            <a:avLst/>
          </a:prstGeom>
          <a:noFill/>
        </p:spPr>
        <p:txBody>
          <a:bodyPr wrap="square" lIns="0" rIns="0" tIns="0" bIns="0" anchor="t">
            <a:spAutoFit/>
          </a:bodyPr>
          <a:lstStyle/>
          <a:p>
            <a:pPr algn="l">
              <a:lnSpc>
                <a:spcPct val="100000"/>
              </a:lnSpc>
            </a:pPr>
            <a:r>
              <a:rPr sz="1000" b="1" i="0">
                <a:solidFill>
                  <a:srgbClr val="028090"/>
                </a:solidFill>
                <a:latin typeface="Arial"/>
              </a:rPr>
              <a:t>UPWORK · ГРАФИЧЕСКИЙ ДИЗАЙН · ГОД К ГОДУ</a:t>
            </a:r>
          </a:p>
        </p:txBody>
      </p:sp>
      <p:sp>
        <p:nvSpPr>
          <p:cNvPr id="6" name="TextBox 5"/>
          <p:cNvSpPr txBox="1"/>
          <p:nvPr/>
        </p:nvSpPr>
        <p:spPr>
          <a:xfrm>
            <a:off x="640080" y="2286000"/>
            <a:ext cx="3383280" cy="1188720"/>
          </a:xfrm>
          <a:prstGeom prst="rect">
            <a:avLst/>
          </a:prstGeom>
          <a:noFill/>
        </p:spPr>
        <p:txBody>
          <a:bodyPr wrap="square" lIns="0" rIns="0" tIns="0" bIns="0" anchor="ctr">
            <a:spAutoFit/>
          </a:bodyPr>
          <a:lstStyle/>
          <a:p>
            <a:pPr algn="ctr">
              <a:lnSpc>
                <a:spcPct val="100000"/>
              </a:lnSpc>
            </a:pPr>
            <a:r>
              <a:rPr sz="6800" b="1" i="0">
                <a:solidFill>
                  <a:srgbClr val="F0AB00"/>
                </a:solidFill>
                <a:latin typeface="Arial"/>
              </a:rPr>
              <a:t>−17%</a:t>
            </a:r>
          </a:p>
        </p:txBody>
      </p:sp>
      <p:sp>
        <p:nvSpPr>
          <p:cNvPr id="7" name="TextBox 6"/>
          <p:cNvSpPr txBox="1"/>
          <p:nvPr/>
        </p:nvSpPr>
        <p:spPr>
          <a:xfrm>
            <a:off x="640080" y="3520440"/>
            <a:ext cx="3383280" cy="274320"/>
          </a:xfrm>
          <a:prstGeom prst="rect">
            <a:avLst/>
          </a:prstGeom>
          <a:noFill/>
        </p:spPr>
        <p:txBody>
          <a:bodyPr wrap="square" lIns="0" rIns="0" tIns="0" bIns="0" anchor="t">
            <a:spAutoFit/>
          </a:bodyPr>
          <a:lstStyle/>
          <a:p>
            <a:pPr algn="ctr">
              <a:lnSpc>
                <a:spcPct val="115000"/>
              </a:lnSpc>
            </a:pPr>
            <a:r>
              <a:rPr sz="1100" b="0" i="1">
                <a:solidFill>
                  <a:srgbClr val="21295C"/>
                </a:solidFill>
                <a:latin typeface="Arial"/>
              </a:rPr>
              <a:t>работ в графическом дизайне</a:t>
            </a:r>
          </a:p>
        </p:txBody>
      </p:sp>
      <p:sp>
        <p:nvSpPr>
          <p:cNvPr id="8" name="TextBox 7"/>
          <p:cNvSpPr txBox="1"/>
          <p:nvPr/>
        </p:nvSpPr>
        <p:spPr>
          <a:xfrm>
            <a:off x="640080" y="3886200"/>
            <a:ext cx="3383280" cy="1508760"/>
          </a:xfrm>
          <a:prstGeom prst="rect">
            <a:avLst/>
          </a:prstGeom>
          <a:noFill/>
        </p:spPr>
        <p:txBody>
          <a:bodyPr wrap="square" lIns="0" rIns="0" tIns="0" bIns="0" anchor="t">
            <a:spAutoFit/>
          </a:bodyPr>
          <a:lstStyle/>
          <a:p>
            <a:pPr algn="ctr">
              <a:lnSpc>
                <a:spcPct val="130000"/>
              </a:lnSpc>
            </a:pPr>
            <a:r>
              <a:rPr sz="1000" b="0" i="0">
                <a:solidFill>
                  <a:srgbClr val="6B7685"/>
                </a:solidFill>
                <a:latin typeface="Arial"/>
              </a:rPr>
              <a:t>40% работ копирайтеров $10-19/час — распознан как AI · &lt;10% в $60+/час · снижение зарплат снизу</a:t>
            </a:r>
          </a:p>
        </p:txBody>
      </p:sp>
      <p:sp>
        <p:nvSpPr>
          <p:cNvPr id="9" name="Rounded Rectangle 8"/>
          <p:cNvSpPr/>
          <p:nvPr/>
        </p:nvSpPr>
        <p:spPr>
          <a:xfrm>
            <a:off x="4343400" y="1828800"/>
            <a:ext cx="365760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80560" y="1920240"/>
            <a:ext cx="3383280" cy="274320"/>
          </a:xfrm>
          <a:prstGeom prst="rect">
            <a:avLst/>
          </a:prstGeom>
          <a:noFill/>
        </p:spPr>
        <p:txBody>
          <a:bodyPr wrap="square" lIns="0" rIns="0" tIns="0" bIns="0" anchor="t">
            <a:spAutoFit/>
          </a:bodyPr>
          <a:lstStyle/>
          <a:p>
            <a:pPr algn="l">
              <a:lnSpc>
                <a:spcPct val="115000"/>
              </a:lnSpc>
            </a:pPr>
            <a:r>
              <a:rPr sz="1000" b="1" i="0">
                <a:solidFill>
                  <a:srgbClr val="028090"/>
                </a:solidFill>
                <a:latin typeface="Arial"/>
              </a:rPr>
              <a:t>SHUTTERSTOCK · ЛИЦЕНЗИРОВАНИЕ ДЛЯ AI</a:t>
            </a:r>
          </a:p>
        </p:txBody>
      </p:sp>
      <p:sp>
        <p:nvSpPr>
          <p:cNvPr id="11" name="TextBox 10"/>
          <p:cNvSpPr txBox="1"/>
          <p:nvPr/>
        </p:nvSpPr>
        <p:spPr>
          <a:xfrm>
            <a:off x="4480560" y="2331720"/>
            <a:ext cx="548640" cy="320040"/>
          </a:xfrm>
          <a:prstGeom prst="rect">
            <a:avLst/>
          </a:prstGeom>
          <a:noFill/>
        </p:spPr>
        <p:txBody>
          <a:bodyPr wrap="square" lIns="0" rIns="0" tIns="0" bIns="0" anchor="ctr">
            <a:spAutoFit/>
          </a:bodyPr>
          <a:lstStyle/>
          <a:p>
            <a:pPr algn="l">
              <a:lnSpc>
                <a:spcPct val="115000"/>
              </a:lnSpc>
            </a:pPr>
            <a:r>
              <a:rPr sz="1300" b="1" i="0">
                <a:solidFill>
                  <a:srgbClr val="21295C"/>
                </a:solidFill>
                <a:latin typeface="Arial"/>
              </a:rPr>
              <a:t>2023</a:t>
            </a:r>
          </a:p>
        </p:txBody>
      </p:sp>
      <p:sp>
        <p:nvSpPr>
          <p:cNvPr id="12" name="Rounded Rectangle 11"/>
          <p:cNvSpPr/>
          <p:nvPr/>
        </p:nvSpPr>
        <p:spPr>
          <a:xfrm>
            <a:off x="5074920" y="2331720"/>
            <a:ext cx="1331366" cy="411480"/>
          </a:xfrm>
          <a:prstGeom prst="roundRect">
            <a:avLst>
              <a:gd name="adj" fmla="val 2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166360" y="2331720"/>
            <a:ext cx="1239926" cy="411480"/>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$104 млн</a:t>
            </a:r>
          </a:p>
        </p:txBody>
      </p:sp>
      <p:sp>
        <p:nvSpPr>
          <p:cNvPr id="14" name="TextBox 13"/>
          <p:cNvSpPr txBox="1"/>
          <p:nvPr/>
        </p:nvSpPr>
        <p:spPr>
          <a:xfrm>
            <a:off x="4480560" y="3108960"/>
            <a:ext cx="548640" cy="320040"/>
          </a:xfrm>
          <a:prstGeom prst="rect">
            <a:avLst/>
          </a:prstGeom>
          <a:noFill/>
        </p:spPr>
        <p:txBody>
          <a:bodyPr wrap="square" lIns="0" rIns="0" tIns="0" bIns="0" anchor="ctr">
            <a:spAutoFit/>
          </a:bodyPr>
          <a:lstStyle/>
          <a:p>
            <a:pPr algn="l">
              <a:lnSpc>
                <a:spcPct val="115000"/>
              </a:lnSpc>
            </a:pPr>
            <a:r>
              <a:rPr sz="1300" b="1" i="0">
                <a:solidFill>
                  <a:srgbClr val="21295C"/>
                </a:solidFill>
                <a:latin typeface="Arial"/>
              </a:rPr>
              <a:t>2024</a:t>
            </a:r>
          </a:p>
        </p:txBody>
      </p:sp>
      <p:sp>
        <p:nvSpPr>
          <p:cNvPr id="15" name="Rounded Rectangle 14"/>
          <p:cNvSpPr/>
          <p:nvPr/>
        </p:nvSpPr>
        <p:spPr>
          <a:xfrm>
            <a:off x="5074920" y="3108960"/>
            <a:ext cx="1766620" cy="411480"/>
          </a:xfrm>
          <a:prstGeom prst="roundRect">
            <a:avLst>
              <a:gd name="adj" fmla="val 2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166360" y="3108960"/>
            <a:ext cx="1675180" cy="411480"/>
          </a:xfrm>
          <a:prstGeom prst="rect">
            <a:avLst/>
          </a:prstGeom>
          <a:noFill/>
        </p:spPr>
        <p:txBody>
          <a:bodyPr wrap="square" lIns="0" rIns="0" tIns="0" bIns="0" anchor="ctr">
            <a:spAutoFit/>
          </a:bodyPr>
          <a:lstStyle/>
          <a:p>
            <a:pPr algn="l">
              <a:lnSpc>
                <a:spcPct val="115000"/>
              </a:lnSpc>
            </a:pPr>
            <a:r>
              <a:rPr sz="1300" b="1" i="0">
                <a:solidFill>
                  <a:srgbClr val="FFFFFF"/>
                </a:solidFill>
                <a:latin typeface="Arial"/>
              </a:rPr>
              <a:t>$138 млн</a:t>
            </a:r>
          </a:p>
        </p:txBody>
      </p:sp>
      <p:sp>
        <p:nvSpPr>
          <p:cNvPr id="17" name="TextBox 16"/>
          <p:cNvSpPr txBox="1"/>
          <p:nvPr/>
        </p:nvSpPr>
        <p:spPr>
          <a:xfrm>
            <a:off x="4480560" y="3886200"/>
            <a:ext cx="548640" cy="320040"/>
          </a:xfrm>
          <a:prstGeom prst="rect">
            <a:avLst/>
          </a:prstGeom>
          <a:noFill/>
        </p:spPr>
        <p:txBody>
          <a:bodyPr wrap="square" lIns="0" rIns="0" tIns="0" bIns="0" anchor="ctr">
            <a:spAutoFit/>
          </a:bodyPr>
          <a:lstStyle/>
          <a:p>
            <a:pPr algn="l">
              <a:lnSpc>
                <a:spcPct val="115000"/>
              </a:lnSpc>
            </a:pPr>
            <a:r>
              <a:rPr sz="1300" b="1" i="0">
                <a:solidFill>
                  <a:srgbClr val="21295C"/>
                </a:solidFill>
                <a:latin typeface="Arial"/>
              </a:rPr>
              <a:t>2027</a:t>
            </a:r>
          </a:p>
        </p:txBody>
      </p:sp>
      <p:sp>
        <p:nvSpPr>
          <p:cNvPr id="18" name="Rounded Rectangle 17"/>
          <p:cNvSpPr/>
          <p:nvPr/>
        </p:nvSpPr>
        <p:spPr>
          <a:xfrm>
            <a:off x="5074920" y="3886200"/>
            <a:ext cx="3200400" cy="411480"/>
          </a:xfrm>
          <a:prstGeom prst="roundRect">
            <a:avLst>
              <a:gd name="adj" fmla="val 2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66360" y="3886200"/>
            <a:ext cx="3108960" cy="411480"/>
          </a:xfrm>
          <a:prstGeom prst="rect">
            <a:avLst/>
          </a:prstGeom>
          <a:noFill/>
        </p:spPr>
        <p:txBody>
          <a:bodyPr wrap="square" lIns="0" rIns="0" tIns="0" bIns="0" anchor="ctr">
            <a:spAutoFit/>
          </a:bodyPr>
          <a:lstStyle/>
          <a:p>
            <a:pPr algn="l">
              <a:lnSpc>
                <a:spcPct val="115000"/>
              </a:lnSpc>
            </a:pPr>
            <a:r>
              <a:rPr sz="1300" b="1" i="0">
                <a:solidFill>
                  <a:srgbClr val="21295C"/>
                </a:solidFill>
                <a:latin typeface="Arial"/>
              </a:rPr>
              <a:t>$250 млн</a:t>
            </a:r>
          </a:p>
        </p:txBody>
      </p:sp>
      <p:sp>
        <p:nvSpPr>
          <p:cNvPr id="20" name="TextBox 19"/>
          <p:cNvSpPr txBox="1"/>
          <p:nvPr/>
        </p:nvSpPr>
        <p:spPr>
          <a:xfrm>
            <a:off x="4480560" y="4983480"/>
            <a:ext cx="3383280" cy="274320"/>
          </a:xfrm>
          <a:prstGeom prst="rect">
            <a:avLst/>
          </a:prstGeom>
          <a:noFill/>
        </p:spPr>
        <p:txBody>
          <a:bodyPr wrap="square" lIns="0" rIns="0" tIns="0" bIns="0" anchor="t">
            <a:spAutoFit/>
          </a:bodyPr>
          <a:lstStyle/>
          <a:p>
            <a:pPr algn="ctr">
              <a:lnSpc>
                <a:spcPct val="115000"/>
              </a:lnSpc>
            </a:pPr>
            <a:r>
              <a:rPr sz="1000" b="0" i="1">
                <a:solidFill>
                  <a:srgbClr val="6B7685"/>
                </a:solidFill>
                <a:latin typeface="Arial"/>
              </a:rPr>
              <a:t>разворот: фото → обучающие данные для AI</a:t>
            </a:r>
          </a:p>
        </p:txBody>
      </p:sp>
      <p:sp>
        <p:nvSpPr>
          <p:cNvPr id="21" name="Rounded Rectangle 20"/>
          <p:cNvSpPr/>
          <p:nvPr/>
        </p:nvSpPr>
        <p:spPr>
          <a:xfrm>
            <a:off x="8183879" y="1828800"/>
            <a:ext cx="365760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321040" y="1920240"/>
            <a:ext cx="3383280" cy="274320"/>
          </a:xfrm>
          <a:prstGeom prst="rect">
            <a:avLst/>
          </a:prstGeom>
          <a:noFill/>
        </p:spPr>
        <p:txBody>
          <a:bodyPr wrap="square" lIns="0" rIns="0" tIns="0" bIns="0" anchor="t">
            <a:spAutoFit/>
          </a:bodyPr>
          <a:lstStyle/>
          <a:p>
            <a:pPr algn="l">
              <a:lnSpc>
                <a:spcPct val="115000"/>
              </a:lnSpc>
            </a:pPr>
            <a:r>
              <a:rPr sz="1000" b="1" i="0">
                <a:solidFill>
                  <a:srgbClr val="028090"/>
                </a:solidFill>
                <a:latin typeface="Arial"/>
              </a:rPr>
              <a:t>ОТВЕТ ИНДУСТРИИ</a:t>
            </a:r>
          </a:p>
        </p:txBody>
      </p:sp>
      <p:sp>
        <p:nvSpPr>
          <p:cNvPr id="23" name="Rounded Rectangle 22"/>
          <p:cNvSpPr/>
          <p:nvPr/>
        </p:nvSpPr>
        <p:spPr>
          <a:xfrm>
            <a:off x="8321040" y="2286000"/>
            <a:ext cx="3383280" cy="82296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412480" y="2331720"/>
            <a:ext cx="3200400" cy="320040"/>
          </a:xfrm>
          <a:prstGeom prst="rect">
            <a:avLst/>
          </a:prstGeom>
          <a:noFill/>
        </p:spPr>
        <p:txBody>
          <a:bodyPr wrap="square" lIns="0" rIns="0" tIns="0" bIns="0" anchor="t">
            <a:spAutoFit/>
          </a:bodyPr>
          <a:lstStyle/>
          <a:p>
            <a:pPr algn="l">
              <a:lnSpc>
                <a:spcPct val="115000"/>
              </a:lnSpc>
            </a:pPr>
            <a:r>
              <a:rPr sz="1000" b="1" i="0">
                <a:solidFill>
                  <a:srgbClr val="FFFFFF"/>
                </a:solidFill>
                <a:latin typeface="Arial"/>
              </a:rPr>
              <a:t>Слияние Getty + Shutterstock</a:t>
            </a:r>
          </a:p>
        </p:txBody>
      </p:sp>
      <p:sp>
        <p:nvSpPr>
          <p:cNvPr id="25" name="TextBox 24"/>
          <p:cNvSpPr txBox="1"/>
          <p:nvPr/>
        </p:nvSpPr>
        <p:spPr>
          <a:xfrm>
            <a:off x="8412480" y="2670048"/>
            <a:ext cx="3200400" cy="411480"/>
          </a:xfrm>
          <a:prstGeom prst="rect">
            <a:avLst/>
          </a:prstGeom>
          <a:noFill/>
        </p:spPr>
        <p:txBody>
          <a:bodyPr wrap="square" lIns="0" rIns="0" tIns="0" bIns="0" anchor="t">
            <a:spAutoFit/>
          </a:bodyPr>
          <a:lstStyle/>
          <a:p>
            <a:pPr algn="l">
              <a:lnSpc>
                <a:spcPct val="120000"/>
              </a:lnSpc>
            </a:pPr>
            <a:r>
              <a:rPr sz="900" b="0" i="1">
                <a:solidFill>
                  <a:srgbClr val="FFFFFF"/>
                </a:solidFill>
                <a:latin typeface="Arial"/>
              </a:rPr>
              <a:t>$3.7B · Jan 2025 · Оборонительная консолидация</a:t>
            </a:r>
          </a:p>
        </p:txBody>
      </p:sp>
      <p:sp>
        <p:nvSpPr>
          <p:cNvPr id="26" name="Rounded Rectangle 25"/>
          <p:cNvSpPr/>
          <p:nvPr/>
        </p:nvSpPr>
        <p:spPr>
          <a:xfrm>
            <a:off x="8321040" y="3200400"/>
            <a:ext cx="3383280" cy="82296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412480" y="3246120"/>
            <a:ext cx="3200400" cy="320040"/>
          </a:xfrm>
          <a:prstGeom prst="rect">
            <a:avLst/>
          </a:prstGeom>
          <a:noFill/>
        </p:spPr>
        <p:txBody>
          <a:bodyPr wrap="square" lIns="0" rIns="0" tIns="0" bIns="0" anchor="t">
            <a:spAutoFit/>
          </a:bodyPr>
          <a:lstStyle/>
          <a:p>
            <a:pPr algn="l">
              <a:lnSpc>
                <a:spcPct val="115000"/>
              </a:lnSpc>
            </a:pPr>
            <a:r>
              <a:rPr sz="1000" b="1" i="0">
                <a:solidFill>
                  <a:srgbClr val="FFFFFF"/>
                </a:solidFill>
                <a:latin typeface="Arial"/>
              </a:rPr>
              <a:t>SAG-AFTRA + WGA*</a:t>
            </a:r>
          </a:p>
        </p:txBody>
      </p:sp>
      <p:sp>
        <p:nvSpPr>
          <p:cNvPr id="28" name="TextBox 27"/>
          <p:cNvSpPr txBox="1"/>
          <p:nvPr/>
        </p:nvSpPr>
        <p:spPr>
          <a:xfrm>
            <a:off x="8412480" y="3584448"/>
            <a:ext cx="3200400" cy="411480"/>
          </a:xfrm>
          <a:prstGeom prst="rect">
            <a:avLst/>
          </a:prstGeom>
          <a:noFill/>
        </p:spPr>
        <p:txBody>
          <a:bodyPr wrap="square" lIns="0" rIns="0" tIns="0" bIns="0" anchor="t">
            <a:spAutoFit/>
          </a:bodyPr>
          <a:lstStyle/>
          <a:p>
            <a:pPr algn="l">
              <a:lnSpc>
                <a:spcPct val="120000"/>
              </a:lnSpc>
            </a:pPr>
            <a:r>
              <a:rPr sz="900" b="0" i="1">
                <a:solidFill>
                  <a:srgbClr val="FFFFFF"/>
                </a:solidFill>
                <a:latin typeface="Arial"/>
              </a:rPr>
              <a:t>Оговорка о цифровых репликах · 2026 · продление на 4 года</a:t>
            </a:r>
          </a:p>
        </p:txBody>
      </p:sp>
      <p:sp>
        <p:nvSpPr>
          <p:cNvPr id="29" name="Rounded Rectangle 28"/>
          <p:cNvSpPr/>
          <p:nvPr/>
        </p:nvSpPr>
        <p:spPr>
          <a:xfrm>
            <a:off x="8321040" y="4114800"/>
            <a:ext cx="3383280" cy="822960"/>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412480" y="4160520"/>
            <a:ext cx="3200400" cy="320040"/>
          </a:xfrm>
          <a:prstGeom prst="rect">
            <a:avLst/>
          </a:prstGeom>
          <a:noFill/>
        </p:spPr>
        <p:txBody>
          <a:bodyPr wrap="square" lIns="0" rIns="0" tIns="0" bIns="0" anchor="t">
            <a:spAutoFit/>
          </a:bodyPr>
          <a:lstStyle/>
          <a:p>
            <a:pPr algn="l">
              <a:lnSpc>
                <a:spcPct val="115000"/>
              </a:lnSpc>
            </a:pPr>
            <a:r>
              <a:rPr sz="1000" b="1" i="0">
                <a:solidFill>
                  <a:srgbClr val="21295C"/>
                </a:solidFill>
                <a:latin typeface="Arial"/>
              </a:rPr>
              <a:t>Актёры озвучки · в мире</a:t>
            </a:r>
          </a:p>
        </p:txBody>
      </p:sp>
      <p:sp>
        <p:nvSpPr>
          <p:cNvPr id="31" name="TextBox 30"/>
          <p:cNvSpPr txBox="1"/>
          <p:nvPr/>
        </p:nvSpPr>
        <p:spPr>
          <a:xfrm>
            <a:off x="8412480" y="4498848"/>
            <a:ext cx="3200400" cy="411480"/>
          </a:xfrm>
          <a:prstGeom prst="rect">
            <a:avLst/>
          </a:prstGeom>
          <a:noFill/>
        </p:spPr>
        <p:txBody>
          <a:bodyPr wrap="square" lIns="0" rIns="0" tIns="0" bIns="0" anchor="t">
            <a:spAutoFit/>
          </a:bodyPr>
          <a:lstStyle/>
          <a:p>
            <a:pPr algn="l">
              <a:lnSpc>
                <a:spcPct val="120000"/>
              </a:lnSpc>
            </a:pPr>
            <a:r>
              <a:rPr sz="900" b="0" i="1">
                <a:solidFill>
                  <a:srgbClr val="21295C"/>
                </a:solidFill>
                <a:latin typeface="Arial"/>
              </a:rPr>
              <a:t>Коммодити-дубляж вытеснен · ElevenLabs в корпоративном секторе</a:t>
            </a:r>
          </a:p>
        </p:txBody>
      </p:sp>
      <p:sp>
        <p:nvSpPr>
          <p:cNvPr id="32" name="TextBox 31"/>
          <p:cNvSpPr txBox="1"/>
          <p:nvPr/>
        </p:nvSpPr>
        <p:spPr>
          <a:xfrm>
            <a:off x="8321040" y="5074920"/>
            <a:ext cx="3383280" cy="274320"/>
          </a:xfrm>
          <a:prstGeom prst="rect">
            <a:avLst/>
          </a:prstGeom>
          <a:noFill/>
        </p:spPr>
        <p:txBody>
          <a:bodyPr wrap="square" lIns="0" rIns="0" tIns="0" bIns="0" anchor="t">
            <a:spAutoFit/>
          </a:bodyPr>
          <a:lstStyle/>
          <a:p>
            <a:pPr algn="l">
              <a:lnSpc>
                <a:spcPct val="100000"/>
              </a:lnSpc>
            </a:pPr>
            <a:r>
              <a:rPr sz="800" b="0" i="1">
                <a:solidFill>
                  <a:srgbClr val="1C7293"/>
                </a:solidFill>
                <a:latin typeface="Arial"/>
              </a:rPr>
              <a:t>* SAG-AFTRA = Гильдия киноактёров · WGA = Гильдия сценаристов</a:t>
            </a:r>
          </a:p>
        </p:txBody>
      </p:sp>
      <p:sp>
        <p:nvSpPr>
          <p:cNvPr id="33" name="Rounded Rectangle 32"/>
          <p:cNvSpPr/>
          <p:nvPr/>
        </p:nvSpPr>
        <p:spPr>
          <a:xfrm>
            <a:off x="502920" y="5669280"/>
            <a:ext cx="11247120" cy="1005840"/>
          </a:xfrm>
          <a:prstGeom prst="roundRect">
            <a:avLst>
              <a:gd name="adj" fmla="val 25000"/>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7512" y="5760720"/>
            <a:ext cx="10917936" cy="292608"/>
          </a:xfrm>
          <a:prstGeom prst="rect">
            <a:avLst/>
          </a:prstGeom>
          <a:noFill/>
        </p:spPr>
        <p:txBody>
          <a:bodyPr wrap="square" lIns="0" rIns="0" tIns="0" bIns="0" anchor="t">
            <a:spAutoFit/>
          </a:bodyPr>
          <a:lstStyle/>
          <a:p>
            <a:pPr algn="l">
              <a:lnSpc>
                <a:spcPct val="100000"/>
              </a:lnSpc>
            </a:pPr>
            <a:r>
              <a:rPr sz="1100" b="1" i="0">
                <a:solidFill>
                  <a:srgbClr val="F0AB00"/>
                </a:solidFill>
                <a:latin typeface="Arial"/>
              </a:rPr>
              <a:t>УРОК ДЛЯ ИНЖЕНЕРА</a:t>
            </a:r>
          </a:p>
        </p:txBody>
      </p:sp>
      <p:sp>
        <p:nvSpPr>
          <p:cNvPr id="35" name="TextBox 34"/>
          <p:cNvSpPr txBox="1"/>
          <p:nvPr/>
        </p:nvSpPr>
        <p:spPr>
          <a:xfrm>
            <a:off x="667512" y="6080760"/>
            <a:ext cx="10917936" cy="50292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Структурно: AI вымывает нижний сегмент, оставляет верхний сегмент защищённым. Clauses не покрывают bottom фриланс.</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914400"/>
            <a:ext cx="3657600" cy="4114800"/>
          </a:xfrm>
          <a:prstGeom prst="rect">
            <a:avLst/>
          </a:prstGeom>
          <a:noFill/>
        </p:spPr>
        <p:txBody>
          <a:bodyPr wrap="square" lIns="0" rIns="0" tIns="0" bIns="0" anchor="t">
            <a:spAutoFit/>
          </a:bodyPr>
          <a:lstStyle/>
          <a:p>
            <a:pPr algn="ctr">
              <a:lnSpc>
                <a:spcPct val="100000"/>
              </a:lnSpc>
            </a:pPr>
            <a:r>
              <a:rPr sz="30000" b="1" i="0">
                <a:solidFill>
                  <a:srgbClr val="D9E2EC"/>
                </a:solidFill>
                <a:latin typeface="Arial"/>
              </a:rPr>
              <a:t>3</a:t>
            </a:r>
          </a:p>
        </p:txBody>
      </p:sp>
      <p:sp>
        <p:nvSpPr>
          <p:cNvPr id="3" name="TextBox 2"/>
          <p:cNvSpPr txBox="1"/>
          <p:nvPr/>
        </p:nvSpPr>
        <p:spPr>
          <a:xfrm>
            <a:off x="4297680" y="1463040"/>
            <a:ext cx="7315200" cy="457200"/>
          </a:xfrm>
          <a:prstGeom prst="rect">
            <a:avLst/>
          </a:prstGeom>
          <a:noFill/>
        </p:spPr>
        <p:txBody>
          <a:bodyPr wrap="square" lIns="0" rIns="0" tIns="0" bIns="0" anchor="t">
            <a:spAutoFit/>
          </a:bodyPr>
          <a:lstStyle/>
          <a:p>
            <a:pPr algn="l">
              <a:lnSpc>
                <a:spcPct val="100000"/>
              </a:lnSpc>
            </a:pPr>
            <a:r>
              <a:rPr sz="1800" b="1" i="0">
                <a:solidFill>
                  <a:srgbClr val="028090"/>
                </a:solidFill>
                <a:latin typeface="Arial"/>
              </a:rPr>
              <a:t>РАЗДЕЛ</a:t>
            </a:r>
          </a:p>
        </p:txBody>
      </p:sp>
      <p:sp>
        <p:nvSpPr>
          <p:cNvPr id="4" name="TextBox 3"/>
          <p:cNvSpPr txBox="1"/>
          <p:nvPr/>
        </p:nvSpPr>
        <p:spPr>
          <a:xfrm>
            <a:off x="4297680" y="1965960"/>
            <a:ext cx="7315200" cy="1645920"/>
          </a:xfrm>
          <a:prstGeom prst="rect">
            <a:avLst/>
          </a:prstGeom>
          <a:noFill/>
        </p:spPr>
        <p:txBody>
          <a:bodyPr wrap="square" lIns="0" rIns="0" tIns="0" bIns="0" anchor="t">
            <a:spAutoFit/>
          </a:bodyPr>
          <a:lstStyle/>
          <a:p>
            <a:pPr algn="l">
              <a:lnSpc>
                <a:spcPct val="115000"/>
              </a:lnSpc>
            </a:pPr>
            <a:r>
              <a:rPr sz="4400" b="1" i="0">
                <a:solidFill>
                  <a:srgbClr val="21295C"/>
                </a:solidFill>
                <a:latin typeface="Arial"/>
              </a:rPr>
              <a:t>AI СЛОМАЛ</a:t>
            </a:r>
          </a:p>
        </p:txBody>
      </p:sp>
      <p:sp>
        <p:nvSpPr>
          <p:cNvPr id="5" name="Rectangle 4"/>
          <p:cNvSpPr/>
          <p:nvPr/>
        </p:nvSpPr>
        <p:spPr>
          <a:xfrm>
            <a:off x="4297680" y="3611880"/>
            <a:ext cx="36576"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434840" y="3611880"/>
            <a:ext cx="7223760" cy="914400"/>
          </a:xfrm>
          <a:prstGeom prst="rect">
            <a:avLst/>
          </a:prstGeom>
          <a:noFill/>
        </p:spPr>
        <p:txBody>
          <a:bodyPr wrap="square" lIns="0" rIns="0" tIns="0" bIns="0" anchor="t">
            <a:spAutoFit/>
          </a:bodyPr>
          <a:lstStyle/>
          <a:p>
            <a:pPr algn="l">
              <a:lnSpc>
                <a:spcPct val="130000"/>
              </a:lnSpc>
            </a:pPr>
            <a:r>
              <a:rPr sz="1600" b="0" i="0">
                <a:solidFill>
                  <a:srgbClr val="065A82"/>
                </a:solidFill>
                <a:latin typeface="Arial"/>
              </a:rPr>
              <a:t>12 кейсов: авторское право × 4 + дипфейки × 2 + slop · фейковые авторы · негативная реакция · замещение + таксономия.</a:t>
            </a:r>
          </a:p>
        </p:txBody>
      </p:sp>
      <p:sp>
        <p:nvSpPr>
          <p:cNvPr id="7" name="Rounded Rectangle 6"/>
          <p:cNvSpPr/>
          <p:nvPr/>
        </p:nvSpPr>
        <p:spPr>
          <a:xfrm>
            <a:off x="502920" y="5349240"/>
            <a:ext cx="1783080"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22392"/>
            <a:ext cx="1783080" cy="365760"/>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0</a:t>
            </a:r>
          </a:p>
        </p:txBody>
      </p:sp>
      <p:sp>
        <p:nvSpPr>
          <p:cNvPr id="9" name="TextBox 8"/>
          <p:cNvSpPr txBox="1"/>
          <p:nvPr/>
        </p:nvSpPr>
        <p:spPr>
          <a:xfrm>
            <a:off x="539496" y="5769864"/>
            <a:ext cx="1709928" cy="411479"/>
          </a:xfrm>
          <a:prstGeom prst="rect">
            <a:avLst/>
          </a:prstGeom>
          <a:noFill/>
        </p:spPr>
        <p:txBody>
          <a:bodyPr wrap="square" lIns="0" rIns="0" tIns="0" bIns="0" anchor="t">
            <a:spAutoFit/>
          </a:bodyPr>
          <a:lstStyle/>
          <a:p>
            <a:pPr algn="ctr">
              <a:lnSpc>
                <a:spcPct val="115000"/>
              </a:lnSpc>
            </a:pPr>
            <a:r>
              <a:rPr sz="900" b="0" i="0">
                <a:solidFill>
                  <a:srgbClr val="065A82"/>
                </a:solidFill>
                <a:latin typeface="Arial"/>
              </a:rPr>
              <a:t>Открытие
+ ось лекции</a:t>
            </a:r>
          </a:p>
        </p:txBody>
      </p:sp>
      <p:sp>
        <p:nvSpPr>
          <p:cNvPr id="10" name="Rounded Rectangle 9"/>
          <p:cNvSpPr/>
          <p:nvPr/>
        </p:nvSpPr>
        <p:spPr>
          <a:xfrm>
            <a:off x="2395728" y="5349240"/>
            <a:ext cx="1783080"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95728" y="5422392"/>
            <a:ext cx="1783080" cy="365760"/>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1</a:t>
            </a:r>
          </a:p>
        </p:txBody>
      </p:sp>
      <p:sp>
        <p:nvSpPr>
          <p:cNvPr id="12" name="TextBox 11"/>
          <p:cNvSpPr txBox="1"/>
          <p:nvPr/>
        </p:nvSpPr>
        <p:spPr>
          <a:xfrm>
            <a:off x="2432304" y="5769864"/>
            <a:ext cx="1709928" cy="411479"/>
          </a:xfrm>
          <a:prstGeom prst="rect">
            <a:avLst/>
          </a:prstGeom>
          <a:noFill/>
        </p:spPr>
        <p:txBody>
          <a:bodyPr wrap="square" lIns="0" rIns="0" tIns="0" bIns="0" anchor="t">
            <a:spAutoFit/>
          </a:bodyPr>
          <a:lstStyle/>
          <a:p>
            <a:pPr algn="ctr">
              <a:lnSpc>
                <a:spcPct val="115000"/>
              </a:lnSpc>
            </a:pPr>
            <a:r>
              <a:rPr sz="900" b="0" i="0">
                <a:solidFill>
                  <a:srgbClr val="065A82"/>
                </a:solidFill>
                <a:latin typeface="Arial"/>
              </a:rPr>
              <a:t>AI ДОБАВИЛ</a:t>
            </a:r>
          </a:p>
        </p:txBody>
      </p:sp>
      <p:sp>
        <p:nvSpPr>
          <p:cNvPr id="13" name="Rounded Rectangle 12"/>
          <p:cNvSpPr/>
          <p:nvPr/>
        </p:nvSpPr>
        <p:spPr>
          <a:xfrm>
            <a:off x="4288536" y="5349240"/>
            <a:ext cx="1783080"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88536" y="5422392"/>
            <a:ext cx="1783080" cy="365760"/>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2</a:t>
            </a:r>
          </a:p>
        </p:txBody>
      </p:sp>
      <p:sp>
        <p:nvSpPr>
          <p:cNvPr id="15" name="TextBox 14"/>
          <p:cNvSpPr txBox="1"/>
          <p:nvPr/>
        </p:nvSpPr>
        <p:spPr>
          <a:xfrm>
            <a:off x="4325112" y="5769864"/>
            <a:ext cx="1709928" cy="411479"/>
          </a:xfrm>
          <a:prstGeom prst="rect">
            <a:avLst/>
          </a:prstGeom>
          <a:noFill/>
        </p:spPr>
        <p:txBody>
          <a:bodyPr wrap="square" lIns="0" rIns="0" tIns="0" bIns="0" anchor="t">
            <a:spAutoFit/>
          </a:bodyPr>
          <a:lstStyle/>
          <a:p>
            <a:pPr algn="ctr">
              <a:lnSpc>
                <a:spcPct val="115000"/>
              </a:lnSpc>
            </a:pPr>
            <a:r>
              <a:rPr sz="900" b="0" i="0">
                <a:solidFill>
                  <a:srgbClr val="065A82"/>
                </a:solidFill>
                <a:latin typeface="Arial"/>
              </a:rPr>
              <a:t>AI ИЗМЕНИЛ</a:t>
            </a:r>
          </a:p>
        </p:txBody>
      </p:sp>
      <p:sp>
        <p:nvSpPr>
          <p:cNvPr id="16" name="Rounded Rectangle 15"/>
          <p:cNvSpPr/>
          <p:nvPr/>
        </p:nvSpPr>
        <p:spPr>
          <a:xfrm>
            <a:off x="6181344" y="5349240"/>
            <a:ext cx="1783080" cy="868680"/>
          </a:xfrm>
          <a:prstGeom prst="roundRect">
            <a:avLst>
              <a:gd name="adj" fmla="val 25000"/>
            </a:avLst>
          </a:prstGeom>
          <a:solidFill>
            <a:srgbClr val="F0AB0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81344" y="5422392"/>
            <a:ext cx="1783080" cy="365760"/>
          </a:xfrm>
          <a:prstGeom prst="rect">
            <a:avLst/>
          </a:prstGeom>
          <a:noFill/>
        </p:spPr>
        <p:txBody>
          <a:bodyPr wrap="square" lIns="0" rIns="0" tIns="0" bIns="0" anchor="t">
            <a:spAutoFit/>
          </a:bodyPr>
          <a:lstStyle/>
          <a:p>
            <a:pPr algn="ctr">
              <a:lnSpc>
                <a:spcPct val="100000"/>
              </a:lnSpc>
            </a:pPr>
            <a:r>
              <a:rPr sz="2200" b="1" i="0">
                <a:solidFill>
                  <a:srgbClr val="FFFFFF"/>
                </a:solidFill>
                <a:latin typeface="Arial"/>
              </a:rPr>
              <a:t>3</a:t>
            </a:r>
          </a:p>
        </p:txBody>
      </p:sp>
      <p:sp>
        <p:nvSpPr>
          <p:cNvPr id="18" name="TextBox 17"/>
          <p:cNvSpPr txBox="1"/>
          <p:nvPr/>
        </p:nvSpPr>
        <p:spPr>
          <a:xfrm>
            <a:off x="6217920" y="5769864"/>
            <a:ext cx="1709928" cy="411479"/>
          </a:xfrm>
          <a:prstGeom prst="rect">
            <a:avLst/>
          </a:prstGeom>
          <a:noFill/>
        </p:spPr>
        <p:txBody>
          <a:bodyPr wrap="square" lIns="0" rIns="0" tIns="0" bIns="0" anchor="t">
            <a:spAutoFit/>
          </a:bodyPr>
          <a:lstStyle/>
          <a:p>
            <a:pPr algn="ctr">
              <a:lnSpc>
                <a:spcPct val="115000"/>
              </a:lnSpc>
            </a:pPr>
            <a:r>
              <a:rPr sz="900" b="1" i="0">
                <a:solidFill>
                  <a:srgbClr val="FFFFFF"/>
                </a:solidFill>
                <a:latin typeface="Arial"/>
              </a:rPr>
              <a:t>AI СЛОМАЛ</a:t>
            </a:r>
          </a:p>
        </p:txBody>
      </p:sp>
      <p:sp>
        <p:nvSpPr>
          <p:cNvPr id="19" name="Rounded Rectangle 18"/>
          <p:cNvSpPr/>
          <p:nvPr/>
        </p:nvSpPr>
        <p:spPr>
          <a:xfrm>
            <a:off x="8074152" y="5349240"/>
            <a:ext cx="1783080"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74152" y="5422392"/>
            <a:ext cx="1783080" cy="365760"/>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4</a:t>
            </a:r>
          </a:p>
        </p:txBody>
      </p:sp>
      <p:sp>
        <p:nvSpPr>
          <p:cNvPr id="21" name="TextBox 20"/>
          <p:cNvSpPr txBox="1"/>
          <p:nvPr/>
        </p:nvSpPr>
        <p:spPr>
          <a:xfrm>
            <a:off x="8110728" y="5769864"/>
            <a:ext cx="1709928" cy="411479"/>
          </a:xfrm>
          <a:prstGeom prst="rect">
            <a:avLst/>
          </a:prstGeom>
          <a:noFill/>
        </p:spPr>
        <p:txBody>
          <a:bodyPr wrap="square" lIns="0" rIns="0" tIns="0" bIns="0" anchor="t">
            <a:spAutoFit/>
          </a:bodyPr>
          <a:lstStyle/>
          <a:p>
            <a:pPr algn="ctr">
              <a:lnSpc>
                <a:spcPct val="115000"/>
              </a:lnSpc>
            </a:pPr>
            <a:r>
              <a:rPr sz="900" b="0" i="0">
                <a:solidFill>
                  <a:srgbClr val="6B7685"/>
                </a:solidFill>
                <a:latin typeface="Arial"/>
              </a:rPr>
              <a:t>AI не нужен</a:t>
            </a:r>
          </a:p>
        </p:txBody>
      </p:sp>
      <p:sp>
        <p:nvSpPr>
          <p:cNvPr id="22" name="Rounded Rectangle 21"/>
          <p:cNvSpPr/>
          <p:nvPr/>
        </p:nvSpPr>
        <p:spPr>
          <a:xfrm>
            <a:off x="9966960" y="5349240"/>
            <a:ext cx="1783080"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66960" y="5422392"/>
            <a:ext cx="1783080" cy="365760"/>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5</a:t>
            </a:r>
          </a:p>
        </p:txBody>
      </p:sp>
      <p:sp>
        <p:nvSpPr>
          <p:cNvPr id="24" name="TextBox 23"/>
          <p:cNvSpPr txBox="1"/>
          <p:nvPr/>
        </p:nvSpPr>
        <p:spPr>
          <a:xfrm>
            <a:off x="10003536" y="5769864"/>
            <a:ext cx="1709928" cy="411479"/>
          </a:xfrm>
          <a:prstGeom prst="rect">
            <a:avLst/>
          </a:prstGeom>
          <a:noFill/>
        </p:spPr>
        <p:txBody>
          <a:bodyPr wrap="square" lIns="0" rIns="0" tIns="0" bIns="0" anchor="t">
            <a:spAutoFit/>
          </a:bodyPr>
          <a:lstStyle/>
          <a:p>
            <a:pPr algn="ctr">
              <a:lnSpc>
                <a:spcPct val="115000"/>
              </a:lnSpc>
            </a:pPr>
            <a:r>
              <a:rPr sz="900" b="0" i="0">
                <a:solidFill>
                  <a:srgbClr val="6B7685"/>
                </a:solidFill>
                <a:latin typeface="Arial"/>
              </a:rPr>
              <a:t>Что делать</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«AI и авторское право» — 4 разных категории исков</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Не один юридический вопрос, а четыре. С разной правовой логикой и исходами.</a:t>
            </a:r>
          </a:p>
        </p:txBody>
      </p:sp>
      <p:sp>
        <p:nvSpPr>
          <p:cNvPr id="4" name="Rounded Rectangle 3"/>
          <p:cNvSpPr/>
          <p:nvPr/>
        </p:nvSpPr>
        <p:spPr>
          <a:xfrm>
            <a:off x="502920" y="1828800"/>
            <a:ext cx="379476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0"/>
            <a:ext cx="3794760" cy="50292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901952"/>
            <a:ext cx="3520440" cy="365760"/>
          </a:xfrm>
          <a:prstGeom prst="rect">
            <a:avLst/>
          </a:prstGeom>
          <a:noFill/>
        </p:spPr>
        <p:txBody>
          <a:bodyPr wrap="square" lIns="0" rIns="0" tIns="0" bIns="0" anchor="ctr">
            <a:spAutoFit/>
          </a:bodyPr>
          <a:lstStyle/>
          <a:p>
            <a:pPr algn="l">
              <a:lnSpc>
                <a:spcPct val="115000"/>
              </a:lnSpc>
            </a:pPr>
            <a:r>
              <a:rPr sz="1500" b="1" i="0">
                <a:solidFill>
                  <a:srgbClr val="FFFFFF"/>
                </a:solidFill>
                <a:latin typeface="Arial"/>
              </a:rPr>
              <a:t>1. Парсинг для обучения</a:t>
            </a:r>
          </a:p>
        </p:txBody>
      </p:sp>
      <p:sp>
        <p:nvSpPr>
          <p:cNvPr id="7" name="TextBox 6"/>
          <p:cNvSpPr txBox="1"/>
          <p:nvPr/>
        </p:nvSpPr>
        <p:spPr>
          <a:xfrm>
            <a:off x="667512" y="2423160"/>
            <a:ext cx="3465576" cy="320040"/>
          </a:xfrm>
          <a:prstGeom prst="rect">
            <a:avLst/>
          </a:prstGeom>
          <a:noFill/>
        </p:spPr>
        <p:txBody>
          <a:bodyPr wrap="square" lIns="0" rIns="0" tIns="0" bIns="0" anchor="t">
            <a:spAutoFit/>
          </a:bodyPr>
          <a:lstStyle/>
          <a:p>
            <a:pPr algn="l">
              <a:lnSpc>
                <a:spcPct val="115000"/>
              </a:lnSpc>
            </a:pPr>
            <a:r>
              <a:rPr sz="1000" b="1" i="1">
                <a:solidFill>
                  <a:srgbClr val="028090"/>
                </a:solidFill>
                <a:latin typeface="Arial"/>
              </a:rPr>
              <a:t>СО СТОРОНЫ ВХОДА</a:t>
            </a:r>
          </a:p>
        </p:txBody>
      </p:sp>
      <p:sp>
        <p:nvSpPr>
          <p:cNvPr id="8" name="TextBox 7"/>
          <p:cNvSpPr txBox="1"/>
          <p:nvPr/>
        </p:nvSpPr>
        <p:spPr>
          <a:xfrm>
            <a:off x="667512" y="2743200"/>
            <a:ext cx="3465576" cy="64008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AI-компания собрала корпус БЕЗ лицензии</a:t>
            </a:r>
          </a:p>
        </p:txBody>
      </p:sp>
      <p:sp>
        <p:nvSpPr>
          <p:cNvPr id="9" name="TextBox 8"/>
          <p:cNvSpPr txBox="1"/>
          <p:nvPr/>
        </p:nvSpPr>
        <p:spPr>
          <a:xfrm>
            <a:off x="667512" y="3337560"/>
            <a:ext cx="3465576" cy="365760"/>
          </a:xfrm>
          <a:prstGeom prst="rect">
            <a:avLst/>
          </a:prstGeom>
          <a:noFill/>
        </p:spPr>
        <p:txBody>
          <a:bodyPr wrap="square" lIns="0" rIns="0" tIns="0" bIns="0" anchor="t">
            <a:spAutoFit/>
          </a:bodyPr>
          <a:lstStyle/>
          <a:p>
            <a:pPr algn="l">
              <a:lnSpc>
                <a:spcPct val="120000"/>
              </a:lnSpc>
            </a:pPr>
            <a:r>
              <a:rPr sz="1000" b="1" i="1">
                <a:solidFill>
                  <a:srgbClr val="F0AB00"/>
                </a:solidFill>
                <a:latin typeface="Arial"/>
              </a:rPr>
              <a:t>→ NYT против OpenAI · Andersen</a:t>
            </a:r>
          </a:p>
        </p:txBody>
      </p:sp>
      <p:sp>
        <p:nvSpPr>
          <p:cNvPr id="10" name="Rounded Rectangle 9"/>
          <p:cNvSpPr/>
          <p:nvPr/>
        </p:nvSpPr>
        <p:spPr>
          <a:xfrm>
            <a:off x="4480560" y="1828800"/>
            <a:ext cx="379476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4480560" y="1828800"/>
            <a:ext cx="3794760" cy="50292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1901952"/>
            <a:ext cx="3520440" cy="365760"/>
          </a:xfrm>
          <a:prstGeom prst="rect">
            <a:avLst/>
          </a:prstGeom>
          <a:noFill/>
        </p:spPr>
        <p:txBody>
          <a:bodyPr wrap="square" lIns="0" rIns="0" tIns="0" bIns="0" anchor="ctr">
            <a:spAutoFit/>
          </a:bodyPr>
          <a:lstStyle/>
          <a:p>
            <a:pPr algn="l">
              <a:lnSpc>
                <a:spcPct val="115000"/>
              </a:lnSpc>
            </a:pPr>
            <a:r>
              <a:rPr sz="1500" b="1" i="0">
                <a:solidFill>
                  <a:srgbClr val="FFFFFF"/>
                </a:solidFill>
                <a:latin typeface="Arial"/>
              </a:rPr>
              <a:t>2. Сходство вывода</a:t>
            </a:r>
          </a:p>
        </p:txBody>
      </p:sp>
      <p:sp>
        <p:nvSpPr>
          <p:cNvPr id="13" name="TextBox 12"/>
          <p:cNvSpPr txBox="1"/>
          <p:nvPr/>
        </p:nvSpPr>
        <p:spPr>
          <a:xfrm>
            <a:off x="4645152" y="2423160"/>
            <a:ext cx="3465576" cy="320040"/>
          </a:xfrm>
          <a:prstGeom prst="rect">
            <a:avLst/>
          </a:prstGeom>
          <a:noFill/>
        </p:spPr>
        <p:txBody>
          <a:bodyPr wrap="square" lIns="0" rIns="0" tIns="0" bIns="0" anchor="t">
            <a:spAutoFit/>
          </a:bodyPr>
          <a:lstStyle/>
          <a:p>
            <a:pPr algn="l">
              <a:lnSpc>
                <a:spcPct val="115000"/>
              </a:lnSpc>
            </a:pPr>
            <a:r>
              <a:rPr sz="1000" b="1" i="1">
                <a:solidFill>
                  <a:srgbClr val="028090"/>
                </a:solidFill>
                <a:latin typeface="Arial"/>
              </a:rPr>
              <a:t>СО СТОРОНЫ ВЫХОДА</a:t>
            </a:r>
          </a:p>
        </p:txBody>
      </p:sp>
      <p:sp>
        <p:nvSpPr>
          <p:cNvPr id="14" name="TextBox 13"/>
          <p:cNvSpPr txBox="1"/>
          <p:nvPr/>
        </p:nvSpPr>
        <p:spPr>
          <a:xfrm>
            <a:off x="4645152" y="2743200"/>
            <a:ext cx="3465576" cy="64008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Модель воспроизводит охраняемый контент дословно</a:t>
            </a:r>
          </a:p>
        </p:txBody>
      </p:sp>
      <p:sp>
        <p:nvSpPr>
          <p:cNvPr id="15" name="TextBox 14"/>
          <p:cNvSpPr txBox="1"/>
          <p:nvPr/>
        </p:nvSpPr>
        <p:spPr>
          <a:xfrm>
            <a:off x="4645152" y="3337560"/>
            <a:ext cx="3465576" cy="365760"/>
          </a:xfrm>
          <a:prstGeom prst="rect">
            <a:avLst/>
          </a:prstGeom>
          <a:noFill/>
        </p:spPr>
        <p:txBody>
          <a:bodyPr wrap="square" lIns="0" rIns="0" tIns="0" bIns="0" anchor="t">
            <a:spAutoFit/>
          </a:bodyPr>
          <a:lstStyle/>
          <a:p>
            <a:pPr algn="l">
              <a:lnSpc>
                <a:spcPct val="120000"/>
              </a:lnSpc>
            </a:pPr>
            <a:r>
              <a:rPr sz="1000" b="1" i="1">
                <a:solidFill>
                  <a:srgbClr val="F0AB00"/>
                </a:solidFill>
                <a:latin typeface="Arial"/>
              </a:rPr>
              <a:t>→ дословное цитирование NYT · DMCA</a:t>
            </a:r>
          </a:p>
        </p:txBody>
      </p:sp>
      <p:sp>
        <p:nvSpPr>
          <p:cNvPr id="16" name="Rounded Rectangle 15"/>
          <p:cNvSpPr/>
          <p:nvPr/>
        </p:nvSpPr>
        <p:spPr>
          <a:xfrm>
            <a:off x="502920" y="3886200"/>
            <a:ext cx="379476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2920" y="3886200"/>
            <a:ext cx="3794760" cy="502920"/>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3959352"/>
            <a:ext cx="3520440" cy="36576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3. Подражание стилю</a:t>
            </a:r>
          </a:p>
        </p:txBody>
      </p:sp>
      <p:sp>
        <p:nvSpPr>
          <p:cNvPr id="19" name="TextBox 18"/>
          <p:cNvSpPr txBox="1"/>
          <p:nvPr/>
        </p:nvSpPr>
        <p:spPr>
          <a:xfrm>
            <a:off x="667512" y="4480560"/>
            <a:ext cx="3465576" cy="320040"/>
          </a:xfrm>
          <a:prstGeom prst="rect">
            <a:avLst/>
          </a:prstGeom>
          <a:noFill/>
        </p:spPr>
        <p:txBody>
          <a:bodyPr wrap="square" lIns="0" rIns="0" tIns="0" bIns="0" anchor="t">
            <a:spAutoFit/>
          </a:bodyPr>
          <a:lstStyle/>
          <a:p>
            <a:pPr algn="l">
              <a:lnSpc>
                <a:spcPct val="115000"/>
              </a:lnSpc>
            </a:pPr>
            <a:r>
              <a:rPr sz="1000" b="1" i="1">
                <a:solidFill>
                  <a:srgbClr val="028090"/>
                </a:solidFill>
                <a:latin typeface="Arial"/>
              </a:rPr>
              <a:t>«В СТИЛЕ КОНКРЕТНОГО ХУДОЖНИКА»</a:t>
            </a:r>
          </a:p>
        </p:txBody>
      </p:sp>
      <p:sp>
        <p:nvSpPr>
          <p:cNvPr id="20" name="TextBox 19"/>
          <p:cNvSpPr txBox="1"/>
          <p:nvPr/>
        </p:nvSpPr>
        <p:spPr>
          <a:xfrm>
            <a:off x="667512" y="4800600"/>
            <a:ext cx="3465576" cy="64008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Коллективный иск художников · стиль не охраняется авторским правом, но DMCA + публичные права</a:t>
            </a:r>
          </a:p>
        </p:txBody>
      </p:sp>
      <p:sp>
        <p:nvSpPr>
          <p:cNvPr id="21" name="TextBox 20"/>
          <p:cNvSpPr txBox="1"/>
          <p:nvPr/>
        </p:nvSpPr>
        <p:spPr>
          <a:xfrm>
            <a:off x="667512" y="5394960"/>
            <a:ext cx="3465576" cy="365760"/>
          </a:xfrm>
          <a:prstGeom prst="rect">
            <a:avLst/>
          </a:prstGeom>
          <a:noFill/>
        </p:spPr>
        <p:txBody>
          <a:bodyPr wrap="square" lIns="0" rIns="0" tIns="0" bIns="0" anchor="t">
            <a:spAutoFit/>
          </a:bodyPr>
          <a:lstStyle/>
          <a:p>
            <a:pPr algn="l">
              <a:lnSpc>
                <a:spcPct val="120000"/>
              </a:lnSpc>
            </a:pPr>
            <a:r>
              <a:rPr sz="1000" b="1" i="1">
                <a:solidFill>
                  <a:srgbClr val="F0AB00"/>
                </a:solidFill>
                <a:latin typeface="Arial"/>
              </a:rPr>
              <a:t>→ Andersen против Stability/MJ/Deviant</a:t>
            </a:r>
          </a:p>
        </p:txBody>
      </p:sp>
      <p:sp>
        <p:nvSpPr>
          <p:cNvPr id="22" name="Rounded Rectangle 21"/>
          <p:cNvSpPr/>
          <p:nvPr/>
        </p:nvSpPr>
        <p:spPr>
          <a:xfrm>
            <a:off x="4480560" y="3886200"/>
            <a:ext cx="3794760" cy="1874519"/>
          </a:xfrm>
          <a:prstGeom prst="roundRect">
            <a:avLst>
              <a:gd name="adj" fmla="val 1626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480560" y="3886200"/>
            <a:ext cx="3794760" cy="502920"/>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617720" y="3959352"/>
            <a:ext cx="3520440" cy="365760"/>
          </a:xfrm>
          <a:prstGeom prst="rect">
            <a:avLst/>
          </a:prstGeom>
          <a:noFill/>
        </p:spPr>
        <p:txBody>
          <a:bodyPr wrap="square" lIns="0" rIns="0" tIns="0" bIns="0" anchor="ctr">
            <a:spAutoFit/>
          </a:bodyPr>
          <a:lstStyle/>
          <a:p>
            <a:pPr algn="l">
              <a:lnSpc>
                <a:spcPct val="115000"/>
              </a:lnSpc>
            </a:pPr>
            <a:r>
              <a:rPr sz="1500" b="1" i="0">
                <a:solidFill>
                  <a:srgbClr val="FFFFFF"/>
                </a:solidFill>
                <a:latin typeface="Arial"/>
              </a:rPr>
              <a:t>4. Голос/образ</a:t>
            </a:r>
          </a:p>
        </p:txBody>
      </p:sp>
      <p:sp>
        <p:nvSpPr>
          <p:cNvPr id="25" name="TextBox 24"/>
          <p:cNvSpPr txBox="1"/>
          <p:nvPr/>
        </p:nvSpPr>
        <p:spPr>
          <a:xfrm>
            <a:off x="4645152" y="4480560"/>
            <a:ext cx="3465576" cy="320040"/>
          </a:xfrm>
          <a:prstGeom prst="rect">
            <a:avLst/>
          </a:prstGeom>
          <a:noFill/>
        </p:spPr>
        <p:txBody>
          <a:bodyPr wrap="square" lIns="0" rIns="0" tIns="0" bIns="0" anchor="t">
            <a:spAutoFit/>
          </a:bodyPr>
          <a:lstStyle/>
          <a:p>
            <a:pPr algn="l">
              <a:lnSpc>
                <a:spcPct val="115000"/>
              </a:lnSpc>
            </a:pPr>
            <a:r>
              <a:rPr sz="1000" b="1" i="1">
                <a:solidFill>
                  <a:srgbClr val="028090"/>
                </a:solidFill>
                <a:latin typeface="Arial"/>
              </a:rPr>
              <a:t>ПРАВО НА ОБРАЗ</a:t>
            </a:r>
          </a:p>
        </p:txBody>
      </p:sp>
      <p:sp>
        <p:nvSpPr>
          <p:cNvPr id="26" name="TextBox 25"/>
          <p:cNvSpPr txBox="1"/>
          <p:nvPr/>
        </p:nvSpPr>
        <p:spPr>
          <a:xfrm>
            <a:off x="4645152" y="4800600"/>
            <a:ext cx="3465576" cy="640080"/>
          </a:xfrm>
          <a:prstGeom prst="rect">
            <a:avLst/>
          </a:prstGeom>
          <a:noFill/>
        </p:spPr>
        <p:txBody>
          <a:bodyPr wrap="square" lIns="0" rIns="0" tIns="0" bIns="0" anchor="t">
            <a:spAutoFit/>
          </a:bodyPr>
          <a:lstStyle/>
          <a:p>
            <a:pPr algn="l">
              <a:lnSpc>
                <a:spcPct val="130000"/>
              </a:lnSpc>
            </a:pPr>
            <a:r>
              <a:rPr sz="1200" b="0" i="0">
                <a:solidFill>
                  <a:srgbClr val="21295C"/>
                </a:solidFill>
                <a:latin typeface="Arial"/>
              </a:rPr>
              <a:t>Использование голоса/образа без согласия</a:t>
            </a:r>
          </a:p>
        </p:txBody>
      </p:sp>
      <p:sp>
        <p:nvSpPr>
          <p:cNvPr id="27" name="TextBox 26"/>
          <p:cNvSpPr txBox="1"/>
          <p:nvPr/>
        </p:nvSpPr>
        <p:spPr>
          <a:xfrm>
            <a:off x="4645152" y="5394960"/>
            <a:ext cx="3465576" cy="365760"/>
          </a:xfrm>
          <a:prstGeom prst="rect">
            <a:avLst/>
          </a:prstGeom>
          <a:noFill/>
        </p:spPr>
        <p:txBody>
          <a:bodyPr wrap="square" lIns="0" rIns="0" tIns="0" bIns="0" anchor="t">
            <a:spAutoFit/>
          </a:bodyPr>
          <a:lstStyle/>
          <a:p>
            <a:pPr algn="l">
              <a:lnSpc>
                <a:spcPct val="120000"/>
              </a:lnSpc>
            </a:pPr>
            <a:r>
              <a:rPr sz="1000" b="1" i="1">
                <a:solidFill>
                  <a:srgbClr val="F0AB00"/>
                </a:solidFill>
                <a:latin typeface="Arial"/>
              </a:rPr>
              <a:t>→ ScarJo против OpenAI · SAG-AFTRA · Корея</a:t>
            </a:r>
          </a:p>
        </p:txBody>
      </p:sp>
      <p:sp>
        <p:nvSpPr>
          <p:cNvPr id="28" name="Rounded Rectangle 27"/>
          <p:cNvSpPr/>
          <p:nvPr/>
        </p:nvSpPr>
        <p:spPr>
          <a:xfrm>
            <a:off x="8503920" y="1828800"/>
            <a:ext cx="3337560" cy="3931920"/>
          </a:xfrm>
          <a:prstGeom prst="roundRect">
            <a:avLst>
              <a:gd name="adj" fmla="val 9132"/>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68512" y="1920240"/>
            <a:ext cx="3008376" cy="292608"/>
          </a:xfrm>
          <a:prstGeom prst="rect">
            <a:avLst/>
          </a:prstGeom>
          <a:noFill/>
        </p:spPr>
        <p:txBody>
          <a:bodyPr wrap="square" lIns="0" rIns="0" tIns="0" bIns="0" anchor="t">
            <a:spAutoFit/>
          </a:bodyPr>
          <a:lstStyle/>
          <a:p>
            <a:pPr algn="l">
              <a:lnSpc>
                <a:spcPct val="100000"/>
              </a:lnSpc>
            </a:pPr>
            <a:r>
              <a:rPr sz="1100" b="1" i="0">
                <a:solidFill>
                  <a:srgbClr val="F0AB00"/>
                </a:solidFill>
                <a:latin typeface="Arial"/>
              </a:rPr>
              <a:t>УРОК ДЛЯ ИНЖЕНЕРА</a:t>
            </a:r>
          </a:p>
        </p:txBody>
      </p:sp>
      <p:sp>
        <p:nvSpPr>
          <p:cNvPr id="30" name="TextBox 29"/>
          <p:cNvSpPr txBox="1"/>
          <p:nvPr/>
        </p:nvSpPr>
        <p:spPr>
          <a:xfrm>
            <a:off x="8668512" y="2240280"/>
            <a:ext cx="3008376" cy="342900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«Авторское право AI» — НЕ один вопрос, а 4 разных категории риска.
Смотри, какая из 4 применима к твоему процесс.</a:t>
            </a:r>
          </a:p>
        </p:txBody>
      </p:sp>
      <p:sp>
        <p:nvSpPr>
          <p:cNvPr id="31" name="TextBox 30"/>
          <p:cNvSpPr txBox="1"/>
          <p:nvPr/>
        </p:nvSpPr>
        <p:spPr>
          <a:xfrm>
            <a:off x="502920" y="5989320"/>
            <a:ext cx="11247120" cy="320040"/>
          </a:xfrm>
          <a:prstGeom prst="rect">
            <a:avLst/>
          </a:prstGeom>
          <a:noFill/>
        </p:spPr>
        <p:txBody>
          <a:bodyPr wrap="square" lIns="0" rIns="0" tIns="0" bIns="0" anchor="t">
            <a:spAutoFit/>
          </a:bodyPr>
          <a:lstStyle/>
          <a:p>
            <a:pPr algn="l">
              <a:lnSpc>
                <a:spcPct val="115000"/>
              </a:lnSpc>
            </a:pPr>
            <a:r>
              <a:rPr sz="1100" b="0" i="1">
                <a:solidFill>
                  <a:srgbClr val="6B7685"/>
                </a:solidFill>
                <a:latin typeface="Arial"/>
              </a:rPr>
              <a:t>Каждая из 4 категорий раскрыта далее на отдельном эталонном кейсе.</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NYT против OpenAI — обучение + сходство вывода (Кейс 1)</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30000"/>
              </a:lnSpc>
            </a:pPr>
            <a:r>
              <a:rPr sz="1300" b="0" i="1">
                <a:solidFill>
                  <a:srgbClr val="065A82"/>
                </a:solidFill>
                <a:latin typeface="Arial"/>
              </a:rPr>
              <a:t>NYT против OpenAI (Дек 2023): суд обязал OpenAI выдать 20 млн ChatGPT-логов. Дедлайн упрощённого решения суда (SJ*) — 2 апр 2026. Теория дословного цитирования.</a:t>
            </a:r>
          </a:p>
        </p:txBody>
      </p:sp>
      <p:sp>
        <p:nvSpPr>
          <p:cNvPr id="4" name="Rounded Rectangle 3"/>
          <p:cNvSpPr/>
          <p:nvPr/>
        </p:nvSpPr>
        <p:spPr>
          <a:xfrm>
            <a:off x="502920" y="1828800"/>
            <a:ext cx="548640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5212080" cy="274320"/>
          </a:xfrm>
          <a:prstGeom prst="rect">
            <a:avLst/>
          </a:prstGeom>
          <a:noFill/>
        </p:spPr>
        <p:txBody>
          <a:bodyPr wrap="square" lIns="0" rIns="0" tIns="0" bIns="0" anchor="t">
            <a:spAutoFit/>
          </a:bodyPr>
          <a:lstStyle/>
          <a:p>
            <a:pPr algn="l">
              <a:lnSpc>
                <a:spcPct val="115000"/>
              </a:lnSpc>
            </a:pPr>
            <a:r>
              <a:rPr sz="1000" b="1" i="0">
                <a:solidFill>
                  <a:srgbClr val="028090"/>
                </a:solidFill>
                <a:latin typeface="Arial"/>
              </a:rPr>
              <a:t>THE NEW YORK TIMES · 27 ДЕК 2023</a:t>
            </a:r>
          </a:p>
        </p:txBody>
      </p:sp>
      <p:pic>
        <p:nvPicPr>
          <p:cNvPr id="6" name="Picture 5" descr="s21-nyt-bloomberg.png"/>
          <p:cNvPicPr>
            <a:picLocks noChangeAspect="1"/>
          </p:cNvPicPr>
          <p:nvPr/>
        </p:nvPicPr>
        <p:blipFill>
          <a:blip r:embed="rId2"/>
          <a:stretch>
            <a:fillRect/>
          </a:stretch>
        </p:blipFill>
        <p:spPr>
          <a:xfrm>
            <a:off x="640080" y="2429691"/>
            <a:ext cx="5212080" cy="2730137"/>
          </a:xfrm>
          <a:prstGeom prst="rect">
            <a:avLst/>
          </a:prstGeom>
        </p:spPr>
      </p:pic>
      <p:sp>
        <p:nvSpPr>
          <p:cNvPr id="7" name="Rounded Rectangle 6"/>
          <p:cNvSpPr/>
          <p:nvPr/>
        </p:nvSpPr>
        <p:spPr>
          <a:xfrm>
            <a:off x="6263640" y="1828800"/>
            <a:ext cx="557784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920240"/>
            <a:ext cx="5303520" cy="36576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ХРОНОЛОГИЯ</a:t>
            </a:r>
          </a:p>
        </p:txBody>
      </p:sp>
      <p:sp>
        <p:nvSpPr>
          <p:cNvPr id="9" name="Rounded Rectangle 8"/>
          <p:cNvSpPr/>
          <p:nvPr/>
        </p:nvSpPr>
        <p:spPr>
          <a:xfrm>
            <a:off x="6400800" y="2377440"/>
            <a:ext cx="1371600" cy="457200"/>
          </a:xfrm>
          <a:prstGeom prst="roundRect">
            <a:avLst>
              <a:gd name="adj" fmla="val 2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2377440"/>
            <a:ext cx="1371600" cy="457200"/>
          </a:xfrm>
          <a:prstGeom prst="rect">
            <a:avLst/>
          </a:prstGeom>
          <a:noFill/>
        </p:spPr>
        <p:txBody>
          <a:bodyPr wrap="square" lIns="0" rIns="0" tIns="0" bIns="0" anchor="ctr">
            <a:spAutoFit/>
          </a:bodyPr>
          <a:lstStyle/>
          <a:p>
            <a:pPr algn="ctr">
              <a:lnSpc>
                <a:spcPct val="100000"/>
              </a:lnSpc>
            </a:pPr>
            <a:r>
              <a:rPr sz="1000" b="1" i="0">
                <a:solidFill>
                  <a:srgbClr val="FFFFFF"/>
                </a:solidFill>
                <a:latin typeface="Arial"/>
              </a:rPr>
              <a:t>Дек 2023</a:t>
            </a:r>
          </a:p>
        </p:txBody>
      </p:sp>
      <p:sp>
        <p:nvSpPr>
          <p:cNvPr id="11" name="TextBox 10"/>
          <p:cNvSpPr txBox="1"/>
          <p:nvPr/>
        </p:nvSpPr>
        <p:spPr>
          <a:xfrm>
            <a:off x="7863840" y="2377440"/>
            <a:ext cx="3931920" cy="45720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NYT подал иск</a:t>
            </a:r>
          </a:p>
        </p:txBody>
      </p:sp>
      <p:sp>
        <p:nvSpPr>
          <p:cNvPr id="12" name="Rounded Rectangle 11"/>
          <p:cNvSpPr/>
          <p:nvPr/>
        </p:nvSpPr>
        <p:spPr>
          <a:xfrm>
            <a:off x="6400800" y="3090672"/>
            <a:ext cx="1371600" cy="457200"/>
          </a:xfrm>
          <a:prstGeom prst="roundRect">
            <a:avLst>
              <a:gd name="adj" fmla="val 2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3090672"/>
            <a:ext cx="1371600" cy="457200"/>
          </a:xfrm>
          <a:prstGeom prst="rect">
            <a:avLst/>
          </a:prstGeom>
          <a:noFill/>
        </p:spPr>
        <p:txBody>
          <a:bodyPr wrap="square" lIns="0" rIns="0" tIns="0" bIns="0" anchor="ctr">
            <a:spAutoFit/>
          </a:bodyPr>
          <a:lstStyle/>
          <a:p>
            <a:pPr algn="ctr">
              <a:lnSpc>
                <a:spcPct val="100000"/>
              </a:lnSpc>
            </a:pPr>
            <a:r>
              <a:rPr sz="1000" b="1" i="0">
                <a:solidFill>
                  <a:srgbClr val="FFFFFF"/>
                </a:solidFill>
                <a:latin typeface="Arial"/>
              </a:rPr>
              <a:t>2024-25</a:t>
            </a:r>
          </a:p>
        </p:txBody>
      </p:sp>
      <p:sp>
        <p:nvSpPr>
          <p:cNvPr id="14" name="TextBox 13"/>
          <p:cNvSpPr txBox="1"/>
          <p:nvPr/>
        </p:nvSpPr>
        <p:spPr>
          <a:xfrm>
            <a:off x="7863840" y="3090672"/>
            <a:ext cx="3931920" cy="45720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Истребование доказательств + борьба за процессуальные действия</a:t>
            </a:r>
          </a:p>
        </p:txBody>
      </p:sp>
      <p:sp>
        <p:nvSpPr>
          <p:cNvPr id="15" name="Rounded Rectangle 14"/>
          <p:cNvSpPr/>
          <p:nvPr/>
        </p:nvSpPr>
        <p:spPr>
          <a:xfrm>
            <a:off x="6400800" y="3803904"/>
            <a:ext cx="1371600" cy="457200"/>
          </a:xfrm>
          <a:prstGeom prst="roundRect">
            <a:avLst>
              <a:gd name="adj" fmla="val 2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803904"/>
            <a:ext cx="1371600" cy="457200"/>
          </a:xfrm>
          <a:prstGeom prst="rect">
            <a:avLst/>
          </a:prstGeom>
          <a:noFill/>
        </p:spPr>
        <p:txBody>
          <a:bodyPr wrap="square" lIns="0" rIns="0" tIns="0" bIns="0" anchor="ctr">
            <a:spAutoFit/>
          </a:bodyPr>
          <a:lstStyle/>
          <a:p>
            <a:pPr algn="ctr">
              <a:lnSpc>
                <a:spcPct val="100000"/>
              </a:lnSpc>
            </a:pPr>
            <a:r>
              <a:rPr sz="1000" b="1" i="0">
                <a:solidFill>
                  <a:srgbClr val="21295C"/>
                </a:solidFill>
                <a:latin typeface="Arial"/>
              </a:rPr>
              <a:t>2 апр 2026</a:t>
            </a:r>
          </a:p>
        </p:txBody>
      </p:sp>
      <p:sp>
        <p:nvSpPr>
          <p:cNvPr id="17" name="TextBox 16"/>
          <p:cNvSpPr txBox="1"/>
          <p:nvPr/>
        </p:nvSpPr>
        <p:spPr>
          <a:xfrm>
            <a:off x="7863840" y="3803904"/>
            <a:ext cx="3931920" cy="45720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Дедлайн упрощённого решения суда (SJ)</a:t>
            </a:r>
          </a:p>
        </p:txBody>
      </p:sp>
      <p:sp>
        <p:nvSpPr>
          <p:cNvPr id="18" name="Rounded Rectangle 17"/>
          <p:cNvSpPr/>
          <p:nvPr/>
        </p:nvSpPr>
        <p:spPr>
          <a:xfrm>
            <a:off x="6263640" y="5166360"/>
            <a:ext cx="5577840" cy="411480"/>
          </a:xfrm>
          <a:prstGeom prst="roundRect">
            <a:avLst>
              <a:gd name="adj" fmla="val 2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5166360"/>
            <a:ext cx="5577840" cy="411480"/>
          </a:xfrm>
          <a:prstGeom prst="rect">
            <a:avLst/>
          </a:prstGeom>
          <a:noFill/>
        </p:spPr>
        <p:txBody>
          <a:bodyPr wrap="square" lIns="0" rIns="0" tIns="0" bIns="0" anchor="ctr">
            <a:spAutoFit/>
          </a:bodyPr>
          <a:lstStyle/>
          <a:p>
            <a:pPr algn="ctr">
              <a:lnSpc>
                <a:spcPct val="115000"/>
              </a:lnSpc>
            </a:pPr>
            <a:r>
              <a:rPr sz="1200" b="1" i="0">
                <a:solidFill>
                  <a:srgbClr val="21295C"/>
                </a:solidFill>
                <a:latin typeface="Arial"/>
              </a:rPr>
              <a:t>20 000 000  ·  ChatGPT-логов под истребование доказательств</a:t>
            </a:r>
          </a:p>
        </p:txBody>
      </p:sp>
      <p:sp>
        <p:nvSpPr>
          <p:cNvPr id="20" name="TextBox 19"/>
          <p:cNvSpPr txBox="1"/>
          <p:nvPr/>
        </p:nvSpPr>
        <p:spPr>
          <a:xfrm>
            <a:off x="6263640" y="5532120"/>
            <a:ext cx="5577840" cy="228600"/>
          </a:xfrm>
          <a:prstGeom prst="rect">
            <a:avLst/>
          </a:prstGeom>
          <a:noFill/>
        </p:spPr>
        <p:txBody>
          <a:bodyPr wrap="square" lIns="0" rIns="0" tIns="0" bIns="0" anchor="t">
            <a:spAutoFit/>
          </a:bodyPr>
          <a:lstStyle/>
          <a:p>
            <a:pPr algn="l">
              <a:lnSpc>
                <a:spcPct val="100000"/>
              </a:lnSpc>
            </a:pPr>
            <a:r>
              <a:rPr sz="800" b="0" i="1">
                <a:solidFill>
                  <a:srgbClr val="1C7293"/>
                </a:solidFill>
                <a:latin typeface="Arial"/>
              </a:rPr>
              <a:t>* SJ = summary judgment (упрощённое решение суда без полного процесса)</a:t>
            </a:r>
          </a:p>
        </p:txBody>
      </p:sp>
      <p:sp>
        <p:nvSpPr>
          <p:cNvPr id="21" name="Rounded Rectangle 20"/>
          <p:cNvSpPr/>
          <p:nvPr/>
        </p:nvSpPr>
        <p:spPr>
          <a:xfrm>
            <a:off x="502920" y="5760720"/>
            <a:ext cx="11247120" cy="960120"/>
          </a:xfrm>
          <a:prstGeom prst="roundRect">
            <a:avLst>
              <a:gd name="adj" fmla="val 25000"/>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5852159"/>
            <a:ext cx="10917936" cy="292608"/>
          </a:xfrm>
          <a:prstGeom prst="rect">
            <a:avLst/>
          </a:prstGeom>
          <a:noFill/>
        </p:spPr>
        <p:txBody>
          <a:bodyPr wrap="square" lIns="0" rIns="0" tIns="0" bIns="0" anchor="t">
            <a:spAutoFit/>
          </a:bodyPr>
          <a:lstStyle/>
          <a:p>
            <a:pPr algn="l">
              <a:lnSpc>
                <a:spcPct val="100000"/>
              </a:lnSpc>
            </a:pPr>
            <a:r>
              <a:rPr sz="1100" b="1" i="0">
                <a:solidFill>
                  <a:srgbClr val="F0AB00"/>
                </a:solidFill>
                <a:latin typeface="Arial"/>
              </a:rPr>
              <a:t>УРОК ДЛЯ ИНЖЕНЕРА</a:t>
            </a:r>
          </a:p>
        </p:txBody>
      </p:sp>
      <p:sp>
        <p:nvSpPr>
          <p:cNvPr id="23" name="TextBox 22"/>
          <p:cNvSpPr txBox="1"/>
          <p:nvPr/>
        </p:nvSpPr>
        <p:spPr>
          <a:xfrm>
            <a:off x="667512" y="6172200"/>
            <a:ext cx="10917936" cy="45720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Если модель может процитировать твой обучающий корпус дословно — это НЕ «добросовестное использование», это доказательство нарушения. Проверка сходства результата с обучающими данными — обязательна.</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Getty против Stability — победа в UK vs ожидание в US (Кейс 2)</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30000"/>
              </a:lnSpc>
            </a:pPr>
            <a:r>
              <a:rPr sz="1300" b="0" i="1">
                <a:solidFill>
                  <a:srgbClr val="065A82"/>
                </a:solidFill>
                <a:latin typeface="Arial"/>
              </a:rPr>
              <a:t>Высокий суд UK 04.11.2025 — Stability выиграл основные требования (weights ≠ копия по CDPA*). Кейс в US — motion to dismiss** 10.02.2026.</a:t>
            </a:r>
          </a:p>
        </p:txBody>
      </p:sp>
      <p:sp>
        <p:nvSpPr>
          <p:cNvPr id="4" name="Rounded Rectangle 3"/>
          <p:cNvSpPr/>
          <p:nvPr/>
        </p:nvSpPr>
        <p:spPr>
          <a:xfrm>
            <a:off x="502920" y="1828800"/>
            <a:ext cx="548640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5212080" cy="274320"/>
          </a:xfrm>
          <a:prstGeom prst="rect">
            <a:avLst/>
          </a:prstGeom>
          <a:noFill/>
        </p:spPr>
        <p:txBody>
          <a:bodyPr wrap="square" lIns="0" rIns="0" tIns="0" bIns="0" anchor="t">
            <a:spAutoFit/>
          </a:bodyPr>
          <a:lstStyle/>
          <a:p>
            <a:pPr algn="l">
              <a:lnSpc>
                <a:spcPct val="115000"/>
              </a:lnSpc>
            </a:pPr>
            <a:r>
              <a:rPr sz="1000" b="1" i="0">
                <a:solidFill>
                  <a:srgbClr val="028090"/>
                </a:solidFill>
                <a:latin typeface="Arial"/>
              </a:rPr>
              <a:t>THE VERGE · GETTY vs STABILITY · ФЕВ 2023</a:t>
            </a:r>
          </a:p>
        </p:txBody>
      </p:sp>
      <p:pic>
        <p:nvPicPr>
          <p:cNvPr id="6" name="Picture 5" descr="s22-getty-bird.png"/>
          <p:cNvPicPr>
            <a:picLocks noChangeAspect="1"/>
          </p:cNvPicPr>
          <p:nvPr/>
        </p:nvPicPr>
        <p:blipFill>
          <a:blip r:embed="rId2"/>
          <a:stretch>
            <a:fillRect/>
          </a:stretch>
        </p:blipFill>
        <p:spPr>
          <a:xfrm>
            <a:off x="640080" y="2433104"/>
            <a:ext cx="5212080" cy="2723312"/>
          </a:xfrm>
          <a:prstGeom prst="rect">
            <a:avLst/>
          </a:prstGeom>
        </p:spPr>
      </p:pic>
      <p:sp>
        <p:nvSpPr>
          <p:cNvPr id="7" name="Rounded Rectangle 6"/>
          <p:cNvSpPr/>
          <p:nvPr/>
        </p:nvSpPr>
        <p:spPr>
          <a:xfrm>
            <a:off x="6263640" y="1828800"/>
            <a:ext cx="557784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920240"/>
            <a:ext cx="5303520" cy="36576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ХРОНОЛОГИЯ</a:t>
            </a:r>
          </a:p>
        </p:txBody>
      </p:sp>
      <p:sp>
        <p:nvSpPr>
          <p:cNvPr id="9" name="Rounded Rectangle 8"/>
          <p:cNvSpPr/>
          <p:nvPr/>
        </p:nvSpPr>
        <p:spPr>
          <a:xfrm>
            <a:off x="6400800" y="2377440"/>
            <a:ext cx="1371600" cy="457200"/>
          </a:xfrm>
          <a:prstGeom prst="roundRect">
            <a:avLst>
              <a:gd name="adj" fmla="val 2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2377440"/>
            <a:ext cx="1371600" cy="457200"/>
          </a:xfrm>
          <a:prstGeom prst="rect">
            <a:avLst/>
          </a:prstGeom>
          <a:noFill/>
        </p:spPr>
        <p:txBody>
          <a:bodyPr wrap="square" lIns="0" rIns="0" tIns="0" bIns="0" anchor="ctr">
            <a:spAutoFit/>
          </a:bodyPr>
          <a:lstStyle/>
          <a:p>
            <a:pPr algn="ctr">
              <a:lnSpc>
                <a:spcPct val="100000"/>
              </a:lnSpc>
            </a:pPr>
            <a:r>
              <a:rPr sz="1000" b="1" i="0">
                <a:solidFill>
                  <a:srgbClr val="FFFFFF"/>
                </a:solidFill>
                <a:latin typeface="Arial"/>
              </a:rPr>
              <a:t>04 ноя 2025</a:t>
            </a:r>
          </a:p>
        </p:txBody>
      </p:sp>
      <p:sp>
        <p:nvSpPr>
          <p:cNvPr id="11" name="TextBox 10"/>
          <p:cNvSpPr txBox="1"/>
          <p:nvPr/>
        </p:nvSpPr>
        <p:spPr>
          <a:xfrm>
            <a:off x="7863840" y="2377440"/>
            <a:ext cx="3931920" cy="45720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UK · Stability выиграл основные требования</a:t>
            </a:r>
          </a:p>
        </p:txBody>
      </p:sp>
      <p:sp>
        <p:nvSpPr>
          <p:cNvPr id="12" name="Rounded Rectangle 11"/>
          <p:cNvSpPr/>
          <p:nvPr/>
        </p:nvSpPr>
        <p:spPr>
          <a:xfrm>
            <a:off x="6400800" y="3090672"/>
            <a:ext cx="1371600" cy="457200"/>
          </a:xfrm>
          <a:prstGeom prst="roundRect">
            <a:avLst>
              <a:gd name="adj" fmla="val 2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3090672"/>
            <a:ext cx="1371600" cy="457200"/>
          </a:xfrm>
          <a:prstGeom prst="rect">
            <a:avLst/>
          </a:prstGeom>
          <a:noFill/>
        </p:spPr>
        <p:txBody>
          <a:bodyPr wrap="square" lIns="0" rIns="0" tIns="0" bIns="0" anchor="ctr">
            <a:spAutoFit/>
          </a:bodyPr>
          <a:lstStyle/>
          <a:p>
            <a:pPr algn="ctr">
              <a:lnSpc>
                <a:spcPct val="100000"/>
              </a:lnSpc>
            </a:pPr>
            <a:r>
              <a:rPr sz="1000" b="1" i="0">
                <a:solidFill>
                  <a:srgbClr val="21295C"/>
                </a:solidFill>
                <a:latin typeface="Arial"/>
              </a:rPr>
              <a:t>10 фев 2026</a:t>
            </a:r>
          </a:p>
        </p:txBody>
      </p:sp>
      <p:sp>
        <p:nvSpPr>
          <p:cNvPr id="14" name="TextBox 13"/>
          <p:cNvSpPr txBox="1"/>
          <p:nvPr/>
        </p:nvSpPr>
        <p:spPr>
          <a:xfrm>
            <a:off x="7863840" y="3090672"/>
            <a:ext cx="3931920" cy="45720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Дело в США · motion to dismiss ожидается</a:t>
            </a:r>
          </a:p>
        </p:txBody>
      </p:sp>
      <p:sp>
        <p:nvSpPr>
          <p:cNvPr id="15" name="Rounded Rectangle 14"/>
          <p:cNvSpPr/>
          <p:nvPr/>
        </p:nvSpPr>
        <p:spPr>
          <a:xfrm>
            <a:off x="6400800" y="3803904"/>
            <a:ext cx="1371600" cy="457200"/>
          </a:xfrm>
          <a:prstGeom prst="roundRect">
            <a:avLst>
              <a:gd name="adj" fmla="val 2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803904"/>
            <a:ext cx="1371600" cy="457200"/>
          </a:xfrm>
          <a:prstGeom prst="rect">
            <a:avLst/>
          </a:prstGeom>
          <a:noFill/>
        </p:spPr>
        <p:txBody>
          <a:bodyPr wrap="square" lIns="0" rIns="0" tIns="0" bIns="0" anchor="ctr">
            <a:spAutoFit/>
          </a:bodyPr>
          <a:lstStyle/>
          <a:p>
            <a:pPr algn="ctr">
              <a:lnSpc>
                <a:spcPct val="100000"/>
              </a:lnSpc>
            </a:pPr>
            <a:r>
              <a:rPr sz="1000" b="1" i="0">
                <a:solidFill>
                  <a:srgbClr val="FFFFFF"/>
                </a:solidFill>
                <a:latin typeface="Arial"/>
              </a:rPr>
              <a:t>Ожидается</a:t>
            </a:r>
          </a:p>
        </p:txBody>
      </p:sp>
      <p:sp>
        <p:nvSpPr>
          <p:cNvPr id="17" name="TextBox 16"/>
          <p:cNvSpPr txBox="1"/>
          <p:nvPr/>
        </p:nvSpPr>
        <p:spPr>
          <a:xfrm>
            <a:off x="7863840" y="3803904"/>
            <a:ext cx="3931920" cy="45720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Товарный знак + passing-off — отдельные требования</a:t>
            </a:r>
          </a:p>
        </p:txBody>
      </p:sp>
      <p:sp>
        <p:nvSpPr>
          <p:cNvPr id="18" name="Rounded Rectangle 17"/>
          <p:cNvSpPr/>
          <p:nvPr/>
        </p:nvSpPr>
        <p:spPr>
          <a:xfrm>
            <a:off x="6263640" y="5166360"/>
            <a:ext cx="5577840" cy="411480"/>
          </a:xfrm>
          <a:prstGeom prst="roundRect">
            <a:avLst>
              <a:gd name="adj" fmla="val 2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5166360"/>
            <a:ext cx="5577840"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UK: STABILITY ВЫИГРАЛ основные требования по CDPA</a:t>
            </a:r>
          </a:p>
        </p:txBody>
      </p:sp>
      <p:sp>
        <p:nvSpPr>
          <p:cNvPr id="20" name="TextBox 19"/>
          <p:cNvSpPr txBox="1"/>
          <p:nvPr/>
        </p:nvSpPr>
        <p:spPr>
          <a:xfrm>
            <a:off x="6263640" y="5532120"/>
            <a:ext cx="5577840" cy="228600"/>
          </a:xfrm>
          <a:prstGeom prst="rect">
            <a:avLst/>
          </a:prstGeom>
          <a:noFill/>
        </p:spPr>
        <p:txBody>
          <a:bodyPr wrap="square" lIns="0" rIns="0" tIns="0" bIns="0" anchor="t">
            <a:spAutoFit/>
          </a:bodyPr>
          <a:lstStyle/>
          <a:p>
            <a:pPr algn="l">
              <a:lnSpc>
                <a:spcPct val="100000"/>
              </a:lnSpc>
            </a:pPr>
            <a:r>
              <a:rPr sz="800" b="0" i="1">
                <a:solidFill>
                  <a:srgbClr val="1C7293"/>
                </a:solidFill>
                <a:latin typeface="Arial"/>
              </a:rPr>
              <a:t>* CDPA = UK Copyright, Designs and Patents Act 1988  ·  ** MTD = motion to dismiss</a:t>
            </a:r>
          </a:p>
        </p:txBody>
      </p:sp>
      <p:sp>
        <p:nvSpPr>
          <p:cNvPr id="21" name="Rounded Rectangle 20"/>
          <p:cNvSpPr/>
          <p:nvPr/>
        </p:nvSpPr>
        <p:spPr>
          <a:xfrm>
            <a:off x="502920" y="5760720"/>
            <a:ext cx="11247120" cy="960120"/>
          </a:xfrm>
          <a:prstGeom prst="roundRect">
            <a:avLst>
              <a:gd name="adj" fmla="val 25000"/>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5852159"/>
            <a:ext cx="10917936" cy="292608"/>
          </a:xfrm>
          <a:prstGeom prst="rect">
            <a:avLst/>
          </a:prstGeom>
          <a:noFill/>
        </p:spPr>
        <p:txBody>
          <a:bodyPr wrap="square" lIns="0" rIns="0" tIns="0" bIns="0" anchor="t">
            <a:spAutoFit/>
          </a:bodyPr>
          <a:lstStyle/>
          <a:p>
            <a:pPr algn="l">
              <a:lnSpc>
                <a:spcPct val="100000"/>
              </a:lnSpc>
            </a:pPr>
            <a:r>
              <a:rPr sz="1100" b="1" i="0">
                <a:solidFill>
                  <a:srgbClr val="F0AB00"/>
                </a:solidFill>
                <a:latin typeface="Arial"/>
              </a:rPr>
              <a:t>УРОК ДЛЯ ИНЖЕНЕРА</a:t>
            </a:r>
          </a:p>
        </p:txBody>
      </p:sp>
      <p:sp>
        <p:nvSpPr>
          <p:cNvPr id="23" name="TextBox 22"/>
          <p:cNvSpPr txBox="1"/>
          <p:nvPr/>
        </p:nvSpPr>
        <p:spPr>
          <a:xfrm>
            <a:off x="667512" y="6172200"/>
            <a:ext cx="10917936" cy="45720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Юрисдикции расходятся — то, что законно в UK по CDPA, НЕЗАКОННО в US по «добросовестному использованию». Для глобального развёртывания проверяй обе.</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Andersen против Stability/MJ/Deviant — подражание стилю (Кейс 3)</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30000"/>
              </a:lnSpc>
            </a:pPr>
            <a:r>
              <a:rPr sz="1300" b="0" i="1">
                <a:solidFill>
                  <a:srgbClr val="065A82"/>
                </a:solidFill>
                <a:latin typeface="Arial"/>
              </a:rPr>
              <a:t>Коллективный иск художников. Motion to dismiss* отклонён в авг 2024 → истребование доказательств. Третье изменённое заявление (amended complaint) — 27 фев 2026. Суд — 8 сент 2026.</a:t>
            </a:r>
          </a:p>
        </p:txBody>
      </p:sp>
      <p:sp>
        <p:nvSpPr>
          <p:cNvPr id="4" name="Rounded Rectangle 3"/>
          <p:cNvSpPr/>
          <p:nvPr/>
        </p:nvSpPr>
        <p:spPr>
          <a:xfrm>
            <a:off x="502920" y="1828800"/>
            <a:ext cx="548640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5212080" cy="274320"/>
          </a:xfrm>
          <a:prstGeom prst="rect">
            <a:avLst/>
          </a:prstGeom>
          <a:noFill/>
        </p:spPr>
        <p:txBody>
          <a:bodyPr wrap="square" lIns="0" rIns="0" tIns="0" bIns="0" anchor="t">
            <a:spAutoFit/>
          </a:bodyPr>
          <a:lstStyle/>
          <a:p>
            <a:pPr algn="l">
              <a:lnSpc>
                <a:spcPct val="115000"/>
              </a:lnSpc>
            </a:pPr>
            <a:r>
              <a:rPr sz="1000" b="1" i="0">
                <a:solidFill>
                  <a:srgbClr val="028090"/>
                </a:solidFill>
                <a:latin typeface="Arial"/>
              </a:rPr>
              <a:t>KELLY McKERNAN (ИСТЕЦ) · WIKIMEDIA COMMONS</a:t>
            </a:r>
          </a:p>
        </p:txBody>
      </p:sp>
      <p:pic>
        <p:nvPicPr>
          <p:cNvPr id="6" name="Picture 5" descr="s23-andersen-docket.png"/>
          <p:cNvPicPr>
            <a:picLocks noChangeAspect="1"/>
          </p:cNvPicPr>
          <p:nvPr/>
        </p:nvPicPr>
        <p:blipFill>
          <a:blip r:embed="rId2"/>
          <a:stretch>
            <a:fillRect/>
          </a:stretch>
        </p:blipFill>
        <p:spPr>
          <a:xfrm>
            <a:off x="844882" y="2194560"/>
            <a:ext cx="4802476" cy="3200400"/>
          </a:xfrm>
          <a:prstGeom prst="rect">
            <a:avLst/>
          </a:prstGeom>
        </p:spPr>
      </p:pic>
      <p:sp>
        <p:nvSpPr>
          <p:cNvPr id="7" name="Rounded Rectangle 6"/>
          <p:cNvSpPr/>
          <p:nvPr/>
        </p:nvSpPr>
        <p:spPr>
          <a:xfrm>
            <a:off x="6263640" y="1828800"/>
            <a:ext cx="557784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920240"/>
            <a:ext cx="5303520" cy="36576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ХРОНОЛОГИЯ</a:t>
            </a:r>
          </a:p>
        </p:txBody>
      </p:sp>
      <p:sp>
        <p:nvSpPr>
          <p:cNvPr id="9" name="Rounded Rectangle 8"/>
          <p:cNvSpPr/>
          <p:nvPr/>
        </p:nvSpPr>
        <p:spPr>
          <a:xfrm>
            <a:off x="6400800" y="2377440"/>
            <a:ext cx="1371600" cy="457200"/>
          </a:xfrm>
          <a:prstGeom prst="roundRect">
            <a:avLst>
              <a:gd name="adj" fmla="val 2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2377440"/>
            <a:ext cx="1371600" cy="457200"/>
          </a:xfrm>
          <a:prstGeom prst="rect">
            <a:avLst/>
          </a:prstGeom>
          <a:noFill/>
        </p:spPr>
        <p:txBody>
          <a:bodyPr wrap="square" lIns="0" rIns="0" tIns="0" bIns="0" anchor="ctr">
            <a:spAutoFit/>
          </a:bodyPr>
          <a:lstStyle/>
          <a:p>
            <a:pPr algn="ctr">
              <a:lnSpc>
                <a:spcPct val="100000"/>
              </a:lnSpc>
            </a:pPr>
            <a:r>
              <a:rPr sz="1000" b="1" i="0">
                <a:solidFill>
                  <a:srgbClr val="FFFFFF"/>
                </a:solidFill>
                <a:latin typeface="Arial"/>
              </a:rPr>
              <a:t>Янв 2023</a:t>
            </a:r>
          </a:p>
        </p:txBody>
      </p:sp>
      <p:sp>
        <p:nvSpPr>
          <p:cNvPr id="11" name="TextBox 10"/>
          <p:cNvSpPr txBox="1"/>
          <p:nvPr/>
        </p:nvSpPr>
        <p:spPr>
          <a:xfrm>
            <a:off x="7863840" y="2377440"/>
            <a:ext cx="3931920" cy="45720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Коллективный иск подан (10 художников)</a:t>
            </a:r>
          </a:p>
        </p:txBody>
      </p:sp>
      <p:sp>
        <p:nvSpPr>
          <p:cNvPr id="12" name="Rounded Rectangle 11"/>
          <p:cNvSpPr/>
          <p:nvPr/>
        </p:nvSpPr>
        <p:spPr>
          <a:xfrm>
            <a:off x="6400800" y="3090672"/>
            <a:ext cx="1371600" cy="457200"/>
          </a:xfrm>
          <a:prstGeom prst="roundRect">
            <a:avLst>
              <a:gd name="adj" fmla="val 2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3090672"/>
            <a:ext cx="1371600" cy="457200"/>
          </a:xfrm>
          <a:prstGeom prst="rect">
            <a:avLst/>
          </a:prstGeom>
          <a:noFill/>
        </p:spPr>
        <p:txBody>
          <a:bodyPr wrap="square" lIns="0" rIns="0" tIns="0" bIns="0" anchor="ctr">
            <a:spAutoFit/>
          </a:bodyPr>
          <a:lstStyle/>
          <a:p>
            <a:pPr algn="ctr">
              <a:lnSpc>
                <a:spcPct val="100000"/>
              </a:lnSpc>
            </a:pPr>
            <a:r>
              <a:rPr sz="1000" b="1" i="0">
                <a:solidFill>
                  <a:srgbClr val="FFFFFF"/>
                </a:solidFill>
                <a:latin typeface="Arial"/>
              </a:rPr>
              <a:t>Авг 2024</a:t>
            </a:r>
          </a:p>
        </p:txBody>
      </p:sp>
      <p:sp>
        <p:nvSpPr>
          <p:cNvPr id="14" name="TextBox 13"/>
          <p:cNvSpPr txBox="1"/>
          <p:nvPr/>
        </p:nvSpPr>
        <p:spPr>
          <a:xfrm>
            <a:off x="7863840" y="3090672"/>
            <a:ext cx="3931920" cy="45720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motion to dismiss отклонён (судья Orrick) → истребование доказательств</a:t>
            </a:r>
          </a:p>
        </p:txBody>
      </p:sp>
      <p:sp>
        <p:nvSpPr>
          <p:cNvPr id="15" name="Rounded Rectangle 14"/>
          <p:cNvSpPr/>
          <p:nvPr/>
        </p:nvSpPr>
        <p:spPr>
          <a:xfrm>
            <a:off x="6400800" y="3803904"/>
            <a:ext cx="1371600" cy="457200"/>
          </a:xfrm>
          <a:prstGeom prst="roundRect">
            <a:avLst>
              <a:gd name="adj" fmla="val 2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803904"/>
            <a:ext cx="1371600" cy="457200"/>
          </a:xfrm>
          <a:prstGeom prst="rect">
            <a:avLst/>
          </a:prstGeom>
          <a:noFill/>
        </p:spPr>
        <p:txBody>
          <a:bodyPr wrap="square" lIns="0" rIns="0" tIns="0" bIns="0" anchor="ctr">
            <a:spAutoFit/>
          </a:bodyPr>
          <a:lstStyle/>
          <a:p>
            <a:pPr algn="ctr">
              <a:lnSpc>
                <a:spcPct val="100000"/>
              </a:lnSpc>
            </a:pPr>
            <a:r>
              <a:rPr sz="1000" b="1" i="0">
                <a:solidFill>
                  <a:srgbClr val="FFFFFF"/>
                </a:solidFill>
                <a:latin typeface="Arial"/>
              </a:rPr>
              <a:t>27 фев 2026</a:t>
            </a:r>
          </a:p>
        </p:txBody>
      </p:sp>
      <p:sp>
        <p:nvSpPr>
          <p:cNvPr id="17" name="TextBox 16"/>
          <p:cNvSpPr txBox="1"/>
          <p:nvPr/>
        </p:nvSpPr>
        <p:spPr>
          <a:xfrm>
            <a:off x="7863840" y="3803904"/>
            <a:ext cx="3931920" cy="45720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3-е изменённое заявление</a:t>
            </a:r>
          </a:p>
        </p:txBody>
      </p:sp>
      <p:sp>
        <p:nvSpPr>
          <p:cNvPr id="18" name="Rounded Rectangle 17"/>
          <p:cNvSpPr/>
          <p:nvPr/>
        </p:nvSpPr>
        <p:spPr>
          <a:xfrm>
            <a:off x="6263640" y="5166360"/>
            <a:ext cx="5577840" cy="411480"/>
          </a:xfrm>
          <a:prstGeom prst="roundRect">
            <a:avLst>
              <a:gd name="adj" fmla="val 2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5166360"/>
            <a:ext cx="5577840" cy="411480"/>
          </a:xfrm>
          <a:prstGeom prst="rect">
            <a:avLst/>
          </a:prstGeom>
          <a:noFill/>
        </p:spPr>
        <p:txBody>
          <a:bodyPr wrap="square" lIns="0" rIns="0" tIns="0" bIns="0" anchor="ctr">
            <a:spAutoFit/>
          </a:bodyPr>
          <a:lstStyle/>
          <a:p>
            <a:pPr algn="ctr">
              <a:lnSpc>
                <a:spcPct val="115000"/>
              </a:lnSpc>
            </a:pPr>
            <a:r>
              <a:rPr sz="1200" b="1" i="0">
                <a:solidFill>
                  <a:srgbClr val="FFFFFF"/>
                </a:solidFill>
                <a:latin typeface="Arial"/>
              </a:rPr>
              <a:t>ДАТА СУДА · 8 СЕНТ 2026</a:t>
            </a:r>
          </a:p>
        </p:txBody>
      </p:sp>
      <p:sp>
        <p:nvSpPr>
          <p:cNvPr id="20" name="TextBox 19"/>
          <p:cNvSpPr txBox="1"/>
          <p:nvPr/>
        </p:nvSpPr>
        <p:spPr>
          <a:xfrm>
            <a:off x="6263640" y="5532120"/>
            <a:ext cx="5577840" cy="228600"/>
          </a:xfrm>
          <a:prstGeom prst="rect">
            <a:avLst/>
          </a:prstGeom>
          <a:noFill/>
        </p:spPr>
        <p:txBody>
          <a:bodyPr wrap="square" lIns="0" rIns="0" tIns="0" bIns="0" anchor="t">
            <a:spAutoFit/>
          </a:bodyPr>
          <a:lstStyle/>
          <a:p>
            <a:pPr algn="l">
              <a:lnSpc>
                <a:spcPct val="100000"/>
              </a:lnSpc>
            </a:pPr>
            <a:r>
              <a:rPr sz="800" b="0" i="1">
                <a:solidFill>
                  <a:srgbClr val="1C7293"/>
                </a:solidFill>
                <a:latin typeface="Arial"/>
              </a:rPr>
              <a:t>* MTD = motion to dismiss</a:t>
            </a:r>
          </a:p>
        </p:txBody>
      </p:sp>
      <p:sp>
        <p:nvSpPr>
          <p:cNvPr id="21" name="Rounded Rectangle 20"/>
          <p:cNvSpPr/>
          <p:nvPr/>
        </p:nvSpPr>
        <p:spPr>
          <a:xfrm>
            <a:off x="502920" y="5760720"/>
            <a:ext cx="11247120" cy="960120"/>
          </a:xfrm>
          <a:prstGeom prst="roundRect">
            <a:avLst>
              <a:gd name="adj" fmla="val 25000"/>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5852159"/>
            <a:ext cx="10917936" cy="292608"/>
          </a:xfrm>
          <a:prstGeom prst="rect">
            <a:avLst/>
          </a:prstGeom>
          <a:noFill/>
        </p:spPr>
        <p:txBody>
          <a:bodyPr wrap="square" lIns="0" rIns="0" tIns="0" bIns="0" anchor="t">
            <a:spAutoFit/>
          </a:bodyPr>
          <a:lstStyle/>
          <a:p>
            <a:pPr algn="l">
              <a:lnSpc>
                <a:spcPct val="100000"/>
              </a:lnSpc>
            </a:pPr>
            <a:r>
              <a:rPr sz="1100" b="1" i="0">
                <a:solidFill>
                  <a:srgbClr val="F0AB00"/>
                </a:solidFill>
                <a:latin typeface="Arial"/>
              </a:rPr>
              <a:t>УРОК ДЛЯ ИНЖЕНЕРА</a:t>
            </a:r>
          </a:p>
        </p:txBody>
      </p:sp>
      <p:sp>
        <p:nvSpPr>
          <p:cNvPr id="23" name="TextBox 22"/>
          <p:cNvSpPr txBox="1"/>
          <p:nvPr/>
        </p:nvSpPr>
        <p:spPr>
          <a:xfrm>
            <a:off x="667512" y="6172200"/>
            <a:ext cx="10917936" cy="45720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Подражание стилю «в стиле [конкретного художника]» — НЕБЕЗОПАСНО, даже если стиль не охраняется авторским правом. Коллективные иски проходят motion to dismiss на DMCA + публичные права.</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RIAA против Suno/Udio — лицензирование под давлением исков (Кейс 4)</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30000"/>
              </a:lnSpc>
            </a:pPr>
            <a:r>
              <a:rPr sz="1300" b="0" i="1">
                <a:solidFill>
                  <a:srgbClr val="065A82"/>
                </a:solidFill>
                <a:latin typeface="Arial"/>
              </a:rPr>
              <a:t>RIAA подала иск 24.06.2024. UMG урегулировала с Udio 29.10.2025; Warner урегулировала с Suno сент 2025. Sony — активно судится с обоими.</a:t>
            </a:r>
          </a:p>
        </p:txBody>
      </p:sp>
      <p:sp>
        <p:nvSpPr>
          <p:cNvPr id="4" name="Rounded Rectangle 3"/>
          <p:cNvSpPr/>
          <p:nvPr/>
        </p:nvSpPr>
        <p:spPr>
          <a:xfrm>
            <a:off x="502920" y="1828800"/>
            <a:ext cx="548640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5212080" cy="274320"/>
          </a:xfrm>
          <a:prstGeom prst="rect">
            <a:avLst/>
          </a:prstGeom>
          <a:noFill/>
        </p:spPr>
        <p:txBody>
          <a:bodyPr wrap="square" lIns="0" rIns="0" tIns="0" bIns="0" anchor="t">
            <a:spAutoFit/>
          </a:bodyPr>
          <a:lstStyle/>
          <a:p>
            <a:pPr algn="l">
              <a:lnSpc>
                <a:spcPct val="115000"/>
              </a:lnSpc>
            </a:pPr>
            <a:r>
              <a:rPr sz="1000" b="1" i="0">
                <a:solidFill>
                  <a:srgbClr val="028090"/>
                </a:solidFill>
                <a:latin typeface="Arial"/>
              </a:rPr>
              <a:t>BILLBOARD · MAJOR LABEL LAWSUIT · 24 ИЮНЯ 2024</a:t>
            </a:r>
          </a:p>
        </p:txBody>
      </p:sp>
      <p:pic>
        <p:nvPicPr>
          <p:cNvPr id="6" name="Picture 5" descr="s24-riaa-suno.png"/>
          <p:cNvPicPr>
            <a:picLocks noChangeAspect="1"/>
          </p:cNvPicPr>
          <p:nvPr/>
        </p:nvPicPr>
        <p:blipFill>
          <a:blip r:embed="rId2"/>
          <a:stretch>
            <a:fillRect/>
          </a:stretch>
        </p:blipFill>
        <p:spPr>
          <a:xfrm>
            <a:off x="640080" y="2336497"/>
            <a:ext cx="5212080" cy="2916525"/>
          </a:xfrm>
          <a:prstGeom prst="rect">
            <a:avLst/>
          </a:prstGeom>
        </p:spPr>
      </p:pic>
      <p:sp>
        <p:nvSpPr>
          <p:cNvPr id="7" name="Rounded Rectangle 6"/>
          <p:cNvSpPr/>
          <p:nvPr/>
        </p:nvSpPr>
        <p:spPr>
          <a:xfrm>
            <a:off x="6263640" y="1828800"/>
            <a:ext cx="557784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920240"/>
            <a:ext cx="5303520" cy="36576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ХРОНОЛОГИЯ</a:t>
            </a:r>
          </a:p>
        </p:txBody>
      </p:sp>
      <p:sp>
        <p:nvSpPr>
          <p:cNvPr id="9" name="Rounded Rectangle 8"/>
          <p:cNvSpPr/>
          <p:nvPr/>
        </p:nvSpPr>
        <p:spPr>
          <a:xfrm>
            <a:off x="6400800" y="2377440"/>
            <a:ext cx="1371600" cy="457200"/>
          </a:xfrm>
          <a:prstGeom prst="roundRect">
            <a:avLst>
              <a:gd name="adj" fmla="val 2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2377440"/>
            <a:ext cx="1371600" cy="457200"/>
          </a:xfrm>
          <a:prstGeom prst="rect">
            <a:avLst/>
          </a:prstGeom>
          <a:noFill/>
        </p:spPr>
        <p:txBody>
          <a:bodyPr wrap="square" lIns="0" rIns="0" tIns="0" bIns="0" anchor="ctr">
            <a:spAutoFit/>
          </a:bodyPr>
          <a:lstStyle/>
          <a:p>
            <a:pPr algn="ctr">
              <a:lnSpc>
                <a:spcPct val="100000"/>
              </a:lnSpc>
            </a:pPr>
            <a:r>
              <a:rPr sz="1000" b="1" i="0">
                <a:solidFill>
                  <a:srgbClr val="FFFFFF"/>
                </a:solidFill>
                <a:latin typeface="Arial"/>
              </a:rPr>
              <a:t>24 июн 2024</a:t>
            </a:r>
          </a:p>
        </p:txBody>
      </p:sp>
      <p:sp>
        <p:nvSpPr>
          <p:cNvPr id="11" name="TextBox 10"/>
          <p:cNvSpPr txBox="1"/>
          <p:nvPr/>
        </p:nvSpPr>
        <p:spPr>
          <a:xfrm>
            <a:off x="7863840" y="2377440"/>
            <a:ext cx="3931920" cy="45720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RIAA подаёт иск против Suno + Udio</a:t>
            </a:r>
          </a:p>
        </p:txBody>
      </p:sp>
      <p:sp>
        <p:nvSpPr>
          <p:cNvPr id="12" name="Rounded Rectangle 11"/>
          <p:cNvSpPr/>
          <p:nvPr/>
        </p:nvSpPr>
        <p:spPr>
          <a:xfrm>
            <a:off x="6400800" y="3090672"/>
            <a:ext cx="1371600" cy="457200"/>
          </a:xfrm>
          <a:prstGeom prst="roundRect">
            <a:avLst>
              <a:gd name="adj" fmla="val 2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3090672"/>
            <a:ext cx="1371600" cy="457200"/>
          </a:xfrm>
          <a:prstGeom prst="rect">
            <a:avLst/>
          </a:prstGeom>
          <a:noFill/>
        </p:spPr>
        <p:txBody>
          <a:bodyPr wrap="square" lIns="0" rIns="0" tIns="0" bIns="0" anchor="ctr">
            <a:spAutoFit/>
          </a:bodyPr>
          <a:lstStyle/>
          <a:p>
            <a:pPr algn="ctr">
              <a:lnSpc>
                <a:spcPct val="100000"/>
              </a:lnSpc>
            </a:pPr>
            <a:r>
              <a:rPr sz="1000" b="1" i="0">
                <a:solidFill>
                  <a:srgbClr val="FFFFFF"/>
                </a:solidFill>
                <a:latin typeface="Arial"/>
              </a:rPr>
              <a:t>29 окт 2025</a:t>
            </a:r>
          </a:p>
        </p:txBody>
      </p:sp>
      <p:sp>
        <p:nvSpPr>
          <p:cNvPr id="14" name="TextBox 13"/>
          <p:cNvSpPr txBox="1"/>
          <p:nvPr/>
        </p:nvSpPr>
        <p:spPr>
          <a:xfrm>
            <a:off x="7863840" y="3090672"/>
            <a:ext cx="3931920" cy="45720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UMG × Udio урегулирование → совместная платформа</a:t>
            </a:r>
          </a:p>
        </p:txBody>
      </p:sp>
      <p:sp>
        <p:nvSpPr>
          <p:cNvPr id="15" name="Rounded Rectangle 14"/>
          <p:cNvSpPr/>
          <p:nvPr/>
        </p:nvSpPr>
        <p:spPr>
          <a:xfrm>
            <a:off x="6400800" y="3803904"/>
            <a:ext cx="1371600" cy="457200"/>
          </a:xfrm>
          <a:prstGeom prst="roundRect">
            <a:avLst>
              <a:gd name="adj" fmla="val 2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803904"/>
            <a:ext cx="1371600" cy="457200"/>
          </a:xfrm>
          <a:prstGeom prst="rect">
            <a:avLst/>
          </a:prstGeom>
          <a:noFill/>
        </p:spPr>
        <p:txBody>
          <a:bodyPr wrap="square" lIns="0" rIns="0" tIns="0" bIns="0" anchor="ctr">
            <a:spAutoFit/>
          </a:bodyPr>
          <a:lstStyle/>
          <a:p>
            <a:pPr algn="ctr">
              <a:lnSpc>
                <a:spcPct val="100000"/>
              </a:lnSpc>
            </a:pPr>
            <a:r>
              <a:rPr sz="1000" b="1" i="0">
                <a:solidFill>
                  <a:srgbClr val="FFFFFF"/>
                </a:solidFill>
                <a:latin typeface="Arial"/>
              </a:rPr>
              <a:t>сент 2025</a:t>
            </a:r>
          </a:p>
        </p:txBody>
      </p:sp>
      <p:sp>
        <p:nvSpPr>
          <p:cNvPr id="17" name="TextBox 16"/>
          <p:cNvSpPr txBox="1"/>
          <p:nvPr/>
        </p:nvSpPr>
        <p:spPr>
          <a:xfrm>
            <a:off x="7863840" y="3803904"/>
            <a:ext cx="3931920" cy="45720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Warner × Suno урегулирование (отчисления + доля)</a:t>
            </a:r>
          </a:p>
        </p:txBody>
      </p:sp>
      <p:sp>
        <p:nvSpPr>
          <p:cNvPr id="18" name="Rounded Rectangle 17"/>
          <p:cNvSpPr/>
          <p:nvPr/>
        </p:nvSpPr>
        <p:spPr>
          <a:xfrm>
            <a:off x="6400800" y="4517136"/>
            <a:ext cx="1371600" cy="457200"/>
          </a:xfrm>
          <a:prstGeom prst="roundRect">
            <a:avLst>
              <a:gd name="adj" fmla="val 2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0" y="4517136"/>
            <a:ext cx="1371600" cy="457200"/>
          </a:xfrm>
          <a:prstGeom prst="rect">
            <a:avLst/>
          </a:prstGeom>
          <a:noFill/>
        </p:spPr>
        <p:txBody>
          <a:bodyPr wrap="square" lIns="0" rIns="0" tIns="0" bIns="0" anchor="ctr">
            <a:spAutoFit/>
          </a:bodyPr>
          <a:lstStyle/>
          <a:p>
            <a:pPr algn="ctr">
              <a:lnSpc>
                <a:spcPct val="100000"/>
              </a:lnSpc>
            </a:pPr>
            <a:r>
              <a:rPr sz="1000" b="1" i="0">
                <a:solidFill>
                  <a:srgbClr val="21295C"/>
                </a:solidFill>
                <a:latin typeface="Arial"/>
              </a:rPr>
              <a:t>июл 2026</a:t>
            </a:r>
          </a:p>
        </p:txBody>
      </p:sp>
      <p:sp>
        <p:nvSpPr>
          <p:cNvPr id="20" name="TextBox 19"/>
          <p:cNvSpPr txBox="1"/>
          <p:nvPr/>
        </p:nvSpPr>
        <p:spPr>
          <a:xfrm>
            <a:off x="7863840" y="4517136"/>
            <a:ext cx="3931920" cy="45720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Suno SJ — Sony активно судится с обоими</a:t>
            </a:r>
          </a:p>
        </p:txBody>
      </p:sp>
      <p:sp>
        <p:nvSpPr>
          <p:cNvPr id="21" name="Rounded Rectangle 20"/>
          <p:cNvSpPr/>
          <p:nvPr/>
        </p:nvSpPr>
        <p:spPr>
          <a:xfrm>
            <a:off x="6263640" y="4937760"/>
            <a:ext cx="5577840" cy="256032"/>
          </a:xfrm>
          <a:prstGeom prst="roundRect">
            <a:avLst>
              <a:gd name="adj" fmla="val 30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263640" y="4937760"/>
            <a:ext cx="5577840" cy="256032"/>
          </a:xfrm>
          <a:prstGeom prst="rect">
            <a:avLst/>
          </a:prstGeom>
          <a:noFill/>
        </p:spPr>
        <p:txBody>
          <a:bodyPr wrap="square" lIns="0" rIns="0" tIns="0" bIns="0" anchor="ctr">
            <a:spAutoFit/>
          </a:bodyPr>
          <a:lstStyle/>
          <a:p>
            <a:pPr algn="ctr">
              <a:lnSpc>
                <a:spcPct val="115000"/>
              </a:lnSpc>
            </a:pPr>
            <a:r>
              <a:rPr sz="900" b="1" i="0">
                <a:solidFill>
                  <a:srgbClr val="028090"/>
                </a:solidFill>
                <a:latin typeface="Arial"/>
              </a:rPr>
              <a:t>3 КРУПНЫХ ЛЕЙБЛА × 2 ОТВЕТЧИКА — статус</a:t>
            </a:r>
          </a:p>
        </p:txBody>
      </p:sp>
      <p:sp>
        <p:nvSpPr>
          <p:cNvPr id="23" name="Rounded Rectangle 22"/>
          <p:cNvSpPr/>
          <p:nvPr/>
        </p:nvSpPr>
        <p:spPr>
          <a:xfrm>
            <a:off x="6309359" y="5230368"/>
            <a:ext cx="1767839" cy="29260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63640" y="5230368"/>
            <a:ext cx="1859280" cy="292608"/>
          </a:xfrm>
          <a:prstGeom prst="rect">
            <a:avLst/>
          </a:prstGeom>
          <a:noFill/>
        </p:spPr>
        <p:txBody>
          <a:bodyPr wrap="square" lIns="0" rIns="0" tIns="0" bIns="0" anchor="ctr">
            <a:spAutoFit/>
          </a:bodyPr>
          <a:lstStyle/>
          <a:p>
            <a:pPr algn="ctr">
              <a:lnSpc>
                <a:spcPct val="115000"/>
              </a:lnSpc>
            </a:pPr>
            <a:r>
              <a:rPr sz="800" b="1" i="0">
                <a:solidFill>
                  <a:srgbClr val="FFFFFF"/>
                </a:solidFill>
                <a:latin typeface="Arial"/>
              </a:rPr>
              <a:t>UMG × Udio: урегулировано</a:t>
            </a:r>
          </a:p>
        </p:txBody>
      </p:sp>
      <p:sp>
        <p:nvSpPr>
          <p:cNvPr id="25" name="Rounded Rectangle 24"/>
          <p:cNvSpPr/>
          <p:nvPr/>
        </p:nvSpPr>
        <p:spPr>
          <a:xfrm>
            <a:off x="8168640" y="5230368"/>
            <a:ext cx="1767839" cy="292608"/>
          </a:xfrm>
          <a:prstGeom prst="roundRect">
            <a:avLst>
              <a:gd name="adj" fmla="val 3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122920" y="5230368"/>
            <a:ext cx="1859280" cy="292608"/>
          </a:xfrm>
          <a:prstGeom prst="rect">
            <a:avLst/>
          </a:prstGeom>
          <a:noFill/>
        </p:spPr>
        <p:txBody>
          <a:bodyPr wrap="square" lIns="0" rIns="0" tIns="0" bIns="0" anchor="ctr">
            <a:spAutoFit/>
          </a:bodyPr>
          <a:lstStyle/>
          <a:p>
            <a:pPr algn="ctr">
              <a:lnSpc>
                <a:spcPct val="115000"/>
              </a:lnSpc>
            </a:pPr>
            <a:r>
              <a:rPr sz="800" b="1" i="0">
                <a:solidFill>
                  <a:srgbClr val="FFFFFF"/>
                </a:solidFill>
                <a:latin typeface="Arial"/>
              </a:rPr>
              <a:t>UMG × Suno: переговоры</a:t>
            </a:r>
          </a:p>
        </p:txBody>
      </p:sp>
      <p:sp>
        <p:nvSpPr>
          <p:cNvPr id="27" name="Rounded Rectangle 26"/>
          <p:cNvSpPr/>
          <p:nvPr/>
        </p:nvSpPr>
        <p:spPr>
          <a:xfrm>
            <a:off x="10027920" y="5230368"/>
            <a:ext cx="1767839" cy="29260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982200" y="5230368"/>
            <a:ext cx="1859280" cy="292608"/>
          </a:xfrm>
          <a:prstGeom prst="rect">
            <a:avLst/>
          </a:prstGeom>
          <a:noFill/>
        </p:spPr>
        <p:txBody>
          <a:bodyPr wrap="square" lIns="0" rIns="0" tIns="0" bIns="0" anchor="ctr">
            <a:spAutoFit/>
          </a:bodyPr>
          <a:lstStyle/>
          <a:p>
            <a:pPr algn="ctr">
              <a:lnSpc>
                <a:spcPct val="115000"/>
              </a:lnSpc>
            </a:pPr>
            <a:r>
              <a:rPr sz="800" b="1" i="0">
                <a:solidFill>
                  <a:srgbClr val="FFFFFF"/>
                </a:solidFill>
                <a:latin typeface="Arial"/>
              </a:rPr>
              <a:t>Warner × Suno: урегулировано</a:t>
            </a:r>
          </a:p>
        </p:txBody>
      </p:sp>
      <p:sp>
        <p:nvSpPr>
          <p:cNvPr id="29" name="Rounded Rectangle 28"/>
          <p:cNvSpPr/>
          <p:nvPr/>
        </p:nvSpPr>
        <p:spPr>
          <a:xfrm>
            <a:off x="6309359" y="5568696"/>
            <a:ext cx="1767839" cy="29260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263640" y="5568696"/>
            <a:ext cx="1859280" cy="292608"/>
          </a:xfrm>
          <a:prstGeom prst="rect">
            <a:avLst/>
          </a:prstGeom>
          <a:noFill/>
        </p:spPr>
        <p:txBody>
          <a:bodyPr wrap="square" lIns="0" rIns="0" tIns="0" bIns="0" anchor="ctr">
            <a:spAutoFit/>
          </a:bodyPr>
          <a:lstStyle/>
          <a:p>
            <a:pPr algn="ctr">
              <a:lnSpc>
                <a:spcPct val="115000"/>
              </a:lnSpc>
            </a:pPr>
            <a:r>
              <a:rPr sz="800" b="1" i="0">
                <a:solidFill>
                  <a:srgbClr val="21295C"/>
                </a:solidFill>
                <a:latin typeface="Arial"/>
              </a:rPr>
              <a:t>Warner × Udio: тяжба</a:t>
            </a:r>
          </a:p>
        </p:txBody>
      </p:sp>
      <p:sp>
        <p:nvSpPr>
          <p:cNvPr id="31" name="Rounded Rectangle 30"/>
          <p:cNvSpPr/>
          <p:nvPr/>
        </p:nvSpPr>
        <p:spPr>
          <a:xfrm>
            <a:off x="8168640" y="5568696"/>
            <a:ext cx="1767839" cy="29260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122920" y="5568696"/>
            <a:ext cx="1859280" cy="292608"/>
          </a:xfrm>
          <a:prstGeom prst="rect">
            <a:avLst/>
          </a:prstGeom>
          <a:noFill/>
        </p:spPr>
        <p:txBody>
          <a:bodyPr wrap="square" lIns="0" rIns="0" tIns="0" bIns="0" anchor="ctr">
            <a:spAutoFit/>
          </a:bodyPr>
          <a:lstStyle/>
          <a:p>
            <a:pPr algn="ctr">
              <a:lnSpc>
                <a:spcPct val="115000"/>
              </a:lnSpc>
            </a:pPr>
            <a:r>
              <a:rPr sz="800" b="1" i="0">
                <a:solidFill>
                  <a:srgbClr val="21295C"/>
                </a:solidFill>
                <a:latin typeface="Arial"/>
              </a:rPr>
              <a:t>Sony × Suno: тяжба</a:t>
            </a:r>
          </a:p>
        </p:txBody>
      </p:sp>
      <p:sp>
        <p:nvSpPr>
          <p:cNvPr id="33" name="Rounded Rectangle 32"/>
          <p:cNvSpPr/>
          <p:nvPr/>
        </p:nvSpPr>
        <p:spPr>
          <a:xfrm>
            <a:off x="10027920" y="5568696"/>
            <a:ext cx="1767839" cy="29260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982200" y="5568696"/>
            <a:ext cx="1859280" cy="292608"/>
          </a:xfrm>
          <a:prstGeom prst="rect">
            <a:avLst/>
          </a:prstGeom>
          <a:noFill/>
        </p:spPr>
        <p:txBody>
          <a:bodyPr wrap="square" lIns="0" rIns="0" tIns="0" bIns="0" anchor="ctr">
            <a:spAutoFit/>
          </a:bodyPr>
          <a:lstStyle/>
          <a:p>
            <a:pPr algn="ctr">
              <a:lnSpc>
                <a:spcPct val="115000"/>
              </a:lnSpc>
            </a:pPr>
            <a:r>
              <a:rPr sz="800" b="1" i="0">
                <a:solidFill>
                  <a:srgbClr val="21295C"/>
                </a:solidFill>
                <a:latin typeface="Arial"/>
              </a:rPr>
              <a:t>Sony × Udio: тяжба</a:t>
            </a:r>
          </a:p>
        </p:txBody>
      </p:sp>
      <p:sp>
        <p:nvSpPr>
          <p:cNvPr id="35" name="TextBox 34"/>
          <p:cNvSpPr txBox="1"/>
          <p:nvPr/>
        </p:nvSpPr>
        <p:spPr>
          <a:xfrm>
            <a:off x="6263640" y="5532120"/>
            <a:ext cx="5577840" cy="228600"/>
          </a:xfrm>
          <a:prstGeom prst="rect">
            <a:avLst/>
          </a:prstGeom>
          <a:noFill/>
        </p:spPr>
        <p:txBody>
          <a:bodyPr wrap="square" lIns="0" rIns="0" tIns="0" bIns="0" anchor="t">
            <a:spAutoFit/>
          </a:bodyPr>
          <a:lstStyle/>
          <a:p>
            <a:pPr algn="l">
              <a:lnSpc>
                <a:spcPct val="100000"/>
              </a:lnSpc>
            </a:pPr>
            <a:r>
              <a:rPr sz="800" b="0" i="1">
                <a:solidFill>
                  <a:srgbClr val="1C7293"/>
                </a:solidFill>
                <a:latin typeface="Arial"/>
              </a:rPr>
              <a:t>* UMG = Universal Music Group (один из 3 крупных лейблов «Большой тройки»)</a:t>
            </a:r>
          </a:p>
        </p:txBody>
      </p:sp>
      <p:sp>
        <p:nvSpPr>
          <p:cNvPr id="36" name="Rounded Rectangle 35"/>
          <p:cNvSpPr/>
          <p:nvPr/>
        </p:nvSpPr>
        <p:spPr>
          <a:xfrm>
            <a:off x="502920" y="5760720"/>
            <a:ext cx="11247120" cy="960120"/>
          </a:xfrm>
          <a:prstGeom prst="roundRect">
            <a:avLst>
              <a:gd name="adj" fmla="val 25000"/>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67512" y="5852159"/>
            <a:ext cx="10917936" cy="292608"/>
          </a:xfrm>
          <a:prstGeom prst="rect">
            <a:avLst/>
          </a:prstGeom>
          <a:noFill/>
        </p:spPr>
        <p:txBody>
          <a:bodyPr wrap="square" lIns="0" rIns="0" tIns="0" bIns="0" anchor="t">
            <a:spAutoFit/>
          </a:bodyPr>
          <a:lstStyle/>
          <a:p>
            <a:pPr algn="l">
              <a:lnSpc>
                <a:spcPct val="100000"/>
              </a:lnSpc>
            </a:pPr>
            <a:r>
              <a:rPr sz="1100" b="1" i="0">
                <a:solidFill>
                  <a:srgbClr val="F0AB00"/>
                </a:solidFill>
                <a:latin typeface="Arial"/>
              </a:rPr>
              <a:t>УРОК ДЛЯ ИНЖЕНЕРА</a:t>
            </a:r>
          </a:p>
        </p:txBody>
      </p:sp>
      <p:sp>
        <p:nvSpPr>
          <p:cNvPr id="38" name="TextBox 37"/>
          <p:cNvSpPr txBox="1"/>
          <p:nvPr/>
        </p:nvSpPr>
        <p:spPr>
          <a:xfrm>
            <a:off x="667512" y="6172200"/>
            <a:ext cx="10917936" cy="45720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Лицензирование под давлением исков — фактический исход: 4 из 6 комбинаций иск-ответчик урегулированы или в переговорах. Это новый слой бизнес-модели, а не «запрет всей AI-музыки».</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Thomson Reuters против Ross — первый отказ США в «добросовестном использовании» (Кейс 5)</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30000"/>
              </a:lnSpc>
            </a:pPr>
            <a:r>
              <a:rPr sz="1300" b="0" i="1">
                <a:solidFill>
                  <a:srgbClr val="065A82"/>
                </a:solidFill>
                <a:latin typeface="Arial"/>
              </a:rPr>
              <a:t>Фев 2025, судья Bibas: 2200/3000 headnotes — нарушение, «добросовестное использование» отклонено. Оговорка: Ross — не-генеративный AI.</a:t>
            </a:r>
          </a:p>
        </p:txBody>
      </p:sp>
      <p:sp>
        <p:nvSpPr>
          <p:cNvPr id="4" name="Rounded Rectangle 3"/>
          <p:cNvSpPr/>
          <p:nvPr/>
        </p:nvSpPr>
        <p:spPr>
          <a:xfrm>
            <a:off x="502920" y="1828800"/>
            <a:ext cx="548640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874519"/>
            <a:ext cx="5212080" cy="274320"/>
          </a:xfrm>
          <a:prstGeom prst="rect">
            <a:avLst/>
          </a:prstGeom>
          <a:noFill/>
        </p:spPr>
        <p:txBody>
          <a:bodyPr wrap="square" lIns="0" rIns="0" tIns="0" bIns="0" anchor="t">
            <a:spAutoFit/>
          </a:bodyPr>
          <a:lstStyle/>
          <a:p>
            <a:pPr algn="l">
              <a:lnSpc>
                <a:spcPct val="115000"/>
              </a:lnSpc>
            </a:pPr>
            <a:r>
              <a:rPr sz="1000" b="1" i="0">
                <a:solidFill>
                  <a:srgbClr val="028090"/>
                </a:solidFill>
                <a:latin typeface="Arial"/>
              </a:rPr>
              <a:t>DAVIS WRIGHT TREMAINE · ROSS RULING · ФЕВ 2025</a:t>
            </a:r>
          </a:p>
        </p:txBody>
      </p:sp>
      <p:pic>
        <p:nvPicPr>
          <p:cNvPr id="6" name="Picture 5" descr="s25-thomson-reedsmith.png"/>
          <p:cNvPicPr>
            <a:picLocks noChangeAspect="1"/>
          </p:cNvPicPr>
          <p:nvPr/>
        </p:nvPicPr>
        <p:blipFill>
          <a:blip r:embed="rId2"/>
          <a:stretch>
            <a:fillRect/>
          </a:stretch>
        </p:blipFill>
        <p:spPr>
          <a:xfrm>
            <a:off x="640080" y="2426588"/>
            <a:ext cx="5212080" cy="2736342"/>
          </a:xfrm>
          <a:prstGeom prst="rect">
            <a:avLst/>
          </a:prstGeom>
        </p:spPr>
      </p:pic>
      <p:sp>
        <p:nvSpPr>
          <p:cNvPr id="7" name="Rounded Rectangle 6"/>
          <p:cNvSpPr/>
          <p:nvPr/>
        </p:nvSpPr>
        <p:spPr>
          <a:xfrm>
            <a:off x="6263640" y="1828800"/>
            <a:ext cx="557784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920240"/>
            <a:ext cx="5303520" cy="36576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ХРОНОЛОГИЯ</a:t>
            </a:r>
          </a:p>
        </p:txBody>
      </p:sp>
      <p:sp>
        <p:nvSpPr>
          <p:cNvPr id="9" name="Rounded Rectangle 8"/>
          <p:cNvSpPr/>
          <p:nvPr/>
        </p:nvSpPr>
        <p:spPr>
          <a:xfrm>
            <a:off x="6400800" y="2377440"/>
            <a:ext cx="1371600" cy="457200"/>
          </a:xfrm>
          <a:prstGeom prst="roundRect">
            <a:avLst>
              <a:gd name="adj" fmla="val 2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0" y="2377440"/>
            <a:ext cx="1371600" cy="457200"/>
          </a:xfrm>
          <a:prstGeom prst="rect">
            <a:avLst/>
          </a:prstGeom>
          <a:noFill/>
        </p:spPr>
        <p:txBody>
          <a:bodyPr wrap="square" lIns="0" rIns="0" tIns="0" bIns="0" anchor="ctr">
            <a:spAutoFit/>
          </a:bodyPr>
          <a:lstStyle/>
          <a:p>
            <a:pPr algn="ctr">
              <a:lnSpc>
                <a:spcPct val="100000"/>
              </a:lnSpc>
            </a:pPr>
            <a:r>
              <a:rPr sz="1000" b="1" i="0">
                <a:solidFill>
                  <a:srgbClr val="21295C"/>
                </a:solidFill>
                <a:latin typeface="Arial"/>
              </a:rPr>
              <a:t>Фев 2025</a:t>
            </a:r>
          </a:p>
        </p:txBody>
      </p:sp>
      <p:sp>
        <p:nvSpPr>
          <p:cNvPr id="11" name="TextBox 10"/>
          <p:cNvSpPr txBox="1"/>
          <p:nvPr/>
        </p:nvSpPr>
        <p:spPr>
          <a:xfrm>
            <a:off x="7863840" y="2377440"/>
            <a:ext cx="3931920" cy="45720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Bibas · первый отказ США в «добросовестном использовании»</a:t>
            </a:r>
          </a:p>
        </p:txBody>
      </p:sp>
      <p:sp>
        <p:nvSpPr>
          <p:cNvPr id="12" name="Rounded Rectangle 11"/>
          <p:cNvSpPr/>
          <p:nvPr/>
        </p:nvSpPr>
        <p:spPr>
          <a:xfrm>
            <a:off x="6400800" y="3090672"/>
            <a:ext cx="1371600" cy="457200"/>
          </a:xfrm>
          <a:prstGeom prst="roundRect">
            <a:avLst>
              <a:gd name="adj" fmla="val 2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3090672"/>
            <a:ext cx="1371600" cy="457200"/>
          </a:xfrm>
          <a:prstGeom prst="rect">
            <a:avLst/>
          </a:prstGeom>
          <a:noFill/>
        </p:spPr>
        <p:txBody>
          <a:bodyPr wrap="square" lIns="0" rIns="0" tIns="0" bIns="0" anchor="ctr">
            <a:spAutoFit/>
          </a:bodyPr>
          <a:lstStyle/>
          <a:p>
            <a:pPr algn="ctr">
              <a:lnSpc>
                <a:spcPct val="100000"/>
              </a:lnSpc>
            </a:pPr>
            <a:r>
              <a:rPr sz="1000" b="1" i="0">
                <a:solidFill>
                  <a:srgbClr val="FFFFFF"/>
                </a:solidFill>
                <a:latin typeface="Arial"/>
              </a:rPr>
              <a:t>2200/3000</a:t>
            </a:r>
          </a:p>
        </p:txBody>
      </p:sp>
      <p:sp>
        <p:nvSpPr>
          <p:cNvPr id="14" name="TextBox 13"/>
          <p:cNvSpPr txBox="1"/>
          <p:nvPr/>
        </p:nvSpPr>
        <p:spPr>
          <a:xfrm>
            <a:off x="7863840" y="3090672"/>
            <a:ext cx="3931920" cy="45720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headnotes — нарушение</a:t>
            </a:r>
          </a:p>
        </p:txBody>
      </p:sp>
      <p:sp>
        <p:nvSpPr>
          <p:cNvPr id="15" name="Rounded Rectangle 14"/>
          <p:cNvSpPr/>
          <p:nvPr/>
        </p:nvSpPr>
        <p:spPr>
          <a:xfrm>
            <a:off x="6400800" y="3803904"/>
            <a:ext cx="1371600" cy="457200"/>
          </a:xfrm>
          <a:prstGeom prst="roundRect">
            <a:avLst>
              <a:gd name="adj" fmla="val 2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00800" y="3803904"/>
            <a:ext cx="1371600" cy="457200"/>
          </a:xfrm>
          <a:prstGeom prst="rect">
            <a:avLst/>
          </a:prstGeom>
          <a:noFill/>
        </p:spPr>
        <p:txBody>
          <a:bodyPr wrap="square" lIns="0" rIns="0" tIns="0" bIns="0" anchor="ctr">
            <a:spAutoFit/>
          </a:bodyPr>
          <a:lstStyle/>
          <a:p>
            <a:pPr algn="ctr">
              <a:lnSpc>
                <a:spcPct val="100000"/>
              </a:lnSpc>
            </a:pPr>
            <a:r>
              <a:rPr sz="1000" b="1" i="0">
                <a:solidFill>
                  <a:srgbClr val="FFFFFF"/>
                </a:solidFill>
                <a:latin typeface="Arial"/>
              </a:rPr>
              <a:t>Ожидается</a:t>
            </a:r>
          </a:p>
        </p:txBody>
      </p:sp>
      <p:sp>
        <p:nvSpPr>
          <p:cNvPr id="17" name="TextBox 16"/>
          <p:cNvSpPr txBox="1"/>
          <p:nvPr/>
        </p:nvSpPr>
        <p:spPr>
          <a:xfrm>
            <a:off x="7863840" y="3803904"/>
            <a:ext cx="3931920" cy="457200"/>
          </a:xfrm>
          <a:prstGeom prst="rect">
            <a:avLst/>
          </a:prstGeom>
          <a:noFill/>
        </p:spPr>
        <p:txBody>
          <a:bodyPr wrap="square" lIns="0" rIns="0" tIns="0" bIns="0" anchor="ctr">
            <a:spAutoFit/>
          </a:bodyPr>
          <a:lstStyle/>
          <a:p>
            <a:pPr algn="l">
              <a:lnSpc>
                <a:spcPct val="120000"/>
              </a:lnSpc>
            </a:pPr>
            <a:r>
              <a:rPr sz="1100" b="0" i="0">
                <a:solidFill>
                  <a:srgbClr val="21295C"/>
                </a:solidFill>
                <a:latin typeface="Arial"/>
              </a:rPr>
              <a:t>Тестовые кейсы для LLM/diffusion впереди</a:t>
            </a:r>
          </a:p>
        </p:txBody>
      </p:sp>
      <p:sp>
        <p:nvSpPr>
          <p:cNvPr id="18" name="Rounded Rectangle 17"/>
          <p:cNvSpPr/>
          <p:nvPr/>
        </p:nvSpPr>
        <p:spPr>
          <a:xfrm>
            <a:off x="6263640" y="5029200"/>
            <a:ext cx="5577840" cy="274320"/>
          </a:xfrm>
          <a:prstGeom prst="roundRect">
            <a:avLst>
              <a:gd name="adj" fmla="val 30000"/>
            </a:avLst>
          </a:prstGeom>
          <a:solidFill>
            <a:srgbClr val="F4F7F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63640" y="5029200"/>
            <a:ext cx="5577840" cy="274320"/>
          </a:xfrm>
          <a:prstGeom prst="rect">
            <a:avLst/>
          </a:prstGeom>
          <a:noFill/>
        </p:spPr>
        <p:txBody>
          <a:bodyPr wrap="square" lIns="0" rIns="0" tIns="0" bIns="0" anchor="ctr">
            <a:spAutoFit/>
          </a:bodyPr>
          <a:lstStyle/>
          <a:p>
            <a:pPr algn="ctr">
              <a:lnSpc>
                <a:spcPct val="115000"/>
              </a:lnSpc>
            </a:pPr>
            <a:r>
              <a:rPr sz="900" b="1" i="0">
                <a:solidFill>
                  <a:srgbClr val="028090"/>
                </a:solidFill>
                <a:latin typeface="Arial"/>
              </a:rPr>
              <a:t>«ДОБРОСОВЕСТНОЕ ИСПОЛЬЗОВАНИЕ» 4-ФАКТОРНЫЙ ТЕСТ (Warhol против Goldsmith)</a:t>
            </a:r>
          </a:p>
        </p:txBody>
      </p:sp>
      <p:sp>
        <p:nvSpPr>
          <p:cNvPr id="20" name="Rounded Rectangle 19"/>
          <p:cNvSpPr/>
          <p:nvPr/>
        </p:nvSpPr>
        <p:spPr>
          <a:xfrm>
            <a:off x="6309359" y="5349240"/>
            <a:ext cx="1303019" cy="27432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63640" y="5349240"/>
            <a:ext cx="1394460" cy="274320"/>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1 · цель</a:t>
            </a:r>
          </a:p>
        </p:txBody>
      </p:sp>
      <p:sp>
        <p:nvSpPr>
          <p:cNvPr id="22" name="Rounded Rectangle 21"/>
          <p:cNvSpPr/>
          <p:nvPr/>
        </p:nvSpPr>
        <p:spPr>
          <a:xfrm>
            <a:off x="7703820" y="5349240"/>
            <a:ext cx="1303019" cy="27432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58100" y="5349240"/>
            <a:ext cx="1394460" cy="274320"/>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2 · характер</a:t>
            </a:r>
          </a:p>
        </p:txBody>
      </p:sp>
      <p:sp>
        <p:nvSpPr>
          <p:cNvPr id="24" name="Rounded Rectangle 23"/>
          <p:cNvSpPr/>
          <p:nvPr/>
        </p:nvSpPr>
        <p:spPr>
          <a:xfrm>
            <a:off x="9098280" y="5349240"/>
            <a:ext cx="1303019" cy="27432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052559" y="5349240"/>
            <a:ext cx="1394460" cy="274320"/>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3 · объём</a:t>
            </a:r>
          </a:p>
        </p:txBody>
      </p:sp>
      <p:sp>
        <p:nvSpPr>
          <p:cNvPr id="26" name="Rounded Rectangle 25"/>
          <p:cNvSpPr/>
          <p:nvPr/>
        </p:nvSpPr>
        <p:spPr>
          <a:xfrm>
            <a:off x="10492740" y="5349240"/>
            <a:ext cx="1303019" cy="274320"/>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447019" y="5349240"/>
            <a:ext cx="1394460" cy="274320"/>
          </a:xfrm>
          <a:prstGeom prst="rect">
            <a:avLst/>
          </a:prstGeom>
          <a:noFill/>
        </p:spPr>
        <p:txBody>
          <a:bodyPr wrap="square" lIns="0" rIns="0" tIns="0" bIns="0" anchor="ctr">
            <a:spAutoFit/>
          </a:bodyPr>
          <a:lstStyle/>
          <a:p>
            <a:pPr algn="ctr">
              <a:lnSpc>
                <a:spcPct val="115000"/>
              </a:lnSpc>
            </a:pPr>
            <a:r>
              <a:rPr sz="900" b="1" i="0">
                <a:solidFill>
                  <a:srgbClr val="21295C"/>
                </a:solidFill>
                <a:latin typeface="Arial"/>
              </a:rPr>
              <a:t>4 · рынок</a:t>
            </a:r>
          </a:p>
        </p:txBody>
      </p:sp>
      <p:sp>
        <p:nvSpPr>
          <p:cNvPr id="28" name="TextBox 27"/>
          <p:cNvSpPr txBox="1"/>
          <p:nvPr/>
        </p:nvSpPr>
        <p:spPr>
          <a:xfrm>
            <a:off x="6263640" y="5532120"/>
            <a:ext cx="5577840" cy="228600"/>
          </a:xfrm>
          <a:prstGeom prst="rect">
            <a:avLst/>
          </a:prstGeom>
          <a:noFill/>
        </p:spPr>
        <p:txBody>
          <a:bodyPr wrap="square" lIns="0" rIns="0" tIns="0" bIns="0" anchor="t">
            <a:spAutoFit/>
          </a:bodyPr>
          <a:lstStyle/>
          <a:p>
            <a:pPr algn="l">
              <a:lnSpc>
                <a:spcPct val="100000"/>
              </a:lnSpc>
            </a:pPr>
            <a:r>
              <a:rPr sz="800" b="0" i="1">
                <a:solidFill>
                  <a:srgbClr val="1C7293"/>
                </a:solidFill>
                <a:latin typeface="Arial"/>
              </a:rPr>
              <a:t>Caveat: Ross — non-generative AI (legal search). Generative LLM/diffusion test cases ещё впереди.</a:t>
            </a:r>
          </a:p>
        </p:txBody>
      </p:sp>
      <p:sp>
        <p:nvSpPr>
          <p:cNvPr id="29" name="Rounded Rectangle 28"/>
          <p:cNvSpPr/>
          <p:nvPr/>
        </p:nvSpPr>
        <p:spPr>
          <a:xfrm>
            <a:off x="502920" y="5760720"/>
            <a:ext cx="11247120" cy="960120"/>
          </a:xfrm>
          <a:prstGeom prst="roundRect">
            <a:avLst>
              <a:gd name="adj" fmla="val 25000"/>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7512" y="5852159"/>
            <a:ext cx="10917936" cy="292608"/>
          </a:xfrm>
          <a:prstGeom prst="rect">
            <a:avLst/>
          </a:prstGeom>
          <a:noFill/>
        </p:spPr>
        <p:txBody>
          <a:bodyPr wrap="square" lIns="0" rIns="0" tIns="0" bIns="0" anchor="t">
            <a:spAutoFit/>
          </a:bodyPr>
          <a:lstStyle/>
          <a:p>
            <a:pPr algn="l">
              <a:lnSpc>
                <a:spcPct val="100000"/>
              </a:lnSpc>
            </a:pPr>
            <a:r>
              <a:rPr sz="1100" b="1" i="0">
                <a:solidFill>
                  <a:srgbClr val="F0AB00"/>
                </a:solidFill>
                <a:latin typeface="Arial"/>
              </a:rPr>
              <a:t>УРОК ДЛЯ ИНЖЕНЕРА</a:t>
            </a:r>
          </a:p>
        </p:txBody>
      </p:sp>
      <p:sp>
        <p:nvSpPr>
          <p:cNvPr id="31" name="TextBox 30"/>
          <p:cNvSpPr txBox="1"/>
          <p:nvPr/>
        </p:nvSpPr>
        <p:spPr>
          <a:xfrm>
            <a:off x="667512" y="6172200"/>
            <a:ext cx="10917936" cy="45720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«Добросовестное использование» — НЕ дефолт. Тестовые кейсы для LLM/diffusion впереди. НЕ строй продуктовую дорожную карту на предположении, что «добросовестное использование» сработает как защита.</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Arup CFO-дипфейк — мошенничество на $25.6 млн (Кейс 6)</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Гонконг, янв 2024 · Финансист на видеозвонке с дипфейк-CFO + коллегами → 15 транзакций.</a:t>
            </a:r>
          </a:p>
        </p:txBody>
      </p:sp>
      <p:sp>
        <p:nvSpPr>
          <p:cNvPr id="4" name="Rounded Rectangle 3"/>
          <p:cNvSpPr/>
          <p:nvPr/>
        </p:nvSpPr>
        <p:spPr>
          <a:xfrm>
            <a:off x="502920" y="1828800"/>
            <a:ext cx="411480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01952"/>
            <a:ext cx="3840480" cy="274320"/>
          </a:xfrm>
          <a:prstGeom prst="rect">
            <a:avLst/>
          </a:prstGeom>
          <a:noFill/>
        </p:spPr>
        <p:txBody>
          <a:bodyPr wrap="square" lIns="0" rIns="0" tIns="0" bIns="0" anchor="t">
            <a:spAutoFit/>
          </a:bodyPr>
          <a:lstStyle/>
          <a:p>
            <a:pPr algn="l">
              <a:lnSpc>
                <a:spcPct val="115000"/>
              </a:lnSpc>
            </a:pPr>
            <a:r>
              <a:rPr sz="1000" b="1" i="0">
                <a:solidFill>
                  <a:srgbClr val="028090"/>
                </a:solidFill>
                <a:latin typeface="Arial"/>
              </a:rPr>
              <a:t>CNN · МОШЕННИЧЕСТВО НА $25 МЛН В ГОНКОНГЕ · 16 МАЯ 2024</a:t>
            </a:r>
          </a:p>
        </p:txBody>
      </p:sp>
      <p:pic>
        <p:nvPicPr>
          <p:cNvPr id="6" name="Picture 5" descr="s26-arup-cnn.png"/>
          <p:cNvPicPr>
            <a:picLocks noChangeAspect="1"/>
          </p:cNvPicPr>
          <p:nvPr/>
        </p:nvPicPr>
        <p:blipFill>
          <a:blip r:embed="rId2"/>
          <a:stretch>
            <a:fillRect/>
          </a:stretch>
        </p:blipFill>
        <p:spPr>
          <a:xfrm>
            <a:off x="640080" y="2623184"/>
            <a:ext cx="3840480" cy="2160270"/>
          </a:xfrm>
          <a:prstGeom prst="rect">
            <a:avLst/>
          </a:prstGeom>
        </p:spPr>
      </p:pic>
      <p:sp>
        <p:nvSpPr>
          <p:cNvPr id="7" name="TextBox 6"/>
          <p:cNvSpPr txBox="1"/>
          <p:nvPr/>
        </p:nvSpPr>
        <p:spPr>
          <a:xfrm>
            <a:off x="640080" y="5257800"/>
            <a:ext cx="3840480" cy="274320"/>
          </a:xfrm>
          <a:prstGeom prst="rect">
            <a:avLst/>
          </a:prstGeom>
          <a:noFill/>
        </p:spPr>
        <p:txBody>
          <a:bodyPr wrap="square" lIns="0" rIns="0" tIns="0" bIns="0" anchor="t">
            <a:spAutoFit/>
          </a:bodyPr>
          <a:lstStyle/>
          <a:p>
            <a:pPr algn="ctr">
              <a:lnSpc>
                <a:spcPct val="115000"/>
              </a:lnSpc>
            </a:pPr>
            <a:r>
              <a:rPr sz="1000" b="0" i="1">
                <a:solidFill>
                  <a:srgbClr val="6B7685"/>
                </a:solidFill>
                <a:latin typeface="Arial"/>
              </a:rPr>
              <a:t>Arup · британская инженерная фирма · Sydney Opera House</a:t>
            </a:r>
          </a:p>
        </p:txBody>
      </p:sp>
      <p:sp>
        <p:nvSpPr>
          <p:cNvPr id="8" name="TextBox 7"/>
          <p:cNvSpPr txBox="1"/>
          <p:nvPr/>
        </p:nvSpPr>
        <p:spPr>
          <a:xfrm>
            <a:off x="4892040" y="1828800"/>
            <a:ext cx="6949440" cy="36576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СЦЕНАРИЙ АТАКИ</a:t>
            </a:r>
          </a:p>
        </p:txBody>
      </p:sp>
      <p:sp>
        <p:nvSpPr>
          <p:cNvPr id="9" name="Rounded Rectangle 8"/>
          <p:cNvSpPr/>
          <p:nvPr/>
        </p:nvSpPr>
        <p:spPr>
          <a:xfrm>
            <a:off x="5029200" y="2331720"/>
            <a:ext cx="1188720" cy="228600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029200" y="2514600"/>
            <a:ext cx="1188720" cy="548640"/>
          </a:xfrm>
          <a:prstGeom prst="rect">
            <a:avLst/>
          </a:prstGeom>
          <a:noFill/>
        </p:spPr>
        <p:txBody>
          <a:bodyPr wrap="square" lIns="0" rIns="0" tIns="0" bIns="0" anchor="t">
            <a:spAutoFit/>
          </a:bodyPr>
          <a:lstStyle/>
          <a:p>
            <a:pPr algn="ctr">
              <a:lnSpc>
                <a:spcPct val="100000"/>
              </a:lnSpc>
            </a:pPr>
            <a:r>
              <a:rPr sz="3200" b="1" i="0">
                <a:solidFill>
                  <a:srgbClr val="FFFFFF"/>
                </a:solidFill>
                <a:latin typeface="Arial"/>
              </a:rPr>
              <a:t>1</a:t>
            </a:r>
          </a:p>
        </p:txBody>
      </p:sp>
      <p:sp>
        <p:nvSpPr>
          <p:cNvPr id="11" name="TextBox 10"/>
          <p:cNvSpPr txBox="1"/>
          <p:nvPr/>
        </p:nvSpPr>
        <p:spPr>
          <a:xfrm>
            <a:off x="5074920" y="3246120"/>
            <a:ext cx="1097280" cy="1280160"/>
          </a:xfrm>
          <a:prstGeom prst="rect">
            <a:avLst/>
          </a:prstGeom>
          <a:noFill/>
        </p:spPr>
        <p:txBody>
          <a:bodyPr wrap="square" lIns="0" rIns="0" tIns="0" bIns="0" anchor="t">
            <a:spAutoFit/>
          </a:bodyPr>
          <a:lstStyle/>
          <a:p>
            <a:pPr algn="ctr">
              <a:lnSpc>
                <a:spcPct val="125000"/>
              </a:lnSpc>
            </a:pPr>
            <a:r>
              <a:rPr sz="1000" b="1" i="0">
                <a:solidFill>
                  <a:srgbClr val="FFFFFF"/>
                </a:solidFill>
                <a:latin typeface="Arial"/>
              </a:rPr>
              <a:t>Письмо от «CFO»</a:t>
            </a:r>
          </a:p>
        </p:txBody>
      </p:sp>
      <p:sp>
        <p:nvSpPr>
          <p:cNvPr id="12" name="Right Arrow 11"/>
          <p:cNvSpPr/>
          <p:nvPr/>
        </p:nvSpPr>
        <p:spPr>
          <a:xfrm>
            <a:off x="6236207" y="3246120"/>
            <a:ext cx="146304" cy="457200"/>
          </a:xfrm>
          <a:prstGeom prst="rightArrow">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6400800" y="2331720"/>
            <a:ext cx="1188720" cy="228600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00800" y="2514600"/>
            <a:ext cx="1188720" cy="548640"/>
          </a:xfrm>
          <a:prstGeom prst="rect">
            <a:avLst/>
          </a:prstGeom>
          <a:noFill/>
        </p:spPr>
        <p:txBody>
          <a:bodyPr wrap="square" lIns="0" rIns="0" tIns="0" bIns="0" anchor="t">
            <a:spAutoFit/>
          </a:bodyPr>
          <a:lstStyle/>
          <a:p>
            <a:pPr algn="ctr">
              <a:lnSpc>
                <a:spcPct val="100000"/>
              </a:lnSpc>
            </a:pPr>
            <a:r>
              <a:rPr sz="3200" b="1" i="0">
                <a:solidFill>
                  <a:srgbClr val="FFFFFF"/>
                </a:solidFill>
                <a:latin typeface="Arial"/>
              </a:rPr>
              <a:t>2</a:t>
            </a:r>
          </a:p>
        </p:txBody>
      </p:sp>
      <p:sp>
        <p:nvSpPr>
          <p:cNvPr id="15" name="TextBox 14"/>
          <p:cNvSpPr txBox="1"/>
          <p:nvPr/>
        </p:nvSpPr>
        <p:spPr>
          <a:xfrm>
            <a:off x="6446520" y="3246120"/>
            <a:ext cx="1097280" cy="1280160"/>
          </a:xfrm>
          <a:prstGeom prst="rect">
            <a:avLst/>
          </a:prstGeom>
          <a:noFill/>
        </p:spPr>
        <p:txBody>
          <a:bodyPr wrap="square" lIns="0" rIns="0" tIns="0" bIns="0" anchor="t">
            <a:spAutoFit/>
          </a:bodyPr>
          <a:lstStyle/>
          <a:p>
            <a:pPr algn="ctr">
              <a:lnSpc>
                <a:spcPct val="125000"/>
              </a:lnSpc>
            </a:pPr>
            <a:r>
              <a:rPr sz="1000" b="1" i="0">
                <a:solidFill>
                  <a:srgbClr val="FFFFFF"/>
                </a:solidFill>
                <a:latin typeface="Arial"/>
              </a:rPr>
              <a:t>Приглашение на видео</a:t>
            </a:r>
          </a:p>
        </p:txBody>
      </p:sp>
      <p:sp>
        <p:nvSpPr>
          <p:cNvPr id="16" name="Right Arrow 15"/>
          <p:cNvSpPr/>
          <p:nvPr/>
        </p:nvSpPr>
        <p:spPr>
          <a:xfrm>
            <a:off x="7607808" y="3246120"/>
            <a:ext cx="146304" cy="457200"/>
          </a:xfrm>
          <a:prstGeom prst="rightArrow">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0" y="2331720"/>
            <a:ext cx="1188720" cy="2286000"/>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72400" y="2514600"/>
            <a:ext cx="1188720" cy="548640"/>
          </a:xfrm>
          <a:prstGeom prst="rect">
            <a:avLst/>
          </a:prstGeom>
          <a:noFill/>
        </p:spPr>
        <p:txBody>
          <a:bodyPr wrap="square" lIns="0" rIns="0" tIns="0" bIns="0" anchor="t">
            <a:spAutoFit/>
          </a:bodyPr>
          <a:lstStyle/>
          <a:p>
            <a:pPr algn="ctr">
              <a:lnSpc>
                <a:spcPct val="100000"/>
              </a:lnSpc>
            </a:pPr>
            <a:r>
              <a:rPr sz="3200" b="1" i="0">
                <a:solidFill>
                  <a:srgbClr val="FFFFFF"/>
                </a:solidFill>
                <a:latin typeface="Arial"/>
              </a:rPr>
              <a:t>3</a:t>
            </a:r>
          </a:p>
        </p:txBody>
      </p:sp>
      <p:sp>
        <p:nvSpPr>
          <p:cNvPr id="19" name="TextBox 18"/>
          <p:cNvSpPr txBox="1"/>
          <p:nvPr/>
        </p:nvSpPr>
        <p:spPr>
          <a:xfrm>
            <a:off x="7818120" y="3246120"/>
            <a:ext cx="1097280" cy="1280160"/>
          </a:xfrm>
          <a:prstGeom prst="rect">
            <a:avLst/>
          </a:prstGeom>
          <a:noFill/>
        </p:spPr>
        <p:txBody>
          <a:bodyPr wrap="square" lIns="0" rIns="0" tIns="0" bIns="0" anchor="t">
            <a:spAutoFit/>
          </a:bodyPr>
          <a:lstStyle/>
          <a:p>
            <a:pPr algn="ctr">
              <a:lnSpc>
                <a:spcPct val="125000"/>
              </a:lnSpc>
            </a:pPr>
            <a:r>
              <a:rPr sz="1000" b="1" i="0">
                <a:solidFill>
                  <a:srgbClr val="FFFFFF"/>
                </a:solidFill>
                <a:latin typeface="Arial"/>
              </a:rPr>
              <a:t>Звонок с дипфейками</a:t>
            </a:r>
          </a:p>
        </p:txBody>
      </p:sp>
      <p:sp>
        <p:nvSpPr>
          <p:cNvPr id="20" name="Right Arrow 19"/>
          <p:cNvSpPr/>
          <p:nvPr/>
        </p:nvSpPr>
        <p:spPr>
          <a:xfrm>
            <a:off x="8979408" y="3246120"/>
            <a:ext cx="146304" cy="457200"/>
          </a:xfrm>
          <a:prstGeom prst="rightArrow">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9144000" y="2331720"/>
            <a:ext cx="1188720" cy="228600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0" y="2514600"/>
            <a:ext cx="1188720" cy="548640"/>
          </a:xfrm>
          <a:prstGeom prst="rect">
            <a:avLst/>
          </a:prstGeom>
          <a:noFill/>
        </p:spPr>
        <p:txBody>
          <a:bodyPr wrap="square" lIns="0" rIns="0" tIns="0" bIns="0" anchor="t">
            <a:spAutoFit/>
          </a:bodyPr>
          <a:lstStyle/>
          <a:p>
            <a:pPr algn="ctr">
              <a:lnSpc>
                <a:spcPct val="100000"/>
              </a:lnSpc>
            </a:pPr>
            <a:r>
              <a:rPr sz="3200" b="1" i="0">
                <a:solidFill>
                  <a:srgbClr val="FFFFFF"/>
                </a:solidFill>
                <a:latin typeface="Arial"/>
              </a:rPr>
              <a:t>4</a:t>
            </a:r>
          </a:p>
        </p:txBody>
      </p:sp>
      <p:sp>
        <p:nvSpPr>
          <p:cNvPr id="23" name="TextBox 22"/>
          <p:cNvSpPr txBox="1"/>
          <p:nvPr/>
        </p:nvSpPr>
        <p:spPr>
          <a:xfrm>
            <a:off x="9189720" y="3246120"/>
            <a:ext cx="1097280" cy="1280160"/>
          </a:xfrm>
          <a:prstGeom prst="rect">
            <a:avLst/>
          </a:prstGeom>
          <a:noFill/>
        </p:spPr>
        <p:txBody>
          <a:bodyPr wrap="square" lIns="0" rIns="0" tIns="0" bIns="0" anchor="t">
            <a:spAutoFit/>
          </a:bodyPr>
          <a:lstStyle/>
          <a:p>
            <a:pPr algn="ctr">
              <a:lnSpc>
                <a:spcPct val="125000"/>
              </a:lnSpc>
            </a:pPr>
            <a:r>
              <a:rPr sz="1000" b="1" i="0">
                <a:solidFill>
                  <a:srgbClr val="FFFFFF"/>
                </a:solidFill>
                <a:latin typeface="Arial"/>
              </a:rPr>
              <a:t>15 транзакций</a:t>
            </a:r>
          </a:p>
        </p:txBody>
      </p:sp>
      <p:sp>
        <p:nvSpPr>
          <p:cNvPr id="24" name="Right Arrow 23"/>
          <p:cNvSpPr/>
          <p:nvPr/>
        </p:nvSpPr>
        <p:spPr>
          <a:xfrm>
            <a:off x="10351008" y="3246120"/>
            <a:ext cx="146304" cy="457200"/>
          </a:xfrm>
          <a:prstGeom prst="rightArrow">
            <a:avLst/>
          </a:prstGeom>
          <a:solidFill>
            <a:srgbClr val="21295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10515600" y="2331720"/>
            <a:ext cx="1188720" cy="2286000"/>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15600" y="2514600"/>
            <a:ext cx="1188720" cy="548640"/>
          </a:xfrm>
          <a:prstGeom prst="rect">
            <a:avLst/>
          </a:prstGeom>
          <a:noFill/>
        </p:spPr>
        <p:txBody>
          <a:bodyPr wrap="square" lIns="0" rIns="0" tIns="0" bIns="0" anchor="t">
            <a:spAutoFit/>
          </a:bodyPr>
          <a:lstStyle/>
          <a:p>
            <a:pPr algn="ctr">
              <a:lnSpc>
                <a:spcPct val="100000"/>
              </a:lnSpc>
            </a:pPr>
            <a:r>
              <a:rPr sz="3200" b="1" i="0">
                <a:solidFill>
                  <a:srgbClr val="21295C"/>
                </a:solidFill>
                <a:latin typeface="Arial"/>
              </a:rPr>
              <a:t>5</a:t>
            </a:r>
          </a:p>
        </p:txBody>
      </p:sp>
      <p:sp>
        <p:nvSpPr>
          <p:cNvPr id="27" name="TextBox 26"/>
          <p:cNvSpPr txBox="1"/>
          <p:nvPr/>
        </p:nvSpPr>
        <p:spPr>
          <a:xfrm>
            <a:off x="10561320" y="3246120"/>
            <a:ext cx="1097280" cy="1280160"/>
          </a:xfrm>
          <a:prstGeom prst="rect">
            <a:avLst/>
          </a:prstGeom>
          <a:noFill/>
        </p:spPr>
        <p:txBody>
          <a:bodyPr wrap="square" lIns="0" rIns="0" tIns="0" bIns="0" anchor="t">
            <a:spAutoFit/>
          </a:bodyPr>
          <a:lstStyle/>
          <a:p>
            <a:pPr algn="ctr">
              <a:lnSpc>
                <a:spcPct val="125000"/>
              </a:lnSpc>
            </a:pPr>
            <a:r>
              <a:rPr sz="1000" b="1" i="0">
                <a:solidFill>
                  <a:srgbClr val="21295C"/>
                </a:solidFill>
                <a:latin typeface="Arial"/>
              </a:rPr>
              <a:t>$25.6 млн утрачено</a:t>
            </a:r>
          </a:p>
        </p:txBody>
      </p:sp>
      <p:sp>
        <p:nvSpPr>
          <p:cNvPr id="28" name="Rounded Rectangle 27"/>
          <p:cNvSpPr/>
          <p:nvPr/>
        </p:nvSpPr>
        <p:spPr>
          <a:xfrm>
            <a:off x="502920" y="5852160"/>
            <a:ext cx="11247120" cy="868680"/>
          </a:xfrm>
          <a:prstGeom prst="roundRect">
            <a:avLst>
              <a:gd name="adj" fmla="val 25000"/>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67512" y="5943600"/>
            <a:ext cx="10917936" cy="292608"/>
          </a:xfrm>
          <a:prstGeom prst="rect">
            <a:avLst/>
          </a:prstGeom>
          <a:noFill/>
        </p:spPr>
        <p:txBody>
          <a:bodyPr wrap="square" lIns="0" rIns="0" tIns="0" bIns="0" anchor="t">
            <a:spAutoFit/>
          </a:bodyPr>
          <a:lstStyle/>
          <a:p>
            <a:pPr algn="l">
              <a:lnSpc>
                <a:spcPct val="100000"/>
              </a:lnSpc>
            </a:pPr>
            <a:r>
              <a:rPr sz="1100" b="1" i="0">
                <a:solidFill>
                  <a:srgbClr val="F0AB00"/>
                </a:solidFill>
                <a:latin typeface="Arial"/>
              </a:rPr>
              <a:t>УРОК ДЛЯ ИНЖЕНЕРА</a:t>
            </a:r>
          </a:p>
        </p:txBody>
      </p:sp>
      <p:sp>
        <p:nvSpPr>
          <p:cNvPr id="30" name="TextBox 29"/>
          <p:cNvSpPr txBox="1"/>
          <p:nvPr/>
        </p:nvSpPr>
        <p:spPr>
          <a:xfrm>
            <a:off x="667512" y="6263640"/>
            <a:ext cx="10917936" cy="365759"/>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Видеозвонок ≠ подтверждение личности в 2024+. Финансовые транзакции требуют проверка через независимый канал — обратный звонок по известному номеру, многофакторная аутентификация, документированный процесс.</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Кризис со школьницами в Корее: дипфейки (кейс 7)</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Авг 2024 · &gt;200 Telegram-чатов из селфи одноклассниц/учительниц · 4× к 2023.</a:t>
            </a:r>
          </a:p>
        </p:txBody>
      </p:sp>
      <p:sp>
        <p:nvSpPr>
          <p:cNvPr id="4" name="Rounded Rectangle 3"/>
          <p:cNvSpPr/>
          <p:nvPr/>
        </p:nvSpPr>
        <p:spPr>
          <a:xfrm>
            <a:off x="502920" y="1828800"/>
            <a:ext cx="457200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01952"/>
            <a:ext cx="4297680" cy="274320"/>
          </a:xfrm>
          <a:prstGeom prst="rect">
            <a:avLst/>
          </a:prstGeom>
          <a:noFill/>
        </p:spPr>
        <p:txBody>
          <a:bodyPr wrap="square" lIns="0" rIns="0" tIns="0" bIns="0" anchor="t">
            <a:spAutoFit/>
          </a:bodyPr>
          <a:lstStyle/>
          <a:p>
            <a:pPr algn="l">
              <a:lnSpc>
                <a:spcPct val="115000"/>
              </a:lnSpc>
            </a:pPr>
            <a:r>
              <a:rPr sz="1000" b="1" i="0">
                <a:solidFill>
                  <a:srgbClr val="028090"/>
                </a:solidFill>
                <a:latin typeface="Arial"/>
              </a:rPr>
              <a:t>PBS NEWSHOUR · ПРОТЕСТ В КОРЕЕ · 2024</a:t>
            </a:r>
          </a:p>
        </p:txBody>
      </p:sp>
      <p:pic>
        <p:nvPicPr>
          <p:cNvPr id="6" name="Picture 5" descr="s27-korea-npr.png"/>
          <p:cNvPicPr>
            <a:picLocks noChangeAspect="1"/>
          </p:cNvPicPr>
          <p:nvPr/>
        </p:nvPicPr>
        <p:blipFill>
          <a:blip r:embed="rId2"/>
          <a:stretch>
            <a:fillRect/>
          </a:stretch>
        </p:blipFill>
        <p:spPr>
          <a:xfrm>
            <a:off x="640080" y="2361500"/>
            <a:ext cx="4297680" cy="2866519"/>
          </a:xfrm>
          <a:prstGeom prst="rect">
            <a:avLst/>
          </a:prstGeom>
        </p:spPr>
      </p:pic>
      <p:sp>
        <p:nvSpPr>
          <p:cNvPr id="7" name="TextBox 6"/>
          <p:cNvSpPr txBox="1"/>
          <p:nvPr/>
        </p:nvSpPr>
        <p:spPr>
          <a:xfrm>
            <a:off x="5349240" y="1828800"/>
            <a:ext cx="6492240" cy="36576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ЦИФРЫ КРИЗИСА</a:t>
            </a:r>
          </a:p>
        </p:txBody>
      </p:sp>
      <p:sp>
        <p:nvSpPr>
          <p:cNvPr id="8" name="Rounded Rectangle 7"/>
          <p:cNvSpPr/>
          <p:nvPr/>
        </p:nvSpPr>
        <p:spPr>
          <a:xfrm>
            <a:off x="5349240" y="2331720"/>
            <a:ext cx="649224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486400" y="2423160"/>
            <a:ext cx="1828800" cy="594360"/>
          </a:xfrm>
          <a:prstGeom prst="rect">
            <a:avLst/>
          </a:prstGeom>
          <a:noFill/>
        </p:spPr>
        <p:txBody>
          <a:bodyPr wrap="square" lIns="0" rIns="0" tIns="0" bIns="0" anchor="ctr">
            <a:spAutoFit/>
          </a:bodyPr>
          <a:lstStyle/>
          <a:p>
            <a:pPr algn="l">
              <a:lnSpc>
                <a:spcPct val="100000"/>
              </a:lnSpc>
            </a:pPr>
            <a:r>
              <a:rPr sz="2800" b="1" i="0">
                <a:solidFill>
                  <a:srgbClr val="F0AB00"/>
                </a:solidFill>
                <a:latin typeface="Arial"/>
              </a:rPr>
              <a:t>&gt;200</a:t>
            </a:r>
          </a:p>
        </p:txBody>
      </p:sp>
      <p:sp>
        <p:nvSpPr>
          <p:cNvPr id="10" name="TextBox 9"/>
          <p:cNvSpPr txBox="1"/>
          <p:nvPr/>
        </p:nvSpPr>
        <p:spPr>
          <a:xfrm>
            <a:off x="7406640" y="2423160"/>
            <a:ext cx="4297680" cy="594360"/>
          </a:xfrm>
          <a:prstGeom prst="rect">
            <a:avLst/>
          </a:prstGeom>
          <a:noFill/>
        </p:spPr>
        <p:txBody>
          <a:bodyPr wrap="square" lIns="0" rIns="0" tIns="0" bIns="0" anchor="ctr">
            <a:spAutoFit/>
          </a:bodyPr>
          <a:lstStyle/>
          <a:p>
            <a:pPr algn="l">
              <a:lnSpc>
                <a:spcPct val="130000"/>
              </a:lnSpc>
            </a:pPr>
            <a:r>
              <a:rPr sz="1200" b="0" i="0">
                <a:solidFill>
                  <a:srgbClr val="21295C"/>
                </a:solidFill>
                <a:latin typeface="Arial"/>
              </a:rPr>
              <a:t>Telegram-чатов с дипфейк-порно</a:t>
            </a:r>
          </a:p>
        </p:txBody>
      </p:sp>
      <p:sp>
        <p:nvSpPr>
          <p:cNvPr id="11" name="Rounded Rectangle 10"/>
          <p:cNvSpPr/>
          <p:nvPr/>
        </p:nvSpPr>
        <p:spPr>
          <a:xfrm>
            <a:off x="5349240" y="3200400"/>
            <a:ext cx="649224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5486400" y="3291840"/>
            <a:ext cx="1828800" cy="594360"/>
          </a:xfrm>
          <a:prstGeom prst="rect">
            <a:avLst/>
          </a:prstGeom>
          <a:noFill/>
        </p:spPr>
        <p:txBody>
          <a:bodyPr wrap="square" lIns="0" rIns="0" tIns="0" bIns="0" anchor="ctr">
            <a:spAutoFit/>
          </a:bodyPr>
          <a:lstStyle/>
          <a:p>
            <a:pPr algn="l">
              <a:lnSpc>
                <a:spcPct val="100000"/>
              </a:lnSpc>
            </a:pPr>
            <a:r>
              <a:rPr sz="2800" b="1" i="0">
                <a:solidFill>
                  <a:srgbClr val="F0AB00"/>
                </a:solidFill>
                <a:latin typeface="Arial"/>
              </a:rPr>
              <a:t>6 500</a:t>
            </a:r>
          </a:p>
        </p:txBody>
      </p:sp>
      <p:sp>
        <p:nvSpPr>
          <p:cNvPr id="13" name="TextBox 12"/>
          <p:cNvSpPr txBox="1"/>
          <p:nvPr/>
        </p:nvSpPr>
        <p:spPr>
          <a:xfrm>
            <a:off x="7406640" y="3291840"/>
            <a:ext cx="4297680" cy="594360"/>
          </a:xfrm>
          <a:prstGeom prst="rect">
            <a:avLst/>
          </a:prstGeom>
          <a:noFill/>
        </p:spPr>
        <p:txBody>
          <a:bodyPr wrap="square" lIns="0" rIns="0" tIns="0" bIns="0" anchor="ctr">
            <a:spAutoFit/>
          </a:bodyPr>
          <a:lstStyle/>
          <a:p>
            <a:pPr algn="l">
              <a:lnSpc>
                <a:spcPct val="130000"/>
              </a:lnSpc>
            </a:pPr>
            <a:r>
              <a:rPr sz="1200" b="0" i="0">
                <a:solidFill>
                  <a:srgbClr val="21295C"/>
                </a:solidFill>
                <a:latin typeface="Arial"/>
              </a:rPr>
              <a:t>запросов на удаление, янв-июл 2024 (4× к 2023)</a:t>
            </a:r>
          </a:p>
        </p:txBody>
      </p:sp>
      <p:sp>
        <p:nvSpPr>
          <p:cNvPr id="14" name="Rounded Rectangle 13"/>
          <p:cNvSpPr/>
          <p:nvPr/>
        </p:nvSpPr>
        <p:spPr>
          <a:xfrm>
            <a:off x="5349240" y="4069079"/>
            <a:ext cx="649224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86400" y="4160519"/>
            <a:ext cx="1828800" cy="594360"/>
          </a:xfrm>
          <a:prstGeom prst="rect">
            <a:avLst/>
          </a:prstGeom>
          <a:noFill/>
        </p:spPr>
        <p:txBody>
          <a:bodyPr wrap="square" lIns="0" rIns="0" tIns="0" bIns="0" anchor="ctr">
            <a:spAutoFit/>
          </a:bodyPr>
          <a:lstStyle/>
          <a:p>
            <a:pPr algn="l">
              <a:lnSpc>
                <a:spcPct val="100000"/>
              </a:lnSpc>
            </a:pPr>
            <a:r>
              <a:rPr sz="2800" b="1" i="0">
                <a:solidFill>
                  <a:srgbClr val="F0AB00"/>
                </a:solidFill>
                <a:latin typeface="Arial"/>
              </a:rPr>
              <a:t>74%</a:t>
            </a:r>
          </a:p>
        </p:txBody>
      </p:sp>
      <p:sp>
        <p:nvSpPr>
          <p:cNvPr id="16" name="TextBox 15"/>
          <p:cNvSpPr txBox="1"/>
          <p:nvPr/>
        </p:nvSpPr>
        <p:spPr>
          <a:xfrm>
            <a:off x="7406640" y="4160519"/>
            <a:ext cx="4297680" cy="594360"/>
          </a:xfrm>
          <a:prstGeom prst="rect">
            <a:avLst/>
          </a:prstGeom>
          <a:noFill/>
        </p:spPr>
        <p:txBody>
          <a:bodyPr wrap="square" lIns="0" rIns="0" tIns="0" bIns="0" anchor="ctr">
            <a:spAutoFit/>
          </a:bodyPr>
          <a:lstStyle/>
          <a:p>
            <a:pPr algn="l">
              <a:lnSpc>
                <a:spcPct val="130000"/>
              </a:lnSpc>
            </a:pPr>
            <a:r>
              <a:rPr sz="1200" b="0" i="0">
                <a:solidFill>
                  <a:srgbClr val="21295C"/>
                </a:solidFill>
                <a:latin typeface="Arial"/>
              </a:rPr>
              <a:t>подозреваемых — 10-19 лет</a:t>
            </a:r>
          </a:p>
        </p:txBody>
      </p:sp>
      <p:sp>
        <p:nvSpPr>
          <p:cNvPr id="17" name="Rounded Rectangle 16"/>
          <p:cNvSpPr/>
          <p:nvPr/>
        </p:nvSpPr>
        <p:spPr>
          <a:xfrm>
            <a:off x="5349240" y="4937759"/>
            <a:ext cx="6492240" cy="77724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86400" y="5029199"/>
            <a:ext cx="1828800" cy="594360"/>
          </a:xfrm>
          <a:prstGeom prst="rect">
            <a:avLst/>
          </a:prstGeom>
          <a:noFill/>
        </p:spPr>
        <p:txBody>
          <a:bodyPr wrap="square" lIns="0" rIns="0" tIns="0" bIns="0" anchor="ctr">
            <a:spAutoFit/>
          </a:bodyPr>
          <a:lstStyle/>
          <a:p>
            <a:pPr algn="l">
              <a:lnSpc>
                <a:spcPct val="100000"/>
              </a:lnSpc>
            </a:pPr>
            <a:r>
              <a:rPr sz="2800" b="1" i="0">
                <a:solidFill>
                  <a:srgbClr val="F0AB00"/>
                </a:solidFill>
                <a:latin typeface="Arial"/>
              </a:rPr>
              <a:t>793 / 16</a:t>
            </a:r>
          </a:p>
        </p:txBody>
      </p:sp>
      <p:sp>
        <p:nvSpPr>
          <p:cNvPr id="19" name="TextBox 18"/>
          <p:cNvSpPr txBox="1"/>
          <p:nvPr/>
        </p:nvSpPr>
        <p:spPr>
          <a:xfrm>
            <a:off x="7406640" y="5029199"/>
            <a:ext cx="4297680" cy="594360"/>
          </a:xfrm>
          <a:prstGeom prst="rect">
            <a:avLst/>
          </a:prstGeom>
          <a:noFill/>
        </p:spPr>
        <p:txBody>
          <a:bodyPr wrap="square" lIns="0" rIns="0" tIns="0" bIns="0" anchor="ctr">
            <a:spAutoFit/>
          </a:bodyPr>
          <a:lstStyle/>
          <a:p>
            <a:pPr algn="l">
              <a:lnSpc>
                <a:spcPct val="130000"/>
              </a:lnSpc>
            </a:pPr>
            <a:r>
              <a:rPr sz="1200" b="0" i="0">
                <a:solidFill>
                  <a:srgbClr val="21295C"/>
                </a:solidFill>
                <a:latin typeface="Arial"/>
              </a:rPr>
              <a:t>сообщений / уголовных дел (2021 — июл 2024)</a:t>
            </a:r>
          </a:p>
        </p:txBody>
      </p:sp>
      <p:sp>
        <p:nvSpPr>
          <p:cNvPr id="20" name="Rounded Rectangle 19"/>
          <p:cNvSpPr/>
          <p:nvPr/>
        </p:nvSpPr>
        <p:spPr>
          <a:xfrm>
            <a:off x="502920" y="5852160"/>
            <a:ext cx="11247120" cy="868680"/>
          </a:xfrm>
          <a:prstGeom prst="roundRect">
            <a:avLst>
              <a:gd name="adj" fmla="val 25000"/>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5943600"/>
            <a:ext cx="10917936" cy="292608"/>
          </a:xfrm>
          <a:prstGeom prst="rect">
            <a:avLst/>
          </a:prstGeom>
          <a:noFill/>
        </p:spPr>
        <p:txBody>
          <a:bodyPr wrap="square" lIns="0" rIns="0" tIns="0" bIns="0" anchor="t">
            <a:spAutoFit/>
          </a:bodyPr>
          <a:lstStyle/>
          <a:p>
            <a:pPr algn="l">
              <a:lnSpc>
                <a:spcPct val="100000"/>
              </a:lnSpc>
            </a:pPr>
            <a:r>
              <a:rPr sz="1100" b="1" i="0">
                <a:solidFill>
                  <a:srgbClr val="F0AB00"/>
                </a:solidFill>
                <a:latin typeface="Arial"/>
              </a:rPr>
              <a:t>УРОК ДЛЯ ИНЖЕНЕРА</a:t>
            </a:r>
          </a:p>
        </p:txBody>
      </p:sp>
      <p:sp>
        <p:nvSpPr>
          <p:cNvPr id="22" name="TextBox 21"/>
          <p:cNvSpPr txBox="1"/>
          <p:nvPr/>
        </p:nvSpPr>
        <p:spPr>
          <a:xfrm>
            <a:off x="667512" y="6263640"/>
            <a:ext cx="10917936" cy="365759"/>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Доступная возможность + слабый правоприменительный контроль = массовый коллективный вред. Для AI-инструментов для конечных пользователей обязателен слой безопасности (детекция NSFW-контента + верификация возраста + процесс обработки жалоб) ДО запуска.</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Slop + коллапс моделей · Google AI Overviews (Кейс 8)</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«Put glue on pizza» + «eat one rock per day». Shumailov, Nature 2024: рекурсивное обучение → деградация.</a:t>
            </a:r>
          </a:p>
        </p:txBody>
      </p:sp>
      <p:sp>
        <p:nvSpPr>
          <p:cNvPr id="4" name="Rounded Rectangle 3"/>
          <p:cNvSpPr/>
          <p:nvPr/>
        </p:nvSpPr>
        <p:spPr>
          <a:xfrm>
            <a:off x="502920" y="1828800"/>
            <a:ext cx="6400800" cy="3840480"/>
          </a:xfrm>
          <a:prstGeom prst="roundRect">
            <a:avLst>
              <a:gd name="adj" fmla="val 793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6126480" cy="365760"/>
          </a:xfrm>
          <a:prstGeom prst="rect">
            <a:avLst/>
          </a:prstGeom>
          <a:noFill/>
        </p:spPr>
        <p:txBody>
          <a:bodyPr wrap="square" lIns="0" rIns="0" tIns="0" bIns="0" anchor="t">
            <a:spAutoFit/>
          </a:bodyPr>
          <a:lstStyle/>
          <a:p>
            <a:pPr algn="l">
              <a:lnSpc>
                <a:spcPct val="115000"/>
              </a:lnSpc>
            </a:pPr>
            <a:r>
              <a:rPr sz="1000" b="1" i="0">
                <a:solidFill>
                  <a:srgbClr val="028090"/>
                </a:solidFill>
                <a:latin typeface="Arial"/>
              </a:rPr>
              <a:t>GOOGLE AI OVERVIEW · реальные ответы (май 2024)</a:t>
            </a:r>
          </a:p>
        </p:txBody>
      </p:sp>
      <p:sp>
        <p:nvSpPr>
          <p:cNvPr id="6" name="Rounded Rectangle 5"/>
          <p:cNvSpPr/>
          <p:nvPr/>
        </p:nvSpPr>
        <p:spPr>
          <a:xfrm>
            <a:off x="640080" y="2331720"/>
            <a:ext cx="3017520" cy="1554480"/>
          </a:xfrm>
          <a:prstGeom prst="roundRect">
            <a:avLst>
              <a:gd name="adj" fmla="val 6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423160"/>
            <a:ext cx="2834640" cy="365760"/>
          </a:xfrm>
          <a:prstGeom prst="rect">
            <a:avLst/>
          </a:prstGeom>
          <a:noFill/>
        </p:spPr>
        <p:txBody>
          <a:bodyPr wrap="square" lIns="0" rIns="0" tIns="0" bIns="0" anchor="t">
            <a:spAutoFit/>
          </a:bodyPr>
          <a:lstStyle/>
          <a:p>
            <a:pPr algn="l">
              <a:lnSpc>
                <a:spcPct val="120000"/>
              </a:lnSpc>
            </a:pPr>
            <a:r>
              <a:rPr sz="1000" b="1" i="0">
                <a:solidFill>
                  <a:srgbClr val="21295C"/>
                </a:solidFill>
                <a:latin typeface="Arial"/>
              </a:rPr>
              <a:t>«how to keep cheese
from sliding off pizza»</a:t>
            </a:r>
          </a:p>
        </p:txBody>
      </p:sp>
      <p:sp>
        <p:nvSpPr>
          <p:cNvPr id="8" name="Rectangle 7"/>
          <p:cNvSpPr/>
          <p:nvPr/>
        </p:nvSpPr>
        <p:spPr>
          <a:xfrm>
            <a:off x="713232" y="2907792"/>
            <a:ext cx="36576" cy="8686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2926080"/>
            <a:ext cx="2743200" cy="914400"/>
          </a:xfrm>
          <a:prstGeom prst="rect">
            <a:avLst/>
          </a:prstGeom>
          <a:noFill/>
        </p:spPr>
        <p:txBody>
          <a:bodyPr wrap="square" lIns="0" rIns="0" tIns="0" bIns="0" anchor="t">
            <a:spAutoFit/>
          </a:bodyPr>
          <a:lstStyle/>
          <a:p>
            <a:pPr algn="l">
              <a:lnSpc>
                <a:spcPct val="130000"/>
              </a:lnSpc>
            </a:pPr>
            <a:r>
              <a:rPr sz="1000" b="1" i="1">
                <a:solidFill>
                  <a:srgbClr val="21295C"/>
                </a:solidFill>
                <a:latin typeface="Arial"/>
              </a:rPr>
              <a:t>→ AI Overview: «add ⅛ cup of non-toxic glue to the sauce»</a:t>
            </a:r>
          </a:p>
        </p:txBody>
      </p:sp>
      <p:sp>
        <p:nvSpPr>
          <p:cNvPr id="10" name="TextBox 9"/>
          <p:cNvSpPr txBox="1"/>
          <p:nvPr/>
        </p:nvSpPr>
        <p:spPr>
          <a:xfrm>
            <a:off x="777240" y="3703320"/>
            <a:ext cx="2834640" cy="182880"/>
          </a:xfrm>
          <a:prstGeom prst="rect">
            <a:avLst/>
          </a:prstGeom>
          <a:noFill/>
        </p:spPr>
        <p:txBody>
          <a:bodyPr wrap="square" lIns="0" rIns="0" tIns="0" bIns="0" anchor="t">
            <a:spAutoFit/>
          </a:bodyPr>
          <a:lstStyle/>
          <a:p>
            <a:pPr algn="l">
              <a:lnSpc>
                <a:spcPct val="115000"/>
              </a:lnSpc>
            </a:pPr>
            <a:r>
              <a:rPr sz="900" b="0" i="1">
                <a:solidFill>
                  <a:srgbClr val="1C7293"/>
                </a:solidFill>
                <a:latin typeface="Arial"/>
              </a:rPr>
              <a:t>source: шутка из Reddit (11 years old)</a:t>
            </a:r>
          </a:p>
        </p:txBody>
      </p:sp>
      <p:sp>
        <p:nvSpPr>
          <p:cNvPr id="11" name="Rounded Rectangle 10"/>
          <p:cNvSpPr/>
          <p:nvPr/>
        </p:nvSpPr>
        <p:spPr>
          <a:xfrm>
            <a:off x="3840480" y="2331720"/>
            <a:ext cx="2926080" cy="1554480"/>
          </a:xfrm>
          <a:prstGeom prst="roundRect">
            <a:avLst>
              <a:gd name="adj" fmla="val 6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977639" y="2423160"/>
            <a:ext cx="2651760" cy="365760"/>
          </a:xfrm>
          <a:prstGeom prst="rect">
            <a:avLst/>
          </a:prstGeom>
          <a:noFill/>
        </p:spPr>
        <p:txBody>
          <a:bodyPr wrap="square" lIns="0" rIns="0" tIns="0" bIns="0" anchor="t">
            <a:spAutoFit/>
          </a:bodyPr>
          <a:lstStyle/>
          <a:p>
            <a:pPr algn="l">
              <a:lnSpc>
                <a:spcPct val="120000"/>
              </a:lnSpc>
            </a:pPr>
            <a:r>
              <a:rPr sz="1000" b="1" i="0">
                <a:solidFill>
                  <a:srgbClr val="21295C"/>
                </a:solidFill>
                <a:latin typeface="Arial"/>
              </a:rPr>
              <a:t>«how many rocks should
I eat per day?»</a:t>
            </a:r>
          </a:p>
        </p:txBody>
      </p:sp>
      <p:sp>
        <p:nvSpPr>
          <p:cNvPr id="13" name="Rectangle 12"/>
          <p:cNvSpPr/>
          <p:nvPr/>
        </p:nvSpPr>
        <p:spPr>
          <a:xfrm>
            <a:off x="3913632" y="2907792"/>
            <a:ext cx="36576" cy="8686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069080" y="2926080"/>
            <a:ext cx="2560320" cy="914400"/>
          </a:xfrm>
          <a:prstGeom prst="rect">
            <a:avLst/>
          </a:prstGeom>
          <a:noFill/>
        </p:spPr>
        <p:txBody>
          <a:bodyPr wrap="square" lIns="0" rIns="0" tIns="0" bIns="0" anchor="t">
            <a:spAutoFit/>
          </a:bodyPr>
          <a:lstStyle/>
          <a:p>
            <a:pPr algn="l">
              <a:lnSpc>
                <a:spcPct val="130000"/>
              </a:lnSpc>
            </a:pPr>
            <a:r>
              <a:rPr sz="1000" b="1" i="1">
                <a:solidFill>
                  <a:srgbClr val="21295C"/>
                </a:solidFill>
                <a:latin typeface="Arial"/>
              </a:rPr>
              <a:t>→ AI Overview: «at least one small rock per day»</a:t>
            </a:r>
          </a:p>
        </p:txBody>
      </p:sp>
      <p:sp>
        <p:nvSpPr>
          <p:cNvPr id="15" name="TextBox 14"/>
          <p:cNvSpPr txBox="1"/>
          <p:nvPr/>
        </p:nvSpPr>
        <p:spPr>
          <a:xfrm>
            <a:off x="3977639" y="3703320"/>
            <a:ext cx="2651760" cy="182880"/>
          </a:xfrm>
          <a:prstGeom prst="rect">
            <a:avLst/>
          </a:prstGeom>
          <a:noFill/>
        </p:spPr>
        <p:txBody>
          <a:bodyPr wrap="square" lIns="0" rIns="0" tIns="0" bIns="0" anchor="t">
            <a:spAutoFit/>
          </a:bodyPr>
          <a:lstStyle/>
          <a:p>
            <a:pPr algn="l">
              <a:lnSpc>
                <a:spcPct val="115000"/>
              </a:lnSpc>
            </a:pPr>
            <a:r>
              <a:rPr sz="900" b="0" i="1">
                <a:solidFill>
                  <a:srgbClr val="1C7293"/>
                </a:solidFill>
                <a:latin typeface="Arial"/>
              </a:rPr>
              <a:t>source: The Onion (satire)</a:t>
            </a:r>
          </a:p>
        </p:txBody>
      </p:sp>
      <p:sp>
        <p:nvSpPr>
          <p:cNvPr id="16" name="Rounded Rectangle 15"/>
          <p:cNvSpPr/>
          <p:nvPr/>
        </p:nvSpPr>
        <p:spPr>
          <a:xfrm>
            <a:off x="640080" y="4114800"/>
            <a:ext cx="6126480" cy="1417320"/>
          </a:xfrm>
          <a:prstGeom prst="roundRect">
            <a:avLst>
              <a:gd name="adj" fmla="val 8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7" name="Picture 16" descr="s28-ai-overview-glue.png"/>
          <p:cNvPicPr>
            <a:picLocks noChangeAspect="1"/>
          </p:cNvPicPr>
          <p:nvPr/>
        </p:nvPicPr>
        <p:blipFill>
          <a:blip r:embed="rId2"/>
          <a:stretch>
            <a:fillRect/>
          </a:stretch>
        </p:blipFill>
        <p:spPr>
          <a:xfrm>
            <a:off x="799217" y="4206240"/>
            <a:ext cx="1144765" cy="1234440"/>
          </a:xfrm>
          <a:prstGeom prst="rect">
            <a:avLst/>
          </a:prstGeom>
        </p:spPr>
      </p:pic>
      <p:sp>
        <p:nvSpPr>
          <p:cNvPr id="18" name="TextBox 17"/>
          <p:cNvSpPr txBox="1"/>
          <p:nvPr/>
        </p:nvSpPr>
        <p:spPr>
          <a:xfrm>
            <a:off x="2103120" y="4206240"/>
            <a:ext cx="4572000" cy="365760"/>
          </a:xfrm>
          <a:prstGeom prst="rect">
            <a:avLst/>
          </a:prstGeom>
          <a:noFill/>
        </p:spPr>
        <p:txBody>
          <a:bodyPr wrap="square" lIns="0" rIns="0" tIns="0" bIns="0" anchor="t">
            <a:spAutoFit/>
          </a:bodyPr>
          <a:lstStyle/>
          <a:p>
            <a:pPr algn="l">
              <a:lnSpc>
                <a:spcPct val="115000"/>
              </a:lnSpc>
            </a:pPr>
            <a:r>
              <a:rPr sz="1100" b="1" i="0">
                <a:solidFill>
                  <a:srgbClr val="F0AB00"/>
                </a:solidFill>
                <a:latin typeface="Arial"/>
              </a:rPr>
              <a:t>NATURE · vol 631 · p 755-759 (2024)</a:t>
            </a:r>
          </a:p>
        </p:txBody>
      </p:sp>
      <p:sp>
        <p:nvSpPr>
          <p:cNvPr id="19" name="TextBox 18"/>
          <p:cNvSpPr txBox="1"/>
          <p:nvPr/>
        </p:nvSpPr>
        <p:spPr>
          <a:xfrm>
            <a:off x="2103120" y="4617720"/>
            <a:ext cx="4572000" cy="502920"/>
          </a:xfrm>
          <a:prstGeom prst="rect">
            <a:avLst/>
          </a:prstGeom>
          <a:noFill/>
        </p:spPr>
        <p:txBody>
          <a:bodyPr wrap="square" lIns="0" rIns="0" tIns="0" bIns="0" anchor="t">
            <a:spAutoFit/>
          </a:bodyPr>
          <a:lstStyle/>
          <a:p>
            <a:pPr algn="l">
              <a:lnSpc>
                <a:spcPct val="125000"/>
              </a:lnSpc>
            </a:pPr>
            <a:r>
              <a:rPr sz="1100" b="1" i="0">
                <a:solidFill>
                  <a:srgbClr val="FFFFFF"/>
                </a:solidFill>
                <a:latin typeface="Arial"/>
              </a:rPr>
              <a:t>Shumailov et al. — «AI-модели коллапсируют при обучении на рекурсивно-сгенерированных данных»</a:t>
            </a:r>
          </a:p>
        </p:txBody>
      </p:sp>
      <p:sp>
        <p:nvSpPr>
          <p:cNvPr id="20" name="TextBox 19"/>
          <p:cNvSpPr txBox="1"/>
          <p:nvPr/>
        </p:nvSpPr>
        <p:spPr>
          <a:xfrm>
            <a:off x="777240" y="5166360"/>
            <a:ext cx="5852160" cy="320040"/>
          </a:xfrm>
          <a:prstGeom prst="rect">
            <a:avLst/>
          </a:prstGeom>
          <a:noFill/>
        </p:spPr>
        <p:txBody>
          <a:bodyPr wrap="square" lIns="0" rIns="0" tIns="0" bIns="0" anchor="t">
            <a:spAutoFit/>
          </a:bodyPr>
          <a:lstStyle/>
          <a:p>
            <a:pPr algn="l">
              <a:lnSpc>
                <a:spcPct val="100000"/>
              </a:lnSpc>
            </a:pPr>
            <a:r>
              <a:rPr sz="1100" b="0" i="1">
                <a:solidFill>
                  <a:srgbClr val="FFFFFF"/>
                </a:solidFill>
                <a:latin typeface="Arial"/>
              </a:rPr>
              <a:t>MAD: Model Autophagy Disorder (расстройство аутофагии моделей)</a:t>
            </a:r>
          </a:p>
        </p:txBody>
      </p:sp>
      <p:sp>
        <p:nvSpPr>
          <p:cNvPr id="21" name="Rounded Rectangle 20"/>
          <p:cNvSpPr/>
          <p:nvPr/>
        </p:nvSpPr>
        <p:spPr>
          <a:xfrm>
            <a:off x="7040880" y="1828800"/>
            <a:ext cx="4800600" cy="3840480"/>
          </a:xfrm>
          <a:prstGeom prst="roundRect">
            <a:avLst>
              <a:gd name="adj" fmla="val 7936"/>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05472" y="1920240"/>
            <a:ext cx="4471416" cy="292608"/>
          </a:xfrm>
          <a:prstGeom prst="rect">
            <a:avLst/>
          </a:prstGeom>
          <a:noFill/>
        </p:spPr>
        <p:txBody>
          <a:bodyPr wrap="square" lIns="0" rIns="0" tIns="0" bIns="0" anchor="t">
            <a:spAutoFit/>
          </a:bodyPr>
          <a:lstStyle/>
          <a:p>
            <a:pPr algn="l">
              <a:lnSpc>
                <a:spcPct val="100000"/>
              </a:lnSpc>
            </a:pPr>
            <a:r>
              <a:rPr sz="1100" b="1" i="0">
                <a:solidFill>
                  <a:srgbClr val="F0AB00"/>
                </a:solidFill>
                <a:latin typeface="Arial"/>
              </a:rPr>
              <a:t>УРОК ДЛЯ ИНЖЕНЕРА</a:t>
            </a:r>
          </a:p>
        </p:txBody>
      </p:sp>
      <p:sp>
        <p:nvSpPr>
          <p:cNvPr id="23" name="TextBox 22"/>
          <p:cNvSpPr txBox="1"/>
          <p:nvPr/>
        </p:nvSpPr>
        <p:spPr>
          <a:xfrm>
            <a:off x="7205472" y="2240280"/>
            <a:ext cx="4471416" cy="333756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Качество источников важнее объёма.
Модель на шутках Reddit без фильтрации проигрывает модели на курируемом датасете — даже если курируемый в 10× меньше.
Это объясняет, почему Adobe Firefly работает: лицензированный корпус, а не данные, спарсенные из веба.</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200" b="1" i="0">
                <a:solidFill>
                  <a:srgbClr val="21295C"/>
                </a:solidFill>
                <a:latin typeface="Arial"/>
              </a:rPr>
              <a:t>Sports Illustrated фейковые авторы + Amazon фейковые книги (Кейс 9)</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SI, ноя 2023 · статьи с AI-сгенерированными фото профилей. Authors Guild: всплеск фейковых книг на Amazon Kindle с AI-псевдонимами.</a:t>
            </a:r>
          </a:p>
        </p:txBody>
      </p:sp>
      <p:sp>
        <p:nvSpPr>
          <p:cNvPr id="4" name="Rounded Rectangle 3"/>
          <p:cNvSpPr/>
          <p:nvPr/>
        </p:nvSpPr>
        <p:spPr>
          <a:xfrm>
            <a:off x="502920" y="1828800"/>
            <a:ext cx="502920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01952"/>
            <a:ext cx="4754880" cy="274320"/>
          </a:xfrm>
          <a:prstGeom prst="rect">
            <a:avLst/>
          </a:prstGeom>
          <a:noFill/>
        </p:spPr>
        <p:txBody>
          <a:bodyPr wrap="square" lIns="0" rIns="0" tIns="0" bIns="0" anchor="t">
            <a:spAutoFit/>
          </a:bodyPr>
          <a:lstStyle/>
          <a:p>
            <a:pPr algn="l">
              <a:lnSpc>
                <a:spcPct val="115000"/>
              </a:lnSpc>
            </a:pPr>
            <a:r>
              <a:rPr sz="1000" b="1" i="0">
                <a:solidFill>
                  <a:srgbClr val="028090"/>
                </a:solidFill>
                <a:latin typeface="Arial"/>
              </a:rPr>
              <a:t>CNN · SPORTS ILLUSTRATED ФЕЙКОВЫЕ АВТОРЫ · 27 НОЯ 2023</a:t>
            </a:r>
          </a:p>
        </p:txBody>
      </p:sp>
      <p:pic>
        <p:nvPicPr>
          <p:cNvPr id="6" name="Picture 5" descr="s29-si-futurism.png"/>
          <p:cNvPicPr>
            <a:picLocks noChangeAspect="1"/>
          </p:cNvPicPr>
          <p:nvPr/>
        </p:nvPicPr>
        <p:blipFill>
          <a:blip r:embed="rId2"/>
          <a:stretch>
            <a:fillRect/>
          </a:stretch>
        </p:blipFill>
        <p:spPr>
          <a:xfrm>
            <a:off x="863600" y="2194560"/>
            <a:ext cx="4307840" cy="2423160"/>
          </a:xfrm>
          <a:prstGeom prst="rect">
            <a:avLst/>
          </a:prstGeom>
        </p:spPr>
      </p:pic>
      <p:sp>
        <p:nvSpPr>
          <p:cNvPr id="7" name="Rounded Rectangle 6"/>
          <p:cNvSpPr/>
          <p:nvPr/>
        </p:nvSpPr>
        <p:spPr>
          <a:xfrm>
            <a:off x="640080" y="4754880"/>
            <a:ext cx="4754880" cy="365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000" b="1">
                <a:solidFill>
                  <a:srgbClr val="21295C"/>
                </a:solidFill>
                <a:latin typeface="Arial"/>
              </a:rPr>
              <a:t>«Drew Ortiz» — полностью вымышленный · AI-портрет + AI-текст</a:t>
            </a:r>
          </a:p>
        </p:txBody>
      </p:sp>
      <p:sp>
        <p:nvSpPr>
          <p:cNvPr id="8" name="Rounded Rectangle 7"/>
          <p:cNvSpPr/>
          <p:nvPr/>
        </p:nvSpPr>
        <p:spPr>
          <a:xfrm>
            <a:off x="5760720" y="1828800"/>
            <a:ext cx="6080760" cy="365760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897880" y="1920240"/>
            <a:ext cx="5760720" cy="36576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AMAZON KINDLE 2023-24 · ГИЛЬДИЯ АВТОРОВ</a:t>
            </a:r>
          </a:p>
        </p:txBody>
      </p:sp>
      <p:sp>
        <p:nvSpPr>
          <p:cNvPr id="10" name="TextBox 9"/>
          <p:cNvSpPr txBox="1"/>
          <p:nvPr/>
        </p:nvSpPr>
        <p:spPr>
          <a:xfrm>
            <a:off x="5897880" y="2331720"/>
            <a:ext cx="5760720" cy="914400"/>
          </a:xfrm>
          <a:prstGeom prst="rect">
            <a:avLst/>
          </a:prstGeom>
          <a:noFill/>
        </p:spPr>
        <p:txBody>
          <a:bodyPr wrap="square" lIns="0" rIns="0" tIns="0" bIns="0" anchor="ctr">
            <a:spAutoFit/>
          </a:bodyPr>
          <a:lstStyle/>
          <a:p>
            <a:pPr algn="ctr">
              <a:lnSpc>
                <a:spcPct val="100000"/>
              </a:lnSpc>
            </a:pPr>
            <a:r>
              <a:rPr sz="4400" b="1" i="0">
                <a:solidFill>
                  <a:srgbClr val="F0AB00"/>
                </a:solidFill>
                <a:latin typeface="Arial"/>
              </a:rPr>
              <a:t>AI-ПСЕВДОНИМЫ</a:t>
            </a:r>
          </a:p>
        </p:txBody>
      </p:sp>
      <p:sp>
        <p:nvSpPr>
          <p:cNvPr id="11" name="TextBox 10"/>
          <p:cNvSpPr txBox="1"/>
          <p:nvPr/>
        </p:nvSpPr>
        <p:spPr>
          <a:xfrm>
            <a:off x="5897880" y="3246120"/>
            <a:ext cx="5760720" cy="457200"/>
          </a:xfrm>
          <a:prstGeom prst="rect">
            <a:avLst/>
          </a:prstGeom>
          <a:noFill/>
        </p:spPr>
        <p:txBody>
          <a:bodyPr wrap="square" lIns="0" rIns="0" tIns="0" bIns="0" anchor="t">
            <a:spAutoFit/>
          </a:bodyPr>
          <a:lstStyle/>
          <a:p>
            <a:pPr algn="ctr">
              <a:lnSpc>
                <a:spcPct val="115000"/>
              </a:lnSpc>
            </a:pPr>
            <a:r>
              <a:rPr sz="1300" b="1" i="1">
                <a:solidFill>
                  <a:srgbClr val="21295C"/>
                </a:solidFill>
                <a:latin typeface="Arial"/>
              </a:rPr>
              <a:t>всплеск фейковых книг (Authors Guild 2023-24)</a:t>
            </a:r>
          </a:p>
        </p:txBody>
      </p:sp>
      <p:sp>
        <p:nvSpPr>
          <p:cNvPr id="12" name="TextBox 11"/>
          <p:cNvSpPr txBox="1"/>
          <p:nvPr/>
        </p:nvSpPr>
        <p:spPr>
          <a:xfrm>
            <a:off x="5897880" y="3749039"/>
            <a:ext cx="5760720" cy="1691640"/>
          </a:xfrm>
          <a:prstGeom prst="rect">
            <a:avLst/>
          </a:prstGeom>
          <a:noFill/>
        </p:spPr>
        <p:txBody>
          <a:bodyPr wrap="square" lIns="0" rIns="0" tIns="0" bIns="0" anchor="t">
            <a:spAutoFit/>
          </a:bodyPr>
          <a:lstStyle/>
          <a:p>
            <a:pPr algn="ctr">
              <a:lnSpc>
                <a:spcPct val="140000"/>
              </a:lnSpc>
            </a:pPr>
            <a:r>
              <a:rPr sz="1100" b="0" i="1">
                <a:solidFill>
                  <a:srgbClr val="6B7685"/>
                </a:solidFill>
                <a:latin typeface="Arial"/>
              </a:rPr>
              <a:t>AI-сгенерированные knockoffs выдают себя за реальных jazz-figures, финансовых консультантов
«Frank Gioia» · «Ted Alkyer» — fakes реальных jazz-персоналий
Amazon ввёл лимит 3 книги/день + AI-disclosure</a:t>
            </a:r>
          </a:p>
        </p:txBody>
      </p:sp>
      <p:sp>
        <p:nvSpPr>
          <p:cNvPr id="13" name="Rounded Rectangle 12"/>
          <p:cNvSpPr/>
          <p:nvPr/>
        </p:nvSpPr>
        <p:spPr>
          <a:xfrm>
            <a:off x="502920" y="5669280"/>
            <a:ext cx="11247120" cy="914400"/>
          </a:xfrm>
          <a:prstGeom prst="roundRect">
            <a:avLst>
              <a:gd name="adj" fmla="val 25000"/>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5760720"/>
            <a:ext cx="10917936" cy="292608"/>
          </a:xfrm>
          <a:prstGeom prst="rect">
            <a:avLst/>
          </a:prstGeom>
          <a:noFill/>
        </p:spPr>
        <p:txBody>
          <a:bodyPr wrap="square" lIns="0" rIns="0" tIns="0" bIns="0" anchor="t">
            <a:spAutoFit/>
          </a:bodyPr>
          <a:lstStyle/>
          <a:p>
            <a:pPr algn="l">
              <a:lnSpc>
                <a:spcPct val="100000"/>
              </a:lnSpc>
            </a:pPr>
            <a:r>
              <a:rPr sz="1100" b="1" i="0">
                <a:solidFill>
                  <a:srgbClr val="F0AB00"/>
                </a:solidFill>
                <a:latin typeface="Arial"/>
              </a:rPr>
              <a:t>УРОК ДЛЯ ИНЖЕНЕРА</a:t>
            </a:r>
          </a:p>
        </p:txBody>
      </p:sp>
      <p:sp>
        <p:nvSpPr>
          <p:cNvPr id="15" name="TextBox 14"/>
          <p:cNvSpPr txBox="1"/>
          <p:nvPr/>
        </p:nvSpPr>
        <p:spPr>
          <a:xfrm>
            <a:off x="667512" y="6080760"/>
            <a:ext cx="10917936" cy="411479"/>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Накопленное доверие — ключевой актив бренда. AI-псевдонимы разрушают его моментально. Если публикуешь под именем — имя должно быть реальным человеком ИЛИ авторство AI должно быть явно раскрыто.</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Маркетинговый провал — Toys R Us + Coca-Cola (Кейс 10)</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Toys R Us Cannes Lions 2024 — разворот тональности −10 п.п. Coca-Cola Holidays 2024 AI-реклама — вирусный негатив.</a:t>
            </a:r>
          </a:p>
        </p:txBody>
      </p:sp>
      <p:sp>
        <p:nvSpPr>
          <p:cNvPr id="4" name="Rounded Rectangle 3"/>
          <p:cNvSpPr/>
          <p:nvPr/>
        </p:nvSpPr>
        <p:spPr>
          <a:xfrm>
            <a:off x="502920" y="1828800"/>
            <a:ext cx="548640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920240"/>
            <a:ext cx="5212080" cy="36576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TOYS R US STUDIOS · SORA-РЕКЛАМА · CANNES 2024</a:t>
            </a:r>
          </a:p>
        </p:txBody>
      </p:sp>
      <p:pic>
        <p:nvPicPr>
          <p:cNvPr id="6" name="Picture 5" descr="s30-toysrus-cannes.png"/>
          <p:cNvPicPr>
            <a:picLocks noChangeAspect="1"/>
          </p:cNvPicPr>
          <p:nvPr/>
        </p:nvPicPr>
        <p:blipFill>
          <a:blip r:embed="rId2"/>
          <a:stretch>
            <a:fillRect/>
          </a:stretch>
        </p:blipFill>
        <p:spPr>
          <a:xfrm>
            <a:off x="1620520" y="2240280"/>
            <a:ext cx="3251200" cy="1828800"/>
          </a:xfrm>
          <a:prstGeom prst="rect">
            <a:avLst/>
          </a:prstGeom>
        </p:spPr>
      </p:pic>
      <p:sp>
        <p:nvSpPr>
          <p:cNvPr id="7" name="Rounded Rectangle 6"/>
          <p:cNvSpPr/>
          <p:nvPr/>
        </p:nvSpPr>
        <p:spPr>
          <a:xfrm>
            <a:off x="6263640" y="1828800"/>
            <a:ext cx="5486400" cy="2331720"/>
          </a:xfrm>
          <a:prstGeom prst="roundRect">
            <a:avLst>
              <a:gd name="adj" fmla="val 1307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0" y="1920240"/>
            <a:ext cx="5212080" cy="36576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COCA-COLA · «HOLIDAYS ARE COMING» AI · 2024</a:t>
            </a:r>
          </a:p>
        </p:txBody>
      </p:sp>
      <p:pic>
        <p:nvPicPr>
          <p:cNvPr id="9" name="Picture 8" descr="s30-coca-secret.png"/>
          <p:cNvPicPr>
            <a:picLocks noChangeAspect="1"/>
          </p:cNvPicPr>
          <p:nvPr/>
        </p:nvPicPr>
        <p:blipFill>
          <a:blip r:embed="rId3"/>
          <a:stretch>
            <a:fillRect/>
          </a:stretch>
        </p:blipFill>
        <p:spPr>
          <a:xfrm>
            <a:off x="7381240" y="2240280"/>
            <a:ext cx="3251200" cy="1828800"/>
          </a:xfrm>
          <a:prstGeom prst="rect">
            <a:avLst/>
          </a:prstGeom>
        </p:spPr>
      </p:pic>
      <p:sp>
        <p:nvSpPr>
          <p:cNvPr id="10" name="Rounded Rectangle 9"/>
          <p:cNvSpPr/>
          <p:nvPr/>
        </p:nvSpPr>
        <p:spPr>
          <a:xfrm>
            <a:off x="502920" y="4297680"/>
            <a:ext cx="5486400" cy="1463040"/>
          </a:xfrm>
          <a:prstGeom prst="roundRect">
            <a:avLst>
              <a:gd name="adj" fmla="val 8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4370832"/>
            <a:ext cx="5212080" cy="274320"/>
          </a:xfrm>
          <a:prstGeom prst="rect">
            <a:avLst/>
          </a:prstGeom>
          <a:noFill/>
        </p:spPr>
        <p:txBody>
          <a:bodyPr wrap="square" lIns="0" rIns="0" tIns="0" bIns="0" anchor="t">
            <a:spAutoFit/>
          </a:bodyPr>
          <a:lstStyle/>
          <a:p>
            <a:pPr algn="l">
              <a:lnSpc>
                <a:spcPct val="115000"/>
              </a:lnSpc>
            </a:pPr>
            <a:r>
              <a:rPr sz="1000" b="1" i="0">
                <a:solidFill>
                  <a:srgbClr val="028090"/>
                </a:solidFill>
                <a:latin typeface="Arial"/>
              </a:rPr>
              <a:t>TOYS R US · РАЗВОРОТ ТОНАЛЬНОСТИ (июнь 2024)</a:t>
            </a:r>
          </a:p>
        </p:txBody>
      </p:sp>
      <p:sp>
        <p:nvSpPr>
          <p:cNvPr id="12" name="TextBox 11"/>
          <p:cNvSpPr txBox="1"/>
          <p:nvPr/>
        </p:nvSpPr>
        <p:spPr>
          <a:xfrm>
            <a:off x="640080" y="4663440"/>
            <a:ext cx="2651760" cy="457200"/>
          </a:xfrm>
          <a:prstGeom prst="rect">
            <a:avLst/>
          </a:prstGeom>
          <a:noFill/>
        </p:spPr>
        <p:txBody>
          <a:bodyPr wrap="square" lIns="0" rIns="0" tIns="0" bIns="0" anchor="ctr">
            <a:spAutoFit/>
          </a:bodyPr>
          <a:lstStyle/>
          <a:p>
            <a:pPr algn="l">
              <a:lnSpc>
                <a:spcPct val="115000"/>
              </a:lnSpc>
            </a:pPr>
            <a:r>
              <a:rPr sz="1000" b="0" i="1">
                <a:solidFill>
                  <a:srgbClr val="6B7685"/>
                </a:solidFill>
                <a:latin typeface="Arial"/>
              </a:rPr>
              <a:t>ПОЛОЖИТЕЛЬНЫЕ</a:t>
            </a:r>
          </a:p>
        </p:txBody>
      </p:sp>
      <p:sp>
        <p:nvSpPr>
          <p:cNvPr id="13" name="TextBox 12"/>
          <p:cNvSpPr txBox="1"/>
          <p:nvPr/>
        </p:nvSpPr>
        <p:spPr>
          <a:xfrm>
            <a:off x="640080" y="4983480"/>
            <a:ext cx="2651760" cy="457200"/>
          </a:xfrm>
          <a:prstGeom prst="rect">
            <a:avLst/>
          </a:prstGeom>
          <a:noFill/>
        </p:spPr>
        <p:txBody>
          <a:bodyPr wrap="square" lIns="0" rIns="0" tIns="0" bIns="0" anchor="ctr">
            <a:spAutoFit/>
          </a:bodyPr>
          <a:lstStyle/>
          <a:p>
            <a:pPr algn="l">
              <a:lnSpc>
                <a:spcPct val="115000"/>
              </a:lnSpc>
            </a:pPr>
            <a:r>
              <a:rPr sz="1400" b="1" i="0">
                <a:solidFill>
                  <a:srgbClr val="21295C"/>
                </a:solidFill>
                <a:latin typeface="Arial"/>
              </a:rPr>
              <a:t>+12.2%  →  +3.4%</a:t>
            </a:r>
          </a:p>
        </p:txBody>
      </p:sp>
      <p:sp>
        <p:nvSpPr>
          <p:cNvPr id="14" name="TextBox 13"/>
          <p:cNvSpPr txBox="1"/>
          <p:nvPr/>
        </p:nvSpPr>
        <p:spPr>
          <a:xfrm>
            <a:off x="3337560" y="4663440"/>
            <a:ext cx="2468880" cy="457200"/>
          </a:xfrm>
          <a:prstGeom prst="rect">
            <a:avLst/>
          </a:prstGeom>
          <a:noFill/>
        </p:spPr>
        <p:txBody>
          <a:bodyPr wrap="square" lIns="0" rIns="0" tIns="0" bIns="0" anchor="ctr">
            <a:spAutoFit/>
          </a:bodyPr>
          <a:lstStyle/>
          <a:p>
            <a:pPr algn="l">
              <a:lnSpc>
                <a:spcPct val="115000"/>
              </a:lnSpc>
            </a:pPr>
            <a:r>
              <a:rPr sz="1000" b="0" i="1">
                <a:solidFill>
                  <a:srgbClr val="6B7685"/>
                </a:solidFill>
                <a:latin typeface="Arial"/>
              </a:rPr>
              <a:t>ОТРИЦАТЕЛЬНЫЕ</a:t>
            </a:r>
          </a:p>
        </p:txBody>
      </p:sp>
      <p:sp>
        <p:nvSpPr>
          <p:cNvPr id="15" name="TextBox 14"/>
          <p:cNvSpPr txBox="1"/>
          <p:nvPr/>
        </p:nvSpPr>
        <p:spPr>
          <a:xfrm>
            <a:off x="3337560" y="4983480"/>
            <a:ext cx="2468880" cy="457200"/>
          </a:xfrm>
          <a:prstGeom prst="rect">
            <a:avLst/>
          </a:prstGeom>
          <a:noFill/>
        </p:spPr>
        <p:txBody>
          <a:bodyPr wrap="square" lIns="0" rIns="0" tIns="0" bIns="0" anchor="ctr">
            <a:spAutoFit/>
          </a:bodyPr>
          <a:lstStyle/>
          <a:p>
            <a:pPr algn="l">
              <a:lnSpc>
                <a:spcPct val="115000"/>
              </a:lnSpc>
            </a:pPr>
            <a:r>
              <a:rPr sz="1400" b="1" i="0">
                <a:solidFill>
                  <a:srgbClr val="F0AB00"/>
                </a:solidFill>
                <a:latin typeface="Arial"/>
              </a:rPr>
              <a:t>13.5%  →  53.4%</a:t>
            </a:r>
          </a:p>
        </p:txBody>
      </p:sp>
      <p:sp>
        <p:nvSpPr>
          <p:cNvPr id="16" name="TextBox 15"/>
          <p:cNvSpPr txBox="1"/>
          <p:nvPr/>
        </p:nvSpPr>
        <p:spPr>
          <a:xfrm>
            <a:off x="640080" y="5394960"/>
            <a:ext cx="5212080" cy="274320"/>
          </a:xfrm>
          <a:prstGeom prst="rect">
            <a:avLst/>
          </a:prstGeom>
          <a:noFill/>
        </p:spPr>
        <p:txBody>
          <a:bodyPr wrap="square" lIns="0" rIns="0" tIns="0" bIns="0" anchor="t">
            <a:spAutoFit/>
          </a:bodyPr>
          <a:lstStyle/>
          <a:p>
            <a:pPr algn="l">
              <a:lnSpc>
                <a:spcPct val="115000"/>
              </a:lnSpc>
            </a:pPr>
            <a:r>
              <a:rPr sz="1000" b="0" i="1">
                <a:solidFill>
                  <a:srgbClr val="21295C"/>
                </a:solidFill>
                <a:latin typeface="Arial"/>
              </a:rPr>
              <a:t>−8.8 п.п. положительных · +39.9 п.п. отрицательных</a:t>
            </a:r>
          </a:p>
        </p:txBody>
      </p:sp>
      <p:sp>
        <p:nvSpPr>
          <p:cNvPr id="17" name="Rounded Rectangle 16"/>
          <p:cNvSpPr/>
          <p:nvPr/>
        </p:nvSpPr>
        <p:spPr>
          <a:xfrm>
            <a:off x="6263640" y="4297680"/>
            <a:ext cx="5486400" cy="1463040"/>
          </a:xfrm>
          <a:prstGeom prst="roundRect">
            <a:avLst>
              <a:gd name="adj" fmla="val 8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0" y="4370832"/>
            <a:ext cx="5212080" cy="274320"/>
          </a:xfrm>
          <a:prstGeom prst="rect">
            <a:avLst/>
          </a:prstGeom>
          <a:noFill/>
        </p:spPr>
        <p:txBody>
          <a:bodyPr wrap="square" lIns="0" rIns="0" tIns="0" bIns="0" anchor="t">
            <a:spAutoFit/>
          </a:bodyPr>
          <a:lstStyle/>
          <a:p>
            <a:pPr algn="l">
              <a:lnSpc>
                <a:spcPct val="115000"/>
              </a:lnSpc>
            </a:pPr>
            <a:r>
              <a:rPr sz="1000" b="1" i="0">
                <a:solidFill>
                  <a:srgbClr val="028090"/>
                </a:solidFill>
                <a:latin typeface="Arial"/>
              </a:rPr>
              <a:t>COCA-COLA AI-РЕКЛАМА · НЕГАТИВ (ноя 2024)</a:t>
            </a:r>
          </a:p>
        </p:txBody>
      </p:sp>
      <p:sp>
        <p:nvSpPr>
          <p:cNvPr id="19" name="TextBox 18"/>
          <p:cNvSpPr txBox="1"/>
          <p:nvPr/>
        </p:nvSpPr>
        <p:spPr>
          <a:xfrm>
            <a:off x="6400800" y="4663440"/>
            <a:ext cx="5212080" cy="457200"/>
          </a:xfrm>
          <a:prstGeom prst="rect">
            <a:avLst/>
          </a:prstGeom>
          <a:noFill/>
        </p:spPr>
        <p:txBody>
          <a:bodyPr wrap="square" lIns="0" rIns="0" tIns="0" bIns="0" anchor="ctr">
            <a:spAutoFit/>
          </a:bodyPr>
          <a:lstStyle/>
          <a:p>
            <a:pPr algn="l">
              <a:lnSpc>
                <a:spcPct val="120000"/>
              </a:lnSpc>
            </a:pPr>
            <a:r>
              <a:rPr sz="1100" b="0" i="1">
                <a:solidFill>
                  <a:srgbClr val="21295C"/>
                </a:solidFill>
                <a:latin typeface="Arial"/>
              </a:rPr>
              <a:t>«Бездушно» · «жуткие лица» · «колёса грузовика крутятся не туда»</a:t>
            </a:r>
          </a:p>
        </p:txBody>
      </p:sp>
      <p:sp>
        <p:nvSpPr>
          <p:cNvPr id="20" name="TextBox 19"/>
          <p:cNvSpPr txBox="1"/>
          <p:nvPr/>
        </p:nvSpPr>
        <p:spPr>
          <a:xfrm>
            <a:off x="6400800" y="5166360"/>
            <a:ext cx="5212080" cy="457200"/>
          </a:xfrm>
          <a:prstGeom prst="rect">
            <a:avLst/>
          </a:prstGeom>
          <a:noFill/>
        </p:spPr>
        <p:txBody>
          <a:bodyPr wrap="square" lIns="0" rIns="0" tIns="0" bIns="0" anchor="ctr">
            <a:spAutoFit/>
          </a:bodyPr>
          <a:lstStyle/>
          <a:p>
            <a:pPr algn="l">
              <a:lnSpc>
                <a:spcPct val="115000"/>
              </a:lnSpc>
            </a:pPr>
            <a:r>
              <a:rPr sz="1100" b="1" i="0">
                <a:solidFill>
                  <a:srgbClr val="F0AB00"/>
                </a:solidFill>
                <a:latin typeface="Arial"/>
              </a:rPr>
              <a:t>100 сотрудников · 70 000 AI-клипов · вирусные насмешки</a:t>
            </a:r>
          </a:p>
        </p:txBody>
      </p:sp>
      <p:sp>
        <p:nvSpPr>
          <p:cNvPr id="21" name="Rounded Rectangle 20"/>
          <p:cNvSpPr/>
          <p:nvPr/>
        </p:nvSpPr>
        <p:spPr>
          <a:xfrm>
            <a:off x="502920" y="5943600"/>
            <a:ext cx="11247120" cy="822960"/>
          </a:xfrm>
          <a:prstGeom prst="roundRect">
            <a:avLst>
              <a:gd name="adj" fmla="val 25000"/>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67512" y="6035040"/>
            <a:ext cx="10917936" cy="292608"/>
          </a:xfrm>
          <a:prstGeom prst="rect">
            <a:avLst/>
          </a:prstGeom>
          <a:noFill/>
        </p:spPr>
        <p:txBody>
          <a:bodyPr wrap="square" lIns="0" rIns="0" tIns="0" bIns="0" anchor="t">
            <a:spAutoFit/>
          </a:bodyPr>
          <a:lstStyle/>
          <a:p>
            <a:pPr algn="l">
              <a:lnSpc>
                <a:spcPct val="100000"/>
              </a:lnSpc>
            </a:pPr>
            <a:r>
              <a:rPr sz="1100" b="1" i="0">
                <a:solidFill>
                  <a:srgbClr val="F0AB00"/>
                </a:solidFill>
                <a:latin typeface="Arial"/>
              </a:rPr>
              <a:t>УРОК ДЛЯ ИНЖЕНЕРА</a:t>
            </a:r>
          </a:p>
        </p:txBody>
      </p:sp>
      <p:sp>
        <p:nvSpPr>
          <p:cNvPr id="23" name="TextBox 22"/>
          <p:cNvSpPr txBox="1"/>
          <p:nvPr/>
        </p:nvSpPr>
        <p:spPr>
          <a:xfrm>
            <a:off x="667512" y="6355080"/>
            <a:ext cx="10917936" cy="32004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AI-реклама возможна, но эталонная сезонная кампания БЕЗ человеческого лидерства = ущерб бренду. Разворот тональности, а НЕ CTR — главная метрика риска доверия к бренду.</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400" b="1" i="0">
                <a:solidFill>
                  <a:srgbClr val="21295C"/>
                </a:solidFill>
                <a:latin typeface="Arial"/>
              </a:rPr>
              <a:t>Замещение: сводная картина — структурный сдвиг (Кейс 11)</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Снижение зарплат снизу — структурное, не временный шок. Оговорки помогают верхнему сегменту, а не нижнему.</a:t>
            </a:r>
          </a:p>
        </p:txBody>
      </p:sp>
      <p:sp>
        <p:nvSpPr>
          <p:cNvPr id="4" name="Rounded Rectangle 3"/>
          <p:cNvSpPr/>
          <p:nvPr/>
        </p:nvSpPr>
        <p:spPr>
          <a:xfrm>
            <a:off x="502920" y="2011680"/>
            <a:ext cx="3611880" cy="3291840"/>
          </a:xfrm>
          <a:prstGeom prst="roundRect">
            <a:avLst>
              <a:gd name="adj" fmla="val 925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2011680"/>
            <a:ext cx="3611880" cy="54864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2743200"/>
            <a:ext cx="3337560" cy="1280160"/>
          </a:xfrm>
          <a:prstGeom prst="rect">
            <a:avLst/>
          </a:prstGeom>
          <a:noFill/>
        </p:spPr>
        <p:txBody>
          <a:bodyPr wrap="square" lIns="0" rIns="0" tIns="0" bIns="0" anchor="ctr">
            <a:spAutoFit/>
          </a:bodyPr>
          <a:lstStyle/>
          <a:p>
            <a:pPr algn="ctr">
              <a:lnSpc>
                <a:spcPct val="100000"/>
              </a:lnSpc>
            </a:pPr>
            <a:r>
              <a:rPr sz="4400" b="1" i="0">
                <a:solidFill>
                  <a:srgbClr val="F0AB00"/>
                </a:solidFill>
                <a:latin typeface="Arial"/>
              </a:rPr>
              <a:t>−17.01%</a:t>
            </a:r>
          </a:p>
        </p:txBody>
      </p:sp>
      <p:sp>
        <p:nvSpPr>
          <p:cNvPr id="7" name="TextBox 6"/>
          <p:cNvSpPr txBox="1"/>
          <p:nvPr/>
        </p:nvSpPr>
        <p:spPr>
          <a:xfrm>
            <a:off x="640080" y="4114800"/>
            <a:ext cx="3337560" cy="640080"/>
          </a:xfrm>
          <a:prstGeom prst="rect">
            <a:avLst/>
          </a:prstGeom>
          <a:noFill/>
        </p:spPr>
        <p:txBody>
          <a:bodyPr wrap="square" lIns="0" rIns="0" tIns="0" bIns="0" anchor="t">
            <a:spAutoFit/>
          </a:bodyPr>
          <a:lstStyle/>
          <a:p>
            <a:pPr algn="ctr">
              <a:lnSpc>
                <a:spcPct val="130000"/>
              </a:lnSpc>
            </a:pPr>
            <a:r>
              <a:rPr sz="1300" b="1" i="0">
                <a:solidFill>
                  <a:srgbClr val="21295C"/>
                </a:solidFill>
                <a:latin typeface="Arial"/>
              </a:rPr>
              <a:t>работ графического дизайна
Upwork год к году</a:t>
            </a:r>
          </a:p>
        </p:txBody>
      </p:sp>
      <p:sp>
        <p:nvSpPr>
          <p:cNvPr id="8" name="Rounded Rectangle 7"/>
          <p:cNvSpPr/>
          <p:nvPr/>
        </p:nvSpPr>
        <p:spPr>
          <a:xfrm>
            <a:off x="777240" y="4800600"/>
            <a:ext cx="3063240" cy="365760"/>
          </a:xfrm>
          <a:prstGeom prst="roundRect">
            <a:avLst>
              <a:gd name="adj" fmla="val 50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000" b="0">
                <a:solidFill>
                  <a:srgbClr val="21295C"/>
                </a:solidFill>
                <a:latin typeface="Arial"/>
              </a:rPr>
              <a:t>Jobbers Index</a:t>
            </a:r>
          </a:p>
        </p:txBody>
      </p:sp>
      <p:sp>
        <p:nvSpPr>
          <p:cNvPr id="9" name="Rounded Rectangle 8"/>
          <p:cNvSpPr/>
          <p:nvPr/>
        </p:nvSpPr>
        <p:spPr>
          <a:xfrm>
            <a:off x="4279392" y="2011680"/>
            <a:ext cx="3611880" cy="3291840"/>
          </a:xfrm>
          <a:prstGeom prst="roundRect">
            <a:avLst>
              <a:gd name="adj" fmla="val 925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279392" y="2011680"/>
            <a:ext cx="3611880" cy="54864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16552" y="2743200"/>
            <a:ext cx="3337560" cy="1280160"/>
          </a:xfrm>
          <a:prstGeom prst="rect">
            <a:avLst/>
          </a:prstGeom>
          <a:noFill/>
        </p:spPr>
        <p:txBody>
          <a:bodyPr wrap="square" lIns="0" rIns="0" tIns="0" bIns="0" anchor="ctr">
            <a:spAutoFit/>
          </a:bodyPr>
          <a:lstStyle/>
          <a:p>
            <a:pPr algn="ctr">
              <a:lnSpc>
                <a:spcPct val="100000"/>
              </a:lnSpc>
            </a:pPr>
            <a:r>
              <a:rPr sz="4400" b="1" i="0">
                <a:solidFill>
                  <a:srgbClr val="F0AB00"/>
                </a:solidFill>
                <a:latin typeface="Arial"/>
              </a:rPr>
              <a:t>40% / &lt;10%</a:t>
            </a:r>
          </a:p>
        </p:txBody>
      </p:sp>
      <p:sp>
        <p:nvSpPr>
          <p:cNvPr id="12" name="TextBox 11"/>
          <p:cNvSpPr txBox="1"/>
          <p:nvPr/>
        </p:nvSpPr>
        <p:spPr>
          <a:xfrm>
            <a:off x="4416552" y="4114800"/>
            <a:ext cx="3337560" cy="640080"/>
          </a:xfrm>
          <a:prstGeom prst="rect">
            <a:avLst/>
          </a:prstGeom>
          <a:noFill/>
        </p:spPr>
        <p:txBody>
          <a:bodyPr wrap="square" lIns="0" rIns="0" tIns="0" bIns="0" anchor="t">
            <a:spAutoFit/>
          </a:bodyPr>
          <a:lstStyle/>
          <a:p>
            <a:pPr algn="ctr">
              <a:lnSpc>
                <a:spcPct val="130000"/>
              </a:lnSpc>
            </a:pPr>
            <a:r>
              <a:rPr sz="1300" b="1" i="0">
                <a:solidFill>
                  <a:srgbClr val="21295C"/>
                </a:solidFill>
                <a:latin typeface="Arial"/>
              </a:rPr>
              <a:t>работ $10-19/час vs
$60+/час · распознан как AI</a:t>
            </a:r>
          </a:p>
        </p:txBody>
      </p:sp>
      <p:sp>
        <p:nvSpPr>
          <p:cNvPr id="13" name="Rounded Rectangle 12"/>
          <p:cNvSpPr/>
          <p:nvPr/>
        </p:nvSpPr>
        <p:spPr>
          <a:xfrm>
            <a:off x="4553712" y="4800600"/>
            <a:ext cx="3063240" cy="365760"/>
          </a:xfrm>
          <a:prstGeom prst="roundRect">
            <a:avLst>
              <a:gd name="adj" fmla="val 50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000" b="0">
                <a:solidFill>
                  <a:srgbClr val="21295C"/>
                </a:solidFill>
                <a:latin typeface="Arial"/>
              </a:rPr>
              <a:t>снижение зарплат снизу</a:t>
            </a:r>
          </a:p>
        </p:txBody>
      </p:sp>
      <p:sp>
        <p:nvSpPr>
          <p:cNvPr id="14" name="Rounded Rectangle 13"/>
          <p:cNvSpPr/>
          <p:nvPr/>
        </p:nvSpPr>
        <p:spPr>
          <a:xfrm>
            <a:off x="8055864" y="2011680"/>
            <a:ext cx="3611880" cy="3291840"/>
          </a:xfrm>
          <a:prstGeom prst="roundRect">
            <a:avLst>
              <a:gd name="adj" fmla="val 9259"/>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55864" y="2011680"/>
            <a:ext cx="3611880" cy="548640"/>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2743200"/>
            <a:ext cx="3337560" cy="1280160"/>
          </a:xfrm>
          <a:prstGeom prst="rect">
            <a:avLst/>
          </a:prstGeom>
          <a:noFill/>
        </p:spPr>
        <p:txBody>
          <a:bodyPr wrap="square" lIns="0" rIns="0" tIns="0" bIns="0" anchor="ctr">
            <a:spAutoFit/>
          </a:bodyPr>
          <a:lstStyle/>
          <a:p>
            <a:pPr algn="ctr">
              <a:lnSpc>
                <a:spcPct val="100000"/>
              </a:lnSpc>
            </a:pPr>
            <a:r>
              <a:rPr sz="4400" b="1" i="0">
                <a:solidFill>
                  <a:srgbClr val="F0AB00"/>
                </a:solidFill>
                <a:latin typeface="Arial"/>
              </a:rPr>
              <a:t>4 года</a:t>
            </a:r>
          </a:p>
        </p:txBody>
      </p:sp>
      <p:sp>
        <p:nvSpPr>
          <p:cNvPr id="17" name="TextBox 16"/>
          <p:cNvSpPr txBox="1"/>
          <p:nvPr/>
        </p:nvSpPr>
        <p:spPr>
          <a:xfrm>
            <a:off x="8193024" y="4114800"/>
            <a:ext cx="3337560" cy="640080"/>
          </a:xfrm>
          <a:prstGeom prst="rect">
            <a:avLst/>
          </a:prstGeom>
          <a:noFill/>
        </p:spPr>
        <p:txBody>
          <a:bodyPr wrap="square" lIns="0" rIns="0" tIns="0" bIns="0" anchor="t">
            <a:spAutoFit/>
          </a:bodyPr>
          <a:lstStyle/>
          <a:p>
            <a:pPr algn="ctr">
              <a:lnSpc>
                <a:spcPct val="130000"/>
              </a:lnSpc>
            </a:pPr>
            <a:r>
              <a:rPr sz="1300" b="1" i="0">
                <a:solidFill>
                  <a:srgbClr val="21295C"/>
                </a:solidFill>
                <a:latin typeface="Arial"/>
              </a:rPr>
              <a:t>SAG-AFTRA + WGA
продление 2026</a:t>
            </a:r>
          </a:p>
        </p:txBody>
      </p:sp>
      <p:sp>
        <p:nvSpPr>
          <p:cNvPr id="18" name="Rounded Rectangle 17"/>
          <p:cNvSpPr/>
          <p:nvPr/>
        </p:nvSpPr>
        <p:spPr>
          <a:xfrm>
            <a:off x="8330184" y="4800600"/>
            <a:ext cx="3063240" cy="365760"/>
          </a:xfrm>
          <a:prstGeom prst="roundRect">
            <a:avLst>
              <a:gd name="adj" fmla="val 50000"/>
            </a:avLst>
          </a:prstGeom>
          <a:solidFill>
            <a:srgbClr val="F4F7FA"/>
          </a:solidFill>
          <a:ln w="1524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000" b="0">
                <a:solidFill>
                  <a:srgbClr val="21295C"/>
                </a:solidFill>
                <a:latin typeface="Arial"/>
              </a:rPr>
              <a:t>Оговорка о цифровых репликах</a:t>
            </a:r>
          </a:p>
        </p:txBody>
      </p:sp>
      <p:sp>
        <p:nvSpPr>
          <p:cNvPr id="19" name="TextBox 18"/>
          <p:cNvSpPr txBox="1"/>
          <p:nvPr/>
        </p:nvSpPr>
        <p:spPr>
          <a:xfrm>
            <a:off x="502920" y="5532120"/>
            <a:ext cx="11247120" cy="365760"/>
          </a:xfrm>
          <a:prstGeom prst="rect">
            <a:avLst/>
          </a:prstGeom>
          <a:noFill/>
        </p:spPr>
        <p:txBody>
          <a:bodyPr wrap="square" lIns="0" rIns="0" tIns="0" bIns="0" anchor="t">
            <a:spAutoFit/>
          </a:bodyPr>
          <a:lstStyle/>
          <a:p>
            <a:pPr algn="ctr">
              <a:lnSpc>
                <a:spcPct val="115000"/>
              </a:lnSpc>
            </a:pPr>
            <a:r>
              <a:rPr sz="1200" b="0" i="1">
                <a:solidFill>
                  <a:srgbClr val="6B7685"/>
                </a:solidFill>
                <a:latin typeface="Arial"/>
              </a:rPr>
              <a:t>+ Слияние Getty + Shutterstock $3.7 млрд (янв 2025) — оборонительная консолидация</a:t>
            </a:r>
          </a:p>
        </p:txBody>
      </p:sp>
      <p:sp>
        <p:nvSpPr>
          <p:cNvPr id="20" name="Rounded Rectangle 19"/>
          <p:cNvSpPr/>
          <p:nvPr/>
        </p:nvSpPr>
        <p:spPr>
          <a:xfrm>
            <a:off x="502920" y="5897880"/>
            <a:ext cx="11247120" cy="685800"/>
          </a:xfrm>
          <a:prstGeom prst="roundRect">
            <a:avLst>
              <a:gd name="adj" fmla="val 25000"/>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7512" y="5989320"/>
            <a:ext cx="10917936" cy="292608"/>
          </a:xfrm>
          <a:prstGeom prst="rect">
            <a:avLst/>
          </a:prstGeom>
          <a:noFill/>
        </p:spPr>
        <p:txBody>
          <a:bodyPr wrap="square" lIns="0" rIns="0" tIns="0" bIns="0" anchor="t">
            <a:spAutoFit/>
          </a:bodyPr>
          <a:lstStyle/>
          <a:p>
            <a:pPr algn="l">
              <a:lnSpc>
                <a:spcPct val="100000"/>
              </a:lnSpc>
            </a:pPr>
            <a:r>
              <a:rPr sz="1100" b="1" i="0">
                <a:solidFill>
                  <a:srgbClr val="F0AB00"/>
                </a:solidFill>
                <a:latin typeface="Arial"/>
              </a:rPr>
              <a:t>УРОК ДЛЯ ИНЖЕНЕРА</a:t>
            </a:r>
          </a:p>
        </p:txBody>
      </p:sp>
      <p:sp>
        <p:nvSpPr>
          <p:cNvPr id="22" name="TextBox 21"/>
          <p:cNvSpPr txBox="1"/>
          <p:nvPr/>
        </p:nvSpPr>
        <p:spPr>
          <a:xfrm>
            <a:off x="667512" y="6309360"/>
            <a:ext cx="10917936" cy="182879"/>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Замещение — структурное, не временный шок. Оговорки помогают, но снижение зарплат снизу остаётся. Понимай, какой класс работников твой AI-проект вытеснит, ДО запуска.</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914400"/>
            <a:ext cx="3657600" cy="4114800"/>
          </a:xfrm>
          <a:prstGeom prst="rect">
            <a:avLst/>
          </a:prstGeom>
          <a:noFill/>
        </p:spPr>
        <p:txBody>
          <a:bodyPr wrap="square" lIns="0" rIns="0" tIns="0" bIns="0" anchor="t">
            <a:spAutoFit/>
          </a:bodyPr>
          <a:lstStyle/>
          <a:p>
            <a:pPr algn="ctr">
              <a:lnSpc>
                <a:spcPct val="100000"/>
              </a:lnSpc>
            </a:pPr>
            <a:r>
              <a:rPr sz="30000" b="1" i="0">
                <a:solidFill>
                  <a:srgbClr val="D9E2EC"/>
                </a:solidFill>
                <a:latin typeface="Arial"/>
              </a:rPr>
              <a:t>4</a:t>
            </a:r>
          </a:p>
        </p:txBody>
      </p:sp>
      <p:sp>
        <p:nvSpPr>
          <p:cNvPr id="3" name="TextBox 2"/>
          <p:cNvSpPr txBox="1"/>
          <p:nvPr/>
        </p:nvSpPr>
        <p:spPr>
          <a:xfrm>
            <a:off x="4297680" y="1463040"/>
            <a:ext cx="7315200" cy="457200"/>
          </a:xfrm>
          <a:prstGeom prst="rect">
            <a:avLst/>
          </a:prstGeom>
          <a:noFill/>
        </p:spPr>
        <p:txBody>
          <a:bodyPr wrap="square" lIns="0" rIns="0" tIns="0" bIns="0" anchor="t">
            <a:spAutoFit/>
          </a:bodyPr>
          <a:lstStyle/>
          <a:p>
            <a:pPr algn="l">
              <a:lnSpc>
                <a:spcPct val="100000"/>
              </a:lnSpc>
            </a:pPr>
            <a:r>
              <a:rPr sz="1800" b="1" i="0">
                <a:solidFill>
                  <a:srgbClr val="028090"/>
                </a:solidFill>
                <a:latin typeface="Arial"/>
              </a:rPr>
              <a:t>РАЗДЕЛ</a:t>
            </a:r>
          </a:p>
        </p:txBody>
      </p:sp>
      <p:sp>
        <p:nvSpPr>
          <p:cNvPr id="4" name="TextBox 3"/>
          <p:cNvSpPr txBox="1"/>
          <p:nvPr/>
        </p:nvSpPr>
        <p:spPr>
          <a:xfrm>
            <a:off x="4297680" y="1965960"/>
            <a:ext cx="7315200" cy="1645920"/>
          </a:xfrm>
          <a:prstGeom prst="rect">
            <a:avLst/>
          </a:prstGeom>
          <a:noFill/>
        </p:spPr>
        <p:txBody>
          <a:bodyPr wrap="square" lIns="0" rIns="0" tIns="0" bIns="0" anchor="t">
            <a:spAutoFit/>
          </a:bodyPr>
          <a:lstStyle/>
          <a:p>
            <a:pPr algn="l">
              <a:lnSpc>
                <a:spcPct val="115000"/>
              </a:lnSpc>
            </a:pPr>
            <a:r>
              <a:rPr sz="4400" b="1" i="0">
                <a:solidFill>
                  <a:srgbClr val="21295C"/>
                </a:solidFill>
                <a:latin typeface="Arial"/>
              </a:rPr>
              <a:t>AI здесь не нужен</a:t>
            </a:r>
          </a:p>
        </p:txBody>
      </p:sp>
      <p:sp>
        <p:nvSpPr>
          <p:cNvPr id="5" name="Rectangle 4"/>
          <p:cNvSpPr/>
          <p:nvPr/>
        </p:nvSpPr>
        <p:spPr>
          <a:xfrm>
            <a:off x="4297680" y="3611880"/>
            <a:ext cx="36576"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434840" y="3611880"/>
            <a:ext cx="7223760" cy="914400"/>
          </a:xfrm>
          <a:prstGeom prst="rect">
            <a:avLst/>
          </a:prstGeom>
          <a:noFill/>
        </p:spPr>
        <p:txBody>
          <a:bodyPr wrap="square" lIns="0" rIns="0" tIns="0" bIns="0" anchor="t">
            <a:spAutoFit/>
          </a:bodyPr>
          <a:lstStyle/>
          <a:p>
            <a:pPr algn="l">
              <a:lnSpc>
                <a:spcPct val="130000"/>
              </a:lnSpc>
            </a:pPr>
            <a:r>
              <a:rPr sz="1600" b="0" i="0">
                <a:solidFill>
                  <a:srgbClr val="065A82"/>
                </a:solidFill>
                <a:latin typeface="Arial"/>
              </a:rPr>
              <a:t>Критерии негативного выбора · 3 зоны только человеком · эмпирическое отторжение конечными пользователями.</a:t>
            </a:r>
          </a:p>
        </p:txBody>
      </p:sp>
      <p:sp>
        <p:nvSpPr>
          <p:cNvPr id="7" name="Rounded Rectangle 6"/>
          <p:cNvSpPr/>
          <p:nvPr/>
        </p:nvSpPr>
        <p:spPr>
          <a:xfrm>
            <a:off x="502920" y="5349240"/>
            <a:ext cx="1783080"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22392"/>
            <a:ext cx="1783080" cy="365760"/>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0</a:t>
            </a:r>
          </a:p>
        </p:txBody>
      </p:sp>
      <p:sp>
        <p:nvSpPr>
          <p:cNvPr id="9" name="TextBox 8"/>
          <p:cNvSpPr txBox="1"/>
          <p:nvPr/>
        </p:nvSpPr>
        <p:spPr>
          <a:xfrm>
            <a:off x="539496" y="5769864"/>
            <a:ext cx="1709928" cy="411479"/>
          </a:xfrm>
          <a:prstGeom prst="rect">
            <a:avLst/>
          </a:prstGeom>
          <a:noFill/>
        </p:spPr>
        <p:txBody>
          <a:bodyPr wrap="square" lIns="0" rIns="0" tIns="0" bIns="0" anchor="t">
            <a:spAutoFit/>
          </a:bodyPr>
          <a:lstStyle/>
          <a:p>
            <a:pPr algn="ctr">
              <a:lnSpc>
                <a:spcPct val="115000"/>
              </a:lnSpc>
            </a:pPr>
            <a:r>
              <a:rPr sz="900" b="0" i="0">
                <a:solidFill>
                  <a:srgbClr val="065A82"/>
                </a:solidFill>
                <a:latin typeface="Arial"/>
              </a:rPr>
              <a:t>Открытие
+ ось лекции</a:t>
            </a:r>
          </a:p>
        </p:txBody>
      </p:sp>
      <p:sp>
        <p:nvSpPr>
          <p:cNvPr id="10" name="Rounded Rectangle 9"/>
          <p:cNvSpPr/>
          <p:nvPr/>
        </p:nvSpPr>
        <p:spPr>
          <a:xfrm>
            <a:off x="2395728" y="5349240"/>
            <a:ext cx="1783080"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95728" y="5422392"/>
            <a:ext cx="1783080" cy="365760"/>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1</a:t>
            </a:r>
          </a:p>
        </p:txBody>
      </p:sp>
      <p:sp>
        <p:nvSpPr>
          <p:cNvPr id="12" name="TextBox 11"/>
          <p:cNvSpPr txBox="1"/>
          <p:nvPr/>
        </p:nvSpPr>
        <p:spPr>
          <a:xfrm>
            <a:off x="2432304" y="5769864"/>
            <a:ext cx="1709928" cy="411479"/>
          </a:xfrm>
          <a:prstGeom prst="rect">
            <a:avLst/>
          </a:prstGeom>
          <a:noFill/>
        </p:spPr>
        <p:txBody>
          <a:bodyPr wrap="square" lIns="0" rIns="0" tIns="0" bIns="0" anchor="t">
            <a:spAutoFit/>
          </a:bodyPr>
          <a:lstStyle/>
          <a:p>
            <a:pPr algn="ctr">
              <a:lnSpc>
                <a:spcPct val="115000"/>
              </a:lnSpc>
            </a:pPr>
            <a:r>
              <a:rPr sz="900" b="0" i="0">
                <a:solidFill>
                  <a:srgbClr val="065A82"/>
                </a:solidFill>
                <a:latin typeface="Arial"/>
              </a:rPr>
              <a:t>AI ДОБАВИЛ</a:t>
            </a:r>
          </a:p>
        </p:txBody>
      </p:sp>
      <p:sp>
        <p:nvSpPr>
          <p:cNvPr id="13" name="Rounded Rectangle 12"/>
          <p:cNvSpPr/>
          <p:nvPr/>
        </p:nvSpPr>
        <p:spPr>
          <a:xfrm>
            <a:off x="4288536" y="5349240"/>
            <a:ext cx="1783080"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88536" y="5422392"/>
            <a:ext cx="1783080" cy="365760"/>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2</a:t>
            </a:r>
          </a:p>
        </p:txBody>
      </p:sp>
      <p:sp>
        <p:nvSpPr>
          <p:cNvPr id="15" name="TextBox 14"/>
          <p:cNvSpPr txBox="1"/>
          <p:nvPr/>
        </p:nvSpPr>
        <p:spPr>
          <a:xfrm>
            <a:off x="4325112" y="5769864"/>
            <a:ext cx="1709928" cy="411479"/>
          </a:xfrm>
          <a:prstGeom prst="rect">
            <a:avLst/>
          </a:prstGeom>
          <a:noFill/>
        </p:spPr>
        <p:txBody>
          <a:bodyPr wrap="square" lIns="0" rIns="0" tIns="0" bIns="0" anchor="t">
            <a:spAutoFit/>
          </a:bodyPr>
          <a:lstStyle/>
          <a:p>
            <a:pPr algn="ctr">
              <a:lnSpc>
                <a:spcPct val="115000"/>
              </a:lnSpc>
            </a:pPr>
            <a:r>
              <a:rPr sz="900" b="0" i="0">
                <a:solidFill>
                  <a:srgbClr val="065A82"/>
                </a:solidFill>
                <a:latin typeface="Arial"/>
              </a:rPr>
              <a:t>AI ИЗМЕНИЛ</a:t>
            </a:r>
          </a:p>
        </p:txBody>
      </p:sp>
      <p:sp>
        <p:nvSpPr>
          <p:cNvPr id="16" name="Rounded Rectangle 15"/>
          <p:cNvSpPr/>
          <p:nvPr/>
        </p:nvSpPr>
        <p:spPr>
          <a:xfrm>
            <a:off x="6181344" y="5349240"/>
            <a:ext cx="1783080"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81344" y="5422392"/>
            <a:ext cx="1783080" cy="365760"/>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3</a:t>
            </a:r>
          </a:p>
        </p:txBody>
      </p:sp>
      <p:sp>
        <p:nvSpPr>
          <p:cNvPr id="18" name="TextBox 17"/>
          <p:cNvSpPr txBox="1"/>
          <p:nvPr/>
        </p:nvSpPr>
        <p:spPr>
          <a:xfrm>
            <a:off x="6217920" y="5769864"/>
            <a:ext cx="1709928" cy="411479"/>
          </a:xfrm>
          <a:prstGeom prst="rect">
            <a:avLst/>
          </a:prstGeom>
          <a:noFill/>
        </p:spPr>
        <p:txBody>
          <a:bodyPr wrap="square" lIns="0" rIns="0" tIns="0" bIns="0" anchor="t">
            <a:spAutoFit/>
          </a:bodyPr>
          <a:lstStyle/>
          <a:p>
            <a:pPr algn="ctr">
              <a:lnSpc>
                <a:spcPct val="115000"/>
              </a:lnSpc>
            </a:pPr>
            <a:r>
              <a:rPr sz="900" b="0" i="0">
                <a:solidFill>
                  <a:srgbClr val="065A82"/>
                </a:solidFill>
                <a:latin typeface="Arial"/>
              </a:rPr>
              <a:t>AI СЛОМАЛ</a:t>
            </a:r>
          </a:p>
        </p:txBody>
      </p:sp>
      <p:sp>
        <p:nvSpPr>
          <p:cNvPr id="19" name="Rounded Rectangle 18"/>
          <p:cNvSpPr/>
          <p:nvPr/>
        </p:nvSpPr>
        <p:spPr>
          <a:xfrm>
            <a:off x="8074152" y="5349240"/>
            <a:ext cx="1783080" cy="868680"/>
          </a:xfrm>
          <a:prstGeom prst="roundRect">
            <a:avLst>
              <a:gd name="adj" fmla="val 25000"/>
            </a:avLst>
          </a:prstGeom>
          <a:solidFill>
            <a:srgbClr val="F0AB0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74152" y="5422392"/>
            <a:ext cx="1783080" cy="365760"/>
          </a:xfrm>
          <a:prstGeom prst="rect">
            <a:avLst/>
          </a:prstGeom>
          <a:noFill/>
        </p:spPr>
        <p:txBody>
          <a:bodyPr wrap="square" lIns="0" rIns="0" tIns="0" bIns="0" anchor="t">
            <a:spAutoFit/>
          </a:bodyPr>
          <a:lstStyle/>
          <a:p>
            <a:pPr algn="ctr">
              <a:lnSpc>
                <a:spcPct val="100000"/>
              </a:lnSpc>
            </a:pPr>
            <a:r>
              <a:rPr sz="2200" b="1" i="0">
                <a:solidFill>
                  <a:srgbClr val="FFFFFF"/>
                </a:solidFill>
                <a:latin typeface="Arial"/>
              </a:rPr>
              <a:t>4</a:t>
            </a:r>
          </a:p>
        </p:txBody>
      </p:sp>
      <p:sp>
        <p:nvSpPr>
          <p:cNvPr id="21" name="TextBox 20"/>
          <p:cNvSpPr txBox="1"/>
          <p:nvPr/>
        </p:nvSpPr>
        <p:spPr>
          <a:xfrm>
            <a:off x="8110728" y="5769864"/>
            <a:ext cx="1709928" cy="411479"/>
          </a:xfrm>
          <a:prstGeom prst="rect">
            <a:avLst/>
          </a:prstGeom>
          <a:noFill/>
        </p:spPr>
        <p:txBody>
          <a:bodyPr wrap="square" lIns="0" rIns="0" tIns="0" bIns="0" anchor="t">
            <a:spAutoFit/>
          </a:bodyPr>
          <a:lstStyle/>
          <a:p>
            <a:pPr algn="ctr">
              <a:lnSpc>
                <a:spcPct val="115000"/>
              </a:lnSpc>
            </a:pPr>
            <a:r>
              <a:rPr sz="900" b="1" i="0">
                <a:solidFill>
                  <a:srgbClr val="FFFFFF"/>
                </a:solidFill>
                <a:latin typeface="Arial"/>
              </a:rPr>
              <a:t>AI не нужен</a:t>
            </a:r>
          </a:p>
        </p:txBody>
      </p:sp>
      <p:sp>
        <p:nvSpPr>
          <p:cNvPr id="22" name="Rounded Rectangle 21"/>
          <p:cNvSpPr/>
          <p:nvPr/>
        </p:nvSpPr>
        <p:spPr>
          <a:xfrm>
            <a:off x="9966960" y="5349240"/>
            <a:ext cx="1783080" cy="868680"/>
          </a:xfrm>
          <a:prstGeom prst="roundRect">
            <a:avLst>
              <a:gd name="adj" fmla="val 25000"/>
            </a:avLst>
          </a:prstGeom>
          <a:solidFill>
            <a:srgbClr val="FFFFFF"/>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66960" y="5422392"/>
            <a:ext cx="1783080" cy="365760"/>
          </a:xfrm>
          <a:prstGeom prst="rect">
            <a:avLst/>
          </a:prstGeom>
          <a:noFill/>
        </p:spPr>
        <p:txBody>
          <a:bodyPr wrap="square" lIns="0" rIns="0" tIns="0" bIns="0" anchor="t">
            <a:spAutoFit/>
          </a:bodyPr>
          <a:lstStyle/>
          <a:p>
            <a:pPr algn="ctr">
              <a:lnSpc>
                <a:spcPct val="100000"/>
              </a:lnSpc>
            </a:pPr>
            <a:r>
              <a:rPr sz="2200" b="1" i="0">
                <a:solidFill>
                  <a:srgbClr val="1C7293"/>
                </a:solidFill>
                <a:latin typeface="Arial"/>
              </a:rPr>
              <a:t>5</a:t>
            </a:r>
          </a:p>
        </p:txBody>
      </p:sp>
      <p:sp>
        <p:nvSpPr>
          <p:cNvPr id="24" name="TextBox 23"/>
          <p:cNvSpPr txBox="1"/>
          <p:nvPr/>
        </p:nvSpPr>
        <p:spPr>
          <a:xfrm>
            <a:off x="10003536" y="5769864"/>
            <a:ext cx="1709928" cy="411479"/>
          </a:xfrm>
          <a:prstGeom prst="rect">
            <a:avLst/>
          </a:prstGeom>
          <a:noFill/>
        </p:spPr>
        <p:txBody>
          <a:bodyPr wrap="square" lIns="0" rIns="0" tIns="0" bIns="0" anchor="t">
            <a:spAutoFit/>
          </a:bodyPr>
          <a:lstStyle/>
          <a:p>
            <a:pPr algn="ctr">
              <a:lnSpc>
                <a:spcPct val="115000"/>
              </a:lnSpc>
            </a:pPr>
            <a:r>
              <a:rPr sz="900" b="0" i="0">
                <a:solidFill>
                  <a:srgbClr val="6B7685"/>
                </a:solidFill>
                <a:latin typeface="Arial"/>
              </a:rPr>
              <a:t>Что делать</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4 критерия отказа от AI в творческом проекте</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Выученные уроки Раздела 3 → переведены в чек-лист.</a:t>
            </a:r>
          </a:p>
        </p:txBody>
      </p:sp>
      <p:sp>
        <p:nvSpPr>
          <p:cNvPr id="4" name="Rounded Rectangle 3"/>
          <p:cNvSpPr/>
          <p:nvPr/>
        </p:nvSpPr>
        <p:spPr>
          <a:xfrm>
            <a:off x="502920" y="1828800"/>
            <a:ext cx="5532120" cy="2011679"/>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0"/>
            <a:ext cx="5532120" cy="50292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901952"/>
            <a:ext cx="5257800" cy="365760"/>
          </a:xfrm>
          <a:prstGeom prst="rect">
            <a:avLst/>
          </a:prstGeom>
          <a:noFill/>
        </p:spPr>
        <p:txBody>
          <a:bodyPr wrap="square" lIns="0" rIns="0" tIns="0" bIns="0" anchor="ctr">
            <a:spAutoFit/>
          </a:bodyPr>
          <a:lstStyle/>
          <a:p>
            <a:pPr algn="l">
              <a:lnSpc>
                <a:spcPct val="115000"/>
              </a:lnSpc>
            </a:pPr>
            <a:r>
              <a:rPr sz="1500" b="1" i="0">
                <a:solidFill>
                  <a:srgbClr val="FFFFFF"/>
                </a:solidFill>
                <a:latin typeface="Arial"/>
              </a:rPr>
              <a:t>1. Лицензия на обучающие данные</a:t>
            </a:r>
          </a:p>
        </p:txBody>
      </p:sp>
      <p:sp>
        <p:nvSpPr>
          <p:cNvPr id="7" name="TextBox 6"/>
          <p:cNvSpPr txBox="1"/>
          <p:nvPr/>
        </p:nvSpPr>
        <p:spPr>
          <a:xfrm>
            <a:off x="667512" y="2468880"/>
            <a:ext cx="5202936" cy="548640"/>
          </a:xfrm>
          <a:prstGeom prst="rect">
            <a:avLst/>
          </a:prstGeom>
          <a:noFill/>
        </p:spPr>
        <p:txBody>
          <a:bodyPr wrap="square" lIns="0" rIns="0" tIns="0" bIns="0" anchor="t">
            <a:spAutoFit/>
          </a:bodyPr>
          <a:lstStyle/>
          <a:p>
            <a:pPr algn="l">
              <a:lnSpc>
                <a:spcPct val="125000"/>
              </a:lnSpc>
            </a:pPr>
            <a:r>
              <a:rPr sz="1100" b="0" i="0">
                <a:solidFill>
                  <a:srgbClr val="21295C"/>
                </a:solidFill>
                <a:latin typeface="Arial"/>
              </a:rPr>
              <a:t>Нет документированного лицензированного корпуса → юридический долг по категории 1.</a:t>
            </a:r>
          </a:p>
        </p:txBody>
      </p:sp>
      <p:sp>
        <p:nvSpPr>
          <p:cNvPr id="8" name="TextBox 7"/>
          <p:cNvSpPr txBox="1"/>
          <p:nvPr/>
        </p:nvSpPr>
        <p:spPr>
          <a:xfrm>
            <a:off x="667512" y="3108960"/>
            <a:ext cx="5202936" cy="320040"/>
          </a:xfrm>
          <a:prstGeom prst="rect">
            <a:avLst/>
          </a:prstGeom>
          <a:noFill/>
        </p:spPr>
        <p:txBody>
          <a:bodyPr wrap="square" lIns="0" rIns="0" tIns="0" bIns="0" anchor="t">
            <a:spAutoFit/>
          </a:bodyPr>
          <a:lstStyle/>
          <a:p>
            <a:pPr algn="l">
              <a:lnSpc>
                <a:spcPct val="115000"/>
              </a:lnSpc>
            </a:pPr>
            <a:r>
              <a:rPr sz="1000" b="1" i="1">
                <a:solidFill>
                  <a:srgbClr val="F0AB00"/>
                </a:solidFill>
                <a:latin typeface="Arial"/>
              </a:rPr>
              <a:t>→ Andersen против Stability · RIAA против Suno</a:t>
            </a:r>
          </a:p>
        </p:txBody>
      </p:sp>
      <p:sp>
        <p:nvSpPr>
          <p:cNvPr id="9" name="Rounded Rectangle 8"/>
          <p:cNvSpPr/>
          <p:nvPr/>
        </p:nvSpPr>
        <p:spPr>
          <a:xfrm>
            <a:off x="667512" y="3383279"/>
            <a:ext cx="5202936" cy="347472"/>
          </a:xfrm>
          <a:prstGeom prst="roundRect">
            <a:avLst>
              <a:gd name="adj" fmla="val 50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000" b="1">
                <a:solidFill>
                  <a:srgbClr val="21295C"/>
                </a:solidFill>
                <a:latin typeface="Arial"/>
              </a:rPr>
              <a:t>Firefly = да · Stable Diffusion = риски</a:t>
            </a:r>
          </a:p>
        </p:txBody>
      </p:sp>
      <p:sp>
        <p:nvSpPr>
          <p:cNvPr id="10" name="Rounded Rectangle 9"/>
          <p:cNvSpPr/>
          <p:nvPr/>
        </p:nvSpPr>
        <p:spPr>
          <a:xfrm>
            <a:off x="6217920" y="1828800"/>
            <a:ext cx="5532120" cy="2011679"/>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217920" y="1828800"/>
            <a:ext cx="5532120" cy="50292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080" y="1901952"/>
            <a:ext cx="5257800" cy="365760"/>
          </a:xfrm>
          <a:prstGeom prst="rect">
            <a:avLst/>
          </a:prstGeom>
          <a:noFill/>
        </p:spPr>
        <p:txBody>
          <a:bodyPr wrap="square" lIns="0" rIns="0" tIns="0" bIns="0" anchor="ctr">
            <a:spAutoFit/>
          </a:bodyPr>
          <a:lstStyle/>
          <a:p>
            <a:pPr algn="l">
              <a:lnSpc>
                <a:spcPct val="115000"/>
              </a:lnSpc>
            </a:pPr>
            <a:r>
              <a:rPr sz="1500" b="1" i="0">
                <a:solidFill>
                  <a:srgbClr val="FFFFFF"/>
                </a:solidFill>
                <a:latin typeface="Arial"/>
              </a:rPr>
              <a:t>2. Проверка сходства результата</a:t>
            </a:r>
          </a:p>
        </p:txBody>
      </p:sp>
      <p:sp>
        <p:nvSpPr>
          <p:cNvPr id="13" name="TextBox 12"/>
          <p:cNvSpPr txBox="1"/>
          <p:nvPr/>
        </p:nvSpPr>
        <p:spPr>
          <a:xfrm>
            <a:off x="6382512" y="2468880"/>
            <a:ext cx="5202936" cy="548640"/>
          </a:xfrm>
          <a:prstGeom prst="rect">
            <a:avLst/>
          </a:prstGeom>
          <a:noFill/>
        </p:spPr>
        <p:txBody>
          <a:bodyPr wrap="square" lIns="0" rIns="0" tIns="0" bIns="0" anchor="t">
            <a:spAutoFit/>
          </a:bodyPr>
          <a:lstStyle/>
          <a:p>
            <a:pPr algn="l">
              <a:lnSpc>
                <a:spcPct val="125000"/>
              </a:lnSpc>
            </a:pPr>
            <a:r>
              <a:rPr sz="1100" b="0" i="0">
                <a:solidFill>
                  <a:srgbClr val="21295C"/>
                </a:solidFill>
                <a:latin typeface="Arial"/>
              </a:rPr>
              <a:t>Выводы могут воспроизвести охраняемый контент → ответственность по категории 2.</a:t>
            </a:r>
          </a:p>
        </p:txBody>
      </p:sp>
      <p:sp>
        <p:nvSpPr>
          <p:cNvPr id="14" name="TextBox 13"/>
          <p:cNvSpPr txBox="1"/>
          <p:nvPr/>
        </p:nvSpPr>
        <p:spPr>
          <a:xfrm>
            <a:off x="6382512" y="3108960"/>
            <a:ext cx="5202936" cy="320040"/>
          </a:xfrm>
          <a:prstGeom prst="rect">
            <a:avLst/>
          </a:prstGeom>
          <a:noFill/>
        </p:spPr>
        <p:txBody>
          <a:bodyPr wrap="square" lIns="0" rIns="0" tIns="0" bIns="0" anchor="t">
            <a:spAutoFit/>
          </a:bodyPr>
          <a:lstStyle/>
          <a:p>
            <a:pPr algn="l">
              <a:lnSpc>
                <a:spcPct val="115000"/>
              </a:lnSpc>
            </a:pPr>
            <a:r>
              <a:rPr sz="1000" b="1" i="1">
                <a:solidFill>
                  <a:srgbClr val="F0AB00"/>
                </a:solidFill>
                <a:latin typeface="Arial"/>
              </a:rPr>
              <a:t>→ теория дословного цитирования NYT</a:t>
            </a:r>
          </a:p>
        </p:txBody>
      </p:sp>
      <p:sp>
        <p:nvSpPr>
          <p:cNvPr id="15" name="Rounded Rectangle 14"/>
          <p:cNvSpPr/>
          <p:nvPr/>
        </p:nvSpPr>
        <p:spPr>
          <a:xfrm>
            <a:off x="6382512" y="3383279"/>
            <a:ext cx="5202936" cy="347472"/>
          </a:xfrm>
          <a:prstGeom prst="roundRect">
            <a:avLst>
              <a:gd name="adj" fmla="val 50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000" b="1">
                <a:solidFill>
                  <a:srgbClr val="21295C"/>
                </a:solidFill>
                <a:latin typeface="Arial"/>
              </a:rPr>
              <a:t>Технический контроль обязателен</a:t>
            </a:r>
          </a:p>
        </p:txBody>
      </p:sp>
      <p:sp>
        <p:nvSpPr>
          <p:cNvPr id="16" name="Rounded Rectangle 15"/>
          <p:cNvSpPr/>
          <p:nvPr/>
        </p:nvSpPr>
        <p:spPr>
          <a:xfrm>
            <a:off x="502920" y="4023360"/>
            <a:ext cx="5532120" cy="2011679"/>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502920" y="4023360"/>
            <a:ext cx="5532120" cy="502920"/>
          </a:xfrm>
          <a:prstGeom prst="roundRect">
            <a:avLst>
              <a:gd name="adj" fmla="val 1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4096512"/>
            <a:ext cx="5257800" cy="365760"/>
          </a:xfrm>
          <a:prstGeom prst="rect">
            <a:avLst/>
          </a:prstGeom>
          <a:noFill/>
        </p:spPr>
        <p:txBody>
          <a:bodyPr wrap="square" lIns="0" rIns="0" tIns="0" bIns="0" anchor="ctr">
            <a:spAutoFit/>
          </a:bodyPr>
          <a:lstStyle/>
          <a:p>
            <a:pPr algn="l">
              <a:lnSpc>
                <a:spcPct val="115000"/>
              </a:lnSpc>
            </a:pPr>
            <a:r>
              <a:rPr sz="1500" b="1" i="0">
                <a:solidFill>
                  <a:srgbClr val="FFFFFF"/>
                </a:solidFill>
                <a:latin typeface="Arial"/>
              </a:rPr>
              <a:t>3. Согласие на голос/образ</a:t>
            </a:r>
          </a:p>
        </p:txBody>
      </p:sp>
      <p:sp>
        <p:nvSpPr>
          <p:cNvPr id="19" name="TextBox 18"/>
          <p:cNvSpPr txBox="1"/>
          <p:nvPr/>
        </p:nvSpPr>
        <p:spPr>
          <a:xfrm>
            <a:off x="667512" y="4663440"/>
            <a:ext cx="5202936" cy="548640"/>
          </a:xfrm>
          <a:prstGeom prst="rect">
            <a:avLst/>
          </a:prstGeom>
          <a:noFill/>
        </p:spPr>
        <p:txBody>
          <a:bodyPr wrap="square" lIns="0" rIns="0" tIns="0" bIns="0" anchor="t">
            <a:spAutoFit/>
          </a:bodyPr>
          <a:lstStyle/>
          <a:p>
            <a:pPr algn="l">
              <a:lnSpc>
                <a:spcPct val="125000"/>
              </a:lnSpc>
            </a:pPr>
            <a:r>
              <a:rPr sz="1100" b="0" i="0">
                <a:solidFill>
                  <a:srgbClr val="21295C"/>
                </a:solidFill>
                <a:latin typeface="Arial"/>
              </a:rPr>
              <a:t>Нет явного согласия → риск класса ScarJo + SAG-AFTRA + Корея.</a:t>
            </a:r>
          </a:p>
        </p:txBody>
      </p:sp>
      <p:sp>
        <p:nvSpPr>
          <p:cNvPr id="20" name="TextBox 19"/>
          <p:cNvSpPr txBox="1"/>
          <p:nvPr/>
        </p:nvSpPr>
        <p:spPr>
          <a:xfrm>
            <a:off x="667512" y="5303520"/>
            <a:ext cx="5202936" cy="320040"/>
          </a:xfrm>
          <a:prstGeom prst="rect">
            <a:avLst/>
          </a:prstGeom>
          <a:noFill/>
        </p:spPr>
        <p:txBody>
          <a:bodyPr wrap="square" lIns="0" rIns="0" tIns="0" bIns="0" anchor="t">
            <a:spAutoFit/>
          </a:bodyPr>
          <a:lstStyle/>
          <a:p>
            <a:pPr algn="l">
              <a:lnSpc>
                <a:spcPct val="115000"/>
              </a:lnSpc>
            </a:pPr>
            <a:r>
              <a:rPr sz="1000" b="1" i="1">
                <a:solidFill>
                  <a:srgbClr val="F0AB00"/>
                </a:solidFill>
                <a:latin typeface="Arial"/>
              </a:rPr>
              <a:t>→ ScarJo против OpenAI · кризис в Корее</a:t>
            </a:r>
          </a:p>
        </p:txBody>
      </p:sp>
      <p:sp>
        <p:nvSpPr>
          <p:cNvPr id="21" name="Rounded Rectangle 20"/>
          <p:cNvSpPr/>
          <p:nvPr/>
        </p:nvSpPr>
        <p:spPr>
          <a:xfrm>
            <a:off x="667512" y="5577840"/>
            <a:ext cx="5202936" cy="347472"/>
          </a:xfrm>
          <a:prstGeom prst="roundRect">
            <a:avLst>
              <a:gd name="adj" fmla="val 50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000" b="1">
                <a:solidFill>
                  <a:srgbClr val="21295C"/>
                </a:solidFill>
                <a:latin typeface="Arial"/>
              </a:rPr>
              <a:t>Узнаваемые реальные люди — всегда согласие</a:t>
            </a:r>
          </a:p>
        </p:txBody>
      </p:sp>
      <p:sp>
        <p:nvSpPr>
          <p:cNvPr id="22" name="Rounded Rectangle 21"/>
          <p:cNvSpPr/>
          <p:nvPr/>
        </p:nvSpPr>
        <p:spPr>
          <a:xfrm>
            <a:off x="6217920" y="4023360"/>
            <a:ext cx="5532120" cy="2011679"/>
          </a:xfrm>
          <a:prstGeom prst="roundRect">
            <a:avLst>
              <a:gd name="adj" fmla="val 1515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217920" y="4023360"/>
            <a:ext cx="5532120" cy="502920"/>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355080" y="4096512"/>
            <a:ext cx="5257800" cy="36576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4. Риск доверия к бренду</a:t>
            </a:r>
          </a:p>
        </p:txBody>
      </p:sp>
      <p:sp>
        <p:nvSpPr>
          <p:cNvPr id="25" name="TextBox 24"/>
          <p:cNvSpPr txBox="1"/>
          <p:nvPr/>
        </p:nvSpPr>
        <p:spPr>
          <a:xfrm>
            <a:off x="6382512" y="4663440"/>
            <a:ext cx="5202936" cy="548640"/>
          </a:xfrm>
          <a:prstGeom prst="rect">
            <a:avLst/>
          </a:prstGeom>
          <a:noFill/>
        </p:spPr>
        <p:txBody>
          <a:bodyPr wrap="square" lIns="0" rIns="0" tIns="0" bIns="0" anchor="t">
            <a:spAutoFit/>
          </a:bodyPr>
          <a:lstStyle/>
          <a:p>
            <a:pPr algn="l">
              <a:lnSpc>
                <a:spcPct val="125000"/>
              </a:lnSpc>
            </a:pPr>
            <a:r>
              <a:rPr sz="1100" b="0" i="0">
                <a:solidFill>
                  <a:srgbClr val="21295C"/>
                </a:solidFill>
                <a:latin typeface="Arial"/>
              </a:rPr>
              <a:t>Эталонная/историческая кампания без человеческого лидерства → измеримая негативная реакция.</a:t>
            </a:r>
          </a:p>
        </p:txBody>
      </p:sp>
      <p:sp>
        <p:nvSpPr>
          <p:cNvPr id="26" name="TextBox 25"/>
          <p:cNvSpPr txBox="1"/>
          <p:nvPr/>
        </p:nvSpPr>
        <p:spPr>
          <a:xfrm>
            <a:off x="6382512" y="5303520"/>
            <a:ext cx="5202936" cy="320040"/>
          </a:xfrm>
          <a:prstGeom prst="rect">
            <a:avLst/>
          </a:prstGeom>
          <a:noFill/>
        </p:spPr>
        <p:txBody>
          <a:bodyPr wrap="square" lIns="0" rIns="0" tIns="0" bIns="0" anchor="t">
            <a:spAutoFit/>
          </a:bodyPr>
          <a:lstStyle/>
          <a:p>
            <a:pPr algn="l">
              <a:lnSpc>
                <a:spcPct val="115000"/>
              </a:lnSpc>
            </a:pPr>
            <a:r>
              <a:rPr sz="1000" b="1" i="1">
                <a:solidFill>
                  <a:srgbClr val="F0AB00"/>
                </a:solidFill>
                <a:latin typeface="Arial"/>
              </a:rPr>
              <a:t>→ Coca-Cola · Toys R Us · SI</a:t>
            </a:r>
          </a:p>
        </p:txBody>
      </p:sp>
      <p:sp>
        <p:nvSpPr>
          <p:cNvPr id="27" name="Rounded Rectangle 26"/>
          <p:cNvSpPr/>
          <p:nvPr/>
        </p:nvSpPr>
        <p:spPr>
          <a:xfrm>
            <a:off x="6382512" y="5577840"/>
            <a:ext cx="5202936" cy="347472"/>
          </a:xfrm>
          <a:prstGeom prst="roundRect">
            <a:avLst>
              <a:gd name="adj" fmla="val 50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lIns="45720" rIns="45720" tIns="36576" bIns="36576" wrap="none"/>
          <a:lstStyle/>
          <a:p>
            <a:pPr algn="ctr"/>
            <a:r>
              <a:rPr sz="1000" b="1">
                <a:solidFill>
                  <a:srgbClr val="21295C"/>
                </a:solidFill>
                <a:latin typeface="Arial"/>
              </a:rPr>
              <a:t>Разворот тональности, а не CTR</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800" b="1" i="0">
                <a:solidFill>
                  <a:srgbClr val="21295C"/>
                </a:solidFill>
                <a:latin typeface="Arial"/>
              </a:rPr>
              <a:t>3 зоны, где AI не должен подменять человека</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«AI как инструмент» работает; «AI как замещение» — нет.</a:t>
            </a:r>
          </a:p>
        </p:txBody>
      </p:sp>
      <p:sp>
        <p:nvSpPr>
          <p:cNvPr id="4" name="Rounded Rectangle 3"/>
          <p:cNvSpPr/>
          <p:nvPr/>
        </p:nvSpPr>
        <p:spPr>
          <a:xfrm>
            <a:off x="502920" y="1828800"/>
            <a:ext cx="3657600" cy="420624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0"/>
            <a:ext cx="3657600" cy="54864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901952"/>
            <a:ext cx="3383280" cy="411480"/>
          </a:xfrm>
          <a:prstGeom prst="rect">
            <a:avLst/>
          </a:prstGeom>
          <a:noFill/>
        </p:spPr>
        <p:txBody>
          <a:bodyPr wrap="square" lIns="0" rIns="0" tIns="0" bIns="0" anchor="ctr">
            <a:spAutoFit/>
          </a:bodyPr>
          <a:lstStyle/>
          <a:p>
            <a:pPr algn="l">
              <a:lnSpc>
                <a:spcPct val="100000"/>
              </a:lnSpc>
            </a:pPr>
            <a:r>
              <a:rPr sz="1500" b="1" i="0">
                <a:solidFill>
                  <a:srgbClr val="FFFFFF"/>
                </a:solidFill>
                <a:latin typeface="Arial"/>
              </a:rPr>
              <a:t>Расследовательская журналистика</a:t>
            </a:r>
          </a:p>
        </p:txBody>
      </p:sp>
      <p:sp>
        <p:nvSpPr>
          <p:cNvPr id="7" name="TextBox 6"/>
          <p:cNvSpPr txBox="1"/>
          <p:nvPr/>
        </p:nvSpPr>
        <p:spPr>
          <a:xfrm>
            <a:off x="667512" y="2560320"/>
            <a:ext cx="3328416" cy="731520"/>
          </a:xfrm>
          <a:prstGeom prst="rect">
            <a:avLst/>
          </a:prstGeom>
          <a:noFill/>
        </p:spPr>
        <p:txBody>
          <a:bodyPr wrap="square" lIns="0" rIns="0" tIns="0" bIns="0" anchor="t">
            <a:spAutoFit/>
          </a:bodyPr>
          <a:lstStyle/>
          <a:p>
            <a:pPr algn="l">
              <a:lnSpc>
                <a:spcPct val="130000"/>
              </a:lnSpc>
            </a:pPr>
            <a:r>
              <a:rPr sz="1200" b="0" i="1">
                <a:solidFill>
                  <a:srgbClr val="065A82"/>
                </a:solidFill>
                <a:latin typeface="Arial"/>
              </a:rPr>
              <a:t>NYT/WaPo гайдлайны запрещают AI для первичного репортажа</a:t>
            </a:r>
          </a:p>
        </p:txBody>
      </p:sp>
      <p:sp>
        <p:nvSpPr>
          <p:cNvPr id="8" name="Rounded Rectangle 7"/>
          <p:cNvSpPr/>
          <p:nvPr/>
        </p:nvSpPr>
        <p:spPr>
          <a:xfrm>
            <a:off x="667512" y="3474720"/>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8680" y="3429000"/>
            <a:ext cx="3154680" cy="68580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Проверка источников — только человеком</a:t>
            </a:r>
          </a:p>
        </p:txBody>
      </p:sp>
      <p:sp>
        <p:nvSpPr>
          <p:cNvPr id="10" name="Rounded Rectangle 9"/>
          <p:cNvSpPr/>
          <p:nvPr/>
        </p:nvSpPr>
        <p:spPr>
          <a:xfrm>
            <a:off x="667512" y="4251959"/>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68680" y="4206240"/>
            <a:ext cx="3154680" cy="68580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Интервью под запись — только человеком</a:t>
            </a:r>
          </a:p>
        </p:txBody>
      </p:sp>
      <p:sp>
        <p:nvSpPr>
          <p:cNvPr id="12" name="Rounded Rectangle 11"/>
          <p:cNvSpPr/>
          <p:nvPr/>
        </p:nvSpPr>
        <p:spPr>
          <a:xfrm>
            <a:off x="667512" y="5029200"/>
            <a:ext cx="91440" cy="91440"/>
          </a:xfrm>
          <a:prstGeom prst="roundRect">
            <a:avLst>
              <a:gd name="adj" fmla="val 5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8680" y="4983480"/>
            <a:ext cx="3154680" cy="68580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Журналистика подотчётности — человеческая ответственность не делегируема</a:t>
            </a:r>
          </a:p>
        </p:txBody>
      </p:sp>
      <p:sp>
        <p:nvSpPr>
          <p:cNvPr id="14" name="Rounded Rectangle 13"/>
          <p:cNvSpPr/>
          <p:nvPr/>
        </p:nvSpPr>
        <p:spPr>
          <a:xfrm>
            <a:off x="4297680" y="1828800"/>
            <a:ext cx="3657600" cy="420624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4297680" y="1828800"/>
            <a:ext cx="3657600" cy="54864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434840" y="1901952"/>
            <a:ext cx="3383280" cy="411480"/>
          </a:xfrm>
          <a:prstGeom prst="rect">
            <a:avLst/>
          </a:prstGeom>
          <a:noFill/>
        </p:spPr>
        <p:txBody>
          <a:bodyPr wrap="square" lIns="0" rIns="0" tIns="0" bIns="0" anchor="ctr">
            <a:spAutoFit/>
          </a:bodyPr>
          <a:lstStyle/>
          <a:p>
            <a:pPr algn="l">
              <a:lnSpc>
                <a:spcPct val="100000"/>
              </a:lnSpc>
            </a:pPr>
            <a:r>
              <a:rPr sz="1500" b="1" i="0">
                <a:solidFill>
                  <a:srgbClr val="FFFFFF"/>
                </a:solidFill>
                <a:latin typeface="Arial"/>
              </a:rPr>
              <a:t>Оригинальное творческое руководство</a:t>
            </a:r>
          </a:p>
        </p:txBody>
      </p:sp>
      <p:sp>
        <p:nvSpPr>
          <p:cNvPr id="17" name="TextBox 16"/>
          <p:cNvSpPr txBox="1"/>
          <p:nvPr/>
        </p:nvSpPr>
        <p:spPr>
          <a:xfrm>
            <a:off x="4462272" y="2560320"/>
            <a:ext cx="3328416" cy="731520"/>
          </a:xfrm>
          <a:prstGeom prst="rect">
            <a:avLst/>
          </a:prstGeom>
          <a:noFill/>
        </p:spPr>
        <p:txBody>
          <a:bodyPr wrap="square" lIns="0" rIns="0" tIns="0" bIns="0" anchor="t">
            <a:spAutoFit/>
          </a:bodyPr>
          <a:lstStyle/>
          <a:p>
            <a:pPr algn="l">
              <a:lnSpc>
                <a:spcPct val="130000"/>
              </a:lnSpc>
            </a:pPr>
            <a:r>
              <a:rPr sz="1200" b="0" i="1">
                <a:solidFill>
                  <a:srgbClr val="065A82"/>
                </a:solidFill>
                <a:latin typeface="Arial"/>
              </a:rPr>
              <a:t>Эталонные брендовые кампании без человеческого лидерства = ущерб бренду</a:t>
            </a:r>
          </a:p>
        </p:txBody>
      </p:sp>
      <p:sp>
        <p:nvSpPr>
          <p:cNvPr id="18" name="Rounded Rectangle 17"/>
          <p:cNvSpPr/>
          <p:nvPr/>
        </p:nvSpPr>
        <p:spPr>
          <a:xfrm>
            <a:off x="4462272" y="3474720"/>
            <a:ext cx="91440" cy="914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663440" y="3429000"/>
            <a:ext cx="3154680" cy="68580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Toys R Us Cannes 2024 — разворот тональности −10 п.п.</a:t>
            </a:r>
          </a:p>
        </p:txBody>
      </p:sp>
      <p:sp>
        <p:nvSpPr>
          <p:cNvPr id="20" name="Rounded Rectangle 19"/>
          <p:cNvSpPr/>
          <p:nvPr/>
        </p:nvSpPr>
        <p:spPr>
          <a:xfrm>
            <a:off x="4462272" y="4251959"/>
            <a:ext cx="91440" cy="914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663440" y="4206240"/>
            <a:ext cx="3154680" cy="68580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Coca-Cola Christmas 2024 — прохладный приём</a:t>
            </a:r>
          </a:p>
        </p:txBody>
      </p:sp>
      <p:sp>
        <p:nvSpPr>
          <p:cNvPr id="22" name="Rounded Rectangle 21"/>
          <p:cNvSpPr/>
          <p:nvPr/>
        </p:nvSpPr>
        <p:spPr>
          <a:xfrm>
            <a:off x="4462272" y="5029200"/>
            <a:ext cx="91440" cy="91440"/>
          </a:xfrm>
          <a:prstGeom prst="roundRect">
            <a:avLst>
              <a:gd name="adj" fmla="val 5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663440" y="4983480"/>
            <a:ext cx="3154680" cy="68580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SI by-line — расследовательский скандал</a:t>
            </a:r>
          </a:p>
        </p:txBody>
      </p:sp>
      <p:sp>
        <p:nvSpPr>
          <p:cNvPr id="24" name="Rounded Rectangle 23"/>
          <p:cNvSpPr/>
          <p:nvPr/>
        </p:nvSpPr>
        <p:spPr>
          <a:xfrm>
            <a:off x="8092440" y="1828800"/>
            <a:ext cx="3657600" cy="4206240"/>
          </a:xfrm>
          <a:prstGeom prst="roundRect">
            <a:avLst>
              <a:gd name="adj" fmla="val 8333"/>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8092440" y="1828800"/>
            <a:ext cx="3657600" cy="548640"/>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229600" y="1901952"/>
            <a:ext cx="3383280" cy="411480"/>
          </a:xfrm>
          <a:prstGeom prst="rect">
            <a:avLst/>
          </a:prstGeom>
          <a:noFill/>
        </p:spPr>
        <p:txBody>
          <a:bodyPr wrap="square" lIns="0" rIns="0" tIns="0" bIns="0" anchor="ctr">
            <a:spAutoFit/>
          </a:bodyPr>
          <a:lstStyle/>
          <a:p>
            <a:pPr algn="l">
              <a:lnSpc>
                <a:spcPct val="100000"/>
              </a:lnSpc>
            </a:pPr>
            <a:r>
              <a:rPr sz="1500" b="1" i="0">
                <a:solidFill>
                  <a:srgbClr val="21295C"/>
                </a:solidFill>
                <a:latin typeface="Arial"/>
              </a:rPr>
              <a:t>Связный нарратив длинного формата</a:t>
            </a:r>
          </a:p>
        </p:txBody>
      </p:sp>
      <p:sp>
        <p:nvSpPr>
          <p:cNvPr id="27" name="TextBox 26"/>
          <p:cNvSpPr txBox="1"/>
          <p:nvPr/>
        </p:nvSpPr>
        <p:spPr>
          <a:xfrm>
            <a:off x="8257032" y="2560320"/>
            <a:ext cx="3328416" cy="731520"/>
          </a:xfrm>
          <a:prstGeom prst="rect">
            <a:avLst/>
          </a:prstGeom>
          <a:noFill/>
        </p:spPr>
        <p:txBody>
          <a:bodyPr wrap="square" lIns="0" rIns="0" tIns="0" bIns="0" anchor="t">
            <a:spAutoFit/>
          </a:bodyPr>
          <a:lstStyle/>
          <a:p>
            <a:pPr algn="l">
              <a:lnSpc>
                <a:spcPct val="130000"/>
              </a:lnSpc>
            </a:pPr>
            <a:r>
              <a:rPr sz="1200" b="0" i="1">
                <a:solidFill>
                  <a:srgbClr val="065A82"/>
                </a:solidFill>
                <a:latin typeface="Arial"/>
              </a:rPr>
              <a:t>Альбом 50 мин · многоактный сценарий — пока человек</a:t>
            </a:r>
          </a:p>
        </p:txBody>
      </p:sp>
      <p:sp>
        <p:nvSpPr>
          <p:cNvPr id="28" name="Rounded Rectangle 27"/>
          <p:cNvSpPr/>
          <p:nvPr/>
        </p:nvSpPr>
        <p:spPr>
          <a:xfrm>
            <a:off x="8257032" y="3474720"/>
            <a:ext cx="91440" cy="914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58200" y="3429000"/>
            <a:ext cx="3154680" cy="68580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Дрейф непрерывности персонажа после 5-10 сцен</a:t>
            </a:r>
          </a:p>
        </p:txBody>
      </p:sp>
      <p:sp>
        <p:nvSpPr>
          <p:cNvPr id="30" name="Rounded Rectangle 29"/>
          <p:cNvSpPr/>
          <p:nvPr/>
        </p:nvSpPr>
        <p:spPr>
          <a:xfrm>
            <a:off x="8257032" y="4251959"/>
            <a:ext cx="91440" cy="914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458200" y="4206240"/>
            <a:ext cx="3154680" cy="68580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Связность сюжета через 90+ минут — нет</a:t>
            </a:r>
          </a:p>
        </p:txBody>
      </p:sp>
      <p:sp>
        <p:nvSpPr>
          <p:cNvPr id="32" name="Rounded Rectangle 31"/>
          <p:cNvSpPr/>
          <p:nvPr/>
        </p:nvSpPr>
        <p:spPr>
          <a:xfrm>
            <a:off x="8257032" y="5029200"/>
            <a:ext cx="91440" cy="914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458200" y="4983480"/>
            <a:ext cx="3154680" cy="685800"/>
          </a:xfrm>
          <a:prstGeom prst="rect">
            <a:avLst/>
          </a:prstGeom>
          <a:noFill/>
        </p:spPr>
        <p:txBody>
          <a:bodyPr wrap="square" lIns="0" rIns="0" tIns="0" bIns="0" anchor="t">
            <a:spAutoFit/>
          </a:bodyPr>
          <a:lstStyle/>
          <a:p>
            <a:pPr algn="l">
              <a:lnSpc>
                <a:spcPct val="135000"/>
              </a:lnSpc>
            </a:pPr>
            <a:r>
              <a:rPr sz="1100" b="0" i="0">
                <a:solidFill>
                  <a:srgbClr val="21295C"/>
                </a:solidFill>
                <a:latin typeface="Arial"/>
              </a:rPr>
              <a:t>Связность голоса через целый альбом — нет</a:t>
            </a:r>
          </a:p>
        </p:txBody>
      </p:sp>
      <p:sp>
        <p:nvSpPr>
          <p:cNvPr id="34" name="TextBox 33"/>
          <p:cNvSpPr txBox="1"/>
          <p:nvPr/>
        </p:nvSpPr>
        <p:spPr>
          <a:xfrm>
            <a:off x="502920" y="6263640"/>
            <a:ext cx="11247120" cy="365760"/>
          </a:xfrm>
          <a:prstGeom prst="rect">
            <a:avLst/>
          </a:prstGeom>
          <a:noFill/>
        </p:spPr>
        <p:txBody>
          <a:bodyPr wrap="square" lIns="0" rIns="0" tIns="0" bIns="0" anchor="t">
            <a:spAutoFit/>
          </a:bodyPr>
          <a:lstStyle/>
          <a:p>
            <a:pPr algn="ctr">
              <a:lnSpc>
                <a:spcPct val="115000"/>
              </a:lnSpc>
            </a:pPr>
            <a:r>
              <a:rPr sz="1200" b="0" i="1">
                <a:solidFill>
                  <a:srgbClr val="1C7293"/>
                </a:solidFill>
                <a:latin typeface="Arial"/>
              </a:rPr>
              <a:t>Здесь — AI только как вспомогательный инструмент под надзором человека; никогда как слой замещения.</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AI-превью на YouTube · 47.3% креаторов отказались</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15000"/>
              </a:lnSpc>
            </a:pPr>
            <a:r>
              <a:rPr sz="1300" b="0" i="1">
                <a:solidFill>
                  <a:srgbClr val="065A82"/>
                </a:solidFill>
                <a:latin typeface="Arial"/>
              </a:rPr>
              <a:t>Эмпирическое отторжение конечными пользователями · опрос Social Blade Creator Survey · Дек 2025</a:t>
            </a:r>
          </a:p>
        </p:txBody>
      </p:sp>
      <p:sp>
        <p:nvSpPr>
          <p:cNvPr id="4" name="Rounded Rectangle 3"/>
          <p:cNvSpPr/>
          <p:nvPr/>
        </p:nvSpPr>
        <p:spPr>
          <a:xfrm>
            <a:off x="502920" y="1828800"/>
            <a:ext cx="3611880"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02920" y="1828800"/>
            <a:ext cx="3611880" cy="548640"/>
          </a:xfrm>
          <a:prstGeom prst="roundRect">
            <a:avLst>
              <a:gd name="adj" fmla="val 1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1901952"/>
            <a:ext cx="3337560" cy="411480"/>
          </a:xfrm>
          <a:prstGeom prst="rect">
            <a:avLst/>
          </a:prstGeom>
          <a:noFill/>
        </p:spPr>
        <p:txBody>
          <a:bodyPr wrap="square" lIns="0" rIns="0" tIns="0" bIns="0" anchor="ctr">
            <a:spAutoFit/>
          </a:bodyPr>
          <a:lstStyle/>
          <a:p>
            <a:pPr algn="l">
              <a:lnSpc>
                <a:spcPct val="115000"/>
              </a:lnSpc>
            </a:pPr>
            <a:r>
              <a:rPr sz="1500" b="1" i="0">
                <a:solidFill>
                  <a:srgbClr val="21295C"/>
                </a:solidFill>
                <a:latin typeface="Arial"/>
              </a:rPr>
              <a:t>#1</a:t>
            </a:r>
          </a:p>
        </p:txBody>
      </p:sp>
      <p:sp>
        <p:nvSpPr>
          <p:cNvPr id="7" name="TextBox 6"/>
          <p:cNvSpPr txBox="1"/>
          <p:nvPr/>
        </p:nvSpPr>
        <p:spPr>
          <a:xfrm>
            <a:off x="640080" y="2606040"/>
            <a:ext cx="3337560" cy="914400"/>
          </a:xfrm>
          <a:prstGeom prst="rect">
            <a:avLst/>
          </a:prstGeom>
          <a:noFill/>
        </p:spPr>
        <p:txBody>
          <a:bodyPr wrap="square" lIns="0" rIns="0" tIns="0" bIns="0" anchor="ctr">
            <a:spAutoFit/>
          </a:bodyPr>
          <a:lstStyle/>
          <a:p>
            <a:pPr algn="ctr">
              <a:lnSpc>
                <a:spcPct val="100000"/>
              </a:lnSpc>
            </a:pPr>
            <a:r>
              <a:rPr sz="3600" b="1" i="0">
                <a:solidFill>
                  <a:srgbClr val="F0AB00"/>
                </a:solidFill>
                <a:latin typeface="Arial"/>
              </a:rPr>
              <a:t>47.3%</a:t>
            </a:r>
          </a:p>
        </p:txBody>
      </p:sp>
      <p:sp>
        <p:nvSpPr>
          <p:cNvPr id="8" name="TextBox 7"/>
          <p:cNvSpPr txBox="1"/>
          <p:nvPr/>
        </p:nvSpPr>
        <p:spPr>
          <a:xfrm>
            <a:off x="685800" y="3611880"/>
            <a:ext cx="3246120" cy="914400"/>
          </a:xfrm>
          <a:prstGeom prst="rect">
            <a:avLst/>
          </a:prstGeom>
          <a:noFill/>
        </p:spPr>
        <p:txBody>
          <a:bodyPr wrap="square" lIns="0" rIns="0" tIns="0" bIns="0" anchor="t">
            <a:spAutoFit/>
          </a:bodyPr>
          <a:lstStyle/>
          <a:p>
            <a:pPr algn="ctr">
              <a:lnSpc>
                <a:spcPct val="140000"/>
              </a:lnSpc>
            </a:pPr>
            <a:r>
              <a:rPr sz="1200" b="0" i="1">
                <a:solidFill>
                  <a:srgbClr val="21295C"/>
                </a:solidFill>
                <a:latin typeface="Arial"/>
              </a:rPr>
              <a:t>креаторов отказались от
AI-превью</a:t>
            </a:r>
          </a:p>
        </p:txBody>
      </p:sp>
      <p:sp>
        <p:nvSpPr>
          <p:cNvPr id="9" name="Rounded Rectangle 8"/>
          <p:cNvSpPr/>
          <p:nvPr/>
        </p:nvSpPr>
        <p:spPr>
          <a:xfrm>
            <a:off x="4279392" y="1828800"/>
            <a:ext cx="3611880"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4279392" y="1828800"/>
            <a:ext cx="3611880" cy="548640"/>
          </a:xfrm>
          <a:prstGeom prst="roundRect">
            <a:avLst>
              <a:gd name="adj" fmla="val 1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416552" y="1901952"/>
            <a:ext cx="3337560" cy="411480"/>
          </a:xfrm>
          <a:prstGeom prst="rect">
            <a:avLst/>
          </a:prstGeom>
          <a:noFill/>
        </p:spPr>
        <p:txBody>
          <a:bodyPr wrap="square" lIns="0" rIns="0" tIns="0" bIns="0" anchor="ctr">
            <a:spAutoFit/>
          </a:bodyPr>
          <a:lstStyle/>
          <a:p>
            <a:pPr algn="l">
              <a:lnSpc>
                <a:spcPct val="115000"/>
              </a:lnSpc>
            </a:pPr>
            <a:r>
              <a:rPr sz="1500" b="1" i="0">
                <a:solidFill>
                  <a:srgbClr val="FFFFFF"/>
                </a:solidFill>
                <a:latin typeface="Arial"/>
              </a:rPr>
              <a:t>#2</a:t>
            </a:r>
          </a:p>
        </p:txBody>
      </p:sp>
      <p:sp>
        <p:nvSpPr>
          <p:cNvPr id="12" name="TextBox 11"/>
          <p:cNvSpPr txBox="1"/>
          <p:nvPr/>
        </p:nvSpPr>
        <p:spPr>
          <a:xfrm>
            <a:off x="4416552" y="2606040"/>
            <a:ext cx="3337560" cy="914400"/>
          </a:xfrm>
          <a:prstGeom prst="rect">
            <a:avLst/>
          </a:prstGeom>
          <a:noFill/>
        </p:spPr>
        <p:txBody>
          <a:bodyPr wrap="square" lIns="0" rIns="0" tIns="0" bIns="0" anchor="ctr">
            <a:spAutoFit/>
          </a:bodyPr>
          <a:lstStyle/>
          <a:p>
            <a:pPr algn="ctr">
              <a:lnSpc>
                <a:spcPct val="100000"/>
              </a:lnSpc>
            </a:pPr>
            <a:r>
              <a:rPr sz="3600" b="1" i="0">
                <a:solidFill>
                  <a:srgbClr val="F0AB00"/>
                </a:solidFill>
                <a:latin typeface="Arial"/>
              </a:rPr>
              <a:t>−22% / −19%</a:t>
            </a:r>
          </a:p>
        </p:txBody>
      </p:sp>
      <p:sp>
        <p:nvSpPr>
          <p:cNvPr id="13" name="TextBox 12"/>
          <p:cNvSpPr txBox="1"/>
          <p:nvPr/>
        </p:nvSpPr>
        <p:spPr>
          <a:xfrm>
            <a:off x="4462272" y="3611880"/>
            <a:ext cx="3246120" cy="914400"/>
          </a:xfrm>
          <a:prstGeom prst="rect">
            <a:avLst/>
          </a:prstGeom>
          <a:noFill/>
        </p:spPr>
        <p:txBody>
          <a:bodyPr wrap="square" lIns="0" rIns="0" tIns="0" bIns="0" anchor="t">
            <a:spAutoFit/>
          </a:bodyPr>
          <a:lstStyle/>
          <a:p>
            <a:pPr algn="ctr">
              <a:lnSpc>
                <a:spcPct val="140000"/>
              </a:lnSpc>
            </a:pPr>
            <a:r>
              <a:rPr sz="1200" b="0" i="1">
                <a:solidFill>
                  <a:srgbClr val="21295C"/>
                </a:solidFill>
                <a:latin typeface="Arial"/>
              </a:rPr>
              <a:t>падение CTR:
жуткая кожа / провал текста на мобильных</a:t>
            </a:r>
          </a:p>
        </p:txBody>
      </p:sp>
      <p:sp>
        <p:nvSpPr>
          <p:cNvPr id="14" name="Rounded Rectangle 13"/>
          <p:cNvSpPr/>
          <p:nvPr/>
        </p:nvSpPr>
        <p:spPr>
          <a:xfrm>
            <a:off x="8055864" y="1828800"/>
            <a:ext cx="3611880" cy="2743200"/>
          </a:xfrm>
          <a:prstGeom prst="roundRect">
            <a:avLst>
              <a:gd name="adj" fmla="val 11111"/>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8055864" y="1828800"/>
            <a:ext cx="3611880" cy="548640"/>
          </a:xfrm>
          <a:prstGeom prst="roundRect">
            <a:avLst>
              <a:gd name="adj" fmla="val 1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193024" y="1901952"/>
            <a:ext cx="3337560" cy="411480"/>
          </a:xfrm>
          <a:prstGeom prst="rect">
            <a:avLst/>
          </a:prstGeom>
          <a:noFill/>
        </p:spPr>
        <p:txBody>
          <a:bodyPr wrap="square" lIns="0" rIns="0" tIns="0" bIns="0" anchor="ctr">
            <a:spAutoFit/>
          </a:bodyPr>
          <a:lstStyle/>
          <a:p>
            <a:pPr algn="l">
              <a:lnSpc>
                <a:spcPct val="115000"/>
              </a:lnSpc>
            </a:pPr>
            <a:r>
              <a:rPr sz="1500" b="1" i="0">
                <a:solidFill>
                  <a:srgbClr val="FFFFFF"/>
                </a:solidFill>
                <a:latin typeface="Arial"/>
              </a:rPr>
              <a:t>#3</a:t>
            </a:r>
          </a:p>
        </p:txBody>
      </p:sp>
      <p:sp>
        <p:nvSpPr>
          <p:cNvPr id="17" name="TextBox 16"/>
          <p:cNvSpPr txBox="1"/>
          <p:nvPr/>
        </p:nvSpPr>
        <p:spPr>
          <a:xfrm>
            <a:off x="8193024" y="2606040"/>
            <a:ext cx="3337560" cy="914400"/>
          </a:xfrm>
          <a:prstGeom prst="rect">
            <a:avLst/>
          </a:prstGeom>
          <a:noFill/>
        </p:spPr>
        <p:txBody>
          <a:bodyPr wrap="square" lIns="0" rIns="0" tIns="0" bIns="0" anchor="ctr">
            <a:spAutoFit/>
          </a:bodyPr>
          <a:lstStyle/>
          <a:p>
            <a:pPr algn="ctr">
              <a:lnSpc>
                <a:spcPct val="100000"/>
              </a:lnSpc>
            </a:pPr>
            <a:r>
              <a:rPr sz="3600" b="1" i="0">
                <a:solidFill>
                  <a:srgbClr val="F0AB00"/>
                </a:solidFill>
                <a:latin typeface="Arial"/>
              </a:rPr>
              <a:t>−61.8%</a:t>
            </a:r>
          </a:p>
        </p:txBody>
      </p:sp>
      <p:sp>
        <p:nvSpPr>
          <p:cNvPr id="18" name="TextBox 17"/>
          <p:cNvSpPr txBox="1"/>
          <p:nvPr/>
        </p:nvSpPr>
        <p:spPr>
          <a:xfrm>
            <a:off x="8238744" y="3611880"/>
            <a:ext cx="3246120" cy="914400"/>
          </a:xfrm>
          <a:prstGeom prst="rect">
            <a:avLst/>
          </a:prstGeom>
          <a:noFill/>
        </p:spPr>
        <p:txBody>
          <a:bodyPr wrap="square" lIns="0" rIns="0" tIns="0" bIns="0" anchor="t">
            <a:spAutoFit/>
          </a:bodyPr>
          <a:lstStyle/>
          <a:p>
            <a:pPr algn="ctr">
              <a:lnSpc>
                <a:spcPct val="140000"/>
              </a:lnSpc>
            </a:pPr>
            <a:r>
              <a:rPr sz="1200" b="0" i="1">
                <a:solidFill>
                  <a:srgbClr val="21295C"/>
                </a:solidFill>
                <a:latin typeface="Arial"/>
              </a:rPr>
              <a:t>отвал в первые 15 сек
несоответствие обещания и контента</a:t>
            </a:r>
          </a:p>
        </p:txBody>
      </p:sp>
      <p:sp>
        <p:nvSpPr>
          <p:cNvPr id="19" name="Rounded Rectangle 18"/>
          <p:cNvSpPr/>
          <p:nvPr/>
        </p:nvSpPr>
        <p:spPr>
          <a:xfrm>
            <a:off x="502920" y="4846320"/>
            <a:ext cx="11247120" cy="1691640"/>
          </a:xfrm>
          <a:prstGeom prst="roundRect">
            <a:avLst>
              <a:gd name="adj" fmla="val 18018"/>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67512" y="4937759"/>
            <a:ext cx="10917936" cy="292608"/>
          </a:xfrm>
          <a:prstGeom prst="rect">
            <a:avLst/>
          </a:prstGeom>
          <a:noFill/>
        </p:spPr>
        <p:txBody>
          <a:bodyPr wrap="square" lIns="0" rIns="0" tIns="0" bIns="0" anchor="t">
            <a:spAutoFit/>
          </a:bodyPr>
          <a:lstStyle/>
          <a:p>
            <a:pPr algn="l">
              <a:lnSpc>
                <a:spcPct val="100000"/>
              </a:lnSpc>
            </a:pPr>
            <a:r>
              <a:rPr sz="1100" b="1" i="0">
                <a:solidFill>
                  <a:srgbClr val="F0AB00"/>
                </a:solidFill>
                <a:latin typeface="Arial"/>
              </a:rPr>
              <a:t>УРОК ДЛЯ ИНЖЕНЕРА</a:t>
            </a:r>
          </a:p>
        </p:txBody>
      </p:sp>
      <p:sp>
        <p:nvSpPr>
          <p:cNvPr id="21" name="TextBox 20"/>
          <p:cNvSpPr txBox="1"/>
          <p:nvPr/>
        </p:nvSpPr>
        <p:spPr>
          <a:xfrm>
            <a:off x="667512" y="5257800"/>
            <a:ext cx="10917936" cy="1188720"/>
          </a:xfrm>
          <a:prstGeom prst="rect">
            <a:avLst/>
          </a:prstGeom>
          <a:noFill/>
        </p:spPr>
        <p:txBody>
          <a:bodyPr wrap="square" lIns="0" rIns="0" tIns="0" bIns="0" anchor="t">
            <a:spAutoFit/>
          </a:bodyPr>
          <a:lstStyle/>
          <a:p>
            <a:pPr algn="l">
              <a:lnSpc>
                <a:spcPct val="130000"/>
              </a:lnSpc>
            </a:pPr>
            <a:r>
              <a:rPr sz="1400" b="1" i="0">
                <a:solidFill>
                  <a:srgbClr val="21295C"/>
                </a:solidFill>
                <a:latin typeface="Arial"/>
              </a:rPr>
              <a:t>Конечные пользователи замечают и наказывают AI-срезание углов. Риск доверия к бренду не теоретический — измеримые CTR + отвал + удержание. Если продукт опирается на AI-визуалы для конечных пользователей, измеряй не только стоимость генерации — измеряй CTR, удержание, отношение к бренду.</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914400"/>
            <a:ext cx="3657600" cy="4114800"/>
          </a:xfrm>
          <a:prstGeom prst="rect">
            <a:avLst/>
          </a:prstGeom>
          <a:noFill/>
        </p:spPr>
        <p:txBody>
          <a:bodyPr wrap="square" lIns="0" rIns="0" tIns="0" bIns="0" anchor="t">
            <a:spAutoFit/>
          </a:bodyPr>
          <a:lstStyle/>
          <a:p>
            <a:pPr algn="ctr">
              <a:lnSpc>
                <a:spcPct val="100000"/>
              </a:lnSpc>
            </a:pPr>
            <a:r>
              <a:rPr sz="30000" b="1" i="0">
                <a:solidFill>
                  <a:srgbClr val="D9E2EC"/>
                </a:solidFill>
                <a:latin typeface="Arial"/>
              </a:rPr>
              <a:t>5</a:t>
            </a:r>
          </a:p>
        </p:txBody>
      </p:sp>
      <p:sp>
        <p:nvSpPr>
          <p:cNvPr id="3" name="TextBox 2"/>
          <p:cNvSpPr txBox="1"/>
          <p:nvPr/>
        </p:nvSpPr>
        <p:spPr>
          <a:xfrm>
            <a:off x="4297680" y="1463040"/>
            <a:ext cx="7315200" cy="457200"/>
          </a:xfrm>
          <a:prstGeom prst="rect">
            <a:avLst/>
          </a:prstGeom>
          <a:noFill/>
        </p:spPr>
        <p:txBody>
          <a:bodyPr wrap="square" lIns="0" rIns="0" tIns="0" bIns="0" anchor="t">
            <a:spAutoFit/>
          </a:bodyPr>
          <a:lstStyle/>
          <a:p>
            <a:pPr algn="l">
              <a:lnSpc>
                <a:spcPct val="100000"/>
              </a:lnSpc>
            </a:pPr>
            <a:r>
              <a:rPr sz="1800" b="1" i="0">
                <a:solidFill>
                  <a:srgbClr val="028090"/>
                </a:solidFill>
                <a:latin typeface="Arial"/>
              </a:rPr>
              <a:t>РАЗДЕЛ</a:t>
            </a:r>
          </a:p>
        </p:txBody>
      </p:sp>
      <p:sp>
        <p:nvSpPr>
          <p:cNvPr id="4" name="TextBox 3"/>
          <p:cNvSpPr txBox="1"/>
          <p:nvPr/>
        </p:nvSpPr>
        <p:spPr>
          <a:xfrm>
            <a:off x="4297680" y="1965960"/>
            <a:ext cx="7315200" cy="1645920"/>
          </a:xfrm>
          <a:prstGeom prst="rect">
            <a:avLst/>
          </a:prstGeom>
          <a:noFill/>
        </p:spPr>
        <p:txBody>
          <a:bodyPr wrap="square" lIns="0" rIns="0" tIns="0" bIns="0" anchor="t">
            <a:spAutoFit/>
          </a:bodyPr>
          <a:lstStyle/>
          <a:p>
            <a:pPr algn="l">
              <a:lnSpc>
                <a:spcPct val="115000"/>
              </a:lnSpc>
            </a:pPr>
            <a:r>
              <a:rPr sz="4400" b="1" i="0">
                <a:solidFill>
                  <a:srgbClr val="21295C"/>
                </a:solidFill>
                <a:latin typeface="Arial"/>
              </a:rPr>
              <a:t>Что инженеру делать</a:t>
            </a:r>
          </a:p>
        </p:txBody>
      </p:sp>
      <p:sp>
        <p:nvSpPr>
          <p:cNvPr id="5" name="Rectangle 4"/>
          <p:cNvSpPr/>
          <p:nvPr/>
        </p:nvSpPr>
        <p:spPr>
          <a:xfrm>
            <a:off x="4297680" y="3611880"/>
            <a:ext cx="36576" cy="502920"/>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434840" y="3611880"/>
            <a:ext cx="7223760" cy="914400"/>
          </a:xfrm>
          <a:prstGeom prst="rect">
            <a:avLst/>
          </a:prstGeom>
          <a:noFill/>
        </p:spPr>
        <p:txBody>
          <a:bodyPr wrap="square" lIns="0" rIns="0" tIns="0" bIns="0" anchor="t">
            <a:spAutoFit/>
          </a:bodyPr>
          <a:lstStyle/>
          <a:p>
            <a:pPr algn="l">
              <a:lnSpc>
                <a:spcPct val="130000"/>
              </a:lnSpc>
            </a:pPr>
            <a:r>
              <a:rPr sz="1600" b="0" i="0">
                <a:solidFill>
                  <a:srgbClr val="065A82"/>
                </a:solidFill>
                <a:latin typeface="Arial"/>
              </a:rPr>
              <a:t>Чек-лист к действию · 5-вопросный · главный итог лекции.</a:t>
            </a:r>
          </a:p>
        </p:txBody>
      </p:sp>
      <p:sp>
        <p:nvSpPr>
          <p:cNvPr id="7" name="Rounded Rectangle 6"/>
          <p:cNvSpPr/>
          <p:nvPr/>
        </p:nvSpPr>
        <p:spPr>
          <a:xfrm>
            <a:off x="502920" y="5349240"/>
            <a:ext cx="1783080"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02920" y="5422392"/>
            <a:ext cx="1783080" cy="365760"/>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0</a:t>
            </a:r>
          </a:p>
        </p:txBody>
      </p:sp>
      <p:sp>
        <p:nvSpPr>
          <p:cNvPr id="9" name="TextBox 8"/>
          <p:cNvSpPr txBox="1"/>
          <p:nvPr/>
        </p:nvSpPr>
        <p:spPr>
          <a:xfrm>
            <a:off x="539496" y="5769864"/>
            <a:ext cx="1709928" cy="411479"/>
          </a:xfrm>
          <a:prstGeom prst="rect">
            <a:avLst/>
          </a:prstGeom>
          <a:noFill/>
        </p:spPr>
        <p:txBody>
          <a:bodyPr wrap="square" lIns="0" rIns="0" tIns="0" bIns="0" anchor="t">
            <a:spAutoFit/>
          </a:bodyPr>
          <a:lstStyle/>
          <a:p>
            <a:pPr algn="ctr">
              <a:lnSpc>
                <a:spcPct val="115000"/>
              </a:lnSpc>
            </a:pPr>
            <a:r>
              <a:rPr sz="900" b="0" i="0">
                <a:solidFill>
                  <a:srgbClr val="065A82"/>
                </a:solidFill>
                <a:latin typeface="Arial"/>
              </a:rPr>
              <a:t>Открытие
+ ось лекции</a:t>
            </a:r>
          </a:p>
        </p:txBody>
      </p:sp>
      <p:sp>
        <p:nvSpPr>
          <p:cNvPr id="10" name="Rounded Rectangle 9"/>
          <p:cNvSpPr/>
          <p:nvPr/>
        </p:nvSpPr>
        <p:spPr>
          <a:xfrm>
            <a:off x="2395728" y="5349240"/>
            <a:ext cx="1783080"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395728" y="5422392"/>
            <a:ext cx="1783080" cy="365760"/>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1</a:t>
            </a:r>
          </a:p>
        </p:txBody>
      </p:sp>
      <p:sp>
        <p:nvSpPr>
          <p:cNvPr id="12" name="TextBox 11"/>
          <p:cNvSpPr txBox="1"/>
          <p:nvPr/>
        </p:nvSpPr>
        <p:spPr>
          <a:xfrm>
            <a:off x="2432304" y="5769864"/>
            <a:ext cx="1709928" cy="411479"/>
          </a:xfrm>
          <a:prstGeom prst="rect">
            <a:avLst/>
          </a:prstGeom>
          <a:noFill/>
        </p:spPr>
        <p:txBody>
          <a:bodyPr wrap="square" lIns="0" rIns="0" tIns="0" bIns="0" anchor="t">
            <a:spAutoFit/>
          </a:bodyPr>
          <a:lstStyle/>
          <a:p>
            <a:pPr algn="ctr">
              <a:lnSpc>
                <a:spcPct val="115000"/>
              </a:lnSpc>
            </a:pPr>
            <a:r>
              <a:rPr sz="900" b="0" i="0">
                <a:solidFill>
                  <a:srgbClr val="065A82"/>
                </a:solidFill>
                <a:latin typeface="Arial"/>
              </a:rPr>
              <a:t>AI ДОБАВИЛ</a:t>
            </a:r>
          </a:p>
        </p:txBody>
      </p:sp>
      <p:sp>
        <p:nvSpPr>
          <p:cNvPr id="13" name="Rounded Rectangle 12"/>
          <p:cNvSpPr/>
          <p:nvPr/>
        </p:nvSpPr>
        <p:spPr>
          <a:xfrm>
            <a:off x="4288536" y="5349240"/>
            <a:ext cx="1783080"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288536" y="5422392"/>
            <a:ext cx="1783080" cy="365760"/>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2</a:t>
            </a:r>
          </a:p>
        </p:txBody>
      </p:sp>
      <p:sp>
        <p:nvSpPr>
          <p:cNvPr id="15" name="TextBox 14"/>
          <p:cNvSpPr txBox="1"/>
          <p:nvPr/>
        </p:nvSpPr>
        <p:spPr>
          <a:xfrm>
            <a:off x="4325112" y="5769864"/>
            <a:ext cx="1709928" cy="411479"/>
          </a:xfrm>
          <a:prstGeom prst="rect">
            <a:avLst/>
          </a:prstGeom>
          <a:noFill/>
        </p:spPr>
        <p:txBody>
          <a:bodyPr wrap="square" lIns="0" rIns="0" tIns="0" bIns="0" anchor="t">
            <a:spAutoFit/>
          </a:bodyPr>
          <a:lstStyle/>
          <a:p>
            <a:pPr algn="ctr">
              <a:lnSpc>
                <a:spcPct val="115000"/>
              </a:lnSpc>
            </a:pPr>
            <a:r>
              <a:rPr sz="900" b="0" i="0">
                <a:solidFill>
                  <a:srgbClr val="065A82"/>
                </a:solidFill>
                <a:latin typeface="Arial"/>
              </a:rPr>
              <a:t>AI ИЗМЕНИЛ</a:t>
            </a:r>
          </a:p>
        </p:txBody>
      </p:sp>
      <p:sp>
        <p:nvSpPr>
          <p:cNvPr id="16" name="Rounded Rectangle 15"/>
          <p:cNvSpPr/>
          <p:nvPr/>
        </p:nvSpPr>
        <p:spPr>
          <a:xfrm>
            <a:off x="6181344" y="5349240"/>
            <a:ext cx="1783080"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181344" y="5422392"/>
            <a:ext cx="1783080" cy="365760"/>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3</a:t>
            </a:r>
          </a:p>
        </p:txBody>
      </p:sp>
      <p:sp>
        <p:nvSpPr>
          <p:cNvPr id="18" name="TextBox 17"/>
          <p:cNvSpPr txBox="1"/>
          <p:nvPr/>
        </p:nvSpPr>
        <p:spPr>
          <a:xfrm>
            <a:off x="6217920" y="5769864"/>
            <a:ext cx="1709928" cy="411479"/>
          </a:xfrm>
          <a:prstGeom prst="rect">
            <a:avLst/>
          </a:prstGeom>
          <a:noFill/>
        </p:spPr>
        <p:txBody>
          <a:bodyPr wrap="square" lIns="0" rIns="0" tIns="0" bIns="0" anchor="t">
            <a:spAutoFit/>
          </a:bodyPr>
          <a:lstStyle/>
          <a:p>
            <a:pPr algn="ctr">
              <a:lnSpc>
                <a:spcPct val="115000"/>
              </a:lnSpc>
            </a:pPr>
            <a:r>
              <a:rPr sz="900" b="0" i="0">
                <a:solidFill>
                  <a:srgbClr val="065A82"/>
                </a:solidFill>
                <a:latin typeface="Arial"/>
              </a:rPr>
              <a:t>AI СЛОМАЛ</a:t>
            </a:r>
          </a:p>
        </p:txBody>
      </p:sp>
      <p:sp>
        <p:nvSpPr>
          <p:cNvPr id="19" name="Rounded Rectangle 18"/>
          <p:cNvSpPr/>
          <p:nvPr/>
        </p:nvSpPr>
        <p:spPr>
          <a:xfrm>
            <a:off x="8074152" y="5349240"/>
            <a:ext cx="1783080" cy="868680"/>
          </a:xfrm>
          <a:prstGeom prst="roundRect">
            <a:avLst>
              <a:gd name="adj" fmla="val 25000"/>
            </a:avLst>
          </a:prstGeom>
          <a:solidFill>
            <a:srgbClr val="E6F2F4"/>
          </a:solidFill>
          <a:ln w="1524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74152" y="5422392"/>
            <a:ext cx="1783080" cy="365760"/>
          </a:xfrm>
          <a:prstGeom prst="rect">
            <a:avLst/>
          </a:prstGeom>
          <a:noFill/>
        </p:spPr>
        <p:txBody>
          <a:bodyPr wrap="square" lIns="0" rIns="0" tIns="0" bIns="0" anchor="t">
            <a:spAutoFit/>
          </a:bodyPr>
          <a:lstStyle/>
          <a:p>
            <a:pPr algn="ctr">
              <a:lnSpc>
                <a:spcPct val="100000"/>
              </a:lnSpc>
            </a:pPr>
            <a:r>
              <a:rPr sz="2200" b="1" i="0">
                <a:solidFill>
                  <a:srgbClr val="028090"/>
                </a:solidFill>
                <a:latin typeface="Arial"/>
              </a:rPr>
              <a:t>4</a:t>
            </a:r>
          </a:p>
        </p:txBody>
      </p:sp>
      <p:sp>
        <p:nvSpPr>
          <p:cNvPr id="21" name="TextBox 20"/>
          <p:cNvSpPr txBox="1"/>
          <p:nvPr/>
        </p:nvSpPr>
        <p:spPr>
          <a:xfrm>
            <a:off x="8110728" y="5769864"/>
            <a:ext cx="1709928" cy="411479"/>
          </a:xfrm>
          <a:prstGeom prst="rect">
            <a:avLst/>
          </a:prstGeom>
          <a:noFill/>
        </p:spPr>
        <p:txBody>
          <a:bodyPr wrap="square" lIns="0" rIns="0" tIns="0" bIns="0" anchor="t">
            <a:spAutoFit/>
          </a:bodyPr>
          <a:lstStyle/>
          <a:p>
            <a:pPr algn="ctr">
              <a:lnSpc>
                <a:spcPct val="115000"/>
              </a:lnSpc>
            </a:pPr>
            <a:r>
              <a:rPr sz="900" b="0" i="0">
                <a:solidFill>
                  <a:srgbClr val="065A82"/>
                </a:solidFill>
                <a:latin typeface="Arial"/>
              </a:rPr>
              <a:t>AI не нужен</a:t>
            </a:r>
          </a:p>
        </p:txBody>
      </p:sp>
      <p:sp>
        <p:nvSpPr>
          <p:cNvPr id="22" name="Rounded Rectangle 21"/>
          <p:cNvSpPr/>
          <p:nvPr/>
        </p:nvSpPr>
        <p:spPr>
          <a:xfrm>
            <a:off x="9966960" y="5349240"/>
            <a:ext cx="1783080" cy="868680"/>
          </a:xfrm>
          <a:prstGeom prst="roundRect">
            <a:avLst>
              <a:gd name="adj" fmla="val 25000"/>
            </a:avLst>
          </a:prstGeom>
          <a:solidFill>
            <a:srgbClr val="F0AB00"/>
          </a:solidFill>
          <a:ln w="2540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966960" y="5422392"/>
            <a:ext cx="1783080" cy="365760"/>
          </a:xfrm>
          <a:prstGeom prst="rect">
            <a:avLst/>
          </a:prstGeom>
          <a:noFill/>
        </p:spPr>
        <p:txBody>
          <a:bodyPr wrap="square" lIns="0" rIns="0" tIns="0" bIns="0" anchor="t">
            <a:spAutoFit/>
          </a:bodyPr>
          <a:lstStyle/>
          <a:p>
            <a:pPr algn="ctr">
              <a:lnSpc>
                <a:spcPct val="100000"/>
              </a:lnSpc>
            </a:pPr>
            <a:r>
              <a:rPr sz="2200" b="1" i="0">
                <a:solidFill>
                  <a:srgbClr val="FFFFFF"/>
                </a:solidFill>
                <a:latin typeface="Arial"/>
              </a:rPr>
              <a:t>5</a:t>
            </a:r>
          </a:p>
        </p:txBody>
      </p:sp>
      <p:sp>
        <p:nvSpPr>
          <p:cNvPr id="24" name="TextBox 23"/>
          <p:cNvSpPr txBox="1"/>
          <p:nvPr/>
        </p:nvSpPr>
        <p:spPr>
          <a:xfrm>
            <a:off x="10003536" y="5769864"/>
            <a:ext cx="1709928" cy="411479"/>
          </a:xfrm>
          <a:prstGeom prst="rect">
            <a:avLst/>
          </a:prstGeom>
          <a:noFill/>
        </p:spPr>
        <p:txBody>
          <a:bodyPr wrap="square" lIns="0" rIns="0" tIns="0" bIns="0" anchor="t">
            <a:spAutoFit/>
          </a:bodyPr>
          <a:lstStyle/>
          <a:p>
            <a:pPr algn="ctr">
              <a:lnSpc>
                <a:spcPct val="115000"/>
              </a:lnSpc>
            </a:pPr>
            <a:r>
              <a:rPr sz="900" b="1" i="0">
                <a:solidFill>
                  <a:srgbClr val="FFFFFF"/>
                </a:solidFill>
                <a:latin typeface="Arial"/>
              </a:rPr>
              <a:t>Что делать</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411480"/>
            <a:ext cx="11247120" cy="685800"/>
          </a:xfrm>
          <a:prstGeom prst="rect">
            <a:avLst/>
          </a:prstGeom>
          <a:noFill/>
        </p:spPr>
        <p:txBody>
          <a:bodyPr wrap="square" lIns="0" rIns="0" tIns="0" bIns="0" anchor="t">
            <a:spAutoFit/>
          </a:bodyPr>
          <a:lstStyle/>
          <a:p>
            <a:pPr algn="l">
              <a:lnSpc>
                <a:spcPct val="115000"/>
              </a:lnSpc>
            </a:pPr>
            <a:r>
              <a:rPr sz="2600" b="1" i="0">
                <a:solidFill>
                  <a:srgbClr val="21295C"/>
                </a:solidFill>
                <a:latin typeface="Arial"/>
              </a:rPr>
              <a:t>5-вопросный чек-лист перед AI в творческом проекте</a:t>
            </a:r>
          </a:p>
        </p:txBody>
      </p:sp>
      <p:sp>
        <p:nvSpPr>
          <p:cNvPr id="3" name="TextBox 2"/>
          <p:cNvSpPr txBox="1"/>
          <p:nvPr/>
        </p:nvSpPr>
        <p:spPr>
          <a:xfrm>
            <a:off x="502920" y="1097280"/>
            <a:ext cx="11247120" cy="457200"/>
          </a:xfrm>
          <a:prstGeom prst="rect">
            <a:avLst/>
          </a:prstGeom>
          <a:noFill/>
        </p:spPr>
        <p:txBody>
          <a:bodyPr wrap="square" lIns="0" rIns="0" tIns="0" bIns="0" anchor="t">
            <a:spAutoFit/>
          </a:bodyPr>
          <a:lstStyle/>
          <a:p>
            <a:pPr algn="l">
              <a:lnSpc>
                <a:spcPct val="115000"/>
              </a:lnSpc>
            </a:pPr>
            <a:r>
              <a:rPr sz="1400" b="0" i="1">
                <a:solidFill>
                  <a:srgbClr val="065A82"/>
                </a:solidFill>
                <a:latin typeface="Arial"/>
              </a:rPr>
              <a:t>Применяй ДО старта, не после. Если хоть один «нет/риск» — пересмотри подход.</a:t>
            </a:r>
          </a:p>
        </p:txBody>
      </p:sp>
      <p:sp>
        <p:nvSpPr>
          <p:cNvPr id="4" name="Rounded Rectangle 3"/>
          <p:cNvSpPr/>
          <p:nvPr/>
        </p:nvSpPr>
        <p:spPr>
          <a:xfrm>
            <a:off x="502920" y="1828800"/>
            <a:ext cx="777240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94360" y="1938528"/>
            <a:ext cx="640080" cy="649224"/>
          </a:xfrm>
          <a:prstGeom prst="roundRect">
            <a:avLst>
              <a:gd name="adj" fmla="val 2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94360" y="1938528"/>
            <a:ext cx="640080" cy="649224"/>
          </a:xfrm>
          <a:prstGeom prst="rect">
            <a:avLst/>
          </a:prstGeom>
          <a:noFill/>
        </p:spPr>
        <p:txBody>
          <a:bodyPr wrap="square" lIns="0" rIns="0" tIns="0" bIns="0" anchor="ctr">
            <a:spAutoFit/>
          </a:bodyPr>
          <a:lstStyle/>
          <a:p>
            <a:pPr algn="ctr">
              <a:lnSpc>
                <a:spcPct val="100000"/>
              </a:lnSpc>
            </a:pPr>
            <a:r>
              <a:rPr sz="2000" b="1" i="0">
                <a:solidFill>
                  <a:srgbClr val="FFFFFF"/>
                </a:solidFill>
                <a:latin typeface="Arial"/>
              </a:rPr>
              <a:t>1.</a:t>
            </a:r>
          </a:p>
        </p:txBody>
      </p:sp>
      <p:sp>
        <p:nvSpPr>
          <p:cNvPr id="7" name="TextBox 6"/>
          <p:cNvSpPr txBox="1"/>
          <p:nvPr/>
        </p:nvSpPr>
        <p:spPr>
          <a:xfrm>
            <a:off x="1371600" y="1920240"/>
            <a:ext cx="6812280" cy="365760"/>
          </a:xfrm>
          <a:prstGeom prst="rect">
            <a:avLst/>
          </a:prstGeom>
          <a:noFill/>
        </p:spPr>
        <p:txBody>
          <a:bodyPr wrap="square" lIns="0" rIns="0" tIns="0" bIns="0" anchor="t">
            <a:spAutoFit/>
          </a:bodyPr>
          <a:lstStyle/>
          <a:p>
            <a:pPr algn="l">
              <a:lnSpc>
                <a:spcPct val="100000"/>
              </a:lnSpc>
            </a:pPr>
            <a:r>
              <a:rPr sz="1400" b="1" i="0">
                <a:solidFill>
                  <a:srgbClr val="21295C"/>
                </a:solidFill>
                <a:latin typeface="Arial"/>
              </a:rPr>
              <a:t>Лицензирование обучающих данных у инструмента?</a:t>
            </a:r>
          </a:p>
        </p:txBody>
      </p:sp>
      <p:sp>
        <p:nvSpPr>
          <p:cNvPr id="8" name="TextBox 7"/>
          <p:cNvSpPr txBox="1"/>
          <p:nvPr/>
        </p:nvSpPr>
        <p:spPr>
          <a:xfrm>
            <a:off x="1371600" y="2286000"/>
            <a:ext cx="6812280" cy="365760"/>
          </a:xfrm>
          <a:prstGeom prst="rect">
            <a:avLst/>
          </a:prstGeom>
          <a:noFill/>
        </p:spPr>
        <p:txBody>
          <a:bodyPr wrap="square" lIns="0" rIns="0" tIns="0" bIns="0" anchor="t">
            <a:spAutoFit/>
          </a:bodyPr>
          <a:lstStyle/>
          <a:p>
            <a:pPr algn="l">
              <a:lnSpc>
                <a:spcPct val="120000"/>
              </a:lnSpc>
            </a:pPr>
            <a:r>
              <a:rPr sz="1100" b="0" i="1">
                <a:solidFill>
                  <a:srgbClr val="6B7685"/>
                </a:solidFill>
                <a:latin typeface="Arial"/>
              </a:rPr>
              <a:t>Firefly = да (Adobe Stock + лицензированный контент) · SD/Midjourney = риски класса Andersen</a:t>
            </a:r>
          </a:p>
        </p:txBody>
      </p:sp>
      <p:sp>
        <p:nvSpPr>
          <p:cNvPr id="9" name="Rounded Rectangle 8"/>
          <p:cNvSpPr/>
          <p:nvPr/>
        </p:nvSpPr>
        <p:spPr>
          <a:xfrm>
            <a:off x="502920" y="2788920"/>
            <a:ext cx="777240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94360" y="2898648"/>
            <a:ext cx="640080" cy="649224"/>
          </a:xfrm>
          <a:prstGeom prst="roundRect">
            <a:avLst>
              <a:gd name="adj" fmla="val 2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94360" y="2898648"/>
            <a:ext cx="640080" cy="649224"/>
          </a:xfrm>
          <a:prstGeom prst="rect">
            <a:avLst/>
          </a:prstGeom>
          <a:noFill/>
        </p:spPr>
        <p:txBody>
          <a:bodyPr wrap="square" lIns="0" rIns="0" tIns="0" bIns="0" anchor="ctr">
            <a:spAutoFit/>
          </a:bodyPr>
          <a:lstStyle/>
          <a:p>
            <a:pPr algn="ctr">
              <a:lnSpc>
                <a:spcPct val="100000"/>
              </a:lnSpc>
            </a:pPr>
            <a:r>
              <a:rPr sz="2000" b="1" i="0">
                <a:solidFill>
                  <a:srgbClr val="FFFFFF"/>
                </a:solidFill>
                <a:latin typeface="Arial"/>
              </a:rPr>
              <a:t>2.</a:t>
            </a:r>
          </a:p>
        </p:txBody>
      </p:sp>
      <p:sp>
        <p:nvSpPr>
          <p:cNvPr id="12" name="TextBox 11"/>
          <p:cNvSpPr txBox="1"/>
          <p:nvPr/>
        </p:nvSpPr>
        <p:spPr>
          <a:xfrm>
            <a:off x="1371600" y="2880360"/>
            <a:ext cx="6812280" cy="365760"/>
          </a:xfrm>
          <a:prstGeom prst="rect">
            <a:avLst/>
          </a:prstGeom>
          <a:noFill/>
        </p:spPr>
        <p:txBody>
          <a:bodyPr wrap="square" lIns="0" rIns="0" tIns="0" bIns="0" anchor="t">
            <a:spAutoFit/>
          </a:bodyPr>
          <a:lstStyle/>
          <a:p>
            <a:pPr algn="l">
              <a:lnSpc>
                <a:spcPct val="100000"/>
              </a:lnSpc>
            </a:pPr>
            <a:r>
              <a:rPr sz="1400" b="1" i="0">
                <a:solidFill>
                  <a:srgbClr val="21295C"/>
                </a:solidFill>
                <a:latin typeface="Arial"/>
              </a:rPr>
              <a:t>Проверка сходства результата с охраняемым контентом?</a:t>
            </a:r>
          </a:p>
        </p:txBody>
      </p:sp>
      <p:sp>
        <p:nvSpPr>
          <p:cNvPr id="13" name="TextBox 12"/>
          <p:cNvSpPr txBox="1"/>
          <p:nvPr/>
        </p:nvSpPr>
        <p:spPr>
          <a:xfrm>
            <a:off x="1371600" y="3246120"/>
            <a:ext cx="6812280" cy="365760"/>
          </a:xfrm>
          <a:prstGeom prst="rect">
            <a:avLst/>
          </a:prstGeom>
          <a:noFill/>
        </p:spPr>
        <p:txBody>
          <a:bodyPr wrap="square" lIns="0" rIns="0" tIns="0" bIns="0" anchor="t">
            <a:spAutoFit/>
          </a:bodyPr>
          <a:lstStyle/>
          <a:p>
            <a:pPr algn="l">
              <a:lnSpc>
                <a:spcPct val="120000"/>
              </a:lnSpc>
            </a:pPr>
            <a:r>
              <a:rPr sz="1100" b="0" i="1">
                <a:solidFill>
                  <a:srgbClr val="6B7685"/>
                </a:solidFill>
                <a:latin typeface="Arial"/>
              </a:rPr>
              <a:t>Риск дословного цитирования NYT · технический контроль обязателен</a:t>
            </a:r>
          </a:p>
        </p:txBody>
      </p:sp>
      <p:sp>
        <p:nvSpPr>
          <p:cNvPr id="14" name="Rounded Rectangle 13"/>
          <p:cNvSpPr/>
          <p:nvPr/>
        </p:nvSpPr>
        <p:spPr>
          <a:xfrm>
            <a:off x="502920" y="3749039"/>
            <a:ext cx="777240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4360" y="3858768"/>
            <a:ext cx="640080" cy="649224"/>
          </a:xfrm>
          <a:prstGeom prst="roundRect">
            <a:avLst>
              <a:gd name="adj" fmla="val 2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4360" y="3858768"/>
            <a:ext cx="640080" cy="649224"/>
          </a:xfrm>
          <a:prstGeom prst="rect">
            <a:avLst/>
          </a:prstGeom>
          <a:noFill/>
        </p:spPr>
        <p:txBody>
          <a:bodyPr wrap="square" lIns="0" rIns="0" tIns="0" bIns="0" anchor="ctr">
            <a:spAutoFit/>
          </a:bodyPr>
          <a:lstStyle/>
          <a:p>
            <a:pPr algn="ctr">
              <a:lnSpc>
                <a:spcPct val="100000"/>
              </a:lnSpc>
            </a:pPr>
            <a:r>
              <a:rPr sz="2000" b="1" i="0">
                <a:solidFill>
                  <a:srgbClr val="FFFFFF"/>
                </a:solidFill>
                <a:latin typeface="Arial"/>
              </a:rPr>
              <a:t>3.</a:t>
            </a:r>
          </a:p>
        </p:txBody>
      </p:sp>
      <p:sp>
        <p:nvSpPr>
          <p:cNvPr id="17" name="TextBox 16"/>
          <p:cNvSpPr txBox="1"/>
          <p:nvPr/>
        </p:nvSpPr>
        <p:spPr>
          <a:xfrm>
            <a:off x="1371600" y="3840479"/>
            <a:ext cx="6812280" cy="365760"/>
          </a:xfrm>
          <a:prstGeom prst="rect">
            <a:avLst/>
          </a:prstGeom>
          <a:noFill/>
        </p:spPr>
        <p:txBody>
          <a:bodyPr wrap="square" lIns="0" rIns="0" tIns="0" bIns="0" anchor="t">
            <a:spAutoFit/>
          </a:bodyPr>
          <a:lstStyle/>
          <a:p>
            <a:pPr algn="l">
              <a:lnSpc>
                <a:spcPct val="100000"/>
              </a:lnSpc>
            </a:pPr>
            <a:r>
              <a:rPr sz="1400" b="1" i="0">
                <a:solidFill>
                  <a:srgbClr val="21295C"/>
                </a:solidFill>
                <a:latin typeface="Arial"/>
              </a:rPr>
              <a:t>Согласие на голос/образ — если применимо?</a:t>
            </a:r>
          </a:p>
        </p:txBody>
      </p:sp>
      <p:sp>
        <p:nvSpPr>
          <p:cNvPr id="18" name="TextBox 17"/>
          <p:cNvSpPr txBox="1"/>
          <p:nvPr/>
        </p:nvSpPr>
        <p:spPr>
          <a:xfrm>
            <a:off x="1371600" y="4206240"/>
            <a:ext cx="6812280" cy="365760"/>
          </a:xfrm>
          <a:prstGeom prst="rect">
            <a:avLst/>
          </a:prstGeom>
          <a:noFill/>
        </p:spPr>
        <p:txBody>
          <a:bodyPr wrap="square" lIns="0" rIns="0" tIns="0" bIns="0" anchor="t">
            <a:spAutoFit/>
          </a:bodyPr>
          <a:lstStyle/>
          <a:p>
            <a:pPr algn="l">
              <a:lnSpc>
                <a:spcPct val="120000"/>
              </a:lnSpc>
            </a:pPr>
            <a:r>
              <a:rPr sz="1100" b="0" i="1">
                <a:solidFill>
                  <a:srgbClr val="6B7685"/>
                </a:solidFill>
                <a:latin typeface="Arial"/>
              </a:rPr>
              <a:t>ScarJo · SAG-AFTRA Цифровые реплики · Корея — всегда согласие для реальных людей</a:t>
            </a:r>
          </a:p>
        </p:txBody>
      </p:sp>
      <p:sp>
        <p:nvSpPr>
          <p:cNvPr id="19" name="Rounded Rectangle 18"/>
          <p:cNvSpPr/>
          <p:nvPr/>
        </p:nvSpPr>
        <p:spPr>
          <a:xfrm>
            <a:off x="502920" y="4709160"/>
            <a:ext cx="777240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94360" y="4818888"/>
            <a:ext cx="640080" cy="649224"/>
          </a:xfrm>
          <a:prstGeom prst="roundRect">
            <a:avLst>
              <a:gd name="adj" fmla="val 2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94360" y="4818888"/>
            <a:ext cx="640080" cy="649224"/>
          </a:xfrm>
          <a:prstGeom prst="rect">
            <a:avLst/>
          </a:prstGeom>
          <a:noFill/>
        </p:spPr>
        <p:txBody>
          <a:bodyPr wrap="square" lIns="0" rIns="0" tIns="0" bIns="0" anchor="ctr">
            <a:spAutoFit/>
          </a:bodyPr>
          <a:lstStyle/>
          <a:p>
            <a:pPr algn="ctr">
              <a:lnSpc>
                <a:spcPct val="100000"/>
              </a:lnSpc>
            </a:pPr>
            <a:r>
              <a:rPr sz="2000" b="1" i="0">
                <a:solidFill>
                  <a:srgbClr val="FFFFFF"/>
                </a:solidFill>
                <a:latin typeface="Arial"/>
              </a:rPr>
              <a:t>4.</a:t>
            </a:r>
          </a:p>
        </p:txBody>
      </p:sp>
      <p:sp>
        <p:nvSpPr>
          <p:cNvPr id="22" name="TextBox 21"/>
          <p:cNvSpPr txBox="1"/>
          <p:nvPr/>
        </p:nvSpPr>
        <p:spPr>
          <a:xfrm>
            <a:off x="1371600" y="4800600"/>
            <a:ext cx="6812280" cy="365760"/>
          </a:xfrm>
          <a:prstGeom prst="rect">
            <a:avLst/>
          </a:prstGeom>
          <a:noFill/>
        </p:spPr>
        <p:txBody>
          <a:bodyPr wrap="square" lIns="0" rIns="0" tIns="0" bIns="0" anchor="t">
            <a:spAutoFit/>
          </a:bodyPr>
          <a:lstStyle/>
          <a:p>
            <a:pPr algn="l">
              <a:lnSpc>
                <a:spcPct val="100000"/>
              </a:lnSpc>
            </a:pPr>
            <a:r>
              <a:rPr sz="1400" b="1" i="0">
                <a:solidFill>
                  <a:srgbClr val="21295C"/>
                </a:solidFill>
                <a:latin typeface="Arial"/>
              </a:rPr>
              <a:t>IP-чистые инструменты для коммерческого применения?</a:t>
            </a:r>
          </a:p>
        </p:txBody>
      </p:sp>
      <p:sp>
        <p:nvSpPr>
          <p:cNvPr id="23" name="TextBox 22"/>
          <p:cNvSpPr txBox="1"/>
          <p:nvPr/>
        </p:nvSpPr>
        <p:spPr>
          <a:xfrm>
            <a:off x="1371600" y="5166360"/>
            <a:ext cx="6812280" cy="365760"/>
          </a:xfrm>
          <a:prstGeom prst="rect">
            <a:avLst/>
          </a:prstGeom>
          <a:noFill/>
        </p:spPr>
        <p:txBody>
          <a:bodyPr wrap="square" lIns="0" rIns="0" tIns="0" bIns="0" anchor="t">
            <a:spAutoFit/>
          </a:bodyPr>
          <a:lstStyle/>
          <a:p>
            <a:pPr algn="l">
              <a:lnSpc>
                <a:spcPct val="120000"/>
              </a:lnSpc>
            </a:pPr>
            <a:r>
              <a:rPr sz="1100" b="0" i="1">
                <a:solidFill>
                  <a:srgbClr val="6B7685"/>
                </a:solidFill>
                <a:latin typeface="Arial"/>
              </a:rPr>
              <a:t>Сквозной pipeline: лицензированный корпус + проверка сходства + раскрытие</a:t>
            </a:r>
          </a:p>
        </p:txBody>
      </p:sp>
      <p:sp>
        <p:nvSpPr>
          <p:cNvPr id="24" name="Rounded Rectangle 23"/>
          <p:cNvSpPr/>
          <p:nvPr/>
        </p:nvSpPr>
        <p:spPr>
          <a:xfrm>
            <a:off x="502920" y="5669280"/>
            <a:ext cx="7772400" cy="868680"/>
          </a:xfrm>
          <a:prstGeom prst="roundRect">
            <a:avLst>
              <a:gd name="adj" fmla="val 25000"/>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94360" y="5779008"/>
            <a:ext cx="640080" cy="649224"/>
          </a:xfrm>
          <a:prstGeom prst="roundRect">
            <a:avLst>
              <a:gd name="adj" fmla="val 2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94360" y="5779008"/>
            <a:ext cx="640080" cy="649224"/>
          </a:xfrm>
          <a:prstGeom prst="rect">
            <a:avLst/>
          </a:prstGeom>
          <a:noFill/>
        </p:spPr>
        <p:txBody>
          <a:bodyPr wrap="square" lIns="0" rIns="0" tIns="0" bIns="0" anchor="ctr">
            <a:spAutoFit/>
          </a:bodyPr>
          <a:lstStyle/>
          <a:p>
            <a:pPr algn="ctr">
              <a:lnSpc>
                <a:spcPct val="100000"/>
              </a:lnSpc>
            </a:pPr>
            <a:r>
              <a:rPr sz="2000" b="1" i="0">
                <a:solidFill>
                  <a:srgbClr val="FFFFFF"/>
                </a:solidFill>
                <a:latin typeface="Arial"/>
              </a:rPr>
              <a:t>5.</a:t>
            </a:r>
          </a:p>
        </p:txBody>
      </p:sp>
      <p:sp>
        <p:nvSpPr>
          <p:cNvPr id="27" name="TextBox 26"/>
          <p:cNvSpPr txBox="1"/>
          <p:nvPr/>
        </p:nvSpPr>
        <p:spPr>
          <a:xfrm>
            <a:off x="1371600" y="5760720"/>
            <a:ext cx="6812280" cy="365760"/>
          </a:xfrm>
          <a:prstGeom prst="rect">
            <a:avLst/>
          </a:prstGeom>
          <a:noFill/>
        </p:spPr>
        <p:txBody>
          <a:bodyPr wrap="square" lIns="0" rIns="0" tIns="0" bIns="0" anchor="t">
            <a:spAutoFit/>
          </a:bodyPr>
          <a:lstStyle/>
          <a:p>
            <a:pPr algn="l">
              <a:lnSpc>
                <a:spcPct val="100000"/>
              </a:lnSpc>
            </a:pPr>
            <a:r>
              <a:rPr sz="1400" b="1" i="0">
                <a:solidFill>
                  <a:srgbClr val="21295C"/>
                </a:solidFill>
                <a:latin typeface="Arial"/>
              </a:rPr>
              <a:t>Риск доверия к бренду для эталонных/исторических кампаний?</a:t>
            </a:r>
          </a:p>
        </p:txBody>
      </p:sp>
      <p:sp>
        <p:nvSpPr>
          <p:cNvPr id="28" name="TextBox 27"/>
          <p:cNvSpPr txBox="1"/>
          <p:nvPr/>
        </p:nvSpPr>
        <p:spPr>
          <a:xfrm>
            <a:off x="1371600" y="6126480"/>
            <a:ext cx="6812280" cy="365760"/>
          </a:xfrm>
          <a:prstGeom prst="rect">
            <a:avLst/>
          </a:prstGeom>
          <a:noFill/>
        </p:spPr>
        <p:txBody>
          <a:bodyPr wrap="square" lIns="0" rIns="0" tIns="0" bIns="0" anchor="t">
            <a:spAutoFit/>
          </a:bodyPr>
          <a:lstStyle/>
          <a:p>
            <a:pPr algn="l">
              <a:lnSpc>
                <a:spcPct val="120000"/>
              </a:lnSpc>
            </a:pPr>
            <a:r>
              <a:rPr sz="1100" b="0" i="1">
                <a:solidFill>
                  <a:srgbClr val="6B7685"/>
                </a:solidFill>
                <a:latin typeface="Arial"/>
              </a:rPr>
              <a:t>Coca-Cola · Toys R Us · SI — измеримая трата капитала бренда</a:t>
            </a:r>
          </a:p>
        </p:txBody>
      </p:sp>
      <p:sp>
        <p:nvSpPr>
          <p:cNvPr id="29" name="Rounded Rectangle 28"/>
          <p:cNvSpPr/>
          <p:nvPr/>
        </p:nvSpPr>
        <p:spPr>
          <a:xfrm>
            <a:off x="8458200" y="1828800"/>
            <a:ext cx="3383280" cy="4800600"/>
          </a:xfrm>
          <a:prstGeom prst="roundRect">
            <a:avLst>
              <a:gd name="adj" fmla="val 9009"/>
            </a:avLst>
          </a:prstGeom>
          <a:solidFill>
            <a:srgbClr val="FEF5E0"/>
          </a:solidFill>
          <a:ln w="2286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641080" y="1965960"/>
            <a:ext cx="3108960" cy="365760"/>
          </a:xfrm>
          <a:prstGeom prst="rect">
            <a:avLst/>
          </a:prstGeom>
          <a:noFill/>
        </p:spPr>
        <p:txBody>
          <a:bodyPr wrap="square" lIns="0" rIns="0" tIns="0" bIns="0" anchor="t">
            <a:spAutoFit/>
          </a:bodyPr>
          <a:lstStyle/>
          <a:p>
            <a:pPr algn="l">
              <a:lnSpc>
                <a:spcPct val="115000"/>
              </a:lnSpc>
            </a:pPr>
            <a:r>
              <a:rPr sz="1100" b="1" i="0">
                <a:solidFill>
                  <a:srgbClr val="F0AB00"/>
                </a:solidFill>
                <a:latin typeface="Arial"/>
              </a:rPr>
              <a:t>ЕСЛИ «НЕТ/РИСК» — 3 ВАРИАНТА</a:t>
            </a:r>
          </a:p>
        </p:txBody>
      </p:sp>
      <p:sp>
        <p:nvSpPr>
          <p:cNvPr id="31" name="Rounded Rectangle 30"/>
          <p:cNvSpPr/>
          <p:nvPr/>
        </p:nvSpPr>
        <p:spPr>
          <a:xfrm>
            <a:off x="8641080" y="2423160"/>
            <a:ext cx="457200" cy="457200"/>
          </a:xfrm>
          <a:prstGeom prst="roundRect">
            <a:avLst>
              <a:gd name="adj" fmla="val 20000"/>
            </a:avLst>
          </a:prstGeom>
          <a:solidFill>
            <a:srgbClr val="065A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641080" y="2423160"/>
            <a:ext cx="457200" cy="45720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A.</a:t>
            </a:r>
          </a:p>
        </p:txBody>
      </p:sp>
      <p:sp>
        <p:nvSpPr>
          <p:cNvPr id="33" name="TextBox 32"/>
          <p:cNvSpPr txBox="1"/>
          <p:nvPr/>
        </p:nvSpPr>
        <p:spPr>
          <a:xfrm>
            <a:off x="9189720" y="2423160"/>
            <a:ext cx="2606040" cy="411480"/>
          </a:xfrm>
          <a:prstGeom prst="rect">
            <a:avLst/>
          </a:prstGeom>
          <a:noFill/>
        </p:spPr>
        <p:txBody>
          <a:bodyPr wrap="square" lIns="0" rIns="0" tIns="0" bIns="0" anchor="ctr">
            <a:spAutoFit/>
          </a:bodyPr>
          <a:lstStyle/>
          <a:p>
            <a:pPr algn="l">
              <a:lnSpc>
                <a:spcPct val="115000"/>
              </a:lnSpc>
            </a:pPr>
            <a:r>
              <a:rPr sz="1300" b="1" i="0">
                <a:solidFill>
                  <a:srgbClr val="21295C"/>
                </a:solidFill>
                <a:latin typeface="Arial"/>
              </a:rPr>
              <a:t>Не использовать AI</a:t>
            </a:r>
          </a:p>
        </p:txBody>
      </p:sp>
      <p:sp>
        <p:nvSpPr>
          <p:cNvPr id="34" name="TextBox 33"/>
          <p:cNvSpPr txBox="1"/>
          <p:nvPr/>
        </p:nvSpPr>
        <p:spPr>
          <a:xfrm>
            <a:off x="8641080" y="2926080"/>
            <a:ext cx="3108960" cy="777240"/>
          </a:xfrm>
          <a:prstGeom prst="rect">
            <a:avLst/>
          </a:prstGeom>
          <a:noFill/>
        </p:spPr>
        <p:txBody>
          <a:bodyPr wrap="square" lIns="0" rIns="0" tIns="0" bIns="0" anchor="t">
            <a:spAutoFit/>
          </a:bodyPr>
          <a:lstStyle/>
          <a:p>
            <a:pPr algn="l">
              <a:lnSpc>
                <a:spcPct val="130000"/>
              </a:lnSpc>
            </a:pPr>
            <a:r>
              <a:rPr sz="1100" b="0" i="1">
                <a:solidFill>
                  <a:srgbClr val="6B7685"/>
                </a:solidFill>
                <a:latin typeface="Arial"/>
              </a:rPr>
              <a:t>Альтернатива без AI</a:t>
            </a:r>
          </a:p>
        </p:txBody>
      </p:sp>
      <p:sp>
        <p:nvSpPr>
          <p:cNvPr id="35" name="Rounded Rectangle 34"/>
          <p:cNvSpPr/>
          <p:nvPr/>
        </p:nvSpPr>
        <p:spPr>
          <a:xfrm>
            <a:off x="8641080" y="3794760"/>
            <a:ext cx="457200" cy="457200"/>
          </a:xfrm>
          <a:prstGeom prst="roundRect">
            <a:avLst>
              <a:gd name="adj" fmla="val 20000"/>
            </a:avLst>
          </a:prstGeom>
          <a:solidFill>
            <a:srgbClr val="1C729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641080" y="3794760"/>
            <a:ext cx="457200" cy="45720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B.</a:t>
            </a:r>
          </a:p>
        </p:txBody>
      </p:sp>
      <p:sp>
        <p:nvSpPr>
          <p:cNvPr id="37" name="TextBox 36"/>
          <p:cNvSpPr txBox="1"/>
          <p:nvPr/>
        </p:nvSpPr>
        <p:spPr>
          <a:xfrm>
            <a:off x="9189720" y="3794760"/>
            <a:ext cx="2606040" cy="411480"/>
          </a:xfrm>
          <a:prstGeom prst="rect">
            <a:avLst/>
          </a:prstGeom>
          <a:noFill/>
        </p:spPr>
        <p:txBody>
          <a:bodyPr wrap="square" lIns="0" rIns="0" tIns="0" bIns="0" anchor="ctr">
            <a:spAutoFit/>
          </a:bodyPr>
          <a:lstStyle/>
          <a:p>
            <a:pPr algn="l">
              <a:lnSpc>
                <a:spcPct val="115000"/>
              </a:lnSpc>
            </a:pPr>
            <a:r>
              <a:rPr sz="1300" b="1" i="0">
                <a:solidFill>
                  <a:srgbClr val="21295C"/>
                </a:solidFill>
                <a:latin typeface="Arial"/>
              </a:rPr>
              <a:t>Структурно митигировать</a:t>
            </a:r>
          </a:p>
        </p:txBody>
      </p:sp>
      <p:sp>
        <p:nvSpPr>
          <p:cNvPr id="38" name="TextBox 37"/>
          <p:cNvSpPr txBox="1"/>
          <p:nvPr/>
        </p:nvSpPr>
        <p:spPr>
          <a:xfrm>
            <a:off x="8641080" y="4297680"/>
            <a:ext cx="3108960" cy="777240"/>
          </a:xfrm>
          <a:prstGeom prst="rect">
            <a:avLst/>
          </a:prstGeom>
          <a:noFill/>
        </p:spPr>
        <p:txBody>
          <a:bodyPr wrap="square" lIns="0" rIns="0" tIns="0" bIns="0" anchor="t">
            <a:spAutoFit/>
          </a:bodyPr>
          <a:lstStyle/>
          <a:p>
            <a:pPr algn="l">
              <a:lnSpc>
                <a:spcPct val="130000"/>
              </a:lnSpc>
            </a:pPr>
            <a:r>
              <a:rPr sz="1100" b="0" i="1">
                <a:solidFill>
                  <a:srgbClr val="6B7685"/>
                </a:solidFill>
                <a:latin typeface="Arial"/>
              </a:rPr>
              <a:t>Лицензирование + проверка сходства + инфраструктура согласия + учёт бренда</a:t>
            </a:r>
          </a:p>
        </p:txBody>
      </p:sp>
      <p:sp>
        <p:nvSpPr>
          <p:cNvPr id="39" name="Rounded Rectangle 38"/>
          <p:cNvSpPr/>
          <p:nvPr/>
        </p:nvSpPr>
        <p:spPr>
          <a:xfrm>
            <a:off x="8641080" y="5166360"/>
            <a:ext cx="457200" cy="457200"/>
          </a:xfrm>
          <a:prstGeom prst="roundRect">
            <a:avLst>
              <a:gd name="adj" fmla="val 2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641080" y="5166360"/>
            <a:ext cx="457200" cy="457200"/>
          </a:xfrm>
          <a:prstGeom prst="rect">
            <a:avLst/>
          </a:prstGeom>
          <a:noFill/>
        </p:spPr>
        <p:txBody>
          <a:bodyPr wrap="square" lIns="0" rIns="0" tIns="0" bIns="0" anchor="ctr">
            <a:spAutoFit/>
          </a:bodyPr>
          <a:lstStyle/>
          <a:p>
            <a:pPr algn="ctr">
              <a:lnSpc>
                <a:spcPct val="115000"/>
              </a:lnSpc>
            </a:pPr>
            <a:r>
              <a:rPr sz="1800" b="1" i="0">
                <a:solidFill>
                  <a:srgbClr val="FFFFFF"/>
                </a:solidFill>
                <a:latin typeface="Arial"/>
              </a:rPr>
              <a:t>C.</a:t>
            </a:r>
          </a:p>
        </p:txBody>
      </p:sp>
      <p:sp>
        <p:nvSpPr>
          <p:cNvPr id="41" name="TextBox 40"/>
          <p:cNvSpPr txBox="1"/>
          <p:nvPr/>
        </p:nvSpPr>
        <p:spPr>
          <a:xfrm>
            <a:off x="9189720" y="5166360"/>
            <a:ext cx="2606040" cy="411480"/>
          </a:xfrm>
          <a:prstGeom prst="rect">
            <a:avLst/>
          </a:prstGeom>
          <a:noFill/>
        </p:spPr>
        <p:txBody>
          <a:bodyPr wrap="square" lIns="0" rIns="0" tIns="0" bIns="0" anchor="ctr">
            <a:spAutoFit/>
          </a:bodyPr>
          <a:lstStyle/>
          <a:p>
            <a:pPr algn="l">
              <a:lnSpc>
                <a:spcPct val="115000"/>
              </a:lnSpc>
            </a:pPr>
            <a:r>
              <a:rPr sz="1300" b="1" i="0">
                <a:solidFill>
                  <a:srgbClr val="21295C"/>
                </a:solidFill>
                <a:latin typeface="Arial"/>
              </a:rPr>
              <a:t>Явно принять риск</a:t>
            </a:r>
          </a:p>
        </p:txBody>
      </p:sp>
      <p:sp>
        <p:nvSpPr>
          <p:cNvPr id="42" name="TextBox 41"/>
          <p:cNvSpPr txBox="1"/>
          <p:nvPr/>
        </p:nvSpPr>
        <p:spPr>
          <a:xfrm>
            <a:off x="8641080" y="5669280"/>
            <a:ext cx="3108960" cy="777240"/>
          </a:xfrm>
          <a:prstGeom prst="rect">
            <a:avLst/>
          </a:prstGeom>
          <a:noFill/>
        </p:spPr>
        <p:txBody>
          <a:bodyPr wrap="square" lIns="0" rIns="0" tIns="0" bIns="0" anchor="t">
            <a:spAutoFit/>
          </a:bodyPr>
          <a:lstStyle/>
          <a:p>
            <a:pPr algn="l">
              <a:lnSpc>
                <a:spcPct val="130000"/>
              </a:lnSpc>
            </a:pPr>
            <a:r>
              <a:rPr sz="1100" b="0" i="1">
                <a:solidFill>
                  <a:srgbClr val="6B7685"/>
                </a:solidFill>
                <a:latin typeface="Arial"/>
              </a:rPr>
              <a:t>Документированное бизнес-решение + выверенная митигация. НЕ неявно.</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TextBox 1"/>
          <p:cNvSpPr txBox="1"/>
          <p:nvPr/>
        </p:nvSpPr>
        <p:spPr>
          <a:xfrm>
            <a:off x="502920" y="1371600"/>
            <a:ext cx="5029200" cy="4114800"/>
          </a:xfrm>
          <a:prstGeom prst="rect">
            <a:avLst/>
          </a:prstGeom>
          <a:noFill/>
        </p:spPr>
        <p:txBody>
          <a:bodyPr wrap="square" lIns="0" rIns="0" tIns="0" bIns="0" anchor="ctr">
            <a:spAutoFit/>
          </a:bodyPr>
          <a:lstStyle/>
          <a:p>
            <a:pPr algn="ctr">
              <a:lnSpc>
                <a:spcPct val="100000"/>
              </a:lnSpc>
            </a:pPr>
            <a:r>
              <a:rPr sz="20000" b="1" i="0">
                <a:solidFill>
                  <a:srgbClr val="F0AB00"/>
                </a:solidFill>
                <a:latin typeface="Arial"/>
              </a:rPr>
              <a:t>Q&amp;A?</a:t>
            </a:r>
          </a:p>
        </p:txBody>
      </p:sp>
      <p:sp>
        <p:nvSpPr>
          <p:cNvPr id="3" name="Rounded Rectangle 2"/>
          <p:cNvSpPr/>
          <p:nvPr/>
        </p:nvSpPr>
        <p:spPr>
          <a:xfrm>
            <a:off x="5760720" y="1371600"/>
            <a:ext cx="6080760" cy="4572000"/>
          </a:xfrm>
          <a:prstGeom prst="roundRect">
            <a:avLst>
              <a:gd name="adj" fmla="val 6666"/>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943600" y="1508760"/>
            <a:ext cx="5760720" cy="36576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ЦЕНТРАЛЬНЫЙ ВОПРОС — НАПОМИНАНИЕ</a:t>
            </a:r>
          </a:p>
        </p:txBody>
      </p:sp>
      <p:sp>
        <p:nvSpPr>
          <p:cNvPr id="5" name="TextBox 4"/>
          <p:cNvSpPr txBox="1"/>
          <p:nvPr/>
        </p:nvSpPr>
        <p:spPr>
          <a:xfrm>
            <a:off x="5943600" y="1920240"/>
            <a:ext cx="5760720" cy="1280160"/>
          </a:xfrm>
          <a:prstGeom prst="rect">
            <a:avLst/>
          </a:prstGeom>
          <a:noFill/>
        </p:spPr>
        <p:txBody>
          <a:bodyPr wrap="square" lIns="0" rIns="0" tIns="0" bIns="0" anchor="t">
            <a:spAutoFit/>
          </a:bodyPr>
          <a:lstStyle/>
          <a:p>
            <a:pPr algn="l">
              <a:lnSpc>
                <a:spcPct val="130000"/>
              </a:lnSpc>
            </a:pPr>
            <a:r>
              <a:rPr sz="2000" b="1" i="1">
                <a:solidFill>
                  <a:srgbClr val="21295C"/>
                </a:solidFill>
                <a:latin typeface="Arial"/>
              </a:rPr>
              <a:t>Что AI сделал с креативной индустрией к 2026 — и где сказать «нет»?</a:t>
            </a:r>
          </a:p>
        </p:txBody>
      </p:sp>
      <p:sp>
        <p:nvSpPr>
          <p:cNvPr id="6" name="TextBox 5"/>
          <p:cNvSpPr txBox="1"/>
          <p:nvPr/>
        </p:nvSpPr>
        <p:spPr>
          <a:xfrm>
            <a:off x="5943600" y="3337560"/>
            <a:ext cx="5760720" cy="365760"/>
          </a:xfrm>
          <a:prstGeom prst="rect">
            <a:avLst/>
          </a:prstGeom>
          <a:noFill/>
        </p:spPr>
        <p:txBody>
          <a:bodyPr wrap="square" lIns="0" rIns="0" tIns="0" bIns="0" anchor="t">
            <a:spAutoFit/>
          </a:bodyPr>
          <a:lstStyle/>
          <a:p>
            <a:pPr algn="l">
              <a:lnSpc>
                <a:spcPct val="115000"/>
              </a:lnSpc>
            </a:pPr>
            <a:r>
              <a:rPr sz="1100" b="1" i="0">
                <a:solidFill>
                  <a:srgbClr val="028090"/>
                </a:solidFill>
                <a:latin typeface="Arial"/>
              </a:rPr>
              <a:t>РЕЗЕРВНЫЕ ВОПРОСЫ</a:t>
            </a:r>
          </a:p>
        </p:txBody>
      </p:sp>
      <p:sp>
        <p:nvSpPr>
          <p:cNvPr id="7" name="Rounded Rectangle 6"/>
          <p:cNvSpPr/>
          <p:nvPr/>
        </p:nvSpPr>
        <p:spPr>
          <a:xfrm>
            <a:off x="5943600" y="3749039"/>
            <a:ext cx="5760720" cy="502920"/>
          </a:xfrm>
          <a:prstGeom prst="roundRect">
            <a:avLst>
              <a:gd name="adj" fmla="val 20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080760" y="3749039"/>
            <a:ext cx="5577840" cy="5029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  Где границы «добросовестного использования» при обучении AI?</a:t>
            </a:r>
          </a:p>
        </p:txBody>
      </p:sp>
      <p:sp>
        <p:nvSpPr>
          <p:cNvPr id="9" name="Rounded Rectangle 8"/>
          <p:cNvSpPr/>
          <p:nvPr/>
        </p:nvSpPr>
        <p:spPr>
          <a:xfrm>
            <a:off x="5943600" y="4343400"/>
            <a:ext cx="5760720" cy="502920"/>
          </a:xfrm>
          <a:prstGeom prst="roundRect">
            <a:avLst>
              <a:gd name="adj" fmla="val 20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080760" y="4343400"/>
            <a:ext cx="5577840" cy="5029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  Sora vs Lionsgate — где Голливуд в 2030?</a:t>
            </a:r>
          </a:p>
        </p:txBody>
      </p:sp>
      <p:sp>
        <p:nvSpPr>
          <p:cNvPr id="11" name="Rounded Rectangle 10"/>
          <p:cNvSpPr/>
          <p:nvPr/>
        </p:nvSpPr>
        <p:spPr>
          <a:xfrm>
            <a:off x="5943600" y="4937759"/>
            <a:ext cx="5760720" cy="502920"/>
          </a:xfrm>
          <a:prstGeom prst="roundRect">
            <a:avLst>
              <a:gd name="adj" fmla="val 20000"/>
            </a:avLst>
          </a:prstGeom>
          <a:solidFill>
            <a:srgbClr val="F4F7FA"/>
          </a:solidFill>
          <a:ln w="1270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080760" y="4937759"/>
            <a:ext cx="5577840" cy="502920"/>
          </a:xfrm>
          <a:prstGeom prst="rect">
            <a:avLst/>
          </a:prstGeom>
          <a:noFill/>
        </p:spPr>
        <p:txBody>
          <a:bodyPr wrap="square" lIns="0" rIns="0" tIns="0" bIns="0" anchor="ctr">
            <a:spAutoFit/>
          </a:bodyPr>
          <a:lstStyle/>
          <a:p>
            <a:pPr algn="l">
              <a:lnSpc>
                <a:spcPct val="115000"/>
              </a:lnSpc>
            </a:pPr>
            <a:r>
              <a:rPr sz="1200" b="0" i="0">
                <a:solidFill>
                  <a:srgbClr val="21295C"/>
                </a:solidFill>
                <a:latin typeface="Arial"/>
              </a:rPr>
              <a:t>·  Минцифры законопроект — что меняется для RU-инженеров?</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4F7FA"/>
        </a:solidFill>
        <a:effectLst/>
      </p:bgPr>
    </p:bg>
    <p:spTree>
      <p:nvGrpSpPr>
        <p:cNvPr id="1" name=""/>
        <p:cNvGrpSpPr/>
        <p:nvPr/>
      </p:nvGrpSpPr>
      <p:grpSpPr/>
      <p:sp>
        <p:nvSpPr>
          <p:cNvPr id="2" name="Rounded Rectangle 1"/>
          <p:cNvSpPr/>
          <p:nvPr/>
        </p:nvSpPr>
        <p:spPr>
          <a:xfrm>
            <a:off x="411480" y="1188720"/>
            <a:ext cx="4937760" cy="4526280"/>
          </a:xfrm>
          <a:prstGeom prst="roundRect">
            <a:avLst>
              <a:gd name="adj" fmla="val 6734"/>
            </a:avLst>
          </a:prstGeom>
          <a:solidFill>
            <a:srgbClr val="F4F7FA"/>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94360" y="1371600"/>
            <a:ext cx="4617720" cy="411480"/>
          </a:xfrm>
          <a:prstGeom prst="rect">
            <a:avLst/>
          </a:prstGeom>
          <a:noFill/>
        </p:spPr>
        <p:txBody>
          <a:bodyPr wrap="square" lIns="0" rIns="0" tIns="0" bIns="0" anchor="t">
            <a:spAutoFit/>
          </a:bodyPr>
          <a:lstStyle/>
          <a:p>
            <a:pPr algn="l">
              <a:lnSpc>
                <a:spcPct val="115000"/>
              </a:lnSpc>
            </a:pPr>
            <a:r>
              <a:rPr sz="1800" b="1" i="0">
                <a:solidFill>
                  <a:srgbClr val="028090"/>
                </a:solidFill>
                <a:latin typeface="Arial"/>
              </a:rPr>
              <a:t>СПАСИБО</a:t>
            </a:r>
          </a:p>
        </p:txBody>
      </p:sp>
      <p:sp>
        <p:nvSpPr>
          <p:cNvPr id="4" name="TextBox 3"/>
          <p:cNvSpPr txBox="1"/>
          <p:nvPr/>
        </p:nvSpPr>
        <p:spPr>
          <a:xfrm>
            <a:off x="594360" y="1965960"/>
            <a:ext cx="4617720" cy="1371600"/>
          </a:xfrm>
          <a:prstGeom prst="rect">
            <a:avLst/>
          </a:prstGeom>
          <a:noFill/>
        </p:spPr>
        <p:txBody>
          <a:bodyPr wrap="square" lIns="0" rIns="0" tIns="0" bIns="0" anchor="t">
            <a:spAutoFit/>
          </a:bodyPr>
          <a:lstStyle/>
          <a:p>
            <a:pPr algn="l">
              <a:lnSpc>
                <a:spcPct val="110000"/>
              </a:lnSpc>
            </a:pPr>
            <a:r>
              <a:rPr sz="4000" b="1" i="0">
                <a:solidFill>
                  <a:srgbClr val="21295C"/>
                </a:solidFill>
                <a:latin typeface="Arial"/>
              </a:rPr>
              <a:t>за внимание</a:t>
            </a:r>
          </a:p>
        </p:txBody>
      </p:sp>
      <p:sp>
        <p:nvSpPr>
          <p:cNvPr id="5" name="TextBox 4"/>
          <p:cNvSpPr txBox="1"/>
          <p:nvPr/>
        </p:nvSpPr>
        <p:spPr>
          <a:xfrm>
            <a:off x="594360" y="3611880"/>
            <a:ext cx="4617720" cy="411480"/>
          </a:xfrm>
          <a:prstGeom prst="rect">
            <a:avLst/>
          </a:prstGeom>
          <a:noFill/>
        </p:spPr>
        <p:txBody>
          <a:bodyPr wrap="square" lIns="0" rIns="0" tIns="0" bIns="0" anchor="t">
            <a:spAutoFit/>
          </a:bodyPr>
          <a:lstStyle/>
          <a:p>
            <a:pPr algn="l">
              <a:lnSpc>
                <a:spcPct val="120000"/>
              </a:lnSpc>
            </a:pPr>
            <a:r>
              <a:rPr sz="1300" b="0" i="1">
                <a:solidFill>
                  <a:srgbClr val="065A82"/>
                </a:solidFill>
                <a:latin typeface="Arial"/>
              </a:rPr>
              <a:t>Чек-лист и источники — по QR ниже</a:t>
            </a:r>
          </a:p>
        </p:txBody>
      </p:sp>
      <p:sp>
        <p:nvSpPr>
          <p:cNvPr id="6" name="Rectangle 5"/>
          <p:cNvSpPr/>
          <p:nvPr/>
        </p:nvSpPr>
        <p:spPr>
          <a:xfrm>
            <a:off x="594360" y="4343400"/>
            <a:ext cx="914400" cy="914400"/>
          </a:xfrm>
          <a:prstGeom prst="rect">
            <a:avLst/>
          </a:prstGeom>
          <a:solidFill>
            <a:srgbClr val="FFFFFF"/>
          </a:solidFill>
          <a:ln w="19050">
            <a:solidFill>
              <a:srgbClr val="21295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94360" y="4343400"/>
            <a:ext cx="914400" cy="914400"/>
          </a:xfrm>
          <a:prstGeom prst="rect">
            <a:avLst/>
          </a:prstGeom>
          <a:noFill/>
        </p:spPr>
        <p:txBody>
          <a:bodyPr wrap="square" lIns="0" rIns="0" tIns="0" bIns="0" anchor="ctr">
            <a:spAutoFit/>
          </a:bodyPr>
          <a:lstStyle/>
          <a:p>
            <a:pPr algn="ctr">
              <a:lnSpc>
                <a:spcPct val="115000"/>
              </a:lnSpc>
            </a:pPr>
            <a:r>
              <a:rPr sz="1800" b="1" i="0">
                <a:solidFill>
                  <a:srgbClr val="21295C"/>
                </a:solidFill>
                <a:latin typeface="Arial"/>
              </a:rPr>
              <a:t>QR</a:t>
            </a:r>
          </a:p>
        </p:txBody>
      </p:sp>
      <p:sp>
        <p:nvSpPr>
          <p:cNvPr id="8" name="TextBox 7"/>
          <p:cNvSpPr txBox="1"/>
          <p:nvPr/>
        </p:nvSpPr>
        <p:spPr>
          <a:xfrm>
            <a:off x="1645920" y="4343400"/>
            <a:ext cx="3566160" cy="914400"/>
          </a:xfrm>
          <a:prstGeom prst="rect">
            <a:avLst/>
          </a:prstGeom>
          <a:noFill/>
        </p:spPr>
        <p:txBody>
          <a:bodyPr wrap="square" lIns="0" rIns="0" tIns="0" bIns="0" anchor="ctr">
            <a:spAutoFit/>
          </a:bodyPr>
          <a:lstStyle/>
          <a:p>
            <a:pPr algn="l">
              <a:lnSpc>
                <a:spcPct val="130000"/>
              </a:lnSpc>
            </a:pPr>
            <a:r>
              <a:rPr sz="1000" b="0" i="1">
                <a:solidFill>
                  <a:srgbClr val="6B7685"/>
                </a:solidFill>
                <a:latin typeface="Arial"/>
              </a:rPr>
              <a:t>Полная библиография источников лекции (chapter.md + research-досье)</a:t>
            </a:r>
          </a:p>
        </p:txBody>
      </p:sp>
      <p:sp>
        <p:nvSpPr>
          <p:cNvPr id="9" name="Rounded Rectangle 8"/>
          <p:cNvSpPr/>
          <p:nvPr/>
        </p:nvSpPr>
        <p:spPr>
          <a:xfrm>
            <a:off x="5577840" y="502920"/>
            <a:ext cx="6172200" cy="3931920"/>
          </a:xfrm>
          <a:prstGeom prst="roundRect">
            <a:avLst>
              <a:gd name="adj" fmla="val 7751"/>
            </a:avLst>
          </a:prstGeom>
          <a:solidFill>
            <a:srgbClr val="FFFFFF"/>
          </a:solidFill>
          <a:ln w="1905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Picture 9" descr="s39-x62-vista.jpg"/>
          <p:cNvPicPr>
            <a:picLocks noChangeAspect="1"/>
          </p:cNvPicPr>
          <p:nvPr/>
        </p:nvPicPr>
        <p:blipFill>
          <a:blip r:embed="rId2"/>
          <a:stretch>
            <a:fillRect/>
          </a:stretch>
        </p:blipFill>
        <p:spPr>
          <a:xfrm>
            <a:off x="5852160" y="594360"/>
            <a:ext cx="5623558" cy="3749039"/>
          </a:xfrm>
          <a:prstGeom prst="rect">
            <a:avLst/>
          </a:prstGeom>
        </p:spPr>
      </p:pic>
      <p:sp>
        <p:nvSpPr>
          <p:cNvPr id="11" name="TextBox 10"/>
          <p:cNvSpPr txBox="1"/>
          <p:nvPr/>
        </p:nvSpPr>
        <p:spPr>
          <a:xfrm>
            <a:off x="5669280" y="4480560"/>
            <a:ext cx="5989320" cy="274320"/>
          </a:xfrm>
          <a:prstGeom prst="rect">
            <a:avLst/>
          </a:prstGeom>
          <a:noFill/>
        </p:spPr>
        <p:txBody>
          <a:bodyPr wrap="square" lIns="0" rIns="0" tIns="0" bIns="0" anchor="t">
            <a:spAutoFit/>
          </a:bodyPr>
          <a:lstStyle/>
          <a:p>
            <a:pPr algn="l">
              <a:lnSpc>
                <a:spcPct val="115000"/>
              </a:lnSpc>
            </a:pPr>
            <a:r>
              <a:rPr sz="1000" b="0" i="1">
                <a:solidFill>
                  <a:srgbClr val="6B7685"/>
                </a:solidFill>
                <a:latin typeface="Arial"/>
              </a:rPr>
              <a:t>X-62 VISTA · USAF Test Pilot School · DARPA ACE AI dogfight 2023 · Wikimedia Commons</a:t>
            </a:r>
          </a:p>
        </p:txBody>
      </p:sp>
      <p:sp>
        <p:nvSpPr>
          <p:cNvPr id="12" name="TextBox 11"/>
          <p:cNvSpPr txBox="1"/>
          <p:nvPr/>
        </p:nvSpPr>
        <p:spPr>
          <a:xfrm>
            <a:off x="5669280" y="4846320"/>
            <a:ext cx="5989320" cy="320040"/>
          </a:xfrm>
          <a:prstGeom prst="rect">
            <a:avLst/>
          </a:prstGeom>
          <a:noFill/>
        </p:spPr>
        <p:txBody>
          <a:bodyPr wrap="square" lIns="0" rIns="0" tIns="0" bIns="0" anchor="t">
            <a:spAutoFit/>
          </a:bodyPr>
          <a:lstStyle/>
          <a:p>
            <a:pPr algn="l">
              <a:lnSpc>
                <a:spcPct val="115000"/>
              </a:lnSpc>
            </a:pPr>
            <a:r>
              <a:rPr sz="1200" b="1" i="0">
                <a:solidFill>
                  <a:srgbClr val="028090"/>
                </a:solidFill>
                <a:latin typeface="Arial"/>
              </a:rPr>
              <a:t>СЛЕДУЮЩАЯ ЛЕКЦИЯ</a:t>
            </a:r>
          </a:p>
        </p:txBody>
      </p:sp>
      <p:sp>
        <p:nvSpPr>
          <p:cNvPr id="13" name="TextBox 12"/>
          <p:cNvSpPr txBox="1"/>
          <p:nvPr/>
        </p:nvSpPr>
        <p:spPr>
          <a:xfrm>
            <a:off x="5669280" y="5166360"/>
            <a:ext cx="5989320" cy="685800"/>
          </a:xfrm>
          <a:prstGeom prst="rect">
            <a:avLst/>
          </a:prstGeom>
          <a:noFill/>
        </p:spPr>
        <p:txBody>
          <a:bodyPr wrap="square" lIns="0" rIns="0" tIns="0" bIns="0" anchor="t">
            <a:spAutoFit/>
          </a:bodyPr>
          <a:lstStyle/>
          <a:p>
            <a:pPr algn="l">
              <a:lnSpc>
                <a:spcPct val="115000"/>
              </a:lnSpc>
            </a:pPr>
            <a:r>
              <a:rPr sz="2000" b="1" i="0">
                <a:solidFill>
                  <a:srgbClr val="21295C"/>
                </a:solidFill>
                <a:latin typeface="Arial"/>
              </a:rPr>
              <a:t>AI в авиакосмической отрасли и оборонном комплексе</a:t>
            </a:r>
          </a:p>
        </p:txBody>
      </p:sp>
      <p:sp>
        <p:nvSpPr>
          <p:cNvPr id="14" name="Rectangle 13"/>
          <p:cNvSpPr/>
          <p:nvPr/>
        </p:nvSpPr>
        <p:spPr>
          <a:xfrm>
            <a:off x="5669280" y="5943600"/>
            <a:ext cx="45720" cy="411480"/>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806440" y="5897880"/>
            <a:ext cx="5943600" cy="502920"/>
          </a:xfrm>
          <a:prstGeom prst="rect">
            <a:avLst/>
          </a:prstGeom>
          <a:noFill/>
        </p:spPr>
        <p:txBody>
          <a:bodyPr wrap="square" lIns="0" rIns="0" tIns="0" bIns="0" anchor="t">
            <a:spAutoFit/>
          </a:bodyPr>
          <a:lstStyle/>
          <a:p>
            <a:pPr algn="l">
              <a:lnSpc>
                <a:spcPct val="120000"/>
              </a:lnSpc>
            </a:pPr>
            <a:r>
              <a:rPr sz="1300" b="0" i="1">
                <a:solidFill>
                  <a:srgbClr val="065A82"/>
                </a:solidFill>
                <a:latin typeface="Arial"/>
              </a:rPr>
              <a:t>От публичной контактной поверхности — к безопасности-критичному</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