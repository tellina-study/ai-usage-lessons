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 Id="rId3" Type="http://schemas.openxmlformats.org/officeDocument/2006/relationships/hyperlink" Target="https://www.designshifu.com/blog/graphic-designer-cost" TargetMode="External"/><Relationship Id="rId4" Type="http://schemas.openxmlformats.org/officeDocument/2006/relationships/hyperlink" Target="https://gigradar.io/blog/upwork-hourly-rate"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 Id="rId3" Type="http://schemas.openxmlformats.org/officeDocument/2006/relationships/hyperlink" Target="https://ladachizhova.substack.com/p/is-it-hard-to-be-an-illustrator-in"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ladachizhova.substack.com/p/is-it-hard-to-be-an-illustrator-in"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 Id="rId3" Type="http://schemas.openxmlformats.org/officeDocument/2006/relationships/hyperlink" Target="https://investors.upwork.com/node/12681/pdf" TargetMode="External"/><Relationship Id="rId4" Type="http://schemas.openxmlformats.org/officeDocument/2006/relationships/hyperlink" Target="https://www.selfemployed.com/news/upwork-ai-freelance-skills-demand-2026/"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 Id="rId3" Type="http://schemas.openxmlformats.org/officeDocument/2006/relationships/hyperlink" Target="https://www.bls.gov/ooh/arts-and-design/graphic-designers.htm" TargetMode="External"/><Relationship Id="rId4" Type="http://schemas.openxmlformats.org/officeDocument/2006/relationships/hyperlink" Target="https://tryvibeworker.com/blog/upwork-job-market-report-july-2026" TargetMode="External"/><Relationship Id="rId5" Type="http://schemas.openxmlformats.org/officeDocument/2006/relationships/hyperlink" Target="https://designcareers.aiga.org/career-resources/hire-designers-11/graphic-designer-hiring-market-demand-and-supply-2026-156"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ppc.land/nyse-halts-getty-images-trading-after-shares-fall-to-12-cents/" TargetMode="External"/><Relationship Id="rId4" Type="http://schemas.openxmlformats.org/officeDocument/2006/relationships/hyperlink" Target="https://www.tipranks.com/news/company-announcements/getty-images-ends-shutterstock-merger-redeems-secured-notes" TargetMode="External"/><Relationship Id="rId5" Type="http://schemas.openxmlformats.org/officeDocument/2006/relationships/hyperlink" Target="https://money.usnews.com/investing/news/articles/2026-06-30/getty-images-scraps-shutterstock-merger" TargetMode="External"/><Relationship Id="rId6" Type="http://schemas.openxmlformats.org/officeDocument/2006/relationships/hyperlink" Target="https://news.designrush.com/getty-images-chapter-11-prepackaged-bankruptcy-go-private-koch-equity" TargetMode="External"/><Relationship Id="rId7" Type="http://schemas.openxmlformats.org/officeDocument/2006/relationships/hyperlink" Target="https://globenewswire.com/news-release/2026/10/21/3385104/0/en/getty-images-advances-financial-restructuring-to-strengthen-balance-sheet-and-support-future-growth.html" TargetMode="External"/><Relationship Id="rId8" Type="http://schemas.openxmlformats.org/officeDocument/2006/relationships/hyperlink" Target="https://www.bloomberg.com/news/articles/2026-10-21/getty-files-for-bankruptcy-in-process-that-will-take-it-private"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petapixel.com/2026/10/12/how-gettys-bankruptcy-affects-photographers-payments-contracts-and-next-steps/" TargetMode="External"/><Relationship Id="rId4" Type="http://schemas.openxmlformats.org/officeDocument/2006/relationships/hyperlink" Target="https://photobusinessnews.substack.com/p/squeezed-out-getty-images-files-for" TargetMode="External"/><Relationship Id="rId5" Type="http://schemas.openxmlformats.org/officeDocument/2006/relationships/hyperlink" Target="https://globenewswire.com/news-release/2026/10/21/3385104/0/en/getty-images-advances-financial-restructuring-to-strengthen-balance-sheet-and-support-future-growth.html"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hyperlink" Target="https://system1group.com/ad-of-the-week/ai-or-no-ai-coke-gets-the-christmas-love" TargetMode="External"/><Relationship Id="rId5" Type="http://schemas.openxmlformats.org/officeDocument/2006/relationships/hyperlink" Target="https://carma.com/ai/" TargetMode="External"/><Relationship Id="rId6" Type="http://schemas.openxmlformats.org/officeDocument/2006/relationships/hyperlink" Target="https://www.twobirds.com/en/insights/2025/uk/stability-ai-defeats-getty-images-copyright-claims-in-first-of-its-kind-dispute-before-the-high-cour" TargetMode="External"/><Relationship Id="rId7" Type="http://schemas.openxmlformats.org/officeDocument/2006/relationships/hyperlink" Target="https://www.bloomberg.com/news/articles/2026-10-21/getty-files-for-bankruptcy-in-process-that-will-take-it-private" TargetMode="Externa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 Id="rId3" Type="http://schemas.openxmlformats.org/officeDocument/2006/relationships/hyperlink" Target="https://doi.org/10.1016/j.chbr.2024.100538" TargetMode="Externa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 Id="rId3" Type="http://schemas.openxmlformats.org/officeDocument/2006/relationships/hyperlink" Target="https://doi.org/10.1016/j.chbr.2024.100538"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Курс уже дважды сказал главное. Лекция 5 сформулировала линзу: удешевление одного шага работы перестраивает работу целиком, а платят за это на другом шаге — том, который не подешевел. Лекция 7 посмотрела через эту линзу на медицину и впервые в курсе получила числом, сколько стоит перенос нагрузки на человека, который принимает решение. Эта лекция берёт ту же линзу и наводит её на творческое производство — кино, музыку, изображения, текст в журналистском и издательском изводе. Наследуется первая половина: дешёвый шаг перестраивает работу целиком, платят на другом шаге. Своя здесь — вторая половина, и у неё есть имя: дешёвым стал не производственный шаг и не измерение, а сигнал, на котором держалось доверие.</a:t>
            </a:r>
          </a:p>
          <a:p>
            <a:r>
              <a:t/>
            </a:r>
          </a:p>
          <a:p>
            <a:r>
              <a:t>Узнавание — лицо на видеозвонке, голос в телефонной трубке, подпись автора под статьёй, очевидно лицензированная фотография на сайте издания — всегда было бесплатным и достаточным сигналом доверия в творческом производстве. Никто не платил отдельно за то, чтобы убедиться, что голос в трубке принадлежит тому, за кого он себя выдаёт: сам факт, что голос звучит знакомо, уже был проверкой, и проверка эта доставалась бесплатно, как побочный продукт биологии человеческого восприятия. Редактор верил подписи колумниста не потому, что проверял его личность при каждой статье, а потому, что подпись — институт, выработанный индустрией за десятилетия, и обходить его было себе дороже.</a:t>
            </a:r>
          </a:p>
          <a:p>
            <a:r>
              <a:t/>
            </a:r>
          </a:p>
          <a:p>
            <a:r>
              <a:t>Генеративная модель не сделала творческий продукт хуже. Она обнулила цену подделки узнавания — и именно поэтому первая реакция на материал этой лекции обманчива. Интуитивно кажется, что речь пойдёт о качестве: хуже ли сгенерированная картинка нарисованной, фальшивее ли текст, написанный моделью, текста, написанного человеком. Измеримо выясняется другое: ломается не качество продукта, а механизм проверки, который раньше прилагался к узнаванию бесплатно и на эту бесплатность был рассчитан весь остальной порядок работы — от редакционного контроля до договора о лицензии.</a:t>
            </a:r>
          </a:p>
          <a:p>
            <a:r>
              <a:t/>
            </a:r>
          </a:p>
          <a:p>
            <a:r>
              <a:t>Один конкретный акт творческого производства, с которого лекция начинается: независимый дизайнер получает от клиента бриф на логотип, присылает черновой вариант через день-два, клиент просит правку — шрифт жёстче, цвет теплее, — дизайнер правит, присылает снова, и после второй-третьей итерации стороны сходятся на финальном файле. Весь цикл занимает от одного до трёх дней и стоит по рыночным ставкам фрилансеров 50–150 долларов за типовое задание. Сегодняшняя альтернатива — короткое предложение на естественном языке, отправленное модели, и результат, который приходит прежде, чем клиент успел бы сформулировать вторую правку в переписке с живым исполнителем.</a:t>
            </a:r>
          </a:p>
          <a:p>
            <a:r>
              <a:t/>
            </a:r>
          </a:p>
          <a:p>
            <a:r>
              <a:t>Путь ответа на вопрос, который лекция задаёт в конце этого входа, проходит через пять точек жизни одного творческого артефакта — от того, кто его сделал, через то, кто его проверил, как отреагировала аудитория, кто за него заплатил, и что стало с тем, кто его обычно делал. Материал этой лекции — не экзотика для инженерной аудитории курса: тот, кто уже использовал Midjourney для продуктового визуала или Suno для фонового трека в проморолике, как правило, думал о результате в категориях «сработало/не сработало» и «быстро/медленно». Эта лекция ставит рядом с этими категориями ещё одну: кто теперь отвечает, если результат окажется похож на чужую узнаваемую работу, использует чужой голос без согласия или будет принят аудиторией не так, как ожидалось.</a:t>
            </a:r>
          </a:p>
          <a:p>
            <a:r>
              <a:t/>
            </a:r>
          </a:p>
          <a:p>
            <a:r>
              <a:t>Стоит сразу назвать, чего лекция не утверждает: она не говорит, что результат генерации хуже результата ручной работы по качеству, и не говорит, что обвал цены исполнения — проблема сам по себе. Предмет лекции — то, что обвал цены исполнения синхронно обрушил и цену подделки узнавания, а это два разных эффекта одной причины, которые легко перепутать, если не разделить их явно с первой же минуты.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о том, что изменила генеративная модель, лекция обязана предъявить, как было устроено исполнение творческой работы без неё. Независимый дизайнер получает от клиента бриф на логотип: короткое описание компании, пожелание по стилю, референс — чужая работа, которая клиенту нравится. Дизайнер присылает черновой вариант через день-два. Клиент просит правку: шрифт жёстче, цвет теплее. Дизайнер правит, присылает снова. После второй-третьей итерации стороны сходятся на финальном файле — векторном изображении в нескольких форматах, с правом использования, которое оговорено отдельно от самой работы. Весь цикл занимает от одного до трёх дней и стоит по рыночным ставкам фрилансеров 2026 года 50–150 долларов за типовое задание такого рода. Это не история про творческую индустрию вообще — это то, как устроена оплачиваемая работа одного конкретного человека, присылающего файл другому конкретному человеку.</a:t>
            </a:r>
          </a:p>
          <a:p>
            <a:r>
              <a:t/>
            </a:r>
          </a:p>
          <a:p>
            <a:r>
              <a:t>Внутри этого цикла есть деталь, которая обычно теряется при быстром пересказе и важна для дальнейшего материала лекции. Референс, который клиент присылает дизайнеру, — это чужая работа: скриншот чужого логотипа, фотография с фотостока, кадр из чужой рекламной кампании. Дизайнер смотрит на неё, распознаёт стиль и создаёт нечто новое, вдохновлённое увиденным, но не копирующее его впрямую — провести эту границу между вдохновением и копированием дизайнер умеет интуитивно, потому что всю карьеру работал в индустрии, где эта граница институционально значима: за прямое копирование чужой работы можно потерять репутацию и клиента, а иногда и попасть в суд. Эта граница станет одной из несущих тем позже, когда речь пойдёт о том, обучались ли генеративные модели на чужих работах способом, который эту же границу нарушает уже не интуицией дизайнера, а статистикой на миллиардах примеров.</a:t>
            </a:r>
          </a:p>
          <a:p>
            <a:r>
              <a:t/>
            </a:r>
          </a:p>
          <a:p>
            <a:r>
              <a:t>Похожим образом устроено производство ещё в двух классах творческого продукта, которые лекция разбирает дальше. Заказчик рекламного ролика заказывает музыкальное сопровождение студии или независимому композитору; тот присутствует на «сессии привязки» — просмотре черновой версии видео, во время которого обсуждается, где музыка должна усиливать эмоцию, а где отступить, — и это обсуждение тоже занимает дни, а не секунды. Заказчик обучающего видео нанимает диктора, присылает ему текст с пометками интонации, получает пробную запись, просит переделать два абзаца помягче — снова цикл правок, снова дни.</a:t>
            </a:r>
          </a:p>
          <a:p>
            <a:r>
              <a:t/>
            </a:r>
          </a:p>
          <a:p>
            <a:r>
              <a:t>Сегодняшняя альтернатива всем трём циклам выглядит коротким предложением на естественном языке, отправленным модели, и результатом, который приходит прежде, чем клиент успел бы сформулировать вторую правку в переписке с живым исполнителем. Разрыв между этими двумя картинами — не метафора и не иллюстрация к общему тезису об ускорении технологий. Это измеримая величина, и измерить её — первая содержательная работа следующего раздела лекции.</a:t>
            </a:r>
          </a:p>
          <a:p>
            <a:r>
              <a:t/>
            </a:r>
          </a:p>
          <a:p>
            <a:r>
              <a:t>Стоит отдельно заметить, почему классический цикл вообще занимает дни, а не часы, — и дело не в медлительности исполнителя. Клиент формулирует правку по мере того, как видит результат: «шрифт жёстче» — это реакция на уже существующий черновик, а не требование, которое можно было сформулировать заранее, до того как черновик появился. Переписка растягивается не потому, что дизайнер работает медленно, а потому, что сама задача уточняется только в диалоге с промежуточным результатом, и каждая итерация требует времени на то, чтобы клиент вообще увидел, что получилось, и сформулировал следующий шаг. Это свойство задачи, не свойство исполнителя, и оно останется в силе и тогда, когда скорость самого исполнения упадёт до секунд: уточнение требования через диалог с промежуточным результатом никуда не девается, просто сам диалог теперь может идти быстрее, чем раньше.</a:t>
            </a:r>
          </a:p>
          <a:p>
            <a:r>
              <a:t/>
            </a:r>
          </a:p>
          <a:p>
            <a:r>
              <a:t>Но прежде чем мерить цену исполнения, лекция должна предъявить, ради чего весь этот обвал цены вообще важен: не сам факт, что стало дешевле, а то, что обвал цены исполнения тянет за собой обвал цены подделки узнавания. Это предъявляется одним разбором, до первого содержательного раздела, — он на следующем кадре.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кадр стоит здесь, до первого погружения в материал, и на нём нет таксономии творческих областей и нет перечня исков с их судебными статусами — оба этих жанра курс называет обзором, а обзор не несёт ось, он её иллюстрирует задним числом. Вместо этого — два измерения на разном материале, оба про один и тот же механизм: узнавание переставало что-либо доказывать.</a:t>
            </a:r>
          </a:p>
          <a:p>
            <a:r>
              <a:t/>
            </a:r>
          </a:p>
          <a:p>
            <a:r>
              <a:t>В конце 2022 — начале 2023 года издание CNET публиковало статьи, написанные внутренним генеративным движком, под коллективной подписью «CNET Money Staff», не раскрывая вначале, что автор — не человек. Редакция не раскрыла это добровольно: подмену заметил не внутренний аудит, а независимое журналистское расследование стороннего издания, обратившее внимание на неестественно ровный стиль серии публикаций. Только после огласки CNET признала использование генеративного инструмента и провела внутреннюю проверку собственного архива — по итогам которой из 77 опубликованных текстов 41, то есть 53%, потребовали исправлений, часть существенных, включая математические ошибки в формулах сложных процентов — в статьях, написанных именно для того, чтобы читатель принимал по ним финансовые решения.</a:t>
            </a:r>
          </a:p>
          <a:p>
            <a:r>
              <a:t/>
            </a:r>
          </a:p>
          <a:p>
            <a:r>
              <a:t>У этого числа есть база, без которой оно не читается. Независимые аудиты точности классической журналистики — газетных статей, написанных людьми, — годами фиксируют долю материалов с хотя бы одной ошибкой в диапазоне 40–61%. Это не та же выборка и не та же методология, что аудит CNET, и честность разбора требует сказать это прямо, а не выдать совпадение порядков за строгое равенство. При этой оговорке вывод всё же держится: доля ошибок у модели не превышает базовый уровень классической журналистики. Разница — в том, что те же независимые аудиты фиксируют долю публичных исправлений при классическом режиме на уровне около 2%, то есть газеты и так ошибаются примерно в этом диапазоне, просто почти никогда не исправляют это публично. CNET исправила 53% своих AI-статей не потому, что модель написала больше ошибок, а потому, что раскрытие авторства заставило редакцию сделать то, что индустрия системно не делает сама.</a:t>
            </a:r>
          </a:p>
          <a:p>
            <a:r>
              <a:t/>
            </a:r>
          </a:p>
          <a:p>
            <a:r>
              <a:t>Второй ряд — перенос, другой домен, тот же механизм, без собственного примера из творческих индустрий, который показывает, что найденное не специфично для журналистики. В июле 2024 года компания информационной безопасности KnowBe4 раскрыла, что наняла удалённого сотрудника, который оказался не тем, за кого себя выдавал. Кандидат прошёл четыре отдельных видеособеседования и стандартную проверку биографических данных — весь классический процесс найма, рассчитанный на то, что лицо на экране и голос в динамиках сами по себе достаточное удостоверение личности. Подмену не поймал ни один из этих пяти шагов проверки. Её поймала система обнаружения вторжений на рабочей станции — спустя несколько дней после того, как сотрудник уже получил доступ к корпоративным системам, и совсем по другому поводу.</a:t>
            </a:r>
          </a:p>
          <a:p>
            <a:r>
              <a:t/>
            </a:r>
          </a:p>
          <a:p>
            <a:r>
              <a:t>Счёт, который превращает это в измеримую пару: готовая украденная личность стоит около 120 долларов; сборка работающего дипфейка реального времени на бытовом игровом компьютере занимает около 70 минут. Старый, дорогой способ той же подмены — нанять живого актёра на очное собеседование — требовал логистики, которую нельзя было масштабировать на тысячи попыток одновременно так, как масштабируется программный дипфейк.</a:t>
            </a:r>
          </a:p>
          <a:p>
            <a:r>
              <a:t/>
            </a:r>
          </a:p>
          <a:p>
            <a:r>
              <a:t>В одном случае — доверие к подписи автора под статьёй. В другом — доверие к лицу и голосу кандидата на видеозвонке. В обоих случаях узнавание было бесплатным институтом, встроенным в порядок работы настолько глубоко, что никто не платил за отдельную проверку поверх него. Генеративная модель не сломала эти институты напрямую — она обнулила цену подделки сигнала, на котором они держались.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Стоит отдельно задержаться на том, как именно этот случай вообще стал известен, потому что способ обнаружения — часть урока не меньше, чем сами цифры. CNET не раскрыла происхождение статей добровольно: обтекаемая подпись «CNET Money Staff» стояла под материалом месяцами, и заметил подмену не внутренний аудит редакции, а независимое журналистское расследование стороннего издания, которое обратило внимание на неестественно ровный, шаблонный стиль серии публикаций и начало задавать редакции прямые вопросы. Только после огласки CNET признала использование генеративного инструмента и начала внутреннюю проверку собственного архива, по итогам которой и появилась цифра 41 из 77. Этот порядок событий — не добровольное раскрытие, а обнаружение извне с последующим признанием — сам по себе часть ответа на вопрос лекции: институт узнавания в данном случае не защитил себя изнутри, его сломала внешняя проверка, которая могла и не случиться.</a:t>
            </a:r>
          </a:p>
          <a:p>
            <a:r>
              <a:t/>
            </a:r>
          </a:p>
          <a:p>
            <a:r>
              <a:t>Стоит задержаться и на том, что именно означали эти 53% на практике, прежде чем переходить к интерпретации. Статьи, о которых идёт речь, — не художественные тексты и не репортажи с места событий, а финансовые объяснители: «что такое сложный процент», «как работает индивидуальный пенсионный счёт», «сколько стоит обслуживание кредитной карты». Это ровно тот жанр текста, на котором читатель меньше всего склонен сомневаться — он открывает статью, чтобы понять правило, а не чтобы оценить авторский стиль, и воспринимает формулу в тексте как данность, потому что подпись «CNET Money Staff» для него означала «это проверенная редакцией информация». Часть обнаруженных ошибок была не стилистической, а буквально арифметической — неверно посчитанный пример сложного процента в статье, объясняющей именно эту формулу читателю, который по ней же может принять решение о собственном вкладе или кредите. Это тот частный случай, где подделываемое узнавание — вид подписи, которая должна была сигнализировать «эту формулу проверили» — напрямую превращается в практический финансовый риск для читателя, а не остаётся абстрактным вопросом доверия к медиа.</a:t>
            </a:r>
          </a:p>
          <a:p>
            <a:r>
              <a:t/>
            </a:r>
          </a:p>
          <a:p>
            <a:r>
              <a:t>Устройство самого движка — архитектура, вендор — публично не раскрыто: CNET описывала его обтекаемо как «внутренне разработанный инструмент». Это честный пробел, а не недосмотр исследования, и называть его стоит прямо, а не домысливать за отсутствующим источником техническую деталь, которой никто не подтверждал.</a:t>
            </a:r>
          </a:p>
          <a:p>
            <a:r>
              <a:t/>
            </a:r>
          </a:p>
          <a:p>
            <a:r>
              <a:t>Что переехало по итогу: около 10% штата издания уволено в течение недель после скандала, а институт «именованного автора» как гарантии хоть какой-то проверки оказался подорван качественно, без точного измерения того, какая доля аудитории вообще заметила разницу между статьёй, написанной человеком, и статьёй, написанной движком. Это и есть контринтуитивный итог, который держит весь раздел редакционного контроля дальше по лекции: генеративная модель здесь не хуже человека по частоте ошибок — хуже по тому, что подделываемое узнавание (подпись) обнажает то, что индустрия и так не исправляла.</a:t>
            </a:r>
          </a:p>
          <a:p>
            <a:r>
              <a:t/>
            </a:r>
          </a:p>
          <a:p>
            <a:r>
              <a:t>Отдельно стоит назвать честную оговорку про компанию Sports Illustrated/Arena Group, которую легко спутать с CNET по жанру скандала: сто уволенных сотрудников, падение акций на 28–33,6%, смена лицензиата — но Arena официально отрицала, что AI писал сам текст (AI, по их версии, затронул только фотографии профилей авторов), а потеря лицензии была официально вызвана пропущенным платежом, не скандалом напрямую. Это предостережение против подмены причинности, а не доказанный второй провал модели того же рода, что CNET, — и смешивать эти два случая значило бы повторить ту же ошибку, против которой лекция предостерегает: приписывать модели то, что объясняется чем-то другим.</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Случай KnowBe4 — не изолированный, а задокументированная схема промышленного масштаба, и устройство её стоит описать подробнее, потому что именно в деталях видно, что здесь ломалось узнавание, а не что-то ещё. Американский федеральный суд в 2025 году вынес приговор гражданке США Кристине Чапмен, которая держала у себя дома «ферму ноутбуков» — физически принимала рабочие устройства, рассылаемые компаниями-работодателями новому сотруднику, подключала их к собственной домашней сети и удалённо отдавала операторам, действовавшим из-за рубежа под украденными личностями. Формально ноутбук физически находился там, где его и ожидал работодатель — в США, по адресу нанятого сотрудника; фактически с ним работал человек на другом континенте. Через эту схему прошло более 309 компаний, включая крупную телесеть, автопроизводителя и технологическую компанию из Кремниевой долины, а совокупный доход схемы превысил 17 миллионов долларов за три года.</a:t>
            </a:r>
          </a:p>
          <a:p>
            <a:r>
              <a:t/>
            </a:r>
          </a:p>
          <a:p>
            <a:r>
              <a:t>Отдельное расследование компании по кибербезопасности Nisos вскрыло одну отслеженную ячейку такого рода изнутри и описало конкретные приёмы: поддельные водительские права, собранные через сайты, имитирующие интерфейс департаментов транспортных средств американских штатов, с цифровой подрисовкой фотографии под реального оператора; коучинг произношения и акцента голосовой моделью прямо во время интервью; программа удалённого доступа, поверх которой оператору суфлировали технические ответы в реальном времени, пока кандидат формально «думал» перед камерой. Через эту единственную отслеженную ячейку более 170 000 поданных заявок на работу превратились в 76 полученных офферов силами 22 операторов за девять месяцев. Отдельный федеральный кейс задокументировал схему меньшего масштаба, но с теми же приёмами: порядка 5 миллионов долларов полученного дохода через более чем сто компаний-жертв и более 80 украденных личностей граждан США.</a:t>
            </a:r>
          </a:p>
          <a:p>
            <a:r>
              <a:t/>
            </a:r>
          </a:p>
          <a:p>
            <a:r>
              <a:t>Отдельная техническая деталь важна для инженерного понимания механизма: часть схем использует не только синтез лица и голоса, но и подмену устройства — аппаратную карту видеозахвата, которая для видеоплатформы неотличима от обычной веб-камеры и прогоняет через этот интерфейс уже готовый синтетический видеопоток, а не управляет синтезом в реальном времени на лету. Это показывает, что подделка узнавания на этом направлении — не только задача генеративной модели (как заставить лицо двигаться правдоподобно), но и инженерная задача интеграции (как заставить платформу поверить, что перед ней обычное оборудование).</a:t>
            </a:r>
          </a:p>
          <a:p>
            <a:r>
              <a:t/>
            </a:r>
          </a:p>
          <a:p>
            <a:r>
              <a:t>Индустрия кибербезопасности собрала всю эту деятельность под одним отраслевым обозначением — «Famous Chollima»: не единичная группа с фиксированным составом, а общее название для повторяющегося паттерна действий, который разные команды расследователей видят снова и снова у разных клиентов. То, что у этого явления есть устойчивое отраслевое имя, само по себе показатель того, насколько оно перестало быть редким инцидентом и стало рутинной, ожидаемой угрозой, под которую индустрия закладывает процедуры заранее, а не реагирует на каждый случай как на неожиданность.</a:t>
            </a:r>
          </a:p>
          <a:p>
            <a:r>
              <a:t/>
            </a:r>
          </a:p>
          <a:p>
            <a:r>
              <a:t>Счёт, который превращает всё это в измеримую пару, уже назван на предыдущем кадре: готовая украденная личность — подлинный номер социального страхования, скан водительских прав, подтверждающее селфи — стоит около 120 долларов; сборка работающего дипфейка реального времени на бытовом игровом компьютере, пятилетней давности по архитектуре, занимает около 70 минут. Отдельно задокументирован готовый коммерческий инструмент «дипфейк как услуга», зарабатывающий, по оценке обзора, более 4 миллионов долларов и доступный практически любому желающему по соответствующей цене. Старый, дорогой способ той же подмены — нанять живого актёра на очное собеседование — требовал логистики, физического присутствия и координации по месту и времени, которую нельзя было масштабировать на тысячи попыток одновременно так, как масштабируется программный дипфейк.</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Явление не затухает — оно растёт на фоне растущего внимания к нему. Межгосударственное предупреждение, подписанное одиннадцатью странами, включая США, Великобританию, Японию, Южную Корею, Германию, Францию, вышло 31 июля 2026 года и описывает операторов, прогоняющих синтез лица в реальном времени через виртуальный драйвер камеры, который видеоплатформа принимает за обычную веб-камеру — это позволяет одному человеку проходить собеседования на одну и ту же роль под несколькими разными личностями подряд. Федеральное бюро расследований США повторило предупреждение 14 октября 2026 года — за неделю до даты, на которую проверялся этот материал, — и назвало проблему более изощрённой и более опасной, не предложив при этом новых агрегированных цифр по ущербу. Отраслевой опрос трёх тысяч менеджеров по найму зафиксировал рост доли компаний, столкнувшихся с подобным фродом, с 31% годом ранее до 40%, а доля тех, кто считает, что кандидаты подделывают личность успешнее, чем компании успевают это ловить, выросла с 62% до 68% — то есть защита не улучшается, а ухудшается, несмотря на весь объём публичных предупреждений.</a:t>
            </a:r>
          </a:p>
          <a:p>
            <a:r>
              <a:t/>
            </a:r>
          </a:p>
          <a:p>
            <a:r>
              <a:t>Это ухудшение имеет и измеримую техническую причину, а не только организационную инерцию. Агрегированные исследования распознавания дипфейков человеком показывают результат, близкий к случайному гаданию: человек, которого прямо предупредили, что перед ним может быть подделка, и который специально её высматривает, правильно определяет качественный видео-дипфейк лишь в 24–25% случаев — и это число именно для узкого, подготовленного условия: предупреждён и ищет целенаправленно. Более общие исследования, не помечающие это условие, дают другие, заметно более высокие цифры — это два разных измерения разных условий, и путать их нельзя. Низкая цифра здесь означает, что рекомендация «будьте бдительнее» — не техническая мера защиты, а просьба к человеку делать то, с чем его восприятие структурно не справляется.</a:t>
            </a:r>
          </a:p>
          <a:p>
            <a:r>
              <a:t/>
            </a:r>
          </a:p>
          <a:p>
            <a:r>
              <a:t>Существующая техническая контрмера — активная проверка живости видеопотока, которая, по индустриальным оценкам, способна снизить успешность такого фрода до 91% — но она требует отдельного внедрения сверх обычного видеозвонка, и лишь около 46% организаций, по данным отраслевых обзоров, способны полностью подтвердить, что видеопоток снят живьём, а не воспроизведён. Разрыв между существующей технической возможностью защититься и фактическим уровнем её внедрения — отдельный, самостоятельный урок, который эта лекция пронесёт и через следующие разделы: технология защиты от подделки узнавания в большинстве случаев уже существует, но стоит дороже — временем внедрения, деньгами, трением для легитимных пользователей, — чем готовы заплатить большинство организаций, пока жареный петух не клюнул.</a:t>
            </a:r>
          </a:p>
          <a:p>
            <a:r>
              <a:t/>
            </a:r>
          </a:p>
          <a:p>
            <a:r>
              <a:t>Стоит подчеркнуть структуру этого вывода, потому что она будет повторяться: проблема здесь не в том, что защититься нельзя, а в том, что защита стоит денег и внимания, которые организация предпочитает не тратить, пока цена отказа от защиты не стала очевидной на собственном опыте. Это тот же паттерн, который дальше встретится применительно к изданиям, не проверяющим авторство статей, и платформам, не лицензирующим обучающие данные заранее: техническое решение существует раньше, чем организация готова за него заплатить.</a:t>
            </a:r>
          </a:p>
          <a:p>
            <a:r>
              <a:t/>
            </a:r>
          </a:p>
          <a:p>
            <a:r>
              <a:t>Стоит также назвать прямо, почему растущая доля компаний, признающих, что защита отстаёт от атаки (62% → 68%), важнее самой по себе доли пострадавших. Признание отставания — это не жалоба, а косвенное измерение того, что проверка узнавания на видеозвонке перестала быть надёжной сама по себе: организации продолжают полагаться на процесс, который сами же считают недостаточным, потому что замена этого процесса — отдельный проект с собственным бюджетом, а не бесплатное дополнение к уже существующему найму. Ровно это и есть обратная сторона того, с чего начался разбор на входе в лекцию: бесплатная проверка узнавания исчезла, а платной её замены большинство ещё не поставило.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 этой лекции соседствует с материалом двух других лекций курса, и разграничение стоит сказать одной фразой каждое, до того как возникнет соблазн искать пересечение самостоятельно.</a:t>
            </a:r>
          </a:p>
          <a:p>
            <a:r>
              <a:t/>
            </a:r>
          </a:p>
          <a:p>
            <a:r>
              <a:t>Лекция 14 разбирает синтез лица и голоса как инструмент атаки на предприятие — дипфейк-звонок финансовому директору, цель которого извлечь деньги постфактум, уже после того, как решение о доверии принято и транзакция одобрена. Механизм там тот же самый, что в переносном разборе найма этой лекции: генеративный синтез подделывает узнавание. Но адрес структурно другой. Лекция 14 — про защиту периметра компании от атаки, которая эксплуатирует узнавание в момент принятия решения о деньгах. Эта лекция — про доверие к содержанию и к личности на входе в компанию, при найме, прежде чем какая-либо транзакция вообще возможна. Один и тот же инструмент, два разных структурных адреса одного и того же паттерна — узнавание подделывается дёшево, — и материал не дублируется, потому что место приложения технологии в цикле принципиально другое.</a:t>
            </a:r>
          </a:p>
          <a:p>
            <a:r>
              <a:t/>
            </a:r>
          </a:p>
          <a:p>
            <a:r>
              <a:t>Конкретный пример делает это разграничение нагляднее абстрактной формулы. Представим финансового директора компании, которому звонит видеозвонок от «генерального директора» с просьбой срочно одобрить крупный перевод, — это сценарий Лекции 14: узнавание подделано в точке, где уже принимается решение о деньгах, постфактум по отношению к тому, что сотрудник уже имеет доступ к счетам компании. Теперь представим менеджера по найму, который проводит видеособеседование с кандидатом на вакансию удалённого разработчика, — это сценарий этой лекции: узнавание подделано в точке входа, до того, как у подставного кандидата появился хоть какой-то доступ к чему-либо, и единственная ставка здесь — будет ли он вообще принят на работу. Механизм совпадает до деталей — синтез лица и голоса в реальном времени на видеозвонке, — но структурно это разные моменты процесса, с разными последствиями отказа защиты и разными точками, где могла бы стоять проверка.</a:t>
            </a:r>
          </a:p>
          <a:p>
            <a:r>
              <a:t/>
            </a:r>
          </a:p>
          <a:p>
            <a:r>
              <a:t>Разница между этими двумя разграничениями стоит того, чтобы проговорить её явно, потому что они легко смешиваются в одно общее «про генеративные модели и доверие». Разграничение с Лекцией 14 — про место одного и того же механизма в разных точках бизнес-процесса: атака на решение о деньгах против атаки на решение о доверии к личности. Студент, который уже прослушал Лекцию 14, вправе ожидать, что материал не будет пересказан заново здесь, — и он действительно не пересказывается: эта лекция берёт готовый вывод («синтез лица и голоса существует и доступен практически любому желающему») и смотрит, что из этого следует конкретно для творческого производства, а не для защиты предприятия.</a:t>
            </a:r>
          </a:p>
          <a:p>
            <a:r>
              <a:t/>
            </a:r>
          </a:p>
          <a:p>
            <a:r>
              <a:t>Стоит заметить и обратное — почему это разграничение не повод считать материал двух лекций взаимозаменяемым и слушать только одну из них. Студент, который прослушает только эту лекцию, увидит, как синтез лица и голоса подделывает доверие на входе в компанию, но не увидит, что происходит, если тот же инструмент применить к уже работающему сотруднику с доступом к деньгам, — а это другой набор рисков и другой набор защитных мер, завязанных на внутренние процедуры согласования платежей, а не на процедуры найма. И наоборот, студент, прослушавший только Лекцию 14, увидит защиту периметра компании, но не увидит, что та же технология ставит под вопрос доверие к содержанию задолго до того, как у кого-либо появляется доступ к чему-либо ценному. Оба разбора нужны именно потому, что технология одна, а рисков у неё, в зависимости от места приложения, минимум два принципиально разных.</a:t>
            </a:r>
          </a:p>
          <a:p>
            <a:r>
              <a:t/>
            </a:r>
          </a:p>
          <a:p>
            <a:r>
              <a:t>Лекция 3 разбирает архитектуру систем на основе генеративных моделей — платформенный слой, на котором построены инструменты, упоминаемые в этой лекции (агрегирующие несколько моделей под одним программным интерфейсом платформенные решения, например Adobe Firefly Foundry). Эта лекция упоминает такие платформы только мимоходом, там, где это нужно для понимания конкретного случая; устройство самого платформенного слоя — предмет отдельной лекции, и повторять его здесь не нужно. Разграничение с Лекцией 3 — про уровень абстракции: эта лекция смотрит на инструменты как на закрытые устройства с известным входом, выходом и ценой, тогда как Лекция 3 открывает это устройство и показывает, из каких слоёв оно собрано.</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вопрос лекции не остался риторическим восклицанием, материал раскладывается на конкретный маршрут. Возьмём один творческий артефакт — неважно, изображение, трек или статья — и проследим его путь через производство до того, как он доходит до аудитории и до того момента, когда кто-то выставляет за него счёт. На этом пути узнавание появляется ровно четыре раза, и в каждой точке раньше оно работало бесплатно.</a:t>
            </a:r>
          </a:p>
          <a:p>
            <a:r>
              <a:t/>
            </a:r>
          </a:p>
          <a:p>
            <a:r>
              <a:t>Первая точка — на входе, при создании. Кто это сделал — человек или обученная модель? До генеративных моделей вопрос почти не возникал: если файл существовал, значит, кто-то потратил на него время, навык и материальные ресурсы, и это само по себе было достаточным подтверждением происхождения. Никто не спрашивал иллюстратора, рисовал ли он картинку сам, — сам факт существования законченной работы был достаточным доказательством вложенного труда. Эта точка — предмет следующего раздела: как творческий продукт производился руками и что случилось с ценой его производства, когда ответ на вопрос «кто это сделал» перестал однозначно следовать из того, что результат вообще существует.</a:t>
            </a:r>
          </a:p>
          <a:p>
            <a:r>
              <a:t/>
            </a:r>
          </a:p>
          <a:p>
            <a:r>
              <a:t>Вторая точка — при проверке. Редактор верит подписи автора; клиент верит, что лицензия на использованную фотографию существует и действительна; агентство верит, что голос в рекламном ролике принадлежит актёру, с которым подписан контракт. Институт верификации в каждом из этих случаев был рассчитан на то, что подделать именованного автора, лицензированный источник или голос конкретного человека дорого и хлопотно — настолько, что экономически нецелесообразно для подавляющего большинства материала, проходящего через редакцию или агентство ежедневно. Этой точке посвящён раздел «Редакционный контроль» — и именно здесь стоит разбор CNET, предъявленный уже на входе: что происходит, когда стоимость подделки подписи обнуляется, а объём материала, который нужно проверять, остаётся прежним.</a:t>
            </a:r>
          </a:p>
          <a:p>
            <a:r>
              <a:t/>
            </a:r>
          </a:p>
          <a:p>
            <a:r>
              <a:t>Третья точка — при публикации, в реакции аудитории. Зритель или читатель реагирует на контент так, будто его подлинность не под вопросом, если ничто не намекает на обратное; узнав, что перед ним результат генерации, он реагирует иначе — и эта реакция измерима, причём не всегда предсказуемо: иногда резко негативно в открытых социальных сетях, иногда ровно и даже благосклонно в контролируемых условиях предрелизного тестирования. Раздел «Релиз и приём аудиторией» разбирает это на материале рекламных кампаний, где тональность публики измерена до и после раскрытия происхождения, и показывает, что классический и генеративный способ узнать реакцию аудитории заранее могут давать прямо противоположные прогнозы.</a:t>
            </a:r>
          </a:p>
          <a:p>
            <a:r>
              <a:t/>
            </a:r>
          </a:p>
          <a:p>
            <a:r>
              <a:t>Четвёртая точка — при оплате. Кто лицензировал материал, использованный для обучения модели, которая произвела конкретный артефакт, и был ли он вообще для этого лицензирован? До генеративных моделей этот вопрос решался заранее, договором, с известной ценой — лицензия покупалась до того, как материал использовался, а не оспаривалась в суде после. Раздел «Права и лицензирование» разбирает разрыв между классическим лицензионным тарифом и тем, что происходит в судах и в мировых соглашениях на практике — и этот разрыв измеряется теми же тремя-четырьмя порядками, что и обвал цены исполнения в следующем разделе.</a:t>
            </a:r>
          </a:p>
          <a:p>
            <a:r>
              <a:t/>
            </a:r>
          </a:p>
          <a:p>
            <a:r>
              <a:t>Пятый раздел пути — «Кадровый рынок отрасли» — не добавляет новую точку на маршруте артефакта: он спрашивает, что стало с человеком, который раньше проходил весь этот путь профессией, а не разовым актом — дизайнером, композитором, диктором, журналистом, для которого создание, проверка, публикация и оплата творческой работы были не отдельными эпизодами, а источником постоянного дохода и карьерной траектории.</a:t>
            </a:r>
          </a:p>
          <a:p>
            <a:r>
              <a:t/>
            </a:r>
          </a:p>
          <a:p>
            <a:r>
              <a:t>Чтобы эта карта не осталась абстрактной схемой, полезно один раз пройти по ней на том же логотипе, заказанном независимому дизайнеру, с которого начался вход в лекцию. На первой точке вопрос был «кто это нарисовал» — раньше очевиден из факта существования файла, теперь требует отдельной проверки. На второй — агентство проверяет, не похож ли логотип на чужой товарный знак. На третьей — покупатели бренда реагируют на него, узнают ли стиль. На четвёртой — если модель, использованная дизайнером, обучалась на чужих логотипах без разрешения, возникает вопрос, кто должен за это заплатить. Один и тот же файл проходит все четыре точки независимо от того, нарисован ли он вручную или сгенерирован, — разница в том, что по крайней мере на одной из четырёх раньше можно было не задавать вопроса вовсе, а теперь приходится.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материал перейдёт к первому содержательному разделу, стоит назвать правило, по которому устроен каждый подробный разбор в дальнейшем, — иначе числа в нём будут читаться как отдельные, не связанные друг с другом иллюстрации, а не как применения одной и той же дисциплины сравнения.</a:t>
            </a:r>
          </a:p>
          <a:p>
            <a:r>
              <a:t/>
            </a:r>
          </a:p>
          <a:p>
            <a:r>
              <a:t>Каждый подробный разбор проходит четыре шага в строгом порядке. Сначала называется цена обеих сторон вопроса — что стоит классический способ и что стоит обвал цены, в одних единицах измерения, и называется это до всякой оценки точности или качества результата, потому что без названной цены ни одна оценка точности не читается. Затем называется классический режим, которым вопрос решался до генеративной модели, посчитанный в тех же единицах — не абстрактное «было по-другому», а конкретный, названный по имени порядок работы с собственным числом там, где число для него существует. Дальше генеративная модель сравнивается именно с этим классическим режимом, а не с пустым местом: сравнение с нулём, при котором любой результат выглядит выигрышем, здесь не принимается нигде, и там, где у классического режима нет собственного числа, это называется прямо, а не маскируется общим тезисом «значит, выигрыш очевиден». И наконец называется форма, в которой изменилась работа: нагрузка не исчезает бесследно, она переезжает на другой шаг цикла, и этот переезд называется конкретно, а не образом вроде «всё стало проще».</a:t>
            </a:r>
          </a:p>
          <a:p>
            <a:r>
              <a:t/>
            </a:r>
          </a:p>
          <a:p>
            <a:r>
              <a:t>Три условия, по которым пример вообще допускается в подробный разбор, а не остаётся беглым упоминанием: изменение должно быть вызвано именно обученной моделью — проверка такая, что если убрать модель из примера и всё остальное продолжает работать так же, пример не проходит; предмет должен быть отраслевым, то есть разбором инженерной или производственной практики, а не юридическим отчётом о статусе дела; и дихотомия между классическим и генеративным режимом должна быть измерена в сопоставимых единицах, с явным итогом, а не заявлена впечатлением. Именно из-за третьего условия материал про права и лицензирование дальше по лекции не превращается в простой список судебных исков: большинство таких исков на дату подготовки материала физически не имеют измеренного итога, и там, где итога нет, это называется прямо, а не выдаётся незавершённый судебный процесс за разбор с результатом.</a:t>
            </a:r>
          </a:p>
          <a:p>
            <a:r>
              <a:t/>
            </a:r>
          </a:p>
          <a:p>
            <a:r>
              <a:t>Отдельно материал держится правила: число без названной базы в разбор не идёт. Если утверждается, что генеративная реклама получила негативную реакцию аудитории, рядом должно стоять, у кого измерялась эта реакция, по какой методологии и относительно какого контролируемого сравнения; если утверждается, что отрасль потеряла рабочие места, рядом должно стоять, из какого знаменателя посчитана доля и за какой период. Там, где такая база в открытых источниках не нашлась, об этом говорится прямо, а не молчится.</a:t>
            </a:r>
          </a:p>
          <a:p>
            <a:r>
              <a:t/>
            </a:r>
          </a:p>
          <a:p>
            <a:r>
              <a:t>Это не абстрактная предосторожность. В процессе подготовки материала была снята целая цепочка чисел про AI-миниатюры на видеохостинге — более ранняя версия утверждала, что доля авторов, отказавшихся от таких миниатюр, упала на десятки процентов из-за падения кликабельности. При прямой проверке первоисточника ни заявленный опрос, ни атрибуция к независимому отчёту о видео-рынке не подтвердились — цепочка оказалась пересказом пересказа, без единого первоисточника под ней. Эти цифры сняты целиком, без подстановки правдоподобной замены.</a:t>
            </a:r>
          </a:p>
          <a:p>
            <a:r>
              <a:t/>
            </a:r>
          </a:p>
          <a:p>
            <a:r>
              <a:t>Канон курса требует одного подготовленного вопроса аудитории на раздел — не риторической связки, а вопроса про собственную работу слушателей, с коротким ответом. Для входа в лекцию он звучит так: у кого на работе уже стоит генерация в продакшене — картинка, звук, текст — не для баловства? Аудитория этого курса — практикующие инженеры, многие уже используют генеративные модели в повседневной работе; вопрос рассчитан на то, что ответ найдётся быстро, и он задаёт тон всей лекции — это не разговор о далёкой отрасли, а разговор о том, что многие слушатели уже делают сами, зачастую не задумываясь, во что именно это вмешивается. Короткий ответ, который вопрос допускает, — название конкретного инструмента и конкретной задачи без развёрнутого рассказа: «Midjourney — для макетов интерфейса на демо», «Suno — фон для внутреннего видео», «ElevenLabs — закадровый голос для онбординг-ролика». Собранные сейчас ответы работают как материал, к которому можно будет вернуться позже, когда критерии отказа от применения генеративной модели будут сформулированы предметно.</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Из строки вывода на предыдущих кадрах собирается вопрос, вокруг которого выстроена вся лекция целиком. Здесь важно не столько повторить саму формулировку, сколько зафиксировать, что она означает и чего она не означает.</a:t>
            </a:r>
          </a:p>
          <a:p>
            <a:r>
              <a:t/>
            </a:r>
          </a:p>
          <a:p>
            <a:r>
              <a:t>Ответ на этот вопрос даётся не единственным числом и не единственным предложением — он собирается постепенно, по мере того как материал проходит по пяти точкам жизни одного творческого артефакта, и получает окончательную форму в разделе «Сборка», где он звучит поимённо: какая роль теперь несёт расходы на восстановление узнавания — автор, издание, платформа, закон или зритель, — и в каких единицах эти расходы посчитаны.</a:t>
            </a:r>
          </a:p>
          <a:p>
            <a:r>
              <a:t/>
            </a:r>
          </a:p>
          <a:p>
            <a:r>
              <a:t>Важно с самого начала не путать вопрос лекции с похожим, но куда более узким вопросом «как распознать дипфейк» — техническим вопросом о детектировании подделки, которым занимаются отдельные продукты и отдельные исследовательские группы и который здесь не разбирается как отдельная техническая дисциплина. Вопрос лекции шире и институциональнее: не «как технически поймать подделку», а «кто и чем теперь должен подтверждать подлинность, если прежний бесплатный способ — просто посмотреть и узнать — больше не работает как надёжная проверка». Ответ на него может включать технические детекторы как один из инструментов, но не сводится к ним — он касается того, кто платит за внедрение этих детекторов, кто несёт ответственность, если детектор ошибся, и что происходит с индустрией, которая долгое время обходилась вовсе без формальной проверки подлинности, потому что бесплатное узнавание справлялось само.</a:t>
            </a:r>
          </a:p>
          <a:p>
            <a:r>
              <a:t/>
            </a:r>
          </a:p>
          <a:p>
            <a:r>
              <a:t>Узнавание — лицо на видеозвонке, голос в телефонной трубке, подпись автора под статьёй, очевидно лицензированная фотография на сайте издания — всегда было бесплатным и достаточным сигналом доверия в творческом производстве. Генеративная модель не сделала творческий продукт хуже. Она обнулила цену подделки узнавания — и ломается не качество продукта, а механизм проверки, который раньше прилагался к узнаванию бесплатно и на эту бесплатность был рассчитан весь остальной порядок работы, от редакционного контроля до договора о лицензии. Разбор на входе лекции уже дал этому число: доля статей одного издания, которым потребовалась публичная коррекция после раскрытия того, что их написала модель, оказалась того же порядка, что базовый уровень ошибок классической журналистики вообще — разница не в том, что модель ошибается чаще человека, а в том, что раскрытие авторства заставило исправить то, что индустрия и так не исправляла годами.</a:t>
            </a:r>
          </a:p>
          <a:p>
            <a:r>
              <a:t/>
            </a:r>
          </a:p>
          <a:p>
            <a:r>
              <a:t>Путь ответа проходит пятью разделами, и каждый держит одну точку в жизни одного творческого артефакта — от замысла до того, что станет с профессией, которая этот замысел воплощала. Раздел «Продакшн / исполнение» ставит вопрос «кто это сделал»: как творческий продукт производился руками до генеративных моделей и на сколько порядков подешевела сама генерация. Раздел «Редакционный контроль» ставит вопрос «кто это проверил» — здесь лежит разбор CNET, ядро всей лекции. Раздел «Релиз и приём аудиторией» ставит вопрос «как аудитория отреагировала». Раздел «Права и лицензирование» ставит вопрос «кто за это заплатил» — разрыв здесь тоже измеряется тремя-четырьмя порядками. Раздел «Кадровый рынок отрасли» ставит вопрос «что стало с тем, кто это обычно делал».</a:t>
            </a:r>
          </a:p>
          <a:p>
            <a:r>
              <a:t/>
            </a:r>
          </a:p>
          <a:p>
            <a:r>
              <a:t>Параллельно лекция вводит и держит сквозной рефрен: расхождение между классической ценой чего-либо и ценой того же самого после обученной модели почти всегда оказывается величиной в три-четыре порядка — не вдвое и не на четверть, а в тысячу-десять тысяч раз. Этот разрыв появится уже в следующем разделе на обвале цены генерации, вернётся позже на разрыве между лицензионным тарифом и реально согласованной ставкой по мировому соглашению, и его итоговый счёт прозвучит на закрытии: сколько раз за лекцию разрыв действительно был измерен в этом диапазоне, а не просто заявлен впечатлением.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Вход кончился вопросом, который теперь будет задаваться на каждом шаге пути одного творческого артефакта: что стоило доверия бесплатно и что стоит теперь. Здесь этот вопрос задаётся впервые на содержательном материале, и задаётся он на самой первой точке пути, потому что раньше неё нет ничего: прежде чем спрашивать, кто проверил результат, кто за него заплатил и что стало с исполнителем, нужно понять, кто вообще его сделал и почём.</a:t>
            </a:r>
          </a:p>
          <a:p>
            <a:r>
              <a:t/>
            </a:r>
          </a:p>
          <a:p>
            <a:r>
              <a:t>Раздел открывается классикой — как творческий артефакт делали руками до генеративных моделей, по трём разным классам продукта: изображение, музыкальный трек, озвучка. Смешивать их в один разговор о «творческой работе вообще» означало бы потерять именно те различия, ради которых стоит сравнивать: цена и порядок работы в них совершенно разные. Дальше — порог найма: решение привлечь живого исполнителя к задаче, которое принимается раньше вопроса о качестве результата, и у каждого из трёх классов продукта это решение стояло на разной высоте.</a:t>
            </a:r>
          </a:p>
          <a:p>
            <a:r>
              <a:t/>
            </a:r>
          </a:p>
          <a:p>
            <a:r>
              <a:t>Ядро раздела — обвал цены генерации, измеренный по каждому из трёх классов отдельно, потому что смешивать их тоже нельзя: правильное сравнение для изображения — с рыночной ставкой фрилансера, для музыки — со стоковой лицензией, а не с заказом композитору, для озвучки — с диктором по сегментам опыта. Разрыв везде ложится в один и тот же порядок — три-четыре порядка, — и это не совпадение одного случая, а форма, в которой разрыв между классической и генеративной ценой, похоже, устроен системно.</a:t>
            </a:r>
          </a:p>
          <a:p>
            <a:r>
              <a:t/>
            </a:r>
          </a:p>
          <a:p>
            <a:r>
              <a:t>Отдельным разбором в разделе стоит история Sora — не как часть расчёта обвала цены, а как самостоятельная иллюстрация того, как быстро флагманский статус инструмента может оказаться недолговечным: партнёрство на миллиард долларов и пиковая известность на рынке полностью сошли со сцены за двенадцать месяцев. Важно с самого начала различить, что здесь потерпело неудачу, а что нет: технически видеогенерация как класс задачи не провалилась — провалилась конкретная бизнес-ставка.</a:t>
            </a:r>
          </a:p>
          <a:p>
            <a:r>
              <a:t/>
            </a:r>
          </a:p>
          <a:p>
            <a:r>
              <a:t>Раздел завершается тем же вопросом, которым заканчивается каждый раздел пути: какая нагрузка переехала и куда именно, а не просто «стало дешевле». Ответ складывается из двух частей — исполнение переехало от часов ручной работы к секундам генерации плюс последующей правке, и появился новый профессиональный шаг, которого раньше не существовало в этой форме: формулирование запроса для модели и курирование вариантов.</a:t>
            </a:r>
          </a:p>
          <a:p>
            <a:r>
              <a:t/>
            </a:r>
          </a:p>
          <a:p>
            <a:r>
              <a:t>Весь этот раздел нейтрален по своему материалу — он о возможности, не о провале: курс в применении к инженерным задачам рассматривает трёх-четырёхпорядковое удешевление доступа к исполнению как эффект, которым восхищается, а не которого боится. Единственное исключение внутри раздела — история Sora, где провалилась не технология, а конкретная бизнес-ставка на неё; это первый случай в лекции, где видно, что «не сработало» и «модель не справилась» — два разных утверждения, и важно научиться их не путать уже здесь, потому что дальше по лекции эта путаница встретится ещё не раз, на куда более высоких ставках.</a:t>
            </a:r>
          </a:p>
          <a:p>
            <a:r>
              <a:t/>
            </a:r>
          </a:p>
          <a:p>
            <a:r>
              <a:t>Куда дальше ведёт обвал цены исполнения — не вопрос этого раздела. Следующий раздел берёт тот же обвал цены и спрашивает, что происходит на следующем шаге пути артефакта: когда файл уже создан, пусть и за секунды, а не за дни, — кто теперь это проверяет, и работает ли прежний институт проверки, рассчитанный на то, что подделка дорога. Там же лежит разбор CNET — ядро всей лекции, предъявленное уже во входе и теперь получающее полное раскрытие.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Прежде чем говорить о том, что изменила генеративная модель, материал обязан предъявить, как было устроено исполнение творческой работы без неё — не одним примером, а по трём разным классам продукта, потому что цена и порядок работы в них совершенно разные, и смешивать их в один разговор о «творческой работе вообще» означало бы потерять именно те различия, ради которых стоит сравнивать.</a:t>
            </a:r>
          </a:p>
          <a:p>
            <a:r>
              <a:t/>
            </a:r>
          </a:p>
          <a:p>
            <a:r>
              <a:t>Независимый дизайнер получает заказ через биржу фриланса или по личной рекомендации. Классический цикл устроен из нескольких шагов: клиент формулирует бриф — короткий документ с описанием продукта, целевой аудитории, желаемого настроения и технических ограничений; дизайнер присылает референс — несколько чужих работ как ориентир стиля — и получает подтверждение направления прежде, чем приступить к рисованию; затем приходит черновой вариант, за ним одна-две итерации правки по конкретным замечаниям; и только после согласования — финальная сдача файла в нескольких технических форматах вместе с передачей прав использования, которая часто оформляется отдельным пунктом договора. Весь цикл занимает от одного до трёх дней. По ставкам 2026 года типовое задание такого рода стоит 50–150 долларов; верхняя часть диапазона включает премиальные пакеты у опытных исполнителей, где минимальная ставка может доходить до нескольких сотен долларов за полный пакет фирменного стиля, но это уже другой по объёму заказ, не единичная иллюстрация. Отдельное исследование профилей фрилансеров показало среднюю часовую ставку дизайнера около 49,65 доллара в час против среднерыночного биржевого фона около 25 долларов в час — специализация в иллюстрации и бренд-дизайне оплачивается заметно выше общего фрилансерского фона.</a:t>
            </a:r>
          </a:p>
          <a:p>
            <a:r>
              <a:t/>
            </a:r>
          </a:p>
          <a:p>
            <a:r>
              <a:t>Музыкальный трек раскладывается на два принципиально разных продукта, и важно не путать их между собой, потому что одна из ключевых ошибок при сравнении с генеративной моделью — сравнивать её именно с тем продуктом, который дороже и устроен иначе. Первый продукт — кастомный трек на заказ: композитор пишет оригинальную музыку под конкретный бренд, фильм или рекламный проект. Классический рабочий процесс включает «сессию привязки» — совместный просмотр видеоряда, во время которого размечается, в каких местах должна звучать музыка, — и завершается «листом реплик», документом, перечисляющим каждый фрагмент и точку входа в видеоряд. Работа оплачивается либо по контракту на минуту готового материала — 200–1500 долларов за минуту в режиме работы по найму, — либо по проекту целиком: национальная телевизионная реклама с оригинальной композицией стоит от 5000 до 25000 долларов за трек. Второй продукт, отличный от первого по самой природе, — стоковая лицензия: уже существующий трек из библиотеки, лицензируемый для использования без заказа композитору лично и без сессии привязки. Стандартная коммерческая лицензия стоит 20–100 долларов за трек, расширенная — 100–500 и более долларов. Это разные продукты по самой структуре работы: в одном случае покупается индивидуальный творческий акт и его подгонка под конкретный материал, в другом — готовый, уже существующий файл.</a:t>
            </a:r>
          </a:p>
          <a:p>
            <a:r>
              <a:t/>
            </a:r>
          </a:p>
          <a:p>
            <a:r>
              <a:t>Классический рынок закадрового голоса сегментирован по опыту исполнителя и типу материала плотнее, чем кажется со стороны. Процесс начинается с кастинга — заказчик рассылает текст-пробник нескольким дикторам и выбирает тон по присланным образцам; затем следует запись в студии с режиссёрскими пометками по интонации и обычно одна-две итерации пересъёмки отдельных фраз. Начинающий диктор берёт 50–150 долларов за минуту готовой записи; специалист среднего уровня, два-семь лет практики, — 150–350 долларов; состоявшийся студийный профессионал — 350–1000 и более долларов за минуту. Внутри этого диапазона лежат заметно различающиеся по характеру заказы: электронное обучение и корпоративные ролики оплачиваются по нижней части диапазона с минимальной ставкой за модуль независимо от его длины; аудиокниги считаются по часу записи, а не по минуте готового материала, и верхняя планка там достигает 500–1000 с лишним долларов за час у топовых исполнителей. Разброс «от 50 до 1000» без этой сегментации выглядит хаотичным; с ней — это упорядоченный рынок, где цена определяется и опытом исполнителя, и типом контента, и единицей измерения, которую заказчик фактически покупает.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 всех трёх классах продукта — изображении, музыке, озвучке — решение привлечь живого человека к конкретной задаче принимается до всякого вопроса о качестве результата. Клиент не сравнивает сначала качество работы фрилансера с качеством работы студийного композитора, а потом решает, кого нанять, — решение о том, что задачу вообще стоит отдавать человеку, а не делать своими силами или вовсе не делать, принимается раньше, исходя из бюджета, срочности и важности результата для бизнеса. Это решение можно назвать порогом найма — медицинским аналогом ему в прошлой лекции курса служит порог вмешательства: решение о том, звать ли человека на диагностическое обследование вообще, принимается раньше и отдельно от вопроса о точности самого обследования. Порог найма в творческом производстве устроен симметрично: он определяется ценой ошибки для заказчика, а не абстрактной потребностью в творчестве.</a:t>
            </a:r>
          </a:p>
          <a:p>
            <a:r>
              <a:t/>
            </a:r>
          </a:p>
          <a:p>
            <a:r>
              <a:t>Именно этот порог и сдвигает обвал цены генерации, описанный в следующих кадрах, — не качество результата генеративной модели относительно качества работы фрилансера, это отдельный и во многих случаях спорный вопрос, — а то, что порог найма живого исполнителя для рутинных, невысокой важности задач физически перестаёт существовать, когда альтернатива стоит тысячные доли цента и доступна за секунды.</a:t>
            </a:r>
          </a:p>
          <a:p>
            <a:r>
              <a:t/>
            </a:r>
          </a:p>
          <a:p>
            <a:r>
              <a:t>Порог найма прошит через три класса продукта неодинаково, и это стоит отметить явно, потому что дальнейший материал покажет разный масштаб обвала цены именно из-за разницы в том, насколько высоко этот порог стоял изначально. Для изображения порог был самым низким из трёх классов — простейшая иллюстрация или баннер до генеративных моделей стоили относительно немного, и решение «нанять фрилансера или обойтись» часто склонялось в пользу найма даже для рутинных задач, потому что цена была приемлемой. Для кастомного музыкального трека порог был высоким — тысячи долларов означали, что заказ оригинальной музыки оставался уделом проектов с заметным бюджетом, а всё остальное по умолчанию использовало куда более дешёвую стоковую лицензию. Для озвучки порог распределялся по всему диапазону сегментов — от почти доступного до почти недоступного для малого бюджета. Эта неоднородность важна держать в голове: обвал цены генерации радикальнее всего меняет именно те сегменты рынка, где порог найма раньше был высок, потому что там разница между «было недоступно» и «стало доступно почти бесплатно» ощущается сильнее всего, тогда как в сегментах, которые и так были дёшевы, изменение менее драматично по субъективному ощущению, хотя и там измеряется теми же тремя-четырьмя порядками.</a:t>
            </a:r>
          </a:p>
          <a:p>
            <a:r>
              <a:t/>
            </a:r>
          </a:p>
          <a:p>
            <a:r>
              <a:t>Инженерный аналог этого сдвига — порог «купить готовое решение или разработать своё», знакомый любому практикующему инженеру: решение закладывается в план проекта заранее, исходя из ожидаемой стоимости и критичности компонента, а не принимается заново каждый раз, когда нужен очередной модуль. До обвала цены генерации порог найма творческого исполнителя для рутинной задачи часто означал решение вообще обойтись без неё — либо руками непрофильного сотрудника, либо готовым бесплатным шаблоном сомнительного качества, либо вовсе отказом от визуального или звукового сопровождения там, где оно улучшило бы результат, но не оправдывало бы расходы на фрилансера. Когда альтернатива стоит доли цента, этот порог для рутинных задач фактически исчезает — не потому, что качество генерации всегда достаточно, а потому, что цена эксперимента падает настолько, что сам эксперимент становится бесплатным способом проверить, достаточно ли вообще качества для этой конкретной, невысокой по значимости задачи.</a:t>
            </a:r>
          </a:p>
          <a:p>
            <a:r>
              <a:t/>
            </a:r>
          </a:p>
          <a:p>
            <a:r>
              <a:t>Чтобы порог не остался абстракцией, следующий кадр проходит его по разу на каждом из трёх классов продукта — конкретным сценарием, собранным по агрегированным профилям фрилансеров 2026 года, а не задокументированным случаем одного человека.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Чтобы порог найма не остался абстракцией, стоит пройти его по одному разу на каждом из трёх классов продукта — конкретным сценарием, собранным по агрегированным профилям фрилансеров 2026 года, а не задокументированным случаем одного человека.</a:t>
            </a:r>
          </a:p>
          <a:p>
            <a:r>
              <a:t/>
            </a:r>
          </a:p>
          <a:p>
            <a:r>
              <a:t>Иллюстраторка по условному имени Марина К. несколько лет закрывала для интернет-магазинов однотипный поток заказов: карточка товара, баннер для почтовой рассылки, набор иконок для раздела «О нас» — по 50–70 долларов за единицу, три-четыре заказа в неделю в удачный месяц, то есть порядка 700–1000 долларов валового дохода от этого конкретного потока ежемесячно. Порог найма для её заказчиков был низким с самого начала: 60 долларов за баннер — приемлемая цена, чтобы не отвлекать штатного сотрудника без дизайнерских навыков на работу в графическом редакторе, и заказ оформлялся почти не задумываясь. Уникальные заказы — логотип бренда, требующий переговоров и понимания позиционирования компании, — стояли отдельно, потому что здесь порог найма определялся не ценой исполнения, а необходимостью интерпретации брифа.</a:t>
            </a:r>
          </a:p>
          <a:p>
            <a:r>
              <a:t/>
            </a:r>
          </a:p>
          <a:p>
            <a:r>
              <a:t>Для независимого композитора, пишущего стоковые треки для библиотек, порог найма заказчика определялся ценой лицензии — 20–100 долларов за трек. Типичный заказчик — небольшое рекламное агентство, готовящее ролик для локального бизнеса, — выбирал между покупкой готового трека из каталога и подпиской сразу на несколько библиотек. Это другой по устройству порог, чем у иллюстратора: здесь решение зависело не от того, нанимать ли человека лично, а от того, какую лицензию купить, потому что стоковые треки обычно анонимны по контракту с самого начала — заказчик никогда и не нанимал композитора напрямую.</a:t>
            </a:r>
          </a:p>
          <a:p>
            <a:r>
              <a:t/>
            </a:r>
          </a:p>
          <a:p>
            <a:r>
              <a:t>Для диктора начального уровня, берущего 50–150 долларов за минуту на электронных курсах и объяснительных роликах, порог найма заказчика был устроен иначе, чем в двух предыдущих классах: цена уже была низкой, и конкуренция шла не по порогу «нанимать или не нанимать», а по срокам и удобству правок. Корпоративный клиент, которому нужно было десять минут озвучки инструктажа по технике безопасности, ждал два-три дня на запись и правку текста. Решающим фактором здесь было не само по себе удешевление — оно и так было невысоким относительно двух других классов продукта, — а то, что клиент перестал мириться с ожиданием в несколько дней там, где можно получить результат за час, пусть и с риском, что синтетический голос прозвучит для требовательного уха чуть менее естественно.</a:t>
            </a:r>
          </a:p>
          <a:p>
            <a:r>
              <a:t/>
            </a:r>
          </a:p>
          <a:p>
            <a:r>
              <a:t>Три сценария показывают одну и ту же мысль с трёх разных сторон: порог найма — не абстрактная величина, а конкретное, измеримое решение, которое принимает конкретный заказчик по конкретной причине — бюджет, важность результата, срочность. И именно потому, что причина у каждого класса продукта своя, обвал цены генерации, который разбирается дальше, ложится на эти три сценария неодинаково: там, где порог был низким и держался на срочности, а не на цене, как у диктора, обвал цены меняет меньше, чем там, где порог определялся исключительно бюджетом, как у заказчика стоковой лицензии. Эта разница в том, что именно сдвигается — само решение нанимать или только скорость получения результата, — и есть то, что следующие три кадра измерят числом по каждому классу продукта отдельно.</a:t>
            </a:r>
          </a:p>
          <a:p>
            <a:r>
              <a:t/>
            </a:r>
          </a:p>
          <a:p>
            <a:r>
              <a:t>Важно удержать и общее наблюдение за тремя разными сценариями: ни в одном из них заказчик не сравнивал качество результата заранее, до решения, кого привлечь. Решение «нанять ли вообще» принималось по бюджету и срочности, а вопрос «достаточно ли хорош результат» решался уже после, на готовом файле. Это и есть то самое свойство порога найма, которое делает его структурно похожим на порог вмешательства в медицине: решение запускает процесс, а не оценивает его исход заранее, и когда стоимость запуска процесса падает до нуля, сам вопрос о пороге перестаёт стоять в прежней форме — остаётся только вопрос о качестве результата, который три сценария сознательно оставляют за скобками до следующих кадров.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Актуальные на октябрь 2026 года флагманские инструменты генерации изображений предлагают цену, которая по порядку величины совпадает между собой независимо от конкретного продукта. Midjourney, выпустившая последовательно версии V8 Alpha, V8.1 и ставшую версией по умолчанию V8.2, оценивает одно изображение в базовом тарифном плане примерно в 0,05 доллара, а в более дорогом плане с большим объёмом генераций — около 0,03 доллара за изображение в быстром режиме, при этом безлимитный «спокойный» режим доступен практически бесплатно сверх подписки. Adobe Firefly на своей базовой платной подписке с моделью Image 5 даёт сопоставимую цену — около 0,05 доллара за изображение в разрешении 2К при подписке в 9,99 доллара в месяц на 2000 расчётных единиц.</a:t>
            </a:r>
          </a:p>
          <a:p>
            <a:r>
              <a:t/>
            </a:r>
          </a:p>
          <a:p>
            <a:r>
              <a:t>Сопоставление этих цифр с классическим тарифом фрилансера даёт разрыв порядка в тысячу-три тысячи раз: 50–150 долларов вручную против 0,03–0,05 доллара генерацией. Это первое конкретное измерение трёх-четырёх порядков — рефрена, который будет повторяться в этой лекции ещё не раз.</a:t>
            </a:r>
          </a:p>
          <a:p>
            <a:r>
              <a:t/>
            </a:r>
          </a:p>
          <a:p>
            <a:r>
              <a:t>Чтобы разрыв такого масштаба не остался абстрактным множителем, стоит один раз провести арифметику на конкретном, инженерно понятном сценарии. Маркетинговой команде нужно подготовить сто разных вариантов рекламного баннера для A/B-тестирования на разных сегментах аудитории — задача, прямое отношение к которой имеет любой инженер, занимавшийся ростом продукта. Классический путь — заказать сто иллюстраций фрилансерам по нижней границе диапазона, 50 долларов за штуку, — обойдётся в 5000 долларов и потребует времени, кратного циклу в один-три дня, умноженному на число параллельных исполнителей, которых команда готова оплатить одновременно; реалистично это растягивается на одну-две недели календарного времени. Путь генерации — сто изображений по 0,05 доллара за штуку — обходится в 5 долларов и занимает минуты.</a:t>
            </a:r>
          </a:p>
          <a:p>
            <a:r>
              <a:t/>
            </a:r>
          </a:p>
          <a:p>
            <a:r>
              <a:t>Это не означает, что сто сгенерированных вариантов эквивалентны по качеству ста вариантам, нарисованным фрилансерами, — но это означает, что для задачи, где важна не абсолютная виртуозность одной картинки, а количество вариантов, которые можно быстро протестировать на реальной аудитории, обвал цены меняет саму экономику эксперимента: пробовать сто вариантов вместо трёх перестаёт быть вопросом бюджета.</a:t>
            </a:r>
          </a:p>
          <a:p>
            <a:r>
              <a:t/>
            </a:r>
          </a:p>
          <a:p>
            <a:r>
              <a:t>Важно держать в уме, что это сравнение именно по цене исполнения технической операции — получить файл изображения определённого содержания, — а не по сравнению ценности результата для заказчика: дизайнер, помимо исполнения, несёт в заказ интерпретацию брифа, переговоры с клиентом по правкам и ответственность за итоговое соответствие результата задаче бренда, и ни одна из этих функций ценой генерации не измеряется и не заменяется автоматически. Этот разрыв между ценой технической операции и ценностью всей остальной работы вокруг неё будет держать материал и дальше: когда речь дойдёт до того, что стало с кадровым рынком отрасли, окажется, что именно эта неизмеряемая часть работы — интерпретация, переговоры, ответственность — осталась у исполнителя, а рутинная часть исчезла первой.</a:t>
            </a:r>
          </a:p>
          <a:p>
            <a:r>
              <a:t/>
            </a:r>
          </a:p>
          <a:p>
            <a:r>
              <a:t>Стоит также назвать, откуда именно взялся этот разрыв в тысячу-три тысячи раз, а не в десять или в сто. Цена фрилансера складывается не только из времени на рисование, но из времени на переписку, уточнение брифа и ожидание ответа клиента между итерациями — это то, что экономисты труда называют временем координации, и оно не сокращается пропорционально скорости самого рисования. Цена генерации, напротив, почти целиком состоит из вычислительной операции: запрос обрабатывается моделью за секунды независимо от того, сколько итераций потребуется, чтобы результат устроил заказчика. Разрыв в три-четыре порядка — это разрыв не между «быстрым художником» и «медленным», а между оплатой координации людей и оплатой вычислений, и именно поэтому он так стабильно повторяется на разных классах продукта, рассмотренных дальше в этом разделе.</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особенно важна оговорка, сделанная на предыдущих кадрах: сравнивать генеративный трек нужно со стоковой лицензией, а не с кастомным заказом композитору. Сравнение «студийный трек за 5000–25000 долларов против генерации за несколько центов» физически некорректно — это разные по характеру продукты: авторская работа под конкретное бренд-сообщение и алгоритмически синтезированный аудиофайл без личного участия композитора. Канон курса прямо запрещает такое сравнение как «выигрыш от нуля» — модель должна сравниваться с сопоставимым классическим режимом, а не с тем, что заведомо дороже по другим причинам.</a:t>
            </a:r>
          </a:p>
          <a:p>
            <a:r>
              <a:t/>
            </a:r>
          </a:p>
          <a:p>
            <a:r>
              <a:t>Корректное сравнение — со стоковой лицензией. Сервис Suno, на поколении моделей версии 6, на тарифном плане Premier за 30 долларов в месяц даёт около 2000 сгенерированных песен, то есть примерно 0,015 доллара за песню; на плане Pro за 10 долларов — около 500 песен в месяц, около 0,02 доллара за песню. Стоковая лицензия, как показано ранее, стоит 20–100 долларов за трек. Разрыв — в тысячу-пять тысяч раз, того же порядка, что и у изображений. Это заметно само по себе: несмотря на то что музыка и изображения — совершенно разные типы творческого продукта, с разным производственным циклом и разной ролью исполнителя, обвал цены генерации в обоих случаях ложится в один и тот же диапазон порядков. Это не совпадение одного кейса, а форма, в которой разрыв между классической и генеративной ценой, похоже, устроен системно, а не случайно для конкретного рынка.</a:t>
            </a:r>
          </a:p>
          <a:p>
            <a:r>
              <a:t/>
            </a:r>
          </a:p>
          <a:p>
            <a:r>
              <a:t>Та же арифметика, что и для изображений, применима и здесь. Продюсеру подкаста нужен короткий фоновый трек для тридцати разных эпизодов, у каждого из которых своя тема и настроение. Тридцать отдельных стоковых лицензий по нижней границе, 20 долларов, обойдутся в 600 долларов; тридцать сгенерированных треков у Suno по 0,02 доллара — в 60 центов. Для продюсера с ограниченным бюджетом это не вопрос «что звучит лучше» в абстрактном смысле — это вопрос, может ли он вообще позволить себе уникальный трек под каждый эпизод, а не один и тот же лицензированный трек-заглушку на всю серию. Обвал цены в данном случае расширяет не только доступность, но и разнообразие: решение, которое раньше упиралось в бюджет, теперь упирается только в то, устраивает ли результат по качеству и не нарушает ли он чьи-то права — вопрос, к которому материал вернётся позже, в разделе о правах и лицензировании.</a:t>
            </a:r>
          </a:p>
          <a:p>
            <a:r>
              <a:t/>
            </a:r>
          </a:p>
          <a:p>
            <a:r>
              <a:t>Важно удержать обе половины этого разбора вместе: правильность сравнения — не формальность, а условие, без которого число перестаёт что-либо значить. Если бы разрыв мерили против кастомного заказа композитору, получилась бы цифра в десятки тысяч раз — эффектная, но нечестная, потому что сравнивала бы два принципиально разных продукта: индивидуальный творческий акт, подогнанный под конкретный материал, и готовый файл из каталога. Корректный разрыв — три-четыре порядка против сопоставимого классического продукта — звучит скромнее, но именно он и держит рефрен лекции, потому что повторяется на разном материале одной и той же величиной, а не подгоняется под эффектную цифру задним числом.</a:t>
            </a:r>
          </a:p>
          <a:p>
            <a:r>
              <a:t/>
            </a:r>
          </a:p>
          <a:p>
            <a:r>
              <a:t>Стоит сказать и то, чего этот разбор сознательно не измеряет. Он не говорит, что композитор, пишущий музыку на заказ, тоже окажется под давлением обвала цены, — его продукт структурно другой, привязанный к конкретному видеоряду и конкретному бренд-сообщению, и генерация пока не предлагает прямой замены именно этой функции. Под давлением оказывается не кастомный заказ, а канал, который раньше стоял между заказчиком и готовым звуком, — стоковая библиотека как посредник. Это тонкое, но важное разделение: страдает не композитор лично, а бизнес-модель лицензирования готового каталога, и то, что случилось дальше с этим каналом, — отдельный вопрос, к которому лекция вернётся в разделе о кадровом рынке отрасли.</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ElevenLabs, один из флагманских сервисов синтеза речи на октябрь 2026 года, оценивает минуту сгенерированной речи в диапазоне от 0,04 доллара на самом быстром и дешёвом режиме генерации через программный интерфейс до 0,09 доллара на более качественной многоязычной модели; на обычной подписке конечная цена для пользователя выходит в диапазон 0,17–0,20 доллара за минуту. Классический диапазон закадрового голоса — 50–450 долларов за минуту в зависимости от сегмента и опыта исполнителя. Разрыв — в двести пятьдесят — тысячу раз, тот же порядок, что у двух предыдущих классов продукта, хотя и несколько более узкий по нижней границе — вероятно, из-за того, что нижний сегмент классического рынка уже был относительно дешёвым до всякой генеративной модели.</a:t>
            </a:r>
          </a:p>
          <a:p>
            <a:r>
              <a:t/>
            </a:r>
          </a:p>
          <a:p>
            <a:r>
              <a:t>Здесь арифметика выглядит особенно разительно, потому что единица измерения — минута готовой речи — одна и та же по обе стороны сравнения, без каких-либо оговорок о несопоставимости продуктов, которые требовались для музыки. Компании, которая готовит десять часов обучающих материалов для сотрудников — типичный объём корпоративного курса по новому продукту или регламенту, — классическая озвучка по нижней границе электронного обучения обойдётся в диапазоне нескольких тысяч долларов и потребует согласования записи по частям в течение недель; синтезированная озвучка — в диапазоне 24–120 долларов и часов, а не недель, работы. Это тот редкий случай в разделе, где обвал цены касается именно той части рынка, где различие между человеческим и синтезированным голосом менее всего значимо для аудитории — сотрудник, проходящий обязательный курс по технике безопасности, крайне редко оценивает артистизм диктора, и именно здесь обвал цены встречает наименьшее сопротивление по соображениям качества.</a:t>
            </a:r>
          </a:p>
          <a:p>
            <a:r>
              <a:t/>
            </a:r>
          </a:p>
          <a:p>
            <a:r>
              <a:t>Озвучка — единственный из трёх классов продукта, где обвал цены исполнения сразу же упирается в вопрос, который к изображению и музыке применяется не так остро: голос синтезируется не «вообще», а по образцу — современные сервисы умеют клонировать конкретный голос по короткому аудиофрагменту, и это означает, что технически возможно сгенерировать речь голосом реального, узнаваемого человека без его участия в самой записи. Для электронного обучения внутри компании это обычно не проблема — используется либо синтетический «ничей» голос, либо голос штатного диктора с его явного согласия на весь объём использования. Но это же техническое умение — клонирование голоса по образцу — лежит в основе и части случаев редакционного контроля дальше по лекции, где проверка подлинности подписи автора ломается, и прямо соприкасается с вопросом использования голоса конкретного актёра без его согласия, который материал разбирает позже вместе с правами на лицензирование.</a:t>
            </a:r>
          </a:p>
          <a:p>
            <a:r>
              <a:t/>
            </a:r>
          </a:p>
          <a:p>
            <a:r>
              <a:t>Обвал цены исполнения и обвал цены подделки узнавания здесь не просто соседствуют тематически — они вызваны одним и тем же технологическим умением модели, и это первый случай в лекции, где это совпадение видно буквально на одном и том же инструменте. Ось всей лекции, объявленная на входе, здесь впервые проявляется не как абстрактное утверждение, а как наблюдаемое свойство конкретной технологии: способность синтезировать речь дёшево и способность подделать чью-то конкретную речь дёшево — ровно одно и то же умение, применённое к разным входным данным.</a:t>
            </a:r>
          </a:p>
          <a:p>
            <a:r>
              <a:t/>
            </a:r>
          </a:p>
          <a:p>
            <a:r>
              <a:t>Стоит зафиксировать это наблюдение явно, потому что дальше по лекции оно будет повторяться на всё более высоких ставках. Там, где изображение и музыкальный трек обваливаются в цене как самостоятельный продукт, озвучка обваливается в цене сразу по двум статьям одновременно: дешевле стало получить любую речь данного содержания, и дешевле стало получить речь, которая звучит как голос конкретного человека. Инженеру, выбирающему инструмент синтеза речи для легитимной задачи — например, озвучки корпоративного курса голосом штатного диктора с его согласия, — стоит держать в уме, что то же самое умение, которое экономит бюджет на эту задачу, кем-то другим может быть применено к записи чужого голоса без согласия вообще: граница между этими двумя применениями не в технологии, а в том, что согласовано и задокументировано заранее.</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эпизод — отдельная, самостоятельная иллюстрация, а не часть расчёта обвала цены: он про то, как быстро флагманский статус инструмента может оказаться недолговечным, и про риск называть конкретный продукт «текущим флагманом» в материале, который переживёт дату своего написания.</a:t>
            </a:r>
          </a:p>
          <a:p>
            <a:r>
              <a:t/>
            </a:r>
          </a:p>
          <a:p>
            <a:r>
              <a:t>В сентябре 2025 года видеогенератор Sora от OpenAI считался одним из самых заметных продуктов на рынке текст-в-видео: он умел удерживать согласованность персонажа между последовательными кадрами и генерировать клипы с правдоподобной физикой движения. Компания объявила о партнёрстве с киностудией Disney, подписанном 11 декабря 2025 года: Disney планировала вложить в OpenAI порядка миллиарда долларов, и в рамках того же соглашения Sora должна была получить доступ к более чем 200 узнаваемым персонажам франшиз Disney, Marvel, Pixar и Star Wars. Стоит развести две вещи, которые легко слить в одну: миллиард долларов — это плановая инвестиция Disney в OpenAI в целом, а не отдельная лицензионная выплата именно за использование персонажей в Sora, и формальный лицензионный договор по этим персонажам так и не был подписан — ни одного платежа по нему не прошло до того, как партнёрство распалось вместе с самим продуктом.</a:t>
            </a:r>
          </a:p>
          <a:p>
            <a:r>
              <a:t/>
            </a:r>
          </a:p>
          <a:p>
            <a:r>
              <a:t>Год спустя оба события оказались частью одной и той же истории падения. Веб- и мобильная версия приложения были закрыты 26 апреля 2026 года, а доступ через программный интерфейс — 24 сентября 2026 года; партнёрство с Disney к этому моменту уже распалось. По неофициальным данным, которые приводили деловые СМИ, пиковая аудитория сервиса — около миллиона пользователей — упала до менее чем пятисот тысяч при расходах компании на поддержку сервиса порядка миллиона долларов в день. OpenAI не назвала прямого преемника продукта на своей странице устаревших сервисов.</a:t>
            </a:r>
          </a:p>
          <a:p>
            <a:r>
              <a:t/>
            </a:r>
          </a:p>
          <a:p>
            <a:r>
              <a:t>Эта история заслуживает места в лекции не как курьёз, а как образец собственного жанра — хайп-цикл, который не пережил и года: продукт с партнёрством на миллиард долларов и с пиковой известностью на рынке полностью сходит со сцены за двенадцать месяцев. Стоит назвать прямо, в чём именно здесь неудача, а в чём нет, потому что это разные утверждения. Технически видеогенерация как класс задачи не потерпела неудачу — Sora умела то, что от неё требовалось, и конкурирующие продукты на октябрь 2026 года развивают ровно эти же возможности дальше. Неудачу потерпела конкретная бизнес-ставка — партнёрство с правообладателем франшиз на миллиард долларов при экономике сервиса, не выдержавшей нагрузки на инфраструктуру при падающем числе платящих пользователей. Это различие важно держать в голове, потому что ровно его чаще всего смешивают: «модель не сработала» и «ставка компании на эту модель не окупилась» — два разных утверждения, и в случае Sora верно только второе.</a:t>
            </a:r>
          </a:p>
          <a:p>
            <a:r>
              <a:t/>
            </a:r>
          </a:p>
          <a:p>
            <a:r>
              <a:t>Это дисциплинирующий урок для любого материала, который называет конкретный бренд «текущим флагманом»: актуальный на момент подготовки лекции состав инструментов для видео — Veo 3.1 от Google, с облегчённой версией Lite, добавленной в апреле 2026 года, и Kling 4.0 от компании Kuaishou, вышедшая полностью 15 октября 2026 года с клипами длительностью до 30 секунд против прежних 15, — и ни один из них не застрахован от той же судьбы, что постигла Sora. Отечественный инструмент видеогенерации Kandinsky 6.0 Video, выпущенный 6 октября 2026 года, добавил полноценную звуковую дорожку к видео впервые для этой линейки продукта, что заметно сокращает отставание от западных моделей по этому параметру, хотя разрыв по длительности и физической достоверности движения остаётся.</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завершается тем же вопросом, которым заканчивается каждый раздел этой лекции: какая нагрузка переехала и куда именно, а не просто «стало дешевле». Ответ складывается из двух частей. Нагрузка переехала от часов ручной работы к секундам генерации плюс последующей правке — это не означает, что человеческий труд исчез из цикла целиком, он переместился внутрь другого шага: вместо того чтобы рисовать, писать или озвучивать с нуля, исполнитель теперь формулирует запрос, оценивает несколько сгенерированных вариантов и дорабатывает выбранный. И появился новый профессиональный шаг, которого раньше не существовало в этой форме — формулирование запроса для генеративной модели и курирование множества вариантов, из которых выбирается один для дальнейшей доработки.</a:t>
            </a:r>
          </a:p>
          <a:p>
            <a:r>
              <a:t/>
            </a:r>
          </a:p>
          <a:p>
            <a:r>
              <a:t>Чтобы этот переезд не остался декларацией, стоит один раз провести его числом — на той же Марине К., том же потоке заказов, но в разрезе целого рабочего месяца. До обвала цены генерации её месяц выглядел так: около 15–18 однотипных заказов по 50–70 долларов каждый, плюс 2–3 более сложных заказа по 300–600 долларов — валовый доход порядка 1800–2500 долларов при примерно 70–80 рабочих часах, включая переписку и правки. Это даёт эффективную часовую ставку около 25–30 долларов в час. После обвала цены генерации однотипный поток практически исчез как статья дохода — такие баннеры заказчики теперь получают сами через Midjourney или Firefly за секунды и центы, не обращаясь к фрилансеру вовсе. У Марины К. остались только сложные, требующие интерпретации заказы: 2–4 заказа на фирменный стиль в месяц по 300–800 долларов, итоговый валовый доход порядка 900–2400 долларов при уже не 70–80, а примерно 25–35 часах в месяц — эффективная ставка выросла до 35–70 долларов в час. Числа составные, собранные по агрегированным отраслевым данным, но направление эффекта совпадает с тем, что показывают агрегированные опросы фриланс-бирж: валовый доход в нижнем, рутинном сегменте рынка падает, а эффективная часовая ставка у тех, кто остаётся в профессии, растёт за счёт вымывания низкоквалифицированной конкуренции, а не за счёт роста цены за час работы как таковой. Полная картина того, что это означает не для одного фрилансера, а для рынка труда творческих индустрий в целом, — предмет отдельного раздела позже по лекции.</a:t>
            </a:r>
          </a:p>
          <a:p>
            <a:r>
              <a:t/>
            </a:r>
          </a:p>
          <a:p>
            <a:r>
              <a:t>В терминах сетки курса «тип задачи × модальность» материал этого раздела занимает две клетки напрямую и одну на подходе: генерация изображения — клетка «генерация на изображении», режим коммерчески зрелый, цена на три порядка ниже ручного исполнения; генерация музыкального трека — клетка «генерация на аудио», тот же порядок зрелости; синтез речи пограничен — технически тоже генерация на аудио, но здесь уже существует смежный вопрос согласия на использование конкретного голоса, который разбирается позже вместе с правами.</a:t>
            </a:r>
          </a:p>
          <a:p>
            <a:r>
              <a:t/>
            </a:r>
          </a:p>
          <a:p>
            <a:r>
              <a:t>Прежде чем закрыть раздел, стоит явно назвать три утверждения, которых он не делает. Раздел не утверждает, что сгенерированный результат эквивалентен по художественной ценности результату, созданному человеком, ни в одну, ни в другую сторону — измеряется только цена исполнения технической операции, а не ценность файла для конкретной творческой задачи. Раздел не утверждает, что все сто процентов прежней ручной работы исчезли: профессиональное фотографирование товаров, голос конкретного узнаваемого бренд-амбассадора, живое музыкальное исполнение на концерте структурно не сводятся к «получить файл по текстовому описанию». И раздел не утверждает, что обвал цены исполнения — сам по себе проблема или сам по себе провал генеративных моделей: три-четыре порядка удешевления доступа к исполнению — эффект, который курс в применении к инженерным задачам рассматривает как возможность, а не как угрозу. Проблема, вокруг которой выстроена вся лекция, начинается не здесь, а в следующем разделе: не в том, что исполнение подешевело, а в том, что вместе с ним подешевела и подделка узнавания — сигнала, который раньше подтверждал происхождение результата бесплатно.</a:t>
            </a:r>
          </a:p>
          <a:p>
            <a:r>
              <a:t/>
            </a:r>
          </a:p>
          <a:p>
            <a:r>
              <a:t>Канон курса требует одного подготовленного вопроса на раздел, с коротким ответом: у кого в работе уже есть порог найма, который обвал цены генерации обнулил, — замечали вы это сами? Короткий ответ устроен так же, как на входе в лекцию: название задачи и констатация факта — «баннеры для рассылки — да, больше не заказываем на бирже», «фоновый трек для демо — да, Suno заменила стоковую библиотеку».</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1 проследил, как исполнение творческого артефакта сжалось от дней ручной работы до секунд генерации, и закончился на том, что порог найма человека сдвинулся: там, где раньше задачу решал нанятый исполнитель, теперь первым шагом стоит генерация, а исполнитель, если он вообще остаётся в цепочке, курирует и правит результат. Файл готов. Но готовый файл — ещё не опубликованный материал, и между «файл существует» и «файл дошёл до читателя» в любом издании, агентстве или студии стоит отдельная работа, которая решает, можно ли этому файлу верить и можно ли его вообще использовать. Эта работа и называется редакционным контролем, и именно на ней держится узнавание как сигнал доверия — не только «я узнал лицо на видеозвонке», но и «я вижу подпись автора под статьёй и доверяю ей», и «я вижу картинку на сайте агентства и предполагаю, что она лицензирована».</a:t>
            </a:r>
          </a:p>
          <a:p>
            <a:r>
              <a:t/>
            </a:r>
          </a:p>
          <a:p>
            <a:r>
              <a:t>Оба эти узнавания раньше были бесплатными сигналами, потому что их обеспечивал человек — редактор, фактчекер, менеджер по лицензированию, — чья работа стоила денег, но сам факт её существования ничего не стоил читателю: он просто доверял тому, что видел, не разбираясь, каким трудом это доверие было куплено. Раздел важен не только как история про журналистику — та же логика применима к любому инженерному продукту, в котором текст или сопроводительный материал генерируются автоматически и публикуются под именем компании: от автоматически собранных описаний товаров до автоматически собранных технических отчётов. Институт, который раньше бесплатно обеспечивал доверие — «за этим стоит человек, несущий ответственность», — устроен одинаково независимо от отрасли, и подделать его одинаково дёшево везде, где его не укрепили заново.</a:t>
            </a:r>
          </a:p>
          <a:p>
            <a:r>
              <a:t/>
            </a:r>
          </a:p>
          <a:p>
            <a:r>
              <a:t>Начиная с этого раздела, повествование меняет регистр измерения. Раздел 1 оперировал ценами — долларами за изображение, за минуту озвучки, за трек, — и разрыв там измерялся порядками величины в одной и той же валюте. Разделы 2 и 3 работают с долями и процентами реакции институтов и людей на один и тот же факт — факт подделываемого узнавания, — и это не делает их находку слабее: она контринтуитивна ровно в той же мере.</a:t>
            </a:r>
          </a:p>
          <a:p>
            <a:r>
              <a:t/>
            </a:r>
          </a:p>
          <a:p>
            <a:r>
              <a:t>Ядро раздела — CNET: издание опубликовало десятки финансово-объяснительных статей под коллективной подписью, написанных внутренним движком, не раскрыв этого читателю заранее. Когда независимое расследование нашло факт AI-авторства, больше половины этих статей пришлось исправить. Первая реакция на эту цифру — предположить, что модель хуже справляется с фактами, чем человек. Разбор покажет, что это не так: базовый уровень ошибок классической журналистики того же порядка. Хуже оказалось другое — раскрытие сработало спусковым крючком реакции, которую тот же самый уровень ошибок у штатного журналиста почти никогда не вызывает, потому что его никто специально не ищет.</a:t>
            </a:r>
          </a:p>
          <a:p>
            <a:r>
              <a:t/>
            </a:r>
          </a:p>
          <a:p>
            <a:r>
              <a:t>Рядом стоит более запутанный по причинности случай — Sports Illustrated, где скандал совпал по времени с отзывом лицензии бренда и увольнением руководителя, но официально названная причина обоих событий — другая. Это не второй подробный разбор, а предостережение: совпадение во времени — не то же самое, что доказанная причинно-следственная связь, и раздел специально учит эту разницу различать, потому что та же ошибка атрибуции встретится в лекции снова, уже с обратным знаком.</a:t>
            </a:r>
          </a:p>
          <a:p>
            <a:r>
              <a:t/>
            </a:r>
          </a:p>
          <a:p>
            <a:r>
              <a:t>Прежде чем перейти к цифрам, стоит назвать саму стадию её отраслевым именем, потому что дальше оно будет использоваться без пояснений. В журналистике это редактура и фактчекинг; в рекламном агентстве и фотобанке — клиринг прав, то есть проверка лицензии на использованный материал. Формы разные, вопрос один: можно ли верить тому, что перед нами, и можно ли это использовать законно. Четыре классических способа получить ответ на этот вопрос — редакторская читка, фактчекинг, сверка подписи и биографии автора, клиринг прав — не взаимозаменяемы и стоят по-разному: именованное авторство оказывается самым дешёвым механизмом контроля качества из всех, потому что держится на репутации, накопленной годами, а не на проверке в моменте. Это и есть тот механизм, дороговизну подделки которого обнуляет генеративная модель, и именно поэтому раздел начинается не с чисел CNET, а с того, как эта проверка работала до всякой модели.</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Редакционный контроль — работа, на которой законченный творческий артефакт проверяют прежде, чем он станет публичным: кто его на самом деле написал или снял, откуда взят использованный факт или образ, есть ли право этот образ использовать. В отрасли эта работа называется по-разному в зависимости от типа материала — в журналистике это редактура и фактчекинг, в рекламном агентстве и фотобанке это клиринг прав, — но вопрос, на который обе процедуры отвечают, один и тот же: можно ли верить тому, что перед нами, и можно ли это использовать законно.</a:t>
            </a:r>
          </a:p>
          <a:p>
            <a:r>
              <a:t/>
            </a:r>
          </a:p>
          <a:p>
            <a:r>
              <a:t>Редактор получает черновик текста и решает два вопроса сразу, и важно, что это именно два разных вопроса, а не один, заданный дважды. Первый: верны ли факты, которые в тексте утверждаются, — цифры, цитаты, причинно-следственные связи. Второй, независимый от первого: кто автор и можно ли положиться на его репутацию как на косвенное подтверждение качества — то есть можно ли поставить под текстом имя, которое читатель узнает и которому доверится заранее, ещё до того, как сам проверит факты. Разница между этими двумя вопросами станет центральной для разбора CNET чуть дальше: можно пройти первый вопрос — факты в среднем верны не хуже, чем у любого другого издания, — и полностью провалить второй: имя под текстом не означает того, что оно исторически означало. Для агентства, использующего стоковый материал, вопрос симметричный по структуре: откуда взята фотография или трек и подтверждает ли документ, что право на использование куплено, а не предполагается по умолчанию.</a:t>
            </a:r>
          </a:p>
          <a:p>
            <a:r>
              <a:t/>
            </a:r>
          </a:p>
          <a:p>
            <a:r>
              <a:t>Решение стадии формально бинарное — публиковать материал в текущем виде или вернуть его на доработку, — но за этим простым решением следует нечто более важное, чем сама публикация: материал выходит под именем. Названный автор — это не декоративная подпись, это институт ответственности: если в статье позже найдут ошибку, есть конкретный человек или редакционная единица, которой эту ошибку можно предъявить; есть репутация, которая от обнаруженной ошибки объективно страдает; и есть прямой личный стимул исправлять ошибки видимо и быстро, а не замалчивать их. То же верно и для лицензии: подписанный документ о клиринге прав — это институт, к которому обращаются, если правообладатель позже заявит претензию, и наличие этого документа меняет переговорную позицию издания в споре.</a:t>
            </a:r>
          </a:p>
          <a:p>
            <a:r>
              <a:t/>
            </a:r>
          </a:p>
          <a:p>
            <a:r>
              <a:t>Стоит сказать и про порядок: редакционный контроль идёт после исполнения, потому что проверять нечего, пока файл физически не существует, и до релиза и приёма аудиторией — по менее очевидной причине. Тестирование реакции аудитории имеет смысл только на материале, который уже прошёл проверку фактов и прав, иначе непонятно, чья реакция измеряется — реакция на сам продукт или реакция на то, что в нём, возможно, содержится неразрешённая ошибка или неоплаченное использование чужого материала, которое просто ещё не обнаружено. Раздел 3 этой лекции покажет случай, где этот порядок был нарушен на практике, а не в теории.</a:t>
            </a:r>
          </a:p>
          <a:p>
            <a:r>
              <a:t/>
            </a:r>
          </a:p>
          <a:p>
            <a:r>
              <a:t>Зачем это инженеру: если ваш продукт автоматически формирует вывод, который выходит под именем системы, а не конкретного проверившего его человека, стоит заранее спросить — какую репутационную гарантию пользователь неявно считывает из формы этого вывода, и соответствует ли она реальному процессу проверки за кулисами. Именно это расхождение между формой сигнала и его содержанием разбор CNET дальше обнаружит на измеренных числах, а не на предположении.</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получения этих данных четыре, и они не взаимозаменяемы — каждый ловит свой класс ошибок и пропускает свой. Редакторская читка — штатный редактор читает текст целиком, проверяет логику изложения, стиль и внутреннюю непротиворечивость. Это самый дешёвый и самый быстрый из четырёх способов, и именно поэтому он применяется практически повсеместно, даже в изданиях с минимальным штатом; но он ловит стилистические и логические проблемы, а не фактические — редактор, не являющийся экспертом в предмете статьи, может прекрасно увидеть, что абзац написан неуклюже, и не заметить, что цифра в нём неверна.</a:t>
            </a:r>
          </a:p>
          <a:p>
            <a:r>
              <a:t/>
            </a:r>
          </a:p>
          <a:p>
            <a:r>
              <a:t>Фактчекинг — отдельный специалист сверяет каждое фактическое утверждение статьи с первоисточником: звонит эксперту для подтверждения цитаты, поднимает оригинальное исследование, пересчитывает числовой пример заново, своими руками, не доверяя тому, что посчитал автор. Это дорогой и медленный способ, и именно поэтому он — первое, что сокращают при снижении издержек: содержать отдельного фактчекера на каждую статью может себе позволить немного изданий, и обычно это те, где цена единичной ошибки особенно высока — финансовая аналитика, медицина, политические расследования.</a:t>
            </a:r>
          </a:p>
          <a:p>
            <a:r>
              <a:t/>
            </a:r>
          </a:p>
          <a:p>
            <a:r>
              <a:t>Сверка подписи и биографии автора — проверка, что автор действительно существует, действительно писал на эту тему раньше и его предыдущие публикации не содержали массовых системных ошибок. Для штатного сотрудника эта проверка выполняется один раз, при приёме на работу, и затем поддерживается репутацией, накопленной годами публикаций. Клиринг прав — для изображения или трека это сверка номера лицензии в базе данных правообладателя с тем, как материал фактически будет использован. Несовпадение — например, рекламное использование там, где куплена только более дешёвая редакционная лицензия, — ловится именно на этом шаге, и пропуск этого шага создаёт отложенный юридический риск, который может материализоваться месяцами позже.</a:t>
            </a:r>
          </a:p>
          <a:p>
            <a:r>
              <a:t/>
            </a:r>
          </a:p>
          <a:p>
            <a:r>
              <a:t>Три классических режима, стоящих за этими способами, не равноценны по дороговизне. Именованное авторство — исторически самый дешёвый механизм контроля качества из всех возможных: читатель доверяет статье не потому, что сам проверил каждый факт — это заняло бы больше времени, чем у профессионального редактора, — а потому, что знает автора и предполагает, что у него есть профессиональная репутация, которую он не станет рисковать ради одной статьи. Это частный случай общей логики теории сигналов: некоторые сигналы работают именно потому, что дорого стоят тому, кто их подаёт, и это делает их трудными для подделки — репутация журналиста строится годами публикаций, и подделать её мгновенно до появления генеративных моделей было практически невозможно. Как только стоимость подачи сигнала — написать текст, похожий по стилю на человеческий, и подписать его правдоподобным именем — резко падает, вся конструкция, построенная на дороговизне подделки, перестаёт работать так, как работала раньше. Это и есть то, что происходит в разборе CNET на следующих кадрах.</a:t>
            </a:r>
          </a:p>
          <a:p>
            <a:r>
              <a:t/>
            </a:r>
          </a:p>
          <a:p>
            <a:r>
              <a:t>Фактчекинг как отдельная профессиональная функция существует там, где цена ошибки высока; в изданиях с низкой маржой — в том числе в сегменте шаблонных объяснительных статей, о котором пойдёт речь дальше, — эта функция часто сведена к минимуму или отсутствует вовсе, и без понимания этой детали следующий разбор прочитать правильно нельзя. Клиринг прав через лицензионную базу данных: нарушение обнаруживается либо на этом шаге заблаговременно, что дёшево, либо постфактум, когда правообладатель подаёт претензию, что дорого и дорого непропорционально.</a:t>
            </a:r>
          </a:p>
          <a:p>
            <a:r>
              <a:t/>
            </a:r>
          </a:p>
          <a:p>
            <a:r>
              <a:t>Зачем это инженеру: порядок цены этих четырёх проверок — то, что стоит держать в голове при проектировании любого внутреннего процесса контроля качества автоматически сгенерированного вывода. Самая дешёвая проверка — не самая надёжная, и самая надёжная не обязательно масштабируется на объём, который генеративная система способна производить.</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Всё сказанное на предыдущих кадрах легко прочитать как историю специфически про журналистику — про редакции, подписи и репортёрскую репутацию, — и именно поэтому стоит сразу, до перехода к разбору CNET, проверить ту же логику на материале, которое к журналистике отношения не имеет вовсе, но устроено структурно так же. Это намеренно обобщённый, иллюстративный сценарий, собранный по той же логике, что и сцены заземления этого раздела, а не измеренный кейс по какой-либо конкретной компании. Представим специализированный интернет-магазин среднего по отраслевым меркам размера, с каталогом порядка 50 000 SKU — единиц учёта товарного ассортимента, то есть конкретных товаров в конкретном варианте исполнения, например определённой модели кабеля определённой длины и цвета. Каждой позиции нужно текстовое описание: технические характеристики, продающий текст, иногда таблица сравнения с похожими товарами той же категории.</a:t>
            </a:r>
          </a:p>
          <a:p>
            <a:r>
              <a:t/>
            </a:r>
          </a:p>
          <a:p>
            <a:r>
              <a:t>До автоматизации это описание пишет нанятый копирайтер, а перед публикацией его проверяет категорийный менеджер или редактор каталога — тот же по структуре институт редакционного контроля, что описан для журналистики, только применённый не к новостной статье, а к карточке товара: читка на предмет внутренней логики и соответствия шаблону, и значительно реже — отдельная сверка технических характеристик с документацией производителя, которую многие магазины этого масштаба себе не могут позволить на каждую из 50 000 позиций. Узнавание здесь работает ровно так же бесплатно для покупателя, как подпись автора в журналистике: покупатель видит карточку товара на сайте компании и по умолчанию предполагает, что указанные характеристики кем-то подтверждены, даже не задумываясь об этом явно.</a:t>
            </a:r>
          </a:p>
          <a:p>
            <a:r>
              <a:t/>
            </a:r>
          </a:p>
          <a:p>
            <a:r>
              <a:t>Когда генерация описаний переводится на языковой движок, встроенный в систему управления каталогом, сам процесс написания текста перестаёт быть узким местом — 50 000 описаний можно сгенерировать за часы, а не за месяцы работы штата копирайтеров. Но стадия проверки, рассчитанная на поток текстов, который раньше производили люди в ограниченном темпе, этим резким ростом объёма не масштабируется автоматически: если штат проверяющих не вырос в той же пропорции, что и объём сгенерированного текста, доля позиций, реально проверенных человеком перед публикацией, падает — не потому, что кто-то принял такое решение сознательно, а потому, что мощность проверки осталась прежней, а поток перед ней вырос на порядки.</a:t>
            </a:r>
          </a:p>
          <a:p>
            <a:r>
              <a:t/>
            </a:r>
          </a:p>
          <a:p>
            <a:r>
              <a:t>Применим сознательно заниженную оценку по сравнению с измеренной долей CNET: пусть лишь 5% сгенерированных описаний содержат хотя бы одну материальную ошибку — неверный габарит, неверное указание совместимости, неточный состав материала, а не стилистическую шероховатость, которую покупатель просто не заметит. Пять процентов от 50 000 — это 2 500 карточек товара с реальной фактической ошибкой где-то в каталоге. Если ошибку ловит редактор до публикации, цена поимки — несколько минут его времени на одну карточку. Но стадия проверки на таком объёме почти никогда не бывает сплошной, и тогда часть этих ошибок доходит до покупателя тем же путём, каким ошибка CNET дошла до читателя: через возврат товара, не соответствующего описанию, через недовольный отзыв или, в худшем случае, через претензию по законодательству о защите прав потребителей, если неверное описание задевает требование к безопасности или заявленным свойствам — а не только эстетику. Стоимость одного такого возврата постфактум по порядку величины заметно выше цены редакторской поимки той же ошибки до публикации.</a:t>
            </a:r>
          </a:p>
          <a:p>
            <a:r>
              <a:t/>
            </a:r>
          </a:p>
          <a:p>
            <a:r>
              <a:t>Риск раскрытия устроен симметрично риску CNET, который разбор покажет дальше: до тех пор пока никто специально не проверяет, что сгенерировано, а что проверено человеком, магазин несёт тот же тип риска, что и издание — риск, что сам факт немаркированной автоматической генерации, обнаруженный извне, станет самостоятельным поводом для кризиса доверия к бренду, независимо от того, был ли реальный процент ошибок выше или ниже отраслевой нормы. Описание товара в большинстве юрисдикций — не просто текст, а часть договора купли-продажи в широком смысле, на который покупатель вправе полагаться при претензии к качеству, и это не становится слабее оттого, что текст на самом деле написала модель, — презумпция просто перестаёт быть автоматически подкреплённой тем институтом, который раньше её бесплатно обеспечивал.</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конце 2022 — начале 2023 года технологическое издание CNET начало публиковать финансово-объяснительные статьи, написанные внутренним AI-движком, под коллективной подписью «CNET Money Staff», не раскрывая факт AI-авторства читателям заранее. Материал относился именно к тому сегменту контента, где фактчекинг исторически минимален: шаблонные, регулярно повторяющиеся в поисковых запросах финансовые темы — как работает сложный процент, как выбрать сберегательный счёт, какие бывают виды страхования, — то есть сегмент, где маржа низка, а тема считается несложной.</a:t>
            </a:r>
          </a:p>
          <a:p>
            <a:r>
              <a:t/>
            </a:r>
          </a:p>
          <a:p>
            <a:r>
              <a:t>Расследование, обнаружившее факт AI-авторства, провело независимое технологическое издание Futurism: журналисты заметили необычную для отрасли коллективную подпись, не привязанную ни к одному конкретному, разыскиваемому в интернете журналисту, сопоставили стиль нескольких статей между собой и обратились за комментарием к самому CNET, которое после этого подтвердило использование AI-инструмента. Этот путь обнаружения важен сам по себе: проверка пришла не изнутри редакционного процесса — штатный фактчекер не остановил публикацию до того, как материал вышел, — а извне, постфактум, от стороннего наблюдателя, который заметил расхождение между формой подписи и правдоподобием того, что за ней стоит живой, разыскиваемый человек.</a:t>
            </a:r>
          </a:p>
          <a:p>
            <a:r>
              <a:t/>
            </a:r>
          </a:p>
          <a:p>
            <a:r>
              <a:t>После того как об этом сообщило независимое расследование, издание было вынуждено провести ревизию уже опубликованного массива материалов. Из 77 опубликованных AI-статей 41, то есть 53%, потребовали исправлений после того, как факт AI-авторства был публично раскрыт. Часть ошибок была существенной: в статьях про расчёт сложного процента обнаружились математические ошибки непосредственно в формуле и в числовом примере — то есть ошибка стояла не в стиле изложения, который редактор мог бы поймать читкой по диагонали, а в самом вычислении, на основании которого реальный читатель мог принять реальное финансовое решение — отложить определённую сумму на определённый срок, ожидая результата, который формула, как выяснилось, предсказывала неверно.</a:t>
            </a:r>
          </a:p>
          <a:p>
            <a:r>
              <a:t/>
            </a:r>
          </a:p>
          <a:p>
            <a:r>
              <a:t>Теперь классический режим, в той же цене — и нужно сразу сказать прямо, почему это графа (б), а не (а). По независимым аудитам точности, проводившимся на материале классической журналистики — аудиты цитируются такими источниками, как Poynter, European Journalism Observatory, издание Slate, — от 40% до 61% газетных статей содержат хотя бы одну ошибку, но публично исправляется лишь около 2% таких ошибок. Число 40–61% получено по другой методологии и по другой выборке, чем 53% у CNET: там — независимые аудиты точности на представительной выборке изданий за разные годы, здесь — доля статей одного конкретного издания, исправленных самим изданием под внешним давлением после конкретного раскрытия в конкретный момент. Сравнивать «долю статей с ошибкой, найденной сторонним аудитом на выборке изданий» и «долю статей одного издания, исправленных этим же изданием под давлением после скандала» — значит сравнивать два разных по природе измерения одного и того же в широком смысле явления, и складывать их в строгую бухгалтерию нельзя. Оба числа реальны и атрибутированы к проверяемым источникам, но сопоставление остаётся нестрогим методологически — именно поэтому оно стоит в графе (б): у классического режима есть число, но не в той же единице измерения и не на той же выборке, что число у модели.</a:t>
            </a:r>
          </a:p>
          <a:p>
            <a:r>
              <a:t/>
            </a:r>
          </a:p>
          <a:p>
            <a:r>
              <a:t>Зачем это инженеру: вопрос «какая доля нашего вывода потребовала бы исправления, если бы завтра кто-то извне раскрыл факт автоматической генерации и начал её целенаправленно проверять» стоит задать себе заранее, а не ждать, пока на него ответит чужое расследование. Что именно означает это сопоставление чисел — на следующем кадре.</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отнестись к двум числам буквально, не обходя методологическую оговорку предыдущего кадра, базовый уровень ошибок классической журналистики (40–61%) и скорректированная доля у CNET (53%) — одного порядка величины. Это значит, что прямого превосходства классического режима над AI-режимом по чистой частоте фактических ошибок цифры не подтверждают: AI-статьи CNET не ошибались заметно чаще, чем ошибается журналистика в целом, если верить независимым аудитам. Разница не в том, что модель хуже справляется с фактами, а в том, что 53% AI-статей CNET были исправлены публично и демонстративно, под внешним давлением, тогда как классический режим системно исправляет публично лишь около 2% своих собственных ошибок, обнаруженных сторонними аудитами. Иначе говоря: AI не был хуже человека по частоте ошибок — он был хуже тем, что раскрытие факта AI-авторства сработало спусковым крючком для реакции, которую та же самая частота ошибок у штатного журналиста-человека почти никогда не вызывает, потому что её почти никто специально не ищет и не публикует отдельным расследованием.</a:t>
            </a:r>
          </a:p>
          <a:p>
            <a:r>
              <a:t/>
            </a:r>
          </a:p>
          <a:p>
            <a:r>
              <a:t>Подделываемое узнавание — возможность опубликовать текст под обычной с виду коллективной подписью, не сообщив читателю о реальном характере авторства, — не создало новую проблему точности текста; оно обнажило проблему, которая в индустрии существовала и до генеративных моделей, просто не становилась предметом специального разбирательства, пока не нашёлся формальный, заметный для публики повод её искать именно в этом издании именно в этот момент. Это тот же по форме результат, который курс уже встречал на материале медицины: провал не в самой модели, а в институте, который вокруг неё не изменился, хотя должен был измениться вместе с ней. CNET не говорило читателю прямую неправду о точности своих статей — оно просто не говорило правды о том, кто их написал, а когда это раскрылось, оказалось, что обычная процедура контроля качества применялась к этим статьям не строже, чем к материалам любого другого штатного автора того же издания.</a:t>
            </a:r>
          </a:p>
          <a:p>
            <a:r>
              <a:t/>
            </a:r>
          </a:p>
          <a:p>
            <a:r>
              <a:t>Про устройство — то, чего индустрия так и не получила. Вход — шаблонные финансово-объяснительные темы: как работает сложный процент, как открыть сберегательный счёт, какие бывают виды страхования — регулярно повторяющиеся в поисковых запросах, не требующие оригинального журналистского расследования или интервью с источником. Это важная деталь устройства: модель применялась не к расследовательской журналистике, где фактическая проверка исторически строже, а именно к тому сегменту, который и так производился по самым низким издержкам и с самым слабым контролем — туда, где институт проверки и так был ослаблен. Выход — статья, опубликованная под подписью «CNET Money Staff», неотличимой по форме от обычной редакционной подписи многих изданий, использующих такой формат для материалов, написанных несколькими штатными сотрудниками совместно. Читатель не мог бы отличить одно от другого по одной лишь форме подписи, даже если бы специально искал признаки AI-генерации.</a:t>
            </a:r>
          </a:p>
          <a:p>
            <a:r>
              <a:t/>
            </a:r>
          </a:p>
          <a:p>
            <a:r>
              <a:t>Обучение и архитектура самого AI-движка не раскрыты публично ни разу: CNET описывало его как «внутренне разработанный инструмент», не называя ни вендора, ни модель, ни версию. Это честный пробел, который канон требует называть прямо, а не заполнять правдоподобным предположением. Для инженера этот пробел сам по себе показателен: отсутствие прозрачности затрудняет и внутренний, и внешний аудит качества — невозможно проверить версию модели на известные классы ошибок, если версия не названа. Это же поднимает вопрос о цепочке ответственности: когда статью пишет штатный журналист, цепочка короткая — автор отвечает перед редактором, редактор перед изданием. Когда статью генерирует нигде не описанный публично движок, цепочка не исчезает, но становится непрозрачной для внешнего наблюдателя: неясно, кто внутри компании отвечает за качество вывода — разработчики, редакторы или руководство, принявшее решение внедрить систему именно в этот сегмент. Это системное следствие того, что инструмент контроля был рассчитан на поток текстов, производимых людьми в предсказуемом темпе, а не на поток, который генеративная система способна производить на порядки быстрее.</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течение нескольких недель после скандала CNET уволило около 10% штата — источники называют десятки сотрудников, уволенных практически сразу после публичного расследования; издание официально не признавало прямой причинно-следственной связи увольнений с AI-историей, но совпадение по времени осталось неразрешённым в общественном восприятии, тем же способом, каким останется неразрешённым и похожий вопрос в случае Sports Illustrated на следующем кадре. Более важный, хотя и не измеренный единым числом сдвиг — доверие читателя к «именованному автору» как институту в целом: после этого случая коллективная подпись у финансово-объяснительного материала перестала автоматически читаться как гарантия человеческого авторства, и это изменение затрагивает не только CNET, а всю категорию шаблонного объяснительного контента в финансовой и потребительской журналистике, где маржа низка, а соблазн автоматизировать производство велик независимо от конкретного издания.</a:t>
            </a:r>
          </a:p>
          <a:p>
            <a:r>
              <a:t/>
            </a:r>
          </a:p>
          <a:p>
            <a:r>
              <a:t>Полезно спросить не только «что произошло», но и «какой из четырёх способов получения данных здесь реально работал, а какой был пропущен». Редакторская читка, судя по всему, применялась — стиль статей не вызывал нареканий сам по себе, иначе проблему заметили бы раньше и без внешнего расследования. Сверка подписи и биографии автора формально не могла сработать, потому что подписи как таковой, привязанной к конкретному разыскиваемому человеку, не существовало — это и есть суть подмены. А вот фактчекинг — пересчёт формулы вручную, независимо от того, кто её написал, человек или алгоритм, — судя по доле обнаруженных математических ошибок, либо не применялся к этому сегменту контента вовсе, либо применялся не ко всем 77 статьям одинаково строго. То есть один конкретный, недорогой и давно существующий классический механизм контроля — независимый пересчёт числового примера — скорее всего решил бы проблему точности сам по себе, без всякого решения о раскрытии или нераскрытии AI-авторства. Проблема раскрытия и проблема точности оказались переплетены в общественном восприятии кейса, но технически это две разные и по отдельности решаемые задачи.</a:t>
            </a:r>
          </a:p>
          <a:p>
            <a:r>
              <a:t/>
            </a:r>
          </a:p>
          <a:p>
            <a:r>
              <a:t>Шаблонные финансово-объяснительные статьи — товар с особой экономикой: их ценность не в оригинальности, а в том, что они регулярно занимают верхние строки поисковой выдачи по частотным запросам и тем самым приносят стабильный рекламный трафик при минимальных затратах на производство каждой единицы. Это именно тот сегмент контента, где экономическое давление в сторону автоматизации сильнее всего: себестоимость штатного журналиста, пишущего одну и ту же тему раз в квартал с небольшими вариациями, становится заметной статьёй расходов именно потому, что сама тема не меняется и не требует нового расследования. CNET была не единственным изданием перед этим давлением, но оказалась тем изданием, где решение было раскрыто и измерено первым, а значит, и тем, по которому индустрия теперь будет сверяться.</a:t>
            </a:r>
          </a:p>
          <a:p>
            <a:r>
              <a:t/>
            </a:r>
          </a:p>
          <a:p>
            <a:r>
              <a:t>Зачем это инженеру: урок CNET переносится буквально на любой продукт, где автоматически сгенерированный вывод публикуется под коллективным именем без указания, что было сгенерировано, а что проверено человеком. Вопрос «какая доля нашего вывода потребовала бы исправления, если бы завтра кто-то извне раскрыл факт автоматической генерации» стоит задать себе заранее, а не ждать, пока на него ответит чужое расследование. И практический вывод конкретнее общего: если один классический, недорогой механизм контроля — независимый пересчёт — решил бы проблему точности сам по себе, значит экономия на нём, а не сам факт использования модели, и была настоящей причиной провала.</a:t>
            </a:r>
          </a:p>
          <a:p>
            <a:r>
              <a:t/>
            </a:r>
          </a:p>
          <a:p>
            <a:r>
              <a:t>Стоит договорить мысль об экономическом контексте до конца, потому что без неё решение CNET выглядит случайным, а оно таким не было. Шаблонный объяснительный жанр — товар с особой экономикой: его ценность не в оригинальности, а в стабильном месте в поисковой выдаче по частотным запросам, которое приносит рекламный трафик почти без предельных затрат на единицу. Это именно тот сегмент, где экономическое давление к автоматизации сильнее всего, и CNET оказалась не единственным изданием перед этим давлением, а просто тем, где решение было раскрыто и измерено первым — и по которому теперь будет сверяться вся отрасль. Этот конкретный разбор закрыт; следующий кадр берёт ту же логику на другом, более запутанном по причинности случае того же периода.</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Ровно в тот же период другое медиа, Sports Illustrated, издатель — Arena Group, попало в похожий по форме, но заметно более запутанный по причинности скандал, и этот случай стоит разобрать именно как предостережение, а не как ещё один подробный разбор: расследование Futurism в ноябре 2023 года обнаружило статьи, подписанные именами несуществующих авторов с AI-сгенерированными фотографиями профилей. Издатель официально отрицал, что сам текст статей писался моделью, — утверждалось, что AI-инструмент затронул только фотографии профилей авторов, а тексты писали и редактировали живые, хотя и анонимные, люди. Расхождение между этим официальным заявлением и выводами журналистского расследования так и не было разрешено публично документированным образом — что само по себе уже урок: не каждый скандал про AI в медиа заканчивается однозначно установленным фактом, кто именно и что именно сгенерировал.</a:t>
            </a:r>
          </a:p>
          <a:p>
            <a:r>
              <a:t/>
            </a:r>
          </a:p>
          <a:p>
            <a:r>
              <a:t>После скандала уволили двух руководителей сразу, а в декабре 2023 года совет директоров уволил и генерального директора Arena Group, Росса Левинсона. Официальная причина увольнения публично не раскрывалась, хотя по времени оно пришлось ровно на период после AI-скандала. Левинсон на этом не остановился: в марте 2024 года он подал иск против Arena Group, утверждая, что компания задолжала ему свыше $20–40 млн компенсации — оценка расходится между источниками, — и что увольнение стало актом мести за его собственную попытку остановить злоупотребления внутри руководства компании. Иск остаётся в производстве суда штата Калифорния без публично раскрытого урегулирования — то есть исход этой конкретной тяжбы, в отличие от самого факта увольнения, на сегодня не завершён.</a:t>
            </a:r>
          </a:p>
          <a:p>
            <a:r>
              <a:t/>
            </a:r>
          </a:p>
          <a:p>
            <a:r>
              <a:t>Позже компанию покинули ещё около 100 сотрудников, акции материнской компании упали на 28–33,6% за один торговый день, а в начале 2024 года лицензия на бренд Sports Illustrated была отозвана у Arena Group в пользу компании Minute Media. Числа здесь крупнее и заметнее, чем у CNET — именно поэтому кейс и попал в заголовки большинства медийных обзоров 2023–2024 годов, — но важная оговорка, без которой кейс превращается в приписывание модели чужой вины, звучит так: правообладатель торговой марки, компания Authentic Brands Group, официально обосновал отзыв лицензии пропущенным платежом, а не напрямую скандалом с AI-авторами, хотя по времени события совпали, и репутационный кризис, безусловно, усугубил финансовое и переговорное положение Arena Group в этот момент. История самого Левинсона — тот же тип предостережения, что и история лицензии: уволенный после скандала руководитель и подавший иск руководитель — не одно и то же, что руководитель, уволенный доказанно за скандал, и глава намеренно не сокращает эту разницу ради более эффектного предложения.</a:t>
            </a:r>
          </a:p>
          <a:p>
            <a:r>
              <a:t/>
            </a:r>
          </a:p>
          <a:p>
            <a:r>
              <a:t>Это не доказанный провал модели — это предостережение студенту-инженеру против того, чтобы приписывать причинность там, где совпадение во времени выглядит убедительно, а документированной причинно-следственной связи, подтверждённой самими сторонами, нет. Тот же тип ошибки — приписать наблюдаемое последствие модели, когда формально названная причина другая, — встретится снова дальше в лекции, на материале банкротства Getty Images, и там он разбирается с противоположным знаком: там AI-давление названо компанией прямо как один из факторов, здесь — явно не названо. Умение различать эти две ситуации по формальным заявлениям сторон, а не по интуитивному правдоподобию совпадения, и есть практический навык, который раздел тренирует.</a:t>
            </a:r>
          </a:p>
          <a:p>
            <a:r>
              <a:t/>
            </a:r>
          </a:p>
          <a:p>
            <a:r>
              <a:t>Вопрос залу, в чат, односложно: кто-то в зале работал в компании, которая публиковала материал, подготовленный с участием AI, без явного раскрытия этого факта читателю или пользователю, — или видел изнутри процесс исправления уже опубликованной ошибки такого рода?</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CNET и упоминание Sports Illustrated вместе дают один и тот же сдвиг, работающий на разном материале и с разной степенью доказанности причинности. Нагрузка по верификации переехала с институционального механизма, встроенного в производственный процесс редакции — редактор, фактчекер, именованная личная репутация, — на внешнее, постфактумное разбирательство: независимое журналистское расследование, которое и вскрыло оба случая уже после публикации, а не до неё. Там, где раньше читатель доверял подписи бесплатно, не задумываясь о её происхождении, теперь подпись сама по себе ничего не доказывает, пока кто-то отдельно, специально и чаще всего извне не проверит, что реально за ней стоит.</a:t>
            </a:r>
          </a:p>
          <a:p>
            <a:r>
              <a:t/>
            </a:r>
          </a:p>
          <a:p>
            <a:r>
              <a:t>Появился новый тип риска, которого не существовало, пока подделать узнавание — форму подписи, видимость коллективного человеческого авторства — было дорого или технически невозможно: риск, что сам факт раскрытия AI-авторства, независимо от фактической точности опубликованного текста, станет самостоятельным триггером кризиса доверия, увольнений и репутационных потерь. CNET демонстрирует это особенно отчётливо, потому что там методология позволяет честно сопоставить частоту ошибок до и после раскрытия: причина кадровых решений — не доказанное объективное падение качества материала, которое, как показывает сопоставление с независимыми аудитами, было сопоставимо с отраслевой нормой, а реакция на факт раскрытия как таковой.</a:t>
            </a:r>
          </a:p>
          <a:p>
            <a:r>
              <a:t/>
            </a:r>
          </a:p>
          <a:p>
            <a:r>
              <a:t>Для раздела в целом это означает практический вывод, применимый за пределами журналистики: институт, обеспечивавший узнавание бесплатно — именованная личная ответственность, — нельзя просто перенести на коллективную или алгоритмическую подпись без потери содержания, которое этот институт исторически нёс. Единственный надёжный способ сохранить содержание сигнала при изменении его источника — сделать раскрытие источника частью самого сигнала с самого начала, а не ждать, пока его найдёт кто-то снаружи.</a:t>
            </a:r>
          </a:p>
          <a:p>
            <a:r>
              <a:t/>
            </a:r>
          </a:p>
          <a:p>
            <a:r>
              <a:t>Полезно свести оба разобранных случая в одну рамку, прежде чем лекция перейдёт к материалу, который измеряет тот же сдвиг на другом материале — приёме аудиторией. До генеративных моделей читатель, увидев имя автора под статьёй, бесплатно получал косвенное подтверждение трёх вещей сразу: что текст физически написан конкретным человеком, что этот человек несёт профессиональную репутационную ответственность за содержание, и что издание считает текст достаточно качественным, чтобы связать его с узнаваемым именем. Подделываемое узнавание разбивает именно эту связку: форма сигнала сохраняется, а три содержательных гарантии, которые раньше шли в комплекте с этой формой, перестают выполняться автоматически — каждую из них теперь нужно обеспечивать отдельно и явно, если редакция хочет, чтобы читатель продолжал им доверять заслуженно, а не по старой привычке.</a:t>
            </a:r>
          </a:p>
          <a:p>
            <a:r>
              <a:t/>
            </a:r>
          </a:p>
          <a:p>
            <a:r>
              <a:t>Следующий раздел возьмёт ту же логику и применит её не к подписи автора, а к реакции аудитории на сам ролик или статью: там узнавание — это предположение, что за профессиональным видом материала стоит настоящая студия с настоящим бюджетом, — и там тоже обнаружится разрыв между формой и содержанием, только измеренный не долей исправленных статей, а процентами тональности и звёздами предрелизной панели. Структура одна и та же — меняется только то, что именно подделывается и кто первым замечает разрыв.</a:t>
            </a:r>
          </a:p>
          <a:p>
            <a:r>
              <a:t/>
            </a:r>
          </a:p>
          <a:p>
            <a:r>
              <a:t>Стоит закрыть раздел одной практической мыслью, применимой за пределами любого конкретного издания. Оба случая — и CNET с его измеренным разрывом между частотой ошибок и реакцией на раскрытие, и Sports Illustrated с его неразрешённым вопросом причинности — учат одному и тому же навыку: различать то, что модель действительно сделала хуже, от того, что институт вокруг неё просто не укрепил заново. Эта разница не абстрактная — именно она определяет, что чинить: если проблема в частоте ошибок, чинить нужно фактчекинг; если проблема в институте доверия к имени, чинить нужно раскрытие источника. Спутать эти два ремонта — значит потратить усилия не там, где они нужны, и получить ту же проблему снова на следующем материале.</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 прошедший редакционный контроль — или не прошедший его, как показал предыдущий раздел, — в какой-то момент становится публичным: статья выходит, рекламный ролик появляется в эфире и в социальных сетях. До этого момента узнавание работало на стороне производства: редактор верил подписи, агентство верило лицензии. С момента публикации узнавание переходит на сторону аудитории: зритель или читатель формирует собственное отношение к материалу, и это отношение — измеримая величина, которую индустрия давно умеет измерять заранее, до того как материал станет публичным, и после — когда реакция уже произошла и её можно наблюдать напрямую, без модельных допущений.</a:t>
            </a:r>
          </a:p>
          <a:p>
            <a:r>
              <a:t/>
            </a:r>
          </a:p>
          <a:p>
            <a:r>
              <a:t>Вопрос этого раздела: что происходит с этим давно отлаженным измерением, когда материал, которое оно оценивает, — AI-сгенерированный, и способен ли классический инструмент предрелизного тестирования вообще заметить это обстоятельство как отдельный, самостоятельный фактор реакции. Это прямое продолжение предыдущего раздела, не параллельная тема: там проверка решала, можно ли верить тому, что перед нами, — здесь аудитория решает, нравится ли ей то, во что она уже поверила или не поверила.</a:t>
            </a:r>
          </a:p>
          <a:p>
            <a:r>
              <a:t/>
            </a:r>
          </a:p>
          <a:p>
            <a:r>
              <a:t>Стадия стоит на этом месте порядка не случайно. Тестирование реакции аудитории имеет смысл только на материале, который уже прошёл проверку фактов и прав — иначе непонятно, чья реакция на самом деле измеряется: реакция на сам творческий продукт как таковой или реакция на то, что в нём, возможно, содержится неразрешённая фактическая ошибка или неоплаченное использование чужого материала, которое просто ещё не было обнаружено. И это не абстрактная теоретическая забота: именно нарушение этого порядка и произошло де-факто в разборе, который раздел сейчас покажет, — предрелизная панель оценила ролик, вопрос о праве на исходные обучающие данные которого к моменту тестирования никто отдельно не поднимал, потому что сама процедура была выстроена для другого вопроса.</a:t>
            </a:r>
          </a:p>
          <a:p>
            <a:r>
              <a:t/>
            </a:r>
          </a:p>
          <a:p>
            <a:r>
              <a:t>Раздел держится одним подробным разбором — Coca-Cola и Toys «R» Us, — и это не недостаток материала, а решение, принятое после проверки: цепочка чисел про реакцию на AI-миниатюры YouTube, которая фигурировала в более ранних версиях этой лекции, при проверке не подтвердилась — первоисточник физически не существует, и курс не вставляет в разбор числа, которых нет. Вместо второго числового разбора раздел усиливает единственный найденный контраст: Coca-Cola повторила генеративный подход во второй праздничный сезон подряд, и на этот раз независимая предрелизная панель System1 оценила ролик на верхней границе собственной шкалы — пять целых девять десятых звезды из пяти целых девяти десятых возможных, — притом что открытая аудитория, если измерять её тональность компанией CARMA, отреагировала резко отрицательно: доля негативных упоминаний выросла с тринадцати и пяти десятых до пятидесяти трёх и четырёх десятых процента. Один и тот же ролик, два независимых измерения, противоположный по направлению сигнал. Это и есть форма раздела — не «AI-реклама хуже», а «предрелизный инструмент и открытая реакция измеряют разные вещи, и расхождение между ними само по себе содержательная находка».</a:t>
            </a:r>
          </a:p>
          <a:p>
            <a:r>
              <a:t/>
            </a:r>
          </a:p>
          <a:p>
            <a:r>
              <a:t>Два классических режима стоят за этим измерением задолго до всякой генеративной модели: предрелизные фокус-группы, откалиброванные на десятилетиях прошлых кампаний, и ограниченное A/B на двух-трёх вручную отснятых вариантах, дороговизна которых сама была частью сигнала качества для зрителя. Именно эту часть цены обнуляет генерация видео — и именно поэтому раздел должен сперва показать, как работало измерение до того, как объект измерения стал дешёвым производить в неограниченном количестве вариантов.</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Релиз и приём аудиторией — работа, на которой готовый, прошедший редакционный контроль материал выходит к конечному зрителю или читателю, и индустрия измеряет, как он был воспринят: вызвал ли он положительную, отрицательную или нейтральную реакцию, и воспринимается ли он как подлинный, уместный, соответствующий заявленному образу бренда или издания.</a:t>
            </a:r>
          </a:p>
          <a:p>
            <a:r>
              <a:t/>
            </a:r>
          </a:p>
          <a:p>
            <a:r>
              <a:t>До публикации собирают данные контролируемого тестирования — реакцию заранее отобранной группы людей на черновую версию материала, полученную в условиях, когда исследователь может задавать уточняющие вопросы и фиксировать реакцию структурированно. После публикации собирают данные открытого наблюдения — упоминания в социальных сетях, комментарии под постами, тональность освещения в прессе. Вопрос в обоих случаях формально один: понравится ли это аудитории и если нет — какой конкретно элемент материала вызывает отторжение. Но, как покажет разбор дальше, фактически эти два способа измерения иногда отвечают на разные вопросы, даже когда исследователи были уверены, что измеряют одно и то же.</a:t>
            </a:r>
          </a:p>
          <a:p>
            <a:r>
              <a:t/>
            </a:r>
          </a:p>
          <a:p>
            <a:r>
              <a:t>Способов два, и они принципиально разной природы — по выборке, по контролируемости условий и по тому, что именно они физически способны уловить. Предрелизное тестирование — фокус-группы и тестовые показы, на которых заранее отобранная по демографическим и поведенческим критериям выборка смотрит ролик в контролируемых условиях и заполняет структурированную анкету; реакция измеряется по стандартизированной шкале, разработанной специально для того, чтобы разные кампании можно было сравнивать на основе накопленной за десятилетия базы прошлых измерений. Ключевое методологическое свойство этого способа: вопросы в анкете заданы заранее, исследователь решает, что именно измерять, и участники отвечают в рамках предложенной рамки — если рамка не включает вопрос «воспринимаете ли вы этот материал как сделанный человеком», участники не станут спонтанно поднимать эту тему сами, если их прямо не спросят.</a:t>
            </a:r>
          </a:p>
          <a:p>
            <a:r>
              <a:t/>
            </a:r>
          </a:p>
          <a:p>
            <a:r>
              <a:t>Пострелизный мониторинг тональности — автоматизированный и частично ручной анализ упоминаний в открытых источниках после выхода материала в публичное пространство; здесь выборка — не заранее отобранная контролируемая группа, а все, кто решил высказаться сам, без всякой заданной исследователем рамки вопросов. Именно поэтому пострелизный мониторинг способен уловить реакцию на обстоятельства, которые никто заранее не включил в анкету предрелизного теста: если зрителя возмущает сам факт, что ролик сгенерирован моделью, а не насколько он эмоционально приятен, открытая аудитория скажет об этом сама, без подсказки, тогда как предрелизная анкета, не содержащая такого вопроса, этот сигнал просто не зафиксирует.</a:t>
            </a:r>
          </a:p>
          <a:p>
            <a:r>
              <a:t/>
            </a:r>
          </a:p>
          <a:p>
            <a:r>
              <a:t>По итогам предрелизного тестирования принимается решение — выпускать материал в текущем виде, дорабатывать конкретный элемент или полностью отменять запланированный выпуск. По итогам пострелизного мониторинга принимается другое, отложенное во времени решение — продолжать ли уже запущенную кампанию, снимать ли её с публикации досрочно и, что важнее для долгосрочной стратегии бренда, повторять ли тот же творческий подход в будущих кампаниях того же бренда.</a:t>
            </a:r>
          </a:p>
          <a:p>
            <a:r>
              <a:t/>
            </a:r>
          </a:p>
          <a:p>
            <a:r>
              <a:t>Стадия стоит после редакционного контроля не случайно: тестирование реакции аудитории логически идёт после того, как материал прошёл проверку, — бессмысленно измерять, понравился ли ролик, если в нём, например, не урегулировано право на использованный материал. Тогда сначала решается более базовый вопрос существования материала как законного продукта, и только потом — вопрос его эмоционального приёма. Зачем это инженеру: любая система автоматического контроля качества откалибрована под заранее заданный набор метрик, и появление нового класса риска требует добавления нового, отдельного теста — доверие к тому, что существующий набор его автоматически покроет, разбор дальше покажет на конкретных цифрах, почему это доверие не оправдалось.</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Два классических режима, оба — результат десятилетий накопленной индустриальной практики измерения реакции на рекламу и медиаконтент. Предрелизные фокус-группы и тестовые показы — классический инструмент рекламной индустрии и кинопроизводства, существующий десятилетиями: небольшая, заранее отобранная группа смотрит черновую версию материала в контролируемых условиях, отвечает на структурированные вопросы, и по совокупности ответов рассчитывается стандартизированная оценка, которую маркетологи напрямую сравнивают с оценками сотен и тысяч прошлых кампаний того же или конкурирующих брендов, накопленными в базе исследовательской компании за годы работы.</a:t>
            </a:r>
          </a:p>
          <a:p>
            <a:r>
              <a:t/>
            </a:r>
          </a:p>
          <a:p>
            <a:r>
              <a:t>A/B-тестирование вариантов на ограниченной выборке аудитории — до появления генеративных моделей ограниченное тем, что каждый альтернативный вариант ролика нужно было произвести отдельно, вручную, с привлечением актёров и съёмочной группы, и производство многих вариантов для параллельного сравнения стоило дорого и занимало много времени; поэтому на практике тестировали обычно два-три варианта одной и той же концепции, редко больше.</a:t>
            </a:r>
          </a:p>
          <a:p>
            <a:r>
              <a:t/>
            </a:r>
          </a:p>
          <a:p>
            <a:r>
              <a:t>Представим типовой процесс вывода новой рекламной кампании крупного потребительского бренда до появления генеративных моделей видео. Креативное агентство снимает один, реже два варианта ролика — дорогостоящая операция, включающая живых актёров, полноценную съёмочную группу, аренду оборудования и локации, многодневный постпродакшн, — и показывает черновой монтаж небольшой фокус-группе, набранной по демографическим и поведенческим критериям, соответствующим целевой аудитории бренда. Участники смотрят ролик в контролируемом помещении, затем отвечают на структурированную анкету: насколько ролик понравился в целом, насколько он ассоциируется именно с этим брендом, вызывает ли он желание купить товар в ближайшее время. Результаты сводятся в стандартизированную оценку, построенную на десятилетиях накопленных данных по тысячам прошлых кампаний самых разных брендов, и агентство на основании этой оценки принимает решение: запускать ролик как есть, доработать конкретный элемент или полностью пересобрать творческую концепцию заново.</a:t>
            </a:r>
          </a:p>
          <a:p>
            <a:r>
              <a:t/>
            </a:r>
          </a:p>
          <a:p>
            <a:r>
              <a:t>Ключевое свойство этого классического режима — он дорог именно потому, что дорого произвести больше одного-двух вариантов, и именно эта дороговизна производства исторически и была частью самого сигнала, который считывал зритель, даже не задумываясь об этом явно. Сам факт, что бренд в принципе способен позволить себе дорогостоящую профессиональную съёмку с живыми актёрами, качественным светом и профессиональным монтажом, отчасти и был сигналом качества и серьёзности намерений для зрителя: ролик крупного бренда выглядел определённым, легко узнаваемым образом именно потому, что был снят профессиональной студией с реальным бюджетом, и это считывалось зрителем как узнавание — «это сделано профессионально, у этого бренда есть ресурсы и репутация, значит, ему можно доверять хотя бы в плане качества исполнения».</a:t>
            </a:r>
          </a:p>
          <a:p>
            <a:r>
              <a:t/>
            </a:r>
          </a:p>
          <a:p>
            <a:r>
              <a:t>Генеративная модель обнуляет именно эту часть цены: теперь можно произвести не один-два, а десятки тысяч вариантов одного ролика почти бесплатно по сравнению с прежними затратами, что меняет не только экономику производства как таковую — об этом подробно шла речь в разделе о продакшне, — но и саму природу того, что на самом деле тестирует предрелизная фокус-группа, когда перед ней оказывается ролик, произведённый этим новым способом.</a:t>
            </a:r>
          </a:p>
          <a:p>
            <a:r>
              <a:t/>
            </a:r>
          </a:p>
          <a:p>
            <a:r>
              <a:t>Стоит отдельно заметить, почему именно рекламная индустрия, а не кинопроизводство в целом, даёт разделу самый измеримый материал. Рекламный ролик по самой своей природе существует в сжатом временном формате и должен произвести максимальный эмоциональный эффект за минимальное время показа — это именно та задача, для которой десятилетиями разрабатывались и валидировались инструменты предрелизного измерения реакции. Полнометражный фильм тестируется иначе и реже, поэтому именно реклама — материал, где расхождение между предрелизным измерением и пострелизной реакцией открытой аудитории можно замерить быстрее всего и на самом строгом, самом отработанном инструменте.</a:t>
            </a:r>
          </a:p>
          <a:p>
            <a:r>
              <a:t/>
            </a:r>
          </a:p>
          <a:p>
            <a:r>
              <a:t>Зачем это инженеру: та же логика переносится на любой продукт, где раньше дороговизна производства неявно служила сигналом качества и серьёзности намерений производителя — будь то дорогая документация, сложный в изготовлении прототип или трудоёмкий отчёт. Как только производство этого артефакта резко дешевеет, старый неявный сигнал перестаёт что-либо гарантировать, и его нужно заменить явным сигналом, иначе потребитель продолжит по инерции доверять форме, за которой больше не стоит прежнее содержание.</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Генеративная модель, применённая на стадии релиза, хорошо делает одну конкретную, измеримую вещь: позволяет произвести и прогнать через предрелизное тестирование количество вариантов, принципиально недостижимое при ручном производстве того же масштаба. Если раньше тестировали два-три варианта ролика, ограниченных бюджетом съёмки, то теперь можно сгенерировать десятки тысяч коротких клипов, скомпоновать из них финальный монтаж и выбрать ту комбинацию, которая по формальным метрикам получает наивысший балл у предрелизной панели. С точки зрения чистой оптимизации по заданной метрике это объективное технологическое достижение — ни один человеческий творческий коллектив не может вручную произвести и протестировать такое количество вариантов за сопоставимое время и бюджет.</a:t>
            </a:r>
          </a:p>
          <a:p>
            <a:r>
              <a:t/>
            </a:r>
          </a:p>
          <a:p>
            <a:r>
              <a:t>Чего она не делает: классический инструмент предрелизного тестирования исторически создан, откалиброван и валидирован на протяжении десятилетий для измерения одной конкретной вещи — эмоционального и ассоциативного отклика человека на креативное содержание ролика как таковое: насколько история трогает, насколько музыка запоминается, насколько финальный кадр ассоциируется с логотипом. Этот инструмент не создавался и не предназначен для измерения отдельного, качественно иного сигнала — воспринимает ли зритель материал как сделанный человеком или произведённый моделью, и как сам этот факт, независимо от эмоционального качества исполнения, повлияет на отношение зрителя к бренду, когда он об этом узнает, а узнаёт он, как показывает практика последних лет, почти всегда — производители сами объявляют о способе производства как о технологическом достижении.</a:t>
            </a:r>
          </a:p>
          <a:p>
            <a:r>
              <a:t/>
            </a:r>
          </a:p>
          <a:p>
            <a:r>
              <a:t>Иначе говоря: предрелизная панель может совершенно честно и методологически корректно оценить, насколько конкретный ролик эмоционально резонирует с заданной целевой аудиторией, и при этом абсолютно ничего не сказать о том, как отреагирует открытая, неотобранная аудитория именно на факт его AI-происхождения, потому что это два разных по природе измерения, направленных на разные свойства одного и того же объекта, а используемый инструмент спроектирован и откалиброван только под одно из этих двух измерений.</a:t>
            </a:r>
          </a:p>
          <a:p>
            <a:r>
              <a:t/>
            </a:r>
          </a:p>
          <a:p>
            <a:r>
              <a:t>Прежде чем перейти к числам конкретного разбора, стоит задать и обратный вопрос: существует ли задокументированный случай, в котором классическая предрелизная панель заранее, до публикации, поймала риск, связанный именно с фактом AI-происхождения материала, а не с эмоциональным качеством ролика как такового? Специальный проход по источникам, собранным для этой лекции, такого случая не нашёл: ни один из цитируемых дальше материалов не описывает ad-testing панель, которая отдельно спросила бы респондентов о реакции на сам факт генерации и на основании этого ответа остановила или изменила бы кампанию до выхода в эфир. Это не означает, что подобного не случалось нигде и никогда — индустрия предрелизного тестирования не публикует все свои внутренние отчёты, и предрелизная поимка риска, в отличие от постфактумного провала, почти никогда не становится публичной историей именно потому, что успешно предотвращённый кризис не производит заголовка. Но при добросовестном поиске единственное, что удалось найти, — это сам факт отсутствия такого задокументированного случая, и правильнее предъявить этот пробел явно, чем молчанием создать впечатление, будто индустрия давно решила эту задачу.</a:t>
            </a:r>
          </a:p>
          <a:p>
            <a:r>
              <a:t/>
            </a:r>
          </a:p>
          <a:p>
            <a:r>
              <a:t>Зачем это инженеру: любой автоматизированный процесс контроля качества, спроектированный для измерения одного конкретного свойства продукта, системно не заметит проблему другого рода, если вопрос про это второе свойство не был явно заложен в методологию проверки с самого начала. Высокая оценка по одной метрике не гарантирует отсутствия провала по другой, не измеренной метрике — и это общее наблюдение подтверждается дальше конкретным числовым расхождением, которое разбор покажет на материале одной реальной кампании.</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конце 2023 — начале 2024 года сразу две кампании с явным и широко разрекламированным использованием генеративного видео вызвали заметную негативную реакцию открытой аудитории. Toys «R» Us выпустила ролик «The Origin of Toys 'R' Us» — художественную историю происхождения бренда, сгенерированную с помощью текст-в-видео модели Sora, на тот момент демонстрационного продукта OpenAI, совместно со студией Native Foreign, представленный как часть возвращения бренда на рынок в феврале 2024 года. Примерно в тот же период похожую по направлению реакцию получила и праздничная кампания Coca-Cola, также произведённая с использованием генеративного видео вместо классической съёмки.</a:t>
            </a:r>
          </a:p>
          <a:p>
            <a:r>
              <a:t/>
            </a:r>
          </a:p>
          <a:p>
            <a:r>
              <a:t>Сводное измерение тональности упоминаний обеих кампаний, опубликованное изданием Marketing-Interactive со ссылкой на данные аналитической компании CARMA — компания специализируется на мониторинге медиа и PR-аналитике и работает на рынке более 40 лет, обслуживая тысячи брендов-клиентов, — даёт конкретные, проверяемые цифры: доля позитивных упоминаний упала с 12,2% до 3,4%, доля негативных упоминаний выросла с 13,5% до 53,4%, доля нейтральных изменилась с 74,3% до 43,2%. Третье число здесь не лишняя деталь для полноты — оно позволяет проверить внутреннюю арифметическую непротиворечивость измерения: позитивные, негативные и нейтральные упоминания в сумме дают проверяемые 100% как до выхода кампании, так и после — 12,2 плюс 13,5 плюс 74,3 равно 100,0; 3,4 плюс 53,4 плюс 43,2 равно те же 100,0, — что подтверждает: перед нами не выборочно процитированный фрагмент большего набора данных, а полная структура измеренной тональности.</a:t>
            </a:r>
          </a:p>
          <a:p>
            <a:r>
              <a:t/>
            </a:r>
          </a:p>
          <a:p>
            <a:r>
              <a:t>Здесь необходима честная методологическая оговорка, без которой приведённое число выглядит точнее, чем оно есть на самом деле. CARMA — реальная, давно существующая на рынке компания с публично проверяемой историей, и приведённые проценты реально ей атрибутированы в проверяемой публикации — это не выдуманная цифра. Но ни оригинальная публикация, ни последующие цитирования в других изданиях не раскрывают, на какой именно платформе и на какой по размеру выборке упоминаний были получены эти проценты. Это не повод отбрасывать число вовсе — компания с сорокалетней историей и тысячами клиентов-брендов не имеет очевидного коммерческого мотива фабриковать данные, которые легко проверить повторным измерением, — но это честный, названный прямо пробел в публичной методологии измерения, который следует проговаривать открыто, а не замалчивать ради более эффектной иллюстрации.</a:t>
            </a:r>
          </a:p>
          <a:p>
            <a:r>
              <a:t/>
            </a:r>
          </a:p>
          <a:p>
            <a:r>
              <a:t>Публикации, описывавшие негативную реакцию на оба ролика, называли их «бездушными» и сравнивали с «жутковатой антиутопией» — формулировки, которые указывают не на недовольство качеством истории или музыки, а на нечто более специфическое: ощущение, что праздничная реклама, традиционно апеллирующая к теплу, семейным ценностям и человеческой заботе, произведена без участия живых людей на тех этапах, где их присутствие раньше подразумевалось как часть самого смысла продукта. Праздничная реклама крупного бренда — не нейтральный информационный материал вроде финансового объяснительного текста CNET; это жанр, построенный на обещании человеческой теплоты, и узнавание в нём работает иначе: зритель не просто верит, что ролик профессионально сделан, — он считывает, или раньше считывал бесплатно, человеческое авторство как часть самого эмоционального сообщения. Когда это узнавание подделывается, разрушается не абстрактное доверие к бренду вообще, а конкретное ожидание жанра, и именно поэтому реакция оказывается настолько острой именно в праздничной, семейно-ориентированной рекламе.</a:t>
            </a:r>
          </a:p>
          <a:p>
            <a:r>
              <a:t/>
            </a:r>
          </a:p>
          <a:p>
            <a:r>
              <a:t>Зачем это инженеру: цифры CARMA — это ровно та пострелизная реакция, которую § 3.2 назвал слепой зоной предрелизного инструмента. Но самое показательное в этом разборе — не сами проценты, а то, что случилось годом позже, когда Coca-Cola повторила подход и прогнала новый ролик через классическую предрелизную панель. Об этом —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2025 году Coca-Cola повторила генеративный подход во второй праздничный кампании подряд — на этот раз с продюсерской студией Silverside AI, скомпоновавшей финальный ролик из 70 000 отдельно сгенерированных клипов. Этот ролик прошёл классическое предрелизное тестирование — независимая панель оценки рекламы System1 «Test Your Ad», использующая собственную давно откалиброванную стандартизированную шкалу «звёзд», исторически обоснованную связью эмоционального отклика с долгосрочным ростом бренда и верхней границей шкалы на отметке 5,9, а не на круглом числе 5 или 10, присвоила ролику 5,9 звезды — верхнюю границу собственной шкалы System1, то есть формально максимально возможную по этой методологии оценку.</a:t>
            </a:r>
          </a:p>
          <a:p>
            <a:r>
              <a:t/>
            </a:r>
          </a:p>
          <a:p>
            <a:r>
              <a:t>Методология System1 заслуживает отдельного пояснения, потому что без него легко недооценить силу найденного расхождения. Шкала «звёзд» этой компании построена не произвольно, а на многолетней работе по сопоставлению результатов предрелизных панельных тестов с последующим коммерческим успехом реальных кампаний — долгосрочным ростом продаж и доли рынка бренда, измеренным уже после выхода кампании в широкий эфир. Индустрия относится к этой шкале серьёзно именно потому, что исторически высокий балл по ней статистически ассоциировался с последующим коммерческим успехом кампании в целом. Это делает расхождение с реакцией CARMA ещё более показательным: инструмент, который обычно хорошо предсказывает именно коммерческую судьбу ролика, в данном случае ничего не сказал о надвигающейся репутационной волне, потому что коммерческий успех рекламы и доверие аудитории к способу её производства — хоть и связанные, но разные величины, и высокий балл по первой не означает благополучия по второй.</a:t>
            </a:r>
          </a:p>
          <a:p>
            <a:r>
              <a:t/>
            </a:r>
          </a:p>
          <a:p>
            <a:r>
              <a:t>Это и есть граница графы (б), а не (а): две оценки — предрелизная панель, выставленная до или вскоре после выхода ролика контролируемой методологией, и пострелизная тональность открытой, неотобранной аудитории, собранная из спонтанных публичных упоминаний, — измеряют качественно разные вещи, в разных единицах измерения, на разных этапах жизненного цикла ролика и на принципиально разных по формированию выборках респондентов. Прямого арифметического пересчёта одной шкалы в другую не существует и не может существовать — звёзды эмоционального отклика панели System1 нельзя механически перевести в проценты тональности социальных сетей CARMA. Сопоставлять эти два числа напрямую как единую величину нельзя; но сопоставить их как две методологии измерения одного и того же ролика, которые дали противоположный по направлению содержательный сигнал об одном и том же творческом продукте в один и тот же период времени, — можно и методически необходимо, и именно в этом состоит контринтуитивная находка раздела.</a:t>
            </a:r>
          </a:p>
          <a:p>
            <a:r>
              <a:t/>
            </a:r>
          </a:p>
          <a:p>
            <a:r>
              <a:t>Классический инструмент предрелизного тестирования не провалился в том смысле, что дал ложную оценку эмоционального качества ролика как творческого продукта — по всей видимости, ролик действительно хорошо резонировал эмоционально с контролируемой панелью System1, иначе он объективно не получил бы почти максимальный балл по шкале, откалиброванной на тысячах предыдущих кампаний самых разных брендов. Открытая, самостоятельно высказавшаяся аудитория после публикации отреагировала резко отрицательно. Разрыв между двумя измерениями не доказывает, что один инструмент объективно хуже другого по качеству методологии; он показывает нечто более точное и более полезное для инженера — что это два разных по измеряемому предмету инструмента, и предрелизная панель системно не ловит один конкретный сигнал: отношение зрителя к самому факту AI-происхождения материала, независимо от его эмоционального качества как такового.</a:t>
            </a:r>
          </a:p>
          <a:p>
            <a:r>
              <a:t/>
            </a:r>
          </a:p>
          <a:p>
            <a:r>
              <a:t>Узнавание здесь работает ровно так же, как и в случае CNET: до появления генеративного видео сам факт присутствия дорогой профессиональной съёмки неявно подтверждал зрителю, что материал сделан студией с настоящей репутацией и настоящим бюджетом — а теперь этот прежде бесплатный и надёжный сигнал можно подделать дёшево, оставив при этом формальное эмоциональное качество ролика высоким и одновременно разрушив доверие открытой аудитории к самому факту его происхождения, который предрелизный инструмент даже не пытался измерить.</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отличие от CNET, где раскрытие факта AI-авторства привело к увольнениям и видимой, задокументированной кадровой реакции компании, в случае Coca-Cola реакция производителя оказалась ровно обратной по направлению: несмотря на задокументированную и измеренную негативную реакцию открытой аудитории в 2024 году, компания не отказалась от генеративного подхода и повторила его во второй праздничный сезон подряд с ещё большим объёмом генерации, получив повторно ту же по направлению негативную реакцию аудитории. Это расхождение само по себе — наблюдение, достойное отдельного внимания инженера: задокументированный провал не всегда меняет поведение производителя, особенно если у производителя есть основания полагать — например, по внутренним метрикам охвата и узнаваемости, которые не публикуются, — что негативное внимание всё равно работает на знание о бренде сильнее, чем молчаливое безразличие.</a:t>
            </a:r>
          </a:p>
          <a:p>
            <a:r>
              <a:t/>
            </a:r>
          </a:p>
          <a:p>
            <a:r>
              <a:t>Это решение не осталось анонимным корпоративным выбором — у него есть названное лицо и прямая цитата. Пратик Тхакар, глобальный вице-президент и руководитель направления генеративного ИИ в Coca-Cola, защищая повторный запуск AI-ролика на фоне продолжающейся негативной реакции, сформулировал позицию компании в интервью The Hollywood Reporter одной фразой: «джинн уже выпущен из бутылки, и обратно его не загнать», а на сцене отраслевой конференции Adweek Brandweek 2025 повторил ту же мысль ещё резче: «либо вы возглавляете это движение, либо продолжаете о нём плакать». Это именно тот голос, который объясняет наблюдение выше не предположением о скрытых метриках, а прямым утверждением человека с должностью и мандатом внутри компании: Тхакар рассуждает не в категориях краткосрочной тональности реакции на конкретный ролик, а в категориях технологического перехода, который, по его собственной формулировке, бессмысленно останавливать, — и именно эта рамка, а не результат измерения CARMA, определила решение повторить подход во второй раз подряд.</a:t>
            </a:r>
          </a:p>
          <a:p>
            <a:r>
              <a:t/>
            </a:r>
          </a:p>
          <a:p>
            <a:r>
              <a:t>У ролика 2025 года есть и второй названный человек, с другой стороны той же сделки — Джейсон Зада, основатель и креативный директор продюсерской студии Secret Level, которая работала над роликом совместно с Silverside AI. В интервью The Hollywood Reporter Зада назвал конкретную цифру изменения состава команды: над роликом работало около 20 человек, тогда как классическое производство ролика сопоставимого масштаба потребовало бы, по его собственной оценке, порядка 50. Это та же пропорция сжатия, которую лекция уже видела на материале продакшна — там в деньгах за единицу контента, здесь в численности самой команды, — только проговорённая не аналитиком со стороны, а человеком, который эту команду лично собирал и которому предстоит снова её собирать на следующую кампанию. Для инженера в этой паре цитат важна именно симметрия: один названный человек объясняет, почему компания не отступает от подхода на уровне стратегии, другой — что конкретно для него самого изменилось на уровне состава команды, и оба говорят от первого лица и под собственным именем, а не анонимной цитатой «представитель компании».</a:t>
            </a:r>
          </a:p>
          <a:p>
            <a:r>
              <a:t/>
            </a:r>
          </a:p>
          <a:p>
            <a:r>
              <a:t>Нагрузка по распознаванию подделки сигнала переехала на зрителя: предрелизная панель не поймала проблему, следовательно, единственным фактическим фильтром осталась открытая аудитория постфактум, когда материал уже опубликован и репутационный эффект уже случился и начал распространяться. Появился новый тип риска там, где раньше существовал преимущественно риск качества исполнения: риск бренд-доверия, который не коррелирует напрямую с формальной эмоциональной оценкой ролика и который классические предрелизные инструменты, спроектированные для другой задачи, системно недооценивают, потому что не измеряют именно его.</a:t>
            </a:r>
          </a:p>
          <a:p>
            <a:r>
              <a:t/>
            </a:r>
          </a:p>
          <a:p>
            <a:r>
              <a:t>Так же, как и в случае CNET, стоит спросить, какое конкретное, недорогое изменение процедуры предрелизного тестирования могло бы заранее обнаружить риск. Ответ методологически прост и от этого ещё более показателен: достаточно было бы добавить в анкету панели один прямой вопрос — знает ли участник, что ролик создан генеративной моделью, и как это знание меняет его отношение к бренду, — отдельно от вопросов об эмоциональном качестве самого ролика. До появления генеративного видео такой вопрос не имел смысла включать в анкету, потому что переменной, которую он измерял бы, попросту не существовало.</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Отдельная, не связанная напрямую с кейсом Coca-Cola деталь актуального нормативного контекста важна здесь как иллюстрация того, в какую сторону в 2026 году движется формальное регулирование узнавания на стадии релиза в целом: действующая политика YouTube по состоянию на 2026 год разрешает использование AI-сгенерированных миниатюр видео без обязательного раскрытия этого факта зрителю — такой материал относится платформой к широкой категории «производственная помощь», и единственное формальное ограничение состоит в том, что миниатюра не должна вводить зрителя в заблуждение относительно фактического содержания самого видео.</a:t>
            </a:r>
          </a:p>
          <a:p>
            <a:r>
              <a:t/>
            </a:r>
          </a:p>
          <a:p>
            <a:r>
              <a:t>Это значит, что на уровне крупнейшей видеоплатформы мира узнавание — эта картинка показывает, что реально происходит в видео, и сделана человеком или нет, неважно для правил платформы — формально не защищено отдельным правилом обязательного раскрытия: платформа сознательно оставляет этот конкретный сигнал незащищённым до тех пор, пока не нарушена более широкая и более старая норма — не вводить зрителя в заблуждение о фактическом содержании видео, существовавшая задолго до генеративных моделей.</a:t>
            </a:r>
          </a:p>
          <a:p>
            <a:r>
              <a:t/>
            </a:r>
          </a:p>
          <a:p>
            <a:r>
              <a:t>Для раздела эта деталь служит не отдельным измеренным кейсом — количественных данных о реакции аудитории именно на AI-миниатюры в проверяемом виде найти не удалось, и раздел сознательно не предъявляет здесь чисел, которых нет, — а честным контекстом действующего правила: регулятор платформенного уровня в 2026 году явно выбирает не требовать раскрытия там, где дешёвая подделка узнавания формально не нарушает более старую и более широкую норму добросовестности.</a:t>
            </a:r>
          </a:p>
          <a:p>
            <a:r>
              <a:t/>
            </a:r>
          </a:p>
          <a:p>
            <a:r>
              <a:t>Это стоит сказать прямо, потому что более ранние версии этого разбора ссылались на конкретную цепочку процентов изменения кликабельности миниатюр после появления AI-генерации — и эта цепочка чисел при проверке не подтвердилась: названный источник физически не существует, а атрибуция одного из чисел к реальной компании не совпадает с тем, что эта компания публиковала на самом деле. Правдоподобно звучащая цифра с правдоподобно звучащим источником — не то же самое, что проверенная цифра: проверяй источник, а не цитату из вторых рук, какой бы убедительной она ни казалась. Раздел предпочитает держаться одним подробным, полностью проверенным разбором — Coca-Cola и Toys «R» Us, — чем вставлять второй, который выглядит измеренным, а на самом деле не выдерживает проверки.</a:t>
            </a:r>
          </a:p>
          <a:p>
            <a:r>
              <a:t/>
            </a:r>
          </a:p>
          <a:p>
            <a:r>
              <a:t>Это симметрично дополняет разбор Coca-Cola: там, где предрелизный инструмент не был спроектирован ловить один конкретный сигнал, здесь платформенное правило сознательно не требует этот сигнал создавать. Оба случая — пример одного и того же структурного решения, принятого на разных уровнях индустрии: ни инструмент измерения, ни правило платформы не берут на себя задачу специально проверять происхождение контента, если их для этого отдельно не настроили. Зачем это инженеру: отсутствие формального требования раскрытия — не то же самое, что отсутствие риска; платформа может не штрафовать за немаркированную AI-генерацию, но аудитория, как показал предыдущий разбор, реагирует на раскрытие сама, независимо от того, требует ли этого правило.</a:t>
            </a:r>
          </a:p>
          <a:p>
            <a:r>
              <a:t/>
            </a:r>
          </a:p>
          <a:p>
            <a:r>
              <a:t>Стоит отдельно заметить, почему честный пробел здесь важнее, чем он кажется. Отсутствие измеренного кейса — не то же самое, что отсутствие явления: платформа решает миллионы просмотров в день, и отсутствие публичного исследования именно о миниатюрах не означает, что реакция зрителей на раскрытую AI-генерацию отсутствует, — она просто не собрана в проверяемом виде, в отличие от тональности CARMA на предыдущем кадре. Разница между «числа нет» и «эффекта нет» принципиальна в обе стороны: не предъявлять непроверенное число как измеренное, но и не читать отсутствие числа как доказательство отсутствия риска.</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Coca-Cola/Toys «R» Us и контекст политики YouTube вместе показывают одну и ту же форму сдвига на разном материале. Нагрузка по распознаванию подлинности переехала на зрителя и читателя: ни предрелизное тестирование, которое измеряет не то свойство материала, для которого оно спроектировано, ни действующая политика крупнейшей видеоплатформы мира, которая не требует раскрытия факта генерации при соблюдении более широкой нормы добросовестности, не берут эту задачу распознавания на себя — значит, по факту её решает только сам зритель, своими силами, постфактум, без специального инструмента.</a:t>
            </a:r>
          </a:p>
          <a:p>
            <a:r>
              <a:t/>
            </a:r>
          </a:p>
          <a:p>
            <a:r>
              <a:t>Появился новый тип риска, которого не существовало в этой форме, пока узнавание было дорогим для подделки, — риск бренд-доверия, отдельный и методологически независимый от риска качества исполнения: ролик может получить максимальную формальную оценку по эмоциональному качеству, как показала панель System1, и одновременно резко разрушить доверие открытой аудитории фактом своего происхождения, как показала тональность CARMA, и оба эти измерения будут при этом корректны каждое в своих собственных терминах.</a:t>
            </a:r>
          </a:p>
          <a:p>
            <a:r>
              <a:t/>
            </a:r>
          </a:p>
          <a:p>
            <a:r>
              <a:t>Этот сдвиг — симметричное дополнение к находке раздела о редакционном контроле: там подделываемое узнавание обнажило то, что индустрия и так не исправляла системно — фоновую частоту фактических ошибок, которую никто специально не искал; здесь оно создаёт качественно новый риск, которого раньше просто не существовало в этой форме, потому что подделать профессиональное происхождение рекламного ролика было технически и экономически невозможно при прежней стоимости производства. Вместе оба раздела складываются в один и тот же вывод применительно к узнаванию как таковому: механизм, который раньше проверял достоверность и происхождение бесплатно для потребителя информации, был рассчитан на мир, где подделать его источник дорого; как только эта предпосылка перестаёт выполняться, старый механизм продолжает формально работать — панель всё ещё выставляет оценки, подпись всё ещё стоит под текстом, — но перестаёт гарантировать то содержание, ради которого он изначально существовал.</a:t>
            </a:r>
          </a:p>
          <a:p>
            <a:r>
              <a:t/>
            </a:r>
          </a:p>
          <a:p>
            <a:r>
              <a:t>Полезно увидеть оба раздела рядом прежде, чем лекция перейдёт дальше, к вопросу о деньгах. В обоих случаях до генеративных моделей был механизм, который проверял достоверность бесплатно для потребителя: подпись автора проверяла происхождение текста, дорогая профессиональная съёмка неявно проверяла происхождение и серьёзность ролика. В обоих случаях генеративная модель оставила форму сигнала нетронутой — подпись выглядит как подпись, ролик выглядит профессионально снятым — и обнулила издержки его подделки. В обоих случаях находка оказалась контринтуитивной: не «AI хуже справляется с задачей» — частота ошибок CNET сопоставима с отраслевой нормой, эмоциональная оценка ролика Coca-Cola была почти максимальной, — а «то, что раньше гарантировалось бесплатно и незаметно, теперь требует отдельной, явной проверки, которую никто пока системно не встроил в процесс».</a:t>
            </a:r>
          </a:p>
          <a:p>
            <a:r>
              <a:t/>
            </a:r>
          </a:p>
          <a:p>
            <a:r>
              <a:t>Вопрос залу, в чат, односложно: кто уже видел внутри своей компании расхождение между результатом контролируемого теста и открытой реакцией реальных пользователей — не обязательно про рекламу?</a:t>
            </a:r>
          </a:p>
          <a:p>
            <a:r>
              <a:t/>
            </a:r>
          </a:p>
          <a:p>
            <a:r>
              <a:t>Дальше лекция берёт ту же логику подделываемого узнавания и прикладывает её не к подписи автора и не к реакции зрителя, а к третьей, денежной точке пути артефакта: у кого есть право использовать материал, на котором обучена модель, и кто и сколько за это платит, если платит вообще. Там разрыв между формой и содержанием измеряется не в процентах тональности и не в звёздах панели, а в объявленных лицензионных тарифах, масштабах обучающих датасетов и исходах — или отсутствии исходов — судебных разбирательств.</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Артефакт, который мы ведём через лекцию, к этому месту уже прошёл три проверки. Кто-то — или что-то — его сделал. Кто-то проверил результат и решил, можно ли его публиковать. Аудитория увидела, услышала или прочла и как-то отреагировала. Остаётся последняя точка пути, и устроена она иначе, чем первые три: она не про то, что показано, а про то, было ли вообще получено право это показывать. Отрасль называет эту стадию правами и лицензированием: проверкой, лицензировано ли каждое изображение, каждая музыкальная дорожка, каждый голос и каждый кусок текста, вошедшие в готовый продукт — и, отдельно, лицензированы ли материалы, на которых была обучена модель, если продукт сделан моделью.</a:t>
            </a:r>
          </a:p>
          <a:p>
            <a:r>
              <a:t/>
            </a:r>
          </a:p>
          <a:p>
            <a:r>
              <a:t>Рядом с изображением, музыкой и текстом стоит четвёртый вид материала — голос и внешность конкретного человека, и у него лицензирование устроено строже: право на использование чужого образа или голоса никогда не продаётся агрегатором оптом, оно всегда результат прямых переговоров с самим человеком или с его профсоюзом. Актёр озвучки лицензирует не абстрактный звуковой материал, а узнаваемую часть себя, и это право по умолчанию не переходит никому вместе с самой записью.</a:t>
            </a:r>
          </a:p>
          <a:p>
            <a:r>
              <a:t/>
            </a:r>
          </a:p>
          <a:p>
            <a:r>
              <a:t>Вопрос, который эта стадия решает, звучит одной фразой: кто заплатил за право использовать этот материал — и заплатил ли вообще. У него есть количественная сторона — сколько стоит право — и бинарная — было оно куплено или нет, и в классическом производстве обе стороны решались заранее, до публикации. У фрилансера была лицензия на референсы из контракта с клиентом. У журналиста — подпись под статьёй. У бренда — лицензия на музыку в ролике. Здесь — то место на пути артефакта, где лицензия либо есть, либо её нет, и где отсутствие лицензии обнаруживается не сразу, а когда кто-то решает проверить задним числом.</a:t>
            </a:r>
          </a:p>
          <a:p>
            <a:r>
              <a:t/>
            </a:r>
          </a:p>
          <a:p>
            <a:r>
              <a:t>Решение, которое стадия принимает, звучит просто: публикуется материал или нет. Но последствия этого решения догоняют артефакт на любом более позднем этапе его жизни — ролик уже показан, альбом уже продан, а иск о нелицензированном использовании может быть подан через месяцы или годы после публикации. Именно поэтому эта стадия стоит последней в пути, который мы разбираем, а не первой: про неё узнают постфактум, часто после того, как аудитория уже отреагировала на готовый продукт — и иногда именно успех предыдущей стадии делает четвёртую видимой, привлекая к продукту взгляд правообладателя, который иначе не заметил бы использования своего материала вовсе.</a:t>
            </a:r>
          </a:p>
          <a:p>
            <a:r>
              <a:t/>
            </a:r>
          </a:p>
          <a:p>
            <a:r>
              <a:t>Раздел пройдёт эту точку по порядку. Сначала — классика: как устроено лицензирование фотографии, музыки и, отдельно, голоса и внешности, потому что у голоса обнаружится исключение, которое стоит удержать в памяти до самого конца раздела. Затем — что меняет генеративная модель: два разных пути к одной и той же развилке, заплатить заранее по известной цене или не платить и рискнуть неизвестной. Дальше — единственное направление из трёх, дошедшее до реального вердикта первой инстанции: Getty Images против Stability AI, разобранное по шагам — цена риска, что решил суд, как это устроено технически, что переехало. И, наконец, два направления, у которых итога пока нет вовсе: NYT против OpenAI и расколотый по стратегии кластер исков против Suno и Udio — честно, без натяжки единого вывода, потому что у отрасли на октябрь 2026 года его действительно нет.</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Способов получить право на использование материала в классическом производстве три, и все три стоят перечисления именно так, порознь, а не одним абзацем, потому что дальше разборы этого раздела разойдутся по ним. Первый способ — покупка готовой лицензии у агрегатора: фотобанк, музыкальная библиотека, агентство по лицензированию шрифтов уже договорились с правообладателями оптом и продают право использования конкретной единицы по прейскуранту, который мы разберём с числами на следующем кадре. Второй способ — прямые переговоры с правообладателем о правах на конкретное произведение: студия договаривается с композитором о партитуре к фильму, издание — с фотографом о съёмке события, рекламное агентство — с артистом о праве на его голос или образ в кампании. Здесь цена не фиксирована прейскурантом, а обсуждается индивидуально и обычно выше, потому что право эксклюзивно или ограничено во времени и территории. Третий способ появляется только тогда, когда первые два пропущены: кто-то использовал материал без лицензии, правообладатель об этом узнал, и вопрос «кто заплатит» переходит в суд. Это не способ получить право заранее — это механизм, который включается, когда право не было получено, и в классическом производстве он сравнительно редок именно потому, что первые два способа дёшевы и привычны.</a:t>
            </a:r>
          </a:p>
          <a:p>
            <a:r>
              <a:t/>
            </a:r>
          </a:p>
          <a:p>
            <a:r>
              <a:t>Решение, которое стадия принимает, звучит просто: публикуется материал или нет, выходит продукт на рынок или задерживается до урегулирования прав. Но последствия этого решения догоняют артефакт на любом более позднем этапе его жизни — тираж уже напечатан, ролик уже показан по телевидению, альбом уже продан миллионным тиражом, а иск о нелицензированном использовании может быть подан через месяцы или годы после публикации, когда отменить показ или вернуть деньги зрителей уже нельзя.</a:t>
            </a:r>
          </a:p>
          <a:p>
            <a:r>
              <a:t/>
            </a:r>
          </a:p>
          <a:p>
            <a:r>
              <a:t>Устроена эта стадия в крупной организации не как одно решение одного человека, а как отдельный контрольный проход, похожий по роли на редакционную проверку из предыдущего раздела, только проверяет он не фактическую точность, а права. В рекламном агентстве перед запуском кампании юридический отдел проходит по каждому визуальному, звуковому и текстовому элементу ролика и сверяет: есть ли действующая лицензия, на какой срок и территорию она выдана, не истекла ли она к моменту показа, не требует ли материал отдельного согласия изображённого на фотографии человека — отдельного документа, подтверждающего, что человек на фотографии дал согласие на коммерческое использование своего изображения, не совпадающего автоматически с лицензией на саму фотографию. Этот проход стоит времени и денег сам по себе — это отдельная строка в бюджете кампании, не входящая ни в стоимость лицензий, ни в гонорар агентства, — и именно поэтому индустрии со сложной цепочкой прав (кино, реклама, крупные издания) годами держат на зарплате отдельных специалистов по клирингу прав, чья единственная работа — не допустить, чтобы четвёртая точка пути артефакта обнаружилась постфактум, в виде судебного иска, а не заранее, в виде отказа утвердить материал к публикации.</a:t>
            </a:r>
          </a:p>
          <a:p>
            <a:r>
              <a:t/>
            </a:r>
          </a:p>
          <a:p>
            <a:r>
              <a:t>Дополнительным слоем защиты от ошибки такого прохода служит страхование ответственности за интеллектуальную собственность — полис, который крупные издатели и студии оформляют на случай, если несмотря на клиринг прав в готовый продукт всё же попадёт нелицензированный материал: тогда компенсацию правообладателю или судебные издержки покрывает не сама компания из операционного бюджета, а страховая выплата. И клиринг прав, и страхование от его ошибки — это инфраструктура, которая существовала в классическом производстве десятилетиями именно потому, что цена ошибки на этой стадии — ретроактивный иск после публикации — всегда была выше цены предотвращения, проверки лицензии до публикации. Это ровно та логика, которую следующие кадры раздела будут проверять на прочность: что происходит, когда компания решает эту проверку пропустить, а не провести.</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Разберём механику на двух материалах с устоявшимся рынком — фотографии и музыке, — потому что у обоих есть открытый прейскурант, который можно будет напрямую сравнить с ценой за генерацию, когда дело дойдёт до разборов с генеративными моделями.</a:t>
            </a:r>
          </a:p>
          <a:p>
            <a:r>
              <a:t/>
            </a:r>
          </a:p>
          <a:p>
            <a:r>
              <a:t>Стоковая фотография продаётся по модели с двумя ценовыми полюсами. Розничная, разовая покупка одного изображения без подписки стоит от $130 до $499 в зависимости от разрешения, лицензии — редакционная против коммерческой, с ограничением или без ограничения по тиражу — и эксклюзивности. Это цена для клиента, которому нужно одно конкретное изображение один раз, например для обложки одного отчёта. Оптовая, подписочная модель устроена иначе: клиент платит за пакет из, скажем, 750 изображений в год и получает право скачивать любое количество из каталога в рамках пакета, что в пересчёте на одно изображение даёт цену порядка $2,5 за штуку. Разница между $2,5 и $130-499 за одно и то же по содержанию изображение — не ошибка прейскуранта, а экономика объёма: агрегатор несёт фиксированные издержки на содержание каталога, юридическое сопровождение лицензий и поиск по метаданным один раз, и эти издержки размазываются на тысячи транзакций подписчика с большим объёмом закупок, тогда как разовый покупатель платит за ту же инфраструктуру целиком один раз. Лицензия дешева при массовом использовании ровно потому, что массовое использование — это то, на что агрегатор и рассчитывал, продавая подписку; она дорога при штучном использовании, потому что штучная сделка несёт полную стоимость администрирования лицензии на одну транзакцию.</a:t>
            </a:r>
          </a:p>
          <a:p>
            <a:r>
              <a:t/>
            </a:r>
          </a:p>
          <a:p>
            <a:r>
              <a:t>Стоит довести эту арифметику до конца, а не оставить утверждением без вывода. Рекламное агентство, купившее подписку на 750 изображений в год и реально использовавшее, скажем, 300 из них, платит в пересчёте на фактически использованное изображение заметно меньше объявленного оптового тарифа — потому что оплачена годовая квота в 750 штук, а использована меньшая часть, и неиспользованный остаток субсидирует удобство. Независимый блогер или небольшая компания, которой нужно ровно одно изображение, не может купить «одну семисотпятидесятую» подписки — ей приходится либо покупать разовую лицензию по розничному тарифу, либо подписываться на годовой пакет ради одного изображения, что почти всегда дороже самой разовой лицензии. Это и есть механизм, который делает лицензию дешёвой при массовом использовании и дорогой при штучном: не потому, что агрегатор произвольно дискриминирует мелкого клиента ценой, а потому, что структура тарифа построена вокруг объёма использования как единицы продажи.</a:t>
            </a:r>
          </a:p>
          <a:p>
            <a:r>
              <a:t/>
            </a:r>
          </a:p>
          <a:p>
            <a:r>
              <a:t>Музыка устроена похожим образом, с другим диапазоном цен. Стандартная стоковая лицензия на один трек — не синхронизационная лицензия для телевидения или кино, а лицензия для веб-контента, корпоративного видео, подкаста — стоит $20-100 в зависимости от длительности использования, канала распространения и того, нужна ли расширенная лицензия для коммерческого продукта с большим охватом; премиальные и расширенные лицензии поднимают цену до $100-500 и выше. Это цена за готовый, уже записанный и сведённый трек — продукт, в создание которого уже вложены часы студийной работы, а лицензия продаёт только право на его использование, не само изготовление. Заказ оригинальной партитуры у композитора напрямую стоит на порядок дороже стоковой лицензии и занимает недели, потому что покупается не право на уже существующий объект, а создание нового.</a:t>
            </a:r>
          </a:p>
          <a:p>
            <a:r>
              <a:t/>
            </a:r>
          </a:p>
          <a:p>
            <a:r>
              <a:t>У музыки есть и четвёртый механизм, отдельный от стокового прейскуранта и от прямого заказа, и он важен именно для вопросов, которые поднимает дальнейший разбор, — коллективное управление правами. Композитор и исполнитель вступают в национальную организацию по сбору авторских вознаграждений и передают ей право собирать плату за публичное исполнение от имени всех пользователей сразу — радиостанций, ресторанов, стриминговых сервисов, — вместо того чтобы договариваться с каждым лично. Это тот же принцип объёмной экономии, что у стокового фотобанка, только организован он коллективно, в масштабе целой отрасли и часто целой страны. Для вопроса об обучении генеративных моделей эта инфраструктура важна по одной причине: она технически уже существует и теоретически могла бы быть расширена на лицензирование использования музыки для обучения ИИ — но на 2026 год ни одна такая схема в промышленном масштабе не запущена. Ни один из разбираемых дальше исков или урегулирований не идёт через коллективную организацию, а идёт напрямую между конкретным лейблом и конкретной компанией, разрабатывающей модель. Развилка между урегулированием и тяжбой, которую мы разберём позже на примере трёх мейджоров, идёт мимо готовой инфраструктуры, а не через неё.</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 голоса и внешности конкретного человека рынок лицензирования устроен не так, как у фото, музыки и текста, и эта разница стоит того, чтобы показать её числами. Фотобанк и музыкальная библиотека продают право на уже существующий, обезличенный от исполнителя объект: покупатель стоковой фотографии не платит отдельно модели, позировавшей для снимка, сверх того, что агентство уже заплатило ей при покупке снимка в каталог. Голос и внешность человека лицензируются иначе: право возобновляется для каждого нового коммерческого применения отдельно, потому что объектом лицензии выступает не копия записи как артефакта, а узнаваемая личность конкретного человека, и использование этой личности в новом контексте — это новое использование, а не копия уже однажды оплаченного.</a:t>
            </a:r>
          </a:p>
          <a:p>
            <a:r>
              <a:t/>
            </a:r>
          </a:p>
          <a:p>
            <a:r>
              <a:t>Ориентир цены классического пути даёт отраслевой прейскурант озвучивания, GVAA Rate Guide — общепринятый в США справочник ставок голосовой индустрии: право использовать запись голоса конкретного диктора в национальной телевизионной рекламной кампании ограниченный срок стоит от $650; выкуп права на год показа в национальном эфире — $3200-3500; бессрочный выкуп — до $6500. Это цена именно права на использование, отдельная от сессионной платы за саму запись, которая оценивается в $50-450 за минуту готовой озвучки — то есть диктор получает один платёж за работу над записью и отдельный, обычно кратно больший платёж за то, что заказчик вправе крутить эту запись в эфире год или бессрочно.</a:t>
            </a:r>
          </a:p>
          <a:p>
            <a:r>
              <a:t/>
            </a:r>
          </a:p>
          <a:p>
            <a:r>
              <a:t>Профсоюз актёров озвучивания и исполнителей США, SAG-AFTRA, явно отреагировал на тот же риск, что эта глава находит применительно к изображению и музыке — риск, что синтетическая копия обесценит оплату оригинала, — но отреагировал иначе: не урегулированием постфактум, а ценой, заранее встроенной в контракт так, чтобы синтетический клон не оказался дешевле человека. По условиям профсоюзного соглашения о цифровых голосовых копиях, действовавшего в контрактах США на начало 2025 года, сама сессия согласия и записи для создания голосовой копии стоит $956,75 за четырёхчасовую смену или $1914,25 за шестичасовую, плюс 16,5% отчислений в пенсионный и медицинский фонд исполнителя — то есть уже дороже одной минуты классической озвучки за один лишь факт согласия на создание копии, до всякого последующего использования. А использование самой синтетической копии в рекламе по контракту 2025 года триггерит полуторную ставку обычной сессионной платы плюс все применимые ставки за показ — то есть по контракту, который актёры озвучивания согласовали с индустрией, сгенерированная реплика голоса обходится заказчику дороже, чем если бы диктор записал ту же рекламу лично.</a:t>
            </a:r>
          </a:p>
          <a:p>
            <a:r>
              <a:t/>
            </a:r>
          </a:p>
          <a:p>
            <a:r>
              <a:t>Рядом с договорной ценой стоит и продуктовый рубеж, на стороне самого поставщика синтеза. Крупные коммерческие сервисы клонирования голоса, включая ElevenLabs, в пользовательском соглашении требуют от того, кто загружает образец голоса для клонирования, явно подтвердить, что он либо сам является носителем этого голоса, либо имеет документально подтверждённое право его использовать — формальное условие, которое закон не всегда способен проверить технически в момент загрузки, но которое переносит ответственность за нарушение на пользователя.</a:t>
            </a:r>
          </a:p>
          <a:p>
            <a:r>
              <a:t/>
            </a:r>
          </a:p>
          <a:p>
            <a:r>
              <a:t>Это прямое исключение из рефрена «три-четыре порядка», который глава находит почти на любом другом материале, и его стоит назвать явно, а не затушевать ради красивой закономерности. Для изображения, музыки и текста синтетическая версия дешевле классической в тысячи раз; для голоса и внешности конкретного узнаваемого человека, там, где право закреплено профсоюзным контрактом, синтетическая версия дороже классической, потому что индустрия сознательно договорилась о цене так, чтобы обесценивание не состоялось. Это не техническое ограничение модели — технически клонировать голос по-прежнему стоит $0,04-0,20 за минуту — это договорная цена, которую исполнители смогли закрепить именно потому, что право на использование чужого голоса и внешности никогда не продавалось агрегатором оптом и поэтому осталось предметом прямых переговоров, а не прейскурантом, который можно обойти пересчётом себестоимости синтеза.</a:t>
            </a:r>
          </a:p>
          <a:p>
            <a:r>
              <a:t/>
            </a:r>
          </a:p>
          <a:p>
            <a:r>
              <a:t>Голос актёра озвучивания — единственный материал этой главы, где отрасль успела закрепить институционально ответ на обнуление узнавания до того, как оно массово состоялось: профсоюз заранее заложил цену различия прямо в контракт, а не стал дожидаться суда или утечки, которая покажет масштаб ущерба постфактум. Это прямая мера того, чего стоит организованная готовность против того, чего стоит реакция по факту — ровно тот вопрос, который понадобится в разборе Getty против Stability AI дальше.</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всякой точности о конкретных исках стоит назвать цену обеих ошибок — именно в этом порядке, потому что иначе числа судебных дел читаются как единственная реальность, а не как один из возможных исходов решения, принятого в условиях неопределённости.</a:t>
            </a:r>
          </a:p>
          <a:p>
            <a:r>
              <a:t/>
            </a:r>
          </a:p>
          <a:p>
            <a:r>
              <a:t>Классический путь — заплатить за лицензию заранее. Цена известна в момент принятия решения: агрегатор называет тариф, правообладатель называет свою ставку в переговорах, и компания точно знает, сколько будет стоить право использовать материал, прежде чем решает его использовать. Ошибка здесь возможна — переплатить за эксклюзивность, которая не понадобилась, не заметить ограничение территорией, — но она ограничена сверху ценой самой лицензии: переплатить можно на проценты, редко на порядки.</a:t>
            </a:r>
          </a:p>
          <a:p>
            <a:r>
              <a:t/>
            </a:r>
          </a:p>
          <a:p>
            <a:r>
              <a:t>Путь компаний, обучавших генеративные модели на чужих данных в 2023-2024 годах, был устроен иначе: не платить за лицензию на обучающие данные вовсе и принять на себя риск судебного иска с неизвестной на момент принятия решения ценой. Это не было секретным нарушением правил — это была осознанная ставка на то, что либо суд признает обучение законным использованием, либо правообладатели не станут судиться, либо результат судебного взыскания окажется ниже стоимости лицензирования всего корпуса заранее. Разница между двумя путями — не «законно против незаконно», а «цена известна заранее» против «цена становится известна постфактум, и становится известна по-разному для разных ответчиков». Три направления судебных разбирательств по обучающим данным, которые разберём дальше, закончились или заканчиваются сейчас с разной ценой для разных компаний, и единого отраслевого ответа на вопрос «что это будет стоить» на октябрь 2026 года не существует.</a:t>
            </a:r>
          </a:p>
          <a:p>
            <a:r>
              <a:t/>
            </a:r>
          </a:p>
          <a:p>
            <a:r>
              <a:t>Что здесь работает в пользу компаний, обучивших модели без лицензии: территориальность авторского права, узкое техническое определение «копии» в некоторых правовых системах, и экономическая логика переговоров, при которой правообладателю выгоднее постоянный небольшой роялти с каждой генерации, чем годами судиться за один разовый платёж. Что не работает: три из трёх крупных направлений на дату этой проверки либо не завершены, либо завершены частично — то есть компании по-прежнему несут открытый, не оценённый в деньгах риск, и расчёт «не платить и рискнуть» для половины ответчиков ещё не подведён под черту.</a:t>
            </a:r>
          </a:p>
          <a:p>
            <a:r>
              <a:t/>
            </a:r>
          </a:p>
          <a:p>
            <a:r>
              <a:t>Для инженера, встраивающего генеративную модель в коммерческий продукт — не прототип, а продукт с внешними пользователями и выручкой, — это не абстрактная философская проблема, а конкретный пункт комплаенса. Три практических ориентира. Первый — индемнификация: часть поставщиков моделей прямо включают в договор пункт о том, что поставщик берёт на себя судебные издержки клиента, если выход модели окажется предметом иска; у моделей с открытыми весами или у поставщиков без такого пункта риск по умолчанию остаётся на стороне, которая встроила модель в свой продукт. Второй — прозрачность обучающих данных: компании, публикующие отчёт о происхождении корпуса или участвующие в схемах лицензирования постфактум, дают клиенту возможность оценить риск заранее; полное отсутствие документации — само по себе сигнал неопределённости. Третий — отслеживание статуса разбирательств по конкретному поставщику: оценка риска — не разовое действие на старте проекта, а то, что требует периодической сверки по мере того, как дела продвигаются к вердиктам или урегулированиям.</a:t>
            </a:r>
          </a:p>
          <a:p>
            <a:r>
              <a:t/>
            </a:r>
          </a:p>
          <a:p>
            <a:r>
              <a:t>Вопрос в зал, коротко: кто у себя в компании хоть раз проверял — или, наоборот, сознательно не проверял — лицензионный статус обучающих данных модели перед тем, как встроить её в продукт с внешними пользователями? Ответ в одно слово или фразу в чат: «проверяли», «не проверяли, не думали об этом», «не проверяли, решили рискнуть осознанно».</a:t>
            </a:r>
          </a:p>
          <a:p>
            <a:r>
              <a:t/>
            </a:r>
          </a:p>
          <a:p>
            <a:r>
              <a:t>Контраст, который стоит назвать до разбора судебных дел, а не после, потому что он показывает, что ставка «обучить на всём и разобраться с претензиями потом» не была единственным доступным путём уже в 2023 году. Adobe выпустила собственную модель генерации изображений, Firefly, заявив с самого начала, что обучающий корпус составлен только из материалов, на использование которых у компании уже есть права: лицензированный каталог Adobe Stock, материалы с истёкшим сроком авторского права и материалы под открытыми лицензиями. К 2026 году Firefly объединяет собственную модель Adobe с несколькими партнёрскими моделями внутри одного продукта и, по собственным данным компании, генерирует выручку порядка $400 млн за 2024-2025 годы при заявленном объёме сгенерированных и обработанных материалов свыше 22 миллиардов единиц. Эти цифры раскрыты самой компанией, не присуждены судом и не проверены независимо — здесь они приведены не как эталон точности, а как иллюстрация факта: коммерчески успешный продукт в этой нише удалось построить, явно и с самого начала избегая всего класса судебных рисков, которые разберём дальше. Это не делает путь Stability AI, Suno или Udio ошибочным задним числом — их модели вышли на рынок раньше и, вероятно, технически превосходили на старте то, что можно было обучить на одном лишь лицензированном материале, — но это прямо показывает, что альтернатива с ясным лицензионным статусом существовала и была коммерчески жизнеспособна, а не только теоретическим идеалом без рыночного подтверждения.</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Уже назван в общем виде классический путь — заплатить заранее по известной цене, и путь без лицензии — рисковать судебным взысканием по неизвестной на момент решения цене. Применим эту рамку к одному конкретному делу — единственному из трёх направлений копирайт-разбирательств на обучающих данных, которое на дату этой проверки дошло до реального вердикта первой инстанции.</a:t>
            </a:r>
          </a:p>
          <a:p>
            <a:r>
              <a:t/>
            </a:r>
          </a:p>
          <a:p>
            <a:r>
              <a:t>Getty Images — крупнейший в мире агрегатор стоковой фотографии, тот же бизнес, чей прейскурант мы уже разобрали: $2,5 за изображение оптом, $130-499 в розницу. Stability AI — разработчик Stable Diffusion, одной из первых и самых распространённых моделей генерации изображений по текстовому описанию, опубликованной с открытыми весами в 2022 году. Getty утверждает, что часть обучающего корпуса Stable Diffusion состояла из изображений, принадлежащих Getty, скопированных без лицензии и без разрешения. Иск подан в двух юрисдикциях параллельно — в Великобритании и в США, — и это не технический дубль одного и того же дела, а два разных судебных процесса с разным объёмом претензий и, как увидим дальше, с разным нынешним статусом.</a:t>
            </a:r>
          </a:p>
          <a:p>
            <a:r>
              <a:t/>
            </a:r>
          </a:p>
          <a:p>
            <a:r>
              <a:t>Классический режим, применённый к заявленному Getty масштабу использования. Getty утверждает, что Stable Diffusion обучалась — через промежуточный датасет LAION-5B, устройство которого разберём отдельно, — на примерно 12,3 миллионах изображений из её коллекций. Применим к этому числу прейскурант буквально, по двум полюсам цены. По оптовому, подписочному тарифу $2,5 за изображение: 12,3 млн × $2,5 ≈ $30,75 млн теоретической стоимости лицензии на весь заявленный объём. По розничному тарифу разовой покупки $130 за изображение: 12,3 млн × $130 ≈ $1,6 млрд теоретической стоимости того же объёма при самой дорогой модели ценообразования.</a:t>
            </a:r>
          </a:p>
          <a:p>
            <a:r>
              <a:t/>
            </a:r>
          </a:p>
          <a:p>
            <a:r>
              <a:t>Обе цифры — это расчёт по объявленному Getty масштабу использования, выполненный для того, чтобы показать порядок величины, а не присуждённая судом или кем-либо выплаченная сумма. Ни Getty, ни Stability AI не называли эти числа в суде как требование или предложение урегулирования; это арифметика, которую можно сделать самостоятельно, взяв опубликованный прейскурант Getty и заявленный Getty же масштаб использования, и именно так эта арифметика сделана здесь. Разброс между $30,75 млн и $1,6 млрд — разница в 52 раза — сам по себе показывает, насколько сильно итоговая «цена лицензии» зависит от того, какую модель ценообразования считать применимой к обучению модели. У этого вопроса на 2026 год нет отраслевого консенсуса, потому что ни один прейскурант стоковых фотобанков никогда не был рассчитан на сценарий «использование для обучения алгоритма», и обе стороны спора это прекрасно понимают.</a:t>
            </a:r>
          </a:p>
          <a:p>
            <a:r>
              <a:t/>
            </a:r>
          </a:p>
          <a:p>
            <a:r>
              <a:t>Называть этот счёт раньше любых судебных подробностей — не формальность, а метод этого раздела: цену риска нужно знать до точности, иначе числа конкретного дела читаются как единственная реальность, а не как одна из гипотез, с которой стороны вошли в разбирательство. Для Getty эти $30,75 млн или $1,6 млрд — верхняя оценка того, чего она могла бы требовать, если бы вопрос решался чистой арифметикой лицензии; для Stability AI — верхняя оценка риска, который компания приняла на себя, решив не покупать лицензию заранее. Ни то, ни другое число не стало ценой дела — следующий кадр объясняет, почему оба оказались почти не относящимися к тому, что суд в итоге решал.</a:t>
            </a:r>
          </a:p>
          <a:p>
            <a:r>
              <a:t/>
            </a:r>
          </a:p>
          <a:p>
            <a:r>
              <a:t>Держите эти два числа в голове, потому что дальше разбор специально проверит, насколько они вообще относятся к тому, что суд на самом деле решал. Следующий кадр — та часть разбора, которая обычно теряется при пересказе заголовками: что суд фактически рассмотрел, а что было снято с рассмотрения ещё до разбирательства по существу, и почему это меняет всё.</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начинается самая важная и самая контринтуитивная часть разбора, и её стоит разложить на отдельные элементы, потому что сворачивание их в одну фразу создаёт у неспециалиста ложное впечатление, будто суд разрешил красть.</a:t>
            </a:r>
          </a:p>
          <a:p>
            <a:r>
              <a:t/>
            </a:r>
          </a:p>
          <a:p>
            <a:r>
              <a:t>Первый элемент — юрисдикционный, и он сузил дело ещё до разбирательства по существу. Авторское право территориально: закон одной страны регулирует действия, совершённые на её территории. Обучение Stable Diffusion физически происходило не в Великобритании. По этой причине Getty отозвала в ходе процесса свою изначальную претензию о «первичном нарушении» — претензию именно к самому акту обучения модели на её изображениях без лицензии. Это решающий момент, который легко потерять при пересказе заголовками: британский суд не оценивал и не мог оценить вопрос «законно ли обучать модель на чужих изображениях без лицензии» как таковой, потому что сам этот вопрос был снят с рассмотрения истцом по причинам юрисдикции, а не решён против истца по существу. Разбирательство продолжилось только по узкому остатку претензий — так называемому «вторичному нарушению»: является ли сама обученная модель, ввезённая и используемая на территории Великобритании, «копией» произведений.</a:t>
            </a:r>
          </a:p>
          <a:p>
            <a:r>
              <a:t/>
            </a:r>
          </a:p>
          <a:p>
            <a:r>
              <a:t>Второй элемент — именно на этот узкий вопрос суд ответил, и ответил отрицательно. Закон Великобритании об авторском праве — Copyright, Designs and Patents Act 1988, или CDPA, базовый статут страны в этой области, — требует для признания произведения «копией» узнаваемого воспроизведения оригинального произведения, в котором оно материально воплощено. Суд установил, что веса обученной модели — числовые параметры, получившиеся в результате статистического обучения на миллиардах изображений, — это не «сохранённая копия и не реконструкция» фотографий Getty, а статистически обученные параметры принципиально иной природы. Поясню на языке, понятном инженеру без юридического образования: обучение нейросети на изображении не работает как архивирование файла, из которого можно восстановить исходный байт за байтом. Процесс обучения корректирует миллиарды весов на микроскопическую величину под влиянием каждого изображения в батче, и после обучения на миллиардах изображений ни один из весов не «содержит» какое-то одно конкретное исходное изображение в том смысле, в каком жёсткий диск содержит файл. Суд провёл эту границу явно: зависимость — не то же самое, что воспроизведение, и закон требует именно второго. Отсюда практическое следствие: по этому направлению претензии лицензия вообще не требовалась — не потому, что цена оказалась ниже расчётной ($30,75 млн или $1,6 млрд с прошлого кадра), а потому, что сам товар, против которого выдвинута претензия, по этому вердикту не подпадает под определение объекта, которым можно нарушить авторское право.</a:t>
            </a:r>
          </a:p>
          <a:p>
            <a:r>
              <a:t/>
            </a:r>
          </a:p>
          <a:p>
            <a:r>
              <a:t>Оговорка, без которой это рассуждение превращается в слишком гладкую историю. Утверждение «веса модели в общем случае не содержат узнаваемой копии обучающего изображения» статистически верно и не универсально. Отдельная, хорошо документированная область исследований занимается извлечением обучающих данных — «утечкой памяти» генеративных моделей: при определённых условиях, когда одно и то же изображение дублируется в корпусе или запрос почти дословно совпадает с подписью к обучающему изображению, диффузионную модель удаётся заставить сгенерировать результат, почти пиксель-в-пиксель совпадающий с конкретным обучающим примером. Это продемонстрировано систематически в 2023 году и с тех пор многократно воспроизведено — не опровергает решение британского суда по конкретным доказательствам Getty, но показывает: граница между «статистическая зависимость, не копия» и «почти дословное воспроизведение, копия» существует не как бинарный факт о диффузионных моделях вообще, а как эмпирический вопрос о конкретном изображении и частоте его повторения.</a:t>
            </a:r>
          </a:p>
          <a:p>
            <a:r>
              <a:t/>
            </a:r>
          </a:p>
          <a:p>
            <a:r>
              <a:t>И здесь стоит назвать то, чего в этом рассуждении нет, явно. В праве США у компаний, обучающих модели на чужих данных, есть доктрина добросовестного использования — гибкий четырёхфакторный тест, который чаще всего фигурирует в американских делах о генеративном ИИ. В праве Великобритании прямого аналога fair use нет вовсе — есть узкий список «добросовестных практик» для критики, пародии, новостной работы, и обучение модели в этот список не входит. Stability AI выиграла в Великобритании не потому, что суд счёл обучение «добросовестным использованием» — такого довода там в принципе не могло быть, — а потому, что решающая претензия была снята с рассмотрения на стадии юрисдикции, а оставшаяся не прошла по чисто техническому определению понятия «копия». Инженер, слышавший только заголовок «Stability выиграла суд об авторских правах на ИИ», рискует вынести неверный урок: будто где-то официально установлено, что обучать модели без лицензии законно по существу. Это не так — вопрос остаётся открытым и в британском праве, и тем более в праве США, где параллельная ветвь того же спора всё ещё не завершена.</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Третий элемент разбора — узкое поражение Stability AI по товарному знаку, которое часто выпадает из пересказа. Суд установил, что ранние версии Stable Diffusion могли в ограниченном числе случаев сгенерировать изображения с водяными знаками Getty или iStock, дочернего бренда Getty — то есть модель воспроизводила не содержание фотографий, а узнаваемый логотип агрегатора, попавший в обучающие данные вместе с самими изображениями. Но суд счёл это обстоятельство «ограниченным» и «историческим»: фильтрация в более поздних версиях модели существенно снизила частоту такого воспроизведения, и суд не нашёл ущерба различительной способности товарного знака, его репутации или недобросовестного извлечения выгоды — условий, необходимых для полного признания нарушения. Итог по этому узкому направлению: формальное нарушение признано, но без практических правовых последствий в виде компенсации или запрета.</a:t>
            </a:r>
          </a:p>
          <a:p>
            <a:r>
              <a:t/>
            </a:r>
          </a:p>
          <a:p>
            <a:r>
              <a:t>Собранный итог шага три, одной фразой для дальнейшей ссылки: Getty не выиграла, Stability AI не выиграла полностью, и решающий вопрос — законно ли обучать модель на чужих изображениях без лицензии — остался юридически не рассмотренным в этой юрисдикции, потому что истец сам снял его с рассмотрения, столкнувшись с территориальным пределом применимости закона. Это решение первой инстанции; в январе 2026 года Getty получила от суда разрешение на апелляцию — то есть даже узкий вопрос, который суд всё-таки рассмотрел и по которому Stability AI выиграла, может быть пересмотрен вышестоящей инстанцией. Называть этот вердикт «окончательной победой ИИ над правообладателями» преждевременно по двум независимым причинам: он не касался главного вопроса, и он ещё не прошёл апелляцию.</a:t>
            </a:r>
          </a:p>
          <a:p>
            <a:r>
              <a:t/>
            </a:r>
          </a:p>
          <a:p>
            <a:r>
              <a:t>Параллельная ветвь того же спора в США — тот самый вопрос, который британский суд не рассматривал, там как раз рассматривается, и там дело идёт иначе. Getty подала практически идентичный по фактам иск в американский суд отдельно от британского — это два самостоятельных процесса, не апелляционная инстанция друг для друга. В апреле 2026 года американский судья в основном отклонил ходатайство Stability AI о прекращении дела без рассмотрения по существу — процессуальный шаг, которым ответчик просит суд закрыть дело на раннем этапе, обычно на основании того, что даже если всё заявленное истцом верно, закон всё равно не на его стороне. То есть дело продолжается, а не закрывается. Устояли ключевые претензии — по авторскому праву, по товарному знаку, по недобросовестной конкуренции; не устояла только одна узкая претензия — по удалению информации об управлении авторскими правами, отдельное нарушение по американскому закону о цифровых авторских правах, — и даже она отклонена без ущерба для права Getty подать её заново. Практическое значение для инженера: именно в США, где действительно существует гибкая доктрина добросовестного использования, которой нет в Великобритании, и предстоит ответ на вопрос «законно ли обучать модель на чужих изображениях без лицензии» по существу — но этот ответ ещё не получен. Дело на стадии раскрытия доказательств, следующая процедурная встреча сторон — ноябрь 2026 года, даты судебного разбирательства по существу нет.</a:t>
            </a:r>
          </a:p>
          <a:p>
            <a:r>
              <a:t/>
            </a:r>
          </a:p>
          <a:p>
            <a:r>
              <a:t>Выбор юрисдикции для подачи иска в таких делах — не случайность и не техническая формальность: истец выбирает страну, где физически присутствуют ответчик или часть инфраструктуры, но внутри доступных вариантов может предпочесть юрисдикцию с более благоприятным для себя правовым режимом. У Великобритании нет гибкой доктрины добросовестного использования, которая могла бы защитить ответчика широким фактическим тестом, — зато в ней оказалось куда более узкое, формальное определение самого понятия «копия», которое на практике защитило ответчика не хуже. Предсказать заранее, какая юрисдикция окажется выгоднее для какой стороны спора об обучающих данных, не так просто, как кажется из одного новостного заголовка про «американское добросовестное использование» — конкретная техническая конструкция местного закона может сработать в пользу ответчика совершенно иным путём, чем ожидалось. После этого итога мы разберём, как технически устроено само обучение — через что именно 12,3 миллиона изображений Getty попали в корпус Stable Diffusion.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Как это устроено: вход, выход, имя изделия. Вход в обучение Stable Diffusion — не напрямую коллекция Getty, а промежуточный публичный датасет LAION-5B: набор примерно 5,85 миллиарда пар «изображение плюс текстовое описание», собранных автоматическим сканированием открытого интернета некоммерческой организацией LAION и опубликованных как общедоступный исследовательский ресурс, из которого впоследствии обучались несколько крупных моделей генерации изображений, включая Stable Diffusion. Getty утверждает, что внутри этого массива из 5,85 миллиарда пар примерно 12,3 миллиона — чуть больше 0,2% всего датасета — происходят из её собственных коллекций: это выявляется по совпадению метаданных, частично сохранившимся водяным знакам и прямому визуальному сравнению образцов. Выход — Stable Diffusion, модель генерации изображений по текстовому описанию, построенная на архитектуре диффузионных моделей, шаг за шагом убирающих шум из случайного изображения, направляя процесс текстовым запросом, опубликованная Stability AI в 2022 году и с тех пор выпущенная несколькими последовательными версиями. Называя изделие по имени, а не абстрактно «моделью»: именно открытая публикация весов Stable Diffusion, в отличие от моделей, доступных только через закрытый API, сделала возможным детальное техническое исследование того, что именно содержится в весах — то самое исследование, на которое обе стороны спора ссылались в суде, разбирая вопрос «содержат ли веса узнаваемое воспроизведение».</a:t>
            </a:r>
          </a:p>
          <a:p>
            <a:r>
              <a:t/>
            </a:r>
          </a:p>
          <a:p>
            <a:r>
              <a:t>Стоит сказать отдельно, как именно собирался сам промежуточный датасет, потому что именно этот шаг — точка, где лицензионный статус исходных изображений теряется технически, а не только юридически. LAION — некоммерческая исследовательская организация, которая не фотографирует и не создаёт изображения сама, а автоматически сканирует открытый интернет, в первую очередь общедоступный архив веб-страниц Common Crawl, в поисках пар «картинка плюс текст рядом с ней на странице» — обычно alt-текст или подпись из HTML-разметки. Из миллиардов найденных пар отбираются те, где текстовое описание и содержимое изображения действительно соответствуют друг другу — эту фильтрацию делает отдельная, заранее обученная модель CLIP, оценивающая семантическое сходство картинки и подписи числом; пары с низким сходством отбрасываются. Результат — открыто опубликованный список URL-адресов и текстовых описаний: сами файлы изображений датасет не хранит централизованно, он хранит только ссылки и инструкцию, как скачать картинку самостоятельно, — из которого исследовательские группы по всему миру, включая команду, связанную со Stability AI, скачивали изображения для обучения собственных моделей.</a:t>
            </a:r>
          </a:p>
          <a:p>
            <a:r>
              <a:t/>
            </a:r>
          </a:p>
          <a:p>
            <a:r>
              <a:t>Это объясняет, почему вопрос «лицензировано ли это изображение» в принципе не задавался на этапе сборки LAION-5B: сбор велся как чисто техническая процедура извлечения пар «картинка-текст» из уже общедоступных веб-страниц, без проверки лицензионного статуса каждой отдельной картинки, потому что ни объём — миллиарды пар, — ни инструментарий сборки не были рассчитаны на такую проверку. Getty обнаружила свои 12,3 миллиона изображений внутри этого массива постфактум, сопоставляя метаданные и визуальные признаки, в том числе частично сохранившиеся водяные знаки, о которых отдельно шла речь в разборе товарного знака, — а не потому, что кто-либо на этапе сборки датасета намеренно включил или исключил материал Getty из выборки.</a:t>
            </a:r>
          </a:p>
          <a:p>
            <a:r>
              <a:t/>
            </a:r>
          </a:p>
          <a:p>
            <a:r>
              <a:t>Эта механика объясняет и то, почему юрисдикционный довод из предыдущего разбора вообще работает: сам акт «скачивания и обучения» произошёл там, где физически стояли серверы и команда разработки, а не там, где Getty зарегистрирована как компания или где её изображения изначально были опубликованы, — и именно поэтому претензию к самому обучению пришлось отзывать по территориальному признаку. Устройство конвейера — Getty-коллекция в открытом вебе, скан и CLIP-фильтр LAION, обученная на результате Stable Diffusion — это не три отдельных решения трёх разных акторов с умыслом каждого, а одна техническая цепочка, в которой проверка лицензии не стояла нигде, потому что никто из участников цепочки не предполагал, что именно он отвечает за неё. Это ровно то структурное наблюдение, которое следующий кадр — что переехало в этом деле — превращает в вывод про риск для всей отрасли, а не только для одной компании.</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этого дела риск за нелицензированное обучающее использование творческих материалов лежал, по умолчанию, на рынке: если компания не лицензировала материал, на котором обучает модель, следующим шагом было бы, в теории, то, что правообладатель обнаружит использование и либо договорится о компенсации напрямую, либо не станет связываться с судебным процессом, цена и длительность которого непредсказуемы заранее. После этого дела — и двух других направлений, которые разберём дальше — риск явно переехал в суд: кто первым подал иск и довёл его до вердикта, тот и формирует прецедент, которым руководствуются все остальные компании отрасли при оценке собственного риска, независимо от того, обучали ли они свои модели похожим образом. Это не абстракция: сразу после вердикта по делу Getty-Великобритания юридические обзоры отрасли начали анализировать его как прецедент для всех компаний, разрабатывающих генеративные модели в Великобритании или с расчётом на дистрибуцию там, а не только для Stability AI лично.</a:t>
            </a:r>
          </a:p>
          <a:p>
            <a:r>
              <a:t/>
            </a:r>
          </a:p>
          <a:p>
            <a:r>
              <a:t>Но важнее другое, и это прямое следствие всего набора дел этого раздела, не только британского: у отрасли нет единого ответа на вопрос, что делать с риском нелицензированного обучения. Часть компаний выбрала стратегию урегулирования: Universal Music Group и Warner Music Group заключили с Udio соглашение о лицензировании постфактум по модели роялти $0,002-0,005 за одну сгенерированную композицию — то есть признали прошлое использование, но превратили его в постоянный, предсказуемый источник небольшого дохода вместо попытки получить разовую компенсацию через суд. Часть компаний выбрала противоположную стратегию: Sony Music Entertainment продолжает судиться и против Suno, и против Udio, добиваясь компенсации, которая на порядки превышает согласованные конкурентами роялти-ставки. Одно и то же техническое явление — обучение модели на нелицензированной музыке — получило от трёх разных мейджор-лейблов три разных ответа. Полный состав этой развилки, по именам и датам, — на следующем кадре; здесь важна сама логика, почему она вообще раскалывает отрасль, а не подводит её к одному решению.</a:t>
            </a:r>
          </a:p>
          <a:p>
            <a:r>
              <a:t/>
            </a:r>
          </a:p>
          <a:p>
            <a:r>
              <a:t>Почему settlement вообще оказывается рациональным выбором — логику стоит проговорить явно, а не оставить ощущение, что урегулировавшиеся лейблы просто сдались. У судебного процесса по интеллектуальной собственности в этой области есть три источника неопределённости одновременно: неизвестен итоговый вердикт — выиграет истец или ответчик; неизвестны сроки — многолетняя тяжба с апелляциями обычное дело, что подтверждает и само дело Getty-Великобритания, получившее разрешение на апелляцию уже после вердикта первой инстанции; и неизвестен размер реально присуждённой компенсации даже при победе истца — суд редко присуждает весь статутный максимум. Роялти-соглашение убирает все три источника неопределённости разом: сумма за одну генерацию известна заранее, выплаты начинаются немедленно, а не через годы судебного процесса, и соглашение обычно сопровождается доступом к данным об объёме фактического использования каталога лейбла внутри сервиса — информационной прозрачностью, которую тяжба предоставить не может в принципе. Для сервиса генерации музыки встречная логика не менее рациональна: предсказуемая переменная издержка в несколько тысячных доллара на одну генерацию закладывается в экономику продукта так же, как стоимость облачных вычислений, тогда как неурегулированный иск — непредсказуемая угроза самому существованию компании.</a:t>
            </a:r>
          </a:p>
          <a:p>
            <a:r>
              <a:t/>
            </a:r>
          </a:p>
          <a:p>
            <a:r>
              <a:t>Решение судиться, а не соглашаться, тоже рационально — но по другой логике: компания с достаточным запасом капитала и уверенностью в юридической позиции может рассчитывать, что полная победа в суде, или выгодное урегулирование непосредственно перед вердиктом, принесёт либо нулевую компенсацию правообладателю, либо условия выгоднее тех, что были доступны на раннем этапе спора. Обе стратегии — settle и sue — внутренне последовательны, и именно поэтому отрасль расколота: у каждой компании свой расчёт вероятностей и свой аппетит к риску, а не у одних расчёт верный, а у других ошибочный. С этим разбор Getty против Stability AI закрыт; дальше — два направления, у которых итога нет вовсе, и которые нельзя подгонять под форму «разбора с результатом», которой они физически ещё не достигли.</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Разбор Getty-Великобритания — единственный в этом разделе, у которого есть реальный судебный вердикт первой инстанции. Два других направления разбирательств по обучающим данным, которые эта глава обязана упомянуть ради полноты картины, пока не имеют итога — и это стоит сказать прямо, а не подгонять их под форму «разбора с результатом», которой они физически ещё не достигли.</a:t>
            </a:r>
          </a:p>
          <a:p>
            <a:r>
              <a:t/>
            </a:r>
          </a:p>
          <a:p>
            <a:r>
              <a:t>Иск NYT против OpenAI и Microsoft подан в декабре 2023 года; по состоянию на октябрь 2026 года дело находится на стадии решения в порядке упрощённого производства — стороны подали суду доводы о том, можно ли решить дело без полноценного разбирательства по фактам, и решения по существу ещё нет. Собственная расчётная ставка истца — $10 за статью, применённая к заявленным 16 миллионам с лишним записей, использованных при обучении, даёт теоретическую сумму около $160 млн. Это цифра, которую сам истец предложил суду как один из возможных методов расчёта ущерба, а не присуждённая компенсация и не оценка, согласованная ответчиком. У иска есть отдельная, куда более пугающая цифра — статутные максимумы до $150 000 за произведение, применённые к более чем 10,8 миллионам произведений, заявленных всеми истцами по новостным делам совокупно: 10,8 млн × $150 000 даёт потолок свыше $1,62 триллиона. Но этот потолок статутный — установленный законом как верхняя граница возможной компенсации за злостное нарушение, — а не оценка, которую кто-либо всерьёз рассчитывает получить по каждому произведению. Называть эту цифру без пометки «статутный максимум, не прогноз» значило бы повторить ту же ошибку, от которой предостерегает весь этот раздел: принимать теоретический потолок за реальную цену.</a:t>
            </a:r>
          </a:p>
          <a:p>
            <a:r>
              <a:t/>
            </a:r>
          </a:p>
          <a:p>
            <a:r>
              <a:t>Для сравнения с рыночной альтернативой: в мае 2024 года, за несколько месяцев до начала судебного процесса, компания News Corp — владеющая Wall Street Journal, New York Post, The Times и The Sun среди прочих изданий — заключила с OpenAI коммерческое лицензионное соглашение на сумму до $250 млн за пять лет. За портфель изданий, количественно кратно превышающий объём контента одного NYT, рынок уже оценил лицензирование контента для обучения ИИ значительно дешевле за единицу произведения, чем требует иск NYT, если считать расчётную ставку истца буквально. Этот контраст — $250 млн за пять лет за портфель из нескольких крупных изданий против теоретических $160 млн и больше за один NYT по расчёту истца — и есть расхождение между ценой, которую устанавливает рынок добровольными переговорами, и ценой, которую запрашивает сторона судебного процесса. Обе цифры реальны по-своему: одна — реально заключённая сделка, другая — реально заявленная позиция в суде, но это две разные по природе величины, и равнять их как одну «рыночную цену» значило бы допустить ту же ошибку счёта, от которой предостерегает весь этот раздел.</a:t>
            </a:r>
          </a:p>
          <a:p>
            <a:r>
              <a:t/>
            </a:r>
          </a:p>
          <a:p>
            <a:r>
              <a:t>Отдельный, не менее показательный эпизод того же дела — спор о раскрытии доказательств, а не о содержании иска, и он сам по себе урок о цене установления фактов. В ходе процесса суд обязал OpenAI передать стороне истца 20 миллионов записей логов ChatGPT — обезличенных диалогов пользователей, которые, по мнению истцов, могут содержать случаи, когда модель дословно воспроизводит текст статей NYT в ответ на запросы. OpenAI оспаривала требование, ссылаясь на конфиденциальность пользователей, не являющихся стороной спора; судья подтвердил требование, обязав обезличить логи перед передачей. Это показывает две вещи: установление самого факта «воспроизводит ли модель охраняемый текст» требует ресурсоёмкого, многомесячного раскрытия доказательств в масштабе десятков миллионов записей, и у самого судебного разбирательства есть побочная цена — конфиденциальность миллионов не участвующих в споре пользователей становится предметом судебного компромисса. И в отличие от британского дела, довод «статистическая зависимость, не воспроизведение» сюда не переносится автоматически: NYT утверждает, что у неё есть конкретные примеры почти дословного совпадения вывода модели с текстом статьи, а не только статистического влияния — и именно эта фактическая претензия ещё не прошла проверку судом.</a:t>
            </a:r>
          </a:p>
          <a:p>
            <a:r>
              <a:t/>
            </a:r>
          </a:p>
          <a:p>
            <a:r>
              <a:t>Стоит назвать и третью архитектуру ответа на тот же вопрос, рядом с узким британским определением «копии» и гибким американским fair use — европейскую. Директива ЕС о едином цифровом рынке вводит исключение для интеллектуального анализа текста и данных: обучающий анализ разрешён без отдельной лицензии, но с правом правообладателя на машиночитаемый отказ (opt-out). Это третья, непохожая на первые две архитектура: вместо спора постфактум — заранее установленное правило «можно, если не сказано нельзя». Три разных ответа на один вопрос на 2026 год, и ни один не очевидно универсален.</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Кластер RIAA против Suno и Udio устроен сложнее бинарного «кто-то выиграл, кто-то проиграл» — он распадается на четыре отдельные ветки, и любое упрощение до одной фразы искажает картину. Прежде чем назвать имена — кто на самом деле истец: RIAA, Recording Industry Association of America, это отраслевая ассоциация звукозаписывающих лейблов США, а не сторона ни в одном из этих дел; RIAA лишь публично анонсировала подачу исков пресс-релизом от имени своих членов. Истцами во всех четырёх ветках выступают сами мейджор-лейблы — Universal Music Group, Sony Music Entertainment и Warner Music Group, — и таблица на кадре посчитана именно по ним, а не по RIAA как единой стороне: у ассоциации нет собственной судебной позиции, отдельной от трёх компаний, которые в неё входят и судятся — или не судятся — каждая по своему расчёту.</a:t>
            </a:r>
          </a:p>
          <a:p>
            <a:r>
              <a:t/>
            </a:r>
          </a:p>
          <a:p>
            <a:r>
              <a:t>Три лейбла, два ответчика, шесть ячеек в этой таблице — и ни одна строка не повторяет другую целиком. Warner урегулировала с обоими. Sony судится с обоими. Universal урегулировала с одним и продолжает судиться со вторым. Если искать здесь единую отраслевую позицию «как мейджор-лейблы относятся к генеративным музыкальным моделям», её попросту нет: решение каждой компании — индивидуальный расчёт её собственного юридического отдела и переговорной позиции, а не следование общей линии индустрии звукозаписи. Это не пробел в исследовании — это снимок того, как выглядит отрасль, когда правовой вопрос ещё не закрыт и каждый крупный игрок делает свою ставку самостоятельно.</a:t>
            </a:r>
          </a:p>
          <a:p>
            <a:r>
              <a:t/>
            </a:r>
          </a:p>
          <a:p>
            <a:r>
              <a:t>Против Suno иск подан в федеральном суде округа Массачусетс в июне 2024 года тремя мейджор-лейблами совместно, первоначально по 560 конкретным записям. Warner урегулировала и вышла из этого иска в ноябре 2025 года. Universal и Sony продолжают тяжбу; в мае 2026 года они попытались расширить иск с 560 до 61 026 опознанных произведений, найденных в ходе раскрытия доказательств — получив по решению суда доступ к внутренним данным Suno и обнаружив там свои записи в куда большем количестве, чем было известно на момент подачи. Судья 18 августа 2026 года отклонил эту попытку расширения без ущерба для права переподать. В сентябре 2026 года Sony и Universal подали второй, отдельный иск против новой версии модели — Suno V6. Решение по защите добросовестного использования ожидалось летом 2026 года; на октябрь 2026 решения по существу не найдено — дело активно, но не завершено.</a:t>
            </a:r>
          </a:p>
          <a:p>
            <a:r>
              <a:t/>
            </a:r>
          </a:p>
          <a:p>
            <a:r>
              <a:t>Четыре фактора доктрины добросовестного использования в праве США встречаются здесь с конкретными фактами: цель и характер использования, природа оригинала, объём использованной части, влияние на рынок оригинала. Suno и Udio строят защиту на первом факторе: обучение не копирует и не замещает ни одну отдельную песню, а извлекает статистические закономерности звучания — трансформативное использование, в том же смысле, в каком суды США ранее признавали трансформативным индексирование книг поисковыми системами. Лейблы отвечают четвёртым фактором: сервис, прямой функцией которого является генерация новой музыки по запросу, по определению конкурирует с рынком сбыта оригинальных записей — в отличие от книжного поиска, который не заменяет чтение книги. Какой довод возобладает — вопрос, ответа на который по существу ещё нет.</a:t>
            </a:r>
          </a:p>
          <a:p>
            <a:r>
              <a:t/>
            </a:r>
          </a:p>
          <a:p>
            <a:r>
              <a:t>Против Udio иск подан в федеральном суде Южного округа Нью-Йорка, тоже в 2024 году. Universal урегулировала 29 октября 2025 года — именно это соглашение дало роялти-ставку $0,002-0,005 за генерацию, не единоразовый платёж. Warner тоже урегулировала примерно в то же время. Sony — единственный из трёх, кто продолжает судиться с Udio: в июле 2026 года подала отдельный иск с 30 117 конкретно поимёнованными записями.</a:t>
            </a:r>
          </a:p>
          <a:p>
            <a:r>
              <a:t/>
            </a:r>
          </a:p>
          <a:p>
            <a:r>
              <a:t>Любопытная деталь, показывающая, что спор не статичен: в сентябре 2026 года Suno выпустила Suno V6, построенную, по заявлению самой компании, на лицензированных данных в партнёрстве с частью той же индустрии, которая её судит, включая Warner Music, с которой уже урегулировано, BMG и независимый дистрибьютор Believe. Одна и та же компания одновременно защищается в суде за прошлое использование нелицензированных данных и строит будущую версию на лицензированной основе — не по решению суда, а потому что урегулирование с частью индустрии открыло коммерческий путь, которого не было на момент основания компании.</a:t>
            </a:r>
          </a:p>
          <a:p>
            <a:r>
              <a:t/>
            </a:r>
          </a:p>
          <a:p>
            <a:r>
              <a:t>И два числа для масштаба. Утечка инфраструктуры Suno (затронувшая порядка 55 млн пользователей) раскрыла, что модель обучалась на свыше 383 000 часов музыки из идентифицируемых источников, включая файл с 2 013 545 отдельными клипами из одного YouTube Music; сама компания признала в суде, что обучалась «практически на всех музыкальных файлах разумного качества, доступных в открытом интернете». И если бы отклонённая попытка расширения иска против Suno до 61 026 произведений была одобрена и истцы выиграли максимальную статутную компенсацию по $150 000 за произведение, теоретический потолок составил бы свыше $9 млрд — нигде не присуждённая цифра, приведённая только для того, чтобы показать разброс со ставкой $0,002-0,005 за генерацию, реально согласованной рынком: разница в те же три-четыре порядка, которые эта глава находит на разном материале снова и снова.</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Соберём то, что произошло в этом разделе, в термины словаря форм, который глава ведёт на протяжении всех разделов. Прежде чем перейти к формам — одна строка, возвращающая раздел к оси всей главы. Лицензия — это тоже узнавание, только не узнавание автора конкретного артефакта, как в разделе о редакционном контроле, а узнавание происхождения материала, из которого артефакт собран. Опт-тариф фотобанка, подпись композитора под договором, водяной знак на изображении, метаданные об управлении правами, за удаление которых отдельно наказывает закон, — всё это разные формы одного сигнала: «это можно использовать, потому что право на это подтверждено». Генеративная модель обнулила цену подделки узнавания автора раньше в этой главе; здесь она обнулила — во всяком случае, для узкого технического определения «копии» по британскому праву — саму необходимость подтверждать происхождение материала заранее, потому что то, что выходит из модели, статистически не равно ни одному входному изображению, и формальный повод спрашивать «а на что у тебя лицензия» исчезает вместе с исчезновением узнаваемой связи между входом и выходом. Та же логика обнуления сигнала, то же место на пути артефакта, где раньше это стоило бесплатно и работало — только валюта здесь не доверие читателя, а деньги правообладателя.</a:t>
            </a:r>
          </a:p>
          <a:p>
            <a:r>
              <a:t/>
            </a:r>
          </a:p>
          <a:p>
            <a:r>
              <a:t>Нагрузка переехала на закон. В классическом производстве вопрос «законно ли я использую этот материал» решался рынком: ценой лицензии, доступностью альтернативы, готовностью правообладателя договориться. В разобранных направлениях вопрос решается — или пока не решается — в суде, потому что рынок в его обычной форме, переговоры о цене до использования, был пропущен, и единственный оставшийся механизм прояснения цены — судебный процесс со своей логикой прецедента, юрисдикции и статутных максимумов, устроенной принципиально иначе, чем логика рыночных переговоров. Мейджоры раскололись по стратегии, и у одного и того же явления нет единого отраслевого ответа: таблица трёх лейблов и двух сервисов показала это буквально — три компании одной отрасли, одна и та же техническая причина спора, три разных набора решений. Это не частный случай одной музыкальной индустрии: та же развилка — settle или sue — видна в книгоиздании, в фотобанках, и будет видна в любой творческой индустрии, где модель обучалась на материале без лицензирования, а правообладатель обнаружил это постфактум.</a:t>
            </a:r>
          </a:p>
          <a:p>
            <a:r>
              <a:t/>
            </a:r>
          </a:p>
          <a:p>
            <a:r>
              <a:t>Второй якорь рефрена «три-четыре порядка». Раздел 1 этой лекции измерил этот разрыв на стороне производства — сколько стоило сделать единицу контента вручную против того, сколько стоит сгенерировать её моделью. Этот раздел меряет тот же порядок разрыва на стороне оплаты прав: стоковая музыкальная лицензия $20-100 за трек против согласованной постфактум ставки $0,002-0,005 за генерацию — разрыв от четырёх до пятидесяти тысяч раз, те же три-четыре порядка, в точности тот диапазон, что и на стороне производства. Это не совпадение одного измерения на одном материале: один и тот же количественный разрыв возникает дважды, с разных сторон одной сделки — сначала как «сколько стоит сделать», потом как «сколько стоит право это делать». Отдельно, и не смешивая с этим рефреном: разрыв между статутным потолком закона (сотни миллиардов и триллионы теоретического максимума что у NYT, что у RIAA-кластера) и реально согласованной ставкой рынка — семь-восемь порядков, но это сравнение закона с рынком, а не классики с ИИ, и его нельзя складывать с основным рефреном в одну цифру.</a:t>
            </a:r>
          </a:p>
          <a:p>
            <a:r>
              <a:t/>
            </a:r>
          </a:p>
          <a:p>
            <a:r>
              <a:t>Появился новый способ лицензирования, которого в классическом прейскуранте не было вовсе — роялти за генерацию: цена привязана не к факту использования произведения, а к каждому акту генерации нового контента на его основе, и сумма растёт или падает вместе с популярностью сервиса, а не фиксируется при подписании. Это ближе по структуре к стримингу, чем к стоковому лицензированию — и опыт музыкальной индустрии со стримингом, вероятно, объясняет, почему именно она адаптировала эту форму быстрее других.</a:t>
            </a:r>
          </a:p>
          <a:p>
            <a:r>
              <a:t/>
            </a:r>
          </a:p>
          <a:p>
            <a:r>
              <a:t>И пятая форма, которую стоит произнести явно в самом конце: цена, намеренно зафиксированная контрактом так, чтобы обнуление не состоялось. Голос и внешность — единственный материал всей этой главы, где форма устроена не как ответ на уже случившийся обвал цены, а как упреждающая защита от него: профсоюзное соглашение не снижает цену синтетической версии вслед за рынком, а поднимает её выше цены классической записи — результат переговорной силы профсоюза, а не свойство самой технологии. Поставьте это рядом с Adobe Firefly и с путём Suno: один и тот же выбор — договориться заранее или разбираться постфактум — встречается на этом материале трижды, тремя разными акторами, с тремя разными ценами за выбор реагировать, а не готовиться. Технический ответ на тот же разрыв — Content Credentials, криптографически подписанные метаданные происхождения, переносящие проверку с постфактум-реконструкции на встроенный, проверяемый в момент создания признак; решения это не даёт полностью, но показывает направление.</a:t>
            </a:r>
          </a:p>
          <a:p>
            <a:r>
              <a:t/>
            </a:r>
          </a:p>
          <a:p>
            <a:r>
              <a:t>С этим раздел 4 закрыт. Путь одного творческого артефакта пройден: кто-то или что-то его сделал, кто-то проверил и решил публиковать ли, аудитория отреагировала, и кто-то — или никто — заплатил за право на материал, из которого артефакт собран. Следующий раздел берёт тот же путь и спрашивает не про деньги за материал, а про людей, которые раньше весь этот путь проходили сами, своими руками — и что с их работой происходит теперь, когда часть шагов может пройти модель.</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Четыре раздела позади прошли один и тот же путь одной сделки: один конкретный заказ на изображение, трек, статью или голос — от замысла до оплаты. На каждом шаге этого пути стоял человек: фрилансер-дизайнер в разделе о производстве, редактор и инженер по данным в разделе о проверке, зритель и панель тестирования в разделе о приёме, юрист и правообладатель в разделе о лицензировании. Этот раздел задаёт про того же человека другой вопрос — не про одну сделку, а про всю его траекторию: что происходит с доходом и профессией человека, который производит такие артефакты регулярно, годами, в расчёте на накопленную репутацию.</a:t>
            </a:r>
          </a:p>
          <a:p>
            <a:r>
              <a:t/>
            </a:r>
          </a:p>
          <a:p>
            <a:r>
              <a:t>Кадровый рынок отрасли — это механизм, которым творческое производство решает, кому платить за труд: кого нанимают, кого держат в штате, кого оставляют фрилансером и по какой цене. Три источника дают ответ с разной точностью: официальная статистика фриланс-платформ, государственная статистика занятости по профессиям и корпоративная отчётность отдельных компаний — кто закрылся, кто сократил штат, кто обанкротился.</a:t>
            </a:r>
          </a:p>
          <a:p>
            <a:r>
              <a:t/>
            </a:r>
          </a:p>
          <a:p>
            <a:r>
              <a:t>Раздел стоит последним из пяти, разбирающих путь артефакта, не потому что он менее важен, а потому что он суммирующий. Предыдущие четыре раздела — моментальные снимки одной сделки. Этот раздел — снимок всей кривой заработка и занятости, которую такие сделки складывают во времени: если редакционная проверка не держит узнавание, если аудитория реагирует на факт подделки, а не на подлинность содержания, и если закон не даёт правообладателю однозначной защиты, то рынок труда — это то место, где все три эффекта складываются в одну цифру: сколько платят человеку, который раньше делал эту работу руками.</a:t>
            </a:r>
          </a:p>
          <a:p>
            <a:r>
              <a:t/>
            </a:r>
          </a:p>
          <a:p>
            <a:r>
              <a:t>Три разбора раздела идут от одного масштаба к другому. Первый — один прослеживаемый человек: иллюстратор Лада Чижова, чей открытый дневник на Substack даёт редкую возможность увидеть не абстрактную статистику, а конкретную судьбу. Второй — масса фрилансеров целой отрасли: официальная статистика крупнейшей в мире биржи найма Upwork, которая измеряет рост спроса на ИИ-навыки точно и честно признаёт, что падение спроса на традиционные навыки тем же способом не измерено. Третий — целая компания: Getty Images, которая поставила на карту $3,7 миллиарда, чтобы защититься слиянием от того же давления, и обанкротилась через полтора года, сама назвав это давление одной из причин краха. Три масштаба одного и того же вопроса: что происходит с ценой узнавания, когда её можно подделать бесплатно.</a:t>
            </a:r>
          </a:p>
          <a:p>
            <a:r>
              <a:t/>
            </a:r>
          </a:p>
          <a:p>
            <a:r>
              <a:t>Раздел закрывается коротким вопросом в чат: кто в зале лично почувствовал этот сдвиг рынка труда на себе или на близком коллеге — был сокращён, не нанят, или, наоборот, нанят именно на новую роль, собранную вокруг генеративной модели. Ответ не обязан разворачиваться в историю сразу: часть прозвучавших случаев стоит разобрать после первого же разбора, когда слова «курирование», «новая профессия» и «институциональный буфер» уже получат точное значение, а не будут восприниматься метафорой.</a:t>
            </a:r>
          </a:p>
          <a:p>
            <a:r>
              <a:t/>
            </a:r>
          </a:p>
          <a:p>
            <a:r>
              <a:t>Три источника дают данные для раздела с разной степенью точности, и об этом стоит сказать до самих разборов, а не после: официальная статистика фриланс-платформ показывает, кто нанимает кого и за сколько, но не показывает, кто перестал искать исполнителя вообще; государственная статистика занятости по профессиям показывает горизонт в десять лет, но не различает, ушёл ли специалист из профессии или сменил в ней задачу; а корпоративная отчётность отдельных компаний — кто закрылся, кто сократил штат, кто обанкротился — даёт самую конкретную, но и самую редкую точку данных: ровно один случай на один разбор. Раздел держит все три источника рядом сознательно, потому что ни один из них по отдельности не даёт полной картины: статистика платформ видит массу, но не видит отдельную судьбу; статистика занятости видит десятилетие, но не видит механизм; отчётность компании видит механизм одного конкретного краха, но не говорит, типичен ли он для отрасли в целом.</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Карьера дизайнера, иллюстратора, композитора или журналиста до 2022 года строилась на активе, который нельзя было купить за один день, — на портфолио, собранном годами практики. Фрилансер-дизайнер нарабатывал специализацию через десятки заказов, каждый из которых оставлял след: отзыв клиента, ссылку в портфолио, рекомендацию следующему заказчику. Иллюстратор годами вырабатывал узнаваемый стиль — то самое узнавание, вокруг которого строится вся эта лекция, только здесь оно работает не как подпись под статьёй, а как узнаваемый почерк, за который конкретный клиент готов переплачивать. Композитор нарабатывал портфолио треков для рекламных агентств и студий, и каждый следующий заказ стоил дороже предыдущего ровно потому, что список прошлых заказчиков рос. Журналист нарабатывал собственное имя под текстом — актив, который монетизировался напрямую: более дорогие издания, более высокие ставки за слово, приглашения на штатные позиции.</a:t>
            </a:r>
          </a:p>
          <a:p>
            <a:r>
              <a:t/>
            </a:r>
          </a:p>
          <a:p>
            <a:r>
              <a:t>Узнаваемость практики — не абстракция, а конкретный финансовый механизм. Начинающий фрилансер-дизайнер в 2026 году зарабатывает $15–35 в час, специалист среднего уровня — $25–60, эксперт с именем — $60–120 и выше. Разрыв между нижней и верхней границей этого диапазона — прямое денежное выражение узнавания: клиент платит не за час работы как таковой, а за гарантию, что результат будет того уровня, который этот конкретный исполнитель уже демонстрировал раньше.</a:t>
            </a:r>
          </a:p>
          <a:p>
            <a:r>
              <a:t/>
            </a:r>
          </a:p>
          <a:p>
            <a:r>
              <a:t>Порог, которым держался наём в этой модели, — решение «доверить ли этот заказ человеку», принятое до всякой оценки качества конкретной работы, просто по факту наличия у исполнителя подтверждённой истории. Следующие разборы раздела спрашивают, что стало с этим порогом теперь, когда вторая половина уравнения — быстрое, дешёвое производство — стала доступна без всякой истории заказов вообще.</a:t>
            </a:r>
          </a:p>
          <a:p>
            <a:r>
              <a:t/>
            </a:r>
          </a:p>
          <a:p>
            <a:r>
              <a:t>У этой модели была и институциональная сторона, не только рыночная. В музыкальной индустрии композитор, написавший трек для рекламы, регистрировал его в организации по сбору авторских отчислений — такая структура выплачивает автору небольшую, но регулярную сумму каждый раз, когда трек звучит в эфире или в публичном месте, и эта выплата идёт на имя конкретного зарегистрированного правообладателя мелодии. В журналистике то же узнавание защищала профессиональная этика издания: именованная подпись несла не только маркетинговую, но и дисциплинарную функцию — редакция могла проверить, кто именно написал спорный текст, и спросить с конкретного человека. Иллюстратор или дизайнер нередко работал через агентство, которое само выступало фильтром узнавания: агентство брало на себя репутационный риск, рекомендуя клиенту конкретного исполнителя, и зарабатывало на комиссии именно потому, что умело отличать надёжного исполнителя от ненадёжного раньше, чем это становилось очевидно по готовой работе.</a:t>
            </a:r>
          </a:p>
          <a:p>
            <a:r>
              <a:t/>
            </a:r>
          </a:p>
          <a:p>
            <a:r>
              <a:t>Карьерная лестница в журналистике в классической модели была лестницей именно по этому активу: от безымянных заметок к колонке с собственным именем, от регионального тиража к федеральному. Более дорогое издание продаёт рекламодателю и читателю не только текст, но и репутацию конкретных подписей под материалами.</a:t>
            </a:r>
          </a:p>
          <a:p>
            <a:r>
              <a:t/>
            </a:r>
          </a:p>
          <a:p>
            <a:r>
              <a:t>Все три института — отчисления по регистрации авторства, редакционная подпись, агентское посредничество — решали одну и ту же задачу: переносили проверку узнавания с каждого отдельного акта найма на систему, которая работала один раз и обслуживала множество последующих сделок. Это и есть «бесплатно и достаточно» в применении к рынку труда: однажды выстроенная репутация обслуживала контракт за контрактом без дополнительных затрат на повторную проверку. Следующие три разбора показывают, что происходит с рынком труда, когда вторая половина этого уравнения — дешёвое, быстрое производство без всякой истории — становится общедоступной, а институты узнавания с той же скоростью не меняются.</a:t>
            </a:r>
          </a:p>
          <a:p>
            <a:r>
              <a:t/>
            </a:r>
          </a:p>
          <a:p>
            <a:r>
              <a:t>**Источники.** </a:t>
            </a:r>
            <a:r>
              <a:rPr u="sng">
                <a:solidFill>
                  <a:srgbClr val="065A82"/>
                </a:solidFill>
                <a:hlinkClick r:id="rId3"/>
              </a:rPr>
              <a:t>designshifu.com, ставки фрилансеров 2026</a:t>
            </a:r>
            <a:r>
              <a:t> · </a:t>
            </a:r>
            <a:r>
              <a:rPr u="sng">
                <a:solidFill>
                  <a:srgbClr val="065A82"/>
                </a:solidFill>
                <a:hlinkClick r:id="rId4"/>
              </a:rPr>
              <a:t>gigradar.io, калькулятор почасовых ставок Upwork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Эту механику стоит заземлить на одной прослеживаемой судьбе, а не оставлять диапазоном ставок без лица. Лада Чижова — иллюстратор, начавшая называть себя так весной 2022 года, в тридцать один год, и переехавшая в том же году из Турции в Германию, — ведёт открытый дневник собственной практики на платформе Substack. В конце 2024 года она подвела итог года, который сама описывает как момент настоящего испуга: при сведении дохода против расходов обнаружился регресс настолько резкий, что первой мыслью было «я делаю что-то не так».</a:t>
            </a:r>
          </a:p>
          <a:p>
            <a:r>
              <a:t/>
            </a:r>
          </a:p>
          <a:p>
            <a:r>
              <a:t>Дело было не в падении мастерства и не в потере интереса к ремеслу: малый бизнес, прежде заказывавший у неё иллюстрации для рекламных материалов, обложек и оформления соцсетей, начал закрывать ровно ту же задачу генеративной моделью напрямую, без посредника. Это и есть порог найма в действии: решение «доверить заказ человеку» раньше принималось по факту наличия портфолио, а когда вторая половина уравнения — дешёвое, мгновенное производство без всякой истории заказов — стала общедоступной каждому мелкому заказчику, часть клиентов просто перестала доходить до этого решения вообще, потому что задача закрылась раньше, чем встал вопрос «кого нанять».</a:t>
            </a:r>
          </a:p>
          <a:p>
            <a:r>
              <a:t/>
            </a:r>
          </a:p>
          <a:p>
            <a:r>
              <a:t>Стоит удержать это различие явно: Чижова не стала хуже рисовать и не потеряла навык. Изменилось не её мастерство, а то, с чем оно конкурирует на рынке — не с другим иллюстратором, а с бесплатным по сути инструментом, доступным заказчику напрямую. Классический механизм отбора исполнителя — «кто уже показывал результат этого уровня» — требовал, чтобы у заказчика вообще был вопрос, кого нанять. Когда генеративная модель стала доступна без всякой истории заказов, часть мелких заказчиков этот вопрос себе больше не задаёт: задача закрывается внутри браузера за минуты, и до сравнения «нанять человека или не нанимать» дело не доходит.</a:t>
            </a:r>
          </a:p>
          <a:p>
            <a:r>
              <a:t/>
            </a:r>
          </a:p>
          <a:p>
            <a:r>
              <a:t>Это тот же кейс, который годом позже даёт неожиданный поворот — и он разбирается на следующем кадре отдельно, потому что год 2025-й Чижова сама называет «очень хорошим по доходу», и это не противоречие, а другая форма того же явления. Здесь же стоит зафиксировать именно момент провала: конкретный человек, конкретная профессия, конкретный источник падения дохода, названный самим человеком, пережившим его, а не реконструированный задним числом аналитиком. Такое прямое свидетельство первого лица в материале лекции встречается редко, и именно поэтому кейс выбран как заземление абстрактных ставок фриланса в конкретную судьбу: диапазон $15–120 в час с предыдущего кадра — это статистика рынка, а обвал дохода Чижовой в конце 2024 года — это то, как эта статистика выглядит изнутри одной практики.</a:t>
            </a:r>
          </a:p>
          <a:p>
            <a:r>
              <a:t/>
            </a:r>
          </a:p>
          <a:p>
            <a:r>
              <a:t>Стоит отдельно назвать, чего в этом кейсе институционально не было с самого начала: Чижова работает без агентства, как независимый фрилансер, выстраивающий репутацию напрямую через социальные сети и собственный блог. У неё не было того самого институционального буфера — агентского посредничества, — который для исполнителей, работающих через посредника, принимает часть репутационного риска на себя. Для исполнителя без такого буфера ответ на обвал спроса, который следующий кадр показывает в деталях, оказался не одним из нескольких доступных вариантов, а единственным.</a:t>
            </a:r>
          </a:p>
          <a:p>
            <a:r>
              <a:t/>
            </a:r>
          </a:p>
          <a:p>
            <a:r>
              <a:t>Стоит проговорить и то, почему этот кейс выбран именно на роль заземления, а не любой другой документированный случай вытеснения. Открытый дневник практики — редкость сама по себе: подавляющее большинство фрилансеров не публикует свои доходы и расходы в реальном времени, и большинство случаев вытеснения доходит до исследователя уже в пересказанном, агрегированном виде — как строка в чужой статистике, а не как слова самого человека. Здесь же момент испуга описан от первого лица, в момент, когда исход ещё не известен: конец 2024 года — это точка, в которой Чижова ещё не знает, что 2025-й окажется для неё хорошим по доходу годом. Именно эта неопределённость в момент записи и отличает такое свидетельство от пересказа задним числом: оно не подогнано под счастливый или несчастливый финал, а зафиксировано в момент, когда финал ещё не был известен.</a:t>
            </a:r>
          </a:p>
          <a:p>
            <a:r>
              <a:t/>
            </a:r>
          </a:p>
          <a:p>
            <a:r>
              <a:t>**Источник.** </a:t>
            </a:r>
            <a:r>
              <a:rPr u="sng">
                <a:solidFill>
                  <a:srgbClr val="065A82"/>
                </a:solidFill>
                <a:hlinkClick r:id="rId3"/>
              </a:rPr>
              <a:t>ladachizhova.substack.com — «Is it Hard to Be an Illustrator in 2026?»</a:t>
            </a:r>
            <a:r>
              <a:t>, 2026.</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 год та же Чижова называет «очень хорошим по доходу» — и именно эта формулировка важна сама по себе, а не только как трогательная деталь. Хороший год получился не потому, что спрос на иллюстрацию как ремесло вернулся к прежнему уровню, а потому, что доход оказался собран из источников, которых в её практике три года назад не было вовсе: мастер-классы, роспись стен и витрин, поддержка постоянных читателей блога, продажа оригиналов работ и открытый в 2026 году собственный магазин. По её собственной оценке, на момент публикации 70% её занятости — уже не иллюстрация в том смысле, в каком она занималась ремеслом в 2022–2023 годах; дословно: «очень трудно зарабатывать одной иллюстрацией, мне нужны побочные заработки».</a:t>
            </a:r>
          </a:p>
          <a:p>
            <a:r>
              <a:t/>
            </a:r>
          </a:p>
          <a:p>
            <a:r>
              <a:t>Это не история полного вытеснения — она по-прежнему называет себя иллюстратором и по-прежнему берёт заказы, — а именно та форма переезда нагрузки, которой посвящён весь раздел: тот же человек, то же имя, тот же актив узнавания, но структура занятости, которая прежде была почти целиком одним ремеслом, стала диверсифицированным портфелем из полудюжины источников дохода, в котором само ремесло — уже меньшинство.</a:t>
            </a:r>
          </a:p>
          <a:p>
            <a:r>
              <a:t/>
            </a:r>
          </a:p>
          <a:p>
            <a:r>
              <a:t>Стоит назвать и то, чего в этом кейсе институционально не было с самого начала: Чижова работает без агентства, как независимый фрилансер, выстраивающий репутацию напрямую через социальные сети и собственный блог — то есть у неё не было того самого институционального буфера, который для исполнителей, работающих через посредника, принимает часть репутационного риска на себя. Для исполнителя без такого буфера диверсификация источников дохода оказалась не одним из нескольких доступных ответов на обвал спроса, а единственным.</a:t>
            </a:r>
          </a:p>
          <a:p>
            <a:r>
              <a:t/>
            </a:r>
          </a:p>
          <a:p>
            <a:r>
              <a:t>Здесь стоит удержать два разных наблюдения, не сливая их в одно. Первое — её собственный акт труда не изменился вовсе: она по-прежнему рисует вручную ровно так же, как в 2022 году. Второе — изменилась доля этого акта в структуре занятости: там, где раньше иллюстрация была почти всем доходом, к 2026 году она — по её собственной оценке, около 30% занятости. Это та же форма переезда нагрузки, что встретится дальше в разделе на других примерах, — с исполнения на что-то другое, — но переехавшая часть здесь не акт труда внутри профессии, а структура занятости вокруг неизменного акта труда.</a:t>
            </a:r>
          </a:p>
          <a:p>
            <a:r>
              <a:t/>
            </a:r>
          </a:p>
          <a:p>
            <a:r>
              <a:t>Вопрос в зал стоит задать именно здесь и дождаться ответа, а не торопиться к следующему разбору: кто лично почувствовал этот сдвиг рынка труда на себе или на близком коллеге — вас или кого-то рядом сократили, не наняли, или, наоборот, наняли именно на новую, собранную вокруг генеративной модели роль? Короткий ответ, который вопрос допускает, — одно слово или фраза в чат: «да, меня», «да, коллегу», «нет, пока не коснулось». Ответы не обязаны разворачиваться в историю сразу: часть из них стоит разобрать позже, когда словарь форм даст язык, которым прозвучавшие истории можно будет назвать точнее, чем это получилось бы сейчас.</a:t>
            </a:r>
          </a:p>
          <a:p>
            <a:r>
              <a:t/>
            </a:r>
          </a:p>
          <a:p>
            <a:r>
              <a:t>Случай Чижовой стоит держать в памяти и дальше, за пределами этого раздела: в «Сборке» к нему вернутся с неудобной стороны — с той, с которой чек-лист критериев отказа сам по себе эту историю не ловит.</a:t>
            </a:r>
          </a:p>
          <a:p>
            <a:r>
              <a:t/>
            </a:r>
          </a:p>
          <a:p>
            <a:r>
              <a:t>Стоит сказать и о том, чего кейс Чижовой намеренно не утверждает, чтобы не превратить одну судьбу в закон для всей профессии. Один прослеживаемый человек не доказывает, что у каждого иллюстратора или дизайнера есть такой же запасной план — мастер-классы, роспись стен, открытый блог с постоянными читателями. У Чижовой эти источники дохода оказались доступны потому, что она уже вела публичный дневник практики и нарабатывала читательскую аудиторию годами до своего испуга конца 2024 года; у исполнителя без такой же заранее выстроенной публичной репутации диверсификация могла бы оказаться недоступна тем же способом. Это не ослабляет кейс, а уточняет его границы: Чижова показывает один работающий ответ на обвал спроса, а не гарантированный рецепт для всех, кто окажется в её положении, — и именно поэтому раздел держит рядом с её историей и статистику Upwork, которая говорит о массе, а не об одной удачно сложившейся судьбе.</a:t>
            </a:r>
          </a:p>
          <a:p>
            <a:r>
              <a:t/>
            </a:r>
          </a:p>
          <a:p>
            <a:r>
              <a:t>**Источник.** </a:t>
            </a:r>
            <a:r>
              <a:rPr u="sng">
                <a:solidFill>
                  <a:srgbClr val="065A82"/>
                </a:solidFill>
                <a:hlinkClick r:id="rId3"/>
              </a:rPr>
              <a:t>ladachizhova.substack.com — «Is it Hard to Be an Illustrator in 2026?»</a:t>
            </a:r>
            <a:r>
              <a:t>, 2026.</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прямой способ измерить, что происходит с кадровым рынком творческих профессий, — посмотреть на крупнейшую в мире площадку найма фрилансеров. Upwork публикует собственный отчёт «In-Demand Skills» ежегодно, и выпуск за февраль 2026 года, построенный на данных американского рынка площадки за 2025 год, даёт измеренную, атрибутированную цифру: навыки, связанные с ИИ, в целом выросли на 109% год к году. Внутри этой категории рост распределён неравномерно: генерация и монтаж видео с помощью ИИ выросли на 329% год к году — самая быстрорастущая категория на площадке вообще, — а генерация и редактирование изображений с помощью ИИ — на 95% год к году. На соседней площадке Fiverr то же явление: категория «ИИ-видео и анимация» выросла на 278%, а отдельная категория «кураторы Canva» — на 403%, причём само название категории уже говорит о сути: это не ручной дизайн, а курирование готовых ИИ-инструментов под задачу клиента.</a:t>
            </a:r>
          </a:p>
          <a:p>
            <a:r>
              <a:t/>
            </a:r>
          </a:p>
          <a:p>
            <a:r>
              <a:t>Стоит показать, чем конкретно занят такой куратор, чтобы понятие не осталось абстракцией. Заказчик приходит не с техническим заданием на отрисовку макета с нуля, а с набором разрозненных материалов — логотипом компании, несколькими референсами конкурентов, коротким текстовым брифом — и просит готовый комплект маркетинговых материалов к определённому сроку. Куратор не рисует каждый элемент вручную; он выбирает и настраивает шаблон внутри платформы, формулирует текстовые запросы к встроенным инструментам генерации изображений и текста, прогоняет несколько вариантов, бракует неподходящие по стилю и собирает финальный комплект из лучших частей нескольких генераций, вручную поправляя то, что генератор не смог сделать точно — ровное выравнивание логотипа, точный программный код фирменного цвета. Это заметно другой набор навыков, чем у иллюстратора из предыдущих кадров: меньше требований к ручному мастерству отрисовки, больше — к скорости принятия решения «этот вариант годится, этот нет» и к владению конкретным инструментом. Рост этой категории на 403% не говорит, что рисовать руками стало не нужно вовсе, — он говорит, что спрос на этот конкретный, собранный из кураторства набор навыков вырос в разы быстрее, чем на любой другой.</a:t>
            </a:r>
          </a:p>
          <a:p>
            <a:r>
              <a:t/>
            </a:r>
          </a:p>
          <a:p>
            <a:r>
              <a:t>Рост не ограничен двумя названными категориями. Та же публикация Upwork фиксирует рост категории «разметка данных для обучения моделей» на 154% год к году и категории «интеграция ИИ в существующие продукты» — на 178% год к году. Это важная деталь для словаря всего раздела: ни разметка данных, ни интеграция готовых моделей в чужой продукт не являются творческим трудом в том смысле, в котором его понимал фрилансер-дизайнер из предыдущих кадров, — это новый вид работы, возникший целиком вокруг обслуживания генеративных моделей, а не вокруг производства конечного творческого продукта. Рост в этих двух категориях — не свидетельство того, что дизайнеры и иллюстраторы массово переквалифицировались в разметчиков данных; это свидетельство того, что рынок труда платформы в целом смещается в сторону вспомогательных по отношению к моделям профессий, существование которых само зависит от продолжающегося спроса на генеративные модели.</a:t>
            </a:r>
          </a:p>
          <a:p>
            <a:r>
              <a:t/>
            </a:r>
          </a:p>
          <a:p>
            <a:r>
              <a:t>Стоит отдельно сказать, почему именно Upwork выбран опорой этого измерения, а не какая-либо другая площадка или опрос. Upwork — крупнейшая в мире биржа найма фрилансеров, и её собственная отчётность построена на данных реальных размещённых заказов и реально заключённых контрактов, а не на опросе мнений участников рынка о том, что, по их ощущению, происходит с их профессией. Это отличает такую статистику от материала, который встретится в следующем разделе на примере отечественного голосового ввода: там часть цифр — доля врачей, которые считают, что стало быстрее, а не измеренное время. Здесь же рост на 109%, 329% и 95% — это счёт реально оплаченных заказов в конкретных категориях навыков, а не субъективная оценка участников рынка. Разница между измеренным поведением и опрошенным мнением держит доказательную силу всего раздела, и её стоит называть явно каждый раз, когда материал переходит от одного типа данных к другому.</a:t>
            </a:r>
          </a:p>
          <a:p>
            <a:r>
              <a:t/>
            </a:r>
          </a:p>
          <a:p>
            <a:r>
              <a:t>Следующий кадр называет то, чего эти цифры честно не говорят, — и это не менее важная часть того же измерения.</a:t>
            </a:r>
          </a:p>
          <a:p>
            <a:r>
              <a:t/>
            </a:r>
          </a:p>
          <a:p>
            <a:r>
              <a:t>**Источники.** </a:t>
            </a:r>
            <a:r>
              <a:rPr u="sng">
                <a:solidFill>
                  <a:srgbClr val="065A82"/>
                </a:solidFill>
                <a:hlinkClick r:id="rId3"/>
              </a:rPr>
              <a:t>Upwork — «In-Demand Skills 2026», официальный отчёт</a:t>
            </a:r>
            <a:r>
              <a:t> · </a:t>
            </a:r>
            <a:r>
              <a:rPr u="sng">
                <a:solidFill>
                  <a:srgbClr val="065A82"/>
                </a:solidFill>
                <a:hlinkClick r:id="rId4"/>
              </a:rPr>
              <a:t>selfemployed.com,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Здесь стоит остановиться и назвать прямо то, чего цифры предыдущего кадра не говорят. Официальный отчёт Upwork не публикует симметричную цифру падения для традиционных, не-ИИ категорий дизайна и иллюстрации — он ограничивается качественной формулировкой «спрос остаётся сильным», без единого процента. Это не недосмотр исследования, а реальный пробел в данных, и предъявлять рост и падение одной парой процентов — «ИИ вверх на 109%, традиция вниз на N%» — значило бы добавить число, которого не существует.</a:t>
            </a:r>
          </a:p>
          <a:p>
            <a:r>
              <a:t/>
            </a:r>
          </a:p>
          <a:p>
            <a:r>
              <a:t>Единственная количественная опора для традиционной стороны взята из другого, не-Upwork-специфичного источника: Бюро статистики труда США, десятилетний прогноз занятости на 2025–2035 годы, предсказывает сокращение числа рабочих мест в профессии «графический дизайнер» по всей американской экономике на 2% за десять лет. Это не цифра с той же площадки и не за тот же период, что рост доли ИИ-вакансий на Upwork, — сравнивать их напрямую как «было / стало» методологически некорректно. Правильная подача раздельная: рост ИИ-категорий на фриланс-площадках измерен точно и впечатляюще; упадок традиционных категорий дизайна как профессии в целом — качественно правдоподобен и подтверждён единственной доступной количественной оценкой в −2% за десятилетие, взятой из другого среза данных и не предназначенной для прямого сопоставления.</a:t>
            </a:r>
          </a:p>
          <a:p>
            <a:r>
              <a:t/>
            </a:r>
          </a:p>
          <a:p>
            <a:r>
              <a:t>Есть и третий слой данных, который дисциплинирует интерпретацию первых двух. Сама площадка Upwork в 2025–2026 годах сжимается как бизнес: активная клиентская база упала на 6% за 2025 год, число новых объявлений о работе — на 19% год к году к 2026 году. Это классический случай, когда два измеренных числа расходятся и нужно проверять базу, а не делать вывод по первому впечатлению: падение числа заказов на площадке может означать вытеснение исполнителей генеративными моделями — а может означать, что сама площадка теряет клиентов по причинам, не связанным с ИИ вовсе: конкуренция других площадок, общее сжатие венчурного финансирования стартапов — традиционных заказчиков Upwork, макроэкономический цикл.</a:t>
            </a:r>
          </a:p>
          <a:p>
            <a:r>
              <a:t/>
            </a:r>
          </a:p>
          <a:p>
            <a:r>
              <a:t>Старая версия этого материала содержала цифру «−17,01% вакансий графического дизайна на Upwork после релиза инструментов генеративных изображений» — при повторной проверке источник этой цифры не переподтвердился: более свежий срез, июль 2026 года, показывает категорию «графический, редакционный и презентационный дизайн» как 6,8% всех вакансий площадки, 10 889 позиций, без явного сравнения год к году в том же источнике. Цифра снята из материала, а не исправлена на более скромную: канон запрещает число без проверяемой базы так же строго, как выигрыш без счёта.</a:t>
            </a:r>
          </a:p>
          <a:p>
            <a:r>
              <a:t/>
            </a:r>
          </a:p>
          <a:p>
            <a:r>
              <a:t>Что потребовалось бы измерить, чтобы закрыть этот пробел, стоит назвать явно — не как упрёк существующим отчётам, а как конкретную задачу для дальнейшего исследования. Нужны как минимум три независимых ряда данных, которых сегодня нет в одном источнике: число вакансий именно ручного, не-ИИ дизайна на той же площадке в сопоставимые периоды; контрольная группа площадок или сегментов рынка труда, не затронутых генеративными моделями, чтобы отделить эффект самой генерации от общего сжатия фриланс-экономики; и лонгитюдное наблюдение за одними и теми же специалистами — ушли ли они из профессии вовсе или переквалифицировались в курирование. Ни один из существующих отчётов 2026 года не даёт всех трёх рядов одновременно, и честная формулировка пробела — часть того же урока о суждении, которому посвящена вся лекция: там, где измерения не существует, его не домысливают, а называют задачей для следующего исследования.</a:t>
            </a:r>
          </a:p>
          <a:p>
            <a:r>
              <a:t/>
            </a:r>
          </a:p>
          <a:p>
            <a:r>
              <a:t>Честный итог по этой части материала: рынок труда творческих фрилансеров меняется измеримо на одной стороне и предположительно, но не измеримо — на другой. Это сама по себе форма переезда нагрузки — с исполнения на курирование, — и следующий разбор показывает ту же нагрузку на уровне целой компании, а не массы фрилансеров.</a:t>
            </a:r>
          </a:p>
          <a:p>
            <a:r>
              <a:t/>
            </a:r>
          </a:p>
          <a:p>
            <a:r>
              <a:t>**Источники.** </a:t>
            </a:r>
            <a:r>
              <a:rPr u="sng">
                <a:solidFill>
                  <a:srgbClr val="065A82"/>
                </a:solidFill>
                <a:hlinkClick r:id="rId3"/>
              </a:rPr>
              <a:t>U.S. Bureau of Labor Statistics, Occupational Outlook Handbook</a:t>
            </a:r>
            <a:r>
              <a:t> · </a:t>
            </a:r>
            <a:r>
              <a:rPr u="sng">
                <a:solidFill>
                  <a:srgbClr val="065A82"/>
                </a:solidFill>
                <a:hlinkClick r:id="rId4"/>
              </a:rPr>
              <a:t>tryvibeworker.com, отчёт о рынке труда Upwork, июль 2026</a:t>
            </a:r>
            <a:r>
              <a:t> · </a:t>
            </a:r>
            <a:r>
              <a:rPr u="sng">
                <a:solidFill>
                  <a:srgbClr val="065A82"/>
                </a:solidFill>
                <a:hlinkClick r:id="rId5"/>
              </a:rPr>
              <a:t>designcareers.aiga.org, 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Если Upwork даёт измерение на уровне массы индивидуальных фрилансеров, то этот разбор даёт то же измерение на уровне целой компании — и это самый свежий, самый сильный и при этом самый честный по отношению к собственной прежней ошибке материал всего раздела. Более ранняя версия этого исследования, составленная в мае 2026 года, описывала слияние Getty Images и Shutterstock как пример защитной консолидации отрасли в ответ на давление генеративных моделей — крупный, устоявшийся игрок укрупняется, чтобы выжить. На момент повторной проверки, девятью днями позже собственного банкротства компании, этот тезис оказался неверным не в деталях, а в самой сути: Getty Images не консолидировалась в ответ на ИИ — она попыталась защититься слиянием, попытка провалилась, и само ИИ-давление компания прямо называет среди причин своего краха.</a:t>
            </a:r>
          </a:p>
          <a:p>
            <a:r>
              <a:t/>
            </a:r>
          </a:p>
          <a:p>
            <a:r>
              <a:t>Разберём случай по форме, устойчивой для подробных разборов всей главы: цена риска, принятого компанией, до всякой точности исхода → классический режим, то есть что должно было произойти по плану → что произошло на самом деле, сопоставленное именно с этим планом, а не с нулём → устройство, то есть названные самой компанией причины → что переехало, то есть измеренный итог. Этот кадр закрывает первые два шага.</a:t>
            </a:r>
          </a:p>
          <a:p>
            <a:r>
              <a:t/>
            </a:r>
          </a:p>
          <a:p>
            <a:r>
              <a:t>Шаг 1. Цена ставки, названная до исхода. В январе 2025 года Getty Images и Shutterstock объявили о слиянии в формате сделки акциями на сумму около $3,7 млрд. Публичная формулировка сделки прямо называла причину: крупнейшие в мире стоковые библиотеки изображений объединяются перед лицом растущего давления генеративных моделей на их бизнес-модель лицензирования контента. Это и есть цена ставки — величина капитала, поставленного на карту защитной стратегии, названная заранее, а не задним числом.</a:t>
            </a:r>
          </a:p>
          <a:p>
            <a:r>
              <a:t/>
            </a:r>
          </a:p>
          <a:p>
            <a:r>
              <a:t>Структура сделки важна для того, чтобы правильно прочитать дальнейшие шаги. «Сделка акциями» означает, что акционеры Shutterstock получали бы не деньги, а акции объединённой компании Getty Images — то есть их благосостояние после сделки оказывалось напрямую привязано к будущей рыночной цене именно Getty Images. Это стандартная конструкция для слияний такого масштаба — она экономит компании-покупателю живые деньги и распределяет риск сделки между обеими сторонами, — но в этом конкретном случае она означает, что любой инвестор, рассуждавший о сделке в январе 2025 года, оценивал не «получу ли я фиксированную сумму», а «во что превратится эта доля, если объединённая компания не справится с тем самым давлением, ради защиты от которого сделка задумана».</a:t>
            </a:r>
          </a:p>
          <a:p>
            <a:r>
              <a:t/>
            </a:r>
          </a:p>
          <a:p>
            <a:r>
              <a:t>Шаг 2. Классический режим — что должно было произойти по плану. Логика слияния была логикой отраслевой консолидации: объединение двух крупнейших библиотек даёт переговорную силу при заключении лицензионных сделок с ИИ-компаниями на использование контента для обучения моделей, снижает затраты на приобретение и обработку контента за счёт масштаба и общей инфраструктуры, и даёт более сильную переговорную позицию против именно того давления, которое и называлось причиной сделки. Объявленная цель — экономия на издержках порядка $150–200 млн за три года. Это и есть графа классического режима — тот результат, который был посчитан и объявлен публично до того, как что-либо пошло не так.</a:t>
            </a:r>
          </a:p>
          <a:p>
            <a:r>
              <a:t/>
            </a:r>
          </a:p>
          <a:p>
            <a:r>
              <a:t>Стоит назвать и то, почему именно эта логика показалась разумной в январе 2025 года, а не только то, что она оказалась неверной задним числом. Две крупнейшие в мире стоковые библиотеки изображений, объединённые в одну компанию, формируют более концентрированное предложение на рынке лицензирования визуального контента для медиа, рекламы и корпоративного использования — а более концентрированное предложение традиционно даёт продавцу более сильную переговорную позицию при заключении любых крупных сделок. Именно эта логика рыночной концентрации и привлекла внимание регулятора: там, где компания видела защиту от одного риска, антимонопольный орган увидел другой риск — чрезмерную концентрацию предложения на рынке стоковых изображений как таковом, независимо от генеративных моделей. Что случилось дальше с этой конкретной ставкой — следующий кадр.</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Правильное сравнение здесь не «что было бы, если бы Getty вообще ничего не предпринимала», а «что случилось с тем конкретным планом, который компания выбрала». 15 мая 2026 года британский антимонопольный регулятор, Competition and Markets Authority, поставил условием одобрения сделки продажу всего редакционного бизнеса Shutterstock целиком — то есть фактически разрушение той самой синергии, ради которой сделка задумывалась. 30 июня 2026 года совет директоров Getty Images единогласно отказался на это пойти. 7 июля 2026 года слияние было официально расторгнуто.</a:t>
            </a:r>
          </a:p>
          <a:p>
            <a:r>
              <a:t/>
            </a:r>
          </a:p>
          <a:p>
            <a:r>
              <a:t>Дальше события ускорились. 29 сентября 2026 года биржа NYSE приостановила торги акциями Getty Images после падения цены до нескольких центов за акцию. 12–13 октября 2026 года — за девять дней до даты проверки этого материала — Getty Images подала заявление о защите от кредиторов по статье 11 Кодекса США о банкротстве, Chapter 11: это не ликвидация компании, а предварительно согласованная с кредиторами процедура реструктуризации долга, позволяющая списать часть обязательств и продолжить работу в изменённой структуре собственности. Сегодня, 21 октября 2026 года — в день, когда пишется этот материал, — Getty Images объявила параметры реструктуризации: семья Getty и Koch Equity Development, инвестиционное подразделение Koch Industries, вносят до $533 млн нового капитала, кредиторы списывают $270 млн необеспеченного долга, компания переходит в частную собственность.</a:t>
            </a:r>
          </a:p>
          <a:p>
            <a:r>
              <a:t/>
            </a:r>
          </a:p>
          <a:p>
            <a:r>
              <a:t>Ничего из этого не было частью плана, объявленного в январе 2025 года, и ничего из этого не случилось бы при любом разумном прочтении того плана. Сравнение корректно: не «ИИ разрушил бизнес с нуля», а «конкретная защитная ставка компании провалилась».</a:t>
            </a:r>
          </a:p>
          <a:p>
            <a:r>
              <a:t/>
            </a:r>
          </a:p>
          <a:p>
            <a:r>
              <a:t>Что означает сама конструкция реструктуризации, стоит назвать отдельно, а не оставить фразой «компания обанкротилась». Объявленная 21 октября 2026 года сделка — не просто «семья и фонд вложили деньги», а конкретная финансовая операция с именем: списание $270 млн необеспеченного долга в обмен на то, что прежние держатели этого долга получают долю в реструктурированной компании вместо денежного возврата — так называемый обмен долга на долю, стандартный механизм прекращения дела по Chapter 11, при котором кредиторы соглашаются простить часть обязательств в обмен на совладение бизнесом, а не на то, чтобы увидеть его ликвидацию и получить меньше при распродаже активов. Одновременно свежий капитал в $533 млн от семьи Getty и Koch Equity Development — это новые деньги, вложенные не в прежнюю, публично торгуемую компанию, а в частную структуру, которая из этого банкротства выйдет.</a:t>
            </a:r>
          </a:p>
          <a:p>
            <a:r>
              <a:t/>
            </a:r>
          </a:p>
          <a:p>
            <a:r>
              <a:t>Инженерный способ прочитать эту конструкцию: кредиторы предпочли меньшую, но вероятную долю в работающем бизнесе полному списанию при ликвидации, а новые инвесторы оценили компанию достаточно низко, после падения акций до нескольких центов, чтобы счесть вход по этой цене привлекательным — несмотря на то самое растущее давление ИИ-генерируемых изображений, которое компания сама назвала одной из причин кризиса на следующем кадре. Это и есть измеримая граница между «бизнес убит технологией» и «бизнес выжил, но на условиях, которые отражают новую, более низкую стоимость старой бизнес-модели»: компания продолжает существовать, но её собственники, структура капитала и рыночная оценка — не те, что были в январе 2025 года.</a:t>
            </a:r>
          </a:p>
          <a:p>
            <a:r>
              <a:t/>
            </a:r>
          </a:p>
          <a:p>
            <a:r>
              <a:t>Стоит зафиксировать темп этой хронологии отдельно, потому что он сам по себе несёт урок. От условия регулятора до официального расторжения прошло менее двух месяцев; от расторжения до остановки торгов — ещё менее трёх; от остановки торгов до заявления о банкротстве — две недели. План, рассчитанный на годы интеграции двух крупнейших библиотек изображений, развалился за один календарный квартал, как только первое звено цепочки — одобрение регулятора в заявленном виде — не сработало. Это важно держать в голове при переходе к следующему кадру: причины, которые компания назовёт сама, не возникли внезапно в октябре 2026 года — они копились всё то время, пока план защиты ещё считался действующим.</a:t>
            </a:r>
          </a:p>
          <a:p>
            <a:r>
              <a:t/>
            </a:r>
          </a:p>
          <a:p>
            <a:r>
              <a:t>**Источники.** </a:t>
            </a:r>
            <a:r>
              <a:rPr u="sng">
                <a:solidFill>
                  <a:srgbClr val="065A82"/>
                </a:solidFill>
                <a:hlinkClick r:id="rId3"/>
              </a:rPr>
              <a:t>ppc.land, остановка торгов NYSE</a:t>
            </a:r>
            <a:r>
              <a:t> · </a:t>
            </a:r>
            <a:r>
              <a:rPr u="sng">
                <a:solidFill>
                  <a:srgbClr val="065A82"/>
                </a:solidFill>
                <a:hlinkClick r:id="rId4"/>
              </a:rPr>
              <a:t>tipranks.com, расторжение слияния</a:t>
            </a:r>
            <a:r>
              <a:t> · </a:t>
            </a:r>
            <a:r>
              <a:rPr u="sng">
                <a:solidFill>
                  <a:srgbClr val="065A82"/>
                </a:solidFill>
                <a:hlinkClick r:id="rId5"/>
              </a:rPr>
              <a:t>money.usnews.com, 30.06.2026</a:t>
            </a:r>
            <a:r>
              <a:t> · </a:t>
            </a:r>
            <a:r>
              <a:rPr u="sng">
                <a:solidFill>
                  <a:srgbClr val="065A82"/>
                </a:solidFill>
                <a:hlinkClick r:id="rId6"/>
              </a:rPr>
              <a:t>news.designrush.com, Chapter 11</a:t>
            </a:r>
            <a:r>
              <a:t> · </a:t>
            </a:r>
            <a:r>
              <a:rPr u="sng">
                <a:solidFill>
                  <a:srgbClr val="065A82"/>
                </a:solidFill>
                <a:hlinkClick r:id="rId7"/>
              </a:rPr>
              <a:t>globenewswire.com, 21.10.2026</a:t>
            </a:r>
            <a:r>
              <a:t> · </a:t>
            </a:r>
            <a:r>
              <a:rPr u="sng">
                <a:solidFill>
                  <a:srgbClr val="065A82"/>
                </a:solidFill>
                <a:hlinkClick r:id="rId8"/>
              </a:rPr>
              <a:t>bloomberg.com, 21.10.2026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презентации для кредиторов, октябрь 2026 года, Getty Images сама назвала факторы, которые привели её к банкротству, и этот список — не домысел аналитиков, а собственное заявление компании: долговая нагрузка около $2,1 млрд, издержки несостоявшегося слияния — юридические и транзакционные расходы сделки, которая в итоге не состоялась, — судебные издержки, в том числе от процесса Getty Images против Stability AI в Великобритании, и, прямым текстом, «растущее давление изображений, сгенерированных ИИ» как один из названных факторов. Важно не упрощать этот список до одной причины: ИИ-давление здесь — один из нескольких факторов, перечисленных компанией наравне с долговой нагрузкой и судебными издержками, а не единственный виновник. Именно такое перечисление, где технология — один фактор среди нескольких, а не единственная причина, и есть честная форма материала о провалах и ограничениях ИИ: оно не обещает, что без ИИ всё было бы в порядке, и не преувеличивает роль генеративных моделей сверх того, что называет сама компания.</a:t>
            </a:r>
          </a:p>
          <a:p>
            <a:r>
              <a:t/>
            </a:r>
          </a:p>
          <a:p>
            <a:r>
              <a:t>Пара чисел, которая делает этот разбор измеримым, а не декларативным: год назад у Getty Images было 321 000 годовых подписчиков на контент; на октябрь 2026 года — 240 000. Это падение на 25% за один год, на фоне долга в $2,1 млрд и снижения выручки на 2,5%, до $229,1 млн за отчётный период. Это и есть ровно та пара «база → счётчик», которую требует канон для любого измеримого утверждения: было 321 тысячи, стало 240 тысяч, разница — четверть клиентской базы, исчезнувшей за двенадцать месяцев у компании, которая ещё в начале 2025 года ставила $3,7 млрд на план собственного выживания.</a:t>
            </a:r>
          </a:p>
          <a:p>
            <a:r>
              <a:t/>
            </a:r>
          </a:p>
          <a:p>
            <a:r>
              <a:t>Эта цена не остаётся внутри корпоративного баланса — она идёт дальше по тому же пути, который разбирает весь раздел. Getty Images — не только истец в суде и не только биржевой тикер, это ещё и посредник между десятками тысяч независимых фотографов-контрибьюторов и покупателями изображений: именно они отправляют в библиотеку компании снимки, получают процент с каждой лицензионной продажи и в этом смысле являются тем же классом исполнителей, что фрилансер-дизайнер из предыдущих кадров, только работающим не по прямому заказу, а через централизованного посредника узнавания. Процедура Chapter 11 прямо затрагивает именно эту сторону бизнеса: в самом соглашении о реструктуризации нет отдельного класса кредиторов-контрибьюторов и ни единого упоминания роялти вообще — единственное, что адресовано контрибьюторам напрямую, это одно прогнозное, юридически необязывающее предложение от самой компании: «мы не ожидаем влияния на контент-контрибьюторов, партнёров, клиентов или сотрудников», и источник справедливо называет это прогнозом, а не обещанием.</a:t>
            </a:r>
          </a:p>
          <a:p>
            <a:r>
              <a:t/>
            </a:r>
          </a:p>
          <a:p>
            <a:r>
              <a:t>Реальный механизм, защищающий выплаты в ближайшей перспективе, устроен косвенно: компания, проходящая реструктуризацию, обязана исполнять только те контракты, которые она сама решает сохранить — то есть только контракты, уже находящиеся в работе на момент процедуры, — и только до тех пор, пока новые частные собственники решают их сохранять; изменение тарифов после этого не требует одобрения суда вовсе, только тридцать дней уведомления. Это и есть третий, самый тихий адресат цены: не компания и не истец по суду, а тысячи отдельных фотографов, чей доход зависел от посреднического института, который теперь сам проходит через банкротство, — а задокументированный пробел в их собственной защите состоит не в молчании источников, а в молчании самого соглашения о реструктуризации.</a:t>
            </a:r>
          </a:p>
          <a:p>
            <a:r>
              <a:t/>
            </a:r>
          </a:p>
          <a:p>
            <a:r>
              <a:t>**Источники.** </a:t>
            </a:r>
            <a:r>
              <a:rPr u="sng">
                <a:solidFill>
                  <a:srgbClr val="065A82"/>
                </a:solidFill>
                <a:hlinkClick r:id="rId3"/>
              </a:rPr>
              <a:t>petapixel.com, 12.10.2026</a:t>
            </a:r>
            <a:r>
              <a:t> · </a:t>
            </a:r>
            <a:r>
              <a:rPr u="sng">
                <a:solidFill>
                  <a:srgbClr val="065A82"/>
                </a:solidFill>
                <a:hlinkClick r:id="rId4"/>
              </a:rPr>
              <a:t>photobusinessnews.substack.com, октябрь 2026</a:t>
            </a:r>
            <a:r>
              <a:t> · </a:t>
            </a:r>
            <a:r>
              <a:rPr u="sng">
                <a:solidFill>
                  <a:srgbClr val="065A82"/>
                </a:solidFill>
                <a:hlinkClick r:id="rId5"/>
              </a:rPr>
              <a:t>globenewswire.com, 21.10.2026</a:t>
            </a:r>
            <a:r>
              <a: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Стоит назвать отдельно, что именно изменилось в прочтении этого случая между майской версией исследования и октябрьской. Майская версия, написанная до того, как стало известно о срыве сделки и банкротстве, описывала то же слияние как пример того, как индустрия адаптируется к давлению ИИ через укрупнение: разумная, пусть и защитная, бизнес-стратегия. Октябрьская проверка не исправляет эту формулировку мелкой правкой — она меняет тезис целиком: защитная стратегия не адаптировалась, она провалилась, и ИИ-давление компания сама называет среди причин краха, а не среди решений. Это не мелкая фактическая неточность, а смена всего прочтения кейса, и то, что исследование само её нашло и исправило, прежде чем материал попал в лекцию, — часть того же урока о суждении, которому посвящена вся лекция: готовность признать собственную более раннюю оценку ошибочной при появлении новых фактов важнее, чем защита уже написанного текста.</a:t>
            </a:r>
          </a:p>
          <a:p>
            <a:r>
              <a:t/>
            </a:r>
          </a:p>
          <a:p>
            <a:r>
              <a:t>Getty Images — не единственная компания, которая выбирает укрупнение в ответ на технологическое давление, и урок этого случая не ограничивается стоковой фотографией. Логика «объединиться с конкурентом, чтобы получить переговорную силу против новой технологии» предполагает как минимум два условия, оба из которых не выполнились здесь. Во-первых, что регулятор одобрит объединение в том виде, в котором оно даёт заявленную переговорную силу — антимонопольный орган увидел в том же укрупнении риск, а не защиту. Во-вторых, что времени на получение одобрения и интеграцию хватит прежде, чем давление, от которого защищаются, успеет обесценить саму основу сделки. У Getty Images ушло полтора года между объявлением сделки и её расторжением — и именно это время генеративные модели потратили на то, чтобы стать на один-два технологических поколения дешевле и доступнее, как показывают разборы производства этой же лекции.</a:t>
            </a:r>
          </a:p>
          <a:p>
            <a:r>
              <a:t/>
            </a:r>
          </a:p>
          <a:p>
            <a:r>
              <a:t>Компания, рассматривающая аналогичную защитную консолидацию в ответ на дешёвую генерацию контента, должна закладывать в свой план именно эти два риска явно, а не предполагать, что одобрение регулятора и скорость интеграции — формальности. Это не универсальный запрет на консолидацию как стратегию, а конкретное инженерное требование: план защиты обязан пережить собственный срок реализации, а не только начальные расчёты.</a:t>
            </a:r>
          </a:p>
          <a:p>
            <a:r>
              <a:t/>
            </a:r>
          </a:p>
          <a:p>
            <a:r>
              <a:t>Стоит проговорить и то, зачем вообще нужна эта поправка в материале лекции, а не просто обновлённая дата. Два прочтения одного и того же факта — одного и того же слияния, одних и тех же чисел на январь 2025 года — дают два противоположных вывода в зависимости от того, в какой момент их читать. В мае 2026 года всё, что было известно, указывало на разумную защитную стратегию; в октябре 2026 года всё, что добавилось, — решение регулятора, отказ совета директоров, остановка торгов, банкротство — показывает, что та же стратегия провалилась. Урок здесь не в том, что майское прочтение было небрежным: на тот момент оно было лучшим доступным. Урок в том, что суждение о стратегии компании нельзя закрывать в момент объявления плана — его нужно проверять снова, когда появляются факты о том, что случилось с планом на самом деле. Это и есть прямое применение того самого навыка, которому учит вся лекция: спрашивать не только «что обещано», но и «что случилось с обещанием», и быть готовым признать прежний ответ неверным, если новые факты его не подтверждают.</a:t>
            </a:r>
          </a:p>
          <a:p>
            <a:r>
              <a:t/>
            </a:r>
          </a:p>
          <a:p>
            <a:r>
              <a:t>Стоит закрыть разбор Getty Images тем же вопросом, с которого он начался: против чего сравнивался исход. Не против нуля — не против гипотезы «если бы Getty вообще ничего не предпринимала», а против конкретного плана, который компания сама объявила и сама просчитала. Это различие держит весь разбор от первого шага до последнего: цена ставки была названа заранее, классический режим был объявлен публично, и расхождение между объявленным и случившимся — не оценка аналитика задним числом, а то, что сама компания признала в презентации для кредиторов. Три масштаба раздела — один человек, масса фрилансеров, целая компания — закрываются здесь на самом крупном из них, и следующий кадр сводит все три в одну форму.</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Три случая этого раздела — именованный кейс Лады Чижовой, статистика Upwork и Getty Images — показывают одну и ту же нагрузку, переехавшую в трёх разных масштабах: на уровне одного прослеживаемого человека, на уровне массы фрилансеров отрасли и на уровне целой компании.</a:t>
            </a:r>
          </a:p>
          <a:p>
            <a:r>
              <a:t/>
            </a:r>
          </a:p>
          <a:p>
            <a:r>
              <a:t>Исполнитель остался тем же человеком, но задача изменилась. Дизайнер, который раньше рисовал иллюстрацию вручную по брифу клиента, сегодня чаще курирует варианты, сгенерированные моделью: формулирует запрос, просматривает десятки результатов, выбирает и дорабатывает лучший. Это не то же самое занятие, что раньше, хотя человек и его профессиональная идентичность те же — изменился сам акт труда, из исполнения он стал отбором и доводкой. Рост категории «кураторы Canva» на 403% — прямое количественное подтверждение именно этого сдвига: название категории описывает не ремесло, а роль куратора готового инструмента.</a:t>
            </a:r>
          </a:p>
          <a:p>
            <a:r>
              <a:t/>
            </a:r>
          </a:p>
          <a:p>
            <a:r>
              <a:t>Случай Чижовой показывает ту же форму в другом изводе, и разницу стоит держать явно, а не смешивать два извода в одно наблюдение. Она не стала куратором чужой генерации — её собственный акт труда, рисовать вручную, не изменился вовсе. Изменилась доля этого акта в структуре её занятости: там, где раньше иллюстрация была почти всем доходом, к 2026 году она — по её собственной оценке — около 30% занятости, а большинство дохода собрано из мастер-классов, росписи и продажи оригиналов. Это тот же переезд нагрузки — с исполнения на что-то другое, — но переехавшая часть здесь не акт труда внутри профессии, а структура занятости вокруг неизменного акта труда. Различать оба извода стоит потому, что материал следующих лекций курса будет предъявлять оба, и смешение их в одно обобщённое «профессия трансформировалась» скрывает именно то различие, ради которого стоило разбирать два случая, а не один.</a:t>
            </a:r>
          </a:p>
          <a:p>
            <a:r>
              <a:t/>
            </a:r>
          </a:p>
          <a:p>
            <a:r>
              <a:t>Появилась новая профессия. Промпт-инжиниринг и роль «ИИ-креативного директора» — это не переименование старой профессии, а должности, которых не существовало до появления инструмента. Рост категории «генерация и монтаж видео с помощью ИИ» на Upwork на 329% год к году — это в значительной части спрос именно на такую новую квалификацию, а не на старую в новой упаковке.</a:t>
            </a:r>
          </a:p>
          <a:p>
            <a:r>
              <a:t/>
            </a:r>
          </a:p>
          <a:p>
            <a:r>
              <a:t>Нагрузка переехала и на уровне компании. Getty Images приняла решение, которое по своей логике было ответом на давление со стороны дешёвой генерации контента, — и это решение добавило, а не убрало риск: юридические издержки слияния, которое не состоялось, долговую нагрузку, принятую под план консолидации, и в конце концов банкротство. Форма та же, что и на уровне отдельного фрилансера: попытка защититься от изменившейся цены узнавания сама стоила денег, и эта цена оказалась выше, чем цена самого изменения.</a:t>
            </a:r>
          </a:p>
          <a:p>
            <a:r>
              <a:t/>
            </a:r>
          </a:p>
          <a:p>
            <a:r>
              <a:t>Кадровый рынок творческих индустрий меняется измеримо, но неравномерно, и добросовестное изложение обязано держать обе половины этой неравномерности одновременно. Там, где есть прямое измерение — рост ИИ-категорий найма на фриланс-площадках, падение клиентской базы и подписчиков Getty Images, — цифры говорят однозначно и в одну сторону. Там, где прямого измерения нет — падение спроса на традиционное ручное исполнение как таковое, — материал называет пробел пробелом, а не подставляет на его место число другого происхождения. Граница пользы и вреда здесь проходит не между «ИИ хорош» и «ИИ плох», а между тем, кто успел встроить курирование генеративных моделей в свою практику, и тем, чья квалификация была построена исключительно на ручном исполнении, а институты узнавания, которые её защищали — отчисления, подпись, агентское посредничество, лицензионный тариф, — не успели измениться с той же скоростью, что технология. Этот же разрыв между скоростью изменения технологии и скоростью изменения институтов узнавания — прямой мост к «Сборке»: туда, где материал всех пяти разделов складывается в проверяемый ответ на вопрос, который лекция задала с самого начала.</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Разделы с первого по пятый прошли путь одного творческого артефакта от замысла до денег, которые его окружают: кто его сделал, кто проверил, как отреагировала аудитория, кто заплатил, что стало с человеком, который раньше делал эту работу руками. Этот раздел не добавляет нового кейса — он складывает материал предыдущих пяти в две вещи, которые нужны для собственной работы: проверяемый список причин сказать «нет» конкретному применению генеративной модели и словарь того, что вообще происходит с нагрузкой, когда узнавание перестаёт быть бесплатным сигналом. Третья часть раздела — прямой, поимённый ответ на вопрос, который лекция задала во входе и больше нигде не произносила, и счёт того самого числового разрыва, который повторялся на протяжении всего разговора.</a:t>
            </a:r>
          </a:p>
          <a:p>
            <a:r>
              <a:t/>
            </a:r>
          </a:p>
          <a:p>
            <a:r>
              <a:t>Порядок частей внутри раздела не случаен. Чек-лист критериев отказа отвечает на практический вопрос «что мне делать завтра на работе», и он идёт первым, потому что это самый конкретный, немедленно применимый результат. Словарь форм переводит тот же материал на язык понятий, которыми будут пользоваться следующие лекции курса, — он идёт вторым, потому что опирается на примеры, которые чек-лист уже назвал. Ответ на вопрос лекции и счёт сквозной линии идут последними, потому что это самый отвлечённый и самый медленно формирующийся результат — он требует, чтобы в голове уже удержались и чек-лист, и словарь, и конкретные числа всех пяти разделов одновременно.</a:t>
            </a:r>
          </a:p>
          <a:p>
            <a:r>
              <a:t/>
            </a:r>
          </a:p>
          <a:p>
            <a:r>
              <a:t>Стоит предупредить сразу, чего в разделе не будет. Четыре критерия отказа — не абстрактное требование «быть осторожным»: каждый пункт заработан конкретным разбором предыдущих разделов, и у каждого на кадре будет названа ссылка на то место материала, которое его доказало. И стоит предупредить о самом неудобном повороте раздела заранее, а не только в момент его разбора: чек-лист, который защищает правообладателя от узнаваемого копирования его стиля, не защищает того же человека от потери заказа как такового — случай Лады Чижовой из прошлого раздела формально проходит все четыре критерия, и именно поэтому чек-лист не закрывает всё, чему стоило бы сказать «нет».</a:t>
            </a:r>
          </a:p>
          <a:p>
            <a:r>
              <a:t/>
            </a:r>
          </a:p>
          <a:p>
            <a:r>
              <a:t>Словарь форм на материале этой лекции собирает три формы, и только одна из них нова для курса: нагрузка переехала, исполнитель тот же — задача изменилась, и узнавание стало подделываемым. Третья форма — собственный вклад этой лекции в словарь курса, и её стоит держать в голове отдельно от первых двух, которые лишь конкретизируют наблюдения, сделанные раньше на другом материале.</a:t>
            </a:r>
          </a:p>
          <a:p>
            <a:r>
              <a:t/>
            </a:r>
          </a:p>
          <a:p>
            <a:r>
              <a:t>И последнее, что раздел предъявит: распределённый ответ на вопрос, которым лекция открылась — сколько стоит теперь то, что раньше бесплатно подтверждалось узнаванием, и кто платит. Ответ не сворачивается в одну фразу вида «платит индустрия» или «платит общество» — у него четыре адреса, с разными именами и разными числами под каждым, и именно в этом распределении состоит точный ответ, а не в его отсутствии.</a:t>
            </a:r>
          </a:p>
          <a:p>
            <a:r>
              <a:t/>
            </a:r>
          </a:p>
          <a:p>
            <a:r>
              <a:t>Рядом с ответом встанет и счёт числового разрыва, который повторялся на протяжении всей лекции, — разрыва в три-четыре порядка между классической ценой труда и ценой того же результата после генерации. Этот счёт собирается честно, а не подгоняется под красивую линию: часть измерений подтверждает рефрен целиком, часть — лишь частично, и один случай вообще не выражается порядком величины и в счёт не входит. Именно такая честность в финальном счёте — не слабость изложения, а последний урок лекции о том же самом суждении, которому она учила весь вечер: не округлять число в свою пользу там, где измерения расходятся.</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Курс явно требует от каждой лекции не только показывать, где ИИ работает, но и учить говорить «нет» там, где он не подходит. Этот критерий нельзя удовлетворить абстрактным перечислением вида «надо быть осторожным с этикой» — он удовлетворяется только конкретным чек-листом, каждый пункт которого заработан конкретным разбором предыдущих разделов, а не выдуман заранее.</a:t>
            </a:r>
          </a:p>
          <a:p>
            <a:r>
              <a:t/>
            </a:r>
          </a:p>
          <a:p>
            <a:r>
              <a:t>Критерий 1. Лицензионный статус обучающих данных неясен — не брать. Раздел о праве разобрал единственное направление копирайт-споров, дошедшее до реального вердикта первой инстанции на момент написания материала: дело Getty Images против Stability AI в Великобритании. Британский суд не признал веса модели копией произведений по британскому закону об авторском праве — а это значит, что лицензия для обучения не требовалась вовсе по этому конкретному юридическому основанию, в этой конкретной юрисдикции. Но то же дело показало и обратное: два других направления того же вопроса — иск New York Times против OpenAI, кластер исков звукозаписывающих компаний против Suno и Udio — на момент написания материала не имеют ни единого вердикта, и отрасль расколота на тех, кто уже заплатил по мировому соглашению, и тех, кто продолжает судиться за кратно большую сумму. Правило отказа звучит так: если неизвестно, на каком основании обучена модель, и неизвестно, в какой юрисдикции этот вопрос будет решаться, — использовать такую модель для коммерческого продукта означает принимать на себя юридический риск, цена которого на сегодня не определена ни в одну, ни в другую сторону.</a:t>
            </a:r>
          </a:p>
          <a:p>
            <a:r>
              <a:t/>
            </a:r>
          </a:p>
          <a:p>
            <a:r>
              <a:t>На практике применение этого критерия — не философский вопрос, а конкретная, выполнимая проверка перед стартом проекта: запросить у поставщика модели публично опубликованную документацию о происхождении обучающего корпуса; проверить, содержит ли договор с вендором явный пункт о распределении юридической ответственности за претензии третьих лиц по интеллектуальной собственности; и зафиксировать, в какой юрисдикции будет рассматриваться спор, если он возникнет. Отсутствие любого из этих трёх пунктов — не формальность, которую можно обойти при развитом продукте, а именно тот самый неопределённый риск, который критерий требует признать основанием для паузы.</a:t>
            </a:r>
          </a:p>
          <a:p>
            <a:r>
              <a:t/>
            </a:r>
          </a:p>
          <a:p>
            <a:r>
              <a:t>Критерий 2. Результат узнаваемо похож на работу конкретного правообладателя — не брать. Этот критерий связывает раздел о редакционной проверке и раздел о праве. Если сгенерированное изображение, трек или текст воспроизводит узнаваемый стиль, персонажа или композицию конкретного автора — ту самую узнаваемость, вокруг которой строится весь экономический смысл творческой профессии, — коммерческое использование такого результата нарушает тот же принцип, который защищал именованную подпись журналиста CNET: право конкретного человека на то, что его узнаваемый труд не используется без согласия и оплаты. Критерий применяется независимо от того, решён ли соответствующий иск в суде: узнаваемое сходство — не только юридический, но и репутационный риск, который разбор про аудиторию уже показал как самостоятельную, измеримую категорию ущерба.</a:t>
            </a:r>
          </a:p>
          <a:p>
            <a:r>
              <a:t/>
            </a:r>
          </a:p>
          <a:p>
            <a:r>
              <a:t>Оба критерия объединяет одно свойство, важное для оставшихся двух: ни один не формулируется как общий принцип «будь осторожен» — каждый называет конкретное условие, при котором решение «не брать» следует не из интуиции, а из измеренного факта этой же лекции.</a:t>
            </a:r>
          </a:p>
          <a:p>
            <a:r>
              <a:t/>
            </a:r>
          </a:p>
          <a:p>
            <a:r>
              <a:t>Стоит отдельно сказать, почему именно эти два критерия идут первыми, а не два оставшихся. Лицензия и сходство — это проверки, которые можно выполнить до начала проекта, по документам и по портфолио, не дожидаясь, пока продукт выйдет к аудитории. Согласие на голос и внешность, и тем более открытое тестирование бренд-риска, требуют либо прямого контакта с конкретным человеком, либо отдельного, более затратного исследования. Порядок здесь не произвольный: критерии, которые проверяются дешевле и раньше, идут первыми не потому, что они важнее, а потому, что именно в таком порядке проверка экономит больше всего усилий — отказ на первом шаге избавляет от необходимости доходить до третьего и четвёртого.</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Критерий 3. Голос или внешность используются без явного согласия — не брать. Этот критерий прямо следует из второго ряда опорного слайда входа этой лекции: кейса поддельных кандидатов на удалённых собеседованиях, где подделка голоса и лица в реальном времени была использована именно потому, что узнавание на видеозвонке считалось бесплатным и достаточным сигналом доверия. Критерий читается зеркально к этому кейсу: если синтез голоса или внешности конкретного человека используется без его явного, задокументированного согласия — вне зависимости от того, творческий это проект или кадровая процедура, — применение недопустимо, и само существование схемы с поддельными кандидатами, отслеженной ячейки из более чем 170 000 заявок, 76 офферов и 22 операторов за девять месяцев, — прямое доказательство того, что обратное уже эксплуатируется в промышленном масштабе.</a:t>
            </a:r>
          </a:p>
          <a:p>
            <a:r>
              <a:t/>
            </a:r>
          </a:p>
          <a:p>
            <a:r>
              <a:t>Практическое следствие для творческих индустрий: проект, использующий синтез голоса диктора или генерацию внешности модели-человека, обязан хранить задокументированное согласие именно на эту конкретную форму использования — согласие на озвучку рекламного ролика не покрывает автоматически использование того же голоса для синтетической генерации новых реплик, которые этот человек никогда не произносил. Разница между этими двумя видами согласия не мелкая юридическая формальность: голос и внешность — это ровно тот актив узнавания, вокруг которого строилась вся классическая модель карьеры, и критерий защищает именно его, а не абстрактную «этику».</a:t>
            </a:r>
          </a:p>
          <a:p>
            <a:r>
              <a:t/>
            </a:r>
          </a:p>
          <a:p>
            <a:r>
              <a:t>Критерий 4. Риск для доверия к бренду превышает экономическую выгоду — не брать. Это самый тонкий критерий, и у него есть точный прецедент внутри этой же лекции: расхождение между панелью предрелизного тестирования System1, которая оценила повторную ИИ-рекламу Coca-Cola 2025 года максимальным баллом — 5,9 звезды из 5,9 возможных, — и независимым мониторингом открытой аудитории CARMA, который зафиксировал резкий рост негативной тональности реакции, с 13,5% до 53,4% негативных упоминаний после раскрытия генеративного происхождения ролика. Контролируемый тест предсказывал успех; открытая аудитория отреагировала провалом. Критерий отказа здесь — не «никогда не используй ИИ в рекламе», а «не полагайся на контролируемое предрелизное тестирование как на единственное доказательство безопасности бренд-риска»: само расхождение этих двух измерений — единственный надёжный сигнал о том, что экономия на производстве может быть куплена ценой, которую предрелизный тест физически не способен увидеть.</a:t>
            </a:r>
          </a:p>
          <a:p>
            <a:r>
              <a:t/>
            </a:r>
          </a:p>
          <a:p>
            <a:r>
              <a:t>Все четыре критерия вместе работают не как единая формула «прошёл все четыре — можно брать», а как последовательность отдельных стоп-сигналов, каждый из которых достаточен сам по себе для отказа. Рабочий порядок проверки экономит усилия: критерий лицензии — самый дешёвый по усилию, его проверяют первым, и отсутствие ответа уже основание для паузы, даже если остальные три выглядят благополучно. Сходство со стилем конкретного автора проверяется визуально вторым. Согласие на голос или внешность — третьим, если они вообще задействованы. И даже если первые три пройдены формально, четвёртый требует отдельного вопроса, который ни один из них не задаёт: что случится с восприятием бренда, если аудитория узнает, что материал сгенерирован, — а этот ответ не выводится логически из трёх предыдущих и требует отдельной проверки на открытой аудитории, а не только на контролируемой панели.</a:t>
            </a:r>
          </a:p>
          <a:p>
            <a:r>
              <a:t/>
            </a:r>
          </a:p>
          <a:p>
            <a:r>
              <a:t>Четвёртый критерий стоит держать в голове отдельно от первых трёх ещё и потому, что он единственный не формулируется как чисто юридический или репутационный вопрос о конкретном произведении — он формулируется как вопрос о методе проверки безопасности. Coca-Cola не нарушила ничьей лицензии и не скопировала ничей узнаваемый стиль: критерии один и два были формально пройдены. Проблема обнаружилась только там, где агентство решило, что контролируемая панель достаточна в качестве единственного доказательства, и не проверило реакцию открытой аудитории отдельно. Это и есть причина, по которой критерий четыре идёт последним в последовательности: он не ловит юридический или узнаваемый риск, он ловит риск метода, которым проверялась безопасность решения, уже прошедшего первые три проверки.</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Критерии работают не как единая формула «прошёл все четыре — можно брать», а как последовательность отдельных стоп-сигналов, каждый из которых достаточен сам по себе для отказа. Рассмотрим рабочий сценарий: маркетинговое агентство рассматривает генеративную модель для производства серии рекламных изображений нового продукта. Первый шаг требует выяснить, на каком корпусе обучена конкретная модель и раскрывает ли вендор условия лицензирования этого корпуса, — отсутствие ответа уже основание для паузы, даже если остальные три шага выглядят благополучно. Если лицензионный статус прояснён, второй шаг требует визуально сверить результат с портфолио узнаваемых иллюстраторов и фотографов в этой товарной категории — специфическое сходство с конкретным, узнаваемым автором останавливает проект независимо от того, судился ли уже кто-то по такому поводу. Если материал включает синтез голоса диктора или образ модели-человека, третий шаг требует задокументированного согласия именно этого человека — не общего согласия на работу с агентством, а согласия конкретно на использование его голоса или внешности в генеративном контексте. И даже если все три предыдущих шага пройдены формально, четвёртый требует отдельного вопроса, который ни один из первых трёх не задаёт: что случится с восприятием бренда, если аудитория узнает, что материал сгенерирован, — и здесь ответ не выводится логически из трёх предыдущих, а требует отдельной проверки на небольшой открытой аудитории, а не только на контролируемой панели. Последовательность важна: более дешёвые по усилию проверки идут раньше более дорогой, и это экономит ресурсы именно там, где решение «не брать» можно принять рано, не доходя до последнего, самого затратного шага.</a:t>
            </a:r>
          </a:p>
          <a:p>
            <a:r>
              <a:t/>
            </a:r>
          </a:p>
          <a:p>
            <a:r>
              <a:t>Стоит показать и обратную сторону той же последовательности — сценарий, где чек-лист пропускает применение, а не отклоняет его, потому что иначе легко принять чек-лист за инструмент, который всегда отвечает «нет». Возьмём внутреннюю генерацию черновых вариантов упаковки для раннего обсуждения с клиентом, ещё до утверждения финального дизайна — ровно ту задачу курирования вариантов, которую предыдущий раздел называет новой формой труда фрилансера. Лицензионный статус модели раскрыт вендором и понятен — первый шаг пройден; черновые варианты намеренно держатся достаточно общими, чтобы не воспроизводить узнаваемый стиль конкретного иллюстратора — второй шаг пройден; ни голос, ни внешность реального человека не используются вовсе — третий шаг неприменим; и черновики используются только для внутреннего обсуждения, не публикуются и не выдаются за финальную ручную работу, так что риск для доверия к бренду равен риску для обычного внутреннего эскиза — четвёртый шаг пройден. В этом сценарии чек-лист даёт разрешение, и это такой же законный исход его применения, как и отказ: курс учит не отвергать генеративные модели по умолчанию, а последовательно проверять, какое из четырёх условий применимо к конкретной задаче, и в большинстве повседневных, не публикуемых напрямую сценариев результат проверки — разрешение, а не запрет.</a:t>
            </a:r>
          </a:p>
          <a:p>
            <a:r>
              <a:t/>
            </a:r>
          </a:p>
          <a:p>
            <a:r>
              <a:t>Именно эта двусторонность — чек-лист одинаково уверенно и останавливает, и пропускает — делает его рабочим инструментом, а не декларацией осторожности. Следующий разбор показывает, однако, что у этой же последовательности есть слепая зона: случай, который чек-лист пропускает формально правильно, но который всё равно стоило бы остановить по совсем другой причине.</a:t>
            </a:r>
          </a:p>
          <a:p>
            <a:r>
              <a:t/>
            </a:r>
          </a:p>
          <a:p>
            <a:r>
              <a:t>Стоит заранее сказать, зачем вообще нужен пример с разрешённым исходом рядом с примером отказа. Чек-лист, предъявленный только через случаи, которые он останавливает, легко прочитать как список запретов — а это не то, чему учит лекция. Цель чек-листа — не минимизировать применение генеративных моделей, а дать проверяемую процедуру для решения, которое иначе принималось бы интуицией. Там, где интуиция подсказывает «наверное, нельзя», чек-лист может ответить «можно» — и это такой же ценный результат его применения, как явный отказ, потому что он экономит время на сомнения там, где четыре конкретных условия уже пройдены.</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Тот же чек-лист читается и со стороны малого заказчика, который раньше нанимал фрилансера, а теперь генерирует материал сам, — а не только со стороны агентства, которое выбирает поставщика. Случай Лады Чижовой из предыдущего раздела даёт здесь не иллюстрацию задним числом, а прямую практическую проверку: мелкий бизнес, который прежде заказывал у неё обложку, баннер или оформление для соцсетей, в какой-то момент начал закрывать ту же задачу генеративной моделью напрямую, без посредника. Если применить к этому решению тот же чек-лист, которым должно было пользоваться маркетинговое агентство из предыдущего разбора, результат не обязательно «нельзя» — он зависит от того, как именно заказчик закрывает задачу.</a:t>
            </a:r>
          </a:p>
          <a:p>
            <a:r>
              <a:t/>
            </a:r>
          </a:p>
          <a:p>
            <a:r>
              <a:t>Критерий 1 требует знать, на каком корпусе обучена используемая модель и раскрывает ли вендор условия лицензирования; для массового потребительского инструмента это почти никогда не проверяется вообще, и само отсутствие проверки — уже основание для паузы по букве критерия, даже если ни один конкретный иск по этому поводу не подан. Критерий 2 требует сверить результат с узнаваемым стилем конкретного, уже контактировавшего с этим заказчиком автора — то есть именно с портфолио Чижовой, если заказчик прежде работал с ней, а не только с абстрактным «рынком иллюстрации» в целом; сходство с узнаваемым стилем человека, с которым заказчик уже сотрудничал, читается острее, чем сходство со случайным сторонним автором. Критерии 3 и 4 здесь обычно неприменимы или проходят формально: ни голос, ни внешность не используются, репутационный риск бренда для внутреннего маркетингового материала минимален. Именно поэтому решение «сгенерировать самим» чаще всего оказывается разрешённым чек-листом исходом, а не запрещённым: оно формально проходит те же четыре проверки, которые останавливают более рискованные сценарии.</a:t>
            </a:r>
          </a:p>
          <a:p>
            <a:r>
              <a:t/>
            </a:r>
          </a:p>
          <a:p>
            <a:r>
              <a:t>Это и есть самый неудобный вывод всего раздела, и его стоит назвать прямо, а не спрятать за перечислением критериев. Чек-лист, который защищает правообладателя и конкретного человека от узнаваемого копирования его стиля, не защищает того же человека от потери заказа как такового: вытеснение Чижовой не нарушает ни один из четырёх критериев отказа — лицензия использованной модели может быть прозрачной, стиль может намеренно не копировать её почерк, ни голос, ни внешность не используются, бренд-риск для внутреннего материала минимален. Чек-лист отвечает только на вопрос «законно ли и узнаваемо ли это», а не на вопрос «что происходит с человеком, который раньше получал этот заказ» — и именно поэтому правильное место для ответа на вопрос о вытеснении лежит не здесь, в критериях отказа, а в материале о рынке труда: эти два результата — список причин сказать «нет» конкретному применению и честное признание того, что список не закрывает всё, чему стоило бы сказать «нет», — одинаково важны, и держать их раздельно не ошибка, а дисциплина.</a:t>
            </a:r>
          </a:p>
          <a:p>
            <a:r>
              <a:t/>
            </a:r>
          </a:p>
          <a:p>
            <a:r>
              <a:t>Стоит произнести это и ещё раз другими словами, потому что мысль легко проскальзывает мимо: наличие проверяемого чек-листа отказа не означает, что всё, что проходит чек-лист, безвредно. Чек-лист отвечает на узкий, но важный вопрос — о юридическом и репутационном риске конкретного применения. Он не отвечает и не пытается отвечать на вопрос о судьбе конкретного человека, чья работа перестала быть нужна по совсем другой, не запрещённой причине. Два разных вопроса, два разных места ответа, и смешивать их означало бы решить, что раз чек-лист ничего не запрещает — значит, и беспокоиться не о чем.</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Пять разделов этой лекции показывали один и тот же механизм на разном материале — производстве, редакционной проверке, зрительском приёме, лицензировании и рынке труда. У этого механизма три формы, и ни одна из них не является синонимом другой; важно различать их именно потому, что следующие лекции курса будут называть похожие, но не тождественные формы на другом материале.</a:t>
            </a:r>
          </a:p>
          <a:p>
            <a:r>
              <a:t/>
            </a:r>
          </a:p>
          <a:p>
            <a:r>
              <a:t>Форма первая: нагрузка переехала — на зрителя, на закон или на рынок. В разделе про аудиторию нагрузка распознавания подделки переехала на зрителя и читателя: раньше решение «можно ли доверять этому контенту» принимал редактор или продюсер до публикации, теперь его принимает — или не принимает — каждый отдельный человек в момент просмотра. В разделе про право нагрузка переехала с рынка на закон: там, где раньше правообладатель и пользователь контента договаривались о цене лицензии напрямую, теперь вопрос «что было можно, а что нет» решает суд — причём по трём разным направлениям этот суд либо уже вынес вердикт в пользу одной стороны, британское дело против Stability AI, либо не вынес вердикта вовсе, дело New York Times, либо оставил отрасль расколотой на тех, кто урегулировал спор деньгами, и тех, кто продолжает судиться, кластер исков звукозаписывающих компаний. В разделе про рынок труда нагрузка переехала на рынок труда в буквальном смысле: там, где раньше цена определялась договором между клиентом и исполнителем, индивидуальным по каждому заказу, теперь цена определяется массовым, платформенным спросом на навык курирования, который формируется не переговорами, а агрегированной статистикой всей площадки разом.</a:t>
            </a:r>
          </a:p>
          <a:p>
            <a:r>
              <a:t/>
            </a:r>
          </a:p>
          <a:p>
            <a:r>
              <a:t>Три адреса одной формы стоит удерживать раздельно, потому что они отвечают на разные практические вопросы. Если нагрузка переехала на зрителя — вопрос в том, какой институт верификации должен заменить ту проверку, которую раньше бесплатно делал редактор. Если нагрузка переехала на закон — вопрос в том, какая юрисдикция и какое законодательное изменение нужны, чтобы правило перестало зависеть от того, в каком суде решается конкретный спор. Если нагрузка переехала на рынок труда — вопрос в том, что происходит с человеком, чья цена теперь определяется агрегированным спросом площадки, а не индивидуальной репутацией, которую он строил годами.</a:t>
            </a:r>
          </a:p>
          <a:p>
            <a:r>
              <a:t/>
            </a:r>
          </a:p>
          <a:p>
            <a:r>
              <a:t>Эта форма не нова по своей механике для курса — она лишь конкретизирует более общее наблюдение, уже встречавшееся на другом материале: удешевление одного шага перестраивает работу целиком, а платит не тот, кто сэкономил. Здесь эта линза применена к узнаванию — к тому самому бесплатному прежде сигналу доверия, подделка которого обнулилась в цене. Три адреса — зритель, закон, рынок труда — это три разных места, куда в итоге переехала нагрузка проверки, когда-то бесплатно удерживавшаяся институтом узнавания.</a:t>
            </a:r>
          </a:p>
          <a:p>
            <a:r>
              <a:t/>
            </a:r>
          </a:p>
          <a:p>
            <a:r>
              <a:t>Стоит отдельно отметить: три адреса не исчерпывающий список и не взаимоисключающая классификация. В одном и том же случае нагрузка может переехать сразу по двум адресам — например, редакционный провал CNET одновременно переносит нагрузку проверки на читателя и ставит вопрос об институциональной ответственности, которую раньше держала именованная подпись. Форма описывает направление переезда нагрузки, а не единственно возможный маршрут.</a:t>
            </a:r>
          </a:p>
          <a:p>
            <a:r>
              <a:t/>
            </a:r>
          </a:p>
          <a:p>
            <a:r>
              <a:t>Полезно заметить и то, что объединяет все три адреса этой формы: в каждом из трёх случаев нагрузка не исчезла и не распределилась поровну — она переехала целиком на одну конкретную сторону, которая раньше эту работу вообще не выполняла. Зритель раньше не должен был проверять подлинность — это делал редактор. Суд раньше не должен был определять цену лицензии — это делал рынок напрямую. Рынок труда раньше не должен был агрегированно назначать цену навыка — это делал индивидуальный договор. В каждом случае прежний держатель нагрузки не разделил её с новым — новый держатель получил её целиком, без подготовки и без компенсации за новую обязанность. Следующий разбор — вторая форма словаря — показывает другое направление того же механизма: не куда переехала нагрузка, а что стало с самим человеком, который эту нагрузку раньше нёс.</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вторая: исполнитель остался тем же человеком, но задача изменилась. Раздел о производстве показал это на уровне одного производственного акта: фрилансер, который раньше рисовал иллюстрацию руками, сегодня курирует варианты генерации. Раздел о рынке труда показал ту же форму на уровне целой профессиональной категории: рост спроса на роль «куратора Canva» на 403% — это не новый человек на рынке труда, а старый человек с новой задачей. У этой формы есть прямое следствие для словаря следующих лекций курса: когда материал говорит «профессия исчезла», часто точнее сказать «задача внутри профессии заменилась», и разница между этими двумя утверждениями решает, выучивает ли студент урок о трансформации труда или ложный урок о его исчезновении.</a:t>
            </a:r>
          </a:p>
          <a:p>
            <a:r>
              <a:t/>
            </a:r>
          </a:p>
          <a:p>
            <a:r>
              <a:t>Именованный кейс Лады Чижовой показывает третий, менее очевидный вариант той же формы — и его стоит отличить от куратора Canva явно, а не свалить в одну категорию. Куратор Canva сменил само действие внутри одной и той же задачи: было «рисовать», стало «настраивать и отбирать». Чижова не поменяла действие вовсе — она по-прежнему рисует иллюстрации вручную ровно так же, как в 2022 году, — она поменяла долю этого действия в структуре собственной занятости, добавив вокруг него мастер-классы, роспись стен и витрин и продажу оригиналов, так что к 2026 году само ремесло составляет меньшинство её дохода. Это та же форма «исполнитель остался тем же человеком, но задача изменилась», но механизм здесь другой: не задача внутри ремесла изменилась, а доля этого неизменного ремесла в структуре занятости. Студенту, встретившему в материале следующих лекций фразу «профессия трансформировалась, а не исчезла», стоит спрашивать именно об этом различии: что изменилось — сама задача внутри ремесла, вариант куратора Canva, или доля этого ремесла в доходе исполнителя при неизменной задаче, вариант Чижовой? Оба варианта — не исчезновение профессии и не её чистое сохранение, а два разных способа удержаться внутри одной и той же формы, и путать их значит терять именно ту разницу, ради которой словарь форм и существует.</a:t>
            </a:r>
          </a:p>
          <a:p>
            <a:r>
              <a:t/>
            </a:r>
          </a:p>
          <a:p>
            <a:r>
              <a:t>Появился новый шаг. Промпт-инжиниринг, формулирование запроса к генеративной модели так, чтобы результат соответствовал задаче, и роль «ИИ-креативного директора» — куратор результатов нескольких генеративных моделей под единый бренд-гайд — это не переименование старой профессии, а должности, которых не существовало до появления инструмента. Рост категории «генерация и монтаж видео с помощью ИИ» на Upwork на 329% год к году — это в значительной части спрос именно на такую новую квалификацию, а не на старую в новой упаковке. Это отдельная форма внутри второй — не трансформация задачи, а её прибавление. Разница между «задача заменилась» и «шаг прибавился» видна на самом рабочем процессе: куратор Canva всё ещё отвечает за тот же конечный результат, что и прежний дизайнер — готовый баннер, карточка, слайд, — просто другим способом; промпт-инженер для видеогенерации отвечает за промежуточный результат, которого в прежней производственной цепочке не существовало вовсе, — точную текстовую формулировку, подобранную так, чтобы модель выдавала предсказуемый, воспроизводимый визуальный стиль при многократных запусках. Это ремесло ближе по структуре к работе со сложным техническим инструментом, чем к традиционному творческому исполнению, и именно поэтому стоит говорить о новом шаге, а не о новой версии старого.</a:t>
            </a:r>
          </a:p>
          <a:p>
            <a:r>
              <a:t/>
            </a:r>
          </a:p>
          <a:p>
            <a:r>
              <a:t>Три разных механизма одной формы стоит свести в одну проверку, которой студент сможет пользоваться на материале следующих лекций: спрашивать не «изменилась ли профессия», а «что именно изменилось» — само действие внутри задачи, доля этого действия в структуре занятости, или в цепочку добавился целиком новый, ранее не существовавший шаг. Три ответа дают три разных прогноза дальше: смена действия означает, что прежний навык обесценился и нужен новый; смена доли означает, что прежний навык сохранил ценность, но перестал быть единственным источником дохода; появление нового шага означает, что рядом со старой профессией выросла параллельная, не заменяющая её.</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Форма третья: узнавание стало подделываемым. Это собственная, несущая форма этой лекции, и она не повторяет ни одну из форм, названных в предыдущих лекциях курса. Раздел о редакционной проверке показал её на материале CNET: именованная подпись «CNET Money Staff» под статьёй — институт, который раньше бесплатно гарантировал читателю, что текст проверен редактором, — продолжал нести ту же гарантию и после того, как контент стал генерировать внутренний ИИ-движок редакции; разница обнаружилась не в качестве текста — сорок один из семидесяти семи статей потребовали исправлений, показатель того же порядка, что базовый уровень ошибок классической журналистики, — а в том, что раскрытие авторства впервые заставило индустрию исправить то, что она и так системно не исправляла.</a:t>
            </a:r>
          </a:p>
          <a:p>
            <a:r>
              <a:t/>
            </a:r>
          </a:p>
          <a:p>
            <a:r>
              <a:t>Второй ряд опорного слайда входа этой же лекции показал ту же форму на материале найма: видеозвонок и телефонный голос, которые десятилетиями были бесплатным и достаточным сигналом «это точно тот человек, за которого он себя выдаёт», перестали быть таким сигналом в тот момент, когда подделка лица и голоса в реальном времени стала стоить порядка ста двадцати долларов и семидесяти минут работы на бытовом оборудовании. Это одна и та же форма — узнавание было бесплатным индикатором подлинности, а стало подделываемым индикатором — предъявленная дважды на принципиально разном материале: один раз внутри творческого производства, один раз на входе в компанию. Именно эта повторяемость на разнородном материале и делает форму осью лекции, а не частным наблюдением одного кейса.</a:t>
            </a:r>
          </a:p>
          <a:p>
            <a:r>
              <a:t/>
            </a:r>
          </a:p>
          <a:p>
            <a:r>
              <a:t>У этой формы есть и собственное измерение динамики, а не только статическая цена подделки. Доля HR-менеджеров, лично столкнувшихся с поддельным кандидатом, выросла с 31% до 40% год к году — опрос Checkr, около 3000 менеджеров по найму, сентябрь 2026 года, — то есть защита не улучшается по мере того, как о проблеме говорят больше, а ухудшается. Это важное уточнение к форме: подделка узнавания — не разовый сдвиг цены, после которого рынок находит новое равновесие, а продолжающийся процесс, в котором цена подделки падает быстрее, чем растёт цена защиты от неё.</a:t>
            </a:r>
          </a:p>
          <a:p>
            <a:r>
              <a:t/>
            </a:r>
          </a:p>
          <a:p>
            <a:r>
              <a:t>Масштаб явления на материале Ряда 2 выходит далеко за пределы одной отслеженной ячейки. По оценке межправительственного advisory одиннадцати стран, июль 2026 года, речь идёт примерно о ста тысячах операторов, действующих из одной страны, в сорока странах одновременно, с оценочным доходом режиму-организатору в $250–600 млн в год — и отдельно $800 млн, которые, по той же оценке, были направлены на финансирование оружейных программ в 2024 году. Это не частный инцидент одной компании, а индустриальный по масштабу процесс, устроенный вокруг одного и того же факта: узнавание на видеозвонке стоило доверия бесплатно, и в тот момент, когда его подделка стала стоить порядка ста долларов, на этом факте выстроился источник дохода, сопоставимый по величине с заметной статьёй государственного бюджета. Это предельный, почти буквальный ответ на вопрос лекции «сколько это стоит теперь»: не абстрактная неопределённость, а конкретная, оценённая разведывательными службами нескольких стран денежная величина, построенная на том, что было бесплатным.</a:t>
            </a:r>
          </a:p>
          <a:p>
            <a:r>
              <a:t/>
            </a:r>
          </a:p>
          <a:p>
            <a:r>
              <a:t>Три формы не равноценны по степени новизны для курса, и эту иерархию стоит назвать явно. Первые две — частные конкретизации наблюдений, уже встречавшихся на другом материале раньше. Третья форма — подделываемое узнавание — единственная из трёх, которую эта лекция вводит в словарь курса впервые: ни одна из пройденных ранее отраслевых лекций не разбирала узнавание как самостоятельный, экономически значимый и при этом дёшево подделываемый механизм. Именно эту форму стоит держать в голове как собственный вклад этой лекции — следующий разбор показывает, как она ложится в прямой, поимённый ответ на вопрос, с которого лекция началась.</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Вопрос, которым лекция открылась во входе, звучал так: лицо, голос и подпись автора стоили доверия бесплатно — сколько это стоит теперь, и кто платит. Материал пяти разделов даёт на него не один ответ, а распределённый — по разным адресам, с разными именами, и в этом распределении и состоит точный ответ: платит не одна сторона, а несколько, и каждая — в своей форме.</a:t>
            </a:r>
          </a:p>
          <a:p>
            <a:r>
              <a:t/>
            </a:r>
          </a:p>
          <a:p>
            <a:r>
              <a:t>Платит редакция, потерявшая институт ответственности. CNET — около 10% штата редакции были уволены в течение нескольких недель после того, как публичное раскрытие ИИ-авторства статей потребовало реакции. Это не доказанная, измеренная в деньгах цена конкретно генеративной технологии как таковой — это цена того, что институт именованной подписи, который раньше бесплатно удостоверял читателю качество проверки, перестал работать именно в тот момент, когда его можно было подделать дёшево и в масштабе. Здесь стоит напомнить дисциплину, уже применённую в разделе про редакционную проверку: не каждое увольнение в издательской индустрии в этот период — доказанное следствие генеративной технологии. Там, где причина раскрыта и задокументирована самой компанией, как в случае CNET, счёт засчитывается как прямая цена. Там, где издание официально отрицает причинную связь, счёт не засчитывается, а лишь называется предостережением против подмены причинности.</a:t>
            </a:r>
          </a:p>
          <a:p>
            <a:r>
              <a:t/>
            </a:r>
          </a:p>
          <a:p>
            <a:r>
              <a:t>Платит правообладатель, чья юридическая защита лицензирования обнулилась в конкретном случае. Getty Images рассчитывала теоретическую стоимость лицензии на свою коллекцию изображений, использованную для обучения модели Stable Diffusion через датасет LAION-5B, в диапазоне от $30,75 млн по оптовому тарифу до $1,6 млрд по розничному. Британский суд в деле против Stability AI в ноябре 2025 года решил, что эта лицензия не требовалась вовсе: реальная цена для ответчика по этому направлению иска оказалась равна нулю, а не той или другой сумме. Важно, что это именно единственное направление с вердиктом: два других направления того же вопроса — иск New York Times, кластер исков по музыке — на дату проверки остаются открытыми, и отрасль буквально расколота в ответе на вопрос «кто платит» — часть правообладателей уже получила оплату по соглашению, часть продолжает добиваться вердикта в суде, а Getty Images в своём конкретном направлении не получила ничего.</a:t>
            </a:r>
          </a:p>
          <a:p>
            <a:r>
              <a:t/>
            </a:r>
          </a:p>
          <a:p>
            <a:r>
              <a:t>Платит сама компания, построившая бизнес на лицензировании узнаваемого контента. Getty Images — уже не как участник судебного процесса, а как компания целиком — потеряла четверть годовой подписной базы за год, накопила долг в $2,1 млрд, попыталась защититься слиянием на $3,7 млрд, эта попытка провалилась, и компания подала на банкротство, прямо назвав в числе причин растущее давление ИИ-генерируемых изображений. Это самая крупная по масштабу и самая свежая по времени цена из всех, что называет эта лекция, — и именно она отвечает на вопрос лекции буквальнее остальных: компания, вся бизнес-модель которой держалась на том, что узнаваемое, лицензированное изображение стоит дороже любого другого, обанкротилась в том числе потому, что эта разница в цене обнулилась.</a:t>
            </a:r>
          </a:p>
          <a:p>
            <a:r>
              <a:t/>
            </a:r>
          </a:p>
          <a:p>
            <a:r>
              <a:t>Платят вытесненные фрилансеры — ценой, которую пока нельзя назвать одним числом. Раздел о рынке труда честно показал: рост спроса на ИИ-навыки на фриланс-площадках измерен точно, а падение спроса на традиционные навыки — нет, измеряется лишь косвенно, через десятилетний прогноз Бюро статистики труда США и через качественные признаки сжатия традиционного сегмента фриланс-рынка. Честность этого ответа в том, что он не предъявляет цену, которой не существует с той же степенью точности, что у первых трёх: цена вытеснения для отдельного фрилансера реальна, но пока не измерена той же линейкой, что цена для CNET, Getty Images-истца и Getty Images-компании.</a:t>
            </a:r>
          </a:p>
          <a:p>
            <a:r>
              <a:t/>
            </a:r>
          </a:p>
          <a:p>
            <a:r>
              <a:t>Соблазн здесь — свести всё к одной фразе вида «платит индустрия» или «платит общество» и закрыть вопрос лекции красиво. Материал пяти разделов показывает, что это было бы ровно той подменой, против которой построен весь курс: обобщение без адреса не позволяет сделать следующий шаг — спросить, что нужно изменить и кому. Четыре разных адресата — это не четыре одинаковых истории с разными именами, а четыре разных незакрытых вопроса, и именно поэтому ответ на вопрос лекции не сворачивается в одно предложение.</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Сквозная линия этой лекции — числовой разрыв в три-четыре порядка между классической ценой творческого труда и ценой того же результата, полученного генерацией, — была названа как кандидат на этапе планирования, и её правило требует честного счёта по факту, а не числа, вписанного заранее.</a:t>
            </a:r>
          </a:p>
          <a:p>
            <a:r>
              <a:t/>
            </a:r>
          </a:p>
          <a:p>
            <a:r>
              <a:t>Измерение первое — изображение: ручное исполнение фрилансером $50–150 за типовое задание, генерация флагманской моделью — $0,03–0,05 за изображение. Отношение нижней границы к верхней — от 1000 до 5000, в десятичных порядках от 3,0 до 3,7. Попадает в диапазон целиком. Измерение второе — трек, сравнение со стоковой лицензией, не с гонораром студийного композитора за кастомный трек под заказ: это разные по характеру продукты, и такое сравнение канон запрещает как выигрыш от нуля в обратную сторону. Стоковая музыкальная лицензия — $20–100 за трек, генерация флагманской моделью — $0,015–0,02 за песню. Отношение от 1000 до 6667, в порядках от 3,0 до 3,8. Попадает в диапазон целиком.</a:t>
            </a:r>
          </a:p>
          <a:p>
            <a:r>
              <a:t/>
            </a:r>
          </a:p>
          <a:p>
            <a:r>
              <a:t>Измерение третье — озвучка — не попадает в диапазон целиком, и честный счёт обязан это показать, а не округлить в пользу красивой линии. Ручная озвучка диктором стоит $50–450 за минуту готовой речи в зависимости от уровня исполнителя, генерация — $0,04–0,20 за минуту. Отношение от 250 до 11250, в порядках от 2,4 до 4,1 — нижняя граница отношения лежит ниже заявленных трёх-четырёх порядков. Это пограничное измерение: оно частично подтверждает рефрен, частично — нет, и предъявлять его как чистое подтверждение было бы нарушением того самого правила «выигрыш или провал приписан не модели, а тому, что вокруг неё», которое и составляет содержание этой сквозной линии.</a:t>
            </a:r>
          </a:p>
          <a:p>
            <a:r>
              <a:t/>
            </a:r>
          </a:p>
          <a:p>
            <a:r>
              <a:t>Измерение четвёртое — лицензионный тариф против фактической ставки урегулирования: та же стоковая лицензия, $20–100 за трек, против реальной ставки, согласованной в мировых соглашениях Universal Music Group и Warner Music с Udio, — $0,002–0,005 за одну сгенерированную композицию. Отношение от 4000 до 50000, в порядках от 3,6 до 4,7. Попадает в диапазон в основном, с небольшим выходом верхней границы за пределы четырёх порядков — честно отмечаем этот выход, а не скрываем его округлением.</a:t>
            </a:r>
          </a:p>
          <a:p>
            <a:r>
              <a:t/>
            </a:r>
          </a:p>
          <a:p>
            <a:r>
              <a:t>Что не входит в счёт и почему. Отдельно от четырёх измерений стоит случай, который по смыслу похож на разрыв в порядках, но не является им по математической форме: теоретическая стоимость лицензии на коллекцию Getty Images для обучения модели, посчитанная самой компанией — $30,75 млн по оптовому тарифу или $1,6 млрд по розничному, — против того, что британский суд в итоге обязал заплатить, — нуля. Отношение любого положительного числа к нулю не выражается порядком величины: это не сужение разрыва в тысячу или десять тысяч раз, а его полное исчезновение. Такое измерение сообщает нечто иное, чем рефрен о трёх-четырёх порядках — не «генерация в тысячи раз дешевле», а «правовая защита лицензии в этом конкретном случае не сработала вообще», — и его намеренно не включают в счёт, чтобы не размывать числовой рефрен случаем другой природы. По той же причине в счёт не входит и Ряд 2 опорного слайда входа — деньги поддельных кандидатов на собеседованиях: у этого измерения есть прочная цена новой, подделываемой стороны, но нет сопоставимого числа со стороны классического режима — единственное документированное описание старого способа подмены личности, наём живого актёра на очное интервью, не несёт собственной цифры стоимости. Это случай графы «второй режим назван, но своего числа не имеет», а не графы «у обеих сторон есть число», и три измерения, попавшие в диапазон целиком или почти целиком, — все второго рода.</a:t>
            </a:r>
          </a:p>
          <a:p>
            <a:r>
              <a:t/>
            </a:r>
          </a:p>
          <a:p>
            <a:r>
              <a:t>Итоговый счёт: из четырёх кандидатов три попадают в диапазон целиком или почти целиком, одно — только частично, и один случай по своей математической природе вообще не выражается порядком величины и в счёт не входит. Разрыв в три-четыре порядка — не универсальный закон, применимый к любому числу лекции, а повторяющийся, но не абсолютный паттерн: он держится там, где сравниваются однородные по характеру рыночные цены, и перестаёт держаться там, где одна из сторон пары — не рыночная цена, а судебное решение, обнулившее цену целиком. Такая честность в счёте — не ослабление сквозной линии, а её единственно верное предъявление: число, подтверждённое с оговорками, запоминается точнее, чем круглое число, подогнанное под красивую формулировку.</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Раздел не вводил нового кейса — он показал, что материал пяти предыдущих разделов складывается в три вещи одновременно: проверяемый чек-лист отказа, не сводимый к интуиции; словарь из трёх форм, из которых только одна — подделываемое узнавание — своя для этой лекции; и честный, распределённый ответ на вопрос, которым лекция открылась, подкреплённый счётом сквозной числовой линии, не округлённым в сторону красоты там, где измерения расходятся.</a:t>
            </a:r>
          </a:p>
          <a:p>
            <a:r>
              <a:t/>
            </a:r>
          </a:p>
          <a:p>
            <a:r>
              <a:t>Лекция открылась обещанием, что узнавание, стоившее доверия бесплатно, станет измеримым вопросом с деньгами на обеих сторонах, — и пять разделов эту меру предъявили: для редакции, потерявшей институт ответственности, для правообладателя, чья защита лицензирования обнулилась в конкретном деле, для компании, построившей бизнес на лицензировании узнаваемого контента и обанкротившейся, и для вытесненного фрилансера, чья цена пока не измерена той же линейкой, что три предыдущих.</a:t>
            </a:r>
          </a:p>
          <a:p>
            <a:r>
              <a:t/>
            </a:r>
          </a:p>
          <a:p>
            <a:r>
              <a:t>Стоит удержать порядок, в котором раздел шёл, потому что он не случаен. Чек-лист критериев отказа дал самый конкретный, немедленно применимый результат — что делать завтра на работе. Словарь форм перевёл тот же материал в понятия, которыми можно будет пользоваться дальше. И только после этого, когда и чек-лист, и словарь уже держались в голове одновременно, раздел перешёл к самому отвлечённому результату — распределённому ответу на вопрос лекции и честному счёту того разрыва, который повторялся весь разговор. Этот порядок — от конкретного к отвлечённому — сам по себе стоит заметить: он показывает, что распределённый, неудобный ответ на большой вопрос становится убедительным только после того, как его подготовили конкретные, проверяемые результаты, а не до них.</a:t>
            </a:r>
          </a:p>
          <a:p>
            <a:r>
              <a:t/>
            </a:r>
          </a:p>
          <a:p>
            <a:r>
              <a:t>Стоит закрыть этот мост одной явной оговоркой, чтобы он не читался как обещание полного покрытия темы. Тот же паттерн подделываемого синтеза лица и голоса, показанный здесь на входе в творческое производство — CNET — и на входе в компанию — поддельные кандидаты на собеседованиях, — встретится дальше в материале курса снова, уже не как вопрос доверия к контенту, а как вопрос защиты предприятия от прямого финансового мошенничества. Это не пересказ той будущей темы заранее и не углубление в механику корпоративного мошенничества здесь — это лишь называние связи, чтобы студент, встретив тот же паттерн подделки лица и голоса на совершенно другом материале, узнал в нём знакомую форму, а не отдельное, никак не связанное явление.</a:t>
            </a:r>
          </a:p>
          <a:p>
            <a:r>
              <a:t/>
            </a:r>
          </a:p>
          <a:p>
            <a:r>
              <a:t>Это и есть последняя практическая польза словаря форм из этого раздела: он работает не только внутри одной лекции, а как инструмент, которым размечается материал следующих лекций курса. Студент, вооружённый тремя формами — нагрузка переехала, исполнитель тот же, но задача изменилась, и узнавание стало подделываемым, — встретит их снова на материале, который к творческим индустриям не имеет никакого отношения, и сможет назвать знакомую форму точнее, чем если бы она звучала впервые.</a:t>
            </a:r>
          </a:p>
          <a:p>
            <a:r>
              <a:t/>
            </a:r>
          </a:p>
          <a:p>
            <a:r>
              <a:t>Пять разделов лекции не оставили вопрос лекции риторическим. Он получил счёт, адреса и числа — не одно число на всё, а четыре разных, под каждым адресатом своё, и честное признание того, где числа пока нет вовсе. Это и есть ровно та дисциплина суждения, ради которой лекция была собрана: не доверие узнаванию, потому что оно больше ничего не доказывает бесплатно, а проверка — чем теперь это доверие подтверждают, и кто платит за саму эту проверку.</a:t>
            </a:r>
          </a:p>
          <a:p>
            <a:r>
              <a:t/>
            </a:r>
          </a:p>
          <a:p>
            <a:r>
              <a:t>Если держать в голове только одну мысль из всей «Сборки», пусть это будет она: проверяемый список причин отказа и честное признание того, чего этот список не закрывает, — равноценные результаты одной и той же работы суждения, а не полный ответ и его недостаточное дополнение. Курс не обещал закрыть вопрос узнавания целиком за один вечер — он показал, как выглядит добросовестная попытка его закрыть, с названными границами того, что ещё не измерено.</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Глава провела один творческий артефакт через четыре точки его жизненного пути, где узнавание раньше работало бесплатно и никогда не требовало отдельной проверки — само по себе оно было достаточным сигналом доверия. На входе, там, где раньше создавали фрилансер, студийный композитор или диктор, узнавание держалось на том, что заказ стоил дорого и занимал дни: сама эта медленность и была неявной проверкой подлинности. Генеративная модель не сделала результат хуже — она сделала эту медленность необязательной, и вместе с ней необязательным стало всё, что на неё опиралось, включая порог входа, который раньше отсеивал часть заказчиков одной только ценой.</a:t>
            </a:r>
          </a:p>
          <a:p>
            <a:r>
              <a:t/>
            </a:r>
          </a:p>
          <a:p>
            <a:r>
              <a:t>При проверке узнавание держалось на подписи — именованном авторе, который отвечал своим именем за факт. Кейс CNET показал ядро этой находки: доля статей, потребовавших исправления после раскрытия AI-авторства, оказалась того же порядка, что и независимо измеренный базовый уровень ошибок классической журналистики. Институт подписи никогда не был гарантией точности — он был гарантией того, что есть к кому прийти с претензией. Генеративная модель не нарушила эту гарантию напрямую, она лишь обнажила, что часть изданий давно работала так, будто эта гарантия ничего не стоит, и раскрытие факта авторства сделало это видимым для читателя раньше, чем сделал бы любой другой повод.</a:t>
            </a:r>
          </a:p>
          <a:p>
            <a:r>
              <a:t/>
            </a:r>
          </a:p>
          <a:p>
            <a:r>
              <a:t>При публикации узнавание держалось на том, что зритель верил: то, что он видит, сделано для него конкретным человеком с конкретным умыслом. Расхождение между оценкой контролируемой панели предрелизного тестирования и реакцией открытой аудитории на одну и ту же рекламу показало, что это доверие не единообразно — оно раскалывается в зависимости от того, кто и как смотрит. Институт предрелизного тестирования был построен, чтобы предсказывать реакцию усреднённого зрителя, а не зрителя, который уже знает, что перед ним генерация, и ищет в ролике подтверждение этому знанию. Два этих зрителя оценивают не один и тот же ролик — они оценивают два разных объекта.</a:t>
            </a:r>
          </a:p>
          <a:p>
            <a:r>
              <a:t/>
            </a:r>
          </a:p>
          <a:p>
            <a:r>
              <a:t>При оплате узнавание держалось на лицензии — доказуемом праве на использованный материал. Разрыв между объявленным судебным риском и реально согласованной рыночной ставкой лёг в тот же порядок величины, что и разрыв в цене создания на входе пути, и это не единичное совпадение. Решение суда, расчёт истца по статутному максимуму, ставка мирового соглашения и объявленный розничный тариф получены независимо, разными институтами, в разное время, и всё равно сошлись в одном и том же порядке — само по себе это сильнее как находка, чем если бы кто-то спроектировал совпадение заранее.</a:t>
            </a:r>
          </a:p>
          <a:p>
            <a:r>
              <a:t/>
            </a:r>
          </a:p>
          <a:p>
            <a:r>
              <a:t>Наконец, путь спросил, что стало с теми, кто раньше держал все четыре точки своими руками, — и ответ дала история одной из крупнейших лицензионных компаний отрасли. Попытка защититься слиянием с конкурентом не сработала, слияние было расторгнуто, а собственная реструктуризация компании прямо назвала давление генеративных моделей среди причин. Это не частный финансовый эпизод, вставленный ради свежести даты, — это тот же урок, что и в остальных четырёх точках, только предъявленный на уровне целой компании, а не одной транзакции: институт, который раньше бесплатно подтверждал происхождение материала через оптовую подписку, не смог защититься от обвала цены простым укрупнением.</a:t>
            </a:r>
          </a:p>
          <a:p>
            <a:r>
              <a:t/>
            </a:r>
          </a:p>
          <a:p>
            <a:r>
              <a:t>Если свести все точки в один реестр, видно, что они расположены не случайно, а по хронологии самого артефакта — от момента, когда он ещё не существует, до момента, когда его уже прочитал, просмотрел или прослушал кто-то посторонний. Подделка в одной точке, оставшаяся незамеченной, ничего не говорит о том, останется ли незамеченной подделка в следующей. Раздел «Сборка» уже дал этому пути ответ и подсчитал, сколько раз разрыв в три-четыре порядка действительно подтвердился, а не был подогнан под ожидание. Здесь не нужно повторять этот счёт — нужно закрыть последний долг, который лежит уже не внутри индустрии, а перед курсом.</a:t>
            </a:r>
          </a:p>
          <a:p>
            <a:r>
              <a:t/>
            </a:r>
          </a:p>
          <a:p>
            <a:r>
              <a:t>**Источники.** </a:t>
            </a:r>
            <a:r>
              <a:rPr u="sng">
                <a:solidFill>
                  <a:srgbClr val="065A82"/>
                </a:solidFill>
                <a:hlinkClick r:id="rId3"/>
              </a:rPr>
              <a:t>CNET — доля статей, потребовавших исправления, Predictive Analytics World, 2023</a:t>
            </a:r>
            <a:r>
              <a:t> · </a:t>
            </a:r>
            <a:r>
              <a:rPr u="sng">
                <a:solidFill>
                  <a:srgbClr val="065A82"/>
                </a:solidFill>
                <a:hlinkClick r:id="rId4"/>
              </a:rPr>
              <a:t>System1 Group — панель предрелизного тестирования, 2025</a:t>
            </a:r>
            <a:r>
              <a:t> · </a:t>
            </a:r>
            <a:r>
              <a:rPr u="sng">
                <a:solidFill>
                  <a:srgbClr val="065A82"/>
                </a:solidFill>
                <a:hlinkClick r:id="rId5"/>
              </a:rPr>
              <a:t>CARMA — методология измерения тональности, 2026</a:t>
            </a:r>
            <a:r>
              <a:t> · </a:t>
            </a:r>
            <a:r>
              <a:rPr u="sng">
                <a:solidFill>
                  <a:srgbClr val="065A82"/>
                </a:solidFill>
                <a:hlinkClick r:id="rId6"/>
              </a:rPr>
              <a:t>Bird &amp; Bird — Getty Images против Stability AI, Высокий суд, 2025</a:t>
            </a:r>
            <a:r>
              <a:t> · </a:t>
            </a:r>
            <a:r>
              <a:rPr u="sng">
                <a:solidFill>
                  <a:srgbClr val="065A82"/>
                </a:solidFill>
                <a:hlinkClick r:id="rId7"/>
              </a:rPr>
              <a:t>Bloomberg — реструктуризация Getty, 21 октября 2026</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Ряд 2 keystone-слайда в начале лекции показал кейс вне творческих индустрий: удалённые собеседования при найме, на которых кандидат — на самом деле наёмный оператор под чужой личностью — проходит видеозвонок с синтезированным лицом и голосом, обученным на нескольких минутах публично доступного видео. Узнавание здесь подделывалось на входе в компанию: цель обмана — пройти интервью и получить офер, а не получить разовый платёж. Прежний дорогой режим такой подмены требовал нанять живого актёра на очное собеседование; генеративный синтез обнулил эту цену настолько, что один документированный оператор подал свыше ста тысяч заявок и получил несколько десятков офферов за считанные месяцы работы.</a:t>
            </a:r>
          </a:p>
          <a:p>
            <a:r>
              <a:t/>
            </a:r>
          </a:p>
          <a:p>
            <a:r>
              <a:t>Та же самая механика — модель, которая синтезирует чужое лицо и голос в реальном времени настолько убедительно, что видеозвонок перестаёт быть доказательством личности, — встречается в курсе ещё раз, но уже не на этой лекции. Лекция 14 разбирает ровно тот же инструментарий синтеза, применённый к другому адресу: не ко входу в компанию, а к извлечению денег из уже действующей компании — сотрудник финансового департамента получает видеозвонок от «своего» руководителя с поручением о срочном переводе. Структурно это та же находка, что и у кейса найма: узнавание было бесплатным и достаточным сигналом подлинности десятилетиями, и генеративная модель обнулила цену его подделки.</a:t>
            </a:r>
          </a:p>
          <a:p>
            <a:r>
              <a:t/>
            </a:r>
          </a:p>
          <a:p>
            <a:r>
              <a:t>Разница — исключительно в адресе атаки внутри жизненного цикла компании: наём против разового платежа. Эта разница не декоративная — она определяет, какая защита вообще применима. Защита от подделки на входе встраивается в процедуру найма: независимая проверка личности через государственный документ сверх самого видеозвонка, обязательная очная явка хотя бы на одном из этапов, проверка живости видеопотока прямо во время интервью. Защита от подделки на извлечении встраивается в процедуру финансового решения: верификация по независимому каналу — обратный звонок на заранее известный, занесённый в справочник номер, а не на тот, с которого пришло поручение, — и двойное утверждение крупной транзакции вторым, независимым сотрудником. Обе процедуры — не технические контрмеры против самой модели, не детектор дипфейков, который ловит подделку по артефактам картинки, а изменение того, в какой момент жизненного цикла компании узнавание вообще должно что-то доказывать.</a:t>
            </a:r>
          </a:p>
          <a:p>
            <a:r>
              <a:t/>
            </a:r>
          </a:p>
          <a:p>
            <a:r>
              <a:t>Именно поэтому эта лекция не повторяет разбор Лекции 14: он уже произведён там, с собственными числами и собственным уроком, и переносить его сюда означало бы показать один и тот же слайд дважды под разными обложками — вместо того чтобы показать, что один и тот же инструмент требует двух разных ответов в зависимости от того, где именно в жизненном цикле компании он применён.</a:t>
            </a:r>
          </a:p>
          <a:p>
            <a:r>
              <a:t/>
            </a:r>
          </a:p>
          <a:p>
            <a:r>
              <a:t>Долг называется явно, а не остаётся недосказанным: то, что здесь измерено как подделка доверия к контенту, в Лекции 14 станет инструментом атаки на периметр предприятия. Технология одна и та же на обеих лекциях; то, против чего она работает, разное. Для инженера, который встретит обе лекции курса, это не повод отмахнуться от уже виденного материала во второй раз — это повод заметить, что один и тот же технический прогресс не имеет одного фиксированного адреса применения: он ищет самое дешёвое и самое ценное место входа, и это место меняется в зависимости от того, что именно защищено слабее всего в момент атаки, а не от того, что технически проще синтезировать.</a:t>
            </a:r>
          </a:p>
          <a:p>
            <a:r>
              <a:t/>
            </a:r>
          </a:p>
          <a:p>
            <a:r>
              <a:t>Это и есть практическая причина, по которой курс устроен как последовательность лекций, а не как одна исчерпывающая глава про генеративный обман: одна и та же техническая возможность даёт разный урок в зависимости от того, куда она направлена, и сжатие обоих уроков в одну лекцию стоило бы читателю не времени, а глубины — вдвое меньше конкретики о вдвое большем числе ситуаций. Узнавание на входе в компанию и узнавание в момент финансового решения внутри уже действующей компании — разные точки ответственности, разные регламенты защиты и разные люди, которые должны будут об этом узнать на своей работе.</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Утверждение, которое глава зарабатывает этим путём, короче, чем кажется на входе. Лицо на видеозвонке, голос в трубке, подпись под статьёй, очевидно лицензированная картинка — каждый из этих сигналов был устроен так, что подделать его стоило дороже, чем получить законно: нужно было время, навык, доступ или деньги. Генеративная модель убрала именно это условие, не тронув ничего другого — ни качество результата, ни намерение того, кто им пользуется. Ломается не продукт, а механизм, которым раньше бесплатно проверяли, можно ли продукту верить.</a:t>
            </a:r>
          </a:p>
          <a:p>
            <a:r>
              <a:t/>
            </a:r>
          </a:p>
          <a:p>
            <a:r>
              <a:t>Стоит явно назвать, чего это утверждение не говорит, потому что соблазн додумать его до более удобной для пересказа формы велик. Оно не говорит, что генеративные модели сами по себе опасны или нежелательны: ни один из разобранных кейсов не показывает вреда, причинённого качеством генерации самой по себе, — весь измеренный вред причинён тем, что старая бесплатная процедура проверки перестала работать, а новая ещё не построена или построена не везде. Оно также не говорит, что проблему можно решить, если научить людей распознавать подделки лучше: собственная способность человека отличить дипфейк на глаз измерена близко к случайному угадыванию, и это не вопрос тренировки внимания, а структурный предел человеческого восприятия перед технологией, обученной именно этот предел эксплуатировать.</a:t>
            </a:r>
          </a:p>
          <a:p>
            <a:r>
              <a:t/>
            </a:r>
          </a:p>
          <a:p>
            <a:r>
              <a:t>Ответ на вопрос, кто теперь платит за узнавание, которое раньше ничего не стоило, не один и тот же для всех четырёх точек пути: иногда платит рынок — разница между лицензионным тарифом и ставкой по мировому соглашению; иногда платит отрасль — реструктуризация компании, которая пыталась защититься консолидацией; иногда платит читатель или зритель собственным временем на перепроверку. Единого счёта нет, и глава не выдаёт его как одну цифру — она показывает, что платёж переместился, и называет, куда именно, в каждой из четырёх точек по отдельности. Разумный следующий вопрос после этой находки — не «как распознать подделку», а «какая процедура теперь встаёт на место бесплатного узнавания, и кто за неё платит». Этот вопрос остаётся открытым и после этой лекции: Лекция 14 отвечает на него для одного конкретного адреса — корпоративного периметра, — и это прямое продолжение, а не совпадение.</a:t>
            </a:r>
          </a:p>
          <a:p>
            <a:r>
              <a:t/>
            </a:r>
          </a:p>
          <a:p>
            <a:r>
              <a:t>Для инженера, который выйдет из этой аудитории работать с генеративными моделями на практике, здесь есть и прикладная часть, не только историческая. Критерии отказа, собранные ранее из материала всей главы, не заменяют суждения — они дают минимальный список вопросов, которые стоит задать себе до того, как продукт с узнаванием (голосом, лицом, подписью, лицензией) пошёл в работу. К этому списку стоит добавить ещё один вопрос, который прямо вытекает из всего пройденного пути: если проверка провалится, кто из четырёх адресатов главы — рынок, отрасль, читатель, сам заказчик — заплатит за этот провал, и готов ли заказчик, для которого инженер строит продукт, объяснить это другим людям вслух, а не только обнаружить постфактум в новостях. Этот вопрос не юридический и не технический — он управленческий, и именно поэтому он обычно не задаётся вовремя: его некому формально поручить, пока кто-то явно не спросит.</a:t>
            </a:r>
          </a:p>
          <a:p>
            <a:r>
              <a:t/>
            </a:r>
          </a:p>
          <a:p>
            <a:r>
              <a:t>Глава не утверждает, что на каждый такой вопрос уже есть готовый ответ в праве или в индустрии — половина разобранных кейсов показывает, что ответа пока нет ни у суда, ни у рынка. Это и есть заработанный итог: не «генеративные модели решили вопрос доверия» и не «разрушили его навсегда», а «старый бесплатный способ его подтверждать больше не работает, и новый способ ещё строится у всех на глазах — в том числе у тех, кто сегодня сидит в этой аудитории и будет этот способ строить». Утверждение не выглядит эффектно, сжатое до одной строки, и именно поэтому его стоит унести не как лозунг, а как рабочий вопрос, который берут с собой в следующий проект, где снова встретится узнавание, прежде бывшее бесплатным.</a:t>
            </a:r>
          </a:p>
          <a:p>
            <a:r>
              <a:t/>
            </a:r>
          </a:p>
          <a:p>
            <a:r>
              <a:t>**Источники.** </a:t>
            </a:r>
            <a:r>
              <a:rPr u="sng">
                <a:solidFill>
                  <a:srgbClr val="065A82"/>
                </a:solidFill>
                <a:hlinkClick r:id="rId3"/>
              </a:rPr>
              <a:t>Diel и соавт., метаанализ распознавания дипфейков, Computers in Human Behavior Reports, 2024</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Эта глава прошла путь одного творческого артефакта по четырём точкам и в каждой нашла одно и то же: сигнал, который раньше стоил доверия бесплатно, можно подделать дёшево. Три проверки на этом кадре переводят находку в форму, которую можно приложить к любой работе в зале, не только к творческому производству.</a:t>
            </a:r>
          </a:p>
          <a:p>
            <a:r>
              <a:t/>
            </a:r>
          </a:p>
          <a:p>
            <a:r>
              <a:t>Первая проверка — про саму цену подделки. Для любого сигнала узнавания — подписи под документом, голоса в трубке, лица на видеозвонке, объявленной лицензии — стоит спросить, во сколько обходится его подделать сейчас, а не десять лет назад. Если ответ «почти даром», прежнее доверие к этому сигналу уже не опирается ни на что, кроме привычки.</a:t>
            </a:r>
          </a:p>
          <a:p>
            <a:r>
              <a:t/>
            </a:r>
          </a:p>
          <a:p>
            <a:r>
              <a:t>Вторая проверка — про то, можно ли положиться на бдительность человека. Собственная способность людей отличить качественную подделку на глаз, без протокола, измерена метаанализом полусотни с лишним исследований близко к случайному угадыванию: общая точность распознавания подделок — 55,54% против 68,08% для настоящих материалов, то есть люди чаще принимают подделку за настоящее, чем наоборот. Это не вопрос невнимательности конкретного человека — это предел самого навыка перед технологией, обученной именно этот предел эксплуатировать. Поэтому вторая проверка не «научите людей внимательнее смотреть», а «есть ли процедура, которая не полагается на то, что кто-то заметит подделку глазами».</a:t>
            </a:r>
          </a:p>
          <a:p>
            <a:r>
              <a:t/>
            </a:r>
          </a:p>
          <a:p>
            <a:r>
              <a:t>Эта цифра не спорит с более низкой, названной в начале лекции: там человека заранее предупреждали, что перед ним может быть подделка, и просили её найти, — а метаанализ усредняет людей, которые ничего заранее не знали и подделку специально не искали. Два числа отвечают на разные вопросы, и оба сходятся в одном: ни в узком условии целенаправленного поиска, ни в широком условии обычного восприятия результат не намного лучше угадывания. Простое «будьте внимательнее» почти не работает ни при каком способе его измерить — поэтому реальный сдвиг происходит не в тренировке бдительности, а во внедрении протокола, который на догадку человека вовсе не полагается.</a:t>
            </a:r>
          </a:p>
          <a:p>
            <a:r>
              <a:t/>
            </a:r>
          </a:p>
          <a:p>
            <a:r>
              <a:t>Третья проверка — про то, кто платит, если первые две не сработали. Глава показала, что платёж после провала узнавания ложится на разных людей в разных точках: иногда на рынок, иногда на отрасль, иногда на самого читателя или зрителя его временем. Стоит спросить заранее, а не постфактум, кто в собственном контуре слушателя окажется тем адресатом, — и готов ли кто-то назвать это вслух до того, как случится, а не после.</a:t>
            </a:r>
          </a:p>
          <a:p>
            <a:r>
              <a:t/>
            </a:r>
          </a:p>
          <a:p>
            <a:r>
              <a:t>Вопрос в зал задаётся про рабочий контур самого слушателя, не про творческие индустрии: автоматический элемент, который что-то подтверждает за человека, сегодня есть почти в любой профессии. Ответ ждём вслух; если зал молчит, можно предложить первую проверку как подсказку — спросить, у кого в работе сигнал узнавания, который ещё вчера стоил дорого подделать, а сегодня стоит копейки.</a:t>
            </a:r>
          </a:p>
          <a:p>
            <a:r>
              <a:t/>
            </a:r>
          </a:p>
          <a:p>
            <a:r>
              <a:t>Эти три проверки — не новый материал, добавленный специально для закрытия. Это та же форма, которую лекция применяла к шести разным разборам на разном материале: назвать цену ошибки, назвать классический способ её удержать, назвать, что изменила модель, и назвать, куда переехала нагрузка. Разница лишь в том, что здесь форма прикладывается не к чужому кейсу — к собственной работе слушателя, прямо сейчас, пока он ещё в аудитории и может спросить себя, а не узнать об ответе постфактум из новостей.</a:t>
            </a:r>
          </a:p>
          <a:p>
            <a:r>
              <a:t/>
            </a:r>
          </a:p>
          <a:p>
            <a:r>
              <a:t>На снимке — человек, проверяющий источник информации по каналу, не связанному с тем, откуда пришло исходное сообщение: ровно та проверка, о которой говорит третья строка кадра. Кадр ничего не доказывает сам по себе — он держит экран, пока в зале звучит вопрос, а не пустую рамку.</a:t>
            </a:r>
          </a:p>
          <a:p>
            <a:r>
              <a:t/>
            </a:r>
          </a:p>
          <a:p>
            <a:r>
              <a:t>**Источники.** </a:t>
            </a:r>
            <a:r>
              <a:rPr u="sng">
                <a:solidFill>
                  <a:srgbClr val="065A82"/>
                </a:solidFill>
                <a:hlinkClick r:id="rId3"/>
              </a:rPr>
              <a:t>Diel и соавт., метаанализ распознавания дипфейков, Computers in Human Behavior Reports, 2024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hyperlink" Target="https://www.marketing-interactive.com/toys-r-us-sora-ai-sentiments-plummet" TargetMode="Externa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orbes.com/sites/danidiplacido/2025/11/04/coca-cola-sparks-backlash-with-ai-generated-christmas-ad-again/" TargetMode="Externa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www.designshifu.com/blog/graphic-designer-cost" TargetMode="External"/><Relationship Id="rId4" Type="http://schemas.openxmlformats.org/officeDocument/2006/relationships/hyperlink" Target="https://gigradar.io/blog/upwork-hourly-rate" TargetMode="Externa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hyperlink" Target="https://ladachizhova.substack.com/p/is-it-hard-to-be-an-illustrator-in" TargetMode="Externa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hyperlink" Target="https://ladachizhova.substack.com/p/is-it-hard-to-be-an-illustrator-in" TargetMode="Externa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hyperlink" Target="https://investors.upwork.com/node/12681/pdf" TargetMode="Externa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ls.gov/ooh/arts-and-design/graphic-designers.htm" TargetMode="External"/><Relationship Id="rId3" Type="http://schemas.openxmlformats.org/officeDocument/2006/relationships/hyperlink" Target="https://tryvibeworker.com/blog/upwork-job-market-report-july-2026" TargetMode="Externa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hyperlink" Target="https://ppc.land/nyse-halts-getty-images-trading-after-shares-fall-to-12-cents/" TargetMode="External"/><Relationship Id="rId4" Type="http://schemas.openxmlformats.org/officeDocument/2006/relationships/hyperlink" Target="https://www.tipranks.com/news/company-announcements/getty-images-ends-shutterstock-merger-redeems-secured-notes" TargetMode="Externa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hyperlink" Target="https://petapixel.com/2026/10/12/how-gettys-bankruptcy-affects-photographers-payments-contracts-and-next-steps/" TargetMode="Externa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hyperlink" Target="https://www.predictiveanalyticsworld.com/machinelearningtimes/cnet-found-errors-in-more-than-half-of-its-ai-written-stories/12869/" TargetMode="External"/><Relationship Id="rId4" Type="http://schemas.openxmlformats.org/officeDocument/2006/relationships/hyperlink" Target="https://system1group.com/ad-of-the-week/ai-or-no-ai-coke-gets-the-christmas-love" TargetMode="External"/><Relationship Id="rId5" Type="http://schemas.openxmlformats.org/officeDocument/2006/relationships/hyperlink" Target="https://carma.com/ai/" TargetMode="External"/><Relationship Id="rId6" Type="http://schemas.openxmlformats.org/officeDocument/2006/relationships/hyperlink" Target="https://www.twobirds.com/en/insights/2025/uk/stability-ai-defeats-getty-images-copyright-claims-in-first-of-its-kind-dispute-before-the-high-cour" TargetMode="Externa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hyperlink" Target="https://doi.org/10.1016/j.chbr.2024.100538" TargetMode="Externa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hyperlink" Target="https://doi.org/10.1016/j.chbr.2024.100538" TargetMode="External"/><Relationship Id="rId4" Type="http://schemas.openxmlformats.org/officeDocument/2006/relationships/notesSlide" Target="../notesSlides/notesSlide7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74159" y="91440"/>
            <a:ext cx="7214616" cy="4842598"/>
          </a:xfrm>
          <a:prstGeom prst="roundRect">
            <a:avLst>
              <a:gd name="adj" fmla="val 6294"/>
            </a:avLst>
          </a:prstGeom>
          <a:solidFill>
            <a:srgbClr val="F4F7FA"/>
          </a:solidFill>
          <a:ln w="19050">
            <a:solidFill>
              <a:srgbClr val="1C7293"/>
            </a:solidFill>
          </a:ln>
          <a:effectLst/>
        </p:spPr>
        <p:txBody>
          <a:bodyPr rtlCol="0" anchor="ctr"/>
          <a:lstStyle/>
          <a:p>
            <a:pPr algn="ctr"/>
          </a:p>
        </p:txBody>
      </p:sp>
      <p:pic>
        <p:nvPicPr>
          <p:cNvPr id="4" name="Picture 3" descr="s01-cover-dual-monitor-stylus-workstation.jpg"/>
          <p:cNvPicPr>
            <a:picLocks noChangeAspect="1"/>
          </p:cNvPicPr>
          <p:nvPr/>
        </p:nvPicPr>
        <p:blipFill>
          <a:blip r:embed="rId2"/>
          <a:stretch>
            <a:fillRect/>
          </a:stretch>
        </p:blipFill>
        <p:spPr>
          <a:xfrm>
            <a:off x="4519879" y="137160"/>
            <a:ext cx="7123176" cy="4751158"/>
          </a:xfrm>
          <a:prstGeom prst="rect">
            <a:avLst/>
          </a:prstGeom>
        </p:spPr>
      </p:pic>
      <p:sp>
        <p:nvSpPr>
          <p:cNvPr id="5" name="TextBox 4"/>
          <p:cNvSpPr txBox="1"/>
          <p:nvPr/>
        </p:nvSpPr>
        <p:spPr>
          <a:xfrm>
            <a:off x="502920" y="1005840"/>
            <a:ext cx="3660343" cy="5230368"/>
          </a:xfrm>
          <a:prstGeom prst="rect">
            <a:avLst/>
          </a:prstGeom>
          <a:noFill/>
        </p:spPr>
        <p:txBody>
          <a:bodyPr wrap="square" lIns="0" rIns="0" tIns="0" bIns="0" anchor="t">
            <a:spAutoFit/>
          </a:bodyPr>
          <a:lstStyle/>
          <a:p>
            <a:pPr algn="l">
              <a:lnSpc>
                <a:spcPct val="122000"/>
              </a:lnSpc>
            </a:pPr>
            <a:r>
              <a:rPr sz="3200" b="0" i="0">
                <a:solidFill>
                  <a:srgbClr val="21295C"/>
                </a:solidFill>
                <a:latin typeface="Arial"/>
              </a:rPr>
              <a:t>Узнавание стоило доверия бесплатно — сколько оно стоит теперь</a:t>
            </a:r>
          </a:p>
          <a:p>
            <a:pPr algn="l">
              <a:lnSpc>
                <a:spcPct val="122000"/>
              </a:lnSpc>
              <a:spcBef>
                <a:spcPts val="1200"/>
              </a:spcBef>
            </a:pPr>
            <a:r>
              <a:rPr sz="3200" b="0" i="0">
                <a:solidFill>
                  <a:srgbClr val="21295C"/>
                </a:solidFill>
                <a:latin typeface="Arial"/>
              </a:rPr>
              <a:t>Лекция 8</a:t>
            </a:r>
          </a:p>
          <a:p>
            <a:pPr algn="l">
              <a:lnSpc>
                <a:spcPct val="122000"/>
              </a:lnSpc>
              <a:spcBef>
                <a:spcPts val="1200"/>
              </a:spcBef>
            </a:pPr>
            <a:r>
              <a:rPr sz="1600" b="0" i="0">
                <a:solidFill>
                  <a:srgbClr val="21295C"/>
                </a:solidFill>
                <a:latin typeface="Arial"/>
              </a:rPr>
              <a:t>Два-три дня на правку логотипа стали текстовым запросом и несколькими секундами — а вместе с ценой исполнения обнулилась и цена подделать того, кто его сделал.</a:t>
            </a:r>
          </a:p>
        </p:txBody>
      </p:sp>
      <p:sp>
        <p:nvSpPr>
          <p:cNvPr id="6" name="Rectangle 5"/>
          <p:cNvSpPr/>
          <p:nvPr/>
        </p:nvSpPr>
        <p:spPr>
          <a:xfrm>
            <a:off x="502920" y="621792"/>
            <a:ext cx="1463040" cy="64008"/>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Два-три дня на правку: как творческий акт делали руками</a:t>
            </a:r>
          </a:p>
        </p:txBody>
      </p:sp>
      <p:sp>
        <p:nvSpPr>
          <p:cNvPr id="4" name="Rounded Rectangle 3"/>
          <p:cNvSpPr/>
          <p:nvPr/>
        </p:nvSpPr>
        <p:spPr>
          <a:xfrm>
            <a:off x="502920" y="1335024"/>
            <a:ext cx="1899818"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ЦИКЛ ПРАВКИ</a:t>
            </a:r>
          </a:p>
        </p:txBody>
      </p:sp>
      <p:sp>
        <p:nvSpPr>
          <p:cNvPr id="6" name="TextBox 5"/>
          <p:cNvSpPr txBox="1"/>
          <p:nvPr/>
        </p:nvSpPr>
        <p:spPr>
          <a:xfrm>
            <a:off x="640080" y="1725375"/>
            <a:ext cx="16254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1–3 дня</a:t>
            </a:r>
          </a:p>
        </p:txBody>
      </p:sp>
      <p:sp>
        <p:nvSpPr>
          <p:cNvPr id="7" name="TextBox 6"/>
          <p:cNvSpPr txBox="1"/>
          <p:nvPr/>
        </p:nvSpPr>
        <p:spPr>
          <a:xfrm>
            <a:off x="640080" y="2152374"/>
            <a:ext cx="16254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бриф → референс → черновик → правка → сдача</a:t>
            </a:r>
          </a:p>
        </p:txBody>
      </p:sp>
      <p:sp>
        <p:nvSpPr>
          <p:cNvPr id="8" name="Rounded Rectangle 7"/>
          <p:cNvSpPr/>
          <p:nvPr/>
        </p:nvSpPr>
        <p:spPr>
          <a:xfrm>
            <a:off x="2567330" y="1335024"/>
            <a:ext cx="1899818" cy="1588240"/>
          </a:xfrm>
          <a:prstGeom prst="roundRect">
            <a:avLst>
              <a:gd name="adj" fmla="val 19191"/>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0449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ТИПОВОЕ ЗАДАНИЕ</a:t>
            </a:r>
          </a:p>
        </p:txBody>
      </p:sp>
      <p:sp>
        <p:nvSpPr>
          <p:cNvPr id="10" name="TextBox 9"/>
          <p:cNvSpPr txBox="1"/>
          <p:nvPr/>
        </p:nvSpPr>
        <p:spPr>
          <a:xfrm>
            <a:off x="2704490" y="1725375"/>
            <a:ext cx="16254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a:t>
            </a:r>
          </a:p>
        </p:txBody>
      </p:sp>
      <p:sp>
        <p:nvSpPr>
          <p:cNvPr id="11" name="TextBox 10"/>
          <p:cNvSpPr txBox="1"/>
          <p:nvPr/>
        </p:nvSpPr>
        <p:spPr>
          <a:xfrm>
            <a:off x="2704490" y="2152374"/>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рыночная ставка фрилансера, 2026</a:t>
            </a:r>
          </a:p>
        </p:txBody>
      </p:sp>
      <p:sp>
        <p:nvSpPr>
          <p:cNvPr id="12" name="Rounded Rectangle 11"/>
          <p:cNvSpPr/>
          <p:nvPr/>
        </p:nvSpPr>
        <p:spPr>
          <a:xfrm>
            <a:off x="4631740" y="1335024"/>
            <a:ext cx="1899818" cy="1588240"/>
          </a:xfrm>
          <a:prstGeom prst="roundRect">
            <a:avLst>
              <a:gd name="adj" fmla="val 19191"/>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768900" y="1472184"/>
            <a:ext cx="16254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СЕГОДНЯШНЯЯ АЛЬТЕРНАТИВА</a:t>
            </a:r>
          </a:p>
        </p:txBody>
      </p:sp>
      <p:sp>
        <p:nvSpPr>
          <p:cNvPr id="14" name="TextBox 13"/>
          <p:cNvSpPr txBox="1"/>
          <p:nvPr/>
        </p:nvSpPr>
        <p:spPr>
          <a:xfrm>
            <a:off x="4768900" y="1932846"/>
            <a:ext cx="162549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секунды</a:t>
            </a:r>
          </a:p>
        </p:txBody>
      </p:sp>
      <p:sp>
        <p:nvSpPr>
          <p:cNvPr id="15" name="TextBox 14"/>
          <p:cNvSpPr txBox="1"/>
          <p:nvPr/>
        </p:nvSpPr>
        <p:spPr>
          <a:xfrm>
            <a:off x="4768900" y="2359845"/>
            <a:ext cx="16254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текстовый запрос вместо цикла правок</a:t>
            </a:r>
          </a:p>
        </p:txBody>
      </p:sp>
      <p:sp>
        <p:nvSpPr>
          <p:cNvPr id="16" name="TextBox 15"/>
          <p:cNvSpPr txBox="1"/>
          <p:nvPr/>
        </p:nvSpPr>
        <p:spPr>
          <a:xfrm>
            <a:off x="502920" y="3142720"/>
            <a:ext cx="1307592" cy="58707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Изображение</a:t>
            </a:r>
          </a:p>
        </p:txBody>
      </p:sp>
      <p:sp>
        <p:nvSpPr>
          <p:cNvPr id="17" name="Rounded Rectangle 16"/>
          <p:cNvSpPr/>
          <p:nvPr/>
        </p:nvSpPr>
        <p:spPr>
          <a:xfrm>
            <a:off x="1920240"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Бриф</a:t>
            </a:r>
          </a:p>
        </p:txBody>
      </p:sp>
      <p:sp>
        <p:nvSpPr>
          <p:cNvPr id="19" name="Right Arrow 18"/>
          <p:cNvSpPr/>
          <p:nvPr/>
        </p:nvSpPr>
        <p:spPr>
          <a:xfrm>
            <a:off x="2913049" y="3367680"/>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14164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22394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Референс</a:t>
            </a:r>
          </a:p>
        </p:txBody>
      </p:sp>
      <p:sp>
        <p:nvSpPr>
          <p:cNvPr id="22" name="Right Arrow 21"/>
          <p:cNvSpPr/>
          <p:nvPr/>
        </p:nvSpPr>
        <p:spPr>
          <a:xfrm>
            <a:off x="4134459" y="3367680"/>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36305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44535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25" name="Right Arrow 24"/>
          <p:cNvSpPr/>
          <p:nvPr/>
        </p:nvSpPr>
        <p:spPr>
          <a:xfrm>
            <a:off x="5355869" y="3367680"/>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584469" y="3106144"/>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5666765" y="3151864"/>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Правка → сдача</a:t>
            </a:r>
          </a:p>
        </p:txBody>
      </p:sp>
      <p:sp>
        <p:nvSpPr>
          <p:cNvPr id="28" name="TextBox 27"/>
          <p:cNvSpPr txBox="1"/>
          <p:nvPr/>
        </p:nvSpPr>
        <p:spPr>
          <a:xfrm>
            <a:off x="502920" y="3949255"/>
            <a:ext cx="1307592" cy="58707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Музыка/озвучка</a:t>
            </a:r>
          </a:p>
        </p:txBody>
      </p:sp>
      <p:sp>
        <p:nvSpPr>
          <p:cNvPr id="29" name="Rounded Rectangle 28"/>
          <p:cNvSpPr/>
          <p:nvPr/>
        </p:nvSpPr>
        <p:spPr>
          <a:xfrm>
            <a:off x="1920240"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Бриф</a:t>
            </a:r>
          </a:p>
        </p:txBody>
      </p:sp>
      <p:sp>
        <p:nvSpPr>
          <p:cNvPr id="31" name="Right Arrow 30"/>
          <p:cNvSpPr/>
          <p:nvPr/>
        </p:nvSpPr>
        <p:spPr>
          <a:xfrm>
            <a:off x="2913049" y="4174215"/>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314164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322394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Кастинг</a:t>
            </a:r>
          </a:p>
        </p:txBody>
      </p:sp>
      <p:sp>
        <p:nvSpPr>
          <p:cNvPr id="34" name="Right Arrow 33"/>
          <p:cNvSpPr/>
          <p:nvPr/>
        </p:nvSpPr>
        <p:spPr>
          <a:xfrm>
            <a:off x="4134459" y="4174215"/>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436305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444535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37" name="Right Arrow 36"/>
          <p:cNvSpPr/>
          <p:nvPr/>
        </p:nvSpPr>
        <p:spPr>
          <a:xfrm>
            <a:off x="5355869" y="4174215"/>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5584469" y="3912679"/>
            <a:ext cx="947089" cy="66023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5666765" y="3958399"/>
            <a:ext cx="782497" cy="568790"/>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Правка → сдача</a:t>
            </a:r>
          </a:p>
        </p:txBody>
      </p:sp>
      <p:sp>
        <p:nvSpPr>
          <p:cNvPr id="40" name="TextBox 39"/>
          <p:cNvSpPr txBox="1"/>
          <p:nvPr/>
        </p:nvSpPr>
        <p:spPr>
          <a:xfrm>
            <a:off x="502920" y="4609486"/>
            <a:ext cx="60286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и тот же цикл — изображение, трек, озвучка</a:t>
            </a:r>
          </a:p>
        </p:txBody>
      </p:sp>
      <p:sp>
        <p:nvSpPr>
          <p:cNvPr id="41" name="Rounded Rectangle 40"/>
          <p:cNvSpPr/>
          <p:nvPr/>
        </p:nvSpPr>
        <p:spPr>
          <a:xfrm>
            <a:off x="374904" y="4912170"/>
            <a:ext cx="11441887" cy="1254403"/>
          </a:xfrm>
          <a:prstGeom prst="roundRect">
            <a:avLst>
              <a:gd name="adj" fmla="val 24298"/>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003610"/>
            <a:ext cx="11112703" cy="1232597"/>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Дизайнер получает бриф и референс, присылает черновик через день-два, правит по замечаниям — и только после двух-трёх итераций сдаёт финальный файл.</a:t>
            </a:r>
          </a:p>
          <a:p>
            <a:pPr algn="l">
              <a:lnSpc>
                <a:spcPct val="126000"/>
              </a:lnSpc>
              <a:spcBef>
                <a:spcPts val="700"/>
              </a:spcBef>
            </a:pPr>
            <a:r>
              <a:rPr sz="1500" b="0" i="0">
                <a:solidFill>
                  <a:srgbClr val="21295C"/>
                </a:solidFill>
                <a:latin typeface="Arial"/>
              </a:rPr>
              <a:t/>
            </a:r>
            <a:r>
              <a:rPr sz="1500" b="1" i="0">
                <a:solidFill>
                  <a:srgbClr val="21295C"/>
                </a:solidFill>
                <a:latin typeface="Arial"/>
              </a:rPr>
              <a:t>Весь цикл — 1–3 дня, 50–150 долларов за типовое задание.</a:t>
            </a:r>
            <a:r>
              <a:rPr sz="1500" b="0" i="0">
                <a:solidFill>
                  <a:srgbClr val="21295C"/>
                </a:solidFill>
                <a:latin typeface="Arial"/>
              </a:rPr>
              <a:t> Музыка и озвучка устроены похожим циклом.</a:t>
            </a:r>
          </a:p>
        </p:txBody>
      </p:sp>
      <p:sp>
        <p:nvSpPr>
          <p:cNvPr id="43" name="Rounded Rectangle 42"/>
          <p:cNvSpPr/>
          <p:nvPr/>
        </p:nvSpPr>
        <p:spPr>
          <a:xfrm>
            <a:off x="6842455" y="1335024"/>
            <a:ext cx="4846320" cy="3323272"/>
          </a:xfrm>
          <a:prstGeom prst="roundRect">
            <a:avLst>
              <a:gd name="adj" fmla="val 9171"/>
            </a:avLst>
          </a:prstGeom>
          <a:solidFill>
            <a:srgbClr val="F4F7FA"/>
          </a:solidFill>
          <a:ln w="19050">
            <a:solidFill>
              <a:srgbClr val="1C7293"/>
            </a:solidFill>
          </a:ln>
          <a:effectLst/>
        </p:spPr>
        <p:txBody>
          <a:bodyPr rtlCol="0" anchor="ctr"/>
          <a:lstStyle/>
          <a:p>
            <a:pPr algn="ctr"/>
          </a:p>
        </p:txBody>
      </p:sp>
      <p:pic>
        <p:nvPicPr>
          <p:cNvPr id="44" name="Picture 43" descr="s02-fashion-design-sketch-pencil-paper.jpg"/>
          <p:cNvPicPr>
            <a:picLocks noChangeAspect="1"/>
          </p:cNvPicPr>
          <p:nvPr/>
        </p:nvPicPr>
        <p:blipFill>
          <a:blip r:embed="rId2"/>
          <a:stretch>
            <a:fillRect/>
          </a:stretch>
        </p:blipFill>
        <p:spPr>
          <a:xfrm>
            <a:off x="6979615" y="1472184"/>
            <a:ext cx="4572000" cy="3048952"/>
          </a:xfrm>
          <a:prstGeom prst="rect">
            <a:avLst/>
          </a:prstGeom>
        </p:spPr>
      </p:pic>
      <p:sp>
        <p:nvSpPr>
          <p:cNvPr id="45" name="Rectangle 4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6" name="TextBox 4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DesignShifu 2026; GigRadar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Узнавание было бесплатным: два ряда, один механизм</a:t>
            </a:r>
          </a:p>
        </p:txBody>
      </p:sp>
      <p:sp>
        <p:nvSpPr>
          <p:cNvPr id="4" name="Rounded Rectangle 3"/>
          <p:cNvSpPr/>
          <p:nvPr/>
        </p:nvSpPr>
        <p:spPr>
          <a:xfrm>
            <a:off x="502920"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CNET: СТАТЬИ, ПОТРЕБОВАВШИЕ ПРАВКИ</a:t>
            </a:r>
          </a:p>
        </p:txBody>
      </p:sp>
      <p:sp>
        <p:nvSpPr>
          <p:cNvPr id="6" name="TextBox 5"/>
          <p:cNvSpPr txBox="1"/>
          <p:nvPr/>
        </p:nvSpPr>
        <p:spPr>
          <a:xfrm>
            <a:off x="640080"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 (41 из 77)</a:t>
            </a:r>
          </a:p>
        </p:txBody>
      </p:sp>
      <p:sp>
        <p:nvSpPr>
          <p:cNvPr id="7" name="TextBox 6"/>
          <p:cNvSpPr txBox="1"/>
          <p:nvPr/>
        </p:nvSpPr>
        <p:spPr>
          <a:xfrm>
            <a:off x="640080"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уровень ошибок классической журналистики — 40–61%</a:t>
            </a:r>
          </a:p>
        </p:txBody>
      </p:sp>
      <p:sp>
        <p:nvSpPr>
          <p:cNvPr id="8" name="Rounded Rectangle 7"/>
          <p:cNvSpPr/>
          <p:nvPr/>
        </p:nvSpPr>
        <p:spPr>
          <a:xfrm>
            <a:off x="6178143" y="1335024"/>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6315303" y="1472184"/>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ПУБЛИЧНО ИСПРАВЛЯЕТСЯ (КЛАССИКА)</a:t>
            </a:r>
          </a:p>
        </p:txBody>
      </p:sp>
      <p:sp>
        <p:nvSpPr>
          <p:cNvPr id="10" name="TextBox 9"/>
          <p:cNvSpPr txBox="1"/>
          <p:nvPr/>
        </p:nvSpPr>
        <p:spPr>
          <a:xfrm>
            <a:off x="6315303" y="1725375"/>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около 2%</a:t>
            </a:r>
          </a:p>
        </p:txBody>
      </p:sp>
      <p:sp>
        <p:nvSpPr>
          <p:cNvPr id="11" name="TextBox 10"/>
          <p:cNvSpPr txBox="1"/>
          <p:nvPr/>
        </p:nvSpPr>
        <p:spPr>
          <a:xfrm>
            <a:off x="6315303" y="2152374"/>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классическая журналистика, независимые аудиты</a:t>
            </a:r>
          </a:p>
        </p:txBody>
      </p:sp>
      <p:sp>
        <p:nvSpPr>
          <p:cNvPr id="12" name="Rounded Rectangle 11"/>
          <p:cNvSpPr/>
          <p:nvPr/>
        </p:nvSpPr>
        <p:spPr>
          <a:xfrm>
            <a:off x="502920" y="2665369"/>
            <a:ext cx="5510631" cy="1165753"/>
          </a:xfrm>
          <a:prstGeom prst="roundRect">
            <a:avLst>
              <a:gd name="adj" fmla="val 2500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НАЁМ: ПРОВЕРОК УЗНАВАНИЯ</a:t>
            </a:r>
          </a:p>
        </p:txBody>
      </p:sp>
      <p:sp>
        <p:nvSpPr>
          <p:cNvPr id="14" name="TextBox 13"/>
          <p:cNvSpPr txBox="1"/>
          <p:nvPr/>
        </p:nvSpPr>
        <p:spPr>
          <a:xfrm>
            <a:off x="640080" y="3055721"/>
            <a:ext cx="5236311"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из 5 не поймали подмену</a:t>
            </a:r>
          </a:p>
        </p:txBody>
      </p:sp>
      <p:sp>
        <p:nvSpPr>
          <p:cNvPr id="15" name="TextBox 14"/>
          <p:cNvSpPr txBox="1"/>
          <p:nvPr/>
        </p:nvSpPr>
        <p:spPr>
          <a:xfrm>
            <a:off x="640080"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4 видеоинтервью + проверка биографии; поймал EDR спустя дни</a:t>
            </a:r>
          </a:p>
        </p:txBody>
      </p:sp>
      <p:sp>
        <p:nvSpPr>
          <p:cNvPr id="16" name="Rounded Rectangle 15"/>
          <p:cNvSpPr/>
          <p:nvPr/>
        </p:nvSpPr>
        <p:spPr>
          <a:xfrm>
            <a:off x="6178143" y="2665369"/>
            <a:ext cx="5510631" cy="1165753"/>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6315303" y="2802529"/>
            <a:ext cx="5236311"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ЦЕНА ПОДДЕЛКИ ЛИЧНОСТИ</a:t>
            </a:r>
          </a:p>
        </p:txBody>
      </p:sp>
      <p:sp>
        <p:nvSpPr>
          <p:cNvPr id="18" name="TextBox 17"/>
          <p:cNvSpPr txBox="1"/>
          <p:nvPr/>
        </p:nvSpPr>
        <p:spPr>
          <a:xfrm>
            <a:off x="6315303" y="3055721"/>
            <a:ext cx="5236311"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≈120 $ + ≈70 минут</a:t>
            </a:r>
          </a:p>
        </p:txBody>
      </p:sp>
      <p:sp>
        <p:nvSpPr>
          <p:cNvPr id="19" name="TextBox 18"/>
          <p:cNvSpPr txBox="1"/>
          <p:nvPr/>
        </p:nvSpPr>
        <p:spPr>
          <a:xfrm>
            <a:off x="6315303" y="3482720"/>
            <a:ext cx="5236311"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украденная личность + дипфейк реального времени на бытовом GPU</a:t>
            </a:r>
          </a:p>
        </p:txBody>
      </p:sp>
      <p:sp>
        <p:nvSpPr>
          <p:cNvPr id="20" name="Rounded Rectangle 19"/>
          <p:cNvSpPr/>
          <p:nvPr/>
        </p:nvSpPr>
        <p:spPr>
          <a:xfrm>
            <a:off x="374904" y="3922563"/>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Ряд 1 — медиа.</a:t>
            </a:r>
            <a:r>
              <a:rPr sz="1500" b="0" i="0">
                <a:solidFill>
                  <a:srgbClr val="21295C"/>
                </a:solidFill>
                <a:latin typeface="Arial"/>
              </a:rPr>
              <a:t> CNET: 53% AI-статей потребовали исправления — того же порядка, что ошибки классической журналистики. Раскрытие заставило исправить то, что индустрия и так не исправляла.</a:t>
            </a:r>
          </a:p>
        </p:txBody>
      </p:sp>
      <p:sp>
        <p:nvSpPr>
          <p:cNvPr id="22" name="TextBox 21"/>
          <p:cNvSpPr txBox="1"/>
          <p:nvPr/>
        </p:nvSpPr>
        <p:spPr>
          <a:xfrm>
            <a:off x="6278727" y="4014003"/>
            <a:ext cx="5373471" cy="22222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Ряд 2 — перенос, найм.</a:t>
            </a:r>
            <a:r>
              <a:rPr sz="1500" b="0" i="0">
                <a:solidFill>
                  <a:srgbClr val="21295C"/>
                </a:solidFill>
                <a:latin typeface="Arial"/>
              </a:rPr>
              <a:t> Пять из пяти проверок на собеседовании не поймали подмену — поймала система защиты рабочей станции.</a:t>
            </a:r>
          </a:p>
          <a:p>
            <a:pPr algn="l">
              <a:lnSpc>
                <a:spcPct val="126000"/>
              </a:lnSpc>
              <a:spcBef>
                <a:spcPts val="700"/>
              </a:spcBef>
            </a:pPr>
            <a:r>
              <a:rPr sz="1500" b="0" i="0">
                <a:solidFill>
                  <a:srgbClr val="21295C"/>
                </a:solidFill>
                <a:latin typeface="Arial"/>
              </a:rPr>
              <a:t/>
            </a:r>
            <a:r>
              <a:rPr sz="1500" b="1" i="0">
                <a:solidFill>
                  <a:srgbClr val="21295C"/>
                </a:solidFill>
                <a:latin typeface="Arial"/>
              </a:rPr>
              <a:t>Узнавание перестаёт отвечать на «можно ли доверять» — и становится вопросом: чем теперь доверие подтверждают.</a:t>
            </a:r>
          </a:p>
        </p:txBody>
      </p:sp>
      <p:sp>
        <p:nvSpPr>
          <p:cNvPr id="23" name="Rectangle 22"/>
          <p:cNvSpPr/>
          <p:nvPr/>
        </p:nvSpPr>
        <p:spPr>
          <a:xfrm>
            <a:off x="6091275" y="4014003"/>
            <a:ext cx="9144" cy="1871266"/>
          </a:xfrm>
          <a:prstGeom prst="rect">
            <a:avLst/>
          </a:prstGeom>
          <a:solidFill>
            <a:srgbClr val="D9E2EC"/>
          </a:solidFill>
          <a:ln>
            <a:noFill/>
          </a:ln>
          <a:effectLst/>
        </p:spPr>
        <p:txBody>
          <a:bodyPr rtlCol="0" anchor="ctr"/>
          <a:lstStyle/>
          <a:p>
            <a:pPr algn="ct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CNET/TheWrap 2023; Predictive Analytics World 2023; KnowBe4 2024; Nisos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как это вскрылось и что стояло на кону</a:t>
            </a:r>
          </a:p>
        </p:txBody>
      </p:sp>
      <p:sp>
        <p:nvSpPr>
          <p:cNvPr id="4" name="Rounded Rectangle 3"/>
          <p:cNvSpPr/>
          <p:nvPr/>
        </p:nvSpPr>
        <p:spPr>
          <a:xfrm>
            <a:off x="502920" y="1335024"/>
            <a:ext cx="2052218" cy="2316276"/>
          </a:xfrm>
          <a:prstGeom prst="roundRect">
            <a:avLst>
              <a:gd name="adj" fmla="val 1485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ОБНАРУЖЕНО</a:t>
            </a:r>
          </a:p>
        </p:txBody>
      </p:sp>
      <p:sp>
        <p:nvSpPr>
          <p:cNvPr id="6" name="TextBox 5"/>
          <p:cNvSpPr txBox="1"/>
          <p:nvPr/>
        </p:nvSpPr>
        <p:spPr>
          <a:xfrm>
            <a:off x="640080" y="1725375"/>
            <a:ext cx="17778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извне, не изнутри</a:t>
            </a:r>
          </a:p>
        </p:txBody>
      </p:sp>
      <p:sp>
        <p:nvSpPr>
          <p:cNvPr id="7" name="TextBox 6"/>
          <p:cNvSpPr txBox="1"/>
          <p:nvPr/>
        </p:nvSpPr>
        <p:spPr>
          <a:xfrm>
            <a:off x="640080" y="2542797"/>
            <a:ext cx="17778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стороннее расследование → огласка → признание CNET</a:t>
            </a:r>
          </a:p>
        </p:txBody>
      </p:sp>
      <p:sp>
        <p:nvSpPr>
          <p:cNvPr id="8" name="Rounded Rectangle 7"/>
          <p:cNvSpPr/>
          <p:nvPr/>
        </p:nvSpPr>
        <p:spPr>
          <a:xfrm>
            <a:off x="2719730" y="1335024"/>
            <a:ext cx="2052218" cy="2316276"/>
          </a:xfrm>
          <a:prstGeom prst="roundRect">
            <a:avLst>
              <a:gd name="adj" fmla="val 1485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85689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ЖАНР СТАТЕЙ</a:t>
            </a:r>
          </a:p>
        </p:txBody>
      </p:sp>
      <p:sp>
        <p:nvSpPr>
          <p:cNvPr id="10" name="TextBox 9"/>
          <p:cNvSpPr txBox="1"/>
          <p:nvPr/>
        </p:nvSpPr>
        <p:spPr>
          <a:xfrm>
            <a:off x="2856890" y="1725375"/>
            <a:ext cx="1777898" cy="732547"/>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финансовые объяснители</a:t>
            </a:r>
          </a:p>
        </p:txBody>
      </p:sp>
      <p:sp>
        <p:nvSpPr>
          <p:cNvPr id="11" name="TextBox 10"/>
          <p:cNvSpPr txBox="1"/>
          <p:nvPr/>
        </p:nvSpPr>
        <p:spPr>
          <a:xfrm>
            <a:off x="2856890" y="2457923"/>
            <a:ext cx="17778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сложный процент, пенсионный счёт, кредитная карта — читатель не проверяет формулу</a:t>
            </a:r>
          </a:p>
        </p:txBody>
      </p:sp>
      <p:sp>
        <p:nvSpPr>
          <p:cNvPr id="12" name="Rounded Rectangle 11"/>
          <p:cNvSpPr/>
          <p:nvPr/>
        </p:nvSpPr>
        <p:spPr>
          <a:xfrm>
            <a:off x="4936540" y="1335024"/>
            <a:ext cx="2052218" cy="2316276"/>
          </a:xfrm>
          <a:prstGeom prst="roundRect">
            <a:avLst>
              <a:gd name="adj" fmla="val 1485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073700" y="1472184"/>
            <a:ext cx="17778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ШТАТ</a:t>
            </a:r>
          </a:p>
        </p:txBody>
      </p:sp>
      <p:sp>
        <p:nvSpPr>
          <p:cNvPr id="14" name="TextBox 13"/>
          <p:cNvSpPr txBox="1"/>
          <p:nvPr/>
        </p:nvSpPr>
        <p:spPr>
          <a:xfrm>
            <a:off x="5073700" y="1725375"/>
            <a:ext cx="17778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≈10% уволено</a:t>
            </a:r>
          </a:p>
        </p:txBody>
      </p:sp>
      <p:sp>
        <p:nvSpPr>
          <p:cNvPr id="15" name="TextBox 14"/>
          <p:cNvSpPr txBox="1"/>
          <p:nvPr/>
        </p:nvSpPr>
        <p:spPr>
          <a:xfrm>
            <a:off x="5073700" y="2542797"/>
            <a:ext cx="17778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 течение недель после огласки</a:t>
            </a:r>
          </a:p>
        </p:txBody>
      </p:sp>
      <p:sp>
        <p:nvSpPr>
          <p:cNvPr id="16" name="TextBox 15"/>
          <p:cNvSpPr txBox="1"/>
          <p:nvPr/>
        </p:nvSpPr>
        <p:spPr>
          <a:xfrm>
            <a:off x="502920" y="3870756"/>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Было</a:t>
            </a:r>
          </a:p>
        </p:txBody>
      </p:sp>
      <p:sp>
        <p:nvSpPr>
          <p:cNvPr id="17" name="Rounded Rectangle 16"/>
          <p:cNvSpPr/>
          <p:nvPr/>
        </p:nvSpPr>
        <p:spPr>
          <a:xfrm>
            <a:off x="1920240"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Статьи выходят</a:t>
            </a:r>
          </a:p>
        </p:txBody>
      </p:sp>
      <p:sp>
        <p:nvSpPr>
          <p:cNvPr id="19" name="Right Arrow 18"/>
          <p:cNvSpPr/>
          <p:nvPr/>
        </p:nvSpPr>
        <p:spPr>
          <a:xfrm>
            <a:off x="3027349" y="430695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25594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33824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Подпись «CNET Money Staff»</a:t>
            </a:r>
          </a:p>
        </p:txBody>
      </p:sp>
      <p:sp>
        <p:nvSpPr>
          <p:cNvPr id="22" name="Right Arrow 21"/>
          <p:cNvSpPr/>
          <p:nvPr/>
        </p:nvSpPr>
        <p:spPr>
          <a:xfrm>
            <a:off x="4363059" y="430695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59165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67395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Разбор стороннего издания</a:t>
            </a:r>
          </a:p>
        </p:txBody>
      </p:sp>
      <p:sp>
        <p:nvSpPr>
          <p:cNvPr id="25" name="Right Arrow 24"/>
          <p:cNvSpPr/>
          <p:nvPr/>
        </p:nvSpPr>
        <p:spPr>
          <a:xfrm>
            <a:off x="5698769" y="4306959"/>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5927369" y="3834180"/>
            <a:ext cx="10613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009665" y="3879900"/>
            <a:ext cx="8967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Огласка → признание</a:t>
            </a:r>
          </a:p>
        </p:txBody>
      </p:sp>
      <p:sp>
        <p:nvSpPr>
          <p:cNvPr id="28" name="TextBox 27"/>
          <p:cNvSpPr txBox="1"/>
          <p:nvPr/>
        </p:nvSpPr>
        <p:spPr>
          <a:xfrm>
            <a:off x="502920" y="4953474"/>
            <a:ext cx="64858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Порядок событий — не добровольное раскрытие, а обнаружение извне</a:t>
            </a:r>
          </a:p>
        </p:txBody>
      </p:sp>
      <p:sp>
        <p:nvSpPr>
          <p:cNvPr id="29" name="Rounded Rectangle 28"/>
          <p:cNvSpPr/>
          <p:nvPr/>
        </p:nvSpPr>
        <p:spPr>
          <a:xfrm>
            <a:off x="374904" y="5256157"/>
            <a:ext cx="11441887" cy="98005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347597"/>
            <a:ext cx="11112703" cy="888610"/>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Порядок обнаружения важен не меньше цифр.</a:t>
            </a:r>
            <a:r>
              <a:rPr sz="1150" b="0" i="0">
                <a:solidFill>
                  <a:srgbClr val="21295C"/>
                </a:solidFill>
                <a:latin typeface="Arial"/>
              </a:rPr>
              <a:t> CNET не раскрыла происхождение статей добровольно — подмену заметило стороннее расследование.</a:t>
            </a:r>
          </a:p>
          <a:p>
            <a:pPr algn="l">
              <a:lnSpc>
                <a:spcPct val="126000"/>
              </a:lnSpc>
              <a:spcBef>
                <a:spcPts val="700"/>
              </a:spcBef>
            </a:pPr>
            <a:r>
              <a:rPr sz="1150" b="0" i="0">
                <a:solidFill>
                  <a:srgbClr val="21295C"/>
                </a:solidFill>
                <a:latin typeface="Arial"/>
              </a:rPr>
              <a:t/>
            </a:r>
            <a:r>
              <a:rPr sz="1150" b="1" i="0">
                <a:solidFill>
                  <a:srgbClr val="21295C"/>
                </a:solidFill>
                <a:latin typeface="Arial"/>
              </a:rPr>
              <a:t>Жанр — финансовые объяснители</a:t>
            </a:r>
            <a:r>
              <a:rPr sz="1150" b="0" i="0">
                <a:solidFill>
                  <a:srgbClr val="21295C"/>
                </a:solidFill>
                <a:latin typeface="Arial"/>
              </a:rPr>
              <a:t> («сложный процент», пенсионный счёт): читатель принимает формулу на веру, часть ошибок — арифметическая.</a:t>
            </a:r>
          </a:p>
          <a:p>
            <a:pPr algn="l">
              <a:lnSpc>
                <a:spcPct val="126000"/>
              </a:lnSpc>
              <a:spcBef>
                <a:spcPts val="700"/>
              </a:spcBef>
            </a:pPr>
            <a:r>
              <a:rPr sz="1150" b="0" i="0">
                <a:solidFill>
                  <a:srgbClr val="21295C"/>
                </a:solidFill>
                <a:latin typeface="Arial"/>
              </a:rPr>
              <a:t/>
            </a:r>
            <a:r>
              <a:rPr sz="1150" b="1" i="0">
                <a:solidFill>
                  <a:srgbClr val="21295C"/>
                </a:solidFill>
                <a:latin typeface="Arial"/>
              </a:rPr>
              <a:t>Что переехало:</a:t>
            </a:r>
            <a:r>
              <a:rPr sz="1150" b="0" i="0">
                <a:solidFill>
                  <a:srgbClr val="21295C"/>
                </a:solidFill>
                <a:latin typeface="Arial"/>
              </a:rPr>
              <a:t> ≈10% штата уволено за недели; институт «именованного автора» подорван — без измерения отклика аудитории.</a:t>
            </a:r>
          </a:p>
        </p:txBody>
      </p:sp>
      <p:sp>
        <p:nvSpPr>
          <p:cNvPr id="31" name="Rounded Rectangle 30"/>
          <p:cNvSpPr/>
          <p:nvPr/>
        </p:nvSpPr>
        <p:spPr>
          <a:xfrm>
            <a:off x="7299655" y="1335024"/>
            <a:ext cx="4389120" cy="2588895"/>
          </a:xfrm>
          <a:prstGeom prst="roundRect">
            <a:avLst>
              <a:gd name="adj" fmla="val 11773"/>
            </a:avLst>
          </a:prstGeom>
          <a:solidFill>
            <a:srgbClr val="F4F7FA"/>
          </a:solidFill>
          <a:ln w="19050">
            <a:solidFill>
              <a:srgbClr val="1C7293"/>
            </a:solidFill>
          </a:ln>
          <a:effectLst/>
        </p:spPr>
        <p:txBody>
          <a:bodyPr rtlCol="0" anchor="ctr"/>
          <a:lstStyle/>
          <a:p>
            <a:pPr algn="ctr"/>
          </a:p>
        </p:txBody>
      </p:sp>
      <p:pic>
        <p:nvPicPr>
          <p:cNvPr id="32" name="Picture 31" descr="s04-cnet-ai-disclosure-screenshot.jpg"/>
          <p:cNvPicPr>
            <a:picLocks noChangeAspect="1"/>
          </p:cNvPicPr>
          <p:nvPr/>
        </p:nvPicPr>
        <p:blipFill>
          <a:blip r:embed="rId2"/>
          <a:stretch>
            <a:fillRect/>
          </a:stretch>
        </p:blipFill>
        <p:spPr>
          <a:xfrm>
            <a:off x="7436815" y="1472184"/>
            <a:ext cx="4114800" cy="2314575"/>
          </a:xfrm>
          <a:prstGeom prst="rect">
            <a:avLst/>
          </a:prstGeom>
        </p:spPr>
      </p:pic>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CNN/ABC17News 2023; Predictive Analytics World 2023; CNET/TheWrap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Найм под чужой личностью: от одного случая к схеме промышленного масштаба</a:t>
            </a:r>
          </a:p>
        </p:txBody>
      </p:sp>
      <p:sp>
        <p:nvSpPr>
          <p:cNvPr id="4" name="Rounded Rectangle 3"/>
          <p:cNvSpPr/>
          <p:nvPr/>
        </p:nvSpPr>
        <p:spPr>
          <a:xfrm>
            <a:off x="502920" y="1335024"/>
            <a:ext cx="2204618" cy="1842864"/>
          </a:xfrm>
          <a:prstGeom prst="roundRect">
            <a:avLst>
              <a:gd name="adj" fmla="val 1653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KNOWBE4</a:t>
            </a:r>
          </a:p>
        </p:txBody>
      </p:sp>
      <p:sp>
        <p:nvSpPr>
          <p:cNvPr id="6" name="TextBox 5"/>
          <p:cNvSpPr txBox="1"/>
          <p:nvPr/>
        </p:nvSpPr>
        <p:spPr>
          <a:xfrm>
            <a:off x="640080" y="1725375"/>
            <a:ext cx="1930298"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4 интервью + проверка биографии — пройдено</a:t>
            </a:r>
          </a:p>
        </p:txBody>
      </p:sp>
      <p:sp>
        <p:nvSpPr>
          <p:cNvPr id="7" name="TextBox 6"/>
          <p:cNvSpPr txBox="1"/>
          <p:nvPr/>
        </p:nvSpPr>
        <p:spPr>
          <a:xfrm>
            <a:off x="640080" y="2169349"/>
            <a:ext cx="19302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подмену поймал EDR, не наём</a:t>
            </a:r>
          </a:p>
        </p:txBody>
      </p:sp>
      <p:sp>
        <p:nvSpPr>
          <p:cNvPr id="8" name="Rounded Rectangle 7"/>
          <p:cNvSpPr/>
          <p:nvPr/>
        </p:nvSpPr>
        <p:spPr>
          <a:xfrm>
            <a:off x="2872130" y="1335024"/>
            <a:ext cx="2204618" cy="1842864"/>
          </a:xfrm>
          <a:prstGeom prst="roundRect">
            <a:avLst>
              <a:gd name="adj" fmla="val 1653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00929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CHRISTINA CHAPMAN</a:t>
            </a:r>
          </a:p>
        </p:txBody>
      </p:sp>
      <p:sp>
        <p:nvSpPr>
          <p:cNvPr id="10" name="TextBox 9"/>
          <p:cNvSpPr txBox="1"/>
          <p:nvPr/>
        </p:nvSpPr>
        <p:spPr>
          <a:xfrm>
            <a:off x="3009290" y="1725375"/>
            <a:ext cx="1930298" cy="681623"/>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309+ компаний, $17M+</a:t>
            </a:r>
          </a:p>
        </p:txBody>
      </p:sp>
      <p:sp>
        <p:nvSpPr>
          <p:cNvPr id="11" name="TextBox 10"/>
          <p:cNvSpPr txBox="1"/>
          <p:nvPr/>
        </p:nvSpPr>
        <p:spPr>
          <a:xfrm>
            <a:off x="3009290" y="2406998"/>
            <a:ext cx="19302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«ферма ноутбуков», приговор вынесен, три года</a:t>
            </a:r>
          </a:p>
        </p:txBody>
      </p:sp>
      <p:sp>
        <p:nvSpPr>
          <p:cNvPr id="12" name="Rounded Rectangle 11"/>
          <p:cNvSpPr/>
          <p:nvPr/>
        </p:nvSpPr>
        <p:spPr>
          <a:xfrm>
            <a:off x="5241340" y="1335024"/>
            <a:ext cx="2204618" cy="1842864"/>
          </a:xfrm>
          <a:prstGeom prst="roundRect">
            <a:avLst>
              <a:gd name="adj" fmla="val 16539"/>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378500" y="1472184"/>
            <a:ext cx="19302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ЯЧЕЙКА NISOS</a:t>
            </a:r>
          </a:p>
        </p:txBody>
      </p:sp>
      <p:sp>
        <p:nvSpPr>
          <p:cNvPr id="14" name="TextBox 13"/>
          <p:cNvSpPr txBox="1"/>
          <p:nvPr/>
        </p:nvSpPr>
        <p:spPr>
          <a:xfrm>
            <a:off x="5378500" y="1725375"/>
            <a:ext cx="1930298" cy="664648"/>
          </a:xfrm>
          <a:prstGeom prst="rect">
            <a:avLst/>
          </a:prstGeom>
          <a:noFill/>
        </p:spPr>
        <p:txBody>
          <a:bodyPr wrap="square" lIns="0" rIns="0" tIns="0" bIns="0" anchor="t">
            <a:spAutoFit/>
          </a:bodyPr>
          <a:lstStyle/>
          <a:p>
            <a:pPr algn="l">
              <a:lnSpc>
                <a:spcPct val="108000"/>
              </a:lnSpc>
            </a:pPr>
            <a:r>
              <a:rPr sz="1850" b="1" i="0">
                <a:solidFill>
                  <a:srgbClr val="1C7293"/>
                </a:solidFill>
                <a:latin typeface="Arial"/>
              </a:rPr>
              <a:t>170 000+ заявок → 76 офферов</a:t>
            </a:r>
          </a:p>
        </p:txBody>
      </p:sp>
      <p:sp>
        <p:nvSpPr>
          <p:cNvPr id="15" name="TextBox 14"/>
          <p:cNvSpPr txBox="1"/>
          <p:nvPr/>
        </p:nvSpPr>
        <p:spPr>
          <a:xfrm>
            <a:off x="5378500" y="2390023"/>
            <a:ext cx="19302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22 оператора за 9 месяцев</a:t>
            </a:r>
          </a:p>
        </p:txBody>
      </p:sp>
      <p:sp>
        <p:nvSpPr>
          <p:cNvPr id="16" name="TextBox 15"/>
          <p:cNvSpPr txBox="1"/>
          <p:nvPr/>
        </p:nvSpPr>
        <p:spPr>
          <a:xfrm>
            <a:off x="502920" y="3397344"/>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Схема</a:t>
            </a:r>
          </a:p>
        </p:txBody>
      </p:sp>
      <p:sp>
        <p:nvSpPr>
          <p:cNvPr id="17" name="Rounded Rectangle 16"/>
          <p:cNvSpPr/>
          <p:nvPr/>
        </p:nvSpPr>
        <p:spPr>
          <a:xfrm>
            <a:off x="1920240"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Ноутбук приходит на домашний адрес в США</a:t>
            </a:r>
          </a:p>
        </p:txBody>
      </p:sp>
      <p:sp>
        <p:nvSpPr>
          <p:cNvPr id="19" name="Right Arrow 18"/>
          <p:cNvSpPr/>
          <p:nvPr/>
        </p:nvSpPr>
        <p:spPr>
          <a:xfrm>
            <a:off x="3141649" y="3833547"/>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37024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45254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Выходит в домашнюю сеть</a:t>
            </a:r>
          </a:p>
        </p:txBody>
      </p:sp>
      <p:sp>
        <p:nvSpPr>
          <p:cNvPr id="22" name="Right Arrow 21"/>
          <p:cNvSpPr/>
          <p:nvPr/>
        </p:nvSpPr>
        <p:spPr>
          <a:xfrm>
            <a:off x="4591659" y="3833547"/>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82025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90255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Управляется удалённо оператором</a:t>
            </a:r>
          </a:p>
        </p:txBody>
      </p:sp>
      <p:sp>
        <p:nvSpPr>
          <p:cNvPr id="25" name="Right Arrow 24"/>
          <p:cNvSpPr/>
          <p:nvPr/>
        </p:nvSpPr>
        <p:spPr>
          <a:xfrm>
            <a:off x="6041669" y="3833547"/>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270269" y="3360768"/>
            <a:ext cx="1175689"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352565" y="3406488"/>
            <a:ext cx="1011097"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Компания видит сотрудника «в США»</a:t>
            </a:r>
          </a:p>
        </p:txBody>
      </p:sp>
      <p:sp>
        <p:nvSpPr>
          <p:cNvPr id="28" name="TextBox 27"/>
          <p:cNvSpPr txBox="1"/>
          <p:nvPr/>
        </p:nvSpPr>
        <p:spPr>
          <a:xfrm>
            <a:off x="502920" y="4480062"/>
            <a:ext cx="69430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Устройство «фермы ноутбуков»: адрес в США, работа — из-за рубежа</a:t>
            </a:r>
          </a:p>
        </p:txBody>
      </p:sp>
      <p:sp>
        <p:nvSpPr>
          <p:cNvPr id="29" name="Rounded Rectangle 28"/>
          <p:cNvSpPr/>
          <p:nvPr/>
        </p:nvSpPr>
        <p:spPr>
          <a:xfrm>
            <a:off x="374904" y="4782746"/>
            <a:ext cx="11441887" cy="1442323"/>
          </a:xfrm>
          <a:prstGeom prst="roundRect">
            <a:avLst>
              <a:gd name="adj" fmla="val 21132"/>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4874186"/>
            <a:ext cx="11112703" cy="136202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Не изолированный случай — схема.</a:t>
            </a:r>
            <a:r>
              <a:rPr sz="1250" b="0" i="0">
                <a:solidFill>
                  <a:srgbClr val="21295C"/>
                </a:solidFill>
                <a:latin typeface="Arial"/>
              </a:rPr>
              <a:t> Christina Chapman держала «ферму ноутбуков» на дому. </a:t>
            </a:r>
            <a:r>
              <a:rPr sz="1250" b="1" i="0">
                <a:solidFill>
                  <a:srgbClr val="21295C"/>
                </a:solidFill>
                <a:latin typeface="Arial"/>
              </a:rPr>
              <a:t>309+ компаний, свыше 17 млн долларов за три года</a:t>
            </a:r>
            <a:r>
              <a:rPr sz="1250" b="0" i="0">
                <a:solidFill>
                  <a:srgbClr val="21295C"/>
                </a:solidFill>
                <a:latin typeface="Arial"/>
              </a:rPr>
              <a:t>.</a:t>
            </a:r>
          </a:p>
          <a:p>
            <a:pPr algn="l">
              <a:lnSpc>
                <a:spcPct val="126000"/>
              </a:lnSpc>
              <a:spcBef>
                <a:spcPts val="700"/>
              </a:spcBef>
            </a:pPr>
            <a:r>
              <a:rPr sz="1250" b="0" i="0">
                <a:solidFill>
                  <a:srgbClr val="21295C"/>
                </a:solidFill>
                <a:latin typeface="Arial"/>
              </a:rPr>
              <a:t/>
            </a:r>
            <a:r>
              <a:rPr sz="1250" b="1" i="0">
                <a:solidFill>
                  <a:srgbClr val="21295C"/>
                </a:solidFill>
                <a:latin typeface="Arial"/>
              </a:rPr>
              <a:t>Отдельная ячейка (Nisos):</a:t>
            </a:r>
            <a:r>
              <a:rPr sz="1250" b="0" i="0">
                <a:solidFill>
                  <a:srgbClr val="21295C"/>
                </a:solidFill>
                <a:latin typeface="Arial"/>
              </a:rPr>
              <a:t> поддельные права, коучинг голосовой моделью, суфлирование ответов. </a:t>
            </a:r>
            <a:r>
              <a:rPr sz="1250" b="1" i="0">
                <a:solidFill>
                  <a:srgbClr val="21295C"/>
                </a:solidFill>
                <a:latin typeface="Arial"/>
              </a:rPr>
              <a:t>170 000+ заявок → 76 офферов</a:t>
            </a:r>
            <a:r>
              <a:rPr sz="1250" b="0" i="0">
                <a:solidFill>
                  <a:srgbClr val="21295C"/>
                </a:solidFill>
                <a:latin typeface="Arial"/>
              </a:rPr>
              <a:t>, 22 оператора.</a:t>
            </a:r>
          </a:p>
          <a:p>
            <a:pPr algn="l">
              <a:lnSpc>
                <a:spcPct val="126000"/>
              </a:lnSpc>
              <a:spcBef>
                <a:spcPts val="700"/>
              </a:spcBef>
            </a:pPr>
            <a:r>
              <a:rPr sz="1250" b="0" i="0">
                <a:solidFill>
                  <a:srgbClr val="21295C"/>
                </a:solidFill>
                <a:latin typeface="Arial"/>
              </a:rPr>
              <a:t/>
            </a:r>
            <a:r>
              <a:rPr sz="1250" b="1" i="0">
                <a:solidFill>
                  <a:srgbClr val="21295C"/>
                </a:solidFill>
                <a:latin typeface="Arial"/>
              </a:rPr>
              <a:t>Индустрия дала этому имя</a:t>
            </a:r>
            <a:r>
              <a:rPr sz="1250" b="0" i="0">
                <a:solidFill>
                  <a:srgbClr val="21295C"/>
                </a:solidFill>
                <a:latin typeface="Arial"/>
              </a:rPr>
              <a:t> («Famous Chollima») — рутинная угроза, не инцидент.</a:t>
            </a:r>
          </a:p>
        </p:txBody>
      </p:sp>
      <p:sp>
        <p:nvSpPr>
          <p:cNvPr id="31" name="Rounded Rectangle 30"/>
          <p:cNvSpPr/>
          <p:nvPr/>
        </p:nvSpPr>
        <p:spPr>
          <a:xfrm>
            <a:off x="7756855" y="1335024"/>
            <a:ext cx="3931920" cy="1980062"/>
          </a:xfrm>
          <a:prstGeom prst="roundRect">
            <a:avLst>
              <a:gd name="adj" fmla="val 15393"/>
            </a:avLst>
          </a:prstGeom>
          <a:solidFill>
            <a:srgbClr val="F4F7FA"/>
          </a:solidFill>
          <a:ln w="19050">
            <a:solidFill>
              <a:srgbClr val="1C7293"/>
            </a:solidFill>
          </a:ln>
          <a:effectLst/>
        </p:spPr>
        <p:txBody>
          <a:bodyPr rtlCol="0" anchor="ctr"/>
          <a:lstStyle/>
          <a:p>
            <a:pPr algn="ctr"/>
          </a:p>
        </p:txBody>
      </p:sp>
      <p:pic>
        <p:nvPicPr>
          <p:cNvPr id="32" name="Picture 31" descr="s05-knowbe4-stock-vs-fake-photo.jpg"/>
          <p:cNvPicPr>
            <a:picLocks noChangeAspect="1"/>
          </p:cNvPicPr>
          <p:nvPr/>
        </p:nvPicPr>
        <p:blipFill>
          <a:blip r:embed="rId2"/>
          <a:stretch>
            <a:fillRect/>
          </a:stretch>
        </p:blipFill>
        <p:spPr>
          <a:xfrm>
            <a:off x="7894015" y="1472184"/>
            <a:ext cx="3657600" cy="1705742"/>
          </a:xfrm>
          <a:prstGeom prst="rect">
            <a:avLst/>
          </a:prstGeom>
        </p:spPr>
      </p:pic>
      <p:sp>
        <p:nvSpPr>
          <p:cNvPr id="33" name="Rectangle 32"/>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KnowBe4 2024; SecurityWeek 2024; DOJ 2025; Nisos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Защита не улучшается, а ухудшается</a:t>
            </a:r>
          </a:p>
        </p:txBody>
      </p:sp>
      <p:sp>
        <p:nvSpPr>
          <p:cNvPr id="4" name="Rounded Rectangle 3"/>
          <p:cNvSpPr/>
          <p:nvPr/>
        </p:nvSpPr>
        <p:spPr>
          <a:xfrm>
            <a:off x="502920" y="133502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ФРОД ПРИ НАЙМЕ: ГОД К ГОДУ</a:t>
            </a:r>
          </a:p>
        </p:txBody>
      </p:sp>
      <p:sp>
        <p:nvSpPr>
          <p:cNvPr id="6" name="TextBox 5"/>
          <p:cNvSpPr txBox="1"/>
          <p:nvPr/>
        </p:nvSpPr>
        <p:spPr>
          <a:xfrm>
            <a:off x="640080" y="1725375"/>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31% → 40%</a:t>
            </a:r>
          </a:p>
        </p:txBody>
      </p:sp>
      <p:sp>
        <p:nvSpPr>
          <p:cNvPr id="7" name="TextBox 6"/>
          <p:cNvSpPr txBox="1"/>
          <p:nvPr/>
        </p:nvSpPr>
        <p:spPr>
          <a:xfrm>
            <a:off x="640080" y="2152374"/>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опрос 3000 HR-менеджеров, сент. 2026</a:t>
            </a:r>
          </a:p>
        </p:txBody>
      </p:sp>
      <p:sp>
        <p:nvSpPr>
          <p:cNvPr id="8" name="Rounded Rectangle 7"/>
          <p:cNvSpPr/>
          <p:nvPr/>
        </p:nvSpPr>
        <p:spPr>
          <a:xfrm>
            <a:off x="3370935" y="133502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508095" y="147218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РАСПОЗНАЁТ ПОДДЕЛКУ ЦЕЛЕНАПРАВЛЕННО</a:t>
            </a:r>
          </a:p>
        </p:txBody>
      </p:sp>
      <p:sp>
        <p:nvSpPr>
          <p:cNvPr id="10" name="TextBox 9"/>
          <p:cNvSpPr txBox="1"/>
          <p:nvPr/>
        </p:nvSpPr>
        <p:spPr>
          <a:xfrm>
            <a:off x="3508095" y="1932846"/>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24–25% случаев</a:t>
            </a:r>
          </a:p>
        </p:txBody>
      </p:sp>
      <p:sp>
        <p:nvSpPr>
          <p:cNvPr id="11" name="TextBox 10"/>
          <p:cNvSpPr txBox="1"/>
          <p:nvPr/>
        </p:nvSpPr>
        <p:spPr>
          <a:xfrm>
            <a:off x="3508095" y="2359845"/>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человек предупреждён и ищет подделку</a:t>
            </a:r>
          </a:p>
        </p:txBody>
      </p:sp>
      <p:sp>
        <p:nvSpPr>
          <p:cNvPr id="12" name="Rounded Rectangle 11"/>
          <p:cNvSpPr/>
          <p:nvPr/>
        </p:nvSpPr>
        <p:spPr>
          <a:xfrm>
            <a:off x="502920" y="3084084"/>
            <a:ext cx="2703423"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22124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ПРОВЕРКА ЖИВОСТИ СНИЖАЕТ ФРОД ДО</a:t>
            </a:r>
          </a:p>
        </p:txBody>
      </p:sp>
      <p:sp>
        <p:nvSpPr>
          <p:cNvPr id="14" name="TextBox 13"/>
          <p:cNvSpPr txBox="1"/>
          <p:nvPr/>
        </p:nvSpPr>
        <p:spPr>
          <a:xfrm>
            <a:off x="640080" y="3681907"/>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91%</a:t>
            </a:r>
          </a:p>
        </p:txBody>
      </p:sp>
      <p:sp>
        <p:nvSpPr>
          <p:cNvPr id="15" name="TextBox 14"/>
          <p:cNvSpPr txBox="1"/>
          <p:nvPr/>
        </p:nvSpPr>
        <p:spPr>
          <a:xfrm>
            <a:off x="640080" y="4108906"/>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существующая техническая контрмера</a:t>
            </a:r>
          </a:p>
        </p:txBody>
      </p:sp>
      <p:sp>
        <p:nvSpPr>
          <p:cNvPr id="16" name="Rounded Rectangle 15"/>
          <p:cNvSpPr/>
          <p:nvPr/>
        </p:nvSpPr>
        <p:spPr>
          <a:xfrm>
            <a:off x="3370935" y="3084084"/>
            <a:ext cx="2703423"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7" name="TextBox 16"/>
          <p:cNvSpPr txBox="1"/>
          <p:nvPr/>
        </p:nvSpPr>
        <p:spPr>
          <a:xfrm>
            <a:off x="3508095" y="322124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ОРГАНИЗАЦИЙ ЕЁ ПРИМЕНЯЮТ ПОЛНОСТЬЮ</a:t>
            </a:r>
          </a:p>
        </p:txBody>
      </p:sp>
      <p:sp>
        <p:nvSpPr>
          <p:cNvPr id="18" name="TextBox 17"/>
          <p:cNvSpPr txBox="1"/>
          <p:nvPr/>
        </p:nvSpPr>
        <p:spPr>
          <a:xfrm>
            <a:off x="3508095" y="3681907"/>
            <a:ext cx="2429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≈46%</a:t>
            </a:r>
          </a:p>
        </p:txBody>
      </p:sp>
      <p:sp>
        <p:nvSpPr>
          <p:cNvPr id="19" name="TextBox 18"/>
          <p:cNvSpPr txBox="1"/>
          <p:nvPr/>
        </p:nvSpPr>
        <p:spPr>
          <a:xfrm>
            <a:off x="3508095" y="4108906"/>
            <a:ext cx="2429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разрыв — не технология, а внедрение</a:t>
            </a:r>
          </a:p>
        </p:txBody>
      </p:sp>
      <p:sp>
        <p:nvSpPr>
          <p:cNvPr id="20" name="Rounded Rectangle 19"/>
          <p:cNvSpPr/>
          <p:nvPr/>
        </p:nvSpPr>
        <p:spPr>
          <a:xfrm>
            <a:off x="374904" y="4759993"/>
            <a:ext cx="11441887" cy="1476214"/>
          </a:xfrm>
          <a:prstGeom prst="roundRect">
            <a:avLst>
              <a:gd name="adj" fmla="val 20647"/>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851433"/>
            <a:ext cx="11112703" cy="1384774"/>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Явление растёт, а не затухает.</a:t>
            </a:r>
            <a:r>
              <a:rPr sz="1200" b="0" i="0">
                <a:solidFill>
                  <a:srgbClr val="21295C"/>
                </a:solidFill>
                <a:latin typeface="Arial"/>
              </a:rPr>
              <a:t> Межгосударственное предупреждение и повторное предупреждение ФБР не остановили рост: доля компаний, столкнувшихся с фродом при найме, выросла с </a:t>
            </a:r>
            <a:r>
              <a:rPr sz="1200" b="1" i="0">
                <a:solidFill>
                  <a:srgbClr val="21295C"/>
                </a:solidFill>
                <a:latin typeface="Arial"/>
              </a:rPr>
              <a:t>31% до 40%</a:t>
            </a:r>
            <a:r>
              <a:rPr sz="1200" b="0" i="0">
                <a:solidFill>
                  <a:srgbClr val="21295C"/>
                </a:solidFill>
                <a:latin typeface="Arial"/>
              </a:rPr>
              <a:t> год к году.</a:t>
            </a:r>
          </a:p>
          <a:p>
            <a:pPr algn="l">
              <a:lnSpc>
                <a:spcPct val="126000"/>
              </a:lnSpc>
              <a:spcBef>
                <a:spcPts val="700"/>
              </a:spcBef>
            </a:pPr>
            <a:r>
              <a:rPr sz="1200" b="0" i="0">
                <a:solidFill>
                  <a:srgbClr val="21295C"/>
                </a:solidFill>
                <a:latin typeface="Arial"/>
              </a:rPr>
              <a:t/>
            </a:r>
            <a:r>
              <a:rPr sz="1200" b="1" i="0">
                <a:solidFill>
                  <a:srgbClr val="21295C"/>
                </a:solidFill>
                <a:latin typeface="Arial"/>
              </a:rPr>
              <a:t>Причина не только организационная</a:t>
            </a:r>
            <a:r>
              <a:rPr sz="1200" b="0" i="0">
                <a:solidFill>
                  <a:srgbClr val="21295C"/>
                </a:solidFill>
                <a:latin typeface="Arial"/>
              </a:rPr>
              <a:t> — предупреждённый человек распознаёт качественный дипфейк лишь в </a:t>
            </a:r>
            <a:r>
              <a:rPr sz="1200" b="1" i="0">
                <a:solidFill>
                  <a:srgbClr val="21295C"/>
                </a:solidFill>
                <a:latin typeface="Arial"/>
              </a:rPr>
              <a:t>24–25% случаев</a:t>
            </a:r>
            <a:r>
              <a:rPr sz="1200" b="0" i="0">
                <a:solidFill>
                  <a:srgbClr val="21295C"/>
                </a:solidFill>
                <a:latin typeface="Arial"/>
              </a:rPr>
              <a:t>.</a:t>
            </a:r>
          </a:p>
          <a:p>
            <a:pPr algn="l">
              <a:lnSpc>
                <a:spcPct val="126000"/>
              </a:lnSpc>
              <a:spcBef>
                <a:spcPts val="700"/>
              </a:spcBef>
            </a:pPr>
            <a:r>
              <a:rPr sz="1200" b="0" i="0">
                <a:solidFill>
                  <a:srgbClr val="21295C"/>
                </a:solidFill>
                <a:latin typeface="Arial"/>
              </a:rPr>
              <a:t/>
            </a:r>
            <a:r>
              <a:rPr sz="1200" b="1" i="0">
                <a:solidFill>
                  <a:srgbClr val="21295C"/>
                </a:solidFill>
                <a:latin typeface="Arial"/>
              </a:rPr>
              <a:t>Защита существует</a:t>
            </a:r>
            <a:r>
              <a:rPr sz="1200" b="0" i="0">
                <a:solidFill>
                  <a:srgbClr val="21295C"/>
                </a:solidFill>
                <a:latin typeface="Arial"/>
              </a:rPr>
              <a:t> — проверка живости снижает фрод до </a:t>
            </a:r>
            <a:r>
              <a:rPr sz="1200" b="1" i="0">
                <a:solidFill>
                  <a:srgbClr val="21295C"/>
                </a:solidFill>
                <a:latin typeface="Arial"/>
              </a:rPr>
              <a:t>91%</a:t>
            </a:r>
            <a:r>
              <a:rPr sz="1200" b="0" i="0">
                <a:solidFill>
                  <a:srgbClr val="21295C"/>
                </a:solidFill>
                <a:latin typeface="Arial"/>
              </a:rPr>
              <a:t>, — </a:t>
            </a:r>
            <a:r>
              <a:rPr sz="1200" b="1" i="0">
                <a:solidFill>
                  <a:srgbClr val="21295C"/>
                </a:solidFill>
                <a:latin typeface="Arial"/>
              </a:rPr>
              <a:t>но полностью внедрили её лишь ≈46% организаций.</a:t>
            </a:r>
            <a:r>
              <a:rPr sz="1200" b="0" i="0">
                <a:solidFill>
                  <a:srgbClr val="21295C"/>
                </a:solidFill>
                <a:latin typeface="Arial"/>
              </a:rPr>
              <a:t> Разрыв не в технологии, а во внедрении.</a:t>
            </a:r>
          </a:p>
        </p:txBody>
      </p:sp>
      <p:sp>
        <p:nvSpPr>
          <p:cNvPr id="22" name="Rounded Rectangle 21"/>
          <p:cNvSpPr/>
          <p:nvPr/>
        </p:nvSpPr>
        <p:spPr>
          <a:xfrm>
            <a:off x="6385255" y="1335024"/>
            <a:ext cx="5303520" cy="2914650"/>
          </a:xfrm>
          <a:prstGeom prst="roundRect">
            <a:avLst>
              <a:gd name="adj" fmla="val 10457"/>
            </a:avLst>
          </a:prstGeom>
          <a:solidFill>
            <a:srgbClr val="F4F7FA"/>
          </a:solidFill>
          <a:ln w="19050">
            <a:solidFill>
              <a:srgbClr val="1C7293"/>
            </a:solidFill>
          </a:ln>
          <a:effectLst/>
        </p:spPr>
        <p:txBody>
          <a:bodyPr rtlCol="0" anchor="ctr"/>
          <a:lstStyle/>
          <a:p>
            <a:pPr algn="ctr"/>
          </a:p>
        </p:txBody>
      </p:sp>
      <p:pic>
        <p:nvPicPr>
          <p:cNvPr id="23" name="Picture 22" descr="s06-cbs-deepfake-detection-laptop-screen.jpg"/>
          <p:cNvPicPr>
            <a:picLocks noChangeAspect="1"/>
          </p:cNvPicPr>
          <p:nvPr/>
        </p:nvPicPr>
        <p:blipFill>
          <a:blip r:embed="rId2"/>
          <a:stretch>
            <a:fillRect/>
          </a:stretch>
        </p:blipFill>
        <p:spPr>
          <a:xfrm>
            <a:off x="6522415" y="1472184"/>
            <a:ext cx="5029200" cy="264033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2026; Boston Globe 2026; отраслевые обзоры безопасности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Тот же механизм, два разных адреса в цикле</a:t>
            </a:r>
          </a:p>
        </p:txBody>
      </p:sp>
      <p:sp>
        <p:nvSpPr>
          <p:cNvPr id="4" name="Rounded Rectangle 3"/>
          <p:cNvSpPr/>
          <p:nvPr/>
        </p:nvSpPr>
        <p:spPr>
          <a:xfrm>
            <a:off x="502920" y="1335024"/>
            <a:ext cx="5437479" cy="3065279"/>
          </a:xfrm>
          <a:prstGeom prst="roundRect">
            <a:avLst>
              <a:gd name="adj" fmla="val 994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Лекция 14 — атака постфактум</a:t>
            </a:r>
          </a:p>
        </p:txBody>
      </p:sp>
      <p:sp>
        <p:nvSpPr>
          <p:cNvPr id="6" name="TextBox 5"/>
          <p:cNvSpPr txBox="1"/>
          <p:nvPr/>
        </p:nvSpPr>
        <p:spPr>
          <a:xfrm>
            <a:off x="667512" y="1846650"/>
            <a:ext cx="5108295" cy="239820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Видеозвонок «гендиректора» финансовому директору</a:t>
            </a:r>
          </a:p>
          <a:p>
            <a:pPr algn="l">
              <a:lnSpc>
                <a:spcPct val="126000"/>
              </a:lnSpc>
            </a:pPr>
            <a:r>
              <a:rPr sz="1450" b="0" i="0">
                <a:solidFill>
                  <a:srgbClr val="21295C"/>
                </a:solidFill>
                <a:latin typeface="Arial"/>
              </a:rPr>
              <a:t>• Сотрудник уже имеет доступ к счетам</a:t>
            </a:r>
          </a:p>
          <a:p>
            <a:pPr algn="l">
              <a:lnSpc>
                <a:spcPct val="126000"/>
              </a:lnSpc>
            </a:pPr>
            <a:r>
              <a:rPr sz="1450" b="0" i="0">
                <a:solidFill>
                  <a:srgbClr val="21295C"/>
                </a:solidFill>
                <a:latin typeface="Arial"/>
              </a:rPr>
              <a:t>• Цель — извлечь деньги немедленно</a:t>
            </a:r>
          </a:p>
          <a:p>
            <a:pPr algn="l">
              <a:lnSpc>
                <a:spcPct val="126000"/>
              </a:lnSpc>
            </a:pPr>
            <a:r>
              <a:rPr sz="1450" b="0" i="0">
                <a:solidFill>
                  <a:srgbClr val="21295C"/>
                </a:solidFill>
                <a:latin typeface="Arial"/>
              </a:rPr>
              <a:t>• Защита — процесс, не контр-детектор</a:t>
            </a:r>
          </a:p>
        </p:txBody>
      </p:sp>
      <p:sp>
        <p:nvSpPr>
          <p:cNvPr id="7" name="Rounded Rectangle 6"/>
          <p:cNvSpPr/>
          <p:nvPr/>
        </p:nvSpPr>
        <p:spPr>
          <a:xfrm>
            <a:off x="6251295" y="1335024"/>
            <a:ext cx="5437479" cy="3065279"/>
          </a:xfrm>
          <a:prstGeom prst="roundRect">
            <a:avLst>
              <a:gd name="adj" fmla="val 994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Эта лекция — вход, до доступа</a:t>
            </a:r>
          </a:p>
        </p:txBody>
      </p:sp>
      <p:sp>
        <p:nvSpPr>
          <p:cNvPr id="9" name="TextBox 8"/>
          <p:cNvSpPr txBox="1"/>
          <p:nvPr/>
        </p:nvSpPr>
        <p:spPr>
          <a:xfrm>
            <a:off x="6415887" y="1846650"/>
            <a:ext cx="5108295" cy="2398204"/>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Видеособеседование с кандидатом</a:t>
            </a:r>
          </a:p>
          <a:p>
            <a:pPr algn="l">
              <a:lnSpc>
                <a:spcPct val="126000"/>
              </a:lnSpc>
            </a:pPr>
            <a:r>
              <a:rPr sz="1450" b="0" i="0">
                <a:solidFill>
                  <a:srgbClr val="21295C"/>
                </a:solidFill>
                <a:latin typeface="Arial"/>
              </a:rPr>
              <a:t>• Доступа к чему-либо ещё нет</a:t>
            </a:r>
          </a:p>
          <a:p>
            <a:pPr algn="l">
              <a:lnSpc>
                <a:spcPct val="126000"/>
              </a:lnSpc>
            </a:pPr>
            <a:r>
              <a:rPr sz="1450" b="0" i="0">
                <a:solidFill>
                  <a:srgbClr val="21295C"/>
                </a:solidFill>
                <a:latin typeface="Arial"/>
              </a:rPr>
              <a:t>• Ставка — будет ли кандидат принят</a:t>
            </a:r>
          </a:p>
          <a:p>
            <a:pPr algn="l">
              <a:lnSpc>
                <a:spcPct val="126000"/>
              </a:lnSpc>
            </a:pPr>
            <a:r>
              <a:rPr sz="1450" b="0" i="0">
                <a:solidFill>
                  <a:srgbClr val="21295C"/>
                </a:solidFill>
                <a:latin typeface="Arial"/>
              </a:rPr>
              <a:t>• Защита — процесс найма, та же логика</a:t>
            </a:r>
          </a:p>
        </p:txBody>
      </p:sp>
      <p:sp>
        <p:nvSpPr>
          <p:cNvPr id="10" name="Rounded Rectangle 9"/>
          <p:cNvSpPr/>
          <p:nvPr/>
        </p:nvSpPr>
        <p:spPr>
          <a:xfrm>
            <a:off x="374904" y="4491743"/>
            <a:ext cx="11441887" cy="1744464"/>
          </a:xfrm>
          <a:prstGeom prst="roundRect">
            <a:avLst>
              <a:gd name="adj" fmla="val 17472"/>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583183"/>
            <a:ext cx="11112703" cy="1653024"/>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Один и тот же инструмент стоит в цикле в двух разных местах.</a:t>
            </a:r>
          </a:p>
          <a:p>
            <a:pPr algn="l">
              <a:lnSpc>
                <a:spcPct val="126000"/>
              </a:lnSpc>
              <a:spcBef>
                <a:spcPts val="700"/>
              </a:spcBef>
            </a:pPr>
            <a:r>
              <a:rPr sz="1300" b="0" i="0">
                <a:solidFill>
                  <a:srgbClr val="21295C"/>
                </a:solidFill>
                <a:latin typeface="Arial"/>
              </a:rPr>
              <a:t/>
            </a:r>
            <a:r>
              <a:rPr sz="1300" b="0" i="0">
                <a:solidFill>
                  <a:srgbClr val="21295C"/>
                </a:solidFill>
                <a:latin typeface="Arial"/>
              </a:rPr>
              <a:t>Лекция 14: звонок «гендиректора» финансовому директору — сотрудник уже внутри периметра, решение о деньгах.</a:t>
            </a:r>
          </a:p>
          <a:p>
            <a:pPr algn="l">
              <a:lnSpc>
                <a:spcPct val="126000"/>
              </a:lnSpc>
              <a:spcBef>
                <a:spcPts val="700"/>
              </a:spcBef>
            </a:pPr>
            <a:r>
              <a:rPr sz="1300" b="0" i="0">
                <a:solidFill>
                  <a:srgbClr val="21295C"/>
                </a:solidFill>
                <a:latin typeface="Arial"/>
              </a:rPr>
              <a:t/>
            </a:r>
            <a:r>
              <a:rPr sz="1300" b="0" i="0">
                <a:solidFill>
                  <a:srgbClr val="21295C"/>
                </a:solidFill>
                <a:latin typeface="Arial"/>
              </a:rPr>
              <a:t>Эта лекция: видеособеседование с кандидатом — до доступа, ставка — примут ли вообще на работу.</a:t>
            </a:r>
          </a:p>
          <a:p>
            <a:pPr algn="l">
              <a:lnSpc>
                <a:spcPct val="126000"/>
              </a:lnSpc>
              <a:spcBef>
                <a:spcPts val="700"/>
              </a:spcBef>
            </a:pPr>
            <a:r>
              <a:rPr sz="1300" b="0" i="0">
                <a:solidFill>
                  <a:srgbClr val="21295C"/>
                </a:solidFill>
                <a:latin typeface="Arial"/>
              </a:rPr>
              <a:t/>
            </a:r>
            <a:r>
              <a:rPr sz="1300" b="1" i="0">
                <a:solidFill>
                  <a:srgbClr val="21295C"/>
                </a:solidFill>
                <a:latin typeface="Arial"/>
              </a:rPr>
              <a:t>Механизм совпадает до деталей. Структурно — разные моменты, разные последствия отказа защиты.</a:t>
            </a:r>
          </a:p>
          <a:p>
            <a:pPr algn="l">
              <a:lnSpc>
                <a:spcPct val="126000"/>
              </a:lnSpc>
              <a:spcBef>
                <a:spcPts val="700"/>
              </a:spcBef>
            </a:pPr>
            <a:r>
              <a:rPr sz="1300" b="0" i="0">
                <a:solidFill>
                  <a:srgbClr val="21295C"/>
                </a:solidFill>
                <a:latin typeface="Arial"/>
              </a:rPr>
              <a:t/>
            </a:r>
            <a:r>
              <a:rPr sz="1300" b="0" i="0">
                <a:solidFill>
                  <a:srgbClr val="21295C"/>
                </a:solidFill>
                <a:latin typeface="Arial"/>
              </a:rPr>
              <a:t>Лекция 3 — платформенный слой инструментов — здесь только мимоходом.</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Карта пути: четыре точки, где узнавание работало бесплатно</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 артефакта</a:t>
            </a:r>
          </a:p>
        </p:txBody>
      </p:sp>
      <p:sp>
        <p:nvSpPr>
          <p:cNvPr id="5" name="Rounded Rectangle 4"/>
          <p:cNvSpPr/>
          <p:nvPr/>
        </p:nvSpPr>
        <p:spPr>
          <a:xfrm>
            <a:off x="1920240"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это сделал?</a:t>
            </a:r>
          </a:p>
          <a:p>
            <a:pPr algn="ctr">
              <a:lnSpc>
                <a:spcPct val="112000"/>
              </a:lnSpc>
            </a:pPr>
            <a:r>
              <a:rPr sz="1350" b="0" i="0">
                <a:solidFill>
                  <a:srgbClr val="21295C"/>
                </a:solidFill>
                <a:latin typeface="Arial"/>
              </a:rPr>
              <a:t>Раздел 1</a:t>
            </a:r>
          </a:p>
        </p:txBody>
      </p:sp>
      <p:sp>
        <p:nvSpPr>
          <p:cNvPr id="7" name="Right Arrow 6"/>
          <p:cNvSpPr/>
          <p:nvPr/>
        </p:nvSpPr>
        <p:spPr>
          <a:xfrm>
            <a:off x="4202353" y="1741789"/>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это проверил?</a:t>
            </a:r>
          </a:p>
          <a:p>
            <a:pPr algn="ctr">
              <a:lnSpc>
                <a:spcPct val="112000"/>
              </a:lnSpc>
            </a:pPr>
            <a:r>
              <a:rPr sz="1350" b="0" i="0">
                <a:solidFill>
                  <a:srgbClr val="21295C"/>
                </a:solidFill>
                <a:latin typeface="Arial"/>
              </a:rPr>
              <a:t>Раздел 2</a:t>
            </a:r>
          </a:p>
        </p:txBody>
      </p:sp>
      <p:sp>
        <p:nvSpPr>
          <p:cNvPr id="10" name="Right Arrow 9"/>
          <p:cNvSpPr/>
          <p:nvPr/>
        </p:nvSpPr>
        <p:spPr>
          <a:xfrm>
            <a:off x="6713067" y="1741789"/>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Как отреагировала аудитория?</a:t>
            </a:r>
          </a:p>
          <a:p>
            <a:pPr algn="ctr">
              <a:lnSpc>
                <a:spcPct val="112000"/>
              </a:lnSpc>
            </a:pPr>
            <a:r>
              <a:rPr sz="1350" b="0" i="0">
                <a:solidFill>
                  <a:srgbClr val="21295C"/>
                </a:solidFill>
                <a:latin typeface="Arial"/>
              </a:rPr>
              <a:t>Раздел 3</a:t>
            </a:r>
          </a:p>
        </p:txBody>
      </p:sp>
      <p:sp>
        <p:nvSpPr>
          <p:cNvPr id="13" name="Right Arrow 12"/>
          <p:cNvSpPr/>
          <p:nvPr/>
        </p:nvSpPr>
        <p:spPr>
          <a:xfrm>
            <a:off x="9223781" y="1741789"/>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за это заплатил?</a:t>
            </a:r>
          </a:p>
          <a:p>
            <a:pPr algn="ctr">
              <a:lnSpc>
                <a:spcPct val="112000"/>
              </a:lnSpc>
            </a:pPr>
            <a:r>
              <a:rPr sz="1350" b="0" i="0">
                <a:solidFill>
                  <a:srgbClr val="21295C"/>
                </a:solidFill>
                <a:latin typeface="Arial"/>
              </a:rPr>
              <a:t>Раздел 4</a:t>
            </a:r>
          </a:p>
        </p:txBody>
      </p:sp>
      <p:sp>
        <p:nvSpPr>
          <p:cNvPr id="16" name="TextBox 15"/>
          <p:cNvSpPr txBox="1"/>
          <p:nvPr/>
        </p:nvSpPr>
        <p:spPr>
          <a:xfrm>
            <a:off x="502920" y="2322290"/>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Путь одного артефакта — от создания до оплаты</a:t>
            </a:r>
          </a:p>
        </p:txBody>
      </p:sp>
      <p:sp>
        <p:nvSpPr>
          <p:cNvPr id="17" name="Rounded Rectangle 16"/>
          <p:cNvSpPr/>
          <p:nvPr/>
        </p:nvSpPr>
        <p:spPr>
          <a:xfrm>
            <a:off x="374904" y="2624974"/>
            <a:ext cx="11441887"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716414"/>
            <a:ext cx="5373471" cy="3519793"/>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Один творческий артефакт проходит путь, и узнавание на нём появляется четыре раза — и в каждой точке раньше оно работало бесплатно.</a:t>
            </a:r>
          </a:p>
          <a:p>
            <a:pPr algn="l">
              <a:lnSpc>
                <a:spcPct val="126000"/>
              </a:lnSpc>
              <a:spcBef>
                <a:spcPts val="700"/>
              </a:spcBef>
            </a:pPr>
            <a:r>
              <a:rPr sz="1500" b="0" i="0">
                <a:solidFill>
                  <a:srgbClr val="21295C"/>
                </a:solidFill>
                <a:latin typeface="Arial"/>
              </a:rPr>
              <a:t/>
            </a:r>
            <a:r>
              <a:rPr sz="1500" b="1" i="0">
                <a:solidFill>
                  <a:srgbClr val="21295C"/>
                </a:solidFill>
                <a:latin typeface="Arial"/>
              </a:rPr>
              <a:t>На входе.</a:t>
            </a:r>
            <a:r>
              <a:rPr sz="1500" b="0" i="0">
                <a:solidFill>
                  <a:srgbClr val="21295C"/>
                </a:solidFill>
                <a:latin typeface="Arial"/>
              </a:rPr>
              <a:t> Кто это сделал? Файл существовал — этого было достаточно.</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При проверке.</a:t>
            </a:r>
            <a:r>
              <a:rPr sz="1500" b="0" i="0">
                <a:solidFill>
                  <a:srgbClr val="21295C"/>
                </a:solidFill>
                <a:latin typeface="Arial"/>
              </a:rPr>
              <a:t> Редактор верит подписи, клиент — лицензии, агентство — голосу в контракте.</a:t>
            </a:r>
          </a:p>
        </p:txBody>
      </p:sp>
      <p:sp>
        <p:nvSpPr>
          <p:cNvPr id="19" name="TextBox 18"/>
          <p:cNvSpPr txBox="1"/>
          <p:nvPr/>
        </p:nvSpPr>
        <p:spPr>
          <a:xfrm>
            <a:off x="6278727" y="2716414"/>
            <a:ext cx="5373471" cy="351979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При публикации.</a:t>
            </a:r>
            <a:r>
              <a:rPr sz="1500" b="0" i="0">
                <a:solidFill>
                  <a:srgbClr val="21295C"/>
                </a:solidFill>
                <a:latin typeface="Arial"/>
              </a:rPr>
              <a:t> Аудитория реагирует так, будто подлинность не под вопросом.</a:t>
            </a:r>
          </a:p>
          <a:p>
            <a:pPr algn="l">
              <a:lnSpc>
                <a:spcPct val="126000"/>
              </a:lnSpc>
              <a:spcBef>
                <a:spcPts val="700"/>
              </a:spcBef>
            </a:pPr>
            <a:r>
              <a:rPr sz="1500" b="0" i="0">
                <a:solidFill>
                  <a:srgbClr val="21295C"/>
                </a:solidFill>
                <a:latin typeface="Arial"/>
              </a:rPr>
              <a:t/>
            </a:r>
            <a:r>
              <a:rPr sz="1500" b="1" i="0">
                <a:solidFill>
                  <a:srgbClr val="21295C"/>
                </a:solidFill>
                <a:latin typeface="Arial"/>
              </a:rPr>
              <a:t>При оплате.</a:t>
            </a:r>
            <a:r>
              <a:rPr sz="1500" b="0" i="0">
                <a:solidFill>
                  <a:srgbClr val="21295C"/>
                </a:solidFill>
                <a:latin typeface="Arial"/>
              </a:rPr>
              <a:t> Кто лицензировал материал, на котором обучена модель.</a:t>
            </a:r>
          </a:p>
          <a:p>
            <a:pPr algn="l">
              <a:lnSpc>
                <a:spcPct val="126000"/>
              </a:lnSpc>
              <a:spcBef>
                <a:spcPts val="700"/>
              </a:spcBef>
            </a:pPr>
            <a:r>
              <a:rPr sz="1500" b="0" i="0">
                <a:solidFill>
                  <a:srgbClr val="21295C"/>
                </a:solidFill>
                <a:latin typeface="Arial"/>
              </a:rPr>
              <a:t/>
            </a:r>
            <a:r>
              <a:rPr sz="1500" b="1" i="0">
                <a:solidFill>
                  <a:srgbClr val="21295C"/>
                </a:solidFill>
                <a:latin typeface="Arial"/>
              </a:rPr>
              <a:t>Пятый раздел не добавляет точку</a:t>
            </a:r>
            <a:r>
              <a:rPr sz="1500" b="0" i="0">
                <a:solidFill>
                  <a:srgbClr val="21295C"/>
                </a:solidFill>
                <a:latin typeface="Arial"/>
              </a:rPr>
              <a:t> — он спрашивает, что стало с тем, кто проходил этот путь профессией.</a:t>
            </a:r>
          </a:p>
        </p:txBody>
      </p:sp>
      <p:sp>
        <p:nvSpPr>
          <p:cNvPr id="20" name="Rectangle 19"/>
          <p:cNvSpPr/>
          <p:nvPr/>
        </p:nvSpPr>
        <p:spPr>
          <a:xfrm>
            <a:off x="6091275" y="2716414"/>
            <a:ext cx="9144" cy="2257227"/>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устроен каждый подробный разбор этой лекции</a:t>
            </a:r>
          </a:p>
        </p:txBody>
      </p:sp>
      <p:sp>
        <p:nvSpPr>
          <p:cNvPr id="4" name="TextBox 3"/>
          <p:cNvSpPr txBox="1"/>
          <p:nvPr/>
        </p:nvSpPr>
        <p:spPr>
          <a:xfrm>
            <a:off x="502920" y="1371600"/>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Разбор</a:t>
            </a:r>
          </a:p>
        </p:txBody>
      </p:sp>
      <p:sp>
        <p:nvSpPr>
          <p:cNvPr id="5" name="Rounded Rectangle 4"/>
          <p:cNvSpPr/>
          <p:nvPr/>
        </p:nvSpPr>
        <p:spPr>
          <a:xfrm>
            <a:off x="1920240" y="133502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Цена обеих сторон</a:t>
            </a:r>
          </a:p>
        </p:txBody>
      </p:sp>
      <p:sp>
        <p:nvSpPr>
          <p:cNvPr id="7" name="Right Arrow 6"/>
          <p:cNvSpPr/>
          <p:nvPr/>
        </p:nvSpPr>
        <p:spPr>
          <a:xfrm>
            <a:off x="4202353" y="1504140"/>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Классический режим</a:t>
            </a:r>
          </a:p>
        </p:txBody>
      </p:sp>
      <p:sp>
        <p:nvSpPr>
          <p:cNvPr id="10" name="Right Arrow 9"/>
          <p:cNvSpPr/>
          <p:nvPr/>
        </p:nvSpPr>
        <p:spPr>
          <a:xfrm>
            <a:off x="6713067" y="1504140"/>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Модель против режима</a:t>
            </a:r>
          </a:p>
        </p:txBody>
      </p:sp>
      <p:sp>
        <p:nvSpPr>
          <p:cNvPr id="13" name="Right Arrow 12"/>
          <p:cNvSpPr/>
          <p:nvPr/>
        </p:nvSpPr>
        <p:spPr>
          <a:xfrm>
            <a:off x="9223781" y="1504140"/>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Форма: что переехало</a:t>
            </a:r>
          </a:p>
        </p:txBody>
      </p:sp>
      <p:sp>
        <p:nvSpPr>
          <p:cNvPr id="16" name="TextBox 15"/>
          <p:cNvSpPr txBox="1"/>
          <p:nvPr/>
        </p:nvSpPr>
        <p:spPr>
          <a:xfrm>
            <a:off x="502920" y="1846992"/>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шага любого разбора — в этом порядке</a:t>
            </a:r>
          </a:p>
        </p:txBody>
      </p:sp>
      <p:sp>
        <p:nvSpPr>
          <p:cNvPr id="17" name="Rounded Rectangle 16"/>
          <p:cNvSpPr/>
          <p:nvPr/>
        </p:nvSpPr>
        <p:spPr>
          <a:xfrm>
            <a:off x="374904" y="2149676"/>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241116"/>
            <a:ext cx="5373471" cy="3995091"/>
          </a:xfrm>
          <a:prstGeom prst="rect">
            <a:avLst/>
          </a:prstGeom>
          <a:noFill/>
        </p:spPr>
        <p:txBody>
          <a:bodyPr wrap="square" lIns="0" rIns="0" tIns="0" bIns="0" anchor="t">
            <a:spAutoFit/>
          </a:bodyPr>
          <a:lstStyle/>
          <a:p>
            <a:pPr algn="l">
              <a:lnSpc>
                <a:spcPct val="126000"/>
              </a:lnSpc>
            </a:pPr>
            <a:r>
              <a:rPr sz="1500" b="0" i="0">
                <a:solidFill>
                  <a:srgbClr val="21295C"/>
                </a:solidFill>
                <a:latin typeface="Arial"/>
              </a:rPr>
              <a:t>Каждый подробный разбор дальше проходит одни и те же четыре шага.</a:t>
            </a:r>
          </a:p>
          <a:p>
            <a:pPr algn="l">
              <a:lnSpc>
                <a:spcPct val="126000"/>
              </a:lnSpc>
              <a:spcBef>
                <a:spcPts val="700"/>
              </a:spcBef>
            </a:pPr>
            <a:r>
              <a:rPr sz="1500" b="0" i="0">
                <a:solidFill>
                  <a:srgbClr val="21295C"/>
                </a:solidFill>
                <a:latin typeface="Arial"/>
              </a:rPr>
              <a:t/>
            </a:r>
            <a:r>
              <a:rPr sz="1500" b="1" i="0">
                <a:solidFill>
                  <a:srgbClr val="21295C"/>
                </a:solidFill>
                <a:latin typeface="Arial"/>
              </a:rPr>
              <a:t>①</a:t>
            </a:r>
            <a:r>
              <a:rPr sz="1500" b="0" i="0">
                <a:solidFill>
                  <a:srgbClr val="21295C"/>
                </a:solidFill>
                <a:latin typeface="Arial"/>
              </a:rPr>
              <a:t> Цена обеих сторон — в одних единицах, до оценки качества. </a:t>
            </a:r>
            <a:r>
              <a:rPr sz="1500" b="1" i="0">
                <a:solidFill>
                  <a:srgbClr val="21295C"/>
                </a:solidFill>
                <a:latin typeface="Arial"/>
              </a:rPr>
              <a:t>②</a:t>
            </a:r>
            <a:r>
              <a:rPr sz="1500" b="0" i="0">
                <a:solidFill>
                  <a:srgbClr val="21295C"/>
                </a:solidFill>
                <a:latin typeface="Arial"/>
              </a:rPr>
              <a:t> Классический режим, посчитанный в тех же единицах. </a:t>
            </a:r>
            <a:r>
              <a:rPr sz="1500" b="1" i="0">
                <a:solidFill>
                  <a:srgbClr val="21295C"/>
                </a:solidFill>
                <a:latin typeface="Arial"/>
              </a:rPr>
              <a:t>③</a:t>
            </a:r>
            <a:r>
              <a:rPr sz="1500" b="0" i="0">
                <a:solidFill>
                  <a:srgbClr val="21295C"/>
                </a:solidFill>
                <a:latin typeface="Arial"/>
              </a:rPr>
              <a:t> Модель против режима — не против нуля. </a:t>
            </a:r>
            <a:r>
              <a:rPr sz="1500" b="1" i="0">
                <a:solidFill>
                  <a:srgbClr val="21295C"/>
                </a:solidFill>
                <a:latin typeface="Arial"/>
              </a:rPr>
              <a:t>④</a:t>
            </a:r>
            <a:r>
              <a:rPr sz="1500" b="0" i="0">
                <a:solidFill>
                  <a:srgbClr val="21295C"/>
                </a:solidFill>
                <a:latin typeface="Arial"/>
              </a:rPr>
              <a:t> Форма, в которой изменилась работа.</a:t>
            </a:r>
          </a:p>
        </p:txBody>
      </p:sp>
      <p:sp>
        <p:nvSpPr>
          <p:cNvPr id="19" name="TextBox 18"/>
          <p:cNvSpPr txBox="1"/>
          <p:nvPr/>
        </p:nvSpPr>
        <p:spPr>
          <a:xfrm>
            <a:off x="6278727" y="2241116"/>
            <a:ext cx="5373471" cy="399509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Число без названной базы в материал не идёт.</a:t>
            </a:r>
          </a:p>
          <a:p>
            <a:pPr algn="l">
              <a:lnSpc>
                <a:spcPct val="126000"/>
              </a:lnSpc>
              <a:spcBef>
                <a:spcPts val="700"/>
              </a:spcBef>
            </a:pPr>
            <a:r>
              <a:rPr sz="1500" b="0" i="0">
                <a:solidFill>
                  <a:srgbClr val="21295C"/>
                </a:solidFill>
                <a:latin typeface="Arial"/>
              </a:rPr>
              <a:t/>
            </a:r>
            <a:r>
              <a:rPr sz="1500" b="1" i="0">
                <a:solidFill>
                  <a:srgbClr val="21295C"/>
                </a:solidFill>
                <a:latin typeface="Arial"/>
              </a:rPr>
              <a:t>У кого на работе уже стоит генерация в продакшене — картинка, звук, текст — не для баловства?</a:t>
            </a:r>
          </a:p>
        </p:txBody>
      </p:sp>
      <p:sp>
        <p:nvSpPr>
          <p:cNvPr id="20" name="Rectangle 19"/>
          <p:cNvSpPr/>
          <p:nvPr/>
        </p:nvSpPr>
        <p:spPr>
          <a:xfrm>
            <a:off x="6091275" y="2241116"/>
            <a:ext cx="9144" cy="1871266"/>
          </a:xfrm>
          <a:prstGeom prst="rect">
            <a:avLst/>
          </a:prstGeom>
          <a:solidFill>
            <a:srgbClr val="D9E2EC"/>
          </a:solidFill>
          <a:ln>
            <a:noFill/>
          </a:ln>
          <a:effectLst/>
        </p:spPr>
        <p:txBody>
          <a:bodyPr rtlCol="0" anchor="ctr"/>
          <a:lstStyle/>
          <a:p>
            <a:pPr algn="ctr"/>
          </a:p>
        </p:txBody>
      </p:sp>
      <p:sp>
        <p:nvSpPr>
          <p:cNvPr id="21" name="Rectangle 20"/>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Вопрос лекции</a:t>
            </a:r>
          </a:p>
        </p:txBody>
      </p:sp>
      <p:sp>
        <p:nvSpPr>
          <p:cNvPr id="4" name="TextBox 3"/>
          <p:cNvSpPr txBox="1"/>
          <p:nvPr/>
        </p:nvSpPr>
        <p:spPr>
          <a:xfrm>
            <a:off x="539496" y="1335024"/>
            <a:ext cx="11112703" cy="673338"/>
          </a:xfrm>
          <a:prstGeom prst="rect">
            <a:avLst/>
          </a:prstGeom>
          <a:noFill/>
        </p:spPr>
        <p:txBody>
          <a:bodyPr wrap="square" lIns="0" rIns="0" tIns="0" bIns="0" anchor="t">
            <a:spAutoFit/>
          </a:bodyPr>
          <a:lstStyle/>
          <a:p>
            <a:pPr algn="l">
              <a:lnSpc>
                <a:spcPct val="126000"/>
              </a:lnSpc>
            </a:pPr>
            <a:r>
              <a:rPr sz="1700" b="1" i="0">
                <a:solidFill>
                  <a:srgbClr val="21295C"/>
                </a:solidFill>
                <a:latin typeface="Arial"/>
              </a:rPr>
              <a:t>Узнавание было бесплатным институтом доверия. Генеративная модель обнулила цену его подделки.</a:t>
            </a:r>
          </a:p>
        </p:txBody>
      </p:sp>
      <p:sp>
        <p:nvSpPr>
          <p:cNvPr id="5" name="Rounded Rectangle 4"/>
          <p:cNvSpPr/>
          <p:nvPr/>
        </p:nvSpPr>
        <p:spPr>
          <a:xfrm>
            <a:off x="502920" y="2191242"/>
            <a:ext cx="11185855" cy="1588288"/>
          </a:xfrm>
          <a:prstGeom prst="roundRect">
            <a:avLst>
              <a:gd name="adj" fmla="val 19190"/>
            </a:avLst>
          </a:prstGeom>
          <a:solidFill>
            <a:srgbClr val="21295C"/>
          </a:solidFill>
          <a:ln w="25400">
            <a:solidFill>
              <a:srgbClr val="F0AB00"/>
            </a:solidFill>
          </a:ln>
          <a:effectLst/>
        </p:spPr>
        <p:txBody>
          <a:bodyPr rtlCol="0" anchor="ctr"/>
          <a:lstStyle/>
          <a:p>
            <a:pPr algn="ctr"/>
          </a:p>
        </p:txBody>
      </p:sp>
      <p:sp>
        <p:nvSpPr>
          <p:cNvPr id="6" name="TextBox 5"/>
          <p:cNvSpPr txBox="1"/>
          <p:nvPr/>
        </p:nvSpPr>
        <p:spPr>
          <a:xfrm>
            <a:off x="777240" y="2428986"/>
            <a:ext cx="10637215" cy="1112800"/>
          </a:xfrm>
          <a:prstGeom prst="rect">
            <a:avLst/>
          </a:prstGeom>
          <a:noFill/>
        </p:spPr>
        <p:txBody>
          <a:bodyPr wrap="square" lIns="0" rIns="0" tIns="0" bIns="0" anchor="ctr">
            <a:spAutoFit/>
          </a:bodyPr>
          <a:lstStyle/>
          <a:p>
            <a:pPr algn="ctr">
              <a:lnSpc>
                <a:spcPct val="118000"/>
              </a:lnSpc>
            </a:pPr>
            <a:r>
              <a:rPr sz="3000" b="1" i="0">
                <a:solidFill>
                  <a:srgbClr val="F0AB00"/>
                </a:solidFill>
                <a:latin typeface="Arial"/>
              </a:rPr>
              <a:t>Лицо, голос и подпись автора стоили доверия бесплатно. Сколько это стоит теперь — и кто платит?</a:t>
            </a:r>
          </a:p>
        </p:txBody>
      </p:sp>
      <p:sp>
        <p:nvSpPr>
          <p:cNvPr id="7" name="TextBox 6"/>
          <p:cNvSpPr txBox="1"/>
          <p:nvPr/>
        </p:nvSpPr>
        <p:spPr>
          <a:xfrm>
            <a:off x="539496" y="3962410"/>
            <a:ext cx="11112703" cy="2273797"/>
          </a:xfrm>
          <a:prstGeom prst="rect">
            <a:avLst/>
          </a:prstGeom>
          <a:noFill/>
        </p:spPr>
        <p:txBody>
          <a:bodyPr wrap="square" lIns="0" rIns="0" tIns="0" bIns="0" anchor="t">
            <a:spAutoFit/>
          </a:bodyPr>
          <a:lstStyle/>
          <a:p>
            <a:pPr algn="l">
              <a:lnSpc>
                <a:spcPct val="124000"/>
              </a:lnSpc>
            </a:pPr>
            <a:r>
              <a:rPr sz="1500" b="0" i="0">
                <a:solidFill>
                  <a:srgbClr val="065A82"/>
                </a:solidFill>
                <a:latin typeface="Arial"/>
              </a:rPr>
              <a:t>Ответ — по пяти точкам пути артефакта: кто сделал · кто проверил · как отреагировала аудитория · кто заплатил · что стало с тем, кто делал.</a:t>
            </a:r>
          </a:p>
        </p:txBody>
      </p:sp>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11-recording-studio-mixing-console.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1. Продакшн / исполнение</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Кто это сделал.</a:t>
            </a:r>
            <a:r>
              <a:rPr sz="1550" b="0" i="0">
                <a:solidFill>
                  <a:srgbClr val="21295C"/>
                </a:solidFill>
                <a:latin typeface="Arial"/>
              </a:rPr>
              <a:t> До генеративных моделей ответ был очевиден из факта, что файл существует. Раздел разбирает, что случилось с ценой исполнения — и почему вместе с ней обнулилась цена подделать происхождение.</a:t>
            </a:r>
          </a:p>
        </p:txBody>
      </p:sp>
      <p:sp>
        <p:nvSpPr>
          <p:cNvPr id="9" name="TextBox 8"/>
          <p:cNvSpPr txBox="1"/>
          <p:nvPr/>
        </p:nvSpPr>
        <p:spPr>
          <a:xfrm>
            <a:off x="704088" y="3217513"/>
            <a:ext cx="5742432" cy="2453301"/>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«Классика ремесла: как делали руками — три класса продукта»</a:t>
            </a:r>
            <a:r>
              <a:rPr sz="1550" b="0" i="0">
                <a:solidFill>
                  <a:srgbClr val="21295C"/>
                </a:solidFill>
                <a:latin typeface="Arial"/>
              </a:rPr>
              <a:t> · </a:t>
            </a:r>
            <a:r>
              <a:rPr sz="1550" b="1" i="0">
                <a:solidFill>
                  <a:srgbClr val="21295C"/>
                </a:solidFill>
                <a:latin typeface="Arial"/>
              </a:rPr>
              <a:t>«Порог найма: решение о человеке раньше вопроса о качестве»</a:t>
            </a:r>
            <a:r>
              <a:rPr sz="1550" b="0" i="0">
                <a:solidFill>
                  <a:srgbClr val="21295C"/>
                </a:solidFill>
                <a:latin typeface="Arial"/>
              </a:rPr>
              <a:t> · </a:t>
            </a:r>
            <a:r>
              <a:rPr sz="1550" b="1" i="0">
                <a:solidFill>
                  <a:srgbClr val="21295C"/>
                </a:solidFill>
                <a:latin typeface="Arial"/>
              </a:rPr>
              <a:t>«Порог найма на практике: три сценария, собранные по агрегированным профилям»</a:t>
            </a:r>
            <a:r>
              <a:rPr sz="1550" b="0" i="0">
                <a:solidFill>
                  <a:srgbClr val="21295C"/>
                </a:solidFill>
                <a:latin typeface="Arial"/>
              </a:rPr>
              <a:t> · </a:t>
            </a:r>
            <a:r>
              <a:rPr sz="1550" b="1" i="0">
                <a:solidFill>
                  <a:srgbClr val="21295C"/>
                </a:solidFill>
                <a:latin typeface="Arial"/>
              </a:rPr>
              <a:t>«Обвал цены: изображение»</a:t>
            </a:r>
            <a:r>
              <a:rPr sz="1550" b="0" i="0">
                <a:solidFill>
                  <a:srgbClr val="21295C"/>
                </a:solidFill>
                <a:latin typeface="Arial"/>
              </a:rPr>
              <a:t> · </a:t>
            </a:r>
            <a:r>
              <a:rPr sz="1550" b="1" i="0">
                <a:solidFill>
                  <a:srgbClr val="21295C"/>
                </a:solidFill>
                <a:latin typeface="Arial"/>
              </a:rPr>
              <a:t>«Обвал цены: музыкальный трек»</a:t>
            </a:r>
            <a:r>
              <a:rPr sz="1550" b="0" i="0">
                <a:solidFill>
                  <a:srgbClr val="21295C"/>
                </a:solidFill>
                <a:latin typeface="Arial"/>
              </a:rPr>
              <a:t> · </a:t>
            </a:r>
            <a:r>
              <a:rPr sz="1550" b="1" i="0">
                <a:solidFill>
                  <a:srgbClr val="21295C"/>
                </a:solidFill>
                <a:latin typeface="Arial"/>
              </a:rPr>
              <a:t>«Обвал цены: озвучка»</a:t>
            </a:r>
            <a:r>
              <a:rPr sz="1550" b="0" i="0">
                <a:solidFill>
                  <a:srgbClr val="21295C"/>
                </a:solidFill>
                <a:latin typeface="Arial"/>
              </a:rPr>
              <a:t> · </a:t>
            </a:r>
            <a:r>
              <a:rPr sz="1550" b="1" i="0">
                <a:solidFill>
                  <a:srgbClr val="21295C"/>
                </a:solidFill>
                <a:latin typeface="Arial"/>
              </a:rPr>
              <a:t>«Sora: хайп-цикл длиной в год»</a:t>
            </a:r>
            <a:r>
              <a:rPr sz="1550" b="0" i="0">
                <a:solidFill>
                  <a:srgbClr val="21295C"/>
                </a:solidFill>
                <a:latin typeface="Arial"/>
              </a:rPr>
              <a:t> · </a:t>
            </a:r>
            <a:r>
              <a:rPr sz="1550" b="1" i="0">
                <a:solidFill>
                  <a:srgbClr val="21295C"/>
                </a:solidFill>
                <a:latin typeface="Arial"/>
              </a:rPr>
              <a:t>«Вывод раздела: что переехало — и чего раздел не утверждает»</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Классика ремесла: как делали руками — три класса продукта</a:t>
            </a:r>
          </a:p>
        </p:txBody>
      </p:sp>
      <p:sp>
        <p:nvSpPr>
          <p:cNvPr id="4" name="Rounded Rectangle 3"/>
          <p:cNvSpPr/>
          <p:nvPr/>
        </p:nvSpPr>
        <p:spPr>
          <a:xfrm>
            <a:off x="502920" y="1335024"/>
            <a:ext cx="2509418"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35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ИЗОБРАЖЕНИЕ</a:t>
            </a:r>
          </a:p>
        </p:txBody>
      </p:sp>
      <p:sp>
        <p:nvSpPr>
          <p:cNvPr id="6" name="TextBox 5"/>
          <p:cNvSpPr txBox="1"/>
          <p:nvPr/>
        </p:nvSpPr>
        <p:spPr>
          <a:xfrm>
            <a:off x="640080" y="1725375"/>
            <a:ext cx="2235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 1–3 дня</a:t>
            </a:r>
          </a:p>
        </p:txBody>
      </p:sp>
      <p:sp>
        <p:nvSpPr>
          <p:cNvPr id="7" name="TextBox 6"/>
          <p:cNvSpPr txBox="1"/>
          <p:nvPr/>
        </p:nvSpPr>
        <p:spPr>
          <a:xfrm>
            <a:off x="640080" y="2542797"/>
            <a:ext cx="2235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бриф → референс → черновик → правка → сдача</a:t>
            </a:r>
          </a:p>
        </p:txBody>
      </p:sp>
      <p:sp>
        <p:nvSpPr>
          <p:cNvPr id="8" name="Rounded Rectangle 7"/>
          <p:cNvSpPr/>
          <p:nvPr/>
        </p:nvSpPr>
        <p:spPr>
          <a:xfrm>
            <a:off x="3176930" y="1335024"/>
            <a:ext cx="2509418"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314090" y="1472184"/>
            <a:ext cx="2235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КАСТОМ / СТОК</a:t>
            </a:r>
          </a:p>
        </p:txBody>
      </p:sp>
      <p:sp>
        <p:nvSpPr>
          <p:cNvPr id="10" name="TextBox 9"/>
          <p:cNvSpPr txBox="1"/>
          <p:nvPr/>
        </p:nvSpPr>
        <p:spPr>
          <a:xfrm>
            <a:off x="3314090" y="1725375"/>
            <a:ext cx="2235098" cy="800447"/>
          </a:xfrm>
          <a:prstGeom prst="rect">
            <a:avLst/>
          </a:prstGeom>
          <a:noFill/>
        </p:spPr>
        <p:txBody>
          <a:bodyPr wrap="square" lIns="0" rIns="0" tIns="0" bIns="0" anchor="t">
            <a:spAutoFit/>
          </a:bodyPr>
          <a:lstStyle/>
          <a:p>
            <a:pPr algn="l">
              <a:lnSpc>
                <a:spcPct val="108000"/>
              </a:lnSpc>
            </a:pPr>
            <a:r>
              <a:rPr sz="2250" b="1" i="0">
                <a:solidFill>
                  <a:srgbClr val="21295C"/>
                </a:solidFill>
                <a:latin typeface="Arial"/>
              </a:rPr>
              <a:t>200–1500 $/мин / 20–100 $/трек</a:t>
            </a:r>
          </a:p>
        </p:txBody>
      </p:sp>
      <p:sp>
        <p:nvSpPr>
          <p:cNvPr id="11" name="TextBox 10"/>
          <p:cNvSpPr txBox="1"/>
          <p:nvPr/>
        </p:nvSpPr>
        <p:spPr>
          <a:xfrm>
            <a:off x="3314090" y="2525822"/>
            <a:ext cx="2235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разных продукта — не путать</a:t>
            </a:r>
          </a:p>
        </p:txBody>
      </p:sp>
      <p:sp>
        <p:nvSpPr>
          <p:cNvPr id="12" name="Rounded Rectangle 11"/>
          <p:cNvSpPr/>
          <p:nvPr/>
        </p:nvSpPr>
        <p:spPr>
          <a:xfrm>
            <a:off x="5850940" y="1335024"/>
            <a:ext cx="2509418"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988100" y="1472184"/>
            <a:ext cx="2235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ОЗВУЧКА: ПО ОПЫТУ</a:t>
            </a:r>
          </a:p>
        </p:txBody>
      </p:sp>
      <p:sp>
        <p:nvSpPr>
          <p:cNvPr id="14" name="TextBox 13"/>
          <p:cNvSpPr txBox="1"/>
          <p:nvPr/>
        </p:nvSpPr>
        <p:spPr>
          <a:xfrm>
            <a:off x="5988100" y="1725375"/>
            <a:ext cx="2235098" cy="698597"/>
          </a:xfrm>
          <a:prstGeom prst="rect">
            <a:avLst/>
          </a:prstGeom>
          <a:noFill/>
        </p:spPr>
        <p:txBody>
          <a:bodyPr wrap="square" lIns="0" rIns="0" tIns="0" bIns="0" anchor="t">
            <a:spAutoFit/>
          </a:bodyPr>
          <a:lstStyle/>
          <a:p>
            <a:pPr algn="l">
              <a:lnSpc>
                <a:spcPct val="108000"/>
              </a:lnSpc>
            </a:pPr>
            <a:r>
              <a:rPr sz="1950" b="1" i="0">
                <a:solidFill>
                  <a:srgbClr val="1C7293"/>
                </a:solidFill>
                <a:latin typeface="Arial"/>
              </a:rPr>
              <a:t>50–150 / 150–350 / 350–1000+ $/мин</a:t>
            </a:r>
          </a:p>
        </p:txBody>
      </p:sp>
      <p:sp>
        <p:nvSpPr>
          <p:cNvPr id="15" name="TextBox 14"/>
          <p:cNvSpPr txBox="1"/>
          <p:nvPr/>
        </p:nvSpPr>
        <p:spPr>
          <a:xfrm>
            <a:off x="5988100" y="2423973"/>
            <a:ext cx="2235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начинающий / средний / студийный</a:t>
            </a:r>
          </a:p>
        </p:txBody>
      </p:sp>
      <p:sp>
        <p:nvSpPr>
          <p:cNvPr id="16" name="Rounded Rectangle 15"/>
          <p:cNvSpPr/>
          <p:nvPr/>
        </p:nvSpPr>
        <p:spPr>
          <a:xfrm>
            <a:off x="374904" y="3193884"/>
            <a:ext cx="8113471"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7784287"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Изображение.</a:t>
            </a:r>
            <a:r>
              <a:rPr sz="1500" b="0" i="0">
                <a:solidFill>
                  <a:srgbClr val="21295C"/>
                </a:solidFill>
                <a:latin typeface="Arial"/>
              </a:rPr>
              <a:t> Бриф → референс → черновик → правка → сдача. </a:t>
            </a:r>
            <a:r>
              <a:rPr sz="1500" b="1" i="0">
                <a:solidFill>
                  <a:srgbClr val="21295C"/>
                </a:solidFill>
                <a:latin typeface="Arial"/>
              </a:rPr>
              <a:t>1–3 дня, 50–150 долларов.</a:t>
            </a:r>
          </a:p>
          <a:p>
            <a:pPr algn="l">
              <a:lnSpc>
                <a:spcPct val="126000"/>
              </a:lnSpc>
              <a:spcBef>
                <a:spcPts val="700"/>
              </a:spcBef>
            </a:pPr>
            <a:r>
              <a:rPr sz="1500" b="0" i="0">
                <a:solidFill>
                  <a:srgbClr val="21295C"/>
                </a:solidFill>
                <a:latin typeface="Arial"/>
              </a:rPr>
              <a:t/>
            </a:r>
            <a:r>
              <a:rPr sz="1500" b="1" i="0">
                <a:solidFill>
                  <a:srgbClr val="21295C"/>
                </a:solidFill>
                <a:latin typeface="Arial"/>
              </a:rPr>
              <a:t>Музыкальный трек — два продукта.</a:t>
            </a:r>
            <a:r>
              <a:rPr sz="1500" b="0" i="0">
                <a:solidFill>
                  <a:srgbClr val="21295C"/>
                </a:solidFill>
                <a:latin typeface="Arial"/>
              </a:rPr>
              <a:t> Кастом: </a:t>
            </a:r>
            <a:r>
              <a:rPr sz="1500" b="1" i="0">
                <a:solidFill>
                  <a:srgbClr val="21295C"/>
                </a:solidFill>
                <a:latin typeface="Arial"/>
              </a:rPr>
              <a:t>200–1500 $/мин</a:t>
            </a:r>
            <a:r>
              <a:rPr sz="1500" b="0" i="0">
                <a:solidFill>
                  <a:srgbClr val="21295C"/>
                </a:solidFill>
                <a:latin typeface="Arial"/>
              </a:rPr>
              <a:t> (или 5000–25000 за рекламный трек). Сток: </a:t>
            </a:r>
            <a:r>
              <a:rPr sz="1500" b="1" i="0">
                <a:solidFill>
                  <a:srgbClr val="21295C"/>
                </a:solidFill>
                <a:latin typeface="Arial"/>
              </a:rPr>
              <a:t>20–100 $/трек.</a:t>
            </a:r>
          </a:p>
          <a:p>
            <a:pPr algn="l">
              <a:lnSpc>
                <a:spcPct val="126000"/>
              </a:lnSpc>
              <a:spcBef>
                <a:spcPts val="700"/>
              </a:spcBef>
            </a:pPr>
            <a:r>
              <a:rPr sz="1500" b="0" i="0">
                <a:solidFill>
                  <a:srgbClr val="21295C"/>
                </a:solidFill>
                <a:latin typeface="Arial"/>
              </a:rPr>
              <a:t/>
            </a:r>
            <a:r>
              <a:rPr sz="1500" b="1" i="0">
                <a:solidFill>
                  <a:srgbClr val="21295C"/>
                </a:solidFill>
                <a:latin typeface="Arial"/>
              </a:rPr>
              <a:t>Озвучка — по опыту.</a:t>
            </a:r>
            <a:r>
              <a:rPr sz="1500" b="0" i="0">
                <a:solidFill>
                  <a:srgbClr val="21295C"/>
                </a:solidFill>
                <a:latin typeface="Arial"/>
              </a:rPr>
              <a:t> Начинающий — </a:t>
            </a:r>
            <a:r>
              <a:rPr sz="1500" b="1" i="0">
                <a:solidFill>
                  <a:srgbClr val="21295C"/>
                </a:solidFill>
                <a:latin typeface="Arial"/>
              </a:rPr>
              <a:t>50–150</a:t>
            </a:r>
            <a:r>
              <a:rPr sz="1500" b="0" i="0">
                <a:solidFill>
                  <a:srgbClr val="21295C"/>
                </a:solidFill>
                <a:latin typeface="Arial"/>
              </a:rPr>
              <a:t>, специалист — </a:t>
            </a:r>
            <a:r>
              <a:rPr sz="1500" b="1" i="0">
                <a:solidFill>
                  <a:srgbClr val="21295C"/>
                </a:solidFill>
                <a:latin typeface="Arial"/>
              </a:rPr>
              <a:t>150–350</a:t>
            </a:r>
            <a:r>
              <a:rPr sz="1500" b="0" i="0">
                <a:solidFill>
                  <a:srgbClr val="21295C"/>
                </a:solidFill>
                <a:latin typeface="Arial"/>
              </a:rPr>
              <a:t>, студийный профессионал — </a:t>
            </a:r>
            <a:r>
              <a:rPr sz="1500" b="1" i="0">
                <a:solidFill>
                  <a:srgbClr val="21295C"/>
                </a:solidFill>
                <a:latin typeface="Arial"/>
              </a:rPr>
              <a:t>350–1000+ $/мин.</a:t>
            </a:r>
          </a:p>
        </p:txBody>
      </p:sp>
      <p:sp>
        <p:nvSpPr>
          <p:cNvPr id="18" name="Rounded Rectangle 17"/>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19" name="Picture 18" descr="s12-digital-illustration-ipad-stylus.jpg"/>
          <p:cNvPicPr>
            <a:picLocks noChangeAspect="1"/>
          </p:cNvPicPr>
          <p:nvPr/>
        </p:nvPicPr>
        <p:blipFill>
          <a:blip r:embed="rId2"/>
          <a:stretch>
            <a:fillRect/>
          </a:stretch>
        </p:blipFill>
        <p:spPr>
          <a:xfrm>
            <a:off x="8808415" y="1472184"/>
            <a:ext cx="2743200"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DesignShifu 2026; GigRadar 2026; FoxiMusic 2026; Audiosocket 2026; Voicecrafters 2026; BizToolkit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Порог найма: решение о человеке раньше вопроса о качестве</a:t>
            </a:r>
          </a:p>
        </p:txBody>
      </p:sp>
      <p:sp>
        <p:nvSpPr>
          <p:cNvPr id="4" name="TextBox 3"/>
          <p:cNvSpPr txBox="1"/>
          <p:nvPr/>
        </p:nvSpPr>
        <p:spPr>
          <a:xfrm>
            <a:off x="502920" y="1371600"/>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Медицина (Лекция 7)</a:t>
            </a:r>
          </a:p>
        </p:txBody>
      </p:sp>
      <p:sp>
        <p:nvSpPr>
          <p:cNvPr id="5" name="Rounded Rectangle 4"/>
          <p:cNvSpPr/>
          <p:nvPr/>
        </p:nvSpPr>
        <p:spPr>
          <a:xfrm>
            <a:off x="1920240" y="1335024"/>
            <a:ext cx="20039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8393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 вмешательства</a:t>
            </a:r>
          </a:p>
        </p:txBody>
      </p:sp>
      <p:sp>
        <p:nvSpPr>
          <p:cNvPr id="7" name="Rounded Rectangle 6"/>
          <p:cNvSpPr/>
          <p:nvPr/>
        </p:nvSpPr>
        <p:spPr>
          <a:xfrm>
            <a:off x="4070451" y="1335024"/>
            <a:ext cx="20039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8" name="TextBox 7"/>
          <p:cNvSpPr txBox="1"/>
          <p:nvPr/>
        </p:nvSpPr>
        <p:spPr>
          <a:xfrm>
            <a:off x="4152747" y="1380744"/>
            <a:ext cx="18393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звать ли на обследование вообще</a:t>
            </a:r>
          </a:p>
        </p:txBody>
      </p:sp>
      <p:sp>
        <p:nvSpPr>
          <p:cNvPr id="9" name="TextBox 8"/>
          <p:cNvSpPr txBox="1"/>
          <p:nvPr/>
        </p:nvSpPr>
        <p:spPr>
          <a:xfrm>
            <a:off x="502920" y="2468594"/>
            <a:ext cx="1307592" cy="877538"/>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Творческое производство</a:t>
            </a:r>
          </a:p>
        </p:txBody>
      </p:sp>
      <p:sp>
        <p:nvSpPr>
          <p:cNvPr id="10" name="Rounded Rectangle 9"/>
          <p:cNvSpPr/>
          <p:nvPr/>
        </p:nvSpPr>
        <p:spPr>
          <a:xfrm>
            <a:off x="1920240" y="2432018"/>
            <a:ext cx="20039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1" name="TextBox 10"/>
          <p:cNvSpPr txBox="1"/>
          <p:nvPr/>
        </p:nvSpPr>
        <p:spPr>
          <a:xfrm>
            <a:off x="2002536" y="2477738"/>
            <a:ext cx="18393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Порог найма</a:t>
            </a:r>
          </a:p>
        </p:txBody>
      </p:sp>
      <p:sp>
        <p:nvSpPr>
          <p:cNvPr id="12" name="Rounded Rectangle 11"/>
          <p:cNvSpPr/>
          <p:nvPr/>
        </p:nvSpPr>
        <p:spPr>
          <a:xfrm>
            <a:off x="4070451" y="2432018"/>
            <a:ext cx="2003907" cy="950690"/>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4152747" y="2477738"/>
            <a:ext cx="1839315" cy="859250"/>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нанимать ли исполнителя вообще</a:t>
            </a:r>
          </a:p>
        </p:txBody>
      </p:sp>
      <p:sp>
        <p:nvSpPr>
          <p:cNvPr id="14" name="TextBox 13"/>
          <p:cNvSpPr txBox="1"/>
          <p:nvPr/>
        </p:nvSpPr>
        <p:spPr>
          <a:xfrm>
            <a:off x="502920" y="3419285"/>
            <a:ext cx="557143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Порог найма — не вопрос качества, а решение, принятое раньше</a:t>
            </a:r>
          </a:p>
        </p:txBody>
      </p:sp>
      <p:sp>
        <p:nvSpPr>
          <p:cNvPr id="15" name="Rounded Rectangle 14"/>
          <p:cNvSpPr/>
          <p:nvPr/>
        </p:nvSpPr>
        <p:spPr>
          <a:xfrm>
            <a:off x="374904" y="3721968"/>
            <a:ext cx="5827471" cy="2514239"/>
          </a:xfrm>
          <a:prstGeom prst="roundRect">
            <a:avLst>
              <a:gd name="adj" fmla="val 12122"/>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813408"/>
            <a:ext cx="5498287" cy="2422799"/>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Решение, что задачу вообще стоит отдавать человеку, принимается раньше вопроса о качестве</a:t>
            </a:r>
            <a:r>
              <a:rPr sz="1450" b="0" i="0">
                <a:solidFill>
                  <a:srgbClr val="21295C"/>
                </a:solidFill>
                <a:latin typeface="Arial"/>
              </a:rPr>
              <a:t> — исходя из бюджета, срочности и важности результата. Медицинский аналог (Лекция 7) — порог вмешательства: решение звать ли на обследование тоже принимается раньше точности самого обследования.</a:t>
            </a:r>
          </a:p>
          <a:p>
            <a:pPr algn="l">
              <a:lnSpc>
                <a:spcPct val="126000"/>
              </a:lnSpc>
              <a:spcBef>
                <a:spcPts val="700"/>
              </a:spcBef>
            </a:pPr>
            <a:r>
              <a:rPr sz="1450" b="0" i="0">
                <a:solidFill>
                  <a:srgbClr val="21295C"/>
                </a:solidFill>
                <a:latin typeface="Arial"/>
              </a:rPr>
              <a:t/>
            </a:r>
            <a:r>
              <a:rPr sz="1450" b="1" i="0">
                <a:solidFill>
                  <a:srgbClr val="21295C"/>
                </a:solidFill>
                <a:latin typeface="Arial"/>
              </a:rPr>
              <a:t>Порог стоял по-разному высоко:</a:t>
            </a:r>
            <a:r>
              <a:rPr sz="1450" b="0" i="0">
                <a:solidFill>
                  <a:srgbClr val="21295C"/>
                </a:solidFill>
                <a:latin typeface="Arial"/>
              </a:rPr>
              <a:t> ниже всего — изображение, выше всего — кастомный трек, по всему диапазону — озвучка.</a:t>
            </a:r>
          </a:p>
        </p:txBody>
      </p:sp>
      <p:sp>
        <p:nvSpPr>
          <p:cNvPr id="17" name="Rounded Rectangle 16"/>
          <p:cNvSpPr/>
          <p:nvPr/>
        </p:nvSpPr>
        <p:spPr>
          <a:xfrm>
            <a:off x="6385255" y="1335024"/>
            <a:ext cx="5303520" cy="3760184"/>
          </a:xfrm>
          <a:prstGeom prst="roundRect">
            <a:avLst>
              <a:gd name="adj" fmla="val 8105"/>
            </a:avLst>
          </a:prstGeom>
          <a:solidFill>
            <a:srgbClr val="F4F7FA"/>
          </a:solidFill>
          <a:ln w="19050">
            <a:solidFill>
              <a:srgbClr val="1C7293"/>
            </a:solidFill>
          </a:ln>
          <a:effectLst/>
        </p:spPr>
        <p:txBody>
          <a:bodyPr rtlCol="0" anchor="ctr"/>
          <a:lstStyle/>
          <a:p>
            <a:pPr algn="ctr"/>
          </a:p>
        </p:txBody>
      </p:sp>
      <p:pic>
        <p:nvPicPr>
          <p:cNvPr id="18" name="Picture 17" descr="s13-doctor-patient-consultation.jpg"/>
          <p:cNvPicPr>
            <a:picLocks noChangeAspect="1"/>
          </p:cNvPicPr>
          <p:nvPr/>
        </p:nvPicPr>
        <p:blipFill>
          <a:blip r:embed="rId2"/>
          <a:stretch>
            <a:fillRect/>
          </a:stretch>
        </p:blipFill>
        <p:spPr>
          <a:xfrm>
            <a:off x="6522415" y="1472184"/>
            <a:ext cx="5029200" cy="3485864"/>
          </a:xfrm>
          <a:prstGeom prst="rect">
            <a:avLst/>
          </a:prstGeom>
        </p:spPr>
      </p:pic>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Порог найма на практике: три сценария, собранные по агрегированным профилям</a:t>
            </a:r>
          </a:p>
        </p:txBody>
      </p:sp>
      <p:sp>
        <p:nvSpPr>
          <p:cNvPr id="4" name="Rounded Rectangle 3"/>
          <p:cNvSpPr/>
          <p:nvPr/>
        </p:nvSpPr>
        <p:spPr>
          <a:xfrm>
            <a:off x="50292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ИЛЛЮСТРАТОР: ПОТОК БАННЕРОВ</a:t>
            </a:r>
          </a:p>
        </p:txBody>
      </p:sp>
      <p:sp>
        <p:nvSpPr>
          <p:cNvPr id="6" name="TextBox 5"/>
          <p:cNvSpPr txBox="1"/>
          <p:nvPr/>
        </p:nvSpPr>
        <p:spPr>
          <a:xfrm>
            <a:off x="640080" y="1932846"/>
            <a:ext cx="1473098" cy="545823"/>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50–70 $/ед., 3–4 заказа/нед.</a:t>
            </a:r>
          </a:p>
        </p:txBody>
      </p:sp>
      <p:sp>
        <p:nvSpPr>
          <p:cNvPr id="7" name="TextBox 6"/>
          <p:cNvSpPr txBox="1"/>
          <p:nvPr/>
        </p:nvSpPr>
        <p:spPr>
          <a:xfrm>
            <a:off x="640080" y="2478670"/>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≈700–1000 $/мес. валового дохода</a:t>
            </a:r>
          </a:p>
        </p:txBody>
      </p:sp>
      <p:sp>
        <p:nvSpPr>
          <p:cNvPr id="8" name="Rounded Rectangle 7"/>
          <p:cNvSpPr/>
          <p:nvPr/>
        </p:nvSpPr>
        <p:spPr>
          <a:xfrm>
            <a:off x="241493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СТОКОВЫЙ КОМПОЗИТОР</a:t>
            </a:r>
          </a:p>
        </p:txBody>
      </p:sp>
      <p:sp>
        <p:nvSpPr>
          <p:cNvPr id="10" name="TextBox 9"/>
          <p:cNvSpPr txBox="1"/>
          <p:nvPr/>
        </p:nvSpPr>
        <p:spPr>
          <a:xfrm>
            <a:off x="255209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20–100 $/трек</a:t>
            </a:r>
          </a:p>
        </p:txBody>
      </p:sp>
      <p:sp>
        <p:nvSpPr>
          <p:cNvPr id="11" name="TextBox 10"/>
          <p:cNvSpPr txBox="1"/>
          <p:nvPr/>
        </p:nvSpPr>
        <p:spPr>
          <a:xfrm>
            <a:off x="2552090" y="2750268"/>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порог определяла цена лицензии, не заказ лично</a:t>
            </a:r>
          </a:p>
        </p:txBody>
      </p:sp>
      <p:sp>
        <p:nvSpPr>
          <p:cNvPr id="12" name="Rounded Rectangle 11"/>
          <p:cNvSpPr/>
          <p:nvPr/>
        </p:nvSpPr>
        <p:spPr>
          <a:xfrm>
            <a:off x="4326940" y="1335024"/>
            <a:ext cx="1747418" cy="2186135"/>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ДИКТОР НАЧАЛЬНОГО УРОВНЯ</a:t>
            </a:r>
          </a:p>
        </p:txBody>
      </p:sp>
      <p:sp>
        <p:nvSpPr>
          <p:cNvPr id="14" name="TextBox 13"/>
          <p:cNvSpPr txBox="1"/>
          <p:nvPr/>
        </p:nvSpPr>
        <p:spPr>
          <a:xfrm>
            <a:off x="4464100" y="2140317"/>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ожидание 2–3 дня</a:t>
            </a:r>
          </a:p>
        </p:txBody>
      </p:sp>
      <p:sp>
        <p:nvSpPr>
          <p:cNvPr id="15" name="TextBox 14"/>
          <p:cNvSpPr txBox="1"/>
          <p:nvPr/>
        </p:nvSpPr>
        <p:spPr>
          <a:xfrm>
            <a:off x="4464100" y="2957740"/>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конкуренция шла по срокам, не по цене</a:t>
            </a:r>
          </a:p>
        </p:txBody>
      </p:sp>
      <p:sp>
        <p:nvSpPr>
          <p:cNvPr id="16" name="Rounded Rectangle 15"/>
          <p:cNvSpPr/>
          <p:nvPr/>
        </p:nvSpPr>
        <p:spPr>
          <a:xfrm>
            <a:off x="374904" y="3612599"/>
            <a:ext cx="5827471"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704039"/>
            <a:ext cx="5498287"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Иллюстратор.</a:t>
            </a:r>
            <a:r>
              <a:rPr sz="1500" b="0" i="0">
                <a:solidFill>
                  <a:srgbClr val="21295C"/>
                </a:solidFill>
                <a:latin typeface="Arial"/>
              </a:rPr>
              <a:t> Однотипный поток по </a:t>
            </a:r>
            <a:r>
              <a:rPr sz="1500" b="1" i="0">
                <a:solidFill>
                  <a:srgbClr val="21295C"/>
                </a:solidFill>
                <a:latin typeface="Arial"/>
              </a:rPr>
              <a:t>50–70 $</a:t>
            </a:r>
            <a:r>
              <a:rPr sz="1500" b="0" i="0">
                <a:solidFill>
                  <a:srgbClr val="21295C"/>
                </a:solidFill>
                <a:latin typeface="Arial"/>
              </a:rPr>
              <a:t>, 3–4 заказа в неделю. Порог найма низкий с самого начала: не отвлекать штатного сотрудника.</a:t>
            </a:r>
          </a:p>
          <a:p>
            <a:pPr algn="l">
              <a:lnSpc>
                <a:spcPct val="126000"/>
              </a:lnSpc>
              <a:spcBef>
                <a:spcPts val="700"/>
              </a:spcBef>
            </a:pPr>
            <a:r>
              <a:rPr sz="1500" b="0" i="0">
                <a:solidFill>
                  <a:srgbClr val="21295C"/>
                </a:solidFill>
                <a:latin typeface="Arial"/>
              </a:rPr>
              <a:t/>
            </a:r>
            <a:r>
              <a:rPr sz="1500" b="1" i="0">
                <a:solidFill>
                  <a:srgbClr val="21295C"/>
                </a:solidFill>
                <a:latin typeface="Arial"/>
              </a:rPr>
              <a:t>Композитор (стоковые треки).</a:t>
            </a:r>
            <a:r>
              <a:rPr sz="1500" b="0" i="0">
                <a:solidFill>
                  <a:srgbClr val="21295C"/>
                </a:solidFill>
                <a:latin typeface="Arial"/>
              </a:rPr>
              <a:t> Порог определяла цена лицензии — </a:t>
            </a:r>
            <a:r>
              <a:rPr sz="1500" b="1" i="0">
                <a:solidFill>
                  <a:srgbClr val="21295C"/>
                </a:solidFill>
                <a:latin typeface="Arial"/>
              </a:rPr>
              <a:t>20–100 $/трек.</a:t>
            </a:r>
          </a:p>
          <a:p>
            <a:pPr algn="l">
              <a:lnSpc>
                <a:spcPct val="126000"/>
              </a:lnSpc>
              <a:spcBef>
                <a:spcPts val="700"/>
              </a:spcBef>
            </a:pPr>
            <a:r>
              <a:rPr sz="1500" b="0" i="0">
                <a:solidFill>
                  <a:srgbClr val="21295C"/>
                </a:solidFill>
                <a:latin typeface="Arial"/>
              </a:rPr>
              <a:t/>
            </a:r>
            <a:r>
              <a:rPr sz="1500" b="1" i="0">
                <a:solidFill>
                  <a:srgbClr val="21295C"/>
                </a:solidFill>
                <a:latin typeface="Arial"/>
              </a:rPr>
              <a:t>Диктор начального уровня.</a:t>
            </a:r>
            <a:r>
              <a:rPr sz="1500" b="0" i="0">
                <a:solidFill>
                  <a:srgbClr val="21295C"/>
                </a:solidFill>
                <a:latin typeface="Arial"/>
              </a:rPr>
              <a:t> Цена и так была низкой; конкуренция шла по срокам, не по порогу найма.</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14-video-interview-laptop-call.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DesignShifu 2026; GigRadar 2026; Audiosocket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Обвал цены: изображение</a:t>
            </a:r>
          </a:p>
        </p:txBody>
      </p:sp>
      <p:sp>
        <p:nvSpPr>
          <p:cNvPr id="4" name="Rounded Rectangle 3"/>
          <p:cNvSpPr/>
          <p:nvPr/>
        </p:nvSpPr>
        <p:spPr>
          <a:xfrm>
            <a:off x="502920" y="1335024"/>
            <a:ext cx="2304144"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29824"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MIDJOURNEY V8.2 / FIREFLY IMAGE 5</a:t>
            </a:r>
          </a:p>
        </p:txBody>
      </p:sp>
      <p:sp>
        <p:nvSpPr>
          <p:cNvPr id="6" name="TextBox 5"/>
          <p:cNvSpPr txBox="1"/>
          <p:nvPr/>
        </p:nvSpPr>
        <p:spPr>
          <a:xfrm>
            <a:off x="640080" y="1932846"/>
            <a:ext cx="2029824"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0,03–0,05 $ за изображение</a:t>
            </a:r>
          </a:p>
        </p:txBody>
      </p:sp>
      <p:sp>
        <p:nvSpPr>
          <p:cNvPr id="7" name="TextBox 6"/>
          <p:cNvSpPr txBox="1"/>
          <p:nvPr/>
        </p:nvSpPr>
        <p:spPr>
          <a:xfrm>
            <a:off x="640080" y="2750268"/>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базовый тариф, октябрь 2026</a:t>
            </a:r>
          </a:p>
        </p:txBody>
      </p:sp>
      <p:sp>
        <p:nvSpPr>
          <p:cNvPr id="8" name="Rounded Rectangle 7"/>
          <p:cNvSpPr/>
          <p:nvPr/>
        </p:nvSpPr>
        <p:spPr>
          <a:xfrm>
            <a:off x="2971656" y="1335024"/>
            <a:ext cx="2304144"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108816" y="1472184"/>
            <a:ext cx="202982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ФРИЛАНСЕР ВРУЧНУЮ</a:t>
            </a:r>
          </a:p>
        </p:txBody>
      </p:sp>
      <p:sp>
        <p:nvSpPr>
          <p:cNvPr id="10" name="TextBox 9"/>
          <p:cNvSpPr txBox="1"/>
          <p:nvPr/>
        </p:nvSpPr>
        <p:spPr>
          <a:xfrm>
            <a:off x="3108816" y="1725375"/>
            <a:ext cx="2029824"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50–150 $, 1–3 дня</a:t>
            </a:r>
          </a:p>
        </p:txBody>
      </p:sp>
      <p:sp>
        <p:nvSpPr>
          <p:cNvPr id="11" name="TextBox 10"/>
          <p:cNvSpPr txBox="1"/>
          <p:nvPr/>
        </p:nvSpPr>
        <p:spPr>
          <a:xfrm>
            <a:off x="3108816" y="2542797"/>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результат классическим путём</a:t>
            </a:r>
          </a:p>
        </p:txBody>
      </p:sp>
      <p:sp>
        <p:nvSpPr>
          <p:cNvPr id="12" name="Rounded Rectangle 11"/>
          <p:cNvSpPr/>
          <p:nvPr/>
        </p:nvSpPr>
        <p:spPr>
          <a:xfrm>
            <a:off x="5440393" y="1335024"/>
            <a:ext cx="2304144"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577553" y="1472184"/>
            <a:ext cx="2029824"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5577553" y="1725375"/>
            <a:ext cx="2029824"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 1000–3000 раз</a:t>
            </a:r>
          </a:p>
        </p:txBody>
      </p:sp>
      <p:sp>
        <p:nvSpPr>
          <p:cNvPr id="15" name="TextBox 14"/>
          <p:cNvSpPr txBox="1"/>
          <p:nvPr/>
        </p:nvSpPr>
        <p:spPr>
          <a:xfrm>
            <a:off x="5577553" y="2542797"/>
            <a:ext cx="2029824"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первое измерение рефрена «три-четыре порядка»</a:t>
            </a:r>
          </a:p>
        </p:txBody>
      </p:sp>
      <p:sp>
        <p:nvSpPr>
          <p:cNvPr id="16" name="TextBox 15"/>
          <p:cNvSpPr txBox="1"/>
          <p:nvPr/>
        </p:nvSpPr>
        <p:spPr>
          <a:xfrm>
            <a:off x="502920" y="3529371"/>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Классика</a:t>
            </a:r>
          </a:p>
        </p:txBody>
      </p:sp>
      <p:sp>
        <p:nvSpPr>
          <p:cNvPr id="17" name="Rounded Rectangle 16"/>
          <p:cNvSpPr/>
          <p:nvPr/>
        </p:nvSpPr>
        <p:spPr>
          <a:xfrm>
            <a:off x="1920240"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100 фрилансеров</a:t>
            </a:r>
          </a:p>
        </p:txBody>
      </p:sp>
      <p:sp>
        <p:nvSpPr>
          <p:cNvPr id="19" name="Right Arrow 18"/>
          <p:cNvSpPr/>
          <p:nvPr/>
        </p:nvSpPr>
        <p:spPr>
          <a:xfrm>
            <a:off x="3724512" y="3661912"/>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953112"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035408"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5000 $</a:t>
            </a:r>
          </a:p>
        </p:txBody>
      </p:sp>
      <p:sp>
        <p:nvSpPr>
          <p:cNvPr id="22" name="Right Arrow 21"/>
          <p:cNvSpPr/>
          <p:nvPr/>
        </p:nvSpPr>
        <p:spPr>
          <a:xfrm>
            <a:off x="5757385" y="3661912"/>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5985985" y="3492795"/>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6068281" y="3538515"/>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1–2 недели</a:t>
            </a:r>
          </a:p>
        </p:txBody>
      </p:sp>
      <p:sp>
        <p:nvSpPr>
          <p:cNvPr id="25" name="TextBox 24"/>
          <p:cNvSpPr txBox="1"/>
          <p:nvPr/>
        </p:nvSpPr>
        <p:spPr>
          <a:xfrm>
            <a:off x="502920" y="4151068"/>
            <a:ext cx="1307592" cy="402240"/>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Генерация</a:t>
            </a:r>
          </a:p>
        </p:txBody>
      </p:sp>
      <p:sp>
        <p:nvSpPr>
          <p:cNvPr id="26" name="Rounded Rectangle 25"/>
          <p:cNvSpPr/>
          <p:nvPr/>
        </p:nvSpPr>
        <p:spPr>
          <a:xfrm>
            <a:off x="1920240" y="4114492"/>
            <a:ext cx="1758552" cy="475392"/>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7" name="TextBox 26"/>
          <p:cNvSpPr txBox="1"/>
          <p:nvPr/>
        </p:nvSpPr>
        <p:spPr>
          <a:xfrm>
            <a:off x="2002536" y="4160212"/>
            <a:ext cx="1593960" cy="383952"/>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100 изображений</a:t>
            </a:r>
          </a:p>
        </p:txBody>
      </p:sp>
      <p:sp>
        <p:nvSpPr>
          <p:cNvPr id="28" name="Right Arrow 27"/>
          <p:cNvSpPr/>
          <p:nvPr/>
        </p:nvSpPr>
        <p:spPr>
          <a:xfrm>
            <a:off x="3724512" y="4283609"/>
            <a:ext cx="182880" cy="137160"/>
          </a:xfrm>
          <a:prstGeom prst="rightArrow">
            <a:avLst/>
          </a:prstGeom>
          <a:solidFill>
            <a:srgbClr val="1C7293"/>
          </a:solidFill>
          <a:ln>
            <a:noFill/>
          </a:ln>
          <a:effectLst/>
        </p:spPr>
        <p:txBody>
          <a:bodyPr rtlCol="0" anchor="ctr"/>
          <a:lstStyle/>
          <a:p>
            <a:pPr algn="ctr"/>
          </a:p>
        </p:txBody>
      </p:sp>
      <p:sp>
        <p:nvSpPr>
          <p:cNvPr id="29" name="Rounded Rectangle 28"/>
          <p:cNvSpPr/>
          <p:nvPr/>
        </p:nvSpPr>
        <p:spPr>
          <a:xfrm>
            <a:off x="3953112" y="4114492"/>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4035408" y="4160212"/>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5 $</a:t>
            </a:r>
          </a:p>
        </p:txBody>
      </p:sp>
      <p:sp>
        <p:nvSpPr>
          <p:cNvPr id="31" name="Right Arrow 30"/>
          <p:cNvSpPr/>
          <p:nvPr/>
        </p:nvSpPr>
        <p:spPr>
          <a:xfrm>
            <a:off x="5757385" y="4283609"/>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5985985" y="4114492"/>
            <a:ext cx="1758552" cy="475392"/>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6068281" y="4160212"/>
            <a:ext cx="1593960" cy="383952"/>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минуты</a:t>
            </a:r>
          </a:p>
        </p:txBody>
      </p:sp>
      <p:sp>
        <p:nvSpPr>
          <p:cNvPr id="34" name="TextBox 33"/>
          <p:cNvSpPr txBox="1"/>
          <p:nvPr/>
        </p:nvSpPr>
        <p:spPr>
          <a:xfrm>
            <a:off x="502920" y="4626461"/>
            <a:ext cx="7241618"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100 вариантов баннера для A/B-теста</a:t>
            </a:r>
          </a:p>
        </p:txBody>
      </p:sp>
      <p:sp>
        <p:nvSpPr>
          <p:cNvPr id="35" name="Rounded Rectangle 34"/>
          <p:cNvSpPr/>
          <p:nvPr/>
        </p:nvSpPr>
        <p:spPr>
          <a:xfrm>
            <a:off x="374904" y="4929145"/>
            <a:ext cx="7497650" cy="1307062"/>
          </a:xfrm>
          <a:prstGeom prst="roundRect">
            <a:avLst>
              <a:gd name="adj" fmla="val 23319"/>
            </a:avLst>
          </a:prstGeom>
          <a:solidFill>
            <a:srgbClr val="F4F7FA"/>
          </a:solidFill>
          <a:ln w="19050">
            <a:solidFill>
              <a:srgbClr val="1C7293"/>
            </a:solidFill>
          </a:ln>
          <a:effectLst/>
        </p:spPr>
        <p:txBody>
          <a:bodyPr rtlCol="0" anchor="ctr"/>
          <a:lstStyle/>
          <a:p>
            <a:pPr algn="ctr"/>
          </a:p>
        </p:txBody>
      </p:sp>
      <p:sp>
        <p:nvSpPr>
          <p:cNvPr id="36" name="TextBox 35"/>
          <p:cNvSpPr txBox="1"/>
          <p:nvPr/>
        </p:nvSpPr>
        <p:spPr>
          <a:xfrm>
            <a:off x="539496" y="5020585"/>
            <a:ext cx="7168466" cy="1215622"/>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Midjourney / Firefly: 0,03–0,05 $ за изображение.</a:t>
            </a:r>
            <a:r>
              <a:rPr sz="1050" b="0" i="0">
                <a:solidFill>
                  <a:srgbClr val="21295C"/>
                </a:solidFill>
                <a:latin typeface="Arial"/>
              </a:rPr>
              <a:t> Фрилансер вручную: </a:t>
            </a:r>
            <a:r>
              <a:rPr sz="1050" b="1" i="0">
                <a:solidFill>
                  <a:srgbClr val="21295C"/>
                </a:solidFill>
                <a:latin typeface="Arial"/>
              </a:rPr>
              <a:t>50–150 $, 1–3 дня.</a:t>
            </a:r>
          </a:p>
          <a:p>
            <a:pPr algn="l">
              <a:lnSpc>
                <a:spcPct val="126000"/>
              </a:lnSpc>
              <a:spcBef>
                <a:spcPts val="700"/>
              </a:spcBef>
            </a:pPr>
            <a:r>
              <a:rPr sz="1050" b="0" i="0">
                <a:solidFill>
                  <a:srgbClr val="21295C"/>
                </a:solidFill>
                <a:latin typeface="Arial"/>
              </a:rPr>
              <a:t/>
            </a:r>
            <a:r>
              <a:rPr sz="1050" b="1" i="0">
                <a:solidFill>
                  <a:srgbClr val="21295C"/>
                </a:solidFill>
                <a:latin typeface="Arial"/>
              </a:rPr>
              <a:t>Разрыв — в тысячу-три тысячи раз.</a:t>
            </a:r>
            <a:r>
              <a:rPr sz="1050" b="0" i="0">
                <a:solidFill>
                  <a:srgbClr val="21295C"/>
                </a:solidFill>
                <a:latin typeface="Arial"/>
              </a:rPr>
              <a:t> Первое измерение рефрена этой лекции: три-четыре порядка.</a:t>
            </a:r>
          </a:p>
          <a:p>
            <a:pPr algn="l">
              <a:lnSpc>
                <a:spcPct val="126000"/>
              </a:lnSpc>
              <a:spcBef>
                <a:spcPts val="700"/>
              </a:spcBef>
            </a:pPr>
            <a:r>
              <a:rPr sz="1050" b="0" i="0">
                <a:solidFill>
                  <a:srgbClr val="21295C"/>
                </a:solidFill>
                <a:latin typeface="Arial"/>
              </a:rPr>
              <a:t/>
            </a:r>
            <a:r>
              <a:rPr sz="1050" b="1" i="0">
                <a:solidFill>
                  <a:srgbClr val="21295C"/>
                </a:solidFill>
                <a:latin typeface="Arial"/>
              </a:rPr>
              <a:t>Сто вариантов баннера для A/B-теста:</a:t>
            </a:r>
            <a:r>
              <a:rPr sz="1050" b="0" i="0">
                <a:solidFill>
                  <a:srgbClr val="21295C"/>
                </a:solidFill>
                <a:latin typeface="Arial"/>
              </a:rPr>
              <a:t> классика — 5000 $, 1–2 недели; генерация — 5 $, минуты.</a:t>
            </a:r>
          </a:p>
          <a:p>
            <a:pPr algn="l">
              <a:lnSpc>
                <a:spcPct val="126000"/>
              </a:lnSpc>
              <a:spcBef>
                <a:spcPts val="700"/>
              </a:spcBef>
            </a:pPr>
            <a:r>
              <a:rPr sz="1050" b="0" i="0">
                <a:solidFill>
                  <a:srgbClr val="21295C"/>
                </a:solidFill>
                <a:latin typeface="Arial"/>
              </a:rPr>
              <a:t/>
            </a:r>
            <a:r>
              <a:rPr sz="1050" b="1" i="0">
                <a:solidFill>
                  <a:srgbClr val="21295C"/>
                </a:solidFill>
                <a:latin typeface="Arial"/>
              </a:rPr>
              <a:t>Это сравнение — по цене исполнения, не по интерпретации брифа и ответственности за результат.</a:t>
            </a:r>
          </a:p>
        </p:txBody>
      </p:sp>
      <p:sp>
        <p:nvSpPr>
          <p:cNvPr id="37" name="Rounded Rectangle 36"/>
          <p:cNvSpPr/>
          <p:nvPr/>
        </p:nvSpPr>
        <p:spPr>
          <a:xfrm>
            <a:off x="8055434" y="1335024"/>
            <a:ext cx="3633340" cy="4389120"/>
          </a:xfrm>
          <a:prstGeom prst="roundRect">
            <a:avLst>
              <a:gd name="adj" fmla="val 8388"/>
            </a:avLst>
          </a:prstGeom>
          <a:solidFill>
            <a:srgbClr val="F4F7FA"/>
          </a:solidFill>
          <a:ln w="19050">
            <a:solidFill>
              <a:srgbClr val="1C7293"/>
            </a:solidFill>
          </a:ln>
          <a:effectLst/>
        </p:spPr>
        <p:txBody>
          <a:bodyPr rtlCol="0" anchor="ctr"/>
          <a:lstStyle/>
          <a:p>
            <a:pPr algn="ctr"/>
          </a:p>
        </p:txBody>
      </p:sp>
      <p:pic>
        <p:nvPicPr>
          <p:cNvPr id="38" name="Picture 37" descr="s15-pope-puffer-jacket-midjourney.jpg"/>
          <p:cNvPicPr>
            <a:picLocks noChangeAspect="1"/>
          </p:cNvPicPr>
          <p:nvPr/>
        </p:nvPicPr>
        <p:blipFill>
          <a:blip r:embed="rId2"/>
          <a:stretch>
            <a:fillRect/>
          </a:stretch>
        </p:blipFill>
        <p:spPr>
          <a:xfrm>
            <a:off x="8192594" y="1472184"/>
            <a:ext cx="3359020" cy="4114800"/>
          </a:xfrm>
          <a:prstGeom prst="rect">
            <a:avLst/>
          </a:prstGeom>
        </p:spPr>
      </p:pic>
      <p:sp>
        <p:nvSpPr>
          <p:cNvPr id="39" name="Rectangle 3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40" name="TextBox 3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WaveSpeed AI 2026; ToolColumn 2026; DesignShifu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Обвал цены: музыкальный трек</a:t>
            </a:r>
          </a:p>
        </p:txBody>
      </p:sp>
      <p:sp>
        <p:nvSpPr>
          <p:cNvPr id="4" name="Rounded Rectangle 3"/>
          <p:cNvSpPr/>
          <p:nvPr/>
        </p:nvSpPr>
        <p:spPr>
          <a:xfrm>
            <a:off x="50292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SUNO (ПОКОЛЕНИЕ V6)</a:t>
            </a:r>
          </a:p>
        </p:txBody>
      </p:sp>
      <p:sp>
        <p:nvSpPr>
          <p:cNvPr id="6" name="TextBox 5"/>
          <p:cNvSpPr txBox="1"/>
          <p:nvPr/>
        </p:nvSpPr>
        <p:spPr>
          <a:xfrm>
            <a:off x="640080" y="1932846"/>
            <a:ext cx="1473098"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0,015–0,02 $ за песню</a:t>
            </a:r>
          </a:p>
        </p:txBody>
      </p:sp>
      <p:sp>
        <p:nvSpPr>
          <p:cNvPr id="7" name="TextBox 6"/>
          <p:cNvSpPr txBox="1"/>
          <p:nvPr/>
        </p:nvSpPr>
        <p:spPr>
          <a:xfrm>
            <a:off x="640080" y="2682369"/>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план Premier/Pro, октябрь 2026</a:t>
            </a:r>
          </a:p>
        </p:txBody>
      </p:sp>
      <p:sp>
        <p:nvSpPr>
          <p:cNvPr id="8" name="Rounded Rectangle 7"/>
          <p:cNvSpPr/>
          <p:nvPr/>
        </p:nvSpPr>
        <p:spPr>
          <a:xfrm>
            <a:off x="241493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СТОКОВАЯ ЛИЦЕНЗИЯ</a:t>
            </a:r>
          </a:p>
        </p:txBody>
      </p:sp>
      <p:sp>
        <p:nvSpPr>
          <p:cNvPr id="10" name="TextBox 9"/>
          <p:cNvSpPr txBox="1"/>
          <p:nvPr/>
        </p:nvSpPr>
        <p:spPr>
          <a:xfrm>
            <a:off x="255209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 за трек</a:t>
            </a:r>
          </a:p>
        </p:txBody>
      </p:sp>
      <p:sp>
        <p:nvSpPr>
          <p:cNvPr id="11" name="TextBox 10"/>
          <p:cNvSpPr txBox="1"/>
          <p:nvPr/>
        </p:nvSpPr>
        <p:spPr>
          <a:xfrm>
            <a:off x="2552090" y="2750268"/>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корректное сравнение — не кастомный заказ</a:t>
            </a:r>
          </a:p>
        </p:txBody>
      </p:sp>
      <p:sp>
        <p:nvSpPr>
          <p:cNvPr id="12" name="Rounded Rectangle 11"/>
          <p:cNvSpPr/>
          <p:nvPr/>
        </p:nvSpPr>
        <p:spPr>
          <a:xfrm>
            <a:off x="4326940" y="1335024"/>
            <a:ext cx="1747418" cy="2186135"/>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4464100" y="1725375"/>
            <a:ext cx="1473098" cy="681623"/>
          </a:xfrm>
          <a:prstGeom prst="rect">
            <a:avLst/>
          </a:prstGeom>
          <a:noFill/>
        </p:spPr>
        <p:txBody>
          <a:bodyPr wrap="square" lIns="0" rIns="0" tIns="0" bIns="0" anchor="t">
            <a:spAutoFit/>
          </a:bodyPr>
          <a:lstStyle/>
          <a:p>
            <a:pPr algn="l">
              <a:lnSpc>
                <a:spcPct val="108000"/>
              </a:lnSpc>
            </a:pPr>
            <a:r>
              <a:rPr sz="1900" b="1" i="0">
                <a:solidFill>
                  <a:srgbClr val="1C7293"/>
                </a:solidFill>
                <a:latin typeface="Arial"/>
              </a:rPr>
              <a:t>в 1000–5000 раз</a:t>
            </a:r>
          </a:p>
        </p:txBody>
      </p:sp>
      <p:sp>
        <p:nvSpPr>
          <p:cNvPr id="15" name="TextBox 14"/>
          <p:cNvSpPr txBox="1"/>
          <p:nvPr/>
        </p:nvSpPr>
        <p:spPr>
          <a:xfrm>
            <a:off x="4464100" y="2406998"/>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порядок, что у изображений — не совпадение</a:t>
            </a:r>
          </a:p>
        </p:txBody>
      </p:sp>
      <p:sp>
        <p:nvSpPr>
          <p:cNvPr id="16" name="Rounded Rectangle 15"/>
          <p:cNvSpPr/>
          <p:nvPr/>
        </p:nvSpPr>
        <p:spPr>
          <a:xfrm>
            <a:off x="374904" y="3612599"/>
            <a:ext cx="5827471"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704039"/>
            <a:ext cx="5498287"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Сравнивать нужно со стоковой лицензией, не с кастомным заказом</a:t>
            </a:r>
            <a:r>
              <a:rPr sz="1500" b="0" i="0">
                <a:solidFill>
                  <a:srgbClr val="21295C"/>
                </a:solidFill>
                <a:latin typeface="Arial"/>
              </a:rPr>
              <a:t> — иначе это «выигрыш от нуля», канон запрещает.</a:t>
            </a:r>
          </a:p>
          <a:p>
            <a:pPr algn="l">
              <a:lnSpc>
                <a:spcPct val="126000"/>
              </a:lnSpc>
              <a:spcBef>
                <a:spcPts val="700"/>
              </a:spcBef>
            </a:pPr>
            <a:r>
              <a:rPr sz="1500" b="0" i="0">
                <a:solidFill>
                  <a:srgbClr val="21295C"/>
                </a:solidFill>
                <a:latin typeface="Arial"/>
              </a:rPr>
              <a:t/>
            </a:r>
            <a:r>
              <a:rPr sz="1500" b="1" i="0">
                <a:solidFill>
                  <a:srgbClr val="21295C"/>
                </a:solidFill>
                <a:latin typeface="Arial"/>
              </a:rPr>
              <a:t>Корректно:</a:t>
            </a:r>
            <a:r>
              <a:rPr sz="1500" b="0" i="0">
                <a:solidFill>
                  <a:srgbClr val="21295C"/>
                </a:solidFill>
                <a:latin typeface="Arial"/>
              </a:rPr>
              <a:t> сток </a:t>
            </a:r>
            <a:r>
              <a:rPr sz="1500" b="1" i="0">
                <a:solidFill>
                  <a:srgbClr val="21295C"/>
                </a:solidFill>
                <a:latin typeface="Arial"/>
              </a:rPr>
              <a:t>20–100 $/трек</a:t>
            </a:r>
            <a:r>
              <a:rPr sz="1500" b="0" i="0">
                <a:solidFill>
                  <a:srgbClr val="21295C"/>
                </a:solidFill>
                <a:latin typeface="Arial"/>
              </a:rPr>
              <a:t> против Suno v6 — </a:t>
            </a:r>
            <a:r>
              <a:rPr sz="1500" b="1" i="0">
                <a:solidFill>
                  <a:srgbClr val="21295C"/>
                </a:solidFill>
                <a:latin typeface="Arial"/>
              </a:rPr>
              <a:t>0,015–0,02 $ за песню.</a:t>
            </a:r>
          </a:p>
          <a:p>
            <a:pPr algn="l">
              <a:lnSpc>
                <a:spcPct val="126000"/>
              </a:lnSpc>
              <a:spcBef>
                <a:spcPts val="700"/>
              </a:spcBef>
            </a:pPr>
            <a:r>
              <a:rPr sz="1500" b="0" i="0">
                <a:solidFill>
                  <a:srgbClr val="21295C"/>
                </a:solidFill>
                <a:latin typeface="Arial"/>
              </a:rPr>
              <a:t/>
            </a:r>
            <a:r>
              <a:rPr sz="1500" b="1" i="0">
                <a:solidFill>
                  <a:srgbClr val="21295C"/>
                </a:solidFill>
                <a:latin typeface="Arial"/>
              </a:rPr>
              <a:t>Разрыв — в тысячу-пять тысяч раз.</a:t>
            </a:r>
            <a:r>
              <a:rPr sz="1500" b="0" i="0">
                <a:solidFill>
                  <a:srgbClr val="21295C"/>
                </a:solidFill>
                <a:latin typeface="Arial"/>
              </a:rPr>
              <a:t> Тот же порядок, что у изображений — не совпадение, а форма.</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16-suno-studio-interface-press.jp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CostBench 2026; FoxiMusic 2026; Audiosocket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Обвал цены: озвучка</a:t>
            </a:r>
          </a:p>
        </p:txBody>
      </p:sp>
      <p:sp>
        <p:nvSpPr>
          <p:cNvPr id="4" name="Rounded Rectangle 3"/>
          <p:cNvSpPr/>
          <p:nvPr/>
        </p:nvSpPr>
        <p:spPr>
          <a:xfrm>
            <a:off x="502920" y="1335024"/>
            <a:ext cx="2436756"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162436"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ELEVENLABS</a:t>
            </a:r>
          </a:p>
        </p:txBody>
      </p:sp>
      <p:sp>
        <p:nvSpPr>
          <p:cNvPr id="6" name="TextBox 5"/>
          <p:cNvSpPr txBox="1"/>
          <p:nvPr/>
        </p:nvSpPr>
        <p:spPr>
          <a:xfrm>
            <a:off x="640080" y="1725375"/>
            <a:ext cx="2162436"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0,04–0,20 $/минута</a:t>
            </a:r>
          </a:p>
        </p:txBody>
      </p:sp>
      <p:sp>
        <p:nvSpPr>
          <p:cNvPr id="7" name="TextBox 6"/>
          <p:cNvSpPr txBox="1"/>
          <p:nvPr/>
        </p:nvSpPr>
        <p:spPr>
          <a:xfrm>
            <a:off x="640080" y="2542797"/>
            <a:ext cx="2162436"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Flash API до подписки конечного пользователя</a:t>
            </a:r>
          </a:p>
        </p:txBody>
      </p:sp>
      <p:sp>
        <p:nvSpPr>
          <p:cNvPr id="8" name="Rounded Rectangle 7"/>
          <p:cNvSpPr/>
          <p:nvPr/>
        </p:nvSpPr>
        <p:spPr>
          <a:xfrm>
            <a:off x="3104268" y="1335024"/>
            <a:ext cx="2436756"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241428" y="1472184"/>
            <a:ext cx="2162436"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ДИКТОР</a:t>
            </a:r>
          </a:p>
        </p:txBody>
      </p:sp>
      <p:sp>
        <p:nvSpPr>
          <p:cNvPr id="10" name="TextBox 9"/>
          <p:cNvSpPr txBox="1"/>
          <p:nvPr/>
        </p:nvSpPr>
        <p:spPr>
          <a:xfrm>
            <a:off x="3241428" y="1725375"/>
            <a:ext cx="2162436"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50–450 $/минута</a:t>
            </a:r>
          </a:p>
        </p:txBody>
      </p:sp>
      <p:sp>
        <p:nvSpPr>
          <p:cNvPr id="11" name="TextBox 10"/>
          <p:cNvSpPr txBox="1"/>
          <p:nvPr/>
        </p:nvSpPr>
        <p:spPr>
          <a:xfrm>
            <a:off x="3241428" y="2542797"/>
            <a:ext cx="2162436"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сегментам опыта, см. классику ремесла</a:t>
            </a:r>
          </a:p>
        </p:txBody>
      </p:sp>
      <p:sp>
        <p:nvSpPr>
          <p:cNvPr id="12" name="Rounded Rectangle 11"/>
          <p:cNvSpPr/>
          <p:nvPr/>
        </p:nvSpPr>
        <p:spPr>
          <a:xfrm>
            <a:off x="5705616" y="1335024"/>
            <a:ext cx="2436756"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842776" y="1472184"/>
            <a:ext cx="2162436"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РАЗРЫВ</a:t>
            </a:r>
          </a:p>
        </p:txBody>
      </p:sp>
      <p:sp>
        <p:nvSpPr>
          <p:cNvPr id="14" name="TextBox 13"/>
          <p:cNvSpPr txBox="1"/>
          <p:nvPr/>
        </p:nvSpPr>
        <p:spPr>
          <a:xfrm>
            <a:off x="5842776" y="1725375"/>
            <a:ext cx="2162436"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 250–1000 раз</a:t>
            </a:r>
          </a:p>
        </p:txBody>
      </p:sp>
      <p:sp>
        <p:nvSpPr>
          <p:cNvPr id="15" name="TextBox 14"/>
          <p:cNvSpPr txBox="1"/>
          <p:nvPr/>
        </p:nvSpPr>
        <p:spPr>
          <a:xfrm>
            <a:off x="5842776" y="2542797"/>
            <a:ext cx="2162436"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порядок, что у изображений и музыки</a:t>
            </a:r>
          </a:p>
        </p:txBody>
      </p:sp>
      <p:sp>
        <p:nvSpPr>
          <p:cNvPr id="16" name="Rounded Rectangle 15"/>
          <p:cNvSpPr/>
          <p:nvPr/>
        </p:nvSpPr>
        <p:spPr>
          <a:xfrm>
            <a:off x="374904" y="3193884"/>
            <a:ext cx="7895484" cy="2531547"/>
          </a:xfrm>
          <a:prstGeom prst="roundRect">
            <a:avLst>
              <a:gd name="adj" fmla="val 120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285324"/>
            <a:ext cx="7566300"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ElevenLabs: 0,04–0,20 $/минута.</a:t>
            </a:r>
            <a:r>
              <a:rPr sz="1500" b="0" i="0">
                <a:solidFill>
                  <a:srgbClr val="21295C"/>
                </a:solidFill>
                <a:latin typeface="Arial"/>
              </a:rPr>
              <a:t> Классический диктор: </a:t>
            </a:r>
            <a:r>
              <a:rPr sz="1500" b="1" i="0">
                <a:solidFill>
                  <a:srgbClr val="21295C"/>
                </a:solidFill>
                <a:latin typeface="Arial"/>
              </a:rPr>
              <a:t>50–450 $/минута</a:t>
            </a:r>
            <a:r>
              <a:rPr sz="1500" b="0" i="0">
                <a:solidFill>
                  <a:srgbClr val="21295C"/>
                </a:solidFill>
                <a:latin typeface="Arial"/>
              </a:rPr>
              <a:t> — единица измерения одна и та же, без оговорок о несопоставимости.</a:t>
            </a:r>
          </a:p>
          <a:p>
            <a:pPr algn="l">
              <a:lnSpc>
                <a:spcPct val="126000"/>
              </a:lnSpc>
              <a:spcBef>
                <a:spcPts val="700"/>
              </a:spcBef>
            </a:pPr>
            <a:r>
              <a:rPr sz="1500" b="0" i="0">
                <a:solidFill>
                  <a:srgbClr val="21295C"/>
                </a:solidFill>
                <a:latin typeface="Arial"/>
              </a:rPr>
              <a:t/>
            </a:r>
            <a:r>
              <a:rPr sz="1500" b="1" i="0">
                <a:solidFill>
                  <a:srgbClr val="21295C"/>
                </a:solidFill>
                <a:latin typeface="Arial"/>
              </a:rPr>
              <a:t>Десять часов обучающих материалов:</a:t>
            </a:r>
            <a:r>
              <a:rPr sz="1500" b="0" i="0">
                <a:solidFill>
                  <a:srgbClr val="21295C"/>
                </a:solidFill>
                <a:latin typeface="Arial"/>
              </a:rPr>
              <a:t> классика — несколько тысяч $ и недели; синтез — </a:t>
            </a:r>
            <a:r>
              <a:rPr sz="1500" b="1" i="0">
                <a:solidFill>
                  <a:srgbClr val="21295C"/>
                </a:solidFill>
                <a:latin typeface="Arial"/>
              </a:rPr>
              <a:t>24–120 $ и часы.</a:t>
            </a:r>
          </a:p>
          <a:p>
            <a:pPr algn="l">
              <a:lnSpc>
                <a:spcPct val="126000"/>
              </a:lnSpc>
              <a:spcBef>
                <a:spcPts val="700"/>
              </a:spcBef>
            </a:pPr>
            <a:r>
              <a:rPr sz="1500" b="0" i="0">
                <a:solidFill>
                  <a:srgbClr val="21295C"/>
                </a:solidFill>
                <a:latin typeface="Arial"/>
              </a:rPr>
              <a:t/>
            </a:r>
            <a:r>
              <a:rPr sz="1500" b="1" i="0">
                <a:solidFill>
                  <a:srgbClr val="21295C"/>
                </a:solidFill>
                <a:latin typeface="Arial"/>
              </a:rPr>
              <a:t>То же умение, что синтезирует речь, умеет клонировать конкретный голос по короткому образцу</a:t>
            </a:r>
            <a:r>
              <a:rPr sz="1500" b="0" i="0">
                <a:solidFill>
                  <a:srgbClr val="21295C"/>
                </a:solidFill>
                <a:latin typeface="Arial"/>
              </a:rPr>
              <a:t> — обвал цены исполнения и обвал цены подделки узнавания здесь впервые видны на одном и том же инструменте.</a:t>
            </a:r>
          </a:p>
        </p:txBody>
      </p:sp>
      <p:sp>
        <p:nvSpPr>
          <p:cNvPr id="18" name="Rounded Rectangle 17"/>
          <p:cNvSpPr/>
          <p:nvPr/>
        </p:nvSpPr>
        <p:spPr>
          <a:xfrm>
            <a:off x="8453268" y="1335024"/>
            <a:ext cx="3235506" cy="4389120"/>
          </a:xfrm>
          <a:prstGeom prst="roundRect">
            <a:avLst>
              <a:gd name="adj" fmla="val 9420"/>
            </a:avLst>
          </a:prstGeom>
          <a:solidFill>
            <a:srgbClr val="F4F7FA"/>
          </a:solidFill>
          <a:ln w="19050">
            <a:solidFill>
              <a:srgbClr val="1C7293"/>
            </a:solidFill>
          </a:ln>
          <a:effectLst/>
        </p:spPr>
        <p:txBody>
          <a:bodyPr rtlCol="0" anchor="ctr"/>
          <a:lstStyle/>
          <a:p>
            <a:pPr algn="ctr"/>
          </a:p>
        </p:txBody>
      </p:sp>
      <p:pic>
        <p:nvPicPr>
          <p:cNvPr id="19" name="Picture 18" descr="s17-elevenlabs-create-voice-screenshot.png"/>
          <p:cNvPicPr>
            <a:picLocks noChangeAspect="1"/>
          </p:cNvPicPr>
          <p:nvPr/>
        </p:nvPicPr>
        <p:blipFill>
          <a:blip r:embed="rId2"/>
          <a:stretch>
            <a:fillRect/>
          </a:stretch>
        </p:blipFill>
        <p:spPr>
          <a:xfrm>
            <a:off x="8590428" y="1472184"/>
            <a:ext cx="2961186"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FelloAI 2026; OakGen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Sora: хайп-цикл длиной в год</a:t>
            </a:r>
          </a:p>
        </p:txBody>
      </p:sp>
      <p:sp>
        <p:nvSpPr>
          <p:cNvPr id="4" name="Rounded Rectangle 3"/>
          <p:cNvSpPr/>
          <p:nvPr/>
        </p:nvSpPr>
        <p:spPr>
          <a:xfrm>
            <a:off x="502920" y="1335024"/>
            <a:ext cx="2296058" cy="1690090"/>
          </a:xfrm>
          <a:prstGeom prst="roundRect">
            <a:avLst>
              <a:gd name="adj" fmla="val 180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ПАРТНЁРСТВО С DISNEY</a:t>
            </a:r>
          </a:p>
        </p:txBody>
      </p:sp>
      <p:sp>
        <p:nvSpPr>
          <p:cNvPr id="6" name="TextBox 5"/>
          <p:cNvSpPr txBox="1"/>
          <p:nvPr/>
        </p:nvSpPr>
        <p:spPr>
          <a:xfrm>
            <a:off x="640080" y="1725375"/>
            <a:ext cx="2021738"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≈1 млрд $, подписано 11.12.2025</a:t>
            </a:r>
          </a:p>
        </p:txBody>
      </p:sp>
      <p:sp>
        <p:nvSpPr>
          <p:cNvPr id="7" name="TextBox 6"/>
          <p:cNvSpPr txBox="1"/>
          <p:nvPr/>
        </p:nvSpPr>
        <p:spPr>
          <a:xfrm>
            <a:off x="640080" y="2254223"/>
            <a:ext cx="20217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лицензионный договор по персонажам не подписан, выплат не было</a:t>
            </a:r>
          </a:p>
        </p:txBody>
      </p:sp>
      <p:sp>
        <p:nvSpPr>
          <p:cNvPr id="8" name="Rounded Rectangle 7"/>
          <p:cNvSpPr/>
          <p:nvPr/>
        </p:nvSpPr>
        <p:spPr>
          <a:xfrm>
            <a:off x="2963570" y="1335024"/>
            <a:ext cx="2296058" cy="1690090"/>
          </a:xfrm>
          <a:prstGeom prst="roundRect">
            <a:avLst>
              <a:gd name="adj" fmla="val 18034"/>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10073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ЗАКРЫТИЕ</a:t>
            </a:r>
          </a:p>
        </p:txBody>
      </p:sp>
      <p:sp>
        <p:nvSpPr>
          <p:cNvPr id="10" name="TextBox 9"/>
          <p:cNvSpPr txBox="1"/>
          <p:nvPr/>
        </p:nvSpPr>
        <p:spPr>
          <a:xfrm>
            <a:off x="3100730" y="1725375"/>
            <a:ext cx="2021738"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веб 26.04.2026 → API 24.09.2026</a:t>
            </a:r>
          </a:p>
        </p:txBody>
      </p:sp>
      <p:sp>
        <p:nvSpPr>
          <p:cNvPr id="11" name="TextBox 10"/>
          <p:cNvSpPr txBox="1"/>
          <p:nvPr/>
        </p:nvSpPr>
        <p:spPr>
          <a:xfrm>
            <a:off x="3100730" y="2390023"/>
            <a:ext cx="202173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менее года от пика известности</a:t>
            </a:r>
          </a:p>
        </p:txBody>
      </p:sp>
      <p:sp>
        <p:nvSpPr>
          <p:cNvPr id="12" name="Rounded Rectangle 11"/>
          <p:cNvSpPr/>
          <p:nvPr/>
        </p:nvSpPr>
        <p:spPr>
          <a:xfrm>
            <a:off x="5424220" y="1335024"/>
            <a:ext cx="2296058" cy="1690090"/>
          </a:xfrm>
          <a:prstGeom prst="roundRect">
            <a:avLst>
              <a:gd name="adj" fmla="val 18034"/>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5561380" y="1472184"/>
            <a:ext cx="202173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АУДИТОРИЯ</a:t>
            </a:r>
          </a:p>
        </p:txBody>
      </p:sp>
      <p:sp>
        <p:nvSpPr>
          <p:cNvPr id="14" name="TextBox 13"/>
          <p:cNvSpPr txBox="1"/>
          <p:nvPr/>
        </p:nvSpPr>
        <p:spPr>
          <a:xfrm>
            <a:off x="5561380" y="1725375"/>
            <a:ext cx="202173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 млн → &lt;500 тыс.</a:t>
            </a:r>
          </a:p>
        </p:txBody>
      </p:sp>
      <p:sp>
        <p:nvSpPr>
          <p:cNvPr id="15" name="TextBox 14"/>
          <p:cNvSpPr txBox="1"/>
          <p:nvPr/>
        </p:nvSpPr>
        <p:spPr>
          <a:xfrm>
            <a:off x="5561380" y="2542797"/>
            <a:ext cx="2021738"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 расходах ≈1 млн $/день</a:t>
            </a:r>
          </a:p>
        </p:txBody>
      </p:sp>
      <p:sp>
        <p:nvSpPr>
          <p:cNvPr id="16" name="TextBox 15"/>
          <p:cNvSpPr txBox="1"/>
          <p:nvPr/>
        </p:nvSpPr>
        <p:spPr>
          <a:xfrm>
            <a:off x="502920" y="324457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Не провалилось</a:t>
            </a:r>
          </a:p>
        </p:txBody>
      </p:sp>
      <p:sp>
        <p:nvSpPr>
          <p:cNvPr id="17" name="Rounded Rectangle 16"/>
          <p:cNvSpPr/>
          <p:nvPr/>
        </p:nvSpPr>
        <p:spPr>
          <a:xfrm>
            <a:off x="1920240" y="3207994"/>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253714"/>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Видеогенерация как класс задачи</a:t>
            </a:r>
          </a:p>
        </p:txBody>
      </p:sp>
      <p:sp>
        <p:nvSpPr>
          <p:cNvPr id="19" name="Rounded Rectangle 18"/>
          <p:cNvSpPr/>
          <p:nvPr/>
        </p:nvSpPr>
        <p:spPr>
          <a:xfrm>
            <a:off x="4893411" y="3207994"/>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4975707" y="3253714"/>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согласованность персонажа, физика движения</a:t>
            </a:r>
          </a:p>
        </p:txBody>
      </p:sp>
      <p:sp>
        <p:nvSpPr>
          <p:cNvPr id="21" name="TextBox 20"/>
          <p:cNvSpPr txBox="1"/>
          <p:nvPr/>
        </p:nvSpPr>
        <p:spPr>
          <a:xfrm>
            <a:off x="502920" y="4103916"/>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Провалилось</a:t>
            </a:r>
          </a:p>
        </p:txBody>
      </p:sp>
      <p:sp>
        <p:nvSpPr>
          <p:cNvPr id="22" name="Rounded Rectangle 21"/>
          <p:cNvSpPr/>
          <p:nvPr/>
        </p:nvSpPr>
        <p:spPr>
          <a:xfrm>
            <a:off x="1920240" y="4067340"/>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2002536" y="4113060"/>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Бизнес-ставка на лицензированных персонажей</a:t>
            </a:r>
          </a:p>
        </p:txBody>
      </p:sp>
      <p:sp>
        <p:nvSpPr>
          <p:cNvPr id="24" name="Rounded Rectangle 23"/>
          <p:cNvSpPr/>
          <p:nvPr/>
        </p:nvSpPr>
        <p:spPr>
          <a:xfrm>
            <a:off x="4893411" y="4067340"/>
            <a:ext cx="2826867"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5" name="TextBox 24"/>
          <p:cNvSpPr txBox="1"/>
          <p:nvPr/>
        </p:nvSpPr>
        <p:spPr>
          <a:xfrm>
            <a:off x="4975707" y="4113060"/>
            <a:ext cx="2662275"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экономика сервиса при падающей аудитории</a:t>
            </a:r>
          </a:p>
        </p:txBody>
      </p:sp>
      <p:sp>
        <p:nvSpPr>
          <p:cNvPr id="26" name="TextBox 25"/>
          <p:cNvSpPr txBox="1"/>
          <p:nvPr/>
        </p:nvSpPr>
        <p:spPr>
          <a:xfrm>
            <a:off x="502920" y="4816958"/>
            <a:ext cx="72173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Что провалилось, а что нет — это разные утверждения</a:t>
            </a:r>
          </a:p>
        </p:txBody>
      </p:sp>
      <p:sp>
        <p:nvSpPr>
          <p:cNvPr id="27" name="Rounded Rectangle 26"/>
          <p:cNvSpPr/>
          <p:nvPr/>
        </p:nvSpPr>
        <p:spPr>
          <a:xfrm>
            <a:off x="374904" y="5119641"/>
            <a:ext cx="11441887" cy="1116566"/>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8" name="TextBox 27"/>
          <p:cNvSpPr txBox="1"/>
          <p:nvPr/>
        </p:nvSpPr>
        <p:spPr>
          <a:xfrm>
            <a:off x="539496" y="5211081"/>
            <a:ext cx="11112703" cy="1025126"/>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Партнёрство с Disney распалось вместе с продуктом</a:t>
            </a:r>
            <a:r>
              <a:rPr sz="1350" b="0" i="0">
                <a:solidFill>
                  <a:srgbClr val="21295C"/>
                </a:solidFill>
                <a:latin typeface="Arial"/>
              </a:rPr>
              <a:t> — закрытие меньше чем через год после пика известности.</a:t>
            </a:r>
          </a:p>
          <a:p>
            <a:pPr algn="l">
              <a:lnSpc>
                <a:spcPct val="126000"/>
              </a:lnSpc>
              <a:spcBef>
                <a:spcPts val="700"/>
              </a:spcBef>
            </a:pPr>
            <a:r>
              <a:rPr sz="1350" b="0" i="0">
                <a:solidFill>
                  <a:srgbClr val="21295C"/>
                </a:solidFill>
                <a:latin typeface="Arial"/>
              </a:rPr>
              <a:t/>
            </a:r>
            <a:r>
              <a:rPr sz="1350" b="1" i="0">
                <a:solidFill>
                  <a:srgbClr val="21295C"/>
                </a:solidFill>
                <a:latin typeface="Arial"/>
              </a:rPr>
              <a:t>Провалилась не видеогенерация</a:t>
            </a:r>
            <a:r>
              <a:rPr sz="1350" b="0" i="0">
                <a:solidFill>
                  <a:srgbClr val="21295C"/>
                </a:solidFill>
                <a:latin typeface="Arial"/>
              </a:rPr>
              <a:t> — Sora умела то, что требовалось. </a:t>
            </a:r>
            <a:r>
              <a:rPr sz="1350" b="1" i="0">
                <a:solidFill>
                  <a:srgbClr val="21295C"/>
                </a:solidFill>
                <a:latin typeface="Arial"/>
              </a:rPr>
              <a:t>Провалилась бизнес-ставка</a:t>
            </a:r>
            <a:r>
              <a:rPr sz="1350" b="0" i="0">
                <a:solidFill>
                  <a:srgbClr val="21295C"/>
                </a:solidFill>
                <a:latin typeface="Arial"/>
              </a:rPr>
              <a:t> на лицензированных персонажей.</a:t>
            </a:r>
          </a:p>
          <a:p>
            <a:pPr algn="l">
              <a:lnSpc>
                <a:spcPct val="126000"/>
              </a:lnSpc>
              <a:spcBef>
                <a:spcPts val="700"/>
              </a:spcBef>
            </a:pPr>
            <a:r>
              <a:rPr sz="1350" b="0" i="0">
                <a:solidFill>
                  <a:srgbClr val="21295C"/>
                </a:solidFill>
                <a:latin typeface="Arial"/>
              </a:rPr>
              <a:t/>
            </a:r>
            <a:r>
              <a:rPr sz="1350" b="1" i="0">
                <a:solidFill>
                  <a:srgbClr val="21295C"/>
                </a:solidFill>
                <a:latin typeface="Arial"/>
              </a:rPr>
              <a:t>Актуальные флагманы:</a:t>
            </a:r>
            <a:r>
              <a:rPr sz="1350" b="0" i="0">
                <a:solidFill>
                  <a:srgbClr val="21295C"/>
                </a:solidFill>
                <a:latin typeface="Arial"/>
              </a:rPr>
              <a:t> Veo 3.1, Kling 4.0, Kandinsky 6.0 Video.</a:t>
            </a:r>
          </a:p>
        </p:txBody>
      </p:sp>
      <p:sp>
        <p:nvSpPr>
          <p:cNvPr id="29" name="Rounded Rectangle 28"/>
          <p:cNvSpPr/>
          <p:nvPr/>
        </p:nvSpPr>
        <p:spPr>
          <a:xfrm>
            <a:off x="8031175" y="1335024"/>
            <a:ext cx="3657600" cy="2174595"/>
          </a:xfrm>
          <a:prstGeom prst="roundRect">
            <a:avLst>
              <a:gd name="adj" fmla="val 14016"/>
            </a:avLst>
          </a:prstGeom>
          <a:solidFill>
            <a:srgbClr val="F4F7FA"/>
          </a:solidFill>
          <a:ln w="19050">
            <a:solidFill>
              <a:srgbClr val="1C7293"/>
            </a:solidFill>
          </a:ln>
          <a:effectLst/>
        </p:spPr>
        <p:txBody>
          <a:bodyPr rtlCol="0" anchor="ctr"/>
          <a:lstStyle/>
          <a:p>
            <a:pPr algn="ctr"/>
          </a:p>
        </p:txBody>
      </p:sp>
      <p:pic>
        <p:nvPicPr>
          <p:cNvPr id="30" name="Picture 29" descr="s18-sora-tokyo-demo-frame-techcrunch.png"/>
          <p:cNvPicPr>
            <a:picLocks noChangeAspect="1"/>
          </p:cNvPicPr>
          <p:nvPr/>
        </p:nvPicPr>
        <p:blipFill>
          <a:blip r:embed="rId2"/>
          <a:stretch>
            <a:fillRect/>
          </a:stretch>
        </p:blipFill>
        <p:spPr>
          <a:xfrm>
            <a:off x="8168335" y="1472184"/>
            <a:ext cx="3383280" cy="1900275"/>
          </a:xfrm>
          <a:prstGeom prst="rect">
            <a:avLst/>
          </a:prstGeom>
        </p:spPr>
      </p:pic>
      <p:sp>
        <p:nvSpPr>
          <p:cNvPr id="31" name="Rectangle 30"/>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2" name="TextBox 31"/>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CNBC 2026; Bloomberg 2026; Variety 2026; the-decoder.com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что переехало — и чего раздел не утверждает</a:t>
            </a:r>
          </a:p>
        </p:txBody>
      </p:sp>
      <p:sp>
        <p:nvSpPr>
          <p:cNvPr id="4" name="Rounded Rectangle 3"/>
          <p:cNvSpPr/>
          <p:nvPr/>
        </p:nvSpPr>
        <p:spPr>
          <a:xfrm>
            <a:off x="502920" y="1335024"/>
            <a:ext cx="1747418" cy="240492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МАРИНА К. ДО ОБВАЛА</a:t>
            </a:r>
          </a:p>
        </p:txBody>
      </p:sp>
      <p:sp>
        <p:nvSpPr>
          <p:cNvPr id="6" name="TextBox 5"/>
          <p:cNvSpPr txBox="1"/>
          <p:nvPr/>
        </p:nvSpPr>
        <p:spPr>
          <a:xfrm>
            <a:off x="640080" y="1932846"/>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≈1800–2500 $/мес., 70–80 ч</a:t>
            </a:r>
          </a:p>
        </p:txBody>
      </p:sp>
      <p:sp>
        <p:nvSpPr>
          <p:cNvPr id="7" name="TextBox 6"/>
          <p:cNvSpPr txBox="1"/>
          <p:nvPr/>
        </p:nvSpPr>
        <p:spPr>
          <a:xfrm>
            <a:off x="640080" y="2495645"/>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ставка ≈25–30 $/час</a:t>
            </a:r>
          </a:p>
        </p:txBody>
      </p:sp>
      <p:sp>
        <p:nvSpPr>
          <p:cNvPr id="8" name="Rounded Rectangle 7"/>
          <p:cNvSpPr/>
          <p:nvPr/>
        </p:nvSpPr>
        <p:spPr>
          <a:xfrm>
            <a:off x="2414930" y="1335024"/>
            <a:ext cx="1747418" cy="2404923"/>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МАРИНА К. ПОСЛЕ ОБВАЛА</a:t>
            </a:r>
          </a:p>
        </p:txBody>
      </p:sp>
      <p:sp>
        <p:nvSpPr>
          <p:cNvPr id="10" name="TextBox 9"/>
          <p:cNvSpPr txBox="1"/>
          <p:nvPr/>
        </p:nvSpPr>
        <p:spPr>
          <a:xfrm>
            <a:off x="2552090" y="1932846"/>
            <a:ext cx="1473098"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≈900–2400 $/мес., 25–35 ч</a:t>
            </a:r>
          </a:p>
        </p:txBody>
      </p:sp>
      <p:sp>
        <p:nvSpPr>
          <p:cNvPr id="11" name="TextBox 10"/>
          <p:cNvSpPr txBox="1"/>
          <p:nvPr/>
        </p:nvSpPr>
        <p:spPr>
          <a:xfrm>
            <a:off x="2552090" y="2495645"/>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ставка ≈35–70 $/час</a:t>
            </a:r>
          </a:p>
        </p:txBody>
      </p:sp>
      <p:sp>
        <p:nvSpPr>
          <p:cNvPr id="12" name="Rounded Rectangle 11"/>
          <p:cNvSpPr/>
          <p:nvPr/>
        </p:nvSpPr>
        <p:spPr>
          <a:xfrm>
            <a:off x="4326940" y="1335024"/>
            <a:ext cx="1747418" cy="240492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КЛЕТКИ СЕТКИ КУРСА</a:t>
            </a:r>
          </a:p>
        </p:txBody>
      </p:sp>
      <p:sp>
        <p:nvSpPr>
          <p:cNvPr id="14" name="TextBox 13"/>
          <p:cNvSpPr txBox="1"/>
          <p:nvPr/>
        </p:nvSpPr>
        <p:spPr>
          <a:xfrm>
            <a:off x="4464100" y="1932846"/>
            <a:ext cx="1473098"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изображение · аудио</a:t>
            </a:r>
          </a:p>
        </p:txBody>
      </p:sp>
      <p:sp>
        <p:nvSpPr>
          <p:cNvPr id="15" name="TextBox 14"/>
          <p:cNvSpPr txBox="1"/>
          <p:nvPr/>
        </p:nvSpPr>
        <p:spPr>
          <a:xfrm>
            <a:off x="4464100" y="2546569"/>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режим — коммерчески зрелый, цена на три порядка ниже ручного</a:t>
            </a:r>
          </a:p>
        </p:txBody>
      </p:sp>
      <p:sp>
        <p:nvSpPr>
          <p:cNvPr id="16" name="Rounded Rectangle 15"/>
          <p:cNvSpPr/>
          <p:nvPr/>
        </p:nvSpPr>
        <p:spPr>
          <a:xfrm>
            <a:off x="374904" y="3831387"/>
            <a:ext cx="5827471" cy="2404820"/>
          </a:xfrm>
          <a:prstGeom prst="roundRect">
            <a:avLst>
              <a:gd name="adj" fmla="val 1267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922827"/>
            <a:ext cx="5498287" cy="231338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Переехало:</a:t>
            </a:r>
            <a:r>
              <a:rPr sz="1250" b="0" i="0">
                <a:solidFill>
                  <a:srgbClr val="21295C"/>
                </a:solidFill>
                <a:latin typeface="Arial"/>
              </a:rPr>
              <a:t> от часов ручной работы — к секундам генерации плюс новому шагу: курирование вариантов.</a:t>
            </a:r>
          </a:p>
          <a:p>
            <a:pPr algn="l">
              <a:lnSpc>
                <a:spcPct val="126000"/>
              </a:lnSpc>
              <a:spcBef>
                <a:spcPts val="700"/>
              </a:spcBef>
            </a:pPr>
            <a:r>
              <a:rPr sz="1250" b="0" i="0">
                <a:solidFill>
                  <a:srgbClr val="21295C"/>
                </a:solidFill>
                <a:latin typeface="Arial"/>
              </a:rPr>
              <a:t/>
            </a:r>
            <a:r>
              <a:rPr sz="1250" b="1" i="0">
                <a:solidFill>
                  <a:srgbClr val="21295C"/>
                </a:solidFill>
                <a:latin typeface="Arial"/>
              </a:rPr>
              <a:t>Марина К., тот же поток:</a:t>
            </a:r>
            <a:r>
              <a:rPr sz="1250" b="0" i="0">
                <a:solidFill>
                  <a:srgbClr val="21295C"/>
                </a:solidFill>
                <a:latin typeface="Arial"/>
              </a:rPr>
              <a:t> рутина исчезла, остались сложные заказы — часовая ставка выросла.</a:t>
            </a:r>
          </a:p>
          <a:p>
            <a:pPr algn="l">
              <a:lnSpc>
                <a:spcPct val="126000"/>
              </a:lnSpc>
              <a:spcBef>
                <a:spcPts val="700"/>
              </a:spcBef>
            </a:pPr>
            <a:r>
              <a:rPr sz="1250" b="0" i="0">
                <a:solidFill>
                  <a:srgbClr val="21295C"/>
                </a:solidFill>
                <a:latin typeface="Arial"/>
              </a:rPr>
              <a:t/>
            </a:r>
            <a:r>
              <a:rPr sz="1250" b="1" i="0">
                <a:solidFill>
                  <a:srgbClr val="21295C"/>
                </a:solidFill>
                <a:latin typeface="Arial"/>
              </a:rPr>
              <a:t>Раздел не утверждает:</a:t>
            </a:r>
            <a:r>
              <a:rPr sz="1250" b="0" i="0">
                <a:solidFill>
                  <a:srgbClr val="21295C"/>
                </a:solidFill>
                <a:latin typeface="Arial"/>
              </a:rPr>
              <a:t> что результат хуже/лучше · что ручная работа исчезла вся · что обвал цены — проблема сам по себе.</a:t>
            </a:r>
          </a:p>
          <a:p>
            <a:pPr algn="l">
              <a:lnSpc>
                <a:spcPct val="126000"/>
              </a:lnSpc>
              <a:spcBef>
                <a:spcPts val="700"/>
              </a:spcBef>
            </a:pPr>
            <a:r>
              <a:rPr sz="1250" b="0" i="0">
                <a:solidFill>
                  <a:srgbClr val="21295C"/>
                </a:solidFill>
                <a:latin typeface="Arial"/>
              </a:rPr>
              <a:t/>
            </a:r>
            <a:r>
              <a:rPr sz="1250" b="1" i="0">
                <a:solidFill>
                  <a:srgbClr val="21295C"/>
                </a:solidFill>
                <a:latin typeface="Arial"/>
              </a:rPr>
              <a:t>У кого в работе уже есть порог найма, который обвал цены генерации обнулил — замечали вы это сами?</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19-freelancer-working-laptop-office.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Upwork/GigRadar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8305495" y="914400"/>
            <a:ext cx="3383280" cy="4937760"/>
          </a:xfrm>
          <a:prstGeom prst="roundRect">
            <a:avLst>
              <a:gd name="adj" fmla="val 9009"/>
            </a:avLst>
          </a:prstGeom>
          <a:solidFill>
            <a:srgbClr val="F4F7FA"/>
          </a:solidFill>
          <a:ln w="19050">
            <a:solidFill>
              <a:srgbClr val="1C7293"/>
            </a:solidFill>
          </a:ln>
          <a:effectLst/>
        </p:spPr>
        <p:txBody>
          <a:bodyPr rtlCol="0" anchor="ctr"/>
          <a:lstStyle/>
          <a:p>
            <a:pPr algn="ctr"/>
          </a:p>
        </p:txBody>
      </p:sp>
      <p:pic>
        <p:nvPicPr>
          <p:cNvPr id="5" name="Picture 4" descr="s20-editor-red-pen-manuscript.jpg"/>
          <p:cNvPicPr>
            <a:picLocks noChangeAspect="1"/>
          </p:cNvPicPr>
          <p:nvPr/>
        </p:nvPicPr>
        <p:blipFill>
          <a:blip r:embed="rId2"/>
          <a:stretch>
            <a:fillRect/>
          </a:stretch>
        </p:blipFill>
        <p:spPr>
          <a:xfrm>
            <a:off x="8442655" y="1051560"/>
            <a:ext cx="3108960" cy="4663440"/>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2. Редакционный контроль</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Файл готов. Но готовый файл — ещё не опубликованный материал.</a:t>
            </a:r>
            <a:r>
              <a:rPr sz="1550" b="0" i="0">
                <a:solidFill>
                  <a:srgbClr val="21295C"/>
                </a:solidFill>
                <a:latin typeface="Arial"/>
              </a:rPr>
              <a:t> Между ними стоит проверка: кто написал, откуда факт, есть ли право.</a:t>
            </a:r>
          </a:p>
        </p:txBody>
      </p:sp>
      <p:sp>
        <p:nvSpPr>
          <p:cNvPr id="9" name="TextBox 8"/>
          <p:cNvSpPr txBox="1"/>
          <p:nvPr/>
        </p:nvSpPr>
        <p:spPr>
          <a:xfrm>
            <a:off x="704088" y="2915422"/>
            <a:ext cx="5742432" cy="94284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Пример: CNET — цена ошибки, 53% AI-статей потребовали исправления</a:t>
            </a:r>
            <a:r>
              <a:rPr sz="1550" b="0" i="0">
                <a:solidFill>
                  <a:srgbClr val="21295C"/>
                </a:solidFill>
                <a:latin typeface="Arial"/>
              </a:rPr>
              <a:t> · </a:t>
            </a:r>
            <a:r>
              <a:rPr sz="1550" b="1" i="0">
                <a:solidFill>
                  <a:srgbClr val="21295C"/>
                </a:solidFill>
                <a:latin typeface="Arial"/>
              </a:rPr>
              <a:t>Упоминание: Sports Illustrated — совпадение по времени, не доказанная причина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Редакционный контроль: что проверяют и кто отвечает</a:t>
            </a:r>
          </a:p>
        </p:txBody>
      </p:sp>
      <p:sp>
        <p:nvSpPr>
          <p:cNvPr id="4" name="Rounded Rectangle 3"/>
          <p:cNvSpPr/>
          <p:nvPr/>
        </p:nvSpPr>
        <p:spPr>
          <a:xfrm>
            <a:off x="502920" y="1335024"/>
            <a:ext cx="2113178" cy="2576558"/>
          </a:xfrm>
          <a:prstGeom prst="roundRect">
            <a:avLst>
              <a:gd name="adj" fmla="val 1442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3885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ПЕРВЫЙ</a:t>
            </a:r>
          </a:p>
        </p:txBody>
      </p:sp>
      <p:sp>
        <p:nvSpPr>
          <p:cNvPr id="6" name="TextBox 5"/>
          <p:cNvSpPr txBox="1"/>
          <p:nvPr/>
        </p:nvSpPr>
        <p:spPr>
          <a:xfrm>
            <a:off x="640080" y="1725375"/>
            <a:ext cx="183885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верны ли факты?</a:t>
            </a:r>
          </a:p>
        </p:txBody>
      </p:sp>
      <p:sp>
        <p:nvSpPr>
          <p:cNvPr id="7" name="TextBox 6"/>
          <p:cNvSpPr txBox="1"/>
          <p:nvPr/>
        </p:nvSpPr>
        <p:spPr>
          <a:xfrm>
            <a:off x="640080" y="2542797"/>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цифры, цитаты, причинно-следственные связи</a:t>
            </a:r>
          </a:p>
        </p:txBody>
      </p:sp>
      <p:sp>
        <p:nvSpPr>
          <p:cNvPr id="8" name="Rounded Rectangle 7"/>
          <p:cNvSpPr/>
          <p:nvPr/>
        </p:nvSpPr>
        <p:spPr>
          <a:xfrm>
            <a:off x="2780690" y="1335024"/>
            <a:ext cx="2113178" cy="2576558"/>
          </a:xfrm>
          <a:prstGeom prst="roundRect">
            <a:avLst>
              <a:gd name="adj" fmla="val 1442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917850" y="1472184"/>
            <a:ext cx="183885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ВОПРОС ВТОРОЙ, НЕЗАВИСИМЫЙ</a:t>
            </a:r>
          </a:p>
        </p:txBody>
      </p:sp>
      <p:sp>
        <p:nvSpPr>
          <p:cNvPr id="10" name="TextBox 9"/>
          <p:cNvSpPr txBox="1"/>
          <p:nvPr/>
        </p:nvSpPr>
        <p:spPr>
          <a:xfrm>
            <a:off x="2917850" y="1932846"/>
            <a:ext cx="1838858"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можно ли верить имени?</a:t>
            </a:r>
          </a:p>
        </p:txBody>
      </p:sp>
      <p:sp>
        <p:nvSpPr>
          <p:cNvPr id="11" name="TextBox 10"/>
          <p:cNvSpPr txBox="1"/>
          <p:nvPr/>
        </p:nvSpPr>
        <p:spPr>
          <a:xfrm>
            <a:off x="2917850" y="3140692"/>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репутация как косвенное подтверждение качества</a:t>
            </a:r>
          </a:p>
        </p:txBody>
      </p:sp>
      <p:sp>
        <p:nvSpPr>
          <p:cNvPr id="12" name="Rounded Rectangle 11"/>
          <p:cNvSpPr/>
          <p:nvPr/>
        </p:nvSpPr>
        <p:spPr>
          <a:xfrm>
            <a:off x="5058460" y="1335024"/>
            <a:ext cx="2113178" cy="2576558"/>
          </a:xfrm>
          <a:prstGeom prst="roundRect">
            <a:avLst>
              <a:gd name="adj" fmla="val 1442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95620" y="1472184"/>
            <a:ext cx="183885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ВЫХОДИТ ИЗ РЕШЕНИЯ</a:t>
            </a:r>
          </a:p>
        </p:txBody>
      </p:sp>
      <p:sp>
        <p:nvSpPr>
          <p:cNvPr id="14" name="TextBox 13"/>
          <p:cNvSpPr txBox="1"/>
          <p:nvPr/>
        </p:nvSpPr>
        <p:spPr>
          <a:xfrm>
            <a:off x="5195620" y="1932846"/>
            <a:ext cx="183885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материал под именем</a:t>
            </a:r>
          </a:p>
        </p:txBody>
      </p:sp>
      <p:sp>
        <p:nvSpPr>
          <p:cNvPr id="15" name="TextBox 14"/>
          <p:cNvSpPr txBox="1"/>
          <p:nvPr/>
        </p:nvSpPr>
        <p:spPr>
          <a:xfrm>
            <a:off x="5195620" y="2750268"/>
            <a:ext cx="183885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институт ответственности, а не формальность</a:t>
            </a:r>
          </a:p>
        </p:txBody>
      </p:sp>
      <p:sp>
        <p:nvSpPr>
          <p:cNvPr id="16" name="TextBox 15"/>
          <p:cNvSpPr txBox="1"/>
          <p:nvPr/>
        </p:nvSpPr>
        <p:spPr>
          <a:xfrm>
            <a:off x="502920" y="4131038"/>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Путь материала</a:t>
            </a:r>
          </a:p>
        </p:txBody>
      </p:sp>
      <p:sp>
        <p:nvSpPr>
          <p:cNvPr id="17" name="Rounded Rectangle 16"/>
          <p:cNvSpPr/>
          <p:nvPr/>
        </p:nvSpPr>
        <p:spPr>
          <a:xfrm>
            <a:off x="1920240"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черновик</a:t>
            </a:r>
          </a:p>
        </p:txBody>
      </p:sp>
      <p:sp>
        <p:nvSpPr>
          <p:cNvPr id="19" name="Right Arrow 18"/>
          <p:cNvSpPr/>
          <p:nvPr/>
        </p:nvSpPr>
        <p:spPr>
          <a:xfrm>
            <a:off x="3073069" y="4461619"/>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330166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338396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факты верны?</a:t>
            </a:r>
          </a:p>
        </p:txBody>
      </p:sp>
      <p:sp>
        <p:nvSpPr>
          <p:cNvPr id="22" name="Right Arrow 21"/>
          <p:cNvSpPr/>
          <p:nvPr/>
        </p:nvSpPr>
        <p:spPr>
          <a:xfrm>
            <a:off x="4454499" y="4461619"/>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468309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476539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имени можно верить?</a:t>
            </a:r>
          </a:p>
        </p:txBody>
      </p:sp>
      <p:sp>
        <p:nvSpPr>
          <p:cNvPr id="25" name="Right Arrow 24"/>
          <p:cNvSpPr/>
          <p:nvPr/>
        </p:nvSpPr>
        <p:spPr>
          <a:xfrm>
            <a:off x="5835929" y="4461619"/>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6064529" y="4094462"/>
            <a:ext cx="1107109"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6146825" y="4140182"/>
            <a:ext cx="942517"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публикация под именем</a:t>
            </a:r>
          </a:p>
        </p:txBody>
      </p:sp>
      <p:sp>
        <p:nvSpPr>
          <p:cNvPr id="28" name="TextBox 27"/>
          <p:cNvSpPr txBox="1"/>
          <p:nvPr/>
        </p:nvSpPr>
        <p:spPr>
          <a:xfrm>
            <a:off x="502920" y="5002512"/>
            <a:ext cx="666871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редактора короче, чем кажется, и длиннее, чем публикация</a:t>
            </a:r>
          </a:p>
        </p:txBody>
      </p:sp>
      <p:sp>
        <p:nvSpPr>
          <p:cNvPr id="29" name="Rounded Rectangle 28"/>
          <p:cNvSpPr/>
          <p:nvPr/>
        </p:nvSpPr>
        <p:spPr>
          <a:xfrm>
            <a:off x="374904" y="5541264"/>
            <a:ext cx="11441887" cy="6949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30" name="TextBox 29"/>
          <p:cNvSpPr txBox="1"/>
          <p:nvPr/>
        </p:nvSpPr>
        <p:spPr>
          <a:xfrm>
            <a:off x="539496" y="5632703"/>
            <a:ext cx="11112703" cy="6035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Редактор решает два разных вопроса, не один.</a:t>
            </a:r>
            <a:r>
              <a:rPr sz="1500" b="0" i="0">
                <a:solidFill>
                  <a:srgbClr val="21295C"/>
                </a:solidFill>
                <a:latin typeface="Arial"/>
              </a:rPr>
              <a:t> Решение стадии — не «публиковать или нет», а выходит ли материал под именем, которое несёт ответственность.</a:t>
            </a:r>
          </a:p>
        </p:txBody>
      </p:sp>
      <p:sp>
        <p:nvSpPr>
          <p:cNvPr id="31" name="Rounded Rectangle 30"/>
          <p:cNvSpPr/>
          <p:nvPr/>
        </p:nvSpPr>
        <p:spPr>
          <a:xfrm>
            <a:off x="7482535" y="1335024"/>
            <a:ext cx="4206240" cy="4206240"/>
          </a:xfrm>
          <a:prstGeom prst="roundRect">
            <a:avLst>
              <a:gd name="adj" fmla="val 7246"/>
            </a:avLst>
          </a:prstGeom>
          <a:solidFill>
            <a:srgbClr val="F4F7FA"/>
          </a:solidFill>
          <a:ln w="19050">
            <a:solidFill>
              <a:srgbClr val="1C7293"/>
            </a:solidFill>
          </a:ln>
          <a:effectLst/>
        </p:spPr>
        <p:txBody>
          <a:bodyPr rtlCol="0" anchor="ctr"/>
          <a:lstStyle/>
          <a:p>
            <a:pPr algn="ctr"/>
          </a:p>
        </p:txBody>
      </p:sp>
      <p:pic>
        <p:nvPicPr>
          <p:cNvPr id="32" name="Picture 31" descr="s21-factcheck-magnifying-glass-charts.jpg"/>
          <p:cNvPicPr>
            <a:picLocks noChangeAspect="1"/>
          </p:cNvPicPr>
          <p:nvPr/>
        </p:nvPicPr>
        <p:blipFill>
          <a:blip r:embed="rId2"/>
          <a:stretch>
            <a:fillRect/>
          </a:stretch>
        </p:blipFill>
        <p:spPr>
          <a:xfrm>
            <a:off x="7619695" y="1472184"/>
            <a:ext cx="3931920" cy="3931920"/>
          </a:xfrm>
          <a:prstGeom prst="rect">
            <a:avLst/>
          </a:prstGeom>
        </p:spPr>
      </p:pic>
      <p:sp>
        <p:nvSpPr>
          <p:cNvPr id="33" name="Rectangle 3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четыре способа проверки, разная цена</a:t>
            </a:r>
          </a:p>
        </p:txBody>
      </p:sp>
      <p:sp>
        <p:nvSpPr>
          <p:cNvPr id="4" name="Rounded Rectangle 3"/>
          <p:cNvSpPr/>
          <p:nvPr/>
        </p:nvSpPr>
        <p:spPr>
          <a:xfrm>
            <a:off x="502920" y="1335024"/>
            <a:ext cx="2082698" cy="2456791"/>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ДЕШЕВЛЕ ВСЕГО: ЧИТКА</a:t>
            </a:r>
          </a:p>
        </p:txBody>
      </p:sp>
      <p:sp>
        <p:nvSpPr>
          <p:cNvPr id="6" name="TextBox 5"/>
          <p:cNvSpPr txBox="1"/>
          <p:nvPr/>
        </p:nvSpPr>
        <p:spPr>
          <a:xfrm>
            <a:off x="640080" y="1932846"/>
            <a:ext cx="180837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стиль и логика</a:t>
            </a:r>
          </a:p>
        </p:txBody>
      </p:sp>
      <p:sp>
        <p:nvSpPr>
          <p:cNvPr id="7" name="TextBox 6"/>
          <p:cNvSpPr txBox="1"/>
          <p:nvPr/>
        </p:nvSpPr>
        <p:spPr>
          <a:xfrm>
            <a:off x="640080" y="2750268"/>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применяется почти везде — не ловит факты</a:t>
            </a:r>
          </a:p>
        </p:txBody>
      </p:sp>
      <p:sp>
        <p:nvSpPr>
          <p:cNvPr id="8" name="Rounded Rectangle 7"/>
          <p:cNvSpPr/>
          <p:nvPr/>
        </p:nvSpPr>
        <p:spPr>
          <a:xfrm>
            <a:off x="2750210" y="1335024"/>
            <a:ext cx="2082698" cy="2456791"/>
          </a:xfrm>
          <a:prstGeom prst="roundRect">
            <a:avLst>
              <a:gd name="adj" fmla="val 1463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88737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ДОРОЖЕ ВСЕГО: ФАКТЧЕКИНГ</a:t>
            </a:r>
          </a:p>
        </p:txBody>
      </p:sp>
      <p:sp>
        <p:nvSpPr>
          <p:cNvPr id="10" name="TextBox 9"/>
          <p:cNvSpPr txBox="1"/>
          <p:nvPr/>
        </p:nvSpPr>
        <p:spPr>
          <a:xfrm>
            <a:off x="2887370" y="1932846"/>
            <a:ext cx="1808378"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отдельный труд на статью</a:t>
            </a:r>
          </a:p>
        </p:txBody>
      </p:sp>
      <p:sp>
        <p:nvSpPr>
          <p:cNvPr id="11" name="TextBox 10"/>
          <p:cNvSpPr txBox="1"/>
          <p:nvPr/>
        </p:nvSpPr>
        <p:spPr>
          <a:xfrm>
            <a:off x="2887370" y="3140692"/>
            <a:ext cx="18083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первое, что сокращают при экономии</a:t>
            </a:r>
          </a:p>
        </p:txBody>
      </p:sp>
      <p:sp>
        <p:nvSpPr>
          <p:cNvPr id="12" name="Rounded Rectangle 11"/>
          <p:cNvSpPr/>
          <p:nvPr/>
        </p:nvSpPr>
        <p:spPr>
          <a:xfrm>
            <a:off x="4997500" y="1335024"/>
            <a:ext cx="2082698" cy="2456791"/>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13466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ИМЕНОВАННЫЙ АВТОР</a:t>
            </a:r>
          </a:p>
        </p:txBody>
      </p:sp>
      <p:sp>
        <p:nvSpPr>
          <p:cNvPr id="14" name="TextBox 13"/>
          <p:cNvSpPr txBox="1"/>
          <p:nvPr/>
        </p:nvSpPr>
        <p:spPr>
          <a:xfrm>
            <a:off x="5134660" y="1932846"/>
            <a:ext cx="1808378" cy="876834"/>
          </a:xfrm>
          <a:prstGeom prst="rect">
            <a:avLst/>
          </a:prstGeom>
          <a:noFill/>
        </p:spPr>
        <p:txBody>
          <a:bodyPr wrap="square" lIns="0" rIns="0" tIns="0" bIns="0" anchor="t">
            <a:spAutoFit/>
          </a:bodyPr>
          <a:lstStyle/>
          <a:p>
            <a:pPr algn="l">
              <a:lnSpc>
                <a:spcPct val="108000"/>
              </a:lnSpc>
            </a:pPr>
            <a:r>
              <a:rPr sz="1650" b="1" i="0">
                <a:solidFill>
                  <a:srgbClr val="21295C"/>
                </a:solidFill>
                <a:latin typeface="Arial"/>
              </a:rPr>
              <a:t>самый дешёвый контроль из всех</a:t>
            </a:r>
          </a:p>
        </p:txBody>
      </p:sp>
      <p:sp>
        <p:nvSpPr>
          <p:cNvPr id="15" name="TextBox 14"/>
          <p:cNvSpPr txBox="1"/>
          <p:nvPr/>
        </p:nvSpPr>
        <p:spPr>
          <a:xfrm>
            <a:off x="5134660" y="2809681"/>
            <a:ext cx="18083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держится на репутации, построенной годами — не на проверке сейчас</a:t>
            </a:r>
          </a:p>
        </p:txBody>
      </p:sp>
      <p:sp>
        <p:nvSpPr>
          <p:cNvPr id="16" name="TextBox 15"/>
          <p:cNvSpPr txBox="1"/>
          <p:nvPr/>
        </p:nvSpPr>
        <p:spPr>
          <a:xfrm>
            <a:off x="502920" y="4011271"/>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Что проверяют</a:t>
            </a:r>
          </a:p>
        </p:txBody>
      </p:sp>
      <p:sp>
        <p:nvSpPr>
          <p:cNvPr id="17" name="Rounded Rectangle 16"/>
          <p:cNvSpPr/>
          <p:nvPr/>
        </p:nvSpPr>
        <p:spPr>
          <a:xfrm>
            <a:off x="1920240"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стиль и логика (читка)</a:t>
            </a:r>
          </a:p>
        </p:txBody>
      </p:sp>
      <p:sp>
        <p:nvSpPr>
          <p:cNvPr id="19" name="Rounded Rectangle 18"/>
          <p:cNvSpPr/>
          <p:nvPr/>
        </p:nvSpPr>
        <p:spPr>
          <a:xfrm>
            <a:off x="3246805"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0" name="TextBox 19"/>
          <p:cNvSpPr txBox="1"/>
          <p:nvPr/>
        </p:nvSpPr>
        <p:spPr>
          <a:xfrm>
            <a:off x="3329101"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факты (фактчекинг)</a:t>
            </a:r>
          </a:p>
        </p:txBody>
      </p:sp>
      <p:sp>
        <p:nvSpPr>
          <p:cNvPr id="21" name="Rounded Rectangle 20"/>
          <p:cNvSpPr/>
          <p:nvPr/>
        </p:nvSpPr>
        <p:spPr>
          <a:xfrm>
            <a:off x="4573371"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2" name="TextBox 21"/>
          <p:cNvSpPr txBox="1"/>
          <p:nvPr/>
        </p:nvSpPr>
        <p:spPr>
          <a:xfrm>
            <a:off x="4655667"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имя и история автора</a:t>
            </a:r>
          </a:p>
        </p:txBody>
      </p:sp>
      <p:sp>
        <p:nvSpPr>
          <p:cNvPr id="23" name="Rounded Rectangle 22"/>
          <p:cNvSpPr/>
          <p:nvPr/>
        </p:nvSpPr>
        <p:spPr>
          <a:xfrm>
            <a:off x="5899937" y="3974695"/>
            <a:ext cx="1180261"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5982233" y="4020415"/>
            <a:ext cx="1015669"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лицензия материала</a:t>
            </a:r>
          </a:p>
        </p:txBody>
      </p:sp>
      <p:sp>
        <p:nvSpPr>
          <p:cNvPr id="25" name="TextBox 24"/>
          <p:cNvSpPr txBox="1"/>
          <p:nvPr/>
        </p:nvSpPr>
        <p:spPr>
          <a:xfrm>
            <a:off x="502920" y="4882745"/>
            <a:ext cx="657727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Четыре способа ловят разные классы ошибок и разные пропускают</a:t>
            </a:r>
          </a:p>
        </p:txBody>
      </p:sp>
      <p:sp>
        <p:nvSpPr>
          <p:cNvPr id="26" name="Rounded Rectangle 25"/>
          <p:cNvSpPr/>
          <p:nvPr/>
        </p:nvSpPr>
        <p:spPr>
          <a:xfrm>
            <a:off x="374904" y="5185428"/>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7" name="TextBox 26"/>
          <p:cNvSpPr txBox="1"/>
          <p:nvPr/>
        </p:nvSpPr>
        <p:spPr>
          <a:xfrm>
            <a:off x="539496" y="5276868"/>
            <a:ext cx="11112703" cy="95933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Четыре способа, и каждый ловит свой класс ошибок — не взаимозаменяемы.</a:t>
            </a:r>
            <a:r>
              <a:rPr sz="1500" b="0" i="0">
                <a:solidFill>
                  <a:srgbClr val="21295C"/>
                </a:solidFill>
                <a:latin typeface="Arial"/>
              </a:rPr>
              <a:t> Именованный автор — самый дешёвый контроль качества из всех: держится на репутации, а не на проверке в моменте.</a:t>
            </a:r>
          </a:p>
        </p:txBody>
      </p:sp>
      <p:sp>
        <p:nvSpPr>
          <p:cNvPr id="28" name="Rounded Rectangle 27"/>
          <p:cNvSpPr/>
          <p:nvPr/>
        </p:nvSpPr>
        <p:spPr>
          <a:xfrm>
            <a:off x="7391095" y="1335024"/>
            <a:ext cx="4297680" cy="2957398"/>
          </a:xfrm>
          <a:prstGeom prst="roundRect">
            <a:avLst>
              <a:gd name="adj" fmla="val 10306"/>
            </a:avLst>
          </a:prstGeom>
          <a:solidFill>
            <a:srgbClr val="F4F7FA"/>
          </a:solidFill>
          <a:ln w="19050">
            <a:solidFill>
              <a:srgbClr val="1C7293"/>
            </a:solidFill>
          </a:ln>
          <a:effectLst/>
        </p:spPr>
        <p:txBody>
          <a:bodyPr rtlCol="0" anchor="ctr"/>
          <a:lstStyle/>
          <a:p>
            <a:pPr algn="ctr"/>
          </a:p>
        </p:txBody>
      </p:sp>
      <p:pic>
        <p:nvPicPr>
          <p:cNvPr id="29" name="Picture 28" descr="s22-factcheck-magnifying-glass-document.jpg"/>
          <p:cNvPicPr>
            <a:picLocks noChangeAspect="1"/>
          </p:cNvPicPr>
          <p:nvPr/>
        </p:nvPicPr>
        <p:blipFill>
          <a:blip r:embed="rId2"/>
          <a:stretch>
            <a:fillRect/>
          </a:stretch>
        </p:blipFill>
        <p:spPr>
          <a:xfrm>
            <a:off x="7528255" y="1472184"/>
            <a:ext cx="4023360" cy="2683078"/>
          </a:xfrm>
          <a:prstGeom prst="rect">
            <a:avLst/>
          </a:prstGeom>
        </p:spPr>
      </p:pic>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Зачем инженеру: тот же сдвиг в каталоге интернет-магазина</a:t>
            </a:r>
          </a:p>
        </p:txBody>
      </p:sp>
      <p:sp>
        <p:nvSpPr>
          <p:cNvPr id="4" name="Rounded Rectangle 3"/>
          <p:cNvSpPr/>
          <p:nvPr/>
        </p:nvSpPr>
        <p:spPr>
          <a:xfrm>
            <a:off x="502920" y="1335024"/>
            <a:ext cx="1840629" cy="2186135"/>
          </a:xfrm>
          <a:prstGeom prst="roundRect">
            <a:avLst>
              <a:gd name="adj" fmla="val 1655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6630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КАТАЛОГ</a:t>
            </a:r>
          </a:p>
        </p:txBody>
      </p:sp>
      <p:sp>
        <p:nvSpPr>
          <p:cNvPr id="6" name="TextBox 5"/>
          <p:cNvSpPr txBox="1"/>
          <p:nvPr/>
        </p:nvSpPr>
        <p:spPr>
          <a:xfrm>
            <a:off x="640080" y="1725375"/>
            <a:ext cx="156630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50 000 SKU</a:t>
            </a:r>
          </a:p>
        </p:txBody>
      </p:sp>
      <p:sp>
        <p:nvSpPr>
          <p:cNvPr id="7" name="TextBox 6"/>
          <p:cNvSpPr txBox="1"/>
          <p:nvPr/>
        </p:nvSpPr>
        <p:spPr>
          <a:xfrm>
            <a:off x="640080" y="2542797"/>
            <a:ext cx="156630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нишевый интернет-магазин, типовой размер</a:t>
            </a:r>
          </a:p>
        </p:txBody>
      </p:sp>
      <p:sp>
        <p:nvSpPr>
          <p:cNvPr id="8" name="Rounded Rectangle 7"/>
          <p:cNvSpPr/>
          <p:nvPr/>
        </p:nvSpPr>
        <p:spPr>
          <a:xfrm>
            <a:off x="2508141" y="1335024"/>
            <a:ext cx="1840629" cy="2186135"/>
          </a:xfrm>
          <a:prstGeom prst="roundRect">
            <a:avLst>
              <a:gd name="adj" fmla="val 16559"/>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645301" y="1472184"/>
            <a:ext cx="1566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КОНСЕРВАТИВНАЯ ОЦЕНКА ОШИБОК</a:t>
            </a:r>
          </a:p>
        </p:txBody>
      </p:sp>
      <p:sp>
        <p:nvSpPr>
          <p:cNvPr id="10" name="TextBox 9"/>
          <p:cNvSpPr txBox="1"/>
          <p:nvPr/>
        </p:nvSpPr>
        <p:spPr>
          <a:xfrm>
            <a:off x="2645301" y="1932846"/>
            <a:ext cx="156630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 карточек</a:t>
            </a:r>
          </a:p>
        </p:txBody>
      </p:sp>
      <p:sp>
        <p:nvSpPr>
          <p:cNvPr id="11" name="TextBox 10"/>
          <p:cNvSpPr txBox="1"/>
          <p:nvPr/>
        </p:nvSpPr>
        <p:spPr>
          <a:xfrm>
            <a:off x="2645301" y="2750268"/>
            <a:ext cx="156630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ниже измеренной доли CNET (53%) — намеренно занижена</a:t>
            </a:r>
          </a:p>
        </p:txBody>
      </p:sp>
      <p:sp>
        <p:nvSpPr>
          <p:cNvPr id="12" name="Rounded Rectangle 11"/>
          <p:cNvSpPr/>
          <p:nvPr/>
        </p:nvSpPr>
        <p:spPr>
          <a:xfrm>
            <a:off x="4513363" y="1335024"/>
            <a:ext cx="1840629" cy="2186135"/>
          </a:xfrm>
          <a:prstGeom prst="roundRect">
            <a:avLst>
              <a:gd name="adj" fmla="val 16559"/>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650523" y="1472184"/>
            <a:ext cx="156630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КАРТОЧЕК С МАТЕРИАЛЬНОЙ ОШИБКОЙ</a:t>
            </a:r>
          </a:p>
        </p:txBody>
      </p:sp>
      <p:sp>
        <p:nvSpPr>
          <p:cNvPr id="14" name="TextBox 13"/>
          <p:cNvSpPr txBox="1"/>
          <p:nvPr/>
        </p:nvSpPr>
        <p:spPr>
          <a:xfrm>
            <a:off x="4650523" y="2140317"/>
            <a:ext cx="156630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2 500</a:t>
            </a:r>
          </a:p>
        </p:txBody>
      </p:sp>
      <p:sp>
        <p:nvSpPr>
          <p:cNvPr id="15" name="TextBox 14"/>
          <p:cNvSpPr txBox="1"/>
          <p:nvPr/>
        </p:nvSpPr>
        <p:spPr>
          <a:xfrm>
            <a:off x="4650523" y="2567316"/>
            <a:ext cx="156630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неверный габарит, совместимость, состав материала</a:t>
            </a:r>
          </a:p>
        </p:txBody>
      </p:sp>
      <p:sp>
        <p:nvSpPr>
          <p:cNvPr id="16" name="Rounded Rectangle 15"/>
          <p:cNvSpPr/>
          <p:nvPr/>
        </p:nvSpPr>
        <p:spPr>
          <a:xfrm>
            <a:off x="6518585" y="1335024"/>
            <a:ext cx="1840629" cy="2186135"/>
          </a:xfrm>
          <a:prstGeom prst="roundRect">
            <a:avLst>
              <a:gd name="adj" fmla="val 16559"/>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655745" y="1472184"/>
            <a:ext cx="1566309"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ПОИМКА ДО ПУБЛИКАЦИИ VS ПОСЛЕ</a:t>
            </a:r>
          </a:p>
        </p:txBody>
      </p:sp>
      <p:sp>
        <p:nvSpPr>
          <p:cNvPr id="18" name="TextBox 17"/>
          <p:cNvSpPr txBox="1"/>
          <p:nvPr/>
        </p:nvSpPr>
        <p:spPr>
          <a:xfrm>
            <a:off x="6655745" y="2140317"/>
            <a:ext cx="1566309"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редактор: минуты · возврат: на порядок дороже</a:t>
            </a:r>
          </a:p>
        </p:txBody>
      </p:sp>
      <p:sp>
        <p:nvSpPr>
          <p:cNvPr id="19" name="TextBox 18"/>
          <p:cNvSpPr txBox="1"/>
          <p:nvPr/>
        </p:nvSpPr>
        <p:spPr>
          <a:xfrm>
            <a:off x="6655745" y="2838915"/>
            <a:ext cx="1566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стоковая цена, иллюстративная</a:t>
            </a:r>
          </a:p>
        </p:txBody>
      </p:sp>
      <p:sp>
        <p:nvSpPr>
          <p:cNvPr id="20" name="Rounded Rectangle 19"/>
          <p:cNvSpPr/>
          <p:nvPr/>
        </p:nvSpPr>
        <p:spPr>
          <a:xfrm>
            <a:off x="374904" y="3612599"/>
            <a:ext cx="811232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704039"/>
            <a:ext cx="7783143"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 же логика на материале, не похожем на журналистику.</a:t>
            </a:r>
            <a:r>
              <a:rPr sz="1500" b="0" i="0">
                <a:solidFill>
                  <a:srgbClr val="21295C"/>
                </a:solidFill>
                <a:latin typeface="Arial"/>
              </a:rPr>
              <a:t> Генерация переводит написание текста в часы вместо месяцев — проверка не масштабируется так же.</a:t>
            </a:r>
          </a:p>
        </p:txBody>
      </p:sp>
      <p:sp>
        <p:nvSpPr>
          <p:cNvPr id="22" name="Rounded Rectangle 21"/>
          <p:cNvSpPr/>
          <p:nvPr/>
        </p:nvSpPr>
        <p:spPr>
          <a:xfrm>
            <a:off x="8670111" y="1335024"/>
            <a:ext cx="3018663" cy="4389120"/>
          </a:xfrm>
          <a:prstGeom prst="roundRect">
            <a:avLst>
              <a:gd name="adj" fmla="val 10097"/>
            </a:avLst>
          </a:prstGeom>
          <a:solidFill>
            <a:srgbClr val="F4F7FA"/>
          </a:solidFill>
          <a:ln w="19050">
            <a:solidFill>
              <a:srgbClr val="1C7293"/>
            </a:solidFill>
          </a:ln>
          <a:effectLst/>
        </p:spPr>
        <p:txBody>
          <a:bodyPr rtlCol="0" anchor="ctr"/>
          <a:lstStyle/>
          <a:p>
            <a:pPr algn="ctr"/>
          </a:p>
        </p:txBody>
      </p:sp>
      <p:pic>
        <p:nvPicPr>
          <p:cNvPr id="23" name="Picture 22" descr="s23-warehouse-boxes-shelves.jpg"/>
          <p:cNvPicPr>
            <a:picLocks noChangeAspect="1"/>
          </p:cNvPicPr>
          <p:nvPr/>
        </p:nvPicPr>
        <p:blipFill>
          <a:blip r:embed="rId2"/>
          <a:stretch>
            <a:fillRect/>
          </a:stretch>
        </p:blipFill>
        <p:spPr>
          <a:xfrm>
            <a:off x="8807271" y="1472184"/>
            <a:ext cx="2744343" cy="411480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иллюстративный расчёт по логике раздела, не кейс конкретной компании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CNET — цена ошибки, 53% AI-статей потребовали исправления</a:t>
            </a:r>
          </a:p>
        </p:txBody>
      </p:sp>
      <p:sp>
        <p:nvSpPr>
          <p:cNvPr id="4" name="Rounded Rectangle 3"/>
          <p:cNvSpPr/>
          <p:nvPr/>
        </p:nvSpPr>
        <p:spPr>
          <a:xfrm>
            <a:off x="502920" y="1335024"/>
            <a:ext cx="1747418" cy="2980184"/>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ПОТРЕБОВАЛИ ИСПРАВЛЕНИЯ</a:t>
            </a:r>
          </a:p>
        </p:txBody>
      </p:sp>
      <p:sp>
        <p:nvSpPr>
          <p:cNvPr id="6" name="TextBox 5"/>
          <p:cNvSpPr txBox="1"/>
          <p:nvPr/>
        </p:nvSpPr>
        <p:spPr>
          <a:xfrm>
            <a:off x="640080" y="1932846"/>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41 из 77 статей</a:t>
            </a:r>
          </a:p>
        </p:txBody>
      </p:sp>
      <p:sp>
        <p:nvSpPr>
          <p:cNvPr id="7" name="TextBox 6"/>
          <p:cNvSpPr txBox="1"/>
          <p:nvPr/>
        </p:nvSpPr>
        <p:spPr>
          <a:xfrm>
            <a:off x="640080" y="2750268"/>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53%, после публичного раскрытия AI-авторства</a:t>
            </a:r>
          </a:p>
        </p:txBody>
      </p:sp>
      <p:sp>
        <p:nvSpPr>
          <p:cNvPr id="8" name="Rounded Rectangle 7"/>
          <p:cNvSpPr/>
          <p:nvPr/>
        </p:nvSpPr>
        <p:spPr>
          <a:xfrm>
            <a:off x="2414930" y="1335024"/>
            <a:ext cx="1747418" cy="298018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ОБНАРУЖИЛ НЕ РЕДАКТОР, А СТОРОННИЙ НАБЛЮДАТЕЛЬ</a:t>
            </a:r>
          </a:p>
        </p:txBody>
      </p:sp>
      <p:sp>
        <p:nvSpPr>
          <p:cNvPr id="10" name="TextBox 9"/>
          <p:cNvSpPr txBox="1"/>
          <p:nvPr/>
        </p:nvSpPr>
        <p:spPr>
          <a:xfrm>
            <a:off x="2552090" y="2347789"/>
            <a:ext cx="1473098"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расследование Futurism</a:t>
            </a:r>
          </a:p>
        </p:txBody>
      </p:sp>
      <p:sp>
        <p:nvSpPr>
          <p:cNvPr id="11" name="TextBox 10"/>
          <p:cNvSpPr txBox="1"/>
          <p:nvPr/>
        </p:nvSpPr>
        <p:spPr>
          <a:xfrm>
            <a:off x="2552090" y="2876637"/>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необычная коллективная подпись без разыскиваемого человека</a:t>
            </a:r>
          </a:p>
        </p:txBody>
      </p:sp>
      <p:sp>
        <p:nvSpPr>
          <p:cNvPr id="12" name="Rounded Rectangle 11"/>
          <p:cNvSpPr/>
          <p:nvPr/>
        </p:nvSpPr>
        <p:spPr>
          <a:xfrm>
            <a:off x="4326940" y="1335024"/>
            <a:ext cx="1747418" cy="2980184"/>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875605"/>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БАЗОВЫЙ УРОВЕНЬ КЛАССИЧЕСКОЙ ЖУРНАЛИСТИКИ</a:t>
            </a:r>
          </a:p>
        </p:txBody>
      </p:sp>
      <p:sp>
        <p:nvSpPr>
          <p:cNvPr id="14" name="TextBox 13"/>
          <p:cNvSpPr txBox="1"/>
          <p:nvPr/>
        </p:nvSpPr>
        <p:spPr>
          <a:xfrm>
            <a:off x="4464100" y="2347789"/>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40–61% статей с ошибкой</a:t>
            </a:r>
          </a:p>
        </p:txBody>
      </p:sp>
      <p:sp>
        <p:nvSpPr>
          <p:cNvPr id="15" name="TextBox 14"/>
          <p:cNvSpPr txBox="1"/>
          <p:nvPr/>
        </p:nvSpPr>
        <p:spPr>
          <a:xfrm>
            <a:off x="4464100" y="2910587"/>
            <a:ext cx="1473098"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независимые аудиты; графа (б) — другая выборка и методология, не строгое сопоставление</a:t>
            </a:r>
          </a:p>
        </p:txBody>
      </p:sp>
      <p:sp>
        <p:nvSpPr>
          <p:cNvPr id="16" name="Rounded Rectangle 15"/>
          <p:cNvSpPr/>
          <p:nvPr/>
        </p:nvSpPr>
        <p:spPr>
          <a:xfrm>
            <a:off x="374904" y="5381244"/>
            <a:ext cx="11441887" cy="85496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472683"/>
            <a:ext cx="11112703" cy="76352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CNET публиковало финансово-объяснительные статьи под коллективной подписью «CNET Money Staff», написанные внутренним AI-движком, не раскрывая это читателю.</a:t>
            </a:r>
            <a:r>
              <a:rPr sz="1500" b="0" i="0">
                <a:solidFill>
                  <a:srgbClr val="21295C"/>
                </a:solidFill>
                <a:latin typeface="Arial"/>
              </a:rPr>
              <a:t> Обнаружило не редакция, а расследование Futurism.</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24-cnet-compound-interest-disclosure.pn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CNET/Futurism 2023</a:t>
            </a:r>
            <a:r>
              <a:rPr sz="1200" b="0" i="1">
                <a:solidFill>
                  <a:srgbClr val="1C7293"/>
                </a:solidFill>
                <a:latin typeface="Arial"/>
              </a:rPr>
              <a:t> · </a:t>
            </a:r>
            <a:r>
              <a:rPr sz="1200" b="0" i="1" u="sng">
                <a:solidFill>
                  <a:srgbClr val="065A82"/>
                </a:solidFill>
                <a:latin typeface="Arial"/>
                <a:hlinkClick r:id="rId3"/>
              </a:rPr>
              <a:t>Predictive Analytics World 2023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разбор: модель против режима, не против нуля</a:t>
            </a:r>
          </a:p>
        </p:txBody>
      </p:sp>
      <p:sp>
        <p:nvSpPr>
          <p:cNvPr id="4" name="Rounded Rectangle 3"/>
          <p:cNvSpPr/>
          <p:nvPr/>
        </p:nvSpPr>
        <p:spPr>
          <a:xfrm>
            <a:off x="502920" y="1335024"/>
            <a:ext cx="3618890" cy="1917365"/>
          </a:xfrm>
          <a:prstGeom prst="roundRect">
            <a:avLst>
              <a:gd name="adj" fmla="val 1589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53% И 40–61% — ОДИН ПОРЯДОК</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AI не ошибается чаще</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частота ошибок сопоставима с отраслевой нормой</a:t>
            </a:r>
          </a:p>
        </p:txBody>
      </p:sp>
      <p:sp>
        <p:nvSpPr>
          <p:cNvPr id="8" name="Rounded Rectangle 7"/>
          <p:cNvSpPr/>
          <p:nvPr/>
        </p:nvSpPr>
        <p:spPr>
          <a:xfrm>
            <a:off x="4286402" y="1335024"/>
            <a:ext cx="3618890" cy="1917365"/>
          </a:xfrm>
          <a:prstGeom prst="roundRect">
            <a:avLst>
              <a:gd name="adj" fmla="val 15896"/>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РАСКРЫТИЕ ВЫЗЫВАЕТ, А ЧАСТОТА ОШИБОК — НЕТ</a:t>
            </a:r>
          </a:p>
        </p:txBody>
      </p:sp>
      <p:sp>
        <p:nvSpPr>
          <p:cNvPr id="10" name="TextBox 9"/>
          <p:cNvSpPr txBox="1"/>
          <p:nvPr/>
        </p:nvSpPr>
        <p:spPr>
          <a:xfrm>
            <a:off x="4423562" y="1932846"/>
            <a:ext cx="3344570" cy="1182383"/>
          </a:xfrm>
          <a:prstGeom prst="rect">
            <a:avLst/>
          </a:prstGeom>
          <a:noFill/>
        </p:spPr>
        <p:txBody>
          <a:bodyPr wrap="square" lIns="0" rIns="0" tIns="0" bIns="0" anchor="t">
            <a:spAutoFit/>
          </a:bodyPr>
          <a:lstStyle/>
          <a:p>
            <a:pPr algn="l">
              <a:lnSpc>
                <a:spcPct val="108000"/>
              </a:lnSpc>
            </a:pPr>
            <a:r>
              <a:rPr sz="2250" b="1" i="0">
                <a:solidFill>
                  <a:srgbClr val="1C7293"/>
                </a:solidFill>
                <a:latin typeface="Arial"/>
              </a:rPr>
              <a:t>ревизия → публичные исправления → кадровые решения</a:t>
            </a:r>
          </a:p>
        </p:txBody>
      </p:sp>
      <p:sp>
        <p:nvSpPr>
          <p:cNvPr id="11" name="Rounded Rectangle 10"/>
          <p:cNvSpPr/>
          <p:nvPr/>
        </p:nvSpPr>
        <p:spPr>
          <a:xfrm>
            <a:off x="8069884" y="1335024"/>
            <a:ext cx="3618890" cy="1917365"/>
          </a:xfrm>
          <a:prstGeom prst="roundRect">
            <a:avLst>
              <a:gd name="adj" fmla="val 15896"/>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АРХИТЕКТУРА И ВЕНДОР ДВИЖКА</a:t>
            </a:r>
          </a:p>
        </p:txBody>
      </p:sp>
      <p:sp>
        <p:nvSpPr>
          <p:cNvPr id="13" name="TextBox 12"/>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раскрыты ни разу</a:t>
            </a:r>
          </a:p>
        </p:txBody>
      </p:sp>
      <p:sp>
        <p:nvSpPr>
          <p:cNvPr id="14" name="TextBox 13"/>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«внутренне разработанный инструмент» — без версии, без названия</a:t>
            </a:r>
          </a:p>
        </p:txBody>
      </p:sp>
      <p:sp>
        <p:nvSpPr>
          <p:cNvPr id="15" name="TextBox 14"/>
          <p:cNvSpPr txBox="1"/>
          <p:nvPr/>
        </p:nvSpPr>
        <p:spPr>
          <a:xfrm>
            <a:off x="502920" y="3471845"/>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CNET Money Staff</a:t>
            </a:r>
          </a:p>
        </p:txBody>
      </p:sp>
      <p:sp>
        <p:nvSpPr>
          <p:cNvPr id="16" name="Rounded Rectangle 15"/>
          <p:cNvSpPr/>
          <p:nvPr/>
        </p:nvSpPr>
        <p:spPr>
          <a:xfrm>
            <a:off x="1920240"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7" name="TextBox 16"/>
          <p:cNvSpPr txBox="1"/>
          <p:nvPr/>
        </p:nvSpPr>
        <p:spPr>
          <a:xfrm>
            <a:off x="2002536"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шаблонная финансовая тема</a:t>
            </a:r>
          </a:p>
        </p:txBody>
      </p:sp>
      <p:sp>
        <p:nvSpPr>
          <p:cNvPr id="18" name="Right Arrow 17"/>
          <p:cNvSpPr/>
          <p:nvPr/>
        </p:nvSpPr>
        <p:spPr>
          <a:xfrm>
            <a:off x="4202353" y="3723210"/>
            <a:ext cx="182880" cy="137160"/>
          </a:xfrm>
          <a:prstGeom prst="rightArrow">
            <a:avLst/>
          </a:prstGeom>
          <a:solidFill>
            <a:srgbClr val="1C7293"/>
          </a:solidFill>
          <a:ln>
            <a:noFill/>
          </a:ln>
          <a:effectLst/>
        </p:spPr>
        <p:txBody>
          <a:bodyPr rtlCol="0" anchor="ctr"/>
          <a:lstStyle/>
          <a:p>
            <a:pPr algn="ctr"/>
          </a:p>
        </p:txBody>
      </p:sp>
      <p:sp>
        <p:nvSpPr>
          <p:cNvPr id="19" name="Rounded Rectangle 18"/>
          <p:cNvSpPr/>
          <p:nvPr/>
        </p:nvSpPr>
        <p:spPr>
          <a:xfrm>
            <a:off x="4430953" y="3435269"/>
            <a:ext cx="2236393" cy="713041"/>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20" name="TextBox 19"/>
          <p:cNvSpPr txBox="1"/>
          <p:nvPr/>
        </p:nvSpPr>
        <p:spPr>
          <a:xfrm>
            <a:off x="4513249" y="3480989"/>
            <a:ext cx="2071801" cy="621601"/>
          </a:xfrm>
          <a:prstGeom prst="rect">
            <a:avLst/>
          </a:prstGeom>
          <a:noFill/>
        </p:spPr>
        <p:txBody>
          <a:bodyPr wrap="square" lIns="0" rIns="0" tIns="0" bIns="0" anchor="ctr">
            <a:spAutoFit/>
          </a:bodyPr>
          <a:lstStyle/>
          <a:p>
            <a:pPr algn="ctr">
              <a:lnSpc>
                <a:spcPct val="112000"/>
              </a:lnSpc>
            </a:pPr>
            <a:r>
              <a:rPr sz="1350" b="1" i="0">
                <a:solidFill>
                  <a:srgbClr val="21295C"/>
                </a:solidFill>
                <a:latin typeface="Arial"/>
              </a:rPr>
              <a:t>внутренний AI-движок, не раскрыт</a:t>
            </a:r>
          </a:p>
        </p:txBody>
      </p:sp>
      <p:sp>
        <p:nvSpPr>
          <p:cNvPr id="21" name="Right Arrow 20"/>
          <p:cNvSpPr/>
          <p:nvPr/>
        </p:nvSpPr>
        <p:spPr>
          <a:xfrm>
            <a:off x="6713067" y="3723210"/>
            <a:ext cx="182880" cy="137160"/>
          </a:xfrm>
          <a:prstGeom prst="rightArrow">
            <a:avLst/>
          </a:prstGeom>
          <a:solidFill>
            <a:srgbClr val="1C7293"/>
          </a:solidFill>
          <a:ln>
            <a:noFill/>
          </a:ln>
          <a:effectLst/>
        </p:spPr>
        <p:txBody>
          <a:bodyPr rtlCol="0" anchor="ctr"/>
          <a:lstStyle/>
          <a:p>
            <a:pPr algn="ctr"/>
          </a:p>
        </p:txBody>
      </p:sp>
      <p:sp>
        <p:nvSpPr>
          <p:cNvPr id="22" name="Rounded Rectangle 21"/>
          <p:cNvSpPr/>
          <p:nvPr/>
        </p:nvSpPr>
        <p:spPr>
          <a:xfrm>
            <a:off x="6941667"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3" name="TextBox 22"/>
          <p:cNvSpPr txBox="1"/>
          <p:nvPr/>
        </p:nvSpPr>
        <p:spPr>
          <a:xfrm>
            <a:off x="7023963"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статья</a:t>
            </a:r>
          </a:p>
        </p:txBody>
      </p:sp>
      <p:sp>
        <p:nvSpPr>
          <p:cNvPr id="24" name="Right Arrow 23"/>
          <p:cNvSpPr/>
          <p:nvPr/>
        </p:nvSpPr>
        <p:spPr>
          <a:xfrm>
            <a:off x="9223781" y="3723210"/>
            <a:ext cx="182880" cy="137160"/>
          </a:xfrm>
          <a:prstGeom prst="rightArrow">
            <a:avLst/>
          </a:prstGeom>
          <a:solidFill>
            <a:srgbClr val="1C7293"/>
          </a:solidFill>
          <a:ln>
            <a:noFill/>
          </a:ln>
          <a:effectLst/>
        </p:spPr>
        <p:txBody>
          <a:bodyPr rtlCol="0" anchor="ctr"/>
          <a:lstStyle/>
          <a:p>
            <a:pPr algn="ctr"/>
          </a:p>
        </p:txBody>
      </p:sp>
      <p:sp>
        <p:nvSpPr>
          <p:cNvPr id="25" name="Rounded Rectangle 24"/>
          <p:cNvSpPr/>
          <p:nvPr/>
        </p:nvSpPr>
        <p:spPr>
          <a:xfrm>
            <a:off x="9452381" y="3435269"/>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6" name="TextBox 25"/>
          <p:cNvSpPr txBox="1"/>
          <p:nvPr/>
        </p:nvSpPr>
        <p:spPr>
          <a:xfrm>
            <a:off x="9534677" y="3480989"/>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коллективная подпись</a:t>
            </a:r>
          </a:p>
        </p:txBody>
      </p:sp>
      <p:sp>
        <p:nvSpPr>
          <p:cNvPr id="27" name="TextBox 26"/>
          <p:cNvSpPr txBox="1"/>
          <p:nvPr/>
        </p:nvSpPr>
        <p:spPr>
          <a:xfrm>
            <a:off x="502920" y="4184887"/>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и выход устройства, которое индустрия так и не увидела</a:t>
            </a:r>
          </a:p>
        </p:txBody>
      </p:sp>
      <p:sp>
        <p:nvSpPr>
          <p:cNvPr id="28" name="Rounded Rectangle 27"/>
          <p:cNvSpPr/>
          <p:nvPr/>
        </p:nvSpPr>
        <p:spPr>
          <a:xfrm>
            <a:off x="374904" y="4487571"/>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9" name="TextBox 28"/>
          <p:cNvSpPr txBox="1"/>
          <p:nvPr/>
        </p:nvSpPr>
        <p:spPr>
          <a:xfrm>
            <a:off x="539496" y="4579011"/>
            <a:ext cx="11112703" cy="165719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Если отнестись к числам буквально: 53% и 40–61% — одного порядка.</a:t>
            </a:r>
            <a:r>
              <a:rPr sz="1500" b="0" i="0">
                <a:solidFill>
                  <a:srgbClr val="21295C"/>
                </a:solidFill>
                <a:latin typeface="Arial"/>
              </a:rPr>
              <a:t> Разница не в том, что модель хуже справляется с фактами, а в том, что раскрытие AI-авторства вызвало реакцию, которую та же частота ошибок у штатного журналиста почти никогда не вызывает.</a:t>
            </a:r>
          </a:p>
        </p:txBody>
      </p:sp>
      <p:sp>
        <p:nvSpPr>
          <p:cNvPr id="30" name="Rectangle 2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31" name="TextBox 3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CNET/Futurism 2023</a:t>
            </a:r>
            <a:r>
              <a:rPr sz="1200" b="0" i="1">
                <a:solidFill>
                  <a:srgbClr val="1C7293"/>
                </a:solidFill>
                <a:latin typeface="Arial"/>
              </a:rPr>
              <a:t> · </a:t>
            </a:r>
            <a:r>
              <a:rPr sz="1200" b="0" i="1">
                <a:solidFill>
                  <a:srgbClr val="1C7293"/>
                </a:solidFill>
                <a:latin typeface="Arial"/>
              </a:rPr>
              <a:t>заявления CNET для прессы 2023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CNET, что переехало: увольнения и подорванное доверие</a:t>
            </a:r>
          </a:p>
        </p:txBody>
      </p:sp>
      <p:sp>
        <p:nvSpPr>
          <p:cNvPr id="4" name="Rounded Rectangle 3"/>
          <p:cNvSpPr/>
          <p:nvPr/>
        </p:nvSpPr>
        <p:spPr>
          <a:xfrm>
            <a:off x="502920" y="1335024"/>
            <a:ext cx="2082698" cy="2605793"/>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УВОЛЕНО В ТЕЧЕНИЕ НЕДЕЛЬ</a:t>
            </a:r>
          </a:p>
        </p:txBody>
      </p:sp>
      <p:sp>
        <p:nvSpPr>
          <p:cNvPr id="6" name="TextBox 5"/>
          <p:cNvSpPr txBox="1"/>
          <p:nvPr/>
        </p:nvSpPr>
        <p:spPr>
          <a:xfrm>
            <a:off x="640080" y="1932846"/>
            <a:ext cx="180837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штата</a:t>
            </a:r>
          </a:p>
        </p:txBody>
      </p:sp>
      <p:sp>
        <p:nvSpPr>
          <p:cNvPr id="7" name="TextBox 6"/>
          <p:cNvSpPr txBox="1"/>
          <p:nvPr/>
        </p:nvSpPr>
        <p:spPr>
          <a:xfrm>
            <a:off x="640080" y="2359845"/>
            <a:ext cx="18083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прямая причинно-следственная связь с AI-скандалом официально не признана</a:t>
            </a:r>
          </a:p>
        </p:txBody>
      </p:sp>
      <p:sp>
        <p:nvSpPr>
          <p:cNvPr id="8" name="Rounded Rectangle 7"/>
          <p:cNvSpPr/>
          <p:nvPr/>
        </p:nvSpPr>
        <p:spPr>
          <a:xfrm>
            <a:off x="2750210" y="1335024"/>
            <a:ext cx="2082698" cy="2605793"/>
          </a:xfrm>
          <a:prstGeom prst="roundRect">
            <a:avLst>
              <a:gd name="adj" fmla="val 1463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887370" y="1472184"/>
            <a:ext cx="18083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ПОДОРВАНО, НЕ ИЗМЕРЕНО ЧИСЛОМ</a:t>
            </a:r>
          </a:p>
        </p:txBody>
      </p:sp>
      <p:sp>
        <p:nvSpPr>
          <p:cNvPr id="10" name="TextBox 9"/>
          <p:cNvSpPr txBox="1"/>
          <p:nvPr/>
        </p:nvSpPr>
        <p:spPr>
          <a:xfrm>
            <a:off x="2887370" y="1932846"/>
            <a:ext cx="1808378" cy="647673"/>
          </a:xfrm>
          <a:prstGeom prst="rect">
            <a:avLst/>
          </a:prstGeom>
          <a:noFill/>
        </p:spPr>
        <p:txBody>
          <a:bodyPr wrap="square" lIns="0" rIns="0" tIns="0" bIns="0" anchor="t">
            <a:spAutoFit/>
          </a:bodyPr>
          <a:lstStyle/>
          <a:p>
            <a:pPr algn="l">
              <a:lnSpc>
                <a:spcPct val="108000"/>
              </a:lnSpc>
            </a:pPr>
            <a:r>
              <a:rPr sz="1200" b="1" i="0">
                <a:solidFill>
                  <a:srgbClr val="1C7293"/>
                </a:solidFill>
                <a:latin typeface="Arial"/>
              </a:rPr>
              <a:t>доверие к «именованному автору» как институту</a:t>
            </a:r>
          </a:p>
        </p:txBody>
      </p:sp>
      <p:sp>
        <p:nvSpPr>
          <p:cNvPr id="11" name="Rounded Rectangle 10"/>
          <p:cNvSpPr/>
          <p:nvPr/>
        </p:nvSpPr>
        <p:spPr>
          <a:xfrm>
            <a:off x="4997500" y="1335024"/>
            <a:ext cx="2082698" cy="2605793"/>
          </a:xfrm>
          <a:prstGeom prst="roundRect">
            <a:avLst>
              <a:gd name="adj" fmla="val 14634"/>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5134660" y="1472184"/>
            <a:ext cx="180837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КАКОЙ СПОСОБ, СКОРЕЕ ВСЕГО, БЫЛ ПРОПУЩЕН</a:t>
            </a:r>
          </a:p>
        </p:txBody>
      </p:sp>
      <p:sp>
        <p:nvSpPr>
          <p:cNvPr id="13" name="TextBox 12"/>
          <p:cNvSpPr txBox="1"/>
          <p:nvPr/>
        </p:nvSpPr>
        <p:spPr>
          <a:xfrm>
            <a:off x="5134660" y="2140317"/>
            <a:ext cx="1808378" cy="1029608"/>
          </a:xfrm>
          <a:prstGeom prst="rect">
            <a:avLst/>
          </a:prstGeom>
          <a:noFill/>
        </p:spPr>
        <p:txBody>
          <a:bodyPr wrap="square" lIns="0" rIns="0" tIns="0" bIns="0" anchor="t">
            <a:spAutoFit/>
          </a:bodyPr>
          <a:lstStyle/>
          <a:p>
            <a:pPr algn="l">
              <a:lnSpc>
                <a:spcPct val="108000"/>
              </a:lnSpc>
            </a:pPr>
            <a:r>
              <a:rPr sz="1950" b="1" i="0">
                <a:solidFill>
                  <a:srgbClr val="21295C"/>
                </a:solidFill>
                <a:latin typeface="Arial"/>
              </a:rPr>
              <a:t>фактчекинг — независимый пересчёт</a:t>
            </a:r>
          </a:p>
        </p:txBody>
      </p:sp>
      <p:sp>
        <p:nvSpPr>
          <p:cNvPr id="14" name="TextBox 13"/>
          <p:cNvSpPr txBox="1"/>
          <p:nvPr/>
        </p:nvSpPr>
        <p:spPr>
          <a:xfrm>
            <a:off x="5134660" y="3169926"/>
            <a:ext cx="18083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читка применялась, подписи не было, значит пропуск здесь</a:t>
            </a:r>
          </a:p>
        </p:txBody>
      </p:sp>
      <p:sp>
        <p:nvSpPr>
          <p:cNvPr id="15" name="Rounded Rectangle 14"/>
          <p:cNvSpPr/>
          <p:nvPr/>
        </p:nvSpPr>
        <p:spPr>
          <a:xfrm>
            <a:off x="374904" y="4292422"/>
            <a:ext cx="11441887" cy="1943785"/>
          </a:xfrm>
          <a:prstGeom prst="roundRect">
            <a:avLst>
              <a:gd name="adj" fmla="val 15680"/>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4383862"/>
            <a:ext cx="11112703" cy="1852345"/>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CNET уволило ≈10% штата в течение недель после скандала</a:t>
            </a:r>
            <a:r>
              <a:rPr sz="1500" b="0" i="0">
                <a:solidFill>
                  <a:srgbClr val="21295C"/>
                </a:solidFill>
                <a:latin typeface="Arial"/>
              </a:rPr>
              <a:t> — связь с AI-историей официально не признана. </a:t>
            </a:r>
            <a:r>
              <a:rPr sz="1500" b="1" i="0">
                <a:solidFill>
                  <a:srgbClr val="21295C"/>
                </a:solidFill>
                <a:latin typeface="Arial"/>
              </a:rPr>
              <a:t>Какой способ проверки пропущен?</a:t>
            </a:r>
            <a:r>
              <a:rPr sz="1500" b="0" i="0">
                <a:solidFill>
                  <a:srgbClr val="21295C"/>
                </a:solidFill>
                <a:latin typeface="Arial"/>
              </a:rPr>
              <a:t> Не читка и не сверка подписи — фактчекинг: независимый пересчёт сам решил бы проблему.</a:t>
            </a:r>
          </a:p>
        </p:txBody>
      </p:sp>
      <p:sp>
        <p:nvSpPr>
          <p:cNvPr id="17" name="Rounded Rectangle 16"/>
          <p:cNvSpPr/>
          <p:nvPr/>
        </p:nvSpPr>
        <p:spPr>
          <a:xfrm>
            <a:off x="7391095" y="1335024"/>
            <a:ext cx="4297680" cy="2957398"/>
          </a:xfrm>
          <a:prstGeom prst="roundRect">
            <a:avLst>
              <a:gd name="adj" fmla="val 10306"/>
            </a:avLst>
          </a:prstGeom>
          <a:solidFill>
            <a:srgbClr val="F4F7FA"/>
          </a:solidFill>
          <a:ln w="19050">
            <a:solidFill>
              <a:srgbClr val="1C7293"/>
            </a:solidFill>
          </a:ln>
          <a:effectLst/>
        </p:spPr>
        <p:txBody>
          <a:bodyPr rtlCol="0" anchor="ctr"/>
          <a:lstStyle/>
          <a:p>
            <a:pPr algn="ctr"/>
          </a:p>
        </p:txBody>
      </p:sp>
      <p:pic>
        <p:nvPicPr>
          <p:cNvPr id="18" name="Picture 17" descr="s26-empty-office-desks.jpg"/>
          <p:cNvPicPr>
            <a:picLocks noChangeAspect="1"/>
          </p:cNvPicPr>
          <p:nvPr/>
        </p:nvPicPr>
        <p:blipFill>
          <a:blip r:embed="rId2"/>
          <a:stretch>
            <a:fillRect/>
          </a:stretch>
        </p:blipFill>
        <p:spPr>
          <a:xfrm>
            <a:off x="7528255" y="1472184"/>
            <a:ext cx="4023360" cy="2683078"/>
          </a:xfrm>
          <a:prstGeom prst="rect">
            <a:avLst/>
          </a:prstGeom>
        </p:spPr>
      </p:pic>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TheWrap 2023</a:t>
            </a:r>
            <a:r>
              <a:rPr sz="1200" b="0" i="1">
                <a:solidFill>
                  <a:srgbClr val="1C7293"/>
                </a:solidFill>
                <a:latin typeface="Arial"/>
              </a:rPr>
              <a:t> · </a:t>
            </a:r>
            <a:r>
              <a:rPr sz="1200" b="0" i="1">
                <a:solidFill>
                  <a:srgbClr val="1C7293"/>
                </a:solidFill>
                <a:latin typeface="Arial"/>
              </a:rPr>
              <a:t>CNET/Futurism 2023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Упоминание: Sports Illustrated — совпадение по времени, не доказанная причина</a:t>
            </a:r>
          </a:p>
        </p:txBody>
      </p:sp>
      <p:sp>
        <p:nvSpPr>
          <p:cNvPr id="4" name="Rounded Rectangle 3"/>
          <p:cNvSpPr/>
          <p:nvPr/>
        </p:nvSpPr>
        <p:spPr>
          <a:xfrm>
            <a:off x="502920" y="1335024"/>
            <a:ext cx="1747418" cy="281609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УВОЛЕННЫХ СОТРУДНИКОВ ПОСЛЕ СКАНДАЛА</a:t>
            </a:r>
          </a:p>
        </p:txBody>
      </p:sp>
      <p:sp>
        <p:nvSpPr>
          <p:cNvPr id="6" name="TextBox 5"/>
          <p:cNvSpPr txBox="1"/>
          <p:nvPr/>
        </p:nvSpPr>
        <p:spPr>
          <a:xfrm>
            <a:off x="64008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≈100 человек</a:t>
            </a:r>
          </a:p>
        </p:txBody>
      </p:sp>
      <p:sp>
        <p:nvSpPr>
          <p:cNvPr id="7" name="TextBox 6"/>
          <p:cNvSpPr txBox="1"/>
          <p:nvPr/>
        </p:nvSpPr>
        <p:spPr>
          <a:xfrm>
            <a:off x="640080" y="2957740"/>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плюс два руководителя сразу, затем генеральный директор</a:t>
            </a:r>
          </a:p>
        </p:txBody>
      </p:sp>
      <p:sp>
        <p:nvSpPr>
          <p:cNvPr id="8" name="Rounded Rectangle 7"/>
          <p:cNvSpPr/>
          <p:nvPr/>
        </p:nvSpPr>
        <p:spPr>
          <a:xfrm>
            <a:off x="2414930" y="1335024"/>
            <a:ext cx="1747418" cy="2816093"/>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ПАДЕНИЕ АКЦИЙ МАТЕРИНСКОЙ КОМПАНИИ</a:t>
            </a:r>
          </a:p>
        </p:txBody>
      </p:sp>
      <p:sp>
        <p:nvSpPr>
          <p:cNvPr id="10" name="TextBox 9"/>
          <p:cNvSpPr txBox="1"/>
          <p:nvPr/>
        </p:nvSpPr>
        <p:spPr>
          <a:xfrm>
            <a:off x="255209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28–33,6% за день</a:t>
            </a:r>
          </a:p>
        </p:txBody>
      </p:sp>
      <p:sp>
        <p:nvSpPr>
          <p:cNvPr id="11" name="TextBox 10"/>
          <p:cNvSpPr txBox="1"/>
          <p:nvPr/>
        </p:nvSpPr>
        <p:spPr>
          <a:xfrm>
            <a:off x="2552090" y="2957740"/>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AwfulAnnouncing 2023–2024</a:t>
            </a:r>
          </a:p>
        </p:txBody>
      </p:sp>
      <p:sp>
        <p:nvSpPr>
          <p:cNvPr id="12" name="Rounded Rectangle 11"/>
          <p:cNvSpPr/>
          <p:nvPr/>
        </p:nvSpPr>
        <p:spPr>
          <a:xfrm>
            <a:off x="4326940" y="1335024"/>
            <a:ext cx="1747418" cy="2816093"/>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ОФИЦИАЛЬНАЯ ПРИЧИНА ОТЗЫВА ЛИЦЕНЗИИ</a:t>
            </a:r>
          </a:p>
        </p:txBody>
      </p:sp>
      <p:sp>
        <p:nvSpPr>
          <p:cNvPr id="14" name="TextBox 13"/>
          <p:cNvSpPr txBox="1"/>
          <p:nvPr/>
        </p:nvSpPr>
        <p:spPr>
          <a:xfrm>
            <a:off x="4464100" y="2140317"/>
            <a:ext cx="1473098"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пропущенный платёж</a:t>
            </a:r>
          </a:p>
        </p:txBody>
      </p:sp>
      <p:sp>
        <p:nvSpPr>
          <p:cNvPr id="15" name="TextBox 14"/>
          <p:cNvSpPr txBox="1"/>
          <p:nvPr/>
        </p:nvSpPr>
        <p:spPr>
          <a:xfrm>
            <a:off x="4464100" y="2703116"/>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AI-скандал напрямую — по заявлению правообладателя ABG</a:t>
            </a:r>
          </a:p>
        </p:txBody>
      </p:sp>
      <p:sp>
        <p:nvSpPr>
          <p:cNvPr id="16" name="Rounded Rectangle 15"/>
          <p:cNvSpPr/>
          <p:nvPr/>
        </p:nvSpPr>
        <p:spPr>
          <a:xfrm>
            <a:off x="374904" y="4242557"/>
            <a:ext cx="11441887"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333997"/>
            <a:ext cx="11112703" cy="190221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Расследование Futurism нашло статьи за подписью несуществующих авторов с AI-сгенерированными фото профилей.</a:t>
            </a:r>
            <a:r>
              <a:rPr sz="1500" b="0" i="0">
                <a:solidFill>
                  <a:srgbClr val="21295C"/>
                </a:solidFill>
                <a:latin typeface="Arial"/>
              </a:rPr>
              <a:t> Arena Group отрицала, что текст писала модель. Уволенный CEO Росс Левинсон подал иск на $20–40 млн, утверждая месть за попытку остановить злоупотребления — причинность по всей цепочке совпадений не доказана.</a:t>
            </a:r>
          </a:p>
        </p:txBody>
      </p:sp>
      <p:sp>
        <p:nvSpPr>
          <p:cNvPr id="18" name="Rounded Rectangle 17"/>
          <p:cNvSpPr/>
          <p:nvPr/>
        </p:nvSpPr>
        <p:spPr>
          <a:xfrm>
            <a:off x="6385255" y="1335024"/>
            <a:ext cx="5303520" cy="2040202"/>
          </a:xfrm>
          <a:prstGeom prst="roundRect">
            <a:avLst>
              <a:gd name="adj" fmla="val 14939"/>
            </a:avLst>
          </a:prstGeom>
          <a:solidFill>
            <a:srgbClr val="F4F7FA"/>
          </a:solidFill>
          <a:ln w="19050">
            <a:solidFill>
              <a:srgbClr val="1C7293"/>
            </a:solidFill>
          </a:ln>
          <a:effectLst/>
        </p:spPr>
        <p:txBody>
          <a:bodyPr rtlCol="0" anchor="ctr"/>
          <a:lstStyle/>
          <a:p>
            <a:pPr algn="ctr"/>
          </a:p>
        </p:txBody>
      </p:sp>
      <p:pic>
        <p:nvPicPr>
          <p:cNvPr id="19" name="Picture 18" descr="s27-sports-illustrated-drew-ortiz.jpg"/>
          <p:cNvPicPr>
            <a:picLocks noChangeAspect="1"/>
          </p:cNvPicPr>
          <p:nvPr/>
        </p:nvPicPr>
        <p:blipFill>
          <a:blip r:embed="rId2"/>
          <a:stretch>
            <a:fillRect/>
          </a:stretch>
        </p:blipFill>
        <p:spPr>
          <a:xfrm>
            <a:off x="6522415" y="1472184"/>
            <a:ext cx="5029200" cy="1765882"/>
          </a:xfrm>
          <a:prstGeom prst="rect">
            <a:avLst/>
          </a:prstGeom>
        </p:spPr>
      </p:pic>
      <p:sp>
        <p:nvSpPr>
          <p:cNvPr id="20" name="Rectangle 19"/>
          <p:cNvSpPr/>
          <p:nvPr/>
        </p:nvSpPr>
        <p:spPr>
          <a:xfrm>
            <a:off x="502920" y="78624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CBS News 2023</a:t>
            </a:r>
            <a:r>
              <a:rPr sz="1200" b="0" i="1">
                <a:solidFill>
                  <a:srgbClr val="1C7293"/>
                </a:solidFill>
                <a:latin typeface="Arial"/>
              </a:rPr>
              <a:t> · </a:t>
            </a:r>
            <a:r>
              <a:rPr sz="1200" b="0" i="1">
                <a:solidFill>
                  <a:srgbClr val="1C7293"/>
                </a:solidFill>
                <a:latin typeface="Arial"/>
              </a:rPr>
              <a:t>Futurism 2023</a:t>
            </a:r>
            <a:r>
              <a:rPr sz="1200" b="0" i="1">
                <a:solidFill>
                  <a:srgbClr val="1C7293"/>
                </a:solidFill>
                <a:latin typeface="Arial"/>
              </a:rPr>
              <a:t> · </a:t>
            </a:r>
            <a:r>
              <a:rPr sz="1200" b="0" i="1">
                <a:solidFill>
                  <a:srgbClr val="1C7293"/>
                </a:solidFill>
                <a:latin typeface="Arial"/>
              </a:rPr>
              <a:t>NBC News, MediaPost 2024</a:t>
            </a:r>
            <a:r>
              <a:rPr sz="1200" b="0" i="1">
                <a:solidFill>
                  <a:srgbClr val="1C7293"/>
                </a:solidFill>
                <a:latin typeface="Arial"/>
              </a:rPr>
              <a:t> · </a:t>
            </a:r>
            <a:r>
              <a:rPr sz="1200" b="0" i="1">
                <a:solidFill>
                  <a:srgbClr val="1C7293"/>
                </a:solidFill>
                <a:latin typeface="Arial"/>
              </a:rPr>
              <a:t>Deadline, Sportico 2024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нагрузка переехала на внешнее расследование</a:t>
            </a:r>
          </a:p>
        </p:txBody>
      </p:sp>
      <p:sp>
        <p:nvSpPr>
          <p:cNvPr id="4" name="Rounded Rectangle 3"/>
          <p:cNvSpPr/>
          <p:nvPr/>
        </p:nvSpPr>
        <p:spPr>
          <a:xfrm>
            <a:off x="502920"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CNET: ЧАСТОТА ОШИБОК — НЕ ХУЖЕ НОРМЫ</a:t>
            </a:r>
          </a:p>
        </p:txBody>
      </p:sp>
      <p:sp>
        <p:nvSpPr>
          <p:cNvPr id="6" name="TextBox 5"/>
          <p:cNvSpPr txBox="1"/>
          <p:nvPr/>
        </p:nvSpPr>
        <p:spPr>
          <a:xfrm>
            <a:off x="640080" y="1932846"/>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 ≈ 40–61%</a:t>
            </a:r>
          </a:p>
        </p:txBody>
      </p:sp>
      <p:sp>
        <p:nvSpPr>
          <p:cNvPr id="7" name="TextBox 6"/>
          <p:cNvSpPr txBox="1"/>
          <p:nvPr/>
        </p:nvSpPr>
        <p:spPr>
          <a:xfrm>
            <a:off x="640080" y="2359845"/>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хуже — реакция на раскрытие, не на качество</a:t>
            </a:r>
          </a:p>
        </p:txBody>
      </p:sp>
      <p:sp>
        <p:nvSpPr>
          <p:cNvPr id="8" name="Rounded Rectangle 7"/>
          <p:cNvSpPr/>
          <p:nvPr/>
        </p:nvSpPr>
        <p:spPr>
          <a:xfrm>
            <a:off x="4286402" y="1335024"/>
            <a:ext cx="3618890"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SPORTS ILLUSTRATED: ПРИЧИНА НАЗВАНА ДРУГАЯ</a:t>
            </a:r>
          </a:p>
        </p:txBody>
      </p:sp>
      <p:sp>
        <p:nvSpPr>
          <p:cNvPr id="10" name="TextBox 9"/>
          <p:cNvSpPr txBox="1"/>
          <p:nvPr/>
        </p:nvSpPr>
        <p:spPr>
          <a:xfrm>
            <a:off x="4423562" y="1932846"/>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пропущенный платёж, не AI-скандал</a:t>
            </a:r>
          </a:p>
        </p:txBody>
      </p:sp>
      <p:sp>
        <p:nvSpPr>
          <p:cNvPr id="11" name="TextBox 10"/>
          <p:cNvSpPr txBox="1"/>
          <p:nvPr/>
        </p:nvSpPr>
        <p:spPr>
          <a:xfrm>
            <a:off x="4423562" y="2750268"/>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совпадение по времени — не доказанная причина</a:t>
            </a:r>
          </a:p>
        </p:txBody>
      </p:sp>
      <p:sp>
        <p:nvSpPr>
          <p:cNvPr id="12" name="Rounded Rectangle 11"/>
          <p:cNvSpPr/>
          <p:nvPr/>
        </p:nvSpPr>
        <p:spPr>
          <a:xfrm>
            <a:off x="8069884" y="1335024"/>
            <a:ext cx="3618890"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ЧТО ПЕРЕЕХАЛО В ОБОИХ СЛУЧАЯХ</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проверка — изнутри наружу</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редактора до публикации к расследованию после неё</a:t>
            </a:r>
          </a:p>
        </p:txBody>
      </p:sp>
      <p:sp>
        <p:nvSpPr>
          <p:cNvPr id="16" name="Rounded Rectangle 15"/>
          <p:cNvSpPr/>
          <p:nvPr/>
        </p:nvSpPr>
        <p:spPr>
          <a:xfrm>
            <a:off x="502920" y="3492795"/>
            <a:ext cx="5437479" cy="1972474"/>
          </a:xfrm>
          <a:prstGeom prst="roundRect">
            <a:avLst>
              <a:gd name="adj" fmla="val 1545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648243"/>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раньше гарантировала подпись бесплатно</a:t>
            </a:r>
          </a:p>
        </p:txBody>
      </p:sp>
      <p:sp>
        <p:nvSpPr>
          <p:cNvPr id="18" name="TextBox 17"/>
          <p:cNvSpPr txBox="1"/>
          <p:nvPr/>
        </p:nvSpPr>
        <p:spPr>
          <a:xfrm>
            <a:off x="667512" y="4004422"/>
            <a:ext cx="5108295" cy="1305399"/>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текст физически написан конкретным человеком</a:t>
            </a:r>
          </a:p>
          <a:p>
            <a:pPr algn="l">
              <a:lnSpc>
                <a:spcPct val="126000"/>
              </a:lnSpc>
            </a:pPr>
            <a:r>
              <a:rPr sz="1450" b="0" i="0">
                <a:solidFill>
                  <a:srgbClr val="21295C"/>
                </a:solidFill>
                <a:latin typeface="Arial"/>
              </a:rPr>
              <a:t>• этот человек рискует личной репутацией</a:t>
            </a:r>
          </a:p>
          <a:p>
            <a:pPr algn="l">
              <a:lnSpc>
                <a:spcPct val="126000"/>
              </a:lnSpc>
            </a:pPr>
            <a:r>
              <a:rPr sz="1450" b="0" i="0">
                <a:solidFill>
                  <a:srgbClr val="21295C"/>
                </a:solidFill>
                <a:latin typeface="Arial"/>
              </a:rPr>
              <a:t>• издание считает текст достаточно качественным для узнаваемого имени</a:t>
            </a:r>
          </a:p>
        </p:txBody>
      </p:sp>
      <p:sp>
        <p:nvSpPr>
          <p:cNvPr id="19" name="Rounded Rectangle 18"/>
          <p:cNvSpPr/>
          <p:nvPr/>
        </p:nvSpPr>
        <p:spPr>
          <a:xfrm>
            <a:off x="6251295" y="3492795"/>
            <a:ext cx="5437479" cy="1972474"/>
          </a:xfrm>
          <a:prstGeom prst="roundRect">
            <a:avLst>
              <a:gd name="adj" fmla="val 15452"/>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648243"/>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осталось от гарантии после раскрытия</a:t>
            </a:r>
          </a:p>
        </p:txBody>
      </p:sp>
      <p:sp>
        <p:nvSpPr>
          <p:cNvPr id="21" name="TextBox 20"/>
          <p:cNvSpPr txBox="1"/>
          <p:nvPr/>
        </p:nvSpPr>
        <p:spPr>
          <a:xfrm>
            <a:off x="6415887" y="4004422"/>
            <a:ext cx="5108295" cy="1305399"/>
          </a:xfrm>
          <a:prstGeom prst="rect">
            <a:avLst/>
          </a:prstGeom>
          <a:noFill/>
        </p:spPr>
        <p:txBody>
          <a:bodyPr wrap="square" lIns="0" rIns="0" tIns="0" bIns="0" anchor="t">
            <a:spAutoFit/>
          </a:bodyPr>
          <a:lstStyle/>
          <a:p>
            <a:pPr algn="l">
              <a:lnSpc>
                <a:spcPct val="126000"/>
              </a:lnSpc>
            </a:pPr>
            <a:r>
              <a:rPr sz="1350" b="0" i="0">
                <a:solidFill>
                  <a:srgbClr val="21295C"/>
                </a:solidFill>
                <a:latin typeface="Arial"/>
              </a:rPr>
              <a:t>• форма сигнала — та же, имя на месте</a:t>
            </a:r>
          </a:p>
          <a:p>
            <a:pPr algn="l">
              <a:lnSpc>
                <a:spcPct val="126000"/>
              </a:lnSpc>
            </a:pPr>
            <a:r>
              <a:rPr sz="1350" b="0" i="0">
                <a:solidFill>
                  <a:srgbClr val="21295C"/>
                </a:solidFill>
                <a:latin typeface="Arial"/>
              </a:rPr>
              <a:t>• содержание — нет: никто не рискует репутацией за коллектив</a:t>
            </a:r>
          </a:p>
          <a:p>
            <a:pPr algn="l">
              <a:lnSpc>
                <a:spcPct val="126000"/>
              </a:lnSpc>
            </a:pPr>
            <a:r>
              <a:rPr sz="1350" b="0" i="0">
                <a:solidFill>
                  <a:srgbClr val="21295C"/>
                </a:solidFill>
                <a:latin typeface="Arial"/>
              </a:rPr>
              <a:t>• гарантию теперь обеспечивает только тот, кто решит её обеспечить явно</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Нагрузка по верификации переехала с института внутри редакции на внешнее расследование.</a:t>
            </a:r>
            <a:r>
              <a:rPr sz="1450" b="0" i="0">
                <a:solidFill>
                  <a:srgbClr val="21295C"/>
                </a:solidFill>
                <a:latin typeface="Arial"/>
              </a:rPr>
              <a:t> Раскрытие AI-авторства само стало триггером кризиса доверия.</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29-cinema-audience-screen.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3. Релиз и приём аудиторией</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942848"/>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Материал прошёл проверку (или не прошёл — Раздел 2). Дальше он становится публичным, и узнавание переходит на сторону аудитории.</a:t>
            </a:r>
          </a:p>
        </p:txBody>
      </p:sp>
      <p:sp>
        <p:nvSpPr>
          <p:cNvPr id="9" name="TextBox 8"/>
          <p:cNvSpPr txBox="1"/>
          <p:nvPr/>
        </p:nvSpPr>
        <p:spPr>
          <a:xfrm>
            <a:off x="704088" y="2915422"/>
            <a:ext cx="5742432" cy="640757"/>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Пример: Coca-Cola / Toys «R» Us — тональность упала после раскрытия</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Релиз и приём аудиторией: что проверяют до и после выхода</a:t>
            </a:r>
          </a:p>
        </p:txBody>
      </p:sp>
      <p:sp>
        <p:nvSpPr>
          <p:cNvPr id="4" name="Rounded Rectangle 3"/>
          <p:cNvSpPr/>
          <p:nvPr/>
        </p:nvSpPr>
        <p:spPr>
          <a:xfrm>
            <a:off x="502920" y="1335024"/>
            <a:ext cx="3618890"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 ПУБЛИКАЦИИ</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контролируемый тест, заданная рамка</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анкета задаёт вопросы заранее — что в неё не включили, участник сам не поднимет</a:t>
            </a:r>
          </a:p>
        </p:txBody>
      </p:sp>
      <p:sp>
        <p:nvSpPr>
          <p:cNvPr id="8" name="Rounded Rectangle 7"/>
          <p:cNvSpPr/>
          <p:nvPr/>
        </p:nvSpPr>
        <p:spPr>
          <a:xfrm>
            <a:off x="4286402" y="1335024"/>
            <a:ext cx="3618890"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ПОСЛЕ ПУБЛИКАЦИИ</a:t>
            </a:r>
          </a:p>
        </p:txBody>
      </p:sp>
      <p:sp>
        <p:nvSpPr>
          <p:cNvPr id="10" name="TextBox 9"/>
          <p:cNvSpPr txBox="1"/>
          <p:nvPr/>
        </p:nvSpPr>
        <p:spPr>
          <a:xfrm>
            <a:off x="4423562" y="1725375"/>
            <a:ext cx="3344570"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открытое наблюдение, без рамки</a:t>
            </a:r>
          </a:p>
        </p:txBody>
      </p:sp>
      <p:sp>
        <p:nvSpPr>
          <p:cNvPr id="11" name="TextBox 10"/>
          <p:cNvSpPr txBox="1"/>
          <p:nvPr/>
        </p:nvSpPr>
        <p:spPr>
          <a:xfrm>
            <a:off x="4423562" y="2933220"/>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высказывается каждый сам — ловит то, чего анкета не спросила</a:t>
            </a:r>
          </a:p>
        </p:txBody>
      </p:sp>
      <p:sp>
        <p:nvSpPr>
          <p:cNvPr id="12" name="Rounded Rectangle 11"/>
          <p:cNvSpPr/>
          <p:nvPr/>
        </p:nvSpPr>
        <p:spPr>
          <a:xfrm>
            <a:off x="8069884" y="1335024"/>
            <a:ext cx="3618890"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РЕШЕНИЕ СТАДИИ</a:t>
            </a:r>
          </a:p>
        </p:txBody>
      </p:sp>
      <p:sp>
        <p:nvSpPr>
          <p:cNvPr id="14" name="TextBox 13"/>
          <p:cNvSpPr txBox="1"/>
          <p:nvPr/>
        </p:nvSpPr>
        <p:spPr>
          <a:xfrm>
            <a:off x="8207044" y="1725375"/>
            <a:ext cx="3344570"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выпускать / дорабатывать / не повторять подход</a:t>
            </a:r>
          </a:p>
        </p:txBody>
      </p:sp>
      <p:sp>
        <p:nvSpPr>
          <p:cNvPr id="15" name="TextBox 14"/>
          <p:cNvSpPr txBox="1"/>
          <p:nvPr/>
        </p:nvSpPr>
        <p:spPr>
          <a:xfrm>
            <a:off x="8207044" y="2933220"/>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 и после — разные решения, разный горизонт</a:t>
            </a:r>
          </a:p>
        </p:txBody>
      </p:sp>
      <p:sp>
        <p:nvSpPr>
          <p:cNvPr id="16" name="TextBox 15"/>
          <p:cNvSpPr txBox="1"/>
          <p:nvPr/>
        </p:nvSpPr>
        <p:spPr>
          <a:xfrm>
            <a:off x="502920" y="3712323"/>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До выхода</a:t>
            </a:r>
          </a:p>
        </p:txBody>
      </p:sp>
      <p:sp>
        <p:nvSpPr>
          <p:cNvPr id="17" name="Rounded Rectangle 16"/>
          <p:cNvSpPr/>
          <p:nvPr/>
        </p:nvSpPr>
        <p:spPr>
          <a:xfrm>
            <a:off x="1920240"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2002536"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черновой монтаж</a:t>
            </a:r>
          </a:p>
        </p:txBody>
      </p:sp>
      <p:sp>
        <p:nvSpPr>
          <p:cNvPr id="19" name="Right Arrow 18"/>
          <p:cNvSpPr/>
          <p:nvPr/>
        </p:nvSpPr>
        <p:spPr>
          <a:xfrm>
            <a:off x="4202353" y="3963688"/>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4430953"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4513249"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отобранная группа</a:t>
            </a:r>
          </a:p>
        </p:txBody>
      </p:sp>
      <p:sp>
        <p:nvSpPr>
          <p:cNvPr id="22" name="Right Arrow 21"/>
          <p:cNvSpPr/>
          <p:nvPr/>
        </p:nvSpPr>
        <p:spPr>
          <a:xfrm>
            <a:off x="6713067" y="3963688"/>
            <a:ext cx="182880" cy="137160"/>
          </a:xfrm>
          <a:prstGeom prst="rightArrow">
            <a:avLst/>
          </a:prstGeom>
          <a:solidFill>
            <a:srgbClr val="1C7293"/>
          </a:solidFill>
          <a:ln>
            <a:noFill/>
          </a:ln>
          <a:effectLst/>
        </p:spPr>
        <p:txBody>
          <a:bodyPr rtlCol="0" anchor="ctr"/>
          <a:lstStyle/>
          <a:p>
            <a:pPr algn="ctr"/>
          </a:p>
        </p:txBody>
      </p:sp>
      <p:sp>
        <p:nvSpPr>
          <p:cNvPr id="23" name="Rounded Rectangle 22"/>
          <p:cNvSpPr/>
          <p:nvPr/>
        </p:nvSpPr>
        <p:spPr>
          <a:xfrm>
            <a:off x="6941667"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4" name="TextBox 23"/>
          <p:cNvSpPr txBox="1"/>
          <p:nvPr/>
        </p:nvSpPr>
        <p:spPr>
          <a:xfrm>
            <a:off x="7023963"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анкета по заданным пунктам</a:t>
            </a:r>
          </a:p>
        </p:txBody>
      </p:sp>
      <p:sp>
        <p:nvSpPr>
          <p:cNvPr id="25" name="Right Arrow 24"/>
          <p:cNvSpPr/>
          <p:nvPr/>
        </p:nvSpPr>
        <p:spPr>
          <a:xfrm>
            <a:off x="9223781" y="3963688"/>
            <a:ext cx="182880" cy="137160"/>
          </a:xfrm>
          <a:prstGeom prst="rightArrow">
            <a:avLst/>
          </a:prstGeom>
          <a:solidFill>
            <a:srgbClr val="1C7293"/>
          </a:solidFill>
          <a:ln>
            <a:noFill/>
          </a:ln>
          <a:effectLst/>
        </p:spPr>
        <p:txBody>
          <a:bodyPr rtlCol="0" anchor="ctr"/>
          <a:lstStyle/>
          <a:p>
            <a:pPr algn="ctr"/>
          </a:p>
        </p:txBody>
      </p:sp>
      <p:sp>
        <p:nvSpPr>
          <p:cNvPr id="26" name="Rounded Rectangle 25"/>
          <p:cNvSpPr/>
          <p:nvPr/>
        </p:nvSpPr>
        <p:spPr>
          <a:xfrm>
            <a:off x="9452381" y="3675747"/>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7" name="TextBox 26"/>
          <p:cNvSpPr txBox="1"/>
          <p:nvPr/>
        </p:nvSpPr>
        <p:spPr>
          <a:xfrm>
            <a:off x="9534677" y="3721467"/>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выпускать?</a:t>
            </a:r>
          </a:p>
        </p:txBody>
      </p:sp>
      <p:sp>
        <p:nvSpPr>
          <p:cNvPr id="28" name="TextBox 27"/>
          <p:cNvSpPr txBox="1"/>
          <p:nvPr/>
        </p:nvSpPr>
        <p:spPr>
          <a:xfrm>
            <a:off x="502920" y="4571669"/>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После выхода</a:t>
            </a:r>
          </a:p>
        </p:txBody>
      </p:sp>
      <p:sp>
        <p:nvSpPr>
          <p:cNvPr id="29" name="Rounded Rectangle 28"/>
          <p:cNvSpPr/>
          <p:nvPr/>
        </p:nvSpPr>
        <p:spPr>
          <a:xfrm>
            <a:off x="1920240"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0" name="TextBox 29"/>
          <p:cNvSpPr txBox="1"/>
          <p:nvPr/>
        </p:nvSpPr>
        <p:spPr>
          <a:xfrm>
            <a:off x="2002536"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публикация</a:t>
            </a:r>
          </a:p>
        </p:txBody>
      </p:sp>
      <p:sp>
        <p:nvSpPr>
          <p:cNvPr id="31" name="Right Arrow 30"/>
          <p:cNvSpPr/>
          <p:nvPr/>
        </p:nvSpPr>
        <p:spPr>
          <a:xfrm>
            <a:off x="4202353" y="4823034"/>
            <a:ext cx="182880" cy="137160"/>
          </a:xfrm>
          <a:prstGeom prst="rightArrow">
            <a:avLst/>
          </a:prstGeom>
          <a:solidFill>
            <a:srgbClr val="1C7293"/>
          </a:solidFill>
          <a:ln>
            <a:noFill/>
          </a:ln>
          <a:effectLst/>
        </p:spPr>
        <p:txBody>
          <a:bodyPr rtlCol="0" anchor="ctr"/>
          <a:lstStyle/>
          <a:p>
            <a:pPr algn="ctr"/>
          </a:p>
        </p:txBody>
      </p:sp>
      <p:sp>
        <p:nvSpPr>
          <p:cNvPr id="32" name="Rounded Rectangle 31"/>
          <p:cNvSpPr/>
          <p:nvPr/>
        </p:nvSpPr>
        <p:spPr>
          <a:xfrm>
            <a:off x="4430953"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3" name="TextBox 32"/>
          <p:cNvSpPr txBox="1"/>
          <p:nvPr/>
        </p:nvSpPr>
        <p:spPr>
          <a:xfrm>
            <a:off x="4513249"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кто угодно высказывается</a:t>
            </a:r>
          </a:p>
        </p:txBody>
      </p:sp>
      <p:sp>
        <p:nvSpPr>
          <p:cNvPr id="34" name="Right Arrow 33"/>
          <p:cNvSpPr/>
          <p:nvPr/>
        </p:nvSpPr>
        <p:spPr>
          <a:xfrm>
            <a:off x="6713067" y="4823034"/>
            <a:ext cx="182880" cy="137160"/>
          </a:xfrm>
          <a:prstGeom prst="rightArrow">
            <a:avLst/>
          </a:prstGeom>
          <a:solidFill>
            <a:srgbClr val="1C7293"/>
          </a:solidFill>
          <a:ln>
            <a:noFill/>
          </a:ln>
          <a:effectLst/>
        </p:spPr>
        <p:txBody>
          <a:bodyPr rtlCol="0" anchor="ctr"/>
          <a:lstStyle/>
          <a:p>
            <a:pPr algn="ctr"/>
          </a:p>
        </p:txBody>
      </p:sp>
      <p:sp>
        <p:nvSpPr>
          <p:cNvPr id="35" name="Rounded Rectangle 34"/>
          <p:cNvSpPr/>
          <p:nvPr/>
        </p:nvSpPr>
        <p:spPr>
          <a:xfrm>
            <a:off x="6941667"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6" name="TextBox 35"/>
          <p:cNvSpPr txBox="1"/>
          <p:nvPr/>
        </p:nvSpPr>
        <p:spPr>
          <a:xfrm>
            <a:off x="7023963"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без заданной рамки</a:t>
            </a:r>
          </a:p>
        </p:txBody>
      </p:sp>
      <p:sp>
        <p:nvSpPr>
          <p:cNvPr id="37" name="Right Arrow 36"/>
          <p:cNvSpPr/>
          <p:nvPr/>
        </p:nvSpPr>
        <p:spPr>
          <a:xfrm>
            <a:off x="9223781" y="4823034"/>
            <a:ext cx="182880" cy="137160"/>
          </a:xfrm>
          <a:prstGeom prst="rightArrow">
            <a:avLst/>
          </a:prstGeom>
          <a:solidFill>
            <a:srgbClr val="1C7293"/>
          </a:solidFill>
          <a:ln>
            <a:noFill/>
          </a:ln>
          <a:effectLst/>
        </p:spPr>
        <p:txBody>
          <a:bodyPr rtlCol="0" anchor="ctr"/>
          <a:lstStyle/>
          <a:p>
            <a:pPr algn="ctr"/>
          </a:p>
        </p:txBody>
      </p:sp>
      <p:sp>
        <p:nvSpPr>
          <p:cNvPr id="38" name="Rounded Rectangle 37"/>
          <p:cNvSpPr/>
          <p:nvPr/>
        </p:nvSpPr>
        <p:spPr>
          <a:xfrm>
            <a:off x="9452381" y="4535093"/>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39" name="TextBox 38"/>
          <p:cNvSpPr txBox="1"/>
          <p:nvPr/>
        </p:nvSpPr>
        <p:spPr>
          <a:xfrm>
            <a:off x="9534677" y="4580813"/>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решение: повторять подход?</a:t>
            </a:r>
          </a:p>
        </p:txBody>
      </p:sp>
      <p:sp>
        <p:nvSpPr>
          <p:cNvPr id="40" name="TextBox 39"/>
          <p:cNvSpPr txBox="1"/>
          <p:nvPr/>
        </p:nvSpPr>
        <p:spPr>
          <a:xfrm>
            <a:off x="502920" y="528471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Два окна наблюдения за одной и той же реакцией</a:t>
            </a:r>
          </a:p>
        </p:txBody>
      </p:sp>
      <p:sp>
        <p:nvSpPr>
          <p:cNvPr id="41" name="Rounded Rectangle 40"/>
          <p:cNvSpPr/>
          <p:nvPr/>
        </p:nvSpPr>
        <p:spPr>
          <a:xfrm>
            <a:off x="374904" y="5587394"/>
            <a:ext cx="11441887" cy="64881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42" name="TextBox 41"/>
          <p:cNvSpPr txBox="1"/>
          <p:nvPr/>
        </p:nvSpPr>
        <p:spPr>
          <a:xfrm>
            <a:off x="539496" y="5678834"/>
            <a:ext cx="11112703" cy="557373"/>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Формально вопрос один — понравится ли аудитории. Фактически эти два способа иногда отвечают на разные вопросы</a:t>
            </a:r>
            <a:r>
              <a:rPr sz="1400" b="0" i="0">
                <a:solidFill>
                  <a:srgbClr val="21295C"/>
                </a:solidFill>
                <a:latin typeface="Arial"/>
              </a:rPr>
              <a:t> — даже когда исследователи уверены, что измеряют одно и то же.</a:t>
            </a:r>
          </a:p>
        </p:txBody>
      </p:sp>
      <p:sp>
        <p:nvSpPr>
          <p:cNvPr id="43" name="Rectangle 42"/>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Без модели: фокус-группы и ограниченный A/B</a:t>
            </a:r>
          </a:p>
        </p:txBody>
      </p:sp>
      <p:sp>
        <p:nvSpPr>
          <p:cNvPr id="4" name="Rounded Rectangle 3"/>
          <p:cNvSpPr/>
          <p:nvPr/>
        </p:nvSpPr>
        <p:spPr>
          <a:xfrm>
            <a:off x="502920" y="1335024"/>
            <a:ext cx="1991258" cy="2580330"/>
          </a:xfrm>
          <a:prstGeom prst="roundRect">
            <a:avLst>
              <a:gd name="adj" fmla="val 1530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71693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ПРЕДРЕЛИЗНЫЕ ФОКУС-ГРУППЫ</a:t>
            </a:r>
          </a:p>
        </p:txBody>
      </p:sp>
      <p:sp>
        <p:nvSpPr>
          <p:cNvPr id="6" name="TextBox 5"/>
          <p:cNvSpPr txBox="1"/>
          <p:nvPr/>
        </p:nvSpPr>
        <p:spPr>
          <a:xfrm>
            <a:off x="640080" y="1932846"/>
            <a:ext cx="1716938" cy="902297"/>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десятилетия накопленной базы кампаний</a:t>
            </a:r>
          </a:p>
        </p:txBody>
      </p:sp>
      <p:sp>
        <p:nvSpPr>
          <p:cNvPr id="7" name="TextBox 6"/>
          <p:cNvSpPr txBox="1"/>
          <p:nvPr/>
        </p:nvSpPr>
        <p:spPr>
          <a:xfrm>
            <a:off x="640080" y="2835143"/>
            <a:ext cx="17169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стандартизированная шкала, сравнимая между брендами</a:t>
            </a:r>
          </a:p>
        </p:txBody>
      </p:sp>
      <p:sp>
        <p:nvSpPr>
          <p:cNvPr id="8" name="Rounded Rectangle 7"/>
          <p:cNvSpPr/>
          <p:nvPr/>
        </p:nvSpPr>
        <p:spPr>
          <a:xfrm>
            <a:off x="2658770" y="1335024"/>
            <a:ext cx="1991258" cy="2580330"/>
          </a:xfrm>
          <a:prstGeom prst="roundRect">
            <a:avLst>
              <a:gd name="adj" fmla="val 1530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795930" y="1472184"/>
            <a:ext cx="171693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A/B НА ОГРАНИЧЕННОЙ ВЫБОРКЕ</a:t>
            </a:r>
          </a:p>
        </p:txBody>
      </p:sp>
      <p:sp>
        <p:nvSpPr>
          <p:cNvPr id="10" name="TextBox 9"/>
          <p:cNvSpPr txBox="1"/>
          <p:nvPr/>
        </p:nvSpPr>
        <p:spPr>
          <a:xfrm>
            <a:off x="2795930" y="2140317"/>
            <a:ext cx="1716938"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2–3 варианта, редко больше</a:t>
            </a:r>
          </a:p>
        </p:txBody>
      </p:sp>
      <p:sp>
        <p:nvSpPr>
          <p:cNvPr id="11" name="TextBox 10"/>
          <p:cNvSpPr txBox="1"/>
          <p:nvPr/>
        </p:nvSpPr>
        <p:spPr>
          <a:xfrm>
            <a:off x="2795930" y="2804965"/>
            <a:ext cx="17169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каждый вариант — отдельная съёмка с актёрами</a:t>
            </a:r>
          </a:p>
        </p:txBody>
      </p:sp>
      <p:sp>
        <p:nvSpPr>
          <p:cNvPr id="12" name="Rounded Rectangle 11"/>
          <p:cNvSpPr/>
          <p:nvPr/>
        </p:nvSpPr>
        <p:spPr>
          <a:xfrm>
            <a:off x="4814620" y="1335024"/>
            <a:ext cx="1991258" cy="2580330"/>
          </a:xfrm>
          <a:prstGeom prst="roundRect">
            <a:avLst>
              <a:gd name="adj" fmla="val 1530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951780" y="1472184"/>
            <a:ext cx="171693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ДОРОГОВИЗНА ПРОИЗВОДСТВА — САМА СИГНАЛ</a:t>
            </a:r>
          </a:p>
        </p:txBody>
      </p:sp>
      <p:sp>
        <p:nvSpPr>
          <p:cNvPr id="14" name="TextBox 13"/>
          <p:cNvSpPr txBox="1"/>
          <p:nvPr/>
        </p:nvSpPr>
        <p:spPr>
          <a:xfrm>
            <a:off x="4951780" y="2140317"/>
            <a:ext cx="1716938" cy="1004146"/>
          </a:xfrm>
          <a:prstGeom prst="rect">
            <a:avLst/>
          </a:prstGeom>
          <a:noFill/>
        </p:spPr>
        <p:txBody>
          <a:bodyPr wrap="square" lIns="0" rIns="0" tIns="0" bIns="0" anchor="t">
            <a:spAutoFit/>
          </a:bodyPr>
          <a:lstStyle/>
          <a:p>
            <a:pPr algn="l">
              <a:lnSpc>
                <a:spcPct val="108000"/>
              </a:lnSpc>
            </a:pPr>
            <a:r>
              <a:rPr sz="1900" b="1" i="0">
                <a:solidFill>
                  <a:srgbClr val="1C7293"/>
                </a:solidFill>
                <a:latin typeface="Arial"/>
              </a:rPr>
              <a:t>«у бренда есть ресурсы и репутация»</a:t>
            </a:r>
          </a:p>
        </p:txBody>
      </p:sp>
      <p:sp>
        <p:nvSpPr>
          <p:cNvPr id="15" name="TextBox 14"/>
          <p:cNvSpPr txBox="1"/>
          <p:nvPr/>
        </p:nvSpPr>
        <p:spPr>
          <a:xfrm>
            <a:off x="4951780" y="3144464"/>
            <a:ext cx="17169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именно эту часть цены обнуляет генерация</a:t>
            </a:r>
          </a:p>
        </p:txBody>
      </p:sp>
      <p:sp>
        <p:nvSpPr>
          <p:cNvPr id="16" name="Rounded Rectangle 15"/>
          <p:cNvSpPr/>
          <p:nvPr/>
        </p:nvSpPr>
        <p:spPr>
          <a:xfrm>
            <a:off x="374904" y="4006794"/>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098234"/>
            <a:ext cx="11112703" cy="213797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Фокус-группы и ограниченный A/B (2–3 варианта, не больше) — классика, дорогая именно потому, что дорого снять больше одного-двух вариантов.</a:t>
            </a:r>
            <a:r>
              <a:rPr sz="1500" b="0" i="0">
                <a:solidFill>
                  <a:srgbClr val="21295C"/>
                </a:solidFill>
                <a:latin typeface="Arial"/>
              </a:rPr>
              <a:t> Эта дороговизна сама была сигналом качества, который зритель считывал бесплатно.</a:t>
            </a:r>
          </a:p>
        </p:txBody>
      </p:sp>
      <p:sp>
        <p:nvSpPr>
          <p:cNvPr id="18" name="Rounded Rectangle 17"/>
          <p:cNvSpPr/>
          <p:nvPr/>
        </p:nvSpPr>
        <p:spPr>
          <a:xfrm>
            <a:off x="7116775" y="1335024"/>
            <a:ext cx="4572000" cy="2691765"/>
          </a:xfrm>
          <a:prstGeom prst="roundRect">
            <a:avLst>
              <a:gd name="adj" fmla="val 11323"/>
            </a:avLst>
          </a:prstGeom>
          <a:solidFill>
            <a:srgbClr val="F4F7FA"/>
          </a:solidFill>
          <a:ln w="19050">
            <a:solidFill>
              <a:srgbClr val="1C7293"/>
            </a:solidFill>
          </a:ln>
          <a:effectLst/>
        </p:spPr>
        <p:txBody>
          <a:bodyPr rtlCol="0" anchor="ctr"/>
          <a:lstStyle/>
          <a:p>
            <a:pPr algn="ctr"/>
          </a:p>
        </p:txBody>
      </p:sp>
      <p:pic>
        <p:nvPicPr>
          <p:cNvPr id="19" name="Picture 18" descr="s31-film-crew-red-camera.jpg"/>
          <p:cNvPicPr>
            <a:picLocks noChangeAspect="1"/>
          </p:cNvPicPr>
          <p:nvPr/>
        </p:nvPicPr>
        <p:blipFill>
          <a:blip r:embed="rId2"/>
          <a:stretch>
            <a:fillRect/>
          </a:stretch>
        </p:blipFill>
        <p:spPr>
          <a:xfrm>
            <a:off x="7253935" y="1472184"/>
            <a:ext cx="4297680" cy="2417445"/>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умеет и не умеет модель на этапе релиза</a:t>
            </a:r>
          </a:p>
        </p:txBody>
      </p:sp>
      <p:sp>
        <p:nvSpPr>
          <p:cNvPr id="4" name="Rounded Rectangle 3"/>
          <p:cNvSpPr/>
          <p:nvPr/>
        </p:nvSpPr>
        <p:spPr>
          <a:xfrm>
            <a:off x="502920" y="1335024"/>
            <a:ext cx="3618890"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УМЕЕТ</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прогнать десятки тысяч вариантов</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недостижимо при ручном производстве того же масштаба</a:t>
            </a:r>
          </a:p>
        </p:txBody>
      </p:sp>
      <p:sp>
        <p:nvSpPr>
          <p:cNvPr id="8" name="Rounded Rectangle 7"/>
          <p:cNvSpPr/>
          <p:nvPr/>
        </p:nvSpPr>
        <p:spPr>
          <a:xfrm>
            <a:off x="4286402" y="1335024"/>
            <a:ext cx="3618890"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УМЕЕТ</a:t>
            </a:r>
          </a:p>
        </p:txBody>
      </p:sp>
      <p:sp>
        <p:nvSpPr>
          <p:cNvPr id="10" name="TextBox 9"/>
          <p:cNvSpPr txBox="1"/>
          <p:nvPr/>
        </p:nvSpPr>
        <p:spPr>
          <a:xfrm>
            <a:off x="4423562" y="1725375"/>
            <a:ext cx="3344570"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измерить реакцию на сам факт AI-происхождения</a:t>
            </a:r>
          </a:p>
        </p:txBody>
      </p:sp>
      <p:sp>
        <p:nvSpPr>
          <p:cNvPr id="11" name="TextBox 10"/>
          <p:cNvSpPr txBox="1"/>
          <p:nvPr/>
        </p:nvSpPr>
        <p:spPr>
          <a:xfrm>
            <a:off x="4423562" y="2933220"/>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инструмент создан под другое измерение</a:t>
            </a:r>
          </a:p>
        </p:txBody>
      </p:sp>
      <p:sp>
        <p:nvSpPr>
          <p:cNvPr id="12" name="Rounded Rectangle 11"/>
          <p:cNvSpPr/>
          <p:nvPr/>
        </p:nvSpPr>
        <p:spPr>
          <a:xfrm>
            <a:off x="8069884" y="1335024"/>
            <a:ext cx="3618890"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ЧЕСТНО НАЗВАННЫЙ ПРОБЕЛ</a:t>
            </a:r>
          </a:p>
        </p:txBody>
      </p:sp>
      <p:sp>
        <p:nvSpPr>
          <p:cNvPr id="14" name="TextBox 13"/>
          <p:cNvSpPr txBox="1"/>
          <p:nvPr/>
        </p:nvSpPr>
        <p:spPr>
          <a:xfrm>
            <a:off x="8207044" y="1725375"/>
            <a:ext cx="3344570"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задокументированного случая поимки этого риска заранее — не нашлось</a:t>
            </a:r>
          </a:p>
        </p:txBody>
      </p:sp>
      <p:sp>
        <p:nvSpPr>
          <p:cNvPr id="15" name="TextBox 14"/>
          <p:cNvSpPr txBox="1"/>
          <p:nvPr/>
        </p:nvSpPr>
        <p:spPr>
          <a:xfrm>
            <a:off x="8207044" y="2704059"/>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значит, что такого не было нигде — значит, что найти не удалось</a:t>
            </a:r>
          </a:p>
        </p:txBody>
      </p:sp>
      <p:sp>
        <p:nvSpPr>
          <p:cNvPr id="16" name="Rounded Rectangle 15"/>
          <p:cNvSpPr/>
          <p:nvPr/>
        </p:nvSpPr>
        <p:spPr>
          <a:xfrm>
            <a:off x="374904" y="3373064"/>
            <a:ext cx="11441887" cy="868442"/>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64504"/>
            <a:ext cx="11112703" cy="27717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Модель прогоняет через тестирование десятки тысяч вариантов — недостижимо вручную.</a:t>
            </a:r>
            <a:r>
              <a:rPr sz="1500" b="0" i="0">
                <a:solidFill>
                  <a:srgbClr val="21295C"/>
                </a:solidFill>
                <a:latin typeface="Arial"/>
              </a:rPr>
              <a:t> Но классический инструмент не измеряет другой вопрос: воспринимает ли зритель материал как сделанный человеком.</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Пример: Coca-Cola / Toys «R» Us — тональность упала после раскрытия</a:t>
            </a:r>
          </a:p>
        </p:txBody>
      </p:sp>
      <p:sp>
        <p:nvSpPr>
          <p:cNvPr id="4" name="Rounded Rectangle 3"/>
          <p:cNvSpPr/>
          <p:nvPr/>
        </p:nvSpPr>
        <p:spPr>
          <a:xfrm>
            <a:off x="502920" y="1335024"/>
            <a:ext cx="1747418" cy="2604850"/>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ПОЗИТИВНЫЕ УПОМИНАНИЯ: ДО → ПОСЛЕ</a:t>
            </a:r>
          </a:p>
        </p:txBody>
      </p:sp>
      <p:sp>
        <p:nvSpPr>
          <p:cNvPr id="6" name="TextBox 5"/>
          <p:cNvSpPr txBox="1"/>
          <p:nvPr/>
        </p:nvSpPr>
        <p:spPr>
          <a:xfrm>
            <a:off x="64008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12,2% → 3,4%</a:t>
            </a:r>
          </a:p>
        </p:txBody>
      </p:sp>
      <p:sp>
        <p:nvSpPr>
          <p:cNvPr id="7" name="TextBox 6"/>
          <p:cNvSpPr txBox="1"/>
          <p:nvPr/>
        </p:nvSpPr>
        <p:spPr>
          <a:xfrm>
            <a:off x="640080" y="2957740"/>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CARMA, тональность до и после раскрытия AI-происхождения</a:t>
            </a:r>
          </a:p>
        </p:txBody>
      </p:sp>
      <p:sp>
        <p:nvSpPr>
          <p:cNvPr id="8" name="Rounded Rectangle 7"/>
          <p:cNvSpPr/>
          <p:nvPr/>
        </p:nvSpPr>
        <p:spPr>
          <a:xfrm>
            <a:off x="2414930" y="1335024"/>
            <a:ext cx="1747418" cy="2604850"/>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НЕГАТИВНЫЕ УПОМИНАНИЯ: ДО → ПОСЛЕ</a:t>
            </a:r>
          </a:p>
        </p:txBody>
      </p:sp>
      <p:sp>
        <p:nvSpPr>
          <p:cNvPr id="10" name="TextBox 9"/>
          <p:cNvSpPr txBox="1"/>
          <p:nvPr/>
        </p:nvSpPr>
        <p:spPr>
          <a:xfrm>
            <a:off x="2552090" y="2140317"/>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13,5% → 53,4%</a:t>
            </a:r>
          </a:p>
        </p:txBody>
      </p:sp>
      <p:sp>
        <p:nvSpPr>
          <p:cNvPr id="11" name="TextBox 10"/>
          <p:cNvSpPr txBox="1"/>
          <p:nvPr/>
        </p:nvSpPr>
        <p:spPr>
          <a:xfrm>
            <a:off x="2552090" y="2957740"/>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рост почти в четыре раза</a:t>
            </a:r>
          </a:p>
        </p:txBody>
      </p:sp>
      <p:sp>
        <p:nvSpPr>
          <p:cNvPr id="12" name="Rounded Rectangle 11"/>
          <p:cNvSpPr/>
          <p:nvPr/>
        </p:nvSpPr>
        <p:spPr>
          <a:xfrm>
            <a:off x="4326940" y="1335024"/>
            <a:ext cx="1747418" cy="2604850"/>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НЕЙТРАЛЬНЫЕ УПОМИНАНИЯ: ДО → ПОСЛЕ</a:t>
            </a:r>
          </a:p>
        </p:txBody>
      </p:sp>
      <p:sp>
        <p:nvSpPr>
          <p:cNvPr id="14" name="TextBox 13"/>
          <p:cNvSpPr txBox="1"/>
          <p:nvPr/>
        </p:nvSpPr>
        <p:spPr>
          <a:xfrm>
            <a:off x="4464100" y="2140317"/>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74,3% → 43,2%</a:t>
            </a:r>
          </a:p>
        </p:txBody>
      </p:sp>
      <p:sp>
        <p:nvSpPr>
          <p:cNvPr id="15" name="TextBox 14"/>
          <p:cNvSpPr txBox="1"/>
          <p:nvPr/>
        </p:nvSpPr>
        <p:spPr>
          <a:xfrm>
            <a:off x="4464100" y="2957740"/>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сумма сходится к 100% и до, и после — не вырванный фрагмент</a:t>
            </a:r>
          </a:p>
        </p:txBody>
      </p:sp>
      <p:sp>
        <p:nvSpPr>
          <p:cNvPr id="16" name="Rounded Rectangle 15"/>
          <p:cNvSpPr/>
          <p:nvPr/>
        </p:nvSpPr>
        <p:spPr>
          <a:xfrm>
            <a:off x="374904" y="4438269"/>
            <a:ext cx="11441887" cy="1797939"/>
          </a:xfrm>
          <a:prstGeom prst="roundRect">
            <a:avLst>
              <a:gd name="adj" fmla="val 1695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529708"/>
            <a:ext cx="11112703" cy="1706499"/>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Toys «R» Us выпустила ролик, сгенерированный моделью Sora, а Coca-Cola — праздничную кампанию, тоже AI-видео.</a:t>
            </a:r>
            <a:r>
              <a:rPr sz="1500" b="0" i="0">
                <a:solidFill>
                  <a:srgbClr val="21295C"/>
                </a:solidFill>
                <a:latin typeface="Arial"/>
              </a:rPr>
              <a:t> Тональность упоминаний обеих измерена CARMA; платформа и размер выборки публично не раскрыты.</a:t>
            </a:r>
          </a:p>
        </p:txBody>
      </p:sp>
      <p:sp>
        <p:nvSpPr>
          <p:cNvPr id="18" name="Rounded Rectangle 17"/>
          <p:cNvSpPr/>
          <p:nvPr/>
        </p:nvSpPr>
        <p:spPr>
          <a:xfrm>
            <a:off x="6385255" y="1335024"/>
            <a:ext cx="5303520" cy="3103245"/>
          </a:xfrm>
          <a:prstGeom prst="roundRect">
            <a:avLst>
              <a:gd name="adj" fmla="val 9821"/>
            </a:avLst>
          </a:prstGeom>
          <a:solidFill>
            <a:srgbClr val="F4F7FA"/>
          </a:solidFill>
          <a:ln w="19050">
            <a:solidFill>
              <a:srgbClr val="1C7293"/>
            </a:solidFill>
          </a:ln>
          <a:effectLst/>
        </p:spPr>
        <p:txBody>
          <a:bodyPr rtlCol="0" anchor="ctr"/>
          <a:lstStyle/>
          <a:p>
            <a:pPr algn="ctr"/>
          </a:p>
        </p:txBody>
      </p:sp>
      <p:pic>
        <p:nvPicPr>
          <p:cNvPr id="19" name="Picture 18" descr="s33-coca-cola-ai-holidays-truck.jpg"/>
          <p:cNvPicPr>
            <a:picLocks noChangeAspect="1"/>
          </p:cNvPicPr>
          <p:nvPr/>
        </p:nvPicPr>
        <p:blipFill>
          <a:blip r:embed="rId2"/>
          <a:stretch>
            <a:fillRect/>
          </a:stretch>
        </p:blipFill>
        <p:spPr>
          <a:xfrm>
            <a:off x="6522415" y="1472184"/>
            <a:ext cx="5029200" cy="2828925"/>
          </a:xfrm>
          <a:prstGeom prst="rect">
            <a:avLst/>
          </a:prstGeom>
        </p:spPr>
      </p:pic>
      <p:sp>
        <p:nvSpPr>
          <p:cNvPr id="20" name="Rectangle 19"/>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Marketing-Interactive, 28.06.2024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Coca-Cola, разбор: панель System1 против открытой аудитории CARMA</a:t>
            </a:r>
          </a:p>
        </p:txBody>
      </p:sp>
      <p:sp>
        <p:nvSpPr>
          <p:cNvPr id="4" name="Rounded Rectangle 3"/>
          <p:cNvSpPr/>
          <p:nvPr/>
        </p:nvSpPr>
        <p:spPr>
          <a:xfrm>
            <a:off x="502920"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PANEL SYSTEM1: ОЦЕНКА РОЛИКА</a:t>
            </a:r>
          </a:p>
        </p:txBody>
      </p:sp>
      <p:sp>
        <p:nvSpPr>
          <p:cNvPr id="6" name="TextBox 5"/>
          <p:cNvSpPr txBox="1"/>
          <p:nvPr/>
        </p:nvSpPr>
        <p:spPr>
          <a:xfrm>
            <a:off x="640080" y="1725375"/>
            <a:ext cx="3344570"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5,9 из 5,9 — максимум шкалы</a:t>
            </a:r>
          </a:p>
        </p:txBody>
      </p:sp>
      <p:sp>
        <p:nvSpPr>
          <p:cNvPr id="7" name="TextBox 6"/>
          <p:cNvSpPr txBox="1"/>
          <p:nvPr/>
        </p:nvSpPr>
        <p:spPr>
          <a:xfrm>
            <a:off x="640080"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шкала калибрована на связи с долгосрочным ростом бренда</a:t>
            </a:r>
          </a:p>
        </p:txBody>
      </p:sp>
      <p:sp>
        <p:nvSpPr>
          <p:cNvPr id="8" name="Rounded Rectangle 7"/>
          <p:cNvSpPr/>
          <p:nvPr/>
        </p:nvSpPr>
        <p:spPr>
          <a:xfrm>
            <a:off x="4286402"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ОТКРЫТАЯ АУДИТОРИЯ: НЕГАТИВ</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53,4% упоминаний</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CARMA — тот же ролик, другое измерение</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КЛИПОВ В МОНТАЖЕ</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70 000</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Silverside AI, скомпонованы в финальный ролик</a:t>
            </a:r>
          </a:p>
        </p:txBody>
      </p:sp>
      <p:sp>
        <p:nvSpPr>
          <p:cNvPr id="16" name="Rounded Rectangle 15"/>
          <p:cNvSpPr/>
          <p:nvPr/>
        </p:nvSpPr>
        <p:spPr>
          <a:xfrm>
            <a:off x="502920" y="3285324"/>
            <a:ext cx="5437479" cy="2179945"/>
          </a:xfrm>
          <a:prstGeom prst="roundRect">
            <a:avLst>
              <a:gd name="adj" fmla="val 1398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4407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Классика pre-release тестирования</a:t>
            </a:r>
          </a:p>
        </p:txBody>
      </p:sp>
      <p:sp>
        <p:nvSpPr>
          <p:cNvPr id="18" name="TextBox 17"/>
          <p:cNvSpPr txBox="1"/>
          <p:nvPr/>
        </p:nvSpPr>
        <p:spPr>
          <a:xfrm>
            <a:off x="667512" y="3796951"/>
            <a:ext cx="5108295" cy="1512870"/>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панель System1 «Test Your Ad», откалиброванная на тысячах прошлых кампаний</a:t>
            </a:r>
          </a:p>
          <a:p>
            <a:pPr algn="l">
              <a:lnSpc>
                <a:spcPct val="126000"/>
              </a:lnSpc>
            </a:pPr>
            <a:r>
              <a:rPr sz="1400" b="0" i="0">
                <a:solidFill>
                  <a:srgbClr val="21295C"/>
                </a:solidFill>
                <a:latin typeface="Arial"/>
              </a:rPr>
              <a:t>• оценка до или вскоре после выхода, по шкале эмоционального отклика</a:t>
            </a:r>
          </a:p>
          <a:p>
            <a:pPr algn="l">
              <a:lnSpc>
                <a:spcPct val="126000"/>
              </a:lnSpc>
            </a:pPr>
            <a:r>
              <a:rPr sz="1400" b="0" i="0">
                <a:solidFill>
                  <a:srgbClr val="21295C"/>
                </a:solidFill>
                <a:latin typeface="Arial"/>
              </a:rPr>
              <a:t>• 5,9 звезды — верхняя граница собственной шкалы System1</a:t>
            </a:r>
          </a:p>
        </p:txBody>
      </p:sp>
      <p:sp>
        <p:nvSpPr>
          <p:cNvPr id="19" name="Rounded Rectangle 18"/>
          <p:cNvSpPr/>
          <p:nvPr/>
        </p:nvSpPr>
        <p:spPr>
          <a:xfrm>
            <a:off x="6251295" y="3285324"/>
            <a:ext cx="5437479" cy="2179945"/>
          </a:xfrm>
          <a:prstGeom prst="roundRect">
            <a:avLst>
              <a:gd name="adj" fmla="val 13982"/>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4407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Измеренная открытая реакция</a:t>
            </a:r>
          </a:p>
        </p:txBody>
      </p:sp>
      <p:sp>
        <p:nvSpPr>
          <p:cNvPr id="21" name="TextBox 20"/>
          <p:cNvSpPr txBox="1"/>
          <p:nvPr/>
        </p:nvSpPr>
        <p:spPr>
          <a:xfrm>
            <a:off x="6415887" y="3796951"/>
            <a:ext cx="5108295" cy="151287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CARMA — тональность спонтанных публичных упоминаний</a:t>
            </a:r>
          </a:p>
          <a:p>
            <a:pPr algn="l">
              <a:lnSpc>
                <a:spcPct val="126000"/>
              </a:lnSpc>
            </a:pPr>
            <a:r>
              <a:rPr sz="1450" b="0" i="0">
                <a:solidFill>
                  <a:srgbClr val="21295C"/>
                </a:solidFill>
                <a:latin typeface="Arial"/>
              </a:rPr>
              <a:t>• измерение неделями и месяцами после выхода</a:t>
            </a:r>
          </a:p>
          <a:p>
            <a:pPr algn="l">
              <a:lnSpc>
                <a:spcPct val="126000"/>
              </a:lnSpc>
            </a:pPr>
            <a:r>
              <a:rPr sz="1450" b="0" i="0">
                <a:solidFill>
                  <a:srgbClr val="21295C"/>
                </a:solidFill>
                <a:latin typeface="Arial"/>
              </a:rPr>
              <a:t>• 53,4% негативных упоминаний — рост почти в четыре раза</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Это не ошибка измерения той или иной стороны.</a:t>
            </a:r>
            <a:r>
              <a:rPr sz="1450" b="0" i="0">
                <a:solidFill>
                  <a:srgbClr val="21295C"/>
                </a:solidFill>
                <a:latin typeface="Arial"/>
              </a:rPr>
              <a:t> Это два инструмента, откалиброванных для разных вопросов — и оба правы в своих терминах.</a:t>
            </a:r>
          </a:p>
        </p:txBody>
      </p:sp>
      <p:sp>
        <p:nvSpPr>
          <p:cNvPr id="24" name="Rectangle 23"/>
          <p:cNvSpPr/>
          <p:nvPr/>
        </p:nvSpPr>
        <p:spPr>
          <a:xfrm>
            <a:off x="502920" y="8201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System1 Group, Ad of the Week, 2025</a:t>
            </a:r>
            <a:r>
              <a:rPr sz="1200" b="0" i="1">
                <a:solidFill>
                  <a:srgbClr val="1C7293"/>
                </a:solidFill>
                <a:latin typeface="Arial"/>
              </a:rPr>
              <a:t> · </a:t>
            </a:r>
            <a:r>
              <a:rPr sz="1200" b="0" i="1" u="sng">
                <a:solidFill>
                  <a:srgbClr val="065A82"/>
                </a:solidFill>
                <a:latin typeface="Arial"/>
                <a:hlinkClick r:id="rId2"/>
              </a:rPr>
              <a:t>TechRadar, Forbes 04.11.2025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Coca-Cola, что переехало: компания не отступила</a:t>
            </a:r>
          </a:p>
        </p:txBody>
      </p:sp>
      <p:sp>
        <p:nvSpPr>
          <p:cNvPr id="4" name="Rounded Rectangle 3"/>
          <p:cNvSpPr/>
          <p:nvPr/>
        </p:nvSpPr>
        <p:spPr>
          <a:xfrm>
            <a:off x="502920" y="1335024"/>
            <a:ext cx="2651629" cy="2365315"/>
          </a:xfrm>
          <a:prstGeom prst="roundRect">
            <a:avLst>
              <a:gd name="adj" fmla="val 12886"/>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КОМАНДА 2025: КЛАССИКА → С ГЕНЕРАЦИЕЙ</a:t>
            </a:r>
          </a:p>
        </p:txBody>
      </p:sp>
      <p:sp>
        <p:nvSpPr>
          <p:cNvPr id="6" name="TextBox 5"/>
          <p:cNvSpPr txBox="1"/>
          <p:nvPr/>
        </p:nvSpPr>
        <p:spPr>
          <a:xfrm>
            <a:off x="640080" y="1932846"/>
            <a:ext cx="2377309"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≈50 → ≈20 человек</a:t>
            </a:r>
          </a:p>
        </p:txBody>
      </p:sp>
      <p:sp>
        <p:nvSpPr>
          <p:cNvPr id="7" name="TextBox 6"/>
          <p:cNvSpPr txBox="1"/>
          <p:nvPr/>
        </p:nvSpPr>
        <p:spPr>
          <a:xfrm>
            <a:off x="640080" y="2750268"/>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оценка Джейсона Зада, Secret Level</a:t>
            </a:r>
          </a:p>
        </p:txBody>
      </p:sp>
      <p:sp>
        <p:nvSpPr>
          <p:cNvPr id="8" name="Rounded Rectangle 7"/>
          <p:cNvSpPr/>
          <p:nvPr/>
        </p:nvSpPr>
        <p:spPr>
          <a:xfrm>
            <a:off x="3319141" y="1335024"/>
            <a:ext cx="265162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56301"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ПОВТОРНЫЙ ЗАПУСК НЕСМОТРЯ НА</a:t>
            </a:r>
          </a:p>
        </p:txBody>
      </p:sp>
      <p:sp>
        <p:nvSpPr>
          <p:cNvPr id="10" name="TextBox 9"/>
          <p:cNvSpPr txBox="1"/>
          <p:nvPr/>
        </p:nvSpPr>
        <p:spPr>
          <a:xfrm>
            <a:off x="3456301" y="1932846"/>
            <a:ext cx="2377309"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измеренную негативную реакцию 2024 года</a:t>
            </a:r>
          </a:p>
        </p:txBody>
      </p:sp>
      <p:sp>
        <p:nvSpPr>
          <p:cNvPr id="11" name="TextBox 10"/>
          <p:cNvSpPr txBox="1"/>
          <p:nvPr/>
        </p:nvSpPr>
        <p:spPr>
          <a:xfrm>
            <a:off x="3456301" y="2461695"/>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компания не отказалась от подхода</a:t>
            </a:r>
          </a:p>
        </p:txBody>
      </p:sp>
      <p:sp>
        <p:nvSpPr>
          <p:cNvPr id="12" name="Rounded Rectangle 11"/>
          <p:cNvSpPr/>
          <p:nvPr/>
        </p:nvSpPr>
        <p:spPr>
          <a:xfrm>
            <a:off x="6135363" y="1335024"/>
            <a:ext cx="2651629" cy="2365315"/>
          </a:xfrm>
          <a:prstGeom prst="roundRect">
            <a:avLst>
              <a:gd name="adj" fmla="val 12886"/>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272523" y="1472184"/>
            <a:ext cx="23773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ПОЗИЦИЯ КОМПАНИИ, ПРЯМОЙ ЦИТАТОЙ</a:t>
            </a:r>
          </a:p>
        </p:txBody>
      </p:sp>
      <p:sp>
        <p:nvSpPr>
          <p:cNvPr id="14" name="TextBox 13"/>
          <p:cNvSpPr txBox="1"/>
          <p:nvPr/>
        </p:nvSpPr>
        <p:spPr>
          <a:xfrm>
            <a:off x="6272523" y="1932846"/>
            <a:ext cx="2377309"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«джинн уже выпущен из бутылки»</a:t>
            </a:r>
          </a:p>
        </p:txBody>
      </p:sp>
      <p:sp>
        <p:nvSpPr>
          <p:cNvPr id="15" name="TextBox 14"/>
          <p:cNvSpPr txBox="1"/>
          <p:nvPr/>
        </p:nvSpPr>
        <p:spPr>
          <a:xfrm>
            <a:off x="6272523" y="3140692"/>
            <a:ext cx="23773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Пратик Тхакар, вице-президент по генеративному ИИ Coca-Cola</a:t>
            </a:r>
          </a:p>
        </p:txBody>
      </p:sp>
      <p:sp>
        <p:nvSpPr>
          <p:cNvPr id="16" name="Rounded Rectangle 15"/>
          <p:cNvSpPr/>
          <p:nvPr/>
        </p:nvSpPr>
        <p:spPr>
          <a:xfrm>
            <a:off x="374904" y="3791779"/>
            <a:ext cx="8540105" cy="1165503"/>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883219"/>
            <a:ext cx="8210921" cy="235298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 отличие от CNET, здесь компания не отступила</a:t>
            </a:r>
            <a:r>
              <a:rPr sz="1500" b="0" i="0">
                <a:solidFill>
                  <a:srgbClr val="21295C"/>
                </a:solidFill>
                <a:latin typeface="Arial"/>
              </a:rPr>
              <a:t> — Coca-Cola повторила подход в 2025-м несмотря на негативную реакцию 2024 года. </a:t>
            </a:r>
            <a:r>
              <a:rPr sz="1500" b="1" i="0">
                <a:solidFill>
                  <a:srgbClr val="21295C"/>
                </a:solidFill>
                <a:latin typeface="Arial"/>
              </a:rPr>
              <a:t>Тхакар:</a:t>
            </a:r>
            <a:r>
              <a:rPr sz="1500" b="0" i="0">
                <a:solidFill>
                  <a:srgbClr val="21295C"/>
                </a:solidFill>
                <a:latin typeface="Arial"/>
              </a:rPr>
              <a:t> «джинн уже выпущен из бутылки». </a:t>
            </a:r>
            <a:r>
              <a:rPr sz="1500" b="1" i="0">
                <a:solidFill>
                  <a:srgbClr val="21295C"/>
                </a:solidFill>
                <a:latin typeface="Arial"/>
              </a:rPr>
              <a:t>Зада:</a:t>
            </a:r>
            <a:r>
              <a:rPr sz="1500" b="0" i="0">
                <a:solidFill>
                  <a:srgbClr val="21295C"/>
                </a:solidFill>
                <a:latin typeface="Arial"/>
              </a:rPr>
              <a:t> над роликом работало ≈20 человек против ≈50 в классике.</a:t>
            </a:r>
          </a:p>
        </p:txBody>
      </p:sp>
      <p:sp>
        <p:nvSpPr>
          <p:cNvPr id="18" name="Rounded Rectangle 17"/>
          <p:cNvSpPr/>
          <p:nvPr/>
        </p:nvSpPr>
        <p:spPr>
          <a:xfrm>
            <a:off x="9097889" y="1335024"/>
            <a:ext cx="2590885" cy="4389120"/>
          </a:xfrm>
          <a:prstGeom prst="roundRect">
            <a:avLst>
              <a:gd name="adj" fmla="val 11764"/>
            </a:avLst>
          </a:prstGeom>
          <a:solidFill>
            <a:srgbClr val="F4F7FA"/>
          </a:solidFill>
          <a:ln w="19050">
            <a:solidFill>
              <a:srgbClr val="1C7293"/>
            </a:solidFill>
          </a:ln>
          <a:effectLst/>
        </p:spPr>
        <p:txBody>
          <a:bodyPr rtlCol="0" anchor="ctr"/>
          <a:lstStyle/>
          <a:p>
            <a:pPr algn="ctr"/>
          </a:p>
        </p:txBody>
      </p:sp>
      <p:pic>
        <p:nvPicPr>
          <p:cNvPr id="19" name="Picture 18" descr="s35-animation-studio-workspace.jpg"/>
          <p:cNvPicPr>
            <a:picLocks noChangeAspect="1"/>
          </p:cNvPicPr>
          <p:nvPr/>
        </p:nvPicPr>
        <p:blipFill>
          <a:blip r:embed="rId2"/>
          <a:stretch>
            <a:fillRect/>
          </a:stretch>
        </p:blipFill>
        <p:spPr>
          <a:xfrm>
            <a:off x="9235049" y="1472184"/>
            <a:ext cx="2316565"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The Hollywood Reporter, ноябрь 2025</a:t>
            </a:r>
            <a:r>
              <a:rPr sz="1200" b="0" i="1">
                <a:solidFill>
                  <a:srgbClr val="1C7293"/>
                </a:solidFill>
                <a:latin typeface="Arial"/>
              </a:rPr>
              <a:t> · </a:t>
            </a:r>
            <a:r>
              <a:rPr sz="1200" b="0" i="1">
                <a:solidFill>
                  <a:srgbClr val="1C7293"/>
                </a:solidFill>
                <a:latin typeface="Arial"/>
              </a:rPr>
              <a:t>Adweek, Brandweek 2025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Контекст: YouTube и AI-миниатюры без раскрытия</a:t>
            </a:r>
          </a:p>
        </p:txBody>
      </p:sp>
      <p:sp>
        <p:nvSpPr>
          <p:cNvPr id="4" name="Rounded Rectangle 3"/>
          <p:cNvSpPr/>
          <p:nvPr/>
        </p:nvSpPr>
        <p:spPr>
          <a:xfrm>
            <a:off x="374904" y="4853177"/>
            <a:ext cx="11441887" cy="1383030"/>
          </a:xfrm>
          <a:prstGeom prst="roundRect">
            <a:avLst>
              <a:gd name="adj" fmla="val 2203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4944617"/>
            <a:ext cx="11112703" cy="129159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Политика YouTube на 2026 год разрешает AI-миниатюры без обязательного раскрытия</a:t>
            </a:r>
            <a:r>
              <a:rPr sz="1500" b="0" i="0">
                <a:solidFill>
                  <a:srgbClr val="21295C"/>
                </a:solidFill>
                <a:latin typeface="Arial"/>
              </a:rPr>
              <a:t> — единственное ограничение: миниатюра не должна вводить в заблуждение о содержании видео. </a:t>
            </a:r>
            <a:r>
              <a:rPr sz="1500" b="1" i="0">
                <a:solidFill>
                  <a:srgbClr val="21295C"/>
                </a:solidFill>
                <a:latin typeface="Arial"/>
              </a:rPr>
              <a:t>Честный пробел:</a:t>
            </a:r>
            <a:r>
              <a:rPr sz="1500" b="0" i="0">
                <a:solidFill>
                  <a:srgbClr val="21295C"/>
                </a:solidFill>
                <a:latin typeface="Arial"/>
              </a:rPr>
              <a:t> данных о реакции аудитории именно на AI-миниатюры в проверяемом виде не найдено.</a:t>
            </a:r>
          </a:p>
        </p:txBody>
      </p:sp>
      <p:sp>
        <p:nvSpPr>
          <p:cNvPr id="6" name="Rounded Rectangle 5"/>
          <p:cNvSpPr/>
          <p:nvPr/>
        </p:nvSpPr>
        <p:spPr>
          <a:xfrm>
            <a:off x="6385255" y="1335024"/>
            <a:ext cx="5303520" cy="3518153"/>
          </a:xfrm>
          <a:prstGeom prst="roundRect">
            <a:avLst>
              <a:gd name="adj" fmla="val 8663"/>
            </a:avLst>
          </a:prstGeom>
          <a:solidFill>
            <a:srgbClr val="F4F7FA"/>
          </a:solidFill>
          <a:ln w="19050">
            <a:solidFill>
              <a:srgbClr val="1C7293"/>
            </a:solidFill>
          </a:ln>
          <a:effectLst/>
        </p:spPr>
        <p:txBody>
          <a:bodyPr rtlCol="0" anchor="ctr"/>
          <a:lstStyle/>
          <a:p>
            <a:pPr algn="ctr"/>
          </a:p>
        </p:txBody>
      </p:sp>
      <p:pic>
        <p:nvPicPr>
          <p:cNvPr id="7" name="Picture 6" descr="s36-youtube-ai-clickbait-newyorkreports.jpg"/>
          <p:cNvPicPr>
            <a:picLocks noChangeAspect="1"/>
          </p:cNvPicPr>
          <p:nvPr/>
        </p:nvPicPr>
        <p:blipFill>
          <a:blip r:embed="rId2"/>
          <a:stretch>
            <a:fillRect/>
          </a:stretch>
        </p:blipFill>
        <p:spPr>
          <a:xfrm>
            <a:off x="6522415" y="1472184"/>
            <a:ext cx="5029200" cy="3243834"/>
          </a:xfrm>
          <a:prstGeom prst="rect">
            <a:avLst/>
          </a:prstGeom>
        </p:spPr>
      </p:pic>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политика YouTube по работе с AI-контентом,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нагрузка переехала на зрителя</a:t>
            </a:r>
          </a:p>
        </p:txBody>
      </p:sp>
      <p:sp>
        <p:nvSpPr>
          <p:cNvPr id="4" name="Rounded Rectangle 3"/>
          <p:cNvSpPr/>
          <p:nvPr/>
        </p:nvSpPr>
        <p:spPr>
          <a:xfrm>
            <a:off x="502920"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SYSTEM1: МАКСИМУМ ШКАЛЫ</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5,9 звезды</a:t>
            </a:r>
          </a:p>
        </p:txBody>
      </p:sp>
      <p:sp>
        <p:nvSpPr>
          <p:cNvPr id="7" name="TextBox 6"/>
          <p:cNvSpPr txBox="1"/>
          <p:nvPr/>
        </p:nvSpPr>
        <p:spPr>
          <a:xfrm>
            <a:off x="640080"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эмоциональное качество — ролик прошёл</a:t>
            </a:r>
          </a:p>
        </p:txBody>
      </p:sp>
      <p:sp>
        <p:nvSpPr>
          <p:cNvPr id="8" name="Rounded Rectangle 7"/>
          <p:cNvSpPr/>
          <p:nvPr/>
        </p:nvSpPr>
        <p:spPr>
          <a:xfrm>
            <a:off x="4286402" y="1335024"/>
            <a:ext cx="3618890"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CARMA: ОТКРЫТАЯ РЕАКЦИЯ</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53,4% негатива</a:t>
            </a:r>
          </a:p>
        </p:txBody>
      </p:sp>
      <p:sp>
        <p:nvSpPr>
          <p:cNvPr id="11" name="TextBox 10"/>
          <p:cNvSpPr txBox="1"/>
          <p:nvPr/>
        </p:nvSpPr>
        <p:spPr>
          <a:xfrm>
            <a:off x="4423562"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доверие к происхождению — не прошло</a:t>
            </a:r>
          </a:p>
        </p:txBody>
      </p:sp>
      <p:sp>
        <p:nvSpPr>
          <p:cNvPr id="12" name="Rounded Rectangle 11"/>
          <p:cNvSpPr/>
          <p:nvPr/>
        </p:nvSpPr>
        <p:spPr>
          <a:xfrm>
            <a:off x="8069884" y="1335024"/>
            <a:ext cx="3618890"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КОМПАНИЯ НЕ ОТСТУПИЛА</a:t>
            </a:r>
          </a:p>
        </p:txBody>
      </p:sp>
      <p:sp>
        <p:nvSpPr>
          <p:cNvPr id="14" name="TextBox 13"/>
          <p:cNvSpPr txBox="1"/>
          <p:nvPr/>
        </p:nvSpPr>
        <p:spPr>
          <a:xfrm>
            <a:off x="8207044"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повторила подход второй год</a:t>
            </a:r>
          </a:p>
        </p:txBody>
      </p:sp>
      <p:sp>
        <p:nvSpPr>
          <p:cNvPr id="15" name="TextBox 14"/>
          <p:cNvSpPr txBox="1"/>
          <p:nvPr/>
        </p:nvSpPr>
        <p:spPr>
          <a:xfrm>
            <a:off x="8207044" y="2542797"/>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задокументированный провал не изменил поведение</a:t>
            </a:r>
          </a:p>
        </p:txBody>
      </p:sp>
      <p:sp>
        <p:nvSpPr>
          <p:cNvPr id="16" name="Rounded Rectangle 15"/>
          <p:cNvSpPr/>
          <p:nvPr/>
        </p:nvSpPr>
        <p:spPr>
          <a:xfrm>
            <a:off x="502920" y="3285324"/>
            <a:ext cx="5437479" cy="2179945"/>
          </a:xfrm>
          <a:prstGeom prst="roundRect">
            <a:avLst>
              <a:gd name="adj" fmla="val 1398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667512" y="34407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Раздел 2: подпись</a:t>
            </a:r>
          </a:p>
        </p:txBody>
      </p:sp>
      <p:sp>
        <p:nvSpPr>
          <p:cNvPr id="18" name="TextBox 17"/>
          <p:cNvSpPr txBox="1"/>
          <p:nvPr/>
        </p:nvSpPr>
        <p:spPr>
          <a:xfrm>
            <a:off x="667512" y="3796951"/>
            <a:ext cx="5108295" cy="1512870"/>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форма сохранена — подпись выглядит как подпись</a:t>
            </a:r>
          </a:p>
          <a:p>
            <a:pPr algn="l">
              <a:lnSpc>
                <a:spcPct val="126000"/>
              </a:lnSpc>
            </a:pPr>
            <a:r>
              <a:rPr sz="1450" b="0" i="0">
                <a:solidFill>
                  <a:srgbClr val="21295C"/>
                </a:solidFill>
                <a:latin typeface="Arial"/>
              </a:rPr>
              <a:t>• обнаружила подделку внешняя сторона — расследование</a:t>
            </a:r>
          </a:p>
          <a:p>
            <a:pPr algn="l">
              <a:lnSpc>
                <a:spcPct val="126000"/>
              </a:lnSpc>
            </a:pPr>
            <a:r>
              <a:rPr sz="1450" b="0" i="0">
                <a:solidFill>
                  <a:srgbClr val="21295C"/>
                </a:solidFill>
                <a:latin typeface="Arial"/>
              </a:rPr>
              <a:t>• итог: частота ошибок не хуже нормы, хуже раскрытие</a:t>
            </a:r>
          </a:p>
        </p:txBody>
      </p:sp>
      <p:sp>
        <p:nvSpPr>
          <p:cNvPr id="19" name="Rounded Rectangle 18"/>
          <p:cNvSpPr/>
          <p:nvPr/>
        </p:nvSpPr>
        <p:spPr>
          <a:xfrm>
            <a:off x="6251295" y="3285324"/>
            <a:ext cx="5437479" cy="2179945"/>
          </a:xfrm>
          <a:prstGeom prst="roundRect">
            <a:avLst>
              <a:gd name="adj" fmla="val 13982"/>
            </a:avLst>
          </a:prstGeom>
          <a:solidFill>
            <a:srgbClr val="FFFFFF"/>
          </a:solidFill>
          <a:ln w="19050">
            <a:solidFill>
              <a:srgbClr val="028090"/>
            </a:solidFill>
          </a:ln>
          <a:effectLst/>
        </p:spPr>
        <p:txBody>
          <a:bodyPr rtlCol="0" anchor="ctr"/>
          <a:lstStyle/>
          <a:p>
            <a:pPr algn="ctr"/>
          </a:p>
        </p:txBody>
      </p:sp>
      <p:sp>
        <p:nvSpPr>
          <p:cNvPr id="20" name="TextBox 19"/>
          <p:cNvSpPr txBox="1"/>
          <p:nvPr/>
        </p:nvSpPr>
        <p:spPr>
          <a:xfrm>
            <a:off x="6415887" y="34407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Раздел 3: ролик</a:t>
            </a:r>
          </a:p>
        </p:txBody>
      </p:sp>
      <p:sp>
        <p:nvSpPr>
          <p:cNvPr id="21" name="TextBox 20"/>
          <p:cNvSpPr txBox="1"/>
          <p:nvPr/>
        </p:nvSpPr>
        <p:spPr>
          <a:xfrm>
            <a:off x="6415887" y="3796951"/>
            <a:ext cx="5108295" cy="1512870"/>
          </a:xfrm>
          <a:prstGeom prst="rect">
            <a:avLst/>
          </a:prstGeom>
          <a:noFill/>
        </p:spPr>
        <p:txBody>
          <a:bodyPr wrap="square" lIns="0" rIns="0" tIns="0" bIns="0" anchor="t">
            <a:spAutoFit/>
          </a:bodyPr>
          <a:lstStyle/>
          <a:p>
            <a:pPr algn="l">
              <a:lnSpc>
                <a:spcPct val="126000"/>
              </a:lnSpc>
            </a:pPr>
            <a:r>
              <a:rPr sz="1400" b="0" i="0">
                <a:solidFill>
                  <a:srgbClr val="21295C"/>
                </a:solidFill>
                <a:latin typeface="Arial"/>
              </a:rPr>
              <a:t>• форма сохранена — съёмка выглядит профессиональной</a:t>
            </a:r>
          </a:p>
          <a:p>
            <a:pPr algn="l">
              <a:lnSpc>
                <a:spcPct val="126000"/>
              </a:lnSpc>
            </a:pPr>
            <a:r>
              <a:rPr sz="1400" b="0" i="0">
                <a:solidFill>
                  <a:srgbClr val="21295C"/>
                </a:solidFill>
                <a:latin typeface="Arial"/>
              </a:rPr>
              <a:t>• обнаружила подделку открытая сторона — аудитория сама</a:t>
            </a:r>
          </a:p>
          <a:p>
            <a:pPr algn="l">
              <a:lnSpc>
                <a:spcPct val="126000"/>
              </a:lnSpc>
            </a:pPr>
            <a:r>
              <a:rPr sz="1400" b="0" i="0">
                <a:solidFill>
                  <a:srgbClr val="21295C"/>
                </a:solidFill>
                <a:latin typeface="Arial"/>
              </a:rPr>
              <a:t>• итог: эмоциональная оценка высока, доверие к происхождению — нет</a:t>
            </a:r>
          </a:p>
        </p:txBody>
      </p:sp>
      <p:sp>
        <p:nvSpPr>
          <p:cNvPr id="22" name="Rounded Rectangle 21"/>
          <p:cNvSpPr/>
          <p:nvPr/>
        </p:nvSpPr>
        <p:spPr>
          <a:xfrm>
            <a:off x="374904" y="5556710"/>
            <a:ext cx="11441887" cy="67949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3" name="TextBox 22"/>
          <p:cNvSpPr txBox="1"/>
          <p:nvPr/>
        </p:nvSpPr>
        <p:spPr>
          <a:xfrm>
            <a:off x="539496" y="5648150"/>
            <a:ext cx="11112703" cy="588057"/>
          </a:xfrm>
          <a:prstGeom prst="rect">
            <a:avLst/>
          </a:prstGeom>
          <a:noFill/>
        </p:spPr>
        <p:txBody>
          <a:bodyPr wrap="square" lIns="0" rIns="0" tIns="0" bIns="0" anchor="t">
            <a:spAutoFit/>
          </a:bodyPr>
          <a:lstStyle/>
          <a:p>
            <a:pPr algn="l">
              <a:lnSpc>
                <a:spcPct val="126000"/>
              </a:lnSpc>
            </a:pPr>
            <a:r>
              <a:rPr sz="1450" b="1" i="0">
                <a:solidFill>
                  <a:srgbClr val="21295C"/>
                </a:solidFill>
                <a:latin typeface="Arial"/>
              </a:rPr>
              <a:t>Нагрузка по распознаванию переехала на зрителя</a:t>
            </a:r>
            <a:r>
              <a:rPr sz="1450" b="0" i="0">
                <a:solidFill>
                  <a:srgbClr val="21295C"/>
                </a:solidFill>
                <a:latin typeface="Arial"/>
              </a:rPr>
              <a:t> — ни тестирование, ни политика платформы её не берут на себя. </a:t>
            </a:r>
            <a:r>
              <a:rPr sz="1450" b="1" i="0">
                <a:solidFill>
                  <a:srgbClr val="21295C"/>
                </a:solidFill>
                <a:latin typeface="Arial"/>
              </a:rPr>
              <a:t>Два раздела, одна форма:</a:t>
            </a:r>
            <a:r>
              <a:rPr sz="1450" b="0" i="0">
                <a:solidFill>
                  <a:srgbClr val="21295C"/>
                </a:solidFill>
                <a:latin typeface="Arial"/>
              </a:rPr>
              <a:t> сигнал сохраняется, содержание, которое он гарантировал, — нет.</a:t>
            </a:r>
          </a:p>
        </p:txBody>
      </p:sp>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2436"/>
          </a:xfrm>
          <a:prstGeom prst="roundRect">
            <a:avLst>
              <a:gd name="adj" fmla="val 9119"/>
            </a:avLst>
          </a:prstGeom>
          <a:solidFill>
            <a:srgbClr val="F4F7FA"/>
          </a:solidFill>
          <a:ln w="19050">
            <a:solidFill>
              <a:srgbClr val="1C7293"/>
            </a:solidFill>
          </a:ln>
          <a:effectLst/>
        </p:spPr>
        <p:txBody>
          <a:bodyPr rtlCol="0" anchor="ctr"/>
          <a:lstStyle/>
          <a:p>
            <a:pPr algn="ctr"/>
          </a:p>
        </p:txBody>
      </p:sp>
      <p:pic>
        <p:nvPicPr>
          <p:cNvPr id="5" name="Picture 4" descr="s38-lady-justice-statue.jpg"/>
          <p:cNvPicPr>
            <a:picLocks noChangeAspect="1"/>
          </p:cNvPicPr>
          <p:nvPr/>
        </p:nvPicPr>
        <p:blipFill>
          <a:blip r:embed="rId2"/>
          <a:stretch>
            <a:fillRect/>
          </a:stretch>
        </p:blipFill>
        <p:spPr>
          <a:xfrm>
            <a:off x="6949440" y="1051560"/>
            <a:ext cx="4602175" cy="3068116"/>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4. Права и лицензирование</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640757"/>
          </a:xfrm>
          <a:prstGeom prst="rect">
            <a:avLst/>
          </a:prstGeom>
          <a:noFill/>
        </p:spPr>
        <p:txBody>
          <a:bodyPr wrap="square" lIns="0" rIns="0" tIns="0" bIns="0" anchor="t">
            <a:spAutoFit/>
          </a:bodyPr>
          <a:lstStyle/>
          <a:p>
            <a:pPr algn="l">
              <a:lnSpc>
                <a:spcPct val="124000"/>
              </a:lnSpc>
            </a:pPr>
            <a:r>
              <a:rPr sz="1550" b="1" i="0">
                <a:solidFill>
                  <a:srgbClr val="21295C"/>
                </a:solidFill>
                <a:latin typeface="Arial"/>
              </a:rPr>
              <a:t>Кто заплатил за право использовать этот материал — и заплатил ли вообще.</a:t>
            </a:r>
          </a:p>
        </p:txBody>
      </p:sp>
      <p:sp>
        <p:nvSpPr>
          <p:cNvPr id="9" name="TextBox 8"/>
          <p:cNvSpPr txBox="1"/>
          <p:nvPr/>
        </p:nvSpPr>
        <p:spPr>
          <a:xfrm>
            <a:off x="704088" y="2613331"/>
            <a:ext cx="5742432" cy="1547029"/>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По порядку: </a:t>
            </a:r>
            <a:r>
              <a:rPr sz="1550" b="1" i="0">
                <a:solidFill>
                  <a:srgbClr val="21295C"/>
                </a:solidFill>
                <a:latin typeface="Arial"/>
              </a:rPr>
              <a:t>Классика: три способа купить право</a:t>
            </a:r>
            <a:r>
              <a:rPr sz="1550" b="0" i="0">
                <a:solidFill>
                  <a:srgbClr val="21295C"/>
                </a:solidFill>
                <a:latin typeface="Arial"/>
              </a:rPr>
              <a:t> · </a:t>
            </a:r>
            <a:r>
              <a:rPr sz="1550" b="1" i="0">
                <a:solidFill>
                  <a:srgbClr val="21295C"/>
                </a:solidFill>
                <a:latin typeface="Arial"/>
              </a:rPr>
              <a:t>Голос и внешность: лицензия, которая не дешевеет</a:t>
            </a:r>
            <a:r>
              <a:rPr sz="1550" b="0" i="0">
                <a:solidFill>
                  <a:srgbClr val="21295C"/>
                </a:solidFill>
                <a:latin typeface="Arial"/>
              </a:rPr>
              <a:t> · </a:t>
            </a:r>
            <a:r>
              <a:rPr sz="1550" b="1" i="0">
                <a:solidFill>
                  <a:srgbClr val="21295C"/>
                </a:solidFill>
                <a:latin typeface="Arial"/>
              </a:rPr>
              <a:t>Два пути цены риска</a:t>
            </a:r>
            <a:r>
              <a:rPr sz="1550" b="0" i="0">
                <a:solidFill>
                  <a:srgbClr val="21295C"/>
                </a:solidFill>
                <a:latin typeface="Arial"/>
              </a:rPr>
              <a:t> · </a:t>
            </a:r>
            <a:r>
              <a:rPr sz="1550" b="1" i="0">
                <a:solidFill>
                  <a:srgbClr val="21295C"/>
                </a:solidFill>
                <a:latin typeface="Arial"/>
              </a:rPr>
              <a:t>Getty против Stability AI (Великобритания): единственный реальный вердикт</a:t>
            </a:r>
            <a:r>
              <a:rPr sz="1550" b="0" i="0">
                <a:solidFill>
                  <a:srgbClr val="21295C"/>
                </a:solidFill>
                <a:latin typeface="Arial"/>
              </a:rPr>
              <a:t> · </a:t>
            </a:r>
            <a:r>
              <a:rPr sz="1550" b="1" i="0">
                <a:solidFill>
                  <a:srgbClr val="21295C"/>
                </a:solidFill>
                <a:latin typeface="Arial"/>
              </a:rPr>
              <a:t>NYT против OpenAI и кластер RIAA: честно незавершённый ландшафт</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Три способа купить право — и зачем нужна отдельная служба, когда это не сделано</a:t>
            </a:r>
          </a:p>
        </p:txBody>
      </p:sp>
      <p:sp>
        <p:nvSpPr>
          <p:cNvPr id="4" name="Rounded Rectangle 3"/>
          <p:cNvSpPr/>
          <p:nvPr/>
        </p:nvSpPr>
        <p:spPr>
          <a:xfrm>
            <a:off x="502920"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1</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покупка у агрегатора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фотобанк, музыкальная библиотека — по прейскуранту</a:t>
            </a:r>
          </a:p>
        </p:txBody>
      </p:sp>
      <p:sp>
        <p:nvSpPr>
          <p:cNvPr id="8" name="Rounded Rectangle 7"/>
          <p:cNvSpPr/>
          <p:nvPr/>
        </p:nvSpPr>
        <p:spPr>
          <a:xfrm>
            <a:off x="4286402" y="1335024"/>
            <a:ext cx="3618890"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2</a:t>
            </a:r>
          </a:p>
        </p:txBody>
      </p:sp>
      <p:sp>
        <p:nvSpPr>
          <p:cNvPr id="10" name="TextBox 9"/>
          <p:cNvSpPr txBox="1"/>
          <p:nvPr/>
        </p:nvSpPr>
        <p:spPr>
          <a:xfrm>
            <a:off x="4423562"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прямые переговоры</a:t>
            </a:r>
          </a:p>
        </p:txBody>
      </p:sp>
      <p:sp>
        <p:nvSpPr>
          <p:cNvPr id="11" name="TextBox 10"/>
          <p:cNvSpPr txBox="1"/>
          <p:nvPr/>
        </p:nvSpPr>
        <p:spPr>
          <a:xfrm>
            <a:off x="4423562"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 конкретным правообладателем, цена не фиксирована</a:t>
            </a:r>
          </a:p>
        </p:txBody>
      </p:sp>
      <p:sp>
        <p:nvSpPr>
          <p:cNvPr id="12" name="Rounded Rectangle 11"/>
          <p:cNvSpPr/>
          <p:nvPr/>
        </p:nvSpPr>
        <p:spPr>
          <a:xfrm>
            <a:off x="8069884" y="1335024"/>
            <a:ext cx="3618890"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СПОСОБ 3</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суд постфактум</a:t>
            </a:r>
          </a:p>
        </p:txBody>
      </p:sp>
      <p:sp>
        <p:nvSpPr>
          <p:cNvPr id="15" name="TextBox 14"/>
          <p:cNvSpPr txBox="1"/>
          <p:nvPr/>
        </p:nvSpPr>
        <p:spPr>
          <a:xfrm>
            <a:off x="8207044"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включается, когда право не было получено заранее</a:t>
            </a:r>
          </a:p>
        </p:txBody>
      </p:sp>
      <p:sp>
        <p:nvSpPr>
          <p:cNvPr id="16" name="Rounded Rectangle 15"/>
          <p:cNvSpPr/>
          <p:nvPr/>
        </p:nvSpPr>
        <p:spPr>
          <a:xfrm>
            <a:off x="374904" y="2803461"/>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Способ 1 — покупка готовой лицензии у агрегатора</a:t>
            </a:r>
            <a:r>
              <a:rPr sz="1500" b="0" i="0">
                <a:solidFill>
                  <a:srgbClr val="21295C"/>
                </a:solidFill>
                <a:latin typeface="Arial"/>
              </a:rPr>
              <a:t>, по прейскуранту.</a:t>
            </a:r>
          </a:p>
          <a:p>
            <a:pPr algn="l">
              <a:lnSpc>
                <a:spcPct val="126000"/>
              </a:lnSpc>
              <a:spcBef>
                <a:spcPts val="700"/>
              </a:spcBef>
            </a:pPr>
            <a:r>
              <a:rPr sz="1500" b="0" i="0">
                <a:solidFill>
                  <a:srgbClr val="21295C"/>
                </a:solidFill>
                <a:latin typeface="Arial"/>
              </a:rPr>
              <a:t/>
            </a:r>
            <a:r>
              <a:rPr sz="1500" b="1" i="0">
                <a:solidFill>
                  <a:srgbClr val="21295C"/>
                </a:solidFill>
                <a:latin typeface="Arial"/>
              </a:rPr>
              <a:t>Способ 2 — прямые переговоры с правообладателем</a:t>
            </a:r>
            <a:r>
              <a:rPr sz="1500" b="0" i="0">
                <a:solidFill>
                  <a:srgbClr val="21295C"/>
                </a:solidFill>
                <a:latin typeface="Arial"/>
              </a:rPr>
              <a:t>, цена не фиксирована.</a:t>
            </a:r>
          </a:p>
        </p:txBody>
      </p:sp>
      <p:sp>
        <p:nvSpPr>
          <p:cNvPr id="18" name="TextBox 17"/>
          <p:cNvSpPr txBox="1"/>
          <p:nvPr/>
        </p:nvSpPr>
        <p:spPr>
          <a:xfrm>
            <a:off x="6278727" y="2894901"/>
            <a:ext cx="5373471" cy="334130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Способ 3 — суд, когда первые два пропущены.</a:t>
            </a:r>
          </a:p>
          <a:p>
            <a:pPr algn="l">
              <a:lnSpc>
                <a:spcPct val="126000"/>
              </a:lnSpc>
              <a:spcBef>
                <a:spcPts val="700"/>
              </a:spcBef>
            </a:pPr>
            <a:r>
              <a:rPr sz="1500" b="0" i="0">
                <a:solidFill>
                  <a:srgbClr val="21295C"/>
                </a:solidFill>
                <a:latin typeface="Arial"/>
              </a:rPr>
              <a:t/>
            </a:r>
            <a:r>
              <a:rPr sz="1500" b="1" i="0">
                <a:solidFill>
                  <a:srgbClr val="21295C"/>
                </a:solidFill>
                <a:latin typeface="Arial"/>
              </a:rPr>
              <a:t>Решение стадии — отдельный контрольный проход, не один человек:</a:t>
            </a:r>
            <a:r>
              <a:rPr sz="1500" b="0" i="0">
                <a:solidFill>
                  <a:srgbClr val="21295C"/>
                </a:solidFill>
                <a:latin typeface="Arial"/>
              </a:rPr>
              <a:t> клиринг прав перед публикацией плюс страхование от его ошибки (англ. errors &amp; omissions — страхование ответственности за ошибки и упущения).</a:t>
            </a:r>
          </a:p>
        </p:txBody>
      </p:sp>
      <p:sp>
        <p:nvSpPr>
          <p:cNvPr id="19" name="Rectangle 18"/>
          <p:cNvSpPr/>
          <p:nvPr/>
        </p:nvSpPr>
        <p:spPr>
          <a:xfrm>
            <a:off x="6091275" y="2894901"/>
            <a:ext cx="9144" cy="1574205"/>
          </a:xfrm>
          <a:prstGeom prst="rect">
            <a:avLst/>
          </a:prstGeom>
          <a:solidFill>
            <a:srgbClr val="D9E2EC"/>
          </a:solidFill>
          <a:ln>
            <a:noFill/>
          </a:ln>
          <a:effectLst/>
        </p:spPr>
        <p:txBody>
          <a:bodyPr rtlCol="0" anchor="ctr"/>
          <a:lstStyle/>
          <a:p>
            <a:pPr algn="ctr"/>
          </a:p>
        </p:txBody>
      </p:sp>
      <p:sp>
        <p:nvSpPr>
          <p:cNvPr id="20" name="Rectangle 19"/>
          <p:cNvSpPr/>
          <p:nvPr/>
        </p:nvSpPr>
        <p:spPr>
          <a:xfrm>
            <a:off x="502920" y="752291"/>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Классика: во сколько обходится лицензия — и почему дёшево оптом, дорого в розницу</a:t>
            </a:r>
          </a:p>
        </p:txBody>
      </p:sp>
      <p:sp>
        <p:nvSpPr>
          <p:cNvPr id="4" name="Rounded Rectangle 3"/>
          <p:cNvSpPr/>
          <p:nvPr/>
        </p:nvSpPr>
        <p:spPr>
          <a:xfrm>
            <a:off x="502920" y="1335024"/>
            <a:ext cx="1543735" cy="2084285"/>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ФОТО, ОПТ (ПОДПИСКА)</a:t>
            </a:r>
          </a:p>
        </p:txBody>
      </p:sp>
      <p:sp>
        <p:nvSpPr>
          <p:cNvPr id="6" name="TextBox 5"/>
          <p:cNvSpPr txBox="1"/>
          <p:nvPr/>
        </p:nvSpPr>
        <p:spPr>
          <a:xfrm>
            <a:off x="640080" y="1932846"/>
            <a:ext cx="1269415" cy="528848"/>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$2,5 / изображение</a:t>
            </a:r>
          </a:p>
        </p:txBody>
      </p:sp>
      <p:sp>
        <p:nvSpPr>
          <p:cNvPr id="7" name="TextBox 6"/>
          <p:cNvSpPr txBox="1"/>
          <p:nvPr/>
        </p:nvSpPr>
        <p:spPr>
          <a:xfrm>
            <a:off x="640080" y="2461695"/>
            <a:ext cx="126941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каталог ~750 изображений/год</a:t>
            </a:r>
          </a:p>
        </p:txBody>
      </p:sp>
      <p:sp>
        <p:nvSpPr>
          <p:cNvPr id="8" name="Rounded Rectangle 7"/>
          <p:cNvSpPr/>
          <p:nvPr/>
        </p:nvSpPr>
        <p:spPr>
          <a:xfrm>
            <a:off x="2211247" y="1335024"/>
            <a:ext cx="1543735" cy="2084285"/>
          </a:xfrm>
          <a:prstGeom prst="roundRect">
            <a:avLst>
              <a:gd name="adj" fmla="val 19744"/>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348407"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ФОТО, РОЗНИЦА</a:t>
            </a:r>
          </a:p>
        </p:txBody>
      </p:sp>
      <p:sp>
        <p:nvSpPr>
          <p:cNvPr id="10" name="TextBox 9"/>
          <p:cNvSpPr txBox="1"/>
          <p:nvPr/>
        </p:nvSpPr>
        <p:spPr>
          <a:xfrm>
            <a:off x="2348407" y="1932846"/>
            <a:ext cx="1269415" cy="528848"/>
          </a:xfrm>
          <a:prstGeom prst="rect">
            <a:avLst/>
          </a:prstGeom>
          <a:noFill/>
        </p:spPr>
        <p:txBody>
          <a:bodyPr wrap="square" lIns="0" rIns="0" tIns="0" bIns="0" anchor="t">
            <a:spAutoFit/>
          </a:bodyPr>
          <a:lstStyle/>
          <a:p>
            <a:pPr algn="l">
              <a:lnSpc>
                <a:spcPct val="108000"/>
              </a:lnSpc>
            </a:pPr>
            <a:r>
              <a:rPr sz="1450" b="1" i="0">
                <a:solidFill>
                  <a:srgbClr val="1C7293"/>
                </a:solidFill>
                <a:latin typeface="Arial"/>
              </a:rPr>
              <a:t>$130-499 / изображение</a:t>
            </a:r>
          </a:p>
        </p:txBody>
      </p:sp>
      <p:sp>
        <p:nvSpPr>
          <p:cNvPr id="11" name="TextBox 10"/>
          <p:cNvSpPr txBox="1"/>
          <p:nvPr/>
        </p:nvSpPr>
        <p:spPr>
          <a:xfrm>
            <a:off x="2348407" y="2461695"/>
            <a:ext cx="126941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разовая покупка</a:t>
            </a:r>
          </a:p>
        </p:txBody>
      </p:sp>
      <p:sp>
        <p:nvSpPr>
          <p:cNvPr id="12" name="Rounded Rectangle 11"/>
          <p:cNvSpPr/>
          <p:nvPr/>
        </p:nvSpPr>
        <p:spPr>
          <a:xfrm>
            <a:off x="3919575" y="1335024"/>
            <a:ext cx="1543735" cy="2084285"/>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056735"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СТАНДАРТ</a:t>
            </a:r>
          </a:p>
        </p:txBody>
      </p:sp>
      <p:sp>
        <p:nvSpPr>
          <p:cNvPr id="14" name="TextBox 13"/>
          <p:cNvSpPr txBox="1"/>
          <p:nvPr/>
        </p:nvSpPr>
        <p:spPr>
          <a:xfrm>
            <a:off x="4056735" y="1932846"/>
            <a:ext cx="126941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$20-100 / трек</a:t>
            </a:r>
          </a:p>
        </p:txBody>
      </p:sp>
      <p:sp>
        <p:nvSpPr>
          <p:cNvPr id="15" name="TextBox 14"/>
          <p:cNvSpPr txBox="1"/>
          <p:nvPr/>
        </p:nvSpPr>
        <p:spPr>
          <a:xfrm>
            <a:off x="4056735" y="2750268"/>
            <a:ext cx="126941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веб, подкаст, корп. видео</a:t>
            </a:r>
          </a:p>
        </p:txBody>
      </p:sp>
      <p:sp>
        <p:nvSpPr>
          <p:cNvPr id="16" name="Rounded Rectangle 15"/>
          <p:cNvSpPr/>
          <p:nvPr/>
        </p:nvSpPr>
        <p:spPr>
          <a:xfrm>
            <a:off x="5627903" y="1335024"/>
            <a:ext cx="1543735" cy="2084285"/>
          </a:xfrm>
          <a:prstGeom prst="roundRect">
            <a:avLst>
              <a:gd name="adj" fmla="val 19744"/>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5765063" y="1472184"/>
            <a:ext cx="12694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ТРЕК, РАСШИРЕННАЯ</a:t>
            </a:r>
          </a:p>
        </p:txBody>
      </p:sp>
      <p:sp>
        <p:nvSpPr>
          <p:cNvPr id="18" name="TextBox 17"/>
          <p:cNvSpPr txBox="1"/>
          <p:nvPr/>
        </p:nvSpPr>
        <p:spPr>
          <a:xfrm>
            <a:off x="5765063" y="1932846"/>
            <a:ext cx="1269415" cy="715572"/>
          </a:xfrm>
          <a:prstGeom prst="rect">
            <a:avLst/>
          </a:prstGeom>
          <a:noFill/>
        </p:spPr>
        <p:txBody>
          <a:bodyPr wrap="square" lIns="0" rIns="0" tIns="0" bIns="0" anchor="t">
            <a:spAutoFit/>
          </a:bodyPr>
          <a:lstStyle/>
          <a:p>
            <a:pPr algn="l">
              <a:lnSpc>
                <a:spcPct val="108000"/>
              </a:lnSpc>
            </a:pPr>
            <a:r>
              <a:rPr sz="2000" b="1" i="0">
                <a:solidFill>
                  <a:srgbClr val="21295C"/>
                </a:solidFill>
                <a:latin typeface="Arial"/>
              </a:rPr>
              <a:t>$100-500+ / трек</a:t>
            </a:r>
          </a:p>
        </p:txBody>
      </p:sp>
      <p:sp>
        <p:nvSpPr>
          <p:cNvPr id="19" name="TextBox 18"/>
          <p:cNvSpPr txBox="1"/>
          <p:nvPr/>
        </p:nvSpPr>
        <p:spPr>
          <a:xfrm>
            <a:off x="5765063" y="2648419"/>
            <a:ext cx="126941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больший охват, коммерческий продукт</a:t>
            </a:r>
          </a:p>
        </p:txBody>
      </p:sp>
      <p:sp>
        <p:nvSpPr>
          <p:cNvPr id="20" name="Rounded Rectangle 19"/>
          <p:cNvSpPr/>
          <p:nvPr/>
        </p:nvSpPr>
        <p:spPr>
          <a:xfrm>
            <a:off x="374904" y="3510749"/>
            <a:ext cx="6924751"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602189"/>
            <a:ext cx="6595567" cy="263401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Лицензия дешева при массовом использовании и дорога при штучном — экономика объёма, не прихоть прейскуранта.</a:t>
            </a:r>
            <a:r>
              <a:rPr sz="1500" b="0" i="0">
                <a:solidFill>
                  <a:srgbClr val="21295C"/>
                </a:solidFill>
                <a:latin typeface="Arial"/>
              </a:rPr>
              <a:t> Издержки каталога размазаны на тысячи транзакций подписчика; разовый покупатель платит за ту же инфраструктуру целиком.</a:t>
            </a:r>
          </a:p>
          <a:p>
            <a:pPr algn="l">
              <a:lnSpc>
                <a:spcPct val="126000"/>
              </a:lnSpc>
              <a:spcBef>
                <a:spcPts val="700"/>
              </a:spcBef>
            </a:pPr>
            <a:r>
              <a:rPr sz="1500" b="0" i="0">
                <a:solidFill>
                  <a:srgbClr val="21295C"/>
                </a:solidFill>
                <a:latin typeface="Arial"/>
              </a:rPr>
              <a:t/>
            </a:r>
            <a:r>
              <a:rPr sz="1500" b="1" i="0">
                <a:solidFill>
                  <a:srgbClr val="21295C"/>
                </a:solidFill>
                <a:latin typeface="Arial"/>
              </a:rPr>
              <a:t>Та же логика объёма — и в музыке, коллективно</a:t>
            </a:r>
            <a:r>
              <a:rPr sz="1500" b="0" i="0">
                <a:solidFill>
                  <a:srgbClr val="21295C"/>
                </a:solidFill>
                <a:latin typeface="Arial"/>
              </a:rPr>
              <a:t> (организации по сбору авторских вознаграждений), но на лицензирование обучения моделей она на 2026 год не распространена ни разу.</a:t>
            </a:r>
          </a:p>
        </p:txBody>
      </p:sp>
      <p:sp>
        <p:nvSpPr>
          <p:cNvPr id="22" name="Rounded Rectangle 21"/>
          <p:cNvSpPr/>
          <p:nvPr/>
        </p:nvSpPr>
        <p:spPr>
          <a:xfrm>
            <a:off x="7482535" y="1335024"/>
            <a:ext cx="4206240" cy="4206240"/>
          </a:xfrm>
          <a:prstGeom prst="roundRect">
            <a:avLst>
              <a:gd name="adj" fmla="val 7246"/>
            </a:avLst>
          </a:prstGeom>
          <a:solidFill>
            <a:srgbClr val="F4F7FA"/>
          </a:solidFill>
          <a:ln w="19050">
            <a:solidFill>
              <a:srgbClr val="1C7293"/>
            </a:solidFill>
          </a:ln>
          <a:effectLst/>
        </p:spPr>
        <p:txBody>
          <a:bodyPr rtlCol="0" anchor="ctr"/>
          <a:lstStyle/>
          <a:p>
            <a:pPr algn="ctr"/>
          </a:p>
        </p:txBody>
      </p:sp>
      <p:pic>
        <p:nvPicPr>
          <p:cNvPr id="23" name="Picture 22" descr="s40-pexels-stock-photo-website-browsing.jpg"/>
          <p:cNvPicPr>
            <a:picLocks noChangeAspect="1"/>
          </p:cNvPicPr>
          <p:nvPr/>
        </p:nvPicPr>
        <p:blipFill>
          <a:blip r:embed="rId2"/>
          <a:stretch>
            <a:fillRect/>
          </a:stretch>
        </p:blipFill>
        <p:spPr>
          <a:xfrm>
            <a:off x="7619695" y="1472184"/>
            <a:ext cx="3931920" cy="3931920"/>
          </a:xfrm>
          <a:prstGeom prst="rect">
            <a:avLst/>
          </a:prstGeom>
        </p:spPr>
      </p:pic>
      <p:sp>
        <p:nvSpPr>
          <p:cNvPr id="24" name="Rectangle 23"/>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Snappr, 2026; сопоставление тарифов стоковых музыкальных библиотек,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Исключение: голос и внешность стоят дороже синтеза, а не дешевле</a:t>
            </a:r>
          </a:p>
        </p:txBody>
      </p:sp>
      <p:sp>
        <p:nvSpPr>
          <p:cNvPr id="4" name="Rounded Rectangle 3"/>
          <p:cNvSpPr/>
          <p:nvPr/>
        </p:nvSpPr>
        <p:spPr>
          <a:xfrm>
            <a:off x="502920"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665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НАЦ. РЕКЛАМА, ОГРАНИЧЕННЫЙ СРОК</a:t>
            </a:r>
          </a:p>
        </p:txBody>
      </p:sp>
      <p:sp>
        <p:nvSpPr>
          <p:cNvPr id="6" name="TextBox 5"/>
          <p:cNvSpPr txBox="1"/>
          <p:nvPr/>
        </p:nvSpPr>
        <p:spPr>
          <a:xfrm>
            <a:off x="640080" y="2140317"/>
            <a:ext cx="156659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от $650</a:t>
            </a:r>
          </a:p>
        </p:txBody>
      </p:sp>
      <p:sp>
        <p:nvSpPr>
          <p:cNvPr id="7" name="TextBox 6"/>
          <p:cNvSpPr txBox="1"/>
          <p:nvPr/>
        </p:nvSpPr>
        <p:spPr>
          <a:xfrm>
            <a:off x="640080" y="2567316"/>
            <a:ext cx="156659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a:t>
            </a:r>
          </a:p>
        </p:txBody>
      </p:sp>
      <p:sp>
        <p:nvSpPr>
          <p:cNvPr id="8" name="Rounded Rectangle 7"/>
          <p:cNvSpPr/>
          <p:nvPr/>
        </p:nvSpPr>
        <p:spPr>
          <a:xfrm>
            <a:off x="2508427"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645587" y="1472184"/>
            <a:ext cx="156659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ВЫКУП НА ГОД</a:t>
            </a:r>
          </a:p>
        </p:txBody>
      </p:sp>
      <p:sp>
        <p:nvSpPr>
          <p:cNvPr id="10" name="TextBox 9"/>
          <p:cNvSpPr txBox="1"/>
          <p:nvPr/>
        </p:nvSpPr>
        <p:spPr>
          <a:xfrm>
            <a:off x="2645587" y="1725375"/>
            <a:ext cx="1566595" cy="410024"/>
          </a:xfrm>
          <a:prstGeom prst="rect">
            <a:avLst/>
          </a:prstGeom>
          <a:noFill/>
        </p:spPr>
        <p:txBody>
          <a:bodyPr wrap="square" lIns="0" rIns="0" tIns="0" bIns="0" anchor="t">
            <a:spAutoFit/>
          </a:bodyPr>
          <a:lstStyle/>
          <a:p>
            <a:pPr algn="l">
              <a:lnSpc>
                <a:spcPct val="108000"/>
              </a:lnSpc>
            </a:pPr>
            <a:r>
              <a:rPr sz="2200" b="1" i="0">
                <a:solidFill>
                  <a:srgbClr val="21295C"/>
                </a:solidFill>
                <a:latin typeface="Arial"/>
              </a:rPr>
              <a:t>$3200-3500</a:t>
            </a:r>
          </a:p>
        </p:txBody>
      </p:sp>
      <p:sp>
        <p:nvSpPr>
          <p:cNvPr id="11" name="Rounded Rectangle 10"/>
          <p:cNvSpPr/>
          <p:nvPr/>
        </p:nvSpPr>
        <p:spPr>
          <a:xfrm>
            <a:off x="4513935" y="1335024"/>
            <a:ext cx="1840915" cy="2350226"/>
          </a:xfrm>
          <a:prstGeom prst="roundRect">
            <a:avLst>
              <a:gd name="adj" fmla="val 16556"/>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4651095" y="1472184"/>
            <a:ext cx="156659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БЕССРОЧНЫЙ ВЫКУП</a:t>
            </a:r>
          </a:p>
        </p:txBody>
      </p:sp>
      <p:sp>
        <p:nvSpPr>
          <p:cNvPr id="13" name="TextBox 12"/>
          <p:cNvSpPr txBox="1"/>
          <p:nvPr/>
        </p:nvSpPr>
        <p:spPr>
          <a:xfrm>
            <a:off x="4651095" y="1932846"/>
            <a:ext cx="156659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$6500</a:t>
            </a:r>
          </a:p>
        </p:txBody>
      </p:sp>
      <p:sp>
        <p:nvSpPr>
          <p:cNvPr id="14" name="Rounded Rectangle 13"/>
          <p:cNvSpPr/>
          <p:nvPr/>
        </p:nvSpPr>
        <p:spPr>
          <a:xfrm>
            <a:off x="6519443" y="1335024"/>
            <a:ext cx="1840915" cy="2350226"/>
          </a:xfrm>
          <a:prstGeom prst="roundRect">
            <a:avLst>
              <a:gd name="adj" fmla="val 16556"/>
            </a:avLst>
          </a:prstGeom>
          <a:solidFill>
            <a:srgbClr val="FFFFFF"/>
          </a:solidFill>
          <a:ln w="25400">
            <a:solidFill>
              <a:srgbClr val="F0AB00"/>
            </a:solidFill>
          </a:ln>
          <a:effectLst/>
        </p:spPr>
        <p:txBody>
          <a:bodyPr rtlCol="0" anchor="ctr"/>
          <a:lstStyle/>
          <a:p>
            <a:pPr algn="ctr"/>
          </a:p>
        </p:txBody>
      </p:sp>
      <p:sp>
        <p:nvSpPr>
          <p:cNvPr id="15" name="TextBox 14"/>
          <p:cNvSpPr txBox="1"/>
          <p:nvPr/>
        </p:nvSpPr>
        <p:spPr>
          <a:xfrm>
            <a:off x="6656603" y="1472184"/>
            <a:ext cx="1566595"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СОГЛАСИЕ НА СИНТЕЗ-КОПИЮ (SAG-AFTRA)</a:t>
            </a:r>
          </a:p>
        </p:txBody>
      </p:sp>
      <p:sp>
        <p:nvSpPr>
          <p:cNvPr id="16" name="TextBox 15"/>
          <p:cNvSpPr txBox="1"/>
          <p:nvPr/>
        </p:nvSpPr>
        <p:spPr>
          <a:xfrm>
            <a:off x="6656603" y="2140317"/>
            <a:ext cx="1566595" cy="562798"/>
          </a:xfrm>
          <a:prstGeom prst="rect">
            <a:avLst/>
          </a:prstGeom>
          <a:noFill/>
        </p:spPr>
        <p:txBody>
          <a:bodyPr wrap="square" lIns="0" rIns="0" tIns="0" bIns="0" anchor="t">
            <a:spAutoFit/>
          </a:bodyPr>
          <a:lstStyle/>
          <a:p>
            <a:pPr algn="l">
              <a:lnSpc>
                <a:spcPct val="108000"/>
              </a:lnSpc>
            </a:pPr>
            <a:r>
              <a:rPr sz="1550" b="1" i="0">
                <a:solidFill>
                  <a:srgbClr val="1C7293"/>
                </a:solidFill>
                <a:latin typeface="Arial"/>
              </a:rPr>
              <a:t>$956,75-1914,25 + 16,5%</a:t>
            </a:r>
          </a:p>
        </p:txBody>
      </p:sp>
      <p:sp>
        <p:nvSpPr>
          <p:cNvPr id="17" name="TextBox 16"/>
          <p:cNvSpPr txBox="1"/>
          <p:nvPr/>
        </p:nvSpPr>
        <p:spPr>
          <a:xfrm>
            <a:off x="6656603" y="2703116"/>
            <a:ext cx="156659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ещё до использования; само использование — ×1,5 ставки</a:t>
            </a:r>
          </a:p>
        </p:txBody>
      </p:sp>
      <p:sp>
        <p:nvSpPr>
          <p:cNvPr id="18" name="Rounded Rectangle 17"/>
          <p:cNvSpPr/>
          <p:nvPr/>
        </p:nvSpPr>
        <p:spPr>
          <a:xfrm>
            <a:off x="374904" y="3776690"/>
            <a:ext cx="8113471" cy="2459517"/>
          </a:xfrm>
          <a:prstGeom prst="roundRect">
            <a:avLst>
              <a:gd name="adj" fmla="val 12392"/>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3868130"/>
            <a:ext cx="7784287" cy="2368077"/>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Фотобанк продаёт уже существующий объект. Голос и внешность — узнаваемую личность</a:t>
            </a:r>
            <a:r>
              <a:rPr sz="1500" b="0" i="0">
                <a:solidFill>
                  <a:srgbClr val="21295C"/>
                </a:solidFill>
                <a:latin typeface="Arial"/>
              </a:rPr>
              <a:t> — право возобновляется для каждого нового применения отдельно.</a:t>
            </a:r>
          </a:p>
          <a:p>
            <a:pPr algn="l">
              <a:lnSpc>
                <a:spcPct val="126000"/>
              </a:lnSpc>
              <a:spcBef>
                <a:spcPts val="700"/>
              </a:spcBef>
            </a:pPr>
            <a:r>
              <a:rPr sz="1500" b="0" i="0">
                <a:solidFill>
                  <a:srgbClr val="21295C"/>
                </a:solidFill>
                <a:latin typeface="Arial"/>
              </a:rPr>
              <a:t/>
            </a:r>
            <a:r>
              <a:rPr sz="1500" b="1" i="0">
                <a:solidFill>
                  <a:srgbClr val="21295C"/>
                </a:solidFill>
                <a:latin typeface="Arial"/>
              </a:rPr>
              <a:t>SAG-AFTRA заранее зафиксировал цену синтеза контрактом</a:t>
            </a:r>
            <a:r>
              <a:rPr sz="1500" b="0" i="0">
                <a:solidFill>
                  <a:srgbClr val="21295C"/>
                </a:solidFill>
                <a:latin typeface="Arial"/>
              </a:rPr>
              <a:t> — до всякого использования, самим фактом согласия.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Единственное исключение главы из разрыва в три-четыре порядка.</a:t>
            </a:r>
            <a:r>
              <a:rPr sz="1500" b="0" i="0">
                <a:solidFill>
                  <a:srgbClr val="21295C"/>
                </a:solidFill>
                <a:latin typeface="Arial"/>
              </a:rPr>
              <a:t> Обнуление цены — не технический закон, а вопрос, успела ли сторона заранее назвать цену подмены.</a:t>
            </a:r>
          </a:p>
        </p:txBody>
      </p:sp>
      <p:sp>
        <p:nvSpPr>
          <p:cNvPr id="20" name="Rounded Rectangle 19"/>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21" name="Picture 20" descr="s41-voiceover-recording-booth-microphone.jpg"/>
          <p:cNvPicPr>
            <a:picLocks noChangeAspect="1"/>
          </p:cNvPicPr>
          <p:nvPr/>
        </p:nvPicPr>
        <p:blipFill>
          <a:blip r:embed="rId2"/>
          <a:stretch>
            <a:fillRect/>
          </a:stretch>
        </p:blipFill>
        <p:spPr>
          <a:xfrm>
            <a:off x="8808415" y="1472184"/>
            <a:ext cx="2743200" cy="4114800"/>
          </a:xfrm>
          <a:prstGeom prst="rect">
            <a:avLst/>
          </a:prstGeom>
        </p:spPr>
      </p:pic>
      <p:sp>
        <p:nvSpPr>
          <p:cNvPr id="22" name="Rectangle 21"/>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GVAA Rate Guide, 2026; SAG-AFTRA, 2024-2025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Два пути одной развилки — и путь, который не стали ждать</a:t>
            </a:r>
          </a:p>
        </p:txBody>
      </p:sp>
      <p:sp>
        <p:nvSpPr>
          <p:cNvPr id="4" name="Rounded Rectangle 3"/>
          <p:cNvSpPr/>
          <p:nvPr/>
        </p:nvSpPr>
        <p:spPr>
          <a:xfrm>
            <a:off x="502920" y="1335024"/>
            <a:ext cx="288630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6119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КЛАССИЧЕСКИЙ ПУТЬ</a:t>
            </a:r>
          </a:p>
        </p:txBody>
      </p:sp>
      <p:sp>
        <p:nvSpPr>
          <p:cNvPr id="6" name="TextBox 5"/>
          <p:cNvSpPr txBox="1"/>
          <p:nvPr/>
        </p:nvSpPr>
        <p:spPr>
          <a:xfrm>
            <a:off x="640080" y="1725375"/>
            <a:ext cx="261198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цена известна заранее</a:t>
            </a:r>
          </a:p>
        </p:txBody>
      </p:sp>
      <p:sp>
        <p:nvSpPr>
          <p:cNvPr id="7" name="TextBox 6"/>
          <p:cNvSpPr txBox="1"/>
          <p:nvPr/>
        </p:nvSpPr>
        <p:spPr>
          <a:xfrm>
            <a:off x="640080" y="2542797"/>
            <a:ext cx="261198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переплата ограничена сверху ценой лицензии</a:t>
            </a:r>
          </a:p>
        </p:txBody>
      </p:sp>
      <p:sp>
        <p:nvSpPr>
          <p:cNvPr id="8" name="Rounded Rectangle 7"/>
          <p:cNvSpPr/>
          <p:nvPr/>
        </p:nvSpPr>
        <p:spPr>
          <a:xfrm>
            <a:off x="3553815" y="1335024"/>
            <a:ext cx="2886303"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690975" y="1472184"/>
            <a:ext cx="26119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ПУТЬ БЕЗ ЛИЦЕНЗИИ (2023-24)</a:t>
            </a:r>
          </a:p>
        </p:txBody>
      </p:sp>
      <p:sp>
        <p:nvSpPr>
          <p:cNvPr id="10" name="TextBox 9"/>
          <p:cNvSpPr txBox="1"/>
          <p:nvPr/>
        </p:nvSpPr>
        <p:spPr>
          <a:xfrm>
            <a:off x="3690975" y="1725375"/>
            <a:ext cx="261198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цена неизвестна</a:t>
            </a:r>
          </a:p>
        </p:txBody>
      </p:sp>
      <p:sp>
        <p:nvSpPr>
          <p:cNvPr id="11" name="TextBox 10"/>
          <p:cNvSpPr txBox="1"/>
          <p:nvPr/>
        </p:nvSpPr>
        <p:spPr>
          <a:xfrm>
            <a:off x="3690975" y="2152374"/>
            <a:ext cx="261198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становится известна постфактум, по-разному для разных ответчиков</a:t>
            </a:r>
          </a:p>
        </p:txBody>
      </p:sp>
      <p:sp>
        <p:nvSpPr>
          <p:cNvPr id="12" name="Rounded Rectangle 11"/>
          <p:cNvSpPr/>
          <p:nvPr/>
        </p:nvSpPr>
        <p:spPr>
          <a:xfrm>
            <a:off x="502920" y="3267036"/>
            <a:ext cx="288630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404196"/>
            <a:ext cx="261198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ADOBE FIREFLY, ВЫРУЧКА 2024-25</a:t>
            </a:r>
          </a:p>
        </p:txBody>
      </p:sp>
      <p:sp>
        <p:nvSpPr>
          <p:cNvPr id="14" name="TextBox 13"/>
          <p:cNvSpPr txBox="1"/>
          <p:nvPr/>
        </p:nvSpPr>
        <p:spPr>
          <a:xfrm>
            <a:off x="640080" y="3864859"/>
            <a:ext cx="261198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$400 млн</a:t>
            </a:r>
          </a:p>
        </p:txBody>
      </p:sp>
      <p:sp>
        <p:nvSpPr>
          <p:cNvPr id="15" name="TextBox 14"/>
          <p:cNvSpPr txBox="1"/>
          <p:nvPr/>
        </p:nvSpPr>
        <p:spPr>
          <a:xfrm>
            <a:off x="640080" y="4291858"/>
            <a:ext cx="261198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раскрыто компанией, не присуждено судом</a:t>
            </a:r>
          </a:p>
        </p:txBody>
      </p:sp>
      <p:sp>
        <p:nvSpPr>
          <p:cNvPr id="16" name="Rounded Rectangle 15"/>
          <p:cNvSpPr/>
          <p:nvPr/>
        </p:nvSpPr>
        <p:spPr>
          <a:xfrm>
            <a:off x="3553815" y="3267036"/>
            <a:ext cx="288630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3690975" y="3404196"/>
            <a:ext cx="26119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СГЕНЕРИРОВАНО / ОБРАБОТАНО</a:t>
            </a:r>
          </a:p>
        </p:txBody>
      </p:sp>
      <p:sp>
        <p:nvSpPr>
          <p:cNvPr id="18" name="TextBox 17"/>
          <p:cNvSpPr txBox="1"/>
          <p:nvPr/>
        </p:nvSpPr>
        <p:spPr>
          <a:xfrm>
            <a:off x="3690975" y="3657387"/>
            <a:ext cx="261198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&gt; 22 млрд единиц</a:t>
            </a:r>
          </a:p>
        </p:txBody>
      </p:sp>
      <p:sp>
        <p:nvSpPr>
          <p:cNvPr id="19" name="TextBox 18"/>
          <p:cNvSpPr txBox="1"/>
          <p:nvPr/>
        </p:nvSpPr>
        <p:spPr>
          <a:xfrm>
            <a:off x="3690975" y="4474810"/>
            <a:ext cx="261198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 исключительно лицензированном корпусе</a:t>
            </a:r>
          </a:p>
        </p:txBody>
      </p:sp>
      <p:sp>
        <p:nvSpPr>
          <p:cNvPr id="20" name="Rounded Rectangle 19"/>
          <p:cNvSpPr/>
          <p:nvPr/>
        </p:nvSpPr>
        <p:spPr>
          <a:xfrm>
            <a:off x="374904" y="5125897"/>
            <a:ext cx="11441887" cy="1110310"/>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217337"/>
            <a:ext cx="11112703" cy="1018870"/>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Классический путь:</a:t>
            </a:r>
            <a:r>
              <a:rPr sz="1050" b="0" i="0">
                <a:solidFill>
                  <a:srgbClr val="21295C"/>
                </a:solidFill>
                <a:latin typeface="Arial"/>
              </a:rPr>
              <a:t> заплатить заранее — цена известна. </a:t>
            </a:r>
            <a:r>
              <a:rPr sz="1050" b="1" i="0">
                <a:solidFill>
                  <a:srgbClr val="21295C"/>
                </a:solidFill>
                <a:latin typeface="Arial"/>
              </a:rPr>
              <a:t>Путь без лицензии (2023-2024):</a:t>
            </a:r>
            <a:r>
              <a:rPr sz="1050" b="0" i="0">
                <a:solidFill>
                  <a:srgbClr val="21295C"/>
                </a:solidFill>
                <a:latin typeface="Arial"/>
              </a:rPr>
              <a:t> рискнуть судом — цена становится известна постфактум, по-разному для разных ответчиков.</a:t>
            </a:r>
          </a:p>
          <a:p>
            <a:pPr algn="l">
              <a:lnSpc>
                <a:spcPct val="126000"/>
              </a:lnSpc>
              <a:spcBef>
                <a:spcPts val="700"/>
              </a:spcBef>
            </a:pPr>
            <a:r>
              <a:rPr sz="1050" b="0" i="0">
                <a:solidFill>
                  <a:srgbClr val="21295C"/>
                </a:solidFill>
                <a:latin typeface="Arial"/>
              </a:rPr>
              <a:t/>
            </a:r>
            <a:r>
              <a:rPr sz="1050" b="1" i="0">
                <a:solidFill>
                  <a:srgbClr val="21295C"/>
                </a:solidFill>
                <a:latin typeface="Arial"/>
              </a:rPr>
              <a:t>Три направления на дату проверки — не завершены или завершены частично.</a:t>
            </a:r>
          </a:p>
          <a:p>
            <a:pPr algn="l">
              <a:lnSpc>
                <a:spcPct val="126000"/>
              </a:lnSpc>
              <a:spcBef>
                <a:spcPts val="700"/>
              </a:spcBef>
            </a:pPr>
            <a:r>
              <a:rPr sz="1050" b="0" i="0">
                <a:solidFill>
                  <a:srgbClr val="21295C"/>
                </a:solidFill>
                <a:latin typeface="Arial"/>
              </a:rPr>
              <a:t/>
            </a:r>
            <a:r>
              <a:rPr sz="1050" b="1" i="0">
                <a:solidFill>
                  <a:srgbClr val="21295C"/>
                </a:solidFill>
                <a:latin typeface="Arial"/>
              </a:rPr>
              <a:t>Путь, который не стали ждать: Adobe Firefly</a:t>
            </a:r>
            <a:r>
              <a:rPr sz="1050" b="0" i="0">
                <a:solidFill>
                  <a:srgbClr val="21295C"/>
                </a:solidFill>
                <a:latin typeface="Arial"/>
              </a:rPr>
              <a:t> — обучена только на лицензированном материале с самого начала, и это коммерчески работает.</a:t>
            </a:r>
          </a:p>
        </p:txBody>
      </p:sp>
      <p:sp>
        <p:nvSpPr>
          <p:cNvPr id="22" name="Rounded Rectangle 21"/>
          <p:cNvSpPr/>
          <p:nvPr/>
        </p:nvSpPr>
        <p:spPr>
          <a:xfrm>
            <a:off x="6751015" y="1335024"/>
            <a:ext cx="4937760" cy="1931226"/>
          </a:xfrm>
          <a:prstGeom prst="roundRect">
            <a:avLst>
              <a:gd name="adj" fmla="val 15782"/>
            </a:avLst>
          </a:prstGeom>
          <a:solidFill>
            <a:srgbClr val="F4F7FA"/>
          </a:solidFill>
          <a:ln w="19050">
            <a:solidFill>
              <a:srgbClr val="1C7293"/>
            </a:solidFill>
          </a:ln>
          <a:effectLst/>
        </p:spPr>
        <p:txBody>
          <a:bodyPr rtlCol="0" anchor="ctr"/>
          <a:lstStyle/>
          <a:p>
            <a:pPr algn="ctr"/>
          </a:p>
        </p:txBody>
      </p:sp>
      <p:pic>
        <p:nvPicPr>
          <p:cNvPr id="23" name="Picture 22" descr="s42-adobe-firefly-generation-interface-real.png"/>
          <p:cNvPicPr>
            <a:picLocks noChangeAspect="1"/>
          </p:cNvPicPr>
          <p:nvPr/>
        </p:nvPicPr>
        <p:blipFill>
          <a:blip r:embed="rId2"/>
          <a:stretch>
            <a:fillRect/>
          </a:stretch>
        </p:blipFill>
        <p:spPr>
          <a:xfrm>
            <a:off x="6888175" y="1472184"/>
            <a:ext cx="4663440" cy="1656906"/>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Adobe, публичные данные,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Getty против Stability AI (Великобритания): стороны и счёт по заявленному масштабу</a:t>
            </a:r>
          </a:p>
        </p:txBody>
      </p:sp>
      <p:sp>
        <p:nvSpPr>
          <p:cNvPr id="4" name="Rounded Rectangle 3"/>
          <p:cNvSpPr/>
          <p:nvPr/>
        </p:nvSpPr>
        <p:spPr>
          <a:xfrm>
            <a:off x="502920" y="1335024"/>
            <a:ext cx="2497229"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ЗАЯВЛЕНО ВНУТРИ ОБУЧАЮЩЕГО КОРПУСА</a:t>
            </a:r>
          </a:p>
        </p:txBody>
      </p:sp>
      <p:sp>
        <p:nvSpPr>
          <p:cNvPr id="6" name="TextBox 5"/>
          <p:cNvSpPr txBox="1"/>
          <p:nvPr/>
        </p:nvSpPr>
        <p:spPr>
          <a:xfrm>
            <a:off x="640080" y="1932846"/>
            <a:ext cx="2222909" cy="647673"/>
          </a:xfrm>
          <a:prstGeom prst="rect">
            <a:avLst/>
          </a:prstGeom>
          <a:noFill/>
        </p:spPr>
        <p:txBody>
          <a:bodyPr wrap="square" lIns="0" rIns="0" tIns="0" bIns="0" anchor="t">
            <a:spAutoFit/>
          </a:bodyPr>
          <a:lstStyle/>
          <a:p>
            <a:pPr algn="l">
              <a:lnSpc>
                <a:spcPct val="108000"/>
              </a:lnSpc>
            </a:pPr>
            <a:r>
              <a:rPr sz="1800" b="1" i="0">
                <a:solidFill>
                  <a:srgbClr val="21295C"/>
                </a:solidFill>
                <a:latin typeface="Arial"/>
              </a:rPr>
              <a:t>≈12,3 млн изображений Getty</a:t>
            </a:r>
          </a:p>
        </p:txBody>
      </p:sp>
      <p:sp>
        <p:nvSpPr>
          <p:cNvPr id="7" name="Rounded Rectangle 6"/>
          <p:cNvSpPr/>
          <p:nvPr/>
        </p:nvSpPr>
        <p:spPr>
          <a:xfrm>
            <a:off x="3164741" y="1335024"/>
            <a:ext cx="2497229" cy="1584468"/>
          </a:xfrm>
          <a:prstGeom prst="roundRect">
            <a:avLst>
              <a:gd name="adj" fmla="val 19236"/>
            </a:avLst>
          </a:prstGeom>
          <a:solidFill>
            <a:srgbClr val="F4F7FA"/>
          </a:solidFill>
          <a:ln w="15240">
            <a:solidFill>
              <a:srgbClr val="1C7293"/>
            </a:solidFill>
          </a:ln>
          <a:effectLst/>
        </p:spPr>
        <p:txBody>
          <a:bodyPr rtlCol="0" anchor="ctr"/>
          <a:lstStyle/>
          <a:p>
            <a:pPr algn="ctr"/>
          </a:p>
        </p:txBody>
      </p:sp>
      <p:sp>
        <p:nvSpPr>
          <p:cNvPr id="8" name="TextBox 7"/>
          <p:cNvSpPr txBox="1"/>
          <p:nvPr/>
        </p:nvSpPr>
        <p:spPr>
          <a:xfrm>
            <a:off x="3301901" y="1472184"/>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 ОПТОВОМУ ТАРИФУ $2,5/ШТ</a:t>
            </a:r>
          </a:p>
        </p:txBody>
      </p:sp>
      <p:sp>
        <p:nvSpPr>
          <p:cNvPr id="9" name="TextBox 8"/>
          <p:cNvSpPr txBox="1"/>
          <p:nvPr/>
        </p:nvSpPr>
        <p:spPr>
          <a:xfrm>
            <a:off x="3301901" y="1932846"/>
            <a:ext cx="2222909"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$30,75 млн</a:t>
            </a:r>
          </a:p>
        </p:txBody>
      </p:sp>
      <p:sp>
        <p:nvSpPr>
          <p:cNvPr id="10" name="TextBox 9"/>
          <p:cNvSpPr txBox="1"/>
          <p:nvPr/>
        </p:nvSpPr>
        <p:spPr>
          <a:xfrm>
            <a:off x="3301901" y="2359845"/>
            <a:ext cx="22229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теоретическая цена — не присуждённая сумма</a:t>
            </a:r>
          </a:p>
        </p:txBody>
      </p:sp>
      <p:sp>
        <p:nvSpPr>
          <p:cNvPr id="11" name="Rounded Rectangle 10"/>
          <p:cNvSpPr/>
          <p:nvPr/>
        </p:nvSpPr>
        <p:spPr>
          <a:xfrm>
            <a:off x="5826562" y="1335024"/>
            <a:ext cx="2497229" cy="1584468"/>
          </a:xfrm>
          <a:prstGeom prst="roundRect">
            <a:avLst>
              <a:gd name="adj" fmla="val 19236"/>
            </a:avLst>
          </a:prstGeom>
          <a:solidFill>
            <a:srgbClr val="FFFFFF"/>
          </a:solidFill>
          <a:ln w="25400">
            <a:solidFill>
              <a:srgbClr val="F0AB00"/>
            </a:solidFill>
          </a:ln>
          <a:effectLst/>
        </p:spPr>
        <p:txBody>
          <a:bodyPr rtlCol="0" anchor="ctr"/>
          <a:lstStyle/>
          <a:p>
            <a:pPr algn="ctr"/>
          </a:p>
        </p:txBody>
      </p:sp>
      <p:sp>
        <p:nvSpPr>
          <p:cNvPr id="12" name="TextBox 11"/>
          <p:cNvSpPr txBox="1"/>
          <p:nvPr/>
        </p:nvSpPr>
        <p:spPr>
          <a:xfrm>
            <a:off x="5963722" y="1472184"/>
            <a:ext cx="222290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 РОЗНИЧНОМУ ТАРИФУ $130/ШТ</a:t>
            </a:r>
          </a:p>
        </p:txBody>
      </p:sp>
      <p:sp>
        <p:nvSpPr>
          <p:cNvPr id="13" name="TextBox 12"/>
          <p:cNvSpPr txBox="1"/>
          <p:nvPr/>
        </p:nvSpPr>
        <p:spPr>
          <a:xfrm>
            <a:off x="5963722" y="1932846"/>
            <a:ext cx="222290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 $1,6 млрд</a:t>
            </a:r>
          </a:p>
        </p:txBody>
      </p:sp>
      <p:sp>
        <p:nvSpPr>
          <p:cNvPr id="14" name="TextBox 13"/>
          <p:cNvSpPr txBox="1"/>
          <p:nvPr/>
        </p:nvSpPr>
        <p:spPr>
          <a:xfrm>
            <a:off x="5963722" y="2359845"/>
            <a:ext cx="222290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та же оговорка; разброс — 52 раза</a:t>
            </a:r>
          </a:p>
        </p:txBody>
      </p:sp>
      <p:sp>
        <p:nvSpPr>
          <p:cNvPr id="15" name="Rounded Rectangle 14"/>
          <p:cNvSpPr/>
          <p:nvPr/>
        </p:nvSpPr>
        <p:spPr>
          <a:xfrm>
            <a:off x="374904" y="3010932"/>
            <a:ext cx="8076903" cy="2947433"/>
          </a:xfrm>
          <a:prstGeom prst="roundRect">
            <a:avLst>
              <a:gd name="adj" fmla="val 10341"/>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102372"/>
            <a:ext cx="7747719" cy="3133835"/>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Стороны.</a:t>
            </a:r>
            <a:r>
              <a:rPr sz="1400" b="0" i="0">
                <a:solidFill>
                  <a:srgbClr val="21295C"/>
                </a:solidFill>
                <a:latin typeface="Arial"/>
              </a:rPr>
              <a:t> Getty Images — крупнейший в мире агрегатор стоковой фотографии, тот же прейскурант, что уже разобран. Stability AI — разработчик Stable Diffusion, одной из первых моделей генерации изображений, опубликованной с открытыми весами в 2022 году.</a:t>
            </a:r>
          </a:p>
          <a:p>
            <a:pPr algn="l">
              <a:lnSpc>
                <a:spcPct val="126000"/>
              </a:lnSpc>
              <a:spcBef>
                <a:spcPts val="700"/>
              </a:spcBef>
            </a:pPr>
            <a:r>
              <a:rPr sz="1400" b="0" i="0">
                <a:solidFill>
                  <a:srgbClr val="21295C"/>
                </a:solidFill>
                <a:latin typeface="Arial"/>
              </a:rPr>
              <a:t/>
            </a:r>
            <a:r>
              <a:rPr sz="1400" b="1" i="0">
                <a:solidFill>
                  <a:srgbClr val="21295C"/>
                </a:solidFill>
                <a:latin typeface="Arial"/>
              </a:rPr>
              <a:t>Предмет спора.</a:t>
            </a:r>
            <a:r>
              <a:rPr sz="1400" b="0" i="0">
                <a:solidFill>
                  <a:srgbClr val="21295C"/>
                </a:solidFill>
                <a:latin typeface="Arial"/>
              </a:rPr>
              <a:t> Getty утверждает, что обучающий корпус Stable Diffusion содержал ≈12,3 млн её изображений, скопированных без лицензии. Иск подан в двух юрисдикциях параллельно — Великобритания и США, — и это два разных процесса с разным статусом.</a:t>
            </a:r>
          </a:p>
          <a:p>
            <a:pPr algn="l">
              <a:lnSpc>
                <a:spcPct val="126000"/>
              </a:lnSpc>
              <a:spcBef>
                <a:spcPts val="700"/>
              </a:spcBef>
            </a:pPr>
            <a:r>
              <a:rPr sz="1400" b="0" i="0">
                <a:solidFill>
                  <a:srgbClr val="21295C"/>
                </a:solidFill>
                <a:latin typeface="Arial"/>
              </a:rPr>
              <a:t/>
            </a:r>
            <a:r>
              <a:rPr sz="1400" b="1" i="0">
                <a:solidFill>
                  <a:srgbClr val="21295C"/>
                </a:solidFill>
                <a:latin typeface="Arial"/>
              </a:rPr>
              <a:t>Применим прейскурант к заявленному масштабу — буквально:</a:t>
            </a:r>
            <a:r>
              <a:rPr sz="1400" b="0" i="0">
                <a:solidFill>
                  <a:srgbClr val="21295C"/>
                </a:solidFill>
                <a:latin typeface="Arial"/>
              </a:rPr>
              <a:t> $2,5 × 12,3 млн ≈ $30,75 млн опт; $130 × 12,3 млн ≈ $1,6 млрд розница. </a:t>
            </a:r>
            <a:r>
              <a:rPr sz="1400" b="1" i="0">
                <a:solidFill>
                  <a:srgbClr val="21295C"/>
                </a:solidFill>
                <a:latin typeface="Arial"/>
              </a:rPr>
              <a:t>Разброс в 52 раза сам по себе показывает: отраслевого консенсуса о цене обучения нет.</a:t>
            </a:r>
          </a:p>
        </p:txBody>
      </p:sp>
      <p:sp>
        <p:nvSpPr>
          <p:cNvPr id="17" name="Rounded Rectangle 16"/>
          <p:cNvSpPr/>
          <p:nvPr/>
        </p:nvSpPr>
        <p:spPr>
          <a:xfrm>
            <a:off x="8634687" y="1335024"/>
            <a:ext cx="3054087" cy="4389120"/>
          </a:xfrm>
          <a:prstGeom prst="roundRect">
            <a:avLst>
              <a:gd name="adj" fmla="val 9980"/>
            </a:avLst>
          </a:prstGeom>
          <a:solidFill>
            <a:srgbClr val="F4F7FA"/>
          </a:solidFill>
          <a:ln w="19050">
            <a:solidFill>
              <a:srgbClr val="1C7293"/>
            </a:solidFill>
          </a:ln>
          <a:effectLst/>
        </p:spPr>
        <p:txBody>
          <a:bodyPr rtlCol="0" anchor="ctr"/>
          <a:lstStyle/>
          <a:p>
            <a:pPr algn="ctr"/>
          </a:p>
        </p:txBody>
      </p:sp>
      <p:pic>
        <p:nvPicPr>
          <p:cNvPr id="18" name="Picture 17" descr="s43-stability-ai-emad-mostaque-ai-summit.jpg"/>
          <p:cNvPicPr>
            <a:picLocks noChangeAspect="1"/>
          </p:cNvPicPr>
          <p:nvPr/>
        </p:nvPicPr>
        <p:blipFill>
          <a:blip r:embed="rId2"/>
          <a:stretch>
            <a:fillRect/>
          </a:stretch>
        </p:blipFill>
        <p:spPr>
          <a:xfrm>
            <a:off x="8771847" y="1472184"/>
            <a:ext cx="2779767" cy="4114800"/>
          </a:xfrm>
          <a:prstGeom prst="rect">
            <a:avLst/>
          </a:prstGeom>
        </p:spPr>
      </p:pic>
      <p:sp>
        <p:nvSpPr>
          <p:cNvPr id="19" name="Rectangle 18"/>
          <p:cNvSpPr/>
          <p:nvPr/>
        </p:nvSpPr>
        <p:spPr>
          <a:xfrm>
            <a:off x="502920" y="752291"/>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Bird &amp; Bird, 2025; Mayer Brown, 2025; CourtListener, 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решил суд — и почему это не «суд разрешил красть»</a:t>
            </a:r>
          </a:p>
        </p:txBody>
      </p:sp>
      <p:sp>
        <p:nvSpPr>
          <p:cNvPr id="4" name="Rounded Rectangle 3"/>
          <p:cNvSpPr/>
          <p:nvPr/>
        </p:nvSpPr>
        <p:spPr>
          <a:xfrm>
            <a:off x="502920" y="1335024"/>
            <a:ext cx="1869338" cy="1974891"/>
          </a:xfrm>
          <a:prstGeom prst="roundRect">
            <a:avLst>
              <a:gd name="adj" fmla="val 1630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9501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ЮРИСДИКЦИЯ</a:t>
            </a:r>
          </a:p>
        </p:txBody>
      </p:sp>
      <p:sp>
        <p:nvSpPr>
          <p:cNvPr id="6" name="TextBox 5"/>
          <p:cNvSpPr txBox="1"/>
          <p:nvPr/>
        </p:nvSpPr>
        <p:spPr>
          <a:xfrm>
            <a:off x="640080" y="1725375"/>
            <a:ext cx="1595018" cy="774985"/>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претензия о самом обучении отозвана Getty</a:t>
            </a:r>
          </a:p>
        </p:txBody>
      </p:sp>
      <p:sp>
        <p:nvSpPr>
          <p:cNvPr id="7" name="TextBox 6"/>
          <p:cNvSpPr txBox="1"/>
          <p:nvPr/>
        </p:nvSpPr>
        <p:spPr>
          <a:xfrm>
            <a:off x="640080" y="2500360"/>
            <a:ext cx="159501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территориальность авторского права</a:t>
            </a:r>
          </a:p>
        </p:txBody>
      </p:sp>
      <p:sp>
        <p:nvSpPr>
          <p:cNvPr id="8" name="Rounded Rectangle 7"/>
          <p:cNvSpPr/>
          <p:nvPr/>
        </p:nvSpPr>
        <p:spPr>
          <a:xfrm>
            <a:off x="2536850" y="1335024"/>
            <a:ext cx="1869338" cy="1974891"/>
          </a:xfrm>
          <a:prstGeom prst="roundRect">
            <a:avLst>
              <a:gd name="adj" fmla="val 1630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674010" y="1472184"/>
            <a:ext cx="15950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ТЕСТ CDPA «КОПИЯ»</a:t>
            </a:r>
          </a:p>
        </p:txBody>
      </p:sp>
      <p:sp>
        <p:nvSpPr>
          <p:cNvPr id="10" name="TextBox 9"/>
          <p:cNvSpPr txBox="1"/>
          <p:nvPr/>
        </p:nvSpPr>
        <p:spPr>
          <a:xfrm>
            <a:off x="2674010" y="1932846"/>
            <a:ext cx="159501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веса — не копия</a:t>
            </a:r>
          </a:p>
        </p:txBody>
      </p:sp>
      <p:sp>
        <p:nvSpPr>
          <p:cNvPr id="11" name="TextBox 10"/>
          <p:cNvSpPr txBox="1"/>
          <p:nvPr/>
        </p:nvSpPr>
        <p:spPr>
          <a:xfrm>
            <a:off x="2674010" y="2750268"/>
            <a:ext cx="159501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зависимость ≠ воспроизведение</a:t>
            </a:r>
          </a:p>
        </p:txBody>
      </p:sp>
      <p:sp>
        <p:nvSpPr>
          <p:cNvPr id="12" name="Rounded Rectangle 11"/>
          <p:cNvSpPr/>
          <p:nvPr/>
        </p:nvSpPr>
        <p:spPr>
          <a:xfrm>
            <a:off x="4570780" y="1335024"/>
            <a:ext cx="1869338" cy="1974891"/>
          </a:xfrm>
          <a:prstGeom prst="roundRect">
            <a:avLst>
              <a:gd name="adj" fmla="val 1630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707940" y="1472184"/>
            <a:ext cx="15950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ЛИЦЕНЗИЯ ПО ЭТОМУ ВЕРДИКТУ</a:t>
            </a:r>
          </a:p>
        </p:txBody>
      </p:sp>
      <p:sp>
        <p:nvSpPr>
          <p:cNvPr id="14" name="TextBox 13"/>
          <p:cNvSpPr txBox="1"/>
          <p:nvPr/>
        </p:nvSpPr>
        <p:spPr>
          <a:xfrm>
            <a:off x="4707940" y="1932846"/>
            <a:ext cx="1595018"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не требовалась вовсе</a:t>
            </a:r>
          </a:p>
        </p:txBody>
      </p:sp>
      <p:sp>
        <p:nvSpPr>
          <p:cNvPr id="15" name="Rounded Rectangle 14"/>
          <p:cNvSpPr/>
          <p:nvPr/>
        </p:nvSpPr>
        <p:spPr>
          <a:xfrm>
            <a:off x="374904" y="3401355"/>
            <a:ext cx="6193231" cy="2834852"/>
          </a:xfrm>
          <a:prstGeom prst="roundRect">
            <a:avLst>
              <a:gd name="adj" fmla="val 10751"/>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3492795"/>
            <a:ext cx="5864047" cy="2743412"/>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Элемент 1 — юрисдикционный.</a:t>
            </a:r>
            <a:r>
              <a:rPr sz="1100" b="0" i="0">
                <a:solidFill>
                  <a:srgbClr val="21295C"/>
                </a:solidFill>
                <a:latin typeface="Arial"/>
              </a:rPr>
              <a:t> Обучение физически происходило не в Великобритании — Getty отозвала претензию о самом акте обучения, суд её не рассматривал вовсе.</a:t>
            </a:r>
          </a:p>
          <a:p>
            <a:pPr algn="l">
              <a:lnSpc>
                <a:spcPct val="126000"/>
              </a:lnSpc>
              <a:spcBef>
                <a:spcPts val="700"/>
              </a:spcBef>
            </a:pPr>
            <a:r>
              <a:rPr sz="1100" b="0" i="0">
                <a:solidFill>
                  <a:srgbClr val="21295C"/>
                </a:solidFill>
                <a:latin typeface="Arial"/>
              </a:rPr>
              <a:t/>
            </a:r>
            <a:r>
              <a:rPr sz="1100" b="1" i="0">
                <a:solidFill>
                  <a:srgbClr val="21295C"/>
                </a:solidFill>
                <a:latin typeface="Arial"/>
              </a:rPr>
              <a:t>Элемент 2 — на узкий оставшийся вопрос суд ответил отрицательно.</a:t>
            </a:r>
            <a:r>
              <a:rPr sz="1100" b="0" i="0">
                <a:solidFill>
                  <a:srgbClr val="21295C"/>
                </a:solidFill>
                <a:latin typeface="Arial"/>
              </a:rPr>
              <a:t> CDPA (Copyright, Designs and Patents Act — закон Великобритании об авторском праве) требует «узнаваемого воспроизведения» для признания «копией». Веса модели — статистическая зависимость, не воспроизведение.</a:t>
            </a:r>
          </a:p>
          <a:p>
            <a:pPr algn="l">
              <a:lnSpc>
                <a:spcPct val="126000"/>
              </a:lnSpc>
              <a:spcBef>
                <a:spcPts val="700"/>
              </a:spcBef>
            </a:pPr>
            <a:r>
              <a:rPr sz="1100" b="0" i="0">
                <a:solidFill>
                  <a:srgbClr val="21295C"/>
                </a:solidFill>
                <a:latin typeface="Arial"/>
              </a:rPr>
              <a:t/>
            </a:r>
            <a:r>
              <a:rPr sz="1100" b="1" i="0">
                <a:solidFill>
                  <a:srgbClr val="21295C"/>
                </a:solidFill>
                <a:latin typeface="Arial"/>
              </a:rPr>
              <a:t>Следствие:</a:t>
            </a:r>
            <a:r>
              <a:rPr sz="1100" b="0" i="0">
                <a:solidFill>
                  <a:srgbClr val="21295C"/>
                </a:solidFill>
                <a:latin typeface="Arial"/>
              </a:rPr>
              <a:t> лицензия не требовалась — не потому что цена оказалась ниже расчётной, а потому что сам товар не подпадает под определение претензии.</a:t>
            </a:r>
          </a:p>
          <a:p>
            <a:pPr algn="l">
              <a:lnSpc>
                <a:spcPct val="126000"/>
              </a:lnSpc>
              <a:spcBef>
                <a:spcPts val="700"/>
              </a:spcBef>
            </a:pPr>
            <a:r>
              <a:rPr sz="1100" b="0" i="0">
                <a:solidFill>
                  <a:srgbClr val="21295C"/>
                </a:solidFill>
                <a:latin typeface="Arial"/>
              </a:rPr>
              <a:t/>
            </a:r>
            <a:r>
              <a:rPr sz="1100" b="1" i="0">
                <a:solidFill>
                  <a:srgbClr val="21295C"/>
                </a:solidFill>
                <a:latin typeface="Arial"/>
              </a:rPr>
              <a:t>Не через fair use</a:t>
            </a:r>
            <a:r>
              <a:rPr sz="1100" b="0" i="0">
                <a:solidFill>
                  <a:srgbClr val="21295C"/>
                </a:solidFill>
                <a:latin typeface="Arial"/>
              </a:rPr>
              <a:t> (доктрину «добросовестного использования») — в праве Великобритании её прямого аналога нет вовсе.</a:t>
            </a:r>
          </a:p>
        </p:txBody>
      </p:sp>
      <p:sp>
        <p:nvSpPr>
          <p:cNvPr id="17" name="Rounded Rectangle 16"/>
          <p:cNvSpPr/>
          <p:nvPr/>
        </p:nvSpPr>
        <p:spPr>
          <a:xfrm>
            <a:off x="6751015" y="1335024"/>
            <a:ext cx="4937760" cy="3383280"/>
          </a:xfrm>
          <a:prstGeom prst="roundRect">
            <a:avLst>
              <a:gd name="adj" fmla="val 9009"/>
            </a:avLst>
          </a:prstGeom>
          <a:solidFill>
            <a:srgbClr val="F4F7FA"/>
          </a:solidFill>
          <a:ln w="19050">
            <a:solidFill>
              <a:srgbClr val="1C7293"/>
            </a:solidFill>
          </a:ln>
          <a:effectLst/>
        </p:spPr>
        <p:txBody>
          <a:bodyPr rtlCol="0" anchor="ctr"/>
          <a:lstStyle/>
          <a:p>
            <a:pPr algn="ctr"/>
          </a:p>
        </p:txBody>
      </p:sp>
      <p:pic>
        <p:nvPicPr>
          <p:cNvPr id="18" name="Picture 17" descr="s44-royal-courts-of-justice.jpg"/>
          <p:cNvPicPr>
            <a:picLocks noChangeAspect="1"/>
          </p:cNvPicPr>
          <p:nvPr/>
        </p:nvPicPr>
        <p:blipFill>
          <a:blip r:embed="rId2"/>
          <a:stretch>
            <a:fillRect/>
          </a:stretch>
        </p:blipFill>
        <p:spPr>
          <a:xfrm>
            <a:off x="6888175" y="1472184"/>
            <a:ext cx="4663440" cy="3108960"/>
          </a:xfrm>
          <a:prstGeom prst="rect">
            <a:avLst/>
          </a:prstGeom>
        </p:spPr>
      </p:pic>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Mayer Brown, 2025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Ни победа, ни поражение не полные — и дело ещё не закрыто</a:t>
            </a:r>
          </a:p>
        </p:txBody>
      </p:sp>
      <p:sp>
        <p:nvSpPr>
          <p:cNvPr id="4" name="Rounded Rectangle 3"/>
          <p:cNvSpPr/>
          <p:nvPr/>
        </p:nvSpPr>
        <p:spPr>
          <a:xfrm>
            <a:off x="502920" y="1335024"/>
            <a:ext cx="1747418" cy="2350226"/>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ТОВАРНЫЙ ЗНАК</a:t>
            </a:r>
          </a:p>
        </p:txBody>
      </p:sp>
      <p:sp>
        <p:nvSpPr>
          <p:cNvPr id="6" name="TextBox 5"/>
          <p:cNvSpPr txBox="1"/>
          <p:nvPr/>
        </p:nvSpPr>
        <p:spPr>
          <a:xfrm>
            <a:off x="640080" y="1725375"/>
            <a:ext cx="1473098" cy="698597"/>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нарушение признано, компенсации нет</a:t>
            </a:r>
          </a:p>
        </p:txBody>
      </p:sp>
      <p:sp>
        <p:nvSpPr>
          <p:cNvPr id="7" name="TextBox 6"/>
          <p:cNvSpPr txBox="1"/>
          <p:nvPr/>
        </p:nvSpPr>
        <p:spPr>
          <a:xfrm>
            <a:off x="640080" y="2423973"/>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«ограниченное» и «историческое»</a:t>
            </a:r>
          </a:p>
        </p:txBody>
      </p:sp>
      <p:sp>
        <p:nvSpPr>
          <p:cNvPr id="8" name="Rounded Rectangle 7"/>
          <p:cNvSpPr/>
          <p:nvPr/>
        </p:nvSpPr>
        <p:spPr>
          <a:xfrm>
            <a:off x="2414930" y="1335024"/>
            <a:ext cx="1747418" cy="2350226"/>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АПЕЛЛЯЦИЯ GETTY</a:t>
            </a:r>
          </a:p>
        </p:txBody>
      </p:sp>
      <p:sp>
        <p:nvSpPr>
          <p:cNvPr id="10" name="TextBox 9"/>
          <p:cNvSpPr txBox="1"/>
          <p:nvPr/>
        </p:nvSpPr>
        <p:spPr>
          <a:xfrm>
            <a:off x="2552090" y="1932846"/>
            <a:ext cx="1473098" cy="664648"/>
          </a:xfrm>
          <a:prstGeom prst="rect">
            <a:avLst/>
          </a:prstGeom>
          <a:noFill/>
        </p:spPr>
        <p:txBody>
          <a:bodyPr wrap="square" lIns="0" rIns="0" tIns="0" bIns="0" anchor="t">
            <a:spAutoFit/>
          </a:bodyPr>
          <a:lstStyle/>
          <a:p>
            <a:pPr algn="l">
              <a:lnSpc>
                <a:spcPct val="108000"/>
              </a:lnSpc>
            </a:pPr>
            <a:r>
              <a:rPr sz="1850" b="1" i="0">
                <a:solidFill>
                  <a:srgbClr val="1C7293"/>
                </a:solidFill>
                <a:latin typeface="Arial"/>
              </a:rPr>
              <a:t>разрешена, январь 2026</a:t>
            </a:r>
          </a:p>
        </p:txBody>
      </p:sp>
      <p:sp>
        <p:nvSpPr>
          <p:cNvPr id="11" name="Rounded Rectangle 10"/>
          <p:cNvSpPr/>
          <p:nvPr/>
        </p:nvSpPr>
        <p:spPr>
          <a:xfrm>
            <a:off x="4326940" y="1335024"/>
            <a:ext cx="1747418" cy="2350226"/>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2" name="TextBox 11"/>
          <p:cNvSpPr txBox="1"/>
          <p:nvPr/>
        </p:nvSpPr>
        <p:spPr>
          <a:xfrm>
            <a:off x="4464100" y="1472184"/>
            <a:ext cx="147309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США, ПАРАЛЛЕЛЬНАЯ ВЕТВЬ</a:t>
            </a:r>
          </a:p>
        </p:txBody>
      </p:sp>
      <p:sp>
        <p:nvSpPr>
          <p:cNvPr id="13" name="TextBox 12"/>
          <p:cNvSpPr txBox="1"/>
          <p:nvPr/>
        </p:nvSpPr>
        <p:spPr>
          <a:xfrm>
            <a:off x="4464100" y="2140317"/>
            <a:ext cx="1473098" cy="562798"/>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дело продолжается</a:t>
            </a:r>
          </a:p>
        </p:txBody>
      </p:sp>
      <p:sp>
        <p:nvSpPr>
          <p:cNvPr id="14" name="TextBox 13"/>
          <p:cNvSpPr txBox="1"/>
          <p:nvPr/>
        </p:nvSpPr>
        <p:spPr>
          <a:xfrm>
            <a:off x="4464100" y="2703116"/>
            <a:ext cx="14730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ходатайство о прекращении отклонено, апрель 2026</a:t>
            </a:r>
          </a:p>
        </p:txBody>
      </p:sp>
      <p:sp>
        <p:nvSpPr>
          <p:cNvPr id="15" name="Rounded Rectangle 14"/>
          <p:cNvSpPr/>
          <p:nvPr/>
        </p:nvSpPr>
        <p:spPr>
          <a:xfrm>
            <a:off x="374904" y="4644987"/>
            <a:ext cx="11441887" cy="1591220"/>
          </a:xfrm>
          <a:prstGeom prst="roundRect">
            <a:avLst>
              <a:gd name="adj" fmla="val 19155"/>
            </a:avLst>
          </a:prstGeom>
          <a:solidFill>
            <a:srgbClr val="F4F7FA"/>
          </a:solidFill>
          <a:ln w="19050">
            <a:solidFill>
              <a:srgbClr val="1C7293"/>
            </a:solidFill>
          </a:ln>
          <a:effectLst/>
        </p:spPr>
        <p:txBody>
          <a:bodyPr rtlCol="0" anchor="ctr"/>
          <a:lstStyle/>
          <a:p>
            <a:pPr algn="ctr"/>
          </a:p>
        </p:txBody>
      </p:sp>
      <p:sp>
        <p:nvSpPr>
          <p:cNvPr id="16" name="TextBox 15"/>
          <p:cNvSpPr txBox="1"/>
          <p:nvPr/>
        </p:nvSpPr>
        <p:spPr>
          <a:xfrm>
            <a:off x="539496" y="4736427"/>
            <a:ext cx="11112703" cy="1499780"/>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Третий элемент — узкое поражение по товарному знаку.</a:t>
            </a:r>
            <a:r>
              <a:rPr sz="1250" b="0" i="0">
                <a:solidFill>
                  <a:srgbClr val="21295C"/>
                </a:solidFill>
                <a:latin typeface="Arial"/>
              </a:rPr>
              <a:t> Ранние версии могли воспроизвести водяные знаки Getty/iStock — нарушение признано, но без компенсации или запрета.</a:t>
            </a:r>
          </a:p>
          <a:p>
            <a:pPr algn="l">
              <a:lnSpc>
                <a:spcPct val="126000"/>
              </a:lnSpc>
              <a:spcBef>
                <a:spcPts val="700"/>
              </a:spcBef>
            </a:pPr>
            <a:r>
              <a:rPr sz="1250" b="0" i="0">
                <a:solidFill>
                  <a:srgbClr val="21295C"/>
                </a:solidFill>
                <a:latin typeface="Arial"/>
              </a:rPr>
              <a:t/>
            </a:r>
            <a:r>
              <a:rPr sz="1250" b="1" i="0">
                <a:solidFill>
                  <a:srgbClr val="21295C"/>
                </a:solidFill>
                <a:latin typeface="Arial"/>
              </a:rPr>
              <a:t>Собранный итог: Getty не выиграла, Stability AI не выиграла полностью.</a:t>
            </a:r>
            <a:r>
              <a:rPr sz="1250" b="0" i="0">
                <a:solidFill>
                  <a:srgbClr val="21295C"/>
                </a:solidFill>
                <a:latin typeface="Arial"/>
              </a:rPr>
              <a:t> Главный вопрос — законность самого обучения — юридически не рассмотрен вовсе.</a:t>
            </a:r>
          </a:p>
          <a:p>
            <a:pPr algn="l">
              <a:lnSpc>
                <a:spcPct val="126000"/>
              </a:lnSpc>
              <a:spcBef>
                <a:spcPts val="700"/>
              </a:spcBef>
            </a:pPr>
            <a:r>
              <a:rPr sz="1250" b="0" i="0">
                <a:solidFill>
                  <a:srgbClr val="21295C"/>
                </a:solidFill>
                <a:latin typeface="Arial"/>
              </a:rPr>
              <a:t/>
            </a:r>
            <a:r>
              <a:rPr sz="1250" b="1" i="0">
                <a:solidFill>
                  <a:srgbClr val="21295C"/>
                </a:solidFill>
                <a:latin typeface="Arial"/>
              </a:rPr>
              <a:t>Январь 2026 — Getty получила разрешение на апелляцию.</a:t>
            </a:r>
            <a:r>
              <a:rPr sz="1250" b="0" i="0">
                <a:solidFill>
                  <a:srgbClr val="21295C"/>
                </a:solidFill>
                <a:latin typeface="Arial"/>
              </a:rPr>
              <a:t> США, параллельная ветвь — отдельный процесс, не апелляция: дело продолжается.</a:t>
            </a:r>
          </a:p>
        </p:txBody>
      </p:sp>
      <p:sp>
        <p:nvSpPr>
          <p:cNvPr id="17" name="Rounded Rectangle 16"/>
          <p:cNvSpPr/>
          <p:nvPr/>
        </p:nvSpPr>
        <p:spPr>
          <a:xfrm>
            <a:off x="6385255" y="1335024"/>
            <a:ext cx="5303520" cy="3309963"/>
          </a:xfrm>
          <a:prstGeom prst="roundRect">
            <a:avLst>
              <a:gd name="adj" fmla="val 9208"/>
            </a:avLst>
          </a:prstGeom>
          <a:solidFill>
            <a:srgbClr val="F4F7FA"/>
          </a:solidFill>
          <a:ln w="19050">
            <a:solidFill>
              <a:srgbClr val="1C7293"/>
            </a:solidFill>
          </a:ln>
          <a:effectLst/>
        </p:spPr>
        <p:txBody>
          <a:bodyPr rtlCol="0" anchor="ctr"/>
          <a:lstStyle/>
          <a:p>
            <a:pPr algn="ctr"/>
          </a:p>
        </p:txBody>
      </p:sp>
      <p:pic>
        <p:nvPicPr>
          <p:cNvPr id="18" name="Picture 17" descr="s45-getty-watermark-comparison.jpg"/>
          <p:cNvPicPr>
            <a:picLocks noChangeAspect="1"/>
          </p:cNvPicPr>
          <p:nvPr/>
        </p:nvPicPr>
        <p:blipFill>
          <a:blip r:embed="rId2"/>
          <a:stretch>
            <a:fillRect/>
          </a:stretch>
        </p:blipFill>
        <p:spPr>
          <a:xfrm>
            <a:off x="6522415" y="1472184"/>
            <a:ext cx="5029200" cy="3035643"/>
          </a:xfrm>
          <a:prstGeom prst="rect">
            <a:avLst/>
          </a:prstGeom>
        </p:spPr>
      </p:pic>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0" name="TextBox 19"/>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Mayer Brown, 2025; Taylor Wessing, 2026; chatgptiseatingtheworld.com, 2026; Bloomberg Law, 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это устроено: LAION-5B на входе, Stable Diffusion на выходе</a:t>
            </a:r>
          </a:p>
        </p:txBody>
      </p:sp>
      <p:sp>
        <p:nvSpPr>
          <p:cNvPr id="4" name="Rounded Rectangle 3"/>
          <p:cNvSpPr/>
          <p:nvPr/>
        </p:nvSpPr>
        <p:spPr>
          <a:xfrm>
            <a:off x="502920" y="1335024"/>
            <a:ext cx="3069183" cy="1376997"/>
          </a:xfrm>
          <a:prstGeom prst="roundRect">
            <a:avLst>
              <a:gd name="adj" fmla="val 2213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LAION-5B ЦЕЛИКОМ</a:t>
            </a:r>
          </a:p>
        </p:txBody>
      </p:sp>
      <p:sp>
        <p:nvSpPr>
          <p:cNvPr id="6" name="TextBox 5"/>
          <p:cNvSpPr txBox="1"/>
          <p:nvPr/>
        </p:nvSpPr>
        <p:spPr>
          <a:xfrm>
            <a:off x="640080" y="1725375"/>
            <a:ext cx="279486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≈5,85 млрд пар</a:t>
            </a:r>
          </a:p>
        </p:txBody>
      </p:sp>
      <p:sp>
        <p:nvSpPr>
          <p:cNvPr id="7" name="Rounded Rectangle 6"/>
          <p:cNvSpPr/>
          <p:nvPr/>
        </p:nvSpPr>
        <p:spPr>
          <a:xfrm>
            <a:off x="3736695" y="1335024"/>
            <a:ext cx="3069183" cy="1376997"/>
          </a:xfrm>
          <a:prstGeom prst="roundRect">
            <a:avLst>
              <a:gd name="adj" fmla="val 22135"/>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873855" y="1472184"/>
            <a:ext cx="27948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 НИХ — ЗАЯВЛЕНО GETTY</a:t>
            </a:r>
          </a:p>
        </p:txBody>
      </p:sp>
      <p:sp>
        <p:nvSpPr>
          <p:cNvPr id="9" name="TextBox 8"/>
          <p:cNvSpPr txBox="1"/>
          <p:nvPr/>
        </p:nvSpPr>
        <p:spPr>
          <a:xfrm>
            <a:off x="3873855" y="1725375"/>
            <a:ext cx="279486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≈12,3 млн (≈0,2%)</a:t>
            </a:r>
          </a:p>
        </p:txBody>
      </p:sp>
      <p:sp>
        <p:nvSpPr>
          <p:cNvPr id="10" name="TextBox 9"/>
          <p:cNvSpPr txBox="1"/>
          <p:nvPr/>
        </p:nvSpPr>
        <p:spPr>
          <a:xfrm>
            <a:off x="3873855" y="2152374"/>
            <a:ext cx="279486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обнаружено постфактум, не намеренно включено/исключено</a:t>
            </a:r>
          </a:p>
        </p:txBody>
      </p:sp>
      <p:sp>
        <p:nvSpPr>
          <p:cNvPr id="11" name="TextBox 10"/>
          <p:cNvSpPr txBox="1"/>
          <p:nvPr/>
        </p:nvSpPr>
        <p:spPr>
          <a:xfrm>
            <a:off x="502920" y="2931477"/>
            <a:ext cx="1307592" cy="798322"/>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Сборка датасета</a:t>
            </a:r>
          </a:p>
        </p:txBody>
      </p:sp>
      <p:sp>
        <p:nvSpPr>
          <p:cNvPr id="12" name="Rounded Rectangle 11"/>
          <p:cNvSpPr/>
          <p:nvPr/>
        </p:nvSpPr>
        <p:spPr>
          <a:xfrm>
            <a:off x="1920240" y="2894901"/>
            <a:ext cx="1445666"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3" name="TextBox 12"/>
          <p:cNvSpPr txBox="1"/>
          <p:nvPr/>
        </p:nvSpPr>
        <p:spPr>
          <a:xfrm>
            <a:off x="2002536" y="2940621"/>
            <a:ext cx="1281074"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Getty-коллекция в вебе</a:t>
            </a:r>
          </a:p>
        </p:txBody>
      </p:sp>
      <p:sp>
        <p:nvSpPr>
          <p:cNvPr id="14" name="Right Arrow 13"/>
          <p:cNvSpPr/>
          <p:nvPr/>
        </p:nvSpPr>
        <p:spPr>
          <a:xfrm>
            <a:off x="3411626" y="3262058"/>
            <a:ext cx="182880" cy="137160"/>
          </a:xfrm>
          <a:prstGeom prst="rightArrow">
            <a:avLst/>
          </a:prstGeom>
          <a:solidFill>
            <a:srgbClr val="1C7293"/>
          </a:solidFill>
          <a:ln>
            <a:noFill/>
          </a:ln>
          <a:effectLst/>
        </p:spPr>
        <p:txBody>
          <a:bodyPr rtlCol="0" anchor="ctr"/>
          <a:lstStyle/>
          <a:p>
            <a:pPr algn="ctr"/>
          </a:p>
        </p:txBody>
      </p:sp>
      <p:sp>
        <p:nvSpPr>
          <p:cNvPr id="15" name="Rounded Rectangle 14"/>
          <p:cNvSpPr/>
          <p:nvPr/>
        </p:nvSpPr>
        <p:spPr>
          <a:xfrm>
            <a:off x="3640226" y="2894901"/>
            <a:ext cx="1445666" cy="871474"/>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6" name="TextBox 15"/>
          <p:cNvSpPr txBox="1"/>
          <p:nvPr/>
        </p:nvSpPr>
        <p:spPr>
          <a:xfrm>
            <a:off x="3722522" y="2940621"/>
            <a:ext cx="1281074" cy="780034"/>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скан + CLIP-фильтр → LAION-5B</a:t>
            </a:r>
          </a:p>
        </p:txBody>
      </p:sp>
      <p:sp>
        <p:nvSpPr>
          <p:cNvPr id="17" name="Right Arrow 16"/>
          <p:cNvSpPr/>
          <p:nvPr/>
        </p:nvSpPr>
        <p:spPr>
          <a:xfrm>
            <a:off x="5131612" y="3262058"/>
            <a:ext cx="182880" cy="137160"/>
          </a:xfrm>
          <a:prstGeom prst="rightArrow">
            <a:avLst/>
          </a:prstGeom>
          <a:solidFill>
            <a:srgbClr val="1C7293"/>
          </a:solidFill>
          <a:ln>
            <a:noFill/>
          </a:ln>
          <a:effectLst/>
        </p:spPr>
        <p:txBody>
          <a:bodyPr rtlCol="0" anchor="ctr"/>
          <a:lstStyle/>
          <a:p>
            <a:pPr algn="ctr"/>
          </a:p>
        </p:txBody>
      </p:sp>
      <p:sp>
        <p:nvSpPr>
          <p:cNvPr id="18" name="Rounded Rectangle 17"/>
          <p:cNvSpPr/>
          <p:nvPr/>
        </p:nvSpPr>
        <p:spPr>
          <a:xfrm>
            <a:off x="5360212" y="2894901"/>
            <a:ext cx="1445666" cy="871474"/>
          </a:xfrm>
          <a:prstGeom prst="roundRect">
            <a:avLst>
              <a:gd name="adj" fmla="val 25000"/>
            </a:avLst>
          </a:prstGeom>
          <a:solidFill>
            <a:srgbClr val="FFFFFF"/>
          </a:solidFill>
          <a:ln w="25400">
            <a:solidFill>
              <a:srgbClr val="F0AB00"/>
            </a:solidFill>
          </a:ln>
          <a:effectLst/>
        </p:spPr>
        <p:txBody>
          <a:bodyPr rtlCol="0" anchor="ctr"/>
          <a:lstStyle/>
          <a:p>
            <a:pPr algn="ctr"/>
          </a:p>
        </p:txBody>
      </p:sp>
      <p:sp>
        <p:nvSpPr>
          <p:cNvPr id="19" name="TextBox 18"/>
          <p:cNvSpPr txBox="1"/>
          <p:nvPr/>
        </p:nvSpPr>
        <p:spPr>
          <a:xfrm>
            <a:off x="5442508" y="2940621"/>
            <a:ext cx="1281074" cy="780034"/>
          </a:xfrm>
          <a:prstGeom prst="rect">
            <a:avLst/>
          </a:prstGeom>
          <a:noFill/>
        </p:spPr>
        <p:txBody>
          <a:bodyPr wrap="square" lIns="0" rIns="0" tIns="0" bIns="0" anchor="ctr">
            <a:spAutoFit/>
          </a:bodyPr>
          <a:lstStyle/>
          <a:p>
            <a:pPr algn="ctr">
              <a:lnSpc>
                <a:spcPct val="112000"/>
              </a:lnSpc>
            </a:pPr>
            <a:r>
              <a:rPr sz="1200" b="1" i="0">
                <a:solidFill>
                  <a:srgbClr val="21295C"/>
                </a:solidFill>
                <a:latin typeface="Arial"/>
              </a:rPr>
              <a:t>Stable Diffusion</a:t>
            </a:r>
          </a:p>
        </p:txBody>
      </p:sp>
      <p:sp>
        <p:nvSpPr>
          <p:cNvPr id="20" name="TextBox 19"/>
          <p:cNvSpPr txBox="1"/>
          <p:nvPr/>
        </p:nvSpPr>
        <p:spPr>
          <a:xfrm>
            <a:off x="502920" y="3802951"/>
            <a:ext cx="63029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Вход → выход: Getty-коллекция внутри LAION-5B, обученная модель на выходе</a:t>
            </a:r>
          </a:p>
        </p:txBody>
      </p:sp>
      <p:sp>
        <p:nvSpPr>
          <p:cNvPr id="21" name="Rounded Rectangle 20"/>
          <p:cNvSpPr/>
          <p:nvPr/>
        </p:nvSpPr>
        <p:spPr>
          <a:xfrm>
            <a:off x="374904" y="4105635"/>
            <a:ext cx="11441887" cy="2130572"/>
          </a:xfrm>
          <a:prstGeom prst="roundRect">
            <a:avLst>
              <a:gd name="adj" fmla="val 14306"/>
            </a:avLst>
          </a:prstGeom>
          <a:solidFill>
            <a:srgbClr val="F4F7FA"/>
          </a:solidFill>
          <a:ln w="19050">
            <a:solidFill>
              <a:srgbClr val="1C7293"/>
            </a:solidFill>
          </a:ln>
          <a:effectLst/>
        </p:spPr>
        <p:txBody>
          <a:bodyPr rtlCol="0" anchor="ctr"/>
          <a:lstStyle/>
          <a:p>
            <a:pPr algn="ctr"/>
          </a:p>
        </p:txBody>
      </p:sp>
      <p:sp>
        <p:nvSpPr>
          <p:cNvPr id="22" name="TextBox 21"/>
          <p:cNvSpPr txBox="1"/>
          <p:nvPr/>
        </p:nvSpPr>
        <p:spPr>
          <a:xfrm>
            <a:off x="539496" y="4197075"/>
            <a:ext cx="11112703" cy="203913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Вход — не Getty напрямую, а промежуточный публичный датасет LAION-5B:</a:t>
            </a:r>
            <a:r>
              <a:rPr sz="1500" b="0" i="0">
                <a:solidFill>
                  <a:srgbClr val="21295C"/>
                </a:solidFill>
                <a:latin typeface="Arial"/>
              </a:rPr>
              <a:t> собран сканированием открытого интернета, отфильтрован моделью CLIP.</a:t>
            </a:r>
          </a:p>
          <a:p>
            <a:pPr algn="l">
              <a:lnSpc>
                <a:spcPct val="126000"/>
              </a:lnSpc>
              <a:spcBef>
                <a:spcPts val="700"/>
              </a:spcBef>
            </a:pPr>
            <a:r>
              <a:rPr sz="1500" b="0" i="0">
                <a:solidFill>
                  <a:srgbClr val="21295C"/>
                </a:solidFill>
                <a:latin typeface="Arial"/>
              </a:rPr>
              <a:t/>
            </a:r>
            <a:r>
              <a:rPr sz="1500" b="1" i="0">
                <a:solidFill>
                  <a:srgbClr val="21295C"/>
                </a:solidFill>
                <a:latin typeface="Arial"/>
              </a:rPr>
              <a:t>Getty заявляет ≈12,3 млн пар (≈0,2% датасета)</a:t>
            </a:r>
            <a:r>
              <a:rPr sz="1500" b="0" i="0">
                <a:solidFill>
                  <a:srgbClr val="21295C"/>
                </a:solidFill>
                <a:latin typeface="Arial"/>
              </a:rPr>
              <a:t> — обнаружено постфактум, по метаданным и водяным знакам, не намеренно.</a:t>
            </a:r>
          </a:p>
          <a:p>
            <a:pPr algn="l">
              <a:lnSpc>
                <a:spcPct val="126000"/>
              </a:lnSpc>
              <a:spcBef>
                <a:spcPts val="700"/>
              </a:spcBef>
            </a:pPr>
            <a:r>
              <a:rPr sz="1500" b="0" i="0">
                <a:solidFill>
                  <a:srgbClr val="21295C"/>
                </a:solidFill>
                <a:latin typeface="Arial"/>
              </a:rPr>
              <a:t/>
            </a:r>
            <a:r>
              <a:rPr sz="1500" b="1" i="0">
                <a:solidFill>
                  <a:srgbClr val="21295C"/>
                </a:solidFill>
                <a:latin typeface="Arial"/>
              </a:rPr>
              <a:t>Выход — Stable Diffusion</a:t>
            </a:r>
            <a:r>
              <a:rPr sz="1500" b="0" i="0">
                <a:solidFill>
                  <a:srgbClr val="21295C"/>
                </a:solidFill>
                <a:latin typeface="Arial"/>
              </a:rPr>
              <a:t>, опубликована с открытыми весами в 2022 году — именно открытость весов сделала возможным техническое исследование, на которое ссылались обе стороны в суде.</a:t>
            </a:r>
          </a:p>
        </p:txBody>
      </p:sp>
      <p:sp>
        <p:nvSpPr>
          <p:cNvPr id="23" name="Rounded Rectangle 22"/>
          <p:cNvSpPr/>
          <p:nvPr/>
        </p:nvSpPr>
        <p:spPr>
          <a:xfrm>
            <a:off x="7116775" y="1335024"/>
            <a:ext cx="4572000" cy="2582644"/>
          </a:xfrm>
          <a:prstGeom prst="roundRect">
            <a:avLst>
              <a:gd name="adj" fmla="val 11801"/>
            </a:avLst>
          </a:prstGeom>
          <a:solidFill>
            <a:srgbClr val="F4F7FA"/>
          </a:solidFill>
          <a:ln w="19050">
            <a:solidFill>
              <a:srgbClr val="1C7293"/>
            </a:solidFill>
          </a:ln>
          <a:effectLst/>
        </p:spPr>
        <p:txBody>
          <a:bodyPr rtlCol="0" anchor="ctr"/>
          <a:lstStyle/>
          <a:p>
            <a:pPr algn="ctr"/>
          </a:p>
        </p:txBody>
      </p:sp>
      <p:pic>
        <p:nvPicPr>
          <p:cNvPr id="24" name="Picture 23" descr="s46-haveibeentrained-laion5b-search-results.jpg"/>
          <p:cNvPicPr>
            <a:picLocks noChangeAspect="1"/>
          </p:cNvPicPr>
          <p:nvPr/>
        </p:nvPicPr>
        <p:blipFill>
          <a:blip r:embed="rId2"/>
          <a:stretch>
            <a:fillRect/>
          </a:stretch>
        </p:blipFill>
        <p:spPr>
          <a:xfrm>
            <a:off x="7253935" y="1472184"/>
            <a:ext cx="4297680" cy="2308324"/>
          </a:xfrm>
          <a:prstGeom prst="rect">
            <a:avLst/>
          </a:prstGeom>
        </p:spPr>
      </p:pic>
      <p:sp>
        <p:nvSpPr>
          <p:cNvPr id="25" name="Rectangle 24"/>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6" name="TextBox 2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Mayer Brown, 2025; CourtListener, 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переехало: риск — с рынка в суд</a:t>
            </a:r>
          </a:p>
        </p:txBody>
      </p:sp>
      <p:sp>
        <p:nvSpPr>
          <p:cNvPr id="4" name="Rounded Rectangle 3"/>
          <p:cNvSpPr/>
          <p:nvPr/>
        </p:nvSpPr>
        <p:spPr>
          <a:xfrm>
            <a:off x="502920" y="1335024"/>
            <a:ext cx="2703423" cy="1582582"/>
          </a:xfrm>
          <a:prstGeom prst="roundRect">
            <a:avLst>
              <a:gd name="adj" fmla="val 1925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 ДЕЛА: РИСК НА РЫНКЕ</a:t>
            </a:r>
          </a:p>
        </p:txBody>
      </p:sp>
      <p:sp>
        <p:nvSpPr>
          <p:cNvPr id="6" name="TextBox 5"/>
          <p:cNvSpPr txBox="1"/>
          <p:nvPr/>
        </p:nvSpPr>
        <p:spPr>
          <a:xfrm>
            <a:off x="640080" y="1725375"/>
            <a:ext cx="2429103" cy="825909"/>
          </a:xfrm>
          <a:prstGeom prst="rect">
            <a:avLst/>
          </a:prstGeom>
          <a:noFill/>
        </p:spPr>
        <p:txBody>
          <a:bodyPr wrap="square" lIns="0" rIns="0" tIns="0" bIns="0" anchor="t">
            <a:spAutoFit/>
          </a:bodyPr>
          <a:lstStyle/>
          <a:p>
            <a:pPr algn="l">
              <a:lnSpc>
                <a:spcPct val="108000"/>
              </a:lnSpc>
            </a:pPr>
            <a:r>
              <a:rPr sz="1550" b="1" i="0">
                <a:solidFill>
                  <a:srgbClr val="21295C"/>
                </a:solidFill>
                <a:latin typeface="Arial"/>
              </a:rPr>
              <a:t>правообладатель находит использование — или не находит</a:t>
            </a:r>
          </a:p>
        </p:txBody>
      </p:sp>
      <p:sp>
        <p:nvSpPr>
          <p:cNvPr id="7" name="Rounded Rectangle 6"/>
          <p:cNvSpPr/>
          <p:nvPr/>
        </p:nvSpPr>
        <p:spPr>
          <a:xfrm>
            <a:off x="3370935" y="1335024"/>
            <a:ext cx="2703423" cy="1582582"/>
          </a:xfrm>
          <a:prstGeom prst="roundRect">
            <a:avLst>
              <a:gd name="adj" fmla="val 19259"/>
            </a:avLst>
          </a:prstGeom>
          <a:solidFill>
            <a:srgbClr val="FFFFFF"/>
          </a:solidFill>
          <a:ln w="25400">
            <a:solidFill>
              <a:srgbClr val="F0AB00"/>
            </a:solidFill>
          </a:ln>
          <a:effectLst/>
        </p:spPr>
        <p:txBody>
          <a:bodyPr rtlCol="0" anchor="ctr"/>
          <a:lstStyle/>
          <a:p>
            <a:pPr algn="ctr"/>
          </a:p>
        </p:txBody>
      </p:sp>
      <p:sp>
        <p:nvSpPr>
          <p:cNvPr id="8" name="TextBox 7"/>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ПОСЛЕ: РИСК В СУДЕ</a:t>
            </a:r>
          </a:p>
        </p:txBody>
      </p:sp>
      <p:sp>
        <p:nvSpPr>
          <p:cNvPr id="9" name="TextBox 8"/>
          <p:cNvSpPr txBox="1"/>
          <p:nvPr/>
        </p:nvSpPr>
        <p:spPr>
          <a:xfrm>
            <a:off x="3508095" y="1725375"/>
            <a:ext cx="2429103" cy="1055071"/>
          </a:xfrm>
          <a:prstGeom prst="rect">
            <a:avLst/>
          </a:prstGeom>
          <a:noFill/>
        </p:spPr>
        <p:txBody>
          <a:bodyPr wrap="square" lIns="0" rIns="0" tIns="0" bIns="0" anchor="t">
            <a:spAutoFit/>
          </a:bodyPr>
          <a:lstStyle/>
          <a:p>
            <a:pPr algn="l">
              <a:lnSpc>
                <a:spcPct val="108000"/>
              </a:lnSpc>
            </a:pPr>
            <a:r>
              <a:rPr sz="2000" b="1" i="0">
                <a:solidFill>
                  <a:srgbClr val="1C7293"/>
                </a:solidFill>
                <a:latin typeface="Arial"/>
              </a:rPr>
              <a:t>кто подал первым — формирует прецедент</a:t>
            </a:r>
          </a:p>
        </p:txBody>
      </p:sp>
      <p:sp>
        <p:nvSpPr>
          <p:cNvPr id="10" name="Rounded Rectangle 9"/>
          <p:cNvSpPr/>
          <p:nvPr/>
        </p:nvSpPr>
        <p:spPr>
          <a:xfrm>
            <a:off x="502920" y="3082198"/>
            <a:ext cx="2703423" cy="1531657"/>
          </a:xfrm>
          <a:prstGeom prst="roundRect">
            <a:avLst>
              <a:gd name="adj" fmla="val 19900"/>
            </a:avLst>
          </a:prstGeom>
          <a:solidFill>
            <a:srgbClr val="F4F7FA"/>
          </a:solidFill>
          <a:ln w="15240">
            <a:solidFill>
              <a:srgbClr val="1C7293"/>
            </a:solidFill>
          </a:ln>
          <a:effectLst/>
        </p:spPr>
        <p:txBody>
          <a:bodyPr rtlCol="0" anchor="ctr"/>
          <a:lstStyle/>
          <a:p>
            <a:pPr algn="ctr"/>
          </a:p>
        </p:txBody>
      </p:sp>
      <p:sp>
        <p:nvSpPr>
          <p:cNvPr id="11" name="TextBox 10"/>
          <p:cNvSpPr txBox="1"/>
          <p:nvPr/>
        </p:nvSpPr>
        <p:spPr>
          <a:xfrm>
            <a:off x="640080" y="3219358"/>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UMG + WARNER → UDIO</a:t>
            </a:r>
          </a:p>
        </p:txBody>
      </p:sp>
      <p:sp>
        <p:nvSpPr>
          <p:cNvPr id="12" name="TextBox 11"/>
          <p:cNvSpPr txBox="1"/>
          <p:nvPr/>
        </p:nvSpPr>
        <p:spPr>
          <a:xfrm>
            <a:off x="640080" y="3472549"/>
            <a:ext cx="2429103" cy="545823"/>
          </a:xfrm>
          <a:prstGeom prst="rect">
            <a:avLst/>
          </a:prstGeom>
          <a:noFill/>
        </p:spPr>
        <p:txBody>
          <a:bodyPr wrap="square" lIns="0" rIns="0" tIns="0" bIns="0" anchor="t">
            <a:spAutoFit/>
          </a:bodyPr>
          <a:lstStyle/>
          <a:p>
            <a:pPr algn="l">
              <a:lnSpc>
                <a:spcPct val="108000"/>
              </a:lnSpc>
            </a:pPr>
            <a:r>
              <a:rPr sz="1500" b="1" i="0">
                <a:solidFill>
                  <a:srgbClr val="21295C"/>
                </a:solidFill>
                <a:latin typeface="Arial"/>
              </a:rPr>
              <a:t>урегулировали: $0,002-0,005 / генерацию</a:t>
            </a:r>
          </a:p>
        </p:txBody>
      </p:sp>
      <p:sp>
        <p:nvSpPr>
          <p:cNvPr id="13" name="Rounded Rectangle 12"/>
          <p:cNvSpPr/>
          <p:nvPr/>
        </p:nvSpPr>
        <p:spPr>
          <a:xfrm>
            <a:off x="3370935" y="3082198"/>
            <a:ext cx="2703423" cy="1531657"/>
          </a:xfrm>
          <a:prstGeom prst="roundRect">
            <a:avLst>
              <a:gd name="adj" fmla="val 19900"/>
            </a:avLst>
          </a:prstGeom>
          <a:solidFill>
            <a:srgbClr val="F4F7FA"/>
          </a:solidFill>
          <a:ln w="15240">
            <a:solidFill>
              <a:srgbClr val="1C7293"/>
            </a:solidFill>
          </a:ln>
          <a:effectLst/>
        </p:spPr>
        <p:txBody>
          <a:bodyPr rtlCol="0" anchor="ctr"/>
          <a:lstStyle/>
          <a:p>
            <a:pPr algn="ctr"/>
          </a:p>
        </p:txBody>
      </p:sp>
      <p:sp>
        <p:nvSpPr>
          <p:cNvPr id="14" name="TextBox 13"/>
          <p:cNvSpPr txBox="1"/>
          <p:nvPr/>
        </p:nvSpPr>
        <p:spPr>
          <a:xfrm>
            <a:off x="3508095" y="3219358"/>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SONY</a:t>
            </a:r>
          </a:p>
        </p:txBody>
      </p:sp>
      <p:sp>
        <p:nvSpPr>
          <p:cNvPr id="15" name="TextBox 14"/>
          <p:cNvSpPr txBox="1"/>
          <p:nvPr/>
        </p:nvSpPr>
        <p:spPr>
          <a:xfrm>
            <a:off x="3508095" y="3472549"/>
            <a:ext cx="2429103" cy="1004146"/>
          </a:xfrm>
          <a:prstGeom prst="rect">
            <a:avLst/>
          </a:prstGeom>
          <a:noFill/>
        </p:spPr>
        <p:txBody>
          <a:bodyPr wrap="square" lIns="0" rIns="0" tIns="0" bIns="0" anchor="t">
            <a:spAutoFit/>
          </a:bodyPr>
          <a:lstStyle/>
          <a:p>
            <a:pPr algn="l">
              <a:lnSpc>
                <a:spcPct val="108000"/>
              </a:lnSpc>
            </a:pPr>
            <a:r>
              <a:rPr sz="1900" b="1" i="0">
                <a:solidFill>
                  <a:srgbClr val="21295C"/>
                </a:solidFill>
                <a:latin typeface="Arial"/>
              </a:rPr>
              <a:t>продолжает судиться — против обоих сервисов</a:t>
            </a:r>
          </a:p>
        </p:txBody>
      </p:sp>
      <p:sp>
        <p:nvSpPr>
          <p:cNvPr id="16" name="Rounded Rectangle 15"/>
          <p:cNvSpPr/>
          <p:nvPr/>
        </p:nvSpPr>
        <p:spPr>
          <a:xfrm>
            <a:off x="374904" y="4705296"/>
            <a:ext cx="5827471" cy="1530911"/>
          </a:xfrm>
          <a:prstGeom prst="roundRect">
            <a:avLst>
              <a:gd name="adj" fmla="val 19909"/>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96736"/>
            <a:ext cx="5498287" cy="1439471"/>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До дела:</a:t>
            </a:r>
            <a:r>
              <a:rPr sz="1100" b="0" i="0">
                <a:solidFill>
                  <a:srgbClr val="21295C"/>
                </a:solidFill>
                <a:latin typeface="Arial"/>
              </a:rPr>
              <a:t> риск лежал на рынке. </a:t>
            </a:r>
            <a:r>
              <a:rPr sz="1100" b="1" i="0">
                <a:solidFill>
                  <a:srgbClr val="21295C"/>
                </a:solidFill>
                <a:latin typeface="Arial"/>
              </a:rPr>
              <a:t>После:</a:t>
            </a:r>
            <a:r>
              <a:rPr sz="1100" b="0" i="0">
                <a:solidFill>
                  <a:srgbClr val="21295C"/>
                </a:solidFill>
                <a:latin typeface="Arial"/>
              </a:rPr>
              <a:t> риск переехал в суд — кто первым довёл иск до вердикта, формирует прецедент для всей отрасли.</a:t>
            </a:r>
          </a:p>
          <a:p>
            <a:pPr algn="l">
              <a:lnSpc>
                <a:spcPct val="126000"/>
              </a:lnSpc>
              <a:spcBef>
                <a:spcPts val="700"/>
              </a:spcBef>
            </a:pPr>
            <a:r>
              <a:rPr sz="1100" b="0" i="0">
                <a:solidFill>
                  <a:srgbClr val="21295C"/>
                </a:solidFill>
                <a:latin typeface="Arial"/>
              </a:rPr>
              <a:t/>
            </a:r>
            <a:r>
              <a:rPr sz="1100" b="1" i="0">
                <a:solidFill>
                  <a:srgbClr val="21295C"/>
                </a:solidFill>
                <a:latin typeface="Arial"/>
              </a:rPr>
              <a:t>У отрасли нет единого ответа.</a:t>
            </a:r>
            <a:r>
              <a:rPr sz="1100" b="0" i="0">
                <a:solidFill>
                  <a:srgbClr val="21295C"/>
                </a:solidFill>
                <a:latin typeface="Arial"/>
              </a:rPr>
              <a:t> UMG и Warner урегулировали с Udio: $0,002-0,005 за генерацию. Sony продолжает судиться — и против Suno, и против Udio.</a:t>
            </a:r>
          </a:p>
          <a:p>
            <a:pPr algn="l">
              <a:lnSpc>
                <a:spcPct val="126000"/>
              </a:lnSpc>
              <a:spcBef>
                <a:spcPts val="700"/>
              </a:spcBef>
            </a:pPr>
            <a:r>
              <a:rPr sz="1100" b="0" i="0">
                <a:solidFill>
                  <a:srgbClr val="21295C"/>
                </a:solidFill>
                <a:latin typeface="Arial"/>
              </a:rPr>
              <a:t/>
            </a:r>
            <a:r>
              <a:rPr sz="1100" b="1" i="0">
                <a:solidFill>
                  <a:srgbClr val="21295C"/>
                </a:solidFill>
                <a:latin typeface="Arial"/>
              </a:rPr>
              <a:t>Обе стратегии рациональны</a:t>
            </a:r>
            <a:r>
              <a:rPr sz="1100" b="0" i="0">
                <a:solidFill>
                  <a:srgbClr val="21295C"/>
                </a:solidFill>
                <a:latin typeface="Arial"/>
              </a:rPr>
              <a:t> — по разной логике, не ошибка одной из сторон.</a:t>
            </a:r>
          </a:p>
        </p:txBody>
      </p:sp>
      <p:sp>
        <p:nvSpPr>
          <p:cNvPr id="18" name="Rounded Rectangle 17"/>
          <p:cNvSpPr/>
          <p:nvPr/>
        </p:nvSpPr>
        <p:spPr>
          <a:xfrm>
            <a:off x="6385255" y="1335024"/>
            <a:ext cx="5303520" cy="4046220"/>
          </a:xfrm>
          <a:prstGeom prst="roundRect">
            <a:avLst>
              <a:gd name="adj" fmla="val 7532"/>
            </a:avLst>
          </a:prstGeom>
          <a:solidFill>
            <a:srgbClr val="F4F7FA"/>
          </a:solidFill>
          <a:ln w="19050">
            <a:solidFill>
              <a:srgbClr val="1C7293"/>
            </a:solidFill>
          </a:ln>
          <a:effectLst/>
        </p:spPr>
        <p:txBody>
          <a:bodyPr rtlCol="0" anchor="ctr"/>
          <a:lstStyle/>
          <a:p>
            <a:pPr algn="ctr"/>
          </a:p>
        </p:txBody>
      </p:sp>
      <p:pic>
        <p:nvPicPr>
          <p:cNvPr id="19" name="Picture 18" descr="s47-recording-studio-audio-engineer-mixing.jpg"/>
          <p:cNvPicPr>
            <a:picLocks noChangeAspect="1"/>
          </p:cNvPicPr>
          <p:nvPr/>
        </p:nvPicPr>
        <p:blipFill>
          <a:blip r:embed="rId2"/>
          <a:stretch>
            <a:fillRect/>
          </a:stretch>
        </p:blipFill>
        <p:spPr>
          <a:xfrm>
            <a:off x="6522415" y="1472184"/>
            <a:ext cx="5029200" cy="37719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Bird &amp; Bird, 2025; Forbes, 2025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NYT против OpenAI: решения нет, а числа уже есть</a:t>
            </a:r>
          </a:p>
        </p:txBody>
      </p:sp>
      <p:sp>
        <p:nvSpPr>
          <p:cNvPr id="4" name="Rounded Rectangle 3"/>
          <p:cNvSpPr/>
          <p:nvPr/>
        </p:nvSpPr>
        <p:spPr>
          <a:xfrm>
            <a:off x="502920" y="1335024"/>
            <a:ext cx="2363945"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89625"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РАСЧЁТ ИСТЦА</a:t>
            </a:r>
          </a:p>
        </p:txBody>
      </p:sp>
      <p:sp>
        <p:nvSpPr>
          <p:cNvPr id="6" name="TextBox 5"/>
          <p:cNvSpPr txBox="1"/>
          <p:nvPr/>
        </p:nvSpPr>
        <p:spPr>
          <a:xfrm>
            <a:off x="640080" y="1725375"/>
            <a:ext cx="2089625"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 $160 млн</a:t>
            </a:r>
          </a:p>
        </p:txBody>
      </p:sp>
      <p:sp>
        <p:nvSpPr>
          <p:cNvPr id="7" name="TextBox 6"/>
          <p:cNvSpPr txBox="1"/>
          <p:nvPr/>
        </p:nvSpPr>
        <p:spPr>
          <a:xfrm>
            <a:off x="640080" y="2152374"/>
            <a:ext cx="208962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$10/статья × 16 млн+ записей, не присуждено</a:t>
            </a:r>
          </a:p>
        </p:txBody>
      </p:sp>
      <p:sp>
        <p:nvSpPr>
          <p:cNvPr id="8" name="Rounded Rectangle 7"/>
          <p:cNvSpPr/>
          <p:nvPr/>
        </p:nvSpPr>
        <p:spPr>
          <a:xfrm>
            <a:off x="3031457" y="1335024"/>
            <a:ext cx="2363945" cy="1974891"/>
          </a:xfrm>
          <a:prstGeom prst="roundRect">
            <a:avLst>
              <a:gd name="adj" fmla="val 1543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168617" y="1472184"/>
            <a:ext cx="208962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СТАТУТНЫЙ ПОТОЛОК (ВСЕ ИСТЦЫ)</a:t>
            </a:r>
          </a:p>
        </p:txBody>
      </p:sp>
      <p:sp>
        <p:nvSpPr>
          <p:cNvPr id="10" name="TextBox 9"/>
          <p:cNvSpPr txBox="1"/>
          <p:nvPr/>
        </p:nvSpPr>
        <p:spPr>
          <a:xfrm>
            <a:off x="3168617" y="1932846"/>
            <a:ext cx="2089625"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&gt; $1,62 трлн</a:t>
            </a:r>
          </a:p>
        </p:txBody>
      </p:sp>
      <p:sp>
        <p:nvSpPr>
          <p:cNvPr id="11" name="TextBox 10"/>
          <p:cNvSpPr txBox="1"/>
          <p:nvPr/>
        </p:nvSpPr>
        <p:spPr>
          <a:xfrm>
            <a:off x="3168617" y="2359845"/>
            <a:ext cx="208962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10,8 млн × $150 000 — верхняя граница закона, не прогноз</a:t>
            </a:r>
          </a:p>
        </p:txBody>
      </p:sp>
      <p:sp>
        <p:nvSpPr>
          <p:cNvPr id="12" name="Rounded Rectangle 11"/>
          <p:cNvSpPr/>
          <p:nvPr/>
        </p:nvSpPr>
        <p:spPr>
          <a:xfrm>
            <a:off x="5559995" y="1335024"/>
            <a:ext cx="2363945" cy="1974891"/>
          </a:xfrm>
          <a:prstGeom prst="roundRect">
            <a:avLst>
              <a:gd name="adj" fmla="val 1543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697155" y="1472184"/>
            <a:ext cx="208962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РЫНОЧНЫЙ АНАЛОГ: NEWS CORP × OPENAI</a:t>
            </a:r>
          </a:p>
        </p:txBody>
      </p:sp>
      <p:sp>
        <p:nvSpPr>
          <p:cNvPr id="14" name="TextBox 13"/>
          <p:cNvSpPr txBox="1"/>
          <p:nvPr/>
        </p:nvSpPr>
        <p:spPr>
          <a:xfrm>
            <a:off x="5697155" y="1932846"/>
            <a:ext cx="208962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до $250 млн / 5 лет</a:t>
            </a:r>
          </a:p>
        </p:txBody>
      </p:sp>
      <p:sp>
        <p:nvSpPr>
          <p:cNvPr id="15" name="TextBox 14"/>
          <p:cNvSpPr txBox="1"/>
          <p:nvPr/>
        </p:nvSpPr>
        <p:spPr>
          <a:xfrm>
            <a:off x="5697155" y="2750268"/>
            <a:ext cx="208962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портфель изданий кратно больше одного NYT</a:t>
            </a:r>
          </a:p>
        </p:txBody>
      </p:sp>
      <p:sp>
        <p:nvSpPr>
          <p:cNvPr id="16" name="Rounded Rectangle 15"/>
          <p:cNvSpPr/>
          <p:nvPr/>
        </p:nvSpPr>
        <p:spPr>
          <a:xfrm>
            <a:off x="374904" y="3401355"/>
            <a:ext cx="7677053" cy="2234486"/>
          </a:xfrm>
          <a:prstGeom prst="roundRect">
            <a:avLst>
              <a:gd name="adj" fmla="val 13640"/>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492795"/>
            <a:ext cx="7347869" cy="274341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Иск подан в декабре 2023.</a:t>
            </a:r>
            <a:r>
              <a:rPr sz="1500" b="0" i="0">
                <a:solidFill>
                  <a:srgbClr val="21295C"/>
                </a:solidFill>
                <a:latin typeface="Arial"/>
              </a:rPr>
              <a:t> На октябрь 2026 — стадия упрощённого производства, решения по существу нет.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Расчёт истца</a:t>
            </a:r>
            <a:r>
              <a:rPr sz="1500" b="0" i="0">
                <a:solidFill>
                  <a:srgbClr val="21295C"/>
                </a:solidFill>
                <a:latin typeface="Arial"/>
              </a:rPr>
              <a:t> — метод, предложенный суду, не присуждённая сумма. </a:t>
            </a:r>
            <a:r>
              <a:rPr sz="1500" b="1" i="0">
                <a:solidFill>
                  <a:srgbClr val="21295C"/>
                </a:solidFill>
                <a:latin typeface="Arial"/>
              </a:rPr>
              <a:t>Статутный потолок</a:t>
            </a:r>
            <a:r>
              <a:rPr sz="1500" b="0" i="0">
                <a:solidFill>
                  <a:srgbClr val="21295C"/>
                </a:solidFill>
                <a:latin typeface="Arial"/>
              </a:rPr>
              <a:t> — верхняя граница закона, не прогноз реального решения.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Рыночный аналог:</a:t>
            </a:r>
            <a:r>
              <a:rPr sz="1500" b="0" i="0">
                <a:solidFill>
                  <a:srgbClr val="21295C"/>
                </a:solidFill>
                <a:latin typeface="Arial"/>
              </a:rPr>
              <a:t> News Corp заключила с OpenAI лицензию — за портфель изданий кратно больший одного NYT.</a:t>
            </a:r>
          </a:p>
        </p:txBody>
      </p:sp>
      <p:sp>
        <p:nvSpPr>
          <p:cNvPr id="18" name="Rounded Rectangle 17"/>
          <p:cNvSpPr/>
          <p:nvPr/>
        </p:nvSpPr>
        <p:spPr>
          <a:xfrm>
            <a:off x="8234837" y="1335024"/>
            <a:ext cx="3453938" cy="4389120"/>
          </a:xfrm>
          <a:prstGeom prst="roundRect">
            <a:avLst>
              <a:gd name="adj" fmla="val 8824"/>
            </a:avLst>
          </a:prstGeom>
          <a:solidFill>
            <a:srgbClr val="F4F7FA"/>
          </a:solidFill>
          <a:ln w="19050">
            <a:solidFill>
              <a:srgbClr val="1C7293"/>
            </a:solidFill>
          </a:ln>
          <a:effectLst/>
        </p:spPr>
        <p:txBody>
          <a:bodyPr rtlCol="0" anchor="ctr"/>
          <a:lstStyle/>
          <a:p>
            <a:pPr algn="ctr"/>
          </a:p>
        </p:txBody>
      </p:sp>
      <p:pic>
        <p:nvPicPr>
          <p:cNvPr id="19" name="Picture 18" descr="s48-nyt-openai-exhibit-j-example1.png"/>
          <p:cNvPicPr>
            <a:picLocks noChangeAspect="1"/>
          </p:cNvPicPr>
          <p:nvPr/>
        </p:nvPicPr>
        <p:blipFill>
          <a:blip r:embed="rId2"/>
          <a:stretch>
            <a:fillRect/>
          </a:stretch>
        </p:blipFill>
        <p:spPr>
          <a:xfrm>
            <a:off x="8371997" y="1472184"/>
            <a:ext cx="3179618"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AI Lawsuit Tracker, 2026; Bloomberg Law, 2026; Deadline, 2024; Variety, 2023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Три лейбла, два сервиса — и ни одна строка не повторяет другую</a:t>
            </a:r>
          </a:p>
        </p:txBody>
      </p:sp>
      <p:sp>
        <p:nvSpPr>
          <p:cNvPr id="4" name="Rounded Rectangle 3"/>
          <p:cNvSpPr/>
          <p:nvPr/>
        </p:nvSpPr>
        <p:spPr>
          <a:xfrm>
            <a:off x="374904" y="1243584"/>
            <a:ext cx="5827471"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5498287" cy="789333"/>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RIAA — не сторона иска.</a:t>
            </a:r>
            <a:r>
              <a:rPr sz="1300" b="0" i="0">
                <a:solidFill>
                  <a:srgbClr val="21295C"/>
                </a:solidFill>
                <a:latin typeface="Arial"/>
              </a:rPr>
              <a:t> Это отраслевая ассоциация; истцы — Universal Music Group, Sony Music Entertainment, Warner Music Group, каждая по своему расчёту.</a:t>
            </a:r>
          </a:p>
        </p:txBody>
      </p:sp>
      <p:sp>
        <p:nvSpPr>
          <p:cNvPr id="6" name="Rectangle 5"/>
          <p:cNvSpPr/>
          <p:nvPr/>
        </p:nvSpPr>
        <p:spPr>
          <a:xfrm>
            <a:off x="539496" y="2270661"/>
            <a:ext cx="1606069" cy="602167"/>
          </a:xfrm>
          <a:prstGeom prst="rect">
            <a:avLst/>
          </a:prstGeom>
          <a:solidFill>
            <a:srgbClr val="065A82"/>
          </a:solidFill>
          <a:ln>
            <a:noFill/>
          </a:ln>
          <a:effectLst/>
        </p:spPr>
        <p:txBody>
          <a:bodyPr rtlCol="0" anchor="ctr"/>
          <a:lstStyle/>
          <a:p>
            <a:pPr algn="ctr"/>
          </a:p>
        </p:txBody>
      </p:sp>
      <p:sp>
        <p:nvSpPr>
          <p:cNvPr id="7" name="TextBox 6"/>
          <p:cNvSpPr txBox="1"/>
          <p:nvPr/>
        </p:nvSpPr>
        <p:spPr>
          <a:xfrm>
            <a:off x="685800" y="2270661"/>
            <a:ext cx="1313461" cy="602167"/>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Мейджор-лейбл</a:t>
            </a:r>
          </a:p>
        </p:txBody>
      </p:sp>
      <p:sp>
        <p:nvSpPr>
          <p:cNvPr id="8" name="Rectangle 7"/>
          <p:cNvSpPr/>
          <p:nvPr/>
        </p:nvSpPr>
        <p:spPr>
          <a:xfrm>
            <a:off x="2145565" y="2270661"/>
            <a:ext cx="1658718" cy="602167"/>
          </a:xfrm>
          <a:prstGeom prst="rect">
            <a:avLst/>
          </a:prstGeom>
          <a:solidFill>
            <a:srgbClr val="065A82"/>
          </a:solidFill>
          <a:ln>
            <a:noFill/>
          </a:ln>
          <a:effectLst/>
        </p:spPr>
        <p:txBody>
          <a:bodyPr rtlCol="0" anchor="ctr"/>
          <a:lstStyle/>
          <a:p>
            <a:pPr algn="ctr"/>
          </a:p>
        </p:txBody>
      </p:sp>
      <p:sp>
        <p:nvSpPr>
          <p:cNvPr id="9" name="TextBox 8"/>
          <p:cNvSpPr txBox="1"/>
          <p:nvPr/>
        </p:nvSpPr>
        <p:spPr>
          <a:xfrm>
            <a:off x="2291869" y="2270661"/>
            <a:ext cx="1366110" cy="602167"/>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Статус против Suno (окт. 2026)</a:t>
            </a:r>
          </a:p>
        </p:txBody>
      </p:sp>
      <p:sp>
        <p:nvSpPr>
          <p:cNvPr id="10" name="Rectangle 9"/>
          <p:cNvSpPr/>
          <p:nvPr/>
        </p:nvSpPr>
        <p:spPr>
          <a:xfrm>
            <a:off x="3804284" y="2270661"/>
            <a:ext cx="2233498" cy="602167"/>
          </a:xfrm>
          <a:prstGeom prst="rect">
            <a:avLst/>
          </a:prstGeom>
          <a:solidFill>
            <a:srgbClr val="065A82"/>
          </a:solidFill>
          <a:ln>
            <a:noFill/>
          </a:ln>
          <a:effectLst/>
        </p:spPr>
        <p:txBody>
          <a:bodyPr rtlCol="0" anchor="ctr"/>
          <a:lstStyle/>
          <a:p>
            <a:pPr algn="ctr"/>
          </a:p>
        </p:txBody>
      </p:sp>
      <p:sp>
        <p:nvSpPr>
          <p:cNvPr id="11" name="TextBox 10"/>
          <p:cNvSpPr txBox="1"/>
          <p:nvPr/>
        </p:nvSpPr>
        <p:spPr>
          <a:xfrm>
            <a:off x="3950588" y="2270661"/>
            <a:ext cx="1940890" cy="602167"/>
          </a:xfrm>
          <a:prstGeom prst="rect">
            <a:avLst/>
          </a:prstGeom>
          <a:noFill/>
        </p:spPr>
        <p:txBody>
          <a:bodyPr wrap="square" lIns="0" rIns="0" tIns="0" bIns="0" anchor="ctr">
            <a:spAutoFit/>
          </a:bodyPr>
          <a:lstStyle/>
          <a:p>
            <a:pPr algn="l">
              <a:lnSpc>
                <a:spcPct val="116000"/>
              </a:lnSpc>
            </a:pPr>
            <a:r>
              <a:rPr sz="1200" b="1" i="0">
                <a:solidFill>
                  <a:srgbClr val="FFFFFF"/>
                </a:solidFill>
                <a:latin typeface="Arial"/>
              </a:rPr>
              <a:t>Статус против Udio (окт. 2026)</a:t>
            </a:r>
          </a:p>
        </p:txBody>
      </p:sp>
      <p:sp>
        <p:nvSpPr>
          <p:cNvPr id="12" name="Rectangle 11"/>
          <p:cNvSpPr/>
          <p:nvPr/>
        </p:nvSpPr>
        <p:spPr>
          <a:xfrm>
            <a:off x="539496" y="2872829"/>
            <a:ext cx="1606069" cy="1039743"/>
          </a:xfrm>
          <a:prstGeom prst="rect">
            <a:avLst/>
          </a:prstGeom>
          <a:solidFill>
            <a:srgbClr val="FFFFFF"/>
          </a:solidFill>
          <a:ln w="12700">
            <a:solidFill>
              <a:srgbClr val="D9E2EC"/>
            </a:solidFill>
          </a:ln>
          <a:effectLst/>
        </p:spPr>
        <p:txBody>
          <a:bodyPr rtlCol="0" anchor="ctr"/>
          <a:lstStyle/>
          <a:p>
            <a:pPr algn="ctr"/>
          </a:p>
        </p:txBody>
      </p:sp>
      <p:sp>
        <p:nvSpPr>
          <p:cNvPr id="13" name="TextBox 12"/>
          <p:cNvSpPr txBox="1"/>
          <p:nvPr/>
        </p:nvSpPr>
        <p:spPr>
          <a:xfrm>
            <a:off x="685800" y="2872829"/>
            <a:ext cx="1313461" cy="1039743"/>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Universal Music Group</a:t>
            </a:r>
          </a:p>
        </p:txBody>
      </p:sp>
      <p:sp>
        <p:nvSpPr>
          <p:cNvPr id="14" name="Rectangle 13"/>
          <p:cNvSpPr/>
          <p:nvPr/>
        </p:nvSpPr>
        <p:spPr>
          <a:xfrm>
            <a:off x="2145565" y="2872829"/>
            <a:ext cx="1658718" cy="1039743"/>
          </a:xfrm>
          <a:prstGeom prst="rect">
            <a:avLst/>
          </a:prstGeom>
          <a:solidFill>
            <a:srgbClr val="FFFFFF"/>
          </a:solidFill>
          <a:ln w="12700">
            <a:solidFill>
              <a:srgbClr val="D9E2EC"/>
            </a:solidFill>
          </a:ln>
          <a:effectLst/>
        </p:spPr>
        <p:txBody>
          <a:bodyPr rtlCol="0" anchor="ctr"/>
          <a:lstStyle/>
          <a:p>
            <a:pPr algn="ctr"/>
          </a:p>
        </p:txBody>
      </p:sp>
      <p:sp>
        <p:nvSpPr>
          <p:cNvPr id="15" name="TextBox 14"/>
          <p:cNvSpPr txBox="1"/>
          <p:nvPr/>
        </p:nvSpPr>
        <p:spPr>
          <a:xfrm>
            <a:off x="2291869" y="2872829"/>
            <a:ext cx="1366110" cy="1039743"/>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судится (попытка расширения отклонена)</a:t>
            </a:r>
          </a:p>
        </p:txBody>
      </p:sp>
      <p:sp>
        <p:nvSpPr>
          <p:cNvPr id="16" name="Rectangle 15"/>
          <p:cNvSpPr/>
          <p:nvPr/>
        </p:nvSpPr>
        <p:spPr>
          <a:xfrm>
            <a:off x="3804284" y="2872829"/>
            <a:ext cx="2233498" cy="1039743"/>
          </a:xfrm>
          <a:prstGeom prst="rect">
            <a:avLst/>
          </a:prstGeom>
          <a:solidFill>
            <a:srgbClr val="FFFFFF"/>
          </a:solidFill>
          <a:ln w="12700">
            <a:solidFill>
              <a:srgbClr val="D9E2EC"/>
            </a:solidFill>
          </a:ln>
          <a:effectLst/>
        </p:spPr>
        <p:txBody>
          <a:bodyPr rtlCol="0" anchor="ctr"/>
          <a:lstStyle/>
          <a:p>
            <a:pPr algn="ctr"/>
          </a:p>
        </p:txBody>
      </p:sp>
      <p:sp>
        <p:nvSpPr>
          <p:cNvPr id="17" name="TextBox 16"/>
          <p:cNvSpPr txBox="1"/>
          <p:nvPr/>
        </p:nvSpPr>
        <p:spPr>
          <a:xfrm>
            <a:off x="3950588" y="2872829"/>
            <a:ext cx="1940890" cy="1039743"/>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урегулировала (29.10.2025, роялти $0,002-0,005/генерацию)</a:t>
            </a:r>
          </a:p>
        </p:txBody>
      </p:sp>
      <p:sp>
        <p:nvSpPr>
          <p:cNvPr id="18" name="Rectangle 17"/>
          <p:cNvSpPr/>
          <p:nvPr/>
        </p:nvSpPr>
        <p:spPr>
          <a:xfrm>
            <a:off x="539496" y="3912573"/>
            <a:ext cx="1606069" cy="820955"/>
          </a:xfrm>
          <a:prstGeom prst="rect">
            <a:avLst/>
          </a:prstGeom>
          <a:solidFill>
            <a:srgbClr val="F4F7FA"/>
          </a:solidFill>
          <a:ln w="12700">
            <a:solidFill>
              <a:srgbClr val="D9E2EC"/>
            </a:solidFill>
          </a:ln>
          <a:effectLst/>
        </p:spPr>
        <p:txBody>
          <a:bodyPr rtlCol="0" anchor="ctr"/>
          <a:lstStyle/>
          <a:p>
            <a:pPr algn="ctr"/>
          </a:p>
        </p:txBody>
      </p:sp>
      <p:sp>
        <p:nvSpPr>
          <p:cNvPr id="19" name="TextBox 18"/>
          <p:cNvSpPr txBox="1"/>
          <p:nvPr/>
        </p:nvSpPr>
        <p:spPr>
          <a:xfrm>
            <a:off x="685800" y="3912573"/>
            <a:ext cx="1313461"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Sony Music Entertainment</a:t>
            </a:r>
          </a:p>
        </p:txBody>
      </p:sp>
      <p:sp>
        <p:nvSpPr>
          <p:cNvPr id="20" name="Rectangle 19"/>
          <p:cNvSpPr/>
          <p:nvPr/>
        </p:nvSpPr>
        <p:spPr>
          <a:xfrm>
            <a:off x="2145565" y="3912573"/>
            <a:ext cx="1658718" cy="820955"/>
          </a:xfrm>
          <a:prstGeom prst="rect">
            <a:avLst/>
          </a:prstGeom>
          <a:solidFill>
            <a:srgbClr val="F4F7FA"/>
          </a:solidFill>
          <a:ln w="12700">
            <a:solidFill>
              <a:srgbClr val="D9E2EC"/>
            </a:solidFill>
          </a:ln>
          <a:effectLst/>
        </p:spPr>
        <p:txBody>
          <a:bodyPr rtlCol="0" anchor="ctr"/>
          <a:lstStyle/>
          <a:p>
            <a:pPr algn="ctr"/>
          </a:p>
        </p:txBody>
      </p:sp>
      <p:sp>
        <p:nvSpPr>
          <p:cNvPr id="21" name="TextBox 20"/>
          <p:cNvSpPr txBox="1"/>
          <p:nvPr/>
        </p:nvSpPr>
        <p:spPr>
          <a:xfrm>
            <a:off x="2291869" y="3912573"/>
            <a:ext cx="1366110"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судится (второй иск против V6, сент. 2026)</a:t>
            </a:r>
          </a:p>
        </p:txBody>
      </p:sp>
      <p:sp>
        <p:nvSpPr>
          <p:cNvPr id="22" name="Rectangle 21"/>
          <p:cNvSpPr/>
          <p:nvPr/>
        </p:nvSpPr>
        <p:spPr>
          <a:xfrm>
            <a:off x="3804284" y="3912573"/>
            <a:ext cx="2233498" cy="820955"/>
          </a:xfrm>
          <a:prstGeom prst="rect">
            <a:avLst/>
          </a:prstGeom>
          <a:solidFill>
            <a:srgbClr val="F4F7FA"/>
          </a:solidFill>
          <a:ln w="12700">
            <a:solidFill>
              <a:srgbClr val="D9E2EC"/>
            </a:solidFill>
          </a:ln>
          <a:effectLst/>
        </p:spPr>
        <p:txBody>
          <a:bodyPr rtlCol="0" anchor="ctr"/>
          <a:lstStyle/>
          <a:p>
            <a:pPr algn="ctr"/>
          </a:p>
        </p:txBody>
      </p:sp>
      <p:sp>
        <p:nvSpPr>
          <p:cNvPr id="23" name="TextBox 22"/>
          <p:cNvSpPr txBox="1"/>
          <p:nvPr/>
        </p:nvSpPr>
        <p:spPr>
          <a:xfrm>
            <a:off x="3950588" y="3912573"/>
            <a:ext cx="1940890"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судится (отдельный иск, 30 117 записей, июль 2026)</a:t>
            </a:r>
          </a:p>
        </p:txBody>
      </p:sp>
      <p:sp>
        <p:nvSpPr>
          <p:cNvPr id="24" name="Rectangle 23"/>
          <p:cNvSpPr/>
          <p:nvPr/>
        </p:nvSpPr>
        <p:spPr>
          <a:xfrm>
            <a:off x="539496" y="4733528"/>
            <a:ext cx="1606069" cy="820955"/>
          </a:xfrm>
          <a:prstGeom prst="rect">
            <a:avLst/>
          </a:prstGeom>
          <a:solidFill>
            <a:srgbClr val="FFFFFF"/>
          </a:solidFill>
          <a:ln w="12700">
            <a:solidFill>
              <a:srgbClr val="D9E2EC"/>
            </a:solidFill>
          </a:ln>
          <a:effectLst/>
        </p:spPr>
        <p:txBody>
          <a:bodyPr rtlCol="0" anchor="ctr"/>
          <a:lstStyle/>
          <a:p>
            <a:pPr algn="ctr"/>
          </a:p>
        </p:txBody>
      </p:sp>
      <p:sp>
        <p:nvSpPr>
          <p:cNvPr id="25" name="TextBox 24"/>
          <p:cNvSpPr txBox="1"/>
          <p:nvPr/>
        </p:nvSpPr>
        <p:spPr>
          <a:xfrm>
            <a:off x="685800" y="4733528"/>
            <a:ext cx="1313461"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Warner Music Group</a:t>
            </a:r>
          </a:p>
        </p:txBody>
      </p:sp>
      <p:sp>
        <p:nvSpPr>
          <p:cNvPr id="26" name="Rectangle 25"/>
          <p:cNvSpPr/>
          <p:nvPr/>
        </p:nvSpPr>
        <p:spPr>
          <a:xfrm>
            <a:off x="2145565" y="4733528"/>
            <a:ext cx="1658718" cy="820955"/>
          </a:xfrm>
          <a:prstGeom prst="rect">
            <a:avLst/>
          </a:prstGeom>
          <a:solidFill>
            <a:srgbClr val="FFFFFF"/>
          </a:solidFill>
          <a:ln w="12700">
            <a:solidFill>
              <a:srgbClr val="D9E2EC"/>
            </a:solidFill>
          </a:ln>
          <a:effectLst/>
        </p:spPr>
        <p:txBody>
          <a:bodyPr rtlCol="0" anchor="ctr"/>
          <a:lstStyle/>
          <a:p>
            <a:pPr algn="ctr"/>
          </a:p>
        </p:txBody>
      </p:sp>
      <p:sp>
        <p:nvSpPr>
          <p:cNvPr id="27" name="TextBox 26"/>
          <p:cNvSpPr txBox="1"/>
          <p:nvPr/>
        </p:nvSpPr>
        <p:spPr>
          <a:xfrm>
            <a:off x="2291869" y="4733528"/>
            <a:ext cx="1366110"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урегулировала (вышла, нояб. 2025)</a:t>
            </a:r>
          </a:p>
        </p:txBody>
      </p:sp>
      <p:sp>
        <p:nvSpPr>
          <p:cNvPr id="28" name="Rectangle 27"/>
          <p:cNvSpPr/>
          <p:nvPr/>
        </p:nvSpPr>
        <p:spPr>
          <a:xfrm>
            <a:off x="3804284" y="4733528"/>
            <a:ext cx="2233498" cy="820955"/>
          </a:xfrm>
          <a:prstGeom prst="rect">
            <a:avLst/>
          </a:prstGeom>
          <a:solidFill>
            <a:srgbClr val="FFFFFF"/>
          </a:solidFill>
          <a:ln w="12700">
            <a:solidFill>
              <a:srgbClr val="D9E2EC"/>
            </a:solidFill>
          </a:ln>
          <a:effectLst/>
        </p:spPr>
        <p:txBody>
          <a:bodyPr rtlCol="0" anchor="ctr"/>
          <a:lstStyle/>
          <a:p>
            <a:pPr algn="ctr"/>
          </a:p>
        </p:txBody>
      </p:sp>
      <p:sp>
        <p:nvSpPr>
          <p:cNvPr id="29" name="TextBox 28"/>
          <p:cNvSpPr txBox="1"/>
          <p:nvPr/>
        </p:nvSpPr>
        <p:spPr>
          <a:xfrm>
            <a:off x="3950588" y="4733528"/>
            <a:ext cx="1940890" cy="820955"/>
          </a:xfrm>
          <a:prstGeom prst="rect">
            <a:avLst/>
          </a:prstGeom>
          <a:noFill/>
        </p:spPr>
        <p:txBody>
          <a:bodyPr wrap="square" lIns="0" rIns="0" tIns="0" bIns="0" anchor="ctr">
            <a:spAutoFit/>
          </a:bodyPr>
          <a:lstStyle/>
          <a:p>
            <a:pPr algn="l">
              <a:lnSpc>
                <a:spcPct val="116000"/>
              </a:lnSpc>
            </a:pPr>
            <a:r>
              <a:rPr sz="1200" b="0" i="0">
                <a:solidFill>
                  <a:srgbClr val="21295C"/>
                </a:solidFill>
                <a:latin typeface="Arial"/>
              </a:rPr>
              <a:t>урегулировала (ок. нояб. 2025)</a:t>
            </a:r>
          </a:p>
        </p:txBody>
      </p:sp>
      <p:sp>
        <p:nvSpPr>
          <p:cNvPr id="30" name="TextBox 29"/>
          <p:cNvSpPr txBox="1"/>
          <p:nvPr/>
        </p:nvSpPr>
        <p:spPr>
          <a:xfrm>
            <a:off x="539496" y="5700788"/>
            <a:ext cx="5498287" cy="526222"/>
          </a:xfrm>
          <a:prstGeom prst="rect">
            <a:avLst/>
          </a:prstGeom>
          <a:noFill/>
        </p:spPr>
        <p:txBody>
          <a:bodyPr wrap="square" lIns="0" rIns="0" tIns="0" bIns="0" anchor="t">
            <a:spAutoFit/>
          </a:bodyPr>
          <a:lstStyle/>
          <a:p>
            <a:pPr algn="l">
              <a:lnSpc>
                <a:spcPct val="124000"/>
              </a:lnSpc>
            </a:pPr>
            <a:r>
              <a:rPr sz="1350" b="1" i="0">
                <a:solidFill>
                  <a:srgbClr val="21295C"/>
                </a:solidFill>
                <a:latin typeface="Arial"/>
              </a:rPr>
              <a:t>Три лейбла, два ответчика, шесть ячеек — и ни одна строка не повторяет другую.</a:t>
            </a:r>
          </a:p>
        </p:txBody>
      </p:sp>
      <p:sp>
        <p:nvSpPr>
          <p:cNvPr id="31" name="Rounded Rectangle 30"/>
          <p:cNvSpPr/>
          <p:nvPr/>
        </p:nvSpPr>
        <p:spPr>
          <a:xfrm>
            <a:off x="6385255" y="1335024"/>
            <a:ext cx="5303520" cy="2415921"/>
          </a:xfrm>
          <a:prstGeom prst="roundRect">
            <a:avLst>
              <a:gd name="adj" fmla="val 12616"/>
            </a:avLst>
          </a:prstGeom>
          <a:solidFill>
            <a:srgbClr val="F4F7FA"/>
          </a:solidFill>
          <a:ln w="19050">
            <a:solidFill>
              <a:srgbClr val="1C7293"/>
            </a:solidFill>
          </a:ln>
          <a:effectLst/>
        </p:spPr>
        <p:txBody>
          <a:bodyPr rtlCol="0" anchor="ctr"/>
          <a:lstStyle/>
          <a:p>
            <a:pPr algn="ctr"/>
          </a:p>
        </p:txBody>
      </p:sp>
      <p:pic>
        <p:nvPicPr>
          <p:cNvPr id="32" name="Picture 31" descr="s49-udio-interface-generated-songs.png"/>
          <p:cNvPicPr>
            <a:picLocks noChangeAspect="1"/>
          </p:cNvPicPr>
          <p:nvPr/>
        </p:nvPicPr>
        <p:blipFill>
          <a:blip r:embed="rId2"/>
          <a:stretch>
            <a:fillRect/>
          </a:stretch>
        </p:blipFill>
        <p:spPr>
          <a:xfrm>
            <a:off x="6522415" y="1472184"/>
            <a:ext cx="5029200" cy="2141601"/>
          </a:xfrm>
          <a:prstGeom prst="rect">
            <a:avLst/>
          </a:prstGeom>
        </p:spPr>
      </p:pic>
      <p:sp>
        <p:nvSpPr>
          <p:cNvPr id="33" name="Rectangle 32"/>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34" name="TextBox 33"/>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RIAA, 2024 (пресс-релиз); Forbes, 2025; MusicBusinessWorldwide, 2026; 404 Media, 2025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566459"/>
          </a:xfrm>
          <a:prstGeom prst="rect">
            <a:avLst/>
          </a:prstGeom>
          <a:noFill/>
        </p:spPr>
        <p:txBody>
          <a:bodyPr wrap="square" lIns="0" rIns="0" tIns="0" bIns="0" anchor="t">
            <a:spAutoFit/>
          </a:bodyPr>
          <a:lstStyle/>
          <a:p>
            <a:pPr algn="l">
              <a:lnSpc>
                <a:spcPct val="106000"/>
              </a:lnSpc>
            </a:pPr>
            <a:r>
              <a:rPr sz="3400" b="1" i="0">
                <a:solidFill>
                  <a:srgbClr val="21295C"/>
                </a:solidFill>
                <a:latin typeface="Arial"/>
              </a:rPr>
              <a:t>3-4 порядка</a:t>
            </a:r>
          </a:p>
        </p:txBody>
      </p:sp>
      <p:sp>
        <p:nvSpPr>
          <p:cNvPr id="4" name="TextBox 3"/>
          <p:cNvSpPr txBox="1"/>
          <p:nvPr/>
        </p:nvSpPr>
        <p:spPr>
          <a:xfrm>
            <a:off x="502920" y="977939"/>
            <a:ext cx="11185855" cy="268769"/>
          </a:xfrm>
          <a:prstGeom prst="rect">
            <a:avLst/>
          </a:prstGeom>
          <a:noFill/>
        </p:spPr>
        <p:txBody>
          <a:bodyPr wrap="square" lIns="0" rIns="0" tIns="0" bIns="0" anchor="t">
            <a:spAutoFit/>
          </a:bodyPr>
          <a:lstStyle/>
          <a:p>
            <a:pPr algn="l">
              <a:lnSpc>
                <a:spcPct val="114000"/>
              </a:lnSpc>
            </a:pPr>
            <a:r>
              <a:rPr sz="1500" b="0" i="0">
                <a:solidFill>
                  <a:srgbClr val="065A82"/>
                </a:solidFill>
                <a:latin typeface="Arial"/>
              </a:rPr>
              <a:t>Второй раз тот же разрыв — теперь на стороне оплаты прав</a:t>
            </a:r>
          </a:p>
        </p:txBody>
      </p:sp>
      <p:sp>
        <p:nvSpPr>
          <p:cNvPr id="5" name="Rounded Rectangle 4"/>
          <p:cNvSpPr/>
          <p:nvPr/>
        </p:nvSpPr>
        <p:spPr>
          <a:xfrm>
            <a:off x="502920" y="1470737"/>
            <a:ext cx="2858871" cy="2745265"/>
          </a:xfrm>
          <a:prstGeom prst="roundRect">
            <a:avLst>
              <a:gd name="adj" fmla="val 11102"/>
            </a:avLst>
          </a:prstGeom>
          <a:solidFill>
            <a:srgbClr val="F4F7FA"/>
          </a:solidFill>
          <a:ln w="19050">
            <a:solidFill>
              <a:srgbClr val="1C7293"/>
            </a:solidFill>
          </a:ln>
          <a:effectLst/>
        </p:spPr>
        <p:txBody>
          <a:bodyPr rtlCol="0" anchor="ctr"/>
          <a:lstStyle/>
          <a:p>
            <a:pPr algn="ctr"/>
          </a:p>
        </p:txBody>
      </p:sp>
      <p:sp>
        <p:nvSpPr>
          <p:cNvPr id="6" name="TextBox 5"/>
          <p:cNvSpPr txBox="1"/>
          <p:nvPr/>
        </p:nvSpPr>
        <p:spPr>
          <a:xfrm>
            <a:off x="667512" y="1626185"/>
            <a:ext cx="252968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Что сработало</a:t>
            </a:r>
          </a:p>
        </p:txBody>
      </p:sp>
      <p:sp>
        <p:nvSpPr>
          <p:cNvPr id="7" name="TextBox 6"/>
          <p:cNvSpPr txBox="1"/>
          <p:nvPr/>
        </p:nvSpPr>
        <p:spPr>
          <a:xfrm>
            <a:off x="667512" y="1982363"/>
            <a:ext cx="2529687" cy="2078190"/>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роялти за генерацию — предсказуемая цена вместо тяжбы (UMG/Warner-Udio)</a:t>
            </a:r>
          </a:p>
          <a:p>
            <a:pPr algn="l">
              <a:lnSpc>
                <a:spcPct val="126000"/>
              </a:lnSpc>
            </a:pPr>
            <a:r>
              <a:rPr sz="1000" b="0" i="0">
                <a:solidFill>
                  <a:srgbClr val="21295C"/>
                </a:solidFill>
                <a:latin typeface="Arial"/>
              </a:rPr>
              <a:t>• цена-заслон, зафиксированная контрактом заранее (голос, SAG-AFTRA)</a:t>
            </a:r>
          </a:p>
          <a:p>
            <a:pPr algn="l">
              <a:lnSpc>
                <a:spcPct val="126000"/>
              </a:lnSpc>
            </a:pPr>
            <a:r>
              <a:rPr sz="1000" b="0" i="0">
                <a:solidFill>
                  <a:srgbClr val="21295C"/>
                </a:solidFill>
                <a:latin typeface="Arial"/>
              </a:rPr>
              <a:t>• путь с ясным статусом с самого начала — коммерчески жизнеспособен (Adobe Firefly)</a:t>
            </a:r>
          </a:p>
          <a:p>
            <a:pPr algn="l">
              <a:lnSpc>
                <a:spcPct val="126000"/>
              </a:lnSpc>
            </a:pPr>
            <a:r>
              <a:rPr sz="1000" b="0" i="0">
                <a:solidFill>
                  <a:srgbClr val="21295C"/>
                </a:solidFill>
                <a:latin typeface="Arial"/>
              </a:rPr>
              <a:t>• технический ответ на обнуление узнавания: Content Credentials, C2PA</a:t>
            </a:r>
          </a:p>
        </p:txBody>
      </p:sp>
      <p:sp>
        <p:nvSpPr>
          <p:cNvPr id="8" name="Rounded Rectangle 7"/>
          <p:cNvSpPr/>
          <p:nvPr/>
        </p:nvSpPr>
        <p:spPr>
          <a:xfrm>
            <a:off x="3672687" y="1470737"/>
            <a:ext cx="2858871" cy="2745265"/>
          </a:xfrm>
          <a:prstGeom prst="roundRect">
            <a:avLst>
              <a:gd name="adj" fmla="val 11102"/>
            </a:avLst>
          </a:prstGeom>
          <a:solidFill>
            <a:srgbClr val="FFFFFF"/>
          </a:solidFill>
          <a:ln w="19050">
            <a:solidFill>
              <a:srgbClr val="028090"/>
            </a:solidFill>
          </a:ln>
          <a:effectLst/>
        </p:spPr>
        <p:txBody>
          <a:bodyPr rtlCol="0" anchor="ctr"/>
          <a:lstStyle/>
          <a:p>
            <a:pPr algn="ctr"/>
          </a:p>
        </p:txBody>
      </p:sp>
      <p:sp>
        <p:nvSpPr>
          <p:cNvPr id="9" name="TextBox 8"/>
          <p:cNvSpPr txBox="1"/>
          <p:nvPr/>
        </p:nvSpPr>
        <p:spPr>
          <a:xfrm>
            <a:off x="3837279" y="1626185"/>
            <a:ext cx="2529687"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Что не сработало</a:t>
            </a:r>
          </a:p>
        </p:txBody>
      </p:sp>
      <p:sp>
        <p:nvSpPr>
          <p:cNvPr id="10" name="TextBox 9"/>
          <p:cNvSpPr txBox="1"/>
          <p:nvPr/>
        </p:nvSpPr>
        <p:spPr>
          <a:xfrm>
            <a:off x="3837279" y="1982363"/>
            <a:ext cx="2529687" cy="2078190"/>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суд как основной механизм оценки риска — медленный и непредсказуемый</a:t>
            </a:r>
          </a:p>
          <a:p>
            <a:pPr algn="l">
              <a:lnSpc>
                <a:spcPct val="126000"/>
              </a:lnSpc>
            </a:pPr>
            <a:r>
              <a:rPr sz="1000" b="0" i="0">
                <a:solidFill>
                  <a:srgbClr val="21295C"/>
                </a:solidFill>
                <a:latin typeface="Arial"/>
              </a:rPr>
              <a:t>• единый отраслевой ответ — его на октябрь 2026 нет вовсе</a:t>
            </a:r>
          </a:p>
          <a:p>
            <a:pPr algn="l">
              <a:lnSpc>
                <a:spcPct val="126000"/>
              </a:lnSpc>
            </a:pPr>
            <a:r>
              <a:rPr sz="1000" b="0" i="0">
                <a:solidFill>
                  <a:srgbClr val="21295C"/>
                </a:solidFill>
                <a:latin typeface="Arial"/>
              </a:rPr>
              <a:t>• тот, кто рисковал первым (Stability, Suno, Udio) — годы издержек даже при частичной победе</a:t>
            </a:r>
          </a:p>
          <a:p>
            <a:pPr algn="l">
              <a:lnSpc>
                <a:spcPct val="126000"/>
              </a:lnSpc>
            </a:pPr>
            <a:r>
              <a:rPr sz="1000" b="0" i="0">
                <a:solidFill>
                  <a:srgbClr val="21295C"/>
                </a:solidFill>
                <a:latin typeface="Arial"/>
              </a:rPr>
              <a:t>• узнавание как бесплатный и достаточный сигнал — больше ничего не доказывает само по себе</a:t>
            </a:r>
          </a:p>
        </p:txBody>
      </p:sp>
      <p:sp>
        <p:nvSpPr>
          <p:cNvPr id="11" name="Rounded Rectangle 10"/>
          <p:cNvSpPr/>
          <p:nvPr/>
        </p:nvSpPr>
        <p:spPr>
          <a:xfrm>
            <a:off x="374904" y="5009465"/>
            <a:ext cx="11441887" cy="1226742"/>
          </a:xfrm>
          <a:prstGeom prst="roundRect">
            <a:avLst>
              <a:gd name="adj" fmla="val 24846"/>
            </a:avLst>
          </a:prstGeom>
          <a:solidFill>
            <a:srgbClr val="F4F7FA"/>
          </a:solidFill>
          <a:ln w="19050">
            <a:solidFill>
              <a:srgbClr val="1C7293"/>
            </a:solidFill>
          </a:ln>
          <a:effectLst/>
        </p:spPr>
        <p:txBody>
          <a:bodyPr rtlCol="0" anchor="ctr"/>
          <a:lstStyle/>
          <a:p>
            <a:pPr algn="ctr"/>
          </a:p>
        </p:txBody>
      </p:sp>
      <p:sp>
        <p:nvSpPr>
          <p:cNvPr id="12" name="TextBox 11"/>
          <p:cNvSpPr txBox="1"/>
          <p:nvPr/>
        </p:nvSpPr>
        <p:spPr>
          <a:xfrm>
            <a:off x="539496" y="5100905"/>
            <a:ext cx="11112703" cy="1135302"/>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Лицензия — тоже узнавание: не авторства артефакта, а происхождения материала.</a:t>
            </a:r>
            <a:r>
              <a:rPr sz="1050" b="0" i="0">
                <a:solidFill>
                  <a:srgbClr val="21295C"/>
                </a:solidFill>
                <a:latin typeface="Arial"/>
              </a:rPr>
              <a:t> Модель обнулила саму необходимость подтверждать его заранее.</a:t>
            </a:r>
          </a:p>
          <a:p>
            <a:pPr algn="l">
              <a:lnSpc>
                <a:spcPct val="126000"/>
              </a:lnSpc>
              <a:spcBef>
                <a:spcPts val="700"/>
              </a:spcBef>
            </a:pPr>
            <a:r>
              <a:rPr sz="1050" b="0" i="0">
                <a:solidFill>
                  <a:srgbClr val="21295C"/>
                </a:solidFill>
                <a:latin typeface="Arial"/>
              </a:rPr>
              <a:t/>
            </a:r>
            <a:r>
              <a:rPr sz="1050" b="1" i="0">
                <a:solidFill>
                  <a:srgbClr val="21295C"/>
                </a:solidFill>
                <a:latin typeface="Arial"/>
              </a:rPr>
              <a:t>Нагрузка переехала на закон</a:t>
            </a:r>
            <a:r>
              <a:rPr sz="1050" b="0" i="0">
                <a:solidFill>
                  <a:srgbClr val="21295C"/>
                </a:solidFill>
                <a:latin typeface="Arial"/>
              </a:rPr>
              <a:t> — мейджоры раскололись по стратегии, у отрасли нет единого ответа.</a:t>
            </a:r>
          </a:p>
          <a:p>
            <a:pPr algn="l">
              <a:lnSpc>
                <a:spcPct val="126000"/>
              </a:lnSpc>
              <a:spcBef>
                <a:spcPts val="700"/>
              </a:spcBef>
            </a:pPr>
            <a:r>
              <a:rPr sz="1050" b="0" i="0">
                <a:solidFill>
                  <a:srgbClr val="21295C"/>
                </a:solidFill>
                <a:latin typeface="Arial"/>
              </a:rPr>
              <a:t/>
            </a:r>
            <a:r>
              <a:rPr sz="1050" b="1" i="0">
                <a:solidFill>
                  <a:srgbClr val="21295C"/>
                </a:solidFill>
                <a:latin typeface="Arial"/>
              </a:rPr>
              <a:t>Тот же разрыв — второй раз, с другой стороны сделки:</a:t>
            </a:r>
            <a:r>
              <a:rPr sz="1050" b="0" i="0">
                <a:solidFill>
                  <a:srgbClr val="21295C"/>
                </a:solidFill>
                <a:latin typeface="Arial"/>
              </a:rPr>
              <a:t> три-четыре порядка, тот же диапазон, что и на стороне производства.</a:t>
            </a:r>
          </a:p>
          <a:p>
            <a:pPr algn="l">
              <a:lnSpc>
                <a:spcPct val="126000"/>
              </a:lnSpc>
              <a:spcBef>
                <a:spcPts val="700"/>
              </a:spcBef>
            </a:pPr>
            <a:r>
              <a:rPr sz="1050" b="0" i="0">
                <a:solidFill>
                  <a:srgbClr val="21295C"/>
                </a:solidFill>
                <a:latin typeface="Arial"/>
              </a:rPr>
              <a:t/>
            </a:r>
            <a:r>
              <a:rPr sz="1050" b="1" i="0">
                <a:solidFill>
                  <a:srgbClr val="21295C"/>
                </a:solidFill>
                <a:latin typeface="Arial"/>
              </a:rPr>
              <a:t>Исключение держит правило:</a:t>
            </a:r>
            <a:r>
              <a:rPr sz="1050" b="0" i="0">
                <a:solidFill>
                  <a:srgbClr val="21295C"/>
                </a:solidFill>
                <a:latin typeface="Arial"/>
              </a:rPr>
              <a:t> голос и внешность — материал, где цена зафиксирована контрактом заранее, а не обнулена рынком постфактум.</a:t>
            </a:r>
          </a:p>
        </p:txBody>
      </p:sp>
      <p:sp>
        <p:nvSpPr>
          <p:cNvPr id="13" name="Rounded Rectangle 12"/>
          <p:cNvSpPr/>
          <p:nvPr/>
        </p:nvSpPr>
        <p:spPr>
          <a:xfrm>
            <a:off x="6842455" y="1470737"/>
            <a:ext cx="4846320" cy="3538728"/>
          </a:xfrm>
          <a:prstGeom prst="roundRect">
            <a:avLst>
              <a:gd name="adj" fmla="val 8613"/>
            </a:avLst>
          </a:prstGeom>
          <a:solidFill>
            <a:srgbClr val="F4F7FA"/>
          </a:solidFill>
          <a:ln w="19050">
            <a:solidFill>
              <a:srgbClr val="1C7293"/>
            </a:solidFill>
          </a:ln>
          <a:effectLst/>
        </p:spPr>
        <p:txBody>
          <a:bodyPr rtlCol="0" anchor="ctr"/>
          <a:lstStyle/>
          <a:p>
            <a:pPr algn="ctr"/>
          </a:p>
        </p:txBody>
      </p:sp>
      <p:pic>
        <p:nvPicPr>
          <p:cNvPr id="14" name="Picture 13" descr="s50-content-credentials-cr-icon-nyc-skyline.jpg"/>
          <p:cNvPicPr>
            <a:picLocks noChangeAspect="1"/>
          </p:cNvPicPr>
          <p:nvPr/>
        </p:nvPicPr>
        <p:blipFill>
          <a:blip r:embed="rId2"/>
          <a:stretch>
            <a:fillRect/>
          </a:stretch>
        </p:blipFill>
        <p:spPr>
          <a:xfrm>
            <a:off x="6979615" y="1607897"/>
            <a:ext cx="4572000" cy="3264408"/>
          </a:xfrm>
          <a:prstGeom prst="rect">
            <a:avLst/>
          </a:prstGeom>
        </p:spPr>
      </p:pic>
      <p:sp>
        <p:nvSpPr>
          <p:cNvPr id="15" name="Rectangle 14"/>
          <p:cNvSpPr/>
          <p:nvPr/>
        </p:nvSpPr>
        <p:spPr>
          <a:xfrm>
            <a:off x="502920" y="1310717"/>
            <a:ext cx="960120" cy="50292"/>
          </a:xfrm>
          <a:prstGeom prst="rect">
            <a:avLst/>
          </a:prstGeom>
          <a:solidFill>
            <a:srgbClr val="F0AB00"/>
          </a:solidFill>
          <a:ln>
            <a:noFill/>
          </a:ln>
          <a:effectLst/>
        </p:spPr>
        <p:txBody>
          <a:bodyPr rtlCol="0" anchor="ctr"/>
          <a:lstStyle/>
          <a:p>
            <a:pPr algn="ctr"/>
          </a:p>
        </p:txBody>
      </p:sp>
      <p:sp>
        <p:nvSpPr>
          <p:cNvPr id="16" name="TextBox 15"/>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Coalition for Content Provenance and Authenticity (C2PA)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3343395"/>
          </a:xfrm>
          <a:prstGeom prst="roundRect">
            <a:avLst>
              <a:gd name="adj" fmla="val 9116"/>
            </a:avLst>
          </a:prstGeom>
          <a:solidFill>
            <a:srgbClr val="F4F7FA"/>
          </a:solidFill>
          <a:ln w="19050">
            <a:solidFill>
              <a:srgbClr val="1C7293"/>
            </a:solidFill>
          </a:ln>
          <a:effectLst/>
        </p:spPr>
        <p:txBody>
          <a:bodyPr rtlCol="0" anchor="ctr"/>
          <a:lstStyle/>
          <a:p>
            <a:pPr algn="ctr"/>
          </a:p>
        </p:txBody>
      </p:sp>
      <p:pic>
        <p:nvPicPr>
          <p:cNvPr id="5" name="Picture 4" descr="s51-illustrator-workspace-tablet.jpg"/>
          <p:cNvPicPr>
            <a:picLocks noChangeAspect="1"/>
          </p:cNvPicPr>
          <p:nvPr/>
        </p:nvPicPr>
        <p:blipFill>
          <a:blip r:embed="rId2"/>
          <a:stretch>
            <a:fillRect/>
          </a:stretch>
        </p:blipFill>
        <p:spPr>
          <a:xfrm>
            <a:off x="6949440" y="1051560"/>
            <a:ext cx="4602175" cy="3069075"/>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5. Кадровый рынок отрасли</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849120"/>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Разделы 1–4 прошли путь одного изображения, трека, статьи или голоса: кто его сделал, кто проверил, как отреагировала аудитория, кто заплатил. На каждом шаге стоял человек. Этот раздел спрашивает про него отдельно: что с ним происходит, когда путь, который он проходил годами практики, стал измеряться в центах и секундах.</a:t>
            </a:r>
          </a:p>
        </p:txBody>
      </p:sp>
      <p:sp>
        <p:nvSpPr>
          <p:cNvPr id="9" name="TextBox 8"/>
          <p:cNvSpPr txBox="1"/>
          <p:nvPr/>
        </p:nvSpPr>
        <p:spPr>
          <a:xfrm>
            <a:off x="704088" y="3821694"/>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Лада Чижова</a:t>
            </a:r>
            <a:r>
              <a:rPr sz="1550" b="0" i="0">
                <a:solidFill>
                  <a:srgbClr val="21295C"/>
                </a:solidFill>
                <a:latin typeface="Arial"/>
              </a:rPr>
              <a:t> — иллюстратор, обвал дохода и диверсификация без мастерства 2. </a:t>
            </a:r>
            <a:r>
              <a:rPr sz="1550" b="1" i="0">
                <a:solidFill>
                  <a:srgbClr val="21295C"/>
                </a:solidFill>
                <a:latin typeface="Arial"/>
              </a:rPr>
              <a:t>Фриланс-биржи</a:t>
            </a:r>
            <a:r>
              <a:rPr sz="1550" b="0" i="0">
                <a:solidFill>
                  <a:srgbClr val="21295C"/>
                </a:solidFill>
                <a:latin typeface="Arial"/>
              </a:rPr>
              <a:t> — рост ИИ-навыков и честно неизмеренный упадок 3. </a:t>
            </a:r>
            <a:r>
              <a:rPr sz="1550" b="1" i="0">
                <a:solidFill>
                  <a:srgbClr val="21295C"/>
                </a:solidFill>
                <a:latin typeface="Arial"/>
              </a:rPr>
              <a:t>Getty Images</a:t>
            </a:r>
            <a:r>
              <a:rPr sz="1550" b="0" i="0">
                <a:solidFill>
                  <a:srgbClr val="21295C"/>
                </a:solidFill>
                <a:latin typeface="Arial"/>
              </a:rPr>
              <a:t> — цена защитной ставки, которая провалилась</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строилась карьера до генеративной модели</a:t>
            </a:r>
          </a:p>
        </p:txBody>
      </p:sp>
      <p:sp>
        <p:nvSpPr>
          <p:cNvPr id="4" name="Rounded Rectangle 3"/>
          <p:cNvSpPr/>
          <p:nvPr/>
        </p:nvSpPr>
        <p:spPr>
          <a:xfrm>
            <a:off x="50292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НАЧИНАЮЩИЙ</a:t>
            </a:r>
          </a:p>
        </p:txBody>
      </p:sp>
      <p:sp>
        <p:nvSpPr>
          <p:cNvPr id="6" name="TextBox 5"/>
          <p:cNvSpPr txBox="1"/>
          <p:nvPr/>
        </p:nvSpPr>
        <p:spPr>
          <a:xfrm>
            <a:off x="640080" y="1725375"/>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$15–35 в час</a:t>
            </a:r>
          </a:p>
        </p:txBody>
      </p:sp>
      <p:sp>
        <p:nvSpPr>
          <p:cNvPr id="7" name="TextBox 6"/>
          <p:cNvSpPr txBox="1"/>
          <p:nvPr/>
        </p:nvSpPr>
        <p:spPr>
          <a:xfrm>
            <a:off x="640080" y="2542797"/>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портфолио из первых заказов</a:t>
            </a:r>
          </a:p>
        </p:txBody>
      </p:sp>
      <p:sp>
        <p:nvSpPr>
          <p:cNvPr id="8" name="Rounded Rectangle 7"/>
          <p:cNvSpPr/>
          <p:nvPr/>
        </p:nvSpPr>
        <p:spPr>
          <a:xfrm>
            <a:off x="2414930" y="1335024"/>
            <a:ext cx="1747418" cy="2186135"/>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СРЕДНИЙ УРОВЕНЬ</a:t>
            </a:r>
          </a:p>
        </p:txBody>
      </p:sp>
      <p:sp>
        <p:nvSpPr>
          <p:cNvPr id="10" name="TextBox 9"/>
          <p:cNvSpPr txBox="1"/>
          <p:nvPr/>
        </p:nvSpPr>
        <p:spPr>
          <a:xfrm>
            <a:off x="2552090" y="1932846"/>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$25–60 в час</a:t>
            </a:r>
          </a:p>
        </p:txBody>
      </p:sp>
      <p:sp>
        <p:nvSpPr>
          <p:cNvPr id="11" name="TextBox 10"/>
          <p:cNvSpPr txBox="1"/>
          <p:nvPr/>
        </p:nvSpPr>
        <p:spPr>
          <a:xfrm>
            <a:off x="2552090" y="2750268"/>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наработанная специализация</a:t>
            </a:r>
          </a:p>
        </p:txBody>
      </p:sp>
      <p:sp>
        <p:nvSpPr>
          <p:cNvPr id="12" name="Rounded Rectangle 11"/>
          <p:cNvSpPr/>
          <p:nvPr/>
        </p:nvSpPr>
        <p:spPr>
          <a:xfrm>
            <a:off x="4326940" y="1335024"/>
            <a:ext cx="1747418" cy="2186135"/>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446410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ЭКСПЕРТ С ИМЕНЕМ</a:t>
            </a:r>
          </a:p>
        </p:txBody>
      </p:sp>
      <p:sp>
        <p:nvSpPr>
          <p:cNvPr id="14" name="TextBox 13"/>
          <p:cNvSpPr txBox="1"/>
          <p:nvPr/>
        </p:nvSpPr>
        <p:spPr>
          <a:xfrm>
            <a:off x="4464100" y="1932846"/>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$60–120 и выше</a:t>
            </a:r>
          </a:p>
        </p:txBody>
      </p:sp>
      <p:sp>
        <p:nvSpPr>
          <p:cNvPr id="15" name="TextBox 14"/>
          <p:cNvSpPr txBox="1"/>
          <p:nvPr/>
        </p:nvSpPr>
        <p:spPr>
          <a:xfrm>
            <a:off x="4464100" y="2750268"/>
            <a:ext cx="14730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узнаваемый почерк, гарантия результата</a:t>
            </a:r>
          </a:p>
        </p:txBody>
      </p:sp>
      <p:sp>
        <p:nvSpPr>
          <p:cNvPr id="16" name="Rounded Rectangle 15"/>
          <p:cNvSpPr/>
          <p:nvPr/>
        </p:nvSpPr>
        <p:spPr>
          <a:xfrm>
            <a:off x="374904" y="3612599"/>
            <a:ext cx="5827471" cy="2623608"/>
          </a:xfrm>
          <a:prstGeom prst="roundRect">
            <a:avLst>
              <a:gd name="adj" fmla="val 11617"/>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704039"/>
            <a:ext cx="5498287" cy="2532168"/>
          </a:xfrm>
          <a:prstGeom prst="rect">
            <a:avLst/>
          </a:prstGeom>
          <a:noFill/>
        </p:spPr>
        <p:txBody>
          <a:bodyPr wrap="square" lIns="0" rIns="0" tIns="0" bIns="0" anchor="t">
            <a:spAutoFit/>
          </a:bodyPr>
          <a:lstStyle/>
          <a:p>
            <a:pPr algn="l">
              <a:lnSpc>
                <a:spcPct val="126000"/>
              </a:lnSpc>
            </a:pPr>
            <a:r>
              <a:rPr sz="1300" b="1" i="0">
                <a:solidFill>
                  <a:srgbClr val="21295C"/>
                </a:solidFill>
                <a:latin typeface="Arial"/>
              </a:rPr>
              <a:t>Разрыв между нижней и верхней ставкой — не случайность рынка.</a:t>
            </a:r>
            <a:r>
              <a:rPr sz="1300" b="0" i="0">
                <a:solidFill>
                  <a:srgbClr val="21295C"/>
                </a:solidFill>
                <a:latin typeface="Arial"/>
              </a:rPr>
              <a:t> Клиент платит не за час работы, а за гарантию: результат будет того уровня, который исполнитель уже демонстрировал раньше.</a:t>
            </a:r>
          </a:p>
          <a:p>
            <a:pPr algn="l">
              <a:lnSpc>
                <a:spcPct val="126000"/>
              </a:lnSpc>
              <a:spcBef>
                <a:spcPts val="700"/>
              </a:spcBef>
            </a:pPr>
            <a:r>
              <a:rPr sz="1300" b="0" i="0">
                <a:solidFill>
                  <a:srgbClr val="21295C"/>
                </a:solidFill>
                <a:latin typeface="Arial"/>
              </a:rPr>
              <a:t/>
            </a:r>
            <a:r>
              <a:rPr sz="1300" b="1" i="0">
                <a:solidFill>
                  <a:srgbClr val="21295C"/>
                </a:solidFill>
                <a:latin typeface="Arial"/>
              </a:rPr>
              <a:t>Три института решали одну и ту же задачу</a:t>
            </a:r>
            <a:r>
              <a:rPr sz="1300" b="0" i="0">
                <a:solidFill>
                  <a:srgbClr val="21295C"/>
                </a:solidFill>
                <a:latin typeface="Arial"/>
              </a:rPr>
              <a:t> — переносили проверку узнавания с каждого отдельного найма на систему, которая работала один раз и обслуживала множество последующих сделок бесплатно: - отчисления по регистрации авторства (композитор) - именованная подпись (журналист) - агентское посредничество (иллюстратор, дизайнер)</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52-illustrator-portfolio-review.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designshifu.com, 2026</a:t>
            </a:r>
            <a:r>
              <a:rPr sz="1200" b="0" i="1">
                <a:solidFill>
                  <a:srgbClr val="1C7293"/>
                </a:solidFill>
                <a:latin typeface="Arial"/>
              </a:rPr>
              <a:t> · </a:t>
            </a:r>
            <a:r>
              <a:rPr sz="1200" b="0" i="1" u="sng">
                <a:solidFill>
                  <a:srgbClr val="065A82"/>
                </a:solidFill>
                <a:latin typeface="Arial"/>
                <a:hlinkClick r:id="rId4"/>
              </a:rPr>
              <a:t>gigradar.io,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500" b="1" i="0">
                <a:solidFill>
                  <a:srgbClr val="21295C"/>
                </a:solidFill>
                <a:latin typeface="Arial"/>
              </a:rPr>
              <a:t>Лада Чижова: обвал дохода, который не объяснялся мастерством</a:t>
            </a:r>
          </a:p>
        </p:txBody>
      </p:sp>
      <p:sp>
        <p:nvSpPr>
          <p:cNvPr id="4" name="Rounded Rectangle 3"/>
          <p:cNvSpPr/>
          <p:nvPr/>
        </p:nvSpPr>
        <p:spPr>
          <a:xfrm>
            <a:off x="502920" y="1335024"/>
            <a:ext cx="3572103" cy="1946600"/>
          </a:xfrm>
          <a:prstGeom prst="roundRect">
            <a:avLst>
              <a:gd name="adj" fmla="val 15658"/>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2977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НАЧАЛА ПРАКТИКУ</a:t>
            </a:r>
          </a:p>
        </p:txBody>
      </p:sp>
      <p:sp>
        <p:nvSpPr>
          <p:cNvPr id="6" name="TextBox 5"/>
          <p:cNvSpPr txBox="1"/>
          <p:nvPr/>
        </p:nvSpPr>
        <p:spPr>
          <a:xfrm>
            <a:off x="640080" y="1725375"/>
            <a:ext cx="329778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весна 2022, 31 год</a:t>
            </a:r>
          </a:p>
        </p:txBody>
      </p:sp>
      <p:sp>
        <p:nvSpPr>
          <p:cNvPr id="7" name="TextBox 6"/>
          <p:cNvSpPr txBox="1"/>
          <p:nvPr/>
        </p:nvSpPr>
        <p:spPr>
          <a:xfrm>
            <a:off x="640080" y="2152374"/>
            <a:ext cx="329778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переезд из Турции в Германию в том же году</a:t>
            </a:r>
          </a:p>
        </p:txBody>
      </p:sp>
      <p:sp>
        <p:nvSpPr>
          <p:cNvPr id="8" name="Rounded Rectangle 7"/>
          <p:cNvSpPr/>
          <p:nvPr/>
        </p:nvSpPr>
        <p:spPr>
          <a:xfrm>
            <a:off x="4239615" y="1335024"/>
            <a:ext cx="3572103" cy="1946600"/>
          </a:xfrm>
          <a:prstGeom prst="roundRect">
            <a:avLst>
              <a:gd name="adj" fmla="val 15658"/>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376775" y="1472184"/>
            <a:ext cx="329778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КОНЕЦ 2024</a:t>
            </a:r>
          </a:p>
        </p:txBody>
      </p:sp>
      <p:sp>
        <p:nvSpPr>
          <p:cNvPr id="10" name="TextBox 9"/>
          <p:cNvSpPr txBox="1"/>
          <p:nvPr/>
        </p:nvSpPr>
        <p:spPr>
          <a:xfrm>
            <a:off x="4376775" y="1725375"/>
            <a:ext cx="3297783" cy="1207845"/>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доход против расходов — резкий регресс</a:t>
            </a:r>
          </a:p>
        </p:txBody>
      </p:sp>
      <p:sp>
        <p:nvSpPr>
          <p:cNvPr id="11" name="TextBox 10"/>
          <p:cNvSpPr txBox="1"/>
          <p:nvPr/>
        </p:nvSpPr>
        <p:spPr>
          <a:xfrm>
            <a:off x="4376775" y="2933220"/>
            <a:ext cx="329778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первая мысль — «я делаю что-то не так»</a:t>
            </a:r>
          </a:p>
        </p:txBody>
      </p:sp>
      <p:sp>
        <p:nvSpPr>
          <p:cNvPr id="12" name="Rounded Rectangle 11"/>
          <p:cNvSpPr/>
          <p:nvPr/>
        </p:nvSpPr>
        <p:spPr>
          <a:xfrm>
            <a:off x="374904" y="3373064"/>
            <a:ext cx="7564831"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464504"/>
            <a:ext cx="7235647" cy="27717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«Я делаю что-то не так» — первая мысль при сведении итогов 2024 года.</a:t>
            </a:r>
            <a:r>
              <a:rPr sz="1500" b="0" i="0">
                <a:solidFill>
                  <a:srgbClr val="21295C"/>
                </a:solidFill>
                <a:latin typeface="Arial"/>
              </a:rPr>
              <a:t> Не мастерство подвело: малый бизнес, прежде заказывавший у Чижовой иллюстрации, начал закрывать те же задачи генеративной моделью напрямую.</a:t>
            </a:r>
          </a:p>
          <a:p>
            <a:pPr algn="l">
              <a:lnSpc>
                <a:spcPct val="126000"/>
              </a:lnSpc>
              <a:spcBef>
                <a:spcPts val="700"/>
              </a:spcBef>
            </a:pPr>
            <a:r>
              <a:rPr sz="1500" b="0" i="0">
                <a:solidFill>
                  <a:srgbClr val="21295C"/>
                </a:solidFill>
                <a:latin typeface="Arial"/>
              </a:rPr>
              <a:t/>
            </a:r>
            <a:r>
              <a:rPr sz="1500" b="1" i="0">
                <a:solidFill>
                  <a:srgbClr val="21295C"/>
                </a:solidFill>
                <a:latin typeface="Arial"/>
              </a:rPr>
              <a:t>Порог найма в действии:</a:t>
            </a:r>
            <a:r>
              <a:rPr sz="1500" b="0" i="0">
                <a:solidFill>
                  <a:srgbClr val="21295C"/>
                </a:solidFill>
                <a:latin typeface="Arial"/>
              </a:rPr>
              <a:t> решение «нанять человека» раньше принималось по факту портфолио. Когда дешёвое производство стало общедоступным, часть заказчиков вообще перестала доходить до этого решения.</a:t>
            </a:r>
          </a:p>
        </p:txBody>
      </p:sp>
      <p:sp>
        <p:nvSpPr>
          <p:cNvPr id="14" name="Rounded Rectangle 13"/>
          <p:cNvSpPr/>
          <p:nvPr/>
        </p:nvSpPr>
        <p:spPr>
          <a:xfrm>
            <a:off x="8122615" y="1335024"/>
            <a:ext cx="3566160" cy="438912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15" name="Picture 14" descr="s53-chizhova-illustration-still-life.jpg"/>
          <p:cNvPicPr>
            <a:picLocks noChangeAspect="1"/>
          </p:cNvPicPr>
          <p:nvPr/>
        </p:nvPicPr>
        <p:blipFill>
          <a:blip r:embed="rId2"/>
          <a:stretch>
            <a:fillRect/>
          </a:stretch>
        </p:blipFill>
        <p:spPr>
          <a:xfrm>
            <a:off x="8259775" y="1472184"/>
            <a:ext cx="3291840" cy="4114800"/>
          </a:xfrm>
          <a:prstGeom prst="rect">
            <a:avLst/>
          </a:prstGeom>
        </p:spPr>
      </p:pic>
      <p:sp>
        <p:nvSpPr>
          <p:cNvPr id="16" name="Rectangle 15"/>
          <p:cNvSpPr/>
          <p:nvPr/>
        </p:nvSpPr>
        <p:spPr>
          <a:xfrm>
            <a:off x="502920" y="854141"/>
            <a:ext cx="960120" cy="50292"/>
          </a:xfrm>
          <a:prstGeom prst="rect">
            <a:avLst/>
          </a:prstGeom>
          <a:solidFill>
            <a:srgbClr val="F0AB00"/>
          </a:solidFill>
          <a:ln>
            <a:noFill/>
          </a:ln>
          <a:effectLst/>
        </p:spPr>
        <p:txBody>
          <a:bodyPr rtlCol="0" anchor="ctr"/>
          <a:lstStyle/>
          <a:p>
            <a:pPr algn="ctr"/>
          </a:p>
        </p:txBody>
      </p:sp>
      <p:sp>
        <p:nvSpPr>
          <p:cNvPr id="17" name="TextBox 16"/>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ladachizhova.substack.com, «Is it Hard to Be an Illustrator in 2026?», 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Лада Чижова: год спустя — доход без ремесла</a:t>
            </a:r>
          </a:p>
        </p:txBody>
      </p:sp>
      <p:sp>
        <p:nvSpPr>
          <p:cNvPr id="4" name="Rounded Rectangle 3"/>
          <p:cNvSpPr/>
          <p:nvPr/>
        </p:nvSpPr>
        <p:spPr>
          <a:xfrm>
            <a:off x="502920" y="1335024"/>
            <a:ext cx="2326538"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05221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2025 ГОД</a:t>
            </a:r>
          </a:p>
        </p:txBody>
      </p:sp>
      <p:sp>
        <p:nvSpPr>
          <p:cNvPr id="6" name="TextBox 5"/>
          <p:cNvSpPr txBox="1"/>
          <p:nvPr/>
        </p:nvSpPr>
        <p:spPr>
          <a:xfrm>
            <a:off x="640080" y="1725375"/>
            <a:ext cx="2052218"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«очень хороший по доходу»</a:t>
            </a:r>
          </a:p>
        </p:txBody>
      </p:sp>
      <p:sp>
        <p:nvSpPr>
          <p:cNvPr id="7" name="TextBox 6"/>
          <p:cNvSpPr txBox="1"/>
          <p:nvPr/>
        </p:nvSpPr>
        <p:spPr>
          <a:xfrm>
            <a:off x="640080" y="2933220"/>
            <a:ext cx="205221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по собственной оценке Чижовой</a:t>
            </a:r>
          </a:p>
        </p:txBody>
      </p:sp>
      <p:sp>
        <p:nvSpPr>
          <p:cNvPr id="8" name="Rounded Rectangle 7"/>
          <p:cNvSpPr/>
          <p:nvPr/>
        </p:nvSpPr>
        <p:spPr>
          <a:xfrm>
            <a:off x="2994050" y="1335024"/>
            <a:ext cx="2326538" cy="2157843"/>
          </a:xfrm>
          <a:prstGeom prst="roundRect">
            <a:avLst>
              <a:gd name="adj" fmla="val 1412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131210" y="1472184"/>
            <a:ext cx="20522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ДОЛЯ ИЛЛЮСТРАЦИИ В ЗАНЯТОСТИ</a:t>
            </a:r>
          </a:p>
        </p:txBody>
      </p:sp>
      <p:sp>
        <p:nvSpPr>
          <p:cNvPr id="10" name="TextBox 9"/>
          <p:cNvSpPr txBox="1"/>
          <p:nvPr/>
        </p:nvSpPr>
        <p:spPr>
          <a:xfrm>
            <a:off x="3131210" y="1932846"/>
            <a:ext cx="205221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 из 100%</a:t>
            </a:r>
          </a:p>
        </p:txBody>
      </p:sp>
      <p:sp>
        <p:nvSpPr>
          <p:cNvPr id="11" name="TextBox 10"/>
          <p:cNvSpPr txBox="1"/>
          <p:nvPr/>
        </p:nvSpPr>
        <p:spPr>
          <a:xfrm>
            <a:off x="3131210" y="2359845"/>
            <a:ext cx="205221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мастер-классы, роспись стен и витрин, продажа оригиналов, магазин — остальные 70%</a:t>
            </a:r>
          </a:p>
        </p:txBody>
      </p:sp>
      <p:sp>
        <p:nvSpPr>
          <p:cNvPr id="12" name="Rounded Rectangle 11"/>
          <p:cNvSpPr/>
          <p:nvPr/>
        </p:nvSpPr>
        <p:spPr>
          <a:xfrm>
            <a:off x="5485180" y="1335024"/>
            <a:ext cx="2326538" cy="2157843"/>
          </a:xfrm>
          <a:prstGeom prst="roundRect">
            <a:avLst>
              <a:gd name="adj" fmla="val 14125"/>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622340" y="1472184"/>
            <a:ext cx="205221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ИНСТИТУЦИОНАЛЬНЫЙ БУФЕР</a:t>
            </a:r>
          </a:p>
        </p:txBody>
      </p:sp>
      <p:sp>
        <p:nvSpPr>
          <p:cNvPr id="14" name="TextBox 13"/>
          <p:cNvSpPr txBox="1"/>
          <p:nvPr/>
        </p:nvSpPr>
        <p:spPr>
          <a:xfrm>
            <a:off x="5622340" y="1932846"/>
            <a:ext cx="205221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нет</a:t>
            </a:r>
          </a:p>
        </p:txBody>
      </p:sp>
      <p:sp>
        <p:nvSpPr>
          <p:cNvPr id="15" name="TextBox 14"/>
          <p:cNvSpPr txBox="1"/>
          <p:nvPr/>
        </p:nvSpPr>
        <p:spPr>
          <a:xfrm>
            <a:off x="5622340" y="2359845"/>
            <a:ext cx="205221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работает без агентства — репутация напрямую через соцсети и блог</a:t>
            </a:r>
          </a:p>
        </p:txBody>
      </p:sp>
      <p:sp>
        <p:nvSpPr>
          <p:cNvPr id="16" name="Rounded Rectangle 15"/>
          <p:cNvSpPr/>
          <p:nvPr/>
        </p:nvSpPr>
        <p:spPr>
          <a:xfrm>
            <a:off x="374904" y="3584307"/>
            <a:ext cx="7564831" cy="2651900"/>
          </a:xfrm>
          <a:prstGeom prst="roundRect">
            <a:avLst>
              <a:gd name="adj" fmla="val 1149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675747"/>
            <a:ext cx="7235647" cy="2560460"/>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 же рука, тот же актив узнавания — другая структура занятости.</a:t>
            </a:r>
            <a:r>
              <a:rPr sz="1500" b="0" i="0">
                <a:solidFill>
                  <a:srgbClr val="21295C"/>
                </a:solidFill>
                <a:latin typeface="Arial"/>
              </a:rPr>
              <a:t> Не история полного вытеснения, а история диверсификации без институционального буфера.</a:t>
            </a:r>
          </a:p>
          <a:p>
            <a:pPr algn="l">
              <a:lnSpc>
                <a:spcPct val="126000"/>
              </a:lnSpc>
              <a:spcBef>
                <a:spcPts val="700"/>
              </a:spcBef>
            </a:pPr>
            <a:r>
              <a:rPr sz="1500" b="0" i="0">
                <a:solidFill>
                  <a:srgbClr val="21295C"/>
                </a:solidFill>
                <a:latin typeface="Arial"/>
              </a:rPr>
              <a:t/>
            </a:r>
            <a:r>
              <a:rPr sz="1500" b="1" i="0">
                <a:solidFill>
                  <a:srgbClr val="21295C"/>
                </a:solidFill>
                <a:latin typeface="Arial"/>
              </a:rPr>
              <a:t>Дословно:</a:t>
            </a:r>
            <a:r>
              <a:rPr sz="1500" b="0" i="0">
                <a:solidFill>
                  <a:srgbClr val="21295C"/>
                </a:solidFill>
                <a:latin typeface="Arial"/>
              </a:rPr>
              <a:t> «очень трудно зарабатывать одной иллюстрацией, мне нужны побочные заработки».</a:t>
            </a:r>
          </a:p>
          <a:p>
            <a:pPr algn="l">
              <a:lnSpc>
                <a:spcPct val="126000"/>
              </a:lnSpc>
              <a:spcBef>
                <a:spcPts val="700"/>
              </a:spcBef>
            </a:pPr>
            <a:r>
              <a:rPr sz="1500" b="0" i="0">
                <a:solidFill>
                  <a:srgbClr val="21295C"/>
                </a:solidFill>
                <a:latin typeface="Arial"/>
              </a:rPr>
              <a:t/>
            </a:r>
            <a:r>
              <a:rPr sz="1500" b="1" i="0">
                <a:solidFill>
                  <a:srgbClr val="21295C"/>
                </a:solidFill>
                <a:latin typeface="Arial"/>
              </a:rPr>
              <a:t>Вопрос в зал:</a:t>
            </a:r>
            <a:r>
              <a:rPr sz="1500" b="0" i="0">
                <a:solidFill>
                  <a:srgbClr val="21295C"/>
                </a:solidFill>
                <a:latin typeface="Arial"/>
              </a:rPr>
              <a:t> кто лично почувствовал этот сдвиг рынка труда на себе или на близком коллеге — сократили, не наняли, или, наоборот, наняли именно на новую роль вокруг генеративной модели?</a:t>
            </a:r>
          </a:p>
        </p:txBody>
      </p:sp>
      <p:sp>
        <p:nvSpPr>
          <p:cNvPr id="18" name="Rounded Rectangle 17"/>
          <p:cNvSpPr/>
          <p:nvPr/>
        </p:nvSpPr>
        <p:spPr>
          <a:xfrm>
            <a:off x="8122615" y="1335024"/>
            <a:ext cx="3566160" cy="438912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19" name="Picture 18" descr="s54-chizhova-illustration-hands-book.jpg"/>
          <p:cNvPicPr>
            <a:picLocks noChangeAspect="1"/>
          </p:cNvPicPr>
          <p:nvPr/>
        </p:nvPicPr>
        <p:blipFill>
          <a:blip r:embed="rId2"/>
          <a:stretch>
            <a:fillRect/>
          </a:stretch>
        </p:blipFill>
        <p:spPr>
          <a:xfrm>
            <a:off x="8259775" y="1472184"/>
            <a:ext cx="3291840"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ladachizhova.substack.com, 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Фриланс-биржи: рост ИИ-навыков измерен точно</a:t>
            </a:r>
          </a:p>
        </p:txBody>
      </p:sp>
      <p:sp>
        <p:nvSpPr>
          <p:cNvPr id="4" name="Rounded Rectangle 3"/>
          <p:cNvSpPr/>
          <p:nvPr/>
        </p:nvSpPr>
        <p:spPr>
          <a:xfrm>
            <a:off x="502920"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ИИ-НАВЫКИ В ЦЕЛОМ</a:t>
            </a:r>
          </a:p>
        </p:txBody>
      </p:sp>
      <p:sp>
        <p:nvSpPr>
          <p:cNvPr id="6" name="TextBox 5"/>
          <p:cNvSpPr txBox="1"/>
          <p:nvPr/>
        </p:nvSpPr>
        <p:spPr>
          <a:xfrm>
            <a:off x="640080" y="1932846"/>
            <a:ext cx="1360855"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+109% год к году</a:t>
            </a:r>
          </a:p>
        </p:txBody>
      </p:sp>
      <p:sp>
        <p:nvSpPr>
          <p:cNvPr id="7" name="TextBox 6"/>
          <p:cNvSpPr txBox="1"/>
          <p:nvPr/>
        </p:nvSpPr>
        <p:spPr>
          <a:xfrm>
            <a:off x="640080" y="2682369"/>
            <a:ext cx="1360855"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данные рынка США за 2025</a:t>
            </a:r>
          </a:p>
        </p:txBody>
      </p:sp>
      <p:sp>
        <p:nvSpPr>
          <p:cNvPr id="8" name="Rounded Rectangle 7"/>
          <p:cNvSpPr/>
          <p:nvPr/>
        </p:nvSpPr>
        <p:spPr>
          <a:xfrm>
            <a:off x="2302687" y="1335024"/>
            <a:ext cx="1635175" cy="2540722"/>
          </a:xfrm>
          <a:prstGeom prst="roundRect">
            <a:avLst>
              <a:gd name="adj" fmla="val 1864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439847"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ГЕНЕРАЦИЯ И МОНТАЖ ВИДЕО</a:t>
            </a:r>
          </a:p>
        </p:txBody>
      </p:sp>
      <p:sp>
        <p:nvSpPr>
          <p:cNvPr id="10" name="TextBox 9"/>
          <p:cNvSpPr txBox="1"/>
          <p:nvPr/>
        </p:nvSpPr>
        <p:spPr>
          <a:xfrm>
            <a:off x="2439847" y="1932846"/>
            <a:ext cx="1360855" cy="749522"/>
          </a:xfrm>
          <a:prstGeom prst="rect">
            <a:avLst/>
          </a:prstGeom>
          <a:noFill/>
        </p:spPr>
        <p:txBody>
          <a:bodyPr wrap="square" lIns="0" rIns="0" tIns="0" bIns="0" anchor="t">
            <a:spAutoFit/>
          </a:bodyPr>
          <a:lstStyle/>
          <a:p>
            <a:pPr algn="l">
              <a:lnSpc>
                <a:spcPct val="108000"/>
              </a:lnSpc>
            </a:pPr>
            <a:r>
              <a:rPr sz="2100" b="1" i="0">
                <a:solidFill>
                  <a:srgbClr val="1C7293"/>
                </a:solidFill>
                <a:latin typeface="Arial"/>
              </a:rPr>
              <a:t>+329% год к году</a:t>
            </a:r>
          </a:p>
        </p:txBody>
      </p:sp>
      <p:sp>
        <p:nvSpPr>
          <p:cNvPr id="11" name="TextBox 10"/>
          <p:cNvSpPr txBox="1"/>
          <p:nvPr/>
        </p:nvSpPr>
        <p:spPr>
          <a:xfrm>
            <a:off x="2439847" y="2682369"/>
            <a:ext cx="136085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самая быстрорастущая категория площадки</a:t>
            </a:r>
          </a:p>
        </p:txBody>
      </p:sp>
      <p:sp>
        <p:nvSpPr>
          <p:cNvPr id="12" name="Rounded Rectangle 11"/>
          <p:cNvSpPr/>
          <p:nvPr/>
        </p:nvSpPr>
        <p:spPr>
          <a:xfrm>
            <a:off x="4102455"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239615"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ГЕНЕРАЦИЯ ИЗОБРАЖЕНИЙ</a:t>
            </a:r>
          </a:p>
        </p:txBody>
      </p:sp>
      <p:sp>
        <p:nvSpPr>
          <p:cNvPr id="14" name="TextBox 13"/>
          <p:cNvSpPr txBox="1"/>
          <p:nvPr/>
        </p:nvSpPr>
        <p:spPr>
          <a:xfrm>
            <a:off x="4239615" y="1932846"/>
            <a:ext cx="1360855"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+95% год к году</a:t>
            </a:r>
          </a:p>
        </p:txBody>
      </p:sp>
      <p:sp>
        <p:nvSpPr>
          <p:cNvPr id="15" name="TextBox 14"/>
          <p:cNvSpPr txBox="1"/>
          <p:nvPr/>
        </p:nvSpPr>
        <p:spPr>
          <a:xfrm>
            <a:off x="4239615" y="2750268"/>
            <a:ext cx="1360855"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тот же отчёт</a:t>
            </a:r>
          </a:p>
        </p:txBody>
      </p:sp>
      <p:sp>
        <p:nvSpPr>
          <p:cNvPr id="16" name="Rounded Rectangle 15"/>
          <p:cNvSpPr/>
          <p:nvPr/>
        </p:nvSpPr>
        <p:spPr>
          <a:xfrm>
            <a:off x="5902223" y="1335024"/>
            <a:ext cx="1635175" cy="2540722"/>
          </a:xfrm>
          <a:prstGeom prst="roundRect">
            <a:avLst>
              <a:gd name="adj" fmla="val 18640"/>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039383" y="1472184"/>
            <a:ext cx="136085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«КУРАТОРЫ CANVA» (FIVERR)</a:t>
            </a:r>
          </a:p>
        </p:txBody>
      </p:sp>
      <p:sp>
        <p:nvSpPr>
          <p:cNvPr id="18" name="TextBox 17"/>
          <p:cNvSpPr txBox="1"/>
          <p:nvPr/>
        </p:nvSpPr>
        <p:spPr>
          <a:xfrm>
            <a:off x="6039383" y="1932846"/>
            <a:ext cx="1360855" cy="749522"/>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+403% год к году</a:t>
            </a:r>
          </a:p>
        </p:txBody>
      </p:sp>
      <p:sp>
        <p:nvSpPr>
          <p:cNvPr id="19" name="TextBox 18"/>
          <p:cNvSpPr txBox="1"/>
          <p:nvPr/>
        </p:nvSpPr>
        <p:spPr>
          <a:xfrm>
            <a:off x="6039383" y="2682369"/>
            <a:ext cx="136085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название категории уже говорит о сути — курирование, не рисование</a:t>
            </a:r>
          </a:p>
        </p:txBody>
      </p:sp>
      <p:sp>
        <p:nvSpPr>
          <p:cNvPr id="20" name="Rounded Rectangle 19"/>
          <p:cNvSpPr/>
          <p:nvPr/>
        </p:nvSpPr>
        <p:spPr>
          <a:xfrm>
            <a:off x="374904" y="3967186"/>
            <a:ext cx="11441887" cy="1848525"/>
          </a:xfrm>
          <a:prstGeom prst="roundRect">
            <a:avLst>
              <a:gd name="adj" fmla="val 1648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058626"/>
            <a:ext cx="11112703" cy="2177581"/>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Куратор Canva не рисует каждый элемент вручную.</a:t>
            </a:r>
            <a:r>
              <a:rPr sz="1500" b="0" i="0">
                <a:solidFill>
                  <a:srgbClr val="21295C"/>
                </a:solidFill>
                <a:latin typeface="Arial"/>
              </a:rPr>
              <a:t> Он выбирает шаблон, формулирует запросы к встроенным генераторам, прогоняет варианты, бракует неподходящие и собирает финальный комплект.</a:t>
            </a:r>
          </a:p>
          <a:p>
            <a:pPr algn="l">
              <a:lnSpc>
                <a:spcPct val="126000"/>
              </a:lnSpc>
              <a:spcBef>
                <a:spcPts val="700"/>
              </a:spcBef>
            </a:pPr>
            <a:r>
              <a:rPr sz="1500" b="0" i="0">
                <a:solidFill>
                  <a:srgbClr val="21295C"/>
                </a:solidFill>
                <a:latin typeface="Arial"/>
              </a:rPr>
              <a:t/>
            </a:r>
            <a:r>
              <a:rPr sz="1500" b="1" i="0">
                <a:solidFill>
                  <a:srgbClr val="21295C"/>
                </a:solidFill>
                <a:latin typeface="Arial"/>
              </a:rPr>
              <a:t>Рост не ограничен двумя категориями:</a:t>
            </a:r>
            <a:r>
              <a:rPr sz="1500" b="0" i="0">
                <a:solidFill>
                  <a:srgbClr val="21295C"/>
                </a:solidFill>
                <a:latin typeface="Arial"/>
              </a:rPr>
              <a:t> разметка данных для обучения моделей — </a:t>
            </a:r>
            <a:r>
              <a:rPr sz="1500" b="1" i="0">
                <a:solidFill>
                  <a:srgbClr val="21295C"/>
                </a:solidFill>
                <a:latin typeface="Arial"/>
              </a:rPr>
              <a:t>+154%</a:t>
            </a:r>
            <a:r>
              <a:rPr sz="1500" b="0" i="0">
                <a:solidFill>
                  <a:srgbClr val="21295C"/>
                </a:solidFill>
                <a:latin typeface="Arial"/>
              </a:rPr>
              <a:t>, интеграция ИИ в существующие продукты — </a:t>
            </a:r>
            <a:r>
              <a:rPr sz="1500" b="1" i="0">
                <a:solidFill>
                  <a:srgbClr val="21295C"/>
                </a:solidFill>
                <a:latin typeface="Arial"/>
              </a:rPr>
              <a:t>+178%</a:t>
            </a:r>
            <a:r>
              <a:rPr sz="1500" b="0" i="0">
                <a:solidFill>
                  <a:srgbClr val="21295C"/>
                </a:solidFill>
                <a:latin typeface="Arial"/>
              </a:rPr>
              <a:t>. Ни то, ни другое не творческий труд в смысле предыдущего кадра — это новый вид работы вокруг обслуживания моделей.</a:t>
            </a:r>
          </a:p>
        </p:txBody>
      </p:sp>
      <p:sp>
        <p:nvSpPr>
          <p:cNvPr id="22" name="Rounded Rectangle 21"/>
          <p:cNvSpPr/>
          <p:nvPr/>
        </p:nvSpPr>
        <p:spPr>
          <a:xfrm>
            <a:off x="7848295" y="1335024"/>
            <a:ext cx="3840480" cy="2652502"/>
          </a:xfrm>
          <a:prstGeom prst="roundRect">
            <a:avLst>
              <a:gd name="adj" fmla="val 11491"/>
            </a:avLst>
          </a:prstGeom>
          <a:solidFill>
            <a:srgbClr val="F4F7FA"/>
          </a:solidFill>
          <a:ln w="19050">
            <a:solidFill>
              <a:srgbClr val="1C7293"/>
            </a:solidFill>
          </a:ln>
          <a:effectLst/>
        </p:spPr>
        <p:txBody>
          <a:bodyPr rtlCol="0" anchor="ctr"/>
          <a:lstStyle/>
          <a:p>
            <a:pPr algn="ctr"/>
          </a:p>
        </p:txBody>
      </p:sp>
      <p:pic>
        <p:nvPicPr>
          <p:cNvPr id="23" name="Picture 22" descr="s55-upwork-curator-reviewing-images.jpg"/>
          <p:cNvPicPr>
            <a:picLocks noChangeAspect="1"/>
          </p:cNvPicPr>
          <p:nvPr/>
        </p:nvPicPr>
        <p:blipFill>
          <a:blip r:embed="rId2"/>
          <a:stretch>
            <a:fillRect/>
          </a:stretch>
        </p:blipFill>
        <p:spPr>
          <a:xfrm>
            <a:off x="7985455" y="1472184"/>
            <a:ext cx="3566160" cy="2378182"/>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Upwork, «In-Demand Skills 2026», февраль 2026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Фриланс-биржи: обратная сторона роста — честный пробел</a:t>
            </a:r>
          </a:p>
        </p:txBody>
      </p:sp>
      <p:sp>
        <p:nvSpPr>
          <p:cNvPr id="4" name="Rounded Rectangle 3"/>
          <p:cNvSpPr/>
          <p:nvPr/>
        </p:nvSpPr>
        <p:spPr>
          <a:xfrm>
            <a:off x="502920"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РОСТ ИИ-КАТЕГОРИЙ</a:t>
            </a:r>
          </a:p>
        </p:txBody>
      </p:sp>
      <p:sp>
        <p:nvSpPr>
          <p:cNvPr id="6" name="TextBox 5"/>
          <p:cNvSpPr txBox="1"/>
          <p:nvPr/>
        </p:nvSpPr>
        <p:spPr>
          <a:xfrm>
            <a:off x="640080" y="1725375"/>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+109% / +329% / +95%</a:t>
            </a:r>
          </a:p>
        </p:txBody>
      </p:sp>
      <p:sp>
        <p:nvSpPr>
          <p:cNvPr id="7" name="TextBox 6"/>
          <p:cNvSpPr txBox="1"/>
          <p:nvPr/>
        </p:nvSpPr>
        <p:spPr>
          <a:xfrm>
            <a:off x="640080" y="2542797"/>
            <a:ext cx="239869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измерено точно</a:t>
            </a:r>
          </a:p>
        </p:txBody>
      </p:sp>
      <p:sp>
        <p:nvSpPr>
          <p:cNvPr id="8" name="Rounded Rectangle 7"/>
          <p:cNvSpPr/>
          <p:nvPr/>
        </p:nvSpPr>
        <p:spPr>
          <a:xfrm>
            <a:off x="3340531"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477691"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УПАДОК ТРАДИЦИОННЫХ КАТЕГОРИЙ</a:t>
            </a:r>
          </a:p>
        </p:txBody>
      </p:sp>
      <p:sp>
        <p:nvSpPr>
          <p:cNvPr id="10" name="TextBox 9"/>
          <p:cNvSpPr txBox="1"/>
          <p:nvPr/>
        </p:nvSpPr>
        <p:spPr>
          <a:xfrm>
            <a:off x="3477691"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число не публикуется</a:t>
            </a:r>
          </a:p>
        </p:txBody>
      </p:sp>
      <p:sp>
        <p:nvSpPr>
          <p:cNvPr id="11" name="TextBox 10"/>
          <p:cNvSpPr txBox="1"/>
          <p:nvPr/>
        </p:nvSpPr>
        <p:spPr>
          <a:xfrm>
            <a:off x="3477691" y="2750268"/>
            <a:ext cx="2398699"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Upwork: «спрос остаётся сильным» — без единого процента</a:t>
            </a:r>
          </a:p>
        </p:txBody>
      </p:sp>
      <p:sp>
        <p:nvSpPr>
          <p:cNvPr id="12" name="Rounded Rectangle 11"/>
          <p:cNvSpPr/>
          <p:nvPr/>
        </p:nvSpPr>
        <p:spPr>
          <a:xfrm>
            <a:off x="6178143" y="1335024"/>
            <a:ext cx="2673019" cy="2186135"/>
          </a:xfrm>
          <a:prstGeom prst="roundRect">
            <a:avLst>
              <a:gd name="adj" fmla="val 13942"/>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6315303" y="1472184"/>
            <a:ext cx="2398699"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ЕДИНСТВЕННАЯ ОПОРА</a:t>
            </a:r>
          </a:p>
        </p:txBody>
      </p:sp>
      <p:sp>
        <p:nvSpPr>
          <p:cNvPr id="14" name="TextBox 13"/>
          <p:cNvSpPr txBox="1"/>
          <p:nvPr/>
        </p:nvSpPr>
        <p:spPr>
          <a:xfrm>
            <a:off x="6315303" y="1725375"/>
            <a:ext cx="2398699"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−2% за 10 лет</a:t>
            </a:r>
          </a:p>
        </p:txBody>
      </p:sp>
      <p:sp>
        <p:nvSpPr>
          <p:cNvPr id="15" name="TextBox 14"/>
          <p:cNvSpPr txBox="1"/>
          <p:nvPr/>
        </p:nvSpPr>
        <p:spPr>
          <a:xfrm>
            <a:off x="6315303" y="2152374"/>
            <a:ext cx="2398699"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BLS, графический дизайнер, другой источник и другой период — не для прямого сопоставления</a:t>
            </a:r>
          </a:p>
        </p:txBody>
      </p:sp>
      <p:sp>
        <p:nvSpPr>
          <p:cNvPr id="16" name="Rounded Rectangle 15"/>
          <p:cNvSpPr/>
          <p:nvPr/>
        </p:nvSpPr>
        <p:spPr>
          <a:xfrm>
            <a:off x="9015755" y="1335024"/>
            <a:ext cx="2673019" cy="2186135"/>
          </a:xfrm>
          <a:prstGeom prst="roundRect">
            <a:avLst>
              <a:gd name="adj" fmla="val 13942"/>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9152915" y="1472184"/>
            <a:ext cx="2398699"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САМА ПЛОЩАДКА СЖИМАЕТСЯ</a:t>
            </a:r>
          </a:p>
        </p:txBody>
      </p:sp>
      <p:sp>
        <p:nvSpPr>
          <p:cNvPr id="18" name="TextBox 17"/>
          <p:cNvSpPr txBox="1"/>
          <p:nvPr/>
        </p:nvSpPr>
        <p:spPr>
          <a:xfrm>
            <a:off x="9152915" y="1932846"/>
            <a:ext cx="2398699"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клиенты −6%, вакансии −19%</a:t>
            </a:r>
          </a:p>
        </p:txBody>
      </p:sp>
      <p:sp>
        <p:nvSpPr>
          <p:cNvPr id="19" name="TextBox 18"/>
          <p:cNvSpPr txBox="1"/>
          <p:nvPr/>
        </p:nvSpPr>
        <p:spPr>
          <a:xfrm>
            <a:off x="9152915" y="2750268"/>
            <a:ext cx="2398699"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 2025–2026; причина не обязательно ИИ</a:t>
            </a:r>
          </a:p>
        </p:txBody>
      </p:sp>
      <p:sp>
        <p:nvSpPr>
          <p:cNvPr id="20" name="Rounded Rectangle 19"/>
          <p:cNvSpPr/>
          <p:nvPr/>
        </p:nvSpPr>
        <p:spPr>
          <a:xfrm>
            <a:off x="374904" y="3612599"/>
            <a:ext cx="11441887" cy="2145586"/>
          </a:xfrm>
          <a:prstGeom prst="roundRect">
            <a:avLst>
              <a:gd name="adj" fmla="val 14205"/>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3704039"/>
            <a:ext cx="11112703" cy="2532168"/>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Официальный отчёт Upwork не публикует симметричную цифру падения</a:t>
            </a:r>
            <a:r>
              <a:rPr sz="1500" b="0" i="0">
                <a:solidFill>
                  <a:srgbClr val="21295C"/>
                </a:solidFill>
                <a:latin typeface="Arial"/>
              </a:rPr>
              <a:t> для традиционных категорий дизайна — только качественную формулировку «спрос остаётся сильным». Предъявлять рост и падение одной парой процентов значило бы добавить число, которого не существует.</a:t>
            </a:r>
          </a:p>
          <a:p>
            <a:pPr algn="l">
              <a:lnSpc>
                <a:spcPct val="126000"/>
              </a:lnSpc>
              <a:spcBef>
                <a:spcPts val="700"/>
              </a:spcBef>
            </a:pPr>
            <a:r>
              <a:rPr sz="1500" b="0" i="0">
                <a:solidFill>
                  <a:srgbClr val="21295C"/>
                </a:solidFill>
                <a:latin typeface="Arial"/>
              </a:rPr>
              <a:t/>
            </a:r>
            <a:r>
              <a:rPr sz="1500" b="1" i="0">
                <a:solidFill>
                  <a:srgbClr val="21295C"/>
                </a:solidFill>
                <a:latin typeface="Arial"/>
              </a:rPr>
              <a:t>Старая цифра −17,01% вакансий графического дизайна на Upwork — снята из материала целиком.</a:t>
            </a:r>
            <a:r>
              <a:rPr sz="1500" b="0" i="0">
                <a:solidFill>
                  <a:srgbClr val="21295C"/>
                </a:solidFill>
                <a:latin typeface="Arial"/>
              </a:rPr>
              <a:t> При повторной проверке источник не переподтвердился. Канон запрещает число без проверяемой базы так же строго, как выигрыш без счёта.</a:t>
            </a:r>
          </a:p>
        </p:txBody>
      </p:sp>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3" name="TextBox 2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2"/>
              </a:rPr>
              <a:t>U.S. Bureau of Labor Statistics, Occupational Outlook Handbook</a:t>
            </a:r>
            <a:r>
              <a:rPr sz="1200" b="0" i="1">
                <a:solidFill>
                  <a:srgbClr val="1C7293"/>
                </a:solidFill>
                <a:latin typeface="Arial"/>
              </a:rPr>
              <a:t> · </a:t>
            </a:r>
            <a:r>
              <a:rPr sz="1200" b="0" i="1" u="sng">
                <a:solidFill>
                  <a:srgbClr val="065A82"/>
                </a:solidFill>
                <a:latin typeface="Arial"/>
                <a:hlinkClick r:id="rId3"/>
              </a:rPr>
              <a:t>tryvibeworker.com, июль 2026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Images и Shutterstock: цена ставки на слияние</a:t>
            </a:r>
          </a:p>
        </p:txBody>
      </p:sp>
      <p:sp>
        <p:nvSpPr>
          <p:cNvPr id="4" name="Rounded Rectangle 3"/>
          <p:cNvSpPr/>
          <p:nvPr/>
        </p:nvSpPr>
        <p:spPr>
          <a:xfrm>
            <a:off x="502920" y="1335024"/>
            <a:ext cx="1747418" cy="2401151"/>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СУММА СДЕЛКИ</a:t>
            </a:r>
          </a:p>
        </p:txBody>
      </p:sp>
      <p:sp>
        <p:nvSpPr>
          <p:cNvPr id="6" name="TextBox 5"/>
          <p:cNvSpPr txBox="1"/>
          <p:nvPr/>
        </p:nvSpPr>
        <p:spPr>
          <a:xfrm>
            <a:off x="640080" y="1725375"/>
            <a:ext cx="147309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≈$3,7 млрд</a:t>
            </a:r>
          </a:p>
        </p:txBody>
      </p:sp>
      <p:sp>
        <p:nvSpPr>
          <p:cNvPr id="7" name="TextBox 6"/>
          <p:cNvSpPr txBox="1"/>
          <p:nvPr/>
        </p:nvSpPr>
        <p:spPr>
          <a:xfrm>
            <a:off x="640080" y="2542797"/>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слияние акциями, январь 2025</a:t>
            </a:r>
          </a:p>
        </p:txBody>
      </p:sp>
      <p:sp>
        <p:nvSpPr>
          <p:cNvPr id="8" name="Rounded Rectangle 7"/>
          <p:cNvSpPr/>
          <p:nvPr/>
        </p:nvSpPr>
        <p:spPr>
          <a:xfrm>
            <a:off x="2414930" y="1335024"/>
            <a:ext cx="1747418" cy="240115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552090" y="1472184"/>
            <a:ext cx="14730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ОБЪЯВЛЕННАЯ СИНЕРГИЯ</a:t>
            </a:r>
          </a:p>
        </p:txBody>
      </p:sp>
      <p:sp>
        <p:nvSpPr>
          <p:cNvPr id="10" name="TextBox 9"/>
          <p:cNvSpPr txBox="1"/>
          <p:nvPr/>
        </p:nvSpPr>
        <p:spPr>
          <a:xfrm>
            <a:off x="2552090" y="1932846"/>
            <a:ext cx="1473098" cy="613723"/>
          </a:xfrm>
          <a:prstGeom prst="rect">
            <a:avLst/>
          </a:prstGeom>
          <a:noFill/>
        </p:spPr>
        <p:txBody>
          <a:bodyPr wrap="square" lIns="0" rIns="0" tIns="0" bIns="0" anchor="t">
            <a:spAutoFit/>
          </a:bodyPr>
          <a:lstStyle/>
          <a:p>
            <a:pPr algn="l">
              <a:lnSpc>
                <a:spcPct val="108000"/>
              </a:lnSpc>
            </a:pPr>
            <a:r>
              <a:rPr sz="1700" b="1" i="0">
                <a:solidFill>
                  <a:srgbClr val="21295C"/>
                </a:solidFill>
                <a:latin typeface="Arial"/>
              </a:rPr>
              <a:t>$150–200 млн за 3 года</a:t>
            </a:r>
          </a:p>
        </p:txBody>
      </p:sp>
      <p:sp>
        <p:nvSpPr>
          <p:cNvPr id="11" name="TextBox 10"/>
          <p:cNvSpPr txBox="1"/>
          <p:nvPr/>
        </p:nvSpPr>
        <p:spPr>
          <a:xfrm>
            <a:off x="2552090" y="2546569"/>
            <a:ext cx="147309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экономия на издержках по плану</a:t>
            </a:r>
          </a:p>
        </p:txBody>
      </p:sp>
      <p:sp>
        <p:nvSpPr>
          <p:cNvPr id="12" name="Rounded Rectangle 11"/>
          <p:cNvSpPr/>
          <p:nvPr/>
        </p:nvSpPr>
        <p:spPr>
          <a:xfrm>
            <a:off x="4326940" y="1335024"/>
            <a:ext cx="1747418" cy="240115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ФОРМА СДЕЛКИ</a:t>
            </a:r>
          </a:p>
        </p:txBody>
      </p:sp>
      <p:sp>
        <p:nvSpPr>
          <p:cNvPr id="14" name="TextBox 13"/>
          <p:cNvSpPr txBox="1"/>
          <p:nvPr/>
        </p:nvSpPr>
        <p:spPr>
          <a:xfrm>
            <a:off x="4464100" y="1725375"/>
            <a:ext cx="147309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акции, не деньги</a:t>
            </a:r>
          </a:p>
        </p:txBody>
      </p:sp>
      <p:sp>
        <p:nvSpPr>
          <p:cNvPr id="15" name="TextBox 14"/>
          <p:cNvSpPr txBox="1"/>
          <p:nvPr/>
        </p:nvSpPr>
        <p:spPr>
          <a:xfrm>
            <a:off x="4464100" y="2542797"/>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благосостояние акционеров Shutterstock привязано к будущей цене Getty</a:t>
            </a:r>
          </a:p>
        </p:txBody>
      </p:sp>
      <p:sp>
        <p:nvSpPr>
          <p:cNvPr id="16" name="Rounded Rectangle 15"/>
          <p:cNvSpPr/>
          <p:nvPr/>
        </p:nvSpPr>
        <p:spPr>
          <a:xfrm>
            <a:off x="374904" y="3827615"/>
            <a:ext cx="5827471" cy="2408592"/>
          </a:xfrm>
          <a:prstGeom prst="roundRect">
            <a:avLst>
              <a:gd name="adj" fmla="val 12654"/>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919055"/>
            <a:ext cx="5498287" cy="2317152"/>
          </a:xfrm>
          <a:prstGeom prst="rect">
            <a:avLst/>
          </a:prstGeom>
          <a:noFill/>
        </p:spPr>
        <p:txBody>
          <a:bodyPr wrap="square" lIns="0" rIns="0" tIns="0" bIns="0" anchor="t">
            <a:spAutoFit/>
          </a:bodyPr>
          <a:lstStyle/>
          <a:p>
            <a:pPr algn="l">
              <a:lnSpc>
                <a:spcPct val="126000"/>
              </a:lnSpc>
            </a:pPr>
            <a:r>
              <a:rPr sz="1400" b="1" i="0">
                <a:solidFill>
                  <a:srgbClr val="21295C"/>
                </a:solidFill>
                <a:latin typeface="Arial"/>
              </a:rPr>
              <a:t>Причина названа заранее, не задним числом:</a:t>
            </a:r>
            <a:r>
              <a:rPr sz="1400" b="0" i="0">
                <a:solidFill>
                  <a:srgbClr val="21295C"/>
                </a:solidFill>
                <a:latin typeface="Arial"/>
              </a:rPr>
              <a:t> крупнейшие в мире стоковые библиотеки объединяются перед лицом растущего давления генеративных моделей на бизнес-модель лицензирования контента.</a:t>
            </a:r>
          </a:p>
          <a:p>
            <a:pPr algn="l">
              <a:lnSpc>
                <a:spcPct val="126000"/>
              </a:lnSpc>
              <a:spcBef>
                <a:spcPts val="700"/>
              </a:spcBef>
            </a:pPr>
            <a:r>
              <a:rPr sz="1400" b="0" i="0">
                <a:solidFill>
                  <a:srgbClr val="21295C"/>
                </a:solidFill>
                <a:latin typeface="Arial"/>
              </a:rPr>
              <a:t/>
            </a:r>
            <a:r>
              <a:rPr sz="1400" b="1" i="0">
                <a:solidFill>
                  <a:srgbClr val="21295C"/>
                </a:solidFill>
                <a:latin typeface="Arial"/>
              </a:rPr>
              <a:t>«Сделка акциями» — не формальность.</a:t>
            </a:r>
            <a:r>
              <a:rPr sz="1400" b="0" i="0">
                <a:solidFill>
                  <a:srgbClr val="21295C"/>
                </a:solidFill>
                <a:latin typeface="Arial"/>
              </a:rPr>
              <a:t> Акционеры Shutterstock получали бы не деньги, а акции Getty Images — благосостояние после сделки оказывалось привязано к тому самому давлению, от которого сделка должна была защитить.</a:t>
            </a:r>
          </a:p>
        </p:txBody>
      </p:sp>
      <p:sp>
        <p:nvSpPr>
          <p:cNvPr id="18" name="Rounded Rectangle 17"/>
          <p:cNvSpPr/>
          <p:nvPr/>
        </p:nvSpPr>
        <p:spPr>
          <a:xfrm>
            <a:off x="6385255" y="1335024"/>
            <a:ext cx="5303520" cy="3628757"/>
          </a:xfrm>
          <a:prstGeom prst="roundRect">
            <a:avLst>
              <a:gd name="adj" fmla="val 8399"/>
            </a:avLst>
          </a:prstGeom>
          <a:solidFill>
            <a:srgbClr val="F4F7FA"/>
          </a:solidFill>
          <a:ln w="19050">
            <a:solidFill>
              <a:srgbClr val="1C7293"/>
            </a:solidFill>
          </a:ln>
          <a:effectLst/>
        </p:spPr>
        <p:txBody>
          <a:bodyPr rtlCol="0" anchor="ctr"/>
          <a:lstStyle/>
          <a:p>
            <a:pPr algn="ctr"/>
          </a:p>
        </p:txBody>
      </p:sp>
      <p:pic>
        <p:nvPicPr>
          <p:cNvPr id="19" name="Picture 18" descr="s57-craig-peters-getty-ceo-nyse.jpg"/>
          <p:cNvPicPr>
            <a:picLocks noChangeAspect="1"/>
          </p:cNvPicPr>
          <p:nvPr/>
        </p:nvPicPr>
        <p:blipFill>
          <a:blip r:embed="rId2"/>
          <a:stretch>
            <a:fillRect/>
          </a:stretch>
        </p:blipFill>
        <p:spPr>
          <a:xfrm>
            <a:off x="6522415" y="1472184"/>
            <a:ext cx="5029200" cy="335443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Images / Shutterstock, пресс-релиз слияния, январь 2025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Images: что случилось со ставкой на самом деле</a:t>
            </a:r>
          </a:p>
        </p:txBody>
      </p:sp>
      <p:sp>
        <p:nvSpPr>
          <p:cNvPr id="4" name="TextBox 3"/>
          <p:cNvSpPr txBox="1"/>
          <p:nvPr/>
        </p:nvSpPr>
        <p:spPr>
          <a:xfrm>
            <a:off x="502920" y="1371600"/>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2026</a:t>
            </a:r>
          </a:p>
        </p:txBody>
      </p:sp>
      <p:sp>
        <p:nvSpPr>
          <p:cNvPr id="5" name="Rounded Rectangle 4"/>
          <p:cNvSpPr/>
          <p:nvPr/>
        </p:nvSpPr>
        <p:spPr>
          <a:xfrm>
            <a:off x="1920240" y="1335024"/>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15 мая: CMA требует продать весь Shutterstock editorial</a:t>
            </a:r>
          </a:p>
        </p:txBody>
      </p:sp>
      <p:sp>
        <p:nvSpPr>
          <p:cNvPr id="7" name="Right Arrow 6"/>
          <p:cNvSpPr/>
          <p:nvPr/>
        </p:nvSpPr>
        <p:spPr>
          <a:xfrm>
            <a:off x="3564026" y="1807802"/>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3792626" y="1335024"/>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3874922" y="1380744"/>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30 июня: совет директоров отказывается</a:t>
            </a:r>
          </a:p>
        </p:txBody>
      </p:sp>
      <p:sp>
        <p:nvSpPr>
          <p:cNvPr id="10" name="Right Arrow 9"/>
          <p:cNvSpPr/>
          <p:nvPr/>
        </p:nvSpPr>
        <p:spPr>
          <a:xfrm>
            <a:off x="5436412" y="1807802"/>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5665012" y="1335024"/>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5747308" y="1380744"/>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7 июля: слияние расторгнуто официально</a:t>
            </a:r>
          </a:p>
        </p:txBody>
      </p:sp>
      <p:sp>
        <p:nvSpPr>
          <p:cNvPr id="13" name="TextBox 12"/>
          <p:cNvSpPr txBox="1"/>
          <p:nvPr/>
        </p:nvSpPr>
        <p:spPr>
          <a:xfrm>
            <a:off x="502920" y="2600621"/>
            <a:ext cx="1307592" cy="1009565"/>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осень 2026</a:t>
            </a:r>
          </a:p>
        </p:txBody>
      </p:sp>
      <p:sp>
        <p:nvSpPr>
          <p:cNvPr id="14" name="Rounded Rectangle 13"/>
          <p:cNvSpPr/>
          <p:nvPr/>
        </p:nvSpPr>
        <p:spPr>
          <a:xfrm>
            <a:off x="1920240" y="2564045"/>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2002536" y="2609765"/>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29 сентября: NYSE останавливает торги (центы за акцию)</a:t>
            </a:r>
          </a:p>
        </p:txBody>
      </p:sp>
      <p:sp>
        <p:nvSpPr>
          <p:cNvPr id="16" name="Right Arrow 15"/>
          <p:cNvSpPr/>
          <p:nvPr/>
        </p:nvSpPr>
        <p:spPr>
          <a:xfrm>
            <a:off x="3564026" y="3036824"/>
            <a:ext cx="182880" cy="137160"/>
          </a:xfrm>
          <a:prstGeom prst="rightArrow">
            <a:avLst/>
          </a:prstGeom>
          <a:solidFill>
            <a:srgbClr val="1C7293"/>
          </a:solidFill>
          <a:ln>
            <a:noFill/>
          </a:ln>
          <a:effectLst/>
        </p:spPr>
        <p:txBody>
          <a:bodyPr rtlCol="0" anchor="ctr"/>
          <a:lstStyle/>
          <a:p>
            <a:pPr algn="ctr"/>
          </a:p>
        </p:txBody>
      </p:sp>
      <p:sp>
        <p:nvSpPr>
          <p:cNvPr id="17" name="Rounded Rectangle 16"/>
          <p:cNvSpPr/>
          <p:nvPr/>
        </p:nvSpPr>
        <p:spPr>
          <a:xfrm>
            <a:off x="3792626" y="2564045"/>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8" name="TextBox 17"/>
          <p:cNvSpPr txBox="1"/>
          <p:nvPr/>
        </p:nvSpPr>
        <p:spPr>
          <a:xfrm>
            <a:off x="3874922" y="2609765"/>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12–13 октября: Chapter 11</a:t>
            </a:r>
          </a:p>
        </p:txBody>
      </p:sp>
      <p:sp>
        <p:nvSpPr>
          <p:cNvPr id="19" name="Right Arrow 18"/>
          <p:cNvSpPr/>
          <p:nvPr/>
        </p:nvSpPr>
        <p:spPr>
          <a:xfrm>
            <a:off x="5436412" y="3036824"/>
            <a:ext cx="182880" cy="137160"/>
          </a:xfrm>
          <a:prstGeom prst="rightArrow">
            <a:avLst/>
          </a:prstGeom>
          <a:solidFill>
            <a:srgbClr val="1C7293"/>
          </a:solidFill>
          <a:ln>
            <a:noFill/>
          </a:ln>
          <a:effectLst/>
        </p:spPr>
        <p:txBody>
          <a:bodyPr rtlCol="0" anchor="ctr"/>
          <a:lstStyle/>
          <a:p>
            <a:pPr algn="ctr"/>
          </a:p>
        </p:txBody>
      </p:sp>
      <p:sp>
        <p:nvSpPr>
          <p:cNvPr id="20" name="Rounded Rectangle 19"/>
          <p:cNvSpPr/>
          <p:nvPr/>
        </p:nvSpPr>
        <p:spPr>
          <a:xfrm>
            <a:off x="5665012" y="2564045"/>
            <a:ext cx="1598066" cy="1082717"/>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21" name="TextBox 20"/>
          <p:cNvSpPr txBox="1"/>
          <p:nvPr/>
        </p:nvSpPr>
        <p:spPr>
          <a:xfrm>
            <a:off x="5747308" y="2609765"/>
            <a:ext cx="1433474" cy="991277"/>
          </a:xfrm>
          <a:prstGeom prst="rect">
            <a:avLst/>
          </a:prstGeom>
          <a:noFill/>
        </p:spPr>
        <p:txBody>
          <a:bodyPr wrap="square" lIns="0" rIns="0" tIns="0" bIns="0" anchor="ctr">
            <a:spAutoFit/>
          </a:bodyPr>
          <a:lstStyle/>
          <a:p>
            <a:pPr algn="ctr">
              <a:lnSpc>
                <a:spcPct val="112000"/>
              </a:lnSpc>
            </a:pPr>
            <a:r>
              <a:rPr sz="1200" b="0" i="0">
                <a:solidFill>
                  <a:srgbClr val="21295C"/>
                </a:solidFill>
                <a:latin typeface="Arial"/>
              </a:rPr>
              <a:t>21 октября: реструктуризация объявлена</a:t>
            </a:r>
          </a:p>
        </p:txBody>
      </p:sp>
      <p:sp>
        <p:nvSpPr>
          <p:cNvPr id="22" name="TextBox 21"/>
          <p:cNvSpPr txBox="1"/>
          <p:nvPr/>
        </p:nvSpPr>
        <p:spPr>
          <a:xfrm>
            <a:off x="502920" y="3683339"/>
            <a:ext cx="6760159"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 одобрения условием до частной компании — семь месяцев</a:t>
            </a:r>
          </a:p>
        </p:txBody>
      </p:sp>
      <p:sp>
        <p:nvSpPr>
          <p:cNvPr id="23" name="Rounded Rectangle 22"/>
          <p:cNvSpPr/>
          <p:nvPr/>
        </p:nvSpPr>
        <p:spPr>
          <a:xfrm>
            <a:off x="374904" y="4169664"/>
            <a:ext cx="11441887" cy="2066544"/>
          </a:xfrm>
          <a:prstGeom prst="roundRect">
            <a:avLst>
              <a:gd name="adj" fmla="val 14749"/>
            </a:avLst>
          </a:prstGeom>
          <a:solidFill>
            <a:srgbClr val="F4F7FA"/>
          </a:solidFill>
          <a:ln w="19050">
            <a:solidFill>
              <a:srgbClr val="1C7293"/>
            </a:solidFill>
          </a:ln>
          <a:effectLst/>
        </p:spPr>
        <p:txBody>
          <a:bodyPr rtlCol="0" anchor="ctr"/>
          <a:lstStyle/>
          <a:p>
            <a:pPr algn="ctr"/>
          </a:p>
        </p:txBody>
      </p:sp>
      <p:sp>
        <p:nvSpPr>
          <p:cNvPr id="24" name="TextBox 23"/>
          <p:cNvSpPr txBox="1"/>
          <p:nvPr/>
        </p:nvSpPr>
        <p:spPr>
          <a:xfrm>
            <a:off x="539496" y="4261104"/>
            <a:ext cx="11112703" cy="197510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Сравнение корректно против плана, а не против нуля:</a:t>
            </a:r>
            <a:r>
              <a:rPr sz="1500" b="0" i="0">
                <a:solidFill>
                  <a:srgbClr val="21295C"/>
                </a:solidFill>
                <a:latin typeface="Arial"/>
              </a:rPr>
              <a:t> не «что было бы, если бы Getty вообще ничего не предпринимала», а что случилось с тем конкретным планом, который компания выбрала.</a:t>
            </a:r>
          </a:p>
          <a:p>
            <a:pPr algn="l">
              <a:lnSpc>
                <a:spcPct val="126000"/>
              </a:lnSpc>
              <a:spcBef>
                <a:spcPts val="700"/>
              </a:spcBef>
            </a:pPr>
            <a:r>
              <a:rPr sz="1500" b="0" i="0">
                <a:solidFill>
                  <a:srgbClr val="21295C"/>
                </a:solidFill>
                <a:latin typeface="Arial"/>
              </a:rPr>
              <a:t/>
            </a:r>
            <a:r>
              <a:rPr sz="1500" b="1" i="0">
                <a:solidFill>
                  <a:srgbClr val="21295C"/>
                </a:solidFill>
                <a:latin typeface="Arial"/>
              </a:rPr>
              <a:t>21 октября 2026 года</a:t>
            </a:r>
            <a:r>
              <a:rPr sz="1500" b="0" i="0">
                <a:solidFill>
                  <a:srgbClr val="21295C"/>
                </a:solidFill>
                <a:latin typeface="Arial"/>
              </a:rPr>
              <a:t> Getty Images объявила параметры реструктуризации: </a:t>
            </a:r>
            <a:r>
              <a:rPr sz="1500" b="1" i="0">
                <a:solidFill>
                  <a:srgbClr val="21295C"/>
                </a:solidFill>
                <a:latin typeface="Arial"/>
              </a:rPr>
              <a:t>Chapter 11</a:t>
            </a:r>
            <a:r>
              <a:rPr sz="1500" b="0" i="0">
                <a:solidFill>
                  <a:srgbClr val="21295C"/>
                </a:solidFill>
                <a:latin typeface="Arial"/>
              </a:rPr>
              <a:t> — не ликвидация, а согласованная с кредиторами процедура списания долга.</a:t>
            </a:r>
          </a:p>
        </p:txBody>
      </p:sp>
      <p:sp>
        <p:nvSpPr>
          <p:cNvPr id="25" name="Rounded Rectangle 24"/>
          <p:cNvSpPr/>
          <p:nvPr/>
        </p:nvSpPr>
        <p:spPr>
          <a:xfrm>
            <a:off x="7573975" y="1335024"/>
            <a:ext cx="4114800" cy="2834640"/>
          </a:xfrm>
          <a:prstGeom prst="roundRect">
            <a:avLst>
              <a:gd name="adj" fmla="val 10752"/>
            </a:avLst>
          </a:prstGeom>
          <a:solidFill>
            <a:srgbClr val="F4F7FA"/>
          </a:solidFill>
          <a:ln w="19050">
            <a:solidFill>
              <a:srgbClr val="1C7293"/>
            </a:solidFill>
          </a:ln>
          <a:effectLst/>
        </p:spPr>
        <p:txBody>
          <a:bodyPr rtlCol="0" anchor="ctr"/>
          <a:lstStyle/>
          <a:p>
            <a:pPr algn="ctr"/>
          </a:p>
        </p:txBody>
      </p:sp>
      <p:pic>
        <p:nvPicPr>
          <p:cNvPr id="26" name="Picture 25" descr="s58-nyse-facade-stock-exchange.jpg"/>
          <p:cNvPicPr>
            <a:picLocks noChangeAspect="1"/>
          </p:cNvPicPr>
          <p:nvPr/>
        </p:nvPicPr>
        <p:blipFill>
          <a:blip r:embed="rId2"/>
          <a:stretch>
            <a:fillRect/>
          </a:stretch>
        </p:blipFill>
        <p:spPr>
          <a:xfrm>
            <a:off x="7711135" y="1472184"/>
            <a:ext cx="3840480" cy="2560320"/>
          </a:xfrm>
          <a:prstGeom prst="rect">
            <a:avLst/>
          </a:prstGeom>
        </p:spPr>
      </p:pic>
      <p:sp>
        <p:nvSpPr>
          <p:cNvPr id="27" name="Rectangle 26"/>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8" name="TextBox 27"/>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ppc.land, 2026</a:t>
            </a:r>
            <a:r>
              <a:rPr sz="1200" b="0" i="1">
                <a:solidFill>
                  <a:srgbClr val="1C7293"/>
                </a:solidFill>
                <a:latin typeface="Arial"/>
              </a:rPr>
              <a:t> · </a:t>
            </a:r>
            <a:r>
              <a:rPr sz="1200" b="0" i="1" u="sng">
                <a:solidFill>
                  <a:srgbClr val="065A82"/>
                </a:solidFill>
                <a:latin typeface="Arial"/>
                <a:hlinkClick r:id="rId4"/>
              </a:rPr>
              <a:t>tipranks.com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Images: причины банкротства и цена ошибки</a:t>
            </a:r>
          </a:p>
        </p:txBody>
      </p:sp>
      <p:sp>
        <p:nvSpPr>
          <p:cNvPr id="4" name="Rounded Rectangle 3"/>
          <p:cNvSpPr/>
          <p:nvPr/>
        </p:nvSpPr>
        <p:spPr>
          <a:xfrm>
            <a:off x="502920" y="1335024"/>
            <a:ext cx="1777898" cy="2558640"/>
          </a:xfrm>
          <a:prstGeom prst="roundRect">
            <a:avLst>
              <a:gd name="adj" fmla="val 1714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5035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ДОЛГОВАЯ НАГРУЗКА</a:t>
            </a:r>
          </a:p>
        </p:txBody>
      </p:sp>
      <p:sp>
        <p:nvSpPr>
          <p:cNvPr id="6" name="TextBox 5"/>
          <p:cNvSpPr txBox="1"/>
          <p:nvPr/>
        </p:nvSpPr>
        <p:spPr>
          <a:xfrm>
            <a:off x="640080" y="1932846"/>
            <a:ext cx="150357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≈$2,1 млрд</a:t>
            </a:r>
          </a:p>
        </p:txBody>
      </p:sp>
      <p:sp>
        <p:nvSpPr>
          <p:cNvPr id="7" name="TextBox 6"/>
          <p:cNvSpPr txBox="1"/>
          <p:nvPr/>
        </p:nvSpPr>
        <p:spPr>
          <a:xfrm>
            <a:off x="640080" y="2750268"/>
            <a:ext cx="150357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названа компанией как фактор краха</a:t>
            </a:r>
          </a:p>
        </p:txBody>
      </p:sp>
      <p:sp>
        <p:nvSpPr>
          <p:cNvPr id="8" name="Rounded Rectangle 7"/>
          <p:cNvSpPr/>
          <p:nvPr/>
        </p:nvSpPr>
        <p:spPr>
          <a:xfrm>
            <a:off x="2445410" y="1335024"/>
            <a:ext cx="1777898" cy="2558640"/>
          </a:xfrm>
          <a:prstGeom prst="roundRect">
            <a:avLst>
              <a:gd name="adj" fmla="val 1714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82570" y="1472184"/>
            <a:ext cx="150357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ПОДПИСЧИКИ</a:t>
            </a:r>
          </a:p>
        </p:txBody>
      </p:sp>
      <p:sp>
        <p:nvSpPr>
          <p:cNvPr id="10" name="TextBox 9"/>
          <p:cNvSpPr txBox="1"/>
          <p:nvPr/>
        </p:nvSpPr>
        <p:spPr>
          <a:xfrm>
            <a:off x="2582570" y="1725375"/>
            <a:ext cx="150357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321 000 → 240 000</a:t>
            </a:r>
          </a:p>
        </p:txBody>
      </p:sp>
      <p:sp>
        <p:nvSpPr>
          <p:cNvPr id="11" name="TextBox 10"/>
          <p:cNvSpPr txBox="1"/>
          <p:nvPr/>
        </p:nvSpPr>
        <p:spPr>
          <a:xfrm>
            <a:off x="2582570" y="2542797"/>
            <a:ext cx="150357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−25% за один год, на фоне выручки −2,5%</a:t>
            </a:r>
          </a:p>
        </p:txBody>
      </p:sp>
      <p:sp>
        <p:nvSpPr>
          <p:cNvPr id="12" name="Rounded Rectangle 11"/>
          <p:cNvSpPr/>
          <p:nvPr/>
        </p:nvSpPr>
        <p:spPr>
          <a:xfrm>
            <a:off x="4387900" y="1335024"/>
            <a:ext cx="1777898" cy="2558640"/>
          </a:xfrm>
          <a:prstGeom prst="roundRect">
            <a:avLst>
              <a:gd name="adj" fmla="val 1714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525060" y="1472184"/>
            <a:ext cx="150357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КОНТРИБЬЮТОРЫ В СОГЛАШЕНИИ</a:t>
            </a:r>
          </a:p>
        </p:txBody>
      </p:sp>
      <p:sp>
        <p:nvSpPr>
          <p:cNvPr id="14" name="TextBox 13"/>
          <p:cNvSpPr txBox="1"/>
          <p:nvPr/>
        </p:nvSpPr>
        <p:spPr>
          <a:xfrm>
            <a:off x="4525060" y="1932846"/>
            <a:ext cx="1503578"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ни одного упоминания роялти</a:t>
            </a:r>
          </a:p>
        </p:txBody>
      </p:sp>
      <p:sp>
        <p:nvSpPr>
          <p:cNvPr id="15" name="TextBox 14"/>
          <p:cNvSpPr txBox="1"/>
          <p:nvPr/>
        </p:nvSpPr>
        <p:spPr>
          <a:xfrm>
            <a:off x="4525060" y="2911530"/>
            <a:ext cx="150357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необязывающая фраза-прогноз, не обещание</a:t>
            </a:r>
          </a:p>
        </p:txBody>
      </p:sp>
      <p:sp>
        <p:nvSpPr>
          <p:cNvPr id="16" name="Rounded Rectangle 15"/>
          <p:cNvSpPr/>
          <p:nvPr/>
        </p:nvSpPr>
        <p:spPr>
          <a:xfrm>
            <a:off x="374904" y="4902212"/>
            <a:ext cx="11441887" cy="1333995"/>
          </a:xfrm>
          <a:prstGeom prst="roundRect">
            <a:avLst>
              <a:gd name="adj" fmla="val 22848"/>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993652"/>
            <a:ext cx="11112703" cy="1242555"/>
          </a:xfrm>
          <a:prstGeom prst="rect">
            <a:avLst/>
          </a:prstGeom>
          <a:noFill/>
        </p:spPr>
        <p:txBody>
          <a:bodyPr wrap="square" lIns="0" rIns="0" tIns="0" bIns="0" anchor="t">
            <a:spAutoFit/>
          </a:bodyPr>
          <a:lstStyle/>
          <a:p>
            <a:pPr algn="l">
              <a:lnSpc>
                <a:spcPct val="126000"/>
              </a:lnSpc>
            </a:pPr>
            <a:r>
              <a:rPr sz="1150" b="1" i="0">
                <a:solidFill>
                  <a:srgbClr val="21295C"/>
                </a:solidFill>
                <a:latin typeface="Arial"/>
              </a:rPr>
              <a:t>Компания сама называет причины, не аналитик со стороны:</a:t>
            </a:r>
            <a:r>
              <a:rPr sz="1150" b="0" i="0">
                <a:solidFill>
                  <a:srgbClr val="21295C"/>
                </a:solidFill>
                <a:latin typeface="Arial"/>
              </a:rPr>
              <a:t> долг ≈$2,1 млрд · издержки несостоявшегося слияния · судебные издержки, включая тот же процесс Getty против Stability AI · и прямым текстом — </a:t>
            </a:r>
            <a:r>
              <a:rPr sz="1150" b="1" i="0">
                <a:solidFill>
                  <a:srgbClr val="21295C"/>
                </a:solidFill>
                <a:latin typeface="Arial"/>
              </a:rPr>
              <a:t>«растущее давление изображений, сгенерированных ИИ»</a:t>
            </a:r>
            <a:r>
              <a:rPr sz="1150" b="0" i="0">
                <a:solidFill>
                  <a:srgbClr val="21295C"/>
                </a:solidFill>
                <a:latin typeface="Arial"/>
              </a:rPr>
              <a:t>, один из нескольких факторов, не единственный.</a:t>
            </a:r>
          </a:p>
          <a:p>
            <a:pPr algn="l">
              <a:lnSpc>
                <a:spcPct val="126000"/>
              </a:lnSpc>
              <a:spcBef>
                <a:spcPts val="700"/>
              </a:spcBef>
            </a:pPr>
            <a:r>
              <a:rPr sz="1150" b="0" i="0">
                <a:solidFill>
                  <a:srgbClr val="21295C"/>
                </a:solidFill>
                <a:latin typeface="Arial"/>
              </a:rPr>
              <a:t/>
            </a:r>
            <a:r>
              <a:rPr sz="1150" b="1" i="0">
                <a:solidFill>
                  <a:srgbClr val="21295C"/>
                </a:solidFill>
                <a:latin typeface="Arial"/>
              </a:rPr>
              <a:t>Третий, самый тихий адресат цены.</a:t>
            </a:r>
            <a:r>
              <a:rPr sz="1150" b="0" i="0">
                <a:solidFill>
                  <a:srgbClr val="21295C"/>
                </a:solidFill>
                <a:latin typeface="Arial"/>
              </a:rPr>
              <a:t> Getty — посредник между десятками тысяч независимых фотографов и покупателями. В соглашении о реструктуризации нет отдельного класса кредиторов-контрибьюторов и ни единого упоминания роялти.</a:t>
            </a:r>
          </a:p>
        </p:txBody>
      </p:sp>
      <p:sp>
        <p:nvSpPr>
          <p:cNvPr id="18" name="Rounded Rectangle 17"/>
          <p:cNvSpPr/>
          <p:nvPr/>
        </p:nvSpPr>
        <p:spPr>
          <a:xfrm>
            <a:off x="6476695" y="1335024"/>
            <a:ext cx="5212080" cy="3567188"/>
          </a:xfrm>
          <a:prstGeom prst="roundRect">
            <a:avLst>
              <a:gd name="adj" fmla="val 8544"/>
            </a:avLst>
          </a:prstGeom>
          <a:solidFill>
            <a:srgbClr val="F4F7FA"/>
          </a:solidFill>
          <a:ln w="19050">
            <a:solidFill>
              <a:srgbClr val="1C7293"/>
            </a:solidFill>
          </a:ln>
          <a:effectLst/>
        </p:spPr>
        <p:txBody>
          <a:bodyPr rtlCol="0" anchor="ctr"/>
          <a:lstStyle/>
          <a:p>
            <a:pPr algn="ctr"/>
          </a:p>
        </p:txBody>
      </p:sp>
      <p:pic>
        <p:nvPicPr>
          <p:cNvPr id="19" name="Picture 18" descr="s59-bearish-stock-chart-decline.jpg"/>
          <p:cNvPicPr>
            <a:picLocks noChangeAspect="1"/>
          </p:cNvPicPr>
          <p:nvPr/>
        </p:nvPicPr>
        <p:blipFill>
          <a:blip r:embed="rId2"/>
          <a:stretch>
            <a:fillRect/>
          </a:stretch>
        </p:blipFill>
        <p:spPr>
          <a:xfrm>
            <a:off x="6613855" y="1472184"/>
            <a:ext cx="4937760" cy="3292868"/>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petapixel.com, 12.10.2026</a:t>
            </a:r>
            <a:r>
              <a:rPr sz="1200" b="0" i="1">
                <a:solidFill>
                  <a:srgbClr val="1C7293"/>
                </a:solidFill>
                <a:latin typeface="Arial"/>
              </a:rPr>
              <a:t> · </a:t>
            </a:r>
            <a:r>
              <a:rPr sz="1200" b="0" i="1">
                <a:solidFill>
                  <a:srgbClr val="1C7293"/>
                </a:solidFill>
                <a:latin typeface="Arial"/>
              </a:rPr>
              <a:t>globenewswire.com, 21.10.2026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Getty Images: самопоправка как метод</a:t>
            </a:r>
          </a:p>
        </p:txBody>
      </p:sp>
      <p:sp>
        <p:nvSpPr>
          <p:cNvPr id="4" name="Rounded Rectangle 3"/>
          <p:cNvSpPr/>
          <p:nvPr/>
        </p:nvSpPr>
        <p:spPr>
          <a:xfrm>
            <a:off x="502920" y="1335024"/>
            <a:ext cx="384642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МАЙ 2026</a:t>
            </a:r>
          </a:p>
        </p:txBody>
      </p:sp>
      <p:sp>
        <p:nvSpPr>
          <p:cNvPr id="6" name="TextBox 5"/>
          <p:cNvSpPr txBox="1"/>
          <p:nvPr/>
        </p:nvSpPr>
        <p:spPr>
          <a:xfrm>
            <a:off x="640080" y="1725375"/>
            <a:ext cx="357210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разумная защитная консолидация</a:t>
            </a:r>
          </a:p>
        </p:txBody>
      </p:sp>
      <p:sp>
        <p:nvSpPr>
          <p:cNvPr id="7" name="TextBox 6"/>
          <p:cNvSpPr txBox="1"/>
          <p:nvPr/>
        </p:nvSpPr>
        <p:spPr>
          <a:xfrm>
            <a:off x="640080" y="2542797"/>
            <a:ext cx="3572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укрупнение даёт переговорную силу против давления генерации</a:t>
            </a:r>
          </a:p>
        </p:txBody>
      </p:sp>
      <p:sp>
        <p:nvSpPr>
          <p:cNvPr id="8" name="Rounded Rectangle 7"/>
          <p:cNvSpPr/>
          <p:nvPr/>
        </p:nvSpPr>
        <p:spPr>
          <a:xfrm>
            <a:off x="4513935" y="1335024"/>
            <a:ext cx="3846423"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651095" y="1472184"/>
            <a:ext cx="3572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ОКТЯБРЬ 2026</a:t>
            </a:r>
          </a:p>
        </p:txBody>
      </p:sp>
      <p:sp>
        <p:nvSpPr>
          <p:cNvPr id="10" name="TextBox 9"/>
          <p:cNvSpPr txBox="1"/>
          <p:nvPr/>
        </p:nvSpPr>
        <p:spPr>
          <a:xfrm>
            <a:off x="4651095" y="1725375"/>
            <a:ext cx="3572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защита провалилась</a:t>
            </a:r>
          </a:p>
        </p:txBody>
      </p:sp>
      <p:sp>
        <p:nvSpPr>
          <p:cNvPr id="11" name="TextBox 10"/>
          <p:cNvSpPr txBox="1"/>
          <p:nvPr/>
        </p:nvSpPr>
        <p:spPr>
          <a:xfrm>
            <a:off x="4651095" y="2152374"/>
            <a:ext cx="357210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ИИ-давление — среди названных причин краха, не среди решений</a:t>
            </a:r>
          </a:p>
        </p:txBody>
      </p:sp>
      <p:sp>
        <p:nvSpPr>
          <p:cNvPr id="12" name="Rounded Rectangle 11"/>
          <p:cNvSpPr/>
          <p:nvPr/>
        </p:nvSpPr>
        <p:spPr>
          <a:xfrm>
            <a:off x="374904" y="3193884"/>
            <a:ext cx="8113471" cy="2739709"/>
          </a:xfrm>
          <a:prstGeom prst="roundRect">
            <a:avLst>
              <a:gd name="adj" fmla="val 1112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285324"/>
            <a:ext cx="7784287" cy="295088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Это не мелкая фактическая неточность, а смена всего прочтения кейса.</a:t>
            </a:r>
            <a:r>
              <a:rPr sz="1500" b="0" i="0">
                <a:solidFill>
                  <a:srgbClr val="21295C"/>
                </a:solidFill>
                <a:latin typeface="Arial"/>
              </a:rPr>
              <a:t> Готовность признать, что более раннее прочтение данных было ошибочным при появлении новых фактов, — форма дисциплины, а не слабость исследования.</a:t>
            </a:r>
          </a:p>
          <a:p>
            <a:pPr algn="l">
              <a:lnSpc>
                <a:spcPct val="126000"/>
              </a:lnSpc>
              <a:spcBef>
                <a:spcPts val="700"/>
              </a:spcBef>
            </a:pPr>
            <a:r>
              <a:rPr sz="1500" b="0" i="0">
                <a:solidFill>
                  <a:srgbClr val="21295C"/>
                </a:solidFill>
                <a:latin typeface="Arial"/>
              </a:rPr>
              <a:t/>
            </a:r>
            <a:r>
              <a:rPr sz="1500" b="1" i="0">
                <a:solidFill>
                  <a:srgbClr val="21295C"/>
                </a:solidFill>
                <a:latin typeface="Arial"/>
              </a:rPr>
              <a:t>Обобщаемый урок про защитную консолидацию.</a:t>
            </a:r>
            <a:r>
              <a:rPr sz="1500" b="0" i="0">
                <a:solidFill>
                  <a:srgbClr val="21295C"/>
                </a:solidFill>
                <a:latin typeface="Arial"/>
              </a:rPr>
              <a:t> Стратегия «объединиться с конкурентом против новой технологии» требует двух условий: регулятор одобрит объединение в том виде, который даёт заявленную силу, и времени на одобрение с интеграцией хватит прежде, чем давление успеет обесценить саму сделку. У Getty не выполнилось ни одно.</a:t>
            </a:r>
          </a:p>
        </p:txBody>
      </p:sp>
      <p:sp>
        <p:nvSpPr>
          <p:cNvPr id="14" name="Rounded Rectangle 13"/>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15" name="Picture 14" descr="s60-manuscript-red-pen-correction.jpg"/>
          <p:cNvPicPr>
            <a:picLocks noChangeAspect="1"/>
          </p:cNvPicPr>
          <p:nvPr/>
        </p:nvPicPr>
        <p:blipFill>
          <a:blip r:embed="rId2"/>
          <a:stretch>
            <a:fillRect/>
          </a:stretch>
        </p:blipFill>
        <p:spPr>
          <a:xfrm>
            <a:off x="8808415" y="1472184"/>
            <a:ext cx="2743200" cy="4114800"/>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переехало: три масштаба одной нагрузки</a:t>
            </a:r>
          </a:p>
        </p:txBody>
      </p:sp>
      <p:sp>
        <p:nvSpPr>
          <p:cNvPr id="4" name="Rounded Rectangle 3"/>
          <p:cNvSpPr/>
          <p:nvPr/>
        </p:nvSpPr>
        <p:spPr>
          <a:xfrm>
            <a:off x="502920"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ОДИН ЧЕЛОВЕК</a:t>
            </a:r>
          </a:p>
        </p:txBody>
      </p:sp>
      <p:sp>
        <p:nvSpPr>
          <p:cNvPr id="6" name="TextBox 5"/>
          <p:cNvSpPr txBox="1"/>
          <p:nvPr/>
        </p:nvSpPr>
        <p:spPr>
          <a:xfrm>
            <a:off x="640080" y="1725375"/>
            <a:ext cx="3344570"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Лада Чижова</a:t>
            </a:r>
          </a:p>
        </p:txBody>
      </p:sp>
      <p:sp>
        <p:nvSpPr>
          <p:cNvPr id="7" name="TextBox 6"/>
          <p:cNvSpPr txBox="1"/>
          <p:nvPr/>
        </p:nvSpPr>
        <p:spPr>
          <a:xfrm>
            <a:off x="640080" y="2152374"/>
            <a:ext cx="3344570"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доля ремесла в доходе — с почти всего до ≈30%</a:t>
            </a:r>
          </a:p>
        </p:txBody>
      </p:sp>
      <p:sp>
        <p:nvSpPr>
          <p:cNvPr id="8" name="Rounded Rectangle 7"/>
          <p:cNvSpPr/>
          <p:nvPr/>
        </p:nvSpPr>
        <p:spPr>
          <a:xfrm>
            <a:off x="4286402" y="1335024"/>
            <a:ext cx="3618890" cy="1556177"/>
          </a:xfrm>
          <a:prstGeom prst="roundRect">
            <a:avLst>
              <a:gd name="adj" fmla="val 19586"/>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4423562"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МАССА ФРИЛАНСЕРОВ</a:t>
            </a:r>
          </a:p>
        </p:txBody>
      </p:sp>
      <p:sp>
        <p:nvSpPr>
          <p:cNvPr id="10" name="TextBox 9"/>
          <p:cNvSpPr txBox="1"/>
          <p:nvPr/>
        </p:nvSpPr>
        <p:spPr>
          <a:xfrm>
            <a:off x="4423562" y="1725375"/>
            <a:ext cx="3344570"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Upwork, +403% кураторы Canva</a:t>
            </a:r>
          </a:p>
        </p:txBody>
      </p:sp>
      <p:sp>
        <p:nvSpPr>
          <p:cNvPr id="11" name="TextBox 10"/>
          <p:cNvSpPr txBox="1"/>
          <p:nvPr/>
        </p:nvSpPr>
        <p:spPr>
          <a:xfrm>
            <a:off x="4423562" y="2542797"/>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исполнитель тот же, задача изменилась</a:t>
            </a:r>
          </a:p>
        </p:txBody>
      </p:sp>
      <p:sp>
        <p:nvSpPr>
          <p:cNvPr id="12" name="Rounded Rectangle 11"/>
          <p:cNvSpPr/>
          <p:nvPr/>
        </p:nvSpPr>
        <p:spPr>
          <a:xfrm>
            <a:off x="8069884" y="1335024"/>
            <a:ext cx="3618890" cy="1556177"/>
          </a:xfrm>
          <a:prstGeom prst="roundRect">
            <a:avLst>
              <a:gd name="adj" fmla="val 19586"/>
            </a:avLst>
          </a:prstGeom>
          <a:solidFill>
            <a:srgbClr val="FFFFFF"/>
          </a:solidFill>
          <a:ln w="25400">
            <a:solidFill>
              <a:srgbClr val="F0AB00"/>
            </a:solidFill>
          </a:ln>
          <a:effectLst/>
        </p:spPr>
        <p:txBody>
          <a:bodyPr rtlCol="0" anchor="ctr"/>
          <a:lstStyle/>
          <a:p>
            <a:pPr algn="ctr"/>
          </a:p>
        </p:txBody>
      </p:sp>
      <p:sp>
        <p:nvSpPr>
          <p:cNvPr id="13" name="TextBox 12"/>
          <p:cNvSpPr txBox="1"/>
          <p:nvPr/>
        </p:nvSpPr>
        <p:spPr>
          <a:xfrm>
            <a:off x="8207044" y="1472184"/>
            <a:ext cx="3344570"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ЦЕЛАЯ КОМПАНИЯ</a:t>
            </a:r>
          </a:p>
        </p:txBody>
      </p:sp>
      <p:sp>
        <p:nvSpPr>
          <p:cNvPr id="14" name="TextBox 13"/>
          <p:cNvSpPr txBox="1"/>
          <p:nvPr/>
        </p:nvSpPr>
        <p:spPr>
          <a:xfrm>
            <a:off x="8207044" y="1725375"/>
            <a:ext cx="3344570"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Getty Images</a:t>
            </a:r>
          </a:p>
        </p:txBody>
      </p:sp>
      <p:sp>
        <p:nvSpPr>
          <p:cNvPr id="15" name="TextBox 14"/>
          <p:cNvSpPr txBox="1"/>
          <p:nvPr/>
        </p:nvSpPr>
        <p:spPr>
          <a:xfrm>
            <a:off x="8207044" y="2152374"/>
            <a:ext cx="3344570"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защита добавила риск, а не убрала его</a:t>
            </a:r>
          </a:p>
        </p:txBody>
      </p:sp>
      <p:sp>
        <p:nvSpPr>
          <p:cNvPr id="16" name="Rounded Rectangle 15"/>
          <p:cNvSpPr/>
          <p:nvPr/>
        </p:nvSpPr>
        <p:spPr>
          <a:xfrm>
            <a:off x="374904" y="2982641"/>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3074081"/>
            <a:ext cx="11112703" cy="316212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Исполнитель остался тем же человеком, но задача изменилась</a:t>
            </a:r>
            <a:r>
              <a:rPr sz="1500" b="0" i="0">
                <a:solidFill>
                  <a:srgbClr val="21295C"/>
                </a:solidFill>
                <a:latin typeface="Arial"/>
              </a:rPr>
              <a:t> — на уровне одного акта труда (куратор Canva) и на уровне структуры занятости (Чижова: доля ремесла в доходе). Два разных извода одной формы.</a:t>
            </a:r>
          </a:p>
          <a:p>
            <a:pPr algn="l">
              <a:lnSpc>
                <a:spcPct val="126000"/>
              </a:lnSpc>
              <a:spcBef>
                <a:spcPts val="700"/>
              </a:spcBef>
            </a:pPr>
            <a:r>
              <a:rPr sz="1500" b="0" i="0">
                <a:solidFill>
                  <a:srgbClr val="21295C"/>
                </a:solidFill>
                <a:latin typeface="Arial"/>
              </a:rPr>
              <a:t/>
            </a:r>
            <a:r>
              <a:rPr sz="1500" b="1" i="0">
                <a:solidFill>
                  <a:srgbClr val="21295C"/>
                </a:solidFill>
                <a:latin typeface="Arial"/>
              </a:rPr>
              <a:t>Нагрузка переехала и на уровне компании.</a:t>
            </a:r>
            <a:r>
              <a:rPr sz="1500" b="0" i="0">
                <a:solidFill>
                  <a:srgbClr val="21295C"/>
                </a:solidFill>
                <a:latin typeface="Arial"/>
              </a:rPr>
              <a:t> Getty Images приняла решение, которое по логике было ответом на дешёвую генерацию, — и оно добавило, а не убрало риск: издержки слияния, долг, банкротство.</a:t>
            </a:r>
          </a:p>
        </p:txBody>
      </p:sp>
      <p:sp>
        <p:nvSpPr>
          <p:cNvPr id="18" name="Rectangle 1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55448" cy="6858000"/>
          </a:xfrm>
          <a:prstGeom prst="rect">
            <a:avLst/>
          </a:prstGeom>
          <a:solidFill>
            <a:srgbClr val="065A82"/>
          </a:solidFill>
          <a:ln>
            <a:noFill/>
          </a:ln>
          <a:effectLst/>
        </p:spPr>
        <p:txBody>
          <a:bodyPr rtlCol="0" anchor="ctr"/>
          <a:lstStyle/>
          <a:p>
            <a:pPr algn="ctr"/>
          </a:p>
        </p:txBody>
      </p:sp>
      <p:sp>
        <p:nvSpPr>
          <p:cNvPr id="4" name="Rounded Rectangle 3"/>
          <p:cNvSpPr/>
          <p:nvPr/>
        </p:nvSpPr>
        <p:spPr>
          <a:xfrm>
            <a:off x="6812279" y="914400"/>
            <a:ext cx="4876495" cy="2863043"/>
          </a:xfrm>
          <a:prstGeom prst="roundRect">
            <a:avLst>
              <a:gd name="adj" fmla="val 10646"/>
            </a:avLst>
          </a:prstGeom>
          <a:solidFill>
            <a:srgbClr val="F4F7FA"/>
          </a:solidFill>
          <a:ln w="19050">
            <a:solidFill>
              <a:srgbClr val="1C7293"/>
            </a:solidFill>
          </a:ln>
          <a:effectLst/>
        </p:spPr>
        <p:txBody>
          <a:bodyPr rtlCol="0" anchor="ctr"/>
          <a:lstStyle/>
          <a:p>
            <a:pPr algn="ctr"/>
          </a:p>
        </p:txBody>
      </p:sp>
      <p:pic>
        <p:nvPicPr>
          <p:cNvPr id="5" name="Picture 4" descr="s62-checklist-hand-pen.jpg"/>
          <p:cNvPicPr>
            <a:picLocks noChangeAspect="1"/>
          </p:cNvPicPr>
          <p:nvPr/>
        </p:nvPicPr>
        <p:blipFill>
          <a:blip r:embed="rId2"/>
          <a:stretch>
            <a:fillRect/>
          </a:stretch>
        </p:blipFill>
        <p:spPr>
          <a:xfrm>
            <a:off x="6949440" y="1051560"/>
            <a:ext cx="4602175" cy="2588723"/>
          </a:xfrm>
          <a:prstGeom prst="rect">
            <a:avLst/>
          </a:prstGeom>
        </p:spPr>
      </p:pic>
      <p:sp>
        <p:nvSpPr>
          <p:cNvPr id="6" name="TextBox 5"/>
          <p:cNvSpPr txBox="1"/>
          <p:nvPr/>
        </p:nvSpPr>
        <p:spPr>
          <a:xfrm>
            <a:off x="704088" y="960120"/>
            <a:ext cx="5943600" cy="518678"/>
          </a:xfrm>
          <a:prstGeom prst="rect">
            <a:avLst/>
          </a:prstGeom>
          <a:noFill/>
        </p:spPr>
        <p:txBody>
          <a:bodyPr wrap="square" lIns="0" rIns="0" tIns="0" bIns="0" anchor="t">
            <a:spAutoFit/>
          </a:bodyPr>
          <a:lstStyle/>
          <a:p>
            <a:pPr algn="l">
              <a:lnSpc>
                <a:spcPct val="110000"/>
              </a:lnSpc>
            </a:pPr>
            <a:r>
              <a:rPr sz="3000" b="1" i="0">
                <a:solidFill>
                  <a:srgbClr val="21295C"/>
                </a:solidFill>
                <a:latin typeface="Arial"/>
              </a:rPr>
              <a:t>6. Сборка</a:t>
            </a:r>
          </a:p>
        </p:txBody>
      </p:sp>
      <p:sp>
        <p:nvSpPr>
          <p:cNvPr id="7" name="Rectangle 6"/>
          <p:cNvSpPr/>
          <p:nvPr/>
        </p:nvSpPr>
        <p:spPr>
          <a:xfrm>
            <a:off x="704088" y="1570238"/>
            <a:ext cx="1188720" cy="59436"/>
          </a:xfrm>
          <a:prstGeom prst="rect">
            <a:avLst/>
          </a:prstGeom>
          <a:solidFill>
            <a:srgbClr val="F0AB00"/>
          </a:solidFill>
          <a:ln>
            <a:noFill/>
          </a:ln>
          <a:effectLst/>
        </p:spPr>
        <p:txBody>
          <a:bodyPr rtlCol="0" anchor="ctr"/>
          <a:lstStyle/>
          <a:p>
            <a:pPr algn="ctr"/>
          </a:p>
        </p:txBody>
      </p:sp>
      <p:sp>
        <p:nvSpPr>
          <p:cNvPr id="8" name="TextBox 7"/>
          <p:cNvSpPr txBox="1"/>
          <p:nvPr/>
        </p:nvSpPr>
        <p:spPr>
          <a:xfrm>
            <a:off x="704088" y="1844558"/>
            <a:ext cx="5742432" cy="1244938"/>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Пять разделов прошли путь одного артефакта от замысла до рынка труда, который его окружает. Этот раздел не добавляет нового кейса — он складывает материал так, чтобы из суммы читалось то, чего не видно в отдельном случае.</a:t>
            </a:r>
          </a:p>
        </p:txBody>
      </p:sp>
      <p:sp>
        <p:nvSpPr>
          <p:cNvPr id="9" name="TextBox 8"/>
          <p:cNvSpPr txBox="1"/>
          <p:nvPr/>
        </p:nvSpPr>
        <p:spPr>
          <a:xfrm>
            <a:off x="704088" y="3217513"/>
            <a:ext cx="5742432" cy="2151211"/>
          </a:xfrm>
          <a:prstGeom prst="rect">
            <a:avLst/>
          </a:prstGeom>
          <a:noFill/>
        </p:spPr>
        <p:txBody>
          <a:bodyPr wrap="square" lIns="0" rIns="0" tIns="0" bIns="0" anchor="t">
            <a:spAutoFit/>
          </a:bodyPr>
          <a:lstStyle/>
          <a:p>
            <a:pPr algn="l">
              <a:lnSpc>
                <a:spcPct val="124000"/>
              </a:lnSpc>
            </a:pPr>
            <a:r>
              <a:rPr sz="1550" b="0" i="0">
                <a:solidFill>
                  <a:srgbClr val="21295C"/>
                </a:solidFill>
                <a:latin typeface="Arial"/>
              </a:rPr>
              <a:t>1. </a:t>
            </a:r>
            <a:r>
              <a:rPr sz="1550" b="1" i="0">
                <a:solidFill>
                  <a:srgbClr val="21295C"/>
                </a:solidFill>
                <a:latin typeface="Arial"/>
              </a:rPr>
              <a:t>Четыре критерия отказа</a:t>
            </a:r>
            <a:r>
              <a:rPr sz="1550" b="0" i="0">
                <a:solidFill>
                  <a:srgbClr val="21295C"/>
                </a:solidFill>
                <a:latin typeface="Arial"/>
              </a:rPr>
              <a:t> — проверяемый ответ на вопрос «где ИИ не нужен» 2. </a:t>
            </a:r>
            <a:r>
              <a:rPr sz="1550" b="1" i="0">
                <a:solidFill>
                  <a:srgbClr val="21295C"/>
                </a:solidFill>
                <a:latin typeface="Arial"/>
              </a:rPr>
              <a:t>Чек-лист Лады Чижовой</a:t>
            </a:r>
            <a:r>
              <a:rPr sz="1550" b="0" i="0">
                <a:solidFill>
                  <a:srgbClr val="21295C"/>
                </a:solidFill>
                <a:latin typeface="Arial"/>
              </a:rPr>
              <a:t> — что проверка ловит, а что — нет 3. </a:t>
            </a:r>
            <a:r>
              <a:rPr sz="1550" b="1" i="0">
                <a:solidFill>
                  <a:srgbClr val="21295C"/>
                </a:solidFill>
                <a:latin typeface="Arial"/>
              </a:rPr>
              <a:t>Три формы</a:t>
            </a:r>
            <a:r>
              <a:rPr sz="1550" b="0" i="0">
                <a:solidFill>
                  <a:srgbClr val="21295C"/>
                </a:solidFill>
                <a:latin typeface="Arial"/>
              </a:rPr>
              <a:t> переехавшей нагрузки, и одна из них — своя для этой лекции 4. </a:t>
            </a:r>
            <a:r>
              <a:rPr sz="1550" b="1" i="0">
                <a:solidFill>
                  <a:srgbClr val="21295C"/>
                </a:solidFill>
                <a:latin typeface="Arial"/>
              </a:rPr>
              <a:t>Кто платит — поимённо.</a:t>
            </a:r>
            <a:r>
              <a:rPr sz="1550" b="0" i="0">
                <a:solidFill>
                  <a:srgbClr val="21295C"/>
                </a:solidFill>
                <a:latin typeface="Arial"/>
              </a:rPr>
              <a:t> Ответ на вопрос лекции 5. </a:t>
            </a:r>
            <a:r>
              <a:rPr sz="1550" b="1" i="0">
                <a:solidFill>
                  <a:srgbClr val="21295C"/>
                </a:solidFill>
                <a:latin typeface="Arial"/>
              </a:rPr>
              <a:t>Счёт сквозной линии</a:t>
            </a:r>
            <a:r>
              <a:rPr sz="1550" b="0" i="0">
                <a:solidFill>
                  <a:srgbClr val="21295C"/>
                </a:solidFill>
                <a:latin typeface="Arial"/>
              </a:rPr>
              <a:t> — три-четыре порядка, без округления в свою пользу</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Критерии отказа I–II: лицензия и сходство</a:t>
            </a:r>
          </a:p>
        </p:txBody>
      </p:sp>
      <p:sp>
        <p:nvSpPr>
          <p:cNvPr id="4" name="Rounded Rectangle 3"/>
          <p:cNvSpPr/>
          <p:nvPr/>
        </p:nvSpPr>
        <p:spPr>
          <a:xfrm>
            <a:off x="502920" y="1335024"/>
            <a:ext cx="2703423" cy="1799484"/>
          </a:xfrm>
          <a:prstGeom prst="roundRect">
            <a:avLst>
              <a:gd name="adj" fmla="val 1693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1. ЛИЦЕНЗИЯ НЕЯСНА</a:t>
            </a:r>
          </a:p>
        </p:txBody>
      </p:sp>
      <p:sp>
        <p:nvSpPr>
          <p:cNvPr id="6" name="TextBox 5"/>
          <p:cNvSpPr txBox="1"/>
          <p:nvPr/>
        </p:nvSpPr>
        <p:spPr>
          <a:xfrm>
            <a:off x="640080" y="1725375"/>
            <a:ext cx="2429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 брать</a:t>
            </a:r>
          </a:p>
        </p:txBody>
      </p:sp>
      <p:sp>
        <p:nvSpPr>
          <p:cNvPr id="7" name="TextBox 6"/>
          <p:cNvSpPr txBox="1"/>
          <p:nvPr/>
        </p:nvSpPr>
        <p:spPr>
          <a:xfrm>
            <a:off x="640080" y="2152374"/>
            <a:ext cx="242910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v Stability — единственный вердикт; NYT и RIAA-кластер открыты, отрасль расколота settled/sue</a:t>
            </a:r>
          </a:p>
        </p:txBody>
      </p:sp>
      <p:sp>
        <p:nvSpPr>
          <p:cNvPr id="8" name="Rounded Rectangle 7"/>
          <p:cNvSpPr/>
          <p:nvPr/>
        </p:nvSpPr>
        <p:spPr>
          <a:xfrm>
            <a:off x="3370935" y="1335024"/>
            <a:ext cx="2703423" cy="1799484"/>
          </a:xfrm>
          <a:prstGeom prst="roundRect">
            <a:avLst>
              <a:gd name="adj" fmla="val 1693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2. УЗНАВАЕМОЕ СХОДСТВО</a:t>
            </a:r>
          </a:p>
        </p:txBody>
      </p:sp>
      <p:sp>
        <p:nvSpPr>
          <p:cNvPr id="10" name="TextBox 9"/>
          <p:cNvSpPr txBox="1"/>
          <p:nvPr/>
        </p:nvSpPr>
        <p:spPr>
          <a:xfrm>
            <a:off x="3508095" y="1725375"/>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брать</a:t>
            </a:r>
          </a:p>
        </p:txBody>
      </p:sp>
      <p:sp>
        <p:nvSpPr>
          <p:cNvPr id="11" name="TextBox 10"/>
          <p:cNvSpPr txBox="1"/>
          <p:nvPr/>
        </p:nvSpPr>
        <p:spPr>
          <a:xfrm>
            <a:off x="3508095" y="2152374"/>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независимо от исхода суда — репутационный риск сам по себе (Coca-Cola/System1, Раздел 3)</a:t>
            </a:r>
          </a:p>
        </p:txBody>
      </p:sp>
      <p:sp>
        <p:nvSpPr>
          <p:cNvPr id="12" name="Rounded Rectangle 11"/>
          <p:cNvSpPr/>
          <p:nvPr/>
        </p:nvSpPr>
        <p:spPr>
          <a:xfrm>
            <a:off x="374904" y="3225948"/>
            <a:ext cx="5827471" cy="3010259"/>
          </a:xfrm>
          <a:prstGeom prst="roundRect">
            <a:avLst>
              <a:gd name="adj" fmla="val 1012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17388"/>
            <a:ext cx="5498287" cy="2918819"/>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Критерий 1. Лицензионный статус обучающих данных неясен — не брать.</a:t>
            </a:r>
            <a:r>
              <a:rPr sz="1200" b="0" i="0">
                <a:solidFill>
                  <a:srgbClr val="21295C"/>
                </a:solidFill>
                <a:latin typeface="Arial"/>
              </a:rPr>
              <a:t> Если неизвестно, на каком основании обучена модель и в какой юрисдикции решится вопрос, — использование означает принятие неопределённого юридического риска.</a:t>
            </a:r>
          </a:p>
          <a:p>
            <a:pPr algn="l">
              <a:lnSpc>
                <a:spcPct val="126000"/>
              </a:lnSpc>
              <a:spcBef>
                <a:spcPts val="700"/>
              </a:spcBef>
            </a:pPr>
            <a:r>
              <a:rPr sz="1200" b="0" i="0">
                <a:solidFill>
                  <a:srgbClr val="21295C"/>
                </a:solidFill>
                <a:latin typeface="Arial"/>
              </a:rPr>
              <a:t/>
            </a:r>
            <a:r>
              <a:rPr sz="1200" b="1" i="0">
                <a:solidFill>
                  <a:srgbClr val="21295C"/>
                </a:solidFill>
                <a:latin typeface="Arial"/>
              </a:rPr>
              <a:t>Проверка перед стартом проекта:</a:t>
            </a:r>
            <a:r>
              <a:rPr sz="1200" b="0" i="0">
                <a:solidFill>
                  <a:srgbClr val="21295C"/>
                </a:solidFill>
                <a:latin typeface="Arial"/>
              </a:rPr>
              <a:t> документация о происхождении обучающего корпуса · пункт о распределении ответственности за претензии третьих лиц в договоре с вендором · юрисдикция возможного спора.</a:t>
            </a:r>
          </a:p>
          <a:p>
            <a:pPr algn="l">
              <a:lnSpc>
                <a:spcPct val="126000"/>
              </a:lnSpc>
              <a:spcBef>
                <a:spcPts val="700"/>
              </a:spcBef>
            </a:pPr>
            <a:r>
              <a:rPr sz="1200" b="0" i="0">
                <a:solidFill>
                  <a:srgbClr val="21295C"/>
                </a:solidFill>
                <a:latin typeface="Arial"/>
              </a:rPr>
              <a:t/>
            </a:r>
            <a:r>
              <a:rPr sz="1200" b="1" i="0">
                <a:solidFill>
                  <a:srgbClr val="21295C"/>
                </a:solidFill>
                <a:latin typeface="Arial"/>
              </a:rPr>
              <a:t>Критерий 2. Результат узнаваемо похож на работу конкретного правообладателя — не брать.</a:t>
            </a:r>
            <a:r>
              <a:rPr sz="1200" b="0" i="0">
                <a:solidFill>
                  <a:srgbClr val="21295C"/>
                </a:solidFill>
                <a:latin typeface="Arial"/>
              </a:rPr>
              <a:t> Применяется независимо от того, решён ли иск в суде: узнаваемое сходство — не только юридический, но и репутационный риск.</a:t>
            </a:r>
          </a:p>
        </p:txBody>
      </p:sp>
      <p:sp>
        <p:nvSpPr>
          <p:cNvPr id="14" name="Rounded Rectangle 13"/>
          <p:cNvSpPr/>
          <p:nvPr/>
        </p:nvSpPr>
        <p:spPr>
          <a:xfrm>
            <a:off x="6385255" y="1335024"/>
            <a:ext cx="5303520" cy="3627119"/>
          </a:xfrm>
          <a:prstGeom prst="roundRect">
            <a:avLst>
              <a:gd name="adj" fmla="val 8403"/>
            </a:avLst>
          </a:prstGeom>
          <a:solidFill>
            <a:srgbClr val="F4F7FA"/>
          </a:solidFill>
          <a:ln w="19050">
            <a:solidFill>
              <a:srgbClr val="1C7293"/>
            </a:solidFill>
          </a:ln>
          <a:effectLst/>
        </p:spPr>
        <p:txBody>
          <a:bodyPr rtlCol="0" anchor="ctr"/>
          <a:lstStyle/>
          <a:p>
            <a:pPr algn="ctr"/>
          </a:p>
        </p:txBody>
      </p:sp>
      <p:pic>
        <p:nvPicPr>
          <p:cNvPr id="15" name="Picture 14" descr="s44-royal-courts-of-justice.jpg"/>
          <p:cNvPicPr>
            <a:picLocks noChangeAspect="1"/>
          </p:cNvPicPr>
          <p:nvPr/>
        </p:nvPicPr>
        <p:blipFill>
          <a:blip r:embed="rId2"/>
          <a:stretch>
            <a:fillRect/>
          </a:stretch>
        </p:blipFill>
        <p:spPr>
          <a:xfrm>
            <a:off x="6522415" y="1472184"/>
            <a:ext cx="5029200" cy="3352800"/>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Критерии отказа III–IV: согласие и доверие к бренду</a:t>
            </a:r>
          </a:p>
        </p:txBody>
      </p:sp>
      <p:sp>
        <p:nvSpPr>
          <p:cNvPr id="4" name="Rounded Rectangle 3"/>
          <p:cNvSpPr/>
          <p:nvPr/>
        </p:nvSpPr>
        <p:spPr>
          <a:xfrm>
            <a:off x="502920" y="1335024"/>
            <a:ext cx="2703423" cy="1795712"/>
          </a:xfrm>
          <a:prstGeom prst="roundRect">
            <a:avLst>
              <a:gd name="adj" fmla="val 16973"/>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2429103"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3. СОГЛАСИЕ НА ГОЛОС/ВНЕШНОСТЬ</a:t>
            </a:r>
          </a:p>
        </p:txBody>
      </p:sp>
      <p:sp>
        <p:nvSpPr>
          <p:cNvPr id="6" name="TextBox 5"/>
          <p:cNvSpPr txBox="1"/>
          <p:nvPr/>
        </p:nvSpPr>
        <p:spPr>
          <a:xfrm>
            <a:off x="640080" y="1932846"/>
            <a:ext cx="2429103"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не брать</a:t>
            </a:r>
          </a:p>
        </p:txBody>
      </p:sp>
      <p:sp>
        <p:nvSpPr>
          <p:cNvPr id="7" name="TextBox 6"/>
          <p:cNvSpPr txBox="1"/>
          <p:nvPr/>
        </p:nvSpPr>
        <p:spPr>
          <a:xfrm>
            <a:off x="640080" y="2359845"/>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KnowBe4, ячейка Nisos: 170 000+ заявок, 76 офферов, 22 оператора за 9 месяцев</a:t>
            </a:r>
          </a:p>
        </p:txBody>
      </p:sp>
      <p:sp>
        <p:nvSpPr>
          <p:cNvPr id="8" name="Rounded Rectangle 7"/>
          <p:cNvSpPr/>
          <p:nvPr/>
        </p:nvSpPr>
        <p:spPr>
          <a:xfrm>
            <a:off x="3370935" y="1335024"/>
            <a:ext cx="2703423" cy="1795712"/>
          </a:xfrm>
          <a:prstGeom prst="roundRect">
            <a:avLst>
              <a:gd name="adj" fmla="val 16973"/>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3508095" y="1472184"/>
            <a:ext cx="242910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4. РИСК БРЕНДУ &gt; ВЫГОДЫ</a:t>
            </a:r>
          </a:p>
        </p:txBody>
      </p:sp>
      <p:sp>
        <p:nvSpPr>
          <p:cNvPr id="10" name="TextBox 9"/>
          <p:cNvSpPr txBox="1"/>
          <p:nvPr/>
        </p:nvSpPr>
        <p:spPr>
          <a:xfrm>
            <a:off x="3508095" y="1725375"/>
            <a:ext cx="2429103"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не брать</a:t>
            </a:r>
          </a:p>
        </p:txBody>
      </p:sp>
      <p:sp>
        <p:nvSpPr>
          <p:cNvPr id="11" name="TextBox 10"/>
          <p:cNvSpPr txBox="1"/>
          <p:nvPr/>
        </p:nvSpPr>
        <p:spPr>
          <a:xfrm>
            <a:off x="3508095" y="2152374"/>
            <a:ext cx="242910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System1 (5,9 из 5,9) против CARMA (негатив 13,5% → 53,4%) на той же рекламе</a:t>
            </a:r>
          </a:p>
        </p:txBody>
      </p:sp>
      <p:sp>
        <p:nvSpPr>
          <p:cNvPr id="12" name="Rounded Rectangle 11"/>
          <p:cNvSpPr/>
          <p:nvPr/>
        </p:nvSpPr>
        <p:spPr>
          <a:xfrm>
            <a:off x="374904" y="3222176"/>
            <a:ext cx="5827471" cy="3014031"/>
          </a:xfrm>
          <a:prstGeom prst="roundRect">
            <a:avLst>
              <a:gd name="adj" fmla="val 10112"/>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539496" y="3313616"/>
            <a:ext cx="5498287" cy="2922591"/>
          </a:xfrm>
          <a:prstGeom prst="rect">
            <a:avLst/>
          </a:prstGeom>
          <a:noFill/>
        </p:spPr>
        <p:txBody>
          <a:bodyPr wrap="square" lIns="0" rIns="0" tIns="0" bIns="0" anchor="t">
            <a:spAutoFit/>
          </a:bodyPr>
          <a:lstStyle/>
          <a:p>
            <a:pPr algn="l">
              <a:lnSpc>
                <a:spcPct val="126000"/>
              </a:lnSpc>
            </a:pPr>
            <a:r>
              <a:rPr sz="1250" b="1" i="0">
                <a:solidFill>
                  <a:srgbClr val="21295C"/>
                </a:solidFill>
                <a:latin typeface="Arial"/>
              </a:rPr>
              <a:t>Критерий 3. Голос или внешность используются без явного согласия — не брать.</a:t>
            </a:r>
            <a:r>
              <a:rPr sz="1250" b="0" i="0">
                <a:solidFill>
                  <a:srgbClr val="21295C"/>
                </a:solidFill>
                <a:latin typeface="Arial"/>
              </a:rPr>
              <a:t> Согласие на озвучку ролика не покрывает автоматически синтез новых реплик, которые человек никогда не произносил.</a:t>
            </a:r>
          </a:p>
          <a:p>
            <a:pPr algn="l">
              <a:lnSpc>
                <a:spcPct val="126000"/>
              </a:lnSpc>
              <a:spcBef>
                <a:spcPts val="700"/>
              </a:spcBef>
            </a:pPr>
            <a:r>
              <a:rPr sz="1250" b="0" i="0">
                <a:solidFill>
                  <a:srgbClr val="21295C"/>
                </a:solidFill>
                <a:latin typeface="Arial"/>
              </a:rPr>
              <a:t/>
            </a:r>
            <a:r>
              <a:rPr sz="1250" b="1" i="0">
                <a:solidFill>
                  <a:srgbClr val="21295C"/>
                </a:solidFill>
                <a:latin typeface="Arial"/>
              </a:rPr>
              <a:t>Критерий 4. Риск для доверия к бренду превышает экономическую выгоду — не брать.</a:t>
            </a:r>
            <a:r>
              <a:rPr sz="1250" b="0" i="0">
                <a:solidFill>
                  <a:srgbClr val="21295C"/>
                </a:solidFill>
                <a:latin typeface="Arial"/>
              </a:rPr>
              <a:t> Не «никогда не используй ИИ в рекламе», а «не полагайся на контролируемое предрелизное тестирование как на единственное доказательство безопасности бренд-риска».</a:t>
            </a:r>
          </a:p>
          <a:p>
            <a:pPr algn="l">
              <a:lnSpc>
                <a:spcPct val="126000"/>
              </a:lnSpc>
              <a:spcBef>
                <a:spcPts val="700"/>
              </a:spcBef>
            </a:pPr>
            <a:r>
              <a:rPr sz="1250" b="0" i="0">
                <a:solidFill>
                  <a:srgbClr val="21295C"/>
                </a:solidFill>
                <a:latin typeface="Arial"/>
              </a:rPr>
              <a:t/>
            </a:r>
            <a:r>
              <a:rPr sz="1250" b="1" i="0">
                <a:solidFill>
                  <a:srgbClr val="21295C"/>
                </a:solidFill>
                <a:latin typeface="Arial"/>
              </a:rPr>
              <a:t>Как применять:</a:t>
            </a:r>
            <a:r>
              <a:rPr sz="1250" b="0" i="0">
                <a:solidFill>
                  <a:srgbClr val="21295C"/>
                </a:solidFill>
                <a:latin typeface="Arial"/>
              </a:rPr>
              <a:t> не единая формула «прошёл все четыре — можно брать», а последовательность стоп-сигналов — каждый из них достаточен сам по себе для отказа.</a:t>
            </a:r>
          </a:p>
        </p:txBody>
      </p:sp>
      <p:sp>
        <p:nvSpPr>
          <p:cNvPr id="14" name="Rounded Rectangle 13"/>
          <p:cNvSpPr/>
          <p:nvPr/>
        </p:nvSpPr>
        <p:spPr>
          <a:xfrm>
            <a:off x="6385255" y="1335024"/>
            <a:ext cx="5303520" cy="3631310"/>
          </a:xfrm>
          <a:prstGeom prst="roundRect">
            <a:avLst>
              <a:gd name="adj" fmla="val 8393"/>
            </a:avLst>
          </a:prstGeom>
          <a:solidFill>
            <a:srgbClr val="F4F7FA"/>
          </a:solidFill>
          <a:ln w="19050">
            <a:solidFill>
              <a:srgbClr val="1C7293"/>
            </a:solidFill>
          </a:ln>
          <a:effectLst/>
        </p:spPr>
        <p:txBody>
          <a:bodyPr rtlCol="0" anchor="ctr"/>
          <a:lstStyle/>
          <a:p>
            <a:pPr algn="ctr"/>
          </a:p>
        </p:txBody>
      </p:sp>
      <p:pic>
        <p:nvPicPr>
          <p:cNvPr id="15" name="Picture 14" descr="s69-video-interview-hr-application-form.jpg"/>
          <p:cNvPicPr>
            <a:picLocks noChangeAspect="1"/>
          </p:cNvPicPr>
          <p:nvPr/>
        </p:nvPicPr>
        <p:blipFill>
          <a:blip r:embed="rId2"/>
          <a:stretch>
            <a:fillRect/>
          </a:stretch>
        </p:blipFill>
        <p:spPr>
          <a:xfrm>
            <a:off x="6522415" y="1472184"/>
            <a:ext cx="5029200" cy="3356990"/>
          </a:xfrm>
          <a:prstGeom prst="rect">
            <a:avLst/>
          </a:prstGeom>
        </p:spPr>
      </p:pic>
      <p:sp>
        <p:nvSpPr>
          <p:cNvPr id="16" name="Rectangle 1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Как применять чек-лист: последовательность стоп-сигналов</a:t>
            </a:r>
          </a:p>
        </p:txBody>
      </p:sp>
      <p:sp>
        <p:nvSpPr>
          <p:cNvPr id="4" name="TextBox 3"/>
          <p:cNvSpPr txBox="1"/>
          <p:nvPr/>
        </p:nvSpPr>
        <p:spPr>
          <a:xfrm>
            <a:off x="502920" y="1371600"/>
            <a:ext cx="1307592" cy="639889"/>
          </a:xfrm>
          <a:prstGeom prst="rect">
            <a:avLst/>
          </a:prstGeom>
          <a:noFill/>
        </p:spPr>
        <p:txBody>
          <a:bodyPr wrap="square" lIns="0" rIns="0" tIns="0" bIns="0" anchor="ctr">
            <a:spAutoFit/>
          </a:bodyPr>
          <a:lstStyle/>
          <a:p>
            <a:pPr algn="l">
              <a:lnSpc>
                <a:spcPct val="110000"/>
              </a:lnSpc>
            </a:pPr>
            <a:r>
              <a:rPr sz="1200" b="1" i="0">
                <a:solidFill>
                  <a:srgbClr val="065A82"/>
                </a:solidFill>
                <a:latin typeface="Arial"/>
              </a:rPr>
              <a:t>Шаг</a:t>
            </a:r>
          </a:p>
        </p:txBody>
      </p:sp>
      <p:sp>
        <p:nvSpPr>
          <p:cNvPr id="5" name="Rounded Rectangle 4"/>
          <p:cNvSpPr/>
          <p:nvPr/>
        </p:nvSpPr>
        <p:spPr>
          <a:xfrm>
            <a:off x="1920240"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6" name="TextBox 5"/>
          <p:cNvSpPr txBox="1"/>
          <p:nvPr/>
        </p:nvSpPr>
        <p:spPr>
          <a:xfrm>
            <a:off x="2002536"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① лицензия корпуса ясна?</a:t>
            </a:r>
          </a:p>
        </p:txBody>
      </p:sp>
      <p:sp>
        <p:nvSpPr>
          <p:cNvPr id="7" name="Right Arrow 6"/>
          <p:cNvSpPr/>
          <p:nvPr/>
        </p:nvSpPr>
        <p:spPr>
          <a:xfrm>
            <a:off x="4202353" y="1622964"/>
            <a:ext cx="182880" cy="137160"/>
          </a:xfrm>
          <a:prstGeom prst="rightArrow">
            <a:avLst/>
          </a:prstGeom>
          <a:solidFill>
            <a:srgbClr val="1C7293"/>
          </a:solidFill>
          <a:ln>
            <a:noFill/>
          </a:ln>
          <a:effectLst/>
        </p:spPr>
        <p:txBody>
          <a:bodyPr rtlCol="0" anchor="ctr"/>
          <a:lstStyle/>
          <a:p>
            <a:pPr algn="ctr"/>
          </a:p>
        </p:txBody>
      </p:sp>
      <p:sp>
        <p:nvSpPr>
          <p:cNvPr id="8" name="Rounded Rectangle 7"/>
          <p:cNvSpPr/>
          <p:nvPr/>
        </p:nvSpPr>
        <p:spPr>
          <a:xfrm>
            <a:off x="4430953"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9" name="TextBox 8"/>
          <p:cNvSpPr txBox="1"/>
          <p:nvPr/>
        </p:nvSpPr>
        <p:spPr>
          <a:xfrm>
            <a:off x="4513249"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② сходство со стилем проверено?</a:t>
            </a:r>
          </a:p>
        </p:txBody>
      </p:sp>
      <p:sp>
        <p:nvSpPr>
          <p:cNvPr id="10" name="Right Arrow 9"/>
          <p:cNvSpPr/>
          <p:nvPr/>
        </p:nvSpPr>
        <p:spPr>
          <a:xfrm>
            <a:off x="6713067" y="1622964"/>
            <a:ext cx="182880" cy="137160"/>
          </a:xfrm>
          <a:prstGeom prst="rightArrow">
            <a:avLst/>
          </a:prstGeom>
          <a:solidFill>
            <a:srgbClr val="1C7293"/>
          </a:solidFill>
          <a:ln>
            <a:noFill/>
          </a:ln>
          <a:effectLst/>
        </p:spPr>
        <p:txBody>
          <a:bodyPr rtlCol="0" anchor="ctr"/>
          <a:lstStyle/>
          <a:p>
            <a:pPr algn="ctr"/>
          </a:p>
        </p:txBody>
      </p:sp>
      <p:sp>
        <p:nvSpPr>
          <p:cNvPr id="11" name="Rounded Rectangle 10"/>
          <p:cNvSpPr/>
          <p:nvPr/>
        </p:nvSpPr>
        <p:spPr>
          <a:xfrm>
            <a:off x="6941667"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2" name="TextBox 11"/>
          <p:cNvSpPr txBox="1"/>
          <p:nvPr/>
        </p:nvSpPr>
        <p:spPr>
          <a:xfrm>
            <a:off x="7023963"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③ голос/внешность — согласие есть?</a:t>
            </a:r>
          </a:p>
        </p:txBody>
      </p:sp>
      <p:sp>
        <p:nvSpPr>
          <p:cNvPr id="13" name="Right Arrow 12"/>
          <p:cNvSpPr/>
          <p:nvPr/>
        </p:nvSpPr>
        <p:spPr>
          <a:xfrm>
            <a:off x="9223781" y="1622964"/>
            <a:ext cx="182880" cy="137160"/>
          </a:xfrm>
          <a:prstGeom prst="rightArrow">
            <a:avLst/>
          </a:prstGeom>
          <a:solidFill>
            <a:srgbClr val="1C7293"/>
          </a:solidFill>
          <a:ln>
            <a:noFill/>
          </a:ln>
          <a:effectLst/>
        </p:spPr>
        <p:txBody>
          <a:bodyPr rtlCol="0" anchor="ctr"/>
          <a:lstStyle/>
          <a:p>
            <a:pPr algn="ctr"/>
          </a:p>
        </p:txBody>
      </p:sp>
      <p:sp>
        <p:nvSpPr>
          <p:cNvPr id="14" name="Rounded Rectangle 13"/>
          <p:cNvSpPr/>
          <p:nvPr/>
        </p:nvSpPr>
        <p:spPr>
          <a:xfrm>
            <a:off x="9452381" y="1335024"/>
            <a:ext cx="2236393" cy="713041"/>
          </a:xfrm>
          <a:prstGeom prst="roundRect">
            <a:avLst>
              <a:gd name="adj" fmla="val 25000"/>
            </a:avLst>
          </a:prstGeom>
          <a:solidFill>
            <a:srgbClr val="F4F7FA"/>
          </a:solidFill>
          <a:ln w="16510">
            <a:solidFill>
              <a:srgbClr val="1C7293"/>
            </a:solidFill>
          </a:ln>
          <a:effectLst/>
        </p:spPr>
        <p:txBody>
          <a:bodyPr rtlCol="0" anchor="ctr"/>
          <a:lstStyle/>
          <a:p>
            <a:pPr algn="ctr"/>
          </a:p>
        </p:txBody>
      </p:sp>
      <p:sp>
        <p:nvSpPr>
          <p:cNvPr id="15" name="TextBox 14"/>
          <p:cNvSpPr txBox="1"/>
          <p:nvPr/>
        </p:nvSpPr>
        <p:spPr>
          <a:xfrm>
            <a:off x="9534677" y="1380744"/>
            <a:ext cx="2071801" cy="621601"/>
          </a:xfrm>
          <a:prstGeom prst="rect">
            <a:avLst/>
          </a:prstGeom>
          <a:noFill/>
        </p:spPr>
        <p:txBody>
          <a:bodyPr wrap="square" lIns="0" rIns="0" tIns="0" bIns="0" anchor="ctr">
            <a:spAutoFit/>
          </a:bodyPr>
          <a:lstStyle/>
          <a:p>
            <a:pPr algn="ctr">
              <a:lnSpc>
                <a:spcPct val="112000"/>
              </a:lnSpc>
            </a:pPr>
            <a:r>
              <a:rPr sz="1350" b="0" i="0">
                <a:solidFill>
                  <a:srgbClr val="21295C"/>
                </a:solidFill>
                <a:latin typeface="Arial"/>
              </a:rPr>
              <a:t>④ открытый тест бренд-риска пройден?</a:t>
            </a:r>
          </a:p>
        </p:txBody>
      </p:sp>
      <p:sp>
        <p:nvSpPr>
          <p:cNvPr id="16" name="TextBox 15"/>
          <p:cNvSpPr txBox="1"/>
          <p:nvPr/>
        </p:nvSpPr>
        <p:spPr>
          <a:xfrm>
            <a:off x="502920" y="2084641"/>
            <a:ext cx="11185855"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агентство рассматривает генеративную модель для серии рекламных изображений — порядок проверки</a:t>
            </a:r>
          </a:p>
        </p:txBody>
      </p:sp>
      <p:sp>
        <p:nvSpPr>
          <p:cNvPr id="17" name="Rounded Rectangle 16"/>
          <p:cNvSpPr/>
          <p:nvPr/>
        </p:nvSpPr>
        <p:spPr>
          <a:xfrm>
            <a:off x="374904" y="2387325"/>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18" name="TextBox 17"/>
          <p:cNvSpPr txBox="1"/>
          <p:nvPr/>
        </p:nvSpPr>
        <p:spPr>
          <a:xfrm>
            <a:off x="539496" y="2478765"/>
            <a:ext cx="11112703" cy="3757442"/>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Порядок несущий: от дешёвой проверки к дорогой.</a:t>
            </a:r>
            <a:r>
              <a:rPr sz="1500" b="0" i="0">
                <a:solidFill>
                  <a:srgbClr val="21295C"/>
                </a:solidFill>
                <a:latin typeface="Arial"/>
              </a:rPr>
              <a:t> Более дешёвые по усилию шаги — лицензия, сходство — идут раньше более дорогого — открытого тестирования. Это экономит ресурсы там, где отказ можно принять рано, не доходя до самого затратного шага.</a:t>
            </a:r>
          </a:p>
          <a:p>
            <a:pPr algn="l">
              <a:lnSpc>
                <a:spcPct val="126000"/>
              </a:lnSpc>
              <a:spcBef>
                <a:spcPts val="700"/>
              </a:spcBef>
            </a:pPr>
            <a:r>
              <a:rPr sz="1500" b="0" i="0">
                <a:solidFill>
                  <a:srgbClr val="21295C"/>
                </a:solidFill>
                <a:latin typeface="Arial"/>
              </a:rPr>
              <a:t/>
            </a:r>
            <a:r>
              <a:rPr sz="1500" b="1" i="0">
                <a:solidFill>
                  <a:srgbClr val="21295C"/>
                </a:solidFill>
                <a:latin typeface="Arial"/>
              </a:rPr>
              <a:t>Отсутствие ответа на любом шаге уже основание для паузы</a:t>
            </a:r>
            <a:r>
              <a:rPr sz="1500" b="0" i="0">
                <a:solidFill>
                  <a:srgbClr val="21295C"/>
                </a:solidFill>
                <a:latin typeface="Arial"/>
              </a:rPr>
              <a:t> — даже если остальные три выглядят благополучно.</a:t>
            </a:r>
          </a:p>
        </p:txBody>
      </p:sp>
      <p:sp>
        <p:nvSpPr>
          <p:cNvPr id="19" name="Rectangle 18"/>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Чек-лист Лады Чижовой: формально пройден, а заказ потерян</a:t>
            </a:r>
          </a:p>
        </p:txBody>
      </p:sp>
      <p:sp>
        <p:nvSpPr>
          <p:cNvPr id="4" name="Rounded Rectangle 3"/>
          <p:cNvSpPr/>
          <p:nvPr/>
        </p:nvSpPr>
        <p:spPr>
          <a:xfrm>
            <a:off x="502920" y="1335024"/>
            <a:ext cx="5437479" cy="3108960"/>
          </a:xfrm>
          <a:prstGeom prst="roundRect">
            <a:avLst>
              <a:gd name="adj" fmla="val 9803"/>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667512" y="1490472"/>
            <a:ext cx="5108295"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Чек-лист ловит</a:t>
            </a:r>
          </a:p>
        </p:txBody>
      </p:sp>
      <p:sp>
        <p:nvSpPr>
          <p:cNvPr id="6" name="TextBox 5"/>
          <p:cNvSpPr txBox="1"/>
          <p:nvPr/>
        </p:nvSpPr>
        <p:spPr>
          <a:xfrm>
            <a:off x="667512" y="1846650"/>
            <a:ext cx="5108295" cy="24418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лицензия не раскрыта вендором — критерий 1 не пройден, пауза</a:t>
            </a:r>
          </a:p>
          <a:p>
            <a:pPr algn="l">
              <a:lnSpc>
                <a:spcPct val="126000"/>
              </a:lnSpc>
            </a:pPr>
            <a:r>
              <a:rPr sz="1450" b="0" i="0">
                <a:solidFill>
                  <a:srgbClr val="21295C"/>
                </a:solidFill>
                <a:latin typeface="Arial"/>
              </a:rPr>
              <a:t>• результат узнаваемо копирует её стиль — критерий 2 не пройден, отказ</a:t>
            </a:r>
          </a:p>
          <a:p>
            <a:pPr algn="l">
              <a:lnSpc>
                <a:spcPct val="126000"/>
              </a:lnSpc>
            </a:pPr>
            <a:r>
              <a:rPr sz="1450" b="0" i="0">
                <a:solidFill>
                  <a:srgbClr val="21295C"/>
                </a:solidFill>
                <a:latin typeface="Arial"/>
              </a:rPr>
              <a:t>• синтез её голоса или лица без согласия — критерий 3 не пройден, отказ</a:t>
            </a:r>
          </a:p>
          <a:p>
            <a:pPr algn="l">
              <a:lnSpc>
                <a:spcPct val="126000"/>
              </a:lnSpc>
            </a:pPr>
            <a:r>
              <a:rPr sz="1450" b="0" i="0">
                <a:solidFill>
                  <a:srgbClr val="21295C"/>
                </a:solidFill>
                <a:latin typeface="Arial"/>
              </a:rPr>
              <a:t>• бренд публично выдаёт генерацию за её ручную работу — критерий 4 не пройден</a:t>
            </a:r>
          </a:p>
        </p:txBody>
      </p:sp>
      <p:sp>
        <p:nvSpPr>
          <p:cNvPr id="7" name="Rounded Rectangle 6"/>
          <p:cNvSpPr/>
          <p:nvPr/>
        </p:nvSpPr>
        <p:spPr>
          <a:xfrm>
            <a:off x="6251295" y="1335024"/>
            <a:ext cx="5437479" cy="3108960"/>
          </a:xfrm>
          <a:prstGeom prst="roundRect">
            <a:avLst>
              <a:gd name="adj" fmla="val 9803"/>
            </a:avLst>
          </a:prstGeom>
          <a:solidFill>
            <a:srgbClr val="FFFFFF"/>
          </a:solidFill>
          <a:ln w="19050">
            <a:solidFill>
              <a:srgbClr val="028090"/>
            </a:solidFill>
          </a:ln>
          <a:effectLst/>
        </p:spPr>
        <p:txBody>
          <a:bodyPr rtlCol="0" anchor="ctr"/>
          <a:lstStyle/>
          <a:p>
            <a:pPr algn="ctr"/>
          </a:p>
        </p:txBody>
      </p:sp>
      <p:sp>
        <p:nvSpPr>
          <p:cNvPr id="8" name="TextBox 7"/>
          <p:cNvSpPr txBox="1"/>
          <p:nvPr/>
        </p:nvSpPr>
        <p:spPr>
          <a:xfrm>
            <a:off x="6415887" y="1490472"/>
            <a:ext cx="5108295" cy="246450"/>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Чек-лист не ловит</a:t>
            </a:r>
          </a:p>
        </p:txBody>
      </p:sp>
      <p:sp>
        <p:nvSpPr>
          <p:cNvPr id="9" name="TextBox 8"/>
          <p:cNvSpPr txBox="1"/>
          <p:nvPr/>
        </p:nvSpPr>
        <p:spPr>
          <a:xfrm>
            <a:off x="6415887" y="1846650"/>
            <a:ext cx="5108295" cy="2441885"/>
          </a:xfrm>
          <a:prstGeom prst="rect">
            <a:avLst/>
          </a:prstGeom>
          <a:noFill/>
        </p:spPr>
        <p:txBody>
          <a:bodyPr wrap="square" lIns="0" rIns="0" tIns="0" bIns="0" anchor="t">
            <a:spAutoFit/>
          </a:bodyPr>
          <a:lstStyle/>
          <a:p>
            <a:pPr algn="l">
              <a:lnSpc>
                <a:spcPct val="126000"/>
              </a:lnSpc>
            </a:pPr>
            <a:r>
              <a:rPr sz="1450" b="0" i="0">
                <a:solidFill>
                  <a:srgbClr val="21295C"/>
                </a:solidFill>
                <a:latin typeface="Arial"/>
              </a:rPr>
              <a:t>• заказчик просто перестаёт её нанимать — ни один критерий не задет</a:t>
            </a:r>
          </a:p>
          <a:p>
            <a:pPr algn="l">
              <a:lnSpc>
                <a:spcPct val="126000"/>
              </a:lnSpc>
            </a:pPr>
            <a:r>
              <a:rPr sz="1450" b="0" i="0">
                <a:solidFill>
                  <a:srgbClr val="21295C"/>
                </a:solidFill>
                <a:latin typeface="Arial"/>
              </a:rPr>
              <a:t>• стиль намеренно обобщён, не копирует её почерк — формально разрешено</a:t>
            </a:r>
          </a:p>
          <a:p>
            <a:pPr algn="l">
              <a:lnSpc>
                <a:spcPct val="126000"/>
              </a:lnSpc>
            </a:pPr>
            <a:r>
              <a:rPr sz="1450" b="0" i="0">
                <a:solidFill>
                  <a:srgbClr val="21295C"/>
                </a:solidFill>
                <a:latin typeface="Arial"/>
              </a:rPr>
              <a:t>• голос и внешность не используются вовсе — неприменимо</a:t>
            </a:r>
          </a:p>
          <a:p>
            <a:pPr algn="l">
              <a:lnSpc>
                <a:spcPct val="126000"/>
              </a:lnSpc>
            </a:pPr>
            <a:r>
              <a:rPr sz="1450" b="0" i="0">
                <a:solidFill>
                  <a:srgbClr val="21295C"/>
                </a:solidFill>
                <a:latin typeface="Arial"/>
              </a:rPr>
              <a:t>• материал внутренний, бренд-риск для соцсетей малого бизнеса минимален</a:t>
            </a:r>
          </a:p>
        </p:txBody>
      </p:sp>
      <p:sp>
        <p:nvSpPr>
          <p:cNvPr id="10" name="Rounded Rectangle 9"/>
          <p:cNvSpPr/>
          <p:nvPr/>
        </p:nvSpPr>
        <p:spPr>
          <a:xfrm>
            <a:off x="374904" y="4535424"/>
            <a:ext cx="11441887" cy="1551464"/>
          </a:xfrm>
          <a:prstGeom prst="roundRect">
            <a:avLst>
              <a:gd name="adj" fmla="val 19645"/>
            </a:avLst>
          </a:prstGeom>
          <a:solidFill>
            <a:srgbClr val="F4F7FA"/>
          </a:solidFill>
          <a:ln w="19050">
            <a:solidFill>
              <a:srgbClr val="1C7293"/>
            </a:solidFill>
          </a:ln>
          <a:effectLst/>
        </p:spPr>
        <p:txBody>
          <a:bodyPr rtlCol="0" anchor="ctr"/>
          <a:lstStyle/>
          <a:p>
            <a:pPr algn="ctr"/>
          </a:p>
        </p:txBody>
      </p:sp>
      <p:sp>
        <p:nvSpPr>
          <p:cNvPr id="11" name="TextBox 10"/>
          <p:cNvSpPr txBox="1"/>
          <p:nvPr/>
        </p:nvSpPr>
        <p:spPr>
          <a:xfrm>
            <a:off x="539496" y="4626864"/>
            <a:ext cx="11112703" cy="160934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Четыре критерия читаются и со стороны малого заказчика,</a:t>
            </a:r>
            <a:r>
              <a:rPr sz="1500" b="0" i="0">
                <a:solidFill>
                  <a:srgbClr val="21295C"/>
                </a:solidFill>
                <a:latin typeface="Arial"/>
              </a:rPr>
              <a:t> который раньше нанимал фрилансера, а теперь генерирует материал сам, — а не только со стороны агентства, выбирающего поставщика.</a:t>
            </a:r>
          </a:p>
          <a:p>
            <a:pPr algn="l">
              <a:lnSpc>
                <a:spcPct val="126000"/>
              </a:lnSpc>
              <a:spcBef>
                <a:spcPts val="700"/>
              </a:spcBef>
            </a:pPr>
            <a:r>
              <a:rPr sz="1500" b="0" i="0">
                <a:solidFill>
                  <a:srgbClr val="21295C"/>
                </a:solidFill>
                <a:latin typeface="Arial"/>
              </a:rPr>
              <a:t/>
            </a:r>
            <a:r>
              <a:rPr sz="1500" b="1" i="0">
                <a:solidFill>
                  <a:srgbClr val="21295C"/>
                </a:solidFill>
                <a:latin typeface="Arial"/>
              </a:rPr>
              <a:t>Вытеснение Чижовой не нарушает ни один из четырёх критериев отказа.</a:t>
            </a:r>
            <a:r>
              <a:rPr sz="1500" b="0" i="0">
                <a:solidFill>
                  <a:srgbClr val="21295C"/>
                </a:solidFill>
                <a:latin typeface="Arial"/>
              </a:rPr>
              <a:t> Чек-лист отвечает на вопрос «законно ли и узнаваемо ли это», а не на вопрос «что происходит с человеком, который раньше получал этот заказ».</a:t>
            </a:r>
          </a:p>
        </p:txBody>
      </p:sp>
      <p:sp>
        <p:nvSpPr>
          <p:cNvPr id="12" name="Rectangle 11"/>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13" name="TextBox 12"/>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ladachizhova.substack.com, 2026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Форма: нагрузка переехала — на зрителя, закон, рынок</a:t>
            </a:r>
          </a:p>
        </p:txBody>
      </p:sp>
      <p:sp>
        <p:nvSpPr>
          <p:cNvPr id="4" name="Rounded Rectangle 3"/>
          <p:cNvSpPr/>
          <p:nvPr/>
        </p:nvSpPr>
        <p:spPr>
          <a:xfrm>
            <a:off x="502920" y="1335024"/>
            <a:ext cx="1747418" cy="222197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ЗРИТЕЛЯ</a:t>
            </a:r>
          </a:p>
        </p:txBody>
      </p:sp>
      <p:sp>
        <p:nvSpPr>
          <p:cNvPr id="6" name="TextBox 5"/>
          <p:cNvSpPr txBox="1"/>
          <p:nvPr/>
        </p:nvSpPr>
        <p:spPr>
          <a:xfrm>
            <a:off x="640080" y="1725375"/>
            <a:ext cx="14730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Раздел 3</a:t>
            </a:r>
          </a:p>
        </p:txBody>
      </p:sp>
      <p:sp>
        <p:nvSpPr>
          <p:cNvPr id="7" name="TextBox 6"/>
          <p:cNvSpPr txBox="1"/>
          <p:nvPr/>
        </p:nvSpPr>
        <p:spPr>
          <a:xfrm>
            <a:off x="640080" y="2152374"/>
            <a:ext cx="1473098"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решение «можно ли доверять» — раньше у редактора, теперь у каждого в момент просмотра</a:t>
            </a:r>
          </a:p>
        </p:txBody>
      </p:sp>
      <p:sp>
        <p:nvSpPr>
          <p:cNvPr id="8" name="Rounded Rectangle 7"/>
          <p:cNvSpPr/>
          <p:nvPr/>
        </p:nvSpPr>
        <p:spPr>
          <a:xfrm>
            <a:off x="2414930" y="1335024"/>
            <a:ext cx="1747418" cy="2221971"/>
          </a:xfrm>
          <a:prstGeom prst="roundRect">
            <a:avLst>
              <a:gd name="adj" fmla="val 17442"/>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55209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ЗАКОН</a:t>
            </a:r>
          </a:p>
        </p:txBody>
      </p:sp>
      <p:sp>
        <p:nvSpPr>
          <p:cNvPr id="10" name="TextBox 9"/>
          <p:cNvSpPr txBox="1"/>
          <p:nvPr/>
        </p:nvSpPr>
        <p:spPr>
          <a:xfrm>
            <a:off x="2552090" y="1725375"/>
            <a:ext cx="1473098" cy="426999"/>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Раздел 4</a:t>
            </a:r>
          </a:p>
        </p:txBody>
      </p:sp>
      <p:sp>
        <p:nvSpPr>
          <p:cNvPr id="11" name="TextBox 10"/>
          <p:cNvSpPr txBox="1"/>
          <p:nvPr/>
        </p:nvSpPr>
        <p:spPr>
          <a:xfrm>
            <a:off x="2552090" y="2152374"/>
            <a:ext cx="14730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один вердикт (UK), один без вердикта (NYT), один расколот settled/sue (RIAA)</a:t>
            </a:r>
          </a:p>
        </p:txBody>
      </p:sp>
      <p:sp>
        <p:nvSpPr>
          <p:cNvPr id="12" name="Rounded Rectangle 11"/>
          <p:cNvSpPr/>
          <p:nvPr/>
        </p:nvSpPr>
        <p:spPr>
          <a:xfrm>
            <a:off x="4326940" y="1335024"/>
            <a:ext cx="1747418" cy="2221971"/>
          </a:xfrm>
          <a:prstGeom prst="roundRect">
            <a:avLst>
              <a:gd name="adj" fmla="val 17442"/>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464100" y="1472184"/>
            <a:ext cx="14730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НА РЫНОК ТРУДА</a:t>
            </a:r>
          </a:p>
        </p:txBody>
      </p:sp>
      <p:sp>
        <p:nvSpPr>
          <p:cNvPr id="14" name="TextBox 13"/>
          <p:cNvSpPr txBox="1"/>
          <p:nvPr/>
        </p:nvSpPr>
        <p:spPr>
          <a:xfrm>
            <a:off x="4464100" y="1725375"/>
            <a:ext cx="1473098" cy="426999"/>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Раздел 5</a:t>
            </a:r>
          </a:p>
        </p:txBody>
      </p:sp>
      <p:sp>
        <p:nvSpPr>
          <p:cNvPr id="15" name="TextBox 14"/>
          <p:cNvSpPr txBox="1"/>
          <p:nvPr/>
        </p:nvSpPr>
        <p:spPr>
          <a:xfrm>
            <a:off x="4464100" y="2152374"/>
            <a:ext cx="1473098"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цена определяется платформенным спросом на курирование, не переговорами по заказу</a:t>
            </a:r>
          </a:p>
        </p:txBody>
      </p:sp>
      <p:sp>
        <p:nvSpPr>
          <p:cNvPr id="16" name="Rounded Rectangle 15"/>
          <p:cNvSpPr/>
          <p:nvPr/>
        </p:nvSpPr>
        <p:spPr>
          <a:xfrm>
            <a:off x="374904" y="4963191"/>
            <a:ext cx="11441887" cy="1273016"/>
          </a:xfrm>
          <a:prstGeom prst="roundRect">
            <a:avLst>
              <a:gd name="adj" fmla="val 23943"/>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5054631"/>
            <a:ext cx="11112703" cy="1181576"/>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Пять разделов лекции показывали один и тот же механизм</a:t>
            </a:r>
            <a:r>
              <a:rPr sz="1500" b="0" i="0">
                <a:solidFill>
                  <a:srgbClr val="21295C"/>
                </a:solidFill>
                <a:latin typeface="Arial"/>
              </a:rPr>
              <a:t> на производстве, редакционной проверке, зрительском приёме, лицензировании и рынке труда. Важно различать формы именно потому, что следующие лекции курса назовут похожие, но не тождественные формы на другом материале.</a:t>
            </a:r>
          </a:p>
        </p:txBody>
      </p:sp>
      <p:sp>
        <p:nvSpPr>
          <p:cNvPr id="18" name="Rounded Rectangle 17"/>
          <p:cNvSpPr/>
          <p:nvPr/>
        </p:nvSpPr>
        <p:spPr>
          <a:xfrm>
            <a:off x="6385255" y="1335024"/>
            <a:ext cx="5303520" cy="3628167"/>
          </a:xfrm>
          <a:prstGeom prst="roundRect">
            <a:avLst>
              <a:gd name="adj" fmla="val 8400"/>
            </a:avLst>
          </a:prstGeom>
          <a:solidFill>
            <a:srgbClr val="F4F7FA"/>
          </a:solidFill>
          <a:ln w="19050">
            <a:solidFill>
              <a:srgbClr val="1C7293"/>
            </a:solidFill>
          </a:ln>
          <a:effectLst/>
        </p:spPr>
        <p:txBody>
          <a:bodyPr rtlCol="0" anchor="ctr"/>
          <a:lstStyle/>
          <a:p>
            <a:pPr algn="ctr"/>
          </a:p>
        </p:txBody>
      </p:sp>
      <p:pic>
        <p:nvPicPr>
          <p:cNvPr id="19" name="Picture 18" descr="s22-factcheck-magnifying-glass-document.jpg"/>
          <p:cNvPicPr>
            <a:picLocks noChangeAspect="1"/>
          </p:cNvPicPr>
          <p:nvPr/>
        </p:nvPicPr>
        <p:blipFill>
          <a:blip r:embed="rId2"/>
          <a:stretch>
            <a:fillRect/>
          </a:stretch>
        </p:blipFill>
        <p:spPr>
          <a:xfrm>
            <a:off x="6522415" y="1472184"/>
            <a:ext cx="5029200" cy="3353847"/>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Форма: тот же человек, новая задача — и новый шаг</a:t>
            </a:r>
          </a:p>
        </p:txBody>
      </p:sp>
      <p:sp>
        <p:nvSpPr>
          <p:cNvPr id="4" name="Rounded Rectangle 3"/>
          <p:cNvSpPr/>
          <p:nvPr/>
        </p:nvSpPr>
        <p:spPr>
          <a:xfrm>
            <a:off x="502920" y="1335024"/>
            <a:ext cx="1899818" cy="2227629"/>
          </a:xfrm>
          <a:prstGeom prst="roundRect">
            <a:avLst>
              <a:gd name="adj" fmla="val 1604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6254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ИЗВОД 1: ЗАДАЧА ВНУТРИ РЕМЕСЛА</a:t>
            </a:r>
          </a:p>
        </p:txBody>
      </p:sp>
      <p:sp>
        <p:nvSpPr>
          <p:cNvPr id="6" name="TextBox 5"/>
          <p:cNvSpPr txBox="1"/>
          <p:nvPr/>
        </p:nvSpPr>
        <p:spPr>
          <a:xfrm>
            <a:off x="640080" y="1932846"/>
            <a:ext cx="1625498" cy="664648"/>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куратор Canva, +403%</a:t>
            </a:r>
          </a:p>
        </p:txBody>
      </p:sp>
      <p:sp>
        <p:nvSpPr>
          <p:cNvPr id="7" name="TextBox 6"/>
          <p:cNvSpPr txBox="1"/>
          <p:nvPr/>
        </p:nvSpPr>
        <p:spPr>
          <a:xfrm>
            <a:off x="640080" y="2597494"/>
            <a:ext cx="162549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было «рисовать», стало «настраивать и отбирать»</a:t>
            </a:r>
          </a:p>
        </p:txBody>
      </p:sp>
      <p:sp>
        <p:nvSpPr>
          <p:cNvPr id="8" name="Rounded Rectangle 7"/>
          <p:cNvSpPr/>
          <p:nvPr/>
        </p:nvSpPr>
        <p:spPr>
          <a:xfrm>
            <a:off x="2567330" y="1335024"/>
            <a:ext cx="1899818" cy="2227629"/>
          </a:xfrm>
          <a:prstGeom prst="roundRect">
            <a:avLst>
              <a:gd name="adj" fmla="val 1604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704490" y="1472184"/>
            <a:ext cx="162549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ИЗВОД 2: ДОЛЯ РЕМЕСЛА В ДОХОДЕ</a:t>
            </a:r>
          </a:p>
        </p:txBody>
      </p:sp>
      <p:sp>
        <p:nvSpPr>
          <p:cNvPr id="10" name="TextBox 9"/>
          <p:cNvSpPr txBox="1"/>
          <p:nvPr/>
        </p:nvSpPr>
        <p:spPr>
          <a:xfrm>
            <a:off x="2704490" y="1932846"/>
            <a:ext cx="1625498" cy="647673"/>
          </a:xfrm>
          <a:prstGeom prst="rect">
            <a:avLst/>
          </a:prstGeom>
          <a:noFill/>
        </p:spPr>
        <p:txBody>
          <a:bodyPr wrap="square" lIns="0" rIns="0" tIns="0" bIns="0" anchor="t">
            <a:spAutoFit/>
          </a:bodyPr>
          <a:lstStyle/>
          <a:p>
            <a:pPr algn="l">
              <a:lnSpc>
                <a:spcPct val="108000"/>
              </a:lnSpc>
            </a:pPr>
            <a:r>
              <a:rPr sz="1800" b="1" i="0">
                <a:solidFill>
                  <a:srgbClr val="1C7293"/>
                </a:solidFill>
                <a:latin typeface="Arial"/>
              </a:rPr>
              <a:t>Чижова, ≈30% занятости</a:t>
            </a:r>
          </a:p>
        </p:txBody>
      </p:sp>
      <p:sp>
        <p:nvSpPr>
          <p:cNvPr id="11" name="TextBox 10"/>
          <p:cNvSpPr txBox="1"/>
          <p:nvPr/>
        </p:nvSpPr>
        <p:spPr>
          <a:xfrm>
            <a:off x="2704490" y="2580519"/>
            <a:ext cx="1625498"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само действие не изменилось — изменилась его доля в структуре дохода</a:t>
            </a:r>
          </a:p>
        </p:txBody>
      </p:sp>
      <p:sp>
        <p:nvSpPr>
          <p:cNvPr id="12" name="Rounded Rectangle 11"/>
          <p:cNvSpPr/>
          <p:nvPr/>
        </p:nvSpPr>
        <p:spPr>
          <a:xfrm>
            <a:off x="4631740" y="1335024"/>
            <a:ext cx="1899818" cy="2227629"/>
          </a:xfrm>
          <a:prstGeom prst="roundRect">
            <a:avLst>
              <a:gd name="adj" fmla="val 1604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768900" y="1472184"/>
            <a:ext cx="1625498"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НОВЫЙ ШАГ</a:t>
            </a:r>
          </a:p>
        </p:txBody>
      </p:sp>
      <p:sp>
        <p:nvSpPr>
          <p:cNvPr id="14" name="TextBox 13"/>
          <p:cNvSpPr txBox="1"/>
          <p:nvPr/>
        </p:nvSpPr>
        <p:spPr>
          <a:xfrm>
            <a:off x="4768900" y="1725375"/>
            <a:ext cx="1625498" cy="443974"/>
          </a:xfrm>
          <a:prstGeom prst="rect">
            <a:avLst/>
          </a:prstGeom>
          <a:noFill/>
        </p:spPr>
        <p:txBody>
          <a:bodyPr wrap="square" lIns="0" rIns="0" tIns="0" bIns="0" anchor="t">
            <a:spAutoFit/>
          </a:bodyPr>
          <a:lstStyle/>
          <a:p>
            <a:pPr algn="l">
              <a:lnSpc>
                <a:spcPct val="108000"/>
              </a:lnSpc>
            </a:pPr>
            <a:r>
              <a:rPr sz="1200" b="1" i="0">
                <a:solidFill>
                  <a:srgbClr val="21295C"/>
                </a:solidFill>
                <a:latin typeface="Arial"/>
              </a:rPr>
              <a:t>промпт-инжиниринг, +329% видео</a:t>
            </a:r>
          </a:p>
        </p:txBody>
      </p:sp>
      <p:sp>
        <p:nvSpPr>
          <p:cNvPr id="15" name="TextBox 14"/>
          <p:cNvSpPr txBox="1"/>
          <p:nvPr/>
        </p:nvSpPr>
        <p:spPr>
          <a:xfrm>
            <a:off x="4768900" y="2169349"/>
            <a:ext cx="1625498"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не замена шага, а добавление — промежуточный результат, которого раньше не было</a:t>
            </a:r>
          </a:p>
        </p:txBody>
      </p:sp>
      <p:sp>
        <p:nvSpPr>
          <p:cNvPr id="16" name="Rounded Rectangle 15"/>
          <p:cNvSpPr/>
          <p:nvPr/>
        </p:nvSpPr>
        <p:spPr>
          <a:xfrm>
            <a:off x="374904" y="4661154"/>
            <a:ext cx="11441887" cy="1575054"/>
          </a:xfrm>
          <a:prstGeom prst="roundRect">
            <a:avLst>
              <a:gd name="adj" fmla="val 1935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752594"/>
            <a:ext cx="11112703" cy="148361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Студенту, встретившему в материале следующих лекций фразу «профессия трансформировалась, а не исчезла», стоит спрашивать именно об этом различии:</a:t>
            </a:r>
            <a:r>
              <a:rPr sz="1500" b="0" i="0">
                <a:solidFill>
                  <a:srgbClr val="21295C"/>
                </a:solidFill>
                <a:latin typeface="Arial"/>
              </a:rPr>
              <a:t> что изменилось — сама задача внутри ремесла, или доля этого ремесла в доходе исполнителя при неизменной задаче?</a:t>
            </a:r>
          </a:p>
        </p:txBody>
      </p:sp>
      <p:sp>
        <p:nvSpPr>
          <p:cNvPr id="18" name="Rounded Rectangle 17"/>
          <p:cNvSpPr/>
          <p:nvPr/>
        </p:nvSpPr>
        <p:spPr>
          <a:xfrm>
            <a:off x="6842455" y="1335024"/>
            <a:ext cx="4846320" cy="3326129"/>
          </a:xfrm>
          <a:prstGeom prst="roundRect">
            <a:avLst>
              <a:gd name="adj" fmla="val 9163"/>
            </a:avLst>
          </a:prstGeom>
          <a:solidFill>
            <a:srgbClr val="F4F7FA"/>
          </a:solidFill>
          <a:ln w="19050">
            <a:solidFill>
              <a:srgbClr val="1C7293"/>
            </a:solidFill>
          </a:ln>
          <a:effectLst/>
        </p:spPr>
        <p:txBody>
          <a:bodyPr rtlCol="0" anchor="ctr"/>
          <a:lstStyle/>
          <a:p>
            <a:pPr algn="ctr"/>
          </a:p>
        </p:txBody>
      </p:sp>
      <p:pic>
        <p:nvPicPr>
          <p:cNvPr id="19" name="Picture 18" descr="s68-pencil-and-tablet-same-desk.jpg"/>
          <p:cNvPicPr>
            <a:picLocks noChangeAspect="1"/>
          </p:cNvPicPr>
          <p:nvPr/>
        </p:nvPicPr>
        <p:blipFill>
          <a:blip r:embed="rId2"/>
          <a:stretch>
            <a:fillRect/>
          </a:stretch>
        </p:blipFill>
        <p:spPr>
          <a:xfrm>
            <a:off x="6979615" y="1472184"/>
            <a:ext cx="4572000" cy="305181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Подделываемое узнавание: собственная форма лекции</a:t>
            </a:r>
          </a:p>
        </p:txBody>
      </p:sp>
      <p:sp>
        <p:nvSpPr>
          <p:cNvPr id="4" name="Rounded Rectangle 3"/>
          <p:cNvSpPr/>
          <p:nvPr/>
        </p:nvSpPr>
        <p:spPr>
          <a:xfrm>
            <a:off x="502920" y="1335024"/>
            <a:ext cx="2143658" cy="2393606"/>
          </a:xfrm>
          <a:prstGeom prst="roundRect">
            <a:avLst>
              <a:gd name="adj" fmla="val 14218"/>
            </a:avLst>
          </a:prstGeom>
          <a:solidFill>
            <a:srgbClr val="FFFFFF"/>
          </a:solidFill>
          <a:ln w="25400">
            <a:solidFill>
              <a:srgbClr val="F0AB00"/>
            </a:solidFill>
          </a:ln>
          <a:effectLst/>
        </p:spPr>
        <p:txBody>
          <a:bodyPr rtlCol="0" anchor="ctr"/>
          <a:lstStyle/>
          <a:p>
            <a:pPr algn="ctr"/>
          </a:p>
        </p:txBody>
      </p:sp>
      <p:sp>
        <p:nvSpPr>
          <p:cNvPr id="5" name="TextBox 4"/>
          <p:cNvSpPr txBox="1"/>
          <p:nvPr/>
        </p:nvSpPr>
        <p:spPr>
          <a:xfrm>
            <a:off x="640080" y="1472184"/>
            <a:ext cx="1869338" cy="668133"/>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СТОЛКНУЛИСЬ С ПОДДЕЛЬНЫМ КАНДИДАТОМ</a:t>
            </a:r>
          </a:p>
        </p:txBody>
      </p:sp>
      <p:sp>
        <p:nvSpPr>
          <p:cNvPr id="6" name="TextBox 5"/>
          <p:cNvSpPr txBox="1"/>
          <p:nvPr/>
        </p:nvSpPr>
        <p:spPr>
          <a:xfrm>
            <a:off x="640080" y="2140317"/>
            <a:ext cx="1869338"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31% → 40% за год</a:t>
            </a:r>
          </a:p>
        </p:txBody>
      </p:sp>
      <p:sp>
        <p:nvSpPr>
          <p:cNvPr id="7" name="TextBox 6"/>
          <p:cNvSpPr txBox="1"/>
          <p:nvPr/>
        </p:nvSpPr>
        <p:spPr>
          <a:xfrm>
            <a:off x="640080" y="2957740"/>
            <a:ext cx="18693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≈3000 HR-менеджеров, сентябрь 2026</a:t>
            </a:r>
          </a:p>
        </p:txBody>
      </p:sp>
      <p:sp>
        <p:nvSpPr>
          <p:cNvPr id="8" name="Rounded Rectangle 7"/>
          <p:cNvSpPr/>
          <p:nvPr/>
        </p:nvSpPr>
        <p:spPr>
          <a:xfrm>
            <a:off x="2811170" y="1335024"/>
            <a:ext cx="2143658" cy="2393606"/>
          </a:xfrm>
          <a:prstGeom prst="roundRect">
            <a:avLst>
              <a:gd name="adj" fmla="val 14218"/>
            </a:avLst>
          </a:prstGeom>
          <a:solidFill>
            <a:srgbClr val="F4F7FA"/>
          </a:solidFill>
          <a:ln w="15240">
            <a:solidFill>
              <a:srgbClr val="1C7293"/>
            </a:solidFill>
          </a:ln>
          <a:effectLst/>
        </p:spPr>
        <p:txBody>
          <a:bodyPr rtlCol="0" anchor="ctr"/>
          <a:lstStyle/>
          <a:p>
            <a:pPr algn="ctr"/>
          </a:p>
        </p:txBody>
      </p:sp>
      <p:sp>
        <p:nvSpPr>
          <p:cNvPr id="9" name="TextBox 8"/>
          <p:cNvSpPr txBox="1"/>
          <p:nvPr/>
        </p:nvSpPr>
        <p:spPr>
          <a:xfrm>
            <a:off x="2948330" y="1472184"/>
            <a:ext cx="186933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МАСШТАБ ОДНОЙ ЯЧЕЙКИ</a:t>
            </a:r>
          </a:p>
        </p:txBody>
      </p:sp>
      <p:sp>
        <p:nvSpPr>
          <p:cNvPr id="10" name="TextBox 9"/>
          <p:cNvSpPr txBox="1"/>
          <p:nvPr/>
        </p:nvSpPr>
        <p:spPr>
          <a:xfrm>
            <a:off x="2948330" y="1932846"/>
            <a:ext cx="1869338" cy="477923"/>
          </a:xfrm>
          <a:prstGeom prst="rect">
            <a:avLst/>
          </a:prstGeom>
          <a:noFill/>
        </p:spPr>
        <p:txBody>
          <a:bodyPr wrap="square" lIns="0" rIns="0" tIns="0" bIns="0" anchor="t">
            <a:spAutoFit/>
          </a:bodyPr>
          <a:lstStyle/>
          <a:p>
            <a:pPr algn="l">
              <a:lnSpc>
                <a:spcPct val="108000"/>
              </a:lnSpc>
            </a:pPr>
            <a:r>
              <a:rPr sz="1300" b="1" i="0">
                <a:solidFill>
                  <a:srgbClr val="21295C"/>
                </a:solidFill>
                <a:latin typeface="Arial"/>
              </a:rPr>
              <a:t>≈100 000 операторов, 40 стран</a:t>
            </a:r>
          </a:p>
        </p:txBody>
      </p:sp>
      <p:sp>
        <p:nvSpPr>
          <p:cNvPr id="11" name="TextBox 10"/>
          <p:cNvSpPr txBox="1"/>
          <p:nvPr/>
        </p:nvSpPr>
        <p:spPr>
          <a:xfrm>
            <a:off x="2948330" y="2410770"/>
            <a:ext cx="1869338"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межправительственный advisory, июль 2026</a:t>
            </a:r>
          </a:p>
        </p:txBody>
      </p:sp>
      <p:sp>
        <p:nvSpPr>
          <p:cNvPr id="12" name="Rounded Rectangle 11"/>
          <p:cNvSpPr/>
          <p:nvPr/>
        </p:nvSpPr>
        <p:spPr>
          <a:xfrm>
            <a:off x="5119420" y="1335024"/>
            <a:ext cx="2143658" cy="2393606"/>
          </a:xfrm>
          <a:prstGeom prst="roundRect">
            <a:avLst>
              <a:gd name="adj" fmla="val 14218"/>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256580" y="1472184"/>
            <a:ext cx="1869338"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ОЦЕНЁННЫЙ ДОХОД РЕЖИМУ</a:t>
            </a:r>
          </a:p>
        </p:txBody>
      </p:sp>
      <p:sp>
        <p:nvSpPr>
          <p:cNvPr id="14" name="TextBox 13"/>
          <p:cNvSpPr txBox="1"/>
          <p:nvPr/>
        </p:nvSpPr>
        <p:spPr>
          <a:xfrm>
            <a:off x="5256580" y="1932846"/>
            <a:ext cx="1869338"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$250–600 млн в год</a:t>
            </a:r>
          </a:p>
        </p:txBody>
      </p:sp>
      <p:sp>
        <p:nvSpPr>
          <p:cNvPr id="15" name="TextBox 14"/>
          <p:cNvSpPr txBox="1"/>
          <p:nvPr/>
        </p:nvSpPr>
        <p:spPr>
          <a:xfrm>
            <a:off x="5256580" y="2750268"/>
            <a:ext cx="1869338"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отдельно $800 млн — на оружейные программы, 2024</a:t>
            </a:r>
          </a:p>
        </p:txBody>
      </p:sp>
      <p:sp>
        <p:nvSpPr>
          <p:cNvPr id="16" name="Rounded Rectangle 15"/>
          <p:cNvSpPr/>
          <p:nvPr/>
        </p:nvSpPr>
        <p:spPr>
          <a:xfrm>
            <a:off x="374904" y="4172864"/>
            <a:ext cx="11441887" cy="2063343"/>
          </a:xfrm>
          <a:prstGeom prst="roundRect">
            <a:avLst>
              <a:gd name="adj" fmla="val 14772"/>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264304"/>
            <a:ext cx="11112703" cy="1971903"/>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Та же форма, предъявленная дважды на разнородном материале:</a:t>
            </a:r>
            <a:r>
              <a:rPr sz="1500" b="0" i="0">
                <a:solidFill>
                  <a:srgbClr val="21295C"/>
                </a:solidFill>
                <a:latin typeface="Arial"/>
              </a:rPr>
              <a:t> внутри творческого производства (CNET) и на входе в компанию (поддельные кандидаты — видеозвонок перестал быть достаточным сигналом подлинности).</a:t>
            </a:r>
          </a:p>
          <a:p>
            <a:pPr algn="l">
              <a:lnSpc>
                <a:spcPct val="126000"/>
              </a:lnSpc>
              <a:spcBef>
                <a:spcPts val="700"/>
              </a:spcBef>
            </a:pPr>
            <a:r>
              <a:rPr sz="1500" b="0" i="0">
                <a:solidFill>
                  <a:srgbClr val="21295C"/>
                </a:solidFill>
                <a:latin typeface="Arial"/>
              </a:rPr>
              <a:t/>
            </a:r>
            <a:r>
              <a:rPr sz="1500" b="1" i="0">
                <a:solidFill>
                  <a:srgbClr val="21295C"/>
                </a:solidFill>
                <a:latin typeface="Arial"/>
              </a:rPr>
              <a:t>Защита не улучшается по мере роста осведомлённости — она ухудшается.</a:t>
            </a:r>
            <a:r>
              <a:rPr sz="1500" b="0" i="0">
                <a:solidFill>
                  <a:srgbClr val="21295C"/>
                </a:solidFill>
                <a:latin typeface="Arial"/>
              </a:rPr>
              <a:t> Цена подделки падает быстрее, чем растёт цена защиты от неё.</a:t>
            </a:r>
          </a:p>
        </p:txBody>
      </p:sp>
      <p:sp>
        <p:nvSpPr>
          <p:cNvPr id="18" name="Rounded Rectangle 17"/>
          <p:cNvSpPr/>
          <p:nvPr/>
        </p:nvSpPr>
        <p:spPr>
          <a:xfrm>
            <a:off x="7573975" y="1335024"/>
            <a:ext cx="4114800" cy="2837840"/>
          </a:xfrm>
          <a:prstGeom prst="roundRect">
            <a:avLst>
              <a:gd name="adj" fmla="val 10740"/>
            </a:avLst>
          </a:prstGeom>
          <a:solidFill>
            <a:srgbClr val="F4F7FA"/>
          </a:solidFill>
          <a:ln w="19050">
            <a:solidFill>
              <a:srgbClr val="1C7293"/>
            </a:solidFill>
          </a:ln>
          <a:effectLst/>
        </p:spPr>
        <p:txBody>
          <a:bodyPr rtlCol="0" anchor="ctr"/>
          <a:lstStyle/>
          <a:p>
            <a:pPr algn="ctr"/>
          </a:p>
        </p:txBody>
      </p:sp>
      <p:pic>
        <p:nvPicPr>
          <p:cNvPr id="19" name="Picture 18" descr="s69-video-interview-hr-application-form.jpg"/>
          <p:cNvPicPr>
            <a:picLocks noChangeAspect="1"/>
          </p:cNvPicPr>
          <p:nvPr/>
        </p:nvPicPr>
        <p:blipFill>
          <a:blip r:embed="rId2"/>
          <a:stretch>
            <a:fillRect/>
          </a:stretch>
        </p:blipFill>
        <p:spPr>
          <a:xfrm>
            <a:off x="7711135" y="1472184"/>
            <a:ext cx="3840480" cy="256352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Checkr, опрос ≈3000 менеджеров по найму, сентябрь 2026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Кто платит — поимённо</a:t>
            </a:r>
          </a:p>
        </p:txBody>
      </p:sp>
      <p:sp>
        <p:nvSpPr>
          <p:cNvPr id="4" name="Rounded Rectangle 3"/>
          <p:cNvSpPr/>
          <p:nvPr/>
        </p:nvSpPr>
        <p:spPr>
          <a:xfrm>
            <a:off x="502920" y="1335024"/>
            <a:ext cx="3480663" cy="1767420"/>
          </a:xfrm>
          <a:prstGeom prst="roundRect">
            <a:avLst>
              <a:gd name="adj" fmla="val 17245"/>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РЕДАКЦИЯ</a:t>
            </a:r>
          </a:p>
        </p:txBody>
      </p:sp>
      <p:sp>
        <p:nvSpPr>
          <p:cNvPr id="6" name="TextBox 5"/>
          <p:cNvSpPr txBox="1"/>
          <p:nvPr/>
        </p:nvSpPr>
        <p:spPr>
          <a:xfrm>
            <a:off x="640080" y="1725375"/>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≈10% штата CNET уволено</a:t>
            </a:r>
          </a:p>
        </p:txBody>
      </p:sp>
      <p:sp>
        <p:nvSpPr>
          <p:cNvPr id="7" name="TextBox 6"/>
          <p:cNvSpPr txBox="1"/>
          <p:nvPr/>
        </p:nvSpPr>
        <p:spPr>
          <a:xfrm>
            <a:off x="640080" y="2542797"/>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институт именованной подписи перестал работать именно когда стал подделываем</a:t>
            </a:r>
          </a:p>
        </p:txBody>
      </p:sp>
      <p:sp>
        <p:nvSpPr>
          <p:cNvPr id="8" name="Rounded Rectangle 7"/>
          <p:cNvSpPr/>
          <p:nvPr/>
        </p:nvSpPr>
        <p:spPr>
          <a:xfrm>
            <a:off x="4148175" y="1335024"/>
            <a:ext cx="3480663" cy="1767420"/>
          </a:xfrm>
          <a:prstGeom prst="roundRect">
            <a:avLst>
              <a:gd name="adj" fmla="val 17245"/>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4285335" y="1472184"/>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ПРАВООБЛАДАТЕЛЬ В СУДЕ</a:t>
            </a:r>
          </a:p>
        </p:txBody>
      </p:sp>
      <p:sp>
        <p:nvSpPr>
          <p:cNvPr id="10" name="TextBox 9"/>
          <p:cNvSpPr txBox="1"/>
          <p:nvPr/>
        </p:nvSpPr>
        <p:spPr>
          <a:xfrm>
            <a:off x="4285335" y="1725375"/>
            <a:ext cx="3206343" cy="817422"/>
          </a:xfrm>
          <a:prstGeom prst="rect">
            <a:avLst/>
          </a:prstGeom>
          <a:noFill/>
        </p:spPr>
        <p:txBody>
          <a:bodyPr wrap="square" lIns="0" rIns="0" tIns="0" bIns="0" anchor="t">
            <a:spAutoFit/>
          </a:bodyPr>
          <a:lstStyle/>
          <a:p>
            <a:pPr algn="l">
              <a:lnSpc>
                <a:spcPct val="108000"/>
              </a:lnSpc>
            </a:pPr>
            <a:r>
              <a:rPr sz="2300" b="1" i="0">
                <a:solidFill>
                  <a:srgbClr val="1C7293"/>
                </a:solidFill>
                <a:latin typeface="Arial"/>
              </a:rPr>
              <a:t>$30,75 млн–$1,6 млрд → 0</a:t>
            </a:r>
          </a:p>
        </p:txBody>
      </p:sp>
      <p:sp>
        <p:nvSpPr>
          <p:cNvPr id="11" name="TextBox 10"/>
          <p:cNvSpPr txBox="1"/>
          <p:nvPr/>
        </p:nvSpPr>
        <p:spPr>
          <a:xfrm>
            <a:off x="4285335" y="2542797"/>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Getty против Stability — лицензия не потребовалась вовсе по этому вердикту</a:t>
            </a:r>
          </a:p>
        </p:txBody>
      </p:sp>
      <p:sp>
        <p:nvSpPr>
          <p:cNvPr id="12" name="Rounded Rectangle 11"/>
          <p:cNvSpPr/>
          <p:nvPr/>
        </p:nvSpPr>
        <p:spPr>
          <a:xfrm>
            <a:off x="502920" y="3267036"/>
            <a:ext cx="3480663"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640080" y="3404196"/>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САМА КОМПАНИЯ</a:t>
            </a:r>
          </a:p>
        </p:txBody>
      </p:sp>
      <p:sp>
        <p:nvSpPr>
          <p:cNvPr id="14" name="TextBox 13"/>
          <p:cNvSpPr txBox="1"/>
          <p:nvPr/>
        </p:nvSpPr>
        <p:spPr>
          <a:xfrm>
            <a:off x="640080" y="3657387"/>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банкротство Getty Images</a:t>
            </a:r>
          </a:p>
        </p:txBody>
      </p:sp>
      <p:sp>
        <p:nvSpPr>
          <p:cNvPr id="15" name="TextBox 14"/>
          <p:cNvSpPr txBox="1"/>
          <p:nvPr/>
        </p:nvSpPr>
        <p:spPr>
          <a:xfrm>
            <a:off x="640080" y="4474810"/>
            <a:ext cx="320634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четверть подписчиков за год, $2,1 млрд долга, ИИ-давление — среди названных причин</a:t>
            </a:r>
          </a:p>
        </p:txBody>
      </p:sp>
      <p:sp>
        <p:nvSpPr>
          <p:cNvPr id="16" name="Rounded Rectangle 15"/>
          <p:cNvSpPr/>
          <p:nvPr/>
        </p:nvSpPr>
        <p:spPr>
          <a:xfrm>
            <a:off x="4148175" y="3267036"/>
            <a:ext cx="3480663" cy="1978664"/>
          </a:xfrm>
          <a:prstGeom prst="roundRect">
            <a:avLst>
              <a:gd name="adj" fmla="val 15404"/>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4285335" y="3404196"/>
            <a:ext cx="320634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ВЫТЕСНЕННЫЕ ФРИЛАНСЕРЫ</a:t>
            </a:r>
          </a:p>
        </p:txBody>
      </p:sp>
      <p:sp>
        <p:nvSpPr>
          <p:cNvPr id="18" name="TextBox 17"/>
          <p:cNvSpPr txBox="1"/>
          <p:nvPr/>
        </p:nvSpPr>
        <p:spPr>
          <a:xfrm>
            <a:off x="4285335" y="3657387"/>
            <a:ext cx="3206343" cy="817422"/>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рост измерен, падение — нет</a:t>
            </a:r>
          </a:p>
        </p:txBody>
      </p:sp>
      <p:sp>
        <p:nvSpPr>
          <p:cNvPr id="19" name="TextBox 18"/>
          <p:cNvSpPr txBox="1"/>
          <p:nvPr/>
        </p:nvSpPr>
        <p:spPr>
          <a:xfrm>
            <a:off x="4285335" y="4474810"/>
            <a:ext cx="3206343" cy="422486"/>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+109/329/95% — точно; традиционная сторона — лишь BLS −2% за 10 лет</a:t>
            </a:r>
          </a:p>
        </p:txBody>
      </p:sp>
      <p:sp>
        <p:nvSpPr>
          <p:cNvPr id="20" name="Rounded Rectangle 19"/>
          <p:cNvSpPr/>
          <p:nvPr/>
        </p:nvSpPr>
        <p:spPr>
          <a:xfrm>
            <a:off x="374904" y="5337140"/>
            <a:ext cx="11441887" cy="899067"/>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5428580"/>
            <a:ext cx="11112703" cy="807627"/>
          </a:xfrm>
          <a:prstGeom prst="rect">
            <a:avLst/>
          </a:prstGeom>
          <a:noFill/>
        </p:spPr>
        <p:txBody>
          <a:bodyPr wrap="square" lIns="0" rIns="0" tIns="0" bIns="0" anchor="t">
            <a:spAutoFit/>
          </a:bodyPr>
          <a:lstStyle/>
          <a:p>
            <a:pPr algn="l">
              <a:lnSpc>
                <a:spcPct val="126000"/>
              </a:lnSpc>
            </a:pPr>
            <a:r>
              <a:rPr sz="1200" b="1" i="0">
                <a:solidFill>
                  <a:srgbClr val="21295C"/>
                </a:solidFill>
                <a:latin typeface="Arial"/>
              </a:rPr>
              <a:t>«Лицо, голос и подпись автора стоили доверия бесплатно. Сколько это стоит теперь — и кто платит?»</a:t>
            </a:r>
          </a:p>
          <a:p>
            <a:pPr algn="l">
              <a:lnSpc>
                <a:spcPct val="126000"/>
              </a:lnSpc>
              <a:spcBef>
                <a:spcPts val="700"/>
              </a:spcBef>
            </a:pPr>
            <a:r>
              <a:rPr sz="1200" b="0" i="0">
                <a:solidFill>
                  <a:srgbClr val="21295C"/>
                </a:solidFill>
                <a:latin typeface="Arial"/>
              </a:rPr>
              <a:t/>
            </a:r>
            <a:r>
              <a:rPr sz="1200" b="1" i="0">
                <a:solidFill>
                  <a:srgbClr val="21295C"/>
                </a:solidFill>
                <a:latin typeface="Arial"/>
              </a:rPr>
              <a:t>Платит не одна сторона — платят четыре, и каждая в своей форме.</a:t>
            </a:r>
            <a:r>
              <a:rPr sz="1200" b="0" i="0">
                <a:solidFill>
                  <a:srgbClr val="21295C"/>
                </a:solidFill>
                <a:latin typeface="Arial"/>
              </a:rPr>
              <a:t> Свести ответ к фразе «платит индустрия» значило бы подменить адрес обобщением — а обобщение без адреса не даёт спросить, что менять и кому.</a:t>
            </a:r>
          </a:p>
        </p:txBody>
      </p:sp>
      <p:sp>
        <p:nvSpPr>
          <p:cNvPr id="22" name="Rounded Rectangle 21"/>
          <p:cNvSpPr/>
          <p:nvPr/>
        </p:nvSpPr>
        <p:spPr>
          <a:xfrm>
            <a:off x="7939735" y="1335024"/>
            <a:ext cx="3749039" cy="2591523"/>
          </a:xfrm>
          <a:prstGeom prst="roundRect">
            <a:avLst>
              <a:gd name="adj" fmla="val 11761"/>
            </a:avLst>
          </a:prstGeom>
          <a:solidFill>
            <a:srgbClr val="F4F7FA"/>
          </a:solidFill>
          <a:ln w="19050">
            <a:solidFill>
              <a:srgbClr val="1C7293"/>
            </a:solidFill>
          </a:ln>
          <a:effectLst/>
        </p:spPr>
        <p:txBody>
          <a:bodyPr rtlCol="0" anchor="ctr"/>
          <a:lstStyle/>
          <a:p>
            <a:pPr algn="ctr"/>
          </a:p>
        </p:txBody>
      </p:sp>
      <p:pic>
        <p:nvPicPr>
          <p:cNvPr id="23" name="Picture 22" descr="s70-past-due-invoice.jpg"/>
          <p:cNvPicPr>
            <a:picLocks noChangeAspect="1"/>
          </p:cNvPicPr>
          <p:nvPr/>
        </p:nvPicPr>
        <p:blipFill>
          <a:blip r:embed="rId2"/>
          <a:stretch>
            <a:fillRect/>
          </a:stretch>
        </p:blipFill>
        <p:spPr>
          <a:xfrm>
            <a:off x="8076895" y="1472184"/>
            <a:ext cx="3474720" cy="2317203"/>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Счёт сквозной линии: три-четыре порядка</a:t>
            </a:r>
          </a:p>
        </p:txBody>
      </p:sp>
      <p:sp>
        <p:nvSpPr>
          <p:cNvPr id="4" name="Rounded Rectangle 3"/>
          <p:cNvSpPr/>
          <p:nvPr/>
        </p:nvSpPr>
        <p:spPr>
          <a:xfrm>
            <a:off x="374904" y="1243584"/>
            <a:ext cx="11441887" cy="4992624"/>
          </a:xfrm>
          <a:prstGeom prst="roundRect">
            <a:avLst>
              <a:gd name="adj" fmla="val 6105"/>
            </a:avLst>
          </a:prstGeom>
          <a:solidFill>
            <a:srgbClr val="F4F7FA"/>
          </a:solidFill>
          <a:ln w="19050">
            <a:solidFill>
              <a:srgbClr val="1C7293"/>
            </a:solidFill>
          </a:ln>
          <a:effectLst/>
        </p:spPr>
        <p:txBody>
          <a:bodyPr rtlCol="0" anchor="ctr"/>
          <a:lstStyle/>
          <a:p>
            <a:pPr algn="ctr"/>
          </a:p>
        </p:txBody>
      </p:sp>
      <p:sp>
        <p:nvSpPr>
          <p:cNvPr id="5" name="Rectangle 4"/>
          <p:cNvSpPr/>
          <p:nvPr/>
        </p:nvSpPr>
        <p:spPr>
          <a:xfrm>
            <a:off x="539496" y="1335024"/>
            <a:ext cx="511818" cy="447193"/>
          </a:xfrm>
          <a:prstGeom prst="rect">
            <a:avLst/>
          </a:prstGeom>
          <a:solidFill>
            <a:srgbClr val="065A82"/>
          </a:solidFill>
          <a:ln>
            <a:noFill/>
          </a:ln>
          <a:effectLst/>
        </p:spPr>
        <p:txBody>
          <a:bodyPr rtlCol="0" anchor="ctr"/>
          <a:lstStyle/>
          <a:p>
            <a:pPr algn="ctr"/>
          </a:p>
        </p:txBody>
      </p:sp>
      <p:sp>
        <p:nvSpPr>
          <p:cNvPr id="6" name="TextBox 5"/>
          <p:cNvSpPr txBox="1"/>
          <p:nvPr/>
        </p:nvSpPr>
        <p:spPr>
          <a:xfrm>
            <a:off x="685800" y="1335024"/>
            <a:ext cx="219210"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
            </a:r>
          </a:p>
        </p:txBody>
      </p:sp>
      <p:sp>
        <p:nvSpPr>
          <p:cNvPr id="7" name="Rectangle 6"/>
          <p:cNvSpPr/>
          <p:nvPr/>
        </p:nvSpPr>
        <p:spPr>
          <a:xfrm>
            <a:off x="1051314" y="1335024"/>
            <a:ext cx="3344655" cy="447193"/>
          </a:xfrm>
          <a:prstGeom prst="rect">
            <a:avLst/>
          </a:prstGeom>
          <a:solidFill>
            <a:srgbClr val="065A82"/>
          </a:solidFill>
          <a:ln>
            <a:noFill/>
          </a:ln>
          <a:effectLst/>
        </p:spPr>
        <p:txBody>
          <a:bodyPr rtlCol="0" anchor="ctr"/>
          <a:lstStyle/>
          <a:p>
            <a:pPr algn="ctr"/>
          </a:p>
        </p:txBody>
      </p:sp>
      <p:sp>
        <p:nvSpPr>
          <p:cNvPr id="8" name="TextBox 7"/>
          <p:cNvSpPr txBox="1"/>
          <p:nvPr/>
        </p:nvSpPr>
        <p:spPr>
          <a:xfrm>
            <a:off x="1197618" y="1335024"/>
            <a:ext cx="3052047"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измерение</a:t>
            </a:r>
          </a:p>
        </p:txBody>
      </p:sp>
      <p:sp>
        <p:nvSpPr>
          <p:cNvPr id="9" name="Rectangle 8"/>
          <p:cNvSpPr/>
          <p:nvPr/>
        </p:nvSpPr>
        <p:spPr>
          <a:xfrm>
            <a:off x="4395969" y="1335024"/>
            <a:ext cx="2030414" cy="447193"/>
          </a:xfrm>
          <a:prstGeom prst="rect">
            <a:avLst/>
          </a:prstGeom>
          <a:solidFill>
            <a:srgbClr val="065A82"/>
          </a:solidFill>
          <a:ln>
            <a:noFill/>
          </a:ln>
          <a:effectLst/>
        </p:spPr>
        <p:txBody>
          <a:bodyPr rtlCol="0" anchor="ctr"/>
          <a:lstStyle/>
          <a:p>
            <a:pPr algn="ctr"/>
          </a:p>
        </p:txBody>
      </p:sp>
      <p:sp>
        <p:nvSpPr>
          <p:cNvPr id="10" name="TextBox 9"/>
          <p:cNvSpPr txBox="1"/>
          <p:nvPr/>
        </p:nvSpPr>
        <p:spPr>
          <a:xfrm>
            <a:off x="4542273" y="1335024"/>
            <a:ext cx="1737806"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классика</a:t>
            </a:r>
          </a:p>
        </p:txBody>
      </p:sp>
      <p:sp>
        <p:nvSpPr>
          <p:cNvPr id="11" name="Rectangle 10"/>
          <p:cNvSpPr/>
          <p:nvPr/>
        </p:nvSpPr>
        <p:spPr>
          <a:xfrm>
            <a:off x="6426384" y="1335024"/>
            <a:ext cx="2273122" cy="447193"/>
          </a:xfrm>
          <a:prstGeom prst="rect">
            <a:avLst/>
          </a:prstGeom>
          <a:solidFill>
            <a:srgbClr val="065A82"/>
          </a:solidFill>
          <a:ln>
            <a:noFill/>
          </a:ln>
          <a:effectLst/>
        </p:spPr>
        <p:txBody>
          <a:bodyPr rtlCol="0" anchor="ctr"/>
          <a:lstStyle/>
          <a:p>
            <a:pPr algn="ctr"/>
          </a:p>
        </p:txBody>
      </p:sp>
      <p:sp>
        <p:nvSpPr>
          <p:cNvPr id="12" name="TextBox 11"/>
          <p:cNvSpPr txBox="1"/>
          <p:nvPr/>
        </p:nvSpPr>
        <p:spPr>
          <a:xfrm>
            <a:off x="6572688" y="1335024"/>
            <a:ext cx="198051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генерация</a:t>
            </a:r>
          </a:p>
        </p:txBody>
      </p:sp>
      <p:sp>
        <p:nvSpPr>
          <p:cNvPr id="13" name="Rectangle 12"/>
          <p:cNvSpPr/>
          <p:nvPr/>
        </p:nvSpPr>
        <p:spPr>
          <a:xfrm>
            <a:off x="8699506" y="1335024"/>
            <a:ext cx="2952692" cy="447193"/>
          </a:xfrm>
          <a:prstGeom prst="rect">
            <a:avLst/>
          </a:prstGeom>
          <a:solidFill>
            <a:srgbClr val="065A82"/>
          </a:solidFill>
          <a:ln>
            <a:noFill/>
          </a:ln>
          <a:effectLst/>
        </p:spPr>
        <p:txBody>
          <a:bodyPr rtlCol="0" anchor="ctr"/>
          <a:lstStyle/>
          <a:p>
            <a:pPr algn="ctr"/>
          </a:p>
        </p:txBody>
      </p:sp>
      <p:sp>
        <p:nvSpPr>
          <p:cNvPr id="14" name="TextBox 13"/>
          <p:cNvSpPr txBox="1"/>
          <p:nvPr/>
        </p:nvSpPr>
        <p:spPr>
          <a:xfrm>
            <a:off x="8845810" y="1335024"/>
            <a:ext cx="2660084" cy="447193"/>
          </a:xfrm>
          <a:prstGeom prst="rect">
            <a:avLst/>
          </a:prstGeom>
          <a:noFill/>
        </p:spPr>
        <p:txBody>
          <a:bodyPr wrap="square" lIns="0" rIns="0" tIns="0" bIns="0" anchor="ctr">
            <a:spAutoFit/>
          </a:bodyPr>
          <a:lstStyle/>
          <a:p>
            <a:pPr algn="l">
              <a:lnSpc>
                <a:spcPct val="116000"/>
              </a:lnSpc>
            </a:pPr>
            <a:r>
              <a:rPr sz="1550" b="1" i="0">
                <a:solidFill>
                  <a:srgbClr val="FFFFFF"/>
                </a:solidFill>
                <a:latin typeface="Arial"/>
              </a:rPr>
              <a:t>разрыв</a:t>
            </a:r>
          </a:p>
        </p:txBody>
      </p:sp>
      <p:sp>
        <p:nvSpPr>
          <p:cNvPr id="15" name="Rectangle 14"/>
          <p:cNvSpPr/>
          <p:nvPr/>
        </p:nvSpPr>
        <p:spPr>
          <a:xfrm>
            <a:off x="539496" y="1782217"/>
            <a:ext cx="511818" cy="729794"/>
          </a:xfrm>
          <a:prstGeom prst="rect">
            <a:avLst/>
          </a:prstGeom>
          <a:solidFill>
            <a:srgbClr val="FFFFFF"/>
          </a:solidFill>
          <a:ln w="12700">
            <a:solidFill>
              <a:srgbClr val="D9E2EC"/>
            </a:solidFill>
          </a:ln>
          <a:effectLst/>
        </p:spPr>
        <p:txBody>
          <a:bodyPr rtlCol="0" anchor="ctr"/>
          <a:lstStyle/>
          <a:p>
            <a:pPr algn="ctr"/>
          </a:p>
        </p:txBody>
      </p:sp>
      <p:sp>
        <p:nvSpPr>
          <p:cNvPr id="16" name="TextBox 15"/>
          <p:cNvSpPr txBox="1"/>
          <p:nvPr/>
        </p:nvSpPr>
        <p:spPr>
          <a:xfrm>
            <a:off x="685800" y="1782217"/>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1</a:t>
            </a:r>
          </a:p>
        </p:txBody>
      </p:sp>
      <p:sp>
        <p:nvSpPr>
          <p:cNvPr id="17" name="Rectangle 16"/>
          <p:cNvSpPr/>
          <p:nvPr/>
        </p:nvSpPr>
        <p:spPr>
          <a:xfrm>
            <a:off x="1051314" y="1782217"/>
            <a:ext cx="3344655" cy="729794"/>
          </a:xfrm>
          <a:prstGeom prst="rect">
            <a:avLst/>
          </a:prstGeom>
          <a:solidFill>
            <a:srgbClr val="FFFFFF"/>
          </a:solidFill>
          <a:ln w="12700">
            <a:solidFill>
              <a:srgbClr val="D9E2EC"/>
            </a:solidFill>
          </a:ln>
          <a:effectLst/>
        </p:spPr>
        <p:txBody>
          <a:bodyPr rtlCol="0" anchor="ctr"/>
          <a:lstStyle/>
          <a:p>
            <a:pPr algn="ctr"/>
          </a:p>
        </p:txBody>
      </p:sp>
      <p:sp>
        <p:nvSpPr>
          <p:cNvPr id="18" name="TextBox 17"/>
          <p:cNvSpPr txBox="1"/>
          <p:nvPr/>
        </p:nvSpPr>
        <p:spPr>
          <a:xfrm>
            <a:off x="1197618" y="1782217"/>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Изображение</a:t>
            </a:r>
          </a:p>
        </p:txBody>
      </p:sp>
      <p:sp>
        <p:nvSpPr>
          <p:cNvPr id="19" name="Rectangle 18"/>
          <p:cNvSpPr/>
          <p:nvPr/>
        </p:nvSpPr>
        <p:spPr>
          <a:xfrm>
            <a:off x="4395969" y="1782217"/>
            <a:ext cx="2030414" cy="729794"/>
          </a:xfrm>
          <a:prstGeom prst="rect">
            <a:avLst/>
          </a:prstGeom>
          <a:solidFill>
            <a:srgbClr val="FFFFFF"/>
          </a:solidFill>
          <a:ln w="12700">
            <a:solidFill>
              <a:srgbClr val="D9E2EC"/>
            </a:solidFill>
          </a:ln>
          <a:effectLst/>
        </p:spPr>
        <p:txBody>
          <a:bodyPr rtlCol="0" anchor="ctr"/>
          <a:lstStyle/>
          <a:p>
            <a:pPr algn="ctr"/>
          </a:p>
        </p:txBody>
      </p:sp>
      <p:sp>
        <p:nvSpPr>
          <p:cNvPr id="20" name="TextBox 19"/>
          <p:cNvSpPr txBox="1"/>
          <p:nvPr/>
        </p:nvSpPr>
        <p:spPr>
          <a:xfrm>
            <a:off x="4542273" y="1782217"/>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$50–150 за задание</a:t>
            </a:r>
          </a:p>
        </p:txBody>
      </p:sp>
      <p:sp>
        <p:nvSpPr>
          <p:cNvPr id="21" name="Rectangle 20"/>
          <p:cNvSpPr/>
          <p:nvPr/>
        </p:nvSpPr>
        <p:spPr>
          <a:xfrm>
            <a:off x="6426384" y="1782217"/>
            <a:ext cx="2273122" cy="729794"/>
          </a:xfrm>
          <a:prstGeom prst="rect">
            <a:avLst/>
          </a:prstGeom>
          <a:solidFill>
            <a:srgbClr val="FFFFFF"/>
          </a:solidFill>
          <a:ln w="12700">
            <a:solidFill>
              <a:srgbClr val="D9E2EC"/>
            </a:solidFill>
          </a:ln>
          <a:effectLst/>
        </p:spPr>
        <p:txBody>
          <a:bodyPr rtlCol="0" anchor="ctr"/>
          <a:lstStyle/>
          <a:p>
            <a:pPr algn="ctr"/>
          </a:p>
        </p:txBody>
      </p:sp>
      <p:sp>
        <p:nvSpPr>
          <p:cNvPr id="22" name="TextBox 21"/>
          <p:cNvSpPr txBox="1"/>
          <p:nvPr/>
        </p:nvSpPr>
        <p:spPr>
          <a:xfrm>
            <a:off x="6572688" y="1782217"/>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$0,03–0,05 за штуку</a:t>
            </a:r>
          </a:p>
        </p:txBody>
      </p:sp>
      <p:sp>
        <p:nvSpPr>
          <p:cNvPr id="23" name="Rectangle 22"/>
          <p:cNvSpPr/>
          <p:nvPr/>
        </p:nvSpPr>
        <p:spPr>
          <a:xfrm>
            <a:off x="8699506" y="1782217"/>
            <a:ext cx="2952692" cy="729794"/>
          </a:xfrm>
          <a:prstGeom prst="rect">
            <a:avLst/>
          </a:prstGeom>
          <a:solidFill>
            <a:srgbClr val="FFFFFF"/>
          </a:solidFill>
          <a:ln w="12700">
            <a:solidFill>
              <a:srgbClr val="D9E2EC"/>
            </a:solidFill>
          </a:ln>
          <a:effectLst/>
        </p:spPr>
        <p:txBody>
          <a:bodyPr rtlCol="0" anchor="ctr"/>
          <a:lstStyle/>
          <a:p>
            <a:pPr algn="ctr"/>
          </a:p>
        </p:txBody>
      </p:sp>
      <p:sp>
        <p:nvSpPr>
          <p:cNvPr id="24" name="TextBox 23"/>
          <p:cNvSpPr txBox="1"/>
          <p:nvPr/>
        </p:nvSpPr>
        <p:spPr>
          <a:xfrm>
            <a:off x="8845810" y="1782217"/>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×1000–5000</a:t>
            </a:r>
            <a:r>
              <a:rPr sz="1550" b="0" i="0">
                <a:solidFill>
                  <a:srgbClr val="21295C"/>
                </a:solidFill>
                <a:latin typeface="Arial"/>
              </a:rPr>
              <a:t> · 3,0–3,7 порядка</a:t>
            </a:r>
          </a:p>
        </p:txBody>
      </p:sp>
      <p:sp>
        <p:nvSpPr>
          <p:cNvPr id="25" name="Rectangle 24"/>
          <p:cNvSpPr/>
          <p:nvPr/>
        </p:nvSpPr>
        <p:spPr>
          <a:xfrm>
            <a:off x="539496" y="2512011"/>
            <a:ext cx="511818" cy="729794"/>
          </a:xfrm>
          <a:prstGeom prst="rect">
            <a:avLst/>
          </a:prstGeom>
          <a:solidFill>
            <a:srgbClr val="F4F7FA"/>
          </a:solidFill>
          <a:ln w="12700">
            <a:solidFill>
              <a:srgbClr val="D9E2EC"/>
            </a:solidFill>
          </a:ln>
          <a:effectLst/>
        </p:spPr>
        <p:txBody>
          <a:bodyPr rtlCol="0" anchor="ctr"/>
          <a:lstStyle/>
          <a:p>
            <a:pPr algn="ctr"/>
          </a:p>
        </p:txBody>
      </p:sp>
      <p:sp>
        <p:nvSpPr>
          <p:cNvPr id="26" name="TextBox 25"/>
          <p:cNvSpPr txBox="1"/>
          <p:nvPr/>
        </p:nvSpPr>
        <p:spPr>
          <a:xfrm>
            <a:off x="685800" y="2512011"/>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a:t>
            </a:r>
          </a:p>
        </p:txBody>
      </p:sp>
      <p:sp>
        <p:nvSpPr>
          <p:cNvPr id="27" name="Rectangle 26"/>
          <p:cNvSpPr/>
          <p:nvPr/>
        </p:nvSpPr>
        <p:spPr>
          <a:xfrm>
            <a:off x="1051314" y="2512011"/>
            <a:ext cx="3344655" cy="729794"/>
          </a:xfrm>
          <a:prstGeom prst="rect">
            <a:avLst/>
          </a:prstGeom>
          <a:solidFill>
            <a:srgbClr val="F4F7FA"/>
          </a:solidFill>
          <a:ln w="12700">
            <a:solidFill>
              <a:srgbClr val="D9E2EC"/>
            </a:solidFill>
          </a:ln>
          <a:effectLst/>
        </p:spPr>
        <p:txBody>
          <a:bodyPr rtlCol="0" anchor="ctr"/>
          <a:lstStyle/>
          <a:p>
            <a:pPr algn="ctr"/>
          </a:p>
        </p:txBody>
      </p:sp>
      <p:sp>
        <p:nvSpPr>
          <p:cNvPr id="28" name="TextBox 27"/>
          <p:cNvSpPr txBox="1"/>
          <p:nvPr/>
        </p:nvSpPr>
        <p:spPr>
          <a:xfrm>
            <a:off x="1197618" y="2512011"/>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Трек (стоковая лицензия)</a:t>
            </a:r>
          </a:p>
        </p:txBody>
      </p:sp>
      <p:sp>
        <p:nvSpPr>
          <p:cNvPr id="29" name="Rectangle 28"/>
          <p:cNvSpPr/>
          <p:nvPr/>
        </p:nvSpPr>
        <p:spPr>
          <a:xfrm>
            <a:off x="4395969" y="2512011"/>
            <a:ext cx="2030414" cy="729794"/>
          </a:xfrm>
          <a:prstGeom prst="rect">
            <a:avLst/>
          </a:prstGeom>
          <a:solidFill>
            <a:srgbClr val="F4F7FA"/>
          </a:solidFill>
          <a:ln w="12700">
            <a:solidFill>
              <a:srgbClr val="D9E2EC"/>
            </a:solidFill>
          </a:ln>
          <a:effectLst/>
        </p:spPr>
        <p:txBody>
          <a:bodyPr rtlCol="0" anchor="ctr"/>
          <a:lstStyle/>
          <a:p>
            <a:pPr algn="ctr"/>
          </a:p>
        </p:txBody>
      </p:sp>
      <p:sp>
        <p:nvSpPr>
          <p:cNvPr id="30" name="TextBox 29"/>
          <p:cNvSpPr txBox="1"/>
          <p:nvPr/>
        </p:nvSpPr>
        <p:spPr>
          <a:xfrm>
            <a:off x="4542273" y="2512011"/>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$20–100 за трек</a:t>
            </a:r>
          </a:p>
        </p:txBody>
      </p:sp>
      <p:sp>
        <p:nvSpPr>
          <p:cNvPr id="31" name="Rectangle 30"/>
          <p:cNvSpPr/>
          <p:nvPr/>
        </p:nvSpPr>
        <p:spPr>
          <a:xfrm>
            <a:off x="6426384" y="2512011"/>
            <a:ext cx="2273122" cy="729794"/>
          </a:xfrm>
          <a:prstGeom prst="rect">
            <a:avLst/>
          </a:prstGeom>
          <a:solidFill>
            <a:srgbClr val="F4F7FA"/>
          </a:solidFill>
          <a:ln w="12700">
            <a:solidFill>
              <a:srgbClr val="D9E2EC"/>
            </a:solidFill>
          </a:ln>
          <a:effectLst/>
        </p:spPr>
        <p:txBody>
          <a:bodyPr rtlCol="0" anchor="ctr"/>
          <a:lstStyle/>
          <a:p>
            <a:pPr algn="ctr"/>
          </a:p>
        </p:txBody>
      </p:sp>
      <p:sp>
        <p:nvSpPr>
          <p:cNvPr id="32" name="TextBox 31"/>
          <p:cNvSpPr txBox="1"/>
          <p:nvPr/>
        </p:nvSpPr>
        <p:spPr>
          <a:xfrm>
            <a:off x="6572688" y="2512011"/>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$0,015–0,02 за песню</a:t>
            </a:r>
          </a:p>
        </p:txBody>
      </p:sp>
      <p:sp>
        <p:nvSpPr>
          <p:cNvPr id="33" name="Rectangle 32"/>
          <p:cNvSpPr/>
          <p:nvPr/>
        </p:nvSpPr>
        <p:spPr>
          <a:xfrm>
            <a:off x="8699506" y="2512011"/>
            <a:ext cx="2952692" cy="729794"/>
          </a:xfrm>
          <a:prstGeom prst="rect">
            <a:avLst/>
          </a:prstGeom>
          <a:solidFill>
            <a:srgbClr val="F4F7FA"/>
          </a:solidFill>
          <a:ln w="12700">
            <a:solidFill>
              <a:srgbClr val="D9E2EC"/>
            </a:solidFill>
          </a:ln>
          <a:effectLst/>
        </p:spPr>
        <p:txBody>
          <a:bodyPr rtlCol="0" anchor="ctr"/>
          <a:lstStyle/>
          <a:p>
            <a:pPr algn="ctr"/>
          </a:p>
        </p:txBody>
      </p:sp>
      <p:sp>
        <p:nvSpPr>
          <p:cNvPr id="34" name="TextBox 33"/>
          <p:cNvSpPr txBox="1"/>
          <p:nvPr/>
        </p:nvSpPr>
        <p:spPr>
          <a:xfrm>
            <a:off x="8845810" y="2512011"/>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×1000–6667</a:t>
            </a:r>
            <a:r>
              <a:rPr sz="1550" b="0" i="0">
                <a:solidFill>
                  <a:srgbClr val="21295C"/>
                </a:solidFill>
                <a:latin typeface="Arial"/>
              </a:rPr>
              <a:t> · 3,0–3,8 порядка</a:t>
            </a:r>
          </a:p>
        </p:txBody>
      </p:sp>
      <p:sp>
        <p:nvSpPr>
          <p:cNvPr id="35" name="Rectangle 34"/>
          <p:cNvSpPr/>
          <p:nvPr/>
        </p:nvSpPr>
        <p:spPr>
          <a:xfrm>
            <a:off x="539496" y="3241805"/>
            <a:ext cx="511818" cy="729794"/>
          </a:xfrm>
          <a:prstGeom prst="rect">
            <a:avLst/>
          </a:prstGeom>
          <a:solidFill>
            <a:srgbClr val="FFFFFF"/>
          </a:solidFill>
          <a:ln w="12700">
            <a:solidFill>
              <a:srgbClr val="D9E2EC"/>
            </a:solidFill>
          </a:ln>
          <a:effectLst/>
        </p:spPr>
        <p:txBody>
          <a:bodyPr rtlCol="0" anchor="ctr"/>
          <a:lstStyle/>
          <a:p>
            <a:pPr algn="ctr"/>
          </a:p>
        </p:txBody>
      </p:sp>
      <p:sp>
        <p:nvSpPr>
          <p:cNvPr id="36" name="TextBox 35"/>
          <p:cNvSpPr txBox="1"/>
          <p:nvPr/>
        </p:nvSpPr>
        <p:spPr>
          <a:xfrm>
            <a:off x="685800" y="3241805"/>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3</a:t>
            </a:r>
          </a:p>
        </p:txBody>
      </p:sp>
      <p:sp>
        <p:nvSpPr>
          <p:cNvPr id="37" name="Rectangle 36"/>
          <p:cNvSpPr/>
          <p:nvPr/>
        </p:nvSpPr>
        <p:spPr>
          <a:xfrm>
            <a:off x="1051314" y="3241805"/>
            <a:ext cx="3344655" cy="729794"/>
          </a:xfrm>
          <a:prstGeom prst="rect">
            <a:avLst/>
          </a:prstGeom>
          <a:solidFill>
            <a:srgbClr val="FFFFFF"/>
          </a:solidFill>
          <a:ln w="12700">
            <a:solidFill>
              <a:srgbClr val="D9E2EC"/>
            </a:solidFill>
          </a:ln>
          <a:effectLst/>
        </p:spPr>
        <p:txBody>
          <a:bodyPr rtlCol="0" anchor="ctr"/>
          <a:lstStyle/>
          <a:p>
            <a:pPr algn="ctr"/>
          </a:p>
        </p:txBody>
      </p:sp>
      <p:sp>
        <p:nvSpPr>
          <p:cNvPr id="38" name="TextBox 37"/>
          <p:cNvSpPr txBox="1"/>
          <p:nvPr/>
        </p:nvSpPr>
        <p:spPr>
          <a:xfrm>
            <a:off x="1197618" y="3241805"/>
            <a:ext cx="3052047"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Озвучка</a:t>
            </a:r>
          </a:p>
        </p:txBody>
      </p:sp>
      <p:sp>
        <p:nvSpPr>
          <p:cNvPr id="39" name="Rectangle 38"/>
          <p:cNvSpPr/>
          <p:nvPr/>
        </p:nvSpPr>
        <p:spPr>
          <a:xfrm>
            <a:off x="4395969" y="3241805"/>
            <a:ext cx="2030414" cy="729794"/>
          </a:xfrm>
          <a:prstGeom prst="rect">
            <a:avLst/>
          </a:prstGeom>
          <a:solidFill>
            <a:srgbClr val="FFFFFF"/>
          </a:solidFill>
          <a:ln w="12700">
            <a:solidFill>
              <a:srgbClr val="D9E2EC"/>
            </a:solidFill>
          </a:ln>
          <a:effectLst/>
        </p:spPr>
        <p:txBody>
          <a:bodyPr rtlCol="0" anchor="ctr"/>
          <a:lstStyle/>
          <a:p>
            <a:pPr algn="ctr"/>
          </a:p>
        </p:txBody>
      </p:sp>
      <p:sp>
        <p:nvSpPr>
          <p:cNvPr id="40" name="TextBox 39"/>
          <p:cNvSpPr txBox="1"/>
          <p:nvPr/>
        </p:nvSpPr>
        <p:spPr>
          <a:xfrm>
            <a:off x="4542273" y="3241805"/>
            <a:ext cx="1737806"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$50–450 за минуту</a:t>
            </a:r>
          </a:p>
        </p:txBody>
      </p:sp>
      <p:sp>
        <p:nvSpPr>
          <p:cNvPr id="41" name="Rectangle 40"/>
          <p:cNvSpPr/>
          <p:nvPr/>
        </p:nvSpPr>
        <p:spPr>
          <a:xfrm>
            <a:off x="6426384" y="3241805"/>
            <a:ext cx="2273122" cy="729794"/>
          </a:xfrm>
          <a:prstGeom prst="rect">
            <a:avLst/>
          </a:prstGeom>
          <a:solidFill>
            <a:srgbClr val="FFFFFF"/>
          </a:solidFill>
          <a:ln w="12700">
            <a:solidFill>
              <a:srgbClr val="D9E2EC"/>
            </a:solidFill>
          </a:ln>
          <a:effectLst/>
        </p:spPr>
        <p:txBody>
          <a:bodyPr rtlCol="0" anchor="ctr"/>
          <a:lstStyle/>
          <a:p>
            <a:pPr algn="ctr"/>
          </a:p>
        </p:txBody>
      </p:sp>
      <p:sp>
        <p:nvSpPr>
          <p:cNvPr id="42" name="TextBox 41"/>
          <p:cNvSpPr txBox="1"/>
          <p:nvPr/>
        </p:nvSpPr>
        <p:spPr>
          <a:xfrm>
            <a:off x="6572688" y="3241805"/>
            <a:ext cx="1980514"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$0,04–0,20 за минуту</a:t>
            </a:r>
          </a:p>
        </p:txBody>
      </p:sp>
      <p:sp>
        <p:nvSpPr>
          <p:cNvPr id="43" name="Rectangle 42"/>
          <p:cNvSpPr/>
          <p:nvPr/>
        </p:nvSpPr>
        <p:spPr>
          <a:xfrm>
            <a:off x="8699506" y="3241805"/>
            <a:ext cx="2952692" cy="729794"/>
          </a:xfrm>
          <a:prstGeom prst="rect">
            <a:avLst/>
          </a:prstGeom>
          <a:solidFill>
            <a:srgbClr val="FFFFFF"/>
          </a:solidFill>
          <a:ln w="12700">
            <a:solidFill>
              <a:srgbClr val="D9E2EC"/>
            </a:solidFill>
          </a:ln>
          <a:effectLst/>
        </p:spPr>
        <p:txBody>
          <a:bodyPr rtlCol="0" anchor="ctr"/>
          <a:lstStyle/>
          <a:p>
            <a:pPr algn="ctr"/>
          </a:p>
        </p:txBody>
      </p:sp>
      <p:sp>
        <p:nvSpPr>
          <p:cNvPr id="44" name="TextBox 43"/>
          <p:cNvSpPr txBox="1"/>
          <p:nvPr/>
        </p:nvSpPr>
        <p:spPr>
          <a:xfrm>
            <a:off x="8845810" y="3241805"/>
            <a:ext cx="2660084" cy="729794"/>
          </a:xfrm>
          <a:prstGeom prst="rect">
            <a:avLst/>
          </a:prstGeom>
          <a:noFill/>
        </p:spPr>
        <p:txBody>
          <a:bodyPr wrap="square" lIns="0" rIns="0" tIns="0" bIns="0" anchor="ctr">
            <a:spAutoFit/>
          </a:bodyPr>
          <a:lstStyle/>
          <a:p>
            <a:pPr algn="l">
              <a:lnSpc>
                <a:spcPct val="116000"/>
              </a:lnSpc>
            </a:pPr>
            <a:r>
              <a:rPr sz="1550" b="0" i="1">
                <a:solidFill>
                  <a:srgbClr val="21295C"/>
                </a:solidFill>
                <a:latin typeface="Arial"/>
              </a:rPr>
              <a:t>×250–11250 · 2,4–4,1 порядка</a:t>
            </a:r>
          </a:p>
        </p:txBody>
      </p:sp>
      <p:sp>
        <p:nvSpPr>
          <p:cNvPr id="45" name="Rectangle 44"/>
          <p:cNvSpPr/>
          <p:nvPr/>
        </p:nvSpPr>
        <p:spPr>
          <a:xfrm>
            <a:off x="539496" y="3971599"/>
            <a:ext cx="511818" cy="729794"/>
          </a:xfrm>
          <a:prstGeom prst="rect">
            <a:avLst/>
          </a:prstGeom>
          <a:solidFill>
            <a:srgbClr val="F4F7FA"/>
          </a:solidFill>
          <a:ln w="12700">
            <a:solidFill>
              <a:srgbClr val="D9E2EC"/>
            </a:solidFill>
          </a:ln>
          <a:effectLst/>
        </p:spPr>
        <p:txBody>
          <a:bodyPr rtlCol="0" anchor="ctr"/>
          <a:lstStyle/>
          <a:p>
            <a:pPr algn="ctr"/>
          </a:p>
        </p:txBody>
      </p:sp>
      <p:sp>
        <p:nvSpPr>
          <p:cNvPr id="46" name="TextBox 45"/>
          <p:cNvSpPr txBox="1"/>
          <p:nvPr/>
        </p:nvSpPr>
        <p:spPr>
          <a:xfrm>
            <a:off x="685800" y="3971599"/>
            <a:ext cx="219210"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4</a:t>
            </a:r>
          </a:p>
        </p:txBody>
      </p:sp>
      <p:sp>
        <p:nvSpPr>
          <p:cNvPr id="47" name="Rectangle 46"/>
          <p:cNvSpPr/>
          <p:nvPr/>
        </p:nvSpPr>
        <p:spPr>
          <a:xfrm>
            <a:off x="1051314" y="3971599"/>
            <a:ext cx="3344655" cy="729794"/>
          </a:xfrm>
          <a:prstGeom prst="rect">
            <a:avLst/>
          </a:prstGeom>
          <a:solidFill>
            <a:srgbClr val="F4F7FA"/>
          </a:solidFill>
          <a:ln w="12700">
            <a:solidFill>
              <a:srgbClr val="D9E2EC"/>
            </a:solidFill>
          </a:ln>
          <a:effectLst/>
        </p:spPr>
        <p:txBody>
          <a:bodyPr rtlCol="0" anchor="ctr"/>
          <a:lstStyle/>
          <a:p>
            <a:pPr algn="ctr"/>
          </a:p>
        </p:txBody>
      </p:sp>
      <p:sp>
        <p:nvSpPr>
          <p:cNvPr id="48" name="TextBox 47"/>
          <p:cNvSpPr txBox="1"/>
          <p:nvPr/>
        </p:nvSpPr>
        <p:spPr>
          <a:xfrm>
            <a:off x="1197618" y="3971599"/>
            <a:ext cx="3052047"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Лицензия против урегулирования</a:t>
            </a:r>
          </a:p>
        </p:txBody>
      </p:sp>
      <p:sp>
        <p:nvSpPr>
          <p:cNvPr id="49" name="Rectangle 48"/>
          <p:cNvSpPr/>
          <p:nvPr/>
        </p:nvSpPr>
        <p:spPr>
          <a:xfrm>
            <a:off x="4395969" y="3971599"/>
            <a:ext cx="2030414" cy="729794"/>
          </a:xfrm>
          <a:prstGeom prst="rect">
            <a:avLst/>
          </a:prstGeom>
          <a:solidFill>
            <a:srgbClr val="F4F7FA"/>
          </a:solidFill>
          <a:ln w="12700">
            <a:solidFill>
              <a:srgbClr val="D9E2EC"/>
            </a:solidFill>
          </a:ln>
          <a:effectLst/>
        </p:spPr>
        <p:txBody>
          <a:bodyPr rtlCol="0" anchor="ctr"/>
          <a:lstStyle/>
          <a:p>
            <a:pPr algn="ctr"/>
          </a:p>
        </p:txBody>
      </p:sp>
      <p:sp>
        <p:nvSpPr>
          <p:cNvPr id="50" name="TextBox 49"/>
          <p:cNvSpPr txBox="1"/>
          <p:nvPr/>
        </p:nvSpPr>
        <p:spPr>
          <a:xfrm>
            <a:off x="4542273" y="3971599"/>
            <a:ext cx="1737806"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$20–100 за трек</a:t>
            </a:r>
          </a:p>
        </p:txBody>
      </p:sp>
      <p:sp>
        <p:nvSpPr>
          <p:cNvPr id="51" name="Rectangle 50"/>
          <p:cNvSpPr/>
          <p:nvPr/>
        </p:nvSpPr>
        <p:spPr>
          <a:xfrm>
            <a:off x="6426384" y="3971599"/>
            <a:ext cx="2273122" cy="729794"/>
          </a:xfrm>
          <a:prstGeom prst="rect">
            <a:avLst/>
          </a:prstGeom>
          <a:solidFill>
            <a:srgbClr val="F4F7FA"/>
          </a:solidFill>
          <a:ln w="12700">
            <a:solidFill>
              <a:srgbClr val="D9E2EC"/>
            </a:solidFill>
          </a:ln>
          <a:effectLst/>
        </p:spPr>
        <p:txBody>
          <a:bodyPr rtlCol="0" anchor="ctr"/>
          <a:lstStyle/>
          <a:p>
            <a:pPr algn="ctr"/>
          </a:p>
        </p:txBody>
      </p:sp>
      <p:sp>
        <p:nvSpPr>
          <p:cNvPr id="52" name="TextBox 51"/>
          <p:cNvSpPr txBox="1"/>
          <p:nvPr/>
        </p:nvSpPr>
        <p:spPr>
          <a:xfrm>
            <a:off x="6572688" y="3971599"/>
            <a:ext cx="1980514" cy="729794"/>
          </a:xfrm>
          <a:prstGeom prst="rect">
            <a:avLst/>
          </a:prstGeom>
          <a:noFill/>
        </p:spPr>
        <p:txBody>
          <a:bodyPr wrap="square" lIns="0" rIns="0" tIns="0" bIns="0" anchor="ctr">
            <a:spAutoFit/>
          </a:bodyPr>
          <a:lstStyle/>
          <a:p>
            <a:pPr algn="l">
              <a:lnSpc>
                <a:spcPct val="116000"/>
              </a:lnSpc>
            </a:pPr>
            <a:r>
              <a:rPr sz="1550" b="0" i="0">
                <a:solidFill>
                  <a:srgbClr val="21295C"/>
                </a:solidFill>
                <a:latin typeface="Arial"/>
              </a:rPr>
              <a:t>$0,002–0,005 за песню</a:t>
            </a:r>
          </a:p>
        </p:txBody>
      </p:sp>
      <p:sp>
        <p:nvSpPr>
          <p:cNvPr id="53" name="Rectangle 52"/>
          <p:cNvSpPr/>
          <p:nvPr/>
        </p:nvSpPr>
        <p:spPr>
          <a:xfrm>
            <a:off x="8699506" y="3971599"/>
            <a:ext cx="2952692" cy="729794"/>
          </a:xfrm>
          <a:prstGeom prst="rect">
            <a:avLst/>
          </a:prstGeom>
          <a:solidFill>
            <a:srgbClr val="F4F7FA"/>
          </a:solidFill>
          <a:ln w="12700">
            <a:solidFill>
              <a:srgbClr val="D9E2EC"/>
            </a:solidFill>
          </a:ln>
          <a:effectLst/>
        </p:spPr>
        <p:txBody>
          <a:bodyPr rtlCol="0" anchor="ctr"/>
          <a:lstStyle/>
          <a:p>
            <a:pPr algn="ctr"/>
          </a:p>
        </p:txBody>
      </p:sp>
      <p:sp>
        <p:nvSpPr>
          <p:cNvPr id="54" name="TextBox 53"/>
          <p:cNvSpPr txBox="1"/>
          <p:nvPr/>
        </p:nvSpPr>
        <p:spPr>
          <a:xfrm>
            <a:off x="8845810" y="3971599"/>
            <a:ext cx="2660084" cy="729794"/>
          </a:xfrm>
          <a:prstGeom prst="rect">
            <a:avLst/>
          </a:prstGeom>
          <a:noFill/>
        </p:spPr>
        <p:txBody>
          <a:bodyPr wrap="square" lIns="0" rIns="0" tIns="0" bIns="0" anchor="ctr">
            <a:spAutoFit/>
          </a:bodyPr>
          <a:lstStyle/>
          <a:p>
            <a:pPr algn="l">
              <a:lnSpc>
                <a:spcPct val="116000"/>
              </a:lnSpc>
            </a:pPr>
            <a:r>
              <a:rPr sz="1550" b="1" i="0">
                <a:solidFill>
                  <a:srgbClr val="21295C"/>
                </a:solidFill>
                <a:latin typeface="Arial"/>
              </a:rPr>
              <a:t>×4000–50000</a:t>
            </a:r>
            <a:r>
              <a:rPr sz="1550" b="0" i="0">
                <a:solidFill>
                  <a:srgbClr val="21295C"/>
                </a:solidFill>
                <a:latin typeface="Arial"/>
              </a:rPr>
              <a:t> · 3,6–4,7 порядка</a:t>
            </a:r>
          </a:p>
        </p:txBody>
      </p:sp>
      <p:sp>
        <p:nvSpPr>
          <p:cNvPr id="55" name="TextBox 54"/>
          <p:cNvSpPr txBox="1"/>
          <p:nvPr/>
        </p:nvSpPr>
        <p:spPr>
          <a:xfrm>
            <a:off x="539496" y="4847697"/>
            <a:ext cx="11112703" cy="1286321"/>
          </a:xfrm>
          <a:prstGeom prst="rect">
            <a:avLst/>
          </a:prstGeom>
          <a:noFill/>
        </p:spPr>
        <p:txBody>
          <a:bodyPr wrap="square" lIns="0" rIns="0" tIns="0" bIns="0" anchor="t">
            <a:spAutoFit/>
          </a:bodyPr>
          <a:lstStyle/>
          <a:p>
            <a:pPr algn="l">
              <a:lnSpc>
                <a:spcPct val="124000"/>
              </a:lnSpc>
            </a:pPr>
            <a:r>
              <a:rPr sz="1650" b="1" i="0">
                <a:solidFill>
                  <a:srgbClr val="21295C"/>
                </a:solidFill>
                <a:latin typeface="Arial"/>
              </a:rPr>
              <a:t>Три измерения из четырёх попадают в диапазон целиком или почти целиком; одно — озвучка — задевает нижней границей два порядка, а не три.</a:t>
            </a:r>
            <a:r>
              <a:rPr sz="1600" b="0" i="0">
                <a:solidFill>
                  <a:srgbClr val="21295C"/>
                </a:solidFill>
                <a:latin typeface="Arial"/>
              </a:rPr>
              <a:t> Два случая в счёт не входят вовсе: лицензия Getty против нулевого платежа по решению суда (отношение к нулю не выражается порядком) и Ряд 2 опорного слайда входа (нет числа со стороны классического режима).</a:t>
            </a:r>
          </a:p>
        </p:txBody>
      </p:sp>
      <p:sp>
        <p:nvSpPr>
          <p:cNvPr id="56" name="Rectangle 55"/>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Вывод раздела: заработанный ответ</a:t>
            </a:r>
          </a:p>
        </p:txBody>
      </p:sp>
      <p:sp>
        <p:nvSpPr>
          <p:cNvPr id="4" name="Rounded Rectangle 3"/>
          <p:cNvSpPr/>
          <p:nvPr/>
        </p:nvSpPr>
        <p:spPr>
          <a:xfrm>
            <a:off x="374904" y="1243584"/>
            <a:ext cx="8113471" cy="2442647"/>
          </a:xfrm>
          <a:prstGeom prst="roundRect">
            <a:avLst>
              <a:gd name="adj" fmla="val 12478"/>
            </a:avLst>
          </a:prstGeom>
          <a:solidFill>
            <a:srgbClr val="F4F7FA"/>
          </a:solidFill>
          <a:ln w="19050">
            <a:solidFill>
              <a:srgbClr val="1C7293"/>
            </a:solidFill>
          </a:ln>
          <a:effectLst/>
        </p:spPr>
        <p:txBody>
          <a:bodyPr rtlCol="0" anchor="ctr"/>
          <a:lstStyle/>
          <a:p>
            <a:pPr algn="ctr"/>
          </a:p>
        </p:txBody>
      </p:sp>
      <p:sp>
        <p:nvSpPr>
          <p:cNvPr id="5" name="TextBox 4"/>
          <p:cNvSpPr txBox="1"/>
          <p:nvPr/>
        </p:nvSpPr>
        <p:spPr>
          <a:xfrm>
            <a:off x="539496" y="1335024"/>
            <a:ext cx="7784287" cy="4901184"/>
          </a:xfrm>
          <a:prstGeom prst="rect">
            <a:avLst/>
          </a:prstGeom>
          <a:noFill/>
        </p:spPr>
        <p:txBody>
          <a:bodyPr wrap="square" lIns="0" rIns="0" tIns="0" bIns="0" anchor="t">
            <a:spAutoFit/>
          </a:bodyPr>
          <a:lstStyle/>
          <a:p>
            <a:pPr algn="l">
              <a:lnSpc>
                <a:spcPct val="126000"/>
              </a:lnSpc>
            </a:pPr>
            <a:r>
              <a:rPr sz="1500" b="1" i="0">
                <a:solidFill>
                  <a:srgbClr val="21295C"/>
                </a:solidFill>
                <a:latin typeface="Arial"/>
              </a:rPr>
              <a:t>Раздел не добавил нового кейса — он показал, что материал пяти разделов складывается в чек-лист, словарь и заработанный ответ на вопрос лекции.</a:t>
            </a:r>
            <a:r>
              <a:rPr sz="1500" b="0" i="0">
                <a:solidFill>
                  <a:srgbClr val="21295C"/>
                </a:solidFill>
                <a:latin typeface="Arial"/>
              </a:rPr>
              <a:t> Ответ получил счёт по четырём адресам, а не остался риторическим.</a:t>
            </a:r>
          </a:p>
          <a:p>
            <a:pPr algn="l">
              <a:lnSpc>
                <a:spcPct val="126000"/>
              </a:lnSpc>
              <a:spcBef>
                <a:spcPts val="700"/>
              </a:spcBef>
            </a:pPr>
            <a:r>
              <a:rPr sz="1500" b="0" i="0">
                <a:solidFill>
                  <a:srgbClr val="21295C"/>
                </a:solidFill>
                <a:latin typeface="Arial"/>
              </a:rPr>
              <a:t/>
            </a:r>
            <a:r>
              <a:rPr sz="1500" b="0" i="0">
                <a:solidFill>
                  <a:srgbClr val="21295C"/>
                </a:solidFill>
                <a:latin typeface="Arial"/>
              </a:rPr>
              <a:t>Тот же паттерн подделываемого синтеза лица и голоса, показанный здесь на входе в творческое производство и на входе в компанию, встретится снова — уже не как вопрос доверия к контенту, а как вопрос защиты предприятия от прямого финансового мошенничества.</a:t>
            </a:r>
          </a:p>
        </p:txBody>
      </p:sp>
      <p:sp>
        <p:nvSpPr>
          <p:cNvPr id="6" name="Rounded Rectangle 5"/>
          <p:cNvSpPr/>
          <p:nvPr/>
        </p:nvSpPr>
        <p:spPr>
          <a:xfrm>
            <a:off x="8671255" y="1335024"/>
            <a:ext cx="3017520" cy="4389120"/>
          </a:xfrm>
          <a:prstGeom prst="roundRect">
            <a:avLst>
              <a:gd name="adj" fmla="val 10101"/>
            </a:avLst>
          </a:prstGeom>
          <a:solidFill>
            <a:srgbClr val="F4F7FA"/>
          </a:solidFill>
          <a:ln w="19050">
            <a:solidFill>
              <a:srgbClr val="1C7293"/>
            </a:solidFill>
          </a:ln>
          <a:effectLst/>
        </p:spPr>
        <p:txBody>
          <a:bodyPr rtlCol="0" anchor="ctr"/>
          <a:lstStyle/>
          <a:p>
            <a:pPr algn="ctr"/>
          </a:p>
        </p:txBody>
      </p:sp>
      <p:pic>
        <p:nvPicPr>
          <p:cNvPr id="7" name="Picture 6" descr="s72-zoom-group-call-laptop.jpg"/>
          <p:cNvPicPr>
            <a:picLocks noChangeAspect="1"/>
          </p:cNvPicPr>
          <p:nvPr/>
        </p:nvPicPr>
        <p:blipFill>
          <a:blip r:embed="rId2"/>
          <a:stretch>
            <a:fillRect/>
          </a:stretch>
        </p:blipFill>
        <p:spPr>
          <a:xfrm>
            <a:off x="8808415" y="1472184"/>
            <a:ext cx="2743200" cy="4114800"/>
          </a:xfrm>
          <a:prstGeom prst="rect">
            <a:avLst/>
          </a:prstGeom>
        </p:spPr>
      </p:pic>
      <p:sp>
        <p:nvSpPr>
          <p:cNvPr id="8" name="Rectangle 7"/>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Четыре точки пути — и что в каждой сломалось</a:t>
            </a:r>
          </a:p>
        </p:txBody>
      </p:sp>
      <p:sp>
        <p:nvSpPr>
          <p:cNvPr id="4" name="Rounded Rectangle 3"/>
          <p:cNvSpPr/>
          <p:nvPr/>
        </p:nvSpPr>
        <p:spPr>
          <a:xfrm>
            <a:off x="502920"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ПРОДАКШН / ИСПОЛНЕНИЕ</a:t>
            </a:r>
          </a:p>
        </p:txBody>
      </p:sp>
      <p:sp>
        <p:nvSpPr>
          <p:cNvPr id="6" name="TextBox 5"/>
          <p:cNvSpPr txBox="1"/>
          <p:nvPr/>
        </p:nvSpPr>
        <p:spPr>
          <a:xfrm>
            <a:off x="640080" y="1932846"/>
            <a:ext cx="1383715" cy="774985"/>
          </a:xfrm>
          <a:prstGeom prst="rect">
            <a:avLst/>
          </a:prstGeom>
          <a:noFill/>
        </p:spPr>
        <p:txBody>
          <a:bodyPr wrap="square" lIns="0" rIns="0" tIns="0" bIns="0" anchor="t">
            <a:spAutoFit/>
          </a:bodyPr>
          <a:lstStyle/>
          <a:p>
            <a:pPr algn="l">
              <a:lnSpc>
                <a:spcPct val="108000"/>
              </a:lnSpc>
            </a:pPr>
            <a:r>
              <a:rPr sz="1450" b="1" i="0">
                <a:solidFill>
                  <a:srgbClr val="21295C"/>
                </a:solidFill>
                <a:latin typeface="Arial"/>
              </a:rPr>
              <a:t>дни ожидания → секунды генерации</a:t>
            </a:r>
          </a:p>
        </p:txBody>
      </p:sp>
      <p:sp>
        <p:nvSpPr>
          <p:cNvPr id="7" name="TextBox 6"/>
          <p:cNvSpPr txBox="1"/>
          <p:nvPr/>
        </p:nvSpPr>
        <p:spPr>
          <a:xfrm>
            <a:off x="640080" y="2707831"/>
            <a:ext cx="1383715" cy="1056217"/>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медленность раньше была бесплатной проверкой подлинности</a:t>
            </a:r>
          </a:p>
        </p:txBody>
      </p:sp>
      <p:sp>
        <p:nvSpPr>
          <p:cNvPr id="8" name="Rounded Rectangle 7"/>
          <p:cNvSpPr/>
          <p:nvPr/>
        </p:nvSpPr>
        <p:spPr>
          <a:xfrm>
            <a:off x="2325547" y="1335024"/>
            <a:ext cx="1658035" cy="2981127"/>
          </a:xfrm>
          <a:prstGeom prst="roundRect">
            <a:avLst>
              <a:gd name="adj" fmla="val 18383"/>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2462707"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РЕДАКЦИОННЫЙ КОНТРОЛЬ</a:t>
            </a:r>
          </a:p>
        </p:txBody>
      </p:sp>
      <p:sp>
        <p:nvSpPr>
          <p:cNvPr id="10" name="TextBox 9"/>
          <p:cNvSpPr txBox="1"/>
          <p:nvPr/>
        </p:nvSpPr>
        <p:spPr>
          <a:xfrm>
            <a:off x="2462707" y="1932846"/>
            <a:ext cx="1383715" cy="647673"/>
          </a:xfrm>
          <a:prstGeom prst="rect">
            <a:avLst/>
          </a:prstGeom>
          <a:noFill/>
        </p:spPr>
        <p:txBody>
          <a:bodyPr wrap="square" lIns="0" rIns="0" tIns="0" bIns="0" anchor="t">
            <a:spAutoFit/>
          </a:bodyPr>
          <a:lstStyle/>
          <a:p>
            <a:pPr algn="l">
              <a:lnSpc>
                <a:spcPct val="108000"/>
              </a:lnSpc>
            </a:pPr>
            <a:r>
              <a:rPr sz="1800" b="1" i="0">
                <a:solidFill>
                  <a:srgbClr val="1C7293"/>
                </a:solidFill>
                <a:latin typeface="Arial"/>
              </a:rPr>
              <a:t>53% правок у CNET</a:t>
            </a:r>
          </a:p>
        </p:txBody>
      </p:sp>
      <p:sp>
        <p:nvSpPr>
          <p:cNvPr id="11" name="TextBox 10"/>
          <p:cNvSpPr txBox="1"/>
          <p:nvPr/>
        </p:nvSpPr>
        <p:spPr>
          <a:xfrm>
            <a:off x="2462707" y="2580519"/>
            <a:ext cx="13837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база — 40–61% газетных ошибок, тот же порядок величины</a:t>
            </a:r>
          </a:p>
        </p:txBody>
      </p:sp>
      <p:sp>
        <p:nvSpPr>
          <p:cNvPr id="12" name="Rounded Rectangle 11"/>
          <p:cNvSpPr/>
          <p:nvPr/>
        </p:nvSpPr>
        <p:spPr>
          <a:xfrm>
            <a:off x="4148175"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4285335"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РЕЛИЗ И ПРИЁМ АУДИТОРИЕЙ</a:t>
            </a:r>
          </a:p>
        </p:txBody>
      </p:sp>
      <p:sp>
        <p:nvSpPr>
          <p:cNvPr id="14" name="TextBox 13"/>
          <p:cNvSpPr txBox="1"/>
          <p:nvPr/>
        </p:nvSpPr>
        <p:spPr>
          <a:xfrm>
            <a:off x="4285335" y="1932846"/>
            <a:ext cx="1383715" cy="460949"/>
          </a:xfrm>
          <a:prstGeom prst="rect">
            <a:avLst/>
          </a:prstGeom>
          <a:noFill/>
        </p:spPr>
        <p:txBody>
          <a:bodyPr wrap="square" lIns="0" rIns="0" tIns="0" bIns="0" anchor="t">
            <a:spAutoFit/>
          </a:bodyPr>
          <a:lstStyle/>
          <a:p>
            <a:pPr algn="l">
              <a:lnSpc>
                <a:spcPct val="108000"/>
              </a:lnSpc>
            </a:pPr>
            <a:r>
              <a:rPr sz="1250" b="1" i="0">
                <a:solidFill>
                  <a:srgbClr val="21295C"/>
                </a:solidFill>
                <a:latin typeface="Arial"/>
              </a:rPr>
              <a:t>негатив 13,5% → 53,4% (CARMA)</a:t>
            </a:r>
          </a:p>
        </p:txBody>
      </p:sp>
      <p:sp>
        <p:nvSpPr>
          <p:cNvPr id="15" name="TextBox 14"/>
          <p:cNvSpPr txBox="1"/>
          <p:nvPr/>
        </p:nvSpPr>
        <p:spPr>
          <a:xfrm>
            <a:off x="4285335" y="2393795"/>
            <a:ext cx="1383715"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тот же ролик панель System1 оценила на 5,9★ из 5</a:t>
            </a:r>
          </a:p>
        </p:txBody>
      </p:sp>
      <p:sp>
        <p:nvSpPr>
          <p:cNvPr id="16" name="Rounded Rectangle 15"/>
          <p:cNvSpPr/>
          <p:nvPr/>
        </p:nvSpPr>
        <p:spPr>
          <a:xfrm>
            <a:off x="5970803" y="1335024"/>
            <a:ext cx="1658035" cy="2981127"/>
          </a:xfrm>
          <a:prstGeom prst="roundRect">
            <a:avLst>
              <a:gd name="adj" fmla="val 18383"/>
            </a:avLst>
          </a:prstGeom>
          <a:solidFill>
            <a:srgbClr val="F4F7FA"/>
          </a:solidFill>
          <a:ln w="15240">
            <a:solidFill>
              <a:srgbClr val="1C7293"/>
            </a:solidFill>
          </a:ln>
          <a:effectLst/>
        </p:spPr>
        <p:txBody>
          <a:bodyPr rtlCol="0" anchor="ctr"/>
          <a:lstStyle/>
          <a:p>
            <a:pPr algn="ctr"/>
          </a:p>
        </p:txBody>
      </p:sp>
      <p:sp>
        <p:nvSpPr>
          <p:cNvPr id="17" name="TextBox 16"/>
          <p:cNvSpPr txBox="1"/>
          <p:nvPr/>
        </p:nvSpPr>
        <p:spPr>
          <a:xfrm>
            <a:off x="6107963" y="1472184"/>
            <a:ext cx="1383715" cy="460662"/>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ПРАВА И ЛИЦЕНЗИЯ</a:t>
            </a:r>
          </a:p>
        </p:txBody>
      </p:sp>
      <p:sp>
        <p:nvSpPr>
          <p:cNvPr id="18" name="TextBox 17"/>
          <p:cNvSpPr txBox="1"/>
          <p:nvPr/>
        </p:nvSpPr>
        <p:spPr>
          <a:xfrm>
            <a:off x="6107963" y="1932846"/>
            <a:ext cx="1383715" cy="978684"/>
          </a:xfrm>
          <a:prstGeom prst="rect">
            <a:avLst/>
          </a:prstGeom>
          <a:noFill/>
        </p:spPr>
        <p:txBody>
          <a:bodyPr wrap="square" lIns="0" rIns="0" tIns="0" bIns="0" anchor="t">
            <a:spAutoFit/>
          </a:bodyPr>
          <a:lstStyle/>
          <a:p>
            <a:pPr algn="l">
              <a:lnSpc>
                <a:spcPct val="108000"/>
              </a:lnSpc>
            </a:pPr>
            <a:r>
              <a:rPr sz="1850" b="1" i="0">
                <a:solidFill>
                  <a:srgbClr val="21295C"/>
                </a:solidFill>
                <a:latin typeface="Arial"/>
              </a:rPr>
              <a:t>разрыв в три-четыре порядка</a:t>
            </a:r>
          </a:p>
        </p:txBody>
      </p:sp>
      <p:sp>
        <p:nvSpPr>
          <p:cNvPr id="19" name="TextBox 18"/>
          <p:cNvSpPr txBox="1"/>
          <p:nvPr/>
        </p:nvSpPr>
        <p:spPr>
          <a:xfrm>
            <a:off x="6107963" y="2911530"/>
            <a:ext cx="1383715" cy="126746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суд, иск, settlement-ставка и розничный тариф сходятся в один порядок величины</a:t>
            </a:r>
          </a:p>
        </p:txBody>
      </p:sp>
      <p:sp>
        <p:nvSpPr>
          <p:cNvPr id="20" name="Rounded Rectangle 19"/>
          <p:cNvSpPr/>
          <p:nvPr/>
        </p:nvSpPr>
        <p:spPr>
          <a:xfrm>
            <a:off x="374904" y="4407591"/>
            <a:ext cx="11441887" cy="1828616"/>
          </a:xfrm>
          <a:prstGeom prst="roundRect">
            <a:avLst>
              <a:gd name="adj" fmla="val 16668"/>
            </a:avLst>
          </a:prstGeom>
          <a:solidFill>
            <a:srgbClr val="F4F7FA"/>
          </a:solidFill>
          <a:ln w="19050">
            <a:solidFill>
              <a:srgbClr val="1C7293"/>
            </a:solidFill>
          </a:ln>
          <a:effectLst/>
        </p:spPr>
        <p:txBody>
          <a:bodyPr rtlCol="0" anchor="ctr"/>
          <a:lstStyle/>
          <a:p>
            <a:pPr algn="ctr"/>
          </a:p>
        </p:txBody>
      </p:sp>
      <p:sp>
        <p:nvSpPr>
          <p:cNvPr id="21" name="TextBox 20"/>
          <p:cNvSpPr txBox="1"/>
          <p:nvPr/>
        </p:nvSpPr>
        <p:spPr>
          <a:xfrm>
            <a:off x="539496" y="4499031"/>
            <a:ext cx="11112703" cy="1737176"/>
          </a:xfrm>
          <a:prstGeom prst="rect">
            <a:avLst/>
          </a:prstGeom>
          <a:noFill/>
        </p:spPr>
        <p:txBody>
          <a:bodyPr wrap="square" lIns="0" rIns="0" tIns="0" bIns="0" anchor="t">
            <a:spAutoFit/>
          </a:bodyPr>
          <a:lstStyle/>
          <a:p>
            <a:pPr algn="l">
              <a:lnSpc>
                <a:spcPct val="126000"/>
              </a:lnSpc>
            </a:pPr>
            <a:r>
              <a:rPr sz="1050" b="1" i="0">
                <a:solidFill>
                  <a:srgbClr val="21295C"/>
                </a:solidFill>
                <a:latin typeface="Arial"/>
              </a:rPr>
              <a:t>Путь одного артефакта прошёл четыре точки, где узнавание раньше работало бесплатно — и в каждой названо, что именно сломалось.</a:t>
            </a:r>
          </a:p>
          <a:p>
            <a:pPr algn="l">
              <a:lnSpc>
                <a:spcPct val="126000"/>
              </a:lnSpc>
              <a:spcBef>
                <a:spcPts val="700"/>
              </a:spcBef>
            </a:pPr>
            <a:r>
              <a:rPr sz="1050" b="0" i="0">
                <a:solidFill>
                  <a:srgbClr val="21295C"/>
                </a:solidFill>
                <a:latin typeface="Arial"/>
              </a:rPr>
              <a:t/>
            </a:r>
            <a:r>
              <a:rPr sz="1050" b="0" i="0">
                <a:solidFill>
                  <a:srgbClr val="21295C"/>
                </a:solidFill>
                <a:latin typeface="Arial"/>
              </a:rPr>
              <a:t>• на входе — не качество результата, а порог времени и навыка, который раньше отсеивал часть заказов самой ценой</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проверке — не точность текста, а подпись, которая давно не отвечала за неё на практике</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публикации — не реакция зрителя вообще, а расхождение между тем, что предсказывает тестирование, и тем, что происходит в открытой аудитории</a:t>
            </a:r>
          </a:p>
          <a:p>
            <a:pPr algn="l">
              <a:lnSpc>
                <a:spcPct val="126000"/>
              </a:lnSpc>
              <a:spcBef>
                <a:spcPts val="700"/>
              </a:spcBef>
            </a:pPr>
            <a:r>
              <a:rPr sz="1050" b="0" i="0">
                <a:solidFill>
                  <a:srgbClr val="21295C"/>
                </a:solidFill>
                <a:latin typeface="Arial"/>
              </a:rPr>
              <a:t/>
            </a:r>
            <a:r>
              <a:rPr sz="1050" b="0" i="0">
                <a:solidFill>
                  <a:srgbClr val="21295C"/>
                </a:solidFill>
                <a:latin typeface="Arial"/>
              </a:rPr>
              <a:t>• при оплате — не правота сторон, а цена, которую рынок и закон назначают одному и тому же узнаванию по-разному</a:t>
            </a:r>
          </a:p>
          <a:p>
            <a:pPr algn="l">
              <a:lnSpc>
                <a:spcPct val="126000"/>
              </a:lnSpc>
              <a:spcBef>
                <a:spcPts val="700"/>
              </a:spcBef>
            </a:pPr>
            <a:r>
              <a:rPr sz="1050" b="0" i="0">
                <a:solidFill>
                  <a:srgbClr val="21295C"/>
                </a:solidFill>
                <a:latin typeface="Arial"/>
              </a:rPr>
              <a:t/>
            </a:r>
            <a:r>
              <a:rPr sz="1050" b="1" i="0">
                <a:solidFill>
                  <a:srgbClr val="21295C"/>
                </a:solidFill>
                <a:latin typeface="Arial"/>
              </a:rPr>
              <a:t>Кто держал все четыре точки своими руками, тоже не удержался на прежнем месте.</a:t>
            </a:r>
          </a:p>
        </p:txBody>
      </p:sp>
      <p:sp>
        <p:nvSpPr>
          <p:cNvPr id="22" name="Rounded Rectangle 21"/>
          <p:cNvSpPr/>
          <p:nvPr/>
        </p:nvSpPr>
        <p:spPr>
          <a:xfrm>
            <a:off x="7939735" y="1335024"/>
            <a:ext cx="3749039" cy="2880360"/>
          </a:xfrm>
          <a:prstGeom prst="roundRect">
            <a:avLst>
              <a:gd name="adj" fmla="val 10582"/>
            </a:avLst>
          </a:prstGeom>
          <a:solidFill>
            <a:srgbClr val="F4F7FA"/>
          </a:solidFill>
          <a:ln w="19050">
            <a:solidFill>
              <a:srgbClr val="1C7293"/>
            </a:solidFill>
          </a:ln>
          <a:effectLst/>
        </p:spPr>
        <p:txBody>
          <a:bodyPr rtlCol="0" anchor="ctr"/>
          <a:lstStyle/>
          <a:p>
            <a:pPr algn="ctr"/>
          </a:p>
        </p:txBody>
      </p:sp>
      <p:pic>
        <p:nvPicPr>
          <p:cNvPr id="23" name="Picture 22" descr="s73-unsigned-contract-signature-line.jpg"/>
          <p:cNvPicPr>
            <a:picLocks noChangeAspect="1"/>
          </p:cNvPicPr>
          <p:nvPr/>
        </p:nvPicPr>
        <p:blipFill>
          <a:blip r:embed="rId2"/>
          <a:stretch>
            <a:fillRect/>
          </a:stretch>
        </p:blipFill>
        <p:spPr>
          <a:xfrm>
            <a:off x="8076895" y="1472184"/>
            <a:ext cx="3474720" cy="2606040"/>
          </a:xfrm>
          <a:prstGeom prst="rect">
            <a:avLst/>
          </a:prstGeom>
        </p:spPr>
      </p:pic>
      <p:sp>
        <p:nvSpPr>
          <p:cNvPr id="24" name="Rectangle 23"/>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5" name="TextBox 24"/>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Predictive Analytics World, 2023 (CNET)</a:t>
            </a:r>
            <a:r>
              <a:rPr sz="1200" b="0" i="1">
                <a:solidFill>
                  <a:srgbClr val="1C7293"/>
                </a:solidFill>
                <a:latin typeface="Arial"/>
              </a:rPr>
              <a:t> · </a:t>
            </a:r>
            <a:r>
              <a:rPr sz="1200" b="0" i="1" u="sng">
                <a:solidFill>
                  <a:srgbClr val="065A82"/>
                </a:solidFill>
                <a:latin typeface="Arial"/>
                <a:hlinkClick r:id="rId4"/>
              </a:rPr>
              <a:t>System1 Group, 2025</a:t>
            </a:r>
            <a:r>
              <a:rPr sz="1200" b="0" i="1">
                <a:solidFill>
                  <a:srgbClr val="1C7293"/>
                </a:solidFill>
                <a:latin typeface="Arial"/>
              </a:rPr>
              <a:t> · </a:t>
            </a:r>
            <a:r>
              <a:rPr sz="1200" b="0" i="1" u="sng">
                <a:solidFill>
                  <a:srgbClr val="065A82"/>
                </a:solidFill>
                <a:latin typeface="Arial"/>
                <a:hlinkClick r:id="rId5"/>
              </a:rPr>
              <a:t>CARMA, 2026</a:t>
            </a:r>
            <a:r>
              <a:rPr sz="1200" b="0" i="1">
                <a:solidFill>
                  <a:srgbClr val="1C7293"/>
                </a:solidFill>
                <a:latin typeface="Arial"/>
              </a:rPr>
              <a:t> · </a:t>
            </a:r>
            <a:r>
              <a:rPr sz="1200" b="0" i="1" u="sng">
                <a:solidFill>
                  <a:srgbClr val="065A82"/>
                </a:solidFill>
                <a:latin typeface="Arial"/>
                <a:hlinkClick r:id="rId6"/>
              </a:rPr>
              <a:t>Bird &amp; Bird, 2025 (Getty v Stability AI, Высокий суд Великобритании)</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Один и тот же синтез — разный адрес в Лекции 14</a:t>
            </a:r>
          </a:p>
        </p:txBody>
      </p:sp>
      <p:sp>
        <p:nvSpPr>
          <p:cNvPr id="4" name="Rounded Rectangle 3"/>
          <p:cNvSpPr/>
          <p:nvPr/>
        </p:nvSpPr>
        <p:spPr>
          <a:xfrm>
            <a:off x="502920" y="1335024"/>
            <a:ext cx="2749143" cy="2089001"/>
          </a:xfrm>
          <a:prstGeom prst="roundRect">
            <a:avLst>
              <a:gd name="adj" fmla="val 14590"/>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4748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ТЕХНОЛОГИЯ</a:t>
            </a:r>
          </a:p>
        </p:txBody>
      </p:sp>
      <p:sp>
        <p:nvSpPr>
          <p:cNvPr id="6" name="TextBox 5"/>
          <p:cNvSpPr txBox="1"/>
          <p:nvPr/>
        </p:nvSpPr>
        <p:spPr>
          <a:xfrm>
            <a:off x="640080" y="1725375"/>
            <a:ext cx="2474823" cy="1105996"/>
          </a:xfrm>
          <a:prstGeom prst="rect">
            <a:avLst/>
          </a:prstGeom>
          <a:noFill/>
        </p:spPr>
        <p:txBody>
          <a:bodyPr wrap="square" lIns="0" rIns="0" tIns="0" bIns="0" anchor="t">
            <a:spAutoFit/>
          </a:bodyPr>
          <a:lstStyle/>
          <a:p>
            <a:pPr algn="l">
              <a:lnSpc>
                <a:spcPct val="108000"/>
              </a:lnSpc>
            </a:pPr>
            <a:r>
              <a:rPr sz="2100" b="1" i="0">
                <a:solidFill>
                  <a:srgbClr val="21295C"/>
                </a:solidFill>
                <a:latin typeface="Arial"/>
              </a:rPr>
              <a:t>синтез лица и голоса обученной моделью</a:t>
            </a:r>
          </a:p>
        </p:txBody>
      </p:sp>
      <p:sp>
        <p:nvSpPr>
          <p:cNvPr id="7" name="TextBox 6"/>
          <p:cNvSpPr txBox="1"/>
          <p:nvPr/>
        </p:nvSpPr>
        <p:spPr>
          <a:xfrm>
            <a:off x="640080" y="2831371"/>
            <a:ext cx="2474823" cy="21124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одна и та же на обеих лекциях</a:t>
            </a:r>
          </a:p>
        </p:txBody>
      </p:sp>
      <p:sp>
        <p:nvSpPr>
          <p:cNvPr id="8" name="Rounded Rectangle 7"/>
          <p:cNvSpPr/>
          <p:nvPr/>
        </p:nvSpPr>
        <p:spPr>
          <a:xfrm>
            <a:off x="3416655" y="1335024"/>
            <a:ext cx="2749143" cy="2089001"/>
          </a:xfrm>
          <a:prstGeom prst="roundRect">
            <a:avLst>
              <a:gd name="adj" fmla="val 14590"/>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553815" y="1472184"/>
            <a:ext cx="247482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РАЗНИЦА</a:t>
            </a:r>
          </a:p>
        </p:txBody>
      </p:sp>
      <p:sp>
        <p:nvSpPr>
          <p:cNvPr id="10" name="TextBox 9"/>
          <p:cNvSpPr txBox="1"/>
          <p:nvPr/>
        </p:nvSpPr>
        <p:spPr>
          <a:xfrm>
            <a:off x="3553815" y="1725375"/>
            <a:ext cx="2474823" cy="927759"/>
          </a:xfrm>
          <a:prstGeom prst="rect">
            <a:avLst/>
          </a:prstGeom>
          <a:noFill/>
        </p:spPr>
        <p:txBody>
          <a:bodyPr wrap="square" lIns="0" rIns="0" tIns="0" bIns="0" anchor="t">
            <a:spAutoFit/>
          </a:bodyPr>
          <a:lstStyle/>
          <a:p>
            <a:pPr algn="l">
              <a:lnSpc>
                <a:spcPct val="108000"/>
              </a:lnSpc>
            </a:pPr>
            <a:r>
              <a:rPr sz="1750" b="1" i="0">
                <a:solidFill>
                  <a:srgbClr val="1C7293"/>
                </a:solidFill>
                <a:latin typeface="Arial"/>
              </a:rPr>
              <a:t>вход в компанию против действующей компании</a:t>
            </a:r>
          </a:p>
        </p:txBody>
      </p:sp>
      <p:sp>
        <p:nvSpPr>
          <p:cNvPr id="11" name="TextBox 10"/>
          <p:cNvSpPr txBox="1"/>
          <p:nvPr/>
        </p:nvSpPr>
        <p:spPr>
          <a:xfrm>
            <a:off x="3553815" y="2653134"/>
            <a:ext cx="247482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разный момент жизненного цикла — разная процедура защиты</a:t>
            </a:r>
          </a:p>
        </p:txBody>
      </p:sp>
      <p:sp>
        <p:nvSpPr>
          <p:cNvPr id="12" name="Rounded Rectangle 11"/>
          <p:cNvSpPr/>
          <p:nvPr/>
        </p:nvSpPr>
        <p:spPr>
          <a:xfrm>
            <a:off x="502920" y="3606905"/>
            <a:ext cx="2675991" cy="2115817"/>
          </a:xfrm>
          <a:prstGeom prst="roundRect">
            <a:avLst>
              <a:gd name="adj" fmla="val 14405"/>
            </a:avLst>
          </a:prstGeom>
          <a:solidFill>
            <a:srgbClr val="F4F7FA"/>
          </a:solidFill>
          <a:ln w="19050">
            <a:solidFill>
              <a:srgbClr val="1C7293"/>
            </a:solidFill>
          </a:ln>
          <a:effectLst/>
        </p:spPr>
        <p:txBody>
          <a:bodyPr rtlCol="0" anchor="ctr"/>
          <a:lstStyle/>
          <a:p>
            <a:pPr algn="ctr"/>
          </a:p>
        </p:txBody>
      </p:sp>
      <p:sp>
        <p:nvSpPr>
          <p:cNvPr id="13" name="TextBox 12"/>
          <p:cNvSpPr txBox="1"/>
          <p:nvPr/>
        </p:nvSpPr>
        <p:spPr>
          <a:xfrm>
            <a:off x="667512" y="3762353"/>
            <a:ext cx="2346807" cy="246450"/>
          </a:xfrm>
          <a:prstGeom prst="rect">
            <a:avLst/>
          </a:prstGeom>
          <a:noFill/>
        </p:spPr>
        <p:txBody>
          <a:bodyPr wrap="square" lIns="0" rIns="0" tIns="0" bIns="0" anchor="t">
            <a:spAutoFit/>
          </a:bodyPr>
          <a:lstStyle/>
          <a:p>
            <a:pPr algn="l">
              <a:lnSpc>
                <a:spcPct val="112000"/>
              </a:lnSpc>
            </a:pPr>
            <a:r>
              <a:rPr sz="1400" b="1" i="0">
                <a:solidFill>
                  <a:srgbClr val="065A82"/>
                </a:solidFill>
                <a:latin typeface="Arial"/>
              </a:rPr>
              <a:t>Здесь — вход в компанию</a:t>
            </a:r>
          </a:p>
        </p:txBody>
      </p:sp>
      <p:sp>
        <p:nvSpPr>
          <p:cNvPr id="14" name="TextBox 13"/>
          <p:cNvSpPr txBox="1"/>
          <p:nvPr/>
        </p:nvSpPr>
        <p:spPr>
          <a:xfrm>
            <a:off x="667512" y="4118531"/>
            <a:ext cx="2346807" cy="1448743"/>
          </a:xfrm>
          <a:prstGeom prst="rect">
            <a:avLst/>
          </a:prstGeom>
          <a:noFill/>
        </p:spPr>
        <p:txBody>
          <a:bodyPr wrap="square" lIns="0" rIns="0" tIns="0" bIns="0" anchor="t">
            <a:spAutoFit/>
          </a:bodyPr>
          <a:lstStyle/>
          <a:p>
            <a:pPr algn="l">
              <a:lnSpc>
                <a:spcPct val="126000"/>
              </a:lnSpc>
            </a:pPr>
            <a:r>
              <a:rPr sz="1000" b="0" i="0">
                <a:solidFill>
                  <a:srgbClr val="21295C"/>
                </a:solidFill>
                <a:latin typeface="Arial"/>
              </a:rPr>
              <a:t>• кандидат проходит видеозвонок под синтезированным лицом и голосом</a:t>
            </a:r>
          </a:p>
          <a:p>
            <a:pPr algn="l">
              <a:lnSpc>
                <a:spcPct val="126000"/>
              </a:lnSpc>
            </a:pPr>
            <a:r>
              <a:rPr sz="1000" b="0" i="0">
                <a:solidFill>
                  <a:srgbClr val="21295C"/>
                </a:solidFill>
                <a:latin typeface="Arial"/>
              </a:rPr>
              <a:t>• цель обмана — пройти интервью и получить офер</a:t>
            </a:r>
          </a:p>
          <a:p>
            <a:pPr algn="l">
              <a:lnSpc>
                <a:spcPct val="126000"/>
              </a:lnSpc>
            </a:pPr>
            <a:r>
              <a:rPr sz="1000" b="0" i="0">
                <a:solidFill>
                  <a:srgbClr val="21295C"/>
                </a:solidFill>
                <a:latin typeface="Arial"/>
              </a:rPr>
              <a:t>• защита — независимая проверка личности сверх видеозвонка, очная явка хотя бы на одном этапе</a:t>
            </a:r>
          </a:p>
        </p:txBody>
      </p:sp>
      <p:sp>
        <p:nvSpPr>
          <p:cNvPr id="15" name="Rounded Rectangle 14"/>
          <p:cNvSpPr/>
          <p:nvPr/>
        </p:nvSpPr>
        <p:spPr>
          <a:xfrm>
            <a:off x="3489807" y="3606905"/>
            <a:ext cx="2675991" cy="2115817"/>
          </a:xfrm>
          <a:prstGeom prst="roundRect">
            <a:avLst>
              <a:gd name="adj" fmla="val 14405"/>
            </a:avLst>
          </a:prstGeom>
          <a:solidFill>
            <a:srgbClr val="FFFFFF"/>
          </a:solidFill>
          <a:ln w="19050">
            <a:solidFill>
              <a:srgbClr val="028090"/>
            </a:solidFill>
          </a:ln>
          <a:effectLst/>
        </p:spPr>
        <p:txBody>
          <a:bodyPr rtlCol="0" anchor="ctr"/>
          <a:lstStyle/>
          <a:p>
            <a:pPr algn="ctr"/>
          </a:p>
        </p:txBody>
      </p:sp>
      <p:sp>
        <p:nvSpPr>
          <p:cNvPr id="16" name="TextBox 15"/>
          <p:cNvSpPr txBox="1"/>
          <p:nvPr/>
        </p:nvSpPr>
        <p:spPr>
          <a:xfrm>
            <a:off x="3654399" y="3762353"/>
            <a:ext cx="2346807" cy="492901"/>
          </a:xfrm>
          <a:prstGeom prst="rect">
            <a:avLst/>
          </a:prstGeom>
          <a:noFill/>
        </p:spPr>
        <p:txBody>
          <a:bodyPr wrap="square" lIns="0" rIns="0" tIns="0" bIns="0" anchor="t">
            <a:spAutoFit/>
          </a:bodyPr>
          <a:lstStyle/>
          <a:p>
            <a:pPr algn="l">
              <a:lnSpc>
                <a:spcPct val="112000"/>
              </a:lnSpc>
            </a:pPr>
            <a:r>
              <a:rPr sz="1400" b="1" i="0">
                <a:solidFill>
                  <a:srgbClr val="028090"/>
                </a:solidFill>
                <a:latin typeface="Arial"/>
              </a:rPr>
              <a:t>Лекция 14 — внутри уже действующей компании</a:t>
            </a:r>
          </a:p>
        </p:txBody>
      </p:sp>
      <p:sp>
        <p:nvSpPr>
          <p:cNvPr id="17" name="TextBox 16"/>
          <p:cNvSpPr txBox="1"/>
          <p:nvPr/>
        </p:nvSpPr>
        <p:spPr>
          <a:xfrm>
            <a:off x="3654399" y="4364982"/>
            <a:ext cx="2346807" cy="1202292"/>
          </a:xfrm>
          <a:prstGeom prst="rect">
            <a:avLst/>
          </a:prstGeom>
          <a:noFill/>
        </p:spPr>
        <p:txBody>
          <a:bodyPr wrap="square" lIns="0" rIns="0" tIns="0" bIns="0" anchor="t">
            <a:spAutoFit/>
          </a:bodyPr>
          <a:lstStyle/>
          <a:p>
            <a:pPr algn="l">
              <a:lnSpc>
                <a:spcPct val="126000"/>
              </a:lnSpc>
            </a:pPr>
            <a:r>
              <a:rPr sz="900" b="0" i="0">
                <a:solidFill>
                  <a:srgbClr val="21295C"/>
                </a:solidFill>
                <a:latin typeface="Arial"/>
              </a:rPr>
              <a:t>• сотрудник получает звонок от синтезированного «руководителя»</a:t>
            </a:r>
          </a:p>
          <a:p>
            <a:pPr algn="l">
              <a:lnSpc>
                <a:spcPct val="126000"/>
              </a:lnSpc>
            </a:pPr>
            <a:r>
              <a:rPr sz="900" b="0" i="0">
                <a:solidFill>
                  <a:srgbClr val="21295C"/>
                </a:solidFill>
                <a:latin typeface="Arial"/>
              </a:rPr>
              <a:t>• цель обмана — получить разовый перевод денег постфактум</a:t>
            </a:r>
          </a:p>
          <a:p>
            <a:pPr algn="l">
              <a:lnSpc>
                <a:spcPct val="126000"/>
              </a:lnSpc>
            </a:pPr>
            <a:r>
              <a:rPr sz="900" b="0" i="0">
                <a:solidFill>
                  <a:srgbClr val="21295C"/>
                </a:solidFill>
                <a:latin typeface="Arial"/>
              </a:rPr>
              <a:t>• защита — обратный звонок на известный номер, двойное утверждение транзакции</a:t>
            </a:r>
          </a:p>
        </p:txBody>
      </p:sp>
      <p:sp>
        <p:nvSpPr>
          <p:cNvPr id="18" name="Rounded Rectangle 17"/>
          <p:cNvSpPr/>
          <p:nvPr/>
        </p:nvSpPr>
        <p:spPr>
          <a:xfrm>
            <a:off x="374904" y="5814163"/>
            <a:ext cx="11441887" cy="422044"/>
          </a:xfrm>
          <a:prstGeom prst="roundRect">
            <a:avLst>
              <a:gd name="adj" fmla="val 25000"/>
            </a:avLst>
          </a:prstGeom>
          <a:solidFill>
            <a:srgbClr val="F4F7FA"/>
          </a:solidFill>
          <a:ln w="19050">
            <a:solidFill>
              <a:srgbClr val="1C7293"/>
            </a:solidFill>
          </a:ln>
          <a:effectLst/>
        </p:spPr>
        <p:txBody>
          <a:bodyPr rtlCol="0" anchor="ctr"/>
          <a:lstStyle/>
          <a:p>
            <a:pPr algn="ctr"/>
          </a:p>
        </p:txBody>
      </p:sp>
      <p:sp>
        <p:nvSpPr>
          <p:cNvPr id="19" name="TextBox 18"/>
          <p:cNvSpPr txBox="1"/>
          <p:nvPr/>
        </p:nvSpPr>
        <p:spPr>
          <a:xfrm>
            <a:off x="539496" y="5905603"/>
            <a:ext cx="11112703" cy="330604"/>
          </a:xfrm>
          <a:prstGeom prst="rect">
            <a:avLst/>
          </a:prstGeom>
          <a:noFill/>
        </p:spPr>
        <p:txBody>
          <a:bodyPr wrap="square" lIns="0" rIns="0" tIns="0" bIns="0" anchor="t">
            <a:spAutoFit/>
          </a:bodyPr>
          <a:lstStyle/>
          <a:p>
            <a:pPr algn="l">
              <a:lnSpc>
                <a:spcPct val="126000"/>
              </a:lnSpc>
            </a:pPr>
            <a:r>
              <a:rPr sz="1350" b="1" i="0">
                <a:solidFill>
                  <a:srgbClr val="21295C"/>
                </a:solidFill>
                <a:latin typeface="Arial"/>
              </a:rPr>
              <a:t>Один и тот же синтез — разный адрес.</a:t>
            </a:r>
            <a:r>
              <a:rPr sz="1350" b="0" i="0">
                <a:solidFill>
                  <a:srgbClr val="21295C"/>
                </a:solidFill>
                <a:latin typeface="Arial"/>
              </a:rPr>
              <a:t> Здесь — вход в компанию; в Лекции 14 — извлечение перевода из уже действующей компании.</a:t>
            </a:r>
          </a:p>
        </p:txBody>
      </p:sp>
      <p:sp>
        <p:nvSpPr>
          <p:cNvPr id="20" name="Rounded Rectangle 19"/>
          <p:cNvSpPr/>
          <p:nvPr/>
        </p:nvSpPr>
        <p:spPr>
          <a:xfrm>
            <a:off x="6476695" y="1335024"/>
            <a:ext cx="5212080" cy="3566160"/>
          </a:xfrm>
          <a:prstGeom prst="roundRect">
            <a:avLst>
              <a:gd name="adj" fmla="val 8547"/>
            </a:avLst>
          </a:prstGeom>
          <a:solidFill>
            <a:srgbClr val="F4F7FA"/>
          </a:solidFill>
          <a:ln w="19050">
            <a:solidFill>
              <a:srgbClr val="1C7293"/>
            </a:solidFill>
          </a:ln>
          <a:effectLst/>
        </p:spPr>
        <p:txBody>
          <a:bodyPr rtlCol="0" anchor="ctr"/>
          <a:lstStyle/>
          <a:p>
            <a:pPr algn="ctr"/>
          </a:p>
        </p:txBody>
      </p:sp>
      <p:pic>
        <p:nvPicPr>
          <p:cNvPr id="21" name="Picture 20" descr="s74-video-call-face-on-screen.jpg"/>
          <p:cNvPicPr>
            <a:picLocks noChangeAspect="1"/>
          </p:cNvPicPr>
          <p:nvPr/>
        </p:nvPicPr>
        <p:blipFill>
          <a:blip r:embed="rId2"/>
          <a:stretch>
            <a:fillRect/>
          </a:stretch>
        </p:blipFill>
        <p:spPr>
          <a:xfrm>
            <a:off x="6613855" y="1472184"/>
            <a:ext cx="4937760" cy="3291840"/>
          </a:xfrm>
          <a:prstGeom prst="rect">
            <a:avLst/>
          </a:prstGeom>
        </p:spPr>
      </p:pic>
      <p:sp>
        <p:nvSpPr>
          <p:cNvPr id="22" name="Rectangle 21"/>
          <p:cNvSpPr/>
          <p:nvPr/>
        </p:nvSpPr>
        <p:spPr>
          <a:xfrm>
            <a:off x="502920" y="888090"/>
            <a:ext cx="960120" cy="50292"/>
          </a:xfrm>
          <a:prstGeom prst="rect">
            <a:avLst/>
          </a:prstGeom>
          <a:solidFill>
            <a:srgbClr val="F0AB00"/>
          </a:solidFill>
          <a:ln>
            <a:noFill/>
          </a:ln>
          <a:effectLst/>
        </p:spPr>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02920" y="365760"/>
            <a:ext cx="11185855" cy="841248"/>
          </a:xfrm>
          <a:prstGeom prst="rect">
            <a:avLst/>
          </a:prstGeom>
          <a:noFill/>
        </p:spPr>
        <p:txBody>
          <a:bodyPr wrap="square" lIns="0" rIns="0" tIns="0" bIns="0" anchor="t">
            <a:spAutoFit/>
          </a:bodyPr>
          <a:lstStyle/>
          <a:p>
            <a:pPr algn="l">
              <a:lnSpc>
                <a:spcPct val="108000"/>
              </a:lnSpc>
            </a:pPr>
            <a:r>
              <a:rPr sz="2700" b="1" i="0">
                <a:solidFill>
                  <a:srgbClr val="21295C"/>
                </a:solidFill>
                <a:latin typeface="Arial"/>
              </a:rPr>
              <a:t>Что это утверждение не говорит — и что остаётся инженеру</a:t>
            </a:r>
          </a:p>
        </p:txBody>
      </p:sp>
      <p:sp>
        <p:nvSpPr>
          <p:cNvPr id="4" name="Rounded Rectangle 3"/>
          <p:cNvSpPr/>
          <p:nvPr/>
        </p:nvSpPr>
        <p:spPr>
          <a:xfrm>
            <a:off x="502920" y="1335024"/>
            <a:ext cx="2482283" cy="2580330"/>
          </a:xfrm>
          <a:prstGeom prst="roundRect">
            <a:avLst>
              <a:gd name="adj" fmla="val 12279"/>
            </a:avLst>
          </a:prstGeom>
          <a:solidFill>
            <a:srgbClr val="F4F7FA"/>
          </a:solidFill>
          <a:ln w="15240">
            <a:solidFill>
              <a:srgbClr val="1C7293"/>
            </a:solidFill>
          </a:ln>
          <a:effectLst/>
        </p:spPr>
        <p:txBody>
          <a:bodyPr rtlCol="0" anchor="ctr"/>
          <a:lstStyle/>
          <a:p>
            <a:pPr algn="ctr"/>
          </a:p>
        </p:txBody>
      </p:sp>
      <p:sp>
        <p:nvSpPr>
          <p:cNvPr id="5" name="TextBox 4"/>
          <p:cNvSpPr txBox="1"/>
          <p:nvPr/>
        </p:nvSpPr>
        <p:spPr>
          <a:xfrm>
            <a:off x="640080"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ГОВОРИТ</a:t>
            </a:r>
          </a:p>
        </p:txBody>
      </p:sp>
      <p:sp>
        <p:nvSpPr>
          <p:cNvPr id="6" name="TextBox 5"/>
          <p:cNvSpPr txBox="1"/>
          <p:nvPr/>
        </p:nvSpPr>
        <p:spPr>
          <a:xfrm>
            <a:off x="640080" y="1725375"/>
            <a:ext cx="2207963" cy="1207845"/>
          </a:xfrm>
          <a:prstGeom prst="rect">
            <a:avLst/>
          </a:prstGeom>
          <a:noFill/>
        </p:spPr>
        <p:txBody>
          <a:bodyPr wrap="square" lIns="0" rIns="0" tIns="0" bIns="0" anchor="t">
            <a:spAutoFit/>
          </a:bodyPr>
          <a:lstStyle/>
          <a:p>
            <a:pPr algn="l">
              <a:lnSpc>
                <a:spcPct val="108000"/>
              </a:lnSpc>
            </a:pPr>
            <a:r>
              <a:rPr sz="2300" b="1" i="0">
                <a:solidFill>
                  <a:srgbClr val="21295C"/>
                </a:solidFill>
                <a:latin typeface="Arial"/>
              </a:rPr>
              <a:t>что генерация опасна сама по себе</a:t>
            </a:r>
          </a:p>
        </p:txBody>
      </p:sp>
      <p:sp>
        <p:nvSpPr>
          <p:cNvPr id="7" name="TextBox 6"/>
          <p:cNvSpPr txBox="1"/>
          <p:nvPr/>
        </p:nvSpPr>
        <p:spPr>
          <a:xfrm>
            <a:off x="640080" y="2933220"/>
            <a:ext cx="220796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весь измеренный вред причинён тем, что старая бесплатная проверка перестала работать</a:t>
            </a:r>
          </a:p>
        </p:txBody>
      </p:sp>
      <p:sp>
        <p:nvSpPr>
          <p:cNvPr id="8" name="Rounded Rectangle 7"/>
          <p:cNvSpPr/>
          <p:nvPr/>
        </p:nvSpPr>
        <p:spPr>
          <a:xfrm>
            <a:off x="3149795" y="1335024"/>
            <a:ext cx="2482283" cy="2580330"/>
          </a:xfrm>
          <a:prstGeom prst="roundRect">
            <a:avLst>
              <a:gd name="adj" fmla="val 12279"/>
            </a:avLst>
          </a:prstGeom>
          <a:solidFill>
            <a:srgbClr val="FFFFFF"/>
          </a:solidFill>
          <a:ln w="25400">
            <a:solidFill>
              <a:srgbClr val="F0AB00"/>
            </a:solidFill>
          </a:ln>
          <a:effectLst/>
        </p:spPr>
        <p:txBody>
          <a:bodyPr rtlCol="0" anchor="ctr"/>
          <a:lstStyle/>
          <a:p>
            <a:pPr algn="ctr"/>
          </a:p>
        </p:txBody>
      </p:sp>
      <p:sp>
        <p:nvSpPr>
          <p:cNvPr id="9" name="TextBox 8"/>
          <p:cNvSpPr txBox="1"/>
          <p:nvPr/>
        </p:nvSpPr>
        <p:spPr>
          <a:xfrm>
            <a:off x="3286955"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НЕ ГОВОРИТ</a:t>
            </a:r>
          </a:p>
        </p:txBody>
      </p:sp>
      <p:sp>
        <p:nvSpPr>
          <p:cNvPr id="10" name="TextBox 9"/>
          <p:cNvSpPr txBox="1"/>
          <p:nvPr/>
        </p:nvSpPr>
        <p:spPr>
          <a:xfrm>
            <a:off x="3286955" y="1725375"/>
            <a:ext cx="2207963" cy="927759"/>
          </a:xfrm>
          <a:prstGeom prst="rect">
            <a:avLst/>
          </a:prstGeom>
          <a:noFill/>
        </p:spPr>
        <p:txBody>
          <a:bodyPr wrap="square" lIns="0" rIns="0" tIns="0" bIns="0" anchor="t">
            <a:spAutoFit/>
          </a:bodyPr>
          <a:lstStyle/>
          <a:p>
            <a:pPr algn="l">
              <a:lnSpc>
                <a:spcPct val="108000"/>
              </a:lnSpc>
            </a:pPr>
            <a:r>
              <a:rPr sz="1750" b="1" i="0">
                <a:solidFill>
                  <a:srgbClr val="1C7293"/>
                </a:solidFill>
                <a:latin typeface="Arial"/>
              </a:rPr>
              <a:t>что распознавание — вопрос тренировки</a:t>
            </a:r>
          </a:p>
        </p:txBody>
      </p:sp>
      <p:sp>
        <p:nvSpPr>
          <p:cNvPr id="11" name="TextBox 10"/>
          <p:cNvSpPr txBox="1"/>
          <p:nvPr/>
        </p:nvSpPr>
        <p:spPr>
          <a:xfrm>
            <a:off x="3286955" y="2653134"/>
            <a:ext cx="2207963" cy="844973"/>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способность человека отличить дипфейк на глаз измерена близко к случайному угадыванию</a:t>
            </a:r>
          </a:p>
        </p:txBody>
      </p:sp>
      <p:sp>
        <p:nvSpPr>
          <p:cNvPr id="12" name="Rounded Rectangle 11"/>
          <p:cNvSpPr/>
          <p:nvPr/>
        </p:nvSpPr>
        <p:spPr>
          <a:xfrm>
            <a:off x="5796671" y="1335024"/>
            <a:ext cx="2482283" cy="2580330"/>
          </a:xfrm>
          <a:prstGeom prst="roundRect">
            <a:avLst>
              <a:gd name="adj" fmla="val 12279"/>
            </a:avLst>
          </a:prstGeom>
          <a:solidFill>
            <a:srgbClr val="F4F7FA"/>
          </a:solidFill>
          <a:ln w="15240">
            <a:solidFill>
              <a:srgbClr val="1C7293"/>
            </a:solidFill>
          </a:ln>
          <a:effectLst/>
        </p:spPr>
        <p:txBody>
          <a:bodyPr rtlCol="0" anchor="ctr"/>
          <a:lstStyle/>
          <a:p>
            <a:pPr algn="ctr"/>
          </a:p>
        </p:txBody>
      </p:sp>
      <p:sp>
        <p:nvSpPr>
          <p:cNvPr id="13" name="TextBox 12"/>
          <p:cNvSpPr txBox="1"/>
          <p:nvPr/>
        </p:nvSpPr>
        <p:spPr>
          <a:xfrm>
            <a:off x="5933831" y="1472184"/>
            <a:ext cx="2207963" cy="253191"/>
          </a:xfrm>
          <a:prstGeom prst="rect">
            <a:avLst/>
          </a:prstGeom>
          <a:noFill/>
        </p:spPr>
        <p:txBody>
          <a:bodyPr wrap="square" lIns="0" rIns="0" tIns="0" bIns="0" anchor="t">
            <a:spAutoFit/>
          </a:bodyPr>
          <a:lstStyle/>
          <a:p>
            <a:pPr algn="l">
              <a:lnSpc>
                <a:spcPct val="110000"/>
              </a:lnSpc>
            </a:pPr>
            <a:r>
              <a:rPr sz="1200" b="1" i="0">
                <a:solidFill>
                  <a:srgbClr val="1C7293"/>
                </a:solidFill>
                <a:latin typeface="Arial"/>
              </a:rPr>
              <a:t>ПЛАТИТ</a:t>
            </a:r>
          </a:p>
        </p:txBody>
      </p:sp>
      <p:sp>
        <p:nvSpPr>
          <p:cNvPr id="14" name="TextBox 13"/>
          <p:cNvSpPr txBox="1"/>
          <p:nvPr/>
        </p:nvSpPr>
        <p:spPr>
          <a:xfrm>
            <a:off x="5933831" y="1725375"/>
            <a:ext cx="2207963" cy="1080533"/>
          </a:xfrm>
          <a:prstGeom prst="rect">
            <a:avLst/>
          </a:prstGeom>
          <a:noFill/>
        </p:spPr>
        <p:txBody>
          <a:bodyPr wrap="square" lIns="0" rIns="0" tIns="0" bIns="0" anchor="t">
            <a:spAutoFit/>
          </a:bodyPr>
          <a:lstStyle/>
          <a:p>
            <a:pPr algn="l">
              <a:lnSpc>
                <a:spcPct val="108000"/>
              </a:lnSpc>
            </a:pPr>
            <a:r>
              <a:rPr sz="2050" b="1" i="0">
                <a:solidFill>
                  <a:srgbClr val="21295C"/>
                </a:solidFill>
                <a:latin typeface="Arial"/>
              </a:rPr>
              <a:t>рынок · отрасль · читатель — по-разному</a:t>
            </a:r>
          </a:p>
        </p:txBody>
      </p:sp>
      <p:sp>
        <p:nvSpPr>
          <p:cNvPr id="15" name="TextBox 14"/>
          <p:cNvSpPr txBox="1"/>
          <p:nvPr/>
        </p:nvSpPr>
        <p:spPr>
          <a:xfrm>
            <a:off x="5933831" y="2805908"/>
            <a:ext cx="2207963" cy="633730"/>
          </a:xfrm>
          <a:prstGeom prst="rect">
            <a:avLst/>
          </a:prstGeom>
          <a:noFill/>
        </p:spPr>
        <p:txBody>
          <a:bodyPr wrap="square" lIns="0" rIns="0" tIns="0" bIns="0" anchor="t">
            <a:spAutoFit/>
          </a:bodyPr>
          <a:lstStyle/>
          <a:p>
            <a:pPr algn="l">
              <a:lnSpc>
                <a:spcPct val="112000"/>
              </a:lnSpc>
            </a:pPr>
            <a:r>
              <a:rPr sz="1200" b="0" i="1">
                <a:solidFill>
                  <a:srgbClr val="1C7293"/>
                </a:solidFill>
                <a:latin typeface="Arial"/>
              </a:rPr>
              <a:t>единого счёта нет; платёж назван в каждой из четырёх точек отдельно</a:t>
            </a:r>
          </a:p>
        </p:txBody>
      </p:sp>
      <p:sp>
        <p:nvSpPr>
          <p:cNvPr id="16" name="Rounded Rectangle 15"/>
          <p:cNvSpPr/>
          <p:nvPr/>
        </p:nvSpPr>
        <p:spPr>
          <a:xfrm>
            <a:off x="374904" y="4006794"/>
            <a:ext cx="8032067" cy="2229413"/>
          </a:xfrm>
          <a:prstGeom prst="roundRect">
            <a:avLst>
              <a:gd name="adj" fmla="val 13671"/>
            </a:avLst>
          </a:prstGeom>
          <a:solidFill>
            <a:srgbClr val="F4F7FA"/>
          </a:solidFill>
          <a:ln w="19050">
            <a:solidFill>
              <a:srgbClr val="1C7293"/>
            </a:solidFill>
          </a:ln>
          <a:effectLst/>
        </p:spPr>
        <p:txBody>
          <a:bodyPr rtlCol="0" anchor="ctr"/>
          <a:lstStyle/>
          <a:p>
            <a:pPr algn="ctr"/>
          </a:p>
        </p:txBody>
      </p:sp>
      <p:sp>
        <p:nvSpPr>
          <p:cNvPr id="17" name="TextBox 16"/>
          <p:cNvSpPr txBox="1"/>
          <p:nvPr/>
        </p:nvSpPr>
        <p:spPr>
          <a:xfrm>
            <a:off x="539496" y="4098234"/>
            <a:ext cx="7702883" cy="2137973"/>
          </a:xfrm>
          <a:prstGeom prst="rect">
            <a:avLst/>
          </a:prstGeom>
          <a:noFill/>
        </p:spPr>
        <p:txBody>
          <a:bodyPr wrap="square" lIns="0" rIns="0" tIns="0" bIns="0" anchor="t">
            <a:spAutoFit/>
          </a:bodyPr>
          <a:lstStyle/>
          <a:p>
            <a:pPr algn="l">
              <a:lnSpc>
                <a:spcPct val="126000"/>
              </a:lnSpc>
            </a:pPr>
            <a:r>
              <a:rPr sz="1100" b="1" i="0">
                <a:solidFill>
                  <a:srgbClr val="21295C"/>
                </a:solidFill>
                <a:latin typeface="Arial"/>
              </a:rPr>
              <a:t>Генеративная модель не сделала продукт хуже и не сделала людей опаснее — она убрала условие, при котором подделать сигнал доверия стоило дороже, чем получить его законно.</a:t>
            </a:r>
          </a:p>
          <a:p>
            <a:pPr algn="l">
              <a:lnSpc>
                <a:spcPct val="126000"/>
              </a:lnSpc>
              <a:spcBef>
                <a:spcPts val="700"/>
              </a:spcBef>
            </a:pPr>
            <a:r>
              <a:rPr sz="1100" b="0" i="0">
                <a:solidFill>
                  <a:srgbClr val="21295C"/>
                </a:solidFill>
                <a:latin typeface="Arial"/>
              </a:rPr>
              <a:t/>
            </a:r>
            <a:r>
              <a:rPr sz="1100" b="0" i="0">
                <a:solidFill>
                  <a:srgbClr val="21295C"/>
                </a:solidFill>
                <a:latin typeface="Arial"/>
              </a:rPr>
              <a:t>• не «генерация опасна сама по себе» — весь вред причинён тем, что старая бесплатная проверка не работает</a:t>
            </a:r>
          </a:p>
          <a:p>
            <a:pPr algn="l">
              <a:lnSpc>
                <a:spcPct val="126000"/>
              </a:lnSpc>
              <a:spcBef>
                <a:spcPts val="700"/>
              </a:spcBef>
            </a:pPr>
            <a:r>
              <a:rPr sz="1100" b="0" i="0">
                <a:solidFill>
                  <a:srgbClr val="21295C"/>
                </a:solidFill>
                <a:latin typeface="Arial"/>
              </a:rPr>
              <a:t/>
            </a:r>
            <a:r>
              <a:rPr sz="1100" b="0" i="0">
                <a:solidFill>
                  <a:srgbClr val="21295C"/>
                </a:solidFill>
                <a:latin typeface="Arial"/>
              </a:rPr>
              <a:t>• не «нужно научить людей распознавать» — собственная способность человека отличить дипфейк на глаз измерена близко к случайному угадыванию</a:t>
            </a:r>
          </a:p>
          <a:p>
            <a:pPr algn="l">
              <a:lnSpc>
                <a:spcPct val="126000"/>
              </a:lnSpc>
              <a:spcBef>
                <a:spcPts val="700"/>
              </a:spcBef>
            </a:pPr>
            <a:r>
              <a:rPr sz="1100" b="0" i="0">
                <a:solidFill>
                  <a:srgbClr val="21295C"/>
                </a:solidFill>
                <a:latin typeface="Arial"/>
              </a:rPr>
              <a:t/>
            </a:r>
            <a:r>
              <a:rPr sz="1100" b="0" i="0">
                <a:solidFill>
                  <a:srgbClr val="21295C"/>
                </a:solidFill>
                <a:latin typeface="Arial"/>
              </a:rPr>
              <a:t>• платит не один адресат — иногда рынок, иногда отрасль, иногда сам читатель</a:t>
            </a:r>
          </a:p>
          <a:p>
            <a:pPr algn="l">
              <a:lnSpc>
                <a:spcPct val="126000"/>
              </a:lnSpc>
              <a:spcBef>
                <a:spcPts val="700"/>
              </a:spcBef>
            </a:pPr>
            <a:r>
              <a:rPr sz="1100" b="0" i="0">
                <a:solidFill>
                  <a:srgbClr val="21295C"/>
                </a:solidFill>
                <a:latin typeface="Arial"/>
              </a:rPr>
              <a:t/>
            </a:r>
            <a:r>
              <a:rPr sz="1100" b="1" i="0">
                <a:solidFill>
                  <a:srgbClr val="21295C"/>
                </a:solidFill>
                <a:latin typeface="Arial"/>
              </a:rPr>
              <a:t>Старый бесплатный способ подтверждать узнавание больше не работает. Новый ещё строится — в том числе теми, кто сегодня в этой аудитории.</a:t>
            </a:r>
          </a:p>
        </p:txBody>
      </p:sp>
      <p:sp>
        <p:nvSpPr>
          <p:cNvPr id="18" name="Rounded Rectangle 17"/>
          <p:cNvSpPr/>
          <p:nvPr/>
        </p:nvSpPr>
        <p:spPr>
          <a:xfrm>
            <a:off x="8589851" y="1335024"/>
            <a:ext cx="3098923" cy="4389120"/>
          </a:xfrm>
          <a:prstGeom prst="roundRect">
            <a:avLst>
              <a:gd name="adj" fmla="val 9835"/>
            </a:avLst>
          </a:prstGeom>
          <a:solidFill>
            <a:srgbClr val="F4F7FA"/>
          </a:solidFill>
          <a:ln w="19050">
            <a:solidFill>
              <a:srgbClr val="1C7293"/>
            </a:solidFill>
          </a:ln>
          <a:effectLst/>
        </p:spPr>
        <p:txBody>
          <a:bodyPr rtlCol="0" anchor="ctr"/>
          <a:lstStyle/>
          <a:p>
            <a:pPr algn="ctr"/>
          </a:p>
        </p:txBody>
      </p:sp>
      <p:pic>
        <p:nvPicPr>
          <p:cNvPr id="19" name="Picture 18" descr="s75-scales-of-justice-balanced.jpg"/>
          <p:cNvPicPr>
            <a:picLocks noChangeAspect="1"/>
          </p:cNvPicPr>
          <p:nvPr/>
        </p:nvPicPr>
        <p:blipFill>
          <a:blip r:embed="rId2"/>
          <a:stretch>
            <a:fillRect/>
          </a:stretch>
        </p:blipFill>
        <p:spPr>
          <a:xfrm>
            <a:off x="8727011" y="1472184"/>
            <a:ext cx="2824603" cy="4114800"/>
          </a:xfrm>
          <a:prstGeom prst="rect">
            <a:avLst/>
          </a:prstGeom>
        </p:spPr>
      </p:pic>
      <p:sp>
        <p:nvSpPr>
          <p:cNvPr id="20" name="Rectangle 19"/>
          <p:cNvSpPr/>
          <p:nvPr/>
        </p:nvSpPr>
        <p:spPr>
          <a:xfrm>
            <a:off x="502920" y="888090"/>
            <a:ext cx="960120" cy="50292"/>
          </a:xfrm>
          <a:prstGeom prst="rect">
            <a:avLst/>
          </a:prstGeom>
          <a:solidFill>
            <a:srgbClr val="F0AB00"/>
          </a:solidFill>
          <a:ln>
            <a:noFill/>
          </a:ln>
          <a:effectLst/>
        </p:spPr>
        <p:txBody>
          <a:bodyPr rtlCol="0" anchor="ctr"/>
          <a:lstStyle/>
          <a:p>
            <a:pPr algn="ctr"/>
          </a:p>
        </p:txBody>
      </p:sp>
      <p:sp>
        <p:nvSpPr>
          <p:cNvPr id="21" name="TextBox 20"/>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Diel, Lalgi, Schröter, MacDorman, Teufel, Bäuerle, Computers in Human Behavior Reports, 2024, метаанализ 56 исследований</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ounded Rectangle 2"/>
          <p:cNvSpPr/>
          <p:nvPr/>
        </p:nvSpPr>
        <p:spPr>
          <a:xfrm>
            <a:off x="4465015" y="91440"/>
            <a:ext cx="7223759" cy="4846822"/>
          </a:xfrm>
          <a:prstGeom prst="roundRect">
            <a:avLst>
              <a:gd name="adj" fmla="val 6288"/>
            </a:avLst>
          </a:prstGeom>
          <a:solidFill>
            <a:srgbClr val="F4F7FA"/>
          </a:solidFill>
          <a:ln w="19050">
            <a:solidFill>
              <a:srgbClr val="1C7293"/>
            </a:solidFill>
          </a:ln>
          <a:effectLst/>
        </p:spPr>
        <p:txBody>
          <a:bodyPr rtlCol="0" anchor="ctr"/>
          <a:lstStyle/>
          <a:p>
            <a:pPr algn="ctr"/>
          </a:p>
        </p:txBody>
      </p:sp>
      <p:pic>
        <p:nvPicPr>
          <p:cNvPr id="4" name="Picture 3" descr="s76-verification-phone-call-office.jpg"/>
          <p:cNvPicPr>
            <a:picLocks noChangeAspect="1"/>
          </p:cNvPicPr>
          <p:nvPr/>
        </p:nvPicPr>
        <p:blipFill>
          <a:blip r:embed="rId2"/>
          <a:stretch>
            <a:fillRect/>
          </a:stretch>
        </p:blipFill>
        <p:spPr>
          <a:xfrm>
            <a:off x="4510735" y="137160"/>
            <a:ext cx="7132320" cy="4755382"/>
          </a:xfrm>
          <a:prstGeom prst="rect">
            <a:avLst/>
          </a:prstGeom>
        </p:spPr>
      </p:pic>
      <p:sp>
        <p:nvSpPr>
          <p:cNvPr id="5" name="TextBox 4"/>
          <p:cNvSpPr txBox="1"/>
          <p:nvPr/>
        </p:nvSpPr>
        <p:spPr>
          <a:xfrm>
            <a:off x="502920" y="365760"/>
            <a:ext cx="3651199" cy="841248"/>
          </a:xfrm>
          <a:prstGeom prst="rect">
            <a:avLst/>
          </a:prstGeom>
          <a:noFill/>
        </p:spPr>
        <p:txBody>
          <a:bodyPr wrap="square" lIns="0" rIns="0" tIns="0" bIns="0" anchor="t">
            <a:spAutoFit/>
          </a:bodyPr>
          <a:lstStyle/>
          <a:p>
            <a:pPr algn="l">
              <a:lnSpc>
                <a:spcPct val="108000"/>
              </a:lnSpc>
            </a:pPr>
            <a:r>
              <a:rPr sz="1750" b="1" i="0">
                <a:solidFill>
                  <a:srgbClr val="21295C"/>
                </a:solidFill>
                <a:latin typeface="Arial"/>
              </a:rPr>
              <a:t>Три проверки — и вопрос в зал</a:t>
            </a:r>
          </a:p>
        </p:txBody>
      </p:sp>
      <p:sp>
        <p:nvSpPr>
          <p:cNvPr id="6" name="Rounded Rectangle 5"/>
          <p:cNvSpPr/>
          <p:nvPr/>
        </p:nvSpPr>
        <p:spPr>
          <a:xfrm>
            <a:off x="374904" y="4901686"/>
            <a:ext cx="11441887" cy="1334521"/>
          </a:xfrm>
          <a:prstGeom prst="roundRect">
            <a:avLst>
              <a:gd name="adj" fmla="val 22839"/>
            </a:avLst>
          </a:prstGeom>
          <a:solidFill>
            <a:srgbClr val="F4F7FA"/>
          </a:solidFill>
          <a:ln w="19050">
            <a:solidFill>
              <a:srgbClr val="1C7293"/>
            </a:solidFill>
          </a:ln>
          <a:effectLst/>
        </p:spPr>
        <p:txBody>
          <a:bodyPr rtlCol="0" anchor="ctr"/>
          <a:lstStyle/>
          <a:p>
            <a:pPr algn="ctr"/>
          </a:p>
        </p:txBody>
      </p:sp>
      <p:sp>
        <p:nvSpPr>
          <p:cNvPr id="7" name="TextBox 6"/>
          <p:cNvSpPr txBox="1"/>
          <p:nvPr/>
        </p:nvSpPr>
        <p:spPr>
          <a:xfrm>
            <a:off x="539496" y="4993126"/>
            <a:ext cx="11112703" cy="1243081"/>
          </a:xfrm>
          <a:prstGeom prst="rect">
            <a:avLst/>
          </a:prstGeom>
          <a:noFill/>
        </p:spPr>
        <p:txBody>
          <a:bodyPr wrap="square" lIns="0" rIns="0" tIns="0" bIns="0" anchor="t">
            <a:spAutoFit/>
          </a:bodyPr>
          <a:lstStyle/>
          <a:p>
            <a:pPr algn="l">
              <a:lnSpc>
                <a:spcPct val="126000"/>
              </a:lnSpc>
            </a:pPr>
            <a:r>
              <a:rPr sz="950" b="1" i="0">
                <a:solidFill>
                  <a:srgbClr val="21295C"/>
                </a:solidFill>
                <a:latin typeface="Arial"/>
              </a:rPr>
              <a:t>Есть ли у сигнала, которому вы доверяете, цена подделки выше нуля?</a:t>
            </a:r>
            <a:r>
              <a:rPr sz="950" b="0" i="0">
                <a:solidFill>
                  <a:srgbClr val="21295C"/>
                </a:solidFill>
                <a:latin typeface="Arial"/>
              </a:rPr>
              <a:t> Подпись, голос, лицо, лицензия — любое узнавание, не только творческое производство.</a:t>
            </a:r>
          </a:p>
          <a:p>
            <a:pPr algn="l">
              <a:lnSpc>
                <a:spcPct val="126000"/>
              </a:lnSpc>
              <a:spcBef>
                <a:spcPts val="700"/>
              </a:spcBef>
            </a:pPr>
            <a:r>
              <a:rPr sz="950" b="0" i="0">
                <a:solidFill>
                  <a:srgbClr val="21295C"/>
                </a:solidFill>
                <a:latin typeface="Arial"/>
              </a:rPr>
              <a:t/>
            </a:r>
            <a:r>
              <a:rPr sz="950" b="1" i="0">
                <a:solidFill>
                  <a:srgbClr val="21295C"/>
                </a:solidFill>
                <a:latin typeface="Arial"/>
              </a:rPr>
              <a:t>Если его подделают — есть ли процедура, которая не полагается на то, что кто-то заметит подделку глазами?</a:t>
            </a:r>
            <a:r>
              <a:rPr sz="950" b="0" i="0">
                <a:solidFill>
                  <a:srgbClr val="21295C"/>
                </a:solidFill>
                <a:latin typeface="Arial"/>
              </a:rPr>
              <a:t> Собственная точность распознавания подделок у человека без протокола — </a:t>
            </a:r>
            <a:r>
              <a:rPr sz="950" b="1" i="0">
                <a:solidFill>
                  <a:srgbClr val="21295C"/>
                </a:solidFill>
                <a:latin typeface="Arial"/>
              </a:rPr>
              <a:t>55,54% против 68,08%</a:t>
            </a:r>
            <a:r>
              <a:rPr sz="950" b="0" i="0">
                <a:solidFill>
                  <a:srgbClr val="21295C"/>
                </a:solidFill>
                <a:latin typeface="Arial"/>
              </a:rPr>
              <a:t> для настоящих материалов: подделку скорее примут за настоящее, чем наоборот.</a:t>
            </a:r>
          </a:p>
          <a:p>
            <a:pPr algn="l">
              <a:lnSpc>
                <a:spcPct val="126000"/>
              </a:lnSpc>
              <a:spcBef>
                <a:spcPts val="700"/>
              </a:spcBef>
            </a:pPr>
            <a:r>
              <a:rPr sz="950" b="0" i="0">
                <a:solidFill>
                  <a:srgbClr val="21295C"/>
                </a:solidFill>
                <a:latin typeface="Arial"/>
              </a:rPr>
              <a:t/>
            </a:r>
            <a:r>
              <a:rPr sz="950" b="1" i="0">
                <a:solidFill>
                  <a:srgbClr val="21295C"/>
                </a:solidFill>
                <a:latin typeface="Arial"/>
              </a:rPr>
              <a:t>Если проверка провалится — кто из вашего контура заплатит, и назовёте ли вы это вслух заранее, а не постфактум в новостях?</a:t>
            </a:r>
          </a:p>
          <a:p>
            <a:pPr algn="l">
              <a:lnSpc>
                <a:spcPct val="126000"/>
              </a:lnSpc>
              <a:spcBef>
                <a:spcPts val="700"/>
              </a:spcBef>
            </a:pPr>
            <a:r>
              <a:rPr sz="950" b="0" i="0">
                <a:solidFill>
                  <a:srgbClr val="21295C"/>
                </a:solidFill>
                <a:latin typeface="Arial"/>
              </a:rPr>
              <a:t/>
            </a:r>
            <a:r>
              <a:rPr sz="950" b="1" i="0">
                <a:solidFill>
                  <a:srgbClr val="21295C"/>
                </a:solidFill>
                <a:latin typeface="Arial"/>
              </a:rPr>
              <a:t>Какой сигнал в вашей сегодняшней работе вы считаете бесплатным и достаточным — и что случится, если завтра его подделка будет стоить копейки?</a:t>
            </a:r>
          </a:p>
        </p:txBody>
      </p:sp>
      <p:sp>
        <p:nvSpPr>
          <p:cNvPr id="8" name="Rectangle 7"/>
          <p:cNvSpPr/>
          <p:nvPr/>
        </p:nvSpPr>
        <p:spPr>
          <a:xfrm>
            <a:off x="502920" y="726829"/>
            <a:ext cx="960120" cy="50292"/>
          </a:xfrm>
          <a:prstGeom prst="rect">
            <a:avLst/>
          </a:prstGeom>
          <a:solidFill>
            <a:srgbClr val="F0AB00"/>
          </a:solidFill>
          <a:ln>
            <a:noFill/>
          </a:ln>
          <a:effectLst/>
        </p:spPr>
        <p:txBody>
          <a:bodyPr rtlCol="0" anchor="ctr"/>
          <a:lstStyle/>
          <a:p>
            <a:pPr algn="ctr"/>
          </a:p>
        </p:txBody>
      </p:sp>
      <p:sp>
        <p:nvSpPr>
          <p:cNvPr id="9" name="TextBox 8"/>
          <p:cNvSpPr txBox="1"/>
          <p:nvPr/>
        </p:nvSpPr>
        <p:spPr>
          <a:xfrm>
            <a:off x="502920" y="6345936"/>
            <a:ext cx="11185855" cy="457200"/>
          </a:xfrm>
          <a:prstGeom prst="rect">
            <a:avLst/>
          </a:prstGeom>
          <a:noFill/>
        </p:spPr>
        <p:txBody>
          <a:bodyPr wrap="square" lIns="0" rIns="0" tIns="0" bIns="0" anchor="t">
            <a:spAutoFit/>
          </a:bodyPr>
          <a:lstStyle/>
          <a:p>
            <a:pPr algn="l">
              <a:lnSpc>
                <a:spcPct val="112000"/>
              </a:lnSpc>
            </a:pPr>
            <a:r>
              <a:rPr sz="1200" b="0" i="1" u="sng">
                <a:solidFill>
                  <a:srgbClr val="065A82"/>
                </a:solidFill>
                <a:latin typeface="Arial"/>
                <a:hlinkClick r:id="rId3"/>
              </a:rPr>
              <a:t>Diel, Lalgi, Schröter, MacDorman, Teufel, Bäuerle, Computers in Human Behavior Reports,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