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www.predictiveanalyticsworld.com/machinelearningtimes/cnet-found-errors-in-more-than-half-of-its-ai-written-stories/12869/" TargetMode="External"/><Relationship Id="rId4" Type="http://schemas.openxmlformats.org/officeDocument/2006/relationships/hyperlink" Target="https://system1group.com/ad-of-the-week/ai-or-no-ai-coke-gets-the-christmas-love" TargetMode="External"/><Relationship Id="rId5" Type="http://schemas.openxmlformats.org/officeDocument/2006/relationships/hyperlink" Target="https://carma.com/ai/" TargetMode="External"/><Relationship Id="rId6" Type="http://schemas.openxmlformats.org/officeDocument/2006/relationships/hyperlink" Target="https://www.twobirds.com/en/insights/2025/uk/stability-ai-defeats-getty-images-copyright-claims-in-first-of-its-kind-dispute-before-the-high-cour" TargetMode="External"/><Relationship Id="rId7" Type="http://schemas.openxmlformats.org/officeDocument/2006/relationships/hyperlink" Target="https://www.bloomberg.com/news/articles/2026-10-21/getty-files-for-bankruptcy-in-process-that-will-take-it-private"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doi.org/10.1016/j.chbr.2024.100538"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doi.org/10.1016/j.chbr.2024.100538"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Курс уже дважды сказал главное. Лекция 5 сформулировала линзу: удешевление одного шага работы перестраивает работу целиком, а платят за это на другом шаге — том, который не подешевел. Лекция 7 посмотрела через эту линзу на медицину и впервые в курсе получила числом, сколько стоит перенос нагрузки на человека, который принимает решение. Эта лекция берёт ту же линзу и наводит её на творческое производство — кино, музыку, изображения, текст в журналистском и издательском изводе. Наследуется первая половина: дешёвый шаг перестраивает работу целиком, платят на другом шаге. Своя здесь — вторая половина, и у неё есть имя: дешёвым стал не производственный шаг и не измерение, а сигнал, на котором держалось доверие.</a:t>
            </a:r>
          </a:p>
          <a:p>
            <a:r>
              <a:t/>
            </a:r>
          </a:p>
          <a:p>
            <a:r>
              <a:t>Узнавание — лицо на видеозвонке, голос в телефонной трубке, подпись автора под статьёй, очевидно лицензированная фотография на сайте издания — всегда было бесплатным и достаточным сигналом доверия в творческом производстве. Никто не платил отдельно за то, чтобы убедиться, что голос в трубке принадлежит тому, за кого он себя выдаёт: сам факт, что голос звучит знакомо, уже был проверкой, и проверка эта доставалась бесплатно, как побочный продукт биологии человеческого восприятия. Редактор верил подписи колумниста не потому, что проверял его личность при каждой статье, а потому, что подпись — институт, выработанный индустрией за десятилетия, и обходить его было себе дороже.</a:t>
            </a:r>
          </a:p>
          <a:p>
            <a:r>
              <a:t/>
            </a:r>
          </a:p>
          <a:p>
            <a:r>
              <a:t>Генеративная модель не сделала творческий продукт хуже. Она обнулила цену подделки узнавания — и именно поэтому первая реакция на материал этой лекции обманчива. Интуитивно кажется, что речь пойдёт о качестве: хуже ли сгенерированная картинка нарисованной, фальшивее ли текст, написанный моделью, текста, написанного человеком. Измеримо выясняется другое: ломается не качество продукта, а механизм проверки, который раньше прилагался к узнаванию бесплатно и на эту бесплатность был рассчитан весь остальной порядок работы — от редакционного контроля до договора о лицензии.</a:t>
            </a:r>
          </a:p>
          <a:p>
            <a:r>
              <a:t/>
            </a:r>
          </a:p>
          <a:p>
            <a:r>
              <a:t>Один конкретный акт творческого производства, с которого лекция начинается: независимый дизайнер получает от клиента бриф на логотип, присылает черновой вариант через день-два, клиент просит правку — шрифт жёстче, цвет теплее, — дизайнер правит, присылает снова, и после второй-третьей итерации стороны сходятся на финальном файле. Весь цикл занимает от одного до трёх дней и стоит по рыночным ставкам фрилансеров 50–150 долларов за типовое задание. Сегодняшняя альтернатива — короткое предложение на естественном языке, отправленное модели, и результат, который приходит прежде, чем клиент успел бы сформулировать вторую правку в переписке с живым исполнителем.</a:t>
            </a:r>
          </a:p>
          <a:p>
            <a:r>
              <a:t/>
            </a:r>
          </a:p>
          <a:p>
            <a:r>
              <a:t>Путь ответа проходит через пять точек жизни одного творческого артефакта — кто его сделал, кто проверил, как отреагировала аудитория, кто заплатил, и что стало с тем, кто его обычно делал. Материал не экзотика для инженерной аудитории курса: тот, кто уже использовал Midjourney для продуктового визуала или Suno для фонового трека, думал о результате в категориях «сработало/не сработало». Эта лекция добавляет категорию: кто теперь отвечает, если результат похож на чужую узнаваемую работу, использует чужой голос без согласия или будет принят аудиторией не так, как ожидалось.</a:t>
            </a:r>
          </a:p>
          <a:p>
            <a:r>
              <a:t/>
            </a:r>
          </a:p>
          <a:p>
            <a:r>
              <a:t>Лекция не утверждает, что результат генерации хуже результата ручной работы по качеству, и не утверждает, что обвал цены исполнения — проблема сам по себе. Предмет лекции — то, что обвал цены исполнения синхронно обрушил и цену подделки узнавания: два разных эффекта одной причины, которые легко перепутать, если не разделить их явно с первой минуты.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было устроено исполнение творческой работы без модели. Независимый дизайнер получает от клиента бриф на логотип: короткое описание компании, пожелание по стилю, референс — чужая работа, которая клиенту нравится. Дизайнер присылает черновой вариант через день-два. Клиент просит правку: шрифт жёстче, цвет теплее. Дизайнер правит, присылает снова. После второй-третьей итерации стороны сходятся на финальном файле — векторном изображении в нескольких форматах, с правом использования, оговорённым отдельно от самой работы. Весь цикл занимает от одного до трёх дней и стоит по рыночным ставкам фрилансеров 2026 года 50–150 долларов за типовое задание.</a:t>
            </a:r>
          </a:p>
          <a:p>
            <a:r>
              <a:t/>
            </a:r>
          </a:p>
          <a:p>
            <a:r>
              <a:t>Референс, который клиент присылает дизайнеру, — это чужая работа: скриншот чужого логотипа, фотография с фотостока, кадр из чужой рекламной кампании. Дизайнер смотрит на неё, распознаёт стиль и создаёт новое, вдохновлённое увиденным, но не копирующее впрямую — эту границу между вдохновением и копированием он проводит интуитивно, потому что индустрия институционально её держит: за прямое копирование можно потерять клиента и репутацию, а иногда оказаться в суде. Граница вернётся позже, когда речь пойдёт о том, обучались ли генеративные модели на чужих работах способом, который ту же границу нарушает уже не интуицией дизайнера, а статистикой на миллиардах примеров.</a:t>
            </a:r>
          </a:p>
          <a:p>
            <a:r>
              <a:t/>
            </a:r>
          </a:p>
          <a:p>
            <a:r>
              <a:t>Похожим циклом устроено производство ещё в двух классах продукта. Заказчик рекламного ролика заказывает музыкальное сопровождение студии или композитору; тот присутствует на «сессии привязки» — просмотре черновой версии видео, где обсуждается, где музыка усиливает эмоцию, а где отступает, — и это обсуждение занимает дни, не секунды. Заказчик обучающего видео нанимает диктора, присылает текст с пометками интонации, получает пробную запись, просит переделать два абзаца помягче — снова цикл правок, снова дни.</a:t>
            </a:r>
          </a:p>
          <a:p>
            <a:r>
              <a:t/>
            </a:r>
          </a:p>
          <a:p>
            <a:r>
              <a:t>Сегодняшняя альтернатива всем трём циклам — короткое предложение на естественном языке, отправленное модели, и результат, который приходит прежде, чем клиент успел бы сформулировать вторую правку в переписке с живым исполнителем. Разрыв между этими картинами — измеримая величина, и измерить её — работа следующего раздела.</a:t>
            </a:r>
          </a:p>
          <a:p>
            <a:r>
              <a:t/>
            </a:r>
          </a:p>
          <a:p>
            <a:r>
              <a:t>Цикл занимает дни не из-за медлительности исполнителя: клиент формулирует правку по мере того, как видит результат — «шрифт жёстче» — реакция на уже существующий черновик, а не требование, которое можно было сформулировать заранее. Задача уточняется в диалоге с промежуточным результатом, и это свойство задачи останется в силе и тогда, когда скорость исполнения упадёт до секунд: диалог просто идёт быстрее.</a:t>
            </a:r>
          </a:p>
          <a:p>
            <a:r>
              <a:t/>
            </a:r>
          </a:p>
          <a:p>
            <a:r>
              <a:t>Обвал цены исполнения тянет за собой обвал цены подделки узнавания — именно эта связка важна. Разбор — на следующем кадре.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измерения на разном материале, оба про один и тот же механизм: узнавание переставало что-либо доказывать.</a:t>
            </a:r>
          </a:p>
          <a:p>
            <a:r>
              <a:t/>
            </a:r>
          </a:p>
          <a:p>
            <a:r>
              <a:t>В конце 2022 — начале 2023 года издание CNET публиковало статьи, написанные внутренним генеративным движком, под коллективной подписью «CNET Money Staff», не раскрывая вначале, что автор — не человек. Редакция не раскрыла это добровольно: подмену заметил не внутренний аудит, а независимое журналистское расследование стороннего издания, обратившее внимание на неестественно ровный стиль серии публикаций. Только после огласки CNET признала использование генеративного инструмента и провела внутреннюю проверку собственного архива — по итогам которой из 77 опубликованных текстов 41, то есть 53%, потребовали исправлений, часть существенных, включая математические ошибки в формулах сложных процентов — в статьях, написанных именно для того, чтобы читатель принимал по ним финансовые решения.</a:t>
            </a:r>
          </a:p>
          <a:p>
            <a:r>
              <a:t/>
            </a:r>
          </a:p>
          <a:p>
            <a:r>
              <a:t>У этого числа есть база, без которой оно не читается. Независимые аудиты точности классической журналистики — газетных статей, написанных людьми, — годами фиксируют долю материалов с хотя бы одной ошибкой в диапазоне 40–61%. Это не та же выборка и не та же методология, что аудит CNET — совпадение порядков не равенство. При этой оговорке вывод держится: доля ошибок у модели не превышает базовый уровень классической журналистики. Разница — в том, что те же независимые аудиты фиксируют долю публичных исправлений при классическом режиме на уровне около 2%, то есть газеты и так ошибаются примерно в этом диапазоне, просто почти никогда не исправляют это публично. CNET исправила 53% своих AI-статей не потому, что модель написала больше ошибок, а потому, что раскрытие авторства заставило редакцию сделать то, что индустрия системно не делает сама.</a:t>
            </a:r>
          </a:p>
          <a:p>
            <a:r>
              <a:t/>
            </a:r>
          </a:p>
          <a:p>
            <a:r>
              <a:t>Второй ряд — перенос на другой домен, тот же механизм: узнавание не специфично для журналистики. В июле 2024 года компания информационной безопасности KnowBe4 раскрыла, что наняла удалённого сотрудника, который оказался не тем, за кого себя выдавал. Кандидат прошёл четыре отдельных видеособеседования и стандартную проверку биографических данных — весь классический процесс найма, рассчитанный на то, что лицо на экране и голос в динамиках сами по себе достаточное удостоверение личности. Подмену не поймал ни один из этих пяти шагов проверки. Её поймала система обнаружения вторжений на рабочей станции — спустя несколько дней после того, как сотрудник уже получил доступ к корпоративным системам, и совсем по другому поводу.</a:t>
            </a:r>
          </a:p>
          <a:p>
            <a:r>
              <a:t/>
            </a:r>
          </a:p>
          <a:p>
            <a:r>
              <a:t>Счёт, который превращает это в измеримую пару: готовая украденная личность стоит около 120 долларов; сборка работающего дипфейка реального времени на бытовом игровом компьютере занимает около 70 минут. Старый, дорогой способ той же подмены — нанять живого актёра на очное собеседование — требовал логистики, которую нельзя было масштабировать на тысячи попыток одновременно так, как масштабируется программный дипфейк.</a:t>
            </a:r>
          </a:p>
          <a:p>
            <a:r>
              <a:t/>
            </a:r>
          </a:p>
          <a:p>
            <a:r>
              <a:t>В одном случае — доверие к подписи автора под статьёй. В другом — доверие к лицу и голосу кандидата на видеозвонке. В обоих случаях узнавание было бесплатным институтом, встроенным в порядок работы настолько глубоко, что никто не платил за отдельную проверку поверх него. Генеративная модель не сломала эти институты напрямую — она обнулила цену подделки сигнала, на котором они держались.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Способ обнаружения этого случая — часть урока не меньше, чем сами цифры. CNET не раскрыла происхождение статей добровольно: обтекаемая подпись «CNET Money Staff» стояла под материалом месяцами, и заметил подмену не внутренний аудит редакции, а независимое журналистское расследование стороннего издания, которое обратило внимание на неестественно ровный, шаблонный стиль серии публикаций и начало задавать редакции прямые вопросы. Только после огласки CNET признала использование генеративного инструмента и начала внутреннюю проверку собственного архива, по итогам которой и появилась цифра 41 из 77. Этот порядок событий — не добровольное раскрытие, а обнаружение извне с последующим признанием — сам по себе часть ответа на вопрос лекции: институт узнавания в данном случае не защитил себя изнутри, его сломала внешняя проверка, которая могла и не случиться.</a:t>
            </a:r>
          </a:p>
          <a:p>
            <a:r>
              <a:t/>
            </a:r>
          </a:p>
          <a:p>
            <a:r>
              <a:t>Что именно означали эти 53% на практике. Статьи, о которых идёт речь, — не художественные тексты и не репортажи с места событий, а финансовые объяснители: «что такое сложный процент», «как работает индивидуальный пенсионный счёт», «сколько стоит обслуживание кредитной карты». Это ровно тот жанр текста, на котором читатель меньше всего склонен сомневаться — он открывает статью, чтобы понять правило, а не чтобы оценить авторский стиль, и воспринимает формулу в тексте как данность, потому что подпись «CNET Money Staff» для него означала «это проверенная редакцией информация». Часть обнаруженных ошибок была не стилистической, а буквально арифметической — неверно посчитанный пример сложного процента в статье, объясняющей именно эту формулу читателю, который по ней же может принять решение о собственном вкладе или кредите. Это тот частный случай, где подделываемое узнавание — вид подписи, которая должна была сигнализировать «эту формулу проверили» — напрямую превращается в практический финансовый риск для читателя, а не остаётся абстрактным вопросом доверия к медиа.</a:t>
            </a:r>
          </a:p>
          <a:p>
            <a:r>
              <a:t/>
            </a:r>
          </a:p>
          <a:p>
            <a:r>
              <a:t>Устройство самого движка — архитектура, вендор — публично не раскрыто: CNET описывала его обтекаемо как «внутренне разработанный инструмент». Это честный пробел, а не недосмотр исследования.</a:t>
            </a:r>
          </a:p>
          <a:p>
            <a:r>
              <a:t/>
            </a:r>
          </a:p>
          <a:p>
            <a:r>
              <a:t>Что переехало по итогу: около 10% штата издания уволено в течение недель после скандала, а институт «именованного автора» как гарантии хоть какой-то проверки оказался подорван качественно, без точного измерения того, какая доля аудитории вообще заметила разницу между статьёй, написанной человеком, и статьёй, написанной движком. Это и есть контринтуитивный итог, который держит весь раздел редакционного контроля дальше по лекции: генеративная модель здесь не хуже человека по частоте ошибок — хуже по тому, что подделываемое узнавание (подпись) обнажает то, что индустрия и так не исправляла.</a:t>
            </a:r>
          </a:p>
          <a:p>
            <a:r>
              <a:t/>
            </a:r>
          </a:p>
          <a:p>
            <a:r>
              <a:t>Честная оговорка про компанию Sports Illustrated/Arena Group, которую легко спутать с CNET по жанру скандала: сто уволенных сотрудников, падение акций на 28–33,6%, смена лицензиата — но Arena официально отрицала, что AI писал сам текст (AI, по их версии, затронул только фотографии профилей авторов), а потеря лицензии была официально вызвана пропущенным платежом, не скандалом напрямую. Смешивать эти два случая значило бы приписывать модели то, что объясняется чем-то другим.</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Случай KnowBe4 — не изолированный, а задокументированная схема промышленного масштаба. Американский федеральный суд в 2025 году вынес приговор гражданке США Кристине Чапмен, которая держала у себя дома «ферму ноутбуков» — физически принимала рабочие устройства, рассылаемые компаниями-работодателями новому сотруднику, подключала их к собственной домашней сети и удалённо отдавала операторам, действовавшим из-за рубежа под украденными личностями. Формально ноутбук физически находился там, где его и ожидал работодатель — в США, по адресу нанятого сотрудника; фактически с ним работал человек на другом континенте. Через эту схему прошло более 309 компаний, включая крупную телесеть, автопроизводителя и технологическую компанию из Кремниевой долины, а совокупный доход схемы превысил 17 миллионов долларов за три года.</a:t>
            </a:r>
          </a:p>
          <a:p>
            <a:r>
              <a:t/>
            </a:r>
          </a:p>
          <a:p>
            <a:r>
              <a:t>Отдельное расследование компании по кибербезопасности Nisos вскрыло одну отслеженную ячейку такого рода изнутри и описало конкретные приёмы: поддельные водительские права, собранные через сайты, имитирующие интерфейс департаментов транспортных средств американских штатов, с цифровой подрисовкой фотографии под реального оператора; коучинг произношения и акцента голосовой моделью прямо во время интервью; программа удалённого доступа, поверх которой оператору суфлировали технические ответы в реальном времени, пока кандидат формально «думал» перед камерой. Через эту единственную отслеженную ячейку более 170 000 поданных заявок на работу превратились в 76 полученных офферов силами 22 операторов за девять месяцев. Отдельный федеральный кейс задокументировал схему меньшего масштаба, но с теми же приёмами: порядка 5 миллионов долларов полученного дохода через более чем сто компаний-жертв и более 80 украденных личностей граждан США.</a:t>
            </a:r>
          </a:p>
          <a:p>
            <a:r>
              <a:t/>
            </a:r>
          </a:p>
          <a:p>
            <a:r>
              <a:t>Часть схем использует не только синтез лица и голоса, но и подмену устройства — аппаратную карту видеозахвата, которая для видеоплатформы неотличима от обычной веб-камеры и прогоняет через этот интерфейс уже готовый синтетический видеопоток, а не управляет синтезом в реальном времени на лету. Это показывает, что подделка узнавания на этом направлении — не только задача генеративной модели (как заставить лицо двигаться правдоподобно), но и инженерная задача интеграции (как заставить платформу поверить, что перед ней обычное оборудование).</a:t>
            </a:r>
          </a:p>
          <a:p>
            <a:r>
              <a:t/>
            </a:r>
          </a:p>
          <a:p>
            <a:r>
              <a:t>Индустрия кибербезопасности собрала всю эту деятельность под одним отраслевым обозначением — «Famous Chollima»: не единичная группа с фиксированным составом, а общее название для повторяющегося паттерна действий, который разные команды расследователей видят снова и снова у разных клиентов. То, что у этого явления есть устойчивое отраслевое имя, само по себе показатель того, насколько оно перестало быть редким инцидентом и стало рутинной, ожидаемой угрозой, под которую индустрия закладывает процедуры заранее, а не реагирует на каждый случай как на неожиданность.</a:t>
            </a:r>
          </a:p>
          <a:p>
            <a:r>
              <a:t/>
            </a:r>
          </a:p>
          <a:p>
            <a:r>
              <a:t>Счёт, который превращает всё это в измеримую пару, уже назван на предыдущем кадре: готовая украденная личность — подлинный номер социального страхования, скан водительских прав, подтверждающее селфи — стоит около 120 долларов; сборка работающего дипфейка реального времени на бытовом игровом компьютере, пятилетней давности по архитектуре, занимает около 70 минут. Отдельно задокументирован готовый коммерческий инструмент «дипфейк как услуга», зарабатывающий, по оценке обзора, более 4 миллионов долларов и доступный практически любому желающему по соответствующей цене. Старый, дорогой способ той же подмены — нанять живого актёра на очное собеседование — требовал логистики, физического присутствия и координации по месту и времени, которую нельзя было масштабировать на тысячи попыток одновременно так, как масштабируется программный дипфейк.</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Явление не затухает — оно растёт на фоне растущего внимания к нему. Межгосударственное предупреждение, подписанное одиннадцатью странами, включая США, Великобританию, Японию, Южную Корею, Германию, Францию, вышло 31 июля 2026 года и описывает операторов, прогоняющих синтез лица в реальном времени через виртуальный драйвер камеры, который видеоплатформа принимает за обычную веб-камеру — это позволяет одному человеку проходить собеседования на одну и ту же роль под несколькими разными личностями подряд. Федеральное бюро расследований США повторило предупреждение 14 октября 2026 года — за неделю до даты, на которую проверялся этот материал, — и назвало проблему более изощрённой и более опасной, не предложив при этом новых агрегированных цифр по ущербу. Отраслевой опрос трёх тысяч менеджеров по найму зафиксировал рост доли компаний, столкнувшихся с подобным фродом, с 31% годом ранее до 40%, а доля тех, кто считает, что кандидаты подделывают личность успешнее, чем компании успевают это ловить, выросла с 62% до 68% — то есть защита не улучшается, а ухудшается, несмотря на весь объём публичных предупреждений.</a:t>
            </a:r>
          </a:p>
          <a:p>
            <a:r>
              <a:t/>
            </a:r>
          </a:p>
          <a:p>
            <a:r>
              <a:t>Это ухудшение имеет и измеримую техническую причину, а не только организационную инерцию. Агрегированные исследования распознавания дипфейков человеком показывают результат, близкий к случайному гаданию: человек, которого прямо предупредили, что перед ним может быть подделка, и который специально её высматривает, правильно определяет качественный видео-дипфейк лишь в 24–25% случаев — и это число именно для узкого, подготовленного условия: предупреждён и ищет целенаправленно. Более общие исследования, не помечающие это условие, дают другие, заметно более высокие цифры — это два разных измерения разных условий, и путать их нельзя. Низкая цифра здесь означает, что рекомендация «будьте бдительнее» — не техническая мера защиты, а просьба к человеку делать то, с чем его восприятие структурно не справляется.</a:t>
            </a:r>
          </a:p>
          <a:p>
            <a:r>
              <a:t/>
            </a:r>
          </a:p>
          <a:p>
            <a:r>
              <a:t>Существующая техническая контрмера — активная проверка живости видеопотока, которая, по индустриальным оценкам, способна поднять успешность защиты (долю заблокированных попыток такого фрода) до 91% — но она требует отдельного внедрения сверх обычного видеозвонка, и лишь около 46% организаций, по данным отраслевых обзоров, способны полностью подтвердить, что видеопоток снят живьём, а не воспроизведён. Разрыв между технической возможностью защититься и фактическим уровнем внедрения — паттерн, который дальше встретится применительно к изданиям, не проверяющим авторство статей, и платформам, не лицензирующим обучающие данные заранее: техническое решение существует раньше, чем организация готова за него заплатить — временем, деньгами, трением для легитимных пользователей.</a:t>
            </a:r>
          </a:p>
          <a:p>
            <a:r>
              <a:t/>
            </a:r>
          </a:p>
          <a:p>
            <a:r>
              <a:t>Рост доли компаний, признающих, что защита отстаёт от атаки (62% → 68%), важнее самой по себе доли пострадавших: это косвенное измерение того, что проверка узнавания на видеозвонке перестала быть надёжной сама по себе. Организации продолжают полагаться на процесс, который сами же считают недостаточным, потому что замена этого процесса — отдельный проект с собственным бюджетом, а не бесплатное дополнение к уже существующему найму. Это обратная сторона того, с чего начался разбор на входе в лекцию: бесплатная проверка узнавания исчезла, а платной её замены большинство ещё не поставило.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Материал этой лекции соседствует с материалом двух других лекций курса.</a:t>
            </a:r>
          </a:p>
          <a:p>
            <a:r>
              <a:t/>
            </a:r>
          </a:p>
          <a:p>
            <a:r>
              <a:t>Лекция 14 разбирает синтез лица и голоса как атаку на предприятие — дипфейк-звонок финансовому директору с просьбой одобрить перевод, постфактум, когда сотрудник уже имеет доступ к счетам. Эта лекция разбирает тот же механизм на входе, при найме, до какого-либо доступа: менеджер проводит видеособеседование с кандидатом на вакансию удалённого разработчика, и единственная ставка — будет ли он принят. Механизм совпадает до деталей — синтез лица и голоса в реальном времени на видеозвонке, — но структурно это разные моменты процесса, с разными последствиями отказа защиты и разными точками, где могла бы стоять проверка.</a:t>
            </a:r>
          </a:p>
          <a:p>
            <a:r>
              <a:t/>
            </a:r>
          </a:p>
          <a:p>
            <a:r>
              <a:t>Обе лекции нужны именно поэтому. Студент, прослушавший только эту, увидит подделку доверия на входе в компанию, но не увидит, что происходит, если тот же инструмент применить к уже работающему сотруднику с доступом к деньгам, — а это другой набор защитных мер, завязанных на процедуры согласования платежей, не найма. И наоборот: прослушавший только Лекцию 14 увидит защиту периметра компании, но не увидит, что та же технология ставит под вопрос доверие к содержанию задолго до того, как у кого-либо появляется доступ к чему-либо ценному. Технология одна, а рисков — минимум два принципиально разных, в зависимости от места приложения.</a:t>
            </a:r>
          </a:p>
          <a:p>
            <a:r>
              <a:t/>
            </a:r>
          </a:p>
          <a:p>
            <a:r>
              <a:t>Лекция 3 разбирает платформенный слой, на котором построены инструменты, упоминаемые в этой лекции (агрегирующие несколько моделей под одним программным интерфейсом платформы, например Adobe Firefly Foundry). Эта лекция упоминает такие платформы только мимоходом, там, где нужно для понимания конкретного случая; устройство самого слоя — предмет отдельной лекции. Разграничение с Лекцией 3 — про уровень абстракции: эта лекция смотрит на инструменты как на закрытые устройства с известным входом, выходом и ценой, Лекция 3 открывает устройство и показывает, из каких слоёв оно собрано.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один творческий артефакт — изображение, трек или статья — и проследим его путь через производство до аудитории и до того момента, когда кто-то выставляет за него счёт. На этом пути узнавание появляется ровно четыре раза, и в каждой точке раньше оно работало бесплатно.</a:t>
            </a:r>
          </a:p>
          <a:p>
            <a:r>
              <a:t/>
            </a:r>
          </a:p>
          <a:p>
            <a:r>
              <a:t>Первая точка — на входе, при создании. Кто это сделал — человек или обученная модель? До генеративных моделей вопрос почти не возникал: если файл существовал, кто-то потратил на него время, навык и материальные ресурсы, и это само по себе было достаточным подтверждением происхождения. Эта точка — предмет следующего раздела: как творческий продукт производился руками и что случилось с ценой его производства, когда ответ на вопрос «кто это сделал» перестал однозначно следовать из того, что результат вообще существует.</a:t>
            </a:r>
          </a:p>
          <a:p>
            <a:r>
              <a:t/>
            </a:r>
          </a:p>
          <a:p>
            <a:r>
              <a:t>Вторая точка — при проверке. Редактор верит подписи автора; клиент верит, что лицензия на фотографию существует и действительна; агентство верит, что голос в ролике принадлежит актёру по контракту. Институт верификации был рассчитан на то, что подделать именованного автора, лицензированный источник или голос конкретного человека дорого и хлопотно — настолько, что экономически нецелесообразно для подавляющего большинства материала. Этой точке посвящён раздел «Редакционный контроль» — там разбор CNET: что происходит, когда стоимость подделки подписи обнуляется, а объём материала для проверки остаётся прежним.</a:t>
            </a:r>
          </a:p>
          <a:p>
            <a:r>
              <a:t/>
            </a:r>
          </a:p>
          <a:p>
            <a:r>
              <a:t>Третья точка — при публикации, в реакции аудитории. Зритель реагирует на контент так, будто его подлинность не под вопросом; узнав, что перед ним результат генерации, реагирует иначе — и эта реакция измерима, причём не всегда предсказуемо: иногда резко негативно в открытых сетях, иногда ровно и даже благосклонно в контролируемом предрелизном тестировании. Раздел «Релиз и приём аудиторией» разбирает это на материале рекламных кампаний, где тональность публики измерена до и после раскрытия происхождения.</a:t>
            </a:r>
          </a:p>
          <a:p>
            <a:r>
              <a:t/>
            </a:r>
          </a:p>
          <a:p>
            <a:r>
              <a:t>Четвёртая точка — при оплате. Кто лицензировал материал, на котором обучена модель, произведшая конкретный артефакт, и был ли он вообще лицензирован? До генеративных моделей этот вопрос решался заранее, договором, с известной ценой. Раздел «Счёт: права, рынок и критерии отказа» разбирает разрыв между классическим лицензионным тарифом и тем, что происходит в судах и мировых соглашениях на практике, — тот же разрыв в три-четыре порядка, что и обвал цены исполнения дальше.</a:t>
            </a:r>
          </a:p>
          <a:p>
            <a:r>
              <a:t/>
            </a:r>
          </a:p>
          <a:p>
            <a:r>
              <a:t>Та же часть раздела не добавляет новую точку на маршруте: она спрашивает, что стало с человеком, который раньше проходил весь этот путь профессией, а не разовым актом — дизайнером, композитором, диктором, журналистом.</a:t>
            </a:r>
          </a:p>
          <a:p>
            <a:r>
              <a:t/>
            </a:r>
          </a:p>
          <a:p>
            <a:r>
              <a:t>Чтобы карта не осталась абстрактной схемой, пройдём по ней на том же логотипе, заказанном независимому дизайнеру, с которого начался вход. На первой точке вопрос — «кто это нарисовал», раньше очевиден из факта существования файла, теперь требует проверки. На второй — агентство проверяет, не похож ли логотип на чужой товарный знак. На третьей — покупатели бренда узнают ли стиль. На четвёртой — если модель обучалась на чужих логотипах без разрешения, кто должен заплатить. Один и тот же файл проходит все четыре точки независимо от способа создания — разница в том, что раньше хотя бы одну из четырёх можно было не задавать вовсе.</a:t>
            </a:r>
          </a:p>
          <a:p>
            <a:r>
              <a:t/>
            </a:r>
          </a:p>
          <a:p>
            <a:r>
              <a:t>Правило, по которому устроен каждый подробный разбор дальше: сначала цена обеих сторон вопроса — что стоит классический способ и что стоит обвал цены, в одних единицах, до всякой оценки качества результата. Затем классический режим, которым вопрос решался до модели, посчитанный в тех же единицах — не «было по-другому», а конкретный, названный по имени порядок работы со своим числом. Дальше модель сравнивается именно с этим классическим режимом, не с пустым местом: сравнение с нулём здесь не принимается нигде. И наконец форма, в которой изменилась работа: нагрузка переезжает на другой шаг цикла, и этот переезд называется конкретно.</a:t>
            </a:r>
          </a:p>
          <a:p>
            <a:r>
              <a:t/>
            </a:r>
          </a:p>
          <a:p>
            <a:r>
              <a:t>Три условия, по которым пример допускается в подробный разбор: изменение вызвано именно обученной моделью; предмет отраслевой, не юридический отчёт о статусе дела; дихотомия измерена в сопоставимых единицах, с явным итогом, а не впечатлением. Число без названной базы в разбор не идёт.</a:t>
            </a:r>
          </a:p>
          <a:p>
            <a:r>
              <a:t/>
            </a:r>
          </a:p>
          <a:p>
            <a:r>
              <a:t>Один подготовленный вопрос на раздел, риторически: у кого на работе уже стоит генерация в продакшене — картинка, звук, текст — не для баловства? Короткий ответ — название конкретного инструмента и задачи: «Midjourney — для макетов интерфейса на демо», «Suno — фон для внутреннего видео».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строки вывода на предыдущих кадрах собирается вопрос, вокруг которого выстроена вся лекция.</a:t>
            </a:r>
          </a:p>
          <a:p>
            <a:r>
              <a:t/>
            </a:r>
          </a:p>
          <a:p>
            <a:r>
              <a:t>Ответ на этот вопрос даётся не единственным числом и не единственным предложением — он собирается постепенно, по мере того как материал проходит по пяти точкам жизни одного творческого артефакта, и получает окончательную форму в разделе «Счёт: права, рынок и критерии отказа», где он звучит поимённо: какая роль теперь несёт расходы на восстановление узнавания — автор, издание, платформа, закон или зритель, — и в каких единицах эти расходы посчитаны.</a:t>
            </a:r>
          </a:p>
          <a:p>
            <a:r>
              <a:t/>
            </a:r>
          </a:p>
          <a:p>
            <a:r>
              <a:t>Вопрос лекции не стоит путать с похожим, но куда более узким вопросом «как распознать дипфейк» — техническим вопросом о детектировании подделки, которым занимаются отдельные продукты и отдельные исследовательские группы и который здесь не разбирается как отдельная техническая дисциплина. Вопрос лекции шире и институциональнее: не «как технически поймать подделку», а «кто и чем теперь должен подтверждать подлинность, если прежний бесплатный способ — просто посмотреть и узнать — больше не работает как надёжная проверка». Ответ на него может включать технические детекторы как один из инструментов, но не сводится к ним — он касается того, кто платит за внедрение этих детекторов, кто несёт ответственность, если детектор ошибся, и что происходит с индустрией, которая долгое время обходилась вовсе без формальной проверки подлинности, потому что бесплатное узнавание справлялось само.</a:t>
            </a:r>
          </a:p>
          <a:p>
            <a:r>
              <a:t/>
            </a:r>
          </a:p>
          <a:p>
            <a:r>
              <a:t>Узнавание — лицо на видеозвонке, голос в телефонной трубке, подпись автора под статьёй, очевидно лицензированная фотография на сайте издания — всегда было бесплатным и достаточным сигналом доверия в творческом производстве. Генеративная модель не сделала творческий продукт хуже. Она обнулила цену подделки узнавания — и ломается не качество продукта, а механизм проверки, который раньше прилагался к узнаванию бесплатно и на эту бесплатность был рассчитан весь остальной порядок работы, от редакционного контроля до договора о лицензии. Разбор на входе лекции уже дал этому число: доля статей одного издания, которым потребовалась публичная коррекция после раскрытия того, что их написала модель, оказалась того же порядка, что базовый уровень ошибок классической журналистики вообще — разница не в том, что модель ошибается чаще человека, а в том, что раскрытие авторства заставило исправить то, что индустрия и так не исправляла годами.</a:t>
            </a:r>
          </a:p>
          <a:p>
            <a:r>
              <a:t/>
            </a:r>
          </a:p>
          <a:p>
            <a:r>
              <a:t>Путь ответа проходит пятью разделами, и каждый держит одну точку в жизни одного творческого артефакта — от замысла до того, что станет с профессией, которая этот замысел воплощала. Раздел «Продакшн / исполнение» ставит вопрос «кто это сделал»: как творческий продукт производился руками до генеративных моделей и на сколько порядков подешевела сама генерация. Раздел «Редакционный контроль» ставит вопрос «кто это проверил» — здесь лежит разбор CNET, ядро всей лекции. Раздел «Релиз и приём аудиторией» ставит вопрос «как аудитория отреагировала». Раздел «Счёт: права, рынок и критерии отказа» ставит сразу два последних вопроса пути — «кто за это заплатил» и «что стало с тем, кто это обычно делал» — разрыв здесь тоже измеряется тремя-четырьмя порядками.</a:t>
            </a:r>
          </a:p>
          <a:p>
            <a:r>
              <a:t/>
            </a:r>
          </a:p>
          <a:p>
            <a:r>
              <a:t>Параллельно лекция вводит и держит сквозной рефрен: расхождение между классической ценой чего-либо и ценой того же самого после обученной модели почти всегда оказывается величиной в три-четыре порядка — не вдвое и не на четверть, а в тысячу-десять тысяч раз. Этот разрыв появится уже в следующем разделе на обвале цены генерации, вернётся позже на разрыве между лицензионным тарифом и реально согласованной ставкой по мировому соглашению, и его итоговый счёт прозвучит на закрытии: сколько раз за лекцию разрыв действительно был измерен в этом диапазоне, а не просто заявлен впечатлением.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вопросом, который теперь будет задаваться на каждом шаге пути одного творческого артефакта: что стоило доверия бесплатно и что стоит теперь. Здесь этот вопрос задаётся впервые на содержательном материале, и задаётся он на самой первой точке пути, потому что раньше неё нет ничего: прежде чем спрашивать, кто проверил результат, кто за него заплатил и что стало с исполнителем, нужно понять, кто вообще его сделал и почём.</a:t>
            </a:r>
          </a:p>
          <a:p>
            <a:r>
              <a:t/>
            </a:r>
          </a:p>
          <a:p>
            <a:r>
              <a:t>Раздел открывается классикой — как творческий артефакт делали руками до генеративных моделей, по трём разным классам продукта: изображение, музыкальный трек, озвучка. Смешивать их в один разговор о «творческой работе вообще» означало бы потерять именно те различия, ради которых стоит сравнивать: цена и порядок работы в них совершенно разные. Дальше — порог найма: решение привлечь живого исполнителя к задаче, которое принимается раньше вопроса о качестве результата, и у каждого из трёх классов продукта это решение стояло на разной высоте.</a:t>
            </a:r>
          </a:p>
          <a:p>
            <a:r>
              <a:t/>
            </a:r>
          </a:p>
          <a:p>
            <a:r>
              <a:t>Ядро раздела — обвал цены генерации, измеренный по каждому из трёх классов отдельно, потому что смешивать их тоже нельзя: правильное сравнение для изображения — с рыночной ставкой фрилансера, для музыки — со стоковой лицензией, а не с заказом композитору, для озвучки — с диктором по сегментам опыта. Разрыв везде ложится в один и тот же порядок — три-четыре порядка, — и это не совпадение одного случая, а форма, в которой разрыв между классической и генеративной ценой, похоже, устроен системно.</a:t>
            </a:r>
          </a:p>
          <a:p>
            <a:r>
              <a:t/>
            </a:r>
          </a:p>
          <a:p>
            <a:r>
              <a:t>Отдельным разбором в разделе стоит история Sora — не как часть расчёта обвала цены, а как самостоятельная иллюстрация того, как быстро флагманский статус инструмента может оказаться недолговечным: партнёрство на миллиард долларов и пиковая известность на рынке полностью сошли со сцены за двенадцать месяцев. Технически видеогенерация как класс задачи не провалилась — провалилась конкретная бизнес-ставка.</a:t>
            </a:r>
          </a:p>
          <a:p>
            <a:r>
              <a:t/>
            </a:r>
          </a:p>
          <a:p>
            <a:r>
              <a:t>Раздел завершается тем же вопросом, которым заканчивается каждый раздел пути: какая нагрузка переехала и куда именно, а не просто «стало дешевле». Ответ складывается из двух частей — исполнение переехало от часов ручной работы к секундам генерации плюс последующей правке, и появился новый профессиональный шаг, которого раньше не существовало в этой форме: формулирование запроса для модели и курирование вариантов.</a:t>
            </a:r>
          </a:p>
          <a:p>
            <a:r>
              <a:t/>
            </a:r>
          </a:p>
          <a:p>
            <a:r>
              <a:t>Весь этот раздел нейтрален по своему материалу — он о возможности, не о провале: курс в применении к инженерным задачам рассматривает трёх-четырёхпорядковое удешевление доступа к исполнению как эффект, которым восхищается, а не которого боится. Единственное исключение внутри раздела — история Sora, где провалилась не технология, а конкретная бизнес-ставка на неё; это первый случай в лекции, где видно, что «не сработало» и «модель не справилась» — два разных утверждения; та же путаница встретится ещё не раз, на куда более высоких ставках.</a:t>
            </a:r>
          </a:p>
          <a:p>
            <a:r>
              <a:t/>
            </a:r>
          </a:p>
          <a:p>
            <a:r>
              <a:t>Куда дальше ведёт обвал цены исполнения — не вопрос этого раздела. Следующий раздел берёт тот же обвал цены и спрашивает, что происходит на следующем шаге пути артефакта: когда файл уже создан, пусть и за секунды, а не за дни, — кто теперь это проверяет, и работает ли прежний институт проверки, рассчитанный на то, что подделка дорога. Там же лежит разбор CNET — ядро всей лекции, предъявленное уже во входе и теперь получающее полное раскрытие.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том, что изменила генеративная модель, материал обязан предъявить, как было устроено исполнение творческой работы без неё — не одним примером, а по трём разным классам продукта, потому что цена и порядок работы в них совершенно разные, и смешивать их в один разговор о «творческой работе вообще» означало бы потерять именно те различия, ради которых стоит сравнивать.</a:t>
            </a:r>
          </a:p>
          <a:p>
            <a:r>
              <a:t/>
            </a:r>
          </a:p>
          <a:p>
            <a:r>
              <a:t>Независимый дизайнер получает заказ через биржу фриланса или по личной рекомендации. Классический цикл устроен из нескольких шагов: клиент формулирует бриф — короткий документ с описанием продукта, целевой аудитории, желаемого настроения и технических ограничений; дизайнер присылает референс — несколько чужих работ как ориентир стиля — и получает подтверждение направления прежде, чем приступить к рисованию; затем приходит черновой вариант, за ним одна-две итерации правки по конкретным замечаниям; и только после согласования — финальная сдача файла в нескольких технических форматах вместе с передачей прав использования, которая часто оформляется отдельным пунктом договора. Весь цикл занимает от одного до трёх дней. По ставкам 2026 года типовое задание такого рода стоит 50–150 долларов; верхняя часть диапазона включает премиальные пакеты у опытных исполнителей, где минимальная ставка может доходить до нескольких сотен долларов за полный пакет фирменного стиля, но это уже другой по объёму заказ, не единичная иллюстрация. Отдельное исследование профилей фрилансеров показало среднюю часовую ставку дизайнера около 49,65 доллара в час против среднерыночного биржевого фона около 25 долларов в час — специализация в иллюстрации и бренд-дизайне оплачивается заметно выше общего фрилансерского фона.</a:t>
            </a:r>
          </a:p>
          <a:p>
            <a:r>
              <a:t/>
            </a:r>
          </a:p>
          <a:p>
            <a:r>
              <a:t>Музыкальный трек раскладывается на два принципиально разных продукта: одна из ключевых ошибок при сравнении с генеративной моделью — сравнивать её именно с тем продуктом, который дороже и устроен иначе. Первый продукт — кастомный трек на заказ: композитор пишет оригинальную музыку под конкретный бренд, фильм или рекламный проект. Классический рабочий процесс включает «сессию привязки» — совместный просмотр видеоряда, во время которого размечается, в каких местах должна звучать музыка, — и завершается «листом реплик», документом, перечисляющим каждый фрагмент и точку входа в видеоряд. Работа оплачивается либо по контракту на минуту готового материала — 200–1500 долларов за минуту в режиме работы по найму, — либо по проекту целиком: национальная телевизионная реклама с оригинальной композицией стоит от 5000 до 25000 долларов за трек. Второй продукт, отличный от первого по самой природе, — стоковая лицензия: уже существующий трек из библиотеки, лицензируемый для использования без заказа композитору лично и без сессии привязки. Стандартная коммерческая лицензия стоит 20–100 долларов за трек, расширенная — 100–500 и более долларов. Это разные продукты по самой структуре работы: в одном случае покупается индивидуальный творческий акт и его подгонка под конкретный материал, в другом — готовый, уже существующий файл.</a:t>
            </a:r>
          </a:p>
          <a:p>
            <a:r>
              <a:t/>
            </a:r>
          </a:p>
          <a:p>
            <a:r>
              <a:t>Классический рынок закадрового голоса сегментирован по опыту исполнителя и типу материала плотнее, чем кажется со стороны. Процесс начинается с кастинга — заказчик рассылает текст-пробник нескольким дикторам и выбирает тон по присланным образцам; затем следует запись в студии с режиссёрскими пометками по интонации и обычно одна-две итерации пересъёмки отдельных фраз. Начинающий диктор берёт 50–150 долларов за минуту готовой записи; специалист среднего уровня, два-семь лет практики, — 150–350 долларов; состоявшийся студийный профессионал — 350–1000 и более долларов за минуту. Внутри этого диапазона лежат заметно различающиеся по характеру заказы: электронное обучение и корпоративные ролики оплачиваются по нижней части диапазона с минимальной ставкой за модуль независимо от его длины; аудиокниги считаются по часу записи, а не по минуте готового материала, и верхняя планка там достигает 500–1000 с лишним долларов за час у топовых исполнителей. Разброс «от 50 до 1000» без этой сегментации выглядит хаотичным; с ней — это упорядоченный рынок, где цена определяется и опытом исполнителя, и типом контента, и единицей измерения, которую заказчик фактически покупает.</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трёх классах продукта — изображении, музыке, озвучке — решение привлечь живого человека к конкретной задаче принимается до всякого вопроса о качестве результата. Клиент не сравнивает сначала качество работы фрилансера с качеством работы студийного композитора, а потом решает, кого нанять, — решение о том, что задачу вообще стоит отдавать человеку, а не делать своими силами или вовсе не делать, принимается раньше, исходя из бюджета, срочности и важности результата для бизнеса. Это решение можно назвать порогом найма — медицинским аналогом ему в прошлой лекции курса служит порог вмешательства: решение о том, звать ли человека на диагностическое обследование вообще, принимается раньше и отдельно от вопроса о точности самого обследования. Порог найма в творческом производстве устроен симметрично: он определяется ценой ошибки для заказчика, а не абстрактной потребностью в творчестве.</a:t>
            </a:r>
          </a:p>
          <a:p>
            <a:r>
              <a:t/>
            </a:r>
          </a:p>
          <a:p>
            <a:r>
              <a:t>Именно этот порог и сдвигает обвал цены генерации, описанный в следующих кадрах, — не качество результата генеративной модели относительно качества работы фрилансера, это отдельный и во многих случаях спорный вопрос, — а то, что порог найма живого исполнителя для рутинных, невысокой важности задач физически перестаёт существовать, когда альтернатива стоит тысячные доли цента и доступна за секунды.</a:t>
            </a:r>
          </a:p>
          <a:p>
            <a:r>
              <a:t/>
            </a:r>
          </a:p>
          <a:p>
            <a:r>
              <a:t>Порог найма прошит через три класса продукта неодинаково. Для изображения порог был самым низким из трёх классов — простейшая иллюстрация или баннер до генеративных моделей стоили относительно немного, и решение «нанять фрилансера или обойтись» часто склонялось в пользу найма даже для рутинных задач, потому что цена была приемлемой. Для кастомного музыкального трека порог был высоким — тысячи долларов означали, что заказ оригинальной музыки оставался уделом проектов с заметным бюджетом, а всё остальное по умолчанию использовало куда более дешёвую стоковую лицензию. Для озвучки порог распределялся по всему диапазону сегментов — от почти доступного до почти недоступного для малого бюджета. Обвал цены генерации радикальнее всего меняет именно те сегменты рынка, где порог найма раньше был высок: там разница между «было недоступно» и «стало доступно почти бесплатно» ощущается сильнее всего, тогда как в сегментах, которые и так были дёшевы, изменение субъективно менее драматично, хотя измеряется теми же тремя-четырьмя порядками.</a:t>
            </a:r>
          </a:p>
          <a:p>
            <a:r>
              <a:t/>
            </a:r>
          </a:p>
          <a:p>
            <a:r>
              <a:t>Инженерный аналог этого сдвига — порог «купить готовое решение или разработать своё»: решение закладывается в план проекта заранее, по ожидаемой стоимости и критичности компонента, а не принимается заново каждый раз. До обвала цены генерации порог найма творческого исполнителя для рутинной задачи часто означал решение вообще обойтись без неё — руками непрофильного сотрудника, бесплатным шаблоном сомнительного качества или отказом от сопровождения там, где оно улучшило бы результат, но не оправдывало бы расходы на фрилансера. Когда альтернатива стоит доли цента, этот порог для рутинных задач фактически исчезает — не потому, что качество генерации всегда достаточно, а потому, что цена эксперимента падает настолько, что сам эксперимент становится бесплатным способом проверить, достаточно ли его для конкретной, невысокой по значимости задачи.</a:t>
            </a:r>
          </a:p>
          <a:p>
            <a:r>
              <a:t/>
            </a:r>
          </a:p>
          <a:p>
            <a:r>
              <a:t>Порог — по одному сценарию на каждый из трёх классов продукта, собранному по агрегированным профилям фрилансеров 2026 года, не по задокументированному случаю одного человека.</a:t>
            </a:r>
          </a:p>
          <a:p>
            <a:r>
              <a:t/>
            </a:r>
          </a:p>
          <a:p>
            <a:r>
              <a:t>Иллюстраторка по условному имени Марина К. несколько лет закрывала для интернет-магазинов однотипный поток заказов: карточка товара, баннер для почтовой рассылки, набор иконок для раздела «О нас» — по 50–70 долларов за единицу, три-четыре заказа в неделю в удачный месяц, то есть порядка 700–1000 долларов валового дохода от этого конкретного потока ежемесячно. Порог найма для её заказчиков был низким с самого начала: 60 долларов за баннер — приемлемая цена, чтобы не отвлекать штатного сотрудника без дизайнерских навыков на работу в графическом редакторе, и заказ оформлялся почти не задумываясь.</a:t>
            </a:r>
          </a:p>
          <a:p>
            <a:r>
              <a:t/>
            </a:r>
          </a:p>
          <a:p>
            <a:r>
              <a:t>Для независимого композитора, пишущего стоковые треки для библиотек, порог найма заказчика определялся ценой лицензии — 20–100 долларов за трек. Типичный заказчик — небольшое рекламное агентство, готовящее ролик для локального бизнеса, — выбирал между покупкой готового трека из каталога и подпиской сразу на несколько библиотек. Это другой по устройству порог, чем у иллюстратора: здесь решение зависело не от того, нанимать ли человека лично, а от того, какую лицензию купить, потому что стоковые треки обычно анонимны по контракту с самого начала.</a:t>
            </a:r>
          </a:p>
          <a:p>
            <a:r>
              <a:t/>
            </a:r>
          </a:p>
          <a:p>
            <a:r>
              <a:t>Для диктора начального уровня, берущего 50–150 долларов за минуту на электронных курсах и объяснительных роликах, порог найма заказчика был устроен иначе: цена уже была низкой, и конкуренция шла не по порогу «нанимать или не нанимать», а по срокам и удобству правок. Корпоративный клиент, которому нужно было десять минут озвучки инструктажа по технике безопасности, ждал два-три дня на запись и правку текста — решающим фактором здесь было не само удешевление, а то, что клиент перестал мириться с ожиданием там, где можно получить результат за час.</a:t>
            </a:r>
          </a:p>
          <a:p>
            <a:r>
              <a:t/>
            </a:r>
          </a:p>
          <a:p>
            <a:r>
              <a:t>Порог найма — не абстрактная величина, а конкретное, измеримое решение, которое принимает конкретный заказчик по конкретной причине, и причина у каждого класса продукта своя: там, где порог держался на срочности, как у диктора, обвал цены меняет субъективно меньше, чем там, где порог определялся исключительно бюджетом, как у заказчика стоковой лицензии, — хотя и там, и там измеряется теми же тремя-четырьмя порядками. Ни в одном из трёх сценариев заказчик не сравнивал качество результата заранее: решение «нанять ли вообще» принималось по бюджету и срочности, а вопрос «достаточно ли хорош результат» решался уже после, на готовом файле.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Актуальные на октябрь 2026 года флагманские инструменты генерации изображений предлагают цену, которая по порядку величины совпадает между собой независимо от конкретного продукта. Midjourney, выпустившая последовательно версии V8 Alpha, V8.1 и ставшую версией по умолчанию V8.2, оценивает одно изображение в базовом тарифном плане примерно в 0,05 доллара, а в более дорогом плане с большим объёмом генераций — около 0,03 доллара за изображение в быстром режиме, при этом безлимитный «спокойный» режим доступен практически бесплатно сверх подписки. Adobe Firefly на своей базовой платной подписке с моделью Image 5 даёт сопоставимую цену — около 0,05 доллара за изображение в разрешении 2К при подписке в 9,99 доллара в месяц на 2000 расчётных единиц.</a:t>
            </a:r>
          </a:p>
          <a:p>
            <a:r>
              <a:t/>
            </a:r>
          </a:p>
          <a:p>
            <a:r>
              <a:t>Сопоставление этих цифр с классическим тарифом фрилансера даёт разрыв порядка в тысячу-три тысячи раз: 50–150 долларов вручную против 0,03–0,05 доллара генерацией. Это первое конкретное измерение трёх-четырёх порядков — рефрена, который будет повторяться в этой лекции ещё не раз.</a:t>
            </a:r>
          </a:p>
          <a:p>
            <a:r>
              <a:t/>
            </a:r>
          </a:p>
          <a:p>
            <a:r>
              <a:t>Арифметика разрыва на конкретном, инженерно понятном сценарии. Маркетинговой команде нужно подготовить сто разных вариантов рекламного баннера для A/B-тестирования на разных сегментах аудитории — задача, прямое отношение к которой имеет любой инженер, занимавшийся ростом продукта. Классический путь — заказать сто иллюстраций фрилансерам по нижней границе диапазона, 50 долларов за штуку, — обойдётся в 5000 долларов и потребует времени, кратного циклу в один-три дня, умноженному на число параллельных исполнителей, которых команда готова оплатить одновременно; реалистично это растягивается на одну-две недели календарного времени. Путь генерации — сто изображений по 0,05 доллара за штуку — обходится в 5 долларов и занимает минуты.</a:t>
            </a:r>
          </a:p>
          <a:p>
            <a:r>
              <a:t/>
            </a:r>
          </a:p>
          <a:p>
            <a:r>
              <a:t>Это не означает, что сто сгенерированных вариантов эквивалентны по качеству ста вариантам, нарисованным фрилансерами, — но это означает, что для задачи, где важна не абсолютная виртуозность одной картинки, а количество вариантов, которые можно быстро протестировать на реальной аудитории, обвал цены меняет саму экономику эксперимента: пробовать сто вариантов вместо трёх перестаёт быть вопросом бюджета.</a:t>
            </a:r>
          </a:p>
          <a:p>
            <a:r>
              <a:t/>
            </a:r>
          </a:p>
          <a:p>
            <a:r>
              <a:t>Сравнение здесь именно по цене исполнения технической операции — получить файл изображения определённого содержания, — а не по ценности результата для заказчика: дизайнер, помимо исполнения, несёт в заказ интерпретацию брифа, переговоры с клиентом по правкам и ответственность за итоговое соответствие результата задаче бренда, и ни одна из этих функций ценой генерации не измеряется и не заменяется автоматически. Этот разрыв между ценой технической операции и ценностью всей остальной работы вокруг неё будет держать материал и дальше: когда речь дойдёт до того, что стало с кадровым рынком отрасли, окажется, что именно эта неизмеряемая часть работы — интерпретация, переговоры, ответственность — осталась у исполнителя, а рутинная часть исчезла первой.</a:t>
            </a:r>
          </a:p>
          <a:p>
            <a:r>
              <a:t/>
            </a:r>
          </a:p>
          <a:p>
            <a:r>
              <a:t>Откуда именно взялся этот разрыв в тысячу-три тысячи раз, а не в десять или в сто. Цена фрилансера складывается не только из времени на рисование, но из времени на переписку, уточнение брифа и ожидание ответа клиента между итерациями — это то, что экономисты труда называют временем координации, и оно не сокращается пропорционально скорости самого рисования. Цена генерации, напротив, почти целиком состоит из вычислительной операции: запрос обрабатывается моделью за секунды независимо от того, сколько итераций потребуется, чтобы результат устроил заказчика. Разрыв в три-четыре порядка — это разрыв не между «быстрым художником» и «медленным», а между оплатой координации людей и оплатой вычислений, и именно поэтому он так стабильно повторяется на разных классах продукта, рассмотренных дальше в этом разделе.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Сравнивать генеративный трек нужно со стоковой лицензией, а не с кастомным заказом композитору. Сравнение «студийный трек за 5000–25000 долларов против генерации за несколько центов» физически некорректно — это разные по характеру продукты: авторская работа под конкретное бренд-сообщение и алгоритмически синтезированный аудиофайл без личного участия композитора. Канон курса прямо запрещает такое сравнение как «выигрыш от нуля» — модель должна сравниваться с сопоставимым классическим режимом, а не с тем, что заведомо дороже по другим причинам.</a:t>
            </a:r>
          </a:p>
          <a:p>
            <a:r>
              <a:t/>
            </a:r>
          </a:p>
          <a:p>
            <a:r>
              <a:t>Корректное сравнение — со стоковой лицензией. Сервис Suno, на поколении моделей версии 6, на тарифном плане Premier за 30 долларов в месяц даёт около 2000 сгенерированных песен, то есть примерно 0,015 доллара за песню; на плане Pro за 10 долларов — около 500 песен в месяц, около 0,02 доллара за песню. Стоковая лицензия, как показано ранее, стоит 20–100 долларов за трек. Разрыв — в тысячу-пять тысяч раз, того же порядка, что и у изображений — у продуктов с разным производственным циклом и разной ролью исполнителя. Это не совпадение одного кейса, а форма, в которой разрыв между классической и генеративной ценой устроен системно, а не случайно для конкретного рынка.</a:t>
            </a:r>
          </a:p>
          <a:p>
            <a:r>
              <a:t/>
            </a:r>
          </a:p>
          <a:p>
            <a:r>
              <a:t>Та же арифметика, что и для изображений, применима и здесь. Продюсеру подкаста нужен короткий фоновый трек для тридцати разных эпизодов, у каждого из которых своя тема и настроение. Тридцать отдельных стоковых лицензий по нижней границе, 20 долларов, обойдутся в 600 долларов; тридцать сгенерированных треков у Suno по 0,02 доллара — в 60 центов. Для продюсера с ограниченным бюджетом это не вопрос «что звучит лучше» в абстрактном смысле — это вопрос, может ли он вообще позволить себе уникальный трек под каждый эпизод, а не один и тот же лицензированный трек-заглушку на всю серию. Обвал цены в данном случае расширяет не только доступность, но и разнообразие: решение, которое раньше упиралось в бюджет, теперь упирается только в то, устраивает ли результат по качеству и не нарушает ли он чьи-то права — вопрос, к которому материал вернётся позже, в разделе о правах и лицензировании.</a:t>
            </a:r>
          </a:p>
          <a:p>
            <a:r>
              <a:t/>
            </a:r>
          </a:p>
          <a:p>
            <a:r>
              <a:t>Если бы разрыв мерили против кастомного заказа композитору, получилась бы цифра в десятки тысяч раз — эффектная, но нечестная: два принципиально разных продукта, индивидуальный творческий акт и готовый файл из каталога. Корректный разрыв — три-четыре порядка — звучит скромнее, но именно он держит рефрен лекции, повторяясь на разном материале одной и той же величиной, а не подгоняясь под эффектную цифру задним числом.</a:t>
            </a:r>
          </a:p>
          <a:p>
            <a:r>
              <a:t/>
            </a:r>
          </a:p>
          <a:p>
            <a:r>
              <a:t>Разбор не измеряет, окажется ли композитор, пишущий музыку на заказ, тоже под давлением обвала цены, — его продукт структурно другой, привязанный к конкретному видеоряду и бренд-сообщению, и генерация пока не предлагает прямой замены именно этой функции. Под давлением оказывается не кастомный заказ, а канал, который раньше стоял между заказчиком и готовым звуком — стоковая библиотека как посредник. Страдает не композитор лично, а бизнес-модель лицензирования готового каталога, и то, что случилось дальше с этим каналом, — отдельный вопрос, к которому лекция вернётся в разделе о кадровом рынке отрасли.</a:t>
            </a:r>
          </a:p>
          <a:p>
            <a:r>
              <a:t/>
            </a:r>
          </a:p>
          <a:p>
            <a:r>
              <a:t>Третий класс продукта этого раздела — озвучка — устроен иначе именно потому, что единица измерения, минута готовой речи, одна и та же по обе стороны сравнения, без каких-либо оговорок о несопоставимости продуктов, которые требовались для музыки. ElevenLabs, один из флагманских сервисов синтеза речи на октябрь 2026 года, оценивает минуту сгенерированной речи в диапазоне от 0,04 доллара на самом быстром и дешёвом режиме через программный интерфейс до 0,09 доллара на более качественной многоязычной модели; на обычной подписке конечная цена для пользователя выходит в диапазон 0,17–0,20 доллара за минуту. Классический диапазон закадрового голоса — 50–450 долларов за минуту в зависимости от сегмента и опыта исполнителя. Разрыв — в двести пятьдесят — тысячу раз, тот же порядок, что у двух предыдущих классов продукта, хотя и несколько более узкий по нижней границе — вероятно, из-за того, что нижний сегмент классического рынка уже был относительно дешёвым до всякой генеративной модели. Компании, которая готовит десять часов обучающих материалов для сотрудников, классическая озвучка по нижней границе электронного обучения обойдётся в диапазоне нескольких тысяч долларов и потребует недель; синтезированная озвучка — в диапазоне 24–120 долларов и часов, а не недель, работы.</a:t>
            </a:r>
          </a:p>
          <a:p>
            <a:r>
              <a:t/>
            </a:r>
          </a:p>
          <a:p>
            <a:r>
              <a:t>Озвучка — единственный из трёх классов продукта, где обвал цены исполнения сразу же упирается в вопрос, который к изображению и музыке применяется не так остро: голос синтезируется не «вообще», а по образцу — современные сервисы умеют клонировать конкретный голос по короткому аудиофрагменту, и это означает, что технически возможно сгенерировать речь голосом реального, узнаваемого человека без его участия в самой записи. Обвал цены исполнения и обвал цены подделки узнавания здесь не просто соседствуют тематически — они вызваны одним и тем же технологическим умением модели, и это первый случай в лекции, где это совпадение видно буквально на одном и том же инструменте (вид генерации, который карта видов генерации дальше по разделу назовёт по имени: text-to-speech с клонированием голоса). Ось всей лекции, объявленная на входе, здесь впервые проявляется не как абстрактное утверждение, а как наблюдаемое свойство конкретной технологии: способность синтезировать речь дёшево и способность подделать чью-то конкретную речь дёшево — ровно одно и то же умение, применённое к разным входным данным. Инженеру, выбирающему инструмент синтеза речи для легитимной задачи: то же умение, которое экономит бюджет на эту задачу, кем-то другим может быть применено к записи чужого голоса без согласия вообще — граница между этими двумя применениями не в технологии, а в том, что согласовано и задокументировано заранее.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предыдущих кадра измерили, во сколько раз подешевело исполнение — изображения, трека, озвучки. Этот блок отвечает на другой вопрос, без которого числа обвала цены остаются магией тарифа: не «сколько это стоит», а «почему это стоит именно столько» — что внутри модели делает секунду генерации на три-четыре порядка дешевле дня ручной работы.</a:t>
            </a:r>
          </a:p>
          <a:p>
            <a:r>
              <a:t/>
            </a:r>
          </a:p>
          <a:p>
            <a:r>
              <a:t>Курс уже проходил этот приём на материале языковых моделей. Лекция 2 не просто сказала, что большая модель дешевле и быстрее человека-автора, — она показала токенизацию, векторное пространство эмбеддингов, механизм внимания и температуру сэмплирования, с нюансами и ловушками на каждом шаге, и только после этого разбирала, что модель умеет и чего не умеет. Этот блок делает то же самое для генерации изображения, трека и голоса — тем же приёмом, в масштабе одной остановки внутри Раздела 1, а не отдельной лекции.</a:t>
            </a:r>
          </a:p>
          <a:p>
            <a:r>
              <a:t/>
            </a:r>
          </a:p>
          <a:p>
            <a:r>
              <a:t>Три остановки держат весь блок. Первая — что модель видит на входе: единица, в которой измеряется картинка или звук, и рабочее поле, в котором модель физически производит вычисления. Вторая — как модель понимает текстовый запрос: откуда она знает, что означают слова промпта, и чем управляется каждый шаг генерации. Третья — диффузия: как из случайного шума за десятки шагов получается конкретное изображение, соответствующее этому запросу.</a:t>
            </a:r>
          </a:p>
          <a:p>
            <a:r>
              <a:t/>
            </a:r>
          </a:p>
          <a:p>
            <a:r>
              <a:t>Карта пути раздела никуда не уходит — мы остаёмся внутри той же стадии, «кто это сделал», и просто смотрим, чем именно сделал. Симметрия с устройством классического ремесла (бриф, референс, правка, дни — несколькими кадрами раньше) здесь прямая: там раздел показал устройство классики, здесь — устройство генерации на той же стадии пути. После трёх остановок разбор классики и обвала цены перестанет быть одной лишь арифметикой тарифа и станет понятным механизмом: откуда берётся разрыв в три-четыре порядка, который будет повторяться в лекции ещё не раз.</a:t>
            </a:r>
          </a:p>
          <a:p>
            <a:r>
              <a:t/>
            </a:r>
          </a:p>
          <a:p>
            <a:r>
              <a:t>Каждый кадр дальше несёт возврат к тому же вопросу, вокруг которого выстроена эта лекция: почему подделка узнавания стала бесплатной. Техника здесь — не самоцель, а ответ на этот вопрос с другой стороны: обнуление цены исполнения и обнуление цены подделки — следствия одного и того же механизма.</a:t>
            </a:r>
          </a:p>
          <a:p>
            <a:r>
              <a:t/>
            </a:r>
          </a:p>
          <a:p>
            <a:r>
              <a:t>Без такой симметрии раздел рисковал бы рассказать о классике подробно, а о генерации — одной фразой «нейросеть всё сделала», и сравнение двух режимов читалось бы нечестно: одна сторона предъявлена устройством, другая — магией.</a:t>
            </a:r>
          </a:p>
          <a:p>
            <a:r>
              <a:t/>
            </a:r>
          </a:p>
          <a:p>
            <a:r>
              <a:t>Три остановки держат этот баланс. Они не идут вразнобой и не повторяют друг друга: вход определяет, что физически может видеть модель, понимание промпта определяет, куда эта способность направляется, а диффузия определяет, как из направленной способности получается конкретный файл. Каждая следующая остановка использует результат предыдущей — и именно поэтому блок стоит смотреть по порядку, а не как набор отдельных фактов.</a:t>
            </a:r>
          </a:p>
          <a:p>
            <a:r>
              <a:t/>
            </a:r>
          </a:p>
          <a:p>
            <a:r>
              <a:t>Внутри каждой остановки будет собственный нюанс и, где это уместно, собственная ловушка — распространённое заблуждение о том, как генерация работает на самом деле: три остановки, на каждой — своя ловушка. Это тот же приём, которым Лекция 2 держала внимание на материале токенов и внимания: не плоское изложение факта за фактом, а чередование механизма и проверки интуиции на этом механизме.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входить в устройство, нужно развести два класса моделей, которые эта лекция упоминает рядом, но которые делают структурно разные вещи. Модель-читатель принимает на входе картинку, а иногда картинку и текст вместе, и выдаёт суждение — оценку, классификацию, числовую меру сходства; её работа — понимание, а не производство нового файла. Именно такая модель, названная по имени — CLIP, — дважды появится дальше: через три кадра, когда речь пойдёт о том, откуда модель-генератор знает, что означают слова промпта, и в Разделе 4, в зале суда, где спор идёт именно о корпусе, на котором модель-читатель когда-то была обучена отличать подпись от картинки. Модель-генератор, напротив, принимает текст — иногда текст и исходное изображение вместе — и производит новый файл: пиксели, звуковые отсчёты, кадры видео; её работа — не оценить существующее, а создать то, чего не было.</a:t>
            </a:r>
          </a:p>
          <a:p>
            <a:r>
              <a:t/>
            </a:r>
          </a:p>
          <a:p>
            <a:r>
              <a:t>На инструментах, уже названных в этом разделе, виды генерации раскладываются в короткую карту. Генерация изображения по тексту — Midjourney, Adobe Firefly. Генерация музыки по текстовому описанию стиля и настроения — Suno. Синтез речи по тексту, в том числе с клонированием конкретного голоса по образцу, — ElevenLabs. Генерация видео по тексту — Sora, Veo, Kling, Kandinsky, разбор следующего кадра. Правка существующего изображения по текстовой инструкции — отдельный, смежный вид, image-to-image и inpainting, тем же механизмом, что мы разберём дальше, с одним отличием на входе — об этом через несколько кадров.</a:t>
            </a:r>
          </a:p>
          <a:p>
            <a:r>
              <a:t/>
            </a:r>
          </a:p>
          <a:p>
            <a:r>
              <a:t>Нюанс: вид генерации — не то же самое, что бренд инструмента. Текст-в-видео как задача не изменится, даже если конкретный флагман, который её сегодня лучше всех решает, исчезнет с рынка за год — а именно это и произойдёт с одним из названных выше инструментов на следующем кадре. Бренды сменяются; виды генерации, привязанные к типу задачи, а не к конкретному продукту, остаются устойчивой классификацией, которой эта лекция и будет держаться дальше.</a:t>
            </a:r>
          </a:p>
          <a:p>
            <a:r>
              <a:t/>
            </a:r>
          </a:p>
          <a:p>
            <a:r>
              <a:t>Ось этого блока: у каждого вида генерации на этой карте — своя цена из предыдущих трёх кадров; дальше разбираем, почему она именно такая. Три остановки, обещанные на предыдущем кадре, начинаются здесь с карты — а дальше идёт устройство: что модель видит на входе, как она понимает промпт, и как из шума получается результат. Генеративная половина этой карты разбирается первой; вторая половина — как устроен сам читатель, модель, которая не создаёт, а судит, — разбирается дальше в этом же разделе, после диффузии и Sora.</a:t>
            </a:r>
          </a:p>
          <a:p>
            <a:r>
              <a:t/>
            </a:r>
          </a:p>
          <a:p>
            <a:r>
              <a:t>Пятый вид на этой карте — смежный, а не тождественный остальным четырём. Правка существующего изображения по текстовой инструкции — image-to-image и inpainting, уже встречавшиеся на кадре со ста вариантами баннера, — работает тем же самым механизмом диффузии, который блок разберёт дальше, с единственным отличием на входе: к латентному представлению подмешивается не чистый случайный шум, а зашумлённая версия уже существующего файла. Это не отдельная архитектура и не отдельный класс модели — это та же генерация с другой стартовой точкой. Дальше по лекции встретится клиринг прав на производные изображения: правка чужого файла генеративной моделью — не отдельная юридическая категория, а тот же механизм, применённый к не пустому старту.</a:t>
            </a:r>
          </a:p>
          <a:p>
            <a:r>
              <a:t/>
            </a:r>
          </a:p>
          <a:p>
            <a:r>
              <a:t>Карта видов здесь — не каталог брендов, а словарь задач, и именно поэтому она появляется в начале технического блока, а не в конце: прежде чем разбирать, как устроена каждая остановка внутри генерации, полезно зафиксировать, какие именно задачи этот механизм вообще решает на инструментах, уже предъявленных ценой. Следующие кадры будут говорить «генерация» в единственном числе, подразумевая именно диффузионную генерацию изображения — самый подробно разобранный случай этой карты, но далеко не единственный её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2 показала, что языковая модель никогда не видит «текст» целиком — она видит последовательность токенов, кусков слова или слова целиком, полученных алгоритмом BPE. У генерации изображения, музыки и голоса есть собственная единица входа, по тому же принципу: то, что считается «словом» картинки или звука для модели, которая её обрабатывает.</a:t>
            </a:r>
          </a:p>
          <a:p>
            <a:r>
              <a:t/>
            </a:r>
          </a:p>
          <a:p>
            <a:r>
              <a:t>Для изображения такая единица — патч: квадратный кусок пикселей, обычно небольшого фиксированного размера, который модель обрабатывает как один элемент последовательности или поля, а не как отдельный пиксель. Изображение превращается не в единое целое, а в решётку таких квадратов, примерно как страница текста превращается не в буквы, а в токены BPE.</a:t>
            </a:r>
          </a:p>
          <a:p>
            <a:r>
              <a:t/>
            </a:r>
          </a:p>
          <a:p>
            <a:r>
              <a:t>Для звука — Suno и ElevenLabs — честная граница знания стоит здесь прямо: обе компании не опубликовали техническую документацию своих производственных моделей, и то, какая именно единица входа используется внутри — короткий кадр спектра звука, дискретный аудио-токен, что-то ещё, — публично не раскрыто ни тем, ни другим поставщиком на дату этой лекции. Это не домысел, который мы обходим молчанием, а честно названный пробел графы (б) — ровно того типа, который уже встречался применительно к движку CNET дальше по лекции: архитектура инструмента, который мы используем как пример, может быть не раскрыта публично, и признать это прямо честнее, чем подставить правдоподобное предположение на её место.</a:t>
            </a:r>
          </a:p>
          <a:p>
            <a:r>
              <a:t/>
            </a:r>
          </a:p>
          <a:p>
            <a:r>
              <a:t>Нюанс, общий для всех модальностей: модель никогда не видит «картинку целиком» или «звук целиком» — она видит последовательность или поле элементарных единиц, в точности как языковая модель Лекции 2 никогда не видела «текста», только токены. Ось этого шага, которая будет работать и в следующих двух остановках: единица входа — это то, что физически можно посчитать; то, что можно посчитать, — это то, что можно удешевить. Обвал цены из предыдущих кадров начинается не в экономике рынка, а здесь, в том, что превращает картинку, трек или голос в конечный набор чисел, с которым модель способна работать как с арифметикой, а не как с нераздельным художественным целым.</a:t>
            </a:r>
          </a:p>
          <a:p>
            <a:r>
              <a:t/>
            </a:r>
          </a:p>
          <a:p>
            <a:r>
              <a:t>Следующий шаг устройства — не в каких единицах модель видит вход, а в каком по размеру поле она физически работает. И здесь полезно сначала угадать ответ самому, прежде чем узнать его.</a:t>
            </a:r>
          </a:p>
          <a:p>
            <a:r>
              <a:t/>
            </a:r>
          </a:p>
          <a:p>
            <a:r>
              <a:t>Честная графа (б) для звука — не слабое место этого кадра, а образец дисциплины, которую курс держит и на других материалах. Suno и ElevenLabs — коммерческие компании, конкурирующие друг с другом и с другими поставщиками синтеза речи и музыки, и публикация архитектуры производственной модели означала бы раскрыть конкурентам то самое инженерное решение, в которое вложены ресурсы разработки. Это не случай, когда исследователи просто не успели написать статью, — это осознанное решение держать внутреннее устройство закрытым, и курс обязан называть эту закрытость прямо, а не подставлять правдоподобную архитектуру на её место только для того, чтобы кадр не выглядел неполным. То же решение, по той же причине, встретится дальше применительно к движку CNET: открытый вопрос не значит отсутствие ответа, он значит, что ответ не опубликован тем, кто его знает.</a:t>
            </a:r>
          </a:p>
          <a:p>
            <a:r>
              <a:t/>
            </a:r>
          </a:p>
          <a:p>
            <a:r>
              <a:t>Единица входа — патч для изображения, токен для текста — имеет и практическое следствие, важное для следующего шага: именно то, что модель оперирует конечным, посчитанным набором единиц, а не непрерывным пикселем или звуковой волной, делает возможным сжатие рабочего поля, о котором пойдёт речь дальше. Непрерывную величину сжать без потери смысла трудно; дискретную, посчитанную единицу — можно спроецировать в пространство меньшей размерности, сохранив при этом содержание. Это и есть мост к следующему кадру: единица входа не просто позволяет считать, она же и открывает путь к латентному пространству.</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Следующий шаг устройства — не в каких единицах модель видит вход, а в каком по размеру поле она физически работает. Рабочее поле, в котором диффузионная модель генерации изображений производит все свои вычисления, — больше, равно или в разы меньше, чем готовая картинка размером 1024 на 1024 пикселя, которую видит пользователь на выходе? Интуиция инженера, не занимавшегося этим специально, скорее предположит «примерно того же порядка». Ответ — противоположный интуиции, причём с точностью, а не приблизительно: в разы меньше.</a:t>
            </a:r>
          </a:p>
          <a:p>
            <a:r>
              <a:t/>
            </a:r>
          </a:p>
          <a:p>
            <a:r>
              <a:t>Перед тем как изображение попадает в генеративную модель, отдельная сеть — автоэнкодер, в этом семействе моделей называемая VAE, variational autoencoder, — сжимает его в латентное пространство: не архивный сжатый файл вроде JPEG, а внутреннее, абстрактное представление, в котором модель и производит всю реальную работу диффузии. Для стандартной конфигурации моделей семейства Stable Diffusion эта арифметика известна точно: картинка 512×512 пикселей с тремя цветовыми каналами — 786 432 отдельных числа — превращается в латентное поле размером 64×64 с четырьмя каналами, 16 384 числа. Пространственно это сжатие в восемь раз по каждой стороне (512 делится на 64); по общему числу скаляров, с которыми модель реально работает на каждом шаге, — в сорок восемь раз (786 432, разделённое на 16 384, даёт ровно 48,0 — это точная арифметика, не оценка «около»). Оба числа — «в восемь раз по стороне» и «в сорок восемь раз по количеству обрабатываемых чисел» — это два честных среза одной и той же экономии, а не два противоречащих друг другу утверждения: квадрат сжимается по стороне в восемь раз, а по площади — в шестьдесят четыре раза, но число каналов при этом растёт — с трёх цветовых каналов RGB до четырёх каналов латентного представления, — и этот рост частично компенсирует сжатие по площади, снижая итоговый множитель с шестидесяти четырёх до сорока восьми.</a:t>
            </a:r>
          </a:p>
          <a:p>
            <a:r>
              <a:t/>
            </a:r>
          </a:p>
          <a:p>
            <a:r>
              <a:t>Нюанс, без которого этот механизм легко принять за трюк архивации: латентное поле — не «JPEG навыворот» и не упрощённая, зернистая версия картинки. Это пространство признаков, в котором близкие по координатам точки соответствуют картинкам, похожим по смыслу содержания — два портрета с похожим выражением лица, два пейзажа с похожим освещением, — а не похожим по сырым байтам файла: две визуально похожие картинки, сохранённые в разных форматах, могут лежать в этом пространстве далеко друг от друга, если их смысловое содержание устроено по-разному. Именно поэтому модель, работающая в латентном поле, может плавно интерполировать между двумя смыслово близкими состояниями — то, что она и делает на каждом шаге диффузии дальше, — тогда как плавная интерполяция между двумя сырыми JPEG-файлами дала бы просто визуальный шум.</a:t>
            </a:r>
          </a:p>
          <a:p>
            <a:r>
              <a:t/>
            </a:r>
          </a:p>
          <a:p>
            <a:r>
              <a:t>Ось этого шага работает буквально: меньшее по размеру рабочее поле означает меньше вычислений на каждый из десятков шагов генерации, а меньше вычислений на шаг — это и есть секунда генерации, которая обходится в доли цента вместо дней ручного труда. Следующий кадр замыкает эту арифметику на число, которое keystone этой лекции предъявила без объяснения с самого начала.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Латентное сжатие, разобранное на предыдущем кадре, — не абстрактная техническая деталь, а прямой механизм того самого числа, которое keystone этой лекции предъявила без объяснения: сборка работающего дипфейка реального времени на бытовом игровом компьютере занимает порядка семидесяти минут. Теперь у этого числа есть устройство, а не только измерение.</a:t>
            </a:r>
          </a:p>
          <a:p>
            <a:r>
              <a:t/>
            </a:r>
          </a:p>
          <a:p>
            <a:r>
              <a:t>Три слагаемых складываются вместе. Первое — именно латентное сжатие: модель, которой нужно синтезировать лицо и голос в реальном времени на каждом кадре видеозвонка, физически способна делать это на доступном железе только потому, что реальная вычислительная работа идёт не в пространстве полного разрешения кадра, а в поле, в десятки раз меньшем по числу обрабатываемых значений. Второе — открытые веса: модель — это файл, который можно скачать и запустить на собственном оборудовании, а не закрытый сервис, доступ к которому нужно покупать и который можно отследить по счёту за подписку. Третье — потребительская видеокарта, пятилетней давности по архитектуре: не специализированное оборудование дата-центра, а то, что можно купить в обычном компьютерном магазине.</a:t>
            </a:r>
          </a:p>
          <a:p>
            <a:r>
              <a:t/>
            </a:r>
          </a:p>
          <a:p>
            <a:r>
              <a:t>Сложите все три слагаемых — и семьдесят минут подготовки получают механическое объяснение: это не «почему-то быстро», а прямое следствие того, что малое по размеру рабочее поле генерации совпало по времени с доступностью и файла модели, и подходящего железа. Это число — ровно то, с которого началась эта лекция: ряд 2 опорного слайда входа назвал его без объяснения, как факт; теперь, через четыре кадра технического блока, оно получает механизм, а не просто измерение.</a:t>
            </a:r>
          </a:p>
          <a:p>
            <a:r>
              <a:t/>
            </a:r>
          </a:p>
          <a:p>
            <a:r>
              <a:t>Ось этого шага в завершённом виде: это и есть обнуление цены подделки, выраженное не в деньгах, а в железе и времени настройки. Три слагаемых — латентное сжатие, открытые веса, потребительская видеокарта — не три отдельных совпадения, а конъюнкция, без которой число не сложилось бы. Убери открытые веса — и даже при маленьком рабочем поле модель осталась бы доступна только через закрытый сервис с историей запросов и счётом за подписку: подделка оставила бы след. Убери потребительскую видеокарту — и даже с открытыми весами и малым рабочим полем нужное вычисление требовало бы оборудования дата-центра, недоступного рядовому злоумышленнику в домашних условиях. Убери латентное сжатие — и даже при наличии файла модели и подходящего железа вычисление в полном разрешении кадра физически не укладывалось бы в реальное время видеозвонка. Конъюнкция всех трёх условий — именно то, что превращает теоретическую возможность подделки в практический, повторяемый за семьдесят минут сценарий, зафиксированный в индустриальном масштабе.</a:t>
            </a:r>
          </a:p>
          <a:p>
            <a:r>
              <a:t/>
            </a:r>
          </a:p>
          <a:p>
            <a:r>
              <a:t>Первая остановка блока закрыта: мы увидели, что модель видит на входе, и как размер рабочего поля определяет и цену, и доступность вычисления на обычном оборудовании. Следующая остановка — не про то, что модель видит, а про то, как она понимает, что ей сказали сделать: откуда модель-генератор вообще знает, что означают слова текстового запроса.</a:t>
            </a:r>
          </a:p>
          <a:p>
            <a:r>
              <a:t/>
            </a:r>
          </a:p>
          <a:p>
            <a:r>
              <a:t>Это и есть разница между «технология существует» и «технология доступна и дешева настолько, что становится массовым инструментом», которая проходит через всю эту лекцию: генеративные модели умели многое из этого и раньше, но именно совпадение всех трёх условий определяет момент, когда возможность становится практикой целой индустрии мошенничества, а не лабораторной демонстрацией.</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Следующий вопрос — откуда модель-генератор вообще знает, что означают слова текстового запроса, и как они должны соотноситься с пикселями на выходе. Ответ начинается с обучения, и здесь в дело входит модель-читатель, представленная на одном из первых кадров этого блока. Модели класса CLIP обучаются не на размеченном вручную наборе «картинка плюс правильный ответ», а на миллиардах пар «картинка плюс текст рядом с ней», собранных автоматическим сканированием открытого интернета: там, где на веб-странице стоит изображение, а рядом с ним — подпись или alt-текст, появляется одна учебная пара.</a:t>
            </a:r>
          </a:p>
          <a:p>
            <a:r>
              <a:t/>
            </a:r>
          </a:p>
          <a:p>
            <a:r>
              <a:t>Модель учится сводить картинку и её текстовое описание в одну и ту же точку общего векторного пространства смыслов — того же типа объекта, что эмбеддинги слов из Лекции 2, только теперь в одном и том же пространстве соседствуют и текстовые, и визуальные точки. После обучения на достаточном числе таких пар текст «фото кота» и реальная фотография кота оказываются соседними точками в этом пространстве, а «фото кота» и чертёж турбины — далёкими друг от друга.</a:t>
            </a:r>
          </a:p>
          <a:p>
            <a:r>
              <a:t/>
            </a:r>
          </a:p>
          <a:p>
            <a:r>
              <a:t>Этот же корпус пар «картинка-текст» — конкретно, открытый датасет LAION-5B, собранный именно таким автоматическим сканированием веба, без проверки лицензионного статуса каждой отдельной картинки, — станет героем судебного разбирательства, которое эта лекция подробно разбирает в Разделе 4: иск Getty Images к Stability AI касается именно вопроса, кто и на каком основании имел право включить миллионы конкретных фотографий Getty в этот корпус пар.</a:t>
            </a:r>
          </a:p>
          <a:p>
            <a:r>
              <a:t/>
            </a:r>
          </a:p>
          <a:p>
            <a:r>
              <a:t>Ось этого шага: знание о том, «как выглядит X», которое модель применяет при генерации, выучено не из воздуха — оно выучено из подписанных кем-то чужих работ, собранных без индивидуального разрешения каждого автора. Это промышленный, а не кураторский процесс: ни один человек не просматривает и не утверждает каждую отдельную пару перед тем, как она попадает в обучающий корпус — вопрос «а есть ли у автора этого изображения право разрешить его использование» физически не задавался на этапе сбора, потому что объём, миллиарды пар, не был рассчитан на такую проверку ни по инструментарию, ни по времени. Кто и что за это должен — материал Раздела 4, к которому лекция вернётся позже на числах. Модель-читатель, представленная несколькими кадрами раньше как абстрактный класс, здесь превращается в конкретный механизм отбора обучающих данных — именно CLIP отфильтровал пары по семантическому сходству при сборке LAION-5B, и именно поэтому встретим его дважды.</a:t>
            </a:r>
          </a:p>
          <a:p>
            <a:r>
              <a:t/>
            </a:r>
          </a:p>
          <a:p>
            <a:r>
              <a:t>Суд, который будет разбирать претензию правообладателя к модели, обученной на подобном корпусе, будет разбирать не решение какого-то конкретного человека включить или не включить его изображения — он будет разбирать результат технической процедуры, в которой индивидуальное решение о каждом изображении не принималось никем и никогда. Это не снимает вопрос ответственности, но меняет его форму: вопрос не «кто сознательно украл», а «кто должен был проверять и не проверил».</a:t>
            </a:r>
          </a:p>
          <a:p>
            <a:r>
              <a:t/>
            </a:r>
          </a:p>
          <a:p>
            <a:r>
              <a:t>Следующий кадр переходит от того, как модель обучена на парах, к тому, что именно происходит на каждом шаге генерации: обученная модель-читатель отдаёт модели-генератору не суждение, а вектор — и этот вектор управляет каждым шагом денойзинга.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Обученная модель-читатель даёт модели-генератору не суждение, а вектор: текст-энкодер — отдельная сеть, которая превращает слова промпта в последовательность числовых векторов в том же пространстве смыслов, — и этот вектор управляет каждым шагом генерации.</a:t>
            </a:r>
          </a:p>
          <a:p>
            <a:r>
              <a:t/>
            </a:r>
          </a:p>
          <a:p>
            <a:r>
              <a:t>Механизм, которым это управление реализовано, называется кросс-модальное внимание, cross-attention — прямая параллель механизму self-attention, который Лекция 2 разбирала на материале языковых моделей, с одним структурным отличием: там запрос, query, и ключ-значение, key/value, происходили из одной и той же последовательности токенов текста, а здесь запрос берётся из латентных признаков изображения на текущем шаге денойзинга — то, что сеть-денойзер, которую разберём на следующих кадрах, обрабатывает прямо сейчас, — а ключ и значение берутся из текстовых эмбеддингов промпта. Проще говоря: на каждом шаге генерации сеть «спрашивает» у текущего состояния изображения, какие слова промпта для него сейчас наиболее релевантны, и получает ответ в виде взвешенной смеси текстовых векторов — и эта смесь и есть тот самый руль, который направляет денойзинг в сторону, заданную промптом, а не в произвольную сторону.</a:t>
            </a:r>
          </a:p>
          <a:p>
            <a:r>
              <a:t/>
            </a:r>
          </a:p>
          <a:p>
            <a:r>
              <a:t>Силу, с которой этот вектор-руль тянет генерацию к промпту, можно регулировать, и у этой регулировки есть собственное имя и собственный механизм — классификатор-свободное управление, classifier-free guidance, CFG, который следующий кадр разберёт отдельно как ловушку устоявшегося заблуждения. Негативный промпт устроен тем же самым механизмом, с одной подменой — вместо «безусловного» прогона берётся прогон, обусловленный негативным текстом, тем, что описывает нежелательное содержание. Это второй вектор, от которого шаги отталкиваются, а не отдельная магия.</a:t>
            </a:r>
          </a:p>
          <a:p>
            <a:r>
              <a:t/>
            </a:r>
          </a:p>
          <a:p>
            <a:r>
              <a:t>Именно этот механизм — чем управляет промпт-инжиниринг, названный в выводе этого раздела новым профессиональным шагом, — перестаёт быть лозунгом и получает конкретное содержание: формулировка промпта буквально определяет, какой вектор будет направлять каждый шаг денойзинга. Ось этого шага: навык, заменивший часть ремесла художника-исполнителя, — это в точности навык управления вектором в пространстве, обученном на миллиардах чужих подписанных работ, разобранных на предыдущем кадре.</a:t>
            </a:r>
          </a:p>
          <a:p>
            <a:r>
              <a:t/>
            </a:r>
          </a:p>
          <a:p>
            <a:r>
              <a:t>Руль есть — но у него есть и собственная ловушка: промпт — это не техническое задание, которое модель исполняет по пунктам, и следующий кадр показывает, почему.</a:t>
            </a:r>
          </a:p>
          <a:p>
            <a:r>
              <a:t/>
            </a:r>
          </a:p>
          <a:p>
            <a:r>
              <a:t>Параллель с Лекцией 2 на уровне задачи, которую механизм решает, выглядит так: самовнимание в языковой модели решает задачу «на какие предыдущие слова этого же текста стоит обратить внимание, предсказывая следующее слово» — вся работа происходит внутри одной модальности, текста. Кросс-внимание в генерации изображения решает структурно другую задачу: «на какие слова чужого текста — промпта — стоит обратить внимание, уточняя эту часть изображения на этом шаге» — запрос и ответ происходят в разных модальностях, и именно это структурное отличие даёт механизму собственное имя, а не просто частный случай того же внимания.</a:t>
            </a:r>
          </a:p>
          <a:p>
            <a:r>
              <a:t/>
            </a:r>
          </a:p>
          <a:p>
            <a:r>
              <a:t>Этот механизм — не метафора «модель смотрит на промпт», а конкретная, обученная на данных функция: веса, которые определяют, какая часть текстового вектора получает больший вес на каждом шаге, сами являются результатом обучения на миллиардах пар, разобранных на предыдущем кадре, а не запрограммированы вручную. Руль существует не потому, что инженеры заранее решили, как промпт должен влиять на картинку, — он выучен моделью как статистическая закономерность в данных, точно так же, как веса самовнимания в языковой модели выучены, а не прописаны.</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 которой вектор-руль с предыдущего кадра тянет генерацию к промпту, можно регулировать, и у этой регулировки есть собственное имя и механизм — классификатор-свободное управление, classifier-free guidance, CFG. Модель во время обучения учат работать в двух режимах одновременно: с условием, реальным текстовым промптом, и без него — на небольшой доле обучающих примеров, 10–20%, промпт заменяют на пустой, «нулевой» токен. При генерации на каждом шаге денойзер делает не один проход, а два: один — с учётом вектора промпта, условный прогон, второй — без него, безусловный прогон. Итоговая, реально применяемая поправка шума — не один из этих двух прогонов, а экстраполяция от безусловного к условному с коэффициентом `w`, guidance scale: при `w=0` генерация полностью безусловна и промпт не влияет на результат вовсе; при `w=1` — это обычный условный прогон без усиления; при `w&gt;1` денойзер продвигается дальше в сторону условия, чем дал бы один условный прогон сам по себе — сильнее следует промпту, но при слишком большом значении теряет разнообразие и может давать визуальные артефакты перенасыщения. Рабочий диапазон этого коэффициента у моделей семейства Stable Diffusion — `w` от семи до тринадцати, дефолт около 7–7,5. Это прямой аналог температуры сэмплирования у языковой модели Лекции 2 в виде отдельной крутящейся ручки: там крутишь температуру — меняешь трейд-офф между разнообразием и предсказуемостью текста; здесь крутишь `w` — меняешь трейд-офф между разнообразием и точностью следования промпту.</a:t>
            </a:r>
          </a:p>
          <a:p>
            <a:r>
              <a:t/>
            </a:r>
          </a:p>
          <a:p>
            <a:r>
              <a:t>Негативный промпт устроен тем же самым механизмом CFG, с одной подменой: вместо «безусловного» прогона берётся прогон, обусловленный негативным текстом — тем, что описывает нежелательное содержание. Экстраполяция в формуле не меняется структурно — меняется только то, «от чего» отталкивается условный прогон.</a:t>
            </a:r>
          </a:p>
          <a:p>
            <a:r>
              <a:t/>
            </a:r>
          </a:p>
          <a:p>
            <a:r>
              <a:t>Распространённое заблуждение о том, как промпт работает, не совпадает с реальным механизмом. Интуитивно напрашивается мысль, что модель читает промпт как техническое задание и исполняет его по пунктам: «нарисуй кота, без собаки, в красном свете». На деле промпт — это точка в пространстве смыслов, а не список исполняемых команд, и у этого способа понимания текста есть собственная, задокументированная ловушка. Текст-энкодеры CLIP-класса систематически плохо справляются с логическим отрицанием: модели семейства Stable Diffusion и DALL-E 3 задокументированно склонны генерировать, например, розового слона, когда их прямо просят не генерировать слона вообще. Причина механическая, не случайная: негативный промпт — тот же тип объекта, вектор, только с разным знаком воздействия, а отрицание как логическая операция в это пространство статистически не вписано тем же способом, каким оно вписано в формальную логику.</a:t>
            </a:r>
          </a:p>
          <a:p>
            <a:r>
              <a:t/>
            </a:r>
          </a:p>
          <a:p>
            <a:r>
              <a:t>Урок этого кадра: промпт-инжиниринг — это эмпирика вокруг статистики обучающего корпуса, а не программирование модели инструкциями. Мост к Лекции 2 одной строкой: там курс уже показал, что модель предсказывает наиболее вероятное продолжение, а не понимает содержание в человеческом смысле слова, — здесь тот же факт виден буквально глазами, на конкретном и легко воспроизводимом примере с розовым слоном.</a:t>
            </a:r>
          </a:p>
          <a:p>
            <a:r>
              <a:t/>
            </a:r>
          </a:p>
          <a:p>
            <a:r>
              <a:t>Коэффициент `w` — не техническая настройка для специалистов, а ровно та же по структуре ручка, что регулирует творческую свободу в любом инструменте с управляемой случайностью. Низкое значение — модель вольна интерпретировать запрос широко, результат разнообразнее, но слабее следует формулировке; высокое — модель жёстко подчиняется тексту запроса, но за эту точность расплачивается однообразием и, при чрезмерном значении, визуальными артефактами. Эта же логика встретится в курсе ещё раз, когда речь пойдёт о том, как инженер выбирает между детерминированным и творческим режимом работы с языковой моделью: трейд-офф один и тот же, назван и настроен по-разному в зависимости от модальности.</a:t>
            </a:r>
          </a:p>
          <a:p>
            <a:r>
              <a:t/>
            </a:r>
          </a:p>
          <a:p>
            <a:r>
              <a:t>Практический вывод для инженера, работающего с промпт-инжинирингом как рабочим навыком: отрицание в запросе — не надёжный инструмент контроля, и если задача требует гарантированного отсутствия объекта в кадре, негативный промпт стоит проверять эмпирически на конкретной модели, а не полагаться на него как на логическую операцию. Это тот самый случай, когда инженерная интуиция, перенесённая из программирования, где отрицание условия работает надёжно, напрямую подводит при работе с генеративной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когда у генерации есть и единица входа, и вектор-руль, которым управляет промпт, остаётся последний вопрос: как из произвольного шума получается конкретное изображение, соответствующее этому вектору. Устройство называется диффузией, и, как и у многих механизмов обучения, его проще понять, начав с того, как модель учат, а не с того, как она генерирует.</a:t>
            </a:r>
          </a:p>
          <a:p>
            <a:r>
              <a:t/>
            </a:r>
          </a:p>
          <a:p>
            <a:r>
              <a:t>Обучение идёт в обратном направлении от того, что происходит при генерации. Берётся настоящая картинка из обучающего корпуса, и к ней шаг за шагом добавляется случайный шум — чуть-чуть на первом шаге, больше на втором, и так далее, пока после достаточного числа шагов картинка не превращается в чистый случайный шум без различимого содержания. Сеть, которую в этом семействе архитектур называют денойзером, обучается на каждом из этих шагов угадывать, какой именно шум был добавлен на этом конкретном шаге, — то есть учится предсказывать и вычитать шум, а не «рисовать» что-либо напрямую.</a:t>
            </a:r>
          </a:p>
          <a:p>
            <a:r>
              <a:t/>
            </a:r>
          </a:p>
          <a:p>
            <a:r>
              <a:t>Генерация запускает этот процесс в обратную сторону: старт с чистого случайного шума в латентном поле, и денойзер за двадцать-пятьдесят шагов в стандартном режиме — подтверждённый диапазон для базовой конфигурации моделей класса SDXL на октябрь 2026 года — снимает шум постепенно, на каждом шаге делая один проход сети по всему латентному полю сразу, под управлением вектора промпта: руль из предыдущих кадров возвращается здесь буквально — именно его держит механизм cross-attention на каждом из этих проходов. Если представить этот процесс лентой из нескольких состояний — чистый шум, затем проступающие общие силуэты, затем общая композиция кадра, затем детали, затем финальное изображение, — получится наглядная иллюстрация того, что происходит на самом деле за эти двадцать-пятьдесят проходов сети.</a:t>
            </a:r>
          </a:p>
          <a:p>
            <a:r>
              <a:t/>
            </a:r>
          </a:p>
          <a:p>
            <a:r>
              <a:t>Нюанс, важный для следующего шага сравнения: денойзер на каждом шаге обрабатывает всё латентное поле целиком и одновременно, а не последовательно, часть за частью, слева направо или сверху вниз. Это принципиально отличает работу диффузионной модели от устройства, которое курс уже разбирал на материале текста, — и это различие заслуживает отдельного явного сопоставления на следующем кадре, потому что оно легко стирается в общем впечатлении «генеративная модель делает файл».</a:t>
            </a:r>
          </a:p>
          <a:p>
            <a:r>
              <a:t/>
            </a:r>
          </a:p>
          <a:p>
            <a:r>
              <a:t>Почему обучение описывается «наоборот» от генерации, а не напрямую. Прямое обучение «из шума — в картинку» потребовало бы, чтобы сеть сразу угадывала весь путь от случайного набора чисел до готового изображения, — задача без ясного промежуточного сигнала, на котором можно было бы считать ошибку обучения на каждом шаге. Обратная постановка — портить настоящую картинку шумом и учить сеть угадывать добавленный шум — даёт ясный, посчитанный сигнал ошибки на каждом отдельном шаге: известно и зашумлённое изображение, и то, что именно к нему добавили, значит, есть с чем сравнить предсказание сети. Это стандартный инженерный приём превращения трудной задачи в последовательность простых, предсказуемо проверяемых шагов, и диффузия — один из самых успешных примеров этого приёма в современном машинном обучении.</a:t>
            </a:r>
          </a:p>
          <a:p>
            <a:r>
              <a:t/>
            </a:r>
          </a:p>
          <a:p>
            <a:r>
              <a:t>Лента состояний на схеме этого кадра — не художественное упрощение, а то, что реально наблюдается, если сохранить промежуточный результат денойзинга на каждом десятом шаге и визуализировать его: на первых шагах различимы только грубые области света и тени, затем проступает общая композиция кадра, затем — крупные формы, и только на последних шагах — детали текстуры и мелкие элементы. Этот порядок — от грубого к детальному — прямое следствие того, как устроено обучение: сеть на ранних шагах денойзинга видит сильно зашумлённый вход и может надёжно восстановить только крупную структуру, а детали становятся восстановимыми только тогда, когда шума остаётся немного.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Авторегрессионный цикл Лекции 2 — тот же класс механизма, которым, судя по природе задачи, устроен и движок CNET, разбираемый в следующем разделе этой лекции, — продолжает последовательность токен за токеном: каждый новый токен зависит от всех предыдущих, и процесс не возвращается назад, чтобы переписать то, что уже сгенерировано. Диффузия работает структурно иначе: она уточняет всё поле сразу, проходами от грубого приближения к точному, и ни один проход не «фиксирует» часть результата окончательно до самого последнего шага.</a:t>
            </a:r>
          </a:p>
          <a:p>
            <a:r>
              <a:t/>
            </a:r>
          </a:p>
          <a:p>
            <a:r>
              <a:t>Где какой класс механизма живёт — честная карта с одной открытой графой. Текст — область авторегрессии; изображения на октябрь 2026 года — преимущественно область диффузии, хотя существуют и авторегрессионные генераторы изображений — отдельный класс продуктов, устроенный по тому же принципу «токен за токеном», что языковые модели Лекции 2, только применённому к патчам изображения вместо токенов текста, и эта лекция сознательно не разбирает его подробнее одной называющей строки. Музыка и видео — честная графа (б): устройство флагманских продуктов, Suno, Veo, Kling и аналогичных, публично не раскрыто ни одним из их поставщиков; независимые аналитики предполагают гибридные архитектуры, но это предположение третьих лиц, а не раскрытая производителем информация, и мы не выдаём такое предположение за установленный факт.</a:t>
            </a:r>
          </a:p>
          <a:p>
            <a:r>
              <a:t/>
            </a:r>
          </a:p>
          <a:p>
            <a:r>
              <a:t>Ловушка-заблуждение: вопрос «диффузия лучше авторегрессии?» не имеет содержательного смысла в том виде, в каком его обычно задают. Это не два участника забега, где один приходит к финишу быстрее другого в абстрактном рейтинге качества, — это два разных по природе механизма, которые гарантируют разные вещи и требуют разных вычислений: авторегрессия дешевле обрабатывает длинные, строго последовательные по смыслу структуры — текст, где порядок слов существенен для грамматики и смысла, — диффузия обрабатывает плотные, пространственно целостные структуры — изображение, где любая часть кадра может зависеть от любой другой части одновременно.</a:t>
            </a:r>
          </a:p>
          <a:p>
            <a:r>
              <a:t/>
            </a:r>
          </a:p>
          <a:p>
            <a:r>
              <a:t>Вопрос, который стоит задавать вместо «что лучше», — «что эта задача на самом деле требует гарантировать», и этот кадр уже дал один ответ: для текста нужна строгая последовательность, для изображения — одновременная целостность поля. Следующий кадр берёт эту же механику и разбирает её в деньгах: теперь у цен из начала раздела можно разобрать арифметику, а не принять их на веру как магию тарифа — и это ровно та же тысячекратная разница, которую мы увидели несколькими кадрами раньше на обвале цены изображения («0,03–0,05 $ генерацией против 50–150 $ фрилансером», разрыв в 1000–3000 раз): диффузия, только что разложенная шаг за шагом, — это и есть механизм внутри того разрыва, а не новое число рядом с ним.</a:t>
            </a:r>
          </a:p>
          <a:p>
            <a:r>
              <a:t/>
            </a:r>
          </a:p>
          <a:p>
            <a:r>
              <a:t>Честно о пределах этой карты: деление «текст — авторегрессия, изображение — диффузия» описывает текущее индустриальное распределение на октябрь 2026 года, а не физический закон природы — существуют и экспериментальные подходы к применению диффузии на тексте. Курс не разбирает такие подходы подробнее одной называющей строки не потому, что они не важны, а потому, что предмет этой лекции — путь творческого артефакта и четыре подробных разбора, а не исчерпывающая карта всех архитектур генеративного машинного обучения; самостоятельное изучение этого вопроса остаётся за пределами отведённого времени честно, а не скрыто.</a:t>
            </a:r>
          </a:p>
          <a:p>
            <a:r>
              <a:t/>
            </a:r>
          </a:p>
          <a:p>
            <a:r>
              <a:t>Разница в гарантиях между двумя механизмами имеет прямое практическое следствие для инженера, выбирающего архитектуру под задачу: если результат обязан быть внутренне согласованным во всех частях одновременно — изображение, где свет с одной стороны кадра должен соответствовать свету с другой, — диффузионный подход даёт эту согласованность по построению, тогда как авторегрессия, продолжающая последовательность без возможности вернуться назад, рискует противоречием между частями, сгенерированными в разное время прохода.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 цен из начала раздела можно разобрать арифметику, а не принять их на веру как магию тарифа. Цена генерации одного изображения складывается из числа шагов денойзинга, умноженного на цену одной GPU-секунды вычислений. Десятки шагов — стандартный диапазон двадцать-пятьдесят, разобранный на предыдущих кадрах, — каждый из которых на оптимизированном под низкую задержку железе занимает долю секунды, в сумме дают единицы GPU-секунд вычислений на одно изображение. А цена самой GPU-секунды на октябрь 2026 года, при всём разбросе по провайдеру, региону и режиму аренды — спот против резерва против запроса по требованию, — устойчиво измеряется долями цента: по грубой оценке на базе почасовых ставок облачных GPU, H100 и A100, порядка двух-двадцати сотых цента за секунду вычислений. Разброс большой, и единого точного числа «цена GPU-секунды» не существует по самой природе рынка аренды вычислений — это диапазон порядка величины, а не точка.</a:t>
            </a:r>
          </a:p>
          <a:p>
            <a:r>
              <a:t/>
            </a:r>
          </a:p>
          <a:p>
            <a:r>
              <a:t>Перемножьте: единицы GPU-секунд на изображение, умноженные на доли цента за секунду, дают доли цента на изображение — и числа $0,03–0,05, названные на ранних кадрах этого раздела для Midjourney и Adobe Firefly, перестают быть загадкой тарифа: конечная розничная цена выше, чем голая цена вычисления, ровно настолько, насколько в неё заложены маржа площадки и амортизация затрат на обучение самой модели — то же соотношение видно и в видеогенерации: розничная цена генерации видео у текущих флагманов заметно выше голой цены вычисления по той же причине. Единицы центов конечной цены против долей цента сырого вычисления — это ожидаемое, а не странное соотношение, и оно не противоречит разрыву в три-четыре порядка против классической цены ручного исполнения: тот разрыв сравнивает конечную, розничную цену генерации, уже с маржой и амортизацией, с часами оплаты человеческого труда и координации, а не с голой ценой вычисления, которая была бы ещё на порядок дешевле.</a:t>
            </a:r>
          </a:p>
          <a:p>
            <a:r>
              <a:t/>
            </a:r>
          </a:p>
          <a:p>
            <a:r>
              <a:t>Возврат к оси в полный рост: классическая цена творческого продукта — это оплата часов человеческого труда и координации между людьми; цена генерации — это оплата секунд вычислений, уже включающая и маржу платформы, и амортизацию обучения модели. Разрыв между этими двумя видами оплаты в три-четыре порядка — и есть механизм, который обнулил цену подделки узнавания, предъявленный теперь не как наблюдение, а как устройство. Следующий, последний кадр этого шага закрывает технический блок тремя заблуждениями, которые стоит снять явно, прежде чем раздел переходит дальше.</a:t>
            </a:r>
          </a:p>
          <a:p>
            <a:r>
              <a:t/>
            </a:r>
          </a:p>
          <a:p>
            <a:r>
              <a:t>Часть этой арифметики курс не может дать точным числом — не недостаток разбора, а честность о природе самого рынка. Цена аренды GPU-вычислений зависит от провайдера, региона, режима — спотовая аренда дешевле зарезервированной мощности, а зарезервированная мощность дешевле запроса по требованию в моменте пиковой нагрузки, — и единой «цены GPU-секунды» не существует так же, как не существует единой «цены часа работы юриста»: оба рынка ценят по спросу, репутации поставщика и срочности запроса, а не по фиксированному прейскуранту. Поэтому диапазон, а не точка, — честный способ дать число, которое читатель сможет использовать для прикидки, а не для бухгалтерского расчёта.</a:t>
            </a:r>
          </a:p>
          <a:p>
            <a:r>
              <a:t/>
            </a:r>
          </a:p>
          <a:p>
            <a:r>
              <a:t>Инженеру, считающему экономику собственного продукта на генеративной модели, эта арифметика даёт практический шаблон: раскладывать конечную цену не на «дорого» и «дёшево» одним словом, а на составляющие — сырое вычисление, маржу поставщика API, амортизацию обучения модели, — потому что оптимизировать можно только названную составляющую, а не общее впечатление о дороговизне.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заблуждения о генерации — прежде чем раздел переходит дальше, к тому, что сделало это устройство с проверкой, аудиторией, судом и рынком.</a:t>
            </a:r>
          </a:p>
          <a:p>
            <a:r>
              <a:t/>
            </a:r>
          </a:p>
          <a:p>
            <a:r>
              <a:t>Первое: «модель склеивает куски чужих обучающих картинок». Нет — на уровне обучения веса модели представляют собой статистические параметры, скорректированные микроскопически под влиянием каждого изображения в каждом обучающем батче, а не архив сохранённых фрагментов, из которого модель вырезает и склеивает кусочки на лету. Сколько именно весит такая модель и что из этого следует для вопроса о копировании — отдельный, посчитанный разбор дальше по лекции, на материале судебного дела Getty против Stability AI; там же называется честная оговорка о том, что у этого правила есть измеримые, хоть и редкие исключения — так называемая «утечка памяти», документированная Carlini и соавторами в 2023 году.</a:t>
            </a:r>
          </a:p>
          <a:p>
            <a:r>
              <a:t/>
            </a:r>
          </a:p>
          <a:p>
            <a:r>
              <a:t>Второе: «чем больше шагов денойзинга, тем лучше результат». Нет — увеличение числа шагов даёт убывающую отдачу: качество растёт быстро на начальном участке и после рабочего диапазона — для моделей класса SDXL это обычно в районе тридцати-пятидесяти шагов — выходит на плато, а дальнейшее увеличение числа шагов добавляет цену вычислений без заметного визуального выигрыша. Точный номер шага плато варьируется между конкретными моделями и алгоритмами денойзинга, поэтому мы называем направление эффекта, а не единственное универсальное число.</a:t>
            </a:r>
          </a:p>
          <a:p>
            <a:r>
              <a:t/>
            </a:r>
          </a:p>
          <a:p>
            <a:r>
              <a:t>Третье: «один и тот же промпт даёт одну и ту же картинку». Нет — стартовый шум, с которого начинается денойзинг, заново выбирается случайно при каждом запуске генерации, если не зафиксировать его отдельно специальным параметром; разный стартовый шум при одном и том же промпте и одном и том же векторе-руле даёт разные траектории денойзинга и, соответственно, разные финальные изображения. Мост к Лекции 2 одной строкой: это прямой аналог того, что температура сэмплирования делает для языковой модели, — источник управляемой случайности, встроенный в устройство генерации, а не брак или нестабильность системы.</a:t>
            </a:r>
          </a:p>
          <a:p>
            <a:r>
              <a:t/>
            </a:r>
          </a:p>
          <a:p>
            <a:r>
              <a:t>Закрывающая строка технического блока: у цен этого раздела теперь есть устройство. Дальше раздел и вся остальная лекция смотрят, что это устройство сделало с проверкой подлинности, реакцией аудитории, судом и рынком и кадровым рынком отрасли — и каждый из этих четырёх разборов будет держать в уме, что обвал цены исполнения и обвал цены подделки узнавания — следствия одного и того же механизма, только что названного по имени, а не две случайно совпавшие истории.</a:t>
            </a:r>
          </a:p>
          <a:p>
            <a:r>
              <a:t/>
            </a:r>
          </a:p>
          <a:p>
            <a:r>
              <a:t>Три заблуждения этого кадра объединяет одно общее свойство: все три — не случайные слухи, а естественные, но неверные обобщения вполне разумной интуиции. Разумно предположить, что раз модель училась на чужих изображениях, она где-то их хранит; разумно предположить, что больше вычислений даёт лучший результат; разумно предположить, что одинаковый запрос даёт одинаковый ответ, потому что именно так обычно работают детерминированные компьютерные программы. Каждое из этих предположений работает как надёжное правило в других инженерных контекстах — и именно поэтому оно так легко переносится на генеративные модели неверно: интуиция, натренированная на классических программах, систематически подводит там, где система обучена статистически, а не запрограммирована по правилам.</a:t>
            </a:r>
          </a:p>
          <a:p>
            <a:r>
              <a:t/>
            </a:r>
          </a:p>
          <a:p>
            <a:r>
              <a:t>Это ровно тот тип урока, который курс целенаправленно собирает на разном материале: не единичная ошибка одного инструмента, а повторяющийся паттерн неверного переноса интуиции из одной области знания в другую. Распознавание этого паттерна — отрицание плохо работает в статистическом пространстве, больше вычислений не всегда лучше, детерминизм не гарантирован без явной фиксации случайности — переносится за пределы генерации изображений на любую систему, обученную на данных, а не написанную как последовательность явных правил.</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эпизод — отдельная, самостоятельная иллюстрация, а не часть расчёта обвала цены: он про то, как быстро флагманский статус инструмента может оказаться недолговечным, и про риск называть конкретный продукт «текущим флагманом» в материале, который переживёт дату своего написания.</a:t>
            </a:r>
          </a:p>
          <a:p>
            <a:r>
              <a:t/>
            </a:r>
          </a:p>
          <a:p>
            <a:r>
              <a:t>В сентябре 2025 года видеогенератор Sora от OpenAI считался одним из самых заметных продуктов на рынке текст-в-видео: он умел удерживать согласованность персонажа между последовательными кадрами и генерировать клипы с правдоподобной физикой движения. Компания объявила о партнёрстве с киностудией Disney, подписанном 11 декабря 2025 года: Disney планировала вложить в OpenAI порядка миллиарда долларов, и в рамках того же соглашения Sora должна была получить доступ к более чем 200 узнаваемым персонажам франшиз Disney, Marvel, Pixar и Star Wars. Две вещи легко слить в одну, хотя это разное: миллиард долларов — это плановая инвестиция Disney в OpenAI в целом, а не отдельная лицензионная выплата именно за использование персонажей в Sora, и формальный лицензионный договор по этим персонажам так и не был подписан — ни одного платежа по нему не прошло до того, как партнёрство распалось вместе с самим продуктом.</a:t>
            </a:r>
          </a:p>
          <a:p>
            <a:r>
              <a:t/>
            </a:r>
          </a:p>
          <a:p>
            <a:r>
              <a:t>Год спустя оба события оказались частью одной и той же истории падения. Веб- и мобильная версия приложения были закрыты 26 апреля 2026 года, а доступ через программный интерфейс — 24 сентября 2026 года; партнёрство с Disney к этому моменту уже распалось. По неофициальным данным, которые приводили деловые СМИ, пиковая аудитория сервиса — около миллиона пользователей — упала до менее чем пятисот тысяч при расходах компании на поддержку сервиса порядка миллиона долларов в день. OpenAI не назвала прямого преемника продукта на своей странице устаревших сервисов.</a:t>
            </a:r>
          </a:p>
          <a:p>
            <a:r>
              <a:t/>
            </a:r>
          </a:p>
          <a:p>
            <a:r>
              <a:t>Эта история заслуживает места в лекции не как курьёз, а как образец собственного жанра — хайп-цикл, который не пережил и года: продукт с партнёрством на миллиард долларов и с пиковой известностью на рынке полностью сходит со сцены за двенадцать месяцев. В чём именно здесь неудача, а в чём нет, — разные утверждения. Технически видеогенерация как класс задачи не потерпела неудачу — Sora умела то, что от неё требовалось, и конкурирующие продукты на октябрь 2026 года развивают ровно эти же возможности дальше. Неудачу потерпела конкретная бизнес-ставка — партнёрство с правообладателем франшиз на миллиард долларов при экономике сервиса, не выдержавшей нагрузки на инфраструктуру при падающем числе платящих пользователей. Это различие чаще всего смешивают: «модель не сработала» и «ставка компании на эту модель не окупилась» — два разных утверждения, и в случае Sora верно только второе.</a:t>
            </a:r>
          </a:p>
          <a:p>
            <a:r>
              <a:t/>
            </a:r>
          </a:p>
          <a:p>
            <a:r>
              <a:t>Это дисциплинирующий урок для любого материала, который называет конкретный бренд «текущим флагманом»: актуальный на момент подготовки лекции состав инструментов для видео — Veo 3.1 от Google, с облегчённой версией Lite, добавленной в апреле 2026 года, и Kling 4.0 от компании Kuaishou, вышедшая полностью 15 октября 2026 года с клипами длительностью до 30 секунд против прежних 15, — и ни один из них не застрахован от той же судьбы, что постигла Sora. Отечественный инструмент видеогенерации Kandinsky 6.0 Video, выпущенный 6 октября 2026 года, добавил полноценную звуковую дорожку к видео впервые для этой линейки продукта, что заметно сокращает отставание от западных моделей по этому параметру, хотя разрыв по длительности и физической достоверности движения остаётся.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блок разобрал модель-генератор подробно: вход, понимание запроса, диффузия. Но карта видов генерации несколькими кадрами раньше назвала и вторую половину — модель-читатель, которая не создаёт файл, а судит уже существующий. На этой второй половине держится больше, чем кажется на первый взгляд: именно модель-читатель отфильтровала обучающий корпус генератора — встретим это в Разделе 4 на суде Getty против Stability AI; именно она стоит внутри самого конвейера генерации фильтром на входе и на выходе; и именно она — или, точнее, попытка построить её для задачи «подделка или нет» — обещает поймать дипфейк автоматически, и, как увидит этот блок, не выполняет это обещание полностью.</a:t>
            </a:r>
          </a:p>
          <a:p>
            <a:r>
              <a:t/>
            </a:r>
          </a:p>
          <a:p>
            <a:r>
              <a:t>Модель-читатель — не абстракция, придуманная для этого блока отдельно: её работу раздел уже видел однажды, на кадре про пары «картинка — подпись», просто не называл это частью общей карты «распознавание». Пять шагов этого блока возвращаются к тому же классу модели и показывают, на чём он держится структурно — не только как вспомогательный механизм при генерации, а как отдельный класс задачи со своей экономикой, своим способом обучения и своим характерным способом ломаться.</a:t>
            </a:r>
          </a:p>
          <a:p>
            <a:r>
              <a:t/>
            </a:r>
          </a:p>
          <a:p>
            <a:r>
              <a:t>Эта остановка — не отступление от оси лекции, а прямой подход к вопросу, который Раздел 0 уже назвал: если узнавание больше не доказывает ничего бесплатно, можно ли вместо него поставить модель, которая будет судить за человека? Ответ окажется подробнее, чем «да» или «нет».</a:t>
            </a:r>
          </a:p>
          <a:p>
            <a:r>
              <a:t/>
            </a:r>
          </a:p>
          <a:p>
            <a:r>
              <a:t>Пять шагов этого блока идут в том же порядке, в каком курс уже проходил устройство нового класса модели на материале Лекции 2 и предыдущего блока: что это за задача → на чём и как учат модель решать эту задачу → где эта модель уже работает → где она перестаёт работать, и почему это не случайность, а структурное свойство задачи → что индустрия предлагает вместо неё там, где надёжность критична. «Можно ли поставить модель судить вместо человека» распадается на «что именно она будет судить», «на чём она этому научена», «где это уже работает» и «где это предсказуемо ломается» — и только после ответа на все четыре честный «да» или «нет» вообще может быть сформулирован.</a:t>
            </a:r>
          </a:p>
          <a:p>
            <a:r>
              <a:t/>
            </a:r>
          </a:p>
          <a:p>
            <a:r>
              <a:t>Формальная разница между вопросом генератора и вопросом классификатора старше этого курса и самих генеративных моделей: классификатор моделирует вероятность метки при данном входе, генератор — распределение самого контента, и это разграничение как отдельную дихотомию зафиксировала статья Ng и Jordan ещё в 2001 году, задолго до того, как генеративные модели вошли в инженерный обиход. Следующий кадр берёт именно эту формальную разницу и сразу переводит её в измеримые деньги: сколько вычисления стоит один вопрос против другого.</a:t>
            </a:r>
          </a:p>
          <a:p>
            <a:r>
              <a:t/>
            </a:r>
          </a:p>
          <a:p>
            <a:r>
              <a:t>Внутри блока симметрия «работает / ломается» держится не случайно, а постоянно. Там, где распознаватель судит материал того же распределения, на котором его обучали, он справляется надёжно — это шаг про распознаватель внутри конвейера генерации. Там, где его просят судить материал заранее неизвестного происхождения, надёжность обрушивается — не частично, а структурно, и это завершающий шаг блока про детектор дипфейков. Разница между «надёжно» и «ненадёжно» здесь — не оценка качества конкретной реализации, а свойство самой задачи «распознать постфактум», и именно поэтому блок проходит оба случая подряд, а не останавливается на первом, удачном.</a:t>
            </a:r>
          </a:p>
          <a:p>
            <a:r>
              <a:t/>
            </a:r>
          </a:p>
          <a:p>
            <a:r>
              <a:t>У этого вопроса есть прямая связь с узнаванием, вокруг которого выстроена вся лекция: если человек, специально высматривающий подделку, угадывает её лишь немногим лучше монетки, у модели, по крайней мере в принципе, есть ресурс, которого нет у человеческого восприятия — её можно обучить на статистике конкретного типа подделки. Вопрос блока не в том, существует ли такой ресурс, а в том, насколько далеко он простирается: работает ли он только там, где модель уже видела нужный тип артефакта, или действительно универсально, против любой будущей, ещё не увиденной подделки.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Генератор отвечает на вопрос «каким должен быть этот файл», и его выход — сам файл: пиксели, звуковые отсчёты, текст. Распознающая модель — классификатор — отвечает на другой вопрос: «что это такое, и насколько я в этом уверен», и её выход — не файл, а число или набор чисел: метка класса, вероятность, скалярная оценка сходства. Формально это разница между двумя способами моделировать мир статистически: классификатор моделирует условную вероятность метки при данном входе, генератор моделирует распределение самого контента. Это не два конкурирующих подхода к одной задаче, а два разных вопроса — классическая опора, вводящая именно это разграничение, — статья Ng и Jordan «On Discriminative vs. Generative Classifiers», NeurIPS 2001.</a:t>
            </a:r>
          </a:p>
          <a:p>
            <a:r>
              <a:t/>
            </a:r>
          </a:p>
          <a:p>
            <a:r>
              <a:t>У этой разницы в задаче есть прямое, измеримое экономическое следствие. Классификация — структурно один форвард-проход сети на один вход: подали изображение целиком, получили вектор вероятностей по классам за один проход через сеть. Диффузионная генерация изображения — двадцать-пятьдесят проходов денойзера в стандартном режиме; авторегрессивная генерация текста — проход сети на каждый токен выхода, и число проходов растёт с длиной сгенерированного текста. Если цена вычисления пропорциональна числу проходов сети через эту же самую — по порядку величины — архитектуру, распознавание обходится в разы, а то и на порядки дешевле генерации того же класса контента.</a:t>
            </a:r>
          </a:p>
          <a:p>
            <a:r>
              <a:t/>
            </a:r>
          </a:p>
          <a:p>
            <a:r>
              <a:t>За этой разницей в вопросах стоит и разница в объёме работы, которую сеть обязана совершить, чтобы дать ответ. Классификатору достаточно один раз просмотреть готовое изображение целиком и выдать распределение вероятностей по классам — он отвечает на вопрос про уже существующий объект, а не производит новый файл. Генератору, наоборот, нужно собрать согласованные значения тысяч и миллионов отдельных элементов — пикселей, звуковых отсчётов, токенов текста — так, чтобы они вместе складывались в правдоподобный файл, а не в шум; это и вынуждает повторять проход денойзера двадцать-пятьдесят раз или гонять модель отдельно на каждый токен выхода.</a:t>
            </a:r>
          </a:p>
          <a:p>
            <a:r>
              <a:t/>
            </a:r>
          </a:p>
          <a:p>
            <a:r>
              <a:t>Это не просто техническая деталь — это причина, по которой распознающую модель можно позволить себе ставить фильтром на каждый элемент потока данных, не утраивая время работы конвейера генерации: об этом следующие кадры скажут подробнее на трёх конкретных примерах — где распознаватель уже стоит внутри самого конвейера генерации.</a:t>
            </a:r>
          </a:p>
          <a:p>
            <a:r>
              <a:t/>
            </a:r>
          </a:p>
          <a:p>
            <a:r>
              <a:t>Эта асимметрия — не новое наблюдение этого блока, а прямое следствие арифметики порядков, уже разобранной на обвале цены генерации: если цена вычисления пропорциональна числу проходов через сеть сопоставимого размера, распознавание, требующее одного прохода, обходится в разы, а иногда на порядки дешевле генерации, требующей десятков. Именно эта дешевизна и объясняет то, что следующие кадры покажут не как абстрактную возможность, а как уже случившийся факт: распознающую модель можно позволить себе ставить фильтром на каждый отдельный элемент потока данных — на входе корпуса, на отборе выборки, на выходе готового изображения, — без того, чтобы утроить или удесятерить время работы всего конвейера генерации.</a:t>
            </a:r>
          </a:p>
          <a:p>
            <a:r>
              <a:t/>
            </a:r>
          </a:p>
          <a:p>
            <a:r>
              <a:t>Дешевизна классификации — это ответ только на вопрос «сколько это стоит вычислительно», а не на вопрос «можно ли этому результату доверять». Дальше по пути блока эти два вопроса разойдутся: распознаватель остаётся дешёвым и внутри собственного конвейера генерации работает надёжно, но за пределами знакомого ему распределения данных та же дешёвая архитектура не гарантирует надёжности — и именно это разведение дешевизны и надёжности окажется центральным для всего, что блок разбирает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Генератор-диффузия учится минимизировать ошибку предсказания шума; языковая модель учится предсказывать следующий токен, и метка для этого — само продолжение текста, не требующее отдельной ручной разметки. Классификатор, обучаемый на фиксированный набор категорий, учится иначе: минимизировать кросс-энтропию между предсказанным распределением вероятностей по классам и истинной меткой — заранее известным, правильным ответом, который для каждого обучающего примера должен откуда-то взяться.</a:t>
            </a:r>
          </a:p>
          <a:p>
            <a:r>
              <a:t/>
            </a:r>
          </a:p>
          <a:p>
            <a:r>
              <a:t>Канонический датасет, на котором десятилетие держалось обучение классификаторов изображений, — ImageNet-1k: 1,28 миллиона обучающих изображений, 1000 классов, размечены людьми через краудсорсинговую разметку (Russakovsky et al., IJCV 2015). Здесь лежит экономическая разница двух классов задач: распознаватель требует чужого оплаченного ручного труда разметки — конкретных людей, которым заплатили за то, чтобы они посмотрели на картинку и сказали, собака там или кошка, причём для 1000 категорий и 1,28 миллиона изображений это ресурсоёмкий, растянутый во времени процесс. Генератор, напротив, учился на парах «картинка-текст», собранных автоматическим сканированием открытого веба (LAION-5B, Раздел 1 ранее, встретим снова в Разделе 4), а не размеченных специально под задачу классификации — подпись к фотографии в интернете существовала независимо от того, что кто-то захочет обучить на ней модель, и её не нужно было оплачивать отдельно как акт разметки.</a:t>
            </a:r>
          </a:p>
          <a:p>
            <a:r>
              <a:t/>
            </a:r>
          </a:p>
          <a:p>
            <a:r>
              <a:t>Кросс-энтропия — не абстрактная формула, а конкретный штраф за уверенность. Если модель уверенно поставила девяносто процентов на «кошку», а правильный ответ — «собака», штраф большой; если модель честно колебалась между двумя классами почти поровну, штраф меньше даже при той же итоговой ошибке. Обучение минимизирует именно эту сумму штрафов по всем примерам сразу, подталкивая модель не просто угадывать чаще, а быть уверенной именно там, где она права, и осторожной там, где признаки неоднозначны.</a:t>
            </a:r>
          </a:p>
          <a:p>
            <a:r>
              <a:t/>
            </a:r>
          </a:p>
          <a:p>
            <a:r>
              <a:t>Дешевизна одного форвард-прохода, разобранная кадром раньше, и обучение на размеченных данных, разобранное здесь, — две разные оси, и путать их не стоит. Распознаватель дешёв в применении — один проход на один вход, — но дорог в постройке обучающего корпуса: за каждую метку в итоге заплатил кто-то живыми деньгами и временем конкретного размечающего человека. Генератор — ровно наоборот: дорог в применении, десятки проходов денойзера на один результат, — но дёшев в сборе обучающих данных, потому что подписи к фотографиям в интернете уже существовали независимо от задачи, и их не нужно было оплачивать отдельно как разметку. Два класса задачи платят за своё обучение и свою работу в разных местах цикла — это разная экономика, а не просто разные числа.</a:t>
            </a:r>
          </a:p>
          <a:p>
            <a:r>
              <a:t/>
            </a:r>
          </a:p>
          <a:p>
            <a:r>
              <a:t>Эта разница в происхождении данных — не нейтральная деталь архива, а то, что дальше в лекции станет предметом спора в суде: тот же самый механизм сбора пар «картинка-текст» без разметки руками, который здесь объясняет дешевизну обучающих данных генератора, в Разделе 4 окажется причиной, по которой вопрос «а было ли это лицензировано» на этапе сборки вообще не задавался.</a:t>
            </a:r>
          </a:p>
          <a:p>
            <a:r>
              <a:t/>
            </a:r>
          </a:p>
          <a:p>
            <a:r>
              <a:t>Это прямая параллель тому, что уже показано для LAION: пара собрана, не размечена руками под задачу, и именно это различие в происхождении обучающих данных — одна из причин, почему распознаватели исторически обучались на куда меньших по объёму, но дороже заполненных данными корпусах, чем генераторы следующего поколения.</a:t>
            </a:r>
          </a:p>
          <a:p>
            <a:r>
              <a:t/>
            </a:r>
          </a:p>
          <a:p>
            <a:r>
              <a:t>Эта экономика разметки — не второстепенная деталь архивоведения, а причина, по которой распознаватели исторически обучались куда более узкими, специализированными корпусами, чем генераторы: каждый новый класс задачи — новый набор категорий, новый проект разметки, новые деньги, потраченные на то, чтобы заплатить людям за часы просматривания изображений. Генератор в этом смысле ничего не платит за новизну данных: любая новая пара «картинка — подпись», появившаяся в интернете, автоматически становится потенциальным обучающим примером без дополнительного решения о том, что и как размечать.</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Денойзер диффузионной модели использует cross-attention — прямую параллель self-attention из языковых моделей Лекции 2. Распознающая модель для изображений, построенная на архитектуре трансформера, использует тот же строительный блок, причём буквальнее, чем кажется. Vision Transformer (ViT) разбивает изображение на патчи фиксированного размера — ту же единицу входа, что уже встречалась для диффузии, — проецирует их в векторы и пропускает через стандартный трансформер-энкодер, идентичный по конструкции тем самым блокам self-attention (Dosovitskiy et al., ICLR 2021). Разница появляется только в самом конце: к последовательности патчей добавлен служебный токен [CLS], и именно его представление после прохода через все слои энкодера подаётся в простую линейную классификационную голову, которая выдаёт вероятности по классам. ViT крупного размера, предобученный на большом корпусе, даёт порядка 88% top-1 accuracy на ImageNet.</a:t>
            </a:r>
          </a:p>
          <a:p>
            <a:r>
              <a:t/>
            </a:r>
          </a:p>
          <a:p>
            <a:r>
              <a:t>Технически то, что происходит с токеном [CLS], — не магия, а прямое следствие механизма self-attention, уже разобранного в Лекции 2: каждый слой энкодера позволяет любому токену, включая служебный [CLS], вычислять взвешенную сумму представлений всех остальных токенов последовательности — в данном случае всех патчей изображения. После прохода через все слои представление [CLS]-токена оказывается агрегатом информации со всего изображения, а не с одного произвольного патча, и именно поэтому простая линейная голова, поставленная над этим единственным вектором, способна классифицировать картинку целиком.</a:t>
            </a:r>
          </a:p>
          <a:p>
            <a:r>
              <a:t/>
            </a:r>
          </a:p>
          <a:p>
            <a:r>
              <a:t>Та же дихотомия на материале самих языковых моделей снимает ощущение, что «распознавание» и «генерация» — принципиально разные миры архитектур. BERT (Devlin et al., 2018) — энкодер-архитектура, обученная дискриминативно: предсказать замаскированное слово или метку класса, с classification/MLM-головой поверх энкодера. GPT — декодер-архитектура, обученная генеративно: предсказать следующий токен. Блоки self-attention у BERT и GPT устроены однотипно; различие — в маске внимания (двунаправленная у BERT, однонаправленная у GPT) и в том, что стоит поверх энкодера или декодера: голова классификации по фиксированному набору ответов против головы генерации по всему словарю модели. Одна и та же строительная единица, self-attention, обслуживает оба класса задачи — различие в том, что происходит на выходе блоков, а не в них самих.</a:t>
            </a:r>
          </a:p>
          <a:p>
            <a:r>
              <a:t/>
            </a:r>
          </a:p>
          <a:p>
            <a:r>
              <a:t>Опора до трансформеров: ResNet-50 — классическая свёрточная архитектура-классификатор, без единого блока внимания, даёт ≈76% top-1 на ImageNet (He et al., CVPR 2016) — распознающие модели решали дискриминативную задачу задолго до трансформеров; трансформер сменил архитектуру распознавателя и заметно повысил точность, с 76% до 88%, а не изобрёл саму задачу распознавания.</a:t>
            </a:r>
          </a:p>
          <a:p>
            <a:r>
              <a:t/>
            </a:r>
          </a:p>
          <a:p>
            <a:r>
              <a:t>CLIP — модель-читатель, уже названная по имени на карте видов генерации, — не вписывается ни в чистую классификацию по фиксированным категориям, ни в генерацию. Это третий, гибридный режим обучения: два отдельных энкодера, визуальный и текстовый, обучаемые сопоставлять пары «картинка-текст» в общем векторном пространстве (контрастивное обучение), а не предсказывать метку из заранее заданного списка классов. Именно эта гибкость — сравнивать произвольную картинку с произвольным текстовым описанием, а не только с фиксированным списком из тысячи категорий ImageNet, — и делает CLIP пригодным для роли фильтра внутри конвейера генерации, которую следующий кадр разбирает подробно.</a:t>
            </a:r>
          </a:p>
          <a:p>
            <a:r>
              <a:t/>
            </a:r>
          </a:p>
          <a:p>
            <a:r>
              <a:t>Это прямой мост к следующему кадру: именно потому что ViT и CLIP делят один и тот же строительный блок с языковыми моделями, распознающую часть конвейера генерации можно обучать и развёртывать той же инфраструктурой, что и генеративную — не отдельным, несовместимым стеком технологий, а тем же семейством архитектур, применённым к другому вопросу на выходе. Это одна из причин, почему распознаватель оказался настолько дешёвым встроить внутрь конвейера генерации сразу в трёх разных точках, которые разбирает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Распознающая модель уже работает не снаружи, а изнутри самого конвейера генерации, на трёх разных его этапах, и без любого из них конвейер физически собирался бы иначе.</a:t>
            </a:r>
          </a:p>
          <a:p>
            <a:r>
              <a:t/>
            </a:r>
          </a:p>
          <a:p>
            <a:r>
              <a:t>Первая точка — на входе, при сборке обучающего корпуса. LAION-5B собирался автоматическим сканированием веба, и в итоговый корпус пар «картинка-текст» попадали те, у которых косинусное сходство между CLIP-эмбеддингом изображения и CLIP-эмбеддингом подписи превышало заданный порог — сам CLIP, обученная модель-читатель, выступал фильтром. Этот же корпус — предмет суда Getty против Stability AI, разбираемого дальше в Разделе 4.</a:t>
            </a:r>
          </a:p>
          <a:p>
            <a:r>
              <a:t/>
            </a:r>
          </a:p>
          <a:p>
            <a:r>
              <a:t>Вторая точка — на этапе отбора финальной обучающей выборки. Stable Diffusion 1.x обучалась многостадийно, и финальный этап шёл на подвыборке LAION-Aesthetics v2 5+ — примерно 600 миллионов изображений из 5,85 миллиарда пар всего корпуса, отобранных отдельной, тоже обученной моделью-предиктором эстетической оценки. Этот предиктор — тоже распознающая модель: на входе изображение, на выходе не метка класса, а скалярная оценка «понравится ли это человеку». Эта же цифра — 600 миллионов отобранных из 5,85 миллиарда — встретится снова в Разделе 4, когда речь пойдёт о весе самой обученной модели.</a:t>
            </a:r>
          </a:p>
          <a:p>
            <a:r>
              <a:t/>
            </a:r>
          </a:p>
          <a:p>
            <a:r>
              <a:t>Арифметика этой второй точки стоит того, чтобы её назвать прямо: 600 миллионов из 5,85 миллиарда — это чуть больше одной десятой всего собранного корпуса. Иначе говоря, финальный визуальный вкус модели сформирован не всем интернетом, который удалось просканировать, а узкой, отдельно отфильтрованной выборкой того, что отдельная обученная модель сама признала эстетически привлекательным, — ещё один слой распознающей модели внутри конвейера, который легко упустить, если считать, что генератор учится «на всём вебе» буквально.</a:t>
            </a:r>
          </a:p>
          <a:p>
            <a:r>
              <a:t/>
            </a:r>
          </a:p>
          <a:p>
            <a:r>
              <a:t>Третья точка — на выходе, перед показом пользователю. Карточка модели `CompVis/stable-diffusion-safety-checker` описывает механику safety-фильтра: фильтр использует тот же обученный чекпойнт CLIP, что и текст-условное кондиционирование генерации, но другую из двух его половин — визуальный энкодер применяется к уже готовому изображению. Фильтр измеряет косинусное расстояние эмбеддинга сгенерированного изображения до эмбеддингов семнадцати заранее заданных «чувствительных» текстовых концептов; если расстояние меньше порога хотя бы для одного концепта, изображение помечается как «unsafe» и блокируется. Честная оговорка здесь важна не менее самой механики: независимая работа «Red-Teaming the Stable Diffusion Safety Filter» и сама карточка модели прямо называют задокументированное ограничение — фильтр обфусцирован, слабо документирован, показывает измеримые расовые и гендерные дисбалансы в срабатывании и обходится намеренно сформулированными промптами.</a:t>
            </a:r>
          </a:p>
          <a:p>
            <a:r>
              <a:t/>
            </a:r>
          </a:p>
          <a:p>
            <a:r>
              <a:t>Важная техническая оговорка про эту третью точку, чтобы не создать неверное впечатление: safety-фильтр не запускает «ту же самую» вычислительную операцию, что генерация, а использует другую половину того же обученного чекпойнта. CLIP устроен как dual-encoder — визуальный энкодер и текстовый энкодер, обученные совместно в одном контрастивном процессе, но физически это два разных вычислительных пути. Там, где генерация использует текстовый энкодер — превращает слова промпта в вектор для cross-attention денойзера, — safety-фильтр применяет визуальный энкодер той же модели к уже готовому изображению. Общий чекпойнт — да; общий вычислительный путь — нет; и это различие важно, потому что оно показывает, что один обученный артефакт можно использовать для двух структурно разных ролей в одном и том же конвейере, не обучая вторую модель с нуля.</a:t>
            </a:r>
          </a:p>
          <a:p>
            <a:r>
              <a:t/>
            </a:r>
          </a:p>
          <a:p>
            <a:r>
              <a:t>Генеративный конвейер, который разобран как устройство одной модели, на самом деле — устройство нескольких моделей, работающих вместе, и как минимум три из них — не генераторы, а распознаватели. Генерация без распознавания внутри себя физически не собирается в том виде, в каком она существует на рынке сегодня. Важно держать рядом два разных вывода, не смешивая их: распознающая модель внутри своего собственного, контролируемого конвейера работает надёжно — CLIP-фильтр LAION и эстетический предиктор делают именно то, для чего их обучали, против материала того же распределения, которое они видели на обучении; но даже внутри своего конвейера у распознавателя остаётся измеримая цена ошибки, которая не равна нулю просто потому, что модель встроена в продукт. Следующий кадр показывает, что происходит, когда тот же класс модели выводят из этого контролируемого конвейера и просят судить материал, которого она на обучении не видела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точки предыдущего кадра показали распознаватель, который успешно работает внутри собственного, контролируемого конвейера — ту же архитектуру, тот же тип данных, тот же генератор, который он фильтрует. Следующий вопрос — что происходит, когда распознающую модель пытаются применить не внутри одного конвейера, а снаружи, против материала, произведённого чужим, заранее неизвестным генератором. Это ровно задача «детектора дипфейков» — модели, обученной отличать сгенерированное изображение, видео или звук от подлинного постфактум, без доступа к тому, какой именно инструмент его произвёл.</a:t>
            </a:r>
          </a:p>
          <a:p>
            <a:r>
              <a:t/>
            </a:r>
          </a:p>
          <a:p>
            <a:r>
              <a:t>Число, которое делает этот провал измеримым: детектор XceptionNet, обученный и провалидированный на датасете FaceForensics++, даёт AUC = 0,997 на тестовой части того же датасета — отличник на своих данных практически без ошибок (AUC — площадь под ROC-кривой, стандартная метрика качества бинарного классификатора; 1,0 — идеальное разделение классов, 0,5 — работа не лучше случайного угадывания монеткой). При переносе того же детектора, без всякого переобучения, на другой датасет той же задачи — Celeb-DF — AUC падает до 0,482: хуже случайного угадывания. Метод, предложенный в той же статье для исправления провала, поднимает кросс-датасетный AUC до 0,669 — заметное улучшение, но далеко не возврат к внутридатасетным 0,997, и само существование статьи, представляющей это как достижение, — честный индикатор того, что задача остаётся открытой, а не решённой.</a:t>
            </a:r>
          </a:p>
          <a:p>
            <a:r>
              <a:t/>
            </a:r>
          </a:p>
          <a:p>
            <a:r>
              <a:t>Причина этого провала называется механически, а не как необъяснённая странность моделей: детектор, обучаемый на материале одного генератора, учится отличать артефакты именно этого генератора — конкретный паттерн шума GAN, конкретный спектральный след конкретного семейства диффузионных моделей, — а не «признак подделки вообще». Смена класса генератора меняет сам артефакт, и детектор, не видевший нового артефакта на обучении, не распознаёт его в принципе. Независимое исследование Corvi et al. прямо подтверждает: детекторы, разработанные для выявления GAN-сгенерированных изображений, заметно хуже работают на изображениях диффузионных моделей — у диффузии иной, более слабый частотный след в спектре Фурье, чем у GAN, и часть этого следа дополнительно стирается типичной постобработкой соцсетей.</a:t>
            </a:r>
          </a:p>
          <a:p>
            <a:r>
              <a:t/>
            </a:r>
          </a:p>
          <a:p>
            <a:r>
              <a:t>Это прямо замыкает число, которое Раздел 0 этой лекции уже назвало без объяснения механизма: человек, которого прямо предупредили, что перед ним может быть подделка, правильно определяет качественный видео-дипфейк лишь в 24-25% случаев. Человек не справляется потому, что восприятие не обучено отличать конкретные статистические артефакты современных генераторов; автоматический детектор не справляется по той же логике задачи, только иначе её проваливая — он способен отличать артефакты, но только те, что видел на обучении. Ни человеческое зрение, ни автоматический классификатор, обученный против одного поколения генераторов, не дают надёжной защиты против следующего поколения, которое ещё не видели ни тот, ни другой.</a:t>
            </a:r>
          </a:p>
          <a:p>
            <a:r>
              <a:t/>
            </a:r>
          </a:p>
          <a:p>
            <a:r>
              <a:t>Сюда же примыкает — не отдельным разбором, а усилением того же вывода — факт о направленной хрупкости распознающих моделей вообще, не только детекторов дипфейков: классическая демонстрация — adversarial example, специально сконструированный, почти неотличимый для человеческого глаза шум, после добавления которого изображение панды классифицируется той же сетью как гиббон с заявленной уверенностью 99,3% (Goodfellow et al., ICLR 2015). Провал на Celeb-DF — пассивный, детектор просто не видел такого генератора раньше; adversarial-хрупкость — активный, направленный провал, при котором противник, знающий устройство детектора, может целенаправленно обойти именно его. Вместе эти два факта дают структурную причину, почему «детекторная гонка» — обучить новый детектор под новый генератор, затем следующий — стратегически проигрышная игра в долгую. Это прямой мост к Лекции 14, где разбирается защита периметра предприятия от адаптивного противника.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завершается тем же вопросом, которым заканчивается каждый раздел этой лекции: какая нагрузка переехала и куда именно, а не просто «стало дешевле». Ответ складывается из двух частей. Нагрузка переехала от часов ручной работы к секундам генерации плюс последующей правке — это не означает, что человеческий труд исчез из цикла целиком, он переместился внутрь другого шага: вместо того чтобы рисовать, писать или озвучивать с нуля, исполнитель теперь формулирует запрос, оценивает несколько сгенерированных вариантов и дорабатывает выбранный. И появился новый профессиональный шаг, которого раньше не существовало в этой форме — формулирование запроса для генеративной модели и курирование множества вариантов, из которых выбирается один для дальнейшей доработки.</a:t>
            </a:r>
          </a:p>
          <a:p>
            <a:r>
              <a:t/>
            </a:r>
          </a:p>
          <a:p>
            <a:r>
              <a:t>Переезд числом — на той же Марине К., том же потоке заказов, но в разрезе целого рабочего месяца. До обвала цены генерации её месяц выглядел так: около 15–18 однотипных заказов по 50–70 долларов каждый, плюс 2–3 более сложных заказа по 300–600 долларов — валовый доход порядка 1800–2500 долларов при примерно 70–80 рабочих часах, включая переписку и правки. Это даёт эффективную часовую ставку около 25–30 долларов в час. После обвала цены генерации однотипный поток практически исчез как статья дохода — такие баннеры заказчики теперь получают сами через Midjourney или Firefly за секунды и центы, не обращаясь к фрилансеру вовсе. У Марины К. остались только сложные, требующие интерпретации заказы: 2–4 заказа на фирменный стиль в месяц по 300–800 долларов, итоговый валовый доход порядка 900–2400 долларов при уже не 70–80, а примерно 25–35 часах в месяц — эффективная ставка выросла до 35–70 долларов в час. Числа составные, собранные по агрегированным отраслевым данным, но направление эффекта совпадает с тем, что показывают агрегированные опросы фриланс-бирж: валовый доход в нижнем, рутинном сегменте рынка падает, а эффективная часовая ставка у тех, кто остаётся в профессии, растёт за счёт вымывания низкоквалифицированной конкуренции, а не за счёт роста цены за час работы как таковой. Полная картина того, что это означает не для одного фрилансера, а для рынка труда творческих индустрий в целом, — предмет отдельного раздела позже по лекции.</a:t>
            </a:r>
          </a:p>
          <a:p>
            <a:r>
              <a:t/>
            </a:r>
          </a:p>
          <a:p>
            <a:r>
              <a:t>В терминах сетки курса «тип задачи × модальность» материал этого раздела занимает две клетки напрямую и одну на подходе: генерация изображения — клетка «генерация на изображении», режим коммерчески зрелый, цена на три порядка ниже ручного исполнения; генерация музыкального трека — клетка «генерация на аудио», тот же порядок зрелости; синтез речи пограничен — технически тоже генерация на аудио, но здесь уже существует смежный вопрос согласия на использование конкретного голоса, который разбирается позже вместе с правами. Симметрично этому — отдельная строка таблицы, не подклетка генерации: распознавание — зрелая, коммерчески решённая задача на фиксированных категориях (ViT/ResNet на ImageNet), и незрелая клетка там, где нужно распознать подделку постфактум без доступа к происхождению: там даже у лучших лабораторий нет надёжного продукта, и индустрия на 2026 год движется не к лучшему детектору, а к криптографически проверяемому происхождению.</a:t>
            </a:r>
          </a:p>
          <a:p>
            <a:r>
              <a:t/>
            </a:r>
          </a:p>
          <a:p>
            <a:r>
              <a:t>Три утверждения, которых раздел не делает. Раздел не утверждает, что сгенерированный результат эквивалентен по художественной ценности результату, созданному человеком, ни в одну, ни в другую сторону — измеряется только цена исполнения технической операции, а не ценность файла для конкретной творческой задачи. Раздел не утверждает, что все сто процентов прежней ручной работы исчезли: профессиональное фотографирование товаров, голос конкретного узнаваемого бренд-амбассадора, живое музыкальное исполнение на концерте структурно не сводятся к «получить файл по текстовому описанию». И раздел не утверждает, что обвал цены исполнения — сам по себе проблема или сам по себе провал генеративных моделей: три-четыре порядка удешевления доступа к исполнению — эффект, который курс в применении к инженерным задачам рассматривает как возможность, а не как угрозу. Проблема, вокруг которой выстроена вся лекция, начинается не здесь, а в следующем разделе: не в том, что исполнение подешевело, а в том, что вместе с ним подешевела и подделка узнавания — сигнала, который раньше подтверждал происхождение результата бесплатно.</a:t>
            </a:r>
          </a:p>
          <a:p>
            <a:r>
              <a:t/>
            </a:r>
          </a:p>
          <a:p>
            <a:r>
              <a:t>Канон курса требует одного подготовленного вопроса на раздел, с коротким ответом: у кого в работе уже есть порог найма, который обвал цены генерации обнулил, — замечали вы это сами? Короткий ответ устроен так же, как на входе в лекцию: название задачи и констатация факта — «баннеры для рассылки — да, больше не заказываем на бирже», «фоновый трек для демо — да, Suno заменила стоковую библиотеку».</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1 проследил, как исполнение творческого артефакта сжалось от дней ручной работы до секунд генерации, и закончился на том, что порог найма человека сдвинулся: там, где раньше задачу решал нанятый исполнитель, теперь первым шагом стоит генерация, а исполнитель, если он вообще остаётся в цепочке, курирует и правит результат. Файл готов. Но готовый файл — ещё не опубликованный материал, и между «файл существует» и «файл дошёл до читателя» в любом издании, агентстве или студии стоит отдельная работа, которая решает, можно ли этому файлу верить и можно ли его вообще использовать. Эта работа и называется редакционным контролем, и именно на ней держится узнавание как сигнал доверия — не только «я узнал лицо на видеозвонке», но и «я вижу подпись автора под статьёй и доверяю ей», и «я вижу картинку на сайте агентства и предполагаю, что она лицензирована».</a:t>
            </a:r>
          </a:p>
          <a:p>
            <a:r>
              <a:t/>
            </a:r>
          </a:p>
          <a:p>
            <a:r>
              <a:t>Оба эти узнавания раньше были бесплатными сигналами, потому что их обеспечивал человек — редактор, фактчекер, менеджер по лицензированию, — чья работа стоила денег, но сам факт её существования ничего не стоил читателю: он просто доверял тому, что видел, не разбираясь, каким трудом это доверие было куплено. Раздел важен не только как история про журналистику — та же логика применима к любому инженерному продукту, в котором текст или сопроводительный материал генерируются автоматически и публикуются под именем компании: от автоматически собранных описаний товаров до автоматически собранных технических отчётов. Институт, который раньше бесплатно обеспечивал доверие — «за этим стоит человек, несущий ответственность», — устроен одинаково независимо от отрасли, и подделать его одинаково дёшево везде, где его не укрепили заново.</a:t>
            </a:r>
          </a:p>
          <a:p>
            <a:r>
              <a:t/>
            </a:r>
          </a:p>
          <a:p>
            <a:r>
              <a:t>Начиная с этого раздела, повествование меняет регистр измерения. Раздел 1 оперировал ценами — долларами за изображение, за минуту озвучки, за трек, — и разрыв там измерялся порядками величины в одной и той же валюте. Разделы 2 и 3 работают с долями и процентами реакции институтов и людей на один и тот же факт — факт подделываемого узнавания, — и это не делает их находку слабее: она контринтуитивна ровно в той же мере.</a:t>
            </a:r>
          </a:p>
          <a:p>
            <a:r>
              <a:t/>
            </a:r>
          </a:p>
          <a:p>
            <a:r>
              <a:t>Ядро раздела — CNET: издание опубликовало десятки финансово-объяснительных статей под коллективной подписью, написанных внутренним движком, не раскрыв этого читателю заранее. Когда независимое расследование нашло факт AI-авторства, больше половины этих статей пришлось исправить. Первая реакция на эту цифру — предположить, что модель хуже справляется с фактами, чем человек. Разбор покажет, что это не так: базовый уровень ошибок классической журналистики того же порядка. Хуже оказалось другое — раскрытие сработало спусковым крючком реакции, которую тот же самый уровень ошибок у штатного журналиста почти никогда не вызывает, потому что его никто специально не ищет.</a:t>
            </a:r>
          </a:p>
          <a:p>
            <a:r>
              <a:t/>
            </a:r>
          </a:p>
          <a:p>
            <a:r>
              <a:t>Рядом стоит более запутанный по причинности случай — Sports Illustrated, где скандал совпал по времени с отзывом лицензии бренда и увольнением руководителя, но официально названная причина обоих событий — другая. Это не второй подробный разбор, а предостережение: совпадение во времени — не то же самое, что доказанная причинно-следственная связь, и раздел специально учит эту разницу различать, потому что та же ошибка атрибуции встретится в лекции снова, уже с обратным знаком.</a:t>
            </a:r>
          </a:p>
          <a:p>
            <a:r>
              <a:t/>
            </a:r>
          </a:p>
          <a:p>
            <a:r>
              <a:t>Сама стадия — отраслевым именем, которое дальше будет использоваться без пояснений. В журналистике это редактура и фактчекинг; в рекламном агентстве и фотобанке — клиринг прав, то есть проверка лицензии на использованный материал. Формы разные, вопрос один: можно ли верить тому, что перед нами, и можно ли это использовать законно. Четыре классических способа получить ответ на этот вопрос — редакторская читка, фактчекинг, сверка подписи и биографии автора, клиринг прав — не взаимозаменяемы и стоят по-разному: именованное авторство оказывается самым дешёвым механизмом контроля качества из всех, потому что держится на репутации, накопленной годами, а не на проверке в моменте. Это и есть тот механизм, дороговизну подделки которого обнуляет генеративная модель, и именно поэтому раздел начинается не с чисел CNET, а с того, как эта проверка работала до всякой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Редакционный контроль — работа, на которой законченный творческий артефакт проверяют прежде, чем он станет публичным: кто его на самом деле написал или снял, откуда взят использованный факт или образ, есть ли право этот образ использовать. В отрасли эта работа называется по-разному в зависимости от типа материала — в журналистике это редактура и фактчекинг, в рекламном агентстве и фотобанке это клиринг прав, — но вопрос, на который обе процедуры отвечают, один и тот же: можно ли верить тому, что перед нами, и можно ли это использовать законно.</a:t>
            </a:r>
          </a:p>
          <a:p>
            <a:r>
              <a:t/>
            </a:r>
          </a:p>
          <a:p>
            <a:r>
              <a:t>Редактор получает черновик текста и решает два вопроса сразу — это именно два разных вопроса, а не один, заданный дважды. Первый: верны ли факты, которые в тексте утверждаются, — цифры, цитаты, причинно-следственные связи. Второй, независимый от первого: кто автор и можно ли положиться на его репутацию как на косвенное подтверждение качества — то есть можно ли поставить под текстом имя, которое читатель узнает и которому доверится заранее, ещё до того, как сам проверит факты. Разница между этими двумя вопросами станет центральной для разбора CNET чуть дальше: можно пройти первый вопрос — факты в среднем верны не хуже, чем у любого другого издания, — и полностью провалить второй: имя под текстом не означает того, что оно исторически означало. Для агентства, использующего стоковый материал, вопрос симметричный по структуре: откуда взята фотография или трек и подтверждает ли документ, что право на использование куплено, а не предполагается по умолчанию.</a:t>
            </a:r>
          </a:p>
          <a:p>
            <a:r>
              <a:t/>
            </a:r>
          </a:p>
          <a:p>
            <a:r>
              <a:t>Решение стадии формально бинарное — публиковать материал в текущем виде или вернуть его на доработку, — но за этим простым решением следует нечто более важное, чем сама публикация: материал выходит под именем. Названный автор — это не декоративная подпись, это институт ответственности: если в статье позже найдут ошибку, есть конкретный человек или редакционная единица, которой эту ошибку можно предъявить; есть репутация, которая от обнаруженной ошибки объективно страдает; и есть прямой личный стимул исправлять ошибки видимо и быстро, а не замалчивать их. То же верно и для лицензии: подписанный документ о клиринге прав — это институт, к которому обращаются, если правообладатель позже заявит претензию, и наличие этого документа меняет переговорную позицию издания в споре.</a:t>
            </a:r>
          </a:p>
          <a:p>
            <a:r>
              <a:t/>
            </a:r>
          </a:p>
          <a:p>
            <a:r>
              <a:t>Про порядок: редакционный контроль идёт после исполнения, потому что проверять нечего, пока файл физически не существует, и до релиза и приёма аудиторией — по менее очевидной причине. Тестирование реакции аудитории имеет смысл только на материале, который уже прошёл проверку фактов и прав, иначе непонятно, чья реакция измеряется — реакция на сам продукт или реакция на то, что в нём, возможно, содержится неразрешённая ошибка или неоплаченное использование чужого материала, которое просто ещё не обнаружено. Раздел 3 этой лекции покажет случай, где этот порядок был нарушен на практике, а не в теории.</a:t>
            </a:r>
          </a:p>
          <a:p>
            <a:r>
              <a:t/>
            </a:r>
          </a:p>
          <a:p>
            <a:r>
              <a:t>Зачем это инженеру: если ваш продукт автоматически формирует вывод, который выходит под именем системы, а не конкретного проверившего его человека, стоит заранее спросить — какую репутационную гарантию пользователь неявно считывает из формы этого вывода, и соответствует ли она реальному процессу проверки за кулисами. Та же логика работает и на материале, не похожем на журналистику вовсе: нишевый интернет-магазин с каталогом порядка 50 000 SKU, при консервативной оценке лишь 5% карточек с материальной ошибкой (намеренно ниже измеренной доли CNET), получает 2 500 карточек с реальной ошибкой — и цена поимки такой ошибки редактором до публикации на порядок ниже цены возврата или претензии после неё, а сплошная проверка такого потока человеком не масштабируется так же, как генерация описаний. Именно это расхождение между формой сигнала и его содержанием разбор CNET дальше обнаружит на измеренных числах, а не на предположении.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Способов получения этих данных четыре, и они не взаимозаменяемы — каждый ловит свой класс ошибок и пропускает свой. Редакторская читка — штатный редактор читает текст целиком, проверяет логику изложения, стиль и внутреннюю непротиворечивость. Это самый дешёвый и самый быстрый из четырёх способов, и именно поэтому он применяется практически повсеместно, даже в изданиях с минимальным штатом; но он ловит стилистические и логические проблемы, а не фактические — редактор, не являющийся экспертом в предмете статьи, может прекрасно увидеть, что абзац написан неуклюже, и не заметить, что цифра в нём неверна.</a:t>
            </a:r>
          </a:p>
          <a:p>
            <a:r>
              <a:t/>
            </a:r>
          </a:p>
          <a:p>
            <a:r>
              <a:t>Фактчекинг — отдельный специалист сверяет каждое фактическое утверждение статьи с первоисточником: звонит эксперту для подтверждения цитаты, поднимает оригинальное исследование, пересчитывает числовой пример заново, своими руками, не доверяя тому, что посчитал автор. Это дорогой и медленный способ, и именно поэтому он — первое, что сокращают при снижении издержек: содержать отдельного фактчекера на каждую статью может себе позволить немного изданий, и обычно это те, где цена единичной ошибки особенно высока — финансовая аналитика, медицина, политические расследования.</a:t>
            </a:r>
          </a:p>
          <a:p>
            <a:r>
              <a:t/>
            </a:r>
          </a:p>
          <a:p>
            <a:r>
              <a:t>Сверка подписи и биографии автора — проверка, что автор действительно существует, действительно писал на эту тему раньше и его предыдущие публикации не содержали массовых системных ошибок. Для штатного сотрудника эта проверка выполняется один раз, при приёме на работу, и затем поддерживается репутацией, накопленной годами публикаций. Клиринг прав — для изображения или трека это сверка номера лицензии в базе данных правообладателя с тем, как материал фактически будет использован. Несовпадение — например, рекламное использование там, где куплена только более дешёвая редакционная лицензия, — ловится именно на этом шаге, и пропуск этого шага создаёт отложенный юридический риск, который может материализоваться месяцами позже.</a:t>
            </a:r>
          </a:p>
          <a:p>
            <a:r>
              <a:t/>
            </a:r>
          </a:p>
          <a:p>
            <a:r>
              <a:t>Три классических режима, стоящих за этими способами, не равноценны по дороговизне. Именованное авторство — исторически самый дешёвый механизм контроля качества из всех возможных: читатель доверяет статье не потому, что сам проверил каждый факт — это заняло бы больше времени, чем у профессионального редактора, — а потому, что знает автора и предполагает, что у него есть профессиональная репутация, которую он не станет рисковать ради одной статьи. Это частный случай общей логики теории сигналов: некоторые сигналы работают именно потому, что дорого стоят тому, кто их подаёт, и это делает их трудными для подделки — репутация журналиста строится годами публикаций, и подделать её мгновенно до появления генеративных моделей было практически невозможно. Как только стоимость подачи сигнала — написать текст, похожий по стилю на человеческий, и подписать его правдоподобным именем — резко падает, вся конструкция, построенная на дороговизне подделки, перестаёт работать так, как работала раньше. Это и есть то, что происходит в разборе CNET на следующих кадрах.</a:t>
            </a:r>
          </a:p>
          <a:p>
            <a:r>
              <a:t/>
            </a:r>
          </a:p>
          <a:p>
            <a:r>
              <a:t>Фактчекинг как отдельная профессиональная функция существует там, где цена ошибки высока; в изданиях с низкой маржой — в том числе в сегменте шаблонных объяснительных статей, о котором пойдёт речь дальше, — эта функция часто сведена к минимуму или отсутствует вовсе, и без понимания этой детали следующий разбор прочитать правильно нельзя. Клиринг прав через лицензионную базу данных: нарушение обнаруживается либо на этом шаге заблаговременно, что дёшево, либо постфактум, когда правообладатель подаёт претензию, что дорого и дорого непропорционально.</a:t>
            </a:r>
          </a:p>
          <a:p>
            <a:r>
              <a:t/>
            </a:r>
          </a:p>
          <a:p>
            <a:r>
              <a:t>Зачем это инженеру: порядок цены этих четырёх проверок — то, что стоит держать в голове при проектировании любого внутреннего процесса контроля качества автоматически сгенерированного вывода. Самая дешёвая проверка — не самая надёжная, и самая надёжная не обязательно масштабируется на объём, который генеративная система способна производить.</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обобщения, который только что показан на изображениях, повторяется на тексте — с одной отличающей деталью: здесь детектор пыталась построить компания, которая на тот момент сама выпускала одну из лучших в мире генеративных языковых моделей, и у неё не получилось.</a:t>
            </a:r>
          </a:p>
          <a:p>
            <a:r>
              <a:t/>
            </a:r>
          </a:p>
          <a:p>
            <a:r>
              <a:t>OpenAI запустила «AI Text Classifier» в январе 2023 года — инструмент, оценивающий вероятность того, что текст написан языковой моделью. 20 июля 2023 года компания закрыла его «из-за низкой точности». Официально названные числа: классификатор верно определял как «AI-написанный» лишь 26% текста, который действительно был написан моделью — три четверти реального AI-текста инструмент пропускал, — и при этом 9% текста, написанного человеком, ошибочно помечал как AI-написанный. Отдельно OpenAI называла и систематическое смещение против не-носителей английского языка: их человеческие тексты классификатор чаще путал с AI-написанными, чем тексты носителей.</a:t>
            </a:r>
          </a:p>
          <a:p>
            <a:r>
              <a:t/>
            </a:r>
          </a:p>
          <a:p>
            <a:r>
              <a:t>Это стоит прочитать не как курьёз, а как честную рамку: автор языковой модели, которая на момент запуска классификатора была одной из лучших в мире по качеству генерации, не смог построить надёжный детектор для текста, сгенерированного моделями своего же класса, — и сам публично признал это, закрыв инструмент, а не продолжая выдавать его за рабочий.</a:t>
            </a:r>
          </a:p>
          <a:p>
            <a:r>
              <a:t/>
            </a:r>
          </a:p>
          <a:p>
            <a:r>
              <a:t>Это не история о нехватке ресурсов или недостатке экспертизы: у компании, запускавшей собственный классификатор, был прямой доступ к архитектуре и обучающим данным моделей собственного семейства — ровно то преимущество, которого обычно не хватает сторонним детекторам, вынужденным угадывать артефакты чужого, непрозрачного генератора. То, что провал всё равно случился при максимально благоприятных условиях, — довод не о слабом конкретном продукте, а о структурном пределе задачи «отличить AI-текст постфактум», том же пределе, который только что показан на изображениях: текстовый генератор, как и генератор изображений, оставляет статистический след, специфичный для конкретного семейства моделей и конкретного момента их обучения, а не универсальный «признак машинности», который можно было бы выучить один раз и ловить впредь.</a:t>
            </a:r>
          </a:p>
          <a:p>
            <a:r>
              <a:t/>
            </a:r>
          </a:p>
          <a:p>
            <a:r>
              <a:t>Смещение против неносителей английского — не второстепенная деталь, а показатель того же структурного механизма: классификатор выучил не «признаки искусственного текста вообще», а статистические особенности текста, собранного в основном у носителей языка, и текст, построенный по иной, нестандартной для обучающей выборки грамматике или лексике, ошибочно попадал в ту же корзину, что и генеративный. Ровно так же, как детектор изображений путает новый класс генератора с подделкой, этот детектор путал непривычный, но подлинно человеческий стиль письма с машинным — ошибка того же типа, только на другой модальности и с другой социальной ценой: несправедливо обвинённым в использовании ИИ оказывается не случайный человек, а систематически человек, пишущий на английском не как на родном.</a:t>
            </a:r>
          </a:p>
          <a:p>
            <a:r>
              <a:t/>
            </a:r>
          </a:p>
          <a:p>
            <a:r>
              <a:t>Для инженера, выбирающего готовый сторонний инструмент детекции AI-текста — для модерации, проверки учебных работ или фильтрации резюме, — это прямой критерий отказа: если автор одной из сильнейших языковых моделей своего времени не взялся продавать собственный детектор как надёжный продукт и закрыл его сам, доверять по умолчанию стороннему инструменту с меньшим доступом к архитектуре и данным — решение, которое стоит принимать осознанно, а не «наверное, работает», и точно не как единственную линию защиты там, где ошибка дорога.</a:t>
            </a:r>
          </a:p>
          <a:p>
            <a:r>
              <a:t/>
            </a:r>
          </a:p>
          <a:p>
            <a:r>
              <a:t>Прямая связь с разбором CNET этого же раздела: раскрытие AI-авторства статей CNET произошло не потому, что какой-то текстовый детектор поймал движок редакции, а потому, что независимые журналисты заметили неестественно шаблонный стиль серии публикаций. Это ровно тот канал обнаружения, который и предсказывает провал детекторного подхода: не автоматическая проверка, а человеческое чтение и внешнее журналистское расследование — медленнее, дороже, но то, что реально сработало там, где автоматический классификатор не смог бы. Четыре способа проверки без модели, названные на предыдущем кадре, — редакторская читка, фактчекинг, сверка подписи, клиринг прав, — остаются без пятого, модельного: такого способа у индустрии надёжно нет.</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конце 2022 — начале 2023 года технологическое издание CNET начало публиковать финансово-объяснительные статьи, написанные внутренним AI-движком, под коллективной подписью «CNET Money Staff», не раскрывая факт AI-авторства читателям заранее. Материал относился именно к тому сегменту контента, где фактчекинг исторически минимален: шаблонные, регулярно повторяющиеся в поисковых запросах финансовые темы — как работает сложный процент, как выбрать сберегательный счёт, какие бывают виды страхования, — то есть сегмент, где маржа низка, а тема считается несложной.</a:t>
            </a:r>
          </a:p>
          <a:p>
            <a:r>
              <a:t/>
            </a:r>
          </a:p>
          <a:p>
            <a:r>
              <a:t>Расследование, обнаружившее факт AI-авторства, провело независимое технологическое издание Futurism: журналисты заметили необычную для отрасли коллективную подпись, не привязанную ни к одному конкретному, разыскиваемому в интернете журналисту, сопоставили стиль нескольких статей между собой и обратились за комментарием к самому CNET, которое после этого подтвердило использование AI-инструмента. Этот путь обнаружения важен сам по себе: проверка пришла не изнутри редакционного процесса — штатный фактчекер не остановил публикацию до того, как материал вышел, — а извне, постфактум, от стороннего наблюдателя, который заметил расхождение между формой подписи и правдоподобием того, что за ней стоит живой, разыскиваемый человек.</a:t>
            </a:r>
          </a:p>
          <a:p>
            <a:r>
              <a:t/>
            </a:r>
          </a:p>
          <a:p>
            <a:r>
              <a:t>После того как об этом сообщило независимое расследование, издание было вынуждено провести ревизию уже опубликованного массива материалов. Из 77 опубликованных AI-статей 41, то есть 53%, потребовали исправлений после того, как факт AI-авторства был публично раскрыт. Часть ошибок была существенной: в статьях про расчёт сложного процента обнаружились математические ошибки непосредственно в формуле и в числовом примере — то есть ошибка стояла не в стиле изложения, который редактор мог бы поймать читкой по диагонали, а в самом вычислении, на основании которого реальный читатель мог принять реальное финансовое решение — отложить определённую сумму на определённый срок, ожидая результата, который формула, как выяснилось, предсказывала неверно.</a:t>
            </a:r>
          </a:p>
          <a:p>
            <a:r>
              <a:t/>
            </a:r>
          </a:p>
          <a:p>
            <a:r>
              <a:t>Теперь классический режим, в той же цене — почему это графа (б), а не (а). По независимым аудитам точности, проводившимся на материале классической журналистики — аудиты цитируются такими источниками, как Poynter, European Journalism Observatory, издание Slate, — от 40% до 61% газетных статей содержат хотя бы одну ошибку, но публично исправляется лишь около 2% таких ошибок. Число 40–61% получено по другой методологии и по другой выборке, чем 53% у CNET: там — независимые аудиты точности на представительной выборке изданий за разные годы, здесь — доля статей одного конкретного издания, исправленных самим изданием под внешним давлением после конкретного раскрытия в конкретный момент. Сравнивать «долю статей с ошибкой, найденной сторонним аудитом на выборке изданий» и «долю статей одного издания, исправленных этим же изданием под давлением после скандала» — значит сравнивать два разных по природе измерения одного и того же в широком смысле явления, и складывать их в строгую бухгалтерию нельзя. Оба числа реальны и атрибутированы к проверяемым источникам, но сопоставление остаётся нестрогим методологически — именно поэтому оно стоит в графе (б): у классического режима есть число, но не в той же единице измерения и не на той же выборке, что число у модели.</a:t>
            </a:r>
          </a:p>
          <a:p>
            <a:r>
              <a:t/>
            </a:r>
          </a:p>
          <a:p>
            <a:r>
              <a:t>Зачем это инженеру: вопрос «какая доля нашего вывода потребовала бы исправления, если бы завтра кто-то извне раскрыл факт автоматической генерации и начал её целенаправленно проверять» стоит задать себе заранее, а не ждать, пока на него ответит чужое расследование. Что именно означает это сопоставление чисел — на следующем кадре.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отнестись к двум числам буквально, не обходя методологическую оговорку предыдущего кадра, базовый уровень ошибок классической журналистики (40–61%) и скорректированная доля у CNET (53%) — одного порядка величины. Это значит, что прямого превосходства классического режима над AI-режимом по чистой частоте фактических ошибок цифры не подтверждают: AI-статьи CNET не ошибались заметно чаще, чем ошибается журналистика в целом, если верить независимым аудитам. Разница не в том, что модель хуже справляется с фактами, а в том, что 53% AI-статей CNET были исправлены публично и демонстративно, под внешним давлением, тогда как классический режим системно исправляет публично лишь около 2% своих собственных ошибок, обнаруженных сторонними аудитами. Иначе говоря: AI не был хуже человека по частоте ошибок — он был хуже тем, что раскрытие факта AI-авторства сработало спусковым крючком для реакции, которую та же самая частота ошибок у штатного журналиста-человека почти никогда не вызывает, потому что её почти никто специально не ищет и не публикует отдельным расследованием.</a:t>
            </a:r>
          </a:p>
          <a:p>
            <a:r>
              <a:t/>
            </a:r>
          </a:p>
          <a:p>
            <a:r>
              <a:t>Подделываемое узнавание — возможность опубликовать текст под обычной с виду коллективной подписью, не сообщив читателю о реальном характере авторства, — не создало новую проблему точности текста; оно обнажило проблему, которая в индустрии существовала и до генеративных моделей, просто не становилась предметом специального разбирательства, пока не нашёлся формальный, заметный для публики повод её искать именно в этом издании именно в этот момент. Это тот же по форме результат, который курс уже встречал на материале медицины: провал не в самой модели, а в институте, который вокруг неё не изменился, хотя должен был измениться вместе с ней. CNET не говорило читателю прямую неправду о точности своих статей — оно просто не говорило правды о том, кто их написал, а когда это раскрылось, оказалось, что обычная процедура контроля качества применялась к этим статьям не строже, чем к материалам любого другого штатного автора того же издания.</a:t>
            </a:r>
          </a:p>
          <a:p>
            <a:r>
              <a:t/>
            </a:r>
          </a:p>
          <a:p>
            <a:r>
              <a:t>Про устройство — то, чего индустрия так и не получила. Вход — шаблонные финансово-объяснительные темы: как работает сложный процент, как открыть сберегательный счёт, какие бывают виды страхования — регулярно повторяющиеся в поисковых запросах, не требующие оригинального журналистского расследования или интервью с источником. Это важная деталь устройства: модель применялась не к расследовательской журналистике, где фактическая проверка исторически строже, а именно к тому сегменту, который и так производился по самым низким издержкам и с самым слабым контролем — туда, где институт проверки и так был ослаблен. Выход — статья, опубликованная под подписью «CNET Money Staff», неотличимой по форме от обычной редакционной подписи многих изданий, использующих такой формат для материалов, написанных несколькими штатными сотрудниками совместно. Читатель не мог бы отличить одно от другого по одной лишь форме подписи, даже если бы специально искал признаки AI-генерации.</a:t>
            </a:r>
          </a:p>
          <a:p>
            <a:r>
              <a:t/>
            </a:r>
          </a:p>
          <a:p>
            <a:r>
              <a:t>Обучение и архитектура самого AI-движка не раскрыты публично ни разу: CNET описывало его как «внутренне разработанный инструмент», не называя ни вендора, ни модель, ни версию. Это честный пробел, который канон требует называть прямо, а не заполнять правдоподобным предположением. Для инженера этот пробел сам по себе показателен: отсутствие прозрачности затрудняет и внутренний, и внешний аудит качества — невозможно проверить версию модели на известные классы ошибок, если версия не названа. Это же поднимает вопрос о цепочке ответственности: когда статью пишет штатный журналист, цепочка короткая — автор отвечает перед редактором, редактор перед изданием. Когда статью генерирует нигде не описанный публично движок, цепочка не исчезает, но становится непрозрачной для внешнего наблюдателя: неясно, кто внутри компании отвечает за качество вывода — разработчики, редакторы или руководство, принявшее решение внедрить систему именно в этот сегмент. Это системное следствие того, что инструмент контроля был рассчитан на поток текстов, производимых людьми в предсказуемом темпе, а не на поток, который генеративная система способна производить на порядки быстрее.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течение нескольких недель после скандала CNET уволило около 10% штата — источники называют десятки сотрудников, уволенных практически сразу после публичного расследования; издание официально не признавало прямой причинно-следственной связи увольнений с AI-историей, но совпадение по времени осталось неразрешённым в общественном восприятии, тем же способом, каким останется неразрешённым и похожий вопрос в случае Sports Illustrated на следующем кадре. Более важный, хотя и не измеренный единым числом сдвиг — доверие читателя к «именованному автору» как институту в целом: после этого случая коллективная подпись у финансово-объяснительного материала перестала автоматически читаться как гарантия человеческого авторства, и это изменение затрагивает не только CNET, а всю категорию шаблонного объяснительного контента в финансовой и потребительской журналистике, где маржа низка, а соблазн автоматизировать производство велик независимо от конкретного издания.</a:t>
            </a:r>
          </a:p>
          <a:p>
            <a:r>
              <a:t/>
            </a:r>
          </a:p>
          <a:p>
            <a:r>
              <a:t>Полезно спросить не только «что произошло», но и «какой из четырёх способов получения данных здесь реально работал, а какой был пропущен». Редакторская читка, судя по всему, применялась — стиль статей не вызывал нареканий сам по себе, иначе проблему заметили бы раньше и без внешнего расследования. Сверка подписи и биографии автора формально не могла сработать, потому что подписи как таковой, привязанной к конкретному разыскиваемому человеку, не существовало — это и есть суть подмены. А вот фактчекинг — пересчёт формулы вручную, независимо от того, кто её написал, человек или алгоритм, — судя по доле обнаруженных математических ошибок, либо не применялся к этому сегменту контента вовсе, либо применялся не ко всем 77 статьям одинаково строго. То есть один конкретный, недорогой и давно существующий классический механизм контроля — независимый пересчёт числового примера — скорее всего решил бы проблему точности сам по себе, без всякого решения о раскрытии или нераскрытии AI-авторства. Проблема раскрытия и проблема точности оказались переплетены в общественном восприятии кейса, но технически это две разные и по отдельности решаемые задачи.</a:t>
            </a:r>
          </a:p>
          <a:p>
            <a:r>
              <a:t/>
            </a:r>
          </a:p>
          <a:p>
            <a:r>
              <a:t>Зачем это инженеру: урок CNET переносится буквально на любой продукт, где автоматически сгенерированный вывод публикуется под коллективным именем без указания, что было сгенерировано, а что проверено человеком. Вопрос «какая доля нашего вывода потребовала бы исправления, если бы завтра кто-то извне раскрыл факт автоматической генерации» стоит задать себе заранее, а не ждать, пока на него ответит чужое расследование. И практический вывод конкретнее общего: если один классический, недорогой механизм контроля — независимый пересчёт — решил бы проблему точности сам по себе, значит экономия на нём, а не сам факт использования модели, и была настоящей причиной провала.</a:t>
            </a:r>
          </a:p>
          <a:p>
            <a:r>
              <a:t/>
            </a:r>
          </a:p>
          <a:p>
            <a:r>
              <a:t>Шаблонный объяснительный жанр — товар с особой экономикой: его ценность не в оригинальности, а в стабильном месте в поисковой выдаче по частотным запросам, которое приносит рекламный трафик почти без предельных затрат на единицу. Это именно тот сегмент, где экономическое давление к автоматизации сильнее всего, и CNET оказалась не единственным изданием перед этим давлением, а просто тем, где решение было раскрыто и измерено первым — и по которому теперь будет сверяться вся отрасль. Этот конкретный разбор закрыт; следующий кадр берёт ту же логику на другом, более запутанном по причинности случае того же периода.</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CNET и упоминание Sports Illustrated вместе дают один и тот же сдвиг, работающий на разном материале и с разной степенью доказанности причинности. Нагрузка по верификации переехала с институционального механизма, встроенного в производственный процесс редакции — редактор, фактчекер, именованная личная репутация, — на внешнее, постфактумное разбирательство: независимое журналистское расследование, которое и вскрыло оба случая уже после публикации, а не до неё. Там, где раньше читатель доверял подписи бесплатно, не задумываясь о её происхождении, теперь подпись сама по себе ничего не доказывает, пока кто-то отдельно, специально и чаще всего извне не проверит, что реально за ней стоит.</a:t>
            </a:r>
          </a:p>
          <a:p>
            <a:r>
              <a:t/>
            </a:r>
          </a:p>
          <a:p>
            <a:r>
              <a:t>Появился новый тип риска, которого не существовало, пока подделать узнавание — форму подписи, видимость коллективного человеческого авторства — было дорого или технически невозможно: риск, что сам факт раскрытия AI-авторства, независимо от фактической точности опубликованного текста, станет самостоятельным триггером кризиса доверия, увольнений и репутационных потерь. CNET демонстрирует это особенно отчётливо, потому что там методология позволяет честно сопоставить частоту ошибок до и после раскрытия: причина кадровых решений — не доказанное объективное падение качества материала, которое, как показывает сопоставление с независимыми аудитами, было сопоставимо с отраслевой нормой, а реакция на факт раскрытия как таковой.</a:t>
            </a:r>
          </a:p>
          <a:p>
            <a:r>
              <a:t/>
            </a:r>
          </a:p>
          <a:p>
            <a:r>
              <a:t>Для раздела в целом это означает практический вывод, применимый за пределами журналистики: институт, обеспечивавший узнавание бесплатно — именованная личная ответственность, — нельзя просто перенести на коллективную или алгоритмическую подпись без потери содержания, которое этот институт исторически нёс. Единственный надёжный способ сохранить содержание сигнала при изменении его источника — сделать раскрытие источника частью самого сигнала с самого начала, а не ждать, пока его найдёт кто-то снаружи.</a:t>
            </a:r>
          </a:p>
          <a:p>
            <a:r>
              <a:t/>
            </a:r>
          </a:p>
          <a:p>
            <a:r>
              <a:t>Оба разобранных случая сводятся в одну рамку перед тем, как лекция перейдёт к материалу, который измеряет тот же сдвиг на другом материале — приёме аудиторией. До генеративных моделей читатель, увидев имя автора под статьёй, бесплатно получал косвенное подтверждение трёх вещей сразу: что текст физически написан конкретным человеком, что этот человек несёт профессиональную репутационную ответственность за содержание, и что издание считает текст достаточно качественным, чтобы связать его с узнаваемым именем. Подделываемое узнавание разбивает именно эту связку: форма сигнала сохраняется, а три содержательных гарантии, которые раньше шли в комплекте с этой формой, перестают выполняться автоматически — каждую из них теперь нужно обеспечивать отдельно и явно, если редакция хочет, чтобы читатель продолжал им доверять заслуженно, а не по старой привычке.</a:t>
            </a:r>
          </a:p>
          <a:p>
            <a:r>
              <a:t/>
            </a:r>
          </a:p>
          <a:p>
            <a:r>
              <a:t>Следующий раздел возьмёт ту же логику и применит её не к подписи автора, а к реакции аудитории на сам ролик или статью: там узнавание — это предположение, что за профессиональным видом материала стоит настоящая студия с настоящим бюджетом, — и там тоже обнаружится разрыв между формой и содержанием, только измеренный не долей исправленных статей, а процентами тональности и звёздами предрелизной панели. Структура одна и та же — меняется только то, что именно подделывается и кто первым замечает разрыв.</a:t>
            </a:r>
          </a:p>
          <a:p>
            <a:r>
              <a:t/>
            </a:r>
          </a:p>
          <a:p>
            <a:r>
              <a:t>Практический вывод, применимый за пределами любого конкретного издания: эта разница определяет, что чинить. Если проблема в частоте ошибок, чинить нужно фактчекинг; если проблема в институте доверия к имени, чинить нужно раскрытие источника. Спутать эти два ремонта — значит потратить усилия не там, где они нужны, и получить ту же проблему снова на следующем материале.</a:t>
            </a:r>
          </a:p>
          <a:p>
            <a:r>
              <a:t/>
            </a:r>
          </a:p>
          <a:p>
            <a:r>
              <a:t>Соседний случай — Sports Illustrated, издатель Arena Group — как предостережение, а не как третий полноценный разбор: расследование Futurism в 2023 году нашло статьи за подписью несуществующих авторов с AI-сгенерированными фото профилей, издатель отрицал, что сам текст писала модель, уволенный позже CEO Росс Левинсон подал иск на $20–40 млн, утверждая месть, а лицензию на бренд отозвали у Arena Group — но официально по причине пропущенного платежа, не напрямую из-за AI-скандала, хотя по времени события совпали. Это не доказанный провал модели — приписывать причинность там, где совпадение во времени выглядит убедительно, а документированной связи, подтверждённой сторонами, нет, — тот же тип ошибки, что встретится снова на материале банкротства Getty Images, только с противоположным знаком: там AI-давление названо компанией прямо, здесь — явно не названо.</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Материал, прошедший редакционный контроль — или не прошедший его, как показал предыдущий раздел, — в какой-то момент становится публичным: статья выходит, рекламный ролик появляется в эфире и в социальных сетях. До этого момента узнавание работало на стороне производства: редактор верил подписи, агентство верило лицензии. С момента публикации узнавание переходит на сторону аудитории: зритель или читатель формирует собственное отношение к материалу, и это отношение — измеримая величина, которую индустрия давно умеет измерять заранее, до того как материал станет публичным, и после — когда реакция уже произошла и её можно наблюдать напрямую, без модельных допущений.</a:t>
            </a:r>
          </a:p>
          <a:p>
            <a:r>
              <a:t/>
            </a:r>
          </a:p>
          <a:p>
            <a:r>
              <a:t>Вопрос этого раздела: что происходит с этим давно отлаженным измерением, когда материал, которое оно оценивает, — AI-сгенерированный, и способен ли классический инструмент предрелизного тестирования вообще заметить это обстоятельство как отдельный, самостоятельный фактор реакции. Это прямое продолжение предыдущего раздела, не параллельная тема: там проверка решала, можно ли верить тому, что перед нами, — здесь аудитория решает, нравится ли ей то, во что она уже поверила или не поверила.</a:t>
            </a:r>
          </a:p>
          <a:p>
            <a:r>
              <a:t/>
            </a:r>
          </a:p>
          <a:p>
            <a:r>
              <a:t>Стадия стоит на этом месте порядка не случайно. Тестирование реакции аудитории имеет смысл только на материале, который уже прошёл проверку фактов и прав — иначе непонятно, чья реакция на самом деле измеряется: реакция на сам творческий продукт как таковой или реакция на то, что в нём, возможно, содержится неразрешённая фактическая ошибка или неоплаченное использование чужого материала, которое просто ещё не было обнаружено. И это не абстрактная теоретическая забота: именно нарушение этого порядка и произошло де-факто в разборе, который раздел сейчас покажет, — предрелизная панель оценила ролик, вопрос о праве на исходные обучающие данные которого к моменту тестирования никто отдельно не поднимал, потому что сама процедура была выстроена для другого вопроса.</a:t>
            </a:r>
          </a:p>
          <a:p>
            <a:r>
              <a:t/>
            </a:r>
          </a:p>
          <a:p>
            <a:r>
              <a:t>Раздел держится одним подробным разбором — Coca-Cola и Toys «R» Us, — и это не недостаток материала, а решение, принятое после проверки: цепочка чисел про реакцию на AI-миниатюры YouTube, которая фигурировала в более ранних версиях этой лекции, при проверке не подтвердилась — первоисточник физически не существует, и курс не вставляет в разбор числа, которых нет. Вместо второго числового разбора раздел усиливает единственный найденный контраст: Coca-Cola повторила генеративный подход во второй праздничный сезон подряд, и на этот раз независимая предрелизная панель System1 оценила ролик на верхней границе собственной шкалы — пять целых девять десятых звезды из пяти целых девяти десятых возможных, — притом что открытая аудитория, если измерять её тональность компанией CARMA, отреагировала резко отрицательно: доля негативных упоминаний выросла с тринадцати и пяти десятых до пятидесяти трёх и четырёх десятых процента. Один и тот же ролик, два независимых измерения, противоположный по направлению сигнал. Это и есть форма раздела — не «AI-реклама хуже», а «предрелизный инструмент и открытая реакция измеряют разные вещи, и расхождение между ними само по себе содержательная находка».</a:t>
            </a:r>
          </a:p>
          <a:p>
            <a:r>
              <a:t/>
            </a:r>
          </a:p>
          <a:p>
            <a:r>
              <a:t>Два классических режима стоят за этим измерением задолго до всякой генеративной модели: предрелизные фокус-группы, откалиброванные на десятилетиях прошлых кампаний, и ограниченное A/B на двух-трёх вручную отснятых вариантах, дороговизна которых сама была частью сигнала качества для зрителя. Именно эту часть цены обнуляет генерация видео — и именно поэтому раздел должен сперва показать, как работало измерение до того, как объект измерения стал дешёвым производить в неограниченном количестве вариантов.</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Релиз и приём аудиторией — работа, на которой готовый, прошедший редакционный контроль материал выходит к конечному зрителю или читателю, и индустрия измеряет, как он был воспринят: вызвал ли он положительную, отрицательную или нейтральную реакцию, и воспринимается ли он как подлинный, уместный, соответствующий заявленному образу бренда или издания.</a:t>
            </a:r>
          </a:p>
          <a:p>
            <a:r>
              <a:t/>
            </a:r>
          </a:p>
          <a:p>
            <a:r>
              <a:t>До публикации собирают данные контролируемого тестирования — реакцию заранее отобранной группы людей на черновую версию материала, полученную в условиях, когда исследователь может задавать уточняющие вопросы и фиксировать реакцию структурированно. После публикации собирают данные открытого наблюдения — упоминания в социальных сетях, комментарии под постами, тональность освещения в прессе. Вопрос в обоих случаях формально один: понравится ли это аудитории и если нет — какой конкретно элемент материала вызывает отторжение. Но, как покажет разбор дальше, фактически эти два способа измерения иногда отвечают на разные вопросы, даже когда исследователи были уверены, что измеряют одно и то же.</a:t>
            </a:r>
          </a:p>
          <a:p>
            <a:r>
              <a:t/>
            </a:r>
          </a:p>
          <a:p>
            <a:r>
              <a:t>Способов два, и они принципиально разной природы — по выборке, по контролируемости условий и по тому, что именно они физически способны уловить. Предрелизное тестирование — фокус-группы и тестовые показы, на которых заранее отобранная по демографическим и поведенческим критериям выборка смотрит ролик в контролируемых условиях и заполняет структурированную анкету; реакция измеряется по стандартизированной шкале, разработанной специально для того, чтобы разные кампании можно было сравнивать на основе накопленной за десятилетия базы прошлых измерений. Ключевое методологическое свойство этого способа: вопросы в анкете заданы заранее, исследователь решает, что именно измерять, и участники отвечают в рамках предложенной рамки — если рамка не включает вопрос «воспринимаете ли вы этот материал как сделанный человеком», участники не станут спонтанно поднимать эту тему сами, если их прямо не спросят.</a:t>
            </a:r>
          </a:p>
          <a:p>
            <a:r>
              <a:t/>
            </a:r>
          </a:p>
          <a:p>
            <a:r>
              <a:t>Пострелизный мониторинг тональности — автоматизированный и частично ручной анализ упоминаний в открытых источниках после выхода материала в публичное пространство; здесь выборка — не заранее отобранная контролируемая группа, а все, кто решил высказаться сам, без всякой заданной исследователем рамки вопросов. Именно поэтому пострелизный мониторинг способен уловить реакцию на обстоятельства, которые никто заранее не включил в анкету предрелизного теста: если зрителя возмущает сам факт, что ролик сгенерирован моделью, а не насколько он эмоционально приятен, открытая аудитория скажет об этом сама, без подсказки, тогда как предрелизная анкета, не содержащая такого вопроса, этот сигнал просто не зафиксирует.</a:t>
            </a:r>
          </a:p>
          <a:p>
            <a:r>
              <a:t/>
            </a:r>
          </a:p>
          <a:p>
            <a:r>
              <a:t>По итогам предрелизного тестирования принимается решение — выпускать материал в текущем виде, дорабатывать конкретный элемент или полностью отменять запланированный выпуск. По итогам пострелизного мониторинга принимается другое, отложенное во времени решение — продолжать ли уже запущенную кампанию, снимать ли её с публикации досрочно и, что важнее для долгосрочной стратегии бренда, повторять ли тот же творческий подход в будущих кампаниях того же бренда.</a:t>
            </a:r>
          </a:p>
          <a:p>
            <a:r>
              <a:t/>
            </a:r>
          </a:p>
          <a:p>
            <a:r>
              <a:t>Стадия стоит после редакционного контроля не случайно: тестирование реакции аудитории логически идёт после того, как материал прошёл проверку, — бессмысленно измерять, понравился ли ролик, если в нём, например, не урегулировано право на использованный материал. Тогда сначала решается более базовый вопрос существования материала как законного продукта, и только потом — вопрос его эмоционального приёма. Зачем это инженеру: любая система автоматического контроля качества откалибрована под заранее заданный набор метрик, и появление нового класса риска требует добавления нового, отдельного теста — доверие к тому, что существующий набор его автоматически покроет, разбор дальше покажет на конкретных цифрах, почему это доверие не оправдалось.</a:t>
            </a:r>
          </a:p>
          <a:p>
            <a:r>
              <a:t/>
            </a:r>
          </a:p>
          <a:p>
            <a:r>
              <a:t>A/B-тестирование вариантов на ограниченной выборке аудитории — до появления генеративных моделей ограниченное тем, что каждый альтернативный вариант ролика нужно было произвести отдельно, вручную, с привлечением актёров и съёмочной группы; поэтому на практике тестировали обычно два-три варианта одной и той же концепции, редко больше. Типовой процесс до появления генеративных моделей видео: агентство снимает один, реже два варианта ролика — дорогостоящая операция, живые актёры, полноценная съёмочная группа, многодневный постпродакшн, — и показывает черновой монтаж фокус-группе. Ключевое свойство этого классического режима: он дорог именно потому, что дорого произвести больше одного-двух вариантов, и именно эта дороговизна производства исторически и была частью самого сигнала, который считывал зритель, даже не задумываясь об этом явно — ролик крупного бренда выглядел определённым образом именно потому, что был снят профессиональной студией с реальным бюджетом, и это считывалось как узнавание: «это сделано профессионально, у этого бренда есть ресурсы и репутация».</a:t>
            </a:r>
          </a:p>
          <a:p>
            <a:r>
              <a:t/>
            </a:r>
          </a:p>
          <a:p>
            <a:r>
              <a:t>Генеративная модель обнуляет именно эту часть цены: теперь можно произвести не один-два, а десятки тысяч вариантов одного ролика почти бесплатно, что меняет не только экономику производства, но и саму природу того, что на самом деле тестирует предрелизная фокус-группа, когда перед ней оказывается ролик, произведённый этим новым способом. Именно рекламная индустрия, а не кинопроизводство в целом, даёт самый измеримый материал: рекламный ролик по своей природе существует в сжатом временном формате и должен произвести максимальный эмоциональный эффект за минимальное время показа — это именно та задача, для которой десятилетиями разрабатывались и валидировались инструменты предрелизного измерения реакции.</a:t>
            </a:r>
          </a:p>
          <a:p>
            <a:r>
              <a:t/>
            </a:r>
          </a:p>
          <a:p>
            <a:r>
              <a:t>Зачем это инженеру: та же логика переносится на любой продукт, где раньше дороговизна производства неявно служила сигналом качества и серьёзности намерений производителя. Как только производство этого артефакта резко дешевеет, старый неявный сигнал перестаёт что-либо гарантировать, и его нужно заменить явным сигналом, иначе потребитель продолжит по инерции доверять форме, за которой больше не стоит прежнее содержание.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Генеративная модель, применённая на стадии релиза, хорошо делает одну конкретную, измеримую вещь: позволяет произвести и прогнать через предрелизное тестирование количество вариантов, принципиально недостижимое при ручном производстве того же масштаба. Если раньше тестировали два-три варианта ролика, ограниченных бюджетом съёмки, то теперь можно сгенерировать десятки тысяч коротких клипов, скомпоновать из них финальный монтаж и выбрать ту комбинацию, которая по формальным метрикам получает наивысший балл у предрелизной панели. С точки зрения чистой оптимизации по заданной метрике это объективное технологическое достижение — ни один человеческий творческий коллектив не может вручную произвести и протестировать такое количество вариантов за сопоставимое время и бюджет.</a:t>
            </a:r>
          </a:p>
          <a:p>
            <a:r>
              <a:t/>
            </a:r>
          </a:p>
          <a:p>
            <a:r>
              <a:t>Чего она не делает: классический инструмент предрелизного тестирования исторически создан, откалиброван и валидирован на протяжении десятилетий для измерения одной конкретной вещи — эмоционального и ассоциативного отклика человека на креативное содержание ролика как таковое: насколько история трогает, насколько музыка запоминается, насколько финальный кадр ассоциируется с логотипом. Этот инструмент не создавался и не предназначен для измерения отдельного, качественно иного сигнала — воспринимает ли зритель материал как сделанный человеком или произведённый моделью, и как сам этот факт, независимо от эмоционального качества исполнения, повлияет на отношение зрителя к бренду, когда он об этом узнает, а узнаёт он, как показывает практика последних лет, почти всегда — производители сами объявляют о способе производства как о технологическом достижении.</a:t>
            </a:r>
          </a:p>
          <a:p>
            <a:r>
              <a:t/>
            </a:r>
          </a:p>
          <a:p>
            <a:r>
              <a:t>Иначе говоря: предрелизная панель может совершенно честно и методологически корректно оценить, насколько конкретный ролик эмоционально резонирует с заданной целевой аудиторией, и при этом абсолютно ничего не сказать о том, как отреагирует открытая, неотобранная аудитория именно на факт его AI-происхождения, потому что это два разных по природе измерения, направленных на разные свойства одного и того же объекта, а используемый инструмент спроектирован и откалиброван только под одно из этих двух измерений.</a:t>
            </a:r>
          </a:p>
          <a:p>
            <a:r>
              <a:t/>
            </a:r>
          </a:p>
          <a:p>
            <a:r>
              <a:t>Прежде чем перейти к числам конкретного разбора, стоит задать и обратный вопрос: существует ли задокументированный случай, в котором классическая предрелизная панель заранее, до публикации, поймала риск, связанный именно с фактом AI-происхождения материала, а не с эмоциональным качеством ролика как такового? Специальный проход по источникам, собранным для этой лекции, такого случая не нашёл: ни один из цитируемых дальше материалов не описывает ad-testing панель, которая отдельно спросила бы респондентов о реакции на сам факт генерации и на основании этого ответа остановила или изменила бы кампанию до выхода в эфир. Это не означает, что подобного не случалось нигде и никогда — индустрия предрелизного тестирования не публикует все свои внутренние отчёты, и предрелизная поимка риска, в отличие от постфактумного провала, почти никогда не становится публичной историей именно потому, что успешно предотвращённый кризис не производит заголовка. Но при добросовестном поиске единственное, что удалось найти, — это сам факт отсутствия такого задокументированного случая, и правильнее предъявить этот пробел явно, чем молчанием создать впечатление, будто индустрия давно решила эту задачу.</a:t>
            </a:r>
          </a:p>
          <a:p>
            <a:r>
              <a:t/>
            </a:r>
          </a:p>
          <a:p>
            <a:r>
              <a:t>Зачем это инженеру: любой автоматизированный процесс контроля качества, спроектированный для измерения одного конкретного свойства продукта, системно не заметит проблему другого рода, если вопрос про это второе свойство не был явно заложен в методологию проверки с самого начала. Высокая оценка по одной метрике не гарантирует отсутствия провала по другой, не измеренной метрике — и это общее наблюдение подтверждается дальше конкретным числовым расхождением, которое разбор покажет на материале одной реальной кампании.</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конце 2023 — начале 2024 года сразу две кампании с явным и широко разрекламированным использованием генеративного видео вызвали заметную негативную реакцию открытой аудитории. Toys «R» Us выпустила ролик «The Origin of Toys 'R' Us» — художественную историю происхождения бренда, сгенерированную с помощью текст-в-видео модели Sora, на тот момент демонстрационного продукта OpenAI, совместно со студией Native Foreign, представленный как часть возвращения бренда на рынок в феврале 2024 года. Примерно в тот же период похожую по направлению реакцию получила и праздничная кампания Coca-Cola, также произведённая с использованием генеративного видео вместо классической съёмки.</a:t>
            </a:r>
          </a:p>
          <a:p>
            <a:r>
              <a:t/>
            </a:r>
          </a:p>
          <a:p>
            <a:r>
              <a:t>Сводное измерение тональности упоминаний обеих кампаний, опубликованное изданием Marketing-Interactive со ссылкой на данные аналитической компании CARMA — компания специализируется на мониторинге медиа и PR-аналитике и работает на рынке более 40 лет, обслуживая тысячи брендов-клиентов, — даёт конкретные, проверяемые цифры: доля позитивных упоминаний упала с 12,2% до 3,4%, доля негативных упоминаний выросла с 13,5% до 53,4%, доля нейтральных изменилась с 74,3% до 43,2%. Третье число здесь не лишняя деталь для полноты — оно позволяет проверить внутреннюю арифметическую непротиворечивость измерения: позитивные, негативные и нейтральные упоминания в сумме дают проверяемые 100% как до выхода кампании, так и после — 12,2 плюс 13,5 плюс 74,3 равно 100,0; 3,4 плюс 53,4 плюс 43,2 равно те же 100,0, — что подтверждает: перед нами не выборочно процитированный фрагмент большего набора данных, а полная структура измеренной тональности.</a:t>
            </a:r>
          </a:p>
          <a:p>
            <a:r>
              <a:t/>
            </a:r>
          </a:p>
          <a:p>
            <a:r>
              <a:t>Здесь необходима честная методологическая оговорка, без которой приведённое число выглядит точнее, чем оно есть на самом деле. CARMA — реальная, давно существующая на рынке компания с публично проверяемой историей, и приведённые проценты реально ей атрибутированы в проверяемой публикации — это не выдуманная цифра. Но ни оригинальная публикация, ни последующие цитирования в других изданиях не раскрывают, на какой именно платформе и на какой по размеру выборке упоминаний были получены эти проценты. Это не повод отбрасывать число вовсе — компания с сорокалетней историей и тысячами клиентов-брендов не имеет очевидного коммерческого мотива фабриковать данные, которые легко проверить повторным измерением, — но это честный, названный прямо пробел в публичной методологии измерения, который следует проговаривать открыто, а не замалчивать ради более эффектной иллюстрации.</a:t>
            </a:r>
          </a:p>
          <a:p>
            <a:r>
              <a:t/>
            </a:r>
          </a:p>
          <a:p>
            <a:r>
              <a:t>Публикации, описывавшие негативную реакцию на оба ролика, называли их «бездушными» и сравнивали с «жутковатой антиутопией» — формулировки, которые указывают не на недовольство качеством истории или музыки, а на нечто более специфическое: ощущение, что праздничная реклама, традиционно апеллирующая к теплу, семейным ценностям и человеческой заботе, произведена без участия живых людей на тех этапах, где их присутствие раньше подразумевалось как часть самого смысла продукта. Праздничная реклама крупного бренда — не нейтральный информационный материал вроде финансового объяснительного текста CNET; это жанр, построенный на обещании человеческой теплоты, и узнавание в нём работает иначе: зритель не просто верит, что ролик профессионально сделан, — он считывает, или раньше считывал бесплатно, человеческое авторство как часть самого эмоционального сообщения. Когда это узнавание подделывается, разрушается не абстрактное доверие к бренду вообще, а конкретное ожидание жанра, и именно поэтому реакция оказывается настолько острой именно в праздничной, семейно-ориентированной рекламе.</a:t>
            </a:r>
          </a:p>
          <a:p>
            <a:r>
              <a:t/>
            </a:r>
          </a:p>
          <a:p>
            <a:r>
              <a:t>Зачем это инженеру: цифры CARMA — это ровно та пострелизная реакция, которую § 3.2 назвал слепой зоной предрелизного инструмента. Но самое показательное в этом разборе — не сами проценты, а то, что случилось годом позже, когда Coca-Cola повторила подход и прогнала новый ролик через классическую предрелизную панель. Об этом —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механизма генерации, пройденный в начале этого вечера, объясняет теперь и число, которое звучало в предыдущем кадре без объяснения: почему понадобилось именно семьдесят тысяч сгенерированных клипов, а не несколько десятков, чтобы собрать один финальный ролик. Каждый клип — независимый прогон диффузии, той же самой диффузии, которую мы разобрали на материале изображения: денойзер видит все кадры одного клипа одновременно и держит персонажа, сцену и освещение стабильными внутри этого одного прогона.</a:t>
            </a:r>
          </a:p>
          <a:p>
            <a:r>
              <a:t/>
            </a:r>
          </a:p>
          <a:p>
            <a:r>
              <a:t>Но между двумя раздельными запусками, даже с идентичным текстовым промптом, нет связующего механизма. Мы уже назвали это заблуждением третьим в техническом блоке: стартовый шум, с которого начинается денойзинг, выбирается случайно при каждом новом запуске, если его специально не зафиксировать. Разный стартовый шум означает разную траекторию снятия шума, а разная траектория означает разную итоговую композицию — два независимых запуска с подробно описанным одним и тем же персонажем, тем же возрастом, цветом волос и глаз, той же одеждой, дают на выходе заметно разных людей, разное освещение, разную сцену. Это не брак конкретной модели и не недоработка конкретного продукта — это прямое следствие того, что «единица генерации» здесь не одна картинка, а целый клип, и согласованность внутри клипа не переносится на согласованность между клипами.</a:t>
            </a:r>
          </a:p>
          <a:p>
            <a:r>
              <a:t/>
            </a:r>
          </a:p>
          <a:p>
            <a:r>
              <a:t>Вот почему команде, собиравшей этот ролик, физически пришлось сгенерировать такое количество клипов, а не меньшее: раз согласованность между прогонами не гарантирована устройством модели, единственный способ получить достаточно кадров, где персонаж, свет и сцена выглядят приемлемо похожими друг на друга при монтаже, — произвести избыточно много вариантов и отобрать из них подходящие постфактум, а не рассчитывать, что модель сама удержит целостность на протяжении всего ролика. Нагрузка, которая раньше лежала на операторе и постановщике света, удерживающих непрерывность кадра физически, во время самой съёмки, — переехала на отсмотр и монтаж: не исчезла, а перебралась на другой шаг цикла, который теперь несёт объём, несопоставимый с количеством дублей классической съёмки.</a:t>
            </a:r>
          </a:p>
          <a:p>
            <a:r>
              <a:t/>
            </a:r>
          </a:p>
          <a:p>
            <a:r>
              <a:t>Это прямое следствие того же механизма, который мы уже объяснили на изображении, а не странность конкретного вендора видеогенерации. И это ровно та форма, с которой лекция работает дальше: обвал цены исполнения не бесплатен сам по себе — он перекладывает часть прежней работы на новый, именованный шаг, который дальше по лекции получит собственное слово в словаре форм.</a:t>
            </a:r>
          </a:p>
          <a:p>
            <a:r>
              <a:t/>
            </a:r>
          </a:p>
          <a:p>
            <a:r>
              <a:t>Честная граница знания здесь, а не впечатление, что проблема уже решена где-то за кадром. Индустрия активно работает над методами, которые дали бы видео-диффузии память между прогонами — генерация по референсному кадру, условные подходы, фиксирующие часть состояния между запусками, — но на дату этой лекции эти методы остаются развивающейся областью, а не стандартным, повсеместно внедрённым решением. Формулировка «нет связующего механизма между независимыми запусками» описывает устройство класса моделей, а не навсегда замороженное состояние технологии: то, что дорого вычислительно сегодня, может стать дешёвым завтра, и именно поэтому курс называет это ограничение честно, а не окончательным приговором классу задачи.</a:t>
            </a:r>
          </a:p>
          <a:p>
            <a:r>
              <a:t/>
            </a:r>
          </a:p>
          <a:p>
            <a:r>
              <a:t>Связь с разбором, который лекция только что прошла внутри раздела о продакшне: та же случайность стартового шума, которая здесь объясняет, почему семьдесят тысяч клипов — не чистый маркетинг, там объясняла, почему один и тот же промпт не даёт одну и ту же картинку. Это один факт об устройстве диффузии, применённый на двух разных масштабах — один кадр и целый клип, — а не два разных факта, которые совпали по случайности.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2025 году Coca-Cola повторила генеративный подход во второй праздничный кампании подряд — на этот раз с продюсерской студией Silverside AI, скомпоновавшей финальный ролик из 70 000 отдельно сгенерированных клипов. Этот ролик прошёл классическое предрелизное тестирование — независимая панель оценки рекламы System1 «Test Your Ad», использующая собственную давно откалиброванную стандартизированную шкалу «звёзд», исторически обоснованную связью эмоционального отклика с долгосрочным ростом бренда и верхней границей шкалы на отметке 5,9, а не на круглом числе 5 или 10, присвоила ролику 5,9 звезды — верхнюю границу собственной шкалы System1, то есть формально максимально возможную по этой методологии оценку.</a:t>
            </a:r>
          </a:p>
          <a:p>
            <a:r>
              <a:t/>
            </a:r>
          </a:p>
          <a:p>
            <a:r>
              <a:t>Методология System1 — отдельно, потому что без неё легко недооценить силу найденного расхождения. Шкала «звёзд» этой компании построена не произвольно, а на многолетней работе по сопоставлению результатов предрелизных панельных тестов с последующим коммерческим успехом реальных кампаний — долгосрочным ростом продаж и доли рынка бренда, измеренным уже после выхода кампании в широкий эфир. Индустрия относится к этой шкале серьёзно именно потому, что исторически высокий балл по ней статистически ассоциировался с последующим коммерческим успехом кампании в целом. Это делает расхождение с реакцией CARMA ещё более показательным: инструмент, который обычно хорошо предсказывает именно коммерческую судьбу ролика, в данном случае ничего не сказал о надвигающейся репутационной волне, потому что коммерческий успех рекламы и доверие аудитории к способу её производства — хоть и связанные, но разные величины, и высокий балл по первой не означает благополучия по второй.</a:t>
            </a:r>
          </a:p>
          <a:p>
            <a:r>
              <a:t/>
            </a:r>
          </a:p>
          <a:p>
            <a:r>
              <a:t>Это и есть граница графы (б), а не (а): две оценки — предрелизная панель, выставленная до или вскоре после выхода ролика контролируемой методологией, и пострелизная тональность открытой, неотобранной аудитории, собранная из спонтанных публичных упоминаний, — измеряют качественно разные вещи, в разных единицах измерения, на разных этапах жизненного цикла ролика и на принципиально разных по формированию выборках респондентов. Прямого арифметического пересчёта одной шкалы в другую не существует и не может существовать — звёзды эмоционального отклика панели System1 нельзя механически перевести в проценты тональности социальных сетей CARMA. Сопоставлять эти два числа напрямую как единую величину нельзя; но сопоставить их как две методологии измерения одного и того же ролика, которые дали противоположный по направлению содержательный сигнал об одном и том же творческом продукте в один и тот же период времени, — можно, и именно в этом состоит контринтуитивная находка раздела.</a:t>
            </a:r>
          </a:p>
          <a:p>
            <a:r>
              <a:t/>
            </a:r>
          </a:p>
          <a:p>
            <a:r>
              <a:t>Классический инструмент предрелизного тестирования не провалился в том смысле, что дал ложную оценку эмоционального качества ролика как творческого продукта — по всей видимости, ролик действительно хорошо резонировал эмоционально с контролируемой панелью System1, иначе он объективно не получил бы почти максимальный балл по шкале, откалиброванной на тысячах предыдущих кампаний самых разных брендов. Открытая, самостоятельно высказавшаяся аудитория после публикации отреагировала резко отрицательно. Разрыв между двумя измерениями не доказывает, что один инструмент объективно хуже другого по качеству методологии; он показывает нечто более точное и более полезное для инженера — что это два разных по измеряемому предмету инструмента, и предрелизная панель системно не ловит один конкретный сигнал: отношение зрителя к самому факту AI-происхождения материала, независимо от его эмоционального качества как такового.</a:t>
            </a:r>
          </a:p>
          <a:p>
            <a:r>
              <a:t/>
            </a:r>
          </a:p>
          <a:p>
            <a:r>
              <a:t>Узнавание здесь работает ровно так же, как и в случае CNET: до появления генеративного видео сам факт присутствия дорогой профессиональной съёмки неявно подтверждал зрителю, что материал сделан студией с настоящей репутацией и настоящим бюджетом — а теперь этот прежде бесплатный и надёжный сигнал можно подделать дёшево, оставив при этом формальное эмоциональное качество ролика высоким и одновременно разрушив доверие открытой аудитории к самому факту его происхождения, который предрелизный инструмент даже не пытался измерить.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отличие от CNET, где раскрытие факта AI-авторства привело к увольнениям и видимой, задокументированной кадровой реакции компании, в случае Coca-Cola реакция производителя оказалась ровно обратной по направлению: несмотря на задокументированную и измеренную негативную реакцию открытой аудитории в 2024 году, компания не отказалась от генеративного подхода и повторила его во второй праздничный сезон подряд с ещё большим объёмом генерации, получив повторно ту же по направлению негативную реакцию аудитории. Это расхождение само по себе — наблюдение, достойное отдельного внимания инженера: задокументированный провал не всегда меняет поведение производителя, особенно если у производителя есть основания полагать — например, по внутренним метрикам охвата и узнаваемости, которые не публикуются, — что негативное внимание всё равно работает на знание о бренде сильнее, чем молчаливое безразличие.</a:t>
            </a:r>
          </a:p>
          <a:p>
            <a:r>
              <a:t/>
            </a:r>
          </a:p>
          <a:p>
            <a:r>
              <a:t>Это решение не осталось анонимным корпоративным выбором — у него есть названное лицо и прямая цитата. Пратик Тхакар, глобальный вице-президент и руководитель направления генеративного ИИ в Coca-Cola, защищая повторный запуск AI-ролика на фоне продолжающейся негативной реакции, сформулировал позицию компании в интервью The Hollywood Reporter одной фразой: «джинн уже выпущен из бутылки, и обратно его не загнать», а на сцене отраслевой конференции Adweek Brandweek 2025 повторил ту же мысль ещё резче: «либо вы возглавляете это движение, либо продолжаете о нём плакать». Это именно тот голос, который объясняет наблюдение выше не предположением о скрытых метриках, а прямым утверждением человека с должностью и мандатом внутри компании: Тхакар рассуждает не в категориях краткосрочной тональности реакции на конкретный ролик, а в категориях технологического перехода, который, по его собственной формулировке, бессмысленно останавливать, — и именно эта рамка, а не результат измерения CARMA, определила решение повторить подход во второй раз подряд.</a:t>
            </a:r>
          </a:p>
          <a:p>
            <a:r>
              <a:t/>
            </a:r>
          </a:p>
          <a:p>
            <a:r>
              <a:t>У ролика 2025 года есть и второй названный человек, с другой стороны той же сделки — Джейсон Зада, основатель и креативный директор продюсерской студии Secret Level, которая работала над роликом совместно с Silverside AI. В интервью The Hollywood Reporter Зада назвал конкретную цифру изменения состава команды: над роликом работало около 20 человек, тогда как классическое производство ролика сопоставимого масштаба потребовало бы, по его собственной оценке, порядка 50. Это та же пропорция сжатия, которую лекция уже видела на материале продакшна — там в деньгах за единицу контента, здесь в численности самой команды, — только проговорённая не аналитиком со стороны, а человеком, который эту команду лично собирал и которому предстоит снова её собирать на следующую кампанию. Для инженера в этой паре цитат важна именно симметрия: один названный человек объясняет, почему компания не отступает от подхода на уровне стратегии, другой — что конкретно для него самого изменилось на уровне состава команды, и оба говорят от первого лица и под собственным именем, а не анонимной цитатой «представитель компании».</a:t>
            </a:r>
          </a:p>
          <a:p>
            <a:r>
              <a:t/>
            </a:r>
          </a:p>
          <a:p>
            <a:r>
              <a:t>Нагрузка по распознаванию подделки сигнала переехала на зрителя: предрелизная панель не поймала проблему, следовательно, единственным фактическим фильтром осталась открытая аудитория постфактум, когда материал уже опубликован и репутационный эффект уже случился и начал распространяться. Появился новый тип риска там, где раньше существовал преимущественно риск качества исполнения: риск бренд-доверия, который не коррелирует напрямую с формальной эмоциональной оценкой ролика и который классические предрелизные инструменты, спроектированные для другой задачи, системно недооценивают, потому что не измеряют именно его.</a:t>
            </a:r>
          </a:p>
          <a:p>
            <a:r>
              <a:t/>
            </a:r>
          </a:p>
          <a:p>
            <a:r>
              <a:t>Так же, как и в случае CNET: какое конкретное, недорогое изменение процедуры предрелизного тестирования могло бы заранее обнаружить риск? Ответ методологически прост и от этого ещё более показателен: достаточно было бы добавить в анкету панели один прямой вопрос — знает ли участник, что ролик создан генеративной моделью, и как это знание меняет его отношение к бренду, — отдельно от вопросов об эмоциональном качестве самого ролика. До появления генеративного видео такой вопрос не имел смысла включать в анкету, потому что переменной, которую он измерял бы, попросту не существовало.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Coca-Cola/Toys «R» Us и контекст политики YouTube вместе показывают одну и ту же форму сдвига на разном материале. Нагрузка по распознаванию подлинности переехала на зрителя и читателя: ни предрелизное тестирование, которое измеряет не то свойство материала, для которого оно спроектировано, ни действующая политика крупнейшей видеоплатформы мира, которая не требует раскрытия факта генерации при соблюдении более широкой нормы добросовестности, не берут эту задачу распознавания на себя — значит, по факту её решает только сам зритель, своими силами, постфактум, без специального инструмента.</a:t>
            </a:r>
          </a:p>
          <a:p>
            <a:r>
              <a:t/>
            </a:r>
          </a:p>
          <a:p>
            <a:r>
              <a:t>Появился новый тип риска, которого не существовало в этой форме, пока узнавание было дорогим для подделки, — риск бренд-доверия, отдельный и методологически независимый от риска качества исполнения: ролик может получить максимальную формальную оценку по эмоциональному качеству, как показала панель System1, и одновременно резко разрушить доверие открытой аудитории фактом своего происхождения, как показала тональность CARMA, и оба эти измерения будут при этом корректны каждое в своих собственных терминах.</a:t>
            </a:r>
          </a:p>
          <a:p>
            <a:r>
              <a:t/>
            </a:r>
          </a:p>
          <a:p>
            <a:r>
              <a:t>Этот сдвиг — симметричное дополнение к находке раздела о редакционном контроле: там подделываемое узнавание обнажило то, что индустрия и так не исправляла системно — фоновую частоту фактических ошибок, которую никто специально не искал; здесь оно создаёт качественно новый риск, которого раньше просто не существовало в этой форме, потому что подделать профессиональное происхождение рекламного ролика было технически и экономически невозможно при прежней стоимости производства.</a:t>
            </a:r>
          </a:p>
          <a:p>
            <a:r>
              <a:t/>
            </a:r>
          </a:p>
          <a:p>
            <a:r>
              <a:t>Контекст, подтверждающий этот вывод на уровне платформенного регулирования: действующая политика YouTube на 2026 год разрешает AI-сгенерированные миниатюры видео без обязательного раскрытия этого факта зрителю — единственное ограничение состоит в том, что миниатюра не должна вводить зрителя в заблуждение о фактическом содержании видео. Количественных данных о реакции аудитории именно на AI-миниатюры в проверяемом виде не нашлось, и раздел не предъявляет чисел, которых нет, — но сам факт правила показывает то же самое структурное решение, что и у предрелизного тестирования: регулятор платформенного уровня сознательно не требует создавать сигнал происхождения там, где дешёвая подделка узнавания формально не нарушает более старую норму добросовестности.</a:t>
            </a:r>
          </a:p>
          <a:p>
            <a:r>
              <a:t/>
            </a:r>
          </a:p>
          <a:p>
            <a:r>
              <a:t>Оба раздела рядом, прежде чем лекция перейдёт дальше, к вопросу о деньгах. В обоих случаях до генеративных моделей был механизм, который проверял достоверность бесплатно для потребителя: подпись автора проверяла происхождение текста, дорогая профессиональная съёмка неявно проверяла происхождение и серьёзность ролика. В обоих случаях генеративная модель оставила форму сигнала нетронутой — подпись выглядит как подпись, ролик выглядит профессионально снятым — и обнулила издержки его подделки. В обоих случаях находка оказалась контринтуитивной: не «AI хуже справляется с задачей» — частота ошибок CNET сопоставима с отраслевой нормой, эмоциональная оценка ролика Coca-Cola была почти максимальной, — а «то, что раньше гарантировалось бесплатно и незаметно, теперь требует отдельной, явной проверки, которую никто пока системно не встроил в процесс».</a:t>
            </a:r>
          </a:p>
          <a:p>
            <a:r>
              <a:t/>
            </a:r>
          </a:p>
          <a:p>
            <a:r>
              <a:t>Риторически: кто уже видел внутри своей компании расхождение между результатом контролируемого теста и открытой реакцией реальных пользователей — не обязательно про рекламу?</a:t>
            </a:r>
          </a:p>
          <a:p>
            <a:r>
              <a:t/>
            </a:r>
          </a:p>
          <a:p>
            <a:r>
              <a:t>Дальше лекция берёт ту же логику подделываемого узнавания и прикладывает её к счёту: кто платит за узнавание на всех масштабах разом — права на обучающие данные, кадровый рынок отрасли, целая компания. Там разрыв между формой и содержанием измеряется не в процентах тональности и не в звёздах панели, а в объявленных лицензионных тарифах, масштабах обучающих датасетов и исходах — или отсутствии исходов — судебных разбирательств.</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Распознавание постфактум — попытка посмотреть на готовый файл и статистически угадать, подделка он или нет, — работает хорошо внутри узкого, знакомого распределения и ненадёжно вне его, причём неустранимо ненадёжно, не как временный недостаток конкретной реализации. Если распознавание постфактум структурно хрупкое, разумный следующий шаг — не «построить детектор получше», а спросить, нужно ли решать именно эту задачу этим способом вообще.</a:t>
            </a:r>
          </a:p>
          <a:p>
            <a:r>
              <a:t/>
            </a:r>
          </a:p>
          <a:p>
            <a:r>
              <a:t>C2PA (Coalition for Content Provenance and Authenticity) предлагает другой класс инструмента — не распознавание, а происхождение: криптографически подписанный манифест, встроенный в файл в момент его создания камерой или редактирования программой, фиксирующий, кто и чем произвёл или изменил этот файл. Leica M11-P — первая серийная камера с нативной поддержкой Content Credentials, вышла в октябре 2023 года; к 2026 году список расширился до нескольких моделей Leica и заявлений от Nikon, Canon, Fujifilm, Panasonic, а Google Pixel 10 подписывает по умолчанию все фотографии.</a:t>
            </a:r>
          </a:p>
          <a:p>
            <a:r>
              <a:t/>
            </a:r>
          </a:p>
          <a:p>
            <a:r>
              <a:t>Важная деталь для честной рамки: стандарт применяется не только для подтверждения «это снято камерой» — с февраля 2024 года OpenAI проставляет C2PA-манифест на изображения, сгенерированные DALL-E 3 и в ChatGPT, то есть стандарт используется и для прозрачной, заявленной маркировки «это сгенерировано моделью», что прямо противоположно скрытому происхождению, разобранному на кейсе CNET. С мая 2026 года OpenAI присоединилась к руководящему комитету C2PA и добавила водяной знак SynthID поверх Content Credentials. TikTok промаркировал свыше 3 миллиардов AI-сгенерированных или AI-отредактированных видео (июль 2026) — крупнейшее известное применение стандарта на 2026 год; ни эта цифра, ни более ранняя в 1,3 миллиарда не сопровождаются знаменателем — долей от общего объёма видео на платформе за тот же период, — и этот знаменатель не найден в открытых источниках.</a:t>
            </a:r>
          </a:p>
          <a:p>
            <a:r>
              <a:t/>
            </a:r>
          </a:p>
          <a:p>
            <a:r>
              <a:t>Честная граница этой альтернативы не менее важна, чем её сила. Манифест подтверждает происхождение файла, а не правдивость его содержания: криптографическая подпись гарантирует только то, что с момента подписания манифест не был изменён недекларированным образом, а не то, что изображение правдиво изображает реальное событие. Манифест можно потерять при пересохранении файла без поддержки стандарта — скриншот, конвертация формата, многие сценарии повторной публикации в соцсетях, — и у файла без проверяемой цепочки происхождения ответ остаётся «неизвестно», а не «подделка» и не «подлинник». Распознавание постфактум отвечает на вопрос «похоже ли это статистически на подделку» и обходится новым генератором; происхождение отвечает на другой вопрос — «есть ли у файла проверяемая цепочка создания» — и не подвержено той же хрупкости, но оставляет без ответа весь материал, у которого такой цепочки никогда не было. Мост к Лекции 14: там — что с этим делает защита предприятия, процедуры и каналы подтверждения против адаптивного противника; здесь — устройство и пределы самого распознавателя.</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Артефакт, который мы ведём через лекцию, прошёл три проверки: кто-то его сделал, кто-то проверил результат, аудитория отреагировала. Остаётся последняя точка пути — и устроена она иначе, чем первые три: она не про то, что показано, а про то, было ли вообще куплено право это показывать. Отрасль называет эту стадию правами и лицензированием: проверкой, лицензировано ли каждое изображение, каждая музыкальная дорожка, каждый голос и кусок текста, вошедшие в готовый продукт — и, отдельно, лицензированы ли материалы, на которых была обучена модель.</a:t>
            </a:r>
          </a:p>
          <a:p>
            <a:r>
              <a:t/>
            </a:r>
          </a:p>
          <a:p>
            <a:r>
              <a:t>Рядом с изображением, музыкой и текстом стоит четвёртый вид материала — голос и внешность конкретного человека, и у него лицензирование устроено строже: право на использование чужого образа или голоса никогда не продаётся агрегатором оптом, оно всегда результат прямых переговоров с самим человеком или с его профсоюзом.</a:t>
            </a:r>
          </a:p>
          <a:p>
            <a:r>
              <a:t/>
            </a:r>
          </a:p>
          <a:p>
            <a:r>
              <a:t>Этот раздел проходит счёт на трёх масштабах одной и той же нагрузки: один прослеживаемый человек — иллюстратор Лада Чижова, чей открытый дневник даёт возможность увидеть не абстрактную статистику, а конкретную судьбу; масса фрилансеров целой отрасли — официальная статистика крупнейшей в мире биржи найма Upwork; целая компания — Getty Images, которая поставила на карту $3,7 миллиарда, чтобы защититься слиянием от того же давления, и обанкротилась через полтора года. Три масштаба одного и того же вопроса: что происходит с ценой узнавания, когда её можно подделать бесплатно, — и три источника данных разной точности: отчётность фриланс-платформ, статистика занятости и корпоративная отчётность.</a:t>
            </a:r>
          </a:p>
          <a:p>
            <a:r>
              <a:t/>
            </a:r>
          </a:p>
          <a:p>
            <a:r>
              <a:t>Раздел пройдёт эту точку по порядку. Сначала — классика лицензирования фотографии, музыки и, отдельно, голоса и внешности, где обнаружится исключение, которое стоит удержать до конца раздела. Затем — что меняет генеративная модель: два разных пути к одной развилке, заплатить заранее по известной цене или не платить и рискнуть неизвестной — на единственном направлении из трёх, дошедшем до реального вердикта, Getty Images против Stability AI, и на двух направлениях, у которых итога пока нет вовсе: NYT против OpenAI и расколотый по стратегии кластер исков против Suno и Udio. Дальше — кадровый рынок: Лада Чижова, Upwork, Getty Images-банкротство. И, наконец, Сборка: проверяемый чек-лист критериев отказа, словарь форм переехавшей нагрузки, поимённый ответ на вопрос лекции и честный счёт сквозной числовой линии.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Способов получить право на использование материала в классическом производстве три. Первый — покупка готовой лицензии у агрегатора: фотобанк, музыкальная библиотека уже договорились с правообладателями оптом и продают право использования единицы по прейскуранту. Второй — прямые переговоры с правообладателем о правах на конкретное произведение: цена не фиксирована, обсуждается индивидуально и обычно выше, потому что право эксклюзивно или ограничено. Третий появляется только тогда, когда первые два пропущены: кто-то использовал материал без лицензии, правообладатель узнал, и вопрос «кто заплатит» переходит в суд — это не способ получить право заранее, а механизм, который включается, когда право не было получено.</a:t>
            </a:r>
          </a:p>
          <a:p>
            <a:r>
              <a:t/>
            </a:r>
          </a:p>
          <a:p>
            <a:r>
              <a:t>Решение стадии в крупной организации устроено не как решение одного человека, а как отдельный контрольный проход — клиринг прав перед публикацией плюс страхование ответственности за интеллектуальную собственность (errors &amp; omissions) на случай, если клиринг всё же пропустит нелицензированный материал.</a:t>
            </a:r>
          </a:p>
          <a:p>
            <a:r>
              <a:t/>
            </a:r>
          </a:p>
          <a:p>
            <a:r>
              <a:t>Стоковая фотография продаётся по двум ценовым полюсам: розница, разовая покупка, — $130–499 за изображение; опт, подписка на пакет — порядка $2,5 за штуку. Разница — не ошибка прейскуранта, а экономика объёма: агрегатор несёт фиксированные издержки один раз, они размазываются на тысячи транзакций подписчика. Музыка устроена похоже: стандартная стоковая лицензия на трек — $20–100, расширенная — $100–500+; кастомный заказ композитору стоит на порядок дороже и занимает недели, потому что покупается не право на существующий объект, а создание нового. У музыки есть и четвёртый механизм — коллективное управление правами; для обучения моделей эта инфраструктура на 2026 год в промышленном масштабе не запущена ни для одной схемы.</a:t>
            </a:r>
          </a:p>
          <a:p>
            <a:r>
              <a:t/>
            </a:r>
          </a:p>
          <a:p>
            <a:r>
              <a:t>У голоса и внешности конкретного человека рынок устроен не так, как у фото, музыки и текста. Фотобанк продаёт право на уже существующий, обезличенный от исполнителя объект; голос и внешность лицензируются иначе — право возобновляется для каждого нового коммерческого применения отдельно, потому что объектом лицензии выступает узнаваемая личность, а не копия записи как артефакта. Отраслевой прейскурант, GVAA Rate Guide: право использовать запись голоса в национальной рекламе ограниченный срок — от $650; выкуп на год — $3200–3500; бессрочный выкуп — до $6500, отдельно от сессионной платы $50–450 за минуту записи.</a:t>
            </a:r>
          </a:p>
          <a:p>
            <a:r>
              <a:t/>
            </a:r>
          </a:p>
          <a:p>
            <a:r>
              <a:t>Профсоюз SAG-AFTRA отреагировал на тот же риск обесценивания оригинала синтетической копией не урегулированием постфактум, а ценой, заранее встроенной в контракт. По условиям соглашения о цифровых голосовых копиях (начало 2025): сама сессия согласия и записи для создания копии стоит $956,75 за четырёхчасовую смену или $1914,25 за шестичасовую плюс 16,5% отчислений в фонды исполнителя — уже дороже одной минуты классической озвучки за один лишь факт согласия, до всякого последующего использования. А использование самой синтетической копии в рекламе триггерит полуторную ставку обычной сессионной платы плюс все применимые ставки за показ.</a:t>
            </a:r>
          </a:p>
          <a:p>
            <a:r>
              <a:t/>
            </a:r>
          </a:p>
          <a:p>
            <a:r>
              <a:t>Это прямое исключение из рефрена «три-четыре порядка», который глава находит почти на любом другом материале: для изображения, музыки и текста синтетическая версия дешевле классической в тысячи раз; для голоса и внешности, там, где право закреплено профсоюзным контрактом, синтетическая версия дороже классической — технически клонировать голос по-прежнему стоит $0,04-0,20 за минуту, но это договорная цена, которую исполнители смогли закрепить именно потому, что право на использование чужого голоса никогда не продавалось агрегатором оптом. Это единственный материал всей главы, где отрасль успела закрепить институционально ответ на обнуление узнавания до того, как оно массово состоялось, — прямая мера того, чего стоит организованная готовность против того, чего стоит реакция по факту, — и этот вопрос понадобится дальше, на разборе Getty против Stability AI.</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всякой точности о конкретных исках — цена обеих ошибок, именно в этом порядке: иначе числа судебных дел читаются как единственная реальность, а не как один из возможных исходов решения, принятого в условиях неопределённости.</a:t>
            </a:r>
          </a:p>
          <a:p>
            <a:r>
              <a:t/>
            </a:r>
          </a:p>
          <a:p>
            <a:r>
              <a:t>Классический путь — заплатить за лицензию заранее. Цена известна в момент принятия решения, и ошибка здесь ограничена сверху ценой самой лицензии: переплатить можно на проценты, редко на порядки. Путь компаний, обучавших генеративные модели на чужих данных в 2023-2024 годах, — не платить за лицензию вовсе и принять на себя риск судебного иска с неизвестной на момент принятия решения ценой. Разница между двумя путями — не «законно против незаконно», а «цена известна заранее» против «цена становится известна постфактум, и по-разному для разных ответчиков». Для инженера, встраивающего генеративную модель в коммерческий продукт, это конкретный пункт комплаенса: индемнификация — берёт ли поставщик модели на себя судебные издержки клиента; прозрачность обучающих данных — публикует ли поставщик отчёт о происхождении корпуса; отслеживание статуса разбирательств — оценка риска требует периодической сверки.</a:t>
            </a:r>
          </a:p>
          <a:p>
            <a:r>
              <a:t/>
            </a:r>
          </a:p>
          <a:p>
            <a:r>
              <a:t>Контраст, который стоит назвать до разбора судебных дел: ставка «обучить на всём и разобраться с претензиями потом» не была единственным доступным путём уже в 2023 году. Adobe выпустила Firefly, заявив с самого начала, что обучающий корпус составлен только из материалов, на использование которых у компании уже есть права. К 2026 году Firefly генерирует выручку порядка $400 млн за 2024-2025 годы при заявленном объёме сгенерированных и обработанных материалов свыше 22 миллиардов единиц — коммерчески успешный продукт удалось построить, явно избегая класса судебных рисков, которые раздел разбирает дальше.</a:t>
            </a:r>
          </a:p>
          <a:p>
            <a:r>
              <a:t/>
            </a:r>
          </a:p>
          <a:p>
            <a:r>
              <a:t>Применим эту рамку к единственному из трёх направлений, которое дошло до реального вердикта первой инстанции. Getty Images — крупнейший в мире агрегатор стоковой фотографии, тот же бизнес, чей прейскурант уже разобран: $2,5 за изображение оптом, $130-499 в розницу. Stability AI — разработчик Stable Diffusion, опубликованной с открытыми весами в 2022 году. Getty утверждает, что часть обучающего корпуса состояла из изображений Getty, скопированных без лицензии. Иск подан в двух юрисдикциях параллельно — в Великобритании и в США, с разным объёмом претензий и разным нынешним статусом.</a:t>
            </a:r>
          </a:p>
          <a:p>
            <a:r>
              <a:t/>
            </a:r>
          </a:p>
          <a:p>
            <a:r>
              <a:t>Классический режим, применённый к заявленному Getty масштабу использования: Stable Diffusion обучалась — через промежуточный датасет LAION-5B, устройство которого разберём отдельно — на примерно 12,3 миллионах изображений из коллекций Getty. По оптовому тарифу $2,5: 12,3 млн × $2,5 ≈ $30,75 млн теоретической стоимости. По розничному тарифу $130: 12,3 млн × $130 ≈ $1,6 млрд. Обе цифры — расчёт по объявленному Getty масштабу использования, выполненный для порядка величины, а не присуждённая судом сумма: ни Getty, ни Stability AI не называли эти числа в суде как требование. Разброс в 52 раза сам по себе показывает, насколько сильно итоговая «цена лицензии» зависит от того, какую модель ценообразования считать применимой к обучению модели — у этого вопроса на 2026 год нет отраслевого консенсуса, потому что ни один прейскурант стоковых фотобанков никогда не был рассчитан на сценарий «использование для обучения алгоритма».</a:t>
            </a:r>
          </a:p>
          <a:p>
            <a:r>
              <a:t/>
            </a:r>
          </a:p>
          <a:p>
            <a:r>
              <a:t>Называть этот счёт раньше любых судебных подробностей — не формальность, а метод: для Getty это верхняя оценка того, чего она могла бы требовать; для Stability AI — верхняя оценка риска, который компания приняла на себя. Ни то, ни другое число не стало ценой дела — следующий кадр объясняет, почему оба оказались почти не относящимися к тому, что суд в итоге решал.</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Самая важная и самая контринтуитивная часть разбора — разложить на отдельные элементы: сворачивание их в одну фразу создаёт у неспециалиста ложное впечатление, будто суд разрешил красть.</a:t>
            </a:r>
          </a:p>
          <a:p>
            <a:r>
              <a:t/>
            </a:r>
          </a:p>
          <a:p>
            <a:r>
              <a:t>Первый элемент — юрисдикционный, и он сузил дело ещё до разбирательства по существу. Авторское право территориально. Обучение Stable Diffusion физически происходило не в Великобритании. По этой причине Getty отозвала в ходе процесса свою изначальную претензию о «первичном нарушении» — претензию именно к самому акту обучения модели на её изображениях без лицензии. Британский суд не оценивал и не мог оценить вопрос «законно ли обучать модель на чужих изображениях без лицензии» как таковой, потому что сам этот вопрос был снят с рассмотрения истцом по причинам юрисдикции, а не решён против истца по существу. Разбирательство продолжилось только по узкому остатку претензий — так называемому «вторичному нарушению»: является ли сама обученная модель, ввезённая и используемая на территории Великобритании, «копией» произведений.</a:t>
            </a:r>
          </a:p>
          <a:p>
            <a:r>
              <a:t/>
            </a:r>
          </a:p>
          <a:p>
            <a:r>
              <a:t>Второй элемент — именно на этот узкий вопрос суд ответил, и ответил отрицательно. Закон Великобритании об авторском праве — CDPA, Copyright, Designs and Patents Act 1988 — требует для признания произведения «копией» узнаваемого воспроизведения оригинального произведения. Суд установил, что веса обученной модели — числовые параметры, получившиеся в результате статистического обучения на миллиардах изображений, — это не «сохранённая копия и не реконструкция» фотографий Getty, а статистически обученные параметры принципиально иной природы: обучение нейросети на изображении не работает как архивирование файла, из которого можно восстановить исходный байт за байтом. После обучения на миллиардах изображений ни один из весов не «содержит» какое-то одно конкретное исходное изображение в том смысле, в каком жёсткий диск содержит файл. Зависимость — не то же самое, что воспроизведение, и закон требует именно второго. Отсюда практическое следствие: по этому направлению претензии лицензия вообще не требовалась — не потому, что цена оказалась ниже расчётной, а потому, что сам товар по этому вердикту не подпадает под определение объекта, которым можно нарушить авторское право.</a:t>
            </a:r>
          </a:p>
          <a:p>
            <a:r>
              <a:t/>
            </a:r>
          </a:p>
          <a:p>
            <a:r>
              <a:t>Оговорка, без которой это рассуждение превращается в слишком гладкую историю. Утверждение «веса модели в общем случае не содержат узнаваемой копии обучающего изображения» статистически верно и не универсально. Отдельная, хорошо документированная область исследований занимается «утечкой памяти» генеративных моделей: при определённых условиях, когда изображение дублируется в корпусе или запрос почти дословно совпадает с подписью, диффузионную модель удаётся заставить сгенерировать результат, почти пиксель-в-пиксель совпадающий с обучающим примером. Это не опровергает решение британского суда по конкретным доказательствам Getty, но показывает: граница между «статистическая зависимость, не копия» и «почти дословное воспроизведение, копия» существует не как бинарный факт о диффузионных моделях вообще, а как эмпирический вопрос о конкретном изображении и частоте его повторения.</a:t>
            </a:r>
          </a:p>
          <a:p>
            <a:r>
              <a:t/>
            </a:r>
          </a:p>
          <a:p>
            <a:r>
              <a:t>Чего в этом рассуждении нет. В праве США есть доктрина добросовестного использования — гибкий четырёхфакторный тест. В праве Великобритании прямого аналога fair use нет вовсе. Stability AI выиграла не потому, что суд счёл обучение «добросовестным использованием» — такого довода там в принципе не могло быть, — а потому, что решающая претензия была снята с рассмотрения на стадии юрисдикции, а оставшаяся не прошла по чисто техническому определению понятия «копия». Инженер, слышавший только заголовок «Stability выиграла суд об авторских правах на ИИ», рискует вынести неверный урок: будто где-то официально установлено, что обучать модели без лицензии законно по существу. Это не так.</a:t>
            </a:r>
          </a:p>
          <a:p>
            <a:r>
              <a:t/>
            </a:r>
          </a:p>
          <a:p>
            <a:r>
              <a:t>Третий элемент разбора — узкое поражение Stability AI по товарному знаку. Суд установил, что ранние версии Stable Diffusion могли в ограниченном числе случаев сгенерировать изображения с водяными знаками Getty или iStock. Суд счёл это обстоятельство «ограниченным» и «историческим»: фильтрация в более поздних версиях модели снизила частоту такого воспроизведения, и суд не нашёл ущерба различительной способности товарного знака. Итог: формальное нарушение признано, но без практических правовых последствий.</a:t>
            </a:r>
          </a:p>
          <a:p>
            <a:r>
              <a:t/>
            </a:r>
          </a:p>
          <a:p>
            <a:r>
              <a:t>Собранный итог, одной фразой: Getty не выиграла, Stability AI не выиграла полностью, и решающий вопрос — законно ли обучать модель на чужих изображениях без лицензии — остался юридически не рассмотренным в этой юрисдикции, потому что истец сам снял его с рассмотрения. В январе 2026 года Getty получила от суда разрешение на апелляцию — даже узкий вердикт может быть пересмотрен вышестоящей инстанцией. Параллельная ветвь того же спора в США: в апреле 2026 года американский судья в основном отклонил ходатайство Stability AI о прекращении дела — процесс продолжается, решения по существу нет.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в обучение Stable Diffusion — не напрямую коллекция Getty, а промежуточный публичный датасет LAION-5B: набор примерно 5,85 миллиарда пар «изображение плюс текстовое описание», собранных автоматическим сканированием открытого интернета некоммерческой организацией LAION. Getty утверждает, что внутри этого массива примерно 12,3 миллиона — чуть больше 0,2% всего датасета — происходят из её собственных коллекций: выявляется по совпадению метаданных, частично сохранившимся водяным знакам и прямому визуальному сравнению. Выход — Stable Diffusion, опубликованная Stability AI в 2022 году с открытыми весами: именно эта открытость сделала возможным детальное техническое исследование того, что содержится в весах, — то самое исследование, на которое обе стороны спора ссылались в суде.</a:t>
            </a:r>
          </a:p>
          <a:p>
            <a:r>
              <a:t/>
            </a:r>
          </a:p>
          <a:p>
            <a:r>
              <a:t>Сам промежуточный датасет собирался так: LAION автоматически сканирует общедоступный архив веб-страниц Common Crawl в поисках пар «картинка плюс текст рядом с ней». Из миллиардов найденных пар отбираются те, где текстовое описание и содержимое изображения действительно соответствуют друг другу — эту фильтрацию делает CLIP, оценивающая семантическое сходство картинки и подписи числом. Это ровно тот же распознаватель-фильтр, который только что разобран как пример распознающей модели внутри конвейера генерации. Результат — опубликованный список URL и текстовых описаний, не сами файлы: датасет хранит только ссылки.</a:t>
            </a:r>
          </a:p>
          <a:p>
            <a:r>
              <a:t/>
            </a:r>
          </a:p>
          <a:p>
            <a:r>
              <a:t>Это объясняет, почему вопрос «лицензировано ли это изображение» в принципе не задавался на этапе сборки: сбор велся как чисто техническая процедура извлечения пар из уже общедоступных веб-страниц, без проверки лицензионного статуса каждой картинки — ни объём, ни инструментарий сборки не были рассчитаны на такую проверку. Getty обнаружила свои 12,3 миллиона изображений внутри этого массива постфактум, а не потому, что кто-либо на этапе сборки намеренно включил или исключил материал Getty.</a:t>
            </a:r>
          </a:p>
          <a:p>
            <a:r>
              <a:t/>
            </a:r>
          </a:p>
          <a:p>
            <a:r>
              <a:t>Эта механика объясняет и то, почему юрисдикционный довод предыдущего кадра вообще работает: сам акт «скачивания и обучения» произошёл там, где физически стояли серверы и команда разработки, а не там, где Getty зарегистрирована или где её изображения изначально опубликованы. Устройство конвейера — Getty-коллекция в открытом вебе, скан и CLIP-фильтр LAION, обученная на результате Stable Diffusion — это одна техническая цепочка, в которой проверка лицензии не стояла нигде, потому что никто из участников цепочки не предполагал, что именно он за неё отвечает. Это структурное наблюдение следующий кадр превращает в вывод про риск для всей отрасли, а не только для одной компании.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Обучающий корпус Stable Diffusion — миллиарды изображений. Файл самой обученной модели — петабайты, терабайты или гигабайты? Ответ противоречит интуиции в масштабе, а не только в направлении: файл модели SD 1.5 в стандартном формате весит 4,27 гигабайта; SDXL base — около 6,94 гигабайта. Единицы гигабайт — то, что спокойно помещается на обычный накопитель, а не специализированное хранилище дата-центра.</a:t>
            </a:r>
          </a:p>
          <a:p>
            <a:r>
              <a:t/>
            </a:r>
          </a:p>
          <a:p>
            <a:r>
              <a:t>Арифметика до конца: число байт на обучающее изображение прямо зависит от того, какую обучающую выборку считать знаменателем, а Stable Diffusion обучалась не одним проходом по всему корпусу, а многостадийно. Первая база — финальная, эстетически отфильтрованная подвыборка LAION-Aesthetics v2 5+, на которой шёл последний дообучающий этап: приблизительно 600 миллионов изображений — около 7,1 байта весов SD 1.5 на изображение. Вторая база — LAION-2B-en, приблизительно 2,32 миллиарда изображений — около 1,8 байта на изображение. Третья база — весь опубликованный корпус LAION-5B целиком, 5,85 миллиарда пар — около 0,73 байта на изображение для SD 1.5 и около 1,18 байта для SDXL.</a:t>
            </a:r>
          </a:p>
          <a:p>
            <a:r>
              <a:t/>
            </a:r>
          </a:p>
          <a:p>
            <a:r>
              <a:t>Три базы — три разных числа, различающихся почти на порядок, и ни одна не произвольна — каждая соответствует реальной стадии обучения модели. Честный итог: меньше десятка байт на обучающее изображение, диапазон от 0,7 до 7 байт в зависимости от базы — и в любом случае это физически исключает буквальное хранение изображения внутри модели. Байт, а не килобайт, — это даже не эскиз, не превью уменьшенного размера; это доля одного числа с плавающей запятой на изображение, распределённая статистически по миллиардам весов сети сразу, а не локализованная в каком-то одном месте файла.</a:t>
            </a:r>
          </a:p>
          <a:p>
            <a:r>
              <a:t/>
            </a:r>
          </a:p>
          <a:p>
            <a:r>
              <a:t>Этот счёт — прямое основание того самого вердикта, который суд в разбирательстве Getty против Stability AI вынес на материале именно этого устройства: веса модели — статистическая зависимость, а не копия. Физически невозможно «уложить» узнаваемую копию фотографии в такой бюджет памяти на одно обучающее изображение — что и подтверждает механическим расчётом заблуждение, названное ранее в техническом блоке: модель не архивирует куски чужих картинок, она корректирует статистические параметры микроскопически под влиянием каждого изображения в каждом обучающем батче. Оговорка о «утечке памяти», редком и измеримом исключении, остаётся в силе — закон больших чисел здесь работает в среднем, а не абсолютно для каждого отдельного случая.</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дела Getty v Stability риск за нелицензированное обучающее использование лежал на рынке: правообладатель обнаруживает использование и либо договаривается о компенсации, либо не связывается с непредсказуемым судебным процессом. После этого дела и двух других направлений риск явно переехал в суд: кто первым подал иск и довёл его до вердикта, тот формирует прецедент, которым руководствуются все остальные компании отрасли.</a:t>
            </a:r>
          </a:p>
          <a:p>
            <a:r>
              <a:t/>
            </a:r>
          </a:p>
          <a:p>
            <a:r>
              <a:t>У отрасли нет единого ответа на вопрос, что делать с риском нелицензированного обучения. UMG и Warner заключили с Udio соглашение о лицензировании постфактум по роялти $0,002-0,005 за одну сгенерированную композицию — признали прошлое использование, превратив его в постоянный источник дохода. Sony продолжает судиться и против Suno, и против Udio, добиваясь компенсации на порядки выше согласованных ставок. Одно и то же явление получило от трёх мейджор-лейблов три разных ответа.</a:t>
            </a:r>
          </a:p>
          <a:p>
            <a:r>
              <a:t/>
            </a:r>
          </a:p>
          <a:p>
            <a:r>
              <a:t>Почему settlement рационален: у судебного процесса три источника неопределённости одновременно — неизвестен вердикт, неизвестны сроки (дело Getty-Великобритания получило разрешение на апелляцию уже после вердикта первой инстанции), неизвестен размер реально присуждённой компенсации даже при победе. Роялти-соглашение убирает все три разом. Для сервиса генерации встречная логика не менее рациональна: предсказуемая переменная издержка в несколько тысячных доллара на генерацию закладывается в экономику продукта, тогда как неурегулированный иск — непредсказуемая угроза существованию. Решение судиться тоже рационально — по другой логике: компания с запасом капитала и уверенностью в позиции может рассчитывать на нулевую компенсацию или условия выгоднее ранних. Обе стратегии внутренне последовательны — у каждой компании свой расчёт вероятностей, а не у одних расчёт верный, у других ошибочный.</a:t>
            </a:r>
          </a:p>
          <a:p>
            <a:r>
              <a:t/>
            </a:r>
          </a:p>
          <a:p>
            <a:r>
              <a:t>Теперь — одна строка, возвращающая раздел к оси всей главы. Лицензия — это тоже узнавание, только не узнавание автора конкретного артефакта, а узнавание происхождения материала, из которого артефакт собран. Генеративная модель обнулила — во всяком случае, для узкого технического определения «копии» по британскому праву — саму необходимость подтверждать происхождение материала заранее, потому что то, что выходит из модели, статистически не равно ни одному входному изображению. Та же логика обнуления сигнала, то же место на пути артефакта — только валюта здесь не доверие читателя, а деньги правообладателя.</a:t>
            </a:r>
          </a:p>
          <a:p>
            <a:r>
              <a:t/>
            </a:r>
          </a:p>
          <a:p>
            <a:r>
              <a:t>Второй якорь рефрена «три-четыре порядка». Раздел 1 этой лекции измерил этот разрыв на стороне производства. Этот раздел меряет тот же порядок разрыва на стороне оплаты прав: стоковая музыкальная лицензия $20-100 за трек против согласованной постфактум ставки $0,002-0,005 за генерацию — разрыв от четырёх до пятидесяти тысяч раз, те же три-четыре порядка. Один и тот же количественный разрыв возникает дважды, с разных сторон одной сделки. Отдельно, не смешивая с этим рефреном: разрыв между статутным потолком закона и реально согласованной ставкой рынка — семь-восемь порядков, но это сравнение закона с рынком, а не классики с ИИ.</a:t>
            </a:r>
          </a:p>
          <a:p>
            <a:r>
              <a:t/>
            </a:r>
          </a:p>
          <a:p>
            <a:r>
              <a:t>Появился новый способ лицензирования — роялти за генерацию: цена привязана не к факту использования произведения, а к каждому акту генерации, и растёт или падает вместе с популярностью сервиса. Это ближе по структуре к стримингу, чем к стоковому лицензированию. И напоминание о пятой форме: голос и внешность, разобранные ранее, — единственный материал, где цена зафиксирована контрактом так, чтобы обнуление не состоялось, результат переговорной силы профсоюза, а не свойство самой технологии. Технический ответ на тот же разрыв — Content Credentials (R7, предыдущий раздел), переносящие проверку с постфактум-реконструкции на встроенный, проверяемый в момент создания признак.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Getty-Великобритания — единственный в этом разделе с реальным судебным вердиктом первой инстанции. Два других направления разбирательств по обучающим данным пока не имеют итога — сказано прямо, а не подогнано под форму «разбора с результатом».</a:t>
            </a:r>
          </a:p>
          <a:p>
            <a:r>
              <a:t/>
            </a:r>
          </a:p>
          <a:p>
            <a:r>
              <a:t>Иск NYT против OpenAI и Microsoft подан в декабре 2023 года; на октябрь 2026 года дело на стадии упрощённого производства, решения по существу нет. Расчётная ставка истца — $10 за статью, применённая к заявленным 16 миллионам с лишним записей, даёт теоретическую сумму около $160 млн — метод расчёта, предложенный самим истцом, не присуждённая компенсация. Статутные максимумы до $150 000 за произведение, применённые к более чем 10,8 миллионам заявленных произведений, дают потолок свыше $1,62 триллиона — но это статутный максимум, установленный законом как верхняя граница, не оценка, которую кто-либо всерьёз рассчитывает получить. Называть эту цифру без пометки «статутный максимум, не прогноз» значило бы принять теоретический потолок за реальную цену.</a:t>
            </a:r>
          </a:p>
          <a:p>
            <a:r>
              <a:t/>
            </a:r>
          </a:p>
          <a:p>
            <a:r>
              <a:t>Для сравнения с рыночной альтернативой: в мае 2024 года News Corp — владеющая Wall Street Journal, New York Post, The Times и The Sun — заключила с OpenAI лицензионное соглашение на сумму до $250 млн за пять лет, за портфель изданий кратно больше объёма контента одного NYT. Это контраст между ценой, которую устанавливает рынок добровольными переговорами, и ценой, которую запрашивает сторона судебного процесса, — и равнять их как одну «рыночную цену» означало бы ту же ошибку счёта, от которой предостерегает весь раздел. Отдельный эпизод того же дела — суд обязал OpenAI передать 20 миллионов обезличенных записей логов ChatGPT для проверки дословного воспроизведения текста статей; подробности спора о раскрытии доказательств и режим TDM-исключения ЕС (обучение разрешено без лицензии, но с правом на opt-out) — self-study в главе.</a:t>
            </a:r>
          </a:p>
          <a:p>
            <a:r>
              <a:t/>
            </a:r>
          </a:p>
          <a:p>
            <a:r>
              <a:t>Кластер RIAA против Suno и Udio устроен сложнее бинарного «кто-то выиграл, кто-то проиграл». RIAA — отраслевая ассоциация, не сторона ни в одном из дел; истцами выступают сами мейджор-лейблы — Universal, Sony, Warner. Три лейбла, два ответчика, шесть ячеек в таблице — и ни одна строка не повторяет другую целиком: Warner урегулировала с обоими, Sony судится с обоими, Universal урегулировала с одним и продолжает судиться со вторым. Единой отраслевой позиции не существует. Пошаговая хронология исков по судам (даты подачи, попытки расширения, отклонённые ходатайства) и полная матрица — self-study в главе.</a:t>
            </a:r>
          </a:p>
          <a:p>
            <a:r>
              <a:t/>
            </a:r>
          </a:p>
          <a:p>
            <a:r>
              <a:t>Утечка инфраструктуры Suno раскрыла, что модель обучалась на свыше 383 000 часов музыки из идентифицируемых источников; сама компания признала в суде, что обучалась «практически на всех музыкальных файлах разумного качества, доступных в открытом интернете». Теоретический потолок статутной компенсации по отклонённой попытке расширения иска — свыше $9 млрд, приведённый только для разброса со ставкой $0,002–0,005 за генерацию, реально согласованной рынком: разница в те же три-четыре порядка, которые эта глава находит на разном материале снова и снова.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Карьера дизайнера, иллюстратора, композитора или журналиста до 2022 года строилась на активе, который нельзя было купить за один день, — на портфолио, собранном годами практики. Три института — отчисления по регистрации авторства у композитора, именованная подпись у журналиста, агентское посредничество у иллюстратора — решали одну задачу: переносили проверку узнавания с каждого отдельного найма на систему, работавшую один раз и обслуживавшую множество сделок бесплатно. Порог найма — решение «доверить ли заказ человеку» — принимался по факту наличия подтверждённой истории, до всякой оценки качества конкретной работы.</a:t>
            </a:r>
          </a:p>
          <a:p>
            <a:r>
              <a:t/>
            </a:r>
          </a:p>
          <a:p>
            <a:r>
              <a:t>Эта механика — на одной прослеживаемой судьбе. Лада Чижова — иллюстратор, начавшая называть себя так весной 2022 года, — ведёт открытый дневник практики на Substack. В конце 2024 года она подвела итог года, который сама описывает как момент настоящего испуга: при сведении дохода против расходов обнаружился регресс настолько резкий, что первой мыслью было «я делаю что-то не так». Дело было не в падении мастерства: малый бизнес, прежде заказывавший у неё иллюстрации, начал закрывать ровно ту же задачу генеративной моделью напрямую, без посредника. Это порог найма в действии: когда дешёвое производство без всякой истории заказов стало общедоступным, часть клиентов просто перестала доходить до вопроса «кого нанять».</a:t>
            </a:r>
          </a:p>
          <a:p>
            <a:r>
              <a:t/>
            </a:r>
          </a:p>
          <a:p>
            <a:r>
              <a:t>Чижова не стала хуже рисовать. Изменилось не её мастерство, а то, с чем оно конкурирует на рынке — не с другим иллюстратором, а с бесплатным по сути инструментом. Она работает без агентства, как независимый фрилансер, выстраивающий репутацию напрямую через соцсети и блог — у неё не было институционального буфера, принимающего часть репутационного риска на себя.</a:t>
            </a:r>
          </a:p>
          <a:p>
            <a:r>
              <a:t/>
            </a:r>
          </a:p>
          <a:p>
            <a:r>
              <a:t>2025 год та же Чижова называет «очень хорошим по доходу» — не потому что спрос на иллюстрацию как ремесло вернулся, а потому что доход собрался из источников, которых в её практике три года назад не было вовсе: мастер-классы, роспись стен и витрин, поддержка постоянных читателей блога, продажа оригиналов и открытый в 2026 году собственный магазин. По её собственной оценке, 70% её занятости — уже не иллюстрация в смысле ремесла 2022-2023 годов; дословно: «очень трудно зарабатывать одной иллюстрацией, мне нужны побочные заработки».</a:t>
            </a:r>
          </a:p>
          <a:p>
            <a:r>
              <a:t/>
            </a:r>
          </a:p>
          <a:p>
            <a:r>
              <a:t>Здесь два разных наблюдения, которые не стоит сливать в одно. Её собственный акт труда не изменился вовсе — она по-прежнему рисует вручную так же, как в 2022 году. Изменилась доля этого акта в структуре занятости — там, где раньше иллюстрация была почти всем доходом, к 2026 году она — около 30%. Это не история полного вытеснения, а форма переезда нагрузки: тот же человек, то же имя, тот же актив узнавания, но структура занятости, прежде почти целиком одним ремеслом, стала диверсифицированным портфелем, в котором само ремесло — уже меньшинство. У Чижовой эти источники дохода оказались доступны потому, что она уже вела публичный дневник практики годами до своего испуга — у исполнителя без такой же заранее выстроенной публичной репутации диверсификация могла бы оказаться недоступна тем же способом. Случай Чижовой стоит держать в памяти и дальше: в Сборке к нему вернутся с неудобной стороны — с той, с которой чек-лист критериев отказа сам по себе эту историю не ловит.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Крупнейшая в мире площадка найма фрилансеров даёт измеренную, атрибутированную цифру: навыки, связанные с ИИ, выросли на 109% год к году. Внутри категории — генерация и монтаж видео выросли на 329%, генерация изображений — на 95%. На Fiverr — «кураторы Canva» выросли на 403%: название категории уже говорит о сути — курирование готовых инструментов, а не ручной дизайн. Заказчик приходит с логотипом и референсами, куратор выбирает шаблон, формулирует запросы к встроенным генераторам, прогоняет несколько вариантов, бракует неподходящие и собирает финальный комплект, вручную поправляя то, что генератор не смог сделать точно. Рост не ограничен двумя категориями: разметка данных для обучения моделей — +154%, интеграция ИИ в существующие продукты — +178% — новый вид работы вокруг обслуживания моделей, не творческий труд в смысле исполнения.</a:t>
            </a:r>
          </a:p>
          <a:p>
            <a:r>
              <a:t/>
            </a:r>
          </a:p>
          <a:p>
            <a:r>
              <a:t>Чего эти цифры честно не говорят. Официальный отчёт Upwork не публикует симметричную цифру падения для традиционных, не-ИИ категорий дизайна — только качественную формулировку «спрос остаётся сильным», без единого процента. Предъявлять рост и падение одной парой процентов значило бы добавить число, которого не существует. Единственная количественная опора для традиционной стороны — Бюро статистики труда США, прогноз на 2025-2035: сокращение рабочих мест в профессии «графический дизайнер» на 2% за десять лет — не та же площадка и не тот же период, сравнивать напрямую как «было/стало» методологически некорректно.</a:t>
            </a:r>
          </a:p>
          <a:p>
            <a:r>
              <a:t/>
            </a:r>
          </a:p>
          <a:p>
            <a:r>
              <a:t>Третий слой данных дисциплинирует интерпретацию первых двух: сама площадка Upwork сжимается как бизнес — активная клиентская база упала на 6% за 2025 год, число новых объявлений — на 19% к 2026 году. Падение заказов может означать вытеснение исполнителей генеративными моделями — а может означать, что площадка теряет клиентов по не связанным с ИИ причинам: конкуренция других платформ, сжатие венчурного финансирования стартапов-заказчиков, макроэкономический цикл.</a:t>
            </a:r>
          </a:p>
          <a:p>
            <a:r>
              <a:t/>
            </a:r>
          </a:p>
          <a:p>
            <a:r>
              <a:t>Старая версия этого материала содержала цифру «−17,01% вакансий графического дизайна на Upwork» — при повторной проверке источник не переподтвердился: более свежий срез, июль 2026 года, показывает категорию «графический, редакционный и презентационный дизайн» как 6,8% всех вакансий площадки, без явного сравнения год к году. Цифра снята из материала, а не исправлена на более скромную: канон запрещает число без проверяемой базы так же строго, как выигрыш без счёта. Честный итог: рынок труда меняется измеримо на одной стороне и предположительно, но не измеримо — на другой. Это сама форма переезда нагрузки — с исполнения на курирование, — и следующий разбор показывает ту же нагрузку на уровне целой компании.</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январе 2025 года Getty Images и Shutterstock объявили слияние в формате сделки акциями на сумму около $3,7 млрд, назвав причиной растущее давление генеративных моделей на бизнес-модель лицензирования. Акционеры Shutterstock получали бы не деньги, а акции Getty — благосостояние после сделки оказывалось привязано к будущей цене именно той компании, от давления на которую сделка должна была защитить. Объявленная цель — экономия на издержках $150-200 млн за три года за счёт переговорной силы и масштаба.</a:t>
            </a:r>
          </a:p>
          <a:p>
            <a:r>
              <a:t/>
            </a:r>
          </a:p>
          <a:p>
            <a:r>
              <a:t>Правильное сравнение — не «что было бы без ИИ вообще», а «что случилось с конкретным планом». 15 мая 2026 года британский регулятор CMA поставил условием одобрения продажу всего редакционного бизнеса Shutterstock целиком — разрушение самой синергии, ради которой сделка задумывалась. 30 июня совет директоров отказался, 7 июля слияние расторгнуто. 29 сентября NYSE приостановила торги после падения цены до нескольких центов за акцию. 12-13 октября 2026 года — Getty Images подала на защиту от кредиторов по Chapter 11. 21 октября компания объявила параметры реструктуризации: семья Getty и Koch Equity Development вносят до $533 млн нового капитала, кредиторы списывают $270 млн долга, компания переходит в частную собственность. От условия регулятора до банкротства — один календарный квартал.</a:t>
            </a:r>
          </a:p>
          <a:p>
            <a:r>
              <a:t/>
            </a:r>
          </a:p>
          <a:p>
            <a:r>
              <a:t>В презентации для кредиторов Getty Images сама назвала факторы краха — не домысел аналитиков: долговая нагрузка около $2,1 млрд, издержки несостоявшегося слияния, судебные издержки, включая процесс против Stability AI, и прямым текстом «растущее давление изображений, сгенерированных ИИ» — один из нескольких факторов, не единственный. Пара чисел, которая делает это измеримым: 321 000 годовых подписчиков год назад против 240 000 на октябрь 2026 — падение на 25% за год, на фоне снижения выручки на 2,5%.</a:t>
            </a:r>
          </a:p>
          <a:p>
            <a:r>
              <a:t/>
            </a:r>
          </a:p>
          <a:p>
            <a:r>
              <a:t>Эта цена не остаётся внутри корпоративного баланса. Getty Images — посредник между десятками тысяч фотографов-контрибьюторов и покупателями изображений. Процедура Chapter 11 прямо затрагивает эту сторону: в самом соглашении о реструктуризации нет отдельного класса кредиторов-контрибьюторов и ни единого упоминания роялти — только одно необязывающее прогнозное предложение «мы не ожидаем влияния на контент-контрибьюторов». Это и есть третий, самый тихий адресат цены.</a:t>
            </a:r>
          </a:p>
          <a:p>
            <a:r>
              <a:t/>
            </a:r>
          </a:p>
          <a:p>
            <a:r>
              <a:t>Три случая этого раздела — Чижова, Upwork, Getty Images — показывают одну и ту же нагрузку на трёх масштабах: один человек, масса фрилансеров отрасли, целая компания. Граница пользы и вреда проходит не между «ИИ хорош» и «ИИ плох», а между тем, кто встроил курирование в практику заранее, и тем, чьи институты узнавания не успели измениться с той же скоростью, что технология. Логика «объединиться с конкурентом против новой технологии» предполагала, что регулятор одобрит сделку в заявленном виде и что времени на интеграцию хватит прежде, чем давление успеет обесценить саму сделку, — ни одно из двух условий не выполнилось.</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Курс требует не только показывать, где ИИ работает, но и учить говорить «нет» там, где он не подходит. Каждый пункт заработан конкретным разбором предыдущих разделов.</a:t>
            </a:r>
          </a:p>
          <a:p>
            <a:r>
              <a:t/>
            </a:r>
          </a:p>
          <a:p>
            <a:r>
              <a:t>Критерий 1. Лицензионный статус обучающих данных неясен — не брать. Единственное направление копирайт-споров, дошедшее до реального вердикта первой инстанции, — дело Getty против Stability AI: суд не признал веса модели копией по британскому закону. Но два других направления — NYT против OpenAI, кластер исков против Suno и Udio — не имеют ни единого вердикта, и отрасль расколота на урегулировавших и судящихся. Правило: если неизвестно, на каком основании обучена модель и в какой юрисдикции решится спор, — использовать такую модель означает принимать на себя юридический риск с неопределённой ценой. Практическая проверка: документация о происхождении корпуса, пункт об ответственности в договоре с вендором, юрисдикция спора.</a:t>
            </a:r>
          </a:p>
          <a:p>
            <a:r>
              <a:t/>
            </a:r>
          </a:p>
          <a:p>
            <a:r>
              <a:t>Критерий 2. Результат узнаваемо похож на работу конкретного правообладателя — не брать. Если результат воспроизводит узнаваемый стиль, персонажа или композицию конкретного автора — ту самую узнаваемость, вокруг которой строится экономический смысл творческой профессии, — коммерческое использование нарушает тот же принцип, который защищал именованную подпись журналиста CNET. Критерий применяется независимо от исхода иска: узнаваемое сходство — репутационный риск сам по себе.</a:t>
            </a:r>
          </a:p>
          <a:p>
            <a:r>
              <a:t/>
            </a:r>
          </a:p>
          <a:p>
            <a:r>
              <a:t>Критерий 3. Голос или внешность используются без явного согласия — не брать. Прямо следует из опорного кейса входа лекции: поддельных кандидатов на собеседованиях, где подделка голоса и лица в реальном времени использовалась именно потому, что узнавание на видеозвонке считалось бесплатным и достаточным сигналом. Более 170 000 заявок, 76 офферов и 22 оператора за девять месяцев в одной отслеженной ячейке — доказательство промышленного масштаба. Проект, использующий синтез голоса или внешность человека, обязан хранить задокументированное согласие именно на эту форму использования.</a:t>
            </a:r>
          </a:p>
          <a:p>
            <a:r>
              <a:t/>
            </a:r>
          </a:p>
          <a:p>
            <a:r>
              <a:t>Критерий 4. Риск для доверия к бренду превышает экономическую выгоду — не брать. Точный прецедент внутри этой же лекции: панель System1 оценила рекламу Coca-Cola максимальным баллом (5,9 из 5,9), независимый мониторинг CARMA зафиксировал рост негативной тональности с 13,5% до 53,4% после раскрытия генеративного происхождения. Критерий — не «никогда не используй ИИ в рекламе», а «не полагайся на контролируемое предрелизное тестирование как единственное доказательство безопасности бренд-риска».</a:t>
            </a:r>
          </a:p>
          <a:p>
            <a:r>
              <a:t/>
            </a:r>
          </a:p>
          <a:p>
            <a:r>
              <a:t>Все четыре работают не как формула «прошёл все четыре — можно брать», а как последовательность стоп-сигналов, каждый достаточен сам по себе для отказа. Рабочий порядок проверки: лицензия (дешевле всего) → сходство → согласие → бренд-риск (дороже всего) — критерии, которые проверяются раньше, идут первыми не потому, что важнее, а потому, что отказ на первом шаге избавляет от необходимости доходить до третьего и четвёртого.</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Критерии работают не как формула «прошёл все четыре — можно брать», а как последовательность стоп-сигналов, каждый достаточен сам по себе для отказа. Рабочий сценарий: агентство рассматривает модель для серии рекламных изображений. Первый шаг — выяснить, раскрывает ли вендор условия лицензирования; отсутствие ответа уже основание для паузы. Второй — сверить результат с портфолио узнаваемых авторов. Третий — если материал включает синтез голоса или образ человека, задокументированное согласие. Четвёртый — что случится с восприятием бренда, если аудитория узнает про генерацию.</a:t>
            </a:r>
          </a:p>
          <a:p>
            <a:r>
              <a:t/>
            </a:r>
          </a:p>
          <a:p>
            <a:r>
              <a:t>Обратный сценарий, где чек-лист разрешает: внутренняя генерация черновиков упаковки для обсуждения с клиентом до утверждения финального дизайна — лицензионный статус раскрыт, черновики намеренно общие, голос и внешность не используются, черновики не выдаются за финальную работу. Чек-лист даёт разрешение, и это такой же законный исход, как и отказ.</a:t>
            </a:r>
          </a:p>
          <a:p>
            <a:r>
              <a:t/>
            </a:r>
          </a:p>
          <a:p>
            <a:r>
              <a:t>Тот же чек-лист читается со стороны малого заказчика, который раньше нанимал фрилансера, а теперь генерирует сам, — не только со стороны агентства, выбирающего поставщика. Случай Лады Чижовой даёт прямую практическую проверку: мелкий бизнес, прежде заказывавший у неё обложку или баннер, начал закрывать ту же задачу моделью напрямую. Критерий 1 почти никогда не проверяется для массового потребительского инструмента — само отсутствие проверки уже основание для паузы по букве критерия, даже если ни один конкретный иск не подан. Критерий 2 требует сверить результат именно с портфолио Чижовой, если заказчик прежде работал с ней, — но стиль обычно намеренно обобщён. Критерии 3 и 4 здесь обычно неприменимы или проходят формально: ни голос, ни внешность не используются, бренд-риск для внутреннего материала минимален. Именно поэтому решение «сгенерировать самим» чаще всего оказывается разрешённым чек-листом исходом, а не запрещённым.</a:t>
            </a:r>
          </a:p>
          <a:p>
            <a:r>
              <a:t/>
            </a:r>
          </a:p>
          <a:p>
            <a:r>
              <a:t>Это самый неудобный вывод всего раздела. Чек-лист, который защищает правообладателя от узнаваемого копирования его стиля, не защищает того же человека от потери заказа как такового: вытеснение Чижовой не нарушает ни один из четырёх критериев отказа — лицензия может быть прозрачной, стиль может намеренно не копировать её почерк, ни голос, ни внешность не используются, бренд-риск для внутреннего материала минимален. Чек-лист отвечает только на вопрос «законно ли и узнаваемо ли это», а не на вопрос «что происходит с человеком, который раньше получал этот заказ» — и правильное место для ответа о вытеснении лежит не здесь, а в материале о рынке труда. Наличие проверяемого чек-листа отказа не означает, что всё, что проходит чек-лист, безвредно — два разных вопроса, два разных места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разделов этой лекции показывали один и тот же механизм на разном материале. У него три формы.</a:t>
            </a:r>
          </a:p>
          <a:p>
            <a:r>
              <a:t/>
            </a:r>
          </a:p>
          <a:p>
            <a:r>
              <a:t>Форма первая: нагрузка переехала — на зрителя, на закон или на рынок труда. В разделе про аудиторию нагрузка распознавания переехала на зрителя: решение «можно ли доверять» теперь принимает каждый отдельный человек в момент просмотра, а не редактор до публикации. В этом разделе нагрузка переехала с рынка на закон — вопрос «что было можно» решает суд, причём по трём направлениям с разным статусом. И нагрузка переехала на рынок труда в буквальном смысле — цена теперь определяется массовым платформенным спросом на курирование, а не индивидуальным договором.</a:t>
            </a:r>
          </a:p>
          <a:p>
            <a:r>
              <a:t/>
            </a:r>
          </a:p>
          <a:p>
            <a:r>
              <a:t>Форма вторая: исполнитель остался тем же человеком, но задача изменилась. Куратор Canva сменил само действие внутри задачи: было «рисовать», стало «настраивать и отбирать» — рост категории на 403%. Чижова не поменяла действие — она поменяла долю этого действия в структуре занятости, добавив вокруг него мастер-классы и продажу оригиналов, так что ремесло составляет уже около 30% дохода. И появился новый шаг: промпт-инжиниринг — не переименование старой профессии, а должность, которой не существовало до инструмента; рост категории генерации видео на 329% — спрос именно на эту новую квалификацию.</a:t>
            </a:r>
          </a:p>
          <a:p>
            <a:r>
              <a:t/>
            </a:r>
          </a:p>
          <a:p>
            <a:r>
              <a:t>Форма третья: узнавание стало подделываемым. Это собственная, несущая форма этой лекции, не повторяющая формы предыдущих лекций курса. Раздел о редакционной проверке показал её на материале CNET: именованная подпись продолжала нести гарантию проверки и после того, как контент стал генерировать внутренний движок. Ряд 2 опорного слайда входа этой же лекции показал ту же форму на материале найма: видеозвонок и телефонный голос перестали быть бесплатным сигналом подлинности в момент, когда подделка лица и голоса в реальном времени стала стоить порядка ста двадцати долларов и семидесяти минут. Одна и та же форма, предъявленная дважды на принципиально разном материале, — именно это делает её осью лекции, а не частным наблюдением одного кейса.</a:t>
            </a:r>
          </a:p>
          <a:p>
            <a:r>
              <a:t/>
            </a:r>
          </a:p>
          <a:p>
            <a:r>
              <a:t>У этой формы есть собственное измерение динамики: доля HR-менеджеров, лично столкнувшихся с поддельным кандидатом, выросла с 31% до 40% год к году — защита не улучшается по мере роста осведомлённости, а ухудшается, потому что цена подделки падает быстрее, чем растёт цена защиты от неё. Масштаб явления на материале найма выходит далеко за пределы одной отслеженной ячейки: по оценке межправительственного advisory одиннадцати стран, порядка ста тысяч операторов действуют из одной страны в сорока странах одновременно, с оценочным доходом режиму-организатору $250-600 млн в год. Это почти буквальный ответ на вопрос лекции «сколько это стоит теперь»: конкретная, оценённая величина, построенная на том, что было бесплатным. Первые две формы — конкретизации наблюдений курса на новом материале; третья — собственный вклад этой лекции в словарь курса.</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которым лекция открылась: лицо, голос и подпись автора стоили доверия бесплатно — сколько это стоит теперь, и кто платит. Материал даёт распределённый ответ — по разным адресам, с разными именами.</a:t>
            </a:r>
          </a:p>
          <a:p>
            <a:r>
              <a:t/>
            </a:r>
          </a:p>
          <a:p>
            <a:r>
              <a:t>Платит редакция, потерявшая институт ответственности. CNET — около 10% штата уволены в течение нескольких недель после раскрытия. Это не доказанная цена конкретно технологии — это цена того, что институт именованной подписи перестал работать именно в момент, когда его можно было подделать дёшево и в масштабе.</a:t>
            </a:r>
          </a:p>
          <a:p>
            <a:r>
              <a:t/>
            </a:r>
          </a:p>
          <a:p>
            <a:r>
              <a:t>Платит правообладатель, чья юридическая защита лицензирования обнулилась в конкретном случае. Getty Images рассчитывала теоретическую стоимость лицензии в диапазоне от $30,75 млн до $1,6 млрд. Британский суд решил, что лицензия не требовалась вовсе: реальная цена для ответчика по этому направлению оказалась равна нулю. Два других направления того же вопроса остаются открытыми, и отрасль расколота в ответе на вопрос «кто платит».</a:t>
            </a:r>
          </a:p>
          <a:p>
            <a:r>
              <a:t/>
            </a:r>
          </a:p>
          <a:p>
            <a:r>
              <a:t>Платит сама компания, построившая бизнес на лицензировании узнаваемого контента. Getty Images потеряла четверть годовой подписной базы за год, накопила долг $2,1 млрд, попыталась защититься слиянием на $3,7 млрд — попытка провалилась, компания подала на банкротство, прямо назвав среди причин растущее давление ИИ-генерируемых изображений. Это самая крупная и самая свежая цена из всех, что называет эта лекция.</a:t>
            </a:r>
          </a:p>
          <a:p>
            <a:r>
              <a:t/>
            </a:r>
          </a:p>
          <a:p>
            <a:r>
              <a:t>Платят вытесненные фрилансеры — ценой, которую пока нельзя назвать одним числом. Рост спроса на ИИ-навыки измерен точно, падение спроса на традиционные навыки — лишь косвенно. Честность этого ответа в том, что он не предъявляет цену, которой не существует с той же степенью точности, что у первых трёх.</a:t>
            </a:r>
          </a:p>
          <a:p>
            <a:r>
              <a:t/>
            </a:r>
          </a:p>
          <a:p>
            <a:r>
              <a:t>Соблазн — свести всё к фразе «платит индустрия» и закрыть вопрос красиво. Это была бы ровно та подмена, против которой построен весь курс: обобщение без адреса не позволяет спросить, что менять и кому. Четыре разных адресата — четыре разных незакрытых вопроса, и именно поэтому ответ не сворачивается в одно предложение.</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линия этой лекции — числовой разрыв в три-четыре порядка между классической ценой творческого труда и ценой того же результата после генерации — требует честного счёта по факту, а не числа, вписанного заранее.</a:t>
            </a:r>
          </a:p>
          <a:p>
            <a:r>
              <a:t/>
            </a:r>
          </a:p>
          <a:p>
            <a:r>
              <a:t>Изображение: $50–150 ручным исполнением против $0,03–0,05 генерацией — отношение от 1000 до 5000, в порядках от 3,0 до 3,7. Целиком в диапазоне. Трек, сравнение со стоковой лицензией: $20–100 против $0,015–0,02 — от 1000 до 6667, от 3,0 до 3,8. Целиком в диапазоне.</a:t>
            </a:r>
          </a:p>
          <a:p>
            <a:r>
              <a:t/>
            </a:r>
          </a:p>
          <a:p>
            <a:r>
              <a:t>Озвучка не попадает в диапазон целиком: $50–450 за минуту против $0,04–0,20 — отношение от 250 до 11250, в порядках от 2,4 до 4,1 — нижняя граница лежит ниже заявленных трёх-четырёх порядков. Честный счёт показывает это, а не округляет в пользу красивой линии.</a:t>
            </a:r>
          </a:p>
          <a:p>
            <a:r>
              <a:t/>
            </a:r>
          </a:p>
          <a:p>
            <a:r>
              <a:t>Лицензионный тариф против фактической ставки урегулирования: $20–100 против реальной ставки Udio $0,002–0,005 — от 4000 до 50000, от 3,6 до 4,7. В основном в диапазоне, с небольшим выходом верхней границы.</a:t>
            </a:r>
          </a:p>
          <a:p>
            <a:r>
              <a:t/>
            </a:r>
          </a:p>
          <a:p>
            <a:r>
              <a:t>Что не входит в счёт. Теоретическая стоимость лицензии Getty — $30,75 млн или $1,6 млрд — против того, что суд обязал заплатить, — нуля. Отношение положительного числа к нулю не выражается порядком величины: это не сужение разрыва, а его полное исчезновение — другое сообщение, не «генерация в тысячи раз дешевле», а «правовая защита лицензии в этом случае не сработала вообще». По той же причине не входит и Ряд 2 опорного слайда входа — у поддельных кандидатов есть цена новой стороны, но нет сопоставимого числа со стороны классического режима (графа «второй режим назван, но числа не имеет»).</a:t>
            </a:r>
          </a:p>
          <a:p>
            <a:r>
              <a:t/>
            </a:r>
          </a:p>
          <a:p>
            <a:r>
              <a:t>Итоговый счёт: из четырёх кандидатов три попадают в диапазон целиком или почти целиком, одно — частично, один случай по математической природе не выражается порядком и не входит в счёт. Разрыв в три-четыре порядка — не универсальный закон, а повторяющийся, но не абсолютный паттерн: держится там, где сравниваются однородные рыночные цены, и перестаёт держаться, где одна сторона пары — судебное решение, обнулившее цену целиком.</a:t>
            </a:r>
          </a:p>
          <a:p>
            <a:r>
              <a:t/>
            </a:r>
          </a:p>
          <a:p>
            <a:r>
              <a:t>Раздел не вводил нового кейса — он показал, что материал пяти предыдущих разделов складывается в три вещи одновременно: проверяемый чек-лист отказа, словарь из трёх форм, и честный, распределённый ответ на вопрос, которым лекция открылась, подкреплённый этим счётом, не округлённым в сторону красоты там, где измерения расходятся. Тот же паттерн подделываемого синтеза лица и голоса, показанный здесь на входе в творческое производство и на входе в компанию, встретится снова в курсе — уже не как вопрос доверия к контенту, а как вопрос защиты предприятия от прямого финансового мошенничества.</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Глава провела один творческий артефакт через четыре точки его жизненного пути, где узнавание раньше работало бесплатно и никогда не требовало отдельной проверки — само по себе оно было достаточным сигналом доверия. На входе, там, где раньше создавали фрилансер, студийный композитор или диктор, узнавание держалось на том, что заказ стоил дорого и занимал дни: сама эта медленность и была неявной проверкой подлинности. Генеративная модель не сделала результат хуже — она сделала эту медленность необязательной, и вместе с ней необязательным стало всё, что на неё опиралось, включая порог входа, который раньше отсеивал часть заказчиков одной только ценой.</a:t>
            </a:r>
          </a:p>
          <a:p>
            <a:r>
              <a:t/>
            </a:r>
          </a:p>
          <a:p>
            <a:r>
              <a:t>При проверке узнавание держалось на подписи — именованном авторе, который отвечал своим именем за факт. Кейс CNET показал ядро этой находки: доля статей, потребовавших исправления после раскрытия AI-авторства, оказалась того же порядка, что и независимо измеренный базовый уровень ошибок классической журналистики. Институт подписи никогда не был гарантией точности — он был гарантией того, что есть к кому прийти с претензией. Генеративная модель не нарушила эту гарантию напрямую, она лишь обнажила, что часть изданий давно работала так, будто эта гарантия ничего не стоит, и раскрытие факта авторства сделало это видимым для читателя раньше, чем сделал бы любой другой повод.</a:t>
            </a:r>
          </a:p>
          <a:p>
            <a:r>
              <a:t/>
            </a:r>
          </a:p>
          <a:p>
            <a:r>
              <a:t>При публикации узнавание держалось на том, что зритель верил: то, что он видит, сделано для него конкретным человеком с конкретным умыслом. Расхождение между оценкой контролируемой панели предрелизного тестирования и реакцией открытой аудитории на одну и ту же рекламу показало, что это доверие не единообразно — оно раскалывается в зависимости от того, кто и как смотрит. Институт предрелизного тестирования был построен, чтобы предсказывать реакцию усреднённого зрителя, а не зрителя, который уже знает, что перед ним генерация, и ищет в ролике подтверждение этому знанию. Два этих зрителя оценивают не один и тот же ролик — они оценивают два разных объекта.</a:t>
            </a:r>
          </a:p>
          <a:p>
            <a:r>
              <a:t/>
            </a:r>
          </a:p>
          <a:p>
            <a:r>
              <a:t>При оплате узнавание держалось на лицензии — доказуемом праве на использованный материал. Разрыв между объявленным судебным риском и реально согласованной рыночной ставкой лёг в тот же порядок величины, что и разрыв в цене создания на входе пути, и это не единичное совпадение. Решение суда, расчёт истца по статутному максимуму, ставка мирового соглашения и объявленный розничный тариф получены независимо, разными институтами, в разное время, и всё равно сошлись в одном и том же порядке — само по себе это сильнее как находка, чем если бы кто-то спроектировал совпадение заранее.</a:t>
            </a:r>
          </a:p>
          <a:p>
            <a:r>
              <a:t/>
            </a:r>
          </a:p>
          <a:p>
            <a:r>
              <a:t>Наконец, путь спросил, что стало с теми, кто раньше держал все четыре точки своими руками, — и ответ дала история одной из крупнейших лицензионных компаний отрасли. Попытка защититься слиянием с конкурентом не сработала, слияние было расторгнуто, а собственная реструктуризация компании прямо назвала давление генеративных моделей среди причин. Это не частный финансовый эпизод, вставленный ради свежести даты, — это тот же урок, что и в остальных четырёх точках, только предъявленный на уровне целой компании, а не одной транзакции: институт, который раньше бесплатно подтверждал происхождение материала через оптовую подписку, не смог защититься от обвала цены простым укрупнением.</a:t>
            </a:r>
          </a:p>
          <a:p>
            <a:r>
              <a:t/>
            </a:r>
          </a:p>
          <a:p>
            <a:r>
              <a:t>Если свести все точки в один реестр, видно, что они расположены не случайно, а по хронологии самого артефакта — от момента, когда он ещё не существует, до момента, когда его уже прочитал, просмотрел или прослушал кто-то посторонний. Подделка в одной точке, оставшаяся незамеченной, ничего не говорит о том, останется ли незамеченной подделка в следующей. Раздел «Сборка» уже дал этому пути ответ и подсчитал, сколько раз разрыв в три-четыре порядка действительно подтвердился, а не был подогнан под ожидание. Здесь не нужно повторять этот счёт — нужно закрыть последний долг, который лежит уже не внутри индустрии, а перед курсом.</a:t>
            </a:r>
          </a:p>
          <a:p>
            <a:r>
              <a:t/>
            </a:r>
          </a:p>
          <a:p>
            <a:r>
              <a:t>**Источники.** </a:t>
            </a:r>
            <a:r>
              <a:rPr u="sng">
                <a:solidFill>
                  <a:srgbClr val="065A82"/>
                </a:solidFill>
                <a:hlinkClick r:id="rId3"/>
              </a:rPr>
              <a:t>CNET — доля статей, потребовавших исправления, Predictive Analytics World, 2023</a:t>
            </a:r>
            <a:r>
              <a:t> · </a:t>
            </a:r>
            <a:r>
              <a:rPr u="sng">
                <a:solidFill>
                  <a:srgbClr val="065A82"/>
                </a:solidFill>
                <a:hlinkClick r:id="rId4"/>
              </a:rPr>
              <a:t>System1 Group — панель предрелизного тестирования, 2025</a:t>
            </a:r>
            <a:r>
              <a:t> · </a:t>
            </a:r>
            <a:r>
              <a:rPr u="sng">
                <a:solidFill>
                  <a:srgbClr val="065A82"/>
                </a:solidFill>
                <a:hlinkClick r:id="rId5"/>
              </a:rPr>
              <a:t>CARMA — методология измерения тональности, 2026</a:t>
            </a:r>
            <a:r>
              <a:t> · </a:t>
            </a:r>
            <a:r>
              <a:rPr u="sng">
                <a:solidFill>
                  <a:srgbClr val="065A82"/>
                </a:solidFill>
                <a:hlinkClick r:id="rId6"/>
              </a:rPr>
              <a:t>Bird &amp; Bird — Getty Images против Stability AI, Высокий суд, 2025</a:t>
            </a:r>
            <a:r>
              <a:t> · </a:t>
            </a:r>
            <a:r>
              <a:rPr u="sng">
                <a:solidFill>
                  <a:srgbClr val="065A82"/>
                </a:solidFill>
                <a:hlinkClick r:id="rId7"/>
              </a:rPr>
              <a:t>Bloomberg — реструктуризация Getty, 21 октября 2026</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 2 keystone-слайда в начале лекции показал кейс вне творческих индустрий: удалённые собеседования при найме, на которых кандидат — на самом деле наёмный оператор под чужой личностью — проходит видеозвонок с синтезированным лицом и голосом, обученным на нескольких минутах публично доступного видео. Узнавание здесь подделывалось на входе в компанию: цель обмана — пройти интервью и получить офер, а не получить разовый платёж. Прежний дорогой режим такой подмены требовал нанять живого актёра на очное собеседование; генеративный синтез обнулил эту цену настолько, что один документированный оператор подал свыше ста тысяч заявок и получил несколько десятков офферов за считанные месяцы работы.</a:t>
            </a:r>
          </a:p>
          <a:p>
            <a:r>
              <a:t/>
            </a:r>
          </a:p>
          <a:p>
            <a:r>
              <a:t>Та же самая механика — модель, которая синтезирует чужое лицо и голос в реальном времени настолько убедительно, что видеозвонок перестаёт быть доказательством личности, — встречается в курсе ещё раз, но уже не на этой лекции. Лекция 14 разбирает ровно тот же инструментарий синтеза, применённый к другому адресу: не ко входу в компанию, а к извлечению денег из уже действующей компании — сотрудник финансового департамента получает видеозвонок от «своего» руководителя с поручением о срочном переводе. Структурно это та же находка, что и у кейса найма: узнавание было бесплатным и достаточным сигналом подлинности десятилетиями, и генеративная модель обнулила цену его подделки.</a:t>
            </a:r>
          </a:p>
          <a:p>
            <a:r>
              <a:t/>
            </a:r>
          </a:p>
          <a:p>
            <a:r>
              <a:t>Разница — исключительно в адресе атаки внутри жизненного цикла компании: наём против разового платежа. Эта разница не декоративная — она определяет, какая защита вообще применима. Защита от подделки на входе встраивается в процедуру найма: независимая проверка личности через государственный документ сверх самого видеозвонка, обязательная очная явка хотя бы на одном из этапов, проверка живости видеопотока прямо во время интервью. Защита от подделки на извлечении встраивается в процедуру финансового решения: верификация по независимому каналу — обратный звонок на заранее известный, занесённый в справочник номер, а не на тот, с которого пришло поручение, — и двойное утверждение крупной транзакции вторым, независимым сотрудником. Обе процедуры — не технические контрмеры против самой модели, не детектор дипфейков, который ловит подделку по артефактам картинки, а изменение того, в какой момент жизненного цикла компании узнавание вообще должно что-то доказывать.</a:t>
            </a:r>
          </a:p>
          <a:p>
            <a:r>
              <a:t/>
            </a:r>
          </a:p>
          <a:p>
            <a:r>
              <a:t>Именно поэтому эта лекция не повторяет разбор Лекции 14: он уже произведён там, с собственными числами и собственным уроком, и переносить его сюда означало бы показать один и тот же слайд дважды под разными обложками — вместо того чтобы показать, что один и тот же инструмент требует двух разных ответов в зависимости от того, где именно в жизненном цикле компании он применён.</a:t>
            </a:r>
          </a:p>
          <a:p>
            <a:r>
              <a:t/>
            </a:r>
          </a:p>
          <a:p>
            <a:r>
              <a:t>Долг называется явно, а не остаётся недосказанным: то, что здесь измерено как подделка доверия к контенту, в Лекции 14 станет инструментом атаки на периметр предприятия. Технология одна и та же на обеих лекциях; то, против чего она работает, разное. Для инженера, который встретит обе лекции курса, это не повод отмахнуться от уже виденного материала во второй раз — это повод заметить, что один и тот же технический прогресс не имеет одного фиксированного адреса применения: он ищет самое дешёвое и самое ценное место входа, и это место меняется в зависимости от того, что именно защищено слабее всего в момент атаки, а не от того, что технически проще синтезировать.</a:t>
            </a:r>
          </a:p>
          <a:p>
            <a:r>
              <a:t/>
            </a:r>
          </a:p>
          <a:p>
            <a:r>
              <a:t>Это и есть практическая причина, по которой курс устроен как последовательность лекций, а не как одна исчерпывающая глава про генеративный обман: одна и та же техническая возможность даёт разный урок в зависимости от того, куда она направлена, и сжатие обоих уроков в одну лекцию стоило бы читателю не времени, а глубины — вдвое меньше конкретики о вдвое большем числе ситуаций. Узнавание на входе в компанию и узнавание в момент финансового решения внутри уже действующей компании — разные точки ответственности, разные регламенты защиты и разные люди, которые должны будут об этом узнать на своей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Утверждение, которое глава зарабатывает этим путём, короче, чем кажется на входе. Лицо на видеозвонке, голос в трубке, подпись под статьёй, очевидно лицензированная картинка — каждый из этих сигналов был устроен так, что подделать его стоило дороже, чем получить законно: нужно было время, навык, доступ или деньги. Генеративная модель убрала именно это условие, не тронув ничего другого — ни качество результата, ни намерение того, кто им пользуется. Ломается не продукт, а механизм, которым раньше бесплатно проверяли, можно ли продукту верить.</a:t>
            </a:r>
          </a:p>
          <a:p>
            <a:r>
              <a:t/>
            </a:r>
          </a:p>
          <a:p>
            <a:r>
              <a:t>Чего это утверждение не говорит — соблазн додумать его до более удобной для пересказа формы велик. Оно не говорит, что генеративные модели сами по себе опасны или нежелательны: ни один из разобранных кейсов не показывает вреда, причинённого качеством генерации самой по себе, — весь измеренный вред причинён тем, что старая бесплатная процедура проверки перестала работать, а новая ещё не построена или построена не везде. Оно также не говорит, что проблему можно решить, если научить людей распознавать подделки лучше: собственная способность человека отличить дипфейк на глаз измерена близко к случайному угадыванию, и это не вопрос тренировки внимания, а структурный предел человеческого восприятия перед технологией, обученной именно этот предел эксплуатировать.</a:t>
            </a:r>
          </a:p>
          <a:p>
            <a:r>
              <a:t/>
            </a:r>
          </a:p>
          <a:p>
            <a:r>
              <a:t>Ответ на вопрос, кто теперь платит за узнавание, которое раньше ничего не стоило, не один и тот же для всех четырёх точек пути: иногда платит рынок — разница между лицензионным тарифом и ставкой по мировому соглашению; иногда платит отрасль — реструктуризация компании, которая пыталась защититься консолидацией; иногда платит читатель или зритель собственным временем на перепроверку. Единого счёта нет, и глава не выдаёт его как одну цифру — она показывает, что платёж переместился, и называет, куда именно, в каждой из четырёх точек по отдельности. Разумный следующий вопрос после этой находки — не «как распознать подделку», а «какая процедура теперь встаёт на место бесплатного узнавания, и кто за неё платит». Этот вопрос остаётся открытым и после этой лекции: Лекция 14 отвечает на него для одного конкретного адреса — корпоративного периметра, — и это прямое продолжение, а не совпадение.</a:t>
            </a:r>
          </a:p>
          <a:p>
            <a:r>
              <a:t/>
            </a:r>
          </a:p>
          <a:p>
            <a:r>
              <a:t>Для инженера, который выйдет из этой аудитории работать с генеративными моделями на практике, здесь есть и прикладная часть, не только историческая. Критерии отказа, собранные ранее из материала всей главы, не заменяют суждения — они дают минимальный список вопросов, которые стоит задать себе до того, как продукт с узнаванием (голосом, лицом, подписью, лицензией) пошёл в работу. К этому списку стоит добавить ещё один вопрос, который прямо вытекает из всего пройденного пути: если проверка провалится, кто из четырёх адресатов главы — рынок, отрасль, читатель, сам заказчик — заплатит за этот провал, и готов ли заказчик, для которого инженер строит продукт, объяснить это другим людям вслух, а не только обнаружить постфактум в новостях. Этот вопрос не юридический и не технический — он управленческий, и именно поэтому он обычно не задаётся вовремя: его некому формально поручить, пока кто-то явно не спросит.</a:t>
            </a:r>
          </a:p>
          <a:p>
            <a:r>
              <a:t/>
            </a:r>
          </a:p>
          <a:p>
            <a:r>
              <a:t>Глава не утверждает, что на каждый такой вопрос уже есть готовый ответ в праве или в индустрии — половина разобранных кейсов показывает, что ответа пока нет ни у суда, ни у рынка. Это и есть заработанный итог: не «генеративные модели решили вопрос доверия» и не «разрушили его навсегда», а «старый бесплатный способ его подтверждать больше не работает, и новый способ ещё строится у всех на глазах — в том числе у тех, кто сегодня сидит в этой аудитории и будет этот способ строить». Утверждение не выглядит эффектно, сжатое до одной строки, и именно поэтому его стоит унести не как лозунг, а как рабочий вопрос, который берут с собой в следующий проект, где снова встретится узнавание, прежде бывшее бесплатным.</a:t>
            </a:r>
          </a:p>
          <a:p>
            <a:r>
              <a:t/>
            </a:r>
          </a:p>
          <a:p>
            <a:r>
              <a:t>**Источники.** </a:t>
            </a:r>
            <a:r>
              <a:rPr u="sng">
                <a:solidFill>
                  <a:srgbClr val="065A82"/>
                </a:solidFill>
                <a:hlinkClick r:id="rId3"/>
              </a:rPr>
              <a:t>Diel и соавт., метаанализ распознавания дипфейков, Computers in Human Behavior Reports, 2024</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глава прошла путь одного творческого артефакта по четырём точкам и в каждой нашла одно и то же: сигнал, который раньше стоил доверия бесплатно, можно подделать дёшево. Три проверки на этом кадре переводят находку в форму, которую можно приложить к любой работе в зале, не только к творческому производству.</a:t>
            </a:r>
          </a:p>
          <a:p>
            <a:r>
              <a:t/>
            </a:r>
          </a:p>
          <a:p>
            <a:r>
              <a:t>Первая проверка — про саму цену подделки. Для любого сигнала узнавания — подписи под документом, голоса в трубке, лица на видеозвонке, объявленной лицензии — стоит спросить, во сколько обходится его подделать сейчас, а не десять лет назад. Если ответ «почти даром», прежнее доверие к этому сигналу уже не опирается ни на что, кроме привычки.</a:t>
            </a:r>
          </a:p>
          <a:p>
            <a:r>
              <a:t/>
            </a:r>
          </a:p>
          <a:p>
            <a:r>
              <a:t>Вторая проверка — про то, можно ли положиться на бдительность человека. Собственная способность людей отличить качественную подделку на глаз, без протокола, измерена метаанализом полусотни с лишним исследований близко к случайному угадыванию: общая точность распознавания подделок — 55,54% против 68,08% для настоящих материалов, то есть люди чаще принимают подделку за настоящее, чем наоборот. Это не вопрос невнимательности конкретного человека — это предел самого навыка перед технологией, обученной именно этот предел эксплуатировать. Поэтому вторая проверка не «научите людей внимательнее смотреть», а «есть ли процедура, которая не полагается на то, что кто-то заметит подделку глазами».</a:t>
            </a:r>
          </a:p>
          <a:p>
            <a:r>
              <a:t/>
            </a:r>
          </a:p>
          <a:p>
            <a:r>
              <a:t>Эта цифра не спорит с более низкой, названной в начале лекции: там человека заранее предупреждали, что перед ним может быть подделка, и просили её найти, — а метаанализ усредняет людей, которые ничего заранее не знали и подделку специально не искали. Два числа отвечают на разные вопросы, и оба сходятся в одном: ни в узком условии целенаправленного поиска, ни в широком условии обычного восприятия результат не намного лучше угадывания. Простое «будьте внимательнее» почти не работает ни при каком способе его измерить — поэтому реальный сдвиг происходит не в тренировке бдительности, а во внедрении протокола, который на догадку человека вовсе не полагается.</a:t>
            </a:r>
          </a:p>
          <a:p>
            <a:r>
              <a:t/>
            </a:r>
          </a:p>
          <a:p>
            <a:r>
              <a:t>Третья проверка — про то, кто платит, если первые две не сработали. Глава показала, что платёж после провала узнавания ложится на разных людей в разных точках: иногда на рынок, иногда на отрасль, иногда на самого читателя или зрителя его временем. Стоит спросить заранее, а не постфактум, кто в собственном контуре слушателя окажется тем адресатом, — и готов ли кто-то назвать это вслух до того, как случится, а не после.</a:t>
            </a:r>
          </a:p>
          <a:p>
            <a:r>
              <a:t/>
            </a:r>
          </a:p>
          <a:p>
            <a:r>
              <a:t>Вопрос в зал задаётся про рабочий контур самого слушателя, не про творческие индустрии: автоматический элемент, который что-то подтверждает за человека, сегодня есть почти в любой профессии. Ответ ждём вслух; если зал молчит, можно предложить первую проверку как подсказку — спросить, у кого в работе сигнал узнавания, который ещё вчера стоил дорого подделать, а сегодня стоит копейки.</a:t>
            </a:r>
          </a:p>
          <a:p>
            <a:r>
              <a:t/>
            </a:r>
          </a:p>
          <a:p>
            <a:r>
              <a:t>Эти три проверки — не новый материал, добавленный специально для закрытия. Это та же форма, которую лекция применяла к шести разным разборам на разном материале: назвать цену ошибки, назвать классический способ её удержать, назвать, что изменила модель, и назвать, куда переехала нагрузка. Разница лишь в том, что здесь форма прикладывается не к чужому кейсу — к собственной работе слушателя, прямо сейчас, пока он ещё в аудитории и может спросить себя, а не узнать об ответе постфактум из новостей.</a:t>
            </a:r>
          </a:p>
          <a:p>
            <a:r>
              <a:t/>
            </a:r>
          </a:p>
          <a:p>
            <a:r>
              <a:t>На снимке — человек, проверяющий источник информации по каналу, не связанному с тем, откуда пришло исходное сообщение: ровно та проверка, о которой говорит третья строка кадра. Кадр ничего не доказывает сам по себе — он держит экран, пока в зале звучит вопрос, а не пустую рамку.</a:t>
            </a:r>
          </a:p>
          <a:p>
            <a:r>
              <a:t/>
            </a:r>
          </a:p>
          <a:p>
            <a:r>
              <a:t>**Источники.** </a:t>
            </a:r>
            <a:r>
              <a:rPr u="sng">
                <a:solidFill>
                  <a:srgbClr val="065A82"/>
                </a:solidFill>
                <a:hlinkClick r:id="rId3"/>
              </a:rPr>
              <a:t>Diel и соавт., метаанализ распознавания дипфейков, Computers in Human Behavior Reports, 2024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predictiveanalyticsworld.com/machinelearningtimes/cnet-found-errors-in-more-than-half-of-its-ai-written-stories/12869/"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hyperlink" Target="https://www.marketing-interactive.com/toys-r-us-sora-ai-sentiments-plummet"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orbes.com/sites/danidiplacido/2025/11/04/coca-cola-sparks-backlash-with-ai-generated-christmas-ad-again/" TargetMode="Externa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hyperlink" Target="https://ladachizhova.substack.com/p/is-it-hard-to-be-an-illustrator-in" TargetMode="Externa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investors.upwork.com/node/12681/pdf" TargetMode="Externa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hyperlink" Target="https://www.predictiveanalyticsworld.com/machinelearningtimes/cnet-found-errors-in-more-than-half-of-its-ai-written-stories/12869/" TargetMode="External"/><Relationship Id="rId4" Type="http://schemas.openxmlformats.org/officeDocument/2006/relationships/hyperlink" Target="https://system1group.com/ad-of-the-week/ai-or-no-ai-coke-gets-the-christmas-love" TargetMode="External"/><Relationship Id="rId5" Type="http://schemas.openxmlformats.org/officeDocument/2006/relationships/hyperlink" Target="https://carma.com/ai/" TargetMode="External"/><Relationship Id="rId6" Type="http://schemas.openxmlformats.org/officeDocument/2006/relationships/hyperlink" Target="https://www.twobirds.com/en/insights/2025/uk/stability-ai-defeats-getty-images-copyright-claims-in-first-of-its-kind-dispute-before-the-high-cour" TargetMode="Externa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hyperlink" Target="https://doi.org/10.1016/j.chbr.2024.100538" TargetMode="Externa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hyperlink" Target="https://doi.org/10.1016/j.chbr.2024.100538" TargetMode="External"/><Relationship Id="rId4" Type="http://schemas.openxmlformats.org/officeDocument/2006/relationships/notesSlide" Target="../notesSlides/notesSlide7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2598"/>
          </a:xfrm>
          <a:prstGeom prst="roundRect">
            <a:avLst>
              <a:gd name="adj" fmla="val 6294"/>
            </a:avLst>
          </a:prstGeom>
          <a:solidFill>
            <a:srgbClr val="F4F7FA"/>
          </a:solidFill>
          <a:ln w="19050">
            <a:solidFill>
              <a:srgbClr val="1C7293"/>
            </a:solidFill>
          </a:ln>
          <a:effectLst/>
        </p:spPr>
        <p:txBody>
          <a:bodyPr rtlCol="0" anchor="ctr"/>
          <a:lstStyle/>
          <a:p>
            <a:pPr algn="ctr"/>
          </a:p>
        </p:txBody>
      </p:sp>
      <p:pic>
        <p:nvPicPr>
          <p:cNvPr id="4" name="Picture 3" descr="s01-cover-dual-monitor-stylus-workstation.jpg"/>
          <p:cNvPicPr>
            <a:picLocks noChangeAspect="1"/>
          </p:cNvPicPr>
          <p:nvPr/>
        </p:nvPicPr>
        <p:blipFill>
          <a:blip r:embed="rId2"/>
          <a:stretch>
            <a:fillRect/>
          </a:stretch>
        </p:blipFill>
        <p:spPr>
          <a:xfrm>
            <a:off x="4519879" y="137160"/>
            <a:ext cx="7123176" cy="4751158"/>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200" b="0" i="0">
                <a:solidFill>
                  <a:srgbClr val="21295C"/>
                </a:solidFill>
                <a:latin typeface="Arial"/>
              </a:rPr>
              <a:t>Узнавание стоило доверия бесплатно — сколько оно стоит теперь</a:t>
            </a:r>
          </a:p>
          <a:p>
            <a:pPr algn="l">
              <a:lnSpc>
                <a:spcPct val="122000"/>
              </a:lnSpc>
              <a:spcBef>
                <a:spcPts val="1200"/>
              </a:spcBef>
            </a:pPr>
            <a:r>
              <a:rPr sz="3200" b="0" i="0">
                <a:solidFill>
                  <a:srgbClr val="21295C"/>
                </a:solidFill>
                <a:latin typeface="Arial"/>
              </a:rPr>
              <a:t>Лекция 8</a:t>
            </a:r>
          </a:p>
          <a:p>
            <a:pPr algn="l">
              <a:lnSpc>
                <a:spcPct val="122000"/>
              </a:lnSpc>
              <a:spcBef>
                <a:spcPts val="1200"/>
              </a:spcBef>
            </a:pPr>
            <a:r>
              <a:rPr sz="1600" b="0" i="0">
                <a:solidFill>
                  <a:srgbClr val="21295C"/>
                </a:solidFill>
                <a:latin typeface="Arial"/>
              </a:rPr>
              <a:t>Два-три дня на правку логотипа стали текстовым запросом и несколькими секундами — а вместе с ценой исполнения обнулилась и цена подделать того, кто его сделал.</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Два-три дня на правку: как творческий акт делали руками</a:t>
            </a:r>
          </a:p>
        </p:txBody>
      </p:sp>
      <p:sp>
        <p:nvSpPr>
          <p:cNvPr id="4" name="Rounded Rectangle 3"/>
          <p:cNvSpPr/>
          <p:nvPr/>
        </p:nvSpPr>
        <p:spPr>
          <a:xfrm>
            <a:off x="502920" y="1335024"/>
            <a:ext cx="1899818"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254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ЦИКЛ ПРАВКИ</a:t>
            </a:r>
          </a:p>
        </p:txBody>
      </p:sp>
      <p:sp>
        <p:nvSpPr>
          <p:cNvPr id="6" name="TextBox 5"/>
          <p:cNvSpPr txBox="1"/>
          <p:nvPr/>
        </p:nvSpPr>
        <p:spPr>
          <a:xfrm>
            <a:off x="640080" y="1725375"/>
            <a:ext cx="162549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 дня</a:t>
            </a:r>
          </a:p>
        </p:txBody>
      </p:sp>
      <p:sp>
        <p:nvSpPr>
          <p:cNvPr id="7" name="TextBox 6"/>
          <p:cNvSpPr txBox="1"/>
          <p:nvPr/>
        </p:nvSpPr>
        <p:spPr>
          <a:xfrm>
            <a:off x="640080" y="2152374"/>
            <a:ext cx="16254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бриф → референс → черновик → правка → сдача</a:t>
            </a:r>
          </a:p>
        </p:txBody>
      </p:sp>
      <p:sp>
        <p:nvSpPr>
          <p:cNvPr id="8" name="Rounded Rectangle 7"/>
          <p:cNvSpPr/>
          <p:nvPr/>
        </p:nvSpPr>
        <p:spPr>
          <a:xfrm>
            <a:off x="2567330" y="1335024"/>
            <a:ext cx="1899818"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04490" y="1472184"/>
            <a:ext cx="16254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ТИПОВОЕ ЗАДАНИЕ</a:t>
            </a:r>
          </a:p>
        </p:txBody>
      </p:sp>
      <p:sp>
        <p:nvSpPr>
          <p:cNvPr id="10" name="TextBox 9"/>
          <p:cNvSpPr txBox="1"/>
          <p:nvPr/>
        </p:nvSpPr>
        <p:spPr>
          <a:xfrm>
            <a:off x="2704490" y="1725375"/>
            <a:ext cx="162549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50–150 $</a:t>
            </a:r>
          </a:p>
        </p:txBody>
      </p:sp>
      <p:sp>
        <p:nvSpPr>
          <p:cNvPr id="11" name="TextBox 10"/>
          <p:cNvSpPr txBox="1"/>
          <p:nvPr/>
        </p:nvSpPr>
        <p:spPr>
          <a:xfrm>
            <a:off x="2704490" y="2152374"/>
            <a:ext cx="16254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рыночная ставка фрилансера, 2026</a:t>
            </a:r>
          </a:p>
        </p:txBody>
      </p:sp>
      <p:sp>
        <p:nvSpPr>
          <p:cNvPr id="12" name="Rounded Rectangle 11"/>
          <p:cNvSpPr/>
          <p:nvPr/>
        </p:nvSpPr>
        <p:spPr>
          <a:xfrm>
            <a:off x="4631740" y="1335024"/>
            <a:ext cx="1899818"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768900" y="1472184"/>
            <a:ext cx="16254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СЕГОДНЯШНЯЯ АЛЬТЕРНАТИВА</a:t>
            </a:r>
          </a:p>
        </p:txBody>
      </p:sp>
      <p:sp>
        <p:nvSpPr>
          <p:cNvPr id="14" name="TextBox 13"/>
          <p:cNvSpPr txBox="1"/>
          <p:nvPr/>
        </p:nvSpPr>
        <p:spPr>
          <a:xfrm>
            <a:off x="4768900" y="1932846"/>
            <a:ext cx="16254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секунды</a:t>
            </a:r>
          </a:p>
        </p:txBody>
      </p:sp>
      <p:sp>
        <p:nvSpPr>
          <p:cNvPr id="15" name="TextBox 14"/>
          <p:cNvSpPr txBox="1"/>
          <p:nvPr/>
        </p:nvSpPr>
        <p:spPr>
          <a:xfrm>
            <a:off x="4768900" y="2359845"/>
            <a:ext cx="16254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текстовый запрос вместо цикла правок</a:t>
            </a:r>
          </a:p>
        </p:txBody>
      </p:sp>
      <p:sp>
        <p:nvSpPr>
          <p:cNvPr id="16" name="TextBox 15"/>
          <p:cNvSpPr txBox="1"/>
          <p:nvPr/>
        </p:nvSpPr>
        <p:spPr>
          <a:xfrm>
            <a:off x="502920" y="3142720"/>
            <a:ext cx="1307592" cy="58707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Изображение</a:t>
            </a:r>
          </a:p>
        </p:txBody>
      </p:sp>
      <p:sp>
        <p:nvSpPr>
          <p:cNvPr id="17" name="Rounded Rectangle 16"/>
          <p:cNvSpPr/>
          <p:nvPr/>
        </p:nvSpPr>
        <p:spPr>
          <a:xfrm>
            <a:off x="1920240" y="3106144"/>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51864"/>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Бриф</a:t>
            </a:r>
          </a:p>
        </p:txBody>
      </p:sp>
      <p:sp>
        <p:nvSpPr>
          <p:cNvPr id="19" name="Right Arrow 18"/>
          <p:cNvSpPr/>
          <p:nvPr/>
        </p:nvSpPr>
        <p:spPr>
          <a:xfrm>
            <a:off x="2913049" y="336768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3141649" y="3106144"/>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3223945" y="3151864"/>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Референс</a:t>
            </a:r>
          </a:p>
        </p:txBody>
      </p:sp>
      <p:sp>
        <p:nvSpPr>
          <p:cNvPr id="22" name="Right Arrow 21"/>
          <p:cNvSpPr/>
          <p:nvPr/>
        </p:nvSpPr>
        <p:spPr>
          <a:xfrm>
            <a:off x="4134459" y="336768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363059" y="3106144"/>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445355" y="3151864"/>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Черновик</a:t>
            </a:r>
          </a:p>
        </p:txBody>
      </p:sp>
      <p:sp>
        <p:nvSpPr>
          <p:cNvPr id="25" name="Right Arrow 24"/>
          <p:cNvSpPr/>
          <p:nvPr/>
        </p:nvSpPr>
        <p:spPr>
          <a:xfrm>
            <a:off x="5355869" y="3367680"/>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584469" y="3106144"/>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5666765" y="3151864"/>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Правка → сдача</a:t>
            </a:r>
          </a:p>
        </p:txBody>
      </p:sp>
      <p:sp>
        <p:nvSpPr>
          <p:cNvPr id="28" name="TextBox 27"/>
          <p:cNvSpPr txBox="1"/>
          <p:nvPr/>
        </p:nvSpPr>
        <p:spPr>
          <a:xfrm>
            <a:off x="502920" y="3949255"/>
            <a:ext cx="1307592" cy="58707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Музыка/озвучка</a:t>
            </a:r>
          </a:p>
        </p:txBody>
      </p:sp>
      <p:sp>
        <p:nvSpPr>
          <p:cNvPr id="29" name="Rounded Rectangle 28"/>
          <p:cNvSpPr/>
          <p:nvPr/>
        </p:nvSpPr>
        <p:spPr>
          <a:xfrm>
            <a:off x="1920240" y="3912679"/>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958399"/>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Бриф</a:t>
            </a:r>
          </a:p>
        </p:txBody>
      </p:sp>
      <p:sp>
        <p:nvSpPr>
          <p:cNvPr id="31" name="Right Arrow 30"/>
          <p:cNvSpPr/>
          <p:nvPr/>
        </p:nvSpPr>
        <p:spPr>
          <a:xfrm>
            <a:off x="2913049" y="417421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3141649" y="3912679"/>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3223945" y="3958399"/>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Кастинг</a:t>
            </a:r>
          </a:p>
        </p:txBody>
      </p:sp>
      <p:sp>
        <p:nvSpPr>
          <p:cNvPr id="34" name="Right Arrow 33"/>
          <p:cNvSpPr/>
          <p:nvPr/>
        </p:nvSpPr>
        <p:spPr>
          <a:xfrm>
            <a:off x="4134459" y="4174215"/>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4363059" y="3912679"/>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4445355" y="3958399"/>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Черновик</a:t>
            </a:r>
          </a:p>
        </p:txBody>
      </p:sp>
      <p:sp>
        <p:nvSpPr>
          <p:cNvPr id="37" name="Right Arrow 36"/>
          <p:cNvSpPr/>
          <p:nvPr/>
        </p:nvSpPr>
        <p:spPr>
          <a:xfrm>
            <a:off x="5355869" y="4174215"/>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5584469" y="3912679"/>
            <a:ext cx="947089" cy="66023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5666765" y="3958399"/>
            <a:ext cx="782497" cy="568790"/>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Правка → сдача</a:t>
            </a:r>
          </a:p>
        </p:txBody>
      </p:sp>
      <p:sp>
        <p:nvSpPr>
          <p:cNvPr id="40" name="TextBox 39"/>
          <p:cNvSpPr txBox="1"/>
          <p:nvPr/>
        </p:nvSpPr>
        <p:spPr>
          <a:xfrm>
            <a:off x="502920" y="4609486"/>
            <a:ext cx="60286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цикл — изображение, трек, озвучка</a:t>
            </a:r>
          </a:p>
        </p:txBody>
      </p:sp>
      <p:sp>
        <p:nvSpPr>
          <p:cNvPr id="41" name="Rounded Rectangle 40"/>
          <p:cNvSpPr/>
          <p:nvPr/>
        </p:nvSpPr>
        <p:spPr>
          <a:xfrm>
            <a:off x="374904" y="491217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003610"/>
            <a:ext cx="11112703" cy="12325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Дизайнер получает бриф и референс, присылает черновик через день-два, правит по замечаниям — и только после двух-трёх итераций сдаёт финальный файл.</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Весь цикл — 1–3 дня, 50–150 долларов за типовое задание.</a:t>
            </a:r>
            <a:r>
              <a:rPr sz="1500" b="0" i="0">
                <a:solidFill>
                  <a:srgbClr val="21295C"/>
                </a:solidFill>
                <a:latin typeface="Arial"/>
              </a:rPr>
              <a:t> Музыка и озвучка устроены похожим циклом.</a:t>
            </a:r>
          </a:p>
        </p:txBody>
      </p:sp>
      <p:sp>
        <p:nvSpPr>
          <p:cNvPr id="43" name="Rounded Rectangle 42"/>
          <p:cNvSpPr/>
          <p:nvPr/>
        </p:nvSpPr>
        <p:spPr>
          <a:xfrm>
            <a:off x="6842455" y="1335024"/>
            <a:ext cx="4846320" cy="3323272"/>
          </a:xfrm>
          <a:prstGeom prst="roundRect">
            <a:avLst>
              <a:gd name="adj" fmla="val 9171"/>
            </a:avLst>
          </a:prstGeom>
          <a:solidFill>
            <a:srgbClr val="F4F7FA"/>
          </a:solidFill>
          <a:ln w="19050">
            <a:solidFill>
              <a:srgbClr val="1C7293"/>
            </a:solidFill>
          </a:ln>
          <a:effectLst/>
        </p:spPr>
        <p:txBody>
          <a:bodyPr rtlCol="0" anchor="ctr"/>
          <a:lstStyle/>
          <a:p>
            <a:pPr algn="ctr"/>
          </a:p>
        </p:txBody>
      </p:sp>
      <p:pic>
        <p:nvPicPr>
          <p:cNvPr id="44" name="Picture 43" descr="s02-fashion-design-sketch-pencil-paper.jpg"/>
          <p:cNvPicPr>
            <a:picLocks noChangeAspect="1"/>
          </p:cNvPicPr>
          <p:nvPr/>
        </p:nvPicPr>
        <p:blipFill>
          <a:blip r:embed="rId2"/>
          <a:stretch>
            <a:fillRect/>
          </a:stretch>
        </p:blipFill>
        <p:spPr>
          <a:xfrm>
            <a:off x="6979615" y="1472184"/>
            <a:ext cx="4572000" cy="3048952"/>
          </a:xfrm>
          <a:prstGeom prst="rect">
            <a:avLst/>
          </a:prstGeom>
        </p:spPr>
      </p:pic>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DesignShifu 2026; GigRadar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Узнавание было бесплатным: медиа и найм ломает один механизм</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CNET: СТАТЬИ, ПОТРЕБОВАВШИЕ ПРАВКИ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53% (41 из 77)</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базовый уровень ошибок классической журналистики — 40–61%</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ПУБЛИЧНО ИСПРАВЛЯЕТСЯ (КЛАССИКА)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2%</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классическая журналистика, независимые аудиты</a:t>
            </a:r>
          </a:p>
        </p:txBody>
      </p:sp>
      <p:sp>
        <p:nvSpPr>
          <p:cNvPr id="12" name="Rounded Rectangle 11"/>
          <p:cNvSpPr/>
          <p:nvPr/>
        </p:nvSpPr>
        <p:spPr>
          <a:xfrm>
            <a:off x="502920"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НАЁМ: ПРОВЕРОК УЗНАВАНИЯ</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из 5 не поймали подмену</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видеоинтервью + проверка биографии; поймал EDR спустя дни</a:t>
            </a:r>
          </a:p>
        </p:txBody>
      </p:sp>
      <p:sp>
        <p:nvSpPr>
          <p:cNvPr id="16" name="Rounded Rectangle 15"/>
          <p:cNvSpPr/>
          <p:nvPr/>
        </p:nvSpPr>
        <p:spPr>
          <a:xfrm>
            <a:off x="6178143" y="2665369"/>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ПОДДЕЛКИ ЛИЧНОСТИ</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≈120 $ + ≈70 минут</a:t>
            </a:r>
          </a:p>
        </p:txBody>
      </p:sp>
      <p:sp>
        <p:nvSpPr>
          <p:cNvPr id="19" name="TextBox 18"/>
          <p:cNvSpPr txBox="1"/>
          <p:nvPr/>
        </p:nvSpPr>
        <p:spPr>
          <a:xfrm>
            <a:off x="6315303"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украденная личность + дипфейк реального времени на бытовом GPU</a:t>
            </a:r>
          </a:p>
        </p:txBody>
      </p:sp>
      <p:sp>
        <p:nvSpPr>
          <p:cNvPr id="20" name="Rounded Rectangle 19"/>
          <p:cNvSpPr/>
          <p:nvPr/>
        </p:nvSpPr>
        <p:spPr>
          <a:xfrm>
            <a:off x="374904" y="392256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14003"/>
            <a:ext cx="5373471" cy="2222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Ряд 1 — медиа.</a:t>
            </a:r>
            <a:r>
              <a:rPr sz="1500" b="0" i="0">
                <a:solidFill>
                  <a:srgbClr val="21295C"/>
                </a:solidFill>
                <a:latin typeface="Arial"/>
              </a:rPr>
              <a:t> CNET: 53% AI-статей потребовали исправления — того же порядка, что ошибки классической журналистики. Раскрытие заставило исправить то, что индустрия и так не исправляла.</a:t>
            </a:r>
          </a:p>
        </p:txBody>
      </p:sp>
      <p:sp>
        <p:nvSpPr>
          <p:cNvPr id="22" name="TextBox 21"/>
          <p:cNvSpPr txBox="1"/>
          <p:nvPr/>
        </p:nvSpPr>
        <p:spPr>
          <a:xfrm>
            <a:off x="6278727" y="4014003"/>
            <a:ext cx="5373471" cy="2222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Ряд 2 — перенос, найм.</a:t>
            </a:r>
            <a:r>
              <a:rPr sz="1500" b="0" i="0">
                <a:solidFill>
                  <a:srgbClr val="21295C"/>
                </a:solidFill>
                <a:latin typeface="Arial"/>
              </a:rPr>
              <a:t> Пять из пяти проверок на собеседовании не поймали подмену — поймала система защиты рабочей станции.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Узнавание перестаёт отвечать на «можно ли доверять» — и становится вопросом: чем теперь доверие подтверждают.</a:t>
            </a:r>
          </a:p>
        </p:txBody>
      </p:sp>
      <p:sp>
        <p:nvSpPr>
          <p:cNvPr id="23" name="Rectangle 22"/>
          <p:cNvSpPr/>
          <p:nvPr/>
        </p:nvSpPr>
        <p:spPr>
          <a:xfrm>
            <a:off x="6091275" y="4014003"/>
            <a:ext cx="9144" cy="18712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CNET/TheWrap 2023; Predictive Analytics World 2023; KnowBe4 2024; Nisos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CNET: как это вскрылось и что стояло на кону</a:t>
            </a:r>
          </a:p>
        </p:txBody>
      </p:sp>
      <p:sp>
        <p:nvSpPr>
          <p:cNvPr id="4" name="Rounded Rectangle 3"/>
          <p:cNvSpPr/>
          <p:nvPr/>
        </p:nvSpPr>
        <p:spPr>
          <a:xfrm>
            <a:off x="502920" y="1335024"/>
            <a:ext cx="2052218" cy="2316276"/>
          </a:xfrm>
          <a:prstGeom prst="roundRect">
            <a:avLst>
              <a:gd name="adj" fmla="val 1485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7778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ОБНАРУЖЕНО</a:t>
            </a:r>
          </a:p>
        </p:txBody>
      </p:sp>
      <p:sp>
        <p:nvSpPr>
          <p:cNvPr id="6" name="TextBox 5"/>
          <p:cNvSpPr txBox="1"/>
          <p:nvPr/>
        </p:nvSpPr>
        <p:spPr>
          <a:xfrm>
            <a:off x="640080" y="1725375"/>
            <a:ext cx="17778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извне, не изнутри</a:t>
            </a:r>
          </a:p>
        </p:txBody>
      </p:sp>
      <p:sp>
        <p:nvSpPr>
          <p:cNvPr id="7" name="TextBox 6"/>
          <p:cNvSpPr txBox="1"/>
          <p:nvPr/>
        </p:nvSpPr>
        <p:spPr>
          <a:xfrm>
            <a:off x="640080" y="2542797"/>
            <a:ext cx="17778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стороннее расследование → огласка → признание CNET</a:t>
            </a:r>
          </a:p>
        </p:txBody>
      </p:sp>
      <p:sp>
        <p:nvSpPr>
          <p:cNvPr id="8" name="Rounded Rectangle 7"/>
          <p:cNvSpPr/>
          <p:nvPr/>
        </p:nvSpPr>
        <p:spPr>
          <a:xfrm>
            <a:off x="2719730" y="1335024"/>
            <a:ext cx="2052218" cy="2316276"/>
          </a:xfrm>
          <a:prstGeom prst="roundRect">
            <a:avLst>
              <a:gd name="adj" fmla="val 1485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856890" y="1472184"/>
            <a:ext cx="17778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ЖАНР СТАТЕЙ</a:t>
            </a:r>
          </a:p>
        </p:txBody>
      </p:sp>
      <p:sp>
        <p:nvSpPr>
          <p:cNvPr id="10" name="TextBox 9"/>
          <p:cNvSpPr txBox="1"/>
          <p:nvPr/>
        </p:nvSpPr>
        <p:spPr>
          <a:xfrm>
            <a:off x="2856890" y="1725375"/>
            <a:ext cx="1777898"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финансовые объяснители</a:t>
            </a:r>
          </a:p>
        </p:txBody>
      </p:sp>
      <p:sp>
        <p:nvSpPr>
          <p:cNvPr id="11" name="TextBox 10"/>
          <p:cNvSpPr txBox="1"/>
          <p:nvPr/>
        </p:nvSpPr>
        <p:spPr>
          <a:xfrm>
            <a:off x="2856890" y="2457923"/>
            <a:ext cx="17778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сложный процент, пенсионный счёт, кредитная карта — читатель не проверяет формулу</a:t>
            </a:r>
          </a:p>
        </p:txBody>
      </p:sp>
      <p:sp>
        <p:nvSpPr>
          <p:cNvPr id="12" name="Rounded Rectangle 11"/>
          <p:cNvSpPr/>
          <p:nvPr/>
        </p:nvSpPr>
        <p:spPr>
          <a:xfrm>
            <a:off x="4936540" y="1335024"/>
            <a:ext cx="2052218" cy="2316276"/>
          </a:xfrm>
          <a:prstGeom prst="roundRect">
            <a:avLst>
              <a:gd name="adj" fmla="val 1485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073700" y="1472184"/>
            <a:ext cx="17778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ШТАТ</a:t>
            </a:r>
          </a:p>
        </p:txBody>
      </p:sp>
      <p:sp>
        <p:nvSpPr>
          <p:cNvPr id="14" name="TextBox 13"/>
          <p:cNvSpPr txBox="1"/>
          <p:nvPr/>
        </p:nvSpPr>
        <p:spPr>
          <a:xfrm>
            <a:off x="5073700" y="1725375"/>
            <a:ext cx="17778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 уволено</a:t>
            </a:r>
          </a:p>
        </p:txBody>
      </p:sp>
      <p:sp>
        <p:nvSpPr>
          <p:cNvPr id="15" name="TextBox 14"/>
          <p:cNvSpPr txBox="1"/>
          <p:nvPr/>
        </p:nvSpPr>
        <p:spPr>
          <a:xfrm>
            <a:off x="5073700" y="2542797"/>
            <a:ext cx="17778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течение недель после огласки</a:t>
            </a:r>
          </a:p>
        </p:txBody>
      </p:sp>
      <p:sp>
        <p:nvSpPr>
          <p:cNvPr id="16" name="TextBox 15"/>
          <p:cNvSpPr txBox="1"/>
          <p:nvPr/>
        </p:nvSpPr>
        <p:spPr>
          <a:xfrm>
            <a:off x="502920" y="3870756"/>
            <a:ext cx="1307592" cy="1009565"/>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7" name="Rounded Rectangle 16"/>
          <p:cNvSpPr/>
          <p:nvPr/>
        </p:nvSpPr>
        <p:spPr>
          <a:xfrm>
            <a:off x="1920240" y="3834180"/>
            <a:ext cx="10613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879900"/>
            <a:ext cx="8967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Статьи выходят</a:t>
            </a:r>
          </a:p>
        </p:txBody>
      </p:sp>
      <p:sp>
        <p:nvSpPr>
          <p:cNvPr id="19" name="Right Arrow 18"/>
          <p:cNvSpPr/>
          <p:nvPr/>
        </p:nvSpPr>
        <p:spPr>
          <a:xfrm>
            <a:off x="3027349" y="430695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3255949" y="3834180"/>
            <a:ext cx="10613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3338245" y="3879900"/>
            <a:ext cx="8967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Подпись «CNET Money Staff»</a:t>
            </a:r>
          </a:p>
        </p:txBody>
      </p:sp>
      <p:sp>
        <p:nvSpPr>
          <p:cNvPr id="22" name="Right Arrow 21"/>
          <p:cNvSpPr/>
          <p:nvPr/>
        </p:nvSpPr>
        <p:spPr>
          <a:xfrm>
            <a:off x="4363059" y="430695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591659" y="3834180"/>
            <a:ext cx="10613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673955" y="3879900"/>
            <a:ext cx="8967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Разбор стороннего издания</a:t>
            </a:r>
          </a:p>
        </p:txBody>
      </p:sp>
      <p:sp>
        <p:nvSpPr>
          <p:cNvPr id="25" name="Right Arrow 24"/>
          <p:cNvSpPr/>
          <p:nvPr/>
        </p:nvSpPr>
        <p:spPr>
          <a:xfrm>
            <a:off x="5698769" y="4306959"/>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927369" y="3834180"/>
            <a:ext cx="10613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6009665" y="3879900"/>
            <a:ext cx="8967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Огласка → признание</a:t>
            </a:r>
          </a:p>
        </p:txBody>
      </p:sp>
      <p:sp>
        <p:nvSpPr>
          <p:cNvPr id="28" name="TextBox 27"/>
          <p:cNvSpPr txBox="1"/>
          <p:nvPr/>
        </p:nvSpPr>
        <p:spPr>
          <a:xfrm>
            <a:off x="502920" y="4953474"/>
            <a:ext cx="64858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событий — не добровольное раскрытие, а обнаружение извне</a:t>
            </a:r>
          </a:p>
        </p:txBody>
      </p:sp>
      <p:sp>
        <p:nvSpPr>
          <p:cNvPr id="29" name="Rounded Rectangle 28"/>
          <p:cNvSpPr/>
          <p:nvPr/>
        </p:nvSpPr>
        <p:spPr>
          <a:xfrm>
            <a:off x="374904" y="5256157"/>
            <a:ext cx="11441887" cy="98005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347597"/>
            <a:ext cx="11112703" cy="888610"/>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Порядок обнаружения важен не меньше цифр.</a:t>
            </a:r>
            <a:r>
              <a:rPr sz="1150" b="0" i="0">
                <a:solidFill>
                  <a:srgbClr val="21295C"/>
                </a:solidFill>
                <a:latin typeface="Arial"/>
              </a:rPr>
              <a:t> CNET не раскрыла происхождение статей добровольно — подмену заметило стороннее расследование.</a:t>
            </a:r>
          </a:p>
          <a:p>
            <a:pPr algn="l">
              <a:lnSpc>
                <a:spcPct val="126000"/>
              </a:lnSpc>
              <a:spcBef>
                <a:spcPts val="700"/>
              </a:spcBef>
            </a:pPr>
            <a:r>
              <a:rPr sz="1150" b="0" i="0">
                <a:solidFill>
                  <a:srgbClr val="21295C"/>
                </a:solidFill>
                <a:latin typeface="Arial"/>
              </a:rPr>
              <a:t/>
            </a:r>
            <a:r>
              <a:rPr sz="1150" b="1" i="0">
                <a:solidFill>
                  <a:srgbClr val="21295C"/>
                </a:solidFill>
                <a:latin typeface="Arial"/>
              </a:rPr>
              <a:t>Жанр — финансовые объяснители</a:t>
            </a:r>
            <a:r>
              <a:rPr sz="1150" b="0" i="0">
                <a:solidFill>
                  <a:srgbClr val="21295C"/>
                </a:solidFill>
                <a:latin typeface="Arial"/>
              </a:rPr>
              <a:t> («сложный процент», пенсионный счёт): читатель принимает формулу на веру, часть ошибок — арифметическая.</a:t>
            </a:r>
          </a:p>
          <a:p>
            <a:pPr algn="l">
              <a:lnSpc>
                <a:spcPct val="126000"/>
              </a:lnSpc>
              <a:spcBef>
                <a:spcPts val="700"/>
              </a:spcBef>
            </a:pPr>
            <a:r>
              <a:rPr sz="1150" b="0" i="0">
                <a:solidFill>
                  <a:srgbClr val="21295C"/>
                </a:solidFill>
                <a:latin typeface="Arial"/>
              </a:rPr>
              <a:t/>
            </a:r>
            <a:r>
              <a:rPr sz="1150" b="1" i="0">
                <a:solidFill>
                  <a:srgbClr val="21295C"/>
                </a:solidFill>
                <a:latin typeface="Arial"/>
              </a:rPr>
              <a:t>Что переехало:</a:t>
            </a:r>
            <a:r>
              <a:rPr sz="1150" b="0" i="0">
                <a:solidFill>
                  <a:srgbClr val="21295C"/>
                </a:solidFill>
                <a:latin typeface="Arial"/>
              </a:rPr>
              <a:t> ≈10% штата уволено за недели; институт «именованного автора» подорван — без измерения отклика аудитории.</a:t>
            </a:r>
          </a:p>
        </p:txBody>
      </p:sp>
      <p:sp>
        <p:nvSpPr>
          <p:cNvPr id="31" name="Rounded Rectangle 30"/>
          <p:cNvSpPr/>
          <p:nvPr/>
        </p:nvSpPr>
        <p:spPr>
          <a:xfrm>
            <a:off x="7299655" y="1335024"/>
            <a:ext cx="4389120" cy="2588895"/>
          </a:xfrm>
          <a:prstGeom prst="roundRect">
            <a:avLst>
              <a:gd name="adj" fmla="val 11773"/>
            </a:avLst>
          </a:prstGeom>
          <a:solidFill>
            <a:srgbClr val="F4F7FA"/>
          </a:solidFill>
          <a:ln w="19050">
            <a:solidFill>
              <a:srgbClr val="1C7293"/>
            </a:solidFill>
          </a:ln>
          <a:effectLst/>
        </p:spPr>
        <p:txBody>
          <a:bodyPr rtlCol="0" anchor="ctr"/>
          <a:lstStyle/>
          <a:p>
            <a:pPr algn="ctr"/>
          </a:p>
        </p:txBody>
      </p:sp>
      <p:pic>
        <p:nvPicPr>
          <p:cNvPr id="32" name="Picture 31" descr="s04-cnet-ai-disclosure-screenshot.jpg"/>
          <p:cNvPicPr>
            <a:picLocks noChangeAspect="1"/>
          </p:cNvPicPr>
          <p:nvPr/>
        </p:nvPicPr>
        <p:blipFill>
          <a:blip r:embed="rId2"/>
          <a:stretch>
            <a:fillRect/>
          </a:stretch>
        </p:blipFill>
        <p:spPr>
          <a:xfrm>
            <a:off x="7436815" y="1472184"/>
            <a:ext cx="4114800" cy="2314575"/>
          </a:xfrm>
          <a:prstGeom prst="rect">
            <a:avLst/>
          </a:prstGeom>
        </p:spPr>
      </p:pic>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CNN/ABC17News 2023; Predictive Analytics World 2023; CNET/TheWrap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Найм под чужой личностью: от одного случая к схеме промышленного масштаба</a:t>
            </a:r>
          </a:p>
        </p:txBody>
      </p:sp>
      <p:sp>
        <p:nvSpPr>
          <p:cNvPr id="4" name="Rounded Rectangle 3"/>
          <p:cNvSpPr/>
          <p:nvPr/>
        </p:nvSpPr>
        <p:spPr>
          <a:xfrm>
            <a:off x="502920" y="1335024"/>
            <a:ext cx="2204618" cy="1842864"/>
          </a:xfrm>
          <a:prstGeom prst="roundRect">
            <a:avLst>
              <a:gd name="adj" fmla="val 1653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KNOWBE4</a:t>
            </a:r>
          </a:p>
        </p:txBody>
      </p:sp>
      <p:sp>
        <p:nvSpPr>
          <p:cNvPr id="6" name="TextBox 5"/>
          <p:cNvSpPr txBox="1"/>
          <p:nvPr/>
        </p:nvSpPr>
        <p:spPr>
          <a:xfrm>
            <a:off x="640080" y="1725375"/>
            <a:ext cx="193029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интервью + проверка биографии — пройдено</a:t>
            </a:r>
          </a:p>
        </p:txBody>
      </p:sp>
      <p:sp>
        <p:nvSpPr>
          <p:cNvPr id="7" name="TextBox 6"/>
          <p:cNvSpPr txBox="1"/>
          <p:nvPr/>
        </p:nvSpPr>
        <p:spPr>
          <a:xfrm>
            <a:off x="640080" y="2169349"/>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подмену поймал EDR, не наём</a:t>
            </a:r>
          </a:p>
        </p:txBody>
      </p:sp>
      <p:sp>
        <p:nvSpPr>
          <p:cNvPr id="8" name="Rounded Rectangle 7"/>
          <p:cNvSpPr/>
          <p:nvPr/>
        </p:nvSpPr>
        <p:spPr>
          <a:xfrm>
            <a:off x="2872130" y="1335024"/>
            <a:ext cx="2204618" cy="1842864"/>
          </a:xfrm>
          <a:prstGeom prst="roundRect">
            <a:avLst>
              <a:gd name="adj" fmla="val 1653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00929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CHRISTINA CHAPMAN</a:t>
            </a:r>
          </a:p>
        </p:txBody>
      </p:sp>
      <p:sp>
        <p:nvSpPr>
          <p:cNvPr id="10" name="TextBox 9"/>
          <p:cNvSpPr txBox="1"/>
          <p:nvPr/>
        </p:nvSpPr>
        <p:spPr>
          <a:xfrm>
            <a:off x="3009290" y="1725375"/>
            <a:ext cx="1930298" cy="681623"/>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309+ компаний, $17M+</a:t>
            </a:r>
          </a:p>
        </p:txBody>
      </p:sp>
      <p:sp>
        <p:nvSpPr>
          <p:cNvPr id="11" name="TextBox 10"/>
          <p:cNvSpPr txBox="1"/>
          <p:nvPr/>
        </p:nvSpPr>
        <p:spPr>
          <a:xfrm>
            <a:off x="3009290" y="2406998"/>
            <a:ext cx="19302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«ферма ноутбуков», приговор вынесен, три года</a:t>
            </a:r>
          </a:p>
        </p:txBody>
      </p:sp>
      <p:sp>
        <p:nvSpPr>
          <p:cNvPr id="12" name="Rounded Rectangle 11"/>
          <p:cNvSpPr/>
          <p:nvPr/>
        </p:nvSpPr>
        <p:spPr>
          <a:xfrm>
            <a:off x="5241340" y="1335024"/>
            <a:ext cx="2204618" cy="1842864"/>
          </a:xfrm>
          <a:prstGeom prst="roundRect">
            <a:avLst>
              <a:gd name="adj" fmla="val 1653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ЯЧЕЙКА NISOS</a:t>
            </a:r>
          </a:p>
        </p:txBody>
      </p:sp>
      <p:sp>
        <p:nvSpPr>
          <p:cNvPr id="14" name="TextBox 13"/>
          <p:cNvSpPr txBox="1"/>
          <p:nvPr/>
        </p:nvSpPr>
        <p:spPr>
          <a:xfrm>
            <a:off x="5378500" y="1725375"/>
            <a:ext cx="1930298" cy="664648"/>
          </a:xfrm>
          <a:prstGeom prst="rect">
            <a:avLst/>
          </a:prstGeom>
          <a:noFill/>
        </p:spPr>
        <p:txBody>
          <a:bodyPr wrap="square" lIns="0" rIns="0" tIns="0" bIns="0" anchor="t">
            <a:spAutoFit/>
          </a:bodyPr>
          <a:lstStyle/>
          <a:p>
            <a:pPr algn="l">
              <a:lnSpc>
                <a:spcPct val="108000"/>
              </a:lnSpc>
            </a:pPr>
            <a:r>
              <a:rPr sz="1850" b="1" i="0">
                <a:solidFill>
                  <a:srgbClr val="1C7293"/>
                </a:solidFill>
                <a:latin typeface="Arial"/>
              </a:rPr>
              <a:t>170 000+ заявок → 76 офферов</a:t>
            </a:r>
          </a:p>
        </p:txBody>
      </p:sp>
      <p:sp>
        <p:nvSpPr>
          <p:cNvPr id="15" name="TextBox 14"/>
          <p:cNvSpPr txBox="1"/>
          <p:nvPr/>
        </p:nvSpPr>
        <p:spPr>
          <a:xfrm>
            <a:off x="5378500" y="2390023"/>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 оператора за 9 месяцев</a:t>
            </a:r>
          </a:p>
        </p:txBody>
      </p:sp>
      <p:sp>
        <p:nvSpPr>
          <p:cNvPr id="16" name="TextBox 15"/>
          <p:cNvSpPr txBox="1"/>
          <p:nvPr/>
        </p:nvSpPr>
        <p:spPr>
          <a:xfrm>
            <a:off x="502920" y="3397344"/>
            <a:ext cx="1307592" cy="1009565"/>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Схема</a:t>
            </a:r>
          </a:p>
        </p:txBody>
      </p:sp>
      <p:sp>
        <p:nvSpPr>
          <p:cNvPr id="17" name="Rounded Rectangle 16"/>
          <p:cNvSpPr/>
          <p:nvPr/>
        </p:nvSpPr>
        <p:spPr>
          <a:xfrm>
            <a:off x="1920240" y="3360768"/>
            <a:ext cx="11756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406488"/>
            <a:ext cx="10110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Ноутбук приходит на домашний адрес в США</a:t>
            </a:r>
          </a:p>
        </p:txBody>
      </p:sp>
      <p:sp>
        <p:nvSpPr>
          <p:cNvPr id="19" name="Right Arrow 18"/>
          <p:cNvSpPr/>
          <p:nvPr/>
        </p:nvSpPr>
        <p:spPr>
          <a:xfrm>
            <a:off x="3141649" y="383354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3370249" y="3360768"/>
            <a:ext cx="11756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3452545" y="3406488"/>
            <a:ext cx="10110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Выходит в домашнюю сеть</a:t>
            </a:r>
          </a:p>
        </p:txBody>
      </p:sp>
      <p:sp>
        <p:nvSpPr>
          <p:cNvPr id="22" name="Right Arrow 21"/>
          <p:cNvSpPr/>
          <p:nvPr/>
        </p:nvSpPr>
        <p:spPr>
          <a:xfrm>
            <a:off x="4591659" y="383354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820259" y="3360768"/>
            <a:ext cx="11756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902555" y="3406488"/>
            <a:ext cx="10110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Управляется удалённо оператором</a:t>
            </a:r>
          </a:p>
        </p:txBody>
      </p:sp>
      <p:sp>
        <p:nvSpPr>
          <p:cNvPr id="25" name="Right Arrow 24"/>
          <p:cNvSpPr/>
          <p:nvPr/>
        </p:nvSpPr>
        <p:spPr>
          <a:xfrm>
            <a:off x="6041669" y="383354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270269" y="3360768"/>
            <a:ext cx="1175689"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6352565" y="3406488"/>
            <a:ext cx="1011097" cy="991277"/>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Компания видит сотрудника «в США»</a:t>
            </a:r>
          </a:p>
        </p:txBody>
      </p:sp>
      <p:sp>
        <p:nvSpPr>
          <p:cNvPr id="28" name="TextBox 27"/>
          <p:cNvSpPr txBox="1"/>
          <p:nvPr/>
        </p:nvSpPr>
        <p:spPr>
          <a:xfrm>
            <a:off x="502920" y="448006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«фермы ноутбуков»: адрес в США, работа — из-за рубежа</a:t>
            </a:r>
          </a:p>
        </p:txBody>
      </p:sp>
      <p:sp>
        <p:nvSpPr>
          <p:cNvPr id="29" name="Rounded Rectangle 28"/>
          <p:cNvSpPr/>
          <p:nvPr/>
        </p:nvSpPr>
        <p:spPr>
          <a:xfrm>
            <a:off x="374904" y="4782746"/>
            <a:ext cx="11441887" cy="1442105"/>
          </a:xfrm>
          <a:prstGeom prst="roundRect">
            <a:avLst>
              <a:gd name="adj" fmla="val 21135"/>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4874186"/>
            <a:ext cx="11112703" cy="1362021"/>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Не изолированный случай — схема.</a:t>
            </a:r>
            <a:r>
              <a:rPr sz="1200" b="0" i="0">
                <a:solidFill>
                  <a:srgbClr val="21295C"/>
                </a:solidFill>
                <a:latin typeface="Arial"/>
              </a:rPr>
              <a:t> Christina Chapman держала «ферму ноутбуков» на дому. </a:t>
            </a:r>
            <a:r>
              <a:rPr sz="1200" b="1" i="0">
                <a:solidFill>
                  <a:srgbClr val="21295C"/>
                </a:solidFill>
                <a:latin typeface="Arial"/>
              </a:rPr>
              <a:t>309+ компаний, свыше 17 млн долларов за три года</a:t>
            </a:r>
            <a:r>
              <a:rPr sz="1200" b="0" i="0">
                <a:solidFill>
                  <a:srgbClr val="21295C"/>
                </a:solidFill>
                <a:latin typeface="Arial"/>
              </a:rPr>
              <a:t>.</a:t>
            </a:r>
          </a:p>
          <a:p>
            <a:pPr algn="l">
              <a:lnSpc>
                <a:spcPct val="126000"/>
              </a:lnSpc>
              <a:spcBef>
                <a:spcPts val="700"/>
              </a:spcBef>
            </a:pPr>
            <a:r>
              <a:rPr sz="950" b="0" i="0">
                <a:solidFill>
                  <a:srgbClr val="21295C"/>
                </a:solidFill>
                <a:latin typeface="Arial"/>
              </a:rPr>
              <a:t/>
            </a:r>
            <a:r>
              <a:rPr sz="950" b="0" i="1">
                <a:solidFill>
                  <a:srgbClr val="1C7293"/>
                </a:solidFill>
                <a:latin typeface="Arial"/>
              </a:rPr>
              <a:t>Слева — оригинал фотографии со стока; справа — тот же кадр, доработанный AI под чужую личность и поданный в HR (случай KnowBe4).</a:t>
            </a:r>
          </a:p>
          <a:p>
            <a:pPr algn="l">
              <a:lnSpc>
                <a:spcPct val="126000"/>
              </a:lnSpc>
              <a:spcBef>
                <a:spcPts val="700"/>
              </a:spcBef>
            </a:pPr>
            <a:r>
              <a:rPr sz="1200" b="0" i="0">
                <a:solidFill>
                  <a:srgbClr val="21295C"/>
                </a:solidFill>
                <a:latin typeface="Arial"/>
              </a:rPr>
              <a:t/>
            </a:r>
            <a:r>
              <a:rPr sz="1200" b="1" i="0">
                <a:solidFill>
                  <a:srgbClr val="21295C"/>
                </a:solidFill>
                <a:latin typeface="Arial"/>
              </a:rPr>
              <a:t>Отдельная ячейка (Nisos):</a:t>
            </a:r>
            <a:r>
              <a:rPr sz="1200" b="0" i="0">
                <a:solidFill>
                  <a:srgbClr val="21295C"/>
                </a:solidFill>
                <a:latin typeface="Arial"/>
              </a:rPr>
              <a:t> поддельные права, коучинг голосовой моделью, суфлирование ответов. </a:t>
            </a:r>
            <a:r>
              <a:rPr sz="1200" b="1" i="0">
                <a:solidFill>
                  <a:srgbClr val="21295C"/>
                </a:solidFill>
                <a:latin typeface="Arial"/>
              </a:rPr>
              <a:t>170 000+ заявок → 76 офферов</a:t>
            </a:r>
            <a:r>
              <a:rPr sz="1200" b="0" i="0">
                <a:solidFill>
                  <a:srgbClr val="21295C"/>
                </a:solidFill>
                <a:latin typeface="Arial"/>
              </a:rPr>
              <a:t>, 22 оператора.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Индустрия дала этому имя</a:t>
            </a:r>
            <a:r>
              <a:rPr sz="1200" b="0" i="0">
                <a:solidFill>
                  <a:srgbClr val="21295C"/>
                </a:solidFill>
                <a:latin typeface="Arial"/>
              </a:rPr>
              <a:t> («Famous Chollima») — рутинная угроза, не инцидент.</a:t>
            </a:r>
          </a:p>
        </p:txBody>
      </p:sp>
      <p:sp>
        <p:nvSpPr>
          <p:cNvPr id="31" name="Rounded Rectangle 30"/>
          <p:cNvSpPr/>
          <p:nvPr/>
        </p:nvSpPr>
        <p:spPr>
          <a:xfrm>
            <a:off x="7756855" y="1335024"/>
            <a:ext cx="3931920" cy="1980062"/>
          </a:xfrm>
          <a:prstGeom prst="roundRect">
            <a:avLst>
              <a:gd name="adj" fmla="val 15393"/>
            </a:avLst>
          </a:prstGeom>
          <a:solidFill>
            <a:srgbClr val="F4F7FA"/>
          </a:solidFill>
          <a:ln w="19050">
            <a:solidFill>
              <a:srgbClr val="1C7293"/>
            </a:solidFill>
          </a:ln>
          <a:effectLst/>
        </p:spPr>
        <p:txBody>
          <a:bodyPr rtlCol="0" anchor="ctr"/>
          <a:lstStyle/>
          <a:p>
            <a:pPr algn="ctr"/>
          </a:p>
        </p:txBody>
      </p:sp>
      <p:pic>
        <p:nvPicPr>
          <p:cNvPr id="32" name="Picture 31" descr="s05-knowbe4-stock-vs-fake-photo.jpg"/>
          <p:cNvPicPr>
            <a:picLocks noChangeAspect="1"/>
          </p:cNvPicPr>
          <p:nvPr/>
        </p:nvPicPr>
        <p:blipFill>
          <a:blip r:embed="rId2"/>
          <a:stretch>
            <a:fillRect/>
          </a:stretch>
        </p:blipFill>
        <p:spPr>
          <a:xfrm>
            <a:off x="7894015" y="1472184"/>
            <a:ext cx="3657600" cy="1705742"/>
          </a:xfrm>
          <a:prstGeom prst="rect">
            <a:avLst/>
          </a:prstGeom>
        </p:spPr>
      </p:pic>
      <p:sp>
        <p:nvSpPr>
          <p:cNvPr id="33" name="Rectangle 3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KnowBe4 2024; SecurityWeek 2024; DOJ 2025; Nisos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Защита не улучшается, а ухудшается</a:t>
            </a:r>
          </a:p>
        </p:txBody>
      </p:sp>
      <p:sp>
        <p:nvSpPr>
          <p:cNvPr id="4" name="Rounded Rectangle 3"/>
          <p:cNvSpPr/>
          <p:nvPr/>
        </p:nvSpPr>
        <p:spPr>
          <a:xfrm>
            <a:off x="502920" y="1335024"/>
            <a:ext cx="320634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9320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ФРОД ПРИ НАЙМЕ: ГОД К ГОДУ</a:t>
            </a:r>
          </a:p>
        </p:txBody>
      </p:sp>
      <p:sp>
        <p:nvSpPr>
          <p:cNvPr id="6" name="TextBox 5"/>
          <p:cNvSpPr txBox="1"/>
          <p:nvPr/>
        </p:nvSpPr>
        <p:spPr>
          <a:xfrm>
            <a:off x="640080" y="1725375"/>
            <a:ext cx="293202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31% → 40%</a:t>
            </a:r>
          </a:p>
        </p:txBody>
      </p:sp>
      <p:sp>
        <p:nvSpPr>
          <p:cNvPr id="7" name="TextBox 6"/>
          <p:cNvSpPr txBox="1"/>
          <p:nvPr/>
        </p:nvSpPr>
        <p:spPr>
          <a:xfrm>
            <a:off x="640080" y="2152374"/>
            <a:ext cx="293202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Checkr, опрос 3000 HR-менеджеров, сент. 2026</a:t>
            </a:r>
          </a:p>
        </p:txBody>
      </p:sp>
      <p:sp>
        <p:nvSpPr>
          <p:cNvPr id="8" name="Rounded Rectangle 7"/>
          <p:cNvSpPr/>
          <p:nvPr/>
        </p:nvSpPr>
        <p:spPr>
          <a:xfrm>
            <a:off x="3873855" y="1335024"/>
            <a:ext cx="320634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011015" y="1472184"/>
            <a:ext cx="293202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РАСПОЗНАЁТ ПОДДЕЛКУ ЦЕЛЕНАПРАВЛЕННО</a:t>
            </a:r>
          </a:p>
        </p:txBody>
      </p:sp>
      <p:sp>
        <p:nvSpPr>
          <p:cNvPr id="10" name="TextBox 9"/>
          <p:cNvSpPr txBox="1"/>
          <p:nvPr/>
        </p:nvSpPr>
        <p:spPr>
          <a:xfrm>
            <a:off x="4011015" y="1932846"/>
            <a:ext cx="293202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24–25% случаев</a:t>
            </a:r>
          </a:p>
        </p:txBody>
      </p:sp>
      <p:sp>
        <p:nvSpPr>
          <p:cNvPr id="11" name="TextBox 10"/>
          <p:cNvSpPr txBox="1"/>
          <p:nvPr/>
        </p:nvSpPr>
        <p:spPr>
          <a:xfrm>
            <a:off x="4011015" y="2359845"/>
            <a:ext cx="293202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предупреждён и ищет подделку</a:t>
            </a:r>
          </a:p>
        </p:txBody>
      </p:sp>
      <p:sp>
        <p:nvSpPr>
          <p:cNvPr id="12" name="Rounded Rectangle 11"/>
          <p:cNvSpPr/>
          <p:nvPr/>
        </p:nvSpPr>
        <p:spPr>
          <a:xfrm>
            <a:off x="502920" y="2876613"/>
            <a:ext cx="3206343"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013773"/>
            <a:ext cx="293202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ПРОВЕРКА ЖИВОСТИ ПОДНИМАЕТ ЗАЩИТУ ДО</a:t>
            </a:r>
          </a:p>
        </p:txBody>
      </p:sp>
      <p:sp>
        <p:nvSpPr>
          <p:cNvPr id="14" name="TextBox 13"/>
          <p:cNvSpPr txBox="1"/>
          <p:nvPr/>
        </p:nvSpPr>
        <p:spPr>
          <a:xfrm>
            <a:off x="640080" y="3474435"/>
            <a:ext cx="293202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a:t>
            </a:r>
          </a:p>
        </p:txBody>
      </p:sp>
      <p:sp>
        <p:nvSpPr>
          <p:cNvPr id="15" name="TextBox 14"/>
          <p:cNvSpPr txBox="1"/>
          <p:nvPr/>
        </p:nvSpPr>
        <p:spPr>
          <a:xfrm>
            <a:off x="640080" y="3901435"/>
            <a:ext cx="293202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существующая техническая контрмера — блокирует до 91% попыток</a:t>
            </a:r>
          </a:p>
        </p:txBody>
      </p:sp>
      <p:sp>
        <p:nvSpPr>
          <p:cNvPr id="16" name="Rounded Rectangle 15"/>
          <p:cNvSpPr/>
          <p:nvPr/>
        </p:nvSpPr>
        <p:spPr>
          <a:xfrm>
            <a:off x="3873855" y="2876613"/>
            <a:ext cx="3206343" cy="1795712"/>
          </a:xfrm>
          <a:prstGeom prst="roundRect">
            <a:avLst>
              <a:gd name="adj" fmla="val 1697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4011015" y="3013773"/>
            <a:ext cx="293202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ОРГАНИЗАЦИЙ ЕЁ ПРИМЕНЯЮТ ПОЛНОСТЬЮ</a:t>
            </a:r>
          </a:p>
        </p:txBody>
      </p:sp>
      <p:sp>
        <p:nvSpPr>
          <p:cNvPr id="18" name="TextBox 17"/>
          <p:cNvSpPr txBox="1"/>
          <p:nvPr/>
        </p:nvSpPr>
        <p:spPr>
          <a:xfrm>
            <a:off x="4011015" y="3474435"/>
            <a:ext cx="293202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≈46%</a:t>
            </a:r>
          </a:p>
        </p:txBody>
      </p:sp>
      <p:sp>
        <p:nvSpPr>
          <p:cNvPr id="19" name="TextBox 18"/>
          <p:cNvSpPr txBox="1"/>
          <p:nvPr/>
        </p:nvSpPr>
        <p:spPr>
          <a:xfrm>
            <a:off x="4011015" y="3901435"/>
            <a:ext cx="293202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 не технология, а внедрение</a:t>
            </a:r>
          </a:p>
        </p:txBody>
      </p:sp>
      <p:sp>
        <p:nvSpPr>
          <p:cNvPr id="20" name="Rounded Rectangle 19"/>
          <p:cNvSpPr/>
          <p:nvPr/>
        </p:nvSpPr>
        <p:spPr>
          <a:xfrm>
            <a:off x="374904" y="4763765"/>
            <a:ext cx="11441887" cy="1472442"/>
          </a:xfrm>
          <a:prstGeom prst="roundRect">
            <a:avLst>
              <a:gd name="adj" fmla="val 207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855205"/>
            <a:ext cx="11112703" cy="138100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Явление растёт, а не затухает.</a:t>
            </a:r>
            <a:r>
              <a:rPr sz="1200" b="0" i="0">
                <a:solidFill>
                  <a:srgbClr val="21295C"/>
                </a:solidFill>
                <a:latin typeface="Arial"/>
              </a:rPr>
              <a:t> Межгосударственное предупреждение и повторное предупреждение ФБР не остановили рост: доля компаний, столкнувшихся с фродом при найме, выросла с </a:t>
            </a:r>
            <a:r>
              <a:rPr sz="1200" b="1" i="0">
                <a:solidFill>
                  <a:srgbClr val="21295C"/>
                </a:solidFill>
                <a:latin typeface="Arial"/>
              </a:rPr>
              <a:t>31% до 40%</a:t>
            </a:r>
            <a:r>
              <a:rPr sz="1200" b="0" i="0">
                <a:solidFill>
                  <a:srgbClr val="21295C"/>
                </a:solidFill>
                <a:latin typeface="Arial"/>
              </a:rPr>
              <a:t> год к году.</a:t>
            </a:r>
          </a:p>
          <a:p>
            <a:pPr algn="l">
              <a:lnSpc>
                <a:spcPct val="126000"/>
              </a:lnSpc>
              <a:spcBef>
                <a:spcPts val="700"/>
              </a:spcBef>
            </a:pPr>
            <a:r>
              <a:rPr sz="1200" b="0" i="0">
                <a:solidFill>
                  <a:srgbClr val="21295C"/>
                </a:solidFill>
                <a:latin typeface="Arial"/>
              </a:rPr>
              <a:t/>
            </a:r>
            <a:r>
              <a:rPr sz="1200" b="1" i="0">
                <a:solidFill>
                  <a:srgbClr val="21295C"/>
                </a:solidFill>
                <a:latin typeface="Arial"/>
              </a:rPr>
              <a:t>Причина не только организационная</a:t>
            </a:r>
            <a:r>
              <a:rPr sz="1200" b="0" i="0">
                <a:solidFill>
                  <a:srgbClr val="21295C"/>
                </a:solidFill>
                <a:latin typeface="Arial"/>
              </a:rPr>
              <a:t> — предупреждённый человек распознаёт качественный дипфейк лишь в </a:t>
            </a:r>
            <a:r>
              <a:rPr sz="1200" b="1" i="0">
                <a:solidFill>
                  <a:srgbClr val="21295C"/>
                </a:solidFill>
                <a:latin typeface="Arial"/>
              </a:rPr>
              <a:t>24–25% случаев</a:t>
            </a:r>
            <a:r>
              <a:rPr sz="1200" b="0" i="0">
                <a:solidFill>
                  <a:srgbClr val="21295C"/>
                </a:solidFill>
                <a:latin typeface="Arial"/>
              </a:rPr>
              <a:t>.</a:t>
            </a:r>
          </a:p>
          <a:p>
            <a:pPr algn="l">
              <a:lnSpc>
                <a:spcPct val="126000"/>
              </a:lnSpc>
              <a:spcBef>
                <a:spcPts val="700"/>
              </a:spcBef>
            </a:pPr>
            <a:r>
              <a:rPr sz="1200" b="0" i="0">
                <a:solidFill>
                  <a:srgbClr val="21295C"/>
                </a:solidFill>
                <a:latin typeface="Arial"/>
              </a:rPr>
              <a:t/>
            </a:r>
            <a:r>
              <a:rPr sz="1200" b="1" i="0">
                <a:solidFill>
                  <a:srgbClr val="21295C"/>
                </a:solidFill>
                <a:latin typeface="Arial"/>
              </a:rPr>
              <a:t>Защита существует</a:t>
            </a:r>
            <a:r>
              <a:rPr sz="1200" b="0" i="0">
                <a:solidFill>
                  <a:srgbClr val="21295C"/>
                </a:solidFill>
                <a:latin typeface="Arial"/>
              </a:rPr>
              <a:t> — проверка живости поднимает защиту до </a:t>
            </a:r>
            <a:r>
              <a:rPr sz="1200" b="1" i="0">
                <a:solidFill>
                  <a:srgbClr val="21295C"/>
                </a:solidFill>
                <a:latin typeface="Arial"/>
              </a:rPr>
              <a:t>91%</a:t>
            </a:r>
            <a:r>
              <a:rPr sz="1200" b="0" i="0">
                <a:solidFill>
                  <a:srgbClr val="21295C"/>
                </a:solidFill>
                <a:latin typeface="Arial"/>
              </a:rPr>
              <a:t> (блокирует до 91% попыток такого фрода), — </a:t>
            </a:r>
            <a:r>
              <a:rPr sz="1200" b="1" i="0">
                <a:solidFill>
                  <a:srgbClr val="21295C"/>
                </a:solidFill>
                <a:latin typeface="Arial"/>
              </a:rPr>
              <a:t>но полностью внедрили её лишь ≈46% организаций.</a:t>
            </a:r>
            <a:r>
              <a:rPr sz="1200" b="0" i="0">
                <a:solidFill>
                  <a:srgbClr val="21295C"/>
                </a:solidFill>
                <a:latin typeface="Arial"/>
              </a:rPr>
              <a:t> Разрыв не в технологии, а во внедрении.</a:t>
            </a:r>
          </a:p>
        </p:txBody>
      </p:sp>
      <p:sp>
        <p:nvSpPr>
          <p:cNvPr id="22" name="Rounded Rectangle 21"/>
          <p:cNvSpPr/>
          <p:nvPr/>
        </p:nvSpPr>
        <p:spPr>
          <a:xfrm>
            <a:off x="7391095" y="1335024"/>
            <a:ext cx="4297680" cy="2386584"/>
          </a:xfrm>
          <a:prstGeom prst="roundRect">
            <a:avLst>
              <a:gd name="adj" fmla="val 12771"/>
            </a:avLst>
          </a:prstGeom>
          <a:solidFill>
            <a:srgbClr val="F4F7FA"/>
          </a:solidFill>
          <a:ln w="19050">
            <a:solidFill>
              <a:srgbClr val="1C7293"/>
            </a:solidFill>
          </a:ln>
          <a:effectLst/>
        </p:spPr>
        <p:txBody>
          <a:bodyPr rtlCol="0" anchor="ctr"/>
          <a:lstStyle/>
          <a:p>
            <a:pPr algn="ctr"/>
          </a:p>
        </p:txBody>
      </p:sp>
      <p:pic>
        <p:nvPicPr>
          <p:cNvPr id="23" name="Picture 22" descr="s06-cbs-deepfake-detection-laptop-screen.jpg"/>
          <p:cNvPicPr>
            <a:picLocks noChangeAspect="1"/>
          </p:cNvPicPr>
          <p:nvPr/>
        </p:nvPicPr>
        <p:blipFill>
          <a:blip r:embed="rId2"/>
          <a:stretch>
            <a:fillRect/>
          </a:stretch>
        </p:blipFill>
        <p:spPr>
          <a:xfrm>
            <a:off x="7528255" y="1472184"/>
            <a:ext cx="4023360" cy="2112264"/>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Checkr 2026; Boston Globe 2026; отраслевые обзоры безопасности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Синтез лица и голоса: здесь — найм, в Лекции 14 — атака на компанию</a:t>
            </a:r>
          </a:p>
        </p:txBody>
      </p:sp>
      <p:sp>
        <p:nvSpPr>
          <p:cNvPr id="4" name="Rounded Rectangle 3"/>
          <p:cNvSpPr/>
          <p:nvPr/>
        </p:nvSpPr>
        <p:spPr>
          <a:xfrm>
            <a:off x="502920" y="1335024"/>
            <a:ext cx="5437479" cy="3065279"/>
          </a:xfrm>
          <a:prstGeom prst="roundRect">
            <a:avLst>
              <a:gd name="adj" fmla="val 994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Лекция 14 — атака постфактум</a:t>
            </a:r>
          </a:p>
        </p:txBody>
      </p:sp>
      <p:sp>
        <p:nvSpPr>
          <p:cNvPr id="6" name="TextBox 5"/>
          <p:cNvSpPr txBox="1"/>
          <p:nvPr/>
        </p:nvSpPr>
        <p:spPr>
          <a:xfrm>
            <a:off x="667512" y="1846650"/>
            <a:ext cx="5108295" cy="239820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Видеозвонок «гендиректора» финансовому директору</a:t>
            </a:r>
          </a:p>
          <a:p>
            <a:pPr algn="l">
              <a:lnSpc>
                <a:spcPct val="126000"/>
              </a:lnSpc>
            </a:pPr>
            <a:r>
              <a:rPr sz="1450" b="0" i="0">
                <a:solidFill>
                  <a:srgbClr val="21295C"/>
                </a:solidFill>
                <a:latin typeface="Arial"/>
              </a:rPr>
              <a:t>• Сотрудник уже имеет доступ к счетам</a:t>
            </a:r>
          </a:p>
          <a:p>
            <a:pPr algn="l">
              <a:lnSpc>
                <a:spcPct val="126000"/>
              </a:lnSpc>
            </a:pPr>
            <a:r>
              <a:rPr sz="1450" b="0" i="0">
                <a:solidFill>
                  <a:srgbClr val="21295C"/>
                </a:solidFill>
                <a:latin typeface="Arial"/>
              </a:rPr>
              <a:t>• Цель — извлечь деньги немедленно</a:t>
            </a:r>
          </a:p>
          <a:p>
            <a:pPr algn="l">
              <a:lnSpc>
                <a:spcPct val="126000"/>
              </a:lnSpc>
            </a:pPr>
            <a:r>
              <a:rPr sz="1450" b="0" i="0">
                <a:solidFill>
                  <a:srgbClr val="21295C"/>
                </a:solidFill>
                <a:latin typeface="Arial"/>
              </a:rPr>
              <a:t>• Защита — процесс, не контр-детектор</a:t>
            </a:r>
          </a:p>
        </p:txBody>
      </p:sp>
      <p:sp>
        <p:nvSpPr>
          <p:cNvPr id="7" name="Rounded Rectangle 6"/>
          <p:cNvSpPr/>
          <p:nvPr/>
        </p:nvSpPr>
        <p:spPr>
          <a:xfrm>
            <a:off x="6251295" y="1335024"/>
            <a:ext cx="5437479" cy="3065279"/>
          </a:xfrm>
          <a:prstGeom prst="roundRect">
            <a:avLst>
              <a:gd name="adj" fmla="val 994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Эта лекция — вход, до доступа</a:t>
            </a:r>
          </a:p>
        </p:txBody>
      </p:sp>
      <p:sp>
        <p:nvSpPr>
          <p:cNvPr id="9" name="TextBox 8"/>
          <p:cNvSpPr txBox="1"/>
          <p:nvPr/>
        </p:nvSpPr>
        <p:spPr>
          <a:xfrm>
            <a:off x="6415887" y="1846650"/>
            <a:ext cx="5108295" cy="239820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Видеособеседование с кандидатом</a:t>
            </a:r>
          </a:p>
          <a:p>
            <a:pPr algn="l">
              <a:lnSpc>
                <a:spcPct val="126000"/>
              </a:lnSpc>
            </a:pPr>
            <a:r>
              <a:rPr sz="1450" b="0" i="0">
                <a:solidFill>
                  <a:srgbClr val="21295C"/>
                </a:solidFill>
                <a:latin typeface="Arial"/>
              </a:rPr>
              <a:t>• Доступа к чему-либо ещё нет</a:t>
            </a:r>
          </a:p>
          <a:p>
            <a:pPr algn="l">
              <a:lnSpc>
                <a:spcPct val="126000"/>
              </a:lnSpc>
            </a:pPr>
            <a:r>
              <a:rPr sz="1450" b="0" i="0">
                <a:solidFill>
                  <a:srgbClr val="21295C"/>
                </a:solidFill>
                <a:latin typeface="Arial"/>
              </a:rPr>
              <a:t>• Ставка — будет ли кандидат принят</a:t>
            </a:r>
          </a:p>
          <a:p>
            <a:pPr algn="l">
              <a:lnSpc>
                <a:spcPct val="126000"/>
              </a:lnSpc>
            </a:pPr>
            <a:r>
              <a:rPr sz="1450" b="0" i="0">
                <a:solidFill>
                  <a:srgbClr val="21295C"/>
                </a:solidFill>
                <a:latin typeface="Arial"/>
              </a:rPr>
              <a:t>• Защита — процесс найма, та же логика</a:t>
            </a:r>
          </a:p>
        </p:txBody>
      </p:sp>
      <p:sp>
        <p:nvSpPr>
          <p:cNvPr id="10" name="Rounded Rectangle 9"/>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Один и тот же инструмент стоит в цикле в двух разных местах.</a:t>
            </a:r>
          </a:p>
          <a:p>
            <a:pPr algn="l">
              <a:lnSpc>
                <a:spcPct val="126000"/>
              </a:lnSpc>
              <a:spcBef>
                <a:spcPts val="700"/>
              </a:spcBef>
            </a:pPr>
            <a:r>
              <a:rPr sz="1300" b="0" i="0">
                <a:solidFill>
                  <a:srgbClr val="21295C"/>
                </a:solidFill>
                <a:latin typeface="Arial"/>
              </a:rPr>
              <a:t/>
            </a:r>
            <a:r>
              <a:rPr sz="1300" b="0" i="0">
                <a:solidFill>
                  <a:srgbClr val="21295C"/>
                </a:solidFill>
                <a:latin typeface="Arial"/>
              </a:rPr>
              <a:t>Лекция 14: звонок «гендиректора» финансовому директору — сотрудник уже внутри периметра, решение о деньгах.</a:t>
            </a:r>
          </a:p>
          <a:p>
            <a:pPr algn="l">
              <a:lnSpc>
                <a:spcPct val="126000"/>
              </a:lnSpc>
              <a:spcBef>
                <a:spcPts val="700"/>
              </a:spcBef>
            </a:pPr>
            <a:r>
              <a:rPr sz="1300" b="0" i="0">
                <a:solidFill>
                  <a:srgbClr val="21295C"/>
                </a:solidFill>
                <a:latin typeface="Arial"/>
              </a:rPr>
              <a:t/>
            </a:r>
            <a:r>
              <a:rPr sz="1300" b="0" i="0">
                <a:solidFill>
                  <a:srgbClr val="21295C"/>
                </a:solidFill>
                <a:latin typeface="Arial"/>
              </a:rPr>
              <a:t>Эта лекция: видеособеседование с кандидатом — до доступа, ставка — примут ли вообще на работу.</a:t>
            </a:r>
          </a:p>
          <a:p>
            <a:pPr algn="l">
              <a:lnSpc>
                <a:spcPct val="126000"/>
              </a:lnSpc>
              <a:spcBef>
                <a:spcPts val="700"/>
              </a:spcBef>
            </a:pPr>
            <a:r>
              <a:rPr sz="1300" b="0" i="0">
                <a:solidFill>
                  <a:srgbClr val="21295C"/>
                </a:solidFill>
                <a:latin typeface="Arial"/>
              </a:rPr>
              <a:t/>
            </a:r>
            <a:r>
              <a:rPr sz="1300" b="1" i="0">
                <a:solidFill>
                  <a:srgbClr val="21295C"/>
                </a:solidFill>
                <a:latin typeface="Arial"/>
              </a:rPr>
              <a:t>Механизм совпадает до деталей. Структурно — разные моменты, разные последствия отказа защиты.</a:t>
            </a:r>
          </a:p>
          <a:p>
            <a:pPr algn="l">
              <a:lnSpc>
                <a:spcPct val="126000"/>
              </a:lnSpc>
              <a:spcBef>
                <a:spcPts val="700"/>
              </a:spcBef>
            </a:pPr>
            <a:r>
              <a:rPr sz="1300" b="0" i="0">
                <a:solidFill>
                  <a:srgbClr val="21295C"/>
                </a:solidFill>
                <a:latin typeface="Arial"/>
              </a:rPr>
              <a:t/>
            </a:r>
            <a:r>
              <a:rPr sz="1300" b="0" i="0">
                <a:solidFill>
                  <a:srgbClr val="21295C"/>
                </a:solidFill>
                <a:latin typeface="Arial"/>
              </a:rPr>
              <a:t>Лекция 3 — платформенный слой инструментов — здесь только мимоходом.</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пути: четыре точки, где узнавание работало бесплатно</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 артефакта</a:t>
            </a:r>
          </a:p>
        </p:txBody>
      </p:sp>
      <p:sp>
        <p:nvSpPr>
          <p:cNvPr id="5" name="Rounded Rectangle 4"/>
          <p:cNvSpPr/>
          <p:nvPr/>
        </p:nvSpPr>
        <p:spPr>
          <a:xfrm>
            <a:off x="1920240"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Кто это сделал?</a:t>
            </a:r>
          </a:p>
          <a:p>
            <a:pPr algn="ctr">
              <a:lnSpc>
                <a:spcPct val="112000"/>
              </a:lnSpc>
            </a:pPr>
            <a:r>
              <a:rPr sz="1350" b="0" i="0">
                <a:solidFill>
                  <a:srgbClr val="21295C"/>
                </a:solidFill>
                <a:latin typeface="Arial"/>
              </a:rPr>
              <a:t>Раздел 1</a:t>
            </a:r>
          </a:p>
        </p:txBody>
      </p:sp>
      <p:sp>
        <p:nvSpPr>
          <p:cNvPr id="7" name="Right Arrow 6"/>
          <p:cNvSpPr/>
          <p:nvPr/>
        </p:nvSpPr>
        <p:spPr>
          <a:xfrm>
            <a:off x="4202353"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Кто это проверил?</a:t>
            </a:r>
          </a:p>
          <a:p>
            <a:pPr algn="ctr">
              <a:lnSpc>
                <a:spcPct val="112000"/>
              </a:lnSpc>
            </a:pPr>
            <a:r>
              <a:rPr sz="1350" b="0" i="0">
                <a:solidFill>
                  <a:srgbClr val="21295C"/>
                </a:solidFill>
                <a:latin typeface="Arial"/>
              </a:rPr>
              <a:t>Раздел 2</a:t>
            </a:r>
          </a:p>
        </p:txBody>
      </p:sp>
      <p:sp>
        <p:nvSpPr>
          <p:cNvPr id="10" name="Right Arrow 9"/>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Как отреагировала аудитория?</a:t>
            </a:r>
          </a:p>
          <a:p>
            <a:pPr algn="ctr">
              <a:lnSpc>
                <a:spcPct val="112000"/>
              </a:lnSpc>
            </a:pPr>
            <a:r>
              <a:rPr sz="1350" b="0" i="0">
                <a:solidFill>
                  <a:srgbClr val="21295C"/>
                </a:solidFill>
                <a:latin typeface="Arial"/>
              </a:rPr>
              <a:t>Раздел 3</a:t>
            </a:r>
          </a:p>
        </p:txBody>
      </p:sp>
      <p:sp>
        <p:nvSpPr>
          <p:cNvPr id="13" name="Right Arrow 12"/>
          <p:cNvSpPr/>
          <p:nvPr/>
        </p:nvSpPr>
        <p:spPr>
          <a:xfrm>
            <a:off x="9223781"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Кто за это заплатил?</a:t>
            </a:r>
          </a:p>
          <a:p>
            <a:pPr algn="ctr">
              <a:lnSpc>
                <a:spcPct val="112000"/>
              </a:lnSpc>
            </a:pPr>
            <a:r>
              <a:rPr sz="1350" b="0" i="0">
                <a:solidFill>
                  <a:srgbClr val="21295C"/>
                </a:solidFill>
                <a:latin typeface="Arial"/>
              </a:rPr>
              <a:t>Раздел 4</a:t>
            </a:r>
          </a:p>
        </p:txBody>
      </p:sp>
      <p:sp>
        <p:nvSpPr>
          <p:cNvPr id="16" name="TextBox 15"/>
          <p:cNvSpPr txBox="1"/>
          <p:nvPr/>
        </p:nvSpPr>
        <p:spPr>
          <a:xfrm>
            <a:off x="502920" y="232229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одного артефакта — от создания до оплаты</a:t>
            </a:r>
          </a:p>
        </p:txBody>
      </p:sp>
      <p:sp>
        <p:nvSpPr>
          <p:cNvPr id="17" name="Rounded Rectangle 16"/>
          <p:cNvSpPr/>
          <p:nvPr/>
        </p:nvSpPr>
        <p:spPr>
          <a:xfrm>
            <a:off x="374904" y="2624974"/>
            <a:ext cx="11441887" cy="3611233"/>
          </a:xfrm>
          <a:prstGeom prst="roundRect">
            <a:avLst>
              <a:gd name="adj" fmla="val 844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716414"/>
            <a:ext cx="5373471" cy="351979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Один творческий артефакт проходит путь, и узнавание на нём появляется четыре раза — и в каждой точке раньше оно работало бесплатно.</a:t>
            </a:r>
          </a:p>
          <a:p>
            <a:pPr algn="l">
              <a:lnSpc>
                <a:spcPct val="126000"/>
              </a:lnSpc>
              <a:spcBef>
                <a:spcPts val="700"/>
              </a:spcBef>
            </a:pPr>
            <a:r>
              <a:rPr sz="1450" b="0" i="0">
                <a:solidFill>
                  <a:srgbClr val="21295C"/>
                </a:solidFill>
                <a:latin typeface="Arial"/>
              </a:rPr>
              <a:t/>
            </a:r>
            <a:r>
              <a:rPr sz="1450" b="1" i="0">
                <a:solidFill>
                  <a:srgbClr val="21295C"/>
                </a:solidFill>
                <a:latin typeface="Arial"/>
              </a:rPr>
              <a:t>На входе.</a:t>
            </a:r>
            <a:r>
              <a:rPr sz="1450" b="0" i="0">
                <a:solidFill>
                  <a:srgbClr val="21295C"/>
                </a:solidFill>
                <a:latin typeface="Arial"/>
              </a:rPr>
              <a:t> Кто это сделал? Файл существовал — этого было достаточно.</a:t>
            </a:r>
          </a:p>
          <a:p>
            <a:pPr algn="l">
              <a:lnSpc>
                <a:spcPct val="126000"/>
              </a:lnSpc>
              <a:spcBef>
                <a:spcPts val="700"/>
              </a:spcBef>
            </a:pPr>
            <a:r>
              <a:rPr sz="1450" b="0" i="0">
                <a:solidFill>
                  <a:srgbClr val="21295C"/>
                </a:solidFill>
                <a:latin typeface="Arial"/>
              </a:rPr>
              <a:t/>
            </a:r>
            <a:r>
              <a:rPr sz="1450" b="1" i="0">
                <a:solidFill>
                  <a:srgbClr val="21295C"/>
                </a:solidFill>
                <a:latin typeface="Arial"/>
              </a:rPr>
              <a:t>При проверке.</a:t>
            </a:r>
            <a:r>
              <a:rPr sz="1450" b="0" i="0">
                <a:solidFill>
                  <a:srgbClr val="21295C"/>
                </a:solidFill>
                <a:latin typeface="Arial"/>
              </a:rPr>
              <a:t> Редактор верит подписи, клиент — лицензии, агентство — голосу в контракте.</a:t>
            </a:r>
          </a:p>
          <a:p>
            <a:pPr algn="l">
              <a:lnSpc>
                <a:spcPct val="126000"/>
              </a:lnSpc>
              <a:spcBef>
                <a:spcPts val="700"/>
              </a:spcBef>
            </a:pPr>
            <a:r>
              <a:rPr sz="1450" b="0" i="0">
                <a:solidFill>
                  <a:srgbClr val="21295C"/>
                </a:solidFill>
                <a:latin typeface="Arial"/>
              </a:rPr>
              <a:t/>
            </a:r>
            <a:r>
              <a:rPr sz="1450" b="1" i="0">
                <a:solidFill>
                  <a:srgbClr val="21295C"/>
                </a:solidFill>
                <a:latin typeface="Arial"/>
              </a:rPr>
              <a:t>При публикации.</a:t>
            </a:r>
            <a:r>
              <a:rPr sz="1450" b="0" i="0">
                <a:solidFill>
                  <a:srgbClr val="21295C"/>
                </a:solidFill>
                <a:latin typeface="Arial"/>
              </a:rPr>
              <a:t> Аудитория реагирует так, будто подлинность не под вопросом.</a:t>
            </a:r>
          </a:p>
        </p:txBody>
      </p:sp>
      <p:sp>
        <p:nvSpPr>
          <p:cNvPr id="19" name="TextBox 18"/>
          <p:cNvSpPr txBox="1"/>
          <p:nvPr/>
        </p:nvSpPr>
        <p:spPr>
          <a:xfrm>
            <a:off x="6278727" y="2716414"/>
            <a:ext cx="5373471" cy="3519793"/>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При оплате.</a:t>
            </a:r>
            <a:r>
              <a:rPr sz="1450" b="0" i="0">
                <a:solidFill>
                  <a:srgbClr val="21295C"/>
                </a:solidFill>
                <a:latin typeface="Arial"/>
              </a:rPr>
              <a:t> Кто лицензировал материал, на котором обучена модель.</a:t>
            </a:r>
          </a:p>
          <a:p>
            <a:pPr algn="l">
              <a:lnSpc>
                <a:spcPct val="126000"/>
              </a:lnSpc>
              <a:spcBef>
                <a:spcPts val="700"/>
              </a:spcBef>
            </a:pPr>
            <a:r>
              <a:rPr sz="1450" b="0" i="0">
                <a:solidFill>
                  <a:srgbClr val="21295C"/>
                </a:solidFill>
                <a:latin typeface="Arial"/>
              </a:rPr>
              <a:t/>
            </a:r>
            <a:r>
              <a:rPr sz="1450" b="1" i="0">
                <a:solidFill>
                  <a:srgbClr val="21295C"/>
                </a:solidFill>
                <a:latin typeface="Arial"/>
              </a:rPr>
              <a:t>Пятый раздел не добавляет точку</a:t>
            </a:r>
            <a:r>
              <a:rPr sz="1450" b="0" i="0">
                <a:solidFill>
                  <a:srgbClr val="21295C"/>
                </a:solidFill>
                <a:latin typeface="Arial"/>
              </a:rPr>
              <a:t> — он спрашивает, что стало с тем, кто проходил этот путь профессией.</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читать каждый разбор дальше:</a:t>
            </a:r>
            <a:r>
              <a:rPr sz="1450" b="0" i="0">
                <a:solidFill>
                  <a:srgbClr val="21295C"/>
                </a:solidFill>
                <a:latin typeface="Arial"/>
              </a:rPr>
              <a:t> ① цена обеих сторон в одних единицах → ② классический режим, посчитанный в тех же единицах → ③ модель против режима, не против нуля → ④ форма, в которой изменилась работа. Число без названной базы в материал не идёт.</a:t>
            </a:r>
          </a:p>
          <a:p>
            <a:pPr algn="l">
              <a:lnSpc>
                <a:spcPct val="126000"/>
              </a:lnSpc>
              <a:spcBef>
                <a:spcPts val="700"/>
              </a:spcBef>
            </a:pPr>
            <a:r>
              <a:rPr sz="1450" b="0" i="0">
                <a:solidFill>
                  <a:srgbClr val="21295C"/>
                </a:solidFill>
                <a:latin typeface="Arial"/>
              </a:rPr>
              <a:t/>
            </a:r>
            <a:r>
              <a:rPr sz="1450" b="1" i="0">
                <a:solidFill>
                  <a:srgbClr val="21295C"/>
                </a:solidFill>
                <a:latin typeface="Arial"/>
              </a:rPr>
              <a:t>У кого на работе уже стоит генерация в продакшене — картинка, звук, текст — не для баловства?</a:t>
            </a:r>
          </a:p>
        </p:txBody>
      </p:sp>
      <p:sp>
        <p:nvSpPr>
          <p:cNvPr id="20" name="Rectangle 19"/>
          <p:cNvSpPr/>
          <p:nvPr/>
        </p:nvSpPr>
        <p:spPr>
          <a:xfrm>
            <a:off x="6091275" y="2716414"/>
            <a:ext cx="9144" cy="342544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Вопрос лекции: чем подтверждать доверие, если узнавание больше не доказательство</a:t>
            </a:r>
          </a:p>
        </p:txBody>
      </p:sp>
      <p:sp>
        <p:nvSpPr>
          <p:cNvPr id="4" name="TextBox 3"/>
          <p:cNvSpPr txBox="1"/>
          <p:nvPr/>
        </p:nvSpPr>
        <p:spPr>
          <a:xfrm>
            <a:off x="539496" y="1335024"/>
            <a:ext cx="11112703" cy="673338"/>
          </a:xfrm>
          <a:prstGeom prst="rect">
            <a:avLst/>
          </a:prstGeom>
          <a:noFill/>
        </p:spPr>
        <p:txBody>
          <a:bodyPr wrap="square" lIns="0" rIns="0" tIns="0" bIns="0" anchor="t">
            <a:spAutoFit/>
          </a:bodyPr>
          <a:lstStyle/>
          <a:p>
            <a:pPr algn="l">
              <a:lnSpc>
                <a:spcPct val="126000"/>
              </a:lnSpc>
            </a:pPr>
            <a:r>
              <a:rPr sz="1700" b="1" i="0">
                <a:solidFill>
                  <a:srgbClr val="21295C"/>
                </a:solidFill>
                <a:latin typeface="Arial"/>
              </a:rPr>
              <a:t>Узнавание было бесплатным институтом доверия. Генеративная модель обнулила цену его подделки.</a:t>
            </a:r>
          </a:p>
        </p:txBody>
      </p:sp>
      <p:sp>
        <p:nvSpPr>
          <p:cNvPr id="5" name="Rounded Rectangle 4"/>
          <p:cNvSpPr/>
          <p:nvPr/>
        </p:nvSpPr>
        <p:spPr>
          <a:xfrm>
            <a:off x="502920" y="2191242"/>
            <a:ext cx="11185855" cy="1588288"/>
          </a:xfrm>
          <a:prstGeom prst="roundRect">
            <a:avLst>
              <a:gd name="adj" fmla="val 19190"/>
            </a:avLst>
          </a:prstGeom>
          <a:solidFill>
            <a:srgbClr val="21295C"/>
          </a:solidFill>
          <a:ln w="25400">
            <a:solidFill>
              <a:srgbClr val="F0AB00"/>
            </a:solidFill>
          </a:ln>
          <a:effectLst/>
        </p:spPr>
        <p:txBody>
          <a:bodyPr rtlCol="0" anchor="ctr"/>
          <a:lstStyle/>
          <a:p>
            <a:pPr algn="ctr"/>
          </a:p>
        </p:txBody>
      </p:sp>
      <p:sp>
        <p:nvSpPr>
          <p:cNvPr id="6" name="TextBox 5"/>
          <p:cNvSpPr txBox="1"/>
          <p:nvPr/>
        </p:nvSpPr>
        <p:spPr>
          <a:xfrm>
            <a:off x="777240" y="2428986"/>
            <a:ext cx="10637215" cy="1112800"/>
          </a:xfrm>
          <a:prstGeom prst="rect">
            <a:avLst/>
          </a:prstGeom>
          <a:noFill/>
        </p:spPr>
        <p:txBody>
          <a:bodyPr wrap="square" lIns="0" rIns="0" tIns="0" bIns="0" anchor="ctr">
            <a:spAutoFit/>
          </a:bodyPr>
          <a:lstStyle/>
          <a:p>
            <a:pPr algn="ctr">
              <a:lnSpc>
                <a:spcPct val="118000"/>
              </a:lnSpc>
            </a:pPr>
            <a:r>
              <a:rPr sz="3000" b="1" i="0">
                <a:solidFill>
                  <a:srgbClr val="F0AB00"/>
                </a:solidFill>
                <a:latin typeface="Arial"/>
              </a:rPr>
              <a:t>Лицо, голос и подпись автора стоили доверия бесплатно. Сколько это стоит теперь — и кто платит?</a:t>
            </a:r>
          </a:p>
        </p:txBody>
      </p:sp>
      <p:sp>
        <p:nvSpPr>
          <p:cNvPr id="7" name="TextBox 6"/>
          <p:cNvSpPr txBox="1"/>
          <p:nvPr/>
        </p:nvSpPr>
        <p:spPr>
          <a:xfrm>
            <a:off x="539496" y="3962410"/>
            <a:ext cx="11112703" cy="2273797"/>
          </a:xfrm>
          <a:prstGeom prst="rect">
            <a:avLst/>
          </a:prstGeom>
          <a:noFill/>
        </p:spPr>
        <p:txBody>
          <a:bodyPr wrap="square" lIns="0" rIns="0" tIns="0" bIns="0" anchor="t">
            <a:spAutoFit/>
          </a:bodyPr>
          <a:lstStyle/>
          <a:p>
            <a:pPr algn="l">
              <a:lnSpc>
                <a:spcPct val="124000"/>
              </a:lnSpc>
            </a:pPr>
            <a:r>
              <a:rPr sz="1500" b="0" i="0">
                <a:solidFill>
                  <a:srgbClr val="065A82"/>
                </a:solidFill>
                <a:latin typeface="Arial"/>
              </a:rPr>
              <a:t>Ответ — по пяти точкам пути артефакта: кто сделал · кто проверил · как отреагировала аудитория · кто заплатил · что стало с тем, кто делал.</a:t>
            </a:r>
          </a:p>
        </p:txBody>
      </p:sp>
      <p:sp>
        <p:nvSpPr>
          <p:cNvPr id="8" name="Rectangle 7"/>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343395"/>
          </a:xfrm>
          <a:prstGeom prst="roundRect">
            <a:avLst>
              <a:gd name="adj" fmla="val 9116"/>
            </a:avLst>
          </a:prstGeom>
          <a:solidFill>
            <a:srgbClr val="F4F7FA"/>
          </a:solidFill>
          <a:ln w="19050">
            <a:solidFill>
              <a:srgbClr val="1C7293"/>
            </a:solidFill>
          </a:ln>
          <a:effectLst/>
        </p:spPr>
        <p:txBody>
          <a:bodyPr rtlCol="0" anchor="ctr"/>
          <a:lstStyle/>
          <a:p>
            <a:pPr algn="ctr"/>
          </a:p>
        </p:txBody>
      </p:sp>
      <p:pic>
        <p:nvPicPr>
          <p:cNvPr id="5" name="Picture 4" descr="s11-recording-studio-mixing-console.jpg"/>
          <p:cNvPicPr>
            <a:picLocks noChangeAspect="1"/>
          </p:cNvPicPr>
          <p:nvPr/>
        </p:nvPicPr>
        <p:blipFill>
          <a:blip r:embed="rId2"/>
          <a:stretch>
            <a:fillRect/>
          </a:stretch>
        </p:blipFill>
        <p:spPr>
          <a:xfrm>
            <a:off x="6949440" y="1051560"/>
            <a:ext cx="4602175" cy="3069075"/>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Продакшн / исполнение</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Кто это сделал.</a:t>
            </a:r>
            <a:r>
              <a:rPr sz="1550" b="0" i="0">
                <a:solidFill>
                  <a:srgbClr val="21295C"/>
                </a:solidFill>
                <a:latin typeface="Arial"/>
              </a:rPr>
              <a:t> До генеративных моделей ответ был очевиден из факта, что файл существует. Раздел разбирает, что случилось с ценой исполнения — и почему вместе с ней обнулилась цена подделать происхождение.</a:t>
            </a:r>
          </a:p>
        </p:txBody>
      </p:sp>
      <p:sp>
        <p:nvSpPr>
          <p:cNvPr id="9" name="TextBox 8"/>
          <p:cNvSpPr txBox="1"/>
          <p:nvPr/>
        </p:nvSpPr>
        <p:spPr>
          <a:xfrm>
            <a:off x="704088" y="3217513"/>
            <a:ext cx="5742432" cy="2755392"/>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«Классика ремесла: как делали руками — три класса продукта»</a:t>
            </a:r>
            <a:r>
              <a:rPr sz="1550" b="0" i="0">
                <a:solidFill>
                  <a:srgbClr val="21295C"/>
                </a:solidFill>
                <a:latin typeface="Arial"/>
              </a:rPr>
              <a:t> · </a:t>
            </a:r>
            <a:r>
              <a:rPr sz="1550" b="1" i="0">
                <a:solidFill>
                  <a:srgbClr val="21295C"/>
                </a:solidFill>
                <a:latin typeface="Arial"/>
              </a:rPr>
              <a:t>«Порог найма: решение о человеке раньше вопроса о качестве»</a:t>
            </a:r>
            <a:r>
              <a:rPr sz="1550" b="0" i="0">
                <a:solidFill>
                  <a:srgbClr val="21295C"/>
                </a:solidFill>
                <a:latin typeface="Arial"/>
              </a:rPr>
              <a:t> · </a:t>
            </a:r>
            <a:r>
              <a:rPr sz="1550" b="1" i="0">
                <a:solidFill>
                  <a:srgbClr val="21295C"/>
                </a:solidFill>
                <a:latin typeface="Arial"/>
              </a:rPr>
              <a:t>«Обвал цены: изображение»</a:t>
            </a:r>
            <a:r>
              <a:rPr sz="1550" b="0" i="0">
                <a:solidFill>
                  <a:srgbClr val="21295C"/>
                </a:solidFill>
                <a:latin typeface="Arial"/>
              </a:rPr>
              <a:t> · </a:t>
            </a:r>
            <a:r>
              <a:rPr sz="1550" b="1" i="0">
                <a:solidFill>
                  <a:srgbClr val="21295C"/>
                </a:solidFill>
                <a:latin typeface="Arial"/>
              </a:rPr>
              <a:t>«Обвал цены: трек и озвучка»</a:t>
            </a:r>
            <a:r>
              <a:rPr sz="1550" b="0" i="0">
                <a:solidFill>
                  <a:srgbClr val="21295C"/>
                </a:solidFill>
                <a:latin typeface="Arial"/>
              </a:rPr>
              <a:t> · блок </a:t>
            </a:r>
            <a:r>
              <a:rPr sz="1550" b="1" i="0">
                <a:solidFill>
                  <a:srgbClr val="21295C"/>
                </a:solidFill>
                <a:latin typeface="Arial"/>
              </a:rPr>
              <a:t>«Как устроена генерация»</a:t>
            </a:r>
            <a:r>
              <a:rPr sz="1550" b="0" i="0">
                <a:solidFill>
                  <a:srgbClr val="21295C"/>
                </a:solidFill>
                <a:latin typeface="Arial"/>
              </a:rPr>
              <a:t> (токен → латентное пространство → диффузия) · </a:t>
            </a:r>
            <a:r>
              <a:rPr sz="1550" b="1" i="0">
                <a:solidFill>
                  <a:srgbClr val="21295C"/>
                </a:solidFill>
                <a:latin typeface="Arial"/>
              </a:rPr>
              <a:t>«Sora: хайп-цикл длиной в год»</a:t>
            </a:r>
            <a:r>
              <a:rPr sz="1550" b="0" i="0">
                <a:solidFill>
                  <a:srgbClr val="21295C"/>
                </a:solidFill>
                <a:latin typeface="Arial"/>
              </a:rPr>
              <a:t> · блок </a:t>
            </a:r>
            <a:r>
              <a:rPr sz="1550" b="1" i="0">
                <a:solidFill>
                  <a:srgbClr val="21295C"/>
                </a:solidFill>
                <a:latin typeface="Arial"/>
              </a:rPr>
              <a:t>«Как устроено распознавание»</a:t>
            </a:r>
            <a:r>
              <a:rPr sz="1550" b="0" i="0">
                <a:solidFill>
                  <a:srgbClr val="21295C"/>
                </a:solidFill>
                <a:latin typeface="Arial"/>
              </a:rPr>
              <a:t> (та же сеть наоборот) · </a:t>
            </a:r>
            <a:r>
              <a:rPr sz="1550" b="1" i="0">
                <a:solidFill>
                  <a:srgbClr val="21295C"/>
                </a:solidFill>
                <a:latin typeface="Arial"/>
              </a:rPr>
              <a:t>«Вывод: ремесло переехало в запрос и отбор — а узнавание стало подделываемым»</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Классика ремесла: как делали руками — три класса продукта</a:t>
            </a:r>
          </a:p>
        </p:txBody>
      </p:sp>
      <p:sp>
        <p:nvSpPr>
          <p:cNvPr id="4" name="Rounded Rectangle 3"/>
          <p:cNvSpPr/>
          <p:nvPr/>
        </p:nvSpPr>
        <p:spPr>
          <a:xfrm>
            <a:off x="502920" y="1335024"/>
            <a:ext cx="384642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572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ИЗОБРАЖЕНИЕ</a:t>
            </a:r>
          </a:p>
        </p:txBody>
      </p:sp>
      <p:sp>
        <p:nvSpPr>
          <p:cNvPr id="6" name="TextBox 5"/>
          <p:cNvSpPr txBox="1"/>
          <p:nvPr/>
        </p:nvSpPr>
        <p:spPr>
          <a:xfrm>
            <a:off x="640080" y="1725375"/>
            <a:ext cx="3572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50–150 $, 1–3 дня</a:t>
            </a:r>
          </a:p>
        </p:txBody>
      </p:sp>
      <p:sp>
        <p:nvSpPr>
          <p:cNvPr id="7" name="TextBox 6"/>
          <p:cNvSpPr txBox="1"/>
          <p:nvPr/>
        </p:nvSpPr>
        <p:spPr>
          <a:xfrm>
            <a:off x="640080" y="2152374"/>
            <a:ext cx="35721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бриф → референс → черновик → правка → сдача</a:t>
            </a:r>
          </a:p>
        </p:txBody>
      </p:sp>
      <p:sp>
        <p:nvSpPr>
          <p:cNvPr id="8" name="Rounded Rectangle 7"/>
          <p:cNvSpPr/>
          <p:nvPr/>
        </p:nvSpPr>
        <p:spPr>
          <a:xfrm>
            <a:off x="4513935" y="1335024"/>
            <a:ext cx="384642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651095" y="1472184"/>
            <a:ext cx="3572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ТРЕК: КАСТОМ</a:t>
            </a:r>
          </a:p>
        </p:txBody>
      </p:sp>
      <p:sp>
        <p:nvSpPr>
          <p:cNvPr id="10" name="TextBox 9"/>
          <p:cNvSpPr txBox="1"/>
          <p:nvPr/>
        </p:nvSpPr>
        <p:spPr>
          <a:xfrm>
            <a:off x="4651095" y="1725375"/>
            <a:ext cx="3572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200–1500 $/мин</a:t>
            </a:r>
          </a:p>
        </p:txBody>
      </p:sp>
      <p:sp>
        <p:nvSpPr>
          <p:cNvPr id="11" name="TextBox 10"/>
          <p:cNvSpPr txBox="1"/>
          <p:nvPr/>
        </p:nvSpPr>
        <p:spPr>
          <a:xfrm>
            <a:off x="4651095" y="2152374"/>
            <a:ext cx="35721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или 5000–25000 $ за рекламный трек — не путать со стоком</a:t>
            </a:r>
          </a:p>
        </p:txBody>
      </p:sp>
      <p:sp>
        <p:nvSpPr>
          <p:cNvPr id="12" name="Rounded Rectangle 11"/>
          <p:cNvSpPr/>
          <p:nvPr/>
        </p:nvSpPr>
        <p:spPr>
          <a:xfrm>
            <a:off x="502920" y="2876613"/>
            <a:ext cx="3846423"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013773"/>
            <a:ext cx="3572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ТРЕК: СТОК</a:t>
            </a:r>
          </a:p>
        </p:txBody>
      </p:sp>
      <p:sp>
        <p:nvSpPr>
          <p:cNvPr id="14" name="TextBox 13"/>
          <p:cNvSpPr txBox="1"/>
          <p:nvPr/>
        </p:nvSpPr>
        <p:spPr>
          <a:xfrm>
            <a:off x="640080" y="3266964"/>
            <a:ext cx="3572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20–100 $/трек</a:t>
            </a:r>
          </a:p>
        </p:txBody>
      </p:sp>
      <p:sp>
        <p:nvSpPr>
          <p:cNvPr id="15" name="TextBox 14"/>
          <p:cNvSpPr txBox="1"/>
          <p:nvPr/>
        </p:nvSpPr>
        <p:spPr>
          <a:xfrm>
            <a:off x="640080" y="3693963"/>
            <a:ext cx="35721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расширенная лицензия — 100–500+ $</a:t>
            </a:r>
          </a:p>
        </p:txBody>
      </p:sp>
      <p:sp>
        <p:nvSpPr>
          <p:cNvPr id="16" name="Rounded Rectangle 15"/>
          <p:cNvSpPr/>
          <p:nvPr/>
        </p:nvSpPr>
        <p:spPr>
          <a:xfrm>
            <a:off x="4513935" y="2876613"/>
            <a:ext cx="3846423"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4651095" y="3013773"/>
            <a:ext cx="3572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ОЗВУЧКА: ПО ОПЫТУ</a:t>
            </a:r>
          </a:p>
        </p:txBody>
      </p:sp>
      <p:sp>
        <p:nvSpPr>
          <p:cNvPr id="18" name="TextBox 17"/>
          <p:cNvSpPr txBox="1"/>
          <p:nvPr/>
        </p:nvSpPr>
        <p:spPr>
          <a:xfrm>
            <a:off x="4651095" y="3266964"/>
            <a:ext cx="3572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50–150 / 150–350 / 350–1000+ $/мин</a:t>
            </a:r>
          </a:p>
        </p:txBody>
      </p:sp>
      <p:sp>
        <p:nvSpPr>
          <p:cNvPr id="19" name="TextBox 18"/>
          <p:cNvSpPr txBox="1"/>
          <p:nvPr/>
        </p:nvSpPr>
        <p:spPr>
          <a:xfrm>
            <a:off x="4651095" y="4084387"/>
            <a:ext cx="35721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 средний / студийный</a:t>
            </a:r>
          </a:p>
        </p:txBody>
      </p:sp>
      <p:sp>
        <p:nvSpPr>
          <p:cNvPr id="20" name="Rounded Rectangle 19"/>
          <p:cNvSpPr/>
          <p:nvPr/>
        </p:nvSpPr>
        <p:spPr>
          <a:xfrm>
            <a:off x="374904" y="4524230"/>
            <a:ext cx="8113471" cy="1711977"/>
          </a:xfrm>
          <a:prstGeom prst="roundRect">
            <a:avLst>
              <a:gd name="adj" fmla="val 1780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615670"/>
            <a:ext cx="7784287" cy="162053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Изображение.</a:t>
            </a:r>
            <a:r>
              <a:rPr sz="1350" b="0" i="0">
                <a:solidFill>
                  <a:srgbClr val="21295C"/>
                </a:solidFill>
                <a:latin typeface="Arial"/>
              </a:rPr>
              <a:t> Бриф → референс → черновик → правка → сдача. </a:t>
            </a:r>
            <a:r>
              <a:rPr sz="1350" b="1" i="0">
                <a:solidFill>
                  <a:srgbClr val="21295C"/>
                </a:solidFill>
                <a:latin typeface="Arial"/>
              </a:rPr>
              <a:t>1–3 дня, 50–150 долларов.</a:t>
            </a:r>
          </a:p>
          <a:p>
            <a:pPr algn="l">
              <a:lnSpc>
                <a:spcPct val="126000"/>
              </a:lnSpc>
              <a:spcBef>
                <a:spcPts val="700"/>
              </a:spcBef>
            </a:pPr>
            <a:r>
              <a:rPr sz="1350" b="0" i="0">
                <a:solidFill>
                  <a:srgbClr val="21295C"/>
                </a:solidFill>
                <a:latin typeface="Arial"/>
              </a:rPr>
              <a:t/>
            </a:r>
            <a:r>
              <a:rPr sz="1350" b="1" i="0">
                <a:solidFill>
                  <a:srgbClr val="21295C"/>
                </a:solidFill>
                <a:latin typeface="Arial"/>
              </a:rPr>
              <a:t>Музыкальный трек — два продукта.</a:t>
            </a:r>
            <a:r>
              <a:rPr sz="1350" b="0" i="0">
                <a:solidFill>
                  <a:srgbClr val="21295C"/>
                </a:solidFill>
                <a:latin typeface="Arial"/>
              </a:rPr>
              <a:t> Кастом: </a:t>
            </a:r>
            <a:r>
              <a:rPr sz="1350" b="1" i="0">
                <a:solidFill>
                  <a:srgbClr val="21295C"/>
                </a:solidFill>
                <a:latin typeface="Arial"/>
              </a:rPr>
              <a:t>200–1500 $/мин</a:t>
            </a:r>
            <a:r>
              <a:rPr sz="1350" b="0" i="0">
                <a:solidFill>
                  <a:srgbClr val="21295C"/>
                </a:solidFill>
                <a:latin typeface="Arial"/>
              </a:rPr>
              <a:t> (или 5000–25000 за рекламный трек). Сток: </a:t>
            </a:r>
            <a:r>
              <a:rPr sz="1350" b="1" i="0">
                <a:solidFill>
                  <a:srgbClr val="21295C"/>
                </a:solidFill>
                <a:latin typeface="Arial"/>
              </a:rPr>
              <a:t>20–100 $/трек.</a:t>
            </a:r>
          </a:p>
          <a:p>
            <a:pPr algn="l">
              <a:lnSpc>
                <a:spcPct val="126000"/>
              </a:lnSpc>
              <a:spcBef>
                <a:spcPts val="700"/>
              </a:spcBef>
            </a:pPr>
            <a:r>
              <a:rPr sz="1350" b="0" i="0">
                <a:solidFill>
                  <a:srgbClr val="21295C"/>
                </a:solidFill>
                <a:latin typeface="Arial"/>
              </a:rPr>
              <a:t/>
            </a:r>
            <a:r>
              <a:rPr sz="1350" b="1" i="0">
                <a:solidFill>
                  <a:srgbClr val="21295C"/>
                </a:solidFill>
                <a:latin typeface="Arial"/>
              </a:rPr>
              <a:t>Озвучка — по опыту.</a:t>
            </a:r>
            <a:r>
              <a:rPr sz="1350" b="0" i="0">
                <a:solidFill>
                  <a:srgbClr val="21295C"/>
                </a:solidFill>
                <a:latin typeface="Arial"/>
              </a:rPr>
              <a:t> Начинающий — </a:t>
            </a:r>
            <a:r>
              <a:rPr sz="1350" b="1" i="0">
                <a:solidFill>
                  <a:srgbClr val="21295C"/>
                </a:solidFill>
                <a:latin typeface="Arial"/>
              </a:rPr>
              <a:t>50–150</a:t>
            </a:r>
            <a:r>
              <a:rPr sz="1350" b="0" i="0">
                <a:solidFill>
                  <a:srgbClr val="21295C"/>
                </a:solidFill>
                <a:latin typeface="Arial"/>
              </a:rPr>
              <a:t>, специалист — </a:t>
            </a:r>
            <a:r>
              <a:rPr sz="1350" b="1" i="0">
                <a:solidFill>
                  <a:srgbClr val="21295C"/>
                </a:solidFill>
                <a:latin typeface="Arial"/>
              </a:rPr>
              <a:t>150–350</a:t>
            </a:r>
            <a:r>
              <a:rPr sz="1350" b="0" i="0">
                <a:solidFill>
                  <a:srgbClr val="21295C"/>
                </a:solidFill>
                <a:latin typeface="Arial"/>
              </a:rPr>
              <a:t>, студийный профессионал — </a:t>
            </a:r>
            <a:r>
              <a:rPr sz="1350" b="1" i="0">
                <a:solidFill>
                  <a:srgbClr val="21295C"/>
                </a:solidFill>
                <a:latin typeface="Arial"/>
              </a:rPr>
              <a:t>350–1000+ $/мин.</a:t>
            </a:r>
          </a:p>
        </p:txBody>
      </p:sp>
      <p:sp>
        <p:nvSpPr>
          <p:cNvPr id="22" name="Rounded Rectangle 21"/>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23" name="Picture 22" descr="s12-digital-illustration-ipad-stylus.jpg"/>
          <p:cNvPicPr>
            <a:picLocks noChangeAspect="1"/>
          </p:cNvPicPr>
          <p:nvPr/>
        </p:nvPicPr>
        <p:blipFill>
          <a:blip r:embed="rId2"/>
          <a:stretch>
            <a:fillRect/>
          </a:stretch>
        </p:blipFill>
        <p:spPr>
          <a:xfrm>
            <a:off x="8808415" y="1472184"/>
            <a:ext cx="2743200" cy="411480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DesignShifu 2026; GigRadar 2026; FoxiMusic 2026; Audiosocket 2026; Voicecrafters 2026; BizToolkit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Порог найма: решение о человеке раньше вопроса о качестве</a:t>
            </a:r>
          </a:p>
        </p:txBody>
      </p:sp>
      <p:sp>
        <p:nvSpPr>
          <p:cNvPr id="4" name="Rounded Rectangle 3"/>
          <p:cNvSpPr/>
          <p:nvPr/>
        </p:nvSpPr>
        <p:spPr>
          <a:xfrm>
            <a:off x="502920" y="1335024"/>
            <a:ext cx="2082698"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ИЛЛЮСТРАТОР: ПОТОК БАННЕРОВ</a:t>
            </a:r>
          </a:p>
        </p:txBody>
      </p:sp>
      <p:sp>
        <p:nvSpPr>
          <p:cNvPr id="6" name="TextBox 5"/>
          <p:cNvSpPr txBox="1"/>
          <p:nvPr/>
        </p:nvSpPr>
        <p:spPr>
          <a:xfrm>
            <a:off x="640080" y="1932846"/>
            <a:ext cx="1808378" cy="664648"/>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50–70 $/ед., 3–4 заказа/нед.</a:t>
            </a:r>
          </a:p>
        </p:txBody>
      </p:sp>
      <p:sp>
        <p:nvSpPr>
          <p:cNvPr id="7" name="TextBox 6"/>
          <p:cNvSpPr txBox="1"/>
          <p:nvPr/>
        </p:nvSpPr>
        <p:spPr>
          <a:xfrm>
            <a:off x="640080" y="2597494"/>
            <a:ext cx="180837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≈700–1000 $/мес. валового дохода</a:t>
            </a:r>
          </a:p>
        </p:txBody>
      </p:sp>
      <p:sp>
        <p:nvSpPr>
          <p:cNvPr id="8" name="Rounded Rectangle 7"/>
          <p:cNvSpPr/>
          <p:nvPr/>
        </p:nvSpPr>
        <p:spPr>
          <a:xfrm>
            <a:off x="2750210" y="1335024"/>
            <a:ext cx="2082698"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88737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СТОКОВЫЙ КОМПОЗИТОР</a:t>
            </a:r>
          </a:p>
        </p:txBody>
      </p:sp>
      <p:sp>
        <p:nvSpPr>
          <p:cNvPr id="10" name="TextBox 9"/>
          <p:cNvSpPr txBox="1"/>
          <p:nvPr/>
        </p:nvSpPr>
        <p:spPr>
          <a:xfrm>
            <a:off x="2887370" y="1932846"/>
            <a:ext cx="180837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20–100 $/трек</a:t>
            </a:r>
          </a:p>
        </p:txBody>
      </p:sp>
      <p:sp>
        <p:nvSpPr>
          <p:cNvPr id="11" name="TextBox 10"/>
          <p:cNvSpPr txBox="1"/>
          <p:nvPr/>
        </p:nvSpPr>
        <p:spPr>
          <a:xfrm>
            <a:off x="2887370" y="2750268"/>
            <a:ext cx="180837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порог определяла цена лицензии, не заказ лично</a:t>
            </a:r>
          </a:p>
        </p:txBody>
      </p:sp>
      <p:sp>
        <p:nvSpPr>
          <p:cNvPr id="12" name="Rounded Rectangle 11"/>
          <p:cNvSpPr/>
          <p:nvPr/>
        </p:nvSpPr>
        <p:spPr>
          <a:xfrm>
            <a:off x="4997500" y="1335024"/>
            <a:ext cx="2082698"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3466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ДИКТОР НАЧАЛЬНОГО УРОВНЯ</a:t>
            </a:r>
          </a:p>
        </p:txBody>
      </p:sp>
      <p:sp>
        <p:nvSpPr>
          <p:cNvPr id="14" name="TextBox 13"/>
          <p:cNvSpPr txBox="1"/>
          <p:nvPr/>
        </p:nvSpPr>
        <p:spPr>
          <a:xfrm>
            <a:off x="5134660" y="1932846"/>
            <a:ext cx="180837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ожидание 2–3 дня</a:t>
            </a:r>
          </a:p>
        </p:txBody>
      </p:sp>
      <p:sp>
        <p:nvSpPr>
          <p:cNvPr id="15" name="TextBox 14"/>
          <p:cNvSpPr txBox="1"/>
          <p:nvPr/>
        </p:nvSpPr>
        <p:spPr>
          <a:xfrm>
            <a:off x="5134660" y="2750268"/>
            <a:ext cx="180837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конкуренция шла по срокам, не по цене</a:t>
            </a:r>
          </a:p>
        </p:txBody>
      </p:sp>
      <p:sp>
        <p:nvSpPr>
          <p:cNvPr id="16" name="TextBox 15"/>
          <p:cNvSpPr txBox="1"/>
          <p:nvPr/>
        </p:nvSpPr>
        <p:spPr>
          <a:xfrm>
            <a:off x="502920" y="352937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Медицина (Лекция 7)</a:t>
            </a:r>
          </a:p>
        </p:txBody>
      </p:sp>
      <p:sp>
        <p:nvSpPr>
          <p:cNvPr id="17" name="Rounded Rectangle 16"/>
          <p:cNvSpPr/>
          <p:nvPr/>
        </p:nvSpPr>
        <p:spPr>
          <a:xfrm>
            <a:off x="1920240" y="3492795"/>
            <a:ext cx="250682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38515"/>
            <a:ext cx="234223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 вмешательства</a:t>
            </a:r>
          </a:p>
        </p:txBody>
      </p:sp>
      <p:sp>
        <p:nvSpPr>
          <p:cNvPr id="19" name="Rounded Rectangle 18"/>
          <p:cNvSpPr/>
          <p:nvPr/>
        </p:nvSpPr>
        <p:spPr>
          <a:xfrm>
            <a:off x="4573371" y="3492795"/>
            <a:ext cx="250682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655667" y="3538515"/>
            <a:ext cx="234223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ли на обследование вообще</a:t>
            </a:r>
          </a:p>
        </p:txBody>
      </p:sp>
      <p:sp>
        <p:nvSpPr>
          <p:cNvPr id="21" name="TextBox 20"/>
          <p:cNvSpPr txBox="1"/>
          <p:nvPr/>
        </p:nvSpPr>
        <p:spPr>
          <a:xfrm>
            <a:off x="502920" y="438871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Творческое производство</a:t>
            </a:r>
          </a:p>
        </p:txBody>
      </p:sp>
      <p:sp>
        <p:nvSpPr>
          <p:cNvPr id="22" name="Rounded Rectangle 21"/>
          <p:cNvSpPr/>
          <p:nvPr/>
        </p:nvSpPr>
        <p:spPr>
          <a:xfrm>
            <a:off x="1920240" y="4352141"/>
            <a:ext cx="250682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397861"/>
            <a:ext cx="234223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 найма</a:t>
            </a:r>
          </a:p>
        </p:txBody>
      </p:sp>
      <p:sp>
        <p:nvSpPr>
          <p:cNvPr id="24" name="Rounded Rectangle 23"/>
          <p:cNvSpPr/>
          <p:nvPr/>
        </p:nvSpPr>
        <p:spPr>
          <a:xfrm>
            <a:off x="4573371" y="4352141"/>
            <a:ext cx="250682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655667" y="4397861"/>
            <a:ext cx="234223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нанимать ли исполнителя вообще</a:t>
            </a:r>
          </a:p>
        </p:txBody>
      </p:sp>
      <p:sp>
        <p:nvSpPr>
          <p:cNvPr id="26" name="TextBox 25"/>
          <p:cNvSpPr txBox="1"/>
          <p:nvPr/>
        </p:nvSpPr>
        <p:spPr>
          <a:xfrm>
            <a:off x="502920" y="5101759"/>
            <a:ext cx="657727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Порог найма — не вопрос качества, а решение, принятое раньше</a:t>
            </a:r>
          </a:p>
        </p:txBody>
      </p:sp>
      <p:sp>
        <p:nvSpPr>
          <p:cNvPr id="27" name="Rounded Rectangle 26"/>
          <p:cNvSpPr/>
          <p:nvPr/>
        </p:nvSpPr>
        <p:spPr>
          <a:xfrm>
            <a:off x="374904" y="5404442"/>
            <a:ext cx="11441887" cy="83176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5495882"/>
            <a:ext cx="11112703" cy="740325"/>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Решение отдать задачу человеку принимается раньше вопроса о качестве</a:t>
            </a:r>
            <a:r>
              <a:rPr sz="1050" b="0" i="0">
                <a:solidFill>
                  <a:srgbClr val="21295C"/>
                </a:solidFill>
                <a:latin typeface="Arial"/>
              </a:rPr>
              <a:t> — по бюджету, срочности, важности. Медицинский аналог (Лекция 7) — порог вмешательства.</a:t>
            </a:r>
          </a:p>
          <a:p>
            <a:pPr algn="l">
              <a:lnSpc>
                <a:spcPct val="126000"/>
              </a:lnSpc>
              <a:spcBef>
                <a:spcPts val="700"/>
              </a:spcBef>
            </a:pPr>
            <a:r>
              <a:rPr sz="1050" b="0" i="0">
                <a:solidFill>
                  <a:srgbClr val="21295C"/>
                </a:solidFill>
                <a:latin typeface="Arial"/>
              </a:rPr>
              <a:t/>
            </a:r>
            <a:r>
              <a:rPr sz="1050" b="1" i="0">
                <a:solidFill>
                  <a:srgbClr val="21295C"/>
                </a:solidFill>
                <a:latin typeface="Arial"/>
              </a:rPr>
              <a:t>Порог стоял по-разному высоко:</a:t>
            </a:r>
            <a:r>
              <a:rPr sz="1050" b="0" i="0">
                <a:solidFill>
                  <a:srgbClr val="21295C"/>
                </a:solidFill>
                <a:latin typeface="Arial"/>
              </a:rPr>
              <a:t> ниже всего — изображение, выше всего — кастомный трек, по всему диапазону — озвучка. Три сценария ниже — агрегированные профили фрилансеров 2026 года.</a:t>
            </a:r>
          </a:p>
        </p:txBody>
      </p:sp>
      <p:sp>
        <p:nvSpPr>
          <p:cNvPr id="29" name="Rounded Rectangle 28"/>
          <p:cNvSpPr/>
          <p:nvPr/>
        </p:nvSpPr>
        <p:spPr>
          <a:xfrm>
            <a:off x="7391095" y="1335024"/>
            <a:ext cx="4297680" cy="3063011"/>
          </a:xfrm>
          <a:prstGeom prst="roundRect">
            <a:avLst>
              <a:gd name="adj" fmla="val 9950"/>
            </a:avLst>
          </a:prstGeom>
          <a:solidFill>
            <a:srgbClr val="F4F7FA"/>
          </a:solidFill>
          <a:ln w="19050">
            <a:solidFill>
              <a:srgbClr val="1C7293"/>
            </a:solidFill>
          </a:ln>
          <a:effectLst/>
        </p:spPr>
        <p:txBody>
          <a:bodyPr rtlCol="0" anchor="ctr"/>
          <a:lstStyle/>
          <a:p>
            <a:pPr algn="ctr"/>
          </a:p>
        </p:txBody>
      </p:sp>
      <p:pic>
        <p:nvPicPr>
          <p:cNvPr id="30" name="Picture 29" descr="s13-doctor-patient-consultation.jpg"/>
          <p:cNvPicPr>
            <a:picLocks noChangeAspect="1"/>
          </p:cNvPicPr>
          <p:nvPr/>
        </p:nvPicPr>
        <p:blipFill>
          <a:blip r:embed="rId2"/>
          <a:stretch>
            <a:fillRect/>
          </a:stretch>
        </p:blipFill>
        <p:spPr>
          <a:xfrm>
            <a:off x="7528255" y="1472184"/>
            <a:ext cx="4023360" cy="2788691"/>
          </a:xfrm>
          <a:prstGeom prst="rect">
            <a:avLst/>
          </a:prstGeom>
        </p:spPr>
      </p:pic>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Обвал цены: изображение</a:t>
            </a:r>
          </a:p>
        </p:txBody>
      </p:sp>
      <p:sp>
        <p:nvSpPr>
          <p:cNvPr id="4" name="Rounded Rectangle 3"/>
          <p:cNvSpPr/>
          <p:nvPr/>
        </p:nvSpPr>
        <p:spPr>
          <a:xfrm>
            <a:off x="502920" y="1335024"/>
            <a:ext cx="2304144"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029824"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MIDJOURNEY V8.2 / FIREFLY IMAGE 5</a:t>
            </a:r>
          </a:p>
        </p:txBody>
      </p:sp>
      <p:sp>
        <p:nvSpPr>
          <p:cNvPr id="6" name="TextBox 5"/>
          <p:cNvSpPr txBox="1"/>
          <p:nvPr/>
        </p:nvSpPr>
        <p:spPr>
          <a:xfrm>
            <a:off x="640080" y="1932846"/>
            <a:ext cx="2029824"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0,03–0,05 $ за изображение</a:t>
            </a:r>
          </a:p>
        </p:txBody>
      </p:sp>
      <p:sp>
        <p:nvSpPr>
          <p:cNvPr id="7" name="TextBox 6"/>
          <p:cNvSpPr txBox="1"/>
          <p:nvPr/>
        </p:nvSpPr>
        <p:spPr>
          <a:xfrm>
            <a:off x="640080" y="2750268"/>
            <a:ext cx="2029824"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базовый тариф, октябрь 2026</a:t>
            </a:r>
          </a:p>
        </p:txBody>
      </p:sp>
      <p:sp>
        <p:nvSpPr>
          <p:cNvPr id="8" name="Rounded Rectangle 7"/>
          <p:cNvSpPr/>
          <p:nvPr/>
        </p:nvSpPr>
        <p:spPr>
          <a:xfrm>
            <a:off x="2971656" y="1335024"/>
            <a:ext cx="2304144"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108816" y="1472184"/>
            <a:ext cx="2029824"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ФРИЛАНСЕР ВРУЧНУЮ</a:t>
            </a:r>
          </a:p>
        </p:txBody>
      </p:sp>
      <p:sp>
        <p:nvSpPr>
          <p:cNvPr id="10" name="TextBox 9"/>
          <p:cNvSpPr txBox="1"/>
          <p:nvPr/>
        </p:nvSpPr>
        <p:spPr>
          <a:xfrm>
            <a:off x="3108816" y="1725375"/>
            <a:ext cx="2029824"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50–150 $, 1–3 дня</a:t>
            </a:r>
          </a:p>
        </p:txBody>
      </p:sp>
      <p:sp>
        <p:nvSpPr>
          <p:cNvPr id="11" name="TextBox 10"/>
          <p:cNvSpPr txBox="1"/>
          <p:nvPr/>
        </p:nvSpPr>
        <p:spPr>
          <a:xfrm>
            <a:off x="3108816" y="2542797"/>
            <a:ext cx="2029824"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результат классическим путём</a:t>
            </a:r>
          </a:p>
        </p:txBody>
      </p:sp>
      <p:sp>
        <p:nvSpPr>
          <p:cNvPr id="12" name="Rounded Rectangle 11"/>
          <p:cNvSpPr/>
          <p:nvPr/>
        </p:nvSpPr>
        <p:spPr>
          <a:xfrm>
            <a:off x="5440393" y="1335024"/>
            <a:ext cx="2304144"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577553" y="1472184"/>
            <a:ext cx="2029824"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a:t>
            </a:r>
          </a:p>
        </p:txBody>
      </p:sp>
      <p:sp>
        <p:nvSpPr>
          <p:cNvPr id="14" name="TextBox 13"/>
          <p:cNvSpPr txBox="1"/>
          <p:nvPr/>
        </p:nvSpPr>
        <p:spPr>
          <a:xfrm>
            <a:off x="5577553" y="1725375"/>
            <a:ext cx="2029824"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1000–3000 раз</a:t>
            </a:r>
          </a:p>
        </p:txBody>
      </p:sp>
      <p:sp>
        <p:nvSpPr>
          <p:cNvPr id="15" name="TextBox 14"/>
          <p:cNvSpPr txBox="1"/>
          <p:nvPr/>
        </p:nvSpPr>
        <p:spPr>
          <a:xfrm>
            <a:off x="5577553" y="2542797"/>
            <a:ext cx="2029824"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первое измерение рефрена «три-четыре порядка»</a:t>
            </a:r>
          </a:p>
        </p:txBody>
      </p:sp>
      <p:sp>
        <p:nvSpPr>
          <p:cNvPr id="16" name="TextBox 15"/>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Классика</a:t>
            </a:r>
          </a:p>
        </p:txBody>
      </p:sp>
      <p:sp>
        <p:nvSpPr>
          <p:cNvPr id="17" name="Rounded Rectangle 16"/>
          <p:cNvSpPr/>
          <p:nvPr/>
        </p:nvSpPr>
        <p:spPr>
          <a:xfrm>
            <a:off x="1920240" y="3492795"/>
            <a:ext cx="175855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38515"/>
            <a:ext cx="159396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100 фрилансеров</a:t>
            </a:r>
          </a:p>
        </p:txBody>
      </p:sp>
      <p:sp>
        <p:nvSpPr>
          <p:cNvPr id="19" name="Right Arrow 18"/>
          <p:cNvSpPr/>
          <p:nvPr/>
        </p:nvSpPr>
        <p:spPr>
          <a:xfrm>
            <a:off x="3724512" y="366191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3953112" y="3492795"/>
            <a:ext cx="175855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035408" y="3538515"/>
            <a:ext cx="159396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5000 $</a:t>
            </a:r>
          </a:p>
        </p:txBody>
      </p:sp>
      <p:sp>
        <p:nvSpPr>
          <p:cNvPr id="22" name="Right Arrow 21"/>
          <p:cNvSpPr/>
          <p:nvPr/>
        </p:nvSpPr>
        <p:spPr>
          <a:xfrm>
            <a:off x="5757385" y="366191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5985985" y="3492795"/>
            <a:ext cx="175855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068281" y="3538515"/>
            <a:ext cx="159396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1–2 недели</a:t>
            </a:r>
          </a:p>
        </p:txBody>
      </p:sp>
      <p:sp>
        <p:nvSpPr>
          <p:cNvPr id="25" name="TextBox 24"/>
          <p:cNvSpPr txBox="1"/>
          <p:nvPr/>
        </p:nvSpPr>
        <p:spPr>
          <a:xfrm>
            <a:off x="502920" y="415106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Генерация</a:t>
            </a:r>
          </a:p>
        </p:txBody>
      </p:sp>
      <p:sp>
        <p:nvSpPr>
          <p:cNvPr id="26" name="Rounded Rectangle 25"/>
          <p:cNvSpPr/>
          <p:nvPr/>
        </p:nvSpPr>
        <p:spPr>
          <a:xfrm>
            <a:off x="1920240" y="4114492"/>
            <a:ext cx="1758552"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2002536" y="4160212"/>
            <a:ext cx="1593960"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100 изображений</a:t>
            </a:r>
          </a:p>
        </p:txBody>
      </p:sp>
      <p:sp>
        <p:nvSpPr>
          <p:cNvPr id="28" name="Right Arrow 27"/>
          <p:cNvSpPr/>
          <p:nvPr/>
        </p:nvSpPr>
        <p:spPr>
          <a:xfrm>
            <a:off x="3724512" y="428360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3953112" y="4114492"/>
            <a:ext cx="175855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4035408" y="4160212"/>
            <a:ext cx="159396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a:t>
            </a:r>
          </a:p>
        </p:txBody>
      </p:sp>
      <p:sp>
        <p:nvSpPr>
          <p:cNvPr id="31" name="Right Arrow 30"/>
          <p:cNvSpPr/>
          <p:nvPr/>
        </p:nvSpPr>
        <p:spPr>
          <a:xfrm>
            <a:off x="5757385" y="428360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5985985" y="4114492"/>
            <a:ext cx="175855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6068281" y="4160212"/>
            <a:ext cx="159396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минуты</a:t>
            </a:r>
          </a:p>
        </p:txBody>
      </p:sp>
      <p:sp>
        <p:nvSpPr>
          <p:cNvPr id="34" name="TextBox 33"/>
          <p:cNvSpPr txBox="1"/>
          <p:nvPr/>
        </p:nvSpPr>
        <p:spPr>
          <a:xfrm>
            <a:off x="502920" y="4626461"/>
            <a:ext cx="724161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100 вариантов баннера для A/B-теста</a:t>
            </a:r>
          </a:p>
        </p:txBody>
      </p:sp>
      <p:sp>
        <p:nvSpPr>
          <p:cNvPr id="35" name="Rounded Rectangle 34"/>
          <p:cNvSpPr/>
          <p:nvPr/>
        </p:nvSpPr>
        <p:spPr>
          <a:xfrm>
            <a:off x="374904" y="4929145"/>
            <a:ext cx="7497650" cy="1307062"/>
          </a:xfrm>
          <a:prstGeom prst="roundRect">
            <a:avLst>
              <a:gd name="adj" fmla="val 23319"/>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020585"/>
            <a:ext cx="7168466" cy="1215622"/>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Midjourney / Firefly: 0,03–0,05 $ за изображение.</a:t>
            </a:r>
            <a:r>
              <a:rPr sz="1050" b="0" i="0">
                <a:solidFill>
                  <a:srgbClr val="21295C"/>
                </a:solidFill>
                <a:latin typeface="Arial"/>
              </a:rPr>
              <a:t> Фрилансер вручную: </a:t>
            </a:r>
            <a:r>
              <a:rPr sz="1050" b="1" i="0">
                <a:solidFill>
                  <a:srgbClr val="21295C"/>
                </a:solidFill>
                <a:latin typeface="Arial"/>
              </a:rPr>
              <a:t>50–150 $, 1–3 дня.</a:t>
            </a:r>
          </a:p>
          <a:p>
            <a:pPr algn="l">
              <a:lnSpc>
                <a:spcPct val="126000"/>
              </a:lnSpc>
              <a:spcBef>
                <a:spcPts val="700"/>
              </a:spcBef>
            </a:pPr>
            <a:r>
              <a:rPr sz="1050" b="0" i="0">
                <a:solidFill>
                  <a:srgbClr val="21295C"/>
                </a:solidFill>
                <a:latin typeface="Arial"/>
              </a:rPr>
              <a:t/>
            </a:r>
            <a:r>
              <a:rPr sz="1050" b="1" i="0">
                <a:solidFill>
                  <a:srgbClr val="21295C"/>
                </a:solidFill>
                <a:latin typeface="Arial"/>
              </a:rPr>
              <a:t>Разрыв — в тысячу-три тысячи раз.</a:t>
            </a:r>
            <a:r>
              <a:rPr sz="1050" b="0" i="0">
                <a:solidFill>
                  <a:srgbClr val="21295C"/>
                </a:solidFill>
                <a:latin typeface="Arial"/>
              </a:rPr>
              <a:t> Первое измерение рефрена этой лекции: три-четыре порядка.</a:t>
            </a:r>
          </a:p>
          <a:p>
            <a:pPr algn="l">
              <a:lnSpc>
                <a:spcPct val="126000"/>
              </a:lnSpc>
              <a:spcBef>
                <a:spcPts val="700"/>
              </a:spcBef>
            </a:pPr>
            <a:r>
              <a:rPr sz="1050" b="0" i="0">
                <a:solidFill>
                  <a:srgbClr val="21295C"/>
                </a:solidFill>
                <a:latin typeface="Arial"/>
              </a:rPr>
              <a:t/>
            </a:r>
            <a:r>
              <a:rPr sz="1050" b="1" i="0">
                <a:solidFill>
                  <a:srgbClr val="21295C"/>
                </a:solidFill>
                <a:latin typeface="Arial"/>
              </a:rPr>
              <a:t>Сто вариантов баннера для A/B-теста:</a:t>
            </a:r>
            <a:r>
              <a:rPr sz="1050" b="0" i="0">
                <a:solidFill>
                  <a:srgbClr val="21295C"/>
                </a:solidFill>
                <a:latin typeface="Arial"/>
              </a:rPr>
              <a:t> классика — 5000 $, 1–2 недели; генерация — 5 $, минуты.</a:t>
            </a:r>
          </a:p>
          <a:p>
            <a:pPr algn="l">
              <a:lnSpc>
                <a:spcPct val="126000"/>
              </a:lnSpc>
              <a:spcBef>
                <a:spcPts val="700"/>
              </a:spcBef>
            </a:pPr>
            <a:r>
              <a:rPr sz="1050" b="0" i="0">
                <a:solidFill>
                  <a:srgbClr val="21295C"/>
                </a:solidFill>
                <a:latin typeface="Arial"/>
              </a:rPr>
              <a:t/>
            </a:r>
            <a:r>
              <a:rPr sz="1050" b="1" i="0">
                <a:solidFill>
                  <a:srgbClr val="21295C"/>
                </a:solidFill>
                <a:latin typeface="Arial"/>
              </a:rPr>
              <a:t>Это сравнение — по цене исполнения, не по интерпретации брифа и ответственности за результат.</a:t>
            </a:r>
          </a:p>
        </p:txBody>
      </p:sp>
      <p:sp>
        <p:nvSpPr>
          <p:cNvPr id="37" name="Rounded Rectangle 36"/>
          <p:cNvSpPr/>
          <p:nvPr/>
        </p:nvSpPr>
        <p:spPr>
          <a:xfrm>
            <a:off x="8055434" y="1335024"/>
            <a:ext cx="3633340" cy="4389120"/>
          </a:xfrm>
          <a:prstGeom prst="roundRect">
            <a:avLst>
              <a:gd name="adj" fmla="val 8388"/>
            </a:avLst>
          </a:prstGeom>
          <a:solidFill>
            <a:srgbClr val="F4F7FA"/>
          </a:solidFill>
          <a:ln w="19050">
            <a:solidFill>
              <a:srgbClr val="1C7293"/>
            </a:solidFill>
          </a:ln>
          <a:effectLst/>
        </p:spPr>
        <p:txBody>
          <a:bodyPr rtlCol="0" anchor="ctr"/>
          <a:lstStyle/>
          <a:p>
            <a:pPr algn="ctr"/>
          </a:p>
        </p:txBody>
      </p:sp>
      <p:pic>
        <p:nvPicPr>
          <p:cNvPr id="38" name="Picture 37" descr="s15-pope-puffer-jacket-midjourney.jpg"/>
          <p:cNvPicPr>
            <a:picLocks noChangeAspect="1"/>
          </p:cNvPicPr>
          <p:nvPr/>
        </p:nvPicPr>
        <p:blipFill>
          <a:blip r:embed="rId2"/>
          <a:stretch>
            <a:fillRect/>
          </a:stretch>
        </p:blipFill>
        <p:spPr>
          <a:xfrm>
            <a:off x="8192594" y="1472184"/>
            <a:ext cx="3359020" cy="4114800"/>
          </a:xfrm>
          <a:prstGeom prst="rect">
            <a:avLst/>
          </a:prstGeom>
        </p:spPr>
      </p:pic>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WaveSpeed AI 2026; ToolColumn 2026; DesignShifu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Обвал цены: трек и озвучка</a:t>
            </a:r>
          </a:p>
        </p:txBody>
      </p:sp>
      <p:sp>
        <p:nvSpPr>
          <p:cNvPr id="4" name="Rounded Rectangle 3"/>
          <p:cNvSpPr/>
          <p:nvPr/>
        </p:nvSpPr>
        <p:spPr>
          <a:xfrm>
            <a:off x="502920" y="1335024"/>
            <a:ext cx="3206343"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9320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SUNO (ПОКОЛЕНИЕ V6)</a:t>
            </a:r>
          </a:p>
        </p:txBody>
      </p:sp>
      <p:sp>
        <p:nvSpPr>
          <p:cNvPr id="6" name="TextBox 5"/>
          <p:cNvSpPr txBox="1"/>
          <p:nvPr/>
        </p:nvSpPr>
        <p:spPr>
          <a:xfrm>
            <a:off x="640080" y="1725375"/>
            <a:ext cx="293202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0,015–0,02 $ за песню</a:t>
            </a:r>
          </a:p>
        </p:txBody>
      </p:sp>
      <p:sp>
        <p:nvSpPr>
          <p:cNvPr id="7" name="TextBox 6"/>
          <p:cNvSpPr txBox="1"/>
          <p:nvPr/>
        </p:nvSpPr>
        <p:spPr>
          <a:xfrm>
            <a:off x="640080" y="2542797"/>
            <a:ext cx="293202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план Premier/Pro, октябрь 2026</a:t>
            </a:r>
          </a:p>
        </p:txBody>
      </p:sp>
      <p:sp>
        <p:nvSpPr>
          <p:cNvPr id="8" name="Rounded Rectangle 7"/>
          <p:cNvSpPr/>
          <p:nvPr/>
        </p:nvSpPr>
        <p:spPr>
          <a:xfrm>
            <a:off x="3873855" y="1335024"/>
            <a:ext cx="3206343"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011015" y="1472184"/>
            <a:ext cx="29320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СТОКОВАЯ ЛИЦЕНЗИЯ (ТРЕК)</a:t>
            </a:r>
          </a:p>
        </p:txBody>
      </p:sp>
      <p:sp>
        <p:nvSpPr>
          <p:cNvPr id="10" name="TextBox 9"/>
          <p:cNvSpPr txBox="1"/>
          <p:nvPr/>
        </p:nvSpPr>
        <p:spPr>
          <a:xfrm>
            <a:off x="4011015" y="1725375"/>
            <a:ext cx="293202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 за трек</a:t>
            </a:r>
          </a:p>
        </p:txBody>
      </p:sp>
      <p:sp>
        <p:nvSpPr>
          <p:cNvPr id="11" name="TextBox 10"/>
          <p:cNvSpPr txBox="1"/>
          <p:nvPr/>
        </p:nvSpPr>
        <p:spPr>
          <a:xfrm>
            <a:off x="4011015" y="2152374"/>
            <a:ext cx="293202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корректное сравнение — не кастомный заказ</a:t>
            </a:r>
          </a:p>
        </p:txBody>
      </p:sp>
      <p:sp>
        <p:nvSpPr>
          <p:cNvPr id="12" name="Rounded Rectangle 11"/>
          <p:cNvSpPr/>
          <p:nvPr/>
        </p:nvSpPr>
        <p:spPr>
          <a:xfrm>
            <a:off x="502920" y="3055793"/>
            <a:ext cx="320634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192953"/>
            <a:ext cx="29320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ELEVENLABS (ОЗВУЧКА)</a:t>
            </a:r>
          </a:p>
        </p:txBody>
      </p:sp>
      <p:sp>
        <p:nvSpPr>
          <p:cNvPr id="14" name="TextBox 13"/>
          <p:cNvSpPr txBox="1"/>
          <p:nvPr/>
        </p:nvSpPr>
        <p:spPr>
          <a:xfrm>
            <a:off x="640080" y="3446144"/>
            <a:ext cx="293202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0,04–0,20 $/минута</a:t>
            </a:r>
          </a:p>
        </p:txBody>
      </p:sp>
      <p:sp>
        <p:nvSpPr>
          <p:cNvPr id="15" name="TextBox 14"/>
          <p:cNvSpPr txBox="1"/>
          <p:nvPr/>
        </p:nvSpPr>
        <p:spPr>
          <a:xfrm>
            <a:off x="640080" y="3873143"/>
            <a:ext cx="293202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Flash API до подписки конечного пользователя</a:t>
            </a:r>
          </a:p>
        </p:txBody>
      </p:sp>
      <p:sp>
        <p:nvSpPr>
          <p:cNvPr id="16" name="Rounded Rectangle 15"/>
          <p:cNvSpPr/>
          <p:nvPr/>
        </p:nvSpPr>
        <p:spPr>
          <a:xfrm>
            <a:off x="3873855" y="3055793"/>
            <a:ext cx="320634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4011015" y="3192953"/>
            <a:ext cx="29320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ДИКТОР</a:t>
            </a:r>
          </a:p>
        </p:txBody>
      </p:sp>
      <p:sp>
        <p:nvSpPr>
          <p:cNvPr id="18" name="TextBox 17"/>
          <p:cNvSpPr txBox="1"/>
          <p:nvPr/>
        </p:nvSpPr>
        <p:spPr>
          <a:xfrm>
            <a:off x="4011015" y="3446144"/>
            <a:ext cx="293202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50–450 $/минута</a:t>
            </a:r>
          </a:p>
        </p:txBody>
      </p:sp>
      <p:sp>
        <p:nvSpPr>
          <p:cNvPr id="19" name="TextBox 18"/>
          <p:cNvSpPr txBox="1"/>
          <p:nvPr/>
        </p:nvSpPr>
        <p:spPr>
          <a:xfrm>
            <a:off x="4011015" y="3873143"/>
            <a:ext cx="293202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в 250–1000 раз, тот же порядок</a:t>
            </a:r>
          </a:p>
        </p:txBody>
      </p:sp>
      <p:sp>
        <p:nvSpPr>
          <p:cNvPr id="20" name="Rounded Rectangle 19"/>
          <p:cNvSpPr/>
          <p:nvPr/>
        </p:nvSpPr>
        <p:spPr>
          <a:xfrm>
            <a:off x="374904" y="4626864"/>
            <a:ext cx="11441887" cy="1609344"/>
          </a:xfrm>
          <a:prstGeom prst="roundRect">
            <a:avLst>
              <a:gd name="adj" fmla="val 18939"/>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18304"/>
            <a:ext cx="11112703" cy="1517904"/>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Сравнивать нужно со стоковой лицензией, не с кастомным заказом</a:t>
            </a:r>
            <a:r>
              <a:rPr sz="1050" b="0" i="0">
                <a:solidFill>
                  <a:srgbClr val="21295C"/>
                </a:solidFill>
                <a:latin typeface="Arial"/>
              </a:rPr>
              <a:t> — иначе это «выигрыш от нуля», канон запрещает.</a:t>
            </a:r>
          </a:p>
          <a:p>
            <a:pPr algn="l">
              <a:lnSpc>
                <a:spcPct val="126000"/>
              </a:lnSpc>
              <a:spcBef>
                <a:spcPts val="700"/>
              </a:spcBef>
            </a:pPr>
            <a:r>
              <a:rPr sz="1050" b="0" i="0">
                <a:solidFill>
                  <a:srgbClr val="21295C"/>
                </a:solidFill>
                <a:latin typeface="Arial"/>
              </a:rPr>
              <a:t/>
            </a:r>
            <a:r>
              <a:rPr sz="1050" b="1" i="0">
                <a:solidFill>
                  <a:srgbClr val="21295C"/>
                </a:solidFill>
                <a:latin typeface="Arial"/>
              </a:rPr>
              <a:t>Трек: сток 20–100 $</a:t>
            </a:r>
            <a:r>
              <a:rPr sz="1050" b="0" i="0">
                <a:solidFill>
                  <a:srgbClr val="21295C"/>
                </a:solidFill>
                <a:latin typeface="Arial"/>
              </a:rPr>
              <a:t> против Suno v6 — </a:t>
            </a:r>
            <a:r>
              <a:rPr sz="1050" b="1" i="0">
                <a:solidFill>
                  <a:srgbClr val="21295C"/>
                </a:solidFill>
                <a:latin typeface="Arial"/>
              </a:rPr>
              <a:t>0,015–0,02 $ за песню</a:t>
            </a:r>
            <a:r>
              <a:rPr sz="1050" b="0" i="0">
                <a:solidFill>
                  <a:srgbClr val="21295C"/>
                </a:solidFill>
                <a:latin typeface="Arial"/>
              </a:rPr>
              <a:t> (разрыв в 1000–5000 раз).</a:t>
            </a:r>
          </a:p>
          <a:p>
            <a:pPr algn="l">
              <a:lnSpc>
                <a:spcPct val="126000"/>
              </a:lnSpc>
              <a:spcBef>
                <a:spcPts val="700"/>
              </a:spcBef>
            </a:pPr>
            <a:r>
              <a:rPr sz="1050" b="0" i="0">
                <a:solidFill>
                  <a:srgbClr val="21295C"/>
                </a:solidFill>
                <a:latin typeface="Arial"/>
              </a:rPr>
              <a:t/>
            </a:r>
            <a:r>
              <a:rPr sz="1050" b="1" i="0">
                <a:solidFill>
                  <a:srgbClr val="21295C"/>
                </a:solidFill>
                <a:latin typeface="Arial"/>
              </a:rPr>
              <a:t>Озвучка: классический диктор 50–450 $/минута</a:t>
            </a:r>
            <a:r>
              <a:rPr sz="1050" b="0" i="0">
                <a:solidFill>
                  <a:srgbClr val="21295C"/>
                </a:solidFill>
                <a:latin typeface="Arial"/>
              </a:rPr>
              <a:t> против ElevenLabs — </a:t>
            </a:r>
            <a:r>
              <a:rPr sz="1050" b="1" i="0">
                <a:solidFill>
                  <a:srgbClr val="21295C"/>
                </a:solidFill>
                <a:latin typeface="Arial"/>
              </a:rPr>
              <a:t>0,04–0,20 $/минута</a:t>
            </a:r>
            <a:r>
              <a:rPr sz="1050" b="0" i="0">
                <a:solidFill>
                  <a:srgbClr val="21295C"/>
                </a:solidFill>
                <a:latin typeface="Arial"/>
              </a:rPr>
              <a:t> (разрыв в 250–1000 раз) — единица измерения одна и та же, без оговорок о несопоставимости.</a:t>
            </a:r>
          </a:p>
          <a:p>
            <a:pPr algn="l">
              <a:lnSpc>
                <a:spcPct val="126000"/>
              </a:lnSpc>
              <a:spcBef>
                <a:spcPts val="700"/>
              </a:spcBef>
            </a:pPr>
            <a:r>
              <a:rPr sz="1050" b="0" i="0">
                <a:solidFill>
                  <a:srgbClr val="21295C"/>
                </a:solidFill>
                <a:latin typeface="Arial"/>
              </a:rPr>
              <a:t/>
            </a:r>
            <a:r>
              <a:rPr sz="1050" b="1" i="0">
                <a:solidFill>
                  <a:srgbClr val="21295C"/>
                </a:solidFill>
                <a:latin typeface="Arial"/>
              </a:rPr>
              <a:t>То же умение, что синтезирует речь, умеет клонировать конкретный голос по короткому образцу</a:t>
            </a:r>
            <a:r>
              <a:rPr sz="1050" b="0" i="0">
                <a:solidFill>
                  <a:srgbClr val="21295C"/>
                </a:solidFill>
                <a:latin typeface="Arial"/>
              </a:rPr>
              <a:t> — техника исполнения и техника подделки здесь впервые видны на одном и том же инструменте.</a:t>
            </a:r>
          </a:p>
        </p:txBody>
      </p:sp>
      <p:sp>
        <p:nvSpPr>
          <p:cNvPr id="22" name="Rounded Rectangle 21"/>
          <p:cNvSpPr/>
          <p:nvPr/>
        </p:nvSpPr>
        <p:spPr>
          <a:xfrm>
            <a:off x="7391095" y="1335024"/>
            <a:ext cx="4297680" cy="3291840"/>
          </a:xfrm>
          <a:prstGeom prst="roundRect">
            <a:avLst>
              <a:gd name="adj" fmla="val 9259"/>
            </a:avLst>
          </a:prstGeom>
          <a:solidFill>
            <a:srgbClr val="F4F7FA"/>
          </a:solidFill>
          <a:ln w="19050">
            <a:solidFill>
              <a:srgbClr val="1C7293"/>
            </a:solidFill>
          </a:ln>
          <a:effectLst/>
        </p:spPr>
        <p:txBody>
          <a:bodyPr rtlCol="0" anchor="ctr"/>
          <a:lstStyle/>
          <a:p>
            <a:pPr algn="ctr"/>
          </a:p>
        </p:txBody>
      </p:sp>
      <p:pic>
        <p:nvPicPr>
          <p:cNvPr id="23" name="Picture 22" descr="s16-suno-studio-interface-press.jpg"/>
          <p:cNvPicPr>
            <a:picLocks noChangeAspect="1"/>
          </p:cNvPicPr>
          <p:nvPr/>
        </p:nvPicPr>
        <p:blipFill>
          <a:blip r:embed="rId2"/>
          <a:stretch>
            <a:fillRect/>
          </a:stretch>
        </p:blipFill>
        <p:spPr>
          <a:xfrm>
            <a:off x="7528255" y="1472184"/>
            <a:ext cx="4023360" cy="301752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CostBench 2026; FoxiMusic 2026; Audiosocket 2026; FelloAI 2026; OakGen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Как устроена генерация: вход → понимание промпта → диффузия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устроена генерация</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Вход модели</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Понимание промпта</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Диффузия</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остановки этого блока</a:t>
            </a:r>
          </a:p>
        </p:txBody>
      </p:sp>
      <p:sp>
        <p:nvSpPr>
          <p:cNvPr id="14" name="Rounded Rectangle 13"/>
          <p:cNvSpPr/>
          <p:nvPr/>
        </p:nvSpPr>
        <p:spPr>
          <a:xfrm>
            <a:off x="374904" y="2149676"/>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11112703"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Цены вы видели. Теперь — механизм, из которого эти цены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остановки:</a:t>
            </a:r>
            <a:r>
              <a:rPr sz="1500" b="0" i="0">
                <a:solidFill>
                  <a:srgbClr val="21295C"/>
                </a:solidFill>
                <a:latin typeface="Arial"/>
              </a:rPr>
              <a:t> что модель видит на входе · как она понимает текстовый запрос · как из шума получается готовый результат — диффузия.</a:t>
            </a:r>
          </a:p>
        </p:txBody>
      </p:sp>
      <p:sp>
        <p:nvSpPr>
          <p:cNvPr id="16" name="Rectangle 15"/>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класса моделей и карта видов генерации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TEXT-TO-IMAGE</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Midjourney, Firefly</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обвал цены изображения — предыдущие кадры</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TEXT-TO-MUSIC</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Suno</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обвал цены трека — предыдущий кадр</a:t>
            </a:r>
          </a:p>
        </p:txBody>
      </p:sp>
      <p:sp>
        <p:nvSpPr>
          <p:cNvPr id="12" name="Rounded Rectangle 11"/>
          <p:cNvSpPr/>
          <p:nvPr/>
        </p:nvSpPr>
        <p:spPr>
          <a:xfrm>
            <a:off x="502920"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TEXT-TO-SPEECH + КЛОН ГОЛОСА</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ElevenLabs</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обвал цены озвучки — предыдущий кадр</a:t>
            </a:r>
          </a:p>
        </p:txBody>
      </p:sp>
      <p:sp>
        <p:nvSpPr>
          <p:cNvPr id="16" name="Rounded Rectangle 15"/>
          <p:cNvSpPr/>
          <p:nvPr/>
        </p:nvSpPr>
        <p:spPr>
          <a:xfrm>
            <a:off x="6178143" y="2665369"/>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TEXT-TO-VIDEO</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Sora, Veo, Kling, Kandinsky</a:t>
            </a:r>
          </a:p>
        </p:txBody>
      </p:sp>
      <p:sp>
        <p:nvSpPr>
          <p:cNvPr id="19" name="TextBox 18"/>
          <p:cNvSpPr txBox="1"/>
          <p:nvPr/>
        </p:nvSpPr>
        <p:spPr>
          <a:xfrm>
            <a:off x="6315303"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хайп-цикл Sora — следующий кадр</a:t>
            </a:r>
          </a:p>
        </p:txBody>
      </p:sp>
      <p:sp>
        <p:nvSpPr>
          <p:cNvPr id="20" name="TextBox 19"/>
          <p:cNvSpPr txBox="1"/>
          <p:nvPr/>
        </p:nvSpPr>
        <p:spPr>
          <a:xfrm>
            <a:off x="502920" y="40505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Читатель (CLIP)</a:t>
            </a:r>
          </a:p>
        </p:txBody>
      </p:sp>
      <p:sp>
        <p:nvSpPr>
          <p:cNvPr id="21" name="Rounded Rectangle 20"/>
          <p:cNvSpPr/>
          <p:nvPr/>
        </p:nvSpPr>
        <p:spPr>
          <a:xfrm>
            <a:off x="1920240" y="40140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0597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картинка + текст</a:t>
            </a:r>
          </a:p>
        </p:txBody>
      </p:sp>
      <p:sp>
        <p:nvSpPr>
          <p:cNvPr id="23" name="Right Arrow 22"/>
          <p:cNvSpPr/>
          <p:nvPr/>
        </p:nvSpPr>
        <p:spPr>
          <a:xfrm>
            <a:off x="6713067" y="4183120"/>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6941667" y="40140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7023963" y="40597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суждение / оценка сходства</a:t>
            </a:r>
          </a:p>
        </p:txBody>
      </p:sp>
      <p:sp>
        <p:nvSpPr>
          <p:cNvPr id="26" name="TextBox 25"/>
          <p:cNvSpPr txBox="1"/>
          <p:nvPr/>
        </p:nvSpPr>
        <p:spPr>
          <a:xfrm>
            <a:off x="502920" y="467227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a:t>
            </a:r>
          </a:p>
        </p:txBody>
      </p:sp>
      <p:sp>
        <p:nvSpPr>
          <p:cNvPr id="27" name="Rounded Rectangle 26"/>
          <p:cNvSpPr/>
          <p:nvPr/>
        </p:nvSpPr>
        <p:spPr>
          <a:xfrm>
            <a:off x="1920240" y="463570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68142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 опц. изображение)</a:t>
            </a:r>
          </a:p>
        </p:txBody>
      </p:sp>
      <p:sp>
        <p:nvSpPr>
          <p:cNvPr id="29" name="Right Arrow 28"/>
          <p:cNvSpPr/>
          <p:nvPr/>
        </p:nvSpPr>
        <p:spPr>
          <a:xfrm>
            <a:off x="6713067" y="4804817"/>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941667" y="463570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7023963" y="468142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новый файл: пиксели / сэмплы / кадры</a:t>
            </a:r>
          </a:p>
        </p:txBody>
      </p:sp>
      <p:sp>
        <p:nvSpPr>
          <p:cNvPr id="32" name="TextBox 31"/>
          <p:cNvSpPr txBox="1"/>
          <p:nvPr/>
        </p:nvSpPr>
        <p:spPr>
          <a:xfrm>
            <a:off x="502920" y="514766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Модель-читатель против модели-генератора</a:t>
            </a:r>
          </a:p>
        </p:txBody>
      </p:sp>
      <p:sp>
        <p:nvSpPr>
          <p:cNvPr id="33" name="Rounded Rectangle 32"/>
          <p:cNvSpPr/>
          <p:nvPr/>
        </p:nvSpPr>
        <p:spPr>
          <a:xfrm>
            <a:off x="374904" y="5450353"/>
            <a:ext cx="11441887" cy="78585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541793"/>
            <a:ext cx="5373471" cy="694414"/>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Модель-читатель</a:t>
            </a:r>
            <a:r>
              <a:rPr sz="1000" b="0" i="0">
                <a:solidFill>
                  <a:srgbClr val="21295C"/>
                </a:solidFill>
                <a:latin typeface="Arial"/>
              </a:rPr>
              <a:t> (CLIP-класс): картинка + текст на входе → суждение, оценка сходства. </a:t>
            </a:r>
            <a:r>
              <a:rPr sz="1000" b="1" i="0">
                <a:solidFill>
                  <a:srgbClr val="21295C"/>
                </a:solidFill>
                <a:latin typeface="Arial"/>
              </a:rPr>
              <a:t>Вторая половина этой карты — как устроен сам читатель — после генерации, дальше в этом же разделе.</a:t>
            </a:r>
          </a:p>
        </p:txBody>
      </p:sp>
      <p:sp>
        <p:nvSpPr>
          <p:cNvPr id="35" name="TextBox 34"/>
          <p:cNvSpPr txBox="1"/>
          <p:nvPr/>
        </p:nvSpPr>
        <p:spPr>
          <a:xfrm>
            <a:off x="6278727" y="5541793"/>
            <a:ext cx="5373471" cy="694414"/>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Модель-генератор:</a:t>
            </a:r>
            <a:r>
              <a:rPr sz="1000" b="0" i="0">
                <a:solidFill>
                  <a:srgbClr val="21295C"/>
                </a:solidFill>
                <a:latin typeface="Arial"/>
              </a:rPr>
              <a:t> текст (иногда + изображение) на входе → новый файл на выходе.</a:t>
            </a:r>
          </a:p>
          <a:p>
            <a:pPr algn="l">
              <a:lnSpc>
                <a:spcPct val="126000"/>
              </a:lnSpc>
              <a:spcBef>
                <a:spcPts val="700"/>
              </a:spcBef>
            </a:pPr>
            <a:r>
              <a:rPr sz="1000" b="0" i="0">
                <a:solidFill>
                  <a:srgbClr val="21295C"/>
                </a:solidFill>
                <a:latin typeface="Arial"/>
              </a:rPr>
              <a:t/>
            </a:r>
            <a:r>
              <a:rPr sz="1000" b="1" i="0">
                <a:solidFill>
                  <a:srgbClr val="21295C"/>
                </a:solidFill>
                <a:latin typeface="Arial"/>
              </a:rPr>
              <a:t>Вид генерации ≠ бренд инструмента</a:t>
            </a:r>
            <a:r>
              <a:rPr sz="1000" b="0" i="0">
                <a:solidFill>
                  <a:srgbClr val="21295C"/>
                </a:solidFill>
                <a:latin typeface="Arial"/>
              </a:rPr>
              <a:t> — бренды сменятся, виды останутся.</a:t>
            </a:r>
          </a:p>
        </p:txBody>
      </p:sp>
      <p:sp>
        <p:nvSpPr>
          <p:cNvPr id="36" name="Rectangle 35"/>
          <p:cNvSpPr/>
          <p:nvPr/>
        </p:nvSpPr>
        <p:spPr>
          <a:xfrm>
            <a:off x="6091275" y="5541793"/>
            <a:ext cx="9144" cy="594122"/>
          </a:xfrm>
          <a:prstGeom prst="rect">
            <a:avLst/>
          </a:prstGeom>
          <a:solidFill>
            <a:srgbClr val="D9E2EC"/>
          </a:solidFill>
          <a:ln>
            <a:noFill/>
          </a:ln>
          <a:effectLst/>
        </p:spPr>
        <p:txBody>
          <a:bodyPr rtlCol="0" anchor="ctr"/>
          <a:lstStyle/>
          <a:p>
            <a:pPr algn="ct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Токен за пределами текста</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ТЕКСТ</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BPE-токен</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Лекция 2 — одна строка-напоминание</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ИЗОБРАЖЕНИЕ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патч</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квадрат пикселей как «слово» картинки</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ЗВУК (SUNO, ELEVENLABS)</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архитектура не раскрыта</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честная графа (б) — не домысел</a:t>
            </a:r>
          </a:p>
        </p:txBody>
      </p:sp>
      <p:sp>
        <p:nvSpPr>
          <p:cNvPr id="16" name="Rounded Rectangle 15"/>
          <p:cNvSpPr/>
          <p:nvPr/>
        </p:nvSpPr>
        <p:spPr>
          <a:xfrm>
            <a:off x="374904" y="298264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Текст</a:t>
            </a:r>
            <a:r>
              <a:rPr sz="1500" b="0" i="0">
                <a:solidFill>
                  <a:srgbClr val="21295C"/>
                </a:solidFill>
                <a:latin typeface="Arial"/>
              </a:rPr>
              <a:t> — BPE-токен (Лекция 2). </a:t>
            </a:r>
            <a:r>
              <a:rPr sz="1500" b="1" i="0">
                <a:solidFill>
                  <a:srgbClr val="21295C"/>
                </a:solidFill>
                <a:latin typeface="Arial"/>
              </a:rPr>
              <a:t>Изображение</a:t>
            </a:r>
            <a:r>
              <a:rPr sz="1500" b="0" i="0">
                <a:solidFill>
                  <a:srgbClr val="21295C"/>
                </a:solidFill>
                <a:latin typeface="Arial"/>
              </a:rPr>
              <a:t> — патч: квадратный кусок пикселей как «слово» картинки. </a:t>
            </a:r>
            <a:r>
              <a:rPr sz="1500" b="1" i="0">
                <a:solidFill>
                  <a:srgbClr val="21295C"/>
                </a:solidFill>
                <a:latin typeface="Arial"/>
              </a:rPr>
              <a:t>Звук</a:t>
            </a:r>
            <a:r>
              <a:rPr sz="1500" b="0" i="0">
                <a:solidFill>
                  <a:srgbClr val="21295C"/>
                </a:solidFill>
                <a:latin typeface="Arial"/>
              </a:rPr>
              <a:t> (Suno, ElevenLabs) — честная графа (б): архитектура не раскрыта ни одним из поставщиков.</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никогда не видит «картинку целиком»</a:t>
            </a:r>
            <a:r>
              <a:rPr sz="1500" b="0" i="0">
                <a:solidFill>
                  <a:srgbClr val="21295C"/>
                </a:solidFill>
                <a:latin typeface="Arial"/>
              </a:rPr>
              <a:t> — только последовательность или поле элементарных единиц.</a:t>
            </a:r>
          </a:p>
          <a:p>
            <a:pPr algn="l">
              <a:lnSpc>
                <a:spcPct val="126000"/>
              </a:lnSpc>
              <a:spcBef>
                <a:spcPts val="700"/>
              </a:spcBef>
            </a:pPr>
            <a:r>
              <a:rPr sz="1500" b="0" i="0">
                <a:solidFill>
                  <a:srgbClr val="21295C"/>
                </a:solidFill>
                <a:latin typeface="Arial"/>
              </a:rPr>
              <a:t/>
            </a:r>
            <a:r>
              <a:rPr sz="1500" b="1" i="0">
                <a:solidFill>
                  <a:srgbClr val="21295C"/>
                </a:solidFill>
                <a:latin typeface="Arial"/>
              </a:rPr>
              <a:t>Единица входа — то, что можно посчитать; посчитанное — то, что можно удешевить.</a:t>
            </a:r>
          </a:p>
        </p:txBody>
      </p:sp>
      <p:sp>
        <p:nvSpPr>
          <p:cNvPr id="19" name="Rectangle 18"/>
          <p:cNvSpPr/>
          <p:nvPr/>
        </p:nvSpPr>
        <p:spPr>
          <a:xfrm>
            <a:off x="6091275" y="3074081"/>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 miraflow.ai 2026; emergentmind.com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Латентное пространство — рабочее поле генерации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СЖАТИЕ ПО СТОРОНЕ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512 → 64</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СЖАТИЕ ПО ЧИСЛУ ЧИСЕЛ</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×48</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786 432 / 16 384 = 48,0 — точно, не оценка</a:t>
            </a:r>
          </a:p>
        </p:txBody>
      </p:sp>
      <p:sp>
        <p:nvSpPr>
          <p:cNvPr id="12" name="TextBox 11"/>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a:t>
            </a:r>
          </a:p>
        </p:txBody>
      </p:sp>
      <p:sp>
        <p:nvSpPr>
          <p:cNvPr id="13" name="Rounded Rectangle 12"/>
          <p:cNvSpPr/>
          <p:nvPr/>
        </p:nvSpPr>
        <p:spPr>
          <a:xfrm>
            <a:off x="1920240" y="268365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512×512×3 пикселей (786 432 числа)</a:t>
            </a:r>
          </a:p>
        </p:txBody>
      </p:sp>
      <p:sp>
        <p:nvSpPr>
          <p:cNvPr id="15" name="Right Arrow 14"/>
          <p:cNvSpPr/>
          <p:nvPr/>
        </p:nvSpPr>
        <p:spPr>
          <a:xfrm>
            <a:off x="4202353" y="2971598"/>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430953" y="268365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513249" y="272937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VAE-энкодер</a:t>
            </a:r>
          </a:p>
        </p:txBody>
      </p:sp>
      <p:sp>
        <p:nvSpPr>
          <p:cNvPr id="18" name="Right Arrow 17"/>
          <p:cNvSpPr/>
          <p:nvPr/>
        </p:nvSpPr>
        <p:spPr>
          <a:xfrm>
            <a:off x="6713067" y="2971598"/>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2683657"/>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0" name="TextBox 19"/>
          <p:cNvSpPr txBox="1"/>
          <p:nvPr/>
        </p:nvSpPr>
        <p:spPr>
          <a:xfrm>
            <a:off x="7023963" y="2729377"/>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латент 64×64×4 (16 384 числа)</a:t>
            </a:r>
          </a:p>
        </p:txBody>
      </p:sp>
      <p:sp>
        <p:nvSpPr>
          <p:cNvPr id="21" name="Right Arrow 20"/>
          <p:cNvSpPr/>
          <p:nvPr/>
        </p:nvSpPr>
        <p:spPr>
          <a:xfrm>
            <a:off x="9223781" y="297159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9452381" y="268365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534677" y="272937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VAE-декодер → пиксели на выходе</a:t>
            </a:r>
          </a:p>
        </p:txBody>
      </p:sp>
      <p:sp>
        <p:nvSpPr>
          <p:cNvPr id="24" name="TextBox 23"/>
          <p:cNvSpPr txBox="1"/>
          <p:nvPr/>
        </p:nvSpPr>
        <p:spPr>
          <a:xfrm>
            <a:off x="502920" y="343327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Пиксели → энкодер → латент (рабочее поле) → декодер → пиксели</a:t>
            </a:r>
          </a:p>
        </p:txBody>
      </p:sp>
      <p:sp>
        <p:nvSpPr>
          <p:cNvPr id="25" name="Rounded Rectangle 24"/>
          <p:cNvSpPr/>
          <p:nvPr/>
        </p:nvSpPr>
        <p:spPr>
          <a:xfrm>
            <a:off x="374904" y="373595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Рабочее поле, в котором диффузионная модель производит все вычисления, — против готовой картинки 1024×1024: больше, равно или в разы меньше?</a:t>
            </a:r>
            <a:r>
              <a:rPr sz="1500" b="0" i="0">
                <a:solidFill>
                  <a:srgbClr val="21295C"/>
                </a:solidFill>
                <a:latin typeface="Arial"/>
              </a:rPr>
              <a:t> В разы меньше.</a:t>
            </a:r>
          </a:p>
          <a:p>
            <a:pPr algn="l">
              <a:lnSpc>
                <a:spcPct val="126000"/>
              </a:lnSpc>
              <a:spcBef>
                <a:spcPts val="700"/>
              </a:spcBef>
            </a:pPr>
            <a:r>
              <a:rPr sz="1500" b="0" i="0">
                <a:solidFill>
                  <a:srgbClr val="21295C"/>
                </a:solidFill>
                <a:latin typeface="Arial"/>
              </a:rPr>
              <a:t/>
            </a:r>
            <a:r>
              <a:rPr sz="1500" b="1" i="0">
                <a:solidFill>
                  <a:srgbClr val="21295C"/>
                </a:solidFill>
                <a:latin typeface="Arial"/>
              </a:rPr>
              <a:t>Автоэнкодер (VAE) сжимает картинку в латентное поле:</a:t>
            </a:r>
            <a:r>
              <a:rPr sz="1500" b="0" i="0">
                <a:solidFill>
                  <a:srgbClr val="21295C"/>
                </a:solidFill>
                <a:latin typeface="Arial"/>
              </a:rPr>
              <a:t> 512×512×3 пикселей (786 432 числа) → латент 64×64×4 (16 384 числа).</a:t>
            </a:r>
          </a:p>
        </p:txBody>
      </p:sp>
      <p:sp>
        <p:nvSpPr>
          <p:cNvPr id="27" name="TextBox 26"/>
          <p:cNvSpPr txBox="1"/>
          <p:nvPr/>
        </p:nvSpPr>
        <p:spPr>
          <a:xfrm>
            <a:off x="6278727"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по стороне. ×48 по числу обрабатываемых чисел</a:t>
            </a:r>
            <a:r>
              <a:rPr sz="1500" b="0" i="0">
                <a:solidFill>
                  <a:srgbClr val="21295C"/>
                </a:solidFill>
                <a:latin typeface="Arial"/>
              </a:rPr>
              <a:t> — точная арифметика, не оценка «около».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Латент — не «сжатый JPEG»</a:t>
            </a:r>
            <a:r>
              <a:rPr sz="1500" b="0" i="0">
                <a:solidFill>
                  <a:srgbClr val="21295C"/>
                </a:solidFill>
                <a:latin typeface="Arial"/>
              </a:rPr>
              <a:t>, а пространство признаков: соседние точки похожи по смыслу, не по байтам файла.</a:t>
            </a:r>
          </a:p>
        </p:txBody>
      </p:sp>
      <p:sp>
        <p:nvSpPr>
          <p:cNvPr id="28" name="Rectangle 27"/>
          <p:cNvSpPr/>
          <p:nvPr/>
        </p:nvSpPr>
        <p:spPr>
          <a:xfrm>
            <a:off x="6091275" y="3827399"/>
            <a:ext cx="9144" cy="2168327"/>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Blattmann, Lorenz, Esser, Ommer, CVPR 2022, arXiv:2112.10752; HuggingFace Diffusers blog; NVIDIA NeMo Framework Guide; stable-diffusion-art.com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Почему дипфейк для найма готовится за 70 минут на бытовой видеокарте</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ЛАТЕНТНОЕ СЖАТИЕ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работа в поле ×48 меньше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латентное сжатие — предыдущий кадр</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ОТКРЫТЫЕ ВЕСА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файл, который можно скачать</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закрытый сервис по подписке</a:t>
            </a:r>
          </a:p>
        </p:txBody>
      </p:sp>
      <p:sp>
        <p:nvSpPr>
          <p:cNvPr id="12" name="Rounded Rectangle 11"/>
          <p:cNvSpPr/>
          <p:nvPr/>
        </p:nvSpPr>
        <p:spPr>
          <a:xfrm>
            <a:off x="502920"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ПОТРЕБИТЕЛЬСКАЯ ВИДЕОКАРТА</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лет архитектуре</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дата-центр</a:t>
            </a:r>
          </a:p>
        </p:txBody>
      </p:sp>
      <p:sp>
        <p:nvSpPr>
          <p:cNvPr id="16" name="Rounded Rectangle 15"/>
          <p:cNvSpPr/>
          <p:nvPr/>
        </p:nvSpPr>
        <p:spPr>
          <a:xfrm>
            <a:off x="6178143" y="2665369"/>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≈70 минут подготовки</a:t>
            </a:r>
          </a:p>
        </p:txBody>
      </p:sp>
      <p:sp>
        <p:nvSpPr>
          <p:cNvPr id="19" name="TextBox 18"/>
          <p:cNvSpPr txBox="1"/>
          <p:nvPr/>
        </p:nvSpPr>
        <p:spPr>
          <a:xfrm>
            <a:off x="6315303"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real-time deepfake на бытовом GPU (Nisos, 2026)</a:t>
            </a:r>
          </a:p>
        </p:txBody>
      </p:sp>
      <p:sp>
        <p:nvSpPr>
          <p:cNvPr id="20" name="Rounded Rectangle 19"/>
          <p:cNvSpPr/>
          <p:nvPr/>
        </p:nvSpPr>
        <p:spPr>
          <a:xfrm>
            <a:off x="374904" y="3922563"/>
            <a:ext cx="11441887" cy="2313644"/>
          </a:xfrm>
          <a:prstGeom prst="roundRect">
            <a:avLst>
              <a:gd name="adj" fmla="val 131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14003"/>
            <a:ext cx="5373471" cy="2222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слагаемых этого числа (найм под чужой личностью):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Латентное сжатие</a:t>
            </a:r>
            <a:r>
              <a:rPr sz="1500" b="0" i="0">
                <a:solidFill>
                  <a:srgbClr val="21295C"/>
                </a:solidFill>
                <a:latin typeface="Arial"/>
              </a:rPr>
              <a:t> — работа в поле в десятки раз меньше (разобрано на предыдущем кадре). </a:t>
            </a:r>
            <a:r>
              <a:rPr sz="1500" b="1" i="0">
                <a:solidFill>
                  <a:srgbClr val="21295C"/>
                </a:solidFill>
                <a:latin typeface="Arial"/>
              </a:rPr>
              <a:t>Открытые веса</a:t>
            </a:r>
            <a:r>
              <a:rPr sz="1500" b="0" i="0">
                <a:solidFill>
                  <a:srgbClr val="21295C"/>
                </a:solidFill>
                <a:latin typeface="Arial"/>
              </a:rPr>
              <a:t> — файл, который можно скачать, а не закрытый сервис. </a:t>
            </a:r>
            <a:r>
              <a:rPr sz="1500" b="1" i="0">
                <a:solidFill>
                  <a:srgbClr val="21295C"/>
                </a:solidFill>
                <a:latin typeface="Arial"/>
              </a:rPr>
              <a:t>Потребительская видеокарта</a:t>
            </a:r>
            <a:r>
              <a:rPr sz="1500" b="0" i="0">
                <a:solidFill>
                  <a:srgbClr val="21295C"/>
                </a:solidFill>
                <a:latin typeface="Arial"/>
              </a:rPr>
              <a:t> — пятилетней давности, не дата-центр.</a:t>
            </a:r>
          </a:p>
        </p:txBody>
      </p:sp>
      <p:sp>
        <p:nvSpPr>
          <p:cNvPr id="22" name="TextBox 21"/>
          <p:cNvSpPr txBox="1"/>
          <p:nvPr/>
        </p:nvSpPr>
        <p:spPr>
          <a:xfrm>
            <a:off x="6278727" y="4014003"/>
            <a:ext cx="5373471" cy="2222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Итог: ≈70 минут подготовки real-time deepfake на бытовом GPU.</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обнуление цены подделки — не в деньгах, а в железе и времени настройки.</a:t>
            </a:r>
          </a:p>
        </p:txBody>
      </p:sp>
      <p:sp>
        <p:nvSpPr>
          <p:cNvPr id="23" name="Rectangle 22"/>
          <p:cNvSpPr/>
          <p:nvPr/>
        </p:nvSpPr>
        <p:spPr>
          <a:xfrm>
            <a:off x="6091275" y="4014003"/>
            <a:ext cx="9144" cy="21683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Nisos,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Пары «картинка—подпись»: откуда модель знает слова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ОБУЧАЮЩИЙ КОРПУС CLIP-КЛАССА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миллиарды пар «картинка+текст»</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автоматическое сканирование открытого веба</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РЕЗУЛЬТАТ ОБУЧЕНИЯ</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общее векторное пространство</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кота» и фото кота — соседние точки</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ЭТОТ ЖЕ КОРПУС</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LAION-5B</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предмет суда Getty v Stability AI, Раздел 4</a:t>
            </a:r>
          </a:p>
        </p:txBody>
      </p:sp>
      <p:sp>
        <p:nvSpPr>
          <p:cNvPr id="16" name="Rounded Rectangle 15"/>
          <p:cNvSpPr/>
          <p:nvPr/>
        </p:nvSpPr>
        <p:spPr>
          <a:xfrm>
            <a:off x="374904" y="31938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CLIP-класс обучается на миллиардах пар «изображение + текст рядом с ним»</a:t>
            </a:r>
            <a:r>
              <a:rPr sz="1500" b="0" i="0">
                <a:solidFill>
                  <a:srgbClr val="21295C"/>
                </a:solidFill>
                <a:latin typeface="Arial"/>
              </a:rPr>
              <a:t> — автоматическое сканирование открытого веба, без ручной разметки.</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учится сводить картинку и подпись в одну точку общего векторного пространства смыслов</a:t>
            </a:r>
            <a:r>
              <a:rPr sz="1500" b="0" i="0">
                <a:solidFill>
                  <a:srgbClr val="21295C"/>
                </a:solidFill>
                <a:latin typeface="Arial"/>
              </a:rPr>
              <a:t> — «фото кота» и фотография кота оказываются соседними точками.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Этот же корпус пар — LAION-5B — станет предметом суда Getty против Stability AI (Раздел 4):</a:t>
            </a:r>
            <a:r>
              <a:rPr sz="1500" b="0" i="0">
                <a:solidFill>
                  <a:srgbClr val="21295C"/>
                </a:solidFill>
                <a:latin typeface="Arial"/>
              </a:rPr>
              <a:t> модель-читатель отобрала обучающий корпус для модели-генератора.</a:t>
            </a:r>
          </a:p>
        </p:txBody>
      </p:sp>
      <p:sp>
        <p:nvSpPr>
          <p:cNvPr id="19" name="Rectangle 18"/>
          <p:cNvSpPr/>
          <p:nvPr/>
        </p:nvSpPr>
        <p:spPr>
          <a:xfrm>
            <a:off x="6091275" y="3285324"/>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 laion.ai/blog/laion-5b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Вектор промпта как руль генерации: кросс-модальное внимание</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МЕХАНИЗМ</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кросс-модальное внимание (cross-attention)</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ПАРАЛЛЕЛЬ</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самовнимание Лекции 2</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отличие — запрос и ключ-значение из разных модальностей</a:t>
            </a:r>
          </a:p>
        </p:txBody>
      </p:sp>
      <p:sp>
        <p:nvSpPr>
          <p:cNvPr id="12" name="TextBox 11"/>
          <p:cNvSpPr txBox="1"/>
          <p:nvPr/>
        </p:nvSpPr>
        <p:spPr>
          <a:xfrm>
            <a:off x="502920" y="311065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Самовнимание (Л2)</a:t>
            </a:r>
          </a:p>
        </p:txBody>
      </p:sp>
      <p:sp>
        <p:nvSpPr>
          <p:cNvPr id="13" name="Rounded Rectangle 12"/>
          <p:cNvSpPr/>
          <p:nvPr/>
        </p:nvSpPr>
        <p:spPr>
          <a:xfrm>
            <a:off x="1920240" y="3074081"/>
            <a:ext cx="474710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19801"/>
            <a:ext cx="458251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запрос, ключ, значение — всё из текста</a:t>
            </a:r>
          </a:p>
        </p:txBody>
      </p:sp>
      <p:sp>
        <p:nvSpPr>
          <p:cNvPr id="15" name="Right Arrow 14"/>
          <p:cNvSpPr/>
          <p:nvPr/>
        </p:nvSpPr>
        <p:spPr>
          <a:xfrm>
            <a:off x="6713067" y="336202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6941667" y="3074081"/>
            <a:ext cx="474710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7023963" y="3119801"/>
            <a:ext cx="458251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одна последовательность</a:t>
            </a:r>
          </a:p>
        </p:txBody>
      </p:sp>
      <p:sp>
        <p:nvSpPr>
          <p:cNvPr id="18" name="TextBox 17"/>
          <p:cNvSpPr txBox="1"/>
          <p:nvPr/>
        </p:nvSpPr>
        <p:spPr>
          <a:xfrm>
            <a:off x="502920" y="397000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Кросс-внимание (генерация)</a:t>
            </a:r>
          </a:p>
        </p:txBody>
      </p:sp>
      <p:sp>
        <p:nvSpPr>
          <p:cNvPr id="19" name="Rounded Rectangle 18"/>
          <p:cNvSpPr/>
          <p:nvPr/>
        </p:nvSpPr>
        <p:spPr>
          <a:xfrm>
            <a:off x="1920240" y="3933426"/>
            <a:ext cx="474710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979146"/>
            <a:ext cx="458251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запрос — из латента изображения</a:t>
            </a:r>
          </a:p>
        </p:txBody>
      </p:sp>
      <p:sp>
        <p:nvSpPr>
          <p:cNvPr id="21" name="Right Arrow 20"/>
          <p:cNvSpPr/>
          <p:nvPr/>
        </p:nvSpPr>
        <p:spPr>
          <a:xfrm>
            <a:off x="6713067" y="4221367"/>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933426"/>
            <a:ext cx="474710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979146"/>
            <a:ext cx="458251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ключ, значение — из текстовых эмбеддингов промпта</a:t>
            </a:r>
          </a:p>
        </p:txBody>
      </p:sp>
      <p:sp>
        <p:nvSpPr>
          <p:cNvPr id="24" name="TextBox 23"/>
          <p:cNvSpPr txBox="1"/>
          <p:nvPr/>
        </p:nvSpPr>
        <p:spPr>
          <a:xfrm>
            <a:off x="502920" y="468304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Кросс-внимание: прямая параллель самовниманию Лекции 2</a:t>
            </a:r>
          </a:p>
        </p:txBody>
      </p:sp>
      <p:sp>
        <p:nvSpPr>
          <p:cNvPr id="25" name="Rounded Rectangle 24"/>
          <p:cNvSpPr/>
          <p:nvPr/>
        </p:nvSpPr>
        <p:spPr>
          <a:xfrm>
            <a:off x="374904" y="4985728"/>
            <a:ext cx="11441887" cy="1250479"/>
          </a:xfrm>
          <a:prstGeom prst="roundRect">
            <a:avLst>
              <a:gd name="adj" fmla="val 24374"/>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077168"/>
            <a:ext cx="5373471" cy="1159039"/>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Текст-энкодер превращает промпт в вектор</a:t>
            </a:r>
            <a:r>
              <a:rPr sz="950" b="0" i="0">
                <a:solidFill>
                  <a:srgbClr val="21295C"/>
                </a:solidFill>
                <a:latin typeface="Arial"/>
              </a:rPr>
              <a:t> — этот вектор управляет каждым шагом генерации.</a:t>
            </a:r>
          </a:p>
          <a:p>
            <a:pPr algn="l">
              <a:lnSpc>
                <a:spcPct val="126000"/>
              </a:lnSpc>
              <a:spcBef>
                <a:spcPts val="700"/>
              </a:spcBef>
            </a:pPr>
            <a:r>
              <a:rPr sz="950" b="0" i="0">
                <a:solidFill>
                  <a:srgbClr val="21295C"/>
                </a:solidFill>
                <a:latin typeface="Arial"/>
              </a:rPr>
              <a:t/>
            </a:r>
            <a:r>
              <a:rPr sz="950" b="1" i="0">
                <a:solidFill>
                  <a:srgbClr val="21295C"/>
                </a:solidFill>
                <a:latin typeface="Arial"/>
              </a:rPr>
              <a:t>Механизм — кросс-модальное внимание (cross-attention).</a:t>
            </a:r>
            <a:r>
              <a:rPr sz="950" b="0" i="0">
                <a:solidFill>
                  <a:srgbClr val="21295C"/>
                </a:solidFill>
                <a:latin typeface="Arial"/>
              </a:rPr>
              <a:t> Прямая параллель самовниманию (self-attention) из Лекции 2, с одним структурным отличием.</a:t>
            </a:r>
          </a:p>
        </p:txBody>
      </p:sp>
      <p:sp>
        <p:nvSpPr>
          <p:cNvPr id="27" name="TextBox 26"/>
          <p:cNvSpPr txBox="1"/>
          <p:nvPr/>
        </p:nvSpPr>
        <p:spPr>
          <a:xfrm>
            <a:off x="6278727" y="5077168"/>
            <a:ext cx="5373471" cy="1159039"/>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Самовнимание (Л2):</a:t>
            </a:r>
            <a:r>
              <a:rPr sz="950" b="0" i="0">
                <a:solidFill>
                  <a:srgbClr val="21295C"/>
                </a:solidFill>
                <a:latin typeface="Arial"/>
              </a:rPr>
              <a:t> запрос и ключ-значение — из одной и той же последовательности токенов текста.</a:t>
            </a:r>
          </a:p>
          <a:p>
            <a:pPr algn="l">
              <a:lnSpc>
                <a:spcPct val="126000"/>
              </a:lnSpc>
              <a:spcBef>
                <a:spcPts val="700"/>
              </a:spcBef>
            </a:pPr>
            <a:r>
              <a:rPr sz="950" b="0" i="0">
                <a:solidFill>
                  <a:srgbClr val="21295C"/>
                </a:solidFill>
                <a:latin typeface="Arial"/>
              </a:rPr>
              <a:t/>
            </a:r>
            <a:r>
              <a:rPr sz="950" b="1" i="0">
                <a:solidFill>
                  <a:srgbClr val="21295C"/>
                </a:solidFill>
                <a:latin typeface="Arial"/>
              </a:rPr>
              <a:t>Кросс-внимание (здесь):</a:t>
            </a:r>
            <a:r>
              <a:rPr sz="950" b="0" i="0">
                <a:solidFill>
                  <a:srgbClr val="21295C"/>
                </a:solidFill>
                <a:latin typeface="Arial"/>
              </a:rPr>
              <a:t> запрос — из латентных признаков изображения на текущем шаге денойзинга; ключ и значение — из текстовых эмбеддингов промпта.</a:t>
            </a:r>
          </a:p>
          <a:p>
            <a:pPr algn="l">
              <a:lnSpc>
                <a:spcPct val="126000"/>
              </a:lnSpc>
              <a:spcBef>
                <a:spcPts val="700"/>
              </a:spcBef>
            </a:pPr>
            <a:r>
              <a:rPr sz="950" b="0" i="0">
                <a:solidFill>
                  <a:srgbClr val="21295C"/>
                </a:solidFill>
                <a:latin typeface="Arial"/>
              </a:rPr>
              <a:t/>
            </a:r>
            <a:r>
              <a:rPr sz="950" b="1" i="0">
                <a:solidFill>
                  <a:srgbClr val="21295C"/>
                </a:solidFill>
                <a:latin typeface="Arial"/>
              </a:rPr>
              <a:t>Негативный промпт — второй вектор, от которого шаги отталкиваются.</a:t>
            </a:r>
          </a:p>
        </p:txBody>
      </p:sp>
      <p:sp>
        <p:nvSpPr>
          <p:cNvPr id="28" name="Rectangle 27"/>
          <p:cNvSpPr/>
          <p:nvPr/>
        </p:nvSpPr>
        <p:spPr>
          <a:xfrm>
            <a:off x="6091275" y="5077168"/>
            <a:ext cx="9144" cy="111849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 arXiv:2112.10752; augmentcode.com; eugeneyan.com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Ловушка: промпт — не техническое задание</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ПРОГОНА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условный + безусловный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каждом шаге денойзинга</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КОЭФФИЦИЕНТ W (МАСШТАБ УПРАВЛЕНИЯ)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рабочий диапазон 7–13</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дефолт ≈7–7,5; аналог температуры языковой модели</a:t>
            </a:r>
          </a:p>
        </p:txBody>
      </p:sp>
      <p:sp>
        <p:nvSpPr>
          <p:cNvPr id="12" name="Rounded Rectangle 11"/>
          <p:cNvSpPr/>
          <p:nvPr/>
        </p:nvSpPr>
        <p:spPr>
          <a:xfrm>
            <a:off x="502920"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НЕГАТИВНЫЙ ПРОМПТ</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тот же механизм</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подмена безусловного прогона на прогон с негативным промптом</a:t>
            </a:r>
          </a:p>
        </p:txBody>
      </p:sp>
      <p:sp>
        <p:nvSpPr>
          <p:cNvPr id="16" name="Rounded Rectangle 15"/>
          <p:cNvSpPr/>
          <p:nvPr/>
        </p:nvSpPr>
        <p:spPr>
          <a:xfrm>
            <a:off x="6178143"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ЛОВУШКА</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слона» → розовый слон</a:t>
            </a:r>
          </a:p>
        </p:txBody>
      </p:sp>
      <p:sp>
        <p:nvSpPr>
          <p:cNvPr id="19" name="TextBox 18"/>
          <p:cNvSpPr txBox="1"/>
          <p:nvPr/>
        </p:nvSpPr>
        <p:spPr>
          <a:xfrm>
            <a:off x="6315303"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CLIP-энкодеры плохо обрабатывают отрицание</a:t>
            </a:r>
          </a:p>
        </p:txBody>
      </p:sp>
      <p:sp>
        <p:nvSpPr>
          <p:cNvPr id="20" name="Rounded Rectangle 19"/>
          <p:cNvSpPr/>
          <p:nvPr/>
        </p:nvSpPr>
        <p:spPr>
          <a:xfrm>
            <a:off x="374904" y="3922563"/>
            <a:ext cx="11441887" cy="2313644"/>
          </a:xfrm>
          <a:prstGeom prst="roundRect">
            <a:avLst>
              <a:gd name="adj" fmla="val 131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14003"/>
            <a:ext cx="11112703" cy="222220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Ловушка: «нарисуй кота, без слона» → задокументированно получаем розового слона.</a:t>
            </a:r>
            <a:r>
              <a:rPr sz="1450" b="0" i="0">
                <a:solidFill>
                  <a:srgbClr val="21295C"/>
                </a:solidFill>
                <a:latin typeface="Arial"/>
              </a:rPr>
              <a:t> Промпт — точка в пространстве смыслов, не исполняемое техническое задание; текст-энкодеры CLIP-класса плохо обрабатывают отрицание.</a:t>
            </a:r>
          </a:p>
          <a:p>
            <a:pPr algn="l">
              <a:lnSpc>
                <a:spcPct val="126000"/>
              </a:lnSpc>
              <a:spcBef>
                <a:spcPts val="700"/>
              </a:spcBef>
            </a:pPr>
            <a:r>
              <a:rPr sz="1450" b="0" i="0">
                <a:solidFill>
                  <a:srgbClr val="21295C"/>
                </a:solidFill>
                <a:latin typeface="Arial"/>
              </a:rPr>
              <a:t/>
            </a:r>
            <a:r>
              <a:rPr sz="1450" b="1" i="0">
                <a:solidFill>
                  <a:srgbClr val="21295C"/>
                </a:solidFill>
                <a:latin typeface="Arial"/>
              </a:rPr>
              <a:t>Механизм за этим — classifier-free guidance (CFG).</a:t>
            </a:r>
            <a:r>
              <a:rPr sz="1450" b="0" i="0">
                <a:solidFill>
                  <a:srgbClr val="21295C"/>
                </a:solidFill>
                <a:latin typeface="Arial"/>
              </a:rPr>
              <a:t> Модель обучена в двух режимах — условном (с промптом) и безусловном (пустой токен, 10–20% обучающих примеров). На шаге генерации — </a:t>
            </a:r>
            <a:r>
              <a:rPr sz="1450" b="1" i="0">
                <a:solidFill>
                  <a:srgbClr val="21295C"/>
                </a:solidFill>
                <a:latin typeface="Arial"/>
              </a:rPr>
              <a:t>два прогона сети</a:t>
            </a:r>
            <a:r>
              <a:rPr sz="1450" b="0" i="0">
                <a:solidFill>
                  <a:srgbClr val="21295C"/>
                </a:solidFill>
                <a:latin typeface="Arial"/>
              </a:rPr>
              <a:t>; итоговая поправка — экстраполяция от безусловного к условному с коэффициентом </a:t>
            </a:r>
            <a:r>
              <a:rPr sz="1450" b="1" i="0">
                <a:solidFill>
                  <a:srgbClr val="21295C"/>
                </a:solidFill>
                <a:latin typeface="Arial"/>
              </a:rPr>
              <a:t>`w` (7–13, дефолт ≈7–7,5)</a:t>
            </a:r>
            <a:r>
              <a:rPr sz="1450" b="0" i="0">
                <a:solidFill>
                  <a:srgbClr val="21295C"/>
                </a:solidFill>
                <a:latin typeface="Arial"/>
              </a:rPr>
              <a:t> — прямой аналог температуры языковой модели (Лекция 2).</a:t>
            </a:r>
          </a:p>
          <a:p>
            <a:pPr algn="l">
              <a:lnSpc>
                <a:spcPct val="126000"/>
              </a:lnSpc>
              <a:spcBef>
                <a:spcPts val="700"/>
              </a:spcBef>
            </a:pPr>
            <a:r>
              <a:rPr sz="1450" b="0" i="0">
                <a:solidFill>
                  <a:srgbClr val="21295C"/>
                </a:solidFill>
                <a:latin typeface="Arial"/>
              </a:rPr>
              <a:t/>
            </a:r>
            <a:r>
              <a:rPr sz="1450" b="1" i="0">
                <a:solidFill>
                  <a:srgbClr val="21295C"/>
                </a:solidFill>
                <a:latin typeface="Arial"/>
              </a:rPr>
              <a:t>Негативный промпт — тот же механизм</a:t>
            </a:r>
            <a:r>
              <a:rPr sz="1450" b="0" i="0">
                <a:solidFill>
                  <a:srgbClr val="21295C"/>
                </a:solidFill>
                <a:latin typeface="Arial"/>
              </a:rPr>
              <a:t>, с заменой безусловного прогона на прогон с негативным промптом.</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&amp; Salimans, NeurIPS Workshop 2021/arXiv:2207.12598; mccormickml.com; stable-diffusion-art.com; arXiv:2505.18434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Учимся убирать шум: обучение наоборот + пошаговая лента</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СТАНДАРТНЫЙ ДИАПАЗОН ШАГОВ</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20–50</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SDXL base, октябрь 2026</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ДЕНОЙЗЕР НА КАЖДОМ ШАГЕ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всё поле сразу</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рисует слева направо, не последовательно</a:t>
            </a:r>
          </a:p>
        </p:txBody>
      </p:sp>
      <p:sp>
        <p:nvSpPr>
          <p:cNvPr id="12" name="TextBox 11"/>
          <p:cNvSpPr txBox="1"/>
          <p:nvPr/>
        </p:nvSpPr>
        <p:spPr>
          <a:xfrm>
            <a:off x="502920" y="2720233"/>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Обучение</a:t>
            </a:r>
          </a:p>
        </p:txBody>
      </p:sp>
      <p:sp>
        <p:nvSpPr>
          <p:cNvPr id="13" name="Rounded Rectangle 12"/>
          <p:cNvSpPr/>
          <p:nvPr/>
        </p:nvSpPr>
        <p:spPr>
          <a:xfrm>
            <a:off x="1920240" y="2683657"/>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картинка из корпуса</a:t>
            </a:r>
          </a:p>
        </p:txBody>
      </p:sp>
      <p:sp>
        <p:nvSpPr>
          <p:cNvPr id="15" name="Right Arrow 14"/>
          <p:cNvSpPr/>
          <p:nvPr/>
        </p:nvSpPr>
        <p:spPr>
          <a:xfrm>
            <a:off x="5039258" y="309042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 шум по шагам</a:t>
            </a:r>
          </a:p>
        </p:txBody>
      </p:sp>
      <p:sp>
        <p:nvSpPr>
          <p:cNvPr id="18" name="Right Arrow 17"/>
          <p:cNvSpPr/>
          <p:nvPr/>
        </p:nvSpPr>
        <p:spPr>
          <a:xfrm>
            <a:off x="8386876" y="3090423"/>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денойзер угадывает добавленный шум</a:t>
            </a:r>
          </a:p>
        </p:txBody>
      </p:sp>
      <p:sp>
        <p:nvSpPr>
          <p:cNvPr id="21" name="TextBox 20"/>
          <p:cNvSpPr txBox="1"/>
          <p:nvPr/>
        </p:nvSpPr>
        <p:spPr>
          <a:xfrm>
            <a:off x="502920" y="3817228"/>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Генерация</a:t>
            </a:r>
          </a:p>
        </p:txBody>
      </p:sp>
      <p:sp>
        <p:nvSpPr>
          <p:cNvPr id="22" name="Rounded Rectangle 21"/>
          <p:cNvSpPr/>
          <p:nvPr/>
        </p:nvSpPr>
        <p:spPr>
          <a:xfrm>
            <a:off x="1920240" y="378065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82637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чистый шум в латенте</a:t>
            </a:r>
          </a:p>
        </p:txBody>
      </p:sp>
      <p:sp>
        <p:nvSpPr>
          <p:cNvPr id="24" name="Right Arrow 23"/>
          <p:cNvSpPr/>
          <p:nvPr/>
        </p:nvSpPr>
        <p:spPr>
          <a:xfrm>
            <a:off x="4202353" y="4187417"/>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78065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82637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20–50 шагов снятия (вектор промпта управляет)</a:t>
            </a:r>
          </a:p>
        </p:txBody>
      </p:sp>
      <p:sp>
        <p:nvSpPr>
          <p:cNvPr id="27" name="Right Arrow 26"/>
          <p:cNvSpPr/>
          <p:nvPr/>
        </p:nvSpPr>
        <p:spPr>
          <a:xfrm>
            <a:off x="6713067" y="4187417"/>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78065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82637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силуэты → композиция → детали</a:t>
            </a:r>
          </a:p>
        </p:txBody>
      </p:sp>
      <p:sp>
        <p:nvSpPr>
          <p:cNvPr id="30" name="Right Arrow 29"/>
          <p:cNvSpPr/>
          <p:nvPr/>
        </p:nvSpPr>
        <p:spPr>
          <a:xfrm>
            <a:off x="9223781" y="4187417"/>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78065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82637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финальное изображение</a:t>
            </a:r>
          </a:p>
        </p:txBody>
      </p:sp>
      <p:sp>
        <p:nvSpPr>
          <p:cNvPr id="33" name="TextBox 32"/>
          <p:cNvSpPr txBox="1"/>
          <p:nvPr/>
        </p:nvSpPr>
        <p:spPr>
          <a:xfrm>
            <a:off x="502920" y="476791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Обучение (наоборот) и генерация (обратный процесс) — одна и та же сеть-денойзер</a:t>
            </a:r>
          </a:p>
        </p:txBody>
      </p:sp>
      <p:sp>
        <p:nvSpPr>
          <p:cNvPr id="34" name="Rounded Rectangle 33"/>
          <p:cNvSpPr/>
          <p:nvPr/>
        </p:nvSpPr>
        <p:spPr>
          <a:xfrm>
            <a:off x="374904" y="5070602"/>
            <a:ext cx="11441887" cy="116560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162042"/>
            <a:ext cx="5373471" cy="1074165"/>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Обучение (наоборот).</a:t>
            </a:r>
            <a:r>
              <a:rPr sz="950" b="0" i="0">
                <a:solidFill>
                  <a:srgbClr val="21295C"/>
                </a:solidFill>
                <a:latin typeface="Arial"/>
              </a:rPr>
              <a:t> Картинку из корпуса портят шумом по шагам — денойзер учится угадывать, какой шум был добавлен.</a:t>
            </a:r>
          </a:p>
          <a:p>
            <a:pPr algn="l">
              <a:lnSpc>
                <a:spcPct val="126000"/>
              </a:lnSpc>
              <a:spcBef>
                <a:spcPts val="700"/>
              </a:spcBef>
            </a:pPr>
            <a:r>
              <a:rPr sz="950" b="0" i="0">
                <a:solidFill>
                  <a:srgbClr val="21295C"/>
                </a:solidFill>
                <a:latin typeface="Arial"/>
              </a:rPr>
              <a:t/>
            </a:r>
            <a:r>
              <a:rPr sz="950" b="1" i="0">
                <a:solidFill>
                  <a:srgbClr val="21295C"/>
                </a:solidFill>
                <a:latin typeface="Arial"/>
              </a:rPr>
              <a:t>Генерация (обратный процесс).</a:t>
            </a:r>
            <a:r>
              <a:rPr sz="950" b="0" i="0">
                <a:solidFill>
                  <a:srgbClr val="21295C"/>
                </a:solidFill>
                <a:latin typeface="Arial"/>
              </a:rPr>
              <a:t> Старт с чистого шума в латенте → </a:t>
            </a:r>
            <a:r>
              <a:rPr sz="950" b="1" i="0">
                <a:solidFill>
                  <a:srgbClr val="21295C"/>
                </a:solidFill>
                <a:latin typeface="Arial"/>
              </a:rPr>
              <a:t>20–50 шагов</a:t>
            </a:r>
            <a:r>
              <a:rPr sz="950" b="0" i="0">
                <a:solidFill>
                  <a:srgbClr val="21295C"/>
                </a:solidFill>
                <a:latin typeface="Arial"/>
              </a:rPr>
              <a:t> снятия шума, под управлением вектора промпта (руль, разобранный на предыдущем кадре, cross-attention на каждом шаге).</a:t>
            </a:r>
          </a:p>
        </p:txBody>
      </p:sp>
      <p:sp>
        <p:nvSpPr>
          <p:cNvPr id="36" name="TextBox 35"/>
          <p:cNvSpPr txBox="1"/>
          <p:nvPr/>
        </p:nvSpPr>
        <p:spPr>
          <a:xfrm>
            <a:off x="6278727" y="5162042"/>
            <a:ext cx="5373471" cy="1074165"/>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Лента состояний:</a:t>
            </a:r>
            <a:r>
              <a:rPr sz="950" b="0" i="0">
                <a:solidFill>
                  <a:srgbClr val="21295C"/>
                </a:solidFill>
                <a:latin typeface="Arial"/>
              </a:rPr>
              <a:t> шум → силуэты → композиция → детали → финал.</a:t>
            </a:r>
          </a:p>
          <a:p>
            <a:pPr algn="l">
              <a:lnSpc>
                <a:spcPct val="126000"/>
              </a:lnSpc>
              <a:spcBef>
                <a:spcPts val="700"/>
              </a:spcBef>
            </a:pPr>
            <a:r>
              <a:rPr sz="950" b="0" i="0">
                <a:solidFill>
                  <a:srgbClr val="21295C"/>
                </a:solidFill>
                <a:latin typeface="Arial"/>
              </a:rPr>
              <a:t/>
            </a:r>
            <a:r>
              <a:rPr sz="950" b="1" i="0">
                <a:solidFill>
                  <a:srgbClr val="21295C"/>
                </a:solidFill>
                <a:latin typeface="Arial"/>
              </a:rPr>
              <a:t>Денойзер на каждом шаге видит всё латентное поле сразу</a:t>
            </a:r>
            <a:r>
              <a:rPr sz="950" b="0" i="0">
                <a:solidFill>
                  <a:srgbClr val="21295C"/>
                </a:solidFill>
                <a:latin typeface="Arial"/>
              </a:rPr>
              <a:t> — не рисует слева направо.</a:t>
            </a:r>
          </a:p>
        </p:txBody>
      </p:sp>
      <p:sp>
        <p:nvSpPr>
          <p:cNvPr id="37" name="Rectangle 36"/>
          <p:cNvSpPr/>
          <p:nvPr/>
        </p:nvSpPr>
        <p:spPr>
          <a:xfrm>
            <a:off x="6091275" y="5162042"/>
            <a:ext cx="9144" cy="1029593"/>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 learnopencv.com 2026; baseten.co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Диффузия против авторегрессии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МУЗЫКА, ВИДЕО</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честная графа (б)</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архитектуры Suno/Veo/Kling не раскрыты публично</a:t>
            </a:r>
          </a:p>
        </p:txBody>
      </p:sp>
      <p:sp>
        <p:nvSpPr>
          <p:cNvPr id="8" name="Rounded Rectangle 7"/>
          <p:cNvSpPr/>
          <p:nvPr/>
        </p:nvSpPr>
        <p:spPr>
          <a:xfrm>
            <a:off x="502920" y="2683657"/>
            <a:ext cx="5437479" cy="1532344"/>
          </a:xfrm>
          <a:prstGeom prst="roundRect">
            <a:avLst>
              <a:gd name="adj" fmla="val 1989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Авторегрессия (Л2)</a:t>
            </a:r>
          </a:p>
        </p:txBody>
      </p:sp>
      <p:sp>
        <p:nvSpPr>
          <p:cNvPr id="10" name="TextBox 9"/>
          <p:cNvSpPr txBox="1"/>
          <p:nvPr/>
        </p:nvSpPr>
        <p:spPr>
          <a:xfrm>
            <a:off x="667512" y="3195284"/>
            <a:ext cx="5108295" cy="865269"/>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продолжает последовательность токен за токеном</a:t>
            </a:r>
          </a:p>
          <a:p>
            <a:pPr algn="l">
              <a:lnSpc>
                <a:spcPct val="126000"/>
              </a:lnSpc>
            </a:pPr>
            <a:r>
              <a:rPr sz="1150" b="0" i="0">
                <a:solidFill>
                  <a:srgbClr val="21295C"/>
                </a:solidFill>
                <a:latin typeface="Arial"/>
              </a:rPr>
              <a:t>• не возвращается назад к уже сгенерированному</a:t>
            </a:r>
          </a:p>
          <a:p>
            <a:pPr algn="l">
              <a:lnSpc>
                <a:spcPct val="126000"/>
              </a:lnSpc>
            </a:pPr>
            <a:r>
              <a:rPr sz="1150" b="0" i="0">
                <a:solidFill>
                  <a:srgbClr val="21295C"/>
                </a:solidFill>
                <a:latin typeface="Arial"/>
              </a:rPr>
              <a:t>• текст — область авторегрессии; тот же класс — движок CNET (Раздел 2)</a:t>
            </a:r>
          </a:p>
        </p:txBody>
      </p:sp>
      <p:sp>
        <p:nvSpPr>
          <p:cNvPr id="11" name="Rounded Rectangle 10"/>
          <p:cNvSpPr/>
          <p:nvPr/>
        </p:nvSpPr>
        <p:spPr>
          <a:xfrm>
            <a:off x="6251295" y="2683657"/>
            <a:ext cx="5437479" cy="1532344"/>
          </a:xfrm>
          <a:prstGeom prst="roundRect">
            <a:avLst>
              <a:gd name="adj" fmla="val 19891"/>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(генерация изображений)</a:t>
            </a:r>
          </a:p>
        </p:txBody>
      </p:sp>
      <p:sp>
        <p:nvSpPr>
          <p:cNvPr id="13" name="TextBox 12"/>
          <p:cNvSpPr txBox="1"/>
          <p:nvPr/>
        </p:nvSpPr>
        <p:spPr>
          <a:xfrm>
            <a:off x="6415887" y="3195284"/>
            <a:ext cx="5108295" cy="865269"/>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уточняет всё поле целиком, от грубого к точному</a:t>
            </a:r>
          </a:p>
          <a:p>
            <a:pPr algn="l">
              <a:lnSpc>
                <a:spcPct val="126000"/>
              </a:lnSpc>
            </a:pPr>
            <a:r>
              <a:rPr sz="1050" b="0" i="0">
                <a:solidFill>
                  <a:srgbClr val="21295C"/>
                </a:solidFill>
                <a:latin typeface="Arial"/>
              </a:rPr>
              <a:t>• ни один проход не фиксирует часть результата окончательно</a:t>
            </a:r>
          </a:p>
          <a:p>
            <a:pPr algn="l">
              <a:lnSpc>
                <a:spcPct val="126000"/>
              </a:lnSpc>
            </a:pPr>
            <a:r>
              <a:rPr sz="1050" b="0" i="0">
                <a:solidFill>
                  <a:srgbClr val="21295C"/>
                </a:solidFill>
                <a:latin typeface="Arial"/>
              </a:rPr>
              <a:t>• изображения — преимущественно диффузия; существуют и АР-генераторы изображений</a:t>
            </a:r>
          </a:p>
        </p:txBody>
      </p:sp>
      <p:sp>
        <p:nvSpPr>
          <p:cNvPr id="14" name="Rounded Rectangle 13"/>
          <p:cNvSpPr/>
          <p:nvPr/>
        </p:nvSpPr>
        <p:spPr>
          <a:xfrm>
            <a:off x="374904" y="4307442"/>
            <a:ext cx="11441887" cy="1928765"/>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Авторегрессия (Лекция 2):</a:t>
            </a:r>
            <a:r>
              <a:rPr sz="1300" b="0" i="0">
                <a:solidFill>
                  <a:srgbClr val="21295C"/>
                </a:solidFill>
                <a:latin typeface="Arial"/>
              </a:rPr>
              <a:t> продолжает последовательность токен за токеном, не возвращается назад. Текст — область авторегрессии; тот же класс — движок CNET (Раздел 2).</a:t>
            </a:r>
          </a:p>
          <a:p>
            <a:pPr algn="l">
              <a:lnSpc>
                <a:spcPct val="126000"/>
              </a:lnSpc>
              <a:spcBef>
                <a:spcPts val="700"/>
              </a:spcBef>
            </a:pPr>
            <a:r>
              <a:rPr sz="1300" b="0" i="0">
                <a:solidFill>
                  <a:srgbClr val="21295C"/>
                </a:solidFill>
                <a:latin typeface="Arial"/>
              </a:rPr>
              <a:t/>
            </a:r>
            <a:r>
              <a:rPr sz="1300" b="1" i="0">
                <a:solidFill>
                  <a:srgbClr val="21295C"/>
                </a:solidFill>
                <a:latin typeface="Arial"/>
              </a:rPr>
              <a:t>Диффузия (генерация изображений):</a:t>
            </a:r>
            <a:r>
              <a:rPr sz="1300" b="0" i="0">
                <a:solidFill>
                  <a:srgbClr val="21295C"/>
                </a:solidFill>
                <a:latin typeface="Arial"/>
              </a:rPr>
              <a:t> уточняет всё поле целиком, от грубого к точному; ни один проход не фиксирует часть результата окончательно.</a:t>
            </a:r>
          </a:p>
          <a:p>
            <a:pPr algn="l">
              <a:lnSpc>
                <a:spcPct val="126000"/>
              </a:lnSpc>
              <a:spcBef>
                <a:spcPts val="700"/>
              </a:spcBef>
            </a:pPr>
            <a:r>
              <a:rPr sz="1300" b="0" i="0">
                <a:solidFill>
                  <a:srgbClr val="21295C"/>
                </a:solidFill>
                <a:latin typeface="Arial"/>
              </a:rPr>
              <a:t/>
            </a:r>
            <a:r>
              <a:rPr sz="1300" b="1" i="0">
                <a:solidFill>
                  <a:srgbClr val="21295C"/>
                </a:solidFill>
                <a:latin typeface="Arial"/>
              </a:rPr>
              <a:t>Музыка и видео — честная графа (б):</a:t>
            </a:r>
            <a:r>
              <a:rPr sz="1300" b="0" i="0">
                <a:solidFill>
                  <a:srgbClr val="21295C"/>
                </a:solidFill>
                <a:latin typeface="Arial"/>
              </a:rPr>
              <a:t> архитектуры Suno/Veo/Kling публично не раскрыты.</a:t>
            </a:r>
          </a:p>
          <a:p>
            <a:pPr algn="l">
              <a:lnSpc>
                <a:spcPct val="126000"/>
              </a:lnSpc>
              <a:spcBef>
                <a:spcPts val="700"/>
              </a:spcBef>
            </a:pPr>
            <a:r>
              <a:rPr sz="1300" b="0" i="0">
                <a:solidFill>
                  <a:srgbClr val="21295C"/>
                </a:solidFill>
                <a:latin typeface="Arial"/>
              </a:rPr>
              <a:t/>
            </a:r>
            <a:r>
              <a:rPr sz="1300" b="1" i="0">
                <a:solidFill>
                  <a:srgbClr val="21295C"/>
                </a:solidFill>
                <a:latin typeface="Arial"/>
              </a:rPr>
              <a:t>Ловушка: «диффузия лучше авторегрессии?» — вопрос без смысла.</a:t>
            </a:r>
            <a:r>
              <a:rPr sz="1300" b="0" i="0">
                <a:solidFill>
                  <a:srgbClr val="21295C"/>
                </a:solidFill>
                <a:latin typeface="Arial"/>
              </a:rPr>
              <a:t> Классы гарантируют разное и считают по-разному.</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et al. 2022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картинка стоит три цента: шаги × GPU-секунды</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ГЕНЕРАЦИИ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шаги × цена GPU-секунды</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десятки шагов × доли секунды на шаг</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GPU-СЕКУНДЫ (H100/A100)</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доли цента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≈0,02–0,2 цента/сек — диапазон порядка величины, не точное число</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РОЗНИЧНАЯ ЦЕНА ИЗОБРАЖЕНИЯ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$0,03–0,05</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выше голой цены вычисления — маржа + амортизация обучения</a:t>
            </a:r>
          </a:p>
        </p:txBody>
      </p:sp>
      <p:sp>
        <p:nvSpPr>
          <p:cNvPr id="16" name="Rounded Rectangle 15"/>
          <p:cNvSpPr/>
          <p:nvPr/>
        </p:nvSpPr>
        <p:spPr>
          <a:xfrm>
            <a:off x="374904" y="2982641"/>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генерации = число шагов × цена GPU-секунды.</a:t>
            </a:r>
            <a:r>
              <a:rPr sz="1500" b="0" i="0">
                <a:solidFill>
                  <a:srgbClr val="21295C"/>
                </a:solidFill>
                <a:latin typeface="Arial"/>
              </a:rPr>
              <a:t> Десятки шагов (20–50, разобрано на предыдущих кадрах) × доли секунды на шаг на latency-оптимизированном железе = единицы GPU-секунд на изображение.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GPU-секунды (H100/A100, октябрь 2026) — доли цента.</a:t>
            </a:r>
            <a:r>
              <a:rPr sz="1500" b="0" i="0">
                <a:solidFill>
                  <a:srgbClr val="21295C"/>
                </a:solidFill>
                <a:latin typeface="Arial"/>
              </a:rPr>
              <a:t> Диапазон порядка величины, не точное число: рынок аренды GPU не даёт единой цифры.</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Числа $0,03–0,05 с кадра обвала цены изображения перестают быть магией тарифа</a:t>
            </a:r>
            <a:r>
              <a:rPr sz="1500" b="0" i="0">
                <a:solidFill>
                  <a:srgbClr val="21295C"/>
                </a:solidFill>
                <a:latin typeface="Arial"/>
              </a:rPr>
              <a:t> — разница с голой ценой вычисления — это маржа площадки и амортизация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Разрыв в три-четыре порядка — это разрыв между оплатой координации людей и оплатой вычислений.</a:t>
            </a:r>
            <a:r>
              <a:rPr sz="1500" b="0" i="0">
                <a:solidFill>
                  <a:srgbClr val="21295C"/>
                </a:solidFill>
                <a:latin typeface="Arial"/>
              </a:rPr>
              <a:t> Вот механизм обнуления цены подделки.</a:t>
            </a:r>
          </a:p>
        </p:txBody>
      </p:sp>
      <p:sp>
        <p:nvSpPr>
          <p:cNvPr id="19" name="Rectangle 18"/>
          <p:cNvSpPr/>
          <p:nvPr/>
        </p:nvSpPr>
        <p:spPr>
          <a:xfrm>
            <a:off x="6091275" y="3074081"/>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cast.ai 2026; northflank.com 2026; cloudzero.com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заблуждения о генерации</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 «СКЛЕИВАЕТ КУСКИ КАРТИНОК»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нет — веса — статистика, не архив</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memorization-исключения — Carlini 2023, редки</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 «БОЛЬШЕ ШАГОВ — ВСЕГДА ЛУЧШЕ»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 плато качества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после рабочего диапазона — цена без выигрыша</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3. «ТОТ ЖЕ ПРОМПТ = ТА ЖЕ КАРТИНКА»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 стартовый шум случаен</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мост к температуре Лекции 2</a:t>
            </a:r>
          </a:p>
        </p:txBody>
      </p:sp>
      <p:sp>
        <p:nvSpPr>
          <p:cNvPr id="16" name="Rounded Rectangle 15"/>
          <p:cNvSpPr/>
          <p:nvPr/>
        </p:nvSpPr>
        <p:spPr>
          <a:xfrm>
            <a:off x="374904" y="3193884"/>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Первое: «модель склеивает куски чужих обучающих картинок».</a:t>
            </a:r>
            <a:r>
              <a:rPr sz="1500" b="0" i="0">
                <a:solidFill>
                  <a:srgbClr val="21295C"/>
                </a:solidFill>
                <a:latin typeface="Arial"/>
              </a:rPr>
              <a:t> Нет — веса модели — статистические параметры, не архив сохранённых фрагментов. Исключение — «утечка памяти» (Carlini 2023), редкая и измеримая, не правило.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«чем больше шагов денойзинга, тем лучше результат».</a:t>
            </a:r>
            <a:r>
              <a:rPr sz="1500" b="0" i="0">
                <a:solidFill>
                  <a:srgbClr val="21295C"/>
                </a:solidFill>
                <a:latin typeface="Arial"/>
              </a:rPr>
              <a:t> Нет — после рабочего диапазона качество выходит на плато; дальше — цена вычислений без заметного визуального выигрыша.</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Третье: «один и тот же промпт даёт одну и ту же картинку».</a:t>
            </a:r>
            <a:r>
              <a:rPr sz="1500" b="0" i="0">
                <a:solidFill>
                  <a:srgbClr val="21295C"/>
                </a:solidFill>
                <a:latin typeface="Arial"/>
              </a:rPr>
              <a:t> Нет — стартовый шум выбирается случайно при каждом запуске. Мост к Лекции 2: источник управляемой случайности, как температура сэмплирования.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У цен этого раздела теперь есть устройство.</a:t>
            </a:r>
          </a:p>
        </p:txBody>
      </p:sp>
      <p:sp>
        <p:nvSpPr>
          <p:cNvPr id="19" name="Rectangle 18"/>
          <p:cNvSpPr/>
          <p:nvPr/>
        </p:nvSpPr>
        <p:spPr>
          <a:xfrm>
            <a:off x="6091275" y="3285324"/>
            <a:ext cx="9144" cy="27624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Carlini et al. 2023; theneuralbase.com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Sora: хайп-цикл длиной в год</a:t>
            </a:r>
          </a:p>
        </p:txBody>
      </p:sp>
      <p:sp>
        <p:nvSpPr>
          <p:cNvPr id="4" name="Rounded Rectangle 3"/>
          <p:cNvSpPr/>
          <p:nvPr/>
        </p:nvSpPr>
        <p:spPr>
          <a:xfrm>
            <a:off x="502920" y="1335024"/>
            <a:ext cx="2296058" cy="1690090"/>
          </a:xfrm>
          <a:prstGeom prst="roundRect">
            <a:avLst>
              <a:gd name="adj" fmla="val 1803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0217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ПАРТНЁРСТВО С DISNEY</a:t>
            </a:r>
          </a:p>
        </p:txBody>
      </p:sp>
      <p:sp>
        <p:nvSpPr>
          <p:cNvPr id="6" name="TextBox 5"/>
          <p:cNvSpPr txBox="1"/>
          <p:nvPr/>
        </p:nvSpPr>
        <p:spPr>
          <a:xfrm>
            <a:off x="640080" y="1725375"/>
            <a:ext cx="2021738"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≈1 млрд $, подписано 11.12.2025</a:t>
            </a:r>
          </a:p>
        </p:txBody>
      </p:sp>
      <p:sp>
        <p:nvSpPr>
          <p:cNvPr id="7" name="TextBox 6"/>
          <p:cNvSpPr txBox="1"/>
          <p:nvPr/>
        </p:nvSpPr>
        <p:spPr>
          <a:xfrm>
            <a:off x="640080" y="2254223"/>
            <a:ext cx="202173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лицензионный договор по персонажам не подписан, выплат не было</a:t>
            </a:r>
          </a:p>
        </p:txBody>
      </p:sp>
      <p:sp>
        <p:nvSpPr>
          <p:cNvPr id="8" name="Rounded Rectangle 7"/>
          <p:cNvSpPr/>
          <p:nvPr/>
        </p:nvSpPr>
        <p:spPr>
          <a:xfrm>
            <a:off x="2963570" y="1335024"/>
            <a:ext cx="2296058" cy="1690090"/>
          </a:xfrm>
          <a:prstGeom prst="roundRect">
            <a:avLst>
              <a:gd name="adj" fmla="val 1803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100730" y="1472184"/>
            <a:ext cx="20217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ЗАКРЫТИЕ</a:t>
            </a:r>
          </a:p>
        </p:txBody>
      </p:sp>
      <p:sp>
        <p:nvSpPr>
          <p:cNvPr id="10" name="TextBox 9"/>
          <p:cNvSpPr txBox="1"/>
          <p:nvPr/>
        </p:nvSpPr>
        <p:spPr>
          <a:xfrm>
            <a:off x="3100730" y="1725375"/>
            <a:ext cx="2021738" cy="664648"/>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веб 26.04.2026 → API 24.09.2026</a:t>
            </a:r>
          </a:p>
        </p:txBody>
      </p:sp>
      <p:sp>
        <p:nvSpPr>
          <p:cNvPr id="11" name="TextBox 10"/>
          <p:cNvSpPr txBox="1"/>
          <p:nvPr/>
        </p:nvSpPr>
        <p:spPr>
          <a:xfrm>
            <a:off x="3100730" y="2390023"/>
            <a:ext cx="202173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менее года от пика известности</a:t>
            </a:r>
          </a:p>
        </p:txBody>
      </p:sp>
      <p:sp>
        <p:nvSpPr>
          <p:cNvPr id="12" name="Rounded Rectangle 11"/>
          <p:cNvSpPr/>
          <p:nvPr/>
        </p:nvSpPr>
        <p:spPr>
          <a:xfrm>
            <a:off x="5424220" y="1335024"/>
            <a:ext cx="2296058" cy="1690090"/>
          </a:xfrm>
          <a:prstGeom prst="roundRect">
            <a:avLst>
              <a:gd name="adj" fmla="val 1803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561380" y="1472184"/>
            <a:ext cx="20217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АУДИТОРИЯ</a:t>
            </a:r>
          </a:p>
        </p:txBody>
      </p:sp>
      <p:sp>
        <p:nvSpPr>
          <p:cNvPr id="14" name="TextBox 13"/>
          <p:cNvSpPr txBox="1"/>
          <p:nvPr/>
        </p:nvSpPr>
        <p:spPr>
          <a:xfrm>
            <a:off x="5561380" y="1725375"/>
            <a:ext cx="202173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 млн → &lt;500 тыс.</a:t>
            </a:r>
          </a:p>
        </p:txBody>
      </p:sp>
      <p:sp>
        <p:nvSpPr>
          <p:cNvPr id="15" name="TextBox 14"/>
          <p:cNvSpPr txBox="1"/>
          <p:nvPr/>
        </p:nvSpPr>
        <p:spPr>
          <a:xfrm>
            <a:off x="5561380" y="2542797"/>
            <a:ext cx="202173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расходах ≈1 млн $/день</a:t>
            </a:r>
          </a:p>
        </p:txBody>
      </p:sp>
      <p:sp>
        <p:nvSpPr>
          <p:cNvPr id="16" name="TextBox 15"/>
          <p:cNvSpPr txBox="1"/>
          <p:nvPr/>
        </p:nvSpPr>
        <p:spPr>
          <a:xfrm>
            <a:off x="502920" y="324457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 провалилось</a:t>
            </a:r>
          </a:p>
        </p:txBody>
      </p:sp>
      <p:sp>
        <p:nvSpPr>
          <p:cNvPr id="17" name="Rounded Rectangle 16"/>
          <p:cNvSpPr/>
          <p:nvPr/>
        </p:nvSpPr>
        <p:spPr>
          <a:xfrm>
            <a:off x="1920240" y="3207994"/>
            <a:ext cx="282686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253714"/>
            <a:ext cx="266227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Видеогенерация как класс задачи</a:t>
            </a:r>
          </a:p>
        </p:txBody>
      </p:sp>
      <p:sp>
        <p:nvSpPr>
          <p:cNvPr id="19" name="Rounded Rectangle 18"/>
          <p:cNvSpPr/>
          <p:nvPr/>
        </p:nvSpPr>
        <p:spPr>
          <a:xfrm>
            <a:off x="4893411" y="3207994"/>
            <a:ext cx="282686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975707" y="3253714"/>
            <a:ext cx="266227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согласованность персонажа, физика движения</a:t>
            </a:r>
          </a:p>
        </p:txBody>
      </p:sp>
      <p:sp>
        <p:nvSpPr>
          <p:cNvPr id="21" name="TextBox 20"/>
          <p:cNvSpPr txBox="1"/>
          <p:nvPr/>
        </p:nvSpPr>
        <p:spPr>
          <a:xfrm>
            <a:off x="502920" y="4103916"/>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Провалилось</a:t>
            </a:r>
          </a:p>
        </p:txBody>
      </p:sp>
      <p:sp>
        <p:nvSpPr>
          <p:cNvPr id="22" name="Rounded Rectangle 21"/>
          <p:cNvSpPr/>
          <p:nvPr/>
        </p:nvSpPr>
        <p:spPr>
          <a:xfrm>
            <a:off x="1920240" y="4067340"/>
            <a:ext cx="282686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113060"/>
            <a:ext cx="266227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Бизнес-ставка на лицензированных персонажей</a:t>
            </a:r>
          </a:p>
        </p:txBody>
      </p:sp>
      <p:sp>
        <p:nvSpPr>
          <p:cNvPr id="24" name="Rounded Rectangle 23"/>
          <p:cNvSpPr/>
          <p:nvPr/>
        </p:nvSpPr>
        <p:spPr>
          <a:xfrm>
            <a:off x="4893411" y="4067340"/>
            <a:ext cx="2826867"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975707" y="4113060"/>
            <a:ext cx="2662275"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экономика сервиса при падающей аудитории</a:t>
            </a:r>
          </a:p>
        </p:txBody>
      </p:sp>
      <p:sp>
        <p:nvSpPr>
          <p:cNvPr id="26" name="TextBox 25"/>
          <p:cNvSpPr txBox="1"/>
          <p:nvPr/>
        </p:nvSpPr>
        <p:spPr>
          <a:xfrm>
            <a:off x="502920" y="4816958"/>
            <a:ext cx="721735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провалилось, а что нет — это разные утверждения</a:t>
            </a:r>
          </a:p>
        </p:txBody>
      </p:sp>
      <p:sp>
        <p:nvSpPr>
          <p:cNvPr id="27" name="Rounded Rectangle 26"/>
          <p:cNvSpPr/>
          <p:nvPr/>
        </p:nvSpPr>
        <p:spPr>
          <a:xfrm>
            <a:off x="374904" y="5119641"/>
            <a:ext cx="11441887" cy="11165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5211081"/>
            <a:ext cx="11112703" cy="1025126"/>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Партнёрство с Disney распалось вместе с продуктом</a:t>
            </a:r>
            <a:r>
              <a:rPr sz="1350" b="0" i="0">
                <a:solidFill>
                  <a:srgbClr val="21295C"/>
                </a:solidFill>
                <a:latin typeface="Arial"/>
              </a:rPr>
              <a:t> — закрытие меньше чем через год после пика известности.</a:t>
            </a:r>
          </a:p>
          <a:p>
            <a:pPr algn="l">
              <a:lnSpc>
                <a:spcPct val="126000"/>
              </a:lnSpc>
              <a:spcBef>
                <a:spcPts val="700"/>
              </a:spcBef>
            </a:pPr>
            <a:r>
              <a:rPr sz="1350" b="0" i="0">
                <a:solidFill>
                  <a:srgbClr val="21295C"/>
                </a:solidFill>
                <a:latin typeface="Arial"/>
              </a:rPr>
              <a:t/>
            </a:r>
            <a:r>
              <a:rPr sz="1350" b="1" i="0">
                <a:solidFill>
                  <a:srgbClr val="21295C"/>
                </a:solidFill>
                <a:latin typeface="Arial"/>
              </a:rPr>
              <a:t>Провалилась не видеогенерация</a:t>
            </a:r>
            <a:r>
              <a:rPr sz="1350" b="0" i="0">
                <a:solidFill>
                  <a:srgbClr val="21295C"/>
                </a:solidFill>
                <a:latin typeface="Arial"/>
              </a:rPr>
              <a:t> — Sora умела то, что требовалось. </a:t>
            </a:r>
            <a:r>
              <a:rPr sz="1350" b="1" i="0">
                <a:solidFill>
                  <a:srgbClr val="21295C"/>
                </a:solidFill>
                <a:latin typeface="Arial"/>
              </a:rPr>
              <a:t>Провалилась бизнес-ставка</a:t>
            </a:r>
            <a:r>
              <a:rPr sz="1350" b="0" i="0">
                <a:solidFill>
                  <a:srgbClr val="21295C"/>
                </a:solidFill>
                <a:latin typeface="Arial"/>
              </a:rPr>
              <a:t> на лицензированных персонажей.</a:t>
            </a:r>
          </a:p>
          <a:p>
            <a:pPr algn="l">
              <a:lnSpc>
                <a:spcPct val="126000"/>
              </a:lnSpc>
              <a:spcBef>
                <a:spcPts val="700"/>
              </a:spcBef>
            </a:pPr>
            <a:r>
              <a:rPr sz="1350" b="0" i="0">
                <a:solidFill>
                  <a:srgbClr val="21295C"/>
                </a:solidFill>
                <a:latin typeface="Arial"/>
              </a:rPr>
              <a:t/>
            </a:r>
            <a:r>
              <a:rPr sz="1350" b="1" i="0">
                <a:solidFill>
                  <a:srgbClr val="21295C"/>
                </a:solidFill>
                <a:latin typeface="Arial"/>
              </a:rPr>
              <a:t>Актуальные флагманы:</a:t>
            </a:r>
            <a:r>
              <a:rPr sz="1350" b="0" i="0">
                <a:solidFill>
                  <a:srgbClr val="21295C"/>
                </a:solidFill>
                <a:latin typeface="Arial"/>
              </a:rPr>
              <a:t> Veo 3.1, Kling 4.0, Kandinsky 6.0 Video.</a:t>
            </a:r>
          </a:p>
        </p:txBody>
      </p:sp>
      <p:sp>
        <p:nvSpPr>
          <p:cNvPr id="29" name="Rounded Rectangle 28"/>
          <p:cNvSpPr/>
          <p:nvPr/>
        </p:nvSpPr>
        <p:spPr>
          <a:xfrm>
            <a:off x="8031175" y="1335024"/>
            <a:ext cx="3657600" cy="2174595"/>
          </a:xfrm>
          <a:prstGeom prst="roundRect">
            <a:avLst>
              <a:gd name="adj" fmla="val 14016"/>
            </a:avLst>
          </a:prstGeom>
          <a:solidFill>
            <a:srgbClr val="F4F7FA"/>
          </a:solidFill>
          <a:ln w="19050">
            <a:solidFill>
              <a:srgbClr val="1C7293"/>
            </a:solidFill>
          </a:ln>
          <a:effectLst/>
        </p:spPr>
        <p:txBody>
          <a:bodyPr rtlCol="0" anchor="ctr"/>
          <a:lstStyle/>
          <a:p>
            <a:pPr algn="ctr"/>
          </a:p>
        </p:txBody>
      </p:sp>
      <p:pic>
        <p:nvPicPr>
          <p:cNvPr id="30" name="Picture 29" descr="s18-sora-tokyo-demo-frame-techcrunch.png"/>
          <p:cNvPicPr>
            <a:picLocks noChangeAspect="1"/>
          </p:cNvPicPr>
          <p:nvPr/>
        </p:nvPicPr>
        <p:blipFill>
          <a:blip r:embed="rId2"/>
          <a:stretch>
            <a:fillRect/>
          </a:stretch>
        </p:blipFill>
        <p:spPr>
          <a:xfrm>
            <a:off x="8168335" y="1472184"/>
            <a:ext cx="3383280" cy="1900275"/>
          </a:xfrm>
          <a:prstGeom prst="rect">
            <a:avLst/>
          </a:prstGeom>
        </p:spPr>
      </p:pic>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CNBC 2026; Bloomberg 2026; Variety 2026; the-decoder.com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Генератор разобран. Теперь — модель, которая не создаёт, а судит.</a:t>
            </a:r>
          </a:p>
        </p:txBody>
      </p:sp>
      <p:sp>
        <p:nvSpPr>
          <p:cNvPr id="5" name="Rectangle 4"/>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2276789"/>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На ней держится: фильтрация обучающих корпусов (мост к Разделу 4) · проверка внутри конвейера генерации · попытка поймать подделку постфактум — попытка, которая не выполняет обещание полностью.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Задача наоборот: на выходе — метка, не контент</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ГЕНЕРАТОР</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выход — файл</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пиксели, звуковые отсчёты, текст</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КЛАССИФИКАТОР</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выход — число</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метка класса, вероятность, скалярная оценка</a:t>
            </a:r>
          </a:p>
        </p:txBody>
      </p:sp>
      <p:sp>
        <p:nvSpPr>
          <p:cNvPr id="12" name="Rounded Rectangle 11"/>
          <p:cNvSpPr/>
          <p:nvPr/>
        </p:nvSpPr>
        <p:spPr>
          <a:xfrm>
            <a:off x="502920"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КЛАССИФИКАЦИЯ</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форвард-проход</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изображение целиком — один проход через сеть</a:t>
            </a:r>
          </a:p>
        </p:txBody>
      </p:sp>
      <p:sp>
        <p:nvSpPr>
          <p:cNvPr id="16" name="Rounded Rectangle 15"/>
          <p:cNvSpPr/>
          <p:nvPr/>
        </p:nvSpPr>
        <p:spPr>
          <a:xfrm>
            <a:off x="6178143" y="2665369"/>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 АВТОРЕГРЕССИЯ</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20–50 проходов / проход на токен</a:t>
            </a:r>
          </a:p>
        </p:txBody>
      </p:sp>
      <p:sp>
        <p:nvSpPr>
          <p:cNvPr id="19" name="TextBox 18"/>
          <p:cNvSpPr txBox="1"/>
          <p:nvPr/>
        </p:nvSpPr>
        <p:spPr>
          <a:xfrm>
            <a:off x="6315303"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арифметика цены, что на изображении и тексте раньше</a:t>
            </a:r>
          </a:p>
        </p:txBody>
      </p:sp>
      <p:sp>
        <p:nvSpPr>
          <p:cNvPr id="20" name="Rounded Rectangle 19"/>
          <p:cNvSpPr/>
          <p:nvPr/>
        </p:nvSpPr>
        <p:spPr>
          <a:xfrm>
            <a:off x="374904" y="392256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14003"/>
            <a:ext cx="5373471" cy="2222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Генератор отвечает: «каким должен быть этот файл»</a:t>
            </a:r>
            <a:r>
              <a:rPr sz="1500" b="0" i="0">
                <a:solidFill>
                  <a:srgbClr val="21295C"/>
                </a:solidFill>
                <a:latin typeface="Arial"/>
              </a:rPr>
              <a:t> — выход: сам файл. </a:t>
            </a:r>
            <a:r>
              <a:rPr sz="1500" b="1" i="0">
                <a:solidFill>
                  <a:srgbClr val="21295C"/>
                </a:solidFill>
                <a:latin typeface="Arial"/>
              </a:rPr>
              <a:t>Классификатор отвечает: «что это такое, и насколько я уверен»</a:t>
            </a:r>
            <a:r>
              <a:rPr sz="1500" b="0" i="0">
                <a:solidFill>
                  <a:srgbClr val="21295C"/>
                </a:solidFill>
                <a:latin typeface="Arial"/>
              </a:rPr>
              <a:t> — выход: число.</a:t>
            </a:r>
          </a:p>
        </p:txBody>
      </p:sp>
      <p:sp>
        <p:nvSpPr>
          <p:cNvPr id="22" name="TextBox 21"/>
          <p:cNvSpPr txBox="1"/>
          <p:nvPr/>
        </p:nvSpPr>
        <p:spPr>
          <a:xfrm>
            <a:off x="6278727" y="4014003"/>
            <a:ext cx="5373471" cy="2222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Классификация — один форвард-проход.</a:t>
            </a:r>
            <a:r>
              <a:rPr sz="1500" b="0" i="0">
                <a:solidFill>
                  <a:srgbClr val="21295C"/>
                </a:solidFill>
                <a:latin typeface="Arial"/>
              </a:rPr>
              <a:t> Диффузия — 20–50 проходов денойзера. Авторегрессия — проход на каждый токен.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Распознавание обходится в разы, а то и на порядки дешевле генерации того же класса контента</a:t>
            </a:r>
            <a:r>
              <a:rPr sz="1500" b="0" i="0">
                <a:solidFill>
                  <a:srgbClr val="21295C"/>
                </a:solidFill>
                <a:latin typeface="Arial"/>
              </a:rPr>
              <a:t> — поэтому его можно ставить фильтром на каждый элемент потока.</a:t>
            </a:r>
          </a:p>
        </p:txBody>
      </p:sp>
      <p:sp>
        <p:nvSpPr>
          <p:cNvPr id="23" name="Rectangle 22"/>
          <p:cNvSpPr/>
          <p:nvPr/>
        </p:nvSpPr>
        <p:spPr>
          <a:xfrm>
            <a:off x="6091275" y="4014003"/>
            <a:ext cx="9144" cy="18712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Ng, Jordan, «On Discriminative vs. Generative Classifiers», NeurIPS 2001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На чём учат распознаватель: размеченные данные и кросс-энтропия</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IMAGENET-1K</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1,28 млн изображений, 1000 классов</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размечены людьми через краудсорсинг</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КЛАССИФИКАТОР УЧИТСЯ НА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кросс-энтропии</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предсказание против заранее известной, правильной метки</a:t>
            </a:r>
          </a:p>
        </p:txBody>
      </p:sp>
      <p:sp>
        <p:nvSpPr>
          <p:cNvPr id="12" name="Rounded Rectangle 11"/>
          <p:cNvSpPr/>
          <p:nvPr/>
        </p:nvSpPr>
        <p:spPr>
          <a:xfrm>
            <a:off x="502920" y="3055793"/>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192953"/>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ГЕНЕРАТОР (LAION-5B)</a:t>
            </a:r>
          </a:p>
        </p:txBody>
      </p:sp>
      <p:sp>
        <p:nvSpPr>
          <p:cNvPr id="14" name="TextBox 13"/>
          <p:cNvSpPr txBox="1"/>
          <p:nvPr/>
        </p:nvSpPr>
        <p:spPr>
          <a:xfrm>
            <a:off x="640080" y="3446144"/>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пары собраны, не размечены</a:t>
            </a:r>
          </a:p>
        </p:txBody>
      </p:sp>
      <p:sp>
        <p:nvSpPr>
          <p:cNvPr id="15" name="TextBox 14"/>
          <p:cNvSpPr txBox="1"/>
          <p:nvPr/>
        </p:nvSpPr>
        <p:spPr>
          <a:xfrm>
            <a:off x="640080" y="3873143"/>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подпись к фото в интернете существовала независимо от обучения</a:t>
            </a:r>
          </a:p>
        </p:txBody>
      </p:sp>
      <p:sp>
        <p:nvSpPr>
          <p:cNvPr id="16" name="Rounded Rectangle 15"/>
          <p:cNvSpPr/>
          <p:nvPr/>
        </p:nvSpPr>
        <p:spPr>
          <a:xfrm>
            <a:off x="374904" y="4312987"/>
            <a:ext cx="11441887" cy="1923220"/>
          </a:xfrm>
          <a:prstGeom prst="roundRect">
            <a:avLst>
              <a:gd name="adj" fmla="val 1584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404427"/>
            <a:ext cx="11112703" cy="18317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Классификатор учится минимизировать кросс-энтропию</a:t>
            </a:r>
            <a:r>
              <a:rPr sz="1500" b="0" i="0">
                <a:solidFill>
                  <a:srgbClr val="21295C"/>
                </a:solidFill>
                <a:latin typeface="Arial"/>
              </a:rPr>
              <a:t> между предсказанным распределением и истинной, заранее известной меткой — не предсказанием следующего токена и не угадыванием шума.</a:t>
            </a:r>
          </a:p>
          <a:p>
            <a:pPr algn="l">
              <a:lnSpc>
                <a:spcPct val="126000"/>
              </a:lnSpc>
              <a:spcBef>
                <a:spcPts val="700"/>
              </a:spcBef>
            </a:pPr>
            <a:r>
              <a:rPr sz="1500" b="0" i="0">
                <a:solidFill>
                  <a:srgbClr val="21295C"/>
                </a:solidFill>
                <a:latin typeface="Arial"/>
              </a:rPr>
              <a:t/>
            </a:r>
            <a:r>
              <a:rPr sz="1500" b="1" i="0">
                <a:solidFill>
                  <a:srgbClr val="21295C"/>
                </a:solidFill>
                <a:latin typeface="Arial"/>
              </a:rPr>
              <a:t>ImageNet-1k: 1,28 млн изображений, 1000 классов — размечены людьми</a:t>
            </a:r>
            <a:r>
              <a:rPr sz="1500" b="0" i="0">
                <a:solidFill>
                  <a:srgbClr val="21295C"/>
                </a:solidFill>
                <a:latin typeface="Arial"/>
              </a:rPr>
              <a:t> через краудсорсинг.</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Распознаватель требует чужого оплаченного ручного труда разметки.</a:t>
            </a:r>
            <a:r>
              <a:rPr sz="1500" b="0" i="0">
                <a:solidFill>
                  <a:srgbClr val="21295C"/>
                </a:solidFill>
                <a:latin typeface="Arial"/>
              </a:rPr>
              <a:t> Генератор учился на парах «картинка-текст», собранных сканированием веба, — собраны, не размечены. Это и есть экономическая разница двух классов задач.</a:t>
            </a:r>
          </a:p>
        </p:txBody>
      </p:sp>
      <p:sp>
        <p:nvSpPr>
          <p:cNvPr id="18" name="Rectangle 1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Russakovsky, O. et al. (2015). ImageNet Large Scale Visual Recognition Challenge. IJCV; arXiv:1409.0575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 же блоки внимания, другая голова</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VIT (ПАТЧИ + ЭНКОДЕР + [CLS]-ГОЛОВА)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~88% top-1 ImageNet</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единица входа, что в диффузии — патч</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RESNET-50 (БЕЗ ВНИМАНИЯ)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~76% top-1</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до-трансформерная опора</a:t>
            </a:r>
          </a:p>
        </p:txBody>
      </p:sp>
      <p:sp>
        <p:nvSpPr>
          <p:cNvPr id="12" name="Rounded Rectangle 11"/>
          <p:cNvSpPr/>
          <p:nvPr/>
        </p:nvSpPr>
        <p:spPr>
          <a:xfrm>
            <a:off x="502920" y="2665369"/>
            <a:ext cx="5510631" cy="954510"/>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BERT — ЭНКОДЕР, ДИСКРИМИНАТИВНО</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classification/MLM-голова</a:t>
            </a:r>
          </a:p>
        </p:txBody>
      </p:sp>
      <p:sp>
        <p:nvSpPr>
          <p:cNvPr id="15" name="Rounded Rectangle 14"/>
          <p:cNvSpPr/>
          <p:nvPr/>
        </p:nvSpPr>
        <p:spPr>
          <a:xfrm>
            <a:off x="6178143" y="2665369"/>
            <a:ext cx="5510631" cy="954510"/>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GPT — ДЕКОДЕР, ГЕНЕРАТИВНО</a:t>
            </a:r>
          </a:p>
        </p:txBody>
      </p:sp>
      <p:sp>
        <p:nvSpPr>
          <p:cNvPr id="17" name="TextBox 16"/>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голова генерации по словарю</a:t>
            </a:r>
          </a:p>
        </p:txBody>
      </p:sp>
      <p:sp>
        <p:nvSpPr>
          <p:cNvPr id="18" name="Rounded Rectangle 17"/>
          <p:cNvSpPr/>
          <p:nvPr/>
        </p:nvSpPr>
        <p:spPr>
          <a:xfrm>
            <a:off x="502920" y="3784472"/>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9" name="TextBox 18"/>
          <p:cNvSpPr txBox="1"/>
          <p:nvPr/>
        </p:nvSpPr>
        <p:spPr>
          <a:xfrm>
            <a:off x="640080" y="3921632"/>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CLIP — ГИБРИД</a:t>
            </a:r>
          </a:p>
        </p:txBody>
      </p:sp>
      <p:sp>
        <p:nvSpPr>
          <p:cNvPr id="20" name="TextBox 19"/>
          <p:cNvSpPr txBox="1"/>
          <p:nvPr/>
        </p:nvSpPr>
        <p:spPr>
          <a:xfrm>
            <a:off x="640080" y="4174823"/>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 энкодера, сопоставление пар</a:t>
            </a:r>
          </a:p>
        </p:txBody>
      </p:sp>
      <p:sp>
        <p:nvSpPr>
          <p:cNvPr id="21" name="TextBox 20"/>
          <p:cNvSpPr txBox="1"/>
          <p:nvPr/>
        </p:nvSpPr>
        <p:spPr>
          <a:xfrm>
            <a:off x="640080" y="4601822"/>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метки из фиксированного списка</a:t>
            </a:r>
          </a:p>
        </p:txBody>
      </p:sp>
      <p:sp>
        <p:nvSpPr>
          <p:cNvPr id="22" name="Rounded Rectangle 21"/>
          <p:cNvSpPr/>
          <p:nvPr/>
        </p:nvSpPr>
        <p:spPr>
          <a:xfrm>
            <a:off x="374904" y="5041666"/>
            <a:ext cx="11441887" cy="119454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133106"/>
            <a:ext cx="11112703" cy="1103101"/>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Vision Transformer (ViT): та же единица входа — патч, тот же трансформер-энкодер, что в LLM.</a:t>
            </a:r>
            <a:r>
              <a:rPr sz="1050" b="0" i="0">
                <a:solidFill>
                  <a:srgbClr val="21295C"/>
                </a:solidFill>
                <a:latin typeface="Arial"/>
              </a:rPr>
              <a:t> Различие — classification head поверх [CLS]-токена вместо генерации.</a:t>
            </a:r>
          </a:p>
          <a:p>
            <a:pPr algn="l">
              <a:lnSpc>
                <a:spcPct val="126000"/>
              </a:lnSpc>
              <a:spcBef>
                <a:spcPts val="700"/>
              </a:spcBef>
            </a:pPr>
            <a:r>
              <a:rPr sz="1050" b="0" i="0">
                <a:solidFill>
                  <a:srgbClr val="21295C"/>
                </a:solidFill>
                <a:latin typeface="Arial"/>
              </a:rPr>
              <a:t/>
            </a:r>
            <a:r>
              <a:rPr sz="1050" b="1" i="0">
                <a:solidFill>
                  <a:srgbClr val="21295C"/>
                </a:solidFill>
                <a:latin typeface="Arial"/>
              </a:rPr>
              <a:t>ViT-L: ~88% top-1 ImageNet.</a:t>
            </a:r>
            <a:r>
              <a:rPr sz="1050" b="0" i="0">
                <a:solidFill>
                  <a:srgbClr val="21295C"/>
                </a:solidFill>
                <a:latin typeface="Arial"/>
              </a:rPr>
              <a:t> ResNet-50, без единого блока внимания: ~76% — архитектура сменилась, задача распознавания существовала и до трансформеров.</a:t>
            </a:r>
          </a:p>
          <a:p>
            <a:pPr algn="l">
              <a:lnSpc>
                <a:spcPct val="126000"/>
              </a:lnSpc>
              <a:spcBef>
                <a:spcPts val="700"/>
              </a:spcBef>
            </a:pPr>
            <a:r>
              <a:rPr sz="1050" b="0" i="0">
                <a:solidFill>
                  <a:srgbClr val="21295C"/>
                </a:solidFill>
                <a:latin typeface="Arial"/>
              </a:rPr>
              <a:t/>
            </a:r>
            <a:r>
              <a:rPr sz="1050" b="1" i="0">
                <a:solidFill>
                  <a:srgbClr val="21295C"/>
                </a:solidFill>
                <a:latin typeface="Arial"/>
              </a:rPr>
              <a:t>BERT (энкодер, дискриминативно) против GPT (декодер, генеративно):</a:t>
            </a:r>
            <a:r>
              <a:rPr sz="1050" b="0" i="0">
                <a:solidFill>
                  <a:srgbClr val="21295C"/>
                </a:solidFill>
                <a:latin typeface="Arial"/>
              </a:rPr>
              <a:t> блоки self-attention одни — различие в маске внимания и в голове.</a:t>
            </a:r>
          </a:p>
          <a:p>
            <a:pPr algn="l">
              <a:lnSpc>
                <a:spcPct val="126000"/>
              </a:lnSpc>
              <a:spcBef>
                <a:spcPts val="700"/>
              </a:spcBef>
            </a:pPr>
            <a:r>
              <a:rPr sz="1050" b="0" i="0">
                <a:solidFill>
                  <a:srgbClr val="21295C"/>
                </a:solidFill>
                <a:latin typeface="Arial"/>
              </a:rPr>
              <a:t/>
            </a:r>
            <a:r>
              <a:rPr sz="1050" b="1" i="0">
                <a:solidFill>
                  <a:srgbClr val="21295C"/>
                </a:solidFill>
                <a:latin typeface="Arial"/>
              </a:rPr>
              <a:t>CLIP — гибрид:</a:t>
            </a:r>
            <a:r>
              <a:rPr sz="1050" b="0" i="0">
                <a:solidFill>
                  <a:srgbClr val="21295C"/>
                </a:solidFill>
                <a:latin typeface="Arial"/>
              </a:rPr>
              <a:t> два энкодера, учится сопоставлению пар «картинка-текст», не меткам из фиксированного списка.</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Dosovitskiy et al., ICLR 2021, arXiv:2010.11929; Devlin et al., arXiv:1810.04805; He et al., CVPR 2016, arXiv:1512.03385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Распознаватель уже стоит внутри конвейера генерации</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ВХОДЕ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CLIP-фильтр LAION-5B</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косинусное сходство текста и картинки — мост к Разделу 4</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ОТБОРЕ ВЫБОРКИ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LAION-Aesthetics: ≈600 млн из 5,85 млрд</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эстетический предиктор — мост к весу модели, Раздел 4</a:t>
            </a:r>
          </a:p>
        </p:txBody>
      </p:sp>
      <p:sp>
        <p:nvSpPr>
          <p:cNvPr id="12" name="Rounded Rectangle 11"/>
          <p:cNvSpPr/>
          <p:nvPr/>
        </p:nvSpPr>
        <p:spPr>
          <a:xfrm>
            <a:off x="502920" y="3055793"/>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192953"/>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ВЫХОДЕ</a:t>
            </a:r>
          </a:p>
        </p:txBody>
      </p:sp>
      <p:sp>
        <p:nvSpPr>
          <p:cNvPr id="14" name="TextBox 13"/>
          <p:cNvSpPr txBox="1"/>
          <p:nvPr/>
        </p:nvSpPr>
        <p:spPr>
          <a:xfrm>
            <a:off x="640080" y="3446144"/>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safety-фильтр SD</a:t>
            </a:r>
          </a:p>
        </p:txBody>
      </p:sp>
      <p:sp>
        <p:nvSpPr>
          <p:cNvPr id="15" name="TextBox 14"/>
          <p:cNvSpPr txBox="1"/>
          <p:nvPr/>
        </p:nvSpPr>
        <p:spPr>
          <a:xfrm>
            <a:off x="640080" y="3873143"/>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визуальный энкодер CLIP против 17 концептов</a:t>
            </a:r>
          </a:p>
        </p:txBody>
      </p:sp>
      <p:sp>
        <p:nvSpPr>
          <p:cNvPr id="16" name="Rounded Rectangle 15"/>
          <p:cNvSpPr/>
          <p:nvPr/>
        </p:nvSpPr>
        <p:spPr>
          <a:xfrm>
            <a:off x="6178143" y="3055793"/>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5303" y="3192953"/>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ЧЕСТНАЯ ОГОВОРКА</a:t>
            </a:r>
          </a:p>
        </p:txBody>
      </p:sp>
      <p:sp>
        <p:nvSpPr>
          <p:cNvPr id="18" name="TextBox 17"/>
          <p:cNvSpPr txBox="1"/>
          <p:nvPr/>
        </p:nvSpPr>
        <p:spPr>
          <a:xfrm>
            <a:off x="6315303" y="3446144"/>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фильтр обфусцирован, расовые/гендерные дисбалансы</a:t>
            </a:r>
          </a:p>
        </p:txBody>
      </p:sp>
      <p:sp>
        <p:nvSpPr>
          <p:cNvPr id="19" name="TextBox 18"/>
          <p:cNvSpPr txBox="1"/>
          <p:nvPr/>
        </p:nvSpPr>
        <p:spPr>
          <a:xfrm>
            <a:off x="6315303" y="4263566"/>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задокументированное ограничение, не гипотетический риск</a:t>
            </a:r>
          </a:p>
        </p:txBody>
      </p:sp>
      <p:sp>
        <p:nvSpPr>
          <p:cNvPr id="20" name="Rounded Rectangle 19"/>
          <p:cNvSpPr/>
          <p:nvPr/>
        </p:nvSpPr>
        <p:spPr>
          <a:xfrm>
            <a:off x="374904" y="4703410"/>
            <a:ext cx="11441887" cy="1532797"/>
          </a:xfrm>
          <a:prstGeom prst="roundRect">
            <a:avLst>
              <a:gd name="adj" fmla="val 1988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94850"/>
            <a:ext cx="5373471" cy="1441357"/>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Три точки, где распознаватель уже работает внутри конвейера генерации.</a:t>
            </a:r>
            <a:r>
              <a:rPr sz="1200" b="0" i="0">
                <a:solidFill>
                  <a:srgbClr val="21295C"/>
                </a:solidFill>
                <a:latin typeface="Arial"/>
              </a:rPr>
              <a:t> На входе: CLIP отфильтровал LAION-5B по соответствию текста и картинки. На отборе выборки: эстетический предиктор LAION-Aesthetics отобрал </a:t>
            </a:r>
            <a:r>
              <a:rPr sz="1200" b="1" i="0">
                <a:solidFill>
                  <a:srgbClr val="21295C"/>
                </a:solidFill>
                <a:latin typeface="Arial"/>
              </a:rPr>
              <a:t>≈600 млн из 5,85 млрд</a:t>
            </a:r>
            <a:r>
              <a:rPr sz="1200" b="0" i="0">
                <a:solidFill>
                  <a:srgbClr val="21295C"/>
                </a:solidFill>
                <a:latin typeface="Arial"/>
              </a:rPr>
              <a:t> изображений. На выходе: safety-фильтр проверяет готовое изображение против 17 концептов.</a:t>
            </a:r>
          </a:p>
        </p:txBody>
      </p:sp>
      <p:sp>
        <p:nvSpPr>
          <p:cNvPr id="22" name="TextBox 21"/>
          <p:cNvSpPr txBox="1"/>
          <p:nvPr/>
        </p:nvSpPr>
        <p:spPr>
          <a:xfrm>
            <a:off x="6278727" y="4794850"/>
            <a:ext cx="5373471" cy="1441357"/>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Генерация без распознавания внутри себя физически не собирается.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Честная оговорка: safety-фильтр задокументированно обфусцирован, с расовыми/гендерными дисбалансами</a:t>
            </a:r>
            <a:r>
              <a:rPr sz="1200" b="0" i="0">
                <a:solidFill>
                  <a:srgbClr val="21295C"/>
                </a:solidFill>
                <a:latin typeface="Arial"/>
              </a:rPr>
              <a:t> — распознаватель надёжен внутри своего конвейера, но цена его ошибки там не равна нулю.</a:t>
            </a:r>
          </a:p>
        </p:txBody>
      </p:sp>
      <p:sp>
        <p:nvSpPr>
          <p:cNvPr id="23" name="Rectangle 22"/>
          <p:cNvSpPr/>
          <p:nvPr/>
        </p:nvSpPr>
        <p:spPr>
          <a:xfrm>
            <a:off x="6091275" y="4794850"/>
            <a:ext cx="9144" cy="142589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laion.ai/blog/laion-aesthetics; CompVis/stable-diffusion-safety-checker; Rando et al., arXiv:2210.04610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Детектор дипфейков: отличник на своих данных, провал на чужих</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XCEPTIONNET НА СВОИХ ДАННЫХ (FACEFORENSICS++)</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AUC 0,997</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отличник — 1,0 идеальное разделение, 0,5 монетка</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ДЕТЕКТОР НА CELEB-DF, БЕЗ ПЕРЕОБУЧЕНИЯ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AUC 0,482</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хуже случайного угадывания</a:t>
            </a:r>
          </a:p>
        </p:txBody>
      </p:sp>
      <p:sp>
        <p:nvSpPr>
          <p:cNvPr id="12" name="Rounded Rectangle 11"/>
          <p:cNvSpPr/>
          <p:nvPr/>
        </p:nvSpPr>
        <p:spPr>
          <a:xfrm>
            <a:off x="502920"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МЕТОД-ИСПРАВЛЕНИЕ (ТА ЖЕ СТАТЬЯ)</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AUC 0,669</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улучшение, но не возврат к 0,997 — задача остаётся открытой</a:t>
            </a:r>
          </a:p>
        </p:txBody>
      </p:sp>
      <p:sp>
        <p:nvSpPr>
          <p:cNvPr id="16" name="Rounded Rectangle 15"/>
          <p:cNvSpPr/>
          <p:nvPr/>
        </p:nvSpPr>
        <p:spPr>
          <a:xfrm>
            <a:off x="6178143"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ДЕТЕКТОРЫ ПРОТИВ GAN — НА ДИФФУЗИИ</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заметно хуже</a:t>
            </a:r>
          </a:p>
        </p:txBody>
      </p:sp>
      <p:sp>
        <p:nvSpPr>
          <p:cNvPr id="19" name="TextBox 18"/>
          <p:cNvSpPr txBox="1"/>
          <p:nvPr/>
        </p:nvSpPr>
        <p:spPr>
          <a:xfrm>
            <a:off x="6315303"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смена класса генератора — структурный разрыв, не деградация</a:t>
            </a:r>
          </a:p>
        </p:txBody>
      </p:sp>
      <p:sp>
        <p:nvSpPr>
          <p:cNvPr id="20" name="Rounded Rectangle 19"/>
          <p:cNvSpPr/>
          <p:nvPr/>
        </p:nvSpPr>
        <p:spPr>
          <a:xfrm>
            <a:off x="374904" y="3922563"/>
            <a:ext cx="11441887" cy="2313644"/>
          </a:xfrm>
          <a:prstGeom prst="roundRect">
            <a:avLst>
              <a:gd name="adj" fmla="val 131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14003"/>
            <a:ext cx="11112703" cy="2222204"/>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XceptionNet на своих данных (FaceForensics++): AUC 0,997 — отличник.</a:t>
            </a:r>
            <a:r>
              <a:rPr sz="1350" b="0" i="0">
                <a:solidFill>
                  <a:srgbClr val="21295C"/>
                </a:solidFill>
                <a:latin typeface="Arial"/>
              </a:rPr>
              <a:t> На чужом датасете того же явления (Celeb-DF), без переобучения: </a:t>
            </a:r>
            <a:r>
              <a:rPr sz="1350" b="1" i="0">
                <a:solidFill>
                  <a:srgbClr val="21295C"/>
                </a:solidFill>
                <a:latin typeface="Arial"/>
              </a:rPr>
              <a:t>AUC 0,482 — хуже монетки.</a:t>
            </a:r>
          </a:p>
          <a:p>
            <a:pPr algn="l">
              <a:lnSpc>
                <a:spcPct val="126000"/>
              </a:lnSpc>
              <a:spcBef>
                <a:spcPts val="700"/>
              </a:spcBef>
            </a:pPr>
            <a:r>
              <a:rPr sz="1350" b="0" i="0">
                <a:solidFill>
                  <a:srgbClr val="21295C"/>
                </a:solidFill>
                <a:latin typeface="Arial"/>
              </a:rPr>
              <a:t/>
            </a:r>
            <a:r>
              <a:rPr sz="1350" b="1" i="0">
                <a:solidFill>
                  <a:srgbClr val="21295C"/>
                </a:solidFill>
                <a:latin typeface="Arial"/>
              </a:rPr>
              <a:t>Причина механическая:</a:t>
            </a:r>
            <a:r>
              <a:rPr sz="1350" b="0" i="0">
                <a:solidFill>
                  <a:srgbClr val="21295C"/>
                </a:solidFill>
                <a:latin typeface="Arial"/>
              </a:rPr>
              <a:t> детектор учится отличать артефакты конкретного генератора, не «признак подделки вообще». Детекторы против GAN заметно хуже работают на диффузионных изображениях — смена класса генератора обнуляет детектор прошлого поколения.</a:t>
            </a:r>
          </a:p>
          <a:p>
            <a:pPr algn="l">
              <a:lnSpc>
                <a:spcPct val="126000"/>
              </a:lnSpc>
              <a:spcBef>
                <a:spcPts val="700"/>
              </a:spcBef>
            </a:pPr>
            <a:r>
              <a:rPr sz="1350" b="0" i="0">
                <a:solidFill>
                  <a:srgbClr val="21295C"/>
                </a:solidFill>
                <a:latin typeface="Arial"/>
              </a:rPr>
              <a:t/>
            </a:r>
            <a:r>
              <a:rPr sz="1350" b="1" i="0">
                <a:solidFill>
                  <a:srgbClr val="21295C"/>
                </a:solidFill>
                <a:latin typeface="Arial"/>
              </a:rPr>
              <a:t>Замыкает число Раздела 0:</a:t>
            </a:r>
            <a:r>
              <a:rPr sz="1350" b="0" i="0">
                <a:solidFill>
                  <a:srgbClr val="21295C"/>
                </a:solidFill>
                <a:latin typeface="Arial"/>
              </a:rPr>
              <a:t> 24–25% правильных определений у человека, который предупреждён и ищет подделку целенаправленно — ни зрение, ни автоматический классификатор, обученный против одного поколения генераторов, не защищают против следующего.</a:t>
            </a:r>
          </a:p>
        </p:txBody>
      </p:sp>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Nadimpalli, A.V., Rattani, A., CVPRW 2022, arXiv:2204.04285; Corvi et al., ICASSP 2023, arXiv:2211.00680; Rössler et al., ICCV 2019, arXiv:1901.08971; Li et al., CVPR 2020, arXiv:1909.12962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Вывод: ремесло переехало в запрос и отбор — а узнавание стало подделываемым</a:t>
            </a:r>
          </a:p>
        </p:txBody>
      </p:sp>
      <p:sp>
        <p:nvSpPr>
          <p:cNvPr id="4" name="Rounded Rectangle 3"/>
          <p:cNvSpPr/>
          <p:nvPr/>
        </p:nvSpPr>
        <p:spPr>
          <a:xfrm>
            <a:off x="502920" y="1335024"/>
            <a:ext cx="2703423"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МАРИНА К. ДО ОБВАЛА</a:t>
            </a:r>
          </a:p>
        </p:txBody>
      </p:sp>
      <p:sp>
        <p:nvSpPr>
          <p:cNvPr id="6" name="TextBox 5"/>
          <p:cNvSpPr txBox="1"/>
          <p:nvPr/>
        </p:nvSpPr>
        <p:spPr>
          <a:xfrm>
            <a:off x="640080" y="1725375"/>
            <a:ext cx="24291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≈1800–2500 $/мес., 70–80 ч</a:t>
            </a:r>
          </a:p>
        </p:txBody>
      </p:sp>
      <p:sp>
        <p:nvSpPr>
          <p:cNvPr id="7" name="TextBox 6"/>
          <p:cNvSpPr txBox="1"/>
          <p:nvPr/>
        </p:nvSpPr>
        <p:spPr>
          <a:xfrm>
            <a:off x="640080" y="2542797"/>
            <a:ext cx="24291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ставка ≈25–30 $/час</a:t>
            </a:r>
          </a:p>
        </p:txBody>
      </p:sp>
      <p:sp>
        <p:nvSpPr>
          <p:cNvPr id="8" name="Rounded Rectangle 7"/>
          <p:cNvSpPr/>
          <p:nvPr/>
        </p:nvSpPr>
        <p:spPr>
          <a:xfrm>
            <a:off x="3370935" y="1335024"/>
            <a:ext cx="2703423"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08095"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МАРИНА К. ПОСЛЕ ОБВАЛА</a:t>
            </a:r>
          </a:p>
        </p:txBody>
      </p:sp>
      <p:sp>
        <p:nvSpPr>
          <p:cNvPr id="10" name="TextBox 9"/>
          <p:cNvSpPr txBox="1"/>
          <p:nvPr/>
        </p:nvSpPr>
        <p:spPr>
          <a:xfrm>
            <a:off x="3508095" y="1725375"/>
            <a:ext cx="2429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≈900–2400 $/мес., 25–35 ч</a:t>
            </a:r>
          </a:p>
        </p:txBody>
      </p:sp>
      <p:sp>
        <p:nvSpPr>
          <p:cNvPr id="11" name="TextBox 10"/>
          <p:cNvSpPr txBox="1"/>
          <p:nvPr/>
        </p:nvSpPr>
        <p:spPr>
          <a:xfrm>
            <a:off x="3508095" y="2542797"/>
            <a:ext cx="24291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ставка ≈35–70 $/час</a:t>
            </a:r>
          </a:p>
        </p:txBody>
      </p:sp>
      <p:sp>
        <p:nvSpPr>
          <p:cNvPr id="12" name="Rounded Rectangle 11"/>
          <p:cNvSpPr/>
          <p:nvPr/>
        </p:nvSpPr>
        <p:spPr>
          <a:xfrm>
            <a:off x="502920" y="3055793"/>
            <a:ext cx="2703423"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192953"/>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КЛЕТКИ СЕТКИ КУРСА</a:t>
            </a:r>
          </a:p>
        </p:txBody>
      </p:sp>
      <p:sp>
        <p:nvSpPr>
          <p:cNvPr id="14" name="TextBox 13"/>
          <p:cNvSpPr txBox="1"/>
          <p:nvPr/>
        </p:nvSpPr>
        <p:spPr>
          <a:xfrm>
            <a:off x="640080" y="3446144"/>
            <a:ext cx="24291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изображение · аудио</a:t>
            </a:r>
          </a:p>
        </p:txBody>
      </p:sp>
      <p:sp>
        <p:nvSpPr>
          <p:cNvPr id="15" name="TextBox 14"/>
          <p:cNvSpPr txBox="1"/>
          <p:nvPr/>
        </p:nvSpPr>
        <p:spPr>
          <a:xfrm>
            <a:off x="640080" y="4263566"/>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 коммерчески зрелый, цена на три порядка ниже ручного</a:t>
            </a:r>
          </a:p>
        </p:txBody>
      </p:sp>
      <p:sp>
        <p:nvSpPr>
          <p:cNvPr id="16" name="Rounded Rectangle 15"/>
          <p:cNvSpPr/>
          <p:nvPr/>
        </p:nvSpPr>
        <p:spPr>
          <a:xfrm>
            <a:off x="3370935" y="3055793"/>
            <a:ext cx="2703423"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3508095" y="3192953"/>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РАСПОЗНАВАНИЕ</a:t>
            </a:r>
          </a:p>
        </p:txBody>
      </p:sp>
      <p:sp>
        <p:nvSpPr>
          <p:cNvPr id="18" name="TextBox 17"/>
          <p:cNvSpPr txBox="1"/>
          <p:nvPr/>
        </p:nvSpPr>
        <p:spPr>
          <a:xfrm>
            <a:off x="3508095" y="3446144"/>
            <a:ext cx="2429103" cy="978684"/>
          </a:xfrm>
          <a:prstGeom prst="rect">
            <a:avLst/>
          </a:prstGeom>
          <a:noFill/>
        </p:spPr>
        <p:txBody>
          <a:bodyPr wrap="square" lIns="0" rIns="0" tIns="0" bIns="0" anchor="t">
            <a:spAutoFit/>
          </a:bodyPr>
          <a:lstStyle/>
          <a:p>
            <a:pPr algn="l">
              <a:lnSpc>
                <a:spcPct val="108000"/>
              </a:lnSpc>
            </a:pPr>
            <a:r>
              <a:rPr sz="1850" b="1" i="0">
                <a:solidFill>
                  <a:srgbClr val="1C7293"/>
                </a:solidFill>
                <a:latin typeface="Arial"/>
              </a:rPr>
              <a:t>зрелое на ImageNet, ненадёжное постфактум</a:t>
            </a:r>
          </a:p>
        </p:txBody>
      </p:sp>
      <p:sp>
        <p:nvSpPr>
          <p:cNvPr id="19" name="TextBox 18"/>
          <p:cNvSpPr txBox="1"/>
          <p:nvPr/>
        </p:nvSpPr>
        <p:spPr>
          <a:xfrm>
            <a:off x="3508095" y="4424828"/>
            <a:ext cx="24291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AUC 0,997 → 0,482 на чужом генераторе</a:t>
            </a:r>
          </a:p>
        </p:txBody>
      </p:sp>
      <p:sp>
        <p:nvSpPr>
          <p:cNvPr id="20" name="Rounded Rectangle 19"/>
          <p:cNvSpPr/>
          <p:nvPr/>
        </p:nvSpPr>
        <p:spPr>
          <a:xfrm>
            <a:off x="374904" y="5125897"/>
            <a:ext cx="11441887" cy="11103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217337"/>
            <a:ext cx="11112703" cy="1018870"/>
          </a:xfrm>
          <a:prstGeom prst="rect">
            <a:avLst/>
          </a:prstGeom>
          <a:noFill/>
        </p:spPr>
        <p:txBody>
          <a:bodyPr wrap="square" lIns="0" rIns="0" tIns="0" bIns="0" anchor="t">
            <a:spAutoFit/>
          </a:bodyPr>
          <a:lstStyle/>
          <a:p>
            <a:pPr algn="l">
              <a:lnSpc>
                <a:spcPct val="126000"/>
              </a:lnSpc>
            </a:pPr>
            <a:r>
              <a:rPr sz="900" b="1" i="0">
                <a:solidFill>
                  <a:srgbClr val="21295C"/>
                </a:solidFill>
                <a:latin typeface="Arial"/>
              </a:rPr>
              <a:t>Переехало:</a:t>
            </a:r>
            <a:r>
              <a:rPr sz="900" b="0" i="0">
                <a:solidFill>
                  <a:srgbClr val="21295C"/>
                </a:solidFill>
                <a:latin typeface="Arial"/>
              </a:rPr>
              <a:t> от часов ручной работы — к секундам генерации плюс новому шагу: курирование вариантов.</a:t>
            </a:r>
          </a:p>
          <a:p>
            <a:pPr algn="l">
              <a:lnSpc>
                <a:spcPct val="126000"/>
              </a:lnSpc>
              <a:spcBef>
                <a:spcPts val="700"/>
              </a:spcBef>
            </a:pPr>
            <a:r>
              <a:rPr sz="900" b="0" i="0">
                <a:solidFill>
                  <a:srgbClr val="21295C"/>
                </a:solidFill>
                <a:latin typeface="Arial"/>
              </a:rPr>
              <a:t/>
            </a:r>
            <a:r>
              <a:rPr sz="900" b="1" i="0">
                <a:solidFill>
                  <a:srgbClr val="21295C"/>
                </a:solidFill>
                <a:latin typeface="Arial"/>
              </a:rPr>
              <a:t>Марина К., тот же поток:</a:t>
            </a:r>
            <a:r>
              <a:rPr sz="900" b="0" i="0">
                <a:solidFill>
                  <a:srgbClr val="21295C"/>
                </a:solidFill>
                <a:latin typeface="Arial"/>
              </a:rPr>
              <a:t> рутина исчезла, остались сложные заказы — часовая ставка выросла.</a:t>
            </a:r>
          </a:p>
          <a:p>
            <a:pPr algn="l">
              <a:lnSpc>
                <a:spcPct val="126000"/>
              </a:lnSpc>
              <a:spcBef>
                <a:spcPts val="700"/>
              </a:spcBef>
            </a:pPr>
            <a:r>
              <a:rPr sz="900" b="0" i="0">
                <a:solidFill>
                  <a:srgbClr val="21295C"/>
                </a:solidFill>
                <a:latin typeface="Arial"/>
              </a:rPr>
              <a:t/>
            </a:r>
            <a:r>
              <a:rPr sz="900" b="1" i="0">
                <a:solidFill>
                  <a:srgbClr val="21295C"/>
                </a:solidFill>
                <a:latin typeface="Arial"/>
              </a:rPr>
              <a:t>Раздел не утверждает:</a:t>
            </a:r>
            <a:r>
              <a:rPr sz="900" b="0" i="0">
                <a:solidFill>
                  <a:srgbClr val="21295C"/>
                </a:solidFill>
                <a:latin typeface="Arial"/>
              </a:rPr>
              <a:t> что результат хуже/лучше · что ручная работа исчезла вся · что обвал цены — проблема сам по себе.</a:t>
            </a:r>
          </a:p>
          <a:p>
            <a:pPr algn="l">
              <a:lnSpc>
                <a:spcPct val="126000"/>
              </a:lnSpc>
              <a:spcBef>
                <a:spcPts val="700"/>
              </a:spcBef>
            </a:pPr>
            <a:r>
              <a:rPr sz="900" b="0" i="0">
                <a:solidFill>
                  <a:srgbClr val="21295C"/>
                </a:solidFill>
                <a:latin typeface="Arial"/>
              </a:rPr>
              <a:t/>
            </a:r>
            <a:r>
              <a:rPr sz="900" b="1" i="0">
                <a:solidFill>
                  <a:srgbClr val="21295C"/>
                </a:solidFill>
                <a:latin typeface="Arial"/>
              </a:rPr>
              <a:t>У кого в работе уже есть порог найма, который обвал цены генерации обнулил — замечали вы это сами?</a:t>
            </a:r>
          </a:p>
        </p:txBody>
      </p:sp>
      <p:sp>
        <p:nvSpPr>
          <p:cNvPr id="22" name="Rounded Rectangle 21"/>
          <p:cNvSpPr/>
          <p:nvPr/>
        </p:nvSpPr>
        <p:spPr>
          <a:xfrm>
            <a:off x="6385255" y="1335024"/>
            <a:ext cx="5303520" cy="3628167"/>
          </a:xfrm>
          <a:prstGeom prst="roundRect">
            <a:avLst>
              <a:gd name="adj" fmla="val 8400"/>
            </a:avLst>
          </a:prstGeom>
          <a:solidFill>
            <a:srgbClr val="F4F7FA"/>
          </a:solidFill>
          <a:ln w="19050">
            <a:solidFill>
              <a:srgbClr val="1C7293"/>
            </a:solidFill>
          </a:ln>
          <a:effectLst/>
        </p:spPr>
        <p:txBody>
          <a:bodyPr rtlCol="0" anchor="ctr"/>
          <a:lstStyle/>
          <a:p>
            <a:pPr algn="ctr"/>
          </a:p>
        </p:txBody>
      </p:sp>
      <p:pic>
        <p:nvPicPr>
          <p:cNvPr id="23" name="Picture 22" descr="s19-freelancer-working-laptop-office.jpg"/>
          <p:cNvPicPr>
            <a:picLocks noChangeAspect="1"/>
          </p:cNvPicPr>
          <p:nvPr/>
        </p:nvPicPr>
        <p:blipFill>
          <a:blip r:embed="rId2"/>
          <a:stretch>
            <a:fillRect/>
          </a:stretch>
        </p:blipFill>
        <p:spPr>
          <a:xfrm>
            <a:off x="6522415" y="1472184"/>
            <a:ext cx="5029200" cy="3353847"/>
          </a:xfrm>
          <a:prstGeom prst="rect">
            <a:avLst/>
          </a:prstGeom>
        </p:spPr>
      </p:pic>
      <p:sp>
        <p:nvSpPr>
          <p:cNvPr id="24" name="Rectangle 23"/>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Upwork/GigRadar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8305495" y="914400"/>
            <a:ext cx="3383280" cy="4937760"/>
          </a:xfrm>
          <a:prstGeom prst="roundRect">
            <a:avLst>
              <a:gd name="adj" fmla="val 9009"/>
            </a:avLst>
          </a:prstGeom>
          <a:solidFill>
            <a:srgbClr val="F4F7FA"/>
          </a:solidFill>
          <a:ln w="19050">
            <a:solidFill>
              <a:srgbClr val="1C7293"/>
            </a:solidFill>
          </a:ln>
          <a:effectLst/>
        </p:spPr>
        <p:txBody>
          <a:bodyPr rtlCol="0" anchor="ctr"/>
          <a:lstStyle/>
          <a:p>
            <a:pPr algn="ctr"/>
          </a:p>
        </p:txBody>
      </p:sp>
      <p:pic>
        <p:nvPicPr>
          <p:cNvPr id="5" name="Picture 4" descr="s20-editor-red-pen-manuscript.jpg"/>
          <p:cNvPicPr>
            <a:picLocks noChangeAspect="1"/>
          </p:cNvPicPr>
          <p:nvPr/>
        </p:nvPicPr>
        <p:blipFill>
          <a:blip r:embed="rId2"/>
          <a:stretch>
            <a:fillRect/>
          </a:stretch>
        </p:blipFill>
        <p:spPr>
          <a:xfrm>
            <a:off x="8442655" y="1051560"/>
            <a:ext cx="3108960" cy="4663440"/>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2. Редакционный контроль</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Файл готов. Но готовый файл — ещё не опубликованный материал.</a:t>
            </a:r>
            <a:r>
              <a:rPr sz="1550" b="0" i="0">
                <a:solidFill>
                  <a:srgbClr val="21295C"/>
                </a:solidFill>
                <a:latin typeface="Arial"/>
              </a:rPr>
              <a:t> Между ними стоит проверка: кто написал, откуда факт, есть ли право.</a:t>
            </a:r>
          </a:p>
        </p:txBody>
      </p:sp>
      <p:sp>
        <p:nvSpPr>
          <p:cNvPr id="9" name="TextBox 8"/>
          <p:cNvSpPr txBox="1"/>
          <p:nvPr/>
        </p:nvSpPr>
        <p:spPr>
          <a:xfrm>
            <a:off x="704088" y="2915422"/>
            <a:ext cx="574243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CNET — цена ошибки, 53% AI-статей потребовали исправления</a:t>
            </a:r>
            <a:r>
              <a:rPr sz="1550" b="0" i="0">
                <a:solidFill>
                  <a:srgbClr val="21295C"/>
                </a:solidFill>
                <a:latin typeface="Arial"/>
              </a:rPr>
              <a:t> · </a:t>
            </a:r>
            <a:r>
              <a:rPr sz="1550" b="1" i="0">
                <a:solidFill>
                  <a:srgbClr val="21295C"/>
                </a:solidFill>
                <a:latin typeface="Arial"/>
              </a:rPr>
              <a:t>Упоминание: Sports Illustrated — совпадение по времени, не доказанная причина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Редакционный контроль: что проверяют и кто отвечает</a:t>
            </a:r>
          </a:p>
        </p:txBody>
      </p:sp>
      <p:sp>
        <p:nvSpPr>
          <p:cNvPr id="4" name="Rounded Rectangle 3"/>
          <p:cNvSpPr/>
          <p:nvPr/>
        </p:nvSpPr>
        <p:spPr>
          <a:xfrm>
            <a:off x="502920" y="1335024"/>
            <a:ext cx="2113178" cy="2576558"/>
          </a:xfrm>
          <a:prstGeom prst="roundRect">
            <a:avLst>
              <a:gd name="adj" fmla="val 1442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885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ПЕРВЫЙ</a:t>
            </a:r>
          </a:p>
        </p:txBody>
      </p:sp>
      <p:sp>
        <p:nvSpPr>
          <p:cNvPr id="6" name="TextBox 5"/>
          <p:cNvSpPr txBox="1"/>
          <p:nvPr/>
        </p:nvSpPr>
        <p:spPr>
          <a:xfrm>
            <a:off x="640080" y="1725375"/>
            <a:ext cx="183885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верны ли факты?</a:t>
            </a:r>
          </a:p>
        </p:txBody>
      </p:sp>
      <p:sp>
        <p:nvSpPr>
          <p:cNvPr id="7" name="TextBox 6"/>
          <p:cNvSpPr txBox="1"/>
          <p:nvPr/>
        </p:nvSpPr>
        <p:spPr>
          <a:xfrm>
            <a:off x="640080" y="2542797"/>
            <a:ext cx="183885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цифры, цитаты, причинно-следственные связи</a:t>
            </a:r>
          </a:p>
        </p:txBody>
      </p:sp>
      <p:sp>
        <p:nvSpPr>
          <p:cNvPr id="8" name="Rounded Rectangle 7"/>
          <p:cNvSpPr/>
          <p:nvPr/>
        </p:nvSpPr>
        <p:spPr>
          <a:xfrm>
            <a:off x="2780690" y="1335024"/>
            <a:ext cx="2113178" cy="2576558"/>
          </a:xfrm>
          <a:prstGeom prst="roundRect">
            <a:avLst>
              <a:gd name="adj" fmla="val 1442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7850" y="1472184"/>
            <a:ext cx="183885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ВТОРОЙ, НЕЗАВИСИМЫЙ</a:t>
            </a:r>
          </a:p>
        </p:txBody>
      </p:sp>
      <p:sp>
        <p:nvSpPr>
          <p:cNvPr id="10" name="TextBox 9"/>
          <p:cNvSpPr txBox="1"/>
          <p:nvPr/>
        </p:nvSpPr>
        <p:spPr>
          <a:xfrm>
            <a:off x="2917850" y="1932846"/>
            <a:ext cx="1838858"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можно ли верить имени?</a:t>
            </a:r>
          </a:p>
        </p:txBody>
      </p:sp>
      <p:sp>
        <p:nvSpPr>
          <p:cNvPr id="11" name="TextBox 10"/>
          <p:cNvSpPr txBox="1"/>
          <p:nvPr/>
        </p:nvSpPr>
        <p:spPr>
          <a:xfrm>
            <a:off x="2917850" y="3140692"/>
            <a:ext cx="183885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репутация как косвенное подтверждение качества</a:t>
            </a:r>
          </a:p>
        </p:txBody>
      </p:sp>
      <p:sp>
        <p:nvSpPr>
          <p:cNvPr id="12" name="Rounded Rectangle 11"/>
          <p:cNvSpPr/>
          <p:nvPr/>
        </p:nvSpPr>
        <p:spPr>
          <a:xfrm>
            <a:off x="5058460" y="1335024"/>
            <a:ext cx="2113178" cy="2576558"/>
          </a:xfrm>
          <a:prstGeom prst="roundRect">
            <a:avLst>
              <a:gd name="adj" fmla="val 1442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95620" y="1472184"/>
            <a:ext cx="183885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ВЫХОДИТ ИЗ РЕШЕНИЯ</a:t>
            </a:r>
          </a:p>
        </p:txBody>
      </p:sp>
      <p:sp>
        <p:nvSpPr>
          <p:cNvPr id="14" name="TextBox 13"/>
          <p:cNvSpPr txBox="1"/>
          <p:nvPr/>
        </p:nvSpPr>
        <p:spPr>
          <a:xfrm>
            <a:off x="5195620" y="1932846"/>
            <a:ext cx="183885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материал под именем</a:t>
            </a:r>
          </a:p>
        </p:txBody>
      </p:sp>
      <p:sp>
        <p:nvSpPr>
          <p:cNvPr id="15" name="TextBox 14"/>
          <p:cNvSpPr txBox="1"/>
          <p:nvPr/>
        </p:nvSpPr>
        <p:spPr>
          <a:xfrm>
            <a:off x="5195620" y="2750268"/>
            <a:ext cx="183885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институт ответственности, а не формальность</a:t>
            </a:r>
          </a:p>
        </p:txBody>
      </p:sp>
      <p:sp>
        <p:nvSpPr>
          <p:cNvPr id="16" name="TextBox 15"/>
          <p:cNvSpPr txBox="1"/>
          <p:nvPr/>
        </p:nvSpPr>
        <p:spPr>
          <a:xfrm>
            <a:off x="502920" y="413103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 материала</a:t>
            </a:r>
          </a:p>
        </p:txBody>
      </p:sp>
      <p:sp>
        <p:nvSpPr>
          <p:cNvPr id="17" name="Rounded Rectangle 16"/>
          <p:cNvSpPr/>
          <p:nvPr/>
        </p:nvSpPr>
        <p:spPr>
          <a:xfrm>
            <a:off x="1920240" y="4094462"/>
            <a:ext cx="11071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4140182"/>
            <a:ext cx="9425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черновик</a:t>
            </a:r>
          </a:p>
        </p:txBody>
      </p:sp>
      <p:sp>
        <p:nvSpPr>
          <p:cNvPr id="19" name="Right Arrow 18"/>
          <p:cNvSpPr/>
          <p:nvPr/>
        </p:nvSpPr>
        <p:spPr>
          <a:xfrm>
            <a:off x="3073069" y="446161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3301669" y="4094462"/>
            <a:ext cx="11071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3383965" y="4140182"/>
            <a:ext cx="9425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факты верны?</a:t>
            </a:r>
          </a:p>
        </p:txBody>
      </p:sp>
      <p:sp>
        <p:nvSpPr>
          <p:cNvPr id="22" name="Right Arrow 21"/>
          <p:cNvSpPr/>
          <p:nvPr/>
        </p:nvSpPr>
        <p:spPr>
          <a:xfrm>
            <a:off x="4454499" y="446161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683099" y="4094462"/>
            <a:ext cx="11071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765395" y="4140182"/>
            <a:ext cx="9425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имени можно верить?</a:t>
            </a:r>
          </a:p>
        </p:txBody>
      </p:sp>
      <p:sp>
        <p:nvSpPr>
          <p:cNvPr id="25" name="Right Arrow 24"/>
          <p:cNvSpPr/>
          <p:nvPr/>
        </p:nvSpPr>
        <p:spPr>
          <a:xfrm>
            <a:off x="5835929" y="4461619"/>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064529" y="4094462"/>
            <a:ext cx="11071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6146825" y="4140182"/>
            <a:ext cx="9425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публикация под именем</a:t>
            </a:r>
          </a:p>
        </p:txBody>
      </p:sp>
      <p:sp>
        <p:nvSpPr>
          <p:cNvPr id="28" name="TextBox 27"/>
          <p:cNvSpPr txBox="1"/>
          <p:nvPr/>
        </p:nvSpPr>
        <p:spPr>
          <a:xfrm>
            <a:off x="502920" y="5002512"/>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редактора короче, чем кажется, и длиннее, чем публикация</a:t>
            </a:r>
          </a:p>
        </p:txBody>
      </p:sp>
      <p:sp>
        <p:nvSpPr>
          <p:cNvPr id="29" name="Rounded Rectangle 28"/>
          <p:cNvSpPr/>
          <p:nvPr/>
        </p:nvSpPr>
        <p:spPr>
          <a:xfrm>
            <a:off x="374904" y="5541264"/>
            <a:ext cx="11441887"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632703"/>
            <a:ext cx="11112703" cy="6035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Редактор решает два разных вопроса, не один.</a:t>
            </a:r>
            <a:r>
              <a:rPr sz="1500" b="0" i="0">
                <a:solidFill>
                  <a:srgbClr val="21295C"/>
                </a:solidFill>
                <a:latin typeface="Arial"/>
              </a:rPr>
              <a:t> Решение стадии — не «публиковать или нет», а выходит ли материал под именем, которое несёт ответственность.</a:t>
            </a:r>
          </a:p>
        </p:txBody>
      </p:sp>
      <p:sp>
        <p:nvSpPr>
          <p:cNvPr id="31" name="Rounded Rectangle 30"/>
          <p:cNvSpPr/>
          <p:nvPr/>
        </p:nvSpPr>
        <p:spPr>
          <a:xfrm>
            <a:off x="7482535" y="1335024"/>
            <a:ext cx="4206240" cy="4206240"/>
          </a:xfrm>
          <a:prstGeom prst="roundRect">
            <a:avLst>
              <a:gd name="adj" fmla="val 7246"/>
            </a:avLst>
          </a:prstGeom>
          <a:solidFill>
            <a:srgbClr val="F4F7FA"/>
          </a:solidFill>
          <a:ln w="19050">
            <a:solidFill>
              <a:srgbClr val="1C7293"/>
            </a:solidFill>
          </a:ln>
          <a:effectLst/>
        </p:spPr>
        <p:txBody>
          <a:bodyPr rtlCol="0" anchor="ctr"/>
          <a:lstStyle/>
          <a:p>
            <a:pPr algn="ctr"/>
          </a:p>
        </p:txBody>
      </p:sp>
      <p:pic>
        <p:nvPicPr>
          <p:cNvPr id="32" name="Picture 31" descr="s21-factcheck-magnifying-glass-charts.jpg"/>
          <p:cNvPicPr>
            <a:picLocks noChangeAspect="1"/>
          </p:cNvPicPr>
          <p:nvPr/>
        </p:nvPicPr>
        <p:blipFill>
          <a:blip r:embed="rId2"/>
          <a:stretch>
            <a:fillRect/>
          </a:stretch>
        </p:blipFill>
        <p:spPr>
          <a:xfrm>
            <a:off x="7619695" y="1472184"/>
            <a:ext cx="3931920" cy="3931920"/>
          </a:xfrm>
          <a:prstGeom prst="rect">
            <a:avLst/>
          </a:prstGeom>
        </p:spPr>
      </p:pic>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способа проверки, разная цена</a:t>
            </a:r>
          </a:p>
        </p:txBody>
      </p:sp>
      <p:sp>
        <p:nvSpPr>
          <p:cNvPr id="4" name="Rounded Rectangle 3"/>
          <p:cNvSpPr/>
          <p:nvPr/>
        </p:nvSpPr>
        <p:spPr>
          <a:xfrm>
            <a:off x="502920" y="1335024"/>
            <a:ext cx="2082698" cy="2456791"/>
          </a:xfrm>
          <a:prstGeom prst="roundRect">
            <a:avLst>
              <a:gd name="adj" fmla="val 1463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ДЕШЕВЛЕ ВСЕГО: ЧИТКА</a:t>
            </a:r>
          </a:p>
        </p:txBody>
      </p:sp>
      <p:sp>
        <p:nvSpPr>
          <p:cNvPr id="6" name="TextBox 5"/>
          <p:cNvSpPr txBox="1"/>
          <p:nvPr/>
        </p:nvSpPr>
        <p:spPr>
          <a:xfrm>
            <a:off x="640080" y="1932846"/>
            <a:ext cx="180837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стиль и логика</a:t>
            </a:r>
          </a:p>
        </p:txBody>
      </p:sp>
      <p:sp>
        <p:nvSpPr>
          <p:cNvPr id="7" name="TextBox 6"/>
          <p:cNvSpPr txBox="1"/>
          <p:nvPr/>
        </p:nvSpPr>
        <p:spPr>
          <a:xfrm>
            <a:off x="640080" y="2750268"/>
            <a:ext cx="180837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применяется почти везде — не ловит факты</a:t>
            </a:r>
          </a:p>
        </p:txBody>
      </p:sp>
      <p:sp>
        <p:nvSpPr>
          <p:cNvPr id="8" name="Rounded Rectangle 7"/>
          <p:cNvSpPr/>
          <p:nvPr/>
        </p:nvSpPr>
        <p:spPr>
          <a:xfrm>
            <a:off x="2750210" y="1335024"/>
            <a:ext cx="2082698" cy="2456791"/>
          </a:xfrm>
          <a:prstGeom prst="roundRect">
            <a:avLst>
              <a:gd name="adj" fmla="val 1463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88737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ДОРОЖЕ ВСЕГО: ФАКТЧЕКИНГ</a:t>
            </a:r>
          </a:p>
        </p:txBody>
      </p:sp>
      <p:sp>
        <p:nvSpPr>
          <p:cNvPr id="10" name="TextBox 9"/>
          <p:cNvSpPr txBox="1"/>
          <p:nvPr/>
        </p:nvSpPr>
        <p:spPr>
          <a:xfrm>
            <a:off x="2887370" y="1932846"/>
            <a:ext cx="1808378"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отдельный труд на статью</a:t>
            </a:r>
          </a:p>
        </p:txBody>
      </p:sp>
      <p:sp>
        <p:nvSpPr>
          <p:cNvPr id="11" name="TextBox 10"/>
          <p:cNvSpPr txBox="1"/>
          <p:nvPr/>
        </p:nvSpPr>
        <p:spPr>
          <a:xfrm>
            <a:off x="2887370" y="3140692"/>
            <a:ext cx="180837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первое, что сокращают при экономии</a:t>
            </a:r>
          </a:p>
        </p:txBody>
      </p:sp>
      <p:sp>
        <p:nvSpPr>
          <p:cNvPr id="12" name="Rounded Rectangle 11"/>
          <p:cNvSpPr/>
          <p:nvPr/>
        </p:nvSpPr>
        <p:spPr>
          <a:xfrm>
            <a:off x="4997500" y="1335024"/>
            <a:ext cx="2082698" cy="2456791"/>
          </a:xfrm>
          <a:prstGeom prst="roundRect">
            <a:avLst>
              <a:gd name="adj" fmla="val 1463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3466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ИМЕНОВАННЫЙ АВТОР</a:t>
            </a:r>
          </a:p>
        </p:txBody>
      </p:sp>
      <p:sp>
        <p:nvSpPr>
          <p:cNvPr id="14" name="TextBox 13"/>
          <p:cNvSpPr txBox="1"/>
          <p:nvPr/>
        </p:nvSpPr>
        <p:spPr>
          <a:xfrm>
            <a:off x="5134660" y="1932846"/>
            <a:ext cx="180837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самый дешёвый контроль из всех</a:t>
            </a:r>
          </a:p>
        </p:txBody>
      </p:sp>
      <p:sp>
        <p:nvSpPr>
          <p:cNvPr id="15" name="TextBox 14"/>
          <p:cNvSpPr txBox="1"/>
          <p:nvPr/>
        </p:nvSpPr>
        <p:spPr>
          <a:xfrm>
            <a:off x="5134660" y="2809681"/>
            <a:ext cx="18083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держится на репутации, построенной годами — не на проверке сейчас</a:t>
            </a:r>
          </a:p>
        </p:txBody>
      </p:sp>
      <p:sp>
        <p:nvSpPr>
          <p:cNvPr id="16" name="TextBox 15"/>
          <p:cNvSpPr txBox="1"/>
          <p:nvPr/>
        </p:nvSpPr>
        <p:spPr>
          <a:xfrm>
            <a:off x="502920" y="4011271"/>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проверяют</a:t>
            </a:r>
          </a:p>
        </p:txBody>
      </p:sp>
      <p:sp>
        <p:nvSpPr>
          <p:cNvPr id="17" name="Rounded Rectangle 16"/>
          <p:cNvSpPr/>
          <p:nvPr/>
        </p:nvSpPr>
        <p:spPr>
          <a:xfrm>
            <a:off x="1920240" y="3974695"/>
            <a:ext cx="1180261"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4020415"/>
            <a:ext cx="1015669"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стиль и логика (читка)</a:t>
            </a:r>
          </a:p>
        </p:txBody>
      </p:sp>
      <p:sp>
        <p:nvSpPr>
          <p:cNvPr id="19" name="Rounded Rectangle 18"/>
          <p:cNvSpPr/>
          <p:nvPr/>
        </p:nvSpPr>
        <p:spPr>
          <a:xfrm>
            <a:off x="3246805" y="3974695"/>
            <a:ext cx="1180261"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3329101" y="4020415"/>
            <a:ext cx="1015669"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факты (фактчекинг)</a:t>
            </a:r>
          </a:p>
        </p:txBody>
      </p:sp>
      <p:sp>
        <p:nvSpPr>
          <p:cNvPr id="21" name="Rounded Rectangle 20"/>
          <p:cNvSpPr/>
          <p:nvPr/>
        </p:nvSpPr>
        <p:spPr>
          <a:xfrm>
            <a:off x="4573371" y="3974695"/>
            <a:ext cx="1180261"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4655667" y="4020415"/>
            <a:ext cx="1015669"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имя и история автора</a:t>
            </a:r>
          </a:p>
        </p:txBody>
      </p:sp>
      <p:sp>
        <p:nvSpPr>
          <p:cNvPr id="23" name="Rounded Rectangle 22"/>
          <p:cNvSpPr/>
          <p:nvPr/>
        </p:nvSpPr>
        <p:spPr>
          <a:xfrm>
            <a:off x="5899937" y="3974695"/>
            <a:ext cx="1180261"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5982233" y="4020415"/>
            <a:ext cx="1015669"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лицензия материала</a:t>
            </a:r>
          </a:p>
        </p:txBody>
      </p:sp>
      <p:sp>
        <p:nvSpPr>
          <p:cNvPr id="25" name="TextBox 24"/>
          <p:cNvSpPr txBox="1"/>
          <p:nvPr/>
        </p:nvSpPr>
        <p:spPr>
          <a:xfrm>
            <a:off x="502920" y="4882745"/>
            <a:ext cx="657727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способа ловят разные классы ошибок и разные пропускают</a:t>
            </a:r>
          </a:p>
        </p:txBody>
      </p:sp>
      <p:sp>
        <p:nvSpPr>
          <p:cNvPr id="26" name="Rounded Rectangle 25"/>
          <p:cNvSpPr/>
          <p:nvPr/>
        </p:nvSpPr>
        <p:spPr>
          <a:xfrm>
            <a:off x="374904" y="518542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276868"/>
            <a:ext cx="11112703" cy="9593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способа, и каждый ловит свой класс ошибок — не взаимозаменяемы.</a:t>
            </a:r>
            <a:r>
              <a:rPr sz="1500" b="0" i="0">
                <a:solidFill>
                  <a:srgbClr val="21295C"/>
                </a:solidFill>
                <a:latin typeface="Arial"/>
              </a:rPr>
              <a:t> Именованный автор — самый дешёвый контроль качества из всех: держится на репутации, а не на проверке в моменте.</a:t>
            </a:r>
          </a:p>
        </p:txBody>
      </p:sp>
      <p:sp>
        <p:nvSpPr>
          <p:cNvPr id="28" name="Rounded Rectangle 27"/>
          <p:cNvSpPr/>
          <p:nvPr/>
        </p:nvSpPr>
        <p:spPr>
          <a:xfrm>
            <a:off x="7391095" y="1335024"/>
            <a:ext cx="4297680" cy="2957398"/>
          </a:xfrm>
          <a:prstGeom prst="roundRect">
            <a:avLst>
              <a:gd name="adj" fmla="val 10306"/>
            </a:avLst>
          </a:prstGeom>
          <a:solidFill>
            <a:srgbClr val="F4F7FA"/>
          </a:solidFill>
          <a:ln w="19050">
            <a:solidFill>
              <a:srgbClr val="1C7293"/>
            </a:solidFill>
          </a:ln>
          <a:effectLst/>
        </p:spPr>
        <p:txBody>
          <a:bodyPr rtlCol="0" anchor="ctr"/>
          <a:lstStyle/>
          <a:p>
            <a:pPr algn="ctr"/>
          </a:p>
        </p:txBody>
      </p:sp>
      <p:pic>
        <p:nvPicPr>
          <p:cNvPr id="29" name="Picture 28" descr="s22-factcheck-magnifying-glass-document.jpg"/>
          <p:cNvPicPr>
            <a:picLocks noChangeAspect="1"/>
          </p:cNvPicPr>
          <p:nvPr/>
        </p:nvPicPr>
        <p:blipFill>
          <a:blip r:embed="rId2"/>
          <a:stretch>
            <a:fillRect/>
          </a:stretch>
        </p:blipFill>
        <p:spPr>
          <a:xfrm>
            <a:off x="7528255" y="1472184"/>
            <a:ext cx="4023360" cy="2683078"/>
          </a:xfrm>
          <a:prstGeom prst="rect">
            <a:avLst/>
          </a:prstGeom>
        </p:spPr>
      </p:pic>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Текстовый детектор: ноль надёжных — даже у автора модели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ЗАПУЩЕН → ЗАКРЫТ</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 2023 → 20.07.2023</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«из-за низкой точности» — официальная формулировка OpenAI</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ВЕРНО ОПРЕДЕЛЯЛ AI-ТЕКСТ</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(TPR)</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четверти реального AI-текста пропускал</a:t>
            </a:r>
          </a:p>
        </p:txBody>
      </p:sp>
      <p:sp>
        <p:nvSpPr>
          <p:cNvPr id="12" name="Rounded Rectangle 11"/>
          <p:cNvSpPr/>
          <p:nvPr/>
        </p:nvSpPr>
        <p:spPr>
          <a:xfrm>
            <a:off x="502920" y="2665369"/>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ЛОЖНО ПОМЕЧАЛ ЧЕЛОВЕЧЕСКИЙ ТЕКСТ</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(FPR)</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смещение против неносителей английского</a:t>
            </a:r>
          </a:p>
        </p:txBody>
      </p:sp>
      <p:sp>
        <p:nvSpPr>
          <p:cNvPr id="16" name="Rounded Rectangle 15"/>
          <p:cNvSpPr/>
          <p:nvPr/>
        </p:nvSpPr>
        <p:spPr>
          <a:xfrm>
            <a:off x="6178143" y="2665369"/>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ПЯТОГО СПОСОБА ПРОВЕРКИ НЕТ</a:t>
            </a:r>
          </a:p>
        </p:txBody>
      </p:sp>
      <p:sp>
        <p:nvSpPr>
          <p:cNvPr id="18" name="TextBox 17"/>
          <p:cNvSpPr txBox="1"/>
          <p:nvPr/>
        </p:nvSpPr>
        <p:spPr>
          <a:xfrm>
            <a:off x="6315303" y="3055721"/>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CNET раскрыли журналисты, не детектор</a:t>
            </a:r>
          </a:p>
        </p:txBody>
      </p:sp>
      <p:sp>
        <p:nvSpPr>
          <p:cNvPr id="19" name="TextBox 18"/>
          <p:cNvSpPr txBox="1"/>
          <p:nvPr/>
        </p:nvSpPr>
        <p:spPr>
          <a:xfrm>
            <a:off x="6315303" y="3873143"/>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мост к s37 — четыре способа без модели</a:t>
            </a:r>
          </a:p>
        </p:txBody>
      </p:sp>
      <p:sp>
        <p:nvSpPr>
          <p:cNvPr id="20" name="Rounded Rectangle 19"/>
          <p:cNvSpPr/>
          <p:nvPr/>
        </p:nvSpPr>
        <p:spPr>
          <a:xfrm>
            <a:off x="374904" y="4312987"/>
            <a:ext cx="11441887" cy="1923220"/>
          </a:xfrm>
          <a:prstGeom prst="roundRect">
            <a:avLst>
              <a:gd name="adj" fmla="val 1584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404427"/>
            <a:ext cx="5373471" cy="1831780"/>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OpenAI закрыла собственный текстовый детектор 20 июля 2023 года «из-за низкой точности».</a:t>
            </a:r>
            <a:r>
              <a:rPr sz="1350" b="0" i="0">
                <a:solidFill>
                  <a:srgbClr val="21295C"/>
                </a:solidFill>
                <a:latin typeface="Arial"/>
              </a:rPr>
              <a:t> Верно определял как AI-написанный лишь </a:t>
            </a:r>
            <a:r>
              <a:rPr sz="1350" b="1" i="0">
                <a:solidFill>
                  <a:srgbClr val="21295C"/>
                </a:solidFill>
                <a:latin typeface="Arial"/>
              </a:rPr>
              <a:t>26%</a:t>
            </a:r>
            <a:r>
              <a:rPr sz="1350" b="0" i="0">
                <a:solidFill>
                  <a:srgbClr val="21295C"/>
                </a:solidFill>
                <a:latin typeface="Arial"/>
              </a:rPr>
              <a:t> реального AI-текста; </a:t>
            </a:r>
            <a:r>
              <a:rPr sz="1350" b="1" i="0">
                <a:solidFill>
                  <a:srgbClr val="21295C"/>
                </a:solidFill>
                <a:latin typeface="Arial"/>
              </a:rPr>
              <a:t>9%</a:t>
            </a:r>
            <a:r>
              <a:rPr sz="1350" b="0" i="0">
                <a:solidFill>
                  <a:srgbClr val="21295C"/>
                </a:solidFill>
                <a:latin typeface="Arial"/>
              </a:rPr>
              <a:t> человеческого текста ошибочно помечал как AI.</a:t>
            </a:r>
          </a:p>
        </p:txBody>
      </p:sp>
      <p:sp>
        <p:nvSpPr>
          <p:cNvPr id="22" name="TextBox 21"/>
          <p:cNvSpPr txBox="1"/>
          <p:nvPr/>
        </p:nvSpPr>
        <p:spPr>
          <a:xfrm>
            <a:off x="6278727" y="4404427"/>
            <a:ext cx="5373471" cy="1831780"/>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Автор одной из лучших на тот момент языковых моделей не смог построить её надёжный детектор</a:t>
            </a:r>
            <a:r>
              <a:rPr sz="1350" b="0" i="0">
                <a:solidFill>
                  <a:srgbClr val="21295C"/>
                </a:solidFill>
                <a:latin typeface="Arial"/>
              </a:rPr>
              <a:t> — и честно это признал, закрыв инструмент, а не продолжая выдавать его за рабочий.</a:t>
            </a:r>
          </a:p>
          <a:p>
            <a:pPr algn="l">
              <a:lnSpc>
                <a:spcPct val="126000"/>
              </a:lnSpc>
              <a:spcBef>
                <a:spcPts val="700"/>
              </a:spcBef>
            </a:pPr>
            <a:r>
              <a:rPr sz="1350" b="0" i="0">
                <a:solidFill>
                  <a:srgbClr val="21295C"/>
                </a:solidFill>
                <a:latin typeface="Arial"/>
              </a:rPr>
              <a:t/>
            </a:r>
            <a:r>
              <a:rPr sz="1350" b="1" i="0">
                <a:solidFill>
                  <a:srgbClr val="21295C"/>
                </a:solidFill>
                <a:latin typeface="Arial"/>
              </a:rPr>
              <a:t>Четырём способам проверки без модели (предыдущий кадр) пятый, модельный, не добавляется.</a:t>
            </a:r>
            <a:r>
              <a:rPr sz="1350" b="0" i="0">
                <a:solidFill>
                  <a:srgbClr val="21295C"/>
                </a:solidFill>
                <a:latin typeface="Arial"/>
              </a:rPr>
              <a:t> CNET раскрыли независимые журналисты, не детектор.</a:t>
            </a:r>
          </a:p>
        </p:txBody>
      </p:sp>
      <p:sp>
        <p:nvSpPr>
          <p:cNvPr id="23" name="Rectangle 22"/>
          <p:cNvSpPr/>
          <p:nvPr/>
        </p:nvSpPr>
        <p:spPr>
          <a:xfrm>
            <a:off x="6091275" y="4404427"/>
            <a:ext cx="9144" cy="169303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OpenAI (2023), «New AI classifier for indicating AI-written text»; подтверждено прямой проверкой, rework/research/06-recognition-models-verification.md, пункт 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CNET — цена ошибки, 53% AI-статей потребовали исправления</a:t>
            </a:r>
          </a:p>
        </p:txBody>
      </p:sp>
      <p:sp>
        <p:nvSpPr>
          <p:cNvPr id="4" name="Rounded Rectangle 3"/>
          <p:cNvSpPr/>
          <p:nvPr/>
        </p:nvSpPr>
        <p:spPr>
          <a:xfrm>
            <a:off x="502920" y="1335024"/>
            <a:ext cx="1747418" cy="2980184"/>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ПОТРЕБОВАЛИ ИСПРАВЛЕНИЯ</a:t>
            </a:r>
          </a:p>
        </p:txBody>
      </p:sp>
      <p:sp>
        <p:nvSpPr>
          <p:cNvPr id="6" name="TextBox 5"/>
          <p:cNvSpPr txBox="1"/>
          <p:nvPr/>
        </p:nvSpPr>
        <p:spPr>
          <a:xfrm>
            <a:off x="640080" y="1932846"/>
            <a:ext cx="14730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41 из 77 статей</a:t>
            </a:r>
          </a:p>
        </p:txBody>
      </p:sp>
      <p:sp>
        <p:nvSpPr>
          <p:cNvPr id="7" name="TextBox 6"/>
          <p:cNvSpPr txBox="1"/>
          <p:nvPr/>
        </p:nvSpPr>
        <p:spPr>
          <a:xfrm>
            <a:off x="640080" y="2750268"/>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53%, после публичного раскрытия AI-авторства</a:t>
            </a:r>
          </a:p>
        </p:txBody>
      </p:sp>
      <p:sp>
        <p:nvSpPr>
          <p:cNvPr id="8" name="Rounded Rectangle 7"/>
          <p:cNvSpPr/>
          <p:nvPr/>
        </p:nvSpPr>
        <p:spPr>
          <a:xfrm>
            <a:off x="2414930" y="1335024"/>
            <a:ext cx="1747418" cy="298018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ОБНАРУЖИЛ НЕ РЕДАКТОР, А СТОРОННИЙ НАБЛЮДАТЕЛЬ</a:t>
            </a:r>
          </a:p>
        </p:txBody>
      </p:sp>
      <p:sp>
        <p:nvSpPr>
          <p:cNvPr id="10" name="TextBox 9"/>
          <p:cNvSpPr txBox="1"/>
          <p:nvPr/>
        </p:nvSpPr>
        <p:spPr>
          <a:xfrm>
            <a:off x="2552090" y="2347789"/>
            <a:ext cx="1473098"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расследование Futurism</a:t>
            </a:r>
          </a:p>
        </p:txBody>
      </p:sp>
      <p:sp>
        <p:nvSpPr>
          <p:cNvPr id="11" name="TextBox 10"/>
          <p:cNvSpPr txBox="1"/>
          <p:nvPr/>
        </p:nvSpPr>
        <p:spPr>
          <a:xfrm>
            <a:off x="2552090" y="2876637"/>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необычная коллективная подпись без разыскиваемого человека</a:t>
            </a:r>
          </a:p>
        </p:txBody>
      </p:sp>
      <p:sp>
        <p:nvSpPr>
          <p:cNvPr id="12" name="Rounded Rectangle 11"/>
          <p:cNvSpPr/>
          <p:nvPr/>
        </p:nvSpPr>
        <p:spPr>
          <a:xfrm>
            <a:off x="4326940" y="1335024"/>
            <a:ext cx="1747418" cy="298018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БАЗОВЫЙ УРОВЕНЬ КЛАССИЧЕСКОЙ ЖУРНАЛИСТИКИ</a:t>
            </a:r>
          </a:p>
        </p:txBody>
      </p:sp>
      <p:sp>
        <p:nvSpPr>
          <p:cNvPr id="14" name="TextBox 13"/>
          <p:cNvSpPr txBox="1"/>
          <p:nvPr/>
        </p:nvSpPr>
        <p:spPr>
          <a:xfrm>
            <a:off x="446410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40–61% статей с ошибкой</a:t>
            </a:r>
          </a:p>
        </p:txBody>
      </p:sp>
      <p:sp>
        <p:nvSpPr>
          <p:cNvPr id="15" name="TextBox 14"/>
          <p:cNvSpPr txBox="1"/>
          <p:nvPr/>
        </p:nvSpPr>
        <p:spPr>
          <a:xfrm>
            <a:off x="4464100" y="2910587"/>
            <a:ext cx="1473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графа (б) — другая выборка и методология, не строгое сопоставление</a:t>
            </a:r>
          </a:p>
        </p:txBody>
      </p:sp>
      <p:sp>
        <p:nvSpPr>
          <p:cNvPr id="16" name="Rounded Rectangle 15"/>
          <p:cNvSpPr/>
          <p:nvPr/>
        </p:nvSpPr>
        <p:spPr>
          <a:xfrm>
            <a:off x="374904" y="5381244"/>
            <a:ext cx="11441887" cy="8549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472683"/>
            <a:ext cx="11112703" cy="7635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CNET публиковало финансово-объяснительные статьи под коллективной подписью «CNET Money Staff», написанные внутренним AI-движком, не раскрывая это читателю.</a:t>
            </a:r>
            <a:r>
              <a:rPr sz="1500" b="0" i="0">
                <a:solidFill>
                  <a:srgbClr val="21295C"/>
                </a:solidFill>
                <a:latin typeface="Arial"/>
              </a:rPr>
              <a:t> Обнаружило не редакция, а расследование Futurism.</a:t>
            </a:r>
          </a:p>
        </p:txBody>
      </p:sp>
      <p:sp>
        <p:nvSpPr>
          <p:cNvPr id="18" name="Rounded Rectangle 17"/>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19" name="Picture 18" descr="s24-cnet-compound-interest-disclosure.png"/>
          <p:cNvPicPr>
            <a:picLocks noChangeAspect="1"/>
          </p:cNvPicPr>
          <p:nvPr/>
        </p:nvPicPr>
        <p:blipFill>
          <a:blip r:embed="rId2"/>
          <a:stretch>
            <a:fillRect/>
          </a:stretch>
        </p:blipFill>
        <p:spPr>
          <a:xfrm>
            <a:off x="6522415" y="1472184"/>
            <a:ext cx="5029200" cy="377190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CNET/Futurism 2023</a:t>
            </a:r>
            <a:r>
              <a:rPr sz="1200" b="0" i="1">
                <a:solidFill>
                  <a:srgbClr val="1C7293"/>
                </a:solidFill>
                <a:latin typeface="Arial"/>
              </a:rPr>
              <a:t> · </a:t>
            </a:r>
            <a:r>
              <a:rPr sz="1200" b="0" i="1" u="sng">
                <a:solidFill>
                  <a:srgbClr val="065A82"/>
                </a:solidFill>
                <a:latin typeface="Arial"/>
                <a:hlinkClick r:id="rId3"/>
              </a:rPr>
              <a:t>Predictive Analytics World 2023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CNET: ошибок не больше, чем у людей, — скандалом стало сокрытие авторства</a:t>
            </a:r>
          </a:p>
        </p:txBody>
      </p:sp>
      <p:sp>
        <p:nvSpPr>
          <p:cNvPr id="4" name="Rounded Rectangle 3"/>
          <p:cNvSpPr/>
          <p:nvPr/>
        </p:nvSpPr>
        <p:spPr>
          <a:xfrm>
            <a:off x="502920" y="1335024"/>
            <a:ext cx="3618890" cy="1917365"/>
          </a:xfrm>
          <a:prstGeom prst="roundRect">
            <a:avLst>
              <a:gd name="adj" fmla="val 1589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53% И 40–61% — ОДИН ПОРЯДОК</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AI не ошибается чаще</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частота ошибок сопоставима с отраслевой нормой</a:t>
            </a:r>
          </a:p>
        </p:txBody>
      </p:sp>
      <p:sp>
        <p:nvSpPr>
          <p:cNvPr id="8" name="Rounded Rectangle 7"/>
          <p:cNvSpPr/>
          <p:nvPr/>
        </p:nvSpPr>
        <p:spPr>
          <a:xfrm>
            <a:off x="4286402" y="1335024"/>
            <a:ext cx="3618890" cy="1917365"/>
          </a:xfrm>
          <a:prstGeom prst="roundRect">
            <a:avLst>
              <a:gd name="adj" fmla="val 1589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РАСКРЫТИЕ ВЫЗЫВАЕТ, А ЧАСТОТА ОШИБОК — НЕТ</a:t>
            </a:r>
          </a:p>
        </p:txBody>
      </p:sp>
      <p:sp>
        <p:nvSpPr>
          <p:cNvPr id="10" name="TextBox 9"/>
          <p:cNvSpPr txBox="1"/>
          <p:nvPr/>
        </p:nvSpPr>
        <p:spPr>
          <a:xfrm>
            <a:off x="4423562" y="1932846"/>
            <a:ext cx="3344570" cy="1182383"/>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ревизия → публичные исправления → кадровые решения</a:t>
            </a:r>
          </a:p>
        </p:txBody>
      </p:sp>
      <p:sp>
        <p:nvSpPr>
          <p:cNvPr id="11" name="Rounded Rectangle 10"/>
          <p:cNvSpPr/>
          <p:nvPr/>
        </p:nvSpPr>
        <p:spPr>
          <a:xfrm>
            <a:off x="8069884" y="1335024"/>
            <a:ext cx="3618890" cy="1917365"/>
          </a:xfrm>
          <a:prstGeom prst="roundRect">
            <a:avLst>
              <a:gd name="adj" fmla="val 15896"/>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АРХИТЕКТУРА И ВЕНДОР ДВИЖКА</a:t>
            </a:r>
          </a:p>
        </p:txBody>
      </p:sp>
      <p:sp>
        <p:nvSpPr>
          <p:cNvPr id="13" name="TextBox 12"/>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раскрыты ни разу</a:t>
            </a:r>
          </a:p>
        </p:txBody>
      </p:sp>
      <p:sp>
        <p:nvSpPr>
          <p:cNvPr id="14" name="TextBox 13"/>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«внутренне разработанный инструмент» — без версии, без названия</a:t>
            </a:r>
          </a:p>
        </p:txBody>
      </p:sp>
      <p:sp>
        <p:nvSpPr>
          <p:cNvPr id="15" name="TextBox 14"/>
          <p:cNvSpPr txBox="1"/>
          <p:nvPr/>
        </p:nvSpPr>
        <p:spPr>
          <a:xfrm>
            <a:off x="502920" y="34718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CNET Money Staff</a:t>
            </a:r>
          </a:p>
        </p:txBody>
      </p:sp>
      <p:sp>
        <p:nvSpPr>
          <p:cNvPr id="16" name="Rounded Rectangle 15"/>
          <p:cNvSpPr/>
          <p:nvPr/>
        </p:nvSpPr>
        <p:spPr>
          <a:xfrm>
            <a:off x="1920240" y="34352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4809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шаблонная финансовая тема</a:t>
            </a:r>
          </a:p>
        </p:txBody>
      </p:sp>
      <p:sp>
        <p:nvSpPr>
          <p:cNvPr id="18" name="Right Arrow 17"/>
          <p:cNvSpPr/>
          <p:nvPr/>
        </p:nvSpPr>
        <p:spPr>
          <a:xfrm>
            <a:off x="4202353" y="3723210"/>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4430953" y="3435269"/>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0" name="TextBox 19"/>
          <p:cNvSpPr txBox="1"/>
          <p:nvPr/>
        </p:nvSpPr>
        <p:spPr>
          <a:xfrm>
            <a:off x="4513249" y="3480989"/>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внутренний AI-движок, не раскрыт</a:t>
            </a:r>
          </a:p>
        </p:txBody>
      </p:sp>
      <p:sp>
        <p:nvSpPr>
          <p:cNvPr id="21" name="Right Arrow 20"/>
          <p:cNvSpPr/>
          <p:nvPr/>
        </p:nvSpPr>
        <p:spPr>
          <a:xfrm>
            <a:off x="6713067" y="3723210"/>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4352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4809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статья</a:t>
            </a:r>
          </a:p>
        </p:txBody>
      </p:sp>
      <p:sp>
        <p:nvSpPr>
          <p:cNvPr id="24" name="Right Arrow 23"/>
          <p:cNvSpPr/>
          <p:nvPr/>
        </p:nvSpPr>
        <p:spPr>
          <a:xfrm>
            <a:off x="9223781" y="3723210"/>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9452381" y="34352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9534677" y="34809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коллективная подпись</a:t>
            </a:r>
          </a:p>
        </p:txBody>
      </p:sp>
      <p:sp>
        <p:nvSpPr>
          <p:cNvPr id="27" name="TextBox 26"/>
          <p:cNvSpPr txBox="1"/>
          <p:nvPr/>
        </p:nvSpPr>
        <p:spPr>
          <a:xfrm>
            <a:off x="502920" y="41848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Вход и выход устройства, которое индустрия так и не увидела</a:t>
            </a:r>
          </a:p>
        </p:txBody>
      </p:sp>
      <p:sp>
        <p:nvSpPr>
          <p:cNvPr id="28" name="Rounded Rectangle 27"/>
          <p:cNvSpPr/>
          <p:nvPr/>
        </p:nvSpPr>
        <p:spPr>
          <a:xfrm>
            <a:off x="374904" y="4487571"/>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4579011"/>
            <a:ext cx="11112703" cy="16571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отнестись к числам буквально: 53% и 40–61% — одного порядка.</a:t>
            </a:r>
            <a:r>
              <a:rPr sz="1500" b="0" i="0">
                <a:solidFill>
                  <a:srgbClr val="21295C"/>
                </a:solidFill>
                <a:latin typeface="Arial"/>
              </a:rPr>
              <a:t> Разница не в том, что модель хуже справляется с фактами, а в том, что раскрытие AI-авторства вызвало реакцию, которую та же частота ошибок у штатного журналиста почти никогда не вызывает.</a:t>
            </a:r>
          </a:p>
        </p:txBody>
      </p:sp>
      <p:sp>
        <p:nvSpPr>
          <p:cNvPr id="30" name="Rectangle 2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CNET/Futurism 2023</a:t>
            </a:r>
            <a:r>
              <a:rPr sz="1200" b="0" i="1">
                <a:solidFill>
                  <a:srgbClr val="1C7293"/>
                </a:solidFill>
                <a:latin typeface="Arial"/>
              </a:rPr>
              <a:t> · </a:t>
            </a:r>
            <a:r>
              <a:rPr sz="1200" b="0" i="1">
                <a:solidFill>
                  <a:srgbClr val="1C7293"/>
                </a:solidFill>
                <a:latin typeface="Arial"/>
              </a:rPr>
              <a:t>заявления CNET для прессы 2023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CNET, что переехало: увольнения и подорванное доверие</a:t>
            </a:r>
          </a:p>
        </p:txBody>
      </p:sp>
      <p:sp>
        <p:nvSpPr>
          <p:cNvPr id="4" name="Rounded Rectangle 3"/>
          <p:cNvSpPr/>
          <p:nvPr/>
        </p:nvSpPr>
        <p:spPr>
          <a:xfrm>
            <a:off x="502920" y="1335024"/>
            <a:ext cx="2082698" cy="2605793"/>
          </a:xfrm>
          <a:prstGeom prst="roundRect">
            <a:avLst>
              <a:gd name="adj" fmla="val 1463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УВОЛЕНО В ТЕЧЕНИЕ НЕДЕЛЬ</a:t>
            </a:r>
          </a:p>
        </p:txBody>
      </p:sp>
      <p:sp>
        <p:nvSpPr>
          <p:cNvPr id="6" name="TextBox 5"/>
          <p:cNvSpPr txBox="1"/>
          <p:nvPr/>
        </p:nvSpPr>
        <p:spPr>
          <a:xfrm>
            <a:off x="640080" y="1932846"/>
            <a:ext cx="180837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штата</a:t>
            </a:r>
          </a:p>
        </p:txBody>
      </p:sp>
      <p:sp>
        <p:nvSpPr>
          <p:cNvPr id="7" name="TextBox 6"/>
          <p:cNvSpPr txBox="1"/>
          <p:nvPr/>
        </p:nvSpPr>
        <p:spPr>
          <a:xfrm>
            <a:off x="640080" y="2359845"/>
            <a:ext cx="18083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прямая причинно-следственная связь с AI-скандалом официально не признана</a:t>
            </a:r>
          </a:p>
        </p:txBody>
      </p:sp>
      <p:sp>
        <p:nvSpPr>
          <p:cNvPr id="8" name="Rounded Rectangle 7"/>
          <p:cNvSpPr/>
          <p:nvPr/>
        </p:nvSpPr>
        <p:spPr>
          <a:xfrm>
            <a:off x="2750210" y="1335024"/>
            <a:ext cx="2082698" cy="2605793"/>
          </a:xfrm>
          <a:prstGeom prst="roundRect">
            <a:avLst>
              <a:gd name="adj" fmla="val 1463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887370" y="1472184"/>
            <a:ext cx="18083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ПОДОРВАНО, НЕ ИЗМЕРЕНО ЧИСЛОМ</a:t>
            </a:r>
          </a:p>
        </p:txBody>
      </p:sp>
      <p:sp>
        <p:nvSpPr>
          <p:cNvPr id="10" name="TextBox 9"/>
          <p:cNvSpPr txBox="1"/>
          <p:nvPr/>
        </p:nvSpPr>
        <p:spPr>
          <a:xfrm>
            <a:off x="2887370" y="1932846"/>
            <a:ext cx="1808378"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доверие к «именованному автору» как институту</a:t>
            </a:r>
          </a:p>
        </p:txBody>
      </p:sp>
      <p:sp>
        <p:nvSpPr>
          <p:cNvPr id="11" name="Rounded Rectangle 10"/>
          <p:cNvSpPr/>
          <p:nvPr/>
        </p:nvSpPr>
        <p:spPr>
          <a:xfrm>
            <a:off x="4997500" y="1335024"/>
            <a:ext cx="2082698" cy="2605793"/>
          </a:xfrm>
          <a:prstGeom prst="roundRect">
            <a:avLst>
              <a:gd name="adj" fmla="val 1463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5134660" y="1472184"/>
            <a:ext cx="180837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КАКОЙ СПОСОБ, СКОРЕЕ ВСЕГО, БЫЛ ПРОПУЩЕН</a:t>
            </a:r>
          </a:p>
        </p:txBody>
      </p:sp>
      <p:sp>
        <p:nvSpPr>
          <p:cNvPr id="13" name="TextBox 12"/>
          <p:cNvSpPr txBox="1"/>
          <p:nvPr/>
        </p:nvSpPr>
        <p:spPr>
          <a:xfrm>
            <a:off x="5134660" y="2140317"/>
            <a:ext cx="1808378" cy="1029608"/>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фактчекинг — независимый пересчёт</a:t>
            </a:r>
          </a:p>
        </p:txBody>
      </p:sp>
      <p:sp>
        <p:nvSpPr>
          <p:cNvPr id="14" name="TextBox 13"/>
          <p:cNvSpPr txBox="1"/>
          <p:nvPr/>
        </p:nvSpPr>
        <p:spPr>
          <a:xfrm>
            <a:off x="5134660" y="3169926"/>
            <a:ext cx="180837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читка применялась, подписи не было, значит пропуск здесь</a:t>
            </a:r>
          </a:p>
        </p:txBody>
      </p:sp>
      <p:sp>
        <p:nvSpPr>
          <p:cNvPr id="15" name="Rounded Rectangle 14"/>
          <p:cNvSpPr/>
          <p:nvPr/>
        </p:nvSpPr>
        <p:spPr>
          <a:xfrm>
            <a:off x="374904" y="4292422"/>
            <a:ext cx="11441887" cy="1943785"/>
          </a:xfrm>
          <a:prstGeom prst="roundRect">
            <a:avLst>
              <a:gd name="adj" fmla="val 15680"/>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4383862"/>
            <a:ext cx="11112703" cy="185234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CNET уволило ≈10% штата в течение недель после скандала</a:t>
            </a:r>
            <a:r>
              <a:rPr sz="1500" b="0" i="0">
                <a:solidFill>
                  <a:srgbClr val="21295C"/>
                </a:solidFill>
                <a:latin typeface="Arial"/>
              </a:rPr>
              <a:t> — связь с AI-историей официально не признана. </a:t>
            </a:r>
            <a:r>
              <a:rPr sz="1500" b="1" i="0">
                <a:solidFill>
                  <a:srgbClr val="21295C"/>
                </a:solidFill>
                <a:latin typeface="Arial"/>
              </a:rPr>
              <a:t>Какой способ проверки пропущен?</a:t>
            </a:r>
            <a:r>
              <a:rPr sz="1500" b="0" i="0">
                <a:solidFill>
                  <a:srgbClr val="21295C"/>
                </a:solidFill>
                <a:latin typeface="Arial"/>
              </a:rPr>
              <a:t> Не читка и не сверка подписи — фактчекинг: независимый пересчёт сам решил бы проблему.</a:t>
            </a:r>
          </a:p>
        </p:txBody>
      </p:sp>
      <p:sp>
        <p:nvSpPr>
          <p:cNvPr id="17" name="Rounded Rectangle 16"/>
          <p:cNvSpPr/>
          <p:nvPr/>
        </p:nvSpPr>
        <p:spPr>
          <a:xfrm>
            <a:off x="7391095" y="1335024"/>
            <a:ext cx="4297680" cy="2957398"/>
          </a:xfrm>
          <a:prstGeom prst="roundRect">
            <a:avLst>
              <a:gd name="adj" fmla="val 10306"/>
            </a:avLst>
          </a:prstGeom>
          <a:solidFill>
            <a:srgbClr val="F4F7FA"/>
          </a:solidFill>
          <a:ln w="19050">
            <a:solidFill>
              <a:srgbClr val="1C7293"/>
            </a:solidFill>
          </a:ln>
          <a:effectLst/>
        </p:spPr>
        <p:txBody>
          <a:bodyPr rtlCol="0" anchor="ctr"/>
          <a:lstStyle/>
          <a:p>
            <a:pPr algn="ctr"/>
          </a:p>
        </p:txBody>
      </p:sp>
      <p:pic>
        <p:nvPicPr>
          <p:cNvPr id="18" name="Picture 17" descr="s26-empty-office-desks.jpg"/>
          <p:cNvPicPr>
            <a:picLocks noChangeAspect="1"/>
          </p:cNvPicPr>
          <p:nvPr/>
        </p:nvPicPr>
        <p:blipFill>
          <a:blip r:embed="rId2"/>
          <a:stretch>
            <a:fillRect/>
          </a:stretch>
        </p:blipFill>
        <p:spPr>
          <a:xfrm>
            <a:off x="7528255" y="1472184"/>
            <a:ext cx="4023360" cy="2683078"/>
          </a:xfrm>
          <a:prstGeom prst="rect">
            <a:avLst/>
          </a:prstGeom>
        </p:spPr>
      </p:pic>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TheWrap 2023</a:t>
            </a:r>
            <a:r>
              <a:rPr sz="1200" b="0" i="1">
                <a:solidFill>
                  <a:srgbClr val="1C7293"/>
                </a:solidFill>
                <a:latin typeface="Arial"/>
              </a:rPr>
              <a:t> · </a:t>
            </a:r>
            <a:r>
              <a:rPr sz="1200" b="0" i="1">
                <a:solidFill>
                  <a:srgbClr val="1C7293"/>
                </a:solidFill>
                <a:latin typeface="Arial"/>
              </a:rPr>
              <a:t>CNET/Futurism 2023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нагрузка переехала на внешнее расследование</a:t>
            </a:r>
          </a:p>
        </p:txBody>
      </p:sp>
      <p:sp>
        <p:nvSpPr>
          <p:cNvPr id="4" name="Rounded Rectangle 3"/>
          <p:cNvSpPr/>
          <p:nvPr/>
        </p:nvSpPr>
        <p:spPr>
          <a:xfrm>
            <a:off x="502920"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CNET: ЧАСТОТА ОШИБОК — НЕ ХУЖЕ НОРМЫ</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53% ≈ 40–61%</a:t>
            </a:r>
          </a:p>
        </p:txBody>
      </p:sp>
      <p:sp>
        <p:nvSpPr>
          <p:cNvPr id="7" name="TextBox 6"/>
          <p:cNvSpPr txBox="1"/>
          <p:nvPr/>
        </p:nvSpPr>
        <p:spPr>
          <a:xfrm>
            <a:off x="640080"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хуже — реакция на раскрытие, не на качество</a:t>
            </a:r>
          </a:p>
        </p:txBody>
      </p:sp>
      <p:sp>
        <p:nvSpPr>
          <p:cNvPr id="8" name="Rounded Rectangle 7"/>
          <p:cNvSpPr/>
          <p:nvPr/>
        </p:nvSpPr>
        <p:spPr>
          <a:xfrm>
            <a:off x="3340531" y="1335024"/>
            <a:ext cx="2673019"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SPORTS ILLUSTRATED: ПРИЧИНА НАЗВАНА ДРУГАЯ</a:t>
            </a:r>
          </a:p>
        </p:txBody>
      </p:sp>
      <p:sp>
        <p:nvSpPr>
          <p:cNvPr id="10" name="TextBox 9"/>
          <p:cNvSpPr txBox="1"/>
          <p:nvPr/>
        </p:nvSpPr>
        <p:spPr>
          <a:xfrm>
            <a:off x="3477691" y="1932846"/>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пропущенный платёж, не AI-скандал</a:t>
            </a:r>
          </a:p>
        </p:txBody>
      </p:sp>
      <p:sp>
        <p:nvSpPr>
          <p:cNvPr id="11" name="TextBox 10"/>
          <p:cNvSpPr txBox="1"/>
          <p:nvPr/>
        </p:nvSpPr>
        <p:spPr>
          <a:xfrm>
            <a:off x="3477691"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совпадение по времени — не доказанная причина</a:t>
            </a:r>
          </a:p>
        </p:txBody>
      </p:sp>
      <p:sp>
        <p:nvSpPr>
          <p:cNvPr id="12" name="Rounded Rectangle 11"/>
          <p:cNvSpPr/>
          <p:nvPr/>
        </p:nvSpPr>
        <p:spPr>
          <a:xfrm>
            <a:off x="6178143"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ПЕРЕЕХАЛО В ОБОИХ СЛУЧАЯХ</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проверка — изнутри наружу</a:t>
            </a:r>
          </a:p>
        </p:txBody>
      </p:sp>
      <p:sp>
        <p:nvSpPr>
          <p:cNvPr id="15" name="TextBox 14"/>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редактора до публикации к расследованию после неё</a:t>
            </a:r>
          </a:p>
        </p:txBody>
      </p:sp>
      <p:sp>
        <p:nvSpPr>
          <p:cNvPr id="16" name="Rounded Rectangle 15"/>
          <p:cNvSpPr/>
          <p:nvPr/>
        </p:nvSpPr>
        <p:spPr>
          <a:xfrm>
            <a:off x="9015755"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SPORTS ILLUSTRATED: МАСШТАБ</a:t>
            </a:r>
          </a:p>
        </p:txBody>
      </p:sp>
      <p:sp>
        <p:nvSpPr>
          <p:cNvPr id="18" name="TextBox 17"/>
          <p:cNvSpPr txBox="1"/>
          <p:nvPr/>
        </p:nvSpPr>
        <p:spPr>
          <a:xfrm>
            <a:off x="9152915" y="1932846"/>
            <a:ext cx="2398699"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≈100 уволенных, акции −28–33,6%/день</a:t>
            </a:r>
          </a:p>
        </p:txBody>
      </p:sp>
      <p:sp>
        <p:nvSpPr>
          <p:cNvPr id="19" name="TextBox 18"/>
          <p:cNvSpPr txBox="1"/>
          <p:nvPr/>
        </p:nvSpPr>
        <p:spPr>
          <a:xfrm>
            <a:off x="9152915" y="252959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причинность по цепочке совпадений не доказана</a:t>
            </a:r>
          </a:p>
        </p:txBody>
      </p:sp>
      <p:sp>
        <p:nvSpPr>
          <p:cNvPr id="20" name="Rounded Rectangle 19"/>
          <p:cNvSpPr/>
          <p:nvPr/>
        </p:nvSpPr>
        <p:spPr>
          <a:xfrm>
            <a:off x="502920" y="3883219"/>
            <a:ext cx="5437479" cy="1582050"/>
          </a:xfrm>
          <a:prstGeom prst="roundRect">
            <a:avLst>
              <a:gd name="adj" fmla="val 192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4038667"/>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раньше гарантировала подпись бесплатно</a:t>
            </a:r>
          </a:p>
        </p:txBody>
      </p:sp>
      <p:sp>
        <p:nvSpPr>
          <p:cNvPr id="22" name="TextBox 21"/>
          <p:cNvSpPr txBox="1"/>
          <p:nvPr/>
        </p:nvSpPr>
        <p:spPr>
          <a:xfrm>
            <a:off x="667512" y="4394845"/>
            <a:ext cx="5108295" cy="91497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текст физически написан конкретным человеком</a:t>
            </a:r>
          </a:p>
          <a:p>
            <a:pPr algn="l">
              <a:lnSpc>
                <a:spcPct val="126000"/>
              </a:lnSpc>
            </a:pPr>
            <a:r>
              <a:rPr sz="1150" b="0" i="0">
                <a:solidFill>
                  <a:srgbClr val="21295C"/>
                </a:solidFill>
                <a:latin typeface="Arial"/>
              </a:rPr>
              <a:t>• этот человек рискует личной репутацией</a:t>
            </a:r>
          </a:p>
          <a:p>
            <a:pPr algn="l">
              <a:lnSpc>
                <a:spcPct val="126000"/>
              </a:lnSpc>
            </a:pPr>
            <a:r>
              <a:rPr sz="1150" b="0" i="0">
                <a:solidFill>
                  <a:srgbClr val="21295C"/>
                </a:solidFill>
                <a:latin typeface="Arial"/>
              </a:rPr>
              <a:t>• издание считает текст достаточно качественным для узнаваемого имени</a:t>
            </a:r>
          </a:p>
        </p:txBody>
      </p:sp>
      <p:sp>
        <p:nvSpPr>
          <p:cNvPr id="23" name="Rounded Rectangle 22"/>
          <p:cNvSpPr/>
          <p:nvPr/>
        </p:nvSpPr>
        <p:spPr>
          <a:xfrm>
            <a:off x="6251295" y="3883219"/>
            <a:ext cx="5437479" cy="1582050"/>
          </a:xfrm>
          <a:prstGeom prst="roundRect">
            <a:avLst>
              <a:gd name="adj" fmla="val 19266"/>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4038667"/>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осталось от гарантии после раскрытия</a:t>
            </a:r>
          </a:p>
        </p:txBody>
      </p:sp>
      <p:sp>
        <p:nvSpPr>
          <p:cNvPr id="25" name="TextBox 24"/>
          <p:cNvSpPr txBox="1"/>
          <p:nvPr/>
        </p:nvSpPr>
        <p:spPr>
          <a:xfrm>
            <a:off x="6415887" y="4394845"/>
            <a:ext cx="5108295" cy="91497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форма сигнала — та же, имя на месте</a:t>
            </a:r>
          </a:p>
          <a:p>
            <a:pPr algn="l">
              <a:lnSpc>
                <a:spcPct val="126000"/>
              </a:lnSpc>
            </a:pPr>
            <a:r>
              <a:rPr sz="1150" b="0" i="0">
                <a:solidFill>
                  <a:srgbClr val="21295C"/>
                </a:solidFill>
                <a:latin typeface="Arial"/>
              </a:rPr>
              <a:t>• содержание — нет: никто не рискует репутацией за коллектив</a:t>
            </a:r>
          </a:p>
          <a:p>
            <a:pPr algn="l">
              <a:lnSpc>
                <a:spcPct val="126000"/>
              </a:lnSpc>
            </a:pPr>
            <a:r>
              <a:rPr sz="1150" b="0" i="0">
                <a:solidFill>
                  <a:srgbClr val="21295C"/>
                </a:solidFill>
                <a:latin typeface="Arial"/>
              </a:rPr>
              <a:t>• гарантию теперь обеспечивает только тот, кто решит её обеспечить явно</a:t>
            </a:r>
          </a:p>
        </p:txBody>
      </p:sp>
      <p:sp>
        <p:nvSpPr>
          <p:cNvPr id="26" name="Rounded Rectangle 25"/>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Нагрузка по верификации переехала с института внутри редакции на внешнее расследование.</a:t>
            </a:r>
            <a:r>
              <a:rPr sz="1450" b="0" i="0">
                <a:solidFill>
                  <a:srgbClr val="21295C"/>
                </a:solidFill>
                <a:latin typeface="Arial"/>
              </a:rPr>
              <a:t> Раскрытие AI-авторства само стало триггером кризиса доверия.</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343395"/>
          </a:xfrm>
          <a:prstGeom prst="roundRect">
            <a:avLst>
              <a:gd name="adj" fmla="val 9116"/>
            </a:avLst>
          </a:prstGeom>
          <a:solidFill>
            <a:srgbClr val="F4F7FA"/>
          </a:solidFill>
          <a:ln w="19050">
            <a:solidFill>
              <a:srgbClr val="1C7293"/>
            </a:solidFill>
          </a:ln>
          <a:effectLst/>
        </p:spPr>
        <p:txBody>
          <a:bodyPr rtlCol="0" anchor="ctr"/>
          <a:lstStyle/>
          <a:p>
            <a:pPr algn="ctr"/>
          </a:p>
        </p:txBody>
      </p:sp>
      <p:pic>
        <p:nvPicPr>
          <p:cNvPr id="5" name="Picture 4" descr="s29-cinema-audience-screen.jpg"/>
          <p:cNvPicPr>
            <a:picLocks noChangeAspect="1"/>
          </p:cNvPicPr>
          <p:nvPr/>
        </p:nvPicPr>
        <p:blipFill>
          <a:blip r:embed="rId2"/>
          <a:stretch>
            <a:fillRect/>
          </a:stretch>
        </p:blipFill>
        <p:spPr>
          <a:xfrm>
            <a:off x="6949440" y="1051560"/>
            <a:ext cx="4602175" cy="3069075"/>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Релиз и приём аудиторией</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Материал прошёл проверку (или не прошёл — Раздел 2). Дальше он становится публичным, и узнавание переходит на сторону аудитории.</a:t>
            </a:r>
          </a:p>
        </p:txBody>
      </p:sp>
      <p:sp>
        <p:nvSpPr>
          <p:cNvPr id="9" name="TextBox 8"/>
          <p:cNvSpPr txBox="1"/>
          <p:nvPr/>
        </p:nvSpPr>
        <p:spPr>
          <a:xfrm>
            <a:off x="704088" y="2915422"/>
            <a:ext cx="574243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Coca-Cola / Toys «R» Us — тональность упала после раскрытия</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Релиз и приём аудиторией: что проверяют до и после выхода — классика без модели</a:t>
            </a:r>
          </a:p>
        </p:txBody>
      </p:sp>
      <p:sp>
        <p:nvSpPr>
          <p:cNvPr id="4" name="Rounded Rectangle 3"/>
          <p:cNvSpPr/>
          <p:nvPr/>
        </p:nvSpPr>
        <p:spPr>
          <a:xfrm>
            <a:off x="502920" y="1335024"/>
            <a:ext cx="2673019" cy="2784029"/>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 ПУБЛИКАЦИИ</a:t>
            </a:r>
          </a:p>
        </p:txBody>
      </p:sp>
      <p:sp>
        <p:nvSpPr>
          <p:cNvPr id="6" name="TextBox 5"/>
          <p:cNvSpPr txBox="1"/>
          <p:nvPr/>
        </p:nvSpPr>
        <p:spPr>
          <a:xfrm>
            <a:off x="640080" y="1725375"/>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контролируемый тест, заданная рамка</a:t>
            </a:r>
          </a:p>
        </p:txBody>
      </p:sp>
      <p:sp>
        <p:nvSpPr>
          <p:cNvPr id="7" name="TextBox 6"/>
          <p:cNvSpPr txBox="1"/>
          <p:nvPr/>
        </p:nvSpPr>
        <p:spPr>
          <a:xfrm>
            <a:off x="640080" y="283137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анкета задаёт вопросы заранее — что в неё не включили, участник сам не поднимет</a:t>
            </a:r>
          </a:p>
        </p:txBody>
      </p:sp>
      <p:sp>
        <p:nvSpPr>
          <p:cNvPr id="8" name="Rounded Rectangle 7"/>
          <p:cNvSpPr/>
          <p:nvPr/>
        </p:nvSpPr>
        <p:spPr>
          <a:xfrm>
            <a:off x="3340531" y="1335024"/>
            <a:ext cx="2673019" cy="2784029"/>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ПОСЛЕ ПУБЛИКАЦИИ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открытое наблюдение, без рамки</a:t>
            </a:r>
          </a:p>
        </p:txBody>
      </p:sp>
      <p:sp>
        <p:nvSpPr>
          <p:cNvPr id="11" name="TextBox 10"/>
          <p:cNvSpPr txBox="1"/>
          <p:nvPr/>
        </p:nvSpPr>
        <p:spPr>
          <a:xfrm>
            <a:off x="3477691" y="29332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высказывается каждый сам — ловит то, чего анкета не спросила</a:t>
            </a:r>
          </a:p>
        </p:txBody>
      </p:sp>
      <p:sp>
        <p:nvSpPr>
          <p:cNvPr id="12" name="Rounded Rectangle 11"/>
          <p:cNvSpPr/>
          <p:nvPr/>
        </p:nvSpPr>
        <p:spPr>
          <a:xfrm>
            <a:off x="6178143" y="1335024"/>
            <a:ext cx="2673019" cy="2784029"/>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выпускать / дорабатывать / не повторять</a:t>
            </a:r>
          </a:p>
        </p:txBody>
      </p:sp>
      <p:sp>
        <p:nvSpPr>
          <p:cNvPr id="15" name="TextBox 14"/>
          <p:cNvSpPr txBox="1"/>
          <p:nvPr/>
        </p:nvSpPr>
        <p:spPr>
          <a:xfrm>
            <a:off x="6315303"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и после — разные решения, разный горизонт</a:t>
            </a:r>
          </a:p>
        </p:txBody>
      </p:sp>
      <p:sp>
        <p:nvSpPr>
          <p:cNvPr id="16" name="Rounded Rectangle 15"/>
          <p:cNvSpPr/>
          <p:nvPr/>
        </p:nvSpPr>
        <p:spPr>
          <a:xfrm>
            <a:off x="9015755" y="1335024"/>
            <a:ext cx="2673019" cy="2784029"/>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ДОРОГОВИЗНА ПРОИЗВОДСТВА — САМА СИГНАЛ</a:t>
            </a:r>
          </a:p>
        </p:txBody>
      </p:sp>
      <p:sp>
        <p:nvSpPr>
          <p:cNvPr id="18" name="TextBox 17"/>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«у бренда есть ресурсы и репутация»</a:t>
            </a:r>
          </a:p>
        </p:txBody>
      </p:sp>
      <p:sp>
        <p:nvSpPr>
          <p:cNvPr id="19" name="TextBox 18"/>
          <p:cNvSpPr txBox="1"/>
          <p:nvPr/>
        </p:nvSpPr>
        <p:spPr>
          <a:xfrm>
            <a:off x="9152915" y="334816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A/B — редко больше 2–3 вариантов; именно эту часть цены обнуляет генерация</a:t>
            </a:r>
          </a:p>
        </p:txBody>
      </p:sp>
      <p:sp>
        <p:nvSpPr>
          <p:cNvPr id="20" name="TextBox 19"/>
          <p:cNvSpPr txBox="1"/>
          <p:nvPr/>
        </p:nvSpPr>
        <p:spPr>
          <a:xfrm>
            <a:off x="502920" y="433850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 выхода</a:t>
            </a:r>
          </a:p>
        </p:txBody>
      </p:sp>
      <p:sp>
        <p:nvSpPr>
          <p:cNvPr id="21" name="Rounded Rectangle 20"/>
          <p:cNvSpPr/>
          <p:nvPr/>
        </p:nvSpPr>
        <p:spPr>
          <a:xfrm>
            <a:off x="1920240" y="43019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476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черновой монтаж</a:t>
            </a:r>
          </a:p>
        </p:txBody>
      </p:sp>
      <p:sp>
        <p:nvSpPr>
          <p:cNvPr id="23" name="Right Arrow 22"/>
          <p:cNvSpPr/>
          <p:nvPr/>
        </p:nvSpPr>
        <p:spPr>
          <a:xfrm>
            <a:off x="4202353" y="4471050"/>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3019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3476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отобранная группа</a:t>
            </a:r>
          </a:p>
        </p:txBody>
      </p:sp>
      <p:sp>
        <p:nvSpPr>
          <p:cNvPr id="26" name="Right Arrow 25"/>
          <p:cNvSpPr/>
          <p:nvPr/>
        </p:nvSpPr>
        <p:spPr>
          <a:xfrm>
            <a:off x="6713067" y="4471050"/>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3019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3476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анкета по пунктам</a:t>
            </a:r>
          </a:p>
        </p:txBody>
      </p:sp>
      <p:sp>
        <p:nvSpPr>
          <p:cNvPr id="29" name="Right Arrow 28"/>
          <p:cNvSpPr/>
          <p:nvPr/>
        </p:nvSpPr>
        <p:spPr>
          <a:xfrm>
            <a:off x="9223781" y="4471050"/>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3019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3476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выпускать?</a:t>
            </a:r>
          </a:p>
        </p:txBody>
      </p:sp>
      <p:sp>
        <p:nvSpPr>
          <p:cNvPr id="32" name="TextBox 31"/>
          <p:cNvSpPr txBox="1"/>
          <p:nvPr/>
        </p:nvSpPr>
        <p:spPr>
          <a:xfrm>
            <a:off x="502920" y="49602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выхода</a:t>
            </a:r>
          </a:p>
        </p:txBody>
      </p:sp>
      <p:sp>
        <p:nvSpPr>
          <p:cNvPr id="33" name="Rounded Rectangle 32"/>
          <p:cNvSpPr/>
          <p:nvPr/>
        </p:nvSpPr>
        <p:spPr>
          <a:xfrm>
            <a:off x="1920240" y="492363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496935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публикация</a:t>
            </a:r>
          </a:p>
        </p:txBody>
      </p:sp>
      <p:sp>
        <p:nvSpPr>
          <p:cNvPr id="35" name="Right Arrow 34"/>
          <p:cNvSpPr/>
          <p:nvPr/>
        </p:nvSpPr>
        <p:spPr>
          <a:xfrm>
            <a:off x="4202353" y="5092747"/>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492363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4513249" y="496935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кто угодно скажет</a:t>
            </a:r>
          </a:p>
        </p:txBody>
      </p:sp>
      <p:sp>
        <p:nvSpPr>
          <p:cNvPr id="38" name="Right Arrow 37"/>
          <p:cNvSpPr/>
          <p:nvPr/>
        </p:nvSpPr>
        <p:spPr>
          <a:xfrm>
            <a:off x="6713067" y="5092747"/>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492363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496935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заданной рамки</a:t>
            </a:r>
          </a:p>
        </p:txBody>
      </p:sp>
      <p:sp>
        <p:nvSpPr>
          <p:cNvPr id="41" name="Right Arrow 40"/>
          <p:cNvSpPr/>
          <p:nvPr/>
        </p:nvSpPr>
        <p:spPr>
          <a:xfrm>
            <a:off x="9223781" y="5092747"/>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492363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496935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повторять?</a:t>
            </a:r>
          </a:p>
        </p:txBody>
      </p:sp>
      <p:sp>
        <p:nvSpPr>
          <p:cNvPr id="44" name="TextBox 43"/>
          <p:cNvSpPr txBox="1"/>
          <p:nvPr/>
        </p:nvSpPr>
        <p:spPr>
          <a:xfrm>
            <a:off x="502920" y="543559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окна наблюдения одной реакции</a:t>
            </a:r>
          </a:p>
        </p:txBody>
      </p:sp>
      <p:sp>
        <p:nvSpPr>
          <p:cNvPr id="45" name="Rounded Rectangle 44"/>
          <p:cNvSpPr/>
          <p:nvPr/>
        </p:nvSpPr>
        <p:spPr>
          <a:xfrm>
            <a:off x="374904" y="5738283"/>
            <a:ext cx="11441887" cy="4979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5829723"/>
            <a:ext cx="11112703" cy="406484"/>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Формально вопрос один — понравится ли. Фактически способы иногда отвечают на разные</a:t>
            </a:r>
            <a:r>
              <a:rPr sz="1150" b="0" i="0">
                <a:solidFill>
                  <a:srgbClr val="21295C"/>
                </a:solidFill>
                <a:latin typeface="Arial"/>
              </a:rPr>
              <a:t> — дороговизна вариантов сама была сигналом качества.</a:t>
            </a:r>
          </a:p>
        </p:txBody>
      </p:sp>
      <p:sp>
        <p:nvSpPr>
          <p:cNvPr id="47" name="Rectangle 46"/>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умеет и не умеет модель на этапе релиза</a:t>
            </a:r>
          </a:p>
        </p:txBody>
      </p:sp>
      <p:sp>
        <p:nvSpPr>
          <p:cNvPr id="4" name="Rounded Rectangle 3"/>
          <p:cNvSpPr/>
          <p:nvPr/>
        </p:nvSpPr>
        <p:spPr>
          <a:xfrm>
            <a:off x="502920"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УМЕЕТ</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прогнать десятки тысяч вариантов</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недостижимо при ручном производстве того же масштаба</a:t>
            </a:r>
          </a:p>
        </p:txBody>
      </p:sp>
      <p:sp>
        <p:nvSpPr>
          <p:cNvPr id="8" name="Rounded Rectangle 7"/>
          <p:cNvSpPr/>
          <p:nvPr/>
        </p:nvSpPr>
        <p:spPr>
          <a:xfrm>
            <a:off x="4286402" y="1335024"/>
            <a:ext cx="3618890"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 УМЕЕТ</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измерить реакцию на сам факт AI-происхождения</a:t>
            </a:r>
          </a:p>
        </p:txBody>
      </p:sp>
      <p:sp>
        <p:nvSpPr>
          <p:cNvPr id="11" name="TextBox 10"/>
          <p:cNvSpPr txBox="1"/>
          <p:nvPr/>
        </p:nvSpPr>
        <p:spPr>
          <a:xfrm>
            <a:off x="4423562"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инструмент создан под другое измерение</a:t>
            </a:r>
          </a:p>
        </p:txBody>
      </p:sp>
      <p:sp>
        <p:nvSpPr>
          <p:cNvPr id="12" name="Rounded Rectangle 11"/>
          <p:cNvSpPr/>
          <p:nvPr/>
        </p:nvSpPr>
        <p:spPr>
          <a:xfrm>
            <a:off x="8069884"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ЧЕСТНО НАЗВАННЫЙ ПРОБЕЛ</a:t>
            </a:r>
          </a:p>
        </p:txBody>
      </p:sp>
      <p:sp>
        <p:nvSpPr>
          <p:cNvPr id="14" name="TextBox 13"/>
          <p:cNvSpPr txBox="1"/>
          <p:nvPr/>
        </p:nvSpPr>
        <p:spPr>
          <a:xfrm>
            <a:off x="8207044" y="1725375"/>
            <a:ext cx="3344570"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задокументированного случая поимки этого риска заранее — не нашлось</a:t>
            </a:r>
          </a:p>
        </p:txBody>
      </p:sp>
      <p:sp>
        <p:nvSpPr>
          <p:cNvPr id="15" name="TextBox 14"/>
          <p:cNvSpPr txBox="1"/>
          <p:nvPr/>
        </p:nvSpPr>
        <p:spPr>
          <a:xfrm>
            <a:off x="8207044" y="270405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значит, что такого не было нигде — значит, что найти не удалось</a:t>
            </a:r>
          </a:p>
        </p:txBody>
      </p:sp>
      <p:sp>
        <p:nvSpPr>
          <p:cNvPr id="16" name="Rounded Rectangle 15"/>
          <p:cNvSpPr/>
          <p:nvPr/>
        </p:nvSpPr>
        <p:spPr>
          <a:xfrm>
            <a:off x="374904" y="337306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64504"/>
            <a:ext cx="11112703"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прогоняет через тестирование десятки тысяч вариантов — недостижимо вручную.</a:t>
            </a:r>
            <a:r>
              <a:rPr sz="1500" b="0" i="0">
                <a:solidFill>
                  <a:srgbClr val="21295C"/>
                </a:solidFill>
                <a:latin typeface="Arial"/>
              </a:rPr>
              <a:t> Но классический инструмент не измеряет другой вопрос: воспринимает ли зритель материал как сделанный человеком.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Coca-Cola / Toys «R» Us — тональность упала после раскрытия</a:t>
            </a:r>
          </a:p>
        </p:txBody>
      </p:sp>
      <p:sp>
        <p:nvSpPr>
          <p:cNvPr id="4" name="Rounded Rectangle 3"/>
          <p:cNvSpPr/>
          <p:nvPr/>
        </p:nvSpPr>
        <p:spPr>
          <a:xfrm>
            <a:off x="502920" y="1335024"/>
            <a:ext cx="1747418" cy="2604850"/>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ПОЗИТИВНЫЕ УПОМИНАНИЯ: ДО → ПОСЛЕ</a:t>
            </a:r>
          </a:p>
        </p:txBody>
      </p:sp>
      <p:sp>
        <p:nvSpPr>
          <p:cNvPr id="6" name="TextBox 5"/>
          <p:cNvSpPr txBox="1"/>
          <p:nvPr/>
        </p:nvSpPr>
        <p:spPr>
          <a:xfrm>
            <a:off x="640080" y="2140317"/>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12,2% → 3,4%</a:t>
            </a:r>
          </a:p>
        </p:txBody>
      </p:sp>
      <p:sp>
        <p:nvSpPr>
          <p:cNvPr id="7" name="TextBox 6"/>
          <p:cNvSpPr txBox="1"/>
          <p:nvPr/>
        </p:nvSpPr>
        <p:spPr>
          <a:xfrm>
            <a:off x="640080" y="2957740"/>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CARMA, тональность до и после раскрытия AI-происхождения</a:t>
            </a:r>
          </a:p>
        </p:txBody>
      </p:sp>
      <p:sp>
        <p:nvSpPr>
          <p:cNvPr id="8" name="Rounded Rectangle 7"/>
          <p:cNvSpPr/>
          <p:nvPr/>
        </p:nvSpPr>
        <p:spPr>
          <a:xfrm>
            <a:off x="2414930" y="1335024"/>
            <a:ext cx="1747418" cy="2604850"/>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НЕГАТИВНЫЕ УПОМИНАНИЯ: ДО → ПОСЛЕ</a:t>
            </a:r>
          </a:p>
        </p:txBody>
      </p:sp>
      <p:sp>
        <p:nvSpPr>
          <p:cNvPr id="10" name="TextBox 9"/>
          <p:cNvSpPr txBox="1"/>
          <p:nvPr/>
        </p:nvSpPr>
        <p:spPr>
          <a:xfrm>
            <a:off x="2552090" y="2140317"/>
            <a:ext cx="14730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13,5% → 53,4%</a:t>
            </a:r>
          </a:p>
        </p:txBody>
      </p:sp>
      <p:sp>
        <p:nvSpPr>
          <p:cNvPr id="11" name="TextBox 10"/>
          <p:cNvSpPr txBox="1"/>
          <p:nvPr/>
        </p:nvSpPr>
        <p:spPr>
          <a:xfrm>
            <a:off x="2552090" y="2957740"/>
            <a:ext cx="14730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почти в четыре раза</a:t>
            </a:r>
          </a:p>
        </p:txBody>
      </p:sp>
      <p:sp>
        <p:nvSpPr>
          <p:cNvPr id="12" name="Rounded Rectangle 11"/>
          <p:cNvSpPr/>
          <p:nvPr/>
        </p:nvSpPr>
        <p:spPr>
          <a:xfrm>
            <a:off x="4326940" y="1335024"/>
            <a:ext cx="1747418" cy="2604850"/>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НЕЙТРАЛЬНЫЕ УПОМИНАНИЯ: ДО → ПОСЛЕ</a:t>
            </a:r>
          </a:p>
        </p:txBody>
      </p:sp>
      <p:sp>
        <p:nvSpPr>
          <p:cNvPr id="14" name="TextBox 13"/>
          <p:cNvSpPr txBox="1"/>
          <p:nvPr/>
        </p:nvSpPr>
        <p:spPr>
          <a:xfrm>
            <a:off x="4464100" y="2140317"/>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74,3% → 43,2%</a:t>
            </a:r>
          </a:p>
        </p:txBody>
      </p:sp>
      <p:sp>
        <p:nvSpPr>
          <p:cNvPr id="15" name="TextBox 14"/>
          <p:cNvSpPr txBox="1"/>
          <p:nvPr/>
        </p:nvSpPr>
        <p:spPr>
          <a:xfrm>
            <a:off x="4464100" y="2957740"/>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сходится к 100% и до, и после — не вырванный фрагмент</a:t>
            </a:r>
          </a:p>
        </p:txBody>
      </p:sp>
      <p:sp>
        <p:nvSpPr>
          <p:cNvPr id="16" name="Rounded Rectangle 15"/>
          <p:cNvSpPr/>
          <p:nvPr/>
        </p:nvSpPr>
        <p:spPr>
          <a:xfrm>
            <a:off x="374904" y="4438269"/>
            <a:ext cx="11441887" cy="1797939"/>
          </a:xfrm>
          <a:prstGeom prst="roundRect">
            <a:avLst>
              <a:gd name="adj" fmla="val 1695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529708"/>
            <a:ext cx="11112703" cy="17064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Toys «R» Us выпустила ролик, сгенерированный моделью Sora, а Coca-Cola — праздничную кампанию, тоже AI-видео.</a:t>
            </a:r>
            <a:r>
              <a:rPr sz="1500" b="0" i="0">
                <a:solidFill>
                  <a:srgbClr val="21295C"/>
                </a:solidFill>
                <a:latin typeface="Arial"/>
              </a:rPr>
              <a:t> Тональность упоминаний обеих измерена CARMA; платформа и размер выборки публично не раскрыты.</a:t>
            </a:r>
          </a:p>
        </p:txBody>
      </p:sp>
      <p:sp>
        <p:nvSpPr>
          <p:cNvPr id="18" name="Rounded Rectangle 17"/>
          <p:cNvSpPr/>
          <p:nvPr/>
        </p:nvSpPr>
        <p:spPr>
          <a:xfrm>
            <a:off x="6385255" y="1335024"/>
            <a:ext cx="5303520" cy="3103245"/>
          </a:xfrm>
          <a:prstGeom prst="roundRect">
            <a:avLst>
              <a:gd name="adj" fmla="val 9821"/>
            </a:avLst>
          </a:prstGeom>
          <a:solidFill>
            <a:srgbClr val="F4F7FA"/>
          </a:solidFill>
          <a:ln w="19050">
            <a:solidFill>
              <a:srgbClr val="1C7293"/>
            </a:solidFill>
          </a:ln>
          <a:effectLst/>
        </p:spPr>
        <p:txBody>
          <a:bodyPr rtlCol="0" anchor="ctr"/>
          <a:lstStyle/>
          <a:p>
            <a:pPr algn="ctr"/>
          </a:p>
        </p:txBody>
      </p:sp>
      <p:pic>
        <p:nvPicPr>
          <p:cNvPr id="19" name="Picture 18" descr="s33-coca-cola-ai-holidays-truck.jpg"/>
          <p:cNvPicPr>
            <a:picLocks noChangeAspect="1"/>
          </p:cNvPicPr>
          <p:nvPr/>
        </p:nvPicPr>
        <p:blipFill>
          <a:blip r:embed="rId2"/>
          <a:stretch>
            <a:fillRect/>
          </a:stretch>
        </p:blipFill>
        <p:spPr>
          <a:xfrm>
            <a:off x="6522415" y="1472184"/>
            <a:ext cx="5029200" cy="2828925"/>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Marketing-Interactive, 28.06.2024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70 000 клипов на один ролик</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ОДНОГО КЛИПА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денойзер держит стабильность</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видит все кадры клипа одновременно</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МЕЖДУ КЛИПАМИ</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нет связующего механизма</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стартовый шум разный — заблуждение, разобранное ранее</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4" name="TextBox 13"/>
          <p:cNvSpPr txBox="1"/>
          <p:nvPr/>
        </p:nvSpPr>
        <p:spPr>
          <a:xfrm>
            <a:off x="8207044" y="1725375"/>
            <a:ext cx="3344570" cy="664648"/>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70 000 клипов → люди отсматривают и монтируют</a:t>
            </a:r>
          </a:p>
        </p:txBody>
      </p:sp>
      <p:sp>
        <p:nvSpPr>
          <p:cNvPr id="15" name="TextBox 14"/>
          <p:cNvSpPr txBox="1"/>
          <p:nvPr/>
        </p:nvSpPr>
        <p:spPr>
          <a:xfrm>
            <a:off x="8207044" y="2390023"/>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нагрузка переехала на отбор</a:t>
            </a:r>
          </a:p>
        </p:txBody>
      </p:sp>
      <p:sp>
        <p:nvSpPr>
          <p:cNvPr id="16" name="Rounded Rectangle 15"/>
          <p:cNvSpPr/>
          <p:nvPr/>
        </p:nvSpPr>
        <p:spPr>
          <a:xfrm>
            <a:off x="374904" y="31938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Каждый клип — независимый прогон диффузии</a:t>
            </a:r>
            <a:r>
              <a:rPr sz="1500" b="0" i="0">
                <a:solidFill>
                  <a:srgbClr val="21295C"/>
                </a:solidFill>
                <a:latin typeface="Arial"/>
              </a:rPr>
              <a:t> (та же диффузия, что на изображении, разобранная ранее, только по видео).</a:t>
            </a:r>
          </a:p>
          <a:p>
            <a:pPr algn="l">
              <a:lnSpc>
                <a:spcPct val="126000"/>
              </a:lnSpc>
              <a:spcBef>
                <a:spcPts val="700"/>
              </a:spcBef>
            </a:pPr>
            <a:r>
              <a:rPr sz="1500" b="0" i="0">
                <a:solidFill>
                  <a:srgbClr val="21295C"/>
                </a:solidFill>
                <a:latin typeface="Arial"/>
              </a:rPr>
              <a:t/>
            </a:r>
            <a:r>
              <a:rPr sz="1500" b="1" i="0">
                <a:solidFill>
                  <a:srgbClr val="21295C"/>
                </a:solidFill>
                <a:latin typeface="Arial"/>
              </a:rPr>
              <a:t>Внутри одного клипа</a:t>
            </a:r>
            <a:r>
              <a:rPr sz="1500" b="0" i="0">
                <a:solidFill>
                  <a:srgbClr val="21295C"/>
                </a:solidFill>
                <a:latin typeface="Arial"/>
              </a:rPr>
              <a:t> денойзер видит все кадры сразу и держит персонажа, сцену и освещение стабильными.</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Между клипами — нет связующего механизма:</a:t>
            </a:r>
            <a:r>
              <a:rPr sz="1500" b="0" i="0">
                <a:solidFill>
                  <a:srgbClr val="21295C"/>
                </a:solidFill>
                <a:latin typeface="Arial"/>
              </a:rPr>
              <a:t> стартовый шум отличается (третье заблуждение о генерации), траектория отличается, композиция отличается.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Поэтому 70 000 клипов отсматривают и монтируют люди</a:t>
            </a:r>
            <a:r>
              <a:rPr sz="1500" b="0" i="0">
                <a:solidFill>
                  <a:srgbClr val="21295C"/>
                </a:solidFill>
                <a:latin typeface="Arial"/>
              </a:rPr>
              <a:t> — нагрузка переехала на отбор, не исчезла.</a:t>
            </a:r>
          </a:p>
        </p:txBody>
      </p:sp>
      <p:sp>
        <p:nvSpPr>
          <p:cNvPr id="19" name="Rectangle 18"/>
          <p:cNvSpPr/>
          <p:nvPr/>
        </p:nvSpPr>
        <p:spPr>
          <a:xfrm>
            <a:off x="6091275" y="3285324"/>
            <a:ext cx="9144" cy="15742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arXiv:2510.21696 (BachVid); openreview.net, Multi-Shot Character Consistency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Coca-Cola, разбор: панель System1 против открытой аудитории CARMA</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PANEL SYSTEM1: ОЦЕНКА РОЛИКА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5,9 из 5,9 — максимум шкалы</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калибрована на связи с долгосрочным ростом бренда</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ОТКРЫТАЯ АУДИТОРИЯ: НЕГАТИВ</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53,4% упоминаний</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CARMA — тот же ролик, другое измерение</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КЛИПОВ В МОНТАЖЕ</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70 000</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Silverside AI, скомпонованы в финальный ролик</a:t>
            </a:r>
          </a:p>
        </p:txBody>
      </p:sp>
      <p:sp>
        <p:nvSpPr>
          <p:cNvPr id="16" name="Rounded Rectangle 15"/>
          <p:cNvSpPr/>
          <p:nvPr/>
        </p:nvSpPr>
        <p:spPr>
          <a:xfrm>
            <a:off x="502920" y="3285324"/>
            <a:ext cx="5437479" cy="2179945"/>
          </a:xfrm>
          <a:prstGeom prst="roundRect">
            <a:avLst>
              <a:gd name="adj" fmla="val 1398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4407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Классика pre-release тестирования</a:t>
            </a:r>
          </a:p>
        </p:txBody>
      </p:sp>
      <p:sp>
        <p:nvSpPr>
          <p:cNvPr id="18" name="TextBox 17"/>
          <p:cNvSpPr txBox="1"/>
          <p:nvPr/>
        </p:nvSpPr>
        <p:spPr>
          <a:xfrm>
            <a:off x="667512" y="3796951"/>
            <a:ext cx="5108295" cy="1512870"/>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панель System1 «Test Your Ad», откалиброванная на тысячах прошлых кампаний</a:t>
            </a:r>
          </a:p>
          <a:p>
            <a:pPr algn="l">
              <a:lnSpc>
                <a:spcPct val="126000"/>
              </a:lnSpc>
            </a:pPr>
            <a:r>
              <a:rPr sz="1400" b="0" i="0">
                <a:solidFill>
                  <a:srgbClr val="21295C"/>
                </a:solidFill>
                <a:latin typeface="Arial"/>
              </a:rPr>
              <a:t>• оценка до или вскоре после выхода, по шкале эмоционального отклика</a:t>
            </a:r>
          </a:p>
          <a:p>
            <a:pPr algn="l">
              <a:lnSpc>
                <a:spcPct val="126000"/>
              </a:lnSpc>
            </a:pPr>
            <a:r>
              <a:rPr sz="1400" b="0" i="0">
                <a:solidFill>
                  <a:srgbClr val="21295C"/>
                </a:solidFill>
                <a:latin typeface="Arial"/>
              </a:rPr>
              <a:t>• 5,9 звезды — верхняя граница собственной шкалы System1</a:t>
            </a:r>
          </a:p>
        </p:txBody>
      </p:sp>
      <p:sp>
        <p:nvSpPr>
          <p:cNvPr id="19" name="Rounded Rectangle 18"/>
          <p:cNvSpPr/>
          <p:nvPr/>
        </p:nvSpPr>
        <p:spPr>
          <a:xfrm>
            <a:off x="6251295" y="3285324"/>
            <a:ext cx="5437479" cy="2179945"/>
          </a:xfrm>
          <a:prstGeom prst="roundRect">
            <a:avLst>
              <a:gd name="adj" fmla="val 13982"/>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4407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Измеренная открытая реакция</a:t>
            </a:r>
          </a:p>
        </p:txBody>
      </p:sp>
      <p:sp>
        <p:nvSpPr>
          <p:cNvPr id="21" name="TextBox 20"/>
          <p:cNvSpPr txBox="1"/>
          <p:nvPr/>
        </p:nvSpPr>
        <p:spPr>
          <a:xfrm>
            <a:off x="6415887" y="3796951"/>
            <a:ext cx="5108295" cy="151287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CARMA — тональность спонтанных публичных упоминаний</a:t>
            </a:r>
          </a:p>
          <a:p>
            <a:pPr algn="l">
              <a:lnSpc>
                <a:spcPct val="126000"/>
              </a:lnSpc>
            </a:pPr>
            <a:r>
              <a:rPr sz="1450" b="0" i="0">
                <a:solidFill>
                  <a:srgbClr val="21295C"/>
                </a:solidFill>
                <a:latin typeface="Arial"/>
              </a:rPr>
              <a:t>• измерение неделями и месяцами после выхода</a:t>
            </a:r>
          </a:p>
          <a:p>
            <a:pPr algn="l">
              <a:lnSpc>
                <a:spcPct val="126000"/>
              </a:lnSpc>
            </a:pPr>
            <a:r>
              <a:rPr sz="1450" b="0" i="0">
                <a:solidFill>
                  <a:srgbClr val="21295C"/>
                </a:solidFill>
                <a:latin typeface="Arial"/>
              </a:rPr>
              <a:t>• 53,4% негативных упоминаний — рост почти в четыре раза</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Это не ошибка измерения той или иной стороны.</a:t>
            </a:r>
            <a:r>
              <a:rPr sz="1450" b="0" i="0">
                <a:solidFill>
                  <a:srgbClr val="21295C"/>
                </a:solidFill>
                <a:latin typeface="Arial"/>
              </a:rPr>
              <a:t> Это два инструмента, откалиброванных для разных вопросов — и оба правы в своих терминах.</a:t>
            </a: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System1 Group, Ad of the Week, 2025</a:t>
            </a:r>
            <a:r>
              <a:rPr sz="1200" b="0" i="1">
                <a:solidFill>
                  <a:srgbClr val="1C7293"/>
                </a:solidFill>
                <a:latin typeface="Arial"/>
              </a:rPr>
              <a:t> · </a:t>
            </a:r>
            <a:r>
              <a:rPr sz="1200" b="0" i="1" u="sng">
                <a:solidFill>
                  <a:srgbClr val="065A82"/>
                </a:solidFill>
                <a:latin typeface="Arial"/>
                <a:hlinkClick r:id="rId2"/>
              </a:rPr>
              <a:t>TechRadar, Forbes 04.11.2025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Coca-Cola, что переехало: компания не отступила</a:t>
            </a:r>
          </a:p>
        </p:txBody>
      </p:sp>
      <p:sp>
        <p:nvSpPr>
          <p:cNvPr id="4" name="Rounded Rectangle 3"/>
          <p:cNvSpPr/>
          <p:nvPr/>
        </p:nvSpPr>
        <p:spPr>
          <a:xfrm>
            <a:off x="502920" y="1335024"/>
            <a:ext cx="2651629"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773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КОМАНДА 2025: КЛАССИКА → С ГЕНЕРАЦИЕЙ</a:t>
            </a:r>
          </a:p>
        </p:txBody>
      </p:sp>
      <p:sp>
        <p:nvSpPr>
          <p:cNvPr id="6" name="TextBox 5"/>
          <p:cNvSpPr txBox="1"/>
          <p:nvPr/>
        </p:nvSpPr>
        <p:spPr>
          <a:xfrm>
            <a:off x="640080" y="1932846"/>
            <a:ext cx="237730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 → ≈20 человек</a:t>
            </a:r>
          </a:p>
        </p:txBody>
      </p:sp>
      <p:sp>
        <p:nvSpPr>
          <p:cNvPr id="7" name="TextBox 6"/>
          <p:cNvSpPr txBox="1"/>
          <p:nvPr/>
        </p:nvSpPr>
        <p:spPr>
          <a:xfrm>
            <a:off x="640080" y="2750268"/>
            <a:ext cx="237730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Джейсона Зада, Secret Level</a:t>
            </a:r>
          </a:p>
        </p:txBody>
      </p:sp>
      <p:sp>
        <p:nvSpPr>
          <p:cNvPr id="8" name="Rounded Rectangle 7"/>
          <p:cNvSpPr/>
          <p:nvPr/>
        </p:nvSpPr>
        <p:spPr>
          <a:xfrm>
            <a:off x="3319141" y="1335024"/>
            <a:ext cx="265162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56301" y="1472184"/>
            <a:ext cx="23773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ПОВТОРНЫЙ ЗАПУСК НЕСМОТРЯ НА</a:t>
            </a:r>
          </a:p>
        </p:txBody>
      </p:sp>
      <p:sp>
        <p:nvSpPr>
          <p:cNvPr id="10" name="TextBox 9"/>
          <p:cNvSpPr txBox="1"/>
          <p:nvPr/>
        </p:nvSpPr>
        <p:spPr>
          <a:xfrm>
            <a:off x="3456301" y="1932846"/>
            <a:ext cx="237730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измеренную негативную реакцию 2024 года</a:t>
            </a:r>
          </a:p>
        </p:txBody>
      </p:sp>
      <p:sp>
        <p:nvSpPr>
          <p:cNvPr id="11" name="TextBox 10"/>
          <p:cNvSpPr txBox="1"/>
          <p:nvPr/>
        </p:nvSpPr>
        <p:spPr>
          <a:xfrm>
            <a:off x="3456301" y="2461695"/>
            <a:ext cx="237730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компания не отказалась от подхода</a:t>
            </a:r>
          </a:p>
        </p:txBody>
      </p:sp>
      <p:sp>
        <p:nvSpPr>
          <p:cNvPr id="12" name="Rounded Rectangle 11"/>
          <p:cNvSpPr/>
          <p:nvPr/>
        </p:nvSpPr>
        <p:spPr>
          <a:xfrm>
            <a:off x="6135363" y="1335024"/>
            <a:ext cx="265162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272523" y="1472184"/>
            <a:ext cx="23773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ПОЗИЦИЯ КОМПАНИИ, ПРЯМОЙ ЦИТАТОЙ</a:t>
            </a:r>
          </a:p>
        </p:txBody>
      </p:sp>
      <p:sp>
        <p:nvSpPr>
          <p:cNvPr id="14" name="TextBox 13"/>
          <p:cNvSpPr txBox="1"/>
          <p:nvPr/>
        </p:nvSpPr>
        <p:spPr>
          <a:xfrm>
            <a:off x="6272523" y="1932846"/>
            <a:ext cx="237730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«джинн уже выпущен из бутылки»</a:t>
            </a:r>
          </a:p>
        </p:txBody>
      </p:sp>
      <p:sp>
        <p:nvSpPr>
          <p:cNvPr id="15" name="TextBox 14"/>
          <p:cNvSpPr txBox="1"/>
          <p:nvPr/>
        </p:nvSpPr>
        <p:spPr>
          <a:xfrm>
            <a:off x="6272523" y="3140692"/>
            <a:ext cx="237730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Пратик Тхакар, вице-президент по генеративному ИИ Coca-Cola</a:t>
            </a:r>
          </a:p>
        </p:txBody>
      </p:sp>
      <p:sp>
        <p:nvSpPr>
          <p:cNvPr id="16" name="Rounded Rectangle 15"/>
          <p:cNvSpPr/>
          <p:nvPr/>
        </p:nvSpPr>
        <p:spPr>
          <a:xfrm>
            <a:off x="374904" y="3791779"/>
            <a:ext cx="8540105"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83219"/>
            <a:ext cx="8210921" cy="2352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отличие от CNET, здесь компания не отступила</a:t>
            </a:r>
            <a:r>
              <a:rPr sz="1500" b="0" i="0">
                <a:solidFill>
                  <a:srgbClr val="21295C"/>
                </a:solidFill>
                <a:latin typeface="Arial"/>
              </a:rPr>
              <a:t> — Coca-Cola повторила подход в 2025-м несмотря на негативную реакцию 2024 года. </a:t>
            </a:r>
            <a:r>
              <a:rPr sz="1500" b="1" i="0">
                <a:solidFill>
                  <a:srgbClr val="21295C"/>
                </a:solidFill>
                <a:latin typeface="Arial"/>
              </a:rPr>
              <a:t>Тхакар:</a:t>
            </a:r>
            <a:r>
              <a:rPr sz="1500" b="0" i="0">
                <a:solidFill>
                  <a:srgbClr val="21295C"/>
                </a:solidFill>
                <a:latin typeface="Arial"/>
              </a:rPr>
              <a:t> «джинн уже выпущен из бутылки». </a:t>
            </a:r>
            <a:r>
              <a:rPr sz="1500" b="1" i="0">
                <a:solidFill>
                  <a:srgbClr val="21295C"/>
                </a:solidFill>
                <a:latin typeface="Arial"/>
              </a:rPr>
              <a:t>Зада:</a:t>
            </a:r>
            <a:r>
              <a:rPr sz="1500" b="0" i="0">
                <a:solidFill>
                  <a:srgbClr val="21295C"/>
                </a:solidFill>
                <a:latin typeface="Arial"/>
              </a:rPr>
              <a:t> над роликом работало ≈20 человек против ≈50 в классике.</a:t>
            </a:r>
          </a:p>
        </p:txBody>
      </p:sp>
      <p:sp>
        <p:nvSpPr>
          <p:cNvPr id="18" name="Rounded Rectangle 17"/>
          <p:cNvSpPr/>
          <p:nvPr/>
        </p:nvSpPr>
        <p:spPr>
          <a:xfrm>
            <a:off x="9097889" y="1335024"/>
            <a:ext cx="2590885" cy="4389120"/>
          </a:xfrm>
          <a:prstGeom prst="roundRect">
            <a:avLst>
              <a:gd name="adj" fmla="val 11764"/>
            </a:avLst>
          </a:prstGeom>
          <a:solidFill>
            <a:srgbClr val="F4F7FA"/>
          </a:solidFill>
          <a:ln w="19050">
            <a:solidFill>
              <a:srgbClr val="1C7293"/>
            </a:solidFill>
          </a:ln>
          <a:effectLst/>
        </p:spPr>
        <p:txBody>
          <a:bodyPr rtlCol="0" anchor="ctr"/>
          <a:lstStyle/>
          <a:p>
            <a:pPr algn="ctr"/>
          </a:p>
        </p:txBody>
      </p:sp>
      <p:pic>
        <p:nvPicPr>
          <p:cNvPr id="19" name="Picture 18" descr="s35-animation-studio-workspace.jpg"/>
          <p:cNvPicPr>
            <a:picLocks noChangeAspect="1"/>
          </p:cNvPicPr>
          <p:nvPr/>
        </p:nvPicPr>
        <p:blipFill>
          <a:blip r:embed="rId2"/>
          <a:stretch>
            <a:fillRect/>
          </a:stretch>
        </p:blipFill>
        <p:spPr>
          <a:xfrm>
            <a:off x="9235049" y="1472184"/>
            <a:ext cx="2316565"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The Hollywood Reporter, ноябрь 2025</a:t>
            </a:r>
            <a:r>
              <a:rPr sz="1200" b="0" i="1">
                <a:solidFill>
                  <a:srgbClr val="1C7293"/>
                </a:solidFill>
                <a:latin typeface="Arial"/>
              </a:rPr>
              <a:t> · </a:t>
            </a:r>
            <a:r>
              <a:rPr sz="1200" b="0" i="1">
                <a:solidFill>
                  <a:srgbClr val="1C7293"/>
                </a:solidFill>
                <a:latin typeface="Arial"/>
              </a:rPr>
              <a:t>Adweek, Brandweek 2025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нагрузка переехала на зрителя</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SYSTEM1: МАКСИМУМ ШКАЛЫ</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5,9 звезды</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эмоциональное качество — ролик прошёл</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CARMA: ОТКРЫТАЯ РЕАКЦИЯ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53,4% негатива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доверие к происхождению — не прошло</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КОМПАНИЯ НЕ ОТСТУПИЛА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повторила подход второй год</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задокументированный провал не изменил поведение</a:t>
            </a:r>
          </a:p>
        </p:txBody>
      </p:sp>
      <p:sp>
        <p:nvSpPr>
          <p:cNvPr id="16" name="Rounded Rectangle 15"/>
          <p:cNvSpPr/>
          <p:nvPr/>
        </p:nvSpPr>
        <p:spPr>
          <a:xfrm>
            <a:off x="502920" y="3285324"/>
            <a:ext cx="5437479" cy="2179945"/>
          </a:xfrm>
          <a:prstGeom prst="roundRect">
            <a:avLst>
              <a:gd name="adj" fmla="val 1398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4407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Раздел 2: подпись</a:t>
            </a:r>
          </a:p>
        </p:txBody>
      </p:sp>
      <p:sp>
        <p:nvSpPr>
          <p:cNvPr id="18" name="TextBox 17"/>
          <p:cNvSpPr txBox="1"/>
          <p:nvPr/>
        </p:nvSpPr>
        <p:spPr>
          <a:xfrm>
            <a:off x="667512" y="3796951"/>
            <a:ext cx="5108295" cy="151287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форма сохранена — подпись выглядит как подпись</a:t>
            </a:r>
          </a:p>
          <a:p>
            <a:pPr algn="l">
              <a:lnSpc>
                <a:spcPct val="126000"/>
              </a:lnSpc>
            </a:pPr>
            <a:r>
              <a:rPr sz="1450" b="0" i="0">
                <a:solidFill>
                  <a:srgbClr val="21295C"/>
                </a:solidFill>
                <a:latin typeface="Arial"/>
              </a:rPr>
              <a:t>• обнаружила подделку внешняя сторона — расследование</a:t>
            </a:r>
          </a:p>
          <a:p>
            <a:pPr algn="l">
              <a:lnSpc>
                <a:spcPct val="126000"/>
              </a:lnSpc>
            </a:pPr>
            <a:r>
              <a:rPr sz="1450" b="0" i="0">
                <a:solidFill>
                  <a:srgbClr val="21295C"/>
                </a:solidFill>
                <a:latin typeface="Arial"/>
              </a:rPr>
              <a:t>• итог: частота ошибок не хуже нормы, хуже раскрытие</a:t>
            </a:r>
          </a:p>
        </p:txBody>
      </p:sp>
      <p:sp>
        <p:nvSpPr>
          <p:cNvPr id="19" name="Rounded Rectangle 18"/>
          <p:cNvSpPr/>
          <p:nvPr/>
        </p:nvSpPr>
        <p:spPr>
          <a:xfrm>
            <a:off x="6251295" y="3285324"/>
            <a:ext cx="5437479" cy="2179945"/>
          </a:xfrm>
          <a:prstGeom prst="roundRect">
            <a:avLst>
              <a:gd name="adj" fmla="val 13982"/>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4407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Раздел 3: ролик</a:t>
            </a:r>
          </a:p>
        </p:txBody>
      </p:sp>
      <p:sp>
        <p:nvSpPr>
          <p:cNvPr id="21" name="TextBox 20"/>
          <p:cNvSpPr txBox="1"/>
          <p:nvPr/>
        </p:nvSpPr>
        <p:spPr>
          <a:xfrm>
            <a:off x="6415887" y="3796951"/>
            <a:ext cx="5108295" cy="1512870"/>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форма сохранена — съёмка выглядит профессиональной</a:t>
            </a:r>
          </a:p>
          <a:p>
            <a:pPr algn="l">
              <a:lnSpc>
                <a:spcPct val="126000"/>
              </a:lnSpc>
            </a:pPr>
            <a:r>
              <a:rPr sz="1400" b="0" i="0">
                <a:solidFill>
                  <a:srgbClr val="21295C"/>
                </a:solidFill>
                <a:latin typeface="Arial"/>
              </a:rPr>
              <a:t>• обнаружила подделку открытая сторона — аудитория сама</a:t>
            </a:r>
          </a:p>
          <a:p>
            <a:pPr algn="l">
              <a:lnSpc>
                <a:spcPct val="126000"/>
              </a:lnSpc>
            </a:pPr>
            <a:r>
              <a:rPr sz="1400" b="0" i="0">
                <a:solidFill>
                  <a:srgbClr val="21295C"/>
                </a:solidFill>
                <a:latin typeface="Arial"/>
              </a:rPr>
              <a:t>• итог: эмоциональная оценка высока, доверие к происхождению — нет</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Нагрузка по распознаванию переехала на зрителя</a:t>
            </a:r>
            <a:r>
              <a:rPr sz="1450" b="0" i="0">
                <a:solidFill>
                  <a:srgbClr val="21295C"/>
                </a:solidFill>
                <a:latin typeface="Arial"/>
              </a:rPr>
              <a:t> — ни тестирование, ни политика платформы её не берут на себя. </a:t>
            </a:r>
            <a:r>
              <a:rPr sz="1450" b="1" i="0">
                <a:solidFill>
                  <a:srgbClr val="21295C"/>
                </a:solidFill>
                <a:latin typeface="Arial"/>
              </a:rPr>
              <a:t>Два раздела, одна форма:</a:t>
            </a:r>
            <a:r>
              <a:rPr sz="1450" b="0" i="0">
                <a:solidFill>
                  <a:srgbClr val="21295C"/>
                </a:solidFill>
                <a:latin typeface="Arial"/>
              </a:rPr>
              <a:t> сигнал сохраняется, содержание, которое он гарантировал, — нет.</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Альтернатива распознаванию — происхождение, не экспертиза</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LEICA M11-P</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окт. 2023 — первая камера с C2PA</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манифест подписывается в момент съёмки</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OPENAI → DALL-E 3 / CHATGPT</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 02.2024 — манифест на AI-контент</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прозрачная маркировка, а не только подтверждение подлинности</a:t>
            </a:r>
          </a:p>
        </p:txBody>
      </p:sp>
      <p:sp>
        <p:nvSpPr>
          <p:cNvPr id="12" name="Rounded Rectangle 11"/>
          <p:cNvSpPr/>
          <p:nvPr/>
        </p:nvSpPr>
        <p:spPr>
          <a:xfrm>
            <a:off x="502920" y="3055793"/>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192953"/>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TIKTOK, МАРКИРОВАНО</a:t>
            </a:r>
          </a:p>
        </p:txBody>
      </p:sp>
      <p:sp>
        <p:nvSpPr>
          <p:cNvPr id="14" name="TextBox 13"/>
          <p:cNvSpPr txBox="1"/>
          <p:nvPr/>
        </p:nvSpPr>
        <p:spPr>
          <a:xfrm>
            <a:off x="640080" y="3446144"/>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свыше 3 млрд AI-видео (07.2026)</a:t>
            </a:r>
          </a:p>
        </p:txBody>
      </p:sp>
      <p:sp>
        <p:nvSpPr>
          <p:cNvPr id="15" name="TextBox 14"/>
          <p:cNvSpPr txBox="1"/>
          <p:nvPr/>
        </p:nvSpPr>
        <p:spPr>
          <a:xfrm>
            <a:off x="640080" y="3873143"/>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от общего видеопотока не найден в открытых источниках</a:t>
            </a:r>
          </a:p>
        </p:txBody>
      </p:sp>
      <p:sp>
        <p:nvSpPr>
          <p:cNvPr id="16" name="Rounded Rectangle 15"/>
          <p:cNvSpPr/>
          <p:nvPr/>
        </p:nvSpPr>
        <p:spPr>
          <a:xfrm>
            <a:off x="6178143" y="3055793"/>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5303" y="3192953"/>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ЧЕСТНАЯ ГРАНИЦА</a:t>
            </a:r>
          </a:p>
        </p:txBody>
      </p:sp>
      <p:sp>
        <p:nvSpPr>
          <p:cNvPr id="18" name="TextBox 17"/>
          <p:cNvSpPr txBox="1"/>
          <p:nvPr/>
        </p:nvSpPr>
        <p:spPr>
          <a:xfrm>
            <a:off x="6315303" y="3446144"/>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подтверждает происхождение, не правдивость</a:t>
            </a:r>
          </a:p>
        </p:txBody>
      </p:sp>
      <p:sp>
        <p:nvSpPr>
          <p:cNvPr id="19" name="TextBox 18"/>
          <p:cNvSpPr txBox="1"/>
          <p:nvPr/>
        </p:nvSpPr>
        <p:spPr>
          <a:xfrm>
            <a:off x="6315303" y="4263566"/>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теряется при пересохранении без поддержки стандарта</a:t>
            </a:r>
          </a:p>
        </p:txBody>
      </p:sp>
      <p:sp>
        <p:nvSpPr>
          <p:cNvPr id="20" name="Rounded Rectangle 19"/>
          <p:cNvSpPr/>
          <p:nvPr/>
        </p:nvSpPr>
        <p:spPr>
          <a:xfrm>
            <a:off x="374904" y="4703410"/>
            <a:ext cx="11441887" cy="1491833"/>
          </a:xfrm>
          <a:prstGeom prst="roundRect">
            <a:avLst>
              <a:gd name="adj" fmla="val 2043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94850"/>
            <a:ext cx="11112703" cy="1441357"/>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Распознавание постфактум работает внутри знакомого распределения и ненадёжно вне его.</a:t>
            </a:r>
            <a:r>
              <a:rPr sz="1050" b="0" i="0">
                <a:solidFill>
                  <a:srgbClr val="21295C"/>
                </a:solidFill>
                <a:latin typeface="Arial"/>
              </a:rPr>
              <a:t> Разумный следующий шаг — не «детектор получше», а другой класс инструмента: </a:t>
            </a:r>
            <a:r>
              <a:rPr sz="1050" b="1" i="0">
                <a:solidFill>
                  <a:srgbClr val="21295C"/>
                </a:solidFill>
                <a:latin typeface="Arial"/>
              </a:rPr>
              <a:t>происхождение, а не экспертиза.</a:t>
            </a:r>
          </a:p>
          <a:p>
            <a:pPr algn="l">
              <a:lnSpc>
                <a:spcPct val="126000"/>
              </a:lnSpc>
              <a:spcBef>
                <a:spcPts val="700"/>
              </a:spcBef>
            </a:pPr>
            <a:r>
              <a:rPr sz="1050" b="0" i="0">
                <a:solidFill>
                  <a:srgbClr val="21295C"/>
                </a:solidFill>
                <a:latin typeface="Arial"/>
              </a:rPr>
              <a:t/>
            </a:r>
            <a:r>
              <a:rPr sz="1050" b="1" i="0">
                <a:solidFill>
                  <a:srgbClr val="21295C"/>
                </a:solidFill>
                <a:latin typeface="Arial"/>
              </a:rPr>
              <a:t>C2PA / Content Credentials — криптографически подписанный манифест в момент создания файла.</a:t>
            </a:r>
            <a:r>
              <a:rPr sz="1050" b="0" i="0">
                <a:solidFill>
                  <a:srgbClr val="21295C"/>
                </a:solidFill>
                <a:latin typeface="Arial"/>
              </a:rPr>
              <a:t> Leica M11-P — первая камера с нативной поддержкой (октябрь 2023); с февраля 2024 OpenAI подписывает им же изображения DALL-E 3; TikTok промаркировал свыше </a:t>
            </a:r>
            <a:r>
              <a:rPr sz="1050" b="1" i="0">
                <a:solidFill>
                  <a:srgbClr val="21295C"/>
                </a:solidFill>
                <a:latin typeface="Arial"/>
              </a:rPr>
              <a:t>3 млрд</a:t>
            </a:r>
            <a:r>
              <a:rPr sz="1050" b="0" i="0">
                <a:solidFill>
                  <a:srgbClr val="21295C"/>
                </a:solidFill>
                <a:latin typeface="Arial"/>
              </a:rPr>
              <a:t> AI-видео (июль 2026, знаменатель от общего потока не найден).</a:t>
            </a:r>
          </a:p>
          <a:p>
            <a:pPr algn="l">
              <a:lnSpc>
                <a:spcPct val="126000"/>
              </a:lnSpc>
              <a:spcBef>
                <a:spcPts val="700"/>
              </a:spcBef>
            </a:pPr>
            <a:r>
              <a:rPr sz="1050" b="0" i="0">
                <a:solidFill>
                  <a:srgbClr val="21295C"/>
                </a:solidFill>
                <a:latin typeface="Arial"/>
              </a:rPr>
              <a:t/>
            </a:r>
            <a:r>
              <a:rPr sz="1050" b="1" i="0">
                <a:solidFill>
                  <a:srgbClr val="21295C"/>
                </a:solidFill>
                <a:latin typeface="Arial"/>
              </a:rPr>
              <a:t>Честная граница: манифест подтверждает происхождение, не правдивость содержания</a:t>
            </a:r>
            <a:r>
              <a:rPr sz="1050" b="0" i="0">
                <a:solidFill>
                  <a:srgbClr val="21295C"/>
                </a:solidFill>
                <a:latin typeface="Arial"/>
              </a:rPr>
              <a:t> — и теряется при пересохранении без поддержки стандарта.</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Coalition for Content Provenance and Authenticity (C2PA); Content Authenticity Initiative; подтверждено прямой проверкой, rework/research/06-recognition-models-verification.md, пункт 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342436"/>
          </a:xfrm>
          <a:prstGeom prst="roundRect">
            <a:avLst>
              <a:gd name="adj" fmla="val 9119"/>
            </a:avLst>
          </a:prstGeom>
          <a:solidFill>
            <a:srgbClr val="F4F7FA"/>
          </a:solidFill>
          <a:ln w="19050">
            <a:solidFill>
              <a:srgbClr val="1C7293"/>
            </a:solidFill>
          </a:ln>
          <a:effectLst/>
        </p:spPr>
        <p:txBody>
          <a:bodyPr rtlCol="0" anchor="ctr"/>
          <a:lstStyle/>
          <a:p>
            <a:pPr algn="ctr"/>
          </a:p>
        </p:txBody>
      </p:sp>
      <p:pic>
        <p:nvPicPr>
          <p:cNvPr id="5" name="Picture 4" descr="s38-lady-justice-statue.jpg"/>
          <p:cNvPicPr>
            <a:picLocks noChangeAspect="1"/>
          </p:cNvPicPr>
          <p:nvPr/>
        </p:nvPicPr>
        <p:blipFill>
          <a:blip r:embed="rId2"/>
          <a:stretch>
            <a:fillRect/>
          </a:stretch>
        </p:blipFill>
        <p:spPr>
          <a:xfrm>
            <a:off x="6949440" y="1051560"/>
            <a:ext cx="4602175" cy="3068116"/>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Счёт: кто платит за подделываемое узнавание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масштаба одного счёта:</a:t>
            </a:r>
            <a:r>
              <a:rPr sz="1550" b="0" i="0">
                <a:solidFill>
                  <a:srgbClr val="21295C"/>
                </a:solidFill>
                <a:latin typeface="Arial"/>
              </a:rPr>
              <a:t> дело · человек · компания. И критерии, когда модель не брать.</a:t>
            </a:r>
          </a:p>
        </p:txBody>
      </p:sp>
      <p:sp>
        <p:nvSpPr>
          <p:cNvPr id="9" name="TextBox 8"/>
          <p:cNvSpPr txBox="1"/>
          <p:nvPr/>
        </p:nvSpPr>
        <p:spPr>
          <a:xfrm>
            <a:off x="704088" y="3045563"/>
            <a:ext cx="5742432" cy="2755392"/>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Классика: три способа купить право — и исключение голоса</a:t>
            </a:r>
            <a:r>
              <a:rPr sz="1550" b="0" i="0">
                <a:solidFill>
                  <a:srgbClr val="21295C"/>
                </a:solidFill>
                <a:latin typeface="Arial"/>
              </a:rPr>
              <a:t> · </a:t>
            </a:r>
            <a:r>
              <a:rPr sz="1550" b="1" i="0">
                <a:solidFill>
                  <a:srgbClr val="21295C"/>
                </a:solidFill>
                <a:latin typeface="Arial"/>
              </a:rPr>
              <a:t>Getty против Stability AI: заплатить заранее или рискнуть судом</a:t>
            </a:r>
            <a:r>
              <a:rPr sz="1550" b="0" i="0">
                <a:solidFill>
                  <a:srgbClr val="21295C"/>
                </a:solidFill>
                <a:latin typeface="Arial"/>
              </a:rPr>
              <a:t> · </a:t>
            </a:r>
            <a:r>
              <a:rPr sz="1550" b="1" i="0">
                <a:solidFill>
                  <a:srgbClr val="21295C"/>
                </a:solidFill>
                <a:latin typeface="Arial"/>
              </a:rPr>
              <a:t>NYT против OpenAI и иски лейблов</a:t>
            </a:r>
            <a:r>
              <a:rPr sz="1550" b="0" i="0">
                <a:solidFill>
                  <a:srgbClr val="21295C"/>
                </a:solidFill>
                <a:latin typeface="Arial"/>
              </a:rPr>
              <a:t> · </a:t>
            </a:r>
            <a:r>
              <a:rPr sz="1550" b="1" i="0">
                <a:solidFill>
                  <a:srgbClr val="21295C"/>
                </a:solidFill>
                <a:latin typeface="Arial"/>
              </a:rPr>
              <a:t>Лада Чижова: обвал дохода — и доход без ремесла</a:t>
            </a:r>
            <a:r>
              <a:rPr sz="1550" b="0" i="0">
                <a:solidFill>
                  <a:srgbClr val="21295C"/>
                </a:solidFill>
                <a:latin typeface="Arial"/>
              </a:rPr>
              <a:t> · </a:t>
            </a:r>
            <a:r>
              <a:rPr sz="1550" b="1" i="0">
                <a:solidFill>
                  <a:srgbClr val="21295C"/>
                </a:solidFill>
                <a:latin typeface="Arial"/>
              </a:rPr>
              <a:t>Фриланс-биржи: рост измерен, падение — честный пробел</a:t>
            </a:r>
            <a:r>
              <a:rPr sz="1550" b="0" i="0">
                <a:solidFill>
                  <a:srgbClr val="21295C"/>
                </a:solidFill>
                <a:latin typeface="Arial"/>
              </a:rPr>
              <a:t> · </a:t>
            </a:r>
            <a:r>
              <a:rPr sz="1550" b="1" i="0">
                <a:solidFill>
                  <a:srgbClr val="21295C"/>
                </a:solidFill>
                <a:latin typeface="Arial"/>
              </a:rPr>
              <a:t>Getty Images: ставка на слияние — и банкротство</a:t>
            </a:r>
            <a:r>
              <a:rPr sz="1550" b="0" i="0">
                <a:solidFill>
                  <a:srgbClr val="21295C"/>
                </a:solidFill>
                <a:latin typeface="Arial"/>
              </a:rPr>
              <a:t> · </a:t>
            </a:r>
            <a:r>
              <a:rPr sz="1550" b="1" i="0">
                <a:solidFill>
                  <a:srgbClr val="21295C"/>
                </a:solidFill>
                <a:latin typeface="Arial"/>
              </a:rPr>
              <a:t>Четыре критерия отказа — и чек-лист на Ладе Чижовой</a:t>
            </a:r>
            <a:r>
              <a:rPr sz="1550" b="0" i="0">
                <a:solidFill>
                  <a:srgbClr val="21295C"/>
                </a:solidFill>
                <a:latin typeface="Arial"/>
              </a:rPr>
              <a:t> · </a:t>
            </a:r>
            <a:r>
              <a:rPr sz="1550" b="1" i="0">
                <a:solidFill>
                  <a:srgbClr val="21295C"/>
                </a:solidFill>
                <a:latin typeface="Arial"/>
              </a:rPr>
              <a:t>Три формы переезда нагрузки — и счёт сквозной линии</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Классика: три способа купить право — и исключение голоса</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 1 — АГРЕГАТОР</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 прейскуранту</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фотобанк, музыкальная библиотека</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 2 — ПЕРЕГОВОРЫ</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цена не фиксирована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прямо с правообладателем</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 3 — СУД ПОСТФАКТУМ</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когда первые два пропущены</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включается, не заменяет</a:t>
            </a:r>
          </a:p>
        </p:txBody>
      </p:sp>
      <p:sp>
        <p:nvSpPr>
          <p:cNvPr id="16" name="Rounded Rectangle 15"/>
          <p:cNvSpPr/>
          <p:nvPr/>
        </p:nvSpPr>
        <p:spPr>
          <a:xfrm>
            <a:off x="502920" y="3055793"/>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192953"/>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ФОТО: ОПТ / РОЗНИЦА</a:t>
            </a:r>
          </a:p>
        </p:txBody>
      </p:sp>
      <p:sp>
        <p:nvSpPr>
          <p:cNvPr id="18" name="TextBox 17"/>
          <p:cNvSpPr txBox="1"/>
          <p:nvPr/>
        </p:nvSpPr>
        <p:spPr>
          <a:xfrm>
            <a:off x="640080" y="3446144"/>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 / $130–499</a:t>
            </a:r>
          </a:p>
        </p:txBody>
      </p:sp>
      <p:sp>
        <p:nvSpPr>
          <p:cNvPr id="19" name="TextBox 18"/>
          <p:cNvSpPr txBox="1"/>
          <p:nvPr/>
        </p:nvSpPr>
        <p:spPr>
          <a:xfrm>
            <a:off x="640080" y="3873143"/>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экономика объёма</a:t>
            </a:r>
          </a:p>
        </p:txBody>
      </p:sp>
      <p:sp>
        <p:nvSpPr>
          <p:cNvPr id="20" name="Rounded Rectangle 19"/>
          <p:cNvSpPr/>
          <p:nvPr/>
        </p:nvSpPr>
        <p:spPr>
          <a:xfrm>
            <a:off x="4286402" y="3055793"/>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4423562" y="3192953"/>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ТРЕК: СТОК</a:t>
            </a:r>
          </a:p>
        </p:txBody>
      </p:sp>
      <p:sp>
        <p:nvSpPr>
          <p:cNvPr id="22" name="TextBox 21"/>
          <p:cNvSpPr txBox="1"/>
          <p:nvPr/>
        </p:nvSpPr>
        <p:spPr>
          <a:xfrm>
            <a:off x="4423562" y="3446144"/>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a:t>
            </a:r>
          </a:p>
        </p:txBody>
      </p:sp>
      <p:sp>
        <p:nvSpPr>
          <p:cNvPr id="23" name="TextBox 22"/>
          <p:cNvSpPr txBox="1"/>
          <p:nvPr/>
        </p:nvSpPr>
        <p:spPr>
          <a:xfrm>
            <a:off x="4423562" y="3873143"/>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стандартная лицензия</a:t>
            </a:r>
          </a:p>
        </p:txBody>
      </p:sp>
      <p:sp>
        <p:nvSpPr>
          <p:cNvPr id="24" name="Rounded Rectangle 23"/>
          <p:cNvSpPr/>
          <p:nvPr/>
        </p:nvSpPr>
        <p:spPr>
          <a:xfrm>
            <a:off x="8069884" y="3055793"/>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25" name="TextBox 24"/>
          <p:cNvSpPr txBox="1"/>
          <p:nvPr/>
        </p:nvSpPr>
        <p:spPr>
          <a:xfrm>
            <a:off x="8207044" y="3192953"/>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ГОЛОС/ВНЕШНОСТЬ (SAG-AFTRA)</a:t>
            </a:r>
          </a:p>
        </p:txBody>
      </p:sp>
      <p:sp>
        <p:nvSpPr>
          <p:cNvPr id="26" name="TextBox 25"/>
          <p:cNvSpPr txBox="1"/>
          <p:nvPr/>
        </p:nvSpPr>
        <p:spPr>
          <a:xfrm>
            <a:off x="8207044" y="3446144"/>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$956,75–1914,25 + 16,5%</a:t>
            </a:r>
          </a:p>
        </p:txBody>
      </p:sp>
      <p:sp>
        <p:nvSpPr>
          <p:cNvPr id="27" name="TextBox 26"/>
          <p:cNvSpPr txBox="1"/>
          <p:nvPr/>
        </p:nvSpPr>
        <p:spPr>
          <a:xfrm>
            <a:off x="8207044" y="4263566"/>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использования — единственное исключение из разрыва 3-4 порядка</a:t>
            </a:r>
          </a:p>
        </p:txBody>
      </p:sp>
      <p:sp>
        <p:nvSpPr>
          <p:cNvPr id="28" name="Rounded Rectangle 27"/>
          <p:cNvSpPr/>
          <p:nvPr/>
        </p:nvSpPr>
        <p:spPr>
          <a:xfrm>
            <a:off x="374904" y="4914653"/>
            <a:ext cx="11441887" cy="1321554"/>
          </a:xfrm>
          <a:prstGeom prst="roundRect">
            <a:avLst>
              <a:gd name="adj" fmla="val 23063"/>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006093"/>
            <a:ext cx="5373471" cy="1230114"/>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Способ 1 — покупка готовой лицензии у агрегатора</a:t>
            </a:r>
            <a:r>
              <a:rPr sz="1000" b="0" i="0">
                <a:solidFill>
                  <a:srgbClr val="21295C"/>
                </a:solidFill>
                <a:latin typeface="Arial"/>
              </a:rPr>
              <a:t>, по прейскуранту. </a:t>
            </a:r>
            <a:r>
              <a:rPr sz="1000" b="1" i="0">
                <a:solidFill>
                  <a:srgbClr val="21295C"/>
                </a:solidFill>
                <a:latin typeface="Arial"/>
              </a:rPr>
              <a:t>Способ 2 — прямые переговоры с правообладателем</a:t>
            </a:r>
            <a:r>
              <a:rPr sz="1000" b="0" i="0">
                <a:solidFill>
                  <a:srgbClr val="21295C"/>
                </a:solidFill>
                <a:latin typeface="Arial"/>
              </a:rPr>
              <a:t>, цена не фиксирована. </a:t>
            </a:r>
            <a:r>
              <a:rPr sz="1000" b="1" i="0">
                <a:solidFill>
                  <a:srgbClr val="21295C"/>
                </a:solidFill>
                <a:latin typeface="Arial"/>
              </a:rPr>
              <a:t>Способ 3 — суд</a:t>
            </a:r>
            <a:r>
              <a:rPr sz="1000" b="0" i="0">
                <a:solidFill>
                  <a:srgbClr val="21295C"/>
                </a:solidFill>
                <a:latin typeface="Arial"/>
              </a:rPr>
              <a:t>, когда первые два пропущены.</a:t>
            </a:r>
          </a:p>
          <a:p>
            <a:pPr algn="l">
              <a:lnSpc>
                <a:spcPct val="126000"/>
              </a:lnSpc>
              <a:spcBef>
                <a:spcPts val="700"/>
              </a:spcBef>
            </a:pPr>
            <a:r>
              <a:rPr sz="1000" b="0" i="0">
                <a:solidFill>
                  <a:srgbClr val="21295C"/>
                </a:solidFill>
                <a:latin typeface="Arial"/>
              </a:rPr>
              <a:t/>
            </a:r>
            <a:r>
              <a:rPr sz="1000" b="1" i="0">
                <a:solidFill>
                  <a:srgbClr val="21295C"/>
                </a:solidFill>
                <a:latin typeface="Arial"/>
              </a:rPr>
              <a:t>Фото: опт $2,5/изображение против розницы $130–499</a:t>
            </a:r>
            <a:r>
              <a:rPr sz="1000" b="0" i="0">
                <a:solidFill>
                  <a:srgbClr val="21295C"/>
                </a:solidFill>
                <a:latin typeface="Arial"/>
              </a:rPr>
              <a:t> — экономика объёма, не прихоть прейскуранта. </a:t>
            </a:r>
            <a:r>
              <a:rPr sz="1000" b="1" i="0">
                <a:solidFill>
                  <a:srgbClr val="21295C"/>
                </a:solidFill>
                <a:latin typeface="Arial"/>
              </a:rPr>
              <a:t>Трек: $20–100 стандартно.</a:t>
            </a:r>
          </a:p>
        </p:txBody>
      </p:sp>
      <p:sp>
        <p:nvSpPr>
          <p:cNvPr id="30" name="TextBox 29"/>
          <p:cNvSpPr txBox="1"/>
          <p:nvPr/>
        </p:nvSpPr>
        <p:spPr>
          <a:xfrm>
            <a:off x="6278727" y="5006093"/>
            <a:ext cx="5373471" cy="1230114"/>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Исключение: голос и внешность.</a:t>
            </a:r>
            <a:r>
              <a:rPr sz="1000" b="0" i="0">
                <a:solidFill>
                  <a:srgbClr val="21295C"/>
                </a:solidFill>
                <a:latin typeface="Arial"/>
              </a:rPr>
              <a:t> Фотобанк продаёт уже существующий объект; голос и внешность — узнаваемую личность, право возобновляется для каждого применения отдельно. </a:t>
            </a:r>
            <a:r>
              <a:rPr sz="1000" b="1" i="0">
                <a:solidFill>
                  <a:srgbClr val="21295C"/>
                </a:solidFill>
                <a:latin typeface="Arial"/>
              </a:rPr>
              <a:t>SAG-AFTRA заранее зафиксировал цену синтеза контрактом:</a:t>
            </a:r>
            <a:r>
              <a:rPr sz="1000" b="0" i="0">
                <a:solidFill>
                  <a:srgbClr val="21295C"/>
                </a:solidFill>
                <a:latin typeface="Arial"/>
              </a:rPr>
              <a:t> согласие на копию — $956,75–1914,25 + 16,5% — ещё до использования; само использование — ×1,5 ставки. </a:t>
            </a:r>
            <a:r>
              <a:rPr sz="1000" b="1" i="0">
                <a:solidFill>
                  <a:srgbClr val="21295C"/>
                </a:solidFill>
                <a:latin typeface="Arial"/>
              </a:rPr>
              <a:t>Единственное исключение главы из разрыва в три-четыре порядка.</a:t>
            </a:r>
          </a:p>
        </p:txBody>
      </p:sp>
      <p:sp>
        <p:nvSpPr>
          <p:cNvPr id="31" name="Rectangle 30"/>
          <p:cNvSpPr/>
          <p:nvPr/>
        </p:nvSpPr>
        <p:spPr>
          <a:xfrm>
            <a:off x="6091275" y="5006093"/>
            <a:ext cx="9144" cy="1079103"/>
          </a:xfrm>
          <a:prstGeom prst="rect">
            <a:avLst/>
          </a:prstGeom>
          <a:solidFill>
            <a:srgbClr val="D9E2EC"/>
          </a:solidFill>
          <a:ln>
            <a:noFill/>
          </a:ln>
          <a:effectLst/>
        </p:spPr>
        <p:txBody>
          <a:bodyPr rtlCol="0" anchor="ctr"/>
          <a:lstStyle/>
          <a:p>
            <a:pPr algn="ct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 GVAA Rate Guide, 2026; SAG-AFTRA, 2024-2025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Getty против Stability AI: заплатить за лицензию заранее — или рискнуть судом</a:t>
            </a:r>
          </a:p>
        </p:txBody>
      </p:sp>
      <p:sp>
        <p:nvSpPr>
          <p:cNvPr id="4" name="Rounded Rectangle 3"/>
          <p:cNvSpPr/>
          <p:nvPr/>
        </p:nvSpPr>
        <p:spPr>
          <a:xfrm>
            <a:off x="502920" y="1335024"/>
            <a:ext cx="249722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2290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ПУТЬ</a:t>
            </a:r>
          </a:p>
        </p:txBody>
      </p:sp>
      <p:sp>
        <p:nvSpPr>
          <p:cNvPr id="6" name="TextBox 5"/>
          <p:cNvSpPr txBox="1"/>
          <p:nvPr/>
        </p:nvSpPr>
        <p:spPr>
          <a:xfrm>
            <a:off x="640080" y="1725375"/>
            <a:ext cx="222290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цена известна заранее</a:t>
            </a:r>
          </a:p>
        </p:txBody>
      </p:sp>
      <p:sp>
        <p:nvSpPr>
          <p:cNvPr id="7" name="TextBox 6"/>
          <p:cNvSpPr txBox="1"/>
          <p:nvPr/>
        </p:nvSpPr>
        <p:spPr>
          <a:xfrm>
            <a:off x="640080" y="2542797"/>
            <a:ext cx="222290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переплата ограничена сверху ценой лицензии</a:t>
            </a:r>
          </a:p>
        </p:txBody>
      </p:sp>
      <p:sp>
        <p:nvSpPr>
          <p:cNvPr id="8" name="Rounded Rectangle 7"/>
          <p:cNvSpPr/>
          <p:nvPr/>
        </p:nvSpPr>
        <p:spPr>
          <a:xfrm>
            <a:off x="3164741" y="1335024"/>
            <a:ext cx="249722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01901" y="1472184"/>
            <a:ext cx="22229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ПУТЬ БЕЗ ЛИЦЕНЗИИ (2023-24)</a:t>
            </a:r>
          </a:p>
        </p:txBody>
      </p:sp>
      <p:sp>
        <p:nvSpPr>
          <p:cNvPr id="10" name="TextBox 9"/>
          <p:cNvSpPr txBox="1"/>
          <p:nvPr/>
        </p:nvSpPr>
        <p:spPr>
          <a:xfrm>
            <a:off x="3301901" y="1932846"/>
            <a:ext cx="222290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цена неизвестна</a:t>
            </a:r>
          </a:p>
        </p:txBody>
      </p:sp>
      <p:sp>
        <p:nvSpPr>
          <p:cNvPr id="11" name="TextBox 10"/>
          <p:cNvSpPr txBox="1"/>
          <p:nvPr/>
        </p:nvSpPr>
        <p:spPr>
          <a:xfrm>
            <a:off x="3301901" y="2750268"/>
            <a:ext cx="222290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становится известна постфактум, по-разному для разных ответчиков</a:t>
            </a:r>
          </a:p>
        </p:txBody>
      </p:sp>
      <p:sp>
        <p:nvSpPr>
          <p:cNvPr id="12" name="Rounded Rectangle 11"/>
          <p:cNvSpPr/>
          <p:nvPr/>
        </p:nvSpPr>
        <p:spPr>
          <a:xfrm>
            <a:off x="5826562" y="1335024"/>
            <a:ext cx="249722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63722" y="1472184"/>
            <a:ext cx="222290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ADOBE FIREFLY, ВЫРУЧКА</a:t>
            </a:r>
          </a:p>
        </p:txBody>
      </p:sp>
      <p:sp>
        <p:nvSpPr>
          <p:cNvPr id="14" name="TextBox 13"/>
          <p:cNvSpPr txBox="1"/>
          <p:nvPr/>
        </p:nvSpPr>
        <p:spPr>
          <a:xfrm>
            <a:off x="5963722" y="1725375"/>
            <a:ext cx="222290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 $400 млн</a:t>
            </a:r>
          </a:p>
        </p:txBody>
      </p:sp>
      <p:sp>
        <p:nvSpPr>
          <p:cNvPr id="15" name="TextBox 14"/>
          <p:cNvSpPr txBox="1"/>
          <p:nvPr/>
        </p:nvSpPr>
        <p:spPr>
          <a:xfrm>
            <a:off x="5963722" y="2152374"/>
            <a:ext cx="222290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исключительно лицензированном корпусе, 22 млрд+ единиц</a:t>
            </a:r>
          </a:p>
        </p:txBody>
      </p:sp>
      <p:sp>
        <p:nvSpPr>
          <p:cNvPr id="16" name="Rounded Rectangle 15"/>
          <p:cNvSpPr/>
          <p:nvPr/>
        </p:nvSpPr>
        <p:spPr>
          <a:xfrm>
            <a:off x="502920" y="3685751"/>
            <a:ext cx="2497229"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822911"/>
            <a:ext cx="22229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ВНУТРИ ОБУЧАЮЩЕГО КОРПУСА</a:t>
            </a:r>
          </a:p>
        </p:txBody>
      </p:sp>
      <p:sp>
        <p:nvSpPr>
          <p:cNvPr id="18" name="TextBox 17"/>
          <p:cNvSpPr txBox="1"/>
          <p:nvPr/>
        </p:nvSpPr>
        <p:spPr>
          <a:xfrm>
            <a:off x="640080" y="4283573"/>
            <a:ext cx="2222909"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≈12,3 млн изображений Getty</a:t>
            </a:r>
          </a:p>
        </p:txBody>
      </p:sp>
      <p:sp>
        <p:nvSpPr>
          <p:cNvPr id="19" name="Rounded Rectangle 18"/>
          <p:cNvSpPr/>
          <p:nvPr/>
        </p:nvSpPr>
        <p:spPr>
          <a:xfrm>
            <a:off x="3164741" y="3685751"/>
            <a:ext cx="2497229"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20" name="TextBox 19"/>
          <p:cNvSpPr txBox="1"/>
          <p:nvPr/>
        </p:nvSpPr>
        <p:spPr>
          <a:xfrm>
            <a:off x="3301901" y="3822911"/>
            <a:ext cx="22229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 ОПТОВОМУ ТАРИФУ $2,5/ШТ</a:t>
            </a:r>
          </a:p>
        </p:txBody>
      </p:sp>
      <p:sp>
        <p:nvSpPr>
          <p:cNvPr id="21" name="TextBox 20"/>
          <p:cNvSpPr txBox="1"/>
          <p:nvPr/>
        </p:nvSpPr>
        <p:spPr>
          <a:xfrm>
            <a:off x="3301901" y="4283573"/>
            <a:ext cx="222290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 $30,75 млн</a:t>
            </a:r>
          </a:p>
        </p:txBody>
      </p:sp>
      <p:sp>
        <p:nvSpPr>
          <p:cNvPr id="22" name="TextBox 21"/>
          <p:cNvSpPr txBox="1"/>
          <p:nvPr/>
        </p:nvSpPr>
        <p:spPr>
          <a:xfrm>
            <a:off x="3301901" y="4710573"/>
            <a:ext cx="222290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теоретическая цена — не присуждённая сумма</a:t>
            </a:r>
          </a:p>
        </p:txBody>
      </p:sp>
      <p:sp>
        <p:nvSpPr>
          <p:cNvPr id="23" name="Rounded Rectangle 22"/>
          <p:cNvSpPr/>
          <p:nvPr/>
        </p:nvSpPr>
        <p:spPr>
          <a:xfrm>
            <a:off x="5826562" y="3685751"/>
            <a:ext cx="2497229"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24" name="TextBox 23"/>
          <p:cNvSpPr txBox="1"/>
          <p:nvPr/>
        </p:nvSpPr>
        <p:spPr>
          <a:xfrm>
            <a:off x="5963722" y="3822911"/>
            <a:ext cx="222290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 РОЗНИЧНОМУ ТАРИФУ $130/ШТ</a:t>
            </a:r>
          </a:p>
        </p:txBody>
      </p:sp>
      <p:sp>
        <p:nvSpPr>
          <p:cNvPr id="25" name="TextBox 24"/>
          <p:cNvSpPr txBox="1"/>
          <p:nvPr/>
        </p:nvSpPr>
        <p:spPr>
          <a:xfrm>
            <a:off x="5963722" y="4283573"/>
            <a:ext cx="222290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 $1,6 млрд</a:t>
            </a:r>
          </a:p>
        </p:txBody>
      </p:sp>
      <p:sp>
        <p:nvSpPr>
          <p:cNvPr id="26" name="TextBox 25"/>
          <p:cNvSpPr txBox="1"/>
          <p:nvPr/>
        </p:nvSpPr>
        <p:spPr>
          <a:xfrm>
            <a:off x="5963722" y="4710573"/>
            <a:ext cx="222290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оговорка; разброс — 52 раза</a:t>
            </a:r>
          </a:p>
        </p:txBody>
      </p:sp>
      <p:sp>
        <p:nvSpPr>
          <p:cNvPr id="27" name="Rounded Rectangle 26"/>
          <p:cNvSpPr/>
          <p:nvPr/>
        </p:nvSpPr>
        <p:spPr>
          <a:xfrm>
            <a:off x="374904" y="5361659"/>
            <a:ext cx="8076903" cy="87454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5453099"/>
            <a:ext cx="7747719" cy="783108"/>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Классический путь:</a:t>
            </a:r>
            <a:r>
              <a:rPr sz="850" b="0" i="0">
                <a:solidFill>
                  <a:srgbClr val="21295C"/>
                </a:solidFill>
                <a:latin typeface="Arial"/>
              </a:rPr>
              <a:t> заплатить заранее — цена известна. </a:t>
            </a:r>
            <a:r>
              <a:rPr sz="850" b="1" i="0">
                <a:solidFill>
                  <a:srgbClr val="21295C"/>
                </a:solidFill>
                <a:latin typeface="Arial"/>
              </a:rPr>
              <a:t>Путь без лицензии (2023–2024):</a:t>
            </a:r>
            <a:r>
              <a:rPr sz="850" b="0" i="0">
                <a:solidFill>
                  <a:srgbClr val="21295C"/>
                </a:solidFill>
                <a:latin typeface="Arial"/>
              </a:rPr>
              <a:t> рискнуть судом — цена известна только постфактум. Путь, который не стали ждать, — </a:t>
            </a:r>
            <a:r>
              <a:rPr sz="850" b="1" i="0">
                <a:solidFill>
                  <a:srgbClr val="21295C"/>
                </a:solidFill>
                <a:latin typeface="Arial"/>
              </a:rPr>
              <a:t>Adobe Firefly</a:t>
            </a:r>
            <a:r>
              <a:rPr sz="850" b="0" i="0">
                <a:solidFill>
                  <a:srgbClr val="21295C"/>
                </a:solidFill>
                <a:latin typeface="Arial"/>
              </a:rPr>
              <a:t>: обучена на лицензированном материале, и это коммерчески работает.</a:t>
            </a:r>
          </a:p>
          <a:p>
            <a:pPr algn="l">
              <a:lnSpc>
                <a:spcPct val="126000"/>
              </a:lnSpc>
              <a:spcBef>
                <a:spcPts val="700"/>
              </a:spcBef>
            </a:pPr>
            <a:r>
              <a:rPr sz="850" b="0" i="0">
                <a:solidFill>
                  <a:srgbClr val="21295C"/>
                </a:solidFill>
                <a:latin typeface="Arial"/>
              </a:rPr>
              <a:t/>
            </a:r>
            <a:r>
              <a:rPr sz="850" b="1" i="0">
                <a:solidFill>
                  <a:srgbClr val="21295C"/>
                </a:solidFill>
                <a:latin typeface="Arial"/>
              </a:rPr>
              <a:t>Getty Images против Stability AI</a:t>
            </a:r>
            <a:r>
              <a:rPr sz="850" b="0" i="0">
                <a:solidFill>
                  <a:srgbClr val="21295C"/>
                </a:solidFill>
                <a:latin typeface="Arial"/>
              </a:rPr>
              <a:t> — ≈12,3 млн изображений Getty в обучающем корпусе без лицензии, по иску в двух юрисдикциях. </a:t>
            </a:r>
            <a:r>
              <a:rPr sz="850" b="1" i="0">
                <a:solidFill>
                  <a:srgbClr val="21295C"/>
                </a:solidFill>
                <a:latin typeface="Arial"/>
              </a:rPr>
              <a:t>Разброс оптовой и розничной цены — 52 раза: консенсуса о цене обучения нет.</a:t>
            </a:r>
          </a:p>
        </p:txBody>
      </p:sp>
      <p:sp>
        <p:nvSpPr>
          <p:cNvPr id="29" name="Rounded Rectangle 28"/>
          <p:cNvSpPr/>
          <p:nvPr/>
        </p:nvSpPr>
        <p:spPr>
          <a:xfrm>
            <a:off x="8634687" y="1335024"/>
            <a:ext cx="3054087" cy="4389120"/>
          </a:xfrm>
          <a:prstGeom prst="roundRect">
            <a:avLst>
              <a:gd name="adj" fmla="val 9980"/>
            </a:avLst>
          </a:prstGeom>
          <a:solidFill>
            <a:srgbClr val="F4F7FA"/>
          </a:solidFill>
          <a:ln w="19050">
            <a:solidFill>
              <a:srgbClr val="1C7293"/>
            </a:solidFill>
          </a:ln>
          <a:effectLst/>
        </p:spPr>
        <p:txBody>
          <a:bodyPr rtlCol="0" anchor="ctr"/>
          <a:lstStyle/>
          <a:p>
            <a:pPr algn="ctr"/>
          </a:p>
        </p:txBody>
      </p:sp>
      <p:pic>
        <p:nvPicPr>
          <p:cNvPr id="30" name="Picture 29" descr="s43-stability-ai-emad-mostaque-ai-summit.jpg"/>
          <p:cNvPicPr>
            <a:picLocks noChangeAspect="1"/>
          </p:cNvPicPr>
          <p:nvPr/>
        </p:nvPicPr>
        <p:blipFill>
          <a:blip r:embed="rId2"/>
          <a:stretch>
            <a:fillRect/>
          </a:stretch>
        </p:blipFill>
        <p:spPr>
          <a:xfrm>
            <a:off x="8771847" y="1472184"/>
            <a:ext cx="2779767" cy="4114800"/>
          </a:xfrm>
          <a:prstGeom prst="rect">
            <a:avLst/>
          </a:prstGeom>
        </p:spPr>
      </p:pic>
      <p:sp>
        <p:nvSpPr>
          <p:cNvPr id="31" name="Rectangle 30"/>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Bird &amp; Bird, 2025; Mayer Brown, 2025; CourtListener, 2026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решил суд — и почему это не «разрешил красть»</a:t>
            </a:r>
          </a:p>
        </p:txBody>
      </p:sp>
      <p:sp>
        <p:nvSpPr>
          <p:cNvPr id="4" name="Rounded Rectangle 3"/>
          <p:cNvSpPr/>
          <p:nvPr/>
        </p:nvSpPr>
        <p:spPr>
          <a:xfrm>
            <a:off x="502920" y="1335024"/>
            <a:ext cx="1899818" cy="1826832"/>
          </a:xfrm>
          <a:prstGeom prst="roundRect">
            <a:avLst>
              <a:gd name="adj" fmla="val 1668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254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ЮРИСДИКЦИЯ</a:t>
            </a:r>
          </a:p>
        </p:txBody>
      </p:sp>
      <p:sp>
        <p:nvSpPr>
          <p:cNvPr id="6" name="TextBox 5"/>
          <p:cNvSpPr txBox="1"/>
          <p:nvPr/>
        </p:nvSpPr>
        <p:spPr>
          <a:xfrm>
            <a:off x="640080" y="1725375"/>
            <a:ext cx="16254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претензия об обучении отозвана Getty</a:t>
            </a:r>
          </a:p>
        </p:txBody>
      </p:sp>
      <p:sp>
        <p:nvSpPr>
          <p:cNvPr id="7" name="TextBox 6"/>
          <p:cNvSpPr txBox="1"/>
          <p:nvPr/>
        </p:nvSpPr>
        <p:spPr>
          <a:xfrm>
            <a:off x="640080" y="2602209"/>
            <a:ext cx="16254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право территориально</a:t>
            </a:r>
          </a:p>
        </p:txBody>
      </p:sp>
      <p:sp>
        <p:nvSpPr>
          <p:cNvPr id="8" name="Rounded Rectangle 7"/>
          <p:cNvSpPr/>
          <p:nvPr/>
        </p:nvSpPr>
        <p:spPr>
          <a:xfrm>
            <a:off x="2567330" y="1335024"/>
            <a:ext cx="1899818" cy="1826832"/>
          </a:xfrm>
          <a:prstGeom prst="roundRect">
            <a:avLst>
              <a:gd name="adj" fmla="val 1668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704490" y="1472184"/>
            <a:ext cx="16254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 CDPA «КОПИЯ»</a:t>
            </a:r>
          </a:p>
        </p:txBody>
      </p:sp>
      <p:sp>
        <p:nvSpPr>
          <p:cNvPr id="10" name="TextBox 9"/>
          <p:cNvSpPr txBox="1"/>
          <p:nvPr/>
        </p:nvSpPr>
        <p:spPr>
          <a:xfrm>
            <a:off x="2704490" y="1725375"/>
            <a:ext cx="16254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веса — не копия</a:t>
            </a:r>
          </a:p>
        </p:txBody>
      </p:sp>
      <p:sp>
        <p:nvSpPr>
          <p:cNvPr id="11" name="TextBox 10"/>
          <p:cNvSpPr txBox="1"/>
          <p:nvPr/>
        </p:nvSpPr>
        <p:spPr>
          <a:xfrm>
            <a:off x="2704490" y="2542797"/>
            <a:ext cx="16254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зависимость ≠ воспроизведение</a:t>
            </a:r>
          </a:p>
        </p:txBody>
      </p:sp>
      <p:sp>
        <p:nvSpPr>
          <p:cNvPr id="12" name="Rounded Rectangle 11"/>
          <p:cNvSpPr/>
          <p:nvPr/>
        </p:nvSpPr>
        <p:spPr>
          <a:xfrm>
            <a:off x="4631740" y="1335024"/>
            <a:ext cx="1899818" cy="1826832"/>
          </a:xfrm>
          <a:prstGeom prst="roundRect">
            <a:avLst>
              <a:gd name="adj" fmla="val 1668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768900" y="1472184"/>
            <a:ext cx="16254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ЛИЦЕНЗИЯ ПО ВЕРДИКТУ</a:t>
            </a:r>
          </a:p>
        </p:txBody>
      </p:sp>
      <p:sp>
        <p:nvSpPr>
          <p:cNvPr id="14" name="TextBox 13"/>
          <p:cNvSpPr txBox="1"/>
          <p:nvPr/>
        </p:nvSpPr>
        <p:spPr>
          <a:xfrm>
            <a:off x="4768900" y="1932846"/>
            <a:ext cx="1625498" cy="1004146"/>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не требовалась вовсе</a:t>
            </a:r>
          </a:p>
        </p:txBody>
      </p:sp>
      <p:sp>
        <p:nvSpPr>
          <p:cNvPr id="15" name="Rounded Rectangle 14"/>
          <p:cNvSpPr/>
          <p:nvPr/>
        </p:nvSpPr>
        <p:spPr>
          <a:xfrm>
            <a:off x="502920" y="3326448"/>
            <a:ext cx="2932023"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640080" y="3463608"/>
            <a:ext cx="26577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ТОВАРНЫЙ ЗНАК</a:t>
            </a:r>
          </a:p>
        </p:txBody>
      </p:sp>
      <p:sp>
        <p:nvSpPr>
          <p:cNvPr id="17" name="TextBox 16"/>
          <p:cNvSpPr txBox="1"/>
          <p:nvPr/>
        </p:nvSpPr>
        <p:spPr>
          <a:xfrm>
            <a:off x="640080" y="3716800"/>
            <a:ext cx="26577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нарушение признано, компенсации нет</a:t>
            </a:r>
          </a:p>
        </p:txBody>
      </p:sp>
      <p:sp>
        <p:nvSpPr>
          <p:cNvPr id="18" name="TextBox 17"/>
          <p:cNvSpPr txBox="1"/>
          <p:nvPr/>
        </p:nvSpPr>
        <p:spPr>
          <a:xfrm>
            <a:off x="640080" y="4924645"/>
            <a:ext cx="26577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«ограниченное» и «историческое»</a:t>
            </a:r>
          </a:p>
        </p:txBody>
      </p:sp>
      <p:sp>
        <p:nvSpPr>
          <p:cNvPr id="19" name="Rounded Rectangle 18"/>
          <p:cNvSpPr/>
          <p:nvPr/>
        </p:nvSpPr>
        <p:spPr>
          <a:xfrm>
            <a:off x="3599535" y="3326448"/>
            <a:ext cx="2932023"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20" name="TextBox 19"/>
          <p:cNvSpPr txBox="1"/>
          <p:nvPr/>
        </p:nvSpPr>
        <p:spPr>
          <a:xfrm>
            <a:off x="3736695" y="3463608"/>
            <a:ext cx="26577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АПЕЛЛЯЦИЯ GETTY</a:t>
            </a:r>
          </a:p>
        </p:txBody>
      </p:sp>
      <p:sp>
        <p:nvSpPr>
          <p:cNvPr id="21" name="TextBox 20"/>
          <p:cNvSpPr txBox="1"/>
          <p:nvPr/>
        </p:nvSpPr>
        <p:spPr>
          <a:xfrm>
            <a:off x="3736695" y="3716800"/>
            <a:ext cx="26577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разрешена, январь 2026</a:t>
            </a:r>
          </a:p>
        </p:txBody>
      </p:sp>
      <p:sp>
        <p:nvSpPr>
          <p:cNvPr id="22" name="TextBox 21"/>
          <p:cNvSpPr txBox="1"/>
          <p:nvPr/>
        </p:nvSpPr>
        <p:spPr>
          <a:xfrm>
            <a:off x="3736695" y="4534222"/>
            <a:ext cx="26577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узкий вердикт может быть пересмотрен</a:t>
            </a:r>
          </a:p>
        </p:txBody>
      </p:sp>
      <p:sp>
        <p:nvSpPr>
          <p:cNvPr id="23" name="Rounded Rectangle 22"/>
          <p:cNvSpPr/>
          <p:nvPr/>
        </p:nvSpPr>
        <p:spPr>
          <a:xfrm>
            <a:off x="374904" y="5364489"/>
            <a:ext cx="11441887" cy="8717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455929"/>
            <a:ext cx="11112703" cy="78027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Юрисдикция.</a:t>
            </a:r>
            <a:r>
              <a:rPr sz="1100" b="0" i="0">
                <a:solidFill>
                  <a:srgbClr val="21295C"/>
                </a:solidFill>
                <a:latin typeface="Arial"/>
              </a:rPr>
              <a:t> Обучение шло не в Великобритании — Getty отозвала претензию об обучении, суд её не рассматривал. </a:t>
            </a:r>
            <a:r>
              <a:rPr sz="1100" b="1" i="0">
                <a:solidFill>
                  <a:srgbClr val="21295C"/>
                </a:solidFill>
                <a:latin typeface="Arial"/>
              </a:rPr>
              <a:t>На узкий оставшийся вопрос суд ответил отрицательно</a:t>
            </a:r>
            <a:r>
              <a:rPr sz="1100" b="0" i="0">
                <a:solidFill>
                  <a:srgbClr val="21295C"/>
                </a:solidFill>
                <a:latin typeface="Arial"/>
              </a:rPr>
              <a:t> — веса модели не «копия» по CDPA, не через fair use, которого в праве Великобритании нет.</a:t>
            </a:r>
          </a:p>
          <a:p>
            <a:pPr algn="l">
              <a:lnSpc>
                <a:spcPct val="126000"/>
              </a:lnSpc>
              <a:spcBef>
                <a:spcPts val="700"/>
              </a:spcBef>
            </a:pPr>
            <a:r>
              <a:rPr sz="1100" b="0" i="0">
                <a:solidFill>
                  <a:srgbClr val="21295C"/>
                </a:solidFill>
                <a:latin typeface="Arial"/>
              </a:rPr>
              <a:t/>
            </a:r>
            <a:r>
              <a:rPr sz="1100" b="1" i="0">
                <a:solidFill>
                  <a:srgbClr val="21295C"/>
                </a:solidFill>
                <a:latin typeface="Arial"/>
              </a:rPr>
              <a:t>Итог: Getty не выиграла, Stability AI не выиграла полностью</a:t>
            </a:r>
            <a:r>
              <a:rPr sz="1100" b="0" i="0">
                <a:solidFill>
                  <a:srgbClr val="21295C"/>
                </a:solidFill>
                <a:latin typeface="Arial"/>
              </a:rPr>
              <a:t> — поражение по товарному знаку без компенсации, в январе 2026 Getty получила право на апелляцию.</a:t>
            </a:r>
          </a:p>
        </p:txBody>
      </p:sp>
      <p:sp>
        <p:nvSpPr>
          <p:cNvPr id="25" name="Rounded Rectangle 24"/>
          <p:cNvSpPr/>
          <p:nvPr/>
        </p:nvSpPr>
        <p:spPr>
          <a:xfrm>
            <a:off x="6842455" y="1335024"/>
            <a:ext cx="4846320" cy="3322320"/>
          </a:xfrm>
          <a:prstGeom prst="roundRect">
            <a:avLst>
              <a:gd name="adj" fmla="val 9174"/>
            </a:avLst>
          </a:prstGeom>
          <a:solidFill>
            <a:srgbClr val="F4F7FA"/>
          </a:solidFill>
          <a:ln w="19050">
            <a:solidFill>
              <a:srgbClr val="1C7293"/>
            </a:solidFill>
          </a:ln>
          <a:effectLst/>
        </p:spPr>
        <p:txBody>
          <a:bodyPr rtlCol="0" anchor="ctr"/>
          <a:lstStyle/>
          <a:p>
            <a:pPr algn="ctr"/>
          </a:p>
        </p:txBody>
      </p:sp>
      <p:pic>
        <p:nvPicPr>
          <p:cNvPr id="26" name="Picture 25" descr="s44-royal-courts-of-justice.jpg"/>
          <p:cNvPicPr>
            <a:picLocks noChangeAspect="1"/>
          </p:cNvPicPr>
          <p:nvPr/>
        </p:nvPicPr>
        <p:blipFill>
          <a:blip r:embed="rId2"/>
          <a:stretch>
            <a:fillRect/>
          </a:stretch>
        </p:blipFill>
        <p:spPr>
          <a:xfrm>
            <a:off x="6979615" y="1472184"/>
            <a:ext cx="4572000" cy="3048000"/>
          </a:xfrm>
          <a:prstGeom prst="rect">
            <a:avLst/>
          </a:prstGeom>
        </p:spPr>
      </p:pic>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Mayer Brown, 2025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устроено: LAION-5B на входе, Stable Diffusion на выходе</a:t>
            </a:r>
          </a:p>
        </p:txBody>
      </p:sp>
      <p:sp>
        <p:nvSpPr>
          <p:cNvPr id="4" name="Rounded Rectangle 3"/>
          <p:cNvSpPr/>
          <p:nvPr/>
        </p:nvSpPr>
        <p:spPr>
          <a:xfrm>
            <a:off x="502920" y="1335024"/>
            <a:ext cx="306918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LAION-5B ЦЕЛИКОМ</a:t>
            </a:r>
          </a:p>
        </p:txBody>
      </p:sp>
      <p:sp>
        <p:nvSpPr>
          <p:cNvPr id="6" name="TextBox 5"/>
          <p:cNvSpPr txBox="1"/>
          <p:nvPr/>
        </p:nvSpPr>
        <p:spPr>
          <a:xfrm>
            <a:off x="640080" y="1725375"/>
            <a:ext cx="279486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≈5,85 млрд пар</a:t>
            </a:r>
          </a:p>
        </p:txBody>
      </p:sp>
      <p:sp>
        <p:nvSpPr>
          <p:cNvPr id="7" name="Rounded Rectangle 6"/>
          <p:cNvSpPr/>
          <p:nvPr/>
        </p:nvSpPr>
        <p:spPr>
          <a:xfrm>
            <a:off x="3736695" y="1335024"/>
            <a:ext cx="306918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873855" y="147218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НИХ — ЗАЯВЛЕНО GETTY</a:t>
            </a:r>
          </a:p>
        </p:txBody>
      </p:sp>
      <p:sp>
        <p:nvSpPr>
          <p:cNvPr id="9" name="TextBox 8"/>
          <p:cNvSpPr txBox="1"/>
          <p:nvPr/>
        </p:nvSpPr>
        <p:spPr>
          <a:xfrm>
            <a:off x="3873855" y="1725375"/>
            <a:ext cx="279486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≈12,3 млн (≈0,2%)</a:t>
            </a:r>
          </a:p>
        </p:txBody>
      </p:sp>
      <p:sp>
        <p:nvSpPr>
          <p:cNvPr id="10" name="TextBox 9"/>
          <p:cNvSpPr txBox="1"/>
          <p:nvPr/>
        </p:nvSpPr>
        <p:spPr>
          <a:xfrm>
            <a:off x="3873855" y="2152374"/>
            <a:ext cx="279486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обнаружено постфактум, не намеренно включено/исключено</a:t>
            </a:r>
          </a:p>
        </p:txBody>
      </p:sp>
      <p:sp>
        <p:nvSpPr>
          <p:cNvPr id="11" name="TextBox 10"/>
          <p:cNvSpPr txBox="1"/>
          <p:nvPr/>
        </p:nvSpPr>
        <p:spPr>
          <a:xfrm>
            <a:off x="502920" y="2931477"/>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Сборка датасета</a:t>
            </a:r>
          </a:p>
        </p:txBody>
      </p:sp>
      <p:sp>
        <p:nvSpPr>
          <p:cNvPr id="12" name="Rounded Rectangle 11"/>
          <p:cNvSpPr/>
          <p:nvPr/>
        </p:nvSpPr>
        <p:spPr>
          <a:xfrm>
            <a:off x="1920240" y="2894901"/>
            <a:ext cx="1445666"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940621"/>
            <a:ext cx="1281074"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Getty-коллекция в вебе</a:t>
            </a:r>
          </a:p>
        </p:txBody>
      </p:sp>
      <p:sp>
        <p:nvSpPr>
          <p:cNvPr id="14" name="Right Arrow 13"/>
          <p:cNvSpPr/>
          <p:nvPr/>
        </p:nvSpPr>
        <p:spPr>
          <a:xfrm>
            <a:off x="3411626" y="326205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3640226" y="2894901"/>
            <a:ext cx="1445666"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3722522" y="2940621"/>
            <a:ext cx="1281074"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скан + CLIP-фильтр → LAION-5B</a:t>
            </a:r>
          </a:p>
        </p:txBody>
      </p:sp>
      <p:sp>
        <p:nvSpPr>
          <p:cNvPr id="17" name="Right Arrow 16"/>
          <p:cNvSpPr/>
          <p:nvPr/>
        </p:nvSpPr>
        <p:spPr>
          <a:xfrm>
            <a:off x="5131612" y="3262058"/>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5360212" y="2894901"/>
            <a:ext cx="1445666" cy="871474"/>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9" name="TextBox 18"/>
          <p:cNvSpPr txBox="1"/>
          <p:nvPr/>
        </p:nvSpPr>
        <p:spPr>
          <a:xfrm>
            <a:off x="5442508" y="2940621"/>
            <a:ext cx="1281074" cy="780034"/>
          </a:xfrm>
          <a:prstGeom prst="rect">
            <a:avLst/>
          </a:prstGeom>
          <a:noFill/>
        </p:spPr>
        <p:txBody>
          <a:bodyPr wrap="square" lIns="0" rIns="0" tIns="0" bIns="0" anchor="ctr">
            <a:spAutoFit/>
          </a:bodyPr>
          <a:lstStyle/>
          <a:p>
            <a:pPr algn="ctr">
              <a:lnSpc>
                <a:spcPct val="112000"/>
              </a:lnSpc>
            </a:pPr>
            <a:r>
              <a:rPr sz="1200" b="1" i="0">
                <a:solidFill>
                  <a:srgbClr val="21295C"/>
                </a:solidFill>
                <a:latin typeface="Arial"/>
              </a:rPr>
              <a:t>Stable Diffusion</a:t>
            </a:r>
          </a:p>
        </p:txBody>
      </p:sp>
      <p:sp>
        <p:nvSpPr>
          <p:cNvPr id="20" name="TextBox 19"/>
          <p:cNvSpPr txBox="1"/>
          <p:nvPr/>
        </p:nvSpPr>
        <p:spPr>
          <a:xfrm>
            <a:off x="502920" y="3802951"/>
            <a:ext cx="630295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Вход → выход: Getty-коллекция внутри LAION-5B, обученная модель на выходе</a:t>
            </a:r>
          </a:p>
        </p:txBody>
      </p:sp>
      <p:sp>
        <p:nvSpPr>
          <p:cNvPr id="21" name="Rounded Rectangle 20"/>
          <p:cNvSpPr/>
          <p:nvPr/>
        </p:nvSpPr>
        <p:spPr>
          <a:xfrm>
            <a:off x="374904" y="4105635"/>
            <a:ext cx="11441887" cy="2130572"/>
          </a:xfrm>
          <a:prstGeom prst="roundRect">
            <a:avLst>
              <a:gd name="adj" fmla="val 14306"/>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4197075"/>
            <a:ext cx="11112703" cy="203913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Вход — не Getty напрямую, а промежуточный публичный датасет LAION-5B:</a:t>
            </a:r>
            <a:r>
              <a:rPr sz="1450" b="0" i="0">
                <a:solidFill>
                  <a:srgbClr val="21295C"/>
                </a:solidFill>
                <a:latin typeface="Arial"/>
              </a:rPr>
              <a:t> собран сканированием открытого интернета, отфильтрован той же моделью CLIP, что и раньше.</a:t>
            </a:r>
          </a:p>
          <a:p>
            <a:pPr algn="l">
              <a:lnSpc>
                <a:spcPct val="126000"/>
              </a:lnSpc>
              <a:spcBef>
                <a:spcPts val="700"/>
              </a:spcBef>
            </a:pPr>
            <a:r>
              <a:rPr sz="1450" b="0" i="0">
                <a:solidFill>
                  <a:srgbClr val="21295C"/>
                </a:solidFill>
                <a:latin typeface="Arial"/>
              </a:rPr>
              <a:t/>
            </a:r>
            <a:r>
              <a:rPr sz="1450" b="1" i="0">
                <a:solidFill>
                  <a:srgbClr val="21295C"/>
                </a:solidFill>
                <a:latin typeface="Arial"/>
              </a:rPr>
              <a:t>Getty заявляет ≈12,3 млн пар (≈0,2% датасета)</a:t>
            </a:r>
            <a:r>
              <a:rPr sz="1450" b="0" i="0">
                <a:solidFill>
                  <a:srgbClr val="21295C"/>
                </a:solidFill>
                <a:latin typeface="Arial"/>
              </a:rPr>
              <a:t> — обнаружено постфактум, по метаданным и водяным знакам, не намеренно.</a:t>
            </a:r>
          </a:p>
          <a:p>
            <a:pPr algn="l">
              <a:lnSpc>
                <a:spcPct val="126000"/>
              </a:lnSpc>
              <a:spcBef>
                <a:spcPts val="700"/>
              </a:spcBef>
            </a:pPr>
            <a:r>
              <a:rPr sz="1450" b="0" i="0">
                <a:solidFill>
                  <a:srgbClr val="21295C"/>
                </a:solidFill>
                <a:latin typeface="Arial"/>
              </a:rPr>
              <a:t/>
            </a:r>
            <a:r>
              <a:rPr sz="1450" b="1" i="0">
                <a:solidFill>
                  <a:srgbClr val="21295C"/>
                </a:solidFill>
                <a:latin typeface="Arial"/>
              </a:rPr>
              <a:t>Выход — Stable Diffusion</a:t>
            </a:r>
            <a:r>
              <a:rPr sz="1450" b="0" i="0">
                <a:solidFill>
                  <a:srgbClr val="21295C"/>
                </a:solidFill>
                <a:latin typeface="Arial"/>
              </a:rPr>
              <a:t>, опубликована с открытыми весами в 2022 году — именно открытость весов сделала возможным техническое исследование, на которое ссылались обе стороны в суде.</a:t>
            </a:r>
          </a:p>
          <a:p>
            <a:pPr algn="l">
              <a:lnSpc>
                <a:spcPct val="126000"/>
              </a:lnSpc>
              <a:spcBef>
                <a:spcPts val="700"/>
              </a:spcBef>
            </a:pPr>
            <a:r>
              <a:rPr sz="1150" b="0" i="0">
                <a:solidFill>
                  <a:srgbClr val="21295C"/>
                </a:solidFill>
                <a:latin typeface="Arial"/>
              </a:rPr>
              <a:t/>
            </a:r>
            <a:r>
              <a:rPr sz="1150" b="0" i="1">
                <a:solidFill>
                  <a:srgbClr val="1C7293"/>
                </a:solidFill>
                <a:latin typeface="Arial"/>
              </a:rPr>
              <a:t>Скриншот результатов поиска по датасету: сетка настоящих обучающих изображений, обнаруженных внутри LAION-5B.</a:t>
            </a:r>
          </a:p>
        </p:txBody>
      </p:sp>
      <p:sp>
        <p:nvSpPr>
          <p:cNvPr id="23" name="Rounded Rectangle 22"/>
          <p:cNvSpPr/>
          <p:nvPr/>
        </p:nvSpPr>
        <p:spPr>
          <a:xfrm>
            <a:off x="7116775" y="1335024"/>
            <a:ext cx="4572000" cy="2582644"/>
          </a:xfrm>
          <a:prstGeom prst="roundRect">
            <a:avLst>
              <a:gd name="adj" fmla="val 11801"/>
            </a:avLst>
          </a:prstGeom>
          <a:solidFill>
            <a:srgbClr val="F4F7FA"/>
          </a:solidFill>
          <a:ln w="19050">
            <a:solidFill>
              <a:srgbClr val="1C7293"/>
            </a:solidFill>
          </a:ln>
          <a:effectLst/>
        </p:spPr>
        <p:txBody>
          <a:bodyPr rtlCol="0" anchor="ctr"/>
          <a:lstStyle/>
          <a:p>
            <a:pPr algn="ctr"/>
          </a:p>
        </p:txBody>
      </p:sp>
      <p:pic>
        <p:nvPicPr>
          <p:cNvPr id="24" name="Picture 23" descr="s46-haveibeentrained-laion5b-search-results.jpg"/>
          <p:cNvPicPr>
            <a:picLocks noChangeAspect="1"/>
          </p:cNvPicPr>
          <p:nvPr/>
        </p:nvPicPr>
        <p:blipFill>
          <a:blip r:embed="rId2"/>
          <a:stretch>
            <a:fillRect/>
          </a:stretch>
        </p:blipFill>
        <p:spPr>
          <a:xfrm>
            <a:off x="7253935" y="1472184"/>
            <a:ext cx="4297680" cy="2308324"/>
          </a:xfrm>
          <a:prstGeom prst="rect">
            <a:avLst/>
          </a:prstGeom>
        </p:spPr>
      </p:pic>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Mayer Brown, 2025; CourtListener, 2026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весит модель: гигабайты, а не петабайты</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SD 1.5 (FP16)</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4,27 ГБ</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официальный файл чекпойнта</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SDXL BASE (FP16)</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≈6,94 ГБ</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официальный файл чекпойнта</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1: LAION-AESTHETICS</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 байт/изображение</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≈600 млн — финальная дообучающая выборка SD1.5</a:t>
            </a:r>
          </a:p>
        </p:txBody>
      </p:sp>
      <p:sp>
        <p:nvSpPr>
          <p:cNvPr id="16" name="Rounded Rectangle 15"/>
          <p:cNvSpPr/>
          <p:nvPr/>
        </p:nvSpPr>
        <p:spPr>
          <a:xfrm>
            <a:off x="502920" y="3267036"/>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40419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2: LAION-2B-EN</a:t>
            </a:r>
          </a:p>
        </p:txBody>
      </p:sp>
      <p:sp>
        <p:nvSpPr>
          <p:cNvPr id="18" name="TextBox 17"/>
          <p:cNvSpPr txBox="1"/>
          <p:nvPr/>
        </p:nvSpPr>
        <p:spPr>
          <a:xfrm>
            <a:off x="640080" y="3657387"/>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байт/изображение</a:t>
            </a:r>
          </a:p>
        </p:txBody>
      </p:sp>
      <p:sp>
        <p:nvSpPr>
          <p:cNvPr id="19" name="TextBox 18"/>
          <p:cNvSpPr txBox="1"/>
          <p:nvPr/>
        </p:nvSpPr>
        <p:spPr>
          <a:xfrm>
            <a:off x="640080" y="408438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≈2,32 млрд — основной корпус обучения</a:t>
            </a:r>
          </a:p>
        </p:txBody>
      </p:sp>
      <p:sp>
        <p:nvSpPr>
          <p:cNvPr id="20" name="Rounded Rectangle 19"/>
          <p:cNvSpPr/>
          <p:nvPr/>
        </p:nvSpPr>
        <p:spPr>
          <a:xfrm>
            <a:off x="6178143" y="3267036"/>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6315303" y="340419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3: LAION-5B ЦЕЛИКОМ</a:t>
            </a:r>
          </a:p>
        </p:txBody>
      </p:sp>
      <p:sp>
        <p:nvSpPr>
          <p:cNvPr id="22" name="TextBox 21"/>
          <p:cNvSpPr txBox="1"/>
          <p:nvPr/>
        </p:nvSpPr>
        <p:spPr>
          <a:xfrm>
            <a:off x="6315303" y="3657387"/>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≈0,73–1,18 байт/изображение</a:t>
            </a:r>
          </a:p>
        </p:txBody>
      </p:sp>
      <p:sp>
        <p:nvSpPr>
          <p:cNvPr id="23" name="TextBox 22"/>
          <p:cNvSpPr txBox="1"/>
          <p:nvPr/>
        </p:nvSpPr>
        <p:spPr>
          <a:xfrm>
            <a:off x="6315303" y="408438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≈5,85 млрд — весь опубликованный корпус (SD1.5/SDXL)</a:t>
            </a:r>
          </a:p>
        </p:txBody>
      </p:sp>
      <p:sp>
        <p:nvSpPr>
          <p:cNvPr id="24" name="Rounded Rectangle 23"/>
          <p:cNvSpPr/>
          <p:nvPr/>
        </p:nvSpPr>
        <p:spPr>
          <a:xfrm>
            <a:off x="374904" y="4524230"/>
            <a:ext cx="11441887" cy="1711977"/>
          </a:xfrm>
          <a:prstGeom prst="roundRect">
            <a:avLst>
              <a:gd name="adj" fmla="val 17803"/>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15670"/>
            <a:ext cx="11112703" cy="1620537"/>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Обучающих изображений — миллиарды. Файл самой обученной модели — петабайты, терабайты или гигабайты?</a:t>
            </a:r>
            <a:r>
              <a:rPr sz="1200" b="0" i="0">
                <a:solidFill>
                  <a:srgbClr val="21295C"/>
                </a:solidFill>
                <a:latin typeface="Arial"/>
              </a:rPr>
              <a:t> Единицы гигабайт: SD 1.5 — </a:t>
            </a:r>
            <a:r>
              <a:rPr sz="1200" b="1" i="0">
                <a:solidFill>
                  <a:srgbClr val="21295C"/>
                </a:solidFill>
                <a:latin typeface="Arial"/>
              </a:rPr>
              <a:t>4,27 ГБ</a:t>
            </a:r>
            <a:r>
              <a:rPr sz="1200" b="0" i="0">
                <a:solidFill>
                  <a:srgbClr val="21295C"/>
                </a:solidFill>
                <a:latin typeface="Arial"/>
              </a:rPr>
              <a:t>; SDXL base — </a:t>
            </a:r>
            <a:r>
              <a:rPr sz="1200" b="1" i="0">
                <a:solidFill>
                  <a:srgbClr val="21295C"/>
                </a:solidFill>
                <a:latin typeface="Arial"/>
              </a:rPr>
              <a:t>≈6,94 ГБ</a:t>
            </a:r>
            <a:r>
              <a:rPr sz="1200" b="0" i="0">
                <a:solidFill>
                  <a:srgbClr val="21295C"/>
                </a:solidFill>
                <a:latin typeface="Arial"/>
              </a:rPr>
              <a:t>.</a:t>
            </a:r>
          </a:p>
          <a:p>
            <a:pPr algn="l">
              <a:lnSpc>
                <a:spcPct val="126000"/>
              </a:lnSpc>
              <a:spcBef>
                <a:spcPts val="700"/>
              </a:spcBef>
            </a:pPr>
            <a:r>
              <a:rPr sz="1200" b="0" i="0">
                <a:solidFill>
                  <a:srgbClr val="21295C"/>
                </a:solidFill>
                <a:latin typeface="Arial"/>
              </a:rPr>
              <a:t/>
            </a:r>
            <a:r>
              <a:rPr sz="1200" b="1" i="0">
                <a:solidFill>
                  <a:srgbClr val="21295C"/>
                </a:solidFill>
                <a:latin typeface="Arial"/>
              </a:rPr>
              <a:t>Байт на обучающее изображение — три базы, три числа, не одна цифра.</a:t>
            </a:r>
            <a:r>
              <a:rPr sz="1200" b="0" i="0">
                <a:solidFill>
                  <a:srgbClr val="21295C"/>
                </a:solidFill>
                <a:latin typeface="Arial"/>
              </a:rPr>
              <a:t> LAION-Aesthetics (≈600 млн, финальная выборка) — </a:t>
            </a:r>
            <a:r>
              <a:rPr sz="1200" b="1" i="0">
                <a:solidFill>
                  <a:srgbClr val="21295C"/>
                </a:solidFill>
                <a:latin typeface="Arial"/>
              </a:rPr>
              <a:t>≈7,1 байт</a:t>
            </a:r>
            <a:r>
              <a:rPr sz="1200" b="0" i="0">
                <a:solidFill>
                  <a:srgbClr val="21295C"/>
                </a:solidFill>
                <a:latin typeface="Arial"/>
              </a:rPr>
              <a:t>. LAION-2B-en (≈2,32 млрд, основной корпус) — </a:t>
            </a:r>
            <a:r>
              <a:rPr sz="1200" b="1" i="0">
                <a:solidFill>
                  <a:srgbClr val="21295C"/>
                </a:solidFill>
                <a:latin typeface="Arial"/>
              </a:rPr>
              <a:t>≈1,8 байт</a:t>
            </a:r>
            <a:r>
              <a:rPr sz="1200" b="0" i="0">
                <a:solidFill>
                  <a:srgbClr val="21295C"/>
                </a:solidFill>
                <a:latin typeface="Arial"/>
              </a:rPr>
              <a:t>. LAION-5B целиком (≈5,85 млрд) — </a:t>
            </a:r>
            <a:r>
              <a:rPr sz="1200" b="1" i="0">
                <a:solidFill>
                  <a:srgbClr val="21295C"/>
                </a:solidFill>
                <a:latin typeface="Arial"/>
              </a:rPr>
              <a:t>≈0,73–1,18 байт</a:t>
            </a:r>
            <a:r>
              <a:rPr sz="1200" b="0" i="0">
                <a:solidFill>
                  <a:srgbClr val="21295C"/>
                </a:solidFill>
                <a:latin typeface="Arial"/>
              </a:rPr>
              <a:t>.</a:t>
            </a:r>
          </a:p>
          <a:p>
            <a:pPr algn="l">
              <a:lnSpc>
                <a:spcPct val="126000"/>
              </a:lnSpc>
              <a:spcBef>
                <a:spcPts val="700"/>
              </a:spcBef>
            </a:pPr>
            <a:r>
              <a:rPr sz="1200" b="0" i="0">
                <a:solidFill>
                  <a:srgbClr val="21295C"/>
                </a:solidFill>
                <a:latin typeface="Arial"/>
              </a:rPr>
              <a:t/>
            </a:r>
            <a:r>
              <a:rPr sz="1200" b="1" i="0">
                <a:solidFill>
                  <a:srgbClr val="21295C"/>
                </a:solidFill>
                <a:latin typeface="Arial"/>
              </a:rPr>
              <a:t>Честный диапазон — 0,7–7 байт</a:t>
            </a:r>
            <a:r>
              <a:rPr sz="1200" b="0" i="0">
                <a:solidFill>
                  <a:srgbClr val="21295C"/>
                </a:solidFill>
                <a:latin typeface="Arial"/>
              </a:rPr>
              <a:t>, в зависимости от того, какую обучающую выборку считать знаменателем. </a:t>
            </a:r>
            <a:r>
              <a:rPr sz="1200" b="1" i="0">
                <a:solidFill>
                  <a:srgbClr val="21295C"/>
                </a:solidFill>
                <a:latin typeface="Arial"/>
              </a:rPr>
              <a:t>Физически не архив копий</a:t>
            </a:r>
            <a:r>
              <a:rPr sz="1200" b="0" i="0">
                <a:solidFill>
                  <a:srgbClr val="21295C"/>
                </a:solidFill>
                <a:latin typeface="Arial"/>
              </a:rPr>
              <a:t> — статистика весов.</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huggingface.co model cards, SD 1.5 / SDXL base; LAION-5B, arXiv:2210.08402; LAION-2B-en, LAION-Aesthetics v2 5+ (LAION, 2022)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переехало: проверка происхождения — с договора на суд</a:t>
            </a:r>
          </a:p>
        </p:txBody>
      </p:sp>
      <p:sp>
        <p:nvSpPr>
          <p:cNvPr id="4" name="Rounded Rectangle 3"/>
          <p:cNvSpPr/>
          <p:nvPr/>
        </p:nvSpPr>
        <p:spPr>
          <a:xfrm>
            <a:off x="502920" y="1335024"/>
            <a:ext cx="2703423" cy="1582582"/>
          </a:xfrm>
          <a:prstGeom prst="roundRect">
            <a:avLst>
              <a:gd name="adj" fmla="val 1925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 ДЕЛА: РИСК НА РЫНКЕ</a:t>
            </a:r>
          </a:p>
        </p:txBody>
      </p:sp>
      <p:sp>
        <p:nvSpPr>
          <p:cNvPr id="6" name="TextBox 5"/>
          <p:cNvSpPr txBox="1"/>
          <p:nvPr/>
        </p:nvSpPr>
        <p:spPr>
          <a:xfrm>
            <a:off x="640080" y="1725375"/>
            <a:ext cx="2429103"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правообладатель находит использование — или не находит</a:t>
            </a:r>
          </a:p>
        </p:txBody>
      </p:sp>
      <p:sp>
        <p:nvSpPr>
          <p:cNvPr id="7" name="Rounded Rectangle 6"/>
          <p:cNvSpPr/>
          <p:nvPr/>
        </p:nvSpPr>
        <p:spPr>
          <a:xfrm>
            <a:off x="3370935" y="1335024"/>
            <a:ext cx="2703423" cy="1582582"/>
          </a:xfrm>
          <a:prstGeom prst="roundRect">
            <a:avLst>
              <a:gd name="adj" fmla="val 19259"/>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508095"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ПОСЛЕ: РИСК В СУДЕ</a:t>
            </a:r>
          </a:p>
        </p:txBody>
      </p:sp>
      <p:sp>
        <p:nvSpPr>
          <p:cNvPr id="9" name="TextBox 8"/>
          <p:cNvSpPr txBox="1"/>
          <p:nvPr/>
        </p:nvSpPr>
        <p:spPr>
          <a:xfrm>
            <a:off x="3508095" y="1725375"/>
            <a:ext cx="2429103" cy="1055071"/>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кто подал первым — формирует прецедент</a:t>
            </a:r>
          </a:p>
        </p:txBody>
      </p:sp>
      <p:sp>
        <p:nvSpPr>
          <p:cNvPr id="10" name="Rounded Rectangle 9"/>
          <p:cNvSpPr/>
          <p:nvPr/>
        </p:nvSpPr>
        <p:spPr>
          <a:xfrm>
            <a:off x="502920" y="3082198"/>
            <a:ext cx="2703423" cy="1531657"/>
          </a:xfrm>
          <a:prstGeom prst="roundRect">
            <a:avLst>
              <a:gd name="adj" fmla="val 19900"/>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40080" y="3219358"/>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UMG + WARNER → UDIO</a:t>
            </a:r>
          </a:p>
        </p:txBody>
      </p:sp>
      <p:sp>
        <p:nvSpPr>
          <p:cNvPr id="12" name="TextBox 11"/>
          <p:cNvSpPr txBox="1"/>
          <p:nvPr/>
        </p:nvSpPr>
        <p:spPr>
          <a:xfrm>
            <a:off x="640080" y="3472549"/>
            <a:ext cx="2429103" cy="545823"/>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урегулировали: $0,002-0,005 / генерацию</a:t>
            </a:r>
          </a:p>
        </p:txBody>
      </p:sp>
      <p:sp>
        <p:nvSpPr>
          <p:cNvPr id="13" name="Rounded Rectangle 12"/>
          <p:cNvSpPr/>
          <p:nvPr/>
        </p:nvSpPr>
        <p:spPr>
          <a:xfrm>
            <a:off x="3370935" y="3082198"/>
            <a:ext cx="2703423" cy="1531657"/>
          </a:xfrm>
          <a:prstGeom prst="roundRect">
            <a:avLst>
              <a:gd name="adj" fmla="val 19900"/>
            </a:avLst>
          </a:prstGeom>
          <a:solidFill>
            <a:srgbClr val="F4F7FA"/>
          </a:solidFill>
          <a:ln w="15240">
            <a:solidFill>
              <a:srgbClr val="1C7293"/>
            </a:solidFill>
          </a:ln>
          <a:effectLst/>
        </p:spPr>
        <p:txBody>
          <a:bodyPr rtlCol="0" anchor="ctr"/>
          <a:lstStyle/>
          <a:p>
            <a:pPr algn="ctr"/>
          </a:p>
        </p:txBody>
      </p:sp>
      <p:sp>
        <p:nvSpPr>
          <p:cNvPr id="14" name="TextBox 13"/>
          <p:cNvSpPr txBox="1"/>
          <p:nvPr/>
        </p:nvSpPr>
        <p:spPr>
          <a:xfrm>
            <a:off x="3508095" y="3219358"/>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SONY</a:t>
            </a:r>
          </a:p>
        </p:txBody>
      </p:sp>
      <p:sp>
        <p:nvSpPr>
          <p:cNvPr id="15" name="TextBox 14"/>
          <p:cNvSpPr txBox="1"/>
          <p:nvPr/>
        </p:nvSpPr>
        <p:spPr>
          <a:xfrm>
            <a:off x="3508095" y="3472549"/>
            <a:ext cx="2429103" cy="1004146"/>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продолжает судиться — против обоих сервисов</a:t>
            </a:r>
          </a:p>
        </p:txBody>
      </p:sp>
      <p:sp>
        <p:nvSpPr>
          <p:cNvPr id="16" name="Rounded Rectangle 15"/>
          <p:cNvSpPr/>
          <p:nvPr/>
        </p:nvSpPr>
        <p:spPr>
          <a:xfrm>
            <a:off x="374904" y="4705296"/>
            <a:ext cx="5827471" cy="1530911"/>
          </a:xfrm>
          <a:prstGeom prst="roundRect">
            <a:avLst>
              <a:gd name="adj" fmla="val 1990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96736"/>
            <a:ext cx="5498287" cy="1439471"/>
          </a:xfrm>
          <a:prstGeom prst="rect">
            <a:avLst/>
          </a:prstGeom>
          <a:noFill/>
        </p:spPr>
        <p:txBody>
          <a:bodyPr wrap="square" lIns="0" rIns="0" tIns="0" bIns="0" anchor="t">
            <a:spAutoFit/>
          </a:bodyPr>
          <a:lstStyle/>
          <a:p>
            <a:pPr algn="l">
              <a:lnSpc>
                <a:spcPct val="126000"/>
              </a:lnSpc>
            </a:pPr>
            <a:r>
              <a:rPr sz="900" b="1" i="0">
                <a:solidFill>
                  <a:srgbClr val="21295C"/>
                </a:solidFill>
                <a:latin typeface="Arial"/>
              </a:rPr>
              <a:t>До дела:</a:t>
            </a:r>
            <a:r>
              <a:rPr sz="900" b="0" i="0">
                <a:solidFill>
                  <a:srgbClr val="21295C"/>
                </a:solidFill>
                <a:latin typeface="Arial"/>
              </a:rPr>
              <a:t> риск лежал на рынке. </a:t>
            </a:r>
            <a:r>
              <a:rPr sz="900" b="1" i="0">
                <a:solidFill>
                  <a:srgbClr val="21295C"/>
                </a:solidFill>
                <a:latin typeface="Arial"/>
              </a:rPr>
              <a:t>После:</a:t>
            </a:r>
            <a:r>
              <a:rPr sz="900" b="0" i="0">
                <a:solidFill>
                  <a:srgbClr val="21295C"/>
                </a:solidFill>
                <a:latin typeface="Arial"/>
              </a:rPr>
              <a:t> риск переехал в суд — кто первым выиграл, формирует прецедент для отрасли. </a:t>
            </a:r>
            <a:r>
              <a:rPr sz="900" b="1" i="0">
                <a:solidFill>
                  <a:srgbClr val="21295C"/>
                </a:solidFill>
                <a:latin typeface="Arial"/>
              </a:rPr>
              <a:t>У отрасли нет единого ответа:</a:t>
            </a:r>
            <a:r>
              <a:rPr sz="900" b="0" i="0">
                <a:solidFill>
                  <a:srgbClr val="21295C"/>
                </a:solidFill>
                <a:latin typeface="Arial"/>
              </a:rPr>
              <a:t> UMG и Warner урегулировали с Udio ($0,002-0,005 за генерацию), Sony судится с обоими.</a:t>
            </a:r>
          </a:p>
          <a:p>
            <a:pPr algn="l">
              <a:lnSpc>
                <a:spcPct val="126000"/>
              </a:lnSpc>
              <a:spcBef>
                <a:spcPts val="700"/>
              </a:spcBef>
            </a:pPr>
            <a:r>
              <a:rPr sz="900" b="0" i="0">
                <a:solidFill>
                  <a:srgbClr val="21295C"/>
                </a:solidFill>
                <a:latin typeface="Arial"/>
              </a:rPr>
              <a:t/>
            </a:r>
            <a:r>
              <a:rPr sz="900" b="1" i="0">
                <a:solidFill>
                  <a:srgbClr val="21295C"/>
                </a:solidFill>
                <a:latin typeface="Arial"/>
              </a:rPr>
              <a:t>Лицензия — тоже узнавание</a:t>
            </a:r>
            <a:r>
              <a:rPr sz="900" b="0" i="0">
                <a:solidFill>
                  <a:srgbClr val="21295C"/>
                </a:solidFill>
                <a:latin typeface="Arial"/>
              </a:rPr>
              <a:t>, только происхождения материала, не авторства; модель обнулила саму необходимость подтверждать его заранее.</a:t>
            </a:r>
          </a:p>
          <a:p>
            <a:pPr algn="l">
              <a:lnSpc>
                <a:spcPct val="126000"/>
              </a:lnSpc>
              <a:spcBef>
                <a:spcPts val="700"/>
              </a:spcBef>
            </a:pPr>
            <a:r>
              <a:rPr sz="900" b="0" i="0">
                <a:solidFill>
                  <a:srgbClr val="21295C"/>
                </a:solidFill>
                <a:latin typeface="Arial"/>
              </a:rPr>
              <a:t/>
            </a:r>
            <a:r>
              <a:rPr sz="900" b="1" i="0">
                <a:solidFill>
                  <a:srgbClr val="21295C"/>
                </a:solidFill>
                <a:latin typeface="Arial"/>
              </a:rPr>
              <a:t>Тот же разрыв — второй раз:</a:t>
            </a:r>
            <a:r>
              <a:rPr sz="900" b="0" i="0">
                <a:solidFill>
                  <a:srgbClr val="21295C"/>
                </a:solidFill>
                <a:latin typeface="Arial"/>
              </a:rPr>
              <a:t> стоковая лицензия $20–100/трек против согласованной ставки $0,002–0,005/генерацию — три-четыре порядка, тот же диапазон, что на стороне производства.</a:t>
            </a:r>
          </a:p>
        </p:txBody>
      </p:sp>
      <p:sp>
        <p:nvSpPr>
          <p:cNvPr id="18" name="Rounded Rectangle 17"/>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19" name="Picture 18" descr="s47-recording-studio-audio-engineer-mixing.jpg"/>
          <p:cNvPicPr>
            <a:picLocks noChangeAspect="1"/>
          </p:cNvPicPr>
          <p:nvPr/>
        </p:nvPicPr>
        <p:blipFill>
          <a:blip r:embed="rId2"/>
          <a:stretch>
            <a:fillRect/>
          </a:stretch>
        </p:blipFill>
        <p:spPr>
          <a:xfrm>
            <a:off x="6522415" y="1472184"/>
            <a:ext cx="5029200" cy="37719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Bird &amp; Bird, 2025; Forbes, 2025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NYT против OpenAI и иски лейблов: решений нет, ставки уже есть</a:t>
            </a:r>
          </a:p>
        </p:txBody>
      </p:sp>
      <p:sp>
        <p:nvSpPr>
          <p:cNvPr id="4" name="Rounded Rectangle 3"/>
          <p:cNvSpPr/>
          <p:nvPr/>
        </p:nvSpPr>
        <p:spPr>
          <a:xfrm>
            <a:off x="502920" y="1335024"/>
            <a:ext cx="1731811" cy="2186135"/>
          </a:xfrm>
          <a:prstGeom prst="roundRect">
            <a:avLst>
              <a:gd name="adj" fmla="val 176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749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NYT: РАСЧЁТ ИСТЦА</a:t>
            </a:r>
          </a:p>
        </p:txBody>
      </p:sp>
      <p:sp>
        <p:nvSpPr>
          <p:cNvPr id="6" name="TextBox 5"/>
          <p:cNvSpPr txBox="1"/>
          <p:nvPr/>
        </p:nvSpPr>
        <p:spPr>
          <a:xfrm>
            <a:off x="640080" y="1932846"/>
            <a:ext cx="145749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 $160 млн</a:t>
            </a:r>
          </a:p>
        </p:txBody>
      </p:sp>
      <p:sp>
        <p:nvSpPr>
          <p:cNvPr id="7" name="TextBox 6"/>
          <p:cNvSpPr txBox="1"/>
          <p:nvPr/>
        </p:nvSpPr>
        <p:spPr>
          <a:xfrm>
            <a:off x="640080" y="2750268"/>
            <a:ext cx="145749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$10/статья × 16 млн+ записей, не присуждено</a:t>
            </a:r>
          </a:p>
        </p:txBody>
      </p:sp>
      <p:sp>
        <p:nvSpPr>
          <p:cNvPr id="8" name="Rounded Rectangle 7"/>
          <p:cNvSpPr/>
          <p:nvPr/>
        </p:nvSpPr>
        <p:spPr>
          <a:xfrm>
            <a:off x="2399323" y="1335024"/>
            <a:ext cx="1731811" cy="2186135"/>
          </a:xfrm>
          <a:prstGeom prst="roundRect">
            <a:avLst>
              <a:gd name="adj" fmla="val 176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36483" y="1472184"/>
            <a:ext cx="145749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NYT: СТАТУТНЫЙ ПОТОЛОК</a:t>
            </a:r>
          </a:p>
        </p:txBody>
      </p:sp>
      <p:sp>
        <p:nvSpPr>
          <p:cNvPr id="10" name="TextBox 9"/>
          <p:cNvSpPr txBox="1"/>
          <p:nvPr/>
        </p:nvSpPr>
        <p:spPr>
          <a:xfrm>
            <a:off x="2536483" y="1932846"/>
            <a:ext cx="145749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&gt; $1,62 трлн</a:t>
            </a:r>
          </a:p>
        </p:txBody>
      </p:sp>
      <p:sp>
        <p:nvSpPr>
          <p:cNvPr id="11" name="TextBox 10"/>
          <p:cNvSpPr txBox="1"/>
          <p:nvPr/>
        </p:nvSpPr>
        <p:spPr>
          <a:xfrm>
            <a:off x="2536483" y="2750268"/>
            <a:ext cx="145749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10,8 млн × $150 000 — верхняя граница закона, не прогноз</a:t>
            </a:r>
          </a:p>
        </p:txBody>
      </p:sp>
      <p:sp>
        <p:nvSpPr>
          <p:cNvPr id="12" name="Rounded Rectangle 11"/>
          <p:cNvSpPr/>
          <p:nvPr/>
        </p:nvSpPr>
        <p:spPr>
          <a:xfrm>
            <a:off x="4295726" y="1335024"/>
            <a:ext cx="1731811" cy="2186135"/>
          </a:xfrm>
          <a:prstGeom prst="roundRect">
            <a:avLst>
              <a:gd name="adj" fmla="val 176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32886" y="1472184"/>
            <a:ext cx="145749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NEWS CORP × OPENAI</a:t>
            </a:r>
          </a:p>
        </p:txBody>
      </p:sp>
      <p:sp>
        <p:nvSpPr>
          <p:cNvPr id="14" name="TextBox 13"/>
          <p:cNvSpPr txBox="1"/>
          <p:nvPr/>
        </p:nvSpPr>
        <p:spPr>
          <a:xfrm>
            <a:off x="4432886" y="1932846"/>
            <a:ext cx="1457491"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до $250 млн / 5 лет</a:t>
            </a:r>
          </a:p>
        </p:txBody>
      </p:sp>
      <p:sp>
        <p:nvSpPr>
          <p:cNvPr id="15" name="TextBox 14"/>
          <p:cNvSpPr txBox="1"/>
          <p:nvPr/>
        </p:nvSpPr>
        <p:spPr>
          <a:xfrm>
            <a:off x="4432886" y="2665394"/>
            <a:ext cx="145749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портфель изданий кратно больше одного NYT</a:t>
            </a:r>
          </a:p>
        </p:txBody>
      </p:sp>
      <p:sp>
        <p:nvSpPr>
          <p:cNvPr id="16" name="Rounded Rectangle 15"/>
          <p:cNvSpPr/>
          <p:nvPr/>
        </p:nvSpPr>
        <p:spPr>
          <a:xfrm>
            <a:off x="6192129" y="1335024"/>
            <a:ext cx="1731811" cy="2186135"/>
          </a:xfrm>
          <a:prstGeom prst="roundRect">
            <a:avLst>
              <a:gd name="adj" fmla="val 1760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29289" y="1472184"/>
            <a:ext cx="145749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RIAA-ПОТОЛОК (SUNO)</a:t>
            </a:r>
          </a:p>
        </p:txBody>
      </p:sp>
      <p:sp>
        <p:nvSpPr>
          <p:cNvPr id="18" name="TextBox 17"/>
          <p:cNvSpPr txBox="1"/>
          <p:nvPr/>
        </p:nvSpPr>
        <p:spPr>
          <a:xfrm>
            <a:off x="6329289" y="1932846"/>
            <a:ext cx="145749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&gt; $9 млрд</a:t>
            </a:r>
          </a:p>
        </p:txBody>
      </p:sp>
      <p:sp>
        <p:nvSpPr>
          <p:cNvPr id="19" name="TextBox 18"/>
          <p:cNvSpPr txBox="1"/>
          <p:nvPr/>
        </p:nvSpPr>
        <p:spPr>
          <a:xfrm>
            <a:off x="6329289" y="2750268"/>
            <a:ext cx="145749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ставки $0,002–0,005/ген.</a:t>
            </a:r>
          </a:p>
        </p:txBody>
      </p:sp>
      <p:sp>
        <p:nvSpPr>
          <p:cNvPr id="20" name="Rounded Rectangle 19"/>
          <p:cNvSpPr/>
          <p:nvPr/>
        </p:nvSpPr>
        <p:spPr>
          <a:xfrm>
            <a:off x="374904" y="3612599"/>
            <a:ext cx="7677053" cy="2623608"/>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04039"/>
            <a:ext cx="7347869"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NYT против OpenAI</a:t>
            </a:r>
            <a:r>
              <a:rPr sz="1400" b="0" i="0">
                <a:solidFill>
                  <a:srgbClr val="21295C"/>
                </a:solidFill>
                <a:latin typeface="Arial"/>
              </a:rPr>
              <a:t> (иск с 2023, решения нет) — цифры не присуждены. </a:t>
            </a:r>
            <a:r>
              <a:rPr sz="1450" b="1" i="0">
                <a:solidFill>
                  <a:srgbClr val="21295C"/>
                </a:solidFill>
                <a:latin typeface="Arial"/>
              </a:rPr>
              <a:t>RIAA</a:t>
            </a:r>
            <a:r>
              <a:rPr sz="1400" b="0" i="0">
                <a:solidFill>
                  <a:srgbClr val="21295C"/>
                </a:solidFill>
                <a:latin typeface="Arial"/>
              </a:rPr>
              <a:t> — не истец, истцы сами лейблы, и ни одна строка матрицы не повторяет другую:</a:t>
            </a:r>
          </a:p>
        </p:txBody>
      </p:sp>
      <p:sp>
        <p:nvSpPr>
          <p:cNvPr id="22" name="Rectangle 21"/>
          <p:cNvSpPr/>
          <p:nvPr/>
        </p:nvSpPr>
        <p:spPr>
          <a:xfrm>
            <a:off x="539496" y="4415545"/>
            <a:ext cx="1897467" cy="410728"/>
          </a:xfrm>
          <a:prstGeom prst="rect">
            <a:avLst/>
          </a:prstGeom>
          <a:solidFill>
            <a:srgbClr val="065A82"/>
          </a:solidFill>
          <a:ln>
            <a:noFill/>
          </a:ln>
          <a:effectLst/>
        </p:spPr>
        <p:txBody>
          <a:bodyPr rtlCol="0" anchor="ctr"/>
          <a:lstStyle/>
          <a:p>
            <a:pPr algn="ctr"/>
          </a:p>
        </p:txBody>
      </p:sp>
      <p:sp>
        <p:nvSpPr>
          <p:cNvPr id="23" name="TextBox 22"/>
          <p:cNvSpPr txBox="1"/>
          <p:nvPr/>
        </p:nvSpPr>
        <p:spPr>
          <a:xfrm>
            <a:off x="685800" y="4415545"/>
            <a:ext cx="160485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Лейбл</a:t>
            </a:r>
          </a:p>
        </p:txBody>
      </p:sp>
      <p:sp>
        <p:nvSpPr>
          <p:cNvPr id="24" name="Rectangle 23"/>
          <p:cNvSpPr/>
          <p:nvPr/>
        </p:nvSpPr>
        <p:spPr>
          <a:xfrm>
            <a:off x="2436963" y="4415545"/>
            <a:ext cx="2725200" cy="410728"/>
          </a:xfrm>
          <a:prstGeom prst="rect">
            <a:avLst/>
          </a:prstGeom>
          <a:solidFill>
            <a:srgbClr val="065A82"/>
          </a:solidFill>
          <a:ln>
            <a:noFill/>
          </a:ln>
          <a:effectLst/>
        </p:spPr>
        <p:txBody>
          <a:bodyPr rtlCol="0" anchor="ctr"/>
          <a:lstStyle/>
          <a:p>
            <a:pPr algn="ctr"/>
          </a:p>
        </p:txBody>
      </p:sp>
      <p:sp>
        <p:nvSpPr>
          <p:cNvPr id="25" name="TextBox 24"/>
          <p:cNvSpPr txBox="1"/>
          <p:nvPr/>
        </p:nvSpPr>
        <p:spPr>
          <a:xfrm>
            <a:off x="2583267" y="4415545"/>
            <a:ext cx="2432592"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Против Suno</a:t>
            </a:r>
          </a:p>
        </p:txBody>
      </p:sp>
      <p:sp>
        <p:nvSpPr>
          <p:cNvPr id="26" name="Rectangle 25"/>
          <p:cNvSpPr/>
          <p:nvPr/>
        </p:nvSpPr>
        <p:spPr>
          <a:xfrm>
            <a:off x="5162164" y="4415545"/>
            <a:ext cx="2725200" cy="410728"/>
          </a:xfrm>
          <a:prstGeom prst="rect">
            <a:avLst/>
          </a:prstGeom>
          <a:solidFill>
            <a:srgbClr val="065A82"/>
          </a:solidFill>
          <a:ln>
            <a:noFill/>
          </a:ln>
          <a:effectLst/>
        </p:spPr>
        <p:txBody>
          <a:bodyPr rtlCol="0" anchor="ctr"/>
          <a:lstStyle/>
          <a:p>
            <a:pPr algn="ctr"/>
          </a:p>
        </p:txBody>
      </p:sp>
      <p:sp>
        <p:nvSpPr>
          <p:cNvPr id="27" name="TextBox 26"/>
          <p:cNvSpPr txBox="1"/>
          <p:nvPr/>
        </p:nvSpPr>
        <p:spPr>
          <a:xfrm>
            <a:off x="5308468" y="4415545"/>
            <a:ext cx="2432592"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Против Udio</a:t>
            </a:r>
          </a:p>
        </p:txBody>
      </p:sp>
      <p:sp>
        <p:nvSpPr>
          <p:cNvPr id="28" name="Rectangle 27"/>
          <p:cNvSpPr/>
          <p:nvPr/>
        </p:nvSpPr>
        <p:spPr>
          <a:xfrm>
            <a:off x="539496" y="4826273"/>
            <a:ext cx="1897467" cy="410728"/>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685800" y="4826273"/>
            <a:ext cx="160485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Universal</a:t>
            </a:r>
          </a:p>
        </p:txBody>
      </p:sp>
      <p:sp>
        <p:nvSpPr>
          <p:cNvPr id="30" name="Rectangle 29"/>
          <p:cNvSpPr/>
          <p:nvPr/>
        </p:nvSpPr>
        <p:spPr>
          <a:xfrm>
            <a:off x="2436963" y="4826273"/>
            <a:ext cx="2725200" cy="410728"/>
          </a:xfrm>
          <a:prstGeom prst="rect">
            <a:avLst/>
          </a:prstGeom>
          <a:solidFill>
            <a:srgbClr val="FFFFFF"/>
          </a:solidFill>
          <a:ln w="12700">
            <a:solidFill>
              <a:srgbClr val="D9E2EC"/>
            </a:solidFill>
          </a:ln>
          <a:effectLst/>
        </p:spPr>
        <p:txBody>
          <a:bodyPr rtlCol="0" anchor="ctr"/>
          <a:lstStyle/>
          <a:p>
            <a:pPr algn="ctr"/>
          </a:p>
        </p:txBody>
      </p:sp>
      <p:sp>
        <p:nvSpPr>
          <p:cNvPr id="31" name="TextBox 30"/>
          <p:cNvSpPr txBox="1"/>
          <p:nvPr/>
        </p:nvSpPr>
        <p:spPr>
          <a:xfrm>
            <a:off x="2583267" y="4826273"/>
            <a:ext cx="24325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судится</a:t>
            </a:r>
          </a:p>
        </p:txBody>
      </p:sp>
      <p:sp>
        <p:nvSpPr>
          <p:cNvPr id="32" name="Rectangle 31"/>
          <p:cNvSpPr/>
          <p:nvPr/>
        </p:nvSpPr>
        <p:spPr>
          <a:xfrm>
            <a:off x="5162164" y="4826273"/>
            <a:ext cx="2725200" cy="410728"/>
          </a:xfrm>
          <a:prstGeom prst="rect">
            <a:avLst/>
          </a:prstGeom>
          <a:solidFill>
            <a:srgbClr val="FFFFFF"/>
          </a:solidFill>
          <a:ln w="12700">
            <a:solidFill>
              <a:srgbClr val="D9E2EC"/>
            </a:solidFill>
          </a:ln>
          <a:effectLst/>
        </p:spPr>
        <p:txBody>
          <a:bodyPr rtlCol="0" anchor="ctr"/>
          <a:lstStyle/>
          <a:p>
            <a:pPr algn="ctr"/>
          </a:p>
        </p:txBody>
      </p:sp>
      <p:sp>
        <p:nvSpPr>
          <p:cNvPr id="33" name="TextBox 32"/>
          <p:cNvSpPr txBox="1"/>
          <p:nvPr/>
        </p:nvSpPr>
        <p:spPr>
          <a:xfrm>
            <a:off x="5308468" y="4826273"/>
            <a:ext cx="24325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урегулировала</a:t>
            </a:r>
          </a:p>
        </p:txBody>
      </p:sp>
      <p:sp>
        <p:nvSpPr>
          <p:cNvPr id="34" name="Rectangle 33"/>
          <p:cNvSpPr/>
          <p:nvPr/>
        </p:nvSpPr>
        <p:spPr>
          <a:xfrm>
            <a:off x="539496" y="5237002"/>
            <a:ext cx="1897467" cy="410728"/>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685800" y="5237002"/>
            <a:ext cx="160485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Sony</a:t>
            </a:r>
          </a:p>
        </p:txBody>
      </p:sp>
      <p:sp>
        <p:nvSpPr>
          <p:cNvPr id="36" name="Rectangle 35"/>
          <p:cNvSpPr/>
          <p:nvPr/>
        </p:nvSpPr>
        <p:spPr>
          <a:xfrm>
            <a:off x="2436963" y="5237002"/>
            <a:ext cx="2725200" cy="410728"/>
          </a:xfrm>
          <a:prstGeom prst="rect">
            <a:avLst/>
          </a:prstGeom>
          <a:solidFill>
            <a:srgbClr val="F4F7FA"/>
          </a:solidFill>
          <a:ln w="12700">
            <a:solidFill>
              <a:srgbClr val="D9E2EC"/>
            </a:solidFill>
          </a:ln>
          <a:effectLst/>
        </p:spPr>
        <p:txBody>
          <a:bodyPr rtlCol="0" anchor="ctr"/>
          <a:lstStyle/>
          <a:p>
            <a:pPr algn="ctr"/>
          </a:p>
        </p:txBody>
      </p:sp>
      <p:sp>
        <p:nvSpPr>
          <p:cNvPr id="37" name="TextBox 36"/>
          <p:cNvSpPr txBox="1"/>
          <p:nvPr/>
        </p:nvSpPr>
        <p:spPr>
          <a:xfrm>
            <a:off x="2583267" y="5237002"/>
            <a:ext cx="24325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судится</a:t>
            </a:r>
          </a:p>
        </p:txBody>
      </p:sp>
      <p:sp>
        <p:nvSpPr>
          <p:cNvPr id="38" name="Rectangle 37"/>
          <p:cNvSpPr/>
          <p:nvPr/>
        </p:nvSpPr>
        <p:spPr>
          <a:xfrm>
            <a:off x="5162164" y="5237002"/>
            <a:ext cx="2725200" cy="410728"/>
          </a:xfrm>
          <a:prstGeom prst="rect">
            <a:avLst/>
          </a:prstGeom>
          <a:solidFill>
            <a:srgbClr val="F4F7FA"/>
          </a:solidFill>
          <a:ln w="12700">
            <a:solidFill>
              <a:srgbClr val="D9E2EC"/>
            </a:solidFill>
          </a:ln>
          <a:effectLst/>
        </p:spPr>
        <p:txBody>
          <a:bodyPr rtlCol="0" anchor="ctr"/>
          <a:lstStyle/>
          <a:p>
            <a:pPr algn="ctr"/>
          </a:p>
        </p:txBody>
      </p:sp>
      <p:sp>
        <p:nvSpPr>
          <p:cNvPr id="39" name="TextBox 38"/>
          <p:cNvSpPr txBox="1"/>
          <p:nvPr/>
        </p:nvSpPr>
        <p:spPr>
          <a:xfrm>
            <a:off x="5308468" y="5237002"/>
            <a:ext cx="24325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судится</a:t>
            </a:r>
          </a:p>
        </p:txBody>
      </p:sp>
      <p:sp>
        <p:nvSpPr>
          <p:cNvPr id="40" name="Rectangle 39"/>
          <p:cNvSpPr/>
          <p:nvPr/>
        </p:nvSpPr>
        <p:spPr>
          <a:xfrm>
            <a:off x="539496" y="5647730"/>
            <a:ext cx="1897467" cy="410728"/>
          </a:xfrm>
          <a:prstGeom prst="rect">
            <a:avLst/>
          </a:prstGeom>
          <a:solidFill>
            <a:srgbClr val="FFFFFF"/>
          </a:solidFill>
          <a:ln w="12700">
            <a:solidFill>
              <a:srgbClr val="D9E2EC"/>
            </a:solidFill>
          </a:ln>
          <a:effectLst/>
        </p:spPr>
        <p:txBody>
          <a:bodyPr rtlCol="0" anchor="ctr"/>
          <a:lstStyle/>
          <a:p>
            <a:pPr algn="ctr"/>
          </a:p>
        </p:txBody>
      </p:sp>
      <p:sp>
        <p:nvSpPr>
          <p:cNvPr id="41" name="TextBox 40"/>
          <p:cNvSpPr txBox="1"/>
          <p:nvPr/>
        </p:nvSpPr>
        <p:spPr>
          <a:xfrm>
            <a:off x="685800" y="5647730"/>
            <a:ext cx="160485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Warner</a:t>
            </a:r>
          </a:p>
        </p:txBody>
      </p:sp>
      <p:sp>
        <p:nvSpPr>
          <p:cNvPr id="42" name="Rectangle 41"/>
          <p:cNvSpPr/>
          <p:nvPr/>
        </p:nvSpPr>
        <p:spPr>
          <a:xfrm>
            <a:off x="2436963" y="5647730"/>
            <a:ext cx="2725200" cy="410728"/>
          </a:xfrm>
          <a:prstGeom prst="rect">
            <a:avLst/>
          </a:prstGeom>
          <a:solidFill>
            <a:srgbClr val="FFFFFF"/>
          </a:solidFill>
          <a:ln w="12700">
            <a:solidFill>
              <a:srgbClr val="D9E2EC"/>
            </a:solidFill>
          </a:ln>
          <a:effectLst/>
        </p:spPr>
        <p:txBody>
          <a:bodyPr rtlCol="0" anchor="ctr"/>
          <a:lstStyle/>
          <a:p>
            <a:pPr algn="ctr"/>
          </a:p>
        </p:txBody>
      </p:sp>
      <p:sp>
        <p:nvSpPr>
          <p:cNvPr id="43" name="TextBox 42"/>
          <p:cNvSpPr txBox="1"/>
          <p:nvPr/>
        </p:nvSpPr>
        <p:spPr>
          <a:xfrm>
            <a:off x="2583267" y="5647730"/>
            <a:ext cx="24325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урегулировала</a:t>
            </a:r>
          </a:p>
        </p:txBody>
      </p:sp>
      <p:sp>
        <p:nvSpPr>
          <p:cNvPr id="44" name="Rectangle 43"/>
          <p:cNvSpPr/>
          <p:nvPr/>
        </p:nvSpPr>
        <p:spPr>
          <a:xfrm>
            <a:off x="5162164" y="5647730"/>
            <a:ext cx="2725200" cy="410728"/>
          </a:xfrm>
          <a:prstGeom prst="rect">
            <a:avLst/>
          </a:prstGeom>
          <a:solidFill>
            <a:srgbClr val="FFFFFF"/>
          </a:solidFill>
          <a:ln w="12700">
            <a:solidFill>
              <a:srgbClr val="D9E2EC"/>
            </a:solidFill>
          </a:ln>
          <a:effectLst/>
        </p:spPr>
        <p:txBody>
          <a:bodyPr rtlCol="0" anchor="ctr"/>
          <a:lstStyle/>
          <a:p>
            <a:pPr algn="ctr"/>
          </a:p>
        </p:txBody>
      </p:sp>
      <p:sp>
        <p:nvSpPr>
          <p:cNvPr id="45" name="TextBox 44"/>
          <p:cNvSpPr txBox="1"/>
          <p:nvPr/>
        </p:nvSpPr>
        <p:spPr>
          <a:xfrm>
            <a:off x="5308468" y="5647730"/>
            <a:ext cx="24325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урегулировала</a:t>
            </a:r>
          </a:p>
        </p:txBody>
      </p:sp>
      <p:sp>
        <p:nvSpPr>
          <p:cNvPr id="46" name="Rounded Rectangle 45"/>
          <p:cNvSpPr/>
          <p:nvPr/>
        </p:nvSpPr>
        <p:spPr>
          <a:xfrm>
            <a:off x="8234837" y="1335024"/>
            <a:ext cx="3453938" cy="4389120"/>
          </a:xfrm>
          <a:prstGeom prst="roundRect">
            <a:avLst>
              <a:gd name="adj" fmla="val 8824"/>
            </a:avLst>
          </a:prstGeom>
          <a:solidFill>
            <a:srgbClr val="F4F7FA"/>
          </a:solidFill>
          <a:ln w="19050">
            <a:solidFill>
              <a:srgbClr val="1C7293"/>
            </a:solidFill>
          </a:ln>
          <a:effectLst/>
        </p:spPr>
        <p:txBody>
          <a:bodyPr rtlCol="0" anchor="ctr"/>
          <a:lstStyle/>
          <a:p>
            <a:pPr algn="ctr"/>
          </a:p>
        </p:txBody>
      </p:sp>
      <p:pic>
        <p:nvPicPr>
          <p:cNvPr id="47" name="Picture 46" descr="s48-nyt-openai-exhibit-j-example1.png"/>
          <p:cNvPicPr>
            <a:picLocks noChangeAspect="1"/>
          </p:cNvPicPr>
          <p:nvPr/>
        </p:nvPicPr>
        <p:blipFill>
          <a:blip r:embed="rId2"/>
          <a:stretch>
            <a:fillRect/>
          </a:stretch>
        </p:blipFill>
        <p:spPr>
          <a:xfrm>
            <a:off x="8371997" y="1472184"/>
            <a:ext cx="3179618" cy="4114800"/>
          </a:xfrm>
          <a:prstGeom prst="rect">
            <a:avLst/>
          </a:prstGeom>
        </p:spPr>
      </p:pic>
      <p:sp>
        <p:nvSpPr>
          <p:cNvPr id="48" name="Rectangle 4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9" name="TextBox 4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 Lawsuit Tracker, 2026; Bloomberg Law, 2026; Deadline, 2024; Variety, 2023; RIAA, 2024; Forbes, 2025; MusicBusinessWorldwide, 2026; 404 Media, 2025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Лада Чижова: обвал дохода — и год спустя доход без ремесла</a:t>
            </a:r>
          </a:p>
        </p:txBody>
      </p:sp>
      <p:sp>
        <p:nvSpPr>
          <p:cNvPr id="4" name="Rounded Rectangle 3"/>
          <p:cNvSpPr/>
          <p:nvPr/>
        </p:nvSpPr>
        <p:spPr>
          <a:xfrm>
            <a:off x="502920" y="1335024"/>
            <a:ext cx="3572103"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2977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КАРЬЕРА СТРОИЛАСЬ НА ПОРТФОЛИО</a:t>
            </a:r>
          </a:p>
        </p:txBody>
      </p:sp>
      <p:sp>
        <p:nvSpPr>
          <p:cNvPr id="6" name="TextBox 5"/>
          <p:cNvSpPr txBox="1"/>
          <p:nvPr/>
        </p:nvSpPr>
        <p:spPr>
          <a:xfrm>
            <a:off x="640080" y="1725375"/>
            <a:ext cx="329778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$15–120/час по уровню</a:t>
            </a:r>
          </a:p>
        </p:txBody>
      </p:sp>
      <p:sp>
        <p:nvSpPr>
          <p:cNvPr id="7" name="TextBox 6"/>
          <p:cNvSpPr txBox="1"/>
          <p:nvPr/>
        </p:nvSpPr>
        <p:spPr>
          <a:xfrm>
            <a:off x="640080" y="2542797"/>
            <a:ext cx="32977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актив, который нельзя купить за день</a:t>
            </a:r>
          </a:p>
        </p:txBody>
      </p:sp>
      <p:sp>
        <p:nvSpPr>
          <p:cNvPr id="8" name="Rounded Rectangle 7"/>
          <p:cNvSpPr/>
          <p:nvPr/>
        </p:nvSpPr>
        <p:spPr>
          <a:xfrm>
            <a:off x="4239615" y="1335024"/>
            <a:ext cx="3572103"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376775" y="1472184"/>
            <a:ext cx="32977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КОНЕЦ 2024</a:t>
            </a:r>
          </a:p>
        </p:txBody>
      </p:sp>
      <p:sp>
        <p:nvSpPr>
          <p:cNvPr id="10" name="TextBox 9"/>
          <p:cNvSpPr txBox="1"/>
          <p:nvPr/>
        </p:nvSpPr>
        <p:spPr>
          <a:xfrm>
            <a:off x="4376775" y="1725375"/>
            <a:ext cx="3297783"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доход против расходов — резкий регресс</a:t>
            </a:r>
          </a:p>
        </p:txBody>
      </p:sp>
      <p:sp>
        <p:nvSpPr>
          <p:cNvPr id="11" name="TextBox 10"/>
          <p:cNvSpPr txBox="1"/>
          <p:nvPr/>
        </p:nvSpPr>
        <p:spPr>
          <a:xfrm>
            <a:off x="4376775" y="2933220"/>
            <a:ext cx="32977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мысль — «я делаю что-то не так»</a:t>
            </a:r>
          </a:p>
        </p:txBody>
      </p:sp>
      <p:sp>
        <p:nvSpPr>
          <p:cNvPr id="12" name="Rounded Rectangle 11"/>
          <p:cNvSpPr/>
          <p:nvPr/>
        </p:nvSpPr>
        <p:spPr>
          <a:xfrm>
            <a:off x="502920" y="3446216"/>
            <a:ext cx="3572103"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583376"/>
            <a:ext cx="32977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2025 ГОД</a:t>
            </a:r>
          </a:p>
        </p:txBody>
      </p:sp>
      <p:sp>
        <p:nvSpPr>
          <p:cNvPr id="14" name="TextBox 13"/>
          <p:cNvSpPr txBox="1"/>
          <p:nvPr/>
        </p:nvSpPr>
        <p:spPr>
          <a:xfrm>
            <a:off x="640080" y="3836567"/>
            <a:ext cx="329778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«очень хороший по доходу»</a:t>
            </a:r>
          </a:p>
        </p:txBody>
      </p:sp>
      <p:sp>
        <p:nvSpPr>
          <p:cNvPr id="15" name="TextBox 14"/>
          <p:cNvSpPr txBox="1"/>
          <p:nvPr/>
        </p:nvSpPr>
        <p:spPr>
          <a:xfrm>
            <a:off x="640080" y="4653989"/>
            <a:ext cx="32977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собственной оценке Чижовой</a:t>
            </a:r>
          </a:p>
        </p:txBody>
      </p:sp>
      <p:sp>
        <p:nvSpPr>
          <p:cNvPr id="16" name="Rounded Rectangle 15"/>
          <p:cNvSpPr/>
          <p:nvPr/>
        </p:nvSpPr>
        <p:spPr>
          <a:xfrm>
            <a:off x="4239615" y="3446216"/>
            <a:ext cx="3572103"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4376775" y="3583376"/>
            <a:ext cx="32977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ИЛЛЮСТРАЦИИ В ЗАНЯТОСТИ</a:t>
            </a:r>
          </a:p>
        </p:txBody>
      </p:sp>
      <p:sp>
        <p:nvSpPr>
          <p:cNvPr id="18" name="TextBox 17"/>
          <p:cNvSpPr txBox="1"/>
          <p:nvPr/>
        </p:nvSpPr>
        <p:spPr>
          <a:xfrm>
            <a:off x="4376775" y="3836567"/>
            <a:ext cx="329778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 из 100%</a:t>
            </a:r>
          </a:p>
        </p:txBody>
      </p:sp>
      <p:sp>
        <p:nvSpPr>
          <p:cNvPr id="19" name="TextBox 18"/>
          <p:cNvSpPr txBox="1"/>
          <p:nvPr/>
        </p:nvSpPr>
        <p:spPr>
          <a:xfrm>
            <a:off x="4376775" y="4263566"/>
            <a:ext cx="329778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мастер-классы, роспись, продажа оригиналов, магазин — остальные 70%</a:t>
            </a:r>
          </a:p>
        </p:txBody>
      </p:sp>
      <p:sp>
        <p:nvSpPr>
          <p:cNvPr id="20" name="Rounded Rectangle 19"/>
          <p:cNvSpPr/>
          <p:nvPr/>
        </p:nvSpPr>
        <p:spPr>
          <a:xfrm>
            <a:off x="374904" y="5093833"/>
            <a:ext cx="7564831" cy="114237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185273"/>
            <a:ext cx="7235647" cy="1050934"/>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Карьера строилась на портфолио</a:t>
            </a:r>
            <a:r>
              <a:rPr sz="850" b="0" i="0">
                <a:solidFill>
                  <a:srgbClr val="21295C"/>
                </a:solidFill>
                <a:latin typeface="Arial"/>
              </a:rPr>
              <a:t> — активе, который нельзя купить за день; институты отрасли переносили проверку узнавания на систему, обслуживавшую сделки бесплатно.</a:t>
            </a:r>
          </a:p>
          <a:p>
            <a:pPr algn="l">
              <a:lnSpc>
                <a:spcPct val="126000"/>
              </a:lnSpc>
              <a:spcBef>
                <a:spcPts val="700"/>
              </a:spcBef>
            </a:pPr>
            <a:r>
              <a:rPr sz="850" b="0" i="0">
                <a:solidFill>
                  <a:srgbClr val="21295C"/>
                </a:solidFill>
                <a:latin typeface="Arial"/>
              </a:rPr>
              <a:t/>
            </a:r>
            <a:r>
              <a:rPr sz="850" b="1" i="0">
                <a:solidFill>
                  <a:srgbClr val="21295C"/>
                </a:solidFill>
                <a:latin typeface="Arial"/>
              </a:rPr>
              <a:t>«Я делаю что-то не так» — первая мысль при сведении итогов 2024 года.</a:t>
            </a:r>
            <a:r>
              <a:rPr sz="850" b="0" i="0">
                <a:solidFill>
                  <a:srgbClr val="21295C"/>
                </a:solidFill>
                <a:latin typeface="Arial"/>
              </a:rPr>
              <a:t> Малый бизнес начал закрывать те же задачи генеративной моделью напрямую.</a:t>
            </a:r>
          </a:p>
          <a:p>
            <a:pPr algn="l">
              <a:lnSpc>
                <a:spcPct val="126000"/>
              </a:lnSpc>
              <a:spcBef>
                <a:spcPts val="700"/>
              </a:spcBef>
            </a:pPr>
            <a:r>
              <a:rPr sz="850" b="0" i="0">
                <a:solidFill>
                  <a:srgbClr val="21295C"/>
                </a:solidFill>
                <a:latin typeface="Arial"/>
              </a:rPr>
              <a:t/>
            </a:r>
            <a:r>
              <a:rPr sz="850" b="1" i="0">
                <a:solidFill>
                  <a:srgbClr val="21295C"/>
                </a:solidFill>
                <a:latin typeface="Arial"/>
              </a:rPr>
              <a:t>Та же рука, другая структура занятости.</a:t>
            </a:r>
            <a:r>
              <a:rPr sz="850" b="0" i="0">
                <a:solidFill>
                  <a:srgbClr val="21295C"/>
                </a:solidFill>
                <a:latin typeface="Arial"/>
              </a:rPr>
              <a:t> 2025-й — «очень хороший по доходу», но </a:t>
            </a:r>
            <a:r>
              <a:rPr sz="850" b="1" i="0">
                <a:solidFill>
                  <a:srgbClr val="21295C"/>
                </a:solidFill>
                <a:latin typeface="Arial"/>
              </a:rPr>
              <a:t>70% занятости — уже не иллюстрация</a:t>
            </a:r>
            <a:r>
              <a:rPr sz="850" b="0" i="0">
                <a:solidFill>
                  <a:srgbClr val="21295C"/>
                </a:solidFill>
                <a:latin typeface="Arial"/>
              </a:rPr>
              <a:t>.</a:t>
            </a:r>
          </a:p>
        </p:txBody>
      </p:sp>
      <p:sp>
        <p:nvSpPr>
          <p:cNvPr id="22" name="Rounded Rectangle 21"/>
          <p:cNvSpPr/>
          <p:nvPr/>
        </p:nvSpPr>
        <p:spPr>
          <a:xfrm>
            <a:off x="8122615" y="1335024"/>
            <a:ext cx="3566160" cy="4389120"/>
          </a:xfrm>
          <a:prstGeom prst="roundRect">
            <a:avLst>
              <a:gd name="adj" fmla="val 8547"/>
            </a:avLst>
          </a:prstGeom>
          <a:solidFill>
            <a:srgbClr val="F4F7FA"/>
          </a:solidFill>
          <a:ln w="19050">
            <a:solidFill>
              <a:srgbClr val="1C7293"/>
            </a:solidFill>
          </a:ln>
          <a:effectLst/>
        </p:spPr>
        <p:txBody>
          <a:bodyPr rtlCol="0" anchor="ctr"/>
          <a:lstStyle/>
          <a:p>
            <a:pPr algn="ctr"/>
          </a:p>
        </p:txBody>
      </p:sp>
      <p:pic>
        <p:nvPicPr>
          <p:cNvPr id="23" name="Picture 22" descr="s53-chizhova-illustration-still-life.jpg"/>
          <p:cNvPicPr>
            <a:picLocks noChangeAspect="1"/>
          </p:cNvPicPr>
          <p:nvPr/>
        </p:nvPicPr>
        <p:blipFill>
          <a:blip r:embed="rId2"/>
          <a:stretch>
            <a:fillRect/>
          </a:stretch>
        </p:blipFill>
        <p:spPr>
          <a:xfrm>
            <a:off x="8259775" y="1472184"/>
            <a:ext cx="3291840" cy="411480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ladachizhova.substack.com, «Is it Hard to Be an Illustrator in 2026?», 2026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Фриланс-биржи: рост ИИ-навыков измерен, падение — честный пробел</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ИИ-НАВЫКИ В ЦЕЛОМ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+109% год к году</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Upwork, данные рынка США за 2025</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ГЕНЕРАЦИЯ ВИДЕО / ИЗОБРАЖЕНИЙ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+329% / +95%</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самые быстрорастущие категории площадки</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«КУРАТОРЫ CANVA» (FIVERR)</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+403% год к году</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курирование, не рисование</a:t>
            </a:r>
          </a:p>
        </p:txBody>
      </p:sp>
      <p:sp>
        <p:nvSpPr>
          <p:cNvPr id="16" name="Rounded Rectangle 15"/>
          <p:cNvSpPr/>
          <p:nvPr/>
        </p:nvSpPr>
        <p:spPr>
          <a:xfrm>
            <a:off x="502920" y="2876613"/>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013773"/>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ПАДЕНИЕ ТРАДИЦИОННЫХ КАТЕГОРИЙ</a:t>
            </a:r>
          </a:p>
        </p:txBody>
      </p:sp>
      <p:sp>
        <p:nvSpPr>
          <p:cNvPr id="18" name="TextBox 17"/>
          <p:cNvSpPr txBox="1"/>
          <p:nvPr/>
        </p:nvSpPr>
        <p:spPr>
          <a:xfrm>
            <a:off x="640080" y="3266964"/>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число не публикуется</a:t>
            </a:r>
          </a:p>
        </p:txBody>
      </p:sp>
      <p:sp>
        <p:nvSpPr>
          <p:cNvPr id="19" name="TextBox 18"/>
          <p:cNvSpPr txBox="1"/>
          <p:nvPr/>
        </p:nvSpPr>
        <p:spPr>
          <a:xfrm>
            <a:off x="640080" y="369396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Upwork: «спрос остаётся сильным» — без процента</a:t>
            </a:r>
          </a:p>
        </p:txBody>
      </p:sp>
      <p:sp>
        <p:nvSpPr>
          <p:cNvPr id="20" name="Rounded Rectangle 19"/>
          <p:cNvSpPr/>
          <p:nvPr/>
        </p:nvSpPr>
        <p:spPr>
          <a:xfrm>
            <a:off x="4286402" y="2876613"/>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4423562" y="3013773"/>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ЕДИНСТВЕННАЯ ОПОРА</a:t>
            </a:r>
          </a:p>
        </p:txBody>
      </p:sp>
      <p:sp>
        <p:nvSpPr>
          <p:cNvPr id="22" name="TextBox 21"/>
          <p:cNvSpPr txBox="1"/>
          <p:nvPr/>
        </p:nvSpPr>
        <p:spPr>
          <a:xfrm>
            <a:off x="4423562" y="3266964"/>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 за 10 лет (BLS)</a:t>
            </a:r>
          </a:p>
        </p:txBody>
      </p:sp>
      <p:sp>
        <p:nvSpPr>
          <p:cNvPr id="23" name="TextBox 22"/>
          <p:cNvSpPr txBox="1"/>
          <p:nvPr/>
        </p:nvSpPr>
        <p:spPr>
          <a:xfrm>
            <a:off x="4423562" y="369396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другой источник и период — не для прямого сопоставления</a:t>
            </a:r>
          </a:p>
        </p:txBody>
      </p:sp>
      <p:sp>
        <p:nvSpPr>
          <p:cNvPr id="24" name="Rounded Rectangle 23"/>
          <p:cNvSpPr/>
          <p:nvPr/>
        </p:nvSpPr>
        <p:spPr>
          <a:xfrm>
            <a:off x="8069884" y="2876613"/>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8207044" y="3013773"/>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САМА ПЛОЩАДКА СЖИМАЕТСЯ</a:t>
            </a:r>
          </a:p>
        </p:txBody>
      </p:sp>
      <p:sp>
        <p:nvSpPr>
          <p:cNvPr id="26" name="TextBox 25"/>
          <p:cNvSpPr txBox="1"/>
          <p:nvPr/>
        </p:nvSpPr>
        <p:spPr>
          <a:xfrm>
            <a:off x="8207044" y="3266964"/>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клиенты −6%, вакансии −19%</a:t>
            </a:r>
          </a:p>
        </p:txBody>
      </p:sp>
      <p:sp>
        <p:nvSpPr>
          <p:cNvPr id="27" name="TextBox 26"/>
          <p:cNvSpPr txBox="1"/>
          <p:nvPr/>
        </p:nvSpPr>
        <p:spPr>
          <a:xfrm>
            <a:off x="8207044" y="408438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2025–2026; причина не обязательно ИИ</a:t>
            </a:r>
          </a:p>
        </p:txBody>
      </p:sp>
      <p:sp>
        <p:nvSpPr>
          <p:cNvPr id="28" name="Rounded Rectangle 27"/>
          <p:cNvSpPr/>
          <p:nvPr/>
        </p:nvSpPr>
        <p:spPr>
          <a:xfrm>
            <a:off x="374904" y="4524230"/>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4615670"/>
            <a:ext cx="11112703" cy="162053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Куратор Canva не рисует каждый элемент вручную.</a:t>
            </a:r>
            <a:r>
              <a:rPr sz="1500" b="0" i="0">
                <a:solidFill>
                  <a:srgbClr val="21295C"/>
                </a:solidFill>
                <a:latin typeface="Arial"/>
              </a:rPr>
              <a:t> Выбирает шаблон, формулирует запросы к встроенным генераторам, бракует неподходящие, собирает финальный комплект. Рост категории на Fiverr — </a:t>
            </a:r>
            <a:r>
              <a:rPr sz="1500" b="1" i="0">
                <a:solidFill>
                  <a:srgbClr val="21295C"/>
                </a:solidFill>
                <a:latin typeface="Arial"/>
              </a:rPr>
              <a:t>+403% год к году</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Официальный отчёт Upwork не публикует симметричную цифру падения</a:t>
            </a:r>
            <a:r>
              <a:rPr sz="1500" b="0" i="0">
                <a:solidFill>
                  <a:srgbClr val="21295C"/>
                </a:solidFill>
                <a:latin typeface="Arial"/>
              </a:rPr>
              <a:t> для традиционных категорий — только «спрос остаётся сильным». </a:t>
            </a:r>
            <a:r>
              <a:rPr sz="1500" b="1" i="0">
                <a:solidFill>
                  <a:srgbClr val="21295C"/>
                </a:solidFill>
                <a:latin typeface="Arial"/>
              </a:rPr>
              <a:t>Старая цифра −17,01% — снята из материала целиком</a:t>
            </a:r>
            <a:r>
              <a:rPr sz="1500" b="0" i="0">
                <a:solidFill>
                  <a:srgbClr val="21295C"/>
                </a:solidFill>
                <a:latin typeface="Arial"/>
              </a:rPr>
              <a:t>: источник не переподтвердился.</a:t>
            </a:r>
          </a:p>
        </p:txBody>
      </p:sp>
      <p:sp>
        <p:nvSpPr>
          <p:cNvPr id="30" name="Rectangle 2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Upwork, «In-Demand Skills 2026», февраль 2026 — U.S. Bureau of Labor Statistics, Occupational Outlook Handbook</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Getty Images: ставка на слияние — и банкротство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СУММА СДЕЛКИ (01.2025)</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≈$3,7 млрд</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слияние акциями, план — экономия $150–200 млн/3 года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ДОЛГОВАЯ НАГРУЗКА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 млрд</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названа компанией как фактор краха</a:t>
            </a:r>
          </a:p>
        </p:txBody>
      </p:sp>
      <p:sp>
        <p:nvSpPr>
          <p:cNvPr id="12" name="Rounded Rectangle 11"/>
          <p:cNvSpPr/>
          <p:nvPr/>
        </p:nvSpPr>
        <p:spPr>
          <a:xfrm>
            <a:off x="502920" y="2665369"/>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ПОДПИСЧИКИ</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321 000 → 240 000</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−25% за год</a:t>
            </a:r>
          </a:p>
        </p:txBody>
      </p:sp>
      <p:sp>
        <p:nvSpPr>
          <p:cNvPr id="16" name="Rounded Rectangle 15"/>
          <p:cNvSpPr/>
          <p:nvPr/>
        </p:nvSpPr>
        <p:spPr>
          <a:xfrm>
            <a:off x="6178143"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ФОТОГРАФЫ</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 одного упоминания роялти</a:t>
            </a:r>
          </a:p>
        </p:txBody>
      </p:sp>
      <p:sp>
        <p:nvSpPr>
          <p:cNvPr id="19" name="TextBox 18"/>
          <p:cNvSpPr txBox="1"/>
          <p:nvPr/>
        </p:nvSpPr>
        <p:spPr>
          <a:xfrm>
            <a:off x="6315303"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соглашении о реструктуризации</a:t>
            </a:r>
          </a:p>
        </p:txBody>
      </p:sp>
      <p:sp>
        <p:nvSpPr>
          <p:cNvPr id="20" name="TextBox 19"/>
          <p:cNvSpPr txBox="1"/>
          <p:nvPr/>
        </p:nvSpPr>
        <p:spPr>
          <a:xfrm>
            <a:off x="502920" y="4050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21" name="Rounded Rectangle 20"/>
          <p:cNvSpPr/>
          <p:nvPr/>
        </p:nvSpPr>
        <p:spPr>
          <a:xfrm>
            <a:off x="1920240" y="401400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05972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15 мая: CMA — продать Shutterstock</a:t>
            </a:r>
          </a:p>
        </p:txBody>
      </p:sp>
      <p:sp>
        <p:nvSpPr>
          <p:cNvPr id="23" name="Right Arrow 22"/>
          <p:cNvSpPr/>
          <p:nvPr/>
        </p:nvSpPr>
        <p:spPr>
          <a:xfrm>
            <a:off x="4202353" y="4301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01400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05972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июля: слияние расторгнуто</a:t>
            </a:r>
          </a:p>
        </p:txBody>
      </p:sp>
      <p:sp>
        <p:nvSpPr>
          <p:cNvPr id="26" name="Right Arrow 25"/>
          <p:cNvSpPr/>
          <p:nvPr/>
        </p:nvSpPr>
        <p:spPr>
          <a:xfrm>
            <a:off x="6713067" y="4301944"/>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01400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05972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29 сент.: NYSE — торги встали</a:t>
            </a:r>
          </a:p>
        </p:txBody>
      </p:sp>
      <p:sp>
        <p:nvSpPr>
          <p:cNvPr id="29" name="Right Arrow 28"/>
          <p:cNvSpPr/>
          <p:nvPr/>
        </p:nvSpPr>
        <p:spPr>
          <a:xfrm>
            <a:off x="9223781" y="4301944"/>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01400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05972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12–13 окт.: Chapter 11</a:t>
            </a:r>
          </a:p>
        </p:txBody>
      </p:sp>
      <p:sp>
        <p:nvSpPr>
          <p:cNvPr id="32" name="TextBox 31"/>
          <p:cNvSpPr txBox="1"/>
          <p:nvPr/>
        </p:nvSpPr>
        <p:spPr>
          <a:xfrm>
            <a:off x="502920" y="4763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ставки к банкротству — один календарный квартал</a:t>
            </a:r>
          </a:p>
        </p:txBody>
      </p:sp>
      <p:sp>
        <p:nvSpPr>
          <p:cNvPr id="33" name="Rounded Rectangle 32"/>
          <p:cNvSpPr/>
          <p:nvPr/>
        </p:nvSpPr>
        <p:spPr>
          <a:xfrm>
            <a:off x="374904" y="5066305"/>
            <a:ext cx="11441887" cy="11699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157745"/>
            <a:ext cx="11112703" cy="107846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Январь 2025: слияние Getty Images и Shutterstock, ≈$3,7 млрд</a:t>
            </a:r>
            <a:r>
              <a:rPr sz="1100" b="0" i="0">
                <a:solidFill>
                  <a:srgbClr val="21295C"/>
                </a:solidFill>
                <a:latin typeface="Arial"/>
              </a:rPr>
              <a:t> — против давления генеративных моделей, план — экономия $150–200 млн за 3 года.</a:t>
            </a:r>
          </a:p>
          <a:p>
            <a:pPr algn="l">
              <a:lnSpc>
                <a:spcPct val="126000"/>
              </a:lnSpc>
              <a:spcBef>
                <a:spcPts val="700"/>
              </a:spcBef>
            </a:pPr>
            <a:r>
              <a:rPr sz="1100" b="0" i="0">
                <a:solidFill>
                  <a:srgbClr val="21295C"/>
                </a:solidFill>
                <a:latin typeface="Arial"/>
              </a:rPr>
              <a:t/>
            </a:r>
            <a:r>
              <a:rPr sz="1100" b="1" i="0">
                <a:solidFill>
                  <a:srgbClr val="21295C"/>
                </a:solidFill>
                <a:latin typeface="Arial"/>
              </a:rPr>
              <a:t>Против плана, не против нуля.</a:t>
            </a:r>
            <a:r>
              <a:rPr sz="1100" b="0" i="0">
                <a:solidFill>
                  <a:srgbClr val="21295C"/>
                </a:solidFill>
                <a:latin typeface="Arial"/>
              </a:rPr>
              <a:t> Регулятор потребовал продать весь редакционный бизнес Shutterstock → совет отказался → слияние расторгнуто → торги остановлены → </a:t>
            </a:r>
            <a:r>
              <a:rPr sz="1100" b="1" i="0">
                <a:solidFill>
                  <a:srgbClr val="21295C"/>
                </a:solidFill>
                <a:latin typeface="Arial"/>
              </a:rPr>
              <a:t>21 октября 2026 — Chapter 11.</a:t>
            </a:r>
            <a:r>
              <a:rPr sz="1100" b="0" i="0">
                <a:solidFill>
                  <a:srgbClr val="21295C"/>
                </a:solidFill>
                <a:latin typeface="Arial"/>
              </a:rPr>
              <a:t> Компания сама называет долг ≈$2,1 млрд и «давление ИИ-изображений» — один фактор из нескольких.</a:t>
            </a:r>
          </a:p>
          <a:p>
            <a:pPr algn="l">
              <a:lnSpc>
                <a:spcPct val="126000"/>
              </a:lnSpc>
              <a:spcBef>
                <a:spcPts val="700"/>
              </a:spcBef>
            </a:pPr>
            <a:r>
              <a:rPr sz="1100" b="0" i="0">
                <a:solidFill>
                  <a:srgbClr val="21295C"/>
                </a:solidFill>
                <a:latin typeface="Arial"/>
              </a:rPr>
              <a:t/>
            </a:r>
            <a:r>
              <a:rPr sz="1100" b="1" i="0">
                <a:solidFill>
                  <a:srgbClr val="21295C"/>
                </a:solidFill>
                <a:latin typeface="Arial"/>
              </a:rPr>
              <a:t>Самый тихий адресат цены — фотографы:</a:t>
            </a:r>
            <a:r>
              <a:rPr sz="1100" b="0" i="0">
                <a:solidFill>
                  <a:srgbClr val="21295C"/>
                </a:solidFill>
                <a:latin typeface="Arial"/>
              </a:rPr>
              <a:t> в соглашении нет ни класса контрибьюторов, ни роялти.</a:t>
            </a: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Getty Images / Shutterstock, пресс-релиз, январь 2025; ppc.land, 2026; tipranks.com; petapixel.com, 12.10.2026; globenewswire.com, 21.10.2026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критерия отказа от генеративной модели</a:t>
            </a:r>
          </a:p>
        </p:txBody>
      </p:sp>
      <p:sp>
        <p:nvSpPr>
          <p:cNvPr id="4" name="Rounded Rectangle 3"/>
          <p:cNvSpPr/>
          <p:nvPr/>
        </p:nvSpPr>
        <p:spPr>
          <a:xfrm>
            <a:off x="502920" y="1335024"/>
            <a:ext cx="2703423"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 ЛИЦЕНЗИЯ НЕЯСНА</a:t>
            </a:r>
          </a:p>
        </p:txBody>
      </p:sp>
      <p:sp>
        <p:nvSpPr>
          <p:cNvPr id="6" name="TextBox 5"/>
          <p:cNvSpPr txBox="1"/>
          <p:nvPr/>
        </p:nvSpPr>
        <p:spPr>
          <a:xfrm>
            <a:off x="640080" y="1725375"/>
            <a:ext cx="24291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брать</a:t>
            </a:r>
          </a:p>
        </p:txBody>
      </p:sp>
      <p:sp>
        <p:nvSpPr>
          <p:cNvPr id="7" name="TextBox 6"/>
          <p:cNvSpPr txBox="1"/>
          <p:nvPr/>
        </p:nvSpPr>
        <p:spPr>
          <a:xfrm>
            <a:off x="640080" y="2152374"/>
            <a:ext cx="24291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Getty v Stability — единственный вердикт; NYT и RIAA-кластер открыты, отрасль расколота settled/sue</a:t>
            </a:r>
          </a:p>
        </p:txBody>
      </p:sp>
      <p:sp>
        <p:nvSpPr>
          <p:cNvPr id="8" name="Rounded Rectangle 7"/>
          <p:cNvSpPr/>
          <p:nvPr/>
        </p:nvSpPr>
        <p:spPr>
          <a:xfrm>
            <a:off x="3370935" y="1335024"/>
            <a:ext cx="2703423"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508095"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 УЗНАВАЕМОЕ СХОДСТВО</a:t>
            </a:r>
          </a:p>
        </p:txBody>
      </p:sp>
      <p:sp>
        <p:nvSpPr>
          <p:cNvPr id="10" name="TextBox 9"/>
          <p:cNvSpPr txBox="1"/>
          <p:nvPr/>
        </p:nvSpPr>
        <p:spPr>
          <a:xfrm>
            <a:off x="3508095" y="1725375"/>
            <a:ext cx="2429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брать</a:t>
            </a:r>
          </a:p>
        </p:txBody>
      </p:sp>
      <p:sp>
        <p:nvSpPr>
          <p:cNvPr id="11" name="TextBox 10"/>
          <p:cNvSpPr txBox="1"/>
          <p:nvPr/>
        </p:nvSpPr>
        <p:spPr>
          <a:xfrm>
            <a:off x="3508095" y="2152374"/>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независимо от исхода суда — репутационный риск сам по себе (Coca-Cola/System1, Раздел 3)</a:t>
            </a:r>
          </a:p>
        </p:txBody>
      </p:sp>
      <p:sp>
        <p:nvSpPr>
          <p:cNvPr id="12" name="Rounded Rectangle 11"/>
          <p:cNvSpPr/>
          <p:nvPr/>
        </p:nvSpPr>
        <p:spPr>
          <a:xfrm>
            <a:off x="502920" y="3299100"/>
            <a:ext cx="2703423"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436260"/>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3. СОГЛАСИЕ НА ГОЛОС/ВНЕШНОСТЬ</a:t>
            </a:r>
          </a:p>
        </p:txBody>
      </p:sp>
      <p:sp>
        <p:nvSpPr>
          <p:cNvPr id="14" name="TextBox 13"/>
          <p:cNvSpPr txBox="1"/>
          <p:nvPr/>
        </p:nvSpPr>
        <p:spPr>
          <a:xfrm>
            <a:off x="640080" y="3896922"/>
            <a:ext cx="2429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брать</a:t>
            </a:r>
          </a:p>
        </p:txBody>
      </p:sp>
      <p:sp>
        <p:nvSpPr>
          <p:cNvPr id="15" name="TextBox 14"/>
          <p:cNvSpPr txBox="1"/>
          <p:nvPr/>
        </p:nvSpPr>
        <p:spPr>
          <a:xfrm>
            <a:off x="640080" y="4323922"/>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KnowBe4, ячейка Nisos: 170 000+ заявок, 76 офферов, 22 оператора за 9 месяцев</a:t>
            </a:r>
          </a:p>
        </p:txBody>
      </p:sp>
      <p:sp>
        <p:nvSpPr>
          <p:cNvPr id="16" name="Rounded Rectangle 15"/>
          <p:cNvSpPr/>
          <p:nvPr/>
        </p:nvSpPr>
        <p:spPr>
          <a:xfrm>
            <a:off x="3370935" y="3299100"/>
            <a:ext cx="2703423"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3508095" y="3436260"/>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4. РИСК БРЕНДУ &gt; ВЫГОДЫ</a:t>
            </a:r>
          </a:p>
        </p:txBody>
      </p:sp>
      <p:sp>
        <p:nvSpPr>
          <p:cNvPr id="18" name="TextBox 17"/>
          <p:cNvSpPr txBox="1"/>
          <p:nvPr/>
        </p:nvSpPr>
        <p:spPr>
          <a:xfrm>
            <a:off x="3508095" y="3689451"/>
            <a:ext cx="2429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брать</a:t>
            </a:r>
          </a:p>
        </p:txBody>
      </p:sp>
      <p:sp>
        <p:nvSpPr>
          <p:cNvPr id="19" name="TextBox 18"/>
          <p:cNvSpPr txBox="1"/>
          <p:nvPr/>
        </p:nvSpPr>
        <p:spPr>
          <a:xfrm>
            <a:off x="3508095" y="4116450"/>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System1 (5,9 из 5,9) против CARMA (негатив 13,5% → 53,4%) на той же рекламе</a:t>
            </a:r>
          </a:p>
        </p:txBody>
      </p:sp>
      <p:sp>
        <p:nvSpPr>
          <p:cNvPr id="20" name="Rounded Rectangle 19"/>
          <p:cNvSpPr/>
          <p:nvPr/>
        </p:nvSpPr>
        <p:spPr>
          <a:xfrm>
            <a:off x="374904" y="5186252"/>
            <a:ext cx="11441887" cy="10499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277692"/>
            <a:ext cx="11112703" cy="958515"/>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1. Лицензия неясна — не брать.</a:t>
            </a:r>
            <a:r>
              <a:rPr sz="1050" b="0" i="0">
                <a:solidFill>
                  <a:srgbClr val="21295C"/>
                </a:solidFill>
                <a:latin typeface="Arial"/>
              </a:rPr>
              <a:t> Неизвестно основание обучения и юрисдикция спора. Проверка до старта: документация о происхождении корпуса · пункт об ответственности в договоре с вендором · юрисдикция спора.</a:t>
            </a:r>
          </a:p>
          <a:p>
            <a:pPr algn="l">
              <a:lnSpc>
                <a:spcPct val="126000"/>
              </a:lnSpc>
              <a:spcBef>
                <a:spcPts val="700"/>
              </a:spcBef>
            </a:pPr>
            <a:r>
              <a:rPr sz="1050" b="0" i="0">
                <a:solidFill>
                  <a:srgbClr val="21295C"/>
                </a:solidFill>
                <a:latin typeface="Arial"/>
              </a:rPr>
              <a:t/>
            </a:r>
            <a:r>
              <a:rPr sz="1050" b="1" i="0">
                <a:solidFill>
                  <a:srgbClr val="21295C"/>
                </a:solidFill>
                <a:latin typeface="Arial"/>
              </a:rPr>
              <a:t>2. Узнаваемое сходство — не брать</a:t>
            </a:r>
            <a:r>
              <a:rPr sz="1050" b="0" i="0">
                <a:solidFill>
                  <a:srgbClr val="21295C"/>
                </a:solidFill>
                <a:latin typeface="Arial"/>
              </a:rPr>
              <a:t>, независимо от исхода суда: репутационный риск сам по себе. </a:t>
            </a:r>
            <a:r>
              <a:rPr sz="1050" b="1" i="0">
                <a:solidFill>
                  <a:srgbClr val="21295C"/>
                </a:solidFill>
                <a:latin typeface="Arial"/>
              </a:rPr>
              <a:t>3. Голос/внешность без согласия — не брать</a:t>
            </a:r>
            <a:r>
              <a:rPr sz="1050" b="0" i="0">
                <a:solidFill>
                  <a:srgbClr val="21295C"/>
                </a:solidFill>
                <a:latin typeface="Arial"/>
              </a:rPr>
              <a:t> — согласие на одну форму использования не покрывает другую. </a:t>
            </a:r>
            <a:r>
              <a:rPr sz="1050" b="1" i="0">
                <a:solidFill>
                  <a:srgbClr val="21295C"/>
                </a:solidFill>
                <a:latin typeface="Arial"/>
              </a:rPr>
              <a:t>4. Риск бренду выше выгоды — не брать</a:t>
            </a:r>
            <a:r>
              <a:rPr sz="1050" b="0" i="0">
                <a:solidFill>
                  <a:srgbClr val="21295C"/>
                </a:solidFill>
                <a:latin typeface="Arial"/>
              </a:rPr>
              <a:t>: не «никогда не используй ИИ», а «не полагайся на одно предрелизное тестирование».</a:t>
            </a:r>
          </a:p>
        </p:txBody>
      </p:sp>
      <p:sp>
        <p:nvSpPr>
          <p:cNvPr id="22" name="Rounded Rectangle 21"/>
          <p:cNvSpPr/>
          <p:nvPr/>
        </p:nvSpPr>
        <p:spPr>
          <a:xfrm>
            <a:off x="6385255" y="1335024"/>
            <a:ext cx="5303520" cy="3627119"/>
          </a:xfrm>
          <a:prstGeom prst="roundRect">
            <a:avLst>
              <a:gd name="adj" fmla="val 8403"/>
            </a:avLst>
          </a:prstGeom>
          <a:solidFill>
            <a:srgbClr val="F4F7FA"/>
          </a:solidFill>
          <a:ln w="19050">
            <a:solidFill>
              <a:srgbClr val="1C7293"/>
            </a:solidFill>
          </a:ln>
          <a:effectLst/>
        </p:spPr>
        <p:txBody>
          <a:bodyPr rtlCol="0" anchor="ctr"/>
          <a:lstStyle/>
          <a:p>
            <a:pPr algn="ctr"/>
          </a:p>
        </p:txBody>
      </p:sp>
      <p:pic>
        <p:nvPicPr>
          <p:cNvPr id="23" name="Picture 22" descr="s44-royal-courts-of-justice.jpg"/>
          <p:cNvPicPr>
            <a:picLocks noChangeAspect="1"/>
          </p:cNvPicPr>
          <p:nvPr/>
        </p:nvPicPr>
        <p:blipFill>
          <a:blip r:embed="rId2"/>
          <a:stretch>
            <a:fillRect/>
          </a:stretch>
        </p:blipFill>
        <p:spPr>
          <a:xfrm>
            <a:off x="6522415" y="1472184"/>
            <a:ext cx="5029200" cy="335280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Чек-лист на Ладе Чижовой: формально пройден, а заказ потерян</a:t>
            </a:r>
          </a:p>
        </p:txBody>
      </p:sp>
      <p:sp>
        <p:nvSpPr>
          <p:cNvPr id="4" name="Rounded Rectangle 3"/>
          <p:cNvSpPr/>
          <p:nvPr/>
        </p:nvSpPr>
        <p:spPr>
          <a:xfrm>
            <a:off x="502920" y="1335024"/>
            <a:ext cx="5437479" cy="2954130"/>
          </a:xfrm>
          <a:prstGeom prst="roundRect">
            <a:avLst>
              <a:gd name="adj" fmla="val 1031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Чек-лист ловит</a:t>
            </a:r>
          </a:p>
        </p:txBody>
      </p:sp>
      <p:sp>
        <p:nvSpPr>
          <p:cNvPr id="6" name="TextBox 5"/>
          <p:cNvSpPr txBox="1"/>
          <p:nvPr/>
        </p:nvSpPr>
        <p:spPr>
          <a:xfrm>
            <a:off x="667512" y="1846650"/>
            <a:ext cx="5108295" cy="2287055"/>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лицензия не раскрыта вендором — критерий 1 не пройден, пауза</a:t>
            </a:r>
          </a:p>
          <a:p>
            <a:pPr algn="l">
              <a:lnSpc>
                <a:spcPct val="126000"/>
              </a:lnSpc>
            </a:pPr>
            <a:r>
              <a:rPr sz="1400" b="0" i="0">
                <a:solidFill>
                  <a:srgbClr val="21295C"/>
                </a:solidFill>
                <a:latin typeface="Arial"/>
              </a:rPr>
              <a:t>• результат узнаваемо копирует её стиль — критерий 2 не пройден, отказ</a:t>
            </a:r>
          </a:p>
          <a:p>
            <a:pPr algn="l">
              <a:lnSpc>
                <a:spcPct val="126000"/>
              </a:lnSpc>
            </a:pPr>
            <a:r>
              <a:rPr sz="1400" b="0" i="0">
                <a:solidFill>
                  <a:srgbClr val="21295C"/>
                </a:solidFill>
                <a:latin typeface="Arial"/>
              </a:rPr>
              <a:t>• синтез её голоса или лица без согласия — критерий 3 не пройден, отказ</a:t>
            </a:r>
          </a:p>
          <a:p>
            <a:pPr algn="l">
              <a:lnSpc>
                <a:spcPct val="126000"/>
              </a:lnSpc>
            </a:pPr>
            <a:r>
              <a:rPr sz="1400" b="0" i="0">
                <a:solidFill>
                  <a:srgbClr val="21295C"/>
                </a:solidFill>
                <a:latin typeface="Arial"/>
              </a:rPr>
              <a:t>• бренд публично выдаёт генерацию за её ручную работу — критерий 4 не пройден</a:t>
            </a:r>
          </a:p>
        </p:txBody>
      </p:sp>
      <p:sp>
        <p:nvSpPr>
          <p:cNvPr id="7" name="Rounded Rectangle 6"/>
          <p:cNvSpPr/>
          <p:nvPr/>
        </p:nvSpPr>
        <p:spPr>
          <a:xfrm>
            <a:off x="6251295" y="1335024"/>
            <a:ext cx="5437479" cy="2954130"/>
          </a:xfrm>
          <a:prstGeom prst="roundRect">
            <a:avLst>
              <a:gd name="adj" fmla="val 10317"/>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Чек-лист не ловит</a:t>
            </a:r>
          </a:p>
        </p:txBody>
      </p:sp>
      <p:sp>
        <p:nvSpPr>
          <p:cNvPr id="9" name="TextBox 8"/>
          <p:cNvSpPr txBox="1"/>
          <p:nvPr/>
        </p:nvSpPr>
        <p:spPr>
          <a:xfrm>
            <a:off x="6415887" y="1846650"/>
            <a:ext cx="5108295" cy="2287055"/>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заказчик просто перестаёт её нанимать — ни один критерий не задет</a:t>
            </a:r>
          </a:p>
          <a:p>
            <a:pPr algn="l">
              <a:lnSpc>
                <a:spcPct val="126000"/>
              </a:lnSpc>
            </a:pPr>
            <a:r>
              <a:rPr sz="1400" b="0" i="0">
                <a:solidFill>
                  <a:srgbClr val="21295C"/>
                </a:solidFill>
                <a:latin typeface="Arial"/>
              </a:rPr>
              <a:t>• стиль намеренно обобщён, не копирует её почерк — формально разрешено</a:t>
            </a:r>
          </a:p>
          <a:p>
            <a:pPr algn="l">
              <a:lnSpc>
                <a:spcPct val="126000"/>
              </a:lnSpc>
            </a:pPr>
            <a:r>
              <a:rPr sz="1400" b="0" i="0">
                <a:solidFill>
                  <a:srgbClr val="21295C"/>
                </a:solidFill>
                <a:latin typeface="Arial"/>
              </a:rPr>
              <a:t>• голос и внешность не используются вовсе — неприменимо</a:t>
            </a:r>
          </a:p>
          <a:p>
            <a:pPr algn="l">
              <a:lnSpc>
                <a:spcPct val="126000"/>
              </a:lnSpc>
            </a:pPr>
            <a:r>
              <a:rPr sz="1400" b="0" i="0">
                <a:solidFill>
                  <a:srgbClr val="21295C"/>
                </a:solidFill>
                <a:latin typeface="Arial"/>
              </a:rPr>
              <a:t>• материал внутренний, бренд-риск для соцсетей малого бизнеса минимален</a:t>
            </a:r>
          </a:p>
        </p:txBody>
      </p:sp>
      <p:sp>
        <p:nvSpPr>
          <p:cNvPr id="10" name="Rounded Rectangle 9"/>
          <p:cNvSpPr/>
          <p:nvPr/>
        </p:nvSpPr>
        <p:spPr>
          <a:xfrm>
            <a:off x="374904" y="4380594"/>
            <a:ext cx="11441887" cy="1855613"/>
          </a:xfrm>
          <a:prstGeom prst="roundRect">
            <a:avLst>
              <a:gd name="adj" fmla="val 16425"/>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472034"/>
            <a:ext cx="11112703" cy="176417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Порядок несущий: от дешёвой проверки к дорогой.</a:t>
            </a:r>
            <a:r>
              <a:rPr sz="1300" b="0" i="0">
                <a:solidFill>
                  <a:srgbClr val="21295C"/>
                </a:solidFill>
                <a:latin typeface="Arial"/>
              </a:rPr>
              <a:t> Не единая формула «прошёл все четыре — можно брать», а последовательность стоп-сигналов — каждый достаточен сам по себе для отказа.</a:t>
            </a:r>
          </a:p>
          <a:p>
            <a:pPr algn="l">
              <a:lnSpc>
                <a:spcPct val="126000"/>
              </a:lnSpc>
              <a:spcBef>
                <a:spcPts val="700"/>
              </a:spcBef>
            </a:pPr>
            <a:r>
              <a:rPr sz="1300" b="0" i="0">
                <a:solidFill>
                  <a:srgbClr val="21295C"/>
                </a:solidFill>
                <a:latin typeface="Arial"/>
              </a:rPr>
              <a:t/>
            </a:r>
            <a:r>
              <a:rPr sz="1300" b="1" i="0">
                <a:solidFill>
                  <a:srgbClr val="21295C"/>
                </a:solidFill>
                <a:latin typeface="Arial"/>
              </a:rPr>
              <a:t>Четыре критерия читаются и со стороны малого заказчика,</a:t>
            </a:r>
            <a:r>
              <a:rPr sz="1300" b="0" i="0">
                <a:solidFill>
                  <a:srgbClr val="21295C"/>
                </a:solidFill>
                <a:latin typeface="Arial"/>
              </a:rPr>
              <a:t> который раньше нанимал фрилансера, а теперь генерирует материал сам, — а не только со стороны агентства, выбирающего поставщика.</a:t>
            </a:r>
          </a:p>
          <a:p>
            <a:pPr algn="l">
              <a:lnSpc>
                <a:spcPct val="126000"/>
              </a:lnSpc>
              <a:spcBef>
                <a:spcPts val="700"/>
              </a:spcBef>
            </a:pPr>
            <a:r>
              <a:rPr sz="1300" b="0" i="0">
                <a:solidFill>
                  <a:srgbClr val="21295C"/>
                </a:solidFill>
                <a:latin typeface="Arial"/>
              </a:rPr>
              <a:t/>
            </a:r>
            <a:r>
              <a:rPr sz="1300" b="1" i="0">
                <a:solidFill>
                  <a:srgbClr val="21295C"/>
                </a:solidFill>
                <a:latin typeface="Arial"/>
              </a:rPr>
              <a:t>Вытеснение Чижовой не нарушает ни один из четырёх критериев отказа.</a:t>
            </a:r>
            <a:r>
              <a:rPr sz="1300" b="0" i="0">
                <a:solidFill>
                  <a:srgbClr val="21295C"/>
                </a:solidFill>
                <a:latin typeface="Arial"/>
              </a:rPr>
              <a:t> Чек-лист отвечает на вопрос «законно ли и узнаваемо ли это», а не на вопрос «что происходит с человеком, который раньше получал этот заказ».</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ladachizhova.substack.com,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формы переезда нагрузки — и одна новая: подделываемое узнавание</a:t>
            </a:r>
          </a:p>
        </p:txBody>
      </p:sp>
      <p:sp>
        <p:nvSpPr>
          <p:cNvPr id="4" name="Rounded Rectangle 3"/>
          <p:cNvSpPr/>
          <p:nvPr/>
        </p:nvSpPr>
        <p:spPr>
          <a:xfrm>
            <a:off x="502920" y="1335024"/>
            <a:ext cx="2703423"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ФОРМА 1: ПЕРЕЕХАЛА</a:t>
            </a:r>
          </a:p>
        </p:txBody>
      </p:sp>
      <p:sp>
        <p:nvSpPr>
          <p:cNvPr id="6" name="TextBox 5"/>
          <p:cNvSpPr txBox="1"/>
          <p:nvPr/>
        </p:nvSpPr>
        <p:spPr>
          <a:xfrm>
            <a:off x="640080" y="1725375"/>
            <a:ext cx="24291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зритель · закон · рынок труда</a:t>
            </a:r>
          </a:p>
        </p:txBody>
      </p:sp>
      <p:sp>
        <p:nvSpPr>
          <p:cNvPr id="7" name="TextBox 6"/>
          <p:cNvSpPr txBox="1"/>
          <p:nvPr/>
        </p:nvSpPr>
        <p:spPr>
          <a:xfrm>
            <a:off x="640080" y="2542797"/>
            <a:ext cx="24291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адреса одной нагрузки</a:t>
            </a:r>
          </a:p>
        </p:txBody>
      </p:sp>
      <p:sp>
        <p:nvSpPr>
          <p:cNvPr id="8" name="Rounded Rectangle 7"/>
          <p:cNvSpPr/>
          <p:nvPr/>
        </p:nvSpPr>
        <p:spPr>
          <a:xfrm>
            <a:off x="3370935" y="1335024"/>
            <a:ext cx="2703423"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08095"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ФОРМА 2: ТОТ ЖЕ ЧЕЛОВЕК</a:t>
            </a:r>
          </a:p>
        </p:txBody>
      </p:sp>
      <p:sp>
        <p:nvSpPr>
          <p:cNvPr id="10" name="TextBox 9"/>
          <p:cNvSpPr txBox="1"/>
          <p:nvPr/>
        </p:nvSpPr>
        <p:spPr>
          <a:xfrm>
            <a:off x="3508095" y="1725375"/>
            <a:ext cx="2429103" cy="511873"/>
          </a:xfrm>
          <a:prstGeom prst="rect">
            <a:avLst/>
          </a:prstGeom>
          <a:noFill/>
        </p:spPr>
        <p:txBody>
          <a:bodyPr wrap="square" lIns="0" rIns="0" tIns="0" bIns="0" anchor="t">
            <a:spAutoFit/>
          </a:bodyPr>
          <a:lstStyle/>
          <a:p>
            <a:pPr algn="l">
              <a:lnSpc>
                <a:spcPct val="108000"/>
              </a:lnSpc>
            </a:pPr>
            <a:r>
              <a:rPr sz="1400" b="1" i="0">
                <a:solidFill>
                  <a:srgbClr val="1C7293"/>
                </a:solidFill>
                <a:latin typeface="Arial"/>
              </a:rPr>
              <a:t>Canva +403% · Чижова ≈30% · промпт-инж. +329%</a:t>
            </a:r>
          </a:p>
        </p:txBody>
      </p:sp>
      <p:sp>
        <p:nvSpPr>
          <p:cNvPr id="11" name="TextBox 10"/>
          <p:cNvSpPr txBox="1"/>
          <p:nvPr/>
        </p:nvSpPr>
        <p:spPr>
          <a:xfrm>
            <a:off x="3508095" y="2237249"/>
            <a:ext cx="24291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действие / доля / новый шаг</a:t>
            </a:r>
          </a:p>
        </p:txBody>
      </p:sp>
      <p:sp>
        <p:nvSpPr>
          <p:cNvPr id="12" name="Rounded Rectangle 11"/>
          <p:cNvSpPr/>
          <p:nvPr/>
        </p:nvSpPr>
        <p:spPr>
          <a:xfrm>
            <a:off x="502920" y="3055793"/>
            <a:ext cx="2703423" cy="1997525"/>
          </a:xfrm>
          <a:prstGeom prst="roundRect">
            <a:avLst>
              <a:gd name="adj" fmla="val 1525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192953"/>
            <a:ext cx="2429103"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ФОРМА 3 (СВОЯ ДЛЯ ЛЕКЦИИ): ПОДДЕЛЫВАЕМОЕ УЗНАВАНИЕ</a:t>
            </a:r>
          </a:p>
        </p:txBody>
      </p:sp>
      <p:sp>
        <p:nvSpPr>
          <p:cNvPr id="14" name="TextBox 13"/>
          <p:cNvSpPr txBox="1"/>
          <p:nvPr/>
        </p:nvSpPr>
        <p:spPr>
          <a:xfrm>
            <a:off x="640080" y="3861086"/>
            <a:ext cx="2429103"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CNET + найм — дважды на разном материале</a:t>
            </a:r>
          </a:p>
        </p:txBody>
      </p:sp>
      <p:sp>
        <p:nvSpPr>
          <p:cNvPr id="15" name="Rounded Rectangle 14"/>
          <p:cNvSpPr/>
          <p:nvPr/>
        </p:nvSpPr>
        <p:spPr>
          <a:xfrm>
            <a:off x="3370935" y="3055793"/>
            <a:ext cx="2703423" cy="1997525"/>
          </a:xfrm>
          <a:prstGeom prst="roundRect">
            <a:avLst>
              <a:gd name="adj" fmla="val 15258"/>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3508095" y="3192953"/>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ЗАЩИТА УХУДШАЕТСЯ</a:t>
            </a:r>
          </a:p>
        </p:txBody>
      </p:sp>
      <p:sp>
        <p:nvSpPr>
          <p:cNvPr id="17" name="TextBox 16"/>
          <p:cNvSpPr txBox="1"/>
          <p:nvPr/>
        </p:nvSpPr>
        <p:spPr>
          <a:xfrm>
            <a:off x="3508095" y="3446144"/>
            <a:ext cx="2429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31% → 40% за год</a:t>
            </a:r>
          </a:p>
        </p:txBody>
      </p:sp>
      <p:sp>
        <p:nvSpPr>
          <p:cNvPr id="18" name="TextBox 17"/>
          <p:cNvSpPr txBox="1"/>
          <p:nvPr/>
        </p:nvSpPr>
        <p:spPr>
          <a:xfrm>
            <a:off x="3508095" y="4263566"/>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Checkr, HR-менеджеры, столкнувшиеся с поддельным кандидатом</a:t>
            </a:r>
          </a:p>
        </p:txBody>
      </p:sp>
      <p:sp>
        <p:nvSpPr>
          <p:cNvPr id="19" name="Rounded Rectangle 18"/>
          <p:cNvSpPr/>
          <p:nvPr/>
        </p:nvSpPr>
        <p:spPr>
          <a:xfrm>
            <a:off x="374904" y="5144758"/>
            <a:ext cx="11441887" cy="109144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5236198"/>
            <a:ext cx="11112703" cy="1000009"/>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Форма 1. Нагрузка переехала</a:t>
            </a:r>
            <a:r>
              <a:rPr sz="1150" b="0" i="0">
                <a:solidFill>
                  <a:srgbClr val="21295C"/>
                </a:solidFill>
                <a:latin typeface="Arial"/>
              </a:rPr>
              <a:t> — на зрителя, на закон или на рынок труда. </a:t>
            </a:r>
            <a:r>
              <a:rPr sz="1150" b="1" i="0">
                <a:solidFill>
                  <a:srgbClr val="21295C"/>
                </a:solidFill>
                <a:latin typeface="Arial"/>
              </a:rPr>
              <a:t>Форма 2. Исполнитель тот же, задача изменилась</a:t>
            </a:r>
            <a:r>
              <a:rPr sz="1150" b="0" i="0">
                <a:solidFill>
                  <a:srgbClr val="21295C"/>
                </a:solidFill>
                <a:latin typeface="Arial"/>
              </a:rPr>
              <a:t> — действие внутри задачи (Canva), доля действия в доходе (Чижова) или целиком новый шаг (промпт-инжиниринг).</a:t>
            </a:r>
          </a:p>
          <a:p>
            <a:pPr algn="l">
              <a:lnSpc>
                <a:spcPct val="126000"/>
              </a:lnSpc>
              <a:spcBef>
                <a:spcPts val="700"/>
              </a:spcBef>
            </a:pPr>
            <a:r>
              <a:rPr sz="1150" b="0" i="0">
                <a:solidFill>
                  <a:srgbClr val="21295C"/>
                </a:solidFill>
                <a:latin typeface="Arial"/>
              </a:rPr>
              <a:t/>
            </a:r>
            <a:r>
              <a:rPr sz="1150" b="1" i="0">
                <a:solidFill>
                  <a:srgbClr val="21295C"/>
                </a:solidFill>
                <a:latin typeface="Arial"/>
              </a:rPr>
              <a:t>Форма 3 — собственная для этой лекции: узнавание стало подделываемым.</a:t>
            </a:r>
            <a:r>
              <a:rPr sz="1150" b="0" i="0">
                <a:solidFill>
                  <a:srgbClr val="21295C"/>
                </a:solidFill>
                <a:latin typeface="Arial"/>
              </a:rPr>
              <a:t> Предъявлена дважды на разном материале: CNET и найм. </a:t>
            </a:r>
            <a:r>
              <a:rPr sz="1150" b="1" i="0">
                <a:solidFill>
                  <a:srgbClr val="21295C"/>
                </a:solidFill>
                <a:latin typeface="Arial"/>
              </a:rPr>
              <a:t>Защита не улучшается со временем, а ухудшается:</a:t>
            </a:r>
            <a:r>
              <a:rPr sz="1150" b="0" i="0">
                <a:solidFill>
                  <a:srgbClr val="21295C"/>
                </a:solidFill>
                <a:latin typeface="Arial"/>
              </a:rPr>
              <a:t> доля HR-менеджеров, столкнувшихся с поддельным кандидатом, — </a:t>
            </a:r>
            <a:r>
              <a:rPr sz="1150" b="1" i="0">
                <a:solidFill>
                  <a:srgbClr val="21295C"/>
                </a:solidFill>
                <a:latin typeface="Arial"/>
              </a:rPr>
              <a:t>31% → 40%</a:t>
            </a:r>
            <a:r>
              <a:rPr sz="1150" b="0" i="0">
                <a:solidFill>
                  <a:srgbClr val="21295C"/>
                </a:solidFill>
                <a:latin typeface="Arial"/>
              </a:rPr>
              <a:t> год к году.</a:t>
            </a:r>
          </a:p>
        </p:txBody>
      </p:sp>
      <p:sp>
        <p:nvSpPr>
          <p:cNvPr id="21" name="Rounded Rectangle 20"/>
          <p:cNvSpPr/>
          <p:nvPr/>
        </p:nvSpPr>
        <p:spPr>
          <a:xfrm>
            <a:off x="6385255" y="1335024"/>
            <a:ext cx="5303520" cy="3631310"/>
          </a:xfrm>
          <a:prstGeom prst="roundRect">
            <a:avLst>
              <a:gd name="adj" fmla="val 8393"/>
            </a:avLst>
          </a:prstGeom>
          <a:solidFill>
            <a:srgbClr val="F4F7FA"/>
          </a:solidFill>
          <a:ln w="19050">
            <a:solidFill>
              <a:srgbClr val="1C7293"/>
            </a:solidFill>
          </a:ln>
          <a:effectLst/>
        </p:spPr>
        <p:txBody>
          <a:bodyPr rtlCol="0" anchor="ctr"/>
          <a:lstStyle/>
          <a:p>
            <a:pPr algn="ctr"/>
          </a:p>
        </p:txBody>
      </p:sp>
      <p:pic>
        <p:nvPicPr>
          <p:cNvPr id="22" name="Picture 21" descr="s69-video-interview-hr-application-form.jpg"/>
          <p:cNvPicPr>
            <a:picLocks noChangeAspect="1"/>
          </p:cNvPicPr>
          <p:nvPr/>
        </p:nvPicPr>
        <p:blipFill>
          <a:blip r:embed="rId2"/>
          <a:stretch>
            <a:fillRect/>
          </a:stretch>
        </p:blipFill>
        <p:spPr>
          <a:xfrm>
            <a:off x="6522415" y="1472184"/>
            <a:ext cx="5029200" cy="3356990"/>
          </a:xfrm>
          <a:prstGeom prst="rect">
            <a:avLst/>
          </a:prstGeom>
        </p:spPr>
      </p:pic>
      <p:sp>
        <p:nvSpPr>
          <p:cNvPr id="23" name="Rectangle 22"/>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Checkr, опрос ≈3000 менеджеров по найму, сентябрь 2026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платит — поимённо</a:t>
            </a:r>
          </a:p>
        </p:txBody>
      </p:sp>
      <p:sp>
        <p:nvSpPr>
          <p:cNvPr id="4" name="Rounded Rectangle 3"/>
          <p:cNvSpPr/>
          <p:nvPr/>
        </p:nvSpPr>
        <p:spPr>
          <a:xfrm>
            <a:off x="502920" y="1335024"/>
            <a:ext cx="3480663"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РЕДАКЦИЯ</a:t>
            </a:r>
          </a:p>
        </p:txBody>
      </p:sp>
      <p:sp>
        <p:nvSpPr>
          <p:cNvPr id="6" name="TextBox 5"/>
          <p:cNvSpPr txBox="1"/>
          <p:nvPr/>
        </p:nvSpPr>
        <p:spPr>
          <a:xfrm>
            <a:off x="640080" y="1725375"/>
            <a:ext cx="320634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штата CNET уволено</a:t>
            </a:r>
          </a:p>
        </p:txBody>
      </p:sp>
      <p:sp>
        <p:nvSpPr>
          <p:cNvPr id="7" name="TextBox 6"/>
          <p:cNvSpPr txBox="1"/>
          <p:nvPr/>
        </p:nvSpPr>
        <p:spPr>
          <a:xfrm>
            <a:off x="640080" y="2542797"/>
            <a:ext cx="320634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институт именованной подписи перестал работать именно когда стал подделываем</a:t>
            </a:r>
          </a:p>
        </p:txBody>
      </p:sp>
      <p:sp>
        <p:nvSpPr>
          <p:cNvPr id="8" name="Rounded Rectangle 7"/>
          <p:cNvSpPr/>
          <p:nvPr/>
        </p:nvSpPr>
        <p:spPr>
          <a:xfrm>
            <a:off x="4148175" y="1335024"/>
            <a:ext cx="3480663"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285335" y="1472184"/>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ПРАВООБЛАДАТЕЛЬ В СУДЕ</a:t>
            </a:r>
          </a:p>
        </p:txBody>
      </p:sp>
      <p:sp>
        <p:nvSpPr>
          <p:cNvPr id="10" name="TextBox 9"/>
          <p:cNvSpPr txBox="1"/>
          <p:nvPr/>
        </p:nvSpPr>
        <p:spPr>
          <a:xfrm>
            <a:off x="4285335" y="1725375"/>
            <a:ext cx="320634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$30,75 млн–$1,6 млрд → 0</a:t>
            </a:r>
          </a:p>
        </p:txBody>
      </p:sp>
      <p:sp>
        <p:nvSpPr>
          <p:cNvPr id="11" name="TextBox 10"/>
          <p:cNvSpPr txBox="1"/>
          <p:nvPr/>
        </p:nvSpPr>
        <p:spPr>
          <a:xfrm>
            <a:off x="4285335" y="2542797"/>
            <a:ext cx="320634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Getty против Stability — лицензия не потребовалась вовсе по этому вердикту</a:t>
            </a:r>
          </a:p>
        </p:txBody>
      </p:sp>
      <p:sp>
        <p:nvSpPr>
          <p:cNvPr id="12" name="Rounded Rectangle 11"/>
          <p:cNvSpPr/>
          <p:nvPr/>
        </p:nvSpPr>
        <p:spPr>
          <a:xfrm>
            <a:off x="502920" y="3267036"/>
            <a:ext cx="3480663"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404196"/>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САМА КОМПАНИЯ</a:t>
            </a:r>
          </a:p>
        </p:txBody>
      </p:sp>
      <p:sp>
        <p:nvSpPr>
          <p:cNvPr id="14" name="TextBox 13"/>
          <p:cNvSpPr txBox="1"/>
          <p:nvPr/>
        </p:nvSpPr>
        <p:spPr>
          <a:xfrm>
            <a:off x="640080" y="3657387"/>
            <a:ext cx="320634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банкротство Getty Images</a:t>
            </a:r>
          </a:p>
        </p:txBody>
      </p:sp>
      <p:sp>
        <p:nvSpPr>
          <p:cNvPr id="15" name="TextBox 14"/>
          <p:cNvSpPr txBox="1"/>
          <p:nvPr/>
        </p:nvSpPr>
        <p:spPr>
          <a:xfrm>
            <a:off x="640080" y="4474810"/>
            <a:ext cx="320634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подписчиков за год, $2,1 млрд долга, ИИ-давление — среди названных причин</a:t>
            </a:r>
          </a:p>
        </p:txBody>
      </p:sp>
      <p:sp>
        <p:nvSpPr>
          <p:cNvPr id="16" name="Rounded Rectangle 15"/>
          <p:cNvSpPr/>
          <p:nvPr/>
        </p:nvSpPr>
        <p:spPr>
          <a:xfrm>
            <a:off x="4148175" y="3267036"/>
            <a:ext cx="3480663"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285335" y="3404196"/>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ВЫТЕСНЕННЫЕ ФРИЛАНСЕРЫ</a:t>
            </a:r>
          </a:p>
        </p:txBody>
      </p:sp>
      <p:sp>
        <p:nvSpPr>
          <p:cNvPr id="18" name="TextBox 17"/>
          <p:cNvSpPr txBox="1"/>
          <p:nvPr/>
        </p:nvSpPr>
        <p:spPr>
          <a:xfrm>
            <a:off x="4285335" y="3657387"/>
            <a:ext cx="320634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рост измерен, падение — нет</a:t>
            </a:r>
          </a:p>
        </p:txBody>
      </p:sp>
      <p:sp>
        <p:nvSpPr>
          <p:cNvPr id="19" name="TextBox 18"/>
          <p:cNvSpPr txBox="1"/>
          <p:nvPr/>
        </p:nvSpPr>
        <p:spPr>
          <a:xfrm>
            <a:off x="4285335" y="4474810"/>
            <a:ext cx="320634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+109/329/95% — точно; традиционная сторона — лишь BLS −2% за 10 лет</a:t>
            </a:r>
          </a:p>
        </p:txBody>
      </p:sp>
      <p:sp>
        <p:nvSpPr>
          <p:cNvPr id="20" name="Rounded Rectangle 19"/>
          <p:cNvSpPr/>
          <p:nvPr/>
        </p:nvSpPr>
        <p:spPr>
          <a:xfrm>
            <a:off x="374904" y="5337140"/>
            <a:ext cx="11441887" cy="89906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428580"/>
            <a:ext cx="11112703" cy="807627"/>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«Лицо, голос и подпись автора стоили доверия бесплатно. Сколько это стоит теперь — и кто платит?»</a:t>
            </a:r>
          </a:p>
          <a:p>
            <a:pPr algn="l">
              <a:lnSpc>
                <a:spcPct val="126000"/>
              </a:lnSpc>
              <a:spcBef>
                <a:spcPts val="700"/>
              </a:spcBef>
            </a:pPr>
            <a:r>
              <a:rPr sz="1200" b="0" i="0">
                <a:solidFill>
                  <a:srgbClr val="21295C"/>
                </a:solidFill>
                <a:latin typeface="Arial"/>
              </a:rPr>
              <a:t/>
            </a:r>
            <a:r>
              <a:rPr sz="1200" b="1" i="0">
                <a:solidFill>
                  <a:srgbClr val="21295C"/>
                </a:solidFill>
                <a:latin typeface="Arial"/>
              </a:rPr>
              <a:t>Платит не одна сторона — платят четыре, и каждая в своей форме.</a:t>
            </a:r>
            <a:r>
              <a:rPr sz="1200" b="0" i="0">
                <a:solidFill>
                  <a:srgbClr val="21295C"/>
                </a:solidFill>
                <a:latin typeface="Arial"/>
              </a:rPr>
              <a:t> Свести ответ к фразе «платит индустрия» значило бы подменить адрес обобщением — а обобщение без адреса не даёт спросить, что менять и кому.</a:t>
            </a:r>
          </a:p>
        </p:txBody>
      </p:sp>
      <p:sp>
        <p:nvSpPr>
          <p:cNvPr id="22" name="Rounded Rectangle 21"/>
          <p:cNvSpPr/>
          <p:nvPr/>
        </p:nvSpPr>
        <p:spPr>
          <a:xfrm>
            <a:off x="7939735" y="1335024"/>
            <a:ext cx="3749039" cy="2591523"/>
          </a:xfrm>
          <a:prstGeom prst="roundRect">
            <a:avLst>
              <a:gd name="adj" fmla="val 11761"/>
            </a:avLst>
          </a:prstGeom>
          <a:solidFill>
            <a:srgbClr val="F4F7FA"/>
          </a:solidFill>
          <a:ln w="19050">
            <a:solidFill>
              <a:srgbClr val="1C7293"/>
            </a:solidFill>
          </a:ln>
          <a:effectLst/>
        </p:spPr>
        <p:txBody>
          <a:bodyPr rtlCol="0" anchor="ctr"/>
          <a:lstStyle/>
          <a:p>
            <a:pPr algn="ctr"/>
          </a:p>
        </p:txBody>
      </p:sp>
      <p:pic>
        <p:nvPicPr>
          <p:cNvPr id="23" name="Picture 22" descr="s70-past-due-invoice.jpg"/>
          <p:cNvPicPr>
            <a:picLocks noChangeAspect="1"/>
          </p:cNvPicPr>
          <p:nvPr/>
        </p:nvPicPr>
        <p:blipFill>
          <a:blip r:embed="rId2"/>
          <a:stretch>
            <a:fillRect/>
          </a:stretch>
        </p:blipFill>
        <p:spPr>
          <a:xfrm>
            <a:off x="8076895" y="1472184"/>
            <a:ext cx="3474720" cy="2317203"/>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Разрыв в тысячи раз: где подтвердился, где нет</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 ИЗОБРАЖЕНИЕ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×1000–5000 · 3,0–3,7 порядка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$50–150 ручн. против $0,03–0,05 ген. — целиком в диапазоне</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 ТРЕК (СТОК)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×1000–6667 · 3,0–3,8 порядка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$20–100 сток против $0,015–0,02 ген. — целиком</a:t>
            </a:r>
          </a:p>
        </p:txBody>
      </p:sp>
      <p:sp>
        <p:nvSpPr>
          <p:cNvPr id="12" name="Rounded Rectangle 11"/>
          <p:cNvSpPr/>
          <p:nvPr/>
        </p:nvSpPr>
        <p:spPr>
          <a:xfrm>
            <a:off x="502920" y="2665369"/>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3. ОЗВУЧКА</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×250–11250 · 2,4–4,1 порядка</a:t>
            </a:r>
          </a:p>
        </p:txBody>
      </p:sp>
      <p:sp>
        <p:nvSpPr>
          <p:cNvPr id="15" name="TextBox 14"/>
          <p:cNvSpPr txBox="1"/>
          <p:nvPr/>
        </p:nvSpPr>
        <p:spPr>
          <a:xfrm>
            <a:off x="640080"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частично — нижняя граница задевает два порядка, не три</a:t>
            </a:r>
          </a:p>
        </p:txBody>
      </p:sp>
      <p:sp>
        <p:nvSpPr>
          <p:cNvPr id="16" name="Rounded Rectangle 15"/>
          <p:cNvSpPr/>
          <p:nvPr/>
        </p:nvSpPr>
        <p:spPr>
          <a:xfrm>
            <a:off x="6178143" y="2665369"/>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4. ЛИЦЕНЗИЯ/УРЕГУЛИРОВАНИЕ</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×4000–50000 · 3,6–4,7 порядка</a:t>
            </a:r>
          </a:p>
        </p:txBody>
      </p:sp>
      <p:sp>
        <p:nvSpPr>
          <p:cNvPr id="19" name="TextBox 18"/>
          <p:cNvSpPr txBox="1"/>
          <p:nvPr/>
        </p:nvSpPr>
        <p:spPr>
          <a:xfrm>
            <a:off x="6315303" y="34827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основном, с небольшим выходом верхней границы</a:t>
            </a:r>
          </a:p>
        </p:txBody>
      </p:sp>
      <p:sp>
        <p:nvSpPr>
          <p:cNvPr id="20" name="Rounded Rectangle 19"/>
          <p:cNvSpPr/>
          <p:nvPr/>
        </p:nvSpPr>
        <p:spPr>
          <a:xfrm>
            <a:off x="374904" y="392256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14003"/>
            <a:ext cx="11112703" cy="2222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измерения из четырёх попадают в диапазон целиком или почти целиком; одно — озвучка — задевает нижней границей два порядка, а не три.</a:t>
            </a:r>
            <a:r>
              <a:rPr sz="1500" b="0" i="0">
                <a:solidFill>
                  <a:srgbClr val="21295C"/>
                </a:solidFill>
                <a:latin typeface="Arial"/>
              </a:rPr>
              <a:t> Два случая в счёт не входят вовсе: лицензия Getty против нулевого платежа по решению суда (отношение к нулю не выражается порядком) и Ряд 2 опорного слайда входа (нет числа со стороны классического режима).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Раздел не добавил нового кейса — он показал, что материал пяти разделов складывается в чек-лист, словарь и заработанный ответ на вопрос лекции.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точки пути — и что в каждой сломалось</a:t>
            </a:r>
          </a:p>
        </p:txBody>
      </p:sp>
      <p:sp>
        <p:nvSpPr>
          <p:cNvPr id="4" name="Rounded Rectangle 3"/>
          <p:cNvSpPr/>
          <p:nvPr/>
        </p:nvSpPr>
        <p:spPr>
          <a:xfrm>
            <a:off x="502920" y="1335024"/>
            <a:ext cx="1658035" cy="2981127"/>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837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ПРОДАКШН / ИСПОЛНЕНИЕ</a:t>
            </a:r>
          </a:p>
        </p:txBody>
      </p:sp>
      <p:sp>
        <p:nvSpPr>
          <p:cNvPr id="6" name="TextBox 5"/>
          <p:cNvSpPr txBox="1"/>
          <p:nvPr/>
        </p:nvSpPr>
        <p:spPr>
          <a:xfrm>
            <a:off x="640080" y="1932846"/>
            <a:ext cx="1383715"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дни ожидания → секунды генерации</a:t>
            </a:r>
          </a:p>
        </p:txBody>
      </p:sp>
      <p:sp>
        <p:nvSpPr>
          <p:cNvPr id="7" name="TextBox 6"/>
          <p:cNvSpPr txBox="1"/>
          <p:nvPr/>
        </p:nvSpPr>
        <p:spPr>
          <a:xfrm>
            <a:off x="640080" y="2707831"/>
            <a:ext cx="13837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медленность раньше была бесплатной проверкой подлинности</a:t>
            </a:r>
          </a:p>
        </p:txBody>
      </p:sp>
      <p:sp>
        <p:nvSpPr>
          <p:cNvPr id="8" name="Rounded Rectangle 7"/>
          <p:cNvSpPr/>
          <p:nvPr/>
        </p:nvSpPr>
        <p:spPr>
          <a:xfrm>
            <a:off x="2325547" y="1335024"/>
            <a:ext cx="1658035" cy="2981127"/>
          </a:xfrm>
          <a:prstGeom prst="roundRect">
            <a:avLst>
              <a:gd name="adj" fmla="val 1838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462707" y="1472184"/>
            <a:ext cx="13837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РЕДАКЦИОННЫЙ КОНТРОЛЬ</a:t>
            </a:r>
          </a:p>
        </p:txBody>
      </p:sp>
      <p:sp>
        <p:nvSpPr>
          <p:cNvPr id="10" name="TextBox 9"/>
          <p:cNvSpPr txBox="1"/>
          <p:nvPr/>
        </p:nvSpPr>
        <p:spPr>
          <a:xfrm>
            <a:off x="2462707" y="1932846"/>
            <a:ext cx="138371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53% правок у CNET</a:t>
            </a:r>
          </a:p>
        </p:txBody>
      </p:sp>
      <p:sp>
        <p:nvSpPr>
          <p:cNvPr id="11" name="TextBox 10"/>
          <p:cNvSpPr txBox="1"/>
          <p:nvPr/>
        </p:nvSpPr>
        <p:spPr>
          <a:xfrm>
            <a:off x="2462707" y="2580519"/>
            <a:ext cx="13837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40–61% газетных ошибок, тот же порядок величины</a:t>
            </a:r>
          </a:p>
        </p:txBody>
      </p:sp>
      <p:sp>
        <p:nvSpPr>
          <p:cNvPr id="12" name="Rounded Rectangle 11"/>
          <p:cNvSpPr/>
          <p:nvPr/>
        </p:nvSpPr>
        <p:spPr>
          <a:xfrm>
            <a:off x="4148175" y="1335024"/>
            <a:ext cx="1658035" cy="2981127"/>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285335" y="1472184"/>
            <a:ext cx="13837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РЕЛИЗ И ПРИЁМ АУДИТОРИЕЙ</a:t>
            </a:r>
          </a:p>
        </p:txBody>
      </p:sp>
      <p:sp>
        <p:nvSpPr>
          <p:cNvPr id="14" name="TextBox 13"/>
          <p:cNvSpPr txBox="1"/>
          <p:nvPr/>
        </p:nvSpPr>
        <p:spPr>
          <a:xfrm>
            <a:off x="4285335" y="1932846"/>
            <a:ext cx="13837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негатив 13,5% → 53,4% (CARMA)</a:t>
            </a:r>
          </a:p>
        </p:txBody>
      </p:sp>
      <p:sp>
        <p:nvSpPr>
          <p:cNvPr id="15" name="TextBox 14"/>
          <p:cNvSpPr txBox="1"/>
          <p:nvPr/>
        </p:nvSpPr>
        <p:spPr>
          <a:xfrm>
            <a:off x="4285335" y="2393795"/>
            <a:ext cx="13837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ролик панель System1 оценила на 5,9★ из 5</a:t>
            </a:r>
          </a:p>
        </p:txBody>
      </p:sp>
      <p:sp>
        <p:nvSpPr>
          <p:cNvPr id="16" name="Rounded Rectangle 15"/>
          <p:cNvSpPr/>
          <p:nvPr/>
        </p:nvSpPr>
        <p:spPr>
          <a:xfrm>
            <a:off x="5970803" y="1335024"/>
            <a:ext cx="1658035" cy="2981127"/>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107963" y="1472184"/>
            <a:ext cx="13837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ПРАВА И ЛИЦЕНЗИЯ</a:t>
            </a:r>
          </a:p>
        </p:txBody>
      </p:sp>
      <p:sp>
        <p:nvSpPr>
          <p:cNvPr id="18" name="TextBox 17"/>
          <p:cNvSpPr txBox="1"/>
          <p:nvPr/>
        </p:nvSpPr>
        <p:spPr>
          <a:xfrm>
            <a:off x="6107963" y="1932846"/>
            <a:ext cx="1383715"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разрыв в три-четыре порядка</a:t>
            </a:r>
          </a:p>
        </p:txBody>
      </p:sp>
      <p:sp>
        <p:nvSpPr>
          <p:cNvPr id="19" name="TextBox 18"/>
          <p:cNvSpPr txBox="1"/>
          <p:nvPr/>
        </p:nvSpPr>
        <p:spPr>
          <a:xfrm>
            <a:off x="6107963" y="2911530"/>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суд, иск, settlement-ставка и розничный тариф сходятся в один порядок величины</a:t>
            </a:r>
          </a:p>
        </p:txBody>
      </p:sp>
      <p:sp>
        <p:nvSpPr>
          <p:cNvPr id="20" name="Rounded Rectangle 19"/>
          <p:cNvSpPr/>
          <p:nvPr/>
        </p:nvSpPr>
        <p:spPr>
          <a:xfrm>
            <a:off x="374904" y="4407591"/>
            <a:ext cx="11441887" cy="1828616"/>
          </a:xfrm>
          <a:prstGeom prst="roundRect">
            <a:avLst>
              <a:gd name="adj" fmla="val 1666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499031"/>
            <a:ext cx="11112703" cy="173717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Путь одного артефакта прошёл четыре точки, где узнавание раньше работало бесплатно — и в каждой названо, что именно сломалось.</a:t>
            </a:r>
          </a:p>
          <a:p>
            <a:pPr algn="l">
              <a:lnSpc>
                <a:spcPct val="126000"/>
              </a:lnSpc>
              <a:spcBef>
                <a:spcPts val="700"/>
              </a:spcBef>
            </a:pPr>
            <a:r>
              <a:rPr sz="1050" b="0" i="0">
                <a:solidFill>
                  <a:srgbClr val="21295C"/>
                </a:solidFill>
                <a:latin typeface="Arial"/>
              </a:rPr>
              <a:t/>
            </a:r>
            <a:r>
              <a:rPr sz="1050" b="0" i="0">
                <a:solidFill>
                  <a:srgbClr val="21295C"/>
                </a:solidFill>
                <a:latin typeface="Arial"/>
              </a:rPr>
              <a:t>• на входе — не качество результата, а порог времени и навыка, который раньше отсеивал часть заказов самой ценой</a:t>
            </a:r>
          </a:p>
          <a:p>
            <a:pPr algn="l">
              <a:lnSpc>
                <a:spcPct val="126000"/>
              </a:lnSpc>
              <a:spcBef>
                <a:spcPts val="700"/>
              </a:spcBef>
            </a:pPr>
            <a:r>
              <a:rPr sz="1050" b="0" i="0">
                <a:solidFill>
                  <a:srgbClr val="21295C"/>
                </a:solidFill>
                <a:latin typeface="Arial"/>
              </a:rPr>
              <a:t/>
            </a:r>
            <a:r>
              <a:rPr sz="1050" b="0" i="0">
                <a:solidFill>
                  <a:srgbClr val="21295C"/>
                </a:solidFill>
                <a:latin typeface="Arial"/>
              </a:rPr>
              <a:t>• при проверке — не точность текста, а подпись, которая давно не отвечала за неё на практике</a:t>
            </a:r>
          </a:p>
          <a:p>
            <a:pPr algn="l">
              <a:lnSpc>
                <a:spcPct val="126000"/>
              </a:lnSpc>
              <a:spcBef>
                <a:spcPts val="700"/>
              </a:spcBef>
            </a:pPr>
            <a:r>
              <a:rPr sz="1050" b="0" i="0">
                <a:solidFill>
                  <a:srgbClr val="21295C"/>
                </a:solidFill>
                <a:latin typeface="Arial"/>
              </a:rPr>
              <a:t/>
            </a:r>
            <a:r>
              <a:rPr sz="1050" b="0" i="0">
                <a:solidFill>
                  <a:srgbClr val="21295C"/>
                </a:solidFill>
                <a:latin typeface="Arial"/>
              </a:rPr>
              <a:t>• при публикации — не реакция зрителя вообще, а расхождение между тем, что предсказывает тестирование, и тем, что происходит в открытой аудитории</a:t>
            </a:r>
          </a:p>
          <a:p>
            <a:pPr algn="l">
              <a:lnSpc>
                <a:spcPct val="126000"/>
              </a:lnSpc>
              <a:spcBef>
                <a:spcPts val="700"/>
              </a:spcBef>
            </a:pPr>
            <a:r>
              <a:rPr sz="1050" b="0" i="0">
                <a:solidFill>
                  <a:srgbClr val="21295C"/>
                </a:solidFill>
                <a:latin typeface="Arial"/>
              </a:rPr>
              <a:t/>
            </a:r>
            <a:r>
              <a:rPr sz="1050" b="0" i="0">
                <a:solidFill>
                  <a:srgbClr val="21295C"/>
                </a:solidFill>
                <a:latin typeface="Arial"/>
              </a:rPr>
              <a:t>• при оплате — не правота сторон, а цена, которую рынок и закон назначают одному и тому же узнаванию по-разному</a:t>
            </a:r>
          </a:p>
          <a:p>
            <a:pPr algn="l">
              <a:lnSpc>
                <a:spcPct val="126000"/>
              </a:lnSpc>
              <a:spcBef>
                <a:spcPts val="700"/>
              </a:spcBef>
            </a:pPr>
            <a:r>
              <a:rPr sz="1050" b="0" i="0">
                <a:solidFill>
                  <a:srgbClr val="21295C"/>
                </a:solidFill>
                <a:latin typeface="Arial"/>
              </a:rPr>
              <a:t/>
            </a:r>
            <a:r>
              <a:rPr sz="1050" b="1" i="0">
                <a:solidFill>
                  <a:srgbClr val="21295C"/>
                </a:solidFill>
                <a:latin typeface="Arial"/>
              </a:rPr>
              <a:t>Кто держал все четыре точки своими руками, тоже не удержался на прежнем месте.</a:t>
            </a:r>
          </a:p>
        </p:txBody>
      </p:sp>
      <p:sp>
        <p:nvSpPr>
          <p:cNvPr id="22" name="Rounded Rectangle 21"/>
          <p:cNvSpPr/>
          <p:nvPr/>
        </p:nvSpPr>
        <p:spPr>
          <a:xfrm>
            <a:off x="7939735" y="1335024"/>
            <a:ext cx="3749039" cy="2880360"/>
          </a:xfrm>
          <a:prstGeom prst="roundRect">
            <a:avLst>
              <a:gd name="adj" fmla="val 10582"/>
            </a:avLst>
          </a:prstGeom>
          <a:solidFill>
            <a:srgbClr val="F4F7FA"/>
          </a:solidFill>
          <a:ln w="19050">
            <a:solidFill>
              <a:srgbClr val="1C7293"/>
            </a:solidFill>
          </a:ln>
          <a:effectLst/>
        </p:spPr>
        <p:txBody>
          <a:bodyPr rtlCol="0" anchor="ctr"/>
          <a:lstStyle/>
          <a:p>
            <a:pPr algn="ctr"/>
          </a:p>
        </p:txBody>
      </p:sp>
      <p:pic>
        <p:nvPicPr>
          <p:cNvPr id="23" name="Picture 22" descr="s73-unsigned-contract-signature-line.jpg"/>
          <p:cNvPicPr>
            <a:picLocks noChangeAspect="1"/>
          </p:cNvPicPr>
          <p:nvPr/>
        </p:nvPicPr>
        <p:blipFill>
          <a:blip r:embed="rId2"/>
          <a:stretch>
            <a:fillRect/>
          </a:stretch>
        </p:blipFill>
        <p:spPr>
          <a:xfrm>
            <a:off x="8076895" y="1472184"/>
            <a:ext cx="3474720" cy="260604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Predictive Analytics World, 2023 (CNET)</a:t>
            </a:r>
            <a:r>
              <a:rPr sz="1200" b="0" i="1">
                <a:solidFill>
                  <a:srgbClr val="1C7293"/>
                </a:solidFill>
                <a:latin typeface="Arial"/>
              </a:rPr>
              <a:t> · </a:t>
            </a:r>
            <a:r>
              <a:rPr sz="1200" b="0" i="1" u="sng">
                <a:solidFill>
                  <a:srgbClr val="065A82"/>
                </a:solidFill>
                <a:latin typeface="Arial"/>
                <a:hlinkClick r:id="rId4"/>
              </a:rPr>
              <a:t>System1 Group, 2025</a:t>
            </a:r>
            <a:r>
              <a:rPr sz="1200" b="0" i="1">
                <a:solidFill>
                  <a:srgbClr val="1C7293"/>
                </a:solidFill>
                <a:latin typeface="Arial"/>
              </a:rPr>
              <a:t> · </a:t>
            </a:r>
            <a:r>
              <a:rPr sz="1200" b="0" i="1" u="sng">
                <a:solidFill>
                  <a:srgbClr val="065A82"/>
                </a:solidFill>
                <a:latin typeface="Arial"/>
                <a:hlinkClick r:id="rId5"/>
              </a:rPr>
              <a:t>CARMA, 2026</a:t>
            </a:r>
            <a:r>
              <a:rPr sz="1200" b="0" i="1">
                <a:solidFill>
                  <a:srgbClr val="1C7293"/>
                </a:solidFill>
                <a:latin typeface="Arial"/>
              </a:rPr>
              <a:t> · </a:t>
            </a:r>
            <a:r>
              <a:rPr sz="1200" b="0" i="1" u="sng">
                <a:solidFill>
                  <a:srgbClr val="065A82"/>
                </a:solidFill>
                <a:latin typeface="Arial"/>
                <a:hlinkClick r:id="rId6"/>
              </a:rPr>
              <a:t>Bird &amp; Bird, 2025 (Getty v Stability AI, Высокий суд Великобритании)</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синтез — разный адрес в Лекции 14</a:t>
            </a:r>
          </a:p>
        </p:txBody>
      </p:sp>
      <p:sp>
        <p:nvSpPr>
          <p:cNvPr id="4" name="Rounded Rectangle 3"/>
          <p:cNvSpPr/>
          <p:nvPr/>
        </p:nvSpPr>
        <p:spPr>
          <a:xfrm>
            <a:off x="502920" y="1335024"/>
            <a:ext cx="2749143" cy="2089001"/>
          </a:xfrm>
          <a:prstGeom prst="roundRect">
            <a:avLst>
              <a:gd name="adj" fmla="val 1459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748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ТЕХНОЛОГИЯ</a:t>
            </a:r>
          </a:p>
        </p:txBody>
      </p:sp>
      <p:sp>
        <p:nvSpPr>
          <p:cNvPr id="6" name="TextBox 5"/>
          <p:cNvSpPr txBox="1"/>
          <p:nvPr/>
        </p:nvSpPr>
        <p:spPr>
          <a:xfrm>
            <a:off x="640080" y="1725375"/>
            <a:ext cx="2474823"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синтез лица и голоса обученной моделью</a:t>
            </a:r>
          </a:p>
        </p:txBody>
      </p:sp>
      <p:sp>
        <p:nvSpPr>
          <p:cNvPr id="7" name="TextBox 6"/>
          <p:cNvSpPr txBox="1"/>
          <p:nvPr/>
        </p:nvSpPr>
        <p:spPr>
          <a:xfrm>
            <a:off x="640080" y="2831371"/>
            <a:ext cx="247482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и та же на обеих лекциях</a:t>
            </a:r>
          </a:p>
        </p:txBody>
      </p:sp>
      <p:sp>
        <p:nvSpPr>
          <p:cNvPr id="8" name="Rounded Rectangle 7"/>
          <p:cNvSpPr/>
          <p:nvPr/>
        </p:nvSpPr>
        <p:spPr>
          <a:xfrm>
            <a:off x="3416655" y="1335024"/>
            <a:ext cx="2749143" cy="2089001"/>
          </a:xfrm>
          <a:prstGeom prst="roundRect">
            <a:avLst>
              <a:gd name="adj" fmla="val 1459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53815" y="1472184"/>
            <a:ext cx="24748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a:t>
            </a:r>
          </a:p>
        </p:txBody>
      </p:sp>
      <p:sp>
        <p:nvSpPr>
          <p:cNvPr id="10" name="TextBox 9"/>
          <p:cNvSpPr txBox="1"/>
          <p:nvPr/>
        </p:nvSpPr>
        <p:spPr>
          <a:xfrm>
            <a:off x="3553815" y="1725375"/>
            <a:ext cx="2474823" cy="927759"/>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вход в компанию против действующей компании</a:t>
            </a:r>
          </a:p>
        </p:txBody>
      </p:sp>
      <p:sp>
        <p:nvSpPr>
          <p:cNvPr id="11" name="TextBox 10"/>
          <p:cNvSpPr txBox="1"/>
          <p:nvPr/>
        </p:nvSpPr>
        <p:spPr>
          <a:xfrm>
            <a:off x="3553815" y="2653134"/>
            <a:ext cx="247482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разный момент жизненного цикла — разная процедура защиты</a:t>
            </a:r>
          </a:p>
        </p:txBody>
      </p:sp>
      <p:sp>
        <p:nvSpPr>
          <p:cNvPr id="12" name="Rounded Rectangle 11"/>
          <p:cNvSpPr/>
          <p:nvPr/>
        </p:nvSpPr>
        <p:spPr>
          <a:xfrm>
            <a:off x="502920" y="3606905"/>
            <a:ext cx="2675991" cy="2115817"/>
          </a:xfrm>
          <a:prstGeom prst="roundRect">
            <a:avLst>
              <a:gd name="adj" fmla="val 1440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762353"/>
            <a:ext cx="234680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Здесь — вход в компанию</a:t>
            </a:r>
          </a:p>
        </p:txBody>
      </p:sp>
      <p:sp>
        <p:nvSpPr>
          <p:cNvPr id="14" name="TextBox 13"/>
          <p:cNvSpPr txBox="1"/>
          <p:nvPr/>
        </p:nvSpPr>
        <p:spPr>
          <a:xfrm>
            <a:off x="667512" y="4118531"/>
            <a:ext cx="2346807" cy="1448743"/>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кандидат проходит видеозвонок под синтезированным лицом и голосом</a:t>
            </a:r>
          </a:p>
          <a:p>
            <a:pPr algn="l">
              <a:lnSpc>
                <a:spcPct val="126000"/>
              </a:lnSpc>
            </a:pPr>
            <a:r>
              <a:rPr sz="1000" b="0" i="0">
                <a:solidFill>
                  <a:srgbClr val="21295C"/>
                </a:solidFill>
                <a:latin typeface="Arial"/>
              </a:rPr>
              <a:t>• цель обмана — пройти интервью и получить офер</a:t>
            </a:r>
          </a:p>
          <a:p>
            <a:pPr algn="l">
              <a:lnSpc>
                <a:spcPct val="126000"/>
              </a:lnSpc>
            </a:pPr>
            <a:r>
              <a:rPr sz="1000" b="0" i="0">
                <a:solidFill>
                  <a:srgbClr val="21295C"/>
                </a:solidFill>
                <a:latin typeface="Arial"/>
              </a:rPr>
              <a:t>• защита — независимая проверка личности сверх видеозвонка, очная явка хотя бы на одном этапе</a:t>
            </a:r>
          </a:p>
        </p:txBody>
      </p:sp>
      <p:sp>
        <p:nvSpPr>
          <p:cNvPr id="15" name="Rounded Rectangle 14"/>
          <p:cNvSpPr/>
          <p:nvPr/>
        </p:nvSpPr>
        <p:spPr>
          <a:xfrm>
            <a:off x="3489807" y="3606905"/>
            <a:ext cx="2675991" cy="2115817"/>
          </a:xfrm>
          <a:prstGeom prst="roundRect">
            <a:avLst>
              <a:gd name="adj" fmla="val 14405"/>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3654399" y="3762353"/>
            <a:ext cx="2346807"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Лекция 14 — внутри уже действующей компании</a:t>
            </a:r>
          </a:p>
        </p:txBody>
      </p:sp>
      <p:sp>
        <p:nvSpPr>
          <p:cNvPr id="17" name="TextBox 16"/>
          <p:cNvSpPr txBox="1"/>
          <p:nvPr/>
        </p:nvSpPr>
        <p:spPr>
          <a:xfrm>
            <a:off x="3654399" y="4364982"/>
            <a:ext cx="2346807" cy="1202292"/>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сотрудник получает звонок от синтезированного «руководителя»</a:t>
            </a:r>
          </a:p>
          <a:p>
            <a:pPr algn="l">
              <a:lnSpc>
                <a:spcPct val="126000"/>
              </a:lnSpc>
            </a:pPr>
            <a:r>
              <a:rPr sz="900" b="0" i="0">
                <a:solidFill>
                  <a:srgbClr val="21295C"/>
                </a:solidFill>
                <a:latin typeface="Arial"/>
              </a:rPr>
              <a:t>• цель обмана — получить разовый перевод денег постфактум</a:t>
            </a:r>
          </a:p>
          <a:p>
            <a:pPr algn="l">
              <a:lnSpc>
                <a:spcPct val="126000"/>
              </a:lnSpc>
            </a:pPr>
            <a:r>
              <a:rPr sz="900" b="0" i="0">
                <a:solidFill>
                  <a:srgbClr val="21295C"/>
                </a:solidFill>
                <a:latin typeface="Arial"/>
              </a:rPr>
              <a:t>• защита — обратный звонок на известный номер, двойное утверждение транзакции</a:t>
            </a:r>
          </a:p>
        </p:txBody>
      </p:sp>
      <p:sp>
        <p:nvSpPr>
          <p:cNvPr id="18" name="Rounded Rectangle 17"/>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и тот же синтез — разный адрес.</a:t>
            </a:r>
            <a:r>
              <a:rPr sz="1350" b="0" i="0">
                <a:solidFill>
                  <a:srgbClr val="21295C"/>
                </a:solidFill>
                <a:latin typeface="Arial"/>
              </a:rPr>
              <a:t> Здесь — вход в компанию; в Лекции 14 — извлечение перевода из уже действующей компании.</a:t>
            </a:r>
          </a:p>
        </p:txBody>
      </p:sp>
      <p:sp>
        <p:nvSpPr>
          <p:cNvPr id="20" name="Rounded Rectangle 19"/>
          <p:cNvSpPr/>
          <p:nvPr/>
        </p:nvSpPr>
        <p:spPr>
          <a:xfrm>
            <a:off x="6476695" y="1335024"/>
            <a:ext cx="5212080" cy="3566160"/>
          </a:xfrm>
          <a:prstGeom prst="roundRect">
            <a:avLst>
              <a:gd name="adj" fmla="val 8547"/>
            </a:avLst>
          </a:prstGeom>
          <a:solidFill>
            <a:srgbClr val="F4F7FA"/>
          </a:solidFill>
          <a:ln w="19050">
            <a:solidFill>
              <a:srgbClr val="1C7293"/>
            </a:solidFill>
          </a:ln>
          <a:effectLst/>
        </p:spPr>
        <p:txBody>
          <a:bodyPr rtlCol="0" anchor="ctr"/>
          <a:lstStyle/>
          <a:p>
            <a:pPr algn="ctr"/>
          </a:p>
        </p:txBody>
      </p:sp>
      <p:pic>
        <p:nvPicPr>
          <p:cNvPr id="21" name="Picture 20" descr="s74-video-call-face-on-screen.jpg"/>
          <p:cNvPicPr>
            <a:picLocks noChangeAspect="1"/>
          </p:cNvPicPr>
          <p:nvPr/>
        </p:nvPicPr>
        <p:blipFill>
          <a:blip r:embed="rId2"/>
          <a:stretch>
            <a:fillRect/>
          </a:stretch>
        </p:blipFill>
        <p:spPr>
          <a:xfrm>
            <a:off x="6613855" y="1472184"/>
            <a:ext cx="4937760" cy="329184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не сделала продукт хуже — она обнулила цену подделки доверия</a:t>
            </a:r>
          </a:p>
        </p:txBody>
      </p:sp>
      <p:sp>
        <p:nvSpPr>
          <p:cNvPr id="4" name="Rounded Rectangle 3"/>
          <p:cNvSpPr/>
          <p:nvPr/>
        </p:nvSpPr>
        <p:spPr>
          <a:xfrm>
            <a:off x="502920" y="1335024"/>
            <a:ext cx="2482283" cy="2580330"/>
          </a:xfrm>
          <a:prstGeom prst="roundRect">
            <a:avLst>
              <a:gd name="adj" fmla="val 1227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079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 ГОВОРИТ</a:t>
            </a:r>
          </a:p>
        </p:txBody>
      </p:sp>
      <p:sp>
        <p:nvSpPr>
          <p:cNvPr id="6" name="TextBox 5"/>
          <p:cNvSpPr txBox="1"/>
          <p:nvPr/>
        </p:nvSpPr>
        <p:spPr>
          <a:xfrm>
            <a:off x="640080" y="1725375"/>
            <a:ext cx="220796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генерация опасна сама по себе</a:t>
            </a:r>
          </a:p>
        </p:txBody>
      </p:sp>
      <p:sp>
        <p:nvSpPr>
          <p:cNvPr id="7" name="TextBox 6"/>
          <p:cNvSpPr txBox="1"/>
          <p:nvPr/>
        </p:nvSpPr>
        <p:spPr>
          <a:xfrm>
            <a:off x="640080" y="2933220"/>
            <a:ext cx="220796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весь измеренный вред причинён тем, что старая бесплатная проверка перестала работать</a:t>
            </a:r>
          </a:p>
        </p:txBody>
      </p:sp>
      <p:sp>
        <p:nvSpPr>
          <p:cNvPr id="8" name="Rounded Rectangle 7"/>
          <p:cNvSpPr/>
          <p:nvPr/>
        </p:nvSpPr>
        <p:spPr>
          <a:xfrm>
            <a:off x="3149795" y="1335024"/>
            <a:ext cx="2482283" cy="2580330"/>
          </a:xfrm>
          <a:prstGeom prst="roundRect">
            <a:avLst>
              <a:gd name="adj" fmla="val 12279"/>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286955" y="1472184"/>
            <a:ext cx="22079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 ГОВОРИТ</a:t>
            </a:r>
          </a:p>
        </p:txBody>
      </p:sp>
      <p:sp>
        <p:nvSpPr>
          <p:cNvPr id="10" name="TextBox 9"/>
          <p:cNvSpPr txBox="1"/>
          <p:nvPr/>
        </p:nvSpPr>
        <p:spPr>
          <a:xfrm>
            <a:off x="3286955" y="1725375"/>
            <a:ext cx="2207963" cy="927759"/>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что распознавание — вопрос тренировки</a:t>
            </a:r>
          </a:p>
        </p:txBody>
      </p:sp>
      <p:sp>
        <p:nvSpPr>
          <p:cNvPr id="11" name="TextBox 10"/>
          <p:cNvSpPr txBox="1"/>
          <p:nvPr/>
        </p:nvSpPr>
        <p:spPr>
          <a:xfrm>
            <a:off x="3286955" y="2653134"/>
            <a:ext cx="220796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способность человека отличить дипфейк на глаз измерена близко к случайному угадыванию</a:t>
            </a:r>
          </a:p>
        </p:txBody>
      </p:sp>
      <p:sp>
        <p:nvSpPr>
          <p:cNvPr id="12" name="Rounded Rectangle 11"/>
          <p:cNvSpPr/>
          <p:nvPr/>
        </p:nvSpPr>
        <p:spPr>
          <a:xfrm>
            <a:off x="5796671" y="1335024"/>
            <a:ext cx="2482283" cy="2580330"/>
          </a:xfrm>
          <a:prstGeom prst="roundRect">
            <a:avLst>
              <a:gd name="adj" fmla="val 1227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33831" y="1472184"/>
            <a:ext cx="22079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ПЛАТИТ</a:t>
            </a:r>
          </a:p>
        </p:txBody>
      </p:sp>
      <p:sp>
        <p:nvSpPr>
          <p:cNvPr id="14" name="TextBox 13"/>
          <p:cNvSpPr txBox="1"/>
          <p:nvPr/>
        </p:nvSpPr>
        <p:spPr>
          <a:xfrm>
            <a:off x="5933831" y="1725375"/>
            <a:ext cx="2207963"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рынок · отрасль · читатель — по-разному</a:t>
            </a:r>
          </a:p>
        </p:txBody>
      </p:sp>
      <p:sp>
        <p:nvSpPr>
          <p:cNvPr id="15" name="TextBox 14"/>
          <p:cNvSpPr txBox="1"/>
          <p:nvPr/>
        </p:nvSpPr>
        <p:spPr>
          <a:xfrm>
            <a:off x="5933831" y="2805908"/>
            <a:ext cx="220796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единого счёта нет; платёж назван в каждой из четырёх точек отдельно</a:t>
            </a:r>
          </a:p>
        </p:txBody>
      </p:sp>
      <p:sp>
        <p:nvSpPr>
          <p:cNvPr id="16" name="Rounded Rectangle 15"/>
          <p:cNvSpPr/>
          <p:nvPr/>
        </p:nvSpPr>
        <p:spPr>
          <a:xfrm>
            <a:off x="374904" y="4006794"/>
            <a:ext cx="8032067" cy="2229413"/>
          </a:xfrm>
          <a:prstGeom prst="roundRect">
            <a:avLst>
              <a:gd name="adj" fmla="val 1367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098234"/>
            <a:ext cx="7702883" cy="213797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Генеративная модель не сделала продукт хуже и не сделала людей опаснее — она убрала условие, при котором подделать сигнал доверия стоило дороже, чем получить его законно.</a:t>
            </a:r>
          </a:p>
          <a:p>
            <a:pPr algn="l">
              <a:lnSpc>
                <a:spcPct val="126000"/>
              </a:lnSpc>
              <a:spcBef>
                <a:spcPts val="700"/>
              </a:spcBef>
            </a:pPr>
            <a:r>
              <a:rPr sz="1100" b="0" i="0">
                <a:solidFill>
                  <a:srgbClr val="21295C"/>
                </a:solidFill>
                <a:latin typeface="Arial"/>
              </a:rPr>
              <a:t/>
            </a:r>
            <a:r>
              <a:rPr sz="1100" b="0" i="0">
                <a:solidFill>
                  <a:srgbClr val="21295C"/>
                </a:solidFill>
                <a:latin typeface="Arial"/>
              </a:rPr>
              <a:t>• не «генерация опасна сама по себе» — весь вред причинён тем, что старая бесплатная проверка не работает</a:t>
            </a:r>
          </a:p>
          <a:p>
            <a:pPr algn="l">
              <a:lnSpc>
                <a:spcPct val="126000"/>
              </a:lnSpc>
              <a:spcBef>
                <a:spcPts val="700"/>
              </a:spcBef>
            </a:pPr>
            <a:r>
              <a:rPr sz="1100" b="0" i="0">
                <a:solidFill>
                  <a:srgbClr val="21295C"/>
                </a:solidFill>
                <a:latin typeface="Arial"/>
              </a:rPr>
              <a:t/>
            </a:r>
            <a:r>
              <a:rPr sz="1100" b="0" i="0">
                <a:solidFill>
                  <a:srgbClr val="21295C"/>
                </a:solidFill>
                <a:latin typeface="Arial"/>
              </a:rPr>
              <a:t>• не «нужно научить людей распознавать» — собственная способность человека отличить дипфейк на глаз измерена близко к случайному угадыванию</a:t>
            </a:r>
          </a:p>
          <a:p>
            <a:pPr algn="l">
              <a:lnSpc>
                <a:spcPct val="126000"/>
              </a:lnSpc>
              <a:spcBef>
                <a:spcPts val="700"/>
              </a:spcBef>
            </a:pPr>
            <a:r>
              <a:rPr sz="1100" b="0" i="0">
                <a:solidFill>
                  <a:srgbClr val="21295C"/>
                </a:solidFill>
                <a:latin typeface="Arial"/>
              </a:rPr>
              <a:t/>
            </a:r>
            <a:r>
              <a:rPr sz="1100" b="0" i="0">
                <a:solidFill>
                  <a:srgbClr val="21295C"/>
                </a:solidFill>
                <a:latin typeface="Arial"/>
              </a:rPr>
              <a:t>• платит не один адресат — иногда рынок, иногда отрасль, иногда сам читатель</a:t>
            </a:r>
          </a:p>
          <a:p>
            <a:pPr algn="l">
              <a:lnSpc>
                <a:spcPct val="126000"/>
              </a:lnSpc>
              <a:spcBef>
                <a:spcPts val="700"/>
              </a:spcBef>
            </a:pPr>
            <a:r>
              <a:rPr sz="1100" b="0" i="0">
                <a:solidFill>
                  <a:srgbClr val="21295C"/>
                </a:solidFill>
                <a:latin typeface="Arial"/>
              </a:rPr>
              <a:t/>
            </a:r>
            <a:r>
              <a:rPr sz="1100" b="1" i="0">
                <a:solidFill>
                  <a:srgbClr val="21295C"/>
                </a:solidFill>
                <a:latin typeface="Arial"/>
              </a:rPr>
              <a:t>Старый бесплатный способ подтверждать узнавание больше не работает. Новый ещё строится — в том числе теми, кто сегодня в этой аудитории.</a:t>
            </a:r>
          </a:p>
        </p:txBody>
      </p:sp>
      <p:sp>
        <p:nvSpPr>
          <p:cNvPr id="18" name="Rounded Rectangle 17"/>
          <p:cNvSpPr/>
          <p:nvPr/>
        </p:nvSpPr>
        <p:spPr>
          <a:xfrm>
            <a:off x="8589851" y="1335024"/>
            <a:ext cx="3098923" cy="4389120"/>
          </a:xfrm>
          <a:prstGeom prst="roundRect">
            <a:avLst>
              <a:gd name="adj" fmla="val 9835"/>
            </a:avLst>
          </a:prstGeom>
          <a:solidFill>
            <a:srgbClr val="F4F7FA"/>
          </a:solidFill>
          <a:ln w="19050">
            <a:solidFill>
              <a:srgbClr val="1C7293"/>
            </a:solidFill>
          </a:ln>
          <a:effectLst/>
        </p:spPr>
        <p:txBody>
          <a:bodyPr rtlCol="0" anchor="ctr"/>
          <a:lstStyle/>
          <a:p>
            <a:pPr algn="ctr"/>
          </a:p>
        </p:txBody>
      </p:sp>
      <p:pic>
        <p:nvPicPr>
          <p:cNvPr id="19" name="Picture 18" descr="s75-scales-of-justice-balanced.jpg"/>
          <p:cNvPicPr>
            <a:picLocks noChangeAspect="1"/>
          </p:cNvPicPr>
          <p:nvPr/>
        </p:nvPicPr>
        <p:blipFill>
          <a:blip r:embed="rId2"/>
          <a:stretch>
            <a:fillRect/>
          </a:stretch>
        </p:blipFill>
        <p:spPr>
          <a:xfrm>
            <a:off x="8727011" y="1472184"/>
            <a:ext cx="2824603" cy="411480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Diel, Lalgi, Schröter, MacDorman, Teufel, Bäuerle, Computers in Human Behavior Reports, 2024, метаанализ 56 исследований</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65015" y="91440"/>
            <a:ext cx="7223759" cy="4846822"/>
          </a:xfrm>
          <a:prstGeom prst="roundRect">
            <a:avLst>
              <a:gd name="adj" fmla="val 6288"/>
            </a:avLst>
          </a:prstGeom>
          <a:solidFill>
            <a:srgbClr val="F4F7FA"/>
          </a:solidFill>
          <a:ln w="19050">
            <a:solidFill>
              <a:srgbClr val="1C7293"/>
            </a:solidFill>
          </a:ln>
          <a:effectLst/>
        </p:spPr>
        <p:txBody>
          <a:bodyPr rtlCol="0" anchor="ctr"/>
          <a:lstStyle/>
          <a:p>
            <a:pPr algn="ctr"/>
          </a:p>
        </p:txBody>
      </p:sp>
      <p:pic>
        <p:nvPicPr>
          <p:cNvPr id="4" name="Picture 3" descr="s76-verification-phone-call-office.jpg"/>
          <p:cNvPicPr>
            <a:picLocks noChangeAspect="1"/>
          </p:cNvPicPr>
          <p:nvPr/>
        </p:nvPicPr>
        <p:blipFill>
          <a:blip r:embed="rId2"/>
          <a:stretch>
            <a:fillRect/>
          </a:stretch>
        </p:blipFill>
        <p:spPr>
          <a:xfrm>
            <a:off x="4510735" y="137160"/>
            <a:ext cx="7132320" cy="4755382"/>
          </a:xfrm>
          <a:prstGeom prst="rect">
            <a:avLst/>
          </a:prstGeom>
        </p:spPr>
      </p:pic>
      <p:sp>
        <p:nvSpPr>
          <p:cNvPr id="5" name="TextBox 4"/>
          <p:cNvSpPr txBox="1"/>
          <p:nvPr/>
        </p:nvSpPr>
        <p:spPr>
          <a:xfrm>
            <a:off x="502920" y="365760"/>
            <a:ext cx="3651199"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Три проверки — и вопрос в зал</a:t>
            </a:r>
          </a:p>
        </p:txBody>
      </p:sp>
      <p:sp>
        <p:nvSpPr>
          <p:cNvPr id="6" name="Rounded Rectangle 5"/>
          <p:cNvSpPr/>
          <p:nvPr/>
        </p:nvSpPr>
        <p:spPr>
          <a:xfrm>
            <a:off x="374904" y="4901686"/>
            <a:ext cx="11441887" cy="1334521"/>
          </a:xfrm>
          <a:prstGeom prst="roundRect">
            <a:avLst>
              <a:gd name="adj" fmla="val 22839"/>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539496" y="4993126"/>
            <a:ext cx="11112703" cy="1243081"/>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Есть ли у сигнала, которому вы доверяете, цена подделки выше нуля?</a:t>
            </a:r>
            <a:r>
              <a:rPr sz="950" b="0" i="0">
                <a:solidFill>
                  <a:srgbClr val="21295C"/>
                </a:solidFill>
                <a:latin typeface="Arial"/>
              </a:rPr>
              <a:t> Подпись, голос, лицо, лицензия — любое узнавание, не только творческое производство.</a:t>
            </a:r>
          </a:p>
          <a:p>
            <a:pPr algn="l">
              <a:lnSpc>
                <a:spcPct val="126000"/>
              </a:lnSpc>
              <a:spcBef>
                <a:spcPts val="700"/>
              </a:spcBef>
            </a:pPr>
            <a:r>
              <a:rPr sz="950" b="0" i="0">
                <a:solidFill>
                  <a:srgbClr val="21295C"/>
                </a:solidFill>
                <a:latin typeface="Arial"/>
              </a:rPr>
              <a:t/>
            </a:r>
            <a:r>
              <a:rPr sz="950" b="1" i="0">
                <a:solidFill>
                  <a:srgbClr val="21295C"/>
                </a:solidFill>
                <a:latin typeface="Arial"/>
              </a:rPr>
              <a:t>Если его подделают — есть ли процедура, которая не полагается на то, что кто-то заметит подделку глазами?</a:t>
            </a:r>
            <a:r>
              <a:rPr sz="950" b="0" i="0">
                <a:solidFill>
                  <a:srgbClr val="21295C"/>
                </a:solidFill>
                <a:latin typeface="Arial"/>
              </a:rPr>
              <a:t> Собственная точность распознавания подделок у человека без протокола — </a:t>
            </a:r>
            <a:r>
              <a:rPr sz="950" b="1" i="0">
                <a:solidFill>
                  <a:srgbClr val="21295C"/>
                </a:solidFill>
                <a:latin typeface="Arial"/>
              </a:rPr>
              <a:t>55,54% против 68,08%</a:t>
            </a:r>
            <a:r>
              <a:rPr sz="950" b="0" i="0">
                <a:solidFill>
                  <a:srgbClr val="21295C"/>
                </a:solidFill>
                <a:latin typeface="Arial"/>
              </a:rPr>
              <a:t> для настоящих материалов: подделку скорее примут за настоящее, чем наоборот.</a:t>
            </a:r>
          </a:p>
          <a:p>
            <a:pPr algn="l">
              <a:lnSpc>
                <a:spcPct val="126000"/>
              </a:lnSpc>
              <a:spcBef>
                <a:spcPts val="700"/>
              </a:spcBef>
            </a:pPr>
            <a:r>
              <a:rPr sz="950" b="0" i="0">
                <a:solidFill>
                  <a:srgbClr val="21295C"/>
                </a:solidFill>
                <a:latin typeface="Arial"/>
              </a:rPr>
              <a:t/>
            </a:r>
            <a:r>
              <a:rPr sz="950" b="1" i="0">
                <a:solidFill>
                  <a:srgbClr val="21295C"/>
                </a:solidFill>
                <a:latin typeface="Arial"/>
              </a:rPr>
              <a:t>Если проверка провалится — кто из вашего контура заплатит, и назовёте ли вы это вслух заранее, а не постфактум в новостях?</a:t>
            </a:r>
          </a:p>
          <a:p>
            <a:pPr algn="l">
              <a:lnSpc>
                <a:spcPct val="126000"/>
              </a:lnSpc>
              <a:spcBef>
                <a:spcPts val="700"/>
              </a:spcBef>
            </a:pPr>
            <a:r>
              <a:rPr sz="950" b="0" i="0">
                <a:solidFill>
                  <a:srgbClr val="21295C"/>
                </a:solidFill>
                <a:latin typeface="Arial"/>
              </a:rPr>
              <a:t/>
            </a:r>
            <a:r>
              <a:rPr sz="950" b="1" i="0">
                <a:solidFill>
                  <a:srgbClr val="21295C"/>
                </a:solidFill>
                <a:latin typeface="Arial"/>
              </a:rPr>
              <a:t>Какой сигнал в вашей сегодняшней работе вы считаете бесплатным и достаточным — и что случится, если завтра его подделка будет стоить копейки?</a:t>
            </a: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Diel, Lalgi, Schröter, MacDorman, Teufel, Bäuerle, Computers in Human Behavior Reports,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