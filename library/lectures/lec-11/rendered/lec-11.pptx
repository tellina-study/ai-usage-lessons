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Молодой Лю, председатель Foxconn, на Computex 2025 в мае заявил: после подключения AI-инструментов к Foxconn workflows, программное обеспечение теперь выполняет примерно 80 процентов работы по настройке оборудования для новой production run.</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Лю. Лю говорит ровно то, что говорят все вендоры. Foxconn просто более прозрачен — публично, на CEO-уровне.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MTBF — Mean Time Between Failures — больше года. Если узел отказывает раз в год, у вас за пять лет 5 failure events. Для обучения PdM-модели этого недостаточно — не хватает данных, чтобы модель научилась распознавать pattern перед отказом. Здесь работает не AI, а RCM — Reliability-Centered Maintenance — расчёт оптимального интервала ТО на основе физики и MTBF. Второй: если физика процесса известна — CFD для гидродинамики, FEA для механики, kinetics для химии — это надёжнее ML, потому что обобщает на новые конфигурации. ML интерполирует на данных обучения. Третий: эталонная разметка дорогая — defect rate меньше 1 процента, разметка дорогая. Альтернативы для категории A: physics-based simulation, DOE для эксплоративных экспериментов, SPC для статистического контроля.</a:t>
            </a:r>
          </a:p>
          <a:p/>
          <a:p>
            <a:r>
              <a:t>Категория B — стоимость. Два критерия. Четвёртый: false positive cost больше чем 10x false negative. Если ложная тревога дороже пропущенного дефекта — значит, мы скорее остановим линию по ошибочной AI-тревоге, чем пропустим дефект. Здесь работает SPC + RCM, которые предсказуемы и калибруются вручную. Пятый: SIL 2/3 safety-critical — это специальные уровни сертификации для контуров с риском для жизни. ML certification на SIL 2/3 — это очень дорого и долго, обычно нерентабельно. Альтернативы для B: SPC, RCM, rules-based.</a:t>
            </a:r>
          </a:p>
          <a:p/>
          <a:p>
            <a:r>
              <a:t>Категория C — регуляторика. Три критерия. Шестой: audit trail обязателен — FDA Part 11, GAMP 5. Black-box ML здесь не проходит, нужен explainable ML, hybrid с rules или on-premise решение. Седьмой: ATEX Zone 0 — постоянное присутствие взрывоопасной смеси. Hardware restriction, non-certified AI запрещён физически. Восьмой: Указ 250 в России — domestic software на КИИ-объектах. SaaS-облака не подходят, нужно on-premise. Альтернативы для C: explainable ML, hybrid, on-premise.</a:t>
            </a:r>
          </a:p>
          <a:p/>
          <a:p>
            <a:r>
              <a:t>Категория D — человек. Три критерия. Девятый: operator distrust. Если оператор не доверяет AI, он будет workaround — отключит, проигнорирует, найдёт способ обойти. Это структурный risk, особенно в смыслах, где операторы — союзная сторона, не противник. Toyota proof — augmentation, не replacement. Десятый: pilot без go-criteria. Если pilot не имеет explicit go/no-go critериев определённых до старта — он попадает в 80-95 процентов pilot purgatory. Одиннадцатый: demo-hype без 6-месячного production track record. Если вендор показывает только демо, не пускает в production-customer reference — buyer beware. Альтернативы для D: Six Sigma, Jidoka, structured pilots.</a:t>
            </a:r>
          </a:p>
          <a:p/>
          <a:p>
            <a:r>
              <a:t>Это 11 критериев в 4 категориях. Запомните таксономию категорий — это первый шаг применения. Конкретные критерии вы будете adapt под свой контекст.</a:t>
            </a:r>
          </a:p>
          <a:p/>
          <a:p>
            <a:r>
              <a:t>И параллельно — три вопроса к вендору. Запомните их как формулу. Baseline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vendor pitch.</a:t>
            </a:r>
          </a:p>
          <a:p/>
          <a:p>
            <a:r>
              <a:t>В следующем слайде — матрица альтернативных инструментов. Через слайд — worked example Pfizer Vox, где мы пройдём framework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симметричный пример к слайду Pfizer Vox. Тот показывал, как рамка пропускает AI. Этот показывает, как рамка отсекает.</a:t>
            </a:r>
          </a:p>
          <a:p/>
          <a:p>
            <a:r>
              <a:t>Газотурбинный авиадвигатель — высоконадёжное изделие. Средняя наработка на отказ восемь лет. Производитель приходит с идеей: давайте сделаем AI для прогностического обслуживания, как у Predix обещали.</a:t>
            </a:r>
          </a:p>
          <a:p/>
          <a:p>
            <a:r>
              <a:t>Прогоним через рамку.</a:t>
            </a:r>
          </a:p>
          <a:p/>
          <a:p>
            <a:r>
              <a:t>Шаг первый — класс процесса. Это дискретное производство, штучный счёт. Проходим.</a:t>
            </a:r>
          </a:p>
          <a:p/>
          <a:p>
            <a:r>
              <a:t>Шаг второй — альтернативы. Существует RCM, надёжностно-ориентированное обслуживание. Виброанализ, анализ масла, плановый осмотр, замена по часам наработки. Эта методика отработана пятьдесят лет в авиации. Базовая линия есть.</a:t>
            </a:r>
          </a:p>
          <a:p/>
          <a:p>
            <a:r>
              <a:t>Шаг третий — четыре категории критериев. На категории «данные» рамка падает. MTBF восемь лет означает менее ста отказов за двадцать лет эксплуатации всего парка. Для обучения модели нужны тысячи примеров. Эталонная разметка каждого отказа — это физический разбор двигателя, инженерные часы, миллионы долларов. Класс-баланс — нормальные двигатели сильно перевешивают сломанные.</a:t>
            </a:r>
          </a:p>
          <a:p/>
          <a:p>
            <a:r>
              <a:t>Шаг четвёртый — регуляторика. Двигатель критичен для безопасности полёта. SIL 2 для функциональной безопасности плюс DO-178C для авиационного ПО. Чёрный ящик ML не проходит ни одну, ни другую сертификацию как принимающий решение.</a:t>
            </a:r>
          </a:p>
          <a:p/>
          <a:p>
            <a:r>
              <a:t>Шаг пятый — человек. Решение о допуске принимается на земле перед взлётом. Нет окна для интерактивной эскалации в полёте — даже если AI выдаст рекомендацию, оператора нет.</a:t>
            </a:r>
          </a:p>
          <a:p/>
          <a:p>
            <a:r>
              <a:t>Три из пяти шагов проваливают рамку. AI не нужен. Что нужно: RCM плюс физические сенсоры (вибрация, масло, температура) плюс обмен данными между авиакомпаниями по редким отказам. Это работает.</a:t>
            </a:r>
          </a:p>
          <a:p/>
          <a:p>
            <a:r>
              <a:t>Урок: рамка не «AI везде поможет». Рамка ловит и положительные, и отрицательные кейсы. Если кто-то предлагает AI на изделие с MTBF &gt;1 года — задайте три вопроса по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Симметричный пример к авиадвигателю. Там рамка отсекала, здесь — пропускает.</a:t>
            </a:r>
          </a:p>
          <a:p/>
          <a:p>
            <a:r>
              <a:t>Пивоварня. Линия идёт 60 тысяч бутылок в час, миллион в сутки. Дефекты — повреждённые этикетки, кривые крышки, недолив. Доля брака примерно полпроцента. Ручной отбор на такой скорости пропускает дефекты этикеток — глаз не успевает. Периодический контроль — взяли каждую сотую, посмотрели — не покрывает все.</a:t>
            </a:r>
          </a:p>
          <a:p/>
          <a:p>
            <a:r>
              <a:t>Прогоним через рамку.</a:t>
            </a:r>
          </a:p>
          <a:p/>
          <a:p>
            <a:r>
              <a:t>Шаг первый — класс процесса. Дискретное, штучный счёт. Проходим.</a:t>
            </a:r>
          </a:p>
          <a:p/>
          <a:p>
            <a:r>
              <a:t>Шаг второй — альтернативы. Ручной отбор и периодический контроль есть, но недостаточны. Базовая линия — измерена, узкое место понятно.</a:t>
            </a:r>
          </a:p>
          <a:p/>
          <a:p>
            <a:r>
              <a:t>Шаг третий — данные. Миллион бутылок в день, дефект полпроцента — получаем пять тысяч размеченных дефектных примеров каждый день. Класс-баланс достижим за две-три недели работы линии. Эталонная разметка дешёвая — это не рентген сварного шва, это визуально очевидные кривые этикетки или недолив. Час оператора пятьсот рублей в РФ, по сто примеров в час, расходы оценимы. Категория «данные» проходит легко.</a:t>
            </a:r>
          </a:p>
          <a:p/>
          <a:p>
            <a:r>
              <a:t>Шаг четвёртый — регуляторика. ISO 22000 для пищевой безопасности. Это мягче, чем FDA Part 11 для фармы и существенно мягче, чем авиа DO-178C. Режим «характеристика» уместен: AI помечает бутылку как подозрительную, человек принимает решение. Не финальное решение — категория проходит.</a:t>
            </a:r>
          </a:p>
          <a:p/>
          <a:p>
            <a:r>
              <a:t>Шаг пятый — человек. Очередь сомнительных кейсов восемь-двенадцать процентов потока — это нормальная рабочая нагрузка для одного оператора на смену. Эскалация работает: видит подозрительную бутылку — нажимает кнопку — линия откидывает. Скорость линии позволяет такой темп.</a:t>
            </a:r>
          </a:p>
          <a:p/>
          <a:p>
            <a:r>
              <a:t>Все пять шагов проходят. AI уместен. Внедряем CV-контроль с долей сомнительных кейсов восемь-двенадцать процентов. Базовая линия — ручной отбор — измерена до старта. Пилот с критериями успеха: за месяц должна вырасти доля выявленных дефектов на пятнадцать процентов без роста ложных срабатываний.</a:t>
            </a:r>
          </a:p>
          <a:p/>
          <a:p>
            <a:r>
              <a:t>Урок: рамка работает в обе стороны. Авиадвигатель — три из пяти шагов проваливают, AI не нужен. Пивоварня — пять из пяти проходят, AI уместен. Pfizer Vox на следующем уровне сложности процессного производства тоже пятёрку получает — это видно из шагов.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этот framework — он работает на любом AI-проекте, который вы увидите в карьере.</a:t>
            </a:r>
          </a:p>
          <a:p/>
          <a:p>
            <a:r>
              <a:t>Пять шагов.</a:t>
            </a:r>
          </a:p>
          <a:p/>
          <a:p>
            <a:r>
              <a:t>Первый — identify class.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replace?</a:t>
            </a:r>
          </a:p>
          <a:p/>
          <a:p>
            <a:r>
              <a:t>Второй — map alternatives. Прежде чем тянуться к ML, перечислите неMLные инструменты. SPC, DOE, MPC, RCM, physics-based simulation, rules-based vision. Какие из них применимы к вашей задаче? Какие частично решают её?</a:t>
            </a:r>
          </a:p>
          <a:p/>
          <a:p>
            <a:r>
              <a:t>Третий — apply 4 categories.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step 2.</a:t>
            </a:r>
          </a:p>
          <a:p/>
          <a:p>
            <a:r>
              <a:t>Четвёртый — pilot с explicit go-criteria. До запуска pilot определите: baseline до AI, измерительное окно, go/no-go threshold. Если pilot стартует без этих трёх — он попадает в 80-95 процентов pilot purgatory. Это правило, которое исключает большинство неудач.</a:t>
            </a:r>
          </a:p>
          <a:p/>
          <a:p>
            <a:r>
              <a:t>Пятый — production с HITL и audit trail. Если cвичите pilot и переходите в production: recommend mode для safety-critical контуров. Validated. Traceable. Audit trail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четыре вопроса к вендору. Я уже их повторял несколько раз сегодня, и сейчас повторю ещё раз, потому что они работают как формула в кармане.</a:t>
            </a:r>
          </a:p>
          <a:p/>
          <a:p>
            <a:r>
              <a:t>Baseline до AI — что было раньше? Окно измерения — за какой период? Перечень вмешательств — что реально автоматизировано? OEE-канал — какой компонент эффективности улучшается?</a:t>
            </a:r>
          </a:p>
          <a:p/>
          <a:p>
            <a:r>
              <a:t>Эти четыре вопроса в комбинации с 5-step framework — это всё, что вам нужно для критической оценки AI-проектов в производстве. Если ваш AI-projector сегодня знает только то, что мы разобрали — он будет в верхней группе инженеров по уровню профессионализма.</a:t>
            </a:r>
          </a:p>
          <a:p/>
          <a:p>
            <a:r>
              <a:t>И последняя нота — hybrid patterns. PINN, CIRL, ML over SPC, PLC plus edge ML coprocessor. Это четыре примера того, как ML интегрируется с проверенными неMLными методами, а не пытается их заменить. Это правильный путь интеграции AI в production.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слайд.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baseline до AI. На какой объём работы, времени, стоимости вы сравниваете? Что было до внедрения AI? Если вендор не знает baseline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configuration work» — это типичный пример, где «80» это compound число, в котором смешаны разные операции.</a:t>
            </a:r>
          </a:p>
          <a:p/>
          <a:p>
            <a:r>
              <a:t>Четвёртый — OEE-канал. В какой компонент OEE добавляется эффект — availability, performance или quality? Это разделяет «25 процентов снижение downtime» на смысловые подкатегории.</a:t>
            </a:r>
          </a:p>
          <a:p/>
          <a:p>
            <a:r>
              <a:t>Пятый — архитектурный класс. Это AI как chat-помощник для оператора, или AI как autonomous controller, замыкающий control loop? FDA / ATEX / SIL 2-3 разрешают этот класс?</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5-step framework, который мы разобрали на s35. Если хотя бы один шаг не проходит — отчитайтесь руководству с конкретными цифрами, какой именно шаг не проходит и почему. Не запускайте pilot без go-criteria — это самый частый способ попасть в 80-95 процентов pilot purgatory.</a:t>
            </a:r>
          </a:p>
          <a:p/>
          <a:p>
            <a:r>
              <a:t>«SPC vs ML — что выбрать?» Зависит от регуляторной среды и количества переменных. Если FDA Part 11 и параметры univariate — SPC. Если multi-variate и нужно recommend mode с audit trail — ML, но как recommend, не autonomous. Hybrid: SPC + ML over residuals. Statistical baseline ловит первые 70 процентов, ML добавляется на нелинейном остатке. Это defensible перед регулятором, потому что SPC — known object.</a:t>
            </a:r>
          </a:p>
          <a:p/>
          <a:p>
            <a:r>
              <a:t>«RL vs MPC — что лучше?» MPC dominates control loop. RL дополняет MPC на high-level scheduling: какой batch запускать, когда переключаться. Safe-fallback к MPC mandatory — если RL начинает дрейфовать, система автоматически переключается на MPC. Не deploy RL без CIRL-обвязки или explicit MPC backup.</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7772400" cy="4572000"/>
          </a:xfrm>
          <a:prstGeom prst="rect">
            <a:avLst/>
          </a:prstGeom>
        </p:spPr>
      </p:pic>
      <p:sp>
        <p:nvSpPr>
          <p:cNvPr id="3" name="TextBox 2"/>
          <p:cNvSpPr txBox="1"/>
          <p:nvPr/>
        </p:nvSpPr>
        <p:spPr>
          <a:xfrm>
            <a:off x="457200" y="5120640"/>
            <a:ext cx="7772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Фримонт, 2020 · Wikimedia · CC-BY-SA</a:t>
            </a:r>
          </a:p>
        </p:txBody>
      </p:sp>
      <p:sp>
        <p:nvSpPr>
          <p:cNvPr id="4" name="TextBox 3"/>
          <p:cNvSpPr txBox="1"/>
          <p:nvPr/>
        </p:nvSpPr>
        <p:spPr>
          <a:xfrm>
            <a:off x="8412480" y="548640"/>
            <a:ext cx="3474720" cy="4754880"/>
          </a:xfrm>
          <a:prstGeom prst="rect">
            <a:avLst/>
          </a:prstGeom>
          <a:noFill/>
        </p:spPr>
        <p:txBody>
          <a:bodyPr wrap="square" lIns="0" rIns="0" tIns="0" bIns="0" anchor="t">
            <a:spAutoFit/>
          </a:bodyPr>
          <a:lstStyle/>
          <a:p>
            <a:pPr algn="l">
              <a:lnSpc>
                <a:spcPct val="120000"/>
              </a:lnSpc>
            </a:pPr>
            <a:r>
              <a:rPr sz="2400" b="1" i="0">
                <a:solidFill>
                  <a:srgbClr val="21295C"/>
                </a:solidFill>
                <a:latin typeface="Arial"/>
              </a:rPr>
              <a:t>Tesla отступила</a:t>
            </a:r>
          </a:p>
          <a:p>
            <a:pPr algn="l">
              <a:lnSpc>
                <a:spcPct val="120000"/>
              </a:lnSpc>
            </a:pPr>
            <a:r>
              <a:rPr sz="2400" b="1" i="0">
                <a:solidFill>
                  <a:srgbClr val="21295C"/>
                </a:solidFill>
                <a:latin typeface="Arial"/>
              </a:rPr>
              <a:t>дважды.</a:t>
            </a:r>
          </a:p>
          <a:p>
            <a:pPr algn="l">
              <a:lnSpc>
                <a:spcPct val="120000"/>
              </a:lnSpc>
            </a:pPr>
            <a:r>
              <a:rPr sz="600" b="0" i="0">
                <a:solidFill>
                  <a:srgbClr val="21295C"/>
                </a:solidFill>
                <a:latin typeface="Arial"/>
              </a:rPr>
              <a:t/>
            </a:r>
          </a:p>
          <a:p>
            <a:pPr algn="l">
              <a:lnSpc>
                <a:spcPct val="120000"/>
              </a:lnSpc>
            </a:pPr>
            <a:r>
              <a:rPr sz="1800" b="1" i="0">
                <a:solidFill>
                  <a:srgbClr val="065A82"/>
                </a:solidFill>
                <a:latin typeface="Arial"/>
              </a:rPr>
              <a:t>Компании не учатся</a:t>
            </a:r>
          </a:p>
          <a:p>
            <a:pPr algn="l">
              <a:lnSpc>
                <a:spcPct val="120000"/>
              </a:lnSpc>
            </a:pPr>
            <a:r>
              <a:rPr sz="1800" b="1" i="0">
                <a:solidFill>
                  <a:srgbClr val="065A82"/>
                </a:solidFill>
                <a:latin typeface="Arial"/>
              </a:rPr>
              <a:t>один раз.</a:t>
            </a:r>
          </a:p>
          <a:p>
            <a:pPr algn="l">
              <a:lnSpc>
                <a:spcPct val="120000"/>
              </a:lnSpc>
            </a:pPr>
            <a:r>
              <a:rPr sz="1000" b="0" i="0">
                <a:solidFill>
                  <a:srgbClr val="21295C"/>
                </a:solidFill>
                <a:latin typeface="Arial"/>
              </a:rPr>
              <a:t/>
            </a:r>
          </a:p>
          <a:p>
            <a:pPr algn="l">
              <a:lnSpc>
                <a:spcPct val="120000"/>
              </a:lnSpc>
            </a:pPr>
            <a:r>
              <a:rPr sz="1300" b="1" i="0">
                <a:solidFill>
                  <a:srgbClr val="F0AB00"/>
                </a:solidFill>
                <a:latin typeface="Arial"/>
              </a:rPr>
              <a:t>Май 2024:</a:t>
            </a:r>
          </a:p>
          <a:p>
            <a:pPr algn="l">
              <a:lnSpc>
                <a:spcPct val="120000"/>
              </a:lnSpc>
            </a:pPr>
            <a:r>
              <a:rPr sz="1200" b="0" i="0">
                <a:solidFill>
                  <a:srgbClr val="21295C"/>
                </a:solidFill>
                <a:latin typeface="Arial"/>
              </a:rPr>
              <a:t>Tesla отказалась от gigacasting нового поколения для Model 2.</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Апрель 2018:</a:t>
            </a:r>
          </a:p>
          <a:p>
            <a:pPr algn="l">
              <a:lnSpc>
                <a:spcPct val="120000"/>
              </a:lnSpc>
            </a:pPr>
            <a:r>
              <a:rPr sz="1100" b="0" i="1">
                <a:solidFill>
                  <a:srgbClr val="21295C"/>
                </a:solidFill>
                <a:latin typeface="Arial"/>
              </a:rPr>
              <a:t>«Да, чрезмерная автоматизация на Tesla была ошибкой. Точнее, моей ошибкой. Людей недооценивают.»</a:t>
            </a:r>
          </a:p>
          <a:p>
            <a:pPr algn="l">
              <a:lnSpc>
                <a:spcPct val="120000"/>
              </a:lnSpc>
            </a:pPr>
            <a:r>
              <a:rPr sz="1000" b="0" i="1">
                <a:solidFill>
                  <a:srgbClr val="6B7685"/>
                </a:solidFill>
                <a:latin typeface="Arial"/>
              </a:rPr>
              <a:t>— Илон Маск, X (Twitter), 13.04.2018</a:t>
            </a:r>
          </a:p>
        </p:txBody>
      </p:sp>
      <p:sp>
        <p:nvSpPr>
          <p:cNvPr id="5" name="Rounded Rectangle 4"/>
          <p:cNvSpPr/>
          <p:nvPr/>
        </p:nvSpPr>
        <p:spPr>
          <a:xfrm>
            <a:off x="457200" y="548640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2356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промышленной эксплуатации.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заявления вендора</a:t>
            </a:r>
          </a:p>
          <a:p>
            <a:pPr algn="l">
              <a:lnSpc>
                <a:spcPct val="120000"/>
              </a:lnSpc>
            </a:pPr>
            <a:r>
              <a:rPr sz="1200" b="0" i="0">
                <a:solidFill>
                  <a:srgbClr val="21295C"/>
                </a:solidFill>
                <a:latin typeface="Arial"/>
              </a:rPr>
              <a:t>LO7 — отличить chat-помощник от автономного контроллера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Распространение AI · OT/IT раскол · фундаментальные модели · трио хайп-провалов</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Машинное зрение · разметка · прогностическое обслуживание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17 мин</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российский контекст</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12 мин</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5-шаговая рамка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мин</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Краткое замыкание · 5 вопросов вендору · переход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рамка решения «AI не нужен» на 4-м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Обязательны для лекции · остальные сокращения расшифровываются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корпоративные ERP-системы).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 система оперативного управления производством. Уровень L3 — производственные заказы, OEE-отчёты, прослеживаемость.</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 диспетчерское управление и сбор данных.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 программируемый логический контроллер.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общая эффективность оборудования = доступность × производительность × качество. Главная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труднoизмеряемые параметры по легко-измеряемым. Опорный концепт процессного производства.</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расширение возможностей рабочего</a:t>
            </a:r>
          </a:p>
          <a:p>
            <a:pPr algn="l">
              <a:lnSpc>
                <a:spcPct val="130000"/>
              </a:lnSpc>
            </a:pPr>
            <a:r>
              <a:rPr sz="1300" b="0" i="0">
                <a:solidFill>
                  <a:srgbClr val="21295C"/>
                </a:solidFill>
                <a:latin typeface="Arial"/>
              </a:rPr>
              <a:t>· Генеративное планирование операций</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«чрезмерная автоматизация была ошибкой»</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(оценка качества в реальном времени)</a:t>
            </a:r>
          </a:p>
          <a:p>
            <a:pPr algn="l">
              <a:lnSpc>
                <a:spcPct val="130000"/>
              </a:lnSpc>
            </a:pPr>
            <a:r>
              <a:rPr sz="1300" b="0" i="0">
                <a:solidFill>
                  <a:srgbClr val="21295C"/>
                </a:solidFill>
                <a:latin typeface="Arial"/>
              </a:rPr>
              <a:t>· Прогностическое управление + обучение с подкреплением (MPC/RL)</a:t>
            </a:r>
          </a:p>
          <a:p>
            <a:pPr algn="l">
              <a:lnSpc>
                <a:spcPct val="130000"/>
              </a:lnSpc>
            </a:pPr>
            <a:r>
              <a:rPr sz="1300" b="0" i="0">
                <a:solidFill>
                  <a:srgbClr val="21295C"/>
                </a:solidFill>
                <a:latin typeface="Arial"/>
              </a:rPr>
              <a:t>· Прогностическое обслуживание + AI на крае сети</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 тыс./час, заменён системой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78% используют AI · 5,5% — компании с высокой результативностью · 95% пилотов не доходят до промышленной эксплуатации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 производства</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Распространение AI · OT/IT раскол · фундаментальные модели · трио хайп-провалов</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12 мин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разрыв между распространением и ценностью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компании с высокой результативностью</a:t>
            </a:r>
          </a:p>
          <a:p>
            <a:pPr algn="ctr">
              <a:lnSpc>
                <a:spcPct val="130000"/>
              </a:lnSpc>
            </a:pPr>
            <a:r>
              <a:rPr sz="1200" b="0" i="1">
                <a:solidFill>
                  <a:srgbClr val="4A556B"/>
                </a:solidFill>
                <a:latin typeface="Arial"/>
              </a:rPr>
              <a:t>прирост операционной прибыли (EBIT)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пилотов на генеративном AI не доходят до промышленной эксплуатации. Среднее время пилот → закрытие — 14 мес.</a:t>
            </a:r>
          </a:p>
          <a:p>
            <a:pPr algn="l">
              <a:lnSpc>
                <a:spcPct val="135000"/>
              </a:lnSpc>
            </a:pPr>
            <a:r>
              <a:rPr sz="1300" b="0" i="0">
                <a:solidFill>
                  <a:srgbClr val="21295C"/>
                </a:solidFill>
                <a:latin typeface="Arial"/>
              </a:rPr>
              <a:t>· RAND 2025: 80,3% AI-проектов без бизнес-ценности. $547 млрд из $684 млрд AI-инвестиций — без эффекта.</a:t>
            </a:r>
          </a:p>
          <a:p>
            <a:pPr algn="l">
              <a:lnSpc>
                <a:spcPct val="135000"/>
              </a:lnSpc>
            </a:pPr>
            <a:r>
              <a:rPr sz="1300" b="0" i="0">
                <a:solidFill>
                  <a:srgbClr val="21295C"/>
                </a:solidFill>
                <a:latin typeface="Arial"/>
              </a:rPr>
              <a:t>· S&amp;P Global Market Intelligence (опрос «AI Experiences» 2025): 46% пилотов закрыты до промышленной эксплуатации. Средние невозвратные затраты — ~$7 млн.</a:t>
            </a:r>
          </a:p>
        </p:txBody>
      </p:sp>
      <p:sp>
        <p:nvSpPr>
          <p:cNvPr id="10" name="TextBox 9"/>
          <p:cNvSpPr txBox="1"/>
          <p:nvPr/>
        </p:nvSpPr>
        <p:spPr>
          <a:xfrm>
            <a:off x="457200" y="6172200"/>
            <a:ext cx="11274552" cy="274320"/>
          </a:xfrm>
          <a:prstGeom prst="rect">
            <a:avLst/>
          </a:prstGeom>
          <a:noFill/>
        </p:spPr>
        <p:txBody>
          <a:bodyPr wrap="square" lIns="0" rIns="0" tIns="0" bIns="0" anchor="t">
            <a:spAutoFit/>
          </a:bodyPr>
          <a:lstStyle/>
          <a:p>
            <a:pPr algn="ctr">
              <a:lnSpc>
                <a:spcPct val="115000"/>
              </a:lnSpc>
            </a:pPr>
            <a:r>
              <a:rPr sz="1200" b="1" i="1">
                <a:solidFill>
                  <a:srgbClr val="F0AB00"/>
                </a:solidFill>
                <a:latin typeface="Arial"/>
              </a:rPr>
              <a:t>Эти четыре цифры друг друга поддерживают — это совокупный сигнал, а не одиночное наблюдение</a:t>
            </a:r>
          </a:p>
        </p:txBody>
      </p:sp>
      <p:sp>
        <p:nvSpPr>
          <p:cNvPr id="11" name="TextBox 10"/>
          <p:cNvSpPr txBox="1"/>
          <p:nvPr/>
        </p:nvSpPr>
        <p:spPr>
          <a:xfrm>
            <a:off x="457200" y="64922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S&amp;P Global Market Intelligence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методология и охват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методологию,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мировые расходы на генеративный AI в $644 млрд на 2025 г.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фундаментальное структурное разделение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мира IT в мир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операционные технологии</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приводы конвейеров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строгая (strong)</a:t>
            </a:r>
          </a:p>
          <a:p>
            <a:pPr algn="l">
              <a:lnSpc>
                <a:spcPct val="130000"/>
              </a:lnSpc>
            </a:pPr>
            <a:r>
              <a:rPr sz="1200" b="0" i="0">
                <a:solidFill>
                  <a:srgbClr val="21295C"/>
                </a:solidFill>
                <a:latin typeface="Arial"/>
              </a:rPr>
              <a:t>Журнал аудита: обязательный, регуляторный</a:t>
            </a:r>
          </a:p>
          <a:p>
            <a:pPr algn="l">
              <a:lnSpc>
                <a:spcPct val="130000"/>
              </a:lnSpc>
            </a:pPr>
            <a:r>
              <a:rPr sz="1200" b="0" i="0">
                <a:solidFill>
                  <a:srgbClr val="21295C"/>
                </a:solidFill>
                <a:latin typeface="Arial"/>
              </a:rPr>
              <a:t>Сертификация: SIL 2/3 для критичных по безопасности контуров</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информационные технологии</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конвейеры ML</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итоговая (eventually consistent)</a:t>
            </a:r>
          </a:p>
          <a:p>
            <a:pPr algn="l">
              <a:lnSpc>
                <a:spcPct val="130000"/>
              </a:lnSpc>
            </a:pPr>
            <a:r>
              <a:rPr sz="1200" b="0" i="0">
                <a:solidFill>
                  <a:srgbClr val="21295C"/>
                </a:solidFill>
                <a:latin typeface="Arial"/>
              </a:rPr>
              <a:t>Журнал аудита: для безопасности и соответствия, не для управления</a:t>
            </a:r>
          </a:p>
          <a:p>
            <a:pPr algn="l">
              <a:lnSpc>
                <a:spcPct val="130000"/>
              </a:lnSpc>
            </a:pPr>
            <a:r>
              <a:rPr sz="1200" b="0" i="0">
                <a:solidFill>
                  <a:srgbClr val="21295C"/>
                </a:solidFill>
                <a:latin typeface="Arial"/>
              </a:rPr>
              <a:t>Сертификация: облачные 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Языковая модель с задержкой 100–500 мс физически не вмещается в цикл PLC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Фундаментальные модели = расширение возможностей, НЕ автономный контроллер</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Industrial Foundation Model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Siemens Industrial Foundation Model</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инженерных данных</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3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Обучена на Llama 3.1 70B методом дистилляции</a:t>
            </a:r>
          </a:p>
          <a:p>
            <a:pPr algn="l">
              <a:lnSpc>
                <a:spcPct val="130000"/>
              </a:lnSpc>
            </a:pPr>
            <a:r>
              <a:rPr sz="1100" b="0" i="0">
                <a:solidFill>
                  <a:srgbClr val="21295C"/>
                </a:solidFill>
                <a:latin typeface="Arial"/>
              </a:rPr>
              <a:t>Незначительное отставание от модели DeepSeek-дистиллята</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Языковая модель: 100–500 мс против цикла PLC 1–10 мс. Физически не вмещается в контур управления.</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вывод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журнала аудита для SIL 2/3, FDA Part 11, GAMP®5. Чёрный ящик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Чат-помощник для оператора ≠ автономный контроллер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промышленной эксплуатации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Повторяющийся паттерн: возможность в контролируемой среде vs надёжность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мероприятие Cybercab, октябрь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 (заявления Маска):</a:t>
            </a:r>
          </a:p>
          <a:p>
            <a:pPr algn="l">
              <a:lnSpc>
                <a:spcPct val="130000"/>
              </a:lnSpc>
            </a:pPr>
            <a:r>
              <a:rPr sz="1200" b="0" i="0">
                <a:solidFill>
                  <a:srgbClr val="21295C"/>
                </a:solidFill>
                <a:latin typeface="Arial"/>
              </a:rPr>
              <a:t>«Несколько тысяч к концу 2025; миллион к 2027; цена ~$25 тыс. Точное количество не раскрывается.»</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ПРОМ. ЭКСПЛУАТАЦИЯ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май 2026 (текущий момент):</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промышленной 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Мероприятие Cybercab, октябрь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a:p>
            <a:pPr algn="l">
              <a:lnSpc>
                <a:spcPct val="135000"/>
              </a:lnSpc>
            </a:pPr>
            <a:r>
              <a:rPr sz="600" b="0" i="0">
                <a:solidFill>
                  <a:srgbClr val="21295C"/>
                </a:solidFill>
                <a:latin typeface="Arial"/>
              </a:rPr>
              <a:t/>
            </a:r>
          </a:p>
          <a:p>
            <a:pPr algn="l">
              <a:lnSpc>
                <a:spcPct val="135000"/>
              </a:lnSpc>
            </a:pPr>
            <a:r>
              <a:rPr sz="1100" b="0" i="1">
                <a:solidFill>
                  <a:srgbClr val="4A556B"/>
                </a:solidFill>
                <a:latin typeface="Arial"/>
              </a:rPr>
              <a:t>Полное масштабирование Tesla отложено до представления Optimus V3 в конце 2026.</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промышленной эксплуатацией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 млрд+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 млрд+</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Промышленная облачная платформа — конкурент AWS.
«Быть всем для всех» → развал в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Промышленный AI ≠ универсальный облачный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Многомиллиардные</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простоев, –48% брака» (маркетинговое обещание).
Watson for Drug Discovery остановлен в 2019. Watson Health продан за $1 млрд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промышленная эксплуатация. Маркетинговые проценты ≠ измеренные в производстве показатели.</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 млрд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Дональд Трамп).
10 000 рабочих → 1 500. ЖК-экраны → дисплеи → AI-хаб → кофейные киоски → дата-центр Microsoft Fairwater ($3,3 млрд,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антисигнал.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Отчёты GE 10-K 2017–2020 · пресс-релиз о продаже IBM Watson Health, 2022 · Microsoft Fairwater, май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Машинное зрение · разметка · прогностическое обслуживание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17 мин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Контроль качества зрением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Регенсбург, 2025</a:t>
            </a:r>
          </a:p>
        </p:txBody>
      </p:sp>
      <p:pic>
        <p:nvPicPr>
          <p:cNvPr id="8" name="Picture 7" descr="factory.png"/>
          <p:cNvPicPr>
            <a:picLocks noChangeAspect="1"/>
          </p:cNvPicPr>
          <p:nvPr/>
        </p:nvPicPr>
        <p:blipFill>
          <a:blip r:embed="rId2"/>
          <a:stretch>
            <a:fillRect/>
          </a:stretch>
        </p:blipFill>
        <p:spPr>
          <a:xfrm>
            <a:off x="1760219" y="2880360"/>
            <a:ext cx="1097280" cy="1097280"/>
          </a:xfrm>
          <a:prstGeom prst="rect">
            <a:avLst/>
          </a:prstGeom>
        </p:spPr>
      </p:pic>
      <p:sp>
        <p:nvSpPr>
          <p:cNvPr id="9" name="TextBox 8"/>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Индивидуальный каталог под автомобиль</a:t>
            </a:r>
          </a:p>
        </p:txBody>
      </p:sp>
      <p:sp>
        <p:nvSpPr>
          <p:cNvPr id="10" name="TextBox 9"/>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Премия «Factory of the Year» 2024</a:t>
            </a:r>
          </a:p>
        </p:txBody>
      </p:sp>
      <p:sp>
        <p:nvSpPr>
          <p:cNvPr id="11" name="TextBox 10"/>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Партнёр: Datagon AI</a:t>
            </a:r>
          </a:p>
        </p:txBody>
      </p:sp>
      <p:sp>
        <p:nvSpPr>
          <p:cNvPr id="12" name="Rounded Rectangle 11"/>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контрольных точек</a:t>
            </a:r>
          </a:p>
        </p:txBody>
      </p:sp>
      <p:sp>
        <p:nvSpPr>
          <p:cNvPr id="14" name="Rounded Rectangle 13"/>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 обнаружение дефектов</a:t>
            </a:r>
          </a:p>
        </p:txBody>
      </p:sp>
      <p:sp>
        <p:nvSpPr>
          <p:cNvPr id="17" name="TextBox 16"/>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5/3 нм технологии</a:t>
            </a:r>
          </a:p>
        </p:txBody>
      </p:sp>
      <p:pic>
        <p:nvPicPr>
          <p:cNvPr id="18" name="Picture 17" descr="s14-tsmc.jpg"/>
          <p:cNvPicPr>
            <a:picLocks noChangeAspect="1"/>
          </p:cNvPicPr>
          <p:nvPr/>
        </p:nvPicPr>
        <p:blipFill>
          <a:blip r:embed="rId3"/>
          <a:stretch>
            <a:fillRect/>
          </a:stretch>
        </p:blipFill>
        <p:spPr>
          <a:xfrm>
            <a:off x="4434840" y="2788920"/>
            <a:ext cx="3337560" cy="1371600"/>
          </a:xfrm>
          <a:prstGeom prst="rect">
            <a:avLst/>
          </a:prstGeom>
        </p:spPr>
      </p:pic>
      <p:sp>
        <p:nvSpPr>
          <p:cNvPr id="19" name="TextBox 18"/>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точность на типичных AOI-линиях</a:t>
            </a:r>
          </a:p>
        </p:txBody>
      </p:sp>
      <p:sp>
        <p:nvSpPr>
          <p:cNvPr id="20" name="TextBox 19"/>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выход годных</a:t>
            </a:r>
          </a:p>
        </p:txBody>
      </p:sp>
      <p:sp>
        <p:nvSpPr>
          <p:cNvPr id="21" name="TextBox 20"/>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млн $ в год</a:t>
            </a:r>
          </a:p>
        </p:txBody>
      </p:sp>
      <p:sp>
        <p:nvSpPr>
          <p:cNvPr id="22" name="Rounded Rectangle 21"/>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Иллюстративная оценка по индустрии, не TSMC IR</a:t>
            </a:r>
          </a:p>
        </p:txBody>
      </p:sp>
      <p:sp>
        <p:nvSpPr>
          <p:cNvPr id="24" name="Rounded Rectangle 23"/>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7" name="TextBox 26"/>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pic>
        <p:nvPicPr>
          <p:cNvPr id="28" name="Picture 27" descr="shield-check.png"/>
          <p:cNvPicPr>
            <a:picLocks noChangeAspect="1"/>
          </p:cNvPicPr>
          <p:nvPr/>
        </p:nvPicPr>
        <p:blipFill>
          <a:blip r:embed="rId4"/>
          <a:stretch>
            <a:fillRect/>
          </a:stretch>
        </p:blipFill>
        <p:spPr>
          <a:xfrm>
            <a:off x="9349740" y="2880360"/>
            <a:ext cx="1097280" cy="1097280"/>
          </a:xfrm>
          <a:prstGeom prst="rect">
            <a:avLst/>
          </a:prstGeom>
        </p:spPr>
      </p:pic>
      <p:sp>
        <p:nvSpPr>
          <p:cNvPr id="29" name="TextBox 28"/>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После кризиса door-plug</a:t>
            </a:r>
          </a:p>
        </p:txBody>
      </p:sp>
      <p:sp>
        <p:nvSpPr>
          <p:cNvPr id="30" name="TextBox 29"/>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Фото-проверка узлов</a:t>
            </a:r>
          </a:p>
        </p:txBody>
      </p:sp>
      <p:sp>
        <p:nvSpPr>
          <p:cNvPr id="31" name="TextBox 30"/>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 контроля</a:t>
            </a:r>
          </a:p>
        </p:txBody>
      </p:sp>
      <p:sp>
        <p:nvSpPr>
          <p:cNvPr id="32" name="Rounded Rectangle 31"/>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Зрение для контроля критических зон фюзеляжа</a:t>
            </a:r>
          </a:p>
        </p:txBody>
      </p:sp>
      <p:sp>
        <p:nvSpPr>
          <p:cNvPr id="34" name="Rounded Rectangle 33"/>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доля брака 1–2% → дисбаланс классов → эталонная разметка — критический рычаг</a:t>
            </a:r>
          </a:p>
        </p:txBody>
      </p:sp>
      <p:sp>
        <p:nvSpPr>
          <p:cNvPr id="36" name="TextBox 35"/>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публикации индустрии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Зрение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Заглушка аварийного выхода (door plug) вылетела. Все 171 пассажир и 6 членов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заглушку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зрительная 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Ограничение FAA: 38 самолётов/мес · Spirit AeroSystems — 50 фюзеляжей на доработку · Everett задержан 12 мес · прямые потери ~$1 млрд+</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«Зрение — последняя линия защиты, не первая. Без формального подписания процедуры и журнала аудита AI ничего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 есть ли разметка нужного объёма</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Промышленные сенсоры:</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за гигабайт</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Архив SCADA:</a:t>
            </a:r>
          </a:p>
          <a:p>
            <a:pPr algn="l">
              <a:lnSpc>
                <a:spcPct val="130000"/>
              </a:lnSpc>
            </a:pPr>
            <a:r>
              <a:rPr sz="1200" b="0" i="0">
                <a:solidFill>
                  <a:srgbClr val="21295C"/>
                </a:solidFill>
                <a:latin typeface="Arial"/>
              </a:rPr>
              <a:t>· Хранилище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профильного эксперта:</a:t>
            </a:r>
          </a:p>
          <a:p>
            <a:pPr algn="l">
              <a:lnSpc>
                <a:spcPct val="130000"/>
              </a:lnSpc>
            </a:pPr>
            <a:r>
              <a:rPr sz="1200" b="0" i="0">
                <a:solidFill>
                  <a:srgbClr val="21295C"/>
                </a:solidFill>
                <a:latin typeface="Arial"/>
              </a:rPr>
              <a:t>· 500–2 000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Дисбаланс классов:</a:t>
            </a:r>
          </a:p>
          <a:p>
            <a:pPr algn="l">
              <a:lnSpc>
                <a:spcPct val="130000"/>
              </a:lnSpc>
            </a:pPr>
            <a:r>
              <a:rPr sz="1200" b="0" i="0">
                <a:solidFill>
                  <a:srgbClr val="21295C"/>
                </a:solidFill>
                <a:latin typeface="Arial"/>
              </a:rPr>
              <a:t>· Доля брака 1% → 1 дефект на 99 нормальных</a:t>
            </a:r>
          </a:p>
          <a:p>
            <a:pPr algn="l">
              <a:lnSpc>
                <a:spcPct val="130000"/>
              </a:lnSpc>
            </a:pPr>
            <a:r>
              <a:rPr sz="1200" b="0" i="0">
                <a:solidFill>
                  <a:srgbClr val="21295C"/>
                </a:solidFill>
                <a:latin typeface="Arial"/>
              </a:rPr>
              <a:t>· Для 1 000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Синтетические данные + перенос обучения · Активное обучение · Гибрид правил и ML (правила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Прогностическое обслуживание на дискретном — вендор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простоев»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ВЕНДОР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простоев, –15% затрат на обслуживание»</a:t>
            </a:r>
          </a:p>
          <a:p>
            <a:pPr algn="l">
              <a:lnSpc>
                <a:spcPct val="150000"/>
              </a:lnSpc>
            </a:pPr>
            <a:r>
              <a:rPr sz="1200" b="0" i="0">
                <a:solidFill>
                  <a:srgbClr val="21295C"/>
                </a:solidFill>
                <a:latin typeface="Arial"/>
              </a:rPr>
              <a:t>BMW AIQX (2025): «слияние данных сенсоров и изображения в реальном времени»</a:t>
            </a:r>
          </a:p>
          <a:p>
            <a:pPr algn="l">
              <a:lnSpc>
                <a:spcPct val="150000"/>
              </a:lnSpc>
            </a:pPr>
            <a:r>
              <a:rPr sz="1200" b="0" i="0">
                <a:solidFill>
                  <a:srgbClr val="21295C"/>
                </a:solidFill>
                <a:latin typeface="Arial"/>
              </a:rPr>
              <a:t>Общие обещания вендоров: «от –25 до –40% простоев, от –50 до –70% реактивного ремонта»</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ПРОВЕРКА РЕАЛЬНОСТИ — McKinsey 2025:</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ценность из инвестиций в прогностическое обслуживание» — прямая цитата.</a:t>
            </a:r>
          </a:p>
          <a:p>
            <a:pPr algn="l">
              <a:lnSpc>
                <a:spcPct val="140000"/>
              </a:lnSpc>
            </a:pPr>
            <a:r>
              <a:rPr sz="1200" b="0" i="0">
                <a:solidFill>
                  <a:srgbClr val="21295C"/>
                </a:solidFill>
                <a:latin typeface="Arial"/>
              </a:rPr>
              <a:t>Окупаемость 8–14 мес — это лучший сценарий, не среднее. Только 5,5% с высокой результативностью получают прирост операционной прибыли.</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Формула OEE:</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простоев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Расширение, не замена — крупнейший автопроизводитель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внешнего контроля качества</a:t>
            </a:r>
          </a:p>
        </p:txBody>
      </p:sp>
      <p:pic>
        <p:nvPicPr>
          <p:cNvPr id="8" name="Picture 7" descr="cog.png"/>
          <p:cNvPicPr>
            <a:picLocks noChangeAspect="1"/>
          </p:cNvPicPr>
          <p:nvPr/>
        </p:nvPicPr>
        <p:blipFill>
          <a:blip r:embed="rId2"/>
          <a:stretch>
            <a:fillRect/>
          </a:stretch>
        </p:blipFill>
        <p:spPr>
          <a:xfrm>
            <a:off x="1485900" y="2880360"/>
            <a:ext cx="1645920" cy="1645920"/>
          </a:xfrm>
          <a:prstGeom prst="rect">
            <a:avLst/>
          </a:prstGeom>
        </p:spPr>
      </p:pic>
      <p:sp>
        <p:nvSpPr>
          <p:cNvPr id="9" name="TextBox 8"/>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 гуманоидный робот, центр RMAC (Robotics Manufacturing Application Center).
Первое коммерческое развёртывание гуманоида.</a:t>
            </a:r>
          </a:p>
        </p:txBody>
      </p:sp>
      <p:sp>
        <p:nvSpPr>
          <p:cNvPr id="10" name="Rounded Rectangle 9"/>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3" name="TextBox 12"/>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pic>
        <p:nvPicPr>
          <p:cNvPr id="14" name="Picture 13" descr="users.png"/>
          <p:cNvPicPr>
            <a:picLocks noChangeAspect="1"/>
          </p:cNvPicPr>
          <p:nvPr/>
        </p:nvPicPr>
        <p:blipFill>
          <a:blip r:embed="rId3"/>
          <a:stretch>
            <a:fillRect/>
          </a:stretch>
        </p:blipFill>
        <p:spPr>
          <a:xfrm>
            <a:off x="5280659" y="2880360"/>
            <a:ext cx="1645920" cy="1645920"/>
          </a:xfrm>
          <a:prstGeom prst="rect">
            <a:avLst/>
          </a:prstGeom>
        </p:spPr>
      </p:pic>
      <p:sp>
        <p:nvSpPr>
          <p:cNvPr id="15" name="TextBox 14"/>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рядовыми сотрудниками, не специалистами по данным.
10 000 часов в год экономии (по заявлению Toyota — без независимого аудита).</a:t>
            </a:r>
          </a:p>
        </p:txBody>
      </p:sp>
      <p:sp>
        <p:nvSpPr>
          <p:cNvPr id="16" name="Rounded Rectangle 15"/>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19" name="TextBox 18"/>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pic>
        <p:nvPicPr>
          <p:cNvPr id="20" name="Picture 19" descr="wrench.png"/>
          <p:cNvPicPr>
            <a:picLocks noChangeAspect="1"/>
          </p:cNvPicPr>
          <p:nvPr/>
        </p:nvPicPr>
        <p:blipFill>
          <a:blip r:embed="rId4"/>
          <a:stretch>
            <a:fillRect/>
          </a:stretch>
        </p:blipFill>
        <p:spPr>
          <a:xfrm>
            <a:off x="9075419" y="2880360"/>
            <a:ext cx="1645920" cy="1645920"/>
          </a:xfrm>
          <a:prstGeom prst="rect">
            <a:avLst/>
          </a:prstGeom>
        </p:spPr>
      </p:pic>
      <p:sp>
        <p:nvSpPr>
          <p:cNvPr id="21" name="TextBox 20"/>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«Цель Jidoka — не заменить людей, а защитить качество, выявить проблемы и освободить людей для суждения.»</a:t>
            </a:r>
          </a:p>
        </p:txBody>
      </p:sp>
      <p:sp>
        <p:nvSpPr>
          <p:cNvPr id="22" name="Rounded Rectangle 2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«заменить» провалилось, «расширить»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парадокса автоматизации</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альтернатива Toyota + отступление от gigacasting в 2024</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Илона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«Да, чрезмерная автоматизация на Tesla была ошибкой. Точнее, моей ошибкой. Людей недооценивают.»</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 кв.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Цель: 2 500 Model 3 / неделя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Производственный ад.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вариативность — особенность, не дефект</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мили краевых случаев</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«Иронии автоматизации»:
чем больше автоматизации,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ситуация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Альтернатива: производственная система Toyota + Jidoka — работает с 1950-х. Май 2024: Tesla отказалась от gigacasting нового поколения для Model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Границы контроля качества зрением + альтернативы ДО машинного обучения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Физическое усиление сигнала → правила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ЗРЕНИЕ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Малоконтрастные дефекты</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зрения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Редкие размеченные дефекты</a:t>
            </a:r>
          </a:p>
          <a:p>
            <a:pPr algn="l">
              <a:lnSpc>
                <a:spcPct val="135000"/>
              </a:lnSpc>
            </a:pPr>
            <a:r>
              <a:rPr sz="1100" b="0" i="0">
                <a:solidFill>
                  <a:srgbClr val="21295C"/>
                </a:solidFill>
                <a:latin typeface="Arial"/>
              </a:rPr>
              <a:t>Доля брака 1% + редкие типы → модель не видит редкие дефекты.</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МЛ</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Физическое усиление сигнала:</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царапины</a:t>
            </a:r>
          </a:p>
          <a:p>
            <a:pPr algn="l">
              <a:lnSpc>
                <a:spcPct val="135000"/>
              </a:lnSpc>
            </a:pPr>
            <a:r>
              <a:rPr sz="1100" b="0" i="0">
                <a:solidFill>
                  <a:srgbClr val="21295C"/>
                </a:solidFill>
                <a:latin typeface="Arial"/>
              </a:rPr>
              <a:t>· Рентген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Правило-ориентированное зрение:</a:t>
            </a:r>
          </a:p>
          <a:p>
            <a:pPr algn="l">
              <a:lnSpc>
                <a:spcPct val="135000"/>
              </a:lnSpc>
            </a:pPr>
            <a:r>
              <a:rPr sz="1100" b="0" i="0">
                <a:solidFill>
                  <a:srgbClr val="21295C"/>
                </a:solidFill>
                <a:latin typeface="Arial"/>
              </a:rPr>
              <a:t>Простые правила (площадь, контур, цвет). 60–70% задач инспекции в контролируемой среде. Валидируется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Гибрид (рекомендуется):</a:t>
            </a:r>
          </a:p>
          <a:p>
            <a:pPr algn="l">
              <a:lnSpc>
                <a:spcPct val="135000"/>
              </a:lnSpc>
            </a:pPr>
            <a:r>
              <a:rPr sz="1100" b="0" i="1">
                <a:solidFill>
                  <a:srgbClr val="21295C"/>
                </a:solidFill>
                <a:latin typeface="Arial"/>
              </a:rPr>
              <a:t>Физика → правила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«80% работы по настройке» — заявление вендора, не измеренный показатель</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Янг Лиу, председатель Foxconn, Computex, май 2025 — упражнение в критической оценке</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50292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«После подключения AI-инструментов в рабочие процессы Foxconn софт сейчас выполняет около 80 процентов работы по настройке оборудования к новому производственному запуску.»</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Янг Лиу, председатель Foxconn · Computex, май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Базовая линия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сотрудников было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запуск?</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Канал OEE</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Доступность (быстрее переход)? Производительность (выше пропуск)? Качество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эмпирическая база для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Замена там, где вариативность = особенность</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Расширять, а не заменять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откат на правила</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Редкая разметка + дисбаланс классов</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 дверная заглушка</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Физический сигнал · правила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Заявление вендора без базовой линии</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простоев»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(базовая линия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рамке решения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российский контекст</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17 мин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дефектов в партии</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Разработка рецептуры: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pic>
        <p:nvPicPr>
          <p:cNvPr id="13" name="Picture 12" descr="pill.png"/>
          <p:cNvPicPr>
            <a:picLocks noChangeAspect="1"/>
          </p:cNvPicPr>
          <p:nvPr/>
        </p:nvPicPr>
        <p:blipFill>
          <a:blip r:embed="rId3"/>
          <a:stretch>
            <a:fillRect/>
          </a:stretch>
        </p:blipFill>
        <p:spPr>
          <a:xfrm>
            <a:off x="8229600" y="2331720"/>
            <a:ext cx="1371600" cy="1371600"/>
          </a:xfrm>
          <a:prstGeom prst="rect">
            <a:avLst/>
          </a:prstGeom>
        </p:spPr>
      </p:pic>
      <p:sp>
        <p:nvSpPr>
          <p:cNvPr id="14" name="TextBox 13"/>
          <p:cNvSpPr txBox="1"/>
          <p:nvPr/>
        </p:nvSpPr>
        <p:spPr>
          <a:xfrm>
            <a:off x="6309360" y="3749039"/>
            <a:ext cx="5239512" cy="365760"/>
          </a:xfrm>
          <a:prstGeom prst="rect">
            <a:avLst/>
          </a:prstGeom>
          <a:noFill/>
        </p:spPr>
        <p:txBody>
          <a:bodyPr wrap="square" lIns="0" rIns="0" tIns="0" bIns="0" anchor="t">
            <a:spAutoFit/>
          </a:bodyPr>
          <a:lstStyle/>
          <a:p>
            <a:pPr algn="ctr">
              <a:lnSpc>
                <a:spcPct val="115000"/>
              </a:lnSpc>
            </a:pPr>
            <a:r>
              <a:rPr sz="1100" b="0" i="1">
                <a:solidFill>
                  <a:srgbClr val="4A556B"/>
                </a:solidFill>
                <a:latin typeface="Arial"/>
              </a:rPr>
              <a:t>Генеративный AI на платформах AWS Bedrock + SageMaker</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доз на партию</a:t>
            </a:r>
          </a:p>
          <a:p>
            <a:pPr algn="l">
              <a:lnSpc>
                <a:spcPct val="135000"/>
              </a:lnSpc>
            </a:pPr>
            <a:r>
              <a:rPr sz="1100" b="0" i="1">
                <a:solidFill>
                  <a:srgbClr val="6B7685"/>
                </a:solidFill>
                <a:latin typeface="Arial"/>
              </a:rPr>
              <a:t>AWS Bedrock + SageMaker</a:t>
            </a:r>
          </a:p>
          <a:p>
            <a:pPr algn="l">
              <a:lnSpc>
                <a:spcPct val="135000"/>
              </a:lnSpc>
            </a:pPr>
            <a:r>
              <a:rPr sz="1100" b="0" i="0">
                <a:solidFill>
                  <a:srgbClr val="21295C"/>
                </a:solidFill>
                <a:latin typeface="Arial"/>
              </a:rPr>
              <a:t>Режим «характеристика», не автономный — совместим с FDA Part 11</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разобранным примером для рамки решения.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Гибрид MPC/RL + CIRL — обучение с подкреплением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PID-контроллер в функции потерь</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дистилляционной колонне · Премия PM Японии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Архитектура CIRL — BASF + Royal Academy of Engineering</a:t>
            </a:r>
          </a:p>
        </p:txBody>
      </p:sp>
      <p:sp>
        <p:nvSpPr>
          <p:cNvPr id="11" name="Rectangle 10"/>
          <p:cNvSpPr/>
          <p:nvPr/>
        </p:nvSpPr>
        <p:spPr>
          <a:xfrm>
            <a:off x="4663440" y="2240280"/>
            <a:ext cx="7040880"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7040880" cy="365760"/>
          </a:xfrm>
          <a:prstGeom prst="rect">
            <a:avLst/>
          </a:prstGeom>
          <a:noFill/>
        </p:spPr>
        <p:txBody>
          <a:bodyPr wrap="square" lIns="0" rIns="0" tIns="0" bIns="0" anchor="t">
            <a:spAutoFit/>
          </a:bodyPr>
          <a:lstStyle/>
          <a:p>
            <a:pPr algn="ctr">
              <a:lnSpc>
                <a:spcPct val="115000"/>
              </a:lnSpc>
            </a:pPr>
            <a:r>
              <a:rPr sz="1200" b="1" i="0">
                <a:solidFill>
                  <a:srgbClr val="FFFFFF"/>
                </a:solidFill>
                <a:latin typeface="Arial"/>
              </a:rPr>
              <a:t>Глубокое обучение с подкреплением (RL)</a:t>
            </a:r>
          </a:p>
        </p:txBody>
      </p:sp>
      <p:sp>
        <p:nvSpPr>
          <p:cNvPr id="13" name="Rectangle 12"/>
          <p:cNvSpPr/>
          <p:nvPr/>
        </p:nvSpPr>
        <p:spPr>
          <a:xfrm>
            <a:off x="6858000" y="2697480"/>
            <a:ext cx="2651760" cy="6858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743200"/>
            <a:ext cx="2651760" cy="594360"/>
          </a:xfrm>
          <a:prstGeom prst="rect">
            <a:avLst/>
          </a:prstGeom>
          <a:noFill/>
        </p:spPr>
        <p:txBody>
          <a:bodyPr wrap="square" lIns="0" rIns="0" tIns="0" bIns="0" anchor="ctr">
            <a:spAutoFit/>
          </a:bodyPr>
          <a:lstStyle/>
          <a:p>
            <a:pPr algn="ctr">
              <a:lnSpc>
                <a:spcPct val="120000"/>
              </a:lnSpc>
            </a:pPr>
            <a:r>
              <a:rPr sz="1100" b="1" i="0">
                <a:solidFill>
                  <a:srgbClr val="FFFFFF"/>
                </a:solidFill>
                <a:latin typeface="Arial"/>
              </a:rPr>
              <a:t>PID-контроллер
в функции потерь</a:t>
            </a:r>
          </a:p>
        </p:txBody>
      </p:sp>
      <p:sp>
        <p:nvSpPr>
          <p:cNvPr id="15" name="TextBox 14"/>
          <p:cNvSpPr txBox="1"/>
          <p:nvPr/>
        </p:nvSpPr>
        <p:spPr>
          <a:xfrm>
            <a:off x="4480560" y="3566160"/>
            <a:ext cx="7223760" cy="274320"/>
          </a:xfrm>
          <a:prstGeom prst="rect">
            <a:avLst/>
          </a:prstGeom>
          <a:noFill/>
        </p:spPr>
        <p:txBody>
          <a:bodyPr wrap="square" lIns="0" rIns="0" tIns="0" bIns="0" anchor="t">
            <a:spAutoFit/>
          </a:bodyPr>
          <a:lstStyle/>
          <a:p>
            <a:pPr algn="ctr">
              <a:lnSpc>
                <a:spcPct val="115000"/>
              </a:lnSpc>
            </a:pPr>
            <a:r>
              <a:rPr sz="1100" b="1" i="1">
                <a:solidFill>
                  <a:srgbClr val="F0AB00"/>
                </a:solidFill>
                <a:latin typeface="Arial"/>
              </a:rPr>
              <a:t>PID внутри RL, не вместо PID и не параллельно — это ключевое различие CIRL.</a:t>
            </a:r>
          </a:p>
        </p:txBody>
      </p:sp>
      <p:sp>
        <p:nvSpPr>
          <p:cNvPr id="16" name="Rounded Rectangle 15"/>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18" name="Rounded Rectangle 17"/>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доминирует в управлении процессом:</a:t>
            </a:r>
          </a:p>
          <a:p>
            <a:pPr algn="l">
              <a:lnSpc>
                <a:spcPct val="135000"/>
              </a:lnSpc>
            </a:pPr>
            <a:r>
              <a:rPr sz="1200" b="0" i="0">
                <a:solidFill>
                  <a:srgbClr val="21295C"/>
                </a:solidFill>
                <a:latin typeface="Arial"/>
              </a:rPr>
              <a:t>Явная модель · объясним · валидируется регулятором · автоматически реагирует на дрейф.</a:t>
            </a:r>
          </a:p>
          <a:p>
            <a:pPr algn="l">
              <a:lnSpc>
                <a:spcPct val="135000"/>
              </a:lnSpc>
            </a:pPr>
            <a:r>
              <a:rPr sz="1200" b="1" i="0">
                <a:solidFill>
                  <a:srgbClr val="21295C"/>
                </a:solidFill>
                <a:latin typeface="Arial"/>
              </a:rPr>
              <a:t>Правило: RL дополняет MPC на верхнеуровневом планировании.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Дрейф распределения данных в RL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стратегия (policy), обученная на одном распределении данных, ломается без предупреждения</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Переходы между партиями</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Данные вне обучения</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стационарном режиме. Переходный режим — вне распределения обучения.
Скачки температуры на старте новой партии.</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сырья</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Устаревшая стратегия</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Стратегия на одном составе — устарела для другого.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Сезонные сдвиги</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против летней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Износ оборудования</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в реальном времени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Безопасный откат: MPC реагирует на текущие данные, не помнит обучения · MPC обязателен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 на крае сети (edge)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 180 узлов на крае · Holcim — 100 заводов · Задержка = детерминизм, не только скорость</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edge-узлов</a:t>
            </a:r>
          </a:p>
          <a:p>
            <a:pPr algn="l">
              <a:lnSpc>
                <a:spcPct val="125000"/>
              </a:lnSpc>
            </a:pPr>
            <a:r>
              <a:rPr sz="1000" b="0" i="0">
                <a:solidFill>
                  <a:srgbClr val="21295C"/>
                </a:solidFill>
                <a:latin typeface="Arial"/>
              </a:rPr>
              <a:t>+5% эффективность · –10% энергия · +3% выход годных</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Бюджет задержки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«Задержка = детерминизм, не только скорость»</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Параллель из обороны: F-35 ALIS — $44 000/час, заменён системой ODIN. Прогностическое обслуживание учит тому же, что и в промышленности.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Журнал аудита + валидированные системы + прослеживаемые изменения.</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Чёрный ящик ML — нет журнала аудита.
AI не может быть конечным принимающим решение.
Человек в цикле (HITL) обязателен. Валидация GAMP®5.</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предсказание → одобрение оператора.
Не работает: автономный выпуск партии.</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Оборудование сертифицировано для зон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Зона 0: несертифицированное AI-оборудование ФИЗИЧЕСКИ запрещено.
Не вопрос ПО — вопрос оборудования.</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прогностическом мониторинге газа/температуры/пыли — не заменяет ATEX-оборудование.</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Развёртывание AI в РФ-промышленности проходит через КИИ-обвязку.
ФЗ-152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переход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различать заявления и измеримый эффект</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пилот / ранняя пром. стадия</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23360"/>
            <a:ext cx="5120640" cy="6858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флотации / измельчении — заявлена пилотная / ранняя промышленная стадия</a:t>
            </a:r>
          </a:p>
          <a:p>
            <a:pPr algn="l">
              <a:lnSpc>
                <a:spcPct val="130000"/>
              </a:lnSpc>
            </a:pPr>
            <a:r>
              <a:rPr sz="1100" b="0" i="1">
                <a:solidFill>
                  <a:srgbClr val="4A556B"/>
                </a:solidFill>
                <a:latin typeface="Arial"/>
              </a:rPr>
              <a:t>Точные метрики (OEE-критерий с SLA &gt;12 мес) публично не верифицируемы</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Быстринский ГОК · Норникель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 площадка технологического моделирования</a:t>
            </a:r>
          </a:p>
          <a:p>
            <a:pPr algn="l">
              <a:lnSpc>
                <a:spcPct val="135000"/>
              </a:lnSpc>
            </a:pPr>
            <a:r>
              <a:rPr sz="1100" b="0" i="0">
                <a:solidFill>
                  <a:srgbClr val="21295C"/>
                </a:solidFill>
                <a:latin typeface="Arial"/>
              </a:rPr>
              <a:t>1 квартал 2025 → полный запуск 2026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конкретных измеримых показателей</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Прибыль Северстали в 2024 г. –55%</a:t>
            </a:r>
          </a:p>
        </p:txBody>
      </p:sp>
      <p:sp>
        <p:nvSpPr>
          <p:cNvPr id="14" name="Rounded Rectangle 13"/>
          <p:cNvSpPr/>
          <p:nvPr/>
        </p:nvSpPr>
        <p:spPr>
          <a:xfrm>
            <a:off x="457200" y="4846320"/>
            <a:ext cx="11274552" cy="36576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873752"/>
            <a:ext cx="10972800" cy="320040"/>
          </a:xfrm>
          <a:prstGeom prst="rect">
            <a:avLst/>
          </a:prstGeom>
          <a:noFill/>
        </p:spPr>
        <p:txBody>
          <a:bodyPr wrap="square" lIns="0" rIns="0" tIns="0" bIns="0" anchor="ctr">
            <a:spAutoFit/>
          </a:bodyPr>
          <a:lstStyle/>
          <a:p>
            <a:pPr algn="ctr">
              <a:lnSpc>
                <a:spcPct val="115000"/>
              </a:lnSpc>
            </a:pPr>
            <a:r>
              <a:rPr sz="1100" b="0" i="1">
                <a:solidFill>
                  <a:srgbClr val="4A556B"/>
                </a:solidFill>
                <a:latin typeface="Arial"/>
              </a:rPr>
              <a:t>Газпром нефть «Северо-Соленинское» — отдельный кейс другой компании, не Норникель</a:t>
            </a:r>
          </a:p>
        </p:txBody>
      </p:sp>
      <p:sp>
        <p:nvSpPr>
          <p:cNvPr id="16" name="Rounded Rectangle 15"/>
          <p:cNvSpPr/>
          <p:nvPr/>
        </p:nvSpPr>
        <p:spPr>
          <a:xfrm>
            <a:off x="457200" y="5303520"/>
            <a:ext cx="11274552" cy="10972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949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Главный методический вывод:</a:t>
            </a:r>
          </a:p>
        </p:txBody>
      </p:sp>
      <p:sp>
        <p:nvSpPr>
          <p:cNvPr id="18" name="TextBox 17"/>
          <p:cNvSpPr txBox="1"/>
          <p:nvPr/>
        </p:nvSpPr>
        <p:spPr>
          <a:xfrm>
            <a:off x="640080" y="5715000"/>
            <a:ext cx="10972800" cy="68580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Скудность публичного раскрытия — антипаттерн в отчётности, НЕ доказательство отсутствия применения.</a:t>
            </a:r>
          </a:p>
          <a:p>
            <a:pPr algn="l">
              <a:lnSpc>
                <a:spcPct val="130000"/>
              </a:lnSpc>
            </a:pPr>
            <a:r>
              <a:rPr sz="1100" b="0" i="1">
                <a:solidFill>
                  <a:srgbClr val="21295C"/>
                </a:solidFill>
                <a:latin typeface="Arial"/>
              </a:rPr>
              <a:t>Различать заявление для прессы и измеримый эффект — симметрично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симметрично дискретному; основа для критериев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Дрейф распределения в RL</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Переходы партий / смена сырья / сезон / износ</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автономного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верхнем уровне. MPC — безопасный откат</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Регуляторный блокер</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Зона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Зоне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уже существует. Человек в цикле + журнал аудита обязательны</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нечётком крае</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облако</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ML на крае сети, на копроцессоре — не LLM. Задержка = детерминизм</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PR вендора без показателей</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публично проверяемой окупаемости</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(база / окно / вмешательства). Уклончивый ответ — красный флаг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5-шаговая рамка · разобранный пример Pfizer</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12 мин · 6 слайдов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10 критериев + 1 бонус</a:t>
            </a:r>
          </a:p>
        </p:txBody>
      </p:sp>
      <p:sp>
        <p:nvSpPr>
          <p:cNvPr id="4" name="Rounded Rectangle 3"/>
          <p:cNvSpPr/>
          <p:nvPr/>
        </p:nvSpPr>
        <p:spPr>
          <a:xfrm>
            <a:off x="45720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A · Данные</a:t>
            </a:r>
          </a:p>
        </p:txBody>
      </p:sp>
      <p:sp>
        <p:nvSpPr>
          <p:cNvPr id="7" name="TextBox 6"/>
          <p:cNvSpPr txBox="1"/>
          <p:nvPr/>
        </p:nvSpPr>
        <p:spPr>
          <a:xfrm>
            <a:off x="59436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8" name="TextBox 7"/>
          <p:cNvSpPr txBox="1"/>
          <p:nvPr/>
        </p:nvSpPr>
        <p:spPr>
          <a:xfrm>
            <a:off x="68580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Средняя наработка на отказ &gt;1 года — слишком мало отказов</a:t>
            </a:r>
          </a:p>
        </p:txBody>
      </p:sp>
      <p:sp>
        <p:nvSpPr>
          <p:cNvPr id="9" name="TextBox 8"/>
          <p:cNvSpPr txBox="1"/>
          <p:nvPr/>
        </p:nvSpPr>
        <p:spPr>
          <a:xfrm>
            <a:off x="68580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Известная физика — CFD/FEA лучше ML</a:t>
            </a:r>
          </a:p>
        </p:txBody>
      </p:sp>
      <p:sp>
        <p:nvSpPr>
          <p:cNvPr id="10" name="TextBox 9"/>
          <p:cNvSpPr txBox="1"/>
          <p:nvPr/>
        </p:nvSpPr>
        <p:spPr>
          <a:xfrm>
            <a:off x="685800" y="27889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Эталонная разметка дорогая</a:t>
            </a:r>
          </a:p>
        </p:txBody>
      </p:sp>
      <p:sp>
        <p:nvSpPr>
          <p:cNvPr id="11" name="Rounded Rectangle 10"/>
          <p:cNvSpPr/>
          <p:nvPr/>
        </p:nvSpPr>
        <p:spPr>
          <a:xfrm>
            <a:off x="64008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Физические симуляции · план эксперимента (DOE) · статистический контроль (SPC)</a:t>
            </a:r>
          </a:p>
        </p:txBody>
      </p:sp>
      <p:sp>
        <p:nvSpPr>
          <p:cNvPr id="13" name="Rounded Rectangle 12"/>
          <p:cNvSpPr/>
          <p:nvPr/>
        </p:nvSpPr>
        <p:spPr>
          <a:xfrm>
            <a:off x="612648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4114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B · Стоимость</a:t>
            </a:r>
          </a:p>
        </p:txBody>
      </p:sp>
      <p:sp>
        <p:nvSpPr>
          <p:cNvPr id="16" name="TextBox 15"/>
          <p:cNvSpPr txBox="1"/>
          <p:nvPr/>
        </p:nvSpPr>
        <p:spPr>
          <a:xfrm>
            <a:off x="626364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17" name="TextBox 16"/>
          <p:cNvSpPr txBox="1"/>
          <p:nvPr/>
        </p:nvSpPr>
        <p:spPr>
          <a:xfrm>
            <a:off x="635508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Цена ложного срабатывания &gt; 10× цены пропуска — SPC лучше</a:t>
            </a:r>
          </a:p>
        </p:txBody>
      </p:sp>
      <p:sp>
        <p:nvSpPr>
          <p:cNvPr id="18" name="TextBox 17"/>
          <p:cNvSpPr txBox="1"/>
          <p:nvPr/>
        </p:nvSpPr>
        <p:spPr>
          <a:xfrm>
            <a:off x="635508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Критичный по безопасности контур — сертификация ML сложна</a:t>
            </a:r>
          </a:p>
        </p:txBody>
      </p:sp>
      <p:sp>
        <p:nvSpPr>
          <p:cNvPr id="19" name="Rounded Rectangle 18"/>
          <p:cNvSpPr/>
          <p:nvPr/>
        </p:nvSpPr>
        <p:spPr>
          <a:xfrm>
            <a:off x="630936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SPC · надёжностно-ориентированное обслуживание (RCM) · правило-ориентированные системы</a:t>
            </a:r>
          </a:p>
        </p:txBody>
      </p:sp>
      <p:sp>
        <p:nvSpPr>
          <p:cNvPr id="21" name="Rounded Rectangle 20"/>
          <p:cNvSpPr/>
          <p:nvPr/>
        </p:nvSpPr>
        <p:spPr>
          <a:xfrm>
            <a:off x="45720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749039"/>
            <a:ext cx="5532120" cy="4114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C · Регуляторика</a:t>
            </a:r>
          </a:p>
        </p:txBody>
      </p:sp>
      <p:sp>
        <p:nvSpPr>
          <p:cNvPr id="24" name="TextBox 23"/>
          <p:cNvSpPr txBox="1"/>
          <p:nvPr/>
        </p:nvSpPr>
        <p:spPr>
          <a:xfrm>
            <a:off x="59436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25" name="TextBox 24"/>
          <p:cNvSpPr txBox="1"/>
          <p:nvPr/>
        </p:nvSpPr>
        <p:spPr>
          <a:xfrm>
            <a:off x="68580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Журнал аудита обязателен (FDA, GAMP)</a:t>
            </a:r>
          </a:p>
        </p:txBody>
      </p:sp>
      <p:sp>
        <p:nvSpPr>
          <p:cNvPr id="26" name="TextBox 25"/>
          <p:cNvSpPr txBox="1"/>
          <p:nvPr/>
        </p:nvSpPr>
        <p:spPr>
          <a:xfrm>
            <a:off x="68580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Взрывоопасная зона 0 (ATEX) — ограничения на оборудование</a:t>
            </a:r>
          </a:p>
        </p:txBody>
      </p:sp>
      <p:sp>
        <p:nvSpPr>
          <p:cNvPr id="27" name="TextBox 26"/>
          <p:cNvSpPr txBox="1"/>
          <p:nvPr/>
        </p:nvSpPr>
        <p:spPr>
          <a:xfrm>
            <a:off x="685800" y="498347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Указ 250 / критическая инфраструктура (КИИ)</a:t>
            </a:r>
          </a:p>
        </p:txBody>
      </p:sp>
      <p:sp>
        <p:nvSpPr>
          <p:cNvPr id="28" name="Rounded Rectangle 27"/>
          <p:cNvSpPr/>
          <p:nvPr/>
        </p:nvSpPr>
        <p:spPr>
          <a:xfrm>
            <a:off x="64008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Объяснимый ML · гибридные подходы · развёртывание на собственной инфраструктуре</a:t>
            </a:r>
          </a:p>
        </p:txBody>
      </p:sp>
      <p:sp>
        <p:nvSpPr>
          <p:cNvPr id="30" name="Rounded Rectangle 29"/>
          <p:cNvSpPr/>
          <p:nvPr/>
        </p:nvSpPr>
        <p:spPr>
          <a:xfrm>
            <a:off x="612648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749039"/>
            <a:ext cx="5532120" cy="4114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D · Человек</a:t>
            </a:r>
          </a:p>
        </p:txBody>
      </p:sp>
      <p:sp>
        <p:nvSpPr>
          <p:cNvPr id="33" name="TextBox 32"/>
          <p:cNvSpPr txBox="1"/>
          <p:nvPr/>
        </p:nvSpPr>
        <p:spPr>
          <a:xfrm>
            <a:off x="626364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34" name="TextBox 33"/>
          <p:cNvSpPr txBox="1"/>
          <p:nvPr/>
        </p:nvSpPr>
        <p:spPr>
          <a:xfrm>
            <a:off x="635508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Недоверие оператора → обходные пути</a:t>
            </a:r>
          </a:p>
        </p:txBody>
      </p:sp>
      <p:sp>
        <p:nvSpPr>
          <p:cNvPr id="35" name="TextBox 34"/>
          <p:cNvSpPr txBox="1"/>
          <p:nvPr/>
        </p:nvSpPr>
        <p:spPr>
          <a:xfrm>
            <a:off x="635508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Пилот без критериев успеха → застревание на пилотной стадии</a:t>
            </a:r>
          </a:p>
        </p:txBody>
      </p:sp>
      <p:sp>
        <p:nvSpPr>
          <p:cNvPr id="36" name="Rounded Rectangle 35"/>
          <p:cNvSpPr/>
          <p:nvPr/>
        </p:nvSpPr>
        <p:spPr>
          <a:xfrm>
            <a:off x="630936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Six Sigma · Jidoka · структурированные пилоты</a:t>
            </a:r>
          </a:p>
        </p:txBody>
      </p:sp>
      <p:sp>
        <p:nvSpPr>
          <p:cNvPr id="38" name="Rounded Rectangle 37"/>
          <p:cNvSpPr/>
          <p:nvPr/>
        </p:nvSpPr>
        <p:spPr>
          <a:xfrm>
            <a:off x="457200" y="603504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62472"/>
            <a:ext cx="10972800" cy="320040"/>
          </a:xfrm>
          <a:prstGeom prst="rect">
            <a:avLst/>
          </a:prstGeom>
          <a:noFill/>
        </p:spPr>
        <p:txBody>
          <a:bodyPr wrap="square" lIns="0" rIns="0" tIns="0" bIns="0" anchor="ctr">
            <a:spAutoFit/>
          </a:bodyPr>
          <a:lstStyle/>
          <a:p>
            <a:pPr algn="ctr">
              <a:lnSpc>
                <a:spcPct val="115000"/>
              </a:lnSpc>
            </a:pPr>
            <a:r>
              <a:rPr sz="1100" b="1" i="1">
                <a:solidFill>
                  <a:srgbClr val="21295C"/>
                </a:solidFill>
                <a:latin typeface="Arial"/>
              </a:rPr>
              <a:t>БОНУС · 11-й критерий: уровень функциональной безопасности SIL 2/3 — сертификация чёрного ящика ML практически нереализуема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Матрица альтернатив — что использовать ДО машинного обучения</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дружественны регулятору</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 применять</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 стороны</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 стороны</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Дружественно регулятору</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Один параметр, стабильно</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работает с многомерными</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Причинно-следственный вывод</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онлайн</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Управление процессом онлайн</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Явная модель, реагирует на дрейф</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откалиброванный</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учится</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Физ.симуляция</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CFD/FEA/кинетика</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Зрение на правилах</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Контролируемая среда</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Валидируется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вариативностью</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ГИБРИДНЫЕ ПАТТЕРНЫ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(нейросеть с физическими ограничениями) — физика в функции потерь ML · CIRL — PID в функции потерь глубокого RL (BASF)</a:t>
            </a:r>
          </a:p>
          <a:p>
            <a:pPr algn="l">
              <a:lnSpc>
                <a:spcPct val="140000"/>
              </a:lnSpc>
            </a:pPr>
            <a:r>
              <a:rPr sz="1200" b="0" i="0">
                <a:solidFill>
                  <a:srgbClr val="21295C"/>
                </a:solidFill>
                <a:latin typeface="Arial"/>
              </a:rPr>
              <a:t>ML поверх SPC — статистическая база + ML на остатке · PLC + ML-копроцессор на крае (паттерн POSCO)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5-шаговую рамку — разобранный пример</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рамку ретроспективно — это готовый инструмент, не абстрактная теория</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непрерывный биопроцесс.
мРНК-вакцины: партионный процесс,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одномерная база (недостаточна)
DOE: не подходит (онлайн)
MPC: управление, не покрывает редкие аномалии</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4 категории</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данных по партиям + разметка из QC
Стоимость ✓ цена ложных срабатываний управляема
Регуляторика ✓/✗ FDA → режим характеристики
Человек ✓ операторы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 успеха</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доз на партию — база известна.
Критерий: база + окупаемость в 12 мес.</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Прод. эксплуатация + человек в цикле</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даёт рекомендации операторам»
Архитектура: поддержка решения, не контроллер.
Журнал аудита для FDA Part 11 — удовлетворён.</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Урок: 5-шаговая рамка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Авиадвигатель MTBF 8 лет — рамка отсекает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5 шагов — рамка работает в обе стороны: ловит, где AI не подходит</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Газотурбинный авиационный двигатель — единичное изделие.</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RCM:
виброанализ + анализ масла + плановый разбор.
Работает 50 лет.</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MTBF 8 лет → &lt;100 отказов
за 20 лет эксплуатации.
Эталонная разметка — миллионы $.</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SIL/DO-178C</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SIL 2 + DO-178C:
ML не сертифицируем как конечный принимающий решение для критичной авиатехники.</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Нет окна для эскалации:
решение принимается на земле, не в реальном времени.
HITL не помогает.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не нужен. Альтернатива — RCM + физические сенсоры (вибрация, масло) + обмен данными по парку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Зрение для контроля упаковки на пивоварне — рамка пропускает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Симметричный пример: рамка работает и положительно — где AI действительно уместен</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Бутылки/банки —
штучный счёт.
Скорость 60 000 в час.</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ручной отбор
и периодический контроль.
Пропускает дефекты этикеток.</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&gt;1 млн бутылок/день,
дефекты ~0,5% → 5 000 размеченных примеров в день.
Класс-баланс достижим.</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ISO 22000</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ISO 22000 (пищевая безопасность):
режим «характеристика» уместен.
Характеристика, не финальное решение.</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Очередь сомнительных кейсов
для оператора —
доля 8–12% штатно.
Эскалация работает.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уместен. Внедрить CV-контроль с долей сомнительных кейсов 8–12% и эскалацией оператору</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5-шаговая рамка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четыре вопроса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дискретное / процессное?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физ.симуляция / правила-зрение</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Применить 4 категории</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база + окно измерения +
критерий «идти/не идти»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Эксплуатация + человек</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режим характеристики
валидирован, прослеживается</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ПЯТЬ ВОПРОСОВ К ВЕНДОРУ — для кармана</a:t>
            </a:r>
          </a:p>
        </p:txBody>
      </p:sp>
      <p:sp>
        <p:nvSpPr>
          <p:cNvPr id="35" name="Rounded Rectangle 34"/>
          <p:cNvSpPr/>
          <p:nvPr/>
        </p:nvSpPr>
        <p:spPr>
          <a:xfrm>
            <a:off x="45720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1</a:t>
            </a:r>
          </a:p>
        </p:txBody>
      </p:sp>
      <p:sp>
        <p:nvSpPr>
          <p:cNvPr id="37" name="TextBox 36"/>
          <p:cNvSpPr txBox="1"/>
          <p:nvPr/>
        </p:nvSpPr>
        <p:spPr>
          <a:xfrm>
            <a:off x="54864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База до AI</a:t>
            </a:r>
          </a:p>
        </p:txBody>
      </p:sp>
      <p:sp>
        <p:nvSpPr>
          <p:cNvPr id="38" name="TextBox 37"/>
          <p:cNvSpPr txBox="1"/>
          <p:nvPr/>
        </p:nvSpPr>
        <p:spPr>
          <a:xfrm>
            <a:off x="59436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на какой объём сравниваете?</a:t>
            </a:r>
          </a:p>
        </p:txBody>
      </p:sp>
      <p:sp>
        <p:nvSpPr>
          <p:cNvPr id="39" name="Rounded Rectangle 38"/>
          <p:cNvSpPr/>
          <p:nvPr/>
        </p:nvSpPr>
        <p:spPr>
          <a:xfrm>
            <a:off x="269747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9747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2</a:t>
            </a:r>
          </a:p>
        </p:txBody>
      </p:sp>
      <p:sp>
        <p:nvSpPr>
          <p:cNvPr id="41" name="TextBox 40"/>
          <p:cNvSpPr txBox="1"/>
          <p:nvPr/>
        </p:nvSpPr>
        <p:spPr>
          <a:xfrm>
            <a:off x="278892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Окно измерения</a:t>
            </a:r>
          </a:p>
        </p:txBody>
      </p:sp>
      <p:sp>
        <p:nvSpPr>
          <p:cNvPr id="42" name="TextBox 41"/>
          <p:cNvSpPr txBox="1"/>
          <p:nvPr/>
        </p:nvSpPr>
        <p:spPr>
          <a:xfrm>
            <a:off x="2834639"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за какой период оценка?</a:t>
            </a:r>
          </a:p>
        </p:txBody>
      </p:sp>
      <p:sp>
        <p:nvSpPr>
          <p:cNvPr id="43" name="Rounded Rectangle 42"/>
          <p:cNvSpPr/>
          <p:nvPr/>
        </p:nvSpPr>
        <p:spPr>
          <a:xfrm>
            <a:off x="493775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5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3</a:t>
            </a:r>
          </a:p>
        </p:txBody>
      </p:sp>
      <p:sp>
        <p:nvSpPr>
          <p:cNvPr id="45" name="TextBox 44"/>
          <p:cNvSpPr txBox="1"/>
          <p:nvPr/>
        </p:nvSpPr>
        <p:spPr>
          <a:xfrm>
            <a:off x="502919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Перечень вмешательств</a:t>
            </a:r>
          </a:p>
        </p:txBody>
      </p:sp>
      <p:sp>
        <p:nvSpPr>
          <p:cNvPr id="46" name="TextBox 45"/>
          <p:cNvSpPr txBox="1"/>
          <p:nvPr/>
        </p:nvSpPr>
        <p:spPr>
          <a:xfrm>
            <a:off x="507492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что реально автоматизировано?</a:t>
            </a:r>
          </a:p>
        </p:txBody>
      </p:sp>
      <p:sp>
        <p:nvSpPr>
          <p:cNvPr id="47" name="Rounded Rectangle 46"/>
          <p:cNvSpPr/>
          <p:nvPr/>
        </p:nvSpPr>
        <p:spPr>
          <a:xfrm>
            <a:off x="717804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7804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4</a:t>
            </a:r>
          </a:p>
        </p:txBody>
      </p:sp>
      <p:sp>
        <p:nvSpPr>
          <p:cNvPr id="49" name="TextBox 48"/>
          <p:cNvSpPr txBox="1"/>
          <p:nvPr/>
        </p:nvSpPr>
        <p:spPr>
          <a:xfrm>
            <a:off x="726947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Канал OEE</a:t>
            </a:r>
          </a:p>
        </p:txBody>
      </p:sp>
      <p:sp>
        <p:nvSpPr>
          <p:cNvPr id="50" name="TextBox 49"/>
          <p:cNvSpPr txBox="1"/>
          <p:nvPr/>
        </p:nvSpPr>
        <p:spPr>
          <a:xfrm>
            <a:off x="731520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доступность / производительность / качество?</a:t>
            </a:r>
          </a:p>
        </p:txBody>
      </p:sp>
      <p:sp>
        <p:nvSpPr>
          <p:cNvPr id="51" name="Rounded Rectangle 50"/>
          <p:cNvSpPr/>
          <p:nvPr/>
        </p:nvSpPr>
        <p:spPr>
          <a:xfrm>
            <a:off x="941831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1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5</a:t>
            </a:r>
          </a:p>
        </p:txBody>
      </p:sp>
      <p:sp>
        <p:nvSpPr>
          <p:cNvPr id="53" name="TextBox 52"/>
          <p:cNvSpPr txBox="1"/>
          <p:nvPr/>
        </p:nvSpPr>
        <p:spPr>
          <a:xfrm>
            <a:off x="950975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Прошлые провалы</a:t>
            </a:r>
          </a:p>
        </p:txBody>
      </p:sp>
      <p:sp>
        <p:nvSpPr>
          <p:cNvPr id="54" name="TextBox 53"/>
          <p:cNvSpPr txBox="1"/>
          <p:nvPr/>
        </p:nvSpPr>
        <p:spPr>
          <a:xfrm>
            <a:off x="955548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≥3 задокументированных провала за 24 мес в той же индустрии?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Краткое замыкание · 5 вопросов вендору · переход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6 мин · 3 слайда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Замыкание двухколонной схемы + урок провалов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дискретное | процессное | общее</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Зрение (BMW + TSMC + Boeing) · разметка · прогностическое обслуживание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редкая разметка</a:t>
            </a:r>
          </a:p>
          <a:p>
            <a:pPr algn="l">
              <a:lnSpc>
                <a:spcPct val="130000"/>
              </a:lnSpc>
            </a:pPr>
            <a:r>
              <a:rPr sz="1100" b="0" i="0">
                <a:solidFill>
                  <a:srgbClr val="21295C"/>
                </a:solidFill>
                <a:latin typeface="Arial"/>
              </a:rPr>
              <a:t>заявления вендора без базы</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обслуживание на крае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дрейф распределения в RL · регуляторный блокер</a:t>
            </a:r>
          </a:p>
          <a:p>
            <a:pPr algn="l">
              <a:lnSpc>
                <a:spcPct val="130000"/>
              </a:lnSpc>
            </a:pPr>
            <a:r>
              <a:rPr sz="1100" b="0" i="0">
                <a:solidFill>
                  <a:srgbClr val="21295C"/>
                </a:solidFill>
                <a:latin typeface="Arial"/>
              </a:rPr>
              <a:t>OT/IT раскол · PR-обещания вендора</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Фундаментальные модели = расширение, не контроллер · 95% не доходят до промышленной эксплуатации · 4 категории + 5-шаговая рамка + 5 вопросов</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ФОРМУЛА ДЛЯ КАРМАНА:</a:t>
            </a:r>
          </a:p>
          <a:p>
            <a:pPr algn="l">
              <a:lnSpc>
                <a:spcPct val="130000"/>
              </a:lnSpc>
            </a:pPr>
            <a:r>
              <a:rPr sz="1200" b="1" i="1">
                <a:solidFill>
                  <a:srgbClr val="FFFFFF"/>
                </a:solidFill>
                <a:latin typeface="Arial"/>
              </a:rPr>
              <a:t>«Завтра вендор обещает –70% простоев — задайте 4 вопроса + 5-й о прошлых провалах. Если расплывчатые ответы — это демо, не промышленная эксплуатация.»</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предложении вендора</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База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Канал OEE</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Доступность / производительность / качество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Прошлые провалы</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≥3 задокументированных провала за 24 мес в той же индустрии?</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5-шаговую рамку. Если хотя бы шаг не проходит — отчитайтесь руководству. Не запускайте пилот без критериев успеха.</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«SPC или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один параметр → SPC. Много параметров + режим характеристики + журнал аудита → ML. Гибрид: SPC + ML на остатке — защищается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«RL или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доминирует в контуре управления. RL дополняет MPC на верхнем уровне планирования. Безопасный откат к MPC обязателен.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7315200" cy="4937760"/>
          </a:xfrm>
          <a:prstGeom prst="rect">
            <a:avLst/>
          </a:prstGeom>
        </p:spPr>
      </p:pic>
      <p:sp>
        <p:nvSpPr>
          <p:cNvPr id="3" name="TextBox 2"/>
          <p:cNvSpPr txBox="1"/>
          <p:nvPr/>
        </p:nvSpPr>
        <p:spPr>
          <a:xfrm>
            <a:off x="457200" y="5486400"/>
            <a:ext cx="7315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CC-BY-SA · BMW Digital Twin · NVIDIA GTC Париж 2025</a:t>
            </a:r>
          </a:p>
        </p:txBody>
      </p:sp>
      <p:sp>
        <p:nvSpPr>
          <p:cNvPr id="4" name="TextBox 3"/>
          <p:cNvSpPr txBox="1"/>
          <p:nvPr/>
        </p:nvSpPr>
        <p:spPr>
          <a:xfrm>
            <a:off x="7955279" y="548640"/>
            <a:ext cx="3931920" cy="5120640"/>
          </a:xfrm>
          <a:prstGeom prst="rect">
            <a:avLst/>
          </a:prstGeom>
          <a:noFill/>
        </p:spPr>
        <p:txBody>
          <a:bodyPr wrap="square" lIns="0" rIns="0" tIns="0" bIns="0" anchor="t">
            <a:spAutoFit/>
          </a:bodyPr>
          <a:lstStyle/>
          <a:p>
            <a:pPr algn="l">
              <a:lnSpc>
                <a:spcPct val="120000"/>
              </a:lnSpc>
            </a:pPr>
            <a:r>
              <a:rPr sz="1300" b="0" i="1">
                <a:solidFill>
                  <a:srgbClr val="F0AB00"/>
                </a:solidFill>
                <a:latin typeface="Arial"/>
              </a:rPr>
              <a:t>Лекция 12 — переход</a:t>
            </a:r>
          </a:p>
          <a:p>
            <a:pPr algn="l">
              <a:lnSpc>
                <a:spcPct val="120000"/>
              </a:lnSpc>
            </a:pPr>
            <a:r>
              <a:rPr sz="2200" b="1" i="0">
                <a:solidFill>
                  <a:srgbClr val="21295C"/>
                </a:solidFill>
                <a:latin typeface="Arial"/>
              </a:rPr>
              <a:t>Сшивка инструментов в</a:t>
            </a:r>
          </a:p>
          <a:p>
            <a:pPr algn="l">
              <a:lnSpc>
                <a:spcPct val="120000"/>
              </a:lnSpc>
            </a:pPr>
            <a:r>
              <a:rPr sz="2200" b="1" i="0">
                <a:solidFill>
                  <a:srgbClr val="21295C"/>
                </a:solidFill>
                <a:latin typeface="Arial"/>
              </a:rPr>
              <a:t>производственную ткань</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Сегодня:</a:t>
            </a:r>
          </a:p>
          <a:p>
            <a:pPr algn="l">
              <a:lnSpc>
                <a:spcPct val="120000"/>
              </a:lnSpc>
            </a:pPr>
            <a:r>
              <a:rPr sz="1100" b="0" i="0">
                <a:solidFill>
                  <a:srgbClr val="21295C"/>
                </a:solidFill>
                <a:latin typeface="Arial"/>
              </a:rPr>
              <a:t>Зрение, мягкие сенсоры, прогностическое обслуживание, фундаментальные модели — отдельные инструменты.</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Лекция 12:</a:t>
            </a:r>
          </a:p>
          <a:p>
            <a:pPr algn="l">
              <a:lnSpc>
                <a:spcPct val="120000"/>
              </a:lnSpc>
            </a:pPr>
            <a:r>
              <a:rPr sz="1100" b="0" i="0">
                <a:solidFill>
                  <a:srgbClr val="21295C"/>
                </a:solidFill>
                <a:latin typeface="Arial"/>
              </a:rPr>
              <a:t>Цифровые двойники как объединяющая абстракция · AI в автоматизации · ГОСТ Р 57700.37 в РФ.</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Параллели:</a:t>
            </a:r>
          </a:p>
          <a:p>
            <a:pPr algn="l">
              <a:lnSpc>
                <a:spcPct val="120000"/>
              </a:lnSpc>
            </a:pPr>
            <a:r>
              <a:rPr sz="1100" b="0" i="1">
                <a:solidFill>
                  <a:srgbClr val="4A556B"/>
                </a:solidFill>
                <a:latin typeface="Arial"/>
              </a:rPr>
              <a:t>BMW 30+ заводов · Holcim — первый в мире цементный двойник · Foxconn — NVIDIA Omniverse</a:t>
            </a:r>
          </a:p>
        </p:txBody>
      </p:sp>
      <p:sp>
        <p:nvSpPr>
          <p:cNvPr id="5" name="Rounded Rectangle 4"/>
          <p:cNvSpPr/>
          <p:nvPr/>
        </p:nvSpPr>
        <p:spPr>
          <a:xfrm>
            <a:off x="457200" y="5897880"/>
            <a:ext cx="11274552" cy="54864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0"/>
            <a:ext cx="10972800" cy="274320"/>
          </a:xfrm>
          <a:prstGeom prst="rect">
            <a:avLst/>
          </a:prstGeom>
          <a:noFill/>
        </p:spPr>
        <p:txBody>
          <a:bodyPr wrap="square" lIns="0" rIns="0" tIns="0" bIns="0" anchor="t">
            <a:spAutoFit/>
          </a:bodyPr>
          <a:lstStyle/>
          <a:p>
            <a:pPr algn="ctr">
              <a:lnSpc>
                <a:spcPct val="115000"/>
              </a:lnSpc>
            </a:pPr>
            <a:r>
              <a:rPr sz="14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217920"/>
            <a:ext cx="10972800" cy="228600"/>
          </a:xfrm>
          <a:prstGeom prst="rect">
            <a:avLst/>
          </a:prstGeom>
          <a:noFill/>
        </p:spPr>
        <p:txBody>
          <a:bodyPr wrap="square" lIns="0" rIns="0" tIns="0" bIns="0" anchor="t">
            <a:spAutoFit/>
          </a:bodyPr>
          <a:lstStyle/>
          <a:p>
            <a:pPr algn="ctr">
              <a:lnSpc>
                <a:spcPct val="115000"/>
              </a:lnSpc>
            </a:pPr>
            <a:r>
              <a:rPr sz="11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